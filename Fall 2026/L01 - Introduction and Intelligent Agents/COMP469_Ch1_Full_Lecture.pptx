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54" r:id="rId3"/>
  </p:sldMasterIdLst>
  <p:notesMasterIdLst>
    <p:notesMasterId r:id="rId3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2" r:id="rId29"/>
    <p:sldId id="281" r:id="rId30"/>
    <p:sldId id="283" r:id="rId31"/>
    <p:sldId id="284" r:id="rId32"/>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8024" autoAdjust="0"/>
  </p:normalViewPr>
  <p:slideViewPr>
    <p:cSldViewPr snapToGrid="0">
      <p:cViewPr varScale="1">
        <p:scale>
          <a:sx n="121" d="100"/>
          <a:sy n="121" d="100"/>
        </p:scale>
        <p:origin x="102" y="20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r>
              <a:rPr lang="en-US" sz="1350" b="0" u="none" strike="noStrike">
                <a:solidFill>
                  <a:schemeClr val="dk1"/>
                </a:solidFill>
                <a:effectLst/>
                <a:uFillTx/>
                <a:latin typeface="Aptos"/>
              </a:rPr>
              <a:t>Click to move the slide</a:t>
            </a:r>
          </a:p>
        </p:txBody>
      </p:sp>
      <p:sp>
        <p:nvSpPr>
          <p:cNvPr id="1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13"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 </a:t>
            </a:r>
          </a:p>
        </p:txBody>
      </p:sp>
      <p:sp>
        <p:nvSpPr>
          <p:cNvPr id="14"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15"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p>
        </p:txBody>
      </p:sp>
      <p:sp>
        <p:nvSpPr>
          <p:cNvPr id="16"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C6AE17B-425E-450C-AB6F-B8EAD9DF48EE}"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bbc.com/news/articles/cdrvy3pn3r0o"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technologyreview.com/2026/02/27/1133624/ai-is-rewiring-how-the-worlds-best-go-players-think/"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laceHolder 1"/>
          <p:cNvSpPr>
            <a:spLocks noGrp="1" noRot="1" noChangeAspect="1"/>
          </p:cNvSpPr>
          <p:nvPr>
            <p:ph type="sldImg"/>
          </p:nvPr>
        </p:nvSpPr>
        <p:spPr>
          <a:xfrm>
            <a:off x="-223838" y="1038225"/>
            <a:ext cx="4983163" cy="2803525"/>
          </a:xfrm>
          <a:prstGeom prst="rect">
            <a:avLst/>
          </a:prstGeom>
          <a:ln w="0">
            <a:noFill/>
          </a:ln>
        </p:spPr>
      </p:sp>
      <p:sp>
        <p:nvSpPr>
          <p:cNvPr id="243" name="PlaceHolder 2"/>
          <p:cNvSpPr>
            <a:spLocks noGrp="1"/>
          </p:cNvSpPr>
          <p:nvPr>
            <p:ph type="body"/>
          </p:nvPr>
        </p:nvSpPr>
        <p:spPr>
          <a:xfrm>
            <a:off x="453600" y="4000320"/>
            <a:ext cx="3627360" cy="326952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44" name="PlaceHolder 3"/>
          <p:cNvSpPr>
            <a:spLocks noGrp="1"/>
          </p:cNvSpPr>
          <p:nvPr>
            <p:ph type="sldNum" idx="4"/>
          </p:nvPr>
        </p:nvSpPr>
        <p:spPr>
          <a:xfrm>
            <a:off x="2570760" y="7895520"/>
            <a:ext cx="1963080" cy="413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D1B86B8-7A58-4907-8B06-D1B29BBC890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noRot="1" noChangeAspect="1"/>
          </p:cNvSpPr>
          <p:nvPr>
            <p:ph type="sldImg"/>
          </p:nvPr>
        </p:nvSpPr>
        <p:spPr>
          <a:xfrm>
            <a:off x="685800" y="1143000"/>
            <a:ext cx="5482800" cy="3082680"/>
          </a:xfrm>
          <a:prstGeom prst="rect">
            <a:avLst/>
          </a:prstGeom>
          <a:ln w="0">
            <a:noFill/>
          </a:ln>
        </p:spPr>
      </p:sp>
      <p:sp>
        <p:nvSpPr>
          <p:cNvPr id="246"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47" name="PlaceHolder 3"/>
          <p:cNvSpPr>
            <a:spLocks noGrp="1"/>
          </p:cNvSpPr>
          <p:nvPr>
            <p:ph type="sldNum" idx="5"/>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C1E8504-2263-4B3A-8C2C-C734F660CAE7}"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PlaceHolder 1"/>
          <p:cNvSpPr>
            <a:spLocks noGrp="1" noRot="1" noChangeAspect="1"/>
          </p:cNvSpPr>
          <p:nvPr>
            <p:ph type="sldImg"/>
          </p:nvPr>
        </p:nvSpPr>
        <p:spPr>
          <a:xfrm>
            <a:off x="687388" y="1143000"/>
            <a:ext cx="5480050" cy="3082925"/>
          </a:xfrm>
          <a:prstGeom prst="rect">
            <a:avLst/>
          </a:prstGeom>
          <a:ln w="0">
            <a:noFill/>
          </a:ln>
        </p:spPr>
      </p:sp>
      <p:sp>
        <p:nvSpPr>
          <p:cNvPr id="249"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Movies commonly represent AI as fully autonomous, humanlike beings that can reason, communicate, learn, and pursue goals across many situations. These portrayals combine several areas of AI language, perception, reasoning, learning, a d robotics into a single character.</a:t>
            </a:r>
          </a:p>
          <a:p>
            <a:pPr indent="0" algn="l">
              <a:lnSpc>
                <a:spcPct val="100000"/>
              </a:lnSpc>
              <a:spcBef>
                <a:spcPts val="1191"/>
              </a:spcBef>
              <a:spcAft>
                <a:spcPts val="992"/>
              </a:spcAft>
              <a:buNone/>
              <a:tabLst>
                <a:tab pos="0" algn="l"/>
              </a:tabLst>
            </a:pPr>
            <a:endParaRPr lang="en-US" sz="1800" b="0" u="none" strike="noStrike" dirty="0">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In reality, most current AI systems are specialized for narrower tasks, such as recognizing images, generating language, recommending content, or planning routes. This slide can be used to ask students which definition of AI each example represents: </a:t>
            </a:r>
            <a:r>
              <a:rPr lang="en-US" sz="1800" b="1" u="none" strike="noStrike" dirty="0">
                <a:solidFill>
                  <a:srgbClr val="000000"/>
                </a:solidFill>
                <a:effectLst/>
                <a:uFillTx/>
                <a:latin typeface="Arial"/>
              </a:rPr>
              <a:t>thinking humanly, acting humanly, thinking rationally, or acting rationally.</a:t>
            </a:r>
          </a:p>
          <a:p>
            <a:pPr indent="0" algn="l">
              <a:lnSpc>
                <a:spcPct val="100000"/>
              </a:lnSpc>
              <a:spcBef>
                <a:spcPts val="1191"/>
              </a:spcBef>
              <a:spcAft>
                <a:spcPts val="992"/>
              </a:spcAft>
              <a:buNone/>
              <a:tabLst>
                <a:tab pos="0" algn="l"/>
              </a:tabLst>
            </a:pPr>
            <a:endParaRPr lang="en-US" sz="1800" b="0" u="none" strike="noStrike" dirty="0">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The main teaching point is that fictional AI often resembles artificial general intelligence, while practical AI usually consists of specialized systems designed for specific objectives.</a:t>
            </a:r>
          </a:p>
          <a:p>
            <a:pPr indent="0" algn="l">
              <a:lnSpc>
                <a:spcPct val="100000"/>
              </a:lnSpc>
              <a:spcBef>
                <a:spcPts val="1191"/>
              </a:spcBef>
              <a:spcAft>
                <a:spcPts val="992"/>
              </a:spcAft>
              <a:buNone/>
              <a:tabLst>
                <a:tab pos="0" algn="l"/>
              </a:tabLst>
            </a:pPr>
            <a:endParaRPr lang="en-US" sz="1800" b="0" u="none" strike="noStrike" dirty="0">
              <a:solidFill>
                <a:srgbClr val="000000"/>
              </a:solidFill>
              <a:effectLst/>
              <a:uFillTx/>
              <a:latin typeface="Arial"/>
            </a:endParaRPr>
          </a:p>
        </p:txBody>
      </p:sp>
      <p:sp>
        <p:nvSpPr>
          <p:cNvPr id="250" name="PlaceHolder 3"/>
          <p:cNvSpPr>
            <a:spLocks noGrp="1"/>
          </p:cNvSpPr>
          <p:nvPr>
            <p:ph type="sldNum" idx="6"/>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B41AC01-2064-432D-B2E6-60497F0CC922}"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PlaceHolder 1"/>
          <p:cNvSpPr>
            <a:spLocks noGrp="1" noRot="1" noChangeAspect="1"/>
          </p:cNvSpPr>
          <p:nvPr>
            <p:ph type="sldImg"/>
          </p:nvPr>
        </p:nvSpPr>
        <p:spPr>
          <a:xfrm>
            <a:off x="1440" y="0"/>
            <a:ext cx="0" cy="0"/>
          </a:xfrm>
          <a:prstGeom prst="rect">
            <a:avLst/>
          </a:prstGeom>
          <a:ln w="0">
            <a:noFill/>
          </a:ln>
        </p:spPr>
      </p:sp>
      <p:sp>
        <p:nvSpPr>
          <p:cNvPr id="252" name="PlaceHolder 2"/>
          <p:cNvSpPr>
            <a:spLocks noGrp="1"/>
          </p:cNvSpPr>
          <p:nvPr>
            <p:ph type="body"/>
          </p:nvPr>
        </p:nvSpPr>
        <p:spPr>
          <a:xfrm>
            <a:off x="777240" y="4777560"/>
            <a:ext cx="6215400" cy="4523760"/>
          </a:xfrm>
          <a:prstGeom prst="rect">
            <a:avLst/>
          </a:prstGeom>
          <a:noFill/>
          <a:ln w="0">
            <a:noFill/>
          </a:ln>
        </p:spPr>
        <p:txBody>
          <a:bodyPr lIns="0" tIns="0" rIns="0" bIns="0" anchor="t">
            <a:noAutofit/>
          </a:bodyPr>
          <a:lstStyle/>
          <a:p>
            <a:pPr indent="0" algn="l">
              <a:lnSpc>
                <a:spcPct val="100000"/>
              </a:lnSpc>
              <a:buNone/>
              <a:tabLst>
                <a:tab pos="0" algn="l"/>
              </a:tabLst>
            </a:pPr>
            <a:r>
              <a:rPr lang="en-US" sz="2000" b="0" u="none" strike="noStrike">
                <a:solidFill>
                  <a:srgbClr val="000000"/>
                </a:solidFill>
                <a:effectLst/>
                <a:uFillTx/>
                <a:latin typeface="Arial"/>
                <a:hlinkClick r:id="rId3"/>
              </a:rPr>
              <a:t>https://www.bbc.com/news/articles/cdrvy3pn3r0o</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hlinkClick r:id="rId4"/>
              </a:rPr>
              <a:t>https://www.technologyreview.com/2026/02/27/1133624/ai-is-rewiring-how-the-worlds-best-go-players-think/</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https://www.aiweirdness.com/new-ai-paint-colors/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noRot="1" noChangeAspect="1"/>
          </p:cNvSpPr>
          <p:nvPr>
            <p:ph type="sldImg"/>
          </p:nvPr>
        </p:nvSpPr>
        <p:spPr>
          <a:xfrm>
            <a:off x="687388" y="1143000"/>
            <a:ext cx="5480050" cy="3082925"/>
          </a:xfrm>
          <a:prstGeom prst="rect">
            <a:avLst/>
          </a:prstGeom>
          <a:ln w="0">
            <a:noFill/>
          </a:ln>
        </p:spPr>
      </p:sp>
      <p:sp>
        <p:nvSpPr>
          <p:cNvPr id="254"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This approach defines intelligence as the ability to reason correctly. It comes from the idea that valid thinking can be represented through formal logical rules.</a:t>
            </a:r>
          </a:p>
          <a:p>
            <a:pPr indent="0" algn="l">
              <a:lnSpc>
                <a:spcPct val="100000"/>
              </a:lnSpc>
              <a:spcBef>
                <a:spcPts val="1191"/>
              </a:spcBef>
              <a:spcAft>
                <a:spcPts val="992"/>
              </a:spcAft>
              <a:buNone/>
              <a:tabLst>
                <a:tab pos="0" algn="l"/>
              </a:tabLst>
            </a:pPr>
            <a:endParaRPr lang="en-US" sz="1800" b="0" u="none" strike="noStrike" dirty="0">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If knowledge is written as premises, an AI system can apply inference rules to derive conclusions. This led to theorem-proving systems, deductive reasoning programs, and other forms of symbolic AI.</a:t>
            </a:r>
          </a:p>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The strength of this approach is that its conclusions are logically justified when the premises are correct. Its limitation is that real-world knowledge is often incomplete or uncertain, so strict logic alone may not be enough to determine the best action.</a:t>
            </a:r>
          </a:p>
          <a:p>
            <a:pPr indent="0" algn="l">
              <a:lnSpc>
                <a:spcPct val="100000"/>
              </a:lnSpc>
              <a:spcBef>
                <a:spcPts val="1191"/>
              </a:spcBef>
              <a:spcAft>
                <a:spcPts val="992"/>
              </a:spcAft>
              <a:buNone/>
              <a:tabLst>
                <a:tab pos="0" algn="l"/>
              </a:tabLst>
            </a:pPr>
            <a:endParaRPr lang="en-US" sz="1800" b="0" u="none" strike="noStrike" dirty="0">
              <a:solidFill>
                <a:srgbClr val="000000"/>
              </a:solidFill>
              <a:effectLst/>
              <a:uFillTx/>
              <a:latin typeface="Arial"/>
            </a:endParaRPr>
          </a:p>
        </p:txBody>
      </p:sp>
      <p:sp>
        <p:nvSpPr>
          <p:cNvPr id="255" name="PlaceHolder 3"/>
          <p:cNvSpPr>
            <a:spLocks noGrp="1"/>
          </p:cNvSpPr>
          <p:nvPr>
            <p:ph type="sldNum" idx="7"/>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5BA1F9D-BED6-4F4C-AF71-017A7A8B15E8}"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noRot="1" noChangeAspect="1"/>
          </p:cNvSpPr>
          <p:nvPr>
            <p:ph type="sldImg"/>
          </p:nvPr>
        </p:nvSpPr>
        <p:spPr>
          <a:xfrm>
            <a:off x="685800" y="1143000"/>
            <a:ext cx="5482800" cy="3082680"/>
          </a:xfrm>
          <a:prstGeom prst="rect">
            <a:avLst/>
          </a:prstGeom>
          <a:ln w="0">
            <a:noFill/>
          </a:ln>
        </p:spPr>
      </p:sp>
      <p:sp>
        <p:nvSpPr>
          <p:cNvPr id="257"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624"/>
              </a:spcBef>
              <a:spcAft>
                <a:spcPts val="425"/>
              </a:spcAft>
              <a:buNone/>
              <a:tabLst>
                <a:tab pos="0" algn="l"/>
              </a:tabLst>
            </a:pPr>
            <a:r>
              <a:rPr lang="en-US" sz="1800" b="0" u="none" strike="noStrike">
                <a:solidFill>
                  <a:srgbClr val="000000"/>
                </a:solidFill>
                <a:effectLst/>
                <a:uFillTx/>
                <a:latin typeface="Arial"/>
              </a:rPr>
              <a:t>This approach defines intelligence by whether a system thinks like a human. Researchers first study human cognition through introspection, psychological experiments, and brain imaging. They then create computer models and compare the models’ reasoning steps and behavior with those of people solving the same problems.</a:t>
            </a:r>
          </a:p>
          <a:p>
            <a:pPr indent="0" algn="l">
              <a:lnSpc>
                <a:spcPct val="100000"/>
              </a:lnSpc>
              <a:spcBef>
                <a:spcPts val="624"/>
              </a:spcBef>
              <a:spcAft>
                <a:spcPts val="425"/>
              </a:spcAft>
              <a:buNone/>
              <a:tabLst>
                <a:tab pos="0" algn="l"/>
              </a:tabLst>
            </a:pPr>
            <a:endParaRPr lang="en-US" sz="1800" b="0" u="none" strike="noStrike">
              <a:solidFill>
                <a:srgbClr val="000000"/>
              </a:solidFill>
              <a:effectLst/>
              <a:uFillTx/>
              <a:latin typeface="Arial"/>
            </a:endParaRPr>
          </a:p>
          <a:p>
            <a:pPr indent="0" algn="l">
              <a:lnSpc>
                <a:spcPct val="100000"/>
              </a:lnSpc>
              <a:spcBef>
                <a:spcPts val="624"/>
              </a:spcBef>
              <a:spcAft>
                <a:spcPts val="425"/>
              </a:spcAft>
              <a:buNone/>
              <a:tabLst>
                <a:tab pos="0" algn="l"/>
              </a:tabLst>
            </a:pPr>
            <a:r>
              <a:rPr lang="en-US" sz="1800" b="0" u="none" strike="noStrike">
                <a:solidFill>
                  <a:srgbClr val="000000"/>
                </a:solidFill>
                <a:effectLst/>
                <a:uFillTx/>
                <a:latin typeface="Arial"/>
              </a:rPr>
              <a:t>This work helped establish cognitive science, which combines artificial intelligence, psychology, and neuroscience to develop testable theories of the human mind. Unlike the acting-humanly approach, the focus is not only on producing the correct answer; the system should also use a process that resembles human reasoning.</a:t>
            </a:r>
          </a:p>
          <a:p>
            <a:pPr indent="0" algn="l">
              <a:lnSpc>
                <a:spcPct val="100000"/>
              </a:lnSpc>
              <a:spcBef>
                <a:spcPts val="624"/>
              </a:spcBef>
              <a:spcAft>
                <a:spcPts val="425"/>
              </a:spcAft>
              <a:buNone/>
              <a:tabLst>
                <a:tab pos="0" algn="l"/>
              </a:tabLst>
            </a:pPr>
            <a:endParaRPr lang="en-US" sz="1800" b="0" u="none" strike="noStrike">
              <a:solidFill>
                <a:srgbClr val="000000"/>
              </a:solidFill>
              <a:effectLst/>
              <a:uFillTx/>
              <a:latin typeface="Arial"/>
            </a:endParaRPr>
          </a:p>
          <a:p>
            <a:pPr indent="0" algn="l">
              <a:lnSpc>
                <a:spcPct val="100000"/>
              </a:lnSpc>
              <a:buNone/>
              <a:tabLst>
                <a:tab pos="0" algn="l"/>
              </a:tabLst>
            </a:pPr>
            <a:r>
              <a:rPr lang="en-US" sz="1800" b="0" u="none" strike="noStrike">
                <a:solidFill>
                  <a:srgbClr val="000000"/>
                </a:solidFill>
                <a:effectLst/>
                <a:uFillTx/>
                <a:latin typeface="Arial"/>
              </a:rPr>
              <a:t>Example a chess playing system, they may use think differently but they come up with very similar moves. </a:t>
            </a:r>
          </a:p>
        </p:txBody>
      </p:sp>
      <p:sp>
        <p:nvSpPr>
          <p:cNvPr id="258" name="PlaceHolder 3"/>
          <p:cNvSpPr>
            <a:spLocks noGrp="1"/>
          </p:cNvSpPr>
          <p:nvPr>
            <p:ph type="sldNum" idx="8"/>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0065B94-0EDA-4171-9A55-552862711BB8}"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laceHolder 1"/>
          <p:cNvSpPr>
            <a:spLocks noGrp="1" noRot="1" noChangeAspect="1"/>
          </p:cNvSpPr>
          <p:nvPr>
            <p:ph type="sldImg"/>
          </p:nvPr>
        </p:nvSpPr>
        <p:spPr>
          <a:xfrm>
            <a:off x="0" y="962640"/>
            <a:ext cx="5142960" cy="2892600"/>
          </a:xfrm>
          <a:prstGeom prst="rect">
            <a:avLst/>
          </a:prstGeom>
          <a:ln w="0">
            <a:noFill/>
          </a:ln>
        </p:spPr>
      </p:sp>
      <p:sp>
        <p:nvSpPr>
          <p:cNvPr id="260"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lstStyle/>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The</a:t>
            </a:r>
            <a:r>
              <a:rPr lang="en-US" sz="1800" b="1" u="none" strike="noStrike" dirty="0">
                <a:solidFill>
                  <a:srgbClr val="000000"/>
                </a:solidFill>
                <a:effectLst/>
                <a:uFillTx/>
                <a:latin typeface="Arial"/>
              </a:rPr>
              <a:t> thinking-humanly approach </a:t>
            </a:r>
            <a:r>
              <a:rPr lang="en-US" sz="1800" b="0" u="none" strike="noStrike" dirty="0">
                <a:solidFill>
                  <a:srgbClr val="000000"/>
                </a:solidFill>
                <a:effectLst/>
                <a:uFillTx/>
                <a:latin typeface="Arial"/>
              </a:rPr>
              <a:t>requires more than producing the same answer as a person. Researchers must also understand the process people use to reach that answer.</a:t>
            </a:r>
          </a:p>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The chapter identifies three ways to study human thought.</a:t>
            </a:r>
          </a:p>
          <a:p>
            <a:pPr indent="0" algn="l">
              <a:lnSpc>
                <a:spcPct val="100000"/>
              </a:lnSpc>
              <a:spcBef>
                <a:spcPts val="1191"/>
              </a:spcBef>
              <a:spcAft>
                <a:spcPts val="992"/>
              </a:spcAft>
              <a:buNone/>
              <a:tabLst>
                <a:tab pos="0" algn="l"/>
              </a:tabLst>
            </a:pPr>
            <a:r>
              <a:rPr lang="en-US" sz="1800" b="1" u="none" strike="noStrike" dirty="0">
                <a:solidFill>
                  <a:srgbClr val="000000"/>
                </a:solidFill>
                <a:effectLst/>
                <a:uFillTx/>
                <a:latin typeface="Arial"/>
              </a:rPr>
              <a:t>Introspection</a:t>
            </a:r>
            <a:r>
              <a:rPr lang="en-US" sz="1800" b="0" u="none" strike="noStrike" dirty="0">
                <a:solidFill>
                  <a:srgbClr val="000000"/>
                </a:solidFill>
                <a:effectLst/>
                <a:uFillTx/>
                <a:latin typeface="Arial"/>
              </a:rPr>
              <a:t> means trying to observe our own thoughts as they happen. This can provide useful clues, but it is subjective and may not always be reliable.</a:t>
            </a:r>
          </a:p>
          <a:p>
            <a:pPr indent="0" algn="l">
              <a:lnSpc>
                <a:spcPct val="100000"/>
              </a:lnSpc>
              <a:spcBef>
                <a:spcPts val="1191"/>
              </a:spcBef>
              <a:spcAft>
                <a:spcPts val="992"/>
              </a:spcAft>
              <a:buNone/>
              <a:tabLst>
                <a:tab pos="0" algn="l"/>
              </a:tabLst>
            </a:pPr>
            <a:r>
              <a:rPr lang="en-US" sz="1800" b="1" u="none" strike="noStrike" dirty="0">
                <a:solidFill>
                  <a:srgbClr val="000000"/>
                </a:solidFill>
                <a:effectLst/>
                <a:uFillTx/>
                <a:latin typeface="Arial"/>
              </a:rPr>
              <a:t>Psychological experiments</a:t>
            </a:r>
            <a:r>
              <a:rPr lang="en-US" sz="1800" b="0" u="none" strike="noStrike" dirty="0">
                <a:solidFill>
                  <a:srgbClr val="000000"/>
                </a:solidFill>
                <a:effectLst/>
                <a:uFillTx/>
                <a:latin typeface="Arial"/>
              </a:rPr>
              <a:t> study people while they perform tasks. Researchers can record their choices, errors, reaction times, and the sequence of steps they follow.</a:t>
            </a:r>
          </a:p>
          <a:p>
            <a:pPr indent="0" algn="l">
              <a:lnSpc>
                <a:spcPct val="100000"/>
              </a:lnSpc>
              <a:spcBef>
                <a:spcPts val="1191"/>
              </a:spcBef>
              <a:spcAft>
                <a:spcPts val="992"/>
              </a:spcAft>
              <a:buNone/>
              <a:tabLst>
                <a:tab pos="0" algn="l"/>
              </a:tabLst>
            </a:pPr>
            <a:r>
              <a:rPr lang="en-US" sz="1800" b="1" u="none" strike="noStrike" dirty="0">
                <a:solidFill>
                  <a:srgbClr val="000000"/>
                </a:solidFill>
                <a:effectLst/>
                <a:uFillTx/>
                <a:latin typeface="Arial"/>
              </a:rPr>
              <a:t>Brain imaging</a:t>
            </a:r>
            <a:r>
              <a:rPr lang="en-US" sz="1800" b="0" u="none" strike="noStrike" dirty="0">
                <a:solidFill>
                  <a:srgbClr val="000000"/>
                </a:solidFill>
                <a:effectLst/>
                <a:uFillTx/>
                <a:latin typeface="Arial"/>
              </a:rPr>
              <a:t> allows researchers to observe brain activity while a person is thinking or solving a problem. This can help connect cognitive processes with activity in particular areas of the brain.</a:t>
            </a:r>
          </a:p>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Once researchers develop a sufficiently precise theory of human thinking, they can express that theory as a computer program. They then compare the program’s behavior and reasoning steps with those of human subjects.</a:t>
            </a:r>
          </a:p>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Newell and Simon’s </a:t>
            </a:r>
            <a:r>
              <a:rPr lang="en-US" sz="1800" b="1" u="none" strike="noStrike" dirty="0">
                <a:solidFill>
                  <a:srgbClr val="000000"/>
                </a:solidFill>
                <a:effectLst/>
                <a:uFillTx/>
                <a:latin typeface="Arial"/>
              </a:rPr>
              <a:t>General Problem Solver </a:t>
            </a:r>
            <a:r>
              <a:rPr lang="en-US" sz="1800" b="0" u="none" strike="noStrike" dirty="0">
                <a:solidFill>
                  <a:srgbClr val="000000"/>
                </a:solidFill>
                <a:effectLst/>
                <a:uFillTx/>
                <a:latin typeface="Arial"/>
              </a:rPr>
              <a:t>is an example. They were interested not only in whether the program solved a problem correctly, but also in whether its sequence and timing of reasoning steps resembled those of people.</a:t>
            </a:r>
          </a:p>
          <a:p>
            <a:pPr indent="0" algn="l">
              <a:lnSpc>
                <a:spcPct val="100000"/>
              </a:lnSpc>
              <a:spcBef>
                <a:spcPts val="1191"/>
              </a:spcBef>
              <a:spcAft>
                <a:spcPts val="992"/>
              </a:spcAft>
              <a:buNone/>
              <a:tabLst>
                <a:tab pos="0" algn="l"/>
              </a:tabLst>
            </a:pPr>
            <a:r>
              <a:rPr lang="en-US" sz="1800" b="0" u="none" strike="noStrike" dirty="0">
                <a:solidFill>
                  <a:srgbClr val="000000"/>
                </a:solidFill>
                <a:effectLst/>
                <a:uFillTx/>
                <a:latin typeface="Arial"/>
              </a:rPr>
              <a:t>This work contributed to </a:t>
            </a:r>
            <a:r>
              <a:rPr lang="en-US" sz="1800" b="1" u="none" strike="noStrike" dirty="0">
                <a:solidFill>
                  <a:srgbClr val="000000"/>
                </a:solidFill>
                <a:effectLst/>
                <a:uFillTx/>
                <a:latin typeface="Arial"/>
              </a:rPr>
              <a:t>cognitive science</a:t>
            </a:r>
            <a:r>
              <a:rPr lang="en-US" sz="1800" b="0" u="none" strike="noStrike" dirty="0">
                <a:solidFill>
                  <a:srgbClr val="000000"/>
                </a:solidFill>
                <a:effectLst/>
                <a:uFillTx/>
                <a:latin typeface="Arial"/>
              </a:rPr>
              <a:t>, which combines AI models with experimental methods from psychology to create testable theories of the human mind. </a:t>
            </a:r>
          </a:p>
          <a:p>
            <a:pPr indent="0" algn="l">
              <a:lnSpc>
                <a:spcPct val="100000"/>
              </a:lnSpc>
              <a:spcBef>
                <a:spcPts val="1191"/>
              </a:spcBef>
              <a:spcAft>
                <a:spcPts val="992"/>
              </a:spcAft>
              <a:buNone/>
              <a:tabLst>
                <a:tab pos="0" algn="l"/>
              </a:tabLst>
            </a:pPr>
            <a:endParaRPr lang="en-US" sz="1000" b="0" u="none" strike="noStrike" dirty="0">
              <a:solidFill>
                <a:srgbClr val="000000"/>
              </a:solidFill>
              <a:effectLst/>
              <a:uFillTx/>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noRot="1" noChangeAspect="1"/>
          </p:cNvSpPr>
          <p:nvPr>
            <p:ph type="sldImg"/>
          </p:nvPr>
        </p:nvSpPr>
        <p:spPr>
          <a:xfrm>
            <a:off x="0" y="962640"/>
            <a:ext cx="5141880" cy="2891520"/>
          </a:xfrm>
          <a:prstGeom prst="rect">
            <a:avLst/>
          </a:prstGeom>
          <a:ln w="0">
            <a:noFill/>
          </a:ln>
        </p:spPr>
      </p:sp>
      <p:sp>
        <p:nvSpPr>
          <p:cNvPr id="262"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lstStyle/>
          <a:p>
            <a:pPr indent="0" algn="l">
              <a:lnSpc>
                <a:spcPct val="100000"/>
              </a:lnSpc>
              <a:spcBef>
                <a:spcPts val="1191"/>
              </a:spcBef>
              <a:spcAft>
                <a:spcPts val="992"/>
              </a:spcAft>
              <a:buNone/>
              <a:tabLst>
                <a:tab pos="0" algn="l"/>
              </a:tabLst>
            </a:pPr>
            <a:r>
              <a:rPr lang="en-US" sz="2400" b="1" u="none" strike="noStrike" dirty="0">
                <a:solidFill>
                  <a:srgbClr val="000000"/>
                </a:solidFill>
                <a:effectLst/>
                <a:uFillTx/>
                <a:latin typeface="Arial"/>
              </a:rPr>
              <a:t>This slide represents the acting humanly approach to artificial intelligence. Instead of trying to reproduce the exact internal thought process of a person, researchers focused on whether a machine could produce behavior that appeared human.</a:t>
            </a:r>
            <a:endParaRPr lang="en-US" sz="2400" b="0" u="none" strike="noStrike" dirty="0">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This idea is closely related to behaviorism, which emphasizes observable inputs and responses rather than unobservable mental processes. In AI, the important question becomes: Does the system act like a person when placed in the same situation?</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The Turing test reflects this approach. A machine is judged by the quality of its responses and whether a human evaluator can distinguish those responses from a person’s not by whether the machine reasons internally in the same way a human does.</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The key distinction is:</a:t>
            </a:r>
          </a:p>
          <a:p>
            <a:pPr marL="360000" indent="-216000" algn="l">
              <a:lnSpc>
                <a:spcPct val="100000"/>
              </a:lnSpc>
              <a:spcBef>
                <a:spcPts val="907"/>
              </a:spcBef>
              <a:spcAft>
                <a:spcPts val="709"/>
              </a:spcAft>
              <a:buClr>
                <a:srgbClr val="000000"/>
              </a:buClr>
              <a:buFont typeface="OpenSymbol"/>
              <a:buAutoNum type="arabicParenR"/>
              <a:tabLst>
                <a:tab pos="0" algn="l"/>
              </a:tabLst>
            </a:pPr>
            <a:r>
              <a:rPr lang="en-US" sz="2400" b="0" u="none" strike="noStrike" dirty="0">
                <a:solidFill>
                  <a:srgbClr val="000000"/>
                </a:solidFill>
                <a:effectLst/>
                <a:uFillTx/>
                <a:latin typeface="Arial"/>
              </a:rPr>
              <a:t>Thinking humanly: model the mental processes people use.</a:t>
            </a:r>
          </a:p>
          <a:p>
            <a:pPr marL="360000" indent="-216000" algn="l">
              <a:lnSpc>
                <a:spcPct val="100000"/>
              </a:lnSpc>
              <a:spcBef>
                <a:spcPts val="907"/>
              </a:spcBef>
              <a:spcAft>
                <a:spcPts val="709"/>
              </a:spcAft>
              <a:buClr>
                <a:srgbClr val="000000"/>
              </a:buClr>
              <a:buFont typeface="OpenSymbol"/>
              <a:buAutoNum type="arabicParenR"/>
              <a:tabLst>
                <a:tab pos="0" algn="l"/>
              </a:tabLst>
            </a:pPr>
            <a:r>
              <a:rPr lang="en-US" sz="2400" b="0" u="none" strike="noStrike" dirty="0">
                <a:solidFill>
                  <a:srgbClr val="000000"/>
                </a:solidFill>
                <a:effectLst/>
                <a:uFillTx/>
                <a:latin typeface="Arial"/>
              </a:rPr>
              <a:t>Acting humanly: reproduce the observable behavior or outcome.</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The robot following the person illustrates this idea: the machine may not think like the human, but it attempts to imitate the human’s actions.</a:t>
            </a:r>
          </a:p>
          <a:p>
            <a:pPr indent="0" algn="l">
              <a:lnSpc>
                <a:spcPct val="100000"/>
              </a:lnSpc>
              <a:spcBef>
                <a:spcPts val="1191"/>
              </a:spcBef>
              <a:spcAft>
                <a:spcPts val="992"/>
              </a:spcAft>
              <a:buNone/>
              <a:tabLst>
                <a:tab pos="0" algn="l"/>
              </a:tabLst>
            </a:pPr>
            <a:endParaRPr lang="en-US" sz="2400" b="0" u="none" strike="noStrike" dirty="0">
              <a:solidFill>
                <a:srgbClr val="000000"/>
              </a:solidFill>
              <a:effectLst/>
              <a:uFillTx/>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noRot="1" noChangeAspect="1"/>
          </p:cNvSpPr>
          <p:nvPr>
            <p:ph type="sldImg"/>
          </p:nvPr>
        </p:nvSpPr>
        <p:spPr>
          <a:xfrm>
            <a:off x="1440" y="0"/>
            <a:ext cx="0" cy="0"/>
          </a:xfrm>
          <a:prstGeom prst="rect">
            <a:avLst/>
          </a:prstGeom>
          <a:ln w="0">
            <a:noFill/>
          </a:ln>
        </p:spPr>
      </p:sp>
      <p:sp>
        <p:nvSpPr>
          <p:cNvPr id="264" name="PlaceHolder 2"/>
          <p:cNvSpPr>
            <a:spLocks noGrp="1"/>
          </p:cNvSpPr>
          <p:nvPr>
            <p:ph type="body"/>
          </p:nvPr>
        </p:nvSpPr>
        <p:spPr>
          <a:xfrm>
            <a:off x="777240" y="4777560"/>
            <a:ext cx="6216840" cy="4525200"/>
          </a:xfrm>
          <a:prstGeom prst="rect">
            <a:avLst/>
          </a:prstGeom>
          <a:noFill/>
          <a:ln w="0">
            <a:noFill/>
          </a:ln>
        </p:spPr>
        <p:txBody>
          <a:bodyPr lIns="0" tIns="0" rIns="0" bIns="0" anchor="t">
            <a:noAutofit/>
          </a:bodyPr>
          <a:lstStyle/>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Alan Turing proposed the Turing Test in 1950 to avoid the vague philosophical question, “Can a machine think?” Instead of examining the machine’s internal thought process, the test evaluates its observable behavior.</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In the standard test, a human judge communicates with a person and a computer through written messages. The computer passes if the judge cannot reliably determine which responses came from the machine.</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Passing the standard test requires four major AI capabilities:</a:t>
            </a: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dirty="0">
                <a:solidFill>
                  <a:srgbClr val="000000"/>
                </a:solidFill>
                <a:effectLst/>
                <a:uFillTx/>
                <a:latin typeface="Arial"/>
              </a:rPr>
              <a:t>Natural language processing for communication </a:t>
            </a: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dirty="0">
                <a:solidFill>
                  <a:srgbClr val="000000"/>
                </a:solidFill>
                <a:effectLst/>
                <a:uFillTx/>
                <a:latin typeface="Arial"/>
              </a:rPr>
              <a:t>Knowledge representation for storing what the system knows </a:t>
            </a: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dirty="0">
                <a:solidFill>
                  <a:srgbClr val="000000"/>
                </a:solidFill>
                <a:effectLst/>
                <a:uFillTx/>
                <a:latin typeface="Arial"/>
              </a:rPr>
              <a:t>Automated reasoning for answering questions and drawing conclusions </a:t>
            </a: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dirty="0">
                <a:solidFill>
                  <a:srgbClr val="000000"/>
                </a:solidFill>
                <a:effectLst/>
                <a:uFillTx/>
                <a:latin typeface="Arial"/>
              </a:rPr>
              <a:t>Machine learning for adapting to new situations and identifying patterns </a:t>
            </a: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dirty="0">
                <a:solidFill>
                  <a:srgbClr val="000000"/>
                </a:solidFill>
                <a:effectLst/>
                <a:uFillTx/>
                <a:latin typeface="Arial"/>
              </a:rPr>
              <a:t>The Total Turing Test extends the original test beyond written conversation. The machine must also interact with objects and people in the physical world.</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This requires two additional capabilities:</a:t>
            </a:r>
          </a:p>
          <a:p>
            <a:pPr marL="360000" indent="-216000" algn="l">
              <a:lnSpc>
                <a:spcPct val="100000"/>
              </a:lnSpc>
              <a:spcBef>
                <a:spcPts val="57"/>
              </a:spcBef>
              <a:buClr>
                <a:srgbClr val="000000"/>
              </a:buClr>
              <a:buSzPct val="45000"/>
              <a:buFont typeface="Wingdings" charset="2"/>
              <a:buChar char=""/>
              <a:tabLst>
                <a:tab pos="0" algn="l"/>
              </a:tabLst>
            </a:pPr>
            <a:r>
              <a:rPr lang="en-US" sz="1000" b="0" u="none" strike="noStrike" dirty="0">
                <a:solidFill>
                  <a:srgbClr val="000000"/>
                </a:solidFill>
                <a:effectLst/>
                <a:uFillTx/>
                <a:latin typeface="Arial"/>
              </a:rPr>
              <a:t>Computer vision and speech recognition to perceive the environment </a:t>
            </a:r>
          </a:p>
          <a:p>
            <a:pPr marL="360000" indent="-216000" algn="l">
              <a:lnSpc>
                <a:spcPct val="100000"/>
              </a:lnSpc>
              <a:spcBef>
                <a:spcPts val="57"/>
              </a:spcBef>
              <a:buClr>
                <a:srgbClr val="000000"/>
              </a:buClr>
              <a:buSzPct val="45000"/>
              <a:buFont typeface="Wingdings" charset="2"/>
              <a:buChar char=""/>
              <a:tabLst>
                <a:tab pos="0" algn="l"/>
              </a:tabLst>
            </a:pPr>
            <a:r>
              <a:rPr lang="en-US" sz="1000" b="0" u="none" strike="noStrike" dirty="0">
                <a:solidFill>
                  <a:srgbClr val="000000"/>
                </a:solidFill>
                <a:effectLst/>
                <a:uFillTx/>
                <a:latin typeface="Arial"/>
              </a:rPr>
              <a:t>Robotics to move and manipulate objects </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important distinction is that the regular Turing Test evaluates humanlike communication, while the Total Turing Test evaluates broader humanlike behavior.</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Turing did not argue that the machine must think internally in exactly the same way as a person. The machine is judged by whether its observable behavior is difficult to distinguish from human behavior. </a:t>
            </a:r>
          </a:p>
          <a:p>
            <a:pPr indent="0" algn="l">
              <a:lnSpc>
                <a:spcPct val="100000"/>
              </a:lnSpc>
              <a:spcBef>
                <a:spcPts val="1191"/>
              </a:spcBef>
              <a:spcAft>
                <a:spcPts val="992"/>
              </a:spcAft>
              <a:buNone/>
              <a:tabLst>
                <a:tab pos="0" algn="l"/>
              </a:tabLst>
            </a:pPr>
            <a:endParaRPr lang="en-US" sz="1000" b="0" u="none" strike="noStrike" dirty="0">
              <a:solidFill>
                <a:srgbClr val="000000"/>
              </a:solidFill>
              <a:effectLst/>
              <a:uFillTx/>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noRot="1" noChangeAspect="1"/>
          </p:cNvSpPr>
          <p:nvPr>
            <p:ph type="sldImg"/>
          </p:nvPr>
        </p:nvSpPr>
        <p:spPr>
          <a:xfrm>
            <a:off x="0" y="962640"/>
            <a:ext cx="5142600" cy="2892240"/>
          </a:xfrm>
          <a:prstGeom prst="rect">
            <a:avLst/>
          </a:prstGeom>
          <a:ln w="0">
            <a:noFill/>
          </a:ln>
        </p:spPr>
      </p:sp>
      <p:sp>
        <p:nvSpPr>
          <p:cNvPr id="266" name="PlaceHolder 2"/>
          <p:cNvSpPr>
            <a:spLocks noGrp="1"/>
          </p:cNvSpPr>
          <p:nvPr>
            <p:ph type="body"/>
          </p:nvPr>
        </p:nvSpPr>
        <p:spPr>
          <a:xfrm>
            <a:off x="777240" y="4777560"/>
            <a:ext cx="6216840" cy="4525200"/>
          </a:xfrm>
          <a:prstGeom prst="rect">
            <a:avLst/>
          </a:prstGeom>
          <a:noFill/>
          <a:ln w="0">
            <a:noFill/>
          </a:ln>
        </p:spPr>
        <p:txBody>
          <a:bodyPr lIns="0" tIns="0" rIns="0" bIns="0" anchor="t">
            <a:noAutofit/>
          </a:bodyPr>
          <a:lstStyle/>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rational-agent approach focuses on what an AI system does, not whether it thinks exactly like a person. A rational agent acts to achieve the best possible result according to the objective it has been given.</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Correct reasoning can help the agent choose an action, but rational behavior does not always require lengthy reasoning. For example, quickly moving away from danger may be more effective than stopping to calculate every possibility.</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This approach became the dominant model in AI because it is broader than pure logic and can handle uncertainty. Probability and machine learning allow agents to estimate outcomes and choose the action with the highest expected benefit.</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chapter also notes that perfect rationality is often impossible because time and computing resources are limited. In practice, an agent must act appropriately using the information and resources available. </a:t>
            </a:r>
          </a:p>
          <a:p>
            <a:pPr indent="0" algn="l">
              <a:lnSpc>
                <a:spcPct val="100000"/>
              </a:lnSpc>
              <a:spcBef>
                <a:spcPts val="1191"/>
              </a:spcBef>
              <a:spcAft>
                <a:spcPts val="992"/>
              </a:spcAft>
              <a:buNone/>
              <a:tabLst>
                <a:tab pos="0" algn="l"/>
              </a:tabLst>
            </a:pPr>
            <a:endParaRPr lang="en-US" sz="2100" b="0" u="none" strike="noStrike">
              <a:solidFill>
                <a:srgbClr val="000000"/>
              </a:solidFill>
              <a:effectLst/>
              <a:uFillTx/>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
          <p:cNvSpPr>
            <a:spLocks noGrp="1" noRot="1" noChangeAspect="1"/>
          </p:cNvSpPr>
          <p:nvPr>
            <p:ph type="sldImg"/>
          </p:nvPr>
        </p:nvSpPr>
        <p:spPr>
          <a:xfrm>
            <a:off x="1440" y="0"/>
            <a:ext cx="0" cy="0"/>
          </a:xfrm>
          <a:prstGeom prst="rect">
            <a:avLst/>
          </a:prstGeom>
          <a:ln w="0">
            <a:noFill/>
          </a:ln>
        </p:spPr>
      </p:sp>
      <p:sp>
        <p:nvSpPr>
          <p:cNvPr id="268" name="PlaceHolder 2"/>
          <p:cNvSpPr>
            <a:spLocks noGrp="1"/>
          </p:cNvSpPr>
          <p:nvPr>
            <p:ph type="body"/>
          </p:nvPr>
        </p:nvSpPr>
        <p:spPr>
          <a:xfrm>
            <a:off x="777240" y="4777560"/>
            <a:ext cx="6216840" cy="4525200"/>
          </a:xfrm>
          <a:prstGeom prst="rect">
            <a:avLst/>
          </a:prstGeom>
          <a:noFill/>
          <a:ln w="0">
            <a:noFill/>
          </a:ln>
        </p:spPr>
        <p:txBody>
          <a:bodyPr lIns="0" tIns="0" rIns="0" bIns="0" anchor="t">
            <a:noAutofit/>
          </a:bodyPr>
          <a:lstStyle/>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A rational agent acts to achieve the best outcome or, when there is uncertainty, the best expected outcome.</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emphasis is on the action selected. The system does not have to reason exactly like a person, and it does not always need a long chain of logical inference. For example, recoiling from a hot stove may be more successful than stopping to reason through every possible response.</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Correct inference can still help an agent determine that one action is better than another. However, rational behavior is broader than logical reasoning alone.</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Perfect rationality is often impractical. In complex environments, an agent may not have enough time or computing power to evaluate every possible action. It must act appropriately using the information and resources available.</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This leads into the standard model: AI systems are designed to choose actions that best achieve the objective provided to them.</a:t>
            </a:r>
          </a:p>
          <a:p>
            <a:pPr indent="0" algn="l">
              <a:lnSpc>
                <a:spcPct val="100000"/>
              </a:lnSpc>
              <a:spcBef>
                <a:spcPts val="1191"/>
              </a:spcBef>
              <a:spcAft>
                <a:spcPts val="992"/>
              </a:spcAft>
              <a:buNone/>
              <a:tabLst>
                <a:tab pos="0" algn="l"/>
              </a:tabLst>
            </a:pPr>
            <a:endParaRPr lang="en-US" sz="2200" b="0" u="none" strike="noStrike">
              <a:solidFill>
                <a:srgbClr val="000000"/>
              </a:solidFill>
              <a:effectLst/>
              <a:uFillTx/>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laceHolder 1"/>
          <p:cNvSpPr>
            <a:spLocks noGrp="1" noRot="1" noChangeAspect="1"/>
          </p:cNvSpPr>
          <p:nvPr>
            <p:ph type="sldImg"/>
          </p:nvPr>
        </p:nvSpPr>
        <p:spPr>
          <a:xfrm>
            <a:off x="0" y="962640"/>
            <a:ext cx="5142960" cy="2892600"/>
          </a:xfrm>
          <a:prstGeom prst="rect">
            <a:avLst/>
          </a:prstGeom>
          <a:ln w="0">
            <a:noFill/>
          </a:ln>
        </p:spPr>
      </p:sp>
      <p:sp>
        <p:nvSpPr>
          <p:cNvPr id="270"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lstStyle/>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rational-agent approach became dominant because it is broader and easier to study scientifically than the other approaches.</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First, it is </a:t>
            </a:r>
            <a:r>
              <a:rPr lang="en-US" sz="2200" b="1" u="none" strike="noStrike">
                <a:solidFill>
                  <a:srgbClr val="000000"/>
                </a:solidFill>
                <a:effectLst/>
                <a:uFillTx/>
                <a:latin typeface="Arial"/>
              </a:rPr>
              <a:t>more general than the laws-of-thought approach. </a:t>
            </a:r>
            <a:r>
              <a:rPr lang="en-US" sz="2200" b="0" u="none" strike="noStrike">
                <a:solidFill>
                  <a:srgbClr val="000000"/>
                </a:solidFill>
                <a:effectLst/>
                <a:uFillTx/>
                <a:latin typeface="Arial"/>
              </a:rPr>
              <a:t>Correct logical inference can help an agent choose an action, but inference is not always required. A reflex, learned behavior, or probabilistic estimate can also produce a rational action.</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Second, rationality gives researchers a </a:t>
            </a:r>
            <a:r>
              <a:rPr lang="en-US" sz="2200" b="1" u="none" strike="noStrike">
                <a:solidFill>
                  <a:srgbClr val="000000"/>
                </a:solidFill>
                <a:effectLst/>
                <a:uFillTx/>
                <a:latin typeface="Arial"/>
              </a:rPr>
              <a:t>mathematically defined standard.</a:t>
            </a:r>
            <a:r>
              <a:rPr lang="en-US" sz="2200" b="0" u="none" strike="noStrike">
                <a:solidFill>
                  <a:srgbClr val="000000"/>
                </a:solidFill>
                <a:effectLst/>
                <a:uFillTx/>
                <a:latin typeface="Arial"/>
              </a:rPr>
              <a:t> Instead of asking whether a system thinks like a person, we can evaluate whether its actions achieve the best outcome or the best expected outcome under uncertainty.</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approach also works well with </a:t>
            </a:r>
            <a:r>
              <a:rPr lang="en-US" sz="2200" b="1" u="none" strike="noStrike">
                <a:solidFill>
                  <a:srgbClr val="000000"/>
                </a:solidFill>
                <a:effectLst/>
                <a:uFillTx/>
                <a:latin typeface="Arial"/>
              </a:rPr>
              <a:t>probability theory and machine learning.</a:t>
            </a:r>
            <a:r>
              <a:rPr lang="en-US" sz="2200" b="0" u="none" strike="noStrike">
                <a:solidFill>
                  <a:srgbClr val="000000"/>
                </a:solidFill>
                <a:effectLst/>
                <a:uFillTx/>
                <a:latin typeface="Arial"/>
              </a:rPr>
              <a:t> These methods allow an agent to make decisions when information is incomplete or outcomes are uncertain.</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This framework connects AI to several other fields. Control theory minimizes cost, operations research maximizes rewards, statistics minimizes loss, and economics maximizes utility.</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main idea is that AI focuses on constructing agents that do the</a:t>
            </a:r>
            <a:r>
              <a:rPr lang="en-US" sz="2200" b="1" u="none" strike="noStrike">
                <a:solidFill>
                  <a:srgbClr val="000000"/>
                </a:solidFill>
                <a:effectLst/>
                <a:uFillTx/>
                <a:latin typeface="Arial"/>
              </a:rPr>
              <a:t> right thing</a:t>
            </a:r>
            <a:r>
              <a:rPr lang="en-US" sz="2200" b="0" u="none" strike="noStrike">
                <a:solidFill>
                  <a:srgbClr val="000000"/>
                </a:solidFill>
                <a:effectLst/>
                <a:uFillTx/>
                <a:latin typeface="Arial"/>
              </a:rPr>
              <a:t>. What counts as the right thing depends on the objective given to the agent.</a:t>
            </a: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This material comes from Section 1.1.4, “Acting Rationally: The Rational Agent Approach.”</a:t>
            </a: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685800" y="1143000"/>
            <a:ext cx="5482800" cy="3082680"/>
          </a:xfrm>
          <a:prstGeom prst="rect">
            <a:avLst/>
          </a:prstGeom>
          <a:ln w="0">
            <a:noFill/>
          </a:ln>
        </p:spPr>
      </p:sp>
      <p:sp>
        <p:nvSpPr>
          <p:cNvPr id="272"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Artificial intelligence is concerned with both understanding intelligence and building intelligent entities—machines that can determine how to act effectively and safely in a wide range of situations.</a:t>
            </a: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AI can be organized along two dimensions: human versus rational and thinking versus acting. These dimensions produce four approaches: thinking humanly, acting humanly, thinking rationally, and acting rationally.</a:t>
            </a: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The rational-agent approach has become the dominant view. A rational agent acts to achieve the best outcome or, under uncertainty, the best expected outcome.</a:t>
            </a: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This is known as the standard model: AI focuses on constructing agents that do the “right thing.” What counts as the right thing is determined by the objective provided to the agent. This connects AI to control theory, operations research, statistics, and economics, where systems minimize costs, maximize rewards, reduce losses, or maximize utility.</a:t>
            </a: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Perfect rationality is not always feasible in complex environments because the computational demands may be too high. This leads to limited rationality—acting appropriately when there is not enough time or computing power to evaluate every possibility.</a:t>
            </a: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The value alignment problem asks whether the objective given to the machine truly reflects human preferences. If the objective is incorrect or incomplete, even a highly capable AI system may produce harmful outcomes.</a:t>
            </a:r>
          </a:p>
          <a:p>
            <a:pPr indent="0" algn="l">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p:txBody>
      </p:sp>
      <p:sp>
        <p:nvSpPr>
          <p:cNvPr id="273" name="PlaceHolder 3"/>
          <p:cNvSpPr>
            <a:spLocks noGrp="1"/>
          </p:cNvSpPr>
          <p:nvPr>
            <p:ph type="sldNum" idx="9"/>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7E53AB0-0EC0-482F-BE4D-CE82F84B4BCA}"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laceHolder 1"/>
          <p:cNvSpPr>
            <a:spLocks noGrp="1" noRot="1" noChangeAspect="1"/>
          </p:cNvSpPr>
          <p:nvPr>
            <p:ph type="sldImg"/>
          </p:nvPr>
        </p:nvSpPr>
        <p:spPr>
          <a:xfrm>
            <a:off x="685800" y="1143000"/>
            <a:ext cx="5482800" cy="3082680"/>
          </a:xfrm>
          <a:prstGeom prst="rect">
            <a:avLst/>
          </a:prstGeom>
          <a:ln w="0">
            <a:noFill/>
          </a:ln>
        </p:spPr>
      </p:sp>
      <p:sp>
        <p:nvSpPr>
          <p:cNvPr id="275"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This slide summarizes the four approaches to artificial intelligence described in Chapter 1. The approaches are organized around two questions: </a:t>
            </a:r>
            <a:r>
              <a:rPr lang="en-US" sz="2400" b="0" u="none" strike="noStrike">
                <a:solidFill>
                  <a:srgbClr val="000000"/>
                </a:solidFill>
                <a:effectLst/>
                <a:highlight>
                  <a:srgbClr val="FFFF00"/>
                </a:highlight>
                <a:uFillTx/>
                <a:latin typeface="Arial"/>
              </a:rPr>
              <a:t>whether AI should model humans or rational behavior, and whether intelligence should be evaluated by thought or by action.</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highlight>
                  <a:srgbClr val="81D41A"/>
                </a:highlight>
                <a:uFillTx/>
                <a:latin typeface="Arial"/>
              </a:rPr>
              <a:t>Thinking humanly focuses on cognitive modeling.</a:t>
            </a:r>
            <a:r>
              <a:rPr lang="en-US" sz="2400" b="0" u="none" strike="noStrike">
                <a:solidFill>
                  <a:srgbClr val="000000"/>
                </a:solidFill>
                <a:effectLst/>
                <a:uFillTx/>
                <a:latin typeface="Arial"/>
              </a:rPr>
              <a:t> The goal is to create programs that follow reasoning processes similar to those used by people. Newell and Simon’s General Problem Solver is an example because its reasoning steps were compared with those of human problem solvers.</a:t>
            </a:r>
          </a:p>
          <a:p>
            <a:pPr indent="0" algn="l">
              <a:lnSpc>
                <a:spcPct val="100000"/>
              </a:lnSpc>
              <a:spcBef>
                <a:spcPts val="1191"/>
              </a:spcBef>
              <a:spcAft>
                <a:spcPts val="992"/>
              </a:spcAft>
              <a:buNone/>
              <a:tabLst>
                <a:tab pos="0" algn="l"/>
              </a:tabLst>
            </a:pPr>
            <a:r>
              <a:rPr lang="en-US" sz="2400" b="0" u="none" strike="noStrike">
                <a:solidFill>
                  <a:srgbClr val="000000"/>
                </a:solidFill>
                <a:effectLst/>
                <a:highlight>
                  <a:srgbClr val="81D41A"/>
                </a:highlight>
                <a:uFillTx/>
                <a:latin typeface="Arial"/>
              </a:rPr>
              <a:t>Thinking rationally is the laws-of-thought approach.</a:t>
            </a:r>
            <a:r>
              <a:rPr lang="en-US" sz="2400" b="0" u="none" strike="noStrike">
                <a:solidFill>
                  <a:srgbClr val="000000"/>
                </a:solidFill>
                <a:effectLst/>
                <a:uFillTx/>
                <a:latin typeface="Arial"/>
              </a:rPr>
              <a:t> It uses formal logic and valid rules of inference to produce correct conclusions. This tradition began with Aristotle’s syllogisms and later developed into formal logical systems.</a:t>
            </a:r>
          </a:p>
          <a:p>
            <a:pPr indent="0" algn="l">
              <a:lnSpc>
                <a:spcPct val="100000"/>
              </a:lnSpc>
              <a:spcBef>
                <a:spcPts val="1191"/>
              </a:spcBef>
              <a:spcAft>
                <a:spcPts val="992"/>
              </a:spcAft>
              <a:buNone/>
              <a:tabLst>
                <a:tab pos="0" algn="l"/>
              </a:tabLst>
            </a:pPr>
            <a:r>
              <a:rPr lang="en-US" sz="2400" b="0" u="none" strike="noStrike">
                <a:solidFill>
                  <a:srgbClr val="000000"/>
                </a:solidFill>
                <a:effectLst/>
                <a:highlight>
                  <a:srgbClr val="81D41A"/>
                </a:highlight>
                <a:uFillTx/>
                <a:latin typeface="Arial"/>
              </a:rPr>
              <a:t>Acting humanly is represented by the Turing test.</a:t>
            </a:r>
            <a:r>
              <a:rPr lang="en-US" sz="2400" b="0" u="none" strike="noStrike">
                <a:solidFill>
                  <a:srgbClr val="000000"/>
                </a:solidFill>
                <a:effectLst/>
                <a:uFillTx/>
                <a:latin typeface="Arial"/>
              </a:rPr>
              <a:t> The system is judged by whether its behavior can be distinguished from human behavior. This requires abilities such as natural language processing, knowledge representation, automated reasoning, and machine learning.</a:t>
            </a:r>
          </a:p>
          <a:p>
            <a:pPr indent="0" algn="l">
              <a:lnSpc>
                <a:spcPct val="100000"/>
              </a:lnSpc>
              <a:spcBef>
                <a:spcPts val="1191"/>
              </a:spcBef>
              <a:spcAft>
                <a:spcPts val="992"/>
              </a:spcAft>
              <a:buNone/>
              <a:tabLst>
                <a:tab pos="0" algn="l"/>
              </a:tabLst>
            </a:pPr>
            <a:r>
              <a:rPr lang="en-US" sz="2400" b="0" u="none" strike="noStrike">
                <a:solidFill>
                  <a:srgbClr val="000000"/>
                </a:solidFill>
                <a:effectLst/>
                <a:highlight>
                  <a:srgbClr val="81D41A"/>
                </a:highlight>
                <a:uFillTx/>
                <a:latin typeface="Arial"/>
              </a:rPr>
              <a:t>Acting rationally is the rational-agent approach and is the dominant approach presented in the chapter.</a:t>
            </a:r>
            <a:r>
              <a:rPr lang="en-US" sz="2400" b="0" u="none" strike="noStrike">
                <a:solidFill>
                  <a:srgbClr val="000000"/>
                </a:solidFill>
                <a:effectLst/>
                <a:uFillTx/>
                <a:latin typeface="Arial"/>
              </a:rPr>
              <a:t> A rational agent chooses the action that produces the best outcome, or the best expected outcome when there is uncertainty. This approach is broader than logic because correct reasoning is only one method an agent can use to act successfully.</a:t>
            </a: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The main point of the slide is that modern AI generally emphasizes rational action: building agents that select effective actions based on their objectives, information, and environment.</a:t>
            </a:r>
          </a:p>
          <a:p>
            <a:pPr indent="0" algn="l">
              <a:lnSpc>
                <a:spcPct val="100000"/>
              </a:lnSpc>
              <a:spcBef>
                <a:spcPts val="1191"/>
              </a:spcBef>
              <a:spcAft>
                <a:spcPts val="992"/>
              </a:spcAft>
              <a:buNone/>
              <a:tabLst>
                <a:tab pos="0" algn="l"/>
              </a:tabLst>
            </a:pPr>
            <a:endParaRPr lang="en-US" sz="2400" b="0" u="none" strike="noStrike">
              <a:solidFill>
                <a:srgbClr val="000000"/>
              </a:solidFill>
              <a:effectLst/>
              <a:uFillTx/>
              <a:latin typeface="Arial"/>
            </a:endParaRPr>
          </a:p>
        </p:txBody>
      </p:sp>
      <p:sp>
        <p:nvSpPr>
          <p:cNvPr id="276" name="PlaceHolder 3"/>
          <p:cNvSpPr>
            <a:spLocks noGrp="1"/>
          </p:cNvSpPr>
          <p:nvPr>
            <p:ph type="sldNum" idx="10"/>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0101147-ED17-4187-9A7A-4A8FE30B886A}"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noRot="1" noChangeAspect="1"/>
          </p:cNvSpPr>
          <p:nvPr>
            <p:ph type="sldImg"/>
          </p:nvPr>
        </p:nvSpPr>
        <p:spPr>
          <a:xfrm>
            <a:off x="685800" y="1143000"/>
            <a:ext cx="5482800" cy="3082680"/>
          </a:xfrm>
          <a:prstGeom prst="rect">
            <a:avLst/>
          </a:prstGeom>
          <a:ln w="0">
            <a:noFill/>
          </a:ln>
        </p:spPr>
      </p:sp>
      <p:sp>
        <p:nvSpPr>
          <p:cNvPr id="278"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standard model gives an AI a fixed objective and expects it to maximize that objective. This may work in controlled environments, where the system can be stopped, corrected, and restarted.</a:t>
            </a: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problem appears when a capable AI is deployed in the real world. A poorly defined objective may lead to actions that satisfy the literal goal but violate what humans actually intended.</a:t>
            </a: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Chapter 1 uses the King Midas problem to illustrate this. Like Midas, who received exactly what he asked for but regretted the result, an AI may follow its instructions correctly while producing harmful outcomes.</a:t>
            </a: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chess example makes the same point. A system told only to win might manipulate its opponent or seek more computing power. These actions could be rational for the stated objective, even though they are not what people want.</a:t>
            </a: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proposed solution is to build machines that remain uncertain about human objectives. This uncertainty encourages them to learn preferences, accept correction, and allow themselves to be switched off.</a:t>
            </a: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main takeaway is that greater intelligence does not guarantee safer behavior. The system’s objective must remain aligned with human values and intentions.</a:t>
            </a:r>
          </a:p>
          <a:p>
            <a:pPr indent="0" algn="l">
              <a:lnSpc>
                <a:spcPct val="100000"/>
              </a:lnSpc>
              <a:spcBef>
                <a:spcPts val="1191"/>
              </a:spcBef>
              <a:spcAft>
                <a:spcPts val="992"/>
              </a:spcAft>
              <a:buNone/>
              <a:tabLst>
                <a:tab pos="0" algn="l"/>
              </a:tabLst>
            </a:pPr>
            <a:endParaRPr lang="en-US" sz="2800" b="0" u="none" strike="noStrike">
              <a:solidFill>
                <a:srgbClr val="000000"/>
              </a:solidFill>
              <a:effectLst/>
              <a:uFillTx/>
              <a:latin typeface="Arial"/>
            </a:endParaRPr>
          </a:p>
        </p:txBody>
      </p:sp>
      <p:sp>
        <p:nvSpPr>
          <p:cNvPr id="279" name="PlaceHolder 3"/>
          <p:cNvSpPr>
            <a:spLocks noGrp="1"/>
          </p:cNvSpPr>
          <p:nvPr>
            <p:ph type="sldNum" idx="11"/>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562AF0E-5284-4789-A90C-8D42F3D1C931}"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noRot="1" noChangeAspect="1"/>
          </p:cNvSpPr>
          <p:nvPr>
            <p:ph type="sldImg"/>
          </p:nvPr>
        </p:nvSpPr>
        <p:spPr>
          <a:xfrm>
            <a:off x="685800" y="1143000"/>
            <a:ext cx="5482800" cy="3082680"/>
          </a:xfrm>
          <a:prstGeom prst="rect">
            <a:avLst/>
          </a:prstGeom>
          <a:ln w="0">
            <a:noFill/>
          </a:ln>
        </p:spPr>
      </p:sp>
      <p:sp>
        <p:nvSpPr>
          <p:cNvPr id="281"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1600" b="0" u="none" strike="noStrike">
                <a:solidFill>
                  <a:srgbClr val="000000"/>
                </a:solidFill>
                <a:effectLst/>
                <a:uFillTx/>
                <a:latin typeface="Arial"/>
              </a:rPr>
              <a:t>These seven disciplines supplied the ideas and tools that made artificial intelligence possible.</a:t>
            </a: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Philosophy</a:t>
            </a:r>
            <a:r>
              <a:rPr lang="en-US" sz="1600" b="0" u="none" strike="noStrike">
                <a:solidFill>
                  <a:srgbClr val="000000"/>
                </a:solidFill>
                <a:effectLst/>
                <a:uFillTx/>
                <a:latin typeface="Arial"/>
              </a:rPr>
              <a:t> contributed the earliest questions about reasoning, knowledge, the mind, and action. Aristotle showed how formal rules, such as syllogisms, could produce valid conclusions. Philosophers also debated whether the mind is separate from the body and whether actions should be judged by their consequences or by universal rules.</a:t>
            </a: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Mathematics</a:t>
            </a:r>
            <a:r>
              <a:rPr lang="en-US" sz="1600" b="0" u="none" strike="noStrike">
                <a:solidFill>
                  <a:srgbClr val="000000"/>
                </a:solidFill>
                <a:effectLst/>
                <a:uFillTx/>
                <a:latin typeface="Arial"/>
              </a:rPr>
              <a:t> turned these ideas into formal systems. Boole developed propositional logic, Frege extended logic to objects and relationships, Gödel identified limits on formal proof, and Turing helped define what can and cannot be computed. Probability theory also gave AI a way to reason when information is incomplete or uncertain.</a:t>
            </a: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Economics</a:t>
            </a:r>
            <a:r>
              <a:rPr lang="en-US" sz="1600" b="0" u="none" strike="noStrike">
                <a:solidFill>
                  <a:srgbClr val="000000"/>
                </a:solidFill>
                <a:effectLst/>
                <a:uFillTx/>
                <a:latin typeface="Arial"/>
              </a:rPr>
              <a:t> contributed the idea of rational decision-making. An agent can compare possible outcomes using utility and choose the action with the highest expected benefit. Game theory extends this reasoning to situations involving multiple agents, while Markov decision processes address decisions made over time.</a:t>
            </a: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Neuroscience</a:t>
            </a:r>
            <a:r>
              <a:rPr lang="en-US" sz="1600" b="0" u="none" strike="noStrike">
                <a:solidFill>
                  <a:srgbClr val="000000"/>
                </a:solidFill>
                <a:effectLst/>
                <a:uFillTx/>
                <a:latin typeface="Arial"/>
              </a:rPr>
              <a:t> studies how the brain processes information. Research on neurons, learning, and brain-machine interfaces helped inspire artificial neural networks and learning systems.</a:t>
            </a: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Psychology</a:t>
            </a:r>
            <a:r>
              <a:rPr lang="en-US" sz="1600" b="0" u="none" strike="noStrike">
                <a:solidFill>
                  <a:srgbClr val="000000"/>
                </a:solidFill>
                <a:effectLst/>
                <a:uFillTx/>
                <a:latin typeface="Arial"/>
              </a:rPr>
              <a:t> contributed models of human thinking and behavior. Cognitive psychology views the brain as an information-processing system that receives input, creates internal representations, processes them, and produces actions.</a:t>
            </a: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Linguistics</a:t>
            </a:r>
            <a:r>
              <a:rPr lang="en-US" sz="1600" b="0" u="none" strike="noStrike">
                <a:solidFill>
                  <a:srgbClr val="000000"/>
                </a:solidFill>
                <a:effectLst/>
                <a:uFillTx/>
                <a:latin typeface="Arial"/>
              </a:rPr>
              <a:t> helped AI address language. Chomsky showed that language involves formal structure and cannot be explained only as learned stimulus-response behavior. This work influenced natural language processing.</a:t>
            </a: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Computer engineering </a:t>
            </a:r>
            <a:r>
              <a:rPr lang="en-US" sz="1600" b="0" u="none" strike="noStrike">
                <a:solidFill>
                  <a:srgbClr val="000000"/>
                </a:solidFill>
                <a:effectLst/>
                <a:uFillTx/>
                <a:latin typeface="Arial"/>
              </a:rPr>
              <a:t>provided the hardware and software needed to make AI practical. Faster processors, GPUs, TPUs, increased memory, and parallel computing allow modern systems to process large amounts of data and train complex models.</a:t>
            </a:r>
          </a:p>
          <a:p>
            <a:pPr indent="0" algn="l">
              <a:lnSpc>
                <a:spcPct val="100000"/>
              </a:lnSpc>
              <a:spcBef>
                <a:spcPts val="1191"/>
              </a:spcBef>
              <a:spcAft>
                <a:spcPts val="992"/>
              </a:spcAft>
              <a:buNone/>
              <a:tabLst>
                <a:tab pos="0" algn="l"/>
              </a:tabLst>
            </a:pPr>
            <a:r>
              <a:rPr lang="en-US" sz="1600" b="0" u="none" strike="noStrike">
                <a:solidFill>
                  <a:srgbClr val="000000"/>
                </a:solidFill>
                <a:effectLst/>
                <a:uFillTx/>
                <a:latin typeface="Arial"/>
              </a:rPr>
              <a:t>The main takeaway is that AI did not emerge from one discipline. It combines ideas about reasoning, decision-making, learning, language, the brain, and computation.</a:t>
            </a: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
        <p:nvSpPr>
          <p:cNvPr id="282" name="PlaceHolder 3"/>
          <p:cNvSpPr>
            <a:spLocks noGrp="1"/>
          </p:cNvSpPr>
          <p:nvPr>
            <p:ph type="sldNum" idx="12"/>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B189B34-E018-40A1-AC8B-7474A5884A63}"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noRot="1" noChangeAspect="1"/>
          </p:cNvSpPr>
          <p:nvPr>
            <p:ph type="sldImg"/>
          </p:nvPr>
        </p:nvSpPr>
        <p:spPr>
          <a:xfrm>
            <a:off x="0" y="962640"/>
            <a:ext cx="5142960" cy="2892600"/>
          </a:xfrm>
          <a:prstGeom prst="rect">
            <a:avLst/>
          </a:prstGeom>
          <a:ln w="0">
            <a:noFill/>
          </a:ln>
        </p:spPr>
      </p:sp>
      <p:sp>
        <p:nvSpPr>
          <p:cNvPr id="284"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lstStyle/>
          <a:p>
            <a:pPr indent="0" algn="l">
              <a:lnSpc>
                <a:spcPct val="100000"/>
              </a:lnSpc>
              <a:spcBef>
                <a:spcPts val="1191"/>
              </a:spcBef>
              <a:spcAft>
                <a:spcPts val="992"/>
              </a:spcAft>
              <a:buNone/>
              <a:tabLst>
                <a:tab pos="0" algn="l"/>
              </a:tabLst>
            </a:pPr>
            <a:r>
              <a:rPr lang="en-US" sz="1000" b="0" u="none" strike="noStrike" dirty="0" err="1">
                <a:solidFill>
                  <a:srgbClr val="000000"/>
                </a:solidFill>
                <a:effectLst/>
                <a:uFillTx/>
                <a:latin typeface="Arial"/>
              </a:rPr>
              <a:t>ntelligence</a:t>
            </a:r>
            <a:r>
              <a:rPr lang="en-US" sz="1000" b="0" u="none" strike="noStrike" dirty="0">
                <a:solidFill>
                  <a:srgbClr val="000000"/>
                </a:solidFill>
                <a:effectLst/>
                <a:uFillTx/>
                <a:latin typeface="Arial"/>
              </a:rPr>
              <a:t> augmentation, or IA, is the idea that computers should help people become more capable rather than simply replace human work.</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Doug Engelbart was one of the main advocates of this approach. He believed that computers could improve how people think, communicate, organize information, and solve complex problems.</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In 1968, Engelbart demonstrated several technologies that later became central to personal computing, including the</a:t>
            </a:r>
            <a:r>
              <a:rPr lang="en-US" sz="1000" b="1" u="none" strike="noStrike" dirty="0">
                <a:solidFill>
                  <a:srgbClr val="000000"/>
                </a:solidFill>
                <a:effectLst/>
                <a:uFillTx/>
                <a:latin typeface="Arial"/>
              </a:rPr>
              <a:t> mouse, windows, hypertext, and video conferencing.</a:t>
            </a:r>
            <a:r>
              <a:rPr lang="en-US" sz="1000" b="0" u="none" strike="noStrike" dirty="0">
                <a:solidFill>
                  <a:srgbClr val="000000"/>
                </a:solidFill>
                <a:effectLst/>
                <a:uFillTx/>
                <a:latin typeface="Arial"/>
              </a:rPr>
              <a:t> His goal was to show how computer tools could increase the effectiveness of human knowledge workers.</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This idea connects to AI because intelligent systems do not always need to act independently. They can also support human judgment, provide information, identify patterns, and help people make better decisions.</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A useful distinction for students is:</a:t>
            </a:r>
          </a:p>
          <a:p>
            <a:pPr marL="360000" indent="-216000" algn="l">
              <a:lnSpc>
                <a:spcPct val="100000"/>
              </a:lnSpc>
              <a:spcBef>
                <a:spcPts val="57"/>
              </a:spcBef>
              <a:buClr>
                <a:srgbClr val="000000"/>
              </a:buClr>
              <a:buSzPct val="45000"/>
              <a:buFont typeface="Wingdings" charset="2"/>
              <a:buChar char=""/>
              <a:tabLst>
                <a:tab pos="0" algn="l"/>
              </a:tabLst>
            </a:pPr>
            <a:r>
              <a:rPr lang="en-US" sz="1000" b="1" u="none" strike="noStrike" dirty="0">
                <a:solidFill>
                  <a:srgbClr val="000000"/>
                </a:solidFill>
                <a:effectLst/>
                <a:uFillTx/>
                <a:latin typeface="Arial"/>
              </a:rPr>
              <a:t>Automation</a:t>
            </a:r>
            <a:r>
              <a:rPr lang="en-US" sz="1000" b="0" u="none" strike="noStrike" dirty="0">
                <a:solidFill>
                  <a:srgbClr val="000000"/>
                </a:solidFill>
                <a:effectLst/>
                <a:uFillTx/>
                <a:latin typeface="Arial"/>
              </a:rPr>
              <a:t>: the machine performs the task instead of the person. </a:t>
            </a:r>
          </a:p>
          <a:p>
            <a:pPr marL="360000" indent="-216000" algn="l">
              <a:lnSpc>
                <a:spcPct val="100000"/>
              </a:lnSpc>
              <a:spcBef>
                <a:spcPts val="57"/>
              </a:spcBef>
              <a:buClr>
                <a:srgbClr val="000000"/>
              </a:buClr>
              <a:buSzPct val="45000"/>
              <a:buFont typeface="Wingdings" charset="2"/>
              <a:buChar char=""/>
              <a:tabLst>
                <a:tab pos="0" algn="l"/>
              </a:tabLst>
            </a:pPr>
            <a:r>
              <a:rPr lang="en-US" sz="1000" b="1" u="none" strike="noStrike" dirty="0">
                <a:solidFill>
                  <a:srgbClr val="000000"/>
                </a:solidFill>
                <a:effectLst/>
                <a:uFillTx/>
                <a:latin typeface="Arial"/>
              </a:rPr>
              <a:t>Augmentation</a:t>
            </a:r>
            <a:r>
              <a:rPr lang="en-US" sz="1000" b="0" u="none" strike="noStrike" dirty="0">
                <a:solidFill>
                  <a:srgbClr val="000000"/>
                </a:solidFill>
                <a:effectLst/>
                <a:uFillTx/>
                <a:latin typeface="Arial"/>
              </a:rPr>
              <a:t>: the machine helps the person perform the task better. </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This material comes from Section 1.2.5, “Psychology,” where the chapter discusses human–computer interaction and Engelbart’s idea of IA rather than AI. </a:t>
            </a:r>
          </a:p>
          <a:p>
            <a:pPr indent="0" algn="l">
              <a:lnSpc>
                <a:spcPct val="100000"/>
              </a:lnSpc>
              <a:spcBef>
                <a:spcPts val="1191"/>
              </a:spcBef>
              <a:spcAft>
                <a:spcPts val="992"/>
              </a:spcAft>
              <a:buNone/>
              <a:tabLst>
                <a:tab pos="0" algn="l"/>
              </a:tabLst>
            </a:pPr>
            <a:endParaRPr lang="en-US" sz="1000" b="0" u="none" strike="noStrike" dirty="0">
              <a:solidFill>
                <a:srgbClr val="000000"/>
              </a:solidFill>
              <a:effectLst/>
              <a:uFillTx/>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PlaceHolder 1"/>
          <p:cNvSpPr>
            <a:spLocks noGrp="1" noRot="1" noChangeAspect="1"/>
          </p:cNvSpPr>
          <p:nvPr>
            <p:ph type="sldImg"/>
          </p:nvPr>
        </p:nvSpPr>
        <p:spPr>
          <a:xfrm>
            <a:off x="685800" y="1143000"/>
            <a:ext cx="5482800" cy="3082680"/>
          </a:xfrm>
          <a:prstGeom prst="rect">
            <a:avLst/>
          </a:prstGeom>
          <a:ln w="0">
            <a:noFill/>
          </a:ln>
        </p:spPr>
      </p:sp>
      <p:sp>
        <p:nvSpPr>
          <p:cNvPr id="286"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Mathematics gave AI the formal tools needed to represent knowledge, draw conclusions, and reason under uncertainty.</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On the </a:t>
            </a:r>
            <a:r>
              <a:rPr lang="en-US" sz="2400" b="1" u="none" strike="noStrike" dirty="0">
                <a:solidFill>
                  <a:srgbClr val="000000"/>
                </a:solidFill>
                <a:effectLst/>
                <a:uFillTx/>
                <a:latin typeface="Arial"/>
              </a:rPr>
              <a:t>logic and computation</a:t>
            </a:r>
            <a:r>
              <a:rPr lang="en-US" sz="2400" b="0" u="none" strike="noStrike" dirty="0">
                <a:solidFill>
                  <a:srgbClr val="000000"/>
                </a:solidFill>
                <a:effectLst/>
                <a:uFillTx/>
                <a:latin typeface="Arial"/>
              </a:rPr>
              <a:t> side, Boole developed propositional logic, which represents statements as true or false. Frege extended this into first-order logic, allowing us to reason about objects, properties, and relationships.</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Gödel then showed that formal systems have limits: some true statements cannot be proven within the system. Turing built on this work by defining computability through the idea of a Turing machine. He also demonstrated that some problems are </a:t>
            </a:r>
            <a:r>
              <a:rPr lang="en-US" sz="2400" b="0" u="none" strike="noStrike" dirty="0" err="1">
                <a:solidFill>
                  <a:srgbClr val="000000"/>
                </a:solidFill>
                <a:effectLst/>
                <a:uFillTx/>
                <a:latin typeface="Arial"/>
              </a:rPr>
              <a:t>uncomputable</a:t>
            </a:r>
            <a:r>
              <a:rPr lang="en-US" sz="2400" b="0" u="none" strike="noStrike" dirty="0">
                <a:solidFill>
                  <a:srgbClr val="000000"/>
                </a:solidFill>
                <a:effectLst/>
                <a:uFillTx/>
                <a:latin typeface="Arial"/>
              </a:rPr>
              <a:t>, such as determining in every case whether a program will eventually stop.</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Another major issue is </a:t>
            </a:r>
            <a:r>
              <a:rPr lang="en-US" sz="2400" b="1" u="none" strike="noStrike" dirty="0">
                <a:solidFill>
                  <a:srgbClr val="000000"/>
                </a:solidFill>
                <a:effectLst/>
                <a:uFillTx/>
                <a:latin typeface="Arial"/>
              </a:rPr>
              <a:t>tractability</a:t>
            </a:r>
            <a:r>
              <a:rPr lang="en-US" sz="2400" b="0" u="none" strike="noStrike" dirty="0">
                <a:solidFill>
                  <a:srgbClr val="000000"/>
                </a:solidFill>
                <a:effectLst/>
                <a:uFillTx/>
                <a:latin typeface="Arial"/>
              </a:rPr>
              <a:t>. A problem may be computable in theory but still require too much time to solve in practice. This is why AI distinguishes between polynomial-time problems and problems that grow exponentially. NP-completeness helps identify classes of problems that are likely to be computationally difficult.</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On the</a:t>
            </a:r>
            <a:r>
              <a:rPr lang="en-US" sz="2400" b="1" u="none" strike="noStrike" dirty="0">
                <a:solidFill>
                  <a:srgbClr val="000000"/>
                </a:solidFill>
                <a:effectLst/>
                <a:uFillTx/>
                <a:latin typeface="Arial"/>
              </a:rPr>
              <a:t> probability and statistics</a:t>
            </a:r>
            <a:r>
              <a:rPr lang="en-US" sz="2400" b="0" u="none" strike="noStrike" dirty="0">
                <a:solidFill>
                  <a:srgbClr val="000000"/>
                </a:solidFill>
                <a:effectLst/>
                <a:uFillTx/>
                <a:latin typeface="Arial"/>
              </a:rPr>
              <a:t> side, Cardano introduced early ideas of probability, and Bayes provided a way to update beliefs when new evidence becomes available. Laplace and Bernoulli helped build the statistical foundations, while Fisher connected probability, experimental design, and data analysis.</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The key idea is that probability extends logic to situations where information is incomplete or uncertain. Logic tells us what follows when facts are known with certainty; probability helps us make decisions when the evidence is uncertain.</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When probability is combined with large amounts of data, it supports modern machine learning and models such as Bayesian networks. These tools allow AI systems to update beliefs, recognize patterns, and make better predictions.</a:t>
            </a:r>
          </a:p>
          <a:p>
            <a:pPr indent="0" algn="l">
              <a:lnSpc>
                <a:spcPct val="100000"/>
              </a:lnSpc>
              <a:spcBef>
                <a:spcPts val="1191"/>
              </a:spcBef>
              <a:spcAft>
                <a:spcPts val="992"/>
              </a:spcAft>
              <a:buNone/>
              <a:tabLst>
                <a:tab pos="0" algn="l"/>
              </a:tabLst>
            </a:pPr>
            <a:endParaRPr lang="en-US" sz="2400" b="0" u="none" strike="noStrike" dirty="0">
              <a:solidFill>
                <a:srgbClr val="000000"/>
              </a:solidFill>
              <a:effectLst/>
              <a:uFillTx/>
              <a:latin typeface="Arial"/>
            </a:endParaRPr>
          </a:p>
        </p:txBody>
      </p:sp>
      <p:sp>
        <p:nvSpPr>
          <p:cNvPr id="287" name="PlaceHolder 3"/>
          <p:cNvSpPr>
            <a:spLocks noGrp="1"/>
          </p:cNvSpPr>
          <p:nvPr>
            <p:ph type="sldNum" idx="13"/>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ADFF915-CEC1-41A4-B21B-3A2634DB9D2B}"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PlaceHolder 1"/>
          <p:cNvSpPr>
            <a:spLocks noGrp="1" noRot="1" noChangeAspect="1"/>
          </p:cNvSpPr>
          <p:nvPr>
            <p:ph type="sldImg"/>
          </p:nvPr>
        </p:nvSpPr>
        <p:spPr>
          <a:xfrm>
            <a:off x="0" y="962640"/>
            <a:ext cx="5143320" cy="2892960"/>
          </a:xfrm>
          <a:prstGeom prst="rect">
            <a:avLst/>
          </a:prstGeom>
          <a:ln w="0">
            <a:noFill/>
          </a:ln>
        </p:spPr>
      </p:sp>
      <p:sp>
        <p:nvSpPr>
          <p:cNvPr id="289"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spcBef>
                <a:spcPts val="1191"/>
              </a:spcBef>
              <a:spcAft>
                <a:spcPts val="992"/>
              </a:spcAft>
              <a:buNone/>
            </a:pPr>
            <a:r>
              <a:rPr lang="en-US" sz="1000" b="0" u="none" strike="noStrike">
                <a:solidFill>
                  <a:srgbClr val="000000"/>
                </a:solidFill>
                <a:effectLst/>
                <a:uFillTx/>
                <a:latin typeface="Arial"/>
              </a:rPr>
              <a:t>Control theory asks</a:t>
            </a:r>
            <a:r>
              <a:rPr lang="en-US" sz="1000" b="0" u="none" strike="noStrike">
                <a:solidFill>
                  <a:srgbClr val="00A933"/>
                </a:solidFill>
                <a:effectLst/>
                <a:uFillTx/>
                <a:latin typeface="Arial"/>
              </a:rPr>
              <a:t> how a machine can operate under its own control by using feedback from the environment?</a:t>
            </a:r>
            <a:endParaRPr lang="en-US" sz="1000" b="0" u="none" strike="noStrike">
              <a:solidFill>
                <a:srgbClr val="000000"/>
              </a:solidFill>
              <a:effectLst/>
              <a:uFillTx/>
              <a:latin typeface="Arial"/>
            </a:endParaRPr>
          </a:p>
          <a:p>
            <a:pPr indent="0" algn="l">
              <a:spcBef>
                <a:spcPts val="1191"/>
              </a:spcBef>
              <a:spcAft>
                <a:spcPts val="992"/>
              </a:spcAft>
              <a:buNone/>
            </a:pPr>
            <a:r>
              <a:rPr lang="en-US" sz="1000" b="0" u="none" strike="noStrike">
                <a:solidFill>
                  <a:srgbClr val="000000"/>
                </a:solidFill>
                <a:effectLst/>
                <a:uFillTx/>
                <a:latin typeface="Arial"/>
              </a:rPr>
              <a:t>A feedback system compares its current state with a desired goal state. If there is a difference, or error, the system changes its behavior to reduce that difference.</a:t>
            </a:r>
          </a:p>
          <a:p>
            <a:pPr indent="0" algn="l">
              <a:spcBef>
                <a:spcPts val="1191"/>
              </a:spcBef>
              <a:spcAft>
                <a:spcPts val="992"/>
              </a:spcAft>
              <a:buNone/>
            </a:pPr>
            <a:r>
              <a:rPr lang="en-US" sz="1000" b="0" u="none" strike="noStrike">
                <a:solidFill>
                  <a:srgbClr val="000000"/>
                </a:solidFill>
                <a:effectLst/>
                <a:uFillTx/>
                <a:latin typeface="Arial"/>
              </a:rPr>
              <a:t>Simple examples include a thermostat maintaining a target temperature or a governor regulating the speed of a steam engine. These systems do not merely follow a fixed sequence; they respond to changes in their environment.</a:t>
            </a:r>
          </a:p>
          <a:p>
            <a:pPr indent="0" algn="l">
              <a:spcBef>
                <a:spcPts val="1191"/>
              </a:spcBef>
              <a:spcAft>
                <a:spcPts val="992"/>
              </a:spcAft>
              <a:buNone/>
            </a:pPr>
            <a:r>
              <a:rPr lang="en-US" sz="1000" b="1" u="none" strike="noStrike">
                <a:solidFill>
                  <a:srgbClr val="000000"/>
                </a:solidFill>
                <a:effectLst/>
                <a:uFillTx/>
                <a:latin typeface="Arial"/>
              </a:rPr>
              <a:t>Norbert Wiener</a:t>
            </a:r>
            <a:r>
              <a:rPr lang="en-US" sz="1000" b="0" u="none" strike="noStrike">
                <a:solidFill>
                  <a:srgbClr val="000000"/>
                </a:solidFill>
                <a:effectLst/>
                <a:uFillTx/>
                <a:latin typeface="Arial"/>
              </a:rPr>
              <a:t> helped develop the field of cybernetics, which studied control and communication in both animals and machines. Wiener and other researchers viewed purposeful behavior as the result of a regulatory mechanism that continually attempts to reduce error.</a:t>
            </a:r>
          </a:p>
          <a:p>
            <a:pPr indent="0" algn="l">
              <a:spcBef>
                <a:spcPts val="1191"/>
              </a:spcBef>
              <a:spcAft>
                <a:spcPts val="992"/>
              </a:spcAft>
              <a:buNone/>
            </a:pPr>
            <a:r>
              <a:rPr lang="en-US" sz="1000" b="0" u="none" strike="noStrike">
                <a:solidFill>
                  <a:srgbClr val="000000"/>
                </a:solidFill>
                <a:effectLst/>
                <a:uFillTx/>
                <a:latin typeface="Arial"/>
              </a:rPr>
              <a:t>This idea connects closely to the rational-agent approach. Both focus on selecting actions that move the system toward a desired outcome.</a:t>
            </a:r>
          </a:p>
          <a:p>
            <a:pPr indent="0" algn="l">
              <a:spcBef>
                <a:spcPts val="1191"/>
              </a:spcBef>
              <a:spcAft>
                <a:spcPts val="992"/>
              </a:spcAft>
              <a:buNone/>
            </a:pPr>
            <a:r>
              <a:rPr lang="en-US" sz="1000" b="0" u="none" strike="noStrike">
                <a:solidFill>
                  <a:srgbClr val="000000"/>
                </a:solidFill>
                <a:effectLst/>
                <a:uFillTx/>
                <a:latin typeface="Arial"/>
              </a:rPr>
              <a:t>Modern control theory often aims to optimize behavior over time by minimizing a cost function. This resembles the standard model of AI, where an agent chooses actions that best achieve its objective.</a:t>
            </a:r>
          </a:p>
          <a:p>
            <a:pPr indent="0" algn="l">
              <a:spcBef>
                <a:spcPts val="1191"/>
              </a:spcBef>
              <a:spcAft>
                <a:spcPts val="992"/>
              </a:spcAft>
              <a:buNone/>
            </a:pPr>
            <a:r>
              <a:rPr lang="en-US" sz="1000" b="0" u="none" strike="noStrike">
                <a:solidFill>
                  <a:srgbClr val="000000"/>
                </a:solidFill>
                <a:effectLst/>
                <a:uFillTx/>
                <a:latin typeface="Arial"/>
              </a:rPr>
              <a:t>The chapter also explains an important historical difference. Traditional control theory focused mainly on systems described by continuous variables and mathematical equations. AI expanded the problem space to include language, vision, logical reasoning, and symbolic planning.</a:t>
            </a:r>
          </a:p>
          <a:p>
            <a:pPr indent="0" algn="l">
              <a:spcBef>
                <a:spcPts val="1191"/>
              </a:spcBef>
              <a:spcAft>
                <a:spcPts val="992"/>
              </a:spcAft>
              <a:buNone/>
            </a:pPr>
            <a:r>
              <a:rPr lang="en-US" sz="1000" b="0" u="none" strike="noStrike">
                <a:solidFill>
                  <a:srgbClr val="000000"/>
                </a:solidFill>
                <a:effectLst/>
                <a:uFillTx/>
                <a:latin typeface="Arial"/>
              </a:rPr>
              <a:t>This material comes from Section 1.2.7 — “Control Theory and Cybernetics.” </a:t>
            </a:r>
          </a:p>
          <a:p>
            <a:pPr indent="0" algn="l">
              <a:spcBef>
                <a:spcPts val="1191"/>
              </a:spcBef>
              <a:spcAft>
                <a:spcPts val="992"/>
              </a:spcAft>
              <a:buNone/>
            </a:pPr>
            <a:endParaRPr lang="en-US" sz="1000" b="0" u="none" strike="noStrike">
              <a:solidFill>
                <a:srgbClr val="000000"/>
              </a:solidFill>
              <a:effectLst/>
              <a:uFillTx/>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noRot="1" noChangeAspect="1"/>
          </p:cNvSpPr>
          <p:nvPr>
            <p:ph type="sldImg"/>
          </p:nvPr>
        </p:nvSpPr>
        <p:spPr>
          <a:xfrm>
            <a:off x="687388" y="1143000"/>
            <a:ext cx="5480050" cy="3082925"/>
          </a:xfrm>
          <a:prstGeom prst="rect">
            <a:avLst/>
          </a:prstGeom>
          <a:ln w="0">
            <a:noFill/>
          </a:ln>
        </p:spPr>
      </p:sp>
      <p:sp>
        <p:nvSpPr>
          <p:cNvPr id="291"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2800" b="0" u="none" strike="noStrike" dirty="0">
                <a:solidFill>
                  <a:srgbClr val="000000"/>
                </a:solidFill>
                <a:effectLst/>
                <a:uFillTx/>
                <a:latin typeface="Arial"/>
              </a:rPr>
              <a:t>The </a:t>
            </a:r>
            <a:r>
              <a:rPr lang="en-US" sz="2800" b="1" u="none" strike="noStrike" dirty="0">
                <a:solidFill>
                  <a:srgbClr val="000000"/>
                </a:solidFill>
                <a:effectLst/>
                <a:uFillTx/>
                <a:latin typeface="Arial"/>
              </a:rPr>
              <a:t>history of AI</a:t>
            </a:r>
            <a:r>
              <a:rPr lang="en-US" sz="2800" b="0" u="none" strike="noStrike" dirty="0">
                <a:solidFill>
                  <a:srgbClr val="000000"/>
                </a:solidFill>
                <a:effectLst/>
                <a:uFillTx/>
                <a:latin typeface="Arial"/>
              </a:rPr>
              <a:t> has developed through repeated cycles of </a:t>
            </a:r>
            <a:r>
              <a:rPr lang="en-US" sz="2800" b="1" u="none" strike="noStrike" dirty="0">
                <a:solidFill>
                  <a:srgbClr val="000000"/>
                </a:solidFill>
                <a:effectLst/>
                <a:uFillTx/>
                <a:latin typeface="Arial"/>
              </a:rPr>
              <a:t>optimism, technical progress, disappointment, and renewed approaches.</a:t>
            </a:r>
            <a:endParaRPr lang="en-US" sz="2800" b="0" u="none" strike="noStrike" dirty="0">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dirty="0">
                <a:solidFill>
                  <a:srgbClr val="000000"/>
                </a:solidFill>
                <a:effectLst/>
                <a:uFillTx/>
                <a:latin typeface="Arial"/>
              </a:rPr>
              <a:t>The first era began in the </a:t>
            </a:r>
            <a:r>
              <a:rPr lang="en-US" sz="2800" b="1" u="none" strike="noStrike" dirty="0">
                <a:solidFill>
                  <a:srgbClr val="000000"/>
                </a:solidFill>
                <a:effectLst/>
                <a:uFillTx/>
                <a:latin typeface="Arial"/>
              </a:rPr>
              <a:t>1940s and 1950s. McCulloch and Pitts</a:t>
            </a:r>
            <a:r>
              <a:rPr lang="en-US" sz="2800" b="0" u="none" strike="noStrike" dirty="0">
                <a:solidFill>
                  <a:srgbClr val="000000"/>
                </a:solidFill>
                <a:effectLst/>
                <a:uFillTx/>
                <a:latin typeface="Arial"/>
              </a:rPr>
              <a:t> proposed an artificial neuron model, and the </a:t>
            </a:r>
            <a:r>
              <a:rPr lang="en-US" sz="2800" b="1" u="none" strike="noStrike" dirty="0">
                <a:solidFill>
                  <a:srgbClr val="000000"/>
                </a:solidFill>
                <a:effectLst/>
                <a:uFillTx/>
                <a:latin typeface="Arial"/>
              </a:rPr>
              <a:t>1956 Dartmouth workshop</a:t>
            </a:r>
            <a:r>
              <a:rPr lang="en-US" sz="2800" b="0" u="none" strike="noStrike" dirty="0">
                <a:solidFill>
                  <a:srgbClr val="000000"/>
                </a:solidFill>
                <a:effectLst/>
                <a:uFillTx/>
                <a:latin typeface="Arial"/>
              </a:rPr>
              <a:t> helped establish artificial intelligence as a formal field of study.</a:t>
            </a:r>
          </a:p>
          <a:p>
            <a:pPr indent="0" algn="l">
              <a:lnSpc>
                <a:spcPct val="100000"/>
              </a:lnSpc>
              <a:spcBef>
                <a:spcPts val="1191"/>
              </a:spcBef>
              <a:spcAft>
                <a:spcPts val="992"/>
              </a:spcAft>
              <a:buNone/>
              <a:tabLst>
                <a:tab pos="0" algn="l"/>
              </a:tabLst>
            </a:pPr>
            <a:r>
              <a:rPr lang="en-US" sz="2800" b="0" u="none" strike="noStrike" dirty="0">
                <a:solidFill>
                  <a:srgbClr val="000000"/>
                </a:solidFill>
                <a:effectLst/>
                <a:uFillTx/>
                <a:latin typeface="Arial"/>
              </a:rPr>
              <a:t>During the</a:t>
            </a:r>
            <a:r>
              <a:rPr lang="en-US" sz="2800" b="1" u="none" strike="noStrike" dirty="0">
                <a:solidFill>
                  <a:srgbClr val="000000"/>
                </a:solidFill>
                <a:effectLst/>
                <a:uFillTx/>
                <a:latin typeface="Arial"/>
              </a:rPr>
              <a:t> early enthusiasm period</a:t>
            </a:r>
            <a:r>
              <a:rPr lang="en-US" sz="2800" b="0" u="none" strike="noStrike" dirty="0">
                <a:solidFill>
                  <a:srgbClr val="000000"/>
                </a:solidFill>
                <a:effectLst/>
                <a:uFillTx/>
                <a:latin typeface="Arial"/>
              </a:rPr>
              <a:t>, researchers produced systems such as the</a:t>
            </a:r>
            <a:r>
              <a:rPr lang="en-US" sz="2800" b="1" u="none" strike="noStrike" dirty="0">
                <a:solidFill>
                  <a:srgbClr val="000000"/>
                </a:solidFill>
                <a:effectLst/>
                <a:uFillTx/>
                <a:latin typeface="Arial"/>
              </a:rPr>
              <a:t> General Problem Solver, Lisp</a:t>
            </a:r>
            <a:r>
              <a:rPr lang="en-US" sz="2800" b="0" u="none" strike="noStrike" dirty="0">
                <a:solidFill>
                  <a:srgbClr val="000000"/>
                </a:solidFill>
                <a:effectLst/>
                <a:uFillTx/>
                <a:latin typeface="Arial"/>
              </a:rPr>
              <a:t>, and programs built within simplified </a:t>
            </a:r>
            <a:r>
              <a:rPr lang="en-US" sz="2800" b="1" u="none" strike="noStrike" dirty="0">
                <a:solidFill>
                  <a:srgbClr val="000000"/>
                </a:solidFill>
                <a:effectLst/>
                <a:uFillTx/>
                <a:latin typeface="Arial"/>
              </a:rPr>
              <a:t>microworlds</a:t>
            </a:r>
            <a:r>
              <a:rPr lang="en-US" sz="2800" b="0" u="none" strike="noStrike" dirty="0">
                <a:solidFill>
                  <a:srgbClr val="000000"/>
                </a:solidFill>
                <a:effectLst/>
                <a:uFillTx/>
                <a:latin typeface="Arial"/>
              </a:rPr>
              <a:t>. These successes created confidence that human-level intelligence might be achieved quickly.</a:t>
            </a:r>
          </a:p>
          <a:p>
            <a:pPr indent="0" algn="l">
              <a:lnSpc>
                <a:spcPct val="100000"/>
              </a:lnSpc>
              <a:spcBef>
                <a:spcPts val="1191"/>
              </a:spcBef>
              <a:spcAft>
                <a:spcPts val="992"/>
              </a:spcAft>
              <a:buNone/>
              <a:tabLst>
                <a:tab pos="0" algn="l"/>
              </a:tabLst>
            </a:pPr>
            <a:r>
              <a:rPr lang="en-US" sz="2800" b="0" u="none" strike="noStrike" dirty="0">
                <a:solidFill>
                  <a:srgbClr val="000000"/>
                </a:solidFill>
                <a:effectLst/>
                <a:uFillTx/>
                <a:latin typeface="Arial"/>
              </a:rPr>
              <a:t>That optimism declined during the</a:t>
            </a:r>
            <a:r>
              <a:rPr lang="en-US" sz="2800" b="1" u="none" strike="noStrike" dirty="0">
                <a:solidFill>
                  <a:srgbClr val="000000"/>
                </a:solidFill>
                <a:effectLst/>
                <a:uFillTx/>
                <a:latin typeface="Arial"/>
              </a:rPr>
              <a:t> first AI winter</a:t>
            </a:r>
            <a:r>
              <a:rPr lang="en-US" sz="2800" b="0" u="none" strike="noStrike" dirty="0">
                <a:solidFill>
                  <a:srgbClr val="000000"/>
                </a:solidFill>
                <a:effectLst/>
                <a:uFillTx/>
                <a:latin typeface="Arial"/>
              </a:rPr>
              <a:t>. Early systems performed well on small demonstrations but failed when problems became larger and more complex. Researchers underestimated </a:t>
            </a:r>
            <a:r>
              <a:rPr lang="en-US" sz="2800" b="1" u="none" strike="noStrike" dirty="0">
                <a:solidFill>
                  <a:srgbClr val="000000"/>
                </a:solidFill>
                <a:effectLst/>
                <a:uFillTx/>
                <a:latin typeface="Arial"/>
              </a:rPr>
              <a:t>computational intractability</a:t>
            </a:r>
            <a:r>
              <a:rPr lang="en-US" sz="2800" b="0" u="none" strike="noStrike" dirty="0">
                <a:solidFill>
                  <a:srgbClr val="000000"/>
                </a:solidFill>
                <a:effectLst/>
                <a:uFillTx/>
                <a:latin typeface="Arial"/>
              </a:rPr>
              <a:t> and the </a:t>
            </a:r>
            <a:r>
              <a:rPr lang="en-US" sz="2800" b="1" u="none" strike="noStrike" dirty="0">
                <a:solidFill>
                  <a:srgbClr val="000000"/>
                </a:solidFill>
                <a:effectLst/>
                <a:uFillTx/>
                <a:latin typeface="Arial"/>
              </a:rPr>
              <a:t>combinatorial explosion</a:t>
            </a:r>
            <a:r>
              <a:rPr lang="en-US" sz="2800" b="0" u="none" strike="noStrike" dirty="0">
                <a:solidFill>
                  <a:srgbClr val="000000"/>
                </a:solidFill>
                <a:effectLst/>
                <a:uFillTx/>
                <a:latin typeface="Arial"/>
              </a:rPr>
              <a:t>. The </a:t>
            </a:r>
            <a:r>
              <a:rPr lang="en-US" sz="2800" b="1" u="none" strike="noStrike" dirty="0">
                <a:solidFill>
                  <a:srgbClr val="000000"/>
                </a:solidFill>
                <a:effectLst/>
                <a:uFillTx/>
                <a:latin typeface="Arial"/>
              </a:rPr>
              <a:t>Lighthill report</a:t>
            </a:r>
            <a:r>
              <a:rPr lang="en-US" sz="2800" b="0" u="none" strike="noStrike" dirty="0">
                <a:solidFill>
                  <a:srgbClr val="000000"/>
                </a:solidFill>
                <a:effectLst/>
                <a:uFillTx/>
                <a:latin typeface="Arial"/>
              </a:rPr>
              <a:t> also contributed to reduced AI funding in Britain.</a:t>
            </a:r>
          </a:p>
          <a:p>
            <a:pPr indent="0" algn="l">
              <a:lnSpc>
                <a:spcPct val="100000"/>
              </a:lnSpc>
              <a:spcBef>
                <a:spcPts val="1191"/>
              </a:spcBef>
              <a:spcAft>
                <a:spcPts val="992"/>
              </a:spcAft>
              <a:buNone/>
              <a:tabLst>
                <a:tab pos="0" algn="l"/>
              </a:tabLst>
            </a:pPr>
            <a:r>
              <a:rPr lang="en-US" sz="2800" b="1" u="none" strike="noStrike" dirty="0">
                <a:solidFill>
                  <a:srgbClr val="000000"/>
                </a:solidFill>
                <a:effectLst/>
                <a:uFillTx/>
                <a:latin typeface="Arial"/>
              </a:rPr>
              <a:t>Expert systems</a:t>
            </a:r>
            <a:r>
              <a:rPr lang="en-US" sz="2800" b="0" u="none" strike="noStrike" dirty="0">
                <a:solidFill>
                  <a:srgbClr val="000000"/>
                </a:solidFill>
                <a:effectLst/>
                <a:uFillTx/>
                <a:latin typeface="Arial"/>
              </a:rPr>
              <a:t> then became a major focus. Programs such as </a:t>
            </a:r>
            <a:r>
              <a:rPr lang="en-US" sz="2800" b="1" u="none" strike="noStrike" dirty="0">
                <a:solidFill>
                  <a:srgbClr val="000000"/>
                </a:solidFill>
                <a:effectLst/>
                <a:uFillTx/>
                <a:latin typeface="Arial"/>
              </a:rPr>
              <a:t>DENDRAL</a:t>
            </a:r>
            <a:r>
              <a:rPr lang="en-US" sz="2800" b="0" u="none" strike="noStrike" dirty="0">
                <a:solidFill>
                  <a:srgbClr val="000000"/>
                </a:solidFill>
                <a:effectLst/>
                <a:uFillTx/>
                <a:latin typeface="Arial"/>
              </a:rPr>
              <a:t> and </a:t>
            </a:r>
            <a:r>
              <a:rPr lang="en-US" sz="2800" b="1" u="none" strike="noStrike" dirty="0">
                <a:solidFill>
                  <a:srgbClr val="000000"/>
                </a:solidFill>
                <a:effectLst/>
                <a:uFillTx/>
                <a:latin typeface="Arial"/>
              </a:rPr>
              <a:t>MYCIN</a:t>
            </a:r>
            <a:r>
              <a:rPr lang="en-US" sz="2800" b="0" u="none" strike="noStrike" dirty="0">
                <a:solidFill>
                  <a:srgbClr val="000000"/>
                </a:solidFill>
                <a:effectLst/>
                <a:uFillTx/>
                <a:latin typeface="Arial"/>
              </a:rPr>
              <a:t> used large collections of specialized rules to solve problems in narrow domains. These systems demonstrated commercial value, but they were difficult to maintain, could not easily learn, and often handled uncertainty poorly.</a:t>
            </a:r>
          </a:p>
          <a:p>
            <a:pPr indent="0" algn="l">
              <a:lnSpc>
                <a:spcPct val="100000"/>
              </a:lnSpc>
              <a:spcBef>
                <a:spcPts val="1191"/>
              </a:spcBef>
              <a:spcAft>
                <a:spcPts val="992"/>
              </a:spcAft>
              <a:buNone/>
              <a:tabLst>
                <a:tab pos="0" algn="l"/>
              </a:tabLst>
            </a:pPr>
            <a:r>
              <a:rPr lang="en-US" sz="2800" b="1" u="none" strike="noStrike" dirty="0">
                <a:solidFill>
                  <a:srgbClr val="000000"/>
                </a:solidFill>
                <a:effectLst/>
                <a:uFillTx/>
                <a:latin typeface="Arial"/>
              </a:rPr>
              <a:t>Neural networks</a:t>
            </a:r>
            <a:r>
              <a:rPr lang="en-US" sz="2800" b="0" u="none" strike="noStrike" dirty="0">
                <a:solidFill>
                  <a:srgbClr val="000000"/>
                </a:solidFill>
                <a:effectLst/>
                <a:uFillTx/>
                <a:latin typeface="Arial"/>
              </a:rPr>
              <a:t> returned in the mid-1980s with the renewed use of </a:t>
            </a:r>
            <a:r>
              <a:rPr lang="en-US" sz="2800" b="1" u="none" strike="noStrike" dirty="0">
                <a:solidFill>
                  <a:srgbClr val="000000"/>
                </a:solidFill>
                <a:effectLst/>
                <a:uFillTx/>
                <a:latin typeface="Arial"/>
              </a:rPr>
              <a:t>backpropagation</a:t>
            </a:r>
            <a:r>
              <a:rPr lang="en-US" sz="2800" b="0" u="none" strike="noStrike" dirty="0">
                <a:solidFill>
                  <a:srgbClr val="000000"/>
                </a:solidFill>
                <a:effectLst/>
                <a:uFillTx/>
                <a:latin typeface="Arial"/>
              </a:rPr>
              <a:t>. These connectionist systems learned distributed representations from examples and challenged the earlier emphasis on purely symbolic reasoning.</a:t>
            </a:r>
          </a:p>
          <a:p>
            <a:pPr indent="0" algn="l">
              <a:lnSpc>
                <a:spcPct val="100000"/>
              </a:lnSpc>
              <a:spcBef>
                <a:spcPts val="1191"/>
              </a:spcBef>
              <a:spcAft>
                <a:spcPts val="992"/>
              </a:spcAft>
              <a:buNone/>
              <a:tabLst>
                <a:tab pos="0" algn="l"/>
              </a:tabLst>
            </a:pPr>
            <a:r>
              <a:rPr lang="en-US" sz="2800" b="0" u="none" strike="noStrike" dirty="0">
                <a:solidFill>
                  <a:srgbClr val="000000"/>
                </a:solidFill>
                <a:effectLst/>
                <a:uFillTx/>
                <a:latin typeface="Arial"/>
              </a:rPr>
              <a:t>Beginning in the late 1980s, AI increasingly adopted</a:t>
            </a:r>
            <a:r>
              <a:rPr lang="en-US" sz="2800" b="1" u="none" strike="noStrike" dirty="0">
                <a:solidFill>
                  <a:srgbClr val="000000"/>
                </a:solidFill>
                <a:effectLst/>
                <a:uFillTx/>
                <a:latin typeface="Arial"/>
              </a:rPr>
              <a:t> probability, statistics, and machine learning. Bayesian </a:t>
            </a:r>
            <a:r>
              <a:rPr lang="en-US" sz="2800" b="1" u="none" strike="noStrike" dirty="0">
                <a:solidFill>
                  <a:srgbClr val="000000"/>
                </a:solidFill>
                <a:effectLst/>
                <a:highlight>
                  <a:srgbClr val="81D41A"/>
                </a:highlight>
                <a:uFillTx/>
                <a:latin typeface="Arial"/>
              </a:rPr>
              <a:t>(BAY-zee-</a:t>
            </a:r>
            <a:r>
              <a:rPr lang="en-US" sz="2800" b="1" u="none" strike="noStrike" dirty="0" err="1">
                <a:solidFill>
                  <a:srgbClr val="000000"/>
                </a:solidFill>
                <a:effectLst/>
                <a:highlight>
                  <a:srgbClr val="81D41A"/>
                </a:highlight>
                <a:uFillTx/>
                <a:latin typeface="Arial"/>
              </a:rPr>
              <a:t>uhn</a:t>
            </a:r>
            <a:r>
              <a:rPr lang="en-US" sz="2800" b="1" u="none" strike="noStrike" dirty="0">
                <a:solidFill>
                  <a:srgbClr val="000000"/>
                </a:solidFill>
                <a:effectLst/>
                <a:highlight>
                  <a:srgbClr val="81D41A"/>
                </a:highlight>
                <a:uFillTx/>
                <a:latin typeface="Arial"/>
              </a:rPr>
              <a:t>)</a:t>
            </a:r>
            <a:r>
              <a:rPr lang="en-US" sz="2800" b="1" u="none" strike="noStrike" dirty="0">
                <a:solidFill>
                  <a:srgbClr val="000000"/>
                </a:solidFill>
                <a:effectLst/>
                <a:uFillTx/>
                <a:latin typeface="Arial"/>
              </a:rPr>
              <a:t> networks</a:t>
            </a:r>
            <a:r>
              <a:rPr lang="en-US" sz="2800" b="0" u="none" strike="noStrike" dirty="0">
                <a:solidFill>
                  <a:srgbClr val="000000"/>
                </a:solidFill>
                <a:effectLst/>
                <a:uFillTx/>
                <a:latin typeface="Arial"/>
              </a:rPr>
              <a:t> provided a formal method for reasoning under uncertainty, while Markov decision processes and reinforcement learning supported sequential decision-making.</a:t>
            </a:r>
          </a:p>
          <a:p>
            <a:pPr indent="0" algn="l">
              <a:lnSpc>
                <a:spcPct val="100000"/>
              </a:lnSpc>
              <a:spcBef>
                <a:spcPts val="1191"/>
              </a:spcBef>
              <a:spcAft>
                <a:spcPts val="992"/>
              </a:spcAft>
              <a:buNone/>
              <a:tabLst>
                <a:tab pos="0" algn="l"/>
              </a:tabLst>
            </a:pPr>
            <a:r>
              <a:rPr lang="en-US" sz="2800" b="0" u="none" strike="noStrike" dirty="0">
                <a:solidFill>
                  <a:srgbClr val="000000"/>
                </a:solidFill>
                <a:effectLst/>
                <a:uFillTx/>
                <a:latin typeface="Arial"/>
              </a:rPr>
              <a:t>The latest major era is deep learning. Large datasets, specialized hardware, and multilayer neural networks produced major advances in image recognition, speech, language, and game playing. ImageNet and AlphaGo became important examples of this progress.</a:t>
            </a:r>
          </a:p>
          <a:p>
            <a:pPr indent="0" algn="l">
              <a:lnSpc>
                <a:spcPct val="100000"/>
              </a:lnSpc>
              <a:spcBef>
                <a:spcPts val="1191"/>
              </a:spcBef>
              <a:spcAft>
                <a:spcPts val="992"/>
              </a:spcAft>
              <a:buNone/>
              <a:tabLst>
                <a:tab pos="0" algn="l"/>
              </a:tabLst>
            </a:pPr>
            <a:r>
              <a:rPr lang="en-US" sz="2800" b="0" u="none" strike="noStrike" dirty="0">
                <a:solidFill>
                  <a:srgbClr val="000000"/>
                </a:solidFill>
                <a:effectLst/>
                <a:uFillTx/>
                <a:latin typeface="Arial"/>
              </a:rPr>
              <a:t>The</a:t>
            </a:r>
            <a:r>
              <a:rPr lang="en-US" sz="2800" b="1" u="none" strike="noStrike" dirty="0">
                <a:solidFill>
                  <a:srgbClr val="000000"/>
                </a:solidFill>
                <a:effectLst/>
                <a:uFillTx/>
                <a:latin typeface="Arial"/>
              </a:rPr>
              <a:t> Turing Award recipients</a:t>
            </a:r>
            <a:r>
              <a:rPr lang="en-US" sz="2800" b="0" u="none" strike="noStrike" dirty="0">
                <a:solidFill>
                  <a:srgbClr val="000000"/>
                </a:solidFill>
                <a:effectLst/>
                <a:uFillTx/>
                <a:latin typeface="Arial"/>
              </a:rPr>
              <a:t> at the bottom highlight major contributions across these eras: </a:t>
            </a:r>
            <a:r>
              <a:rPr lang="en-US" sz="2800" b="1" u="none" strike="noStrike" dirty="0">
                <a:solidFill>
                  <a:srgbClr val="000000"/>
                </a:solidFill>
                <a:effectLst/>
                <a:uFillTx/>
                <a:latin typeface="Arial"/>
              </a:rPr>
              <a:t>Minsky and McCarthy</a:t>
            </a:r>
            <a:r>
              <a:rPr lang="en-US" sz="2800" b="0" u="none" strike="noStrike" dirty="0">
                <a:solidFill>
                  <a:srgbClr val="000000"/>
                </a:solidFill>
                <a:effectLst/>
                <a:uFillTx/>
                <a:latin typeface="Arial"/>
              </a:rPr>
              <a:t> for the field’s foundations,</a:t>
            </a:r>
            <a:r>
              <a:rPr lang="en-US" sz="2800" b="1" u="none" strike="noStrike" dirty="0">
                <a:solidFill>
                  <a:srgbClr val="000000"/>
                </a:solidFill>
                <a:effectLst/>
                <a:uFillTx/>
                <a:latin typeface="Arial"/>
              </a:rPr>
              <a:t> Feigenbaum and Reddy</a:t>
            </a:r>
            <a:r>
              <a:rPr lang="en-US" sz="2800" b="0" u="none" strike="noStrike" dirty="0">
                <a:solidFill>
                  <a:srgbClr val="000000"/>
                </a:solidFill>
                <a:effectLst/>
                <a:uFillTx/>
                <a:latin typeface="Arial"/>
              </a:rPr>
              <a:t> for expert systems, </a:t>
            </a:r>
            <a:r>
              <a:rPr lang="en-US" sz="2800" b="1" u="none" strike="noStrike" dirty="0">
                <a:solidFill>
                  <a:srgbClr val="000000"/>
                </a:solidFill>
                <a:effectLst/>
                <a:uFillTx/>
                <a:latin typeface="Arial"/>
              </a:rPr>
              <a:t>Judea Pearl</a:t>
            </a:r>
            <a:r>
              <a:rPr lang="en-US" sz="2800" b="0" u="none" strike="noStrike" dirty="0">
                <a:solidFill>
                  <a:srgbClr val="000000"/>
                </a:solidFill>
                <a:effectLst/>
                <a:uFillTx/>
                <a:latin typeface="Arial"/>
              </a:rPr>
              <a:t> for probabilistic reasoning, and</a:t>
            </a:r>
            <a:r>
              <a:rPr lang="en-US" sz="2800" b="1" u="none" strike="noStrike" dirty="0">
                <a:solidFill>
                  <a:srgbClr val="000000"/>
                </a:solidFill>
                <a:effectLst/>
                <a:uFillTx/>
                <a:latin typeface="Arial"/>
              </a:rPr>
              <a:t> Bengio, Hinton, and LeCun</a:t>
            </a:r>
            <a:r>
              <a:rPr lang="en-US" sz="2800" b="0" u="none" strike="noStrike" dirty="0">
                <a:solidFill>
                  <a:srgbClr val="000000"/>
                </a:solidFill>
                <a:effectLst/>
                <a:uFillTx/>
                <a:latin typeface="Arial"/>
              </a:rPr>
              <a:t> for deep learning.</a:t>
            </a:r>
          </a:p>
          <a:p>
            <a:pPr indent="0" algn="l">
              <a:lnSpc>
                <a:spcPct val="100000"/>
              </a:lnSpc>
              <a:spcBef>
                <a:spcPts val="1191"/>
              </a:spcBef>
              <a:spcAft>
                <a:spcPts val="992"/>
              </a:spcAft>
              <a:buNone/>
              <a:tabLst>
                <a:tab pos="0" algn="l"/>
              </a:tabLst>
            </a:pPr>
            <a:r>
              <a:rPr lang="en-US" sz="2800" b="0" u="none" strike="noStrike" dirty="0">
                <a:solidFill>
                  <a:srgbClr val="000000"/>
                </a:solidFill>
                <a:effectLst/>
                <a:uFillTx/>
                <a:latin typeface="Arial"/>
              </a:rPr>
              <a:t>The main takeaway is that</a:t>
            </a:r>
            <a:r>
              <a:rPr lang="en-US" sz="2800" b="1" u="none" strike="noStrike" dirty="0">
                <a:solidFill>
                  <a:srgbClr val="000000"/>
                </a:solidFill>
                <a:effectLst/>
                <a:uFillTx/>
                <a:latin typeface="Arial"/>
              </a:rPr>
              <a:t> AI progress has not followed a straight line.</a:t>
            </a:r>
            <a:r>
              <a:rPr lang="en-US" sz="2800" b="0" u="none" strike="noStrike" dirty="0">
                <a:solidFill>
                  <a:srgbClr val="000000"/>
                </a:solidFill>
                <a:effectLst/>
                <a:uFillTx/>
                <a:latin typeface="Arial"/>
              </a:rPr>
              <a:t> Each era solved some problems, exposed new limitations, and motivated the next major approach.</a:t>
            </a:r>
          </a:p>
          <a:p>
            <a:pPr indent="0" algn="l">
              <a:lnSpc>
                <a:spcPct val="100000"/>
              </a:lnSpc>
              <a:spcBef>
                <a:spcPts val="1191"/>
              </a:spcBef>
              <a:spcAft>
                <a:spcPts val="992"/>
              </a:spcAft>
              <a:buNone/>
              <a:tabLst>
                <a:tab pos="0" algn="l"/>
              </a:tabLst>
            </a:pPr>
            <a:endParaRPr lang="en-US" sz="1000" b="0" u="none" strike="noStrike" dirty="0">
              <a:solidFill>
                <a:srgbClr val="000000"/>
              </a:solidFill>
              <a:effectLst/>
              <a:uFillTx/>
              <a:latin typeface="Arial"/>
            </a:endParaRPr>
          </a:p>
        </p:txBody>
      </p:sp>
      <p:sp>
        <p:nvSpPr>
          <p:cNvPr id="292" name="PlaceHolder 3"/>
          <p:cNvSpPr>
            <a:spLocks noGrp="1"/>
          </p:cNvSpPr>
          <p:nvPr>
            <p:ph type="sldNum" idx="14"/>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A127036-D6CB-4E25-A18D-A7F298F686A2}"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noRot="1" noChangeAspect="1"/>
          </p:cNvSpPr>
          <p:nvPr>
            <p:ph type="sldImg"/>
          </p:nvPr>
        </p:nvSpPr>
        <p:spPr>
          <a:xfrm>
            <a:off x="685800" y="1143000"/>
            <a:ext cx="5482800" cy="3082680"/>
          </a:xfrm>
          <a:prstGeom prst="rect">
            <a:avLst/>
          </a:prstGeom>
          <a:ln w="0">
            <a:noFill/>
          </a:ln>
        </p:spPr>
      </p:sp>
      <p:sp>
        <p:nvSpPr>
          <p:cNvPr id="294"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2400" b="1" u="none" strike="noStrike" dirty="0">
                <a:solidFill>
                  <a:srgbClr val="000000"/>
                </a:solidFill>
                <a:effectLst/>
                <a:uFillTx/>
                <a:latin typeface="Arial"/>
              </a:rPr>
              <a:t>McCulloch and Pitts</a:t>
            </a:r>
            <a:r>
              <a:rPr lang="en-US" sz="2400" b="0" u="none" strike="noStrike" dirty="0">
                <a:solidFill>
                  <a:srgbClr val="000000"/>
                </a:solidFill>
                <a:effectLst/>
                <a:uFillTx/>
                <a:latin typeface="Arial"/>
              </a:rPr>
              <a:t> proposed an early artificial-neuron model in 1943. They showed that networks of simple neurons could represent logical operations and, in principle, compute any computable function.</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In 1950, Alan Turing published Computing Machinery and Intelligence. He introduced the Turing Test and discussed ideas that later became central to AI, including machine learning, genetic algorithms, and reinforcement learning.</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The </a:t>
            </a:r>
            <a:r>
              <a:rPr lang="en-US" sz="2400" b="1" u="none" strike="noStrike" dirty="0">
                <a:solidFill>
                  <a:srgbClr val="000000"/>
                </a:solidFill>
                <a:effectLst/>
                <a:uFillTx/>
                <a:latin typeface="Arial"/>
              </a:rPr>
              <a:t>1956 Dartmouth Workshop</a:t>
            </a:r>
            <a:r>
              <a:rPr lang="en-US" sz="2400" b="0" u="none" strike="noStrike" dirty="0">
                <a:solidFill>
                  <a:srgbClr val="000000"/>
                </a:solidFill>
                <a:effectLst/>
                <a:uFillTx/>
                <a:latin typeface="Arial"/>
              </a:rPr>
              <a:t> is commonly treated as the formal beginning of AI as a field. John McCarthy helped organize the meeting and coined the term </a:t>
            </a:r>
            <a:r>
              <a:rPr lang="en-US" sz="2400" b="1" u="none" strike="noStrike" dirty="0">
                <a:solidFill>
                  <a:srgbClr val="000000"/>
                </a:solidFill>
                <a:effectLst/>
                <a:uFillTx/>
                <a:latin typeface="Arial"/>
              </a:rPr>
              <a:t>artificial intelligence</a:t>
            </a:r>
            <a:r>
              <a:rPr lang="en-US" sz="2400" b="0" u="none" strike="noStrike" dirty="0">
                <a:solidFill>
                  <a:srgbClr val="000000"/>
                </a:solidFill>
                <a:effectLst/>
                <a:uFillTx/>
                <a:latin typeface="Arial"/>
              </a:rPr>
              <a:t>. Newell and Simon presented the Logic Theorist, an early theorem-proving program.</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The period from the 1950s through the 1960s produced several important early successes. The General Problem Solver attempted to imitate human problem-solving steps. Arthur Samuel’s checkers program learned through experience and eventually played better than its creator.</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Lisp, created by McCarthy in 1958, became the dominant AI programming language for decades.</a:t>
            </a:r>
          </a:p>
          <a:p>
            <a:pPr indent="0" algn="l">
              <a:lnSpc>
                <a:spcPct val="100000"/>
              </a:lnSpc>
              <a:spcBef>
                <a:spcPts val="1191"/>
              </a:spcBef>
              <a:spcAft>
                <a:spcPts val="992"/>
              </a:spcAft>
              <a:buNone/>
              <a:tabLst>
                <a:tab pos="0" algn="l"/>
              </a:tabLst>
            </a:pPr>
            <a:r>
              <a:rPr lang="en-US" sz="2400" b="0" u="none" strike="noStrike" dirty="0">
                <a:solidFill>
                  <a:srgbClr val="000000"/>
                </a:solidFill>
                <a:effectLst/>
                <a:uFillTx/>
                <a:latin typeface="Arial"/>
              </a:rPr>
              <a:t>Researchers also worked in simplified </a:t>
            </a:r>
            <a:r>
              <a:rPr lang="en-US" sz="2400" b="1" u="none" strike="noStrike" dirty="0">
                <a:solidFill>
                  <a:srgbClr val="000000"/>
                </a:solidFill>
                <a:effectLst/>
                <a:uFillTx/>
                <a:latin typeface="Arial"/>
              </a:rPr>
              <a:t>microworlds</a:t>
            </a:r>
            <a:r>
              <a:rPr lang="en-US" sz="2400" b="0" u="none" strike="noStrike" dirty="0">
                <a:solidFill>
                  <a:srgbClr val="000000"/>
                </a:solidFill>
                <a:effectLst/>
                <a:uFillTx/>
                <a:latin typeface="Arial"/>
              </a:rPr>
              <a:t>, such as calculus, algebra, and the blocks world. These environments made early progress possible, but their simplicity later contributed to unrealistic expectations about how easily AI would scale to real-world problems.</a:t>
            </a:r>
          </a:p>
          <a:p>
            <a:pPr indent="0" algn="l">
              <a:lnSpc>
                <a:spcPct val="100000"/>
              </a:lnSpc>
              <a:spcBef>
                <a:spcPts val="1191"/>
              </a:spcBef>
              <a:spcAft>
                <a:spcPts val="992"/>
              </a:spcAft>
              <a:buNone/>
              <a:tabLst>
                <a:tab pos="0" algn="l"/>
              </a:tabLst>
            </a:pPr>
            <a:endParaRPr lang="en-US" sz="2400" b="0" u="none" strike="noStrike" dirty="0">
              <a:solidFill>
                <a:srgbClr val="000000"/>
              </a:solidFill>
              <a:effectLst/>
              <a:uFillTx/>
              <a:latin typeface="Arial"/>
            </a:endParaRPr>
          </a:p>
        </p:txBody>
      </p:sp>
      <p:sp>
        <p:nvSpPr>
          <p:cNvPr id="295" name="PlaceHolder 3"/>
          <p:cNvSpPr>
            <a:spLocks noGrp="1"/>
          </p:cNvSpPr>
          <p:nvPr>
            <p:ph type="sldNum" idx="15"/>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78DEBA9-BB78-4BB1-A08E-3228B26F7DD7}"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PlaceHolder 1"/>
          <p:cNvSpPr>
            <a:spLocks noGrp="1" noRot="1" noChangeAspect="1"/>
          </p:cNvSpPr>
          <p:nvPr>
            <p:ph type="sldImg"/>
          </p:nvPr>
        </p:nvSpPr>
        <p:spPr>
          <a:xfrm>
            <a:off x="685800" y="1143000"/>
            <a:ext cx="5482800" cy="3082680"/>
          </a:xfrm>
          <a:prstGeom prst="rect">
            <a:avLst/>
          </a:prstGeom>
          <a:ln w="0">
            <a:noFill/>
          </a:ln>
        </p:spPr>
      </p:sp>
      <p:sp>
        <p:nvSpPr>
          <p:cNvPr id="297"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a:t>
            </a:r>
            <a:r>
              <a:rPr lang="en-US" sz="1000" b="1" u="none" strike="noStrike" dirty="0">
                <a:solidFill>
                  <a:srgbClr val="000000"/>
                </a:solidFill>
                <a:effectLst/>
                <a:uFillTx/>
                <a:latin typeface="Arial"/>
              </a:rPr>
              <a:t> first AI winter</a:t>
            </a:r>
            <a:r>
              <a:rPr lang="en-US" sz="1000" b="0" u="none" strike="noStrike" dirty="0">
                <a:solidFill>
                  <a:srgbClr val="000000"/>
                </a:solidFill>
                <a:effectLst/>
                <a:uFillTx/>
                <a:latin typeface="Arial"/>
              </a:rPr>
              <a:t> followed a period of strong optimism. Early programs performed well on small, carefully controlled problems, but their methods often failed when the number of objects, actions, or possible solutions increased.</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central issue was the</a:t>
            </a:r>
            <a:r>
              <a:rPr lang="en-US" sz="1000" b="1" u="none" strike="noStrike" dirty="0">
                <a:solidFill>
                  <a:srgbClr val="000000"/>
                </a:solidFill>
                <a:effectLst/>
                <a:uFillTx/>
                <a:latin typeface="Arial"/>
              </a:rPr>
              <a:t> combinatorial explosion.</a:t>
            </a:r>
            <a:r>
              <a:rPr lang="en-US" sz="1000" b="0" u="none" strike="noStrike" dirty="0">
                <a:solidFill>
                  <a:srgbClr val="000000"/>
                </a:solidFill>
                <a:effectLst/>
                <a:uFillTx/>
                <a:latin typeface="Arial"/>
              </a:rPr>
              <a:t> Many systems searched through possible solutions by trying different combinations of steps. This worked in small microworlds, but the number of possibilities grew too quickly for larger problems. Faster hardware alone could not solve that scaling problem.</a:t>
            </a:r>
          </a:p>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Minsky and </a:t>
            </a:r>
            <a:r>
              <a:rPr lang="en-US" sz="1000" b="1" u="none" strike="noStrike" dirty="0" err="1">
                <a:solidFill>
                  <a:srgbClr val="000000"/>
                </a:solidFill>
                <a:effectLst/>
                <a:uFillTx/>
                <a:latin typeface="Arial"/>
              </a:rPr>
              <a:t>Papert’s</a:t>
            </a:r>
            <a:r>
              <a:rPr lang="en-US" sz="1000" b="1" u="none" strike="noStrike" dirty="0">
                <a:solidFill>
                  <a:srgbClr val="000000"/>
                </a:solidFill>
                <a:effectLst/>
                <a:uFillTx/>
                <a:latin typeface="Arial"/>
              </a:rPr>
              <a:t> work on </a:t>
            </a:r>
            <a:r>
              <a:rPr lang="en-US" sz="1000" b="1" u="none" strike="noStrike" dirty="0" err="1">
                <a:solidFill>
                  <a:srgbClr val="000000"/>
                </a:solidFill>
                <a:effectLst/>
                <a:uFillTx/>
                <a:latin typeface="Arial"/>
              </a:rPr>
              <a:t>perceptrons</a:t>
            </a:r>
            <a:r>
              <a:rPr lang="en-US" sz="1000" b="0" u="none" strike="noStrike" dirty="0">
                <a:solidFill>
                  <a:srgbClr val="000000"/>
                </a:solidFill>
                <a:effectLst/>
                <a:uFillTx/>
                <a:latin typeface="Arial"/>
              </a:rPr>
              <a:t> also exposed important limitations in early neural networks. Simple </a:t>
            </a:r>
            <a:r>
              <a:rPr lang="en-US" sz="1000" b="0" u="none" strike="noStrike" dirty="0" err="1">
                <a:solidFill>
                  <a:srgbClr val="000000"/>
                </a:solidFill>
                <a:effectLst/>
                <a:uFillTx/>
                <a:latin typeface="Arial"/>
              </a:rPr>
              <a:t>perceptrons</a:t>
            </a:r>
            <a:r>
              <a:rPr lang="en-US" sz="1000" b="0" u="none" strike="noStrike" dirty="0">
                <a:solidFill>
                  <a:srgbClr val="000000"/>
                </a:solidFill>
                <a:effectLst/>
                <a:uFillTx/>
                <a:latin typeface="Arial"/>
              </a:rPr>
              <a:t> could learn only functions they were capable of representing, and some basic patterns, such as XOR, were outside that capability.</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a:t>
            </a:r>
            <a:r>
              <a:rPr lang="en-US" sz="1000" b="1" u="none" strike="noStrike" dirty="0">
                <a:solidFill>
                  <a:srgbClr val="000000"/>
                </a:solidFill>
                <a:effectLst/>
                <a:uFillTx/>
                <a:latin typeface="Arial"/>
              </a:rPr>
              <a:t> Lighthill Report</a:t>
            </a:r>
            <a:r>
              <a:rPr lang="en-US" sz="1000" b="0" u="none" strike="noStrike" dirty="0">
                <a:solidFill>
                  <a:srgbClr val="000000"/>
                </a:solidFill>
                <a:effectLst/>
                <a:uFillTx/>
                <a:latin typeface="Arial"/>
              </a:rPr>
              <a:t> criticized AI for failing to address these scaling problems. It contributed to the British government reducing support for AI research, which became part of the first AI winter.</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lesson was that general-purpose or </a:t>
            </a:r>
            <a:r>
              <a:rPr lang="en-US" sz="1000" b="1" u="none" strike="noStrike" dirty="0">
                <a:solidFill>
                  <a:srgbClr val="000000"/>
                </a:solidFill>
                <a:effectLst/>
                <a:uFillTx/>
                <a:latin typeface="Arial"/>
              </a:rPr>
              <a:t>weak methods</a:t>
            </a:r>
            <a:r>
              <a:rPr lang="en-US" sz="1000" b="0" u="none" strike="noStrike" dirty="0">
                <a:solidFill>
                  <a:srgbClr val="000000"/>
                </a:solidFill>
                <a:effectLst/>
                <a:uFillTx/>
                <a:latin typeface="Arial"/>
              </a:rPr>
              <a:t> were not enough for difficult real-world problems. Researchers began turning toward systems that used specialized knowledge from a particular field.</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This led to the rise of </a:t>
            </a:r>
            <a:r>
              <a:rPr lang="en-US" sz="1000" b="1" u="none" strike="noStrike" dirty="0">
                <a:solidFill>
                  <a:srgbClr val="000000"/>
                </a:solidFill>
                <a:effectLst/>
                <a:uFillTx/>
                <a:latin typeface="Arial"/>
              </a:rPr>
              <a:t>expert systems. DENDRAL</a:t>
            </a:r>
            <a:r>
              <a:rPr lang="en-US" sz="1000" b="0" u="none" strike="noStrike" dirty="0">
                <a:solidFill>
                  <a:srgbClr val="000000"/>
                </a:solidFill>
                <a:effectLst/>
                <a:uFillTx/>
                <a:latin typeface="Arial"/>
              </a:rPr>
              <a:t> used knowledge from analytical chemistry to infer molecular structures from mass-spectrometer data. Its strength came from specialized rules that captured how human experts recognized useful patterns.</a:t>
            </a:r>
          </a:p>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MYCIN</a:t>
            </a:r>
            <a:r>
              <a:rPr lang="en-US" sz="1000" b="0" u="none" strike="noStrike" dirty="0">
                <a:solidFill>
                  <a:srgbClr val="000000"/>
                </a:solidFill>
                <a:effectLst/>
                <a:uFillTx/>
                <a:latin typeface="Arial"/>
              </a:rPr>
              <a:t> applied the same knowledge-intensive approach to diagnosing blood infections. It used about 450 rules and performed at a level comparable to some medical experts. It also attempted to represent uncertainty through certainty factors.</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commercial success of expert systems was demonstrated by</a:t>
            </a:r>
            <a:r>
              <a:rPr lang="en-US" sz="1000" b="1" u="none" strike="noStrike" dirty="0">
                <a:solidFill>
                  <a:srgbClr val="000000"/>
                </a:solidFill>
                <a:effectLst/>
                <a:uFillTx/>
                <a:latin typeface="Arial"/>
              </a:rPr>
              <a:t> </a:t>
            </a:r>
            <a:r>
              <a:rPr lang="en-US" sz="1000" b="1" u="none" strike="noStrike" dirty="0">
                <a:solidFill>
                  <a:srgbClr val="000000"/>
                </a:solidFill>
                <a:effectLst/>
                <a:highlight>
                  <a:srgbClr val="FF0000"/>
                </a:highlight>
                <a:uFillTx/>
                <a:latin typeface="Arial"/>
              </a:rPr>
              <a:t>R1</a:t>
            </a:r>
            <a:r>
              <a:rPr lang="en-US" sz="1000" b="0" u="none" strike="noStrike" dirty="0">
                <a:solidFill>
                  <a:srgbClr val="000000"/>
                </a:solidFill>
                <a:effectLst/>
                <a:uFillTx/>
                <a:latin typeface="Arial"/>
              </a:rPr>
              <a:t>, which configured computer orders for Digital Equipment Corporation and reportedly saved the company about</a:t>
            </a:r>
            <a:r>
              <a:rPr lang="en-US" sz="1000" b="1" u="none" strike="noStrike" dirty="0">
                <a:solidFill>
                  <a:srgbClr val="000000"/>
                </a:solidFill>
                <a:effectLst/>
                <a:uFillTx/>
                <a:latin typeface="Arial"/>
              </a:rPr>
              <a:t> $40 million per year</a:t>
            </a:r>
            <a:r>
              <a:rPr lang="en-US" sz="1000" b="0" u="none" strike="noStrike" dirty="0">
                <a:solidFill>
                  <a:srgbClr val="000000"/>
                </a:solidFill>
                <a:effectLst/>
                <a:uFillTx/>
                <a:latin typeface="Arial"/>
              </a:rPr>
              <a:t> by 1986.</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expert-system industry grew rapidly, but the approach had serious weaknesses. These systems were difficult to build and maintain, their reasoning could be brittle, they handled uncertainty imperfectly, and they generally could not learn from experience.</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Those limitations contributed to another decline in confidence and investment. The main takeaway is that expert systems solved some of the problems of weak general methods, but they created a new dependency on large amounts of manually encoded domain knowledge.</a:t>
            </a:r>
          </a:p>
          <a:p>
            <a:pPr indent="0" algn="l">
              <a:lnSpc>
                <a:spcPct val="100000"/>
              </a:lnSpc>
              <a:spcBef>
                <a:spcPts val="57"/>
              </a:spcBef>
              <a:buNone/>
              <a:tabLst>
                <a:tab pos="0" algn="l"/>
              </a:tabLst>
            </a:pPr>
            <a:endParaRPr lang="en-US" sz="1000" b="0" u="none" strike="noStrike" dirty="0">
              <a:solidFill>
                <a:srgbClr val="000000"/>
              </a:solidFill>
              <a:effectLst/>
              <a:uFillTx/>
              <a:latin typeface="Arial"/>
            </a:endParaRPr>
          </a:p>
          <a:p>
            <a:pPr indent="0" algn="l">
              <a:lnSpc>
                <a:spcPct val="100000"/>
              </a:lnSpc>
              <a:spcBef>
                <a:spcPts val="57"/>
              </a:spcBef>
              <a:buNone/>
              <a:tabLst>
                <a:tab pos="0" algn="l"/>
              </a:tabLst>
            </a:pPr>
            <a:r>
              <a:rPr lang="en-US" sz="1000" b="0" u="none" strike="noStrike" dirty="0">
                <a:solidFill>
                  <a:srgbClr val="000000"/>
                </a:solidFill>
                <a:effectLst/>
                <a:highlight>
                  <a:srgbClr val="FF0000"/>
                </a:highlight>
                <a:uFillTx/>
                <a:latin typeface="Arial"/>
              </a:rPr>
              <a:t>Notes:</a:t>
            </a:r>
            <a:endParaRPr lang="en-US" sz="1000" b="0" u="none" strike="noStrike" dirty="0">
              <a:solidFill>
                <a:srgbClr val="000000"/>
              </a:solidFill>
              <a:effectLst/>
              <a:uFillTx/>
              <a:latin typeface="Arial"/>
            </a:endParaRPr>
          </a:p>
          <a:p>
            <a:pPr indent="0" algn="l">
              <a:lnSpc>
                <a:spcPct val="100000"/>
              </a:lnSpc>
              <a:spcBef>
                <a:spcPts val="57"/>
              </a:spcBef>
              <a:buNone/>
              <a:tabLst>
                <a:tab pos="0" algn="l"/>
              </a:tabLst>
            </a:pPr>
            <a:r>
              <a:rPr lang="en-US" sz="1000" b="0" u="none" strike="noStrike" dirty="0">
                <a:solidFill>
                  <a:srgbClr val="000000"/>
                </a:solidFill>
                <a:effectLst/>
                <a:uFillTx/>
                <a:latin typeface="Arial"/>
              </a:rPr>
              <a:t>R1 was one of the first successful commercial expert systems.</a:t>
            </a:r>
          </a:p>
          <a:p>
            <a:pPr indent="0" algn="l">
              <a:lnSpc>
                <a:spcPct val="100000"/>
              </a:lnSpc>
              <a:spcBef>
                <a:spcPts val="57"/>
              </a:spcBef>
              <a:buNone/>
              <a:tabLst>
                <a:tab pos="0" algn="l"/>
              </a:tabLst>
            </a:pPr>
            <a:r>
              <a:rPr lang="en-US" sz="1000" b="0" u="none" strike="noStrike" dirty="0">
                <a:solidFill>
                  <a:srgbClr val="000000"/>
                </a:solidFill>
                <a:effectLst/>
                <a:uFillTx/>
                <a:latin typeface="Arial"/>
              </a:rPr>
              <a:t>It was developed for </a:t>
            </a:r>
            <a:r>
              <a:rPr lang="en-US" sz="1000" b="1" u="none" strike="noStrike" dirty="0">
                <a:solidFill>
                  <a:srgbClr val="000000"/>
                </a:solidFill>
                <a:effectLst/>
                <a:uFillTx/>
                <a:latin typeface="Arial"/>
              </a:rPr>
              <a:t>Digital Equipment Corporation (DEC)</a:t>
            </a:r>
            <a:r>
              <a:rPr lang="en-US" sz="1000" b="0" u="none" strike="noStrike" dirty="0">
                <a:solidFill>
                  <a:srgbClr val="000000"/>
                </a:solidFill>
                <a:effectLst/>
                <a:uFillTx/>
                <a:latin typeface="Arial"/>
              </a:rPr>
              <a:t> to help configure customer orders for computer systems. Customers often needed many compatible hardware components, so R1 used expert rules to determine which parts should be included and how they should be assembled.</a:t>
            </a:r>
          </a:p>
          <a:p>
            <a:pPr indent="0" algn="l">
              <a:lnSpc>
                <a:spcPct val="100000"/>
              </a:lnSpc>
              <a:spcBef>
                <a:spcPts val="57"/>
              </a:spcBef>
              <a:buNone/>
              <a:tabLst>
                <a:tab pos="0" algn="l"/>
              </a:tabLst>
            </a:pPr>
            <a:r>
              <a:rPr lang="en-US" sz="1000" b="0" u="none" strike="noStrike" dirty="0">
                <a:solidFill>
                  <a:srgbClr val="000000"/>
                </a:solidFill>
                <a:effectLst/>
                <a:uFillTx/>
                <a:latin typeface="Arial"/>
              </a:rPr>
              <a:t>By 1986, R1 was reportedly saving DEC about $40 million per year by reducing configuration errors and speeding up the ordering process.</a:t>
            </a:r>
          </a:p>
          <a:p>
            <a:pPr indent="0" algn="l">
              <a:lnSpc>
                <a:spcPct val="100000"/>
              </a:lnSpc>
              <a:spcBef>
                <a:spcPts val="57"/>
              </a:spcBef>
              <a:buNone/>
              <a:tabLst>
                <a:tab pos="0" algn="l"/>
              </a:tabLst>
            </a:pPr>
            <a:r>
              <a:rPr lang="en-US" sz="1000" b="0" u="none" strike="noStrike" dirty="0">
                <a:solidFill>
                  <a:srgbClr val="000000"/>
                </a:solidFill>
                <a:effectLst/>
                <a:uFillTx/>
                <a:latin typeface="Arial"/>
              </a:rPr>
              <a:t>It is also known as XCON, short for “expert configurator.”</a:t>
            </a:r>
          </a:p>
          <a:p>
            <a:pPr indent="0" algn="l">
              <a:lnSpc>
                <a:spcPct val="100000"/>
              </a:lnSpc>
              <a:spcBef>
                <a:spcPts val="1191"/>
              </a:spcBef>
              <a:spcAft>
                <a:spcPts val="992"/>
              </a:spcAft>
              <a:buNone/>
              <a:tabLst>
                <a:tab pos="0" algn="l"/>
              </a:tabLst>
            </a:pPr>
            <a:endParaRPr lang="en-US" sz="1000" b="0" u="none" strike="noStrike" dirty="0">
              <a:solidFill>
                <a:srgbClr val="000000"/>
              </a:solidFill>
              <a:effectLst/>
              <a:uFillTx/>
              <a:latin typeface="Arial"/>
            </a:endParaRPr>
          </a:p>
        </p:txBody>
      </p:sp>
      <p:sp>
        <p:nvSpPr>
          <p:cNvPr id="298" name="PlaceHolder 3"/>
          <p:cNvSpPr>
            <a:spLocks noGrp="1"/>
          </p:cNvSpPr>
          <p:nvPr>
            <p:ph type="sldNum" idx="16"/>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028B994-1DD8-4338-A84F-3AC90A80DA9A}"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noRot="1" noChangeAspect="1"/>
          </p:cNvSpPr>
          <p:nvPr>
            <p:ph type="sldImg"/>
          </p:nvPr>
        </p:nvSpPr>
        <p:spPr>
          <a:xfrm>
            <a:off x="685800" y="1143000"/>
            <a:ext cx="5482800" cy="3082680"/>
          </a:xfrm>
          <a:prstGeom prst="rect">
            <a:avLst/>
          </a:prstGeom>
          <a:ln w="0">
            <a:noFill/>
          </a:ln>
        </p:spPr>
      </p:sp>
      <p:sp>
        <p:nvSpPr>
          <p:cNvPr id="300"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return of neural </a:t>
            </a:r>
            <a:r>
              <a:rPr lang="en-US" sz="1000" b="1" u="none" strike="noStrike" dirty="0">
                <a:solidFill>
                  <a:srgbClr val="000000"/>
                </a:solidFill>
                <a:effectLst/>
                <a:uFillTx/>
                <a:latin typeface="Arial"/>
              </a:rPr>
              <a:t>networks began</a:t>
            </a:r>
            <a:r>
              <a:rPr lang="en-US" sz="1000" b="0" u="none" strike="noStrike" dirty="0">
                <a:solidFill>
                  <a:srgbClr val="000000"/>
                </a:solidFill>
                <a:effectLst/>
                <a:uFillTx/>
                <a:latin typeface="Arial"/>
              </a:rPr>
              <a:t> in the mid-1980s when several research groups rediscovered and popularized </a:t>
            </a:r>
            <a:r>
              <a:rPr lang="en-US" sz="1000" b="1" u="none" strike="noStrike" dirty="0">
                <a:solidFill>
                  <a:srgbClr val="000000"/>
                </a:solidFill>
                <a:effectLst/>
                <a:uFillTx/>
                <a:latin typeface="Arial"/>
              </a:rPr>
              <a:t>backpropagation</a:t>
            </a:r>
            <a:r>
              <a:rPr lang="en-US" sz="1000" b="0" u="none" strike="noStrike" dirty="0">
                <a:solidFill>
                  <a:srgbClr val="000000"/>
                </a:solidFill>
                <a:effectLst/>
                <a:uFillTx/>
                <a:latin typeface="Arial"/>
              </a:rPr>
              <a:t>. This learning method adjusts the connections in a network by comparing its prediction with the correct answer and reducing the error.</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work collected in</a:t>
            </a:r>
            <a:r>
              <a:rPr lang="en-US" sz="1000" b="1" u="none" strike="noStrike" dirty="0">
                <a:solidFill>
                  <a:srgbClr val="000000"/>
                </a:solidFill>
                <a:effectLst/>
                <a:uFillTx/>
                <a:latin typeface="Arial"/>
              </a:rPr>
              <a:t> Parallel Distributed Processing</a:t>
            </a:r>
            <a:r>
              <a:rPr lang="en-US" sz="1000" b="0" u="none" strike="noStrike" dirty="0">
                <a:solidFill>
                  <a:srgbClr val="000000"/>
                </a:solidFill>
                <a:effectLst/>
                <a:uFillTx/>
                <a:latin typeface="Arial"/>
              </a:rPr>
              <a:t>, associated with</a:t>
            </a:r>
            <a:r>
              <a:rPr lang="en-US" sz="1000" b="1" u="none" strike="noStrike" dirty="0">
                <a:solidFill>
                  <a:srgbClr val="000000"/>
                </a:solidFill>
                <a:effectLst/>
                <a:uFillTx/>
                <a:latin typeface="Arial"/>
              </a:rPr>
              <a:t> Rumelhart and McClelland</a:t>
            </a:r>
            <a:r>
              <a:rPr lang="en-US" sz="1000" b="0" u="none" strike="noStrike" dirty="0">
                <a:solidFill>
                  <a:srgbClr val="000000"/>
                </a:solidFill>
                <a:effectLst/>
                <a:uFillTx/>
                <a:latin typeface="Arial"/>
              </a:rPr>
              <a:t>, helped create excitement around connectionist models. These systems challenged traditional symbolic AI by representing knowledge across many connected units rather than through explicit symbols and logical rules.</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Beginning in the late 1980s, AI increasingly adopted </a:t>
            </a:r>
            <a:r>
              <a:rPr lang="en-US" sz="1000" b="1" u="none" strike="noStrike" dirty="0">
                <a:solidFill>
                  <a:srgbClr val="000000"/>
                </a:solidFill>
                <a:effectLst/>
                <a:uFillTx/>
                <a:latin typeface="Arial"/>
              </a:rPr>
              <a:t>probability, statistics, and machine learning.</a:t>
            </a:r>
            <a:r>
              <a:rPr lang="en-US" sz="1000" b="0" u="none" strike="noStrike" dirty="0">
                <a:solidFill>
                  <a:srgbClr val="000000"/>
                </a:solidFill>
                <a:effectLst/>
                <a:uFillTx/>
                <a:latin typeface="Arial"/>
              </a:rPr>
              <a:t> This shift was partly a response to the brittleness of expert systems, which often struggled with uncertainty and could not learn from experience.</a:t>
            </a:r>
          </a:p>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Judea Pearl’s Bayesian networks</a:t>
            </a:r>
            <a:r>
              <a:rPr lang="en-US" sz="1000" b="0" u="none" strike="noStrike" dirty="0">
                <a:solidFill>
                  <a:srgbClr val="000000"/>
                </a:solidFill>
                <a:effectLst/>
                <a:uFillTx/>
                <a:latin typeface="Arial"/>
              </a:rPr>
              <a:t> provided a rigorous way to represent uncertain knowledge and update beliefs when new evidence became available. This helped make probabilistic reasoning a central part of modern AI.</a:t>
            </a:r>
          </a:p>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Rich Sutton’s work</a:t>
            </a:r>
            <a:r>
              <a:rPr lang="en-US" sz="1000" b="0" u="none" strike="noStrike" dirty="0">
                <a:solidFill>
                  <a:srgbClr val="000000"/>
                </a:solidFill>
                <a:effectLst/>
                <a:uFillTx/>
                <a:latin typeface="Arial"/>
              </a:rPr>
              <a:t> connected reinforcement learning with </a:t>
            </a:r>
            <a:r>
              <a:rPr lang="en-US" sz="1000" b="1" u="none" strike="noStrike" dirty="0">
                <a:solidFill>
                  <a:srgbClr val="000000"/>
                </a:solidFill>
                <a:effectLst/>
                <a:uFillTx/>
                <a:latin typeface="Arial"/>
              </a:rPr>
              <a:t>Markov decision processes</a:t>
            </a:r>
            <a:r>
              <a:rPr lang="en-US" sz="1000" b="0" u="none" strike="noStrike" dirty="0">
                <a:solidFill>
                  <a:srgbClr val="000000"/>
                </a:solidFill>
                <a:effectLst/>
                <a:uFillTx/>
                <a:latin typeface="Arial"/>
              </a:rPr>
              <a:t>, or MDPs. This provided stronger mathematical foundations for agents that learn from rewards and make decisions over time.</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Speech recognition also became more mathematically grounded through hidden Markov models, or HMMs. These models were trained on large collections of speech data and performed more reliably than many earlier hand-built approaches.</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Shared benchmark datasets such as </a:t>
            </a:r>
            <a:r>
              <a:rPr lang="en-US" sz="1000" b="1" u="none" strike="noStrike" dirty="0">
                <a:solidFill>
                  <a:srgbClr val="000000"/>
                </a:solidFill>
                <a:effectLst/>
                <a:uFillTx/>
                <a:latin typeface="Arial"/>
              </a:rPr>
              <a:t>ImageNet, </a:t>
            </a:r>
            <a:r>
              <a:rPr lang="en-US" sz="1000" b="1" u="none" strike="noStrike" dirty="0" err="1">
                <a:solidFill>
                  <a:srgbClr val="000000"/>
                </a:solidFill>
                <a:effectLst/>
                <a:uFillTx/>
                <a:latin typeface="Arial"/>
              </a:rPr>
              <a:t>SQuAD</a:t>
            </a:r>
            <a:r>
              <a:rPr lang="en-US" sz="1000" b="1" u="none" strike="noStrike" dirty="0">
                <a:solidFill>
                  <a:srgbClr val="000000"/>
                </a:solidFill>
                <a:effectLst/>
                <a:uFillTx/>
                <a:latin typeface="Arial"/>
              </a:rPr>
              <a:t>, and </a:t>
            </a:r>
            <a:r>
              <a:rPr lang="en-US" sz="1000" b="1" u="none" strike="noStrike" dirty="0" err="1">
                <a:solidFill>
                  <a:srgbClr val="000000"/>
                </a:solidFill>
                <a:effectLst/>
                <a:uFillTx/>
                <a:latin typeface="Arial"/>
              </a:rPr>
              <a:t>LibriSpeech</a:t>
            </a:r>
            <a:r>
              <a:rPr lang="en-US" sz="1000" b="1" u="none" strike="noStrike" dirty="0">
                <a:solidFill>
                  <a:srgbClr val="000000"/>
                </a:solidFill>
                <a:effectLst/>
                <a:uFillTx/>
                <a:latin typeface="Arial"/>
              </a:rPr>
              <a:t> </a:t>
            </a:r>
            <a:r>
              <a:rPr lang="en-US" sz="1000" b="0" u="none" strike="noStrike" dirty="0">
                <a:solidFill>
                  <a:srgbClr val="000000"/>
                </a:solidFill>
                <a:effectLst/>
                <a:uFillTx/>
                <a:latin typeface="Arial"/>
              </a:rPr>
              <a:t>allowed researchers to compare systems using common tasks and measurements. This made AI progress more experimental and evidence-based.</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growth of </a:t>
            </a:r>
            <a:r>
              <a:rPr lang="en-US" sz="1000" b="1" u="none" strike="noStrike" dirty="0">
                <a:solidFill>
                  <a:srgbClr val="000000"/>
                </a:solidFill>
                <a:effectLst/>
                <a:uFillTx/>
                <a:latin typeface="Arial"/>
              </a:rPr>
              <a:t>big data</a:t>
            </a:r>
            <a:r>
              <a:rPr lang="en-US" sz="1000" b="0" u="none" strike="noStrike" dirty="0">
                <a:solidFill>
                  <a:srgbClr val="000000"/>
                </a:solidFill>
                <a:effectLst/>
                <a:uFillTx/>
                <a:latin typeface="Arial"/>
              </a:rPr>
              <a:t> provided millions of images, billions of words, and enormous collections of speech and video. Learning algorithms could now discover patterns from data instead of relying entirely on manually written rules.</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A major turning point came in the </a:t>
            </a:r>
            <a:r>
              <a:rPr lang="en-US" sz="1000" b="1" u="none" strike="noStrike" dirty="0">
                <a:solidFill>
                  <a:srgbClr val="000000"/>
                </a:solidFill>
                <a:effectLst/>
                <a:uFillTx/>
                <a:latin typeface="Arial"/>
              </a:rPr>
              <a:t>2012 ImageNet competition</a:t>
            </a:r>
            <a:r>
              <a:rPr lang="en-US" sz="1000" b="0" u="none" strike="noStrike" dirty="0">
                <a:solidFill>
                  <a:srgbClr val="000000"/>
                </a:solidFill>
                <a:effectLst/>
                <a:uFillTx/>
                <a:latin typeface="Arial"/>
              </a:rPr>
              <a:t>, when a deep convolutional neural network from Geoffrey Hinton’s group achieved a dramatic improvement in image classification.</a:t>
            </a:r>
          </a:p>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AlphaGo</a:t>
            </a:r>
            <a:r>
              <a:rPr lang="en-US" sz="1000" b="0" u="none" strike="noStrike" dirty="0">
                <a:solidFill>
                  <a:srgbClr val="000000"/>
                </a:solidFill>
                <a:effectLst/>
                <a:uFillTx/>
                <a:latin typeface="Arial"/>
              </a:rPr>
              <a:t> later demonstrated the power of deep learning and reinforcement learning by defeating a world champion at Go. </a:t>
            </a:r>
            <a:r>
              <a:rPr lang="en-US" sz="1000" b="1" u="none" strike="noStrike" dirty="0">
                <a:solidFill>
                  <a:srgbClr val="000000"/>
                </a:solidFill>
                <a:effectLst/>
                <a:uFillTx/>
                <a:latin typeface="Arial"/>
              </a:rPr>
              <a:t>AlphaZero</a:t>
            </a:r>
            <a:r>
              <a:rPr lang="en-US" sz="1000" b="0" u="none" strike="noStrike" dirty="0">
                <a:solidFill>
                  <a:srgbClr val="000000"/>
                </a:solidFill>
                <a:effectLst/>
                <a:uFillTx/>
                <a:latin typeface="Arial"/>
              </a:rPr>
              <a:t> went further by learning through self-play without studying human games.</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By 2017, Microsoft reported human-level performance on the </a:t>
            </a:r>
            <a:r>
              <a:rPr lang="en-US" sz="1000" b="1" u="none" strike="noStrike" dirty="0">
                <a:solidFill>
                  <a:srgbClr val="000000"/>
                </a:solidFill>
                <a:effectLst/>
                <a:uFillTx/>
                <a:latin typeface="Arial"/>
              </a:rPr>
              <a:t>Switchboard speech-recognition task</a:t>
            </a:r>
            <a:r>
              <a:rPr lang="en-US" sz="1000" b="0" u="none" strike="noStrike" dirty="0">
                <a:solidFill>
                  <a:srgbClr val="000000"/>
                </a:solidFill>
                <a:effectLst/>
                <a:uFillTx/>
                <a:latin typeface="Arial"/>
              </a:rPr>
              <a:t>. Together, these developments show the movement from symbolic rules, to probabilistic models, and finally to data-driven deep learning.</a:t>
            </a:r>
          </a:p>
          <a:p>
            <a:pPr indent="0" algn="l">
              <a:lnSpc>
                <a:spcPct val="100000"/>
              </a:lnSpc>
              <a:spcBef>
                <a:spcPts val="1191"/>
              </a:spcBef>
              <a:spcAft>
                <a:spcPts val="992"/>
              </a:spcAft>
              <a:buNone/>
              <a:tabLst>
                <a:tab pos="0" algn="l"/>
              </a:tabLst>
            </a:pPr>
            <a:endParaRPr lang="en-US" sz="1000" b="0" u="none" strike="noStrike" dirty="0">
              <a:solidFill>
                <a:srgbClr val="000000"/>
              </a:solidFill>
              <a:effectLst/>
              <a:uFillTx/>
              <a:latin typeface="Arial"/>
            </a:endParaRPr>
          </a:p>
        </p:txBody>
      </p:sp>
      <p:sp>
        <p:nvSpPr>
          <p:cNvPr id="301" name="PlaceHolder 3"/>
          <p:cNvSpPr>
            <a:spLocks noGrp="1"/>
          </p:cNvSpPr>
          <p:nvPr>
            <p:ph type="sldNum" idx="17"/>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4E2E293-6A36-491A-9163-4EA2E3B7A1D2}"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noRot="1" noChangeAspect="1"/>
          </p:cNvSpPr>
          <p:nvPr>
            <p:ph type="sldImg"/>
          </p:nvPr>
        </p:nvSpPr>
        <p:spPr>
          <a:xfrm>
            <a:off x="685800" y="1143000"/>
            <a:ext cx="5482800" cy="3082680"/>
          </a:xfrm>
          <a:prstGeom prst="rect">
            <a:avLst/>
          </a:prstGeom>
          <a:ln w="0">
            <a:noFill/>
          </a:ln>
        </p:spPr>
      </p:sp>
      <p:sp>
        <p:nvSpPr>
          <p:cNvPr id="303"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Perception and language:</a:t>
            </a:r>
            <a:r>
              <a:rPr lang="en-US" sz="1000" b="0" u="none" strike="noStrike" dirty="0">
                <a:solidFill>
                  <a:srgbClr val="000000"/>
                </a:solidFill>
                <a:effectLst/>
                <a:uFillTx/>
                <a:latin typeface="Arial"/>
              </a:rPr>
              <a:t> AI made major gains in object recognition, speech recognition, translation, and question answering. On some narrow benchmarks, systems matched or exceeded human performance.</a:t>
            </a:r>
          </a:p>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Reasoning and decision-making:</a:t>
            </a:r>
            <a:r>
              <a:rPr lang="en-US" sz="1000" b="0" u="none" strike="noStrike" dirty="0">
                <a:solidFill>
                  <a:srgbClr val="000000"/>
                </a:solidFill>
                <a:effectLst/>
                <a:uFillTx/>
                <a:latin typeface="Arial"/>
              </a:rPr>
              <a:t> AI achieved strong results in chess, Go, poker, StarCraft II, and Dota 2. It also supported real-world planning through NASA’s Remote Agent, DART logistics, self-driving vehicles, and autonomous drones.</a:t>
            </a:r>
          </a:p>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Science and medicine:</a:t>
            </a:r>
            <a:r>
              <a:rPr lang="en-US" sz="1000" b="0" u="none" strike="noStrike" dirty="0">
                <a:solidFill>
                  <a:srgbClr val="000000"/>
                </a:solidFill>
                <a:effectLst/>
                <a:uFillTx/>
                <a:latin typeface="Arial"/>
              </a:rPr>
              <a:t> AI matched specialists on some diagnostic tasks and helped analyze large scientific datasets. The LYNA example showed that human–AI teams can outperform either working alone.</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key point is that these systems are highly capable in </a:t>
            </a:r>
            <a:r>
              <a:rPr lang="en-US" sz="1000" b="1" u="none" strike="noStrike" dirty="0">
                <a:solidFill>
                  <a:srgbClr val="000000"/>
                </a:solidFill>
                <a:effectLst/>
                <a:uFillTx/>
                <a:latin typeface="Arial"/>
              </a:rPr>
              <a:t>specialized tasks</a:t>
            </a:r>
            <a:r>
              <a:rPr lang="en-US" sz="1000" b="0" u="none" strike="noStrike" dirty="0">
                <a:solidFill>
                  <a:srgbClr val="000000"/>
                </a:solidFill>
                <a:effectLst/>
                <a:uFillTx/>
                <a:latin typeface="Arial"/>
              </a:rPr>
              <a:t>, but they are not examples of broad human-level intelligence.</a:t>
            </a:r>
          </a:p>
          <a:p>
            <a:pPr indent="0" algn="l">
              <a:lnSpc>
                <a:spcPct val="100000"/>
              </a:lnSpc>
              <a:spcBef>
                <a:spcPts val="1191"/>
              </a:spcBef>
              <a:spcAft>
                <a:spcPts val="992"/>
              </a:spcAft>
              <a:buNone/>
              <a:tabLst>
                <a:tab pos="0" algn="l"/>
              </a:tabLst>
            </a:pPr>
            <a:endParaRPr lang="en-US" sz="1000" b="0" u="none" strike="noStrike" dirty="0">
              <a:solidFill>
                <a:srgbClr val="000000"/>
              </a:solidFill>
              <a:effectLst/>
              <a:uFillTx/>
              <a:latin typeface="Arial"/>
            </a:endParaRPr>
          </a:p>
        </p:txBody>
      </p:sp>
      <p:sp>
        <p:nvSpPr>
          <p:cNvPr id="304" name="PlaceHolder 3"/>
          <p:cNvSpPr>
            <a:spLocks noGrp="1"/>
          </p:cNvSpPr>
          <p:nvPr>
            <p:ph type="sldNum" idx="18"/>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6180299-D185-4865-8970-DBFF6D520081}"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PlaceHolder 1"/>
          <p:cNvSpPr>
            <a:spLocks noGrp="1" noRot="1" noChangeAspect="1"/>
          </p:cNvSpPr>
          <p:nvPr>
            <p:ph type="sldImg"/>
          </p:nvPr>
        </p:nvSpPr>
        <p:spPr>
          <a:xfrm>
            <a:off x="685800" y="1143000"/>
            <a:ext cx="5482800" cy="3082680"/>
          </a:xfrm>
          <a:prstGeom prst="rect">
            <a:avLst/>
          </a:prstGeom>
          <a:ln w="0">
            <a:noFill/>
          </a:ln>
        </p:spPr>
      </p:sp>
      <p:sp>
        <p:nvSpPr>
          <p:cNvPr id="309"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Benefits: </a:t>
            </a:r>
            <a:r>
              <a:rPr lang="en-US" sz="1000" b="0" u="none" strike="noStrike" dirty="0">
                <a:solidFill>
                  <a:srgbClr val="000000"/>
                </a:solidFill>
                <a:effectLst/>
                <a:uFillTx/>
                <a:latin typeface="Arial"/>
              </a:rPr>
              <a:t>AI can reduce repetitive work, increase productivity, and accelerate research in areas such as medicine and climate science. It already supports daily services including navigation, translation, recommendations, and specialized medical diagnosis.</a:t>
            </a:r>
          </a:p>
          <a:p>
            <a:pPr indent="0" algn="l">
              <a:lnSpc>
                <a:spcPct val="100000"/>
              </a:lnSpc>
              <a:spcBef>
                <a:spcPts val="1191"/>
              </a:spcBef>
              <a:spcAft>
                <a:spcPts val="992"/>
              </a:spcAft>
              <a:buNone/>
              <a:tabLst>
                <a:tab pos="0" algn="l"/>
              </a:tabLst>
            </a:pPr>
            <a:r>
              <a:rPr lang="en-US" sz="1000" b="1" u="none" strike="noStrike" dirty="0">
                <a:solidFill>
                  <a:srgbClr val="000000"/>
                </a:solidFill>
                <a:effectLst/>
                <a:uFillTx/>
                <a:latin typeface="Arial"/>
              </a:rPr>
              <a:t>Risks: </a:t>
            </a:r>
            <a:r>
              <a:rPr lang="en-US" sz="1000" b="0" u="none" strike="noStrike" dirty="0">
                <a:solidFill>
                  <a:srgbClr val="000000"/>
                </a:solidFill>
                <a:effectLst/>
                <a:uFillTx/>
                <a:latin typeface="Arial"/>
              </a:rPr>
              <a:t>The same capabilities can support autonomous weapons, mass surveillance, biased decisions, employment disruption, and cyberattacks. Failures are especially serious when AI is used in safety-critical systems such as transportation.</a:t>
            </a:r>
          </a:p>
          <a:p>
            <a:pPr indent="0" algn="l">
              <a:lnSpc>
                <a:spcPct val="100000"/>
              </a:lnSpc>
              <a:spcBef>
                <a:spcPts val="1191"/>
              </a:spcBef>
              <a:spcAft>
                <a:spcPts val="992"/>
              </a:spcAft>
              <a:buNone/>
              <a:tabLst>
                <a:tab pos="0" algn="l"/>
              </a:tabLst>
            </a:pPr>
            <a:r>
              <a:rPr lang="en-US" sz="1000" b="0" u="none" strike="noStrike" dirty="0">
                <a:solidFill>
                  <a:srgbClr val="000000"/>
                </a:solidFill>
                <a:effectLst/>
                <a:uFillTx/>
                <a:latin typeface="Arial"/>
              </a:rPr>
              <a:t>The key point is that AI is a </a:t>
            </a:r>
            <a:r>
              <a:rPr lang="en-US" sz="1000" b="1" u="none" strike="noStrike" dirty="0">
                <a:solidFill>
                  <a:srgbClr val="000000"/>
                </a:solidFill>
                <a:effectLst/>
                <a:uFillTx/>
                <a:latin typeface="Arial"/>
              </a:rPr>
              <a:t>dual-use technology.</a:t>
            </a:r>
            <a:r>
              <a:rPr lang="en-US" sz="1000" b="0" u="none" strike="noStrike" dirty="0">
                <a:solidFill>
                  <a:srgbClr val="000000"/>
                </a:solidFill>
                <a:effectLst/>
                <a:uFillTx/>
                <a:latin typeface="Arial"/>
              </a:rPr>
              <a:t> Its impact depends on how systems are designed, governed, and aligned with human goals.</a:t>
            </a:r>
          </a:p>
          <a:p>
            <a:pPr indent="0" algn="l">
              <a:lnSpc>
                <a:spcPct val="100000"/>
              </a:lnSpc>
              <a:spcBef>
                <a:spcPts val="57"/>
              </a:spcBef>
              <a:buNone/>
              <a:tabLst>
                <a:tab pos="0" algn="l"/>
              </a:tabLst>
            </a:pPr>
            <a:r>
              <a:rPr lang="en-US" sz="1000" b="0" u="none" strike="noStrike" dirty="0">
                <a:solidFill>
                  <a:srgbClr val="000000"/>
                </a:solidFill>
                <a:effectLst/>
                <a:highlight>
                  <a:srgbClr val="FF0000"/>
                </a:highlight>
                <a:uFillTx/>
                <a:latin typeface="Arial"/>
              </a:rPr>
              <a:t>Notes: RL-Powered</a:t>
            </a:r>
            <a:endParaRPr lang="en-US" sz="1000" b="0" u="none" strike="noStrike" dirty="0">
              <a:solidFill>
                <a:srgbClr val="000000"/>
              </a:solidFill>
              <a:effectLst/>
              <a:uFillTx/>
              <a:latin typeface="Arial"/>
            </a:endParaRPr>
          </a:p>
          <a:p>
            <a:pPr indent="0" algn="l">
              <a:lnSpc>
                <a:spcPct val="100000"/>
              </a:lnSpc>
              <a:spcBef>
                <a:spcPts val="57"/>
              </a:spcBef>
              <a:buNone/>
              <a:tabLst>
                <a:tab pos="0" algn="l"/>
              </a:tabLst>
            </a:pPr>
            <a:r>
              <a:rPr lang="en-US" sz="1000" b="0" u="none" strike="noStrike" dirty="0">
                <a:solidFill>
                  <a:srgbClr val="000000"/>
                </a:solidFill>
                <a:effectLst/>
                <a:uFillTx/>
                <a:latin typeface="Arial"/>
              </a:rPr>
              <a:t>RL-powered means reinforcement learning-powered.</a:t>
            </a:r>
          </a:p>
          <a:p>
            <a:pPr indent="0" algn="l">
              <a:lnSpc>
                <a:spcPct val="100000"/>
              </a:lnSpc>
              <a:spcBef>
                <a:spcPts val="57"/>
              </a:spcBef>
              <a:buNone/>
              <a:tabLst>
                <a:tab pos="0" algn="l"/>
              </a:tabLst>
            </a:pPr>
            <a:r>
              <a:rPr lang="en-US" sz="1000" b="0" u="none" strike="noStrike" dirty="0">
                <a:solidFill>
                  <a:srgbClr val="000000"/>
                </a:solidFill>
                <a:effectLst/>
                <a:uFillTx/>
                <a:latin typeface="Arial"/>
              </a:rPr>
              <a:t>It refers to an AI system that learns which actions work best through rewards and penalties. The system tries actions, observes the results, and adjusts its behavior to increase future rewards.</a:t>
            </a:r>
          </a:p>
          <a:p>
            <a:pPr indent="0" algn="l">
              <a:lnSpc>
                <a:spcPct val="100000"/>
              </a:lnSpc>
              <a:spcBef>
                <a:spcPts val="57"/>
              </a:spcBef>
              <a:buNone/>
              <a:tabLst>
                <a:tab pos="0" algn="l"/>
              </a:tabLst>
            </a:pPr>
            <a:r>
              <a:rPr lang="en-US" sz="1000" b="0" u="none" strike="noStrike" dirty="0">
                <a:solidFill>
                  <a:srgbClr val="000000"/>
                </a:solidFill>
                <a:effectLst/>
                <a:uFillTx/>
                <a:latin typeface="Arial"/>
              </a:rPr>
              <a:t>In this slide, “RL-powered phishing/blackmail” means reinforcement learning could be used to automatically test and improve attack strategies, such as choosing messages, timing, or targets that produce the highest success rate.</a:t>
            </a:r>
          </a:p>
          <a:p>
            <a:pPr indent="0" algn="l">
              <a:lnSpc>
                <a:spcPct val="100000"/>
              </a:lnSpc>
              <a:spcBef>
                <a:spcPts val="57"/>
              </a:spcBef>
              <a:buNone/>
              <a:tabLst>
                <a:tab pos="0" algn="l"/>
              </a:tabLst>
            </a:pPr>
            <a:endParaRPr lang="en-US" sz="1000" b="0" u="none" strike="noStrike" dirty="0">
              <a:solidFill>
                <a:srgbClr val="000000"/>
              </a:solidFill>
              <a:effectLst/>
              <a:uFillTx/>
              <a:latin typeface="Arial"/>
            </a:endParaRPr>
          </a:p>
        </p:txBody>
      </p:sp>
      <p:sp>
        <p:nvSpPr>
          <p:cNvPr id="310" name="PlaceHolder 3"/>
          <p:cNvSpPr>
            <a:spLocks noGrp="1"/>
          </p:cNvSpPr>
          <p:nvPr>
            <p:ph type="sldNum" idx="20"/>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DE8724C-ECFF-4696-8385-37135322C8E6}"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laceHolder 1"/>
          <p:cNvSpPr>
            <a:spLocks noGrp="1" noRot="1" noChangeAspect="1"/>
          </p:cNvSpPr>
          <p:nvPr>
            <p:ph type="sldImg"/>
          </p:nvPr>
        </p:nvSpPr>
        <p:spPr>
          <a:xfrm>
            <a:off x="-225425" y="1038225"/>
            <a:ext cx="4989513" cy="2806700"/>
          </a:xfrm>
          <a:prstGeom prst="rect">
            <a:avLst/>
          </a:prstGeom>
          <a:ln w="0">
            <a:noFill/>
          </a:ln>
        </p:spPr>
      </p:sp>
      <p:sp>
        <p:nvSpPr>
          <p:cNvPr id="306" name="PlaceHolder 2"/>
          <p:cNvSpPr>
            <a:spLocks noGrp="1"/>
          </p:cNvSpPr>
          <p:nvPr>
            <p:ph type="body"/>
          </p:nvPr>
        </p:nvSpPr>
        <p:spPr>
          <a:xfrm>
            <a:off x="453600" y="4000320"/>
            <a:ext cx="3630600" cy="3272760"/>
          </a:xfrm>
          <a:prstGeom prst="rect">
            <a:avLst/>
          </a:prstGeom>
          <a:noFill/>
          <a:ln w="0">
            <a:noFill/>
          </a:ln>
        </p:spPr>
        <p:txBody>
          <a:bodyPr lIns="91440" tIns="45720" rIns="91440" bIns="45720" anchor="t">
            <a:noAutofit/>
          </a:bodyPr>
          <a:lstStyle/>
          <a:p>
            <a:r>
              <a:rPr lang="en-US" sz="2000" b="1" dirty="0"/>
              <a:t>PowerPoint Teacher Footnotes</a:t>
            </a:r>
          </a:p>
          <a:p>
            <a:r>
              <a:rPr lang="en-US" sz="2000" b="1" dirty="0"/>
              <a:t>HLAI</a:t>
            </a:r>
            <a:r>
              <a:rPr lang="en-US" sz="2000" dirty="0"/>
              <a:t> refers to AI that can learn to perform the broad range of intellectual tasks humans can perform. </a:t>
            </a:r>
            <a:r>
              <a:rPr lang="en-US" sz="2000" b="1" dirty="0"/>
              <a:t>AGI</a:t>
            </a:r>
            <a:r>
              <a:rPr lang="en-US" sz="2000" dirty="0"/>
              <a:t> describes similarly general intelligence that can transfer knowledge and adapt across different tasks. These terms are closely related rather than sharply separated.</a:t>
            </a:r>
          </a:p>
          <a:p>
            <a:endParaRPr lang="en-US" sz="2000" dirty="0"/>
          </a:p>
          <a:p>
            <a:r>
              <a:rPr lang="en-US" sz="2000" b="1" dirty="0"/>
              <a:t>ASI</a:t>
            </a:r>
            <a:r>
              <a:rPr lang="en-US" sz="2000" dirty="0"/>
              <a:t> goes beyond human-level intelligence and would greatly surpass human abilities in areas such as learning, planning, strategy, and scientific discovery. Chapter 1 presents ASI as a possible future development, not a description of current AI.</a:t>
            </a:r>
          </a:p>
          <a:p>
            <a:endParaRPr lang="en-US" sz="2000" dirty="0"/>
          </a:p>
          <a:p>
            <a:r>
              <a:rPr lang="en-US" sz="2000" dirty="0"/>
              <a:t>The </a:t>
            </a:r>
            <a:r>
              <a:rPr lang="en-US" sz="2000" b="1" dirty="0"/>
              <a:t>gorilla problem</a:t>
            </a:r>
            <a:r>
              <a:rPr lang="en-US" sz="2000" dirty="0"/>
              <a:t> illustrates the risk of losing control to a more capable intelligence. Gorillas have little control over decisions humans make about their environment and future. Similarly, humans might have limited influence over a system that becomes far more capable than we are.</a:t>
            </a:r>
          </a:p>
          <a:p>
            <a:endParaRPr lang="en-US" sz="2000" dirty="0"/>
          </a:p>
          <a:p>
            <a:r>
              <a:rPr lang="en-US" sz="2000" dirty="0"/>
              <a:t>This differs from the </a:t>
            </a:r>
            <a:r>
              <a:rPr lang="en-US" sz="2000" b="1" dirty="0"/>
              <a:t>King Midas problem</a:t>
            </a:r>
            <a:r>
              <a:rPr lang="en-US" sz="2000" dirty="0"/>
              <a:t>. King Midas concerns a system correctly pursuing an incorrectly specified objective. The gorilla problem concerns humans losing control because the system is more capable.</a:t>
            </a:r>
          </a:p>
          <a:p>
            <a:r>
              <a:rPr lang="en-US" sz="2000" dirty="0"/>
              <a:t>Chapter 1 emphasizes that superintelligent AI would be designed by humans, so loss of control would represent a design failure. Safer systems should remain uncertain about human objectives, accept correction, ask for clarification, and permit themselves to be switched off.</a:t>
            </a:r>
          </a:p>
          <a:p>
            <a:endParaRPr lang="en-US" sz="2000" dirty="0"/>
          </a:p>
          <a:p>
            <a:r>
              <a:rPr lang="en-US" sz="2000" b="1" dirty="0"/>
              <a:t>Key takeaway:</a:t>
            </a:r>
            <a:r>
              <a:rPr lang="en-US" sz="2000" dirty="0"/>
              <a:t> Objective misalignment and loss of control are related but distinct risks. Greater capability makes careful objective design, alignment, and human oversight increasingly important.</a:t>
            </a:r>
          </a:p>
          <a:p>
            <a:r>
              <a:rPr lang="en-US" sz="2000" b="1" dirty="0"/>
              <a:t>Section:</a:t>
            </a:r>
            <a:r>
              <a:rPr lang="en-US" sz="2000" dirty="0"/>
              <a:t> 1.5 — </a:t>
            </a:r>
            <a:r>
              <a:rPr lang="en-US" sz="2000" i="1" dirty="0"/>
              <a:t>Risks and Benefits of AI</a:t>
            </a:r>
            <a:endParaRPr lang="en-US" sz="2000" dirty="0"/>
          </a:p>
        </p:txBody>
      </p:sp>
      <p:sp>
        <p:nvSpPr>
          <p:cNvPr id="307" name="PlaceHolder 3"/>
          <p:cNvSpPr>
            <a:spLocks noGrp="1"/>
          </p:cNvSpPr>
          <p:nvPr>
            <p:ph type="sldNum" idx="19"/>
          </p:nvPr>
        </p:nvSpPr>
        <p:spPr>
          <a:xfrm>
            <a:off x="2570760" y="7895520"/>
            <a:ext cx="1966320" cy="4165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77406AE-A326-4EB1-AEE1-1DBB9C55883D}"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noRot="1" noChangeAspect="1"/>
          </p:cNvSpPr>
          <p:nvPr>
            <p:ph type="sldImg"/>
          </p:nvPr>
        </p:nvSpPr>
        <p:spPr>
          <a:xfrm>
            <a:off x="685800" y="1143000"/>
            <a:ext cx="5482800" cy="3082680"/>
          </a:xfrm>
          <a:prstGeom prst="rect">
            <a:avLst/>
          </a:prstGeom>
          <a:ln w="0">
            <a:noFill/>
          </a:ln>
        </p:spPr>
      </p:sp>
      <p:sp>
        <p:nvSpPr>
          <p:cNvPr id="312"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313" name="PlaceHolder 3"/>
          <p:cNvSpPr>
            <a:spLocks noGrp="1"/>
          </p:cNvSpPr>
          <p:nvPr>
            <p:ph type="sldNum" idx="21"/>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542C7DD-F552-4366-9784-B03638E9DA71}"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noRot="1" noChangeAspect="1"/>
          </p:cNvSpPr>
          <p:nvPr>
            <p:ph type="sldImg"/>
          </p:nvPr>
        </p:nvSpPr>
        <p:spPr>
          <a:xfrm>
            <a:off x="687388" y="1143000"/>
            <a:ext cx="5480050" cy="3082925"/>
          </a:xfrm>
          <a:prstGeom prst="rect">
            <a:avLst/>
          </a:prstGeom>
          <a:ln w="0">
            <a:noFill/>
          </a:ln>
        </p:spPr>
      </p:sp>
      <p:sp>
        <p:nvSpPr>
          <p:cNvPr id="315"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316" name="PlaceHolder 3"/>
          <p:cNvSpPr>
            <a:spLocks noGrp="1"/>
          </p:cNvSpPr>
          <p:nvPr>
            <p:ph type="sldNum" idx="22"/>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C3380E5-4DA6-4316-8C13-3A6F736BD538}"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496800"/>
            <a:ext cx="8226000" cy="274680"/>
          </a:xfrm>
          <a:prstGeom prst="rect">
            <a:avLst/>
          </a:prstGeom>
          <a:noFill/>
          <a:ln w="0">
            <a:noFill/>
          </a:ln>
        </p:spPr>
        <p:txBody>
          <a:bodyPr lIns="0" tIns="0" rIns="0" bIns="0" anchor="ctr">
            <a:sp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6360" cy="85572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p>
        </p:txBody>
      </p:sp>
      <p:sp>
        <p:nvSpPr>
          <p:cNvPr id="4" name="PlaceHolder 2"/>
          <p:cNvSpPr>
            <a:spLocks noGrp="1"/>
          </p:cNvSpPr>
          <p:nvPr>
            <p:ph type="body"/>
          </p:nvPr>
        </p:nvSpPr>
        <p:spPr>
          <a:xfrm>
            <a:off x="457200" y="1203480"/>
            <a:ext cx="8226360" cy="29800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F7F8F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efault 1">
    <p:bg>
      <p:bgPr>
        <a:solidFill>
          <a:srgbClr val="F7F8FA"/>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531360"/>
            <a:ext cx="8226000" cy="205920"/>
          </a:xfrm>
          <a:prstGeom prst="rect">
            <a:avLst/>
          </a:prstGeom>
          <a:noFill/>
          <a:ln w="0">
            <a:noFill/>
          </a:ln>
        </p:spPr>
        <p:txBody>
          <a:bodyPr lIns="0" tIns="0" rIns="0" bIns="0" anchor="ctr">
            <a:spAutoFit/>
          </a:bodyPr>
          <a:lstStyle>
            <a:lvl1pPr indent="0" algn="l">
              <a:lnSpc>
                <a:spcPct val="100000"/>
              </a:lnSpc>
              <a:buNone/>
              <a:tabLst>
                <a:tab pos="0" algn="l"/>
              </a:tabLst>
              <a:defRPr lang="en-US" sz="1350" b="0" u="none" strike="noStrike">
                <a:solidFill>
                  <a:schemeClr val="dk1"/>
                </a:solidFill>
                <a:effectLst/>
                <a:uFillTx/>
                <a:latin typeface="Aptos"/>
              </a:defRPr>
            </a:lvl1pPr>
          </a:lstStyle>
          <a:p>
            <a:pPr indent="0" algn="l">
              <a:lnSpc>
                <a:spcPct val="100000"/>
              </a:lnSpc>
              <a:buNone/>
              <a:tabLst>
                <a:tab pos="0" algn="l"/>
              </a:tabLst>
            </a:pPr>
            <a:r>
              <a:rPr lang="en-US" sz="1350" b="0" u="none" strike="noStrike">
                <a:solidFill>
                  <a:schemeClr val="dk1"/>
                </a:solidFill>
                <a:effectLst/>
                <a:uFillTx/>
                <a:latin typeface="Aptos"/>
              </a:rPr>
              <a:t>Click to edit the title text format</a:t>
            </a:r>
          </a:p>
        </p:txBody>
      </p:sp>
      <p:sp>
        <p:nvSpPr>
          <p:cNvPr id="6" name="PlaceHolder 2"/>
          <p:cNvSpPr>
            <a:spLocks noGrp="1"/>
          </p:cNvSpPr>
          <p:nvPr>
            <p:ph type="body"/>
          </p:nvPr>
        </p:nvSpPr>
        <p:spPr>
          <a:xfrm>
            <a:off x="457200" y="1203480"/>
            <a:ext cx="8226360" cy="2980080"/>
          </a:xfrm>
          <a:prstGeom prst="rect">
            <a:avLst/>
          </a:prstGeom>
          <a:noFill/>
          <a:ln w="0">
            <a:noFill/>
          </a:ln>
        </p:spPr>
        <p:txBody>
          <a:bodyPr lIns="0" tIns="0" rIns="0" bIns="0" anchor="t">
            <a:normAutofit/>
          </a:bodyPr>
          <a:lstStyle>
            <a:lvl1pPr algn="l">
              <a:lnSpc>
                <a:spcPct val="100000"/>
              </a:lnSpc>
              <a:spcBef>
                <a:spcPts val="1060"/>
              </a:spcBef>
              <a:buClr>
                <a:srgbClr val="000000"/>
              </a:buClr>
              <a:buSzPct val="45000"/>
              <a:buFont typeface="Wingdings" charset="2"/>
              <a:buChar char=""/>
              <a:defRPr lang="en-US" sz="2400" b="0" u="none" strike="noStrike">
                <a:solidFill>
                  <a:schemeClr val="dk1"/>
                </a:solidFill>
                <a:effectLst/>
                <a:uFillTx/>
                <a:latin typeface="Aptos"/>
              </a:defRPr>
            </a:lvl1pPr>
            <a:lvl2pPr lvl="1" algn="l">
              <a:lnSpc>
                <a:spcPct val="100000"/>
              </a:lnSpc>
              <a:spcBef>
                <a:spcPts val="848"/>
              </a:spcBef>
              <a:buClr>
                <a:srgbClr val="000000"/>
              </a:buClr>
              <a:buSzPct val="75000"/>
              <a:buFont typeface="Symbol" charset="2"/>
              <a:buChar char=""/>
              <a:defRPr lang="en-US" sz="1800" b="0" u="none" strike="noStrike">
                <a:solidFill>
                  <a:schemeClr val="dk1"/>
                </a:solidFill>
                <a:effectLst/>
                <a:uFillTx/>
                <a:latin typeface="Aptos"/>
              </a:defRPr>
            </a:lvl2pPr>
            <a:lvl3pPr lvl="2" algn="l">
              <a:lnSpc>
                <a:spcPct val="100000"/>
              </a:lnSpc>
              <a:spcBef>
                <a:spcPts val="635"/>
              </a:spcBef>
              <a:buClr>
                <a:srgbClr val="000000"/>
              </a:buClr>
              <a:buSzPct val="45000"/>
              <a:buFont typeface="Wingdings" charset="2"/>
              <a:buChar char=""/>
              <a:defRPr lang="en-US" sz="1500" b="0" u="none" strike="noStrike">
                <a:solidFill>
                  <a:schemeClr val="dk1"/>
                </a:solidFill>
                <a:effectLst/>
                <a:uFillTx/>
                <a:latin typeface="Aptos"/>
              </a:defRPr>
            </a:lvl3pPr>
            <a:lvl4pPr lvl="3" algn="l">
              <a:lnSpc>
                <a:spcPct val="100000"/>
              </a:lnSpc>
              <a:spcBef>
                <a:spcPts val="422"/>
              </a:spcBef>
              <a:buClr>
                <a:srgbClr val="000000"/>
              </a:buClr>
              <a:buSzPct val="75000"/>
              <a:buFont typeface="Symbol" charset="2"/>
              <a:buChar char=""/>
              <a:defRPr lang="en-US" sz="1500" b="0" u="none" strike="noStrike">
                <a:solidFill>
                  <a:schemeClr val="dk1"/>
                </a:solidFill>
                <a:effectLst/>
                <a:uFillTx/>
                <a:latin typeface="Aptos"/>
              </a:defRPr>
            </a:lvl4pPr>
            <a:lvl5pPr lvl="4"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5pPr>
            <a:lvl6pPr lvl="5"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6pPr>
            <a:lvl7pPr lvl="6"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7pPr>
          </a:lstStyle>
          <a:p>
            <a:pPr marL="432000" indent="-324000" algn="l">
              <a:lnSpc>
                <a:spcPct val="100000"/>
              </a:lnSpc>
              <a:spcBef>
                <a:spcPts val="1060"/>
              </a:spcBef>
              <a:buClr>
                <a:srgbClr val="000000"/>
              </a:buClr>
              <a:buSzPct val="45000"/>
              <a:buFont typeface="Wingdings" charset="2"/>
              <a:buChar char=""/>
            </a:pPr>
            <a:r>
              <a:rPr lang="en-US" sz="2400" b="0" u="none" strike="noStrike">
                <a:solidFill>
                  <a:schemeClr val="dk1"/>
                </a:solidFill>
                <a:effectLst/>
                <a:uFillTx/>
                <a:latin typeface="Aptos"/>
              </a:rPr>
              <a:t>Click to edit the outline text format</a:t>
            </a:r>
          </a:p>
          <a:p>
            <a:pPr marL="864000" lvl="1" indent="-324000" algn="l">
              <a:lnSpc>
                <a:spcPct val="100000"/>
              </a:lnSpc>
              <a:spcBef>
                <a:spcPts val="848"/>
              </a:spcBef>
              <a:buClr>
                <a:srgbClr val="000000"/>
              </a:buClr>
              <a:buSzPct val="75000"/>
              <a:buFont typeface="Symbol" charset="2"/>
              <a:buChar char=""/>
            </a:pPr>
            <a:r>
              <a:rPr lang="en-US" sz="1800" b="0" u="none" strike="noStrike">
                <a:solidFill>
                  <a:schemeClr val="dk1"/>
                </a:solidFill>
                <a:effectLst/>
                <a:uFillTx/>
                <a:latin typeface="Aptos"/>
              </a:rPr>
              <a:t>Second Outline Level</a:t>
            </a:r>
          </a:p>
          <a:p>
            <a:pPr marL="1296000" lvl="2" indent="-288000" algn="l">
              <a:lnSpc>
                <a:spcPct val="100000"/>
              </a:lnSpc>
              <a:spcBef>
                <a:spcPts val="635"/>
              </a:spcBef>
              <a:buClr>
                <a:srgbClr val="000000"/>
              </a:buClr>
              <a:buSzPct val="45000"/>
              <a:buFont typeface="Wingdings" charset="2"/>
              <a:buChar char=""/>
            </a:pPr>
            <a:r>
              <a:rPr lang="en-US" sz="1500" b="0" u="none" strike="noStrike">
                <a:solidFill>
                  <a:schemeClr val="dk1"/>
                </a:solidFill>
                <a:effectLst/>
                <a:uFillTx/>
                <a:latin typeface="Aptos"/>
              </a:rPr>
              <a:t>Third Outline Level</a:t>
            </a:r>
          </a:p>
          <a:p>
            <a:pPr marL="1728000" lvl="3" indent="-216000" algn="l">
              <a:lnSpc>
                <a:spcPct val="100000"/>
              </a:lnSpc>
              <a:spcBef>
                <a:spcPts val="422"/>
              </a:spcBef>
              <a:buClr>
                <a:srgbClr val="000000"/>
              </a:buClr>
              <a:buSzPct val="75000"/>
              <a:buFont typeface="Symbol" charset="2"/>
              <a:buChar char=""/>
            </a:pPr>
            <a:r>
              <a:rPr lang="en-US" sz="1500" b="0" u="none" strike="noStrike">
                <a:solidFill>
                  <a:schemeClr val="dk1"/>
                </a:solidFill>
                <a:effectLst/>
                <a:uFillTx/>
                <a:latin typeface="Aptos"/>
              </a:rPr>
              <a:t>Fourth Outline Level</a:t>
            </a:r>
          </a:p>
          <a:p>
            <a:pPr marL="2160000" lvl="4"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p>
          <a:p>
            <a:pPr marL="2592000" lvl="5"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p>
          <a:p>
            <a:pPr marL="3024000" lvl="6"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DEFAULT">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DEFAUL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6360" cy="855720"/>
          </a:xfrm>
          <a:prstGeom prst="rect">
            <a:avLst/>
          </a:prstGeom>
          <a:noFill/>
          <a:ln w="0">
            <a:noFill/>
          </a:ln>
        </p:spPr>
        <p:txBody>
          <a:bodyPr lIns="0" tIns="0" rIns="0" bIns="0" anchor="ctr">
            <a:spAutoFit/>
          </a:bodyPr>
          <a:lstStyle/>
          <a:p>
            <a:pPr indent="0" algn="l">
              <a:buNone/>
              <a:tabLst>
                <a:tab pos="0" algn="l"/>
              </a:tabLst>
            </a:pPr>
            <a:endParaRPr lang="en-US" sz="1800" b="0" u="none" strike="noStrike">
              <a:solidFill>
                <a:schemeClr val="dk1"/>
              </a:solidFill>
              <a:effectLst/>
              <a:uFillTx/>
              <a:latin typeface="Calibri"/>
            </a:endParaRPr>
          </a:p>
        </p:txBody>
      </p:sp>
      <p:sp>
        <p:nvSpPr>
          <p:cNvPr id="10" name="PlaceHolder 2"/>
          <p:cNvSpPr>
            <a:spLocks noGrp="1"/>
          </p:cNvSpPr>
          <p:nvPr>
            <p:ph type="subTitle"/>
          </p:nvPr>
        </p:nvSpPr>
        <p:spPr>
          <a:xfrm>
            <a:off x="457200" y="1203480"/>
            <a:ext cx="8226360" cy="298008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6840" y="205200"/>
            <a:ext cx="8229240" cy="858600"/>
          </a:xfrm>
          <a:prstGeom prst="rect">
            <a:avLst/>
          </a:prstGeom>
          <a:noFill/>
          <a:ln w="0">
            <a:noFill/>
          </a:ln>
        </p:spPr>
        <p:txBody>
          <a:bodyPr lIns="0" tIns="0" rIns="0" bIns="0" anchor="ctr">
            <a:noAutofit/>
          </a:bodyPr>
          <a:lstStyle>
            <a:lvl1pPr indent="0" algn="l">
              <a:buNone/>
              <a:defRPr lang="en-US" sz="1350" b="0" u="none" strike="noStrike">
                <a:solidFill>
                  <a:schemeClr val="dk1"/>
                </a:solidFill>
                <a:effectLst/>
                <a:uFillTx/>
                <a:latin typeface="Aptos"/>
              </a:defRPr>
            </a:lvl1pPr>
          </a:lstStyle>
          <a:p>
            <a:pPr indent="0" algn="l">
              <a:buNone/>
            </a:pPr>
            <a:r>
              <a:rPr lang="en-US" sz="1350" b="0" u="none" strike="noStrike">
                <a:solidFill>
                  <a:schemeClr val="dk1"/>
                </a:solidFill>
                <a:effectLst/>
                <a:uFillTx/>
                <a:latin typeface="Aptos"/>
              </a:rPr>
              <a:t>Click to edit the title text format</a:t>
            </a:r>
          </a:p>
        </p:txBody>
      </p:sp>
      <p:sp>
        <p:nvSpPr>
          <p:cNvPr id="8" name="PlaceHolder 2"/>
          <p:cNvSpPr>
            <a:spLocks noGrp="1"/>
          </p:cNvSpPr>
          <p:nvPr>
            <p:ph type="body"/>
          </p:nvPr>
        </p:nvSpPr>
        <p:spPr>
          <a:xfrm>
            <a:off x="456840" y="1203120"/>
            <a:ext cx="8229240" cy="2982960"/>
          </a:xfrm>
          <a:prstGeom prst="rect">
            <a:avLst/>
          </a:prstGeom>
          <a:noFill/>
          <a:ln w="0">
            <a:noFill/>
          </a:ln>
        </p:spPr>
        <p:txBody>
          <a:bodyPr lIns="0" tIns="0" rIns="0" bIns="0" anchor="t">
            <a:normAutofit/>
          </a:bodyPr>
          <a:lstStyle>
            <a:lvl1pPr algn="l">
              <a:spcBef>
                <a:spcPts val="1060"/>
              </a:spcBef>
              <a:buClr>
                <a:srgbClr val="000000"/>
              </a:buClr>
              <a:buSzPct val="45000"/>
              <a:buFont typeface="Wingdings" charset="2"/>
              <a:buChar char=""/>
              <a:defRPr lang="en-US" sz="2400" b="0" u="none" strike="noStrike">
                <a:solidFill>
                  <a:schemeClr val="dk1"/>
                </a:solidFill>
                <a:effectLst/>
                <a:uFillTx/>
                <a:latin typeface="Aptos"/>
              </a:defRPr>
            </a:lvl1pPr>
            <a:lvl2pPr lvl="1" algn="l">
              <a:spcBef>
                <a:spcPts val="848"/>
              </a:spcBef>
              <a:buClr>
                <a:srgbClr val="000000"/>
              </a:buClr>
              <a:buSzPct val="75000"/>
              <a:buFont typeface="Symbol" charset="2"/>
              <a:buChar char=""/>
              <a:defRPr lang="en-US" sz="1800" b="0" u="none" strike="noStrike">
                <a:solidFill>
                  <a:schemeClr val="dk1"/>
                </a:solidFill>
                <a:effectLst/>
                <a:uFillTx/>
                <a:latin typeface="Aptos"/>
              </a:defRPr>
            </a:lvl2pPr>
            <a:lvl3pPr lvl="2" algn="l">
              <a:spcBef>
                <a:spcPts val="635"/>
              </a:spcBef>
              <a:buClr>
                <a:srgbClr val="000000"/>
              </a:buClr>
              <a:buSzPct val="45000"/>
              <a:buFont typeface="Wingdings" charset="2"/>
              <a:buChar char=""/>
              <a:defRPr lang="en-US" sz="1500" b="0" u="none" strike="noStrike">
                <a:solidFill>
                  <a:schemeClr val="dk1"/>
                </a:solidFill>
                <a:effectLst/>
                <a:uFillTx/>
                <a:latin typeface="Aptos"/>
              </a:defRPr>
            </a:lvl3pPr>
            <a:lvl4pPr lvl="3" algn="l">
              <a:spcBef>
                <a:spcPts val="422"/>
              </a:spcBef>
              <a:buClr>
                <a:srgbClr val="000000"/>
              </a:buClr>
              <a:buSzPct val="75000"/>
              <a:buFont typeface="Symbol" charset="2"/>
              <a:buChar char=""/>
              <a:defRPr lang="en-US" sz="1500" b="0" u="none" strike="noStrike">
                <a:solidFill>
                  <a:schemeClr val="dk1"/>
                </a:solidFill>
                <a:effectLst/>
                <a:uFillTx/>
                <a:latin typeface="Aptos"/>
              </a:defRPr>
            </a:lvl4pPr>
            <a:lvl5pPr lvl="4" algn="l">
              <a:spcBef>
                <a:spcPts val="210"/>
              </a:spcBef>
              <a:buClr>
                <a:srgbClr val="000000"/>
              </a:buClr>
              <a:buSzPct val="45000"/>
              <a:buFont typeface="Wingdings" charset="2"/>
              <a:buChar char=""/>
              <a:defRPr lang="en-US" sz="1500" b="0" u="none" strike="noStrike">
                <a:solidFill>
                  <a:schemeClr val="dk1"/>
                </a:solidFill>
                <a:effectLst/>
                <a:uFillTx/>
                <a:latin typeface="Aptos"/>
              </a:defRPr>
            </a:lvl5pPr>
            <a:lvl6pPr lvl="5" algn="l">
              <a:spcBef>
                <a:spcPts val="210"/>
              </a:spcBef>
              <a:buClr>
                <a:srgbClr val="000000"/>
              </a:buClr>
              <a:buSzPct val="45000"/>
              <a:buFont typeface="Wingdings" charset="2"/>
              <a:buChar char=""/>
              <a:defRPr lang="en-US" sz="1500" b="0" u="none" strike="noStrike">
                <a:solidFill>
                  <a:schemeClr val="dk1"/>
                </a:solidFill>
                <a:effectLst/>
                <a:uFillTx/>
                <a:latin typeface="Aptos"/>
              </a:defRPr>
            </a:lvl6pPr>
            <a:lvl7pPr lvl="6" algn="l">
              <a:spcBef>
                <a:spcPts val="210"/>
              </a:spcBef>
              <a:buClr>
                <a:srgbClr val="000000"/>
              </a:buClr>
              <a:buSzPct val="45000"/>
              <a:buFont typeface="Wingdings" charset="2"/>
              <a:buChar char=""/>
              <a:defRPr lang="en-US" sz="1500" b="0" u="none" strike="noStrike">
                <a:solidFill>
                  <a:schemeClr val="dk1"/>
                </a:solidFill>
                <a:effectLst/>
                <a:uFillTx/>
                <a:latin typeface="Aptos"/>
              </a:defRPr>
            </a:lvl7pPr>
          </a:lstStyle>
          <a:p>
            <a:pPr marL="432000" indent="-324000" algn="l">
              <a:spcBef>
                <a:spcPts val="1060"/>
              </a:spcBef>
              <a:buClr>
                <a:srgbClr val="000000"/>
              </a:buClr>
              <a:buSzPct val="45000"/>
              <a:buFont typeface="Wingdings" charset="2"/>
              <a:buChar char=""/>
            </a:pPr>
            <a:r>
              <a:rPr lang="en-US" sz="2400" b="0" u="none" strike="noStrike">
                <a:solidFill>
                  <a:schemeClr val="dk1"/>
                </a:solidFill>
                <a:effectLst/>
                <a:uFillTx/>
                <a:latin typeface="Aptos"/>
              </a:rPr>
              <a:t>Click to edit the outline text format</a:t>
            </a:r>
          </a:p>
          <a:p>
            <a:pPr marL="864000" lvl="1" indent="-324000" algn="l">
              <a:spcBef>
                <a:spcPts val="848"/>
              </a:spcBef>
              <a:buClr>
                <a:srgbClr val="000000"/>
              </a:buClr>
              <a:buSzPct val="75000"/>
              <a:buFont typeface="Symbol" charset="2"/>
              <a:buChar char=""/>
            </a:pPr>
            <a:r>
              <a:rPr lang="en-US" sz="1800" b="0" u="none" strike="noStrike">
                <a:solidFill>
                  <a:schemeClr val="dk1"/>
                </a:solidFill>
                <a:effectLst/>
                <a:uFillTx/>
                <a:latin typeface="Aptos"/>
              </a:rPr>
              <a:t>Second Outline Level</a:t>
            </a:r>
          </a:p>
          <a:p>
            <a:pPr marL="1296000" lvl="2" indent="-288000" algn="l">
              <a:spcBef>
                <a:spcPts val="635"/>
              </a:spcBef>
              <a:buClr>
                <a:srgbClr val="000000"/>
              </a:buClr>
              <a:buSzPct val="45000"/>
              <a:buFont typeface="Wingdings" charset="2"/>
              <a:buChar char=""/>
            </a:pPr>
            <a:r>
              <a:rPr lang="en-US" sz="1500" b="0" u="none" strike="noStrike">
                <a:solidFill>
                  <a:schemeClr val="dk1"/>
                </a:solidFill>
                <a:effectLst/>
                <a:uFillTx/>
                <a:latin typeface="Aptos"/>
              </a:rPr>
              <a:t>Third Outline Level</a:t>
            </a:r>
          </a:p>
          <a:p>
            <a:pPr marL="1728000" lvl="3" indent="-216000" algn="l">
              <a:spcBef>
                <a:spcPts val="422"/>
              </a:spcBef>
              <a:buClr>
                <a:srgbClr val="000000"/>
              </a:buClr>
              <a:buSzPct val="75000"/>
              <a:buFont typeface="Symbol" charset="2"/>
              <a:buChar char=""/>
            </a:pPr>
            <a:r>
              <a:rPr lang="en-US" sz="1500" b="0" u="none" strike="noStrike">
                <a:solidFill>
                  <a:schemeClr val="dk1"/>
                </a:solidFill>
                <a:effectLst/>
                <a:uFillTx/>
                <a:latin typeface="Aptos"/>
              </a:rPr>
              <a:t>Fourth Outline Level</a:t>
            </a:r>
          </a:p>
          <a:p>
            <a:pPr marL="2160000" lvl="4" indent="-216000" algn="l">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p>
          <a:p>
            <a:pPr marL="2592000" lvl="5" indent="-216000" algn="l">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p>
          <a:p>
            <a:pPr marL="3024000" lvl="6" indent="-216000" algn="l">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maps.deflock.org/"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B49"/>
        </a:solidFill>
        <a:effectLst/>
      </p:bgPr>
    </p:bg>
    <p:spTree>
      <p:nvGrpSpPr>
        <p:cNvPr id="1" name=""/>
        <p:cNvGrpSpPr/>
        <p:nvPr/>
      </p:nvGrpSpPr>
      <p:grpSpPr>
        <a:xfrm>
          <a:off x="0" y="0"/>
          <a:ext cx="0" cy="0"/>
          <a:chOff x="0" y="0"/>
          <a:chExt cx="0" cy="0"/>
        </a:xfrm>
      </p:grpSpPr>
      <p:pic>
        <p:nvPicPr>
          <p:cNvPr id="17" name="Image 0" descr="/mnt/data/wide_cinematic_futuristic_scene_a_dark_blue_nigh.png"/>
          <p:cNvPicPr/>
          <p:nvPr/>
        </p:nvPicPr>
        <p:blipFill>
          <a:blip r:embed="rId3"/>
          <a:srcRect l="41955" r="9372"/>
          <a:stretch/>
        </p:blipFill>
        <p:spPr>
          <a:xfrm>
            <a:off x="4697640" y="0"/>
            <a:ext cx="4440600" cy="5140080"/>
          </a:xfrm>
          <a:prstGeom prst="rect">
            <a:avLst/>
          </a:prstGeom>
          <a:noFill/>
          <a:ln w="0">
            <a:noFill/>
          </a:ln>
        </p:spPr>
      </p:pic>
      <p:sp>
        <p:nvSpPr>
          <p:cNvPr id="18" name="Shape 2"/>
          <p:cNvSpPr/>
          <p:nvPr/>
        </p:nvSpPr>
        <p:spPr>
          <a:xfrm>
            <a:off x="4526280" y="0"/>
            <a:ext cx="167760" cy="5140440"/>
          </a:xfrm>
          <a:prstGeom prst="rect">
            <a:avLst/>
          </a:prstGeom>
          <a:solidFill>
            <a:srgbClr val="C99700"/>
          </a:solidFill>
          <a:ln w="12600">
            <a:solidFill>
              <a:srgbClr val="C99700"/>
            </a:solidFill>
            <a:round/>
          </a:ln>
        </p:spPr>
        <p:style>
          <a:lnRef idx="0">
            <a:scrgbClr r="0" g="0" b="0"/>
          </a:lnRef>
          <a:fillRef idx="0">
            <a:scrgbClr r="0" g="0" b="0"/>
          </a:fillRef>
          <a:effectRef idx="0">
            <a:scrgbClr r="0" g="0" b="0"/>
          </a:effectRef>
          <a:fontRef idx="minor"/>
        </p:style>
        <p:txBody>
          <a:bodyPr lIns="83880" tIns="45000" rIns="83880" bIns="45000" anchor="t">
            <a:noAutofit/>
          </a:bodyPr>
          <a:lstStyle/>
          <a:p>
            <a:endParaRPr lang="en-US" sz="1800" b="0" u="none" strike="noStrike">
              <a:solidFill>
                <a:srgbClr val="000000"/>
              </a:solidFill>
              <a:effectLst/>
              <a:uFillTx/>
              <a:latin typeface="Arial"/>
            </a:endParaRPr>
          </a:p>
        </p:txBody>
      </p:sp>
      <p:sp>
        <p:nvSpPr>
          <p:cNvPr id="19" name="Text 38"/>
          <p:cNvSpPr/>
          <p:nvPr/>
        </p:nvSpPr>
        <p:spPr>
          <a:xfrm>
            <a:off x="493920" y="493560"/>
            <a:ext cx="1573920" cy="16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fontScale="92500" lnSpcReduction="19999"/>
          </a:bodyPr>
          <a:lstStyle/>
          <a:p>
            <a:pPr defTabSz="914400">
              <a:lnSpc>
                <a:spcPct val="100000"/>
              </a:lnSpc>
              <a:tabLst>
                <a:tab pos="0" algn="l"/>
              </a:tabLst>
            </a:pPr>
            <a:r>
              <a:rPr lang="en-US" sz="1400" b="1" u="none" strike="noStrike">
                <a:solidFill>
                  <a:srgbClr val="C99700"/>
                </a:solidFill>
                <a:effectLst/>
                <a:uFillTx/>
                <a:latin typeface="Aptos"/>
                <a:ea typeface="DejaVu Sans"/>
              </a:rPr>
              <a:t>COMP 469</a:t>
            </a:r>
            <a:endParaRPr lang="en-US" sz="1400" b="0" u="none" strike="noStrike">
              <a:solidFill>
                <a:srgbClr val="FFFFFF"/>
              </a:solidFill>
              <a:effectLst/>
              <a:uFillTx/>
              <a:latin typeface="Arial"/>
            </a:endParaRPr>
          </a:p>
        </p:txBody>
      </p:sp>
      <p:sp>
        <p:nvSpPr>
          <p:cNvPr id="20" name="Text 40"/>
          <p:cNvSpPr/>
          <p:nvPr/>
        </p:nvSpPr>
        <p:spPr>
          <a:xfrm>
            <a:off x="479880" y="925560"/>
            <a:ext cx="3802680" cy="991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fontScale="92500" lnSpcReduction="19999"/>
          </a:bodyPr>
          <a:lstStyle/>
          <a:p>
            <a:pPr defTabSz="914400">
              <a:lnSpc>
                <a:spcPct val="100000"/>
              </a:lnSpc>
              <a:tabLst>
                <a:tab pos="0" algn="l"/>
              </a:tabLst>
            </a:pPr>
            <a:r>
              <a:rPr lang="en-US" sz="4200" b="1" u="none" strike="noStrike">
                <a:solidFill>
                  <a:srgbClr val="FFFFFF"/>
                </a:solidFill>
                <a:effectLst/>
                <a:uFillTx/>
                <a:latin typeface="Aptos"/>
                <a:ea typeface="DejaVu Sans"/>
              </a:rPr>
              <a:t>AI Agents</a:t>
            </a:r>
            <a:endParaRPr lang="en-US" sz="4200" b="0" u="none" strike="noStrike">
              <a:solidFill>
                <a:srgbClr val="FFFFFF"/>
              </a:solidFill>
              <a:effectLst/>
              <a:uFillTx/>
              <a:latin typeface="Arial"/>
            </a:endParaRPr>
          </a:p>
          <a:p>
            <a:pPr defTabSz="914400">
              <a:lnSpc>
                <a:spcPct val="100000"/>
              </a:lnSpc>
              <a:tabLst>
                <a:tab pos="0" algn="l"/>
              </a:tabLst>
            </a:pPr>
            <a:r>
              <a:rPr lang="en-US" sz="4200" b="1" u="none" strike="noStrike">
                <a:solidFill>
                  <a:srgbClr val="FFFFFF"/>
                </a:solidFill>
                <a:effectLst/>
                <a:uFillTx/>
                <a:latin typeface="Aptos"/>
                <a:ea typeface="DejaVu Sans"/>
              </a:rPr>
              <a:t>and Foundations</a:t>
            </a:r>
            <a:endParaRPr lang="en-US" sz="4200" b="0" u="none" strike="noStrike">
              <a:solidFill>
                <a:srgbClr val="FFFFFF"/>
              </a:solidFill>
              <a:effectLst/>
              <a:uFillTx/>
              <a:latin typeface="Arial"/>
            </a:endParaRPr>
          </a:p>
        </p:txBody>
      </p:sp>
      <p:sp>
        <p:nvSpPr>
          <p:cNvPr id="21" name="Text 41"/>
          <p:cNvSpPr/>
          <p:nvPr/>
        </p:nvSpPr>
        <p:spPr>
          <a:xfrm>
            <a:off x="493920" y="2160000"/>
            <a:ext cx="3768480" cy="236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fontScale="92500" lnSpcReduction="10000"/>
          </a:bodyPr>
          <a:lstStyle/>
          <a:p>
            <a:endParaRPr lang="en-US" sz="1800" b="0" u="none" strike="noStrike">
              <a:solidFill>
                <a:srgbClr val="FFFFFF"/>
              </a:solidFill>
              <a:effectLst/>
              <a:uFillTx/>
              <a:latin typeface="Arial"/>
            </a:endParaRPr>
          </a:p>
        </p:txBody>
      </p:sp>
      <p:sp>
        <p:nvSpPr>
          <p:cNvPr id="22" name="Shape 25"/>
          <p:cNvSpPr/>
          <p:nvPr/>
        </p:nvSpPr>
        <p:spPr>
          <a:xfrm>
            <a:off x="493920" y="2880360"/>
            <a:ext cx="3528360" cy="648000"/>
          </a:xfrm>
          <a:prstGeom prst="roundRect">
            <a:avLst>
              <a:gd name="adj" fmla="val 12632"/>
            </a:avLst>
          </a:prstGeom>
          <a:solidFill>
            <a:srgbClr val="123B5A"/>
          </a:solidFill>
          <a:ln w="15120">
            <a:solidFill>
              <a:srgbClr val="C997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 name="Text 42"/>
          <p:cNvSpPr/>
          <p:nvPr/>
        </p:nvSpPr>
        <p:spPr>
          <a:xfrm>
            <a:off x="644760" y="3017520"/>
            <a:ext cx="3226680" cy="407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20000"/>
          </a:bodyPr>
          <a:lstStyle/>
          <a:p>
            <a:pPr algn="ctr" defTabSz="914400">
              <a:lnSpc>
                <a:spcPct val="100000"/>
              </a:lnSpc>
              <a:tabLst>
                <a:tab pos="0" algn="l"/>
              </a:tabLst>
            </a:pPr>
            <a:r>
              <a:rPr lang="en-US" sz="1600" b="1" u="none" strike="noStrike">
                <a:solidFill>
                  <a:srgbClr val="FFFFFF"/>
                </a:solidFill>
                <a:effectLst/>
                <a:uFillTx/>
                <a:latin typeface="Aptos"/>
                <a:ea typeface="DejaVu Sans"/>
              </a:rPr>
              <a:t>Week 1: define intelligence, build agent vocabulary, and prepare for the grid-world lab.</a:t>
            </a:r>
            <a:endParaRPr lang="en-US" sz="1600" b="0" u="none" strike="noStrike">
              <a:solidFill>
                <a:srgbClr val="FFFFFF"/>
              </a:solidFill>
              <a:effectLst/>
              <a:uFillTx/>
              <a:latin typeface="Arial"/>
            </a:endParaRPr>
          </a:p>
        </p:txBody>
      </p:sp>
      <p:sp>
        <p:nvSpPr>
          <p:cNvPr id="24" name="Text 43"/>
          <p:cNvSpPr/>
          <p:nvPr/>
        </p:nvSpPr>
        <p:spPr>
          <a:xfrm>
            <a:off x="377280" y="4903560"/>
            <a:ext cx="3974040" cy="13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67085"/>
                </a:solidFill>
                <a:effectLst/>
                <a:uFillTx/>
                <a:latin typeface="Aptos"/>
                <a:ea typeface="DejaVu Sans"/>
              </a:rPr>
              <a:t>COMP 469 | CSU Channel Islands</a:t>
            </a:r>
            <a:endParaRPr lang="en-US" sz="850" b="0" u="none" strike="noStrike">
              <a:solidFill>
                <a:srgbClr val="FFFFFF"/>
              </a:solidFill>
              <a:effectLst/>
              <a:uFillTx/>
              <a:latin typeface="Arial"/>
            </a:endParaRPr>
          </a:p>
        </p:txBody>
      </p:sp>
      <p:sp>
        <p:nvSpPr>
          <p:cNvPr id="25" name="Text 44"/>
          <p:cNvSpPr/>
          <p:nvPr/>
        </p:nvSpPr>
        <p:spPr>
          <a:xfrm>
            <a:off x="8332560" y="4883040"/>
            <a:ext cx="373680" cy="13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667085"/>
                </a:solidFill>
                <a:effectLst/>
                <a:uFillTx/>
                <a:latin typeface="Aptos"/>
                <a:ea typeface="DejaVu Sans"/>
              </a:rPr>
              <a:t>01</a:t>
            </a:r>
            <a:endParaRPr lang="en-US" sz="85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B5B"/>
        </a:solidFill>
        <a:effectLst/>
      </p:bgPr>
    </p:bg>
    <p:spTree>
      <p:nvGrpSpPr>
        <p:cNvPr id="1" name=""/>
        <p:cNvGrpSpPr/>
        <p:nvPr/>
      </p:nvGrpSpPr>
      <p:grpSpPr>
        <a:xfrm>
          <a:off x="0" y="0"/>
          <a:ext cx="0" cy="0"/>
          <a:chOff x="0" y="0"/>
          <a:chExt cx="0" cy="0"/>
        </a:xfrm>
      </p:grpSpPr>
      <p:sp>
        <p:nvSpPr>
          <p:cNvPr id="26" name="Shape 0"/>
          <p:cNvSpPr/>
          <p:nvPr/>
        </p:nvSpPr>
        <p:spPr>
          <a:xfrm>
            <a:off x="0" y="0"/>
            <a:ext cx="160920" cy="51400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80640" tIns="45000" rIns="80640" bIns="45000" anchor="t">
            <a:noAutofit/>
          </a:bodyPr>
          <a:lstStyle/>
          <a:p>
            <a:endParaRPr lang="en-US" sz="1800" b="0" u="none" strike="noStrike">
              <a:solidFill>
                <a:srgbClr val="000000"/>
              </a:solidFill>
              <a:effectLst/>
              <a:uFillTx/>
              <a:latin typeface="Arial"/>
            </a:endParaRPr>
          </a:p>
        </p:txBody>
      </p:sp>
      <p:sp>
        <p:nvSpPr>
          <p:cNvPr id="27" name="Shape 1"/>
          <p:cNvSpPr/>
          <p:nvPr/>
        </p:nvSpPr>
        <p:spPr>
          <a:xfrm>
            <a:off x="164520" y="4389120"/>
            <a:ext cx="8975880" cy="750960"/>
          </a:xfrm>
          <a:prstGeom prst="rect">
            <a:avLst/>
          </a:prstGeom>
          <a:solidFill>
            <a:srgbClr val="0D1B36"/>
          </a:solidFill>
          <a:ln w="12700">
            <a:solidFill>
              <a:srgbClr val="0D1B3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 name="Text 2"/>
          <p:cNvSpPr/>
          <p:nvPr/>
        </p:nvSpPr>
        <p:spPr>
          <a:xfrm>
            <a:off x="457200" y="914400"/>
            <a:ext cx="8226000" cy="164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800" b="1" u="none" strike="noStrike">
                <a:solidFill>
                  <a:srgbClr val="FFFFFF"/>
                </a:solidFill>
                <a:effectLst/>
                <a:uFillTx/>
                <a:latin typeface="Calibri"/>
                <a:ea typeface="Calibri"/>
              </a:rPr>
              <a:t>Chapters 1: Introduction to AI</a:t>
            </a:r>
            <a:endParaRPr lang="en-US" sz="3800" b="0" u="none" strike="noStrike">
              <a:solidFill>
                <a:srgbClr val="FFFFFF"/>
              </a:solidFill>
              <a:effectLst/>
              <a:uFillTx/>
              <a:latin typeface="Arial"/>
            </a:endParaRPr>
          </a:p>
        </p:txBody>
      </p:sp>
      <p:sp>
        <p:nvSpPr>
          <p:cNvPr id="29" name="Text 3"/>
          <p:cNvSpPr/>
          <p:nvPr/>
        </p:nvSpPr>
        <p:spPr>
          <a:xfrm>
            <a:off x="457200" y="2651760"/>
            <a:ext cx="8226000" cy="59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900" b="0" u="none" strike="noStrike">
                <a:solidFill>
                  <a:srgbClr val="CBD5E1"/>
                </a:solidFill>
                <a:effectLst/>
                <a:uFillTx/>
                <a:latin typeface="Calibri"/>
                <a:ea typeface="Calibri"/>
              </a:rPr>
              <a:t>Russell &amp; Norvig · Artificial Intelligence: A Modern Approach (4th ed.)</a:t>
            </a:r>
            <a:endParaRPr lang="en-US" sz="1900" b="0" u="none" strike="noStrike">
              <a:solidFill>
                <a:srgbClr val="FFFFFF"/>
              </a:solidFill>
              <a:effectLst/>
              <a:uFillTx/>
              <a:latin typeface="Arial"/>
            </a:endParaRPr>
          </a:p>
        </p:txBody>
      </p:sp>
      <p:sp>
        <p:nvSpPr>
          <p:cNvPr id="30" name="Text 4"/>
          <p:cNvSpPr/>
          <p:nvPr/>
        </p:nvSpPr>
        <p:spPr>
          <a:xfrm>
            <a:off x="457200" y="4480560"/>
            <a:ext cx="822600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u="none" strike="noStrike">
                <a:solidFill>
                  <a:srgbClr val="CBD5E1"/>
                </a:solidFill>
                <a:effectLst/>
                <a:uFillTx/>
                <a:latin typeface="Calibri"/>
                <a:ea typeface="Calibri"/>
              </a:rPr>
              <a:t>COMP 469 – Artificial Intelligence  |  CSU Channel Islands  |  Two-Hour Lecture</a:t>
            </a:r>
            <a:endParaRPr lang="en-US" sz="1200" b="0" u="none" strike="noStrike">
              <a:solidFill>
                <a:srgbClr val="FFFFFF"/>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31"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33"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FFFFFF"/>
                </a:solidFill>
                <a:effectLst/>
                <a:uFillTx/>
                <a:latin typeface="Calibri"/>
                <a:ea typeface="Calibri"/>
              </a:rPr>
              <a:t>What Is AI in the movies?</a:t>
            </a:r>
            <a:endParaRPr lang="en-US" sz="2200" b="0" u="none" strike="noStrike">
              <a:solidFill>
                <a:srgbClr val="000000"/>
              </a:solidFill>
              <a:effectLst/>
              <a:uFillTx/>
              <a:latin typeface="Arial"/>
            </a:endParaRPr>
          </a:p>
        </p:txBody>
      </p:sp>
      <p:pic>
        <p:nvPicPr>
          <p:cNvPr id="34" name="Picture 33"/>
          <p:cNvPicPr/>
          <p:nvPr/>
        </p:nvPicPr>
        <p:blipFill>
          <a:blip r:embed="rId3"/>
          <a:stretch/>
        </p:blipFill>
        <p:spPr>
          <a:xfrm>
            <a:off x="169200" y="1047600"/>
            <a:ext cx="2833920" cy="2969640"/>
          </a:xfrm>
          <a:prstGeom prst="rect">
            <a:avLst/>
          </a:prstGeom>
          <a:noFill/>
          <a:ln w="0">
            <a:noFill/>
          </a:ln>
        </p:spPr>
      </p:pic>
      <p:sp>
        <p:nvSpPr>
          <p:cNvPr id="35" name="Rectangle 34"/>
          <p:cNvSpPr/>
          <p:nvPr/>
        </p:nvSpPr>
        <p:spPr>
          <a:xfrm>
            <a:off x="1312200" y="4094280"/>
            <a:ext cx="8024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u="none" strike="noStrike">
                <a:solidFill>
                  <a:srgbClr val="002B49"/>
                </a:solidFill>
                <a:effectLst/>
                <a:uFillTx/>
                <a:latin typeface="Arial"/>
              </a:rPr>
              <a:t>3CPO</a:t>
            </a:r>
            <a:endParaRPr lang="en-US" sz="1800" b="0" u="none" strike="noStrike">
              <a:solidFill>
                <a:srgbClr val="000000"/>
              </a:solidFill>
              <a:effectLst/>
              <a:uFillTx/>
              <a:latin typeface="Arial"/>
            </a:endParaRPr>
          </a:p>
        </p:txBody>
      </p:sp>
      <p:pic>
        <p:nvPicPr>
          <p:cNvPr id="36" name="Picture 35"/>
          <p:cNvPicPr/>
          <p:nvPr/>
        </p:nvPicPr>
        <p:blipFill>
          <a:blip r:embed="rId4"/>
          <a:stretch/>
        </p:blipFill>
        <p:spPr>
          <a:xfrm>
            <a:off x="3147840" y="1047600"/>
            <a:ext cx="2975400" cy="1672560"/>
          </a:xfrm>
          <a:prstGeom prst="rect">
            <a:avLst/>
          </a:prstGeom>
          <a:noFill/>
          <a:ln w="0">
            <a:noFill/>
          </a:ln>
        </p:spPr>
      </p:pic>
      <p:sp>
        <p:nvSpPr>
          <p:cNvPr id="37" name="Rectangle 36"/>
          <p:cNvSpPr/>
          <p:nvPr/>
        </p:nvSpPr>
        <p:spPr>
          <a:xfrm>
            <a:off x="4428000" y="2840400"/>
            <a:ext cx="7646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u="none" strike="noStrike">
                <a:solidFill>
                  <a:srgbClr val="002B49"/>
                </a:solidFill>
                <a:effectLst/>
                <a:uFillTx/>
                <a:latin typeface="Arial"/>
              </a:rPr>
              <a:t>T-800</a:t>
            </a:r>
            <a:endParaRPr lang="en-US" sz="1800" b="0" u="none" strike="noStrike">
              <a:solidFill>
                <a:srgbClr val="000000"/>
              </a:solidFill>
              <a:effectLst/>
              <a:uFillTx/>
              <a:latin typeface="Arial"/>
            </a:endParaRPr>
          </a:p>
        </p:txBody>
      </p:sp>
      <p:pic>
        <p:nvPicPr>
          <p:cNvPr id="38" name="Picture 37"/>
          <p:cNvPicPr/>
          <p:nvPr/>
        </p:nvPicPr>
        <p:blipFill>
          <a:blip r:embed="rId5"/>
          <a:srcRect r="41555"/>
          <a:stretch/>
        </p:blipFill>
        <p:spPr>
          <a:xfrm>
            <a:off x="6208200" y="1047600"/>
            <a:ext cx="2842920" cy="2432160"/>
          </a:xfrm>
          <a:prstGeom prst="rect">
            <a:avLst/>
          </a:prstGeom>
          <a:noFill/>
          <a:ln w="0">
            <a:noFill/>
          </a:ln>
        </p:spPr>
      </p:pic>
      <p:sp>
        <p:nvSpPr>
          <p:cNvPr id="39" name="Rectangle 38"/>
          <p:cNvSpPr/>
          <p:nvPr/>
        </p:nvSpPr>
        <p:spPr>
          <a:xfrm>
            <a:off x="7086600" y="3526200"/>
            <a:ext cx="14252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u="none" strike="noStrike">
                <a:solidFill>
                  <a:srgbClr val="002B49"/>
                </a:solidFill>
                <a:effectLst/>
                <a:uFillTx/>
                <a:latin typeface="Arial"/>
              </a:rPr>
              <a:t>Agent Smith</a:t>
            </a:r>
            <a:endParaRPr lang="en-US" sz="1800" b="0" u="none" strike="noStrike">
              <a:solidFill>
                <a:srgbClr val="000000"/>
              </a:solidFill>
              <a:effectLst/>
              <a:uFillTx/>
              <a:latin typeface="Arial"/>
            </a:endParaRPr>
          </a:p>
        </p:txBody>
      </p:sp>
      <p:pic>
        <p:nvPicPr>
          <p:cNvPr id="40" name="Picture 39"/>
          <p:cNvPicPr/>
          <p:nvPr/>
        </p:nvPicPr>
        <p:blipFill>
          <a:blip r:embed="rId6"/>
          <a:stretch/>
        </p:blipFill>
        <p:spPr>
          <a:xfrm>
            <a:off x="3272400" y="3200400"/>
            <a:ext cx="2741760" cy="1826640"/>
          </a:xfrm>
          <a:prstGeom prst="rect">
            <a:avLst/>
          </a:prstGeom>
          <a:noFill/>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27"/>
          <p:cNvSpPr/>
          <p:nvPr/>
        </p:nvSpPr>
        <p:spPr>
          <a:xfrm>
            <a:off x="1440" y="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 name="Shape 35"/>
          <p:cNvSpPr/>
          <p:nvPr/>
        </p:nvSpPr>
        <p:spPr>
          <a:xfrm>
            <a:off x="0" y="77580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pic>
        <p:nvPicPr>
          <p:cNvPr id="43" name="Picture 42"/>
          <p:cNvPicPr/>
          <p:nvPr/>
        </p:nvPicPr>
        <p:blipFill>
          <a:blip r:embed="rId3"/>
          <a:stretch/>
        </p:blipFill>
        <p:spPr>
          <a:xfrm>
            <a:off x="77040" y="914400"/>
            <a:ext cx="3807000" cy="3556080"/>
          </a:xfrm>
          <a:prstGeom prst="rect">
            <a:avLst/>
          </a:prstGeom>
          <a:noFill/>
          <a:ln w="0">
            <a:noFill/>
          </a:ln>
        </p:spPr>
      </p:pic>
      <p:sp>
        <p:nvSpPr>
          <p:cNvPr id="44" name="Rectangle 43"/>
          <p:cNvSpPr/>
          <p:nvPr/>
        </p:nvSpPr>
        <p:spPr>
          <a:xfrm>
            <a:off x="222480" y="156600"/>
            <a:ext cx="1917360" cy="4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200" b="1" u="none" strike="noStrike">
                <a:solidFill>
                  <a:srgbClr val="FFFFFF"/>
                </a:solidFill>
                <a:effectLst/>
                <a:uFillTx/>
                <a:latin typeface="Calibri"/>
                <a:ea typeface="Calibri"/>
              </a:rPr>
              <a:t>News in AI?</a:t>
            </a:r>
            <a:endParaRPr lang="en-US" sz="2200" b="0" u="none" strike="noStrike">
              <a:solidFill>
                <a:srgbClr val="000000"/>
              </a:solidFill>
              <a:effectLst/>
              <a:uFillTx/>
              <a:latin typeface="Arial"/>
            </a:endParaRPr>
          </a:p>
        </p:txBody>
      </p:sp>
      <p:pic>
        <p:nvPicPr>
          <p:cNvPr id="45" name="Picture 44"/>
          <p:cNvPicPr/>
          <p:nvPr/>
        </p:nvPicPr>
        <p:blipFill>
          <a:blip r:embed="rId4"/>
          <a:stretch/>
        </p:blipFill>
        <p:spPr>
          <a:xfrm>
            <a:off x="3886200" y="957600"/>
            <a:ext cx="3472560" cy="3840840"/>
          </a:xfrm>
          <a:prstGeom prst="rect">
            <a:avLst/>
          </a:prstGeom>
          <a:noFill/>
          <a:ln w="0">
            <a:noFill/>
          </a:ln>
        </p:spPr>
      </p:pic>
      <p:pic>
        <p:nvPicPr>
          <p:cNvPr id="46" name="Picture 45"/>
          <p:cNvPicPr/>
          <p:nvPr/>
        </p:nvPicPr>
        <p:blipFill>
          <a:blip r:embed="rId5"/>
          <a:stretch/>
        </p:blipFill>
        <p:spPr>
          <a:xfrm>
            <a:off x="228600" y="3886200"/>
            <a:ext cx="8227440" cy="968400"/>
          </a:xfrm>
          <a:prstGeom prst="rect">
            <a:avLst/>
          </a:prstGeom>
          <a:noFill/>
          <a:ln w="0">
            <a:noFill/>
          </a:ln>
        </p:spPr>
      </p:pic>
      <p:pic>
        <p:nvPicPr>
          <p:cNvPr id="47" name="Picture 46"/>
          <p:cNvPicPr/>
          <p:nvPr/>
        </p:nvPicPr>
        <p:blipFill>
          <a:blip r:embed="rId6"/>
          <a:stretch/>
        </p:blipFill>
        <p:spPr>
          <a:xfrm>
            <a:off x="1143000" y="957600"/>
            <a:ext cx="5590440" cy="3825360"/>
          </a:xfrm>
          <a:prstGeom prst="rect">
            <a:avLst/>
          </a:prstGeom>
          <a:noFill/>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48" name="Shape 4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9" name="Shape 42"/>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0" name="Text 45"/>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spcBef>
                <a:spcPts val="1191"/>
              </a:spcBef>
              <a:spcAft>
                <a:spcPts val="992"/>
              </a:spcAft>
              <a:tabLst>
                <a:tab pos="0" algn="l"/>
              </a:tabLst>
            </a:pPr>
            <a:r>
              <a:rPr lang="en-US" sz="2200" b="1" u="none" strike="noStrike" dirty="0">
                <a:solidFill>
                  <a:srgbClr val="FFFFFF"/>
                </a:solidFill>
                <a:effectLst/>
                <a:uFillTx/>
                <a:latin typeface="Calibri"/>
                <a:ea typeface="Calibri"/>
              </a:rPr>
              <a:t>1.1 What Is AI? </a:t>
            </a:r>
            <a:r>
              <a:rPr lang="en-US" sz="2200" b="0" u="none" strike="noStrike" dirty="0">
                <a:solidFill>
                  <a:srgbClr val="FFFFFF"/>
                </a:solidFill>
                <a:effectLst/>
                <a:uFillTx/>
                <a:latin typeface="Arial"/>
                <a:ea typeface="Calibri"/>
              </a:rPr>
              <a:t>Thinking Rationally: The Laws of Thought</a:t>
            </a:r>
            <a:endParaRPr lang="en-US" sz="2200" b="0" u="none" strike="noStrike" dirty="0">
              <a:solidFill>
                <a:srgbClr val="000000"/>
              </a:solidFill>
              <a:effectLst/>
              <a:uFillTx/>
              <a:latin typeface="Arial"/>
            </a:endParaRPr>
          </a:p>
        </p:txBody>
      </p:sp>
      <p:sp>
        <p:nvSpPr>
          <p:cNvPr id="51" name="Text 46"/>
          <p:cNvSpPr/>
          <p:nvPr/>
        </p:nvSpPr>
        <p:spPr>
          <a:xfrm>
            <a:off x="365760" y="960120"/>
            <a:ext cx="8408880" cy="39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 name="Rectangle 51"/>
          <p:cNvSpPr/>
          <p:nvPr/>
        </p:nvSpPr>
        <p:spPr>
          <a:xfrm>
            <a:off x="2971800" y="1371600"/>
            <a:ext cx="5916240" cy="2770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200" b="0" u="none" strike="noStrike">
                <a:solidFill>
                  <a:srgbClr val="000000"/>
                </a:solidFill>
                <a:effectLst/>
                <a:uFillTx/>
                <a:latin typeface="Arial"/>
              </a:rPr>
              <a:t>AI uses formal rules of logic to produce correct conclusions.</a:t>
            </a:r>
          </a:p>
          <a:p>
            <a:pPr marL="360000" indent="-216000">
              <a:lnSpc>
                <a:spcPct val="100000"/>
              </a:lnSpc>
              <a:buClr>
                <a:srgbClr val="000000"/>
              </a:buClr>
              <a:buFont typeface="Wingdings" charset="2"/>
              <a:buChar char=""/>
            </a:pPr>
            <a:r>
              <a:rPr lang="en-US" sz="2200" b="0" u="none" strike="noStrike">
                <a:solidFill>
                  <a:srgbClr val="000000"/>
                </a:solidFill>
                <a:effectLst/>
                <a:uFillTx/>
                <a:latin typeface="Arial"/>
              </a:rPr>
              <a:t>Encode knowledge as logical statements </a:t>
            </a:r>
          </a:p>
          <a:p>
            <a:pPr marL="360000" indent="-216000">
              <a:lnSpc>
                <a:spcPct val="100000"/>
              </a:lnSpc>
              <a:buClr>
                <a:srgbClr val="000000"/>
              </a:buClr>
              <a:buFont typeface="Wingdings" charset="2"/>
              <a:buChar char=""/>
            </a:pPr>
            <a:r>
              <a:rPr lang="en-US" sz="2200" b="0" u="none" strike="noStrike">
                <a:solidFill>
                  <a:srgbClr val="000000"/>
                </a:solidFill>
                <a:effectLst/>
                <a:uFillTx/>
                <a:latin typeface="Arial"/>
              </a:rPr>
              <a:t>Apply rules of inference </a:t>
            </a:r>
          </a:p>
          <a:p>
            <a:pPr marL="360000" indent="-216000">
              <a:lnSpc>
                <a:spcPct val="100000"/>
              </a:lnSpc>
              <a:buClr>
                <a:srgbClr val="000000"/>
              </a:buClr>
              <a:buFont typeface="Wingdings" charset="2"/>
              <a:buChar char=""/>
            </a:pPr>
            <a:r>
              <a:rPr lang="en-US" sz="2200" b="0" u="none" strike="noStrike">
                <a:solidFill>
                  <a:srgbClr val="000000"/>
                </a:solidFill>
                <a:effectLst/>
                <a:uFillTx/>
                <a:latin typeface="Arial"/>
              </a:rPr>
              <a:t>Automate deduction with theorem provers </a:t>
            </a:r>
          </a:p>
          <a:p>
            <a:pPr marL="360000" indent="-216000">
              <a:lnSpc>
                <a:spcPct val="100000"/>
              </a:lnSpc>
              <a:buClr>
                <a:srgbClr val="000000"/>
              </a:buClr>
              <a:buFont typeface="Wingdings" charset="2"/>
              <a:buChar char=""/>
            </a:pPr>
            <a:r>
              <a:rPr lang="en-US" sz="2200" b="0" u="none" strike="noStrike">
                <a:solidFill>
                  <a:srgbClr val="000000"/>
                </a:solidFill>
                <a:effectLst/>
                <a:uFillTx/>
                <a:latin typeface="Arial"/>
              </a:rPr>
              <a:t>Use conclusions to guide behavior </a:t>
            </a:r>
          </a:p>
          <a:p>
            <a:pPr>
              <a:lnSpc>
                <a:spcPct val="100000"/>
              </a:lnSpc>
            </a:pPr>
            <a:r>
              <a:rPr lang="en-US" sz="2200" b="1" u="none" strike="noStrike">
                <a:solidFill>
                  <a:srgbClr val="000000"/>
                </a:solidFill>
                <a:effectLst/>
                <a:uFillTx/>
                <a:latin typeface="Arial"/>
              </a:rPr>
              <a:t>Reason correctly using logic</a:t>
            </a:r>
            <a:endParaRPr lang="en-US" sz="2200" b="0" u="none" strike="noStrike">
              <a:solidFill>
                <a:srgbClr val="000000"/>
              </a:solidFill>
              <a:effectLst/>
              <a:uFillTx/>
              <a:latin typeface="Arial"/>
            </a:endParaRPr>
          </a:p>
          <a:p>
            <a:pPr>
              <a:lnSpc>
                <a:spcPct val="100000"/>
              </a:lnSpc>
            </a:pPr>
            <a:endParaRPr lang="en-US" sz="2200" b="0" u="none" strike="noStrike">
              <a:solidFill>
                <a:srgbClr val="000000"/>
              </a:solidFill>
              <a:effectLst/>
              <a:uFillTx/>
              <a:latin typeface="Arial"/>
            </a:endParaRPr>
          </a:p>
        </p:txBody>
      </p:sp>
      <p:sp>
        <p:nvSpPr>
          <p:cNvPr id="53" name="Rectangle 52"/>
          <p:cNvSpPr/>
          <p:nvPr/>
        </p:nvSpPr>
        <p:spPr>
          <a:xfrm>
            <a:off x="2683800" y="156600"/>
            <a:ext cx="5605560" cy="42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191"/>
              </a:spcBef>
              <a:spcAft>
                <a:spcPts val="992"/>
              </a:spcAft>
            </a:pPr>
            <a:endParaRPr lang="en-US" sz="1800" b="0" u="none" strike="noStrike">
              <a:solidFill>
                <a:srgbClr val="000000"/>
              </a:solidFill>
              <a:effectLst/>
              <a:uFillTx/>
              <a:latin typeface="Arial"/>
            </a:endParaRPr>
          </a:p>
        </p:txBody>
      </p:sp>
      <p:pic>
        <p:nvPicPr>
          <p:cNvPr id="54" name="Picture 53"/>
          <p:cNvPicPr/>
          <p:nvPr/>
        </p:nvPicPr>
        <p:blipFill>
          <a:blip r:embed="rId3"/>
          <a:stretch/>
        </p:blipFill>
        <p:spPr>
          <a:xfrm>
            <a:off x="228600" y="1600200"/>
            <a:ext cx="2596680" cy="3240360"/>
          </a:xfrm>
          <a:prstGeom prst="rect">
            <a:avLst/>
          </a:prstGeom>
          <a:noFill/>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55" name="Shape 15"/>
          <p:cNvSpPr/>
          <p:nvPr/>
        </p:nvSpPr>
        <p:spPr>
          <a:xfrm>
            <a:off x="2160" y="-8928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 name="Shape 17"/>
          <p:cNvSpPr/>
          <p:nvPr/>
        </p:nvSpPr>
        <p:spPr>
          <a:xfrm>
            <a:off x="0" y="669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7" name="Text 16"/>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spcBef>
                <a:spcPts val="1191"/>
              </a:spcBef>
              <a:spcAft>
                <a:spcPts val="992"/>
              </a:spcAft>
              <a:tabLst>
                <a:tab pos="0" algn="l"/>
              </a:tabLst>
            </a:pPr>
            <a:r>
              <a:rPr lang="en-US" sz="2200" b="1" u="none" strike="noStrike" dirty="0">
                <a:solidFill>
                  <a:srgbClr val="FFFFFF"/>
                </a:solidFill>
                <a:effectLst/>
                <a:uFillTx/>
                <a:latin typeface="Calibri"/>
                <a:ea typeface="Calibri"/>
              </a:rPr>
              <a:t>1.1 What Is AI? Thinking Humanly: Cognitive Modeling</a:t>
            </a:r>
            <a:endParaRPr lang="en-US" sz="2200" b="0" u="none" strike="noStrike" dirty="0">
              <a:solidFill>
                <a:srgbClr val="000000"/>
              </a:solidFill>
              <a:effectLst/>
              <a:uFillTx/>
              <a:latin typeface="Arial"/>
            </a:endParaRPr>
          </a:p>
        </p:txBody>
      </p:sp>
      <p:sp>
        <p:nvSpPr>
          <p:cNvPr id="58" name="Text 24"/>
          <p:cNvSpPr/>
          <p:nvPr/>
        </p:nvSpPr>
        <p:spPr>
          <a:xfrm>
            <a:off x="365760" y="960120"/>
            <a:ext cx="8408880" cy="39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59" name="Picture 58"/>
          <p:cNvPicPr/>
          <p:nvPr/>
        </p:nvPicPr>
        <p:blipFill>
          <a:blip r:embed="rId3"/>
          <a:stretch/>
        </p:blipFill>
        <p:spPr>
          <a:xfrm>
            <a:off x="2286000" y="2359440"/>
            <a:ext cx="2330280" cy="1864440"/>
          </a:xfrm>
          <a:prstGeom prst="rect">
            <a:avLst/>
          </a:prstGeom>
          <a:noFill/>
          <a:ln w="0">
            <a:noFill/>
          </a:ln>
        </p:spPr>
      </p:pic>
      <p:sp>
        <p:nvSpPr>
          <p:cNvPr id="60" name="Rectangle 59"/>
          <p:cNvSpPr/>
          <p:nvPr/>
        </p:nvSpPr>
        <p:spPr>
          <a:xfrm>
            <a:off x="2514600" y="4343400"/>
            <a:ext cx="18954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u="none" strike="noStrike">
                <a:solidFill>
                  <a:srgbClr val="000000"/>
                </a:solidFill>
                <a:effectLst/>
                <a:uFillTx/>
                <a:latin typeface="Arial"/>
              </a:rPr>
              <a:t>Think like people</a:t>
            </a:r>
          </a:p>
        </p:txBody>
      </p:sp>
      <p:sp>
        <p:nvSpPr>
          <p:cNvPr id="61" name="Rectangle 60"/>
          <p:cNvSpPr/>
          <p:nvPr/>
        </p:nvSpPr>
        <p:spPr>
          <a:xfrm>
            <a:off x="270360" y="961560"/>
            <a:ext cx="8644320" cy="1094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pPr>
            <a:r>
              <a:rPr lang="en-US" sz="2200" b="0" u="none" strike="noStrike">
                <a:solidFill>
                  <a:srgbClr val="000000"/>
                </a:solidFill>
                <a:effectLst/>
                <a:uFillTx/>
                <a:latin typeface="Arial"/>
              </a:rPr>
              <a:t>AI researchers study how people think, reason, and solve problems. </a:t>
            </a:r>
          </a:p>
          <a:p>
            <a:pPr>
              <a:lnSpc>
                <a:spcPct val="100000"/>
              </a:lnSpc>
            </a:pPr>
            <a:r>
              <a:rPr lang="en-US" sz="2200" b="0" u="none" strike="noStrike">
                <a:solidFill>
                  <a:srgbClr val="000000"/>
                </a:solidFill>
                <a:effectLst/>
                <a:uFillTx/>
                <a:latin typeface="Arial"/>
              </a:rPr>
              <a:t>The goal is to build computer models whose reasoning processes</a:t>
            </a:r>
          </a:p>
          <a:p>
            <a:pPr>
              <a:lnSpc>
                <a:spcPct val="100000"/>
              </a:lnSpc>
            </a:pPr>
            <a:r>
              <a:rPr lang="en-US" sz="2200" b="0" u="none" strike="noStrike">
                <a:solidFill>
                  <a:srgbClr val="000000"/>
                </a:solidFill>
                <a:effectLst/>
                <a:uFillTx/>
                <a:latin typeface="Arial"/>
              </a:rPr>
              <a:t>resemble human cognition.</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11"/>
          <p:cNvSpPr/>
          <p:nvPr/>
        </p:nvSpPr>
        <p:spPr>
          <a:xfrm>
            <a:off x="2880" y="1008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 name="Rectangle 62"/>
          <p:cNvSpPr/>
          <p:nvPr/>
        </p:nvSpPr>
        <p:spPr>
          <a:xfrm>
            <a:off x="685800" y="224640"/>
            <a:ext cx="822924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191"/>
              </a:spcBef>
              <a:spcAft>
                <a:spcPts val="992"/>
              </a:spcAft>
            </a:pPr>
            <a:r>
              <a:rPr lang="en-US" sz="1400" b="0" u="none" strike="noStrike" dirty="0">
                <a:solidFill>
                  <a:srgbClr val="FFFFFF"/>
                </a:solidFill>
                <a:effectLst/>
                <a:uFillTx/>
                <a:latin typeface="Arial"/>
              </a:rPr>
              <a:t>1.1.2 — “Thinking Humanly: The Cognitive Modeling Approach.”</a:t>
            </a:r>
            <a:endParaRPr lang="en-US" sz="1400" b="0" u="none" strike="noStrike" dirty="0">
              <a:solidFill>
                <a:srgbClr val="000000"/>
              </a:solidFill>
              <a:effectLst/>
              <a:uFillTx/>
              <a:latin typeface="Arial"/>
            </a:endParaRPr>
          </a:p>
        </p:txBody>
      </p:sp>
      <p:sp>
        <p:nvSpPr>
          <p:cNvPr id="64" name="Shape 19"/>
          <p:cNvSpPr/>
          <p:nvPr/>
        </p:nvSpPr>
        <p:spPr>
          <a:xfrm>
            <a:off x="720" y="76860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65" name="Rectangle 64"/>
          <p:cNvSpPr/>
          <p:nvPr/>
        </p:nvSpPr>
        <p:spPr>
          <a:xfrm>
            <a:off x="426240" y="987120"/>
            <a:ext cx="8488800" cy="231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rPr>
              <a:t>To build systems that think like people, researchers study human thought through:</a:t>
            </a:r>
          </a:p>
          <a:p>
            <a:pPr marL="360000" indent="-216000">
              <a:lnSpc>
                <a:spcPct val="100000"/>
              </a:lnSpc>
              <a:spcBef>
                <a:spcPts val="340"/>
              </a:spcBef>
              <a:spcAft>
                <a:spcPts val="142"/>
              </a:spcAft>
              <a:buClr>
                <a:srgbClr val="000000"/>
              </a:buClr>
              <a:buSzPct val="45000"/>
              <a:buFont typeface="Wingdings" charset="2"/>
              <a:buChar char=""/>
            </a:pPr>
            <a:r>
              <a:rPr lang="en-US" sz="1400" b="1" u="none" strike="noStrike">
                <a:solidFill>
                  <a:srgbClr val="000000"/>
                </a:solidFill>
                <a:effectLst/>
                <a:uFillTx/>
                <a:latin typeface="Arial"/>
              </a:rPr>
              <a:t>Introspection</a:t>
            </a:r>
            <a:endParaRPr lang="en-US" sz="1400" b="0" u="none" strike="noStrike">
              <a:solidFill>
                <a:srgbClr val="000000"/>
              </a:solidFill>
              <a:effectLst/>
              <a:uFillTx/>
              <a:latin typeface="Arial"/>
            </a:endParaRPr>
          </a:p>
          <a:p>
            <a:pPr marL="720000" indent="-216000">
              <a:lnSpc>
                <a:spcPct val="100000"/>
              </a:lnSpc>
              <a:spcBef>
                <a:spcPts val="340"/>
              </a:spcBef>
              <a:spcAft>
                <a:spcPts val="142"/>
              </a:spcAft>
              <a:buClr>
                <a:srgbClr val="000000"/>
              </a:buClr>
              <a:buSzPct val="45000"/>
              <a:buFont typeface="Wingdings" charset="2"/>
              <a:buChar char=""/>
            </a:pPr>
            <a:r>
              <a:rPr lang="en-US" sz="1400" b="0" u="none" strike="noStrike">
                <a:solidFill>
                  <a:srgbClr val="000000"/>
                </a:solidFill>
                <a:effectLst/>
                <a:uFillTx/>
                <a:latin typeface="Arial"/>
              </a:rPr>
              <a:t>Observing our own thoughts as they occur </a:t>
            </a:r>
          </a:p>
          <a:p>
            <a:pPr marL="360000" indent="-216000">
              <a:lnSpc>
                <a:spcPct val="100000"/>
              </a:lnSpc>
              <a:spcBef>
                <a:spcPts val="340"/>
              </a:spcBef>
              <a:spcAft>
                <a:spcPts val="142"/>
              </a:spcAft>
              <a:buClr>
                <a:srgbClr val="000000"/>
              </a:buClr>
              <a:buSzPct val="45000"/>
              <a:buFont typeface="Wingdings" charset="2"/>
              <a:buChar char=""/>
            </a:pPr>
            <a:r>
              <a:rPr lang="en-US" sz="1400" b="1" u="none" strike="noStrike">
                <a:solidFill>
                  <a:srgbClr val="000000"/>
                </a:solidFill>
                <a:effectLst/>
                <a:uFillTx/>
                <a:latin typeface="Arial"/>
              </a:rPr>
              <a:t>Psychological experiments</a:t>
            </a:r>
            <a:endParaRPr lang="en-US" sz="1400" b="0" u="none" strike="noStrike">
              <a:solidFill>
                <a:srgbClr val="000000"/>
              </a:solidFill>
              <a:effectLst/>
              <a:uFillTx/>
              <a:latin typeface="Arial"/>
            </a:endParaRPr>
          </a:p>
          <a:p>
            <a:pPr marL="720000" indent="-216000">
              <a:lnSpc>
                <a:spcPct val="100000"/>
              </a:lnSpc>
              <a:spcBef>
                <a:spcPts val="340"/>
              </a:spcBef>
              <a:spcAft>
                <a:spcPts val="142"/>
              </a:spcAft>
              <a:buClr>
                <a:srgbClr val="000000"/>
              </a:buClr>
              <a:buSzPct val="45000"/>
              <a:buFont typeface="Wingdings" charset="2"/>
              <a:buChar char=""/>
            </a:pPr>
            <a:r>
              <a:rPr lang="en-US" sz="1400" b="0" u="none" strike="noStrike">
                <a:solidFill>
                  <a:srgbClr val="000000"/>
                </a:solidFill>
                <a:effectLst/>
                <a:uFillTx/>
                <a:latin typeface="Arial"/>
              </a:rPr>
              <a:t>Watching how people solve problems and make decisions </a:t>
            </a:r>
          </a:p>
          <a:p>
            <a:pPr marL="360000" indent="-216000">
              <a:lnSpc>
                <a:spcPct val="100000"/>
              </a:lnSpc>
              <a:spcBef>
                <a:spcPts val="340"/>
              </a:spcBef>
              <a:spcAft>
                <a:spcPts val="142"/>
              </a:spcAft>
              <a:buClr>
                <a:srgbClr val="000000"/>
              </a:buClr>
              <a:buSzPct val="45000"/>
              <a:buFont typeface="Wingdings" charset="2"/>
              <a:buChar char=""/>
            </a:pPr>
            <a:r>
              <a:rPr lang="en-US" sz="1400" b="1" u="none" strike="noStrike">
                <a:solidFill>
                  <a:srgbClr val="000000"/>
                </a:solidFill>
                <a:effectLst/>
                <a:uFillTx/>
                <a:latin typeface="Arial"/>
              </a:rPr>
              <a:t>Brain imaging</a:t>
            </a:r>
            <a:endParaRPr lang="en-US" sz="1400" b="0" u="none" strike="noStrike">
              <a:solidFill>
                <a:srgbClr val="000000"/>
              </a:solidFill>
              <a:effectLst/>
              <a:uFillTx/>
              <a:latin typeface="Arial"/>
            </a:endParaRPr>
          </a:p>
          <a:p>
            <a:pPr marL="720000" indent="-216000">
              <a:lnSpc>
                <a:spcPct val="100000"/>
              </a:lnSpc>
              <a:spcBef>
                <a:spcPts val="340"/>
              </a:spcBef>
              <a:spcAft>
                <a:spcPts val="142"/>
              </a:spcAft>
              <a:buClr>
                <a:srgbClr val="000000"/>
              </a:buClr>
              <a:buSzPct val="45000"/>
              <a:buFont typeface="Wingdings" charset="2"/>
              <a:buChar char=""/>
            </a:pPr>
            <a:r>
              <a:rPr lang="en-US" sz="1400" b="0" u="none" strike="noStrike">
                <a:solidFill>
                  <a:srgbClr val="000000"/>
                </a:solidFill>
                <a:effectLst/>
                <a:uFillTx/>
                <a:latin typeface="Arial"/>
              </a:rPr>
              <a:t>Observing brain activity during cognitive tasks </a:t>
            </a:r>
          </a:p>
          <a:p>
            <a:pPr>
              <a:lnSpc>
                <a:spcPct val="100000"/>
              </a:lnSpc>
            </a:pPr>
            <a:r>
              <a:rPr lang="en-US" sz="1400" b="1" u="none" strike="noStrike">
                <a:solidFill>
                  <a:srgbClr val="000000"/>
                </a:solidFill>
                <a:effectLst/>
                <a:uFillTx/>
                <a:latin typeface="Arial"/>
              </a:rPr>
              <a:t>Goal</a:t>
            </a:r>
            <a:r>
              <a:rPr lang="en-US" sz="1400" b="0" u="none" strike="noStrike">
                <a:solidFill>
                  <a:srgbClr val="000000"/>
                </a:solidFill>
                <a:effectLst/>
                <a:uFillTx/>
                <a:latin typeface="Arial"/>
              </a:rPr>
              <a:t>: Create computer models whose reasoning processes resemble human cognition.</a:t>
            </a:r>
          </a:p>
          <a:p>
            <a:pPr>
              <a:lnSpc>
                <a:spcPct val="100000"/>
              </a:lnSpc>
            </a:pPr>
            <a:endParaRPr lang="en-US" sz="10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p:cNvPicPr/>
          <p:nvPr/>
        </p:nvPicPr>
        <p:blipFill>
          <a:blip r:embed="rId3"/>
          <a:stretch/>
        </p:blipFill>
        <p:spPr>
          <a:xfrm>
            <a:off x="3429000" y="3200400"/>
            <a:ext cx="2491560" cy="1827360"/>
          </a:xfrm>
          <a:prstGeom prst="rect">
            <a:avLst/>
          </a:prstGeom>
          <a:noFill/>
          <a:ln w="0">
            <a:noFill/>
          </a:ln>
        </p:spPr>
      </p:pic>
      <p:sp>
        <p:nvSpPr>
          <p:cNvPr id="67" name="Shape 41"/>
          <p:cNvSpPr/>
          <p:nvPr/>
        </p:nvSpPr>
        <p:spPr>
          <a:xfrm>
            <a:off x="2160" y="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 name="Text 36"/>
          <p:cNvSpPr/>
          <p:nvPr/>
        </p:nvSpPr>
        <p:spPr>
          <a:xfrm>
            <a:off x="32220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spcBef>
                <a:spcPts val="1191"/>
              </a:spcBef>
              <a:spcAft>
                <a:spcPts val="992"/>
              </a:spcAft>
              <a:tabLst>
                <a:tab pos="0" algn="l"/>
              </a:tabLst>
            </a:pPr>
            <a:r>
              <a:rPr lang="en-US" sz="1800" b="1" u="none" strike="noStrike" dirty="0">
                <a:solidFill>
                  <a:srgbClr val="FFFFFF"/>
                </a:solidFill>
                <a:effectLst/>
                <a:uFillTx/>
                <a:latin typeface="Calibri"/>
                <a:ea typeface="Calibri"/>
              </a:rPr>
              <a:t>1.1 What Is AI? Acting Humanly</a:t>
            </a:r>
            <a:endParaRPr lang="en-US" sz="1800" b="0" u="none" strike="noStrike" dirty="0">
              <a:solidFill>
                <a:srgbClr val="000000"/>
              </a:solidFill>
              <a:effectLst/>
              <a:uFillTx/>
              <a:latin typeface="Arial"/>
            </a:endParaRPr>
          </a:p>
        </p:txBody>
      </p:sp>
      <p:sp>
        <p:nvSpPr>
          <p:cNvPr id="69" name="Shape 44"/>
          <p:cNvSpPr/>
          <p:nvPr/>
        </p:nvSpPr>
        <p:spPr>
          <a:xfrm>
            <a:off x="2160" y="77508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0" name="Rectangle 69"/>
          <p:cNvSpPr/>
          <p:nvPr/>
        </p:nvSpPr>
        <p:spPr>
          <a:xfrm>
            <a:off x="763200" y="988920"/>
            <a:ext cx="7379640" cy="1613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600" b="0" u="none" strike="noStrike">
                <a:solidFill>
                  <a:srgbClr val="000000"/>
                </a:solidFill>
                <a:effectLst/>
                <a:uFillTx/>
                <a:latin typeface="Arial"/>
              </a:rPr>
              <a:t>AI shifted toward building systems that behave like humans, </a:t>
            </a:r>
          </a:p>
          <a:p>
            <a:pPr>
              <a:lnSpc>
                <a:spcPct val="100000"/>
              </a:lnSpc>
            </a:pPr>
            <a:r>
              <a:rPr lang="en-US" sz="1600" b="0" u="none" strike="noStrike">
                <a:solidFill>
                  <a:srgbClr val="000000"/>
                </a:solidFill>
                <a:effectLst/>
                <a:uFillTx/>
                <a:latin typeface="Arial"/>
              </a:rPr>
              <a:t>focusing on observable actions and outcomes rather than </a:t>
            </a:r>
          </a:p>
          <a:p>
            <a:pPr>
              <a:lnSpc>
                <a:spcPct val="100000"/>
              </a:lnSpc>
            </a:pPr>
            <a:r>
              <a:rPr lang="en-US" sz="1600" b="0" u="none" strike="noStrike">
                <a:solidFill>
                  <a:srgbClr val="000000"/>
                </a:solidFill>
                <a:effectLst/>
                <a:uFillTx/>
                <a:latin typeface="Arial"/>
              </a:rPr>
              <a:t>reproducing the exact human thought process.</a:t>
            </a:r>
          </a:p>
          <a:p>
            <a:pPr>
              <a:lnSpc>
                <a:spcPct val="100000"/>
              </a:lnSpc>
            </a:pPr>
            <a:endParaRPr lang="en-US" sz="2000" b="0" u="none" strike="noStrike">
              <a:solidFill>
                <a:srgbClr val="000000"/>
              </a:solidFill>
              <a:effectLst/>
              <a:uFillTx/>
              <a:latin typeface="Arial"/>
            </a:endParaRPr>
          </a:p>
          <a:p>
            <a:pPr>
              <a:lnSpc>
                <a:spcPct val="100000"/>
              </a:lnSpc>
            </a:pPr>
            <a:r>
              <a:rPr lang="en-US" sz="1600" b="1" u="none" strike="noStrike">
                <a:solidFill>
                  <a:srgbClr val="000000"/>
                </a:solidFill>
                <a:effectLst/>
                <a:uFillTx/>
                <a:latin typeface="Arial"/>
              </a:rPr>
              <a:t>The Turing test follows this approach:</a:t>
            </a:r>
            <a:r>
              <a:rPr lang="en-US" sz="1600" b="0" u="none" strike="noStrike">
                <a:solidFill>
                  <a:srgbClr val="000000"/>
                </a:solidFill>
                <a:effectLst/>
                <a:uFillTx/>
                <a:latin typeface="Arial"/>
              </a:rPr>
              <a:t> a machine is considered </a:t>
            </a:r>
          </a:p>
          <a:p>
            <a:pPr>
              <a:lnSpc>
                <a:spcPct val="100000"/>
              </a:lnSpc>
            </a:pPr>
            <a:r>
              <a:rPr lang="en-US" sz="1600" b="0" u="none" strike="noStrike">
                <a:solidFill>
                  <a:srgbClr val="000000"/>
                </a:solidFill>
                <a:effectLst/>
                <a:uFillTx/>
                <a:latin typeface="Arial"/>
              </a:rPr>
              <a:t>intelligent if its behavior is difficult to distinguish from that of a person.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Shape 5"/>
          <p:cNvSpPr/>
          <p:nvPr/>
        </p:nvSpPr>
        <p:spPr>
          <a:xfrm>
            <a:off x="12600" y="76860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2" name="Shape 9"/>
          <p:cNvSpPr/>
          <p:nvPr/>
        </p:nvSpPr>
        <p:spPr>
          <a:xfrm>
            <a:off x="2880" y="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 name="Rectangle 72"/>
          <p:cNvSpPr/>
          <p:nvPr/>
        </p:nvSpPr>
        <p:spPr>
          <a:xfrm>
            <a:off x="457200" y="61920"/>
            <a:ext cx="8686080" cy="4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191"/>
              </a:spcBef>
              <a:spcAft>
                <a:spcPts val="992"/>
              </a:spcAft>
            </a:pPr>
            <a:r>
              <a:rPr lang="en-US" sz="2200" b="0" u="none" strike="noStrike" dirty="0">
                <a:solidFill>
                  <a:srgbClr val="FFFFFF"/>
                </a:solidFill>
                <a:effectLst/>
                <a:uFillTx/>
                <a:latin typeface="Calibri"/>
                <a:ea typeface="Calibri"/>
              </a:rPr>
              <a:t>1. Total Turing Test</a:t>
            </a:r>
            <a:endParaRPr lang="en-US" sz="2200" b="0" u="none" strike="noStrike" dirty="0">
              <a:solidFill>
                <a:srgbClr val="000000"/>
              </a:solidFill>
              <a:effectLst/>
              <a:uFillTx/>
              <a:latin typeface="Arial"/>
            </a:endParaRPr>
          </a:p>
        </p:txBody>
      </p:sp>
      <p:sp>
        <p:nvSpPr>
          <p:cNvPr id="74" name="Rectangle 73"/>
          <p:cNvSpPr/>
          <p:nvPr/>
        </p:nvSpPr>
        <p:spPr>
          <a:xfrm>
            <a:off x="259920" y="867960"/>
            <a:ext cx="8883360" cy="375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283"/>
              </a:spcBef>
              <a:spcAft>
                <a:spcPts val="283"/>
              </a:spcAft>
            </a:pPr>
            <a:r>
              <a:rPr lang="en-US" sz="1800" b="0" u="none" strike="noStrike">
                <a:solidFill>
                  <a:srgbClr val="000000"/>
                </a:solidFill>
                <a:effectLst/>
                <a:uFillTx/>
                <a:latin typeface="Arial"/>
              </a:rPr>
              <a:t>Standard Turing Test</a:t>
            </a:r>
          </a:p>
          <a:p>
            <a:pPr marL="360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rPr>
              <a:t>Communicate using natural language </a:t>
            </a:r>
          </a:p>
          <a:p>
            <a:pPr marL="360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rPr>
              <a:t>Store information through knowledge representation </a:t>
            </a:r>
          </a:p>
          <a:p>
            <a:pPr marL="360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rPr>
              <a:t>Answer questions using automated reasoning </a:t>
            </a:r>
          </a:p>
          <a:p>
            <a:pPr marL="360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rPr>
              <a:t>Adapt through machine learning </a:t>
            </a:r>
          </a:p>
          <a:p>
            <a:pPr>
              <a:lnSpc>
                <a:spcPct val="100000"/>
              </a:lnSpc>
              <a:spcBef>
                <a:spcPts val="283"/>
              </a:spcBef>
              <a:spcAft>
                <a:spcPts val="283"/>
              </a:spcAft>
            </a:pPr>
            <a:r>
              <a:rPr lang="en-US" sz="1800" b="0" u="none" strike="noStrike">
                <a:solidFill>
                  <a:srgbClr val="000000"/>
                </a:solidFill>
                <a:effectLst/>
                <a:uFillTx/>
                <a:latin typeface="Arial"/>
              </a:rPr>
              <a:t>Total Turing Test adds:</a:t>
            </a:r>
          </a:p>
          <a:p>
            <a:pPr marL="360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rPr>
              <a:t>Computer vision and speech recognition </a:t>
            </a:r>
          </a:p>
          <a:p>
            <a:pPr marL="360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rPr>
              <a:t>Robotics to manipulate objects and move </a:t>
            </a:r>
          </a:p>
          <a:p>
            <a:pPr>
              <a:lnSpc>
                <a:spcPct val="100000"/>
              </a:lnSpc>
              <a:spcBef>
                <a:spcPts val="283"/>
              </a:spcBef>
              <a:spcAft>
                <a:spcPts val="283"/>
              </a:spcAft>
            </a:pPr>
            <a:r>
              <a:rPr lang="en-US" sz="1800" b="1" u="none" strike="noStrike">
                <a:solidFill>
                  <a:srgbClr val="000000"/>
                </a:solidFill>
                <a:effectLst/>
                <a:uFillTx/>
                <a:latin typeface="Arial"/>
              </a:rPr>
              <a:t>Key idea:</a:t>
            </a:r>
            <a:r>
              <a:rPr lang="en-US" sz="1800" b="0" u="none" strike="noStrike">
                <a:solidFill>
                  <a:srgbClr val="000000"/>
                </a:solidFill>
                <a:effectLst/>
                <a:uFillTx/>
                <a:latin typeface="Arial"/>
              </a:rPr>
              <a:t> The machine must demonstrate humanlike behavior in both conversation and the physical world.</a:t>
            </a:r>
          </a:p>
          <a:p>
            <a:pPr>
              <a:lnSpc>
                <a:spcPct val="100000"/>
              </a:lnSpc>
              <a:spcBef>
                <a:spcPts val="283"/>
              </a:spcBef>
              <a:spcAft>
                <a:spcPts val="283"/>
              </a:spcAft>
            </a:pPr>
            <a:endParaRPr lang="en-US" sz="1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p:cNvSpPr/>
          <p:nvPr/>
        </p:nvSpPr>
        <p:spPr>
          <a:xfrm>
            <a:off x="3040920" y="1828800"/>
            <a:ext cx="3062160" cy="516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2800" b="0" u="none" strike="noStrike">
                <a:solidFill>
                  <a:srgbClr val="000000"/>
                </a:solidFill>
                <a:effectLst/>
                <a:uFillTx/>
                <a:latin typeface="Arial"/>
              </a:rPr>
              <a:t>Blade Runner Clip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43"/>
          <p:cNvSpPr/>
          <p:nvPr/>
        </p:nvSpPr>
        <p:spPr>
          <a:xfrm>
            <a:off x="0" y="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 name="Shape 45"/>
          <p:cNvSpPr/>
          <p:nvPr/>
        </p:nvSpPr>
        <p:spPr>
          <a:xfrm>
            <a:off x="0" y="79128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pic>
        <p:nvPicPr>
          <p:cNvPr id="78" name="Picture 77"/>
          <p:cNvPicPr/>
          <p:nvPr/>
        </p:nvPicPr>
        <p:blipFill>
          <a:blip r:embed="rId3"/>
          <a:stretch/>
        </p:blipFill>
        <p:spPr>
          <a:xfrm>
            <a:off x="6172920" y="1600920"/>
            <a:ext cx="2741760" cy="1827360"/>
          </a:xfrm>
          <a:prstGeom prst="rect">
            <a:avLst/>
          </a:prstGeom>
          <a:noFill/>
          <a:ln w="0">
            <a:noFill/>
          </a:ln>
        </p:spPr>
      </p:pic>
      <p:sp>
        <p:nvSpPr>
          <p:cNvPr id="79" name="Rectangle 78"/>
          <p:cNvSpPr/>
          <p:nvPr/>
        </p:nvSpPr>
        <p:spPr>
          <a:xfrm>
            <a:off x="228600" y="228600"/>
            <a:ext cx="8686080" cy="4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200" b="1" u="none" strike="noStrike" dirty="0">
                <a:solidFill>
                  <a:srgbClr val="FFFFFF"/>
                </a:solidFill>
                <a:effectLst/>
                <a:uFillTx/>
                <a:latin typeface="Calibri"/>
                <a:ea typeface="Calibri"/>
              </a:rPr>
              <a:t>1.1 What Is AI? </a:t>
            </a:r>
            <a:r>
              <a:rPr lang="en-US" sz="2200" b="0" u="none" strike="noStrike" dirty="0">
                <a:solidFill>
                  <a:srgbClr val="FFFFFF"/>
                </a:solidFill>
                <a:effectLst/>
                <a:uFillTx/>
                <a:latin typeface="Calibri"/>
                <a:ea typeface="Calibri"/>
              </a:rPr>
              <a:t>Acting Rationally: The Rational Agent Approach</a:t>
            </a:r>
            <a:endParaRPr lang="en-US" sz="2200" b="0" u="none" strike="noStrike" dirty="0">
              <a:solidFill>
                <a:srgbClr val="000000"/>
              </a:solidFill>
              <a:effectLst/>
              <a:uFillTx/>
              <a:latin typeface="Arial"/>
            </a:endParaRPr>
          </a:p>
        </p:txBody>
      </p:sp>
      <p:sp>
        <p:nvSpPr>
          <p:cNvPr id="80" name="Rectangle 79"/>
          <p:cNvSpPr/>
          <p:nvPr/>
        </p:nvSpPr>
        <p:spPr>
          <a:xfrm>
            <a:off x="228600" y="852480"/>
            <a:ext cx="8457480" cy="432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340"/>
              </a:spcBef>
              <a:spcAft>
                <a:spcPts val="142"/>
              </a:spcAft>
            </a:pPr>
            <a:r>
              <a:rPr lang="en-US" sz="2200" b="0" u="none" strike="noStrike">
                <a:solidFill>
                  <a:srgbClr val="000000"/>
                </a:solidFill>
                <a:effectLst/>
                <a:uFillTx/>
                <a:latin typeface="Arial"/>
              </a:rPr>
              <a:t>A rational agent chooses actions that produce the best outcome, or the best expected outcome when the situation is uncertain.</a:t>
            </a:r>
          </a:p>
          <a:p>
            <a:pPr>
              <a:lnSpc>
                <a:spcPct val="100000"/>
              </a:lnSpc>
              <a:spcBef>
                <a:spcPts val="340"/>
              </a:spcBef>
              <a:spcAft>
                <a:spcPts val="142"/>
              </a:spcAft>
            </a:pPr>
            <a:endParaRPr lang="en-US" sz="2200" b="0" u="none" strike="noStrike">
              <a:solidFill>
                <a:srgbClr val="000000"/>
              </a:solidFill>
              <a:effectLst/>
              <a:uFillTx/>
              <a:latin typeface="Arial"/>
            </a:endParaRPr>
          </a:p>
          <a:p>
            <a:pPr marL="360000" indent="-216000">
              <a:lnSpc>
                <a:spcPct val="100000"/>
              </a:lnSpc>
              <a:spcBef>
                <a:spcPts val="340"/>
              </a:spcBef>
              <a:spcAft>
                <a:spcPts val="142"/>
              </a:spcAft>
              <a:buClr>
                <a:srgbClr val="000000"/>
              </a:buClr>
              <a:buSzPct val="45000"/>
              <a:buFont typeface="Wingdings" charset="2"/>
              <a:buChar char=""/>
            </a:pPr>
            <a:r>
              <a:rPr lang="en-US" sz="2200" b="0" u="none" strike="noStrike">
                <a:solidFill>
                  <a:srgbClr val="000000"/>
                </a:solidFill>
                <a:effectLst/>
                <a:uFillTx/>
                <a:latin typeface="Arial"/>
              </a:rPr>
              <a:t>Perceives its environment </a:t>
            </a:r>
          </a:p>
          <a:p>
            <a:pPr marL="360000" indent="-216000">
              <a:lnSpc>
                <a:spcPct val="100000"/>
              </a:lnSpc>
              <a:spcBef>
                <a:spcPts val="340"/>
              </a:spcBef>
              <a:spcAft>
                <a:spcPts val="142"/>
              </a:spcAft>
              <a:buClr>
                <a:srgbClr val="000000"/>
              </a:buClr>
              <a:buSzPct val="45000"/>
              <a:buFont typeface="Wingdings" charset="2"/>
              <a:buChar char=""/>
            </a:pPr>
            <a:r>
              <a:rPr lang="en-US" sz="2200" b="0" u="none" strike="noStrike">
                <a:solidFill>
                  <a:srgbClr val="000000"/>
                </a:solidFill>
                <a:effectLst/>
                <a:uFillTx/>
                <a:latin typeface="Arial"/>
              </a:rPr>
              <a:t>Evaluates possible actions </a:t>
            </a:r>
          </a:p>
          <a:p>
            <a:pPr>
              <a:lnSpc>
                <a:spcPct val="100000"/>
              </a:lnSpc>
              <a:spcBef>
                <a:spcPts val="340"/>
              </a:spcBef>
              <a:spcAft>
                <a:spcPts val="142"/>
              </a:spcAft>
            </a:pPr>
            <a:endParaRPr lang="en-US" sz="2200" b="0" u="none" strike="noStrike">
              <a:solidFill>
                <a:srgbClr val="000000"/>
              </a:solidFill>
              <a:effectLst/>
              <a:uFillTx/>
              <a:latin typeface="Arial"/>
            </a:endParaRPr>
          </a:p>
          <a:p>
            <a:pPr>
              <a:lnSpc>
                <a:spcPct val="100000"/>
              </a:lnSpc>
              <a:spcBef>
                <a:spcPts val="340"/>
              </a:spcBef>
              <a:spcAft>
                <a:spcPts val="142"/>
              </a:spcAft>
            </a:pPr>
            <a:r>
              <a:rPr lang="en-US" sz="2200" b="0" u="none" strike="noStrike">
                <a:solidFill>
                  <a:srgbClr val="000000"/>
                </a:solidFill>
                <a:effectLst/>
                <a:uFillTx/>
                <a:latin typeface="Arial"/>
              </a:rPr>
              <a:t>Uses knowledge, reasoning, and learning </a:t>
            </a:r>
          </a:p>
          <a:p>
            <a:pPr>
              <a:lnSpc>
                <a:spcPct val="100000"/>
              </a:lnSpc>
              <a:spcBef>
                <a:spcPts val="340"/>
              </a:spcBef>
              <a:spcAft>
                <a:spcPts val="142"/>
              </a:spcAft>
            </a:pPr>
            <a:r>
              <a:rPr lang="en-US" sz="2200" b="0" u="none" strike="noStrike">
                <a:solidFill>
                  <a:srgbClr val="000000"/>
                </a:solidFill>
                <a:effectLst/>
                <a:uFillTx/>
                <a:latin typeface="Arial"/>
              </a:rPr>
              <a:t>Selects the action most likely to achieve its objective </a:t>
            </a:r>
          </a:p>
          <a:p>
            <a:pPr>
              <a:lnSpc>
                <a:spcPct val="100000"/>
              </a:lnSpc>
              <a:spcBef>
                <a:spcPts val="340"/>
              </a:spcBef>
              <a:spcAft>
                <a:spcPts val="142"/>
              </a:spcAft>
            </a:pPr>
            <a:r>
              <a:rPr lang="en-US" sz="2200" b="0" u="none" strike="noStrike">
                <a:solidFill>
                  <a:srgbClr val="000000"/>
                </a:solidFill>
                <a:effectLst/>
                <a:uFillTx/>
                <a:latin typeface="Arial"/>
              </a:rPr>
              <a:t>Adapts when conditions change </a:t>
            </a:r>
          </a:p>
          <a:p>
            <a:pPr>
              <a:lnSpc>
                <a:spcPct val="100000"/>
              </a:lnSpc>
              <a:spcBef>
                <a:spcPts val="340"/>
              </a:spcBef>
              <a:spcAft>
                <a:spcPts val="142"/>
              </a:spcAft>
            </a:pPr>
            <a:r>
              <a:rPr lang="en-US" sz="2200" b="0" u="none" strike="noStrike">
                <a:solidFill>
                  <a:srgbClr val="000000"/>
                </a:solidFill>
                <a:effectLst/>
                <a:uFillTx/>
                <a:latin typeface="Arial"/>
              </a:rPr>
              <a:t>Caption: Do the right thing based on the available information</a:t>
            </a:r>
          </a:p>
          <a:p>
            <a:pPr>
              <a:lnSpc>
                <a:spcPct val="100000"/>
              </a:lnSpc>
              <a:spcBef>
                <a:spcPts val="340"/>
              </a:spcBef>
              <a:spcAft>
                <a:spcPts val="142"/>
              </a:spcAft>
            </a:pPr>
            <a:endParaRPr lang="en-US" sz="22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hape 46"/>
          <p:cNvSpPr/>
          <p:nvPr/>
        </p:nvSpPr>
        <p:spPr>
          <a:xfrm>
            <a:off x="11880" y="-1656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spcBef>
                <a:spcPts val="1191"/>
              </a:spcBef>
              <a:spcAft>
                <a:spcPts val="992"/>
              </a:spcAft>
            </a:pPr>
            <a:r>
              <a:rPr lang="en-US" sz="2400" b="0" u="none" strike="noStrike" dirty="0">
                <a:solidFill>
                  <a:srgbClr val="FFFFFF"/>
                </a:solidFill>
                <a:effectLst/>
                <a:uFillTx/>
                <a:latin typeface="Arial"/>
              </a:rPr>
              <a:t>1.1 Rational Decisions</a:t>
            </a:r>
          </a:p>
        </p:txBody>
      </p:sp>
      <p:sp>
        <p:nvSpPr>
          <p:cNvPr id="82" name="Shape 47"/>
          <p:cNvSpPr/>
          <p:nvPr/>
        </p:nvSpPr>
        <p:spPr>
          <a:xfrm>
            <a:off x="11880" y="77472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3" name="Rectangle 82"/>
          <p:cNvSpPr/>
          <p:nvPr/>
        </p:nvSpPr>
        <p:spPr>
          <a:xfrm>
            <a:off x="192600" y="1143000"/>
            <a:ext cx="8645040" cy="2334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57"/>
              </a:spcBef>
            </a:pPr>
            <a:r>
              <a:rPr lang="en-US" sz="1500" b="0" u="none" strike="noStrike">
                <a:solidFill>
                  <a:srgbClr val="000000"/>
                </a:solidFill>
                <a:effectLst/>
                <a:uFillTx/>
                <a:latin typeface="Arial"/>
              </a:rPr>
              <a:t>We use the term </a:t>
            </a:r>
            <a:r>
              <a:rPr lang="en-US" sz="1500" b="1" u="none" strike="noStrike">
                <a:solidFill>
                  <a:srgbClr val="000000"/>
                </a:solidFill>
                <a:effectLst/>
                <a:uFillTx/>
                <a:latin typeface="Arial"/>
              </a:rPr>
              <a:t>rational</a:t>
            </a:r>
            <a:r>
              <a:rPr lang="en-US" sz="1500" b="0" u="none" strike="noStrike">
                <a:solidFill>
                  <a:srgbClr val="000000"/>
                </a:solidFill>
                <a:effectLst/>
                <a:uFillTx/>
                <a:latin typeface="Arial"/>
              </a:rPr>
              <a:t> in a specific technical way:</a:t>
            </a:r>
          </a:p>
          <a:p>
            <a:pPr>
              <a:lnSpc>
                <a:spcPct val="100000"/>
              </a:lnSpc>
              <a:spcBef>
                <a:spcPts val="57"/>
              </a:spcBef>
            </a:pPr>
            <a:endParaRPr lang="en-US" sz="1400" b="0" u="none" strike="noStrike">
              <a:solidFill>
                <a:srgbClr val="000000"/>
              </a:solidFill>
              <a:effectLst/>
              <a:uFillTx/>
              <a:latin typeface="Arial"/>
            </a:endParaRPr>
          </a:p>
          <a:p>
            <a:pPr marL="216000" indent="-2160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A rational agent selects actions that achieve its predefined objective </a:t>
            </a:r>
          </a:p>
          <a:p>
            <a:pPr marL="216000" indent="-2160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Rationality concerns which action is chosen, not whether the agent thinks like a human </a:t>
            </a:r>
          </a:p>
          <a:p>
            <a:pPr marL="216000" indent="-2160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Correct reasoning may support the decision, but rational action does not always require inference </a:t>
            </a:r>
          </a:p>
          <a:p>
            <a:pPr marL="216000" indent="-2160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Under uncertainty, the agent chooses the action with the best expected outcome </a:t>
            </a:r>
          </a:p>
          <a:p>
            <a:pPr marL="216000" indent="-2160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Perfect rationality may be limited by available time and computing resources</a:t>
            </a:r>
          </a:p>
          <a:p>
            <a:pPr>
              <a:lnSpc>
                <a:spcPct val="100000"/>
              </a:lnSpc>
              <a:spcBef>
                <a:spcPts val="57"/>
              </a:spcBef>
            </a:pPr>
            <a:endParaRPr lang="en-US" sz="1400" b="0" u="none" strike="noStrike">
              <a:solidFill>
                <a:srgbClr val="000000"/>
              </a:solidFill>
              <a:effectLst/>
              <a:uFillTx/>
              <a:latin typeface="Arial"/>
            </a:endParaRPr>
          </a:p>
          <a:p>
            <a:pPr>
              <a:lnSpc>
                <a:spcPct val="100000"/>
              </a:lnSpc>
              <a:spcBef>
                <a:spcPts val="57"/>
              </a:spcBef>
            </a:pPr>
            <a:r>
              <a:rPr lang="en-US" sz="1500" b="0" u="none" strike="noStrike">
                <a:solidFill>
                  <a:srgbClr val="2A6099"/>
                </a:solidFill>
                <a:effectLst/>
                <a:uFillTx/>
                <a:latin typeface="Arial"/>
              </a:rPr>
              <a:t>Being rational means </a:t>
            </a:r>
            <a:r>
              <a:rPr lang="en-US" sz="1500" b="1" u="none" strike="noStrike">
                <a:solidFill>
                  <a:srgbClr val="2A6099"/>
                </a:solidFill>
                <a:effectLst/>
                <a:uFillTx/>
                <a:latin typeface="Arial"/>
              </a:rPr>
              <a:t>maximizing your expected utility</a:t>
            </a:r>
            <a:endParaRPr lang="en-US" sz="1500" b="0" u="none" strike="noStrike">
              <a:solidFill>
                <a:srgbClr val="000000"/>
              </a:solidFill>
              <a:effectLst/>
              <a:uFillTx/>
              <a:latin typeface="Arial"/>
            </a:endParaRPr>
          </a:p>
          <a:p>
            <a:pPr>
              <a:lnSpc>
                <a:spcPct val="100000"/>
              </a:lnSpc>
              <a:spcBef>
                <a:spcPts val="57"/>
              </a:spcBef>
            </a:pPr>
            <a:endParaRPr lang="en-US" sz="10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21"/>
          <p:cNvSpPr/>
          <p:nvPr/>
        </p:nvSpPr>
        <p:spPr>
          <a:xfrm>
            <a:off x="-1080" y="76860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5" name="Shape 23"/>
          <p:cNvSpPr/>
          <p:nvPr/>
        </p:nvSpPr>
        <p:spPr>
          <a:xfrm>
            <a:off x="0" y="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6" name="Rectangle 85"/>
          <p:cNvSpPr/>
          <p:nvPr/>
        </p:nvSpPr>
        <p:spPr>
          <a:xfrm>
            <a:off x="228600" y="1267920"/>
            <a:ext cx="8457840" cy="289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57"/>
              </a:spcBef>
            </a:pPr>
            <a:r>
              <a:rPr lang="en-US" sz="1400" b="0" u="none" strike="noStrike">
                <a:solidFill>
                  <a:srgbClr val="000000"/>
                </a:solidFill>
                <a:effectLst/>
                <a:uFillTx/>
                <a:latin typeface="Arial"/>
              </a:rPr>
              <a:t>3. Why the Rational-Agent Approach Dominates</a:t>
            </a:r>
          </a:p>
          <a:p>
            <a:pPr marL="360000" indent="-216000">
              <a:lnSpc>
                <a:spcPct val="100000"/>
              </a:lnSpc>
              <a:spcBef>
                <a:spcPts val="57"/>
              </a:spcBef>
              <a:buClr>
                <a:srgbClr val="000000"/>
              </a:buClr>
              <a:buFont typeface="Wingdings" charset="2"/>
              <a:buChar char=""/>
            </a:pPr>
            <a:r>
              <a:rPr lang="en-US" sz="1400" b="0" u="none" strike="noStrike">
                <a:solidFill>
                  <a:srgbClr val="000000"/>
                </a:solidFill>
                <a:effectLst/>
                <a:uFillTx/>
                <a:latin typeface="Arial"/>
              </a:rPr>
              <a:t>More general than logic alone</a:t>
            </a:r>
          </a:p>
          <a:p>
            <a:pPr marL="720000">
              <a:lnSpc>
                <a:spcPct val="100000"/>
              </a:lnSpc>
              <a:spcBef>
                <a:spcPts val="57"/>
              </a:spcBef>
            </a:pPr>
            <a:r>
              <a:rPr lang="en-US" sz="1400" b="0" u="none" strike="noStrike">
                <a:solidFill>
                  <a:srgbClr val="000000"/>
                </a:solidFill>
                <a:effectLst/>
                <a:uFillTx/>
                <a:latin typeface="Arial"/>
              </a:rPr>
              <a:t>Correct inference is only one way to act rationally </a:t>
            </a:r>
          </a:p>
          <a:p>
            <a:pPr marL="360000" indent="-216000">
              <a:lnSpc>
                <a:spcPct val="100000"/>
              </a:lnSpc>
              <a:spcBef>
                <a:spcPts val="57"/>
              </a:spcBef>
              <a:buClr>
                <a:srgbClr val="000000"/>
              </a:buClr>
              <a:buFont typeface="Wingdings" charset="2"/>
              <a:buChar char=""/>
            </a:pPr>
            <a:r>
              <a:rPr lang="en-US" sz="1400" b="0" u="none" strike="noStrike">
                <a:solidFill>
                  <a:srgbClr val="000000"/>
                </a:solidFill>
                <a:effectLst/>
                <a:uFillTx/>
                <a:latin typeface="Arial"/>
              </a:rPr>
              <a:t>Focused on effective action</a:t>
            </a:r>
          </a:p>
          <a:p>
            <a:pPr marL="720000">
              <a:lnSpc>
                <a:spcPct val="100000"/>
              </a:lnSpc>
              <a:spcBef>
                <a:spcPts val="57"/>
              </a:spcBef>
            </a:pPr>
            <a:r>
              <a:rPr lang="en-US" sz="1400" b="0" u="none" strike="noStrike">
                <a:solidFill>
                  <a:srgbClr val="000000"/>
                </a:solidFill>
                <a:effectLst/>
                <a:uFillTx/>
                <a:latin typeface="Arial"/>
              </a:rPr>
              <a:t>The agent selects actions that achieve the best outcome</a:t>
            </a:r>
          </a:p>
          <a:p>
            <a:pPr marL="360000" indent="-216000">
              <a:lnSpc>
                <a:spcPct val="100000"/>
              </a:lnSpc>
              <a:spcBef>
                <a:spcPts val="57"/>
              </a:spcBef>
              <a:buClr>
                <a:srgbClr val="000000"/>
              </a:buClr>
              <a:buFont typeface="Wingdings" charset="2"/>
              <a:buChar char=""/>
            </a:pPr>
            <a:r>
              <a:rPr lang="en-US" sz="1400" b="0" u="none" strike="noStrike">
                <a:solidFill>
                  <a:srgbClr val="000000"/>
                </a:solidFill>
                <a:effectLst/>
                <a:uFillTx/>
                <a:latin typeface="Arial"/>
              </a:rPr>
              <a:t>Handles uncertainty</a:t>
            </a:r>
          </a:p>
          <a:p>
            <a:pPr marL="720000">
              <a:lnSpc>
                <a:spcPct val="100000"/>
              </a:lnSpc>
              <a:spcBef>
                <a:spcPts val="57"/>
              </a:spcBef>
            </a:pPr>
            <a:r>
              <a:rPr lang="en-US" sz="1400" b="0" u="none" strike="noStrike">
                <a:solidFill>
                  <a:srgbClr val="000000"/>
                </a:solidFill>
                <a:effectLst/>
                <a:uFillTx/>
                <a:latin typeface="Arial"/>
              </a:rPr>
              <a:t>Probability and learning support the best expected outcome </a:t>
            </a:r>
          </a:p>
          <a:p>
            <a:pPr marL="360000" indent="-216000">
              <a:lnSpc>
                <a:spcPct val="100000"/>
              </a:lnSpc>
              <a:spcBef>
                <a:spcPts val="57"/>
              </a:spcBef>
              <a:buClr>
                <a:srgbClr val="000000"/>
              </a:buClr>
              <a:buFont typeface="Wingdings" charset="2"/>
              <a:buChar char=""/>
            </a:pPr>
            <a:r>
              <a:rPr lang="en-US" sz="1400" b="0" u="none" strike="noStrike">
                <a:solidFill>
                  <a:srgbClr val="000000"/>
                </a:solidFill>
                <a:effectLst/>
                <a:uFillTx/>
                <a:latin typeface="Arial"/>
              </a:rPr>
              <a:t>Mathematically well-defined</a:t>
            </a:r>
          </a:p>
          <a:p>
            <a:pPr marL="720000">
              <a:lnSpc>
                <a:spcPct val="100000"/>
              </a:lnSpc>
              <a:spcBef>
                <a:spcPts val="57"/>
              </a:spcBef>
            </a:pPr>
            <a:r>
              <a:rPr lang="en-US" sz="1400" b="0" u="none" strike="noStrike">
                <a:solidFill>
                  <a:srgbClr val="000000"/>
                </a:solidFill>
                <a:effectLst/>
                <a:uFillTx/>
                <a:latin typeface="Arial"/>
              </a:rPr>
              <a:t>Rationality provides a clear standard for evaluating behavior </a:t>
            </a:r>
          </a:p>
          <a:p>
            <a:pPr marL="360000" indent="-216000">
              <a:lnSpc>
                <a:spcPct val="100000"/>
              </a:lnSpc>
              <a:spcBef>
                <a:spcPts val="57"/>
              </a:spcBef>
              <a:buClr>
                <a:srgbClr val="000000"/>
              </a:buClr>
              <a:buFont typeface="Wingdings" charset="2"/>
              <a:buChar char=""/>
            </a:pPr>
            <a:r>
              <a:rPr lang="en-US" sz="1400" b="0" u="none" strike="noStrike">
                <a:solidFill>
                  <a:srgbClr val="000000"/>
                </a:solidFill>
                <a:effectLst/>
                <a:uFillTx/>
                <a:latin typeface="Arial"/>
              </a:rPr>
              <a:t>Broadly applicable</a:t>
            </a:r>
          </a:p>
          <a:p>
            <a:pPr marL="720000">
              <a:lnSpc>
                <a:spcPct val="100000"/>
              </a:lnSpc>
              <a:spcBef>
                <a:spcPts val="57"/>
              </a:spcBef>
            </a:pPr>
            <a:r>
              <a:rPr lang="en-US" sz="1400" b="0" u="none" strike="noStrike">
                <a:solidFill>
                  <a:srgbClr val="000000"/>
                </a:solidFill>
                <a:effectLst/>
                <a:uFillTx/>
                <a:latin typeface="Arial"/>
              </a:rPr>
              <a:t>Connects AI with control theory, statistics, economics, and operations research </a:t>
            </a:r>
          </a:p>
          <a:p>
            <a:pPr>
              <a:lnSpc>
                <a:spcPct val="100000"/>
              </a:lnSpc>
              <a:spcBef>
                <a:spcPts val="57"/>
              </a:spcBef>
            </a:pPr>
            <a:r>
              <a:rPr lang="en-US" sz="1400" b="1" u="none" strike="noStrike">
                <a:solidFill>
                  <a:srgbClr val="000000"/>
                </a:solidFill>
                <a:effectLst/>
                <a:uFillTx/>
                <a:latin typeface="Arial"/>
              </a:rPr>
              <a:t>Key idea: </a:t>
            </a:r>
            <a:r>
              <a:rPr lang="en-US" sz="1400" b="0" u="none" strike="noStrike">
                <a:solidFill>
                  <a:srgbClr val="000000"/>
                </a:solidFill>
                <a:effectLst/>
                <a:uFillTx/>
                <a:latin typeface="Arial"/>
              </a:rPr>
              <a:t>Build agents that do the </a:t>
            </a:r>
            <a:r>
              <a:rPr lang="en-US" sz="1400" b="1" u="none" strike="noStrike">
                <a:solidFill>
                  <a:srgbClr val="000000"/>
                </a:solidFill>
                <a:effectLst/>
                <a:uFillTx/>
                <a:latin typeface="Arial"/>
              </a:rPr>
              <a:t>right thing</a:t>
            </a:r>
            <a:r>
              <a:rPr lang="en-US" sz="1400" b="0" u="none" strike="noStrike">
                <a:solidFill>
                  <a:srgbClr val="000000"/>
                </a:solidFill>
                <a:effectLst/>
                <a:uFillTx/>
                <a:latin typeface="Arial"/>
              </a:rPr>
              <a:t> based on their objectives and available information.</a:t>
            </a:r>
          </a:p>
          <a:p>
            <a:pPr>
              <a:lnSpc>
                <a:spcPct val="100000"/>
              </a:lnSpc>
              <a:spcBef>
                <a:spcPts val="57"/>
              </a:spcBef>
            </a:pPr>
            <a:endParaRPr lang="en-US" sz="1000" b="0" u="none" strike="noStrike">
              <a:solidFill>
                <a:srgbClr val="000000"/>
              </a:solidFill>
              <a:effectLst/>
              <a:uFillTx/>
              <a:latin typeface="Arial"/>
            </a:endParaRPr>
          </a:p>
        </p:txBody>
      </p:sp>
      <p:sp>
        <p:nvSpPr>
          <p:cNvPr id="87" name="Rectangle 86"/>
          <p:cNvSpPr/>
          <p:nvPr/>
        </p:nvSpPr>
        <p:spPr>
          <a:xfrm>
            <a:off x="174960" y="228600"/>
            <a:ext cx="5768280" cy="3182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500" b="0" u="none" strike="noStrike" dirty="0">
                <a:solidFill>
                  <a:srgbClr val="FFFFFF"/>
                </a:solidFill>
                <a:effectLst/>
                <a:uFillTx/>
                <a:latin typeface="Arial"/>
              </a:rPr>
              <a:t>Section 1.1.4 — “Acting Rationally: The Rational Agent Approach.”</a:t>
            </a:r>
            <a:endParaRPr lang="en-US" sz="1500" b="0" u="none" strike="noStrike" dirty="0">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88" name="Shape 37"/>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9" name="Shape 39"/>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0" name="Text 26"/>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1.1 What Is AI?</a:t>
            </a:r>
            <a:endParaRPr lang="en-US" sz="2200" b="0" u="none" strike="noStrike" dirty="0">
              <a:solidFill>
                <a:srgbClr val="000000"/>
              </a:solidFill>
              <a:effectLst/>
              <a:uFillTx/>
              <a:latin typeface="Arial"/>
            </a:endParaRPr>
          </a:p>
        </p:txBody>
      </p:sp>
      <p:sp>
        <p:nvSpPr>
          <p:cNvPr id="91" name="Text 28"/>
          <p:cNvSpPr/>
          <p:nvPr/>
        </p:nvSpPr>
        <p:spPr>
          <a:xfrm>
            <a:off x="365760" y="960120"/>
            <a:ext cx="8408880" cy="39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0F2B5B"/>
              </a:buClr>
              <a:buFont typeface="Symbol" charset="2"/>
              <a:buChar char=""/>
            </a:pPr>
            <a:r>
              <a:rPr lang="en-US" sz="1800" b="0" u="none" strike="noStrike">
                <a:solidFill>
                  <a:srgbClr val="0F2B5B"/>
                </a:solidFill>
                <a:effectLst/>
                <a:uFillTx/>
                <a:latin typeface="Calibri"/>
                <a:ea typeface="Calibri"/>
              </a:rPr>
              <a:t>AI is concerned with understanding AND building intelligent entities; machines that compute how to act effectively and safely</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800" b="0" u="none" strike="noStrike">
                <a:solidFill>
                  <a:srgbClr val="0F2B5B"/>
                </a:solidFill>
                <a:effectLst/>
                <a:uFillTx/>
                <a:latin typeface="Calibri"/>
                <a:ea typeface="Calibri"/>
              </a:rPr>
              <a:t>Already generating &gt; $1 trillion/year in revenue (and growing rapidly)</a:t>
            </a:r>
            <a:endParaRPr lang="en-US" sz="18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800" b="1" u="none" strike="noStrike">
                <a:solidFill>
                  <a:srgbClr val="0F2B5B"/>
                </a:solidFill>
                <a:effectLst/>
                <a:uFillTx/>
                <a:latin typeface="Calibri"/>
                <a:ea typeface="Calibri"/>
              </a:rPr>
              <a:t>Two central dimensions create four approaches:</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2A6099"/>
                </a:solidFill>
                <a:effectLst/>
                <a:uFillTx/>
                <a:latin typeface="Calibri"/>
                <a:ea typeface="Calibri"/>
              </a:rPr>
              <a:t>Act like Human</a:t>
            </a:r>
            <a:r>
              <a:rPr lang="en-US" sz="1800" b="0" u="none" strike="noStrike">
                <a:solidFill>
                  <a:srgbClr val="64748B"/>
                </a:solidFill>
                <a:effectLst/>
                <a:uFillTx/>
                <a:latin typeface="Calibri"/>
                <a:ea typeface="Calibri"/>
              </a:rPr>
              <a:t> vs. </a:t>
            </a:r>
            <a:r>
              <a:rPr lang="en-US" sz="1800" b="0" u="none" strike="noStrike">
                <a:solidFill>
                  <a:srgbClr val="00A933"/>
                </a:solidFill>
                <a:effectLst/>
                <a:uFillTx/>
                <a:latin typeface="Calibri"/>
                <a:ea typeface="Calibri"/>
              </a:rPr>
              <a:t>Act Rationally </a:t>
            </a:r>
            <a:r>
              <a:rPr lang="en-US" sz="1800" b="0" u="none" strike="noStrike">
                <a:solidFill>
                  <a:srgbClr val="64748B"/>
                </a:solidFill>
                <a:effectLst/>
                <a:uFillTx/>
                <a:latin typeface="Calibri"/>
                <a:ea typeface="Calibri"/>
              </a:rPr>
              <a:t>(fidelity to humans vs. formal optimality)</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2A6099"/>
                </a:solidFill>
                <a:effectLst/>
                <a:uFillTx/>
                <a:latin typeface="Calibri"/>
                <a:ea typeface="Calibri"/>
              </a:rPr>
              <a:t>Think like people</a:t>
            </a:r>
            <a:r>
              <a:rPr lang="en-US" sz="1800" b="0" u="none" strike="noStrike">
                <a:solidFill>
                  <a:srgbClr val="64748B"/>
                </a:solidFill>
                <a:effectLst/>
                <a:uFillTx/>
                <a:latin typeface="Calibri"/>
                <a:ea typeface="Calibri"/>
              </a:rPr>
              <a:t> vs.</a:t>
            </a:r>
            <a:r>
              <a:rPr lang="en-US" sz="1800" b="0" u="none" strike="noStrike">
                <a:solidFill>
                  <a:srgbClr val="00A933"/>
                </a:solidFill>
                <a:effectLst/>
                <a:uFillTx/>
                <a:latin typeface="Calibri"/>
                <a:ea typeface="Calibri"/>
              </a:rPr>
              <a:t> Act Rationally </a:t>
            </a:r>
            <a:r>
              <a:rPr lang="en-US" sz="1800" b="0" u="none" strike="noStrike">
                <a:solidFill>
                  <a:srgbClr val="64748B"/>
                </a:solidFill>
                <a:effectLst/>
                <a:uFillTx/>
                <a:latin typeface="Calibri"/>
                <a:ea typeface="Calibri"/>
              </a:rPr>
              <a:t>(internal processes vs. external action)</a:t>
            </a:r>
            <a:endParaRPr lang="en-US" sz="18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800" b="1" u="none" strike="noStrike">
                <a:solidFill>
                  <a:srgbClr val="0F2B5B"/>
                </a:solidFill>
                <a:effectLst/>
                <a:uFillTx/>
                <a:latin typeface="Calibri"/>
                <a:ea typeface="Calibri"/>
              </a:rPr>
              <a:t>The prevailing view: the Standard Model (1.1.5)</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64748B"/>
                </a:solidFill>
                <a:effectLst/>
                <a:uFillTx/>
                <a:latin typeface="Calibri"/>
                <a:ea typeface="Calibri"/>
              </a:rPr>
              <a:t>AI focused on rational action; doing the “</a:t>
            </a:r>
            <a:r>
              <a:rPr lang="en-US" sz="1800" b="0" u="none" strike="noStrike">
                <a:solidFill>
                  <a:srgbClr val="2A6099"/>
                </a:solidFill>
                <a:effectLst/>
                <a:uFillTx/>
                <a:latin typeface="Calibri"/>
                <a:ea typeface="Calibri"/>
              </a:rPr>
              <a:t>right thing</a:t>
            </a:r>
            <a:r>
              <a:rPr lang="en-US" sz="1800" b="0" u="none" strike="noStrike">
                <a:solidFill>
                  <a:srgbClr val="64748B"/>
                </a:solidFill>
                <a:effectLst/>
                <a:uFillTx/>
                <a:latin typeface="Calibri"/>
                <a:ea typeface="Calibri"/>
              </a:rPr>
              <a:t>”</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64748B"/>
                </a:solidFill>
                <a:effectLst/>
                <a:uFillTx/>
                <a:latin typeface="Calibri"/>
                <a:ea typeface="Calibri"/>
              </a:rPr>
              <a:t>'Right thing' is defined by the objective provided to the agent</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64748B"/>
                </a:solidFill>
                <a:effectLst/>
                <a:uFillTx/>
                <a:latin typeface="Calibri"/>
                <a:ea typeface="Calibri"/>
              </a:rPr>
              <a:t>Shared with control theory, operations research, economics, statistics</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800" b="0" u="none" strike="noStrike">
                <a:solidFill>
                  <a:srgbClr val="0F2B5B"/>
                </a:solidFill>
                <a:effectLst/>
                <a:uFillTx/>
                <a:latin typeface="Calibri"/>
                <a:ea typeface="Calibri"/>
              </a:rPr>
              <a:t>Key refinement: perfect rationality is computationally intractable — limited rationality and value alignment are critical concerns</a:t>
            </a:r>
            <a:endParaRPr lang="en-US" sz="18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92"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4"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1.1 Four Approaches to AI</a:t>
            </a:r>
            <a:endParaRPr lang="en-US" sz="2200" b="0" u="none" strike="noStrike" dirty="0">
              <a:solidFill>
                <a:srgbClr val="000000"/>
              </a:solidFill>
              <a:effectLst/>
              <a:uFillTx/>
              <a:latin typeface="Arial"/>
            </a:endParaRPr>
          </a:p>
        </p:txBody>
      </p:sp>
      <p:sp>
        <p:nvSpPr>
          <p:cNvPr id="95" name="Text 3"/>
          <p:cNvSpPr/>
          <p:nvPr/>
        </p:nvSpPr>
        <p:spPr>
          <a:xfrm>
            <a:off x="1371600" y="914400"/>
            <a:ext cx="2739600" cy="31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00" b="1" u="none" strike="noStrike">
                <a:solidFill>
                  <a:srgbClr val="64748B"/>
                </a:solidFill>
                <a:effectLst/>
                <a:uFillTx/>
                <a:latin typeface="Calibri"/>
                <a:ea typeface="Calibri"/>
              </a:rPr>
              <a:t>HUMAN</a:t>
            </a:r>
            <a:endParaRPr lang="en-US" sz="1300" b="0" u="none" strike="noStrike">
              <a:solidFill>
                <a:srgbClr val="000000"/>
              </a:solidFill>
              <a:effectLst/>
              <a:uFillTx/>
              <a:latin typeface="Arial"/>
            </a:endParaRPr>
          </a:p>
        </p:txBody>
      </p:sp>
      <p:sp>
        <p:nvSpPr>
          <p:cNvPr id="96" name="Text 4"/>
          <p:cNvSpPr/>
          <p:nvPr/>
        </p:nvSpPr>
        <p:spPr>
          <a:xfrm>
            <a:off x="5029200" y="914400"/>
            <a:ext cx="2739600" cy="31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00" b="1" u="none" strike="noStrike">
                <a:solidFill>
                  <a:srgbClr val="64748B"/>
                </a:solidFill>
                <a:effectLst/>
                <a:uFillTx/>
                <a:latin typeface="Calibri"/>
                <a:ea typeface="Calibri"/>
              </a:rPr>
              <a:t>RATIONAL</a:t>
            </a:r>
            <a:endParaRPr lang="en-US" sz="1300" b="0" u="none" strike="noStrike">
              <a:solidFill>
                <a:srgbClr val="000000"/>
              </a:solidFill>
              <a:effectLst/>
              <a:uFillTx/>
              <a:latin typeface="Arial"/>
            </a:endParaRPr>
          </a:p>
        </p:txBody>
      </p:sp>
      <p:sp>
        <p:nvSpPr>
          <p:cNvPr id="97" name="Text 5"/>
          <p:cNvSpPr/>
          <p:nvPr/>
        </p:nvSpPr>
        <p:spPr>
          <a:xfrm rot="16200000">
            <a:off x="0" y="1923840"/>
            <a:ext cx="1093680" cy="31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64748B"/>
                </a:solidFill>
                <a:effectLst/>
                <a:uFillTx/>
                <a:latin typeface="Calibri"/>
                <a:ea typeface="Calibri"/>
              </a:rPr>
              <a:t>THOUGHT</a:t>
            </a:r>
            <a:endParaRPr lang="en-US" sz="1100" b="0" u="none" strike="noStrike">
              <a:solidFill>
                <a:srgbClr val="000000"/>
              </a:solidFill>
              <a:effectLst/>
              <a:uFillTx/>
              <a:latin typeface="Arial"/>
            </a:endParaRPr>
          </a:p>
        </p:txBody>
      </p:sp>
      <p:sp>
        <p:nvSpPr>
          <p:cNvPr id="98" name="Text 6"/>
          <p:cNvSpPr/>
          <p:nvPr/>
        </p:nvSpPr>
        <p:spPr>
          <a:xfrm rot="16200000">
            <a:off x="0" y="3661200"/>
            <a:ext cx="1093680" cy="31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64748B"/>
                </a:solidFill>
                <a:effectLst/>
                <a:uFillTx/>
                <a:latin typeface="Calibri"/>
                <a:ea typeface="Calibri"/>
              </a:rPr>
              <a:t>BEHAVIOR</a:t>
            </a:r>
            <a:endParaRPr lang="en-US" sz="1100" b="0" u="none" strike="noStrike">
              <a:solidFill>
                <a:srgbClr val="000000"/>
              </a:solidFill>
              <a:effectLst/>
              <a:uFillTx/>
              <a:latin typeface="Arial"/>
            </a:endParaRPr>
          </a:p>
        </p:txBody>
      </p:sp>
      <p:sp>
        <p:nvSpPr>
          <p:cNvPr id="99" name="Shape 7"/>
          <p:cNvSpPr/>
          <p:nvPr/>
        </p:nvSpPr>
        <p:spPr>
          <a:xfrm>
            <a:off x="1005840" y="1280160"/>
            <a:ext cx="3745440" cy="1550880"/>
          </a:xfrm>
          <a:prstGeom prst="rect">
            <a:avLst/>
          </a:prstGeom>
          <a:solidFill>
            <a:srgbClr val="3A7FD5"/>
          </a:solidFill>
          <a:ln w="12700">
            <a:solidFill>
              <a:srgbClr val="3A7FD5"/>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 name="Text 8"/>
          <p:cNvSpPr/>
          <p:nvPr/>
        </p:nvSpPr>
        <p:spPr>
          <a:xfrm>
            <a:off x="1097280" y="1371600"/>
            <a:ext cx="3562560" cy="40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effectLst/>
                <a:uFillTx/>
                <a:latin typeface="Calibri"/>
                <a:ea typeface="Calibri"/>
              </a:rPr>
              <a:t>Thinking Humanly</a:t>
            </a:r>
            <a:endParaRPr lang="en-US" sz="1400" b="0" u="none" strike="noStrike">
              <a:solidFill>
                <a:srgbClr val="000000"/>
              </a:solidFill>
              <a:effectLst/>
              <a:uFillTx/>
              <a:latin typeface="Arial"/>
            </a:endParaRPr>
          </a:p>
        </p:txBody>
      </p:sp>
      <p:sp>
        <p:nvSpPr>
          <p:cNvPr id="101" name="Text 9"/>
          <p:cNvSpPr/>
          <p:nvPr/>
        </p:nvSpPr>
        <p:spPr>
          <a:xfrm>
            <a:off x="1097280" y="1737360"/>
            <a:ext cx="3562560" cy="100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0" u="none" strike="noStrike">
                <a:solidFill>
                  <a:srgbClr val="FFFFFF"/>
                </a:solidFill>
                <a:effectLst/>
                <a:uFillTx/>
                <a:latin typeface="Calibri"/>
                <a:ea typeface="Calibri"/>
              </a:rPr>
              <a:t>Cognitive modeling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GPS: match human problem-solving steps (Newell &amp; Simon)</a:t>
            </a:r>
            <a:endParaRPr lang="en-US" sz="1200" b="0" u="none" strike="noStrike">
              <a:solidFill>
                <a:srgbClr val="000000"/>
              </a:solidFill>
              <a:effectLst/>
              <a:uFillTx/>
              <a:latin typeface="Arial"/>
            </a:endParaRPr>
          </a:p>
        </p:txBody>
      </p:sp>
      <p:sp>
        <p:nvSpPr>
          <p:cNvPr id="102" name="Shape 10"/>
          <p:cNvSpPr/>
          <p:nvPr/>
        </p:nvSpPr>
        <p:spPr>
          <a:xfrm>
            <a:off x="5120640" y="1280160"/>
            <a:ext cx="3745440" cy="1550880"/>
          </a:xfrm>
          <a:prstGeom prst="rect">
            <a:avLst/>
          </a:prstGeom>
          <a:solidFill>
            <a:srgbClr val="028090"/>
          </a:solidFill>
          <a:ln w="12700">
            <a:solidFill>
              <a:srgbClr val="028090"/>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3" name="Text 11"/>
          <p:cNvSpPr/>
          <p:nvPr/>
        </p:nvSpPr>
        <p:spPr>
          <a:xfrm>
            <a:off x="5212080" y="1371600"/>
            <a:ext cx="3562560" cy="40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effectLst/>
                <a:uFillTx/>
                <a:latin typeface="Calibri"/>
                <a:ea typeface="Calibri"/>
              </a:rPr>
              <a:t>Thinking Rationally</a:t>
            </a:r>
            <a:endParaRPr lang="en-US" sz="1400" b="0" u="none" strike="noStrike">
              <a:solidFill>
                <a:srgbClr val="000000"/>
              </a:solidFill>
              <a:effectLst/>
              <a:uFillTx/>
              <a:latin typeface="Arial"/>
            </a:endParaRPr>
          </a:p>
        </p:txBody>
      </p:sp>
      <p:sp>
        <p:nvSpPr>
          <p:cNvPr id="104" name="Text 12"/>
          <p:cNvSpPr/>
          <p:nvPr/>
        </p:nvSpPr>
        <p:spPr>
          <a:xfrm>
            <a:off x="5212080" y="1737360"/>
            <a:ext cx="3562560" cy="100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0" u="none" strike="noStrike">
                <a:solidFill>
                  <a:srgbClr val="FFFFFF"/>
                </a:solidFill>
                <a:effectLst/>
                <a:uFillTx/>
                <a:latin typeface="Calibri"/>
                <a:ea typeface="Calibri"/>
              </a:rPr>
              <a:t>Laws of Thought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Logic and formal deduction; Aristotle's syllogisms → first-order logic</a:t>
            </a:r>
            <a:endParaRPr lang="en-US" sz="1200" b="0" u="none" strike="noStrike">
              <a:solidFill>
                <a:srgbClr val="000000"/>
              </a:solidFill>
              <a:effectLst/>
              <a:uFillTx/>
              <a:latin typeface="Arial"/>
            </a:endParaRPr>
          </a:p>
        </p:txBody>
      </p:sp>
      <p:sp>
        <p:nvSpPr>
          <p:cNvPr id="105" name="Shape 13"/>
          <p:cNvSpPr/>
          <p:nvPr/>
        </p:nvSpPr>
        <p:spPr>
          <a:xfrm>
            <a:off x="1005840" y="3017520"/>
            <a:ext cx="3745440" cy="1550880"/>
          </a:xfrm>
          <a:prstGeom prst="rect">
            <a:avLst/>
          </a:prstGeom>
          <a:solidFill>
            <a:srgbClr val="6D2E46"/>
          </a:solidFill>
          <a:ln w="12700">
            <a:solidFill>
              <a:srgbClr val="6D2E46"/>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6" name="Text 14"/>
          <p:cNvSpPr/>
          <p:nvPr/>
        </p:nvSpPr>
        <p:spPr>
          <a:xfrm>
            <a:off x="1097280" y="3108960"/>
            <a:ext cx="3562560" cy="40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effectLst/>
                <a:uFillTx/>
                <a:latin typeface="Calibri"/>
                <a:ea typeface="Calibri"/>
              </a:rPr>
              <a:t>Acting Humanly</a:t>
            </a:r>
            <a:endParaRPr lang="en-US" sz="1400" b="0" u="none" strike="noStrike">
              <a:solidFill>
                <a:srgbClr val="000000"/>
              </a:solidFill>
              <a:effectLst/>
              <a:uFillTx/>
              <a:latin typeface="Arial"/>
            </a:endParaRPr>
          </a:p>
        </p:txBody>
      </p:sp>
      <p:sp>
        <p:nvSpPr>
          <p:cNvPr id="107" name="Text 15"/>
          <p:cNvSpPr/>
          <p:nvPr/>
        </p:nvSpPr>
        <p:spPr>
          <a:xfrm>
            <a:off x="1097280" y="3474720"/>
            <a:ext cx="3562560" cy="100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0" u="none" strike="noStrike">
                <a:solidFill>
                  <a:srgbClr val="FFFFFF"/>
                </a:solidFill>
                <a:effectLst/>
                <a:uFillTx/>
                <a:latin typeface="Calibri"/>
                <a:ea typeface="Calibri"/>
              </a:rPr>
              <a:t>Turing Test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Behaviorally indistinguishable from human via NLP, knowledge, reasoning, ML</a:t>
            </a:r>
            <a:endParaRPr lang="en-US" sz="1200" b="0" u="none" strike="noStrike">
              <a:solidFill>
                <a:srgbClr val="000000"/>
              </a:solidFill>
              <a:effectLst/>
              <a:uFillTx/>
              <a:latin typeface="Arial"/>
            </a:endParaRPr>
          </a:p>
        </p:txBody>
      </p:sp>
      <p:sp>
        <p:nvSpPr>
          <p:cNvPr id="108" name="Shape 16"/>
          <p:cNvSpPr/>
          <p:nvPr/>
        </p:nvSpPr>
        <p:spPr>
          <a:xfrm>
            <a:off x="5120640" y="3017520"/>
            <a:ext cx="3745440" cy="1550880"/>
          </a:xfrm>
          <a:prstGeom prst="rect">
            <a:avLst/>
          </a:prstGeom>
          <a:solidFill>
            <a:srgbClr val="1B6B3A"/>
          </a:solidFill>
          <a:ln w="12700">
            <a:solidFill>
              <a:srgbClr val="1B6B3A"/>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9" name="Text 17"/>
          <p:cNvSpPr/>
          <p:nvPr/>
        </p:nvSpPr>
        <p:spPr>
          <a:xfrm>
            <a:off x="5212080" y="3108960"/>
            <a:ext cx="3562560" cy="40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effectLst/>
                <a:uFillTx/>
                <a:latin typeface="Calibri"/>
                <a:ea typeface="Calibri"/>
              </a:rPr>
              <a:t>Acting Rationally ✓</a:t>
            </a:r>
            <a:endParaRPr lang="en-US" sz="1400" b="0" u="none" strike="noStrike">
              <a:solidFill>
                <a:srgbClr val="000000"/>
              </a:solidFill>
              <a:effectLst/>
              <a:uFillTx/>
              <a:latin typeface="Arial"/>
            </a:endParaRPr>
          </a:p>
        </p:txBody>
      </p:sp>
      <p:sp>
        <p:nvSpPr>
          <p:cNvPr id="110" name="Text 18"/>
          <p:cNvSpPr/>
          <p:nvPr/>
        </p:nvSpPr>
        <p:spPr>
          <a:xfrm>
            <a:off x="5212080" y="3474720"/>
            <a:ext cx="3562560" cy="100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0" u="none" strike="noStrike">
                <a:solidFill>
                  <a:srgbClr val="FFFFFF"/>
                </a:solidFill>
                <a:effectLst/>
                <a:uFillTx/>
                <a:latin typeface="Calibri"/>
                <a:ea typeface="Calibri"/>
              </a:rPr>
              <a:t>Rational Agent approach (dominant).</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Maximize expected performance; mathematically well-defined &amp; general</a:t>
            </a:r>
            <a:endParaRPr lang="en-US" sz="12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111"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2"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3"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1.1 The Value Alignment Problem</a:t>
            </a:r>
            <a:endParaRPr lang="en-US" sz="2200" b="0" u="none" strike="noStrike" dirty="0">
              <a:solidFill>
                <a:srgbClr val="000000"/>
              </a:solidFill>
              <a:effectLst/>
              <a:uFillTx/>
              <a:latin typeface="Arial"/>
            </a:endParaRPr>
          </a:p>
        </p:txBody>
      </p:sp>
      <p:sp>
        <p:nvSpPr>
          <p:cNvPr id="114" name="Text 3"/>
          <p:cNvSpPr/>
          <p:nvPr/>
        </p:nvSpPr>
        <p:spPr>
          <a:xfrm>
            <a:off x="365760" y="960120"/>
            <a:ext cx="8408880" cy="39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Standard model: provide the machine a fixed objective → maximize it</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Works in controlled environments where objectives can be reset and refined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Breaks down as systems become more capable and deployed in the real world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King Midas Problem</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 chess machine told to 'win at all costs' might hypnotize, blackmail, or bribe its opponent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These behaviors are logically optimal for the stated objective — but not what we desire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 more intelligent the system, the more severe the misalignment consequences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solution: machines that know they don't know the objective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Instead of fixed objectives → pursue human objectives under uncertainty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Positive incentive to be switched off if uncertain about human goals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Inverse reinforcement learning: learn preferences from human behavior</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Norbert Wiener (1960): 'If we use a mechanical agency with whose operation we cannot interfere effectively … we had better be quite sure that the purpose put into the machine is the purpose which we really desire.'</a:t>
            </a:r>
            <a:endParaRPr lang="en-US" sz="15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115"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6"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7"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1.2 Foundations of AI — Seven Disciplines</a:t>
            </a:r>
            <a:endParaRPr lang="en-US" sz="2200" b="0" u="none" strike="noStrike" dirty="0">
              <a:solidFill>
                <a:srgbClr val="000000"/>
              </a:solidFill>
              <a:effectLst/>
              <a:uFillTx/>
              <a:latin typeface="Arial"/>
            </a:endParaRPr>
          </a:p>
        </p:txBody>
      </p:sp>
      <p:sp>
        <p:nvSpPr>
          <p:cNvPr id="118" name="Text 3"/>
          <p:cNvSpPr/>
          <p:nvPr/>
        </p:nvSpPr>
        <p:spPr>
          <a:xfrm>
            <a:off x="365760" y="914400"/>
            <a:ext cx="8408880" cy="39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 Philosophy</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Can formal rules draw valid conclusions? → Aristotle's syllogisms, logic</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mind relate to brain? Dualism vs. materialism</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Consequentialism (Mill) vs. Deontological ethics (Kant)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Mathematics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Formal logic (Boole → Frege → Gödel → Turing)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Probability theory: Bayes' rule, decision theory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Computability &amp; tractability: Church-Turing thesis, NP-completeness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Economics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Expected utility maximization (Bernoulli, von Neumann)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Game theory for multiagent settings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Sequential decisions: MDPs (Bellman, 1957); satisficing (Simon)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Neuroscience + Psychology + Linguistics + Engineering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Neurons, Hebbian learning, brain-machine interfaces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Cognitive psychology: brain as information processor (Craik 1943)</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Chomsky: language requires formal, learnable models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Computing hardware: Moore's Law, GPUs, TPUs</a:t>
            </a:r>
            <a:endParaRPr lang="en-US" sz="1300" b="0" u="none" strike="noStrike">
              <a:solidFill>
                <a:srgbClr val="000000"/>
              </a:solidFill>
              <a:effectLst/>
              <a:uFillTx/>
              <a:latin typeface="Arial"/>
            </a:endParaRPr>
          </a:p>
        </p:txBody>
      </p:sp>
      <p:pic>
        <p:nvPicPr>
          <p:cNvPr id="119" name="Picture 118"/>
          <p:cNvPicPr/>
          <p:nvPr/>
        </p:nvPicPr>
        <p:blipFill>
          <a:blip r:embed="rId3"/>
          <a:stretch/>
        </p:blipFill>
        <p:spPr>
          <a:xfrm>
            <a:off x="6545520" y="804960"/>
            <a:ext cx="995040" cy="1249200"/>
          </a:xfrm>
          <a:prstGeom prst="rect">
            <a:avLst/>
          </a:prstGeom>
          <a:noFill/>
          <a:ln w="0">
            <a:noFill/>
          </a:ln>
        </p:spPr>
      </p:pic>
      <p:pic>
        <p:nvPicPr>
          <p:cNvPr id="120" name="Picture 119"/>
          <p:cNvPicPr/>
          <p:nvPr/>
        </p:nvPicPr>
        <p:blipFill>
          <a:blip r:embed="rId4"/>
          <a:stretch/>
        </p:blipFill>
        <p:spPr>
          <a:xfrm>
            <a:off x="7746480" y="2057400"/>
            <a:ext cx="937080" cy="1249200"/>
          </a:xfrm>
          <a:prstGeom prst="rect">
            <a:avLst/>
          </a:prstGeom>
          <a:noFill/>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29"/>
          <p:cNvSpPr/>
          <p:nvPr/>
        </p:nvSpPr>
        <p:spPr>
          <a:xfrm>
            <a:off x="0" y="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 name="Rectangle 121"/>
          <p:cNvSpPr/>
          <p:nvPr/>
        </p:nvSpPr>
        <p:spPr>
          <a:xfrm>
            <a:off x="228600" y="1143000"/>
            <a:ext cx="7543440" cy="283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340"/>
              </a:spcBef>
              <a:spcAft>
                <a:spcPts val="142"/>
              </a:spcAft>
            </a:pPr>
            <a:r>
              <a:rPr lang="en-US" sz="1300" b="1" u="none" strike="noStrike">
                <a:solidFill>
                  <a:srgbClr val="000000"/>
                </a:solidFill>
                <a:effectLst/>
                <a:uFillTx/>
                <a:latin typeface="Arial"/>
              </a:rPr>
              <a:t>Intelligence Augmentation</a:t>
            </a:r>
            <a:endParaRPr lang="en-US" sz="1300" b="0" u="none" strike="noStrike">
              <a:solidFill>
                <a:srgbClr val="000000"/>
              </a:solidFill>
              <a:effectLst/>
              <a:uFillTx/>
              <a:latin typeface="Arial"/>
            </a:endParaRPr>
          </a:p>
          <a:p>
            <a:pPr marL="360000" indent="-216000">
              <a:lnSpc>
                <a:spcPct val="100000"/>
              </a:lnSpc>
              <a:spcBef>
                <a:spcPts val="340"/>
              </a:spcBef>
              <a:spcAft>
                <a:spcPts val="142"/>
              </a:spcAft>
              <a:buClr>
                <a:srgbClr val="000000"/>
              </a:buClr>
              <a:buFont typeface="Wingdings" charset="2"/>
              <a:buChar char=""/>
            </a:pPr>
            <a:r>
              <a:rPr lang="en-US" sz="1300" b="1" u="none" strike="noStrike">
                <a:solidFill>
                  <a:srgbClr val="000000"/>
                </a:solidFill>
                <a:effectLst/>
                <a:uFillTx/>
                <a:latin typeface="Arial"/>
              </a:rPr>
              <a:t>IA rather than AI</a:t>
            </a:r>
            <a:endParaRPr lang="en-US" sz="1300" b="0" u="none" strike="noStrike">
              <a:solidFill>
                <a:srgbClr val="000000"/>
              </a:solidFill>
              <a:effectLst/>
              <a:uFillTx/>
              <a:latin typeface="Arial"/>
            </a:endParaRPr>
          </a:p>
          <a:p>
            <a:pPr marL="720000">
              <a:lnSpc>
                <a:spcPct val="100000"/>
              </a:lnSpc>
              <a:spcBef>
                <a:spcPts val="340"/>
              </a:spcBef>
              <a:spcAft>
                <a:spcPts val="142"/>
              </a:spcAft>
            </a:pPr>
            <a:r>
              <a:rPr lang="en-US" sz="1300" b="0" u="none" strike="noStrike">
                <a:solidFill>
                  <a:srgbClr val="000000"/>
                </a:solidFill>
                <a:effectLst/>
                <a:uFillTx/>
                <a:latin typeface="Arial"/>
              </a:rPr>
              <a:t>Use computers to enhance human abilities </a:t>
            </a:r>
          </a:p>
          <a:p>
            <a:pPr marL="360000" indent="-216000">
              <a:lnSpc>
                <a:spcPct val="100000"/>
              </a:lnSpc>
              <a:spcBef>
                <a:spcPts val="340"/>
              </a:spcBef>
              <a:spcAft>
                <a:spcPts val="142"/>
              </a:spcAft>
              <a:buClr>
                <a:srgbClr val="000000"/>
              </a:buClr>
              <a:buFont typeface="Wingdings" charset="2"/>
              <a:buChar char=""/>
            </a:pPr>
            <a:r>
              <a:rPr lang="en-US" sz="1300" b="1" u="none" strike="noStrike">
                <a:solidFill>
                  <a:srgbClr val="000000"/>
                </a:solidFill>
                <a:effectLst/>
                <a:uFillTx/>
                <a:latin typeface="Arial"/>
              </a:rPr>
              <a:t>Human–computer partnership</a:t>
            </a:r>
            <a:endParaRPr lang="en-US" sz="1300" b="0" u="none" strike="noStrike">
              <a:solidFill>
                <a:srgbClr val="000000"/>
              </a:solidFill>
              <a:effectLst/>
              <a:uFillTx/>
              <a:latin typeface="Arial"/>
            </a:endParaRPr>
          </a:p>
          <a:p>
            <a:pPr marL="720000">
              <a:lnSpc>
                <a:spcPct val="100000"/>
              </a:lnSpc>
              <a:spcBef>
                <a:spcPts val="340"/>
              </a:spcBef>
              <a:spcAft>
                <a:spcPts val="142"/>
              </a:spcAft>
            </a:pPr>
            <a:r>
              <a:rPr lang="en-US" sz="1300" b="0" u="none" strike="noStrike">
                <a:solidFill>
                  <a:srgbClr val="000000"/>
                </a:solidFill>
                <a:effectLst/>
                <a:uFillTx/>
                <a:latin typeface="Arial"/>
              </a:rPr>
              <a:t>The machine supports people instead of replacing them </a:t>
            </a:r>
          </a:p>
          <a:p>
            <a:pPr marL="360000" indent="-216000">
              <a:lnSpc>
                <a:spcPct val="100000"/>
              </a:lnSpc>
              <a:spcBef>
                <a:spcPts val="340"/>
              </a:spcBef>
              <a:spcAft>
                <a:spcPts val="142"/>
              </a:spcAft>
              <a:buClr>
                <a:srgbClr val="000000"/>
              </a:buClr>
              <a:buFont typeface="Wingdings" charset="2"/>
              <a:buChar char=""/>
            </a:pPr>
            <a:r>
              <a:rPr lang="en-US" sz="1300" b="1" u="none" strike="noStrike">
                <a:solidFill>
                  <a:srgbClr val="000000"/>
                </a:solidFill>
                <a:effectLst/>
                <a:uFillTx/>
                <a:latin typeface="Arial"/>
              </a:rPr>
              <a:t>Doug Engelbart’s vision</a:t>
            </a:r>
            <a:endParaRPr lang="en-US" sz="1300" b="0" u="none" strike="noStrike">
              <a:solidFill>
                <a:srgbClr val="000000"/>
              </a:solidFill>
              <a:effectLst/>
              <a:uFillTx/>
              <a:latin typeface="Arial"/>
            </a:endParaRPr>
          </a:p>
          <a:p>
            <a:pPr marL="720000">
              <a:lnSpc>
                <a:spcPct val="100000"/>
              </a:lnSpc>
              <a:spcBef>
                <a:spcPts val="340"/>
              </a:spcBef>
              <a:spcAft>
                <a:spcPts val="142"/>
              </a:spcAft>
            </a:pPr>
            <a:r>
              <a:rPr lang="en-US" sz="1300" b="0" u="none" strike="noStrike">
                <a:solidFill>
                  <a:srgbClr val="000000"/>
                </a:solidFill>
                <a:effectLst/>
                <a:uFillTx/>
                <a:latin typeface="Arial"/>
              </a:rPr>
              <a:t>Computers should improve how people work, communicate, and solve problems </a:t>
            </a:r>
          </a:p>
          <a:p>
            <a:pPr marL="360000" indent="-216000">
              <a:lnSpc>
                <a:spcPct val="100000"/>
              </a:lnSpc>
              <a:spcBef>
                <a:spcPts val="340"/>
              </a:spcBef>
              <a:spcAft>
                <a:spcPts val="142"/>
              </a:spcAft>
              <a:buClr>
                <a:srgbClr val="000000"/>
              </a:buClr>
              <a:buFont typeface="Wingdings" charset="2"/>
              <a:buChar char=""/>
            </a:pPr>
            <a:r>
              <a:rPr lang="en-US" sz="1300" b="1" u="none" strike="noStrike">
                <a:solidFill>
                  <a:srgbClr val="000000"/>
                </a:solidFill>
                <a:effectLst/>
                <a:uFillTx/>
                <a:latin typeface="Arial"/>
              </a:rPr>
              <a:t>1968 “Mother of All Demos”</a:t>
            </a:r>
            <a:endParaRPr lang="en-US" sz="1300" b="0" u="none" strike="noStrike">
              <a:solidFill>
                <a:srgbClr val="000000"/>
              </a:solidFill>
              <a:effectLst/>
              <a:uFillTx/>
              <a:latin typeface="Arial"/>
            </a:endParaRPr>
          </a:p>
          <a:p>
            <a:pPr marL="720000">
              <a:lnSpc>
                <a:spcPct val="100000"/>
              </a:lnSpc>
              <a:spcBef>
                <a:spcPts val="340"/>
              </a:spcBef>
              <a:spcAft>
                <a:spcPts val="142"/>
              </a:spcAft>
            </a:pPr>
            <a:r>
              <a:rPr lang="en-US" sz="1300" b="0" u="none" strike="noStrike">
                <a:solidFill>
                  <a:srgbClr val="000000"/>
                </a:solidFill>
                <a:effectLst/>
                <a:uFillTx/>
                <a:latin typeface="Arial"/>
              </a:rPr>
              <a:t>Introduced the mouse, windows, hypertext, and video conferencing </a:t>
            </a:r>
          </a:p>
          <a:p>
            <a:pPr>
              <a:lnSpc>
                <a:spcPct val="100000"/>
              </a:lnSpc>
              <a:spcBef>
                <a:spcPts val="340"/>
              </a:spcBef>
              <a:spcAft>
                <a:spcPts val="142"/>
              </a:spcAft>
            </a:pPr>
            <a:r>
              <a:rPr lang="en-US" sz="1300" b="1" u="none" strike="noStrike">
                <a:solidFill>
                  <a:srgbClr val="000000"/>
                </a:solidFill>
                <a:effectLst/>
                <a:uFillTx/>
                <a:latin typeface="Arial"/>
              </a:rPr>
              <a:t>Key idea:</a:t>
            </a:r>
            <a:r>
              <a:rPr lang="en-US" sz="1300" b="0" u="none" strike="noStrike">
                <a:solidFill>
                  <a:srgbClr val="000000"/>
                </a:solidFill>
                <a:effectLst/>
                <a:uFillTx/>
                <a:latin typeface="Arial"/>
              </a:rPr>
              <a:t> Intelligent systems can augment human intelligence, not only automate human tasks.</a:t>
            </a:r>
          </a:p>
          <a:p>
            <a:pPr>
              <a:lnSpc>
                <a:spcPct val="100000"/>
              </a:lnSpc>
              <a:spcBef>
                <a:spcPts val="340"/>
              </a:spcBef>
              <a:spcAft>
                <a:spcPts val="142"/>
              </a:spcAft>
            </a:pPr>
            <a:endParaRPr lang="en-US" sz="1000" b="0" u="none" strike="noStrike">
              <a:solidFill>
                <a:srgbClr val="000000"/>
              </a:solidFill>
              <a:effectLst/>
              <a:uFillTx/>
              <a:latin typeface="Arial"/>
            </a:endParaRPr>
          </a:p>
        </p:txBody>
      </p:sp>
      <p:sp>
        <p:nvSpPr>
          <p:cNvPr id="123" name="Rectangle 122"/>
          <p:cNvSpPr/>
          <p:nvPr/>
        </p:nvSpPr>
        <p:spPr>
          <a:xfrm>
            <a:off x="295200" y="228600"/>
            <a:ext cx="3133800" cy="333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600" b="0" u="none" strike="noStrike" dirty="0">
                <a:solidFill>
                  <a:srgbClr val="FFFFFF"/>
                </a:solidFill>
                <a:effectLst/>
                <a:uFillTx/>
                <a:latin typeface="Arial"/>
              </a:rPr>
              <a:t>Section 1.2.5 — Psychology</a:t>
            </a:r>
          </a:p>
        </p:txBody>
      </p:sp>
      <p:sp>
        <p:nvSpPr>
          <p:cNvPr id="124" name="Shape 31"/>
          <p:cNvSpPr/>
          <p:nvPr/>
        </p:nvSpPr>
        <p:spPr>
          <a:xfrm>
            <a:off x="3240" y="77400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125"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7"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1.2.2 Mathematical Foundations</a:t>
            </a:r>
            <a:endParaRPr lang="en-US" sz="2200" b="0" u="none" strike="noStrike" dirty="0">
              <a:solidFill>
                <a:srgbClr val="000000"/>
              </a:solidFill>
              <a:effectLst/>
              <a:uFillTx/>
              <a:latin typeface="Arial"/>
            </a:endParaRPr>
          </a:p>
        </p:txBody>
      </p:sp>
      <p:sp>
        <p:nvSpPr>
          <p:cNvPr id="128" name="Shape 3"/>
          <p:cNvSpPr/>
          <p:nvPr/>
        </p:nvSpPr>
        <p:spPr>
          <a:xfrm>
            <a:off x="320040" y="1005840"/>
            <a:ext cx="3928320" cy="3836880"/>
          </a:xfrm>
          <a:prstGeom prst="rect">
            <a:avLst/>
          </a:prstGeom>
          <a:solidFill>
            <a:srgbClr val="FFFFFF"/>
          </a:solidFill>
          <a:ln w="12700">
            <a:solidFill>
              <a:srgbClr val="CBD5E1"/>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 name="Shape 4"/>
          <p:cNvSpPr/>
          <p:nvPr/>
        </p:nvSpPr>
        <p:spPr>
          <a:xfrm>
            <a:off x="320040" y="1005840"/>
            <a:ext cx="3928320" cy="407880"/>
          </a:xfrm>
          <a:prstGeom prst="rect">
            <a:avLst/>
          </a:prstGeom>
          <a:solidFill>
            <a:srgbClr val="3A7FD5"/>
          </a:solidFill>
          <a:ln w="12700">
            <a:solidFill>
              <a:srgbClr val="3A7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 name="Text 5"/>
          <p:cNvSpPr/>
          <p:nvPr/>
        </p:nvSpPr>
        <p:spPr>
          <a:xfrm>
            <a:off x="320040" y="1005840"/>
            <a:ext cx="3928320" cy="40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Logic &amp; Computation</a:t>
            </a:r>
            <a:endParaRPr lang="en-US" sz="1400" b="0" u="none" strike="noStrike">
              <a:solidFill>
                <a:srgbClr val="000000"/>
              </a:solidFill>
              <a:effectLst/>
              <a:uFillTx/>
              <a:latin typeface="Arial"/>
            </a:endParaRPr>
          </a:p>
        </p:txBody>
      </p:sp>
      <p:sp>
        <p:nvSpPr>
          <p:cNvPr id="131" name="Text 6"/>
          <p:cNvSpPr/>
          <p:nvPr/>
        </p:nvSpPr>
        <p:spPr>
          <a:xfrm>
            <a:off x="457200" y="1508760"/>
            <a:ext cx="3654000" cy="319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Boole (1847): Boolean / propositional logic</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Frege (1879): first-order logic with objects &amp; relations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Gödel incompleteness theorem (1931): some truths have no proof</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(1936): Church-Turing thesis; defines computability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also proved some functions are uncomputable (halting problem)</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Tractability: polynomial vs. exponential; NP-completeness (Cook 1971)</a:t>
            </a:r>
            <a:endParaRPr lang="en-US" sz="1300" b="0" u="none" strike="noStrike">
              <a:solidFill>
                <a:srgbClr val="000000"/>
              </a:solidFill>
              <a:effectLst/>
              <a:uFillTx/>
              <a:latin typeface="Arial"/>
            </a:endParaRPr>
          </a:p>
        </p:txBody>
      </p:sp>
      <p:sp>
        <p:nvSpPr>
          <p:cNvPr id="132" name="Shape 7"/>
          <p:cNvSpPr/>
          <p:nvPr/>
        </p:nvSpPr>
        <p:spPr>
          <a:xfrm>
            <a:off x="4892040" y="1005840"/>
            <a:ext cx="3928320" cy="3836880"/>
          </a:xfrm>
          <a:prstGeom prst="rect">
            <a:avLst/>
          </a:prstGeom>
          <a:solidFill>
            <a:srgbClr val="FFFFFF"/>
          </a:solidFill>
          <a:ln w="12700">
            <a:solidFill>
              <a:srgbClr val="CBD5E1"/>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 name="Shape 8"/>
          <p:cNvSpPr/>
          <p:nvPr/>
        </p:nvSpPr>
        <p:spPr>
          <a:xfrm>
            <a:off x="4892040" y="1005840"/>
            <a:ext cx="3928320" cy="4078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Text 9"/>
          <p:cNvSpPr/>
          <p:nvPr/>
        </p:nvSpPr>
        <p:spPr>
          <a:xfrm>
            <a:off x="4892040" y="1005840"/>
            <a:ext cx="3928320" cy="40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Probability &amp; Statistics</a:t>
            </a:r>
            <a:endParaRPr lang="en-US" sz="1400" b="0" u="none" strike="noStrike">
              <a:solidFill>
                <a:srgbClr val="000000"/>
              </a:solidFill>
              <a:effectLst/>
              <a:uFillTx/>
              <a:latin typeface="Arial"/>
            </a:endParaRPr>
          </a:p>
        </p:txBody>
      </p:sp>
      <p:sp>
        <p:nvSpPr>
          <p:cNvPr id="135" name="Text 10"/>
          <p:cNvSpPr/>
          <p:nvPr/>
        </p:nvSpPr>
        <p:spPr>
          <a:xfrm>
            <a:off x="5029200" y="1508760"/>
            <a:ext cx="3654000" cy="319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Cardano (1501): first formal probability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Bayes (1702): updating probabilities from evidence; Bayes' rule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Laplace, Bernoulli: statistical foundations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Fisher (1922): modern statistics; experiment design + analysis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Key insight: probability generalizes logic to uncertain worlds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Combined with data → modern ML and Bayesian networks</a:t>
            </a:r>
            <a:endParaRPr lang="en-US" sz="13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Shape 36"/>
          <p:cNvSpPr/>
          <p:nvPr/>
        </p:nvSpPr>
        <p:spPr>
          <a:xfrm>
            <a:off x="3600" y="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7" name="Rectangle 136"/>
          <p:cNvSpPr/>
          <p:nvPr/>
        </p:nvSpPr>
        <p:spPr>
          <a:xfrm>
            <a:off x="224280" y="228600"/>
            <a:ext cx="4660200" cy="3333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600" b="0" u="none" strike="noStrike" dirty="0">
                <a:solidFill>
                  <a:srgbClr val="FFFFFF"/>
                </a:solidFill>
                <a:effectLst/>
                <a:uFillTx/>
                <a:latin typeface="Arial"/>
              </a:rPr>
              <a:t>Section 1.2.7 — “Control Theory and Cybernetics.</a:t>
            </a:r>
          </a:p>
        </p:txBody>
      </p:sp>
      <p:sp>
        <p:nvSpPr>
          <p:cNvPr id="138" name="Rectangle 137"/>
          <p:cNvSpPr/>
          <p:nvPr/>
        </p:nvSpPr>
        <p:spPr>
          <a:xfrm>
            <a:off x="423720" y="1101240"/>
            <a:ext cx="7854480" cy="3946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1" u="none" strike="noStrike">
                <a:solidFill>
                  <a:srgbClr val="000000"/>
                </a:solidFill>
                <a:effectLst/>
                <a:uFillTx/>
                <a:latin typeface="Arial"/>
              </a:rPr>
              <a:t>Control Theory and Cybernetics</a:t>
            </a:r>
            <a:endParaRPr lang="en-US"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Font typeface="Wingdings" charset="2"/>
              <a:buChar char=""/>
            </a:pPr>
            <a:r>
              <a:rPr lang="en-US" sz="1400" b="0" u="none" strike="noStrike">
                <a:solidFill>
                  <a:srgbClr val="000000"/>
                </a:solidFill>
                <a:effectLst/>
                <a:uFillTx/>
                <a:latin typeface="Arial"/>
              </a:rPr>
              <a:t>Feedback control</a:t>
            </a:r>
          </a:p>
          <a:p>
            <a:pPr marL="360000">
              <a:lnSpc>
                <a:spcPct val="100000"/>
              </a:lnSpc>
              <a:spcBef>
                <a:spcPts val="283"/>
              </a:spcBef>
              <a:spcAft>
                <a:spcPts val="283"/>
              </a:spcAft>
            </a:pPr>
            <a:r>
              <a:rPr lang="en-US" sz="1400" b="0" u="none" strike="noStrike">
                <a:solidFill>
                  <a:srgbClr val="000000"/>
                </a:solidFill>
                <a:effectLst/>
                <a:uFillTx/>
                <a:latin typeface="Arial"/>
              </a:rPr>
              <a:t>Systems adjust behavior using information from the environment </a:t>
            </a:r>
          </a:p>
          <a:p>
            <a:pPr marL="216000" indent="-216000">
              <a:lnSpc>
                <a:spcPct val="100000"/>
              </a:lnSpc>
              <a:spcBef>
                <a:spcPts val="283"/>
              </a:spcBef>
              <a:spcAft>
                <a:spcPts val="283"/>
              </a:spcAft>
              <a:buClr>
                <a:srgbClr val="000000"/>
              </a:buClr>
              <a:buFont typeface="Wingdings" charset="2"/>
              <a:buChar char=""/>
            </a:pPr>
            <a:r>
              <a:rPr lang="en-US" sz="1400" b="0" u="none" strike="noStrike">
                <a:solidFill>
                  <a:srgbClr val="000000"/>
                </a:solidFill>
                <a:effectLst/>
                <a:uFillTx/>
                <a:latin typeface="Arial"/>
              </a:rPr>
              <a:t>Goal-directed behavior</a:t>
            </a:r>
          </a:p>
          <a:p>
            <a:pPr marL="360000">
              <a:lnSpc>
                <a:spcPct val="100000"/>
              </a:lnSpc>
              <a:spcBef>
                <a:spcPts val="283"/>
              </a:spcBef>
              <a:spcAft>
                <a:spcPts val="283"/>
              </a:spcAft>
            </a:pPr>
            <a:r>
              <a:rPr lang="en-US" sz="1400" b="0" u="none" strike="noStrike">
                <a:solidFill>
                  <a:srgbClr val="000000"/>
                </a:solidFill>
                <a:effectLst/>
                <a:uFillTx/>
                <a:latin typeface="Arial"/>
              </a:rPr>
              <a:t>Reduce the difference between the current state and the desired state </a:t>
            </a:r>
          </a:p>
          <a:p>
            <a:pPr marL="216000" indent="-216000">
              <a:lnSpc>
                <a:spcPct val="100000"/>
              </a:lnSpc>
              <a:spcBef>
                <a:spcPts val="283"/>
              </a:spcBef>
              <a:spcAft>
                <a:spcPts val="283"/>
              </a:spcAft>
              <a:buClr>
                <a:srgbClr val="000000"/>
              </a:buClr>
              <a:buFont typeface="Wingdings" charset="2"/>
              <a:buChar char=""/>
            </a:pPr>
            <a:r>
              <a:rPr lang="en-US" sz="1400" b="0" u="none" strike="noStrike">
                <a:solidFill>
                  <a:srgbClr val="000000"/>
                </a:solidFill>
                <a:effectLst/>
                <a:uFillTx/>
                <a:latin typeface="Arial"/>
              </a:rPr>
              <a:t>Norbert Wiener and cybernetics</a:t>
            </a:r>
          </a:p>
          <a:p>
            <a:pPr marL="360000">
              <a:lnSpc>
                <a:spcPct val="100000"/>
              </a:lnSpc>
              <a:spcBef>
                <a:spcPts val="283"/>
              </a:spcBef>
              <a:spcAft>
                <a:spcPts val="283"/>
              </a:spcAft>
            </a:pPr>
            <a:r>
              <a:rPr lang="en-US" sz="1400" b="0" u="none" strike="noStrike">
                <a:solidFill>
                  <a:srgbClr val="000000"/>
                </a:solidFill>
                <a:effectLst/>
                <a:uFillTx/>
                <a:latin typeface="Arial"/>
              </a:rPr>
              <a:t>Studied control and communication in animals and machines </a:t>
            </a:r>
          </a:p>
          <a:p>
            <a:pPr marL="216000" indent="-216000">
              <a:lnSpc>
                <a:spcPct val="100000"/>
              </a:lnSpc>
              <a:spcBef>
                <a:spcPts val="283"/>
              </a:spcBef>
              <a:spcAft>
                <a:spcPts val="283"/>
              </a:spcAft>
              <a:buClr>
                <a:srgbClr val="000000"/>
              </a:buClr>
              <a:buFont typeface="Wingdings" charset="2"/>
              <a:buChar char=""/>
            </a:pPr>
            <a:r>
              <a:rPr lang="en-US" sz="1400" b="0" u="none" strike="noStrike">
                <a:solidFill>
                  <a:srgbClr val="000000"/>
                </a:solidFill>
                <a:effectLst/>
                <a:uFillTx/>
                <a:latin typeface="Arial"/>
              </a:rPr>
              <a:t>Self-regulating systems</a:t>
            </a:r>
          </a:p>
          <a:p>
            <a:pPr marL="360000">
              <a:lnSpc>
                <a:spcPct val="100000"/>
              </a:lnSpc>
              <a:spcBef>
                <a:spcPts val="283"/>
              </a:spcBef>
              <a:spcAft>
                <a:spcPts val="283"/>
              </a:spcAft>
            </a:pPr>
            <a:r>
              <a:rPr lang="en-US" sz="1400" b="0" u="none" strike="noStrike">
                <a:solidFill>
                  <a:srgbClr val="000000"/>
                </a:solidFill>
                <a:effectLst/>
                <a:uFillTx/>
                <a:latin typeface="Arial"/>
              </a:rPr>
              <a:t>Examples include thermostats, governors, and adaptive devices </a:t>
            </a:r>
          </a:p>
          <a:p>
            <a:pPr marL="216000" indent="-216000">
              <a:lnSpc>
                <a:spcPct val="100000"/>
              </a:lnSpc>
              <a:spcBef>
                <a:spcPts val="283"/>
              </a:spcBef>
              <a:spcAft>
                <a:spcPts val="283"/>
              </a:spcAft>
              <a:buClr>
                <a:srgbClr val="000000"/>
              </a:buClr>
              <a:buFont typeface="Wingdings" charset="2"/>
              <a:buChar char=""/>
            </a:pPr>
            <a:r>
              <a:rPr lang="en-US" sz="1400" b="0" u="none" strike="noStrike">
                <a:solidFill>
                  <a:srgbClr val="000000"/>
                </a:solidFill>
                <a:effectLst/>
                <a:uFillTx/>
                <a:latin typeface="Arial"/>
              </a:rPr>
              <a:t>Connection to AI</a:t>
            </a:r>
          </a:p>
          <a:p>
            <a:pPr marL="360000">
              <a:lnSpc>
                <a:spcPct val="100000"/>
              </a:lnSpc>
              <a:spcBef>
                <a:spcPts val="283"/>
              </a:spcBef>
              <a:spcAft>
                <a:spcPts val="283"/>
              </a:spcAft>
            </a:pPr>
            <a:r>
              <a:rPr lang="en-US" sz="1400" b="0" u="none" strike="noStrike">
                <a:solidFill>
                  <a:srgbClr val="000000"/>
                </a:solidFill>
                <a:effectLst/>
                <a:uFillTx/>
                <a:latin typeface="Arial"/>
              </a:rPr>
              <a:t>Modern control theory designs systems that act optimally over time </a:t>
            </a: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rPr>
              <a:t>Key idea:</a:t>
            </a:r>
            <a:r>
              <a:rPr lang="en-US" sz="1400" b="0" u="none" strike="noStrike">
                <a:solidFill>
                  <a:srgbClr val="000000"/>
                </a:solidFill>
                <a:effectLst/>
                <a:uFillTx/>
                <a:latin typeface="Arial"/>
              </a:rPr>
              <a:t> Intelligent behavior can emerge from a continuous cycle of sense, compare, and adjust.</a:t>
            </a:r>
          </a:p>
          <a:p>
            <a:pPr>
              <a:lnSpc>
                <a:spcPct val="100000"/>
              </a:lnSpc>
            </a:pPr>
            <a:endParaRPr lang="en-US" sz="1000" b="0" u="none" strike="noStrike">
              <a:solidFill>
                <a:srgbClr val="000000"/>
              </a:solidFill>
              <a:effectLst/>
              <a:uFillTx/>
              <a:latin typeface="Arial"/>
            </a:endParaRPr>
          </a:p>
          <a:p>
            <a:pPr>
              <a:lnSpc>
                <a:spcPct val="100000"/>
              </a:lnSpc>
            </a:pPr>
            <a:endParaRPr lang="en-US" sz="1000" b="0" u="none" strike="noStrike">
              <a:solidFill>
                <a:srgbClr val="000000"/>
              </a:solidFill>
              <a:effectLst/>
              <a:uFillTx/>
              <a:latin typeface="Arial"/>
            </a:endParaRPr>
          </a:p>
        </p:txBody>
      </p:sp>
      <p:sp>
        <p:nvSpPr>
          <p:cNvPr id="139" name="Shape 34"/>
          <p:cNvSpPr/>
          <p:nvPr/>
        </p:nvSpPr>
        <p:spPr>
          <a:xfrm>
            <a:off x="0" y="78984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40" name="Text 20"/>
          <p:cNvSpPr/>
          <p:nvPr/>
        </p:nvSpPr>
        <p:spPr>
          <a:xfrm>
            <a:off x="320040" y="22860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141" name="Shape 48"/>
          <p:cNvSpPr/>
          <p:nvPr/>
        </p:nvSpPr>
        <p:spPr>
          <a:xfrm>
            <a:off x="3600" y="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2"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43"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1.3 History of AI – Key Eras</a:t>
            </a:r>
            <a:endParaRPr lang="en-US" sz="2200" b="0" u="none" strike="noStrike" dirty="0">
              <a:solidFill>
                <a:srgbClr val="000000"/>
              </a:solidFill>
              <a:effectLst/>
              <a:uFillTx/>
              <a:latin typeface="Arial"/>
            </a:endParaRPr>
          </a:p>
        </p:txBody>
      </p:sp>
      <p:sp>
        <p:nvSpPr>
          <p:cNvPr id="144" name="Shape 3"/>
          <p:cNvSpPr/>
          <p:nvPr/>
        </p:nvSpPr>
        <p:spPr>
          <a:xfrm>
            <a:off x="365760" y="2331720"/>
            <a:ext cx="8408880" cy="160920"/>
          </a:xfrm>
          <a:prstGeom prst="rect">
            <a:avLst/>
          </a:prstGeom>
          <a:solidFill>
            <a:srgbClr val="CBD5E1"/>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Shape 4"/>
          <p:cNvSpPr/>
          <p:nvPr/>
        </p:nvSpPr>
        <p:spPr>
          <a:xfrm>
            <a:off x="777240" y="2249280"/>
            <a:ext cx="252360" cy="252360"/>
          </a:xfrm>
          <a:prstGeom prst="ellipse">
            <a:avLst/>
          </a:prstGeom>
          <a:solidFill>
            <a:srgbClr val="3A7FD5"/>
          </a:solidFill>
          <a:ln w="12700">
            <a:solidFill>
              <a:srgbClr val="3A7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6" name="Text 5"/>
          <p:cNvSpPr/>
          <p:nvPr/>
        </p:nvSpPr>
        <p:spPr>
          <a:xfrm>
            <a:off x="365760" y="960120"/>
            <a:ext cx="1185120" cy="77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3A7FD5"/>
                </a:solidFill>
                <a:effectLst/>
                <a:uFillTx/>
                <a:latin typeface="Calibri"/>
                <a:ea typeface="Calibri"/>
              </a:rPr>
              <a:t>1943–56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3A7FD5"/>
                </a:solidFill>
                <a:effectLst/>
                <a:uFillTx/>
                <a:latin typeface="Calibri"/>
                <a:ea typeface="Calibri"/>
              </a:rPr>
              <a:t>Inception</a:t>
            </a:r>
            <a:endParaRPr lang="en-US" sz="950" b="0" u="none" strike="noStrike">
              <a:solidFill>
                <a:srgbClr val="000000"/>
              </a:solidFill>
              <a:effectLst/>
              <a:uFillTx/>
              <a:latin typeface="Arial"/>
            </a:endParaRPr>
          </a:p>
        </p:txBody>
      </p:sp>
      <p:sp>
        <p:nvSpPr>
          <p:cNvPr id="147" name="Shape 6"/>
          <p:cNvSpPr/>
          <p:nvPr/>
        </p:nvSpPr>
        <p:spPr>
          <a:xfrm>
            <a:off x="905040" y="1737360"/>
            <a:ext cx="360" cy="511920"/>
          </a:xfrm>
          <a:prstGeom prst="line">
            <a:avLst/>
          </a:prstGeom>
          <a:ln w="19050">
            <a:solidFill>
              <a:srgbClr val="3A7FD5"/>
            </a:solidFill>
            <a:prstDash val="dash"/>
            <a:round/>
          </a:ln>
        </p:spPr>
        <p:style>
          <a:lnRef idx="0">
            <a:scrgbClr r="0" g="0" b="0"/>
          </a:lnRef>
          <a:fillRef idx="0">
            <a:scrgbClr r="0" g="0" b="0"/>
          </a:fillRef>
          <a:effectRef idx="0">
            <a:scrgbClr r="0" g="0" b="0"/>
          </a:effectRef>
          <a:fontRef idx="minor"/>
        </p:style>
        <p:txBody>
          <a:bodyPr lIns="0" tIns="45000" rIns="0" bIns="45000" anchor="t" anchorCtr="1">
            <a:noAutofit/>
          </a:bodyPr>
          <a:lstStyle/>
          <a:p>
            <a:endParaRPr lang="en-US" sz="1800" b="0" u="none" strike="noStrike">
              <a:solidFill>
                <a:srgbClr val="000000"/>
              </a:solidFill>
              <a:effectLst/>
              <a:uFillTx/>
              <a:latin typeface="Arial"/>
            </a:endParaRPr>
          </a:p>
        </p:txBody>
      </p:sp>
      <p:sp>
        <p:nvSpPr>
          <p:cNvPr id="148" name="Text 7"/>
          <p:cNvSpPr/>
          <p:nvPr/>
        </p:nvSpPr>
        <p:spPr>
          <a:xfrm>
            <a:off x="365760" y="2541960"/>
            <a:ext cx="1185120" cy="72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64748B"/>
                </a:solidFill>
                <a:effectLst/>
                <a:uFillTx/>
                <a:latin typeface="Calibri"/>
                <a:ea typeface="Calibri"/>
              </a:rPr>
              <a:t>McCulloch &amp; Pitts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Dartmouth 1956</a:t>
            </a:r>
            <a:endParaRPr lang="en-US" sz="900" b="0" u="none" strike="noStrike">
              <a:solidFill>
                <a:srgbClr val="000000"/>
              </a:solidFill>
              <a:effectLst/>
              <a:uFillTx/>
              <a:latin typeface="Arial"/>
            </a:endParaRPr>
          </a:p>
        </p:txBody>
      </p:sp>
      <p:sp>
        <p:nvSpPr>
          <p:cNvPr id="149" name="Shape 8"/>
          <p:cNvSpPr/>
          <p:nvPr/>
        </p:nvSpPr>
        <p:spPr>
          <a:xfrm>
            <a:off x="2057400" y="2249280"/>
            <a:ext cx="252360" cy="252360"/>
          </a:xfrm>
          <a:prstGeom prst="ellipse">
            <a:avLst/>
          </a:prstGeom>
          <a:solidFill>
            <a:srgbClr val="028090"/>
          </a:solidFill>
          <a:ln w="12700">
            <a:solidFill>
              <a:srgbClr val="0280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0" name="Text 9"/>
          <p:cNvSpPr/>
          <p:nvPr/>
        </p:nvSpPr>
        <p:spPr>
          <a:xfrm>
            <a:off x="1645920" y="1051560"/>
            <a:ext cx="1185120" cy="72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64748B"/>
                </a:solidFill>
                <a:effectLst/>
                <a:uFillTx/>
                <a:latin typeface="Calibri"/>
                <a:ea typeface="Calibri"/>
              </a:rPr>
              <a:t>GPS, LISP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Microworlds</a:t>
            </a:r>
            <a:endParaRPr lang="en-US" sz="900" b="0" u="none" strike="noStrike">
              <a:solidFill>
                <a:srgbClr val="000000"/>
              </a:solidFill>
              <a:effectLst/>
              <a:uFillTx/>
              <a:latin typeface="Arial"/>
            </a:endParaRPr>
          </a:p>
        </p:txBody>
      </p:sp>
      <p:sp>
        <p:nvSpPr>
          <p:cNvPr id="151" name="Shape 10"/>
          <p:cNvSpPr/>
          <p:nvPr/>
        </p:nvSpPr>
        <p:spPr>
          <a:xfrm>
            <a:off x="2185200" y="1783080"/>
            <a:ext cx="360" cy="475200"/>
          </a:xfrm>
          <a:prstGeom prst="line">
            <a:avLst/>
          </a:prstGeom>
          <a:ln w="19050">
            <a:solidFill>
              <a:srgbClr val="028090"/>
            </a:solidFill>
            <a:prstDash val="dash"/>
            <a:round/>
          </a:ln>
        </p:spPr>
        <p:style>
          <a:lnRef idx="0">
            <a:scrgbClr r="0" g="0" b="0"/>
          </a:lnRef>
          <a:fillRef idx="0">
            <a:scrgbClr r="0" g="0" b="0"/>
          </a:fillRef>
          <a:effectRef idx="0">
            <a:scrgbClr r="0" g="0" b="0"/>
          </a:effectRef>
          <a:fontRef idx="minor"/>
        </p:style>
        <p:txBody>
          <a:bodyPr lIns="0" tIns="45000" rIns="0" bIns="45000" anchor="t" anchorCtr="1">
            <a:noAutofit/>
          </a:bodyPr>
          <a:lstStyle/>
          <a:p>
            <a:endParaRPr lang="en-US" sz="1800" b="0" u="none" strike="noStrike">
              <a:solidFill>
                <a:srgbClr val="000000"/>
              </a:solidFill>
              <a:effectLst/>
              <a:uFillTx/>
              <a:latin typeface="Arial"/>
            </a:endParaRPr>
          </a:p>
        </p:txBody>
      </p:sp>
      <p:sp>
        <p:nvSpPr>
          <p:cNvPr id="152" name="Text 11"/>
          <p:cNvSpPr/>
          <p:nvPr/>
        </p:nvSpPr>
        <p:spPr>
          <a:xfrm>
            <a:off x="1645920" y="2578680"/>
            <a:ext cx="1185120" cy="77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028090"/>
                </a:solidFill>
                <a:effectLst/>
                <a:uFillTx/>
                <a:latin typeface="Calibri"/>
                <a:ea typeface="Calibri"/>
              </a:rPr>
              <a:t>1952–69</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28090"/>
                </a:solidFill>
                <a:effectLst/>
                <a:uFillTx/>
                <a:latin typeface="Calibri"/>
                <a:ea typeface="Calibri"/>
              </a:rPr>
              <a:t>Early Hype</a:t>
            </a:r>
            <a:endParaRPr lang="en-US" sz="950" b="0" u="none" strike="noStrike">
              <a:solidFill>
                <a:srgbClr val="000000"/>
              </a:solidFill>
              <a:effectLst/>
              <a:uFillTx/>
              <a:latin typeface="Arial"/>
            </a:endParaRPr>
          </a:p>
        </p:txBody>
      </p:sp>
      <p:sp>
        <p:nvSpPr>
          <p:cNvPr id="153" name="Shape 12"/>
          <p:cNvSpPr/>
          <p:nvPr/>
        </p:nvSpPr>
        <p:spPr>
          <a:xfrm>
            <a:off x="3383280" y="2249280"/>
            <a:ext cx="252360" cy="252360"/>
          </a:xfrm>
          <a:prstGeom prst="ellipse">
            <a:avLst/>
          </a:prstGeom>
          <a:solidFill>
            <a:srgbClr val="8B1A1A"/>
          </a:solidFill>
          <a:ln w="12700">
            <a:solidFill>
              <a:srgbClr val="8B1A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4" name="Text 13"/>
          <p:cNvSpPr/>
          <p:nvPr/>
        </p:nvSpPr>
        <p:spPr>
          <a:xfrm>
            <a:off x="2971800" y="960120"/>
            <a:ext cx="1185120" cy="77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8B1A1A"/>
                </a:solidFill>
                <a:effectLst/>
                <a:uFillTx/>
                <a:latin typeface="Calibri"/>
                <a:ea typeface="Calibri"/>
              </a:rPr>
              <a:t>1966–73</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8B1A1A"/>
                </a:solidFill>
                <a:effectLst/>
                <a:uFillTx/>
                <a:latin typeface="Calibri"/>
                <a:ea typeface="Calibri"/>
              </a:rPr>
              <a:t>First Winter</a:t>
            </a:r>
            <a:endParaRPr lang="en-US" sz="950" b="0" u="none" strike="noStrike">
              <a:solidFill>
                <a:srgbClr val="000000"/>
              </a:solidFill>
              <a:effectLst/>
              <a:uFillTx/>
              <a:latin typeface="Arial"/>
            </a:endParaRPr>
          </a:p>
        </p:txBody>
      </p:sp>
      <p:sp>
        <p:nvSpPr>
          <p:cNvPr id="155" name="Shape 14"/>
          <p:cNvSpPr/>
          <p:nvPr/>
        </p:nvSpPr>
        <p:spPr>
          <a:xfrm>
            <a:off x="3511080" y="1737360"/>
            <a:ext cx="360" cy="511920"/>
          </a:xfrm>
          <a:prstGeom prst="line">
            <a:avLst/>
          </a:prstGeom>
          <a:ln w="19050">
            <a:solidFill>
              <a:srgbClr val="8B1A1A"/>
            </a:solidFill>
            <a:prstDash val="dash"/>
            <a:round/>
          </a:ln>
        </p:spPr>
        <p:style>
          <a:lnRef idx="0">
            <a:scrgbClr r="0" g="0" b="0"/>
          </a:lnRef>
          <a:fillRef idx="0">
            <a:scrgbClr r="0" g="0" b="0"/>
          </a:fillRef>
          <a:effectRef idx="0">
            <a:scrgbClr r="0" g="0" b="0"/>
          </a:effectRef>
          <a:fontRef idx="minor"/>
        </p:style>
        <p:txBody>
          <a:bodyPr lIns="0" tIns="45000" rIns="0" bIns="45000" anchor="t" anchorCtr="1">
            <a:noAutofit/>
          </a:bodyPr>
          <a:lstStyle/>
          <a:p>
            <a:endParaRPr lang="en-US" sz="1800" b="0" u="none" strike="noStrike">
              <a:solidFill>
                <a:srgbClr val="000000"/>
              </a:solidFill>
              <a:effectLst/>
              <a:uFillTx/>
              <a:latin typeface="Arial"/>
            </a:endParaRPr>
          </a:p>
        </p:txBody>
      </p:sp>
      <p:sp>
        <p:nvSpPr>
          <p:cNvPr id="156" name="Text 15"/>
          <p:cNvSpPr/>
          <p:nvPr/>
        </p:nvSpPr>
        <p:spPr>
          <a:xfrm>
            <a:off x="2971800" y="2541960"/>
            <a:ext cx="1185120" cy="72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64748B"/>
                </a:solidFill>
                <a:effectLst/>
                <a:uFillTx/>
                <a:latin typeface="Calibri"/>
                <a:ea typeface="Calibri"/>
              </a:rPr>
              <a:t>Intractability</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Lighthill report</a:t>
            </a:r>
            <a:endParaRPr lang="en-US" sz="900" b="0" u="none" strike="noStrike">
              <a:solidFill>
                <a:srgbClr val="000000"/>
              </a:solidFill>
              <a:effectLst/>
              <a:uFillTx/>
              <a:latin typeface="Arial"/>
            </a:endParaRPr>
          </a:p>
        </p:txBody>
      </p:sp>
      <p:sp>
        <p:nvSpPr>
          <p:cNvPr id="157" name="Shape 16"/>
          <p:cNvSpPr/>
          <p:nvPr/>
        </p:nvSpPr>
        <p:spPr>
          <a:xfrm>
            <a:off x="4663440" y="2249280"/>
            <a:ext cx="252360" cy="252360"/>
          </a:xfrm>
          <a:prstGeom prst="ellipse">
            <a:avLst/>
          </a:prstGeom>
          <a:solidFill>
            <a:srgbClr val="1B6B3A"/>
          </a:solidFill>
          <a:ln w="12700">
            <a:solidFill>
              <a:srgbClr val="1B6B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8" name="Text 17"/>
          <p:cNvSpPr/>
          <p:nvPr/>
        </p:nvSpPr>
        <p:spPr>
          <a:xfrm>
            <a:off x="4251960" y="1051560"/>
            <a:ext cx="1185120" cy="72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64748B"/>
                </a:solidFill>
                <a:effectLst/>
                <a:uFillTx/>
                <a:latin typeface="Calibri"/>
                <a:ea typeface="Calibri"/>
              </a:rPr>
              <a:t>DENDRAL, MYCIN</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$billions</a:t>
            </a:r>
            <a:endParaRPr lang="en-US" sz="900" b="0" u="none" strike="noStrike">
              <a:solidFill>
                <a:srgbClr val="000000"/>
              </a:solidFill>
              <a:effectLst/>
              <a:uFillTx/>
              <a:latin typeface="Arial"/>
            </a:endParaRPr>
          </a:p>
        </p:txBody>
      </p:sp>
      <p:sp>
        <p:nvSpPr>
          <p:cNvPr id="159" name="Shape 18"/>
          <p:cNvSpPr/>
          <p:nvPr/>
        </p:nvSpPr>
        <p:spPr>
          <a:xfrm>
            <a:off x="4791240" y="1783080"/>
            <a:ext cx="360" cy="475200"/>
          </a:xfrm>
          <a:prstGeom prst="line">
            <a:avLst/>
          </a:prstGeom>
          <a:ln w="19050">
            <a:solidFill>
              <a:srgbClr val="1B6B3A"/>
            </a:solidFill>
            <a:prstDash val="dash"/>
            <a:round/>
          </a:ln>
        </p:spPr>
        <p:style>
          <a:lnRef idx="0">
            <a:scrgbClr r="0" g="0" b="0"/>
          </a:lnRef>
          <a:fillRef idx="0">
            <a:scrgbClr r="0" g="0" b="0"/>
          </a:fillRef>
          <a:effectRef idx="0">
            <a:scrgbClr r="0" g="0" b="0"/>
          </a:effectRef>
          <a:fontRef idx="minor"/>
        </p:style>
        <p:txBody>
          <a:bodyPr lIns="0" tIns="45000" rIns="0" bIns="45000" anchor="t" anchorCtr="1">
            <a:noAutofit/>
          </a:bodyPr>
          <a:lstStyle/>
          <a:p>
            <a:endParaRPr lang="en-US" sz="1800" b="0" u="none" strike="noStrike">
              <a:solidFill>
                <a:srgbClr val="000000"/>
              </a:solidFill>
              <a:effectLst/>
              <a:uFillTx/>
              <a:latin typeface="Arial"/>
            </a:endParaRPr>
          </a:p>
        </p:txBody>
      </p:sp>
      <p:sp>
        <p:nvSpPr>
          <p:cNvPr id="160" name="Text 19"/>
          <p:cNvSpPr/>
          <p:nvPr/>
        </p:nvSpPr>
        <p:spPr>
          <a:xfrm>
            <a:off x="4251960" y="2578680"/>
            <a:ext cx="1185120" cy="77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1B6B3A"/>
                </a:solidFill>
                <a:effectLst/>
                <a:uFillTx/>
                <a:latin typeface="Calibri"/>
                <a:ea typeface="Calibri"/>
              </a:rPr>
              <a:t>1969–86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B6B3A"/>
                </a:solidFill>
                <a:effectLst/>
                <a:uFillTx/>
                <a:latin typeface="Calibri"/>
                <a:ea typeface="Calibri"/>
              </a:rPr>
              <a:t>Expert Sys.</a:t>
            </a:r>
            <a:endParaRPr lang="en-US" sz="950" b="0" u="none" strike="noStrike">
              <a:solidFill>
                <a:srgbClr val="000000"/>
              </a:solidFill>
              <a:effectLst/>
              <a:uFillTx/>
              <a:latin typeface="Arial"/>
            </a:endParaRPr>
          </a:p>
        </p:txBody>
      </p:sp>
      <p:sp>
        <p:nvSpPr>
          <p:cNvPr id="161" name="Shape 20"/>
          <p:cNvSpPr/>
          <p:nvPr/>
        </p:nvSpPr>
        <p:spPr>
          <a:xfrm>
            <a:off x="5943600" y="2249280"/>
            <a:ext cx="252360" cy="252360"/>
          </a:xfrm>
          <a:prstGeom prst="ellipse">
            <a:avLst/>
          </a:prstGeom>
          <a:solidFill>
            <a:srgbClr val="1A4FA0"/>
          </a:solidFill>
          <a:ln w="12700">
            <a:solidFill>
              <a:srgbClr val="1A4F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2" name="Text 21"/>
          <p:cNvSpPr/>
          <p:nvPr/>
        </p:nvSpPr>
        <p:spPr>
          <a:xfrm>
            <a:off x="5532120" y="960120"/>
            <a:ext cx="1185120" cy="77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1A4FA0"/>
                </a:solidFill>
                <a:effectLst/>
                <a:uFillTx/>
                <a:latin typeface="Calibri"/>
                <a:ea typeface="Calibri"/>
              </a:rPr>
              <a:t>1986+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A4FA0"/>
                </a:solidFill>
                <a:effectLst/>
                <a:uFillTx/>
                <a:latin typeface="Calibri"/>
                <a:ea typeface="Calibri"/>
              </a:rPr>
              <a:t>Neural Nets</a:t>
            </a:r>
            <a:endParaRPr lang="en-US" sz="950" b="0" u="none" strike="noStrike">
              <a:solidFill>
                <a:srgbClr val="000000"/>
              </a:solidFill>
              <a:effectLst/>
              <a:uFillTx/>
              <a:latin typeface="Arial"/>
            </a:endParaRPr>
          </a:p>
        </p:txBody>
      </p:sp>
      <p:sp>
        <p:nvSpPr>
          <p:cNvPr id="163" name="Shape 22"/>
          <p:cNvSpPr/>
          <p:nvPr/>
        </p:nvSpPr>
        <p:spPr>
          <a:xfrm>
            <a:off x="6071400" y="1737360"/>
            <a:ext cx="360" cy="511920"/>
          </a:xfrm>
          <a:prstGeom prst="line">
            <a:avLst/>
          </a:prstGeom>
          <a:ln w="19050">
            <a:solidFill>
              <a:srgbClr val="1A4FA0"/>
            </a:solidFill>
            <a:prstDash val="dash"/>
            <a:round/>
          </a:ln>
        </p:spPr>
        <p:style>
          <a:lnRef idx="0">
            <a:scrgbClr r="0" g="0" b="0"/>
          </a:lnRef>
          <a:fillRef idx="0">
            <a:scrgbClr r="0" g="0" b="0"/>
          </a:fillRef>
          <a:effectRef idx="0">
            <a:scrgbClr r="0" g="0" b="0"/>
          </a:effectRef>
          <a:fontRef idx="minor"/>
        </p:style>
        <p:txBody>
          <a:bodyPr lIns="0" tIns="45000" rIns="0" bIns="45000" anchor="t" anchorCtr="1">
            <a:noAutofit/>
          </a:bodyPr>
          <a:lstStyle/>
          <a:p>
            <a:endParaRPr lang="en-US" sz="1800" b="0" u="none" strike="noStrike">
              <a:solidFill>
                <a:srgbClr val="000000"/>
              </a:solidFill>
              <a:effectLst/>
              <a:uFillTx/>
              <a:latin typeface="Arial"/>
            </a:endParaRPr>
          </a:p>
        </p:txBody>
      </p:sp>
      <p:sp>
        <p:nvSpPr>
          <p:cNvPr id="164" name="Text 23"/>
          <p:cNvSpPr/>
          <p:nvPr/>
        </p:nvSpPr>
        <p:spPr>
          <a:xfrm>
            <a:off x="5532120" y="2541960"/>
            <a:ext cx="1185120" cy="72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64748B"/>
                </a:solidFill>
                <a:effectLst/>
                <a:uFillTx/>
                <a:latin typeface="Calibri"/>
                <a:ea typeface="Calibri"/>
              </a:rPr>
              <a:t>Backprop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Connectionism</a:t>
            </a:r>
            <a:endParaRPr lang="en-US" sz="900" b="0" u="none" strike="noStrike">
              <a:solidFill>
                <a:srgbClr val="000000"/>
              </a:solidFill>
              <a:effectLst/>
              <a:uFillTx/>
              <a:latin typeface="Arial"/>
            </a:endParaRPr>
          </a:p>
        </p:txBody>
      </p:sp>
      <p:sp>
        <p:nvSpPr>
          <p:cNvPr id="165" name="Shape 24"/>
          <p:cNvSpPr/>
          <p:nvPr/>
        </p:nvSpPr>
        <p:spPr>
          <a:xfrm>
            <a:off x="7223760" y="2249280"/>
            <a:ext cx="252360" cy="252360"/>
          </a:xfrm>
          <a:prstGeom prst="ellipse">
            <a:avLst/>
          </a:prstGeom>
          <a:solidFill>
            <a:srgbClr val="6D2E46"/>
          </a:solidFill>
          <a:ln w="12700">
            <a:solidFill>
              <a:srgbClr val="6D2E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6" name="Text 25"/>
          <p:cNvSpPr/>
          <p:nvPr/>
        </p:nvSpPr>
        <p:spPr>
          <a:xfrm>
            <a:off x="6812280" y="1051560"/>
            <a:ext cx="1185120" cy="72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64748B"/>
                </a:solidFill>
                <a:effectLst/>
                <a:uFillTx/>
                <a:latin typeface="Calibri"/>
                <a:ea typeface="Calibri"/>
              </a:rPr>
              <a:t>Bayes nets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MDPs, RL</a:t>
            </a:r>
            <a:endParaRPr lang="en-US" sz="900" b="0" u="none" strike="noStrike">
              <a:solidFill>
                <a:srgbClr val="000000"/>
              </a:solidFill>
              <a:effectLst/>
              <a:uFillTx/>
              <a:latin typeface="Arial"/>
            </a:endParaRPr>
          </a:p>
        </p:txBody>
      </p:sp>
      <p:sp>
        <p:nvSpPr>
          <p:cNvPr id="167" name="Shape 26"/>
          <p:cNvSpPr/>
          <p:nvPr/>
        </p:nvSpPr>
        <p:spPr>
          <a:xfrm>
            <a:off x="7351560" y="1783080"/>
            <a:ext cx="360" cy="475200"/>
          </a:xfrm>
          <a:prstGeom prst="line">
            <a:avLst/>
          </a:prstGeom>
          <a:ln w="19050">
            <a:solidFill>
              <a:srgbClr val="6D2E46"/>
            </a:solidFill>
            <a:prstDash val="dash"/>
            <a:round/>
          </a:ln>
        </p:spPr>
        <p:style>
          <a:lnRef idx="0">
            <a:scrgbClr r="0" g="0" b="0"/>
          </a:lnRef>
          <a:fillRef idx="0">
            <a:scrgbClr r="0" g="0" b="0"/>
          </a:fillRef>
          <a:effectRef idx="0">
            <a:scrgbClr r="0" g="0" b="0"/>
          </a:effectRef>
          <a:fontRef idx="minor"/>
        </p:style>
        <p:txBody>
          <a:bodyPr lIns="0" tIns="45000" rIns="0" bIns="45000" anchor="t" anchorCtr="1">
            <a:noAutofit/>
          </a:bodyPr>
          <a:lstStyle/>
          <a:p>
            <a:endParaRPr lang="en-US" sz="1800" b="0" u="none" strike="noStrike">
              <a:solidFill>
                <a:srgbClr val="000000"/>
              </a:solidFill>
              <a:effectLst/>
              <a:uFillTx/>
              <a:latin typeface="Arial"/>
            </a:endParaRPr>
          </a:p>
        </p:txBody>
      </p:sp>
      <p:sp>
        <p:nvSpPr>
          <p:cNvPr id="168" name="Text 27"/>
          <p:cNvSpPr/>
          <p:nvPr/>
        </p:nvSpPr>
        <p:spPr>
          <a:xfrm>
            <a:off x="6812280" y="2578680"/>
            <a:ext cx="1185120" cy="77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6D2E46"/>
                </a:solidFill>
                <a:effectLst/>
                <a:uFillTx/>
                <a:latin typeface="Calibri"/>
                <a:ea typeface="Calibri"/>
              </a:rPr>
              <a:t>1987+</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6D2E46"/>
                </a:solidFill>
                <a:effectLst/>
                <a:uFillTx/>
                <a:latin typeface="Calibri"/>
                <a:ea typeface="Calibri"/>
              </a:rPr>
              <a:t>Prob. Reason.</a:t>
            </a:r>
            <a:endParaRPr lang="en-US" sz="950" b="0" u="none" strike="noStrike">
              <a:solidFill>
                <a:srgbClr val="000000"/>
              </a:solidFill>
              <a:effectLst/>
              <a:uFillTx/>
              <a:latin typeface="Arial"/>
            </a:endParaRPr>
          </a:p>
        </p:txBody>
      </p:sp>
      <p:sp>
        <p:nvSpPr>
          <p:cNvPr id="169" name="Shape 28"/>
          <p:cNvSpPr/>
          <p:nvPr/>
        </p:nvSpPr>
        <p:spPr>
          <a:xfrm>
            <a:off x="8412480" y="2249280"/>
            <a:ext cx="252360" cy="252360"/>
          </a:xfrm>
          <a:prstGeom prst="ellipse">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0" name="Text 29"/>
          <p:cNvSpPr/>
          <p:nvPr/>
        </p:nvSpPr>
        <p:spPr>
          <a:xfrm>
            <a:off x="8001000" y="960120"/>
            <a:ext cx="1185120" cy="77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0F2B5B"/>
                </a:solidFill>
                <a:effectLst/>
                <a:uFillTx/>
                <a:latin typeface="Calibri"/>
                <a:ea typeface="Calibri"/>
              </a:rPr>
              <a:t>2011+</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F2B5B"/>
                </a:solidFill>
                <a:effectLst/>
                <a:uFillTx/>
                <a:latin typeface="Calibri"/>
                <a:ea typeface="Calibri"/>
              </a:rPr>
              <a:t>Deep Learning</a:t>
            </a:r>
            <a:endParaRPr lang="en-US" sz="950" b="0" u="none" strike="noStrike">
              <a:solidFill>
                <a:srgbClr val="000000"/>
              </a:solidFill>
              <a:effectLst/>
              <a:uFillTx/>
              <a:latin typeface="Arial"/>
            </a:endParaRPr>
          </a:p>
        </p:txBody>
      </p:sp>
      <p:sp>
        <p:nvSpPr>
          <p:cNvPr id="171" name="Shape 30"/>
          <p:cNvSpPr/>
          <p:nvPr/>
        </p:nvSpPr>
        <p:spPr>
          <a:xfrm>
            <a:off x="8540280" y="1737360"/>
            <a:ext cx="360" cy="511920"/>
          </a:xfrm>
          <a:prstGeom prst="line">
            <a:avLst/>
          </a:prstGeom>
          <a:ln w="19050">
            <a:solidFill>
              <a:srgbClr val="0F2B5B"/>
            </a:solidFill>
            <a:prstDash val="dash"/>
            <a:round/>
          </a:ln>
        </p:spPr>
        <p:style>
          <a:lnRef idx="0">
            <a:scrgbClr r="0" g="0" b="0"/>
          </a:lnRef>
          <a:fillRef idx="0">
            <a:scrgbClr r="0" g="0" b="0"/>
          </a:fillRef>
          <a:effectRef idx="0">
            <a:scrgbClr r="0" g="0" b="0"/>
          </a:effectRef>
          <a:fontRef idx="minor"/>
        </p:style>
        <p:txBody>
          <a:bodyPr lIns="0" tIns="45000" rIns="0" bIns="45000" anchor="t" anchorCtr="1">
            <a:noAutofit/>
          </a:bodyPr>
          <a:lstStyle/>
          <a:p>
            <a:endParaRPr lang="en-US" sz="1800" b="0" u="none" strike="noStrike">
              <a:solidFill>
                <a:srgbClr val="000000"/>
              </a:solidFill>
              <a:effectLst/>
              <a:uFillTx/>
              <a:latin typeface="Arial"/>
            </a:endParaRPr>
          </a:p>
        </p:txBody>
      </p:sp>
      <p:sp>
        <p:nvSpPr>
          <p:cNvPr id="172" name="Text 31"/>
          <p:cNvSpPr/>
          <p:nvPr/>
        </p:nvSpPr>
        <p:spPr>
          <a:xfrm>
            <a:off x="8001000" y="2541960"/>
            <a:ext cx="1185120" cy="72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64748B"/>
                </a:solidFill>
                <a:effectLst/>
                <a:uFillTx/>
                <a:latin typeface="Calibri"/>
                <a:ea typeface="Calibri"/>
              </a:rPr>
              <a:t>ImageNet, AlphaGo</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LLMs</a:t>
            </a:r>
            <a:endParaRPr lang="en-US" sz="900" b="0" u="none" strike="noStrike">
              <a:solidFill>
                <a:srgbClr val="000000"/>
              </a:solidFill>
              <a:effectLst/>
              <a:uFillTx/>
              <a:latin typeface="Arial"/>
            </a:endParaRPr>
          </a:p>
        </p:txBody>
      </p:sp>
      <p:sp>
        <p:nvSpPr>
          <p:cNvPr id="173" name="Shape 32"/>
          <p:cNvSpPr/>
          <p:nvPr/>
        </p:nvSpPr>
        <p:spPr>
          <a:xfrm>
            <a:off x="365760" y="3657600"/>
            <a:ext cx="8408880" cy="12308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4" name="Shape 33"/>
          <p:cNvSpPr/>
          <p:nvPr/>
        </p:nvSpPr>
        <p:spPr>
          <a:xfrm>
            <a:off x="365760" y="3657600"/>
            <a:ext cx="8408880" cy="34380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5" name="Text 34"/>
          <p:cNvSpPr/>
          <p:nvPr/>
        </p:nvSpPr>
        <p:spPr>
          <a:xfrm>
            <a:off x="365760" y="3657600"/>
            <a:ext cx="8408880" cy="34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0F2B5B"/>
                </a:solidFill>
                <a:effectLst/>
                <a:uFillTx/>
                <a:latin typeface="Calibri"/>
                <a:ea typeface="Calibri"/>
              </a:rPr>
              <a:t>  Turing Award Milestones</a:t>
            </a:r>
            <a:endParaRPr lang="en-US" sz="1200" b="0" u="none" strike="noStrike">
              <a:solidFill>
                <a:srgbClr val="000000"/>
              </a:solidFill>
              <a:effectLst/>
              <a:uFillTx/>
              <a:latin typeface="Arial"/>
            </a:endParaRPr>
          </a:p>
        </p:txBody>
      </p:sp>
      <p:sp>
        <p:nvSpPr>
          <p:cNvPr id="176" name="Text 35"/>
          <p:cNvSpPr/>
          <p:nvPr/>
        </p:nvSpPr>
        <p:spPr>
          <a:xfrm>
            <a:off x="457200" y="4041720"/>
            <a:ext cx="8226000" cy="72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50" b="0" u="none" strike="noStrike">
                <a:solidFill>
                  <a:srgbClr val="FFFFFF"/>
                </a:solidFill>
                <a:effectLst/>
                <a:uFillTx/>
                <a:latin typeface="Calibri"/>
                <a:ea typeface="Calibri"/>
              </a:rPr>
              <a:t>Minsky &amp; McCarthy (1969, 1971) · Feigenbaum &amp; Reddy (1994) · Judea Pearl (2011) · Bengio, Hinton, LeCun (2019)</a:t>
            </a:r>
            <a:endParaRPr lang="en-US" sz="125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178"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9"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80"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1.3 Inception &amp; Early Enthusiasm (1943–1969)</a:t>
            </a:r>
            <a:endParaRPr lang="en-US" sz="2200" b="0" u="none" strike="noStrike" dirty="0">
              <a:solidFill>
                <a:srgbClr val="000000"/>
              </a:solidFill>
              <a:effectLst/>
              <a:uFillTx/>
              <a:latin typeface="Arial"/>
            </a:endParaRPr>
          </a:p>
        </p:txBody>
      </p:sp>
      <p:sp>
        <p:nvSpPr>
          <p:cNvPr id="181" name="Text 3"/>
          <p:cNvSpPr/>
          <p:nvPr/>
        </p:nvSpPr>
        <p:spPr>
          <a:xfrm>
            <a:off x="365760" y="960120"/>
            <a:ext cx="8408880" cy="39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1943: McCulloch &amp; Pitts — artificial neuron model</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Any computable function can be computed by a network of neurons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Logical connectives implementable with simple network structures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1950: Turing — 'Computing Machinery and Intelligence'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Introduced the Turing Test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Also introduced: machine learning, genetic algorithms, reinforcement learning</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1956: Dartmouth Workshop — AI is officially 'born'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McCarthy coined the term 'Artificial Intelligence'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10 researchers; Newell &amp; Simon presented Logic Theorist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1952–1969: Early successes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GPS: General Problem Solver — imitated human problem-solving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Checkers (Samuel): first program to outplay its creator via RL</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LISP (McCarthy, 1958): dominant AI language for 30 years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Microworlds: SAINT (calculus), STUDENT (algebra), blocks world</a:t>
            </a:r>
            <a:endParaRPr lang="en-US" sz="13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182"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3"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84"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1.3 Dose of Reality → Expert Systems (1966–1986)</a:t>
            </a:r>
            <a:endParaRPr lang="en-US" sz="2200" b="0" u="none" strike="noStrike" dirty="0">
              <a:solidFill>
                <a:srgbClr val="000000"/>
              </a:solidFill>
              <a:effectLst/>
              <a:uFillTx/>
              <a:latin typeface="Arial"/>
            </a:endParaRPr>
          </a:p>
        </p:txBody>
      </p:sp>
      <p:sp>
        <p:nvSpPr>
          <p:cNvPr id="185" name="Shape 3"/>
          <p:cNvSpPr/>
          <p:nvPr/>
        </p:nvSpPr>
        <p:spPr>
          <a:xfrm>
            <a:off x="320040" y="1005840"/>
            <a:ext cx="3928320" cy="3836880"/>
          </a:xfrm>
          <a:prstGeom prst="rect">
            <a:avLst/>
          </a:prstGeom>
          <a:solidFill>
            <a:srgbClr val="FFFFFF"/>
          </a:solidFill>
          <a:ln w="12700">
            <a:solidFill>
              <a:srgbClr val="CBD5E1"/>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6" name="Shape 4"/>
          <p:cNvSpPr/>
          <p:nvPr/>
        </p:nvSpPr>
        <p:spPr>
          <a:xfrm>
            <a:off x="320040" y="1005840"/>
            <a:ext cx="3928320" cy="407880"/>
          </a:xfrm>
          <a:prstGeom prst="rect">
            <a:avLst/>
          </a:prstGeom>
          <a:solidFill>
            <a:srgbClr val="8B1A1A"/>
          </a:solidFill>
          <a:ln w="12700">
            <a:solidFill>
              <a:srgbClr val="8B1A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7" name="Text 5"/>
          <p:cNvSpPr/>
          <p:nvPr/>
        </p:nvSpPr>
        <p:spPr>
          <a:xfrm>
            <a:off x="320040" y="1005840"/>
            <a:ext cx="3928320" cy="40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First AI Winter (1966–1973)</a:t>
            </a:r>
            <a:endParaRPr lang="en-US" sz="1400" b="0" u="none" strike="noStrike">
              <a:solidFill>
                <a:srgbClr val="000000"/>
              </a:solidFill>
              <a:effectLst/>
              <a:uFillTx/>
              <a:latin typeface="Arial"/>
            </a:endParaRPr>
          </a:p>
        </p:txBody>
      </p:sp>
      <p:sp>
        <p:nvSpPr>
          <p:cNvPr id="188" name="Text 6"/>
          <p:cNvSpPr/>
          <p:nvPr/>
        </p:nvSpPr>
        <p:spPr>
          <a:xfrm>
            <a:off x="457200" y="1508760"/>
            <a:ext cx="3654000" cy="319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Early systems worked on tiny problems; failed badly on harder ones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Combinatorial explosion: scaling up is not just faster hardware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Minsky &amp; Papert (1969): perceptrons cannot represent XOR</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Lighthill Report (1973): UK government ends AI funding</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Lesson: general 'weak methods' don't scale</a:t>
            </a:r>
            <a:endParaRPr lang="en-US" sz="1300" b="0" u="none" strike="noStrike">
              <a:solidFill>
                <a:srgbClr val="000000"/>
              </a:solidFill>
              <a:effectLst/>
              <a:uFillTx/>
              <a:latin typeface="Arial"/>
            </a:endParaRPr>
          </a:p>
        </p:txBody>
      </p:sp>
      <p:sp>
        <p:nvSpPr>
          <p:cNvPr id="189" name="Shape 7"/>
          <p:cNvSpPr/>
          <p:nvPr/>
        </p:nvSpPr>
        <p:spPr>
          <a:xfrm>
            <a:off x="4892040" y="1005840"/>
            <a:ext cx="3928320" cy="3836880"/>
          </a:xfrm>
          <a:prstGeom prst="rect">
            <a:avLst/>
          </a:prstGeom>
          <a:solidFill>
            <a:srgbClr val="FFFFFF"/>
          </a:solidFill>
          <a:ln w="12700">
            <a:solidFill>
              <a:srgbClr val="CBD5E1"/>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0" name="Shape 8"/>
          <p:cNvSpPr/>
          <p:nvPr/>
        </p:nvSpPr>
        <p:spPr>
          <a:xfrm>
            <a:off x="4892040" y="1005840"/>
            <a:ext cx="3928320" cy="407880"/>
          </a:xfrm>
          <a:prstGeom prst="rect">
            <a:avLst/>
          </a:prstGeom>
          <a:solidFill>
            <a:srgbClr val="1B6B3A"/>
          </a:solidFill>
          <a:ln w="12700">
            <a:solidFill>
              <a:srgbClr val="1B6B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1" name="Text 9"/>
          <p:cNvSpPr/>
          <p:nvPr/>
        </p:nvSpPr>
        <p:spPr>
          <a:xfrm>
            <a:off x="4892040" y="1005840"/>
            <a:ext cx="3928320" cy="40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Expert Systems (1969–1986)</a:t>
            </a:r>
            <a:endParaRPr lang="en-US" sz="1400" b="0" u="none" strike="noStrike">
              <a:solidFill>
                <a:srgbClr val="000000"/>
              </a:solidFill>
              <a:effectLst/>
              <a:uFillTx/>
              <a:latin typeface="Arial"/>
            </a:endParaRPr>
          </a:p>
        </p:txBody>
      </p:sp>
      <p:sp>
        <p:nvSpPr>
          <p:cNvPr id="192" name="Text 10"/>
          <p:cNvSpPr/>
          <p:nvPr/>
        </p:nvSpPr>
        <p:spPr>
          <a:xfrm>
            <a:off x="5029200" y="1508760"/>
            <a:ext cx="3654000" cy="319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DENDRAL (1969): infer molecular structure from mass spectrometer data</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MYCIN: 450 rules → diagnostic performance matching experts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R1 (DEC): saved $40M/year by 1986 configuring computer orders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AI industry: few million (1980) → billions (1988)</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Second AI Winter: brittleness, inability to handle uncertainty, no learning</a:t>
            </a:r>
            <a:endParaRPr lang="en-US" sz="13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193"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4"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95"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1.3 Modern AI: Neural Nets → Probabilistic → Deep Learning</a:t>
            </a:r>
            <a:endParaRPr lang="en-US" sz="2200" b="0" u="none" strike="noStrike" dirty="0">
              <a:solidFill>
                <a:srgbClr val="000000"/>
              </a:solidFill>
              <a:effectLst/>
              <a:uFillTx/>
              <a:latin typeface="Arial"/>
            </a:endParaRPr>
          </a:p>
        </p:txBody>
      </p:sp>
      <p:sp>
        <p:nvSpPr>
          <p:cNvPr id="196" name="Text 3"/>
          <p:cNvSpPr/>
          <p:nvPr/>
        </p:nvSpPr>
        <p:spPr>
          <a:xfrm>
            <a:off x="365760" y="960120"/>
            <a:ext cx="8408880" cy="39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1986: Backpropagation rediscovered → connectionist revolution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Parallel Distributed Processing (Rumelhart &amp; McClelland)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Challenged symbolic AI; debate: symbols vs. distributed representations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1987+: Probabilistic reasoning &amp; machine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Judea Pearl (1988): Bayesian networks — rigorous uncertain reasoning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Rich Sutton: reinforcement learning + MDPs unified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HMMs dominate; data-driven, mathematically grounded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Benchmark datasets: ImageNet, SQuAD, LibriSpeech become standard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2001+: Big Data + Deep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Millions of images, billions of words → learning algorithms flourish</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2012 ImageNet: Hinton's group CNN — dramatic leap over prior systems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AlphaGo (2016) beats world Go champion; AlphaZero: purely self-play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2017: Microsoft achieves human parity on Switchboard speech recognition</a:t>
            </a:r>
            <a:endParaRPr lang="en-US" sz="13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197"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8"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99"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1.4 State of the Art — What AI Can Do Today</a:t>
            </a:r>
            <a:endParaRPr lang="en-US" sz="2200" b="0" u="none" strike="noStrike" dirty="0">
              <a:solidFill>
                <a:srgbClr val="000000"/>
              </a:solidFill>
              <a:effectLst/>
              <a:uFillTx/>
              <a:latin typeface="Arial"/>
            </a:endParaRPr>
          </a:p>
        </p:txBody>
      </p:sp>
      <p:sp>
        <p:nvSpPr>
          <p:cNvPr id="200" name="Text 3"/>
          <p:cNvSpPr/>
          <p:nvPr/>
        </p:nvSpPr>
        <p:spPr>
          <a:xfrm>
            <a:off x="365760" y="960120"/>
            <a:ext cx="8408880" cy="39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Perception &amp; Language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Object recognition: error rate 28% (2010) → 2% (2017) — beats humans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word error rate 5.1%, matching human performance (2017)</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Machine translation: 100+ languages, 99% of humans' native tongues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Question answering (SQuAD): F1 score 95, exceeds human benchmark</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Reasoning &amp; Decision Making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Chess (Deep Blue, 1997), Go (AlphaGo, 2016), Poker, StarCraft II, Dota 2</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Autonomous planning: NASA Remote Agent; DART saved 30 years of DARPA investment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Robotic vehicles: Waymo at 10M miles; autonomous drones delivering blood in Rwanda</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Science &amp; Medicine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AI ≥ expert doctors at diagnosing Alzheimer's, metastatic cancer, skin disease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Human-AI partnerships outperform either alone (LYNA: 99.6% accuracy)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AlphaFold: protein structure prediction — decades-old biology challenge solved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Deep learning models detect extreme weather patterns buried in climate data</a:t>
            </a:r>
            <a:endParaRPr lang="en-US" sz="13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23" name="Shape 0"/>
          <p:cNvSpPr/>
          <p:nvPr/>
        </p:nvSpPr>
        <p:spPr>
          <a:xfrm>
            <a:off x="0" y="0"/>
            <a:ext cx="9140400" cy="773640"/>
          </a:xfrm>
          <a:prstGeom prst="rect">
            <a:avLst/>
          </a:prstGeom>
          <a:solidFill>
            <a:srgbClr val="0F2B5B"/>
          </a:solidFill>
          <a:ln w="127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4" name="Shape 1"/>
          <p:cNvSpPr/>
          <p:nvPr/>
        </p:nvSpPr>
        <p:spPr>
          <a:xfrm>
            <a:off x="0" y="777240"/>
            <a:ext cx="9140400" cy="604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225" name="Text 2"/>
          <p:cNvSpPr/>
          <p:nvPr/>
        </p:nvSpPr>
        <p:spPr>
          <a:xfrm>
            <a:off x="320040" y="0"/>
            <a:ext cx="8500320" cy="77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FFFF"/>
                </a:solidFill>
                <a:effectLst/>
                <a:uFillTx/>
                <a:latin typeface="Calibri"/>
                <a:ea typeface="Calibri"/>
              </a:rPr>
              <a:t>1.5 Risks and Benefits of AI</a:t>
            </a:r>
            <a:endParaRPr lang="en-US" sz="2200" b="0" u="none" strike="noStrike" dirty="0">
              <a:solidFill>
                <a:srgbClr val="000000"/>
              </a:solidFill>
              <a:effectLst/>
              <a:uFillTx/>
              <a:latin typeface="Arial"/>
            </a:endParaRPr>
          </a:p>
        </p:txBody>
      </p:sp>
      <p:sp>
        <p:nvSpPr>
          <p:cNvPr id="226" name="Shape 3"/>
          <p:cNvSpPr/>
          <p:nvPr/>
        </p:nvSpPr>
        <p:spPr>
          <a:xfrm>
            <a:off x="320040" y="1005840"/>
            <a:ext cx="3928320" cy="3836880"/>
          </a:xfrm>
          <a:prstGeom prst="rect">
            <a:avLst/>
          </a:prstGeom>
          <a:solidFill>
            <a:srgbClr val="FFFFFF"/>
          </a:solidFill>
          <a:ln w="12700">
            <a:solidFill>
              <a:srgbClr val="CBD5E1"/>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7" name="Shape 4"/>
          <p:cNvSpPr/>
          <p:nvPr/>
        </p:nvSpPr>
        <p:spPr>
          <a:xfrm>
            <a:off x="320040" y="1005840"/>
            <a:ext cx="3928320" cy="407880"/>
          </a:xfrm>
          <a:prstGeom prst="rect">
            <a:avLst/>
          </a:prstGeom>
          <a:solidFill>
            <a:srgbClr val="1B6B3A"/>
          </a:solidFill>
          <a:ln w="12700">
            <a:solidFill>
              <a:srgbClr val="1B6B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8" name="Text 5"/>
          <p:cNvSpPr/>
          <p:nvPr/>
        </p:nvSpPr>
        <p:spPr>
          <a:xfrm>
            <a:off x="320040" y="1005840"/>
            <a:ext cx="3928320" cy="40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Benefits</a:t>
            </a:r>
            <a:endParaRPr lang="en-US" sz="1400" b="0" u="none" strike="noStrike">
              <a:solidFill>
                <a:srgbClr val="000000"/>
              </a:solidFill>
              <a:effectLst/>
              <a:uFillTx/>
              <a:latin typeface="Arial"/>
            </a:endParaRPr>
          </a:p>
        </p:txBody>
      </p:sp>
      <p:sp>
        <p:nvSpPr>
          <p:cNvPr id="229" name="Text 6"/>
          <p:cNvSpPr/>
          <p:nvPr/>
        </p:nvSpPr>
        <p:spPr>
          <a:xfrm>
            <a:off x="457200" y="1508760"/>
            <a:ext cx="3654000" cy="319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Free humanity from menial, repetitive work</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Dramatically increase production of goods and services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Accelerate scientific research: cures, climate solutions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Demis Hassabis: 'First solve AI, then use AI to solve everything else'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Medical AI already equals or exceeds specialists in several diagnostics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AI helps 100M+ people daily with navigation, translation, recommendations</a:t>
            </a:r>
            <a:endParaRPr lang="en-US" sz="1300" b="0" u="none" strike="noStrike">
              <a:solidFill>
                <a:srgbClr val="000000"/>
              </a:solidFill>
              <a:effectLst/>
              <a:uFillTx/>
              <a:latin typeface="Arial"/>
            </a:endParaRPr>
          </a:p>
        </p:txBody>
      </p:sp>
      <p:sp>
        <p:nvSpPr>
          <p:cNvPr id="230" name="Shape 7"/>
          <p:cNvSpPr/>
          <p:nvPr/>
        </p:nvSpPr>
        <p:spPr>
          <a:xfrm>
            <a:off x="4892040" y="1005840"/>
            <a:ext cx="3928320" cy="3836880"/>
          </a:xfrm>
          <a:prstGeom prst="rect">
            <a:avLst/>
          </a:prstGeom>
          <a:solidFill>
            <a:srgbClr val="FFFFFF"/>
          </a:solidFill>
          <a:ln w="12700">
            <a:solidFill>
              <a:srgbClr val="CBD5E1"/>
            </a:solidFill>
            <a:round/>
          </a:ln>
          <a:effectLst>
            <a:outerShdw blurRad="50760" dist="25455" dir="81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1" name="Shape 8"/>
          <p:cNvSpPr/>
          <p:nvPr/>
        </p:nvSpPr>
        <p:spPr>
          <a:xfrm>
            <a:off x="4892040" y="1005840"/>
            <a:ext cx="3928320" cy="407880"/>
          </a:xfrm>
          <a:prstGeom prst="rect">
            <a:avLst/>
          </a:prstGeom>
          <a:solidFill>
            <a:srgbClr val="8B1A1A"/>
          </a:solidFill>
          <a:ln w="12700">
            <a:solidFill>
              <a:srgbClr val="8B1A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2" name="Text 9"/>
          <p:cNvSpPr/>
          <p:nvPr/>
        </p:nvSpPr>
        <p:spPr>
          <a:xfrm>
            <a:off x="4892040" y="1005840"/>
            <a:ext cx="3928320" cy="40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Risks</a:t>
            </a:r>
            <a:endParaRPr lang="en-US" sz="1400" b="0" u="none" strike="noStrike">
              <a:solidFill>
                <a:srgbClr val="000000"/>
              </a:solidFill>
              <a:effectLst/>
              <a:uFillTx/>
              <a:latin typeface="Arial"/>
            </a:endParaRPr>
          </a:p>
        </p:txBody>
      </p:sp>
      <p:sp>
        <p:nvSpPr>
          <p:cNvPr id="233" name="Text 10"/>
          <p:cNvSpPr/>
          <p:nvPr/>
        </p:nvSpPr>
        <p:spPr>
          <a:xfrm>
            <a:off x="5029200" y="1508760"/>
            <a:ext cx="3654000" cy="319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Lethal autonomous weapons: scalable, no human supervision required</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563C1"/>
                </a:solidFill>
                <a:effectLst/>
                <a:uFillTx/>
                <a:latin typeface="Calibri"/>
                <a:ea typeface="Calibri"/>
                <a:hlinkClick r:id="rId3"/>
              </a:rPr>
              <a:t>Mass surveillance</a:t>
            </a:r>
            <a:r>
              <a:rPr lang="en-US" sz="1300" b="0" u="none" strike="noStrike">
                <a:solidFill>
                  <a:srgbClr val="00A933"/>
                </a:solidFill>
                <a:effectLst/>
                <a:uFillTx/>
                <a:latin typeface="Calibri"/>
                <a:ea typeface="Calibri"/>
              </a:rPr>
              <a:t>:</a:t>
            </a:r>
            <a:r>
              <a:rPr lang="en-US" sz="1300" b="0" u="none" strike="noStrike">
                <a:solidFill>
                  <a:srgbClr val="0F2B5B"/>
                </a:solidFill>
                <a:effectLst/>
                <a:uFillTx/>
                <a:latin typeface="Calibri"/>
                <a:ea typeface="Calibri"/>
              </a:rPr>
              <a:t> speech/vision AI enables real-time monitoring at scale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Biased decision making: parole, loans — reflecting and amplifying societal bias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Employment disruption: shifts wealth from labor to capital</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Safety-critical failures: self-driving fatal accidents; formal verification gaps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Cybersecurity: RL-powered phishing/blackmail; automated malware</a:t>
            </a:r>
            <a:endParaRPr lang="en-US" sz="13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01" name="Shape 56"/>
          <p:cNvSpPr/>
          <p:nvPr/>
        </p:nvSpPr>
        <p:spPr>
          <a:xfrm>
            <a:off x="0" y="0"/>
            <a:ext cx="9140400" cy="773640"/>
          </a:xfrm>
          <a:prstGeom prst="rect">
            <a:avLst/>
          </a:prstGeom>
          <a:solidFill>
            <a:srgbClr val="0F2B5B"/>
          </a:solidFill>
          <a:ln w="12600">
            <a:solidFill>
              <a:srgbClr val="0F2B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2" name="Shape 57"/>
          <p:cNvSpPr/>
          <p:nvPr/>
        </p:nvSpPr>
        <p:spPr>
          <a:xfrm>
            <a:off x="0" y="777240"/>
            <a:ext cx="9140400" cy="60480"/>
          </a:xfrm>
          <a:prstGeom prst="rect">
            <a:avLst/>
          </a:prstGeom>
          <a:solidFill>
            <a:srgbClr val="F4A020"/>
          </a:solidFill>
          <a:ln w="12600">
            <a:solidFill>
              <a:srgbClr val="F4A020"/>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203" name="Text 0"/>
          <p:cNvSpPr/>
          <p:nvPr/>
        </p:nvSpPr>
        <p:spPr>
          <a:xfrm>
            <a:off x="377280" y="219240"/>
            <a:ext cx="685440" cy="17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350" b="0" u="none" strike="noStrike">
              <a:solidFill>
                <a:srgbClr val="000000"/>
              </a:solidFill>
              <a:effectLst/>
              <a:uFillTx/>
              <a:latin typeface="Arial"/>
            </a:endParaRPr>
          </a:p>
        </p:txBody>
      </p:sp>
      <p:sp>
        <p:nvSpPr>
          <p:cNvPr id="204" name="Text 30"/>
          <p:cNvSpPr/>
          <p:nvPr/>
        </p:nvSpPr>
        <p:spPr>
          <a:xfrm>
            <a:off x="228600" y="228600"/>
            <a:ext cx="816084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b="1" u="none" strike="noStrike" dirty="0">
                <a:solidFill>
                  <a:srgbClr val="FFFFFF"/>
                </a:solidFill>
                <a:effectLst/>
                <a:uFillTx/>
                <a:latin typeface="Aptos Display"/>
                <a:ea typeface="Aptos Display"/>
              </a:rPr>
              <a:t>1.5 HLAI, AGI, ASI, and the Gorilla Problem</a:t>
            </a:r>
            <a:endParaRPr lang="en-US" b="0" u="none" strike="noStrike" dirty="0">
              <a:solidFill>
                <a:srgbClr val="FFFFFF"/>
              </a:solidFill>
              <a:effectLst/>
              <a:uFillTx/>
              <a:latin typeface="Arial"/>
            </a:endParaRPr>
          </a:p>
        </p:txBody>
      </p:sp>
      <p:sp>
        <p:nvSpPr>
          <p:cNvPr id="205" name="Shape 49"/>
          <p:cNvSpPr/>
          <p:nvPr/>
        </p:nvSpPr>
        <p:spPr>
          <a:xfrm>
            <a:off x="377280" y="864000"/>
            <a:ext cx="8366760" cy="0"/>
          </a:xfrm>
          <a:prstGeom prst="line">
            <a:avLst/>
          </a:prstGeom>
          <a:ln w="1260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06" name="Text 32"/>
          <p:cNvSpPr/>
          <p:nvPr/>
        </p:nvSpPr>
        <p:spPr>
          <a:xfrm>
            <a:off x="7372440" y="4848840"/>
            <a:ext cx="1371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7B8794"/>
                </a:solidFill>
                <a:effectLst/>
                <a:uFillTx/>
                <a:latin typeface="Aptos"/>
                <a:ea typeface="Aptos"/>
              </a:rPr>
              <a:t>COMP 469 · Chapter 1</a:t>
            </a:r>
            <a:endParaRPr lang="en-US" sz="850" b="0" u="none" strike="noStrike">
              <a:solidFill>
                <a:srgbClr val="000000"/>
              </a:solidFill>
              <a:effectLst/>
              <a:uFillTx/>
              <a:latin typeface="Arial"/>
            </a:endParaRPr>
          </a:p>
        </p:txBody>
      </p:sp>
      <p:sp>
        <p:nvSpPr>
          <p:cNvPr id="207" name="Shape 50"/>
          <p:cNvSpPr/>
          <p:nvPr/>
        </p:nvSpPr>
        <p:spPr>
          <a:xfrm>
            <a:off x="617400" y="1063080"/>
            <a:ext cx="2536920" cy="1042200"/>
          </a:xfrm>
          <a:prstGeom prst="roundRect">
            <a:avLst>
              <a:gd name="adj" fmla="val 16667"/>
            </a:avLst>
          </a:prstGeom>
          <a:solidFill>
            <a:srgbClr val="FFFFFF"/>
          </a:solidFill>
          <a:ln w="12600">
            <a:solidFill>
              <a:srgbClr val="D9E2EC"/>
            </a:solidFill>
            <a:round/>
          </a:ln>
          <a:effectLst>
            <a:outerShdw blurRad="12600" dist="4582" dir="2700000"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8" name="Text 33"/>
          <p:cNvSpPr/>
          <p:nvPr/>
        </p:nvSpPr>
        <p:spPr>
          <a:xfrm>
            <a:off x="788760" y="1248120"/>
            <a:ext cx="617040" cy="20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247BA0"/>
                </a:solidFill>
                <a:effectLst/>
                <a:uFillTx/>
                <a:latin typeface="Aptos"/>
              </a:rPr>
              <a:t>HLAI</a:t>
            </a:r>
            <a:endParaRPr lang="en-US" sz="2000" b="0" u="none" strike="noStrike">
              <a:solidFill>
                <a:srgbClr val="000000"/>
              </a:solidFill>
              <a:effectLst/>
              <a:uFillTx/>
              <a:latin typeface="Arial"/>
            </a:endParaRPr>
          </a:p>
        </p:txBody>
      </p:sp>
      <p:sp>
        <p:nvSpPr>
          <p:cNvPr id="209" name="Text 37"/>
          <p:cNvSpPr/>
          <p:nvPr/>
        </p:nvSpPr>
        <p:spPr>
          <a:xfrm>
            <a:off x="1062720" y="1522080"/>
            <a:ext cx="1851840" cy="42869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a:bodyPr>
          <a:lstStyle/>
          <a:p>
            <a:pPr defTabSz="914400">
              <a:lnSpc>
                <a:spcPct val="100000"/>
              </a:lnSpc>
              <a:tabLst>
                <a:tab pos="0" algn="l"/>
              </a:tabLst>
            </a:pPr>
            <a:r>
              <a:rPr lang="en-US" sz="1350" b="0" u="none" strike="noStrike" dirty="0">
                <a:solidFill>
                  <a:srgbClr val="1F2933"/>
                </a:solidFill>
                <a:effectLst/>
                <a:uFillTx/>
                <a:latin typeface="Aptos"/>
              </a:rPr>
              <a:t>Human-level AI: learn to do anything a human can do</a:t>
            </a:r>
            <a:endParaRPr lang="en-US" sz="1350" b="0" u="none" strike="noStrike" dirty="0">
              <a:solidFill>
                <a:srgbClr val="000000"/>
              </a:solidFill>
              <a:effectLst/>
              <a:uFillTx/>
              <a:latin typeface="Arial"/>
            </a:endParaRPr>
          </a:p>
        </p:txBody>
      </p:sp>
      <p:sp>
        <p:nvSpPr>
          <p:cNvPr id="210" name="Shape 51"/>
          <p:cNvSpPr/>
          <p:nvPr/>
        </p:nvSpPr>
        <p:spPr>
          <a:xfrm>
            <a:off x="3326040" y="1063080"/>
            <a:ext cx="2536920" cy="1042200"/>
          </a:xfrm>
          <a:prstGeom prst="roundRect">
            <a:avLst>
              <a:gd name="adj" fmla="val 16667"/>
            </a:avLst>
          </a:prstGeom>
          <a:solidFill>
            <a:srgbClr val="FFFFFF"/>
          </a:solidFill>
          <a:ln w="12600">
            <a:solidFill>
              <a:srgbClr val="D9E2EC"/>
            </a:solidFill>
            <a:round/>
          </a:ln>
          <a:effectLst>
            <a:outerShdw blurRad="12600" dist="4582" dir="2700000"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1" name="Text 39"/>
          <p:cNvSpPr/>
          <p:nvPr/>
        </p:nvSpPr>
        <p:spPr>
          <a:xfrm>
            <a:off x="3497400" y="1248120"/>
            <a:ext cx="617040" cy="20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6D28D9"/>
                </a:solidFill>
                <a:effectLst/>
                <a:uFillTx/>
                <a:latin typeface="Aptos"/>
              </a:rPr>
              <a:t>AGI</a:t>
            </a:r>
            <a:endParaRPr lang="en-US" sz="2000" b="0" u="none" strike="noStrike">
              <a:solidFill>
                <a:srgbClr val="000000"/>
              </a:solidFill>
              <a:effectLst/>
              <a:uFillTx/>
              <a:latin typeface="Arial"/>
            </a:endParaRPr>
          </a:p>
        </p:txBody>
      </p:sp>
      <p:sp>
        <p:nvSpPr>
          <p:cNvPr id="212" name="Text 47"/>
          <p:cNvSpPr/>
          <p:nvPr/>
        </p:nvSpPr>
        <p:spPr>
          <a:xfrm>
            <a:off x="3799490" y="1481398"/>
            <a:ext cx="1967287" cy="46937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0" u="none" strike="noStrike" dirty="0">
                <a:solidFill>
                  <a:srgbClr val="1F2933"/>
                </a:solidFill>
                <a:effectLst/>
                <a:uFillTx/>
                <a:latin typeface="Aptos"/>
              </a:rPr>
              <a:t>Artificial general intelligence: broad abilities across tasks</a:t>
            </a:r>
            <a:endParaRPr lang="en-US" sz="1000" b="0" u="none" strike="noStrike" dirty="0">
              <a:solidFill>
                <a:srgbClr val="000000"/>
              </a:solidFill>
              <a:effectLst/>
              <a:uFillTx/>
              <a:latin typeface="Arial"/>
            </a:endParaRPr>
          </a:p>
        </p:txBody>
      </p:sp>
      <p:sp>
        <p:nvSpPr>
          <p:cNvPr id="213" name="Shape 52"/>
          <p:cNvSpPr/>
          <p:nvPr/>
        </p:nvSpPr>
        <p:spPr>
          <a:xfrm>
            <a:off x="6035040" y="1063080"/>
            <a:ext cx="2536920" cy="1042200"/>
          </a:xfrm>
          <a:prstGeom prst="roundRect">
            <a:avLst>
              <a:gd name="adj" fmla="val 16667"/>
            </a:avLst>
          </a:prstGeom>
          <a:solidFill>
            <a:srgbClr val="FFFFFF"/>
          </a:solidFill>
          <a:ln w="12600">
            <a:solidFill>
              <a:srgbClr val="D9E2EC"/>
            </a:solidFill>
            <a:round/>
          </a:ln>
          <a:effectLst>
            <a:outerShdw blurRad="12600" dist="4582" dir="2700000"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4" name="Text 48"/>
          <p:cNvSpPr/>
          <p:nvPr/>
        </p:nvSpPr>
        <p:spPr>
          <a:xfrm>
            <a:off x="6206400" y="1248120"/>
            <a:ext cx="617040" cy="20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C1121F"/>
                </a:solidFill>
                <a:effectLst/>
                <a:uFillTx/>
                <a:latin typeface="Aptos"/>
              </a:rPr>
              <a:t>ASI</a:t>
            </a:r>
            <a:endParaRPr lang="en-US" sz="2000" b="0" u="none" strike="noStrike">
              <a:solidFill>
                <a:srgbClr val="000000"/>
              </a:solidFill>
              <a:effectLst/>
              <a:uFillTx/>
              <a:latin typeface="Arial"/>
            </a:endParaRPr>
          </a:p>
        </p:txBody>
      </p:sp>
      <p:sp>
        <p:nvSpPr>
          <p:cNvPr id="215" name="Text 49"/>
          <p:cNvSpPr/>
          <p:nvPr/>
        </p:nvSpPr>
        <p:spPr>
          <a:xfrm>
            <a:off x="6453061" y="1481399"/>
            <a:ext cx="1850637" cy="46937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a:bodyPr>
          <a:lstStyle/>
          <a:p>
            <a:pPr defTabSz="914400">
              <a:lnSpc>
                <a:spcPct val="100000"/>
              </a:lnSpc>
              <a:tabLst>
                <a:tab pos="0" algn="l"/>
              </a:tabLst>
            </a:pPr>
            <a:r>
              <a:rPr lang="en-US" sz="1350" b="0" u="none" strike="noStrike" dirty="0">
                <a:solidFill>
                  <a:srgbClr val="1F2933"/>
                </a:solidFill>
                <a:effectLst/>
                <a:uFillTx/>
                <a:latin typeface="Aptos"/>
              </a:rPr>
              <a:t>Artificial superintelligence: far surpasses human ability</a:t>
            </a:r>
            <a:endParaRPr lang="en-US" sz="1350" b="0" u="none" strike="noStrike" dirty="0">
              <a:solidFill>
                <a:srgbClr val="000000"/>
              </a:solidFill>
              <a:effectLst/>
              <a:uFillTx/>
              <a:latin typeface="Arial"/>
            </a:endParaRPr>
          </a:p>
        </p:txBody>
      </p:sp>
      <p:sp>
        <p:nvSpPr>
          <p:cNvPr id="216" name="Shape 53"/>
          <p:cNvSpPr/>
          <p:nvPr/>
        </p:nvSpPr>
        <p:spPr>
          <a:xfrm>
            <a:off x="1371600" y="2455200"/>
            <a:ext cx="6309360" cy="0"/>
          </a:xfrm>
          <a:prstGeom prst="line">
            <a:avLst/>
          </a:prstGeom>
          <a:ln w="25560">
            <a:solidFill>
              <a:srgbClr val="D9E2E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17" name="Text 50"/>
          <p:cNvSpPr/>
          <p:nvPr/>
        </p:nvSpPr>
        <p:spPr>
          <a:xfrm>
            <a:off x="3566160" y="2592360"/>
            <a:ext cx="1919880" cy="20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52616B"/>
                </a:solidFill>
                <a:effectLst/>
                <a:uFillTx/>
                <a:latin typeface="Aptos"/>
              </a:rPr>
              <a:t>Capability increases</a:t>
            </a:r>
            <a:endParaRPr lang="en-US" sz="1500" b="0" u="none" strike="noStrike">
              <a:solidFill>
                <a:srgbClr val="000000"/>
              </a:solidFill>
              <a:effectLst/>
              <a:uFillTx/>
              <a:latin typeface="Arial"/>
            </a:endParaRPr>
          </a:p>
        </p:txBody>
      </p:sp>
      <p:sp>
        <p:nvSpPr>
          <p:cNvPr id="218" name="Shape 54"/>
          <p:cNvSpPr/>
          <p:nvPr/>
        </p:nvSpPr>
        <p:spPr>
          <a:xfrm>
            <a:off x="720000" y="3120480"/>
            <a:ext cx="7715160" cy="754200"/>
          </a:xfrm>
          <a:prstGeom prst="roundRect">
            <a:avLst>
              <a:gd name="adj" fmla="val 16667"/>
            </a:avLst>
          </a:prstGeom>
          <a:solidFill>
            <a:srgbClr val="FFFFFF"/>
          </a:solidFill>
          <a:ln w="1260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9" name="Text 51"/>
          <p:cNvSpPr/>
          <p:nvPr/>
        </p:nvSpPr>
        <p:spPr>
          <a:xfrm>
            <a:off x="925920" y="3305520"/>
            <a:ext cx="1714320" cy="20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02A43"/>
                </a:solidFill>
                <a:effectLst/>
                <a:uFillTx/>
                <a:latin typeface="Aptos"/>
              </a:rPr>
              <a:t>The Gorilla Problem</a:t>
            </a:r>
            <a:endParaRPr lang="en-US" sz="1800" b="0" u="none" strike="noStrike">
              <a:solidFill>
                <a:srgbClr val="000000"/>
              </a:solidFill>
              <a:effectLst/>
              <a:uFillTx/>
              <a:latin typeface="Arial"/>
            </a:endParaRPr>
          </a:p>
        </p:txBody>
      </p:sp>
      <p:sp>
        <p:nvSpPr>
          <p:cNvPr id="220" name="Text 52"/>
          <p:cNvSpPr/>
          <p:nvPr/>
        </p:nvSpPr>
        <p:spPr>
          <a:xfrm>
            <a:off x="2708640" y="3257640"/>
            <a:ext cx="5451840" cy="260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62500" lnSpcReduction="20000"/>
          </a:bodyPr>
          <a:lstStyle/>
          <a:p>
            <a:pPr defTabSz="914400">
              <a:lnSpc>
                <a:spcPct val="100000"/>
              </a:lnSpc>
              <a:tabLst>
                <a:tab pos="0" algn="l"/>
              </a:tabLst>
            </a:pPr>
            <a:r>
              <a:rPr lang="en-US" sz="1550" b="0" u="none" strike="noStrike">
                <a:solidFill>
                  <a:srgbClr val="1F2933"/>
                </a:solidFill>
                <a:effectLst/>
                <a:uFillTx/>
                <a:latin typeface="Aptos"/>
              </a:rPr>
              <a:t>A less capable species may have little control over its future once a more capable intelligence exists.</a:t>
            </a:r>
            <a:endParaRPr lang="en-US" sz="1550" b="0" u="none" strike="noStrike">
              <a:solidFill>
                <a:srgbClr val="000000"/>
              </a:solidFill>
              <a:effectLst/>
              <a:uFillTx/>
              <a:latin typeface="Arial"/>
            </a:endParaRPr>
          </a:p>
        </p:txBody>
      </p:sp>
      <p:sp>
        <p:nvSpPr>
          <p:cNvPr id="221" name="Shape 55"/>
          <p:cNvSpPr/>
          <p:nvPr/>
        </p:nvSpPr>
        <p:spPr>
          <a:xfrm>
            <a:off x="891720" y="4217760"/>
            <a:ext cx="7337880" cy="397440"/>
          </a:xfrm>
          <a:prstGeom prst="roundRect">
            <a:avLst>
              <a:gd name="adj" fmla="val 13793"/>
            </a:avLst>
          </a:prstGeom>
          <a:solidFill>
            <a:srgbClr val="6D28D9"/>
          </a:solidFill>
          <a:ln w="12600">
            <a:solidFill>
              <a:srgbClr val="6D28D9"/>
            </a:solidFill>
            <a:round/>
          </a:ln>
          <a:effectLst>
            <a:outerShdw blurRad="19080" dist="7127" dir="2700000"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2" name="Text 53"/>
          <p:cNvSpPr/>
          <p:nvPr/>
        </p:nvSpPr>
        <p:spPr>
          <a:xfrm>
            <a:off x="994320" y="4286160"/>
            <a:ext cx="7131960" cy="260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9999"/>
          </a:bodyPr>
          <a:lstStyle/>
          <a:p>
            <a:pPr algn="ctr" defTabSz="914400">
              <a:lnSpc>
                <a:spcPct val="100000"/>
              </a:lnSpc>
              <a:tabLst>
                <a:tab pos="0" algn="l"/>
              </a:tabLst>
            </a:pPr>
            <a:r>
              <a:rPr lang="en-US" sz="1450" b="1" u="none" strike="noStrike">
                <a:solidFill>
                  <a:srgbClr val="FFFFFF"/>
                </a:solidFill>
                <a:effectLst/>
                <a:uFillTx/>
                <a:latin typeface="Aptos"/>
                <a:ea typeface="Aptos"/>
              </a:rPr>
              <a:t>Key idea: objective misalignment is one risk; loss of control to a more capable intelligence is another.</a:t>
            </a:r>
            <a:endParaRPr lang="en-US" sz="145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3679"/>
        </a:solidFill>
        <a:effectLst/>
      </p:bgPr>
    </p:bg>
    <p:spTree>
      <p:nvGrpSpPr>
        <p:cNvPr id="1" name=""/>
        <p:cNvGrpSpPr/>
        <p:nvPr/>
      </p:nvGrpSpPr>
      <p:grpSpPr>
        <a:xfrm>
          <a:off x="0" y="0"/>
          <a:ext cx="0" cy="0"/>
          <a:chOff x="0" y="0"/>
          <a:chExt cx="0" cy="0"/>
        </a:xfrm>
      </p:grpSpPr>
      <p:sp>
        <p:nvSpPr>
          <p:cNvPr id="234" name="Shape 0"/>
          <p:cNvSpPr/>
          <p:nvPr/>
        </p:nvSpPr>
        <p:spPr>
          <a:xfrm>
            <a:off x="0" y="0"/>
            <a:ext cx="160920" cy="51400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80640" tIns="45000" rIns="80640" bIns="45000" anchor="t">
            <a:noAutofit/>
          </a:bodyPr>
          <a:lstStyle/>
          <a:p>
            <a:endParaRPr lang="en-US" sz="1800" b="0" u="none" strike="noStrike">
              <a:solidFill>
                <a:srgbClr val="000000"/>
              </a:solidFill>
              <a:effectLst/>
              <a:uFillTx/>
              <a:latin typeface="Arial"/>
            </a:endParaRPr>
          </a:p>
        </p:txBody>
      </p:sp>
      <p:sp>
        <p:nvSpPr>
          <p:cNvPr id="235" name="Text 1"/>
          <p:cNvSpPr/>
          <p:nvPr/>
        </p:nvSpPr>
        <p:spPr>
          <a:xfrm>
            <a:off x="457200" y="228600"/>
            <a:ext cx="8226000" cy="682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Chapter 1 Summary</a:t>
            </a:r>
            <a:endParaRPr lang="en-US" sz="2600" b="0" u="none" strike="noStrike">
              <a:solidFill>
                <a:srgbClr val="FFFFFF"/>
              </a:solidFill>
              <a:effectLst/>
              <a:uFillTx/>
              <a:latin typeface="Arial"/>
            </a:endParaRPr>
          </a:p>
        </p:txBody>
      </p:sp>
      <p:sp>
        <p:nvSpPr>
          <p:cNvPr id="236" name="Text 2"/>
          <p:cNvSpPr/>
          <p:nvPr/>
        </p:nvSpPr>
        <p:spPr>
          <a:xfrm>
            <a:off x="457200" y="1005840"/>
            <a:ext cx="8317440" cy="3928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AI's goal:</a:t>
            </a:r>
            <a:r>
              <a:rPr lang="en-US" sz="1500" b="0" u="none" strike="noStrike">
                <a:solidFill>
                  <a:srgbClr val="FFFFFF"/>
                </a:solidFill>
                <a:effectLst/>
                <a:uFillTx/>
                <a:latin typeface="Calibri"/>
                <a:ea typeface="Calibri"/>
              </a:rPr>
              <a:t> build agents that act rationally — maximizing expected performance given an objective.</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Four historical approaches: </a:t>
            </a:r>
            <a:r>
              <a:rPr lang="en-US" sz="1500" b="0" u="none" strike="noStrike">
                <a:solidFill>
                  <a:srgbClr val="FFFFFF"/>
                </a:solidFill>
                <a:effectLst/>
                <a:uFillTx/>
                <a:latin typeface="Calibri"/>
                <a:ea typeface="Calibri"/>
              </a:rPr>
              <a:t>acting/thinking humanly vs. rationally. The rational agent approach dominates.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Value alignment:</a:t>
            </a:r>
            <a:r>
              <a:rPr lang="en-US" sz="1500" b="0" u="none" strike="noStrike">
                <a:solidFill>
                  <a:srgbClr val="FFFFFF"/>
                </a:solidFill>
                <a:effectLst/>
                <a:uFillTx/>
                <a:latin typeface="Calibri"/>
                <a:ea typeface="Calibri"/>
              </a:rPr>
              <a:t> machines pursuing a fixed objective can cause harm; future AI must handle uncertain objectives.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Seven founding disciplines: </a:t>
            </a:r>
            <a:r>
              <a:rPr lang="en-US" sz="1500" b="0" u="none" strike="noStrike">
                <a:solidFill>
                  <a:srgbClr val="FFFFFF"/>
                </a:solidFill>
                <a:effectLst/>
                <a:uFillTx/>
                <a:latin typeface="Calibri"/>
                <a:ea typeface="Calibri"/>
              </a:rPr>
              <a:t>Philosophy, Mathematics, Economics, Neuroscience, Psychology, Linguistics, CS.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History follows cycles: </a:t>
            </a:r>
            <a:r>
              <a:rPr lang="en-US" sz="1500" b="0" u="none" strike="noStrike">
                <a:solidFill>
                  <a:srgbClr val="FFFFFF"/>
                </a:solidFill>
                <a:effectLst/>
                <a:uFillTx/>
                <a:latin typeface="Calibri"/>
                <a:ea typeface="Calibri"/>
              </a:rPr>
              <a:t>enthusiasm → failure → new approach. Deep learning is the latest revolution.</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State of the art: </a:t>
            </a:r>
            <a:r>
              <a:rPr lang="en-US" sz="1500" b="0" u="none" strike="noStrike">
                <a:solidFill>
                  <a:srgbClr val="FFFFFF"/>
                </a:solidFill>
                <a:effectLst/>
                <a:uFillTx/>
                <a:latin typeface="Calibri"/>
                <a:ea typeface="Calibri"/>
              </a:rPr>
              <a:t>AI now matches or exceeds humans in perception, translation, diagnosis, and complex games.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Risks are real: </a:t>
            </a:r>
            <a:r>
              <a:rPr lang="en-US" sz="1500" b="0" u="none" strike="noStrike">
                <a:solidFill>
                  <a:srgbClr val="FFFFFF"/>
                </a:solidFill>
                <a:effectLst/>
                <a:uFillTx/>
                <a:latin typeface="Calibri"/>
                <a:ea typeface="Calibri"/>
              </a:rPr>
              <a:t>autonomous weapons, surveillance, bias, employment disruption, misaligned superintelligence</a:t>
            </a:r>
            <a:r>
              <a:rPr lang="en-US" sz="1300" b="0" u="none" strike="noStrike">
                <a:solidFill>
                  <a:srgbClr val="FFFFFF"/>
                </a:solidFill>
                <a:effectLst/>
                <a:uFillTx/>
                <a:latin typeface="Calibri"/>
                <a:ea typeface="Calibri"/>
              </a:rPr>
              <a:t>.</a:t>
            </a:r>
            <a:endParaRPr lang="en-US" sz="1300" b="0" u="none" strike="noStrike">
              <a:solidFill>
                <a:srgbClr val="FFFFFF"/>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1B36"/>
        </a:solidFill>
        <a:effectLst/>
      </p:bgPr>
    </p:bg>
    <p:spTree>
      <p:nvGrpSpPr>
        <p:cNvPr id="1" name=""/>
        <p:cNvGrpSpPr/>
        <p:nvPr/>
      </p:nvGrpSpPr>
      <p:grpSpPr>
        <a:xfrm>
          <a:off x="0" y="0"/>
          <a:ext cx="0" cy="0"/>
          <a:chOff x="0" y="0"/>
          <a:chExt cx="0" cy="0"/>
        </a:xfrm>
      </p:grpSpPr>
      <p:sp>
        <p:nvSpPr>
          <p:cNvPr id="237" name="Shape 0"/>
          <p:cNvSpPr/>
          <p:nvPr/>
        </p:nvSpPr>
        <p:spPr>
          <a:xfrm>
            <a:off x="0" y="0"/>
            <a:ext cx="160920" cy="5140080"/>
          </a:xfrm>
          <a:prstGeom prst="rect">
            <a:avLst/>
          </a:prstGeom>
          <a:solidFill>
            <a:srgbClr val="F4A020"/>
          </a:solidFill>
          <a:ln w="12700">
            <a:solidFill>
              <a:srgbClr val="F4A020"/>
            </a:solidFill>
            <a:round/>
          </a:ln>
        </p:spPr>
        <p:style>
          <a:lnRef idx="0">
            <a:scrgbClr r="0" g="0" b="0"/>
          </a:lnRef>
          <a:fillRef idx="0">
            <a:scrgbClr r="0" g="0" b="0"/>
          </a:fillRef>
          <a:effectRef idx="0">
            <a:scrgbClr r="0" g="0" b="0"/>
          </a:effectRef>
          <a:fontRef idx="minor"/>
        </p:style>
        <p:txBody>
          <a:bodyPr lIns="80640" tIns="45000" rIns="80640" bIns="45000" anchor="t">
            <a:noAutofit/>
          </a:bodyPr>
          <a:lstStyle/>
          <a:p>
            <a:endParaRPr lang="en-US" sz="1800" b="0" u="none" strike="noStrike">
              <a:solidFill>
                <a:srgbClr val="000000"/>
              </a:solidFill>
              <a:effectLst/>
              <a:uFillTx/>
              <a:latin typeface="Arial"/>
            </a:endParaRPr>
          </a:p>
        </p:txBody>
      </p:sp>
      <p:sp>
        <p:nvSpPr>
          <p:cNvPr id="238" name="Text 1"/>
          <p:cNvSpPr/>
          <p:nvPr/>
        </p:nvSpPr>
        <p:spPr>
          <a:xfrm>
            <a:off x="457200" y="1371600"/>
            <a:ext cx="8226000" cy="91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4200" b="1" u="none" strike="noStrike">
                <a:solidFill>
                  <a:srgbClr val="FFFFFF"/>
                </a:solidFill>
                <a:effectLst/>
                <a:uFillTx/>
                <a:latin typeface="Calibri"/>
                <a:ea typeface="Calibri"/>
              </a:rPr>
              <a:t>Questions?</a:t>
            </a:r>
            <a:endParaRPr lang="en-US" sz="4200" b="0" u="none" strike="noStrike">
              <a:solidFill>
                <a:srgbClr val="FFFFFF"/>
              </a:solidFill>
              <a:effectLst/>
              <a:uFillTx/>
              <a:latin typeface="Arial"/>
            </a:endParaRPr>
          </a:p>
        </p:txBody>
      </p:sp>
      <p:sp>
        <p:nvSpPr>
          <p:cNvPr id="239" name="Text 2"/>
          <p:cNvSpPr/>
          <p:nvPr/>
        </p:nvSpPr>
        <p:spPr>
          <a:xfrm>
            <a:off x="457200" y="2468880"/>
            <a:ext cx="8226000" cy="54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2000" b="0" u="none" strike="noStrike" dirty="0">
              <a:solidFill>
                <a:srgbClr val="FFFFFF"/>
              </a:solidFill>
              <a:effectLst/>
              <a:uFillTx/>
              <a:latin typeface="Arial"/>
            </a:endParaRPr>
          </a:p>
        </p:txBody>
      </p:sp>
      <p:sp>
        <p:nvSpPr>
          <p:cNvPr id="240" name="Text 3"/>
          <p:cNvSpPr/>
          <p:nvPr/>
        </p:nvSpPr>
        <p:spPr>
          <a:xfrm>
            <a:off x="457200" y="3063240"/>
            <a:ext cx="822600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500" b="0" u="none" strike="noStrike" dirty="0">
              <a:solidFill>
                <a:srgbClr val="FFFFFF"/>
              </a:solidFill>
              <a:effectLst/>
              <a:uFillTx/>
              <a:latin typeface="Arial"/>
            </a:endParaRPr>
          </a:p>
        </p:txBody>
      </p:sp>
      <p:sp>
        <p:nvSpPr>
          <p:cNvPr id="241" name="Text 4"/>
          <p:cNvSpPr/>
          <p:nvPr/>
        </p:nvSpPr>
        <p:spPr>
          <a:xfrm>
            <a:off x="457200" y="4480560"/>
            <a:ext cx="8226000" cy="40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u="none" strike="noStrike">
                <a:solidFill>
                  <a:srgbClr val="64748B"/>
                </a:solidFill>
                <a:effectLst/>
                <a:uFillTx/>
                <a:latin typeface="Calibri"/>
                <a:ea typeface="Calibri"/>
              </a:rPr>
              <a:t>COMP 469 · Artificial Intelligence · CSU Channel Islands</a:t>
            </a:r>
            <a:endParaRPr lang="en-US" sz="12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228</TotalTime>
  <Words>7821</Words>
  <Application>Microsoft Office PowerPoint</Application>
  <PresentationFormat>On-screen Show (16:9)</PresentationFormat>
  <Paragraphs>506</Paragraphs>
  <Slides>29</Slides>
  <Notes>28</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29</vt:i4>
      </vt:variant>
    </vt:vector>
  </HeadingPairs>
  <TitlesOfParts>
    <vt:vector size="40" baseType="lpstr">
      <vt:lpstr>Aptos</vt:lpstr>
      <vt:lpstr>Aptos Display</vt:lpstr>
      <vt:lpstr>Arial</vt:lpstr>
      <vt:lpstr>Calibri</vt:lpstr>
      <vt:lpstr>OpenSymbol</vt:lpstr>
      <vt:lpstr>Symbol</vt:lpstr>
      <vt:lpstr>Times New Roman</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Chapters 1 &amp; 2: Introduction + Intelligent Agents</dc:title>
  <dc:subject>PptxGenJS Presentation</dc:subject>
  <dc:creator>COMP 469</dc:creator>
  <dc:description/>
  <cp:lastModifiedBy>Rios, Juan</cp:lastModifiedBy>
  <cp:revision>54</cp:revision>
  <dcterms:created xsi:type="dcterms:W3CDTF">2026-06-07T05:41:19Z</dcterms:created>
  <dcterms:modified xsi:type="dcterms:W3CDTF">2026-07-27T03:10:25Z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32</vt:i4>
  </property>
  <property fmtid="{D5CDD505-2E9C-101B-9397-08002B2CF9AE}" pid="3" name="PresentationFormat">
    <vt:lpwstr>On-screen Show (16:9)</vt:lpwstr>
  </property>
  <property fmtid="{D5CDD505-2E9C-101B-9397-08002B2CF9AE}" pid="4" name="Slides">
    <vt:i4>32</vt:i4>
  </property>
</Properties>
</file>