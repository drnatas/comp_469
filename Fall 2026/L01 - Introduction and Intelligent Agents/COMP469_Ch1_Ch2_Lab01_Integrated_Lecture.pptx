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4630400" cy="1874519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1430000" cy="96012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3900" b="1">
                <a:solidFill>
                  <a:srgbClr val="FFFFFF"/>
                </a:solidFill>
                <a:latin typeface="Aptos"/>
              </a:defRPr>
            </a:pPr>
            <a:r>
              <a:t>COMP 469: AI Agents and Vacuum World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300" b="0">
                <a:solidFill>
                  <a:srgbClr val="DBE5EF"/>
                </a:solidFill>
                <a:latin typeface="Aptos"/>
              </a:defRPr>
            </a:pPr>
            <a:r>
              <a:t>AIMA Chapters 1-2 plus Lab 01 implementation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656832"/>
            <a:ext cx="1143000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Fall 2026 | CSU Channel Islands | Professor Juan 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7178040"/>
            <a:ext cx="11430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400" b="0">
                <a:solidFill>
                  <a:srgbClr val="E2ECF4"/>
                </a:solidFill>
                <a:latin typeface="Aptos"/>
              </a:defRPr>
            </a:pPr>
            <a:r>
              <a:t>Built to support AIMA Chapters 1-2, Lab 01 completion, and midterm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3749039"/>
            <a:ext cx="1828800" cy="640080"/>
          </a:xfrm>
          <a:prstGeom prst="roundRect">
            <a:avLst/>
          </a:prstGeom>
          <a:solidFill>
            <a:srgbClr val="229690"/>
          </a:solidFill>
          <a:ln>
            <a:solidFill>
              <a:srgbClr val="2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5480" y="3858768"/>
            <a:ext cx="17373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Percepts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0" y="3749039"/>
            <a:ext cx="1828800" cy="640080"/>
          </a:xfrm>
          <a:prstGeom prst="roundRect">
            <a:avLst/>
          </a:prstGeom>
          <a:solidFill>
            <a:srgbClr val="D69736"/>
          </a:solidFill>
          <a:ln>
            <a:solidFill>
              <a:srgbClr val="D69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50040" y="3858768"/>
            <a:ext cx="17373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4800600"/>
            <a:ext cx="1828800" cy="640080"/>
          </a:xfrm>
          <a:prstGeom prst="roundRect">
            <a:avLst/>
          </a:prstGeom>
          <a:solidFill>
            <a:srgbClr val="4A8F5C"/>
          </a:solidFill>
          <a:ln>
            <a:solidFill>
              <a:srgbClr val="4A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4910328"/>
            <a:ext cx="17373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4800600"/>
            <a:ext cx="1828800" cy="640080"/>
          </a:xfrm>
          <a:prstGeom prst="roundRect">
            <a:avLst/>
          </a:prstGeom>
          <a:solidFill>
            <a:srgbClr val="6E5DA8"/>
          </a:solidFill>
          <a:ln>
            <a:solidFill>
              <a:srgbClr val="6E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50040" y="4910328"/>
            <a:ext cx="17373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How To Use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Before lab: build the vocabulary students need for PEAS, rationality, and agent types.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During lab: point students to the implementation slides for environment code, agents, BFS, and experiments.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Before the midterm: use the review slides as a concise study guide for Chapters 1-2.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Instructor note: the deck intentionally includes every concept students must discuss in the notebook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234440"/>
            <a:ext cx="3794760" cy="5394960"/>
          </a:xfrm>
          <a:prstGeom prst="roundRect">
            <a:avLst/>
          </a:prstGeom>
          <a:solidFill>
            <a:srgbClr val="F6F8FA"/>
          </a:solidFill>
          <a:ln>
            <a:solidFill>
              <a:srgbClr val="D2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0" y="1508760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800" b="1">
                <a:solidFill>
                  <a:srgbClr val="2168AE"/>
                </a:solidFill>
                <a:latin typeface="Aptos"/>
              </a:defRPr>
            </a:pPr>
            <a:r>
              <a:t>Success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2057400"/>
            <a:ext cx="3246120" cy="416052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800" b="0">
                <a:solidFill>
                  <a:srgbClr val="1C1F23"/>
                </a:solidFill>
                <a:latin typeface="Aptos"/>
              </a:defRPr>
            </a:pPr>
            <a:r>
              <a:t>Students should be able to explain how percepts, actions, performance measures, environment properties, and internal state shape an agent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Lab 01 Coverage Map: Nothing Is Skipped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2801600" cy="4270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863840"/>
                <a:gridCol w="3474720"/>
              </a:tblGrid>
              <a:tr h="47447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Lab section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Notebook topic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Deck support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474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0-1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Python environment and setup cell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Slides 31-32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4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PEAS and task-environment properties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Slides 12-19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4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3-4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VacuumEnvironment, percepts, score,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Slides 22-30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4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5-7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Agent interface, simulation loop, random and reflex agents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Slides 33-37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4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Model-based agent memory and fallback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Slides 38-39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4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Goal-based agent and BFS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Slides 40-43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4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10-11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Controlled experiments, summaries, 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Slides 44-46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4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12-13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Extensions, checkpoints, final reflection, submission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Slides 47-52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7150608"/>
            <a:ext cx="131673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400" b="0">
                <a:solidFill>
                  <a:srgbClr val="5E6770"/>
                </a:solidFill>
                <a:latin typeface="Aptos"/>
              </a:defRPr>
            </a:pPr>
            <a:r>
              <a:t>Use this slide as an instructor checklist before releasing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Define AI using the four AIMA approaches and explain why this course emphasizes rational agents.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Describe agents using sensors, percepts, percept sequences, actions, actuators, and agent functions.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Specify a task environment using PEAS before writing code.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Classify a task environment using AIMA vocabulary.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Implement and compare random, reflex, model-based, and goal-based Vacuum World agents.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Use experiment results and plots to justify claims about rational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Week 1 Flow: Lecture To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Part 1: What is AI? Four views, foundations, history, capabilities, risks, and alignment.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Part 2: Intelligent agents. Percepts, rationality, PEAS, environment properties, and agent architectures.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Part 3: Lab 01. Turn the vocabulary into a working Vacuum World notebook.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Part 4: Reflection. Connect experimental evidence back to rationality and the performance measure.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234440"/>
            <a:ext cx="3794760" cy="5394960"/>
          </a:xfrm>
          <a:prstGeom prst="roundRect">
            <a:avLst/>
          </a:prstGeom>
          <a:solidFill>
            <a:srgbClr val="F6F8FA"/>
          </a:solidFill>
          <a:ln>
            <a:solidFill>
              <a:srgbClr val="D2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0" y="1508760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800" b="1">
                <a:solidFill>
                  <a:srgbClr val="2168AE"/>
                </a:solidFill>
                <a:latin typeface="Aptos"/>
              </a:defRPr>
            </a:pPr>
            <a:r>
              <a:t>Lab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2057400"/>
            <a:ext cx="3246120" cy="416052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800" b="0">
                <a:solidFill>
                  <a:srgbClr val="1C1F23"/>
                </a:solidFill>
                <a:latin typeface="Aptos"/>
              </a:defRPr>
            </a:pPr>
            <a:r>
              <a:t>The lab is not just programming practice. It is a concrete test case for Chapter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40280"/>
            <a:ext cx="125272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Part 1: Introduction to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21868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200" b="0">
                <a:solidFill>
                  <a:srgbClr val="ECF2F7"/>
                </a:solidFill>
                <a:latin typeface="Aptos"/>
              </a:defRPr>
            </a:pPr>
            <a:r>
              <a:t>Chapter 1 concepts students should remember for lecture, lab discussion, and the midterm.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78840" y="7516368"/>
            <a:ext cx="5943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r">
              <a:defRPr sz="1200" b="0">
                <a:solidFill>
                  <a:srgbClr val="ECF2F7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What Is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AI studies and builds intelligent entities: systems that perceive, reason, decide, learn, and act.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AIMA organizes AI definitions along two dimensions: human vs. rational, and thought vs. behavior.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This course mainly uses the rational-agent view: choose actions expected to achieve the best outcome.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Lab connection: every Vacuum World agent is evaluated by what it does, not by whether it thinks like a human.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Four Approaches To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3441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6126480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Guiding question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Lab connection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Thinking humanly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Does the system model human cognition?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Not the focus of Vacuum World.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Acting humanly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Can behavior imitate human behavior?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Not enough: a human-like vacuum can still score poorly.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Thinking rationally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Does the system reason according to formal rules?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Relevant when discussing correct inference or search.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Acting rationally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Does the system choose actions expected to maximize performance?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Main lens for Lab 01 and the final reflection.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The Rational-Agent 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An agent is rational when it selects the action expected to maximize its performance measure given what it has perceived and knows.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Rational does not mean perfect, omniscient, or morally good by default.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Performance measures must be chosen carefully because agents optimize what we define.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Lab connection: changing movement cost, bump penalties, or cleaning rewards can change which agent looks best.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Why Performance Measures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badly specified measure can reward unwanted behavior.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Example: rewarding dirt collected could encourage an agent to create or revisit dirt instead of keeping the world clean.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Better measures often combine several concerns: cleanliness, time, energy, safety, and task completion.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Lab score: each action costs 1 point, cleaning dirty squares adds 10 points, illegal moves cost extra.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234440"/>
            <a:ext cx="3794760" cy="5394960"/>
          </a:xfrm>
          <a:prstGeom prst="roundRect">
            <a:avLst/>
          </a:prstGeom>
          <a:solidFill>
            <a:srgbClr val="F6F8FA"/>
          </a:solidFill>
          <a:ln>
            <a:solidFill>
              <a:srgbClr val="D2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0" y="1508760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800" b="1">
                <a:solidFill>
                  <a:srgbClr val="2168AE"/>
                </a:solidFill>
                <a:latin typeface="Aptos"/>
              </a:defRPr>
            </a:pPr>
            <a:r>
              <a:t>Midterm cue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2057400"/>
            <a:ext cx="3246120" cy="416052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800" b="0">
                <a:solidFill>
                  <a:srgbClr val="1C1F23"/>
                </a:solidFill>
                <a:latin typeface="Aptos"/>
              </a:defRPr>
            </a:pPr>
            <a:r>
              <a:t>Be ready to explain how a different performance measure can make a different policy rational.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AI Risks And Alignment: The Lab-Scale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Chapter 1 raises the problem of systems optimizing the wrong objective.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lab makes this concrete: a score function decides what counts as good behavior.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Students should notice that highest score is relative to the chosen measure and assumptions.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This prepares later discussions of utility, reward design, fairness, safety, and responsible AI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9690"/>
          </a:solidFill>
          <a:ln>
            <a:solidFill>
              <a:srgbClr val="229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40280"/>
            <a:ext cx="125272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Part 2: Intelligent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21868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200" b="0">
                <a:solidFill>
                  <a:srgbClr val="ECF2F7"/>
                </a:solidFill>
                <a:latin typeface="Aptos"/>
              </a:defRPr>
            </a:pPr>
            <a:r>
              <a:t>Chapter 2 vocabulary that appears directly in Lab 01 and on the midterm.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78840" y="7516368"/>
            <a:ext cx="5943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r">
              <a:defRPr sz="1200" b="0">
                <a:solidFill>
                  <a:srgbClr val="ECF2F7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The Agent-Environment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4206240" cy="1920240"/>
          </a:xfrm>
          <a:prstGeom prst="roundRect">
            <a:avLst/>
          </a:prstGeom>
          <a:solidFill>
            <a:srgbClr val="6E5DA8"/>
          </a:solidFill>
          <a:ln>
            <a:solidFill>
              <a:srgbClr val="6E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0" y="2194560"/>
            <a:ext cx="4206240" cy="1920240"/>
          </a:xfrm>
          <a:prstGeom prst="roundRect">
            <a:avLst/>
          </a:prstGeom>
          <a:solidFill>
            <a:srgbClr val="D69736"/>
          </a:solidFill>
          <a:ln>
            <a:solidFill>
              <a:srgbClr val="D69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61488"/>
            <a:ext cx="3749039" cy="45720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761488"/>
            <a:ext cx="3749039" cy="45720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Agent Program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74920" y="2606040"/>
            <a:ext cx="4297680" cy="0"/>
          </a:xfrm>
          <a:prstGeom prst="line">
            <a:avLst/>
          </a:prstGeom>
          <a:ln w="50800">
            <a:solidFill>
              <a:srgbClr val="229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74920" y="3703320"/>
            <a:ext cx="4297680" cy="0"/>
          </a:xfrm>
          <a:prstGeom prst="line">
            <a:avLst/>
          </a:prstGeom>
          <a:ln w="50800">
            <a:solidFill>
              <a:srgbClr val="4A8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80760" y="2057400"/>
            <a:ext cx="246888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600" b="1">
                <a:solidFill>
                  <a:srgbClr val="229690"/>
                </a:solidFill>
                <a:latin typeface="Aptos"/>
              </a:defRPr>
            </a:pPr>
            <a:r>
              <a:t>percepts from sensors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858768"/>
            <a:ext cx="246888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600" b="1">
                <a:solidFill>
                  <a:srgbClr val="4A8F5C"/>
                </a:solidFill>
                <a:latin typeface="Aptos"/>
              </a:defRPr>
            </a:pPr>
            <a:r>
              <a:t>actions through actuators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00600"/>
            <a:ext cx="1261872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2400" b="0">
                <a:solidFill>
                  <a:srgbClr val="1C1F23"/>
                </a:solidFill>
                <a:latin typeface="Aptos"/>
              </a:defRPr>
            </a:pPr>
            <a:r>
              <a:t>Lab 01 uses this same loop every step: get percept, choose action, execute action, record score and dirt history, stop when clean or NoOp.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Agent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Agent: anything that perceives an environment through sensors and acts through actuators.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Percept: the current input from the sensors.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Percept sequence: the full history of percepts so far.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Agent function: abstract mapping from percept sequences to actions.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Agent program: executable code implementing that mapping on some architecture.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Vocabulary In The Lab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3167360" cy="2953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474720"/>
                <a:gridCol w="7589520"/>
              </a:tblGrid>
              <a:tr h="49225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AIMA term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Lab object or variable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students should understand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VacuumEnvironment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Owns the true grid, dirt, obstacles, score, and step count.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Percept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Percept(location, status)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What the agent receives at each step.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Suck, Up, Down, Left, Right, NoOp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What the agent can return.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Agent program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choose_action(...)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The code that maps current input and any internal state to an action.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Performance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The criterion used to compare behavior.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Rationality: The Four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performance measure that defines success.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agent’s prior knowledge of the environment.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actions available to the agent.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percept sequence to date.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rational action is judged from the agent’s available information, not from hindsight.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PEAS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3441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8138160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Vacuum World answer students should give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What counts as success?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Clean dirt efficiently: reward cleaning, penalize actions and illegal moves; stop when clean.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Where does the agent operate?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Rectangular grid with clean/dirty squares, optional obstacles, start position, and boundaries.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Actuators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How can it act?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Suck, move Up/Down/Left/Right, or NoOp.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Sensors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What can it perceive?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Current location and current square status only, unless a later agent is explicitly granted more access.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Task-Environment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3441680" cy="3831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7223760"/>
              </a:tblGrid>
              <a:tr h="47891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Vacuum World classification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Observable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Does the percept reveal full state?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Partially observable for most agents: only current location and current square status are perceived.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Agents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How many decision-makers?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Single-agent.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Determinism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Is the next state fixed by state and action?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Deterministic in the base lab, assuming dirt does not appear randomly after setup.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Episodic/Sequential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Do actions affect future decisions?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Sequential: movement and cleaning change future choices and scores.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Static/Dynamic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Can world change while deliberating?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Static in the base lab; dynamic if random new dirt extension is added.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Discrete/Continuous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Are states/actions/time countable?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Discrete grid, discrete statuses, discrete actions, discrete steps.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89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Known/Unknown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Does the agent know rules and outcome model?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Known rules; full state may still be unobserved.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Observable vs. Known Is A Common Confusion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Observable asks what the sensors reveal about the current state.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Known asks whether the agent or designer knows the rules of the environment.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grid can be known but partially observable: the movement rules are known, but unseen dirt and obstacles may not be perceived.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Checkpoint answers should explicitly separate these two ideas.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Agent Program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051560"/>
            <a:ext cx="6355080" cy="6263640"/>
          </a:xfrm>
          <a:prstGeom prst="roundRect">
            <a:avLst/>
          </a:prstGeom>
          <a:solidFill>
            <a:srgbClr val="F6F8FA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298448"/>
            <a:ext cx="5715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000" b="1">
                <a:solidFill>
                  <a:srgbClr val="2168AE"/>
                </a:solidFill>
                <a:latin typeface="Aptos"/>
              </a:defRPr>
            </a:pPr>
            <a:r>
              <a:t>Simple Reflex and Model-Based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874519"/>
            <a:ext cx="562356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Simple reflex: current percept -&gt; action.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Uses condition-action rules.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Fast and inspectable.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Weak under partial observability.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051560"/>
            <a:ext cx="6355080" cy="6263640"/>
          </a:xfrm>
          <a:prstGeom prst="roundRect">
            <a:avLst/>
          </a:prstGeom>
          <a:solidFill>
            <a:srgbClr val="F6F8FA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298448"/>
            <a:ext cx="5715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000" b="1">
                <a:solidFill>
                  <a:srgbClr val="229690"/>
                </a:solidFill>
                <a:latin typeface="Aptos"/>
              </a:defRPr>
            </a:pPr>
            <a:r>
              <a:t>Goal-Based and Utility-Based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1874519"/>
            <a:ext cx="562356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Goal-based: choose actions that achieve desired states.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Can use search or planning.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Utility-based: compare outcomes by degree of desirability.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Lab uses score as an external performance measure.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Learning Agents: Not The Main Lab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Learning agents improve behavior from feedback over time.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AIMA components: performance element, learning element, critic, and problem generator.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Lab 01 does not implement full learning, but it introduces the performance element and experimental feedback.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Later labs can build on these ideas with machine learning or reinforcement learning.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Representation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Atomic representation: a state is treated as a single indivisible item.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Factored representation: a state is described by variables and values.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Structured representation: objects and relationships are represented explicitly.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Vacuum World uses a mostly factored representation: location, status dictionary, obstacles, score, and steps.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9736"/>
          </a:solidFill>
          <a:ln>
            <a:solidFill>
              <a:srgbClr val="D69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40280"/>
            <a:ext cx="125272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Part 3: Lab 01 Implementation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21868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200" b="0">
                <a:solidFill>
                  <a:srgbClr val="ECF2F7"/>
                </a:solidFill>
                <a:latin typeface="Aptos"/>
              </a:defRPr>
            </a:pPr>
            <a:r>
              <a:t>Every lab task, checkpoint, and deliverable is covered explicitly.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78840" y="7516368"/>
            <a:ext cx="5943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r">
              <a:defRPr sz="1200" b="0">
                <a:solidFill>
                  <a:srgbClr val="ECF2F7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Lab Goal And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Build a rectangular Vacuum World with clean/dirty squares and optional obstacles.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Implement reflex, model-based, and goal-based agents.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Run controlled experiments across repeated trials.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Create at least two plots: average score and average dirty squares left.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Answer all checkpoints and write a final rationality reflection.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Suggested 3-Hour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0:00-0:15: activate Python environment and run setup.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0:15-0:35: PEAS and environment analysis.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0:35-1:10: build and test the environment.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1:10-1:35: reflex agent.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1:45-2:15: model-based agent.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2:15-2:40: goal-based agent with BFS.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2:40-3:00: experiments, plots, reflection, and checklist.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Vacuum World State: What Exists vs. What Is Perceived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99032"/>
            <a:ext cx="603503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500" b="1">
                <a:solidFill>
                  <a:srgbClr val="2168AE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481328" y="1234440"/>
            <a:ext cx="658368" cy="658368"/>
          </a:xfrm>
          <a:prstGeom prst="rect">
            <a:avLst/>
          </a:prstGeom>
          <a:solidFill>
            <a:srgbClr val="5F66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399032"/>
            <a:ext cx="603503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9696" y="1234440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8064" y="1234440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1234440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1892808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1328" y="1892808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6" y="1892808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98064" y="1892808"/>
            <a:ext cx="658368" cy="658368"/>
          </a:xfrm>
          <a:prstGeom prst="rect">
            <a:avLst/>
          </a:prstGeom>
          <a:solidFill>
            <a:srgbClr val="5F66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25496" y="2057400"/>
            <a:ext cx="603503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2" y="1892808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2551176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81328" y="2551176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39696" y="2551176"/>
            <a:ext cx="658368" cy="658368"/>
          </a:xfrm>
          <a:prstGeom prst="rect">
            <a:avLst/>
          </a:prstGeom>
          <a:solidFill>
            <a:srgbClr val="1C1F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67127" y="2715768"/>
            <a:ext cx="603503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98064" y="2551176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6432" y="2551176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209544"/>
            <a:ext cx="658368" cy="658368"/>
          </a:xfrm>
          <a:prstGeom prst="rect">
            <a:avLst/>
          </a:prstGeom>
          <a:solidFill>
            <a:srgbClr val="5F66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374136"/>
            <a:ext cx="603503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81328" y="3209544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39696" y="3209544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98064" y="3209544"/>
            <a:ext cx="658368" cy="658368"/>
          </a:xfrm>
          <a:prstGeom prst="rect">
            <a:avLst/>
          </a:prstGeom>
          <a:solidFill>
            <a:srgbClr val="1C1F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25496" y="3374136"/>
            <a:ext cx="603503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209544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3867912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81328" y="3867912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39696" y="3867912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98064" y="3867912"/>
            <a:ext cx="658368" cy="658368"/>
          </a:xfrm>
          <a:prstGeom prst="rect">
            <a:avLst/>
          </a:prstGeom>
          <a:solidFill>
            <a:srgbClr val="E5EC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6432" y="3867912"/>
            <a:ext cx="658368" cy="658368"/>
          </a:xfrm>
          <a:prstGeom prst="rect">
            <a:avLst/>
          </a:prstGeom>
          <a:solidFill>
            <a:srgbClr val="5F66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83863" y="4032504"/>
            <a:ext cx="603503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800600"/>
            <a:ext cx="393192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000" b="0">
                <a:solidFill>
                  <a:srgbClr val="1C1F23"/>
                </a:solidFill>
                <a:latin typeface="Aptos"/>
              </a:defRPr>
            </a:pPr>
            <a:r>
              <a:t>True world state: full grid, all dirt, all obstacles, score, steps, and agent location.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1417320"/>
            <a:ext cx="384048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300" b="1">
                <a:solidFill>
                  <a:srgbClr val="2168AE"/>
                </a:solidFill>
                <a:latin typeface="Aptos"/>
              </a:defRPr>
            </a:pPr>
            <a:r>
              <a:t>Agent percept in this lab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2103120"/>
            <a:ext cx="4480560" cy="822960"/>
          </a:xfrm>
          <a:prstGeom prst="roundRect">
            <a:avLst/>
          </a:prstGeom>
          <a:solidFill>
            <a:srgbClr val="1D2229"/>
          </a:solidFill>
          <a:ln>
            <a:solidFill>
              <a:srgbClr val="1D2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2350008"/>
            <a:ext cx="4160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>
              <a:defRPr sz="1600" b="0">
                <a:solidFill>
                  <a:srgbClr val="E8EEF4"/>
                </a:solidFill>
                <a:latin typeface="Aptos"/>
              </a:defRPr>
            </a:pPr>
            <a:r>
              <a:t>Percept(location=(0, 0), status="Clean")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3291840"/>
            <a:ext cx="8046720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200" b="0">
                <a:solidFill>
                  <a:srgbClr val="1C1F23"/>
                </a:solidFill>
                <a:latin typeface="Aptos"/>
              </a:defRPr>
            </a:pPr>
            <a:r>
              <a:t>Key idea: the environment owns the truth. The agent receives only the current location and current square status unless the lab explicitly allows more access.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5212080"/>
            <a:ext cx="804672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200" b="1">
                <a:solidFill>
                  <a:srgbClr val="229690"/>
                </a:solidFill>
                <a:latin typeface="Aptos"/>
              </a:defRPr>
            </a:pPr>
            <a:r>
              <a:t>This is why model-based agents matter: memory can compensate for limited sensors.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Python 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Students should create and activate a local .env before launching Jupyter.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Required packages for Lab 01: ipykernel, notebook, jupyter, matplotlib.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Install the kernel as COMP 469 (.env) so the notebook uses the correct interpreter.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Common support issue: the notebook opens, but the selected kernel is not the course environment.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234440"/>
            <a:ext cx="3794760" cy="5394960"/>
          </a:xfrm>
          <a:prstGeom prst="roundRect">
            <a:avLst/>
          </a:prstGeom>
          <a:solidFill>
            <a:srgbClr val="F6F8FA"/>
          </a:solidFill>
          <a:ln>
            <a:solidFill>
              <a:srgbClr val="D2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0" y="1508760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800" b="1">
                <a:solidFill>
                  <a:srgbClr val="2168AE"/>
                </a:solidFill>
                <a:latin typeface="Aptos"/>
              </a:defRPr>
            </a:pPr>
            <a:r>
              <a:t>Instructor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2057400"/>
            <a:ext cx="3246120" cy="416052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1800" b="0">
                <a:solidFill>
                  <a:srgbClr val="1C1F23"/>
                </a:solidFill>
                <a:latin typeface="Aptos"/>
              </a:defRPr>
            </a:pPr>
            <a:r>
              <a:t>Ask students to run the setup cell first and confirm “Setup complete.”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Setup Commands: macOS/Linux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4572000" cy="6309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Use the folder containing the notebook.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Restart Jupyter if the kernel does not appear.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Windows PowerShell commands are listed in the notebook.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8366760" cy="6217920"/>
          </a:xfrm>
          <a:prstGeom prst="roundRect">
            <a:avLst/>
          </a:prstGeom>
          <a:solidFill>
            <a:srgbClr val="1D2229"/>
          </a:solidFill>
          <a:ln>
            <a:solidFill>
              <a:srgbClr val="1D2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61872"/>
            <a:ext cx="7909560" cy="5760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>
                <a:solidFill>
                  <a:srgbClr val="E8EEF4"/>
                </a:solidFill>
                <a:latin typeface="Cascadia Mono"/>
              </a:defRPr>
            </a:pPr>
            <a:r>
              <a:t>python3 -m venv .env</a:t>
            </a:r>
            <a:br/>
            <a:r>
              <a:t>source .env/bin/activate</a:t>
            </a:r>
            <a:br/>
            <a:r>
              <a:t>python -m pip install --upgrade pip</a:t>
            </a:r>
            <a:br/>
            <a:r>
              <a:t>python -m pip install ipykernel notebook jupyter matplotlib</a:t>
            </a:r>
            <a:br/>
            <a:r>
              <a:t>python -m ipykernel install --user --name comp469 --display-name "COMP 469 (.env)"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Core Data Types In The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4572000" cy="6309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Position is a grid coordinate.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ACTIONS defines the legal action vocabulary.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Percept is intentionally small: location and status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8366760" cy="6217920"/>
          </a:xfrm>
          <a:prstGeom prst="roundRect">
            <a:avLst/>
          </a:prstGeom>
          <a:solidFill>
            <a:srgbClr val="1D2229"/>
          </a:solidFill>
          <a:ln>
            <a:solidFill>
              <a:srgbClr val="1D2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61872"/>
            <a:ext cx="7909560" cy="5760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>
                <a:solidFill>
                  <a:srgbClr val="E8EEF4"/>
                </a:solidFill>
                <a:latin typeface="Cascadia Mono"/>
              </a:defRPr>
            </a:pPr>
            <a:r>
              <a:t>Position = Tuple[int, int]</a:t>
            </a:r>
            <a:br/>
            <a:r>
              <a:t>ACTIONS = ["Suck", "Up", "Down", "Left", "Right", "NoOp"]</a:t>
            </a:r>
            <a:br/>
            <a:br/>
            <a:r>
              <a:t>@dataclass</a:t>
            </a:r>
            <a:br/>
            <a:r>
              <a:t>class Percept:</a:t>
            </a:r>
            <a:br/>
            <a:r>
              <a:t>    location: Position</a:t>
            </a:r>
            <a:br/>
            <a:r>
              <a:t>    status: str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Environment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environment owns the true world state.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agent should not directly mutate status, obstacles, score, or location.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get_percept() returns only what the agent is allowed to perceive.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execute_action(action) applies the action, updates score, and handles invalid moves.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copy_world() and load_world() support fair controlled experiments.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VacuumEnvironment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3350240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6217920"/>
              </a:tblGrid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Common mistake to catch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width, 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Grid dimensions.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Mixing x/y coordinates with row/column order.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agent_location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Current agent position.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Moving outside bounds or into obstacles.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Dictionary mapping locations to Clean, Dirty, or Obstacle.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Forgetting obstacle squares need status too.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obstacles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Set of blocked positions.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Placing an obstacle at the start.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score,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Performance tracking.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Applying rewards or penalties twice.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cleaned_count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How many dirty squares were cleaned.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Incrementing when Suck is used on an already clean square.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Environment Initialization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4572000" cy="6309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The start square must be accessible.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Dirt is random but reproducible when a seed is used.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Students may implement equivalent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8366760" cy="6217920"/>
          </a:xfrm>
          <a:prstGeom prst="roundRect">
            <a:avLst/>
          </a:prstGeom>
          <a:solidFill>
            <a:srgbClr val="1D2229"/>
          </a:solidFill>
          <a:ln>
            <a:solidFill>
              <a:srgbClr val="1D2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61872"/>
            <a:ext cx="7909560" cy="5760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>
                <a:solidFill>
                  <a:srgbClr val="E8EEF4"/>
                </a:solidFill>
                <a:latin typeface="Cascadia Mono"/>
              </a:defRPr>
            </a:pPr>
            <a:r>
              <a:t>for x in range(width):</a:t>
            </a:r>
            <a:br/>
            <a:r>
              <a:t>    for y in range(height):</a:t>
            </a:r>
            <a:br/>
            <a:r>
              <a:t>        location = (x, y)</a:t>
            </a:r>
            <a:br/>
            <a:r>
              <a:t>        if location != start and random.random() &lt; obstacle_probability:</a:t>
            </a:r>
            <a:br/>
            <a:r>
              <a:t>            self.obstacles.add(location)</a:t>
            </a:r>
            <a:br/>
            <a:br/>
            <a:r>
              <a:t>for x in range(width):</a:t>
            </a:r>
            <a:br/>
            <a:r>
              <a:t>    for y in range(height):</a:t>
            </a:r>
            <a:br/>
            <a:r>
              <a:t>        location = (x, y)</a:t>
            </a:r>
            <a:br/>
            <a:r>
              <a:t>        if location in self.obstacles:</a:t>
            </a:r>
            <a:br/>
            <a:r>
              <a:t>            self.status[location] = "Obstacle"</a:t>
            </a:r>
            <a:br/>
            <a:r>
              <a:t>        elif random.random() &lt; dirt_probability:</a:t>
            </a:r>
            <a:br/>
            <a:r>
              <a:t>            self.status[location] = "Dirty"</a:t>
            </a:r>
            <a:br/>
            <a:r>
              <a:t>        else:</a:t>
            </a:r>
            <a:br/>
            <a:r>
              <a:t>            self.status[location] = "Clean"</a:t>
            </a:r>
            <a:br/>
            <a:br/>
            <a:r>
              <a:t>self.status[start] = "Clean"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Action Execution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4572000" cy="6309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Every action has a time/energy cost.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Cleaning a dirty square earns a reward.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Illegal movement earns an extra penalty.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8366760" cy="6217920"/>
          </a:xfrm>
          <a:prstGeom prst="roundRect">
            <a:avLst/>
          </a:prstGeom>
          <a:solidFill>
            <a:srgbClr val="1D2229"/>
          </a:solidFill>
          <a:ln>
            <a:solidFill>
              <a:srgbClr val="1D2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61872"/>
            <a:ext cx="7909560" cy="5760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>
                <a:solidFill>
                  <a:srgbClr val="E8EEF4"/>
                </a:solidFill>
                <a:latin typeface="Cascadia Mono"/>
              </a:defRPr>
            </a:pPr>
            <a:r>
              <a:t>self.steps += 1</a:t>
            </a:r>
            <a:br/>
            <a:r>
              <a:t>self.score -= 1</a:t>
            </a:r>
            <a:br/>
            <a:br/>
            <a:r>
              <a:t>if action == "Suck":</a:t>
            </a:r>
            <a:br/>
            <a:r>
              <a:t>    if self.status[self.agent_location] == "Dirty":</a:t>
            </a:r>
            <a:br/>
            <a:r>
              <a:t>        self.status[self.agent_location] = "Clean"</a:t>
            </a:r>
            <a:br/>
            <a:r>
              <a:t>        self.score += 10</a:t>
            </a:r>
            <a:br/>
            <a:r>
              <a:t>        self.cleaned_count += 1</a:t>
            </a:r>
            <a:br/>
            <a:r>
              <a:t>    return</a:t>
            </a:r>
            <a:br/>
            <a:br/>
            <a:r>
              <a:t>if action in ["Up", "Down", "Left", "Right"]:</a:t>
            </a:r>
            <a:br/>
            <a:r>
              <a:t>    neighbors = self.get_neighbors(self.agent_location)</a:t>
            </a:r>
            <a:br/>
            <a:r>
              <a:t>    if action in neighbors:</a:t>
            </a:r>
            <a:br/>
            <a:r>
              <a:t>        self.agent_location = neighbors[action]</a:t>
            </a:r>
            <a:br/>
            <a:r>
              <a:t>    else:</a:t>
            </a:r>
            <a:br/>
            <a:r>
              <a:t>        self.score -=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Visualization And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display_text(env) makes the world inspectable in plain text.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plot_environment(env) gives a grid visualization with clean, dirty, obstacle, and agent markers.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Students should use visualization before blaming the agent logic.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visible plot is part of the expected submission evidence.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Simulation Runner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4572000" cy="6309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This is the main experimental loop.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Record history after the environment changes.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Stop when the world is clean or the agent intentionally stops.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8366760" cy="6217920"/>
          </a:xfrm>
          <a:prstGeom prst="roundRect">
            <a:avLst/>
          </a:prstGeom>
          <a:solidFill>
            <a:srgbClr val="1D2229"/>
          </a:solidFill>
          <a:ln>
            <a:solidFill>
              <a:srgbClr val="1D2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61872"/>
            <a:ext cx="7909560" cy="5760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>
                <a:solidFill>
                  <a:srgbClr val="E8EEF4"/>
                </a:solidFill>
                <a:latin typeface="Cascadia Mono"/>
              </a:defRPr>
            </a:pPr>
            <a:r>
              <a:t>for step in range(max_steps):</a:t>
            </a:r>
            <a:br/>
            <a:r>
              <a:t>    percept = env.get_percept()</a:t>
            </a:r>
            <a:br/>
            <a:r>
              <a:t>    action = agent.choose_action(percept, env)</a:t>
            </a:r>
            <a:br/>
            <a:br/>
            <a:r>
              <a:t>    if action == "NoOp":</a:t>
            </a:r>
            <a:br/>
            <a:r>
              <a:t>        break</a:t>
            </a:r>
            <a:br/>
            <a:br/>
            <a:r>
              <a:t>    env.execute_action(action)</a:t>
            </a:r>
            <a:br/>
            <a:r>
              <a:t>    score_history.append(env.score)</a:t>
            </a:r>
            <a:br/>
            <a:r>
              <a:t>    dirty_history.append(env.count_dirty_squares())</a:t>
            </a:r>
            <a:br/>
            <a:r>
              <a:t>    action_history.append(action)</a:t>
            </a:r>
            <a:br/>
            <a:br/>
            <a:r>
              <a:t>    if env.is_done():</a:t>
            </a:r>
            <a:br/>
            <a:r>
              <a:t>        break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Random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random agent cleans if the current square is dirty.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Otherwise, it chooses a random direction.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It gives students a baseline for comparison, not a target solution.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stronger agent should usually clean more dirt, waste fewer moves, or score better.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Agent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4572000" cy="6309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All agents use the same interface.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This makes fair comparison easier.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The agent returns an action; the environment executes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8366760" cy="6217920"/>
          </a:xfrm>
          <a:prstGeom prst="roundRect">
            <a:avLst/>
          </a:prstGeom>
          <a:solidFill>
            <a:srgbClr val="1D2229"/>
          </a:solidFill>
          <a:ln>
            <a:solidFill>
              <a:srgbClr val="1D2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61872"/>
            <a:ext cx="7909560" cy="5760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>
                <a:solidFill>
                  <a:srgbClr val="E8EEF4"/>
                </a:solidFill>
                <a:latin typeface="Cascadia Mono"/>
              </a:defRPr>
            </a:pPr>
            <a:r>
              <a:t>class Agent:</a:t>
            </a:r>
            <a:br/>
            <a:r>
              <a:t>    name = "Base Agent"</a:t>
            </a:r>
            <a:br/>
            <a:br/>
            <a:r>
              <a:t>    def choose_action(self, percept: Percept, environment: VacuumEnvironment) -&gt; str:</a:t>
            </a:r>
            <a:br/>
            <a:r>
              <a:t>        raise NotImplementedError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Reflex Agent: What Students Should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reflex agent reacts only to the current percept.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It should return Suck if the current square is dirty.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If the square is clean, it follows a deterministic movement rule.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serpentine sweep is a reasonable rule for an open 5x5 grid.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It does not remember visited squares, known dirt, or past mistakes.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Reflex Movement: Serpentine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4572000" cy="6309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Good on open grids.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Can struggle with obstacles.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Equivalent deterministic rules are acceptable if students can explain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8366760" cy="6217920"/>
          </a:xfrm>
          <a:prstGeom prst="roundRect">
            <a:avLst/>
          </a:prstGeom>
          <a:solidFill>
            <a:srgbClr val="1D2229"/>
          </a:solidFill>
          <a:ln>
            <a:solidFill>
              <a:srgbClr val="1D2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61872"/>
            <a:ext cx="7909560" cy="5760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>
                <a:solidFill>
                  <a:srgbClr val="E8EEF4"/>
                </a:solidFill>
                <a:latin typeface="Cascadia Mono"/>
              </a:defRPr>
            </a:pPr>
            <a:r>
              <a:t>if percept.status == "Dirty":</a:t>
            </a:r>
            <a:br/>
            <a:r>
              <a:t>    return "Suck"</a:t>
            </a:r>
            <a:br/>
            <a:br/>
            <a:r>
              <a:t>x, y = percept.location</a:t>
            </a:r>
            <a:br/>
            <a:br/>
            <a:r>
              <a:t>if y % 2 == 0:</a:t>
            </a:r>
            <a:br/>
            <a:r>
              <a:t>    if x &lt; environment.width - 1:</a:t>
            </a:r>
            <a:br/>
            <a:r>
              <a:t>        return "Right"</a:t>
            </a:r>
            <a:br/>
            <a:r>
              <a:t>    if y &lt; environment.height - 1:</a:t>
            </a:r>
            <a:br/>
            <a:r>
              <a:t>        return "Down"</a:t>
            </a:r>
            <a:br/>
            <a:r>
              <a:t>else:</a:t>
            </a:r>
            <a:br/>
            <a:r>
              <a:t>    if x &gt; 0:</a:t>
            </a:r>
            <a:br/>
            <a:r>
              <a:t>        return "Left"</a:t>
            </a:r>
            <a:br/>
            <a:r>
              <a:t>    if y &lt; environment.height - 1:</a:t>
            </a:r>
            <a:br/>
            <a:r>
              <a:t>        return "Down"</a:t>
            </a:r>
            <a:br/>
            <a:br/>
            <a:r>
              <a:t>return "NoOp"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Checkpoint 2: Strong Answer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Names the exact information used: current location and current status.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Names ignored information: history, unseen squares, remaining dirt, long-term consequences, and sometimes obstacles.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Explains where the movement rule works well, such as open rectangular grids.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Explains where it performs poorly, such as obstacle layouts or cases requiring memory.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Model-Based Agent: What Changes?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model-based agent maintains internal state.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In this lab, it should remember visited squares and known statuses.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It should prefer unvisited accessible neighbors when possible.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It needs a fallback when all neighboring squares have already been visited.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stronger fallback uses a stack for backtracking.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Model-Based Agent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4572000" cy="6309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Memory changes the action choice.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The agent still does not automatically know the full world.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Students should distinguish internal state from true environment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8366760" cy="6217920"/>
          </a:xfrm>
          <a:prstGeom prst="roundRect">
            <a:avLst/>
          </a:prstGeom>
          <a:solidFill>
            <a:srgbClr val="1D2229"/>
          </a:solidFill>
          <a:ln>
            <a:solidFill>
              <a:srgbClr val="1D2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61872"/>
            <a:ext cx="7909560" cy="5760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>
                <a:solidFill>
                  <a:srgbClr val="E8EEF4"/>
                </a:solidFill>
                <a:latin typeface="Cascadia Mono"/>
              </a:defRPr>
            </a:pPr>
            <a:r>
              <a:t>class ModelBasedVacuumAgent(Agent):</a:t>
            </a:r>
            <a:br/>
            <a:r>
              <a:t>    def __init__(self):</a:t>
            </a:r>
            <a:br/>
            <a:r>
              <a:t>        self.visited = set()</a:t>
            </a:r>
            <a:br/>
            <a:r>
              <a:t>        self.known_status = {}</a:t>
            </a:r>
            <a:br/>
            <a:br/>
            <a:r>
              <a:t>    def choose_action(self, percept, environment):</a:t>
            </a:r>
            <a:br/>
            <a:r>
              <a:t>        location = percept.location</a:t>
            </a:r>
            <a:br/>
            <a:r>
              <a:t>        self.visited.add(location)</a:t>
            </a:r>
            <a:br/>
            <a:r>
              <a:t>        self.known_status[location] = percept.status</a:t>
            </a:r>
            <a:br/>
            <a:br/>
            <a:r>
              <a:t>        if percept.status == "Dirty":</a:t>
            </a:r>
            <a:br/>
            <a:r>
              <a:t>            self.known_status[location] = "Clean"</a:t>
            </a:r>
            <a:br/>
            <a:r>
              <a:t>            return "Suck"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Checkpoint 3: Strong Answer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Identifies internal state: visited locations, known statuses, and optionally a backtracking stack.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Explains how memory reduces wasted movement.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States that the agent does not know the full environment unless it has perceived or inferred it.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Names the chosen fallback behavior and its remaining weakness.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Goal-Based Agent: What Changes?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goal-based agent chooses actions that move it toward a goal state.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Lab goal: reach and clean dirty squares.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lab allows this agent to inspect the full environment object.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That makes it useful for introducing search, but less realistic than the model-based comparison.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chosen search method is breadth-first search.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Why BFS Fits This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grid is discrete.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Actions have uniform step cost for path length purposes.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Neighbors can be generated from legal moves.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BFS explores by increasing path length and finds a shortest path in number of moves.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This prepares students for Chapter 3 search algorithms.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BFS To Nearest Dirty: Core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4572000" cy="6309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Each frontier item stores a location and path so far.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Return the first path whose location is dirty.</a:t>
            </a:r>
          </a:p>
          <a:p>
            <a:pPr>
              <a:spcAft>
                <a:spcPts val="800"/>
              </a:spcAft>
              <a:defRPr sz="1900">
                <a:solidFill>
                  <a:srgbClr val="1C1F23"/>
                </a:solidFill>
                <a:latin typeface="Aptos"/>
              </a:defRPr>
            </a:pPr>
            <a:r>
              <a:t>Unreachable dirt should not crash the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8366760" cy="6217920"/>
          </a:xfrm>
          <a:prstGeom prst="roundRect">
            <a:avLst/>
          </a:prstGeom>
          <a:solidFill>
            <a:srgbClr val="1D2229"/>
          </a:solidFill>
          <a:ln>
            <a:solidFill>
              <a:srgbClr val="1D2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61872"/>
            <a:ext cx="7909560" cy="5760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>
                <a:solidFill>
                  <a:srgbClr val="E8EEF4"/>
                </a:solidFill>
                <a:latin typeface="Cascadia Mono"/>
              </a:defRPr>
            </a:pPr>
            <a:r>
              <a:t>dirty_set = set(dirty_locations)</a:t>
            </a:r>
            <a:br/>
            <a:r>
              <a:t>frontier = deque([(start, [])])</a:t>
            </a:r>
            <a:br/>
            <a:r>
              <a:t>visited = {start}</a:t>
            </a:r>
            <a:br/>
            <a:br/>
            <a:r>
              <a:t>while frontier:</a:t>
            </a:r>
            <a:br/>
            <a:r>
              <a:t>    location, path = frontier.popleft()</a:t>
            </a:r>
            <a:br/>
            <a:r>
              <a:t>    if location in dirty_set:</a:t>
            </a:r>
            <a:br/>
            <a:r>
              <a:t>        return path</a:t>
            </a:r>
            <a:br/>
            <a:br/>
            <a:r>
              <a:t>    for action, next_location in environment.get_neighbors(location).items():</a:t>
            </a:r>
            <a:br/>
            <a:r>
              <a:t>        if next_location not in visited:</a:t>
            </a:r>
            <a:br/>
            <a:r>
              <a:t>            visited.add(next_location)</a:t>
            </a:r>
            <a:br/>
            <a:r>
              <a:t>            frontier.append((next_location, path + [action]))</a:t>
            </a:r>
            <a:br/>
            <a:br/>
            <a:r>
              <a:t>return []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Checkpoint 4: Strong Answer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States the goal: reach and clean dirty squares.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Explains BFS using discrete grid, legal neighbors, and shortest path by number of moves.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Identifies extra information used: full environment status and dirty locations.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Says the comparison is not completely fair because the goal-based agent has more information.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Controlled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Each agent should face the same world in each trial.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notebook creates a base environment, copies status and obstacles, and reloads that world for each agent.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Use agent factories so each trial gets a fresh agent instance.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This matters especially for model-based agents because memory should not leak across trials.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Experiment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3441679" cy="2953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749039"/>
                <a:gridCol w="7589520"/>
              </a:tblGrid>
              <a:tr h="49225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to interpret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Overall performance under the scoring rule.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Best single summary, but depends on the chosen performance measure.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How long the agent acted.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Fewer is not always better if less dirt is cleaned.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cleaned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Number of dirty squares cleaned.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Shows cleaning effectiveness.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dirty_left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Remaining dirty squares.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Lower is better for task completion.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history 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Score, dirt, and actions over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Useful for debugging and plotting behavior.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Required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Plot 1: average score by agent.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Plot 2: average dirty squares left by agent.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Students may add steps or cleaned-count plots if they help the analysis.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Plots should be visible in the submitted notebook.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 good explanation cites the plotted results, not just opinions about the agents.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Checkpoint 5: Strong Answer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Identifies the highest-scoring agent using the actual summary output.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Identifies which agent left the least dirt.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Checks whether highest score also means fewest steps.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Explains how obstacles change the difficulty for each agent type.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Connects the answer back to the performance measure.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Extension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Backtracking model-based agent: store a stack of previous positions and backtrack when stuck.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Random new dirt: make the environment dynamic after each action.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New performance measure: change movement cost, bump cost, cleaning reward, or finishing bonus.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Larger world: repeat experiments on a 10x10 grid and explain what changes.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Final Reflection: What A Strong Paragraph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Defines rationality using expected performance, percept sequence, prior knowledge, available actions, and performance measure.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Uses experimental evidence from the notebook.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Explains why the highest-scoring agent is best under this scoring rule, but not automatically best under every possible rule.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Uses AIMA vocabulary: agent, percept, action, environment, performance measure, rational, reflex, model-based, and goal-based.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3258800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9418320"/>
              </a:tblGrid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to verify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Notebook runs top to bottom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No errors after restarting the kernel.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TODOs completed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Environment, simulation runner, agents, BFS, and plots are attempted or complete.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Five checkpoints answered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Written explanations use Chapter 1-2 vocabulary.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Experiment summary visible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Average metrics appear in the notebook.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At least two plots 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Average score and average dirty squares left.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Final reflection complete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One developed paragraph connecting rationality to evidence.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6E5DA8"/>
          </a:solidFill>
          <a:ln>
            <a:solidFill>
              <a:srgbClr val="6E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40280"/>
            <a:ext cx="125272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Part 4: Midterm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218688"/>
            <a:ext cx="1133856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defRPr sz="2200" b="0">
                <a:solidFill>
                  <a:srgbClr val="ECF2F7"/>
                </a:solidFill>
                <a:latin typeface="Aptos"/>
              </a:defRPr>
            </a:pPr>
            <a:r>
              <a:t>High-yield ideas students should be able to define, compare, and apply.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78840" y="7516368"/>
            <a:ext cx="59436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r">
              <a:defRPr sz="1200" b="0">
                <a:solidFill>
                  <a:srgbClr val="ECF2F7"/>
                </a:solidFill>
                <a:latin typeface="Aptos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Midterm Study Guide: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Midterm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2984480" cy="3831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058400"/>
              </a:tblGrid>
              <a:tr h="47891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Student should be able to say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Perceives through sensors and acts through actuators.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Percept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Current sensor input; not necessarily the full state.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Percept 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Complete percept history to date.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Agent function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Mapping from percept sequences to actions.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Agent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Concrete code running on an architecture.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Performance measure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Criterion used to judge success.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789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Rational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Chooses the action expected to maximize performance given available information.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Midterm Study Guide: Compare Agent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Midterm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3441678" cy="2953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3749039"/>
                <a:gridCol w="3749039"/>
              </a:tblGrid>
              <a:tr h="49225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Uses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Weakness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Simple reflex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Current percept only.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Fast and simple.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Brittle under partial observability.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Model-based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Current percept plus internal state.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Handles hidden information better.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Needs a useful model and fallback behavior.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Goal-based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Goals plus search/planning.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Can reason about future action sequences.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Can be costly and may assume extra knowledge.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Utility-based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Utility values over outcomes.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Handles tradeoffs and uncertainty.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Requires defining a utility function.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922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Feedback improves behavior.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Can adapt over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320">
                          <a:solidFill>
                            <a:srgbClr val="1C1F23"/>
                          </a:solidFill>
                          <a:latin typeface="Aptos"/>
                        </a:defRPr>
                      </a:pPr>
                      <a:r>
                        <a:t>Needs data, feedback, and evaluation.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Midterm-Style Prompts Students Should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Midterm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Given a task, write a PEAS description.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Classify the environment and justify each classification.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Explain why a reflex agent may fail under partial observability.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Explain why rationality is not omniscience or perfection.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Given a performance measure, predict how agent behavior may change.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Compare model-based and goal-based agents in the Vacuum World lab.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122236"/>
          </a:solidFill>
          <a:ln>
            <a:solidFill>
              <a:srgbClr val="12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Closing: 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09728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300" b="0">
                <a:solidFill>
                  <a:srgbClr val="D1DAE3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44600" y="109728"/>
            <a:ext cx="411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normAutofit/>
          </a:bodyPr>
          <a:lstStyle/>
          <a:p>
            <a:pPr algn="r">
              <a:defRPr sz="1200" b="0">
                <a:solidFill>
                  <a:srgbClr val="D1DAE3"/>
                </a:solidFill>
                <a:latin typeface="Aptos"/>
              </a:defRPr>
            </a:pPr>
            <a: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91856"/>
            <a:ext cx="14630400" cy="45720"/>
          </a:xfrm>
          <a:prstGeom prst="rect">
            <a:avLst/>
          </a:prstGeom>
          <a:solidFill>
            <a:srgbClr val="2168AE"/>
          </a:solidFill>
          <a:ln>
            <a:solidFill>
              <a:srgbClr val="216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8869680" cy="6217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AI systems can be analyzed as agents that map percepts to actions.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Good agent design starts with the task environment and performance measure.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The Vacuum World lab is small, but it contains the core pattern of AI: perceive, decide, act, evaluate, and improve.</a:t>
            </a:r>
          </a:p>
          <a:p>
            <a:pPr>
              <a:spcAft>
                <a:spcPts val="800"/>
              </a:spcAft>
              <a:defRPr sz="2200">
                <a:solidFill>
                  <a:srgbClr val="1C1F23"/>
                </a:solidFill>
                <a:latin typeface="Aptos"/>
              </a:defRPr>
            </a:pPr>
            <a:r>
              <a:t>Students who can explain the lab using AIMA vocabulary are preparing directly for the midterm.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