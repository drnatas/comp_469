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13.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350" b="0" u="none" strike="noStrike">
                <a:solidFill>
                  <a:schemeClr val="dk1"/>
                </a:solidFill>
                <a:effectLst/>
                <a:uFillTx/>
                <a:latin typeface="Aptos"/>
              </a:rPr>
              <a:t>Click to move the slide</a:t>
            </a:r>
            <a:endParaRPr lang="en-US" sz="1350" b="0" u="none" strike="noStrike">
              <a:solidFill>
                <a:schemeClr val="dk1"/>
              </a:solidFill>
              <a:effectLst/>
              <a:uFillTx/>
              <a:latin typeface="Aptos"/>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5758A1C-6370-4917-87F9-B538FEEFD855}"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453600" y="1038960"/>
            <a:ext cx="3629880" cy="2804760"/>
          </a:xfrm>
          <a:prstGeom prst="rect">
            <a:avLst/>
          </a:prstGeom>
          <a:ln w="0">
            <a:noFill/>
          </a:ln>
        </p:spPr>
      </p:sp>
      <p:sp>
        <p:nvSpPr>
          <p:cNvPr id="296" name="PlaceHolder 2"/>
          <p:cNvSpPr>
            <a:spLocks noGrp="1"/>
          </p:cNvSpPr>
          <p:nvPr>
            <p:ph type="body"/>
          </p:nvPr>
        </p:nvSpPr>
        <p:spPr>
          <a:xfrm>
            <a:off x="453600" y="4000320"/>
            <a:ext cx="3629880" cy="32720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0:00-0:03. Welcome students and frame the lecture as the launch point for the course. The goal is not to memorize definitions, but to learn the agent lens that will organize the semester.</a:t>
            </a:r>
            <a:endParaRPr lang="en-US" sz="2000" b="0" u="none" strike="noStrike">
              <a:solidFill>
                <a:srgbClr val="000000"/>
              </a:solidFill>
              <a:effectLst/>
              <a:uFillTx/>
              <a:latin typeface="Arial"/>
            </a:endParaRPr>
          </a:p>
        </p:txBody>
      </p:sp>
      <p:sp>
        <p:nvSpPr>
          <p:cNvPr id="297" name="PlaceHolder 3"/>
          <p:cNvSpPr>
            <a:spLocks noGrp="1"/>
          </p:cNvSpPr>
          <p:nvPr>
            <p:ph type="sldNum" idx="4"/>
          </p:nvPr>
        </p:nvSpPr>
        <p:spPr>
          <a:xfrm>
            <a:off x="2570760" y="7895520"/>
            <a:ext cx="1965600" cy="4158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543CCBA-9736-4FF6-A923-3845E95536B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685800" y="1143000"/>
            <a:ext cx="5485320" cy="3085200"/>
          </a:xfrm>
          <a:prstGeom prst="rect">
            <a:avLst/>
          </a:prstGeom>
          <a:ln w="0">
            <a:noFill/>
          </a:ln>
        </p:spPr>
      </p:sp>
      <p:sp>
        <p:nvSpPr>
          <p:cNvPr id="29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0"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67CDBE3-B3BE-4F17-A373-6A409C7963F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685800" y="1143000"/>
            <a:ext cx="5485320" cy="3085200"/>
          </a:xfrm>
          <a:prstGeom prst="rect">
            <a:avLst/>
          </a:prstGeom>
          <a:ln w="0">
            <a:noFill/>
          </a:ln>
        </p:spPr>
      </p:sp>
      <p:sp>
        <p:nvSpPr>
          <p:cNvPr id="30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3"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4AB0DB3-3768-4642-B0B7-E5B96BF1EAD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5320" cy="3085200"/>
          </a:xfrm>
          <a:prstGeom prst="rect">
            <a:avLst/>
          </a:prstGeom>
          <a:ln w="0">
            <a:noFill/>
          </a:ln>
        </p:spPr>
      </p:sp>
      <p:sp>
        <p:nvSpPr>
          <p:cNvPr id="30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6"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5B8AC9F-42C6-4755-9193-7F2010BCC72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5320" cy="3085200"/>
          </a:xfrm>
          <a:prstGeom prst="rect">
            <a:avLst/>
          </a:prstGeom>
          <a:ln w="0">
            <a:noFill/>
          </a:ln>
        </p:spPr>
      </p:sp>
      <p:sp>
        <p:nvSpPr>
          <p:cNvPr id="30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pPr>
            <a:r>
              <a:rPr lang="en-US" sz="1800" b="0" u="none" strike="noStrike">
                <a:solidFill>
                  <a:srgbClr val="000000"/>
                </a:solidFill>
                <a:effectLst/>
                <a:uFillTx/>
                <a:latin typeface="Arial"/>
              </a:rPr>
              <a:t>This slide should be the history of AI, go over who history a bit better.</a:t>
            </a:r>
            <a:endParaRPr lang="en-US" sz="1800" b="0" u="none" strike="noStrike">
              <a:solidFill>
                <a:srgbClr val="000000"/>
              </a:solidFill>
              <a:effectLst/>
              <a:uFillTx/>
              <a:latin typeface="Arial"/>
            </a:endParaRPr>
          </a:p>
        </p:txBody>
      </p:sp>
      <p:sp>
        <p:nvSpPr>
          <p:cNvPr id="309"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EA7DED0-AF5B-403A-9AE5-306DB3A43D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685800" y="1143000"/>
            <a:ext cx="5485320" cy="3085200"/>
          </a:xfrm>
          <a:prstGeom prst="rect">
            <a:avLst/>
          </a:prstGeom>
          <a:ln w="0">
            <a:noFill/>
          </a:ln>
        </p:spPr>
      </p:sp>
      <p:sp>
        <p:nvSpPr>
          <p:cNvPr id="31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2"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7E78968-4C9F-498B-BD0A-62C3148489E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685800" y="1143000"/>
            <a:ext cx="5485320" cy="3085200"/>
          </a:xfrm>
          <a:prstGeom prst="rect">
            <a:avLst/>
          </a:prstGeom>
          <a:ln w="0">
            <a:noFill/>
          </a:ln>
        </p:spPr>
      </p:sp>
      <p:sp>
        <p:nvSpPr>
          <p:cNvPr id="31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5"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7768797-1960-4391-9D48-ADFBB03B39D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5320" cy="3085200"/>
          </a:xfrm>
          <a:prstGeom prst="rect">
            <a:avLst/>
          </a:prstGeom>
          <a:ln w="0">
            <a:noFill/>
          </a:ln>
        </p:spPr>
      </p:sp>
      <p:sp>
        <p:nvSpPr>
          <p:cNvPr id="31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8"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3DD94ED-DF3F-444E-A80D-3C81655A5CF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5800" y="1143000"/>
            <a:ext cx="5485320" cy="3085200"/>
          </a:xfrm>
          <a:prstGeom prst="rect">
            <a:avLst/>
          </a:prstGeom>
          <a:ln w="0">
            <a:noFill/>
          </a:ln>
        </p:spPr>
      </p:sp>
      <p:sp>
        <p:nvSpPr>
          <p:cNvPr id="32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21"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09F8527-EAC1-4C87-9E0E-3A54F96AEAA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85320" cy="3085200"/>
          </a:xfrm>
          <a:prstGeom prst="rect">
            <a:avLst/>
          </a:prstGeom>
          <a:ln w="0">
            <a:noFill/>
          </a:ln>
        </p:spPr>
      </p:sp>
      <p:sp>
        <p:nvSpPr>
          <p:cNvPr id="32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24"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C3D38C9-23AA-4C7D-AE34-7CC98F9B4CC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685800" y="1143000"/>
            <a:ext cx="5485320" cy="3085200"/>
          </a:xfrm>
          <a:prstGeom prst="rect">
            <a:avLst/>
          </a:prstGeom>
          <a:ln w="0">
            <a:noFill/>
          </a:ln>
        </p:spPr>
      </p:sp>
      <p:sp>
        <p:nvSpPr>
          <p:cNvPr id="32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27" name="PlaceHolder 3"/>
          <p:cNvSpPr>
            <a:spLocks noGrp="1"/>
          </p:cNvSpPr>
          <p:nvPr>
            <p:ph type="sldNum" idx="1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C23C36-1E03-47A3-9BF2-F747679AEE6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5800" y="1143000"/>
            <a:ext cx="5485320" cy="3085200"/>
          </a:xfrm>
          <a:prstGeom prst="rect">
            <a:avLst/>
          </a:prstGeom>
          <a:ln w="0">
            <a:noFill/>
          </a:ln>
        </p:spPr>
      </p:sp>
      <p:sp>
        <p:nvSpPr>
          <p:cNvPr id="32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0"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B06512-55B9-4095-8879-5DC38252FAA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85320" cy="3085200"/>
          </a:xfrm>
          <a:prstGeom prst="rect">
            <a:avLst/>
          </a:prstGeom>
          <a:ln w="0">
            <a:noFill/>
          </a:ln>
        </p:spPr>
      </p:sp>
      <p:sp>
        <p:nvSpPr>
          <p:cNvPr id="33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3"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78DF327-E955-433E-84F6-870ED7A068A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85320" cy="3085200"/>
          </a:xfrm>
          <a:prstGeom prst="rect">
            <a:avLst/>
          </a:prstGeom>
          <a:ln w="0">
            <a:noFill/>
          </a:ln>
        </p:spPr>
      </p:sp>
      <p:sp>
        <p:nvSpPr>
          <p:cNvPr id="33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6" name="PlaceHolder 3"/>
          <p:cNvSpPr>
            <a:spLocks noGrp="1"/>
          </p:cNvSpPr>
          <p:nvPr>
            <p:ph type="sldNum" idx="1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5B4A0E5-ACEC-49E8-B38A-68DCECE893E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85320" cy="3085200"/>
          </a:xfrm>
          <a:prstGeom prst="rect">
            <a:avLst/>
          </a:prstGeom>
          <a:ln w="0">
            <a:noFill/>
          </a:ln>
        </p:spPr>
      </p:sp>
      <p:sp>
        <p:nvSpPr>
          <p:cNvPr id="33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9" name="PlaceHolder 3"/>
          <p:cNvSpPr>
            <a:spLocks noGrp="1"/>
          </p:cNvSpPr>
          <p:nvPr>
            <p:ph type="sldNum" idx="1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83ADA59-6543-4318-9DEA-0D30843AC95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85320" cy="3085200"/>
          </a:xfrm>
          <a:prstGeom prst="rect">
            <a:avLst/>
          </a:prstGeom>
          <a:ln w="0">
            <a:noFill/>
          </a:ln>
        </p:spPr>
      </p:sp>
      <p:sp>
        <p:nvSpPr>
          <p:cNvPr id="34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2" name="PlaceHolder 3"/>
          <p:cNvSpPr>
            <a:spLocks noGrp="1"/>
          </p:cNvSpPr>
          <p:nvPr>
            <p:ph type="sldNum" idx="1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C987D5E-CB90-482E-841F-0C4AAFCC36A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5320" cy="3085200"/>
          </a:xfrm>
          <a:prstGeom prst="rect">
            <a:avLst/>
          </a:prstGeom>
          <a:ln w="0">
            <a:noFill/>
          </a:ln>
        </p:spPr>
      </p:sp>
      <p:sp>
        <p:nvSpPr>
          <p:cNvPr id="34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5" name="PlaceHolder 3"/>
          <p:cNvSpPr>
            <a:spLocks noGrp="1"/>
          </p:cNvSpPr>
          <p:nvPr>
            <p:ph type="sldNum" idx="2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E30F675-0A12-4415-A552-55160B377D3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85320" cy="3085200"/>
          </a:xfrm>
          <a:prstGeom prst="rect">
            <a:avLst/>
          </a:prstGeom>
          <a:ln w="0">
            <a:noFill/>
          </a:ln>
        </p:spPr>
      </p:sp>
      <p:sp>
        <p:nvSpPr>
          <p:cNvPr id="34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8" name="PlaceHolder 3"/>
          <p:cNvSpPr>
            <a:spLocks noGrp="1"/>
          </p:cNvSpPr>
          <p:nvPr>
            <p:ph type="sldNum" idx="2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AEC410-C90B-4058-8DA4-15215BFB4E0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85320" cy="3085200"/>
          </a:xfrm>
          <a:prstGeom prst="rect">
            <a:avLst/>
          </a:prstGeom>
          <a:ln w="0">
            <a:noFill/>
          </a:ln>
        </p:spPr>
      </p:sp>
      <p:sp>
        <p:nvSpPr>
          <p:cNvPr id="35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51" name="PlaceHolder 3"/>
          <p:cNvSpPr>
            <a:spLocks noGrp="1"/>
          </p:cNvSpPr>
          <p:nvPr>
            <p:ph type="sldNum" idx="2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F8B2D71-D91F-409A-A105-8E24E234B6A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5320" cy="3085200"/>
          </a:xfrm>
          <a:prstGeom prst="rect">
            <a:avLst/>
          </a:prstGeom>
          <a:ln w="0">
            <a:noFill/>
          </a:ln>
        </p:spPr>
      </p:sp>
      <p:sp>
        <p:nvSpPr>
          <p:cNvPr id="35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54" name="PlaceHolder 3"/>
          <p:cNvSpPr>
            <a:spLocks noGrp="1"/>
          </p:cNvSpPr>
          <p:nvPr>
            <p:ph type="sldNum" idx="2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B0E0D7-228C-4F56-B51D-6438A92DEFA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5320" cy="3085200"/>
          </a:xfrm>
          <a:prstGeom prst="rect">
            <a:avLst/>
          </a:prstGeom>
          <a:ln w="0">
            <a:noFill/>
          </a:ln>
        </p:spPr>
      </p:sp>
      <p:sp>
        <p:nvSpPr>
          <p:cNvPr id="35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57" name="PlaceHolder 3"/>
          <p:cNvSpPr>
            <a:spLocks noGrp="1"/>
          </p:cNvSpPr>
          <p:nvPr>
            <p:ph type="sldNum" idx="2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598D02-AFA7-4E43-8C99-A2507CA6E09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5320" cy="3085200"/>
          </a:xfrm>
          <a:prstGeom prst="rect">
            <a:avLst/>
          </a:prstGeom>
          <a:ln w="0">
            <a:noFill/>
          </a:ln>
        </p:spPr>
      </p:sp>
      <p:sp>
        <p:nvSpPr>
          <p:cNvPr id="35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60" name="PlaceHolder 3"/>
          <p:cNvSpPr>
            <a:spLocks noGrp="1"/>
          </p:cNvSpPr>
          <p:nvPr>
            <p:ph type="sldNum" idx="2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8883F02-DE54-40FE-A4B9-24CE9F9FBA9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5320" cy="3085200"/>
          </a:xfrm>
          <a:prstGeom prst="rect">
            <a:avLst/>
          </a:prstGeom>
          <a:ln w="0">
            <a:noFill/>
          </a:ln>
        </p:spPr>
      </p:sp>
      <p:sp>
        <p:nvSpPr>
          <p:cNvPr id="36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63" name="PlaceHolder 3"/>
          <p:cNvSpPr>
            <a:spLocks noGrp="1"/>
          </p:cNvSpPr>
          <p:nvPr>
            <p:ph type="sldNum" idx="2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5C0C74-2999-4134-822D-5371A81A76A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5320" cy="3085200"/>
          </a:xfrm>
          <a:prstGeom prst="rect">
            <a:avLst/>
          </a:prstGeom>
          <a:ln w="0">
            <a:noFill/>
          </a:ln>
        </p:spPr>
      </p:sp>
      <p:sp>
        <p:nvSpPr>
          <p:cNvPr id="36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66" name="PlaceHolder 3"/>
          <p:cNvSpPr>
            <a:spLocks noGrp="1"/>
          </p:cNvSpPr>
          <p:nvPr>
            <p:ph type="sldNum" idx="2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BC93CAA-C59C-4BFD-BE59-F3FF5CBD0F5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685800" y="1143000"/>
            <a:ext cx="5485320" cy="3085200"/>
          </a:xfrm>
          <a:prstGeom prst="rect">
            <a:avLst/>
          </a:prstGeom>
          <a:ln w="0">
            <a:noFill/>
          </a:ln>
        </p:spPr>
      </p:sp>
      <p:sp>
        <p:nvSpPr>
          <p:cNvPr id="36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69" name="PlaceHolder 3"/>
          <p:cNvSpPr>
            <a:spLocks noGrp="1"/>
          </p:cNvSpPr>
          <p:nvPr>
            <p:ph type="sldNum" idx="2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8C5E4BA-36AB-4ED5-972C-267BB50DB36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685800" y="1143000"/>
            <a:ext cx="5485320" cy="3085200"/>
          </a:xfrm>
          <a:prstGeom prst="rect">
            <a:avLst/>
          </a:prstGeom>
          <a:ln w="0">
            <a:noFill/>
          </a:ln>
        </p:spPr>
      </p:sp>
      <p:sp>
        <p:nvSpPr>
          <p:cNvPr id="37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72" name="PlaceHolder 3"/>
          <p:cNvSpPr>
            <a:spLocks noGrp="1"/>
          </p:cNvSpPr>
          <p:nvPr>
            <p:ph type="sldNum" idx="2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9AFCEB9-41BC-4BC7-A92A-F7C94EB6F5F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685800" y="1143000"/>
            <a:ext cx="5485320" cy="3085200"/>
          </a:xfrm>
          <a:prstGeom prst="rect">
            <a:avLst/>
          </a:prstGeom>
          <a:ln w="0">
            <a:noFill/>
          </a:ln>
        </p:spPr>
      </p:sp>
      <p:sp>
        <p:nvSpPr>
          <p:cNvPr id="37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75" name="PlaceHolder 3"/>
          <p:cNvSpPr>
            <a:spLocks noGrp="1"/>
          </p:cNvSpPr>
          <p:nvPr>
            <p:ph type="sldNum" idx="3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91DF17-6799-4566-B80C-205DC2C4B02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685800" y="1143000"/>
            <a:ext cx="5485320" cy="3085200"/>
          </a:xfrm>
          <a:prstGeom prst="rect">
            <a:avLst/>
          </a:prstGeom>
          <a:ln w="0">
            <a:noFill/>
          </a:ln>
        </p:spPr>
      </p:sp>
      <p:sp>
        <p:nvSpPr>
          <p:cNvPr id="37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78" name="PlaceHolder 3"/>
          <p:cNvSpPr>
            <a:spLocks noGrp="1"/>
          </p:cNvSpPr>
          <p:nvPr>
            <p:ph type="sldNum" idx="3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1FC80D2-F959-4A27-B1AE-EAB59651A91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685800" y="1143000"/>
            <a:ext cx="5485320" cy="3085200"/>
          </a:xfrm>
          <a:prstGeom prst="rect">
            <a:avLst/>
          </a:prstGeom>
          <a:ln w="0">
            <a:noFill/>
          </a:ln>
        </p:spPr>
      </p:sp>
      <p:sp>
        <p:nvSpPr>
          <p:cNvPr id="38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81" name="PlaceHolder 3"/>
          <p:cNvSpPr>
            <a:spLocks noGrp="1"/>
          </p:cNvSpPr>
          <p:nvPr>
            <p:ph type="sldNum" idx="3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7BFE269-A081-4ED6-AC38-3775D08AB73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685800" y="1143000"/>
            <a:ext cx="5485320" cy="3085200"/>
          </a:xfrm>
          <a:prstGeom prst="rect">
            <a:avLst/>
          </a:prstGeom>
          <a:ln w="0">
            <a:noFill/>
          </a:ln>
        </p:spPr>
      </p:sp>
      <p:sp>
        <p:nvSpPr>
          <p:cNvPr id="38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84" name="PlaceHolder 3"/>
          <p:cNvSpPr>
            <a:spLocks noGrp="1"/>
          </p:cNvSpPr>
          <p:nvPr>
            <p:ph type="sldNum" idx="3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E1EEED-6C11-4AF2-9CD4-DFA2E01985F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685800" y="1143000"/>
            <a:ext cx="5485320" cy="3085200"/>
          </a:xfrm>
          <a:prstGeom prst="rect">
            <a:avLst/>
          </a:prstGeom>
          <a:ln w="0">
            <a:noFill/>
          </a:ln>
        </p:spPr>
      </p:sp>
      <p:sp>
        <p:nvSpPr>
          <p:cNvPr id="38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87" name="PlaceHolder 3"/>
          <p:cNvSpPr>
            <a:spLocks noGrp="1"/>
          </p:cNvSpPr>
          <p:nvPr>
            <p:ph type="sldNum" idx="3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FE9D977-4A5B-44B1-9E52-8B2020507FD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685800" y="1143000"/>
            <a:ext cx="5485320" cy="3085200"/>
          </a:xfrm>
          <a:prstGeom prst="rect">
            <a:avLst/>
          </a:prstGeom>
          <a:ln w="0">
            <a:noFill/>
          </a:ln>
        </p:spPr>
      </p:sp>
      <p:sp>
        <p:nvSpPr>
          <p:cNvPr id="38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90" name="PlaceHolder 3"/>
          <p:cNvSpPr>
            <a:spLocks noGrp="1"/>
          </p:cNvSpPr>
          <p:nvPr>
            <p:ph type="sldNum" idx="3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315DA93-7AB2-45FD-AAC6-845FF369DAE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8520" cy="274680"/>
          </a:xfrm>
          <a:prstGeom prst="rect">
            <a:avLst/>
          </a:prstGeom>
          <a:noFill/>
          <a:ln w="0">
            <a:noFill/>
          </a:ln>
        </p:spPr>
        <p:txBody>
          <a:bodyPr lIns="0" tIns="0" rIns="0" bIns="0" anchor="ctr">
            <a:sp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4"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8FA"/>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7F8FA"/>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531360"/>
            <a:ext cx="8228520" cy="205920"/>
          </a:xfrm>
          <a:prstGeom prst="rect">
            <a:avLst/>
          </a:prstGeom>
          <a:noFill/>
          <a:ln w="0">
            <a:noFill/>
          </a:ln>
        </p:spPr>
        <p:txBody>
          <a:bodyPr lIns="0" tIns="0" rIns="0" bIns="0" anchor="ctr">
            <a:spAutoFit/>
          </a:bodyPr>
          <a:lstStyle>
            <a:lvl1pPr indent="0" algn="l">
              <a:lnSpc>
                <a:spcPct val="100000"/>
              </a:lnSpc>
              <a:buNone/>
              <a:tabLst>
                <a:tab pos="0" algn="l"/>
              </a:tabLst>
              <a:defRPr lang="en-US" sz="1350" b="0" u="none" strike="noStrike">
                <a:solidFill>
                  <a:schemeClr val="dk1"/>
                </a:solidFill>
                <a:effectLst/>
                <a:uFillTx/>
                <a:latin typeface="Aptos"/>
              </a:defRPr>
            </a:lvl1pPr>
          </a:lstStyle>
          <a:p>
            <a:pPr indent="0" algn="l">
              <a:lnSpc>
                <a:spcPct val="100000"/>
              </a:lnSpc>
              <a:buNone/>
              <a:tabLst>
                <a:tab pos="0" algn="l"/>
              </a:tabLst>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a:lnSpc>
                <a:spcPct val="100000"/>
              </a:lnSpc>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a:lnSpc>
                <a:spcPct val="100000"/>
              </a:lnSpc>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a:lnSpc>
                <a:spcPct val="100000"/>
              </a:lnSpc>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endParaRPr lang="en-US" sz="2400" b="0" u="none" strike="noStrike">
              <a:solidFill>
                <a:schemeClr val="dk1"/>
              </a:solidFill>
              <a:effectLst/>
              <a:uFillTx/>
              <a:latin typeface="Aptos"/>
            </a:endParaRPr>
          </a:p>
          <a:p>
            <a:pPr marL="864000" lvl="1" indent="-324000" algn="l">
              <a:lnSpc>
                <a:spcPct val="100000"/>
              </a:lnSpc>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endParaRPr lang="en-US" sz="1800" b="0" u="none" strike="noStrike">
              <a:solidFill>
                <a:schemeClr val="dk1"/>
              </a:solidFill>
              <a:effectLst/>
              <a:uFillTx/>
              <a:latin typeface="Aptos"/>
            </a:endParaRPr>
          </a:p>
          <a:p>
            <a:pPr marL="1296000" lvl="2" indent="-288000" algn="l">
              <a:lnSpc>
                <a:spcPct val="100000"/>
              </a:lnSpc>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endParaRPr lang="en-US" sz="1500" b="0" u="none" strike="noStrike">
              <a:solidFill>
                <a:schemeClr val="dk1"/>
              </a:solidFill>
              <a:effectLst/>
              <a:uFillTx/>
              <a:latin typeface="Aptos"/>
            </a:endParaRPr>
          </a:p>
          <a:p>
            <a:pPr marL="1728000" lvl="3" indent="-216000" algn="l">
              <a:lnSpc>
                <a:spcPct val="100000"/>
              </a:lnSpc>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endParaRPr lang="en-US" sz="1500" b="0" u="none" strike="noStrike">
              <a:solidFill>
                <a:schemeClr val="dk1"/>
              </a:solidFill>
              <a:effectLst/>
              <a:uFillTx/>
              <a:latin typeface="Aptos"/>
            </a:endParaRPr>
          </a:p>
          <a:p>
            <a:pPr marL="2160000" lvl="4"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hyperlink" Target="https://maps.deflock.org/" TargetMode="External"/><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B49"/>
        </a:solidFill>
      </p:bgPr>
    </p:bg>
    <p:spTree>
      <p:nvGrpSpPr>
        <p:cNvPr id="1" name=""/>
        <p:cNvGrpSpPr/>
        <p:nvPr/>
      </p:nvGrpSpPr>
      <p:grpSpPr>
        <a:xfrm>
          <a:off x="0" y="0"/>
          <a:ext cx="0" cy="0"/>
          <a:chOff x="0" y="0"/>
          <a:chExt cx="0" cy="0"/>
        </a:xfrm>
      </p:grpSpPr>
      <p:pic>
        <p:nvPicPr>
          <p:cNvPr id="13" name="Image 0" descr="/mnt/data/wide_cinematic_futuristic_scene_a_dark_blue_nigh.png"/>
          <p:cNvPicPr/>
          <p:nvPr/>
        </p:nvPicPr>
        <p:blipFill>
          <a:blip r:embed="rId1"/>
          <a:srcRect l="41987" t="0" r="9372" b="0"/>
          <a:stretch/>
        </p:blipFill>
        <p:spPr>
          <a:xfrm>
            <a:off x="4697640" y="0"/>
            <a:ext cx="4443120" cy="5142600"/>
          </a:xfrm>
          <a:prstGeom prst="rect">
            <a:avLst/>
          </a:prstGeom>
          <a:noFill/>
          <a:ln w="0">
            <a:noFill/>
          </a:ln>
        </p:spPr>
      </p:pic>
      <p:sp>
        <p:nvSpPr>
          <p:cNvPr id="14" name="Shape 2"/>
          <p:cNvSpPr/>
          <p:nvPr/>
        </p:nvSpPr>
        <p:spPr>
          <a:xfrm>
            <a:off x="4526280" y="0"/>
            <a:ext cx="170280" cy="5142960"/>
          </a:xfrm>
          <a:prstGeom prst="rect">
            <a:avLst/>
          </a:prstGeom>
          <a:solidFill>
            <a:srgbClr val="C99700"/>
          </a:solidFill>
          <a:ln w="12600">
            <a:solidFill>
              <a:srgbClr val="C99700"/>
            </a:solidFill>
            <a:round/>
          </a:ln>
        </p:spPr>
        <p:style>
          <a:lnRef idx="0"/>
          <a:fillRef idx="0"/>
          <a:effectRef idx="0"/>
          <a:fontRef idx="minor"/>
        </p:style>
        <p:txBody>
          <a:bodyPr lIns="85320" tIns="45000" rIns="85320" bIns="45000" anchor="t">
            <a:noAutofit/>
          </a:bodyPr>
          <a:p>
            <a:endParaRPr lang="en-US" sz="1800" b="0" u="none" strike="noStrike">
              <a:solidFill>
                <a:srgbClr val="000000"/>
              </a:solidFill>
              <a:effectLst/>
              <a:uFillTx/>
              <a:latin typeface="Arial"/>
            </a:endParaRPr>
          </a:p>
        </p:txBody>
      </p:sp>
      <p:sp>
        <p:nvSpPr>
          <p:cNvPr id="15" name="Text 38"/>
          <p:cNvSpPr/>
          <p:nvPr/>
        </p:nvSpPr>
        <p:spPr>
          <a:xfrm>
            <a:off x="493920" y="493560"/>
            <a:ext cx="1576440" cy="1706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1400" b="1" u="none" strike="noStrike">
                <a:solidFill>
                  <a:srgbClr val="C99700"/>
                </a:solidFill>
                <a:effectLst/>
                <a:uFillTx/>
                <a:latin typeface="Aptos"/>
                <a:ea typeface="DejaVu Sans"/>
              </a:rPr>
              <a:t>COMP 469</a:t>
            </a:r>
            <a:endParaRPr lang="en-US" sz="1400" b="0" u="none" strike="noStrike">
              <a:solidFill>
                <a:srgbClr val="FFFFFF"/>
              </a:solidFill>
              <a:effectLst/>
              <a:uFillTx/>
              <a:latin typeface="Arial"/>
            </a:endParaRPr>
          </a:p>
        </p:txBody>
      </p:sp>
      <p:sp>
        <p:nvSpPr>
          <p:cNvPr id="16" name="Text 40"/>
          <p:cNvSpPr/>
          <p:nvPr/>
        </p:nvSpPr>
        <p:spPr>
          <a:xfrm>
            <a:off x="479880" y="925560"/>
            <a:ext cx="3805200" cy="99360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4200" b="1" u="none" strike="noStrike">
                <a:solidFill>
                  <a:srgbClr val="FFFFFF"/>
                </a:solidFill>
                <a:effectLst/>
                <a:uFillTx/>
                <a:latin typeface="Aptos"/>
                <a:ea typeface="DejaVu Sans"/>
              </a:rPr>
              <a:t>AI Agents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DejaVu Sans"/>
              </a:rPr>
              <a:t>and Foundations</a:t>
            </a:r>
            <a:endParaRPr lang="en-US" sz="4200" b="0" u="none" strike="noStrike">
              <a:solidFill>
                <a:srgbClr val="FFFFFF"/>
              </a:solidFill>
              <a:effectLst/>
              <a:uFillTx/>
              <a:latin typeface="Arial"/>
            </a:endParaRPr>
          </a:p>
        </p:txBody>
      </p:sp>
      <p:sp>
        <p:nvSpPr>
          <p:cNvPr id="17" name="Text 41"/>
          <p:cNvSpPr/>
          <p:nvPr/>
        </p:nvSpPr>
        <p:spPr>
          <a:xfrm>
            <a:off x="493920" y="2160000"/>
            <a:ext cx="3771000" cy="239040"/>
          </a:xfrm>
          <a:prstGeom prst="rect">
            <a:avLst/>
          </a:prstGeom>
          <a:noFill/>
          <a:ln w="0">
            <a:noFill/>
          </a:ln>
        </p:spPr>
        <p:style>
          <a:lnRef idx="0"/>
          <a:fillRef idx="0"/>
          <a:effectRef idx="0"/>
          <a:fontRef idx="minor"/>
        </p:style>
        <p:txBody>
          <a:bodyPr lIns="360" tIns="360" rIns="360" bIns="360" anchor="t">
            <a:normAutofit fontScale="62500" lnSpcReduction="19999"/>
          </a:bodyPr>
          <a:p>
            <a:endParaRPr lang="en-US" sz="1800" b="0" u="none" strike="noStrike">
              <a:solidFill>
                <a:srgbClr val="FFFFFF"/>
              </a:solidFill>
              <a:effectLst/>
              <a:uFillTx/>
              <a:latin typeface="Arial"/>
            </a:endParaRPr>
          </a:p>
        </p:txBody>
      </p:sp>
      <p:sp>
        <p:nvSpPr>
          <p:cNvPr id="18" name="Shape 25"/>
          <p:cNvSpPr/>
          <p:nvPr/>
        </p:nvSpPr>
        <p:spPr>
          <a:xfrm>
            <a:off x="493920" y="2880360"/>
            <a:ext cx="3530880" cy="650520"/>
          </a:xfrm>
          <a:prstGeom prst="roundRect">
            <a:avLst>
              <a:gd name="adj" fmla="val 12632"/>
            </a:avLst>
          </a:prstGeom>
          <a:solidFill>
            <a:srgbClr val="123B5A"/>
          </a:solidFill>
          <a:ln w="1512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Text 42"/>
          <p:cNvSpPr/>
          <p:nvPr/>
        </p:nvSpPr>
        <p:spPr>
          <a:xfrm>
            <a:off x="644760" y="3017520"/>
            <a:ext cx="3229200" cy="410400"/>
          </a:xfrm>
          <a:prstGeom prst="rect">
            <a:avLst/>
          </a:prstGeom>
          <a:noFill/>
          <a:ln w="0">
            <a:noFill/>
          </a:ln>
        </p:spPr>
        <p:style>
          <a:lnRef idx="0"/>
          <a:fillRef idx="0"/>
          <a:effectRef idx="0"/>
          <a:fontRef idx="minor"/>
        </p:style>
        <p:txBody>
          <a:bodyPr lIns="360" tIns="360" rIns="360" bIns="360" anchor="ctr">
            <a:normAutofit fontScale="70000" lnSpcReduction="19999"/>
          </a:bodyPr>
          <a:p>
            <a:pPr algn="ctr" defTabSz="914400">
              <a:lnSpc>
                <a:spcPct val="100000"/>
              </a:lnSpc>
              <a:tabLst>
                <a:tab pos="0" algn="l"/>
              </a:tabLst>
            </a:pPr>
            <a:r>
              <a:rPr lang="en-US" sz="1600" b="1" u="none" strike="noStrike">
                <a:solidFill>
                  <a:srgbClr val="FFFFFF"/>
                </a:solidFill>
                <a:effectLst/>
                <a:uFillTx/>
                <a:latin typeface="Aptos"/>
                <a:ea typeface="DejaVu Sans"/>
              </a:rPr>
              <a:t>Week 1: define intelligence, build agent vocabulary, and prepare for the grid-world lab.</a:t>
            </a:r>
            <a:endParaRPr lang="en-US" sz="1600" b="0" u="none" strike="noStrike">
              <a:solidFill>
                <a:srgbClr val="FFFFFF"/>
              </a:solidFill>
              <a:effectLst/>
              <a:uFillTx/>
              <a:latin typeface="Arial"/>
            </a:endParaRPr>
          </a:p>
        </p:txBody>
      </p:sp>
      <p:sp>
        <p:nvSpPr>
          <p:cNvPr id="20" name="Text 43"/>
          <p:cNvSpPr/>
          <p:nvPr/>
        </p:nvSpPr>
        <p:spPr>
          <a:xfrm>
            <a:off x="377280" y="4903560"/>
            <a:ext cx="3976560" cy="13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ea typeface="DejaVu Sans"/>
              </a:rPr>
              <a:t>COMP 469 | CSU Channel Islands</a:t>
            </a:r>
            <a:endParaRPr lang="en-US" sz="850" b="0" u="none" strike="noStrike">
              <a:solidFill>
                <a:srgbClr val="FFFFFF"/>
              </a:solidFill>
              <a:effectLst/>
              <a:uFillTx/>
              <a:latin typeface="Arial"/>
            </a:endParaRPr>
          </a:p>
        </p:txBody>
      </p:sp>
      <p:sp>
        <p:nvSpPr>
          <p:cNvPr id="21" name="Text 44"/>
          <p:cNvSpPr/>
          <p:nvPr/>
        </p:nvSpPr>
        <p:spPr>
          <a:xfrm>
            <a:off x="8332560" y="4883040"/>
            <a:ext cx="376200" cy="136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ea typeface="DejaVu Sans"/>
              </a:rPr>
              <a:t>01</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22" name="Shape 0"/>
          <p:cNvSpPr/>
          <p:nvPr/>
        </p:nvSpPr>
        <p:spPr>
          <a:xfrm>
            <a:off x="0" y="0"/>
            <a:ext cx="163440" cy="5142600"/>
          </a:xfrm>
          <a:prstGeom prst="rect">
            <a:avLst/>
          </a:prstGeom>
          <a:solidFill>
            <a:srgbClr val="F4A020"/>
          </a:solidFill>
          <a:ln w="12700">
            <a:solidFill>
              <a:srgbClr val="F4A020"/>
            </a:solidFill>
            <a:round/>
          </a:ln>
        </p:spPr>
        <p:style>
          <a:lnRef idx="0"/>
          <a:fillRef idx="0"/>
          <a:effectRef idx="0"/>
          <a:fontRef idx="minor"/>
        </p:style>
        <p:txBody>
          <a:bodyPr lIns="81720" tIns="45000" rIns="81720" bIns="45000" anchor="t">
            <a:noAutofit/>
          </a:bodyPr>
          <a:p>
            <a:endParaRPr lang="en-US" sz="1800" b="0" u="none" strike="noStrike">
              <a:solidFill>
                <a:srgbClr val="000000"/>
              </a:solidFill>
              <a:effectLst/>
              <a:uFillTx/>
              <a:latin typeface="Arial"/>
            </a:endParaRPr>
          </a:p>
        </p:txBody>
      </p:sp>
      <p:sp>
        <p:nvSpPr>
          <p:cNvPr id="23" name="Shape 1"/>
          <p:cNvSpPr/>
          <p:nvPr/>
        </p:nvSpPr>
        <p:spPr>
          <a:xfrm>
            <a:off x="164520" y="4389120"/>
            <a:ext cx="8978400" cy="753480"/>
          </a:xfrm>
          <a:prstGeom prst="rect">
            <a:avLst/>
          </a:prstGeom>
          <a:solidFill>
            <a:srgbClr val="0D1B36"/>
          </a:solidFill>
          <a:ln w="12700">
            <a:solidFill>
              <a:srgbClr val="0D1B3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 name="Text 2"/>
          <p:cNvSpPr/>
          <p:nvPr/>
        </p:nvSpPr>
        <p:spPr>
          <a:xfrm>
            <a:off x="457200" y="914400"/>
            <a:ext cx="8228520" cy="1644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800" b="1" u="none" strike="noStrike">
                <a:solidFill>
                  <a:srgbClr val="FFFFFF"/>
                </a:solidFill>
                <a:effectLst/>
                <a:uFillTx/>
                <a:latin typeface="Calibri"/>
                <a:ea typeface="Calibri"/>
              </a:rPr>
              <a:t>Chapters 1 &amp; 2: Introduction to AI</a:t>
            </a:r>
            <a:endParaRPr lang="en-US" sz="3800" b="0" u="none" strike="noStrike">
              <a:solidFill>
                <a:srgbClr val="FFFFFF"/>
              </a:solidFill>
              <a:effectLst/>
              <a:uFillTx/>
              <a:latin typeface="Arial"/>
            </a:endParaRPr>
          </a:p>
          <a:p>
            <a:pPr defTabSz="914400">
              <a:lnSpc>
                <a:spcPct val="100000"/>
              </a:lnSpc>
              <a:tabLst>
                <a:tab pos="0" algn="l"/>
              </a:tabLst>
            </a:pPr>
            <a:r>
              <a:rPr lang="en-US" sz="3800" b="1" u="none" strike="noStrike">
                <a:solidFill>
                  <a:srgbClr val="FFFFFF"/>
                </a:solidFill>
                <a:effectLst/>
                <a:uFillTx/>
                <a:latin typeface="Calibri"/>
                <a:ea typeface="Calibri"/>
              </a:rPr>
              <a:t>&amp; Intelligent Agents</a:t>
            </a:r>
            <a:endParaRPr lang="en-US" sz="3800" b="0" u="none" strike="noStrike">
              <a:solidFill>
                <a:srgbClr val="FFFFFF"/>
              </a:solidFill>
              <a:effectLst/>
              <a:uFillTx/>
              <a:latin typeface="Arial"/>
            </a:endParaRPr>
          </a:p>
        </p:txBody>
      </p:sp>
      <p:sp>
        <p:nvSpPr>
          <p:cNvPr id="25" name="Text 3"/>
          <p:cNvSpPr/>
          <p:nvPr/>
        </p:nvSpPr>
        <p:spPr>
          <a:xfrm>
            <a:off x="457200" y="2651760"/>
            <a:ext cx="8228520" cy="593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900" b="0" u="none" strike="noStrike">
                <a:solidFill>
                  <a:srgbClr val="CBD5E1"/>
                </a:solidFill>
                <a:effectLst/>
                <a:uFillTx/>
                <a:latin typeface="Calibri"/>
                <a:ea typeface="Calibri"/>
              </a:rPr>
              <a:t>Russell &amp; Norvig · Artificial Intelligence: A Modern Approach (4th ed.)</a:t>
            </a:r>
            <a:endParaRPr lang="en-US" sz="1900" b="0" u="none" strike="noStrike">
              <a:solidFill>
                <a:srgbClr val="FFFFFF"/>
              </a:solidFill>
              <a:effectLst/>
              <a:uFillTx/>
              <a:latin typeface="Arial"/>
            </a:endParaRPr>
          </a:p>
        </p:txBody>
      </p:sp>
      <p:sp>
        <p:nvSpPr>
          <p:cNvPr id="26" name="Text 4"/>
          <p:cNvSpPr/>
          <p:nvPr/>
        </p:nvSpPr>
        <p:spPr>
          <a:xfrm>
            <a:off x="457200" y="4480560"/>
            <a:ext cx="8228520" cy="456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CBD5E1"/>
                </a:solidFill>
                <a:effectLst/>
                <a:uFillTx/>
                <a:latin typeface="Calibri"/>
                <a:ea typeface="Calibri"/>
              </a:rPr>
              <a:t>COMP 469 – Artificial Intelligence  |  CSU Channel Islands  |  Two-Hour Lecture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7"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9"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Lecture Roadmap</a:t>
            </a:r>
            <a:endParaRPr lang="en-US" sz="2200" b="0" u="none" strike="noStrike">
              <a:solidFill>
                <a:srgbClr val="000000"/>
              </a:solidFill>
              <a:effectLst/>
              <a:uFillTx/>
              <a:latin typeface="Arial"/>
            </a:endParaRPr>
          </a:p>
        </p:txBody>
      </p:sp>
      <p:sp>
        <p:nvSpPr>
          <p:cNvPr id="30"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buClr>
                <a:srgbClr val="0F2B5B"/>
              </a:buClr>
              <a:buFont typeface="Symbol" charset="2"/>
              <a:buChar char=""/>
            </a:pP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0F2B5B"/>
                </a:solidFill>
                <a:effectLst/>
                <a:uFillTx/>
                <a:latin typeface="Calibri"/>
                <a:ea typeface="Calibri"/>
              </a:rPr>
              <a:t>Part 1 — Chapter 1: Introduction to AI</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What is AI?</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Foundations of AI</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History and Applications</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Risks and Ethics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0F2B5B"/>
                </a:solidFill>
                <a:effectLst/>
                <a:uFillTx/>
                <a:latin typeface="Calibri"/>
                <a:ea typeface="Calibri"/>
              </a:rPr>
              <a:t>Part 2 — Chapter 2: Intelligent Agents</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Agents and Rationality</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PEAS Framework</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Task Environment Properties</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Agent Architectures</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Learning Agents</a:t>
            </a:r>
            <a:endParaRPr lang="en-US" sz="1500" b="0" u="none" strike="noStrike">
              <a:solidFill>
                <a:srgbClr val="000000"/>
              </a:solidFill>
              <a:effectLst/>
              <a:uFillTx/>
              <a:latin typeface="Arial"/>
            </a:endParaRPr>
          </a:p>
          <a:p>
            <a:pPr marL="36000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Knowledge Representation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31" name="Shape 0"/>
          <p:cNvSpPr/>
          <p:nvPr/>
        </p:nvSpPr>
        <p:spPr>
          <a:xfrm>
            <a:off x="0" y="0"/>
            <a:ext cx="163440" cy="5142600"/>
          </a:xfrm>
          <a:prstGeom prst="rect">
            <a:avLst/>
          </a:prstGeom>
          <a:solidFill>
            <a:srgbClr val="F4A020"/>
          </a:solidFill>
          <a:ln w="12700">
            <a:solidFill>
              <a:srgbClr val="F4A020"/>
            </a:solidFill>
            <a:round/>
          </a:ln>
        </p:spPr>
        <p:style>
          <a:lnRef idx="0"/>
          <a:fillRef idx="0"/>
          <a:effectRef idx="0"/>
          <a:fontRef idx="minor"/>
        </p:style>
        <p:txBody>
          <a:bodyPr lIns="81720" tIns="45000" rIns="81720" bIns="45000" anchor="t">
            <a:noAutofit/>
          </a:bodyPr>
          <a:p>
            <a:endParaRPr lang="en-US" sz="1800" b="0" u="none" strike="noStrike">
              <a:solidFill>
                <a:srgbClr val="000000"/>
              </a:solidFill>
              <a:effectLst/>
              <a:uFillTx/>
              <a:latin typeface="Arial"/>
            </a:endParaRPr>
          </a:p>
        </p:txBody>
      </p:sp>
      <p:sp>
        <p:nvSpPr>
          <p:cNvPr id="32" name="Text 1"/>
          <p:cNvSpPr/>
          <p:nvPr/>
        </p:nvSpPr>
        <p:spPr>
          <a:xfrm>
            <a:off x="457200" y="822960"/>
            <a:ext cx="8228520" cy="501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5E1"/>
                </a:solidFill>
                <a:effectLst/>
                <a:uFillTx/>
                <a:latin typeface="Calibri"/>
                <a:ea typeface="Calibri"/>
              </a:rPr>
              <a:t>PART 1</a:t>
            </a:r>
            <a:endParaRPr lang="en-US" sz="1600" b="0" u="none" strike="noStrike">
              <a:solidFill>
                <a:srgbClr val="FFFFFF"/>
              </a:solidFill>
              <a:effectLst/>
              <a:uFillTx/>
              <a:latin typeface="Arial"/>
            </a:endParaRPr>
          </a:p>
        </p:txBody>
      </p:sp>
      <p:sp>
        <p:nvSpPr>
          <p:cNvPr id="33" name="Text 2"/>
          <p:cNvSpPr/>
          <p:nvPr/>
        </p:nvSpPr>
        <p:spPr>
          <a:xfrm>
            <a:off x="457200" y="1417320"/>
            <a:ext cx="8228520" cy="1004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Chapter 1: Introduction to AI</a:t>
            </a:r>
            <a:endParaRPr lang="en-US" sz="3600" b="0" u="none" strike="noStrike">
              <a:solidFill>
                <a:srgbClr val="FFFFFF"/>
              </a:solidFill>
              <a:effectLst/>
              <a:uFillTx/>
              <a:latin typeface="Arial"/>
            </a:endParaRPr>
          </a:p>
        </p:txBody>
      </p:sp>
      <p:sp>
        <p:nvSpPr>
          <p:cNvPr id="34" name="Text 3"/>
          <p:cNvSpPr/>
          <p:nvPr/>
        </p:nvSpPr>
        <p:spPr>
          <a:xfrm>
            <a:off x="457200" y="2514600"/>
            <a:ext cx="8228520" cy="45612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5"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7"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What Is AI?</a:t>
            </a:r>
            <a:endParaRPr lang="en-US" sz="2200" b="0" u="none" strike="noStrike">
              <a:solidFill>
                <a:srgbClr val="000000"/>
              </a:solidFill>
              <a:effectLst/>
              <a:uFillTx/>
              <a:latin typeface="Arial"/>
            </a:endParaRPr>
          </a:p>
        </p:txBody>
      </p:sp>
      <p:sp>
        <p:nvSpPr>
          <p:cNvPr id="38"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AI is concerned with understanding AND building intelligent entities; machines that compute how to act effectively and safely</a:t>
            </a:r>
            <a:endParaRPr lang="en-US" sz="15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Already generating &gt; $1 trillion/year in revenue (and growing rapidly)</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Two central dimensions create four approaches: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 vs. Rational (fidelity to humans vs. formal optimality)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Thought vs. Behavior (internal processes vs. external action)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prevailing view: the Standard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focused on rational action — doing the right thing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'Right thing' is defined by the objective provided to the agent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Shared with control theory, operations research, economics, statistics</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Key refinement: perfect rationality is computationally intractable — limited rationality and value alignment are critical concerns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9"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1"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Four Approaches to AI</a:t>
            </a:r>
            <a:endParaRPr lang="en-US" sz="2200" b="0" u="none" strike="noStrike">
              <a:solidFill>
                <a:srgbClr val="000000"/>
              </a:solidFill>
              <a:effectLst/>
              <a:uFillTx/>
              <a:latin typeface="Arial"/>
            </a:endParaRPr>
          </a:p>
        </p:txBody>
      </p:sp>
      <p:sp>
        <p:nvSpPr>
          <p:cNvPr id="42" name="Text 3"/>
          <p:cNvSpPr/>
          <p:nvPr/>
        </p:nvSpPr>
        <p:spPr>
          <a:xfrm>
            <a:off x="1371600" y="914400"/>
            <a:ext cx="2742120" cy="318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HUMAN</a:t>
            </a:r>
            <a:endParaRPr lang="en-US" sz="1300" b="0" u="none" strike="noStrike">
              <a:solidFill>
                <a:srgbClr val="000000"/>
              </a:solidFill>
              <a:effectLst/>
              <a:uFillTx/>
              <a:latin typeface="Arial"/>
            </a:endParaRPr>
          </a:p>
        </p:txBody>
      </p:sp>
      <p:sp>
        <p:nvSpPr>
          <p:cNvPr id="43" name="Text 4"/>
          <p:cNvSpPr/>
          <p:nvPr/>
        </p:nvSpPr>
        <p:spPr>
          <a:xfrm>
            <a:off x="5029200" y="914400"/>
            <a:ext cx="2742120" cy="318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RATIONAL</a:t>
            </a:r>
            <a:endParaRPr lang="en-US" sz="1300" b="0" u="none" strike="noStrike">
              <a:solidFill>
                <a:srgbClr val="000000"/>
              </a:solidFill>
              <a:effectLst/>
              <a:uFillTx/>
              <a:latin typeface="Arial"/>
            </a:endParaRPr>
          </a:p>
        </p:txBody>
      </p:sp>
      <p:sp>
        <p:nvSpPr>
          <p:cNvPr id="44" name="Text 5"/>
          <p:cNvSpPr/>
          <p:nvPr/>
        </p:nvSpPr>
        <p:spPr>
          <a:xfrm rot="16200000">
            <a:off x="0" y="1921320"/>
            <a:ext cx="1096200" cy="318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THOUGHT</a:t>
            </a:r>
            <a:endParaRPr lang="en-US" sz="1100" b="0" u="none" strike="noStrike">
              <a:solidFill>
                <a:srgbClr val="000000"/>
              </a:solidFill>
              <a:effectLst/>
              <a:uFillTx/>
              <a:latin typeface="Arial"/>
            </a:endParaRPr>
          </a:p>
        </p:txBody>
      </p:sp>
      <p:sp>
        <p:nvSpPr>
          <p:cNvPr id="45" name="Text 6"/>
          <p:cNvSpPr/>
          <p:nvPr/>
        </p:nvSpPr>
        <p:spPr>
          <a:xfrm rot="16200000">
            <a:off x="0" y="3658680"/>
            <a:ext cx="1096200" cy="318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BEHAVIOR</a:t>
            </a:r>
            <a:endParaRPr lang="en-US" sz="1100" b="0" u="none" strike="noStrike">
              <a:solidFill>
                <a:srgbClr val="000000"/>
              </a:solidFill>
              <a:effectLst/>
              <a:uFillTx/>
              <a:latin typeface="Arial"/>
            </a:endParaRPr>
          </a:p>
        </p:txBody>
      </p:sp>
      <p:sp>
        <p:nvSpPr>
          <p:cNvPr id="46" name="Shape 7"/>
          <p:cNvSpPr/>
          <p:nvPr/>
        </p:nvSpPr>
        <p:spPr>
          <a:xfrm>
            <a:off x="1005840" y="1280160"/>
            <a:ext cx="3747960" cy="1553400"/>
          </a:xfrm>
          <a:prstGeom prst="rect">
            <a:avLst/>
          </a:prstGeom>
          <a:solidFill>
            <a:srgbClr val="3A7FD5"/>
          </a:solidFill>
          <a:ln w="12700">
            <a:solidFill>
              <a:srgbClr val="3A7FD5"/>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 name="Text 8"/>
          <p:cNvSpPr/>
          <p:nvPr/>
        </p:nvSpPr>
        <p:spPr>
          <a:xfrm>
            <a:off x="1097280" y="1371600"/>
            <a:ext cx="3565080" cy="41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Humanly</a:t>
            </a:r>
            <a:endParaRPr lang="en-US" sz="1400" b="0" u="none" strike="noStrike">
              <a:solidFill>
                <a:srgbClr val="000000"/>
              </a:solidFill>
              <a:effectLst/>
              <a:uFillTx/>
              <a:latin typeface="Arial"/>
            </a:endParaRPr>
          </a:p>
        </p:txBody>
      </p:sp>
      <p:sp>
        <p:nvSpPr>
          <p:cNvPr id="48" name="Text 9"/>
          <p:cNvSpPr/>
          <p:nvPr/>
        </p:nvSpPr>
        <p:spPr>
          <a:xfrm>
            <a:off x="1097280" y="1737360"/>
            <a:ext cx="3565080" cy="1004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Cognitive modeling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GPS: match human problem-solving steps (Newell &amp; Simon)</a:t>
            </a:r>
            <a:endParaRPr lang="en-US" sz="1200" b="0" u="none" strike="noStrike">
              <a:solidFill>
                <a:srgbClr val="000000"/>
              </a:solidFill>
              <a:effectLst/>
              <a:uFillTx/>
              <a:latin typeface="Arial"/>
            </a:endParaRPr>
          </a:p>
        </p:txBody>
      </p:sp>
      <p:sp>
        <p:nvSpPr>
          <p:cNvPr id="49" name="Shape 10"/>
          <p:cNvSpPr/>
          <p:nvPr/>
        </p:nvSpPr>
        <p:spPr>
          <a:xfrm>
            <a:off x="5120640" y="1280160"/>
            <a:ext cx="3747960" cy="1553400"/>
          </a:xfrm>
          <a:prstGeom prst="rect">
            <a:avLst/>
          </a:prstGeom>
          <a:solidFill>
            <a:srgbClr val="028090"/>
          </a:solidFill>
          <a:ln w="12700">
            <a:solidFill>
              <a:srgbClr val="028090"/>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 name="Text 11"/>
          <p:cNvSpPr/>
          <p:nvPr/>
        </p:nvSpPr>
        <p:spPr>
          <a:xfrm>
            <a:off x="5212080" y="1371600"/>
            <a:ext cx="3565080" cy="41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Rationally</a:t>
            </a:r>
            <a:endParaRPr lang="en-US" sz="1400" b="0" u="none" strike="noStrike">
              <a:solidFill>
                <a:srgbClr val="000000"/>
              </a:solidFill>
              <a:effectLst/>
              <a:uFillTx/>
              <a:latin typeface="Arial"/>
            </a:endParaRPr>
          </a:p>
        </p:txBody>
      </p:sp>
      <p:sp>
        <p:nvSpPr>
          <p:cNvPr id="51" name="Text 12"/>
          <p:cNvSpPr/>
          <p:nvPr/>
        </p:nvSpPr>
        <p:spPr>
          <a:xfrm>
            <a:off x="5212080" y="1737360"/>
            <a:ext cx="3565080" cy="1004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Laws of Thought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Logic and formal deduction; Aristotle's syllogisms → first-order logic</a:t>
            </a:r>
            <a:endParaRPr lang="en-US" sz="1200" b="0" u="none" strike="noStrike">
              <a:solidFill>
                <a:srgbClr val="000000"/>
              </a:solidFill>
              <a:effectLst/>
              <a:uFillTx/>
              <a:latin typeface="Arial"/>
            </a:endParaRPr>
          </a:p>
        </p:txBody>
      </p:sp>
      <p:sp>
        <p:nvSpPr>
          <p:cNvPr id="52" name="Shape 13"/>
          <p:cNvSpPr/>
          <p:nvPr/>
        </p:nvSpPr>
        <p:spPr>
          <a:xfrm>
            <a:off x="1005840" y="3017520"/>
            <a:ext cx="3747960" cy="1553400"/>
          </a:xfrm>
          <a:prstGeom prst="rect">
            <a:avLst/>
          </a:prstGeom>
          <a:solidFill>
            <a:srgbClr val="6D2E46"/>
          </a:solidFill>
          <a:ln w="12700">
            <a:solidFill>
              <a:srgbClr val="6D2E46"/>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Text 14"/>
          <p:cNvSpPr/>
          <p:nvPr/>
        </p:nvSpPr>
        <p:spPr>
          <a:xfrm>
            <a:off x="1097280" y="3108960"/>
            <a:ext cx="3565080" cy="41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Humanly</a:t>
            </a:r>
            <a:endParaRPr lang="en-US" sz="1400" b="0" u="none" strike="noStrike">
              <a:solidFill>
                <a:srgbClr val="000000"/>
              </a:solidFill>
              <a:effectLst/>
              <a:uFillTx/>
              <a:latin typeface="Arial"/>
            </a:endParaRPr>
          </a:p>
        </p:txBody>
      </p:sp>
      <p:sp>
        <p:nvSpPr>
          <p:cNvPr id="54" name="Text 15"/>
          <p:cNvSpPr/>
          <p:nvPr/>
        </p:nvSpPr>
        <p:spPr>
          <a:xfrm>
            <a:off x="1097280" y="3474720"/>
            <a:ext cx="3565080" cy="1004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Turing Test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Behaviorally indistinguishable from human via NLP, knowledge, reasoning, ML</a:t>
            </a:r>
            <a:endParaRPr lang="en-US" sz="1200" b="0" u="none" strike="noStrike">
              <a:solidFill>
                <a:srgbClr val="000000"/>
              </a:solidFill>
              <a:effectLst/>
              <a:uFillTx/>
              <a:latin typeface="Arial"/>
            </a:endParaRPr>
          </a:p>
        </p:txBody>
      </p:sp>
      <p:sp>
        <p:nvSpPr>
          <p:cNvPr id="55" name="Shape 16"/>
          <p:cNvSpPr/>
          <p:nvPr/>
        </p:nvSpPr>
        <p:spPr>
          <a:xfrm>
            <a:off x="5120640" y="3017520"/>
            <a:ext cx="3747960" cy="1553400"/>
          </a:xfrm>
          <a:prstGeom prst="rect">
            <a:avLst/>
          </a:prstGeom>
          <a:solidFill>
            <a:srgbClr val="1B6B3A"/>
          </a:solidFill>
          <a:ln w="12700">
            <a:solidFill>
              <a:srgbClr val="1B6B3A"/>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 name="Text 17"/>
          <p:cNvSpPr/>
          <p:nvPr/>
        </p:nvSpPr>
        <p:spPr>
          <a:xfrm>
            <a:off x="5212080" y="3108960"/>
            <a:ext cx="3565080" cy="41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Rationally ✓</a:t>
            </a:r>
            <a:endParaRPr lang="en-US" sz="1400" b="0" u="none" strike="noStrike">
              <a:solidFill>
                <a:srgbClr val="000000"/>
              </a:solidFill>
              <a:effectLst/>
              <a:uFillTx/>
              <a:latin typeface="Arial"/>
            </a:endParaRPr>
          </a:p>
        </p:txBody>
      </p:sp>
      <p:sp>
        <p:nvSpPr>
          <p:cNvPr id="57" name="Text 18"/>
          <p:cNvSpPr/>
          <p:nvPr/>
        </p:nvSpPr>
        <p:spPr>
          <a:xfrm>
            <a:off x="5212080" y="3474720"/>
            <a:ext cx="3565080" cy="1004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Rational Agent approach (dominant).</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Maximize expected performance; mathematically well-defined &amp; general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58"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0"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The Value Alignment Problem</a:t>
            </a:r>
            <a:endParaRPr lang="en-US" sz="2200" b="0" u="none" strike="noStrike">
              <a:solidFill>
                <a:srgbClr val="000000"/>
              </a:solidFill>
              <a:effectLst/>
              <a:uFillTx/>
              <a:latin typeface="Arial"/>
            </a:endParaRPr>
          </a:p>
        </p:txBody>
      </p:sp>
      <p:sp>
        <p:nvSpPr>
          <p:cNvPr id="61"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Standard model: provide the machine a fixed objective → maximize it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Works in controlled environments where objectives can be reset and refined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Breaks down as systems become more capable and deployed in the real world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King Midas Problem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chess machine told to 'win at all costs' might hypnotize, blackmail, or bribe its opponent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These behaviors are logically optimal for the stated objective — but not what we desire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 more intelligent the system, the more severe the misalignment consequences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solution: machines that know they don't know the objective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Instead of fixed objectives → pursue human objectives under uncertainty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Positive incentive to be switched off if uncertain about human goals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Inverse reinforcement learning: learn preferences from human behavior</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Norbert Wiener (1960): 'If we use a mechanical agency with whose operation we cannot interfere effectively … we had better be quite sure that the purpose put into the machine is the purpose which we really desire.'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62"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4"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1.2 Foundations of AI — Seven Disciplines</a:t>
            </a:r>
            <a:endParaRPr lang="en-US" sz="2200" b="0" u="none" strike="noStrike">
              <a:solidFill>
                <a:srgbClr val="000000"/>
              </a:solidFill>
              <a:effectLst/>
              <a:uFillTx/>
              <a:latin typeface="Arial"/>
            </a:endParaRPr>
          </a:p>
        </p:txBody>
      </p:sp>
      <p:sp>
        <p:nvSpPr>
          <p:cNvPr id="65" name="Text 3"/>
          <p:cNvSpPr/>
          <p:nvPr/>
        </p:nvSpPr>
        <p:spPr>
          <a:xfrm>
            <a:off x="365760" y="91440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 Philosophy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formal rules draw valid conclusions? → Aristotle's syllogisms, logic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mind relate to brain? Dualism vs. materialism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Consequentialism (Mill) vs. Deontological ethics (Kant)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Mathematics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Formal logic (Boole → Frege → Gödel → Turing)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Probability theory: Bayes' rule, decision theory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Computability &amp; tractability: Church-Turing thesis, NP-completeness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Economics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Expected utility maximization (Bernoulli, von Neumann)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Game theory for multiagent settings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Sequential decisions: MDPs (Bellman, 1957); satisficing (Simon)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Neuroscience + Psychology + Linguistics + Engineering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Neurons, Hebbian learning, brain-machine interfaces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Cognitive psychology: brain as information processor (Craik 1943)</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Chomsky: language requires formal, learnable models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Computing hardware: Moore's Law, GPUs, TPUs</a:t>
            </a:r>
            <a:endParaRPr lang="en-US" sz="1300" b="0" u="none" strike="noStrike">
              <a:solidFill>
                <a:srgbClr val="000000"/>
              </a:solidFill>
              <a:effectLst/>
              <a:uFillTx/>
              <a:latin typeface="Arial"/>
            </a:endParaRPr>
          </a:p>
        </p:txBody>
      </p:sp>
      <p:pic>
        <p:nvPicPr>
          <p:cNvPr id="66" name=""/>
          <p:cNvPicPr/>
          <p:nvPr/>
        </p:nvPicPr>
        <p:blipFill>
          <a:blip r:embed="rId1"/>
          <a:stretch/>
        </p:blipFill>
        <p:spPr>
          <a:xfrm>
            <a:off x="6545520" y="804960"/>
            <a:ext cx="997560" cy="1251720"/>
          </a:xfrm>
          <a:prstGeom prst="rect">
            <a:avLst/>
          </a:prstGeom>
          <a:noFill/>
          <a:ln w="0">
            <a:noFill/>
          </a:ln>
        </p:spPr>
      </p:pic>
      <p:pic>
        <p:nvPicPr>
          <p:cNvPr id="67" name=""/>
          <p:cNvPicPr/>
          <p:nvPr/>
        </p:nvPicPr>
        <p:blipFill>
          <a:blip r:embed="rId2"/>
          <a:stretch/>
        </p:blipFill>
        <p:spPr>
          <a:xfrm>
            <a:off x="7746480" y="2057400"/>
            <a:ext cx="939600" cy="12517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68"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0"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1.2.2 Mathematical Foundations</a:t>
            </a:r>
            <a:endParaRPr lang="en-US" sz="2200" b="0" u="none" strike="noStrike">
              <a:solidFill>
                <a:srgbClr val="000000"/>
              </a:solidFill>
              <a:effectLst/>
              <a:uFillTx/>
              <a:latin typeface="Arial"/>
            </a:endParaRPr>
          </a:p>
        </p:txBody>
      </p:sp>
      <p:sp>
        <p:nvSpPr>
          <p:cNvPr id="71" name="Shape 3"/>
          <p:cNvSpPr/>
          <p:nvPr/>
        </p:nvSpPr>
        <p:spPr>
          <a:xfrm>
            <a:off x="320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Shape 4"/>
          <p:cNvSpPr/>
          <p:nvPr/>
        </p:nvSpPr>
        <p:spPr>
          <a:xfrm>
            <a:off x="320040" y="1005840"/>
            <a:ext cx="3930840" cy="41040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 name="Text 5"/>
          <p:cNvSpPr/>
          <p:nvPr/>
        </p:nvSpPr>
        <p:spPr>
          <a:xfrm>
            <a:off x="320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Logic &amp; Computation</a:t>
            </a:r>
            <a:endParaRPr lang="en-US" sz="1400" b="0" u="none" strike="noStrike">
              <a:solidFill>
                <a:srgbClr val="000000"/>
              </a:solidFill>
              <a:effectLst/>
              <a:uFillTx/>
              <a:latin typeface="Arial"/>
            </a:endParaRPr>
          </a:p>
        </p:txBody>
      </p:sp>
      <p:sp>
        <p:nvSpPr>
          <p:cNvPr id="74" name="Text 6"/>
          <p:cNvSpPr/>
          <p:nvPr/>
        </p:nvSpPr>
        <p:spPr>
          <a:xfrm>
            <a:off x="457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Boole (1847): Boolean / propositional logic</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Frege (1879): first-order logic with objects &amp; relations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Gödel incompleteness theorem (1931): some truths have no proof</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(1936): Church-Turing thesis; defines computability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also proved some functions are uncomputable (halting problem)</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Tractability: polynomial vs. exponential; NP-completeness (Cook 1971)</a:t>
            </a:r>
            <a:endParaRPr lang="en-US" sz="1300" b="0" u="none" strike="noStrike">
              <a:solidFill>
                <a:srgbClr val="000000"/>
              </a:solidFill>
              <a:effectLst/>
              <a:uFillTx/>
              <a:latin typeface="Arial"/>
            </a:endParaRPr>
          </a:p>
        </p:txBody>
      </p:sp>
      <p:sp>
        <p:nvSpPr>
          <p:cNvPr id="75" name="Shape 7"/>
          <p:cNvSpPr/>
          <p:nvPr/>
        </p:nvSpPr>
        <p:spPr>
          <a:xfrm>
            <a:off x="4892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Shape 8"/>
          <p:cNvSpPr/>
          <p:nvPr/>
        </p:nvSpPr>
        <p:spPr>
          <a:xfrm>
            <a:off x="4892040" y="1005840"/>
            <a:ext cx="3930840" cy="41040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9"/>
          <p:cNvSpPr/>
          <p:nvPr/>
        </p:nvSpPr>
        <p:spPr>
          <a:xfrm>
            <a:off x="4892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Probability &amp; Statistics</a:t>
            </a:r>
            <a:endParaRPr lang="en-US" sz="1400" b="0" u="none" strike="noStrike">
              <a:solidFill>
                <a:srgbClr val="000000"/>
              </a:solidFill>
              <a:effectLst/>
              <a:uFillTx/>
              <a:latin typeface="Arial"/>
            </a:endParaRPr>
          </a:p>
        </p:txBody>
      </p:sp>
      <p:sp>
        <p:nvSpPr>
          <p:cNvPr id="78" name="Text 10"/>
          <p:cNvSpPr/>
          <p:nvPr/>
        </p:nvSpPr>
        <p:spPr>
          <a:xfrm>
            <a:off x="5029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Cardano (1501): first formal probability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Bayes (1702): updating probabilities from evidence; Bayes' rule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Laplace, Bernoulli: statistical foundations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Fisher (1922): modern statistics; experiment design + analysis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Key insight: probability generalizes logic to uncertain worlds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Combined with data → modern ML and Bayesian networks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79"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0"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81"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History of AI – Key Eras</a:t>
            </a:r>
            <a:endParaRPr lang="en-US" sz="2200" b="0" u="none" strike="noStrike">
              <a:solidFill>
                <a:srgbClr val="000000"/>
              </a:solidFill>
              <a:effectLst/>
              <a:uFillTx/>
              <a:latin typeface="Arial"/>
            </a:endParaRPr>
          </a:p>
        </p:txBody>
      </p:sp>
      <p:sp>
        <p:nvSpPr>
          <p:cNvPr id="82" name="Shape 3"/>
          <p:cNvSpPr/>
          <p:nvPr/>
        </p:nvSpPr>
        <p:spPr>
          <a:xfrm>
            <a:off x="365760" y="2331720"/>
            <a:ext cx="8411400" cy="163440"/>
          </a:xfrm>
          <a:prstGeom prst="rect">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Shape 4"/>
          <p:cNvSpPr/>
          <p:nvPr/>
        </p:nvSpPr>
        <p:spPr>
          <a:xfrm>
            <a:off x="777240" y="2249280"/>
            <a:ext cx="254880" cy="254880"/>
          </a:xfrm>
          <a:prstGeom prst="ellipse">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 name="Text 5"/>
          <p:cNvSpPr/>
          <p:nvPr/>
        </p:nvSpPr>
        <p:spPr>
          <a:xfrm>
            <a:off x="365760" y="96012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3A7FD5"/>
                </a:solidFill>
                <a:effectLst/>
                <a:uFillTx/>
                <a:latin typeface="Calibri"/>
                <a:ea typeface="Calibri"/>
              </a:rPr>
              <a:t>1943–56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3A7FD5"/>
                </a:solidFill>
                <a:effectLst/>
                <a:uFillTx/>
                <a:latin typeface="Calibri"/>
                <a:ea typeface="Calibri"/>
              </a:rPr>
              <a:t>Inception</a:t>
            </a:r>
            <a:endParaRPr lang="en-US" sz="950" b="0" u="none" strike="noStrike">
              <a:solidFill>
                <a:srgbClr val="000000"/>
              </a:solidFill>
              <a:effectLst/>
              <a:uFillTx/>
              <a:latin typeface="Arial"/>
            </a:endParaRPr>
          </a:p>
        </p:txBody>
      </p:sp>
      <p:sp>
        <p:nvSpPr>
          <p:cNvPr id="85" name="Shape 6"/>
          <p:cNvSpPr/>
          <p:nvPr/>
        </p:nvSpPr>
        <p:spPr>
          <a:xfrm>
            <a:off x="905040" y="1737360"/>
            <a:ext cx="360" cy="511920"/>
          </a:xfrm>
          <a:prstGeom prst="line">
            <a:avLst/>
          </a:prstGeom>
          <a:ln w="19050">
            <a:solidFill>
              <a:srgbClr val="3A7FD5"/>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86" name="Text 7"/>
          <p:cNvSpPr/>
          <p:nvPr/>
        </p:nvSpPr>
        <p:spPr>
          <a:xfrm>
            <a:off x="365760" y="25419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McCulloch &amp; Pitts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Dartmouth 1956</a:t>
            </a:r>
            <a:endParaRPr lang="en-US" sz="900" b="0" u="none" strike="noStrike">
              <a:solidFill>
                <a:srgbClr val="000000"/>
              </a:solidFill>
              <a:effectLst/>
              <a:uFillTx/>
              <a:latin typeface="Arial"/>
            </a:endParaRPr>
          </a:p>
        </p:txBody>
      </p:sp>
      <p:sp>
        <p:nvSpPr>
          <p:cNvPr id="87" name="Shape 8"/>
          <p:cNvSpPr/>
          <p:nvPr/>
        </p:nvSpPr>
        <p:spPr>
          <a:xfrm>
            <a:off x="2057400" y="2249280"/>
            <a:ext cx="254880" cy="254880"/>
          </a:xfrm>
          <a:prstGeom prst="ellipse">
            <a:avLst/>
          </a:prstGeom>
          <a:solidFill>
            <a:srgbClr val="028090"/>
          </a:solidFill>
          <a:ln w="12700">
            <a:solidFill>
              <a:srgbClr val="02809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8" name="Text 9"/>
          <p:cNvSpPr/>
          <p:nvPr/>
        </p:nvSpPr>
        <p:spPr>
          <a:xfrm>
            <a:off x="1645920" y="10515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GPS, LISP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Microworlds</a:t>
            </a:r>
            <a:endParaRPr lang="en-US" sz="900" b="0" u="none" strike="noStrike">
              <a:solidFill>
                <a:srgbClr val="000000"/>
              </a:solidFill>
              <a:effectLst/>
              <a:uFillTx/>
              <a:latin typeface="Arial"/>
            </a:endParaRPr>
          </a:p>
        </p:txBody>
      </p:sp>
      <p:sp>
        <p:nvSpPr>
          <p:cNvPr id="89" name="Shape 10"/>
          <p:cNvSpPr/>
          <p:nvPr/>
        </p:nvSpPr>
        <p:spPr>
          <a:xfrm>
            <a:off x="2185200" y="1783080"/>
            <a:ext cx="360" cy="475200"/>
          </a:xfrm>
          <a:prstGeom prst="line">
            <a:avLst/>
          </a:prstGeom>
          <a:ln w="19050">
            <a:solidFill>
              <a:srgbClr val="02809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90" name="Text 11"/>
          <p:cNvSpPr/>
          <p:nvPr/>
        </p:nvSpPr>
        <p:spPr>
          <a:xfrm>
            <a:off x="1645920" y="257868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28090"/>
                </a:solidFill>
                <a:effectLst/>
                <a:uFillTx/>
                <a:latin typeface="Calibri"/>
                <a:ea typeface="Calibri"/>
              </a:rPr>
              <a:t>1952–69</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28090"/>
                </a:solidFill>
                <a:effectLst/>
                <a:uFillTx/>
                <a:latin typeface="Calibri"/>
                <a:ea typeface="Calibri"/>
              </a:rPr>
              <a:t>Early Hype</a:t>
            </a:r>
            <a:endParaRPr lang="en-US" sz="950" b="0" u="none" strike="noStrike">
              <a:solidFill>
                <a:srgbClr val="000000"/>
              </a:solidFill>
              <a:effectLst/>
              <a:uFillTx/>
              <a:latin typeface="Arial"/>
            </a:endParaRPr>
          </a:p>
        </p:txBody>
      </p:sp>
      <p:sp>
        <p:nvSpPr>
          <p:cNvPr id="91" name="Shape 12"/>
          <p:cNvSpPr/>
          <p:nvPr/>
        </p:nvSpPr>
        <p:spPr>
          <a:xfrm>
            <a:off x="3383280" y="2249280"/>
            <a:ext cx="254880" cy="254880"/>
          </a:xfrm>
          <a:prstGeom prst="ellipse">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 name="Text 13"/>
          <p:cNvSpPr/>
          <p:nvPr/>
        </p:nvSpPr>
        <p:spPr>
          <a:xfrm>
            <a:off x="2971800" y="96012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8B1A1A"/>
                </a:solidFill>
                <a:effectLst/>
                <a:uFillTx/>
                <a:latin typeface="Calibri"/>
                <a:ea typeface="Calibri"/>
              </a:rPr>
              <a:t>1966–73</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8B1A1A"/>
                </a:solidFill>
                <a:effectLst/>
                <a:uFillTx/>
                <a:latin typeface="Calibri"/>
                <a:ea typeface="Calibri"/>
              </a:rPr>
              <a:t>First Winter</a:t>
            </a:r>
            <a:endParaRPr lang="en-US" sz="950" b="0" u="none" strike="noStrike">
              <a:solidFill>
                <a:srgbClr val="000000"/>
              </a:solidFill>
              <a:effectLst/>
              <a:uFillTx/>
              <a:latin typeface="Arial"/>
            </a:endParaRPr>
          </a:p>
        </p:txBody>
      </p:sp>
      <p:sp>
        <p:nvSpPr>
          <p:cNvPr id="93" name="Shape 14"/>
          <p:cNvSpPr/>
          <p:nvPr/>
        </p:nvSpPr>
        <p:spPr>
          <a:xfrm>
            <a:off x="3511080" y="1737360"/>
            <a:ext cx="360" cy="511920"/>
          </a:xfrm>
          <a:prstGeom prst="line">
            <a:avLst/>
          </a:prstGeom>
          <a:ln w="19050">
            <a:solidFill>
              <a:srgbClr val="8B1A1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94" name="Text 15"/>
          <p:cNvSpPr/>
          <p:nvPr/>
        </p:nvSpPr>
        <p:spPr>
          <a:xfrm>
            <a:off x="2971800" y="25419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Intractability</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Lighthill report</a:t>
            </a:r>
            <a:endParaRPr lang="en-US" sz="900" b="0" u="none" strike="noStrike">
              <a:solidFill>
                <a:srgbClr val="000000"/>
              </a:solidFill>
              <a:effectLst/>
              <a:uFillTx/>
              <a:latin typeface="Arial"/>
            </a:endParaRPr>
          </a:p>
        </p:txBody>
      </p:sp>
      <p:sp>
        <p:nvSpPr>
          <p:cNvPr id="95" name="Shape 16"/>
          <p:cNvSpPr/>
          <p:nvPr/>
        </p:nvSpPr>
        <p:spPr>
          <a:xfrm>
            <a:off x="4663440" y="2249280"/>
            <a:ext cx="254880" cy="254880"/>
          </a:xfrm>
          <a:prstGeom prst="ellipse">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6" name="Text 17"/>
          <p:cNvSpPr/>
          <p:nvPr/>
        </p:nvSpPr>
        <p:spPr>
          <a:xfrm>
            <a:off x="4251960" y="10515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DENDRAL, MYCIN</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$billions</a:t>
            </a:r>
            <a:endParaRPr lang="en-US" sz="900" b="0" u="none" strike="noStrike">
              <a:solidFill>
                <a:srgbClr val="000000"/>
              </a:solidFill>
              <a:effectLst/>
              <a:uFillTx/>
              <a:latin typeface="Arial"/>
            </a:endParaRPr>
          </a:p>
        </p:txBody>
      </p:sp>
      <p:sp>
        <p:nvSpPr>
          <p:cNvPr id="97" name="Shape 18"/>
          <p:cNvSpPr/>
          <p:nvPr/>
        </p:nvSpPr>
        <p:spPr>
          <a:xfrm>
            <a:off x="4791240" y="1783080"/>
            <a:ext cx="360" cy="475200"/>
          </a:xfrm>
          <a:prstGeom prst="line">
            <a:avLst/>
          </a:prstGeom>
          <a:ln w="19050">
            <a:solidFill>
              <a:srgbClr val="1B6B3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98" name="Text 19"/>
          <p:cNvSpPr/>
          <p:nvPr/>
        </p:nvSpPr>
        <p:spPr>
          <a:xfrm>
            <a:off x="4251960" y="257868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B6B3A"/>
                </a:solidFill>
                <a:effectLst/>
                <a:uFillTx/>
                <a:latin typeface="Calibri"/>
                <a:ea typeface="Calibri"/>
              </a:rPr>
              <a:t>1969–86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B6B3A"/>
                </a:solidFill>
                <a:effectLst/>
                <a:uFillTx/>
                <a:latin typeface="Calibri"/>
                <a:ea typeface="Calibri"/>
              </a:rPr>
              <a:t>Expert Sys.</a:t>
            </a:r>
            <a:endParaRPr lang="en-US" sz="950" b="0" u="none" strike="noStrike">
              <a:solidFill>
                <a:srgbClr val="000000"/>
              </a:solidFill>
              <a:effectLst/>
              <a:uFillTx/>
              <a:latin typeface="Arial"/>
            </a:endParaRPr>
          </a:p>
        </p:txBody>
      </p:sp>
      <p:sp>
        <p:nvSpPr>
          <p:cNvPr id="99" name="Shape 20"/>
          <p:cNvSpPr/>
          <p:nvPr/>
        </p:nvSpPr>
        <p:spPr>
          <a:xfrm>
            <a:off x="5943600" y="2249280"/>
            <a:ext cx="254880" cy="254880"/>
          </a:xfrm>
          <a:prstGeom prst="ellipse">
            <a:avLst/>
          </a:prstGeom>
          <a:solidFill>
            <a:srgbClr val="1A4FA0"/>
          </a:solidFill>
          <a:ln w="12700">
            <a:solidFill>
              <a:srgbClr val="1A4FA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 name="Text 21"/>
          <p:cNvSpPr/>
          <p:nvPr/>
        </p:nvSpPr>
        <p:spPr>
          <a:xfrm>
            <a:off x="5532120" y="96012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A4FA0"/>
                </a:solidFill>
                <a:effectLst/>
                <a:uFillTx/>
                <a:latin typeface="Calibri"/>
                <a:ea typeface="Calibri"/>
              </a:rPr>
              <a:t>1986+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A4FA0"/>
                </a:solidFill>
                <a:effectLst/>
                <a:uFillTx/>
                <a:latin typeface="Calibri"/>
                <a:ea typeface="Calibri"/>
              </a:rPr>
              <a:t>Neural Nets</a:t>
            </a:r>
            <a:endParaRPr lang="en-US" sz="950" b="0" u="none" strike="noStrike">
              <a:solidFill>
                <a:srgbClr val="000000"/>
              </a:solidFill>
              <a:effectLst/>
              <a:uFillTx/>
              <a:latin typeface="Arial"/>
            </a:endParaRPr>
          </a:p>
        </p:txBody>
      </p:sp>
      <p:sp>
        <p:nvSpPr>
          <p:cNvPr id="101" name="Shape 22"/>
          <p:cNvSpPr/>
          <p:nvPr/>
        </p:nvSpPr>
        <p:spPr>
          <a:xfrm>
            <a:off x="6071400" y="1737360"/>
            <a:ext cx="360" cy="511920"/>
          </a:xfrm>
          <a:prstGeom prst="line">
            <a:avLst/>
          </a:prstGeom>
          <a:ln w="19050">
            <a:solidFill>
              <a:srgbClr val="1A4FA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02" name="Text 23"/>
          <p:cNvSpPr/>
          <p:nvPr/>
        </p:nvSpPr>
        <p:spPr>
          <a:xfrm>
            <a:off x="5532120" y="25419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Backprop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Connectionism</a:t>
            </a:r>
            <a:endParaRPr lang="en-US" sz="900" b="0" u="none" strike="noStrike">
              <a:solidFill>
                <a:srgbClr val="000000"/>
              </a:solidFill>
              <a:effectLst/>
              <a:uFillTx/>
              <a:latin typeface="Arial"/>
            </a:endParaRPr>
          </a:p>
        </p:txBody>
      </p:sp>
      <p:sp>
        <p:nvSpPr>
          <p:cNvPr id="103" name="Shape 24"/>
          <p:cNvSpPr/>
          <p:nvPr/>
        </p:nvSpPr>
        <p:spPr>
          <a:xfrm>
            <a:off x="7223760" y="2249280"/>
            <a:ext cx="254880" cy="254880"/>
          </a:xfrm>
          <a:prstGeom prst="ellipse">
            <a:avLst/>
          </a:prstGeom>
          <a:solidFill>
            <a:srgbClr val="6D2E46"/>
          </a:solidFill>
          <a:ln w="12700">
            <a:solidFill>
              <a:srgbClr val="6D2E4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 name="Text 25"/>
          <p:cNvSpPr/>
          <p:nvPr/>
        </p:nvSpPr>
        <p:spPr>
          <a:xfrm>
            <a:off x="6812280" y="10515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Bayes nets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MDPs, RL</a:t>
            </a:r>
            <a:endParaRPr lang="en-US" sz="900" b="0" u="none" strike="noStrike">
              <a:solidFill>
                <a:srgbClr val="000000"/>
              </a:solidFill>
              <a:effectLst/>
              <a:uFillTx/>
              <a:latin typeface="Arial"/>
            </a:endParaRPr>
          </a:p>
        </p:txBody>
      </p:sp>
      <p:sp>
        <p:nvSpPr>
          <p:cNvPr id="105" name="Shape 26"/>
          <p:cNvSpPr/>
          <p:nvPr/>
        </p:nvSpPr>
        <p:spPr>
          <a:xfrm>
            <a:off x="7351560" y="1783080"/>
            <a:ext cx="360" cy="475200"/>
          </a:xfrm>
          <a:prstGeom prst="line">
            <a:avLst/>
          </a:prstGeom>
          <a:ln w="19050">
            <a:solidFill>
              <a:srgbClr val="6D2E46"/>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06" name="Text 27"/>
          <p:cNvSpPr/>
          <p:nvPr/>
        </p:nvSpPr>
        <p:spPr>
          <a:xfrm>
            <a:off x="6812280" y="257868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6D2E46"/>
                </a:solidFill>
                <a:effectLst/>
                <a:uFillTx/>
                <a:latin typeface="Calibri"/>
                <a:ea typeface="Calibri"/>
              </a:rPr>
              <a:t>1987+</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6D2E46"/>
                </a:solidFill>
                <a:effectLst/>
                <a:uFillTx/>
                <a:latin typeface="Calibri"/>
                <a:ea typeface="Calibri"/>
              </a:rPr>
              <a:t>Prob. Reason.</a:t>
            </a:r>
            <a:endParaRPr lang="en-US" sz="950" b="0" u="none" strike="noStrike">
              <a:solidFill>
                <a:srgbClr val="000000"/>
              </a:solidFill>
              <a:effectLst/>
              <a:uFillTx/>
              <a:latin typeface="Arial"/>
            </a:endParaRPr>
          </a:p>
        </p:txBody>
      </p:sp>
      <p:sp>
        <p:nvSpPr>
          <p:cNvPr id="107" name="Shape 28"/>
          <p:cNvSpPr/>
          <p:nvPr/>
        </p:nvSpPr>
        <p:spPr>
          <a:xfrm>
            <a:off x="8412480" y="2249280"/>
            <a:ext cx="254880" cy="254880"/>
          </a:xfrm>
          <a:prstGeom prst="ellipse">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 name="Text 29"/>
          <p:cNvSpPr/>
          <p:nvPr/>
        </p:nvSpPr>
        <p:spPr>
          <a:xfrm>
            <a:off x="8001000" y="960120"/>
            <a:ext cx="1187640" cy="776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F2B5B"/>
                </a:solidFill>
                <a:effectLst/>
                <a:uFillTx/>
                <a:latin typeface="Calibri"/>
                <a:ea typeface="Calibri"/>
              </a:rPr>
              <a:t>2011+</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F2B5B"/>
                </a:solidFill>
                <a:effectLst/>
                <a:uFillTx/>
                <a:latin typeface="Calibri"/>
                <a:ea typeface="Calibri"/>
              </a:rPr>
              <a:t>Deep Learning</a:t>
            </a:r>
            <a:endParaRPr lang="en-US" sz="950" b="0" u="none" strike="noStrike">
              <a:solidFill>
                <a:srgbClr val="000000"/>
              </a:solidFill>
              <a:effectLst/>
              <a:uFillTx/>
              <a:latin typeface="Arial"/>
            </a:endParaRPr>
          </a:p>
        </p:txBody>
      </p:sp>
      <p:sp>
        <p:nvSpPr>
          <p:cNvPr id="109" name="Shape 30"/>
          <p:cNvSpPr/>
          <p:nvPr/>
        </p:nvSpPr>
        <p:spPr>
          <a:xfrm>
            <a:off x="8540280" y="1737360"/>
            <a:ext cx="360" cy="511920"/>
          </a:xfrm>
          <a:prstGeom prst="line">
            <a:avLst/>
          </a:prstGeom>
          <a:ln w="19050">
            <a:solidFill>
              <a:srgbClr val="0F2B5B"/>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0" name="Text 31"/>
          <p:cNvSpPr/>
          <p:nvPr/>
        </p:nvSpPr>
        <p:spPr>
          <a:xfrm>
            <a:off x="8001000" y="2541960"/>
            <a:ext cx="118764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ImageNet, AlphaGo</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LLMs</a:t>
            </a:r>
            <a:endParaRPr lang="en-US" sz="900" b="0" u="none" strike="noStrike">
              <a:solidFill>
                <a:srgbClr val="000000"/>
              </a:solidFill>
              <a:effectLst/>
              <a:uFillTx/>
              <a:latin typeface="Arial"/>
            </a:endParaRPr>
          </a:p>
        </p:txBody>
      </p:sp>
      <p:sp>
        <p:nvSpPr>
          <p:cNvPr id="111" name="Shape 32"/>
          <p:cNvSpPr/>
          <p:nvPr/>
        </p:nvSpPr>
        <p:spPr>
          <a:xfrm>
            <a:off x="365760" y="3657600"/>
            <a:ext cx="8411400" cy="1233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Shape 33"/>
          <p:cNvSpPr/>
          <p:nvPr/>
        </p:nvSpPr>
        <p:spPr>
          <a:xfrm>
            <a:off x="365760" y="3657600"/>
            <a:ext cx="8411400" cy="3463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 name="Text 34"/>
          <p:cNvSpPr/>
          <p:nvPr/>
        </p:nvSpPr>
        <p:spPr>
          <a:xfrm>
            <a:off x="365760" y="3657600"/>
            <a:ext cx="8411400" cy="346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Turing Award Milestones</a:t>
            </a:r>
            <a:endParaRPr lang="en-US" sz="1200" b="0" u="none" strike="noStrike">
              <a:solidFill>
                <a:srgbClr val="000000"/>
              </a:solidFill>
              <a:effectLst/>
              <a:uFillTx/>
              <a:latin typeface="Arial"/>
            </a:endParaRPr>
          </a:p>
        </p:txBody>
      </p:sp>
      <p:sp>
        <p:nvSpPr>
          <p:cNvPr id="114" name="Text 35"/>
          <p:cNvSpPr/>
          <p:nvPr/>
        </p:nvSpPr>
        <p:spPr>
          <a:xfrm>
            <a:off x="457200" y="4041720"/>
            <a:ext cx="822852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FFFFFF"/>
                </a:solidFill>
                <a:effectLst/>
                <a:uFillTx/>
                <a:latin typeface="Calibri"/>
                <a:ea typeface="Calibri"/>
              </a:rPr>
              <a:t>Minsky &amp; McCarthy (1969, 1971) · Feigenbaum &amp; Reddy (1994) · Judea Pearl (2011) · Bengio, Hinton, LeCun (2019)</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15"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6"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7"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Inception &amp; Early Enthusiasm (1943–1969)</a:t>
            </a:r>
            <a:endParaRPr lang="en-US" sz="2200" b="0" u="none" strike="noStrike">
              <a:solidFill>
                <a:srgbClr val="000000"/>
              </a:solidFill>
              <a:effectLst/>
              <a:uFillTx/>
              <a:latin typeface="Arial"/>
            </a:endParaRPr>
          </a:p>
        </p:txBody>
      </p:sp>
      <p:sp>
        <p:nvSpPr>
          <p:cNvPr id="118"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1943: McCulloch &amp; Pitts — artificial neuron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Any computable function can be computed by a network of neurons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Logical connectives implementable with simple network structures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1950: Turing — 'Computing Machinery and Intelligence'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Introduced the Turing Test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Also introduced: machine learning, genetic algorithms, reinforcement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1956: Dartmouth Workshop — AI is officially 'born'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McCarthy coined the term 'Artificial Intelligence'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10 researchers; Newell &amp; Simon presented Logic Theorist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1952–1969: Early successes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GPS: General Problem Solver — imitated human problem-solving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Checkers (Samuel): first program to outplay its creator via RL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LISP (McCarthy, 1958): dominant AI language for 30 years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Microworlds: SAINT (calculus), STUDENT (algebra), blocks world</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19"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0"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1"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Dose of Reality → Expert Systems (1966–1986)</a:t>
            </a:r>
            <a:endParaRPr lang="en-US" sz="2200" b="0" u="none" strike="noStrike">
              <a:solidFill>
                <a:srgbClr val="000000"/>
              </a:solidFill>
              <a:effectLst/>
              <a:uFillTx/>
              <a:latin typeface="Arial"/>
            </a:endParaRPr>
          </a:p>
        </p:txBody>
      </p:sp>
      <p:sp>
        <p:nvSpPr>
          <p:cNvPr id="122" name="Shape 3"/>
          <p:cNvSpPr/>
          <p:nvPr/>
        </p:nvSpPr>
        <p:spPr>
          <a:xfrm>
            <a:off x="320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3" name="Shape 4"/>
          <p:cNvSpPr/>
          <p:nvPr/>
        </p:nvSpPr>
        <p:spPr>
          <a:xfrm>
            <a:off x="320040" y="1005840"/>
            <a:ext cx="3930840" cy="41040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 name="Text 5"/>
          <p:cNvSpPr/>
          <p:nvPr/>
        </p:nvSpPr>
        <p:spPr>
          <a:xfrm>
            <a:off x="320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First AI Winter (1966–1973)</a:t>
            </a:r>
            <a:endParaRPr lang="en-US" sz="1400" b="0" u="none" strike="noStrike">
              <a:solidFill>
                <a:srgbClr val="000000"/>
              </a:solidFill>
              <a:effectLst/>
              <a:uFillTx/>
              <a:latin typeface="Arial"/>
            </a:endParaRPr>
          </a:p>
        </p:txBody>
      </p:sp>
      <p:sp>
        <p:nvSpPr>
          <p:cNvPr id="125" name="Text 6"/>
          <p:cNvSpPr/>
          <p:nvPr/>
        </p:nvSpPr>
        <p:spPr>
          <a:xfrm>
            <a:off x="457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Early systems worked on tiny problems; failed badly on harder ones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Combinatorial explosion: scaling up is not just faster hardware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Minsky &amp; Papert (1969): perceptrons cannot represent XOR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Lighthill Report (1973): UK government ends AI funding</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Lesson: general 'weak methods' don't scale</a:t>
            </a:r>
            <a:endParaRPr lang="en-US" sz="1300" b="0" u="none" strike="noStrike">
              <a:solidFill>
                <a:srgbClr val="000000"/>
              </a:solidFill>
              <a:effectLst/>
              <a:uFillTx/>
              <a:latin typeface="Arial"/>
            </a:endParaRPr>
          </a:p>
        </p:txBody>
      </p:sp>
      <p:sp>
        <p:nvSpPr>
          <p:cNvPr id="126" name="Shape 7"/>
          <p:cNvSpPr/>
          <p:nvPr/>
        </p:nvSpPr>
        <p:spPr>
          <a:xfrm>
            <a:off x="4892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7" name="Shape 8"/>
          <p:cNvSpPr/>
          <p:nvPr/>
        </p:nvSpPr>
        <p:spPr>
          <a:xfrm>
            <a:off x="4892040" y="1005840"/>
            <a:ext cx="3930840" cy="41040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8" name="Text 9"/>
          <p:cNvSpPr/>
          <p:nvPr/>
        </p:nvSpPr>
        <p:spPr>
          <a:xfrm>
            <a:off x="4892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Expert Systems (1969–1986)</a:t>
            </a:r>
            <a:endParaRPr lang="en-US" sz="1400" b="0" u="none" strike="noStrike">
              <a:solidFill>
                <a:srgbClr val="000000"/>
              </a:solidFill>
              <a:effectLst/>
              <a:uFillTx/>
              <a:latin typeface="Arial"/>
            </a:endParaRPr>
          </a:p>
        </p:txBody>
      </p:sp>
      <p:sp>
        <p:nvSpPr>
          <p:cNvPr id="129" name="Text 10"/>
          <p:cNvSpPr/>
          <p:nvPr/>
        </p:nvSpPr>
        <p:spPr>
          <a:xfrm>
            <a:off x="5029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DENDRAL (1969): infer molecular structure from mass spectrometer data</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MYCIN: 450 rules → diagnostic performance matching experts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R1 (DEC): saved $40M/year by 1986 configuring computer orders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industry: few million (1980) → billions (1988)</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Second AI Winter: brittleness, inability to handle uncertainty, no learning</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30"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1"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32"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Modern AI: Neural Nets → Probabilistic → Deep Learning</a:t>
            </a:r>
            <a:endParaRPr lang="en-US" sz="2200" b="0" u="none" strike="noStrike">
              <a:solidFill>
                <a:srgbClr val="000000"/>
              </a:solidFill>
              <a:effectLst/>
              <a:uFillTx/>
              <a:latin typeface="Arial"/>
            </a:endParaRPr>
          </a:p>
        </p:txBody>
      </p:sp>
      <p:sp>
        <p:nvSpPr>
          <p:cNvPr id="133"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1986: Backpropagation rediscovered → connectionist revolution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Parallel Distributed Processing (Rumelhart &amp; McClelland)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Challenged symbolic AI; debate: symbols vs. distributed representations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1987+: Probabilistic reasoning &amp; machine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Judea Pearl (1988): Bayesian networks — rigorous uncertain reasoning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Rich Sutton: reinforcement learning + MDPs unified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HMMs dominate; data-driven, mathematically grounded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Benchmark datasets: ImageNet, SQuAD, LibriSpeech become standard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2001+: Big Data + Deep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Millions of images, billions of words → learning algorithms flourish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2012 ImageNet: Hinton's group CNN — dramatic leap over prior systems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AlphaGo (2016) beats world Go champion; AlphaZero: purely self-play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2017: Microsoft achieves human parity on Switchboard speech recognition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34"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36"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1.4 State of the Art — What AI Can Do Today</a:t>
            </a:r>
            <a:endParaRPr lang="en-US" sz="2200" b="0" u="none" strike="noStrike">
              <a:solidFill>
                <a:srgbClr val="000000"/>
              </a:solidFill>
              <a:effectLst/>
              <a:uFillTx/>
              <a:latin typeface="Arial"/>
            </a:endParaRPr>
          </a:p>
        </p:txBody>
      </p:sp>
      <p:sp>
        <p:nvSpPr>
          <p:cNvPr id="137"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Perception &amp; Language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 recognition: error rate 28% (2010) → 2% (2017) — beats humans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word error rate 5.1%, matching human performance (2017)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Machine translation: 100+ languages, 99% of humans' native tongues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Question answering (SQuAD): F1 score 95, exceeds human benchmark</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Reasoning &amp; Decision Making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(Deep Blue, 1997), Go (AlphaGo, 2016), Poker, StarCraft II, Dota 2</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Autonomous planning: NASA Remote Agent; DART saved 30 years of DARPA investment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Robotic vehicles: Waymo at 10M miles; autonomous drones delivering blood in Rwanda</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Science &amp; Medicine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 expert doctors at diagnosing Alzheimer's, metastatic cancer, skin disease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Human-AI partnerships outperform either alone (LYNA: 99.6% accuracy)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AlphaFold: protein structure prediction — decades-old biology challenge solved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Deep learning models detect extreme weather patterns buried in climate data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38"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9"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40"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1.5 Risks and Benefits of AI</a:t>
            </a:r>
            <a:endParaRPr lang="en-US" sz="2200" b="0" u="none" strike="noStrike">
              <a:solidFill>
                <a:srgbClr val="000000"/>
              </a:solidFill>
              <a:effectLst/>
              <a:uFillTx/>
              <a:latin typeface="Arial"/>
            </a:endParaRPr>
          </a:p>
        </p:txBody>
      </p:sp>
      <p:sp>
        <p:nvSpPr>
          <p:cNvPr id="141" name="Shape 3"/>
          <p:cNvSpPr/>
          <p:nvPr/>
        </p:nvSpPr>
        <p:spPr>
          <a:xfrm>
            <a:off x="320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Shape 4"/>
          <p:cNvSpPr/>
          <p:nvPr/>
        </p:nvSpPr>
        <p:spPr>
          <a:xfrm>
            <a:off x="320040" y="1005840"/>
            <a:ext cx="3930840" cy="41040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Text 5"/>
          <p:cNvSpPr/>
          <p:nvPr/>
        </p:nvSpPr>
        <p:spPr>
          <a:xfrm>
            <a:off x="320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Benefits</a:t>
            </a:r>
            <a:endParaRPr lang="en-US" sz="1400" b="0" u="none" strike="noStrike">
              <a:solidFill>
                <a:srgbClr val="000000"/>
              </a:solidFill>
              <a:effectLst/>
              <a:uFillTx/>
              <a:latin typeface="Arial"/>
            </a:endParaRPr>
          </a:p>
        </p:txBody>
      </p:sp>
      <p:sp>
        <p:nvSpPr>
          <p:cNvPr id="144" name="Text 6"/>
          <p:cNvSpPr/>
          <p:nvPr/>
        </p:nvSpPr>
        <p:spPr>
          <a:xfrm>
            <a:off x="457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Free humanity from menial, repetitive work</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Dramatically increase production of goods and services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Accelerate scientific research: cures, climate solutions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Demis Hassabis: 'First solve AI, then use AI to solve everything else'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Medical AI already equals or exceeds specialists in several diagnostics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helps 100M+ people daily with navigation, translation, recommendations</a:t>
            </a:r>
            <a:endParaRPr lang="en-US" sz="1300" b="0" u="none" strike="noStrike">
              <a:solidFill>
                <a:srgbClr val="000000"/>
              </a:solidFill>
              <a:effectLst/>
              <a:uFillTx/>
              <a:latin typeface="Arial"/>
            </a:endParaRPr>
          </a:p>
        </p:txBody>
      </p:sp>
      <p:sp>
        <p:nvSpPr>
          <p:cNvPr id="145" name="Shape 7"/>
          <p:cNvSpPr/>
          <p:nvPr/>
        </p:nvSpPr>
        <p:spPr>
          <a:xfrm>
            <a:off x="4892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 name="Shape 8"/>
          <p:cNvSpPr/>
          <p:nvPr/>
        </p:nvSpPr>
        <p:spPr>
          <a:xfrm>
            <a:off x="4892040" y="1005840"/>
            <a:ext cx="3930840" cy="41040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Text 9"/>
          <p:cNvSpPr/>
          <p:nvPr/>
        </p:nvSpPr>
        <p:spPr>
          <a:xfrm>
            <a:off x="4892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Risks</a:t>
            </a:r>
            <a:endParaRPr lang="en-US" sz="1400" b="0" u="none" strike="noStrike">
              <a:solidFill>
                <a:srgbClr val="000000"/>
              </a:solidFill>
              <a:effectLst/>
              <a:uFillTx/>
              <a:latin typeface="Arial"/>
            </a:endParaRPr>
          </a:p>
        </p:txBody>
      </p:sp>
      <p:sp>
        <p:nvSpPr>
          <p:cNvPr id="148" name="Text 10"/>
          <p:cNvSpPr/>
          <p:nvPr/>
        </p:nvSpPr>
        <p:spPr>
          <a:xfrm>
            <a:off x="5029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Lethal autonomous weapons: scalable, no human supervision required</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0A933"/>
                </a:solidFill>
                <a:effectLst/>
                <a:uFillTx/>
                <a:latin typeface="Calibri"/>
                <a:ea typeface="Calibri"/>
                <a:hlinkClick r:id="rId1"/>
              </a:rPr>
              <a:t>Mass surveillance</a:t>
            </a:r>
            <a:r>
              <a:rPr lang="en-US" sz="1300" b="0" u="none" strike="noStrike">
                <a:solidFill>
                  <a:srgbClr val="00A933"/>
                </a:solidFill>
                <a:effectLst/>
                <a:uFillTx/>
                <a:latin typeface="Calibri"/>
                <a:ea typeface="Calibri"/>
              </a:rPr>
              <a:t>:</a:t>
            </a:r>
            <a:r>
              <a:rPr lang="en-US" sz="1300" b="0" u="none" strike="noStrike">
                <a:solidFill>
                  <a:srgbClr val="0F2B5B"/>
                </a:solidFill>
                <a:effectLst/>
                <a:uFillTx/>
                <a:latin typeface="Calibri"/>
                <a:ea typeface="Calibri"/>
              </a:rPr>
              <a:t> speech/vision AI enables real-time monitoring at scale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Biased decision making: parole, loans — reflecting and amplifying societal bias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Employment disruption: shifts wealth from labor to capital</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Safety-critical failures: self-driving fatal accidents; formal verification gaps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Cybersecurity: RL-powered phishing/blackmail; automated malware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3679"/>
        </a:solidFill>
      </p:bgPr>
    </p:bg>
    <p:spTree>
      <p:nvGrpSpPr>
        <p:cNvPr id="1" name=""/>
        <p:cNvGrpSpPr/>
        <p:nvPr/>
      </p:nvGrpSpPr>
      <p:grpSpPr>
        <a:xfrm>
          <a:off x="0" y="0"/>
          <a:ext cx="0" cy="0"/>
          <a:chOff x="0" y="0"/>
          <a:chExt cx="0" cy="0"/>
        </a:xfrm>
      </p:grpSpPr>
      <p:sp>
        <p:nvSpPr>
          <p:cNvPr id="149" name="Shape 0"/>
          <p:cNvSpPr/>
          <p:nvPr/>
        </p:nvSpPr>
        <p:spPr>
          <a:xfrm>
            <a:off x="0" y="0"/>
            <a:ext cx="163440" cy="5142600"/>
          </a:xfrm>
          <a:prstGeom prst="rect">
            <a:avLst/>
          </a:prstGeom>
          <a:solidFill>
            <a:srgbClr val="F4A020"/>
          </a:solidFill>
          <a:ln w="12700">
            <a:solidFill>
              <a:srgbClr val="F4A020"/>
            </a:solidFill>
            <a:round/>
          </a:ln>
        </p:spPr>
        <p:style>
          <a:lnRef idx="0"/>
          <a:fillRef idx="0"/>
          <a:effectRef idx="0"/>
          <a:fontRef idx="minor"/>
        </p:style>
        <p:txBody>
          <a:bodyPr lIns="81720" tIns="45000" rIns="81720" bIns="45000" anchor="t">
            <a:noAutofit/>
          </a:bodyPr>
          <a:p>
            <a:endParaRPr lang="en-US" sz="1800" b="0" u="none" strike="noStrike">
              <a:solidFill>
                <a:srgbClr val="000000"/>
              </a:solidFill>
              <a:effectLst/>
              <a:uFillTx/>
              <a:latin typeface="Arial"/>
            </a:endParaRPr>
          </a:p>
        </p:txBody>
      </p:sp>
      <p:sp>
        <p:nvSpPr>
          <p:cNvPr id="150" name="Text 1"/>
          <p:cNvSpPr/>
          <p:nvPr/>
        </p:nvSpPr>
        <p:spPr>
          <a:xfrm>
            <a:off x="457200" y="228600"/>
            <a:ext cx="8228520" cy="684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Chapter 1 Summary</a:t>
            </a:r>
            <a:endParaRPr lang="en-US" sz="2600" b="0" u="none" strike="noStrike">
              <a:solidFill>
                <a:srgbClr val="FFFFFF"/>
              </a:solidFill>
              <a:effectLst/>
              <a:uFillTx/>
              <a:latin typeface="Arial"/>
            </a:endParaRPr>
          </a:p>
        </p:txBody>
      </p:sp>
      <p:sp>
        <p:nvSpPr>
          <p:cNvPr id="151" name="Text 2"/>
          <p:cNvSpPr/>
          <p:nvPr/>
        </p:nvSpPr>
        <p:spPr>
          <a:xfrm>
            <a:off x="457200" y="1005840"/>
            <a:ext cx="8319960" cy="3930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AI's goal:</a:t>
            </a:r>
            <a:r>
              <a:rPr lang="en-US" sz="1500" b="0" u="none" strike="noStrike">
                <a:solidFill>
                  <a:srgbClr val="FFFFFF"/>
                </a:solidFill>
                <a:effectLst/>
                <a:uFillTx/>
                <a:latin typeface="Calibri"/>
                <a:ea typeface="Calibri"/>
              </a:rPr>
              <a:t> build agents that act rationally — maximizing expected performance given an objective.</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Four historical approaches: </a:t>
            </a:r>
            <a:r>
              <a:rPr lang="en-US" sz="1500" b="0" u="none" strike="noStrike">
                <a:solidFill>
                  <a:srgbClr val="FFFFFF"/>
                </a:solidFill>
                <a:effectLst/>
                <a:uFillTx/>
                <a:latin typeface="Calibri"/>
                <a:ea typeface="Calibri"/>
              </a:rPr>
              <a:t>acting/thinking humanly vs. rationally. The rational agent approach dominates.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Value alignment:</a:t>
            </a:r>
            <a:r>
              <a:rPr lang="en-US" sz="1500" b="0" u="none" strike="noStrike">
                <a:solidFill>
                  <a:srgbClr val="FFFFFF"/>
                </a:solidFill>
                <a:effectLst/>
                <a:uFillTx/>
                <a:latin typeface="Calibri"/>
                <a:ea typeface="Calibri"/>
              </a:rPr>
              <a:t> machines pursuing a fixed objective can cause harm; future AI must handle uncertain objectives.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Seven founding disciplines: </a:t>
            </a:r>
            <a:r>
              <a:rPr lang="en-US" sz="1500" b="0" u="none" strike="noStrike">
                <a:solidFill>
                  <a:srgbClr val="FFFFFF"/>
                </a:solidFill>
                <a:effectLst/>
                <a:uFillTx/>
                <a:latin typeface="Calibri"/>
                <a:ea typeface="Calibri"/>
              </a:rPr>
              <a:t>Philosophy, Mathematics, Economics, Neuroscience, Psychology, Linguistics, CS.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History follows cycles: </a:t>
            </a:r>
            <a:r>
              <a:rPr lang="en-US" sz="1500" b="0" u="none" strike="noStrike">
                <a:solidFill>
                  <a:srgbClr val="FFFFFF"/>
                </a:solidFill>
                <a:effectLst/>
                <a:uFillTx/>
                <a:latin typeface="Calibri"/>
                <a:ea typeface="Calibri"/>
              </a:rPr>
              <a:t>enthusiasm → failure → new approach. Deep learning is the latest revolution.</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State of the art: </a:t>
            </a:r>
            <a:r>
              <a:rPr lang="en-US" sz="1500" b="0" u="none" strike="noStrike">
                <a:solidFill>
                  <a:srgbClr val="FFFFFF"/>
                </a:solidFill>
                <a:effectLst/>
                <a:uFillTx/>
                <a:latin typeface="Calibri"/>
                <a:ea typeface="Calibri"/>
              </a:rPr>
              <a:t>AI now matches or exceeds humans in perception, translation, diagnosis, and complex games.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Risks are real: </a:t>
            </a:r>
            <a:r>
              <a:rPr lang="en-US" sz="1500" b="0" u="none" strike="noStrike">
                <a:solidFill>
                  <a:srgbClr val="FFFFFF"/>
                </a:solidFill>
                <a:effectLst/>
                <a:uFillTx/>
                <a:latin typeface="Calibri"/>
                <a:ea typeface="Calibri"/>
              </a:rPr>
              <a:t>autonomous weapons, surveillance, bias, employment disruption, misaligned superintelligence</a:t>
            </a:r>
            <a:r>
              <a:rPr lang="en-US" sz="1300" b="0" u="none" strike="noStrike">
                <a:solidFill>
                  <a:srgbClr val="FFFFFF"/>
                </a:solidFill>
                <a:effectLst/>
                <a:uFillTx/>
                <a:latin typeface="Calibri"/>
                <a:ea typeface="Calibri"/>
              </a:rPr>
              <a:t>.</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152" name="Shape 0"/>
          <p:cNvSpPr/>
          <p:nvPr/>
        </p:nvSpPr>
        <p:spPr>
          <a:xfrm>
            <a:off x="0" y="0"/>
            <a:ext cx="163440" cy="5142600"/>
          </a:xfrm>
          <a:prstGeom prst="rect">
            <a:avLst/>
          </a:prstGeom>
          <a:solidFill>
            <a:srgbClr val="F4A020"/>
          </a:solidFill>
          <a:ln w="12700">
            <a:solidFill>
              <a:srgbClr val="F4A020"/>
            </a:solidFill>
            <a:round/>
          </a:ln>
        </p:spPr>
        <p:style>
          <a:lnRef idx="0"/>
          <a:fillRef idx="0"/>
          <a:effectRef idx="0"/>
          <a:fontRef idx="minor"/>
        </p:style>
        <p:txBody>
          <a:bodyPr lIns="81720" tIns="45000" rIns="81720" bIns="45000" anchor="t">
            <a:noAutofit/>
          </a:bodyPr>
          <a:p>
            <a:endParaRPr lang="en-US" sz="1800" b="0" u="none" strike="noStrike">
              <a:solidFill>
                <a:srgbClr val="000000"/>
              </a:solidFill>
              <a:effectLst/>
              <a:uFillTx/>
              <a:latin typeface="Arial"/>
            </a:endParaRPr>
          </a:p>
        </p:txBody>
      </p:sp>
      <p:sp>
        <p:nvSpPr>
          <p:cNvPr id="153" name="Text 1"/>
          <p:cNvSpPr/>
          <p:nvPr/>
        </p:nvSpPr>
        <p:spPr>
          <a:xfrm>
            <a:off x="457200" y="822960"/>
            <a:ext cx="8228520" cy="501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5E1"/>
                </a:solidFill>
                <a:effectLst/>
                <a:uFillTx/>
                <a:latin typeface="Calibri"/>
                <a:ea typeface="Calibri"/>
              </a:rPr>
              <a:t>PART 2</a:t>
            </a:r>
            <a:endParaRPr lang="en-US" sz="1600" b="0" u="none" strike="noStrike">
              <a:solidFill>
                <a:srgbClr val="FFFFFF"/>
              </a:solidFill>
              <a:effectLst/>
              <a:uFillTx/>
              <a:latin typeface="Arial"/>
            </a:endParaRPr>
          </a:p>
        </p:txBody>
      </p:sp>
      <p:sp>
        <p:nvSpPr>
          <p:cNvPr id="154" name="Text 2"/>
          <p:cNvSpPr/>
          <p:nvPr/>
        </p:nvSpPr>
        <p:spPr>
          <a:xfrm>
            <a:off x="457200" y="1417320"/>
            <a:ext cx="8228520" cy="1004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Chapter 2: Intelligent Agents</a:t>
            </a:r>
            <a:endParaRPr lang="en-US" sz="3600" b="0" u="none" strike="noStrike">
              <a:solidFill>
                <a:srgbClr val="FFFFFF"/>
              </a:solidFill>
              <a:effectLst/>
              <a:uFillTx/>
              <a:latin typeface="Arial"/>
            </a:endParaRPr>
          </a:p>
        </p:txBody>
      </p:sp>
      <p:sp>
        <p:nvSpPr>
          <p:cNvPr id="155" name="Text 3"/>
          <p:cNvSpPr/>
          <p:nvPr/>
        </p:nvSpPr>
        <p:spPr>
          <a:xfrm>
            <a:off x="457200" y="2514600"/>
            <a:ext cx="8228520" cy="45612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56"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7"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58"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Chapter 2 — What We'll Cover</a:t>
            </a:r>
            <a:endParaRPr lang="en-US" sz="2200" b="0" u="none" strike="noStrike">
              <a:solidFill>
                <a:srgbClr val="000000"/>
              </a:solidFill>
              <a:effectLst/>
              <a:uFillTx/>
              <a:latin typeface="Arial"/>
            </a:endParaRPr>
          </a:p>
        </p:txBody>
      </p:sp>
      <p:sp>
        <p:nvSpPr>
          <p:cNvPr id="159"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2.1  Agents and Environments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Percepts, actions, and the agent function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Why lookup tables fail</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2.2  Good Behavior: Rationality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measures and the definition of rationality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Rationality vs. omniscience; autonomy and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2.3  Task Environments (PEAS)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Specifying the task environment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Seven key dimensions every AI designer must consider</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2.4  Agent Architectures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Simple Reflex → Model-Based → Goal-Based → Utility-Based → Learning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Atomic, Factored, and Structured representations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60"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1"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2"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2.1 What Is an Agent?</a:t>
            </a:r>
            <a:endParaRPr lang="en-US" sz="2200" b="0" u="none" strike="noStrike">
              <a:solidFill>
                <a:srgbClr val="000000"/>
              </a:solidFill>
              <a:effectLst/>
              <a:uFillTx/>
              <a:latin typeface="Arial"/>
            </a:endParaRPr>
          </a:p>
        </p:txBody>
      </p:sp>
      <p:sp>
        <p:nvSpPr>
          <p:cNvPr id="163"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An agent perceives its environment through sensors and acts upon it through actuators</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Examples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 → eyes/ears, hands/voice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 → cameras/lidar, motors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Software agent → file/network inputs, file writes/API calls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 &amp; Percept Sequence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 = content the sensors are perceiving right now</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 sequence = complete history of all past percepts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Agent's action may depend on the entire percept history</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Agent Function vs. Agent Program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 function: abstract math — maps percept sequence → action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 program: concrete implementation on hardware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Same agent function; many possible programs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64"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5"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6"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2.1 Why a Lookup Table Fails</a:t>
            </a:r>
            <a:endParaRPr lang="en-US" sz="2200" b="0" u="none" strike="noStrike">
              <a:solidFill>
                <a:srgbClr val="000000"/>
              </a:solidFill>
              <a:effectLst/>
              <a:uFillTx/>
              <a:latin typeface="Arial"/>
            </a:endParaRPr>
          </a:p>
        </p:txBody>
      </p:sp>
      <p:sp>
        <p:nvSpPr>
          <p:cNvPr id="167"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 table-driven agent explicitly stores the correct action for every possible percept sequence</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table is astronomically large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Taxi with 8 cameras at 70 MB/s → &gt; 10⁶⁰⁰,⁰⁰⁰,⁰⁰⁰ entries per hour</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alone: at least 10¹⁵⁰ entries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Observable atoms in the universe: &lt; 10⁸⁰</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Three practical failures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physical agent has space to store the table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designer has time to construct it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agent could learn all entries from experience</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The central AI challenge: write compact programs that produce rational behavior — like Newton's method replaced printed square-root tables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68"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0"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2.2 Rationality — The Four Factors</a:t>
            </a:r>
            <a:endParaRPr lang="en-US" sz="2200" b="0" u="none" strike="noStrike">
              <a:solidFill>
                <a:srgbClr val="000000"/>
              </a:solidFill>
              <a:effectLst/>
              <a:uFillTx/>
              <a:latin typeface="Arial"/>
            </a:endParaRPr>
          </a:p>
        </p:txBody>
      </p:sp>
      <p:sp>
        <p:nvSpPr>
          <p:cNvPr id="171"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What determines rational action?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 The performance measure; criterion of success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 Prior knowledge of the environment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3. The actions the agent can perform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4. The agent's percept sequence to date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Definition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rational agent selects the action that maximizes expected performance given its percept sequence and built-in knowledge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Performance measure design pitfalls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Measure 'dirt cleaned' → agent dumps and re-cleans to game the score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Better: reward clean floor at each time step</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General rule: measure what you actually want, not how you expect the agent to behave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Related to the King Midas / value alignment problem from Ch. 1</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72"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3"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4"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2.2 Rationality vs. Omniscience vs. Autonomy</a:t>
            </a:r>
            <a:endParaRPr lang="en-US" sz="2200" b="0" u="none" strike="noStrike">
              <a:solidFill>
                <a:srgbClr val="000000"/>
              </a:solidFill>
              <a:effectLst/>
              <a:uFillTx/>
              <a:latin typeface="Arial"/>
            </a:endParaRPr>
          </a:p>
        </p:txBody>
      </p:sp>
      <p:sp>
        <p:nvSpPr>
          <p:cNvPr id="175" name="Shape 3"/>
          <p:cNvSpPr/>
          <p:nvPr/>
        </p:nvSpPr>
        <p:spPr>
          <a:xfrm>
            <a:off x="320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6" name="Shape 4"/>
          <p:cNvSpPr/>
          <p:nvPr/>
        </p:nvSpPr>
        <p:spPr>
          <a:xfrm>
            <a:off x="320040" y="1005840"/>
            <a:ext cx="3930840" cy="41040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7" name="Text 5"/>
          <p:cNvSpPr/>
          <p:nvPr/>
        </p:nvSpPr>
        <p:spPr>
          <a:xfrm>
            <a:off x="320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Rationality</a:t>
            </a:r>
            <a:endParaRPr lang="en-US" sz="1400" b="0" u="none" strike="noStrike">
              <a:solidFill>
                <a:srgbClr val="000000"/>
              </a:solidFill>
              <a:effectLst/>
              <a:uFillTx/>
              <a:latin typeface="Arial"/>
            </a:endParaRPr>
          </a:p>
        </p:txBody>
      </p:sp>
      <p:sp>
        <p:nvSpPr>
          <p:cNvPr id="178" name="Text 6"/>
          <p:cNvSpPr/>
          <p:nvPr/>
        </p:nvSpPr>
        <p:spPr>
          <a:xfrm>
            <a:off x="457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Maximizes expected performance given available information</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Does NOT require knowing the actual outcome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Information gathering is part of rational behavior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Must learn from percepts to improve over time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'Look both ways before crossing' is rationally required even if no truck is coming</a:t>
            </a:r>
            <a:endParaRPr lang="en-US" sz="1300" b="0" u="none" strike="noStrike">
              <a:solidFill>
                <a:srgbClr val="000000"/>
              </a:solidFill>
              <a:effectLst/>
              <a:uFillTx/>
              <a:latin typeface="Arial"/>
            </a:endParaRPr>
          </a:p>
        </p:txBody>
      </p:sp>
      <p:sp>
        <p:nvSpPr>
          <p:cNvPr id="179" name="Shape 7"/>
          <p:cNvSpPr/>
          <p:nvPr/>
        </p:nvSpPr>
        <p:spPr>
          <a:xfrm>
            <a:off x="4892040" y="1005840"/>
            <a:ext cx="3930840" cy="38394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Shape 8"/>
          <p:cNvSpPr/>
          <p:nvPr/>
        </p:nvSpPr>
        <p:spPr>
          <a:xfrm>
            <a:off x="4892040" y="1005840"/>
            <a:ext cx="3930840" cy="41040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1" name="Text 9"/>
          <p:cNvSpPr/>
          <p:nvPr/>
        </p:nvSpPr>
        <p:spPr>
          <a:xfrm>
            <a:off x="4892040" y="1005840"/>
            <a:ext cx="393084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Omniscience / Autonomy</a:t>
            </a:r>
            <a:endParaRPr lang="en-US" sz="1400" b="0" u="none" strike="noStrike">
              <a:solidFill>
                <a:srgbClr val="000000"/>
              </a:solidFill>
              <a:effectLst/>
              <a:uFillTx/>
              <a:latin typeface="Arial"/>
            </a:endParaRPr>
          </a:p>
        </p:txBody>
      </p:sp>
      <p:sp>
        <p:nvSpPr>
          <p:cNvPr id="182" name="Text 10"/>
          <p:cNvSpPr/>
          <p:nvPr/>
        </p:nvSpPr>
        <p:spPr>
          <a:xfrm>
            <a:off x="5029200" y="1508760"/>
            <a:ext cx="3656520" cy="3199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Omniscient = knows the actual outcome — impossible in reality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Rationality ≠ perfection (cargo door example)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Autonomy = relying on own learning, not just designer's prior knowledge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Rational agents should learn to compensate for incomplete priors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Sphex wasp: lacks autonomy → repeats failed plan forever</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83"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85"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2.3 PEAS: Specifying the Task Environment</a:t>
            </a:r>
            <a:endParaRPr lang="en-US" sz="2200" b="0" u="none" strike="noStrike">
              <a:solidFill>
                <a:srgbClr val="000000"/>
              </a:solidFill>
              <a:effectLst/>
              <a:uFillTx/>
              <a:latin typeface="Arial"/>
            </a:endParaRPr>
          </a:p>
        </p:txBody>
      </p:sp>
      <p:sp>
        <p:nvSpPr>
          <p:cNvPr id="186"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 — Performance Measure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What does success look like? (safety, speed, profit, comfort…)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 — Environment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What does the agent operate in? (roads, weather, passengers…)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 — Actuators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the agent act? (steering, braking, display, voice…)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 — Sensors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the agent perceive? (cameras, lidar, GPS, microphone…)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Automated Taxi Example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correct destination, safety, fuel, legality, comfort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Environment: roads, traffic, pedestrians, weather, passengers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Actuators: accelerator, brakes, steering, horn, touchscreen display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Sensors: cameras, lidar, ultrasound, speedometer, GPS, touchscreen input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87"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8"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89"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2.3 Properties of Task Environments</a:t>
            </a:r>
            <a:endParaRPr lang="en-US" sz="2200" b="0" u="none" strike="noStrike">
              <a:solidFill>
                <a:srgbClr val="000000"/>
              </a:solidFill>
              <a:effectLst/>
              <a:uFillTx/>
              <a:latin typeface="Arial"/>
            </a:endParaRPr>
          </a:p>
        </p:txBody>
      </p:sp>
      <p:sp>
        <p:nvSpPr>
          <p:cNvPr id="190" name="Shape 3"/>
          <p:cNvSpPr/>
          <p:nvPr/>
        </p:nvSpPr>
        <p:spPr>
          <a:xfrm>
            <a:off x="274320" y="96012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1" name="Shape 4"/>
          <p:cNvSpPr/>
          <p:nvPr/>
        </p:nvSpPr>
        <p:spPr>
          <a:xfrm>
            <a:off x="274320" y="96012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2" name="Text 5"/>
          <p:cNvSpPr/>
          <p:nvPr/>
        </p:nvSpPr>
        <p:spPr>
          <a:xfrm>
            <a:off x="365760" y="100584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Fully Observable</a:t>
            </a:r>
            <a:endParaRPr lang="en-US" sz="1100" b="0" u="none" strike="noStrike">
              <a:solidFill>
                <a:srgbClr val="000000"/>
              </a:solidFill>
              <a:effectLst/>
              <a:uFillTx/>
              <a:latin typeface="Arial"/>
            </a:endParaRPr>
          </a:p>
        </p:txBody>
      </p:sp>
      <p:sp>
        <p:nvSpPr>
          <p:cNvPr id="193" name="Shape 6"/>
          <p:cNvSpPr/>
          <p:nvPr/>
        </p:nvSpPr>
        <p:spPr>
          <a:xfrm>
            <a:off x="2331720" y="105156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94" name="Text 7"/>
          <p:cNvSpPr/>
          <p:nvPr/>
        </p:nvSpPr>
        <p:spPr>
          <a:xfrm>
            <a:off x="2423160" y="100584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Partially Observable</a:t>
            </a:r>
            <a:endParaRPr lang="en-US" sz="1100" b="0" u="none" strike="noStrike">
              <a:solidFill>
                <a:srgbClr val="000000"/>
              </a:solidFill>
              <a:effectLst/>
              <a:uFillTx/>
              <a:latin typeface="Arial"/>
            </a:endParaRPr>
          </a:p>
        </p:txBody>
      </p:sp>
      <p:sp>
        <p:nvSpPr>
          <p:cNvPr id="195" name="Shape 8"/>
          <p:cNvSpPr/>
          <p:nvPr/>
        </p:nvSpPr>
        <p:spPr>
          <a:xfrm>
            <a:off x="274320" y="196596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6" name="Shape 9"/>
          <p:cNvSpPr/>
          <p:nvPr/>
        </p:nvSpPr>
        <p:spPr>
          <a:xfrm>
            <a:off x="274320" y="196596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7" name="Text 10"/>
          <p:cNvSpPr/>
          <p:nvPr/>
        </p:nvSpPr>
        <p:spPr>
          <a:xfrm>
            <a:off x="365760" y="201168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Single-Agent</a:t>
            </a:r>
            <a:endParaRPr lang="en-US" sz="1100" b="0" u="none" strike="noStrike">
              <a:solidFill>
                <a:srgbClr val="000000"/>
              </a:solidFill>
              <a:effectLst/>
              <a:uFillTx/>
              <a:latin typeface="Arial"/>
            </a:endParaRPr>
          </a:p>
        </p:txBody>
      </p:sp>
      <p:sp>
        <p:nvSpPr>
          <p:cNvPr id="198" name="Shape 11"/>
          <p:cNvSpPr/>
          <p:nvPr/>
        </p:nvSpPr>
        <p:spPr>
          <a:xfrm>
            <a:off x="2331720" y="205740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99" name="Text 12"/>
          <p:cNvSpPr/>
          <p:nvPr/>
        </p:nvSpPr>
        <p:spPr>
          <a:xfrm>
            <a:off x="2423160" y="201168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Multiagent</a:t>
            </a:r>
            <a:endParaRPr lang="en-US" sz="1100" b="0" u="none" strike="noStrike">
              <a:solidFill>
                <a:srgbClr val="000000"/>
              </a:solidFill>
              <a:effectLst/>
              <a:uFillTx/>
              <a:latin typeface="Arial"/>
            </a:endParaRPr>
          </a:p>
        </p:txBody>
      </p:sp>
      <p:sp>
        <p:nvSpPr>
          <p:cNvPr id="200" name="Shape 13"/>
          <p:cNvSpPr/>
          <p:nvPr/>
        </p:nvSpPr>
        <p:spPr>
          <a:xfrm>
            <a:off x="274320" y="297180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1" name="Shape 14"/>
          <p:cNvSpPr/>
          <p:nvPr/>
        </p:nvSpPr>
        <p:spPr>
          <a:xfrm>
            <a:off x="274320" y="297180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2" name="Text 15"/>
          <p:cNvSpPr/>
          <p:nvPr/>
        </p:nvSpPr>
        <p:spPr>
          <a:xfrm>
            <a:off x="365760" y="301752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Deterministic</a:t>
            </a:r>
            <a:endParaRPr lang="en-US" sz="1100" b="0" u="none" strike="noStrike">
              <a:solidFill>
                <a:srgbClr val="000000"/>
              </a:solidFill>
              <a:effectLst/>
              <a:uFillTx/>
              <a:latin typeface="Arial"/>
            </a:endParaRPr>
          </a:p>
        </p:txBody>
      </p:sp>
      <p:sp>
        <p:nvSpPr>
          <p:cNvPr id="203" name="Shape 16"/>
          <p:cNvSpPr/>
          <p:nvPr/>
        </p:nvSpPr>
        <p:spPr>
          <a:xfrm>
            <a:off x="2331720" y="306324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04" name="Text 17"/>
          <p:cNvSpPr/>
          <p:nvPr/>
        </p:nvSpPr>
        <p:spPr>
          <a:xfrm>
            <a:off x="2423160" y="301752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Nondeterministic</a:t>
            </a:r>
            <a:endParaRPr lang="en-US" sz="1100" b="0" u="none" strike="noStrike">
              <a:solidFill>
                <a:srgbClr val="000000"/>
              </a:solidFill>
              <a:effectLst/>
              <a:uFillTx/>
              <a:latin typeface="Arial"/>
            </a:endParaRPr>
          </a:p>
        </p:txBody>
      </p:sp>
      <p:sp>
        <p:nvSpPr>
          <p:cNvPr id="205" name="Shape 18"/>
          <p:cNvSpPr/>
          <p:nvPr/>
        </p:nvSpPr>
        <p:spPr>
          <a:xfrm>
            <a:off x="274320" y="397764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Shape 19"/>
          <p:cNvSpPr/>
          <p:nvPr/>
        </p:nvSpPr>
        <p:spPr>
          <a:xfrm>
            <a:off x="274320" y="397764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7" name="Text 20"/>
          <p:cNvSpPr/>
          <p:nvPr/>
        </p:nvSpPr>
        <p:spPr>
          <a:xfrm>
            <a:off x="365760" y="402336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Episodic</a:t>
            </a:r>
            <a:endParaRPr lang="en-US" sz="1100" b="0" u="none" strike="noStrike">
              <a:solidFill>
                <a:srgbClr val="000000"/>
              </a:solidFill>
              <a:effectLst/>
              <a:uFillTx/>
              <a:latin typeface="Arial"/>
            </a:endParaRPr>
          </a:p>
        </p:txBody>
      </p:sp>
      <p:sp>
        <p:nvSpPr>
          <p:cNvPr id="208" name="Shape 21"/>
          <p:cNvSpPr/>
          <p:nvPr/>
        </p:nvSpPr>
        <p:spPr>
          <a:xfrm>
            <a:off x="2331720" y="406908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09" name="Text 22"/>
          <p:cNvSpPr/>
          <p:nvPr/>
        </p:nvSpPr>
        <p:spPr>
          <a:xfrm>
            <a:off x="2423160" y="402336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Sequential</a:t>
            </a:r>
            <a:endParaRPr lang="en-US" sz="1100" b="0" u="none" strike="noStrike">
              <a:solidFill>
                <a:srgbClr val="000000"/>
              </a:solidFill>
              <a:effectLst/>
              <a:uFillTx/>
              <a:latin typeface="Arial"/>
            </a:endParaRPr>
          </a:p>
        </p:txBody>
      </p:sp>
      <p:sp>
        <p:nvSpPr>
          <p:cNvPr id="210" name="Shape 23"/>
          <p:cNvSpPr/>
          <p:nvPr/>
        </p:nvSpPr>
        <p:spPr>
          <a:xfrm>
            <a:off x="4709160" y="96012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Shape 24"/>
          <p:cNvSpPr/>
          <p:nvPr/>
        </p:nvSpPr>
        <p:spPr>
          <a:xfrm>
            <a:off x="4709160" y="96012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25"/>
          <p:cNvSpPr/>
          <p:nvPr/>
        </p:nvSpPr>
        <p:spPr>
          <a:xfrm>
            <a:off x="4800600" y="100584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Static</a:t>
            </a:r>
            <a:endParaRPr lang="en-US" sz="1100" b="0" u="none" strike="noStrike">
              <a:solidFill>
                <a:srgbClr val="000000"/>
              </a:solidFill>
              <a:effectLst/>
              <a:uFillTx/>
              <a:latin typeface="Arial"/>
            </a:endParaRPr>
          </a:p>
        </p:txBody>
      </p:sp>
      <p:sp>
        <p:nvSpPr>
          <p:cNvPr id="213" name="Shape 26"/>
          <p:cNvSpPr/>
          <p:nvPr/>
        </p:nvSpPr>
        <p:spPr>
          <a:xfrm>
            <a:off x="6766560" y="105156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14" name="Text 27"/>
          <p:cNvSpPr/>
          <p:nvPr/>
        </p:nvSpPr>
        <p:spPr>
          <a:xfrm>
            <a:off x="6858000" y="100584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Dynamic</a:t>
            </a:r>
            <a:endParaRPr lang="en-US" sz="1100" b="0" u="none" strike="noStrike">
              <a:solidFill>
                <a:srgbClr val="000000"/>
              </a:solidFill>
              <a:effectLst/>
              <a:uFillTx/>
              <a:latin typeface="Arial"/>
            </a:endParaRPr>
          </a:p>
        </p:txBody>
      </p:sp>
      <p:sp>
        <p:nvSpPr>
          <p:cNvPr id="215" name="Shape 28"/>
          <p:cNvSpPr/>
          <p:nvPr/>
        </p:nvSpPr>
        <p:spPr>
          <a:xfrm>
            <a:off x="4709160" y="196596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6" name="Shape 29"/>
          <p:cNvSpPr/>
          <p:nvPr/>
        </p:nvSpPr>
        <p:spPr>
          <a:xfrm>
            <a:off x="4709160" y="196596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7" name="Text 30"/>
          <p:cNvSpPr/>
          <p:nvPr/>
        </p:nvSpPr>
        <p:spPr>
          <a:xfrm>
            <a:off x="4800600" y="201168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Discrete</a:t>
            </a:r>
            <a:endParaRPr lang="en-US" sz="1100" b="0" u="none" strike="noStrike">
              <a:solidFill>
                <a:srgbClr val="000000"/>
              </a:solidFill>
              <a:effectLst/>
              <a:uFillTx/>
              <a:latin typeface="Arial"/>
            </a:endParaRPr>
          </a:p>
        </p:txBody>
      </p:sp>
      <p:sp>
        <p:nvSpPr>
          <p:cNvPr id="218" name="Shape 31"/>
          <p:cNvSpPr/>
          <p:nvPr/>
        </p:nvSpPr>
        <p:spPr>
          <a:xfrm>
            <a:off x="6766560" y="205740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19" name="Text 32"/>
          <p:cNvSpPr/>
          <p:nvPr/>
        </p:nvSpPr>
        <p:spPr>
          <a:xfrm>
            <a:off x="6858000" y="201168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Continuous</a:t>
            </a:r>
            <a:endParaRPr lang="en-US" sz="1100" b="0" u="none" strike="noStrike">
              <a:solidFill>
                <a:srgbClr val="000000"/>
              </a:solidFill>
              <a:effectLst/>
              <a:uFillTx/>
              <a:latin typeface="Arial"/>
            </a:endParaRPr>
          </a:p>
        </p:txBody>
      </p:sp>
      <p:sp>
        <p:nvSpPr>
          <p:cNvPr id="220" name="Shape 33"/>
          <p:cNvSpPr/>
          <p:nvPr/>
        </p:nvSpPr>
        <p:spPr>
          <a:xfrm>
            <a:off x="4709160" y="2971800"/>
            <a:ext cx="4113720" cy="8218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1" name="Shape 34"/>
          <p:cNvSpPr/>
          <p:nvPr/>
        </p:nvSpPr>
        <p:spPr>
          <a:xfrm>
            <a:off x="4709160" y="2971800"/>
            <a:ext cx="2056320" cy="8218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2" name="Text 35"/>
          <p:cNvSpPr/>
          <p:nvPr/>
        </p:nvSpPr>
        <p:spPr>
          <a:xfrm>
            <a:off x="4800600" y="301752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Known</a:t>
            </a:r>
            <a:endParaRPr lang="en-US" sz="1100" b="0" u="none" strike="noStrike">
              <a:solidFill>
                <a:srgbClr val="000000"/>
              </a:solidFill>
              <a:effectLst/>
              <a:uFillTx/>
              <a:latin typeface="Arial"/>
            </a:endParaRPr>
          </a:p>
        </p:txBody>
      </p:sp>
      <p:sp>
        <p:nvSpPr>
          <p:cNvPr id="223" name="Shape 36"/>
          <p:cNvSpPr/>
          <p:nvPr/>
        </p:nvSpPr>
        <p:spPr>
          <a:xfrm>
            <a:off x="6766560" y="306324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24" name="Text 37"/>
          <p:cNvSpPr/>
          <p:nvPr/>
        </p:nvSpPr>
        <p:spPr>
          <a:xfrm>
            <a:off x="6858000" y="3017520"/>
            <a:ext cx="1919160" cy="73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Unknown</a:t>
            </a:r>
            <a:endParaRPr lang="en-US" sz="1100" b="0" u="none" strike="noStrike">
              <a:solidFill>
                <a:srgbClr val="000000"/>
              </a:solidFill>
              <a:effectLst/>
              <a:uFillTx/>
              <a:latin typeface="Arial"/>
            </a:endParaRPr>
          </a:p>
        </p:txBody>
      </p:sp>
      <p:sp>
        <p:nvSpPr>
          <p:cNvPr id="225" name="Shape 38"/>
          <p:cNvSpPr/>
          <p:nvPr/>
        </p:nvSpPr>
        <p:spPr>
          <a:xfrm>
            <a:off x="4709160" y="4114800"/>
            <a:ext cx="4113720" cy="8218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6" name="Text 39"/>
          <p:cNvSpPr/>
          <p:nvPr/>
        </p:nvSpPr>
        <p:spPr>
          <a:xfrm>
            <a:off x="4709160" y="4114800"/>
            <a:ext cx="4113720" cy="821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F2B5B"/>
                </a:solidFill>
                <a:effectLst/>
                <a:uFillTx/>
                <a:latin typeface="Calibri"/>
                <a:ea typeface="Calibri"/>
              </a:rPr>
              <a:t>Taxi driving is hard in all 7 dimensions!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27"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8"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29"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1</a:t>
            </a:r>
            <a:endParaRPr lang="en-US" sz="2200" b="0" u="none" strike="noStrike">
              <a:solidFill>
                <a:srgbClr val="000000"/>
              </a:solidFill>
              <a:effectLst/>
              <a:uFillTx/>
              <a:latin typeface="Arial"/>
            </a:endParaRPr>
          </a:p>
        </p:txBody>
      </p:sp>
      <p:sp>
        <p:nvSpPr>
          <p:cNvPr id="230" name="Shape 3"/>
          <p:cNvSpPr/>
          <p:nvPr/>
        </p:nvSpPr>
        <p:spPr>
          <a:xfrm>
            <a:off x="320040" y="960120"/>
            <a:ext cx="8502840" cy="5475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1" name="Text 4"/>
          <p:cNvSpPr/>
          <p:nvPr/>
        </p:nvSpPr>
        <p:spPr>
          <a:xfrm>
            <a:off x="320040" y="960120"/>
            <a:ext cx="8502840" cy="547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Simple Reflex Agent</a:t>
            </a:r>
            <a:endParaRPr lang="en-US" sz="2000" b="0" u="none" strike="noStrike">
              <a:solidFill>
                <a:srgbClr val="000000"/>
              </a:solidFill>
              <a:effectLst/>
              <a:uFillTx/>
              <a:latin typeface="Arial"/>
            </a:endParaRPr>
          </a:p>
        </p:txBody>
      </p:sp>
      <p:sp>
        <p:nvSpPr>
          <p:cNvPr id="232" name="Shape 5"/>
          <p:cNvSpPr/>
          <p:nvPr/>
        </p:nvSpPr>
        <p:spPr>
          <a:xfrm>
            <a:off x="320040" y="1645920"/>
            <a:ext cx="8502840" cy="9590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3" name="Text 6"/>
          <p:cNvSpPr/>
          <p:nvPr/>
        </p:nvSpPr>
        <p:spPr>
          <a:xfrm>
            <a:off x="502920" y="1691640"/>
            <a:ext cx="8228520" cy="867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Selects actions based solely on the current percept; ignores percept history entirely. Uses condition-action rules: if car-in-front-is-braking → initiate-braking.</a:t>
            </a:r>
            <a:endParaRPr lang="en-US" sz="1400" b="0" u="none" strike="noStrike">
              <a:solidFill>
                <a:srgbClr val="000000"/>
              </a:solidFill>
              <a:effectLst/>
              <a:uFillTx/>
              <a:latin typeface="Arial"/>
            </a:endParaRPr>
          </a:p>
        </p:txBody>
      </p:sp>
      <p:sp>
        <p:nvSpPr>
          <p:cNvPr id="234" name="Text 7"/>
          <p:cNvSpPr/>
          <p:nvPr/>
        </p:nvSpPr>
        <p:spPr>
          <a:xfrm>
            <a:off x="320040" y="2715840"/>
            <a:ext cx="4113720" cy="31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235" name="Text 8"/>
          <p:cNvSpPr/>
          <p:nvPr/>
        </p:nvSpPr>
        <p:spPr>
          <a:xfrm>
            <a:off x="320040" y="3017520"/>
            <a:ext cx="4388040" cy="17362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No internal state — stateless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Only works in fully observable environments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Prone to infinite loops when partially observable</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Randomization can sometimes help escape loops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basic vacuum agent (Dirty→Suck, else move)</a:t>
            </a:r>
            <a:endParaRPr lang="en-US" sz="1300" b="0" u="none" strike="noStrike">
              <a:solidFill>
                <a:srgbClr val="000000"/>
              </a:solidFill>
              <a:effectLst/>
              <a:uFillTx/>
              <a:latin typeface="Arial"/>
            </a:endParaRPr>
          </a:p>
        </p:txBody>
      </p:sp>
      <p:sp>
        <p:nvSpPr>
          <p:cNvPr id="236" name="Shape 9"/>
          <p:cNvSpPr/>
          <p:nvPr/>
        </p:nvSpPr>
        <p:spPr>
          <a:xfrm>
            <a:off x="4892040" y="2715840"/>
            <a:ext cx="3930840" cy="21020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7" name="Shape 10"/>
          <p:cNvSpPr/>
          <p:nvPr/>
        </p:nvSpPr>
        <p:spPr>
          <a:xfrm>
            <a:off x="4892040" y="2715840"/>
            <a:ext cx="3930840" cy="3463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8" name="Text 11"/>
          <p:cNvSpPr/>
          <p:nvPr/>
        </p:nvSpPr>
        <p:spPr>
          <a:xfrm>
            <a:off x="4892040" y="2715840"/>
            <a:ext cx="3930840" cy="346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239" name="Text 12"/>
          <p:cNvSpPr/>
          <p:nvPr/>
        </p:nvSpPr>
        <p:spPr>
          <a:xfrm>
            <a:off x="4983480" y="3127320"/>
            <a:ext cx="3747960" cy="15991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Simple and fast, but fragile. Fails whenever the current percept alone is not enough to determine the correct action.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40"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1"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42"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2</a:t>
            </a:r>
            <a:endParaRPr lang="en-US" sz="2200" b="0" u="none" strike="noStrike">
              <a:solidFill>
                <a:srgbClr val="000000"/>
              </a:solidFill>
              <a:effectLst/>
              <a:uFillTx/>
              <a:latin typeface="Arial"/>
            </a:endParaRPr>
          </a:p>
        </p:txBody>
      </p:sp>
      <p:sp>
        <p:nvSpPr>
          <p:cNvPr id="243" name="Shape 3"/>
          <p:cNvSpPr/>
          <p:nvPr/>
        </p:nvSpPr>
        <p:spPr>
          <a:xfrm>
            <a:off x="320040" y="960120"/>
            <a:ext cx="8502840" cy="5475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4" name="Text 4"/>
          <p:cNvSpPr/>
          <p:nvPr/>
        </p:nvSpPr>
        <p:spPr>
          <a:xfrm>
            <a:off x="320040" y="960120"/>
            <a:ext cx="8502840" cy="547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Model-Based Reflex Agent</a:t>
            </a:r>
            <a:endParaRPr lang="en-US" sz="2000" b="0" u="none" strike="noStrike">
              <a:solidFill>
                <a:srgbClr val="000000"/>
              </a:solidFill>
              <a:effectLst/>
              <a:uFillTx/>
              <a:latin typeface="Arial"/>
            </a:endParaRPr>
          </a:p>
        </p:txBody>
      </p:sp>
      <p:sp>
        <p:nvSpPr>
          <p:cNvPr id="245" name="Shape 5"/>
          <p:cNvSpPr/>
          <p:nvPr/>
        </p:nvSpPr>
        <p:spPr>
          <a:xfrm>
            <a:off x="320040" y="1645920"/>
            <a:ext cx="8502840" cy="9590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6" name="Text 6"/>
          <p:cNvSpPr/>
          <p:nvPr/>
        </p:nvSpPr>
        <p:spPr>
          <a:xfrm>
            <a:off x="502920" y="1691640"/>
            <a:ext cx="8228520" cy="867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Maintains an internal state to track parts of the world it cannot currently observe. Uses a transition model (how the world changes) and a sensor model (how state is reflected in percepts).</a:t>
            </a:r>
            <a:endParaRPr lang="en-US" sz="1400" b="0" u="none" strike="noStrike">
              <a:solidFill>
                <a:srgbClr val="000000"/>
              </a:solidFill>
              <a:effectLst/>
              <a:uFillTx/>
              <a:latin typeface="Arial"/>
            </a:endParaRPr>
          </a:p>
        </p:txBody>
      </p:sp>
      <p:sp>
        <p:nvSpPr>
          <p:cNvPr id="247" name="Text 7"/>
          <p:cNvSpPr/>
          <p:nvPr/>
        </p:nvSpPr>
        <p:spPr>
          <a:xfrm>
            <a:off x="320040" y="2715840"/>
            <a:ext cx="4113720" cy="31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248" name="Text 8"/>
          <p:cNvSpPr/>
          <p:nvPr/>
        </p:nvSpPr>
        <p:spPr>
          <a:xfrm>
            <a:off x="320040" y="3017520"/>
            <a:ext cx="4388040" cy="17362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Maintains internal state — handles partial observability</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Transition model: effects of actions + world evolution</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Sensor model: maps world state to percepts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Updates internal state with each new percept</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tracking positions of occluded vehicles</a:t>
            </a:r>
            <a:endParaRPr lang="en-US" sz="1300" b="0" u="none" strike="noStrike">
              <a:solidFill>
                <a:srgbClr val="000000"/>
              </a:solidFill>
              <a:effectLst/>
              <a:uFillTx/>
              <a:latin typeface="Arial"/>
            </a:endParaRPr>
          </a:p>
        </p:txBody>
      </p:sp>
      <p:sp>
        <p:nvSpPr>
          <p:cNvPr id="249" name="Shape 9"/>
          <p:cNvSpPr/>
          <p:nvPr/>
        </p:nvSpPr>
        <p:spPr>
          <a:xfrm>
            <a:off x="4892040" y="2715840"/>
            <a:ext cx="3930840" cy="21020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0" name="Shape 10"/>
          <p:cNvSpPr/>
          <p:nvPr/>
        </p:nvSpPr>
        <p:spPr>
          <a:xfrm>
            <a:off x="4892040" y="2715840"/>
            <a:ext cx="3930840" cy="3463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1" name="Text 11"/>
          <p:cNvSpPr/>
          <p:nvPr/>
        </p:nvSpPr>
        <p:spPr>
          <a:xfrm>
            <a:off x="4892040" y="2715840"/>
            <a:ext cx="3930840" cy="346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252" name="Text 12"/>
          <p:cNvSpPr/>
          <p:nvPr/>
        </p:nvSpPr>
        <p:spPr>
          <a:xfrm>
            <a:off x="4983480" y="3127320"/>
            <a:ext cx="3747960" cy="15991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Keeps a 'best guess' of world state. Enables smarter behavior in partially observable environments where the current percept alone is insufficient.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53"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4"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55"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3</a:t>
            </a:r>
            <a:endParaRPr lang="en-US" sz="2200" b="0" u="none" strike="noStrike">
              <a:solidFill>
                <a:srgbClr val="000000"/>
              </a:solidFill>
              <a:effectLst/>
              <a:uFillTx/>
              <a:latin typeface="Arial"/>
            </a:endParaRPr>
          </a:p>
        </p:txBody>
      </p:sp>
      <p:sp>
        <p:nvSpPr>
          <p:cNvPr id="256" name="Shape 3"/>
          <p:cNvSpPr/>
          <p:nvPr/>
        </p:nvSpPr>
        <p:spPr>
          <a:xfrm>
            <a:off x="320040" y="960120"/>
            <a:ext cx="8502840" cy="5475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Text 4"/>
          <p:cNvSpPr/>
          <p:nvPr/>
        </p:nvSpPr>
        <p:spPr>
          <a:xfrm>
            <a:off x="320040" y="960120"/>
            <a:ext cx="8502840" cy="547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Goal-Based Agent</a:t>
            </a:r>
            <a:endParaRPr lang="en-US" sz="2000" b="0" u="none" strike="noStrike">
              <a:solidFill>
                <a:srgbClr val="000000"/>
              </a:solidFill>
              <a:effectLst/>
              <a:uFillTx/>
              <a:latin typeface="Arial"/>
            </a:endParaRPr>
          </a:p>
        </p:txBody>
      </p:sp>
      <p:sp>
        <p:nvSpPr>
          <p:cNvPr id="258" name="Shape 5"/>
          <p:cNvSpPr/>
          <p:nvPr/>
        </p:nvSpPr>
        <p:spPr>
          <a:xfrm>
            <a:off x="320040" y="1645920"/>
            <a:ext cx="8502840" cy="9590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9" name="Text 6"/>
          <p:cNvSpPr/>
          <p:nvPr/>
        </p:nvSpPr>
        <p:spPr>
          <a:xfrm>
            <a:off x="502920" y="1691640"/>
            <a:ext cx="8228520" cy="867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Combines a world model with explicit goal information describing desired situations. Uses search (Ch. 3–5) or planning (Ch. 11) to find action sequences that achieve the goal.</a:t>
            </a:r>
            <a:endParaRPr lang="en-US" sz="1400" b="0" u="none" strike="noStrike">
              <a:solidFill>
                <a:srgbClr val="000000"/>
              </a:solidFill>
              <a:effectLst/>
              <a:uFillTx/>
              <a:latin typeface="Arial"/>
            </a:endParaRPr>
          </a:p>
        </p:txBody>
      </p:sp>
      <p:sp>
        <p:nvSpPr>
          <p:cNvPr id="260" name="Text 7"/>
          <p:cNvSpPr/>
          <p:nvPr/>
        </p:nvSpPr>
        <p:spPr>
          <a:xfrm>
            <a:off x="320040" y="2715840"/>
            <a:ext cx="4113720" cy="31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261" name="Text 8"/>
          <p:cNvSpPr/>
          <p:nvPr/>
        </p:nvSpPr>
        <p:spPr>
          <a:xfrm>
            <a:off x="320040" y="3017520"/>
            <a:ext cx="4388040" cy="17362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Explicit goal representation</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Considers future consequences of actions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Requires search or planning algorithms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More flexible: change the goal → behavior changes automatically</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navigating to a destination</a:t>
            </a:r>
            <a:endParaRPr lang="en-US" sz="1300" b="0" u="none" strike="noStrike">
              <a:solidFill>
                <a:srgbClr val="000000"/>
              </a:solidFill>
              <a:effectLst/>
              <a:uFillTx/>
              <a:latin typeface="Arial"/>
            </a:endParaRPr>
          </a:p>
        </p:txBody>
      </p:sp>
      <p:sp>
        <p:nvSpPr>
          <p:cNvPr id="262" name="Shape 9"/>
          <p:cNvSpPr/>
          <p:nvPr/>
        </p:nvSpPr>
        <p:spPr>
          <a:xfrm>
            <a:off x="4892040" y="2715840"/>
            <a:ext cx="3930840" cy="21020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3" name="Shape 10"/>
          <p:cNvSpPr/>
          <p:nvPr/>
        </p:nvSpPr>
        <p:spPr>
          <a:xfrm>
            <a:off x="4892040" y="2715840"/>
            <a:ext cx="3930840" cy="3463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Text 11"/>
          <p:cNvSpPr/>
          <p:nvPr/>
        </p:nvSpPr>
        <p:spPr>
          <a:xfrm>
            <a:off x="4892040" y="2715840"/>
            <a:ext cx="3930840" cy="346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265" name="Text 12"/>
          <p:cNvSpPr/>
          <p:nvPr/>
        </p:nvSpPr>
        <p:spPr>
          <a:xfrm>
            <a:off x="4983480" y="3127320"/>
            <a:ext cx="3747960" cy="15991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Unlike reflex agents, goal-based agents ask: 'What will happen if I do X? Will that achieve my goal?' Knowledge is explicit and modifiable.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66"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7"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68"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4</a:t>
            </a:r>
            <a:endParaRPr lang="en-US" sz="2200" b="0" u="none" strike="noStrike">
              <a:solidFill>
                <a:srgbClr val="000000"/>
              </a:solidFill>
              <a:effectLst/>
              <a:uFillTx/>
              <a:latin typeface="Arial"/>
            </a:endParaRPr>
          </a:p>
        </p:txBody>
      </p:sp>
      <p:sp>
        <p:nvSpPr>
          <p:cNvPr id="269" name="Shape 3"/>
          <p:cNvSpPr/>
          <p:nvPr/>
        </p:nvSpPr>
        <p:spPr>
          <a:xfrm>
            <a:off x="320040" y="960120"/>
            <a:ext cx="8502840" cy="5475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0" name="Text 4"/>
          <p:cNvSpPr/>
          <p:nvPr/>
        </p:nvSpPr>
        <p:spPr>
          <a:xfrm>
            <a:off x="320040" y="960120"/>
            <a:ext cx="8502840" cy="547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Utility-Based Agent</a:t>
            </a:r>
            <a:endParaRPr lang="en-US" sz="2000" b="0" u="none" strike="noStrike">
              <a:solidFill>
                <a:srgbClr val="000000"/>
              </a:solidFill>
              <a:effectLst/>
              <a:uFillTx/>
              <a:latin typeface="Arial"/>
            </a:endParaRPr>
          </a:p>
        </p:txBody>
      </p:sp>
      <p:sp>
        <p:nvSpPr>
          <p:cNvPr id="271" name="Shape 5"/>
          <p:cNvSpPr/>
          <p:nvPr/>
        </p:nvSpPr>
        <p:spPr>
          <a:xfrm>
            <a:off x="320040" y="1645920"/>
            <a:ext cx="8502840" cy="9590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2" name="Text 6"/>
          <p:cNvSpPr/>
          <p:nvPr/>
        </p:nvSpPr>
        <p:spPr>
          <a:xfrm>
            <a:off x="502920" y="1691640"/>
            <a:ext cx="8228520" cy="867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Uses a utility function to compare world states — going beyond binary goal/no-goal to a graded measure of desirability. Maximizes expected utility across uncertain outcomes.</a:t>
            </a:r>
            <a:endParaRPr lang="en-US" sz="1400" b="0" u="none" strike="noStrike">
              <a:solidFill>
                <a:srgbClr val="000000"/>
              </a:solidFill>
              <a:effectLst/>
              <a:uFillTx/>
              <a:latin typeface="Arial"/>
            </a:endParaRPr>
          </a:p>
        </p:txBody>
      </p:sp>
      <p:sp>
        <p:nvSpPr>
          <p:cNvPr id="273" name="Text 7"/>
          <p:cNvSpPr/>
          <p:nvPr/>
        </p:nvSpPr>
        <p:spPr>
          <a:xfrm>
            <a:off x="320040" y="2715840"/>
            <a:ext cx="4113720" cy="31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274" name="Text 8"/>
          <p:cNvSpPr/>
          <p:nvPr/>
        </p:nvSpPr>
        <p:spPr>
          <a:xfrm>
            <a:off x="320040" y="3017520"/>
            <a:ext cx="4388040" cy="17362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Utility function = internalized performance measure</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Handles conflicting goals via principled tradeoffs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Handles uncertainty: weighs likelihood × importance of outcomes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Maximizes expected utility over probabilistic outcomes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balancing speed, safety, and passenger comfort</a:t>
            </a:r>
            <a:endParaRPr lang="en-US" sz="1300" b="0" u="none" strike="noStrike">
              <a:solidFill>
                <a:srgbClr val="000000"/>
              </a:solidFill>
              <a:effectLst/>
              <a:uFillTx/>
              <a:latin typeface="Arial"/>
            </a:endParaRPr>
          </a:p>
        </p:txBody>
      </p:sp>
      <p:sp>
        <p:nvSpPr>
          <p:cNvPr id="275" name="Shape 9"/>
          <p:cNvSpPr/>
          <p:nvPr/>
        </p:nvSpPr>
        <p:spPr>
          <a:xfrm>
            <a:off x="4892040" y="2715840"/>
            <a:ext cx="3930840" cy="21020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6" name="Shape 10"/>
          <p:cNvSpPr/>
          <p:nvPr/>
        </p:nvSpPr>
        <p:spPr>
          <a:xfrm>
            <a:off x="4892040" y="2715840"/>
            <a:ext cx="3930840" cy="3463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Text 11"/>
          <p:cNvSpPr/>
          <p:nvPr/>
        </p:nvSpPr>
        <p:spPr>
          <a:xfrm>
            <a:off x="4892040" y="2715840"/>
            <a:ext cx="3930840" cy="346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278" name="Text 12"/>
          <p:cNvSpPr/>
          <p:nvPr/>
        </p:nvSpPr>
        <p:spPr>
          <a:xfrm>
            <a:off x="4983480" y="3127320"/>
            <a:ext cx="3747960" cy="15991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Goals give binary happy/unhappy; utility gives a continuous measure. Essential when goals conflict or outcomes are uncertain.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79"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0"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81"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5: Learning Agent</a:t>
            </a:r>
            <a:endParaRPr lang="en-US" sz="2200" b="0" u="none" strike="noStrike">
              <a:solidFill>
                <a:srgbClr val="000000"/>
              </a:solidFill>
              <a:effectLst/>
              <a:uFillTx/>
              <a:latin typeface="Arial"/>
            </a:endParaRPr>
          </a:p>
        </p:txBody>
      </p:sp>
      <p:sp>
        <p:nvSpPr>
          <p:cNvPr id="282"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Four Components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Element — selects external actions (what we've described so far)</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Learning Element — improves performance using feedback from the critic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Critic — evaluates performance against a fixed external standard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Problem Generator — suggests exploratory actions to discover new information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Key advantages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Operates in initially unknown environments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Becomes more competent than initial knowledge alone allows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improve any component: reflex rules, world model, utility function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Exploration vs. Exploitation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Problem generator: short-term suboptimal actions → long-term better policy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Analogous to Galileo's experiments — deliberate exploration to update beliefs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Taxi: unexpected braking on wet roads → updates deceleration model</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83" name="Shape 0"/>
          <p:cNvSpPr/>
          <p:nvPr/>
        </p:nvSpPr>
        <p:spPr>
          <a:xfrm>
            <a:off x="0" y="0"/>
            <a:ext cx="9142920" cy="7761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4" name="Shape 1"/>
          <p:cNvSpPr/>
          <p:nvPr/>
        </p:nvSpPr>
        <p:spPr>
          <a:xfrm>
            <a:off x="0" y="777240"/>
            <a:ext cx="9142920" cy="630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85" name="Text 2"/>
          <p:cNvSpPr/>
          <p:nvPr/>
        </p:nvSpPr>
        <p:spPr>
          <a:xfrm>
            <a:off x="320040" y="0"/>
            <a:ext cx="85028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2.4.7 Representation: Atomic → Factored → Structured</a:t>
            </a:r>
            <a:endParaRPr lang="en-US" sz="2200" b="0" u="none" strike="noStrike">
              <a:solidFill>
                <a:srgbClr val="000000"/>
              </a:solidFill>
              <a:effectLst/>
              <a:uFillTx/>
              <a:latin typeface="Arial"/>
            </a:endParaRPr>
          </a:p>
        </p:txBody>
      </p:sp>
      <p:sp>
        <p:nvSpPr>
          <p:cNvPr id="286" name="Text 3"/>
          <p:cNvSpPr/>
          <p:nvPr/>
        </p:nvSpPr>
        <p:spPr>
          <a:xfrm>
            <a:off x="365760" y="960120"/>
            <a:ext cx="8411400" cy="39765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Atomic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World state = single indivisible 'black box'</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search algorithms (Ch. 3–5), HMMs (Ch. 14), MDPs (Ch. 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city name in a route-planning problem</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Factored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State = fixed set of variables/attributes with values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States can share attribute values → easier to reason about differences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CSPs, propositional logic, Bayesian networks, planning, most ML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GPS location, fuel level, oil warning light, toll money</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Structured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Objects and their explicit relationships described formally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relational databases, first-order logic, NLP</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Far more expressive but harder to reason with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'loose cow blocking truck reversing into dairy farm driveway'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287" name="Shape 0"/>
          <p:cNvSpPr/>
          <p:nvPr/>
        </p:nvSpPr>
        <p:spPr>
          <a:xfrm>
            <a:off x="0" y="0"/>
            <a:ext cx="163440" cy="5142600"/>
          </a:xfrm>
          <a:prstGeom prst="rect">
            <a:avLst/>
          </a:prstGeom>
          <a:solidFill>
            <a:srgbClr val="F4A020"/>
          </a:solidFill>
          <a:ln w="12700">
            <a:solidFill>
              <a:srgbClr val="F4A020"/>
            </a:solidFill>
            <a:round/>
          </a:ln>
        </p:spPr>
        <p:style>
          <a:lnRef idx="0"/>
          <a:fillRef idx="0"/>
          <a:effectRef idx="0"/>
          <a:fontRef idx="minor"/>
        </p:style>
        <p:txBody>
          <a:bodyPr lIns="81720" tIns="45000" rIns="81720" bIns="45000" anchor="t">
            <a:noAutofit/>
          </a:bodyPr>
          <a:p>
            <a:endParaRPr lang="en-US" sz="1800" b="0" u="none" strike="noStrike">
              <a:solidFill>
                <a:srgbClr val="000000"/>
              </a:solidFill>
              <a:effectLst/>
              <a:uFillTx/>
              <a:latin typeface="Arial"/>
            </a:endParaRPr>
          </a:p>
        </p:txBody>
      </p:sp>
      <p:sp>
        <p:nvSpPr>
          <p:cNvPr id="288" name="Text 1"/>
          <p:cNvSpPr/>
          <p:nvPr/>
        </p:nvSpPr>
        <p:spPr>
          <a:xfrm>
            <a:off x="457200" y="228600"/>
            <a:ext cx="8228520" cy="684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Full Lecture Summary — Chapters 1 &amp; 2</a:t>
            </a:r>
            <a:endParaRPr lang="en-US" sz="2600" b="0" u="none" strike="noStrike">
              <a:solidFill>
                <a:srgbClr val="FFFFFF"/>
              </a:solidFill>
              <a:effectLst/>
              <a:uFillTx/>
              <a:latin typeface="Arial"/>
            </a:endParaRPr>
          </a:p>
        </p:txBody>
      </p:sp>
      <p:sp>
        <p:nvSpPr>
          <p:cNvPr id="289" name="Text 2"/>
          <p:cNvSpPr/>
          <p:nvPr/>
        </p:nvSpPr>
        <p:spPr>
          <a:xfrm>
            <a:off x="457200" y="1005840"/>
            <a:ext cx="8319960" cy="3930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AI = building rational agents that maximize expected performance; the 'standard model' is shared with economics, control theory, and statistics.</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Four historical approaches: the rational agent view dominates because it is mathematically well-defined and general.</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Value alignment is AI's central unsolved problem: a fixed objective in a capable system can cause unintended harm.</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AI history cycles between enthusiasm and winters; deep learning is the current revolution; transformers, GPUs, big data.</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Today: AI meets or exceeds humans in perception, translation, game-playing, and specialized medical diagnosis.</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An agent's behavior = agent function (abstract) + agent program (concrete). Lookup tables are infeasible; compact programs are the goal.</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Task environments are characterized via PEAS and seven dimensions: observable, agents, determinism, episodic, static, discrete, known.</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Five agent types of increasing sophistication: Simple Reflex → Model-Based → Goal-Based → Utility-Based → Learning Agent.</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Representations scale in expressiveness: Atomic → Factored → Structured; more expressive = harder reasoning.</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290" name="Shape 0"/>
          <p:cNvSpPr/>
          <p:nvPr/>
        </p:nvSpPr>
        <p:spPr>
          <a:xfrm>
            <a:off x="0" y="0"/>
            <a:ext cx="163440" cy="5142600"/>
          </a:xfrm>
          <a:prstGeom prst="rect">
            <a:avLst/>
          </a:prstGeom>
          <a:solidFill>
            <a:srgbClr val="F4A020"/>
          </a:solidFill>
          <a:ln w="12700">
            <a:solidFill>
              <a:srgbClr val="F4A020"/>
            </a:solidFill>
            <a:round/>
          </a:ln>
        </p:spPr>
        <p:style>
          <a:lnRef idx="0"/>
          <a:fillRef idx="0"/>
          <a:effectRef idx="0"/>
          <a:fontRef idx="minor"/>
        </p:style>
        <p:txBody>
          <a:bodyPr lIns="81720" tIns="45000" rIns="81720" bIns="45000" anchor="t">
            <a:noAutofit/>
          </a:bodyPr>
          <a:p>
            <a:endParaRPr lang="en-US" sz="1800" b="0" u="none" strike="noStrike">
              <a:solidFill>
                <a:srgbClr val="000000"/>
              </a:solidFill>
              <a:effectLst/>
              <a:uFillTx/>
              <a:latin typeface="Arial"/>
            </a:endParaRPr>
          </a:p>
        </p:txBody>
      </p:sp>
      <p:sp>
        <p:nvSpPr>
          <p:cNvPr id="291" name="Text 1"/>
          <p:cNvSpPr/>
          <p:nvPr/>
        </p:nvSpPr>
        <p:spPr>
          <a:xfrm>
            <a:off x="457200" y="1371600"/>
            <a:ext cx="8228520" cy="913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200" b="1" u="none" strike="noStrike">
                <a:solidFill>
                  <a:srgbClr val="FFFFFF"/>
                </a:solidFill>
                <a:effectLst/>
                <a:uFillTx/>
                <a:latin typeface="Calibri"/>
                <a:ea typeface="Calibri"/>
              </a:rPr>
              <a:t>Questions?</a:t>
            </a:r>
            <a:endParaRPr lang="en-US" sz="4200" b="0" u="none" strike="noStrike">
              <a:solidFill>
                <a:srgbClr val="FFFFFF"/>
              </a:solidFill>
              <a:effectLst/>
              <a:uFillTx/>
              <a:latin typeface="Arial"/>
            </a:endParaRPr>
          </a:p>
        </p:txBody>
      </p:sp>
      <p:sp>
        <p:nvSpPr>
          <p:cNvPr id="292" name="Text 2"/>
          <p:cNvSpPr/>
          <p:nvPr/>
        </p:nvSpPr>
        <p:spPr>
          <a:xfrm>
            <a:off x="457200" y="2468880"/>
            <a:ext cx="8228520" cy="547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0" u="none" strike="noStrike">
                <a:solidFill>
                  <a:srgbClr val="CBD5E1"/>
                </a:solidFill>
                <a:effectLst/>
                <a:uFillTx/>
                <a:latin typeface="Calibri"/>
                <a:ea typeface="Calibri"/>
              </a:rPr>
              <a:t>Next lecture: Chapter 3 — Solving Problems by Searching</a:t>
            </a:r>
            <a:endParaRPr lang="en-US" sz="2000" b="0" u="none" strike="noStrike">
              <a:solidFill>
                <a:srgbClr val="FFFFFF"/>
              </a:solidFill>
              <a:effectLst/>
              <a:uFillTx/>
              <a:latin typeface="Arial"/>
            </a:endParaRPr>
          </a:p>
        </p:txBody>
      </p:sp>
      <p:sp>
        <p:nvSpPr>
          <p:cNvPr id="293" name="Text 3"/>
          <p:cNvSpPr/>
          <p:nvPr/>
        </p:nvSpPr>
        <p:spPr>
          <a:xfrm>
            <a:off x="457200" y="3063240"/>
            <a:ext cx="8228520" cy="456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64748B"/>
                </a:solidFill>
                <a:effectLst/>
                <a:uFillTx/>
                <a:latin typeface="Calibri"/>
                <a:ea typeface="Calibri"/>
              </a:rPr>
              <a:t>BFS, DFS, UCS, A* heuristic search — the backbone of classical AI planning</a:t>
            </a:r>
            <a:endParaRPr lang="en-US" sz="1500" b="0" u="none" strike="noStrike">
              <a:solidFill>
                <a:srgbClr val="FFFFFF"/>
              </a:solidFill>
              <a:effectLst/>
              <a:uFillTx/>
              <a:latin typeface="Arial"/>
            </a:endParaRPr>
          </a:p>
        </p:txBody>
      </p:sp>
      <p:sp>
        <p:nvSpPr>
          <p:cNvPr id="294" name="Text 4"/>
          <p:cNvSpPr/>
          <p:nvPr/>
        </p:nvSpPr>
        <p:spPr>
          <a:xfrm>
            <a:off x="457200" y="4480560"/>
            <a:ext cx="8228520" cy="41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COMP 469 · Artificial Intelligence · CSU Channel Islands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2026-06-07T05:41:19Z</dcterms:created>
  <dc:creator>COMP 469</dc:creator>
  <dc:description/>
  <dc:language>en-US</dc:language>
  <cp:lastModifiedBy/>
  <dcterms:modified xsi:type="dcterms:W3CDTF">2026-07-11T19:33:39Z</dcterms:modified>
  <cp:revision>9</cp:revision>
  <dc:subject>PptxGenJS Presentation</dc:subject>
  <dc:title>COMP 469 – Chapters 1 &amp; 2: Introduction + Intelligent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32</vt:i4>
  </property>
  <property fmtid="{D5CDD505-2E9C-101B-9397-08002B2CF9AE}" pid="3" name="PresentationFormat">
    <vt:lpwstr>On-screen Show (16:9)</vt:lpwstr>
  </property>
  <property fmtid="{D5CDD505-2E9C-101B-9397-08002B2CF9AE}" pid="4" name="Slides">
    <vt:i4>32</vt:i4>
  </property>
</Properties>
</file>