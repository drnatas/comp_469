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4389120"/>
            <a:ext cx="8979408" cy="754380"/>
          </a:xfrm>
          <a:prstGeom prst="rect">
            <a:avLst/>
          </a:prstGeom>
          <a:solidFill>
            <a:srgbClr val="0D1B36"/>
          </a:solidFill>
          <a:ln w="12700">
            <a:solidFill>
              <a:srgbClr val="0D1B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 &amp; 2: Introduction to AI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Intelligent Agents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&amp; Norvig · Artificial Intelligence: A Modern Approach (4th ed.)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469 – Artificial Intelligence  |  CSU Channel Islands  |  Two-Hour Lecture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Two-Hour Lecture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Chapter 1: Introduction to AI  (~55 min)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AI? Four approaches and the standard model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Foundations: Philosophy, Math, Economics, Neuroscience, Linguistics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AI: from inception to deep learning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 and real-world applications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benefits: autonomous weapons, bias, alignment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10-Minute Break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Chapter 2: Intelligent Agents  (~55 min)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environments, percepts, and the agent function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Rationality, PEAS, and task environment properties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agent architectures and representation schemes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1: Introduction to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4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~55 minutes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What Is AI?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concerned with understanding AND building intelligent entities — machines that compute how to act effectively and safely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generating &gt; $1 trillion/year in revenue (and growing rapidly)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central dimensions create four approaches: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vs. Rational (fidelity to humans vs. formal optimality)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vs. Behavior (internal processes vs. external action)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prevailing view: the Standard Model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focused on rational action — doing the right thing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'Right thing' is defined by the objective provided to the agent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control theory, operations research, economics, statistics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refinement: perfect rationality is computationally intractable — limited rationality and value alignment are critical concerns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Four Approaches to AI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914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0" y="914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 rot="16200000">
            <a:off x="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 rot="16200000">
            <a:off x="0" y="36576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1280160"/>
            <a:ext cx="3749040" cy="155448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13716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Humanly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73736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modeling approach.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GPS: match human problem-solving steps (Newell &amp; Simon)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1280160"/>
            <a:ext cx="3749040" cy="1554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12080" y="13716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Rationally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73736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Thought approach.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and formal deduction; Aristotle's syllogisms → first-order logic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05840" y="3017520"/>
            <a:ext cx="3749040" cy="15544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97280" y="3108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Humanly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47472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Test approach.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Behaviorally indistinguishable from human via NLP, knowledge, reasoning, ML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20640" y="3017520"/>
            <a:ext cx="3749040" cy="1554480"/>
          </a:xfrm>
          <a:prstGeom prst="rect">
            <a:avLst/>
          </a:prstGeom>
          <a:solidFill>
            <a:srgbClr val="1B6B3A"/>
          </a:solidFill>
          <a:ln w="12700">
            <a:solidFill>
              <a:srgbClr val="1B6B3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212080" y="3108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Rationally 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347472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 Agent approach (dominant).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expected performance; mathematically well-defined &amp; general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The Value Alignment Problem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model: provide the machine a fixed objective → maximize it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controlled environments where objectives can be reset and refined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as systems become more capable and deployed in the real world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Midas Problem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chess machine told to 'win at all costs' might hypnotize, blackmail, or bribe its opponent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behaviors are logically optimal for the stated objective — but not what we desire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intelligent the system, the more severe the misalignment consequences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machines that know they don't know the objective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fixed objectives → pursue human objectives under uncertainty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incentive to be switched off if uncertain about human goals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reinforcement learning: learn preferences from human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Norbert Wiener (1960): 'If we use a mechanical agency with whose operation we cannot interfere effectively … we had better be quite sure that the purpose put into the machine is the purpose which we really desire.'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Foundations of AI — Seven Disciplines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Philosophy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formal rules draw valid conclusions? → Aristotle's syllogisms, logic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mind relate to brain? Dualism vs. materialism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Consequentialism (Mill) vs. Deontological ethics (Kant)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Mathematics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logic (Boole → Frege → Gödel → Turing)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theory: Bayes' rule, decision theory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Computability &amp; tractability: Church-Turing thesis, NP-completeness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Economics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utility maximization (Bernoulli, von Neumann)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theory for multiagent settings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decisions: MDPs (Bellman, 1957); satisficing (Simon)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Neuroscience + Psychology + Linguistics + Engineering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Neurons, Hebbian learning, brain-machine interfaces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psychology: brain as information processor (Craik 1943)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Chomsky: language requires formal, learnable models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hardware: Moore's Law, GPUs, TPUs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1.2.2 Mathematical Foundations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&amp; Computation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 (1847): Boolean / propositional logic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(1879): first-order logic with objects &amp; relations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Gödel incompleteness theorem (1931): some truths have no proof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(1936): Church-Turing thesis — defines computability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also proved some functions are uncomputable (halting problem)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Tractability: polynomial vs. exponential; NP-completeness (Cook 1971)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&amp; Statistics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Cardano (1501): first formal probability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(1702): updating probabilities from evidence — Bayes' rule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Laplace, Bernoulli: statistical foundations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(1922): modern statistics — experiment design + analysis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probability generalizes logic to uncertain worlds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data → modern ML and Bayesian networks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History of AI – Key Eras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331720"/>
            <a:ext cx="8412480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9424"/>
            <a:ext cx="256032" cy="256032"/>
          </a:xfrm>
          <a:prstGeom prst="ellipse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7F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1943–56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3A7F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05256" y="1737360"/>
            <a:ext cx="0" cy="512064"/>
          </a:xfrm>
          <a:prstGeom prst="line">
            <a:avLst/>
          </a:prstGeom>
          <a:noFill/>
          <a:ln w="19050">
            <a:solidFill>
              <a:srgbClr val="3A7FD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65760" y="2542032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McCulloch &amp; Pitts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Dartmouth 1956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57400" y="2249424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105156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LISP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Microworlds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85416" y="1783080"/>
            <a:ext cx="0" cy="475488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645920" y="2578608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1952–69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Hype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83280" y="2249424"/>
            <a:ext cx="256032" cy="256032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1800" y="960120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1966–73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Winter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11296" y="1737360"/>
            <a:ext cx="0" cy="512064"/>
          </a:xfrm>
          <a:prstGeom prst="line">
            <a:avLst/>
          </a:prstGeom>
          <a:noFill/>
          <a:ln w="19050">
            <a:solidFill>
              <a:srgbClr val="8B1A1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971800" y="2542032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Intractability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Lighthill report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2249424"/>
            <a:ext cx="256032" cy="256032"/>
          </a:xfrm>
          <a:prstGeom prst="ellipse">
            <a:avLst/>
          </a:prstGeom>
          <a:solidFill>
            <a:srgbClr val="1B6B3A"/>
          </a:solidFill>
          <a:ln w="12700">
            <a:solidFill>
              <a:srgbClr val="1B6B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51960" y="105156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DENDRAL, MYCIN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$billions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91456" y="1783080"/>
            <a:ext cx="0" cy="475488"/>
          </a:xfrm>
          <a:prstGeom prst="line">
            <a:avLst/>
          </a:prstGeom>
          <a:noFill/>
          <a:ln w="19050">
            <a:solidFill>
              <a:srgbClr val="1B6B3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251960" y="2578608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1969–86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Sys.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2249424"/>
            <a:ext cx="256032" cy="256032"/>
          </a:xfrm>
          <a:prstGeom prst="ellipse">
            <a:avLst/>
          </a:prstGeom>
          <a:solidFill>
            <a:srgbClr val="1A4FA0"/>
          </a:solidFill>
          <a:ln w="12700">
            <a:solidFill>
              <a:srgbClr val="1A4F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2120" y="960120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1986+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71616" y="1737360"/>
            <a:ext cx="0" cy="512064"/>
          </a:xfrm>
          <a:prstGeom prst="line">
            <a:avLst/>
          </a:prstGeom>
          <a:noFill/>
          <a:ln w="19050">
            <a:solidFill>
              <a:srgbClr val="1A4FA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532120" y="2542032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Connectionism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249424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105156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nets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MDPs, RL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51776" y="1783080"/>
            <a:ext cx="0" cy="475488"/>
          </a:xfrm>
          <a:prstGeom prst="line">
            <a:avLst/>
          </a:prstGeom>
          <a:noFill/>
          <a:ln w="19050">
            <a:solidFill>
              <a:srgbClr val="6D2E4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812280" y="2578608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1987+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Reason.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412480" y="2249424"/>
            <a:ext cx="256032" cy="256032"/>
          </a:xfrm>
          <a:prstGeom prst="ellipse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01000" y="960120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2011+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540496" y="1737360"/>
            <a:ext cx="0" cy="512064"/>
          </a:xfrm>
          <a:prstGeom prst="line">
            <a:avLst/>
          </a:prstGeom>
          <a:noFill/>
          <a:ln w="19050">
            <a:solidFill>
              <a:srgbClr val="0F2B5B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8001000" y="2542032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ImageNet, AlphaGo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8412480" cy="12344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657600"/>
            <a:ext cx="8412480" cy="347472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65760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Turing Award Milestones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04164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Minsky &amp; McCarthy (1969, 1971) · Feigenbaum &amp; Reddy (1994) · Judea Pearl (2011) · Bengio, Hinton, LeCun (2019)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Inception &amp; Early Enthusiasm (1943–1969)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1943: McCulloch &amp; Pitts — artificial neuron model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computable function can be computed by a network of neurons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connectives implementable with simple network structures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1950: Turing — 'Computing Machinery and Intelligence'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the Turing Test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introduced: machine learning, genetic algorithms, reinforcement learning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1956: Dartmouth Workshop — AI is officially 'born'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McCarthy coined the term 'Artificial Intelligence'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researchers; Newell &amp; Simon presented Logic Theorist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1952–1969: Early successes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GPS: General Problem Solver — imitated human problem-solving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Checkers (Samuel): first program to outplay its creator via RL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LISP (McCarthy, 1958): dominant AI language for 30 years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Microworlds: SAINT (calculus), STUDENT (algebra), blocks world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Dose of Reality → Expert Systems (1966–1986)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 Winter (1966–1973)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systems worked on tiny problems; failed badly on harder ones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Combinatorial explosion: scaling up is not just faster hardware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Minsky &amp; Papert (1969): perceptrons cannot represent XOR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Lighthill Report (1973): UK government ends AI funding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general 'weak methods' don't scale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solidFill>
            <a:srgbClr val="1B6B3A"/>
          </a:solidFill>
          <a:ln w="12700">
            <a:solidFill>
              <a:srgbClr val="1B6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Systems (1969–1986)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DENDRAL (1969): infer molecular structure from mass spectrometer data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MYCIN: 450 rules → diagnostic performance matching experts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(DEC): saved $40M/year by 1986 configuring computer orders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industry: few million (1980) → billions (1988)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AI Winter: brittleness, inability to handle uncertainty, no learning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Modern AI: Neural Nets → Probabilistic → Deep Learning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1986: Backpropagation rediscovered → connectionist revolution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Distributed Processing (Rumelhart &amp; McClelland)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Challenged symbolic AI; debate: symbols vs. distributed representations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1987+: Probabilistic reasoning &amp; machine learning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Judea Pearl (1988): Bayesian networks — rigorous uncertain reasoning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Sutton: reinforcement learning + MDPs unified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recognition: HMMs dominate; data-driven, mathematically grounded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datasets: ImageNet, SQuAD, LibriSpeech become standard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2001+: Big Data + Deep Learning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images, billions of words → learning algorithms flourish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ImageNet: Hinton's group CNN — dramatic leap over prior systems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AlphaGo (2016) beats world Go champion; AlphaZero: purely self-play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2017: Microsoft achieves human parity on Switchboard speech recognition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State of the Art — What AI Can Do Today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&amp; Language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recognition: error rate 28% (2010) → 2% (2017) — beats humans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recognition: word error rate 5.1%, matching human performance (2017)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translation: 100+ languages, 99% of humans' native tongues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answering (SQuAD): F1 score 95, exceeds human benchmark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Decision Making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 (Deep Blue, 1997), Go (AlphaGo, 2016), Poker, StarCraft II, Dota 2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planning: NASA Remote Agent; DART saved 30 years of DARPA investment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vehicles: Waymo at 10M miles; autonomous drones delivering blood in Rwanda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&amp; Medicine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≥ expert doctors at diagnosing Alzheimer's, metastatic cancer, skin disease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Human-AI partnerships outperform either alone (LYNA: 99.6% accuracy)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AlphaFold: protein structure prediction — decades-old biology challenge solved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models detect extreme weather patterns buried in climate data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Risks and Benefits of AI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solidFill>
            <a:srgbClr val="1B6B3A"/>
          </a:solidFill>
          <a:ln w="12700">
            <a:solidFill>
              <a:srgbClr val="1B6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humanity from menial, repetitive work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increase production of goods and services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scientific research: cures, climate solutions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 Hassabis: 'First solve AI, then use AI to solve everything else'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AI already equals or exceeds specialists in several diagnostics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helps 100M+ people daily with navigation, translation, recommendations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Lethal autonomous weapons: scalable, no human supervision required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surveillance: speech/vision AI enables real-time monitoring at scale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Biased decision making: parole, loans — reflecting and amplifying societal bias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disruption: shifts wealth from labor to capital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 failures: self-driving fatal accidents; formal verification gaps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Cybersecurity: RL-powered phishing/blackmail; automated malware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B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AI's goal: build agents that act rationally — maximizing expected performance given an objective.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historical approaches: acting/thinking humanly vs. rationally. The rational agent approach dominates.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alignment: machines pursuing a fixed objective can cause harm; future AI must handle uncertain objectives.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founding disciplines: Philosophy, Mathematics, Economics, Neuroscience, Psychology, Linguistics, CS.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follows cycles: enthusiasm → failure → new approach. Deep learning is the latest revolution.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art: AI now matches or exceeds humans in perception, translation, diagnosis, and complex games.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are real: autonomous weapons, surveillance, bias, employment disruption, misaligned superintelligence.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10-MINUTE BREAK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grab water, check questions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4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Resuming with Chapter 2: Intelligent Agents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2: Intelligent Agents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4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~55 minutes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— What We'll Cover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Agents and Environments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Percepts, actions, and the agent function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lookup tables fail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Good Behavior: Rationality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measures and the definition of rationality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Rationality vs. omniscience; autonomy and learning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Task Environments (PEAS)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Specifying the task environment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key dimensions every AI designer must consider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Agent Architectures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Reflex → Model-Based → Goal-Based → Utility-Based → Learning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Atomic, Factored, and Structured representations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What Is an Agent?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perceives its environment through sensors and acts upon it through actuators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→ eyes/ears, hands/voice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→ cameras/lidar, motors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agent → file/network inputs, file writes/API calls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 &amp; Percept Sequence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 = content the sensors are perceiving right now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 sequence = complete history of all past percepts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Agent's action may depend on the entire percept history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Function vs. Agent Program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function: abstract math — maps percept sequence → action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program: concrete implementation on hardware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 function; many possible programs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Why a Lookup Table Fails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table-driven agent explicitly stores the correct action for every possible percept sequence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astronomically large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with 8 cameras at 70 MB/s → &gt; 10⁶⁰⁰,⁰⁰⁰,⁰⁰⁰ entries per hour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 alone: at least 10¹⁵⁰ entries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atoms in the universe: &lt; 10⁸⁰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practical failures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physical agent has space to store the table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designer has time to construct it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could learn all entries from experience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AI challenge: write compact programs that produce rational behavior — like Newton's method replaced printed square-root tables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Rationality — The Four Factors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determines rational action?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performance measure — criterion of success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Prior knowledge of the environment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actions the agent can perform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The agent's percept sequence to date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rational agent selects the action that maximizes expected performance given its percept sequence and built-in knowledge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measure design pitfalls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'dirt cleaned' → agent dumps and re-cleans to game the score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Better: reward clean floor at each time step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rule: measure what you actually want, not how you expect the agent to behave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 the King Midas / value alignment problem from Ch. 1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Rationality vs. Omniscience vs. Autonomy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Maximizes expected performance given available information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require knowing the actual outcome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gathering is part of rational behavior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learn from percepts to improve over time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'Look both ways before crossing' is rationally required even if no truck is coming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100584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Omniscience / Autonomy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Omniscient = knows the actual outcome — impossible in reality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Rationality ≠ perfection (cargo door example)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= relying on own learning, not just designer's prior knowledge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 agents should learn to compensate for incomplete priors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Sphex wasp: lacks autonomy → repeats failed plan forever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PEAS: Specifying the Task Environment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Performance Measure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success look like? (safety, speed, profit, comfort…)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Environment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agent operate in? (roads, weather, passengers…)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Actuators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agent act? (steering, braking, display, voice…)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Sensors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agent perceive? (cameras, lidar, GPS, microphone…)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Taxi Example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correct destination, safety, fuel, legality, comfort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roads, traffic, pedestrians, weather, passengers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Actuators: accelerator, brakes, steering, horn, touchscreen display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Sensors: cameras, lidar, ultrasound, speedometer, GPS, touchscreen input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Properties of Task Environments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Observable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31720" y="105156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96596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96596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31720" y="205740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Multiagent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7180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97180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0175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31720" y="306324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30175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Nondeterministic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97764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97764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0233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31720" y="406908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3160" y="40233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96012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96012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66560" y="105156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196596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09160" y="196596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66560" y="205740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09160" y="2971800"/>
            <a:ext cx="4114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2971800"/>
            <a:ext cx="2057400" cy="822960"/>
          </a:xfrm>
          <a:prstGeom prst="rect">
            <a:avLst/>
          </a:prstGeom>
          <a:solidFill>
            <a:srgbClr val="D6E8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30175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66560" y="3063240"/>
            <a:ext cx="0" cy="6400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0175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09160" y="4114800"/>
            <a:ext cx="4114800" cy="82296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4114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driving is hard in all 7 dimensions!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Agent Type 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Reflex Agent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" y="16459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actions based solely on the current percept — ignores percept history entirely. Uses condition-action rules: if car-in-front-is-braking → initiate-braking.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27157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017520"/>
            <a:ext cx="4389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internal state — stateless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works in fully observable environments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to infinite loops when partially observable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can sometimes help escape loops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basic vacuum agent (Dirty→Suck, else move)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2715768"/>
            <a:ext cx="3931920" cy="21031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Idea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3127248"/>
            <a:ext cx="3749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fast, but fragile. Fails whenever the current percept alone is not enough to determine the correct action.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Agent Type 2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Reflex Agent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" y="16459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an internal state to track parts of the world it cannot currently observe. Uses a transition model (how the world changes) and a sensor model (how state is reflected in percepts).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27157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017520"/>
            <a:ext cx="4389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internal state — handles partial observability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model: effects of actions + world evolution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model: maps world state to percepts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internal state with each new percept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taxi tracking positions of occluded vehicles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2715768"/>
            <a:ext cx="3931920" cy="21031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Idea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3127248"/>
            <a:ext cx="3749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'best guess' of world state. Enables smarter behavior in partially observable environments where the current percept alone is insufficient.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Agent Type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Goal-Based Agent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" y="16459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a world model with explicit goal information describing desired situations. Uses search (Ch. 3–5) or planning (Ch. 11) to find action sequences that achieve the goal.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27157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017520"/>
            <a:ext cx="4389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goal representation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Considers future consequences of actions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search or planning algorithms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flexible: change the goal → behavior changes automatically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taxi navigating to a destination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2715768"/>
            <a:ext cx="3931920" cy="21031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Idea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3127248"/>
            <a:ext cx="3749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reflex agents, goal-based agents ask: 'What will happen if I do X? Will that achieve my goal?' Knowledge is explicit and modifiable.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Agent Type 4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solidFill>
            <a:srgbClr val="3A7FD5"/>
          </a:solidFill>
          <a:ln w="12700">
            <a:solidFill>
              <a:srgbClr val="3A7F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Utility-Based Agent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" y="16459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utility function to compare world states — going beyond binary goal/no-goal to a graded measure of desirability. Maximizes expected utility across uncertain outcomes.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27157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017520"/>
            <a:ext cx="4389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function = internalized performance measure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conflicting goals via principled tradeoffs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uncertainty: weighs likelihood × importance of outcomes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Maximizes expected utility over probabilistic outcomes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taxi balancing speed, safety, and passenger comfort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2715768"/>
            <a:ext cx="3931920" cy="21031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715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Idea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3127248"/>
            <a:ext cx="3749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give binary happy/unhappy; utility gives a continuous measure. Essential when goals conflict or outcomes are uncertain.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Agent Type 5: Learning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Components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Element — selects external actions (what we've described so far)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Element — improves performance using feedback from the critic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— evaluates performance against a fixed external standard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Generator — suggests exploratory actions to discover new information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in initially unknown environments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more competent than initial knowledge alone allows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improve any component: reflex rules, world model, utility function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vs. Exploitation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generator: short-term suboptimal actions → long-term better policy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Analogous to Galileo's experiments — deliberate exploration to update beliefs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Taxi: unexpected braking on wet roads → updates deceleration model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2.4.7 Representation: Atomic → Factored → Structured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Representation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= single indivisible 'black box'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in: search algorithms (Ch. 3–5), HMMs (Ch. 14), MDPs (Ch. 17)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city name in a route-planning problem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Factored Representation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fixed set of variables/attributes with values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can share attribute values → easier to reason about differences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in: CSPs, propositional logic, Bayesian networks, planning, most ML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GPS location, fuel level, oil warning light, toll money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F2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Representation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and their explicit relationships described formally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in: relational databases, first-order logic, NLP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more expressive but harder to reason with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'loose cow blocking truck reversing into dairy farm driveway'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B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Lecture Summary — Chapters 1 &amp; 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= building rational agents that maximize expected performance; the 'standard model' is shared with economics, control theory, and statistics.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historical approaches: the rational agent view dominates because it is mathematically well-defined and general.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alignment is AI's central unsolved problem: a fixed objective in a capable system can cause unintended harm.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history cycles between enthusiasm and winters; deep learning is the current revolution — transformers, GPUs, big data.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AI meets or exceeds humans in perception, translation, game-playing, and specialized medical diagnosis.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agent's behavior = agent function (abstract) + agent program (concrete). Lookup tables are infeasible; compact programs are the goal.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environments are characterized via PEAS and seven dimensions: observable, agents, determinism, episodic, static, discrete, known.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agent types of increasing sophistication: Simple Reflex → Model-Based → Goal-Based → Utility-Based → Learning Agent.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Representations scale in expressiveness: Atomic → Factored → Structured; more expressive = harder reasoning.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020"/>
          </a:solidFill>
          <a:ln w="12700">
            <a:solidFill>
              <a:srgbClr val="F4A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Chapter 3 — Solving Problems by Searching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BFS, DFS, UCS, A* heuristic search — the backbone of classical AI planning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469 · Artificial Intelligence · CSU Channel Islands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 469 – Chapters 1 &amp; 2: Introduction + Intelligent Agents</dc:title>
  <dc:subject>PptxGenJS Presentation</dc:subject>
  <dc:creator>COMP 469</dc:creator>
  <cp:lastModifiedBy>COMP 469</cp:lastModifiedBy>
  <cp:revision>1</cp:revision>
  <dcterms:created xsi:type="dcterms:W3CDTF">2026-06-07T05:41:19Z</dcterms:created>
  <dcterms:modified xsi:type="dcterms:W3CDTF">2026-06-07T05:41:19Z</dcterms:modified>
</cp:coreProperties>
</file>