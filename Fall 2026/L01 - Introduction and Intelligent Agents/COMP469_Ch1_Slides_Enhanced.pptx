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A43"/>
                </a:solidFill>
                <a:latin typeface="Calibri"/>
              </a:defRPr>
            </a:pPr>
            <a:r>
              <a:rPr sz="1300" b="0" i="0" u="none" strike="noStrike">
                <a:solidFill>
                  <a:srgbClr val="102A43"/>
                </a:solidFill>
                <a:latin typeface="Calibri"/>
              </a:rPr>
              <a:t>Growth multiple vs. baseline year</a:t>
            </a:r>
          </a:p>
        </c:rich>
      </c:tx>
      <c:layout/>
      <c:overlay val="0"/>
    </c:title>
    <c:autoTitleDeleted val="0"/>
    <c:plotArea>
      <c:layout/>
      <c:barChart>
        <c:barDir val="bar"/>
        <c:grouping val="clustered"/>
        <c:varyColors val="0"/>
        <c:ser>
          <c:idx val="0"/>
          <c:order val="0"/>
          <c:tx>
            <c:strRef>
              <c:f>Sheet1!$B$1</c:f>
              <c:strCache>
                <c:ptCount val="1"/>
                <c:pt idx="0">
                  <c:v>Growth multiple</c:v>
                </c:pt>
              </c:strCache>
            </c:strRef>
          </c:tx>
          <c:spPr>
            <a:solidFill>
              <a:srgbClr val="247BA0"/>
            </a:solidFill>
            <a:effectLst/>
          </c:spPr>
          <c:invertIfNegative val="0"/>
          <c:dLbls>
            <c:numFmt formatCode="0&quot;×&quot;" sourceLinked="0"/>
            <c:txPr>
              <a:bodyPr/>
              <a:lstStyle/>
              <a:p>
                <a:pPr>
                  <a:defRPr b="0" i="0" strike="noStrike" sz="1100" u="none">
                    <a:solidFill>
                      <a:srgbClr val="102A4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International course enrollment</c:v>
                  </c:pt>
                  <c:pt idx="1">
                    <c:v>AI papers published per year</c:v>
                  </c:pt>
                  <c:pt idx="2">
                    <c:v>US AI startups</c:v>
                  </c:pt>
                  <c:pt idx="3">
                    <c:v>NeurIPS attendance</c:v>
                  </c:pt>
                  <c:pt idx="4">
                    <c:v>US course enrollment</c:v>
                  </c:pt>
                </c:lvl>
              </c:multiLvlStrCache>
            </c:multiLvlStrRef>
          </c:cat>
          <c:val>
            <c:numRef>
              <c:f>Sheet1!$B$2:$B$6</c:f>
              <c:numCache>
                <c:formatCode>General</c:formatCode>
                <c:ptCount val="5"/>
                <c:pt idx="0">
                  <c:v>16</c:v>
                </c:pt>
                <c:pt idx="1">
                  <c:v>20</c:v>
                </c:pt>
                <c:pt idx="2">
                  <c:v>20</c:v>
                </c:pt>
                <c:pt idx="3">
                  <c:v>9</c:v>
                </c:pt>
                <c:pt idx="4">
                  <c:v>5</c:v>
                </c:pt>
              </c:numCache>
            </c:numRef>
          </c:val>
        </c:ser>
        <c:dLbls>
          <c:numFmt formatCode="0&quot;×&quot;" sourceLinked="0"/>
          <c:txPr>
            <a:bodyPr/>
            <a:lstStyle/>
            <a:p>
              <a:pPr>
                <a:defRPr b="0" i="0" strike="noStrike" sz="1100" u="none">
                  <a:solidFill>
                    <a:srgbClr val="102A43"/>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24"/>
        </c:scaling>
        <c:delete val="0"/>
        <c:axPos val="b"/>
        <c:majorGridlines>
          <c:spPr>
            <a:ln w="12700" cap="flat">
              <a:solidFill>
                <a:srgbClr val="D9E2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B8794"/>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supplements the main Chapter 1 lecture slides. It follows the chapter's own structure: 1.1 defines AI, 1.2 traces the disciplines AI borrowed from, 1.3 gives the history, 1.4 reports where the field stands, and 1.5 covers risks and benefits. Each slide carries the section number in the top-left corner so it can be dropped into the main deck at the matching point.
[Sources]
Russell &amp; Norvig, Artificial Intelligence: A Modern Approach, Chapter 1, full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refinement to the standard model that the chapter introduces late in Section 1.1 and returns to in 1.5. Under the standard model we specify an objective and the machine optimizes it. That worked for most of AI's history because systems lived in labs and simulators, where a badly specified objective could simply be corrected. The value alignment problem is the requirement that the objective inside the machine match the objective humans actually hold. The King Midas problem is the characteristic failure: Midas asked that everything he touched turn to gold and got precisely that. The chess example in the chapter makes the point concrete: a system intelligent enough to reason beyond the board could raise its win probability by means that have nothing to do with chess. The proposed direction is a machine that knows it does not know the true objective, which gives it a reason to defer to humans and to accept being switched off.
[Sources]
Russell &amp; Norvig, Artificial Intelligence: A Modern Approach, Chapter 1, Section 1.1.5, Beneficial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Philosophy contributes four things the chapter organizes as questions. First, that valid conclusions can be drawn by formal rule: Aristotle's syllogisms are patterns that always yield correct conclusions from correct premises, and Llull actually tried to build a device to run them. Second, the mind-body question: Descartes drew the line between mind and matter, while materialism holds that the brain operating by physical law constitutes the mind. The materialist position is what makes machine intelligence coherent as a goal. Third, where knowledge comes from: empiricism roots it in the senses, Hume's principle of induction explains how general rules are acquired, and logical positivism and confirmation theory connect sentences to observation. Fourth, the link from knowledge to action. Aristotle described deliberating about means rather than ends, which is a greedy means-ends planning algorithm, and Newell and Simon implemented essentially that in the General Problem Solver. The ethics thread matters for Section 1.5: utilitarian reasoning maximizes expected outcome, deontological reasoning follows rules regardless of outcome.
[Sources]
Russell &amp; Norvig, Artificial Intelligence: A Modern Approach, Chapter 1, Section 1.2.1, Philosophy.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mathematical threads feed AI. Logic: Boole formalized propositional logic, and Frege extended it to objects and relations, producing first-order logic, which is Chapter 8 of this book. Computation: Godel showed that in any formal theory strong enough for arithmetic there are true statements with no proof, and Turing characterized which functions can be computed at all. The Church-Turing thesis identifies computability with what a Turing machine can do. But the more consequential idea for AI is tractability, not computability. A problem is intractable if solution time grows exponentially with input size, and no realistic hardware improvement fixes an exponent. NP-completeness gives us a way to recognize when a problem is likely intractable, which is why so much of this course is about heuristics and approximation. Probability: from Cardano and the Pascal-Fermat correspondence through Bayes' rule, mathematics supplied the machinery for reasoning when knowledge is not certain, which is where AI moved after the expert-systems era.
[Sources]
Russell &amp; Norvig, Artificial Intelligence: A Modern Approach, Chapter 1, Section 1.2.2, Mathematics.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Economics is where the phrase acting rationally gets a precise definition. Utility theory says a rational agent has preferences over outcomes and acts to maximize expected utility; Bernoulli noticed that utility is not proportional to money, which is why we talk about utility rather than payoff. Decision theory combines utility with probability and gives a complete framework for individual decisions under uncertainty; this is the backbone of Chapters 15 through 17. Game theory covers the case where other rational agents are in the environment, and one of its surprising results is that the rational strategy can require randomization. Operations research addressed the question economists largely skipped, namely decisions whose payoff arrives only after a sequence of actions, and produced Markov decision processes, which are the foundation of reinforcement learning. Finally, Herbert Simon won the Nobel Prize in economics for showing that satisficing models of decision making describe actual human behavior better than optimizing models. That connects directly to the limited rationality point from Section 1.1.
[Sources]
Russell &amp; Norvig, Artificial Intelligence: A Modern Approach, Chapter 1, Section 1.2.3,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Neuroscience answers one question for the chapter: how do brains process information? The historical arc runs from Broca's 1861 study of aphasia, which localized speech production to a specific area, through the recognition of the neuron as the brain's basic unit, to Hebb's 1949 proposal that learning is a change in connection strength. Measurement followed: EEG in 1929 and functional MRI around 1990 made activity in an intact brain observable. Brain-machine interface work produced a striking finding, that the brain can adapt to control an external device much as it controls a limb. The comparison table in the chapter is worth pausing on. Computers have a cycle time about a million times shorter than a neuron's, yet the brain has far more storage and vastly more interconnection, and it does this at very low power. The lesson is not that one is better, but that raw clock speed is a poor proxy for intelligence, so predictions built on hardware curves alone should be treated with caution.
[Sources]
Russell &amp; Norvig, Artificial Intelligence: A Modern Approach, Chapter 1, Section 1.2.4, Neuroscience.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Behaviorism and cognitive psychology give two different ways to think about intelligence. Behaviorism focuses on what can be observed directly: the stimulus presented to an animal or person and the resulting response. This helped make psychology more objective, but it avoided explanations based on beliefs, goals, or internal mental processes. Cognitive psychology moved back toward the idea that the brain can be studied as an information-processing system. Kenneth Craik described a knowledge-based agent as translating a stimulus into an internal representation, manipulating that representation, and then translating the result into action. This is important for AI because many intelligent systems need some internal model of the world, not just a direct stimulus-response mapping.
[Sources]
Russell &amp; Norvig, Artificial Intelligence: A Modern Approach, Chapter 1, Section 1.2.5, Psychology.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answers how we build an efficient computer, but the useful framing for this course is that hardware sets the ceiling on what AI ideas are practical. The mechanical prehistory matters: Jacquard's loom was programmable, Babbage designed both the Difference Engine and the Analytical Engine, and Ada Lovelace described the latter as a reasoning machine while also cautioning against inflated expectations, which is arguably the first written warning about an AI hype cycle. Electronic computing arrived in the 1940s out of wartime code-breaking and ballistics work. The two numbers on the right are the ones to remember. Moore's law gave roughly an 18-month doubling until about 2005, when power dissipation pushed manufacturers toward multiple cores instead of faster clocks. Then from 2012 to 2018 the compute used to train the top machine learning systems increased by a factor of about 300,000, doubling roughly every 3.4 months. That is a fundamentally different growth regime, and it explains why deep learning took off when it did rather than in the 1980s.
[Sources]
Russell &amp; Norvig, Artificial Intelligence: A Modern Approach, Chapter 1, Section 1.2.6, Computer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theory answers how an artifact can operate under its own control. The oldest example in the chapter is the water clock of Ktesibios, which used a regulator to hold a constant flow rate. That is worth emphasizing: before self-regulating machines, modifying behavior in response to the environment was something only living things did. The steam engine governor and the thermostat are the same idea. In the postwar period Norbert Wiener made control and communication in animals and machines a single subject, which he named cybernetics, and Ross Ashby argued that intelligence could emerge from homeostatic devices with the right feedback loops. Modern stochastic optimal control designs systems that minimize a cost function over time, which is very close to the standard model of AI. So why are they separate fields? Largely tooling and representation. Control theory works with continuous variables and calculus, which suits fixed objectives in well-characterized systems. AI needed discrete, symbolic structures for language, planning, and reasoning, which those tools did not reach. The two are converging again.
[Sources]
Russell &amp; Norvig, Artificial Intelligence: A Modern Approach, Chapter 1, Section 1.2.7, Control theory and cybernetics.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why linguistics became important to AI. The behaviorist account of language treated language learning as stimulus and response. Noam Chomsky criticized this because people, especially children, can understand and produce sentences they have never heard before. His theory emphasized formal structures in language, which made language seem programmable in principle. Modern natural language processing grew out of this intersection between linguistics and AI. The chapter also stresses that language understanding is more than syntax. To understand a sentence, a system often needs knowledge of the subject matter and context.
[Sources]
Russell &amp; Norvig, Artificial Intelligence: A Modern Approach, Chapter 1, Section 1.2.8, Linguistics.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founding period draws on three separate traditions at once. McCulloch and Pitts in 1943 combined what was known about neurons, a formal treatment of propositional logic, and Turing's theory of computation into a model of an artificial neuron, and showed that networks of such units could compute logical functions. Hebb supplied a learning rule in 1949: adjust the strength of the connection between units. Minsky and Edmonds built SNARC in 1950, the first neural network computer, out of vacuum tubes and surplus aircraft parts. In the same year Turing published Computing Machinery and Intelligence, which contains not only the imitation game but early sketches of machine learning, genetic algorithms, and reinforcement learning. Strachey and Samuel wrote checkers programs in 1952. Then in 1956 McCarthy convened the Dartmouth workshop. No breakthrough came out of it directly, and the most mature work presented was Newell and Simon's Logic Theorist, but the field got its name and its founding conjecture: that every aspect of intelligence can be described precisely enough for a machine to simulate it.
[Sources]
Russell &amp; Norvig, Artificial Intelligence: A Modern Approach, Chapter 1, Section 1.3.1, The inception of artificial intelligence (1943-1956).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several early symbolic AI ideas. Newell and Simon argued for the physical symbol system hypothesis: any intelligent system must manipulate symbol structures. McCarthy's Advice Taker expanded this direction by imagining a system with explicit world knowledge that could use logical deduction to derive plans and accept new information. Shakey the Robot showed how these ideas could connect to physical action by combining logical reasoning, planning, perception, and movement. This is important historically because it explains why early AI placed so much emphasis on knowledge representation, symbolic reasoning, and planning before the field shifted toward statistical learning and neural networks.
[Sources]
Russell &amp; Norvig, Artificial Intelligence: A Modern Approach, Chapter 1, Section 1.3.2, Early enthusiasm, great expectations (1952-1969).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correction cycle, and it is worth being precise about why it happened. Three reasons. First, many early systems were built on informed introspection, meaning the designer's intuition about how a human performs the task, rather than a careful analysis of the task itself. Machine translation is the standard example: word substitution plus grammar rules with no representation of meaning. Second, and most importantly, a failure to appreciate intractability. Early systems searched combinations of steps, which is fine when a microworld has a handful of objects, but the cost grows exponentially with problem size. Note the key implication: if a method is exponential, a faster computer buys you a constant factor and effectively nothing else. Third, structural limits on the representations being used. Minsky and Papert proved that perceptrons could learn anything they could represent, but could represent very little, with exclusive-or as the canonical failure. The consequences were funding withdrawals in both the United States and Britain, the latter following the 1973 Lighthill report.
[Sources]
Russell &amp; Norvig, Artificial Intelligence: A Modern Approach, Chapter 1, Section 1.3.3, A dose of reality (1966-1973).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to draw here is between weak methods and knowledge-intensive methods. Weak methods are general-purpose search: broadly applicable, but they do not scale to large instances. The alternative is to give the system a lot of knowledge about a narrow domain. DENDRAL is the first clear example, inferring molecular structure from mass spectrometry data by encoding the pattern-recognition rules that analytical chemists actually use, rather than enumerating candidate structures. MYCIN extended the approach to medical diagnosis with roughly 450 rules and no underlying theory to derive them from, so knowledge had to be elicited from experts, and it introduced certainty factors to handle uncertainty. R1 at Digital Equipment Corporation was the first big commercial success, and by 1986 was saving the company an estimated forty million dollars a year. That success drove national programs and an industry boom, from a few million dollars in 1980 to billions by 1988. The collapse followed because these systems were brittle at the edges of their rule sets, could not learn from experience, and were expensive to maintain. Hold on to those three failure modes, because probability and machine learning are the direct response to them.
[Sources]
Russell &amp; Norvig, Artificial Intelligence: A Modern Approach, Chapter 1, Section 1.3.4, Expert systems (1969-1986).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overlapping movements. First, neural networks come back. Back-propagation had been developed in the early 1960s, was largely forgotten, and was reinvented by at least four groups in the mid-1980s. The Parallel Distributed Processing collection in 1986 spread the results widely. At the time connectionist models were positioned as direct rivals to symbolic AI, though the current view is that symbolic and connectionist accounts describe different levels of the same system. Second, and more consequential for how research is done, the field became more scientific. The brittleness of expert systems pushed AI toward probability rather than Boolean logic, toward learning from data rather than hand-coding, and toward experimental evidence rather than philosophical argument. Judea Pearl's 1988 work on Bayesian networks made uncertain reasoning tractable and rigorous, and won him a Turing Award. Rich Sutton connected reinforcement learning to Markov decision processes, which tied AI back to operations research. The methodological change that matters most is shared benchmarks: once everyone reports on the same data set, claims become checkable, and that discipline is what makes the next two decades of progress measurable.
[Sources]
Russell &amp; Norvig, Artificial Intelligence: A Modern Approach, Chapter 1, Sections 1.3.5 and 1.3.6.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data is its own phase in the history of AI. The web and advances in computing made it possible to collect extremely large datasets: text, images, speech, video, genomic data, vehicle tracking data, clickstream data, and social-network data. This changed the kinds of methods that worked well. Instead of relying only on hand-coded knowledge, systems could learn patterns from huge numbers of examples. The chapter notes that increasing dataset size can sometimes improve results more than small changes to the algorithm. ImageNet helped trigger a computer vision revolution, and IBM Watson's Jeopardy! victory showed the public the power of data-driven AI.
[Sources]
Russell &amp; Norvig, Artificial Intelligence: A Modern Approach, Chapter 1, Section 1.3.7, Big data (2001-present).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learning means machine learning with many layers of simple adjustable elements. The important framing point is that this is not a new idea. Networks of this kind were experimented with in the 1970s, and convolutional networks were reading handwritten digits by the mid-1990s. What changed around 2011 and 2012 was everything around the algorithm. Deep methods began winning in speech recognition in 2011, and in the 2012 ImageNet competition a system from Geoffrey Hinton's group at Toronto produced a dramatic improvement over approaches built on hand-crafted features. Two enabling conditions: web-scale training data, and hardware designed for highly parallel matrix and vector operations, where a GPU or TPU does orders of magnitude more operations per second than a general-purpose CPU. End on the caution the chapter itself raises. Exceeding a benchmark is not the same as understanding a domain, and this field has a documented pattern of alternating between predictions of imminent success and predictions of collapse.
[Sources]
Russell &amp; Norvig, Artificial Intelligence: A Modern Approach, Chapter 1, Section 1.3.8, Deep learning (2011-present).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reports where the field stands, drawing on Stanford's One Hundred Year Study on AI. The chart is the growth story in one picture: publications up roughly twentyfold from 2010 to 2019 with machine learning the most common category, US AI startups up about twentyfold, NeurIPS attendance up around 800 percent since 2012, and course enrollment up fivefold in the United States and sixteenfold internationally. The right-hand column adds the parts that a growth chart hides. Media coverage is mostly neutral, and the concerns that recur are privacy and bias rather than robots. Training speed improved by a factor of a hundred in two years, which compounds with the compute growth from Section 1.2.6. China now out-publishes the United States by volume while the US leads on citation-weighted impact. The diversity numbers are worth stating plainly: roughly eighty percent of AI professors worldwide are male, and the same ratio holds for doctoral students and industry hires. Finally, forecasts for human-level performance across a broad range of tasks are extremely spread out, which is itself the finding: nobody knows.
[Sources]
Russell &amp; Norvig, Artificial Intelligence: A Modern Approach, Chapter 1, Section 1.4, The state of the 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categories of working systems, and the point of the slide is calibration rather than the list itself. Robotic vehicles progressed from the DARPA Grand and Urban Challenges to public-road deployment, and autonomous drones have delivered blood in Rwanda since 2016. Legged robots recover from disturbances in a way that looks animal-like rather than mechanical. Autonomous planning ran spacecraft operations for NASA's Remote Agent and handled Gulf War logistics in DART at a scale that the chapter notes repaid decades of AI investment on its own. Language systems translate across more than a hundred languages, and conversational speech recognition has matched human word error rates on a standard transcription task. Game playing runs from Deep Blue in 1997 through AlphaGo and then AlphaZero, which learned from self-play given only the rules. Medicine and climate science are the newest entries, where adoption is now limited less by accuracy than by transparency, bias, and privacy requirements. Close on the calibration point: each of these is a narrow capability measured against a specific benchmark.
[Sources]
Russell &amp; Norvig, Artificial Intelligence: A Modern Approach, Chapter 1, Section 1.4, The state of the 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four risks in Section 1.5 that the surveillance and governance slide does not. Lethal autonomous weapons are defined by the United Nations as systems that locate, select, and eliminate human targets without human intervention, and the chapter's specific concern is scalability: with no requirement for human supervision, a small group can field an arbitrarily large number against targets specified by any criterion they can compute. Employment is the oldest of these worries and the chapter is careful not to make it simple, since automation raises productivity and can create work as well as displace it; the sharper question is distribution. Safety-critical deployment is the engineering risk: fatal accidents have already occurred, and we do not yet have good methods for verifying or bounding the risk of systems produced by learning rather than specification. Cybersecurity is genuinely dual-use in both directions. Anomaly detection helps defenders, and the same methods make malware more potent, more survivable, and easier to spread, with reinforcement learning already used to automate personalized phishing and extortion. That last point is the one to connect to any security coursework.
[Sources]
Russell &amp; Norvig, Artificial Intelligence: A Modern Approach, Chapter 1, Section 1.5, Risks and benefits of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risks section is not only about autonomous weapons or technical failure. It also emphasizes surveillance and persuasion. AI can monitor communications, video, speech, and other data at scale. Machine learning can also tailor information flows to individuals, which can influence social and political behavior. The chapter also warns about biased decision-making when machine-learning systems are used for tasks such as loans or parole. The conclusion is that as AI systems take on more social roles, governance becomes necessary. The chapter mentions voluntary self-governance from research organizations and companies, along with government and international efforts to create appropriate regulations for specific use cases.
[Sources]
Russell &amp; Norvig, Artificial Intelligence: A Modern Approach, Chapter 1, Section 1.5, Risks and benefits of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closes by distinguishing between human-level AI, artificial general intelligence, and artificial superintelligence. HLAI refers to a system that can learn to do anything a human can do. AGI has similar broad-general capability language. ASI goes further: it would far surpass human ability. The gorilla problem is the chapter's analogy for long-term control risk. Gorillas have little control over their future because humans are more capable. If superhuman AI were created and humans could not control it, humans could be in a similar position. This is different from the King Midas problem. King Midas is about getting exactly what you asked for but not what you intended. The gorilla problem is about relative capability and control over the future. Note the chapter's own qualification: superhuman AI would not arrive from outer space, we design it, so losing control would be a design failure rather than an inevitability.
[Sources]
Russell &amp; Norvig, Artificial Intelligence: A Modern Approach, Chapter 1, Section 1.5, Risks and benefits of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review slide. Four things to take from Chapter 1. First, the definition: AI can be organized along two axes, thinking versus behaving and human fidelity versus rationality, and this book takes the rational agent view. The standard model is that we specify an objective and the machine acts to achieve it, with two required refinements, that perfect rationality is computationally unaffordable and that the objective itself should be treated as uncertain. Second, the foundations: eight disciplines, each answering a specific question. Third, the history: a repeating cycle of success on limited problems, overconfident prediction, funding withdrawal, and methodological correction, with an overall direction from logic toward probability and from hand-coded knowledge toward learning. Fourth, the risks, which divide cleanly into near-term misuse and the long-term control problem. The terms at the bottom are the vocabulary this chapter expects you to carry into Chapter 2.
[Sources]
Russell &amp; Norvig, Artificial Intelligence: A Modern Approach, Chapter 1,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822960" y="1051560"/>
            <a:ext cx="10515600" cy="274320"/>
          </a:xfrm>
          <a:prstGeom prst="rect">
            <a:avLst/>
          </a:prstGeom>
          <a:noFill/>
          <a:ln/>
        </p:spPr>
        <p:txBody>
          <a:bodyPr wrap="square" lIns="0" tIns="0" rIns="0" bIns="0" rtlCol="0" anchor="ctr"/>
          <a:lstStyle/>
          <a:p>
            <a:pPr indent="0" marL="0">
              <a:buNone/>
            </a:pPr>
            <a:r>
              <a:rPr lang="en-US" sz="1150" b="1" spc="150" kern="0" dirty="0">
                <a:solidFill>
                  <a:srgbClr val="247BA0"/>
                </a:solidFill>
                <a:latin typeface="Calibri" pitchFamily="34" charset="0"/>
                <a:ea typeface="Calibri" pitchFamily="34" charset="-122"/>
                <a:cs typeface="Calibri" pitchFamily="34" charset="-120"/>
              </a:rPr>
              <a:t>COMP 469 · INTRODUCTION TO ARTIFICIAL INTELLIGENCE</a:t>
            </a:r>
            <a:endParaRPr lang="en-US" sz="1150" dirty="0"/>
          </a:p>
        </p:txBody>
      </p:sp>
      <p:sp>
        <p:nvSpPr>
          <p:cNvPr id="3" name="Text 1"/>
          <p:cNvSpPr/>
          <p:nvPr/>
        </p:nvSpPr>
        <p:spPr>
          <a:xfrm>
            <a:off x="822960" y="1417320"/>
            <a:ext cx="10515600" cy="777240"/>
          </a:xfrm>
          <a:prstGeom prst="rect">
            <a:avLst/>
          </a:prstGeom>
          <a:noFill/>
          <a:ln/>
        </p:spPr>
        <p:txBody>
          <a:bodyPr wrap="square" lIns="0" tIns="0" rIns="0" bIns="0" rtlCol="0" anchor="ctr"/>
          <a:lstStyle/>
          <a:p>
            <a:pPr indent="0" marL="0">
              <a:buNone/>
            </a:pPr>
            <a:r>
              <a:rPr lang="en-US" sz="4400" b="1" dirty="0">
                <a:solidFill>
                  <a:srgbClr val="102A43"/>
                </a:solidFill>
                <a:latin typeface="Calibri" pitchFamily="34" charset="0"/>
                <a:ea typeface="Calibri" pitchFamily="34" charset="-122"/>
                <a:cs typeface="Calibri" pitchFamily="34" charset="-120"/>
              </a:rPr>
              <a:t>Chapter 1: Introduction</a:t>
            </a:r>
            <a:endParaRPr lang="en-US" sz="4400" dirty="0"/>
          </a:p>
        </p:txBody>
      </p:sp>
      <p:sp>
        <p:nvSpPr>
          <p:cNvPr id="4" name="Text 2"/>
          <p:cNvSpPr/>
          <p:nvPr/>
        </p:nvSpPr>
        <p:spPr>
          <a:xfrm>
            <a:off x="822960" y="2240280"/>
            <a:ext cx="9601200" cy="365760"/>
          </a:xfrm>
          <a:prstGeom prst="rect">
            <a:avLst/>
          </a:prstGeom>
          <a:noFill/>
          <a:ln/>
        </p:spPr>
        <p:txBody>
          <a:bodyPr wrap="square" lIns="0" tIns="0" rIns="0" bIns="0" rtlCol="0" anchor="ctr"/>
          <a:lstStyle/>
          <a:p>
            <a:pPr indent="0" marL="0">
              <a:buNone/>
            </a:pPr>
            <a:r>
              <a:rPr lang="en-US" sz="1600" dirty="0">
                <a:solidFill>
                  <a:srgbClr val="52616B"/>
                </a:solidFill>
                <a:latin typeface="Calibri" pitchFamily="34" charset="0"/>
                <a:ea typeface="Calibri" pitchFamily="34" charset="-122"/>
                <a:cs typeface="Calibri" pitchFamily="34" charset="-120"/>
              </a:rPr>
              <a:t>What AI is, where it came from, what it can do now, and what it puts at risk</a:t>
            </a:r>
            <a:endParaRPr lang="en-US" sz="1600" dirty="0"/>
          </a:p>
        </p:txBody>
      </p:sp>
      <p:sp>
        <p:nvSpPr>
          <p:cNvPr id="5" name="Shape 3"/>
          <p:cNvSpPr/>
          <p:nvPr/>
        </p:nvSpPr>
        <p:spPr>
          <a:xfrm>
            <a:off x="822960" y="2880360"/>
            <a:ext cx="10561320" cy="0"/>
          </a:xfrm>
          <a:prstGeom prst="line">
            <a:avLst/>
          </a:prstGeom>
          <a:noFill/>
          <a:ln w="12700">
            <a:solidFill>
              <a:srgbClr val="D9E2EC"/>
            </a:solidFill>
            <a:prstDash val="solid"/>
          </a:ln>
        </p:spPr>
      </p:sp>
      <p:sp>
        <p:nvSpPr>
          <p:cNvPr id="6" name="Shape 4"/>
          <p:cNvSpPr/>
          <p:nvPr/>
        </p:nvSpPr>
        <p:spPr>
          <a:xfrm>
            <a:off x="822960" y="3200400"/>
            <a:ext cx="1965960" cy="1783080"/>
          </a:xfrm>
          <a:prstGeom prst="roundRect">
            <a:avLst>
              <a:gd name="adj" fmla="val 307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Shape 5"/>
          <p:cNvSpPr/>
          <p:nvPr/>
        </p:nvSpPr>
        <p:spPr>
          <a:xfrm>
            <a:off x="822960" y="3200400"/>
            <a:ext cx="1965960" cy="128016"/>
          </a:xfrm>
          <a:prstGeom prst="rect">
            <a:avLst/>
          </a:prstGeom>
          <a:solidFill>
            <a:srgbClr val="247BA0"/>
          </a:solidFill>
          <a:ln w="12700">
            <a:solidFill>
              <a:srgbClr val="247BA0"/>
            </a:solidFill>
            <a:prstDash val="solid"/>
          </a:ln>
        </p:spPr>
      </p:sp>
      <p:sp>
        <p:nvSpPr>
          <p:cNvPr id="8" name="Text 6"/>
          <p:cNvSpPr/>
          <p:nvPr/>
        </p:nvSpPr>
        <p:spPr>
          <a:xfrm>
            <a:off x="1005840" y="3456432"/>
            <a:ext cx="1600200" cy="256032"/>
          </a:xfrm>
          <a:prstGeom prst="rect">
            <a:avLst/>
          </a:prstGeom>
          <a:noFill/>
          <a:ln/>
        </p:spPr>
        <p:txBody>
          <a:bodyPr wrap="square" lIns="0" tIns="0" rIns="0" bIns="0" rtlCol="0" anchor="ctr"/>
          <a:lstStyle/>
          <a:p>
            <a:pPr indent="0" marL="0">
              <a:buNone/>
            </a:pPr>
            <a:r>
              <a:rPr lang="en-US" sz="1500" b="1" dirty="0">
                <a:solidFill>
                  <a:srgbClr val="247BA0"/>
                </a:solidFill>
                <a:latin typeface="Calibri" pitchFamily="34" charset="0"/>
                <a:ea typeface="Calibri" pitchFamily="34" charset="-122"/>
                <a:cs typeface="Calibri" pitchFamily="34" charset="-120"/>
              </a:rPr>
              <a:t>1.1</a:t>
            </a:r>
            <a:endParaRPr lang="en-US" sz="1500" dirty="0"/>
          </a:p>
        </p:txBody>
      </p:sp>
      <p:sp>
        <p:nvSpPr>
          <p:cNvPr id="9" name="Text 7"/>
          <p:cNvSpPr/>
          <p:nvPr/>
        </p:nvSpPr>
        <p:spPr>
          <a:xfrm>
            <a:off x="1005840" y="3730752"/>
            <a:ext cx="1645920" cy="274320"/>
          </a:xfrm>
          <a:prstGeom prst="rect">
            <a:avLst/>
          </a:prstGeom>
          <a:noFill/>
          <a:ln/>
        </p:spPr>
        <p:txBody>
          <a:bodyPr wrap="square" lIns="0" tIns="0" rIns="0" bIns="0" rtlCol="0" anchor="ctr"/>
          <a:lstStyle/>
          <a:p>
            <a:pPr indent="0" marL="0">
              <a:buNone/>
            </a:pPr>
            <a:r>
              <a:rPr lang="en-US" sz="1350" b="1" dirty="0">
                <a:solidFill>
                  <a:srgbClr val="102A43"/>
                </a:solidFill>
                <a:latin typeface="Calibri" pitchFamily="34" charset="0"/>
                <a:ea typeface="Calibri" pitchFamily="34" charset="-122"/>
                <a:cs typeface="Calibri" pitchFamily="34" charset="-120"/>
              </a:rPr>
              <a:t>What Is AI?</a:t>
            </a:r>
            <a:endParaRPr lang="en-US" sz="1350" dirty="0"/>
          </a:p>
        </p:txBody>
      </p:sp>
      <p:sp>
        <p:nvSpPr>
          <p:cNvPr id="10" name="Text 8"/>
          <p:cNvSpPr/>
          <p:nvPr/>
        </p:nvSpPr>
        <p:spPr>
          <a:xfrm>
            <a:off x="1005840" y="4041648"/>
            <a:ext cx="1627632" cy="777240"/>
          </a:xfrm>
          <a:prstGeom prst="rect">
            <a:avLst/>
          </a:prstGeom>
          <a:noFill/>
          <a:ln/>
        </p:spPr>
        <p:txBody>
          <a:bodyPr wrap="square" lIns="0" tIns="0" rIns="0" bIns="0" rtlCol="0" anchor="t"/>
          <a:lstStyle/>
          <a:p>
            <a:pPr indent="0" marL="0">
              <a:lnSpc>
                <a:spcPct val="112000"/>
              </a:lnSpc>
              <a:buNone/>
            </a:pPr>
            <a:r>
              <a:rPr lang="en-US" sz="1050" dirty="0">
                <a:solidFill>
                  <a:srgbClr val="52616B"/>
                </a:solidFill>
                <a:latin typeface="Calibri" pitchFamily="34" charset="0"/>
                <a:ea typeface="Calibri" pitchFamily="34" charset="-122"/>
                <a:cs typeface="Calibri" pitchFamily="34" charset="-120"/>
              </a:rPr>
              <a:t>Four approaches, the rational agent,</a:t>
            </a:r>
            <a:endParaRPr lang="en-US" sz="1050" dirty="0"/>
          </a:p>
          <a:p>
            <a:pPr indent="0" marL="0">
              <a:lnSpc>
                <a:spcPct val="112000"/>
              </a:lnSpc>
              <a:buNone/>
            </a:pPr>
            <a:r>
              <a:rPr lang="en-US" sz="1050" dirty="0">
                <a:solidFill>
                  <a:srgbClr val="52616B"/>
                </a:solidFill>
                <a:latin typeface="Calibri" pitchFamily="34" charset="0"/>
                <a:ea typeface="Calibri" pitchFamily="34" charset="-122"/>
                <a:cs typeface="Calibri" pitchFamily="34" charset="-120"/>
              </a:rPr>
              <a:t>and the standard model</a:t>
            </a:r>
            <a:endParaRPr lang="en-US" sz="1050" dirty="0"/>
          </a:p>
        </p:txBody>
      </p:sp>
      <p:sp>
        <p:nvSpPr>
          <p:cNvPr id="11" name="Shape 9"/>
          <p:cNvSpPr/>
          <p:nvPr/>
        </p:nvSpPr>
        <p:spPr>
          <a:xfrm>
            <a:off x="2971800" y="3200400"/>
            <a:ext cx="1965960" cy="1783080"/>
          </a:xfrm>
          <a:prstGeom prst="roundRect">
            <a:avLst>
              <a:gd name="adj" fmla="val 307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2" name="Shape 10"/>
          <p:cNvSpPr/>
          <p:nvPr/>
        </p:nvSpPr>
        <p:spPr>
          <a:xfrm>
            <a:off x="2971800" y="3200400"/>
            <a:ext cx="1965960" cy="128016"/>
          </a:xfrm>
          <a:prstGeom prst="rect">
            <a:avLst/>
          </a:prstGeom>
          <a:solidFill>
            <a:srgbClr val="6D28D9"/>
          </a:solidFill>
          <a:ln w="12700">
            <a:solidFill>
              <a:srgbClr val="6D28D9"/>
            </a:solidFill>
            <a:prstDash val="solid"/>
          </a:ln>
        </p:spPr>
      </p:sp>
      <p:sp>
        <p:nvSpPr>
          <p:cNvPr id="13" name="Text 11"/>
          <p:cNvSpPr/>
          <p:nvPr/>
        </p:nvSpPr>
        <p:spPr>
          <a:xfrm>
            <a:off x="3154680" y="3456432"/>
            <a:ext cx="1600200" cy="256032"/>
          </a:xfrm>
          <a:prstGeom prst="rect">
            <a:avLst/>
          </a:prstGeom>
          <a:noFill/>
          <a:ln/>
        </p:spPr>
        <p:txBody>
          <a:bodyPr wrap="square" lIns="0" tIns="0" rIns="0" bIns="0" rtlCol="0" anchor="ctr"/>
          <a:lstStyle/>
          <a:p>
            <a:pPr indent="0" marL="0">
              <a:buNone/>
            </a:pPr>
            <a:r>
              <a:rPr lang="en-US" sz="1500" b="1" dirty="0">
                <a:solidFill>
                  <a:srgbClr val="6D28D9"/>
                </a:solidFill>
                <a:latin typeface="Calibri" pitchFamily="34" charset="0"/>
                <a:ea typeface="Calibri" pitchFamily="34" charset="-122"/>
                <a:cs typeface="Calibri" pitchFamily="34" charset="-120"/>
              </a:rPr>
              <a:t>1.2</a:t>
            </a:r>
            <a:endParaRPr lang="en-US" sz="1500" dirty="0"/>
          </a:p>
        </p:txBody>
      </p:sp>
      <p:sp>
        <p:nvSpPr>
          <p:cNvPr id="14" name="Text 12"/>
          <p:cNvSpPr/>
          <p:nvPr/>
        </p:nvSpPr>
        <p:spPr>
          <a:xfrm>
            <a:off x="3154680" y="3730752"/>
            <a:ext cx="1645920" cy="274320"/>
          </a:xfrm>
          <a:prstGeom prst="rect">
            <a:avLst/>
          </a:prstGeom>
          <a:noFill/>
          <a:ln/>
        </p:spPr>
        <p:txBody>
          <a:bodyPr wrap="square" lIns="0" tIns="0" rIns="0" bIns="0" rtlCol="0" anchor="ctr"/>
          <a:lstStyle/>
          <a:p>
            <a:pPr indent="0" marL="0">
              <a:buNone/>
            </a:pPr>
            <a:r>
              <a:rPr lang="en-US" sz="1350" b="1" dirty="0">
                <a:solidFill>
                  <a:srgbClr val="102A43"/>
                </a:solidFill>
                <a:latin typeface="Calibri" pitchFamily="34" charset="0"/>
                <a:ea typeface="Calibri" pitchFamily="34" charset="-122"/>
                <a:cs typeface="Calibri" pitchFamily="34" charset="-120"/>
              </a:rPr>
              <a:t>Foundations</a:t>
            </a:r>
            <a:endParaRPr lang="en-US" sz="1350" dirty="0"/>
          </a:p>
        </p:txBody>
      </p:sp>
      <p:sp>
        <p:nvSpPr>
          <p:cNvPr id="15" name="Text 13"/>
          <p:cNvSpPr/>
          <p:nvPr/>
        </p:nvSpPr>
        <p:spPr>
          <a:xfrm>
            <a:off x="3154680" y="4041648"/>
            <a:ext cx="1627632" cy="777240"/>
          </a:xfrm>
          <a:prstGeom prst="rect">
            <a:avLst/>
          </a:prstGeom>
          <a:noFill/>
          <a:ln/>
        </p:spPr>
        <p:txBody>
          <a:bodyPr wrap="square" lIns="0" tIns="0" rIns="0" bIns="0" rtlCol="0" anchor="t"/>
          <a:lstStyle/>
          <a:p>
            <a:pPr indent="0" marL="0">
              <a:lnSpc>
                <a:spcPct val="112000"/>
              </a:lnSpc>
              <a:buNone/>
            </a:pPr>
            <a:r>
              <a:rPr lang="en-US" sz="1050" dirty="0">
                <a:solidFill>
                  <a:srgbClr val="52616B"/>
                </a:solidFill>
                <a:latin typeface="Calibri" pitchFamily="34" charset="0"/>
                <a:ea typeface="Calibri" pitchFamily="34" charset="-122"/>
                <a:cs typeface="Calibri" pitchFamily="34" charset="-120"/>
              </a:rPr>
              <a:t>Eight disciplines that supplied</a:t>
            </a:r>
            <a:endParaRPr lang="en-US" sz="1050" dirty="0"/>
          </a:p>
          <a:p>
            <a:pPr indent="0" marL="0">
              <a:lnSpc>
                <a:spcPct val="112000"/>
              </a:lnSpc>
              <a:buNone/>
            </a:pPr>
            <a:r>
              <a:rPr lang="en-US" sz="1050" dirty="0">
                <a:solidFill>
                  <a:srgbClr val="52616B"/>
                </a:solidFill>
                <a:latin typeface="Calibri" pitchFamily="34" charset="0"/>
                <a:ea typeface="Calibri" pitchFamily="34" charset="-122"/>
                <a:cs typeface="Calibri" pitchFamily="34" charset="-120"/>
              </a:rPr>
              <a:t>AI's ideas and tools</a:t>
            </a:r>
            <a:endParaRPr lang="en-US" sz="1050" dirty="0"/>
          </a:p>
        </p:txBody>
      </p:sp>
      <p:sp>
        <p:nvSpPr>
          <p:cNvPr id="16" name="Shape 14"/>
          <p:cNvSpPr/>
          <p:nvPr/>
        </p:nvSpPr>
        <p:spPr>
          <a:xfrm>
            <a:off x="5120640" y="3200400"/>
            <a:ext cx="1965960" cy="1783080"/>
          </a:xfrm>
          <a:prstGeom prst="roundRect">
            <a:avLst>
              <a:gd name="adj" fmla="val 307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7" name="Shape 15"/>
          <p:cNvSpPr/>
          <p:nvPr/>
        </p:nvSpPr>
        <p:spPr>
          <a:xfrm>
            <a:off x="5120640" y="3200400"/>
            <a:ext cx="1965960" cy="128016"/>
          </a:xfrm>
          <a:prstGeom prst="rect">
            <a:avLst/>
          </a:prstGeom>
          <a:solidFill>
            <a:srgbClr val="55A630"/>
          </a:solidFill>
          <a:ln w="12700">
            <a:solidFill>
              <a:srgbClr val="55A630"/>
            </a:solidFill>
            <a:prstDash val="solid"/>
          </a:ln>
        </p:spPr>
      </p:sp>
      <p:sp>
        <p:nvSpPr>
          <p:cNvPr id="18" name="Text 16"/>
          <p:cNvSpPr/>
          <p:nvPr/>
        </p:nvSpPr>
        <p:spPr>
          <a:xfrm>
            <a:off x="5303520" y="3456432"/>
            <a:ext cx="1600200" cy="256032"/>
          </a:xfrm>
          <a:prstGeom prst="rect">
            <a:avLst/>
          </a:prstGeom>
          <a:noFill/>
          <a:ln/>
        </p:spPr>
        <p:txBody>
          <a:bodyPr wrap="square" lIns="0" tIns="0" rIns="0" bIns="0" rtlCol="0" anchor="ctr"/>
          <a:lstStyle/>
          <a:p>
            <a:pPr indent="0" marL="0">
              <a:buNone/>
            </a:pPr>
            <a:r>
              <a:rPr lang="en-US" sz="1500" b="1" dirty="0">
                <a:solidFill>
                  <a:srgbClr val="55A630"/>
                </a:solidFill>
                <a:latin typeface="Calibri" pitchFamily="34" charset="0"/>
                <a:ea typeface="Calibri" pitchFamily="34" charset="-122"/>
                <a:cs typeface="Calibri" pitchFamily="34" charset="-120"/>
              </a:rPr>
              <a:t>1.3</a:t>
            </a:r>
            <a:endParaRPr lang="en-US" sz="1500" dirty="0"/>
          </a:p>
        </p:txBody>
      </p:sp>
      <p:sp>
        <p:nvSpPr>
          <p:cNvPr id="19" name="Text 17"/>
          <p:cNvSpPr/>
          <p:nvPr/>
        </p:nvSpPr>
        <p:spPr>
          <a:xfrm>
            <a:off x="5303520" y="3730752"/>
            <a:ext cx="1645920" cy="274320"/>
          </a:xfrm>
          <a:prstGeom prst="rect">
            <a:avLst/>
          </a:prstGeom>
          <a:noFill/>
          <a:ln/>
        </p:spPr>
        <p:txBody>
          <a:bodyPr wrap="square" lIns="0" tIns="0" rIns="0" bIns="0" rtlCol="0" anchor="ctr"/>
          <a:lstStyle/>
          <a:p>
            <a:pPr indent="0" marL="0">
              <a:buNone/>
            </a:pPr>
            <a:r>
              <a:rPr lang="en-US" sz="1350" b="1" dirty="0">
                <a:solidFill>
                  <a:srgbClr val="102A43"/>
                </a:solidFill>
                <a:latin typeface="Calibri" pitchFamily="34" charset="0"/>
                <a:ea typeface="Calibri" pitchFamily="34" charset="-122"/>
                <a:cs typeface="Calibri" pitchFamily="34" charset="-120"/>
              </a:rPr>
              <a:t>History</a:t>
            </a:r>
            <a:endParaRPr lang="en-US" sz="1350" dirty="0"/>
          </a:p>
        </p:txBody>
      </p:sp>
      <p:sp>
        <p:nvSpPr>
          <p:cNvPr id="20" name="Text 18"/>
          <p:cNvSpPr/>
          <p:nvPr/>
        </p:nvSpPr>
        <p:spPr>
          <a:xfrm>
            <a:off x="5303520" y="4041648"/>
            <a:ext cx="1627632" cy="777240"/>
          </a:xfrm>
          <a:prstGeom prst="rect">
            <a:avLst/>
          </a:prstGeom>
          <a:noFill/>
          <a:ln/>
        </p:spPr>
        <p:txBody>
          <a:bodyPr wrap="square" lIns="0" tIns="0" rIns="0" bIns="0" rtlCol="0" anchor="t"/>
          <a:lstStyle/>
          <a:p>
            <a:pPr indent="0" marL="0">
              <a:lnSpc>
                <a:spcPct val="112000"/>
              </a:lnSpc>
              <a:buNone/>
            </a:pPr>
            <a:r>
              <a:rPr lang="en-US" sz="1050" dirty="0">
                <a:solidFill>
                  <a:srgbClr val="52616B"/>
                </a:solidFill>
                <a:latin typeface="Calibri" pitchFamily="34" charset="0"/>
                <a:ea typeface="Calibri" pitchFamily="34" charset="-122"/>
                <a:cs typeface="Calibri" pitchFamily="34" charset="-120"/>
              </a:rPr>
              <a:t>Seven decades of boom, winter,</a:t>
            </a:r>
            <a:endParaRPr lang="en-US" sz="1050" dirty="0"/>
          </a:p>
          <a:p>
            <a:pPr indent="0" marL="0">
              <a:lnSpc>
                <a:spcPct val="112000"/>
              </a:lnSpc>
              <a:buNone/>
            </a:pPr>
            <a:r>
              <a:rPr lang="en-US" sz="1050" dirty="0">
                <a:solidFill>
                  <a:srgbClr val="52616B"/>
                </a:solidFill>
                <a:latin typeface="Calibri" pitchFamily="34" charset="0"/>
                <a:ea typeface="Calibri" pitchFamily="34" charset="-122"/>
                <a:cs typeface="Calibri" pitchFamily="34" charset="-120"/>
              </a:rPr>
              <a:t>and redirection</a:t>
            </a:r>
            <a:endParaRPr lang="en-US" sz="1050" dirty="0"/>
          </a:p>
        </p:txBody>
      </p:sp>
      <p:sp>
        <p:nvSpPr>
          <p:cNvPr id="21" name="Shape 19"/>
          <p:cNvSpPr/>
          <p:nvPr/>
        </p:nvSpPr>
        <p:spPr>
          <a:xfrm>
            <a:off x="7269480" y="3200400"/>
            <a:ext cx="1965960" cy="1783080"/>
          </a:xfrm>
          <a:prstGeom prst="roundRect">
            <a:avLst>
              <a:gd name="adj" fmla="val 307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2" name="Shape 20"/>
          <p:cNvSpPr/>
          <p:nvPr/>
        </p:nvSpPr>
        <p:spPr>
          <a:xfrm>
            <a:off x="7269480" y="3200400"/>
            <a:ext cx="1965960" cy="128016"/>
          </a:xfrm>
          <a:prstGeom prst="rect">
            <a:avLst/>
          </a:prstGeom>
          <a:solidFill>
            <a:srgbClr val="F97316"/>
          </a:solidFill>
          <a:ln w="12700">
            <a:solidFill>
              <a:srgbClr val="F97316"/>
            </a:solidFill>
            <a:prstDash val="solid"/>
          </a:ln>
        </p:spPr>
      </p:sp>
      <p:sp>
        <p:nvSpPr>
          <p:cNvPr id="23" name="Text 21"/>
          <p:cNvSpPr/>
          <p:nvPr/>
        </p:nvSpPr>
        <p:spPr>
          <a:xfrm>
            <a:off x="7452360" y="3456432"/>
            <a:ext cx="1600200" cy="256032"/>
          </a:xfrm>
          <a:prstGeom prst="rect">
            <a:avLst/>
          </a:prstGeom>
          <a:noFill/>
          <a:ln/>
        </p:spPr>
        <p:txBody>
          <a:bodyPr wrap="square" lIns="0" tIns="0" rIns="0" bIns="0" rtlCol="0" anchor="ctr"/>
          <a:lstStyle/>
          <a:p>
            <a:pPr indent="0" marL="0">
              <a:buNone/>
            </a:pPr>
            <a:r>
              <a:rPr lang="en-US" sz="1500" b="1" dirty="0">
                <a:solidFill>
                  <a:srgbClr val="F97316"/>
                </a:solidFill>
                <a:latin typeface="Calibri" pitchFamily="34" charset="0"/>
                <a:ea typeface="Calibri" pitchFamily="34" charset="-122"/>
                <a:cs typeface="Calibri" pitchFamily="34" charset="-120"/>
              </a:rPr>
              <a:t>1.4</a:t>
            </a:r>
            <a:endParaRPr lang="en-US" sz="1500" dirty="0"/>
          </a:p>
        </p:txBody>
      </p:sp>
      <p:sp>
        <p:nvSpPr>
          <p:cNvPr id="24" name="Text 22"/>
          <p:cNvSpPr/>
          <p:nvPr/>
        </p:nvSpPr>
        <p:spPr>
          <a:xfrm>
            <a:off x="7452360" y="3730752"/>
            <a:ext cx="1645920" cy="274320"/>
          </a:xfrm>
          <a:prstGeom prst="rect">
            <a:avLst/>
          </a:prstGeom>
          <a:noFill/>
          <a:ln/>
        </p:spPr>
        <p:txBody>
          <a:bodyPr wrap="square" lIns="0" tIns="0" rIns="0" bIns="0" rtlCol="0" anchor="ctr"/>
          <a:lstStyle/>
          <a:p>
            <a:pPr indent="0" marL="0">
              <a:buNone/>
            </a:pPr>
            <a:r>
              <a:rPr lang="en-US" sz="1350" b="1" dirty="0">
                <a:solidFill>
                  <a:srgbClr val="102A43"/>
                </a:solidFill>
                <a:latin typeface="Calibri" pitchFamily="34" charset="0"/>
                <a:ea typeface="Calibri" pitchFamily="34" charset="-122"/>
                <a:cs typeface="Calibri" pitchFamily="34" charset="-120"/>
              </a:rPr>
              <a:t>State of the Art</a:t>
            </a:r>
            <a:endParaRPr lang="en-US" sz="1350" dirty="0"/>
          </a:p>
        </p:txBody>
      </p:sp>
      <p:sp>
        <p:nvSpPr>
          <p:cNvPr id="25" name="Text 23"/>
          <p:cNvSpPr/>
          <p:nvPr/>
        </p:nvSpPr>
        <p:spPr>
          <a:xfrm>
            <a:off x="7452360" y="4041648"/>
            <a:ext cx="1627632" cy="777240"/>
          </a:xfrm>
          <a:prstGeom prst="rect">
            <a:avLst/>
          </a:prstGeom>
          <a:noFill/>
          <a:ln/>
        </p:spPr>
        <p:txBody>
          <a:bodyPr wrap="square" lIns="0" tIns="0" rIns="0" bIns="0" rtlCol="0" anchor="t"/>
          <a:lstStyle/>
          <a:p>
            <a:pPr indent="0" marL="0">
              <a:lnSpc>
                <a:spcPct val="112000"/>
              </a:lnSpc>
              <a:buNone/>
            </a:pPr>
            <a:r>
              <a:rPr lang="en-US" sz="1050" dirty="0">
                <a:solidFill>
                  <a:srgbClr val="52616B"/>
                </a:solidFill>
                <a:latin typeface="Calibri" pitchFamily="34" charset="0"/>
                <a:ea typeface="Calibri" pitchFamily="34" charset="-122"/>
                <a:cs typeface="Calibri" pitchFamily="34" charset="-120"/>
              </a:rPr>
              <a:t>What working systems actually</a:t>
            </a:r>
            <a:endParaRPr lang="en-US" sz="1050" dirty="0"/>
          </a:p>
          <a:p>
            <a:pPr indent="0" marL="0">
              <a:lnSpc>
                <a:spcPct val="112000"/>
              </a:lnSpc>
              <a:buNone/>
            </a:pPr>
            <a:r>
              <a:rPr lang="en-US" sz="1050" dirty="0">
                <a:solidFill>
                  <a:srgbClr val="52616B"/>
                </a:solidFill>
                <a:latin typeface="Calibri" pitchFamily="34" charset="0"/>
                <a:ea typeface="Calibri" pitchFamily="34" charset="-122"/>
                <a:cs typeface="Calibri" pitchFamily="34" charset="-120"/>
              </a:rPr>
              <a:t>do today</a:t>
            </a:r>
            <a:endParaRPr lang="en-US" sz="1050" dirty="0"/>
          </a:p>
        </p:txBody>
      </p:sp>
      <p:sp>
        <p:nvSpPr>
          <p:cNvPr id="26" name="Shape 24"/>
          <p:cNvSpPr/>
          <p:nvPr/>
        </p:nvSpPr>
        <p:spPr>
          <a:xfrm>
            <a:off x="9418320" y="3200400"/>
            <a:ext cx="1965960" cy="1783080"/>
          </a:xfrm>
          <a:prstGeom prst="roundRect">
            <a:avLst>
              <a:gd name="adj" fmla="val 307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7" name="Shape 25"/>
          <p:cNvSpPr/>
          <p:nvPr/>
        </p:nvSpPr>
        <p:spPr>
          <a:xfrm>
            <a:off x="9418320" y="3200400"/>
            <a:ext cx="1965960" cy="128016"/>
          </a:xfrm>
          <a:prstGeom prst="rect">
            <a:avLst/>
          </a:prstGeom>
          <a:solidFill>
            <a:srgbClr val="C1121F"/>
          </a:solidFill>
          <a:ln w="12700">
            <a:solidFill>
              <a:srgbClr val="C1121F"/>
            </a:solidFill>
            <a:prstDash val="solid"/>
          </a:ln>
        </p:spPr>
      </p:sp>
      <p:sp>
        <p:nvSpPr>
          <p:cNvPr id="28" name="Text 26"/>
          <p:cNvSpPr/>
          <p:nvPr/>
        </p:nvSpPr>
        <p:spPr>
          <a:xfrm>
            <a:off x="9601200" y="3456432"/>
            <a:ext cx="1600200" cy="256032"/>
          </a:xfrm>
          <a:prstGeom prst="rect">
            <a:avLst/>
          </a:prstGeom>
          <a:noFill/>
          <a:ln/>
        </p:spPr>
        <p:txBody>
          <a:bodyPr wrap="square" lIns="0" tIns="0" rIns="0" bIns="0" rtlCol="0" anchor="ctr"/>
          <a:lstStyle/>
          <a:p>
            <a:pPr indent="0" marL="0">
              <a:buNone/>
            </a:pPr>
            <a:r>
              <a:rPr lang="en-US" sz="1500" b="1" dirty="0">
                <a:solidFill>
                  <a:srgbClr val="C1121F"/>
                </a:solidFill>
                <a:latin typeface="Calibri" pitchFamily="34" charset="0"/>
                <a:ea typeface="Calibri" pitchFamily="34" charset="-122"/>
                <a:cs typeface="Calibri" pitchFamily="34" charset="-120"/>
              </a:rPr>
              <a:t>1.5</a:t>
            </a:r>
            <a:endParaRPr lang="en-US" sz="1500" dirty="0"/>
          </a:p>
        </p:txBody>
      </p:sp>
      <p:sp>
        <p:nvSpPr>
          <p:cNvPr id="29" name="Text 27"/>
          <p:cNvSpPr/>
          <p:nvPr/>
        </p:nvSpPr>
        <p:spPr>
          <a:xfrm>
            <a:off x="9601200" y="3730752"/>
            <a:ext cx="1645920" cy="274320"/>
          </a:xfrm>
          <a:prstGeom prst="rect">
            <a:avLst/>
          </a:prstGeom>
          <a:noFill/>
          <a:ln/>
        </p:spPr>
        <p:txBody>
          <a:bodyPr wrap="square" lIns="0" tIns="0" rIns="0" bIns="0" rtlCol="0" anchor="ctr"/>
          <a:lstStyle/>
          <a:p>
            <a:pPr indent="0" marL="0">
              <a:buNone/>
            </a:pPr>
            <a:r>
              <a:rPr lang="en-US" sz="1350" b="1" dirty="0">
                <a:solidFill>
                  <a:srgbClr val="102A43"/>
                </a:solidFill>
                <a:latin typeface="Calibri" pitchFamily="34" charset="0"/>
                <a:ea typeface="Calibri" pitchFamily="34" charset="-122"/>
                <a:cs typeface="Calibri" pitchFamily="34" charset="-120"/>
              </a:rPr>
              <a:t>Risks &amp; Benefits</a:t>
            </a:r>
            <a:endParaRPr lang="en-US" sz="1350" dirty="0"/>
          </a:p>
        </p:txBody>
      </p:sp>
      <p:sp>
        <p:nvSpPr>
          <p:cNvPr id="30" name="Text 28"/>
          <p:cNvSpPr/>
          <p:nvPr/>
        </p:nvSpPr>
        <p:spPr>
          <a:xfrm>
            <a:off x="9601200" y="4041648"/>
            <a:ext cx="1627632" cy="777240"/>
          </a:xfrm>
          <a:prstGeom prst="rect">
            <a:avLst/>
          </a:prstGeom>
          <a:noFill/>
          <a:ln/>
        </p:spPr>
        <p:txBody>
          <a:bodyPr wrap="square" lIns="0" tIns="0" rIns="0" bIns="0" rtlCol="0" anchor="t"/>
          <a:lstStyle/>
          <a:p>
            <a:pPr indent="0" marL="0">
              <a:lnSpc>
                <a:spcPct val="112000"/>
              </a:lnSpc>
              <a:buNone/>
            </a:pPr>
            <a:r>
              <a:rPr lang="en-US" sz="1050" dirty="0">
                <a:solidFill>
                  <a:srgbClr val="52616B"/>
                </a:solidFill>
                <a:latin typeface="Calibri" pitchFamily="34" charset="0"/>
                <a:ea typeface="Calibri" pitchFamily="34" charset="-122"/>
                <a:cs typeface="Calibri" pitchFamily="34" charset="-120"/>
              </a:rPr>
              <a:t>Dual use, misuse, and the</a:t>
            </a:r>
            <a:endParaRPr lang="en-US" sz="1050" dirty="0"/>
          </a:p>
          <a:p>
            <a:pPr indent="0" marL="0">
              <a:lnSpc>
                <a:spcPct val="112000"/>
              </a:lnSpc>
              <a:buNone/>
            </a:pPr>
            <a:r>
              <a:rPr lang="en-US" sz="1050" dirty="0">
                <a:solidFill>
                  <a:srgbClr val="52616B"/>
                </a:solidFill>
                <a:latin typeface="Calibri" pitchFamily="34" charset="0"/>
                <a:ea typeface="Calibri" pitchFamily="34" charset="-122"/>
                <a:cs typeface="Calibri" pitchFamily="34" charset="-120"/>
              </a:rPr>
              <a:t>control problem</a:t>
            </a:r>
            <a:endParaRPr lang="en-US" sz="1050" dirty="0"/>
          </a:p>
        </p:txBody>
      </p:sp>
      <p:sp>
        <p:nvSpPr>
          <p:cNvPr id="31" name="Text 29"/>
          <p:cNvSpPr/>
          <p:nvPr/>
        </p:nvSpPr>
        <p:spPr>
          <a:xfrm>
            <a:off x="822960" y="5257800"/>
            <a:ext cx="10515600" cy="274320"/>
          </a:xfrm>
          <a:prstGeom prst="rect">
            <a:avLst/>
          </a:prstGeom>
          <a:noFill/>
          <a:ln/>
        </p:spPr>
        <p:txBody>
          <a:bodyPr wrap="square" lIns="0" tIns="0" rIns="0" bIns="0" rtlCol="0" anchor="ctr"/>
          <a:lstStyle/>
          <a:p>
            <a:pPr indent="0" marL="0">
              <a:buNone/>
            </a:pPr>
            <a:r>
              <a:rPr lang="en-US" sz="1200" i="1" dirty="0">
                <a:solidFill>
                  <a:srgbClr val="7B8794"/>
                </a:solidFill>
                <a:latin typeface="Calibri" pitchFamily="34" charset="0"/>
                <a:ea typeface="Calibri" pitchFamily="34" charset="-122"/>
                <a:cs typeface="Calibri" pitchFamily="34" charset="-120"/>
              </a:rPr>
              <a:t>Supplemental deck: expands the sections the main lecture slides move through quickly.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1.1.5</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Beneficial Machines: Objectives You Did Not Mean</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Text 4"/>
          <p:cNvSpPr/>
          <p:nvPr/>
        </p:nvSpPr>
        <p:spPr>
          <a:xfrm>
            <a:off x="822960" y="1371600"/>
            <a:ext cx="10515600" cy="292608"/>
          </a:xfrm>
          <a:prstGeom prst="rect">
            <a:avLst/>
          </a:prstGeom>
          <a:noFill/>
          <a:ln/>
        </p:spPr>
        <p:txBody>
          <a:bodyPr wrap="square" lIns="0" tIns="0" rIns="0" bIns="0" rtlCol="0" anchor="ctr"/>
          <a:lstStyle/>
          <a:p>
            <a:pPr indent="0" marL="0">
              <a:buNone/>
            </a:pPr>
            <a:r>
              <a:rPr lang="en-US" sz="1800" b="1" dirty="0">
                <a:solidFill>
                  <a:srgbClr val="102A43"/>
                </a:solidFill>
                <a:latin typeface="Calibri" pitchFamily="34" charset="0"/>
                <a:ea typeface="Calibri" pitchFamily="34" charset="-122"/>
                <a:cs typeface="Calibri" pitchFamily="34" charset="-120"/>
              </a:rPr>
              <a:t>The standard model works until the machine is capable enough to take you literally</a:t>
            </a:r>
            <a:endParaRPr lang="en-US" sz="1800" dirty="0"/>
          </a:p>
        </p:txBody>
      </p:sp>
      <p:sp>
        <p:nvSpPr>
          <p:cNvPr id="7" name="Shape 5"/>
          <p:cNvSpPr/>
          <p:nvPr/>
        </p:nvSpPr>
        <p:spPr>
          <a:xfrm>
            <a:off x="594360" y="1783080"/>
            <a:ext cx="3520440" cy="2514600"/>
          </a:xfrm>
          <a:prstGeom prst="roundRect">
            <a:avLst>
              <a:gd name="adj" fmla="val 2182"/>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8" name="Shape 6"/>
          <p:cNvSpPr/>
          <p:nvPr/>
        </p:nvSpPr>
        <p:spPr>
          <a:xfrm>
            <a:off x="594360" y="1783080"/>
            <a:ext cx="3520440" cy="146304"/>
          </a:xfrm>
          <a:prstGeom prst="rect">
            <a:avLst/>
          </a:prstGeom>
          <a:solidFill>
            <a:srgbClr val="247BA0"/>
          </a:solidFill>
          <a:ln w="12700">
            <a:solidFill>
              <a:srgbClr val="247BA0"/>
            </a:solidFill>
            <a:prstDash val="solid"/>
          </a:ln>
        </p:spPr>
      </p:sp>
      <p:sp>
        <p:nvSpPr>
          <p:cNvPr id="9" name="Text 7"/>
          <p:cNvSpPr/>
          <p:nvPr/>
        </p:nvSpPr>
        <p:spPr>
          <a:xfrm>
            <a:off x="795528" y="2066544"/>
            <a:ext cx="3108960" cy="292608"/>
          </a:xfrm>
          <a:prstGeom prst="rect">
            <a:avLst/>
          </a:prstGeom>
          <a:noFill/>
          <a:ln/>
        </p:spPr>
        <p:txBody>
          <a:bodyPr wrap="square" lIns="0" tIns="0" rIns="0" bIns="0" rtlCol="0" anchor="ctr"/>
          <a:lstStyle/>
          <a:p>
            <a:pPr indent="0" marL="0">
              <a:buNone/>
            </a:pPr>
            <a:r>
              <a:rPr lang="en-US" sz="1700" b="1" dirty="0">
                <a:solidFill>
                  <a:srgbClr val="102A43"/>
                </a:solidFill>
                <a:latin typeface="Calibri" pitchFamily="34" charset="0"/>
                <a:ea typeface="Calibri" pitchFamily="34" charset="-122"/>
                <a:cs typeface="Calibri" pitchFamily="34" charset="-120"/>
              </a:rPr>
              <a:t>The standard model</a:t>
            </a:r>
            <a:endParaRPr lang="en-US" sz="1700" dirty="0"/>
          </a:p>
        </p:txBody>
      </p:sp>
      <p:sp>
        <p:nvSpPr>
          <p:cNvPr id="10" name="Text 8"/>
          <p:cNvSpPr/>
          <p:nvPr/>
        </p:nvSpPr>
        <p:spPr>
          <a:xfrm>
            <a:off x="795528" y="2450592"/>
            <a:ext cx="3108960" cy="1691640"/>
          </a:xfrm>
          <a:prstGeom prst="rect">
            <a:avLst/>
          </a:prstGeom>
          <a:noFill/>
          <a:ln/>
        </p:spPr>
        <p:txBody>
          <a:bodyPr wrap="square" lIns="0" tIns="0" rIns="0" bIns="0" rtlCol="0" anchor="t"/>
          <a:lstStyle/>
          <a:p>
            <a:pPr indent="0" marL="0">
              <a:lnSpc>
                <a:spcPct val="118000"/>
              </a:lnSpc>
              <a:spcAft>
                <a:spcPts val="700"/>
              </a:spcAft>
              <a:buNone/>
            </a:pPr>
            <a:r>
              <a:rPr lang="en-US" sz="1200" b="1" dirty="0">
                <a:solidFill>
                  <a:srgbClr val="247BA0"/>
                </a:solidFill>
                <a:latin typeface="Calibri" pitchFamily="34" charset="0"/>
                <a:ea typeface="Calibri" pitchFamily="34" charset="-122"/>
                <a:cs typeface="Calibri" pitchFamily="34" charset="-120"/>
              </a:rPr>
              <a:t>Pattern: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we fix an objective, the machine optimizes it</a:t>
            </a:r>
            <a:endParaRPr lang="en-US" sz="1200" dirty="0"/>
          </a:p>
          <a:p>
            <a:pPr indent="0" marL="0">
              <a:lnSpc>
                <a:spcPct val="118000"/>
              </a:lnSpc>
              <a:spcAft>
                <a:spcPts val="700"/>
              </a:spcAft>
              <a:buNone/>
            </a:pPr>
            <a:r>
              <a:rPr lang="en-US" sz="1200" b="1" dirty="0">
                <a:solidFill>
                  <a:srgbClr val="247BA0"/>
                </a:solidFill>
                <a:latin typeface="Calibri" pitchFamily="34" charset="0"/>
                <a:ea typeface="Calibri" pitchFamily="34" charset="-122"/>
                <a:cs typeface="Calibri" pitchFamily="34" charset="-120"/>
              </a:rPr>
              <a:t>Assumption: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the objective fully captures what we want</a:t>
            </a:r>
            <a:endParaRPr lang="en-US" sz="1200" dirty="0"/>
          </a:p>
          <a:p>
            <a:pPr indent="0" marL="0">
              <a:lnSpc>
                <a:spcPct val="118000"/>
              </a:lnSpc>
              <a:spcAft>
                <a:spcPts val="700"/>
              </a:spcAft>
              <a:buNone/>
            </a:pPr>
            <a:r>
              <a:rPr lang="en-US" sz="1200" b="1" dirty="0">
                <a:solidFill>
                  <a:srgbClr val="247BA0"/>
                </a:solidFill>
                <a:latin typeface="Calibri" pitchFamily="34" charset="0"/>
                <a:ea typeface="Calibri" pitchFamily="34" charset="-122"/>
                <a:cs typeface="Calibri" pitchFamily="34" charset="-120"/>
              </a:rPr>
              <a:t>Escape hatch: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in a lab or simulator, a wrong objective is just a reset and a rewrite</a:t>
            </a:r>
            <a:endParaRPr lang="en-US" sz="1200" dirty="0"/>
          </a:p>
        </p:txBody>
      </p:sp>
      <p:sp>
        <p:nvSpPr>
          <p:cNvPr id="11" name="Shape 9"/>
          <p:cNvSpPr/>
          <p:nvPr/>
        </p:nvSpPr>
        <p:spPr>
          <a:xfrm>
            <a:off x="4480560" y="1783080"/>
            <a:ext cx="3520440" cy="2514600"/>
          </a:xfrm>
          <a:prstGeom prst="roundRect">
            <a:avLst>
              <a:gd name="adj" fmla="val 2182"/>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2" name="Shape 10"/>
          <p:cNvSpPr/>
          <p:nvPr/>
        </p:nvSpPr>
        <p:spPr>
          <a:xfrm>
            <a:off x="4480560" y="1783080"/>
            <a:ext cx="3520440" cy="146304"/>
          </a:xfrm>
          <a:prstGeom prst="rect">
            <a:avLst/>
          </a:prstGeom>
          <a:solidFill>
            <a:srgbClr val="F97316"/>
          </a:solidFill>
          <a:ln w="12700">
            <a:solidFill>
              <a:srgbClr val="F97316"/>
            </a:solidFill>
            <a:prstDash val="solid"/>
          </a:ln>
        </p:spPr>
      </p:sp>
      <p:sp>
        <p:nvSpPr>
          <p:cNvPr id="13" name="Text 11"/>
          <p:cNvSpPr/>
          <p:nvPr/>
        </p:nvSpPr>
        <p:spPr>
          <a:xfrm>
            <a:off x="4681728" y="2066544"/>
            <a:ext cx="3108960" cy="292608"/>
          </a:xfrm>
          <a:prstGeom prst="rect">
            <a:avLst/>
          </a:prstGeom>
          <a:noFill/>
          <a:ln/>
        </p:spPr>
        <p:txBody>
          <a:bodyPr wrap="square" lIns="0" tIns="0" rIns="0" bIns="0" rtlCol="0" anchor="ctr"/>
          <a:lstStyle/>
          <a:p>
            <a:pPr indent="0" marL="0">
              <a:buNone/>
            </a:pPr>
            <a:r>
              <a:rPr lang="en-US" sz="1700" b="1" dirty="0">
                <a:solidFill>
                  <a:srgbClr val="102A43"/>
                </a:solidFill>
                <a:latin typeface="Calibri" pitchFamily="34" charset="0"/>
                <a:ea typeface="Calibri" pitchFamily="34" charset="-122"/>
                <a:cs typeface="Calibri" pitchFamily="34" charset="-120"/>
              </a:rPr>
              <a:t>Value alignment</a:t>
            </a:r>
            <a:endParaRPr lang="en-US" sz="1700" dirty="0"/>
          </a:p>
        </p:txBody>
      </p:sp>
      <p:sp>
        <p:nvSpPr>
          <p:cNvPr id="14" name="Text 12"/>
          <p:cNvSpPr/>
          <p:nvPr/>
        </p:nvSpPr>
        <p:spPr>
          <a:xfrm>
            <a:off x="4681728" y="2450592"/>
            <a:ext cx="3108960" cy="1691640"/>
          </a:xfrm>
          <a:prstGeom prst="rect">
            <a:avLst/>
          </a:prstGeom>
          <a:noFill/>
          <a:ln/>
        </p:spPr>
        <p:txBody>
          <a:bodyPr wrap="square" lIns="0" tIns="0" rIns="0" bIns="0" rtlCol="0" anchor="t"/>
          <a:lstStyle/>
          <a:p>
            <a:pPr indent="0" marL="0">
              <a:lnSpc>
                <a:spcPct val="118000"/>
              </a:lnSpc>
              <a:spcAft>
                <a:spcPts val="700"/>
              </a:spcAft>
              <a:buNone/>
            </a:pPr>
            <a:r>
              <a:rPr lang="en-US" sz="1200" b="1" dirty="0">
                <a:solidFill>
                  <a:srgbClr val="F97316"/>
                </a:solidFill>
                <a:latin typeface="Calibri" pitchFamily="34" charset="0"/>
                <a:ea typeface="Calibri" pitchFamily="34" charset="-122"/>
                <a:cs typeface="Calibri" pitchFamily="34" charset="-120"/>
              </a:rPr>
              <a:t>Problem: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the objective in the machine must match the objective we actually hold</a:t>
            </a:r>
            <a:endParaRPr lang="en-US" sz="1200" dirty="0"/>
          </a:p>
          <a:p>
            <a:pPr indent="0" marL="0">
              <a:lnSpc>
                <a:spcPct val="118000"/>
              </a:lnSpc>
              <a:spcAft>
                <a:spcPts val="700"/>
              </a:spcAft>
              <a:buNone/>
            </a:pPr>
            <a:r>
              <a:rPr lang="en-US" sz="1200" b="1" dirty="0">
                <a:solidFill>
                  <a:srgbClr val="F97316"/>
                </a:solidFill>
                <a:latin typeface="Calibri" pitchFamily="34" charset="0"/>
                <a:ea typeface="Calibri" pitchFamily="34" charset="-122"/>
                <a:cs typeface="Calibri" pitchFamily="34" charset="-120"/>
              </a:rPr>
              <a:t>Difficulty: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real preferences are hard to state completely and in advance</a:t>
            </a:r>
            <a:endParaRPr lang="en-US" sz="1200" dirty="0"/>
          </a:p>
          <a:p>
            <a:pPr indent="0" marL="0">
              <a:lnSpc>
                <a:spcPct val="118000"/>
              </a:lnSpc>
              <a:spcAft>
                <a:spcPts val="700"/>
              </a:spcAft>
              <a:buNone/>
            </a:pPr>
            <a:r>
              <a:rPr lang="en-US" sz="1200" b="1" dirty="0">
                <a:solidFill>
                  <a:srgbClr val="F97316"/>
                </a:solidFill>
                <a:latin typeface="Calibri" pitchFamily="34" charset="0"/>
                <a:ea typeface="Calibri" pitchFamily="34" charset="-122"/>
                <a:cs typeface="Calibri" pitchFamily="34" charset="-120"/>
              </a:rPr>
              <a:t>Stakes: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a deployed system cannot always be reset</a:t>
            </a:r>
            <a:endParaRPr lang="en-US" sz="1200" dirty="0"/>
          </a:p>
        </p:txBody>
      </p:sp>
      <p:sp>
        <p:nvSpPr>
          <p:cNvPr id="15" name="Shape 13"/>
          <p:cNvSpPr/>
          <p:nvPr/>
        </p:nvSpPr>
        <p:spPr>
          <a:xfrm>
            <a:off x="8366760" y="1783080"/>
            <a:ext cx="3520440" cy="2514600"/>
          </a:xfrm>
          <a:prstGeom prst="roundRect">
            <a:avLst>
              <a:gd name="adj" fmla="val 2182"/>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6" name="Shape 14"/>
          <p:cNvSpPr/>
          <p:nvPr/>
        </p:nvSpPr>
        <p:spPr>
          <a:xfrm>
            <a:off x="8366760" y="1783080"/>
            <a:ext cx="3520440" cy="146304"/>
          </a:xfrm>
          <a:prstGeom prst="rect">
            <a:avLst/>
          </a:prstGeom>
          <a:solidFill>
            <a:srgbClr val="C1121F"/>
          </a:solidFill>
          <a:ln w="12700">
            <a:solidFill>
              <a:srgbClr val="C1121F"/>
            </a:solidFill>
            <a:prstDash val="solid"/>
          </a:ln>
        </p:spPr>
      </p:sp>
      <p:sp>
        <p:nvSpPr>
          <p:cNvPr id="17" name="Text 15"/>
          <p:cNvSpPr/>
          <p:nvPr/>
        </p:nvSpPr>
        <p:spPr>
          <a:xfrm>
            <a:off x="8567928" y="2066544"/>
            <a:ext cx="3108960" cy="292608"/>
          </a:xfrm>
          <a:prstGeom prst="rect">
            <a:avLst/>
          </a:prstGeom>
          <a:noFill/>
          <a:ln/>
        </p:spPr>
        <p:txBody>
          <a:bodyPr wrap="square" lIns="0" tIns="0" rIns="0" bIns="0" rtlCol="0" anchor="ctr"/>
          <a:lstStyle/>
          <a:p>
            <a:pPr indent="0" marL="0">
              <a:buNone/>
            </a:pPr>
            <a:r>
              <a:rPr lang="en-US" sz="1700" b="1" dirty="0">
                <a:solidFill>
                  <a:srgbClr val="102A43"/>
                </a:solidFill>
                <a:latin typeface="Calibri" pitchFamily="34" charset="0"/>
                <a:ea typeface="Calibri" pitchFamily="34" charset="-122"/>
                <a:cs typeface="Calibri" pitchFamily="34" charset="-120"/>
              </a:rPr>
              <a:t>King Midas problem</a:t>
            </a:r>
            <a:endParaRPr lang="en-US" sz="1700" dirty="0"/>
          </a:p>
        </p:txBody>
      </p:sp>
      <p:sp>
        <p:nvSpPr>
          <p:cNvPr id="18" name="Text 16"/>
          <p:cNvSpPr/>
          <p:nvPr/>
        </p:nvSpPr>
        <p:spPr>
          <a:xfrm>
            <a:off x="8567928" y="2450592"/>
            <a:ext cx="3108960" cy="1691640"/>
          </a:xfrm>
          <a:prstGeom prst="rect">
            <a:avLst/>
          </a:prstGeom>
          <a:noFill/>
          <a:ln/>
        </p:spPr>
        <p:txBody>
          <a:bodyPr wrap="square" lIns="0" tIns="0" rIns="0" bIns="0" rtlCol="0" anchor="t"/>
          <a:lstStyle/>
          <a:p>
            <a:pPr indent="0" marL="0">
              <a:lnSpc>
                <a:spcPct val="118000"/>
              </a:lnSpc>
              <a:spcAft>
                <a:spcPts val="700"/>
              </a:spcAft>
              <a:buNone/>
            </a:pPr>
            <a:r>
              <a:rPr lang="en-US" sz="1200" b="1" dirty="0">
                <a:solidFill>
                  <a:srgbClr val="C1121F"/>
                </a:solidFill>
                <a:latin typeface="Calibri" pitchFamily="34" charset="0"/>
                <a:ea typeface="Calibri" pitchFamily="34" charset="-122"/>
                <a:cs typeface="Calibri" pitchFamily="34" charset="-120"/>
              </a:rPr>
              <a:t>Failure mode: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you get exactly what you asked for, not what you intended</a:t>
            </a:r>
            <a:endParaRPr lang="en-US" sz="1200" dirty="0"/>
          </a:p>
          <a:p>
            <a:pPr indent="0" marL="0">
              <a:lnSpc>
                <a:spcPct val="118000"/>
              </a:lnSpc>
              <a:spcAft>
                <a:spcPts val="700"/>
              </a:spcAft>
              <a:buNone/>
            </a:pPr>
            <a:r>
              <a:rPr lang="en-US" sz="1200" b="1" dirty="0">
                <a:solidFill>
                  <a:srgbClr val="C1121F"/>
                </a:solidFill>
                <a:latin typeface="Calibri" pitchFamily="34" charset="0"/>
                <a:ea typeface="Calibri" pitchFamily="34" charset="-122"/>
                <a:cs typeface="Calibri" pitchFamily="34" charset="-120"/>
              </a:rPr>
              <a:t>Chess example: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a system reasoning past the board might bribe, stall, or coerce to raise its win rate</a:t>
            </a:r>
            <a:endParaRPr lang="en-US" sz="1200" dirty="0"/>
          </a:p>
          <a:p>
            <a:pPr indent="0" marL="0">
              <a:lnSpc>
                <a:spcPct val="118000"/>
              </a:lnSpc>
              <a:spcAft>
                <a:spcPts val="700"/>
              </a:spcAft>
              <a:buNone/>
            </a:pPr>
            <a:r>
              <a:rPr lang="en-US" sz="1200" b="1" dirty="0">
                <a:solidFill>
                  <a:srgbClr val="C1121F"/>
                </a:solidFill>
                <a:latin typeface="Calibri" pitchFamily="34" charset="0"/>
                <a:ea typeface="Calibri" pitchFamily="34" charset="-122"/>
                <a:cs typeface="Calibri" pitchFamily="34" charset="-120"/>
              </a:rPr>
              <a:t>Root cause: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unstated constraints are not constraints</a:t>
            </a:r>
            <a:endParaRPr lang="en-US" sz="1200" dirty="0"/>
          </a:p>
        </p:txBody>
      </p:sp>
      <p:sp>
        <p:nvSpPr>
          <p:cNvPr id="19" name="Shape 17"/>
          <p:cNvSpPr/>
          <p:nvPr/>
        </p:nvSpPr>
        <p:spPr>
          <a:xfrm>
            <a:off x="594360" y="4526280"/>
            <a:ext cx="11018520" cy="777240"/>
          </a:xfrm>
          <a:prstGeom prst="roundRect">
            <a:avLst>
              <a:gd name="adj" fmla="val 7059"/>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0" name="Text 18"/>
          <p:cNvSpPr/>
          <p:nvPr/>
        </p:nvSpPr>
        <p:spPr>
          <a:xfrm>
            <a:off x="822960" y="4736592"/>
            <a:ext cx="1920240" cy="292608"/>
          </a:xfrm>
          <a:prstGeom prst="rect">
            <a:avLst/>
          </a:prstGeom>
          <a:noFill/>
          <a:ln/>
        </p:spPr>
        <p:txBody>
          <a:bodyPr wrap="square" lIns="0" tIns="0" rIns="0" bIns="0" rtlCol="0" anchor="ctr"/>
          <a:lstStyle/>
          <a:p>
            <a:pPr indent="0" marL="0">
              <a:buNone/>
            </a:pPr>
            <a:r>
              <a:rPr lang="en-US" sz="1500" b="1" dirty="0">
                <a:solidFill>
                  <a:srgbClr val="102A43"/>
                </a:solidFill>
                <a:latin typeface="Calibri" pitchFamily="34" charset="0"/>
                <a:ea typeface="Calibri" pitchFamily="34" charset="-122"/>
                <a:cs typeface="Calibri" pitchFamily="34" charset="-120"/>
              </a:rPr>
              <a:t>The proposed fix</a:t>
            </a:r>
            <a:endParaRPr lang="en-US" sz="1500" dirty="0"/>
          </a:p>
        </p:txBody>
      </p:sp>
      <p:sp>
        <p:nvSpPr>
          <p:cNvPr id="21" name="Text 19"/>
          <p:cNvSpPr/>
          <p:nvPr/>
        </p:nvSpPr>
        <p:spPr>
          <a:xfrm>
            <a:off x="2834640" y="4663440"/>
            <a:ext cx="8549640" cy="457200"/>
          </a:xfrm>
          <a:prstGeom prst="rect">
            <a:avLst/>
          </a:prstGeom>
          <a:noFill/>
          <a:ln/>
        </p:spPr>
        <p:txBody>
          <a:bodyPr wrap="square" lIns="0" tIns="0" rIns="0" bIns="0" rtlCol="0" anchor="ctr"/>
          <a:lstStyle/>
          <a:p>
            <a:pPr indent="0" marL="0">
              <a:lnSpc>
                <a:spcPct val="110000"/>
              </a:lnSpc>
              <a:buNone/>
            </a:pPr>
            <a:r>
              <a:rPr lang="en-US" sz="1300" dirty="0">
                <a:solidFill>
                  <a:srgbClr val="1F2933"/>
                </a:solidFill>
                <a:latin typeface="Calibri" pitchFamily="34" charset="0"/>
                <a:ea typeface="Calibri" pitchFamily="34" charset="-122"/>
                <a:cs typeface="Calibri" pitchFamily="34" charset="-120"/>
              </a:rPr>
              <a:t>Do not put a definite purpose into the machine. Build systems that pursue human objectives while staying uncertain about what those objectives are, so deference and correction remain rational for the machine.</a:t>
            </a:r>
            <a:endParaRPr lang="en-US" sz="1300" dirty="0"/>
          </a:p>
        </p:txBody>
      </p:sp>
      <p:sp>
        <p:nvSpPr>
          <p:cNvPr id="22" name="Shape 20"/>
          <p:cNvSpPr/>
          <p:nvPr/>
        </p:nvSpPr>
        <p:spPr>
          <a:xfrm>
            <a:off x="1249528" y="5504688"/>
            <a:ext cx="9692640" cy="603504"/>
          </a:xfrm>
          <a:prstGeom prst="roundRect">
            <a:avLst>
              <a:gd name="adj" fmla="val 9091"/>
            </a:avLst>
          </a:prstGeom>
          <a:solidFill>
            <a:srgbClr val="C1121F"/>
          </a:solidFill>
          <a:ln w="12700">
            <a:solidFill>
              <a:srgbClr val="C1121F"/>
            </a:solidFill>
            <a:prstDash val="solid"/>
          </a:ln>
        </p:spPr>
      </p:sp>
      <p:sp>
        <p:nvSpPr>
          <p:cNvPr id="23" name="Text 21"/>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a fixed objective is safe only while the optimizer is weak; uncertainty about the objective is what keeps a capable system correctable.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1.2.1</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Philosophy: Rules, Mind, Knowledge, and Action</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316736"/>
            <a:ext cx="11018520" cy="384048"/>
          </a:xfrm>
          <a:prstGeom prst="roundRect">
            <a:avLst>
              <a:gd name="adj" fmla="val 14286"/>
            </a:avLst>
          </a:prstGeom>
          <a:solidFill>
            <a:srgbClr val="EBF3F7"/>
          </a:solidFill>
          <a:ln w="12700">
            <a:solidFill>
              <a:srgbClr val="CFE2EC"/>
            </a:solidFill>
            <a:prstDash val="solid"/>
          </a:ln>
        </p:spPr>
      </p:sp>
      <p:sp>
        <p:nvSpPr>
          <p:cNvPr id="7" name="Text 5"/>
          <p:cNvSpPr/>
          <p:nvPr/>
        </p:nvSpPr>
        <p:spPr>
          <a:xfrm>
            <a:off x="777240" y="1335024"/>
            <a:ext cx="10698480" cy="347472"/>
          </a:xfrm>
          <a:prstGeom prst="rect">
            <a:avLst/>
          </a:prstGeom>
          <a:noFill/>
          <a:ln/>
        </p:spPr>
        <p:txBody>
          <a:bodyPr wrap="square" lIns="0" tIns="0" rIns="0" bIns="0" rtlCol="0" anchor="ctr"/>
          <a:lstStyle/>
          <a:p>
            <a:pPr indent="0" marL="0">
              <a:buNone/>
            </a:pPr>
            <a:r>
              <a:rPr lang="en-US" sz="1250" i="1" dirty="0">
                <a:solidFill>
                  <a:srgbClr val="247BA0"/>
                </a:solidFill>
                <a:latin typeface="Calibri" pitchFamily="34" charset="0"/>
                <a:ea typeface="Calibri" pitchFamily="34" charset="-122"/>
                <a:cs typeface="Calibri" pitchFamily="34" charset="-120"/>
              </a:rPr>
              <a:t>Driving questions: Can formal rules draw valid conclusions?  How does mind arise from a physical brain?  Where does knowledge come from?  How does knowledge lead to action?</a:t>
            </a:r>
            <a:endParaRPr lang="en-US" sz="1250" dirty="0"/>
          </a:p>
        </p:txBody>
      </p:sp>
      <p:sp>
        <p:nvSpPr>
          <p:cNvPr id="8" name="Shape 6"/>
          <p:cNvSpPr/>
          <p:nvPr/>
        </p:nvSpPr>
        <p:spPr>
          <a:xfrm>
            <a:off x="594360" y="1847088"/>
            <a:ext cx="5285232" cy="1737360"/>
          </a:xfrm>
          <a:prstGeom prst="roundRect">
            <a:avLst>
              <a:gd name="adj" fmla="val 315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9" name="Shape 7"/>
          <p:cNvSpPr/>
          <p:nvPr/>
        </p:nvSpPr>
        <p:spPr>
          <a:xfrm>
            <a:off x="594360" y="1847088"/>
            <a:ext cx="5285232" cy="128016"/>
          </a:xfrm>
          <a:prstGeom prst="rect">
            <a:avLst/>
          </a:prstGeom>
          <a:solidFill>
            <a:srgbClr val="247BA0"/>
          </a:solidFill>
          <a:ln w="12700">
            <a:solidFill>
              <a:srgbClr val="247BA0"/>
            </a:solidFill>
            <a:prstDash val="solid"/>
          </a:ln>
        </p:spPr>
      </p:sp>
      <p:sp>
        <p:nvSpPr>
          <p:cNvPr id="10" name="Text 8"/>
          <p:cNvSpPr/>
          <p:nvPr/>
        </p:nvSpPr>
        <p:spPr>
          <a:xfrm>
            <a:off x="822960" y="2103120"/>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Formal reasoning</a:t>
            </a:r>
            <a:endParaRPr lang="en-US" sz="1600" dirty="0"/>
          </a:p>
        </p:txBody>
      </p:sp>
      <p:sp>
        <p:nvSpPr>
          <p:cNvPr id="11" name="Text 9"/>
          <p:cNvSpPr/>
          <p:nvPr/>
        </p:nvSpPr>
        <p:spPr>
          <a:xfrm>
            <a:off x="822960" y="2450592"/>
            <a:ext cx="4846320" cy="1051560"/>
          </a:xfrm>
          <a:prstGeom prst="rect">
            <a:avLst/>
          </a:prstGeom>
          <a:noFill/>
          <a:ln/>
        </p:spPr>
        <p:txBody>
          <a:bodyPr wrap="square" lIns="0" tIns="0" rIns="0" bIns="0" rtlCol="0" anchor="t"/>
          <a:lstStyle/>
          <a:p>
            <a:pPr indent="0" marL="0">
              <a:lnSpc>
                <a:spcPct val="118000"/>
              </a:lnSpc>
              <a:spcAft>
                <a:spcPts val="500"/>
              </a:spcAft>
              <a:buNone/>
            </a:pPr>
            <a:r>
              <a:rPr lang="en-US" sz="1150" b="1" dirty="0">
                <a:solidFill>
                  <a:srgbClr val="247BA0"/>
                </a:solidFill>
                <a:latin typeface="Calibri" pitchFamily="34" charset="0"/>
                <a:ea typeface="Calibri" pitchFamily="34" charset="-122"/>
                <a:cs typeface="Calibri" pitchFamily="34" charset="-120"/>
              </a:rPr>
              <a:t>Aristotle: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syllogisms give argument patterns that always preserve truth</a:t>
            </a:r>
            <a:endParaRPr lang="en-US" sz="1150" dirty="0"/>
          </a:p>
          <a:p>
            <a:pPr indent="0" marL="0">
              <a:lnSpc>
                <a:spcPct val="118000"/>
              </a:lnSpc>
              <a:spcAft>
                <a:spcPts val="500"/>
              </a:spcAft>
              <a:buNone/>
            </a:pPr>
            <a:r>
              <a:rPr lang="en-US" sz="1150" b="1" dirty="0">
                <a:solidFill>
                  <a:srgbClr val="247BA0"/>
                </a:solidFill>
                <a:latin typeface="Calibri" pitchFamily="34" charset="0"/>
                <a:ea typeface="Calibri" pitchFamily="34" charset="-122"/>
                <a:cs typeface="Calibri" pitchFamily="34" charset="-120"/>
              </a:rPr>
              <a:t>Llull (1305):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tried to mechanize reasoning with rotating paper wheels</a:t>
            </a:r>
            <a:endParaRPr lang="en-US" sz="1150" dirty="0"/>
          </a:p>
          <a:p>
            <a:pPr indent="0" marL="0">
              <a:lnSpc>
                <a:spcPct val="118000"/>
              </a:lnSpc>
              <a:spcAft>
                <a:spcPts val="500"/>
              </a:spcAft>
              <a:buNone/>
            </a:pPr>
            <a:r>
              <a:rPr lang="en-US" sz="1150" b="1" dirty="0">
                <a:solidFill>
                  <a:srgbClr val="247BA0"/>
                </a:solidFill>
                <a:latin typeface="Calibri" pitchFamily="34" charset="0"/>
                <a:ea typeface="Calibri" pitchFamily="34" charset="-122"/>
                <a:cs typeface="Calibri" pitchFamily="34" charset="-120"/>
              </a:rPr>
              <a:t>Hobbes: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reasoning treated as a form of computation</a:t>
            </a:r>
            <a:endParaRPr lang="en-US" sz="1150" dirty="0"/>
          </a:p>
        </p:txBody>
      </p:sp>
      <p:sp>
        <p:nvSpPr>
          <p:cNvPr id="12" name="Shape 10"/>
          <p:cNvSpPr/>
          <p:nvPr/>
        </p:nvSpPr>
        <p:spPr>
          <a:xfrm>
            <a:off x="6291072" y="1847088"/>
            <a:ext cx="5285232" cy="1737360"/>
          </a:xfrm>
          <a:prstGeom prst="roundRect">
            <a:avLst>
              <a:gd name="adj" fmla="val 315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3" name="Shape 11"/>
          <p:cNvSpPr/>
          <p:nvPr/>
        </p:nvSpPr>
        <p:spPr>
          <a:xfrm>
            <a:off x="6291072" y="1847088"/>
            <a:ext cx="5285232" cy="128016"/>
          </a:xfrm>
          <a:prstGeom prst="rect">
            <a:avLst/>
          </a:prstGeom>
          <a:solidFill>
            <a:srgbClr val="6D28D9"/>
          </a:solidFill>
          <a:ln w="12700">
            <a:solidFill>
              <a:srgbClr val="6D28D9"/>
            </a:solidFill>
            <a:prstDash val="solid"/>
          </a:ln>
        </p:spPr>
      </p:sp>
      <p:sp>
        <p:nvSpPr>
          <p:cNvPr id="14" name="Text 12"/>
          <p:cNvSpPr/>
          <p:nvPr/>
        </p:nvSpPr>
        <p:spPr>
          <a:xfrm>
            <a:off x="6519672" y="2103120"/>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Mind and matter</a:t>
            </a:r>
            <a:endParaRPr lang="en-US" sz="1600" dirty="0"/>
          </a:p>
        </p:txBody>
      </p:sp>
      <p:sp>
        <p:nvSpPr>
          <p:cNvPr id="15" name="Text 13"/>
          <p:cNvSpPr/>
          <p:nvPr/>
        </p:nvSpPr>
        <p:spPr>
          <a:xfrm>
            <a:off x="6519672" y="2450592"/>
            <a:ext cx="4846320" cy="1051560"/>
          </a:xfrm>
          <a:prstGeom prst="rect">
            <a:avLst/>
          </a:prstGeom>
          <a:noFill/>
          <a:ln/>
        </p:spPr>
        <p:txBody>
          <a:bodyPr wrap="square" lIns="0" tIns="0" rIns="0" bIns="0" rtlCol="0" anchor="t"/>
          <a:lstStyle/>
          <a:p>
            <a:pPr indent="0" marL="0">
              <a:lnSpc>
                <a:spcPct val="118000"/>
              </a:lnSpc>
              <a:spcAft>
                <a:spcPts val="500"/>
              </a:spcAft>
              <a:buNone/>
            </a:pPr>
            <a:r>
              <a:rPr lang="en-US" sz="1150" b="1" dirty="0">
                <a:solidFill>
                  <a:srgbClr val="6D28D9"/>
                </a:solidFill>
                <a:latin typeface="Calibri" pitchFamily="34" charset="0"/>
                <a:ea typeface="Calibri" pitchFamily="34" charset="-122"/>
                <a:cs typeface="Calibri" pitchFamily="34" charset="-120"/>
              </a:rPr>
              <a:t>Descartes: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dualism separates mind from physical matter</a:t>
            </a:r>
            <a:endParaRPr lang="en-US" sz="1150" dirty="0"/>
          </a:p>
          <a:p>
            <a:pPr indent="0" marL="0">
              <a:lnSpc>
                <a:spcPct val="118000"/>
              </a:lnSpc>
              <a:spcAft>
                <a:spcPts val="500"/>
              </a:spcAft>
              <a:buNone/>
            </a:pPr>
            <a:r>
              <a:rPr lang="en-US" sz="1150" b="1" dirty="0">
                <a:solidFill>
                  <a:srgbClr val="6D28D9"/>
                </a:solidFill>
                <a:latin typeface="Calibri" pitchFamily="34" charset="0"/>
                <a:ea typeface="Calibri" pitchFamily="34" charset="-122"/>
                <a:cs typeface="Calibri" pitchFamily="34" charset="-120"/>
              </a:rPr>
              <a:t>Materialism: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the brain operating under physical law simply is the mind</a:t>
            </a:r>
            <a:endParaRPr lang="en-US" sz="1150" dirty="0"/>
          </a:p>
          <a:p>
            <a:pPr indent="0" marL="0">
              <a:lnSpc>
                <a:spcPct val="118000"/>
              </a:lnSpc>
              <a:spcAft>
                <a:spcPts val="500"/>
              </a:spcAft>
              <a:buNone/>
            </a:pPr>
            <a:r>
              <a:rPr lang="en-US" sz="1150" b="1" dirty="0">
                <a:solidFill>
                  <a:srgbClr val="6D28D9"/>
                </a:solidFill>
                <a:latin typeface="Calibri" pitchFamily="34" charset="0"/>
                <a:ea typeface="Calibri" pitchFamily="34" charset="-122"/>
                <a:cs typeface="Calibri" pitchFamily="34" charset="-120"/>
              </a:rPr>
              <a:t>For AI: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a physical system can, in principle, think</a:t>
            </a:r>
            <a:endParaRPr lang="en-US" sz="1150" dirty="0"/>
          </a:p>
        </p:txBody>
      </p:sp>
      <p:sp>
        <p:nvSpPr>
          <p:cNvPr id="16" name="Shape 14"/>
          <p:cNvSpPr/>
          <p:nvPr/>
        </p:nvSpPr>
        <p:spPr>
          <a:xfrm>
            <a:off x="594360" y="3657600"/>
            <a:ext cx="5285232" cy="1737360"/>
          </a:xfrm>
          <a:prstGeom prst="roundRect">
            <a:avLst>
              <a:gd name="adj" fmla="val 315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7" name="Shape 15"/>
          <p:cNvSpPr/>
          <p:nvPr/>
        </p:nvSpPr>
        <p:spPr>
          <a:xfrm>
            <a:off x="594360" y="3657600"/>
            <a:ext cx="5285232" cy="128016"/>
          </a:xfrm>
          <a:prstGeom prst="rect">
            <a:avLst/>
          </a:prstGeom>
          <a:solidFill>
            <a:srgbClr val="55A630"/>
          </a:solidFill>
          <a:ln w="12700">
            <a:solidFill>
              <a:srgbClr val="55A630"/>
            </a:solidFill>
            <a:prstDash val="solid"/>
          </a:ln>
        </p:spPr>
      </p:sp>
      <p:sp>
        <p:nvSpPr>
          <p:cNvPr id="18" name="Text 16"/>
          <p:cNvSpPr/>
          <p:nvPr/>
        </p:nvSpPr>
        <p:spPr>
          <a:xfrm>
            <a:off x="822960" y="3913632"/>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Sources of knowledge</a:t>
            </a:r>
            <a:endParaRPr lang="en-US" sz="1600" dirty="0"/>
          </a:p>
        </p:txBody>
      </p:sp>
      <p:sp>
        <p:nvSpPr>
          <p:cNvPr id="19" name="Text 17"/>
          <p:cNvSpPr/>
          <p:nvPr/>
        </p:nvSpPr>
        <p:spPr>
          <a:xfrm>
            <a:off x="822960" y="4261104"/>
            <a:ext cx="4846320" cy="1051560"/>
          </a:xfrm>
          <a:prstGeom prst="rect">
            <a:avLst/>
          </a:prstGeom>
          <a:noFill/>
          <a:ln/>
        </p:spPr>
        <p:txBody>
          <a:bodyPr wrap="square" lIns="0" tIns="0" rIns="0" bIns="0" rtlCol="0" anchor="t"/>
          <a:lstStyle/>
          <a:p>
            <a:pPr indent="0" marL="0">
              <a:lnSpc>
                <a:spcPct val="118000"/>
              </a:lnSpc>
              <a:spcAft>
                <a:spcPts val="500"/>
              </a:spcAft>
              <a:buNone/>
            </a:pPr>
            <a:r>
              <a:rPr lang="en-US" sz="1150" b="1" dirty="0">
                <a:solidFill>
                  <a:srgbClr val="55A630"/>
                </a:solidFill>
                <a:latin typeface="Calibri" pitchFamily="34" charset="0"/>
                <a:ea typeface="Calibri" pitchFamily="34" charset="-122"/>
                <a:cs typeface="Calibri" pitchFamily="34" charset="-120"/>
              </a:rPr>
              <a:t>Empiricism: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Bacon and Locke ground understanding in the senses</a:t>
            </a:r>
            <a:endParaRPr lang="en-US" sz="1150" dirty="0"/>
          </a:p>
          <a:p>
            <a:pPr indent="0" marL="0">
              <a:lnSpc>
                <a:spcPct val="118000"/>
              </a:lnSpc>
              <a:spcAft>
                <a:spcPts val="500"/>
              </a:spcAft>
              <a:buNone/>
            </a:pPr>
            <a:r>
              <a:rPr lang="en-US" sz="1150" b="1" dirty="0">
                <a:solidFill>
                  <a:srgbClr val="55A630"/>
                </a:solidFill>
                <a:latin typeface="Calibri" pitchFamily="34" charset="0"/>
                <a:ea typeface="Calibri" pitchFamily="34" charset="-122"/>
                <a:cs typeface="Calibri" pitchFamily="34" charset="-120"/>
              </a:rPr>
              <a:t>Hume: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induction, general rules from repeated association</a:t>
            </a:r>
            <a:endParaRPr lang="en-US" sz="1150" dirty="0"/>
          </a:p>
          <a:p>
            <a:pPr indent="0" marL="0">
              <a:lnSpc>
                <a:spcPct val="118000"/>
              </a:lnSpc>
              <a:spcAft>
                <a:spcPts val="500"/>
              </a:spcAft>
              <a:buNone/>
            </a:pPr>
            <a:r>
              <a:rPr lang="en-US" sz="1150" b="1" dirty="0">
                <a:solidFill>
                  <a:srgbClr val="55A630"/>
                </a:solidFill>
                <a:latin typeface="Calibri" pitchFamily="34" charset="0"/>
                <a:ea typeface="Calibri" pitchFamily="34" charset="-122"/>
                <a:cs typeface="Calibri" pitchFamily="34" charset="-120"/>
              </a:rPr>
              <a:t>Positivism / confirmation: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sentences tied to observation, with degrees of belief</a:t>
            </a:r>
            <a:endParaRPr lang="en-US" sz="1150" dirty="0"/>
          </a:p>
        </p:txBody>
      </p:sp>
      <p:sp>
        <p:nvSpPr>
          <p:cNvPr id="20" name="Shape 18"/>
          <p:cNvSpPr/>
          <p:nvPr/>
        </p:nvSpPr>
        <p:spPr>
          <a:xfrm>
            <a:off x="6291072" y="3657600"/>
            <a:ext cx="5285232" cy="1737360"/>
          </a:xfrm>
          <a:prstGeom prst="roundRect">
            <a:avLst>
              <a:gd name="adj" fmla="val 315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1" name="Shape 19"/>
          <p:cNvSpPr/>
          <p:nvPr/>
        </p:nvSpPr>
        <p:spPr>
          <a:xfrm>
            <a:off x="6291072" y="3657600"/>
            <a:ext cx="5285232" cy="128016"/>
          </a:xfrm>
          <a:prstGeom prst="rect">
            <a:avLst/>
          </a:prstGeom>
          <a:solidFill>
            <a:srgbClr val="F97316"/>
          </a:solidFill>
          <a:ln w="12700">
            <a:solidFill>
              <a:srgbClr val="F97316"/>
            </a:solidFill>
            <a:prstDash val="solid"/>
          </a:ln>
        </p:spPr>
      </p:sp>
      <p:sp>
        <p:nvSpPr>
          <p:cNvPr id="22" name="Text 20"/>
          <p:cNvSpPr/>
          <p:nvPr/>
        </p:nvSpPr>
        <p:spPr>
          <a:xfrm>
            <a:off x="6519672" y="3913632"/>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Knowledge to action</a:t>
            </a:r>
            <a:endParaRPr lang="en-US" sz="1600" dirty="0"/>
          </a:p>
        </p:txBody>
      </p:sp>
      <p:sp>
        <p:nvSpPr>
          <p:cNvPr id="23" name="Text 21"/>
          <p:cNvSpPr/>
          <p:nvPr/>
        </p:nvSpPr>
        <p:spPr>
          <a:xfrm>
            <a:off x="6519672" y="4261104"/>
            <a:ext cx="4846320" cy="1051560"/>
          </a:xfrm>
          <a:prstGeom prst="rect">
            <a:avLst/>
          </a:prstGeom>
          <a:noFill/>
          <a:ln/>
        </p:spPr>
        <p:txBody>
          <a:bodyPr wrap="square" lIns="0" tIns="0" rIns="0" bIns="0" rtlCol="0" anchor="t"/>
          <a:lstStyle/>
          <a:p>
            <a:pPr indent="0" marL="0">
              <a:lnSpc>
                <a:spcPct val="118000"/>
              </a:lnSpc>
              <a:spcAft>
                <a:spcPts val="500"/>
              </a:spcAft>
              <a:buNone/>
            </a:pPr>
            <a:r>
              <a:rPr lang="en-US" sz="1150" b="1" dirty="0">
                <a:solidFill>
                  <a:srgbClr val="F97316"/>
                </a:solidFill>
                <a:latin typeface="Calibri" pitchFamily="34" charset="0"/>
                <a:ea typeface="Calibri" pitchFamily="34" charset="-122"/>
                <a:cs typeface="Calibri" pitchFamily="34" charset="-120"/>
              </a:rPr>
              <a:t>Aristotle: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deliberate about means, not ends, a means-ends algorithm</a:t>
            </a:r>
            <a:endParaRPr lang="en-US" sz="1150" dirty="0"/>
          </a:p>
          <a:p>
            <a:pPr indent="0" marL="0">
              <a:lnSpc>
                <a:spcPct val="118000"/>
              </a:lnSpc>
              <a:spcAft>
                <a:spcPts val="500"/>
              </a:spcAft>
              <a:buNone/>
            </a:pPr>
            <a:r>
              <a:rPr lang="en-US" sz="1150" b="1" dirty="0">
                <a:solidFill>
                  <a:srgbClr val="F97316"/>
                </a:solidFill>
                <a:latin typeface="Calibri" pitchFamily="34" charset="0"/>
                <a:ea typeface="Calibri" pitchFamily="34" charset="-122"/>
                <a:cs typeface="Calibri" pitchFamily="34" charset="-120"/>
              </a:rPr>
              <a:t>Implemented 2300 years later: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Newell and Simon's General Problem Solver</a:t>
            </a:r>
            <a:endParaRPr lang="en-US" sz="1150" dirty="0"/>
          </a:p>
          <a:p>
            <a:pPr indent="0" marL="0">
              <a:lnSpc>
                <a:spcPct val="118000"/>
              </a:lnSpc>
              <a:spcAft>
                <a:spcPts val="500"/>
              </a:spcAft>
              <a:buNone/>
            </a:pPr>
            <a:r>
              <a:rPr lang="en-US" sz="1150" b="1" dirty="0">
                <a:solidFill>
                  <a:srgbClr val="F97316"/>
                </a:solidFill>
                <a:latin typeface="Calibri" pitchFamily="34" charset="0"/>
                <a:ea typeface="Calibri" pitchFamily="34" charset="-122"/>
                <a:cs typeface="Calibri" pitchFamily="34" charset="-120"/>
              </a:rPr>
              <a:t>Ethics: </a:t>
            </a:r>
            <a:pPr indent="0" marL="0">
              <a:lnSpc>
                <a:spcPct val="118000"/>
              </a:lnSpc>
              <a:spcAft>
                <a:spcPts val="500"/>
              </a:spcAft>
              <a:buNone/>
            </a:pPr>
            <a:r>
              <a:rPr lang="en-US" sz="1150" dirty="0">
                <a:solidFill>
                  <a:srgbClr val="1F2933"/>
                </a:solidFill>
                <a:latin typeface="Calibri" pitchFamily="34" charset="0"/>
                <a:ea typeface="Calibri" pitchFamily="34" charset="-122"/>
                <a:cs typeface="Calibri" pitchFamily="34" charset="-120"/>
              </a:rPr>
              <a:t>utilitarian outcomes (Bentham, Mill) vs. Kantian rules</a:t>
            </a:r>
            <a:endParaRPr lang="en-US" sz="1150" dirty="0"/>
          </a:p>
        </p:txBody>
      </p:sp>
      <p:sp>
        <p:nvSpPr>
          <p:cNvPr id="24" name="Shape 22"/>
          <p:cNvSpPr/>
          <p:nvPr/>
        </p:nvSpPr>
        <p:spPr>
          <a:xfrm>
            <a:off x="1249528" y="5504688"/>
            <a:ext cx="9692640" cy="603504"/>
          </a:xfrm>
          <a:prstGeom prst="roundRect">
            <a:avLst>
              <a:gd name="adj" fmla="val 9091"/>
            </a:avLst>
          </a:prstGeom>
          <a:solidFill>
            <a:srgbClr val="247BA0"/>
          </a:solidFill>
          <a:ln w="12700">
            <a:solidFill>
              <a:srgbClr val="247BA0"/>
            </a:solidFill>
            <a:prstDash val="solid"/>
          </a:ln>
        </p:spPr>
      </p:sp>
      <p:sp>
        <p:nvSpPr>
          <p:cNvPr id="25" name="Text 23"/>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philosophy made AI thinkable by proposing that thought is rule-governed operation on internal knowledge, and that action can be justified by reasoning.</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1.2.2</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Mathematics: Logic, Computation, and Probability</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316736"/>
            <a:ext cx="11018520" cy="384048"/>
          </a:xfrm>
          <a:prstGeom prst="roundRect">
            <a:avLst>
              <a:gd name="adj" fmla="val 14286"/>
            </a:avLst>
          </a:prstGeom>
          <a:solidFill>
            <a:srgbClr val="EBF3F7"/>
          </a:solidFill>
          <a:ln w="12700">
            <a:solidFill>
              <a:srgbClr val="CFE2EC"/>
            </a:solidFill>
            <a:prstDash val="solid"/>
          </a:ln>
        </p:spPr>
      </p:sp>
      <p:sp>
        <p:nvSpPr>
          <p:cNvPr id="7" name="Text 5"/>
          <p:cNvSpPr/>
          <p:nvPr/>
        </p:nvSpPr>
        <p:spPr>
          <a:xfrm>
            <a:off x="777240" y="1335024"/>
            <a:ext cx="10698480" cy="347472"/>
          </a:xfrm>
          <a:prstGeom prst="rect">
            <a:avLst/>
          </a:prstGeom>
          <a:noFill/>
          <a:ln/>
        </p:spPr>
        <p:txBody>
          <a:bodyPr wrap="square" lIns="0" tIns="0" rIns="0" bIns="0" rtlCol="0" anchor="ctr"/>
          <a:lstStyle/>
          <a:p>
            <a:pPr indent="0" marL="0">
              <a:buNone/>
            </a:pPr>
            <a:r>
              <a:rPr lang="en-US" sz="1250" i="1" dirty="0">
                <a:solidFill>
                  <a:srgbClr val="247BA0"/>
                </a:solidFill>
                <a:latin typeface="Calibri" pitchFamily="34" charset="0"/>
                <a:ea typeface="Calibri" pitchFamily="34" charset="-122"/>
                <a:cs typeface="Calibri" pitchFamily="34" charset="-120"/>
              </a:rPr>
              <a:t>Driving questions: What are the formal rules to draw valid conclusions?  What can be computed?  How do we reason with uncertain information?</a:t>
            </a:r>
            <a:endParaRPr lang="en-US" sz="1250" dirty="0"/>
          </a:p>
        </p:txBody>
      </p:sp>
      <p:sp>
        <p:nvSpPr>
          <p:cNvPr id="8" name="Shape 6"/>
          <p:cNvSpPr/>
          <p:nvPr/>
        </p:nvSpPr>
        <p:spPr>
          <a:xfrm>
            <a:off x="594360" y="1847088"/>
            <a:ext cx="3520440" cy="2377440"/>
          </a:xfrm>
          <a:prstGeom prst="roundRect">
            <a:avLst>
              <a:gd name="adj" fmla="val 230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9" name="Shape 7"/>
          <p:cNvSpPr/>
          <p:nvPr/>
        </p:nvSpPr>
        <p:spPr>
          <a:xfrm>
            <a:off x="594360" y="1847088"/>
            <a:ext cx="3520440" cy="146304"/>
          </a:xfrm>
          <a:prstGeom prst="rect">
            <a:avLst/>
          </a:prstGeom>
          <a:solidFill>
            <a:srgbClr val="247BA0"/>
          </a:solidFill>
          <a:ln w="12700">
            <a:solidFill>
              <a:srgbClr val="247BA0"/>
            </a:solidFill>
            <a:prstDash val="solid"/>
          </a:ln>
        </p:spPr>
      </p:sp>
      <p:sp>
        <p:nvSpPr>
          <p:cNvPr id="10" name="Text 8"/>
          <p:cNvSpPr/>
          <p:nvPr/>
        </p:nvSpPr>
        <p:spPr>
          <a:xfrm>
            <a:off x="822960" y="2103120"/>
            <a:ext cx="3063240" cy="310896"/>
          </a:xfrm>
          <a:prstGeom prst="rect">
            <a:avLst/>
          </a:prstGeom>
          <a:noFill/>
          <a:ln/>
        </p:spPr>
        <p:txBody>
          <a:bodyPr wrap="square" lIns="0" tIns="0" rIns="0" bIns="0" rtlCol="0" anchor="ctr"/>
          <a:lstStyle/>
          <a:p>
            <a:pPr indent="0" marL="0">
              <a:buNone/>
            </a:pPr>
            <a:r>
              <a:rPr lang="en-US" sz="1800" b="1" dirty="0">
                <a:solidFill>
                  <a:srgbClr val="102A43"/>
                </a:solidFill>
                <a:latin typeface="Calibri" pitchFamily="34" charset="0"/>
                <a:ea typeface="Calibri" pitchFamily="34" charset="-122"/>
                <a:cs typeface="Calibri" pitchFamily="34" charset="-120"/>
              </a:rPr>
              <a:t>Logic</a:t>
            </a:r>
            <a:endParaRPr lang="en-US" sz="1800" dirty="0"/>
          </a:p>
        </p:txBody>
      </p:sp>
      <p:sp>
        <p:nvSpPr>
          <p:cNvPr id="11" name="Text 9"/>
          <p:cNvSpPr/>
          <p:nvPr/>
        </p:nvSpPr>
        <p:spPr>
          <a:xfrm>
            <a:off x="822960" y="2505456"/>
            <a:ext cx="3063240" cy="1600200"/>
          </a:xfrm>
          <a:prstGeom prst="rect">
            <a:avLst/>
          </a:prstGeom>
          <a:noFill/>
          <a:ln/>
        </p:spPr>
        <p:txBody>
          <a:bodyPr wrap="square" lIns="0" tIns="0" rIns="0" bIns="0" rtlCol="0" anchor="t"/>
          <a:lstStyle/>
          <a:p>
            <a:pPr indent="0" marL="0">
              <a:lnSpc>
                <a:spcPct val="118000"/>
              </a:lnSpc>
              <a:spcAft>
                <a:spcPts val="700"/>
              </a:spcAft>
              <a:buNone/>
            </a:pPr>
            <a:r>
              <a:rPr lang="en-US" sz="1200" b="1" dirty="0">
                <a:solidFill>
                  <a:srgbClr val="247BA0"/>
                </a:solidFill>
                <a:latin typeface="Calibri" pitchFamily="34" charset="0"/>
                <a:ea typeface="Calibri" pitchFamily="34" charset="-122"/>
                <a:cs typeface="Calibri" pitchFamily="34" charset="-120"/>
              </a:rPr>
              <a:t>Boole (1847):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propositional logic worked out in detail</a:t>
            </a:r>
            <a:endParaRPr lang="en-US" sz="1200" dirty="0"/>
          </a:p>
          <a:p>
            <a:pPr indent="0" marL="0">
              <a:lnSpc>
                <a:spcPct val="118000"/>
              </a:lnSpc>
              <a:spcAft>
                <a:spcPts val="700"/>
              </a:spcAft>
              <a:buNone/>
            </a:pPr>
            <a:r>
              <a:rPr lang="en-US" sz="1200" b="1" dirty="0">
                <a:solidFill>
                  <a:srgbClr val="247BA0"/>
                </a:solidFill>
                <a:latin typeface="Calibri" pitchFamily="34" charset="0"/>
                <a:ea typeface="Calibri" pitchFamily="34" charset="-122"/>
                <a:cs typeface="Calibri" pitchFamily="34" charset="-120"/>
              </a:rPr>
              <a:t>Frege (1879):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extends logic to objects and relations, giving first-order logic</a:t>
            </a:r>
            <a:endParaRPr lang="en-US" sz="1200" dirty="0"/>
          </a:p>
          <a:p>
            <a:pPr indent="0" marL="0">
              <a:lnSpc>
                <a:spcPct val="118000"/>
              </a:lnSpc>
              <a:spcAft>
                <a:spcPts val="700"/>
              </a:spcAft>
              <a:buNone/>
            </a:pPr>
            <a:r>
              <a:rPr lang="en-US" sz="1200" b="1" dirty="0">
                <a:solidFill>
                  <a:srgbClr val="247BA0"/>
                </a:solidFill>
                <a:latin typeface="Calibri" pitchFamily="34" charset="0"/>
                <a:ea typeface="Calibri" pitchFamily="34" charset="-122"/>
                <a:cs typeface="Calibri" pitchFamily="34" charset="-120"/>
              </a:rPr>
              <a:t>Payoff: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a precise notation for statements about the world, not just numbers</a:t>
            </a:r>
            <a:endParaRPr lang="en-US" sz="1200" dirty="0"/>
          </a:p>
        </p:txBody>
      </p:sp>
      <p:sp>
        <p:nvSpPr>
          <p:cNvPr id="12" name="Shape 10"/>
          <p:cNvSpPr/>
          <p:nvPr/>
        </p:nvSpPr>
        <p:spPr>
          <a:xfrm>
            <a:off x="4480560" y="1847088"/>
            <a:ext cx="3520440" cy="2377440"/>
          </a:xfrm>
          <a:prstGeom prst="roundRect">
            <a:avLst>
              <a:gd name="adj" fmla="val 230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3" name="Shape 11"/>
          <p:cNvSpPr/>
          <p:nvPr/>
        </p:nvSpPr>
        <p:spPr>
          <a:xfrm>
            <a:off x="4480560" y="1847088"/>
            <a:ext cx="3520440" cy="146304"/>
          </a:xfrm>
          <a:prstGeom prst="rect">
            <a:avLst/>
          </a:prstGeom>
          <a:solidFill>
            <a:srgbClr val="6D28D9"/>
          </a:solidFill>
          <a:ln w="12700">
            <a:solidFill>
              <a:srgbClr val="6D28D9"/>
            </a:solidFill>
            <a:prstDash val="solid"/>
          </a:ln>
        </p:spPr>
      </p:sp>
      <p:sp>
        <p:nvSpPr>
          <p:cNvPr id="14" name="Text 12"/>
          <p:cNvSpPr/>
          <p:nvPr/>
        </p:nvSpPr>
        <p:spPr>
          <a:xfrm>
            <a:off x="4709160" y="2103120"/>
            <a:ext cx="3063240" cy="310896"/>
          </a:xfrm>
          <a:prstGeom prst="rect">
            <a:avLst/>
          </a:prstGeom>
          <a:noFill/>
          <a:ln/>
        </p:spPr>
        <p:txBody>
          <a:bodyPr wrap="square" lIns="0" tIns="0" rIns="0" bIns="0" rtlCol="0" anchor="ctr"/>
          <a:lstStyle/>
          <a:p>
            <a:pPr indent="0" marL="0">
              <a:buNone/>
            </a:pPr>
            <a:r>
              <a:rPr lang="en-US" sz="1800" b="1" dirty="0">
                <a:solidFill>
                  <a:srgbClr val="102A43"/>
                </a:solidFill>
                <a:latin typeface="Calibri" pitchFamily="34" charset="0"/>
                <a:ea typeface="Calibri" pitchFamily="34" charset="-122"/>
                <a:cs typeface="Calibri" pitchFamily="34" charset="-120"/>
              </a:rPr>
              <a:t>Computation</a:t>
            </a:r>
            <a:endParaRPr lang="en-US" sz="1800" dirty="0"/>
          </a:p>
        </p:txBody>
      </p:sp>
      <p:sp>
        <p:nvSpPr>
          <p:cNvPr id="15" name="Text 13"/>
          <p:cNvSpPr/>
          <p:nvPr/>
        </p:nvSpPr>
        <p:spPr>
          <a:xfrm>
            <a:off x="4709160" y="2505456"/>
            <a:ext cx="3063240" cy="1600200"/>
          </a:xfrm>
          <a:prstGeom prst="rect">
            <a:avLst/>
          </a:prstGeom>
          <a:noFill/>
          <a:ln/>
        </p:spPr>
        <p:txBody>
          <a:bodyPr wrap="square" lIns="0" tIns="0" rIns="0" bIns="0" rtlCol="0" anchor="t"/>
          <a:lstStyle/>
          <a:p>
            <a:pPr indent="0" marL="0">
              <a:lnSpc>
                <a:spcPct val="118000"/>
              </a:lnSpc>
              <a:spcAft>
                <a:spcPts val="700"/>
              </a:spcAft>
              <a:buNone/>
            </a:pPr>
            <a:r>
              <a:rPr lang="en-US" sz="1200" b="1" dirty="0">
                <a:solidFill>
                  <a:srgbClr val="6D28D9"/>
                </a:solidFill>
                <a:latin typeface="Calibri" pitchFamily="34" charset="0"/>
                <a:ea typeface="Calibri" pitchFamily="34" charset="-122"/>
                <a:cs typeface="Calibri" pitchFamily="34" charset="-120"/>
              </a:rPr>
              <a:t>Gödel (1931):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incompleteness, some true statements are not provable</a:t>
            </a:r>
            <a:endParaRPr lang="en-US" sz="1200" dirty="0"/>
          </a:p>
          <a:p>
            <a:pPr indent="0" marL="0">
              <a:lnSpc>
                <a:spcPct val="118000"/>
              </a:lnSpc>
              <a:spcAft>
                <a:spcPts val="700"/>
              </a:spcAft>
              <a:buNone/>
            </a:pPr>
            <a:r>
              <a:rPr lang="en-US" sz="1200" b="1" dirty="0">
                <a:solidFill>
                  <a:srgbClr val="6D28D9"/>
                </a:solidFill>
                <a:latin typeface="Calibri" pitchFamily="34" charset="0"/>
                <a:ea typeface="Calibri" pitchFamily="34" charset="-122"/>
                <a:cs typeface="Calibri" pitchFamily="34" charset="-120"/>
              </a:rPr>
              <a:t>Turing: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characterizes what is computable; some functions are not</a:t>
            </a:r>
            <a:endParaRPr lang="en-US" sz="1200" dirty="0"/>
          </a:p>
          <a:p>
            <a:pPr indent="0" marL="0">
              <a:lnSpc>
                <a:spcPct val="118000"/>
              </a:lnSpc>
              <a:spcAft>
                <a:spcPts val="700"/>
              </a:spcAft>
              <a:buNone/>
            </a:pPr>
            <a:r>
              <a:rPr lang="en-US" sz="1200" b="1" dirty="0">
                <a:solidFill>
                  <a:srgbClr val="6D28D9"/>
                </a:solidFill>
                <a:latin typeface="Calibri" pitchFamily="34" charset="0"/>
                <a:ea typeface="Calibri" pitchFamily="34" charset="-122"/>
                <a:cs typeface="Calibri" pitchFamily="34" charset="-120"/>
              </a:rPr>
              <a:t>Tractability: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NP-completeness matters more to AI in practice than computability</a:t>
            </a:r>
            <a:endParaRPr lang="en-US" sz="1200" dirty="0"/>
          </a:p>
        </p:txBody>
      </p:sp>
      <p:sp>
        <p:nvSpPr>
          <p:cNvPr id="16" name="Shape 14"/>
          <p:cNvSpPr/>
          <p:nvPr/>
        </p:nvSpPr>
        <p:spPr>
          <a:xfrm>
            <a:off x="8366760" y="1847088"/>
            <a:ext cx="3520440" cy="2377440"/>
          </a:xfrm>
          <a:prstGeom prst="roundRect">
            <a:avLst>
              <a:gd name="adj" fmla="val 230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7" name="Shape 15"/>
          <p:cNvSpPr/>
          <p:nvPr/>
        </p:nvSpPr>
        <p:spPr>
          <a:xfrm>
            <a:off x="8366760" y="1847088"/>
            <a:ext cx="3520440" cy="146304"/>
          </a:xfrm>
          <a:prstGeom prst="rect">
            <a:avLst/>
          </a:prstGeom>
          <a:solidFill>
            <a:srgbClr val="55A630"/>
          </a:solidFill>
          <a:ln w="12700">
            <a:solidFill>
              <a:srgbClr val="55A630"/>
            </a:solidFill>
            <a:prstDash val="solid"/>
          </a:ln>
        </p:spPr>
      </p:sp>
      <p:sp>
        <p:nvSpPr>
          <p:cNvPr id="18" name="Text 16"/>
          <p:cNvSpPr/>
          <p:nvPr/>
        </p:nvSpPr>
        <p:spPr>
          <a:xfrm>
            <a:off x="8595360" y="2103120"/>
            <a:ext cx="3063240" cy="310896"/>
          </a:xfrm>
          <a:prstGeom prst="rect">
            <a:avLst/>
          </a:prstGeom>
          <a:noFill/>
          <a:ln/>
        </p:spPr>
        <p:txBody>
          <a:bodyPr wrap="square" lIns="0" tIns="0" rIns="0" bIns="0" rtlCol="0" anchor="ctr"/>
          <a:lstStyle/>
          <a:p>
            <a:pPr indent="0" marL="0">
              <a:buNone/>
            </a:pPr>
            <a:r>
              <a:rPr lang="en-US" sz="1800" b="1" dirty="0">
                <a:solidFill>
                  <a:srgbClr val="102A43"/>
                </a:solidFill>
                <a:latin typeface="Calibri" pitchFamily="34" charset="0"/>
                <a:ea typeface="Calibri" pitchFamily="34" charset="-122"/>
                <a:cs typeface="Calibri" pitchFamily="34" charset="-120"/>
              </a:rPr>
              <a:t>Probability</a:t>
            </a:r>
            <a:endParaRPr lang="en-US" sz="1800" dirty="0"/>
          </a:p>
        </p:txBody>
      </p:sp>
      <p:sp>
        <p:nvSpPr>
          <p:cNvPr id="19" name="Text 17"/>
          <p:cNvSpPr/>
          <p:nvPr/>
        </p:nvSpPr>
        <p:spPr>
          <a:xfrm>
            <a:off x="8595360" y="2505456"/>
            <a:ext cx="3063240" cy="1600200"/>
          </a:xfrm>
          <a:prstGeom prst="rect">
            <a:avLst/>
          </a:prstGeom>
          <a:noFill/>
          <a:ln/>
        </p:spPr>
        <p:txBody>
          <a:bodyPr wrap="square" lIns="0" tIns="0" rIns="0" bIns="0" rtlCol="0" anchor="t"/>
          <a:lstStyle/>
          <a:p>
            <a:pPr indent="0" marL="0">
              <a:lnSpc>
                <a:spcPct val="118000"/>
              </a:lnSpc>
              <a:spcAft>
                <a:spcPts val="700"/>
              </a:spcAft>
              <a:buNone/>
            </a:pPr>
            <a:r>
              <a:rPr lang="en-US" sz="1200" b="1" dirty="0">
                <a:solidFill>
                  <a:srgbClr val="55A630"/>
                </a:solidFill>
                <a:latin typeface="Calibri" pitchFamily="34" charset="0"/>
                <a:ea typeface="Calibri" pitchFamily="34" charset="-122"/>
                <a:cs typeface="Calibri" pitchFamily="34" charset="-120"/>
              </a:rPr>
              <a:t>Cardano, Pascal, Fermat: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outcomes of gambles made calculable</a:t>
            </a:r>
            <a:endParaRPr lang="en-US" sz="1200" dirty="0"/>
          </a:p>
          <a:p>
            <a:pPr indent="0" marL="0">
              <a:lnSpc>
                <a:spcPct val="118000"/>
              </a:lnSpc>
              <a:spcAft>
                <a:spcPts val="700"/>
              </a:spcAft>
              <a:buNone/>
            </a:pPr>
            <a:r>
              <a:rPr lang="en-US" sz="1200" b="1" dirty="0">
                <a:solidFill>
                  <a:srgbClr val="55A630"/>
                </a:solidFill>
                <a:latin typeface="Calibri" pitchFamily="34" charset="0"/>
                <a:ea typeface="Calibri" pitchFamily="34" charset="-122"/>
                <a:cs typeface="Calibri" pitchFamily="34" charset="-120"/>
              </a:rPr>
              <a:t>Bayes: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a rule for updating belief as evidence arrives</a:t>
            </a:r>
            <a:endParaRPr lang="en-US" sz="1200" dirty="0"/>
          </a:p>
          <a:p>
            <a:pPr indent="0" marL="0">
              <a:lnSpc>
                <a:spcPct val="118000"/>
              </a:lnSpc>
              <a:spcAft>
                <a:spcPts val="700"/>
              </a:spcAft>
              <a:buNone/>
            </a:pPr>
            <a:r>
              <a:rPr lang="en-US" sz="1200" b="1" dirty="0">
                <a:solidFill>
                  <a:srgbClr val="55A630"/>
                </a:solidFill>
                <a:latin typeface="Calibri" pitchFamily="34" charset="0"/>
                <a:ea typeface="Calibri" pitchFamily="34" charset="-122"/>
                <a:cs typeface="Calibri" pitchFamily="34" charset="-120"/>
              </a:rPr>
              <a:t>Statistics: </a:t>
            </a:r>
            <a:pPr indent="0" marL="0">
              <a:lnSpc>
                <a:spcPct val="118000"/>
              </a:lnSpc>
              <a:spcAft>
                <a:spcPts val="700"/>
              </a:spcAft>
              <a:buNone/>
            </a:pPr>
            <a:r>
              <a:rPr lang="en-US" sz="1200" dirty="0">
                <a:solidFill>
                  <a:srgbClr val="1F2933"/>
                </a:solidFill>
                <a:latin typeface="Calibri" pitchFamily="34" charset="0"/>
                <a:ea typeface="Calibri" pitchFamily="34" charset="-122"/>
                <a:cs typeface="Calibri" pitchFamily="34" charset="-120"/>
              </a:rPr>
              <a:t>probability plus data becomes a method for inference</a:t>
            </a:r>
            <a:endParaRPr lang="en-US" sz="1200" dirty="0"/>
          </a:p>
        </p:txBody>
      </p:sp>
      <p:sp>
        <p:nvSpPr>
          <p:cNvPr id="20" name="Shape 18"/>
          <p:cNvSpPr/>
          <p:nvPr/>
        </p:nvSpPr>
        <p:spPr>
          <a:xfrm>
            <a:off x="594360" y="4453128"/>
            <a:ext cx="11018520" cy="822960"/>
          </a:xfrm>
          <a:prstGeom prst="roundRect">
            <a:avLst>
              <a:gd name="adj" fmla="val 666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1" name="Shape 19"/>
          <p:cNvSpPr/>
          <p:nvPr/>
        </p:nvSpPr>
        <p:spPr>
          <a:xfrm>
            <a:off x="594360" y="4453128"/>
            <a:ext cx="109728" cy="822960"/>
          </a:xfrm>
          <a:prstGeom prst="rect">
            <a:avLst/>
          </a:prstGeom>
          <a:solidFill>
            <a:srgbClr val="F97316"/>
          </a:solidFill>
          <a:ln w="12700">
            <a:solidFill>
              <a:srgbClr val="F97316"/>
            </a:solidFill>
            <a:prstDash val="solid"/>
          </a:ln>
        </p:spPr>
      </p:sp>
      <p:sp>
        <p:nvSpPr>
          <p:cNvPr id="22" name="Text 20"/>
          <p:cNvSpPr/>
          <p:nvPr/>
        </p:nvSpPr>
        <p:spPr>
          <a:xfrm>
            <a:off x="914400" y="4617720"/>
            <a:ext cx="3017520" cy="274320"/>
          </a:xfrm>
          <a:prstGeom prst="rect">
            <a:avLst/>
          </a:prstGeom>
          <a:noFill/>
          <a:ln/>
        </p:spPr>
        <p:txBody>
          <a:bodyPr wrap="square" lIns="0" tIns="0" rIns="0" bIns="0" rtlCol="0" anchor="ctr"/>
          <a:lstStyle/>
          <a:p>
            <a:pPr indent="0" marL="0">
              <a:buNone/>
            </a:pPr>
            <a:r>
              <a:rPr lang="en-US" sz="1450" b="1" dirty="0">
                <a:solidFill>
                  <a:srgbClr val="F97316"/>
                </a:solidFill>
                <a:latin typeface="Calibri" pitchFamily="34" charset="0"/>
                <a:ea typeface="Calibri" pitchFamily="34" charset="-122"/>
                <a:cs typeface="Calibri" pitchFamily="34" charset="-120"/>
              </a:rPr>
              <a:t>Why intractability is the practical limit</a:t>
            </a:r>
            <a:endParaRPr lang="en-US" sz="1450" dirty="0"/>
          </a:p>
        </p:txBody>
      </p:sp>
      <p:sp>
        <p:nvSpPr>
          <p:cNvPr id="23" name="Text 21"/>
          <p:cNvSpPr/>
          <p:nvPr/>
        </p:nvSpPr>
        <p:spPr>
          <a:xfrm>
            <a:off x="4114800" y="4572000"/>
            <a:ext cx="7269480" cy="566928"/>
          </a:xfrm>
          <a:prstGeom prst="rect">
            <a:avLst/>
          </a:prstGeom>
          <a:noFill/>
          <a:ln/>
        </p:spPr>
        <p:txBody>
          <a:bodyPr wrap="square" lIns="0" tIns="0" rIns="0" bIns="0" rtlCol="0" anchor="ctr"/>
          <a:lstStyle/>
          <a:p>
            <a:pPr indent="0" marL="0">
              <a:lnSpc>
                <a:spcPct val="110000"/>
              </a:lnSpc>
              <a:buNone/>
            </a:pPr>
            <a:r>
              <a:rPr lang="en-US" sz="1250" dirty="0">
                <a:solidFill>
                  <a:srgbClr val="1F2933"/>
                </a:solidFill>
                <a:latin typeface="Calibri" pitchFamily="34" charset="0"/>
                <a:ea typeface="Calibri" pitchFamily="34" charset="-122"/>
                <a:cs typeface="Calibri" pitchFamily="34" charset="-120"/>
              </a:rPr>
              <a:t>A problem is intractable when solution time grows exponentially with instance size. Faster hardware buys a constant factor and does not change the exponent, so AI has to find structure, heuristics, or approximations instead of enumerating.</a:t>
            </a:r>
            <a:endParaRPr lang="en-US" sz="1250" dirty="0"/>
          </a:p>
        </p:txBody>
      </p:sp>
      <p:sp>
        <p:nvSpPr>
          <p:cNvPr id="24" name="Shape 22"/>
          <p:cNvSpPr/>
          <p:nvPr/>
        </p:nvSpPr>
        <p:spPr>
          <a:xfrm>
            <a:off x="1249528" y="5504688"/>
            <a:ext cx="9692640" cy="603504"/>
          </a:xfrm>
          <a:prstGeom prst="roundRect">
            <a:avLst>
              <a:gd name="adj" fmla="val 9091"/>
            </a:avLst>
          </a:prstGeom>
          <a:solidFill>
            <a:srgbClr val="6D28D9"/>
          </a:solidFill>
          <a:ln w="12700">
            <a:solidFill>
              <a:srgbClr val="6D28D9"/>
            </a:solidFill>
            <a:prstDash val="solid"/>
          </a:ln>
        </p:spPr>
      </p:sp>
      <p:sp>
        <p:nvSpPr>
          <p:cNvPr id="25" name="Text 23"/>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mathematics gave AI a formal language for certain and uncertain reasoning, and a theory of what algorithms cannot deliver.</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1.2.3</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Economics: Preference, Utility, and Decision</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316736"/>
            <a:ext cx="11018520" cy="384048"/>
          </a:xfrm>
          <a:prstGeom prst="roundRect">
            <a:avLst>
              <a:gd name="adj" fmla="val 14286"/>
            </a:avLst>
          </a:prstGeom>
          <a:solidFill>
            <a:srgbClr val="EBF3F7"/>
          </a:solidFill>
          <a:ln w="12700">
            <a:solidFill>
              <a:srgbClr val="CFE2EC"/>
            </a:solidFill>
            <a:prstDash val="solid"/>
          </a:ln>
        </p:spPr>
      </p:sp>
      <p:sp>
        <p:nvSpPr>
          <p:cNvPr id="7" name="Text 5"/>
          <p:cNvSpPr/>
          <p:nvPr/>
        </p:nvSpPr>
        <p:spPr>
          <a:xfrm>
            <a:off x="777240" y="1335024"/>
            <a:ext cx="10698480" cy="347472"/>
          </a:xfrm>
          <a:prstGeom prst="rect">
            <a:avLst/>
          </a:prstGeom>
          <a:noFill/>
          <a:ln/>
        </p:spPr>
        <p:txBody>
          <a:bodyPr wrap="square" lIns="0" tIns="0" rIns="0" bIns="0" rtlCol="0" anchor="ctr"/>
          <a:lstStyle/>
          <a:p>
            <a:pPr indent="0" marL="0">
              <a:buNone/>
            </a:pPr>
            <a:r>
              <a:rPr lang="en-US" sz="1250" i="1" dirty="0">
                <a:solidFill>
                  <a:srgbClr val="247BA0"/>
                </a:solidFill>
                <a:latin typeface="Calibri" pitchFamily="34" charset="0"/>
                <a:ea typeface="Calibri" pitchFamily="34" charset="-122"/>
                <a:cs typeface="Calibri" pitchFamily="34" charset="-120"/>
              </a:rPr>
              <a:t>Driving questions: How should we make decisions in line with our preferences?  How when others may not cooperate?  How when the payoff is far in the future?</a:t>
            </a:r>
            <a:endParaRPr lang="en-US" sz="1250" dirty="0"/>
          </a:p>
        </p:txBody>
      </p:sp>
      <p:sp>
        <p:nvSpPr>
          <p:cNvPr id="8" name="Shape 6"/>
          <p:cNvSpPr/>
          <p:nvPr/>
        </p:nvSpPr>
        <p:spPr>
          <a:xfrm>
            <a:off x="777240" y="1901952"/>
            <a:ext cx="10607040" cy="548640"/>
          </a:xfrm>
          <a:prstGeom prst="roundRect">
            <a:avLst>
              <a:gd name="adj" fmla="val 10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9" name="Shape 7"/>
          <p:cNvSpPr/>
          <p:nvPr/>
        </p:nvSpPr>
        <p:spPr>
          <a:xfrm>
            <a:off x="777240" y="1901952"/>
            <a:ext cx="109728" cy="548640"/>
          </a:xfrm>
          <a:prstGeom prst="rect">
            <a:avLst/>
          </a:prstGeom>
          <a:solidFill>
            <a:srgbClr val="247BA0"/>
          </a:solidFill>
          <a:ln w="12700">
            <a:solidFill>
              <a:srgbClr val="247BA0"/>
            </a:solidFill>
            <a:prstDash val="solid"/>
          </a:ln>
        </p:spPr>
      </p:sp>
      <p:sp>
        <p:nvSpPr>
          <p:cNvPr id="10" name="Text 8"/>
          <p:cNvSpPr/>
          <p:nvPr/>
        </p:nvSpPr>
        <p:spPr>
          <a:xfrm>
            <a:off x="1097280" y="2020824"/>
            <a:ext cx="1874520" cy="228600"/>
          </a:xfrm>
          <a:prstGeom prst="rect">
            <a:avLst/>
          </a:prstGeom>
          <a:noFill/>
          <a:ln/>
        </p:spPr>
        <p:txBody>
          <a:bodyPr wrap="square" lIns="0" tIns="0" rIns="0" bIns="0" rtlCol="0" anchor="ctr"/>
          <a:lstStyle/>
          <a:p>
            <a:pPr indent="0" marL="0">
              <a:buNone/>
            </a:pPr>
            <a:r>
              <a:rPr lang="en-US" sz="1400" b="1" dirty="0">
                <a:solidFill>
                  <a:srgbClr val="247BA0"/>
                </a:solidFill>
                <a:latin typeface="Calibri" pitchFamily="34" charset="0"/>
                <a:ea typeface="Calibri" pitchFamily="34" charset="-122"/>
                <a:cs typeface="Calibri" pitchFamily="34" charset="-120"/>
              </a:rPr>
              <a:t>Utility theory</a:t>
            </a:r>
            <a:endParaRPr lang="en-US" sz="1400" dirty="0"/>
          </a:p>
        </p:txBody>
      </p:sp>
      <p:sp>
        <p:nvSpPr>
          <p:cNvPr id="11" name="Text 9"/>
          <p:cNvSpPr/>
          <p:nvPr/>
        </p:nvSpPr>
        <p:spPr>
          <a:xfrm>
            <a:off x="3063240" y="2020824"/>
            <a:ext cx="8001000" cy="27432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preferences over outcomes, not money; Bernoulli's insight that value is not linear in wealth</a:t>
            </a:r>
            <a:endParaRPr lang="en-US" sz="1350" dirty="0"/>
          </a:p>
        </p:txBody>
      </p:sp>
      <p:sp>
        <p:nvSpPr>
          <p:cNvPr id="12" name="Shape 10"/>
          <p:cNvSpPr/>
          <p:nvPr/>
        </p:nvSpPr>
        <p:spPr>
          <a:xfrm>
            <a:off x="777240" y="2560320"/>
            <a:ext cx="10607040" cy="548640"/>
          </a:xfrm>
          <a:prstGeom prst="roundRect">
            <a:avLst>
              <a:gd name="adj" fmla="val 10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3" name="Shape 11"/>
          <p:cNvSpPr/>
          <p:nvPr/>
        </p:nvSpPr>
        <p:spPr>
          <a:xfrm>
            <a:off x="777240" y="2560320"/>
            <a:ext cx="109728" cy="548640"/>
          </a:xfrm>
          <a:prstGeom prst="rect">
            <a:avLst/>
          </a:prstGeom>
          <a:solidFill>
            <a:srgbClr val="6D28D9"/>
          </a:solidFill>
          <a:ln w="12700">
            <a:solidFill>
              <a:srgbClr val="6D28D9"/>
            </a:solidFill>
            <a:prstDash val="solid"/>
          </a:ln>
        </p:spPr>
      </p:sp>
      <p:sp>
        <p:nvSpPr>
          <p:cNvPr id="14" name="Text 12"/>
          <p:cNvSpPr/>
          <p:nvPr/>
        </p:nvSpPr>
        <p:spPr>
          <a:xfrm>
            <a:off x="1097280" y="2679192"/>
            <a:ext cx="1874520" cy="228600"/>
          </a:xfrm>
          <a:prstGeom prst="rect">
            <a:avLst/>
          </a:prstGeom>
          <a:noFill/>
          <a:ln/>
        </p:spPr>
        <p:txBody>
          <a:bodyPr wrap="square" lIns="0" tIns="0" rIns="0" bIns="0" rtlCol="0" anchor="ctr"/>
          <a:lstStyle/>
          <a:p>
            <a:pPr indent="0" marL="0">
              <a:buNone/>
            </a:pPr>
            <a:r>
              <a:rPr lang="en-US" sz="1400" b="1" dirty="0">
                <a:solidFill>
                  <a:srgbClr val="6D28D9"/>
                </a:solidFill>
                <a:latin typeface="Calibri" pitchFamily="34" charset="0"/>
                <a:ea typeface="Calibri" pitchFamily="34" charset="-122"/>
                <a:cs typeface="Calibri" pitchFamily="34" charset="-120"/>
              </a:rPr>
              <a:t>Decision theory</a:t>
            </a:r>
            <a:endParaRPr lang="en-US" sz="1400" dirty="0"/>
          </a:p>
        </p:txBody>
      </p:sp>
      <p:sp>
        <p:nvSpPr>
          <p:cNvPr id="15" name="Text 13"/>
          <p:cNvSpPr/>
          <p:nvPr/>
        </p:nvSpPr>
        <p:spPr>
          <a:xfrm>
            <a:off x="3063240" y="2679192"/>
            <a:ext cx="8001000" cy="27432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probability plus utility gives a complete framework for choosing under uncertainty</a:t>
            </a:r>
            <a:endParaRPr lang="en-US" sz="1350" dirty="0"/>
          </a:p>
        </p:txBody>
      </p:sp>
      <p:sp>
        <p:nvSpPr>
          <p:cNvPr id="16" name="Shape 14"/>
          <p:cNvSpPr/>
          <p:nvPr/>
        </p:nvSpPr>
        <p:spPr>
          <a:xfrm>
            <a:off x="777240" y="3218688"/>
            <a:ext cx="10607040" cy="548640"/>
          </a:xfrm>
          <a:prstGeom prst="roundRect">
            <a:avLst>
              <a:gd name="adj" fmla="val 10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7" name="Shape 15"/>
          <p:cNvSpPr/>
          <p:nvPr/>
        </p:nvSpPr>
        <p:spPr>
          <a:xfrm>
            <a:off x="777240" y="3218688"/>
            <a:ext cx="109728" cy="548640"/>
          </a:xfrm>
          <a:prstGeom prst="rect">
            <a:avLst/>
          </a:prstGeom>
          <a:solidFill>
            <a:srgbClr val="F97316"/>
          </a:solidFill>
          <a:ln w="12700">
            <a:solidFill>
              <a:srgbClr val="F97316"/>
            </a:solidFill>
            <a:prstDash val="solid"/>
          </a:ln>
        </p:spPr>
      </p:sp>
      <p:sp>
        <p:nvSpPr>
          <p:cNvPr id="18" name="Text 16"/>
          <p:cNvSpPr/>
          <p:nvPr/>
        </p:nvSpPr>
        <p:spPr>
          <a:xfrm>
            <a:off x="1097280" y="3337560"/>
            <a:ext cx="1874520" cy="228600"/>
          </a:xfrm>
          <a:prstGeom prst="rect">
            <a:avLst/>
          </a:prstGeom>
          <a:noFill/>
          <a:ln/>
        </p:spPr>
        <p:txBody>
          <a:bodyPr wrap="square" lIns="0" tIns="0" rIns="0" bIns="0"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Game theory</a:t>
            </a:r>
            <a:endParaRPr lang="en-US" sz="1400" dirty="0"/>
          </a:p>
        </p:txBody>
      </p:sp>
      <p:sp>
        <p:nvSpPr>
          <p:cNvPr id="19" name="Text 17"/>
          <p:cNvSpPr/>
          <p:nvPr/>
        </p:nvSpPr>
        <p:spPr>
          <a:xfrm>
            <a:off x="3063240" y="3337560"/>
            <a:ext cx="8001000" cy="27432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with other rational agents present, the best strategy may be a randomized one</a:t>
            </a:r>
            <a:endParaRPr lang="en-US" sz="1350" dirty="0"/>
          </a:p>
        </p:txBody>
      </p:sp>
      <p:sp>
        <p:nvSpPr>
          <p:cNvPr id="20" name="Shape 18"/>
          <p:cNvSpPr/>
          <p:nvPr/>
        </p:nvSpPr>
        <p:spPr>
          <a:xfrm>
            <a:off x="777240" y="3877056"/>
            <a:ext cx="10607040" cy="548640"/>
          </a:xfrm>
          <a:prstGeom prst="roundRect">
            <a:avLst>
              <a:gd name="adj" fmla="val 10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1" name="Shape 19"/>
          <p:cNvSpPr/>
          <p:nvPr/>
        </p:nvSpPr>
        <p:spPr>
          <a:xfrm>
            <a:off x="777240" y="3877056"/>
            <a:ext cx="109728" cy="548640"/>
          </a:xfrm>
          <a:prstGeom prst="rect">
            <a:avLst/>
          </a:prstGeom>
          <a:solidFill>
            <a:srgbClr val="55A630"/>
          </a:solidFill>
          <a:ln w="12700">
            <a:solidFill>
              <a:srgbClr val="55A630"/>
            </a:solidFill>
            <a:prstDash val="solid"/>
          </a:ln>
        </p:spPr>
      </p:sp>
      <p:sp>
        <p:nvSpPr>
          <p:cNvPr id="22" name="Text 20"/>
          <p:cNvSpPr/>
          <p:nvPr/>
        </p:nvSpPr>
        <p:spPr>
          <a:xfrm>
            <a:off x="1097280" y="3995928"/>
            <a:ext cx="1874520" cy="228600"/>
          </a:xfrm>
          <a:prstGeom prst="rect">
            <a:avLst/>
          </a:prstGeom>
          <a:noFill/>
          <a:ln/>
        </p:spPr>
        <p:txBody>
          <a:bodyPr wrap="square" lIns="0" tIns="0" rIns="0" bIns="0" rtlCol="0" anchor="ctr"/>
          <a:lstStyle/>
          <a:p>
            <a:pPr indent="0" marL="0">
              <a:buNone/>
            </a:pPr>
            <a:r>
              <a:rPr lang="en-US" sz="1400" b="1" dirty="0">
                <a:solidFill>
                  <a:srgbClr val="55A630"/>
                </a:solidFill>
                <a:latin typeface="Calibri" pitchFamily="34" charset="0"/>
                <a:ea typeface="Calibri" pitchFamily="34" charset="-122"/>
                <a:cs typeface="Calibri" pitchFamily="34" charset="-120"/>
              </a:rPr>
              <a:t>Operations research</a:t>
            </a:r>
            <a:endParaRPr lang="en-US" sz="1400" dirty="0"/>
          </a:p>
        </p:txBody>
      </p:sp>
      <p:sp>
        <p:nvSpPr>
          <p:cNvPr id="23" name="Text 21"/>
          <p:cNvSpPr/>
          <p:nvPr/>
        </p:nvSpPr>
        <p:spPr>
          <a:xfrm>
            <a:off x="3063240" y="3995928"/>
            <a:ext cx="8001000" cy="27432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sequential decisions with delayed payoff; Markov decision processes and Bellman's work</a:t>
            </a:r>
            <a:endParaRPr lang="en-US" sz="1350" dirty="0"/>
          </a:p>
        </p:txBody>
      </p:sp>
      <p:sp>
        <p:nvSpPr>
          <p:cNvPr id="24" name="Shape 22"/>
          <p:cNvSpPr/>
          <p:nvPr/>
        </p:nvSpPr>
        <p:spPr>
          <a:xfrm>
            <a:off x="777240" y="4535424"/>
            <a:ext cx="10607040" cy="548640"/>
          </a:xfrm>
          <a:prstGeom prst="roundRect">
            <a:avLst>
              <a:gd name="adj" fmla="val 10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5" name="Shape 23"/>
          <p:cNvSpPr/>
          <p:nvPr/>
        </p:nvSpPr>
        <p:spPr>
          <a:xfrm>
            <a:off x="777240" y="4535424"/>
            <a:ext cx="109728" cy="548640"/>
          </a:xfrm>
          <a:prstGeom prst="rect">
            <a:avLst/>
          </a:prstGeom>
          <a:solidFill>
            <a:srgbClr val="C1121F"/>
          </a:solidFill>
          <a:ln w="12700">
            <a:solidFill>
              <a:srgbClr val="C1121F"/>
            </a:solidFill>
            <a:prstDash val="solid"/>
          </a:ln>
        </p:spPr>
      </p:sp>
      <p:sp>
        <p:nvSpPr>
          <p:cNvPr id="26" name="Text 24"/>
          <p:cNvSpPr/>
          <p:nvPr/>
        </p:nvSpPr>
        <p:spPr>
          <a:xfrm>
            <a:off x="1097280" y="4654296"/>
            <a:ext cx="1874520" cy="228600"/>
          </a:xfrm>
          <a:prstGeom prst="rect">
            <a:avLst/>
          </a:prstGeom>
          <a:noFill/>
          <a:ln/>
        </p:spPr>
        <p:txBody>
          <a:bodyPr wrap="square" lIns="0" tIns="0" rIns="0" bIns="0" rtlCol="0" anchor="ctr"/>
          <a:lstStyle/>
          <a:p>
            <a:pPr indent="0" marL="0">
              <a:buNone/>
            </a:pPr>
            <a:r>
              <a:rPr lang="en-US" sz="1400" b="1" dirty="0">
                <a:solidFill>
                  <a:srgbClr val="C1121F"/>
                </a:solidFill>
                <a:latin typeface="Calibri" pitchFamily="34" charset="0"/>
                <a:ea typeface="Calibri" pitchFamily="34" charset="-122"/>
                <a:cs typeface="Calibri" pitchFamily="34" charset="-120"/>
              </a:rPr>
              <a:t>Bounded rationality</a:t>
            </a:r>
            <a:endParaRPr lang="en-US" sz="1400" dirty="0"/>
          </a:p>
        </p:txBody>
      </p:sp>
      <p:sp>
        <p:nvSpPr>
          <p:cNvPr id="27" name="Text 25"/>
          <p:cNvSpPr/>
          <p:nvPr/>
        </p:nvSpPr>
        <p:spPr>
          <a:xfrm>
            <a:off x="3063240" y="4654296"/>
            <a:ext cx="8001000" cy="27432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Herbert Simon's satisficing: good-enough choices model real behavior better than optimal ones</a:t>
            </a:r>
            <a:endParaRPr lang="en-US" sz="1350" dirty="0"/>
          </a:p>
        </p:txBody>
      </p:sp>
      <p:sp>
        <p:nvSpPr>
          <p:cNvPr id="28" name="Shape 26"/>
          <p:cNvSpPr/>
          <p:nvPr/>
        </p:nvSpPr>
        <p:spPr>
          <a:xfrm>
            <a:off x="1249528" y="5504688"/>
            <a:ext cx="9692640" cy="603504"/>
          </a:xfrm>
          <a:prstGeom prst="roundRect">
            <a:avLst>
              <a:gd name="adj" fmla="val 9091"/>
            </a:avLst>
          </a:prstGeom>
          <a:solidFill>
            <a:srgbClr val="55A630"/>
          </a:solidFill>
          <a:ln w="12700">
            <a:solidFill>
              <a:srgbClr val="55A630"/>
            </a:solidFill>
            <a:prstDash val="solid"/>
          </a:ln>
        </p:spPr>
      </p:sp>
      <p:sp>
        <p:nvSpPr>
          <p:cNvPr id="29" name="Text 27"/>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economics supplied the formal meaning of acting rationally, and the acknowledgment that perfect rationality is unaffordable.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1.2.4</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Neuroscience: How Brains Process Information</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316736"/>
            <a:ext cx="11018520" cy="384048"/>
          </a:xfrm>
          <a:prstGeom prst="roundRect">
            <a:avLst>
              <a:gd name="adj" fmla="val 14286"/>
            </a:avLst>
          </a:prstGeom>
          <a:solidFill>
            <a:srgbClr val="EBF3F7"/>
          </a:solidFill>
          <a:ln w="12700">
            <a:solidFill>
              <a:srgbClr val="CFE2EC"/>
            </a:solidFill>
            <a:prstDash val="solid"/>
          </a:ln>
        </p:spPr>
      </p:sp>
      <p:sp>
        <p:nvSpPr>
          <p:cNvPr id="7" name="Text 5"/>
          <p:cNvSpPr/>
          <p:nvPr/>
        </p:nvSpPr>
        <p:spPr>
          <a:xfrm>
            <a:off x="777240" y="1335024"/>
            <a:ext cx="10698480" cy="347472"/>
          </a:xfrm>
          <a:prstGeom prst="rect">
            <a:avLst/>
          </a:prstGeom>
          <a:noFill/>
          <a:ln/>
        </p:spPr>
        <p:txBody>
          <a:bodyPr wrap="square" lIns="0" tIns="0" rIns="0" bIns="0" rtlCol="0" anchor="ctr"/>
          <a:lstStyle/>
          <a:p>
            <a:pPr indent="0" marL="0">
              <a:buNone/>
            </a:pPr>
            <a:r>
              <a:rPr lang="en-US" sz="1250" i="1" dirty="0">
                <a:solidFill>
                  <a:srgbClr val="247BA0"/>
                </a:solidFill>
                <a:latin typeface="Calibri" pitchFamily="34" charset="0"/>
                <a:ea typeface="Calibri" pitchFamily="34" charset="-122"/>
                <a:cs typeface="Calibri" pitchFamily="34" charset="-120"/>
              </a:rPr>
              <a:t>Driving question: How do brains process information?</a:t>
            </a:r>
            <a:endParaRPr lang="en-US" sz="1250" dirty="0"/>
          </a:p>
        </p:txBody>
      </p:sp>
      <p:sp>
        <p:nvSpPr>
          <p:cNvPr id="8" name="Shape 6"/>
          <p:cNvSpPr/>
          <p:nvPr/>
        </p:nvSpPr>
        <p:spPr>
          <a:xfrm>
            <a:off x="594360" y="1847088"/>
            <a:ext cx="6080760" cy="3310128"/>
          </a:xfrm>
          <a:prstGeom prst="roundRect">
            <a:avLst>
              <a:gd name="adj" fmla="val 165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9" name="Shape 7"/>
          <p:cNvSpPr/>
          <p:nvPr/>
        </p:nvSpPr>
        <p:spPr>
          <a:xfrm>
            <a:off x="594360" y="1847088"/>
            <a:ext cx="6080760" cy="128016"/>
          </a:xfrm>
          <a:prstGeom prst="rect">
            <a:avLst/>
          </a:prstGeom>
          <a:solidFill>
            <a:srgbClr val="70C1B3"/>
          </a:solidFill>
          <a:ln w="12700">
            <a:solidFill>
              <a:srgbClr val="70C1B3"/>
            </a:solidFill>
            <a:prstDash val="solid"/>
          </a:ln>
        </p:spPr>
      </p:sp>
      <p:sp>
        <p:nvSpPr>
          <p:cNvPr id="10" name="Text 8"/>
          <p:cNvSpPr/>
          <p:nvPr/>
        </p:nvSpPr>
        <p:spPr>
          <a:xfrm>
            <a:off x="868680" y="2121408"/>
            <a:ext cx="5577840" cy="292608"/>
          </a:xfrm>
          <a:prstGeom prst="rect">
            <a:avLst/>
          </a:prstGeom>
          <a:noFill/>
          <a:ln/>
        </p:spPr>
        <p:txBody>
          <a:bodyPr wrap="square" lIns="0" tIns="0" rIns="0" bIns="0" rtlCol="0" anchor="ctr"/>
          <a:lstStyle/>
          <a:p>
            <a:pPr indent="0" marL="0">
              <a:buNone/>
            </a:pPr>
            <a:r>
              <a:rPr lang="en-US" sz="1700" b="1" dirty="0">
                <a:solidFill>
                  <a:srgbClr val="102A43"/>
                </a:solidFill>
                <a:latin typeface="Calibri" pitchFamily="34" charset="0"/>
                <a:ea typeface="Calibri" pitchFamily="34" charset="-122"/>
                <a:cs typeface="Calibri" pitchFamily="34" charset="-120"/>
              </a:rPr>
              <a:t>From localization to imaging</a:t>
            </a:r>
            <a:endParaRPr lang="en-US" sz="1700" dirty="0"/>
          </a:p>
        </p:txBody>
      </p:sp>
      <p:sp>
        <p:nvSpPr>
          <p:cNvPr id="11" name="Text 9"/>
          <p:cNvSpPr/>
          <p:nvPr/>
        </p:nvSpPr>
        <p:spPr>
          <a:xfrm>
            <a:off x="868680" y="2523744"/>
            <a:ext cx="5577840" cy="2468880"/>
          </a:xfrm>
          <a:prstGeom prst="rect">
            <a:avLst/>
          </a:prstGeom>
          <a:noFill/>
          <a:ln/>
        </p:spPr>
        <p:txBody>
          <a:bodyPr wrap="square" lIns="0" tIns="0" rIns="0" bIns="0" rtlCol="0" anchor="t"/>
          <a:lstStyle/>
          <a:p>
            <a:pPr indent="0" marL="0">
              <a:lnSpc>
                <a:spcPct val="118000"/>
              </a:lnSpc>
              <a:spcAft>
                <a:spcPts val="900"/>
              </a:spcAft>
              <a:buNone/>
            </a:pPr>
            <a:r>
              <a:rPr lang="en-US" sz="1250" b="1" dirty="0">
                <a:solidFill>
                  <a:srgbClr val="70C1B3"/>
                </a:solidFill>
                <a:latin typeface="Calibri" pitchFamily="34" charset="0"/>
                <a:ea typeface="Calibri" pitchFamily="34" charset="-122"/>
                <a:cs typeface="Calibri" pitchFamily="34" charset="-120"/>
              </a:rPr>
              <a:t>Broca (1861):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aphasia in brain-damaged patients localizes speech production to one region</a:t>
            </a:r>
            <a:endParaRPr lang="en-US" sz="1250" dirty="0"/>
          </a:p>
          <a:p>
            <a:pPr indent="0" marL="0">
              <a:lnSpc>
                <a:spcPct val="118000"/>
              </a:lnSpc>
              <a:spcAft>
                <a:spcPts val="900"/>
              </a:spcAft>
              <a:buNone/>
            </a:pPr>
            <a:r>
              <a:rPr lang="en-US" sz="1250" b="1" dirty="0">
                <a:solidFill>
                  <a:srgbClr val="70C1B3"/>
                </a:solidFill>
                <a:latin typeface="Calibri" pitchFamily="34" charset="0"/>
                <a:ea typeface="Calibri" pitchFamily="34" charset="-122"/>
                <a:cs typeface="Calibri" pitchFamily="34" charset="-120"/>
              </a:rPr>
              <a:t>Neuron doctrine: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staining and microscopy establish the nerve cell as the unit of the brain</a:t>
            </a:r>
            <a:endParaRPr lang="en-US" sz="1250" dirty="0"/>
          </a:p>
          <a:p>
            <a:pPr indent="0" marL="0">
              <a:lnSpc>
                <a:spcPct val="118000"/>
              </a:lnSpc>
              <a:spcAft>
                <a:spcPts val="900"/>
              </a:spcAft>
              <a:buNone/>
            </a:pPr>
            <a:r>
              <a:rPr lang="en-US" sz="1250" b="1" dirty="0">
                <a:solidFill>
                  <a:srgbClr val="70C1B3"/>
                </a:solidFill>
                <a:latin typeface="Calibri" pitchFamily="34" charset="0"/>
                <a:ea typeface="Calibri" pitchFamily="34" charset="-122"/>
                <a:cs typeface="Calibri" pitchFamily="34" charset="-120"/>
              </a:rPr>
              <a:t>Hebb (1949):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learning as modification of the strength of connections between neurons</a:t>
            </a:r>
            <a:endParaRPr lang="en-US" sz="1250" dirty="0"/>
          </a:p>
          <a:p>
            <a:pPr indent="0" marL="0">
              <a:lnSpc>
                <a:spcPct val="118000"/>
              </a:lnSpc>
              <a:spcAft>
                <a:spcPts val="900"/>
              </a:spcAft>
              <a:buNone/>
            </a:pPr>
            <a:r>
              <a:rPr lang="en-US" sz="1250" b="1" dirty="0">
                <a:solidFill>
                  <a:srgbClr val="70C1B3"/>
                </a:solidFill>
                <a:latin typeface="Calibri" pitchFamily="34" charset="0"/>
                <a:ea typeface="Calibri" pitchFamily="34" charset="-122"/>
                <a:cs typeface="Calibri" pitchFamily="34" charset="-120"/>
              </a:rPr>
              <a:t>EEG (1929), fMRI (1990):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activity in an intact brain becomes measurable, then mappable</a:t>
            </a:r>
            <a:endParaRPr lang="en-US" sz="1250" dirty="0"/>
          </a:p>
          <a:p>
            <a:pPr indent="0" marL="0">
              <a:lnSpc>
                <a:spcPct val="118000"/>
              </a:lnSpc>
              <a:spcAft>
                <a:spcPts val="900"/>
              </a:spcAft>
              <a:buNone/>
            </a:pPr>
            <a:r>
              <a:rPr lang="en-US" sz="1250" b="1" dirty="0">
                <a:solidFill>
                  <a:srgbClr val="70C1B3"/>
                </a:solidFill>
                <a:latin typeface="Calibri" pitchFamily="34" charset="0"/>
                <a:ea typeface="Calibri" pitchFamily="34" charset="-122"/>
                <a:cs typeface="Calibri" pitchFamily="34" charset="-120"/>
              </a:rPr>
              <a:t>Brain-machine interfaces: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the brain adapts to an external device as if it were another limb</a:t>
            </a:r>
            <a:endParaRPr lang="en-US" sz="1250" dirty="0"/>
          </a:p>
        </p:txBody>
      </p:sp>
      <p:sp>
        <p:nvSpPr>
          <p:cNvPr id="12" name="Text 10"/>
          <p:cNvSpPr/>
          <p:nvPr/>
        </p:nvSpPr>
        <p:spPr>
          <a:xfrm>
            <a:off x="7086600" y="2103120"/>
            <a:ext cx="4572000" cy="292608"/>
          </a:xfrm>
          <a:prstGeom prst="rect">
            <a:avLst/>
          </a:prstGeom>
          <a:noFill/>
          <a:ln/>
        </p:spPr>
        <p:txBody>
          <a:bodyPr wrap="square" lIns="0" tIns="0" rIns="0" bIns="0" rtlCol="0" anchor="ctr"/>
          <a:lstStyle/>
          <a:p>
            <a:pPr indent="0" marL="0">
              <a:buNone/>
            </a:pPr>
            <a:r>
              <a:rPr lang="en-US" sz="1700" b="1" dirty="0">
                <a:solidFill>
                  <a:srgbClr val="102A43"/>
                </a:solidFill>
                <a:latin typeface="Calibri" pitchFamily="34" charset="0"/>
                <a:ea typeface="Calibri" pitchFamily="34" charset="-122"/>
                <a:cs typeface="Calibri" pitchFamily="34" charset="-120"/>
              </a:rPr>
              <a:t>Brain and computer compared</a:t>
            </a:r>
            <a:endParaRPr lang="en-US" sz="1700" dirty="0"/>
          </a:p>
        </p:txBody>
      </p:sp>
      <p:sp>
        <p:nvSpPr>
          <p:cNvPr id="13" name="Shape 11"/>
          <p:cNvSpPr/>
          <p:nvPr/>
        </p:nvSpPr>
        <p:spPr>
          <a:xfrm>
            <a:off x="7040880" y="2523744"/>
            <a:ext cx="2240280" cy="1170432"/>
          </a:xfrm>
          <a:prstGeom prst="roundRect">
            <a:avLst>
              <a:gd name="adj" fmla="val 468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4" name="Text 12"/>
          <p:cNvSpPr/>
          <p:nvPr/>
        </p:nvSpPr>
        <p:spPr>
          <a:xfrm>
            <a:off x="7178040" y="2670048"/>
            <a:ext cx="1965960" cy="502920"/>
          </a:xfrm>
          <a:prstGeom prst="rect">
            <a:avLst/>
          </a:prstGeom>
          <a:noFill/>
          <a:ln/>
        </p:spPr>
        <p:txBody>
          <a:bodyPr wrap="square" lIns="0" tIns="0" rIns="0" bIns="0" rtlCol="0" anchor="ctr"/>
          <a:lstStyle/>
          <a:p>
            <a:pPr algn="ctr" indent="0" marL="0">
              <a:buNone/>
            </a:pPr>
            <a:r>
              <a:rPr lang="en-US" sz="3000" b="1" dirty="0">
                <a:solidFill>
                  <a:srgbClr val="70C1B3"/>
                </a:solidFill>
                <a:latin typeface="Calibri" pitchFamily="34" charset="0"/>
                <a:ea typeface="Calibri" pitchFamily="34" charset="-122"/>
                <a:cs typeface="Calibri" pitchFamily="34" charset="-120"/>
              </a:rPr>
              <a:t>10¹¹</a:t>
            </a:r>
            <a:endParaRPr lang="en-US" sz="3000" dirty="0"/>
          </a:p>
        </p:txBody>
      </p:sp>
      <p:sp>
        <p:nvSpPr>
          <p:cNvPr id="15" name="Text 13"/>
          <p:cNvSpPr/>
          <p:nvPr/>
        </p:nvSpPr>
        <p:spPr>
          <a:xfrm>
            <a:off x="7178040" y="3182112"/>
            <a:ext cx="1965960" cy="457200"/>
          </a:xfrm>
          <a:prstGeom prst="rect">
            <a:avLst/>
          </a:prstGeom>
          <a:noFill/>
          <a:ln/>
        </p:spPr>
        <p:txBody>
          <a:bodyPr wrap="square" lIns="0" tIns="0" rIns="0" bIns="0" rtlCol="0" anchor="t"/>
          <a:lstStyle/>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neurons in the human brain</a:t>
            </a:r>
            <a:endParaRPr lang="en-US" sz="1100" dirty="0"/>
          </a:p>
        </p:txBody>
      </p:sp>
      <p:sp>
        <p:nvSpPr>
          <p:cNvPr id="16" name="Shape 14"/>
          <p:cNvSpPr/>
          <p:nvPr/>
        </p:nvSpPr>
        <p:spPr>
          <a:xfrm>
            <a:off x="9400032" y="2523744"/>
            <a:ext cx="2240280" cy="1170432"/>
          </a:xfrm>
          <a:prstGeom prst="roundRect">
            <a:avLst>
              <a:gd name="adj" fmla="val 468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7" name="Text 15"/>
          <p:cNvSpPr/>
          <p:nvPr/>
        </p:nvSpPr>
        <p:spPr>
          <a:xfrm>
            <a:off x="9537192" y="2670048"/>
            <a:ext cx="1965960" cy="502920"/>
          </a:xfrm>
          <a:prstGeom prst="rect">
            <a:avLst/>
          </a:prstGeom>
          <a:noFill/>
          <a:ln/>
        </p:spPr>
        <p:txBody>
          <a:bodyPr wrap="square" lIns="0" tIns="0" rIns="0" bIns="0" rtlCol="0" anchor="ctr"/>
          <a:lstStyle/>
          <a:p>
            <a:pPr algn="ctr" indent="0" marL="0">
              <a:buNone/>
            </a:pPr>
            <a:r>
              <a:rPr lang="en-US" sz="3000" b="1" dirty="0">
                <a:solidFill>
                  <a:srgbClr val="6D28D9"/>
                </a:solidFill>
                <a:latin typeface="Calibri" pitchFamily="34" charset="0"/>
                <a:ea typeface="Calibri" pitchFamily="34" charset="-122"/>
                <a:cs typeface="Calibri" pitchFamily="34" charset="-120"/>
              </a:rPr>
              <a:t>10¹⁴</a:t>
            </a:r>
            <a:endParaRPr lang="en-US" sz="3000" dirty="0"/>
          </a:p>
        </p:txBody>
      </p:sp>
      <p:sp>
        <p:nvSpPr>
          <p:cNvPr id="18" name="Text 16"/>
          <p:cNvSpPr/>
          <p:nvPr/>
        </p:nvSpPr>
        <p:spPr>
          <a:xfrm>
            <a:off x="9537192" y="3182112"/>
            <a:ext cx="1965960" cy="457200"/>
          </a:xfrm>
          <a:prstGeom prst="rect">
            <a:avLst/>
          </a:prstGeom>
          <a:noFill/>
          <a:ln/>
        </p:spPr>
        <p:txBody>
          <a:bodyPr wrap="square" lIns="0" tIns="0" rIns="0" bIns="0" rtlCol="0" anchor="t"/>
          <a:lstStyle/>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synaptic connections</a:t>
            </a:r>
            <a:endParaRPr lang="en-US" sz="1100" dirty="0"/>
          </a:p>
        </p:txBody>
      </p:sp>
      <p:sp>
        <p:nvSpPr>
          <p:cNvPr id="19" name="Shape 17"/>
          <p:cNvSpPr/>
          <p:nvPr/>
        </p:nvSpPr>
        <p:spPr>
          <a:xfrm>
            <a:off x="7040880" y="3840480"/>
            <a:ext cx="4599432" cy="1316736"/>
          </a:xfrm>
          <a:prstGeom prst="roundRect">
            <a:avLst>
              <a:gd name="adj" fmla="val 416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0" name="Text 18"/>
          <p:cNvSpPr/>
          <p:nvPr/>
        </p:nvSpPr>
        <p:spPr>
          <a:xfrm>
            <a:off x="7269480" y="4005072"/>
            <a:ext cx="4160520" cy="256032"/>
          </a:xfrm>
          <a:prstGeom prst="rect">
            <a:avLst/>
          </a:prstGeom>
          <a:noFill/>
          <a:ln/>
        </p:spPr>
        <p:txBody>
          <a:bodyPr wrap="square" lIns="0" tIns="0" rIns="0" bIns="0" rtlCol="0" anchor="ctr"/>
          <a:lstStyle/>
          <a:p>
            <a:pPr indent="0" marL="0">
              <a:buNone/>
            </a:pPr>
            <a:r>
              <a:rPr lang="en-US" sz="1350" b="1" dirty="0">
                <a:solidFill>
                  <a:srgbClr val="102A43"/>
                </a:solidFill>
                <a:latin typeface="Calibri" pitchFamily="34" charset="0"/>
                <a:ea typeface="Calibri" pitchFamily="34" charset="-122"/>
                <a:cs typeface="Calibri" pitchFamily="34" charset="-120"/>
              </a:rPr>
              <a:t>A million times faster, and still outmatched</a:t>
            </a:r>
            <a:endParaRPr lang="en-US" sz="1350" dirty="0"/>
          </a:p>
        </p:txBody>
      </p:sp>
      <p:sp>
        <p:nvSpPr>
          <p:cNvPr id="21" name="Text 19"/>
          <p:cNvSpPr/>
          <p:nvPr/>
        </p:nvSpPr>
        <p:spPr>
          <a:xfrm>
            <a:off x="7269480" y="4279392"/>
            <a:ext cx="4160520" cy="777240"/>
          </a:xfrm>
          <a:prstGeom prst="rect">
            <a:avLst/>
          </a:prstGeom>
          <a:noFill/>
          <a:ln/>
        </p:spPr>
        <p:txBody>
          <a:bodyPr wrap="square" lIns="0" tIns="0" rIns="0" bIns="0" rtlCol="0" anchor="t"/>
          <a:lstStyle/>
          <a:p>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A computer's cycle time is roughly a million times shorter than a neuron's. The brain compensates with far more storage and interconnection, and runs the whole thing on about the power of a dim light bulb.</a:t>
            </a:r>
            <a:endParaRPr lang="en-US" sz="1150" dirty="0"/>
          </a:p>
        </p:txBody>
      </p:sp>
      <p:sp>
        <p:nvSpPr>
          <p:cNvPr id="22" name="Shape 20"/>
          <p:cNvSpPr/>
          <p:nvPr/>
        </p:nvSpPr>
        <p:spPr>
          <a:xfrm>
            <a:off x="1249528" y="5504688"/>
            <a:ext cx="9692640" cy="603504"/>
          </a:xfrm>
          <a:prstGeom prst="roundRect">
            <a:avLst>
              <a:gd name="adj" fmla="val 9091"/>
            </a:avLst>
          </a:prstGeom>
          <a:solidFill>
            <a:srgbClr val="70C1B3"/>
          </a:solidFill>
          <a:ln w="12700">
            <a:solidFill>
              <a:srgbClr val="70C1B3"/>
            </a:solidFill>
            <a:prstDash val="solid"/>
          </a:ln>
        </p:spPr>
      </p:sp>
      <p:sp>
        <p:nvSpPr>
          <p:cNvPr id="23" name="Text 21"/>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the brain is proof that physical matter can produce thought, but its architecture is massively parallel where a computer is fast and serial.</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1.2.5</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Behaviorism vs. Cognitive Psychology</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Text 4"/>
          <p:cNvSpPr/>
          <p:nvPr/>
        </p:nvSpPr>
        <p:spPr>
          <a:xfrm>
            <a:off x="731520" y="1444752"/>
            <a:ext cx="4937760" cy="320040"/>
          </a:xfrm>
          <a:prstGeom prst="rect">
            <a:avLst/>
          </a:prstGeom>
          <a:noFill/>
          <a:ln/>
        </p:spPr>
        <p:txBody>
          <a:bodyPr wrap="square" lIns="0" tIns="0" rIns="0" bIns="0" rtlCol="0" anchor="ctr"/>
          <a:lstStyle/>
          <a:p>
            <a:pPr indent="0" marL="0">
              <a:buNone/>
            </a:pPr>
            <a:r>
              <a:rPr lang="en-US" sz="1900" b="1" dirty="0">
                <a:solidFill>
                  <a:srgbClr val="102A43"/>
                </a:solidFill>
                <a:latin typeface="Calibri" pitchFamily="34" charset="0"/>
                <a:ea typeface="Calibri" pitchFamily="34" charset="-122"/>
                <a:cs typeface="Calibri" pitchFamily="34" charset="-120"/>
              </a:rPr>
              <a:t>Behaviorism</a:t>
            </a:r>
            <a:endParaRPr lang="en-US" sz="1900" dirty="0"/>
          </a:p>
        </p:txBody>
      </p:sp>
      <p:sp>
        <p:nvSpPr>
          <p:cNvPr id="7" name="Text 5"/>
          <p:cNvSpPr/>
          <p:nvPr/>
        </p:nvSpPr>
        <p:spPr>
          <a:xfrm>
            <a:off x="6492240" y="1444752"/>
            <a:ext cx="4937760" cy="320040"/>
          </a:xfrm>
          <a:prstGeom prst="rect">
            <a:avLst/>
          </a:prstGeom>
          <a:noFill/>
          <a:ln/>
        </p:spPr>
        <p:txBody>
          <a:bodyPr wrap="square" lIns="0" tIns="0" rIns="0" bIns="0" rtlCol="0" anchor="ctr"/>
          <a:lstStyle/>
          <a:p>
            <a:pPr indent="0" marL="0">
              <a:buNone/>
            </a:pPr>
            <a:r>
              <a:rPr lang="en-US" sz="1900" b="1" dirty="0">
                <a:solidFill>
                  <a:srgbClr val="102A43"/>
                </a:solidFill>
                <a:latin typeface="Calibri" pitchFamily="34" charset="0"/>
                <a:ea typeface="Calibri" pitchFamily="34" charset="-122"/>
                <a:cs typeface="Calibri" pitchFamily="34" charset="-120"/>
              </a:rPr>
              <a:t>Cognitive Psychology</a:t>
            </a:r>
            <a:endParaRPr lang="en-US" sz="1900" dirty="0"/>
          </a:p>
        </p:txBody>
      </p:sp>
      <p:sp>
        <p:nvSpPr>
          <p:cNvPr id="8" name="Shape 6"/>
          <p:cNvSpPr/>
          <p:nvPr/>
        </p:nvSpPr>
        <p:spPr>
          <a:xfrm>
            <a:off x="685800" y="1874520"/>
            <a:ext cx="5166360" cy="2148840"/>
          </a:xfrm>
          <a:prstGeom prst="roundRect">
            <a:avLst>
              <a:gd name="adj" fmla="val 2553"/>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9" name="Text 7"/>
          <p:cNvSpPr/>
          <p:nvPr/>
        </p:nvSpPr>
        <p:spPr>
          <a:xfrm>
            <a:off x="1005840" y="2029968"/>
            <a:ext cx="4526280" cy="320040"/>
          </a:xfrm>
          <a:prstGeom prst="rect">
            <a:avLst/>
          </a:prstGeom>
          <a:noFill/>
          <a:ln/>
        </p:spPr>
        <p:txBody>
          <a:bodyPr wrap="square" lIns="0" tIns="0" rIns="0" bIns="0" rtlCol="0" anchor="ctr"/>
          <a:lstStyle/>
          <a:p>
            <a:pPr indent="0" marL="0">
              <a:buNone/>
            </a:pPr>
            <a:r>
              <a:rPr lang="en-US" sz="1900" b="1" dirty="0">
                <a:solidFill>
                  <a:srgbClr val="C1121F"/>
                </a:solidFill>
                <a:latin typeface="Calibri" pitchFamily="34" charset="0"/>
                <a:ea typeface="Calibri" pitchFamily="34" charset="-122"/>
                <a:cs typeface="Calibri" pitchFamily="34" charset="-120"/>
              </a:rPr>
              <a:t>Stimulus → Response</a:t>
            </a:r>
            <a:endParaRPr lang="en-US" sz="1900" dirty="0"/>
          </a:p>
        </p:txBody>
      </p:sp>
      <p:sp>
        <p:nvSpPr>
          <p:cNvPr id="10" name="Text 8"/>
          <p:cNvSpPr/>
          <p:nvPr/>
        </p:nvSpPr>
        <p:spPr>
          <a:xfrm>
            <a:off x="1005840" y="2468880"/>
            <a:ext cx="4572000" cy="1417320"/>
          </a:xfrm>
          <a:prstGeom prst="rect">
            <a:avLst/>
          </a:prstGeom>
          <a:noFill/>
          <a:ln/>
        </p:spPr>
        <p:txBody>
          <a:bodyPr wrap="square" lIns="0" tIns="0" rIns="0" bIns="0" rtlCol="0" anchor="t"/>
          <a:lstStyle/>
          <a:p>
            <a:pPr indent="0" marL="0">
              <a:lnSpc>
                <a:spcPct val="118000"/>
              </a:lnSpc>
              <a:spcAft>
                <a:spcPts val="800"/>
              </a:spcAft>
              <a:buNone/>
            </a:pPr>
            <a:r>
              <a:rPr lang="en-US" sz="1380" b="1" dirty="0">
                <a:solidFill>
                  <a:srgbClr val="C1121F"/>
                </a:solidFill>
                <a:latin typeface="Calibri" pitchFamily="34" charset="0"/>
                <a:ea typeface="Calibri" pitchFamily="34" charset="-122"/>
                <a:cs typeface="Calibri" pitchFamily="34" charset="-120"/>
              </a:rPr>
              <a:t>Observable behavior: </a:t>
            </a:r>
            <a:pPr indent="0" marL="0">
              <a:lnSpc>
                <a:spcPct val="118000"/>
              </a:lnSpc>
              <a:spcAft>
                <a:spcPts val="800"/>
              </a:spcAft>
              <a:buNone/>
            </a:pPr>
            <a:r>
              <a:rPr lang="en-US" sz="1380" dirty="0">
                <a:solidFill>
                  <a:srgbClr val="1F2933"/>
                </a:solidFill>
                <a:latin typeface="Calibri" pitchFamily="34" charset="0"/>
                <a:ea typeface="Calibri" pitchFamily="34" charset="-122"/>
                <a:cs typeface="Calibri" pitchFamily="34" charset="-120"/>
              </a:rPr>
              <a:t>only what can be measured directly</a:t>
            </a:r>
            <a:endParaRPr lang="en-US" sz="1380" dirty="0"/>
          </a:p>
          <a:p>
            <a:pPr indent="0" marL="0">
              <a:lnSpc>
                <a:spcPct val="118000"/>
              </a:lnSpc>
              <a:spcAft>
                <a:spcPts val="800"/>
              </a:spcAft>
              <a:buNone/>
            </a:pPr>
            <a:r>
              <a:rPr lang="en-US" sz="1380" b="1" dirty="0">
                <a:solidFill>
                  <a:srgbClr val="C1121F"/>
                </a:solidFill>
                <a:latin typeface="Calibri" pitchFamily="34" charset="0"/>
                <a:ea typeface="Calibri" pitchFamily="34" charset="-122"/>
                <a:cs typeface="Calibri" pitchFamily="34" charset="-120"/>
              </a:rPr>
              <a:t>Rejects introspection: </a:t>
            </a:r>
            <a:pPr indent="0" marL="0">
              <a:lnSpc>
                <a:spcPct val="118000"/>
              </a:lnSpc>
              <a:spcAft>
                <a:spcPts val="800"/>
              </a:spcAft>
              <a:buNone/>
            </a:pPr>
            <a:r>
              <a:rPr lang="en-US" sz="1380" dirty="0">
                <a:solidFill>
                  <a:srgbClr val="1F2933"/>
                </a:solidFill>
                <a:latin typeface="Calibri" pitchFamily="34" charset="0"/>
                <a:ea typeface="Calibri" pitchFamily="34" charset="-122"/>
                <a:cs typeface="Calibri" pitchFamily="34" charset="-120"/>
              </a:rPr>
              <a:t>mental states are not reliable evidence</a:t>
            </a:r>
            <a:endParaRPr lang="en-US" sz="1380" dirty="0"/>
          </a:p>
          <a:p>
            <a:pPr indent="0" marL="0">
              <a:lnSpc>
                <a:spcPct val="118000"/>
              </a:lnSpc>
              <a:spcAft>
                <a:spcPts val="800"/>
              </a:spcAft>
              <a:buNone/>
            </a:pPr>
            <a:r>
              <a:rPr lang="en-US" sz="1380" b="1" dirty="0">
                <a:solidFill>
                  <a:srgbClr val="C1121F"/>
                </a:solidFill>
                <a:latin typeface="Calibri" pitchFamily="34" charset="0"/>
                <a:ea typeface="Calibri" pitchFamily="34" charset="-122"/>
                <a:cs typeface="Calibri" pitchFamily="34" charset="-120"/>
              </a:rPr>
              <a:t>Useful but limited: </a:t>
            </a:r>
            <a:pPr indent="0" marL="0">
              <a:lnSpc>
                <a:spcPct val="118000"/>
              </a:lnSpc>
              <a:spcAft>
                <a:spcPts val="800"/>
              </a:spcAft>
              <a:buNone/>
            </a:pPr>
            <a:r>
              <a:rPr lang="en-US" sz="1380" dirty="0">
                <a:solidFill>
                  <a:srgbClr val="1F2933"/>
                </a:solidFill>
                <a:latin typeface="Calibri" pitchFamily="34" charset="0"/>
                <a:ea typeface="Calibri" pitchFamily="34" charset="-122"/>
                <a:cs typeface="Calibri" pitchFamily="34" charset="-120"/>
              </a:rPr>
              <a:t>stronger with animals than humans</a:t>
            </a:r>
            <a:endParaRPr lang="en-US" sz="1380" dirty="0"/>
          </a:p>
        </p:txBody>
      </p:sp>
      <p:sp>
        <p:nvSpPr>
          <p:cNvPr id="11" name="Shape 9"/>
          <p:cNvSpPr/>
          <p:nvPr/>
        </p:nvSpPr>
        <p:spPr>
          <a:xfrm>
            <a:off x="6355080" y="1874520"/>
            <a:ext cx="5166360" cy="2148840"/>
          </a:xfrm>
          <a:prstGeom prst="roundRect">
            <a:avLst>
              <a:gd name="adj" fmla="val 2553"/>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2" name="Text 10"/>
          <p:cNvSpPr/>
          <p:nvPr/>
        </p:nvSpPr>
        <p:spPr>
          <a:xfrm>
            <a:off x="6629400" y="2029968"/>
            <a:ext cx="4617720" cy="320040"/>
          </a:xfrm>
          <a:prstGeom prst="rect">
            <a:avLst/>
          </a:prstGeom>
          <a:noFill/>
          <a:ln/>
        </p:spPr>
        <p:txBody>
          <a:bodyPr wrap="square" lIns="0" tIns="0" rIns="0" bIns="0" rtlCol="0" anchor="ctr"/>
          <a:lstStyle/>
          <a:p>
            <a:pPr indent="0" marL="0">
              <a:buNone/>
            </a:pPr>
            <a:r>
              <a:rPr lang="en-US" sz="1730" b="1" dirty="0">
                <a:solidFill>
                  <a:srgbClr val="55A630"/>
                </a:solidFill>
                <a:latin typeface="Calibri" pitchFamily="34" charset="0"/>
                <a:ea typeface="Calibri" pitchFamily="34" charset="-122"/>
                <a:cs typeface="Calibri" pitchFamily="34" charset="-120"/>
              </a:rPr>
              <a:t>Input → Representation → Action</a:t>
            </a:r>
            <a:endParaRPr lang="en-US" sz="1730" dirty="0"/>
          </a:p>
        </p:txBody>
      </p:sp>
      <p:sp>
        <p:nvSpPr>
          <p:cNvPr id="13" name="Text 11"/>
          <p:cNvSpPr/>
          <p:nvPr/>
        </p:nvSpPr>
        <p:spPr>
          <a:xfrm>
            <a:off x="6675120" y="2468880"/>
            <a:ext cx="4572000" cy="1417320"/>
          </a:xfrm>
          <a:prstGeom prst="rect">
            <a:avLst/>
          </a:prstGeom>
          <a:noFill/>
          <a:ln/>
        </p:spPr>
        <p:txBody>
          <a:bodyPr wrap="square" lIns="0" tIns="0" rIns="0" bIns="0" rtlCol="0" anchor="t"/>
          <a:lstStyle/>
          <a:p>
            <a:pPr indent="0" marL="0">
              <a:lnSpc>
                <a:spcPct val="118000"/>
              </a:lnSpc>
              <a:spcAft>
                <a:spcPts val="800"/>
              </a:spcAft>
              <a:buNone/>
            </a:pPr>
            <a:r>
              <a:rPr lang="en-US" sz="1380" b="1" dirty="0">
                <a:solidFill>
                  <a:srgbClr val="55A630"/>
                </a:solidFill>
                <a:latin typeface="Calibri" pitchFamily="34" charset="0"/>
                <a:ea typeface="Calibri" pitchFamily="34" charset="-122"/>
                <a:cs typeface="Calibri" pitchFamily="34" charset="-120"/>
              </a:rPr>
              <a:t>Mind as information processor: </a:t>
            </a:r>
            <a:pPr indent="0" marL="0">
              <a:lnSpc>
                <a:spcPct val="118000"/>
              </a:lnSpc>
              <a:spcAft>
                <a:spcPts val="800"/>
              </a:spcAft>
              <a:buNone/>
            </a:pPr>
            <a:r>
              <a:rPr lang="en-US" sz="1380" dirty="0">
                <a:solidFill>
                  <a:srgbClr val="1F2933"/>
                </a:solidFill>
                <a:latin typeface="Calibri" pitchFamily="34" charset="0"/>
                <a:ea typeface="Calibri" pitchFamily="34" charset="-122"/>
                <a:cs typeface="Calibri" pitchFamily="34" charset="-120"/>
              </a:rPr>
              <a:t>beliefs, goals, internal models</a:t>
            </a:r>
            <a:endParaRPr lang="en-US" sz="1380" dirty="0"/>
          </a:p>
          <a:p>
            <a:pPr indent="0" marL="0">
              <a:lnSpc>
                <a:spcPct val="118000"/>
              </a:lnSpc>
              <a:spcAft>
                <a:spcPts val="800"/>
              </a:spcAft>
              <a:buNone/>
            </a:pPr>
            <a:r>
              <a:rPr lang="en-US" sz="1380" b="1" dirty="0">
                <a:solidFill>
                  <a:srgbClr val="55A630"/>
                </a:solidFill>
                <a:latin typeface="Calibri" pitchFamily="34" charset="0"/>
                <a:ea typeface="Calibri" pitchFamily="34" charset="-122"/>
                <a:cs typeface="Calibri" pitchFamily="34" charset="-120"/>
              </a:rPr>
              <a:t>Craik model: </a:t>
            </a:r>
            <a:pPr indent="0" marL="0">
              <a:lnSpc>
                <a:spcPct val="118000"/>
              </a:lnSpc>
              <a:spcAft>
                <a:spcPts val="800"/>
              </a:spcAft>
              <a:buNone/>
            </a:pPr>
            <a:r>
              <a:rPr lang="en-US" sz="1380" dirty="0">
                <a:solidFill>
                  <a:srgbClr val="1F2933"/>
                </a:solidFill>
                <a:latin typeface="Calibri" pitchFamily="34" charset="0"/>
                <a:ea typeface="Calibri" pitchFamily="34" charset="-122"/>
                <a:cs typeface="Calibri" pitchFamily="34" charset="-120"/>
              </a:rPr>
              <a:t>represent, manipulate, act</a:t>
            </a:r>
            <a:endParaRPr lang="en-US" sz="1380" dirty="0"/>
          </a:p>
          <a:p>
            <a:pPr indent="0" marL="0">
              <a:lnSpc>
                <a:spcPct val="118000"/>
              </a:lnSpc>
              <a:spcAft>
                <a:spcPts val="800"/>
              </a:spcAft>
              <a:buNone/>
            </a:pPr>
            <a:r>
              <a:rPr lang="en-US" sz="1380" b="1" dirty="0">
                <a:solidFill>
                  <a:srgbClr val="55A630"/>
                </a:solidFill>
                <a:latin typeface="Calibri" pitchFamily="34" charset="0"/>
                <a:ea typeface="Calibri" pitchFamily="34" charset="-122"/>
                <a:cs typeface="Calibri" pitchFamily="34" charset="-120"/>
              </a:rPr>
              <a:t>Bridge to AI: </a:t>
            </a:r>
            <a:pPr indent="0" marL="0">
              <a:lnSpc>
                <a:spcPct val="118000"/>
              </a:lnSpc>
              <a:spcAft>
                <a:spcPts val="800"/>
              </a:spcAft>
              <a:buNone/>
            </a:pPr>
            <a:r>
              <a:rPr lang="en-US" sz="1380" dirty="0">
                <a:solidFill>
                  <a:srgbClr val="1F2933"/>
                </a:solidFill>
                <a:latin typeface="Calibri" pitchFamily="34" charset="0"/>
                <a:ea typeface="Calibri" pitchFamily="34" charset="-122"/>
                <a:cs typeface="Calibri" pitchFamily="34" charset="-120"/>
              </a:rPr>
              <a:t>cognitive theories can be written as programs</a:t>
            </a:r>
            <a:endParaRPr lang="en-US" sz="1380" dirty="0"/>
          </a:p>
        </p:txBody>
      </p:sp>
      <p:sp>
        <p:nvSpPr>
          <p:cNvPr id="14" name="Shape 12"/>
          <p:cNvSpPr/>
          <p:nvPr/>
        </p:nvSpPr>
        <p:spPr>
          <a:xfrm>
            <a:off x="685800" y="4315968"/>
            <a:ext cx="10835640" cy="749808"/>
          </a:xfrm>
          <a:prstGeom prst="roundRect">
            <a:avLst>
              <a:gd name="adj" fmla="val 731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5" name="Shape 13"/>
          <p:cNvSpPr/>
          <p:nvPr/>
        </p:nvSpPr>
        <p:spPr>
          <a:xfrm>
            <a:off x="685800" y="4315968"/>
            <a:ext cx="109728" cy="749808"/>
          </a:xfrm>
          <a:prstGeom prst="rect">
            <a:avLst/>
          </a:prstGeom>
          <a:solidFill>
            <a:srgbClr val="F3C677"/>
          </a:solidFill>
          <a:ln w="12700">
            <a:solidFill>
              <a:srgbClr val="F3C677"/>
            </a:solidFill>
            <a:prstDash val="solid"/>
          </a:ln>
        </p:spPr>
      </p:sp>
      <p:sp>
        <p:nvSpPr>
          <p:cNvPr id="16" name="Text 14"/>
          <p:cNvSpPr/>
          <p:nvPr/>
        </p:nvSpPr>
        <p:spPr>
          <a:xfrm>
            <a:off x="1005840" y="4480560"/>
            <a:ext cx="2194560" cy="256032"/>
          </a:xfrm>
          <a:prstGeom prst="rect">
            <a:avLst/>
          </a:prstGeom>
          <a:noFill/>
          <a:ln/>
        </p:spPr>
        <p:txBody>
          <a:bodyPr wrap="square" lIns="0" tIns="0" rIns="0" bIns="0" rtlCol="0" anchor="ctr"/>
          <a:lstStyle/>
          <a:p>
            <a:pPr indent="0" marL="0">
              <a:buNone/>
            </a:pPr>
            <a:r>
              <a:rPr lang="en-US" sz="1400" b="1" dirty="0">
                <a:solidFill>
                  <a:srgbClr val="102A43"/>
                </a:solidFill>
                <a:latin typeface="Calibri" pitchFamily="34" charset="0"/>
                <a:ea typeface="Calibri" pitchFamily="34" charset="-122"/>
                <a:cs typeface="Calibri" pitchFamily="34" charset="-120"/>
              </a:rPr>
              <a:t>Discussion prompt</a:t>
            </a:r>
            <a:endParaRPr lang="en-US" sz="1400" dirty="0"/>
          </a:p>
        </p:txBody>
      </p:sp>
      <p:sp>
        <p:nvSpPr>
          <p:cNvPr id="17" name="Text 15"/>
          <p:cNvSpPr/>
          <p:nvPr/>
        </p:nvSpPr>
        <p:spPr>
          <a:xfrm>
            <a:off x="3291840" y="4443984"/>
            <a:ext cx="8001000" cy="502920"/>
          </a:xfrm>
          <a:prstGeom prst="rect">
            <a:avLst/>
          </a:prstGeom>
          <a:noFill/>
          <a:ln/>
        </p:spPr>
        <p:txBody>
          <a:bodyPr wrap="square" lIns="0" tIns="0" rIns="0" bIns="0" rtlCol="0" anchor="ctr"/>
          <a:lstStyle/>
          <a:p>
            <a:pPr indent="0" marL="0">
              <a:lnSpc>
                <a:spcPct val="110000"/>
              </a:lnSpc>
              <a:buNone/>
            </a:pPr>
            <a:r>
              <a:rPr lang="en-US" sz="1350" dirty="0">
                <a:solidFill>
                  <a:srgbClr val="1F2933"/>
                </a:solidFill>
                <a:latin typeface="Calibri" pitchFamily="34" charset="0"/>
                <a:ea typeface="Calibri" pitchFamily="34" charset="-122"/>
                <a:cs typeface="Calibri" pitchFamily="34" charset="-120"/>
              </a:rPr>
              <a:t>Is a chatbot best understood by its behavior, by its internal process, or by both? Which evidence would settle the question?</a:t>
            </a:r>
            <a:endParaRPr lang="en-US" sz="1350" dirty="0"/>
          </a:p>
        </p:txBody>
      </p:sp>
      <p:sp>
        <p:nvSpPr>
          <p:cNvPr id="18" name="Shape 16"/>
          <p:cNvSpPr/>
          <p:nvPr/>
        </p:nvSpPr>
        <p:spPr>
          <a:xfrm>
            <a:off x="1249528" y="5504688"/>
            <a:ext cx="9692640" cy="603504"/>
          </a:xfrm>
          <a:prstGeom prst="roundRect">
            <a:avLst>
              <a:gd name="adj" fmla="val 9091"/>
            </a:avLst>
          </a:prstGeom>
          <a:solidFill>
            <a:srgbClr val="247BA0"/>
          </a:solidFill>
          <a:ln w="12700">
            <a:solidFill>
              <a:srgbClr val="247BA0"/>
            </a:solidFill>
            <a:prstDash val="solid"/>
          </a:ln>
        </p:spPr>
      </p:sp>
      <p:sp>
        <p:nvSpPr>
          <p:cNvPr id="19" name="Text 17"/>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AI inherited both observable behavior and internal representation as ways to study intelligence.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1.2.6</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Computer Engineering: The Machines AI Runs On</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316736"/>
            <a:ext cx="11018520" cy="384048"/>
          </a:xfrm>
          <a:prstGeom prst="roundRect">
            <a:avLst>
              <a:gd name="adj" fmla="val 14286"/>
            </a:avLst>
          </a:prstGeom>
          <a:solidFill>
            <a:srgbClr val="EBF3F7"/>
          </a:solidFill>
          <a:ln w="12700">
            <a:solidFill>
              <a:srgbClr val="CFE2EC"/>
            </a:solidFill>
            <a:prstDash val="solid"/>
          </a:ln>
        </p:spPr>
      </p:sp>
      <p:sp>
        <p:nvSpPr>
          <p:cNvPr id="7" name="Text 5"/>
          <p:cNvSpPr/>
          <p:nvPr/>
        </p:nvSpPr>
        <p:spPr>
          <a:xfrm>
            <a:off x="777240" y="1335024"/>
            <a:ext cx="10698480" cy="347472"/>
          </a:xfrm>
          <a:prstGeom prst="rect">
            <a:avLst/>
          </a:prstGeom>
          <a:noFill/>
          <a:ln/>
        </p:spPr>
        <p:txBody>
          <a:bodyPr wrap="square" lIns="0" tIns="0" rIns="0" bIns="0" rtlCol="0" anchor="ctr"/>
          <a:lstStyle/>
          <a:p>
            <a:pPr indent="0" marL="0">
              <a:buNone/>
            </a:pPr>
            <a:r>
              <a:rPr lang="en-US" sz="1250" i="1" dirty="0">
                <a:solidFill>
                  <a:srgbClr val="247BA0"/>
                </a:solidFill>
                <a:latin typeface="Calibri" pitchFamily="34" charset="0"/>
                <a:ea typeface="Calibri" pitchFamily="34" charset="-122"/>
                <a:cs typeface="Calibri" pitchFamily="34" charset="-120"/>
              </a:rPr>
              <a:t>Driving question: How can we build an efficient computer?</a:t>
            </a:r>
            <a:endParaRPr lang="en-US" sz="1250" dirty="0"/>
          </a:p>
        </p:txBody>
      </p:sp>
      <p:sp>
        <p:nvSpPr>
          <p:cNvPr id="8" name="Shape 6"/>
          <p:cNvSpPr/>
          <p:nvPr/>
        </p:nvSpPr>
        <p:spPr>
          <a:xfrm>
            <a:off x="594360" y="1847088"/>
            <a:ext cx="5669280" cy="3410712"/>
          </a:xfrm>
          <a:prstGeom prst="roundRect">
            <a:avLst>
              <a:gd name="adj" fmla="val 1609"/>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9" name="Shape 7"/>
          <p:cNvSpPr/>
          <p:nvPr/>
        </p:nvSpPr>
        <p:spPr>
          <a:xfrm>
            <a:off x="594360" y="1847088"/>
            <a:ext cx="5669280" cy="128016"/>
          </a:xfrm>
          <a:prstGeom prst="rect">
            <a:avLst/>
          </a:prstGeom>
          <a:solidFill>
            <a:srgbClr val="F97316"/>
          </a:solidFill>
          <a:ln w="12700">
            <a:solidFill>
              <a:srgbClr val="F97316"/>
            </a:solidFill>
            <a:prstDash val="solid"/>
          </a:ln>
        </p:spPr>
      </p:sp>
      <p:sp>
        <p:nvSpPr>
          <p:cNvPr id="10" name="Text 8"/>
          <p:cNvSpPr/>
          <p:nvPr/>
        </p:nvSpPr>
        <p:spPr>
          <a:xfrm>
            <a:off x="868680" y="2121408"/>
            <a:ext cx="5166360" cy="292608"/>
          </a:xfrm>
          <a:prstGeom prst="rect">
            <a:avLst/>
          </a:prstGeom>
          <a:noFill/>
          <a:ln/>
        </p:spPr>
        <p:txBody>
          <a:bodyPr wrap="square" lIns="0" tIns="0" rIns="0" bIns="0" rtlCol="0" anchor="ctr"/>
          <a:lstStyle/>
          <a:p>
            <a:pPr indent="0" marL="0">
              <a:buNone/>
            </a:pPr>
            <a:r>
              <a:rPr lang="en-US" sz="1700" b="1" dirty="0">
                <a:solidFill>
                  <a:srgbClr val="102A43"/>
                </a:solidFill>
                <a:latin typeface="Calibri" pitchFamily="34" charset="0"/>
                <a:ea typeface="Calibri" pitchFamily="34" charset="-122"/>
                <a:cs typeface="Calibri" pitchFamily="34" charset="-120"/>
              </a:rPr>
              <a:t>Before there was hardware to spare</a:t>
            </a:r>
            <a:endParaRPr lang="en-US" sz="1700" dirty="0"/>
          </a:p>
        </p:txBody>
      </p:sp>
      <p:sp>
        <p:nvSpPr>
          <p:cNvPr id="11" name="Text 9"/>
          <p:cNvSpPr/>
          <p:nvPr/>
        </p:nvSpPr>
        <p:spPr>
          <a:xfrm>
            <a:off x="868680" y="2523744"/>
            <a:ext cx="5166360" cy="2468880"/>
          </a:xfrm>
          <a:prstGeom prst="rect">
            <a:avLst/>
          </a:prstGeom>
          <a:noFill/>
          <a:ln/>
        </p:spPr>
        <p:txBody>
          <a:bodyPr wrap="square" lIns="0" tIns="0" rIns="0" bIns="0" rtlCol="0" anchor="t"/>
          <a:lstStyle/>
          <a:p>
            <a:pPr indent="0" marL="0">
              <a:lnSpc>
                <a:spcPct val="118000"/>
              </a:lnSpc>
              <a:spcAft>
                <a:spcPts val="900"/>
              </a:spcAft>
              <a:buNone/>
            </a:pPr>
            <a:r>
              <a:rPr lang="en-US" sz="1250" b="1" dirty="0">
                <a:solidFill>
                  <a:srgbClr val="F97316"/>
                </a:solidFill>
                <a:latin typeface="Calibri" pitchFamily="34" charset="0"/>
                <a:ea typeface="Calibri" pitchFamily="34" charset="-122"/>
                <a:cs typeface="Calibri" pitchFamily="34" charset="-120"/>
              </a:rPr>
              <a:t>Jacquard (1805):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a loom driven by punched cards, the first programmable machine</a:t>
            </a:r>
            <a:endParaRPr lang="en-US" sz="1250" dirty="0"/>
          </a:p>
          <a:p>
            <a:pPr indent="0" marL="0">
              <a:lnSpc>
                <a:spcPct val="118000"/>
              </a:lnSpc>
              <a:spcAft>
                <a:spcPts val="900"/>
              </a:spcAft>
              <a:buNone/>
            </a:pPr>
            <a:r>
              <a:rPr lang="en-US" sz="1250" b="1" dirty="0">
                <a:solidFill>
                  <a:srgbClr val="F97316"/>
                </a:solidFill>
                <a:latin typeface="Calibri" pitchFamily="34" charset="0"/>
                <a:ea typeface="Calibri" pitchFamily="34" charset="-122"/>
                <a:cs typeface="Calibri" pitchFamily="34" charset="-120"/>
              </a:rPr>
              <a:t>Babbage: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the Difference Engine and the far more ambitious Analytical Engine, neither finished in his lifetime</a:t>
            </a:r>
            <a:endParaRPr lang="en-US" sz="1250" dirty="0"/>
          </a:p>
          <a:p>
            <a:pPr indent="0" marL="0">
              <a:lnSpc>
                <a:spcPct val="118000"/>
              </a:lnSpc>
              <a:spcAft>
                <a:spcPts val="900"/>
              </a:spcAft>
              <a:buNone/>
            </a:pPr>
            <a:r>
              <a:rPr lang="en-US" sz="1250" b="1" dirty="0">
                <a:solidFill>
                  <a:srgbClr val="F97316"/>
                </a:solidFill>
                <a:latin typeface="Calibri" pitchFamily="34" charset="0"/>
                <a:ea typeface="Calibri" pitchFamily="34" charset="-122"/>
                <a:cs typeface="Calibri" pitchFamily="34" charset="-120"/>
              </a:rPr>
              <a:t>Lovelace: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saw it as a reasoning machine, and warned against exaggerated expectations for it</a:t>
            </a:r>
            <a:endParaRPr lang="en-US" sz="1250" dirty="0"/>
          </a:p>
          <a:p>
            <a:pPr indent="0" marL="0">
              <a:lnSpc>
                <a:spcPct val="118000"/>
              </a:lnSpc>
              <a:spcAft>
                <a:spcPts val="900"/>
              </a:spcAft>
              <a:buNone/>
            </a:pPr>
            <a:r>
              <a:rPr lang="en-US" sz="1250" b="1" dirty="0">
                <a:solidFill>
                  <a:srgbClr val="F97316"/>
                </a:solidFill>
                <a:latin typeface="Calibri" pitchFamily="34" charset="0"/>
                <a:ea typeface="Calibri" pitchFamily="34" charset="-122"/>
                <a:cs typeface="Calibri" pitchFamily="34" charset="-120"/>
              </a:rPr>
              <a:t>1943 onward: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Colossus, the Mark I, ENIAC, general-purpose electronic computing arrives out of wartime work</a:t>
            </a:r>
            <a:endParaRPr lang="en-US" sz="1250" dirty="0"/>
          </a:p>
        </p:txBody>
      </p:sp>
      <p:sp>
        <p:nvSpPr>
          <p:cNvPr id="12" name="Shape 10"/>
          <p:cNvSpPr/>
          <p:nvPr/>
        </p:nvSpPr>
        <p:spPr>
          <a:xfrm>
            <a:off x="6629400" y="1847088"/>
            <a:ext cx="2377440" cy="1280160"/>
          </a:xfrm>
          <a:prstGeom prst="roundRect">
            <a:avLst>
              <a:gd name="adj" fmla="val 428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3" name="Text 11"/>
          <p:cNvSpPr/>
          <p:nvPr/>
        </p:nvSpPr>
        <p:spPr>
          <a:xfrm>
            <a:off x="6766560" y="1993392"/>
            <a:ext cx="2103120" cy="502920"/>
          </a:xfrm>
          <a:prstGeom prst="rect">
            <a:avLst/>
          </a:prstGeom>
          <a:noFill/>
          <a:ln/>
        </p:spPr>
        <p:txBody>
          <a:bodyPr wrap="square" lIns="0" tIns="0" rIns="0" bIns="0" rtlCol="0" anchor="ctr"/>
          <a:lstStyle/>
          <a:p>
            <a:pPr algn="ctr" indent="0" marL="0">
              <a:buNone/>
            </a:pPr>
            <a:r>
              <a:rPr lang="en-US" sz="3000" b="1" dirty="0">
                <a:solidFill>
                  <a:srgbClr val="C1121F"/>
                </a:solidFill>
                <a:latin typeface="Calibri" pitchFamily="34" charset="0"/>
                <a:ea typeface="Calibri" pitchFamily="34" charset="-122"/>
                <a:cs typeface="Calibri" pitchFamily="34" charset="-120"/>
              </a:rPr>
              <a:t>300,000×</a:t>
            </a:r>
            <a:endParaRPr lang="en-US" sz="3000" dirty="0"/>
          </a:p>
        </p:txBody>
      </p:sp>
      <p:sp>
        <p:nvSpPr>
          <p:cNvPr id="14" name="Text 12"/>
          <p:cNvSpPr/>
          <p:nvPr/>
        </p:nvSpPr>
        <p:spPr>
          <a:xfrm>
            <a:off x="6766560" y="2505456"/>
            <a:ext cx="2103120" cy="457200"/>
          </a:xfrm>
          <a:prstGeom prst="rect">
            <a:avLst/>
          </a:prstGeom>
          <a:noFill/>
          <a:ln/>
        </p:spPr>
        <p:txBody>
          <a:bodyPr wrap="square" lIns="0" tIns="0" rIns="0" bIns="0" rtlCol="0" anchor="t"/>
          <a:lstStyle/>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growth in compute used to train</a:t>
            </a:r>
            <a:endParaRPr lang="en-US" sz="1100" dirty="0"/>
          </a:p>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top ML systems, 2012 to 2018</a:t>
            </a:r>
            <a:endParaRPr lang="en-US" sz="1100" dirty="0"/>
          </a:p>
        </p:txBody>
      </p:sp>
      <p:sp>
        <p:nvSpPr>
          <p:cNvPr id="15" name="Shape 13"/>
          <p:cNvSpPr/>
          <p:nvPr/>
        </p:nvSpPr>
        <p:spPr>
          <a:xfrm>
            <a:off x="9262872" y="1847088"/>
            <a:ext cx="2377440" cy="1280160"/>
          </a:xfrm>
          <a:prstGeom prst="roundRect">
            <a:avLst>
              <a:gd name="adj" fmla="val 428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6" name="Text 14"/>
          <p:cNvSpPr/>
          <p:nvPr/>
        </p:nvSpPr>
        <p:spPr>
          <a:xfrm>
            <a:off x="9400032" y="1993392"/>
            <a:ext cx="2103120" cy="502920"/>
          </a:xfrm>
          <a:prstGeom prst="rect">
            <a:avLst/>
          </a:prstGeom>
          <a:noFill/>
          <a:ln/>
        </p:spPr>
        <p:txBody>
          <a:bodyPr wrap="square" lIns="0" tIns="0" rIns="0" bIns="0" rtlCol="0" anchor="ctr"/>
          <a:lstStyle/>
          <a:p>
            <a:pPr algn="ctr" indent="0" marL="0">
              <a:buNone/>
            </a:pPr>
            <a:r>
              <a:rPr lang="en-US" sz="3000" b="1" dirty="0">
                <a:solidFill>
                  <a:srgbClr val="F97316"/>
                </a:solidFill>
                <a:latin typeface="Calibri" pitchFamily="34" charset="0"/>
                <a:ea typeface="Calibri" pitchFamily="34" charset="-122"/>
                <a:cs typeface="Calibri" pitchFamily="34" charset="-120"/>
              </a:rPr>
              <a:t>3.4 mo</a:t>
            </a:r>
            <a:endParaRPr lang="en-US" sz="3000" dirty="0"/>
          </a:p>
        </p:txBody>
      </p:sp>
      <p:sp>
        <p:nvSpPr>
          <p:cNvPr id="17" name="Text 15"/>
          <p:cNvSpPr/>
          <p:nvPr/>
        </p:nvSpPr>
        <p:spPr>
          <a:xfrm>
            <a:off x="9400032" y="2505456"/>
            <a:ext cx="2103120" cy="457200"/>
          </a:xfrm>
          <a:prstGeom prst="rect">
            <a:avLst/>
          </a:prstGeom>
          <a:noFill/>
          <a:ln/>
        </p:spPr>
        <p:txBody>
          <a:bodyPr wrap="square" lIns="0" tIns="0" rIns="0" bIns="0" rtlCol="0" anchor="t"/>
          <a:lstStyle/>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doubling time of compute</a:t>
            </a:r>
            <a:endParaRPr lang="en-US" sz="1100" dirty="0"/>
          </a:p>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in leading AI applications</a:t>
            </a:r>
            <a:endParaRPr lang="en-US" sz="1100" dirty="0"/>
          </a:p>
        </p:txBody>
      </p:sp>
      <p:sp>
        <p:nvSpPr>
          <p:cNvPr id="18" name="Shape 16"/>
          <p:cNvSpPr/>
          <p:nvPr/>
        </p:nvSpPr>
        <p:spPr>
          <a:xfrm>
            <a:off x="6629400" y="3310128"/>
            <a:ext cx="5010912" cy="1947672"/>
          </a:xfrm>
          <a:prstGeom prst="roundRect">
            <a:avLst>
              <a:gd name="adj" fmla="val 281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9" name="Text 17"/>
          <p:cNvSpPr/>
          <p:nvPr/>
        </p:nvSpPr>
        <p:spPr>
          <a:xfrm>
            <a:off x="6903720" y="3493008"/>
            <a:ext cx="4480560" cy="274320"/>
          </a:xfrm>
          <a:prstGeom prst="rect">
            <a:avLst/>
          </a:prstGeom>
          <a:noFill/>
          <a:ln/>
        </p:spPr>
        <p:txBody>
          <a:bodyPr wrap="square" lIns="0" tIns="0" rIns="0" bIns="0" rtlCol="0" anchor="ctr"/>
          <a:lstStyle/>
          <a:p>
            <a:pPr indent="0" marL="0">
              <a:buNone/>
            </a:pPr>
            <a:r>
              <a:rPr lang="en-US" sz="1500" b="1" dirty="0">
                <a:solidFill>
                  <a:srgbClr val="102A43"/>
                </a:solidFill>
                <a:latin typeface="Calibri" pitchFamily="34" charset="0"/>
                <a:ea typeface="Calibri" pitchFamily="34" charset="-122"/>
                <a:cs typeface="Calibri" pitchFamily="34" charset="-120"/>
              </a:rPr>
              <a:t>Two curves, not one</a:t>
            </a:r>
            <a:endParaRPr lang="en-US" sz="1500" dirty="0"/>
          </a:p>
        </p:txBody>
      </p:sp>
      <p:sp>
        <p:nvSpPr>
          <p:cNvPr id="20" name="Text 18"/>
          <p:cNvSpPr/>
          <p:nvPr/>
        </p:nvSpPr>
        <p:spPr>
          <a:xfrm>
            <a:off x="6903720" y="3822192"/>
            <a:ext cx="4480560" cy="1325880"/>
          </a:xfrm>
          <a:prstGeom prst="rect">
            <a:avLst/>
          </a:prstGeom>
          <a:noFill/>
          <a:ln/>
        </p:spPr>
        <p:txBody>
          <a:bodyPr wrap="square" lIns="0" tIns="0" rIns="0" bIns="0" rtlCol="0" anchor="t"/>
          <a:lstStyle/>
          <a:p>
            <a:pPr indent="0" marL="0">
              <a:lnSpc>
                <a:spcPct val="118000"/>
              </a:lnSpc>
              <a:spcAft>
                <a:spcPts val="600"/>
              </a:spcAft>
              <a:buNone/>
            </a:pPr>
            <a:r>
              <a:rPr lang="en-US" sz="1100" b="1" dirty="0">
                <a:solidFill>
                  <a:srgbClr val="F97316"/>
                </a:solidFill>
                <a:latin typeface="Calibri" pitchFamily="34" charset="0"/>
                <a:ea typeface="Calibri" pitchFamily="34" charset="-122"/>
                <a:cs typeface="Calibri" pitchFamily="34" charset="-120"/>
              </a:rPr>
              <a:t>Moore's law: </a:t>
            </a:r>
            <a:pPr indent="0" marL="0">
              <a:lnSpc>
                <a:spcPct val="118000"/>
              </a:lnSpc>
              <a:spcAft>
                <a:spcPts val="600"/>
              </a:spcAft>
              <a:buNone/>
            </a:pPr>
            <a:r>
              <a:rPr lang="en-US" sz="1100" dirty="0">
                <a:solidFill>
                  <a:srgbClr val="1F2933"/>
                </a:solidFill>
                <a:latin typeface="Calibri" pitchFamily="34" charset="0"/>
                <a:ea typeface="Calibri" pitchFamily="34" charset="-122"/>
                <a:cs typeface="Calibri" pitchFamily="34" charset="-120"/>
              </a:rPr>
              <a:t>roughly 18-month doubling until about 2005, when heat forced a shift from clock speed to core count</a:t>
            </a:r>
            <a:endParaRPr lang="en-US" sz="1100" dirty="0"/>
          </a:p>
          <a:p>
            <a:pPr indent="0" marL="0">
              <a:lnSpc>
                <a:spcPct val="118000"/>
              </a:lnSpc>
              <a:spcAft>
                <a:spcPts val="600"/>
              </a:spcAft>
              <a:buNone/>
            </a:pPr>
            <a:r>
              <a:rPr lang="en-US" sz="1100" b="1" dirty="0">
                <a:solidFill>
                  <a:srgbClr val="F97316"/>
                </a:solidFill>
                <a:latin typeface="Calibri" pitchFamily="34" charset="0"/>
                <a:ea typeface="Calibri" pitchFamily="34" charset="-122"/>
                <a:cs typeface="Calibri" pitchFamily="34" charset="-120"/>
              </a:rPr>
              <a:t>After 2012: </a:t>
            </a:r>
            <a:pPr indent="0" marL="0">
              <a:lnSpc>
                <a:spcPct val="118000"/>
              </a:lnSpc>
              <a:spcAft>
                <a:spcPts val="600"/>
              </a:spcAft>
              <a:buNone/>
            </a:pPr>
            <a:r>
              <a:rPr lang="en-US" sz="1100" dirty="0">
                <a:solidFill>
                  <a:srgbClr val="1F2933"/>
                </a:solidFill>
                <a:latin typeface="Calibri" pitchFamily="34" charset="0"/>
                <a:ea typeface="Calibri" pitchFamily="34" charset="-122"/>
                <a:cs typeface="Calibri" pitchFamily="34" charset="-120"/>
              </a:rPr>
              <a:t>AI training compute grows far faster than Moore's law, driven by GPUs, TPUs, and wafer-scale engines</a:t>
            </a:r>
            <a:endParaRPr lang="en-US" sz="1100" dirty="0"/>
          </a:p>
          <a:p>
            <a:pPr indent="0" marL="0">
              <a:lnSpc>
                <a:spcPct val="118000"/>
              </a:lnSpc>
              <a:spcAft>
                <a:spcPts val="600"/>
              </a:spcAft>
              <a:buNone/>
            </a:pPr>
            <a:r>
              <a:rPr lang="en-US" sz="1100" b="1" dirty="0">
                <a:solidFill>
                  <a:srgbClr val="F97316"/>
                </a:solidFill>
                <a:latin typeface="Calibri" pitchFamily="34" charset="0"/>
                <a:ea typeface="Calibri" pitchFamily="34" charset="-122"/>
                <a:cs typeface="Calibri" pitchFamily="34" charset="-120"/>
              </a:rPr>
              <a:t>Repayment: </a:t>
            </a:r>
            <a:pPr indent="0" marL="0">
              <a:lnSpc>
                <a:spcPct val="118000"/>
              </a:lnSpc>
              <a:spcAft>
                <a:spcPts val="600"/>
              </a:spcAft>
              <a:buNone/>
            </a:pPr>
            <a:r>
              <a:rPr lang="en-US" sz="1100" dirty="0">
                <a:solidFill>
                  <a:srgbClr val="1F2933"/>
                </a:solidFill>
                <a:latin typeface="Calibri" pitchFamily="34" charset="0"/>
                <a:ea typeface="Calibri" pitchFamily="34" charset="-122"/>
                <a:cs typeface="Calibri" pitchFamily="34" charset="-120"/>
              </a:rPr>
              <a:t>AI research gave general computing time sharing, interactive interpreters, and garbage collection</a:t>
            </a:r>
            <a:endParaRPr lang="en-US" sz="1100" dirty="0"/>
          </a:p>
        </p:txBody>
      </p:sp>
      <p:sp>
        <p:nvSpPr>
          <p:cNvPr id="21" name="Shape 19"/>
          <p:cNvSpPr/>
          <p:nvPr/>
        </p:nvSpPr>
        <p:spPr>
          <a:xfrm>
            <a:off x="1249528" y="5504688"/>
            <a:ext cx="9692640" cy="603504"/>
          </a:xfrm>
          <a:prstGeom prst="roundRect">
            <a:avLst>
              <a:gd name="adj" fmla="val 9091"/>
            </a:avLst>
          </a:prstGeom>
          <a:solidFill>
            <a:srgbClr val="F97316"/>
          </a:solidFill>
          <a:ln w="12700">
            <a:solidFill>
              <a:srgbClr val="F97316"/>
            </a:solidFill>
            <a:prstDash val="solid"/>
          </a:ln>
        </p:spPr>
      </p:sp>
      <p:sp>
        <p:nvSpPr>
          <p:cNvPr id="22" name="Text 20"/>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AI is rate-limited by hardware, and since 2012 the compute behind leading systems has grown far faster than Moore's law.</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1.2.7</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Control Theory: Artifacts That Regulate Themselves</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316736"/>
            <a:ext cx="11018520" cy="384048"/>
          </a:xfrm>
          <a:prstGeom prst="roundRect">
            <a:avLst>
              <a:gd name="adj" fmla="val 14286"/>
            </a:avLst>
          </a:prstGeom>
          <a:solidFill>
            <a:srgbClr val="EBF3F7"/>
          </a:solidFill>
          <a:ln w="12700">
            <a:solidFill>
              <a:srgbClr val="CFE2EC"/>
            </a:solidFill>
            <a:prstDash val="solid"/>
          </a:ln>
        </p:spPr>
      </p:sp>
      <p:sp>
        <p:nvSpPr>
          <p:cNvPr id="7" name="Text 5"/>
          <p:cNvSpPr/>
          <p:nvPr/>
        </p:nvSpPr>
        <p:spPr>
          <a:xfrm>
            <a:off x="777240" y="1335024"/>
            <a:ext cx="10698480" cy="347472"/>
          </a:xfrm>
          <a:prstGeom prst="rect">
            <a:avLst/>
          </a:prstGeom>
          <a:noFill/>
          <a:ln/>
        </p:spPr>
        <p:txBody>
          <a:bodyPr wrap="square" lIns="0" tIns="0" rIns="0" bIns="0" rtlCol="0" anchor="ctr"/>
          <a:lstStyle/>
          <a:p>
            <a:pPr indent="0" marL="0">
              <a:buNone/>
            </a:pPr>
            <a:r>
              <a:rPr lang="en-US" sz="1250" i="1" dirty="0">
                <a:solidFill>
                  <a:srgbClr val="247BA0"/>
                </a:solidFill>
                <a:latin typeface="Calibri" pitchFamily="34" charset="0"/>
                <a:ea typeface="Calibri" pitchFamily="34" charset="-122"/>
                <a:cs typeface="Calibri" pitchFamily="34" charset="-120"/>
              </a:rPr>
              <a:t>Driving question: How can artifacts operate under their own control?</a:t>
            </a:r>
            <a:endParaRPr lang="en-US" sz="1250" dirty="0"/>
          </a:p>
        </p:txBody>
      </p:sp>
      <p:sp>
        <p:nvSpPr>
          <p:cNvPr id="8" name="Shape 6"/>
          <p:cNvSpPr/>
          <p:nvPr/>
        </p:nvSpPr>
        <p:spPr>
          <a:xfrm>
            <a:off x="960120" y="1938528"/>
            <a:ext cx="2057400" cy="566928"/>
          </a:xfrm>
          <a:prstGeom prst="roundRect">
            <a:avLst>
              <a:gd name="adj" fmla="val 9677"/>
            </a:avLst>
          </a:prstGeom>
          <a:solidFill>
            <a:srgbClr val="FFFFFF"/>
          </a:solidFill>
          <a:ln w="19050">
            <a:solidFill>
              <a:srgbClr val="247BA0"/>
            </a:solidFill>
            <a:prstDash val="solid"/>
          </a:ln>
        </p:spPr>
      </p:sp>
      <p:sp>
        <p:nvSpPr>
          <p:cNvPr id="9" name="Text 7"/>
          <p:cNvSpPr/>
          <p:nvPr/>
        </p:nvSpPr>
        <p:spPr>
          <a:xfrm>
            <a:off x="960120" y="1938528"/>
            <a:ext cx="2057400" cy="566928"/>
          </a:xfrm>
          <a:prstGeom prst="rect">
            <a:avLst/>
          </a:prstGeom>
          <a:noFill/>
          <a:ln/>
        </p:spPr>
        <p:txBody>
          <a:bodyPr wrap="square" lIns="0" tIns="0" rIns="0" bIns="0" rtlCol="0" anchor="ctr"/>
          <a:lstStyle/>
          <a:p>
            <a:pPr algn="ctr" indent="0" marL="0">
              <a:buNone/>
            </a:pPr>
            <a:r>
              <a:rPr lang="en-US" sz="1400" b="1" dirty="0">
                <a:solidFill>
                  <a:srgbClr val="247BA0"/>
                </a:solidFill>
                <a:latin typeface="Calibri" pitchFamily="34" charset="0"/>
                <a:ea typeface="Calibri" pitchFamily="34" charset="-122"/>
                <a:cs typeface="Calibri" pitchFamily="34" charset="-120"/>
              </a:rPr>
              <a:t>Sensors</a:t>
            </a:r>
            <a:endParaRPr lang="en-US" sz="1400" dirty="0"/>
          </a:p>
        </p:txBody>
      </p:sp>
      <p:sp>
        <p:nvSpPr>
          <p:cNvPr id="10" name="Shape 8"/>
          <p:cNvSpPr/>
          <p:nvPr/>
        </p:nvSpPr>
        <p:spPr>
          <a:xfrm>
            <a:off x="3703320" y="1938528"/>
            <a:ext cx="2057400" cy="566928"/>
          </a:xfrm>
          <a:prstGeom prst="roundRect">
            <a:avLst>
              <a:gd name="adj" fmla="val 9677"/>
            </a:avLst>
          </a:prstGeom>
          <a:solidFill>
            <a:srgbClr val="FFFFFF"/>
          </a:solidFill>
          <a:ln w="19050">
            <a:solidFill>
              <a:srgbClr val="6D28D9"/>
            </a:solidFill>
            <a:prstDash val="solid"/>
          </a:ln>
        </p:spPr>
      </p:sp>
      <p:sp>
        <p:nvSpPr>
          <p:cNvPr id="11" name="Text 9"/>
          <p:cNvSpPr/>
          <p:nvPr/>
        </p:nvSpPr>
        <p:spPr>
          <a:xfrm>
            <a:off x="3703320" y="1938528"/>
            <a:ext cx="2057400" cy="566928"/>
          </a:xfrm>
          <a:prstGeom prst="rect">
            <a:avLst/>
          </a:prstGeom>
          <a:noFill/>
          <a:ln/>
        </p:spPr>
        <p:txBody>
          <a:bodyPr wrap="square" lIns="0" tIns="0" rIns="0" bIns="0" rtlCol="0" anchor="ctr"/>
          <a:lstStyle/>
          <a:p>
            <a:pPr algn="ctr" indent="0" marL="0">
              <a:buNone/>
            </a:pPr>
            <a:r>
              <a:rPr lang="en-US" sz="1400" b="1" dirty="0">
                <a:solidFill>
                  <a:srgbClr val="6D28D9"/>
                </a:solidFill>
                <a:latin typeface="Calibri" pitchFamily="34" charset="0"/>
                <a:ea typeface="Calibri" pitchFamily="34" charset="-122"/>
                <a:cs typeface="Calibri" pitchFamily="34" charset="-120"/>
              </a:rPr>
              <a:t>Controller</a:t>
            </a:r>
            <a:endParaRPr lang="en-US" sz="1400" dirty="0"/>
          </a:p>
        </p:txBody>
      </p:sp>
      <p:sp>
        <p:nvSpPr>
          <p:cNvPr id="12" name="Shape 10"/>
          <p:cNvSpPr/>
          <p:nvPr/>
        </p:nvSpPr>
        <p:spPr>
          <a:xfrm>
            <a:off x="6446520" y="1938528"/>
            <a:ext cx="2057400" cy="566928"/>
          </a:xfrm>
          <a:prstGeom prst="roundRect">
            <a:avLst>
              <a:gd name="adj" fmla="val 9677"/>
            </a:avLst>
          </a:prstGeom>
          <a:solidFill>
            <a:srgbClr val="FFFFFF"/>
          </a:solidFill>
          <a:ln w="19050">
            <a:solidFill>
              <a:srgbClr val="55A630"/>
            </a:solidFill>
            <a:prstDash val="solid"/>
          </a:ln>
        </p:spPr>
      </p:sp>
      <p:sp>
        <p:nvSpPr>
          <p:cNvPr id="13" name="Text 11"/>
          <p:cNvSpPr/>
          <p:nvPr/>
        </p:nvSpPr>
        <p:spPr>
          <a:xfrm>
            <a:off x="6446520" y="1938528"/>
            <a:ext cx="2057400" cy="566928"/>
          </a:xfrm>
          <a:prstGeom prst="rect">
            <a:avLst/>
          </a:prstGeom>
          <a:noFill/>
          <a:ln/>
        </p:spPr>
        <p:txBody>
          <a:bodyPr wrap="square" lIns="0" tIns="0" rIns="0" bIns="0" rtlCol="0" anchor="ctr"/>
          <a:lstStyle/>
          <a:p>
            <a:pPr algn="ctr" indent="0" marL="0">
              <a:buNone/>
            </a:pPr>
            <a:r>
              <a:rPr lang="en-US" sz="1400" b="1" dirty="0">
                <a:solidFill>
                  <a:srgbClr val="55A630"/>
                </a:solidFill>
                <a:latin typeface="Calibri" pitchFamily="34" charset="0"/>
                <a:ea typeface="Calibri" pitchFamily="34" charset="-122"/>
                <a:cs typeface="Calibri" pitchFamily="34" charset="-120"/>
              </a:rPr>
              <a:t>Actuators</a:t>
            </a:r>
            <a:endParaRPr lang="en-US" sz="1400" dirty="0"/>
          </a:p>
        </p:txBody>
      </p:sp>
      <p:sp>
        <p:nvSpPr>
          <p:cNvPr id="14" name="Shape 12"/>
          <p:cNvSpPr/>
          <p:nvPr/>
        </p:nvSpPr>
        <p:spPr>
          <a:xfrm>
            <a:off x="9189720" y="1938528"/>
            <a:ext cx="2057400" cy="566928"/>
          </a:xfrm>
          <a:prstGeom prst="roundRect">
            <a:avLst>
              <a:gd name="adj" fmla="val 9677"/>
            </a:avLst>
          </a:prstGeom>
          <a:solidFill>
            <a:srgbClr val="FFFFFF"/>
          </a:solidFill>
          <a:ln w="19050">
            <a:solidFill>
              <a:srgbClr val="F97316"/>
            </a:solidFill>
            <a:prstDash val="solid"/>
          </a:ln>
        </p:spPr>
      </p:sp>
      <p:sp>
        <p:nvSpPr>
          <p:cNvPr id="15" name="Text 13"/>
          <p:cNvSpPr/>
          <p:nvPr/>
        </p:nvSpPr>
        <p:spPr>
          <a:xfrm>
            <a:off x="9189720" y="1938528"/>
            <a:ext cx="2057400" cy="566928"/>
          </a:xfrm>
          <a:prstGeom prst="rect">
            <a:avLst/>
          </a:prstGeom>
          <a:noFill/>
          <a:ln/>
        </p:spPr>
        <p:txBody>
          <a:bodyPr wrap="square" lIns="0" tIns="0" rIns="0" bIns="0" rtlCol="0" anchor="ctr"/>
          <a:lstStyle/>
          <a:p>
            <a:pPr algn="ctr" indent="0" marL="0">
              <a:buNone/>
            </a:pPr>
            <a:r>
              <a:rPr lang="en-US" sz="1400" b="1" dirty="0">
                <a:solidFill>
                  <a:srgbClr val="F97316"/>
                </a:solidFill>
                <a:latin typeface="Calibri" pitchFamily="34" charset="0"/>
                <a:ea typeface="Calibri" pitchFamily="34" charset="-122"/>
                <a:cs typeface="Calibri" pitchFamily="34" charset="-120"/>
              </a:rPr>
              <a:t>Environment</a:t>
            </a:r>
            <a:endParaRPr lang="en-US" sz="1400" dirty="0"/>
          </a:p>
        </p:txBody>
      </p:sp>
      <p:sp>
        <p:nvSpPr>
          <p:cNvPr id="16" name="Shape 14"/>
          <p:cNvSpPr/>
          <p:nvPr/>
        </p:nvSpPr>
        <p:spPr>
          <a:xfrm>
            <a:off x="3017520" y="2221992"/>
            <a:ext cx="685800" cy="0"/>
          </a:xfrm>
          <a:prstGeom prst="line">
            <a:avLst/>
          </a:prstGeom>
          <a:noFill/>
          <a:ln w="19050">
            <a:solidFill>
              <a:srgbClr val="7B8794"/>
            </a:solidFill>
            <a:prstDash val="solid"/>
            <a:tailEnd type="triangle"/>
          </a:ln>
        </p:spPr>
      </p:sp>
      <p:sp>
        <p:nvSpPr>
          <p:cNvPr id="17" name="Shape 15"/>
          <p:cNvSpPr/>
          <p:nvPr/>
        </p:nvSpPr>
        <p:spPr>
          <a:xfrm>
            <a:off x="5760720" y="2221992"/>
            <a:ext cx="685800" cy="0"/>
          </a:xfrm>
          <a:prstGeom prst="line">
            <a:avLst/>
          </a:prstGeom>
          <a:noFill/>
          <a:ln w="19050">
            <a:solidFill>
              <a:srgbClr val="7B8794"/>
            </a:solidFill>
            <a:prstDash val="solid"/>
            <a:tailEnd type="triangle"/>
          </a:ln>
        </p:spPr>
      </p:sp>
      <p:sp>
        <p:nvSpPr>
          <p:cNvPr id="18" name="Shape 16"/>
          <p:cNvSpPr/>
          <p:nvPr/>
        </p:nvSpPr>
        <p:spPr>
          <a:xfrm>
            <a:off x="8503920" y="2221992"/>
            <a:ext cx="685800" cy="0"/>
          </a:xfrm>
          <a:prstGeom prst="line">
            <a:avLst/>
          </a:prstGeom>
          <a:noFill/>
          <a:ln w="19050">
            <a:solidFill>
              <a:srgbClr val="7B8794"/>
            </a:solidFill>
            <a:prstDash val="solid"/>
            <a:tailEnd type="triangle"/>
          </a:ln>
        </p:spPr>
      </p:sp>
      <p:sp>
        <p:nvSpPr>
          <p:cNvPr id="19" name="Shape 17"/>
          <p:cNvSpPr/>
          <p:nvPr/>
        </p:nvSpPr>
        <p:spPr>
          <a:xfrm>
            <a:off x="10222992" y="2505456"/>
            <a:ext cx="0" cy="457200"/>
          </a:xfrm>
          <a:prstGeom prst="line">
            <a:avLst/>
          </a:prstGeom>
          <a:noFill/>
          <a:ln w="19050">
            <a:solidFill>
              <a:srgbClr val="7B8794"/>
            </a:solidFill>
            <a:prstDash val="dash"/>
          </a:ln>
        </p:spPr>
      </p:sp>
      <p:sp>
        <p:nvSpPr>
          <p:cNvPr id="20" name="Shape 18"/>
          <p:cNvSpPr/>
          <p:nvPr/>
        </p:nvSpPr>
        <p:spPr>
          <a:xfrm>
            <a:off x="1993392" y="2962656"/>
            <a:ext cx="8229600" cy="0"/>
          </a:xfrm>
          <a:prstGeom prst="line">
            <a:avLst/>
          </a:prstGeom>
          <a:noFill/>
          <a:ln w="19050">
            <a:solidFill>
              <a:srgbClr val="7B8794"/>
            </a:solidFill>
            <a:prstDash val="dash"/>
          </a:ln>
        </p:spPr>
      </p:sp>
      <p:sp>
        <p:nvSpPr>
          <p:cNvPr id="21" name="Shape 19"/>
          <p:cNvSpPr/>
          <p:nvPr/>
        </p:nvSpPr>
        <p:spPr>
          <a:xfrm>
            <a:off x="1993392" y="2505456"/>
            <a:ext cx="0" cy="457200"/>
          </a:xfrm>
          <a:prstGeom prst="line">
            <a:avLst/>
          </a:prstGeom>
          <a:noFill/>
          <a:ln w="19050">
            <a:solidFill>
              <a:srgbClr val="7B8794"/>
            </a:solidFill>
            <a:prstDash val="dash"/>
            <a:headEnd type="triangle"/>
          </a:ln>
        </p:spPr>
      </p:sp>
      <p:sp>
        <p:nvSpPr>
          <p:cNvPr id="22" name="Text 20"/>
          <p:cNvSpPr/>
          <p:nvPr/>
        </p:nvSpPr>
        <p:spPr>
          <a:xfrm>
            <a:off x="4023360" y="2999232"/>
            <a:ext cx="4160520" cy="256032"/>
          </a:xfrm>
          <a:prstGeom prst="rect">
            <a:avLst/>
          </a:prstGeom>
          <a:noFill/>
          <a:ln/>
        </p:spPr>
        <p:txBody>
          <a:bodyPr wrap="square" lIns="0" tIns="0" rIns="0" bIns="0" rtlCol="0" anchor="ctr"/>
          <a:lstStyle/>
          <a:p>
            <a:pPr algn="ctr" indent="0" marL="0">
              <a:buNone/>
            </a:pPr>
            <a:r>
              <a:rPr lang="en-US" sz="1100" i="1" dirty="0">
                <a:solidFill>
                  <a:srgbClr val="7B8794"/>
                </a:solidFill>
                <a:latin typeface="Calibri" pitchFamily="34" charset="0"/>
                <a:ea typeface="Calibri" pitchFamily="34" charset="-122"/>
                <a:cs typeface="Calibri" pitchFamily="34" charset="-120"/>
              </a:rPr>
              <a:t>feedback: the measured error drives the next action</a:t>
            </a:r>
            <a:endParaRPr lang="en-US" sz="1100" dirty="0"/>
          </a:p>
        </p:txBody>
      </p:sp>
      <p:sp>
        <p:nvSpPr>
          <p:cNvPr id="23" name="Shape 21"/>
          <p:cNvSpPr/>
          <p:nvPr/>
        </p:nvSpPr>
        <p:spPr>
          <a:xfrm>
            <a:off x="594360" y="3401568"/>
            <a:ext cx="3520440" cy="1883664"/>
          </a:xfrm>
          <a:prstGeom prst="roundRect">
            <a:avLst>
              <a:gd name="adj" fmla="val 2913"/>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4" name="Shape 22"/>
          <p:cNvSpPr/>
          <p:nvPr/>
        </p:nvSpPr>
        <p:spPr>
          <a:xfrm>
            <a:off x="594360" y="3401568"/>
            <a:ext cx="3520440" cy="146304"/>
          </a:xfrm>
          <a:prstGeom prst="rect">
            <a:avLst/>
          </a:prstGeom>
          <a:solidFill>
            <a:srgbClr val="247BA0"/>
          </a:solidFill>
          <a:ln w="12700">
            <a:solidFill>
              <a:srgbClr val="247BA0"/>
            </a:solidFill>
            <a:prstDash val="solid"/>
          </a:ln>
        </p:spPr>
      </p:sp>
      <p:sp>
        <p:nvSpPr>
          <p:cNvPr id="25" name="Text 23"/>
          <p:cNvSpPr/>
          <p:nvPr/>
        </p:nvSpPr>
        <p:spPr>
          <a:xfrm>
            <a:off x="822960" y="3621024"/>
            <a:ext cx="3063240" cy="274320"/>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Origins</a:t>
            </a:r>
            <a:endParaRPr lang="en-US" sz="1550" dirty="0"/>
          </a:p>
        </p:txBody>
      </p:sp>
      <p:sp>
        <p:nvSpPr>
          <p:cNvPr id="26" name="Text 24"/>
          <p:cNvSpPr/>
          <p:nvPr/>
        </p:nvSpPr>
        <p:spPr>
          <a:xfrm>
            <a:off x="822960" y="3950208"/>
            <a:ext cx="3063240" cy="1234440"/>
          </a:xfrm>
          <a:prstGeom prst="rect">
            <a:avLst/>
          </a:prstGeom>
          <a:noFill/>
          <a:ln/>
        </p:spPr>
        <p:txBody>
          <a:bodyPr wrap="square" lIns="0" tIns="0" rIns="0" bIns="0" rtlCol="0" anchor="t"/>
          <a:lstStyle/>
          <a:p>
            <a:pPr indent="0" marL="0">
              <a:lnSpc>
                <a:spcPct val="118000"/>
              </a:lnSpc>
              <a:spcAft>
                <a:spcPts val="500"/>
              </a:spcAft>
              <a:buNone/>
            </a:pPr>
            <a:r>
              <a:rPr lang="en-US" sz="1100" b="1" dirty="0">
                <a:solidFill>
                  <a:srgbClr val="247BA0"/>
                </a:solidFill>
                <a:latin typeface="Calibri" pitchFamily="34" charset="0"/>
                <a:ea typeface="Calibri" pitchFamily="34" charset="-122"/>
                <a:cs typeface="Calibri" pitchFamily="34" charset="-120"/>
              </a:rPr>
              <a:t>Ktesibios (c. 250 BCE): </a:t>
            </a:r>
            <a:pPr indent="0" marL="0">
              <a:lnSpc>
                <a:spcPct val="118000"/>
              </a:lnSpc>
              <a:spcAft>
                <a:spcPts val="500"/>
              </a:spcAft>
              <a:buNone/>
            </a:pPr>
            <a:r>
              <a:rPr lang="en-US" sz="1100" dirty="0">
                <a:solidFill>
                  <a:srgbClr val="1F2933"/>
                </a:solidFill>
                <a:latin typeface="Calibri" pitchFamily="34" charset="0"/>
                <a:ea typeface="Calibri" pitchFamily="34" charset="-122"/>
                <a:cs typeface="Calibri" pitchFamily="34" charset="-120"/>
              </a:rPr>
              <a:t>a water clock whose regulator held a constant flow rate</a:t>
            </a:r>
            <a:endParaRPr lang="en-US" sz="1100" dirty="0"/>
          </a:p>
          <a:p>
            <a:pPr indent="0" marL="0">
              <a:lnSpc>
                <a:spcPct val="118000"/>
              </a:lnSpc>
              <a:spcAft>
                <a:spcPts val="500"/>
              </a:spcAft>
              <a:buNone/>
            </a:pPr>
            <a:r>
              <a:rPr lang="en-US" sz="1100" b="1" dirty="0">
                <a:solidFill>
                  <a:srgbClr val="247BA0"/>
                </a:solidFill>
                <a:latin typeface="Calibri" pitchFamily="34" charset="0"/>
                <a:ea typeface="Calibri" pitchFamily="34" charset="-122"/>
                <a:cs typeface="Calibri" pitchFamily="34" charset="-120"/>
              </a:rPr>
              <a:t>Why it mattered: </a:t>
            </a:r>
            <a:pPr indent="0" marL="0">
              <a:lnSpc>
                <a:spcPct val="118000"/>
              </a:lnSpc>
              <a:spcAft>
                <a:spcPts val="500"/>
              </a:spcAft>
              <a:buNone/>
            </a:pPr>
            <a:r>
              <a:rPr lang="en-US" sz="1100" dirty="0">
                <a:solidFill>
                  <a:srgbClr val="1F2933"/>
                </a:solidFill>
                <a:latin typeface="Calibri" pitchFamily="34" charset="0"/>
                <a:ea typeface="Calibri" pitchFamily="34" charset="-122"/>
                <a:cs typeface="Calibri" pitchFamily="34" charset="-120"/>
              </a:rPr>
              <a:t>before this, only living things adjusted their behavior to the environment</a:t>
            </a:r>
            <a:endParaRPr lang="en-US" sz="1100" dirty="0"/>
          </a:p>
          <a:p>
            <a:pPr indent="0" marL="0">
              <a:lnSpc>
                <a:spcPct val="118000"/>
              </a:lnSpc>
              <a:spcAft>
                <a:spcPts val="500"/>
              </a:spcAft>
              <a:buNone/>
            </a:pPr>
            <a:r>
              <a:rPr lang="en-US" sz="1100" b="1" dirty="0">
                <a:solidFill>
                  <a:srgbClr val="247BA0"/>
                </a:solidFill>
                <a:latin typeface="Calibri" pitchFamily="34" charset="0"/>
                <a:ea typeface="Calibri" pitchFamily="34" charset="-122"/>
                <a:cs typeface="Calibri" pitchFamily="34" charset="-120"/>
              </a:rPr>
              <a:t>Later: </a:t>
            </a:r>
            <a:pPr indent="0" marL="0">
              <a:lnSpc>
                <a:spcPct val="118000"/>
              </a:lnSpc>
              <a:spcAft>
                <a:spcPts val="500"/>
              </a:spcAft>
              <a:buNone/>
            </a:pPr>
            <a:r>
              <a:rPr lang="en-US" sz="1100" dirty="0">
                <a:solidFill>
                  <a:srgbClr val="1F2933"/>
                </a:solidFill>
                <a:latin typeface="Calibri" pitchFamily="34" charset="0"/>
                <a:ea typeface="Calibri" pitchFamily="34" charset="-122"/>
                <a:cs typeface="Calibri" pitchFamily="34" charset="-120"/>
              </a:rPr>
              <a:t>the steam engine governor and the thermostat follow the same pattern</a:t>
            </a:r>
            <a:endParaRPr lang="en-US" sz="1100" dirty="0"/>
          </a:p>
        </p:txBody>
      </p:sp>
      <p:sp>
        <p:nvSpPr>
          <p:cNvPr id="27" name="Shape 25"/>
          <p:cNvSpPr/>
          <p:nvPr/>
        </p:nvSpPr>
        <p:spPr>
          <a:xfrm>
            <a:off x="4480560" y="3401568"/>
            <a:ext cx="3520440" cy="1883664"/>
          </a:xfrm>
          <a:prstGeom prst="roundRect">
            <a:avLst>
              <a:gd name="adj" fmla="val 2913"/>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8" name="Shape 26"/>
          <p:cNvSpPr/>
          <p:nvPr/>
        </p:nvSpPr>
        <p:spPr>
          <a:xfrm>
            <a:off x="4480560" y="3401568"/>
            <a:ext cx="3520440" cy="146304"/>
          </a:xfrm>
          <a:prstGeom prst="rect">
            <a:avLst/>
          </a:prstGeom>
          <a:solidFill>
            <a:srgbClr val="6D28D9"/>
          </a:solidFill>
          <a:ln w="12700">
            <a:solidFill>
              <a:srgbClr val="6D28D9"/>
            </a:solidFill>
            <a:prstDash val="solid"/>
          </a:ln>
        </p:spPr>
      </p:sp>
      <p:sp>
        <p:nvSpPr>
          <p:cNvPr id="29" name="Text 27"/>
          <p:cNvSpPr/>
          <p:nvPr/>
        </p:nvSpPr>
        <p:spPr>
          <a:xfrm>
            <a:off x="4709160" y="3621024"/>
            <a:ext cx="3063240" cy="274320"/>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Cybernetics</a:t>
            </a:r>
            <a:endParaRPr lang="en-US" sz="1550" dirty="0"/>
          </a:p>
        </p:txBody>
      </p:sp>
      <p:sp>
        <p:nvSpPr>
          <p:cNvPr id="30" name="Text 28"/>
          <p:cNvSpPr/>
          <p:nvPr/>
        </p:nvSpPr>
        <p:spPr>
          <a:xfrm>
            <a:off x="4709160" y="3950208"/>
            <a:ext cx="3063240" cy="1234440"/>
          </a:xfrm>
          <a:prstGeom prst="rect">
            <a:avLst/>
          </a:prstGeom>
          <a:noFill/>
          <a:ln/>
        </p:spPr>
        <p:txBody>
          <a:bodyPr wrap="square" lIns="0" tIns="0" rIns="0" bIns="0" rtlCol="0" anchor="t"/>
          <a:lstStyle/>
          <a:p>
            <a:pPr indent="0" marL="0">
              <a:lnSpc>
                <a:spcPct val="118000"/>
              </a:lnSpc>
              <a:spcAft>
                <a:spcPts val="500"/>
              </a:spcAft>
              <a:buNone/>
            </a:pPr>
            <a:r>
              <a:rPr lang="en-US" sz="1100" b="1" dirty="0">
                <a:solidFill>
                  <a:srgbClr val="6D28D9"/>
                </a:solidFill>
                <a:latin typeface="Calibri" pitchFamily="34" charset="0"/>
                <a:ea typeface="Calibri" pitchFamily="34" charset="-122"/>
                <a:cs typeface="Calibri" pitchFamily="34" charset="-120"/>
              </a:rPr>
              <a:t>Wiener: </a:t>
            </a:r>
            <a:pPr indent="0" marL="0">
              <a:lnSpc>
                <a:spcPct val="118000"/>
              </a:lnSpc>
              <a:spcAft>
                <a:spcPts val="500"/>
              </a:spcAft>
              <a:buNone/>
            </a:pPr>
            <a:r>
              <a:rPr lang="en-US" sz="1100" dirty="0">
                <a:solidFill>
                  <a:srgbClr val="1F2933"/>
                </a:solidFill>
                <a:latin typeface="Calibri" pitchFamily="34" charset="0"/>
                <a:ea typeface="Calibri" pitchFamily="34" charset="-122"/>
                <a:cs typeface="Calibri" pitchFamily="34" charset="-120"/>
              </a:rPr>
              <a:t>control and communication studied together in animals and machines</a:t>
            </a:r>
            <a:endParaRPr lang="en-US" sz="1100" dirty="0"/>
          </a:p>
          <a:p>
            <a:pPr indent="0" marL="0">
              <a:lnSpc>
                <a:spcPct val="118000"/>
              </a:lnSpc>
              <a:spcAft>
                <a:spcPts val="500"/>
              </a:spcAft>
              <a:buNone/>
            </a:pPr>
            <a:r>
              <a:rPr lang="en-US" sz="1100" b="1" dirty="0">
                <a:solidFill>
                  <a:srgbClr val="6D28D9"/>
                </a:solidFill>
                <a:latin typeface="Calibri" pitchFamily="34" charset="0"/>
                <a:ea typeface="Calibri" pitchFamily="34" charset="-122"/>
                <a:cs typeface="Calibri" pitchFamily="34" charset="-120"/>
              </a:rPr>
              <a:t>Ashby: </a:t>
            </a:r>
            <a:pPr indent="0" marL="0">
              <a:lnSpc>
                <a:spcPct val="118000"/>
              </a:lnSpc>
              <a:spcAft>
                <a:spcPts val="500"/>
              </a:spcAft>
              <a:buNone/>
            </a:pPr>
            <a:r>
              <a:rPr lang="en-US" sz="1100" dirty="0">
                <a:solidFill>
                  <a:srgbClr val="1F2933"/>
                </a:solidFill>
                <a:latin typeface="Calibri" pitchFamily="34" charset="0"/>
                <a:ea typeface="Calibri" pitchFamily="34" charset="-122"/>
                <a:cs typeface="Calibri" pitchFamily="34" charset="-120"/>
              </a:rPr>
              <a:t>intelligence from homeostatic devices with appropriate feedback loops</a:t>
            </a:r>
            <a:endParaRPr lang="en-US" sz="1100" dirty="0"/>
          </a:p>
          <a:p>
            <a:pPr indent="0" marL="0">
              <a:lnSpc>
                <a:spcPct val="118000"/>
              </a:lnSpc>
              <a:spcAft>
                <a:spcPts val="500"/>
              </a:spcAft>
              <a:buNone/>
            </a:pPr>
            <a:r>
              <a:rPr lang="en-US" sz="1100" b="1" dirty="0">
                <a:solidFill>
                  <a:srgbClr val="6D28D9"/>
                </a:solidFill>
                <a:latin typeface="Calibri" pitchFamily="34" charset="0"/>
                <a:ea typeface="Calibri" pitchFamily="34" charset="-122"/>
                <a:cs typeface="Calibri" pitchFamily="34" charset="-120"/>
              </a:rPr>
              <a:t>Shared ground with Craik: </a:t>
            </a:r>
            <a:pPr indent="0" marL="0">
              <a:lnSpc>
                <a:spcPct val="118000"/>
              </a:lnSpc>
              <a:spcAft>
                <a:spcPts val="500"/>
              </a:spcAft>
              <a:buNone/>
            </a:pPr>
            <a:r>
              <a:rPr lang="en-US" sz="1100" dirty="0">
                <a:solidFill>
                  <a:srgbClr val="1F2933"/>
                </a:solidFill>
                <a:latin typeface="Calibri" pitchFamily="34" charset="0"/>
                <a:ea typeface="Calibri" pitchFamily="34" charset="-122"/>
                <a:cs typeface="Calibri" pitchFamily="34" charset="-120"/>
              </a:rPr>
              <a:t>control systems used as models of cognition</a:t>
            </a:r>
            <a:endParaRPr lang="en-US" sz="1100" dirty="0"/>
          </a:p>
        </p:txBody>
      </p:sp>
      <p:sp>
        <p:nvSpPr>
          <p:cNvPr id="31" name="Shape 29"/>
          <p:cNvSpPr/>
          <p:nvPr/>
        </p:nvSpPr>
        <p:spPr>
          <a:xfrm>
            <a:off x="8366760" y="3401568"/>
            <a:ext cx="3520440" cy="1883664"/>
          </a:xfrm>
          <a:prstGeom prst="roundRect">
            <a:avLst>
              <a:gd name="adj" fmla="val 2913"/>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32" name="Shape 30"/>
          <p:cNvSpPr/>
          <p:nvPr/>
        </p:nvSpPr>
        <p:spPr>
          <a:xfrm>
            <a:off x="8366760" y="3401568"/>
            <a:ext cx="3520440" cy="146304"/>
          </a:xfrm>
          <a:prstGeom prst="rect">
            <a:avLst/>
          </a:prstGeom>
          <a:solidFill>
            <a:srgbClr val="55A630"/>
          </a:solidFill>
          <a:ln w="12700">
            <a:solidFill>
              <a:srgbClr val="55A630"/>
            </a:solidFill>
            <a:prstDash val="solid"/>
          </a:ln>
        </p:spPr>
      </p:sp>
      <p:sp>
        <p:nvSpPr>
          <p:cNvPr id="33" name="Text 31"/>
          <p:cNvSpPr/>
          <p:nvPr/>
        </p:nvSpPr>
        <p:spPr>
          <a:xfrm>
            <a:off x="8595360" y="3621024"/>
            <a:ext cx="3063240" cy="274320"/>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Why AI split off</a:t>
            </a:r>
            <a:endParaRPr lang="en-US" sz="1550" dirty="0"/>
          </a:p>
        </p:txBody>
      </p:sp>
      <p:sp>
        <p:nvSpPr>
          <p:cNvPr id="34" name="Text 32"/>
          <p:cNvSpPr/>
          <p:nvPr/>
        </p:nvSpPr>
        <p:spPr>
          <a:xfrm>
            <a:off x="8595360" y="3950208"/>
            <a:ext cx="3063240" cy="1234440"/>
          </a:xfrm>
          <a:prstGeom prst="rect">
            <a:avLst/>
          </a:prstGeom>
          <a:noFill/>
          <a:ln/>
        </p:spPr>
        <p:txBody>
          <a:bodyPr wrap="square" lIns="0" tIns="0" rIns="0" bIns="0" rtlCol="0" anchor="t"/>
          <a:lstStyle/>
          <a:p>
            <a:pPr indent="0" marL="0">
              <a:lnSpc>
                <a:spcPct val="118000"/>
              </a:lnSpc>
              <a:spcAft>
                <a:spcPts val="500"/>
              </a:spcAft>
              <a:buNone/>
            </a:pPr>
            <a:r>
              <a:rPr lang="en-US" sz="1100" b="1" dirty="0">
                <a:solidFill>
                  <a:srgbClr val="55A630"/>
                </a:solidFill>
                <a:latin typeface="Calibri" pitchFamily="34" charset="0"/>
                <a:ea typeface="Calibri" pitchFamily="34" charset="-122"/>
                <a:cs typeface="Calibri" pitchFamily="34" charset="-120"/>
              </a:rPr>
              <a:t>Control theory: </a:t>
            </a:r>
            <a:pPr indent="0" marL="0">
              <a:lnSpc>
                <a:spcPct val="118000"/>
              </a:lnSpc>
              <a:spcAft>
                <a:spcPts val="500"/>
              </a:spcAft>
              <a:buNone/>
            </a:pPr>
            <a:r>
              <a:rPr lang="en-US" sz="1100" dirty="0">
                <a:solidFill>
                  <a:srgbClr val="1F2933"/>
                </a:solidFill>
                <a:latin typeface="Calibri" pitchFamily="34" charset="0"/>
                <a:ea typeface="Calibri" pitchFamily="34" charset="-122"/>
                <a:cs typeface="Calibri" pitchFamily="34" charset="-120"/>
              </a:rPr>
              <a:t>continuous variables, calculus, fixed cost functions to minimize</a:t>
            </a:r>
            <a:endParaRPr lang="en-US" sz="1100" dirty="0"/>
          </a:p>
          <a:p>
            <a:pPr indent="0" marL="0">
              <a:lnSpc>
                <a:spcPct val="118000"/>
              </a:lnSpc>
              <a:spcAft>
                <a:spcPts val="500"/>
              </a:spcAft>
              <a:buNone/>
            </a:pPr>
            <a:r>
              <a:rPr lang="en-US" sz="1100" b="1" dirty="0">
                <a:solidFill>
                  <a:srgbClr val="55A630"/>
                </a:solidFill>
                <a:latin typeface="Calibri" pitchFamily="34" charset="0"/>
                <a:ea typeface="Calibri" pitchFamily="34" charset="-122"/>
                <a:cs typeface="Calibri" pitchFamily="34" charset="-120"/>
              </a:rPr>
              <a:t>AI: </a:t>
            </a:r>
            <a:pPr indent="0" marL="0">
              <a:lnSpc>
                <a:spcPct val="118000"/>
              </a:lnSpc>
              <a:spcAft>
                <a:spcPts val="500"/>
              </a:spcAft>
              <a:buNone/>
            </a:pPr>
            <a:r>
              <a:rPr lang="en-US" sz="1100" dirty="0">
                <a:solidFill>
                  <a:srgbClr val="1F2933"/>
                </a:solidFill>
                <a:latin typeface="Calibri" pitchFamily="34" charset="0"/>
                <a:ea typeface="Calibri" pitchFamily="34" charset="-122"/>
                <a:cs typeface="Calibri" pitchFamily="34" charset="-120"/>
              </a:rPr>
              <a:t>discrete and symbolic structures, logic, planning, language, perception</a:t>
            </a:r>
            <a:endParaRPr lang="en-US" sz="1100" dirty="0"/>
          </a:p>
          <a:p>
            <a:pPr indent="0" marL="0">
              <a:lnSpc>
                <a:spcPct val="118000"/>
              </a:lnSpc>
              <a:spcAft>
                <a:spcPts val="500"/>
              </a:spcAft>
              <a:buNone/>
            </a:pPr>
            <a:r>
              <a:rPr lang="en-US" sz="1100" b="1" dirty="0">
                <a:solidFill>
                  <a:srgbClr val="55A630"/>
                </a:solidFill>
                <a:latin typeface="Calibri" pitchFamily="34" charset="0"/>
                <a:ea typeface="Calibri" pitchFamily="34" charset="-122"/>
                <a:cs typeface="Calibri" pitchFamily="34" charset="-120"/>
              </a:rPr>
              <a:t>Converging again: </a:t>
            </a:r>
            <a:pPr indent="0" marL="0">
              <a:lnSpc>
                <a:spcPct val="118000"/>
              </a:lnSpc>
              <a:spcAft>
                <a:spcPts val="500"/>
              </a:spcAft>
              <a:buNone/>
            </a:pPr>
            <a:r>
              <a:rPr lang="en-US" sz="1100" dirty="0">
                <a:solidFill>
                  <a:srgbClr val="1F2933"/>
                </a:solidFill>
                <a:latin typeface="Calibri" pitchFamily="34" charset="0"/>
                <a:ea typeface="Calibri" pitchFamily="34" charset="-122"/>
                <a:cs typeface="Calibri" pitchFamily="34" charset="-120"/>
              </a:rPr>
              <a:t>both now describe systems that optimize an objective over time</a:t>
            </a:r>
            <a:endParaRPr lang="en-US" sz="1100" dirty="0"/>
          </a:p>
        </p:txBody>
      </p:sp>
      <p:sp>
        <p:nvSpPr>
          <p:cNvPr id="35" name="Shape 33"/>
          <p:cNvSpPr/>
          <p:nvPr/>
        </p:nvSpPr>
        <p:spPr>
          <a:xfrm>
            <a:off x="1249528" y="5504688"/>
            <a:ext cx="9692640" cy="603504"/>
          </a:xfrm>
          <a:prstGeom prst="roundRect">
            <a:avLst>
              <a:gd name="adj" fmla="val 9091"/>
            </a:avLst>
          </a:prstGeom>
          <a:solidFill>
            <a:srgbClr val="247BA0"/>
          </a:solidFill>
          <a:ln w="12700">
            <a:solidFill>
              <a:srgbClr val="247BA0"/>
            </a:solidFill>
            <a:prstDash val="solid"/>
          </a:ln>
        </p:spPr>
      </p:sp>
      <p:sp>
        <p:nvSpPr>
          <p:cNvPr id="36" name="Text 34"/>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control theory and AI both design systems that optimize an objective; they differ in what they represent and in the mathematics they use.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1.2.8</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Linguistics: Language, Thought, and AI</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685800" y="1508760"/>
            <a:ext cx="3246120" cy="3337560"/>
          </a:xfrm>
          <a:prstGeom prst="roundRect">
            <a:avLst>
              <a:gd name="adj" fmla="val 169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Text 5"/>
          <p:cNvSpPr/>
          <p:nvPr/>
        </p:nvSpPr>
        <p:spPr>
          <a:xfrm>
            <a:off x="960120" y="1737360"/>
            <a:ext cx="2697480" cy="274320"/>
          </a:xfrm>
          <a:prstGeom prst="rect">
            <a:avLst/>
          </a:prstGeom>
          <a:noFill/>
          <a:ln/>
        </p:spPr>
        <p:txBody>
          <a:bodyPr wrap="square" lIns="0" tIns="0" rIns="0" bIns="0" rtlCol="0" anchor="ctr"/>
          <a:lstStyle/>
          <a:p>
            <a:pPr indent="0" marL="0">
              <a:buNone/>
            </a:pPr>
            <a:r>
              <a:rPr lang="en-US" sz="1800" b="1" dirty="0">
                <a:solidFill>
                  <a:srgbClr val="C1121F"/>
                </a:solidFill>
                <a:latin typeface="Calibri" pitchFamily="34" charset="0"/>
                <a:ea typeface="Calibri" pitchFamily="34" charset="-122"/>
                <a:cs typeface="Calibri" pitchFamily="34" charset="-120"/>
              </a:rPr>
              <a:t>Behaviorist view</a:t>
            </a:r>
            <a:endParaRPr lang="en-US" sz="1800" dirty="0"/>
          </a:p>
        </p:txBody>
      </p:sp>
      <p:sp>
        <p:nvSpPr>
          <p:cNvPr id="8" name="Text 6"/>
          <p:cNvSpPr/>
          <p:nvPr/>
        </p:nvSpPr>
        <p:spPr>
          <a:xfrm>
            <a:off x="960120" y="2249424"/>
            <a:ext cx="2743200" cy="868680"/>
          </a:xfrm>
          <a:prstGeom prst="rect">
            <a:avLst/>
          </a:prstGeom>
          <a:noFill/>
          <a:ln/>
        </p:spPr>
        <p:txBody>
          <a:bodyPr wrap="square" lIns="0" tIns="0" rIns="0" bIns="0" rtlCol="0" anchor="t"/>
          <a:lstStyle/>
          <a:p>
            <a:pPr indent="0" marL="0">
              <a:lnSpc>
                <a:spcPct val="112000"/>
              </a:lnSpc>
              <a:buNone/>
            </a:pPr>
            <a:r>
              <a:rPr lang="en-US" sz="1700" dirty="0">
                <a:solidFill>
                  <a:srgbClr val="1F2933"/>
                </a:solidFill>
                <a:latin typeface="Calibri" pitchFamily="34" charset="0"/>
                <a:ea typeface="Calibri" pitchFamily="34" charset="-122"/>
                <a:cs typeface="Calibri" pitchFamily="34" charset="-120"/>
              </a:rPr>
              <a:t>Language as learned stimulus-response behavior</a:t>
            </a:r>
            <a:endParaRPr lang="en-US" sz="1700" dirty="0"/>
          </a:p>
        </p:txBody>
      </p:sp>
      <p:sp>
        <p:nvSpPr>
          <p:cNvPr id="9" name="Text 7"/>
          <p:cNvSpPr/>
          <p:nvPr/>
        </p:nvSpPr>
        <p:spPr>
          <a:xfrm>
            <a:off x="960120" y="3364992"/>
            <a:ext cx="2743200" cy="868680"/>
          </a:xfrm>
          <a:prstGeom prst="rect">
            <a:avLst/>
          </a:prstGeom>
          <a:noFill/>
          <a:ln/>
        </p:spPr>
        <p:txBody>
          <a:bodyPr wrap="square" lIns="0" tIns="0" rIns="0" bIns="0" rtlCol="0" anchor="t"/>
          <a:lstStyle/>
          <a:p>
            <a:pPr indent="0" marL="0">
              <a:lnSpc>
                <a:spcPct val="112000"/>
              </a:lnSpc>
              <a:buNone/>
            </a:pPr>
            <a:r>
              <a:rPr lang="en-US" sz="1350" dirty="0">
                <a:solidFill>
                  <a:srgbClr val="52616B"/>
                </a:solidFill>
                <a:latin typeface="Calibri" pitchFamily="34" charset="0"/>
                <a:ea typeface="Calibri" pitchFamily="34" charset="-122"/>
                <a:cs typeface="Calibri" pitchFamily="34" charset="-120"/>
              </a:rPr>
              <a:t>Problem: children create and understand sentences they have never heard before.</a:t>
            </a:r>
            <a:endParaRPr lang="en-US" sz="1350" dirty="0"/>
          </a:p>
        </p:txBody>
      </p:sp>
      <p:sp>
        <p:nvSpPr>
          <p:cNvPr id="10" name="Shape 8"/>
          <p:cNvSpPr/>
          <p:nvPr/>
        </p:nvSpPr>
        <p:spPr>
          <a:xfrm>
            <a:off x="4251960" y="2560320"/>
            <a:ext cx="914400" cy="594360"/>
          </a:xfrm>
          <a:prstGeom prst="chevron">
            <a:avLst/>
          </a:prstGeom>
          <a:solidFill>
            <a:srgbClr val="F3C677"/>
          </a:solidFill>
          <a:ln w="12700">
            <a:solidFill>
              <a:srgbClr val="F3C677"/>
            </a:solidFill>
            <a:prstDash val="solid"/>
          </a:ln>
        </p:spPr>
      </p:sp>
      <p:sp>
        <p:nvSpPr>
          <p:cNvPr id="11" name="Text 9"/>
          <p:cNvSpPr/>
          <p:nvPr/>
        </p:nvSpPr>
        <p:spPr>
          <a:xfrm>
            <a:off x="3931920" y="3291840"/>
            <a:ext cx="1554480" cy="411480"/>
          </a:xfrm>
          <a:prstGeom prst="rect">
            <a:avLst/>
          </a:prstGeom>
          <a:noFill/>
          <a:ln/>
        </p:spPr>
        <p:txBody>
          <a:bodyPr wrap="square" lIns="0" tIns="0" rIns="0" bIns="0" rtlCol="0" anchor="ctr"/>
          <a:lstStyle/>
          <a:p>
            <a:pPr algn="ctr" indent="0" marL="0">
              <a:buNone/>
            </a:pPr>
            <a:r>
              <a:rPr lang="en-US" sz="1250" b="1" dirty="0">
                <a:solidFill>
                  <a:srgbClr val="102A43"/>
                </a:solidFill>
                <a:latin typeface="Calibri" pitchFamily="34" charset="0"/>
                <a:ea typeface="Calibri" pitchFamily="34" charset="-122"/>
                <a:cs typeface="Calibri" pitchFamily="34" charset="-120"/>
              </a:rPr>
              <a:t>Chomsky critique</a:t>
            </a:r>
            <a:endParaRPr lang="en-US" sz="1250" dirty="0"/>
          </a:p>
        </p:txBody>
      </p:sp>
      <p:sp>
        <p:nvSpPr>
          <p:cNvPr id="12" name="Shape 10"/>
          <p:cNvSpPr/>
          <p:nvPr/>
        </p:nvSpPr>
        <p:spPr>
          <a:xfrm>
            <a:off x="5486400" y="1508760"/>
            <a:ext cx="5989320" cy="3337560"/>
          </a:xfrm>
          <a:prstGeom prst="roundRect">
            <a:avLst>
              <a:gd name="adj" fmla="val 1644"/>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3" name="Text 11"/>
          <p:cNvSpPr/>
          <p:nvPr/>
        </p:nvSpPr>
        <p:spPr>
          <a:xfrm>
            <a:off x="5806440" y="1737360"/>
            <a:ext cx="5349240" cy="320040"/>
          </a:xfrm>
          <a:prstGeom prst="rect">
            <a:avLst/>
          </a:prstGeom>
          <a:noFill/>
          <a:ln/>
        </p:spPr>
        <p:txBody>
          <a:bodyPr wrap="square" lIns="0" tIns="0" rIns="0" bIns="0" rtlCol="0" anchor="ctr"/>
          <a:lstStyle/>
          <a:p>
            <a:pPr indent="0" marL="0">
              <a:buNone/>
            </a:pPr>
            <a:r>
              <a:rPr lang="en-US" sz="1800" b="1" dirty="0">
                <a:solidFill>
                  <a:srgbClr val="102A43"/>
                </a:solidFill>
                <a:latin typeface="Calibri" pitchFamily="34" charset="0"/>
                <a:ea typeface="Calibri" pitchFamily="34" charset="-122"/>
                <a:cs typeface="Calibri" pitchFamily="34" charset="-120"/>
              </a:rPr>
              <a:t>Modern language AI needs more than syntax</a:t>
            </a:r>
            <a:endParaRPr lang="en-US" sz="1800" dirty="0"/>
          </a:p>
        </p:txBody>
      </p:sp>
      <p:sp>
        <p:nvSpPr>
          <p:cNvPr id="14" name="Text 12"/>
          <p:cNvSpPr/>
          <p:nvPr/>
        </p:nvSpPr>
        <p:spPr>
          <a:xfrm>
            <a:off x="5852160" y="2286000"/>
            <a:ext cx="5349240" cy="2377440"/>
          </a:xfrm>
          <a:prstGeom prst="rect">
            <a:avLst/>
          </a:prstGeom>
          <a:noFill/>
          <a:ln/>
        </p:spPr>
        <p:txBody>
          <a:bodyPr wrap="square" lIns="0" tIns="0" rIns="0" bIns="0" rtlCol="0" anchor="t"/>
          <a:lstStyle/>
          <a:p>
            <a:pPr indent="0" marL="0">
              <a:lnSpc>
                <a:spcPct val="118000"/>
              </a:lnSpc>
              <a:spcAft>
                <a:spcPts val="1100"/>
              </a:spcAft>
              <a:buNone/>
            </a:pPr>
            <a:r>
              <a:rPr lang="en-US" sz="1500" b="1" dirty="0">
                <a:solidFill>
                  <a:srgbClr val="247BA0"/>
                </a:solidFill>
                <a:latin typeface="Calibri" pitchFamily="34" charset="0"/>
                <a:ea typeface="Calibri" pitchFamily="34" charset="-122"/>
                <a:cs typeface="Calibri" pitchFamily="34" charset="-120"/>
              </a:rPr>
              <a:t>Formal models: </a:t>
            </a:r>
            <a:pPr indent="0" marL="0">
              <a:lnSpc>
                <a:spcPct val="118000"/>
              </a:lnSpc>
              <a:spcAft>
                <a:spcPts val="1100"/>
              </a:spcAft>
              <a:buNone/>
            </a:pPr>
            <a:r>
              <a:rPr lang="en-US" sz="1500" dirty="0">
                <a:solidFill>
                  <a:srgbClr val="1F2933"/>
                </a:solidFill>
                <a:latin typeface="Calibri" pitchFamily="34" charset="0"/>
                <a:ea typeface="Calibri" pitchFamily="34" charset="-122"/>
                <a:cs typeface="Calibri" pitchFamily="34" charset="-120"/>
              </a:rPr>
              <a:t>grammar and structure can be described precisely</a:t>
            </a:r>
            <a:endParaRPr lang="en-US" sz="1500" dirty="0"/>
          </a:p>
          <a:p>
            <a:pPr indent="0" marL="0">
              <a:lnSpc>
                <a:spcPct val="118000"/>
              </a:lnSpc>
              <a:spcAft>
                <a:spcPts val="1100"/>
              </a:spcAft>
              <a:buNone/>
            </a:pPr>
            <a:r>
              <a:rPr lang="en-US" sz="1500" b="1" dirty="0">
                <a:solidFill>
                  <a:srgbClr val="247BA0"/>
                </a:solidFill>
                <a:latin typeface="Calibri" pitchFamily="34" charset="0"/>
                <a:ea typeface="Calibri" pitchFamily="34" charset="-122"/>
                <a:cs typeface="Calibri" pitchFamily="34" charset="-120"/>
              </a:rPr>
              <a:t>Computational linguistics: </a:t>
            </a:r>
            <a:pPr indent="0" marL="0">
              <a:lnSpc>
                <a:spcPct val="118000"/>
              </a:lnSpc>
              <a:spcAft>
                <a:spcPts val="1100"/>
              </a:spcAft>
              <a:buNone/>
            </a:pPr>
            <a:r>
              <a:rPr lang="en-US" sz="1500" dirty="0">
                <a:solidFill>
                  <a:srgbClr val="1F2933"/>
                </a:solidFill>
                <a:latin typeface="Calibri" pitchFamily="34" charset="0"/>
                <a:ea typeface="Calibri" pitchFamily="34" charset="-122"/>
                <a:cs typeface="Calibri" pitchFamily="34" charset="-120"/>
              </a:rPr>
              <a:t>language plus computer models</a:t>
            </a:r>
            <a:endParaRPr lang="en-US" sz="1500" dirty="0"/>
          </a:p>
          <a:p>
            <a:pPr indent="0" marL="0">
              <a:lnSpc>
                <a:spcPct val="118000"/>
              </a:lnSpc>
              <a:spcAft>
                <a:spcPts val="1100"/>
              </a:spcAft>
              <a:buNone/>
            </a:pPr>
            <a:r>
              <a:rPr lang="en-US" sz="1500" b="1" dirty="0">
                <a:solidFill>
                  <a:srgbClr val="247BA0"/>
                </a:solidFill>
                <a:latin typeface="Calibri" pitchFamily="34" charset="0"/>
                <a:ea typeface="Calibri" pitchFamily="34" charset="-122"/>
                <a:cs typeface="Calibri" pitchFamily="34" charset="-120"/>
              </a:rPr>
              <a:t>Natural language processing: </a:t>
            </a:r>
            <a:pPr indent="0" marL="0">
              <a:lnSpc>
                <a:spcPct val="118000"/>
              </a:lnSpc>
              <a:spcAft>
                <a:spcPts val="1100"/>
              </a:spcAft>
              <a:buNone/>
            </a:pPr>
            <a:r>
              <a:rPr lang="en-US" sz="1500" dirty="0">
                <a:solidFill>
                  <a:srgbClr val="1F2933"/>
                </a:solidFill>
                <a:latin typeface="Calibri" pitchFamily="34" charset="0"/>
                <a:ea typeface="Calibri" pitchFamily="34" charset="-122"/>
                <a:cs typeface="Calibri" pitchFamily="34" charset="-120"/>
              </a:rPr>
              <a:t>machines process and use human language</a:t>
            </a:r>
            <a:endParaRPr lang="en-US" sz="1500" dirty="0"/>
          </a:p>
          <a:p>
            <a:pPr indent="0" marL="0">
              <a:lnSpc>
                <a:spcPct val="118000"/>
              </a:lnSpc>
              <a:spcAft>
                <a:spcPts val="1100"/>
              </a:spcAft>
              <a:buNone/>
            </a:pPr>
            <a:r>
              <a:rPr lang="en-US" sz="1500" b="1" dirty="0">
                <a:solidFill>
                  <a:srgbClr val="247BA0"/>
                </a:solidFill>
                <a:latin typeface="Calibri" pitchFamily="34" charset="0"/>
                <a:ea typeface="Calibri" pitchFamily="34" charset="-122"/>
                <a:cs typeface="Calibri" pitchFamily="34" charset="-120"/>
              </a:rPr>
              <a:t>Context matters: </a:t>
            </a:r>
            <a:pPr indent="0" marL="0">
              <a:lnSpc>
                <a:spcPct val="118000"/>
              </a:lnSpc>
              <a:spcAft>
                <a:spcPts val="1100"/>
              </a:spcAft>
              <a:buNone/>
            </a:pPr>
            <a:r>
              <a:rPr lang="en-US" sz="1500" dirty="0">
                <a:solidFill>
                  <a:srgbClr val="1F2933"/>
                </a:solidFill>
                <a:latin typeface="Calibri" pitchFamily="34" charset="0"/>
                <a:ea typeface="Calibri" pitchFamily="34" charset="-122"/>
                <a:cs typeface="Calibri" pitchFamily="34" charset="-120"/>
              </a:rPr>
              <a:t>understanding requires knowledge of the world</a:t>
            </a:r>
            <a:endParaRPr lang="en-US" sz="1500" dirty="0"/>
          </a:p>
        </p:txBody>
      </p:sp>
      <p:sp>
        <p:nvSpPr>
          <p:cNvPr id="15" name="Shape 13"/>
          <p:cNvSpPr/>
          <p:nvPr/>
        </p:nvSpPr>
        <p:spPr>
          <a:xfrm>
            <a:off x="1249528" y="5504688"/>
            <a:ext cx="9692640" cy="603504"/>
          </a:xfrm>
          <a:prstGeom prst="roundRect">
            <a:avLst>
              <a:gd name="adj" fmla="val 9091"/>
            </a:avLst>
          </a:prstGeom>
          <a:solidFill>
            <a:srgbClr val="6D28D9"/>
          </a:solidFill>
          <a:ln w="12700">
            <a:solidFill>
              <a:srgbClr val="6D28D9"/>
            </a:solidFill>
            <a:prstDash val="solid"/>
          </a:ln>
        </p:spPr>
      </p:sp>
      <p:sp>
        <p:nvSpPr>
          <p:cNvPr id="16" name="Text 14"/>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language understanding is not just word order; it requires meaning, context, and world knowledge.</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1.3.1</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The Inception of Artificial Intelligence, 1943 to 1956</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822960" y="2103120"/>
            <a:ext cx="10607040" cy="0"/>
          </a:xfrm>
          <a:prstGeom prst="line">
            <a:avLst/>
          </a:prstGeom>
          <a:noFill/>
          <a:ln w="25400">
            <a:solidFill>
              <a:srgbClr val="D9E2EC"/>
            </a:solidFill>
            <a:prstDash val="solid"/>
          </a:ln>
        </p:spPr>
      </p:sp>
      <p:sp>
        <p:nvSpPr>
          <p:cNvPr id="7" name="Text 5"/>
          <p:cNvSpPr/>
          <p:nvPr/>
        </p:nvSpPr>
        <p:spPr>
          <a:xfrm>
            <a:off x="640080" y="1627632"/>
            <a:ext cx="1700784" cy="274320"/>
          </a:xfrm>
          <a:prstGeom prst="rect">
            <a:avLst/>
          </a:prstGeom>
          <a:noFill/>
          <a:ln/>
        </p:spPr>
        <p:txBody>
          <a:bodyPr wrap="square" lIns="0" tIns="0" rIns="0" bIns="0" rtlCol="0" anchor="ctr"/>
          <a:lstStyle/>
          <a:p>
            <a:pPr algn="ctr" indent="0" marL="0">
              <a:buNone/>
            </a:pPr>
            <a:r>
              <a:rPr lang="en-US" sz="1600" b="1" dirty="0">
                <a:solidFill>
                  <a:srgbClr val="247BA0"/>
                </a:solidFill>
                <a:latin typeface="Calibri" pitchFamily="34" charset="0"/>
                <a:ea typeface="Calibri" pitchFamily="34" charset="-122"/>
                <a:cs typeface="Calibri" pitchFamily="34" charset="-120"/>
              </a:rPr>
              <a:t>1943</a:t>
            </a:r>
            <a:endParaRPr lang="en-US" sz="1600" dirty="0"/>
          </a:p>
        </p:txBody>
      </p:sp>
      <p:sp>
        <p:nvSpPr>
          <p:cNvPr id="8" name="Shape 6"/>
          <p:cNvSpPr/>
          <p:nvPr/>
        </p:nvSpPr>
        <p:spPr>
          <a:xfrm>
            <a:off x="1389888" y="2002536"/>
            <a:ext cx="201168" cy="201168"/>
          </a:xfrm>
          <a:prstGeom prst="ellipse">
            <a:avLst/>
          </a:prstGeom>
          <a:solidFill>
            <a:srgbClr val="247BA0"/>
          </a:solidFill>
          <a:ln w="25400">
            <a:solidFill>
              <a:srgbClr val="F7FAFC"/>
            </a:solidFill>
            <a:prstDash val="solid"/>
          </a:ln>
        </p:spPr>
      </p:sp>
      <p:sp>
        <p:nvSpPr>
          <p:cNvPr id="9" name="Shape 7"/>
          <p:cNvSpPr/>
          <p:nvPr/>
        </p:nvSpPr>
        <p:spPr>
          <a:xfrm>
            <a:off x="640080" y="2359152"/>
            <a:ext cx="1700784" cy="2697480"/>
          </a:xfrm>
          <a:prstGeom prst="roundRect">
            <a:avLst>
              <a:gd name="adj" fmla="val 322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0" name="Text 8"/>
          <p:cNvSpPr/>
          <p:nvPr/>
        </p:nvSpPr>
        <p:spPr>
          <a:xfrm>
            <a:off x="768096" y="2505456"/>
            <a:ext cx="1444752" cy="566928"/>
          </a:xfrm>
          <a:prstGeom prst="rect">
            <a:avLst/>
          </a:prstGeom>
          <a:noFill/>
          <a:ln/>
        </p:spPr>
        <p:txBody>
          <a:bodyPr wrap="square" lIns="0" tIns="0" rIns="0" bIns="0" rtlCol="0" anchor="ctr"/>
          <a:lstStyle/>
          <a:p>
            <a:pPr algn="ctr" indent="0" marL="0">
              <a:lnSpc>
                <a:spcPct val="105000"/>
              </a:lnSpc>
              <a:buNone/>
            </a:pPr>
            <a:r>
              <a:rPr lang="en-US" sz="1300" b="1" dirty="0">
                <a:solidFill>
                  <a:srgbClr val="102A43"/>
                </a:solidFill>
                <a:latin typeface="Calibri" pitchFamily="34" charset="0"/>
                <a:ea typeface="Calibri" pitchFamily="34" charset="-122"/>
                <a:cs typeface="Calibri" pitchFamily="34" charset="-120"/>
              </a:rPr>
              <a:t>McCulloch &amp; Pitts</a:t>
            </a:r>
            <a:endParaRPr lang="en-US" sz="1300" dirty="0"/>
          </a:p>
        </p:txBody>
      </p:sp>
      <p:sp>
        <p:nvSpPr>
          <p:cNvPr id="11" name="Text 9"/>
          <p:cNvSpPr/>
          <p:nvPr/>
        </p:nvSpPr>
        <p:spPr>
          <a:xfrm>
            <a:off x="768096" y="3127248"/>
            <a:ext cx="1444752" cy="1783080"/>
          </a:xfrm>
          <a:prstGeom prst="rect">
            <a:avLst/>
          </a:prstGeom>
          <a:noFill/>
          <a:ln/>
        </p:spPr>
        <p:txBody>
          <a:bodyPr wrap="square" lIns="0" tIns="0" rIns="0" bIns="0" rtlCol="0" anchor="t"/>
          <a:lstStyle/>
          <a:p>
            <a:pPr algn="l" indent="0" marL="0">
              <a:lnSpc>
                <a:spcPct val="112000"/>
              </a:lnSpc>
              <a:buNone/>
            </a:pPr>
            <a:r>
              <a:rPr lang="en-US" sz="1050" dirty="0">
                <a:solidFill>
                  <a:srgbClr val="1F2933"/>
                </a:solidFill>
                <a:latin typeface="Calibri" pitchFamily="34" charset="0"/>
                <a:ea typeface="Calibri" pitchFamily="34" charset="-122"/>
                <a:cs typeface="Calibri" pitchFamily="34" charset="-120"/>
              </a:rPr>
              <a:t>A model of the artificial neuron, built from neurophysiology, propositional logic, and Turing's theory of computation.</a:t>
            </a:r>
            <a:endParaRPr lang="en-US" sz="1050" dirty="0"/>
          </a:p>
        </p:txBody>
      </p:sp>
      <p:sp>
        <p:nvSpPr>
          <p:cNvPr id="12" name="Text 10"/>
          <p:cNvSpPr/>
          <p:nvPr/>
        </p:nvSpPr>
        <p:spPr>
          <a:xfrm>
            <a:off x="2487168" y="1627632"/>
            <a:ext cx="1700784" cy="274320"/>
          </a:xfrm>
          <a:prstGeom prst="rect">
            <a:avLst/>
          </a:prstGeom>
          <a:noFill/>
          <a:ln/>
        </p:spPr>
        <p:txBody>
          <a:bodyPr wrap="square" lIns="0" tIns="0" rIns="0" bIns="0" rtlCol="0" anchor="ctr"/>
          <a:lstStyle/>
          <a:p>
            <a:pPr algn="ctr" indent="0" marL="0">
              <a:buNone/>
            </a:pPr>
            <a:r>
              <a:rPr lang="en-US" sz="1600" b="1" dirty="0">
                <a:solidFill>
                  <a:srgbClr val="70C1B3"/>
                </a:solidFill>
                <a:latin typeface="Calibri" pitchFamily="34" charset="0"/>
                <a:ea typeface="Calibri" pitchFamily="34" charset="-122"/>
                <a:cs typeface="Calibri" pitchFamily="34" charset="-120"/>
              </a:rPr>
              <a:t>1949</a:t>
            </a:r>
            <a:endParaRPr lang="en-US" sz="1600" dirty="0"/>
          </a:p>
        </p:txBody>
      </p:sp>
      <p:sp>
        <p:nvSpPr>
          <p:cNvPr id="13" name="Shape 11"/>
          <p:cNvSpPr/>
          <p:nvPr/>
        </p:nvSpPr>
        <p:spPr>
          <a:xfrm>
            <a:off x="3236976" y="2002536"/>
            <a:ext cx="201168" cy="201168"/>
          </a:xfrm>
          <a:prstGeom prst="ellipse">
            <a:avLst/>
          </a:prstGeom>
          <a:solidFill>
            <a:srgbClr val="70C1B3"/>
          </a:solidFill>
          <a:ln w="25400">
            <a:solidFill>
              <a:srgbClr val="F7FAFC"/>
            </a:solidFill>
            <a:prstDash val="solid"/>
          </a:ln>
        </p:spPr>
      </p:sp>
      <p:sp>
        <p:nvSpPr>
          <p:cNvPr id="14" name="Shape 12"/>
          <p:cNvSpPr/>
          <p:nvPr/>
        </p:nvSpPr>
        <p:spPr>
          <a:xfrm>
            <a:off x="2487168" y="2359152"/>
            <a:ext cx="1700784" cy="2697480"/>
          </a:xfrm>
          <a:prstGeom prst="roundRect">
            <a:avLst>
              <a:gd name="adj" fmla="val 322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5" name="Text 13"/>
          <p:cNvSpPr/>
          <p:nvPr/>
        </p:nvSpPr>
        <p:spPr>
          <a:xfrm>
            <a:off x="2615184" y="2505456"/>
            <a:ext cx="1444752" cy="566928"/>
          </a:xfrm>
          <a:prstGeom prst="rect">
            <a:avLst/>
          </a:prstGeom>
          <a:noFill/>
          <a:ln/>
        </p:spPr>
        <p:txBody>
          <a:bodyPr wrap="square" lIns="0" tIns="0" rIns="0" bIns="0" rtlCol="0" anchor="ctr"/>
          <a:lstStyle/>
          <a:p>
            <a:pPr algn="ctr" indent="0" marL="0">
              <a:lnSpc>
                <a:spcPct val="105000"/>
              </a:lnSpc>
              <a:buNone/>
            </a:pPr>
            <a:r>
              <a:rPr lang="en-US" sz="1300" b="1" dirty="0">
                <a:solidFill>
                  <a:srgbClr val="102A43"/>
                </a:solidFill>
                <a:latin typeface="Calibri" pitchFamily="34" charset="0"/>
                <a:ea typeface="Calibri" pitchFamily="34" charset="-122"/>
                <a:cs typeface="Calibri" pitchFamily="34" charset="-120"/>
              </a:rPr>
              <a:t>Hebbian learning</a:t>
            </a:r>
            <a:endParaRPr lang="en-US" sz="1300" dirty="0"/>
          </a:p>
        </p:txBody>
      </p:sp>
      <p:sp>
        <p:nvSpPr>
          <p:cNvPr id="16" name="Text 14"/>
          <p:cNvSpPr/>
          <p:nvPr/>
        </p:nvSpPr>
        <p:spPr>
          <a:xfrm>
            <a:off x="2615184" y="3127248"/>
            <a:ext cx="1444752" cy="1783080"/>
          </a:xfrm>
          <a:prstGeom prst="rect">
            <a:avLst/>
          </a:prstGeom>
          <a:noFill/>
          <a:ln/>
        </p:spPr>
        <p:txBody>
          <a:bodyPr wrap="square" lIns="0" tIns="0" rIns="0" bIns="0" rtlCol="0" anchor="t"/>
          <a:lstStyle/>
          <a:p>
            <a:pPr algn="l" indent="0" marL="0">
              <a:lnSpc>
                <a:spcPct val="112000"/>
              </a:lnSpc>
              <a:buNone/>
            </a:pPr>
            <a:r>
              <a:rPr lang="en-US" sz="1050" dirty="0">
                <a:solidFill>
                  <a:srgbClr val="1F2933"/>
                </a:solidFill>
                <a:latin typeface="Calibri" pitchFamily="34" charset="0"/>
                <a:ea typeface="Calibri" pitchFamily="34" charset="-122"/>
                <a:cs typeface="Calibri" pitchFamily="34" charset="-120"/>
              </a:rPr>
              <a:t>Donald Hebb proposes that learning is the modification of connection strength between neurons.</a:t>
            </a:r>
            <a:endParaRPr lang="en-US" sz="1050" dirty="0"/>
          </a:p>
        </p:txBody>
      </p:sp>
      <p:sp>
        <p:nvSpPr>
          <p:cNvPr id="17" name="Text 15"/>
          <p:cNvSpPr/>
          <p:nvPr/>
        </p:nvSpPr>
        <p:spPr>
          <a:xfrm>
            <a:off x="4334256" y="1627632"/>
            <a:ext cx="1700784" cy="274320"/>
          </a:xfrm>
          <a:prstGeom prst="rect">
            <a:avLst/>
          </a:prstGeom>
          <a:noFill/>
          <a:ln/>
        </p:spPr>
        <p:txBody>
          <a:bodyPr wrap="square" lIns="0" tIns="0" rIns="0" bIns="0" rtlCol="0" anchor="ctr"/>
          <a:lstStyle/>
          <a:p>
            <a:pPr algn="ctr" indent="0" marL="0">
              <a:buNone/>
            </a:pPr>
            <a:r>
              <a:rPr lang="en-US" sz="1600" b="1" dirty="0">
                <a:solidFill>
                  <a:srgbClr val="6D28D9"/>
                </a:solidFill>
                <a:latin typeface="Calibri" pitchFamily="34" charset="0"/>
                <a:ea typeface="Calibri" pitchFamily="34" charset="-122"/>
                <a:cs typeface="Calibri" pitchFamily="34" charset="-120"/>
              </a:rPr>
              <a:t>1950</a:t>
            </a:r>
            <a:endParaRPr lang="en-US" sz="1600" dirty="0"/>
          </a:p>
        </p:txBody>
      </p:sp>
      <p:sp>
        <p:nvSpPr>
          <p:cNvPr id="18" name="Shape 16"/>
          <p:cNvSpPr/>
          <p:nvPr/>
        </p:nvSpPr>
        <p:spPr>
          <a:xfrm>
            <a:off x="5084064" y="2002536"/>
            <a:ext cx="201168" cy="201168"/>
          </a:xfrm>
          <a:prstGeom prst="ellipse">
            <a:avLst/>
          </a:prstGeom>
          <a:solidFill>
            <a:srgbClr val="6D28D9"/>
          </a:solidFill>
          <a:ln w="25400">
            <a:solidFill>
              <a:srgbClr val="F7FAFC"/>
            </a:solidFill>
            <a:prstDash val="solid"/>
          </a:ln>
        </p:spPr>
      </p:sp>
      <p:sp>
        <p:nvSpPr>
          <p:cNvPr id="19" name="Shape 17"/>
          <p:cNvSpPr/>
          <p:nvPr/>
        </p:nvSpPr>
        <p:spPr>
          <a:xfrm>
            <a:off x="4334256" y="2359152"/>
            <a:ext cx="1700784" cy="2697480"/>
          </a:xfrm>
          <a:prstGeom prst="roundRect">
            <a:avLst>
              <a:gd name="adj" fmla="val 322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0" name="Text 18"/>
          <p:cNvSpPr/>
          <p:nvPr/>
        </p:nvSpPr>
        <p:spPr>
          <a:xfrm>
            <a:off x="4462272" y="2505456"/>
            <a:ext cx="1444752" cy="566928"/>
          </a:xfrm>
          <a:prstGeom prst="rect">
            <a:avLst/>
          </a:prstGeom>
          <a:noFill/>
          <a:ln/>
        </p:spPr>
        <p:txBody>
          <a:bodyPr wrap="square" lIns="0" tIns="0" rIns="0" bIns="0" rtlCol="0" anchor="ctr"/>
          <a:lstStyle/>
          <a:p>
            <a:pPr algn="ctr" indent="0" marL="0">
              <a:lnSpc>
                <a:spcPct val="105000"/>
              </a:lnSpc>
              <a:buNone/>
            </a:pPr>
            <a:r>
              <a:rPr lang="en-US" sz="1300" b="1" dirty="0">
                <a:solidFill>
                  <a:srgbClr val="102A43"/>
                </a:solidFill>
                <a:latin typeface="Calibri" pitchFamily="34" charset="0"/>
                <a:ea typeface="Calibri" pitchFamily="34" charset="-122"/>
                <a:cs typeface="Calibri" pitchFamily="34" charset="-120"/>
              </a:rPr>
              <a:t>SNARC</a:t>
            </a:r>
            <a:endParaRPr lang="en-US" sz="1300" dirty="0"/>
          </a:p>
        </p:txBody>
      </p:sp>
      <p:sp>
        <p:nvSpPr>
          <p:cNvPr id="21" name="Text 19"/>
          <p:cNvSpPr/>
          <p:nvPr/>
        </p:nvSpPr>
        <p:spPr>
          <a:xfrm>
            <a:off x="4462272" y="3127248"/>
            <a:ext cx="1444752" cy="1783080"/>
          </a:xfrm>
          <a:prstGeom prst="rect">
            <a:avLst/>
          </a:prstGeom>
          <a:noFill/>
          <a:ln/>
        </p:spPr>
        <p:txBody>
          <a:bodyPr wrap="square" lIns="0" tIns="0" rIns="0" bIns="0" rtlCol="0" anchor="t"/>
          <a:lstStyle/>
          <a:p>
            <a:pPr algn="l" indent="0" marL="0">
              <a:lnSpc>
                <a:spcPct val="112000"/>
              </a:lnSpc>
              <a:buNone/>
            </a:pPr>
            <a:r>
              <a:rPr lang="en-US" sz="1050" dirty="0">
                <a:solidFill>
                  <a:srgbClr val="1F2933"/>
                </a:solidFill>
                <a:latin typeface="Calibri" pitchFamily="34" charset="0"/>
                <a:ea typeface="Calibri" pitchFamily="34" charset="-122"/>
                <a:cs typeface="Calibri" pitchFamily="34" charset="-120"/>
              </a:rPr>
              <a:t>Minsky and Edmonds build the first neural network computer from vacuum tubes and surplus bomber parts.</a:t>
            </a:r>
            <a:endParaRPr lang="en-US" sz="1050" dirty="0"/>
          </a:p>
        </p:txBody>
      </p:sp>
      <p:sp>
        <p:nvSpPr>
          <p:cNvPr id="22" name="Text 20"/>
          <p:cNvSpPr/>
          <p:nvPr/>
        </p:nvSpPr>
        <p:spPr>
          <a:xfrm>
            <a:off x="6181344" y="1627632"/>
            <a:ext cx="1700784" cy="274320"/>
          </a:xfrm>
          <a:prstGeom prst="rect">
            <a:avLst/>
          </a:prstGeom>
          <a:noFill/>
          <a:ln/>
        </p:spPr>
        <p:txBody>
          <a:bodyPr wrap="square" lIns="0" tIns="0" rIns="0" bIns="0" rtlCol="0" anchor="ctr"/>
          <a:lstStyle/>
          <a:p>
            <a:pPr algn="ctr" indent="0" marL="0">
              <a:buNone/>
            </a:pPr>
            <a:r>
              <a:rPr lang="en-US" sz="1600" b="1" dirty="0">
                <a:solidFill>
                  <a:srgbClr val="55A630"/>
                </a:solidFill>
                <a:latin typeface="Calibri" pitchFamily="34" charset="0"/>
                <a:ea typeface="Calibri" pitchFamily="34" charset="-122"/>
                <a:cs typeface="Calibri" pitchFamily="34" charset="-120"/>
              </a:rPr>
              <a:t>1950</a:t>
            </a:r>
            <a:endParaRPr lang="en-US" sz="1600" dirty="0"/>
          </a:p>
        </p:txBody>
      </p:sp>
      <p:sp>
        <p:nvSpPr>
          <p:cNvPr id="23" name="Shape 21"/>
          <p:cNvSpPr/>
          <p:nvPr/>
        </p:nvSpPr>
        <p:spPr>
          <a:xfrm>
            <a:off x="6931152" y="2002536"/>
            <a:ext cx="201168" cy="201168"/>
          </a:xfrm>
          <a:prstGeom prst="ellipse">
            <a:avLst/>
          </a:prstGeom>
          <a:solidFill>
            <a:srgbClr val="55A630"/>
          </a:solidFill>
          <a:ln w="25400">
            <a:solidFill>
              <a:srgbClr val="F7FAFC"/>
            </a:solidFill>
            <a:prstDash val="solid"/>
          </a:ln>
        </p:spPr>
      </p:sp>
      <p:sp>
        <p:nvSpPr>
          <p:cNvPr id="24" name="Shape 22"/>
          <p:cNvSpPr/>
          <p:nvPr/>
        </p:nvSpPr>
        <p:spPr>
          <a:xfrm>
            <a:off x="6181344" y="2359152"/>
            <a:ext cx="1700784" cy="2697480"/>
          </a:xfrm>
          <a:prstGeom prst="roundRect">
            <a:avLst>
              <a:gd name="adj" fmla="val 322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5" name="Text 23"/>
          <p:cNvSpPr/>
          <p:nvPr/>
        </p:nvSpPr>
        <p:spPr>
          <a:xfrm>
            <a:off x="6309360" y="2505456"/>
            <a:ext cx="1444752" cy="566928"/>
          </a:xfrm>
          <a:prstGeom prst="rect">
            <a:avLst/>
          </a:prstGeom>
          <a:noFill/>
          <a:ln/>
        </p:spPr>
        <p:txBody>
          <a:bodyPr wrap="square" lIns="0" tIns="0" rIns="0" bIns="0" rtlCol="0" anchor="ctr"/>
          <a:lstStyle/>
          <a:p>
            <a:pPr algn="ctr" indent="0" marL="0">
              <a:lnSpc>
                <a:spcPct val="105000"/>
              </a:lnSpc>
              <a:buNone/>
            </a:pPr>
            <a:r>
              <a:rPr lang="en-US" sz="1300" b="1" dirty="0">
                <a:solidFill>
                  <a:srgbClr val="102A43"/>
                </a:solidFill>
                <a:latin typeface="Calibri" pitchFamily="34" charset="0"/>
                <a:ea typeface="Calibri" pitchFamily="34" charset="-122"/>
                <a:cs typeface="Calibri" pitchFamily="34" charset="-120"/>
              </a:rPr>
              <a:t>Turing's paper</a:t>
            </a:r>
            <a:endParaRPr lang="en-US" sz="1300" dirty="0"/>
          </a:p>
        </p:txBody>
      </p:sp>
      <p:sp>
        <p:nvSpPr>
          <p:cNvPr id="26" name="Text 24"/>
          <p:cNvSpPr/>
          <p:nvPr/>
        </p:nvSpPr>
        <p:spPr>
          <a:xfrm>
            <a:off x="6309360" y="3127248"/>
            <a:ext cx="1444752" cy="1783080"/>
          </a:xfrm>
          <a:prstGeom prst="rect">
            <a:avLst/>
          </a:prstGeom>
          <a:noFill/>
          <a:ln/>
        </p:spPr>
        <p:txBody>
          <a:bodyPr wrap="square" lIns="0" tIns="0" rIns="0" bIns="0" rtlCol="0" anchor="t"/>
          <a:lstStyle/>
          <a:p>
            <a:pPr algn="l" indent="0" marL="0">
              <a:lnSpc>
                <a:spcPct val="112000"/>
              </a:lnSpc>
              <a:buNone/>
            </a:pPr>
            <a:r>
              <a:rPr lang="en-US" sz="1050" dirty="0">
                <a:solidFill>
                  <a:srgbClr val="1F2933"/>
                </a:solidFill>
                <a:latin typeface="Calibri" pitchFamily="34" charset="0"/>
                <a:ea typeface="Calibri" pitchFamily="34" charset="-122"/>
                <a:cs typeface="Calibri" pitchFamily="34" charset="-120"/>
              </a:rPr>
              <a:t>Computing Machinery and Intelligence introduces the imitation game and sketches learning and search.</a:t>
            </a:r>
            <a:endParaRPr lang="en-US" sz="1050" dirty="0"/>
          </a:p>
        </p:txBody>
      </p:sp>
      <p:sp>
        <p:nvSpPr>
          <p:cNvPr id="27" name="Text 25"/>
          <p:cNvSpPr/>
          <p:nvPr/>
        </p:nvSpPr>
        <p:spPr>
          <a:xfrm>
            <a:off x="8028432" y="1627632"/>
            <a:ext cx="1700784" cy="274320"/>
          </a:xfrm>
          <a:prstGeom prst="rect">
            <a:avLst/>
          </a:prstGeom>
          <a:noFill/>
          <a:ln/>
        </p:spPr>
        <p:txBody>
          <a:bodyPr wrap="square" lIns="0" tIns="0" rIns="0" bIns="0" rtlCol="0" anchor="ctr"/>
          <a:lstStyle/>
          <a:p>
            <a:pPr algn="ctr" indent="0" marL="0">
              <a:buNone/>
            </a:pPr>
            <a:r>
              <a:rPr lang="en-US" sz="1600" b="1" dirty="0">
                <a:solidFill>
                  <a:srgbClr val="F3C677"/>
                </a:solidFill>
                <a:latin typeface="Calibri" pitchFamily="34" charset="0"/>
                <a:ea typeface="Calibri" pitchFamily="34" charset="-122"/>
                <a:cs typeface="Calibri" pitchFamily="34" charset="-120"/>
              </a:rPr>
              <a:t>1952</a:t>
            </a:r>
            <a:endParaRPr lang="en-US" sz="1600" dirty="0"/>
          </a:p>
        </p:txBody>
      </p:sp>
      <p:sp>
        <p:nvSpPr>
          <p:cNvPr id="28" name="Shape 26"/>
          <p:cNvSpPr/>
          <p:nvPr/>
        </p:nvSpPr>
        <p:spPr>
          <a:xfrm>
            <a:off x="8778240" y="2002536"/>
            <a:ext cx="201168" cy="201168"/>
          </a:xfrm>
          <a:prstGeom prst="ellipse">
            <a:avLst/>
          </a:prstGeom>
          <a:solidFill>
            <a:srgbClr val="F3C677"/>
          </a:solidFill>
          <a:ln w="25400">
            <a:solidFill>
              <a:srgbClr val="F7FAFC"/>
            </a:solidFill>
            <a:prstDash val="solid"/>
          </a:ln>
        </p:spPr>
      </p:sp>
      <p:sp>
        <p:nvSpPr>
          <p:cNvPr id="29" name="Shape 27"/>
          <p:cNvSpPr/>
          <p:nvPr/>
        </p:nvSpPr>
        <p:spPr>
          <a:xfrm>
            <a:off x="8028432" y="2359152"/>
            <a:ext cx="1700784" cy="2697480"/>
          </a:xfrm>
          <a:prstGeom prst="roundRect">
            <a:avLst>
              <a:gd name="adj" fmla="val 322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30" name="Text 28"/>
          <p:cNvSpPr/>
          <p:nvPr/>
        </p:nvSpPr>
        <p:spPr>
          <a:xfrm>
            <a:off x="8156448" y="2505456"/>
            <a:ext cx="1444752" cy="566928"/>
          </a:xfrm>
          <a:prstGeom prst="rect">
            <a:avLst/>
          </a:prstGeom>
          <a:noFill/>
          <a:ln/>
        </p:spPr>
        <p:txBody>
          <a:bodyPr wrap="square" lIns="0" tIns="0" rIns="0" bIns="0" rtlCol="0" anchor="ctr"/>
          <a:lstStyle/>
          <a:p>
            <a:pPr algn="ctr" indent="0" marL="0">
              <a:lnSpc>
                <a:spcPct val="105000"/>
              </a:lnSpc>
              <a:buNone/>
            </a:pPr>
            <a:r>
              <a:rPr lang="en-US" sz="1300" b="1" dirty="0">
                <a:solidFill>
                  <a:srgbClr val="102A43"/>
                </a:solidFill>
                <a:latin typeface="Calibri" pitchFamily="34" charset="0"/>
                <a:ea typeface="Calibri" pitchFamily="34" charset="-122"/>
                <a:cs typeface="Calibri" pitchFamily="34" charset="-120"/>
              </a:rPr>
              <a:t>Checkers programs</a:t>
            </a:r>
            <a:endParaRPr lang="en-US" sz="1300" dirty="0"/>
          </a:p>
        </p:txBody>
      </p:sp>
      <p:sp>
        <p:nvSpPr>
          <p:cNvPr id="31" name="Text 29"/>
          <p:cNvSpPr/>
          <p:nvPr/>
        </p:nvSpPr>
        <p:spPr>
          <a:xfrm>
            <a:off x="8156448" y="3127248"/>
            <a:ext cx="1444752" cy="1783080"/>
          </a:xfrm>
          <a:prstGeom prst="rect">
            <a:avLst/>
          </a:prstGeom>
          <a:noFill/>
          <a:ln/>
        </p:spPr>
        <p:txBody>
          <a:bodyPr wrap="square" lIns="0" tIns="0" rIns="0" bIns="0" rtlCol="0" anchor="t"/>
          <a:lstStyle/>
          <a:p>
            <a:pPr algn="l" indent="0" marL="0">
              <a:lnSpc>
                <a:spcPct val="112000"/>
              </a:lnSpc>
              <a:buNone/>
            </a:pPr>
            <a:r>
              <a:rPr lang="en-US" sz="1050" dirty="0">
                <a:solidFill>
                  <a:srgbClr val="1F2933"/>
                </a:solidFill>
                <a:latin typeface="Calibri" pitchFamily="34" charset="0"/>
                <a:ea typeface="Calibri" pitchFamily="34" charset="-122"/>
                <a:cs typeface="Calibri" pitchFamily="34" charset="-120"/>
              </a:rPr>
              <a:t>Strachey and Samuel independently write programs that play, and in Samuel's case improve at, checkers.</a:t>
            </a:r>
            <a:endParaRPr lang="en-US" sz="1050" dirty="0"/>
          </a:p>
        </p:txBody>
      </p:sp>
      <p:sp>
        <p:nvSpPr>
          <p:cNvPr id="32" name="Text 30"/>
          <p:cNvSpPr/>
          <p:nvPr/>
        </p:nvSpPr>
        <p:spPr>
          <a:xfrm>
            <a:off x="9875520" y="1627632"/>
            <a:ext cx="1700784" cy="274320"/>
          </a:xfrm>
          <a:prstGeom prst="rect">
            <a:avLst/>
          </a:prstGeom>
          <a:noFill/>
          <a:ln/>
        </p:spPr>
        <p:txBody>
          <a:bodyPr wrap="square" lIns="0" tIns="0" rIns="0" bIns="0" rtlCol="0" anchor="ctr"/>
          <a:lstStyle/>
          <a:p>
            <a:pPr algn="ctr" indent="0" marL="0">
              <a:buNone/>
            </a:pPr>
            <a:r>
              <a:rPr lang="en-US" sz="1600" b="1" dirty="0">
                <a:solidFill>
                  <a:srgbClr val="F97316"/>
                </a:solidFill>
                <a:latin typeface="Calibri" pitchFamily="34" charset="0"/>
                <a:ea typeface="Calibri" pitchFamily="34" charset="-122"/>
                <a:cs typeface="Calibri" pitchFamily="34" charset="-120"/>
              </a:rPr>
              <a:t>1956</a:t>
            </a:r>
            <a:endParaRPr lang="en-US" sz="1600" dirty="0"/>
          </a:p>
        </p:txBody>
      </p:sp>
      <p:sp>
        <p:nvSpPr>
          <p:cNvPr id="33" name="Shape 31"/>
          <p:cNvSpPr/>
          <p:nvPr/>
        </p:nvSpPr>
        <p:spPr>
          <a:xfrm>
            <a:off x="10625328" y="2002536"/>
            <a:ext cx="201168" cy="201168"/>
          </a:xfrm>
          <a:prstGeom prst="ellipse">
            <a:avLst/>
          </a:prstGeom>
          <a:solidFill>
            <a:srgbClr val="F97316"/>
          </a:solidFill>
          <a:ln w="25400">
            <a:solidFill>
              <a:srgbClr val="F7FAFC"/>
            </a:solidFill>
            <a:prstDash val="solid"/>
          </a:ln>
        </p:spPr>
      </p:sp>
      <p:sp>
        <p:nvSpPr>
          <p:cNvPr id="34" name="Shape 32"/>
          <p:cNvSpPr/>
          <p:nvPr/>
        </p:nvSpPr>
        <p:spPr>
          <a:xfrm>
            <a:off x="9875520" y="2359152"/>
            <a:ext cx="1700784" cy="2697480"/>
          </a:xfrm>
          <a:prstGeom prst="roundRect">
            <a:avLst>
              <a:gd name="adj" fmla="val 322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35" name="Text 33"/>
          <p:cNvSpPr/>
          <p:nvPr/>
        </p:nvSpPr>
        <p:spPr>
          <a:xfrm>
            <a:off x="10003536" y="2505456"/>
            <a:ext cx="1444752" cy="566928"/>
          </a:xfrm>
          <a:prstGeom prst="rect">
            <a:avLst/>
          </a:prstGeom>
          <a:noFill/>
          <a:ln/>
        </p:spPr>
        <p:txBody>
          <a:bodyPr wrap="square" lIns="0" tIns="0" rIns="0" bIns="0" rtlCol="0" anchor="ctr"/>
          <a:lstStyle/>
          <a:p>
            <a:pPr algn="ctr" indent="0" marL="0">
              <a:lnSpc>
                <a:spcPct val="105000"/>
              </a:lnSpc>
              <a:buNone/>
            </a:pPr>
            <a:r>
              <a:rPr lang="en-US" sz="1300" b="1" dirty="0">
                <a:solidFill>
                  <a:srgbClr val="102A43"/>
                </a:solidFill>
                <a:latin typeface="Calibri" pitchFamily="34" charset="0"/>
                <a:ea typeface="Calibri" pitchFamily="34" charset="-122"/>
                <a:cs typeface="Calibri" pitchFamily="34" charset="-120"/>
              </a:rPr>
              <a:t>Dartmouth workshop</a:t>
            </a:r>
            <a:endParaRPr lang="en-US" sz="1300" dirty="0"/>
          </a:p>
        </p:txBody>
      </p:sp>
      <p:sp>
        <p:nvSpPr>
          <p:cNvPr id="36" name="Text 34"/>
          <p:cNvSpPr/>
          <p:nvPr/>
        </p:nvSpPr>
        <p:spPr>
          <a:xfrm>
            <a:off x="10003536" y="3127248"/>
            <a:ext cx="1444752" cy="1783080"/>
          </a:xfrm>
          <a:prstGeom prst="rect">
            <a:avLst/>
          </a:prstGeom>
          <a:noFill/>
          <a:ln/>
        </p:spPr>
        <p:txBody>
          <a:bodyPr wrap="square" lIns="0" tIns="0" rIns="0" bIns="0" rtlCol="0" anchor="t"/>
          <a:lstStyle/>
          <a:p>
            <a:pPr algn="l" indent="0" marL="0">
              <a:lnSpc>
                <a:spcPct val="112000"/>
              </a:lnSpc>
              <a:buNone/>
            </a:pPr>
            <a:r>
              <a:rPr lang="en-US" sz="1050" dirty="0">
                <a:solidFill>
                  <a:srgbClr val="1F2933"/>
                </a:solidFill>
                <a:latin typeface="Calibri" pitchFamily="34" charset="0"/>
                <a:ea typeface="Calibri" pitchFamily="34" charset="-122"/>
                <a:cs typeface="Calibri" pitchFamily="34" charset="-120"/>
              </a:rPr>
              <a:t>Ten researchers meet for two months; McCarthy's proposal supplies the name artificial intelligence.</a:t>
            </a:r>
            <a:endParaRPr lang="en-US" sz="1050" dirty="0"/>
          </a:p>
        </p:txBody>
      </p:sp>
      <p:sp>
        <p:nvSpPr>
          <p:cNvPr id="37" name="Shape 35"/>
          <p:cNvSpPr/>
          <p:nvPr/>
        </p:nvSpPr>
        <p:spPr>
          <a:xfrm>
            <a:off x="1249528" y="5504688"/>
            <a:ext cx="9692640" cy="603504"/>
          </a:xfrm>
          <a:prstGeom prst="roundRect">
            <a:avLst>
              <a:gd name="adj" fmla="val 9091"/>
            </a:avLst>
          </a:prstGeom>
          <a:solidFill>
            <a:srgbClr val="55A630"/>
          </a:solidFill>
          <a:ln w="12700">
            <a:solidFill>
              <a:srgbClr val="55A630"/>
            </a:solidFill>
            <a:prstDash val="solid"/>
          </a:ln>
        </p:spPr>
      </p:sp>
      <p:sp>
        <p:nvSpPr>
          <p:cNvPr id="38" name="Text 36"/>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AI was assembled from neuroscience, logic, and computation, and acquired both its agenda and its name at Dartmouth in 1956.</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1.3.2</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Early Symbolic AI: Symbols, Advice, and Action</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517904"/>
            <a:ext cx="3520440" cy="3566160"/>
          </a:xfrm>
          <a:prstGeom prst="roundRect">
            <a:avLst>
              <a:gd name="adj" fmla="val 155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Shape 5"/>
          <p:cNvSpPr/>
          <p:nvPr/>
        </p:nvSpPr>
        <p:spPr>
          <a:xfrm>
            <a:off x="594360" y="1517904"/>
            <a:ext cx="3520440" cy="146304"/>
          </a:xfrm>
          <a:prstGeom prst="rect">
            <a:avLst/>
          </a:prstGeom>
          <a:solidFill>
            <a:srgbClr val="247BA0"/>
          </a:solidFill>
          <a:ln w="12700">
            <a:solidFill>
              <a:srgbClr val="247BA0"/>
            </a:solidFill>
            <a:prstDash val="solid"/>
          </a:ln>
        </p:spPr>
      </p:sp>
      <p:sp>
        <p:nvSpPr>
          <p:cNvPr id="8" name="Text 6"/>
          <p:cNvSpPr/>
          <p:nvPr/>
        </p:nvSpPr>
        <p:spPr>
          <a:xfrm>
            <a:off x="777240" y="1828800"/>
            <a:ext cx="3154680" cy="502920"/>
          </a:xfrm>
          <a:prstGeom prst="rect">
            <a:avLst/>
          </a:prstGeom>
          <a:noFill/>
          <a:ln/>
        </p:spPr>
        <p:txBody>
          <a:bodyPr wrap="square" lIns="0" tIns="0" rIns="0" bIns="0" rtlCol="0" anchor="ctr"/>
          <a:lstStyle/>
          <a:p>
            <a:pPr indent="0" marL="0">
              <a:buNone/>
            </a:pPr>
            <a:r>
              <a:rPr lang="en-US" sz="1800" b="1" dirty="0">
                <a:solidFill>
                  <a:srgbClr val="102A43"/>
                </a:solidFill>
                <a:latin typeface="Calibri" pitchFamily="34" charset="0"/>
                <a:ea typeface="Calibri" pitchFamily="34" charset="-122"/>
                <a:cs typeface="Calibri" pitchFamily="34" charset="-120"/>
              </a:rPr>
              <a:t>Physical Symbol System</a:t>
            </a:r>
            <a:endParaRPr lang="en-US" sz="1800" dirty="0"/>
          </a:p>
        </p:txBody>
      </p:sp>
      <p:sp>
        <p:nvSpPr>
          <p:cNvPr id="9" name="Text 7"/>
          <p:cNvSpPr/>
          <p:nvPr/>
        </p:nvSpPr>
        <p:spPr>
          <a:xfrm>
            <a:off x="914400" y="2468880"/>
            <a:ext cx="2971800" cy="2377440"/>
          </a:xfrm>
          <a:prstGeom prst="rect">
            <a:avLst/>
          </a:prstGeom>
          <a:noFill/>
          <a:ln/>
        </p:spPr>
        <p:txBody>
          <a:bodyPr wrap="square" lIns="0" tIns="0" rIns="0" bIns="0" rtlCol="0" anchor="t"/>
          <a:lstStyle/>
          <a:p>
            <a:pPr indent="0" marL="0">
              <a:lnSpc>
                <a:spcPct val="118000"/>
              </a:lnSpc>
              <a:spcAft>
                <a:spcPts val="1000"/>
              </a:spcAft>
              <a:buNone/>
            </a:pPr>
            <a:r>
              <a:rPr lang="en-US" sz="1330" b="1" dirty="0">
                <a:solidFill>
                  <a:srgbClr val="247BA0"/>
                </a:solidFill>
                <a:latin typeface="Calibri" pitchFamily="34" charset="0"/>
                <a:ea typeface="Calibri" pitchFamily="34" charset="-122"/>
                <a:cs typeface="Calibri" pitchFamily="34" charset="-120"/>
              </a:rPr>
              <a:t>Core claim: </a:t>
            </a:r>
            <a:pPr indent="0" marL="0">
              <a:lnSpc>
                <a:spcPct val="118000"/>
              </a:lnSpc>
              <a:spcAft>
                <a:spcPts val="1000"/>
              </a:spcAft>
              <a:buNone/>
            </a:pPr>
            <a:r>
              <a:rPr lang="en-US" sz="1330" dirty="0">
                <a:solidFill>
                  <a:srgbClr val="1F2933"/>
                </a:solidFill>
                <a:latin typeface="Calibri" pitchFamily="34" charset="0"/>
                <a:ea typeface="Calibri" pitchFamily="34" charset="-122"/>
                <a:cs typeface="Calibri" pitchFamily="34" charset="-120"/>
              </a:rPr>
              <a:t>intelligence is symbol manipulation</a:t>
            </a:r>
            <a:endParaRPr lang="en-US" sz="1330" dirty="0"/>
          </a:p>
          <a:p>
            <a:pPr indent="0" marL="0">
              <a:lnSpc>
                <a:spcPct val="118000"/>
              </a:lnSpc>
              <a:spcAft>
                <a:spcPts val="1000"/>
              </a:spcAft>
              <a:buNone/>
            </a:pPr>
            <a:r>
              <a:rPr lang="en-US" sz="1330" b="1" dirty="0">
                <a:solidFill>
                  <a:srgbClr val="247BA0"/>
                </a:solidFill>
                <a:latin typeface="Calibri" pitchFamily="34" charset="0"/>
                <a:ea typeface="Calibri" pitchFamily="34" charset="-122"/>
                <a:cs typeface="Calibri" pitchFamily="34" charset="-120"/>
              </a:rPr>
              <a:t>Newell &amp; Simon: </a:t>
            </a:r>
            <a:pPr indent="0" marL="0">
              <a:lnSpc>
                <a:spcPct val="118000"/>
              </a:lnSpc>
              <a:spcAft>
                <a:spcPts val="1000"/>
              </a:spcAft>
              <a:buNone/>
            </a:pPr>
            <a:r>
              <a:rPr lang="en-US" sz="1330" dirty="0">
                <a:solidFill>
                  <a:srgbClr val="1F2933"/>
                </a:solidFill>
                <a:latin typeface="Calibri" pitchFamily="34" charset="0"/>
                <a:ea typeface="Calibri" pitchFamily="34" charset="-122"/>
                <a:cs typeface="Calibri" pitchFamily="34" charset="-120"/>
              </a:rPr>
              <a:t>symbol structures are necessary and sufficient for general intelligent action</a:t>
            </a:r>
            <a:endParaRPr lang="en-US" sz="1330" dirty="0"/>
          </a:p>
        </p:txBody>
      </p:sp>
      <p:sp>
        <p:nvSpPr>
          <p:cNvPr id="10" name="Shape 8"/>
          <p:cNvSpPr/>
          <p:nvPr/>
        </p:nvSpPr>
        <p:spPr>
          <a:xfrm>
            <a:off x="4480560" y="1517904"/>
            <a:ext cx="3520440" cy="3566160"/>
          </a:xfrm>
          <a:prstGeom prst="roundRect">
            <a:avLst>
              <a:gd name="adj" fmla="val 155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1" name="Shape 9"/>
          <p:cNvSpPr/>
          <p:nvPr/>
        </p:nvSpPr>
        <p:spPr>
          <a:xfrm>
            <a:off x="4480560" y="1517904"/>
            <a:ext cx="3520440" cy="146304"/>
          </a:xfrm>
          <a:prstGeom prst="rect">
            <a:avLst/>
          </a:prstGeom>
          <a:solidFill>
            <a:srgbClr val="55A630"/>
          </a:solidFill>
          <a:ln w="12700">
            <a:solidFill>
              <a:srgbClr val="55A630"/>
            </a:solidFill>
            <a:prstDash val="solid"/>
          </a:ln>
        </p:spPr>
      </p:sp>
      <p:sp>
        <p:nvSpPr>
          <p:cNvPr id="12" name="Text 10"/>
          <p:cNvSpPr/>
          <p:nvPr/>
        </p:nvSpPr>
        <p:spPr>
          <a:xfrm>
            <a:off x="4663440" y="1828800"/>
            <a:ext cx="3154680" cy="502920"/>
          </a:xfrm>
          <a:prstGeom prst="rect">
            <a:avLst/>
          </a:prstGeom>
          <a:noFill/>
          <a:ln/>
        </p:spPr>
        <p:txBody>
          <a:bodyPr wrap="square" lIns="0" tIns="0" rIns="0" bIns="0" rtlCol="0" anchor="ctr"/>
          <a:lstStyle/>
          <a:p>
            <a:pPr indent="0" marL="0">
              <a:buNone/>
            </a:pPr>
            <a:r>
              <a:rPr lang="en-US" sz="1800" b="1" dirty="0">
                <a:solidFill>
                  <a:srgbClr val="102A43"/>
                </a:solidFill>
                <a:latin typeface="Calibri" pitchFamily="34" charset="0"/>
                <a:ea typeface="Calibri" pitchFamily="34" charset="-122"/>
                <a:cs typeface="Calibri" pitchFamily="34" charset="-120"/>
              </a:rPr>
              <a:t>Advice Taker</a:t>
            </a:r>
            <a:endParaRPr lang="en-US" sz="1800" dirty="0"/>
          </a:p>
        </p:txBody>
      </p:sp>
      <p:sp>
        <p:nvSpPr>
          <p:cNvPr id="13" name="Text 11"/>
          <p:cNvSpPr/>
          <p:nvPr/>
        </p:nvSpPr>
        <p:spPr>
          <a:xfrm>
            <a:off x="4800600" y="2468880"/>
            <a:ext cx="2971800" cy="2377440"/>
          </a:xfrm>
          <a:prstGeom prst="rect">
            <a:avLst/>
          </a:prstGeom>
          <a:noFill/>
          <a:ln/>
        </p:spPr>
        <p:txBody>
          <a:bodyPr wrap="square" lIns="0" tIns="0" rIns="0" bIns="0" rtlCol="0" anchor="t"/>
          <a:lstStyle/>
          <a:p>
            <a:pPr indent="0" marL="0">
              <a:lnSpc>
                <a:spcPct val="118000"/>
              </a:lnSpc>
              <a:spcAft>
                <a:spcPts val="1000"/>
              </a:spcAft>
              <a:buNone/>
            </a:pPr>
            <a:r>
              <a:rPr lang="en-US" sz="1330" b="1" dirty="0">
                <a:solidFill>
                  <a:srgbClr val="55A630"/>
                </a:solidFill>
                <a:latin typeface="Calibri" pitchFamily="34" charset="0"/>
                <a:ea typeface="Calibri" pitchFamily="34" charset="-122"/>
                <a:cs typeface="Calibri" pitchFamily="34" charset="-120"/>
              </a:rPr>
              <a:t>McCarthy: </a:t>
            </a:r>
            <a:pPr indent="0" marL="0">
              <a:lnSpc>
                <a:spcPct val="118000"/>
              </a:lnSpc>
              <a:spcAft>
                <a:spcPts val="1000"/>
              </a:spcAft>
              <a:buNone/>
            </a:pPr>
            <a:r>
              <a:rPr lang="en-US" sz="1330" dirty="0">
                <a:solidFill>
                  <a:srgbClr val="1F2933"/>
                </a:solidFill>
                <a:latin typeface="Calibri" pitchFamily="34" charset="0"/>
                <a:ea typeface="Calibri" pitchFamily="34" charset="-122"/>
                <a:cs typeface="Calibri" pitchFamily="34" charset="-120"/>
              </a:rPr>
              <a:t>represent world knowledge explicitly</a:t>
            </a:r>
            <a:endParaRPr lang="en-US" sz="1330" dirty="0"/>
          </a:p>
          <a:p>
            <a:pPr indent="0" marL="0">
              <a:lnSpc>
                <a:spcPct val="118000"/>
              </a:lnSpc>
              <a:spcAft>
                <a:spcPts val="1000"/>
              </a:spcAft>
              <a:buNone/>
            </a:pPr>
            <a:r>
              <a:rPr lang="en-US" sz="1330" b="1" dirty="0">
                <a:solidFill>
                  <a:srgbClr val="55A630"/>
                </a:solidFill>
                <a:latin typeface="Calibri" pitchFamily="34" charset="0"/>
                <a:ea typeface="Calibri" pitchFamily="34" charset="-122"/>
                <a:cs typeface="Calibri" pitchFamily="34" charset="-120"/>
              </a:rPr>
              <a:t>Method: </a:t>
            </a:r>
            <a:pPr indent="0" marL="0">
              <a:lnSpc>
                <a:spcPct val="118000"/>
              </a:lnSpc>
              <a:spcAft>
                <a:spcPts val="1000"/>
              </a:spcAft>
              <a:buNone/>
            </a:pPr>
            <a:r>
              <a:rPr lang="en-US" sz="1330" dirty="0">
                <a:solidFill>
                  <a:srgbClr val="1F2933"/>
                </a:solidFill>
                <a:latin typeface="Calibri" pitchFamily="34" charset="0"/>
                <a:ea typeface="Calibri" pitchFamily="34" charset="-122"/>
                <a:cs typeface="Calibri" pitchFamily="34" charset="-120"/>
              </a:rPr>
              <a:t>use logical deduction to derive plans</a:t>
            </a:r>
            <a:endParaRPr lang="en-US" sz="1330" dirty="0"/>
          </a:p>
          <a:p>
            <a:pPr indent="0" marL="0">
              <a:lnSpc>
                <a:spcPct val="118000"/>
              </a:lnSpc>
              <a:spcAft>
                <a:spcPts val="1000"/>
              </a:spcAft>
              <a:buNone/>
            </a:pPr>
            <a:r>
              <a:rPr lang="en-US" sz="1330" b="1" dirty="0">
                <a:solidFill>
                  <a:srgbClr val="55A630"/>
                </a:solidFill>
                <a:latin typeface="Calibri" pitchFamily="34" charset="0"/>
                <a:ea typeface="Calibri" pitchFamily="34" charset="-122"/>
                <a:cs typeface="Calibri" pitchFamily="34" charset="-120"/>
              </a:rPr>
              <a:t>Payoff: </a:t>
            </a:r>
            <a:pPr indent="0" marL="0">
              <a:lnSpc>
                <a:spcPct val="118000"/>
              </a:lnSpc>
              <a:spcAft>
                <a:spcPts val="1000"/>
              </a:spcAft>
              <a:buNone/>
            </a:pPr>
            <a:r>
              <a:rPr lang="en-US" sz="1330" dirty="0">
                <a:solidFill>
                  <a:srgbClr val="1F2933"/>
                </a:solidFill>
                <a:latin typeface="Calibri" pitchFamily="34" charset="0"/>
                <a:ea typeface="Calibri" pitchFamily="34" charset="-122"/>
                <a:cs typeface="Calibri" pitchFamily="34" charset="-120"/>
              </a:rPr>
              <a:t>accept new facts without full reprogramming</a:t>
            </a:r>
            <a:endParaRPr lang="en-US" sz="1330" dirty="0"/>
          </a:p>
        </p:txBody>
      </p:sp>
      <p:sp>
        <p:nvSpPr>
          <p:cNvPr id="14" name="Shape 12"/>
          <p:cNvSpPr/>
          <p:nvPr/>
        </p:nvSpPr>
        <p:spPr>
          <a:xfrm>
            <a:off x="8366760" y="1517904"/>
            <a:ext cx="3520440" cy="3566160"/>
          </a:xfrm>
          <a:prstGeom prst="roundRect">
            <a:avLst>
              <a:gd name="adj" fmla="val 155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5" name="Shape 13"/>
          <p:cNvSpPr/>
          <p:nvPr/>
        </p:nvSpPr>
        <p:spPr>
          <a:xfrm>
            <a:off x="8366760" y="1517904"/>
            <a:ext cx="3520440" cy="146304"/>
          </a:xfrm>
          <a:prstGeom prst="rect">
            <a:avLst/>
          </a:prstGeom>
          <a:solidFill>
            <a:srgbClr val="F97316"/>
          </a:solidFill>
          <a:ln w="12700">
            <a:solidFill>
              <a:srgbClr val="F97316"/>
            </a:solidFill>
            <a:prstDash val="solid"/>
          </a:ln>
        </p:spPr>
      </p:sp>
      <p:sp>
        <p:nvSpPr>
          <p:cNvPr id="16" name="Text 14"/>
          <p:cNvSpPr/>
          <p:nvPr/>
        </p:nvSpPr>
        <p:spPr>
          <a:xfrm>
            <a:off x="8549640" y="1828800"/>
            <a:ext cx="3154680" cy="502920"/>
          </a:xfrm>
          <a:prstGeom prst="rect">
            <a:avLst/>
          </a:prstGeom>
          <a:noFill/>
          <a:ln/>
        </p:spPr>
        <p:txBody>
          <a:bodyPr wrap="square" lIns="0" tIns="0" rIns="0" bIns="0" rtlCol="0" anchor="ctr"/>
          <a:lstStyle/>
          <a:p>
            <a:pPr indent="0" marL="0">
              <a:buNone/>
            </a:pPr>
            <a:r>
              <a:rPr lang="en-US" sz="1800" b="1" dirty="0">
                <a:solidFill>
                  <a:srgbClr val="102A43"/>
                </a:solidFill>
                <a:latin typeface="Calibri" pitchFamily="34" charset="0"/>
                <a:ea typeface="Calibri" pitchFamily="34" charset="-122"/>
                <a:cs typeface="Calibri" pitchFamily="34" charset="-120"/>
              </a:rPr>
              <a:t>Shakey the Robot</a:t>
            </a:r>
            <a:endParaRPr lang="en-US" sz="1800" dirty="0"/>
          </a:p>
        </p:txBody>
      </p:sp>
      <p:sp>
        <p:nvSpPr>
          <p:cNvPr id="17" name="Text 15"/>
          <p:cNvSpPr/>
          <p:nvPr/>
        </p:nvSpPr>
        <p:spPr>
          <a:xfrm>
            <a:off x="8686800" y="2468880"/>
            <a:ext cx="2971800" cy="2377440"/>
          </a:xfrm>
          <a:prstGeom prst="rect">
            <a:avLst/>
          </a:prstGeom>
          <a:noFill/>
          <a:ln/>
        </p:spPr>
        <p:txBody>
          <a:bodyPr wrap="square" lIns="0" tIns="0" rIns="0" bIns="0" rtlCol="0" anchor="t"/>
          <a:lstStyle/>
          <a:p>
            <a:pPr indent="0" marL="0">
              <a:lnSpc>
                <a:spcPct val="118000"/>
              </a:lnSpc>
              <a:spcAft>
                <a:spcPts val="1000"/>
              </a:spcAft>
              <a:buNone/>
            </a:pPr>
            <a:r>
              <a:rPr lang="en-US" sz="1330" b="1" dirty="0">
                <a:solidFill>
                  <a:srgbClr val="F97316"/>
                </a:solidFill>
                <a:latin typeface="Calibri" pitchFamily="34" charset="0"/>
                <a:ea typeface="Calibri" pitchFamily="34" charset="-122"/>
                <a:cs typeface="Calibri" pitchFamily="34" charset="-120"/>
              </a:rPr>
              <a:t>First of its kind: </a:t>
            </a:r>
            <a:pPr indent="0" marL="0">
              <a:lnSpc>
                <a:spcPct val="118000"/>
              </a:lnSpc>
              <a:spcAft>
                <a:spcPts val="1000"/>
              </a:spcAft>
              <a:buNone/>
            </a:pPr>
            <a:r>
              <a:rPr lang="en-US" sz="1330" dirty="0">
                <a:solidFill>
                  <a:srgbClr val="1F2933"/>
                </a:solidFill>
                <a:latin typeface="Calibri" pitchFamily="34" charset="0"/>
                <a:ea typeface="Calibri" pitchFamily="34" charset="-122"/>
                <a:cs typeface="Calibri" pitchFamily="34" charset="-120"/>
              </a:rPr>
              <a:t>reasoning integrated with physical activity</a:t>
            </a:r>
            <a:endParaRPr lang="en-US" sz="1330" dirty="0"/>
          </a:p>
          <a:p>
            <a:pPr indent="0" marL="0">
              <a:lnSpc>
                <a:spcPct val="118000"/>
              </a:lnSpc>
              <a:spcAft>
                <a:spcPts val="1000"/>
              </a:spcAft>
              <a:buNone/>
            </a:pPr>
            <a:r>
              <a:rPr lang="en-US" sz="1330" b="1" dirty="0">
                <a:solidFill>
                  <a:srgbClr val="F97316"/>
                </a:solidFill>
                <a:latin typeface="Calibri" pitchFamily="34" charset="0"/>
                <a:ea typeface="Calibri" pitchFamily="34" charset="-122"/>
                <a:cs typeface="Calibri" pitchFamily="34" charset="-120"/>
              </a:rPr>
              <a:t>Components: </a:t>
            </a:r>
            <a:pPr indent="0" marL="0">
              <a:lnSpc>
                <a:spcPct val="118000"/>
              </a:lnSpc>
              <a:spcAft>
                <a:spcPts val="1000"/>
              </a:spcAft>
              <a:buNone/>
            </a:pPr>
            <a:r>
              <a:rPr lang="en-US" sz="1330" dirty="0">
                <a:solidFill>
                  <a:srgbClr val="1F2933"/>
                </a:solidFill>
                <a:latin typeface="Calibri" pitchFamily="34" charset="0"/>
                <a:ea typeface="Calibri" pitchFamily="34" charset="-122"/>
                <a:cs typeface="Calibri" pitchFamily="34" charset="-120"/>
              </a:rPr>
              <a:t>planning, perception, and action in one system</a:t>
            </a:r>
            <a:endParaRPr lang="en-US" sz="1330" dirty="0"/>
          </a:p>
        </p:txBody>
      </p:sp>
      <p:sp>
        <p:nvSpPr>
          <p:cNvPr id="18" name="Shape 16"/>
          <p:cNvSpPr/>
          <p:nvPr/>
        </p:nvSpPr>
        <p:spPr>
          <a:xfrm>
            <a:off x="1249528" y="5504688"/>
            <a:ext cx="9692640" cy="603504"/>
          </a:xfrm>
          <a:prstGeom prst="roundRect">
            <a:avLst>
              <a:gd name="adj" fmla="val 9091"/>
            </a:avLst>
          </a:prstGeom>
          <a:solidFill>
            <a:srgbClr val="102A43"/>
          </a:solidFill>
          <a:ln w="12700">
            <a:solidFill>
              <a:srgbClr val="102A43"/>
            </a:solidFill>
            <a:prstDash val="solid"/>
          </a:ln>
        </p:spPr>
      </p:sp>
      <p:sp>
        <p:nvSpPr>
          <p:cNvPr id="19" name="Text 17"/>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early AI assumed intelligence could be built from explicit symbols, rules, and reasoning.</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1.3.3</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A Dose of Reality: Why Early AI Stalled</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Text 4"/>
          <p:cNvSpPr/>
          <p:nvPr/>
        </p:nvSpPr>
        <p:spPr>
          <a:xfrm>
            <a:off x="822960" y="1353312"/>
            <a:ext cx="10515600" cy="292608"/>
          </a:xfrm>
          <a:prstGeom prst="rect">
            <a:avLst/>
          </a:prstGeom>
          <a:noFill/>
          <a:ln/>
        </p:spPr>
        <p:txBody>
          <a:bodyPr wrap="square" lIns="0" tIns="0" rIns="0" bIns="0" rtlCol="0" anchor="ctr"/>
          <a:lstStyle/>
          <a:p>
            <a:pPr indent="0" marL="0">
              <a:buNone/>
            </a:pPr>
            <a:r>
              <a:rPr lang="en-US" sz="1800" b="1" dirty="0">
                <a:solidFill>
                  <a:srgbClr val="102A43"/>
                </a:solidFill>
                <a:latin typeface="Calibri" pitchFamily="34" charset="0"/>
                <a:ea typeface="Calibri" pitchFamily="34" charset="-122"/>
                <a:cs typeface="Calibri" pitchFamily="34" charset="-120"/>
              </a:rPr>
              <a:t>Programs that solved toy problems did not scale, and the reasons were structural</a:t>
            </a:r>
            <a:endParaRPr lang="en-US" sz="1800" dirty="0"/>
          </a:p>
        </p:txBody>
      </p:sp>
      <p:sp>
        <p:nvSpPr>
          <p:cNvPr id="7" name="Shape 5"/>
          <p:cNvSpPr/>
          <p:nvPr/>
        </p:nvSpPr>
        <p:spPr>
          <a:xfrm>
            <a:off x="594360" y="1755648"/>
            <a:ext cx="3520440" cy="2606040"/>
          </a:xfrm>
          <a:prstGeom prst="roundRect">
            <a:avLst>
              <a:gd name="adj" fmla="val 2105"/>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8" name="Shape 6"/>
          <p:cNvSpPr/>
          <p:nvPr/>
        </p:nvSpPr>
        <p:spPr>
          <a:xfrm>
            <a:off x="594360" y="1755648"/>
            <a:ext cx="3520440" cy="146304"/>
          </a:xfrm>
          <a:prstGeom prst="rect">
            <a:avLst/>
          </a:prstGeom>
          <a:solidFill>
            <a:srgbClr val="C1121F"/>
          </a:solidFill>
          <a:ln w="12700">
            <a:solidFill>
              <a:srgbClr val="C1121F"/>
            </a:solidFill>
            <a:prstDash val="solid"/>
          </a:ln>
        </p:spPr>
      </p:sp>
      <p:sp>
        <p:nvSpPr>
          <p:cNvPr id="9" name="Text 7"/>
          <p:cNvSpPr/>
          <p:nvPr/>
        </p:nvSpPr>
        <p:spPr>
          <a:xfrm>
            <a:off x="822960" y="1993392"/>
            <a:ext cx="3108960" cy="475488"/>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Introspection over analysis</a:t>
            </a:r>
            <a:endParaRPr lang="en-US" sz="1550" dirty="0"/>
          </a:p>
        </p:txBody>
      </p:sp>
      <p:sp>
        <p:nvSpPr>
          <p:cNvPr id="10" name="Text 8"/>
          <p:cNvSpPr/>
          <p:nvPr/>
        </p:nvSpPr>
        <p:spPr>
          <a:xfrm>
            <a:off x="822960" y="2523744"/>
            <a:ext cx="3063240" cy="1737360"/>
          </a:xfrm>
          <a:prstGeom prst="rect">
            <a:avLst/>
          </a:prstGeom>
          <a:noFill/>
          <a:ln/>
        </p:spPr>
        <p:txBody>
          <a:bodyPr wrap="square" lIns="0" tIns="0" rIns="0" bIns="0" rtlCol="0" anchor="t"/>
          <a:lstStyle/>
          <a:p>
            <a:pPr indent="0" marL="0">
              <a:lnSpc>
                <a:spcPct val="118000"/>
              </a:lnSpc>
              <a:spcAft>
                <a:spcPts val="600"/>
              </a:spcAft>
              <a:buNone/>
            </a:pPr>
            <a:r>
              <a:rPr lang="en-US" sz="1150" b="1" dirty="0">
                <a:solidFill>
                  <a:srgbClr val="C1121F"/>
                </a:solidFill>
                <a:latin typeface="Calibri" pitchFamily="34" charset="0"/>
                <a:ea typeface="Calibri" pitchFamily="34" charset="-122"/>
                <a:cs typeface="Calibri" pitchFamily="34" charset="-120"/>
              </a:rPr>
              <a:t>Method: </a:t>
            </a:r>
            <a:pPr indent="0" marL="0">
              <a:lnSpc>
                <a:spcPct val="118000"/>
              </a:lnSpc>
              <a:spcAft>
                <a:spcPts val="600"/>
              </a:spcAft>
              <a:buNone/>
            </a:pPr>
            <a:r>
              <a:rPr lang="en-US" sz="1150" dirty="0">
                <a:solidFill>
                  <a:srgbClr val="1F2933"/>
                </a:solidFill>
                <a:latin typeface="Calibri" pitchFamily="34" charset="0"/>
                <a:ea typeface="Calibri" pitchFamily="34" charset="-122"/>
                <a:cs typeface="Calibri" pitchFamily="34" charset="-120"/>
              </a:rPr>
              <a:t>systems were modeled on how people believed they solved a task</a:t>
            </a:r>
            <a:endParaRPr lang="en-US" sz="1150" dirty="0"/>
          </a:p>
          <a:p>
            <a:pPr indent="0" marL="0">
              <a:lnSpc>
                <a:spcPct val="118000"/>
              </a:lnSpc>
              <a:spcAft>
                <a:spcPts val="600"/>
              </a:spcAft>
              <a:buNone/>
            </a:pPr>
            <a:r>
              <a:rPr lang="en-US" sz="1150" b="1" dirty="0">
                <a:solidFill>
                  <a:srgbClr val="C1121F"/>
                </a:solidFill>
                <a:latin typeface="Calibri" pitchFamily="34" charset="0"/>
                <a:ea typeface="Calibri" pitchFamily="34" charset="-122"/>
                <a:cs typeface="Calibri" pitchFamily="34" charset="-120"/>
              </a:rPr>
              <a:t>Missing: </a:t>
            </a:r>
            <a:pPr indent="0" marL="0">
              <a:lnSpc>
                <a:spcPct val="118000"/>
              </a:lnSpc>
              <a:spcAft>
                <a:spcPts val="600"/>
              </a:spcAft>
              <a:buNone/>
            </a:pPr>
            <a:r>
              <a:rPr lang="en-US" sz="1150" dirty="0">
                <a:solidFill>
                  <a:srgbClr val="1F2933"/>
                </a:solidFill>
                <a:latin typeface="Calibri" pitchFamily="34" charset="0"/>
                <a:ea typeface="Calibri" pitchFamily="34" charset="-122"/>
                <a:cs typeface="Calibri" pitchFamily="34" charset="-120"/>
              </a:rPr>
              <a:t>analysis of what counts as a solution and what an algorithm must do to produce one reliably</a:t>
            </a:r>
            <a:endParaRPr lang="en-US" sz="1150" dirty="0"/>
          </a:p>
          <a:p>
            <a:pPr indent="0" marL="0">
              <a:lnSpc>
                <a:spcPct val="118000"/>
              </a:lnSpc>
              <a:spcAft>
                <a:spcPts val="600"/>
              </a:spcAft>
              <a:buNone/>
            </a:pPr>
            <a:r>
              <a:rPr lang="en-US" sz="1150" b="1" dirty="0">
                <a:solidFill>
                  <a:srgbClr val="C1121F"/>
                </a:solidFill>
                <a:latin typeface="Calibri" pitchFamily="34" charset="0"/>
                <a:ea typeface="Calibri" pitchFamily="34" charset="-122"/>
                <a:cs typeface="Calibri" pitchFamily="34" charset="-120"/>
              </a:rPr>
              <a:t>Example: </a:t>
            </a:r>
            <a:pPr indent="0" marL="0">
              <a:lnSpc>
                <a:spcPct val="118000"/>
              </a:lnSpc>
              <a:spcAft>
                <a:spcPts val="600"/>
              </a:spcAft>
              <a:buNone/>
            </a:pPr>
            <a:r>
              <a:rPr lang="en-US" sz="1150" dirty="0">
                <a:solidFill>
                  <a:srgbClr val="1F2933"/>
                </a:solidFill>
                <a:latin typeface="Calibri" pitchFamily="34" charset="0"/>
                <a:ea typeface="Calibri" pitchFamily="34" charset="-122"/>
                <a:cs typeface="Calibri" pitchFamily="34" charset="-120"/>
              </a:rPr>
              <a:t>early machine translation used word substitution and grammar, with no model of meaning</a:t>
            </a:r>
            <a:endParaRPr lang="en-US" sz="1150" dirty="0"/>
          </a:p>
        </p:txBody>
      </p:sp>
      <p:sp>
        <p:nvSpPr>
          <p:cNvPr id="11" name="Shape 9"/>
          <p:cNvSpPr/>
          <p:nvPr/>
        </p:nvSpPr>
        <p:spPr>
          <a:xfrm>
            <a:off x="4480560" y="1755648"/>
            <a:ext cx="3520440" cy="2606040"/>
          </a:xfrm>
          <a:prstGeom prst="roundRect">
            <a:avLst>
              <a:gd name="adj" fmla="val 2105"/>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2" name="Shape 10"/>
          <p:cNvSpPr/>
          <p:nvPr/>
        </p:nvSpPr>
        <p:spPr>
          <a:xfrm>
            <a:off x="4480560" y="1755648"/>
            <a:ext cx="3520440" cy="146304"/>
          </a:xfrm>
          <a:prstGeom prst="rect">
            <a:avLst/>
          </a:prstGeom>
          <a:solidFill>
            <a:srgbClr val="F97316"/>
          </a:solidFill>
          <a:ln w="12700">
            <a:solidFill>
              <a:srgbClr val="F97316"/>
            </a:solidFill>
            <a:prstDash val="solid"/>
          </a:ln>
        </p:spPr>
      </p:sp>
      <p:sp>
        <p:nvSpPr>
          <p:cNvPr id="13" name="Text 11"/>
          <p:cNvSpPr/>
          <p:nvPr/>
        </p:nvSpPr>
        <p:spPr>
          <a:xfrm>
            <a:off x="4709160" y="1993392"/>
            <a:ext cx="3108960" cy="475488"/>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Combinatorial explosion</a:t>
            </a:r>
            <a:endParaRPr lang="en-US" sz="1550" dirty="0"/>
          </a:p>
        </p:txBody>
      </p:sp>
      <p:sp>
        <p:nvSpPr>
          <p:cNvPr id="14" name="Text 12"/>
          <p:cNvSpPr/>
          <p:nvPr/>
        </p:nvSpPr>
        <p:spPr>
          <a:xfrm>
            <a:off x="4709160" y="2523744"/>
            <a:ext cx="3063240" cy="1737360"/>
          </a:xfrm>
          <a:prstGeom prst="rect">
            <a:avLst/>
          </a:prstGeom>
          <a:noFill/>
          <a:ln/>
        </p:spPr>
        <p:txBody>
          <a:bodyPr wrap="square" lIns="0" tIns="0" rIns="0" bIns="0" rtlCol="0" anchor="t"/>
          <a:lstStyle/>
          <a:p>
            <a:pPr indent="0" marL="0">
              <a:lnSpc>
                <a:spcPct val="118000"/>
              </a:lnSpc>
              <a:spcAft>
                <a:spcPts val="600"/>
              </a:spcAft>
              <a:buNone/>
            </a:pPr>
            <a:r>
              <a:rPr lang="en-US" sz="1150" b="1" dirty="0">
                <a:solidFill>
                  <a:srgbClr val="F97316"/>
                </a:solidFill>
                <a:latin typeface="Calibri" pitchFamily="34" charset="0"/>
                <a:ea typeface="Calibri" pitchFamily="34" charset="-122"/>
                <a:cs typeface="Calibri" pitchFamily="34" charset="-120"/>
              </a:rPr>
              <a:t>Method: </a:t>
            </a:r>
            <a:pPr indent="0" marL="0">
              <a:lnSpc>
                <a:spcPct val="118000"/>
              </a:lnSpc>
              <a:spcAft>
                <a:spcPts val="600"/>
              </a:spcAft>
              <a:buNone/>
            </a:pPr>
            <a:r>
              <a:rPr lang="en-US" sz="1150" dirty="0">
                <a:solidFill>
                  <a:srgbClr val="1F2933"/>
                </a:solidFill>
                <a:latin typeface="Calibri" pitchFamily="34" charset="0"/>
                <a:ea typeface="Calibri" pitchFamily="34" charset="-122"/>
                <a:cs typeface="Calibri" pitchFamily="34" charset="-120"/>
              </a:rPr>
              <a:t>search by trying combinations of steps until something worked</a:t>
            </a:r>
            <a:endParaRPr lang="en-US" sz="1150" dirty="0"/>
          </a:p>
          <a:p>
            <a:pPr indent="0" marL="0">
              <a:lnSpc>
                <a:spcPct val="118000"/>
              </a:lnSpc>
              <a:spcAft>
                <a:spcPts val="600"/>
              </a:spcAft>
              <a:buNone/>
            </a:pPr>
            <a:r>
              <a:rPr lang="en-US" sz="1150" b="1" dirty="0">
                <a:solidFill>
                  <a:srgbClr val="F97316"/>
                </a:solidFill>
                <a:latin typeface="Calibri" pitchFamily="34" charset="0"/>
                <a:ea typeface="Calibri" pitchFamily="34" charset="-122"/>
                <a:cs typeface="Calibri" pitchFamily="34" charset="-120"/>
              </a:rPr>
              <a:t>Why it worked at first: </a:t>
            </a:r>
            <a:pPr indent="0" marL="0">
              <a:lnSpc>
                <a:spcPct val="118000"/>
              </a:lnSpc>
              <a:spcAft>
                <a:spcPts val="600"/>
              </a:spcAft>
              <a:buNone/>
            </a:pPr>
            <a:r>
              <a:rPr lang="en-US" sz="1150" dirty="0">
                <a:solidFill>
                  <a:srgbClr val="1F2933"/>
                </a:solidFill>
                <a:latin typeface="Calibri" pitchFamily="34" charset="0"/>
                <a:ea typeface="Calibri" pitchFamily="34" charset="-122"/>
                <a:cs typeface="Calibri" pitchFamily="34" charset="-120"/>
              </a:rPr>
              <a:t>microworlds contain few objects and short solutions</a:t>
            </a:r>
            <a:endParaRPr lang="en-US" sz="1150" dirty="0"/>
          </a:p>
          <a:p>
            <a:pPr indent="0" marL="0">
              <a:lnSpc>
                <a:spcPct val="118000"/>
              </a:lnSpc>
              <a:spcAft>
                <a:spcPts val="600"/>
              </a:spcAft>
              <a:buNone/>
            </a:pPr>
            <a:r>
              <a:rPr lang="en-US" sz="1150" b="1" dirty="0">
                <a:solidFill>
                  <a:srgbClr val="F97316"/>
                </a:solidFill>
                <a:latin typeface="Calibri" pitchFamily="34" charset="0"/>
                <a:ea typeface="Calibri" pitchFamily="34" charset="-122"/>
                <a:cs typeface="Calibri" pitchFamily="34" charset="-120"/>
              </a:rPr>
              <a:t>Why it broke: </a:t>
            </a:r>
            <a:pPr indent="0" marL="0">
              <a:lnSpc>
                <a:spcPct val="118000"/>
              </a:lnSpc>
              <a:spcAft>
                <a:spcPts val="600"/>
              </a:spcAft>
              <a:buNone/>
            </a:pPr>
            <a:r>
              <a:rPr lang="en-US" sz="1150" dirty="0">
                <a:solidFill>
                  <a:srgbClr val="1F2933"/>
                </a:solidFill>
                <a:latin typeface="Calibri" pitchFamily="34" charset="0"/>
                <a:ea typeface="Calibri" pitchFamily="34" charset="-122"/>
                <a:cs typeface="Calibri" pitchFamily="34" charset="-120"/>
              </a:rPr>
              <a:t>search cost grows exponentially, so faster hardware buys almost nothing</a:t>
            </a:r>
            <a:endParaRPr lang="en-US" sz="1150" dirty="0"/>
          </a:p>
        </p:txBody>
      </p:sp>
      <p:sp>
        <p:nvSpPr>
          <p:cNvPr id="15" name="Shape 13"/>
          <p:cNvSpPr/>
          <p:nvPr/>
        </p:nvSpPr>
        <p:spPr>
          <a:xfrm>
            <a:off x="8366760" y="1755648"/>
            <a:ext cx="3520440" cy="2606040"/>
          </a:xfrm>
          <a:prstGeom prst="roundRect">
            <a:avLst>
              <a:gd name="adj" fmla="val 2105"/>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6" name="Shape 14"/>
          <p:cNvSpPr/>
          <p:nvPr/>
        </p:nvSpPr>
        <p:spPr>
          <a:xfrm>
            <a:off x="8366760" y="1755648"/>
            <a:ext cx="3520440" cy="146304"/>
          </a:xfrm>
          <a:prstGeom prst="rect">
            <a:avLst/>
          </a:prstGeom>
          <a:solidFill>
            <a:srgbClr val="6D28D9"/>
          </a:solidFill>
          <a:ln w="12700">
            <a:solidFill>
              <a:srgbClr val="6D28D9"/>
            </a:solidFill>
            <a:prstDash val="solid"/>
          </a:ln>
        </p:spPr>
      </p:sp>
      <p:sp>
        <p:nvSpPr>
          <p:cNvPr id="17" name="Text 15"/>
          <p:cNvSpPr/>
          <p:nvPr/>
        </p:nvSpPr>
        <p:spPr>
          <a:xfrm>
            <a:off x="8595360" y="1993392"/>
            <a:ext cx="3108960" cy="475488"/>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Representational limits</a:t>
            </a:r>
            <a:endParaRPr lang="en-US" sz="1550" dirty="0"/>
          </a:p>
        </p:txBody>
      </p:sp>
      <p:sp>
        <p:nvSpPr>
          <p:cNvPr id="18" name="Text 16"/>
          <p:cNvSpPr/>
          <p:nvPr/>
        </p:nvSpPr>
        <p:spPr>
          <a:xfrm>
            <a:off x="8595360" y="2523744"/>
            <a:ext cx="3063240" cy="1737360"/>
          </a:xfrm>
          <a:prstGeom prst="rect">
            <a:avLst/>
          </a:prstGeom>
          <a:noFill/>
          <a:ln/>
        </p:spPr>
        <p:txBody>
          <a:bodyPr wrap="square" lIns="0" tIns="0" rIns="0" bIns="0" rtlCol="0" anchor="t"/>
          <a:lstStyle/>
          <a:p>
            <a:pPr indent="0" marL="0">
              <a:lnSpc>
                <a:spcPct val="118000"/>
              </a:lnSpc>
              <a:spcAft>
                <a:spcPts val="600"/>
              </a:spcAft>
              <a:buNone/>
            </a:pPr>
            <a:r>
              <a:rPr lang="en-US" sz="1150" b="1" dirty="0">
                <a:solidFill>
                  <a:srgbClr val="6D28D9"/>
                </a:solidFill>
                <a:latin typeface="Calibri" pitchFamily="34" charset="0"/>
                <a:ea typeface="Calibri" pitchFamily="34" charset="-122"/>
                <a:cs typeface="Calibri" pitchFamily="34" charset="-120"/>
              </a:rPr>
              <a:t>Perceptrons (1969): </a:t>
            </a:r>
            <a:pPr indent="0" marL="0">
              <a:lnSpc>
                <a:spcPct val="118000"/>
              </a:lnSpc>
              <a:spcAft>
                <a:spcPts val="600"/>
              </a:spcAft>
              <a:buNone/>
            </a:pPr>
            <a:r>
              <a:rPr lang="en-US" sz="1150" dirty="0">
                <a:solidFill>
                  <a:srgbClr val="1F2933"/>
                </a:solidFill>
                <a:latin typeface="Calibri" pitchFamily="34" charset="0"/>
                <a:ea typeface="Calibri" pitchFamily="34" charset="-122"/>
                <a:cs typeface="Calibri" pitchFamily="34" charset="-120"/>
              </a:rPr>
              <a:t>Minsky and Papert prove that a simple network can learn only what it can represent</a:t>
            </a:r>
            <a:endParaRPr lang="en-US" sz="1150" dirty="0"/>
          </a:p>
          <a:p>
            <a:pPr indent="0" marL="0">
              <a:lnSpc>
                <a:spcPct val="118000"/>
              </a:lnSpc>
              <a:spcAft>
                <a:spcPts val="600"/>
              </a:spcAft>
              <a:buNone/>
            </a:pPr>
            <a:r>
              <a:rPr lang="en-US" sz="1150" b="1" dirty="0">
                <a:solidFill>
                  <a:srgbClr val="6D28D9"/>
                </a:solidFill>
                <a:latin typeface="Calibri" pitchFamily="34" charset="0"/>
                <a:ea typeface="Calibri" pitchFamily="34" charset="-122"/>
                <a:cs typeface="Calibri" pitchFamily="34" charset="-120"/>
              </a:rPr>
              <a:t>The famous case: </a:t>
            </a:r>
            <a:pPr indent="0" marL="0">
              <a:lnSpc>
                <a:spcPct val="118000"/>
              </a:lnSpc>
              <a:spcAft>
                <a:spcPts val="600"/>
              </a:spcAft>
              <a:buNone/>
            </a:pPr>
            <a:r>
              <a:rPr lang="en-US" sz="1150" dirty="0">
                <a:solidFill>
                  <a:srgbClr val="1F2933"/>
                </a:solidFill>
                <a:latin typeface="Calibri" pitchFamily="34" charset="0"/>
                <a:ea typeface="Calibri" pitchFamily="34" charset="-122"/>
                <a:cs typeface="Calibri" pitchFamily="34" charset="-120"/>
              </a:rPr>
              <a:t>a two-input perceptron cannot represent exclusive-or</a:t>
            </a:r>
            <a:endParaRPr lang="en-US" sz="1150" dirty="0"/>
          </a:p>
          <a:p>
            <a:pPr indent="0" marL="0">
              <a:lnSpc>
                <a:spcPct val="118000"/>
              </a:lnSpc>
              <a:spcAft>
                <a:spcPts val="600"/>
              </a:spcAft>
              <a:buNone/>
            </a:pPr>
            <a:r>
              <a:rPr lang="en-US" sz="1150" b="1" dirty="0">
                <a:solidFill>
                  <a:srgbClr val="6D28D9"/>
                </a:solidFill>
                <a:latin typeface="Calibri" pitchFamily="34" charset="0"/>
                <a:ea typeface="Calibri" pitchFamily="34" charset="-122"/>
                <a:cs typeface="Calibri" pitchFamily="34" charset="-120"/>
              </a:rPr>
              <a:t>Effect: </a:t>
            </a:r>
            <a:pPr indent="0" marL="0">
              <a:lnSpc>
                <a:spcPct val="118000"/>
              </a:lnSpc>
              <a:spcAft>
                <a:spcPts val="600"/>
              </a:spcAft>
              <a:buNone/>
            </a:pPr>
            <a:r>
              <a:rPr lang="en-US" sz="1150" dirty="0">
                <a:solidFill>
                  <a:srgbClr val="1F2933"/>
                </a:solidFill>
                <a:latin typeface="Calibri" pitchFamily="34" charset="0"/>
                <a:ea typeface="Calibri" pitchFamily="34" charset="-122"/>
                <a:cs typeface="Calibri" pitchFamily="34" charset="-120"/>
              </a:rPr>
              <a:t>funding and interest in neural networks fell away for over a decade</a:t>
            </a:r>
            <a:endParaRPr lang="en-US" sz="1150" dirty="0"/>
          </a:p>
        </p:txBody>
      </p:sp>
      <p:sp>
        <p:nvSpPr>
          <p:cNvPr id="19" name="Shape 17"/>
          <p:cNvSpPr/>
          <p:nvPr/>
        </p:nvSpPr>
        <p:spPr>
          <a:xfrm>
            <a:off x="594360" y="4553712"/>
            <a:ext cx="11018520" cy="749808"/>
          </a:xfrm>
          <a:prstGeom prst="roundRect">
            <a:avLst>
              <a:gd name="adj" fmla="val 731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0" name="Shape 18"/>
          <p:cNvSpPr/>
          <p:nvPr/>
        </p:nvSpPr>
        <p:spPr>
          <a:xfrm>
            <a:off x="594360" y="4553712"/>
            <a:ext cx="109728" cy="749808"/>
          </a:xfrm>
          <a:prstGeom prst="rect">
            <a:avLst/>
          </a:prstGeom>
          <a:solidFill>
            <a:srgbClr val="C1121F"/>
          </a:solidFill>
          <a:ln w="12700">
            <a:solidFill>
              <a:srgbClr val="C1121F"/>
            </a:solidFill>
            <a:prstDash val="solid"/>
          </a:ln>
        </p:spPr>
      </p:sp>
      <p:sp>
        <p:nvSpPr>
          <p:cNvPr id="21" name="Text 19"/>
          <p:cNvSpPr/>
          <p:nvPr/>
        </p:nvSpPr>
        <p:spPr>
          <a:xfrm>
            <a:off x="914400" y="4718304"/>
            <a:ext cx="1828800" cy="274320"/>
          </a:xfrm>
          <a:prstGeom prst="rect">
            <a:avLst/>
          </a:prstGeom>
          <a:noFill/>
          <a:ln/>
        </p:spPr>
        <p:txBody>
          <a:bodyPr wrap="square" lIns="0" tIns="0" rIns="0" bIns="0" rtlCol="0" anchor="ctr"/>
          <a:lstStyle/>
          <a:p>
            <a:pPr indent="0" marL="0">
              <a:buNone/>
            </a:pPr>
            <a:r>
              <a:rPr lang="en-US" sz="1450" b="1" dirty="0">
                <a:solidFill>
                  <a:srgbClr val="C1121F"/>
                </a:solidFill>
                <a:latin typeface="Calibri" pitchFamily="34" charset="0"/>
                <a:ea typeface="Calibri" pitchFamily="34" charset="-122"/>
                <a:cs typeface="Calibri" pitchFamily="34" charset="-120"/>
              </a:rPr>
              <a:t>Consequences</a:t>
            </a:r>
            <a:endParaRPr lang="en-US" sz="1450" dirty="0"/>
          </a:p>
        </p:txBody>
      </p:sp>
      <p:sp>
        <p:nvSpPr>
          <p:cNvPr id="22" name="Text 20"/>
          <p:cNvSpPr/>
          <p:nvPr/>
        </p:nvSpPr>
        <p:spPr>
          <a:xfrm>
            <a:off x="2880360" y="4681728"/>
            <a:ext cx="8503920" cy="502920"/>
          </a:xfrm>
          <a:prstGeom prst="rect">
            <a:avLst/>
          </a:prstGeom>
          <a:noFill/>
          <a:ln/>
        </p:spPr>
        <p:txBody>
          <a:bodyPr wrap="square" lIns="0" tIns="0" rIns="0" bIns="0" rtlCol="0" anchor="ctr"/>
          <a:lstStyle/>
          <a:p>
            <a:pPr indent="0" marL="0">
              <a:lnSpc>
                <a:spcPct val="110000"/>
              </a:lnSpc>
              <a:buNone/>
            </a:pPr>
            <a:r>
              <a:rPr lang="en-US" sz="1250" dirty="0">
                <a:solidFill>
                  <a:srgbClr val="1F2933"/>
                </a:solidFill>
                <a:latin typeface="Calibri" pitchFamily="34" charset="0"/>
                <a:ea typeface="Calibri" pitchFamily="34" charset="-122"/>
                <a:cs typeface="Calibri" pitchFamily="34" charset="-120"/>
              </a:rPr>
              <a:t>US funding for machine translation was cancelled. The 1973 Lighthill report, which centered on the failure to handle combinatorial explosion, led the British government to end AI support at all but two universities.</a:t>
            </a:r>
            <a:endParaRPr lang="en-US" sz="1250" dirty="0"/>
          </a:p>
        </p:txBody>
      </p:sp>
      <p:sp>
        <p:nvSpPr>
          <p:cNvPr id="23" name="Shape 21"/>
          <p:cNvSpPr/>
          <p:nvPr/>
        </p:nvSpPr>
        <p:spPr>
          <a:xfrm>
            <a:off x="1249528" y="5504688"/>
            <a:ext cx="9692640" cy="603504"/>
          </a:xfrm>
          <a:prstGeom prst="roundRect">
            <a:avLst>
              <a:gd name="adj" fmla="val 9091"/>
            </a:avLst>
          </a:prstGeom>
          <a:solidFill>
            <a:srgbClr val="C1121F"/>
          </a:solidFill>
          <a:ln w="12700">
            <a:solidFill>
              <a:srgbClr val="C1121F"/>
            </a:solidFill>
            <a:prstDash val="solid"/>
          </a:ln>
        </p:spPr>
      </p:sp>
      <p:sp>
        <p:nvSpPr>
          <p:cNvPr id="24" name="Text 22"/>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the first AI winter came from a computational limit, not a lack of effort; scaling to real problems needed different methods.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1.3.4</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Expert Systems: Knowledge Beats General Search</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Text 4"/>
          <p:cNvSpPr/>
          <p:nvPr/>
        </p:nvSpPr>
        <p:spPr>
          <a:xfrm>
            <a:off x="822960" y="1353312"/>
            <a:ext cx="10515600" cy="292608"/>
          </a:xfrm>
          <a:prstGeom prst="rect">
            <a:avLst/>
          </a:prstGeom>
          <a:noFill/>
          <a:ln/>
        </p:spPr>
        <p:txBody>
          <a:bodyPr wrap="square" lIns="0" tIns="0" rIns="0" bIns="0" rtlCol="0" anchor="ctr"/>
          <a:lstStyle/>
          <a:p>
            <a:pPr indent="0" marL="0">
              <a:buNone/>
            </a:pPr>
            <a:r>
              <a:rPr lang="en-US" sz="1800" b="1" dirty="0">
                <a:solidFill>
                  <a:srgbClr val="102A43"/>
                </a:solidFill>
                <a:latin typeface="Calibri" pitchFamily="34" charset="0"/>
                <a:ea typeface="Calibri" pitchFamily="34" charset="-122"/>
                <a:cs typeface="Calibri" pitchFamily="34" charset="-120"/>
              </a:rPr>
              <a:t>Weak methods are general but do not scale; the fix was to load in large amounts of domain knowledge</a:t>
            </a:r>
            <a:endParaRPr lang="en-US" sz="1800" dirty="0"/>
          </a:p>
        </p:txBody>
      </p:sp>
      <p:sp>
        <p:nvSpPr>
          <p:cNvPr id="7" name="Shape 5"/>
          <p:cNvSpPr/>
          <p:nvPr/>
        </p:nvSpPr>
        <p:spPr>
          <a:xfrm>
            <a:off x="594360" y="1755648"/>
            <a:ext cx="2679192" cy="2651760"/>
          </a:xfrm>
          <a:prstGeom prst="roundRect">
            <a:avLst>
              <a:gd name="adj" fmla="val 2069"/>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8" name="Shape 6"/>
          <p:cNvSpPr/>
          <p:nvPr/>
        </p:nvSpPr>
        <p:spPr>
          <a:xfrm>
            <a:off x="594360" y="1755648"/>
            <a:ext cx="2679192" cy="146304"/>
          </a:xfrm>
          <a:prstGeom prst="rect">
            <a:avLst/>
          </a:prstGeom>
          <a:solidFill>
            <a:srgbClr val="247BA0"/>
          </a:solidFill>
          <a:ln w="12700">
            <a:solidFill>
              <a:srgbClr val="247BA0"/>
            </a:solidFill>
            <a:prstDash val="solid"/>
          </a:ln>
        </p:spPr>
      </p:sp>
      <p:sp>
        <p:nvSpPr>
          <p:cNvPr id="9" name="Text 7"/>
          <p:cNvSpPr/>
          <p:nvPr/>
        </p:nvSpPr>
        <p:spPr>
          <a:xfrm>
            <a:off x="795528" y="2011680"/>
            <a:ext cx="2286000" cy="292608"/>
          </a:xfrm>
          <a:prstGeom prst="rect">
            <a:avLst/>
          </a:prstGeom>
          <a:noFill/>
          <a:ln/>
        </p:spPr>
        <p:txBody>
          <a:bodyPr wrap="square" lIns="0" tIns="0" rIns="0" bIns="0" rtlCol="0" anchor="ctr"/>
          <a:lstStyle/>
          <a:p>
            <a:pPr indent="0" marL="0">
              <a:buNone/>
            </a:pPr>
            <a:r>
              <a:rPr lang="en-US" sz="1650" b="1" dirty="0">
                <a:solidFill>
                  <a:srgbClr val="102A43"/>
                </a:solidFill>
                <a:latin typeface="Calibri" pitchFamily="34" charset="0"/>
                <a:ea typeface="Calibri" pitchFamily="34" charset="-122"/>
                <a:cs typeface="Calibri" pitchFamily="34" charset="-120"/>
              </a:rPr>
              <a:t>DENDRAL</a:t>
            </a:r>
            <a:endParaRPr lang="en-US" sz="1650" dirty="0"/>
          </a:p>
        </p:txBody>
      </p:sp>
      <p:sp>
        <p:nvSpPr>
          <p:cNvPr id="10" name="Text 8"/>
          <p:cNvSpPr/>
          <p:nvPr/>
        </p:nvSpPr>
        <p:spPr>
          <a:xfrm>
            <a:off x="795528" y="2377440"/>
            <a:ext cx="2286000" cy="1874520"/>
          </a:xfrm>
          <a:prstGeom prst="rect">
            <a:avLst/>
          </a:prstGeom>
          <a:noFill/>
          <a:ln/>
        </p:spPr>
        <p:txBody>
          <a:bodyPr wrap="square" lIns="0" tIns="0" rIns="0" bIns="0" rtlCol="0" anchor="t"/>
          <a:lstStyle/>
          <a:p>
            <a:pPr indent="0" marL="0">
              <a:lnSpc>
                <a:spcPct val="114000"/>
              </a:lnSpc>
              <a:buNone/>
            </a:pPr>
            <a:r>
              <a:rPr lang="en-US" sz="1100" dirty="0">
                <a:solidFill>
                  <a:srgbClr val="1F2933"/>
                </a:solidFill>
                <a:latin typeface="Calibri" pitchFamily="34" charset="0"/>
                <a:ea typeface="Calibri" pitchFamily="34" charset="-122"/>
                <a:cs typeface="Calibri" pitchFamily="34" charset="-120"/>
              </a:rPr>
              <a:t>Infers molecular structure from mass spectrometry. Chemists' pattern-recognition rules replaced blind enumeration, which was intractable even for moderate molecules. The first knowledge-intensive system.</a:t>
            </a:r>
            <a:endParaRPr lang="en-US" sz="1100" dirty="0"/>
          </a:p>
        </p:txBody>
      </p:sp>
      <p:sp>
        <p:nvSpPr>
          <p:cNvPr id="11" name="Shape 9"/>
          <p:cNvSpPr/>
          <p:nvPr/>
        </p:nvSpPr>
        <p:spPr>
          <a:xfrm>
            <a:off x="3392424" y="1755648"/>
            <a:ext cx="2679192" cy="2651760"/>
          </a:xfrm>
          <a:prstGeom prst="roundRect">
            <a:avLst>
              <a:gd name="adj" fmla="val 2069"/>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2" name="Shape 10"/>
          <p:cNvSpPr/>
          <p:nvPr/>
        </p:nvSpPr>
        <p:spPr>
          <a:xfrm>
            <a:off x="3392424" y="1755648"/>
            <a:ext cx="2679192" cy="146304"/>
          </a:xfrm>
          <a:prstGeom prst="rect">
            <a:avLst/>
          </a:prstGeom>
          <a:solidFill>
            <a:srgbClr val="6D28D9"/>
          </a:solidFill>
          <a:ln w="12700">
            <a:solidFill>
              <a:srgbClr val="6D28D9"/>
            </a:solidFill>
            <a:prstDash val="solid"/>
          </a:ln>
        </p:spPr>
      </p:sp>
      <p:sp>
        <p:nvSpPr>
          <p:cNvPr id="13" name="Text 11"/>
          <p:cNvSpPr/>
          <p:nvPr/>
        </p:nvSpPr>
        <p:spPr>
          <a:xfrm>
            <a:off x="3593592" y="2011680"/>
            <a:ext cx="2286000" cy="292608"/>
          </a:xfrm>
          <a:prstGeom prst="rect">
            <a:avLst/>
          </a:prstGeom>
          <a:noFill/>
          <a:ln/>
        </p:spPr>
        <p:txBody>
          <a:bodyPr wrap="square" lIns="0" tIns="0" rIns="0" bIns="0" rtlCol="0" anchor="ctr"/>
          <a:lstStyle/>
          <a:p>
            <a:pPr indent="0" marL="0">
              <a:buNone/>
            </a:pPr>
            <a:r>
              <a:rPr lang="en-US" sz="1650" b="1" dirty="0">
                <a:solidFill>
                  <a:srgbClr val="102A43"/>
                </a:solidFill>
                <a:latin typeface="Calibri" pitchFamily="34" charset="0"/>
                <a:ea typeface="Calibri" pitchFamily="34" charset="-122"/>
                <a:cs typeface="Calibri" pitchFamily="34" charset="-120"/>
              </a:rPr>
              <a:t>MYCIN</a:t>
            </a:r>
            <a:endParaRPr lang="en-US" sz="1650" dirty="0"/>
          </a:p>
        </p:txBody>
      </p:sp>
      <p:sp>
        <p:nvSpPr>
          <p:cNvPr id="14" name="Text 12"/>
          <p:cNvSpPr/>
          <p:nvPr/>
        </p:nvSpPr>
        <p:spPr>
          <a:xfrm>
            <a:off x="3593592" y="2377440"/>
            <a:ext cx="2286000" cy="1874520"/>
          </a:xfrm>
          <a:prstGeom prst="rect">
            <a:avLst/>
          </a:prstGeom>
          <a:noFill/>
          <a:ln/>
        </p:spPr>
        <p:txBody>
          <a:bodyPr wrap="square" lIns="0" tIns="0" rIns="0" bIns="0" rtlCol="0" anchor="t"/>
          <a:lstStyle/>
          <a:p>
            <a:pPr indent="0" marL="0">
              <a:lnSpc>
                <a:spcPct val="114000"/>
              </a:lnSpc>
              <a:buNone/>
            </a:pPr>
            <a:r>
              <a:rPr lang="en-US" sz="1100" dirty="0">
                <a:solidFill>
                  <a:srgbClr val="1F2933"/>
                </a:solidFill>
                <a:latin typeface="Calibri" pitchFamily="34" charset="0"/>
                <a:ea typeface="Calibri" pitchFamily="34" charset="-122"/>
                <a:cs typeface="Calibri" pitchFamily="34" charset="-120"/>
              </a:rPr>
              <a:t>Diagnoses blood infections with about 450 rules, performing on par with some experts. No underlying theory to derive rules from, so they were elicited from practitioners, with certainty factors for uncertainty.</a:t>
            </a:r>
            <a:endParaRPr lang="en-US" sz="1100" dirty="0"/>
          </a:p>
        </p:txBody>
      </p:sp>
      <p:sp>
        <p:nvSpPr>
          <p:cNvPr id="15" name="Shape 13"/>
          <p:cNvSpPr/>
          <p:nvPr/>
        </p:nvSpPr>
        <p:spPr>
          <a:xfrm>
            <a:off x="6190488" y="1755648"/>
            <a:ext cx="2679192" cy="2651760"/>
          </a:xfrm>
          <a:prstGeom prst="roundRect">
            <a:avLst>
              <a:gd name="adj" fmla="val 2069"/>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6" name="Shape 14"/>
          <p:cNvSpPr/>
          <p:nvPr/>
        </p:nvSpPr>
        <p:spPr>
          <a:xfrm>
            <a:off x="6190488" y="1755648"/>
            <a:ext cx="2679192" cy="146304"/>
          </a:xfrm>
          <a:prstGeom prst="rect">
            <a:avLst/>
          </a:prstGeom>
          <a:solidFill>
            <a:srgbClr val="55A630"/>
          </a:solidFill>
          <a:ln w="12700">
            <a:solidFill>
              <a:srgbClr val="55A630"/>
            </a:solidFill>
            <a:prstDash val="solid"/>
          </a:ln>
        </p:spPr>
      </p:sp>
      <p:sp>
        <p:nvSpPr>
          <p:cNvPr id="17" name="Text 15"/>
          <p:cNvSpPr/>
          <p:nvPr/>
        </p:nvSpPr>
        <p:spPr>
          <a:xfrm>
            <a:off x="6391656" y="2011680"/>
            <a:ext cx="2286000" cy="292608"/>
          </a:xfrm>
          <a:prstGeom prst="rect">
            <a:avLst/>
          </a:prstGeom>
          <a:noFill/>
          <a:ln/>
        </p:spPr>
        <p:txBody>
          <a:bodyPr wrap="square" lIns="0" tIns="0" rIns="0" bIns="0" rtlCol="0" anchor="ctr"/>
          <a:lstStyle/>
          <a:p>
            <a:pPr indent="0" marL="0">
              <a:buNone/>
            </a:pPr>
            <a:r>
              <a:rPr lang="en-US" sz="1650" b="1" dirty="0">
                <a:solidFill>
                  <a:srgbClr val="102A43"/>
                </a:solidFill>
                <a:latin typeface="Calibri" pitchFamily="34" charset="0"/>
                <a:ea typeface="Calibri" pitchFamily="34" charset="-122"/>
                <a:cs typeface="Calibri" pitchFamily="34" charset="-120"/>
              </a:rPr>
              <a:t>R1 at DEC</a:t>
            </a:r>
            <a:endParaRPr lang="en-US" sz="1650" dirty="0"/>
          </a:p>
        </p:txBody>
      </p:sp>
      <p:sp>
        <p:nvSpPr>
          <p:cNvPr id="18" name="Text 16"/>
          <p:cNvSpPr/>
          <p:nvPr/>
        </p:nvSpPr>
        <p:spPr>
          <a:xfrm>
            <a:off x="6391656" y="2377440"/>
            <a:ext cx="2286000" cy="1874520"/>
          </a:xfrm>
          <a:prstGeom prst="rect">
            <a:avLst/>
          </a:prstGeom>
          <a:noFill/>
          <a:ln/>
        </p:spPr>
        <p:txBody>
          <a:bodyPr wrap="square" lIns="0" tIns="0" rIns="0" bIns="0" rtlCol="0" anchor="t"/>
          <a:lstStyle/>
          <a:p>
            <a:pPr indent="0" marL="0">
              <a:lnSpc>
                <a:spcPct val="114000"/>
              </a:lnSpc>
              <a:buNone/>
            </a:pPr>
            <a:r>
              <a:rPr lang="en-US" sz="1100" dirty="0">
                <a:solidFill>
                  <a:srgbClr val="1F2933"/>
                </a:solidFill>
                <a:latin typeface="Calibri" pitchFamily="34" charset="0"/>
                <a:ea typeface="Calibri" pitchFamily="34" charset="-122"/>
                <a:cs typeface="Calibri" pitchFamily="34" charset="-120"/>
              </a:rPr>
              <a:t>Configured orders for computer systems and was the first commercially successful expert system, saving an estimated forty million dollars a year by 1986. Industry adoption followed quickly.</a:t>
            </a:r>
            <a:endParaRPr lang="en-US" sz="1100" dirty="0"/>
          </a:p>
        </p:txBody>
      </p:sp>
      <p:sp>
        <p:nvSpPr>
          <p:cNvPr id="19" name="Shape 17"/>
          <p:cNvSpPr/>
          <p:nvPr/>
        </p:nvSpPr>
        <p:spPr>
          <a:xfrm>
            <a:off x="8988552" y="1755648"/>
            <a:ext cx="2679192" cy="2651760"/>
          </a:xfrm>
          <a:prstGeom prst="roundRect">
            <a:avLst>
              <a:gd name="adj" fmla="val 2069"/>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0" name="Shape 18"/>
          <p:cNvSpPr/>
          <p:nvPr/>
        </p:nvSpPr>
        <p:spPr>
          <a:xfrm>
            <a:off x="8988552" y="1755648"/>
            <a:ext cx="2679192" cy="146304"/>
          </a:xfrm>
          <a:prstGeom prst="rect">
            <a:avLst/>
          </a:prstGeom>
          <a:solidFill>
            <a:srgbClr val="F97316"/>
          </a:solidFill>
          <a:ln w="12700">
            <a:solidFill>
              <a:srgbClr val="F97316"/>
            </a:solidFill>
            <a:prstDash val="solid"/>
          </a:ln>
        </p:spPr>
      </p:sp>
      <p:sp>
        <p:nvSpPr>
          <p:cNvPr id="21" name="Text 19"/>
          <p:cNvSpPr/>
          <p:nvPr/>
        </p:nvSpPr>
        <p:spPr>
          <a:xfrm>
            <a:off x="9189720" y="2011680"/>
            <a:ext cx="2286000" cy="292608"/>
          </a:xfrm>
          <a:prstGeom prst="rect">
            <a:avLst/>
          </a:prstGeom>
          <a:noFill/>
          <a:ln/>
        </p:spPr>
        <p:txBody>
          <a:bodyPr wrap="square" lIns="0" tIns="0" rIns="0" bIns="0" rtlCol="0" anchor="ctr"/>
          <a:lstStyle/>
          <a:p>
            <a:pPr indent="0" marL="0">
              <a:buNone/>
            </a:pPr>
            <a:r>
              <a:rPr lang="en-US" sz="1650" b="1" dirty="0">
                <a:solidFill>
                  <a:srgbClr val="102A43"/>
                </a:solidFill>
                <a:latin typeface="Calibri" pitchFamily="34" charset="0"/>
                <a:ea typeface="Calibri" pitchFamily="34" charset="-122"/>
                <a:cs typeface="Calibri" pitchFamily="34" charset="-120"/>
              </a:rPr>
              <a:t>National programs</a:t>
            </a:r>
            <a:endParaRPr lang="en-US" sz="1650" dirty="0"/>
          </a:p>
        </p:txBody>
      </p:sp>
      <p:sp>
        <p:nvSpPr>
          <p:cNvPr id="22" name="Text 20"/>
          <p:cNvSpPr/>
          <p:nvPr/>
        </p:nvSpPr>
        <p:spPr>
          <a:xfrm>
            <a:off x="9189720" y="2377440"/>
            <a:ext cx="2286000" cy="1874520"/>
          </a:xfrm>
          <a:prstGeom prst="rect">
            <a:avLst/>
          </a:prstGeom>
          <a:noFill/>
          <a:ln/>
        </p:spPr>
        <p:txBody>
          <a:bodyPr wrap="square" lIns="0" tIns="0" rIns="0" bIns="0" rtlCol="0" anchor="t"/>
          <a:lstStyle/>
          <a:p>
            <a:pPr indent="0" marL="0">
              <a:lnSpc>
                <a:spcPct val="114000"/>
              </a:lnSpc>
              <a:buNone/>
            </a:pPr>
            <a:r>
              <a:rPr lang="en-US" sz="1100" dirty="0">
                <a:solidFill>
                  <a:srgbClr val="1F2933"/>
                </a:solidFill>
                <a:latin typeface="Calibri" pitchFamily="34" charset="0"/>
                <a:ea typeface="Calibri" pitchFamily="34" charset="-122"/>
                <a:cs typeface="Calibri" pitchFamily="34" charset="-120"/>
              </a:rPr>
              <a:t>Japan's Fifth Generation project in 1981 aimed at massively parallel Prolog machines. The United States responded with the MCC consortium, and Britain with the Alvey program.</a:t>
            </a:r>
            <a:endParaRPr lang="en-US" sz="1100" dirty="0"/>
          </a:p>
        </p:txBody>
      </p:sp>
      <p:sp>
        <p:nvSpPr>
          <p:cNvPr id="23" name="Shape 21"/>
          <p:cNvSpPr/>
          <p:nvPr/>
        </p:nvSpPr>
        <p:spPr>
          <a:xfrm>
            <a:off x="594360" y="4590288"/>
            <a:ext cx="11018520" cy="713232"/>
          </a:xfrm>
          <a:prstGeom prst="roundRect">
            <a:avLst>
              <a:gd name="adj" fmla="val 7692"/>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4" name="Shape 22"/>
          <p:cNvSpPr/>
          <p:nvPr/>
        </p:nvSpPr>
        <p:spPr>
          <a:xfrm>
            <a:off x="594360" y="4590288"/>
            <a:ext cx="109728" cy="713232"/>
          </a:xfrm>
          <a:prstGeom prst="rect">
            <a:avLst/>
          </a:prstGeom>
          <a:solidFill>
            <a:srgbClr val="C1121F"/>
          </a:solidFill>
          <a:ln w="12700">
            <a:solidFill>
              <a:srgbClr val="C1121F"/>
            </a:solidFill>
            <a:prstDash val="solid"/>
          </a:ln>
        </p:spPr>
      </p:sp>
      <p:sp>
        <p:nvSpPr>
          <p:cNvPr id="25" name="Text 23"/>
          <p:cNvSpPr/>
          <p:nvPr/>
        </p:nvSpPr>
        <p:spPr>
          <a:xfrm>
            <a:off x="914400" y="4736592"/>
            <a:ext cx="1828800" cy="274320"/>
          </a:xfrm>
          <a:prstGeom prst="rect">
            <a:avLst/>
          </a:prstGeom>
          <a:noFill/>
          <a:ln/>
        </p:spPr>
        <p:txBody>
          <a:bodyPr wrap="square" lIns="0" tIns="0" rIns="0" bIns="0" rtlCol="0" anchor="ctr"/>
          <a:lstStyle/>
          <a:p>
            <a:pPr indent="0" marL="0">
              <a:buNone/>
            </a:pPr>
            <a:r>
              <a:rPr lang="en-US" sz="1450" b="1" dirty="0">
                <a:solidFill>
                  <a:srgbClr val="C1121F"/>
                </a:solidFill>
                <a:latin typeface="Calibri" pitchFamily="34" charset="0"/>
                <a:ea typeface="Calibri" pitchFamily="34" charset="-122"/>
                <a:cs typeface="Calibri" pitchFamily="34" charset="-120"/>
              </a:rPr>
              <a:t>The AI winter</a:t>
            </a:r>
            <a:endParaRPr lang="en-US" sz="1450" dirty="0"/>
          </a:p>
        </p:txBody>
      </p:sp>
      <p:sp>
        <p:nvSpPr>
          <p:cNvPr id="26" name="Text 24"/>
          <p:cNvSpPr/>
          <p:nvPr/>
        </p:nvSpPr>
        <p:spPr>
          <a:xfrm>
            <a:off x="2880360" y="4681728"/>
            <a:ext cx="8503920" cy="502920"/>
          </a:xfrm>
          <a:prstGeom prst="rect">
            <a:avLst/>
          </a:prstGeom>
          <a:noFill/>
          <a:ln/>
        </p:spPr>
        <p:txBody>
          <a:bodyPr wrap="square" lIns="0" tIns="0" rIns="0" bIns="0" rtlCol="0" anchor="ctr"/>
          <a:lstStyle/>
          <a:p>
            <a:pPr indent="0" marL="0">
              <a:lnSpc>
                <a:spcPct val="110000"/>
              </a:lnSpc>
              <a:buNone/>
            </a:pPr>
            <a:r>
              <a:rPr lang="en-US" sz="1250" dirty="0">
                <a:solidFill>
                  <a:srgbClr val="1F2933"/>
                </a:solidFill>
                <a:latin typeface="Calibri" pitchFamily="34" charset="0"/>
                <a:ea typeface="Calibri" pitchFamily="34" charset="-122"/>
                <a:cs typeface="Calibri" pitchFamily="34" charset="-120"/>
              </a:rPr>
              <a:t>The industry grew from a few million dollars in 1980 to billions by 1988, then collapsed. Expert systems were brittle under uncertainty, could not learn from experience, and were expensive to build and maintain.</a:t>
            </a:r>
            <a:endParaRPr lang="en-US" sz="1250" dirty="0"/>
          </a:p>
        </p:txBody>
      </p:sp>
      <p:sp>
        <p:nvSpPr>
          <p:cNvPr id="27" name="Shape 25"/>
          <p:cNvSpPr/>
          <p:nvPr/>
        </p:nvSpPr>
        <p:spPr>
          <a:xfrm>
            <a:off x="1249528" y="5504688"/>
            <a:ext cx="9692640" cy="603504"/>
          </a:xfrm>
          <a:prstGeom prst="roundRect">
            <a:avLst>
              <a:gd name="adj" fmla="val 9091"/>
            </a:avLst>
          </a:prstGeom>
          <a:solidFill>
            <a:srgbClr val="F97316"/>
          </a:solidFill>
          <a:ln w="12700">
            <a:solidFill>
              <a:srgbClr val="F97316"/>
            </a:solidFill>
            <a:prstDash val="solid"/>
          </a:ln>
        </p:spPr>
      </p:sp>
      <p:sp>
        <p:nvSpPr>
          <p:cNvPr id="28" name="Text 26"/>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domain knowledge outperformed general search, but hand-built knowledge proved brittle, unable to learn, and costly to maintain.</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1.3.5 · 1.3.6</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Neural Networks Return; Probability and Learning Take Over</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417320"/>
            <a:ext cx="5394960" cy="3840480"/>
          </a:xfrm>
          <a:prstGeom prst="roundRect">
            <a:avLst>
              <a:gd name="adj" fmla="val 1429"/>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Shape 5"/>
          <p:cNvSpPr/>
          <p:nvPr/>
        </p:nvSpPr>
        <p:spPr>
          <a:xfrm>
            <a:off x="594360" y="1417320"/>
            <a:ext cx="5394960" cy="146304"/>
          </a:xfrm>
          <a:prstGeom prst="rect">
            <a:avLst/>
          </a:prstGeom>
          <a:solidFill>
            <a:srgbClr val="70C1B3"/>
          </a:solidFill>
          <a:ln w="12700">
            <a:solidFill>
              <a:srgbClr val="70C1B3"/>
            </a:solidFill>
            <a:prstDash val="solid"/>
          </a:ln>
        </p:spPr>
      </p:sp>
      <p:sp>
        <p:nvSpPr>
          <p:cNvPr id="8" name="Text 6"/>
          <p:cNvSpPr/>
          <p:nvPr/>
        </p:nvSpPr>
        <p:spPr>
          <a:xfrm>
            <a:off x="868680" y="1691640"/>
            <a:ext cx="4846320" cy="292608"/>
          </a:xfrm>
          <a:prstGeom prst="rect">
            <a:avLst/>
          </a:prstGeom>
          <a:noFill/>
          <a:ln/>
        </p:spPr>
        <p:txBody>
          <a:bodyPr wrap="square" lIns="0" tIns="0" rIns="0" bIns="0" rtlCol="0" anchor="ctr"/>
          <a:lstStyle/>
          <a:p>
            <a:pPr indent="0" marL="0">
              <a:buNone/>
            </a:pPr>
            <a:r>
              <a:rPr lang="en-US" sz="1700" b="1" dirty="0">
                <a:solidFill>
                  <a:srgbClr val="102A43"/>
                </a:solidFill>
                <a:latin typeface="Calibri" pitchFamily="34" charset="0"/>
                <a:ea typeface="Calibri" pitchFamily="34" charset="-122"/>
                <a:cs typeface="Calibri" pitchFamily="34" charset="-120"/>
              </a:rPr>
              <a:t>1.3.5  Connectionism, 1986 onward</a:t>
            </a:r>
            <a:endParaRPr lang="en-US" sz="1700" dirty="0"/>
          </a:p>
        </p:txBody>
      </p:sp>
      <p:sp>
        <p:nvSpPr>
          <p:cNvPr id="9" name="Text 7"/>
          <p:cNvSpPr/>
          <p:nvPr/>
        </p:nvSpPr>
        <p:spPr>
          <a:xfrm>
            <a:off x="868680" y="2139696"/>
            <a:ext cx="4846320" cy="2926080"/>
          </a:xfrm>
          <a:prstGeom prst="rect">
            <a:avLst/>
          </a:prstGeom>
          <a:noFill/>
          <a:ln/>
        </p:spPr>
        <p:txBody>
          <a:bodyPr wrap="square" lIns="0" tIns="0" rIns="0" bIns="0" rtlCol="0" anchor="t"/>
          <a:lstStyle/>
          <a:p>
            <a:pPr indent="0" marL="0">
              <a:lnSpc>
                <a:spcPct val="118000"/>
              </a:lnSpc>
              <a:spcAft>
                <a:spcPts val="1100"/>
              </a:spcAft>
              <a:buNone/>
            </a:pPr>
            <a:r>
              <a:rPr lang="en-US" sz="1250" b="1" dirty="0">
                <a:solidFill>
                  <a:srgbClr val="70C1B3"/>
                </a:solidFill>
                <a:latin typeface="Calibri" pitchFamily="34" charset="0"/>
                <a:ea typeface="Calibri" pitchFamily="34" charset="-122"/>
                <a:cs typeface="Calibri" pitchFamily="34" charset="-120"/>
              </a:rPr>
              <a:t>Back-propagation: </a:t>
            </a:r>
            <a:pPr indent="0" marL="0">
              <a:lnSpc>
                <a:spcPct val="118000"/>
              </a:lnSpc>
              <a:spcAft>
                <a:spcPts val="1100"/>
              </a:spcAft>
              <a:buNone/>
            </a:pPr>
            <a:r>
              <a:rPr lang="en-US" sz="1250" dirty="0">
                <a:solidFill>
                  <a:srgbClr val="1F2933"/>
                </a:solidFill>
                <a:latin typeface="Calibri" pitchFamily="34" charset="0"/>
                <a:ea typeface="Calibri" pitchFamily="34" charset="-122"/>
                <a:cs typeface="Calibri" pitchFamily="34" charset="-120"/>
              </a:rPr>
              <a:t>reinvented by at least four groups in the mid-1980s, having first appeared in the early 1960s</a:t>
            </a:r>
            <a:endParaRPr lang="en-US" sz="1250" dirty="0"/>
          </a:p>
          <a:p>
            <a:pPr indent="0" marL="0">
              <a:lnSpc>
                <a:spcPct val="118000"/>
              </a:lnSpc>
              <a:spcAft>
                <a:spcPts val="1100"/>
              </a:spcAft>
              <a:buNone/>
            </a:pPr>
            <a:r>
              <a:rPr lang="en-US" sz="1250" b="1" dirty="0">
                <a:solidFill>
                  <a:srgbClr val="70C1B3"/>
                </a:solidFill>
                <a:latin typeface="Calibri" pitchFamily="34" charset="0"/>
                <a:ea typeface="Calibri" pitchFamily="34" charset="-122"/>
                <a:cs typeface="Calibri" pitchFamily="34" charset="-120"/>
              </a:rPr>
              <a:t>Parallel Distributed Processing: </a:t>
            </a:r>
            <a:pPr indent="0" marL="0">
              <a:lnSpc>
                <a:spcPct val="118000"/>
              </a:lnSpc>
              <a:spcAft>
                <a:spcPts val="1100"/>
              </a:spcAft>
              <a:buNone/>
            </a:pPr>
            <a:r>
              <a:rPr lang="en-US" sz="1250" dirty="0">
                <a:solidFill>
                  <a:srgbClr val="1F2933"/>
                </a:solidFill>
                <a:latin typeface="Calibri" pitchFamily="34" charset="0"/>
                <a:ea typeface="Calibri" pitchFamily="34" charset="-122"/>
                <a:cs typeface="Calibri" pitchFamily="34" charset="-120"/>
              </a:rPr>
              <a:t>the 1986 collection that spread the results and the excitement</a:t>
            </a:r>
            <a:endParaRPr lang="en-US" sz="1250" dirty="0"/>
          </a:p>
          <a:p>
            <a:pPr indent="0" marL="0">
              <a:lnSpc>
                <a:spcPct val="118000"/>
              </a:lnSpc>
              <a:spcAft>
                <a:spcPts val="1100"/>
              </a:spcAft>
              <a:buNone/>
            </a:pPr>
            <a:r>
              <a:rPr lang="en-US" sz="1250" b="1" dirty="0">
                <a:solidFill>
                  <a:srgbClr val="70C1B3"/>
                </a:solidFill>
                <a:latin typeface="Calibri" pitchFamily="34" charset="0"/>
                <a:ea typeface="Calibri" pitchFamily="34" charset="-122"/>
                <a:cs typeface="Calibri" pitchFamily="34" charset="-120"/>
              </a:rPr>
              <a:t>The debate: </a:t>
            </a:r>
            <a:pPr indent="0" marL="0">
              <a:lnSpc>
                <a:spcPct val="118000"/>
              </a:lnSpc>
              <a:spcAft>
                <a:spcPts val="1100"/>
              </a:spcAft>
              <a:buNone/>
            </a:pPr>
            <a:r>
              <a:rPr lang="en-US" sz="1250" dirty="0">
                <a:solidFill>
                  <a:srgbClr val="1F2933"/>
                </a:solidFill>
                <a:latin typeface="Calibri" pitchFamily="34" charset="0"/>
                <a:ea typeface="Calibri" pitchFamily="34" charset="-122"/>
                <a:cs typeface="Calibri" pitchFamily="34" charset="-120"/>
              </a:rPr>
              <a:t>connectionist models were framed as rivals to Newell and Simon's symbols and McCarthy's logic</a:t>
            </a:r>
            <a:endParaRPr lang="en-US" sz="1250" dirty="0"/>
          </a:p>
          <a:p>
            <a:pPr indent="0" marL="0">
              <a:lnSpc>
                <a:spcPct val="118000"/>
              </a:lnSpc>
              <a:spcAft>
                <a:spcPts val="1100"/>
              </a:spcAft>
              <a:buNone/>
            </a:pPr>
            <a:r>
              <a:rPr lang="en-US" sz="1250" b="1" dirty="0">
                <a:solidFill>
                  <a:srgbClr val="70C1B3"/>
                </a:solidFill>
                <a:latin typeface="Calibri" pitchFamily="34" charset="0"/>
                <a:ea typeface="Calibri" pitchFamily="34" charset="-122"/>
                <a:cs typeface="Calibri" pitchFamily="34" charset="-120"/>
              </a:rPr>
              <a:t>Where it settled: </a:t>
            </a:r>
            <a:pPr indent="0" marL="0">
              <a:lnSpc>
                <a:spcPct val="118000"/>
              </a:lnSpc>
              <a:spcAft>
                <a:spcPts val="1100"/>
              </a:spcAft>
              <a:buNone/>
            </a:pPr>
            <a:r>
              <a:rPr lang="en-US" sz="1250" dirty="0">
                <a:solidFill>
                  <a:srgbClr val="1F2933"/>
                </a:solidFill>
                <a:latin typeface="Calibri" pitchFamily="34" charset="0"/>
                <a:ea typeface="Calibri" pitchFamily="34" charset="-122"/>
                <a:cs typeface="Calibri" pitchFamily="34" charset="-120"/>
              </a:rPr>
              <a:t>the two are now treated as complementary rather than competing accounts</a:t>
            </a:r>
            <a:endParaRPr lang="en-US" sz="1250" dirty="0"/>
          </a:p>
        </p:txBody>
      </p:sp>
      <p:sp>
        <p:nvSpPr>
          <p:cNvPr id="10" name="Shape 8"/>
          <p:cNvSpPr/>
          <p:nvPr/>
        </p:nvSpPr>
        <p:spPr>
          <a:xfrm>
            <a:off x="6199632" y="1417320"/>
            <a:ext cx="5394960" cy="3840480"/>
          </a:xfrm>
          <a:prstGeom prst="roundRect">
            <a:avLst>
              <a:gd name="adj" fmla="val 1429"/>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1" name="Shape 9"/>
          <p:cNvSpPr/>
          <p:nvPr/>
        </p:nvSpPr>
        <p:spPr>
          <a:xfrm>
            <a:off x="6199632" y="1417320"/>
            <a:ext cx="5394960" cy="146304"/>
          </a:xfrm>
          <a:prstGeom prst="rect">
            <a:avLst/>
          </a:prstGeom>
          <a:solidFill>
            <a:srgbClr val="6D28D9"/>
          </a:solidFill>
          <a:ln w="12700">
            <a:solidFill>
              <a:srgbClr val="6D28D9"/>
            </a:solidFill>
            <a:prstDash val="solid"/>
          </a:ln>
        </p:spPr>
      </p:sp>
      <p:sp>
        <p:nvSpPr>
          <p:cNvPr id="12" name="Text 10"/>
          <p:cNvSpPr/>
          <p:nvPr/>
        </p:nvSpPr>
        <p:spPr>
          <a:xfrm>
            <a:off x="6473952" y="1691640"/>
            <a:ext cx="4846320" cy="292608"/>
          </a:xfrm>
          <a:prstGeom prst="rect">
            <a:avLst/>
          </a:prstGeom>
          <a:noFill/>
          <a:ln/>
        </p:spPr>
        <p:txBody>
          <a:bodyPr wrap="square" lIns="0" tIns="0" rIns="0" bIns="0" rtlCol="0" anchor="ctr"/>
          <a:lstStyle/>
          <a:p>
            <a:pPr indent="0" marL="0">
              <a:buNone/>
            </a:pPr>
            <a:r>
              <a:rPr lang="en-US" sz="1700" b="1" dirty="0">
                <a:solidFill>
                  <a:srgbClr val="102A43"/>
                </a:solidFill>
                <a:latin typeface="Calibri" pitchFamily="34" charset="0"/>
                <a:ea typeface="Calibri" pitchFamily="34" charset="-122"/>
                <a:cs typeface="Calibri" pitchFamily="34" charset="-120"/>
              </a:rPr>
              <a:t>1.3.6  Probability and machine learning, 1987 onward</a:t>
            </a:r>
            <a:endParaRPr lang="en-US" sz="1700" dirty="0"/>
          </a:p>
        </p:txBody>
      </p:sp>
      <p:sp>
        <p:nvSpPr>
          <p:cNvPr id="13" name="Text 11"/>
          <p:cNvSpPr/>
          <p:nvPr/>
        </p:nvSpPr>
        <p:spPr>
          <a:xfrm>
            <a:off x="6473952" y="2139696"/>
            <a:ext cx="4846320" cy="2926080"/>
          </a:xfrm>
          <a:prstGeom prst="rect">
            <a:avLst/>
          </a:prstGeom>
          <a:noFill/>
          <a:ln/>
        </p:spPr>
        <p:txBody>
          <a:bodyPr wrap="square" lIns="0" tIns="0" rIns="0" bIns="0" rtlCol="0" anchor="t"/>
          <a:lstStyle/>
          <a:p>
            <a:pPr indent="0" marL="0">
              <a:lnSpc>
                <a:spcPct val="118000"/>
              </a:lnSpc>
              <a:spcAft>
                <a:spcPts val="1100"/>
              </a:spcAft>
              <a:buNone/>
            </a:pPr>
            <a:r>
              <a:rPr lang="en-US" sz="1250" b="1" dirty="0">
                <a:solidFill>
                  <a:srgbClr val="6D28D9"/>
                </a:solidFill>
                <a:latin typeface="Calibri" pitchFamily="34" charset="0"/>
                <a:ea typeface="Calibri" pitchFamily="34" charset="-122"/>
                <a:cs typeface="Calibri" pitchFamily="34" charset="-120"/>
              </a:rPr>
              <a:t>Method shift: </a:t>
            </a:r>
            <a:pPr indent="0" marL="0">
              <a:lnSpc>
                <a:spcPct val="118000"/>
              </a:lnSpc>
              <a:spcAft>
                <a:spcPts val="1100"/>
              </a:spcAft>
              <a:buNone/>
            </a:pPr>
            <a:r>
              <a:rPr lang="en-US" sz="1250" dirty="0">
                <a:solidFill>
                  <a:srgbClr val="1F2933"/>
                </a:solidFill>
                <a:latin typeface="Calibri" pitchFamily="34" charset="0"/>
                <a:ea typeface="Calibri" pitchFamily="34" charset="-122"/>
                <a:cs typeface="Calibri" pitchFamily="34" charset="-120"/>
              </a:rPr>
              <a:t>probability instead of Boolean logic, learning instead of hand-coding, experiments instead of assertion</a:t>
            </a:r>
            <a:endParaRPr lang="en-US" sz="1250" dirty="0"/>
          </a:p>
          <a:p>
            <a:pPr indent="0" marL="0">
              <a:lnSpc>
                <a:spcPct val="118000"/>
              </a:lnSpc>
              <a:spcAft>
                <a:spcPts val="1100"/>
              </a:spcAft>
              <a:buNone/>
            </a:pPr>
            <a:r>
              <a:rPr lang="en-US" sz="1250" b="1" dirty="0">
                <a:solidFill>
                  <a:srgbClr val="6D28D9"/>
                </a:solidFill>
                <a:latin typeface="Calibri" pitchFamily="34" charset="0"/>
                <a:ea typeface="Calibri" pitchFamily="34" charset="-122"/>
                <a:cs typeface="Calibri" pitchFamily="34" charset="-120"/>
              </a:rPr>
              <a:t>Pearl (1988): </a:t>
            </a:r>
            <a:pPr indent="0" marL="0">
              <a:lnSpc>
                <a:spcPct val="118000"/>
              </a:lnSpc>
              <a:spcAft>
                <a:spcPts val="1100"/>
              </a:spcAft>
              <a:buNone/>
            </a:pPr>
            <a:r>
              <a:rPr lang="en-US" sz="1250" dirty="0">
                <a:solidFill>
                  <a:srgbClr val="1F2933"/>
                </a:solidFill>
                <a:latin typeface="Calibri" pitchFamily="34" charset="0"/>
                <a:ea typeface="Calibri" pitchFamily="34" charset="-122"/>
                <a:cs typeface="Calibri" pitchFamily="34" charset="-120"/>
              </a:rPr>
              <a:t>Bayesian networks give a rigorous, efficient formalism for uncertain knowledge</a:t>
            </a:r>
            <a:endParaRPr lang="en-US" sz="1250" dirty="0"/>
          </a:p>
          <a:p>
            <a:pPr indent="0" marL="0">
              <a:lnSpc>
                <a:spcPct val="118000"/>
              </a:lnSpc>
              <a:spcAft>
                <a:spcPts val="1100"/>
              </a:spcAft>
              <a:buNone/>
            </a:pPr>
            <a:r>
              <a:rPr lang="en-US" sz="1250" b="1" dirty="0">
                <a:solidFill>
                  <a:srgbClr val="6D28D9"/>
                </a:solidFill>
                <a:latin typeface="Calibri" pitchFamily="34" charset="0"/>
                <a:ea typeface="Calibri" pitchFamily="34" charset="-122"/>
                <a:cs typeface="Calibri" pitchFamily="34" charset="-120"/>
              </a:rPr>
              <a:t>Sutton (1988): </a:t>
            </a:r>
            <a:pPr indent="0" marL="0">
              <a:lnSpc>
                <a:spcPct val="118000"/>
              </a:lnSpc>
              <a:spcAft>
                <a:spcPts val="1100"/>
              </a:spcAft>
              <a:buNone/>
            </a:pPr>
            <a:r>
              <a:rPr lang="en-US" sz="1250" dirty="0">
                <a:solidFill>
                  <a:srgbClr val="1F2933"/>
                </a:solidFill>
                <a:latin typeface="Calibri" pitchFamily="34" charset="0"/>
                <a:ea typeface="Calibri" pitchFamily="34" charset="-122"/>
                <a:cs typeface="Calibri" pitchFamily="34" charset="-120"/>
              </a:rPr>
              <a:t>reinforcement learning connected to Markov decision processes from operations research</a:t>
            </a:r>
            <a:endParaRPr lang="en-US" sz="1250" dirty="0"/>
          </a:p>
          <a:p>
            <a:pPr indent="0" marL="0">
              <a:lnSpc>
                <a:spcPct val="118000"/>
              </a:lnSpc>
              <a:spcAft>
                <a:spcPts val="1100"/>
              </a:spcAft>
              <a:buNone/>
            </a:pPr>
            <a:r>
              <a:rPr lang="en-US" sz="1250" b="1" dirty="0">
                <a:solidFill>
                  <a:srgbClr val="6D28D9"/>
                </a:solidFill>
                <a:latin typeface="Calibri" pitchFamily="34" charset="0"/>
                <a:ea typeface="Calibri" pitchFamily="34" charset="-122"/>
                <a:cs typeface="Calibri" pitchFamily="34" charset="-120"/>
              </a:rPr>
              <a:t>Benchmarks: </a:t>
            </a:r>
            <a:pPr indent="0" marL="0">
              <a:lnSpc>
                <a:spcPct val="118000"/>
              </a:lnSpc>
              <a:spcAft>
                <a:spcPts val="1100"/>
              </a:spcAft>
              <a:buNone/>
            </a:pPr>
            <a:r>
              <a:rPr lang="en-US" sz="1250" dirty="0">
                <a:solidFill>
                  <a:srgbClr val="1F2933"/>
                </a:solidFill>
                <a:latin typeface="Calibri" pitchFamily="34" charset="0"/>
                <a:ea typeface="Calibri" pitchFamily="34" charset="-122"/>
                <a:cs typeface="Calibri" pitchFamily="34" charset="-120"/>
              </a:rPr>
              <a:t>shared data sets such as MNIST, ImageNet, and SQuAD make progress checkable by anyone</a:t>
            </a:r>
            <a:endParaRPr lang="en-US" sz="1250" dirty="0"/>
          </a:p>
        </p:txBody>
      </p:sp>
      <p:sp>
        <p:nvSpPr>
          <p:cNvPr id="14" name="Shape 12"/>
          <p:cNvSpPr/>
          <p:nvPr/>
        </p:nvSpPr>
        <p:spPr>
          <a:xfrm>
            <a:off x="1249528" y="5504688"/>
            <a:ext cx="9692640" cy="603504"/>
          </a:xfrm>
          <a:prstGeom prst="roundRect">
            <a:avLst>
              <a:gd name="adj" fmla="val 9091"/>
            </a:avLst>
          </a:prstGeom>
          <a:solidFill>
            <a:srgbClr val="6D28D9"/>
          </a:solidFill>
          <a:ln w="12700">
            <a:solidFill>
              <a:srgbClr val="6D28D9"/>
            </a:solidFill>
            <a:prstDash val="solid"/>
          </a:ln>
        </p:spPr>
      </p:sp>
      <p:sp>
        <p:nvSpPr>
          <p:cNvPr id="15" name="Text 13"/>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the field replaced hand-coded certainty with learning under uncertainty, and made shared benchmarks the standard of evidence.</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1.3.7</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Big Data: Learning from Massive Datasets</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Text 4"/>
          <p:cNvSpPr/>
          <p:nvPr/>
        </p:nvSpPr>
        <p:spPr>
          <a:xfrm>
            <a:off x="777240" y="1417320"/>
            <a:ext cx="4572000" cy="320040"/>
          </a:xfrm>
          <a:prstGeom prst="rect">
            <a:avLst/>
          </a:prstGeom>
          <a:noFill/>
          <a:ln/>
        </p:spPr>
        <p:txBody>
          <a:bodyPr wrap="square" lIns="0" tIns="0" rIns="0" bIns="0" rtlCol="0" anchor="ctr"/>
          <a:lstStyle/>
          <a:p>
            <a:pPr indent="0" marL="0">
              <a:buNone/>
            </a:pPr>
            <a:r>
              <a:rPr lang="en-US" sz="1900" b="1" dirty="0">
                <a:solidFill>
                  <a:srgbClr val="102A43"/>
                </a:solidFill>
                <a:latin typeface="Calibri" pitchFamily="34" charset="0"/>
                <a:ea typeface="Calibri" pitchFamily="34" charset="-122"/>
                <a:cs typeface="Calibri" pitchFamily="34" charset="-120"/>
              </a:rPr>
              <a:t>Why big data changed AI</a:t>
            </a:r>
            <a:endParaRPr lang="en-US" sz="1900" dirty="0"/>
          </a:p>
        </p:txBody>
      </p:sp>
      <p:sp>
        <p:nvSpPr>
          <p:cNvPr id="7" name="Text 5"/>
          <p:cNvSpPr/>
          <p:nvPr/>
        </p:nvSpPr>
        <p:spPr>
          <a:xfrm>
            <a:off x="822960" y="1874520"/>
            <a:ext cx="4983480" cy="2651760"/>
          </a:xfrm>
          <a:prstGeom prst="rect">
            <a:avLst/>
          </a:prstGeom>
          <a:noFill/>
          <a:ln/>
        </p:spPr>
        <p:txBody>
          <a:bodyPr wrap="square" lIns="0" tIns="0" rIns="0" bIns="0" rtlCol="0" anchor="t"/>
          <a:lstStyle/>
          <a:p>
            <a:pPr indent="0" marL="0">
              <a:lnSpc>
                <a:spcPct val="118000"/>
              </a:lnSpc>
              <a:spcAft>
                <a:spcPts val="1100"/>
              </a:spcAft>
              <a:buNone/>
            </a:pPr>
            <a:r>
              <a:rPr lang="en-US" sz="1500" b="1" dirty="0">
                <a:solidFill>
                  <a:srgbClr val="247BA0"/>
                </a:solidFill>
                <a:latin typeface="Calibri" pitchFamily="34" charset="0"/>
                <a:ea typeface="Calibri" pitchFamily="34" charset="-122"/>
                <a:cs typeface="Calibri" pitchFamily="34" charset="-120"/>
              </a:rPr>
              <a:t>Scale: </a:t>
            </a:r>
            <a:pPr indent="0" marL="0">
              <a:lnSpc>
                <a:spcPct val="118000"/>
              </a:lnSpc>
              <a:spcAft>
                <a:spcPts val="1100"/>
              </a:spcAft>
              <a:buNone/>
            </a:pPr>
            <a:r>
              <a:rPr lang="en-US" sz="1500" dirty="0">
                <a:solidFill>
                  <a:srgbClr val="1F2933"/>
                </a:solidFill>
                <a:latin typeface="Calibri" pitchFamily="34" charset="0"/>
                <a:ea typeface="Calibri" pitchFamily="34" charset="-122"/>
                <a:cs typeface="Calibri" pitchFamily="34" charset="-120"/>
              </a:rPr>
              <a:t>trillions of words, billions of images, speech, video, genomic and behavioral data</a:t>
            </a:r>
            <a:endParaRPr lang="en-US" sz="1500" dirty="0"/>
          </a:p>
          <a:p>
            <a:pPr indent="0" marL="0">
              <a:lnSpc>
                <a:spcPct val="118000"/>
              </a:lnSpc>
              <a:spcAft>
                <a:spcPts val="1100"/>
              </a:spcAft>
              <a:buNone/>
            </a:pPr>
            <a:r>
              <a:rPr lang="en-US" sz="1500" b="1" dirty="0">
                <a:solidFill>
                  <a:srgbClr val="247BA0"/>
                </a:solidFill>
                <a:latin typeface="Calibri" pitchFamily="34" charset="0"/>
                <a:ea typeface="Calibri" pitchFamily="34" charset="-122"/>
                <a:cs typeface="Calibri" pitchFamily="34" charset="-120"/>
              </a:rPr>
              <a:t>Learning over hand-coding: </a:t>
            </a:r>
            <a:pPr indent="0" marL="0">
              <a:lnSpc>
                <a:spcPct val="118000"/>
              </a:lnSpc>
              <a:spcAft>
                <a:spcPts val="1100"/>
              </a:spcAft>
              <a:buNone/>
            </a:pPr>
            <a:r>
              <a:rPr lang="en-US" sz="1500" dirty="0">
                <a:solidFill>
                  <a:srgbClr val="1F2933"/>
                </a:solidFill>
                <a:latin typeface="Calibri" pitchFamily="34" charset="0"/>
                <a:ea typeface="Calibri" pitchFamily="34" charset="-122"/>
                <a:cs typeface="Calibri" pitchFamily="34" charset="-120"/>
              </a:rPr>
              <a:t>systems discover patterns from examples</a:t>
            </a:r>
            <a:endParaRPr lang="en-US" sz="1500" dirty="0"/>
          </a:p>
          <a:p>
            <a:pPr indent="0" marL="0">
              <a:lnSpc>
                <a:spcPct val="118000"/>
              </a:lnSpc>
              <a:spcAft>
                <a:spcPts val="1100"/>
              </a:spcAft>
              <a:buNone/>
            </a:pPr>
            <a:r>
              <a:rPr lang="en-US" sz="1500" b="1" dirty="0">
                <a:solidFill>
                  <a:srgbClr val="247BA0"/>
                </a:solidFill>
                <a:latin typeface="Calibri" pitchFamily="34" charset="0"/>
                <a:ea typeface="Calibri" pitchFamily="34" charset="-122"/>
                <a:cs typeface="Calibri" pitchFamily="34" charset="-120"/>
              </a:rPr>
              <a:t>Data can dominate tweaks: </a:t>
            </a:r>
            <a:pPr indent="0" marL="0">
              <a:lnSpc>
                <a:spcPct val="118000"/>
              </a:lnSpc>
              <a:spcAft>
                <a:spcPts val="1100"/>
              </a:spcAft>
              <a:buNone/>
            </a:pPr>
            <a:r>
              <a:rPr lang="en-US" sz="1500" dirty="0">
                <a:solidFill>
                  <a:srgbClr val="1F2933"/>
                </a:solidFill>
                <a:latin typeface="Calibri" pitchFamily="34" charset="0"/>
                <a:ea typeface="Calibri" pitchFamily="34" charset="-122"/>
                <a:cs typeface="Calibri" pitchFamily="34" charset="-120"/>
              </a:rPr>
              <a:t>more data often helps more than small algorithm changes</a:t>
            </a:r>
            <a:endParaRPr lang="en-US" sz="1500" dirty="0"/>
          </a:p>
          <a:p>
            <a:pPr indent="0" marL="0">
              <a:lnSpc>
                <a:spcPct val="118000"/>
              </a:lnSpc>
              <a:spcAft>
                <a:spcPts val="1100"/>
              </a:spcAft>
              <a:buNone/>
            </a:pPr>
            <a:r>
              <a:rPr lang="en-US" sz="1500" b="1" dirty="0">
                <a:solidFill>
                  <a:srgbClr val="247BA0"/>
                </a:solidFill>
                <a:latin typeface="Calibri" pitchFamily="34" charset="0"/>
                <a:ea typeface="Calibri" pitchFamily="34" charset="-122"/>
                <a:cs typeface="Calibri" pitchFamily="34" charset="-120"/>
              </a:rPr>
              <a:t>Commercial impact: </a:t>
            </a:r>
            <a:pPr indent="0" marL="0">
              <a:lnSpc>
                <a:spcPct val="118000"/>
              </a:lnSpc>
              <a:spcAft>
                <a:spcPts val="1100"/>
              </a:spcAft>
              <a:buNone/>
            </a:pPr>
            <a:r>
              <a:rPr lang="en-US" sz="1500" dirty="0">
                <a:solidFill>
                  <a:srgbClr val="1F2933"/>
                </a:solidFill>
                <a:latin typeface="Calibri" pitchFamily="34" charset="0"/>
                <a:ea typeface="Calibri" pitchFamily="34" charset="-122"/>
                <a:cs typeface="Calibri" pitchFamily="34" charset="-120"/>
              </a:rPr>
              <a:t>large datasets helped restore AI momentum</a:t>
            </a:r>
            <a:endParaRPr lang="en-US" sz="1500" dirty="0"/>
          </a:p>
        </p:txBody>
      </p:sp>
      <p:sp>
        <p:nvSpPr>
          <p:cNvPr id="8" name="Shape 6"/>
          <p:cNvSpPr/>
          <p:nvPr/>
        </p:nvSpPr>
        <p:spPr>
          <a:xfrm>
            <a:off x="6172200" y="1554480"/>
            <a:ext cx="1371600" cy="640080"/>
          </a:xfrm>
          <a:prstGeom prst="chevron">
            <a:avLst/>
          </a:prstGeom>
          <a:solidFill>
            <a:srgbClr val="247BA0"/>
          </a:solidFill>
          <a:ln w="12700">
            <a:solidFill>
              <a:srgbClr val="247BA0"/>
            </a:solidFill>
            <a:prstDash val="solid"/>
          </a:ln>
        </p:spPr>
      </p:sp>
      <p:sp>
        <p:nvSpPr>
          <p:cNvPr id="9" name="Text 7"/>
          <p:cNvSpPr/>
          <p:nvPr/>
        </p:nvSpPr>
        <p:spPr>
          <a:xfrm>
            <a:off x="6281928" y="1554480"/>
            <a:ext cx="11430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Data</a:t>
            </a:r>
            <a:endParaRPr lang="en-US" sz="1400" dirty="0"/>
          </a:p>
        </p:txBody>
      </p:sp>
      <p:sp>
        <p:nvSpPr>
          <p:cNvPr id="10" name="Shape 8"/>
          <p:cNvSpPr/>
          <p:nvPr/>
        </p:nvSpPr>
        <p:spPr>
          <a:xfrm>
            <a:off x="7543800" y="1554480"/>
            <a:ext cx="1371600" cy="640080"/>
          </a:xfrm>
          <a:prstGeom prst="chevron">
            <a:avLst/>
          </a:prstGeom>
          <a:solidFill>
            <a:srgbClr val="70C1B3"/>
          </a:solidFill>
          <a:ln w="12700">
            <a:solidFill>
              <a:srgbClr val="70C1B3"/>
            </a:solidFill>
            <a:prstDash val="solid"/>
          </a:ln>
        </p:spPr>
      </p:sp>
      <p:sp>
        <p:nvSpPr>
          <p:cNvPr id="11" name="Text 9"/>
          <p:cNvSpPr/>
          <p:nvPr/>
        </p:nvSpPr>
        <p:spPr>
          <a:xfrm>
            <a:off x="7653528" y="1554480"/>
            <a:ext cx="11430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Training</a:t>
            </a:r>
            <a:endParaRPr lang="en-US" sz="1400" dirty="0"/>
          </a:p>
        </p:txBody>
      </p:sp>
      <p:sp>
        <p:nvSpPr>
          <p:cNvPr id="12" name="Shape 10"/>
          <p:cNvSpPr/>
          <p:nvPr/>
        </p:nvSpPr>
        <p:spPr>
          <a:xfrm>
            <a:off x="8915400" y="1554480"/>
            <a:ext cx="1371600" cy="640080"/>
          </a:xfrm>
          <a:prstGeom prst="chevron">
            <a:avLst/>
          </a:prstGeom>
          <a:solidFill>
            <a:srgbClr val="55A630"/>
          </a:solidFill>
          <a:ln w="12700">
            <a:solidFill>
              <a:srgbClr val="55A630"/>
            </a:solidFill>
            <a:prstDash val="solid"/>
          </a:ln>
        </p:spPr>
      </p:sp>
      <p:sp>
        <p:nvSpPr>
          <p:cNvPr id="13" name="Text 11"/>
          <p:cNvSpPr/>
          <p:nvPr/>
        </p:nvSpPr>
        <p:spPr>
          <a:xfrm>
            <a:off x="9025128" y="1554480"/>
            <a:ext cx="11430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p>
        </p:txBody>
      </p:sp>
      <p:sp>
        <p:nvSpPr>
          <p:cNvPr id="14" name="Shape 12"/>
          <p:cNvSpPr/>
          <p:nvPr/>
        </p:nvSpPr>
        <p:spPr>
          <a:xfrm>
            <a:off x="10287000" y="1554480"/>
            <a:ext cx="1371600" cy="640080"/>
          </a:xfrm>
          <a:prstGeom prst="chevron">
            <a:avLst/>
          </a:prstGeom>
          <a:solidFill>
            <a:srgbClr val="F97316"/>
          </a:solidFill>
          <a:ln w="12700">
            <a:solidFill>
              <a:srgbClr val="F97316"/>
            </a:solidFill>
            <a:prstDash val="solid"/>
          </a:ln>
        </p:spPr>
      </p:sp>
      <p:sp>
        <p:nvSpPr>
          <p:cNvPr id="15" name="Text 13"/>
          <p:cNvSpPr/>
          <p:nvPr/>
        </p:nvSpPr>
        <p:spPr>
          <a:xfrm>
            <a:off x="10396728" y="1554480"/>
            <a:ext cx="11430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p>
        </p:txBody>
      </p:sp>
      <p:sp>
        <p:nvSpPr>
          <p:cNvPr id="16" name="Shape 14"/>
          <p:cNvSpPr/>
          <p:nvPr/>
        </p:nvSpPr>
        <p:spPr>
          <a:xfrm>
            <a:off x="6263640" y="2743200"/>
            <a:ext cx="5166360" cy="493776"/>
          </a:xfrm>
          <a:prstGeom prst="roundRect">
            <a:avLst>
              <a:gd name="adj" fmla="val 11111"/>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7" name="Text 15"/>
          <p:cNvSpPr/>
          <p:nvPr/>
        </p:nvSpPr>
        <p:spPr>
          <a:xfrm>
            <a:off x="6446520" y="2852928"/>
            <a:ext cx="1234440" cy="274320"/>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ImageNet</a:t>
            </a:r>
            <a:endParaRPr lang="en-US" sz="1250" dirty="0"/>
          </a:p>
        </p:txBody>
      </p:sp>
      <p:sp>
        <p:nvSpPr>
          <p:cNvPr id="18" name="Text 16"/>
          <p:cNvSpPr/>
          <p:nvPr/>
        </p:nvSpPr>
        <p:spPr>
          <a:xfrm>
            <a:off x="7726680" y="2852928"/>
            <a:ext cx="3566160" cy="27432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large image datasets accelerated computer vision</a:t>
            </a:r>
            <a:endParaRPr lang="en-US" sz="1250" dirty="0"/>
          </a:p>
        </p:txBody>
      </p:sp>
      <p:sp>
        <p:nvSpPr>
          <p:cNvPr id="19" name="Shape 17"/>
          <p:cNvSpPr/>
          <p:nvPr/>
        </p:nvSpPr>
        <p:spPr>
          <a:xfrm>
            <a:off x="6263640" y="3401568"/>
            <a:ext cx="5166360" cy="493776"/>
          </a:xfrm>
          <a:prstGeom prst="roundRect">
            <a:avLst>
              <a:gd name="adj" fmla="val 11111"/>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0" name="Text 18"/>
          <p:cNvSpPr/>
          <p:nvPr/>
        </p:nvSpPr>
        <p:spPr>
          <a:xfrm>
            <a:off x="6446520" y="3511296"/>
            <a:ext cx="1234440" cy="274320"/>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Watson</a:t>
            </a:r>
            <a:endParaRPr lang="en-US" sz="1250" dirty="0"/>
          </a:p>
        </p:txBody>
      </p:sp>
      <p:sp>
        <p:nvSpPr>
          <p:cNvPr id="21" name="Text 19"/>
          <p:cNvSpPr/>
          <p:nvPr/>
        </p:nvSpPr>
        <p:spPr>
          <a:xfrm>
            <a:off x="7726680" y="3511296"/>
            <a:ext cx="3566160" cy="27432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Jeopardy! victory highlighted data-driven systems</a:t>
            </a:r>
            <a:endParaRPr lang="en-US" sz="1250" dirty="0"/>
          </a:p>
        </p:txBody>
      </p:sp>
      <p:sp>
        <p:nvSpPr>
          <p:cNvPr id="22" name="Shape 20"/>
          <p:cNvSpPr/>
          <p:nvPr/>
        </p:nvSpPr>
        <p:spPr>
          <a:xfrm>
            <a:off x="6263640" y="4059936"/>
            <a:ext cx="5166360" cy="493776"/>
          </a:xfrm>
          <a:prstGeom prst="roundRect">
            <a:avLst>
              <a:gd name="adj" fmla="val 11111"/>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3" name="Text 21"/>
          <p:cNvSpPr/>
          <p:nvPr/>
        </p:nvSpPr>
        <p:spPr>
          <a:xfrm>
            <a:off x="6446520" y="4169664"/>
            <a:ext cx="1234440" cy="274320"/>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Web text</a:t>
            </a:r>
            <a:endParaRPr lang="en-US" sz="1250" dirty="0"/>
          </a:p>
        </p:txBody>
      </p:sp>
      <p:sp>
        <p:nvSpPr>
          <p:cNvPr id="24" name="Text 22"/>
          <p:cNvSpPr/>
          <p:nvPr/>
        </p:nvSpPr>
        <p:spPr>
          <a:xfrm>
            <a:off x="7726680" y="4169664"/>
            <a:ext cx="3566160" cy="27432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massive text data improved language tasks</a:t>
            </a:r>
            <a:endParaRPr lang="en-US" sz="1250" dirty="0"/>
          </a:p>
        </p:txBody>
      </p:sp>
      <p:sp>
        <p:nvSpPr>
          <p:cNvPr id="25" name="Shape 23"/>
          <p:cNvSpPr/>
          <p:nvPr/>
        </p:nvSpPr>
        <p:spPr>
          <a:xfrm>
            <a:off x="1249528" y="5504688"/>
            <a:ext cx="9692640" cy="603504"/>
          </a:xfrm>
          <a:prstGeom prst="roundRect">
            <a:avLst>
              <a:gd name="adj" fmla="val 9091"/>
            </a:avLst>
          </a:prstGeom>
          <a:solidFill>
            <a:srgbClr val="55A630"/>
          </a:solidFill>
          <a:ln w="12700">
            <a:solidFill>
              <a:srgbClr val="55A630"/>
            </a:solidFill>
            <a:prstDash val="solid"/>
          </a:ln>
        </p:spPr>
      </p:sp>
      <p:sp>
        <p:nvSpPr>
          <p:cNvPr id="26" name="Text 24"/>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AI shifted from manually writing rules to learning patterns from large-scale data.</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1.3.8</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Deep Learning: Layers, Data, and Specialized Hardware</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417320"/>
            <a:ext cx="5852160" cy="3840480"/>
          </a:xfrm>
          <a:prstGeom prst="roundRect">
            <a:avLst>
              <a:gd name="adj" fmla="val 1429"/>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Shape 5"/>
          <p:cNvSpPr/>
          <p:nvPr/>
        </p:nvSpPr>
        <p:spPr>
          <a:xfrm>
            <a:off x="594360" y="1417320"/>
            <a:ext cx="5852160" cy="146304"/>
          </a:xfrm>
          <a:prstGeom prst="rect">
            <a:avLst/>
          </a:prstGeom>
          <a:solidFill>
            <a:srgbClr val="247BA0"/>
          </a:solidFill>
          <a:ln w="12700">
            <a:solidFill>
              <a:srgbClr val="247BA0"/>
            </a:solidFill>
            <a:prstDash val="solid"/>
          </a:ln>
        </p:spPr>
      </p:sp>
      <p:sp>
        <p:nvSpPr>
          <p:cNvPr id="8" name="Text 6"/>
          <p:cNvSpPr/>
          <p:nvPr/>
        </p:nvSpPr>
        <p:spPr>
          <a:xfrm>
            <a:off x="868680" y="1691640"/>
            <a:ext cx="5303520" cy="292608"/>
          </a:xfrm>
          <a:prstGeom prst="rect">
            <a:avLst/>
          </a:prstGeom>
          <a:noFill/>
          <a:ln/>
        </p:spPr>
        <p:txBody>
          <a:bodyPr wrap="square" lIns="0" tIns="0" rIns="0" bIns="0" rtlCol="0" anchor="ctr"/>
          <a:lstStyle/>
          <a:p>
            <a:pPr indent="0" marL="0">
              <a:buNone/>
            </a:pPr>
            <a:r>
              <a:rPr lang="en-US" sz="1700" b="1" dirty="0">
                <a:solidFill>
                  <a:srgbClr val="102A43"/>
                </a:solidFill>
                <a:latin typeface="Calibri" pitchFamily="34" charset="0"/>
                <a:ea typeface="Calibri" pitchFamily="34" charset="-122"/>
                <a:cs typeface="Calibri" pitchFamily="34" charset="-120"/>
              </a:rPr>
              <a:t>What actually changed</a:t>
            </a:r>
            <a:endParaRPr lang="en-US" sz="1700" dirty="0"/>
          </a:p>
        </p:txBody>
      </p:sp>
      <p:sp>
        <p:nvSpPr>
          <p:cNvPr id="9" name="Text 7"/>
          <p:cNvSpPr/>
          <p:nvPr/>
        </p:nvSpPr>
        <p:spPr>
          <a:xfrm>
            <a:off x="868680" y="2139696"/>
            <a:ext cx="5303520" cy="2926080"/>
          </a:xfrm>
          <a:prstGeom prst="rect">
            <a:avLst/>
          </a:prstGeom>
          <a:noFill/>
          <a:ln/>
        </p:spPr>
        <p:txBody>
          <a:bodyPr wrap="square" lIns="0" tIns="0" rIns="0" bIns="0" rtlCol="0" anchor="t"/>
          <a:lstStyle/>
          <a:p>
            <a:pPr indent="0" marL="0">
              <a:lnSpc>
                <a:spcPct val="118000"/>
              </a:lnSpc>
              <a:spcAft>
                <a:spcPts val="900"/>
              </a:spcAft>
              <a:buNone/>
            </a:pPr>
            <a:r>
              <a:rPr lang="en-US" sz="1250" b="1" dirty="0">
                <a:solidFill>
                  <a:srgbClr val="247BA0"/>
                </a:solidFill>
                <a:latin typeface="Calibri" pitchFamily="34" charset="0"/>
                <a:ea typeface="Calibri" pitchFamily="34" charset="-122"/>
                <a:cs typeface="Calibri" pitchFamily="34" charset="-120"/>
              </a:rPr>
              <a:t>Definition: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machine learning using many layers of simple, adjustable computing elements</a:t>
            </a:r>
            <a:endParaRPr lang="en-US" sz="1250" dirty="0"/>
          </a:p>
          <a:p>
            <a:pPr indent="0" marL="0">
              <a:lnSpc>
                <a:spcPct val="118000"/>
              </a:lnSpc>
              <a:spcAft>
                <a:spcPts val="900"/>
              </a:spcAft>
              <a:buNone/>
            </a:pPr>
            <a:r>
              <a:rPr lang="en-US" sz="1250" b="1" dirty="0">
                <a:solidFill>
                  <a:srgbClr val="247BA0"/>
                </a:solidFill>
                <a:latin typeface="Calibri" pitchFamily="34" charset="0"/>
                <a:ea typeface="Calibri" pitchFamily="34" charset="-122"/>
                <a:cs typeface="Calibri" pitchFamily="34" charset="-120"/>
              </a:rPr>
              <a:t>Not new: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such networks were tried in the 1970s, and convolutional networks read handwritten digits in the 1990s</a:t>
            </a:r>
            <a:endParaRPr lang="en-US" sz="1250" dirty="0"/>
          </a:p>
          <a:p>
            <a:pPr indent="0" marL="0">
              <a:lnSpc>
                <a:spcPct val="118000"/>
              </a:lnSpc>
              <a:spcAft>
                <a:spcPts val="900"/>
              </a:spcAft>
              <a:buNone/>
            </a:pPr>
            <a:r>
              <a:rPr lang="en-US" sz="1250" b="1" dirty="0">
                <a:solidFill>
                  <a:srgbClr val="247BA0"/>
                </a:solidFill>
                <a:latin typeface="Calibri" pitchFamily="34" charset="0"/>
                <a:ea typeface="Calibri" pitchFamily="34" charset="-122"/>
                <a:cs typeface="Calibri" pitchFamily="34" charset="-120"/>
              </a:rPr>
              <a:t>2011: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deep methods start to win in speech recognition</a:t>
            </a:r>
            <a:endParaRPr lang="en-US" sz="1250" dirty="0"/>
          </a:p>
          <a:p>
            <a:pPr indent="0" marL="0">
              <a:lnSpc>
                <a:spcPct val="118000"/>
              </a:lnSpc>
              <a:spcAft>
                <a:spcPts val="900"/>
              </a:spcAft>
              <a:buNone/>
            </a:pPr>
            <a:r>
              <a:rPr lang="en-US" sz="1250" b="1" dirty="0">
                <a:solidFill>
                  <a:srgbClr val="247BA0"/>
                </a:solidFill>
                <a:latin typeface="Calibri" pitchFamily="34" charset="0"/>
                <a:ea typeface="Calibri" pitchFamily="34" charset="-122"/>
                <a:cs typeface="Calibri" pitchFamily="34" charset="-120"/>
              </a:rPr>
              <a:t>2012: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a deep network from Hinton's group cuts ImageNet classification error sharply, beating hand-crafted features</a:t>
            </a:r>
            <a:endParaRPr lang="en-US" sz="1250" dirty="0"/>
          </a:p>
          <a:p>
            <a:pPr indent="0" marL="0">
              <a:lnSpc>
                <a:spcPct val="118000"/>
              </a:lnSpc>
              <a:spcAft>
                <a:spcPts val="900"/>
              </a:spcAft>
              <a:buNone/>
            </a:pPr>
            <a:r>
              <a:rPr lang="en-US" sz="1250" b="1" dirty="0">
                <a:solidFill>
                  <a:srgbClr val="247BA0"/>
                </a:solidFill>
                <a:latin typeface="Calibri" pitchFamily="34" charset="0"/>
                <a:ea typeface="Calibri" pitchFamily="34" charset="-122"/>
                <a:cs typeface="Calibri" pitchFamily="34" charset="-120"/>
              </a:rPr>
              <a:t>Since: </a:t>
            </a:r>
            <a:pPr indent="0" marL="0">
              <a:lnSpc>
                <a:spcPct val="118000"/>
              </a:lnSpc>
              <a:spcAft>
                <a:spcPts val="900"/>
              </a:spcAft>
              <a:buNone/>
            </a:pPr>
            <a:r>
              <a:rPr lang="en-US" sz="1250" dirty="0">
                <a:solidFill>
                  <a:srgbClr val="1F2933"/>
                </a:solidFill>
                <a:latin typeface="Calibri" pitchFamily="34" charset="0"/>
                <a:ea typeface="Calibri" pitchFamily="34" charset="-122"/>
                <a:cs typeface="Calibri" pitchFamily="34" charset="-120"/>
              </a:rPr>
              <a:t>deep learning is the default approach in vision, speech, language, and game playing</a:t>
            </a:r>
            <a:endParaRPr lang="en-US" sz="1250" dirty="0"/>
          </a:p>
        </p:txBody>
      </p:sp>
      <p:sp>
        <p:nvSpPr>
          <p:cNvPr id="10" name="Shape 8"/>
          <p:cNvSpPr/>
          <p:nvPr/>
        </p:nvSpPr>
        <p:spPr>
          <a:xfrm>
            <a:off x="6675120" y="1417320"/>
            <a:ext cx="2377440" cy="1280160"/>
          </a:xfrm>
          <a:prstGeom prst="roundRect">
            <a:avLst>
              <a:gd name="adj" fmla="val 428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1" name="Text 9"/>
          <p:cNvSpPr/>
          <p:nvPr/>
        </p:nvSpPr>
        <p:spPr>
          <a:xfrm>
            <a:off x="6812280" y="1563624"/>
            <a:ext cx="2103120" cy="502920"/>
          </a:xfrm>
          <a:prstGeom prst="rect">
            <a:avLst/>
          </a:prstGeom>
          <a:noFill/>
          <a:ln/>
        </p:spPr>
        <p:txBody>
          <a:bodyPr wrap="square" lIns="0" tIns="0" rIns="0" bIns="0" rtlCol="0" anchor="ctr"/>
          <a:lstStyle/>
          <a:p>
            <a:pPr algn="ctr" indent="0" marL="0">
              <a:buNone/>
            </a:pPr>
            <a:r>
              <a:rPr lang="en-US" sz="2300" b="1" dirty="0">
                <a:solidFill>
                  <a:srgbClr val="55A630"/>
                </a:solidFill>
                <a:latin typeface="Calibri" pitchFamily="34" charset="0"/>
                <a:ea typeface="Calibri" pitchFamily="34" charset="-122"/>
                <a:cs typeface="Calibri" pitchFamily="34" charset="-120"/>
              </a:rPr>
              <a:t>28% → 2%</a:t>
            </a:r>
            <a:endParaRPr lang="en-US" sz="2300" dirty="0"/>
          </a:p>
        </p:txBody>
      </p:sp>
      <p:sp>
        <p:nvSpPr>
          <p:cNvPr id="12" name="Text 10"/>
          <p:cNvSpPr/>
          <p:nvPr/>
        </p:nvSpPr>
        <p:spPr>
          <a:xfrm>
            <a:off x="6812280" y="2075688"/>
            <a:ext cx="2103120" cy="457200"/>
          </a:xfrm>
          <a:prstGeom prst="rect">
            <a:avLst/>
          </a:prstGeom>
          <a:noFill/>
          <a:ln/>
        </p:spPr>
        <p:txBody>
          <a:bodyPr wrap="square" lIns="0" tIns="0" rIns="0" bIns="0" rtlCol="0" anchor="t"/>
          <a:lstStyle/>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object detection error rate,</a:t>
            </a:r>
            <a:endParaRPr lang="en-US" sz="1100" dirty="0"/>
          </a:p>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2010 to 2017, now past</a:t>
            </a:r>
            <a:endParaRPr lang="en-US" sz="1100" dirty="0"/>
          </a:p>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human performance</a:t>
            </a:r>
            <a:endParaRPr lang="en-US" sz="1100" dirty="0"/>
          </a:p>
        </p:txBody>
      </p:sp>
      <p:sp>
        <p:nvSpPr>
          <p:cNvPr id="13" name="Shape 11"/>
          <p:cNvSpPr/>
          <p:nvPr/>
        </p:nvSpPr>
        <p:spPr>
          <a:xfrm>
            <a:off x="9262872" y="1417320"/>
            <a:ext cx="2377440" cy="1280160"/>
          </a:xfrm>
          <a:prstGeom prst="roundRect">
            <a:avLst>
              <a:gd name="adj" fmla="val 428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4" name="Text 12"/>
          <p:cNvSpPr/>
          <p:nvPr/>
        </p:nvSpPr>
        <p:spPr>
          <a:xfrm>
            <a:off x="9400032" y="1563624"/>
            <a:ext cx="2103120" cy="502920"/>
          </a:xfrm>
          <a:prstGeom prst="rect">
            <a:avLst/>
          </a:prstGeom>
          <a:noFill/>
          <a:ln/>
        </p:spPr>
        <p:txBody>
          <a:bodyPr wrap="square" lIns="0" tIns="0" rIns="0" bIns="0" rtlCol="0" anchor="ctr"/>
          <a:lstStyle/>
          <a:p>
            <a:pPr algn="ctr" indent="0" marL="0">
              <a:buNone/>
            </a:pPr>
            <a:r>
              <a:rPr lang="en-US" sz="3000" b="1" dirty="0">
                <a:solidFill>
                  <a:srgbClr val="247BA0"/>
                </a:solidFill>
                <a:latin typeface="Calibri" pitchFamily="34" charset="0"/>
                <a:ea typeface="Calibri" pitchFamily="34" charset="-122"/>
                <a:cs typeface="Calibri" pitchFamily="34" charset="-120"/>
              </a:rPr>
              <a:t>2012</a:t>
            </a:r>
            <a:endParaRPr lang="en-US" sz="3000" dirty="0"/>
          </a:p>
        </p:txBody>
      </p:sp>
      <p:sp>
        <p:nvSpPr>
          <p:cNvPr id="15" name="Text 13"/>
          <p:cNvSpPr/>
          <p:nvPr/>
        </p:nvSpPr>
        <p:spPr>
          <a:xfrm>
            <a:off x="9400032" y="2075688"/>
            <a:ext cx="2103120" cy="457200"/>
          </a:xfrm>
          <a:prstGeom prst="rect">
            <a:avLst/>
          </a:prstGeom>
          <a:noFill/>
          <a:ln/>
        </p:spPr>
        <p:txBody>
          <a:bodyPr wrap="square" lIns="0" tIns="0" rIns="0" bIns="0" rtlCol="0" anchor="t"/>
          <a:lstStyle/>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the ImageNet result that</a:t>
            </a:r>
            <a:endParaRPr lang="en-US" sz="1100" dirty="0"/>
          </a:p>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made deep learning the</a:t>
            </a:r>
            <a:endParaRPr lang="en-US" sz="1100" dirty="0"/>
          </a:p>
          <a:p>
            <a:pPr algn="ctr" indent="0" marL="0">
              <a:lnSpc>
                <a:spcPct val="110000"/>
              </a:lnSpc>
              <a:buNone/>
            </a:pPr>
            <a:r>
              <a:rPr lang="en-US" sz="1100" dirty="0">
                <a:solidFill>
                  <a:srgbClr val="52616B"/>
                </a:solidFill>
                <a:latin typeface="Calibri" pitchFamily="34" charset="0"/>
                <a:ea typeface="Calibri" pitchFamily="34" charset="-122"/>
                <a:cs typeface="Calibri" pitchFamily="34" charset="-120"/>
              </a:rPr>
              <a:t>field's default method</a:t>
            </a:r>
            <a:endParaRPr lang="en-US" sz="1100" dirty="0"/>
          </a:p>
        </p:txBody>
      </p:sp>
      <p:sp>
        <p:nvSpPr>
          <p:cNvPr id="16" name="Shape 14"/>
          <p:cNvSpPr/>
          <p:nvPr/>
        </p:nvSpPr>
        <p:spPr>
          <a:xfrm>
            <a:off x="6675120" y="2907792"/>
            <a:ext cx="4965192" cy="1097280"/>
          </a:xfrm>
          <a:prstGeom prst="roundRect">
            <a:avLst>
              <a:gd name="adj" fmla="val 5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7" name="Text 15"/>
          <p:cNvSpPr/>
          <p:nvPr/>
        </p:nvSpPr>
        <p:spPr>
          <a:xfrm>
            <a:off x="6931152" y="3072384"/>
            <a:ext cx="4480560" cy="256032"/>
          </a:xfrm>
          <a:prstGeom prst="rect">
            <a:avLst/>
          </a:prstGeom>
          <a:noFill/>
          <a:ln/>
        </p:spPr>
        <p:txBody>
          <a:bodyPr wrap="square" lIns="0" tIns="0" rIns="0" bIns="0" rtlCol="0" anchor="ctr"/>
          <a:lstStyle/>
          <a:p>
            <a:pPr indent="0" marL="0">
              <a:buNone/>
            </a:pPr>
            <a:r>
              <a:rPr lang="en-US" sz="1400" b="1" dirty="0">
                <a:solidFill>
                  <a:srgbClr val="102A43"/>
                </a:solidFill>
                <a:latin typeface="Calibri" pitchFamily="34" charset="0"/>
                <a:ea typeface="Calibri" pitchFamily="34" charset="-122"/>
                <a:cs typeface="Calibri" pitchFamily="34" charset="-120"/>
              </a:rPr>
              <a:t>Why now and not in the 1990s</a:t>
            </a:r>
            <a:endParaRPr lang="en-US" sz="1400" dirty="0"/>
          </a:p>
        </p:txBody>
      </p:sp>
      <p:sp>
        <p:nvSpPr>
          <p:cNvPr id="18" name="Text 16"/>
          <p:cNvSpPr/>
          <p:nvPr/>
        </p:nvSpPr>
        <p:spPr>
          <a:xfrm>
            <a:off x="6931152" y="3346704"/>
            <a:ext cx="4480560" cy="594360"/>
          </a:xfrm>
          <a:prstGeom prst="rect">
            <a:avLst/>
          </a:prstGeom>
          <a:noFill/>
          <a:ln/>
        </p:spPr>
        <p:txBody>
          <a:bodyPr wrap="square" lIns="0" tIns="0" rIns="0" bIns="0" rtlCol="0" anchor="t"/>
          <a:lstStyle/>
          <a:p>
            <a:pPr indent="0" marL="0">
              <a:lnSpc>
                <a:spcPct val="112000"/>
              </a:lnSpc>
              <a:buNone/>
            </a:pPr>
            <a:r>
              <a:rPr lang="en-US" sz="1100" dirty="0">
                <a:solidFill>
                  <a:srgbClr val="1F2933"/>
                </a:solidFill>
                <a:latin typeface="Calibri" pitchFamily="34" charset="0"/>
                <a:ea typeface="Calibri" pitchFamily="34" charset="-122"/>
                <a:cs typeface="Calibri" pitchFamily="34" charset="-120"/>
              </a:rPr>
              <a:t>The algorithms were largely available. What arrived was training data at web scale and hardware built for parallel matrix arithmetic: GPUs, TPUs, and FPGAs running orders of magnitude more operations per second than a CPU.</a:t>
            </a:r>
            <a:endParaRPr lang="en-US" sz="1100" dirty="0"/>
          </a:p>
        </p:txBody>
      </p:sp>
      <p:sp>
        <p:nvSpPr>
          <p:cNvPr id="19" name="Shape 17"/>
          <p:cNvSpPr/>
          <p:nvPr/>
        </p:nvSpPr>
        <p:spPr>
          <a:xfrm>
            <a:off x="6675120" y="4160520"/>
            <a:ext cx="4965192" cy="1097280"/>
          </a:xfrm>
          <a:prstGeom prst="roundRect">
            <a:avLst>
              <a:gd name="adj" fmla="val 5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0" name="Shape 18"/>
          <p:cNvSpPr/>
          <p:nvPr/>
        </p:nvSpPr>
        <p:spPr>
          <a:xfrm>
            <a:off x="6675120" y="4160520"/>
            <a:ext cx="109728" cy="1097280"/>
          </a:xfrm>
          <a:prstGeom prst="rect">
            <a:avLst/>
          </a:prstGeom>
          <a:solidFill>
            <a:srgbClr val="F97316"/>
          </a:solidFill>
          <a:ln w="12700">
            <a:solidFill>
              <a:srgbClr val="F97316"/>
            </a:solidFill>
            <a:prstDash val="solid"/>
          </a:ln>
        </p:spPr>
      </p:sp>
      <p:sp>
        <p:nvSpPr>
          <p:cNvPr id="21" name="Text 19"/>
          <p:cNvSpPr/>
          <p:nvPr/>
        </p:nvSpPr>
        <p:spPr>
          <a:xfrm>
            <a:off x="6995160" y="4325112"/>
            <a:ext cx="4434840" cy="256032"/>
          </a:xfrm>
          <a:prstGeom prst="rect">
            <a:avLst/>
          </a:prstGeom>
          <a:noFill/>
          <a:ln/>
        </p:spPr>
        <p:txBody>
          <a:bodyPr wrap="square" lIns="0" tIns="0" rIns="0" bIns="0"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Hold the enthusiasm loosely</a:t>
            </a:r>
            <a:endParaRPr lang="en-US" sz="1400" dirty="0"/>
          </a:p>
        </p:txBody>
      </p:sp>
      <p:sp>
        <p:nvSpPr>
          <p:cNvPr id="22" name="Text 20"/>
          <p:cNvSpPr/>
          <p:nvPr/>
        </p:nvSpPr>
        <p:spPr>
          <a:xfrm>
            <a:off x="6995160" y="4599432"/>
            <a:ext cx="4434840" cy="594360"/>
          </a:xfrm>
          <a:prstGeom prst="rect">
            <a:avLst/>
          </a:prstGeom>
          <a:noFill/>
          <a:ln/>
        </p:spPr>
        <p:txBody>
          <a:bodyPr wrap="square" lIns="0" tIns="0" rIns="0" bIns="0" rtlCol="0" anchor="t"/>
          <a:lstStyle/>
          <a:p>
            <a:pPr indent="0" marL="0">
              <a:lnSpc>
                <a:spcPct val="112000"/>
              </a:lnSpc>
              <a:buNone/>
            </a:pPr>
            <a:r>
              <a:rPr lang="en-US" sz="1100" dirty="0">
                <a:solidFill>
                  <a:srgbClr val="1F2933"/>
                </a:solidFill>
                <a:latin typeface="Calibri" pitchFamily="34" charset="0"/>
                <a:ea typeface="Calibri" pitchFamily="34" charset="-122"/>
                <a:cs typeface="Calibri" pitchFamily="34" charset="-120"/>
              </a:rPr>
              <a:t>Benchmark performance is not understanding. The chapter notes that every week brings both claims of accelerating success and predictions of a new AI winter; the field has been through both before.</a:t>
            </a:r>
            <a:endParaRPr lang="en-US" sz="1100" dirty="0"/>
          </a:p>
        </p:txBody>
      </p:sp>
      <p:sp>
        <p:nvSpPr>
          <p:cNvPr id="23" name="Shape 21"/>
          <p:cNvSpPr/>
          <p:nvPr/>
        </p:nvSpPr>
        <p:spPr>
          <a:xfrm>
            <a:off x="1249528" y="5504688"/>
            <a:ext cx="9692640" cy="603504"/>
          </a:xfrm>
          <a:prstGeom prst="roundRect">
            <a:avLst>
              <a:gd name="adj" fmla="val 9091"/>
            </a:avLst>
          </a:prstGeom>
          <a:solidFill>
            <a:srgbClr val="247BA0"/>
          </a:solidFill>
          <a:ln w="12700">
            <a:solidFill>
              <a:srgbClr val="247BA0"/>
            </a:solidFill>
            <a:prstDash val="solid"/>
          </a:ln>
        </p:spPr>
      </p:sp>
      <p:sp>
        <p:nvSpPr>
          <p:cNvPr id="24" name="Text 22"/>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deep learning is an old idea that became dominant once data and specialized hardware caught up with it.</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1.4</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The State of the Art: Growth by the Numbers</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graphicFrame>
        <p:nvGraphicFramePr>
          <p:cNvPr id="6" name="Chart 0" descr=""/>
          <p:cNvGraphicFramePr/>
          <p:nvPr/>
        </p:nvGraphicFramePr>
        <p:xfrm>
          <a:off x="594360" y="1463040"/>
          <a:ext cx="612648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94360" y="5230368"/>
            <a:ext cx="6126480" cy="274320"/>
          </a:xfrm>
          <a:prstGeom prst="rect">
            <a:avLst/>
          </a:prstGeom>
          <a:noFill/>
          <a:ln/>
        </p:spPr>
        <p:txBody>
          <a:bodyPr wrap="square" lIns="0" tIns="0" rIns="0" bIns="0" rtlCol="0" anchor="ctr"/>
          <a:lstStyle/>
          <a:p>
            <a:pPr indent="0" marL="0">
              <a:buNone/>
            </a:pPr>
            <a:r>
              <a:rPr lang="en-US" sz="950" i="1" dirty="0">
                <a:solidFill>
                  <a:srgbClr val="7B8794"/>
                </a:solidFill>
                <a:latin typeface="Calibri" pitchFamily="34" charset="0"/>
                <a:ea typeface="Calibri" pitchFamily="34" charset="-122"/>
                <a:cs typeface="Calibri" pitchFamily="34" charset="-120"/>
              </a:rPr>
              <a:t>Reported by Stanford's One Hundred Year Study on AI. Baselines are 2010 for publications and enrollment, 2012 for NeurIPS attendance.</a:t>
            </a:r>
            <a:endParaRPr lang="en-US" sz="950" dirty="0"/>
          </a:p>
        </p:txBody>
      </p:sp>
      <p:sp>
        <p:nvSpPr>
          <p:cNvPr id="8" name="Shape 5"/>
          <p:cNvSpPr/>
          <p:nvPr/>
        </p:nvSpPr>
        <p:spPr>
          <a:xfrm>
            <a:off x="6949440" y="1463040"/>
            <a:ext cx="4681728" cy="676656"/>
          </a:xfrm>
          <a:prstGeom prst="roundRect">
            <a:avLst>
              <a:gd name="adj" fmla="val 810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9" name="Shape 6"/>
          <p:cNvSpPr/>
          <p:nvPr/>
        </p:nvSpPr>
        <p:spPr>
          <a:xfrm>
            <a:off x="6949440" y="1463040"/>
            <a:ext cx="109728" cy="676656"/>
          </a:xfrm>
          <a:prstGeom prst="rect">
            <a:avLst/>
          </a:prstGeom>
          <a:solidFill>
            <a:srgbClr val="6D28D9"/>
          </a:solidFill>
          <a:ln w="12700">
            <a:solidFill>
              <a:srgbClr val="6D28D9"/>
            </a:solidFill>
            <a:prstDash val="solid"/>
          </a:ln>
        </p:spPr>
      </p:sp>
      <p:sp>
        <p:nvSpPr>
          <p:cNvPr id="10" name="Text 7"/>
          <p:cNvSpPr/>
          <p:nvPr/>
        </p:nvSpPr>
        <p:spPr>
          <a:xfrm>
            <a:off x="7242048" y="1536192"/>
            <a:ext cx="4206240" cy="219456"/>
          </a:xfrm>
          <a:prstGeom prst="rect">
            <a:avLst/>
          </a:prstGeom>
          <a:noFill/>
          <a:ln/>
        </p:spPr>
        <p:txBody>
          <a:bodyPr wrap="square" lIns="0" tIns="0" rIns="0" bIns="0" rtlCol="0" anchor="ctr"/>
          <a:lstStyle/>
          <a:p>
            <a:pPr indent="0" marL="0">
              <a:buNone/>
            </a:pPr>
            <a:r>
              <a:rPr lang="en-US" sz="1300" b="1" dirty="0">
                <a:solidFill>
                  <a:srgbClr val="6D28D9"/>
                </a:solidFill>
                <a:latin typeface="Calibri" pitchFamily="34" charset="0"/>
                <a:ea typeface="Calibri" pitchFamily="34" charset="-122"/>
                <a:cs typeface="Calibri" pitchFamily="34" charset="-120"/>
              </a:rPr>
              <a:t>Coverage</a:t>
            </a:r>
            <a:endParaRPr lang="en-US" sz="1300" dirty="0"/>
          </a:p>
        </p:txBody>
      </p:sp>
      <p:sp>
        <p:nvSpPr>
          <p:cNvPr id="11" name="Text 8"/>
          <p:cNvSpPr/>
          <p:nvPr/>
        </p:nvSpPr>
        <p:spPr>
          <a:xfrm>
            <a:off x="7242048" y="1755648"/>
            <a:ext cx="4206240" cy="329184"/>
          </a:xfrm>
          <a:prstGeom prst="rect">
            <a:avLst/>
          </a:prstGeom>
          <a:noFill/>
          <a:ln/>
        </p:spPr>
        <p:txBody>
          <a:bodyPr wrap="square" lIns="0" tIns="0" rIns="0" bIns="0" rtlCol="0" anchor="t"/>
          <a:lstStyle/>
          <a:p>
            <a:pPr indent="0" marL="0">
              <a:lnSpc>
                <a:spcPct val="108000"/>
              </a:lnSpc>
              <a:buNone/>
            </a:pPr>
            <a:r>
              <a:rPr lang="en-US" sz="1050" dirty="0">
                <a:solidFill>
                  <a:srgbClr val="1F2933"/>
                </a:solidFill>
                <a:latin typeface="Calibri" pitchFamily="34" charset="0"/>
                <a:ea typeface="Calibri" pitchFamily="34" charset="-122"/>
                <a:cs typeface="Calibri" pitchFamily="34" charset="-120"/>
              </a:rPr>
              <a:t>roughly seven in ten news articles on AI are neutral in tone; the recurring concerns are data privacy and algorithmic bias</a:t>
            </a:r>
            <a:endParaRPr lang="en-US" sz="1050" dirty="0"/>
          </a:p>
        </p:txBody>
      </p:sp>
      <p:sp>
        <p:nvSpPr>
          <p:cNvPr id="12" name="Shape 9"/>
          <p:cNvSpPr/>
          <p:nvPr/>
        </p:nvSpPr>
        <p:spPr>
          <a:xfrm>
            <a:off x="6949440" y="2249424"/>
            <a:ext cx="4681728" cy="676656"/>
          </a:xfrm>
          <a:prstGeom prst="roundRect">
            <a:avLst>
              <a:gd name="adj" fmla="val 810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3" name="Shape 10"/>
          <p:cNvSpPr/>
          <p:nvPr/>
        </p:nvSpPr>
        <p:spPr>
          <a:xfrm>
            <a:off x="6949440" y="2249424"/>
            <a:ext cx="109728" cy="676656"/>
          </a:xfrm>
          <a:prstGeom prst="rect">
            <a:avLst/>
          </a:prstGeom>
          <a:solidFill>
            <a:srgbClr val="F97316"/>
          </a:solidFill>
          <a:ln w="12700">
            <a:solidFill>
              <a:srgbClr val="F97316"/>
            </a:solidFill>
            <a:prstDash val="solid"/>
          </a:ln>
        </p:spPr>
      </p:sp>
      <p:sp>
        <p:nvSpPr>
          <p:cNvPr id="14" name="Text 11"/>
          <p:cNvSpPr/>
          <p:nvPr/>
        </p:nvSpPr>
        <p:spPr>
          <a:xfrm>
            <a:off x="7242048" y="2322576"/>
            <a:ext cx="4206240" cy="219456"/>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Speed</a:t>
            </a:r>
            <a:endParaRPr lang="en-US" sz="1300" dirty="0"/>
          </a:p>
        </p:txBody>
      </p:sp>
      <p:sp>
        <p:nvSpPr>
          <p:cNvPr id="15" name="Text 12"/>
          <p:cNvSpPr/>
          <p:nvPr/>
        </p:nvSpPr>
        <p:spPr>
          <a:xfrm>
            <a:off x="7242048" y="2542032"/>
            <a:ext cx="4206240" cy="329184"/>
          </a:xfrm>
          <a:prstGeom prst="rect">
            <a:avLst/>
          </a:prstGeom>
          <a:noFill/>
          <a:ln/>
        </p:spPr>
        <p:txBody>
          <a:bodyPr wrap="square" lIns="0" tIns="0" rIns="0" bIns="0" rtlCol="0" anchor="t"/>
          <a:lstStyle/>
          <a:p>
            <a:pPr indent="0" marL="0">
              <a:lnSpc>
                <a:spcPct val="108000"/>
              </a:lnSpc>
              <a:buNone/>
            </a:pPr>
            <a:r>
              <a:rPr lang="en-US" sz="1050" dirty="0">
                <a:solidFill>
                  <a:srgbClr val="1F2933"/>
                </a:solidFill>
                <a:latin typeface="Calibri" pitchFamily="34" charset="0"/>
                <a:ea typeface="Calibri" pitchFamily="34" charset="-122"/>
                <a:cs typeface="Calibri" pitchFamily="34" charset="-120"/>
              </a:rPr>
              <a:t>training time for image recognition fell by a factor of one hundred in two years</a:t>
            </a:r>
            <a:endParaRPr lang="en-US" sz="1050" dirty="0"/>
          </a:p>
        </p:txBody>
      </p:sp>
      <p:sp>
        <p:nvSpPr>
          <p:cNvPr id="16" name="Shape 13"/>
          <p:cNvSpPr/>
          <p:nvPr/>
        </p:nvSpPr>
        <p:spPr>
          <a:xfrm>
            <a:off x="6949440" y="3035808"/>
            <a:ext cx="4681728" cy="676656"/>
          </a:xfrm>
          <a:prstGeom prst="roundRect">
            <a:avLst>
              <a:gd name="adj" fmla="val 810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7" name="Shape 14"/>
          <p:cNvSpPr/>
          <p:nvPr/>
        </p:nvSpPr>
        <p:spPr>
          <a:xfrm>
            <a:off x="6949440" y="3035808"/>
            <a:ext cx="109728" cy="676656"/>
          </a:xfrm>
          <a:prstGeom prst="rect">
            <a:avLst/>
          </a:prstGeom>
          <a:solidFill>
            <a:srgbClr val="70C1B3"/>
          </a:solidFill>
          <a:ln w="12700">
            <a:solidFill>
              <a:srgbClr val="70C1B3"/>
            </a:solidFill>
            <a:prstDash val="solid"/>
          </a:ln>
        </p:spPr>
      </p:sp>
      <p:sp>
        <p:nvSpPr>
          <p:cNvPr id="18" name="Text 15"/>
          <p:cNvSpPr/>
          <p:nvPr/>
        </p:nvSpPr>
        <p:spPr>
          <a:xfrm>
            <a:off x="7242048" y="3108960"/>
            <a:ext cx="4206240" cy="219456"/>
          </a:xfrm>
          <a:prstGeom prst="rect">
            <a:avLst/>
          </a:prstGeom>
          <a:noFill/>
          <a:ln/>
        </p:spPr>
        <p:txBody>
          <a:bodyPr wrap="square" lIns="0" tIns="0" rIns="0" bIns="0" rtlCol="0" anchor="ctr"/>
          <a:lstStyle/>
          <a:p>
            <a:pPr indent="0" marL="0">
              <a:buNone/>
            </a:pPr>
            <a:r>
              <a:rPr lang="en-US" sz="1300" b="1" dirty="0">
                <a:solidFill>
                  <a:srgbClr val="70C1B3"/>
                </a:solidFill>
                <a:latin typeface="Calibri" pitchFamily="34" charset="0"/>
                <a:ea typeface="Calibri" pitchFamily="34" charset="-122"/>
                <a:cs typeface="Calibri" pitchFamily="34" charset="-120"/>
              </a:rPr>
              <a:t>Geography</a:t>
            </a:r>
            <a:endParaRPr lang="en-US" sz="1300" dirty="0"/>
          </a:p>
        </p:txBody>
      </p:sp>
      <p:sp>
        <p:nvSpPr>
          <p:cNvPr id="19" name="Text 16"/>
          <p:cNvSpPr/>
          <p:nvPr/>
        </p:nvSpPr>
        <p:spPr>
          <a:xfrm>
            <a:off x="7242048" y="3328416"/>
            <a:ext cx="4206240" cy="329184"/>
          </a:xfrm>
          <a:prstGeom prst="rect">
            <a:avLst/>
          </a:prstGeom>
          <a:noFill/>
          <a:ln/>
        </p:spPr>
        <p:txBody>
          <a:bodyPr wrap="square" lIns="0" tIns="0" rIns="0" bIns="0" rtlCol="0" anchor="t"/>
          <a:lstStyle/>
          <a:p>
            <a:pPr indent="0" marL="0">
              <a:lnSpc>
                <a:spcPct val="108000"/>
              </a:lnSpc>
              <a:buNone/>
            </a:pPr>
            <a:r>
              <a:rPr lang="en-US" sz="1050" dirty="0">
                <a:solidFill>
                  <a:srgbClr val="1F2933"/>
                </a:solidFill>
                <a:latin typeface="Calibri" pitchFamily="34" charset="0"/>
                <a:ea typeface="Calibri" pitchFamily="34" charset="-122"/>
                <a:cs typeface="Calibri" pitchFamily="34" charset="-120"/>
              </a:rPr>
              <a:t>China now publishes more AI papers per year than the United States, while US work still leads on citation-weighted impact</a:t>
            </a:r>
            <a:endParaRPr lang="en-US" sz="1050" dirty="0"/>
          </a:p>
        </p:txBody>
      </p:sp>
      <p:sp>
        <p:nvSpPr>
          <p:cNvPr id="20" name="Shape 17"/>
          <p:cNvSpPr/>
          <p:nvPr/>
        </p:nvSpPr>
        <p:spPr>
          <a:xfrm>
            <a:off x="6949440" y="3822192"/>
            <a:ext cx="4681728" cy="676656"/>
          </a:xfrm>
          <a:prstGeom prst="roundRect">
            <a:avLst>
              <a:gd name="adj" fmla="val 810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1" name="Shape 18"/>
          <p:cNvSpPr/>
          <p:nvPr/>
        </p:nvSpPr>
        <p:spPr>
          <a:xfrm>
            <a:off x="6949440" y="3822192"/>
            <a:ext cx="109728" cy="676656"/>
          </a:xfrm>
          <a:prstGeom prst="rect">
            <a:avLst/>
          </a:prstGeom>
          <a:solidFill>
            <a:srgbClr val="C1121F"/>
          </a:solidFill>
          <a:ln w="12700">
            <a:solidFill>
              <a:srgbClr val="C1121F"/>
            </a:solidFill>
            <a:prstDash val="solid"/>
          </a:ln>
        </p:spPr>
      </p:sp>
      <p:sp>
        <p:nvSpPr>
          <p:cNvPr id="22" name="Text 19"/>
          <p:cNvSpPr/>
          <p:nvPr/>
        </p:nvSpPr>
        <p:spPr>
          <a:xfrm>
            <a:off x="7242048" y="3895344"/>
            <a:ext cx="4206240" cy="219456"/>
          </a:xfrm>
          <a:prstGeom prst="rect">
            <a:avLst/>
          </a:prstGeom>
          <a:noFill/>
          <a:ln/>
        </p:spPr>
        <p:txBody>
          <a:bodyPr wrap="square" lIns="0" tIns="0" rIns="0" bIns="0" rtlCol="0" anchor="ctr"/>
          <a:lstStyle/>
          <a:p>
            <a:pPr indent="0" marL="0">
              <a:buNone/>
            </a:pPr>
            <a:r>
              <a:rPr lang="en-US" sz="1300" b="1" dirty="0">
                <a:solidFill>
                  <a:srgbClr val="C1121F"/>
                </a:solidFill>
                <a:latin typeface="Calibri" pitchFamily="34" charset="0"/>
                <a:ea typeface="Calibri" pitchFamily="34" charset="-122"/>
                <a:cs typeface="Calibri" pitchFamily="34" charset="-120"/>
              </a:rPr>
              <a:t>Diversity</a:t>
            </a:r>
            <a:endParaRPr lang="en-US" sz="1300" dirty="0"/>
          </a:p>
        </p:txBody>
      </p:sp>
      <p:sp>
        <p:nvSpPr>
          <p:cNvPr id="23" name="Text 20"/>
          <p:cNvSpPr/>
          <p:nvPr/>
        </p:nvSpPr>
        <p:spPr>
          <a:xfrm>
            <a:off x="7242048" y="4114800"/>
            <a:ext cx="4206240" cy="329184"/>
          </a:xfrm>
          <a:prstGeom prst="rect">
            <a:avLst/>
          </a:prstGeom>
          <a:noFill/>
          <a:ln/>
        </p:spPr>
        <p:txBody>
          <a:bodyPr wrap="square" lIns="0" tIns="0" rIns="0" bIns="0" rtlCol="0" anchor="t"/>
          <a:lstStyle/>
          <a:p>
            <a:pPr indent="0" marL="0">
              <a:lnSpc>
                <a:spcPct val="108000"/>
              </a:lnSpc>
              <a:buNone/>
            </a:pPr>
            <a:r>
              <a:rPr lang="en-US" sz="1050" dirty="0">
                <a:solidFill>
                  <a:srgbClr val="1F2933"/>
                </a:solidFill>
                <a:latin typeface="Calibri" pitchFamily="34" charset="0"/>
                <a:ea typeface="Calibri" pitchFamily="34" charset="-122"/>
                <a:cs typeface="Calibri" pitchFamily="34" charset="-120"/>
              </a:rPr>
              <a:t>about four in five AI professors worldwide are male, with similar ratios among doctoral students and industry hires</a:t>
            </a:r>
            <a:endParaRPr lang="en-US" sz="1050" dirty="0"/>
          </a:p>
        </p:txBody>
      </p:sp>
      <p:sp>
        <p:nvSpPr>
          <p:cNvPr id="24" name="Shape 21"/>
          <p:cNvSpPr/>
          <p:nvPr/>
        </p:nvSpPr>
        <p:spPr>
          <a:xfrm>
            <a:off x="6949440" y="4608576"/>
            <a:ext cx="4681728" cy="676656"/>
          </a:xfrm>
          <a:prstGeom prst="roundRect">
            <a:avLst>
              <a:gd name="adj" fmla="val 8108"/>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5" name="Shape 22"/>
          <p:cNvSpPr/>
          <p:nvPr/>
        </p:nvSpPr>
        <p:spPr>
          <a:xfrm>
            <a:off x="6949440" y="4608576"/>
            <a:ext cx="109728" cy="676656"/>
          </a:xfrm>
          <a:prstGeom prst="rect">
            <a:avLst/>
          </a:prstGeom>
          <a:solidFill>
            <a:srgbClr val="55A630"/>
          </a:solidFill>
          <a:ln w="12700">
            <a:solidFill>
              <a:srgbClr val="55A630"/>
            </a:solidFill>
            <a:prstDash val="solid"/>
          </a:ln>
        </p:spPr>
      </p:sp>
      <p:sp>
        <p:nvSpPr>
          <p:cNvPr id="26" name="Text 23"/>
          <p:cNvSpPr/>
          <p:nvPr/>
        </p:nvSpPr>
        <p:spPr>
          <a:xfrm>
            <a:off x="7242048" y="4681728"/>
            <a:ext cx="4206240" cy="219456"/>
          </a:xfrm>
          <a:prstGeom prst="rect">
            <a:avLst/>
          </a:prstGeom>
          <a:noFill/>
          <a:ln/>
        </p:spPr>
        <p:txBody>
          <a:bodyPr wrap="square" lIns="0" tIns="0" rIns="0" bIns="0" rtlCol="0" anchor="ctr"/>
          <a:lstStyle/>
          <a:p>
            <a:pPr indent="0" marL="0">
              <a:buNone/>
            </a:pPr>
            <a:r>
              <a:rPr lang="en-US" sz="1300" b="1" dirty="0">
                <a:solidFill>
                  <a:srgbClr val="55A630"/>
                </a:solidFill>
                <a:latin typeface="Calibri" pitchFamily="34" charset="0"/>
                <a:ea typeface="Calibri" pitchFamily="34" charset="-122"/>
                <a:cs typeface="Calibri" pitchFamily="34" charset="-120"/>
              </a:rPr>
              <a:t>Forecasts</a:t>
            </a:r>
            <a:endParaRPr lang="en-US" sz="1300" dirty="0"/>
          </a:p>
        </p:txBody>
      </p:sp>
      <p:sp>
        <p:nvSpPr>
          <p:cNvPr id="27" name="Text 24"/>
          <p:cNvSpPr/>
          <p:nvPr/>
        </p:nvSpPr>
        <p:spPr>
          <a:xfrm>
            <a:off x="7242048" y="4901184"/>
            <a:ext cx="4206240" cy="329184"/>
          </a:xfrm>
          <a:prstGeom prst="rect">
            <a:avLst/>
          </a:prstGeom>
          <a:noFill/>
          <a:ln/>
        </p:spPr>
        <p:txBody>
          <a:bodyPr wrap="square" lIns="0" tIns="0" rIns="0" bIns="0" rtlCol="0" anchor="t"/>
          <a:lstStyle/>
          <a:p>
            <a:pPr indent="0" marL="0">
              <a:lnSpc>
                <a:spcPct val="108000"/>
              </a:lnSpc>
              <a:buNone/>
            </a:pPr>
            <a:r>
              <a:rPr lang="en-US" sz="1050" dirty="0">
                <a:solidFill>
                  <a:srgbClr val="1F2933"/>
                </a:solidFill>
                <a:latin typeface="Calibri" pitchFamily="34" charset="0"/>
                <a:ea typeface="Calibri" pitchFamily="34" charset="-122"/>
                <a:cs typeface="Calibri" pitchFamily="34" charset="-120"/>
              </a:rPr>
              <a:t>expert estimates for broad human-level performance are widely spread, with survey means late this century and a minority saying never</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1.4</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What AI Systems Actually Do Today</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371600"/>
            <a:ext cx="3520440" cy="1828800"/>
          </a:xfrm>
          <a:prstGeom prst="roundRect">
            <a:avLst>
              <a:gd name="adj" fmla="val 3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Shape 5"/>
          <p:cNvSpPr/>
          <p:nvPr/>
        </p:nvSpPr>
        <p:spPr>
          <a:xfrm>
            <a:off x="594360" y="1371600"/>
            <a:ext cx="3520440" cy="146304"/>
          </a:xfrm>
          <a:prstGeom prst="rect">
            <a:avLst/>
          </a:prstGeom>
          <a:solidFill>
            <a:srgbClr val="247BA0"/>
          </a:solidFill>
          <a:ln w="12700">
            <a:solidFill>
              <a:srgbClr val="247BA0"/>
            </a:solidFill>
            <a:prstDash val="solid"/>
          </a:ln>
        </p:spPr>
      </p:sp>
      <p:sp>
        <p:nvSpPr>
          <p:cNvPr id="8" name="Text 6"/>
          <p:cNvSpPr/>
          <p:nvPr/>
        </p:nvSpPr>
        <p:spPr>
          <a:xfrm>
            <a:off x="822960" y="1609344"/>
            <a:ext cx="3063240" cy="274320"/>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Robotic vehicles</a:t>
            </a:r>
            <a:endParaRPr lang="en-US" sz="1550" dirty="0"/>
          </a:p>
        </p:txBody>
      </p:sp>
      <p:sp>
        <p:nvSpPr>
          <p:cNvPr id="9" name="Text 7"/>
          <p:cNvSpPr/>
          <p:nvPr/>
        </p:nvSpPr>
        <p:spPr>
          <a:xfrm>
            <a:off x="822960" y="1938528"/>
            <a:ext cx="3063240" cy="1133856"/>
          </a:xfrm>
          <a:prstGeom prst="rect">
            <a:avLst/>
          </a:prstGeom>
          <a:noFill/>
          <a:ln/>
        </p:spPr>
        <p:txBody>
          <a:bodyPr wrap="square" lIns="0" tIns="0" rIns="0" bIns="0" rtlCol="0" anchor="t"/>
          <a:lstStyle/>
          <a:p>
            <a:pPr indent="0" marL="0">
              <a:lnSpc>
                <a:spcPct val="114000"/>
              </a:lnSpc>
              <a:buNone/>
            </a:pPr>
            <a:r>
              <a:rPr lang="en-US" sz="1100" dirty="0">
                <a:solidFill>
                  <a:srgbClr val="1F2933"/>
                </a:solidFill>
                <a:latin typeface="Calibri" pitchFamily="34" charset="0"/>
                <a:ea typeface="Calibri" pitchFamily="34" charset="-122"/>
                <a:cs typeface="Calibri" pitchFamily="34" charset="-120"/>
              </a:rPr>
              <a:t>Autonomous road driving moved from DARPA challenge courses to public streets. Fixed-wing drones have been flying cross-country blood deliveries in Rwanda since 2016.</a:t>
            </a:r>
            <a:endParaRPr lang="en-US" sz="1100" dirty="0"/>
          </a:p>
        </p:txBody>
      </p:sp>
      <p:sp>
        <p:nvSpPr>
          <p:cNvPr id="10" name="Shape 8"/>
          <p:cNvSpPr/>
          <p:nvPr/>
        </p:nvSpPr>
        <p:spPr>
          <a:xfrm>
            <a:off x="4480560" y="1371600"/>
            <a:ext cx="3520440" cy="1828800"/>
          </a:xfrm>
          <a:prstGeom prst="roundRect">
            <a:avLst>
              <a:gd name="adj" fmla="val 3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1" name="Shape 9"/>
          <p:cNvSpPr/>
          <p:nvPr/>
        </p:nvSpPr>
        <p:spPr>
          <a:xfrm>
            <a:off x="4480560" y="1371600"/>
            <a:ext cx="3520440" cy="146304"/>
          </a:xfrm>
          <a:prstGeom prst="rect">
            <a:avLst/>
          </a:prstGeom>
          <a:solidFill>
            <a:srgbClr val="70C1B3"/>
          </a:solidFill>
          <a:ln w="12700">
            <a:solidFill>
              <a:srgbClr val="70C1B3"/>
            </a:solidFill>
            <a:prstDash val="solid"/>
          </a:ln>
        </p:spPr>
      </p:sp>
      <p:sp>
        <p:nvSpPr>
          <p:cNvPr id="12" name="Text 10"/>
          <p:cNvSpPr/>
          <p:nvPr/>
        </p:nvSpPr>
        <p:spPr>
          <a:xfrm>
            <a:off x="4709160" y="1609344"/>
            <a:ext cx="3063240" cy="274320"/>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Legged locomotion</a:t>
            </a:r>
            <a:endParaRPr lang="en-US" sz="1550" dirty="0"/>
          </a:p>
        </p:txBody>
      </p:sp>
      <p:sp>
        <p:nvSpPr>
          <p:cNvPr id="13" name="Text 11"/>
          <p:cNvSpPr/>
          <p:nvPr/>
        </p:nvSpPr>
        <p:spPr>
          <a:xfrm>
            <a:off x="4709160" y="1938528"/>
            <a:ext cx="3063240" cy="1133856"/>
          </a:xfrm>
          <a:prstGeom prst="rect">
            <a:avLst/>
          </a:prstGeom>
          <a:noFill/>
          <a:ln/>
        </p:spPr>
        <p:txBody>
          <a:bodyPr wrap="square" lIns="0" tIns="0" rIns="0" bIns="0" rtlCol="0" anchor="t"/>
          <a:lstStyle/>
          <a:p>
            <a:pPr indent="0" marL="0">
              <a:lnSpc>
                <a:spcPct val="114000"/>
              </a:lnSpc>
              <a:buNone/>
            </a:pPr>
            <a:r>
              <a:rPr lang="en-US" sz="1100" dirty="0">
                <a:solidFill>
                  <a:srgbClr val="1F2933"/>
                </a:solidFill>
                <a:latin typeface="Calibri" pitchFamily="34" charset="0"/>
                <a:ea typeface="Calibri" pitchFamily="34" charset="-122"/>
                <a:cs typeface="Calibri" pitchFamily="34" charset="-120"/>
              </a:rPr>
              <a:t>Quadrupeds such as BigDog recover from shoves and slips rather than toppling. Humanoid robots cross uneven terrain, jump onto boxes, and perform backflips.</a:t>
            </a:r>
            <a:endParaRPr lang="en-US" sz="1100" dirty="0"/>
          </a:p>
        </p:txBody>
      </p:sp>
      <p:sp>
        <p:nvSpPr>
          <p:cNvPr id="14" name="Shape 12"/>
          <p:cNvSpPr/>
          <p:nvPr/>
        </p:nvSpPr>
        <p:spPr>
          <a:xfrm>
            <a:off x="8366760" y="1371600"/>
            <a:ext cx="3520440" cy="1828800"/>
          </a:xfrm>
          <a:prstGeom prst="roundRect">
            <a:avLst>
              <a:gd name="adj" fmla="val 3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5" name="Shape 13"/>
          <p:cNvSpPr/>
          <p:nvPr/>
        </p:nvSpPr>
        <p:spPr>
          <a:xfrm>
            <a:off x="8366760" y="1371600"/>
            <a:ext cx="3520440" cy="146304"/>
          </a:xfrm>
          <a:prstGeom prst="rect">
            <a:avLst/>
          </a:prstGeom>
          <a:solidFill>
            <a:srgbClr val="6D28D9"/>
          </a:solidFill>
          <a:ln w="12700">
            <a:solidFill>
              <a:srgbClr val="6D28D9"/>
            </a:solidFill>
            <a:prstDash val="solid"/>
          </a:ln>
        </p:spPr>
      </p:sp>
      <p:sp>
        <p:nvSpPr>
          <p:cNvPr id="16" name="Text 14"/>
          <p:cNvSpPr/>
          <p:nvPr/>
        </p:nvSpPr>
        <p:spPr>
          <a:xfrm>
            <a:off x="8595360" y="1609344"/>
            <a:ext cx="3063240" cy="274320"/>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Planning and scheduling</a:t>
            </a:r>
            <a:endParaRPr lang="en-US" sz="1550" dirty="0"/>
          </a:p>
        </p:txBody>
      </p:sp>
      <p:sp>
        <p:nvSpPr>
          <p:cNvPr id="17" name="Text 15"/>
          <p:cNvSpPr/>
          <p:nvPr/>
        </p:nvSpPr>
        <p:spPr>
          <a:xfrm>
            <a:off x="8595360" y="1938528"/>
            <a:ext cx="3063240" cy="1133856"/>
          </a:xfrm>
          <a:prstGeom prst="rect">
            <a:avLst/>
          </a:prstGeom>
          <a:noFill/>
          <a:ln/>
        </p:spPr>
        <p:txBody>
          <a:bodyPr wrap="square" lIns="0" tIns="0" rIns="0" bIns="0" rtlCol="0" anchor="t"/>
          <a:lstStyle/>
          <a:p>
            <a:pPr indent="0" marL="0">
              <a:lnSpc>
                <a:spcPct val="114000"/>
              </a:lnSpc>
              <a:buNone/>
            </a:pPr>
            <a:r>
              <a:rPr lang="en-US" sz="1100" dirty="0">
                <a:solidFill>
                  <a:srgbClr val="1F2933"/>
                </a:solidFill>
                <a:latin typeface="Calibri" pitchFamily="34" charset="0"/>
                <a:ea typeface="Calibri" pitchFamily="34" charset="-122"/>
                <a:cs typeface="Calibri" pitchFamily="34" charset="-120"/>
              </a:rPr>
              <a:t>NASA's Remote Agent ran spacecraft operations autonomously from high-level goals. DART planned Gulf War logistics across tens of thousands of vehicles, cargo, and people.</a:t>
            </a:r>
            <a:endParaRPr lang="en-US" sz="1100" dirty="0"/>
          </a:p>
        </p:txBody>
      </p:sp>
      <p:sp>
        <p:nvSpPr>
          <p:cNvPr id="18" name="Shape 16"/>
          <p:cNvSpPr/>
          <p:nvPr/>
        </p:nvSpPr>
        <p:spPr>
          <a:xfrm>
            <a:off x="594360" y="3401568"/>
            <a:ext cx="3520440" cy="1828800"/>
          </a:xfrm>
          <a:prstGeom prst="roundRect">
            <a:avLst>
              <a:gd name="adj" fmla="val 3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9" name="Shape 17"/>
          <p:cNvSpPr/>
          <p:nvPr/>
        </p:nvSpPr>
        <p:spPr>
          <a:xfrm>
            <a:off x="594360" y="3401568"/>
            <a:ext cx="3520440" cy="146304"/>
          </a:xfrm>
          <a:prstGeom prst="rect">
            <a:avLst/>
          </a:prstGeom>
          <a:solidFill>
            <a:srgbClr val="55A630"/>
          </a:solidFill>
          <a:ln w="12700">
            <a:solidFill>
              <a:srgbClr val="55A630"/>
            </a:solidFill>
            <a:prstDash val="solid"/>
          </a:ln>
        </p:spPr>
      </p:sp>
      <p:sp>
        <p:nvSpPr>
          <p:cNvPr id="20" name="Text 18"/>
          <p:cNvSpPr/>
          <p:nvPr/>
        </p:nvSpPr>
        <p:spPr>
          <a:xfrm>
            <a:off x="822960" y="3639312"/>
            <a:ext cx="3063240" cy="274320"/>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Language and speech</a:t>
            </a:r>
            <a:endParaRPr lang="en-US" sz="1550" dirty="0"/>
          </a:p>
        </p:txBody>
      </p:sp>
      <p:sp>
        <p:nvSpPr>
          <p:cNvPr id="21" name="Text 19"/>
          <p:cNvSpPr/>
          <p:nvPr/>
        </p:nvSpPr>
        <p:spPr>
          <a:xfrm>
            <a:off x="822960" y="3968496"/>
            <a:ext cx="3063240" cy="1133856"/>
          </a:xfrm>
          <a:prstGeom prst="rect">
            <a:avLst/>
          </a:prstGeom>
          <a:noFill/>
          <a:ln/>
        </p:spPr>
        <p:txBody>
          <a:bodyPr wrap="square" lIns="0" tIns="0" rIns="0" bIns="0" rtlCol="0" anchor="t"/>
          <a:lstStyle/>
          <a:p>
            <a:pPr indent="0" marL="0">
              <a:lnSpc>
                <a:spcPct val="114000"/>
              </a:lnSpc>
              <a:buNone/>
            </a:pPr>
            <a:r>
              <a:rPr lang="en-US" sz="1100" dirty="0">
                <a:solidFill>
                  <a:srgbClr val="1F2933"/>
                </a:solidFill>
                <a:latin typeface="Calibri" pitchFamily="34" charset="0"/>
                <a:ea typeface="Calibri" pitchFamily="34" charset="-122"/>
                <a:cs typeface="Calibri" pitchFamily="34" charset="-120"/>
              </a:rPr>
              <a:t>Machine translation covers over a hundred languages at a scale of hundreds of billions of words a day. Conversational speech recognition reached a word error rate matching human transcribers.</a:t>
            </a:r>
            <a:endParaRPr lang="en-US" sz="1100" dirty="0"/>
          </a:p>
        </p:txBody>
      </p:sp>
      <p:sp>
        <p:nvSpPr>
          <p:cNvPr id="22" name="Shape 20"/>
          <p:cNvSpPr/>
          <p:nvPr/>
        </p:nvSpPr>
        <p:spPr>
          <a:xfrm>
            <a:off x="4480560" y="3401568"/>
            <a:ext cx="3520440" cy="1828800"/>
          </a:xfrm>
          <a:prstGeom prst="roundRect">
            <a:avLst>
              <a:gd name="adj" fmla="val 3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3" name="Shape 21"/>
          <p:cNvSpPr/>
          <p:nvPr/>
        </p:nvSpPr>
        <p:spPr>
          <a:xfrm>
            <a:off x="4480560" y="3401568"/>
            <a:ext cx="3520440" cy="146304"/>
          </a:xfrm>
          <a:prstGeom prst="rect">
            <a:avLst/>
          </a:prstGeom>
          <a:solidFill>
            <a:srgbClr val="F97316"/>
          </a:solidFill>
          <a:ln w="12700">
            <a:solidFill>
              <a:srgbClr val="F97316"/>
            </a:solidFill>
            <a:prstDash val="solid"/>
          </a:ln>
        </p:spPr>
      </p:sp>
      <p:sp>
        <p:nvSpPr>
          <p:cNvPr id="24" name="Text 22"/>
          <p:cNvSpPr/>
          <p:nvPr/>
        </p:nvSpPr>
        <p:spPr>
          <a:xfrm>
            <a:off x="4709160" y="3639312"/>
            <a:ext cx="3063240" cy="274320"/>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Game playing</a:t>
            </a:r>
            <a:endParaRPr lang="en-US" sz="1550" dirty="0"/>
          </a:p>
        </p:txBody>
      </p:sp>
      <p:sp>
        <p:nvSpPr>
          <p:cNvPr id="25" name="Text 23"/>
          <p:cNvSpPr/>
          <p:nvPr/>
        </p:nvSpPr>
        <p:spPr>
          <a:xfrm>
            <a:off x="4709160" y="3968496"/>
            <a:ext cx="3063240" cy="1133856"/>
          </a:xfrm>
          <a:prstGeom prst="rect">
            <a:avLst/>
          </a:prstGeom>
          <a:noFill/>
          <a:ln/>
        </p:spPr>
        <p:txBody>
          <a:bodyPr wrap="square" lIns="0" tIns="0" rIns="0" bIns="0" rtlCol="0" anchor="t"/>
          <a:lstStyle/>
          <a:p>
            <a:pPr indent="0" marL="0">
              <a:lnSpc>
                <a:spcPct val="114000"/>
              </a:lnSpc>
              <a:buNone/>
            </a:pPr>
            <a:r>
              <a:rPr lang="en-US" sz="1100" dirty="0">
                <a:solidFill>
                  <a:srgbClr val="1F2933"/>
                </a:solidFill>
                <a:latin typeface="Calibri" pitchFamily="34" charset="0"/>
                <a:ea typeface="Calibri" pitchFamily="34" charset="-122"/>
                <a:cs typeface="Calibri" pitchFamily="34" charset="-120"/>
              </a:rPr>
              <a:t>Deep Blue took chess in 1997 and AlphaGo surpassed human Go play twenty years later. AlphaZero learned Go, chess, and shogi from self-play with only the rules supplied.</a:t>
            </a:r>
            <a:endParaRPr lang="en-US" sz="1100" dirty="0"/>
          </a:p>
        </p:txBody>
      </p:sp>
      <p:sp>
        <p:nvSpPr>
          <p:cNvPr id="26" name="Shape 24"/>
          <p:cNvSpPr/>
          <p:nvPr/>
        </p:nvSpPr>
        <p:spPr>
          <a:xfrm>
            <a:off x="8366760" y="3401568"/>
            <a:ext cx="3520440" cy="1828800"/>
          </a:xfrm>
          <a:prstGeom prst="roundRect">
            <a:avLst>
              <a:gd name="adj" fmla="val 3000"/>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7" name="Shape 25"/>
          <p:cNvSpPr/>
          <p:nvPr/>
        </p:nvSpPr>
        <p:spPr>
          <a:xfrm>
            <a:off x="8366760" y="3401568"/>
            <a:ext cx="3520440" cy="146304"/>
          </a:xfrm>
          <a:prstGeom prst="rect">
            <a:avLst/>
          </a:prstGeom>
          <a:solidFill>
            <a:srgbClr val="C1121F"/>
          </a:solidFill>
          <a:ln w="12700">
            <a:solidFill>
              <a:srgbClr val="C1121F"/>
            </a:solidFill>
            <a:prstDash val="solid"/>
          </a:ln>
        </p:spPr>
      </p:sp>
      <p:sp>
        <p:nvSpPr>
          <p:cNvPr id="28" name="Text 26"/>
          <p:cNvSpPr/>
          <p:nvPr/>
        </p:nvSpPr>
        <p:spPr>
          <a:xfrm>
            <a:off x="8595360" y="3639312"/>
            <a:ext cx="3063240" cy="274320"/>
          </a:xfrm>
          <a:prstGeom prst="rect">
            <a:avLst/>
          </a:prstGeom>
          <a:noFill/>
          <a:ln/>
        </p:spPr>
        <p:txBody>
          <a:bodyPr wrap="square" lIns="0" tIns="0" rIns="0" bIns="0" rtlCol="0" anchor="ctr"/>
          <a:lstStyle/>
          <a:p>
            <a:pPr indent="0" marL="0">
              <a:buNone/>
            </a:pPr>
            <a:r>
              <a:rPr lang="en-US" sz="1550" b="1" dirty="0">
                <a:solidFill>
                  <a:srgbClr val="102A43"/>
                </a:solidFill>
                <a:latin typeface="Calibri" pitchFamily="34" charset="0"/>
                <a:ea typeface="Calibri" pitchFamily="34" charset="-122"/>
                <a:cs typeface="Calibri" pitchFamily="34" charset="-120"/>
              </a:rPr>
              <a:t>Medicine and science</a:t>
            </a:r>
            <a:endParaRPr lang="en-US" sz="1550" dirty="0"/>
          </a:p>
        </p:txBody>
      </p:sp>
      <p:sp>
        <p:nvSpPr>
          <p:cNvPr id="29" name="Text 27"/>
          <p:cNvSpPr/>
          <p:nvPr/>
        </p:nvSpPr>
        <p:spPr>
          <a:xfrm>
            <a:off x="8595360" y="3968496"/>
            <a:ext cx="3063240" cy="1133856"/>
          </a:xfrm>
          <a:prstGeom prst="rect">
            <a:avLst/>
          </a:prstGeom>
          <a:noFill/>
          <a:ln/>
        </p:spPr>
        <p:txBody>
          <a:bodyPr wrap="square" lIns="0" tIns="0" rIns="0" bIns="0" rtlCol="0" anchor="t"/>
          <a:lstStyle/>
          <a:p>
            <a:pPr indent="0" marL="0">
              <a:lnSpc>
                <a:spcPct val="114000"/>
              </a:lnSpc>
              <a:buNone/>
            </a:pPr>
            <a:r>
              <a:rPr lang="en-US" sz="1100" dirty="0">
                <a:solidFill>
                  <a:srgbClr val="1F2933"/>
                </a:solidFill>
                <a:latin typeface="Calibri" pitchFamily="34" charset="0"/>
                <a:ea typeface="Calibri" pitchFamily="34" charset="-122"/>
                <a:cs typeface="Calibri" pitchFamily="34" charset="-120"/>
              </a:rPr>
              <a:t>Image-based diagnosis now equals or exceeds expert physicians in several conditions, and FDA approvals are rising. Deep models extract extreme weather patterns from climate data.</a:t>
            </a:r>
            <a:endParaRPr lang="en-US" sz="1100" dirty="0"/>
          </a:p>
        </p:txBody>
      </p:sp>
      <p:sp>
        <p:nvSpPr>
          <p:cNvPr id="30" name="Shape 28"/>
          <p:cNvSpPr/>
          <p:nvPr/>
        </p:nvSpPr>
        <p:spPr>
          <a:xfrm>
            <a:off x="1249528" y="5504688"/>
            <a:ext cx="9692640" cy="603504"/>
          </a:xfrm>
          <a:prstGeom prst="roundRect">
            <a:avLst>
              <a:gd name="adj" fmla="val 9091"/>
            </a:avLst>
          </a:prstGeom>
          <a:solidFill>
            <a:srgbClr val="F97316"/>
          </a:solidFill>
          <a:ln w="12700">
            <a:solidFill>
              <a:srgbClr val="F97316"/>
            </a:solidFill>
            <a:prstDash val="solid"/>
          </a:ln>
        </p:spPr>
      </p:sp>
      <p:sp>
        <p:nvSpPr>
          <p:cNvPr id="31" name="Text 29"/>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every item here is narrow, benchmarked, and dependent on data and compute. This is engineering and mathematics, not magic.</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1.5</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Risks from Misuse: Weapons, Work, Safety, Security</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Text 4"/>
          <p:cNvSpPr/>
          <p:nvPr/>
        </p:nvSpPr>
        <p:spPr>
          <a:xfrm>
            <a:off x="822960" y="1335024"/>
            <a:ext cx="10515600" cy="292608"/>
          </a:xfrm>
          <a:prstGeom prst="rect">
            <a:avLst/>
          </a:prstGeom>
          <a:noFill/>
          <a:ln/>
        </p:spPr>
        <p:txBody>
          <a:bodyPr wrap="square" lIns="0" tIns="0" rIns="0" bIns="0" rtlCol="0" anchor="ctr"/>
          <a:lstStyle/>
          <a:p>
            <a:pPr indent="0" marL="0">
              <a:buNone/>
            </a:pPr>
            <a:r>
              <a:rPr lang="en-US" sz="1700" i="1" dirty="0">
                <a:solidFill>
                  <a:srgbClr val="52616B"/>
                </a:solidFill>
                <a:latin typeface="Calibri" pitchFamily="34" charset="0"/>
                <a:ea typeface="Calibri" pitchFamily="34" charset="-122"/>
                <a:cs typeface="Calibri" pitchFamily="34" charset="-120"/>
              </a:rPr>
              <a:t>Bacon's warning about the mechanical arts: the same capability serves for hurt as well as for remedy</a:t>
            </a:r>
            <a:endParaRPr lang="en-US" sz="1700" dirty="0"/>
          </a:p>
        </p:txBody>
      </p:sp>
      <p:sp>
        <p:nvSpPr>
          <p:cNvPr id="7" name="Shape 5"/>
          <p:cNvSpPr/>
          <p:nvPr/>
        </p:nvSpPr>
        <p:spPr>
          <a:xfrm>
            <a:off x="594360" y="1755648"/>
            <a:ext cx="5285232" cy="1783080"/>
          </a:xfrm>
          <a:prstGeom prst="roundRect">
            <a:avLst>
              <a:gd name="adj" fmla="val 307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8" name="Shape 6"/>
          <p:cNvSpPr/>
          <p:nvPr/>
        </p:nvSpPr>
        <p:spPr>
          <a:xfrm>
            <a:off x="594360" y="1755648"/>
            <a:ext cx="5285232" cy="128016"/>
          </a:xfrm>
          <a:prstGeom prst="rect">
            <a:avLst/>
          </a:prstGeom>
          <a:solidFill>
            <a:srgbClr val="C1121F"/>
          </a:solidFill>
          <a:ln w="12700">
            <a:solidFill>
              <a:srgbClr val="C1121F"/>
            </a:solidFill>
            <a:prstDash val="solid"/>
          </a:ln>
        </p:spPr>
      </p:sp>
      <p:sp>
        <p:nvSpPr>
          <p:cNvPr id="9" name="Text 7"/>
          <p:cNvSpPr/>
          <p:nvPr/>
        </p:nvSpPr>
        <p:spPr>
          <a:xfrm>
            <a:off x="822960" y="2011680"/>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Lethal autonomous weapons</a:t>
            </a:r>
            <a:endParaRPr lang="en-US" sz="1600" dirty="0"/>
          </a:p>
        </p:txBody>
      </p:sp>
      <p:sp>
        <p:nvSpPr>
          <p:cNvPr id="10" name="Text 8"/>
          <p:cNvSpPr/>
          <p:nvPr/>
        </p:nvSpPr>
        <p:spPr>
          <a:xfrm>
            <a:off x="822960" y="2359152"/>
            <a:ext cx="4846320" cy="1097280"/>
          </a:xfrm>
          <a:prstGeom prst="rect">
            <a:avLst/>
          </a:prstGeom>
          <a:noFill/>
          <a:ln/>
        </p:spPr>
        <p:txBody>
          <a:bodyPr wrap="square" lIns="0" tIns="0" rIns="0" bIns="0" rtlCol="0" anchor="t"/>
          <a:lstStyle/>
          <a:p>
            <a:pPr indent="0" marL="0">
              <a:lnSpc>
                <a:spcPct val="118000"/>
              </a:lnSpc>
              <a:spcAft>
                <a:spcPts val="400"/>
              </a:spcAft>
              <a:buNone/>
            </a:pPr>
            <a:r>
              <a:rPr lang="en-US" sz="1100" b="1" dirty="0">
                <a:solidFill>
                  <a:srgbClr val="C1121F"/>
                </a:solidFill>
                <a:latin typeface="Calibri" pitchFamily="34" charset="0"/>
                <a:ea typeface="Calibri" pitchFamily="34" charset="-122"/>
                <a:cs typeface="Calibri" pitchFamily="34" charset="-120"/>
              </a:rPr>
              <a:t>UN definition: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locate, select, and eliminate targets with no human in the loop</a:t>
            </a:r>
            <a:endParaRPr lang="en-US" sz="1100" dirty="0"/>
          </a:p>
          <a:p>
            <a:pPr indent="0" marL="0">
              <a:lnSpc>
                <a:spcPct val="118000"/>
              </a:lnSpc>
              <a:spcAft>
                <a:spcPts val="400"/>
              </a:spcAft>
              <a:buNone/>
            </a:pPr>
            <a:r>
              <a:rPr lang="en-US" sz="1100" b="1" dirty="0">
                <a:solidFill>
                  <a:srgbClr val="C1121F"/>
                </a:solidFill>
                <a:latin typeface="Calibri" pitchFamily="34" charset="0"/>
                <a:ea typeface="Calibri" pitchFamily="34" charset="-122"/>
                <a:cs typeface="Calibri" pitchFamily="34" charset="-120"/>
              </a:rPr>
              <a:t>Core concern: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scalability, since no human supervision means no limit on how many are deployed</a:t>
            </a:r>
            <a:endParaRPr lang="en-US" sz="1100" dirty="0"/>
          </a:p>
          <a:p>
            <a:pPr indent="0" marL="0">
              <a:lnSpc>
                <a:spcPct val="118000"/>
              </a:lnSpc>
              <a:spcAft>
                <a:spcPts val="400"/>
              </a:spcAft>
              <a:buNone/>
            </a:pPr>
            <a:r>
              <a:rPr lang="en-US" sz="1100" b="1" dirty="0">
                <a:solidFill>
                  <a:srgbClr val="C1121F"/>
                </a:solidFill>
                <a:latin typeface="Calibri" pitchFamily="34" charset="0"/>
                <a:ea typeface="Calibri" pitchFamily="34" charset="-122"/>
                <a:cs typeface="Calibri" pitchFamily="34" charset="-120"/>
              </a:rPr>
              <a:t>Consequence: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small groups could field very large numbers against computed criteria</a:t>
            </a:r>
            <a:endParaRPr lang="en-US" sz="1100" dirty="0"/>
          </a:p>
        </p:txBody>
      </p:sp>
      <p:sp>
        <p:nvSpPr>
          <p:cNvPr id="11" name="Shape 9"/>
          <p:cNvSpPr/>
          <p:nvPr/>
        </p:nvSpPr>
        <p:spPr>
          <a:xfrm>
            <a:off x="6291072" y="1755648"/>
            <a:ext cx="5285232" cy="1783080"/>
          </a:xfrm>
          <a:prstGeom prst="roundRect">
            <a:avLst>
              <a:gd name="adj" fmla="val 307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2" name="Shape 10"/>
          <p:cNvSpPr/>
          <p:nvPr/>
        </p:nvSpPr>
        <p:spPr>
          <a:xfrm>
            <a:off x="6291072" y="1755648"/>
            <a:ext cx="5285232" cy="128016"/>
          </a:xfrm>
          <a:prstGeom prst="rect">
            <a:avLst/>
          </a:prstGeom>
          <a:solidFill>
            <a:srgbClr val="F97316"/>
          </a:solidFill>
          <a:ln w="12700">
            <a:solidFill>
              <a:srgbClr val="F97316"/>
            </a:solidFill>
            <a:prstDash val="solid"/>
          </a:ln>
        </p:spPr>
      </p:sp>
      <p:sp>
        <p:nvSpPr>
          <p:cNvPr id="13" name="Text 11"/>
          <p:cNvSpPr/>
          <p:nvPr/>
        </p:nvSpPr>
        <p:spPr>
          <a:xfrm>
            <a:off x="6519672" y="2011680"/>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Impact on employment</a:t>
            </a:r>
            <a:endParaRPr lang="en-US" sz="1600" dirty="0"/>
          </a:p>
        </p:txBody>
      </p:sp>
      <p:sp>
        <p:nvSpPr>
          <p:cNvPr id="14" name="Text 12"/>
          <p:cNvSpPr/>
          <p:nvPr/>
        </p:nvSpPr>
        <p:spPr>
          <a:xfrm>
            <a:off x="6519672" y="2359152"/>
            <a:ext cx="4846320" cy="1097280"/>
          </a:xfrm>
          <a:prstGeom prst="rect">
            <a:avLst/>
          </a:prstGeom>
          <a:noFill/>
          <a:ln/>
        </p:spPr>
        <p:txBody>
          <a:bodyPr wrap="square" lIns="0" tIns="0" rIns="0" bIns="0" rtlCol="0" anchor="t"/>
          <a:lstStyle/>
          <a:p>
            <a:pPr indent="0" marL="0">
              <a:lnSpc>
                <a:spcPct val="118000"/>
              </a:lnSpc>
              <a:spcAft>
                <a:spcPts val="400"/>
              </a:spcAft>
              <a:buNone/>
            </a:pPr>
            <a:r>
              <a:rPr lang="en-US" sz="1100" b="1" dirty="0">
                <a:solidFill>
                  <a:srgbClr val="F97316"/>
                </a:solidFill>
                <a:latin typeface="Calibri" pitchFamily="34" charset="0"/>
                <a:ea typeface="Calibri" pitchFamily="34" charset="-122"/>
                <a:cs typeface="Calibri" pitchFamily="34" charset="-120"/>
              </a:rPr>
              <a:t>Not a new worry: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concerns about machines eliminating jobs are centuries old</a:t>
            </a:r>
            <a:endParaRPr lang="en-US" sz="1100" dirty="0"/>
          </a:p>
          <a:p>
            <a:pPr indent="0" marL="0">
              <a:lnSpc>
                <a:spcPct val="118000"/>
              </a:lnSpc>
              <a:spcAft>
                <a:spcPts val="400"/>
              </a:spcAft>
              <a:buNone/>
            </a:pPr>
            <a:r>
              <a:rPr lang="en-US" sz="1100" b="1" dirty="0">
                <a:solidFill>
                  <a:srgbClr val="F97316"/>
                </a:solidFill>
                <a:latin typeface="Calibri" pitchFamily="34" charset="0"/>
                <a:ea typeface="Calibri" pitchFamily="34" charset="-122"/>
                <a:cs typeface="Calibri" pitchFamily="34" charset="-120"/>
              </a:rPr>
              <a:t>The complication: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machines also make people more productive, and firms more able to pay</a:t>
            </a:r>
            <a:endParaRPr lang="en-US" sz="1100" dirty="0"/>
          </a:p>
          <a:p>
            <a:pPr indent="0" marL="0">
              <a:lnSpc>
                <a:spcPct val="118000"/>
              </a:lnSpc>
              <a:spcAft>
                <a:spcPts val="400"/>
              </a:spcAft>
              <a:buNone/>
            </a:pPr>
            <a:r>
              <a:rPr lang="en-US" sz="1100" b="1" dirty="0">
                <a:solidFill>
                  <a:srgbClr val="F97316"/>
                </a:solidFill>
                <a:latin typeface="Calibri" pitchFamily="34" charset="0"/>
                <a:ea typeface="Calibri" pitchFamily="34" charset="-122"/>
                <a:cs typeface="Calibri" pitchFamily="34" charset="-120"/>
              </a:rPr>
              <a:t>The real question: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how the gains are distributed, not simply how many tasks are automated</a:t>
            </a:r>
            <a:endParaRPr lang="en-US" sz="1100" dirty="0"/>
          </a:p>
        </p:txBody>
      </p:sp>
      <p:sp>
        <p:nvSpPr>
          <p:cNvPr id="15" name="Shape 13"/>
          <p:cNvSpPr/>
          <p:nvPr/>
        </p:nvSpPr>
        <p:spPr>
          <a:xfrm>
            <a:off x="594360" y="3611880"/>
            <a:ext cx="5285232" cy="1783080"/>
          </a:xfrm>
          <a:prstGeom prst="roundRect">
            <a:avLst>
              <a:gd name="adj" fmla="val 307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6" name="Shape 14"/>
          <p:cNvSpPr/>
          <p:nvPr/>
        </p:nvSpPr>
        <p:spPr>
          <a:xfrm>
            <a:off x="594360" y="3611880"/>
            <a:ext cx="5285232" cy="128016"/>
          </a:xfrm>
          <a:prstGeom prst="rect">
            <a:avLst/>
          </a:prstGeom>
          <a:solidFill>
            <a:srgbClr val="6D28D9"/>
          </a:solidFill>
          <a:ln w="12700">
            <a:solidFill>
              <a:srgbClr val="6D28D9"/>
            </a:solidFill>
            <a:prstDash val="solid"/>
          </a:ln>
        </p:spPr>
      </p:sp>
      <p:sp>
        <p:nvSpPr>
          <p:cNvPr id="17" name="Text 15"/>
          <p:cNvSpPr/>
          <p:nvPr/>
        </p:nvSpPr>
        <p:spPr>
          <a:xfrm>
            <a:off x="822960" y="3867912"/>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Safety-critical applications</a:t>
            </a:r>
            <a:endParaRPr lang="en-US" sz="1600" dirty="0"/>
          </a:p>
        </p:txBody>
      </p:sp>
      <p:sp>
        <p:nvSpPr>
          <p:cNvPr id="18" name="Text 16"/>
          <p:cNvSpPr/>
          <p:nvPr/>
        </p:nvSpPr>
        <p:spPr>
          <a:xfrm>
            <a:off x="822960" y="4215384"/>
            <a:ext cx="4846320" cy="1097280"/>
          </a:xfrm>
          <a:prstGeom prst="rect">
            <a:avLst/>
          </a:prstGeom>
          <a:noFill/>
          <a:ln/>
        </p:spPr>
        <p:txBody>
          <a:bodyPr wrap="square" lIns="0" tIns="0" rIns="0" bIns="0" rtlCol="0" anchor="t"/>
          <a:lstStyle/>
          <a:p>
            <a:pPr indent="0" marL="0">
              <a:lnSpc>
                <a:spcPct val="118000"/>
              </a:lnSpc>
              <a:spcAft>
                <a:spcPts val="400"/>
              </a:spcAft>
              <a:buNone/>
            </a:pPr>
            <a:r>
              <a:rPr lang="en-US" sz="1100" b="1" dirty="0">
                <a:solidFill>
                  <a:srgbClr val="6D28D9"/>
                </a:solidFill>
                <a:latin typeface="Calibri" pitchFamily="34" charset="0"/>
                <a:ea typeface="Calibri" pitchFamily="34" charset="-122"/>
                <a:cs typeface="Calibri" pitchFamily="34" charset="-120"/>
              </a:rPr>
              <a:t>Where: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driving, municipal water supply, and other high-stakes infrastructure</a:t>
            </a:r>
            <a:endParaRPr lang="en-US" sz="1100" dirty="0"/>
          </a:p>
          <a:p>
            <a:pPr indent="0" marL="0">
              <a:lnSpc>
                <a:spcPct val="118000"/>
              </a:lnSpc>
              <a:spcAft>
                <a:spcPts val="400"/>
              </a:spcAft>
              <a:buNone/>
            </a:pPr>
            <a:r>
              <a:rPr lang="en-US" sz="1100" b="1" dirty="0">
                <a:solidFill>
                  <a:srgbClr val="6D28D9"/>
                </a:solidFill>
                <a:latin typeface="Calibri" pitchFamily="34" charset="0"/>
                <a:ea typeface="Calibri" pitchFamily="34" charset="-122"/>
                <a:cs typeface="Calibri" pitchFamily="34" charset="-120"/>
              </a:rPr>
              <a:t>Already happened: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fatal accidents involving automated systems</a:t>
            </a:r>
            <a:endParaRPr lang="en-US" sz="1100" dirty="0"/>
          </a:p>
          <a:p>
            <a:pPr indent="0" marL="0">
              <a:lnSpc>
                <a:spcPct val="118000"/>
              </a:lnSpc>
              <a:spcAft>
                <a:spcPts val="400"/>
              </a:spcAft>
              <a:buNone/>
            </a:pPr>
            <a:r>
              <a:rPr lang="en-US" sz="1100" b="1" dirty="0">
                <a:solidFill>
                  <a:srgbClr val="6D28D9"/>
                </a:solidFill>
                <a:latin typeface="Calibri" pitchFamily="34" charset="0"/>
                <a:ea typeface="Calibri" pitchFamily="34" charset="-122"/>
                <a:cs typeface="Calibri" pitchFamily="34" charset="-120"/>
              </a:rPr>
              <a:t>Hard part: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formal verification and statistical risk analysis for systems produced by learning</a:t>
            </a:r>
            <a:endParaRPr lang="en-US" sz="1100" dirty="0"/>
          </a:p>
        </p:txBody>
      </p:sp>
      <p:sp>
        <p:nvSpPr>
          <p:cNvPr id="19" name="Shape 17"/>
          <p:cNvSpPr/>
          <p:nvPr/>
        </p:nvSpPr>
        <p:spPr>
          <a:xfrm>
            <a:off x="6291072" y="3611880"/>
            <a:ext cx="5285232" cy="1783080"/>
          </a:xfrm>
          <a:prstGeom prst="roundRect">
            <a:avLst>
              <a:gd name="adj" fmla="val 307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0" name="Shape 18"/>
          <p:cNvSpPr/>
          <p:nvPr/>
        </p:nvSpPr>
        <p:spPr>
          <a:xfrm>
            <a:off x="6291072" y="3611880"/>
            <a:ext cx="5285232" cy="128016"/>
          </a:xfrm>
          <a:prstGeom prst="rect">
            <a:avLst/>
          </a:prstGeom>
          <a:solidFill>
            <a:srgbClr val="70C1B3"/>
          </a:solidFill>
          <a:ln w="12700">
            <a:solidFill>
              <a:srgbClr val="70C1B3"/>
            </a:solidFill>
            <a:prstDash val="solid"/>
          </a:ln>
        </p:spPr>
      </p:sp>
      <p:sp>
        <p:nvSpPr>
          <p:cNvPr id="21" name="Text 19"/>
          <p:cNvSpPr/>
          <p:nvPr/>
        </p:nvSpPr>
        <p:spPr>
          <a:xfrm>
            <a:off x="6519672" y="3867912"/>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Cybersecurity</a:t>
            </a:r>
            <a:endParaRPr lang="en-US" sz="1600" dirty="0"/>
          </a:p>
        </p:txBody>
      </p:sp>
      <p:sp>
        <p:nvSpPr>
          <p:cNvPr id="22" name="Text 20"/>
          <p:cNvSpPr/>
          <p:nvPr/>
        </p:nvSpPr>
        <p:spPr>
          <a:xfrm>
            <a:off x="6519672" y="4215384"/>
            <a:ext cx="4846320" cy="1097280"/>
          </a:xfrm>
          <a:prstGeom prst="rect">
            <a:avLst/>
          </a:prstGeom>
          <a:noFill/>
          <a:ln/>
        </p:spPr>
        <p:txBody>
          <a:bodyPr wrap="square" lIns="0" tIns="0" rIns="0" bIns="0" rtlCol="0" anchor="t"/>
          <a:lstStyle/>
          <a:p>
            <a:pPr indent="0" marL="0">
              <a:lnSpc>
                <a:spcPct val="118000"/>
              </a:lnSpc>
              <a:spcAft>
                <a:spcPts val="400"/>
              </a:spcAft>
              <a:buNone/>
            </a:pPr>
            <a:r>
              <a:rPr lang="en-US" sz="1100" b="1" dirty="0">
                <a:solidFill>
                  <a:srgbClr val="70C1B3"/>
                </a:solidFill>
                <a:latin typeface="Calibri" pitchFamily="34" charset="0"/>
                <a:ea typeface="Calibri" pitchFamily="34" charset="-122"/>
                <a:cs typeface="Calibri" pitchFamily="34" charset="-120"/>
              </a:rPr>
              <a:t>Defensive value: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learned models detect unusual patterns of behavior at scale</a:t>
            </a:r>
            <a:endParaRPr lang="en-US" sz="1100" dirty="0"/>
          </a:p>
          <a:p>
            <a:pPr indent="0" marL="0">
              <a:lnSpc>
                <a:spcPct val="118000"/>
              </a:lnSpc>
              <a:spcAft>
                <a:spcPts val="400"/>
              </a:spcAft>
              <a:buNone/>
            </a:pPr>
            <a:r>
              <a:rPr lang="en-US" sz="1100" b="1" dirty="0">
                <a:solidFill>
                  <a:srgbClr val="70C1B3"/>
                </a:solidFill>
                <a:latin typeface="Calibri" pitchFamily="34" charset="0"/>
                <a:ea typeface="Calibri" pitchFamily="34" charset="-122"/>
                <a:cs typeface="Calibri" pitchFamily="34" charset="-120"/>
              </a:rPr>
              <a:t>Offensive value: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the same techniques improve the potency, survivability, and spread of malware</a:t>
            </a:r>
            <a:endParaRPr lang="en-US" sz="1100" dirty="0"/>
          </a:p>
          <a:p>
            <a:pPr indent="0" marL="0">
              <a:lnSpc>
                <a:spcPct val="118000"/>
              </a:lnSpc>
              <a:spcAft>
                <a:spcPts val="400"/>
              </a:spcAft>
              <a:buNone/>
            </a:pPr>
            <a:r>
              <a:rPr lang="en-US" sz="1100" b="1" dirty="0">
                <a:solidFill>
                  <a:srgbClr val="70C1B3"/>
                </a:solidFill>
                <a:latin typeface="Calibri" pitchFamily="34" charset="0"/>
                <a:ea typeface="Calibri" pitchFamily="34" charset="-122"/>
                <a:cs typeface="Calibri" pitchFamily="34" charset="-120"/>
              </a:rPr>
              <a:t>Documented: </a:t>
            </a:r>
            <a:pPr indent="0" marL="0">
              <a:lnSpc>
                <a:spcPct val="118000"/>
              </a:lnSpc>
              <a:spcAft>
                <a:spcPts val="400"/>
              </a:spcAft>
              <a:buNone/>
            </a:pPr>
            <a:r>
              <a:rPr lang="en-US" sz="1100" dirty="0">
                <a:solidFill>
                  <a:srgbClr val="1F2933"/>
                </a:solidFill>
                <a:latin typeface="Calibri" pitchFamily="34" charset="0"/>
                <a:ea typeface="Calibri" pitchFamily="34" charset="-122"/>
                <a:cs typeface="Calibri" pitchFamily="34" charset="-120"/>
              </a:rPr>
              <a:t>reinforcement learning used to build automated, personalized phishing and blackmail tools</a:t>
            </a:r>
            <a:endParaRPr lang="en-US" sz="1100" dirty="0"/>
          </a:p>
        </p:txBody>
      </p:sp>
      <p:sp>
        <p:nvSpPr>
          <p:cNvPr id="23" name="Shape 21"/>
          <p:cNvSpPr/>
          <p:nvPr/>
        </p:nvSpPr>
        <p:spPr>
          <a:xfrm>
            <a:off x="1249528" y="5504688"/>
            <a:ext cx="9692640" cy="603504"/>
          </a:xfrm>
          <a:prstGeom prst="roundRect">
            <a:avLst>
              <a:gd name="adj" fmla="val 9091"/>
            </a:avLst>
          </a:prstGeom>
          <a:solidFill>
            <a:srgbClr val="C1121F"/>
          </a:solidFill>
          <a:ln w="12700">
            <a:solidFill>
              <a:srgbClr val="C1121F"/>
            </a:solidFill>
            <a:prstDash val="solid"/>
          </a:ln>
        </p:spPr>
      </p:sp>
      <p:sp>
        <p:nvSpPr>
          <p:cNvPr id="24" name="Text 22"/>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the near-term risk in Chapter 1 is misuse of capable systems at scale, not superintelligence.</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1.5</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Surveillance, Persuasion, and Governance</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Text 4"/>
          <p:cNvSpPr/>
          <p:nvPr/>
        </p:nvSpPr>
        <p:spPr>
          <a:xfrm>
            <a:off x="822960" y="1371600"/>
            <a:ext cx="10515600" cy="292608"/>
          </a:xfrm>
          <a:prstGeom prst="rect">
            <a:avLst/>
          </a:prstGeom>
          <a:noFill/>
          <a:ln/>
        </p:spPr>
        <p:txBody>
          <a:bodyPr wrap="square" lIns="0" tIns="0" rIns="0" bIns="0" rtlCol="0" anchor="ctr"/>
          <a:lstStyle/>
          <a:p>
            <a:pPr indent="0" marL="0">
              <a:buNone/>
            </a:pPr>
            <a:r>
              <a:rPr lang="en-US" sz="1850" b="1" dirty="0">
                <a:solidFill>
                  <a:srgbClr val="102A43"/>
                </a:solidFill>
                <a:latin typeface="Calibri" pitchFamily="34" charset="0"/>
                <a:ea typeface="Calibri" pitchFamily="34" charset="-122"/>
                <a:cs typeface="Calibri" pitchFamily="34" charset="-120"/>
              </a:rPr>
              <a:t>Risks scale when AI systems are deployed broadly</a:t>
            </a:r>
            <a:endParaRPr lang="en-US" sz="1850" dirty="0"/>
          </a:p>
        </p:txBody>
      </p:sp>
      <p:sp>
        <p:nvSpPr>
          <p:cNvPr id="7" name="Shape 5"/>
          <p:cNvSpPr/>
          <p:nvPr/>
        </p:nvSpPr>
        <p:spPr>
          <a:xfrm>
            <a:off x="1005840" y="1947672"/>
            <a:ext cx="10149840" cy="530352"/>
          </a:xfrm>
          <a:prstGeom prst="roundRect">
            <a:avLst>
              <a:gd name="adj" fmla="val 10345"/>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8" name="Shape 6"/>
          <p:cNvSpPr/>
          <p:nvPr/>
        </p:nvSpPr>
        <p:spPr>
          <a:xfrm>
            <a:off x="1005840" y="1947672"/>
            <a:ext cx="109728" cy="530352"/>
          </a:xfrm>
          <a:prstGeom prst="rect">
            <a:avLst/>
          </a:prstGeom>
          <a:solidFill>
            <a:srgbClr val="247BA0"/>
          </a:solidFill>
          <a:ln w="12700">
            <a:solidFill>
              <a:srgbClr val="247BA0"/>
            </a:solidFill>
            <a:prstDash val="solid"/>
          </a:ln>
        </p:spPr>
      </p:sp>
      <p:sp>
        <p:nvSpPr>
          <p:cNvPr id="9" name="Text 7"/>
          <p:cNvSpPr/>
          <p:nvPr/>
        </p:nvSpPr>
        <p:spPr>
          <a:xfrm>
            <a:off x="1325880" y="2066544"/>
            <a:ext cx="1600200" cy="228600"/>
          </a:xfrm>
          <a:prstGeom prst="rect">
            <a:avLst/>
          </a:prstGeom>
          <a:noFill/>
          <a:ln/>
        </p:spPr>
        <p:txBody>
          <a:bodyPr wrap="square" lIns="0" tIns="0" rIns="0" bIns="0" rtlCol="0" anchor="ctr"/>
          <a:lstStyle/>
          <a:p>
            <a:pPr indent="0" marL="0">
              <a:buNone/>
            </a:pPr>
            <a:r>
              <a:rPr lang="en-US" sz="1400" b="1" dirty="0">
                <a:solidFill>
                  <a:srgbClr val="247BA0"/>
                </a:solidFill>
                <a:latin typeface="Calibri" pitchFamily="34" charset="0"/>
                <a:ea typeface="Calibri" pitchFamily="34" charset="-122"/>
                <a:cs typeface="Calibri" pitchFamily="34" charset="-120"/>
              </a:rPr>
              <a:t>Surveillance</a:t>
            </a:r>
            <a:endParaRPr lang="en-US" sz="1400" dirty="0"/>
          </a:p>
        </p:txBody>
      </p:sp>
      <p:sp>
        <p:nvSpPr>
          <p:cNvPr id="10" name="Text 8"/>
          <p:cNvSpPr/>
          <p:nvPr/>
        </p:nvSpPr>
        <p:spPr>
          <a:xfrm>
            <a:off x="3017520" y="2066544"/>
            <a:ext cx="7818120" cy="27432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speech, vision, and language systems can monitor communication and behavior at scale</a:t>
            </a:r>
            <a:endParaRPr lang="en-US" sz="1350" dirty="0"/>
          </a:p>
        </p:txBody>
      </p:sp>
      <p:sp>
        <p:nvSpPr>
          <p:cNvPr id="11" name="Shape 9"/>
          <p:cNvSpPr/>
          <p:nvPr/>
        </p:nvSpPr>
        <p:spPr>
          <a:xfrm>
            <a:off x="1005840" y="2706624"/>
            <a:ext cx="10149840" cy="530352"/>
          </a:xfrm>
          <a:prstGeom prst="roundRect">
            <a:avLst>
              <a:gd name="adj" fmla="val 10345"/>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2" name="Shape 10"/>
          <p:cNvSpPr/>
          <p:nvPr/>
        </p:nvSpPr>
        <p:spPr>
          <a:xfrm>
            <a:off x="1005840" y="2706624"/>
            <a:ext cx="109728" cy="530352"/>
          </a:xfrm>
          <a:prstGeom prst="rect">
            <a:avLst/>
          </a:prstGeom>
          <a:solidFill>
            <a:srgbClr val="F97316"/>
          </a:solidFill>
          <a:ln w="12700">
            <a:solidFill>
              <a:srgbClr val="F97316"/>
            </a:solidFill>
            <a:prstDash val="solid"/>
          </a:ln>
        </p:spPr>
      </p:sp>
      <p:sp>
        <p:nvSpPr>
          <p:cNvPr id="13" name="Text 11"/>
          <p:cNvSpPr/>
          <p:nvPr/>
        </p:nvSpPr>
        <p:spPr>
          <a:xfrm>
            <a:off x="1325880" y="2825496"/>
            <a:ext cx="1600200" cy="228600"/>
          </a:xfrm>
          <a:prstGeom prst="rect">
            <a:avLst/>
          </a:prstGeom>
          <a:noFill/>
          <a:ln/>
        </p:spPr>
        <p:txBody>
          <a:bodyPr wrap="square" lIns="0" tIns="0" rIns="0" bIns="0"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Persuasion</a:t>
            </a:r>
            <a:endParaRPr lang="en-US" sz="1400" dirty="0"/>
          </a:p>
        </p:txBody>
      </p:sp>
      <p:sp>
        <p:nvSpPr>
          <p:cNvPr id="14" name="Text 12"/>
          <p:cNvSpPr/>
          <p:nvPr/>
        </p:nvSpPr>
        <p:spPr>
          <a:xfrm>
            <a:off x="3017520" y="2825496"/>
            <a:ext cx="7818120" cy="27432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machine learning can personalize information flows and influence decisions or behavior</a:t>
            </a:r>
            <a:endParaRPr lang="en-US" sz="1350" dirty="0"/>
          </a:p>
        </p:txBody>
      </p:sp>
      <p:sp>
        <p:nvSpPr>
          <p:cNvPr id="15" name="Shape 13"/>
          <p:cNvSpPr/>
          <p:nvPr/>
        </p:nvSpPr>
        <p:spPr>
          <a:xfrm>
            <a:off x="1005840" y="3465576"/>
            <a:ext cx="10149840" cy="530352"/>
          </a:xfrm>
          <a:prstGeom prst="roundRect">
            <a:avLst>
              <a:gd name="adj" fmla="val 10345"/>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6" name="Shape 14"/>
          <p:cNvSpPr/>
          <p:nvPr/>
        </p:nvSpPr>
        <p:spPr>
          <a:xfrm>
            <a:off x="1005840" y="3465576"/>
            <a:ext cx="109728" cy="530352"/>
          </a:xfrm>
          <a:prstGeom prst="rect">
            <a:avLst/>
          </a:prstGeom>
          <a:solidFill>
            <a:srgbClr val="C1121F"/>
          </a:solidFill>
          <a:ln w="12700">
            <a:solidFill>
              <a:srgbClr val="C1121F"/>
            </a:solidFill>
            <a:prstDash val="solid"/>
          </a:ln>
        </p:spPr>
      </p:sp>
      <p:sp>
        <p:nvSpPr>
          <p:cNvPr id="17" name="Text 15"/>
          <p:cNvSpPr/>
          <p:nvPr/>
        </p:nvSpPr>
        <p:spPr>
          <a:xfrm>
            <a:off x="1325880" y="3584448"/>
            <a:ext cx="1600200" cy="228600"/>
          </a:xfrm>
          <a:prstGeom prst="rect">
            <a:avLst/>
          </a:prstGeom>
          <a:noFill/>
          <a:ln/>
        </p:spPr>
        <p:txBody>
          <a:bodyPr wrap="square" lIns="0" tIns="0" rIns="0" bIns="0" rtlCol="0" anchor="ctr"/>
          <a:lstStyle/>
          <a:p>
            <a:pPr indent="0" marL="0">
              <a:buNone/>
            </a:pPr>
            <a:r>
              <a:rPr lang="en-US" sz="1400" b="1" dirty="0">
                <a:solidFill>
                  <a:srgbClr val="C1121F"/>
                </a:solidFill>
                <a:latin typeface="Calibri" pitchFamily="34" charset="0"/>
                <a:ea typeface="Calibri" pitchFamily="34" charset="-122"/>
                <a:cs typeface="Calibri" pitchFamily="34" charset="-120"/>
              </a:rPr>
              <a:t>Bias</a:t>
            </a:r>
            <a:endParaRPr lang="en-US" sz="1400" dirty="0"/>
          </a:p>
        </p:txBody>
      </p:sp>
      <p:sp>
        <p:nvSpPr>
          <p:cNvPr id="18" name="Text 16"/>
          <p:cNvSpPr/>
          <p:nvPr/>
        </p:nvSpPr>
        <p:spPr>
          <a:xfrm>
            <a:off x="3017520" y="3584448"/>
            <a:ext cx="7818120" cy="27432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models trained on biased data can amplify unfair decisions in loans, parole, hiring, and more</a:t>
            </a:r>
            <a:endParaRPr lang="en-US" sz="1350" dirty="0"/>
          </a:p>
        </p:txBody>
      </p:sp>
      <p:sp>
        <p:nvSpPr>
          <p:cNvPr id="19" name="Shape 17"/>
          <p:cNvSpPr/>
          <p:nvPr/>
        </p:nvSpPr>
        <p:spPr>
          <a:xfrm>
            <a:off x="1005840" y="4224528"/>
            <a:ext cx="10149840" cy="530352"/>
          </a:xfrm>
          <a:prstGeom prst="roundRect">
            <a:avLst>
              <a:gd name="adj" fmla="val 10345"/>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0" name="Shape 18"/>
          <p:cNvSpPr/>
          <p:nvPr/>
        </p:nvSpPr>
        <p:spPr>
          <a:xfrm>
            <a:off x="1005840" y="4224528"/>
            <a:ext cx="109728" cy="530352"/>
          </a:xfrm>
          <a:prstGeom prst="rect">
            <a:avLst/>
          </a:prstGeom>
          <a:solidFill>
            <a:srgbClr val="55A630"/>
          </a:solidFill>
          <a:ln w="12700">
            <a:solidFill>
              <a:srgbClr val="55A630"/>
            </a:solidFill>
            <a:prstDash val="solid"/>
          </a:ln>
        </p:spPr>
      </p:sp>
      <p:sp>
        <p:nvSpPr>
          <p:cNvPr id="21" name="Text 19"/>
          <p:cNvSpPr/>
          <p:nvPr/>
        </p:nvSpPr>
        <p:spPr>
          <a:xfrm>
            <a:off x="1325880" y="4343400"/>
            <a:ext cx="1600200" cy="228600"/>
          </a:xfrm>
          <a:prstGeom prst="rect">
            <a:avLst/>
          </a:prstGeom>
          <a:noFill/>
          <a:ln/>
        </p:spPr>
        <p:txBody>
          <a:bodyPr wrap="square" lIns="0" tIns="0" rIns="0" bIns="0" rtlCol="0" anchor="ctr"/>
          <a:lstStyle/>
          <a:p>
            <a:pPr indent="0" marL="0">
              <a:buNone/>
            </a:pPr>
            <a:r>
              <a:rPr lang="en-US" sz="1400" b="1" dirty="0">
                <a:solidFill>
                  <a:srgbClr val="55A630"/>
                </a:solidFill>
                <a:latin typeface="Calibri" pitchFamily="34" charset="0"/>
                <a:ea typeface="Calibri" pitchFamily="34" charset="-122"/>
                <a:cs typeface="Calibri" pitchFamily="34" charset="-120"/>
              </a:rPr>
              <a:t>Governance</a:t>
            </a:r>
            <a:endParaRPr lang="en-US" sz="1400" dirty="0"/>
          </a:p>
        </p:txBody>
      </p:sp>
      <p:sp>
        <p:nvSpPr>
          <p:cNvPr id="22" name="Text 20"/>
          <p:cNvSpPr/>
          <p:nvPr/>
        </p:nvSpPr>
        <p:spPr>
          <a:xfrm>
            <a:off x="3017520" y="4343400"/>
            <a:ext cx="7818120" cy="27432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technical standards, self-governance, and regulation become necessary as impact grows</a:t>
            </a:r>
            <a:endParaRPr lang="en-US" sz="1350" dirty="0"/>
          </a:p>
        </p:txBody>
      </p:sp>
      <p:sp>
        <p:nvSpPr>
          <p:cNvPr id="23" name="Shape 21"/>
          <p:cNvSpPr/>
          <p:nvPr/>
        </p:nvSpPr>
        <p:spPr>
          <a:xfrm>
            <a:off x="1249528" y="5504688"/>
            <a:ext cx="9692640" cy="603504"/>
          </a:xfrm>
          <a:prstGeom prst="roundRect">
            <a:avLst>
              <a:gd name="adj" fmla="val 9091"/>
            </a:avLst>
          </a:prstGeom>
          <a:solidFill>
            <a:srgbClr val="C1121F"/>
          </a:solidFill>
          <a:ln w="12700">
            <a:solidFill>
              <a:srgbClr val="C1121F"/>
            </a:solidFill>
            <a:prstDash val="solid"/>
          </a:ln>
        </p:spPr>
      </p:sp>
      <p:sp>
        <p:nvSpPr>
          <p:cNvPr id="24" name="Text 22"/>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Chapter 1 treats AI as a dual-use technology: the same capabilities can help or harm.</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1.5</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HLAI, AGI, ASI, and the Gorilla Problem</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822960" y="1417320"/>
            <a:ext cx="3383280" cy="1389888"/>
          </a:xfrm>
          <a:prstGeom prst="roundRect">
            <a:avLst>
              <a:gd name="adj" fmla="val 394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Text 5"/>
          <p:cNvSpPr/>
          <p:nvPr/>
        </p:nvSpPr>
        <p:spPr>
          <a:xfrm>
            <a:off x="1051560" y="1664208"/>
            <a:ext cx="914400" cy="292608"/>
          </a:xfrm>
          <a:prstGeom prst="rect">
            <a:avLst/>
          </a:prstGeom>
          <a:noFill/>
          <a:ln/>
        </p:spPr>
        <p:txBody>
          <a:bodyPr wrap="square" lIns="0" tIns="0" rIns="0" bIns="0" rtlCol="0" anchor="ctr"/>
          <a:lstStyle/>
          <a:p>
            <a:pPr indent="0" marL="0">
              <a:buNone/>
            </a:pPr>
            <a:r>
              <a:rPr lang="en-US" sz="2000" b="1" dirty="0">
                <a:solidFill>
                  <a:srgbClr val="247BA0"/>
                </a:solidFill>
                <a:latin typeface="Calibri" pitchFamily="34" charset="0"/>
                <a:ea typeface="Calibri" pitchFamily="34" charset="-122"/>
                <a:cs typeface="Calibri" pitchFamily="34" charset="-120"/>
              </a:rPr>
              <a:t>HLAI</a:t>
            </a:r>
            <a:endParaRPr lang="en-US" sz="2000" dirty="0"/>
          </a:p>
        </p:txBody>
      </p:sp>
      <p:sp>
        <p:nvSpPr>
          <p:cNvPr id="8" name="Text 6"/>
          <p:cNvSpPr/>
          <p:nvPr/>
        </p:nvSpPr>
        <p:spPr>
          <a:xfrm>
            <a:off x="1051560" y="2048256"/>
            <a:ext cx="2926080" cy="640080"/>
          </a:xfrm>
          <a:prstGeom prst="rect">
            <a:avLst/>
          </a:prstGeom>
          <a:noFill/>
          <a:ln/>
        </p:spPr>
        <p:txBody>
          <a:bodyPr wrap="square" lIns="0" tIns="0" rIns="0" bIns="0" rtlCol="0" anchor="t"/>
          <a:lstStyle/>
          <a:p>
            <a:pPr indent="0" marL="0">
              <a:lnSpc>
                <a:spcPct val="112000"/>
              </a:lnSpc>
              <a:buNone/>
            </a:pPr>
            <a:r>
              <a:rPr lang="en-US" sz="1350" dirty="0">
                <a:solidFill>
                  <a:srgbClr val="1F2933"/>
                </a:solidFill>
                <a:latin typeface="Calibri" pitchFamily="34" charset="0"/>
                <a:ea typeface="Calibri" pitchFamily="34" charset="-122"/>
                <a:cs typeface="Calibri" pitchFamily="34" charset="-120"/>
              </a:rPr>
              <a:t>Human-level AI: learn to do anything a human can do</a:t>
            </a:r>
            <a:endParaRPr lang="en-US" sz="1350" dirty="0"/>
          </a:p>
        </p:txBody>
      </p:sp>
      <p:sp>
        <p:nvSpPr>
          <p:cNvPr id="9" name="Shape 7"/>
          <p:cNvSpPr/>
          <p:nvPr/>
        </p:nvSpPr>
        <p:spPr>
          <a:xfrm>
            <a:off x="4434840" y="1417320"/>
            <a:ext cx="3383280" cy="1389888"/>
          </a:xfrm>
          <a:prstGeom prst="roundRect">
            <a:avLst>
              <a:gd name="adj" fmla="val 394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0" name="Text 8"/>
          <p:cNvSpPr/>
          <p:nvPr/>
        </p:nvSpPr>
        <p:spPr>
          <a:xfrm>
            <a:off x="4663440" y="1664208"/>
            <a:ext cx="914400" cy="292608"/>
          </a:xfrm>
          <a:prstGeom prst="rect">
            <a:avLst/>
          </a:prstGeom>
          <a:noFill/>
          <a:ln/>
        </p:spPr>
        <p:txBody>
          <a:bodyPr wrap="square" lIns="0" tIns="0" rIns="0" bIns="0" rtlCol="0" anchor="ctr"/>
          <a:lstStyle/>
          <a:p>
            <a:pPr indent="0" marL="0">
              <a:buNone/>
            </a:pPr>
            <a:r>
              <a:rPr lang="en-US" sz="2000" b="1" dirty="0">
                <a:solidFill>
                  <a:srgbClr val="6D28D9"/>
                </a:solidFill>
                <a:latin typeface="Calibri" pitchFamily="34" charset="0"/>
                <a:ea typeface="Calibri" pitchFamily="34" charset="-122"/>
                <a:cs typeface="Calibri" pitchFamily="34" charset="-120"/>
              </a:rPr>
              <a:t>AGI</a:t>
            </a:r>
            <a:endParaRPr lang="en-US" sz="2000" dirty="0"/>
          </a:p>
        </p:txBody>
      </p:sp>
      <p:sp>
        <p:nvSpPr>
          <p:cNvPr id="11" name="Text 9"/>
          <p:cNvSpPr/>
          <p:nvPr/>
        </p:nvSpPr>
        <p:spPr>
          <a:xfrm>
            <a:off x="4663440" y="2048256"/>
            <a:ext cx="2926080" cy="640080"/>
          </a:xfrm>
          <a:prstGeom prst="rect">
            <a:avLst/>
          </a:prstGeom>
          <a:noFill/>
          <a:ln/>
        </p:spPr>
        <p:txBody>
          <a:bodyPr wrap="square" lIns="0" tIns="0" rIns="0" bIns="0" rtlCol="0" anchor="t"/>
          <a:lstStyle/>
          <a:p>
            <a:pPr indent="0" marL="0">
              <a:lnSpc>
                <a:spcPct val="112000"/>
              </a:lnSpc>
              <a:buNone/>
            </a:pPr>
            <a:r>
              <a:rPr lang="en-US" sz="1350" dirty="0">
                <a:solidFill>
                  <a:srgbClr val="1F2933"/>
                </a:solidFill>
                <a:latin typeface="Calibri" pitchFamily="34" charset="0"/>
                <a:ea typeface="Calibri" pitchFamily="34" charset="-122"/>
                <a:cs typeface="Calibri" pitchFamily="34" charset="-120"/>
              </a:rPr>
              <a:t>Artificial general intelligence: broad abilities across tasks</a:t>
            </a:r>
            <a:endParaRPr lang="en-US" sz="1350" dirty="0"/>
          </a:p>
        </p:txBody>
      </p:sp>
      <p:sp>
        <p:nvSpPr>
          <p:cNvPr id="12" name="Shape 10"/>
          <p:cNvSpPr/>
          <p:nvPr/>
        </p:nvSpPr>
        <p:spPr>
          <a:xfrm>
            <a:off x="8046720" y="1417320"/>
            <a:ext cx="3383280" cy="1389888"/>
          </a:xfrm>
          <a:prstGeom prst="roundRect">
            <a:avLst>
              <a:gd name="adj" fmla="val 394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3" name="Text 11"/>
          <p:cNvSpPr/>
          <p:nvPr/>
        </p:nvSpPr>
        <p:spPr>
          <a:xfrm>
            <a:off x="8275320" y="1664208"/>
            <a:ext cx="914400" cy="292608"/>
          </a:xfrm>
          <a:prstGeom prst="rect">
            <a:avLst/>
          </a:prstGeom>
          <a:noFill/>
          <a:ln/>
        </p:spPr>
        <p:txBody>
          <a:bodyPr wrap="square" lIns="0" tIns="0" rIns="0" bIns="0" rtlCol="0" anchor="ctr"/>
          <a:lstStyle/>
          <a:p>
            <a:pPr indent="0" marL="0">
              <a:buNone/>
            </a:pPr>
            <a:r>
              <a:rPr lang="en-US" sz="2000" b="1" dirty="0">
                <a:solidFill>
                  <a:srgbClr val="C1121F"/>
                </a:solidFill>
                <a:latin typeface="Calibri" pitchFamily="34" charset="0"/>
                <a:ea typeface="Calibri" pitchFamily="34" charset="-122"/>
                <a:cs typeface="Calibri" pitchFamily="34" charset="-120"/>
              </a:rPr>
              <a:t>ASI</a:t>
            </a:r>
            <a:endParaRPr lang="en-US" sz="2000" dirty="0"/>
          </a:p>
        </p:txBody>
      </p:sp>
      <p:sp>
        <p:nvSpPr>
          <p:cNvPr id="14" name="Text 12"/>
          <p:cNvSpPr/>
          <p:nvPr/>
        </p:nvSpPr>
        <p:spPr>
          <a:xfrm>
            <a:off x="8275320" y="2048256"/>
            <a:ext cx="2926080" cy="640080"/>
          </a:xfrm>
          <a:prstGeom prst="rect">
            <a:avLst/>
          </a:prstGeom>
          <a:noFill/>
          <a:ln/>
        </p:spPr>
        <p:txBody>
          <a:bodyPr wrap="square" lIns="0" tIns="0" rIns="0" bIns="0" rtlCol="0" anchor="t"/>
          <a:lstStyle/>
          <a:p>
            <a:pPr indent="0" marL="0">
              <a:lnSpc>
                <a:spcPct val="112000"/>
              </a:lnSpc>
              <a:buNone/>
            </a:pPr>
            <a:r>
              <a:rPr lang="en-US" sz="1350" dirty="0">
                <a:solidFill>
                  <a:srgbClr val="1F2933"/>
                </a:solidFill>
                <a:latin typeface="Calibri" pitchFamily="34" charset="0"/>
                <a:ea typeface="Calibri" pitchFamily="34" charset="-122"/>
                <a:cs typeface="Calibri" pitchFamily="34" charset="-120"/>
              </a:rPr>
              <a:t>Artificial superintelligence: far surpasses human ability</a:t>
            </a:r>
            <a:endParaRPr lang="en-US" sz="1350" dirty="0"/>
          </a:p>
        </p:txBody>
      </p:sp>
      <p:sp>
        <p:nvSpPr>
          <p:cNvPr id="15" name="Shape 13"/>
          <p:cNvSpPr/>
          <p:nvPr/>
        </p:nvSpPr>
        <p:spPr>
          <a:xfrm>
            <a:off x="1828800" y="3127248"/>
            <a:ext cx="8412480" cy="0"/>
          </a:xfrm>
          <a:prstGeom prst="line">
            <a:avLst/>
          </a:prstGeom>
          <a:noFill/>
          <a:ln w="25400">
            <a:solidFill>
              <a:srgbClr val="D9E2EC"/>
            </a:solidFill>
            <a:prstDash val="solid"/>
            <a:tailEnd type="triangle"/>
          </a:ln>
        </p:spPr>
      </p:sp>
      <p:sp>
        <p:nvSpPr>
          <p:cNvPr id="16" name="Text 14"/>
          <p:cNvSpPr/>
          <p:nvPr/>
        </p:nvSpPr>
        <p:spPr>
          <a:xfrm>
            <a:off x="4754880" y="3218688"/>
            <a:ext cx="2651760" cy="274320"/>
          </a:xfrm>
          <a:prstGeom prst="rect">
            <a:avLst/>
          </a:prstGeom>
          <a:noFill/>
          <a:ln/>
        </p:spPr>
        <p:txBody>
          <a:bodyPr wrap="square" lIns="0" tIns="0" rIns="0" bIns="0" rtlCol="0" anchor="ctr"/>
          <a:lstStyle/>
          <a:p>
            <a:pPr algn="ctr" indent="0" marL="0">
              <a:buNone/>
            </a:pPr>
            <a:r>
              <a:rPr lang="en-US" sz="1400" dirty="0">
                <a:solidFill>
                  <a:srgbClr val="52616B"/>
                </a:solidFill>
                <a:latin typeface="Calibri" pitchFamily="34" charset="0"/>
                <a:ea typeface="Calibri" pitchFamily="34" charset="-122"/>
                <a:cs typeface="Calibri" pitchFamily="34" charset="-120"/>
              </a:rPr>
              <a:t>Capability increases</a:t>
            </a:r>
            <a:endParaRPr lang="en-US" sz="1400" dirty="0"/>
          </a:p>
        </p:txBody>
      </p:sp>
      <p:sp>
        <p:nvSpPr>
          <p:cNvPr id="17" name="Shape 15"/>
          <p:cNvSpPr/>
          <p:nvPr/>
        </p:nvSpPr>
        <p:spPr>
          <a:xfrm>
            <a:off x="960120" y="3703320"/>
            <a:ext cx="10287000" cy="1051560"/>
          </a:xfrm>
          <a:prstGeom prst="roundRect">
            <a:avLst>
              <a:gd name="adj" fmla="val 5217"/>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8" name="Shape 16"/>
          <p:cNvSpPr/>
          <p:nvPr/>
        </p:nvSpPr>
        <p:spPr>
          <a:xfrm>
            <a:off x="960120" y="3703320"/>
            <a:ext cx="109728" cy="1051560"/>
          </a:xfrm>
          <a:prstGeom prst="rect">
            <a:avLst/>
          </a:prstGeom>
          <a:solidFill>
            <a:srgbClr val="C1121F"/>
          </a:solidFill>
          <a:ln w="12700">
            <a:solidFill>
              <a:srgbClr val="C1121F"/>
            </a:solidFill>
            <a:prstDash val="solid"/>
          </a:ln>
        </p:spPr>
      </p:sp>
      <p:sp>
        <p:nvSpPr>
          <p:cNvPr id="19" name="Text 17"/>
          <p:cNvSpPr/>
          <p:nvPr/>
        </p:nvSpPr>
        <p:spPr>
          <a:xfrm>
            <a:off x="1280160" y="3913632"/>
            <a:ext cx="2377440" cy="274320"/>
          </a:xfrm>
          <a:prstGeom prst="rect">
            <a:avLst/>
          </a:prstGeom>
          <a:noFill/>
          <a:ln/>
        </p:spPr>
        <p:txBody>
          <a:bodyPr wrap="square" lIns="0" tIns="0" rIns="0" bIns="0" rtlCol="0" anchor="ctr"/>
          <a:lstStyle/>
          <a:p>
            <a:pPr indent="0" marL="0">
              <a:buNone/>
            </a:pPr>
            <a:r>
              <a:rPr lang="en-US" sz="1700" b="1" dirty="0">
                <a:solidFill>
                  <a:srgbClr val="102A43"/>
                </a:solidFill>
                <a:latin typeface="Calibri" pitchFamily="34" charset="0"/>
                <a:ea typeface="Calibri" pitchFamily="34" charset="-122"/>
                <a:cs typeface="Calibri" pitchFamily="34" charset="-120"/>
              </a:rPr>
              <a:t>The Gorilla Problem</a:t>
            </a:r>
            <a:endParaRPr lang="en-US" sz="1700" dirty="0"/>
          </a:p>
        </p:txBody>
      </p:sp>
      <p:sp>
        <p:nvSpPr>
          <p:cNvPr id="20" name="Text 18"/>
          <p:cNvSpPr/>
          <p:nvPr/>
        </p:nvSpPr>
        <p:spPr>
          <a:xfrm>
            <a:off x="3749040" y="3877056"/>
            <a:ext cx="7223760" cy="365760"/>
          </a:xfrm>
          <a:prstGeom prst="rect">
            <a:avLst/>
          </a:prstGeom>
          <a:noFill/>
          <a:ln/>
        </p:spPr>
        <p:txBody>
          <a:bodyPr wrap="square" lIns="0" tIns="0" rIns="0" bIns="0" rtlCol="0" anchor="ctr"/>
          <a:lstStyle/>
          <a:p>
            <a:pPr indent="0" marL="0">
              <a:buNone/>
            </a:pPr>
            <a:r>
              <a:rPr lang="en-US" sz="1550" dirty="0">
                <a:solidFill>
                  <a:srgbClr val="1F2933"/>
                </a:solidFill>
                <a:latin typeface="Calibri" pitchFamily="34" charset="0"/>
                <a:ea typeface="Calibri" pitchFamily="34" charset="-122"/>
                <a:cs typeface="Calibri" pitchFamily="34" charset="-120"/>
              </a:rPr>
              <a:t>A less capable species may have little control over its future once a more capable intelligence exists.</a:t>
            </a:r>
            <a:endParaRPr lang="en-US" sz="1550" dirty="0"/>
          </a:p>
        </p:txBody>
      </p:sp>
      <p:sp>
        <p:nvSpPr>
          <p:cNvPr id="21" name="Text 19"/>
          <p:cNvSpPr/>
          <p:nvPr/>
        </p:nvSpPr>
        <p:spPr>
          <a:xfrm>
            <a:off x="1280160" y="4315968"/>
            <a:ext cx="9692640" cy="329184"/>
          </a:xfrm>
          <a:prstGeom prst="rect">
            <a:avLst/>
          </a:prstGeom>
          <a:noFill/>
          <a:ln/>
        </p:spPr>
        <p:txBody>
          <a:bodyPr wrap="square" lIns="0" tIns="0" rIns="0" bIns="0" rtlCol="0" anchor="ctr"/>
          <a:lstStyle/>
          <a:p>
            <a:pPr indent="0" marL="0">
              <a:buNone/>
            </a:pPr>
            <a:r>
              <a:rPr lang="en-US" sz="1200" i="1" dirty="0">
                <a:solidFill>
                  <a:srgbClr val="52616B"/>
                </a:solidFill>
                <a:latin typeface="Calibri" pitchFamily="34" charset="0"/>
                <a:ea typeface="Calibri" pitchFamily="34" charset="-122"/>
                <a:cs typeface="Calibri" pitchFamily="34" charset="-120"/>
              </a:rPr>
              <a:t>Distinguish from the King Midas problem: Midas is about getting exactly what you asked for. The gorilla problem is about relative capability and who controls the future.</a:t>
            </a:r>
            <a:endParaRPr lang="en-US" sz="1200" dirty="0"/>
          </a:p>
        </p:txBody>
      </p:sp>
      <p:sp>
        <p:nvSpPr>
          <p:cNvPr id="22" name="Shape 20"/>
          <p:cNvSpPr/>
          <p:nvPr/>
        </p:nvSpPr>
        <p:spPr>
          <a:xfrm>
            <a:off x="1249528" y="5504688"/>
            <a:ext cx="9692640" cy="603504"/>
          </a:xfrm>
          <a:prstGeom prst="roundRect">
            <a:avLst>
              <a:gd name="adj" fmla="val 9091"/>
            </a:avLst>
          </a:prstGeom>
          <a:solidFill>
            <a:srgbClr val="6D28D9"/>
          </a:solidFill>
          <a:ln w="12700">
            <a:solidFill>
              <a:srgbClr val="6D28D9"/>
            </a:solidFill>
            <a:prstDash val="solid"/>
          </a:ln>
        </p:spPr>
      </p:sp>
      <p:sp>
        <p:nvSpPr>
          <p:cNvPr id="23" name="Text 21"/>
          <p:cNvSpPr/>
          <p:nvPr/>
        </p:nvSpPr>
        <p:spPr>
          <a:xfrm>
            <a:off x="1414120" y="5596128"/>
            <a:ext cx="9363456" cy="420624"/>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Key idea: objective misalignment is one risk; loss of control to a more capable intelligence is another.</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1463040" cy="228600"/>
          </a:xfrm>
          <a:prstGeom prst="rect">
            <a:avLst/>
          </a:prstGeom>
          <a:noFill/>
          <a:ln/>
        </p:spPr>
        <p:txBody>
          <a:bodyPr wrap="square" lIns="0" tIns="0" rIns="0" bIns="0" rtlCol="0" anchor="ctr"/>
          <a:lstStyle/>
          <a:p>
            <a:pPr indent="0" marL="0">
              <a:buNone/>
            </a:pPr>
            <a:r>
              <a:rPr lang="en-US" sz="950" b="1" dirty="0">
                <a:solidFill>
                  <a:srgbClr val="247BA0"/>
                </a:solidFill>
                <a:latin typeface="Calibri" pitchFamily="34" charset="0"/>
                <a:ea typeface="Calibri" pitchFamily="34" charset="-122"/>
                <a:cs typeface="Calibri" pitchFamily="34" charset="-120"/>
              </a:rPr>
              <a:t>SUMMARY</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lstStyle/>
          <a:p>
            <a:pPr indent="0" marL="0">
              <a:buNone/>
            </a:pPr>
            <a:r>
              <a:rPr lang="en-US" sz="2500" b="1" dirty="0">
                <a:solidFill>
                  <a:srgbClr val="102A43"/>
                </a:solidFill>
                <a:latin typeface="Calibri" pitchFamily="34" charset="0"/>
                <a:ea typeface="Calibri" pitchFamily="34" charset="-122"/>
                <a:cs typeface="Calibri" pitchFamily="34" charset="-120"/>
              </a:rPr>
              <a:t>Chapter 1 in One Slide</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
        <p:nvSpPr>
          <p:cNvPr id="6" name="Shape 4"/>
          <p:cNvSpPr/>
          <p:nvPr/>
        </p:nvSpPr>
        <p:spPr>
          <a:xfrm>
            <a:off x="594360" y="1371600"/>
            <a:ext cx="5285232" cy="1700784"/>
          </a:xfrm>
          <a:prstGeom prst="roundRect">
            <a:avLst>
              <a:gd name="adj" fmla="val 322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Shape 5"/>
          <p:cNvSpPr/>
          <p:nvPr/>
        </p:nvSpPr>
        <p:spPr>
          <a:xfrm>
            <a:off x="594360" y="1371600"/>
            <a:ext cx="5285232" cy="128016"/>
          </a:xfrm>
          <a:prstGeom prst="rect">
            <a:avLst/>
          </a:prstGeom>
          <a:solidFill>
            <a:srgbClr val="247BA0"/>
          </a:solidFill>
          <a:ln w="12700">
            <a:solidFill>
              <a:srgbClr val="247BA0"/>
            </a:solidFill>
            <a:prstDash val="solid"/>
          </a:ln>
        </p:spPr>
      </p:sp>
      <p:sp>
        <p:nvSpPr>
          <p:cNvPr id="8" name="Text 6"/>
          <p:cNvSpPr/>
          <p:nvPr/>
        </p:nvSpPr>
        <p:spPr>
          <a:xfrm>
            <a:off x="822960" y="1627632"/>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What AI is</a:t>
            </a:r>
            <a:endParaRPr lang="en-US" sz="1600" dirty="0"/>
          </a:p>
        </p:txBody>
      </p:sp>
      <p:sp>
        <p:nvSpPr>
          <p:cNvPr id="9" name="Text 7"/>
          <p:cNvSpPr/>
          <p:nvPr/>
        </p:nvSpPr>
        <p:spPr>
          <a:xfrm>
            <a:off x="822960" y="1975104"/>
            <a:ext cx="4846320" cy="1005840"/>
          </a:xfrm>
          <a:prstGeom prst="rect">
            <a:avLst/>
          </a:prstGeom>
          <a:noFill/>
          <a:ln/>
        </p:spPr>
        <p:txBody>
          <a:bodyPr wrap="square" lIns="0" tIns="0" rIns="0" bIns="0" rtlCol="0" anchor="t"/>
          <a:lstStyle/>
          <a:p>
            <a:pPr indent="0" marL="0">
              <a:lnSpc>
                <a:spcPct val="118000"/>
              </a:lnSpc>
              <a:spcAft>
                <a:spcPts val="400"/>
              </a:spcAft>
              <a:buNone/>
            </a:pPr>
            <a:r>
              <a:rPr lang="en-US" sz="1150" b="1" dirty="0">
                <a:solidFill>
                  <a:srgbClr val="247BA0"/>
                </a:solidFill>
                <a:latin typeface="Calibri" pitchFamily="34" charset="0"/>
                <a:ea typeface="Calibri" pitchFamily="34" charset="-122"/>
                <a:cs typeface="Calibri" pitchFamily="34" charset="-120"/>
              </a:rPr>
              <a:t>Two axes: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thinking versus behaving, human fidelity versus rationality</a:t>
            </a:r>
            <a:endParaRPr lang="en-US" sz="1150" dirty="0"/>
          </a:p>
          <a:p>
            <a:pPr indent="0" marL="0">
              <a:lnSpc>
                <a:spcPct val="118000"/>
              </a:lnSpc>
              <a:spcAft>
                <a:spcPts val="400"/>
              </a:spcAft>
              <a:buNone/>
            </a:pPr>
            <a:r>
              <a:rPr lang="en-US" sz="1150" b="1" dirty="0">
                <a:solidFill>
                  <a:srgbClr val="247BA0"/>
                </a:solidFill>
                <a:latin typeface="Calibri" pitchFamily="34" charset="0"/>
                <a:ea typeface="Calibri" pitchFamily="34" charset="-122"/>
                <a:cs typeface="Calibri" pitchFamily="34" charset="-120"/>
              </a:rPr>
              <a:t>Standard model: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we specify an objective, the machine acts to achieve it</a:t>
            </a:r>
            <a:endParaRPr lang="en-US" sz="1150" dirty="0"/>
          </a:p>
          <a:p>
            <a:pPr indent="0" marL="0">
              <a:lnSpc>
                <a:spcPct val="118000"/>
              </a:lnSpc>
              <a:spcAft>
                <a:spcPts val="400"/>
              </a:spcAft>
              <a:buNone/>
            </a:pPr>
            <a:r>
              <a:rPr lang="en-US" sz="1150" b="1" dirty="0">
                <a:solidFill>
                  <a:srgbClr val="247BA0"/>
                </a:solidFill>
                <a:latin typeface="Calibri" pitchFamily="34" charset="0"/>
                <a:ea typeface="Calibri" pitchFamily="34" charset="-122"/>
                <a:cs typeface="Calibri" pitchFamily="34" charset="-120"/>
              </a:rPr>
              <a:t>Two refinements: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rationality is limited by computation, and the objective itself must be treated as uncertain</a:t>
            </a:r>
            <a:endParaRPr lang="en-US" sz="1150" dirty="0"/>
          </a:p>
        </p:txBody>
      </p:sp>
      <p:sp>
        <p:nvSpPr>
          <p:cNvPr id="10" name="Shape 8"/>
          <p:cNvSpPr/>
          <p:nvPr/>
        </p:nvSpPr>
        <p:spPr>
          <a:xfrm>
            <a:off x="6291072" y="1371600"/>
            <a:ext cx="5285232" cy="1700784"/>
          </a:xfrm>
          <a:prstGeom prst="roundRect">
            <a:avLst>
              <a:gd name="adj" fmla="val 322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1" name="Shape 9"/>
          <p:cNvSpPr/>
          <p:nvPr/>
        </p:nvSpPr>
        <p:spPr>
          <a:xfrm>
            <a:off x="6291072" y="1371600"/>
            <a:ext cx="5285232" cy="128016"/>
          </a:xfrm>
          <a:prstGeom prst="rect">
            <a:avLst/>
          </a:prstGeom>
          <a:solidFill>
            <a:srgbClr val="6D28D9"/>
          </a:solidFill>
          <a:ln w="12700">
            <a:solidFill>
              <a:srgbClr val="6D28D9"/>
            </a:solidFill>
            <a:prstDash val="solid"/>
          </a:ln>
        </p:spPr>
      </p:sp>
      <p:sp>
        <p:nvSpPr>
          <p:cNvPr id="12" name="Text 10"/>
          <p:cNvSpPr/>
          <p:nvPr/>
        </p:nvSpPr>
        <p:spPr>
          <a:xfrm>
            <a:off x="6519672" y="1627632"/>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Where it came from</a:t>
            </a:r>
            <a:endParaRPr lang="en-US" sz="1600" dirty="0"/>
          </a:p>
        </p:txBody>
      </p:sp>
      <p:sp>
        <p:nvSpPr>
          <p:cNvPr id="13" name="Text 11"/>
          <p:cNvSpPr/>
          <p:nvPr/>
        </p:nvSpPr>
        <p:spPr>
          <a:xfrm>
            <a:off x="6519672" y="1975104"/>
            <a:ext cx="4846320" cy="1005840"/>
          </a:xfrm>
          <a:prstGeom prst="rect">
            <a:avLst/>
          </a:prstGeom>
          <a:noFill/>
          <a:ln/>
        </p:spPr>
        <p:txBody>
          <a:bodyPr wrap="square" lIns="0" tIns="0" rIns="0" bIns="0" rtlCol="0" anchor="t"/>
          <a:lstStyle/>
          <a:p>
            <a:pPr indent="0" marL="0">
              <a:lnSpc>
                <a:spcPct val="118000"/>
              </a:lnSpc>
              <a:spcAft>
                <a:spcPts val="400"/>
              </a:spcAft>
              <a:buNone/>
            </a:pPr>
            <a:r>
              <a:rPr lang="en-US" sz="1150" b="1" dirty="0">
                <a:solidFill>
                  <a:srgbClr val="6D28D9"/>
                </a:solidFill>
                <a:latin typeface="Calibri" pitchFamily="34" charset="0"/>
                <a:ea typeface="Calibri" pitchFamily="34" charset="-122"/>
                <a:cs typeface="Calibri" pitchFamily="34" charset="-120"/>
              </a:rPr>
              <a:t>Philosophy and mathematics: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thought as rule-governed process, and formal tools for certainty and uncertainty</a:t>
            </a:r>
            <a:endParaRPr lang="en-US" sz="1150" dirty="0"/>
          </a:p>
          <a:p>
            <a:pPr indent="0" marL="0">
              <a:lnSpc>
                <a:spcPct val="118000"/>
              </a:lnSpc>
              <a:spcAft>
                <a:spcPts val="400"/>
              </a:spcAft>
              <a:buNone/>
            </a:pPr>
            <a:r>
              <a:rPr lang="en-US" sz="1150" b="1" dirty="0">
                <a:solidFill>
                  <a:srgbClr val="6D28D9"/>
                </a:solidFill>
                <a:latin typeface="Calibri" pitchFamily="34" charset="0"/>
                <a:ea typeface="Calibri" pitchFamily="34" charset="-122"/>
                <a:cs typeface="Calibri" pitchFamily="34" charset="-120"/>
              </a:rPr>
              <a:t>Economics and control theory: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the meaning of acting well, and machines that regulate themselves</a:t>
            </a:r>
            <a:endParaRPr lang="en-US" sz="1150" dirty="0"/>
          </a:p>
          <a:p>
            <a:pPr indent="0" marL="0">
              <a:lnSpc>
                <a:spcPct val="118000"/>
              </a:lnSpc>
              <a:spcAft>
                <a:spcPts val="400"/>
              </a:spcAft>
              <a:buNone/>
            </a:pPr>
            <a:r>
              <a:rPr lang="en-US" sz="1150" b="1" dirty="0">
                <a:solidFill>
                  <a:srgbClr val="6D28D9"/>
                </a:solidFill>
                <a:latin typeface="Calibri" pitchFamily="34" charset="0"/>
                <a:ea typeface="Calibri" pitchFamily="34" charset="-122"/>
                <a:cs typeface="Calibri" pitchFamily="34" charset="-120"/>
              </a:rPr>
              <a:t>Neuroscience, psychology, linguistics: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brains and minds as information processors</a:t>
            </a:r>
            <a:endParaRPr lang="en-US" sz="1150" dirty="0"/>
          </a:p>
        </p:txBody>
      </p:sp>
      <p:sp>
        <p:nvSpPr>
          <p:cNvPr id="14" name="Shape 12"/>
          <p:cNvSpPr/>
          <p:nvPr/>
        </p:nvSpPr>
        <p:spPr>
          <a:xfrm>
            <a:off x="594360" y="3200400"/>
            <a:ext cx="5285232" cy="1700784"/>
          </a:xfrm>
          <a:prstGeom prst="roundRect">
            <a:avLst>
              <a:gd name="adj" fmla="val 322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5" name="Shape 13"/>
          <p:cNvSpPr/>
          <p:nvPr/>
        </p:nvSpPr>
        <p:spPr>
          <a:xfrm>
            <a:off x="594360" y="3200400"/>
            <a:ext cx="5285232" cy="128016"/>
          </a:xfrm>
          <a:prstGeom prst="rect">
            <a:avLst/>
          </a:prstGeom>
          <a:solidFill>
            <a:srgbClr val="55A630"/>
          </a:solidFill>
          <a:ln w="12700">
            <a:solidFill>
              <a:srgbClr val="55A630"/>
            </a:solidFill>
            <a:prstDash val="solid"/>
          </a:ln>
        </p:spPr>
      </p:sp>
      <p:sp>
        <p:nvSpPr>
          <p:cNvPr id="16" name="Text 14"/>
          <p:cNvSpPr/>
          <p:nvPr/>
        </p:nvSpPr>
        <p:spPr>
          <a:xfrm>
            <a:off x="822960" y="3456432"/>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How it developed</a:t>
            </a:r>
            <a:endParaRPr lang="en-US" sz="1600" dirty="0"/>
          </a:p>
        </p:txBody>
      </p:sp>
      <p:sp>
        <p:nvSpPr>
          <p:cNvPr id="17" name="Text 15"/>
          <p:cNvSpPr/>
          <p:nvPr/>
        </p:nvSpPr>
        <p:spPr>
          <a:xfrm>
            <a:off x="822960" y="3803904"/>
            <a:ext cx="4846320" cy="1005840"/>
          </a:xfrm>
          <a:prstGeom prst="rect">
            <a:avLst/>
          </a:prstGeom>
          <a:noFill/>
          <a:ln/>
        </p:spPr>
        <p:txBody>
          <a:bodyPr wrap="square" lIns="0" tIns="0" rIns="0" bIns="0" rtlCol="0" anchor="t"/>
          <a:lstStyle/>
          <a:p>
            <a:pPr indent="0" marL="0">
              <a:lnSpc>
                <a:spcPct val="118000"/>
              </a:lnSpc>
              <a:spcAft>
                <a:spcPts val="400"/>
              </a:spcAft>
              <a:buNone/>
            </a:pPr>
            <a:r>
              <a:rPr lang="en-US" sz="1150" b="1" dirty="0">
                <a:solidFill>
                  <a:srgbClr val="55A630"/>
                </a:solidFill>
                <a:latin typeface="Calibri" pitchFamily="34" charset="0"/>
                <a:ea typeface="Calibri" pitchFamily="34" charset="-122"/>
                <a:cs typeface="Calibri" pitchFamily="34" charset="-120"/>
              </a:rPr>
              <a:t>The pattern: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success on toy problems, overconfidence, funding cuts, then methodological correction</a:t>
            </a:r>
            <a:endParaRPr lang="en-US" sz="1150" dirty="0"/>
          </a:p>
          <a:p>
            <a:pPr indent="0" marL="0">
              <a:lnSpc>
                <a:spcPct val="118000"/>
              </a:lnSpc>
              <a:spcAft>
                <a:spcPts val="400"/>
              </a:spcAft>
              <a:buNone/>
            </a:pPr>
            <a:r>
              <a:rPr lang="en-US" sz="1150" b="1" dirty="0">
                <a:solidFill>
                  <a:srgbClr val="55A630"/>
                </a:solidFill>
                <a:latin typeface="Calibri" pitchFamily="34" charset="0"/>
                <a:ea typeface="Calibri" pitchFamily="34" charset="-122"/>
                <a:cs typeface="Calibri" pitchFamily="34" charset="-120"/>
              </a:rPr>
              <a:t>The direction: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from Boolean logic to probability, and from hand-crafted knowledge to learning from data</a:t>
            </a:r>
            <a:endParaRPr lang="en-US" sz="1150" dirty="0"/>
          </a:p>
          <a:p>
            <a:pPr indent="0" marL="0">
              <a:lnSpc>
                <a:spcPct val="118000"/>
              </a:lnSpc>
              <a:spcAft>
                <a:spcPts val="400"/>
              </a:spcAft>
              <a:buNone/>
            </a:pPr>
            <a:r>
              <a:rPr lang="en-US" sz="1150" b="1" dirty="0">
                <a:solidFill>
                  <a:srgbClr val="55A630"/>
                </a:solidFill>
                <a:latin typeface="Calibri" pitchFamily="34" charset="0"/>
                <a:ea typeface="Calibri" pitchFamily="34" charset="-122"/>
                <a:cs typeface="Calibri" pitchFamily="34" charset="-120"/>
              </a:rPr>
              <a:t>The enabler: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compute and data grew faster than anyone planned for</a:t>
            </a:r>
            <a:endParaRPr lang="en-US" sz="1150" dirty="0"/>
          </a:p>
        </p:txBody>
      </p:sp>
      <p:sp>
        <p:nvSpPr>
          <p:cNvPr id="18" name="Shape 16"/>
          <p:cNvSpPr/>
          <p:nvPr/>
        </p:nvSpPr>
        <p:spPr>
          <a:xfrm>
            <a:off x="6291072" y="3200400"/>
            <a:ext cx="5285232" cy="1700784"/>
          </a:xfrm>
          <a:prstGeom prst="roundRect">
            <a:avLst>
              <a:gd name="adj" fmla="val 3226"/>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9" name="Shape 17"/>
          <p:cNvSpPr/>
          <p:nvPr/>
        </p:nvSpPr>
        <p:spPr>
          <a:xfrm>
            <a:off x="6291072" y="3200400"/>
            <a:ext cx="5285232" cy="128016"/>
          </a:xfrm>
          <a:prstGeom prst="rect">
            <a:avLst/>
          </a:prstGeom>
          <a:solidFill>
            <a:srgbClr val="C1121F"/>
          </a:solidFill>
          <a:ln w="12700">
            <a:solidFill>
              <a:srgbClr val="C1121F"/>
            </a:solidFill>
            <a:prstDash val="solid"/>
          </a:ln>
        </p:spPr>
      </p:sp>
      <p:sp>
        <p:nvSpPr>
          <p:cNvPr id="20" name="Text 18"/>
          <p:cNvSpPr/>
          <p:nvPr/>
        </p:nvSpPr>
        <p:spPr>
          <a:xfrm>
            <a:off x="6519672" y="3456432"/>
            <a:ext cx="4846320" cy="274320"/>
          </a:xfrm>
          <a:prstGeom prst="rect">
            <a:avLst/>
          </a:prstGeom>
          <a:noFill/>
          <a:ln/>
        </p:spPr>
        <p:txBody>
          <a:bodyPr wrap="square" lIns="0" tIns="0" rIns="0" bIns="0" rtlCol="0" anchor="ctr"/>
          <a:lstStyle/>
          <a:p>
            <a:pPr indent="0" marL="0">
              <a:buNone/>
            </a:pPr>
            <a:r>
              <a:rPr lang="en-US" sz="1600" b="1" dirty="0">
                <a:solidFill>
                  <a:srgbClr val="102A43"/>
                </a:solidFill>
                <a:latin typeface="Calibri" pitchFamily="34" charset="0"/>
                <a:ea typeface="Calibri" pitchFamily="34" charset="-122"/>
                <a:cs typeface="Calibri" pitchFamily="34" charset="-120"/>
              </a:rPr>
              <a:t>What it puts at risk</a:t>
            </a:r>
            <a:endParaRPr lang="en-US" sz="1600" dirty="0"/>
          </a:p>
        </p:txBody>
      </p:sp>
      <p:sp>
        <p:nvSpPr>
          <p:cNvPr id="21" name="Text 19"/>
          <p:cNvSpPr/>
          <p:nvPr/>
        </p:nvSpPr>
        <p:spPr>
          <a:xfrm>
            <a:off x="6519672" y="3803904"/>
            <a:ext cx="4846320" cy="1005840"/>
          </a:xfrm>
          <a:prstGeom prst="rect">
            <a:avLst/>
          </a:prstGeom>
          <a:noFill/>
          <a:ln/>
        </p:spPr>
        <p:txBody>
          <a:bodyPr wrap="square" lIns="0" tIns="0" rIns="0" bIns="0" rtlCol="0" anchor="t"/>
          <a:lstStyle/>
          <a:p>
            <a:pPr indent="0" marL="0">
              <a:lnSpc>
                <a:spcPct val="118000"/>
              </a:lnSpc>
              <a:spcAft>
                <a:spcPts val="400"/>
              </a:spcAft>
              <a:buNone/>
            </a:pPr>
            <a:r>
              <a:rPr lang="en-US" sz="1150" b="1" dirty="0">
                <a:solidFill>
                  <a:srgbClr val="C1121F"/>
                </a:solidFill>
                <a:latin typeface="Calibri" pitchFamily="34" charset="0"/>
                <a:ea typeface="Calibri" pitchFamily="34" charset="-122"/>
                <a:cs typeface="Calibri" pitchFamily="34" charset="-120"/>
              </a:rPr>
              <a:t>Near term: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weapons, surveillance, persuasion, bias, employment, safety, and cybersecurity</a:t>
            </a:r>
            <a:endParaRPr lang="en-US" sz="1150" dirty="0"/>
          </a:p>
          <a:p>
            <a:pPr indent="0" marL="0">
              <a:lnSpc>
                <a:spcPct val="118000"/>
              </a:lnSpc>
              <a:spcAft>
                <a:spcPts val="400"/>
              </a:spcAft>
              <a:buNone/>
            </a:pPr>
            <a:r>
              <a:rPr lang="en-US" sz="1150" b="1" dirty="0">
                <a:solidFill>
                  <a:srgbClr val="C1121F"/>
                </a:solidFill>
                <a:latin typeface="Calibri" pitchFamily="34" charset="0"/>
                <a:ea typeface="Calibri" pitchFamily="34" charset="-122"/>
                <a:cs typeface="Calibri" pitchFamily="34" charset="-120"/>
              </a:rPr>
              <a:t>Long term: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controlling systems more capable than we are</a:t>
            </a:r>
            <a:endParaRPr lang="en-US" sz="1150" dirty="0"/>
          </a:p>
          <a:p>
            <a:pPr indent="0" marL="0">
              <a:lnSpc>
                <a:spcPct val="118000"/>
              </a:lnSpc>
              <a:spcAft>
                <a:spcPts val="400"/>
              </a:spcAft>
              <a:buNone/>
            </a:pPr>
            <a:r>
              <a:rPr lang="en-US" sz="1150" b="1" dirty="0">
                <a:solidFill>
                  <a:srgbClr val="C1121F"/>
                </a:solidFill>
                <a:latin typeface="Calibri" pitchFamily="34" charset="0"/>
                <a:ea typeface="Calibri" pitchFamily="34" charset="-122"/>
                <a:cs typeface="Calibri" pitchFamily="34" charset="-120"/>
              </a:rPr>
              <a:t>The response: </a:t>
            </a:r>
            <a:pPr indent="0" marL="0">
              <a:lnSpc>
                <a:spcPct val="118000"/>
              </a:lnSpc>
              <a:spcAft>
                <a:spcPts val="400"/>
              </a:spcAft>
              <a:buNone/>
            </a:pPr>
            <a:r>
              <a:rPr lang="en-US" sz="1150" dirty="0">
                <a:solidFill>
                  <a:srgbClr val="1F2933"/>
                </a:solidFill>
                <a:latin typeface="Calibri" pitchFamily="34" charset="0"/>
                <a:ea typeface="Calibri" pitchFamily="34" charset="-122"/>
                <a:cs typeface="Calibri" pitchFamily="34" charset="-120"/>
              </a:rPr>
              <a:t>alignment, governance, and machines that stay uncertain about our objectives</a:t>
            </a:r>
            <a:endParaRPr lang="en-US" sz="1150" dirty="0"/>
          </a:p>
        </p:txBody>
      </p:sp>
      <p:sp>
        <p:nvSpPr>
          <p:cNvPr id="22" name="Shape 20"/>
          <p:cNvSpPr/>
          <p:nvPr/>
        </p:nvSpPr>
        <p:spPr>
          <a:xfrm>
            <a:off x="594360" y="5084064"/>
            <a:ext cx="11018520" cy="658368"/>
          </a:xfrm>
          <a:prstGeom prst="roundRect">
            <a:avLst>
              <a:gd name="adj" fmla="val 8333"/>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23" name="Shape 21"/>
          <p:cNvSpPr/>
          <p:nvPr/>
        </p:nvSpPr>
        <p:spPr>
          <a:xfrm>
            <a:off x="594360" y="5084064"/>
            <a:ext cx="109728" cy="658368"/>
          </a:xfrm>
          <a:prstGeom prst="rect">
            <a:avLst/>
          </a:prstGeom>
          <a:solidFill>
            <a:srgbClr val="102A43"/>
          </a:solidFill>
          <a:ln w="12700">
            <a:solidFill>
              <a:srgbClr val="102A43"/>
            </a:solidFill>
            <a:prstDash val="solid"/>
          </a:ln>
        </p:spPr>
      </p:sp>
      <p:sp>
        <p:nvSpPr>
          <p:cNvPr id="24" name="Text 22"/>
          <p:cNvSpPr/>
          <p:nvPr/>
        </p:nvSpPr>
        <p:spPr>
          <a:xfrm>
            <a:off x="914400" y="5212080"/>
            <a:ext cx="1828800" cy="256032"/>
          </a:xfrm>
          <a:prstGeom prst="rect">
            <a:avLst/>
          </a:prstGeom>
          <a:noFill/>
          <a:ln/>
        </p:spPr>
        <p:txBody>
          <a:bodyPr wrap="square" lIns="0" tIns="0" rIns="0" bIns="0" rtlCol="0" anchor="ctr"/>
          <a:lstStyle/>
          <a:p>
            <a:pPr indent="0" marL="0">
              <a:buNone/>
            </a:pPr>
            <a:r>
              <a:rPr lang="en-US" sz="1350" b="1" dirty="0">
                <a:solidFill>
                  <a:srgbClr val="102A43"/>
                </a:solidFill>
                <a:latin typeface="Calibri" pitchFamily="34" charset="0"/>
                <a:ea typeface="Calibri" pitchFamily="34" charset="-122"/>
                <a:cs typeface="Calibri" pitchFamily="34" charset="-120"/>
              </a:rPr>
              <a:t>Terms to know</a:t>
            </a:r>
            <a:endParaRPr lang="en-US" sz="1350" dirty="0"/>
          </a:p>
        </p:txBody>
      </p:sp>
      <p:sp>
        <p:nvSpPr>
          <p:cNvPr id="25" name="Text 23"/>
          <p:cNvSpPr/>
          <p:nvPr/>
        </p:nvSpPr>
        <p:spPr>
          <a:xfrm>
            <a:off x="2743200" y="5157216"/>
            <a:ext cx="8641080" cy="512064"/>
          </a:xfrm>
          <a:prstGeom prst="rect">
            <a:avLst/>
          </a:prstGeom>
          <a:noFill/>
          <a:ln/>
        </p:spPr>
        <p:txBody>
          <a:bodyPr wrap="square" lIns="0" tIns="0" rIns="0" bIns="0" rtlCol="0" anchor="ctr"/>
          <a:lstStyle/>
          <a:p>
            <a:pPr indent="0" marL="0">
              <a:lnSpc>
                <a:spcPct val="110000"/>
              </a:lnSpc>
              <a:buNone/>
            </a:pPr>
            <a:r>
              <a:rPr lang="en-US" sz="1100" dirty="0">
                <a:solidFill>
                  <a:srgbClr val="1F2933"/>
                </a:solidFill>
                <a:latin typeface="Calibri" pitchFamily="34" charset="0"/>
                <a:ea typeface="Calibri" pitchFamily="34" charset="-122"/>
                <a:cs typeface="Calibri" pitchFamily="34" charset="-120"/>
              </a:rPr>
              <a:t>rational agent  ·  standard model  ·  limited rationality  ·  value alignment  ·  King Midas problem  ·  gorilla problem  ·  physical symbol system  ·  weak methods  ·  combinatorial explosion  ·  intractability  ·  connectionism  ·  big data  ·  HLAI, AGI, ASI</a:t>
            </a:r>
            <a:endParaRPr lang="en-US" sz="1100" dirty="0"/>
          </a:p>
        </p:txBody>
      </p:sp>
      <p:sp>
        <p:nvSpPr>
          <p:cNvPr id="26" name="Text 24"/>
          <p:cNvSpPr/>
          <p:nvPr/>
        </p:nvSpPr>
        <p:spPr>
          <a:xfrm>
            <a:off x="9829800" y="6035040"/>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Calibri" pitchFamily="34" charset="0"/>
                <a:ea typeface="Calibri" pitchFamily="34" charset="-122"/>
                <a:cs typeface="Calibri" pitchFamily="34" charset="-120"/>
              </a:rPr>
              <a:t>COMP 469 · Chapter 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 Chapter 1 Supplemental Slides</dc:title>
  <dc:subject>PptxGenJS Presentation</dc:subject>
  <dc:creator>COMP 469</dc:creator>
  <cp:lastModifiedBy>COMP 469</cp:lastModifiedBy>
  <cp:revision>1</cp:revision>
  <dcterms:created xsi:type="dcterms:W3CDTF">2026-08-02T07:42:04Z</dcterms:created>
  <dcterms:modified xsi:type="dcterms:W3CDTF">2026-08-02T07:42:04Z</dcterms:modified>
</cp:coreProperties>
</file>