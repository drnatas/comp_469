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1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137BD39-D92E-4733-9CCF-D2417862FC3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hyperlink" Target="https://www.bbc.com/news/articles/cdrvy3pn3r0o" TargetMode="External"/><Relationship Id="rId2" Type="http://schemas.openxmlformats.org/officeDocument/2006/relationships/hyperlink" Target="https://www.technologyreview.com/2026/02/27/1133624/ai-is-rewiring-how-the-worlds-best-go-players-think/" TargetMode="External"/><Relationship Id="rId3" Type="http://schemas.openxmlformats.org/officeDocument/2006/relationships/slide" Target="../slides/slide4.xml"/><Relationship Id="rId4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453600" y="1038960"/>
            <a:ext cx="3629520" cy="280440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453600" y="4000320"/>
            <a:ext cx="3629520" cy="3271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"/>
          </p:nvPr>
        </p:nvSpPr>
        <p:spPr>
          <a:xfrm>
            <a:off x="2570760" y="7895520"/>
            <a:ext cx="1965240" cy="415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6F18809-22ED-4597-9431-579C2CA5E17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1ECE150-F76B-4E78-8F8C-4D172CA37F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slide should be the history of AI, go over who history a bit better.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AA87203-26B7-4D93-9518-7439D30C4A1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1440" y="0"/>
            <a:ext cx="360" cy="7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https://www.bbc.com/news/articles/cdrvy3pn3r0o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2"/>
              </a:rPr>
              <a:t>https://www.technologyreview.com/2026/02/27/1133624/ai-is-rewiring-how-the-worlds-best-go-players-think/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https://www.aiweirdness.com/new-ai-paint-colors/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D3E0FC1-CA6D-417E-99D5-6EE07FE7B4F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slide should be the history of AI, go over who history a bit better.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3716B7E-71B0-4DAE-BD03-DA06D15C043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slide should be the history of AI, go over who history a bit better.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55264A2-D915-41A2-834C-996EAE6BF8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99132D1-9F0C-4FAA-881E-27F73E67EE6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5CAA58B-EE58-45EB-BACE-D72FCFCDDA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C65144D-B0AD-40CA-902D-E09B4C1F07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630CFD3-BD28-4E44-9B63-2145558155C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02DAC78-95AC-4F9E-B6F3-B4DA7B59061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4150A45-9EC4-4A0D-9487-03964C1A67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21EA74D-68EF-41AE-A7EB-DB6E97FCC7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DBEB9D5-4D74-42A7-99C4-572C3BC0A58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7AB384E-5D61-49C3-8DF5-3E5E797B5B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436BA1B-BB31-4B82-AC2E-8B0EA1E492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7DE2F53-5FAC-44AB-9851-468F797C15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83A57C8-ACD4-455D-B3B1-D5585622F6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B9DE81D-2F37-4747-A5A3-AEACB6C182E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8246079-5394-4675-8BFA-5229E5ED42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84F048F-3AC4-401A-9327-9F71A6265C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A32229A-A769-411F-92EF-2B51F1996F6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8D31648-5CDA-4D19-9CF4-B1324C0265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9B4970B-42A5-4337-BBEF-0BA0350748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216191B-9971-462D-BFED-BC0125DF14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C96E6F3-0969-4F4A-AEF6-9765A38C04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668C21C-3E02-440F-88F8-01F7C64412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577569A-EA7F-496B-92C2-DD6C24F10B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6C13849-ABD0-4C38-A0AC-7B41F891A9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59B9A50-85EA-48BD-A621-45ACA5664F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A5C6CD8-084B-4BAE-9DD5-33C3CC0FF1B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DBC60E6-786F-4CAA-BD5A-906B4D68BD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11CAD00-EAD2-42E5-8D1D-01C8DB49BC7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496800"/>
            <a:ext cx="82281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531360"/>
            <a:ext cx="8228160" cy="20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100000"/>
              </a:lnSpc>
              <a:spcBef>
                <a:spcPts val="848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100000"/>
              </a:lnSpc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100000"/>
              </a:lnSpc>
              <a:spcBef>
                <a:spcPts val="422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84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42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  <p:sldLayoutId id="214748365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hyperlink" Target="https://maps.deflock.org/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0" descr="/mnt/data/wide_cinematic_futuristic_scene_a_dark_blue_nigh.png"/>
          <p:cNvPicPr/>
          <p:nvPr/>
        </p:nvPicPr>
        <p:blipFill>
          <a:blip r:embed="rId1"/>
          <a:srcRect l="41982" t="0" r="9372" b="0"/>
          <a:stretch/>
        </p:blipFill>
        <p:spPr>
          <a:xfrm>
            <a:off x="4697640" y="0"/>
            <a:ext cx="4442760" cy="514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Shape 2"/>
          <p:cNvSpPr/>
          <p:nvPr/>
        </p:nvSpPr>
        <p:spPr>
          <a:xfrm>
            <a:off x="4526280" y="0"/>
            <a:ext cx="169920" cy="5142600"/>
          </a:xfrm>
          <a:prstGeom prst="rect">
            <a:avLst/>
          </a:prstGeom>
          <a:solidFill>
            <a:srgbClr val="C99700"/>
          </a:solidFill>
          <a:ln w="12600">
            <a:solidFill>
              <a:srgbClr val="C997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4960" tIns="45000" rIns="8496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38"/>
          <p:cNvSpPr/>
          <p:nvPr/>
        </p:nvSpPr>
        <p:spPr>
          <a:xfrm>
            <a:off x="493920" y="493560"/>
            <a:ext cx="157608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C99700"/>
                </a:solidFill>
                <a:effectLst/>
                <a:uFillTx/>
                <a:latin typeface="Aptos"/>
                <a:ea typeface="DejaVu Sans"/>
              </a:rPr>
              <a:t>COMP 469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40"/>
          <p:cNvSpPr/>
          <p:nvPr/>
        </p:nvSpPr>
        <p:spPr>
          <a:xfrm>
            <a:off x="479880" y="925560"/>
            <a:ext cx="3804840" cy="99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Aptos"/>
                <a:ea typeface="DejaVu Sans"/>
              </a:rPr>
              <a:t>AI Agents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Aptos"/>
                <a:ea typeface="DejaVu Sans"/>
              </a:rPr>
              <a:t>and Foundations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41"/>
          <p:cNvSpPr/>
          <p:nvPr/>
        </p:nvSpPr>
        <p:spPr>
          <a:xfrm>
            <a:off x="493920" y="2160000"/>
            <a:ext cx="3770640" cy="2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 fontScale="62500" lnSpcReduction="19999"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25"/>
          <p:cNvSpPr/>
          <p:nvPr/>
        </p:nvSpPr>
        <p:spPr>
          <a:xfrm>
            <a:off x="493920" y="2880360"/>
            <a:ext cx="3530520" cy="650160"/>
          </a:xfrm>
          <a:prstGeom prst="roundRect">
            <a:avLst>
              <a:gd name="adj" fmla="val 12632"/>
            </a:avLst>
          </a:prstGeom>
          <a:solidFill>
            <a:srgbClr val="123B5A"/>
          </a:solidFill>
          <a:ln w="15120">
            <a:solidFill>
              <a:srgbClr val="C997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42"/>
          <p:cNvSpPr/>
          <p:nvPr/>
        </p:nvSpPr>
        <p:spPr>
          <a:xfrm>
            <a:off x="644760" y="3017520"/>
            <a:ext cx="32288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70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  <a:ea typeface="DejaVu Sans"/>
              </a:rPr>
              <a:t>Week 1: define intelligence, build agent vocabulary, and prepare for the grid-world lab.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43"/>
          <p:cNvSpPr/>
          <p:nvPr/>
        </p:nvSpPr>
        <p:spPr>
          <a:xfrm>
            <a:off x="377280" y="4903560"/>
            <a:ext cx="3976200" cy="13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67085"/>
                </a:solidFill>
                <a:effectLst/>
                <a:uFillTx/>
                <a:latin typeface="Aptos"/>
                <a:ea typeface="DejaVu Sans"/>
              </a:rPr>
              <a:t>COMP 469 | CSU Channel Islands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4"/>
          <p:cNvSpPr/>
          <p:nvPr/>
        </p:nvSpPr>
        <p:spPr>
          <a:xfrm>
            <a:off x="8332560" y="4883040"/>
            <a:ext cx="375840" cy="13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67085"/>
                </a:solidFill>
                <a:effectLst/>
                <a:uFillTx/>
                <a:latin typeface="Aptos"/>
                <a:ea typeface="DejaVu Sans"/>
              </a:rPr>
              <a:t>01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B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0" y="0"/>
            <a:ext cx="163080" cy="514224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1720" tIns="45000" rIns="817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"/>
          <p:cNvSpPr/>
          <p:nvPr/>
        </p:nvSpPr>
        <p:spPr>
          <a:xfrm>
            <a:off x="164520" y="4389120"/>
            <a:ext cx="8978040" cy="753120"/>
          </a:xfrm>
          <a:prstGeom prst="rect">
            <a:avLst/>
          </a:prstGeom>
          <a:solidFill>
            <a:srgbClr val="0D1B36"/>
          </a:solidFill>
          <a:ln w="12700">
            <a:solidFill>
              <a:srgbClr val="0D1B3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2"/>
          <p:cNvSpPr/>
          <p:nvPr/>
        </p:nvSpPr>
        <p:spPr>
          <a:xfrm>
            <a:off x="457200" y="914400"/>
            <a:ext cx="8228160" cy="16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Chapters 1: Introduction to AI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3"/>
          <p:cNvSpPr/>
          <p:nvPr/>
        </p:nvSpPr>
        <p:spPr>
          <a:xfrm>
            <a:off x="457200" y="2651760"/>
            <a:ext cx="822816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Russell &amp; Norvig · Artificial Intelligence: A Modern Approach (4th ed.)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4"/>
          <p:cNvSpPr/>
          <p:nvPr/>
        </p:nvSpPr>
        <p:spPr>
          <a:xfrm>
            <a:off x="457200" y="448056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COMP 469 – Artificial Intelligence  |  CSU Channel Islands  |  Two-Hour Lecture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0" y="0"/>
            <a:ext cx="9142560" cy="7758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"/>
          <p:cNvSpPr/>
          <p:nvPr/>
        </p:nvSpPr>
        <p:spPr>
          <a:xfrm>
            <a:off x="0" y="777240"/>
            <a:ext cx="9142560" cy="6264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"/>
          <p:cNvSpPr/>
          <p:nvPr/>
        </p:nvSpPr>
        <p:spPr>
          <a:xfrm>
            <a:off x="320040" y="0"/>
            <a:ext cx="8502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What Is AI in the movies?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" name=""/>
          <p:cNvPicPr/>
          <p:nvPr/>
        </p:nvPicPr>
        <p:blipFill>
          <a:blip r:embed="rId1"/>
          <a:stretch/>
        </p:blipFill>
        <p:spPr>
          <a:xfrm>
            <a:off x="169200" y="1047600"/>
            <a:ext cx="2836080" cy="29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"/>
          <p:cNvSpPr txBox="1"/>
          <p:nvPr/>
        </p:nvSpPr>
        <p:spPr>
          <a:xfrm>
            <a:off x="1312200" y="4094280"/>
            <a:ext cx="80316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2B49"/>
                </a:solidFill>
                <a:effectLst/>
                <a:uFillTx/>
                <a:latin typeface="Arial"/>
              </a:rPr>
              <a:t>3CPO</a:t>
            </a:r>
            <a:endParaRPr lang="en-US" sz="1800" b="0" u="none" strike="noStrike">
              <a:solidFill>
                <a:srgbClr val="002B49"/>
              </a:solidFill>
              <a:effectLst/>
              <a:uFillTx/>
              <a:latin typeface="Arial"/>
            </a:endParaRPr>
          </a:p>
        </p:txBody>
      </p:sp>
      <p:pic>
        <p:nvPicPr>
          <p:cNvPr id="32" name=""/>
          <p:cNvPicPr/>
          <p:nvPr/>
        </p:nvPicPr>
        <p:blipFill>
          <a:blip r:embed="rId2"/>
          <a:stretch/>
        </p:blipFill>
        <p:spPr>
          <a:xfrm>
            <a:off x="3147840" y="1047600"/>
            <a:ext cx="2977560" cy="167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"/>
          <p:cNvSpPr txBox="1"/>
          <p:nvPr/>
        </p:nvSpPr>
        <p:spPr>
          <a:xfrm>
            <a:off x="4428000" y="2840400"/>
            <a:ext cx="76536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2B49"/>
                </a:solidFill>
                <a:effectLst/>
                <a:uFillTx/>
                <a:latin typeface="Arial"/>
              </a:rPr>
              <a:t>T-800</a:t>
            </a:r>
            <a:endParaRPr lang="en-US" sz="1800" b="0" u="none" strike="noStrike">
              <a:solidFill>
                <a:srgbClr val="002B49"/>
              </a:solidFill>
              <a:effectLst/>
              <a:uFillTx/>
              <a:latin typeface="Arial"/>
            </a:endParaRPr>
          </a:p>
        </p:txBody>
      </p:sp>
      <p:pic>
        <p:nvPicPr>
          <p:cNvPr id="34" name=""/>
          <p:cNvPicPr/>
          <p:nvPr/>
        </p:nvPicPr>
        <p:blipFill>
          <a:blip r:embed="rId3"/>
          <a:srcRect l="0" t="0" r="41555" b="0"/>
          <a:stretch/>
        </p:blipFill>
        <p:spPr>
          <a:xfrm>
            <a:off x="6208200" y="1047600"/>
            <a:ext cx="2845080" cy="2434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"/>
          <p:cNvSpPr txBox="1"/>
          <p:nvPr/>
        </p:nvSpPr>
        <p:spPr>
          <a:xfrm>
            <a:off x="7086600" y="3526200"/>
            <a:ext cx="142596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2B49"/>
                </a:solidFill>
                <a:effectLst/>
                <a:uFillTx/>
                <a:latin typeface="Arial"/>
              </a:rPr>
              <a:t>Agent Smith</a:t>
            </a:r>
            <a:endParaRPr lang="en-US" sz="1800" b="0" u="none" strike="noStrike">
              <a:solidFill>
                <a:srgbClr val="002B49"/>
              </a:solidFill>
              <a:effectLst/>
              <a:uFillTx/>
              <a:latin typeface="Arial"/>
            </a:endParaRPr>
          </a:p>
        </p:txBody>
      </p:sp>
      <p:pic>
        <p:nvPicPr>
          <p:cNvPr id="36" name=""/>
          <p:cNvPicPr/>
          <p:nvPr/>
        </p:nvPicPr>
        <p:blipFill>
          <a:blip r:embed="rId4"/>
          <a:stretch/>
        </p:blipFill>
        <p:spPr>
          <a:xfrm>
            <a:off x="3272400" y="3200400"/>
            <a:ext cx="2743920" cy="1828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27"/>
          <p:cNvSpPr/>
          <p:nvPr/>
        </p:nvSpPr>
        <p:spPr>
          <a:xfrm>
            <a:off x="1440" y="0"/>
            <a:ext cx="9142560" cy="775800"/>
          </a:xfrm>
          <a:prstGeom prst="rect">
            <a:avLst/>
          </a:prstGeom>
          <a:solidFill>
            <a:srgbClr val="0F2B5B"/>
          </a:solidFill>
          <a:ln w="12600">
            <a:solidFill>
              <a:srgbClr val="0F2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0" y="775800"/>
            <a:ext cx="9142560" cy="62640"/>
          </a:xfrm>
          <a:prstGeom prst="rect">
            <a:avLst/>
          </a:prstGeom>
          <a:solidFill>
            <a:srgbClr val="F4A020"/>
          </a:solidFill>
          <a:ln w="126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" name=""/>
          <p:cNvPicPr/>
          <p:nvPr/>
        </p:nvPicPr>
        <p:blipFill>
          <a:blip r:embed="rId1"/>
          <a:stretch/>
        </p:blipFill>
        <p:spPr>
          <a:xfrm>
            <a:off x="77040" y="914400"/>
            <a:ext cx="3809160" cy="355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"/>
          <p:cNvSpPr txBox="1"/>
          <p:nvPr/>
        </p:nvSpPr>
        <p:spPr>
          <a:xfrm>
            <a:off x="222480" y="156600"/>
            <a:ext cx="1919520" cy="430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News in AI?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" name=""/>
          <p:cNvPicPr/>
          <p:nvPr/>
        </p:nvPicPr>
        <p:blipFill>
          <a:blip r:embed="rId2"/>
          <a:stretch/>
        </p:blipFill>
        <p:spPr>
          <a:xfrm>
            <a:off x="3886200" y="957600"/>
            <a:ext cx="3474720" cy="384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"/>
          <p:cNvPicPr/>
          <p:nvPr/>
        </p:nvPicPr>
        <p:blipFill>
          <a:blip r:embed="rId3"/>
          <a:stretch/>
        </p:blipFill>
        <p:spPr>
          <a:xfrm>
            <a:off x="228600" y="3886200"/>
            <a:ext cx="8229600" cy="970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"/>
          <p:cNvPicPr/>
          <p:nvPr/>
        </p:nvPicPr>
        <p:blipFill>
          <a:blip r:embed="rId4"/>
          <a:stretch/>
        </p:blipFill>
        <p:spPr>
          <a:xfrm>
            <a:off x="1143000" y="957600"/>
            <a:ext cx="5592600" cy="3827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" dur="indefinite" restart="never" nodeType="tmRoot">
          <p:childTnLst>
            <p:seq>
              <p:cTn id="28" dur="indefinite" nodeType="mainSeq">
                <p:childTnLst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0"/>
          <p:cNvSpPr/>
          <p:nvPr/>
        </p:nvSpPr>
        <p:spPr>
          <a:xfrm>
            <a:off x="0" y="0"/>
            <a:ext cx="9142560" cy="7758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0" y="777240"/>
            <a:ext cx="9142560" cy="6264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45"/>
          <p:cNvSpPr/>
          <p:nvPr/>
        </p:nvSpPr>
        <p:spPr>
          <a:xfrm>
            <a:off x="320040" y="0"/>
            <a:ext cx="8502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1.1 What Is AI?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46"/>
          <p:cNvSpPr/>
          <p:nvPr/>
        </p:nvSpPr>
        <p:spPr>
          <a:xfrm>
            <a:off x="365760" y="960120"/>
            <a:ext cx="8411040" cy="39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AI is concerned with understanding AND building intelligent entities; machines that compute how to act effectively and safely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2997000" y="1828800"/>
            <a:ext cx="5918400" cy="1626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Think Rationally/Correctly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we have rules that govern correct thoughts: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 can automate them, then turn them into: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Theorems, Provers &amp; Deductions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Thereby turning computation into Reasoning to Behavior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3079800" y="156600"/>
            <a:ext cx="2514600" cy="685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80’s mentality!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" name=""/>
          <p:cNvPicPr/>
          <p:nvPr/>
        </p:nvPicPr>
        <p:blipFill>
          <a:blip r:embed="rId1"/>
          <a:stretch/>
        </p:blipFill>
        <p:spPr>
          <a:xfrm>
            <a:off x="228600" y="1600200"/>
            <a:ext cx="2598840" cy="3242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5" dur="indefinite" restart="never" nodeType="tmRoot">
          <p:childTnLst>
            <p:seq>
              <p:cTn id="46" dur="indefinite" nodeType="mainSeq">
                <p:childTnLst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15"/>
          <p:cNvSpPr/>
          <p:nvPr/>
        </p:nvSpPr>
        <p:spPr>
          <a:xfrm>
            <a:off x="0" y="0"/>
            <a:ext cx="9142560" cy="7758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7"/>
          <p:cNvSpPr/>
          <p:nvPr/>
        </p:nvSpPr>
        <p:spPr>
          <a:xfrm>
            <a:off x="0" y="777240"/>
            <a:ext cx="9142560" cy="6264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6"/>
          <p:cNvSpPr/>
          <p:nvPr/>
        </p:nvSpPr>
        <p:spPr>
          <a:xfrm>
            <a:off x="320040" y="0"/>
            <a:ext cx="8502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1.1 What Is AI?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4"/>
          <p:cNvSpPr/>
          <p:nvPr/>
        </p:nvSpPr>
        <p:spPr>
          <a:xfrm>
            <a:off x="365760" y="960120"/>
            <a:ext cx="8411040" cy="39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AI is concerned with understanding AND building intelligent entities; machines that compute how to act effectively and safely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" name=""/>
          <p:cNvPicPr/>
          <p:nvPr/>
        </p:nvPicPr>
        <p:blipFill>
          <a:blip r:embed="rId1"/>
          <a:stretch/>
        </p:blipFill>
        <p:spPr>
          <a:xfrm>
            <a:off x="2696760" y="2156760"/>
            <a:ext cx="1875240" cy="150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" name=""/>
          <p:cNvPicPr/>
          <p:nvPr/>
        </p:nvPicPr>
        <p:blipFill>
          <a:blip r:embed="rId2"/>
          <a:stretch/>
        </p:blipFill>
        <p:spPr>
          <a:xfrm>
            <a:off x="5257800" y="2057400"/>
            <a:ext cx="2284920" cy="1828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9" dur="indefinite" restart="never" nodeType="tmRoot">
          <p:childTnLst>
            <p:seq>
              <p:cTn id="80" dur="indefinite" nodeType="mainSeq">
                <p:childTnLst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37"/>
          <p:cNvSpPr/>
          <p:nvPr/>
        </p:nvSpPr>
        <p:spPr>
          <a:xfrm>
            <a:off x="0" y="0"/>
            <a:ext cx="9142560" cy="7758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39"/>
          <p:cNvSpPr/>
          <p:nvPr/>
        </p:nvSpPr>
        <p:spPr>
          <a:xfrm>
            <a:off x="0" y="777240"/>
            <a:ext cx="9142560" cy="6264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6"/>
          <p:cNvSpPr/>
          <p:nvPr/>
        </p:nvSpPr>
        <p:spPr>
          <a:xfrm>
            <a:off x="320040" y="0"/>
            <a:ext cx="8502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1.1 What Is AI?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8"/>
          <p:cNvSpPr/>
          <p:nvPr/>
        </p:nvSpPr>
        <p:spPr>
          <a:xfrm>
            <a:off x="365760" y="960120"/>
            <a:ext cx="8411040" cy="39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AI is concerned with understanding AND building intelligent entities; machines that compute how to act effectively and safely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Already generating &gt; $1 trillion/year in revenue (and growing rapidly)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8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Two central dimensions create four approaches: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Act like Human vs. Act Rationally (fidelity to humans vs. formal optimality)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Think like people vs. Act Rationally (internal processes vs. external action)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8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The prevailing view: the Standard Model (1.1.5)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AI focused on rational action; doing the “</a:t>
            </a:r>
            <a:r>
              <a:rPr lang="en-US" sz="1800" b="0" u="none" strike="noStrike">
                <a:solidFill>
                  <a:srgbClr val="2A6099"/>
                </a:solidFill>
                <a:effectLst/>
                <a:uFillTx/>
                <a:latin typeface="Calibri"/>
                <a:ea typeface="Calibri"/>
              </a:rPr>
              <a:t>right thing</a:t>
            </a: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'Right thing' is defined by the objective provided to the agent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Shared with control theory, operations research, economics, statistics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Key refinement: perfect rationality is computationally intractable — limited rationality and value alignment are critical concerns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0" y="0"/>
            <a:ext cx="9142560" cy="7758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"/>
          <p:cNvSpPr/>
          <p:nvPr/>
        </p:nvSpPr>
        <p:spPr>
          <a:xfrm>
            <a:off x="0" y="777240"/>
            <a:ext cx="9142560" cy="6264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320040" y="0"/>
            <a:ext cx="8502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1.1 Four Approaches to AI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3"/>
          <p:cNvSpPr/>
          <p:nvPr/>
        </p:nvSpPr>
        <p:spPr>
          <a:xfrm>
            <a:off x="1371600" y="914400"/>
            <a:ext cx="27417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HUMAN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5029200" y="914400"/>
            <a:ext cx="27417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RATIONAL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 rot="16200000">
            <a:off x="0" y="1921680"/>
            <a:ext cx="10958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THOUGHT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6"/>
          <p:cNvSpPr/>
          <p:nvPr/>
        </p:nvSpPr>
        <p:spPr>
          <a:xfrm rot="16200000">
            <a:off x="0" y="3659040"/>
            <a:ext cx="10958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BEHAVIOR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7"/>
          <p:cNvSpPr/>
          <p:nvPr/>
        </p:nvSpPr>
        <p:spPr>
          <a:xfrm>
            <a:off x="1005840" y="1280160"/>
            <a:ext cx="3747600" cy="1553040"/>
          </a:xfrm>
          <a:prstGeom prst="rect">
            <a:avLst/>
          </a:prstGeom>
          <a:solidFill>
            <a:srgbClr val="3A7FD5"/>
          </a:solidFill>
          <a:ln w="12700">
            <a:solidFill>
              <a:srgbClr val="3A7FD5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8"/>
          <p:cNvSpPr/>
          <p:nvPr/>
        </p:nvSpPr>
        <p:spPr>
          <a:xfrm>
            <a:off x="1097280" y="1371600"/>
            <a:ext cx="356472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Thinking Humanly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9"/>
          <p:cNvSpPr/>
          <p:nvPr/>
        </p:nvSpPr>
        <p:spPr>
          <a:xfrm>
            <a:off x="1097280" y="1737360"/>
            <a:ext cx="356472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Cognitive modeling approach.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GPS: match human problem-solving steps (Newell &amp; Simon)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0"/>
          <p:cNvSpPr/>
          <p:nvPr/>
        </p:nvSpPr>
        <p:spPr>
          <a:xfrm>
            <a:off x="5120640" y="1280160"/>
            <a:ext cx="3747600" cy="155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1"/>
          <p:cNvSpPr/>
          <p:nvPr/>
        </p:nvSpPr>
        <p:spPr>
          <a:xfrm>
            <a:off x="5212080" y="1371600"/>
            <a:ext cx="356472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Thinking Rationally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2"/>
          <p:cNvSpPr/>
          <p:nvPr/>
        </p:nvSpPr>
        <p:spPr>
          <a:xfrm>
            <a:off x="5212080" y="1737360"/>
            <a:ext cx="356472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Laws of Thought approach.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Logic and formal deduction; Aristotle's syllogisms → first-order logic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3"/>
          <p:cNvSpPr/>
          <p:nvPr/>
        </p:nvSpPr>
        <p:spPr>
          <a:xfrm>
            <a:off x="1005840" y="3017520"/>
            <a:ext cx="3747600" cy="15530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4"/>
          <p:cNvSpPr/>
          <p:nvPr/>
        </p:nvSpPr>
        <p:spPr>
          <a:xfrm>
            <a:off x="1097280" y="3108960"/>
            <a:ext cx="356472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Acting Humanly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5"/>
          <p:cNvSpPr/>
          <p:nvPr/>
        </p:nvSpPr>
        <p:spPr>
          <a:xfrm>
            <a:off x="1097280" y="3474720"/>
            <a:ext cx="356472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Turing Test approach.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Behaviorally indistinguishable from human via NLP, knowledge, reasoning, ML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6"/>
          <p:cNvSpPr/>
          <p:nvPr/>
        </p:nvSpPr>
        <p:spPr>
          <a:xfrm>
            <a:off x="5120640" y="3017520"/>
            <a:ext cx="3747600" cy="155304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7"/>
          <p:cNvSpPr/>
          <p:nvPr/>
        </p:nvSpPr>
        <p:spPr>
          <a:xfrm>
            <a:off x="5212080" y="3108960"/>
            <a:ext cx="356472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Acting Rationally ✓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8"/>
          <p:cNvSpPr/>
          <p:nvPr/>
        </p:nvSpPr>
        <p:spPr>
          <a:xfrm>
            <a:off x="5212080" y="3474720"/>
            <a:ext cx="356472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Rational Agent approach (dominant).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Maximize expected performance; mathematically well-defined &amp; general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0"/>
          <p:cNvSpPr/>
          <p:nvPr/>
        </p:nvSpPr>
        <p:spPr>
          <a:xfrm>
            <a:off x="0" y="0"/>
            <a:ext cx="9142560" cy="7758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"/>
          <p:cNvSpPr/>
          <p:nvPr/>
        </p:nvSpPr>
        <p:spPr>
          <a:xfrm>
            <a:off x="0" y="777240"/>
            <a:ext cx="9142560" cy="6264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320040" y="0"/>
            <a:ext cx="8502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1.1 The Value Alignment Problem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3"/>
          <p:cNvSpPr/>
          <p:nvPr/>
        </p:nvSpPr>
        <p:spPr>
          <a:xfrm>
            <a:off x="365760" y="960120"/>
            <a:ext cx="8411040" cy="39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Standard model: provide the machine a fixed objective → maximize 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Works in controlled environments where objectives can be reset and refined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Breaks down as systems become more capable and deployed in the real world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The King Midas Problem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 chess machine told to 'win at all costs' might hypnotize, blackmail, or bribe its opponent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These behaviors are logically optimal for the stated objective — but not what we desire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The more intelligent the system, the more severe the misalignment consequences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The solution: machines that know they don't know the objective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Instead of fixed objectives → pursue human objectives under uncertainty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Positive incentive to be switched off if uncertain about human goals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Inverse reinforcement learning: learn preferences from human behavior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Norbert Wiener (1960): 'If we use a mechanical agency with whose operation we cannot interfere effectively … we had better be quite sure that the purpose put into the machine is the purpose which we really desire.'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0"/>
          <p:cNvSpPr/>
          <p:nvPr/>
        </p:nvSpPr>
        <p:spPr>
          <a:xfrm>
            <a:off x="0" y="0"/>
            <a:ext cx="9142560" cy="7758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"/>
          <p:cNvSpPr/>
          <p:nvPr/>
        </p:nvSpPr>
        <p:spPr>
          <a:xfrm>
            <a:off x="0" y="777240"/>
            <a:ext cx="9142560" cy="6264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"/>
          <p:cNvSpPr/>
          <p:nvPr/>
        </p:nvSpPr>
        <p:spPr>
          <a:xfrm>
            <a:off x="320040" y="0"/>
            <a:ext cx="8502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1.2 Foundations of AI — Seven Disciplines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"/>
          <p:cNvSpPr/>
          <p:nvPr/>
        </p:nvSpPr>
        <p:spPr>
          <a:xfrm>
            <a:off x="365760" y="914400"/>
            <a:ext cx="8411040" cy="39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 Philosophy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Can formal rules draw valid conclusions? → Aristotle's syllogisms, logic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How does mind relate to brain? Dualism vs. materialism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Consequentialism (Mill) vs. Deontological ethics (Kant)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Mathematics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Formal logic (Boole → Frege → Gödel → Turing)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Probability theory: Bayes' rule, decision theory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Computability &amp; tractability: Church-Turing thesis, NP-completeness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Economics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Expected utility maximization (Bernoulli, von Neumann)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Game theory for multiagent settings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Sequential decisions: MDPs (Bellman, 1957); satisficing (Simon)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Neuroscience + Psychology + Linguistics + Engineering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Neurons, Hebbian learning, brain-machine interfaces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Cognitive psychology: brain as information processor (Craik 1943)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Chomsky: language requires formal, learnable models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Computing hardware: Moore's Law, GPUs, TPUs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"/>
          <p:cNvPicPr/>
          <p:nvPr/>
        </p:nvPicPr>
        <p:blipFill>
          <a:blip r:embed="rId1"/>
          <a:stretch/>
        </p:blipFill>
        <p:spPr>
          <a:xfrm>
            <a:off x="6545520" y="804960"/>
            <a:ext cx="997200" cy="1251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"/>
          <p:cNvPicPr/>
          <p:nvPr/>
        </p:nvPicPr>
        <p:blipFill>
          <a:blip r:embed="rId2"/>
          <a:stretch/>
        </p:blipFill>
        <p:spPr>
          <a:xfrm>
            <a:off x="7746480" y="2057400"/>
            <a:ext cx="939240" cy="1251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0"/>
          <p:cNvSpPr/>
          <p:nvPr/>
        </p:nvSpPr>
        <p:spPr>
          <a:xfrm>
            <a:off x="0" y="0"/>
            <a:ext cx="9142560" cy="7758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"/>
          <p:cNvSpPr/>
          <p:nvPr/>
        </p:nvSpPr>
        <p:spPr>
          <a:xfrm>
            <a:off x="0" y="777240"/>
            <a:ext cx="9142560" cy="6264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"/>
          <p:cNvSpPr/>
          <p:nvPr/>
        </p:nvSpPr>
        <p:spPr>
          <a:xfrm>
            <a:off x="320040" y="0"/>
            <a:ext cx="8502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1.2.2 Mathematical Foundations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3"/>
          <p:cNvSpPr/>
          <p:nvPr/>
        </p:nvSpPr>
        <p:spPr>
          <a:xfrm>
            <a:off x="320040" y="1005840"/>
            <a:ext cx="3930480" cy="383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4"/>
          <p:cNvSpPr/>
          <p:nvPr/>
        </p:nvSpPr>
        <p:spPr>
          <a:xfrm>
            <a:off x="320040" y="1005840"/>
            <a:ext cx="3930480" cy="410040"/>
          </a:xfrm>
          <a:prstGeom prst="rect">
            <a:avLst/>
          </a:prstGeom>
          <a:solidFill>
            <a:srgbClr val="3A7FD5"/>
          </a:solidFill>
          <a:ln w="12700">
            <a:solidFill>
              <a:srgbClr val="3A7F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5"/>
          <p:cNvSpPr/>
          <p:nvPr/>
        </p:nvSpPr>
        <p:spPr>
          <a:xfrm>
            <a:off x="320040" y="1005840"/>
            <a:ext cx="39304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Logic &amp; Computation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6"/>
          <p:cNvSpPr/>
          <p:nvPr/>
        </p:nvSpPr>
        <p:spPr>
          <a:xfrm>
            <a:off x="457200" y="1508760"/>
            <a:ext cx="3656160" cy="31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Boole (1847): Boolean / propositional logic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Frege (1879): first-order logic with objects &amp; relations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Gödel incompleteness theorem (1931): some truths have no proof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Turing (1936): Church-Turing thesis; defines computability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Turing also proved some functions are uncomputable (halting problem)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Tractability: polynomial vs. exponential; NP-completeness (Cook 1971)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7"/>
          <p:cNvSpPr/>
          <p:nvPr/>
        </p:nvSpPr>
        <p:spPr>
          <a:xfrm>
            <a:off x="4892040" y="1005840"/>
            <a:ext cx="3930480" cy="383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8"/>
          <p:cNvSpPr/>
          <p:nvPr/>
        </p:nvSpPr>
        <p:spPr>
          <a:xfrm>
            <a:off x="4892040" y="1005840"/>
            <a:ext cx="3930480" cy="41004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9"/>
          <p:cNvSpPr/>
          <p:nvPr/>
        </p:nvSpPr>
        <p:spPr>
          <a:xfrm>
            <a:off x="4892040" y="1005840"/>
            <a:ext cx="39304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Probability &amp; Statistics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0"/>
          <p:cNvSpPr/>
          <p:nvPr/>
        </p:nvSpPr>
        <p:spPr>
          <a:xfrm>
            <a:off x="5029200" y="1508760"/>
            <a:ext cx="3656160" cy="31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Cardano (1501): first formal probability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Bayes (1702): updating probabilities from evidence; Bayes' rule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Laplace, Bernoulli: statistical foundations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Fisher (1922): modern statistics; experiment design + analysis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Key insight: probability generalizes logic to uncertain worlds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Combined with data → modern ML and Bayesian networks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0" y="0"/>
            <a:ext cx="9142560" cy="7758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"/>
          <p:cNvSpPr/>
          <p:nvPr/>
        </p:nvSpPr>
        <p:spPr>
          <a:xfrm>
            <a:off x="0" y="777240"/>
            <a:ext cx="9142560" cy="6264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"/>
          <p:cNvSpPr/>
          <p:nvPr/>
        </p:nvSpPr>
        <p:spPr>
          <a:xfrm>
            <a:off x="320040" y="0"/>
            <a:ext cx="8502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1.3 History of AI – Key Eras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3"/>
          <p:cNvSpPr/>
          <p:nvPr/>
        </p:nvSpPr>
        <p:spPr>
          <a:xfrm>
            <a:off x="365760" y="2331720"/>
            <a:ext cx="8411040" cy="1630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4"/>
          <p:cNvSpPr/>
          <p:nvPr/>
        </p:nvSpPr>
        <p:spPr>
          <a:xfrm>
            <a:off x="777240" y="2249280"/>
            <a:ext cx="254520" cy="254520"/>
          </a:xfrm>
          <a:prstGeom prst="ellipse">
            <a:avLst/>
          </a:prstGeom>
          <a:solidFill>
            <a:srgbClr val="3A7FD5"/>
          </a:solidFill>
          <a:ln w="12700">
            <a:solidFill>
              <a:srgbClr val="3A7F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5"/>
          <p:cNvSpPr/>
          <p:nvPr/>
        </p:nvSpPr>
        <p:spPr>
          <a:xfrm>
            <a:off x="365760" y="960120"/>
            <a:ext cx="11872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3A7FD5"/>
                </a:solidFill>
                <a:effectLst/>
                <a:uFillTx/>
                <a:latin typeface="Calibri"/>
                <a:ea typeface="Calibri"/>
              </a:rPr>
              <a:t>1943–56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3A7FD5"/>
                </a:solidFill>
                <a:effectLst/>
                <a:uFillTx/>
                <a:latin typeface="Calibri"/>
                <a:ea typeface="Calibri"/>
              </a:rPr>
              <a:t>Inception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6"/>
          <p:cNvSpPr/>
          <p:nvPr/>
        </p:nvSpPr>
        <p:spPr>
          <a:xfrm>
            <a:off x="905040" y="1737360"/>
            <a:ext cx="360" cy="511920"/>
          </a:xfrm>
          <a:prstGeom prst="line">
            <a:avLst/>
          </a:prstGeom>
          <a:ln w="19050">
            <a:solidFill>
              <a:srgbClr val="3A7FD5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365760" y="2541960"/>
            <a:ext cx="118728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McCulloch &amp; Pitts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Dartmouth 1956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8"/>
          <p:cNvSpPr/>
          <p:nvPr/>
        </p:nvSpPr>
        <p:spPr>
          <a:xfrm>
            <a:off x="2057400" y="2249280"/>
            <a:ext cx="254520" cy="254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9"/>
          <p:cNvSpPr/>
          <p:nvPr/>
        </p:nvSpPr>
        <p:spPr>
          <a:xfrm>
            <a:off x="1645920" y="1051560"/>
            <a:ext cx="118728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GPS, LISP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Microworlds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0"/>
          <p:cNvSpPr/>
          <p:nvPr/>
        </p:nvSpPr>
        <p:spPr>
          <a:xfrm>
            <a:off x="2185200" y="1783080"/>
            <a:ext cx="360" cy="475200"/>
          </a:xfrm>
          <a:prstGeom prst="line">
            <a:avLst/>
          </a:prstGeom>
          <a:ln w="19050">
            <a:solidFill>
              <a:srgbClr val="02809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1"/>
          <p:cNvSpPr/>
          <p:nvPr/>
        </p:nvSpPr>
        <p:spPr>
          <a:xfrm>
            <a:off x="1645920" y="2578680"/>
            <a:ext cx="11872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1952–69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Early Hype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2"/>
          <p:cNvSpPr/>
          <p:nvPr/>
        </p:nvSpPr>
        <p:spPr>
          <a:xfrm>
            <a:off x="3383280" y="2249280"/>
            <a:ext cx="254520" cy="25452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3"/>
          <p:cNvSpPr/>
          <p:nvPr/>
        </p:nvSpPr>
        <p:spPr>
          <a:xfrm>
            <a:off x="2971800" y="960120"/>
            <a:ext cx="11872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8B1A1A"/>
                </a:solidFill>
                <a:effectLst/>
                <a:uFillTx/>
                <a:latin typeface="Calibri"/>
                <a:ea typeface="Calibri"/>
              </a:rPr>
              <a:t>1966–73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8B1A1A"/>
                </a:solidFill>
                <a:effectLst/>
                <a:uFillTx/>
                <a:latin typeface="Calibri"/>
                <a:ea typeface="Calibri"/>
              </a:rPr>
              <a:t>First Winter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4"/>
          <p:cNvSpPr/>
          <p:nvPr/>
        </p:nvSpPr>
        <p:spPr>
          <a:xfrm>
            <a:off x="3511080" y="1737360"/>
            <a:ext cx="360" cy="511920"/>
          </a:xfrm>
          <a:prstGeom prst="line">
            <a:avLst/>
          </a:prstGeom>
          <a:ln w="19050">
            <a:solidFill>
              <a:srgbClr val="8B1A1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5"/>
          <p:cNvSpPr/>
          <p:nvPr/>
        </p:nvSpPr>
        <p:spPr>
          <a:xfrm>
            <a:off x="2971800" y="2541960"/>
            <a:ext cx="118728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Intractability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Lighthill report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6"/>
          <p:cNvSpPr/>
          <p:nvPr/>
        </p:nvSpPr>
        <p:spPr>
          <a:xfrm>
            <a:off x="4663440" y="2249280"/>
            <a:ext cx="254520" cy="25452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7"/>
          <p:cNvSpPr/>
          <p:nvPr/>
        </p:nvSpPr>
        <p:spPr>
          <a:xfrm>
            <a:off x="4251960" y="1051560"/>
            <a:ext cx="118728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DENDRAL, MYCIN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$billions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8"/>
          <p:cNvSpPr/>
          <p:nvPr/>
        </p:nvSpPr>
        <p:spPr>
          <a:xfrm>
            <a:off x="4791240" y="1783080"/>
            <a:ext cx="360" cy="475200"/>
          </a:xfrm>
          <a:prstGeom prst="line">
            <a:avLst/>
          </a:prstGeom>
          <a:ln w="19050">
            <a:solidFill>
              <a:srgbClr val="1B6B3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9"/>
          <p:cNvSpPr/>
          <p:nvPr/>
        </p:nvSpPr>
        <p:spPr>
          <a:xfrm>
            <a:off x="4251960" y="2578680"/>
            <a:ext cx="11872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B6B3A"/>
                </a:solidFill>
                <a:effectLst/>
                <a:uFillTx/>
                <a:latin typeface="Calibri"/>
                <a:ea typeface="Calibri"/>
              </a:rPr>
              <a:t>1969–86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B6B3A"/>
                </a:solidFill>
                <a:effectLst/>
                <a:uFillTx/>
                <a:latin typeface="Calibri"/>
                <a:ea typeface="Calibri"/>
              </a:rPr>
              <a:t>Expert Sys.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20"/>
          <p:cNvSpPr/>
          <p:nvPr/>
        </p:nvSpPr>
        <p:spPr>
          <a:xfrm>
            <a:off x="5943600" y="2249280"/>
            <a:ext cx="254520" cy="254520"/>
          </a:xfrm>
          <a:prstGeom prst="ellipse">
            <a:avLst/>
          </a:prstGeom>
          <a:solidFill>
            <a:srgbClr val="1A4FA0"/>
          </a:solidFill>
          <a:ln w="12700">
            <a:solidFill>
              <a:srgbClr val="1A4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1"/>
          <p:cNvSpPr/>
          <p:nvPr/>
        </p:nvSpPr>
        <p:spPr>
          <a:xfrm>
            <a:off x="5532120" y="960120"/>
            <a:ext cx="11872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A4FA0"/>
                </a:solidFill>
                <a:effectLst/>
                <a:uFillTx/>
                <a:latin typeface="Calibri"/>
                <a:ea typeface="Calibri"/>
              </a:rPr>
              <a:t>1986+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A4FA0"/>
                </a:solidFill>
                <a:effectLst/>
                <a:uFillTx/>
                <a:latin typeface="Calibri"/>
                <a:ea typeface="Calibri"/>
              </a:rPr>
              <a:t>Neural Nets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2"/>
          <p:cNvSpPr/>
          <p:nvPr/>
        </p:nvSpPr>
        <p:spPr>
          <a:xfrm>
            <a:off x="6071400" y="1737360"/>
            <a:ext cx="360" cy="511920"/>
          </a:xfrm>
          <a:prstGeom prst="line">
            <a:avLst/>
          </a:prstGeom>
          <a:ln w="19050">
            <a:solidFill>
              <a:srgbClr val="1A4FA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3"/>
          <p:cNvSpPr/>
          <p:nvPr/>
        </p:nvSpPr>
        <p:spPr>
          <a:xfrm>
            <a:off x="5532120" y="2541960"/>
            <a:ext cx="118728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Backprop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Connectionism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4"/>
          <p:cNvSpPr/>
          <p:nvPr/>
        </p:nvSpPr>
        <p:spPr>
          <a:xfrm>
            <a:off x="7223760" y="2249280"/>
            <a:ext cx="254520" cy="2545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5"/>
          <p:cNvSpPr/>
          <p:nvPr/>
        </p:nvSpPr>
        <p:spPr>
          <a:xfrm>
            <a:off x="6812280" y="1051560"/>
            <a:ext cx="118728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Bayes nets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MDPs, RL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6"/>
          <p:cNvSpPr/>
          <p:nvPr/>
        </p:nvSpPr>
        <p:spPr>
          <a:xfrm>
            <a:off x="7351560" y="1783080"/>
            <a:ext cx="360" cy="475200"/>
          </a:xfrm>
          <a:prstGeom prst="line">
            <a:avLst/>
          </a:prstGeom>
          <a:ln w="19050">
            <a:solidFill>
              <a:srgbClr val="6D2E4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7"/>
          <p:cNvSpPr/>
          <p:nvPr/>
        </p:nvSpPr>
        <p:spPr>
          <a:xfrm>
            <a:off x="6812280" y="2578680"/>
            <a:ext cx="11872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6D2E46"/>
                </a:solidFill>
                <a:effectLst/>
                <a:uFillTx/>
                <a:latin typeface="Calibri"/>
                <a:ea typeface="Calibri"/>
              </a:rPr>
              <a:t>1987+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6D2E46"/>
                </a:solidFill>
                <a:effectLst/>
                <a:uFillTx/>
                <a:latin typeface="Calibri"/>
                <a:ea typeface="Calibri"/>
              </a:rPr>
              <a:t>Prob. Reason.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8"/>
          <p:cNvSpPr/>
          <p:nvPr/>
        </p:nvSpPr>
        <p:spPr>
          <a:xfrm>
            <a:off x="8412480" y="2249280"/>
            <a:ext cx="254520" cy="254520"/>
          </a:xfrm>
          <a:prstGeom prst="ellipse">
            <a:avLst/>
          </a:prstGeom>
          <a:solidFill>
            <a:srgbClr val="0F2B5B"/>
          </a:solidFill>
          <a:ln w="12700">
            <a:solidFill>
              <a:srgbClr val="0F2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9"/>
          <p:cNvSpPr/>
          <p:nvPr/>
        </p:nvSpPr>
        <p:spPr>
          <a:xfrm>
            <a:off x="8001000" y="960120"/>
            <a:ext cx="11872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2011+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Deep Learning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30"/>
          <p:cNvSpPr/>
          <p:nvPr/>
        </p:nvSpPr>
        <p:spPr>
          <a:xfrm>
            <a:off x="8540280" y="1737360"/>
            <a:ext cx="360" cy="511920"/>
          </a:xfrm>
          <a:prstGeom prst="line">
            <a:avLst/>
          </a:prstGeom>
          <a:ln w="19050">
            <a:solidFill>
              <a:srgbClr val="0F2B5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1"/>
          <p:cNvSpPr/>
          <p:nvPr/>
        </p:nvSpPr>
        <p:spPr>
          <a:xfrm>
            <a:off x="8001000" y="2541960"/>
            <a:ext cx="118728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ImageNet, AlphaGo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LLMs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32"/>
          <p:cNvSpPr/>
          <p:nvPr/>
        </p:nvSpPr>
        <p:spPr>
          <a:xfrm>
            <a:off x="365760" y="3657600"/>
            <a:ext cx="8411040" cy="12330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33"/>
          <p:cNvSpPr/>
          <p:nvPr/>
        </p:nvSpPr>
        <p:spPr>
          <a:xfrm>
            <a:off x="365760" y="3657600"/>
            <a:ext cx="8411040" cy="34596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34"/>
          <p:cNvSpPr/>
          <p:nvPr/>
        </p:nvSpPr>
        <p:spPr>
          <a:xfrm>
            <a:off x="365760" y="3657600"/>
            <a:ext cx="84110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  Turing Award Milestones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35"/>
          <p:cNvSpPr/>
          <p:nvPr/>
        </p:nvSpPr>
        <p:spPr>
          <a:xfrm>
            <a:off x="457200" y="4041720"/>
            <a:ext cx="82281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Minsky &amp; McCarthy (1969, 1971) · Feigenbaum &amp; Reddy (1994) · Judea Pearl (2011) · Bengio, Hinton, LeCun (2019)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0"/>
          <p:cNvSpPr/>
          <p:nvPr/>
        </p:nvSpPr>
        <p:spPr>
          <a:xfrm>
            <a:off x="0" y="0"/>
            <a:ext cx="9142560" cy="7758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"/>
          <p:cNvSpPr/>
          <p:nvPr/>
        </p:nvSpPr>
        <p:spPr>
          <a:xfrm>
            <a:off x="0" y="777240"/>
            <a:ext cx="9142560" cy="6264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"/>
          <p:cNvSpPr/>
          <p:nvPr/>
        </p:nvSpPr>
        <p:spPr>
          <a:xfrm>
            <a:off x="320040" y="0"/>
            <a:ext cx="8502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1.3 Inception &amp; Early Enthusiasm (1943–1969)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365760" y="960120"/>
            <a:ext cx="8411040" cy="39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1943: McCulloch &amp; Pitts — artificial neuron model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Any computable function can be computed by a network of neurons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Logical connectives implementable with simple network structures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1950: Turing — 'Computing Machinery and Intelligence'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Introduced the Turing Test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Also introduced: machine learning, genetic algorithms, reinforcement learning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1956: Dartmouth Workshop — AI is officially 'born'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McCarthy coined the term 'Artificial Intelligence'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10 researchers; Newell &amp; Simon presented Logic Theorist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1952–1969: Early successes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GPS: General Problem Solver — imitated human problem-solving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Checkers (Samuel): first program to outplay its creator via RL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LISP (McCarthy, 1958): dominant AI language for 30 years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Microworlds: SAINT (calculus), STUDENT (algebra), blocks world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0"/>
          <p:cNvSpPr/>
          <p:nvPr/>
        </p:nvSpPr>
        <p:spPr>
          <a:xfrm>
            <a:off x="0" y="0"/>
            <a:ext cx="9142560" cy="7758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"/>
          <p:cNvSpPr/>
          <p:nvPr/>
        </p:nvSpPr>
        <p:spPr>
          <a:xfrm>
            <a:off x="0" y="777240"/>
            <a:ext cx="9142560" cy="6264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"/>
          <p:cNvSpPr/>
          <p:nvPr/>
        </p:nvSpPr>
        <p:spPr>
          <a:xfrm>
            <a:off x="320040" y="0"/>
            <a:ext cx="8502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1.3 Dose of Reality → Expert Systems (1966–1986)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3"/>
          <p:cNvSpPr/>
          <p:nvPr/>
        </p:nvSpPr>
        <p:spPr>
          <a:xfrm>
            <a:off x="320040" y="1005840"/>
            <a:ext cx="3930480" cy="383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4"/>
          <p:cNvSpPr/>
          <p:nvPr/>
        </p:nvSpPr>
        <p:spPr>
          <a:xfrm>
            <a:off x="320040" y="1005840"/>
            <a:ext cx="3930480" cy="4100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5"/>
          <p:cNvSpPr/>
          <p:nvPr/>
        </p:nvSpPr>
        <p:spPr>
          <a:xfrm>
            <a:off x="320040" y="1005840"/>
            <a:ext cx="39304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First AI Winter (1966–1973)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6"/>
          <p:cNvSpPr/>
          <p:nvPr/>
        </p:nvSpPr>
        <p:spPr>
          <a:xfrm>
            <a:off x="457200" y="1508760"/>
            <a:ext cx="3656160" cy="31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Early systems worked on tiny problems; failed badly on harder ones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Combinatorial explosion: scaling up is not just faster hardware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Minsky &amp; Papert (1969): perceptrons cannot represent XOR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Lighthill Report (1973): UK government ends AI funding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Lesson: general 'weak methods' don't scale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7"/>
          <p:cNvSpPr/>
          <p:nvPr/>
        </p:nvSpPr>
        <p:spPr>
          <a:xfrm>
            <a:off x="4892040" y="1005840"/>
            <a:ext cx="3930480" cy="383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8"/>
          <p:cNvSpPr/>
          <p:nvPr/>
        </p:nvSpPr>
        <p:spPr>
          <a:xfrm>
            <a:off x="4892040" y="1005840"/>
            <a:ext cx="3930480" cy="41004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9"/>
          <p:cNvSpPr/>
          <p:nvPr/>
        </p:nvSpPr>
        <p:spPr>
          <a:xfrm>
            <a:off x="4892040" y="1005840"/>
            <a:ext cx="39304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Expert Systems (1969–1986)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0"/>
          <p:cNvSpPr/>
          <p:nvPr/>
        </p:nvSpPr>
        <p:spPr>
          <a:xfrm>
            <a:off x="5029200" y="1508760"/>
            <a:ext cx="3656160" cy="31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DENDRAL (1969): infer molecular structure from mass spectrometer data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MYCIN: 450 rules → diagnostic performance matching experts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R1 (DEC): saved $40M/year by 1986 configuring computer orders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AI industry: few million (1980) → billions (1988)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Second AI Winter: brittleness, inability to handle uncertainty, no learning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0"/>
          <p:cNvSpPr/>
          <p:nvPr/>
        </p:nvSpPr>
        <p:spPr>
          <a:xfrm>
            <a:off x="0" y="0"/>
            <a:ext cx="9142560" cy="7758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"/>
          <p:cNvSpPr/>
          <p:nvPr/>
        </p:nvSpPr>
        <p:spPr>
          <a:xfrm>
            <a:off x="0" y="777240"/>
            <a:ext cx="9142560" cy="6264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"/>
          <p:cNvSpPr/>
          <p:nvPr/>
        </p:nvSpPr>
        <p:spPr>
          <a:xfrm>
            <a:off x="320040" y="0"/>
            <a:ext cx="8502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1.3 Modern AI: Neural Nets → Probabilistic → Deep Learning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3"/>
          <p:cNvSpPr/>
          <p:nvPr/>
        </p:nvSpPr>
        <p:spPr>
          <a:xfrm>
            <a:off x="365760" y="960120"/>
            <a:ext cx="8411040" cy="39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1986: Backpropagation rediscovered → connectionist revolution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Parallel Distributed Processing (Rumelhart &amp; McClelland)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Challenged symbolic AI; debate: symbols vs. distributed representations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1987+: Probabilistic reasoning &amp; machine learning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Judea Pearl (1988): Bayesian networks — rigorous uncertain reasoning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Rich Sutton: reinforcement learning + MDPs unified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Speech recognition: HMMs dominate; data-driven, mathematically grounded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Benchmark datasets: ImageNet, SQuAD, LibriSpeech become standard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2001+: Big Data + Deep Learning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Millions of images, billions of words → learning algorithms flourish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2012 ImageNet: Hinton's group CNN — dramatic leap over prior systems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AlphaGo (2016) beats world Go champion; AlphaZero: purely self-play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2017: Microsoft achieves human parity on Switchboard speech recognition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0"/>
          <p:cNvSpPr/>
          <p:nvPr/>
        </p:nvSpPr>
        <p:spPr>
          <a:xfrm>
            <a:off x="0" y="0"/>
            <a:ext cx="9142560" cy="7758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"/>
          <p:cNvSpPr/>
          <p:nvPr/>
        </p:nvSpPr>
        <p:spPr>
          <a:xfrm>
            <a:off x="0" y="777240"/>
            <a:ext cx="9142560" cy="6264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"/>
          <p:cNvSpPr/>
          <p:nvPr/>
        </p:nvSpPr>
        <p:spPr>
          <a:xfrm>
            <a:off x="320040" y="0"/>
            <a:ext cx="8502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1.4 State of the Art — What AI Can Do Today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365760" y="960120"/>
            <a:ext cx="8411040" cy="39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Perception &amp; Language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Object recognition: error rate 28% (2010) → 2% (2017) — beats humans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Speech recognition: word error rate 5.1%, matching human performance (2017)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Machine translation: 100+ languages, 99% of humans' native tongues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Question answering (SQuAD): F1 score 95, exceeds human benchmark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Reasoning &amp; Decision Making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Chess (Deep Blue, 1997), Go (AlphaGo, 2016), Poker, StarCraft II, Dota 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Autonomous planning: NASA Remote Agent; DART saved 30 years of DARPA investment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Robotic vehicles: Waymo at 10M miles; autonomous drones delivering blood in Rwanda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Science &amp; Medicine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AI ≥ expert doctors at diagnosing Alzheimer's, metastatic cancer, skin disease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Human-AI partnerships outperform either alone (LYNA: 99.6% accuracy)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AlphaFold: protein structure prediction — decades-old biology challenge solved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Deep learning models detect extreme weather patterns buried in climate data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0"/>
          <p:cNvSpPr/>
          <p:nvPr/>
        </p:nvSpPr>
        <p:spPr>
          <a:xfrm>
            <a:off x="0" y="0"/>
            <a:ext cx="9142560" cy="7758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"/>
          <p:cNvSpPr/>
          <p:nvPr/>
        </p:nvSpPr>
        <p:spPr>
          <a:xfrm>
            <a:off x="0" y="777240"/>
            <a:ext cx="9142560" cy="6264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"/>
          <p:cNvSpPr/>
          <p:nvPr/>
        </p:nvSpPr>
        <p:spPr>
          <a:xfrm>
            <a:off x="320040" y="0"/>
            <a:ext cx="8502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1.5 Risks and Benefits of AI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3"/>
          <p:cNvSpPr/>
          <p:nvPr/>
        </p:nvSpPr>
        <p:spPr>
          <a:xfrm>
            <a:off x="320040" y="1005840"/>
            <a:ext cx="3930480" cy="383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4"/>
          <p:cNvSpPr/>
          <p:nvPr/>
        </p:nvSpPr>
        <p:spPr>
          <a:xfrm>
            <a:off x="320040" y="1005840"/>
            <a:ext cx="3930480" cy="41004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5"/>
          <p:cNvSpPr/>
          <p:nvPr/>
        </p:nvSpPr>
        <p:spPr>
          <a:xfrm>
            <a:off x="320040" y="1005840"/>
            <a:ext cx="39304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Benefits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6"/>
          <p:cNvSpPr/>
          <p:nvPr/>
        </p:nvSpPr>
        <p:spPr>
          <a:xfrm>
            <a:off x="457200" y="1508760"/>
            <a:ext cx="3656160" cy="31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Free humanity from menial, repetitive work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Dramatically increase production of goods and services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Accelerate scientific research: cures, climate solutions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Demis Hassabis: 'First solve AI, then use AI to solve everything else'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Medical AI already equals or exceeds specialists in several diagnostics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AI helps 100M+ people daily with navigation, translation, recommendations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7"/>
          <p:cNvSpPr/>
          <p:nvPr/>
        </p:nvSpPr>
        <p:spPr>
          <a:xfrm>
            <a:off x="4892040" y="1005840"/>
            <a:ext cx="3930480" cy="383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8"/>
          <p:cNvSpPr/>
          <p:nvPr/>
        </p:nvSpPr>
        <p:spPr>
          <a:xfrm>
            <a:off x="4892040" y="1005840"/>
            <a:ext cx="3930480" cy="4100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9"/>
          <p:cNvSpPr/>
          <p:nvPr/>
        </p:nvSpPr>
        <p:spPr>
          <a:xfrm>
            <a:off x="4892040" y="1005840"/>
            <a:ext cx="39304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Risks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0"/>
          <p:cNvSpPr/>
          <p:nvPr/>
        </p:nvSpPr>
        <p:spPr>
          <a:xfrm>
            <a:off x="5029200" y="1508760"/>
            <a:ext cx="3656160" cy="31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Lethal autonomous weapons: scalable, no human supervision required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563C1"/>
                </a:solidFill>
                <a:effectLst/>
                <a:uFillTx/>
                <a:latin typeface="Calibri"/>
                <a:ea typeface="Calibri"/>
                <a:hlinkClick r:id="rId1"/>
              </a:rPr>
              <a:t>Mass surveillance</a:t>
            </a:r>
            <a:r>
              <a:rPr lang="en-US" sz="1300" b="0" u="none" strike="noStrike">
                <a:solidFill>
                  <a:srgbClr val="00A933"/>
                </a:solidFill>
                <a:effectLst/>
                <a:uFillTx/>
                <a:latin typeface="Calibri"/>
                <a:ea typeface="Calibri"/>
              </a:rPr>
              <a:t>:</a:t>
            </a: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 speech/vision AI enables real-time monitoring at scale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Biased decision making: parole, loans — reflecting and amplifying societal bias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Employment disruption: shifts wealth from labor to capital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Safety-critical failures: self-driving fatal accidents; formal verification gaps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Cybersecurity: RL-powered phishing/blackmail; automated malware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36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0"/>
          <p:cNvSpPr/>
          <p:nvPr/>
        </p:nvSpPr>
        <p:spPr>
          <a:xfrm>
            <a:off x="0" y="0"/>
            <a:ext cx="163080" cy="514224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1720" tIns="45000" rIns="817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"/>
          <p:cNvSpPr/>
          <p:nvPr/>
        </p:nvSpPr>
        <p:spPr>
          <a:xfrm>
            <a:off x="457200" y="228600"/>
            <a:ext cx="82281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Chapter 1 Summary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"/>
          <p:cNvSpPr/>
          <p:nvPr/>
        </p:nvSpPr>
        <p:spPr>
          <a:xfrm>
            <a:off x="457200" y="1005840"/>
            <a:ext cx="8319600" cy="39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AI's goal: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build agents that act rationally — maximizing expected performance given an objective.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Four historical approaches: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acting/thinking humanly vs. rationally. The rational agent approach dominates.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Value alignment: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machines pursuing a fixed objective can cause harm; future AI must handle uncertain objectives.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Seven founding disciplines: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Philosophy, Mathematics, Economics, Neuroscience, Psychology, Linguistics, CS.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History follows cycles: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enthusiasm → failure → new approach. Deep learning is the latest revolution.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State of the art: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AI now matches or exceeds humans in perception, translation, diagnosis, and complex games.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Risks are real: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autonomous weapons, surveillance, bias, employment disruption, misaligned superintelligence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0"/>
          <p:cNvSpPr/>
          <p:nvPr/>
        </p:nvSpPr>
        <p:spPr>
          <a:xfrm>
            <a:off x="0" y="0"/>
            <a:ext cx="163080" cy="514224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1720" tIns="45000" rIns="817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"/>
          <p:cNvSpPr/>
          <p:nvPr/>
        </p:nvSpPr>
        <p:spPr>
          <a:xfrm>
            <a:off x="457200" y="822960"/>
            <a:ext cx="8228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PART 2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"/>
          <p:cNvSpPr/>
          <p:nvPr/>
        </p:nvSpPr>
        <p:spPr>
          <a:xfrm>
            <a:off x="457200" y="1417320"/>
            <a:ext cx="822816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Chapter 2: Intelligent Agents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3"/>
          <p:cNvSpPr/>
          <p:nvPr/>
        </p:nvSpPr>
        <p:spPr>
          <a:xfrm>
            <a:off x="457200" y="251460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0"/>
          <p:cNvSpPr/>
          <p:nvPr/>
        </p:nvSpPr>
        <p:spPr>
          <a:xfrm>
            <a:off x="0" y="0"/>
            <a:ext cx="9142560" cy="7758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"/>
          <p:cNvSpPr/>
          <p:nvPr/>
        </p:nvSpPr>
        <p:spPr>
          <a:xfrm>
            <a:off x="0" y="777240"/>
            <a:ext cx="9142560" cy="6264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"/>
          <p:cNvSpPr/>
          <p:nvPr/>
        </p:nvSpPr>
        <p:spPr>
          <a:xfrm>
            <a:off x="320040" y="0"/>
            <a:ext cx="8502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Chapter 2 — What We'll Cover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3"/>
          <p:cNvSpPr/>
          <p:nvPr/>
        </p:nvSpPr>
        <p:spPr>
          <a:xfrm>
            <a:off x="365760" y="960120"/>
            <a:ext cx="8411040" cy="39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2.1  Agents and Environments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Percepts, actions, and the agent function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Why lookup tables fail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2.2  Good Behavior: Rationality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Performance measures and the definition of rationality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Rationality vs. omniscience; autonomy and learning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2.3  Task Environments (PEAS)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Specifying the task environment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Seven key dimensions every AI designer must consider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2.4  Agent Architectures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Simple Reflex → Model-Based → Goal-Based → Utility-Based → Learning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Atomic, Factored, and Structured representations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0"/>
          <p:cNvSpPr/>
          <p:nvPr/>
        </p:nvSpPr>
        <p:spPr>
          <a:xfrm>
            <a:off x="0" y="0"/>
            <a:ext cx="9142560" cy="7758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"/>
          <p:cNvSpPr/>
          <p:nvPr/>
        </p:nvSpPr>
        <p:spPr>
          <a:xfrm>
            <a:off x="0" y="777240"/>
            <a:ext cx="9142560" cy="6264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"/>
          <p:cNvSpPr/>
          <p:nvPr/>
        </p:nvSpPr>
        <p:spPr>
          <a:xfrm>
            <a:off x="320040" y="0"/>
            <a:ext cx="8502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2.1 What Is an Agent?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3"/>
          <p:cNvSpPr/>
          <p:nvPr/>
        </p:nvSpPr>
        <p:spPr>
          <a:xfrm>
            <a:off x="365760" y="960120"/>
            <a:ext cx="8411040" cy="39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An agent perceives its environment through sensors and acts upon it through actuators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Examples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Human → eyes/ears, hands/voice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Robot → cameras/lidar, motors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Software agent → file/network inputs, file writes/API calls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Percept &amp; Percept Sequence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Percept = content the sensors are perceiving right now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Percept sequence = complete history of all past percepts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Agent's action may depend on the entire percept history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Agent Function vs. Agent Program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Agent function: abstract math — maps percept sequence → action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Agent program: concrete implementation on hardware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Same agent function; many possible programs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0"/>
          <p:cNvSpPr/>
          <p:nvPr/>
        </p:nvSpPr>
        <p:spPr>
          <a:xfrm>
            <a:off x="0" y="0"/>
            <a:ext cx="9142560" cy="7758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"/>
          <p:cNvSpPr/>
          <p:nvPr/>
        </p:nvSpPr>
        <p:spPr>
          <a:xfrm>
            <a:off x="0" y="777240"/>
            <a:ext cx="9142560" cy="6264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"/>
          <p:cNvSpPr/>
          <p:nvPr/>
        </p:nvSpPr>
        <p:spPr>
          <a:xfrm>
            <a:off x="320040" y="0"/>
            <a:ext cx="8502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2.1 Why a Lookup Table Fails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3"/>
          <p:cNvSpPr/>
          <p:nvPr/>
        </p:nvSpPr>
        <p:spPr>
          <a:xfrm>
            <a:off x="365760" y="960120"/>
            <a:ext cx="8411040" cy="39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A table-driven agent explicitly stores the correct action for every possible percept sequence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The table is astronomically large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Taxi with 8 cameras at 70 MB/s → &gt; 10⁶⁰⁰,⁰⁰⁰,⁰⁰⁰ entries per hour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Chess alone: at least 10¹⁵⁰ entries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Observable atoms in the universe: &lt; 10⁸⁰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Three practical failures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No physical agent has space to store the table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No designer has time to construct 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No agent could learn all entries from experience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The central AI challenge: write compact programs that produce rational behavior — like Newton's method replaced printed square-root tables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0" y="0"/>
            <a:ext cx="9142560" cy="7758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"/>
          <p:cNvSpPr/>
          <p:nvPr/>
        </p:nvSpPr>
        <p:spPr>
          <a:xfrm>
            <a:off x="0" y="777240"/>
            <a:ext cx="9142560" cy="6264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"/>
          <p:cNvSpPr/>
          <p:nvPr/>
        </p:nvSpPr>
        <p:spPr>
          <a:xfrm>
            <a:off x="320040" y="0"/>
            <a:ext cx="8502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2.2 Rationality — The Four Factors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"/>
          <p:cNvSpPr/>
          <p:nvPr/>
        </p:nvSpPr>
        <p:spPr>
          <a:xfrm>
            <a:off x="365760" y="960120"/>
            <a:ext cx="8411040" cy="39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What determines rational action?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1. The performance measure; criterion of success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2. Prior knowledge of the environment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3. The actions the agent can perform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4. The agent's percept sequence to date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Definition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 rational agent selects the action that maximizes expected performance given its percept sequence and built-in knowledge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Performance measure design pitfalls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Measure 'dirt cleaned' → agent dumps and re-cleans to game the score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Better: reward clean floor at each time step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General rule: measure what you actually want, not how you expect the agent to behave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Related to the King Midas / value alignment problem from Ch.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0"/>
          <p:cNvSpPr/>
          <p:nvPr/>
        </p:nvSpPr>
        <p:spPr>
          <a:xfrm>
            <a:off x="0" y="0"/>
            <a:ext cx="9142560" cy="7758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"/>
          <p:cNvSpPr/>
          <p:nvPr/>
        </p:nvSpPr>
        <p:spPr>
          <a:xfrm>
            <a:off x="0" y="777240"/>
            <a:ext cx="9142560" cy="6264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"/>
          <p:cNvSpPr/>
          <p:nvPr/>
        </p:nvSpPr>
        <p:spPr>
          <a:xfrm>
            <a:off x="320040" y="0"/>
            <a:ext cx="8502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2.2 Rationality vs. Omniscience vs. Autonomy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3"/>
          <p:cNvSpPr/>
          <p:nvPr/>
        </p:nvSpPr>
        <p:spPr>
          <a:xfrm>
            <a:off x="320040" y="1005840"/>
            <a:ext cx="3930480" cy="383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4"/>
          <p:cNvSpPr/>
          <p:nvPr/>
        </p:nvSpPr>
        <p:spPr>
          <a:xfrm>
            <a:off x="320040" y="1005840"/>
            <a:ext cx="3930480" cy="410040"/>
          </a:xfrm>
          <a:prstGeom prst="rect">
            <a:avLst/>
          </a:prstGeom>
          <a:solidFill>
            <a:srgbClr val="3A7FD5"/>
          </a:solidFill>
          <a:ln w="12700">
            <a:solidFill>
              <a:srgbClr val="3A7F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5"/>
          <p:cNvSpPr/>
          <p:nvPr/>
        </p:nvSpPr>
        <p:spPr>
          <a:xfrm>
            <a:off x="320040" y="1005840"/>
            <a:ext cx="39304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Rationality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6"/>
          <p:cNvSpPr/>
          <p:nvPr/>
        </p:nvSpPr>
        <p:spPr>
          <a:xfrm>
            <a:off x="457200" y="1508760"/>
            <a:ext cx="3656160" cy="31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Maximizes expected performance given available information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Does NOT require knowing the actual outcome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Information gathering is part of rational behavior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Must learn from percepts to improve over time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'Look both ways before crossing' is rationally required even if no truck is coming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7"/>
          <p:cNvSpPr/>
          <p:nvPr/>
        </p:nvSpPr>
        <p:spPr>
          <a:xfrm>
            <a:off x="4892040" y="1005840"/>
            <a:ext cx="3930480" cy="383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8"/>
          <p:cNvSpPr/>
          <p:nvPr/>
        </p:nvSpPr>
        <p:spPr>
          <a:xfrm>
            <a:off x="4892040" y="1005840"/>
            <a:ext cx="3930480" cy="41004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9"/>
          <p:cNvSpPr/>
          <p:nvPr/>
        </p:nvSpPr>
        <p:spPr>
          <a:xfrm>
            <a:off x="4892040" y="1005840"/>
            <a:ext cx="39304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Omniscience / Autonomy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0"/>
          <p:cNvSpPr/>
          <p:nvPr/>
        </p:nvSpPr>
        <p:spPr>
          <a:xfrm>
            <a:off x="5029200" y="1508760"/>
            <a:ext cx="3656160" cy="31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Omniscient = knows the actual outcome — impossible in reality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Rationality ≠ perfection (cargo door example)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Autonomy = relying on own learning, not just designer's prior knowledge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Rational agents should learn to compensate for incomplete priors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Sphex wasp: lacks autonomy → repeats failed plan forever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0" y="0"/>
            <a:ext cx="9142560" cy="7758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"/>
          <p:cNvSpPr/>
          <p:nvPr/>
        </p:nvSpPr>
        <p:spPr>
          <a:xfrm>
            <a:off x="0" y="777240"/>
            <a:ext cx="9142560" cy="6264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"/>
          <p:cNvSpPr/>
          <p:nvPr/>
        </p:nvSpPr>
        <p:spPr>
          <a:xfrm>
            <a:off x="320040" y="0"/>
            <a:ext cx="8502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2.3 PEAS: Specifying the Task Environment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"/>
          <p:cNvSpPr/>
          <p:nvPr/>
        </p:nvSpPr>
        <p:spPr>
          <a:xfrm>
            <a:off x="365760" y="960120"/>
            <a:ext cx="8411040" cy="39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P — Performance Measure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What does success look like? (safety, speed, profit, comfort…)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E — Environment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What does the agent operate in? (roads, weather, passengers…)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A — Actuators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How does the agent act? (steering, braking, display, voice…)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S — Sensors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How does the agent perceive? (cameras, lidar, GPS, microphone…)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Automated Taxi Example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Performance: correct destination, safety, fuel, legality, comfort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Environment: roads, traffic, pedestrians, weather, passengers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Actuators: accelerator, brakes, steering, horn, touchscreen display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Sensors: cameras, lidar, ultrasound, speedometer, GPS, touchscreen input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0"/>
          <p:cNvSpPr/>
          <p:nvPr/>
        </p:nvSpPr>
        <p:spPr>
          <a:xfrm>
            <a:off x="0" y="0"/>
            <a:ext cx="9142560" cy="7758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"/>
          <p:cNvSpPr/>
          <p:nvPr/>
        </p:nvSpPr>
        <p:spPr>
          <a:xfrm>
            <a:off x="0" y="777240"/>
            <a:ext cx="9142560" cy="6264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"/>
          <p:cNvSpPr/>
          <p:nvPr/>
        </p:nvSpPr>
        <p:spPr>
          <a:xfrm>
            <a:off x="320040" y="0"/>
            <a:ext cx="8502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2.3 Properties of Task Environments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3"/>
          <p:cNvSpPr/>
          <p:nvPr/>
        </p:nvSpPr>
        <p:spPr>
          <a:xfrm>
            <a:off x="274320" y="960120"/>
            <a:ext cx="4113360" cy="82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4"/>
          <p:cNvSpPr/>
          <p:nvPr/>
        </p:nvSpPr>
        <p:spPr>
          <a:xfrm>
            <a:off x="274320" y="960120"/>
            <a:ext cx="2055960" cy="821520"/>
          </a:xfrm>
          <a:prstGeom prst="rect">
            <a:avLst/>
          </a:prstGeom>
          <a:solidFill>
            <a:srgbClr val="D6E8F7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5"/>
          <p:cNvSpPr/>
          <p:nvPr/>
        </p:nvSpPr>
        <p:spPr>
          <a:xfrm>
            <a:off x="365760" y="1005840"/>
            <a:ext cx="19188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4FA0"/>
                </a:solidFill>
                <a:effectLst/>
                <a:uFillTx/>
                <a:latin typeface="Calibri"/>
                <a:ea typeface="Calibri"/>
              </a:rPr>
              <a:t>Fully Observable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6"/>
          <p:cNvSpPr/>
          <p:nvPr/>
        </p:nvSpPr>
        <p:spPr>
          <a:xfrm>
            <a:off x="2331720" y="1051560"/>
            <a:ext cx="360" cy="64008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7"/>
          <p:cNvSpPr/>
          <p:nvPr/>
        </p:nvSpPr>
        <p:spPr>
          <a:xfrm>
            <a:off x="2423160" y="1005840"/>
            <a:ext cx="19188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Partially Observable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8"/>
          <p:cNvSpPr/>
          <p:nvPr/>
        </p:nvSpPr>
        <p:spPr>
          <a:xfrm>
            <a:off x="274320" y="1965960"/>
            <a:ext cx="4113360" cy="82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9"/>
          <p:cNvSpPr/>
          <p:nvPr/>
        </p:nvSpPr>
        <p:spPr>
          <a:xfrm>
            <a:off x="274320" y="1965960"/>
            <a:ext cx="2055960" cy="821520"/>
          </a:xfrm>
          <a:prstGeom prst="rect">
            <a:avLst/>
          </a:prstGeom>
          <a:solidFill>
            <a:srgbClr val="D6E8F7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0"/>
          <p:cNvSpPr/>
          <p:nvPr/>
        </p:nvSpPr>
        <p:spPr>
          <a:xfrm>
            <a:off x="365760" y="2011680"/>
            <a:ext cx="19188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4FA0"/>
                </a:solidFill>
                <a:effectLst/>
                <a:uFillTx/>
                <a:latin typeface="Calibri"/>
                <a:ea typeface="Calibri"/>
              </a:rPr>
              <a:t>Single-Agent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1"/>
          <p:cNvSpPr/>
          <p:nvPr/>
        </p:nvSpPr>
        <p:spPr>
          <a:xfrm>
            <a:off x="2331720" y="2057400"/>
            <a:ext cx="360" cy="64008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2"/>
          <p:cNvSpPr/>
          <p:nvPr/>
        </p:nvSpPr>
        <p:spPr>
          <a:xfrm>
            <a:off x="2423160" y="2011680"/>
            <a:ext cx="19188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Multiagent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3"/>
          <p:cNvSpPr/>
          <p:nvPr/>
        </p:nvSpPr>
        <p:spPr>
          <a:xfrm>
            <a:off x="274320" y="2971800"/>
            <a:ext cx="4113360" cy="82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4"/>
          <p:cNvSpPr/>
          <p:nvPr/>
        </p:nvSpPr>
        <p:spPr>
          <a:xfrm>
            <a:off x="274320" y="2971800"/>
            <a:ext cx="2055960" cy="821520"/>
          </a:xfrm>
          <a:prstGeom prst="rect">
            <a:avLst/>
          </a:prstGeom>
          <a:solidFill>
            <a:srgbClr val="D6E8F7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5"/>
          <p:cNvSpPr/>
          <p:nvPr/>
        </p:nvSpPr>
        <p:spPr>
          <a:xfrm>
            <a:off x="365760" y="3017520"/>
            <a:ext cx="19188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4FA0"/>
                </a:solidFill>
                <a:effectLst/>
                <a:uFillTx/>
                <a:latin typeface="Calibri"/>
                <a:ea typeface="Calibri"/>
              </a:rPr>
              <a:t>Deterministic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6"/>
          <p:cNvSpPr/>
          <p:nvPr/>
        </p:nvSpPr>
        <p:spPr>
          <a:xfrm>
            <a:off x="2331720" y="3063240"/>
            <a:ext cx="360" cy="64008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7"/>
          <p:cNvSpPr/>
          <p:nvPr/>
        </p:nvSpPr>
        <p:spPr>
          <a:xfrm>
            <a:off x="2423160" y="3017520"/>
            <a:ext cx="19188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Nondeterministic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8"/>
          <p:cNvSpPr/>
          <p:nvPr/>
        </p:nvSpPr>
        <p:spPr>
          <a:xfrm>
            <a:off x="274320" y="3977640"/>
            <a:ext cx="4113360" cy="82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9"/>
          <p:cNvSpPr/>
          <p:nvPr/>
        </p:nvSpPr>
        <p:spPr>
          <a:xfrm>
            <a:off x="274320" y="3977640"/>
            <a:ext cx="2055960" cy="821520"/>
          </a:xfrm>
          <a:prstGeom prst="rect">
            <a:avLst/>
          </a:prstGeom>
          <a:solidFill>
            <a:srgbClr val="D6E8F7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0"/>
          <p:cNvSpPr/>
          <p:nvPr/>
        </p:nvSpPr>
        <p:spPr>
          <a:xfrm>
            <a:off x="365760" y="4023360"/>
            <a:ext cx="19188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4FA0"/>
                </a:solidFill>
                <a:effectLst/>
                <a:uFillTx/>
                <a:latin typeface="Calibri"/>
                <a:ea typeface="Calibri"/>
              </a:rPr>
              <a:t>Episodic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21"/>
          <p:cNvSpPr/>
          <p:nvPr/>
        </p:nvSpPr>
        <p:spPr>
          <a:xfrm>
            <a:off x="2331720" y="4069080"/>
            <a:ext cx="360" cy="64008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2"/>
          <p:cNvSpPr/>
          <p:nvPr/>
        </p:nvSpPr>
        <p:spPr>
          <a:xfrm>
            <a:off x="2423160" y="4023360"/>
            <a:ext cx="19188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Sequential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23"/>
          <p:cNvSpPr/>
          <p:nvPr/>
        </p:nvSpPr>
        <p:spPr>
          <a:xfrm>
            <a:off x="4709160" y="960120"/>
            <a:ext cx="4113360" cy="82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24"/>
          <p:cNvSpPr/>
          <p:nvPr/>
        </p:nvSpPr>
        <p:spPr>
          <a:xfrm>
            <a:off x="4709160" y="960120"/>
            <a:ext cx="2055960" cy="821520"/>
          </a:xfrm>
          <a:prstGeom prst="rect">
            <a:avLst/>
          </a:prstGeom>
          <a:solidFill>
            <a:srgbClr val="D6E8F7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5"/>
          <p:cNvSpPr/>
          <p:nvPr/>
        </p:nvSpPr>
        <p:spPr>
          <a:xfrm>
            <a:off x="4800600" y="1005840"/>
            <a:ext cx="19188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4FA0"/>
                </a:solidFill>
                <a:effectLst/>
                <a:uFillTx/>
                <a:latin typeface="Calibri"/>
                <a:ea typeface="Calibri"/>
              </a:rPr>
              <a:t>Static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26"/>
          <p:cNvSpPr/>
          <p:nvPr/>
        </p:nvSpPr>
        <p:spPr>
          <a:xfrm>
            <a:off x="6766560" y="1051560"/>
            <a:ext cx="360" cy="64008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7"/>
          <p:cNvSpPr/>
          <p:nvPr/>
        </p:nvSpPr>
        <p:spPr>
          <a:xfrm>
            <a:off x="6858000" y="1005840"/>
            <a:ext cx="19188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Dynamic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28"/>
          <p:cNvSpPr/>
          <p:nvPr/>
        </p:nvSpPr>
        <p:spPr>
          <a:xfrm>
            <a:off x="4709160" y="1965960"/>
            <a:ext cx="4113360" cy="82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9"/>
          <p:cNvSpPr/>
          <p:nvPr/>
        </p:nvSpPr>
        <p:spPr>
          <a:xfrm>
            <a:off x="4709160" y="1965960"/>
            <a:ext cx="2055960" cy="821520"/>
          </a:xfrm>
          <a:prstGeom prst="rect">
            <a:avLst/>
          </a:prstGeom>
          <a:solidFill>
            <a:srgbClr val="D6E8F7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30"/>
          <p:cNvSpPr/>
          <p:nvPr/>
        </p:nvSpPr>
        <p:spPr>
          <a:xfrm>
            <a:off x="4800600" y="2011680"/>
            <a:ext cx="19188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4FA0"/>
                </a:solidFill>
                <a:effectLst/>
                <a:uFillTx/>
                <a:latin typeface="Calibri"/>
                <a:ea typeface="Calibri"/>
              </a:rPr>
              <a:t>Discrete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31"/>
          <p:cNvSpPr/>
          <p:nvPr/>
        </p:nvSpPr>
        <p:spPr>
          <a:xfrm>
            <a:off x="6766560" y="2057400"/>
            <a:ext cx="360" cy="64008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32"/>
          <p:cNvSpPr/>
          <p:nvPr/>
        </p:nvSpPr>
        <p:spPr>
          <a:xfrm>
            <a:off x="6858000" y="2011680"/>
            <a:ext cx="19188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Continuous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33"/>
          <p:cNvSpPr/>
          <p:nvPr/>
        </p:nvSpPr>
        <p:spPr>
          <a:xfrm>
            <a:off x="4709160" y="2971800"/>
            <a:ext cx="4113360" cy="82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34"/>
          <p:cNvSpPr/>
          <p:nvPr/>
        </p:nvSpPr>
        <p:spPr>
          <a:xfrm>
            <a:off x="4709160" y="2971800"/>
            <a:ext cx="2055960" cy="821520"/>
          </a:xfrm>
          <a:prstGeom prst="rect">
            <a:avLst/>
          </a:prstGeom>
          <a:solidFill>
            <a:srgbClr val="D6E8F7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35"/>
          <p:cNvSpPr/>
          <p:nvPr/>
        </p:nvSpPr>
        <p:spPr>
          <a:xfrm>
            <a:off x="4800600" y="3017520"/>
            <a:ext cx="19188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4FA0"/>
                </a:solidFill>
                <a:effectLst/>
                <a:uFillTx/>
                <a:latin typeface="Calibri"/>
                <a:ea typeface="Calibri"/>
              </a:rPr>
              <a:t>Known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36"/>
          <p:cNvSpPr/>
          <p:nvPr/>
        </p:nvSpPr>
        <p:spPr>
          <a:xfrm>
            <a:off x="6766560" y="3063240"/>
            <a:ext cx="360" cy="64008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37"/>
          <p:cNvSpPr/>
          <p:nvPr/>
        </p:nvSpPr>
        <p:spPr>
          <a:xfrm>
            <a:off x="6858000" y="3017520"/>
            <a:ext cx="19188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Unknown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38"/>
          <p:cNvSpPr/>
          <p:nvPr/>
        </p:nvSpPr>
        <p:spPr>
          <a:xfrm>
            <a:off x="4709160" y="4114800"/>
            <a:ext cx="4113360" cy="82152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39"/>
          <p:cNvSpPr/>
          <p:nvPr/>
        </p:nvSpPr>
        <p:spPr>
          <a:xfrm>
            <a:off x="4709160" y="4114800"/>
            <a:ext cx="411336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Taxi driving is hard in all 7 dimensions!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0"/>
          <p:cNvSpPr/>
          <p:nvPr/>
        </p:nvSpPr>
        <p:spPr>
          <a:xfrm>
            <a:off x="0" y="0"/>
            <a:ext cx="9142560" cy="7758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1"/>
          <p:cNvSpPr/>
          <p:nvPr/>
        </p:nvSpPr>
        <p:spPr>
          <a:xfrm>
            <a:off x="0" y="777240"/>
            <a:ext cx="9142560" cy="6264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"/>
          <p:cNvSpPr/>
          <p:nvPr/>
        </p:nvSpPr>
        <p:spPr>
          <a:xfrm>
            <a:off x="320040" y="0"/>
            <a:ext cx="8502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2.4 Agent Type 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3"/>
          <p:cNvSpPr/>
          <p:nvPr/>
        </p:nvSpPr>
        <p:spPr>
          <a:xfrm>
            <a:off x="320040" y="960120"/>
            <a:ext cx="8502480" cy="547200"/>
          </a:xfrm>
          <a:prstGeom prst="rect">
            <a:avLst/>
          </a:prstGeom>
          <a:solidFill>
            <a:srgbClr val="3A7FD5"/>
          </a:solidFill>
          <a:ln w="12700">
            <a:solidFill>
              <a:srgbClr val="3A7F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4"/>
          <p:cNvSpPr/>
          <p:nvPr/>
        </p:nvSpPr>
        <p:spPr>
          <a:xfrm>
            <a:off x="320040" y="960120"/>
            <a:ext cx="85024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Simple Reflex Agent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5"/>
          <p:cNvSpPr/>
          <p:nvPr/>
        </p:nvSpPr>
        <p:spPr>
          <a:xfrm>
            <a:off x="320040" y="1645920"/>
            <a:ext cx="8502480" cy="95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6"/>
          <p:cNvSpPr/>
          <p:nvPr/>
        </p:nvSpPr>
        <p:spPr>
          <a:xfrm>
            <a:off x="502920" y="1691640"/>
            <a:ext cx="822816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Selects actions based solely on the current percept; ignores percept history entirely. Uses condition-action rules: if car-in-front-is-braking → initiate-braking.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7"/>
          <p:cNvSpPr/>
          <p:nvPr/>
        </p:nvSpPr>
        <p:spPr>
          <a:xfrm>
            <a:off x="320040" y="2715840"/>
            <a:ext cx="4113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4FA0"/>
                </a:solidFill>
                <a:effectLst/>
                <a:uFillTx/>
                <a:latin typeface="Calibri"/>
                <a:ea typeface="Calibri"/>
              </a:rPr>
              <a:t>Key Characteristics: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8"/>
          <p:cNvSpPr/>
          <p:nvPr/>
        </p:nvSpPr>
        <p:spPr>
          <a:xfrm>
            <a:off x="320040" y="3017520"/>
            <a:ext cx="438768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No internal state — stateless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Only works in fully observable environments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Prone to infinite loops when partially observable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Randomization can sometimes help escape loops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Example: basic vacuum agent (Dirty→Suck, else move)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9"/>
          <p:cNvSpPr/>
          <p:nvPr/>
        </p:nvSpPr>
        <p:spPr>
          <a:xfrm>
            <a:off x="4892040" y="2715840"/>
            <a:ext cx="3930480" cy="210168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10"/>
          <p:cNvSpPr/>
          <p:nvPr/>
        </p:nvSpPr>
        <p:spPr>
          <a:xfrm>
            <a:off x="4892040" y="2715840"/>
            <a:ext cx="3930480" cy="34596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1"/>
          <p:cNvSpPr/>
          <p:nvPr/>
        </p:nvSpPr>
        <p:spPr>
          <a:xfrm>
            <a:off x="4892040" y="2715840"/>
            <a:ext cx="39304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 Key Idea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2"/>
          <p:cNvSpPr/>
          <p:nvPr/>
        </p:nvSpPr>
        <p:spPr>
          <a:xfrm>
            <a:off x="4983480" y="3127320"/>
            <a:ext cx="3747600" cy="15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Simple and fast, but fragile. Fails whenever the current percept alone is not enough to determine the correct action.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0"/>
          <p:cNvSpPr/>
          <p:nvPr/>
        </p:nvSpPr>
        <p:spPr>
          <a:xfrm>
            <a:off x="0" y="0"/>
            <a:ext cx="9142560" cy="7758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1"/>
          <p:cNvSpPr/>
          <p:nvPr/>
        </p:nvSpPr>
        <p:spPr>
          <a:xfrm>
            <a:off x="0" y="777240"/>
            <a:ext cx="9142560" cy="6264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2"/>
          <p:cNvSpPr/>
          <p:nvPr/>
        </p:nvSpPr>
        <p:spPr>
          <a:xfrm>
            <a:off x="320040" y="0"/>
            <a:ext cx="8502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2.4 Agent Type 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3"/>
          <p:cNvSpPr/>
          <p:nvPr/>
        </p:nvSpPr>
        <p:spPr>
          <a:xfrm>
            <a:off x="320040" y="960120"/>
            <a:ext cx="8502480" cy="547200"/>
          </a:xfrm>
          <a:prstGeom prst="rect">
            <a:avLst/>
          </a:prstGeom>
          <a:solidFill>
            <a:srgbClr val="3A7FD5"/>
          </a:solidFill>
          <a:ln w="12700">
            <a:solidFill>
              <a:srgbClr val="3A7F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4"/>
          <p:cNvSpPr/>
          <p:nvPr/>
        </p:nvSpPr>
        <p:spPr>
          <a:xfrm>
            <a:off x="320040" y="960120"/>
            <a:ext cx="85024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Model-Based Reflex Agent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5"/>
          <p:cNvSpPr/>
          <p:nvPr/>
        </p:nvSpPr>
        <p:spPr>
          <a:xfrm>
            <a:off x="320040" y="1645920"/>
            <a:ext cx="8502480" cy="95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6"/>
          <p:cNvSpPr/>
          <p:nvPr/>
        </p:nvSpPr>
        <p:spPr>
          <a:xfrm>
            <a:off x="502920" y="1691640"/>
            <a:ext cx="822816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Maintains an internal state to track parts of the world it cannot currently observe. Uses a transition model (how the world changes) and a sensor model (how state is reflected in percepts).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7"/>
          <p:cNvSpPr/>
          <p:nvPr/>
        </p:nvSpPr>
        <p:spPr>
          <a:xfrm>
            <a:off x="320040" y="2715840"/>
            <a:ext cx="4113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4FA0"/>
                </a:solidFill>
                <a:effectLst/>
                <a:uFillTx/>
                <a:latin typeface="Calibri"/>
                <a:ea typeface="Calibri"/>
              </a:rPr>
              <a:t>Key Characteristics: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8"/>
          <p:cNvSpPr/>
          <p:nvPr/>
        </p:nvSpPr>
        <p:spPr>
          <a:xfrm>
            <a:off x="320040" y="3017520"/>
            <a:ext cx="438768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Maintains internal state — handles partial observability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Transition model: effects of actions + world evolution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Sensor model: maps world state to percepts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Updates internal state with each new percept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Example: taxi tracking positions of occluded vehicles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9"/>
          <p:cNvSpPr/>
          <p:nvPr/>
        </p:nvSpPr>
        <p:spPr>
          <a:xfrm>
            <a:off x="4892040" y="2715840"/>
            <a:ext cx="3930480" cy="210168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0"/>
          <p:cNvSpPr/>
          <p:nvPr/>
        </p:nvSpPr>
        <p:spPr>
          <a:xfrm>
            <a:off x="4892040" y="2715840"/>
            <a:ext cx="3930480" cy="34596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1"/>
          <p:cNvSpPr/>
          <p:nvPr/>
        </p:nvSpPr>
        <p:spPr>
          <a:xfrm>
            <a:off x="4892040" y="2715840"/>
            <a:ext cx="39304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 Key Idea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2"/>
          <p:cNvSpPr/>
          <p:nvPr/>
        </p:nvSpPr>
        <p:spPr>
          <a:xfrm>
            <a:off x="4983480" y="3127320"/>
            <a:ext cx="3747600" cy="15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Keeps a 'best guess' of world state. Enables smarter behavior in partially observable environments where the current percept alone is insufficient.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0"/>
          <p:cNvSpPr/>
          <p:nvPr/>
        </p:nvSpPr>
        <p:spPr>
          <a:xfrm>
            <a:off x="0" y="0"/>
            <a:ext cx="9142560" cy="7758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"/>
          <p:cNvSpPr/>
          <p:nvPr/>
        </p:nvSpPr>
        <p:spPr>
          <a:xfrm>
            <a:off x="0" y="777240"/>
            <a:ext cx="9142560" cy="6264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2"/>
          <p:cNvSpPr/>
          <p:nvPr/>
        </p:nvSpPr>
        <p:spPr>
          <a:xfrm>
            <a:off x="320040" y="0"/>
            <a:ext cx="8502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2.4 Agent Type 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3"/>
          <p:cNvSpPr/>
          <p:nvPr/>
        </p:nvSpPr>
        <p:spPr>
          <a:xfrm>
            <a:off x="320040" y="960120"/>
            <a:ext cx="8502480" cy="547200"/>
          </a:xfrm>
          <a:prstGeom prst="rect">
            <a:avLst/>
          </a:prstGeom>
          <a:solidFill>
            <a:srgbClr val="3A7FD5"/>
          </a:solidFill>
          <a:ln w="12700">
            <a:solidFill>
              <a:srgbClr val="3A7F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4"/>
          <p:cNvSpPr/>
          <p:nvPr/>
        </p:nvSpPr>
        <p:spPr>
          <a:xfrm>
            <a:off x="320040" y="960120"/>
            <a:ext cx="85024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Goal-Based Agent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5"/>
          <p:cNvSpPr/>
          <p:nvPr/>
        </p:nvSpPr>
        <p:spPr>
          <a:xfrm>
            <a:off x="320040" y="1645920"/>
            <a:ext cx="8502480" cy="95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6"/>
          <p:cNvSpPr/>
          <p:nvPr/>
        </p:nvSpPr>
        <p:spPr>
          <a:xfrm>
            <a:off x="502920" y="1691640"/>
            <a:ext cx="822816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Combines a world model with explicit goal information describing desired situations. Uses search (Ch. 3–5) or planning (Ch. 11) to find action sequences that achieve the goal.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7"/>
          <p:cNvSpPr/>
          <p:nvPr/>
        </p:nvSpPr>
        <p:spPr>
          <a:xfrm>
            <a:off x="320040" y="2715840"/>
            <a:ext cx="4113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4FA0"/>
                </a:solidFill>
                <a:effectLst/>
                <a:uFillTx/>
                <a:latin typeface="Calibri"/>
                <a:ea typeface="Calibri"/>
              </a:rPr>
              <a:t>Key Characteristics: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8"/>
          <p:cNvSpPr/>
          <p:nvPr/>
        </p:nvSpPr>
        <p:spPr>
          <a:xfrm>
            <a:off x="320040" y="3017520"/>
            <a:ext cx="438768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Explicit goal representation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Considers future consequences of actions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Requires search or planning algorithms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More flexible: change the goal → behavior changes automatically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Example: taxi navigating to a destination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9"/>
          <p:cNvSpPr/>
          <p:nvPr/>
        </p:nvSpPr>
        <p:spPr>
          <a:xfrm>
            <a:off x="4892040" y="2715840"/>
            <a:ext cx="3930480" cy="210168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10"/>
          <p:cNvSpPr/>
          <p:nvPr/>
        </p:nvSpPr>
        <p:spPr>
          <a:xfrm>
            <a:off x="4892040" y="2715840"/>
            <a:ext cx="3930480" cy="34596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1"/>
          <p:cNvSpPr/>
          <p:nvPr/>
        </p:nvSpPr>
        <p:spPr>
          <a:xfrm>
            <a:off x="4892040" y="2715840"/>
            <a:ext cx="39304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 Key Idea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2"/>
          <p:cNvSpPr/>
          <p:nvPr/>
        </p:nvSpPr>
        <p:spPr>
          <a:xfrm>
            <a:off x="4983480" y="3127320"/>
            <a:ext cx="3747600" cy="15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Unlike reflex agents, goal-based agents ask: 'What will happen if I do X? Will that achieve my goal?' Knowledge is explicit and modifiable.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0"/>
          <p:cNvSpPr/>
          <p:nvPr/>
        </p:nvSpPr>
        <p:spPr>
          <a:xfrm>
            <a:off x="0" y="0"/>
            <a:ext cx="9142560" cy="7758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1"/>
          <p:cNvSpPr/>
          <p:nvPr/>
        </p:nvSpPr>
        <p:spPr>
          <a:xfrm>
            <a:off x="0" y="777240"/>
            <a:ext cx="9142560" cy="6264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2"/>
          <p:cNvSpPr/>
          <p:nvPr/>
        </p:nvSpPr>
        <p:spPr>
          <a:xfrm>
            <a:off x="320040" y="0"/>
            <a:ext cx="8502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2.4 Agent Type 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3"/>
          <p:cNvSpPr/>
          <p:nvPr/>
        </p:nvSpPr>
        <p:spPr>
          <a:xfrm>
            <a:off x="320040" y="960120"/>
            <a:ext cx="8502480" cy="547200"/>
          </a:xfrm>
          <a:prstGeom prst="rect">
            <a:avLst/>
          </a:prstGeom>
          <a:solidFill>
            <a:srgbClr val="3A7FD5"/>
          </a:solidFill>
          <a:ln w="12700">
            <a:solidFill>
              <a:srgbClr val="3A7F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4"/>
          <p:cNvSpPr/>
          <p:nvPr/>
        </p:nvSpPr>
        <p:spPr>
          <a:xfrm>
            <a:off x="320040" y="960120"/>
            <a:ext cx="85024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Utility-Based Agent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5"/>
          <p:cNvSpPr/>
          <p:nvPr/>
        </p:nvSpPr>
        <p:spPr>
          <a:xfrm>
            <a:off x="320040" y="1645920"/>
            <a:ext cx="8502480" cy="95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6"/>
          <p:cNvSpPr/>
          <p:nvPr/>
        </p:nvSpPr>
        <p:spPr>
          <a:xfrm>
            <a:off x="502920" y="1691640"/>
            <a:ext cx="822816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Uses a utility function to compare world states — going beyond binary goal/no-goal to a graded measure of desirability. Maximizes expected utility across uncertain outcomes.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7"/>
          <p:cNvSpPr/>
          <p:nvPr/>
        </p:nvSpPr>
        <p:spPr>
          <a:xfrm>
            <a:off x="320040" y="2715840"/>
            <a:ext cx="4113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4FA0"/>
                </a:solidFill>
                <a:effectLst/>
                <a:uFillTx/>
                <a:latin typeface="Calibri"/>
                <a:ea typeface="Calibri"/>
              </a:rPr>
              <a:t>Key Characteristics: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8"/>
          <p:cNvSpPr/>
          <p:nvPr/>
        </p:nvSpPr>
        <p:spPr>
          <a:xfrm>
            <a:off x="320040" y="3017520"/>
            <a:ext cx="438768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Utility function = internalized performance measure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Handles conflicting goals via principled tradeoffs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Handles uncertainty: weighs likelihood × importance of outcomes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Maximizes expected utility over probabilistic outcomes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Example: taxi balancing speed, safety, and passenger comfort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9"/>
          <p:cNvSpPr/>
          <p:nvPr/>
        </p:nvSpPr>
        <p:spPr>
          <a:xfrm>
            <a:off x="4892040" y="2715840"/>
            <a:ext cx="3930480" cy="210168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10"/>
          <p:cNvSpPr/>
          <p:nvPr/>
        </p:nvSpPr>
        <p:spPr>
          <a:xfrm>
            <a:off x="4892040" y="2715840"/>
            <a:ext cx="3930480" cy="34596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1"/>
          <p:cNvSpPr/>
          <p:nvPr/>
        </p:nvSpPr>
        <p:spPr>
          <a:xfrm>
            <a:off x="4892040" y="2715840"/>
            <a:ext cx="39304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 Key Idea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2"/>
          <p:cNvSpPr/>
          <p:nvPr/>
        </p:nvSpPr>
        <p:spPr>
          <a:xfrm>
            <a:off x="4983480" y="3127320"/>
            <a:ext cx="3747600" cy="15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Goals give binary happy/unhappy; utility gives a continuous measure. Essential when goals conflict or outcomes are uncertain.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0"/>
          <p:cNvSpPr/>
          <p:nvPr/>
        </p:nvSpPr>
        <p:spPr>
          <a:xfrm>
            <a:off x="0" y="0"/>
            <a:ext cx="9142560" cy="7758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1"/>
          <p:cNvSpPr/>
          <p:nvPr/>
        </p:nvSpPr>
        <p:spPr>
          <a:xfrm>
            <a:off x="0" y="777240"/>
            <a:ext cx="9142560" cy="6264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2"/>
          <p:cNvSpPr/>
          <p:nvPr/>
        </p:nvSpPr>
        <p:spPr>
          <a:xfrm>
            <a:off x="320040" y="0"/>
            <a:ext cx="8502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2.4 Agent Type 5: Learning Agent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3"/>
          <p:cNvSpPr/>
          <p:nvPr/>
        </p:nvSpPr>
        <p:spPr>
          <a:xfrm>
            <a:off x="365760" y="960120"/>
            <a:ext cx="8411040" cy="39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Four Components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Performance Element — selects external actions (what we've described so far)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Learning Element — improves performance using feedback from the critic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Critic — evaluates performance against a fixed external standard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Problem Generator — suggests exploratory actions to discover new information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Key advantages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Operates in initially unknown environments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Becomes more competent than initial knowledge alone allows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Can improve any component: reflex rules, world model, utility function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Exploration vs. Exploitation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Problem generator: short-term suboptimal actions → long-term better policy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Analogous to Galileo's experiments — deliberate exploration to update beliefs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Taxi: unexpected braking on wet roads → updates deceleration model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0"/>
          <p:cNvSpPr/>
          <p:nvPr/>
        </p:nvSpPr>
        <p:spPr>
          <a:xfrm>
            <a:off x="0" y="0"/>
            <a:ext cx="9142560" cy="7758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1"/>
          <p:cNvSpPr/>
          <p:nvPr/>
        </p:nvSpPr>
        <p:spPr>
          <a:xfrm>
            <a:off x="0" y="777240"/>
            <a:ext cx="9142560" cy="6264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2"/>
          <p:cNvSpPr/>
          <p:nvPr/>
        </p:nvSpPr>
        <p:spPr>
          <a:xfrm>
            <a:off x="320040" y="0"/>
            <a:ext cx="8502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2.4.7 Representation: Atomic → Factored → Structured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3"/>
          <p:cNvSpPr/>
          <p:nvPr/>
        </p:nvSpPr>
        <p:spPr>
          <a:xfrm>
            <a:off x="365760" y="960120"/>
            <a:ext cx="8411040" cy="39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Atomic Representation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World state = single indivisible 'black box'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Used in: search algorithms (Ch. 3–5), HMMs (Ch. 14), MDPs (Ch. 17)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Example: city name in a route-planning problem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Factored Representation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State = fixed set of variables/attributes with values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States can share attribute values → easier to reason about differences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Used in: CSPs, propositional logic, Bayesian networks, planning, most ML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Example: GPS location, fuel level, oil warning light, toll money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0F2B5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0F2B5B"/>
                </a:solidFill>
                <a:effectLst/>
                <a:uFillTx/>
                <a:latin typeface="Calibri"/>
                <a:ea typeface="Calibri"/>
              </a:rPr>
              <a:t>Structured Representation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Objects and their explicit relationships described formally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Used in: relational databases, first-order logic, NLP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Far more expressive but harder to reason with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00000"/>
              </a:lnSpc>
              <a:spcAft>
                <a:spcPts val="400"/>
              </a:spcAft>
              <a:buClr>
                <a:srgbClr val="64748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Example: 'loose cow blocking truck reversing into dairy farm driveway'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B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0"/>
          <p:cNvSpPr/>
          <p:nvPr/>
        </p:nvSpPr>
        <p:spPr>
          <a:xfrm>
            <a:off x="0" y="0"/>
            <a:ext cx="163080" cy="514224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1720" tIns="45000" rIns="817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"/>
          <p:cNvSpPr/>
          <p:nvPr/>
        </p:nvSpPr>
        <p:spPr>
          <a:xfrm>
            <a:off x="457200" y="228600"/>
            <a:ext cx="82281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Full Lecture Summary — Chapters 1 &amp; 2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2"/>
          <p:cNvSpPr/>
          <p:nvPr/>
        </p:nvSpPr>
        <p:spPr>
          <a:xfrm>
            <a:off x="457200" y="1005840"/>
            <a:ext cx="8319600" cy="39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AI = building rational agents that maximize expected performance; the 'standard model' is shared with economics, control theory, and statistics.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Four historical approaches: the rational agent view dominates because it is mathematically well-defined and general.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Value alignment is AI's central unsolved problem: a fixed objective in a capable system can cause unintended harm.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AI history cycles between enthusiasm and winters; deep learning is the current revolution; transformers, GPUs, big data.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Today: AI meets or exceeds humans in perception, translation, game-playing, and specialized medical diagnosis.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 agent's behavior = agent function (abstract) + agent program (concrete). Lookup tables are infeasible; compact programs are the goal.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Task environments are characterized via PEAS and seven dimensions: observable, agents, determinism, episodic, static, discrete, known.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Five agent types of increasing sophistication: Simple Reflex → Model-Based → Goal-Based → Utility-Based → Learning Agent.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Representations scale in expressiveness: Atomic → Factored → Structured; more expressive = harder reasoning.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0"/>
          <p:cNvSpPr/>
          <p:nvPr/>
        </p:nvSpPr>
        <p:spPr>
          <a:xfrm>
            <a:off x="0" y="0"/>
            <a:ext cx="163080" cy="5142240"/>
          </a:xfrm>
          <a:prstGeom prst="rect">
            <a:avLst/>
          </a:prstGeom>
          <a:solidFill>
            <a:srgbClr val="F4A020"/>
          </a:solidFill>
          <a:ln w="12700">
            <a:solidFill>
              <a:srgbClr val="F4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1720" tIns="45000" rIns="817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"/>
          <p:cNvSpPr/>
          <p:nvPr/>
        </p:nvSpPr>
        <p:spPr>
          <a:xfrm>
            <a:off x="457200" y="1371600"/>
            <a:ext cx="82281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Questions?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2"/>
          <p:cNvSpPr/>
          <p:nvPr/>
        </p:nvSpPr>
        <p:spPr>
          <a:xfrm>
            <a:off x="457200" y="2468880"/>
            <a:ext cx="82281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Next lecture: Chapter 3 — Solving Problems by Searching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3"/>
          <p:cNvSpPr/>
          <p:nvPr/>
        </p:nvSpPr>
        <p:spPr>
          <a:xfrm>
            <a:off x="457200" y="30632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BFS, DFS, UCS, A* heuristic search — the backbone of classical AI planning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4"/>
          <p:cNvSpPr/>
          <p:nvPr/>
        </p:nvSpPr>
        <p:spPr>
          <a:xfrm>
            <a:off x="457200" y="4480560"/>
            <a:ext cx="82281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COMP 469 · Artificial Intelligence · CSU Channel Islands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Application>LibreOffice/26.2.4.2$Linux_X86_64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2026-06-07T05:41:19Z</dcterms:created>
  <dc:creator>COMP 469</dc:creator>
  <dc:description/>
  <dc:language>en-US</dc:language>
  <cp:lastModifiedBy/>
  <dcterms:modified xsi:type="dcterms:W3CDTF">2026-07-25T01:48:03Z</dcterms:modified>
  <cp:revision>17</cp:revision>
  <dc:subject>PptxGenJS Presentation</dc:subject>
  <dc:title>COMP 469 – Chapters 1 &amp; 2: Introduction + Intelligent Agents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32</vt:i4>
  </property>
  <property fmtid="{D5CDD505-2E9C-101B-9397-08002B2CF9AE}" pid="3" name="PresentationFormat">
    <vt:lpwstr>On-screen Show (16:9)</vt:lpwstr>
  </property>
  <property fmtid="{D5CDD505-2E9C-101B-9397-08002B2CF9AE}" pid="4" name="Slides">
    <vt:i4>32</vt:i4>
  </property>
</Properties>
</file>