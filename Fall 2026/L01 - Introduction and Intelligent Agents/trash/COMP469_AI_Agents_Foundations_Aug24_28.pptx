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9.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14.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8"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9"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0"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7DACE24-0E13-489C-A2C0-1C04A32C1D6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685800" y="1143000"/>
            <a:ext cx="5485680" cy="3085560"/>
          </a:xfrm>
          <a:prstGeom prst="rect">
            <a:avLst/>
          </a:prstGeom>
          <a:ln w="0">
            <a:noFill/>
          </a:ln>
        </p:spPr>
      </p:sp>
      <p:sp>
        <p:nvSpPr>
          <p:cNvPr id="66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0:00-0:03. Welcome students and frame the lecture as the launch point for the course. The goal is not to memorize definitions, but to learn the agent lens that will organize the semester.</a:t>
            </a:r>
            <a:endParaRPr lang="en-US" sz="2000" b="0" u="none" strike="noStrike">
              <a:solidFill>
                <a:srgbClr val="000000"/>
              </a:solidFill>
              <a:effectLst/>
              <a:uFillTx/>
              <a:latin typeface="Arial"/>
            </a:endParaRPr>
          </a:p>
        </p:txBody>
      </p:sp>
      <p:sp>
        <p:nvSpPr>
          <p:cNvPr id="663"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1F21A20-212E-49EF-ABE7-2CAF06999007}"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604800" y="1385280"/>
            <a:ext cx="4840200" cy="3740040"/>
          </a:xfrm>
          <a:prstGeom prst="rect">
            <a:avLst/>
          </a:prstGeom>
          <a:ln w="0">
            <a:noFill/>
          </a:ln>
        </p:spPr>
      </p:sp>
      <p:sp>
        <p:nvSpPr>
          <p:cNvPr id="665" name="PlaceHolder 2"/>
          <p:cNvSpPr>
            <a:spLocks noGrp="1"/>
          </p:cNvSpPr>
          <p:nvPr>
            <p:ph type="body"/>
          </p:nvPr>
        </p:nvSpPr>
        <p:spPr>
          <a:xfrm>
            <a:off x="604800" y="5333760"/>
            <a:ext cx="4840200" cy="43632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66" name="PlaceHolder 3"/>
          <p:cNvSpPr>
            <a:spLocks noGrp="1"/>
          </p:cNvSpPr>
          <p:nvPr>
            <p:ph type="sldNum" idx="5"/>
          </p:nvPr>
        </p:nvSpPr>
        <p:spPr>
          <a:xfrm>
            <a:off x="3427560" y="10527480"/>
            <a:ext cx="2621520" cy="555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0D8E042-5668-4D99-8EBB-6A8E518C0A53}"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685800" y="1143000"/>
            <a:ext cx="5485680" cy="3085560"/>
          </a:xfrm>
          <a:prstGeom prst="rect">
            <a:avLst/>
          </a:prstGeom>
          <a:ln w="0">
            <a:noFill/>
          </a:ln>
        </p:spPr>
      </p:sp>
      <p:sp>
        <p:nvSpPr>
          <p:cNvPr id="66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0:06-0:10. Connect this slide to the syllabus. Mention that Weekday classes begin Aug 24 and that students should use CI Learn for the latest materials and due dates.</a:t>
            </a:r>
            <a:endParaRPr lang="en-US" sz="2000" b="0" u="none" strike="noStrike">
              <a:solidFill>
                <a:srgbClr val="000000"/>
              </a:solidFill>
              <a:effectLst/>
              <a:uFillTx/>
              <a:latin typeface="Arial"/>
            </a:endParaRPr>
          </a:p>
        </p:txBody>
      </p:sp>
      <p:sp>
        <p:nvSpPr>
          <p:cNvPr id="669"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2E73D39-A5DD-4DCB-9105-8999C333E765}"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685800" y="1143000"/>
            <a:ext cx="5485680" cy="3085560"/>
          </a:xfrm>
          <a:prstGeom prst="rect">
            <a:avLst/>
          </a:prstGeom>
          <a:ln w="0">
            <a:noFill/>
          </a:ln>
        </p:spPr>
      </p:sp>
      <p:sp>
        <p:nvSpPr>
          <p:cNvPr id="67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0:10-0:13. This is the contract for the lecture. Tell students that these outcomes also predict what the lab asks them to submit.</a:t>
            </a:r>
            <a:endParaRPr lang="en-US" sz="2000" b="0" u="none" strike="noStrike">
              <a:solidFill>
                <a:srgbClr val="000000"/>
              </a:solidFill>
              <a:effectLst/>
              <a:uFillTx/>
              <a:latin typeface="Arial"/>
            </a:endParaRPr>
          </a:p>
        </p:txBody>
      </p:sp>
      <p:sp>
        <p:nvSpPr>
          <p:cNvPr id="672"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FAACE79-3385-48F6-9F37-BF25D5226B82}"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685800" y="1143000"/>
            <a:ext cx="5485680" cy="3085560"/>
          </a:xfrm>
          <a:prstGeom prst="rect">
            <a:avLst/>
          </a:prstGeom>
          <a:ln w="0">
            <a:noFill/>
          </a:ln>
        </p:spPr>
      </p:sp>
      <p:sp>
        <p:nvSpPr>
          <p:cNvPr id="67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0:13-0:18. Confirm students can open notebooks and know where files are posted. Emphasize that a GPU is not required for the course.</a:t>
            </a:r>
            <a:endParaRPr lang="en-US" sz="2000" b="0" u="none" strike="noStrike">
              <a:solidFill>
                <a:srgbClr val="000000"/>
              </a:solidFill>
              <a:effectLst/>
              <a:uFillTx/>
              <a:latin typeface="Arial"/>
            </a:endParaRPr>
          </a:p>
        </p:txBody>
      </p:sp>
      <p:sp>
        <p:nvSpPr>
          <p:cNvPr id="675"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6BA4520-1EDB-46FC-9436-1098A908552A}"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685800" y="1143000"/>
            <a:ext cx="5485680" cy="3085560"/>
          </a:xfrm>
          <a:prstGeom prst="rect">
            <a:avLst/>
          </a:prstGeom>
          <a:ln w="0">
            <a:noFill/>
          </a:ln>
        </p:spPr>
      </p:sp>
      <p:sp>
        <p:nvSpPr>
          <p:cNvPr id="67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0:18-0:22. Ground this in the syllabus. Students may use AI agents for help, but they must understand and explain their own submissions.</a:t>
            </a:r>
            <a:endParaRPr lang="en-US" sz="2000" b="0" u="none" strike="noStrike">
              <a:solidFill>
                <a:srgbClr val="000000"/>
              </a:solidFill>
              <a:effectLst/>
              <a:uFillTx/>
              <a:latin typeface="Arial"/>
            </a:endParaRPr>
          </a:p>
        </p:txBody>
      </p:sp>
      <p:sp>
        <p:nvSpPr>
          <p:cNvPr id="678"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B5B1FC1-299C-4CED-A48A-4DBA3EF8FB0B}"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685800" y="1143000"/>
            <a:ext cx="5485680" cy="3085560"/>
          </a:xfrm>
          <a:prstGeom prst="rect">
            <a:avLst/>
          </a:prstGeom>
          <a:ln w="0">
            <a:noFill/>
          </a:ln>
        </p:spPr>
      </p:sp>
      <p:sp>
        <p:nvSpPr>
          <p:cNvPr id="68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0:22-0:30. Give students 2 minutes to think, 2 minutes to pair, and take 3-4 examples. Translate each example into perception, action, objective, and adaptation.</a:t>
            </a:r>
            <a:endParaRPr lang="en-US" sz="2000" b="0" u="none" strike="noStrike">
              <a:solidFill>
                <a:srgbClr val="000000"/>
              </a:solidFill>
              <a:effectLst/>
              <a:uFillTx/>
              <a:latin typeface="Arial"/>
            </a:endParaRPr>
          </a:p>
        </p:txBody>
      </p:sp>
      <p:sp>
        <p:nvSpPr>
          <p:cNvPr id="681"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1D9B814-4EB5-4F32-9CEB-2901C18009B0}"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685800" y="1143000"/>
            <a:ext cx="5485680" cy="3085560"/>
          </a:xfrm>
          <a:prstGeom prst="rect">
            <a:avLst/>
          </a:prstGeom>
          <a:ln w="0">
            <a:noFill/>
          </a:ln>
        </p:spPr>
      </p:sp>
      <p:sp>
        <p:nvSpPr>
          <p:cNvPr id="68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0:30-0:37. Explain the matrix and why the rational-agent approach is useful for design and evaluation.</a:t>
            </a:r>
            <a:endParaRPr lang="en-US" sz="2000" b="0" u="none" strike="noStrike">
              <a:solidFill>
                <a:srgbClr val="000000"/>
              </a:solidFill>
              <a:effectLst/>
              <a:uFillTx/>
              <a:latin typeface="Arial"/>
            </a:endParaRPr>
          </a:p>
        </p:txBody>
      </p:sp>
      <p:sp>
        <p:nvSpPr>
          <p:cNvPr id="684"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F50B111-C6D5-4744-A633-1FC6151D3E1C}"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685800" y="1143000"/>
            <a:ext cx="5485680" cy="3085560"/>
          </a:xfrm>
          <a:prstGeom prst="rect">
            <a:avLst/>
          </a:prstGeom>
          <a:ln w="0">
            <a:noFill/>
          </a:ln>
        </p:spPr>
      </p:sp>
      <p:sp>
        <p:nvSpPr>
          <p:cNvPr id="68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0:37-0:42. This prepares students for value alignment and performance measure pitfalls without going too deep yet.</a:t>
            </a:r>
            <a:endParaRPr lang="en-US" sz="2000" b="0" u="none" strike="noStrike">
              <a:solidFill>
                <a:srgbClr val="000000"/>
              </a:solidFill>
              <a:effectLst/>
              <a:uFillTx/>
              <a:latin typeface="Arial"/>
            </a:endParaRPr>
          </a:p>
        </p:txBody>
      </p:sp>
      <p:sp>
        <p:nvSpPr>
          <p:cNvPr id="687"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0E39E58-460F-4F05-A89A-8EB3DF2A7B28}"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685800" y="1143000"/>
            <a:ext cx="5485680" cy="3085560"/>
          </a:xfrm>
          <a:prstGeom prst="rect">
            <a:avLst/>
          </a:prstGeom>
          <a:ln w="0">
            <a:noFill/>
          </a:ln>
        </p:spPr>
      </p:sp>
      <p:sp>
        <p:nvSpPr>
          <p:cNvPr id="68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0:42-0:48. Tie the agent loop directly to Chapter 2. Ask students to point to sensors and actuators in a phone, a robot vacuum, and a recommendation system.</a:t>
            </a:r>
            <a:endParaRPr lang="en-US" sz="2000" b="0" u="none" strike="noStrike">
              <a:solidFill>
                <a:srgbClr val="000000"/>
              </a:solidFill>
              <a:effectLst/>
              <a:uFillTx/>
              <a:latin typeface="Arial"/>
            </a:endParaRPr>
          </a:p>
        </p:txBody>
      </p:sp>
      <p:sp>
        <p:nvSpPr>
          <p:cNvPr id="690"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26B1F54-F615-4D85-9B30-7A112216E3C3}"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sldImg"/>
          </p:nvPr>
        </p:nvSpPr>
        <p:spPr>
          <a:xfrm>
            <a:off x="685800" y="1143000"/>
            <a:ext cx="5485680" cy="3085560"/>
          </a:xfrm>
          <a:prstGeom prst="rect">
            <a:avLst/>
          </a:prstGeom>
          <a:ln w="0">
            <a:noFill/>
          </a:ln>
        </p:spPr>
      </p:sp>
      <p:sp>
        <p:nvSpPr>
          <p:cNvPr id="69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0:48-0:53. Students often confuse percept with state. Explain that the agent may not know the true state; it only receives percepts.</a:t>
            </a:r>
            <a:endParaRPr lang="en-US" sz="2000" b="0" u="none" strike="noStrike">
              <a:solidFill>
                <a:srgbClr val="000000"/>
              </a:solidFill>
              <a:effectLst/>
              <a:uFillTx/>
              <a:latin typeface="Arial"/>
            </a:endParaRPr>
          </a:p>
        </p:txBody>
      </p:sp>
      <p:sp>
        <p:nvSpPr>
          <p:cNvPr id="693"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E9391BD-1F86-4FED-996E-55EC83AE2BBE}"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685800" y="1143000"/>
            <a:ext cx="5485680" cy="3085560"/>
          </a:xfrm>
          <a:prstGeom prst="rect">
            <a:avLst/>
          </a:prstGeom>
          <a:ln w="0">
            <a:noFill/>
          </a:ln>
        </p:spPr>
      </p:sp>
      <p:sp>
        <p:nvSpPr>
          <p:cNvPr id="69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0:53-0:58. Use the table-driven agent as a thought experiment. The point is not that tables are impossible in small examples; the point is that general intelligence needs compact structure.</a:t>
            </a:r>
            <a:endParaRPr lang="en-US" sz="2000" b="0" u="none" strike="noStrike">
              <a:solidFill>
                <a:srgbClr val="000000"/>
              </a:solidFill>
              <a:effectLst/>
              <a:uFillTx/>
              <a:latin typeface="Arial"/>
            </a:endParaRPr>
          </a:p>
        </p:txBody>
      </p:sp>
      <p:sp>
        <p:nvSpPr>
          <p:cNvPr id="696"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07A38D7-4BDE-4CE8-88CE-5E431BD13FE0}"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sldImg"/>
          </p:nvPr>
        </p:nvSpPr>
        <p:spPr>
          <a:xfrm>
            <a:off x="685800" y="1143000"/>
            <a:ext cx="5485680" cy="3085560"/>
          </a:xfrm>
          <a:prstGeom prst="rect">
            <a:avLst/>
          </a:prstGeom>
          <a:ln w="0">
            <a:noFill/>
          </a:ln>
        </p:spPr>
      </p:sp>
      <p:sp>
        <p:nvSpPr>
          <p:cNvPr id="69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0:58-1:05. Have students identify proxy metrics and failure modes. This is a gentle introduction to objective specification and value alignment.</a:t>
            </a:r>
            <a:endParaRPr lang="en-US" sz="2000" b="0" u="none" strike="noStrike">
              <a:solidFill>
                <a:srgbClr val="000000"/>
              </a:solidFill>
              <a:effectLst/>
              <a:uFillTx/>
              <a:latin typeface="Arial"/>
            </a:endParaRPr>
          </a:p>
        </p:txBody>
      </p:sp>
      <p:sp>
        <p:nvSpPr>
          <p:cNvPr id="699"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F4739C2-70BD-4877-B543-0638ECBB207B}"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sldImg"/>
          </p:nvPr>
        </p:nvSpPr>
        <p:spPr>
          <a:xfrm>
            <a:off x="685800" y="1143000"/>
            <a:ext cx="5485680" cy="3085560"/>
          </a:xfrm>
          <a:prstGeom prst="rect">
            <a:avLst/>
          </a:prstGeom>
          <a:ln w="0">
            <a:noFill/>
          </a:ln>
        </p:spPr>
      </p:sp>
      <p:sp>
        <p:nvSpPr>
          <p:cNvPr id="70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1:05-1:10. Use this to prevent hindsight bias. Make the phrase expected performance concrete.</a:t>
            </a:r>
            <a:endParaRPr lang="en-US" sz="2000" b="0" u="none" strike="noStrike">
              <a:solidFill>
                <a:srgbClr val="000000"/>
              </a:solidFill>
              <a:effectLst/>
              <a:uFillTx/>
              <a:latin typeface="Arial"/>
            </a:endParaRPr>
          </a:p>
        </p:txBody>
      </p:sp>
      <p:sp>
        <p:nvSpPr>
          <p:cNvPr id="702"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F6B1E0D-0697-4626-81F7-3A8186FC9065}"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sldImg"/>
          </p:nvPr>
        </p:nvSpPr>
        <p:spPr>
          <a:xfrm>
            <a:off x="685800" y="1143000"/>
            <a:ext cx="5485680" cy="3085560"/>
          </a:xfrm>
          <a:prstGeom prst="rect">
            <a:avLst/>
          </a:prstGeom>
          <a:ln w="0">
            <a:noFill/>
          </a:ln>
        </p:spPr>
      </p:sp>
      <p:sp>
        <p:nvSpPr>
          <p:cNvPr id="7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1:10-1:17. Small-group discussion. Ask each group to defend one judgment. Keep the focus on evidence and performance measures.</a:t>
            </a:r>
            <a:endParaRPr lang="en-US" sz="2000" b="0" u="none" strike="noStrike">
              <a:solidFill>
                <a:srgbClr val="000000"/>
              </a:solidFill>
              <a:effectLst/>
              <a:uFillTx/>
              <a:latin typeface="Arial"/>
            </a:endParaRPr>
          </a:p>
        </p:txBody>
      </p:sp>
      <p:sp>
        <p:nvSpPr>
          <p:cNvPr id="705"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AFA1CE0-89B3-48D7-B329-DD7A8AA44EFE}"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sldImg"/>
          </p:nvPr>
        </p:nvSpPr>
        <p:spPr>
          <a:xfrm>
            <a:off x="685800" y="1143000"/>
            <a:ext cx="5485680" cy="3085560"/>
          </a:xfrm>
          <a:prstGeom prst="rect">
            <a:avLst/>
          </a:prstGeom>
          <a:ln w="0">
            <a:noFill/>
          </a:ln>
        </p:spPr>
      </p:sp>
      <p:sp>
        <p:nvSpPr>
          <p:cNvPr id="7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1:17-1:22. Break.</a:t>
            </a:r>
            <a:endParaRPr lang="en-US" sz="2000" b="0" u="none" strike="noStrike">
              <a:solidFill>
                <a:srgbClr val="000000"/>
              </a:solidFill>
              <a:effectLst/>
              <a:uFillTx/>
              <a:latin typeface="Arial"/>
            </a:endParaRPr>
          </a:p>
        </p:txBody>
      </p:sp>
      <p:sp>
        <p:nvSpPr>
          <p:cNvPr id="708"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E956935-2BD2-4002-8216-FD1E510A5E85}"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sldImg"/>
          </p:nvPr>
        </p:nvSpPr>
        <p:spPr>
          <a:xfrm>
            <a:off x="685800" y="1143000"/>
            <a:ext cx="5485680" cy="3085560"/>
          </a:xfrm>
          <a:prstGeom prst="rect">
            <a:avLst/>
          </a:prstGeom>
          <a:ln w="0">
            <a:noFill/>
          </a:ln>
        </p:spPr>
      </p:sp>
      <p:sp>
        <p:nvSpPr>
          <p:cNvPr id="71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1:22-1:27. Emphasize that PEAS is a design discipline. Students should not jump to code before specifying the task environment.</a:t>
            </a:r>
            <a:endParaRPr lang="en-US" sz="2000" b="0" u="none" strike="noStrike">
              <a:solidFill>
                <a:srgbClr val="000000"/>
              </a:solidFill>
              <a:effectLst/>
              <a:uFillTx/>
              <a:latin typeface="Arial"/>
            </a:endParaRPr>
          </a:p>
        </p:txBody>
      </p:sp>
      <p:sp>
        <p:nvSpPr>
          <p:cNvPr id="711"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82B390E-5E27-4600-BDE8-81965F40543A}"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type="sldImg"/>
          </p:nvPr>
        </p:nvSpPr>
        <p:spPr>
          <a:xfrm>
            <a:off x="685800" y="1143000"/>
            <a:ext cx="5485680" cy="3085560"/>
          </a:xfrm>
          <a:prstGeom prst="rect">
            <a:avLst/>
          </a:prstGeom>
          <a:ln w="0">
            <a:noFill/>
          </a:ln>
        </p:spPr>
      </p:sp>
      <p:sp>
        <p:nvSpPr>
          <p:cNvPr id="71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1:27-1:34. Use the taxi to show that PEAS is not just a table; it exposes conflicting objectives and environment complexity.</a:t>
            </a:r>
            <a:endParaRPr lang="en-US" sz="2000" b="0" u="none" strike="noStrike">
              <a:solidFill>
                <a:srgbClr val="000000"/>
              </a:solidFill>
              <a:effectLst/>
              <a:uFillTx/>
              <a:latin typeface="Arial"/>
            </a:endParaRPr>
          </a:p>
        </p:txBody>
      </p:sp>
      <p:sp>
        <p:nvSpPr>
          <p:cNvPr id="714"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7FF026F-423B-4B72-B438-C0F338C4A074}"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sldImg"/>
          </p:nvPr>
        </p:nvSpPr>
        <p:spPr>
          <a:xfrm>
            <a:off x="685800" y="1143000"/>
            <a:ext cx="5485680" cy="3085560"/>
          </a:xfrm>
          <a:prstGeom prst="rect">
            <a:avLst/>
          </a:prstGeom>
          <a:ln w="0">
            <a:noFill/>
          </a:ln>
        </p:spPr>
      </p:sp>
      <p:sp>
        <p:nvSpPr>
          <p:cNvPr id="71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1:34-1:40. This slide bridges to lab. Ask: what if the location sensor is removed? What if movement has a cost? What if dirt reappears?</a:t>
            </a:r>
            <a:endParaRPr lang="en-US" sz="2000" b="0" u="none" strike="noStrike">
              <a:solidFill>
                <a:srgbClr val="000000"/>
              </a:solidFill>
              <a:effectLst/>
              <a:uFillTx/>
              <a:latin typeface="Arial"/>
            </a:endParaRPr>
          </a:p>
        </p:txBody>
      </p:sp>
      <p:sp>
        <p:nvSpPr>
          <p:cNvPr id="717"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B354E24-2457-44BB-99BC-D1996D791BBF}"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sldImg"/>
          </p:nvPr>
        </p:nvSpPr>
        <p:spPr>
          <a:xfrm>
            <a:off x="685800" y="1143000"/>
            <a:ext cx="5485680" cy="3085560"/>
          </a:xfrm>
          <a:prstGeom prst="rect">
            <a:avLst/>
          </a:prstGeom>
          <a:ln w="0">
            <a:noFill/>
          </a:ln>
        </p:spPr>
      </p:sp>
      <p:sp>
        <p:nvSpPr>
          <p:cNvPr id="71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1:40-1:46. Give one quick example for each property. Avoid over-defining; the goal is to prepare students to classify the lab environment.</a:t>
            </a:r>
            <a:endParaRPr lang="en-US" sz="2000" b="0" u="none" strike="noStrike">
              <a:solidFill>
                <a:srgbClr val="000000"/>
              </a:solidFill>
              <a:effectLst/>
              <a:uFillTx/>
              <a:latin typeface="Arial"/>
            </a:endParaRPr>
          </a:p>
        </p:txBody>
      </p:sp>
      <p:sp>
        <p:nvSpPr>
          <p:cNvPr id="720"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8A80F0D-C5F9-49FA-A52F-5C579A69864E}"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685800" y="1143000"/>
            <a:ext cx="5485680" cy="3085560"/>
          </a:xfrm>
          <a:prstGeom prst="rect">
            <a:avLst/>
          </a:prstGeom>
          <a:ln w="0">
            <a:noFill/>
          </a:ln>
        </p:spPr>
      </p:sp>
      <p:sp>
        <p:nvSpPr>
          <p:cNvPr id="7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1:46-1:52. Let students answer quickly. Reinforce that environment properties determine the appropriate agent architecture.</a:t>
            </a:r>
            <a:endParaRPr lang="en-US" sz="2000" b="0" u="none" strike="noStrike">
              <a:solidFill>
                <a:srgbClr val="000000"/>
              </a:solidFill>
              <a:effectLst/>
              <a:uFillTx/>
              <a:latin typeface="Arial"/>
            </a:endParaRPr>
          </a:p>
        </p:txBody>
      </p:sp>
      <p:sp>
        <p:nvSpPr>
          <p:cNvPr id="723"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5857ADF-E088-4721-A793-BB201697A420}"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sldImg"/>
          </p:nvPr>
        </p:nvSpPr>
        <p:spPr>
          <a:xfrm>
            <a:off x="685800" y="1143000"/>
            <a:ext cx="5485680" cy="3085560"/>
          </a:xfrm>
          <a:prstGeom prst="rect">
            <a:avLst/>
          </a:prstGeom>
          <a:ln w="0">
            <a:noFill/>
          </a:ln>
        </p:spPr>
      </p:sp>
      <p:sp>
        <p:nvSpPr>
          <p:cNvPr id="7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1:52-1:58. Present this as a progression of what information is represented explicitly. This sets up future weeks on search, planning, uncertainty, and learning.</a:t>
            </a:r>
            <a:endParaRPr lang="en-US" sz="2000" b="0" u="none" strike="noStrike">
              <a:solidFill>
                <a:srgbClr val="000000"/>
              </a:solidFill>
              <a:effectLst/>
              <a:uFillTx/>
              <a:latin typeface="Arial"/>
            </a:endParaRPr>
          </a:p>
        </p:txBody>
      </p:sp>
      <p:sp>
        <p:nvSpPr>
          <p:cNvPr id="726"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F9A8862-1997-49BD-8B7D-92DF29F9DCC7}"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sldImg"/>
          </p:nvPr>
        </p:nvSpPr>
        <p:spPr>
          <a:xfrm>
            <a:off x="685800" y="1143000"/>
            <a:ext cx="5485680" cy="3085560"/>
          </a:xfrm>
          <a:prstGeom prst="rect">
            <a:avLst/>
          </a:prstGeom>
          <a:ln w="0">
            <a:noFill/>
          </a:ln>
        </p:spPr>
      </p:sp>
      <p:sp>
        <p:nvSpPr>
          <p:cNvPr id="7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1:58-2:03 if extended; otherwise compress. If running exactly two hours, use this and the next several slides as lab support material after the main lecture.</a:t>
            </a:r>
            <a:endParaRPr lang="en-US" sz="2000" b="0" u="none" strike="noStrike">
              <a:solidFill>
                <a:srgbClr val="000000"/>
              </a:solidFill>
              <a:effectLst/>
              <a:uFillTx/>
              <a:latin typeface="Arial"/>
            </a:endParaRPr>
          </a:p>
        </p:txBody>
      </p:sp>
      <p:sp>
        <p:nvSpPr>
          <p:cNvPr id="729"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D2486F3-DEAE-43E4-82F4-58D91A69A2DB}"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sldImg"/>
          </p:nvPr>
        </p:nvSpPr>
        <p:spPr>
          <a:xfrm>
            <a:off x="685800" y="1143000"/>
            <a:ext cx="5485680" cy="3085560"/>
          </a:xfrm>
          <a:prstGeom prst="rect">
            <a:avLst/>
          </a:prstGeom>
          <a:ln w="0">
            <a:noFill/>
          </a:ln>
        </p:spPr>
      </p:sp>
      <p:sp>
        <p:nvSpPr>
          <p:cNvPr id="7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when moving beyond simple reflex. If the grid-world agent cannot see all cells, it needs memory or a belief state.</a:t>
            </a:r>
            <a:endParaRPr lang="en-US" sz="2000" b="0" u="none" strike="noStrike">
              <a:solidFill>
                <a:srgbClr val="000000"/>
              </a:solidFill>
              <a:effectLst/>
              <a:uFillTx/>
              <a:latin typeface="Arial"/>
            </a:endParaRPr>
          </a:p>
        </p:txBody>
      </p:sp>
      <p:sp>
        <p:nvSpPr>
          <p:cNvPr id="732"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A955288-C53E-45B4-9312-47A17B4A77C1}"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PlaceHolder 1"/>
          <p:cNvSpPr>
            <a:spLocks noGrp="1"/>
          </p:cNvSpPr>
          <p:nvPr>
            <p:ph type="sldImg"/>
          </p:nvPr>
        </p:nvSpPr>
        <p:spPr>
          <a:xfrm>
            <a:off x="685800" y="1143000"/>
            <a:ext cx="5485680" cy="3085560"/>
          </a:xfrm>
          <a:prstGeom prst="rect">
            <a:avLst/>
          </a:prstGeom>
          <a:ln w="0">
            <a:noFill/>
          </a:ln>
        </p:spPr>
      </p:sp>
      <p:sp>
        <p:nvSpPr>
          <p:cNvPr id="73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Connect goal-based agents to search and planning in later weeks. Connect utility-based agents to uncertainty and tradeoffs.</a:t>
            </a:r>
            <a:endParaRPr lang="en-US" sz="2000" b="0" u="none" strike="noStrike">
              <a:solidFill>
                <a:srgbClr val="000000"/>
              </a:solidFill>
              <a:effectLst/>
              <a:uFillTx/>
              <a:latin typeface="Arial"/>
            </a:endParaRPr>
          </a:p>
        </p:txBody>
      </p:sp>
      <p:sp>
        <p:nvSpPr>
          <p:cNvPr id="735"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0D569D9-FFD8-4387-9385-39DA4E636083}"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PlaceHolder 1"/>
          <p:cNvSpPr>
            <a:spLocks noGrp="1"/>
          </p:cNvSpPr>
          <p:nvPr>
            <p:ph type="sldImg"/>
          </p:nvPr>
        </p:nvSpPr>
        <p:spPr>
          <a:xfrm>
            <a:off x="685800" y="1143000"/>
            <a:ext cx="5485680" cy="3085560"/>
          </a:xfrm>
          <a:prstGeom prst="rect">
            <a:avLst/>
          </a:prstGeom>
          <a:ln w="0">
            <a:noFill/>
          </a:ln>
        </p:spPr>
      </p:sp>
      <p:sp>
        <p:nvSpPr>
          <p:cNvPr id="73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Briefly introduce the learning agent architecture. Do not go deep; the goal is to show why simulation and performance measures matter.</a:t>
            </a:r>
            <a:endParaRPr lang="en-US" sz="2000" b="0" u="none" strike="noStrike">
              <a:solidFill>
                <a:srgbClr val="000000"/>
              </a:solidFill>
              <a:effectLst/>
              <a:uFillTx/>
              <a:latin typeface="Arial"/>
            </a:endParaRPr>
          </a:p>
        </p:txBody>
      </p:sp>
      <p:sp>
        <p:nvSpPr>
          <p:cNvPr id="738"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214ED84-AEDA-4A97-AAF0-E292429E9811}"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sldImg"/>
          </p:nvPr>
        </p:nvSpPr>
        <p:spPr>
          <a:xfrm>
            <a:off x="685800" y="1143000"/>
            <a:ext cx="5485680" cy="3085560"/>
          </a:xfrm>
          <a:prstGeom prst="rect">
            <a:avLst/>
          </a:prstGeom>
          <a:ln w="0">
            <a:noFill/>
          </a:ln>
        </p:spPr>
      </p:sp>
      <p:sp>
        <p:nvSpPr>
          <p:cNvPr id="74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a quick diagnostic. Ask how many students have used notebooks and Python classes. Adjust lab pacing accordingly.</a:t>
            </a:r>
            <a:endParaRPr lang="en-US" sz="2000" b="0" u="none" strike="noStrike">
              <a:solidFill>
                <a:srgbClr val="000000"/>
              </a:solidFill>
              <a:effectLst/>
              <a:uFillTx/>
              <a:latin typeface="Arial"/>
            </a:endParaRPr>
          </a:p>
        </p:txBody>
      </p:sp>
      <p:sp>
        <p:nvSpPr>
          <p:cNvPr id="741"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A9BAB28-0D33-4E75-9C49-A36ED88933F7}"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sldImg"/>
          </p:nvPr>
        </p:nvSpPr>
        <p:spPr>
          <a:xfrm>
            <a:off x="685800" y="1143000"/>
            <a:ext cx="5485680" cy="3085560"/>
          </a:xfrm>
          <a:prstGeom prst="rect">
            <a:avLst/>
          </a:prstGeom>
          <a:ln w="0">
            <a:noFill/>
          </a:ln>
        </p:spPr>
      </p:sp>
      <p:sp>
        <p:nvSpPr>
          <p:cNvPr id="74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Walk through each line. Connect env.perceive and env.step to sensors and actuators. The print trace is the simplest debugging tool.</a:t>
            </a:r>
            <a:endParaRPr lang="en-US" sz="2000" b="0" u="none" strike="noStrike">
              <a:solidFill>
                <a:srgbClr val="000000"/>
              </a:solidFill>
              <a:effectLst/>
              <a:uFillTx/>
              <a:latin typeface="Arial"/>
            </a:endParaRPr>
          </a:p>
        </p:txBody>
      </p:sp>
      <p:sp>
        <p:nvSpPr>
          <p:cNvPr id="744"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363ECB1-CAFD-461D-A008-13A6D5B2F20F}"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 name="PlaceHolder 1"/>
          <p:cNvSpPr>
            <a:spLocks noGrp="1"/>
          </p:cNvSpPr>
          <p:nvPr>
            <p:ph type="sldImg"/>
          </p:nvPr>
        </p:nvSpPr>
        <p:spPr>
          <a:xfrm>
            <a:off x="685800" y="1143000"/>
            <a:ext cx="5485680" cy="3085560"/>
          </a:xfrm>
          <a:prstGeom prst="rect">
            <a:avLst/>
          </a:prstGeom>
          <a:ln w="0">
            <a:noFill/>
          </a:ln>
        </p:spPr>
      </p:sp>
      <p:sp>
        <p:nvSpPr>
          <p:cNvPr id="74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as the lab setup. Ask students to describe a state representation. Then ask what information the agent does and does not receive.</a:t>
            </a:r>
            <a:endParaRPr lang="en-US" sz="2000" b="0" u="none" strike="noStrike">
              <a:solidFill>
                <a:srgbClr val="000000"/>
              </a:solidFill>
              <a:effectLst/>
              <a:uFillTx/>
              <a:latin typeface="Arial"/>
            </a:endParaRPr>
          </a:p>
        </p:txBody>
      </p:sp>
      <p:sp>
        <p:nvSpPr>
          <p:cNvPr id="747"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3DBD43A-A996-44B9-8A2F-76DE2740E520}"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type="sldImg"/>
          </p:nvPr>
        </p:nvSpPr>
        <p:spPr>
          <a:xfrm>
            <a:off x="685800" y="1143000"/>
            <a:ext cx="5485680" cy="3085560"/>
          </a:xfrm>
          <a:prstGeom prst="rect">
            <a:avLst/>
          </a:prstGeom>
          <a:ln w="0">
            <a:noFill/>
          </a:ln>
        </p:spPr>
      </p:sp>
      <p:sp>
        <p:nvSpPr>
          <p:cNvPr id="74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Make deliverables concrete. A short trace and short reflection are more valuable than a large untested notebook.</a:t>
            </a:r>
            <a:endParaRPr lang="en-US" sz="2000" b="0" u="none" strike="noStrike">
              <a:solidFill>
                <a:srgbClr val="000000"/>
              </a:solidFill>
              <a:effectLst/>
              <a:uFillTx/>
              <a:latin typeface="Arial"/>
            </a:endParaRPr>
          </a:p>
        </p:txBody>
      </p:sp>
      <p:sp>
        <p:nvSpPr>
          <p:cNvPr id="750"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F379CB3-5A6C-4838-AD95-1911C4B8AB7B}"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PlaceHolder 1"/>
          <p:cNvSpPr>
            <a:spLocks noGrp="1"/>
          </p:cNvSpPr>
          <p:nvPr>
            <p:ph type="sldImg"/>
          </p:nvPr>
        </p:nvSpPr>
        <p:spPr>
          <a:xfrm>
            <a:off x="685800" y="1143000"/>
            <a:ext cx="5485680" cy="3085560"/>
          </a:xfrm>
          <a:prstGeom prst="rect">
            <a:avLst/>
          </a:prstGeom>
          <a:ln w="0">
            <a:noFill/>
          </a:ln>
        </p:spPr>
      </p:sp>
      <p:sp>
        <p:nvSpPr>
          <p:cNvPr id="75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to normalize debugging. Encourage students to print state and action at every time step until behavior is obvious.</a:t>
            </a:r>
            <a:endParaRPr lang="en-US" sz="2000" b="0" u="none" strike="noStrike">
              <a:solidFill>
                <a:srgbClr val="000000"/>
              </a:solidFill>
              <a:effectLst/>
              <a:uFillTx/>
              <a:latin typeface="Arial"/>
            </a:endParaRPr>
          </a:p>
        </p:txBody>
      </p:sp>
      <p:sp>
        <p:nvSpPr>
          <p:cNvPr id="753"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F4D5FED-7872-434E-B16F-E1BFCC88C851}"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4" name="PlaceHolder 1"/>
          <p:cNvSpPr>
            <a:spLocks noGrp="1"/>
          </p:cNvSpPr>
          <p:nvPr>
            <p:ph type="sldImg"/>
          </p:nvPr>
        </p:nvSpPr>
        <p:spPr>
          <a:xfrm>
            <a:off x="685800" y="1143000"/>
            <a:ext cx="5485680" cy="3085560"/>
          </a:xfrm>
          <a:prstGeom prst="rect">
            <a:avLst/>
          </a:prstGeom>
          <a:ln w="0">
            <a:noFill/>
          </a:ln>
        </p:spPr>
      </p:sp>
      <p:sp>
        <p:nvSpPr>
          <p:cNvPr id="75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If time permits, use this activity near the end. Otherwise assign it as a short in-class check or Canvas discussion prompt.</a:t>
            </a:r>
            <a:endParaRPr lang="en-US" sz="2000" b="0" u="none" strike="noStrike">
              <a:solidFill>
                <a:srgbClr val="000000"/>
              </a:solidFill>
              <a:effectLst/>
              <a:uFillTx/>
              <a:latin typeface="Arial"/>
            </a:endParaRPr>
          </a:p>
        </p:txBody>
      </p:sp>
      <p:sp>
        <p:nvSpPr>
          <p:cNvPr id="756"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E3C5C6D-0279-494E-B5D6-4F28527D6E10}"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7" name="PlaceHolder 1"/>
          <p:cNvSpPr>
            <a:spLocks noGrp="1"/>
          </p:cNvSpPr>
          <p:nvPr>
            <p:ph type="sldImg"/>
          </p:nvPr>
        </p:nvSpPr>
        <p:spPr>
          <a:xfrm>
            <a:off x="685800" y="1143000"/>
            <a:ext cx="5485680" cy="3085560"/>
          </a:xfrm>
          <a:prstGeom prst="rect">
            <a:avLst/>
          </a:prstGeom>
          <a:ln w="0">
            <a:noFill/>
          </a:ln>
        </p:spPr>
      </p:sp>
      <p:sp>
        <p:nvSpPr>
          <p:cNvPr id="75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as the last five minutes. This gives you a quick diagnostic of whether students understand PEAS, performance measures, and environment properties.</a:t>
            </a:r>
            <a:endParaRPr lang="en-US" sz="2000" b="0" u="none" strike="noStrike">
              <a:solidFill>
                <a:srgbClr val="000000"/>
              </a:solidFill>
              <a:effectLst/>
              <a:uFillTx/>
              <a:latin typeface="Arial"/>
            </a:endParaRPr>
          </a:p>
        </p:txBody>
      </p:sp>
      <p:sp>
        <p:nvSpPr>
          <p:cNvPr id="759" name="PlaceHolder 3"/>
          <p:cNvSpPr>
            <a:spLocks noGrp="1"/>
          </p:cNvSpPr>
          <p:nvPr>
            <p:ph type="sldNum" idx="3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DCAC1DA-2C63-4B83-95F0-A054437AD71F}"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0" name="PlaceHolder 1"/>
          <p:cNvSpPr>
            <a:spLocks noGrp="1"/>
          </p:cNvSpPr>
          <p:nvPr>
            <p:ph type="sldImg"/>
          </p:nvPr>
        </p:nvSpPr>
        <p:spPr>
          <a:xfrm>
            <a:off x="685800" y="1143000"/>
            <a:ext cx="5485680" cy="3085560"/>
          </a:xfrm>
          <a:prstGeom prst="rect">
            <a:avLst/>
          </a:prstGeom>
          <a:ln w="0">
            <a:noFill/>
          </a:ln>
        </p:spPr>
      </p:sp>
      <p:sp>
        <p:nvSpPr>
          <p:cNvPr id="7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Final summary. Remind students where to find the notebook and what to prepare.</a:t>
            </a:r>
            <a:endParaRPr lang="en-US" sz="2000" b="0" u="none" strike="noStrike">
              <a:solidFill>
                <a:srgbClr val="000000"/>
              </a:solidFill>
              <a:effectLst/>
              <a:uFillTx/>
              <a:latin typeface="Arial"/>
            </a:endParaRPr>
          </a:p>
        </p:txBody>
      </p:sp>
      <p:sp>
        <p:nvSpPr>
          <p:cNvPr id="762" name="PlaceHolder 3"/>
          <p:cNvSpPr>
            <a:spLocks noGrp="1"/>
          </p:cNvSpPr>
          <p:nvPr>
            <p:ph type="sldNum" idx="3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2404320-6652-4BF7-82D5-7CBE88486C3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3" name="PlaceHolder 1"/>
          <p:cNvSpPr>
            <a:spLocks noGrp="1"/>
          </p:cNvSpPr>
          <p:nvPr>
            <p:ph type="sldImg"/>
          </p:nvPr>
        </p:nvSpPr>
        <p:spPr>
          <a:xfrm>
            <a:off x="685800" y="1143000"/>
            <a:ext cx="5485680" cy="3085560"/>
          </a:xfrm>
          <a:prstGeom prst="rect">
            <a:avLst/>
          </a:prstGeom>
          <a:ln w="0">
            <a:noFill/>
          </a:ln>
        </p:spPr>
      </p:sp>
      <p:sp>
        <p:nvSpPr>
          <p:cNvPr id="7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Backup/reference slide. Hide it before presenting if you prefer.</a:t>
            </a:r>
            <a:endParaRPr lang="en-US" sz="2000" b="0" u="none" strike="noStrike">
              <a:solidFill>
                <a:srgbClr val="000000"/>
              </a:solidFill>
              <a:effectLst/>
              <a:uFillTx/>
              <a:latin typeface="Arial"/>
            </a:endParaRPr>
          </a:p>
        </p:txBody>
      </p:sp>
      <p:sp>
        <p:nvSpPr>
          <p:cNvPr id="765" name="PlaceHolder 3"/>
          <p:cNvSpPr>
            <a:spLocks noGrp="1"/>
          </p:cNvSpPr>
          <p:nvPr>
            <p:ph type="sldNum" idx="3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AF53FAE-A02A-4B05-A660-FA18AE67399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7F8FA"/>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1720" cy="114444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Aptos"/>
              </a:defRPr>
            </a:lvl1pPr>
          </a:lstStyle>
          <a:p>
            <a:pPr indent="0" algn="l">
              <a:lnSpc>
                <a:spcPct val="100000"/>
              </a:lnSpc>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1720" cy="39769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662760"/>
            <a:ext cx="10971720" cy="366120"/>
          </a:xfrm>
          <a:prstGeom prst="rect">
            <a:avLst/>
          </a:prstGeom>
          <a:noFill/>
          <a:ln w="0">
            <a:noFill/>
          </a:ln>
        </p:spPr>
        <p:txBody>
          <a:bodyPr lIns="0" tIns="0" rIns="0" bIns="0" anchor="ctr">
            <a:spAutoFit/>
          </a:bodyPr>
          <a:lstStyle>
            <a:lvl1pPr indent="0" algn="l">
              <a:buNone/>
              <a:tabLst>
                <a:tab pos="0" algn="l"/>
              </a:tabLst>
              <a:defRPr lang="en-US" sz="2400" b="0" u="none" strike="noStrike">
                <a:solidFill>
                  <a:schemeClr val="dk1"/>
                </a:solidFill>
                <a:effectLst/>
                <a:uFillTx/>
                <a:latin typeface="Calibri"/>
              </a:defRPr>
            </a:lvl1pPr>
          </a:lstStyle>
          <a:p>
            <a:pPr indent="0" algn="l">
              <a:buNone/>
              <a:tabLst>
                <a:tab pos="0" algn="l"/>
              </a:tabLst>
            </a:pPr>
            <a:r>
              <a:rPr lang="en-US" sz="2400" b="0" u="none" strike="noStrike">
                <a:solidFill>
                  <a:schemeClr val="dk1"/>
                </a:solidFill>
                <a:effectLst/>
                <a:uFillTx/>
                <a:latin typeface="Calibri"/>
              </a:rPr>
              <a:t>Click to edit the title text format</a:t>
            </a:r>
            <a:endParaRPr lang="en-US" sz="2400" b="0" u="none" strike="noStrike">
              <a:solidFill>
                <a:schemeClr val="dk1"/>
              </a:solidFill>
              <a:effectLst/>
              <a:uFillTx/>
              <a:latin typeface="Calibri"/>
            </a:endParaRP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888"/>
              </a:spcBef>
              <a:buClr>
                <a:srgbClr val="000000"/>
              </a:buClr>
              <a:buSzPct val="45000"/>
              <a:buFont typeface="Wingdings" charset="2"/>
              <a:buChar char=""/>
              <a:defRPr lang="en-US" sz="4270" b="0" u="none" strike="noStrike">
                <a:solidFill>
                  <a:schemeClr val="dk1"/>
                </a:solidFill>
                <a:effectLst/>
                <a:uFillTx/>
                <a:latin typeface="Calibri"/>
              </a:defRPr>
            </a:lvl1pPr>
            <a:lvl2pPr lvl="1" algn="l">
              <a:spcBef>
                <a:spcPts val="1511"/>
              </a:spcBef>
              <a:buClr>
                <a:srgbClr val="000000"/>
              </a:buClr>
              <a:buSzPct val="75000"/>
              <a:buFont typeface="Symbol" charset="2"/>
              <a:buChar char=""/>
              <a:defRPr lang="en-US" sz="3200" b="0" u="none" strike="noStrike">
                <a:solidFill>
                  <a:schemeClr val="dk1"/>
                </a:solidFill>
                <a:effectLst/>
                <a:uFillTx/>
                <a:latin typeface="Calibri"/>
              </a:defRPr>
            </a:lvl2pPr>
            <a:lvl3pPr lvl="2" algn="l">
              <a:spcBef>
                <a:spcPts val="1131"/>
              </a:spcBef>
              <a:buClr>
                <a:srgbClr val="000000"/>
              </a:buClr>
              <a:buSzPct val="45000"/>
              <a:buFont typeface="Wingdings" charset="2"/>
              <a:buChar char=""/>
              <a:defRPr lang="en-US" sz="2670" b="0" u="none" strike="noStrike">
                <a:solidFill>
                  <a:schemeClr val="dk1"/>
                </a:solidFill>
                <a:effectLst/>
                <a:uFillTx/>
                <a:latin typeface="Calibri"/>
              </a:defRPr>
            </a:lvl3pPr>
            <a:lvl4pPr lvl="3" algn="l">
              <a:spcBef>
                <a:spcPts val="754"/>
              </a:spcBef>
              <a:buClr>
                <a:srgbClr val="000000"/>
              </a:buClr>
              <a:buSzPct val="75000"/>
              <a:buFont typeface="Symbol" charset="2"/>
              <a:buChar char=""/>
              <a:defRPr lang="en-US" sz="2670" b="0" u="none" strike="noStrike">
                <a:solidFill>
                  <a:schemeClr val="dk1"/>
                </a:solidFill>
                <a:effectLst/>
                <a:uFillTx/>
                <a:latin typeface="Calibri"/>
              </a:defRPr>
            </a:lvl4pPr>
            <a:lvl5pPr lvl="4" algn="l">
              <a:spcBef>
                <a:spcPts val="377"/>
              </a:spcBef>
              <a:buClr>
                <a:srgbClr val="000000"/>
              </a:buClr>
              <a:buSzPct val="45000"/>
              <a:buFont typeface="Wingdings" charset="2"/>
              <a:buChar char=""/>
              <a:defRPr lang="en-US" sz="2670" b="0" u="none" strike="noStrike">
                <a:solidFill>
                  <a:schemeClr val="dk1"/>
                </a:solidFill>
                <a:effectLst/>
                <a:uFillTx/>
                <a:latin typeface="Calibri"/>
              </a:defRPr>
            </a:lvl5pPr>
            <a:lvl6pPr lvl="5" algn="l">
              <a:spcBef>
                <a:spcPts val="377"/>
              </a:spcBef>
              <a:buClr>
                <a:srgbClr val="000000"/>
              </a:buClr>
              <a:buSzPct val="45000"/>
              <a:buFont typeface="Wingdings" charset="2"/>
              <a:buChar char=""/>
              <a:defRPr lang="en-US" sz="2670" b="0" u="none" strike="noStrike">
                <a:solidFill>
                  <a:schemeClr val="dk1"/>
                </a:solidFill>
                <a:effectLst/>
                <a:uFillTx/>
                <a:latin typeface="Calibri"/>
              </a:defRPr>
            </a:lvl6pPr>
            <a:lvl7pPr lvl="6" algn="l">
              <a:spcBef>
                <a:spcPts val="377"/>
              </a:spcBef>
              <a:buClr>
                <a:srgbClr val="000000"/>
              </a:buClr>
              <a:buSzPct val="45000"/>
              <a:buFont typeface="Wingdings" charset="2"/>
              <a:buChar char=""/>
              <a:defRPr lang="en-US" sz="2670" b="0" u="none" strike="noStrike">
                <a:solidFill>
                  <a:schemeClr val="dk1"/>
                </a:solidFill>
                <a:effectLst/>
                <a:uFillTx/>
                <a:latin typeface="Calibri"/>
              </a:defRPr>
            </a:lvl7pPr>
          </a:lstStyle>
          <a:p>
            <a:pPr indent="-324000" algn="l">
              <a:spcBef>
                <a:spcPts val="1888"/>
              </a:spcBef>
              <a:buClr>
                <a:srgbClr val="000000"/>
              </a:buClr>
              <a:buSzPct val="45000"/>
              <a:buFont typeface="Wingdings" charset="2"/>
              <a:buChar char=""/>
            </a:pPr>
            <a:r>
              <a:rPr lang="en-US" sz="4270" b="0" u="none" strike="noStrike">
                <a:solidFill>
                  <a:schemeClr val="dk1"/>
                </a:solidFill>
                <a:effectLst/>
                <a:uFillTx/>
                <a:latin typeface="Calibri"/>
              </a:rPr>
              <a:t>Click to edit the outline text format</a:t>
            </a:r>
            <a:endParaRPr lang="en-US" sz="4270" b="0" u="none" strike="noStrike">
              <a:solidFill>
                <a:schemeClr val="dk1"/>
              </a:solidFill>
              <a:effectLst/>
              <a:uFillTx/>
              <a:latin typeface="Calibri"/>
            </a:endParaRPr>
          </a:p>
          <a:p>
            <a:pPr marL="864000" lvl="1" indent="-324000" algn="l">
              <a:spcBef>
                <a:spcPts val="151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1296000" lvl="2" indent="-288000" algn="l">
              <a:spcBef>
                <a:spcPts val="1131"/>
              </a:spcBef>
              <a:buClr>
                <a:srgbClr val="000000"/>
              </a:buClr>
              <a:buSzPct val="45000"/>
              <a:buFont typeface="Wingdings" charset="2"/>
              <a:buChar char=""/>
            </a:pPr>
            <a:r>
              <a:rPr lang="en-US" sz="2670" b="0" u="none" strike="noStrike">
                <a:solidFill>
                  <a:schemeClr val="dk1"/>
                </a:solidFill>
                <a:effectLst/>
                <a:uFillTx/>
                <a:latin typeface="Calibri"/>
              </a:rPr>
              <a:t>Third Outline Level</a:t>
            </a:r>
            <a:endParaRPr lang="en-US" sz="2670" b="0" u="none" strike="noStrike">
              <a:solidFill>
                <a:schemeClr val="dk1"/>
              </a:solidFill>
              <a:effectLst/>
              <a:uFillTx/>
              <a:latin typeface="Calibri"/>
            </a:endParaRPr>
          </a:p>
          <a:p>
            <a:pPr marL="1728000" lvl="3" indent="-216000" algn="l">
              <a:spcBef>
                <a:spcPts val="754"/>
              </a:spcBef>
              <a:buClr>
                <a:srgbClr val="000000"/>
              </a:buClr>
              <a:buSzPct val="75000"/>
              <a:buFont typeface="Symbol" charset="2"/>
              <a:buChar char=""/>
            </a:pPr>
            <a:r>
              <a:rPr lang="en-US" sz="2670" b="0" u="none" strike="noStrike">
                <a:solidFill>
                  <a:schemeClr val="dk1"/>
                </a:solidFill>
                <a:effectLst/>
                <a:uFillTx/>
                <a:latin typeface="Calibri"/>
              </a:rPr>
              <a:t>Fourth Outline Level</a:t>
            </a:r>
            <a:endParaRPr lang="en-US" sz="2670" b="0" u="none" strike="noStrike">
              <a:solidFill>
                <a:schemeClr val="dk1"/>
              </a:solidFill>
              <a:effectLst/>
              <a:uFillTx/>
              <a:latin typeface="Calibri"/>
            </a:endParaRPr>
          </a:p>
          <a:p>
            <a:pPr marL="2160000" lvl="4" indent="-216000" algn="l">
              <a:spcBef>
                <a:spcPts val="377"/>
              </a:spcBef>
              <a:buClr>
                <a:srgbClr val="000000"/>
              </a:buClr>
              <a:buSzPct val="45000"/>
              <a:buFont typeface="Wingdings" charset="2"/>
              <a:buChar char=""/>
            </a:pPr>
            <a:r>
              <a:rPr lang="en-US" sz="2670" b="0" u="none" strike="noStrike">
                <a:solidFill>
                  <a:schemeClr val="dk1"/>
                </a:solidFill>
                <a:effectLst/>
                <a:uFillTx/>
                <a:latin typeface="Calibri"/>
              </a:rPr>
              <a:t>Fifth Outline Level</a:t>
            </a:r>
            <a:endParaRPr lang="en-US" sz="2670" b="0" u="none" strike="noStrike">
              <a:solidFill>
                <a:schemeClr val="dk1"/>
              </a:solidFill>
              <a:effectLst/>
              <a:uFillTx/>
              <a:latin typeface="Calibri"/>
            </a:endParaRPr>
          </a:p>
          <a:p>
            <a:pPr marL="2592000" lvl="5" indent="-216000" algn="l">
              <a:spcBef>
                <a:spcPts val="377"/>
              </a:spcBef>
              <a:buClr>
                <a:srgbClr val="000000"/>
              </a:buClr>
              <a:buSzPct val="45000"/>
              <a:buFont typeface="Wingdings" charset="2"/>
              <a:buChar char=""/>
            </a:pPr>
            <a:r>
              <a:rPr lang="en-US" sz="2670" b="0" u="none" strike="noStrike">
                <a:solidFill>
                  <a:schemeClr val="dk1"/>
                </a:solidFill>
                <a:effectLst/>
                <a:uFillTx/>
                <a:latin typeface="Calibri"/>
              </a:rPr>
              <a:t>Sixth Outline Level</a:t>
            </a:r>
            <a:endParaRPr lang="en-US" sz="2670" b="0" u="none" strike="noStrike">
              <a:solidFill>
                <a:schemeClr val="dk1"/>
              </a:solidFill>
              <a:effectLst/>
              <a:uFillTx/>
              <a:latin typeface="Calibri"/>
            </a:endParaRPr>
          </a:p>
          <a:p>
            <a:pPr marL="3024000" lvl="6" indent="-216000" algn="l">
              <a:spcBef>
                <a:spcPts val="377"/>
              </a:spcBef>
              <a:buClr>
                <a:srgbClr val="000000"/>
              </a:buClr>
              <a:buSzPct val="45000"/>
              <a:buFont typeface="Wingdings" charset="2"/>
              <a:buChar char=""/>
            </a:pPr>
            <a:r>
              <a:rPr lang="en-US" sz="2670" b="0" u="none" strike="noStrike">
                <a:solidFill>
                  <a:schemeClr val="dk1"/>
                </a:solidFill>
                <a:effectLst/>
                <a:uFillTx/>
                <a:latin typeface="Calibri"/>
              </a:rPr>
              <a:t>Seventh Outline Level</a:t>
            </a:r>
            <a:endParaRPr lang="en-US" sz="267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B49"/>
        </a:solidFill>
      </p:bgPr>
    </p:bg>
    <p:spTree>
      <p:nvGrpSpPr>
        <p:cNvPr id="1" name=""/>
        <p:cNvGrpSpPr/>
        <p:nvPr/>
      </p:nvGrpSpPr>
      <p:grpSpPr>
        <a:xfrm>
          <a:off x="0" y="0"/>
          <a:ext cx="0" cy="0"/>
          <a:chOff x="0" y="0"/>
          <a:chExt cx="0" cy="0"/>
        </a:xfrm>
      </p:grpSpPr>
      <p:pic>
        <p:nvPicPr>
          <p:cNvPr id="12" name="Image 0" descr="/mnt/data/wide_cinematic_futuristic_scene_a_dark_blue_nigh.png"/>
          <p:cNvPicPr/>
          <p:nvPr/>
        </p:nvPicPr>
        <p:blipFill>
          <a:blip r:embed="rId1"/>
          <a:srcRect l="41991" t="0" r="9372" b="0"/>
          <a:stretch/>
        </p:blipFill>
        <p:spPr>
          <a:xfrm>
            <a:off x="6263640" y="0"/>
            <a:ext cx="5924520" cy="6857280"/>
          </a:xfrm>
          <a:prstGeom prst="rect">
            <a:avLst/>
          </a:prstGeom>
          <a:noFill/>
          <a:ln w="0">
            <a:noFill/>
          </a:ln>
        </p:spPr>
      </p:pic>
      <p:sp>
        <p:nvSpPr>
          <p:cNvPr id="13" name="Shape 0"/>
          <p:cNvSpPr/>
          <p:nvPr/>
        </p:nvSpPr>
        <p:spPr>
          <a:xfrm>
            <a:off x="6035040" y="0"/>
            <a:ext cx="227880" cy="6857280"/>
          </a:xfrm>
          <a:prstGeom prst="rect">
            <a:avLst/>
          </a:prstGeom>
          <a:solidFill>
            <a:srgbClr val="C99700"/>
          </a:solidFill>
          <a:ln w="1270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 name="Text 1"/>
          <p:cNvSpPr/>
          <p:nvPr/>
        </p:nvSpPr>
        <p:spPr>
          <a:xfrm>
            <a:off x="658440" y="658440"/>
            <a:ext cx="2102400" cy="2278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1" u="none" strike="noStrike">
                <a:solidFill>
                  <a:srgbClr val="C99700"/>
                </a:solidFill>
                <a:effectLst/>
                <a:uFillTx/>
                <a:latin typeface="Aptos"/>
              </a:rPr>
              <a:t>COMP 469</a:t>
            </a:r>
            <a:endParaRPr lang="en-US" sz="1400" b="0" u="none" strike="noStrike">
              <a:solidFill>
                <a:srgbClr val="FFFFFF"/>
              </a:solidFill>
              <a:effectLst/>
              <a:uFillTx/>
              <a:latin typeface="Arial"/>
            </a:endParaRPr>
          </a:p>
        </p:txBody>
      </p:sp>
      <p:sp>
        <p:nvSpPr>
          <p:cNvPr id="15" name="Text 2"/>
          <p:cNvSpPr/>
          <p:nvPr/>
        </p:nvSpPr>
        <p:spPr>
          <a:xfrm>
            <a:off x="640080" y="1234440"/>
            <a:ext cx="5074200" cy="132516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4200" b="1" u="none" strike="noStrike">
                <a:solidFill>
                  <a:srgbClr val="FFFFFF"/>
                </a:solidFill>
                <a:effectLst/>
                <a:uFillTx/>
                <a:latin typeface="Aptos"/>
              </a:rPr>
              <a:t>AI Agents</a:t>
            </a:r>
            <a:endParaRPr lang="en-US" sz="4200" b="0" u="none" strike="noStrike">
              <a:solidFill>
                <a:srgbClr val="FFFFFF"/>
              </a:solidFill>
              <a:effectLst/>
              <a:uFillTx/>
              <a:latin typeface="Arial"/>
            </a:endParaRPr>
          </a:p>
          <a:p>
            <a:pPr defTabSz="914400">
              <a:lnSpc>
                <a:spcPct val="100000"/>
              </a:lnSpc>
              <a:tabLst>
                <a:tab pos="0" algn="l"/>
              </a:tabLst>
            </a:pPr>
            <a:r>
              <a:rPr lang="en-US" sz="4200" b="1" u="none" strike="noStrike">
                <a:solidFill>
                  <a:srgbClr val="FFFFFF"/>
                </a:solidFill>
                <a:effectLst/>
                <a:uFillTx/>
                <a:latin typeface="Aptos"/>
              </a:rPr>
              <a:t>and Foundations</a:t>
            </a:r>
            <a:endParaRPr lang="en-US" sz="4200" b="0" u="none" strike="noStrike">
              <a:solidFill>
                <a:srgbClr val="FFFFFF"/>
              </a:solidFill>
              <a:effectLst/>
              <a:uFillTx/>
              <a:latin typeface="Arial"/>
            </a:endParaRPr>
          </a:p>
        </p:txBody>
      </p:sp>
      <p:sp>
        <p:nvSpPr>
          <p:cNvPr id="16" name="Text 3"/>
          <p:cNvSpPr/>
          <p:nvPr/>
        </p:nvSpPr>
        <p:spPr>
          <a:xfrm>
            <a:off x="658440" y="2880360"/>
            <a:ext cx="5028480" cy="319320"/>
          </a:xfrm>
          <a:prstGeom prst="rect">
            <a:avLst/>
          </a:prstGeom>
          <a:noFill/>
          <a:ln w="0">
            <a:noFill/>
          </a:ln>
        </p:spPr>
        <p:style>
          <a:lnRef idx="0"/>
          <a:fillRef idx="0"/>
          <a:effectRef idx="0"/>
          <a:fontRef idx="minor"/>
        </p:style>
        <p:txBody>
          <a:bodyPr lIns="360" tIns="360" rIns="360" bIns="360" anchor="t">
            <a:normAutofit fontScale="85000" lnSpcReduction="9999"/>
          </a:bodyPr>
          <a:p>
            <a:endParaRPr lang="en-US" sz="1800" b="0" u="none" strike="noStrike">
              <a:solidFill>
                <a:srgbClr val="FFFFFF"/>
              </a:solidFill>
              <a:effectLst/>
              <a:uFillTx/>
              <a:latin typeface="Arial"/>
            </a:endParaRPr>
          </a:p>
        </p:txBody>
      </p:sp>
      <p:sp>
        <p:nvSpPr>
          <p:cNvPr id="17" name="Shape 4"/>
          <p:cNvSpPr/>
          <p:nvPr/>
        </p:nvSpPr>
        <p:spPr>
          <a:xfrm>
            <a:off x="658440" y="3840480"/>
            <a:ext cx="4708440" cy="867960"/>
          </a:xfrm>
          <a:prstGeom prst="roundRect">
            <a:avLst>
              <a:gd name="adj" fmla="val 12632"/>
            </a:avLst>
          </a:prstGeom>
          <a:solidFill>
            <a:srgbClr val="123B5A"/>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 name="Text 5"/>
          <p:cNvSpPr/>
          <p:nvPr/>
        </p:nvSpPr>
        <p:spPr>
          <a:xfrm>
            <a:off x="859680" y="4023360"/>
            <a:ext cx="4305960" cy="54792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600" b="1" u="none" strike="noStrike">
                <a:solidFill>
                  <a:srgbClr val="FFFFFF"/>
                </a:solidFill>
                <a:effectLst/>
                <a:uFillTx/>
                <a:latin typeface="Aptos"/>
              </a:rPr>
              <a:t>Week 1: define intelligence, build agent vocabulary, and prepare for the grid-world lab.</a:t>
            </a:r>
            <a:endParaRPr lang="en-US" sz="1600" b="0" u="none" strike="noStrike">
              <a:solidFill>
                <a:srgbClr val="FFFFFF"/>
              </a:solidFill>
              <a:effectLst/>
              <a:uFillTx/>
              <a:latin typeface="Arial"/>
            </a:endParaRPr>
          </a:p>
        </p:txBody>
      </p:sp>
      <p:sp>
        <p:nvSpPr>
          <p:cNvPr id="19" name="Text 6"/>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CSU Channel Islands</a:t>
            </a:r>
            <a:endParaRPr lang="en-US" sz="850" b="0" u="none" strike="noStrike">
              <a:solidFill>
                <a:srgbClr val="FFFFFF"/>
              </a:solidFill>
              <a:effectLst/>
              <a:uFillTx/>
              <a:latin typeface="Arial"/>
            </a:endParaRPr>
          </a:p>
        </p:txBody>
      </p:sp>
      <p:sp>
        <p:nvSpPr>
          <p:cNvPr id="20" name="Text 7"/>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01</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1" name="Shape 26"/>
          <p:cNvSpPr/>
          <p:nvPr/>
        </p:nvSpPr>
        <p:spPr>
          <a:xfrm>
            <a:off x="0" y="360"/>
            <a:ext cx="12191040" cy="103536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 name="Shape 27"/>
          <p:cNvSpPr/>
          <p:nvPr/>
        </p:nvSpPr>
        <p:spPr>
          <a:xfrm>
            <a:off x="0" y="1036080"/>
            <a:ext cx="12191040" cy="84600"/>
          </a:xfrm>
          <a:prstGeom prst="rect">
            <a:avLst/>
          </a:prstGeom>
          <a:solidFill>
            <a:srgbClr val="F4A020"/>
          </a:solidFill>
          <a:ln w="12600">
            <a:solidFill>
              <a:srgbClr val="F4A020"/>
            </a:solidFill>
            <a:round/>
          </a:ln>
        </p:spPr>
        <p:style>
          <a:lnRef idx="0"/>
          <a:fillRef idx="0"/>
          <a:effectRef idx="0"/>
          <a:fontRef idx="minor"/>
        </p:style>
        <p:txBody>
          <a:bodyPr lIns="90000" tIns="40320" rIns="90000" bIns="40320" anchor="t">
            <a:noAutofit/>
          </a:bodyPr>
          <a:p>
            <a:endParaRPr lang="en-US" sz="1800" b="0" u="none" strike="noStrike">
              <a:solidFill>
                <a:srgbClr val="000000"/>
              </a:solidFill>
              <a:effectLst/>
              <a:uFillTx/>
              <a:latin typeface="Arial"/>
            </a:endParaRPr>
          </a:p>
        </p:txBody>
      </p:sp>
      <p:sp>
        <p:nvSpPr>
          <p:cNvPr id="23" name="Text 28"/>
          <p:cNvSpPr/>
          <p:nvPr/>
        </p:nvSpPr>
        <p:spPr>
          <a:xfrm>
            <a:off x="426240" y="0"/>
            <a:ext cx="11337480" cy="1035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1.1 What Is AI?</a:t>
            </a:r>
            <a:endParaRPr lang="en-US" sz="2200" b="0" u="none" strike="noStrike">
              <a:solidFill>
                <a:srgbClr val="000000"/>
              </a:solidFill>
              <a:effectLst/>
              <a:uFillTx/>
              <a:latin typeface="Arial"/>
            </a:endParaRPr>
          </a:p>
        </p:txBody>
      </p:sp>
      <p:sp>
        <p:nvSpPr>
          <p:cNvPr id="24" name="Text 31"/>
          <p:cNvSpPr/>
          <p:nvPr/>
        </p:nvSpPr>
        <p:spPr>
          <a:xfrm>
            <a:off x="487440" y="1279800"/>
            <a:ext cx="11215800" cy="53024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2000" b="0" u="none" strike="noStrike">
                <a:solidFill>
                  <a:srgbClr val="0F2B5B"/>
                </a:solidFill>
                <a:effectLst/>
                <a:uFillTx/>
                <a:latin typeface="Calibri"/>
                <a:ea typeface="Calibri"/>
              </a:rPr>
              <a:t>AI is concerned with understanding AND building intelligent entities — machines that compute how to act effectively and safely</a:t>
            </a:r>
            <a:endParaRPr lang="en-US" sz="20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2000" b="0" u="none" strike="noStrike">
                <a:solidFill>
                  <a:srgbClr val="0F2B5B"/>
                </a:solidFill>
                <a:effectLst/>
                <a:uFillTx/>
                <a:latin typeface="Calibri"/>
                <a:ea typeface="Calibri"/>
              </a:rPr>
              <a:t>Already generating &gt; $1 trillion/year in revenue (and growing rapidly)</a:t>
            </a:r>
            <a:endParaRPr lang="en-US" sz="20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2000" b="1" u="none" strike="noStrike">
                <a:solidFill>
                  <a:srgbClr val="0F2B5B"/>
                </a:solidFill>
                <a:effectLst/>
                <a:uFillTx/>
                <a:latin typeface="Calibri"/>
                <a:ea typeface="Calibri"/>
              </a:rPr>
              <a:t>Two central dimensions create four approaches:</a:t>
            </a:r>
            <a:endParaRPr lang="en-US" sz="20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2000" b="0" u="none" strike="noStrike">
                <a:solidFill>
                  <a:srgbClr val="64748B"/>
                </a:solidFill>
                <a:effectLst/>
                <a:uFillTx/>
                <a:latin typeface="Calibri"/>
                <a:ea typeface="Calibri"/>
              </a:rPr>
              <a:t>Human vs. Rational (fidelity to humans vs. formal optimality)</a:t>
            </a:r>
            <a:endParaRPr lang="en-US" sz="20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2000" b="0" u="none" strike="noStrike">
                <a:solidFill>
                  <a:srgbClr val="64748B"/>
                </a:solidFill>
                <a:effectLst/>
                <a:uFillTx/>
                <a:latin typeface="Calibri"/>
                <a:ea typeface="Calibri"/>
              </a:rPr>
              <a:t>Thought vs. Behavior (internal processes vs. external action)</a:t>
            </a:r>
            <a:endParaRPr lang="en-US" sz="20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2000" b="1" u="none" strike="noStrike">
                <a:solidFill>
                  <a:srgbClr val="0F2B5B"/>
                </a:solidFill>
                <a:effectLst/>
                <a:uFillTx/>
                <a:latin typeface="Calibri"/>
                <a:ea typeface="Calibri"/>
              </a:rPr>
              <a:t>The prevailing view: the Standard Model</a:t>
            </a:r>
            <a:endParaRPr lang="en-US" sz="20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2000" b="0" u="none" strike="noStrike">
                <a:solidFill>
                  <a:srgbClr val="64748B"/>
                </a:solidFill>
                <a:effectLst/>
                <a:uFillTx/>
                <a:latin typeface="Calibri"/>
                <a:ea typeface="Calibri"/>
              </a:rPr>
              <a:t>AI focused on rational action aka “doing the right thing”</a:t>
            </a:r>
            <a:endParaRPr lang="en-US" sz="20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2000" b="0" u="none" strike="noStrike">
                <a:solidFill>
                  <a:srgbClr val="64748B"/>
                </a:solidFill>
                <a:effectLst/>
                <a:uFillTx/>
                <a:latin typeface="Calibri"/>
                <a:ea typeface="Calibri"/>
              </a:rPr>
              <a:t>'Right thing' is defined by the objective provided to the agent</a:t>
            </a:r>
            <a:endParaRPr lang="en-US" sz="20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2000" b="0" u="none" strike="noStrike">
                <a:solidFill>
                  <a:srgbClr val="64748B"/>
                </a:solidFill>
                <a:effectLst/>
                <a:uFillTx/>
                <a:latin typeface="Calibri"/>
                <a:ea typeface="Calibri"/>
              </a:rPr>
              <a:t>Shared with control theory, operations research, economics, statistics</a:t>
            </a:r>
            <a:endParaRPr lang="en-US" sz="20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2000" b="0" u="none" strike="noStrike">
                <a:solidFill>
                  <a:srgbClr val="0F2B5B"/>
                </a:solidFill>
                <a:effectLst/>
                <a:uFillTx/>
                <a:latin typeface="Calibri"/>
                <a:ea typeface="Calibri"/>
              </a:rPr>
              <a:t>Key refinement: perfect rationality is computationally intractable — limited rationality and value alignment are critical concerns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
          <p:cNvSpPr/>
          <p:nvPr/>
        </p:nvSpPr>
        <p:spPr>
          <a:xfrm>
            <a:off x="685800" y="685800"/>
            <a:ext cx="10467720" cy="26496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1800" b="0" u="none" strike="noStrike">
                <a:solidFill>
                  <a:srgbClr val="000000"/>
                </a:solidFill>
                <a:effectLst/>
                <a:uFillTx/>
                <a:latin typeface="Arial"/>
              </a:rPr>
              <a:t>What is AI?</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Is concerted with not just understanding but also building intelligent entities – machines that can </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compute how to act effectively and safely in a wide variety of novel situations.</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AI Expert – Kai-Fu Lee predicts that the impact will be “more than anything in the history of mankind”</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AI is a universal field – Playing Chess, proving mathematical theorems, writing poetry, driving a car, or</a:t>
            </a:r>
            <a:endParaRPr lang="en-US" sz="1800" b="0" u="none" strike="noStrike">
              <a:solidFill>
                <a:srgbClr val="000000"/>
              </a:solidFill>
              <a:effectLst/>
              <a:uFillTx/>
              <a:latin typeface="Arial"/>
            </a:endParaRPr>
          </a:p>
          <a:p>
            <a:pPr>
              <a:lnSpc>
                <a:spcPct val="100000"/>
              </a:lnSpc>
            </a:pPr>
            <a:r>
              <a:rPr lang="en-US" sz="1800" b="0" u="none" strike="noStrike">
                <a:solidFill>
                  <a:srgbClr val="000000"/>
                </a:solidFill>
                <a:effectLst/>
                <a:uFillTx/>
                <a:latin typeface="Arial"/>
              </a:rPr>
              <a:t>Diagnosing deseases.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Syllabus alignment for Week 1</a:t>
            </a:r>
            <a:endParaRPr lang="en-US" sz="3000" b="0" u="none" strike="noStrike">
              <a:solidFill>
                <a:srgbClr val="000000"/>
              </a:solidFill>
              <a:effectLst/>
              <a:uFillTx/>
              <a:latin typeface="Arial"/>
            </a:endParaRPr>
          </a:p>
        </p:txBody>
      </p:sp>
      <p:sp>
        <p:nvSpPr>
          <p:cNvPr id="27"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8"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AI Agents and Foundations | Aug 24-28</a:t>
            </a:r>
            <a:endParaRPr lang="en-US" sz="1150" b="0" u="none" strike="noStrike">
              <a:solidFill>
                <a:srgbClr val="000000"/>
              </a:solidFill>
              <a:effectLst/>
              <a:uFillTx/>
              <a:latin typeface="Arial"/>
            </a:endParaRPr>
          </a:p>
        </p:txBody>
      </p:sp>
      <p:sp>
        <p:nvSpPr>
          <p:cNvPr id="29" name="Shape 3"/>
          <p:cNvSpPr/>
          <p:nvPr/>
        </p:nvSpPr>
        <p:spPr>
          <a:xfrm>
            <a:off x="685800" y="1325880"/>
            <a:ext cx="3245400" cy="1096560"/>
          </a:xfrm>
          <a:prstGeom prst="roundRect">
            <a:avLst>
              <a:gd name="adj" fmla="val 10000"/>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 name="Text 4"/>
          <p:cNvSpPr/>
          <p:nvPr/>
        </p:nvSpPr>
        <p:spPr>
          <a:xfrm>
            <a:off x="868680" y="148140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Core concept</a:t>
            </a:r>
            <a:endParaRPr lang="en-US" sz="1600" b="0" u="none" strike="noStrike">
              <a:solidFill>
                <a:srgbClr val="000000"/>
              </a:solidFill>
              <a:effectLst/>
              <a:uFillTx/>
              <a:latin typeface="Arial"/>
            </a:endParaRPr>
          </a:p>
        </p:txBody>
      </p:sp>
      <p:sp>
        <p:nvSpPr>
          <p:cNvPr id="31" name="Text 5"/>
          <p:cNvSpPr/>
          <p:nvPr/>
        </p:nvSpPr>
        <p:spPr>
          <a:xfrm>
            <a:off x="887040" y="1856160"/>
            <a:ext cx="2842920" cy="4564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AI agents and foundations</a:t>
            </a:r>
            <a:endParaRPr lang="en-US" sz="1270" b="0" u="none" strike="noStrike">
              <a:solidFill>
                <a:srgbClr val="000000"/>
              </a:solidFill>
              <a:effectLst/>
              <a:uFillTx/>
              <a:latin typeface="Arial"/>
            </a:endParaRPr>
          </a:p>
        </p:txBody>
      </p:sp>
      <p:sp>
        <p:nvSpPr>
          <p:cNvPr id="32" name="Shape 6"/>
          <p:cNvSpPr/>
          <p:nvPr/>
        </p:nvSpPr>
        <p:spPr>
          <a:xfrm>
            <a:off x="4480560" y="1325880"/>
            <a:ext cx="3245400" cy="1096560"/>
          </a:xfrm>
          <a:prstGeom prst="roundRect">
            <a:avLst>
              <a:gd name="adj" fmla="val 10000"/>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 name="Text 7"/>
          <p:cNvSpPr/>
          <p:nvPr/>
        </p:nvSpPr>
        <p:spPr>
          <a:xfrm>
            <a:off x="4663440" y="148140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Reading focus</a:t>
            </a:r>
            <a:endParaRPr lang="en-US" sz="1600" b="0" u="none" strike="noStrike">
              <a:solidFill>
                <a:srgbClr val="000000"/>
              </a:solidFill>
              <a:effectLst/>
              <a:uFillTx/>
              <a:latin typeface="Arial"/>
            </a:endParaRPr>
          </a:p>
        </p:txBody>
      </p:sp>
      <p:sp>
        <p:nvSpPr>
          <p:cNvPr id="34" name="Text 8"/>
          <p:cNvSpPr/>
          <p:nvPr/>
        </p:nvSpPr>
        <p:spPr>
          <a:xfrm>
            <a:off x="4681800" y="1856160"/>
            <a:ext cx="2842920" cy="4564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AIMA Chapter 1 and Chapter 2; instructor notebook</a:t>
            </a:r>
            <a:endParaRPr lang="en-US" sz="1270" b="0" u="none" strike="noStrike">
              <a:solidFill>
                <a:srgbClr val="000000"/>
              </a:solidFill>
              <a:effectLst/>
              <a:uFillTx/>
              <a:latin typeface="Arial"/>
            </a:endParaRPr>
          </a:p>
        </p:txBody>
      </p:sp>
      <p:sp>
        <p:nvSpPr>
          <p:cNvPr id="35" name="Shape 9"/>
          <p:cNvSpPr/>
          <p:nvPr/>
        </p:nvSpPr>
        <p:spPr>
          <a:xfrm>
            <a:off x="8275320" y="1325880"/>
            <a:ext cx="3245400" cy="1096560"/>
          </a:xfrm>
          <a:prstGeom prst="roundRect">
            <a:avLst>
              <a:gd name="adj" fmla="val 10000"/>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 name="Text 10"/>
          <p:cNvSpPr/>
          <p:nvPr/>
        </p:nvSpPr>
        <p:spPr>
          <a:xfrm>
            <a:off x="8458200" y="148140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Lab focus</a:t>
            </a:r>
            <a:endParaRPr lang="en-US" sz="1600" b="0" u="none" strike="noStrike">
              <a:solidFill>
                <a:srgbClr val="000000"/>
              </a:solidFill>
              <a:effectLst/>
              <a:uFillTx/>
              <a:latin typeface="Arial"/>
            </a:endParaRPr>
          </a:p>
        </p:txBody>
      </p:sp>
      <p:sp>
        <p:nvSpPr>
          <p:cNvPr id="37" name="Text 11"/>
          <p:cNvSpPr/>
          <p:nvPr/>
        </p:nvSpPr>
        <p:spPr>
          <a:xfrm>
            <a:off x="8476560" y="1856160"/>
            <a:ext cx="2842920" cy="4564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Simple grid-world / vacuum agent simulation in Python</a:t>
            </a:r>
            <a:endParaRPr lang="en-US" sz="1270" b="0" u="none" strike="noStrike">
              <a:solidFill>
                <a:srgbClr val="000000"/>
              </a:solidFill>
              <a:effectLst/>
              <a:uFillTx/>
              <a:latin typeface="Arial"/>
            </a:endParaRPr>
          </a:p>
        </p:txBody>
      </p:sp>
      <p:sp>
        <p:nvSpPr>
          <p:cNvPr id="38" name="Text 12"/>
          <p:cNvSpPr/>
          <p:nvPr/>
        </p:nvSpPr>
        <p:spPr>
          <a:xfrm>
            <a:off x="822960" y="3063240"/>
            <a:ext cx="2742480" cy="25524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2000" b="1" u="none" strike="noStrike">
                <a:solidFill>
                  <a:srgbClr val="002B49"/>
                </a:solidFill>
                <a:effectLst/>
                <a:uFillTx/>
                <a:latin typeface="Aptos"/>
              </a:rPr>
              <a:t>Course pattern</a:t>
            </a:r>
            <a:endParaRPr lang="en-US" sz="2000" b="0" u="none" strike="noStrike">
              <a:solidFill>
                <a:srgbClr val="000000"/>
              </a:solidFill>
              <a:effectLst/>
              <a:uFillTx/>
              <a:latin typeface="Arial"/>
            </a:endParaRPr>
          </a:p>
        </p:txBody>
      </p:sp>
      <p:sp>
        <p:nvSpPr>
          <p:cNvPr id="39" name="Text 13"/>
          <p:cNvSpPr/>
          <p:nvPr/>
        </p:nvSpPr>
        <p:spPr>
          <a:xfrm>
            <a:off x="1005840" y="3520440"/>
            <a:ext cx="9966240" cy="1416600"/>
          </a:xfrm>
          <a:prstGeom prst="rect">
            <a:avLst/>
          </a:prstGeom>
          <a:noFill/>
          <a:ln w="0">
            <a:noFill/>
          </a:ln>
        </p:spPr>
        <p:style>
          <a:lnRef idx="0"/>
          <a:fillRef idx="0"/>
          <a:effectRef idx="0"/>
          <a:fontRef idx="minor"/>
        </p:style>
        <p:txBody>
          <a:bodyPr lIns="360" tIns="360" rIns="360" bIns="360" anchor="ctr">
            <a:normAutofit fontScale="92500" lnSpcReduction="9999"/>
          </a:bodyPr>
          <a:p>
            <a:pPr>
              <a:lnSpc>
                <a:spcPct val="100000"/>
              </a:lnSpc>
            </a:pPr>
            <a:r>
              <a:rPr lang="en-US" sz="1550" b="0" u="none" strike="noStrike">
                <a:solidFill>
                  <a:srgbClr val="111827"/>
                </a:solidFill>
                <a:effectLst/>
                <a:uFillTx/>
                <a:latin typeface="Aptos"/>
              </a:rPr>
              <a:t>Short lecture segments introduce the vocabulary.</a:t>
            </a:r>
            <a:endParaRPr lang="en-US" sz="155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50" b="0" u="none" strike="noStrike">
                <a:solidFill>
                  <a:srgbClr val="111827"/>
                </a:solidFill>
                <a:effectLst/>
                <a:uFillTx/>
                <a:latin typeface="Aptos"/>
              </a:rPr>
              <a:t> </a:t>
            </a:r>
            <a:endParaRPr lang="en-US" sz="155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50" b="0" u="none" strike="noStrike">
                <a:solidFill>
                  <a:srgbClr val="111827"/>
                </a:solidFill>
                <a:effectLst/>
                <a:uFillTx/>
                <a:latin typeface="Aptos"/>
              </a:rPr>
              <a:t>Guided demos turn vocabulary into executable code.</a:t>
            </a:r>
            <a:endParaRPr lang="en-US" sz="155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50" b="0" u="none" strike="noStrike">
                <a:solidFill>
                  <a:srgbClr val="111827"/>
                </a:solidFill>
                <a:effectLst/>
                <a:uFillTx/>
                <a:latin typeface="Aptos"/>
              </a:rPr>
              <a:t> </a:t>
            </a:r>
            <a:endParaRPr lang="en-US" sz="155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50" b="0" u="none" strike="noStrike">
                <a:solidFill>
                  <a:srgbClr val="111827"/>
                </a:solidFill>
                <a:effectLst/>
                <a:uFillTx/>
                <a:latin typeface="Aptos"/>
              </a:rPr>
              <a:t>Labs emphasize implementation, testing, and explanation.</a:t>
            </a:r>
            <a:endParaRPr lang="en-US" sz="155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50" b="0" u="none" strike="noStrike">
                <a:solidFill>
                  <a:srgbClr val="111827"/>
                </a:solidFill>
                <a:effectLst/>
                <a:uFillTx/>
                <a:latin typeface="Aptos"/>
              </a:rPr>
              <a:t> </a:t>
            </a:r>
            <a:endParaRPr lang="en-US" sz="155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50" b="0" u="none" strike="noStrike">
                <a:solidFill>
                  <a:srgbClr val="111827"/>
                </a:solidFill>
                <a:effectLst/>
                <a:uFillTx/>
                <a:latin typeface="Aptos"/>
              </a:rPr>
              <a:t>CI Learn is the source for announcements, notebooks, and submissions.</a:t>
            </a:r>
            <a:endParaRPr lang="en-US" sz="1550" b="0" u="none" strike="noStrike">
              <a:solidFill>
                <a:srgbClr val="000000"/>
              </a:solidFill>
              <a:effectLst/>
              <a:uFillTx/>
              <a:latin typeface="Arial"/>
            </a:endParaRPr>
          </a:p>
        </p:txBody>
      </p:sp>
      <p:sp>
        <p:nvSpPr>
          <p:cNvPr id="40" name="Text 14"/>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41" name="Text 15"/>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03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Learning outcomes for today</a:t>
            </a:r>
            <a:endParaRPr lang="en-US" sz="3000" b="0" u="none" strike="noStrike">
              <a:solidFill>
                <a:srgbClr val="000000"/>
              </a:solidFill>
              <a:effectLst/>
              <a:uFillTx/>
              <a:latin typeface="Arial"/>
            </a:endParaRPr>
          </a:p>
        </p:txBody>
      </p:sp>
      <p:sp>
        <p:nvSpPr>
          <p:cNvPr id="43"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4"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Students should leave ready to explain and implement a small agent.</a:t>
            </a:r>
            <a:endParaRPr lang="en-US" sz="1150" b="0" u="none" strike="noStrike">
              <a:solidFill>
                <a:srgbClr val="000000"/>
              </a:solidFill>
              <a:effectLst/>
              <a:uFillTx/>
              <a:latin typeface="Arial"/>
            </a:endParaRPr>
          </a:p>
        </p:txBody>
      </p:sp>
      <p:sp>
        <p:nvSpPr>
          <p:cNvPr id="45" name="Shape 3"/>
          <p:cNvSpPr/>
          <p:nvPr/>
        </p:nvSpPr>
        <p:spPr>
          <a:xfrm>
            <a:off x="822960" y="1234440"/>
            <a:ext cx="566280" cy="566280"/>
          </a:xfrm>
          <a:prstGeom prst="ellipse">
            <a:avLst/>
          </a:prstGeom>
          <a:solidFill>
            <a:srgbClr val="C99700"/>
          </a:solidFill>
          <a:ln w="1270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 name="Text 4"/>
          <p:cNvSpPr/>
          <p:nvPr/>
        </p:nvSpPr>
        <p:spPr>
          <a:xfrm>
            <a:off x="822960" y="137160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1</a:t>
            </a:r>
            <a:endParaRPr lang="en-US" sz="1400" b="0" u="none" strike="noStrike">
              <a:solidFill>
                <a:srgbClr val="000000"/>
              </a:solidFill>
              <a:effectLst/>
              <a:uFillTx/>
              <a:latin typeface="Arial"/>
            </a:endParaRPr>
          </a:p>
        </p:txBody>
      </p:sp>
      <p:sp>
        <p:nvSpPr>
          <p:cNvPr id="47" name="Text 5"/>
          <p:cNvSpPr/>
          <p:nvPr/>
        </p:nvSpPr>
        <p:spPr>
          <a:xfrm>
            <a:off x="1572840" y="1298520"/>
            <a:ext cx="2742480" cy="2278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700" b="1" u="none" strike="noStrike">
                <a:solidFill>
                  <a:srgbClr val="002B49"/>
                </a:solidFill>
                <a:effectLst/>
                <a:uFillTx/>
                <a:latin typeface="Aptos"/>
              </a:rPr>
              <a:t>Define intelligence</a:t>
            </a:r>
            <a:endParaRPr lang="en-US" sz="1700" b="0" u="none" strike="noStrike">
              <a:solidFill>
                <a:srgbClr val="000000"/>
              </a:solidFill>
              <a:effectLst/>
              <a:uFillTx/>
              <a:latin typeface="Arial"/>
            </a:endParaRPr>
          </a:p>
        </p:txBody>
      </p:sp>
      <p:sp>
        <p:nvSpPr>
          <p:cNvPr id="48" name="Text 6"/>
          <p:cNvSpPr/>
          <p:nvPr/>
        </p:nvSpPr>
        <p:spPr>
          <a:xfrm>
            <a:off x="4617720" y="1307520"/>
            <a:ext cx="6125760" cy="30096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111827"/>
                </a:solidFill>
                <a:effectLst/>
                <a:uFillTx/>
                <a:latin typeface="Aptos"/>
              </a:rPr>
              <a:t>Explain human-centered vs. rational definitions of AI.</a:t>
            </a:r>
            <a:endParaRPr lang="en-US" sz="1400" b="0" u="none" strike="noStrike">
              <a:solidFill>
                <a:srgbClr val="000000"/>
              </a:solidFill>
              <a:effectLst/>
              <a:uFillTx/>
              <a:latin typeface="Arial"/>
            </a:endParaRPr>
          </a:p>
        </p:txBody>
      </p:sp>
      <p:sp>
        <p:nvSpPr>
          <p:cNvPr id="49" name="Shape 7"/>
          <p:cNvSpPr/>
          <p:nvPr/>
        </p:nvSpPr>
        <p:spPr>
          <a:xfrm>
            <a:off x="822960" y="2075760"/>
            <a:ext cx="566280" cy="566280"/>
          </a:xfrm>
          <a:prstGeom prst="ellipse">
            <a:avLst/>
          </a:prstGeom>
          <a:solidFill>
            <a:srgbClr val="0E7C86"/>
          </a:solidFill>
          <a:ln w="1270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0" name="Text 8"/>
          <p:cNvSpPr/>
          <p:nvPr/>
        </p:nvSpPr>
        <p:spPr>
          <a:xfrm>
            <a:off x="822960" y="221292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2</a:t>
            </a:r>
            <a:endParaRPr lang="en-US" sz="1400" b="0" u="none" strike="noStrike">
              <a:solidFill>
                <a:srgbClr val="000000"/>
              </a:solidFill>
              <a:effectLst/>
              <a:uFillTx/>
              <a:latin typeface="Arial"/>
            </a:endParaRPr>
          </a:p>
        </p:txBody>
      </p:sp>
      <p:sp>
        <p:nvSpPr>
          <p:cNvPr id="51" name="Text 9"/>
          <p:cNvSpPr/>
          <p:nvPr/>
        </p:nvSpPr>
        <p:spPr>
          <a:xfrm>
            <a:off x="1572840" y="2139840"/>
            <a:ext cx="2742480" cy="2278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700" b="1" u="none" strike="noStrike">
                <a:solidFill>
                  <a:srgbClr val="002B49"/>
                </a:solidFill>
                <a:effectLst/>
                <a:uFillTx/>
                <a:latin typeface="Aptos"/>
              </a:rPr>
              <a:t>Model an agent</a:t>
            </a:r>
            <a:endParaRPr lang="en-US" sz="1700" b="0" u="none" strike="noStrike">
              <a:solidFill>
                <a:srgbClr val="000000"/>
              </a:solidFill>
              <a:effectLst/>
              <a:uFillTx/>
              <a:latin typeface="Arial"/>
            </a:endParaRPr>
          </a:p>
        </p:txBody>
      </p:sp>
      <p:sp>
        <p:nvSpPr>
          <p:cNvPr id="52" name="Text 10"/>
          <p:cNvSpPr/>
          <p:nvPr/>
        </p:nvSpPr>
        <p:spPr>
          <a:xfrm>
            <a:off x="4617720" y="2148840"/>
            <a:ext cx="6125760" cy="30096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111827"/>
                </a:solidFill>
                <a:effectLst/>
                <a:uFillTx/>
                <a:latin typeface="Aptos"/>
              </a:rPr>
              <a:t>Describe percepts, sensors, actions, actuators, and environment.</a:t>
            </a:r>
            <a:endParaRPr lang="en-US" sz="1400" b="0" u="none" strike="noStrike">
              <a:solidFill>
                <a:srgbClr val="000000"/>
              </a:solidFill>
              <a:effectLst/>
              <a:uFillTx/>
              <a:latin typeface="Arial"/>
            </a:endParaRPr>
          </a:p>
        </p:txBody>
      </p:sp>
      <p:sp>
        <p:nvSpPr>
          <p:cNvPr id="53" name="Shape 11"/>
          <p:cNvSpPr/>
          <p:nvPr/>
        </p:nvSpPr>
        <p:spPr>
          <a:xfrm>
            <a:off x="822960" y="2917080"/>
            <a:ext cx="566280" cy="566280"/>
          </a:xfrm>
          <a:prstGeom prst="ellipse">
            <a:avLst/>
          </a:prstGeom>
          <a:solidFill>
            <a:srgbClr val="3273DC"/>
          </a:solidFill>
          <a:ln w="1270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 name="Text 12"/>
          <p:cNvSpPr/>
          <p:nvPr/>
        </p:nvSpPr>
        <p:spPr>
          <a:xfrm>
            <a:off x="822960" y="305424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3</a:t>
            </a:r>
            <a:endParaRPr lang="en-US" sz="1400" b="0" u="none" strike="noStrike">
              <a:solidFill>
                <a:srgbClr val="000000"/>
              </a:solidFill>
              <a:effectLst/>
              <a:uFillTx/>
              <a:latin typeface="Arial"/>
            </a:endParaRPr>
          </a:p>
        </p:txBody>
      </p:sp>
      <p:sp>
        <p:nvSpPr>
          <p:cNvPr id="55" name="Text 13"/>
          <p:cNvSpPr/>
          <p:nvPr/>
        </p:nvSpPr>
        <p:spPr>
          <a:xfrm>
            <a:off x="1572840" y="2980800"/>
            <a:ext cx="2742480" cy="2278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700" b="1" u="none" strike="noStrike">
                <a:solidFill>
                  <a:srgbClr val="002B49"/>
                </a:solidFill>
                <a:effectLst/>
                <a:uFillTx/>
                <a:latin typeface="Aptos"/>
              </a:rPr>
              <a:t>Evaluate behavior</a:t>
            </a:r>
            <a:endParaRPr lang="en-US" sz="1700" b="0" u="none" strike="noStrike">
              <a:solidFill>
                <a:srgbClr val="000000"/>
              </a:solidFill>
              <a:effectLst/>
              <a:uFillTx/>
              <a:latin typeface="Arial"/>
            </a:endParaRPr>
          </a:p>
        </p:txBody>
      </p:sp>
      <p:sp>
        <p:nvSpPr>
          <p:cNvPr id="56" name="Text 14"/>
          <p:cNvSpPr/>
          <p:nvPr/>
        </p:nvSpPr>
        <p:spPr>
          <a:xfrm>
            <a:off x="4617720" y="2990160"/>
            <a:ext cx="6125760" cy="30096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111827"/>
                </a:solidFill>
                <a:effectLst/>
                <a:uFillTx/>
                <a:latin typeface="Aptos"/>
              </a:rPr>
              <a:t>Use performance measures and expected outcomes.</a:t>
            </a:r>
            <a:endParaRPr lang="en-US" sz="1400" b="0" u="none" strike="noStrike">
              <a:solidFill>
                <a:srgbClr val="000000"/>
              </a:solidFill>
              <a:effectLst/>
              <a:uFillTx/>
              <a:latin typeface="Arial"/>
            </a:endParaRPr>
          </a:p>
        </p:txBody>
      </p:sp>
      <p:sp>
        <p:nvSpPr>
          <p:cNvPr id="57" name="Shape 15"/>
          <p:cNvSpPr/>
          <p:nvPr/>
        </p:nvSpPr>
        <p:spPr>
          <a:xfrm>
            <a:off x="822960" y="3758040"/>
            <a:ext cx="566280" cy="566280"/>
          </a:xfrm>
          <a:prstGeom prst="ellipse">
            <a:avLst/>
          </a:prstGeom>
          <a:solidFill>
            <a:srgbClr val="6B46C1"/>
          </a:solidFill>
          <a:ln w="1270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 name="Text 16"/>
          <p:cNvSpPr/>
          <p:nvPr/>
        </p:nvSpPr>
        <p:spPr>
          <a:xfrm>
            <a:off x="822960" y="389520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4</a:t>
            </a:r>
            <a:endParaRPr lang="en-US" sz="1400" b="0" u="none" strike="noStrike">
              <a:solidFill>
                <a:srgbClr val="000000"/>
              </a:solidFill>
              <a:effectLst/>
              <a:uFillTx/>
              <a:latin typeface="Arial"/>
            </a:endParaRPr>
          </a:p>
        </p:txBody>
      </p:sp>
      <p:sp>
        <p:nvSpPr>
          <p:cNvPr id="59" name="Text 17"/>
          <p:cNvSpPr/>
          <p:nvPr/>
        </p:nvSpPr>
        <p:spPr>
          <a:xfrm>
            <a:off x="1572840" y="3822120"/>
            <a:ext cx="2742480" cy="2278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700" b="1" u="none" strike="noStrike">
                <a:solidFill>
                  <a:srgbClr val="002B49"/>
                </a:solidFill>
                <a:effectLst/>
                <a:uFillTx/>
                <a:latin typeface="Aptos"/>
              </a:rPr>
              <a:t>Specify PEAS</a:t>
            </a:r>
            <a:endParaRPr lang="en-US" sz="1700" b="0" u="none" strike="noStrike">
              <a:solidFill>
                <a:srgbClr val="000000"/>
              </a:solidFill>
              <a:effectLst/>
              <a:uFillTx/>
              <a:latin typeface="Arial"/>
            </a:endParaRPr>
          </a:p>
        </p:txBody>
      </p:sp>
      <p:sp>
        <p:nvSpPr>
          <p:cNvPr id="60" name="Text 18"/>
          <p:cNvSpPr/>
          <p:nvPr/>
        </p:nvSpPr>
        <p:spPr>
          <a:xfrm>
            <a:off x="4617720" y="3831480"/>
            <a:ext cx="6125760" cy="30096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111827"/>
                </a:solidFill>
                <a:effectLst/>
                <a:uFillTx/>
                <a:latin typeface="Aptos"/>
              </a:rPr>
              <a:t>Write a complete task-environment description.</a:t>
            </a:r>
            <a:endParaRPr lang="en-US" sz="1400" b="0" u="none" strike="noStrike">
              <a:solidFill>
                <a:srgbClr val="000000"/>
              </a:solidFill>
              <a:effectLst/>
              <a:uFillTx/>
              <a:latin typeface="Arial"/>
            </a:endParaRPr>
          </a:p>
        </p:txBody>
      </p:sp>
      <p:sp>
        <p:nvSpPr>
          <p:cNvPr id="61" name="Shape 19"/>
          <p:cNvSpPr/>
          <p:nvPr/>
        </p:nvSpPr>
        <p:spPr>
          <a:xfrm>
            <a:off x="822960" y="4599360"/>
            <a:ext cx="566280" cy="566280"/>
          </a:xfrm>
          <a:prstGeom prst="ellipse">
            <a:avLst/>
          </a:prstGeom>
          <a:solidFill>
            <a:srgbClr val="2F855A"/>
          </a:solidFill>
          <a:ln w="1270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2" name="Text 20"/>
          <p:cNvSpPr/>
          <p:nvPr/>
        </p:nvSpPr>
        <p:spPr>
          <a:xfrm>
            <a:off x="822960" y="473652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5</a:t>
            </a:r>
            <a:endParaRPr lang="en-US" sz="1400" b="0" u="none" strike="noStrike">
              <a:solidFill>
                <a:srgbClr val="000000"/>
              </a:solidFill>
              <a:effectLst/>
              <a:uFillTx/>
              <a:latin typeface="Arial"/>
            </a:endParaRPr>
          </a:p>
        </p:txBody>
      </p:sp>
      <p:sp>
        <p:nvSpPr>
          <p:cNvPr id="63" name="Text 21"/>
          <p:cNvSpPr/>
          <p:nvPr/>
        </p:nvSpPr>
        <p:spPr>
          <a:xfrm>
            <a:off x="1572840" y="4663440"/>
            <a:ext cx="2742480" cy="2278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700" b="1" u="none" strike="noStrike">
                <a:solidFill>
                  <a:srgbClr val="002B49"/>
                </a:solidFill>
                <a:effectLst/>
                <a:uFillTx/>
                <a:latin typeface="Aptos"/>
              </a:rPr>
              <a:t>Run a simulation</a:t>
            </a:r>
            <a:endParaRPr lang="en-US" sz="1700" b="0" u="none" strike="noStrike">
              <a:solidFill>
                <a:srgbClr val="000000"/>
              </a:solidFill>
              <a:effectLst/>
              <a:uFillTx/>
              <a:latin typeface="Arial"/>
            </a:endParaRPr>
          </a:p>
        </p:txBody>
      </p:sp>
      <p:sp>
        <p:nvSpPr>
          <p:cNvPr id="64" name="Text 22"/>
          <p:cNvSpPr/>
          <p:nvPr/>
        </p:nvSpPr>
        <p:spPr>
          <a:xfrm>
            <a:off x="4617720" y="4672440"/>
            <a:ext cx="6125760" cy="30096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111827"/>
                </a:solidFill>
                <a:effectLst/>
                <a:uFillTx/>
                <a:latin typeface="Aptos"/>
              </a:rPr>
              <a:t>Implement a small grid-world loop in Python/Jupyter.</a:t>
            </a:r>
            <a:endParaRPr lang="en-US" sz="1400" b="0" u="none" strike="noStrike">
              <a:solidFill>
                <a:srgbClr val="000000"/>
              </a:solidFill>
              <a:effectLst/>
              <a:uFillTx/>
              <a:latin typeface="Arial"/>
            </a:endParaRPr>
          </a:p>
        </p:txBody>
      </p:sp>
      <p:sp>
        <p:nvSpPr>
          <p:cNvPr id="65" name="Text 23"/>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66" name="Text 24"/>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04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Course tooling: get ready to compute</a:t>
            </a:r>
            <a:endParaRPr lang="en-US" sz="3000" b="0" u="none" strike="noStrike">
              <a:solidFill>
                <a:srgbClr val="000000"/>
              </a:solidFill>
              <a:effectLst/>
              <a:uFillTx/>
              <a:latin typeface="Arial"/>
            </a:endParaRPr>
          </a:p>
        </p:txBody>
      </p:sp>
      <p:sp>
        <p:nvSpPr>
          <p:cNvPr id="68"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9"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A minimal stack for the first lab and future assignments.</a:t>
            </a:r>
            <a:endParaRPr lang="en-US" sz="1150" b="0" u="none" strike="noStrike">
              <a:solidFill>
                <a:srgbClr val="000000"/>
              </a:solidFill>
              <a:effectLst/>
              <a:uFillTx/>
              <a:latin typeface="Arial"/>
            </a:endParaRPr>
          </a:p>
        </p:txBody>
      </p:sp>
      <p:sp>
        <p:nvSpPr>
          <p:cNvPr id="70" name="Shape 3"/>
          <p:cNvSpPr/>
          <p:nvPr/>
        </p:nvSpPr>
        <p:spPr>
          <a:xfrm>
            <a:off x="822960" y="1325880"/>
            <a:ext cx="3062520" cy="867960"/>
          </a:xfrm>
          <a:prstGeom prst="roundRect">
            <a:avLst>
              <a:gd name="adj" fmla="val 12632"/>
            </a:avLst>
          </a:prstGeom>
          <a:solidFill>
            <a:srgbClr val="FFFF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 name="Text 4"/>
          <p:cNvSpPr/>
          <p:nvPr/>
        </p:nvSpPr>
        <p:spPr>
          <a:xfrm>
            <a:off x="1005840" y="1481400"/>
            <a:ext cx="26967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Python 3</a:t>
            </a:r>
            <a:endParaRPr lang="en-US" sz="1600" b="0" u="none" strike="noStrike">
              <a:solidFill>
                <a:srgbClr val="000000"/>
              </a:solidFill>
              <a:effectLst/>
              <a:uFillTx/>
              <a:latin typeface="Arial"/>
            </a:endParaRPr>
          </a:p>
        </p:txBody>
      </p:sp>
      <p:sp>
        <p:nvSpPr>
          <p:cNvPr id="72" name="Text 5"/>
          <p:cNvSpPr/>
          <p:nvPr/>
        </p:nvSpPr>
        <p:spPr>
          <a:xfrm>
            <a:off x="1024200" y="1856160"/>
            <a:ext cx="2660040" cy="2278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language</a:t>
            </a:r>
            <a:endParaRPr lang="en-US" sz="1270" b="0" u="none" strike="noStrike">
              <a:solidFill>
                <a:srgbClr val="000000"/>
              </a:solidFill>
              <a:effectLst/>
              <a:uFillTx/>
              <a:latin typeface="Arial"/>
            </a:endParaRPr>
          </a:p>
        </p:txBody>
      </p:sp>
      <p:sp>
        <p:nvSpPr>
          <p:cNvPr id="73" name="Shape 6"/>
          <p:cNvSpPr/>
          <p:nvPr/>
        </p:nvSpPr>
        <p:spPr>
          <a:xfrm>
            <a:off x="4572000" y="1325880"/>
            <a:ext cx="3062520" cy="867960"/>
          </a:xfrm>
          <a:prstGeom prst="roundRect">
            <a:avLst>
              <a:gd name="adj" fmla="val 12632"/>
            </a:avLst>
          </a:prstGeom>
          <a:solidFill>
            <a:srgbClr val="FFFFFF"/>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 name="Text 7"/>
          <p:cNvSpPr/>
          <p:nvPr/>
        </p:nvSpPr>
        <p:spPr>
          <a:xfrm>
            <a:off x="4754880" y="1481400"/>
            <a:ext cx="26967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Jupyter</a:t>
            </a:r>
            <a:endParaRPr lang="en-US" sz="1600" b="0" u="none" strike="noStrike">
              <a:solidFill>
                <a:srgbClr val="000000"/>
              </a:solidFill>
              <a:effectLst/>
              <a:uFillTx/>
              <a:latin typeface="Arial"/>
            </a:endParaRPr>
          </a:p>
        </p:txBody>
      </p:sp>
      <p:sp>
        <p:nvSpPr>
          <p:cNvPr id="75" name="Text 8"/>
          <p:cNvSpPr/>
          <p:nvPr/>
        </p:nvSpPr>
        <p:spPr>
          <a:xfrm>
            <a:off x="4773240" y="1856160"/>
            <a:ext cx="2660040" cy="2278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notebooks</a:t>
            </a:r>
            <a:endParaRPr lang="en-US" sz="1270" b="0" u="none" strike="noStrike">
              <a:solidFill>
                <a:srgbClr val="000000"/>
              </a:solidFill>
              <a:effectLst/>
              <a:uFillTx/>
              <a:latin typeface="Arial"/>
            </a:endParaRPr>
          </a:p>
        </p:txBody>
      </p:sp>
      <p:sp>
        <p:nvSpPr>
          <p:cNvPr id="76" name="Shape 9"/>
          <p:cNvSpPr/>
          <p:nvPr/>
        </p:nvSpPr>
        <p:spPr>
          <a:xfrm>
            <a:off x="8321040" y="1325880"/>
            <a:ext cx="3062520" cy="867960"/>
          </a:xfrm>
          <a:prstGeom prst="roundRect">
            <a:avLst>
              <a:gd name="adj" fmla="val 12632"/>
            </a:avLst>
          </a:prstGeom>
          <a:solidFill>
            <a:srgbClr val="FFFFF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 name="Text 10"/>
          <p:cNvSpPr/>
          <p:nvPr/>
        </p:nvSpPr>
        <p:spPr>
          <a:xfrm>
            <a:off x="8503920" y="1481400"/>
            <a:ext cx="26967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NumPy</a:t>
            </a:r>
            <a:endParaRPr lang="en-US" sz="1600" b="0" u="none" strike="noStrike">
              <a:solidFill>
                <a:srgbClr val="000000"/>
              </a:solidFill>
              <a:effectLst/>
              <a:uFillTx/>
              <a:latin typeface="Arial"/>
            </a:endParaRPr>
          </a:p>
        </p:txBody>
      </p:sp>
      <p:sp>
        <p:nvSpPr>
          <p:cNvPr id="78" name="Text 11"/>
          <p:cNvSpPr/>
          <p:nvPr/>
        </p:nvSpPr>
        <p:spPr>
          <a:xfrm>
            <a:off x="8522280" y="1856160"/>
            <a:ext cx="2660040" cy="2278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arrays</a:t>
            </a:r>
            <a:endParaRPr lang="en-US" sz="1270" b="0" u="none" strike="noStrike">
              <a:solidFill>
                <a:srgbClr val="000000"/>
              </a:solidFill>
              <a:effectLst/>
              <a:uFillTx/>
              <a:latin typeface="Arial"/>
            </a:endParaRPr>
          </a:p>
        </p:txBody>
      </p:sp>
      <p:sp>
        <p:nvSpPr>
          <p:cNvPr id="79" name="Shape 12"/>
          <p:cNvSpPr/>
          <p:nvPr/>
        </p:nvSpPr>
        <p:spPr>
          <a:xfrm>
            <a:off x="822960" y="2743200"/>
            <a:ext cx="3062520" cy="867960"/>
          </a:xfrm>
          <a:prstGeom prst="roundRect">
            <a:avLst>
              <a:gd name="adj" fmla="val 12632"/>
            </a:avLst>
          </a:prstGeom>
          <a:solidFill>
            <a:srgbClr val="FFFFFF"/>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 name="Text 13"/>
          <p:cNvSpPr/>
          <p:nvPr/>
        </p:nvSpPr>
        <p:spPr>
          <a:xfrm>
            <a:off x="1005840" y="2898720"/>
            <a:ext cx="26967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pandas</a:t>
            </a:r>
            <a:endParaRPr lang="en-US" sz="1600" b="0" u="none" strike="noStrike">
              <a:solidFill>
                <a:srgbClr val="000000"/>
              </a:solidFill>
              <a:effectLst/>
              <a:uFillTx/>
              <a:latin typeface="Arial"/>
            </a:endParaRPr>
          </a:p>
        </p:txBody>
      </p:sp>
      <p:sp>
        <p:nvSpPr>
          <p:cNvPr id="81" name="Text 14"/>
          <p:cNvSpPr/>
          <p:nvPr/>
        </p:nvSpPr>
        <p:spPr>
          <a:xfrm>
            <a:off x="1024200" y="3273480"/>
            <a:ext cx="2660040" cy="2278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data</a:t>
            </a:r>
            <a:endParaRPr lang="en-US" sz="1270" b="0" u="none" strike="noStrike">
              <a:solidFill>
                <a:srgbClr val="000000"/>
              </a:solidFill>
              <a:effectLst/>
              <a:uFillTx/>
              <a:latin typeface="Arial"/>
            </a:endParaRPr>
          </a:p>
        </p:txBody>
      </p:sp>
      <p:sp>
        <p:nvSpPr>
          <p:cNvPr id="82" name="Shape 15"/>
          <p:cNvSpPr/>
          <p:nvPr/>
        </p:nvSpPr>
        <p:spPr>
          <a:xfrm>
            <a:off x="4572000" y="2743200"/>
            <a:ext cx="3062520" cy="867960"/>
          </a:xfrm>
          <a:prstGeom prst="roundRect">
            <a:avLst>
              <a:gd name="adj" fmla="val 12632"/>
            </a:avLst>
          </a:prstGeom>
          <a:solidFill>
            <a:srgbClr val="FFFF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Text 16"/>
          <p:cNvSpPr/>
          <p:nvPr/>
        </p:nvSpPr>
        <p:spPr>
          <a:xfrm>
            <a:off x="4754880" y="2898720"/>
            <a:ext cx="26967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scikit-learn</a:t>
            </a:r>
            <a:endParaRPr lang="en-US" sz="1600" b="0" u="none" strike="noStrike">
              <a:solidFill>
                <a:srgbClr val="000000"/>
              </a:solidFill>
              <a:effectLst/>
              <a:uFillTx/>
              <a:latin typeface="Arial"/>
            </a:endParaRPr>
          </a:p>
        </p:txBody>
      </p:sp>
      <p:sp>
        <p:nvSpPr>
          <p:cNvPr id="84" name="Text 17"/>
          <p:cNvSpPr/>
          <p:nvPr/>
        </p:nvSpPr>
        <p:spPr>
          <a:xfrm>
            <a:off x="4773240" y="3273480"/>
            <a:ext cx="2660040" cy="2278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models</a:t>
            </a:r>
            <a:endParaRPr lang="en-US" sz="1270" b="0" u="none" strike="noStrike">
              <a:solidFill>
                <a:srgbClr val="000000"/>
              </a:solidFill>
              <a:effectLst/>
              <a:uFillTx/>
              <a:latin typeface="Arial"/>
            </a:endParaRPr>
          </a:p>
        </p:txBody>
      </p:sp>
      <p:sp>
        <p:nvSpPr>
          <p:cNvPr id="85" name="Shape 18"/>
          <p:cNvSpPr/>
          <p:nvPr/>
        </p:nvSpPr>
        <p:spPr>
          <a:xfrm>
            <a:off x="8321040" y="2743200"/>
            <a:ext cx="3062520" cy="867960"/>
          </a:xfrm>
          <a:prstGeom prst="roundRect">
            <a:avLst>
              <a:gd name="adj" fmla="val 12632"/>
            </a:avLst>
          </a:prstGeom>
          <a:solidFill>
            <a:srgbClr val="FFFFFF"/>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 name="Text 19"/>
          <p:cNvSpPr/>
          <p:nvPr/>
        </p:nvSpPr>
        <p:spPr>
          <a:xfrm>
            <a:off x="8503920" y="2898720"/>
            <a:ext cx="26967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PyTorch / TensorFlow</a:t>
            </a:r>
            <a:endParaRPr lang="en-US" sz="1600" b="0" u="none" strike="noStrike">
              <a:solidFill>
                <a:srgbClr val="000000"/>
              </a:solidFill>
              <a:effectLst/>
              <a:uFillTx/>
              <a:latin typeface="Arial"/>
            </a:endParaRPr>
          </a:p>
        </p:txBody>
      </p:sp>
      <p:sp>
        <p:nvSpPr>
          <p:cNvPr id="87" name="Text 20"/>
          <p:cNvSpPr/>
          <p:nvPr/>
        </p:nvSpPr>
        <p:spPr>
          <a:xfrm>
            <a:off x="8522280" y="3273480"/>
            <a:ext cx="2660040" cy="2278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later neural nets</a:t>
            </a:r>
            <a:endParaRPr lang="en-US" sz="1270" b="0" u="none" strike="noStrike">
              <a:solidFill>
                <a:srgbClr val="000000"/>
              </a:solidFill>
              <a:effectLst/>
              <a:uFillTx/>
              <a:latin typeface="Arial"/>
            </a:endParaRPr>
          </a:p>
        </p:txBody>
      </p:sp>
      <p:sp>
        <p:nvSpPr>
          <p:cNvPr id="88" name="Shape 21"/>
          <p:cNvSpPr/>
          <p:nvPr/>
        </p:nvSpPr>
        <p:spPr>
          <a:xfrm>
            <a:off x="1325880" y="5166360"/>
            <a:ext cx="9554760" cy="639360"/>
          </a:xfrm>
          <a:prstGeom prst="roundRect">
            <a:avLst>
              <a:gd name="adj" fmla="val 17143"/>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 name="Text 22"/>
          <p:cNvSpPr/>
          <p:nvPr/>
        </p:nvSpPr>
        <p:spPr>
          <a:xfrm>
            <a:off x="1527120" y="5349240"/>
            <a:ext cx="9152280" cy="3193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002B49"/>
                </a:solidFill>
                <a:effectLst/>
                <a:uFillTx/>
                <a:latin typeface="Aptos"/>
              </a:rPr>
              <a:t>Today’s rule: keep the first notebook small, inspectable, and easy to debug.</a:t>
            </a:r>
            <a:endParaRPr lang="en-US" sz="1600" b="0" u="none" strike="noStrike">
              <a:solidFill>
                <a:srgbClr val="000000"/>
              </a:solidFill>
              <a:effectLst/>
              <a:uFillTx/>
              <a:latin typeface="Arial"/>
            </a:endParaRPr>
          </a:p>
        </p:txBody>
      </p:sp>
      <p:sp>
        <p:nvSpPr>
          <p:cNvPr id="90" name="Text 23"/>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91" name="Text 24"/>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05</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Responsible AI use in this course</a:t>
            </a:r>
            <a:endParaRPr lang="en-US" sz="3000" b="0" u="none" strike="noStrike">
              <a:solidFill>
                <a:srgbClr val="000000"/>
              </a:solidFill>
              <a:effectLst/>
              <a:uFillTx/>
              <a:latin typeface="Arial"/>
            </a:endParaRPr>
          </a:p>
        </p:txBody>
      </p:sp>
      <p:sp>
        <p:nvSpPr>
          <p:cNvPr id="93"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4"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Use AI tools to learn, not to outsource learning.</a:t>
            </a:r>
            <a:endParaRPr lang="en-US" sz="1150" b="0" u="none" strike="noStrike">
              <a:solidFill>
                <a:srgbClr val="000000"/>
              </a:solidFill>
              <a:effectLst/>
              <a:uFillTx/>
              <a:latin typeface="Arial"/>
            </a:endParaRPr>
          </a:p>
        </p:txBody>
      </p:sp>
      <p:sp>
        <p:nvSpPr>
          <p:cNvPr id="95" name="Shape 3"/>
          <p:cNvSpPr/>
          <p:nvPr/>
        </p:nvSpPr>
        <p:spPr>
          <a:xfrm>
            <a:off x="777240" y="1325880"/>
            <a:ext cx="4982760" cy="1828080"/>
          </a:xfrm>
          <a:prstGeom prst="roundRect">
            <a:avLst>
              <a:gd name="adj" fmla="val 6000"/>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 name="Text 4"/>
          <p:cNvSpPr/>
          <p:nvPr/>
        </p:nvSpPr>
        <p:spPr>
          <a:xfrm>
            <a:off x="960120" y="1481400"/>
            <a:ext cx="46170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Allowed support</a:t>
            </a:r>
            <a:endParaRPr lang="en-US" sz="1600" b="0" u="none" strike="noStrike">
              <a:solidFill>
                <a:srgbClr val="000000"/>
              </a:solidFill>
              <a:effectLst/>
              <a:uFillTx/>
              <a:latin typeface="Arial"/>
            </a:endParaRPr>
          </a:p>
        </p:txBody>
      </p:sp>
      <p:sp>
        <p:nvSpPr>
          <p:cNvPr id="97" name="Text 5"/>
          <p:cNvSpPr/>
          <p:nvPr/>
        </p:nvSpPr>
        <p:spPr>
          <a:xfrm>
            <a:off x="978480" y="1856160"/>
            <a:ext cx="4580280" cy="11880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Ask conceptual questions, debug error messages, generate tiny examples, compare approaches.</a:t>
            </a:r>
            <a:endParaRPr lang="en-US" sz="1270" b="0" u="none" strike="noStrike">
              <a:solidFill>
                <a:srgbClr val="000000"/>
              </a:solidFill>
              <a:effectLst/>
              <a:uFillTx/>
              <a:latin typeface="Arial"/>
            </a:endParaRPr>
          </a:p>
        </p:txBody>
      </p:sp>
      <p:sp>
        <p:nvSpPr>
          <p:cNvPr id="98" name="Shape 6"/>
          <p:cNvSpPr/>
          <p:nvPr/>
        </p:nvSpPr>
        <p:spPr>
          <a:xfrm>
            <a:off x="6400800" y="1325880"/>
            <a:ext cx="4982760" cy="1828080"/>
          </a:xfrm>
          <a:prstGeom prst="roundRect">
            <a:avLst>
              <a:gd name="adj" fmla="val 6000"/>
            </a:avLst>
          </a:prstGeom>
          <a:solidFill>
            <a:srgbClr val="FFF1F0"/>
          </a:solidFill>
          <a:ln w="16510">
            <a:solidFill>
              <a:srgbClr val="C5303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9" name="Text 7"/>
          <p:cNvSpPr/>
          <p:nvPr/>
        </p:nvSpPr>
        <p:spPr>
          <a:xfrm>
            <a:off x="6583680" y="1481400"/>
            <a:ext cx="46170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53030"/>
                </a:solidFill>
                <a:effectLst/>
                <a:uFillTx/>
                <a:latin typeface="Aptos"/>
              </a:rPr>
              <a:t>Not allowed</a:t>
            </a:r>
            <a:endParaRPr lang="en-US" sz="1600" b="0" u="none" strike="noStrike">
              <a:solidFill>
                <a:srgbClr val="000000"/>
              </a:solidFill>
              <a:effectLst/>
              <a:uFillTx/>
              <a:latin typeface="Arial"/>
            </a:endParaRPr>
          </a:p>
        </p:txBody>
      </p:sp>
      <p:sp>
        <p:nvSpPr>
          <p:cNvPr id="100" name="Text 8"/>
          <p:cNvSpPr/>
          <p:nvPr/>
        </p:nvSpPr>
        <p:spPr>
          <a:xfrm>
            <a:off x="6602040" y="1856160"/>
            <a:ext cx="4580280" cy="11880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Do not submit AI-generated code, text, analysis, diagrams, or results unless the assignment permits it and you disclose it.</a:t>
            </a:r>
            <a:endParaRPr lang="en-US" sz="1270" b="0" u="none" strike="noStrike">
              <a:solidFill>
                <a:srgbClr val="000000"/>
              </a:solidFill>
              <a:effectLst/>
              <a:uFillTx/>
              <a:latin typeface="Arial"/>
            </a:endParaRPr>
          </a:p>
        </p:txBody>
      </p:sp>
      <p:sp>
        <p:nvSpPr>
          <p:cNvPr id="101" name="Text 9"/>
          <p:cNvSpPr/>
          <p:nvPr/>
        </p:nvSpPr>
        <p:spPr>
          <a:xfrm>
            <a:off x="1051560" y="3886200"/>
            <a:ext cx="2285280" cy="273600"/>
          </a:xfrm>
          <a:prstGeom prst="rect">
            <a:avLst/>
          </a:prstGeom>
          <a:noFill/>
          <a:ln w="0">
            <a:noFill/>
          </a:ln>
        </p:spPr>
        <p:style>
          <a:lnRef idx="0"/>
          <a:fillRef idx="0"/>
          <a:effectRef idx="0"/>
          <a:fontRef idx="minor"/>
        </p:style>
        <p:txBody>
          <a:bodyPr lIns="360" tIns="360" rIns="360" bIns="360" anchor="t">
            <a:normAutofit lnSpcReduction="9999"/>
          </a:bodyPr>
          <a:p>
            <a:pPr defTabSz="914400">
              <a:lnSpc>
                <a:spcPct val="100000"/>
              </a:lnSpc>
              <a:tabLst>
                <a:tab pos="0" algn="l"/>
              </a:tabLst>
            </a:pPr>
            <a:r>
              <a:rPr lang="en-US" sz="1900" b="1" u="none" strike="noStrike">
                <a:solidFill>
                  <a:srgbClr val="002B49"/>
                </a:solidFill>
                <a:effectLst/>
                <a:uFillTx/>
                <a:latin typeface="Aptos"/>
              </a:rPr>
              <a:t>Disclosure prompt</a:t>
            </a:r>
            <a:endParaRPr lang="en-US" sz="1900" b="0" u="none" strike="noStrike">
              <a:solidFill>
                <a:srgbClr val="000000"/>
              </a:solidFill>
              <a:effectLst/>
              <a:uFillTx/>
              <a:latin typeface="Arial"/>
            </a:endParaRPr>
          </a:p>
        </p:txBody>
      </p:sp>
      <p:sp>
        <p:nvSpPr>
          <p:cNvPr id="102" name="Shape 10"/>
          <p:cNvSpPr/>
          <p:nvPr/>
        </p:nvSpPr>
        <p:spPr>
          <a:xfrm>
            <a:off x="3429000" y="3730680"/>
            <a:ext cx="7680240" cy="822240"/>
          </a:xfrm>
          <a:prstGeom prst="roundRect">
            <a:avLst>
              <a:gd name="adj" fmla="val 13333"/>
            </a:avLst>
          </a:prstGeom>
          <a:solidFill>
            <a:srgbClr val="EFF6FF"/>
          </a:solidFill>
          <a:ln w="1524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 name="Text 11"/>
          <p:cNvSpPr/>
          <p:nvPr/>
        </p:nvSpPr>
        <p:spPr>
          <a:xfrm>
            <a:off x="3630240" y="3913560"/>
            <a:ext cx="7277760" cy="5022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002B49"/>
                </a:solidFill>
                <a:effectLst/>
                <a:uFillTx/>
                <a:latin typeface="Aptos"/>
              </a:rPr>
              <a:t>What tool did you use? What help did you request? What did you verify or change yourself?</a:t>
            </a:r>
            <a:endParaRPr lang="en-US" sz="1600" b="0" u="none" strike="noStrike">
              <a:solidFill>
                <a:srgbClr val="000000"/>
              </a:solidFill>
              <a:effectLst/>
              <a:uFillTx/>
              <a:latin typeface="Arial"/>
            </a:endParaRPr>
          </a:p>
        </p:txBody>
      </p:sp>
      <p:sp>
        <p:nvSpPr>
          <p:cNvPr id="104" name="Text 12"/>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105" name="Text 13"/>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06</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What counts as intelligence?</a:t>
            </a:r>
            <a:endParaRPr lang="en-US" sz="3000" b="0" u="none" strike="noStrike">
              <a:solidFill>
                <a:srgbClr val="000000"/>
              </a:solidFill>
              <a:effectLst/>
              <a:uFillTx/>
              <a:latin typeface="Arial"/>
            </a:endParaRPr>
          </a:p>
        </p:txBody>
      </p:sp>
      <p:sp>
        <p:nvSpPr>
          <p:cNvPr id="107"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08"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Start with behavior we can observe and evaluate.</a:t>
            </a:r>
            <a:endParaRPr lang="en-US" sz="1150" b="0" u="none" strike="noStrike">
              <a:solidFill>
                <a:srgbClr val="000000"/>
              </a:solidFill>
              <a:effectLst/>
              <a:uFillTx/>
              <a:latin typeface="Arial"/>
            </a:endParaRPr>
          </a:p>
        </p:txBody>
      </p:sp>
      <p:sp>
        <p:nvSpPr>
          <p:cNvPr id="109" name="Text 3"/>
          <p:cNvSpPr/>
          <p:nvPr/>
        </p:nvSpPr>
        <p:spPr>
          <a:xfrm>
            <a:off x="822960" y="1234440"/>
            <a:ext cx="2833920" cy="27360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2100" b="1" u="none" strike="noStrike">
                <a:solidFill>
                  <a:srgbClr val="002B49"/>
                </a:solidFill>
                <a:effectLst/>
                <a:uFillTx/>
                <a:latin typeface="Aptos"/>
              </a:rPr>
              <a:t>Think-pair-share</a:t>
            </a:r>
            <a:endParaRPr lang="en-US" sz="2100" b="0" u="none" strike="noStrike">
              <a:solidFill>
                <a:srgbClr val="000000"/>
              </a:solidFill>
              <a:effectLst/>
              <a:uFillTx/>
              <a:latin typeface="Arial"/>
            </a:endParaRPr>
          </a:p>
        </p:txBody>
      </p:sp>
      <p:sp>
        <p:nvSpPr>
          <p:cNvPr id="110" name="Shape 4"/>
          <p:cNvSpPr/>
          <p:nvPr/>
        </p:nvSpPr>
        <p:spPr>
          <a:xfrm>
            <a:off x="822960" y="1783080"/>
            <a:ext cx="4296960" cy="959400"/>
          </a:xfrm>
          <a:prstGeom prst="roundRect">
            <a:avLst>
              <a:gd name="adj" fmla="val 11429"/>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1" name="Text 5"/>
          <p:cNvSpPr/>
          <p:nvPr/>
        </p:nvSpPr>
        <p:spPr>
          <a:xfrm>
            <a:off x="1024200" y="1965960"/>
            <a:ext cx="3894480" cy="639360"/>
          </a:xfrm>
          <a:prstGeom prst="rect">
            <a:avLst/>
          </a:prstGeom>
          <a:noFill/>
          <a:ln w="0">
            <a:noFill/>
          </a:ln>
        </p:spPr>
        <p:style>
          <a:lnRef idx="0"/>
          <a:fillRef idx="0"/>
          <a:effectRef idx="0"/>
          <a:fontRef idx="minor"/>
        </p:style>
        <p:txBody>
          <a:bodyPr lIns="360" tIns="360" rIns="360" bIns="360" anchor="ctr">
            <a:normAutofit fontScale="92500" lnSpcReduction="9999"/>
          </a:bodyPr>
          <a:p>
            <a:pPr algn="ctr" defTabSz="914400">
              <a:lnSpc>
                <a:spcPct val="100000"/>
              </a:lnSpc>
              <a:tabLst>
                <a:tab pos="0" algn="l"/>
              </a:tabLst>
            </a:pPr>
            <a:r>
              <a:rPr lang="en-US" sz="1600" b="1" u="none" strike="noStrike">
                <a:solidFill>
                  <a:srgbClr val="002B49"/>
                </a:solidFill>
                <a:effectLst/>
                <a:uFillTx/>
                <a:latin typeface="Aptos"/>
              </a:rPr>
              <a:t>Name one system you consider intelligent. What does it perceive? What does it do?</a:t>
            </a:r>
            <a:endParaRPr lang="en-US" sz="1600" b="0" u="none" strike="noStrike">
              <a:solidFill>
                <a:srgbClr val="000000"/>
              </a:solidFill>
              <a:effectLst/>
              <a:uFillTx/>
              <a:latin typeface="Arial"/>
            </a:endParaRPr>
          </a:p>
        </p:txBody>
      </p:sp>
      <p:sp>
        <p:nvSpPr>
          <p:cNvPr id="112" name="Shape 6"/>
          <p:cNvSpPr/>
          <p:nvPr/>
        </p:nvSpPr>
        <p:spPr>
          <a:xfrm>
            <a:off x="5669280" y="1143000"/>
            <a:ext cx="2559600" cy="959400"/>
          </a:xfrm>
          <a:prstGeom prst="roundRect">
            <a:avLst>
              <a:gd name="adj" fmla="val 11429"/>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3" name="Text 7"/>
          <p:cNvSpPr/>
          <p:nvPr/>
        </p:nvSpPr>
        <p:spPr>
          <a:xfrm>
            <a:off x="5852160" y="1298520"/>
            <a:ext cx="21938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Perception</a:t>
            </a:r>
            <a:endParaRPr lang="en-US" sz="1600" b="0" u="none" strike="noStrike">
              <a:solidFill>
                <a:srgbClr val="000000"/>
              </a:solidFill>
              <a:effectLst/>
              <a:uFillTx/>
              <a:latin typeface="Arial"/>
            </a:endParaRPr>
          </a:p>
        </p:txBody>
      </p:sp>
      <p:sp>
        <p:nvSpPr>
          <p:cNvPr id="114" name="Text 8"/>
          <p:cNvSpPr/>
          <p:nvPr/>
        </p:nvSpPr>
        <p:spPr>
          <a:xfrm>
            <a:off x="5870520" y="1673280"/>
            <a:ext cx="2157120" cy="31932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270" b="0" u="none" strike="noStrike">
                <a:solidFill>
                  <a:srgbClr val="111827"/>
                </a:solidFill>
                <a:effectLst/>
                <a:uFillTx/>
                <a:latin typeface="Aptos"/>
              </a:rPr>
              <a:t>What information enters the system?</a:t>
            </a:r>
            <a:endParaRPr lang="en-US" sz="1270" b="0" u="none" strike="noStrike">
              <a:solidFill>
                <a:srgbClr val="000000"/>
              </a:solidFill>
              <a:effectLst/>
              <a:uFillTx/>
              <a:latin typeface="Arial"/>
            </a:endParaRPr>
          </a:p>
        </p:txBody>
      </p:sp>
      <p:sp>
        <p:nvSpPr>
          <p:cNvPr id="115" name="Shape 9"/>
          <p:cNvSpPr/>
          <p:nvPr/>
        </p:nvSpPr>
        <p:spPr>
          <a:xfrm>
            <a:off x="8641080" y="1143000"/>
            <a:ext cx="2559600" cy="959400"/>
          </a:xfrm>
          <a:prstGeom prst="roundRect">
            <a:avLst>
              <a:gd name="adj" fmla="val 11429"/>
            </a:avLst>
          </a:prstGeom>
          <a:solidFill>
            <a:srgbClr val="FFF3E8"/>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 name="Text 10"/>
          <p:cNvSpPr/>
          <p:nvPr/>
        </p:nvSpPr>
        <p:spPr>
          <a:xfrm>
            <a:off x="8823960" y="1298520"/>
            <a:ext cx="21938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Action</a:t>
            </a:r>
            <a:endParaRPr lang="en-US" sz="1600" b="0" u="none" strike="noStrike">
              <a:solidFill>
                <a:srgbClr val="000000"/>
              </a:solidFill>
              <a:effectLst/>
              <a:uFillTx/>
              <a:latin typeface="Arial"/>
            </a:endParaRPr>
          </a:p>
        </p:txBody>
      </p:sp>
      <p:sp>
        <p:nvSpPr>
          <p:cNvPr id="117" name="Text 11"/>
          <p:cNvSpPr/>
          <p:nvPr/>
        </p:nvSpPr>
        <p:spPr>
          <a:xfrm>
            <a:off x="8842320" y="1673280"/>
            <a:ext cx="2157120" cy="3193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What choices can it make?</a:t>
            </a:r>
            <a:endParaRPr lang="en-US" sz="1270" b="0" u="none" strike="noStrike">
              <a:solidFill>
                <a:srgbClr val="000000"/>
              </a:solidFill>
              <a:effectLst/>
              <a:uFillTx/>
              <a:latin typeface="Arial"/>
            </a:endParaRPr>
          </a:p>
        </p:txBody>
      </p:sp>
      <p:sp>
        <p:nvSpPr>
          <p:cNvPr id="118" name="Shape 12"/>
          <p:cNvSpPr/>
          <p:nvPr/>
        </p:nvSpPr>
        <p:spPr>
          <a:xfrm>
            <a:off x="5669280" y="2880360"/>
            <a:ext cx="2559600" cy="959400"/>
          </a:xfrm>
          <a:prstGeom prst="roundRect">
            <a:avLst>
              <a:gd name="adj" fmla="val 11429"/>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 name="Text 13"/>
          <p:cNvSpPr/>
          <p:nvPr/>
        </p:nvSpPr>
        <p:spPr>
          <a:xfrm>
            <a:off x="5852160" y="3035880"/>
            <a:ext cx="21938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Objective</a:t>
            </a:r>
            <a:endParaRPr lang="en-US" sz="1600" b="0" u="none" strike="noStrike">
              <a:solidFill>
                <a:srgbClr val="000000"/>
              </a:solidFill>
              <a:effectLst/>
              <a:uFillTx/>
              <a:latin typeface="Arial"/>
            </a:endParaRPr>
          </a:p>
        </p:txBody>
      </p:sp>
      <p:sp>
        <p:nvSpPr>
          <p:cNvPr id="120" name="Text 14"/>
          <p:cNvSpPr/>
          <p:nvPr/>
        </p:nvSpPr>
        <p:spPr>
          <a:xfrm>
            <a:off x="5870520" y="3410640"/>
            <a:ext cx="2157120" cy="31932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270" b="0" u="none" strike="noStrike">
                <a:solidFill>
                  <a:srgbClr val="111827"/>
                </a:solidFill>
                <a:effectLst/>
                <a:uFillTx/>
                <a:latin typeface="Aptos"/>
              </a:rPr>
              <a:t>What makes one behavior better than another?</a:t>
            </a:r>
            <a:endParaRPr lang="en-US" sz="1270" b="0" u="none" strike="noStrike">
              <a:solidFill>
                <a:srgbClr val="000000"/>
              </a:solidFill>
              <a:effectLst/>
              <a:uFillTx/>
              <a:latin typeface="Arial"/>
            </a:endParaRPr>
          </a:p>
        </p:txBody>
      </p:sp>
      <p:sp>
        <p:nvSpPr>
          <p:cNvPr id="121" name="Shape 15"/>
          <p:cNvSpPr/>
          <p:nvPr/>
        </p:nvSpPr>
        <p:spPr>
          <a:xfrm>
            <a:off x="8641080" y="2880360"/>
            <a:ext cx="2559600" cy="959400"/>
          </a:xfrm>
          <a:prstGeom prst="roundRect">
            <a:avLst>
              <a:gd name="adj" fmla="val 11429"/>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2" name="Text 16"/>
          <p:cNvSpPr/>
          <p:nvPr/>
        </p:nvSpPr>
        <p:spPr>
          <a:xfrm>
            <a:off x="8823960" y="3035880"/>
            <a:ext cx="21938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Adaptation</a:t>
            </a:r>
            <a:endParaRPr lang="en-US" sz="1600" b="0" u="none" strike="noStrike">
              <a:solidFill>
                <a:srgbClr val="000000"/>
              </a:solidFill>
              <a:effectLst/>
              <a:uFillTx/>
              <a:latin typeface="Arial"/>
            </a:endParaRPr>
          </a:p>
        </p:txBody>
      </p:sp>
      <p:sp>
        <p:nvSpPr>
          <p:cNvPr id="123" name="Text 17"/>
          <p:cNvSpPr/>
          <p:nvPr/>
        </p:nvSpPr>
        <p:spPr>
          <a:xfrm>
            <a:off x="8842320" y="3410640"/>
            <a:ext cx="2157120" cy="31932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270" b="0" u="none" strike="noStrike">
                <a:solidFill>
                  <a:srgbClr val="111827"/>
                </a:solidFill>
                <a:effectLst/>
                <a:uFillTx/>
                <a:latin typeface="Aptos"/>
              </a:rPr>
              <a:t>Does it learn or improve over time?</a:t>
            </a:r>
            <a:endParaRPr lang="en-US" sz="1270" b="0" u="none" strike="noStrike">
              <a:solidFill>
                <a:srgbClr val="000000"/>
              </a:solidFill>
              <a:effectLst/>
              <a:uFillTx/>
              <a:latin typeface="Arial"/>
            </a:endParaRPr>
          </a:p>
        </p:txBody>
      </p:sp>
      <p:sp>
        <p:nvSpPr>
          <p:cNvPr id="124" name="Text 18"/>
          <p:cNvSpPr/>
          <p:nvPr/>
        </p:nvSpPr>
        <p:spPr>
          <a:xfrm>
            <a:off x="1188720" y="4892040"/>
            <a:ext cx="9874800" cy="50220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800" b="1" u="none" strike="noStrike">
                <a:solidFill>
                  <a:srgbClr val="002B49"/>
                </a:solidFill>
                <a:effectLst/>
                <a:uFillTx/>
                <a:latin typeface="Aptos"/>
              </a:rPr>
              <a:t>Use student examples to move from “smart” as a label to “agent” as an analysis tool.</a:t>
            </a:r>
            <a:endParaRPr lang="en-US" sz="1800" b="0" u="none" strike="noStrike">
              <a:solidFill>
                <a:srgbClr val="000000"/>
              </a:solidFill>
              <a:effectLst/>
              <a:uFillTx/>
              <a:latin typeface="Arial"/>
            </a:endParaRPr>
          </a:p>
        </p:txBody>
      </p:sp>
      <p:sp>
        <p:nvSpPr>
          <p:cNvPr id="125" name="Text 19"/>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126" name="Text 20"/>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07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Four historical approaches to AI</a:t>
            </a:r>
            <a:endParaRPr lang="en-US" sz="3000" b="0" u="none" strike="noStrike">
              <a:solidFill>
                <a:srgbClr val="000000"/>
              </a:solidFill>
              <a:effectLst/>
              <a:uFillTx/>
              <a:latin typeface="Arial"/>
            </a:endParaRPr>
          </a:p>
        </p:txBody>
      </p:sp>
      <p:sp>
        <p:nvSpPr>
          <p:cNvPr id="128"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29"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Human vs. rational; thought vs. behavior.</a:t>
            </a:r>
            <a:endParaRPr lang="en-US" sz="1150" b="0" u="none" strike="noStrike">
              <a:solidFill>
                <a:srgbClr val="000000"/>
              </a:solidFill>
              <a:effectLst/>
              <a:uFillTx/>
              <a:latin typeface="Arial"/>
            </a:endParaRPr>
          </a:p>
        </p:txBody>
      </p:sp>
      <p:sp>
        <p:nvSpPr>
          <p:cNvPr id="130" name="Text 3"/>
          <p:cNvSpPr/>
          <p:nvPr/>
        </p:nvSpPr>
        <p:spPr>
          <a:xfrm>
            <a:off x="4297680" y="1024200"/>
            <a:ext cx="1828080" cy="20052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300" b="1" u="none" strike="noStrike">
                <a:solidFill>
                  <a:srgbClr val="475467"/>
                </a:solidFill>
                <a:effectLst/>
                <a:uFillTx/>
                <a:latin typeface="Aptos"/>
              </a:rPr>
              <a:t>Thinking</a:t>
            </a:r>
            <a:endParaRPr lang="en-US" sz="1300" b="0" u="none" strike="noStrike">
              <a:solidFill>
                <a:srgbClr val="000000"/>
              </a:solidFill>
              <a:effectLst/>
              <a:uFillTx/>
              <a:latin typeface="Arial"/>
            </a:endParaRPr>
          </a:p>
        </p:txBody>
      </p:sp>
      <p:sp>
        <p:nvSpPr>
          <p:cNvPr id="131" name="Text 4"/>
          <p:cNvSpPr/>
          <p:nvPr/>
        </p:nvSpPr>
        <p:spPr>
          <a:xfrm>
            <a:off x="6583680" y="1024200"/>
            <a:ext cx="1828080" cy="20052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300" b="1" u="none" strike="noStrike">
                <a:solidFill>
                  <a:srgbClr val="475467"/>
                </a:solidFill>
                <a:effectLst/>
                <a:uFillTx/>
                <a:latin typeface="Aptos"/>
              </a:rPr>
              <a:t>Acting</a:t>
            </a:r>
            <a:endParaRPr lang="en-US" sz="1300" b="0" u="none" strike="noStrike">
              <a:solidFill>
                <a:srgbClr val="000000"/>
              </a:solidFill>
              <a:effectLst/>
              <a:uFillTx/>
              <a:latin typeface="Arial"/>
            </a:endParaRPr>
          </a:p>
        </p:txBody>
      </p:sp>
      <p:sp>
        <p:nvSpPr>
          <p:cNvPr id="132" name="Text 5"/>
          <p:cNvSpPr/>
          <p:nvPr/>
        </p:nvSpPr>
        <p:spPr>
          <a:xfrm>
            <a:off x="1280160" y="1801440"/>
            <a:ext cx="913680" cy="200520"/>
          </a:xfrm>
          <a:prstGeom prst="rect">
            <a:avLst/>
          </a:prstGeom>
          <a:noFill/>
          <a:ln w="0">
            <a:noFill/>
          </a:ln>
        </p:spPr>
        <p:style>
          <a:lnRef idx="0"/>
          <a:fillRef idx="0"/>
          <a:effectRef idx="0"/>
          <a:fontRef idx="minor"/>
        </p:style>
        <p:txBody>
          <a:bodyPr lIns="360" tIns="360" rIns="360" bIns="360" anchor="t">
            <a:normAutofit/>
          </a:bodyPr>
          <a:p>
            <a:pPr algn="r" defTabSz="914400">
              <a:lnSpc>
                <a:spcPct val="100000"/>
              </a:lnSpc>
              <a:tabLst>
                <a:tab pos="0" algn="l"/>
              </a:tabLst>
            </a:pPr>
            <a:r>
              <a:rPr lang="en-US" sz="1300" b="1" u="none" strike="noStrike">
                <a:solidFill>
                  <a:srgbClr val="475467"/>
                </a:solidFill>
                <a:effectLst/>
                <a:uFillTx/>
                <a:latin typeface="Aptos"/>
              </a:rPr>
              <a:t>Humanly</a:t>
            </a:r>
            <a:endParaRPr lang="en-US" sz="1300" b="0" u="none" strike="noStrike">
              <a:solidFill>
                <a:srgbClr val="000000"/>
              </a:solidFill>
              <a:effectLst/>
              <a:uFillTx/>
              <a:latin typeface="Arial"/>
            </a:endParaRPr>
          </a:p>
        </p:txBody>
      </p:sp>
      <p:sp>
        <p:nvSpPr>
          <p:cNvPr id="133" name="Text 6"/>
          <p:cNvSpPr/>
          <p:nvPr/>
        </p:nvSpPr>
        <p:spPr>
          <a:xfrm>
            <a:off x="1280160" y="3246120"/>
            <a:ext cx="913680" cy="200520"/>
          </a:xfrm>
          <a:prstGeom prst="rect">
            <a:avLst/>
          </a:prstGeom>
          <a:noFill/>
          <a:ln w="0">
            <a:noFill/>
          </a:ln>
        </p:spPr>
        <p:style>
          <a:lnRef idx="0"/>
          <a:fillRef idx="0"/>
          <a:effectRef idx="0"/>
          <a:fontRef idx="minor"/>
        </p:style>
        <p:txBody>
          <a:bodyPr lIns="360" tIns="360" rIns="360" bIns="360" anchor="t">
            <a:normAutofit/>
          </a:bodyPr>
          <a:p>
            <a:pPr algn="r" defTabSz="914400">
              <a:lnSpc>
                <a:spcPct val="100000"/>
              </a:lnSpc>
              <a:tabLst>
                <a:tab pos="0" algn="l"/>
              </a:tabLst>
            </a:pPr>
            <a:r>
              <a:rPr lang="en-US" sz="1300" b="1" u="none" strike="noStrike">
                <a:solidFill>
                  <a:srgbClr val="475467"/>
                </a:solidFill>
                <a:effectLst/>
                <a:uFillTx/>
                <a:latin typeface="Aptos"/>
              </a:rPr>
              <a:t>Rationally</a:t>
            </a:r>
            <a:endParaRPr lang="en-US" sz="1300" b="0" u="none" strike="noStrike">
              <a:solidFill>
                <a:srgbClr val="000000"/>
              </a:solidFill>
              <a:effectLst/>
              <a:uFillTx/>
              <a:latin typeface="Arial"/>
            </a:endParaRPr>
          </a:p>
        </p:txBody>
      </p:sp>
      <p:sp>
        <p:nvSpPr>
          <p:cNvPr id="134" name="Shape 7"/>
          <p:cNvSpPr/>
          <p:nvPr/>
        </p:nvSpPr>
        <p:spPr>
          <a:xfrm>
            <a:off x="2377440" y="1325880"/>
            <a:ext cx="2193840" cy="1142280"/>
          </a:xfrm>
          <a:prstGeom prst="roundRect">
            <a:avLst>
              <a:gd name="adj" fmla="val 9600"/>
            </a:avLst>
          </a:prstGeom>
          <a:solidFill>
            <a:srgbClr val="FFFFFF"/>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 name="Text 8"/>
          <p:cNvSpPr/>
          <p:nvPr/>
        </p:nvSpPr>
        <p:spPr>
          <a:xfrm>
            <a:off x="2560320" y="1481400"/>
            <a:ext cx="1828080" cy="255240"/>
          </a:xfrm>
          <a:prstGeom prst="rect">
            <a:avLst/>
          </a:prstGeom>
          <a:noFill/>
          <a:ln w="0">
            <a:noFill/>
          </a:ln>
        </p:spPr>
        <p:style>
          <a:lnRef idx="0"/>
          <a:fillRef idx="0"/>
          <a:effectRef idx="0"/>
          <a:fontRef idx="minor"/>
        </p:style>
        <p:txBody>
          <a:bodyPr lIns="360" tIns="360" rIns="360" bIns="360" anchor="t">
            <a:normAutofit fontScale="85000" lnSpcReduction="9999"/>
          </a:bodyPr>
          <a:p>
            <a:pPr algn="ctr" defTabSz="914400">
              <a:lnSpc>
                <a:spcPct val="100000"/>
              </a:lnSpc>
              <a:tabLst>
                <a:tab pos="0" algn="l"/>
              </a:tabLst>
            </a:pPr>
            <a:r>
              <a:rPr lang="en-US" sz="1600" b="1" u="none" strike="noStrike">
                <a:solidFill>
                  <a:srgbClr val="0E7C86"/>
                </a:solidFill>
                <a:effectLst/>
                <a:uFillTx/>
                <a:latin typeface="Aptos"/>
              </a:rPr>
              <a:t>Cognitive modeling</a:t>
            </a:r>
            <a:endParaRPr lang="en-US" sz="1600" b="0" u="none" strike="noStrike">
              <a:solidFill>
                <a:srgbClr val="000000"/>
              </a:solidFill>
              <a:effectLst/>
              <a:uFillTx/>
              <a:latin typeface="Arial"/>
            </a:endParaRPr>
          </a:p>
        </p:txBody>
      </p:sp>
      <p:sp>
        <p:nvSpPr>
          <p:cNvPr id="136" name="Text 9"/>
          <p:cNvSpPr/>
          <p:nvPr/>
        </p:nvSpPr>
        <p:spPr>
          <a:xfrm>
            <a:off x="2578680" y="1856160"/>
            <a:ext cx="1791360" cy="5022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Does it think like a human?</a:t>
            </a:r>
            <a:endParaRPr lang="en-US" sz="1270" b="0" u="none" strike="noStrike">
              <a:solidFill>
                <a:srgbClr val="000000"/>
              </a:solidFill>
              <a:effectLst/>
              <a:uFillTx/>
              <a:latin typeface="Arial"/>
            </a:endParaRPr>
          </a:p>
        </p:txBody>
      </p:sp>
      <p:sp>
        <p:nvSpPr>
          <p:cNvPr id="137" name="Shape 10"/>
          <p:cNvSpPr/>
          <p:nvPr/>
        </p:nvSpPr>
        <p:spPr>
          <a:xfrm>
            <a:off x="4892040" y="1325880"/>
            <a:ext cx="2193840" cy="1142280"/>
          </a:xfrm>
          <a:prstGeom prst="roundRect">
            <a:avLst>
              <a:gd name="adj" fmla="val 9600"/>
            </a:avLst>
          </a:prstGeom>
          <a:solidFill>
            <a:srgbClr val="FFFF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 name="Text 11"/>
          <p:cNvSpPr/>
          <p:nvPr/>
        </p:nvSpPr>
        <p:spPr>
          <a:xfrm>
            <a:off x="5074920" y="1481400"/>
            <a:ext cx="18280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Turing test</a:t>
            </a:r>
            <a:endParaRPr lang="en-US" sz="1600" b="0" u="none" strike="noStrike">
              <a:solidFill>
                <a:srgbClr val="000000"/>
              </a:solidFill>
              <a:effectLst/>
              <a:uFillTx/>
              <a:latin typeface="Arial"/>
            </a:endParaRPr>
          </a:p>
        </p:txBody>
      </p:sp>
      <p:sp>
        <p:nvSpPr>
          <p:cNvPr id="139" name="Text 12"/>
          <p:cNvSpPr/>
          <p:nvPr/>
        </p:nvSpPr>
        <p:spPr>
          <a:xfrm>
            <a:off x="5093280" y="1856160"/>
            <a:ext cx="1791360" cy="5022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Does it act like a human?</a:t>
            </a:r>
            <a:endParaRPr lang="en-US" sz="1270" b="0" u="none" strike="noStrike">
              <a:solidFill>
                <a:srgbClr val="000000"/>
              </a:solidFill>
              <a:effectLst/>
              <a:uFillTx/>
              <a:latin typeface="Arial"/>
            </a:endParaRPr>
          </a:p>
        </p:txBody>
      </p:sp>
      <p:sp>
        <p:nvSpPr>
          <p:cNvPr id="140" name="Shape 13"/>
          <p:cNvSpPr/>
          <p:nvPr/>
        </p:nvSpPr>
        <p:spPr>
          <a:xfrm>
            <a:off x="2377440" y="2788920"/>
            <a:ext cx="2193840" cy="1142280"/>
          </a:xfrm>
          <a:prstGeom prst="roundRect">
            <a:avLst>
              <a:gd name="adj" fmla="val 9600"/>
            </a:avLst>
          </a:prstGeom>
          <a:solidFill>
            <a:srgbClr val="FFFF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Text 14"/>
          <p:cNvSpPr/>
          <p:nvPr/>
        </p:nvSpPr>
        <p:spPr>
          <a:xfrm>
            <a:off x="2560320" y="2944440"/>
            <a:ext cx="18280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Laws of thought</a:t>
            </a:r>
            <a:endParaRPr lang="en-US" sz="1600" b="0" u="none" strike="noStrike">
              <a:solidFill>
                <a:srgbClr val="000000"/>
              </a:solidFill>
              <a:effectLst/>
              <a:uFillTx/>
              <a:latin typeface="Arial"/>
            </a:endParaRPr>
          </a:p>
        </p:txBody>
      </p:sp>
      <p:sp>
        <p:nvSpPr>
          <p:cNvPr id="142" name="Text 15"/>
          <p:cNvSpPr/>
          <p:nvPr/>
        </p:nvSpPr>
        <p:spPr>
          <a:xfrm>
            <a:off x="2578680" y="3319200"/>
            <a:ext cx="1791360" cy="5022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Does it reason correctly?</a:t>
            </a:r>
            <a:endParaRPr lang="en-US" sz="1270" b="0" u="none" strike="noStrike">
              <a:solidFill>
                <a:srgbClr val="000000"/>
              </a:solidFill>
              <a:effectLst/>
              <a:uFillTx/>
              <a:latin typeface="Arial"/>
            </a:endParaRPr>
          </a:p>
        </p:txBody>
      </p:sp>
      <p:sp>
        <p:nvSpPr>
          <p:cNvPr id="143" name="Shape 16"/>
          <p:cNvSpPr/>
          <p:nvPr/>
        </p:nvSpPr>
        <p:spPr>
          <a:xfrm>
            <a:off x="4892040" y="2788920"/>
            <a:ext cx="2193840" cy="1142280"/>
          </a:xfrm>
          <a:prstGeom prst="roundRect">
            <a:avLst>
              <a:gd name="adj" fmla="val 9600"/>
            </a:avLst>
          </a:prstGeom>
          <a:solidFill>
            <a:srgbClr val="FFFFFF"/>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4" name="Text 17"/>
          <p:cNvSpPr/>
          <p:nvPr/>
        </p:nvSpPr>
        <p:spPr>
          <a:xfrm>
            <a:off x="5074920" y="2944440"/>
            <a:ext cx="18280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Rational agents</a:t>
            </a:r>
            <a:endParaRPr lang="en-US" sz="1600" b="0" u="none" strike="noStrike">
              <a:solidFill>
                <a:srgbClr val="000000"/>
              </a:solidFill>
              <a:effectLst/>
              <a:uFillTx/>
              <a:latin typeface="Arial"/>
            </a:endParaRPr>
          </a:p>
        </p:txBody>
      </p:sp>
      <p:sp>
        <p:nvSpPr>
          <p:cNvPr id="145" name="Text 18"/>
          <p:cNvSpPr/>
          <p:nvPr/>
        </p:nvSpPr>
        <p:spPr>
          <a:xfrm>
            <a:off x="5093280" y="3319200"/>
            <a:ext cx="1791360" cy="502200"/>
          </a:xfrm>
          <a:prstGeom prst="rect">
            <a:avLst/>
          </a:prstGeom>
          <a:noFill/>
          <a:ln w="0">
            <a:noFill/>
          </a:ln>
        </p:spPr>
        <p:style>
          <a:lnRef idx="0"/>
          <a:fillRef idx="0"/>
          <a:effectRef idx="0"/>
          <a:fontRef idx="minor"/>
        </p:style>
        <p:txBody>
          <a:bodyPr lIns="360" tIns="360" rIns="360" bIns="360" anchor="ctr">
            <a:normAutofit fontScale="92500" lnSpcReduction="9999"/>
          </a:bodyPr>
          <a:p>
            <a:pPr algn="ctr" defTabSz="914400">
              <a:lnSpc>
                <a:spcPct val="100000"/>
              </a:lnSpc>
              <a:tabLst>
                <a:tab pos="0" algn="l"/>
              </a:tabLst>
            </a:pPr>
            <a:r>
              <a:rPr lang="en-US" sz="1270" b="0" u="none" strike="noStrike">
                <a:solidFill>
                  <a:srgbClr val="111827"/>
                </a:solidFill>
                <a:effectLst/>
                <a:uFillTx/>
                <a:latin typeface="Aptos"/>
              </a:rPr>
              <a:t>Does it act to achieve the best expected outcome?</a:t>
            </a:r>
            <a:endParaRPr lang="en-US" sz="1270" b="0" u="none" strike="noStrike">
              <a:solidFill>
                <a:srgbClr val="000000"/>
              </a:solidFill>
              <a:effectLst/>
              <a:uFillTx/>
              <a:latin typeface="Arial"/>
            </a:endParaRPr>
          </a:p>
        </p:txBody>
      </p:sp>
      <p:sp>
        <p:nvSpPr>
          <p:cNvPr id="146" name="Shape 19"/>
          <p:cNvSpPr/>
          <p:nvPr/>
        </p:nvSpPr>
        <p:spPr>
          <a:xfrm>
            <a:off x="1463040" y="5166360"/>
            <a:ext cx="9234720" cy="639360"/>
          </a:xfrm>
          <a:prstGeom prst="roundRect">
            <a:avLst>
              <a:gd name="adj" fmla="val 17143"/>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7" name="Text 20"/>
          <p:cNvSpPr/>
          <p:nvPr/>
        </p:nvSpPr>
        <p:spPr>
          <a:xfrm>
            <a:off x="1664280" y="5349240"/>
            <a:ext cx="8832240" cy="3193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002B49"/>
                </a:solidFill>
                <a:effectLst/>
                <a:uFillTx/>
                <a:latin typeface="Aptos"/>
              </a:rPr>
              <a:t>COMP 469 uses the rational-agent view as the organizing model.</a:t>
            </a:r>
            <a:endParaRPr lang="en-US" sz="1600" b="0" u="none" strike="noStrike">
              <a:solidFill>
                <a:srgbClr val="000000"/>
              </a:solidFill>
              <a:effectLst/>
              <a:uFillTx/>
              <a:latin typeface="Arial"/>
            </a:endParaRPr>
          </a:p>
        </p:txBody>
      </p:sp>
      <p:sp>
        <p:nvSpPr>
          <p:cNvPr id="148" name="Text 21"/>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149" name="Text 22"/>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08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Why “acting rationally” is useful</a:t>
            </a:r>
            <a:endParaRPr lang="en-US" sz="3000" b="0" u="none" strike="noStrike">
              <a:solidFill>
                <a:srgbClr val="000000"/>
              </a:solidFill>
              <a:effectLst/>
              <a:uFillTx/>
              <a:latin typeface="Arial"/>
            </a:endParaRPr>
          </a:p>
        </p:txBody>
      </p:sp>
      <p:sp>
        <p:nvSpPr>
          <p:cNvPr id="151"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52"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It gives us a design target: choose actions that are expected to work.</a:t>
            </a:r>
            <a:endParaRPr lang="en-US" sz="1150" b="0" u="none" strike="noStrike">
              <a:solidFill>
                <a:srgbClr val="000000"/>
              </a:solidFill>
              <a:effectLst/>
              <a:uFillTx/>
              <a:latin typeface="Arial"/>
            </a:endParaRPr>
          </a:p>
        </p:txBody>
      </p:sp>
      <p:sp>
        <p:nvSpPr>
          <p:cNvPr id="153" name="Shape 3"/>
          <p:cNvSpPr/>
          <p:nvPr/>
        </p:nvSpPr>
        <p:spPr>
          <a:xfrm>
            <a:off x="777240" y="1280160"/>
            <a:ext cx="3428280" cy="1508040"/>
          </a:xfrm>
          <a:prstGeom prst="roundRect">
            <a:avLst>
              <a:gd name="adj" fmla="val 7273"/>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4" name="Text 4"/>
          <p:cNvSpPr/>
          <p:nvPr/>
        </p:nvSpPr>
        <p:spPr>
          <a:xfrm>
            <a:off x="960120" y="1435680"/>
            <a:ext cx="30625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General</a:t>
            </a:r>
            <a:endParaRPr lang="en-US" sz="1600" b="0" u="none" strike="noStrike">
              <a:solidFill>
                <a:srgbClr val="000000"/>
              </a:solidFill>
              <a:effectLst/>
              <a:uFillTx/>
              <a:latin typeface="Arial"/>
            </a:endParaRPr>
          </a:p>
        </p:txBody>
      </p:sp>
      <p:sp>
        <p:nvSpPr>
          <p:cNvPr id="155" name="Text 5"/>
          <p:cNvSpPr/>
          <p:nvPr/>
        </p:nvSpPr>
        <p:spPr>
          <a:xfrm>
            <a:off x="978480" y="1810440"/>
            <a:ext cx="3025800" cy="8679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Works for software, robots, games, classifiers, assistants, and decision systems.</a:t>
            </a:r>
            <a:endParaRPr lang="en-US" sz="1270" b="0" u="none" strike="noStrike">
              <a:solidFill>
                <a:srgbClr val="000000"/>
              </a:solidFill>
              <a:effectLst/>
              <a:uFillTx/>
              <a:latin typeface="Arial"/>
            </a:endParaRPr>
          </a:p>
        </p:txBody>
      </p:sp>
      <p:sp>
        <p:nvSpPr>
          <p:cNvPr id="156" name="Shape 6"/>
          <p:cNvSpPr/>
          <p:nvPr/>
        </p:nvSpPr>
        <p:spPr>
          <a:xfrm>
            <a:off x="4389120" y="1280160"/>
            <a:ext cx="3428280" cy="1508040"/>
          </a:xfrm>
          <a:prstGeom prst="roundRect">
            <a:avLst>
              <a:gd name="adj" fmla="val 7273"/>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7" name="Text 7"/>
          <p:cNvSpPr/>
          <p:nvPr/>
        </p:nvSpPr>
        <p:spPr>
          <a:xfrm>
            <a:off x="4572000" y="1435680"/>
            <a:ext cx="30625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Measurable</a:t>
            </a:r>
            <a:endParaRPr lang="en-US" sz="1600" b="0" u="none" strike="noStrike">
              <a:solidFill>
                <a:srgbClr val="000000"/>
              </a:solidFill>
              <a:effectLst/>
              <a:uFillTx/>
              <a:latin typeface="Arial"/>
            </a:endParaRPr>
          </a:p>
        </p:txBody>
      </p:sp>
      <p:sp>
        <p:nvSpPr>
          <p:cNvPr id="158" name="Text 8"/>
          <p:cNvSpPr/>
          <p:nvPr/>
        </p:nvSpPr>
        <p:spPr>
          <a:xfrm>
            <a:off x="4590360" y="1810440"/>
            <a:ext cx="3025800" cy="8679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Connects behavior to performance measures, evidence, and uncertainty.</a:t>
            </a:r>
            <a:endParaRPr lang="en-US" sz="1270" b="0" u="none" strike="noStrike">
              <a:solidFill>
                <a:srgbClr val="000000"/>
              </a:solidFill>
              <a:effectLst/>
              <a:uFillTx/>
              <a:latin typeface="Arial"/>
            </a:endParaRPr>
          </a:p>
        </p:txBody>
      </p:sp>
      <p:sp>
        <p:nvSpPr>
          <p:cNvPr id="159" name="Shape 9"/>
          <p:cNvSpPr/>
          <p:nvPr/>
        </p:nvSpPr>
        <p:spPr>
          <a:xfrm>
            <a:off x="8001000" y="1280160"/>
            <a:ext cx="3428280" cy="1508040"/>
          </a:xfrm>
          <a:prstGeom prst="roundRect">
            <a:avLst>
              <a:gd name="adj" fmla="val 7273"/>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0" name="Text 10"/>
          <p:cNvSpPr/>
          <p:nvPr/>
        </p:nvSpPr>
        <p:spPr>
          <a:xfrm>
            <a:off x="8183880" y="1435680"/>
            <a:ext cx="30625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Buildable</a:t>
            </a:r>
            <a:endParaRPr lang="en-US" sz="1600" b="0" u="none" strike="noStrike">
              <a:solidFill>
                <a:srgbClr val="000000"/>
              </a:solidFill>
              <a:effectLst/>
              <a:uFillTx/>
              <a:latin typeface="Arial"/>
            </a:endParaRPr>
          </a:p>
        </p:txBody>
      </p:sp>
      <p:sp>
        <p:nvSpPr>
          <p:cNvPr id="161" name="Text 11"/>
          <p:cNvSpPr/>
          <p:nvPr/>
        </p:nvSpPr>
        <p:spPr>
          <a:xfrm>
            <a:off x="8202240" y="1810440"/>
            <a:ext cx="3025800" cy="8679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Lets us derive programs from task descriptions instead of relying only on intuition.</a:t>
            </a:r>
            <a:endParaRPr lang="en-US" sz="1270" b="0" u="none" strike="noStrike">
              <a:solidFill>
                <a:srgbClr val="000000"/>
              </a:solidFill>
              <a:effectLst/>
              <a:uFillTx/>
              <a:latin typeface="Arial"/>
            </a:endParaRPr>
          </a:p>
        </p:txBody>
      </p:sp>
      <p:sp>
        <p:nvSpPr>
          <p:cNvPr id="162" name="Text 12"/>
          <p:cNvSpPr/>
          <p:nvPr/>
        </p:nvSpPr>
        <p:spPr>
          <a:xfrm>
            <a:off x="1097280" y="4023360"/>
            <a:ext cx="9966240" cy="3466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2200" b="1" u="none" strike="noStrike">
                <a:solidFill>
                  <a:srgbClr val="002B49"/>
                </a:solidFill>
                <a:effectLst/>
                <a:uFillTx/>
                <a:latin typeface="Aptos"/>
              </a:rPr>
              <a:t>But rationality depends on the objective we provide.</a:t>
            </a:r>
            <a:endParaRPr lang="en-US" sz="2200" b="0" u="none" strike="noStrike">
              <a:solidFill>
                <a:srgbClr val="000000"/>
              </a:solidFill>
              <a:effectLst/>
              <a:uFillTx/>
              <a:latin typeface="Arial"/>
            </a:endParaRPr>
          </a:p>
        </p:txBody>
      </p:sp>
      <p:sp>
        <p:nvSpPr>
          <p:cNvPr id="163" name="Text 13"/>
          <p:cNvSpPr/>
          <p:nvPr/>
        </p:nvSpPr>
        <p:spPr>
          <a:xfrm>
            <a:off x="1371600" y="4617720"/>
            <a:ext cx="9417600" cy="41076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0" u="none" strike="noStrike">
                <a:solidFill>
                  <a:srgbClr val="111827"/>
                </a:solidFill>
                <a:effectLst/>
                <a:uFillTx/>
                <a:latin typeface="Aptos"/>
              </a:rPr>
              <a:t>Poorly specified goals can produce technically “rational” behavior that no one actually wants.</a:t>
            </a:r>
            <a:endParaRPr lang="en-US" sz="1600" b="0" u="none" strike="noStrike">
              <a:solidFill>
                <a:srgbClr val="000000"/>
              </a:solidFill>
              <a:effectLst/>
              <a:uFillTx/>
              <a:latin typeface="Arial"/>
            </a:endParaRPr>
          </a:p>
        </p:txBody>
      </p:sp>
      <p:sp>
        <p:nvSpPr>
          <p:cNvPr id="164" name="Text 14"/>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165" name="Text 15"/>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09</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Agent vocabulary</a:t>
            </a:r>
            <a:endParaRPr lang="en-US" sz="3000" b="0" u="none" strike="noStrike">
              <a:solidFill>
                <a:srgbClr val="000000"/>
              </a:solidFill>
              <a:effectLst/>
              <a:uFillTx/>
              <a:latin typeface="Arial"/>
            </a:endParaRPr>
          </a:p>
        </p:txBody>
      </p:sp>
      <p:sp>
        <p:nvSpPr>
          <p:cNvPr id="167"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68"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The same words will appear in lecture, lab, and exams.</a:t>
            </a:r>
            <a:endParaRPr lang="en-US" sz="1150" b="0" u="none" strike="noStrike">
              <a:solidFill>
                <a:srgbClr val="000000"/>
              </a:solidFill>
              <a:effectLst/>
              <a:uFillTx/>
              <a:latin typeface="Arial"/>
            </a:endParaRPr>
          </a:p>
        </p:txBody>
      </p:sp>
      <p:sp>
        <p:nvSpPr>
          <p:cNvPr id="169" name="Shape 3"/>
          <p:cNvSpPr/>
          <p:nvPr/>
        </p:nvSpPr>
        <p:spPr>
          <a:xfrm>
            <a:off x="2926080" y="2148840"/>
            <a:ext cx="1645920" cy="360"/>
          </a:xfrm>
          <a:prstGeom prst="line">
            <a:avLst/>
          </a:prstGeom>
          <a:ln w="27940">
            <a:solidFill>
              <a:srgbClr val="0E7C8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70" name="Shape 4"/>
          <p:cNvSpPr/>
          <p:nvPr/>
        </p:nvSpPr>
        <p:spPr>
          <a:xfrm>
            <a:off x="7589520" y="2148840"/>
            <a:ext cx="1645920" cy="360"/>
          </a:xfrm>
          <a:prstGeom prst="line">
            <a:avLst/>
          </a:prstGeom>
          <a:ln w="27940">
            <a:solidFill>
              <a:srgbClr val="DD6B2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71" name="Shape 5"/>
          <p:cNvSpPr/>
          <p:nvPr/>
        </p:nvSpPr>
        <p:spPr>
          <a:xfrm flipH="1">
            <a:off x="7589520" y="4251960"/>
            <a:ext cx="1645920" cy="360"/>
          </a:xfrm>
          <a:prstGeom prst="line">
            <a:avLst/>
          </a:prstGeom>
          <a:ln w="27940">
            <a:solidFill>
              <a:srgbClr val="DD6B2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72" name="Shape 6"/>
          <p:cNvSpPr/>
          <p:nvPr/>
        </p:nvSpPr>
        <p:spPr>
          <a:xfrm flipH="1">
            <a:off x="2926080" y="4251960"/>
            <a:ext cx="1645920" cy="360"/>
          </a:xfrm>
          <a:prstGeom prst="line">
            <a:avLst/>
          </a:prstGeom>
          <a:ln w="27940">
            <a:solidFill>
              <a:srgbClr val="0E7C8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73" name="Shape 7"/>
          <p:cNvSpPr/>
          <p:nvPr/>
        </p:nvSpPr>
        <p:spPr>
          <a:xfrm>
            <a:off x="731520" y="2103120"/>
            <a:ext cx="2102400" cy="1599480"/>
          </a:xfrm>
          <a:prstGeom prst="roundRect">
            <a:avLst>
              <a:gd name="adj" fmla="val 6857"/>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4" name="Text 8"/>
          <p:cNvSpPr/>
          <p:nvPr/>
        </p:nvSpPr>
        <p:spPr>
          <a:xfrm>
            <a:off x="914400" y="2258640"/>
            <a:ext cx="1736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Environment</a:t>
            </a:r>
            <a:endParaRPr lang="en-US" sz="1600" b="0" u="none" strike="noStrike">
              <a:solidFill>
                <a:srgbClr val="000000"/>
              </a:solidFill>
              <a:effectLst/>
              <a:uFillTx/>
              <a:latin typeface="Arial"/>
            </a:endParaRPr>
          </a:p>
        </p:txBody>
      </p:sp>
      <p:sp>
        <p:nvSpPr>
          <p:cNvPr id="175" name="Text 9"/>
          <p:cNvSpPr/>
          <p:nvPr/>
        </p:nvSpPr>
        <p:spPr>
          <a:xfrm>
            <a:off x="932760" y="2633400"/>
            <a:ext cx="1699920" cy="9594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The part of the world relevant to the task.</a:t>
            </a:r>
            <a:endParaRPr lang="en-US" sz="1270" b="0" u="none" strike="noStrike">
              <a:solidFill>
                <a:srgbClr val="000000"/>
              </a:solidFill>
              <a:effectLst/>
              <a:uFillTx/>
              <a:latin typeface="Arial"/>
            </a:endParaRPr>
          </a:p>
        </p:txBody>
      </p:sp>
      <p:sp>
        <p:nvSpPr>
          <p:cNvPr id="176" name="Shape 10"/>
          <p:cNvSpPr/>
          <p:nvPr/>
        </p:nvSpPr>
        <p:spPr>
          <a:xfrm>
            <a:off x="4709160" y="1920240"/>
            <a:ext cx="2696760" cy="1965240"/>
          </a:xfrm>
          <a:prstGeom prst="roundRect">
            <a:avLst>
              <a:gd name="adj" fmla="val 5581"/>
            </a:avLst>
          </a:prstGeom>
          <a:solidFill>
            <a:srgbClr val="FFFFFF"/>
          </a:solidFill>
          <a:ln w="16510">
            <a:solidFill>
              <a:srgbClr val="002B4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7" name="Text 11"/>
          <p:cNvSpPr/>
          <p:nvPr/>
        </p:nvSpPr>
        <p:spPr>
          <a:xfrm>
            <a:off x="4892040" y="2075760"/>
            <a:ext cx="23310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02B49"/>
                </a:solidFill>
                <a:effectLst/>
                <a:uFillTx/>
                <a:latin typeface="Aptos"/>
              </a:rPr>
              <a:t>Agent</a:t>
            </a:r>
            <a:endParaRPr lang="en-US" sz="1600" b="0" u="none" strike="noStrike">
              <a:solidFill>
                <a:srgbClr val="000000"/>
              </a:solidFill>
              <a:effectLst/>
              <a:uFillTx/>
              <a:latin typeface="Arial"/>
            </a:endParaRPr>
          </a:p>
        </p:txBody>
      </p:sp>
      <p:sp>
        <p:nvSpPr>
          <p:cNvPr id="178" name="Text 12"/>
          <p:cNvSpPr/>
          <p:nvPr/>
        </p:nvSpPr>
        <p:spPr>
          <a:xfrm>
            <a:off x="4910400" y="2450520"/>
            <a:ext cx="2294280" cy="13251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Program + architecture that maps percepts to actions.</a:t>
            </a:r>
            <a:endParaRPr lang="en-US" sz="1270" b="0" u="none" strike="noStrike">
              <a:solidFill>
                <a:srgbClr val="000000"/>
              </a:solidFill>
              <a:effectLst/>
              <a:uFillTx/>
              <a:latin typeface="Arial"/>
            </a:endParaRPr>
          </a:p>
        </p:txBody>
      </p:sp>
      <p:sp>
        <p:nvSpPr>
          <p:cNvPr id="179" name="Shape 13"/>
          <p:cNvSpPr/>
          <p:nvPr/>
        </p:nvSpPr>
        <p:spPr>
          <a:xfrm>
            <a:off x="9326880" y="2103120"/>
            <a:ext cx="2102400" cy="1599480"/>
          </a:xfrm>
          <a:prstGeom prst="roundRect">
            <a:avLst>
              <a:gd name="adj" fmla="val 6857"/>
            </a:avLst>
          </a:prstGeom>
          <a:solidFill>
            <a:srgbClr val="FFF3E8"/>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0" name="Text 14"/>
          <p:cNvSpPr/>
          <p:nvPr/>
        </p:nvSpPr>
        <p:spPr>
          <a:xfrm>
            <a:off x="9509760" y="2258640"/>
            <a:ext cx="1736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Actions</a:t>
            </a:r>
            <a:endParaRPr lang="en-US" sz="1600" b="0" u="none" strike="noStrike">
              <a:solidFill>
                <a:srgbClr val="000000"/>
              </a:solidFill>
              <a:effectLst/>
              <a:uFillTx/>
              <a:latin typeface="Arial"/>
            </a:endParaRPr>
          </a:p>
        </p:txBody>
      </p:sp>
      <p:sp>
        <p:nvSpPr>
          <p:cNvPr id="181" name="Text 15"/>
          <p:cNvSpPr/>
          <p:nvPr/>
        </p:nvSpPr>
        <p:spPr>
          <a:xfrm>
            <a:off x="9528120" y="2633400"/>
            <a:ext cx="1699920" cy="9594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Choices that affect the environment or gather information.</a:t>
            </a:r>
            <a:endParaRPr lang="en-US" sz="1270" b="0" u="none" strike="noStrike">
              <a:solidFill>
                <a:srgbClr val="000000"/>
              </a:solidFill>
              <a:effectLst/>
              <a:uFillTx/>
              <a:latin typeface="Arial"/>
            </a:endParaRPr>
          </a:p>
        </p:txBody>
      </p:sp>
      <p:sp>
        <p:nvSpPr>
          <p:cNvPr id="182" name="Text 16"/>
          <p:cNvSpPr/>
          <p:nvPr/>
        </p:nvSpPr>
        <p:spPr>
          <a:xfrm>
            <a:off x="3246120" y="1874520"/>
            <a:ext cx="123372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050" b="1" u="none" strike="noStrike">
                <a:solidFill>
                  <a:srgbClr val="0E7C86"/>
                </a:solidFill>
                <a:effectLst/>
                <a:uFillTx/>
                <a:latin typeface="Aptos"/>
              </a:rPr>
              <a:t>sensors → percepts</a:t>
            </a:r>
            <a:endParaRPr lang="en-US" sz="1050" b="0" u="none" strike="noStrike">
              <a:solidFill>
                <a:srgbClr val="000000"/>
              </a:solidFill>
              <a:effectLst/>
              <a:uFillTx/>
              <a:latin typeface="Arial"/>
            </a:endParaRPr>
          </a:p>
        </p:txBody>
      </p:sp>
      <p:sp>
        <p:nvSpPr>
          <p:cNvPr id="183" name="Text 17"/>
          <p:cNvSpPr/>
          <p:nvPr/>
        </p:nvSpPr>
        <p:spPr>
          <a:xfrm>
            <a:off x="7818120" y="1874520"/>
            <a:ext cx="1005120" cy="18216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050" b="1" u="none" strike="noStrike">
                <a:solidFill>
                  <a:srgbClr val="DD6B20"/>
                </a:solidFill>
                <a:effectLst/>
                <a:uFillTx/>
                <a:latin typeface="Aptos"/>
              </a:rPr>
              <a:t>actuators</a:t>
            </a:r>
            <a:endParaRPr lang="en-US" sz="1050" b="0" u="none" strike="noStrike">
              <a:solidFill>
                <a:srgbClr val="000000"/>
              </a:solidFill>
              <a:effectLst/>
              <a:uFillTx/>
              <a:latin typeface="Arial"/>
            </a:endParaRPr>
          </a:p>
        </p:txBody>
      </p:sp>
      <p:sp>
        <p:nvSpPr>
          <p:cNvPr id="184" name="Shape 18"/>
          <p:cNvSpPr/>
          <p:nvPr/>
        </p:nvSpPr>
        <p:spPr>
          <a:xfrm>
            <a:off x="1280160" y="5257800"/>
            <a:ext cx="9600480" cy="685080"/>
          </a:xfrm>
          <a:prstGeom prst="roundRect">
            <a:avLst>
              <a:gd name="adj" fmla="val 16000"/>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5" name="Text 19"/>
          <p:cNvSpPr/>
          <p:nvPr/>
        </p:nvSpPr>
        <p:spPr>
          <a:xfrm>
            <a:off x="1481400" y="5440680"/>
            <a:ext cx="9198000" cy="36504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600" b="1" u="none" strike="noStrike">
                <a:solidFill>
                  <a:srgbClr val="002B49"/>
                </a:solidFill>
                <a:effectLst/>
                <a:uFillTx/>
                <a:latin typeface="Aptos"/>
              </a:rPr>
              <a:t>An agent is anything that perceives its environment through sensors and acts on it through actuators.</a:t>
            </a:r>
            <a:endParaRPr lang="en-US" sz="1600" b="0" u="none" strike="noStrike">
              <a:solidFill>
                <a:srgbClr val="000000"/>
              </a:solidFill>
              <a:effectLst/>
              <a:uFillTx/>
              <a:latin typeface="Arial"/>
            </a:endParaRPr>
          </a:p>
        </p:txBody>
      </p:sp>
      <p:sp>
        <p:nvSpPr>
          <p:cNvPr id="186" name="Text 20"/>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187" name="Text 21"/>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10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Percepts, histories, and actions</a:t>
            </a:r>
            <a:endParaRPr lang="en-US" sz="3000" b="0" u="none" strike="noStrike">
              <a:solidFill>
                <a:srgbClr val="000000"/>
              </a:solidFill>
              <a:effectLst/>
              <a:uFillTx/>
              <a:latin typeface="Arial"/>
            </a:endParaRPr>
          </a:p>
        </p:txBody>
      </p:sp>
      <p:sp>
        <p:nvSpPr>
          <p:cNvPr id="189"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90"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The current percept is not always enough.</a:t>
            </a:r>
            <a:endParaRPr lang="en-US" sz="1150" b="0" u="none" strike="noStrike">
              <a:solidFill>
                <a:srgbClr val="000000"/>
              </a:solidFill>
              <a:effectLst/>
              <a:uFillTx/>
              <a:latin typeface="Arial"/>
            </a:endParaRPr>
          </a:p>
        </p:txBody>
      </p:sp>
      <p:sp>
        <p:nvSpPr>
          <p:cNvPr id="191" name="Shape 3"/>
          <p:cNvSpPr/>
          <p:nvPr/>
        </p:nvSpPr>
        <p:spPr>
          <a:xfrm>
            <a:off x="868680" y="1508760"/>
            <a:ext cx="3062520" cy="1233720"/>
          </a:xfrm>
          <a:prstGeom prst="roundRect">
            <a:avLst>
              <a:gd name="adj" fmla="val 8889"/>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2" name="Text 4"/>
          <p:cNvSpPr/>
          <p:nvPr/>
        </p:nvSpPr>
        <p:spPr>
          <a:xfrm>
            <a:off x="1051560" y="1664280"/>
            <a:ext cx="26967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Percept</a:t>
            </a:r>
            <a:endParaRPr lang="en-US" sz="1600" b="0" u="none" strike="noStrike">
              <a:solidFill>
                <a:srgbClr val="000000"/>
              </a:solidFill>
              <a:effectLst/>
              <a:uFillTx/>
              <a:latin typeface="Arial"/>
            </a:endParaRPr>
          </a:p>
        </p:txBody>
      </p:sp>
      <p:sp>
        <p:nvSpPr>
          <p:cNvPr id="193" name="Text 5"/>
          <p:cNvSpPr/>
          <p:nvPr/>
        </p:nvSpPr>
        <p:spPr>
          <a:xfrm>
            <a:off x="1069920" y="2039040"/>
            <a:ext cx="2660040" cy="5936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The content currently received by sensors.</a:t>
            </a:r>
            <a:endParaRPr lang="en-US" sz="1270" b="0" u="none" strike="noStrike">
              <a:solidFill>
                <a:srgbClr val="000000"/>
              </a:solidFill>
              <a:effectLst/>
              <a:uFillTx/>
              <a:latin typeface="Arial"/>
            </a:endParaRPr>
          </a:p>
        </p:txBody>
      </p:sp>
      <p:sp>
        <p:nvSpPr>
          <p:cNvPr id="194" name="Shape 6"/>
          <p:cNvSpPr/>
          <p:nvPr/>
        </p:nvSpPr>
        <p:spPr>
          <a:xfrm>
            <a:off x="4526280" y="1508760"/>
            <a:ext cx="3062520" cy="1233720"/>
          </a:xfrm>
          <a:prstGeom prst="roundRect">
            <a:avLst>
              <a:gd name="adj" fmla="val 8889"/>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5" name="Text 7"/>
          <p:cNvSpPr/>
          <p:nvPr/>
        </p:nvSpPr>
        <p:spPr>
          <a:xfrm>
            <a:off x="4709160" y="1664280"/>
            <a:ext cx="26967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Percept sequence</a:t>
            </a:r>
            <a:endParaRPr lang="en-US" sz="1600" b="0" u="none" strike="noStrike">
              <a:solidFill>
                <a:srgbClr val="000000"/>
              </a:solidFill>
              <a:effectLst/>
              <a:uFillTx/>
              <a:latin typeface="Arial"/>
            </a:endParaRPr>
          </a:p>
        </p:txBody>
      </p:sp>
      <p:sp>
        <p:nvSpPr>
          <p:cNvPr id="196" name="Text 8"/>
          <p:cNvSpPr/>
          <p:nvPr/>
        </p:nvSpPr>
        <p:spPr>
          <a:xfrm>
            <a:off x="4727520" y="2039040"/>
            <a:ext cx="2660040" cy="5936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The complete history of percepts so far.</a:t>
            </a:r>
            <a:endParaRPr lang="en-US" sz="1270" b="0" u="none" strike="noStrike">
              <a:solidFill>
                <a:srgbClr val="000000"/>
              </a:solidFill>
              <a:effectLst/>
              <a:uFillTx/>
              <a:latin typeface="Arial"/>
            </a:endParaRPr>
          </a:p>
        </p:txBody>
      </p:sp>
      <p:sp>
        <p:nvSpPr>
          <p:cNvPr id="197" name="Shape 9"/>
          <p:cNvSpPr/>
          <p:nvPr/>
        </p:nvSpPr>
        <p:spPr>
          <a:xfrm>
            <a:off x="8183880" y="1508760"/>
            <a:ext cx="3062520" cy="1233720"/>
          </a:xfrm>
          <a:prstGeom prst="roundRect">
            <a:avLst>
              <a:gd name="adj" fmla="val 8889"/>
            </a:avLst>
          </a:prstGeom>
          <a:solidFill>
            <a:srgbClr val="F3EE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8" name="Text 10"/>
          <p:cNvSpPr/>
          <p:nvPr/>
        </p:nvSpPr>
        <p:spPr>
          <a:xfrm>
            <a:off x="8366760" y="1664280"/>
            <a:ext cx="26967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Agent function</a:t>
            </a:r>
            <a:endParaRPr lang="en-US" sz="1600" b="0" u="none" strike="noStrike">
              <a:solidFill>
                <a:srgbClr val="000000"/>
              </a:solidFill>
              <a:effectLst/>
              <a:uFillTx/>
              <a:latin typeface="Arial"/>
            </a:endParaRPr>
          </a:p>
        </p:txBody>
      </p:sp>
      <p:sp>
        <p:nvSpPr>
          <p:cNvPr id="199" name="Text 11"/>
          <p:cNvSpPr/>
          <p:nvPr/>
        </p:nvSpPr>
        <p:spPr>
          <a:xfrm>
            <a:off x="8385120" y="2039040"/>
            <a:ext cx="2660040" cy="5936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A mapping from possible percept sequences to actions.</a:t>
            </a:r>
            <a:endParaRPr lang="en-US" sz="1270" b="0" u="none" strike="noStrike">
              <a:solidFill>
                <a:srgbClr val="000000"/>
              </a:solidFill>
              <a:effectLst/>
              <a:uFillTx/>
              <a:latin typeface="Arial"/>
            </a:endParaRPr>
          </a:p>
        </p:txBody>
      </p:sp>
      <p:sp>
        <p:nvSpPr>
          <p:cNvPr id="200" name="Shape 12"/>
          <p:cNvSpPr/>
          <p:nvPr/>
        </p:nvSpPr>
        <p:spPr>
          <a:xfrm>
            <a:off x="3931920" y="2121120"/>
            <a:ext cx="548640" cy="360"/>
          </a:xfrm>
          <a:prstGeom prst="line">
            <a:avLst/>
          </a:prstGeom>
          <a:ln w="27940">
            <a:solidFill>
              <a:srgbClr val="475467"/>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01" name="Shape 13"/>
          <p:cNvSpPr/>
          <p:nvPr/>
        </p:nvSpPr>
        <p:spPr>
          <a:xfrm>
            <a:off x="7589520" y="2121120"/>
            <a:ext cx="548640" cy="360"/>
          </a:xfrm>
          <a:prstGeom prst="line">
            <a:avLst/>
          </a:prstGeom>
          <a:ln w="27940">
            <a:solidFill>
              <a:srgbClr val="475467"/>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02" name="Text 14"/>
          <p:cNvSpPr/>
          <p:nvPr/>
        </p:nvSpPr>
        <p:spPr>
          <a:xfrm>
            <a:off x="1005840" y="3840480"/>
            <a:ext cx="3108240" cy="273600"/>
          </a:xfrm>
          <a:prstGeom prst="rect">
            <a:avLst/>
          </a:prstGeom>
          <a:noFill/>
          <a:ln w="0">
            <a:noFill/>
          </a:ln>
        </p:spPr>
        <p:style>
          <a:lnRef idx="0"/>
          <a:fillRef idx="0"/>
          <a:effectRef idx="0"/>
          <a:fontRef idx="minor"/>
        </p:style>
        <p:txBody>
          <a:bodyPr lIns="360" tIns="360" rIns="360" bIns="360" anchor="t">
            <a:normAutofit fontScale="70000" lnSpcReduction="19999"/>
          </a:bodyPr>
          <a:p>
            <a:pPr defTabSz="914400">
              <a:lnSpc>
                <a:spcPct val="100000"/>
              </a:lnSpc>
              <a:tabLst>
                <a:tab pos="0" algn="l"/>
              </a:tabLst>
            </a:pPr>
            <a:r>
              <a:rPr lang="en-US" sz="1800" b="1" u="none" strike="noStrike">
                <a:solidFill>
                  <a:srgbClr val="002B49"/>
                </a:solidFill>
                <a:effectLst/>
                <a:uFillTx/>
                <a:latin typeface="Aptos"/>
              </a:rPr>
              <a:t>Example: braking from a video frame</a:t>
            </a:r>
            <a:endParaRPr lang="en-US" sz="1800" b="0" u="none" strike="noStrike">
              <a:solidFill>
                <a:srgbClr val="000000"/>
              </a:solidFill>
              <a:effectLst/>
              <a:uFillTx/>
              <a:latin typeface="Arial"/>
            </a:endParaRPr>
          </a:p>
        </p:txBody>
      </p:sp>
      <p:sp>
        <p:nvSpPr>
          <p:cNvPr id="203" name="Text 15"/>
          <p:cNvSpPr/>
          <p:nvPr/>
        </p:nvSpPr>
        <p:spPr>
          <a:xfrm>
            <a:off x="1143000" y="4316040"/>
            <a:ext cx="9691920" cy="1050840"/>
          </a:xfrm>
          <a:prstGeom prst="rect">
            <a:avLst/>
          </a:prstGeom>
          <a:noFill/>
          <a:ln w="0">
            <a:noFill/>
          </a:ln>
        </p:spPr>
        <p:style>
          <a:lnRef idx="0"/>
          <a:fillRef idx="0"/>
          <a:effectRef idx="0"/>
          <a:fontRef idx="minor"/>
        </p:style>
        <p:txBody>
          <a:bodyPr lIns="360" tIns="360" rIns="360" bIns="360" anchor="ctr">
            <a:normAutofit fontScale="92500" lnSpcReduction="9999"/>
          </a:bodyPr>
          <a:p>
            <a:pPr>
              <a:lnSpc>
                <a:spcPct val="100000"/>
              </a:lnSpc>
            </a:pPr>
            <a:r>
              <a:rPr lang="en-US" sz="1550" b="0" u="none" strike="noStrike">
                <a:solidFill>
                  <a:srgbClr val="111827"/>
                </a:solidFill>
                <a:effectLst/>
                <a:uFillTx/>
                <a:latin typeface="Aptos"/>
              </a:rPr>
              <a:t>A single frame may show red lights.</a:t>
            </a:r>
            <a:endParaRPr lang="en-US" sz="155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50" b="0" u="none" strike="noStrike">
                <a:solidFill>
                  <a:srgbClr val="111827"/>
                </a:solidFill>
                <a:effectLst/>
                <a:uFillTx/>
                <a:latin typeface="Aptos"/>
              </a:rPr>
              <a:t> </a:t>
            </a:r>
            <a:endParaRPr lang="en-US" sz="155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50" b="0" u="none" strike="noStrike">
                <a:solidFill>
                  <a:srgbClr val="111827"/>
                </a:solidFill>
                <a:effectLst/>
                <a:uFillTx/>
                <a:latin typeface="Aptos"/>
              </a:rPr>
              <a:t>A short history can reveal whether lights just turned on.</a:t>
            </a:r>
            <a:endParaRPr lang="en-US" sz="155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50" b="0" u="none" strike="noStrike">
                <a:solidFill>
                  <a:srgbClr val="111827"/>
                </a:solidFill>
                <a:effectLst/>
                <a:uFillTx/>
                <a:latin typeface="Aptos"/>
              </a:rPr>
              <a:t> </a:t>
            </a:r>
            <a:endParaRPr lang="en-US" sz="155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50" b="0" u="none" strike="noStrike">
                <a:solidFill>
                  <a:srgbClr val="111827"/>
                </a:solidFill>
                <a:effectLst/>
                <a:uFillTx/>
                <a:latin typeface="Aptos"/>
              </a:rPr>
              <a:t>Memory changes what the agent can infer.</a:t>
            </a:r>
            <a:endParaRPr lang="en-US" sz="1550" b="0" u="none" strike="noStrike">
              <a:solidFill>
                <a:srgbClr val="000000"/>
              </a:solidFill>
              <a:effectLst/>
              <a:uFillTx/>
              <a:latin typeface="Arial"/>
            </a:endParaRPr>
          </a:p>
        </p:txBody>
      </p:sp>
      <p:sp>
        <p:nvSpPr>
          <p:cNvPr id="204" name="Text 16"/>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205" name="Text 17"/>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11</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Agent function vs. agent program</a:t>
            </a:r>
            <a:endParaRPr lang="en-US" sz="3000" b="0" u="none" strike="noStrike">
              <a:solidFill>
                <a:srgbClr val="000000"/>
              </a:solidFill>
              <a:effectLst/>
              <a:uFillTx/>
              <a:latin typeface="Arial"/>
            </a:endParaRPr>
          </a:p>
        </p:txBody>
      </p:sp>
      <p:sp>
        <p:nvSpPr>
          <p:cNvPr id="207"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08"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One is an abstract behavior; the other is executable implementation.</a:t>
            </a:r>
            <a:endParaRPr lang="en-US" sz="1150" b="0" u="none" strike="noStrike">
              <a:solidFill>
                <a:srgbClr val="000000"/>
              </a:solidFill>
              <a:effectLst/>
              <a:uFillTx/>
              <a:latin typeface="Arial"/>
            </a:endParaRPr>
          </a:p>
        </p:txBody>
      </p:sp>
      <p:sp>
        <p:nvSpPr>
          <p:cNvPr id="209" name="Shape 3"/>
          <p:cNvSpPr/>
          <p:nvPr/>
        </p:nvSpPr>
        <p:spPr>
          <a:xfrm>
            <a:off x="914400" y="1417320"/>
            <a:ext cx="4617000" cy="1919520"/>
          </a:xfrm>
          <a:prstGeom prst="roundRect">
            <a:avLst>
              <a:gd name="adj" fmla="val 5714"/>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0" name="Text 4"/>
          <p:cNvSpPr/>
          <p:nvPr/>
        </p:nvSpPr>
        <p:spPr>
          <a:xfrm>
            <a:off x="1097280" y="1572840"/>
            <a:ext cx="42512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Agent function</a:t>
            </a:r>
            <a:endParaRPr lang="en-US" sz="1600" b="0" u="none" strike="noStrike">
              <a:solidFill>
                <a:srgbClr val="000000"/>
              </a:solidFill>
              <a:effectLst/>
              <a:uFillTx/>
              <a:latin typeface="Arial"/>
            </a:endParaRPr>
          </a:p>
        </p:txBody>
      </p:sp>
      <p:sp>
        <p:nvSpPr>
          <p:cNvPr id="211" name="Text 5"/>
          <p:cNvSpPr/>
          <p:nvPr/>
        </p:nvSpPr>
        <p:spPr>
          <a:xfrm>
            <a:off x="1115640" y="1947600"/>
            <a:ext cx="4214520" cy="12794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Mathematical description: for every possible percept sequence, what action should be selected?</a:t>
            </a:r>
            <a:endParaRPr lang="en-US" sz="1270" b="0" u="none" strike="noStrike">
              <a:solidFill>
                <a:srgbClr val="000000"/>
              </a:solidFill>
              <a:effectLst/>
              <a:uFillTx/>
              <a:latin typeface="Arial"/>
            </a:endParaRPr>
          </a:p>
        </p:txBody>
      </p:sp>
      <p:sp>
        <p:nvSpPr>
          <p:cNvPr id="212" name="Shape 6"/>
          <p:cNvSpPr/>
          <p:nvPr/>
        </p:nvSpPr>
        <p:spPr>
          <a:xfrm>
            <a:off x="6629400" y="1417320"/>
            <a:ext cx="4617000" cy="1919520"/>
          </a:xfrm>
          <a:prstGeom prst="roundRect">
            <a:avLst>
              <a:gd name="adj" fmla="val 5714"/>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3" name="Text 7"/>
          <p:cNvSpPr/>
          <p:nvPr/>
        </p:nvSpPr>
        <p:spPr>
          <a:xfrm>
            <a:off x="6812280" y="1572840"/>
            <a:ext cx="42512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Agent program</a:t>
            </a:r>
            <a:endParaRPr lang="en-US" sz="1600" b="0" u="none" strike="noStrike">
              <a:solidFill>
                <a:srgbClr val="000000"/>
              </a:solidFill>
              <a:effectLst/>
              <a:uFillTx/>
              <a:latin typeface="Arial"/>
            </a:endParaRPr>
          </a:p>
        </p:txBody>
      </p:sp>
      <p:sp>
        <p:nvSpPr>
          <p:cNvPr id="214" name="Text 8"/>
          <p:cNvSpPr/>
          <p:nvPr/>
        </p:nvSpPr>
        <p:spPr>
          <a:xfrm>
            <a:off x="6830640" y="1947600"/>
            <a:ext cx="4214520" cy="12794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Concrete implementation: code running on hardware that receives the current percept and returns an action.</a:t>
            </a:r>
            <a:endParaRPr lang="en-US" sz="1270" b="0" u="none" strike="noStrike">
              <a:solidFill>
                <a:srgbClr val="000000"/>
              </a:solidFill>
              <a:effectLst/>
              <a:uFillTx/>
              <a:latin typeface="Arial"/>
            </a:endParaRPr>
          </a:p>
        </p:txBody>
      </p:sp>
      <p:sp>
        <p:nvSpPr>
          <p:cNvPr id="215" name="Text 9"/>
          <p:cNvSpPr/>
          <p:nvPr/>
        </p:nvSpPr>
        <p:spPr>
          <a:xfrm>
            <a:off x="914400" y="4160520"/>
            <a:ext cx="5119920" cy="291960"/>
          </a:xfrm>
          <a:prstGeom prst="rect">
            <a:avLst/>
          </a:prstGeom>
          <a:noFill/>
          <a:ln w="0">
            <a:noFill/>
          </a:ln>
        </p:spPr>
        <p:style>
          <a:lnRef idx="0"/>
          <a:fillRef idx="0"/>
          <a:effectRef idx="0"/>
          <a:fontRef idx="minor"/>
        </p:style>
        <p:txBody>
          <a:bodyPr lIns="360" tIns="360" rIns="360" bIns="360" anchor="t">
            <a:normAutofit fontScale="70000" lnSpcReduction="19999"/>
          </a:bodyPr>
          <a:p>
            <a:pPr defTabSz="914400">
              <a:lnSpc>
                <a:spcPct val="100000"/>
              </a:lnSpc>
              <a:tabLst>
                <a:tab pos="0" algn="l"/>
              </a:tabLst>
            </a:pPr>
            <a:r>
              <a:rPr lang="en-US" sz="1900" b="1" u="none" strike="noStrike">
                <a:solidFill>
                  <a:srgbClr val="002B49"/>
                </a:solidFill>
                <a:effectLst/>
                <a:uFillTx/>
                <a:latin typeface="Aptos"/>
              </a:rPr>
              <a:t>Why not just tabulate every possible percept sequence?</a:t>
            </a:r>
            <a:endParaRPr lang="en-US" sz="1900" b="0" u="none" strike="noStrike">
              <a:solidFill>
                <a:srgbClr val="000000"/>
              </a:solidFill>
              <a:effectLst/>
              <a:uFillTx/>
              <a:latin typeface="Arial"/>
            </a:endParaRPr>
          </a:p>
        </p:txBody>
      </p:sp>
      <p:sp>
        <p:nvSpPr>
          <p:cNvPr id="216" name="Shape 10"/>
          <p:cNvSpPr/>
          <p:nvPr/>
        </p:nvSpPr>
        <p:spPr>
          <a:xfrm>
            <a:off x="6355080" y="3950280"/>
            <a:ext cx="4754160" cy="822240"/>
          </a:xfrm>
          <a:prstGeom prst="roundRect">
            <a:avLst>
              <a:gd name="adj" fmla="val 13333"/>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7" name="Text 11"/>
          <p:cNvSpPr/>
          <p:nvPr/>
        </p:nvSpPr>
        <p:spPr>
          <a:xfrm>
            <a:off x="6556320" y="4133160"/>
            <a:ext cx="4351680" cy="50220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600" b="1" u="none" strike="noStrike">
                <a:solidFill>
                  <a:srgbClr val="002B49"/>
                </a:solidFill>
                <a:effectLst/>
                <a:uFillTx/>
                <a:latin typeface="Aptos"/>
              </a:rPr>
              <a:t>The table grows explosively. AI needs compact programs that produce rational behavior.</a:t>
            </a:r>
            <a:endParaRPr lang="en-US" sz="1600" b="0" u="none" strike="noStrike">
              <a:solidFill>
                <a:srgbClr val="000000"/>
              </a:solidFill>
              <a:effectLst/>
              <a:uFillTx/>
              <a:latin typeface="Arial"/>
            </a:endParaRPr>
          </a:p>
        </p:txBody>
      </p:sp>
      <p:sp>
        <p:nvSpPr>
          <p:cNvPr id="218" name="Text 12"/>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219" name="Text 13"/>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12</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Good behavior: performance measures</a:t>
            </a:r>
            <a:endParaRPr lang="en-US" sz="3000" b="0" u="none" strike="noStrike">
              <a:solidFill>
                <a:srgbClr val="000000"/>
              </a:solidFill>
              <a:effectLst/>
              <a:uFillTx/>
              <a:latin typeface="Arial"/>
            </a:endParaRPr>
          </a:p>
        </p:txBody>
      </p:sp>
      <p:sp>
        <p:nvSpPr>
          <p:cNvPr id="221"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22"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Rationality is judged by consequences relative to a measure.</a:t>
            </a:r>
            <a:endParaRPr lang="en-US" sz="1150" b="0" u="none" strike="noStrike">
              <a:solidFill>
                <a:srgbClr val="000000"/>
              </a:solidFill>
              <a:effectLst/>
              <a:uFillTx/>
              <a:latin typeface="Arial"/>
            </a:endParaRPr>
          </a:p>
        </p:txBody>
      </p:sp>
      <p:sp>
        <p:nvSpPr>
          <p:cNvPr id="223" name="Shape 3"/>
          <p:cNvSpPr/>
          <p:nvPr/>
        </p:nvSpPr>
        <p:spPr>
          <a:xfrm>
            <a:off x="777240" y="1463040"/>
            <a:ext cx="3382560" cy="1965240"/>
          </a:xfrm>
          <a:prstGeom prst="roundRect">
            <a:avLst>
              <a:gd name="adj" fmla="val 5581"/>
            </a:avLst>
          </a:prstGeom>
          <a:solidFill>
            <a:srgbClr val="FFF1F0"/>
          </a:solidFill>
          <a:ln w="16510">
            <a:solidFill>
              <a:srgbClr val="C5303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4" name="Text 4"/>
          <p:cNvSpPr/>
          <p:nvPr/>
        </p:nvSpPr>
        <p:spPr>
          <a:xfrm>
            <a:off x="960120" y="1618560"/>
            <a:ext cx="30168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53030"/>
                </a:solidFill>
                <a:effectLst/>
                <a:uFillTx/>
                <a:latin typeface="Aptos"/>
              </a:rPr>
              <a:t>Vacuum cleaner</a:t>
            </a:r>
            <a:endParaRPr lang="en-US" sz="1600" b="0" u="none" strike="noStrike">
              <a:solidFill>
                <a:srgbClr val="000000"/>
              </a:solidFill>
              <a:effectLst/>
              <a:uFillTx/>
              <a:latin typeface="Arial"/>
            </a:endParaRPr>
          </a:p>
        </p:txBody>
      </p:sp>
      <p:sp>
        <p:nvSpPr>
          <p:cNvPr id="225" name="Text 5"/>
          <p:cNvSpPr/>
          <p:nvPr/>
        </p:nvSpPr>
        <p:spPr>
          <a:xfrm>
            <a:off x="978480" y="1993320"/>
            <a:ext cx="2980080" cy="13251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Bad measure: reward dirt collected. The agent could dump dirt and clean it again.</a:t>
            </a:r>
            <a:endParaRPr lang="en-US" sz="1270" b="0" u="none" strike="noStrike">
              <a:solidFill>
                <a:srgbClr val="000000"/>
              </a:solidFill>
              <a:effectLst/>
              <a:uFillTx/>
              <a:latin typeface="Arial"/>
            </a:endParaRPr>
          </a:p>
        </p:txBody>
      </p:sp>
      <p:sp>
        <p:nvSpPr>
          <p:cNvPr id="226" name="Shape 6"/>
          <p:cNvSpPr/>
          <p:nvPr/>
        </p:nvSpPr>
        <p:spPr>
          <a:xfrm>
            <a:off x="4434840" y="1463040"/>
            <a:ext cx="3382560" cy="1965240"/>
          </a:xfrm>
          <a:prstGeom prst="roundRect">
            <a:avLst>
              <a:gd name="adj" fmla="val 5581"/>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7" name="Text 7"/>
          <p:cNvSpPr/>
          <p:nvPr/>
        </p:nvSpPr>
        <p:spPr>
          <a:xfrm>
            <a:off x="4617720" y="1618560"/>
            <a:ext cx="30168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Better measure</a:t>
            </a:r>
            <a:endParaRPr lang="en-US" sz="1600" b="0" u="none" strike="noStrike">
              <a:solidFill>
                <a:srgbClr val="000000"/>
              </a:solidFill>
              <a:effectLst/>
              <a:uFillTx/>
              <a:latin typeface="Arial"/>
            </a:endParaRPr>
          </a:p>
        </p:txBody>
      </p:sp>
      <p:sp>
        <p:nvSpPr>
          <p:cNvPr id="228" name="Text 8"/>
          <p:cNvSpPr/>
          <p:nvPr/>
        </p:nvSpPr>
        <p:spPr>
          <a:xfrm>
            <a:off x="4636080" y="1993320"/>
            <a:ext cx="2980080" cy="13251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Reward clean squares over time, possibly penalizing noise, energy, or movement.</a:t>
            </a:r>
            <a:endParaRPr lang="en-US" sz="1270" b="0" u="none" strike="noStrike">
              <a:solidFill>
                <a:srgbClr val="000000"/>
              </a:solidFill>
              <a:effectLst/>
              <a:uFillTx/>
              <a:latin typeface="Arial"/>
            </a:endParaRPr>
          </a:p>
        </p:txBody>
      </p:sp>
      <p:sp>
        <p:nvSpPr>
          <p:cNvPr id="229" name="Shape 9"/>
          <p:cNvSpPr/>
          <p:nvPr/>
        </p:nvSpPr>
        <p:spPr>
          <a:xfrm>
            <a:off x="8092440" y="1463040"/>
            <a:ext cx="3382560" cy="1965240"/>
          </a:xfrm>
          <a:prstGeom prst="roundRect">
            <a:avLst>
              <a:gd name="adj" fmla="val 5581"/>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0" name="Text 10"/>
          <p:cNvSpPr/>
          <p:nvPr/>
        </p:nvSpPr>
        <p:spPr>
          <a:xfrm>
            <a:off x="8275320" y="1618560"/>
            <a:ext cx="30168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Lesson</a:t>
            </a:r>
            <a:endParaRPr lang="en-US" sz="1600" b="0" u="none" strike="noStrike">
              <a:solidFill>
                <a:srgbClr val="000000"/>
              </a:solidFill>
              <a:effectLst/>
              <a:uFillTx/>
              <a:latin typeface="Arial"/>
            </a:endParaRPr>
          </a:p>
        </p:txBody>
      </p:sp>
      <p:sp>
        <p:nvSpPr>
          <p:cNvPr id="231" name="Text 11"/>
          <p:cNvSpPr/>
          <p:nvPr/>
        </p:nvSpPr>
        <p:spPr>
          <a:xfrm>
            <a:off x="8293680" y="1993320"/>
            <a:ext cx="2980080" cy="13251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Measure what you actually want achieved, not a convenient proxy.</a:t>
            </a:r>
            <a:endParaRPr lang="en-US" sz="1270" b="0" u="none" strike="noStrike">
              <a:solidFill>
                <a:srgbClr val="000000"/>
              </a:solidFill>
              <a:effectLst/>
              <a:uFillTx/>
              <a:latin typeface="Arial"/>
            </a:endParaRPr>
          </a:p>
        </p:txBody>
      </p:sp>
      <p:sp>
        <p:nvSpPr>
          <p:cNvPr id="232" name="Text 12"/>
          <p:cNvSpPr/>
          <p:nvPr/>
        </p:nvSpPr>
        <p:spPr>
          <a:xfrm>
            <a:off x="1005840" y="4251960"/>
            <a:ext cx="2376720" cy="27360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800" b="1" u="none" strike="noStrike">
                <a:solidFill>
                  <a:srgbClr val="002B49"/>
                </a:solidFill>
                <a:effectLst/>
                <a:uFillTx/>
                <a:latin typeface="Aptos"/>
              </a:rPr>
              <a:t>Question for students</a:t>
            </a:r>
            <a:endParaRPr lang="en-US" sz="1800" b="0" u="none" strike="noStrike">
              <a:solidFill>
                <a:srgbClr val="000000"/>
              </a:solidFill>
              <a:effectLst/>
              <a:uFillTx/>
              <a:latin typeface="Arial"/>
            </a:endParaRPr>
          </a:p>
        </p:txBody>
      </p:sp>
      <p:sp>
        <p:nvSpPr>
          <p:cNvPr id="233" name="Shape 13"/>
          <p:cNvSpPr/>
          <p:nvPr/>
        </p:nvSpPr>
        <p:spPr>
          <a:xfrm>
            <a:off x="3566160" y="4069080"/>
            <a:ext cx="7405920" cy="776520"/>
          </a:xfrm>
          <a:prstGeom prst="roundRect">
            <a:avLst>
              <a:gd name="adj" fmla="val 14118"/>
            </a:avLst>
          </a:prstGeom>
          <a:solidFill>
            <a:srgbClr val="EFF6FF"/>
          </a:solidFill>
          <a:ln w="1524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4" name="Text 14"/>
          <p:cNvSpPr/>
          <p:nvPr/>
        </p:nvSpPr>
        <p:spPr>
          <a:xfrm>
            <a:off x="3767400" y="4251960"/>
            <a:ext cx="7003440" cy="45648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1600" b="1" u="none" strike="noStrike">
                <a:solidFill>
                  <a:srgbClr val="002B49"/>
                </a:solidFill>
                <a:effectLst/>
                <a:uFillTx/>
                <a:latin typeface="Aptos"/>
              </a:rPr>
              <a:t>What could go wrong if an AI tutor is rewarded only for “minutes spent in app”?</a:t>
            </a:r>
            <a:endParaRPr lang="en-US" sz="1600" b="0" u="none" strike="noStrike">
              <a:solidFill>
                <a:srgbClr val="000000"/>
              </a:solidFill>
              <a:effectLst/>
              <a:uFillTx/>
              <a:latin typeface="Arial"/>
            </a:endParaRPr>
          </a:p>
        </p:txBody>
      </p:sp>
      <p:sp>
        <p:nvSpPr>
          <p:cNvPr id="235" name="Text 15"/>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236" name="Text 16"/>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13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Rationality is not omniscience</a:t>
            </a:r>
            <a:endParaRPr lang="en-US" sz="3000" b="0" u="none" strike="noStrike">
              <a:solidFill>
                <a:srgbClr val="000000"/>
              </a:solidFill>
              <a:effectLst/>
              <a:uFillTx/>
              <a:latin typeface="Arial"/>
            </a:endParaRPr>
          </a:p>
        </p:txBody>
      </p:sp>
      <p:sp>
        <p:nvSpPr>
          <p:cNvPr id="238"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39"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A rational action can still lead to a bad outcome.</a:t>
            </a:r>
            <a:endParaRPr lang="en-US" sz="1150" b="0" u="none" strike="noStrike">
              <a:solidFill>
                <a:srgbClr val="000000"/>
              </a:solidFill>
              <a:effectLst/>
              <a:uFillTx/>
              <a:latin typeface="Arial"/>
            </a:endParaRPr>
          </a:p>
        </p:txBody>
      </p:sp>
      <p:sp>
        <p:nvSpPr>
          <p:cNvPr id="240" name="Shape 3"/>
          <p:cNvSpPr/>
          <p:nvPr/>
        </p:nvSpPr>
        <p:spPr>
          <a:xfrm>
            <a:off x="868680" y="1417320"/>
            <a:ext cx="3016800" cy="1508040"/>
          </a:xfrm>
          <a:prstGeom prst="roundRect">
            <a:avLst>
              <a:gd name="adj" fmla="val 7273"/>
            </a:avLst>
          </a:prstGeom>
          <a:solidFill>
            <a:srgbClr val="F3EE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1" name="Text 4"/>
          <p:cNvSpPr/>
          <p:nvPr/>
        </p:nvSpPr>
        <p:spPr>
          <a:xfrm>
            <a:off x="1051560" y="1572840"/>
            <a:ext cx="26510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Omniscience</a:t>
            </a:r>
            <a:endParaRPr lang="en-US" sz="1600" b="0" u="none" strike="noStrike">
              <a:solidFill>
                <a:srgbClr val="000000"/>
              </a:solidFill>
              <a:effectLst/>
              <a:uFillTx/>
              <a:latin typeface="Arial"/>
            </a:endParaRPr>
          </a:p>
        </p:txBody>
      </p:sp>
      <p:sp>
        <p:nvSpPr>
          <p:cNvPr id="242" name="Text 5"/>
          <p:cNvSpPr/>
          <p:nvPr/>
        </p:nvSpPr>
        <p:spPr>
          <a:xfrm>
            <a:off x="1069920" y="1947600"/>
            <a:ext cx="2614320" cy="8679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Knows the actual outcome of every action.</a:t>
            </a:r>
            <a:endParaRPr lang="en-US" sz="1270" b="0" u="none" strike="noStrike">
              <a:solidFill>
                <a:srgbClr val="000000"/>
              </a:solidFill>
              <a:effectLst/>
              <a:uFillTx/>
              <a:latin typeface="Arial"/>
            </a:endParaRPr>
          </a:p>
        </p:txBody>
      </p:sp>
      <p:sp>
        <p:nvSpPr>
          <p:cNvPr id="243" name="Shape 6"/>
          <p:cNvSpPr/>
          <p:nvPr/>
        </p:nvSpPr>
        <p:spPr>
          <a:xfrm>
            <a:off x="4572000" y="1417320"/>
            <a:ext cx="3016800" cy="1508040"/>
          </a:xfrm>
          <a:prstGeom prst="roundRect">
            <a:avLst>
              <a:gd name="adj" fmla="val 7273"/>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4" name="Text 7"/>
          <p:cNvSpPr/>
          <p:nvPr/>
        </p:nvSpPr>
        <p:spPr>
          <a:xfrm>
            <a:off x="4754880" y="1572840"/>
            <a:ext cx="26510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Rationality</a:t>
            </a:r>
            <a:endParaRPr lang="en-US" sz="1600" b="0" u="none" strike="noStrike">
              <a:solidFill>
                <a:srgbClr val="000000"/>
              </a:solidFill>
              <a:effectLst/>
              <a:uFillTx/>
              <a:latin typeface="Arial"/>
            </a:endParaRPr>
          </a:p>
        </p:txBody>
      </p:sp>
      <p:sp>
        <p:nvSpPr>
          <p:cNvPr id="245" name="Text 8"/>
          <p:cNvSpPr/>
          <p:nvPr/>
        </p:nvSpPr>
        <p:spPr>
          <a:xfrm>
            <a:off x="4773240" y="1947600"/>
            <a:ext cx="2614320" cy="8679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Chooses the action expected to maximize performance using available evidence.</a:t>
            </a:r>
            <a:endParaRPr lang="en-US" sz="1270" b="0" u="none" strike="noStrike">
              <a:solidFill>
                <a:srgbClr val="000000"/>
              </a:solidFill>
              <a:effectLst/>
              <a:uFillTx/>
              <a:latin typeface="Arial"/>
            </a:endParaRPr>
          </a:p>
        </p:txBody>
      </p:sp>
      <p:sp>
        <p:nvSpPr>
          <p:cNvPr id="246" name="Shape 9"/>
          <p:cNvSpPr/>
          <p:nvPr/>
        </p:nvSpPr>
        <p:spPr>
          <a:xfrm>
            <a:off x="8275320" y="1417320"/>
            <a:ext cx="3016800" cy="1508040"/>
          </a:xfrm>
          <a:prstGeom prst="roundRect">
            <a:avLst>
              <a:gd name="adj" fmla="val 7273"/>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7" name="Text 10"/>
          <p:cNvSpPr/>
          <p:nvPr/>
        </p:nvSpPr>
        <p:spPr>
          <a:xfrm>
            <a:off x="8458200" y="1572840"/>
            <a:ext cx="26510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Perfection</a:t>
            </a:r>
            <a:endParaRPr lang="en-US" sz="1600" b="0" u="none" strike="noStrike">
              <a:solidFill>
                <a:srgbClr val="000000"/>
              </a:solidFill>
              <a:effectLst/>
              <a:uFillTx/>
              <a:latin typeface="Arial"/>
            </a:endParaRPr>
          </a:p>
        </p:txBody>
      </p:sp>
      <p:sp>
        <p:nvSpPr>
          <p:cNvPr id="248" name="Text 11"/>
          <p:cNvSpPr/>
          <p:nvPr/>
        </p:nvSpPr>
        <p:spPr>
          <a:xfrm>
            <a:off x="8476560" y="1947600"/>
            <a:ext cx="2614320" cy="8679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Always gets the best actual outcome after the fact.</a:t>
            </a:r>
            <a:endParaRPr lang="en-US" sz="1270" b="0" u="none" strike="noStrike">
              <a:solidFill>
                <a:srgbClr val="000000"/>
              </a:solidFill>
              <a:effectLst/>
              <a:uFillTx/>
              <a:latin typeface="Arial"/>
            </a:endParaRPr>
          </a:p>
        </p:txBody>
      </p:sp>
      <p:sp>
        <p:nvSpPr>
          <p:cNvPr id="249" name="Text 12"/>
          <p:cNvSpPr/>
          <p:nvPr/>
        </p:nvSpPr>
        <p:spPr>
          <a:xfrm>
            <a:off x="1143000" y="3886200"/>
            <a:ext cx="9874800" cy="4107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2200" b="1" u="none" strike="noStrike">
                <a:solidFill>
                  <a:srgbClr val="002B49"/>
                </a:solidFill>
                <a:effectLst/>
                <a:uFillTx/>
                <a:latin typeface="Aptos"/>
              </a:rPr>
              <a:t>Expected performance matters because real agents act under uncertainty.</a:t>
            </a:r>
            <a:endParaRPr lang="en-US" sz="2200" b="0" u="none" strike="noStrike">
              <a:solidFill>
                <a:srgbClr val="000000"/>
              </a:solidFill>
              <a:effectLst/>
              <a:uFillTx/>
              <a:latin typeface="Arial"/>
            </a:endParaRPr>
          </a:p>
        </p:txBody>
      </p:sp>
      <p:sp>
        <p:nvSpPr>
          <p:cNvPr id="250" name="Text 13"/>
          <p:cNvSpPr/>
          <p:nvPr/>
        </p:nvSpPr>
        <p:spPr>
          <a:xfrm>
            <a:off x="1508760" y="4663440"/>
            <a:ext cx="9143280" cy="3466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0" u="none" strike="noStrike">
                <a:solidFill>
                  <a:srgbClr val="111827"/>
                </a:solidFill>
                <a:effectLst/>
                <a:uFillTx/>
                <a:latin typeface="Aptos"/>
              </a:rPr>
              <a:t>Rational agents should also gather information when information improves future choices.</a:t>
            </a:r>
            <a:endParaRPr lang="en-US" sz="1600" b="0" u="none" strike="noStrike">
              <a:solidFill>
                <a:srgbClr val="000000"/>
              </a:solidFill>
              <a:effectLst/>
              <a:uFillTx/>
              <a:latin typeface="Arial"/>
            </a:endParaRPr>
          </a:p>
        </p:txBody>
      </p:sp>
      <p:sp>
        <p:nvSpPr>
          <p:cNvPr id="251" name="Text 14"/>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252" name="Text 15"/>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14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Activity: rational or not?</a:t>
            </a:r>
            <a:endParaRPr lang="en-US" sz="3000" b="0" u="none" strike="noStrike">
              <a:solidFill>
                <a:srgbClr val="000000"/>
              </a:solidFill>
              <a:effectLst/>
              <a:uFillTx/>
              <a:latin typeface="Arial"/>
            </a:endParaRPr>
          </a:p>
        </p:txBody>
      </p:sp>
      <p:sp>
        <p:nvSpPr>
          <p:cNvPr id="254"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55"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Decide using the agent’s evidence, not hindsight.</a:t>
            </a:r>
            <a:endParaRPr lang="en-US" sz="1150" b="0" u="none" strike="noStrike">
              <a:solidFill>
                <a:srgbClr val="000000"/>
              </a:solidFill>
              <a:effectLst/>
              <a:uFillTx/>
              <a:latin typeface="Arial"/>
            </a:endParaRPr>
          </a:p>
        </p:txBody>
      </p:sp>
      <p:sp>
        <p:nvSpPr>
          <p:cNvPr id="256" name="Shape 3"/>
          <p:cNvSpPr/>
          <p:nvPr/>
        </p:nvSpPr>
        <p:spPr>
          <a:xfrm>
            <a:off x="777240" y="1463040"/>
            <a:ext cx="3245400" cy="1645200"/>
          </a:xfrm>
          <a:prstGeom prst="roundRect">
            <a:avLst>
              <a:gd name="adj" fmla="val 6667"/>
            </a:avLst>
          </a:prstGeom>
          <a:solidFill>
            <a:srgbClr val="FFFFFF"/>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7" name="Text 4"/>
          <p:cNvSpPr/>
          <p:nvPr/>
        </p:nvSpPr>
        <p:spPr>
          <a:xfrm>
            <a:off x="960120" y="161856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Robot vacuum</a:t>
            </a:r>
            <a:endParaRPr lang="en-US" sz="1600" b="0" u="none" strike="noStrike">
              <a:solidFill>
                <a:srgbClr val="000000"/>
              </a:solidFill>
              <a:effectLst/>
              <a:uFillTx/>
              <a:latin typeface="Arial"/>
            </a:endParaRPr>
          </a:p>
        </p:txBody>
      </p:sp>
      <p:sp>
        <p:nvSpPr>
          <p:cNvPr id="258" name="Text 5"/>
          <p:cNvSpPr/>
          <p:nvPr/>
        </p:nvSpPr>
        <p:spPr>
          <a:xfrm>
            <a:off x="978480" y="1993320"/>
            <a:ext cx="2842920" cy="10051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Moves left when clean, but it may already be at the left wall.</a:t>
            </a:r>
            <a:endParaRPr lang="en-US" sz="1270" b="0" u="none" strike="noStrike">
              <a:solidFill>
                <a:srgbClr val="000000"/>
              </a:solidFill>
              <a:effectLst/>
              <a:uFillTx/>
              <a:latin typeface="Arial"/>
            </a:endParaRPr>
          </a:p>
        </p:txBody>
      </p:sp>
      <p:sp>
        <p:nvSpPr>
          <p:cNvPr id="259" name="Shape 6"/>
          <p:cNvSpPr/>
          <p:nvPr/>
        </p:nvSpPr>
        <p:spPr>
          <a:xfrm>
            <a:off x="4572000" y="1463040"/>
            <a:ext cx="3245400" cy="1645200"/>
          </a:xfrm>
          <a:prstGeom prst="roundRect">
            <a:avLst>
              <a:gd name="adj" fmla="val 6667"/>
            </a:avLst>
          </a:prstGeom>
          <a:solidFill>
            <a:srgbClr val="FFFFFF"/>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0" name="Text 7"/>
          <p:cNvSpPr/>
          <p:nvPr/>
        </p:nvSpPr>
        <p:spPr>
          <a:xfrm>
            <a:off x="4754880" y="161856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Taxi</a:t>
            </a:r>
            <a:endParaRPr lang="en-US" sz="1600" b="0" u="none" strike="noStrike">
              <a:solidFill>
                <a:srgbClr val="000000"/>
              </a:solidFill>
              <a:effectLst/>
              <a:uFillTx/>
              <a:latin typeface="Arial"/>
            </a:endParaRPr>
          </a:p>
        </p:txBody>
      </p:sp>
      <p:sp>
        <p:nvSpPr>
          <p:cNvPr id="261" name="Text 8"/>
          <p:cNvSpPr/>
          <p:nvPr/>
        </p:nvSpPr>
        <p:spPr>
          <a:xfrm>
            <a:off x="4773240" y="1993320"/>
            <a:ext cx="2842920" cy="10051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Slows down before a blind corner even though no car appears.</a:t>
            </a:r>
            <a:endParaRPr lang="en-US" sz="1270" b="0" u="none" strike="noStrike">
              <a:solidFill>
                <a:srgbClr val="000000"/>
              </a:solidFill>
              <a:effectLst/>
              <a:uFillTx/>
              <a:latin typeface="Arial"/>
            </a:endParaRPr>
          </a:p>
        </p:txBody>
      </p:sp>
      <p:sp>
        <p:nvSpPr>
          <p:cNvPr id="262" name="Shape 9"/>
          <p:cNvSpPr/>
          <p:nvPr/>
        </p:nvSpPr>
        <p:spPr>
          <a:xfrm>
            <a:off x="8366760" y="1463040"/>
            <a:ext cx="3245400" cy="1645200"/>
          </a:xfrm>
          <a:prstGeom prst="roundRect">
            <a:avLst>
              <a:gd name="adj" fmla="val 6667"/>
            </a:avLst>
          </a:prstGeom>
          <a:solidFill>
            <a:srgbClr val="FFFF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3" name="Text 10"/>
          <p:cNvSpPr/>
          <p:nvPr/>
        </p:nvSpPr>
        <p:spPr>
          <a:xfrm>
            <a:off x="8549640" y="161856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Email filter</a:t>
            </a:r>
            <a:endParaRPr lang="en-US" sz="1600" b="0" u="none" strike="noStrike">
              <a:solidFill>
                <a:srgbClr val="000000"/>
              </a:solidFill>
              <a:effectLst/>
              <a:uFillTx/>
              <a:latin typeface="Arial"/>
            </a:endParaRPr>
          </a:p>
        </p:txBody>
      </p:sp>
      <p:sp>
        <p:nvSpPr>
          <p:cNvPr id="264" name="Text 11"/>
          <p:cNvSpPr/>
          <p:nvPr/>
        </p:nvSpPr>
        <p:spPr>
          <a:xfrm>
            <a:off x="8568000" y="1993320"/>
            <a:ext cx="2842920" cy="10051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Quarantines a message because it matches known phishing indicators.</a:t>
            </a:r>
            <a:endParaRPr lang="en-US" sz="1270" b="0" u="none" strike="noStrike">
              <a:solidFill>
                <a:srgbClr val="000000"/>
              </a:solidFill>
              <a:effectLst/>
              <a:uFillTx/>
              <a:latin typeface="Arial"/>
            </a:endParaRPr>
          </a:p>
        </p:txBody>
      </p:sp>
      <p:sp>
        <p:nvSpPr>
          <p:cNvPr id="265" name="Text 12"/>
          <p:cNvSpPr/>
          <p:nvPr/>
        </p:nvSpPr>
        <p:spPr>
          <a:xfrm>
            <a:off x="960120" y="3977640"/>
            <a:ext cx="3108240" cy="25524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2000" b="1" u="none" strike="noStrike">
                <a:solidFill>
                  <a:srgbClr val="002B49"/>
                </a:solidFill>
                <a:effectLst/>
                <a:uFillTx/>
                <a:latin typeface="Aptos"/>
              </a:rPr>
              <a:t>For each case, identify:</a:t>
            </a:r>
            <a:endParaRPr lang="en-US" sz="2000" b="0" u="none" strike="noStrike">
              <a:solidFill>
                <a:srgbClr val="000000"/>
              </a:solidFill>
              <a:effectLst/>
              <a:uFillTx/>
              <a:latin typeface="Arial"/>
            </a:endParaRPr>
          </a:p>
        </p:txBody>
      </p:sp>
      <p:sp>
        <p:nvSpPr>
          <p:cNvPr id="266" name="Text 13"/>
          <p:cNvSpPr/>
          <p:nvPr/>
        </p:nvSpPr>
        <p:spPr>
          <a:xfrm>
            <a:off x="1097280" y="4434840"/>
            <a:ext cx="9691920" cy="1050840"/>
          </a:xfrm>
          <a:prstGeom prst="rect">
            <a:avLst/>
          </a:prstGeom>
          <a:noFill/>
          <a:ln w="0">
            <a:noFill/>
          </a:ln>
        </p:spPr>
        <p:style>
          <a:lnRef idx="0"/>
          <a:fillRef idx="0"/>
          <a:effectRef idx="0"/>
          <a:fontRef idx="minor"/>
        </p:style>
        <p:txBody>
          <a:bodyPr lIns="360" tIns="360" rIns="360" bIns="360" anchor="ctr">
            <a:normAutofit fontScale="92500" lnSpcReduction="9999"/>
          </a:bodyPr>
          <a:p>
            <a:pPr>
              <a:lnSpc>
                <a:spcPct val="100000"/>
              </a:lnSpc>
            </a:pPr>
            <a:r>
              <a:rPr lang="en-US" sz="1600" b="0" u="none" strike="noStrike">
                <a:solidFill>
                  <a:srgbClr val="111827"/>
                </a:solidFill>
                <a:effectLst/>
                <a:uFillTx/>
                <a:latin typeface="Aptos"/>
              </a:rPr>
              <a:t>What evidence did the agent have?</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 </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What performance measure is assumed?</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 </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What information would improve the next action?</a:t>
            </a:r>
            <a:endParaRPr lang="en-US" sz="1600" b="0" u="none" strike="noStrike">
              <a:solidFill>
                <a:srgbClr val="000000"/>
              </a:solidFill>
              <a:effectLst/>
              <a:uFillTx/>
              <a:latin typeface="Arial"/>
            </a:endParaRPr>
          </a:p>
        </p:txBody>
      </p:sp>
      <p:sp>
        <p:nvSpPr>
          <p:cNvPr id="267" name="Text 14"/>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268" name="Text 15"/>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15</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B49"/>
        </a:solidFill>
      </p:bgPr>
    </p:bg>
    <p:spTree>
      <p:nvGrpSpPr>
        <p:cNvPr id="1" name=""/>
        <p:cNvGrpSpPr/>
        <p:nvPr/>
      </p:nvGrpSpPr>
      <p:grpSpPr>
        <a:xfrm>
          <a:off x="0" y="0"/>
          <a:ext cx="0" cy="0"/>
          <a:chOff x="0" y="0"/>
          <a:chExt cx="0" cy="0"/>
        </a:xfrm>
      </p:grpSpPr>
      <p:sp>
        <p:nvSpPr>
          <p:cNvPr id="269" name="Shape 0"/>
          <p:cNvSpPr/>
          <p:nvPr/>
        </p:nvSpPr>
        <p:spPr>
          <a:xfrm>
            <a:off x="731520" y="9417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70" name="Text 1"/>
          <p:cNvSpPr/>
          <p:nvPr/>
        </p:nvSpPr>
        <p:spPr>
          <a:xfrm>
            <a:off x="731520" y="1188720"/>
            <a:ext cx="5485680" cy="59364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4400" b="1" u="none" strike="noStrike">
                <a:solidFill>
                  <a:srgbClr val="FFFFFF"/>
                </a:solidFill>
                <a:effectLst/>
                <a:uFillTx/>
                <a:latin typeface="Aptos"/>
              </a:rPr>
              <a:t>Five-minute reset</a:t>
            </a:r>
            <a:endParaRPr lang="en-US" sz="4400" b="0" u="none" strike="noStrike">
              <a:solidFill>
                <a:srgbClr val="FFFFFF"/>
              </a:solidFill>
              <a:effectLst/>
              <a:uFillTx/>
              <a:latin typeface="Arial"/>
            </a:endParaRPr>
          </a:p>
        </p:txBody>
      </p:sp>
      <p:sp>
        <p:nvSpPr>
          <p:cNvPr id="271" name="Text 2"/>
          <p:cNvSpPr/>
          <p:nvPr/>
        </p:nvSpPr>
        <p:spPr>
          <a:xfrm>
            <a:off x="777240" y="2057400"/>
            <a:ext cx="5714280" cy="6850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800" b="0" u="none" strike="noStrike">
                <a:solidFill>
                  <a:srgbClr val="DDE6F2"/>
                </a:solidFill>
                <a:effectLst/>
                <a:uFillTx/>
                <a:latin typeface="Aptos"/>
              </a:rPr>
              <a:t>When you return, we will turn the agent idea into a task specification and then into Python code.</a:t>
            </a:r>
            <a:endParaRPr lang="en-US" sz="1800" b="0" u="none" strike="noStrike">
              <a:solidFill>
                <a:srgbClr val="FFFFFF"/>
              </a:solidFill>
              <a:effectLst/>
              <a:uFillTx/>
              <a:latin typeface="Arial"/>
            </a:endParaRPr>
          </a:p>
        </p:txBody>
      </p:sp>
      <p:sp>
        <p:nvSpPr>
          <p:cNvPr id="272" name="Shape 3"/>
          <p:cNvSpPr/>
          <p:nvPr/>
        </p:nvSpPr>
        <p:spPr>
          <a:xfrm>
            <a:off x="822960" y="4389120"/>
            <a:ext cx="5211360" cy="383400"/>
          </a:xfrm>
          <a:prstGeom prst="roundRect">
            <a:avLst>
              <a:gd name="adj" fmla="val 19048"/>
            </a:avLst>
          </a:prstGeom>
          <a:solidFill>
            <a:srgbClr val="C99700"/>
          </a:solidFill>
          <a:ln w="1270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3" name="Text 4"/>
          <p:cNvSpPr/>
          <p:nvPr/>
        </p:nvSpPr>
        <p:spPr>
          <a:xfrm>
            <a:off x="932760" y="4489560"/>
            <a:ext cx="4991760" cy="109080"/>
          </a:xfrm>
          <a:prstGeom prst="rect">
            <a:avLst/>
          </a:prstGeom>
          <a:noFill/>
          <a:ln w="0">
            <a:noFill/>
          </a:ln>
        </p:spPr>
        <p:style>
          <a:lnRef idx="0"/>
          <a:fillRef idx="0"/>
          <a:effectRef idx="0"/>
          <a:fontRef idx="minor"/>
        </p:style>
        <p:txBody>
          <a:bodyPr lIns="0" tIns="0" rIns="0" bIns="0" anchor="ctr">
            <a:normAutofit fontScale="70000" lnSpcReduction="19999"/>
          </a:bodyPr>
          <a:p>
            <a:pPr algn="ctr" defTabSz="914400">
              <a:lnSpc>
                <a:spcPct val="100000"/>
              </a:lnSpc>
              <a:tabLst>
                <a:tab pos="0" algn="l"/>
              </a:tabLst>
            </a:pPr>
            <a:r>
              <a:rPr lang="en-US" sz="1150" b="1" u="none" strike="noStrike">
                <a:solidFill>
                  <a:srgbClr val="FFFFFF"/>
                </a:solidFill>
                <a:effectLst/>
                <a:uFillTx/>
                <a:latin typeface="Aptos"/>
              </a:rPr>
              <a:t>Next: PEAS → environment properties → lab notebook</a:t>
            </a:r>
            <a:endParaRPr lang="en-US" sz="1150" b="0" u="none" strike="noStrike">
              <a:solidFill>
                <a:srgbClr val="FFFFFF"/>
              </a:solidFill>
              <a:effectLst/>
              <a:uFillTx/>
              <a:latin typeface="Arial"/>
            </a:endParaRPr>
          </a:p>
        </p:txBody>
      </p:sp>
      <p:sp>
        <p:nvSpPr>
          <p:cNvPr id="274" name="Text 5"/>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Break</a:t>
            </a:r>
            <a:endParaRPr lang="en-US" sz="850" b="0" u="none" strike="noStrike">
              <a:solidFill>
                <a:srgbClr val="FFFFFF"/>
              </a:solidFill>
              <a:effectLst/>
              <a:uFillTx/>
              <a:latin typeface="Arial"/>
            </a:endParaRPr>
          </a:p>
        </p:txBody>
      </p:sp>
      <p:sp>
        <p:nvSpPr>
          <p:cNvPr id="275" name="Text 6"/>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16</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PEAS framework</a:t>
            </a:r>
            <a:endParaRPr lang="en-US" sz="3000" b="0" u="none" strike="noStrike">
              <a:solidFill>
                <a:srgbClr val="000000"/>
              </a:solidFill>
              <a:effectLst/>
              <a:uFillTx/>
              <a:latin typeface="Arial"/>
            </a:endParaRPr>
          </a:p>
        </p:txBody>
      </p:sp>
      <p:sp>
        <p:nvSpPr>
          <p:cNvPr id="277"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78"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Performance, Environment, Actuators, Sensors.</a:t>
            </a:r>
            <a:endParaRPr lang="en-US" sz="1150" b="0" u="none" strike="noStrike">
              <a:solidFill>
                <a:srgbClr val="000000"/>
              </a:solidFill>
              <a:effectLst/>
              <a:uFillTx/>
              <a:latin typeface="Arial"/>
            </a:endParaRPr>
          </a:p>
        </p:txBody>
      </p:sp>
      <p:sp>
        <p:nvSpPr>
          <p:cNvPr id="279" name="Shape 3"/>
          <p:cNvSpPr/>
          <p:nvPr/>
        </p:nvSpPr>
        <p:spPr>
          <a:xfrm>
            <a:off x="1737360" y="1417320"/>
            <a:ext cx="566280" cy="566280"/>
          </a:xfrm>
          <a:prstGeom prst="ellipse">
            <a:avLst/>
          </a:prstGeom>
          <a:solidFill>
            <a:srgbClr val="C99700"/>
          </a:solidFill>
          <a:ln w="1270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0" name="Text 4"/>
          <p:cNvSpPr/>
          <p:nvPr/>
        </p:nvSpPr>
        <p:spPr>
          <a:xfrm>
            <a:off x="1737360" y="155448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P</a:t>
            </a:r>
            <a:endParaRPr lang="en-US" sz="1400" b="0" u="none" strike="noStrike">
              <a:solidFill>
                <a:srgbClr val="000000"/>
              </a:solidFill>
              <a:effectLst/>
              <a:uFillTx/>
              <a:latin typeface="Arial"/>
            </a:endParaRPr>
          </a:p>
        </p:txBody>
      </p:sp>
      <p:sp>
        <p:nvSpPr>
          <p:cNvPr id="281" name="Text 5"/>
          <p:cNvSpPr/>
          <p:nvPr/>
        </p:nvSpPr>
        <p:spPr>
          <a:xfrm>
            <a:off x="868680" y="2148840"/>
            <a:ext cx="2285280" cy="255240"/>
          </a:xfrm>
          <a:prstGeom prst="rect">
            <a:avLst/>
          </a:prstGeom>
          <a:noFill/>
          <a:ln w="0">
            <a:noFill/>
          </a:ln>
        </p:spPr>
        <p:style>
          <a:lnRef idx="0"/>
          <a:fillRef idx="0"/>
          <a:effectRef idx="0"/>
          <a:fontRef idx="minor"/>
        </p:style>
        <p:txBody>
          <a:bodyPr lIns="360" tIns="360" rIns="360" bIns="360" anchor="t">
            <a:normAutofit lnSpcReduction="9999"/>
          </a:bodyPr>
          <a:p>
            <a:pPr algn="ctr" defTabSz="914400">
              <a:lnSpc>
                <a:spcPct val="100000"/>
              </a:lnSpc>
              <a:tabLst>
                <a:tab pos="0" algn="l"/>
              </a:tabLst>
            </a:pPr>
            <a:r>
              <a:rPr lang="en-US" sz="1800" b="1" u="none" strike="noStrike">
                <a:solidFill>
                  <a:srgbClr val="C99700"/>
                </a:solidFill>
                <a:effectLst/>
                <a:uFillTx/>
                <a:latin typeface="Aptos"/>
              </a:rPr>
              <a:t>Performance</a:t>
            </a:r>
            <a:endParaRPr lang="en-US" sz="1800" b="0" u="none" strike="noStrike">
              <a:solidFill>
                <a:srgbClr val="000000"/>
              </a:solidFill>
              <a:effectLst/>
              <a:uFillTx/>
              <a:latin typeface="Arial"/>
            </a:endParaRPr>
          </a:p>
        </p:txBody>
      </p:sp>
      <p:sp>
        <p:nvSpPr>
          <p:cNvPr id="282" name="Text 6"/>
          <p:cNvSpPr/>
          <p:nvPr/>
        </p:nvSpPr>
        <p:spPr>
          <a:xfrm>
            <a:off x="868680" y="2560320"/>
            <a:ext cx="2285280" cy="50220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300" b="0" u="none" strike="noStrike">
                <a:solidFill>
                  <a:srgbClr val="111827"/>
                </a:solidFill>
                <a:effectLst/>
                <a:uFillTx/>
                <a:latin typeface="Aptos"/>
              </a:rPr>
              <a:t>How success is measured</a:t>
            </a:r>
            <a:endParaRPr lang="en-US" sz="1300" b="0" u="none" strike="noStrike">
              <a:solidFill>
                <a:srgbClr val="000000"/>
              </a:solidFill>
              <a:effectLst/>
              <a:uFillTx/>
              <a:latin typeface="Arial"/>
            </a:endParaRPr>
          </a:p>
        </p:txBody>
      </p:sp>
      <p:sp>
        <p:nvSpPr>
          <p:cNvPr id="283" name="Shape 7"/>
          <p:cNvSpPr/>
          <p:nvPr/>
        </p:nvSpPr>
        <p:spPr>
          <a:xfrm>
            <a:off x="4572000" y="1417320"/>
            <a:ext cx="566280" cy="566280"/>
          </a:xfrm>
          <a:prstGeom prst="ellipse">
            <a:avLst/>
          </a:prstGeom>
          <a:solidFill>
            <a:srgbClr val="0E7C86"/>
          </a:solidFill>
          <a:ln w="1270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4" name="Text 8"/>
          <p:cNvSpPr/>
          <p:nvPr/>
        </p:nvSpPr>
        <p:spPr>
          <a:xfrm>
            <a:off x="4572000" y="155448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E</a:t>
            </a:r>
            <a:endParaRPr lang="en-US" sz="1400" b="0" u="none" strike="noStrike">
              <a:solidFill>
                <a:srgbClr val="000000"/>
              </a:solidFill>
              <a:effectLst/>
              <a:uFillTx/>
              <a:latin typeface="Arial"/>
            </a:endParaRPr>
          </a:p>
        </p:txBody>
      </p:sp>
      <p:sp>
        <p:nvSpPr>
          <p:cNvPr id="285" name="Text 9"/>
          <p:cNvSpPr/>
          <p:nvPr/>
        </p:nvSpPr>
        <p:spPr>
          <a:xfrm>
            <a:off x="3703320" y="2148840"/>
            <a:ext cx="2285280" cy="255240"/>
          </a:xfrm>
          <a:prstGeom prst="rect">
            <a:avLst/>
          </a:prstGeom>
          <a:noFill/>
          <a:ln w="0">
            <a:noFill/>
          </a:ln>
        </p:spPr>
        <p:style>
          <a:lnRef idx="0"/>
          <a:fillRef idx="0"/>
          <a:effectRef idx="0"/>
          <a:fontRef idx="minor"/>
        </p:style>
        <p:txBody>
          <a:bodyPr lIns="360" tIns="360" rIns="360" bIns="360" anchor="t">
            <a:normAutofit lnSpcReduction="9999"/>
          </a:bodyPr>
          <a:p>
            <a:pPr algn="ctr" defTabSz="914400">
              <a:lnSpc>
                <a:spcPct val="100000"/>
              </a:lnSpc>
              <a:tabLst>
                <a:tab pos="0" algn="l"/>
              </a:tabLst>
            </a:pPr>
            <a:r>
              <a:rPr lang="en-US" sz="1800" b="1" u="none" strike="noStrike">
                <a:solidFill>
                  <a:srgbClr val="0E7C86"/>
                </a:solidFill>
                <a:effectLst/>
                <a:uFillTx/>
                <a:latin typeface="Aptos"/>
              </a:rPr>
              <a:t>Environment</a:t>
            </a:r>
            <a:endParaRPr lang="en-US" sz="1800" b="0" u="none" strike="noStrike">
              <a:solidFill>
                <a:srgbClr val="000000"/>
              </a:solidFill>
              <a:effectLst/>
              <a:uFillTx/>
              <a:latin typeface="Arial"/>
            </a:endParaRPr>
          </a:p>
        </p:txBody>
      </p:sp>
      <p:sp>
        <p:nvSpPr>
          <p:cNvPr id="286" name="Text 10"/>
          <p:cNvSpPr/>
          <p:nvPr/>
        </p:nvSpPr>
        <p:spPr>
          <a:xfrm>
            <a:off x="3703320" y="2560320"/>
            <a:ext cx="2285280" cy="50220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300" b="0" u="none" strike="noStrike">
                <a:solidFill>
                  <a:srgbClr val="111827"/>
                </a:solidFill>
                <a:effectLst/>
                <a:uFillTx/>
                <a:latin typeface="Aptos"/>
              </a:rPr>
              <a:t>Where the agent operates</a:t>
            </a:r>
            <a:endParaRPr lang="en-US" sz="1300" b="0" u="none" strike="noStrike">
              <a:solidFill>
                <a:srgbClr val="000000"/>
              </a:solidFill>
              <a:effectLst/>
              <a:uFillTx/>
              <a:latin typeface="Arial"/>
            </a:endParaRPr>
          </a:p>
        </p:txBody>
      </p:sp>
      <p:sp>
        <p:nvSpPr>
          <p:cNvPr id="287" name="Shape 11"/>
          <p:cNvSpPr/>
          <p:nvPr/>
        </p:nvSpPr>
        <p:spPr>
          <a:xfrm>
            <a:off x="7406640" y="1417320"/>
            <a:ext cx="566280" cy="566280"/>
          </a:xfrm>
          <a:prstGeom prst="ellipse">
            <a:avLst/>
          </a:prstGeom>
          <a:solidFill>
            <a:srgbClr val="DD6B20"/>
          </a:solidFill>
          <a:ln w="1270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8" name="Text 12"/>
          <p:cNvSpPr/>
          <p:nvPr/>
        </p:nvSpPr>
        <p:spPr>
          <a:xfrm>
            <a:off x="7406640" y="155448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A</a:t>
            </a:r>
            <a:endParaRPr lang="en-US" sz="1400" b="0" u="none" strike="noStrike">
              <a:solidFill>
                <a:srgbClr val="000000"/>
              </a:solidFill>
              <a:effectLst/>
              <a:uFillTx/>
              <a:latin typeface="Arial"/>
            </a:endParaRPr>
          </a:p>
        </p:txBody>
      </p:sp>
      <p:sp>
        <p:nvSpPr>
          <p:cNvPr id="289" name="Text 13"/>
          <p:cNvSpPr/>
          <p:nvPr/>
        </p:nvSpPr>
        <p:spPr>
          <a:xfrm>
            <a:off x="6537960" y="2148840"/>
            <a:ext cx="2285280" cy="255240"/>
          </a:xfrm>
          <a:prstGeom prst="rect">
            <a:avLst/>
          </a:prstGeom>
          <a:noFill/>
          <a:ln w="0">
            <a:noFill/>
          </a:ln>
        </p:spPr>
        <p:style>
          <a:lnRef idx="0"/>
          <a:fillRef idx="0"/>
          <a:effectRef idx="0"/>
          <a:fontRef idx="minor"/>
        </p:style>
        <p:txBody>
          <a:bodyPr lIns="360" tIns="360" rIns="360" bIns="360" anchor="t">
            <a:normAutofit lnSpcReduction="9999"/>
          </a:bodyPr>
          <a:p>
            <a:pPr algn="ctr" defTabSz="914400">
              <a:lnSpc>
                <a:spcPct val="100000"/>
              </a:lnSpc>
              <a:tabLst>
                <a:tab pos="0" algn="l"/>
              </a:tabLst>
            </a:pPr>
            <a:r>
              <a:rPr lang="en-US" sz="1800" b="1" u="none" strike="noStrike">
                <a:solidFill>
                  <a:srgbClr val="DD6B20"/>
                </a:solidFill>
                <a:effectLst/>
                <a:uFillTx/>
                <a:latin typeface="Aptos"/>
              </a:rPr>
              <a:t>Actuators</a:t>
            </a:r>
            <a:endParaRPr lang="en-US" sz="1800" b="0" u="none" strike="noStrike">
              <a:solidFill>
                <a:srgbClr val="000000"/>
              </a:solidFill>
              <a:effectLst/>
              <a:uFillTx/>
              <a:latin typeface="Arial"/>
            </a:endParaRPr>
          </a:p>
        </p:txBody>
      </p:sp>
      <p:sp>
        <p:nvSpPr>
          <p:cNvPr id="290" name="Text 14"/>
          <p:cNvSpPr/>
          <p:nvPr/>
        </p:nvSpPr>
        <p:spPr>
          <a:xfrm>
            <a:off x="6537960" y="2560320"/>
            <a:ext cx="2285280" cy="50220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300" b="0" u="none" strike="noStrike">
                <a:solidFill>
                  <a:srgbClr val="111827"/>
                </a:solidFill>
                <a:effectLst/>
                <a:uFillTx/>
                <a:latin typeface="Aptos"/>
              </a:rPr>
              <a:t>How the agent acts</a:t>
            </a:r>
            <a:endParaRPr lang="en-US" sz="1300" b="0" u="none" strike="noStrike">
              <a:solidFill>
                <a:srgbClr val="000000"/>
              </a:solidFill>
              <a:effectLst/>
              <a:uFillTx/>
              <a:latin typeface="Arial"/>
            </a:endParaRPr>
          </a:p>
        </p:txBody>
      </p:sp>
      <p:sp>
        <p:nvSpPr>
          <p:cNvPr id="291" name="Shape 15"/>
          <p:cNvSpPr/>
          <p:nvPr/>
        </p:nvSpPr>
        <p:spPr>
          <a:xfrm>
            <a:off x="10241280" y="1417320"/>
            <a:ext cx="566280" cy="566280"/>
          </a:xfrm>
          <a:prstGeom prst="ellipse">
            <a:avLst/>
          </a:prstGeom>
          <a:solidFill>
            <a:srgbClr val="3273DC"/>
          </a:solidFill>
          <a:ln w="1270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2" name="Text 16"/>
          <p:cNvSpPr/>
          <p:nvPr/>
        </p:nvSpPr>
        <p:spPr>
          <a:xfrm>
            <a:off x="10241280" y="155448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S</a:t>
            </a:r>
            <a:endParaRPr lang="en-US" sz="1400" b="0" u="none" strike="noStrike">
              <a:solidFill>
                <a:srgbClr val="000000"/>
              </a:solidFill>
              <a:effectLst/>
              <a:uFillTx/>
              <a:latin typeface="Arial"/>
            </a:endParaRPr>
          </a:p>
        </p:txBody>
      </p:sp>
      <p:sp>
        <p:nvSpPr>
          <p:cNvPr id="293" name="Text 17"/>
          <p:cNvSpPr/>
          <p:nvPr/>
        </p:nvSpPr>
        <p:spPr>
          <a:xfrm>
            <a:off x="9372600" y="2148840"/>
            <a:ext cx="2285280" cy="255240"/>
          </a:xfrm>
          <a:prstGeom prst="rect">
            <a:avLst/>
          </a:prstGeom>
          <a:noFill/>
          <a:ln w="0">
            <a:noFill/>
          </a:ln>
        </p:spPr>
        <p:style>
          <a:lnRef idx="0"/>
          <a:fillRef idx="0"/>
          <a:effectRef idx="0"/>
          <a:fontRef idx="minor"/>
        </p:style>
        <p:txBody>
          <a:bodyPr lIns="360" tIns="360" rIns="360" bIns="360" anchor="t">
            <a:normAutofit lnSpcReduction="9999"/>
          </a:bodyPr>
          <a:p>
            <a:pPr algn="ctr" defTabSz="914400">
              <a:lnSpc>
                <a:spcPct val="100000"/>
              </a:lnSpc>
              <a:tabLst>
                <a:tab pos="0" algn="l"/>
              </a:tabLst>
            </a:pPr>
            <a:r>
              <a:rPr lang="en-US" sz="1800" b="1" u="none" strike="noStrike">
                <a:solidFill>
                  <a:srgbClr val="3273DC"/>
                </a:solidFill>
                <a:effectLst/>
                <a:uFillTx/>
                <a:latin typeface="Aptos"/>
              </a:rPr>
              <a:t>Sensors</a:t>
            </a:r>
            <a:endParaRPr lang="en-US" sz="1800" b="0" u="none" strike="noStrike">
              <a:solidFill>
                <a:srgbClr val="000000"/>
              </a:solidFill>
              <a:effectLst/>
              <a:uFillTx/>
              <a:latin typeface="Arial"/>
            </a:endParaRPr>
          </a:p>
        </p:txBody>
      </p:sp>
      <p:sp>
        <p:nvSpPr>
          <p:cNvPr id="294" name="Text 18"/>
          <p:cNvSpPr/>
          <p:nvPr/>
        </p:nvSpPr>
        <p:spPr>
          <a:xfrm>
            <a:off x="9372600" y="2560320"/>
            <a:ext cx="2285280" cy="50220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300" b="0" u="none" strike="noStrike">
                <a:solidFill>
                  <a:srgbClr val="111827"/>
                </a:solidFill>
                <a:effectLst/>
                <a:uFillTx/>
                <a:latin typeface="Aptos"/>
              </a:rPr>
              <a:t>How the agent perceives</a:t>
            </a:r>
            <a:endParaRPr lang="en-US" sz="1300" b="0" u="none" strike="noStrike">
              <a:solidFill>
                <a:srgbClr val="000000"/>
              </a:solidFill>
              <a:effectLst/>
              <a:uFillTx/>
              <a:latin typeface="Arial"/>
            </a:endParaRPr>
          </a:p>
        </p:txBody>
      </p:sp>
      <p:sp>
        <p:nvSpPr>
          <p:cNvPr id="295" name="Shape 19"/>
          <p:cNvSpPr/>
          <p:nvPr/>
        </p:nvSpPr>
        <p:spPr>
          <a:xfrm>
            <a:off x="1143000" y="4389120"/>
            <a:ext cx="9829080" cy="776520"/>
          </a:xfrm>
          <a:prstGeom prst="roundRect">
            <a:avLst>
              <a:gd name="adj" fmla="val 14118"/>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Text 20"/>
          <p:cNvSpPr/>
          <p:nvPr/>
        </p:nvSpPr>
        <p:spPr>
          <a:xfrm>
            <a:off x="1344240" y="4572000"/>
            <a:ext cx="9426600" cy="4564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002B49"/>
                </a:solidFill>
                <a:effectLst/>
                <a:uFillTx/>
                <a:latin typeface="Aptos"/>
              </a:rPr>
              <a:t>In designing an agent, specify PEAS as fully as possible before choosing algorithms.</a:t>
            </a:r>
            <a:endParaRPr lang="en-US" sz="1600" b="0" u="none" strike="noStrike">
              <a:solidFill>
                <a:srgbClr val="000000"/>
              </a:solidFill>
              <a:effectLst/>
              <a:uFillTx/>
              <a:latin typeface="Arial"/>
            </a:endParaRPr>
          </a:p>
        </p:txBody>
      </p:sp>
      <p:sp>
        <p:nvSpPr>
          <p:cNvPr id="297" name="Text 21"/>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298" name="Text 22"/>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17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PEAS example: automated taxi</a:t>
            </a:r>
            <a:endParaRPr lang="en-US" sz="3000" b="0" u="none" strike="noStrike">
              <a:solidFill>
                <a:srgbClr val="000000"/>
              </a:solidFill>
              <a:effectLst/>
              <a:uFillTx/>
              <a:latin typeface="Arial"/>
            </a:endParaRPr>
          </a:p>
        </p:txBody>
      </p:sp>
      <p:sp>
        <p:nvSpPr>
          <p:cNvPr id="300"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01"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A complex agent shows why specification matters.</a:t>
            </a:r>
            <a:endParaRPr lang="en-US" sz="1150" b="0" u="none" strike="noStrike">
              <a:solidFill>
                <a:srgbClr val="000000"/>
              </a:solidFill>
              <a:effectLst/>
              <a:uFillTx/>
              <a:latin typeface="Arial"/>
            </a:endParaRPr>
          </a:p>
        </p:txBody>
      </p:sp>
      <p:pic>
        <p:nvPicPr>
          <p:cNvPr id="302" name="Image 0" descr="/mnt/data/a_clean_infographic_illustration_with_a_central_sc.png"/>
          <p:cNvPicPr/>
          <p:nvPr/>
        </p:nvPicPr>
        <p:blipFill>
          <a:blip r:embed="rId1"/>
          <a:srcRect l="51989" t="0" r="-23453" b="0"/>
          <a:stretch/>
        </p:blipFill>
        <p:spPr>
          <a:xfrm>
            <a:off x="594360" y="1143000"/>
            <a:ext cx="5165640" cy="4068360"/>
          </a:xfrm>
          <a:prstGeom prst="rect">
            <a:avLst/>
          </a:prstGeom>
          <a:noFill/>
          <a:ln w="0">
            <a:noFill/>
          </a:ln>
        </p:spPr>
      </p:pic>
      <p:sp>
        <p:nvSpPr>
          <p:cNvPr id="303" name="Shape 3"/>
          <p:cNvSpPr/>
          <p:nvPr/>
        </p:nvSpPr>
        <p:spPr>
          <a:xfrm>
            <a:off x="6126480" y="1188720"/>
            <a:ext cx="2422440" cy="1096560"/>
          </a:xfrm>
          <a:prstGeom prst="roundRect">
            <a:avLst>
              <a:gd name="adj" fmla="val 10000"/>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4" name="Text 4"/>
          <p:cNvSpPr/>
          <p:nvPr/>
        </p:nvSpPr>
        <p:spPr>
          <a:xfrm>
            <a:off x="6309360" y="1344240"/>
            <a:ext cx="20566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Performance</a:t>
            </a:r>
            <a:endParaRPr lang="en-US" sz="1600" b="0" u="none" strike="noStrike">
              <a:solidFill>
                <a:srgbClr val="000000"/>
              </a:solidFill>
              <a:effectLst/>
              <a:uFillTx/>
              <a:latin typeface="Arial"/>
            </a:endParaRPr>
          </a:p>
        </p:txBody>
      </p:sp>
      <p:sp>
        <p:nvSpPr>
          <p:cNvPr id="305" name="Text 5"/>
          <p:cNvSpPr/>
          <p:nvPr/>
        </p:nvSpPr>
        <p:spPr>
          <a:xfrm>
            <a:off x="6327720" y="1719000"/>
            <a:ext cx="2019960" cy="4564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Safe, legal, comfortable, efficient, profitable trip.</a:t>
            </a:r>
            <a:endParaRPr lang="en-US" sz="1270" b="0" u="none" strike="noStrike">
              <a:solidFill>
                <a:srgbClr val="000000"/>
              </a:solidFill>
              <a:effectLst/>
              <a:uFillTx/>
              <a:latin typeface="Arial"/>
            </a:endParaRPr>
          </a:p>
        </p:txBody>
      </p:sp>
      <p:sp>
        <p:nvSpPr>
          <p:cNvPr id="306" name="Shape 6"/>
          <p:cNvSpPr/>
          <p:nvPr/>
        </p:nvSpPr>
        <p:spPr>
          <a:xfrm>
            <a:off x="8915400" y="1188720"/>
            <a:ext cx="2422440" cy="1096560"/>
          </a:xfrm>
          <a:prstGeom prst="roundRect">
            <a:avLst>
              <a:gd name="adj" fmla="val 10000"/>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7" name="Text 7"/>
          <p:cNvSpPr/>
          <p:nvPr/>
        </p:nvSpPr>
        <p:spPr>
          <a:xfrm>
            <a:off x="9098280" y="1344240"/>
            <a:ext cx="20566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Environment</a:t>
            </a:r>
            <a:endParaRPr lang="en-US" sz="1600" b="0" u="none" strike="noStrike">
              <a:solidFill>
                <a:srgbClr val="000000"/>
              </a:solidFill>
              <a:effectLst/>
              <a:uFillTx/>
              <a:latin typeface="Arial"/>
            </a:endParaRPr>
          </a:p>
        </p:txBody>
      </p:sp>
      <p:sp>
        <p:nvSpPr>
          <p:cNvPr id="308" name="Text 8"/>
          <p:cNvSpPr/>
          <p:nvPr/>
        </p:nvSpPr>
        <p:spPr>
          <a:xfrm>
            <a:off x="9116640" y="1719000"/>
            <a:ext cx="2019960" cy="45648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270" b="0" u="none" strike="noStrike">
                <a:solidFill>
                  <a:srgbClr val="111827"/>
                </a:solidFill>
                <a:effectLst/>
                <a:uFillTx/>
                <a:latin typeface="Aptos"/>
              </a:rPr>
              <a:t>Roads, vehicles, pedestrians, weather, passengers.</a:t>
            </a:r>
            <a:endParaRPr lang="en-US" sz="1270" b="0" u="none" strike="noStrike">
              <a:solidFill>
                <a:srgbClr val="000000"/>
              </a:solidFill>
              <a:effectLst/>
              <a:uFillTx/>
              <a:latin typeface="Arial"/>
            </a:endParaRPr>
          </a:p>
        </p:txBody>
      </p:sp>
      <p:sp>
        <p:nvSpPr>
          <p:cNvPr id="309" name="Shape 9"/>
          <p:cNvSpPr/>
          <p:nvPr/>
        </p:nvSpPr>
        <p:spPr>
          <a:xfrm>
            <a:off x="6126480" y="2743200"/>
            <a:ext cx="2422440" cy="1096560"/>
          </a:xfrm>
          <a:prstGeom prst="roundRect">
            <a:avLst>
              <a:gd name="adj" fmla="val 10000"/>
            </a:avLst>
          </a:prstGeom>
          <a:solidFill>
            <a:srgbClr val="FFF3E8"/>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0" name="Text 10"/>
          <p:cNvSpPr/>
          <p:nvPr/>
        </p:nvSpPr>
        <p:spPr>
          <a:xfrm>
            <a:off x="6309360" y="2898720"/>
            <a:ext cx="20566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Actuators</a:t>
            </a:r>
            <a:endParaRPr lang="en-US" sz="1600" b="0" u="none" strike="noStrike">
              <a:solidFill>
                <a:srgbClr val="000000"/>
              </a:solidFill>
              <a:effectLst/>
              <a:uFillTx/>
              <a:latin typeface="Arial"/>
            </a:endParaRPr>
          </a:p>
        </p:txBody>
      </p:sp>
      <p:sp>
        <p:nvSpPr>
          <p:cNvPr id="311" name="Text 11"/>
          <p:cNvSpPr/>
          <p:nvPr/>
        </p:nvSpPr>
        <p:spPr>
          <a:xfrm>
            <a:off x="6327720" y="3273480"/>
            <a:ext cx="2019960" cy="4564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Steering, braking, accelerator, display, voice.</a:t>
            </a:r>
            <a:endParaRPr lang="en-US" sz="1270" b="0" u="none" strike="noStrike">
              <a:solidFill>
                <a:srgbClr val="000000"/>
              </a:solidFill>
              <a:effectLst/>
              <a:uFillTx/>
              <a:latin typeface="Arial"/>
            </a:endParaRPr>
          </a:p>
        </p:txBody>
      </p:sp>
      <p:sp>
        <p:nvSpPr>
          <p:cNvPr id="312" name="Shape 12"/>
          <p:cNvSpPr/>
          <p:nvPr/>
        </p:nvSpPr>
        <p:spPr>
          <a:xfrm>
            <a:off x="8915400" y="2743200"/>
            <a:ext cx="2422440" cy="1096560"/>
          </a:xfrm>
          <a:prstGeom prst="roundRect">
            <a:avLst>
              <a:gd name="adj" fmla="val 10000"/>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3" name="Text 13"/>
          <p:cNvSpPr/>
          <p:nvPr/>
        </p:nvSpPr>
        <p:spPr>
          <a:xfrm>
            <a:off x="9098280" y="2898720"/>
            <a:ext cx="20566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Sensors</a:t>
            </a:r>
            <a:endParaRPr lang="en-US" sz="1600" b="0" u="none" strike="noStrike">
              <a:solidFill>
                <a:srgbClr val="000000"/>
              </a:solidFill>
              <a:effectLst/>
              <a:uFillTx/>
              <a:latin typeface="Arial"/>
            </a:endParaRPr>
          </a:p>
        </p:txBody>
      </p:sp>
      <p:sp>
        <p:nvSpPr>
          <p:cNvPr id="314" name="Text 14"/>
          <p:cNvSpPr/>
          <p:nvPr/>
        </p:nvSpPr>
        <p:spPr>
          <a:xfrm>
            <a:off x="9116640" y="3273480"/>
            <a:ext cx="2019960" cy="45648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270" b="0" u="none" strike="noStrike">
                <a:solidFill>
                  <a:srgbClr val="111827"/>
                </a:solidFill>
                <a:effectLst/>
                <a:uFillTx/>
                <a:latin typeface="Aptos"/>
              </a:rPr>
              <a:t>Cameras, lidar, speedometer, GPS, microphones.</a:t>
            </a:r>
            <a:endParaRPr lang="en-US" sz="1270" b="0" u="none" strike="noStrike">
              <a:solidFill>
                <a:srgbClr val="000000"/>
              </a:solidFill>
              <a:effectLst/>
              <a:uFillTx/>
              <a:latin typeface="Arial"/>
            </a:endParaRPr>
          </a:p>
        </p:txBody>
      </p:sp>
      <p:sp>
        <p:nvSpPr>
          <p:cNvPr id="315" name="Text 15"/>
          <p:cNvSpPr/>
          <p:nvPr/>
        </p:nvSpPr>
        <p:spPr>
          <a:xfrm>
            <a:off x="6263640" y="4736520"/>
            <a:ext cx="4937040" cy="50220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500" b="1" u="none" strike="noStrike">
                <a:solidFill>
                  <a:srgbClr val="002B49"/>
                </a:solidFill>
                <a:effectLst/>
                <a:uFillTx/>
                <a:latin typeface="Aptos"/>
              </a:rPr>
              <a:t>Tradeoffs are unavoidable: speed vs. safety, cost vs. comfort, profit vs. passenger preference.</a:t>
            </a:r>
            <a:endParaRPr lang="en-US" sz="1500" b="0" u="none" strike="noStrike">
              <a:solidFill>
                <a:srgbClr val="000000"/>
              </a:solidFill>
              <a:effectLst/>
              <a:uFillTx/>
              <a:latin typeface="Arial"/>
            </a:endParaRPr>
          </a:p>
        </p:txBody>
      </p:sp>
      <p:sp>
        <p:nvSpPr>
          <p:cNvPr id="316" name="Text 16"/>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317" name="Text 17"/>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18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PEAS example: grid-world cleaner</a:t>
            </a:r>
            <a:endParaRPr lang="en-US" sz="3000" b="0" u="none" strike="noStrike">
              <a:solidFill>
                <a:srgbClr val="000000"/>
              </a:solidFill>
              <a:effectLst/>
              <a:uFillTx/>
              <a:latin typeface="Arial"/>
            </a:endParaRPr>
          </a:p>
        </p:txBody>
      </p:sp>
      <p:sp>
        <p:nvSpPr>
          <p:cNvPr id="319"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20"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The lab version is intentionally small but conceptually complete.</a:t>
            </a:r>
            <a:endParaRPr lang="en-US" sz="1150" b="0" u="none" strike="noStrike">
              <a:solidFill>
                <a:srgbClr val="000000"/>
              </a:solidFill>
              <a:effectLst/>
              <a:uFillTx/>
              <a:latin typeface="Arial"/>
            </a:endParaRPr>
          </a:p>
        </p:txBody>
      </p:sp>
      <p:pic>
        <p:nvPicPr>
          <p:cNvPr id="321" name="Image 0" descr="/mnt/data/a_clean_infographic_diagram_style_illustration_o.png"/>
          <p:cNvPicPr/>
          <p:nvPr/>
        </p:nvPicPr>
        <p:blipFill>
          <a:blip r:embed="rId1"/>
          <a:srcRect l="44991" t="0" r="-17266" b="0"/>
          <a:stretch/>
        </p:blipFill>
        <p:spPr>
          <a:xfrm>
            <a:off x="640080" y="1143000"/>
            <a:ext cx="5165640" cy="4022640"/>
          </a:xfrm>
          <a:prstGeom prst="rect">
            <a:avLst/>
          </a:prstGeom>
          <a:noFill/>
          <a:ln w="0">
            <a:noFill/>
          </a:ln>
        </p:spPr>
      </p:pic>
      <p:sp>
        <p:nvSpPr>
          <p:cNvPr id="322" name="Shape 3"/>
          <p:cNvSpPr/>
          <p:nvPr/>
        </p:nvSpPr>
        <p:spPr>
          <a:xfrm>
            <a:off x="6172200" y="1188720"/>
            <a:ext cx="2422440" cy="1096560"/>
          </a:xfrm>
          <a:prstGeom prst="roundRect">
            <a:avLst>
              <a:gd name="adj" fmla="val 10000"/>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3" name="Text 4"/>
          <p:cNvSpPr/>
          <p:nvPr/>
        </p:nvSpPr>
        <p:spPr>
          <a:xfrm>
            <a:off x="6355080" y="1344240"/>
            <a:ext cx="20566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Performance</a:t>
            </a:r>
            <a:endParaRPr lang="en-US" sz="1600" b="0" u="none" strike="noStrike">
              <a:solidFill>
                <a:srgbClr val="000000"/>
              </a:solidFill>
              <a:effectLst/>
              <a:uFillTx/>
              <a:latin typeface="Arial"/>
            </a:endParaRPr>
          </a:p>
        </p:txBody>
      </p:sp>
      <p:sp>
        <p:nvSpPr>
          <p:cNvPr id="324" name="Text 5"/>
          <p:cNvSpPr/>
          <p:nvPr/>
        </p:nvSpPr>
        <p:spPr>
          <a:xfrm>
            <a:off x="6373440" y="1719000"/>
            <a:ext cx="2019960" cy="456480"/>
          </a:xfrm>
          <a:prstGeom prst="rect">
            <a:avLst/>
          </a:prstGeom>
          <a:noFill/>
          <a:ln w="0">
            <a:noFill/>
          </a:ln>
        </p:spPr>
        <p:style>
          <a:lnRef idx="0"/>
          <a:fillRef idx="0"/>
          <a:effectRef idx="0"/>
          <a:fontRef idx="minor"/>
        </p:style>
        <p:txBody>
          <a:bodyPr lIns="360" tIns="360" rIns="360" bIns="360" anchor="ctr">
            <a:normAutofit fontScale="92500" lnSpcReduction="9999"/>
          </a:bodyPr>
          <a:p>
            <a:pPr algn="ctr" defTabSz="914400">
              <a:lnSpc>
                <a:spcPct val="100000"/>
              </a:lnSpc>
              <a:tabLst>
                <a:tab pos="0" algn="l"/>
              </a:tabLst>
            </a:pPr>
            <a:r>
              <a:rPr lang="en-US" sz="1270" b="0" u="none" strike="noStrike">
                <a:solidFill>
                  <a:srgbClr val="111827"/>
                </a:solidFill>
                <a:effectLst/>
                <a:uFillTx/>
                <a:latin typeface="Aptos"/>
              </a:rPr>
              <a:t>+1 for clean cells; penalties for movement or time.</a:t>
            </a:r>
            <a:endParaRPr lang="en-US" sz="1270" b="0" u="none" strike="noStrike">
              <a:solidFill>
                <a:srgbClr val="000000"/>
              </a:solidFill>
              <a:effectLst/>
              <a:uFillTx/>
              <a:latin typeface="Arial"/>
            </a:endParaRPr>
          </a:p>
        </p:txBody>
      </p:sp>
      <p:sp>
        <p:nvSpPr>
          <p:cNvPr id="325" name="Shape 6"/>
          <p:cNvSpPr/>
          <p:nvPr/>
        </p:nvSpPr>
        <p:spPr>
          <a:xfrm>
            <a:off x="8961120" y="1188720"/>
            <a:ext cx="2422440" cy="1096560"/>
          </a:xfrm>
          <a:prstGeom prst="roundRect">
            <a:avLst>
              <a:gd name="adj" fmla="val 10000"/>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6" name="Text 7"/>
          <p:cNvSpPr/>
          <p:nvPr/>
        </p:nvSpPr>
        <p:spPr>
          <a:xfrm>
            <a:off x="9144000" y="1344240"/>
            <a:ext cx="20566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Environment</a:t>
            </a:r>
            <a:endParaRPr lang="en-US" sz="1600" b="0" u="none" strike="noStrike">
              <a:solidFill>
                <a:srgbClr val="000000"/>
              </a:solidFill>
              <a:effectLst/>
              <a:uFillTx/>
              <a:latin typeface="Arial"/>
            </a:endParaRPr>
          </a:p>
        </p:txBody>
      </p:sp>
      <p:sp>
        <p:nvSpPr>
          <p:cNvPr id="327" name="Text 8"/>
          <p:cNvSpPr/>
          <p:nvPr/>
        </p:nvSpPr>
        <p:spPr>
          <a:xfrm>
            <a:off x="9162360" y="1719000"/>
            <a:ext cx="2019960" cy="45648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270" b="0" u="none" strike="noStrike">
                <a:solidFill>
                  <a:srgbClr val="111827"/>
                </a:solidFill>
                <a:effectLst/>
                <a:uFillTx/>
                <a:latin typeface="Aptos"/>
              </a:rPr>
              <a:t>Grid cells, walls, dirt, starting position, goal conditions.</a:t>
            </a:r>
            <a:endParaRPr lang="en-US" sz="1270" b="0" u="none" strike="noStrike">
              <a:solidFill>
                <a:srgbClr val="000000"/>
              </a:solidFill>
              <a:effectLst/>
              <a:uFillTx/>
              <a:latin typeface="Arial"/>
            </a:endParaRPr>
          </a:p>
        </p:txBody>
      </p:sp>
      <p:sp>
        <p:nvSpPr>
          <p:cNvPr id="328" name="Shape 9"/>
          <p:cNvSpPr/>
          <p:nvPr/>
        </p:nvSpPr>
        <p:spPr>
          <a:xfrm>
            <a:off x="6172200" y="2743200"/>
            <a:ext cx="2422440" cy="1096560"/>
          </a:xfrm>
          <a:prstGeom prst="roundRect">
            <a:avLst>
              <a:gd name="adj" fmla="val 10000"/>
            </a:avLst>
          </a:prstGeom>
          <a:solidFill>
            <a:srgbClr val="FFF3E8"/>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9" name="Text 10"/>
          <p:cNvSpPr/>
          <p:nvPr/>
        </p:nvSpPr>
        <p:spPr>
          <a:xfrm>
            <a:off x="6355080" y="2898720"/>
            <a:ext cx="20566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Actuators</a:t>
            </a:r>
            <a:endParaRPr lang="en-US" sz="1600" b="0" u="none" strike="noStrike">
              <a:solidFill>
                <a:srgbClr val="000000"/>
              </a:solidFill>
              <a:effectLst/>
              <a:uFillTx/>
              <a:latin typeface="Arial"/>
            </a:endParaRPr>
          </a:p>
        </p:txBody>
      </p:sp>
      <p:sp>
        <p:nvSpPr>
          <p:cNvPr id="330" name="Text 11"/>
          <p:cNvSpPr/>
          <p:nvPr/>
        </p:nvSpPr>
        <p:spPr>
          <a:xfrm>
            <a:off x="6373440" y="3273480"/>
            <a:ext cx="2019960" cy="45648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270" b="0" u="none" strike="noStrike">
                <a:solidFill>
                  <a:srgbClr val="111827"/>
                </a:solidFill>
                <a:effectLst/>
                <a:uFillTx/>
                <a:latin typeface="Aptos"/>
              </a:rPr>
              <a:t>Move north/south/east/west; clean current cell; stop.</a:t>
            </a:r>
            <a:endParaRPr lang="en-US" sz="1270" b="0" u="none" strike="noStrike">
              <a:solidFill>
                <a:srgbClr val="000000"/>
              </a:solidFill>
              <a:effectLst/>
              <a:uFillTx/>
              <a:latin typeface="Arial"/>
            </a:endParaRPr>
          </a:p>
        </p:txBody>
      </p:sp>
      <p:sp>
        <p:nvSpPr>
          <p:cNvPr id="331" name="Shape 12"/>
          <p:cNvSpPr/>
          <p:nvPr/>
        </p:nvSpPr>
        <p:spPr>
          <a:xfrm>
            <a:off x="8961120" y="2743200"/>
            <a:ext cx="2422440" cy="1096560"/>
          </a:xfrm>
          <a:prstGeom prst="roundRect">
            <a:avLst>
              <a:gd name="adj" fmla="val 10000"/>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2" name="Text 13"/>
          <p:cNvSpPr/>
          <p:nvPr/>
        </p:nvSpPr>
        <p:spPr>
          <a:xfrm>
            <a:off x="9144000" y="2898720"/>
            <a:ext cx="20566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Sensors</a:t>
            </a:r>
            <a:endParaRPr lang="en-US" sz="1600" b="0" u="none" strike="noStrike">
              <a:solidFill>
                <a:srgbClr val="000000"/>
              </a:solidFill>
              <a:effectLst/>
              <a:uFillTx/>
              <a:latin typeface="Arial"/>
            </a:endParaRPr>
          </a:p>
        </p:txBody>
      </p:sp>
      <p:sp>
        <p:nvSpPr>
          <p:cNvPr id="333" name="Text 14"/>
          <p:cNvSpPr/>
          <p:nvPr/>
        </p:nvSpPr>
        <p:spPr>
          <a:xfrm>
            <a:off x="9162360" y="3273480"/>
            <a:ext cx="2019960" cy="45648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270" b="0" u="none" strike="noStrike">
                <a:solidFill>
                  <a:srgbClr val="111827"/>
                </a:solidFill>
                <a:effectLst/>
                <a:uFillTx/>
                <a:latin typeface="Aptos"/>
              </a:rPr>
              <a:t>Location sensor, dirt sensor, wall sensor, or partial observations.</a:t>
            </a:r>
            <a:endParaRPr lang="en-US" sz="1270" b="0" u="none" strike="noStrike">
              <a:solidFill>
                <a:srgbClr val="000000"/>
              </a:solidFill>
              <a:effectLst/>
              <a:uFillTx/>
              <a:latin typeface="Arial"/>
            </a:endParaRPr>
          </a:p>
        </p:txBody>
      </p:sp>
      <p:sp>
        <p:nvSpPr>
          <p:cNvPr id="334" name="Shape 15"/>
          <p:cNvSpPr/>
          <p:nvPr/>
        </p:nvSpPr>
        <p:spPr>
          <a:xfrm>
            <a:off x="6355080" y="4709160"/>
            <a:ext cx="4891320" cy="730800"/>
          </a:xfrm>
          <a:prstGeom prst="roundRect">
            <a:avLst>
              <a:gd name="adj" fmla="val 15000"/>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5" name="Text 16"/>
          <p:cNvSpPr/>
          <p:nvPr/>
        </p:nvSpPr>
        <p:spPr>
          <a:xfrm>
            <a:off x="6556320" y="4892040"/>
            <a:ext cx="4488840" cy="41076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600" b="1" u="none" strike="noStrike">
                <a:solidFill>
                  <a:srgbClr val="002B49"/>
                </a:solidFill>
                <a:effectLst/>
                <a:uFillTx/>
                <a:latin typeface="Aptos"/>
              </a:rPr>
              <a:t>Changing one PEAS element can make the same agent rational or irrational.</a:t>
            </a:r>
            <a:endParaRPr lang="en-US" sz="1600" b="0" u="none" strike="noStrike">
              <a:solidFill>
                <a:srgbClr val="000000"/>
              </a:solidFill>
              <a:effectLst/>
              <a:uFillTx/>
              <a:latin typeface="Arial"/>
            </a:endParaRPr>
          </a:p>
        </p:txBody>
      </p:sp>
      <p:sp>
        <p:nvSpPr>
          <p:cNvPr id="336" name="Text 17"/>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337" name="Text 18"/>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19</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Environment properties: what the agent is up against</a:t>
            </a:r>
            <a:endParaRPr lang="en-US" sz="3000" b="0" u="none" strike="noStrike">
              <a:solidFill>
                <a:srgbClr val="000000"/>
              </a:solidFill>
              <a:effectLst/>
              <a:uFillTx/>
              <a:latin typeface="Arial"/>
            </a:endParaRPr>
          </a:p>
        </p:txBody>
      </p:sp>
      <p:sp>
        <p:nvSpPr>
          <p:cNvPr id="339"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40"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These dimensions influence the right agent design.</a:t>
            </a:r>
            <a:endParaRPr lang="en-US" sz="1150" b="0" u="none" strike="noStrike">
              <a:solidFill>
                <a:srgbClr val="000000"/>
              </a:solidFill>
              <a:effectLst/>
              <a:uFillTx/>
              <a:latin typeface="Arial"/>
            </a:endParaRPr>
          </a:p>
        </p:txBody>
      </p:sp>
      <p:sp>
        <p:nvSpPr>
          <p:cNvPr id="341" name="Shape 3"/>
          <p:cNvSpPr/>
          <p:nvPr/>
        </p:nvSpPr>
        <p:spPr>
          <a:xfrm>
            <a:off x="822960" y="1234440"/>
            <a:ext cx="2742480" cy="1005120"/>
          </a:xfrm>
          <a:prstGeom prst="roundRect">
            <a:avLst>
              <a:gd name="adj" fmla="val 10909"/>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2" name="Text 4"/>
          <p:cNvSpPr/>
          <p:nvPr/>
        </p:nvSpPr>
        <p:spPr>
          <a:xfrm>
            <a:off x="1005840" y="1389960"/>
            <a:ext cx="23767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Observable?</a:t>
            </a:r>
            <a:endParaRPr lang="en-US" sz="1600" b="0" u="none" strike="noStrike">
              <a:solidFill>
                <a:srgbClr val="000000"/>
              </a:solidFill>
              <a:effectLst/>
              <a:uFillTx/>
              <a:latin typeface="Arial"/>
            </a:endParaRPr>
          </a:p>
        </p:txBody>
      </p:sp>
      <p:sp>
        <p:nvSpPr>
          <p:cNvPr id="343" name="Text 5"/>
          <p:cNvSpPr/>
          <p:nvPr/>
        </p:nvSpPr>
        <p:spPr>
          <a:xfrm>
            <a:off x="1024200" y="1764720"/>
            <a:ext cx="2340000" cy="36504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1270" b="0" u="none" strike="noStrike">
                <a:solidFill>
                  <a:srgbClr val="111827"/>
                </a:solidFill>
                <a:effectLst/>
                <a:uFillTx/>
                <a:latin typeface="Aptos"/>
              </a:rPr>
              <a:t>Can sensors access all relevant state?</a:t>
            </a:r>
            <a:endParaRPr lang="en-US" sz="1270" b="0" u="none" strike="noStrike">
              <a:solidFill>
                <a:srgbClr val="000000"/>
              </a:solidFill>
              <a:effectLst/>
              <a:uFillTx/>
              <a:latin typeface="Arial"/>
            </a:endParaRPr>
          </a:p>
        </p:txBody>
      </p:sp>
      <p:sp>
        <p:nvSpPr>
          <p:cNvPr id="344" name="Shape 6"/>
          <p:cNvSpPr/>
          <p:nvPr/>
        </p:nvSpPr>
        <p:spPr>
          <a:xfrm>
            <a:off x="3611880" y="1234440"/>
            <a:ext cx="2742480" cy="1005120"/>
          </a:xfrm>
          <a:prstGeom prst="roundRect">
            <a:avLst>
              <a:gd name="adj" fmla="val 10909"/>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5" name="Text 7"/>
          <p:cNvSpPr/>
          <p:nvPr/>
        </p:nvSpPr>
        <p:spPr>
          <a:xfrm>
            <a:off x="3794760" y="1389960"/>
            <a:ext cx="23767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Single or multiagent?</a:t>
            </a:r>
            <a:endParaRPr lang="en-US" sz="1600" b="0" u="none" strike="noStrike">
              <a:solidFill>
                <a:srgbClr val="000000"/>
              </a:solidFill>
              <a:effectLst/>
              <a:uFillTx/>
              <a:latin typeface="Arial"/>
            </a:endParaRPr>
          </a:p>
        </p:txBody>
      </p:sp>
      <p:sp>
        <p:nvSpPr>
          <p:cNvPr id="346" name="Text 8"/>
          <p:cNvSpPr/>
          <p:nvPr/>
        </p:nvSpPr>
        <p:spPr>
          <a:xfrm>
            <a:off x="3813120" y="1764720"/>
            <a:ext cx="2340000" cy="36504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1270" b="0" u="none" strike="noStrike">
                <a:solidFill>
                  <a:srgbClr val="111827"/>
                </a:solidFill>
                <a:effectLst/>
                <a:uFillTx/>
                <a:latin typeface="Aptos"/>
              </a:rPr>
              <a:t>Do other decision-makers affect performance?</a:t>
            </a:r>
            <a:endParaRPr lang="en-US" sz="1270" b="0" u="none" strike="noStrike">
              <a:solidFill>
                <a:srgbClr val="000000"/>
              </a:solidFill>
              <a:effectLst/>
              <a:uFillTx/>
              <a:latin typeface="Arial"/>
            </a:endParaRPr>
          </a:p>
        </p:txBody>
      </p:sp>
      <p:sp>
        <p:nvSpPr>
          <p:cNvPr id="347" name="Shape 9"/>
          <p:cNvSpPr/>
          <p:nvPr/>
        </p:nvSpPr>
        <p:spPr>
          <a:xfrm>
            <a:off x="6400800" y="1234440"/>
            <a:ext cx="2742480" cy="1005120"/>
          </a:xfrm>
          <a:prstGeom prst="roundRect">
            <a:avLst>
              <a:gd name="adj" fmla="val 10909"/>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8" name="Text 10"/>
          <p:cNvSpPr/>
          <p:nvPr/>
        </p:nvSpPr>
        <p:spPr>
          <a:xfrm>
            <a:off x="6583680" y="1389960"/>
            <a:ext cx="23767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Deterministic?</a:t>
            </a:r>
            <a:endParaRPr lang="en-US" sz="1600" b="0" u="none" strike="noStrike">
              <a:solidFill>
                <a:srgbClr val="000000"/>
              </a:solidFill>
              <a:effectLst/>
              <a:uFillTx/>
              <a:latin typeface="Arial"/>
            </a:endParaRPr>
          </a:p>
        </p:txBody>
      </p:sp>
      <p:sp>
        <p:nvSpPr>
          <p:cNvPr id="349" name="Text 11"/>
          <p:cNvSpPr/>
          <p:nvPr/>
        </p:nvSpPr>
        <p:spPr>
          <a:xfrm>
            <a:off x="6602040" y="1764720"/>
            <a:ext cx="2340000" cy="365040"/>
          </a:xfrm>
          <a:prstGeom prst="rect">
            <a:avLst/>
          </a:prstGeom>
          <a:noFill/>
          <a:ln w="0">
            <a:noFill/>
          </a:ln>
        </p:spPr>
        <p:style>
          <a:lnRef idx="0"/>
          <a:fillRef idx="0"/>
          <a:effectRef idx="0"/>
          <a:fontRef idx="minor"/>
        </p:style>
        <p:txBody>
          <a:bodyPr lIns="360" tIns="360" rIns="360" bIns="360" anchor="ctr">
            <a:normAutofit fontScale="85000" lnSpcReduction="9999"/>
          </a:bodyPr>
          <a:p>
            <a:pPr algn="ctr" defTabSz="914400">
              <a:lnSpc>
                <a:spcPct val="100000"/>
              </a:lnSpc>
              <a:tabLst>
                <a:tab pos="0" algn="l"/>
              </a:tabLst>
            </a:pPr>
            <a:r>
              <a:rPr lang="en-US" sz="1270" b="0" u="none" strike="noStrike">
                <a:solidFill>
                  <a:srgbClr val="111827"/>
                </a:solidFill>
                <a:effectLst/>
                <a:uFillTx/>
                <a:latin typeface="Aptos"/>
              </a:rPr>
              <a:t>Is the next state fully determined by current state and action?</a:t>
            </a:r>
            <a:endParaRPr lang="en-US" sz="1270" b="0" u="none" strike="noStrike">
              <a:solidFill>
                <a:srgbClr val="000000"/>
              </a:solidFill>
              <a:effectLst/>
              <a:uFillTx/>
              <a:latin typeface="Arial"/>
            </a:endParaRPr>
          </a:p>
        </p:txBody>
      </p:sp>
      <p:sp>
        <p:nvSpPr>
          <p:cNvPr id="350" name="Shape 12"/>
          <p:cNvSpPr/>
          <p:nvPr/>
        </p:nvSpPr>
        <p:spPr>
          <a:xfrm>
            <a:off x="9189720" y="1234440"/>
            <a:ext cx="2742480" cy="1005120"/>
          </a:xfrm>
          <a:prstGeom prst="roundRect">
            <a:avLst>
              <a:gd name="adj" fmla="val 10909"/>
            </a:avLst>
          </a:prstGeom>
          <a:solidFill>
            <a:srgbClr val="F3EE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1" name="Text 13"/>
          <p:cNvSpPr/>
          <p:nvPr/>
        </p:nvSpPr>
        <p:spPr>
          <a:xfrm>
            <a:off x="9372600" y="1389960"/>
            <a:ext cx="23767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Sequential?</a:t>
            </a:r>
            <a:endParaRPr lang="en-US" sz="1600" b="0" u="none" strike="noStrike">
              <a:solidFill>
                <a:srgbClr val="000000"/>
              </a:solidFill>
              <a:effectLst/>
              <a:uFillTx/>
              <a:latin typeface="Arial"/>
            </a:endParaRPr>
          </a:p>
        </p:txBody>
      </p:sp>
      <p:sp>
        <p:nvSpPr>
          <p:cNvPr id="352" name="Text 14"/>
          <p:cNvSpPr/>
          <p:nvPr/>
        </p:nvSpPr>
        <p:spPr>
          <a:xfrm>
            <a:off x="9390960" y="1764720"/>
            <a:ext cx="2340000" cy="36504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1270" b="0" u="none" strike="noStrike">
                <a:solidFill>
                  <a:srgbClr val="111827"/>
                </a:solidFill>
                <a:effectLst/>
                <a:uFillTx/>
                <a:latin typeface="Aptos"/>
              </a:rPr>
              <a:t>Do current actions affect future choices?</a:t>
            </a:r>
            <a:endParaRPr lang="en-US" sz="1270" b="0" u="none" strike="noStrike">
              <a:solidFill>
                <a:srgbClr val="000000"/>
              </a:solidFill>
              <a:effectLst/>
              <a:uFillTx/>
              <a:latin typeface="Arial"/>
            </a:endParaRPr>
          </a:p>
        </p:txBody>
      </p:sp>
      <p:sp>
        <p:nvSpPr>
          <p:cNvPr id="353" name="Shape 15"/>
          <p:cNvSpPr/>
          <p:nvPr/>
        </p:nvSpPr>
        <p:spPr>
          <a:xfrm>
            <a:off x="2194560" y="3063240"/>
            <a:ext cx="2742480" cy="1005120"/>
          </a:xfrm>
          <a:prstGeom prst="roundRect">
            <a:avLst>
              <a:gd name="adj" fmla="val 10909"/>
            </a:avLst>
          </a:prstGeom>
          <a:solidFill>
            <a:srgbClr val="FFF3E8"/>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4" name="Text 16"/>
          <p:cNvSpPr/>
          <p:nvPr/>
        </p:nvSpPr>
        <p:spPr>
          <a:xfrm>
            <a:off x="2377440" y="3218760"/>
            <a:ext cx="23767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Dynamic?</a:t>
            </a:r>
            <a:endParaRPr lang="en-US" sz="1600" b="0" u="none" strike="noStrike">
              <a:solidFill>
                <a:srgbClr val="000000"/>
              </a:solidFill>
              <a:effectLst/>
              <a:uFillTx/>
              <a:latin typeface="Arial"/>
            </a:endParaRPr>
          </a:p>
        </p:txBody>
      </p:sp>
      <p:sp>
        <p:nvSpPr>
          <p:cNvPr id="355" name="Text 17"/>
          <p:cNvSpPr/>
          <p:nvPr/>
        </p:nvSpPr>
        <p:spPr>
          <a:xfrm>
            <a:off x="2395800" y="3593520"/>
            <a:ext cx="2340000" cy="36504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1270" b="0" u="none" strike="noStrike">
                <a:solidFill>
                  <a:srgbClr val="111827"/>
                </a:solidFill>
                <a:effectLst/>
                <a:uFillTx/>
                <a:latin typeface="Aptos"/>
              </a:rPr>
              <a:t>Can the world change while the agent deliberates?</a:t>
            </a:r>
            <a:endParaRPr lang="en-US" sz="1270" b="0" u="none" strike="noStrike">
              <a:solidFill>
                <a:srgbClr val="000000"/>
              </a:solidFill>
              <a:effectLst/>
              <a:uFillTx/>
              <a:latin typeface="Arial"/>
            </a:endParaRPr>
          </a:p>
        </p:txBody>
      </p:sp>
      <p:sp>
        <p:nvSpPr>
          <p:cNvPr id="356" name="Shape 18"/>
          <p:cNvSpPr/>
          <p:nvPr/>
        </p:nvSpPr>
        <p:spPr>
          <a:xfrm>
            <a:off x="5029200" y="3063240"/>
            <a:ext cx="2742480" cy="1005120"/>
          </a:xfrm>
          <a:prstGeom prst="roundRect">
            <a:avLst>
              <a:gd name="adj" fmla="val 10909"/>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7" name="Text 19"/>
          <p:cNvSpPr/>
          <p:nvPr/>
        </p:nvSpPr>
        <p:spPr>
          <a:xfrm>
            <a:off x="5212080" y="3218760"/>
            <a:ext cx="23767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Continuous?</a:t>
            </a:r>
            <a:endParaRPr lang="en-US" sz="1600" b="0" u="none" strike="noStrike">
              <a:solidFill>
                <a:srgbClr val="000000"/>
              </a:solidFill>
              <a:effectLst/>
              <a:uFillTx/>
              <a:latin typeface="Arial"/>
            </a:endParaRPr>
          </a:p>
        </p:txBody>
      </p:sp>
      <p:sp>
        <p:nvSpPr>
          <p:cNvPr id="358" name="Text 20"/>
          <p:cNvSpPr/>
          <p:nvPr/>
        </p:nvSpPr>
        <p:spPr>
          <a:xfrm>
            <a:off x="5230440" y="3593520"/>
            <a:ext cx="2340000" cy="36504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1270" b="0" u="none" strike="noStrike">
                <a:solidFill>
                  <a:srgbClr val="111827"/>
                </a:solidFill>
                <a:effectLst/>
                <a:uFillTx/>
                <a:latin typeface="Aptos"/>
              </a:rPr>
              <a:t>Are state, time, percepts, or actions continuous?</a:t>
            </a:r>
            <a:endParaRPr lang="en-US" sz="1270" b="0" u="none" strike="noStrike">
              <a:solidFill>
                <a:srgbClr val="000000"/>
              </a:solidFill>
              <a:effectLst/>
              <a:uFillTx/>
              <a:latin typeface="Arial"/>
            </a:endParaRPr>
          </a:p>
        </p:txBody>
      </p:sp>
      <p:sp>
        <p:nvSpPr>
          <p:cNvPr id="359" name="Shape 21"/>
          <p:cNvSpPr/>
          <p:nvPr/>
        </p:nvSpPr>
        <p:spPr>
          <a:xfrm>
            <a:off x="7863840" y="3063240"/>
            <a:ext cx="2742480" cy="1005120"/>
          </a:xfrm>
          <a:prstGeom prst="roundRect">
            <a:avLst>
              <a:gd name="adj" fmla="val 10909"/>
            </a:avLst>
          </a:prstGeom>
          <a:solidFill>
            <a:srgbClr val="FFF1F0"/>
          </a:solidFill>
          <a:ln w="16510">
            <a:solidFill>
              <a:srgbClr val="C5303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0" name="Text 22"/>
          <p:cNvSpPr/>
          <p:nvPr/>
        </p:nvSpPr>
        <p:spPr>
          <a:xfrm>
            <a:off x="8046720" y="3218760"/>
            <a:ext cx="23767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53030"/>
                </a:solidFill>
                <a:effectLst/>
                <a:uFillTx/>
                <a:latin typeface="Aptos"/>
              </a:rPr>
              <a:t>Known?</a:t>
            </a:r>
            <a:endParaRPr lang="en-US" sz="1600" b="0" u="none" strike="noStrike">
              <a:solidFill>
                <a:srgbClr val="000000"/>
              </a:solidFill>
              <a:effectLst/>
              <a:uFillTx/>
              <a:latin typeface="Arial"/>
            </a:endParaRPr>
          </a:p>
        </p:txBody>
      </p:sp>
      <p:sp>
        <p:nvSpPr>
          <p:cNvPr id="361" name="Text 23"/>
          <p:cNvSpPr/>
          <p:nvPr/>
        </p:nvSpPr>
        <p:spPr>
          <a:xfrm>
            <a:off x="8065080" y="3593520"/>
            <a:ext cx="2340000" cy="36504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1270" b="0" u="none" strike="noStrike">
                <a:solidFill>
                  <a:srgbClr val="111827"/>
                </a:solidFill>
                <a:effectLst/>
                <a:uFillTx/>
                <a:latin typeface="Aptos"/>
              </a:rPr>
              <a:t>Does the agent know the rules or transition probabilities?</a:t>
            </a:r>
            <a:endParaRPr lang="en-US" sz="1270" b="0" u="none" strike="noStrike">
              <a:solidFill>
                <a:srgbClr val="000000"/>
              </a:solidFill>
              <a:effectLst/>
              <a:uFillTx/>
              <a:latin typeface="Arial"/>
            </a:endParaRPr>
          </a:p>
        </p:txBody>
      </p:sp>
      <p:sp>
        <p:nvSpPr>
          <p:cNvPr id="362" name="Shape 24"/>
          <p:cNvSpPr/>
          <p:nvPr/>
        </p:nvSpPr>
        <p:spPr>
          <a:xfrm>
            <a:off x="1325880" y="5166360"/>
            <a:ext cx="9554760" cy="639360"/>
          </a:xfrm>
          <a:prstGeom prst="roundRect">
            <a:avLst>
              <a:gd name="adj" fmla="val 17143"/>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3" name="Text 25"/>
          <p:cNvSpPr/>
          <p:nvPr/>
        </p:nvSpPr>
        <p:spPr>
          <a:xfrm>
            <a:off x="1527120" y="5349240"/>
            <a:ext cx="9152280" cy="319320"/>
          </a:xfrm>
          <a:prstGeom prst="rect">
            <a:avLst/>
          </a:prstGeom>
          <a:noFill/>
          <a:ln w="0">
            <a:noFill/>
          </a:ln>
        </p:spPr>
        <p:style>
          <a:lnRef idx="0"/>
          <a:fillRef idx="0"/>
          <a:effectRef idx="0"/>
          <a:fontRef idx="minor"/>
        </p:style>
        <p:txBody>
          <a:bodyPr lIns="360" tIns="360" rIns="360" bIns="360" anchor="ctr">
            <a:normAutofit fontScale="77500" lnSpcReduction="19999"/>
          </a:bodyPr>
          <a:p>
            <a:pPr algn="ctr" defTabSz="914400">
              <a:lnSpc>
                <a:spcPct val="100000"/>
              </a:lnSpc>
              <a:tabLst>
                <a:tab pos="0" algn="l"/>
              </a:tabLst>
            </a:pPr>
            <a:r>
              <a:rPr lang="en-US" sz="1600" b="1" u="none" strike="noStrike">
                <a:solidFill>
                  <a:srgbClr val="002B49"/>
                </a:solidFill>
                <a:effectLst/>
                <a:uFillTx/>
                <a:latin typeface="Aptos"/>
              </a:rPr>
              <a:t>Hardest case: partially observable, multiagent, nondeterministic, sequential, dynamic, continuous, and unknown.</a:t>
            </a:r>
            <a:endParaRPr lang="en-US" sz="1600" b="0" u="none" strike="noStrike">
              <a:solidFill>
                <a:srgbClr val="000000"/>
              </a:solidFill>
              <a:effectLst/>
              <a:uFillTx/>
              <a:latin typeface="Arial"/>
            </a:endParaRPr>
          </a:p>
        </p:txBody>
      </p:sp>
      <p:sp>
        <p:nvSpPr>
          <p:cNvPr id="364" name="Text 26"/>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365" name="Text 27"/>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20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Classify three environments</a:t>
            </a:r>
            <a:endParaRPr lang="en-US" sz="3000" b="0" u="none" strike="noStrike">
              <a:solidFill>
                <a:srgbClr val="000000"/>
              </a:solidFill>
              <a:effectLst/>
              <a:uFillTx/>
              <a:latin typeface="Arial"/>
            </a:endParaRPr>
          </a:p>
        </p:txBody>
      </p:sp>
      <p:sp>
        <p:nvSpPr>
          <p:cNvPr id="367"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68"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Use the dimensions to explain design difficulty.</a:t>
            </a:r>
            <a:endParaRPr lang="en-US" sz="1150" b="0" u="none" strike="noStrike">
              <a:solidFill>
                <a:srgbClr val="000000"/>
              </a:solidFill>
              <a:effectLst/>
              <a:uFillTx/>
              <a:latin typeface="Arial"/>
            </a:endParaRPr>
          </a:p>
        </p:txBody>
      </p:sp>
      <p:sp>
        <p:nvSpPr>
          <p:cNvPr id="369" name="Shape 3"/>
          <p:cNvSpPr/>
          <p:nvPr/>
        </p:nvSpPr>
        <p:spPr>
          <a:xfrm>
            <a:off x="868680" y="1554480"/>
            <a:ext cx="3153960" cy="1828080"/>
          </a:xfrm>
          <a:prstGeom prst="roundRect">
            <a:avLst>
              <a:gd name="adj" fmla="val 6000"/>
            </a:avLst>
          </a:prstGeom>
          <a:solidFill>
            <a:srgbClr val="FFFFFF"/>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0" name="Text 4"/>
          <p:cNvSpPr/>
          <p:nvPr/>
        </p:nvSpPr>
        <p:spPr>
          <a:xfrm>
            <a:off x="1051560" y="1710000"/>
            <a:ext cx="27882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Crossword puzzle</a:t>
            </a:r>
            <a:endParaRPr lang="en-US" sz="1600" b="0" u="none" strike="noStrike">
              <a:solidFill>
                <a:srgbClr val="000000"/>
              </a:solidFill>
              <a:effectLst/>
              <a:uFillTx/>
              <a:latin typeface="Arial"/>
            </a:endParaRPr>
          </a:p>
        </p:txBody>
      </p:sp>
      <p:sp>
        <p:nvSpPr>
          <p:cNvPr id="371" name="Text 5"/>
          <p:cNvSpPr/>
          <p:nvPr/>
        </p:nvSpPr>
        <p:spPr>
          <a:xfrm>
            <a:off x="1069920" y="2084760"/>
            <a:ext cx="2751480" cy="11880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mostly observable, single-agent, static, discrete</a:t>
            </a:r>
            <a:endParaRPr lang="en-US" sz="1270" b="0" u="none" strike="noStrike">
              <a:solidFill>
                <a:srgbClr val="000000"/>
              </a:solidFill>
              <a:effectLst/>
              <a:uFillTx/>
              <a:latin typeface="Arial"/>
            </a:endParaRPr>
          </a:p>
        </p:txBody>
      </p:sp>
      <p:sp>
        <p:nvSpPr>
          <p:cNvPr id="372" name="Shape 6"/>
          <p:cNvSpPr/>
          <p:nvPr/>
        </p:nvSpPr>
        <p:spPr>
          <a:xfrm>
            <a:off x="4617720" y="1554480"/>
            <a:ext cx="3153960" cy="1828080"/>
          </a:xfrm>
          <a:prstGeom prst="roundRect">
            <a:avLst>
              <a:gd name="adj" fmla="val 6000"/>
            </a:avLst>
          </a:prstGeom>
          <a:solidFill>
            <a:srgbClr val="FFFF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3" name="Text 7"/>
          <p:cNvSpPr/>
          <p:nvPr/>
        </p:nvSpPr>
        <p:spPr>
          <a:xfrm>
            <a:off x="4800600" y="1710000"/>
            <a:ext cx="27882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Chess</a:t>
            </a:r>
            <a:endParaRPr lang="en-US" sz="1600" b="0" u="none" strike="noStrike">
              <a:solidFill>
                <a:srgbClr val="000000"/>
              </a:solidFill>
              <a:effectLst/>
              <a:uFillTx/>
              <a:latin typeface="Arial"/>
            </a:endParaRPr>
          </a:p>
        </p:txBody>
      </p:sp>
      <p:sp>
        <p:nvSpPr>
          <p:cNvPr id="374" name="Text 8"/>
          <p:cNvSpPr/>
          <p:nvPr/>
        </p:nvSpPr>
        <p:spPr>
          <a:xfrm>
            <a:off x="4818960" y="2084760"/>
            <a:ext cx="2751480" cy="11880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observable, competitive multiagent, sequential, discrete</a:t>
            </a:r>
            <a:endParaRPr lang="en-US" sz="1270" b="0" u="none" strike="noStrike">
              <a:solidFill>
                <a:srgbClr val="000000"/>
              </a:solidFill>
              <a:effectLst/>
              <a:uFillTx/>
              <a:latin typeface="Arial"/>
            </a:endParaRPr>
          </a:p>
        </p:txBody>
      </p:sp>
      <p:sp>
        <p:nvSpPr>
          <p:cNvPr id="375" name="Shape 9"/>
          <p:cNvSpPr/>
          <p:nvPr/>
        </p:nvSpPr>
        <p:spPr>
          <a:xfrm>
            <a:off x="8366760" y="1554480"/>
            <a:ext cx="3153960" cy="1828080"/>
          </a:xfrm>
          <a:prstGeom prst="roundRect">
            <a:avLst>
              <a:gd name="adj" fmla="val 6000"/>
            </a:avLst>
          </a:prstGeom>
          <a:solidFill>
            <a:srgbClr val="FFFFFF"/>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6" name="Text 10"/>
          <p:cNvSpPr/>
          <p:nvPr/>
        </p:nvSpPr>
        <p:spPr>
          <a:xfrm>
            <a:off x="8549640" y="1710000"/>
            <a:ext cx="27882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Robot taxi</a:t>
            </a:r>
            <a:endParaRPr lang="en-US" sz="1600" b="0" u="none" strike="noStrike">
              <a:solidFill>
                <a:srgbClr val="000000"/>
              </a:solidFill>
              <a:effectLst/>
              <a:uFillTx/>
              <a:latin typeface="Arial"/>
            </a:endParaRPr>
          </a:p>
        </p:txBody>
      </p:sp>
      <p:sp>
        <p:nvSpPr>
          <p:cNvPr id="377" name="Text 11"/>
          <p:cNvSpPr/>
          <p:nvPr/>
        </p:nvSpPr>
        <p:spPr>
          <a:xfrm>
            <a:off x="8568000" y="2084760"/>
            <a:ext cx="2751480" cy="11880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partially observable, multiagent, dynamic, continuous, uncertain</a:t>
            </a:r>
            <a:endParaRPr lang="en-US" sz="1270" b="0" u="none" strike="noStrike">
              <a:solidFill>
                <a:srgbClr val="000000"/>
              </a:solidFill>
              <a:effectLst/>
              <a:uFillTx/>
              <a:latin typeface="Arial"/>
            </a:endParaRPr>
          </a:p>
        </p:txBody>
      </p:sp>
      <p:sp>
        <p:nvSpPr>
          <p:cNvPr id="378" name="Text 12"/>
          <p:cNvSpPr/>
          <p:nvPr/>
        </p:nvSpPr>
        <p:spPr>
          <a:xfrm>
            <a:off x="960120" y="4160520"/>
            <a:ext cx="1279440" cy="22788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1800" b="1" u="none" strike="noStrike">
                <a:solidFill>
                  <a:srgbClr val="002B49"/>
                </a:solidFill>
                <a:effectLst/>
                <a:uFillTx/>
                <a:latin typeface="Aptos"/>
              </a:rPr>
              <a:t>Prompt</a:t>
            </a:r>
            <a:endParaRPr lang="en-US" sz="1800" b="0" u="none" strike="noStrike">
              <a:solidFill>
                <a:srgbClr val="000000"/>
              </a:solidFill>
              <a:effectLst/>
              <a:uFillTx/>
              <a:latin typeface="Arial"/>
            </a:endParaRPr>
          </a:p>
        </p:txBody>
      </p:sp>
      <p:sp>
        <p:nvSpPr>
          <p:cNvPr id="379" name="Shape 13"/>
          <p:cNvSpPr/>
          <p:nvPr/>
        </p:nvSpPr>
        <p:spPr>
          <a:xfrm>
            <a:off x="2423160" y="3977640"/>
            <a:ext cx="8411760" cy="776520"/>
          </a:xfrm>
          <a:prstGeom prst="roundRect">
            <a:avLst>
              <a:gd name="adj" fmla="val 14118"/>
            </a:avLst>
          </a:prstGeom>
          <a:solidFill>
            <a:srgbClr val="EFF6FF"/>
          </a:solidFill>
          <a:ln w="1524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0" name="Text 14"/>
          <p:cNvSpPr/>
          <p:nvPr/>
        </p:nvSpPr>
        <p:spPr>
          <a:xfrm>
            <a:off x="2624400" y="4160520"/>
            <a:ext cx="8009280" cy="45648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1600" b="1" u="none" strike="noStrike">
                <a:solidFill>
                  <a:srgbClr val="002B49"/>
                </a:solidFill>
                <a:effectLst/>
                <a:uFillTx/>
                <a:latin typeface="Aptos"/>
              </a:rPr>
              <a:t>Which one needs internal state? Which one needs planning? Which one needs uncertainty handling?</a:t>
            </a:r>
            <a:endParaRPr lang="en-US" sz="1600" b="0" u="none" strike="noStrike">
              <a:solidFill>
                <a:srgbClr val="000000"/>
              </a:solidFill>
              <a:effectLst/>
              <a:uFillTx/>
              <a:latin typeface="Arial"/>
            </a:endParaRPr>
          </a:p>
        </p:txBody>
      </p:sp>
      <p:sp>
        <p:nvSpPr>
          <p:cNvPr id="381" name="Text 15"/>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382" name="Text 16"/>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21</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Agent program families</a:t>
            </a:r>
            <a:endParaRPr lang="en-US" sz="3000" b="0" u="none" strike="noStrike">
              <a:solidFill>
                <a:srgbClr val="000000"/>
              </a:solidFill>
              <a:effectLst/>
              <a:uFillTx/>
              <a:latin typeface="Arial"/>
            </a:endParaRPr>
          </a:p>
        </p:txBody>
      </p:sp>
      <p:sp>
        <p:nvSpPr>
          <p:cNvPr id="384"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5"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Four basic designs recur across AI systems.</a:t>
            </a:r>
            <a:endParaRPr lang="en-US" sz="1150" b="0" u="none" strike="noStrike">
              <a:solidFill>
                <a:srgbClr val="000000"/>
              </a:solidFill>
              <a:effectLst/>
              <a:uFillTx/>
              <a:latin typeface="Arial"/>
            </a:endParaRPr>
          </a:p>
        </p:txBody>
      </p:sp>
      <p:sp>
        <p:nvSpPr>
          <p:cNvPr id="386" name="Shape 3"/>
          <p:cNvSpPr/>
          <p:nvPr/>
        </p:nvSpPr>
        <p:spPr>
          <a:xfrm>
            <a:off x="2011680" y="2834640"/>
            <a:ext cx="1737360" cy="360"/>
          </a:xfrm>
          <a:prstGeom prst="line">
            <a:avLst/>
          </a:prstGeom>
          <a:ln w="27940">
            <a:solidFill>
              <a:srgbClr val="475467"/>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7" name="Shape 4"/>
          <p:cNvSpPr/>
          <p:nvPr/>
        </p:nvSpPr>
        <p:spPr>
          <a:xfrm>
            <a:off x="5303520" y="2834640"/>
            <a:ext cx="1737360" cy="360"/>
          </a:xfrm>
          <a:prstGeom prst="line">
            <a:avLst/>
          </a:prstGeom>
          <a:ln w="27940">
            <a:solidFill>
              <a:srgbClr val="475467"/>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8" name="Shape 5"/>
          <p:cNvSpPr/>
          <p:nvPr/>
        </p:nvSpPr>
        <p:spPr>
          <a:xfrm>
            <a:off x="8595360" y="2834640"/>
            <a:ext cx="1737360" cy="360"/>
          </a:xfrm>
          <a:prstGeom prst="line">
            <a:avLst/>
          </a:prstGeom>
          <a:ln w="27940">
            <a:solidFill>
              <a:srgbClr val="475467"/>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9" name="Shape 6"/>
          <p:cNvSpPr/>
          <p:nvPr/>
        </p:nvSpPr>
        <p:spPr>
          <a:xfrm>
            <a:off x="685800" y="2103120"/>
            <a:ext cx="2102400" cy="1416600"/>
          </a:xfrm>
          <a:prstGeom prst="roundRect">
            <a:avLst>
              <a:gd name="adj" fmla="val 7742"/>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0" name="Text 7"/>
          <p:cNvSpPr/>
          <p:nvPr/>
        </p:nvSpPr>
        <p:spPr>
          <a:xfrm>
            <a:off x="868680" y="2258640"/>
            <a:ext cx="1736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Simple reflex</a:t>
            </a:r>
            <a:endParaRPr lang="en-US" sz="1600" b="0" u="none" strike="noStrike">
              <a:solidFill>
                <a:srgbClr val="000000"/>
              </a:solidFill>
              <a:effectLst/>
              <a:uFillTx/>
              <a:latin typeface="Arial"/>
            </a:endParaRPr>
          </a:p>
        </p:txBody>
      </p:sp>
      <p:sp>
        <p:nvSpPr>
          <p:cNvPr id="391" name="Text 8"/>
          <p:cNvSpPr/>
          <p:nvPr/>
        </p:nvSpPr>
        <p:spPr>
          <a:xfrm>
            <a:off x="887040" y="2633400"/>
            <a:ext cx="16999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Current percept → action</a:t>
            </a:r>
            <a:endParaRPr lang="en-US" sz="1270" b="0" u="none" strike="noStrike">
              <a:solidFill>
                <a:srgbClr val="000000"/>
              </a:solidFill>
              <a:effectLst/>
              <a:uFillTx/>
              <a:latin typeface="Arial"/>
            </a:endParaRPr>
          </a:p>
        </p:txBody>
      </p:sp>
      <p:sp>
        <p:nvSpPr>
          <p:cNvPr id="392" name="Shape 9"/>
          <p:cNvSpPr/>
          <p:nvPr/>
        </p:nvSpPr>
        <p:spPr>
          <a:xfrm>
            <a:off x="3657600" y="2103120"/>
            <a:ext cx="2102400" cy="1416600"/>
          </a:xfrm>
          <a:prstGeom prst="roundRect">
            <a:avLst>
              <a:gd name="adj" fmla="val 7742"/>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3" name="Text 10"/>
          <p:cNvSpPr/>
          <p:nvPr/>
        </p:nvSpPr>
        <p:spPr>
          <a:xfrm>
            <a:off x="3840480" y="2258640"/>
            <a:ext cx="1736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Model-based</a:t>
            </a:r>
            <a:endParaRPr lang="en-US" sz="1600" b="0" u="none" strike="noStrike">
              <a:solidFill>
                <a:srgbClr val="000000"/>
              </a:solidFill>
              <a:effectLst/>
              <a:uFillTx/>
              <a:latin typeface="Arial"/>
            </a:endParaRPr>
          </a:p>
        </p:txBody>
      </p:sp>
      <p:sp>
        <p:nvSpPr>
          <p:cNvPr id="394" name="Text 11"/>
          <p:cNvSpPr/>
          <p:nvPr/>
        </p:nvSpPr>
        <p:spPr>
          <a:xfrm>
            <a:off x="3858840" y="2633400"/>
            <a:ext cx="16999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Current percept + internal state → action</a:t>
            </a:r>
            <a:endParaRPr lang="en-US" sz="1270" b="0" u="none" strike="noStrike">
              <a:solidFill>
                <a:srgbClr val="000000"/>
              </a:solidFill>
              <a:effectLst/>
              <a:uFillTx/>
              <a:latin typeface="Arial"/>
            </a:endParaRPr>
          </a:p>
        </p:txBody>
      </p:sp>
      <p:sp>
        <p:nvSpPr>
          <p:cNvPr id="395" name="Shape 12"/>
          <p:cNvSpPr/>
          <p:nvPr/>
        </p:nvSpPr>
        <p:spPr>
          <a:xfrm>
            <a:off x="6629400" y="2103120"/>
            <a:ext cx="2102400" cy="1416600"/>
          </a:xfrm>
          <a:prstGeom prst="roundRect">
            <a:avLst>
              <a:gd name="adj" fmla="val 7742"/>
            </a:avLst>
          </a:prstGeom>
          <a:solidFill>
            <a:srgbClr val="F3EE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6" name="Text 13"/>
          <p:cNvSpPr/>
          <p:nvPr/>
        </p:nvSpPr>
        <p:spPr>
          <a:xfrm>
            <a:off x="6812280" y="2258640"/>
            <a:ext cx="1736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Goal-based</a:t>
            </a:r>
            <a:endParaRPr lang="en-US" sz="1600" b="0" u="none" strike="noStrike">
              <a:solidFill>
                <a:srgbClr val="000000"/>
              </a:solidFill>
              <a:effectLst/>
              <a:uFillTx/>
              <a:latin typeface="Arial"/>
            </a:endParaRPr>
          </a:p>
        </p:txBody>
      </p:sp>
      <p:sp>
        <p:nvSpPr>
          <p:cNvPr id="397" name="Text 14"/>
          <p:cNvSpPr/>
          <p:nvPr/>
        </p:nvSpPr>
        <p:spPr>
          <a:xfrm>
            <a:off x="6830640" y="2633400"/>
            <a:ext cx="16999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Choose actions that achieve desired states</a:t>
            </a:r>
            <a:endParaRPr lang="en-US" sz="1270" b="0" u="none" strike="noStrike">
              <a:solidFill>
                <a:srgbClr val="000000"/>
              </a:solidFill>
              <a:effectLst/>
              <a:uFillTx/>
              <a:latin typeface="Arial"/>
            </a:endParaRPr>
          </a:p>
        </p:txBody>
      </p:sp>
      <p:sp>
        <p:nvSpPr>
          <p:cNvPr id="398" name="Shape 15"/>
          <p:cNvSpPr/>
          <p:nvPr/>
        </p:nvSpPr>
        <p:spPr>
          <a:xfrm>
            <a:off x="9601200" y="2103120"/>
            <a:ext cx="2102400" cy="1416600"/>
          </a:xfrm>
          <a:prstGeom prst="roundRect">
            <a:avLst>
              <a:gd name="adj" fmla="val 7742"/>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9" name="Text 16"/>
          <p:cNvSpPr/>
          <p:nvPr/>
        </p:nvSpPr>
        <p:spPr>
          <a:xfrm>
            <a:off x="9784080" y="2258640"/>
            <a:ext cx="1736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Utility-based</a:t>
            </a:r>
            <a:endParaRPr lang="en-US" sz="1600" b="0" u="none" strike="noStrike">
              <a:solidFill>
                <a:srgbClr val="000000"/>
              </a:solidFill>
              <a:effectLst/>
              <a:uFillTx/>
              <a:latin typeface="Arial"/>
            </a:endParaRPr>
          </a:p>
        </p:txBody>
      </p:sp>
      <p:sp>
        <p:nvSpPr>
          <p:cNvPr id="400" name="Text 17"/>
          <p:cNvSpPr/>
          <p:nvPr/>
        </p:nvSpPr>
        <p:spPr>
          <a:xfrm>
            <a:off x="9802440" y="2633400"/>
            <a:ext cx="16999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Choose actions that maximize expected utility</a:t>
            </a:r>
            <a:endParaRPr lang="en-US" sz="1270" b="0" u="none" strike="noStrike">
              <a:solidFill>
                <a:srgbClr val="000000"/>
              </a:solidFill>
              <a:effectLst/>
              <a:uFillTx/>
              <a:latin typeface="Arial"/>
            </a:endParaRPr>
          </a:p>
        </p:txBody>
      </p:sp>
      <p:sp>
        <p:nvSpPr>
          <p:cNvPr id="401" name="Text 18"/>
          <p:cNvSpPr/>
          <p:nvPr/>
        </p:nvSpPr>
        <p:spPr>
          <a:xfrm>
            <a:off x="1325880" y="4846320"/>
            <a:ext cx="9554760" cy="383400"/>
          </a:xfrm>
          <a:prstGeom prst="rect">
            <a:avLst/>
          </a:prstGeom>
          <a:noFill/>
          <a:ln w="0">
            <a:noFill/>
          </a:ln>
        </p:spPr>
        <p:style>
          <a:lnRef idx="0"/>
          <a:fillRef idx="0"/>
          <a:effectRef idx="0"/>
          <a:fontRef idx="minor"/>
        </p:style>
        <p:txBody>
          <a:bodyPr lIns="360" tIns="360" rIns="360" bIns="360" anchor="t">
            <a:normAutofit fontScale="85000" lnSpcReduction="9999"/>
          </a:bodyPr>
          <a:p>
            <a:pPr algn="ctr" defTabSz="914400">
              <a:lnSpc>
                <a:spcPct val="100000"/>
              </a:lnSpc>
              <a:tabLst>
                <a:tab pos="0" algn="l"/>
              </a:tabLst>
            </a:pPr>
            <a:r>
              <a:rPr lang="en-US" sz="1800" b="1" u="none" strike="noStrike">
                <a:solidFill>
                  <a:srgbClr val="002B49"/>
                </a:solidFill>
                <a:effectLst/>
                <a:uFillTx/>
                <a:latin typeface="Aptos"/>
              </a:rPr>
              <a:t>More expressive designs are usually more flexible, but often more computationally expensive.</a:t>
            </a:r>
            <a:endParaRPr lang="en-US" sz="1800" b="0" u="none" strike="noStrike">
              <a:solidFill>
                <a:srgbClr val="000000"/>
              </a:solidFill>
              <a:effectLst/>
              <a:uFillTx/>
              <a:latin typeface="Arial"/>
            </a:endParaRPr>
          </a:p>
        </p:txBody>
      </p:sp>
      <p:sp>
        <p:nvSpPr>
          <p:cNvPr id="402" name="Text 19"/>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403" name="Text 20"/>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22</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Simple reflex agents</a:t>
            </a:r>
            <a:endParaRPr lang="en-US" sz="3000" b="0" u="none" strike="noStrike">
              <a:solidFill>
                <a:srgbClr val="000000"/>
              </a:solidFill>
              <a:effectLst/>
              <a:uFillTx/>
              <a:latin typeface="Arial"/>
            </a:endParaRPr>
          </a:p>
        </p:txBody>
      </p:sp>
      <p:sp>
        <p:nvSpPr>
          <p:cNvPr id="405"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06"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Condition-action rules are useful, but brittle.</a:t>
            </a:r>
            <a:endParaRPr lang="en-US" sz="1150" b="0" u="none" strike="noStrike">
              <a:solidFill>
                <a:srgbClr val="000000"/>
              </a:solidFill>
              <a:effectLst/>
              <a:uFillTx/>
              <a:latin typeface="Arial"/>
            </a:endParaRPr>
          </a:p>
        </p:txBody>
      </p:sp>
      <p:sp>
        <p:nvSpPr>
          <p:cNvPr id="407" name="Shape 3"/>
          <p:cNvSpPr/>
          <p:nvPr/>
        </p:nvSpPr>
        <p:spPr>
          <a:xfrm>
            <a:off x="868680" y="1325880"/>
            <a:ext cx="4205520" cy="1553760"/>
          </a:xfrm>
          <a:prstGeom prst="roundRect">
            <a:avLst>
              <a:gd name="adj" fmla="val 7059"/>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8" name="Text 4"/>
          <p:cNvSpPr/>
          <p:nvPr/>
        </p:nvSpPr>
        <p:spPr>
          <a:xfrm>
            <a:off x="1051560" y="1481400"/>
            <a:ext cx="38397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Rule</a:t>
            </a:r>
            <a:endParaRPr lang="en-US" sz="1600" b="0" u="none" strike="noStrike">
              <a:solidFill>
                <a:srgbClr val="000000"/>
              </a:solidFill>
              <a:effectLst/>
              <a:uFillTx/>
              <a:latin typeface="Arial"/>
            </a:endParaRPr>
          </a:p>
        </p:txBody>
      </p:sp>
      <p:sp>
        <p:nvSpPr>
          <p:cNvPr id="409" name="Text 5"/>
          <p:cNvSpPr/>
          <p:nvPr/>
        </p:nvSpPr>
        <p:spPr>
          <a:xfrm>
            <a:off x="1069920" y="1856160"/>
            <a:ext cx="3803040" cy="9136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if current square is dirty then Suck</a:t>
            </a:r>
            <a:endParaRPr lang="en-US" sz="1270" b="0" u="none" strike="noStrike">
              <a:solidFill>
                <a:srgbClr val="000000"/>
              </a:solidFill>
              <a:effectLst/>
              <a:uFillTx/>
              <a:latin typeface="Arial"/>
            </a:endParaRPr>
          </a:p>
          <a:p>
            <a:pPr algn="ctr" defTabSz="914400">
              <a:lnSpc>
                <a:spcPct val="100000"/>
              </a:lnSpc>
              <a:tabLst>
                <a:tab pos="0" algn="l"/>
              </a:tabLst>
            </a:pPr>
            <a:r>
              <a:rPr lang="en-US" sz="1270" b="0" u="none" strike="noStrike">
                <a:solidFill>
                  <a:srgbClr val="111827"/>
                </a:solidFill>
                <a:effectLst/>
                <a:uFillTx/>
                <a:latin typeface="Aptos"/>
              </a:rPr>
              <a:t>else move to another square</a:t>
            </a:r>
            <a:endParaRPr lang="en-US" sz="1270" b="0" u="none" strike="noStrike">
              <a:solidFill>
                <a:srgbClr val="000000"/>
              </a:solidFill>
              <a:effectLst/>
              <a:uFillTx/>
              <a:latin typeface="Arial"/>
            </a:endParaRPr>
          </a:p>
        </p:txBody>
      </p:sp>
      <p:sp>
        <p:nvSpPr>
          <p:cNvPr id="410" name="Shape 6"/>
          <p:cNvSpPr/>
          <p:nvPr/>
        </p:nvSpPr>
        <p:spPr>
          <a:xfrm>
            <a:off x="6126480" y="1325880"/>
            <a:ext cx="2331000" cy="1553760"/>
          </a:xfrm>
          <a:prstGeom prst="roundRect">
            <a:avLst>
              <a:gd name="adj" fmla="val 7059"/>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1" name="Text 7"/>
          <p:cNvSpPr/>
          <p:nvPr/>
        </p:nvSpPr>
        <p:spPr>
          <a:xfrm>
            <a:off x="6309360" y="1481400"/>
            <a:ext cx="19652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Strength</a:t>
            </a:r>
            <a:endParaRPr lang="en-US" sz="1600" b="0" u="none" strike="noStrike">
              <a:solidFill>
                <a:srgbClr val="000000"/>
              </a:solidFill>
              <a:effectLst/>
              <a:uFillTx/>
              <a:latin typeface="Arial"/>
            </a:endParaRPr>
          </a:p>
        </p:txBody>
      </p:sp>
      <p:sp>
        <p:nvSpPr>
          <p:cNvPr id="412" name="Text 8"/>
          <p:cNvSpPr/>
          <p:nvPr/>
        </p:nvSpPr>
        <p:spPr>
          <a:xfrm>
            <a:off x="6327720" y="1856160"/>
            <a:ext cx="1928520" cy="9136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Small, fast, inspectable, easy to implement.</a:t>
            </a:r>
            <a:endParaRPr lang="en-US" sz="1270" b="0" u="none" strike="noStrike">
              <a:solidFill>
                <a:srgbClr val="000000"/>
              </a:solidFill>
              <a:effectLst/>
              <a:uFillTx/>
              <a:latin typeface="Arial"/>
            </a:endParaRPr>
          </a:p>
        </p:txBody>
      </p:sp>
      <p:sp>
        <p:nvSpPr>
          <p:cNvPr id="413" name="Shape 9"/>
          <p:cNvSpPr/>
          <p:nvPr/>
        </p:nvSpPr>
        <p:spPr>
          <a:xfrm>
            <a:off x="9006840" y="1325880"/>
            <a:ext cx="2331000" cy="1553760"/>
          </a:xfrm>
          <a:prstGeom prst="roundRect">
            <a:avLst>
              <a:gd name="adj" fmla="val 7059"/>
            </a:avLst>
          </a:prstGeom>
          <a:solidFill>
            <a:srgbClr val="FFF1F0"/>
          </a:solidFill>
          <a:ln w="16510">
            <a:solidFill>
              <a:srgbClr val="C5303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4" name="Text 10"/>
          <p:cNvSpPr/>
          <p:nvPr/>
        </p:nvSpPr>
        <p:spPr>
          <a:xfrm>
            <a:off x="9189720" y="1481400"/>
            <a:ext cx="19652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53030"/>
                </a:solidFill>
                <a:effectLst/>
                <a:uFillTx/>
                <a:latin typeface="Aptos"/>
              </a:rPr>
              <a:t>Weakness</a:t>
            </a:r>
            <a:endParaRPr lang="en-US" sz="1600" b="0" u="none" strike="noStrike">
              <a:solidFill>
                <a:srgbClr val="000000"/>
              </a:solidFill>
              <a:effectLst/>
              <a:uFillTx/>
              <a:latin typeface="Arial"/>
            </a:endParaRPr>
          </a:p>
        </p:txBody>
      </p:sp>
      <p:sp>
        <p:nvSpPr>
          <p:cNvPr id="415" name="Text 11"/>
          <p:cNvSpPr/>
          <p:nvPr/>
        </p:nvSpPr>
        <p:spPr>
          <a:xfrm>
            <a:off x="9208080" y="1856160"/>
            <a:ext cx="1928520" cy="9136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Fails under partial observability or changed performance measures.</a:t>
            </a:r>
            <a:endParaRPr lang="en-US" sz="1270" b="0" u="none" strike="noStrike">
              <a:solidFill>
                <a:srgbClr val="000000"/>
              </a:solidFill>
              <a:effectLst/>
              <a:uFillTx/>
              <a:latin typeface="Arial"/>
            </a:endParaRPr>
          </a:p>
        </p:txBody>
      </p:sp>
      <p:sp>
        <p:nvSpPr>
          <p:cNvPr id="416" name="Text 12"/>
          <p:cNvSpPr/>
          <p:nvPr/>
        </p:nvSpPr>
        <p:spPr>
          <a:xfrm>
            <a:off x="960120" y="3977640"/>
            <a:ext cx="2193840" cy="25524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900" b="1" u="none" strike="noStrike">
                <a:solidFill>
                  <a:srgbClr val="002B49"/>
                </a:solidFill>
                <a:effectLst/>
                <a:uFillTx/>
                <a:latin typeface="Aptos"/>
              </a:rPr>
              <a:t>Lab connection</a:t>
            </a:r>
            <a:endParaRPr lang="en-US" sz="1900" b="0" u="none" strike="noStrike">
              <a:solidFill>
                <a:srgbClr val="000000"/>
              </a:solidFill>
              <a:effectLst/>
              <a:uFillTx/>
              <a:latin typeface="Arial"/>
            </a:endParaRPr>
          </a:p>
        </p:txBody>
      </p:sp>
      <p:sp>
        <p:nvSpPr>
          <p:cNvPr id="417" name="Shape 13"/>
          <p:cNvSpPr/>
          <p:nvPr/>
        </p:nvSpPr>
        <p:spPr>
          <a:xfrm>
            <a:off x="3337560" y="3794760"/>
            <a:ext cx="7634520" cy="822240"/>
          </a:xfrm>
          <a:prstGeom prst="roundRect">
            <a:avLst>
              <a:gd name="adj" fmla="val 13333"/>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8" name="Text 14"/>
          <p:cNvSpPr/>
          <p:nvPr/>
        </p:nvSpPr>
        <p:spPr>
          <a:xfrm>
            <a:off x="3538800" y="3977640"/>
            <a:ext cx="7232040" cy="5022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002B49"/>
                </a:solidFill>
                <a:effectLst/>
                <a:uFillTx/>
                <a:latin typeface="Aptos"/>
              </a:rPr>
              <a:t>Start with a simple reflex policy so the simulation loop is understandable before improving the agent.</a:t>
            </a:r>
            <a:endParaRPr lang="en-US" sz="1600" b="0" u="none" strike="noStrike">
              <a:solidFill>
                <a:srgbClr val="000000"/>
              </a:solidFill>
              <a:effectLst/>
              <a:uFillTx/>
              <a:latin typeface="Arial"/>
            </a:endParaRPr>
          </a:p>
        </p:txBody>
      </p:sp>
      <p:sp>
        <p:nvSpPr>
          <p:cNvPr id="419" name="Text 15"/>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420" name="Text 16"/>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23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Model-based agents</a:t>
            </a:r>
            <a:endParaRPr lang="en-US" sz="3000" b="0" u="none" strike="noStrike">
              <a:solidFill>
                <a:srgbClr val="000000"/>
              </a:solidFill>
              <a:effectLst/>
              <a:uFillTx/>
              <a:latin typeface="Arial"/>
            </a:endParaRPr>
          </a:p>
        </p:txBody>
      </p:sp>
      <p:sp>
        <p:nvSpPr>
          <p:cNvPr id="422"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23"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Internal state helps when sensors are incomplete.</a:t>
            </a:r>
            <a:endParaRPr lang="en-US" sz="1150" b="0" u="none" strike="noStrike">
              <a:solidFill>
                <a:srgbClr val="000000"/>
              </a:solidFill>
              <a:effectLst/>
              <a:uFillTx/>
              <a:latin typeface="Arial"/>
            </a:endParaRPr>
          </a:p>
        </p:txBody>
      </p:sp>
      <p:sp>
        <p:nvSpPr>
          <p:cNvPr id="424" name="Shape 3"/>
          <p:cNvSpPr/>
          <p:nvPr/>
        </p:nvSpPr>
        <p:spPr>
          <a:xfrm>
            <a:off x="1691640" y="2834640"/>
            <a:ext cx="1325880" cy="360"/>
          </a:xfrm>
          <a:prstGeom prst="line">
            <a:avLst/>
          </a:prstGeom>
          <a:ln w="27940">
            <a:solidFill>
              <a:srgbClr val="0E7C8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25" name="Shape 4"/>
          <p:cNvSpPr/>
          <p:nvPr/>
        </p:nvSpPr>
        <p:spPr>
          <a:xfrm>
            <a:off x="4709160" y="2834640"/>
            <a:ext cx="1325880" cy="360"/>
          </a:xfrm>
          <a:prstGeom prst="line">
            <a:avLst/>
          </a:prstGeom>
          <a:ln w="27940">
            <a:solidFill>
              <a:srgbClr val="3273DC"/>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26" name="Shape 5"/>
          <p:cNvSpPr/>
          <p:nvPr/>
        </p:nvSpPr>
        <p:spPr>
          <a:xfrm>
            <a:off x="7818120" y="2834640"/>
            <a:ext cx="1325880" cy="360"/>
          </a:xfrm>
          <a:prstGeom prst="line">
            <a:avLst/>
          </a:prstGeom>
          <a:ln w="27940">
            <a:solidFill>
              <a:srgbClr val="DD6B2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27" name="Shape 6"/>
          <p:cNvSpPr/>
          <p:nvPr/>
        </p:nvSpPr>
        <p:spPr>
          <a:xfrm>
            <a:off x="685800" y="2148840"/>
            <a:ext cx="1828080" cy="1233720"/>
          </a:xfrm>
          <a:prstGeom prst="roundRect">
            <a:avLst>
              <a:gd name="adj" fmla="val 8889"/>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8" name="Text 7"/>
          <p:cNvSpPr/>
          <p:nvPr/>
        </p:nvSpPr>
        <p:spPr>
          <a:xfrm>
            <a:off x="868680" y="2304360"/>
            <a:ext cx="14623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Percept</a:t>
            </a:r>
            <a:endParaRPr lang="en-US" sz="1600" b="0" u="none" strike="noStrike">
              <a:solidFill>
                <a:srgbClr val="000000"/>
              </a:solidFill>
              <a:effectLst/>
              <a:uFillTx/>
              <a:latin typeface="Arial"/>
            </a:endParaRPr>
          </a:p>
        </p:txBody>
      </p:sp>
      <p:sp>
        <p:nvSpPr>
          <p:cNvPr id="429" name="Text 8"/>
          <p:cNvSpPr/>
          <p:nvPr/>
        </p:nvSpPr>
        <p:spPr>
          <a:xfrm>
            <a:off x="887040" y="2679120"/>
            <a:ext cx="1425600" cy="5936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What I see now</a:t>
            </a:r>
            <a:endParaRPr lang="en-US" sz="1270" b="0" u="none" strike="noStrike">
              <a:solidFill>
                <a:srgbClr val="000000"/>
              </a:solidFill>
              <a:effectLst/>
              <a:uFillTx/>
              <a:latin typeface="Arial"/>
            </a:endParaRPr>
          </a:p>
        </p:txBody>
      </p:sp>
      <p:sp>
        <p:nvSpPr>
          <p:cNvPr id="430" name="Shape 9"/>
          <p:cNvSpPr/>
          <p:nvPr/>
        </p:nvSpPr>
        <p:spPr>
          <a:xfrm>
            <a:off x="3017520" y="2057400"/>
            <a:ext cx="2331000" cy="1416600"/>
          </a:xfrm>
          <a:prstGeom prst="roundRect">
            <a:avLst>
              <a:gd name="adj" fmla="val 7742"/>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1" name="Text 10"/>
          <p:cNvSpPr/>
          <p:nvPr/>
        </p:nvSpPr>
        <p:spPr>
          <a:xfrm>
            <a:off x="3200400" y="2212920"/>
            <a:ext cx="19652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Internal state</a:t>
            </a:r>
            <a:endParaRPr lang="en-US" sz="1600" b="0" u="none" strike="noStrike">
              <a:solidFill>
                <a:srgbClr val="000000"/>
              </a:solidFill>
              <a:effectLst/>
              <a:uFillTx/>
              <a:latin typeface="Arial"/>
            </a:endParaRPr>
          </a:p>
        </p:txBody>
      </p:sp>
      <p:sp>
        <p:nvSpPr>
          <p:cNvPr id="432" name="Text 11"/>
          <p:cNvSpPr/>
          <p:nvPr/>
        </p:nvSpPr>
        <p:spPr>
          <a:xfrm>
            <a:off x="3218760" y="2587680"/>
            <a:ext cx="19285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Best guess of what the world is like now</a:t>
            </a:r>
            <a:endParaRPr lang="en-US" sz="1270" b="0" u="none" strike="noStrike">
              <a:solidFill>
                <a:srgbClr val="000000"/>
              </a:solidFill>
              <a:effectLst/>
              <a:uFillTx/>
              <a:latin typeface="Arial"/>
            </a:endParaRPr>
          </a:p>
        </p:txBody>
      </p:sp>
      <p:sp>
        <p:nvSpPr>
          <p:cNvPr id="433" name="Shape 12"/>
          <p:cNvSpPr/>
          <p:nvPr/>
        </p:nvSpPr>
        <p:spPr>
          <a:xfrm>
            <a:off x="5897880" y="2057400"/>
            <a:ext cx="2331000" cy="1416600"/>
          </a:xfrm>
          <a:prstGeom prst="roundRect">
            <a:avLst>
              <a:gd name="adj" fmla="val 7742"/>
            </a:avLst>
          </a:prstGeom>
          <a:solidFill>
            <a:srgbClr val="F3EE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4" name="Text 13"/>
          <p:cNvSpPr/>
          <p:nvPr/>
        </p:nvSpPr>
        <p:spPr>
          <a:xfrm>
            <a:off x="6080760" y="2212920"/>
            <a:ext cx="19652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Model</a:t>
            </a:r>
            <a:endParaRPr lang="en-US" sz="1600" b="0" u="none" strike="noStrike">
              <a:solidFill>
                <a:srgbClr val="000000"/>
              </a:solidFill>
              <a:effectLst/>
              <a:uFillTx/>
              <a:latin typeface="Arial"/>
            </a:endParaRPr>
          </a:p>
        </p:txBody>
      </p:sp>
      <p:sp>
        <p:nvSpPr>
          <p:cNvPr id="435" name="Text 14"/>
          <p:cNvSpPr/>
          <p:nvPr/>
        </p:nvSpPr>
        <p:spPr>
          <a:xfrm>
            <a:off x="6099120" y="2587680"/>
            <a:ext cx="19285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How the world changes and how sensors reflect state</a:t>
            </a:r>
            <a:endParaRPr lang="en-US" sz="1270" b="0" u="none" strike="noStrike">
              <a:solidFill>
                <a:srgbClr val="000000"/>
              </a:solidFill>
              <a:effectLst/>
              <a:uFillTx/>
              <a:latin typeface="Arial"/>
            </a:endParaRPr>
          </a:p>
        </p:txBody>
      </p:sp>
      <p:sp>
        <p:nvSpPr>
          <p:cNvPr id="436" name="Shape 15"/>
          <p:cNvSpPr/>
          <p:nvPr/>
        </p:nvSpPr>
        <p:spPr>
          <a:xfrm>
            <a:off x="9189720" y="2148840"/>
            <a:ext cx="1828080" cy="1233720"/>
          </a:xfrm>
          <a:prstGeom prst="roundRect">
            <a:avLst>
              <a:gd name="adj" fmla="val 8889"/>
            </a:avLst>
          </a:prstGeom>
          <a:solidFill>
            <a:srgbClr val="FFF3E8"/>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7" name="Text 16"/>
          <p:cNvSpPr/>
          <p:nvPr/>
        </p:nvSpPr>
        <p:spPr>
          <a:xfrm>
            <a:off x="9372600" y="2304360"/>
            <a:ext cx="14623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Action</a:t>
            </a:r>
            <a:endParaRPr lang="en-US" sz="1600" b="0" u="none" strike="noStrike">
              <a:solidFill>
                <a:srgbClr val="000000"/>
              </a:solidFill>
              <a:effectLst/>
              <a:uFillTx/>
              <a:latin typeface="Arial"/>
            </a:endParaRPr>
          </a:p>
        </p:txBody>
      </p:sp>
      <p:sp>
        <p:nvSpPr>
          <p:cNvPr id="438" name="Text 17"/>
          <p:cNvSpPr/>
          <p:nvPr/>
        </p:nvSpPr>
        <p:spPr>
          <a:xfrm>
            <a:off x="9390960" y="2679120"/>
            <a:ext cx="1425600" cy="5936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Decision using state estimate</a:t>
            </a:r>
            <a:endParaRPr lang="en-US" sz="1270" b="0" u="none" strike="noStrike">
              <a:solidFill>
                <a:srgbClr val="000000"/>
              </a:solidFill>
              <a:effectLst/>
              <a:uFillTx/>
              <a:latin typeface="Arial"/>
            </a:endParaRPr>
          </a:p>
        </p:txBody>
      </p:sp>
      <p:sp>
        <p:nvSpPr>
          <p:cNvPr id="439" name="Shape 18"/>
          <p:cNvSpPr/>
          <p:nvPr/>
        </p:nvSpPr>
        <p:spPr>
          <a:xfrm>
            <a:off x="1463040" y="4846320"/>
            <a:ext cx="9234720" cy="639360"/>
          </a:xfrm>
          <a:prstGeom prst="roundRect">
            <a:avLst>
              <a:gd name="adj" fmla="val 17143"/>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0" name="Text 19"/>
          <p:cNvSpPr/>
          <p:nvPr/>
        </p:nvSpPr>
        <p:spPr>
          <a:xfrm>
            <a:off x="1664280" y="5029200"/>
            <a:ext cx="8832240" cy="3193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002B49"/>
                </a:solidFill>
                <a:effectLst/>
                <a:uFillTx/>
                <a:latin typeface="Aptos"/>
              </a:rPr>
              <a:t>Transition model + sensor model = a way to update beliefs about state.</a:t>
            </a:r>
            <a:endParaRPr lang="en-US" sz="1600" b="0" u="none" strike="noStrike">
              <a:solidFill>
                <a:srgbClr val="000000"/>
              </a:solidFill>
              <a:effectLst/>
              <a:uFillTx/>
              <a:latin typeface="Arial"/>
            </a:endParaRPr>
          </a:p>
        </p:txBody>
      </p:sp>
      <p:sp>
        <p:nvSpPr>
          <p:cNvPr id="441" name="Text 20"/>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442" name="Text 21"/>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24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Goal-based and utility-based agents</a:t>
            </a:r>
            <a:endParaRPr lang="en-US" sz="3000" b="0" u="none" strike="noStrike">
              <a:solidFill>
                <a:srgbClr val="000000"/>
              </a:solidFill>
              <a:effectLst/>
              <a:uFillTx/>
              <a:latin typeface="Arial"/>
            </a:endParaRPr>
          </a:p>
        </p:txBody>
      </p:sp>
      <p:sp>
        <p:nvSpPr>
          <p:cNvPr id="444"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45"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Planning and tradeoffs enter once “what do I want?” is explicit.</a:t>
            </a:r>
            <a:endParaRPr lang="en-US" sz="1150" b="0" u="none" strike="noStrike">
              <a:solidFill>
                <a:srgbClr val="000000"/>
              </a:solidFill>
              <a:effectLst/>
              <a:uFillTx/>
              <a:latin typeface="Arial"/>
            </a:endParaRPr>
          </a:p>
        </p:txBody>
      </p:sp>
      <p:sp>
        <p:nvSpPr>
          <p:cNvPr id="446" name="Shape 3"/>
          <p:cNvSpPr/>
          <p:nvPr/>
        </p:nvSpPr>
        <p:spPr>
          <a:xfrm>
            <a:off x="868680" y="1463040"/>
            <a:ext cx="4754160" cy="1919520"/>
          </a:xfrm>
          <a:prstGeom prst="roundRect">
            <a:avLst>
              <a:gd name="adj" fmla="val 5714"/>
            </a:avLst>
          </a:prstGeom>
          <a:solidFill>
            <a:srgbClr val="F3EE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7" name="Text 4"/>
          <p:cNvSpPr/>
          <p:nvPr/>
        </p:nvSpPr>
        <p:spPr>
          <a:xfrm>
            <a:off x="1051560" y="1618560"/>
            <a:ext cx="43884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Goal-based</a:t>
            </a:r>
            <a:endParaRPr lang="en-US" sz="1600" b="0" u="none" strike="noStrike">
              <a:solidFill>
                <a:srgbClr val="000000"/>
              </a:solidFill>
              <a:effectLst/>
              <a:uFillTx/>
              <a:latin typeface="Arial"/>
            </a:endParaRPr>
          </a:p>
        </p:txBody>
      </p:sp>
      <p:sp>
        <p:nvSpPr>
          <p:cNvPr id="448" name="Text 5"/>
          <p:cNvSpPr/>
          <p:nvPr/>
        </p:nvSpPr>
        <p:spPr>
          <a:xfrm>
            <a:off x="1069920" y="1993320"/>
            <a:ext cx="4351680" cy="12794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Select actions that reach a desirable state. Example: get to the goal tile.</a:t>
            </a:r>
            <a:endParaRPr lang="en-US" sz="1270" b="0" u="none" strike="noStrike">
              <a:solidFill>
                <a:srgbClr val="000000"/>
              </a:solidFill>
              <a:effectLst/>
              <a:uFillTx/>
              <a:latin typeface="Arial"/>
            </a:endParaRPr>
          </a:p>
        </p:txBody>
      </p:sp>
      <p:sp>
        <p:nvSpPr>
          <p:cNvPr id="449" name="Shape 6"/>
          <p:cNvSpPr/>
          <p:nvPr/>
        </p:nvSpPr>
        <p:spPr>
          <a:xfrm>
            <a:off x="6537960" y="1463040"/>
            <a:ext cx="4754160" cy="1919520"/>
          </a:xfrm>
          <a:prstGeom prst="roundRect">
            <a:avLst>
              <a:gd name="adj" fmla="val 5714"/>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0" name="Text 7"/>
          <p:cNvSpPr/>
          <p:nvPr/>
        </p:nvSpPr>
        <p:spPr>
          <a:xfrm>
            <a:off x="6720840" y="1618560"/>
            <a:ext cx="438840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Utility-based</a:t>
            </a:r>
            <a:endParaRPr lang="en-US" sz="1600" b="0" u="none" strike="noStrike">
              <a:solidFill>
                <a:srgbClr val="000000"/>
              </a:solidFill>
              <a:effectLst/>
              <a:uFillTx/>
              <a:latin typeface="Arial"/>
            </a:endParaRPr>
          </a:p>
        </p:txBody>
      </p:sp>
      <p:sp>
        <p:nvSpPr>
          <p:cNvPr id="451" name="Text 8"/>
          <p:cNvSpPr/>
          <p:nvPr/>
        </p:nvSpPr>
        <p:spPr>
          <a:xfrm>
            <a:off x="6739200" y="1993320"/>
            <a:ext cx="4351680" cy="12794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Compare outcomes by degree of desirability. Example: reach goal while minimizing cost and risk.</a:t>
            </a:r>
            <a:endParaRPr lang="en-US" sz="1270" b="0" u="none" strike="noStrike">
              <a:solidFill>
                <a:srgbClr val="000000"/>
              </a:solidFill>
              <a:effectLst/>
              <a:uFillTx/>
              <a:latin typeface="Arial"/>
            </a:endParaRPr>
          </a:p>
        </p:txBody>
      </p:sp>
      <p:sp>
        <p:nvSpPr>
          <p:cNvPr id="452" name="Text 9"/>
          <p:cNvSpPr/>
          <p:nvPr/>
        </p:nvSpPr>
        <p:spPr>
          <a:xfrm>
            <a:off x="1143000" y="4160520"/>
            <a:ext cx="1462320" cy="22788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1900" b="1" u="none" strike="noStrike">
                <a:solidFill>
                  <a:srgbClr val="002B49"/>
                </a:solidFill>
                <a:effectLst/>
                <a:uFillTx/>
                <a:latin typeface="Aptos"/>
              </a:rPr>
              <a:t>Question</a:t>
            </a:r>
            <a:endParaRPr lang="en-US" sz="1900" b="0" u="none" strike="noStrike">
              <a:solidFill>
                <a:srgbClr val="000000"/>
              </a:solidFill>
              <a:effectLst/>
              <a:uFillTx/>
              <a:latin typeface="Arial"/>
            </a:endParaRPr>
          </a:p>
        </p:txBody>
      </p:sp>
      <p:sp>
        <p:nvSpPr>
          <p:cNvPr id="453" name="Shape 10"/>
          <p:cNvSpPr/>
          <p:nvPr/>
        </p:nvSpPr>
        <p:spPr>
          <a:xfrm>
            <a:off x="2834640" y="3977640"/>
            <a:ext cx="8137440" cy="776520"/>
          </a:xfrm>
          <a:prstGeom prst="roundRect">
            <a:avLst>
              <a:gd name="adj" fmla="val 14118"/>
            </a:avLst>
          </a:prstGeom>
          <a:solidFill>
            <a:srgbClr val="EFF6FF"/>
          </a:solidFill>
          <a:ln w="1524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4" name="Text 11"/>
          <p:cNvSpPr/>
          <p:nvPr/>
        </p:nvSpPr>
        <p:spPr>
          <a:xfrm>
            <a:off x="3035880" y="4160520"/>
            <a:ext cx="7734960" cy="45648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1600" b="1" u="none" strike="noStrike">
                <a:solidFill>
                  <a:srgbClr val="002B49"/>
                </a:solidFill>
                <a:effectLst/>
                <a:uFillTx/>
                <a:latin typeface="Aptos"/>
              </a:rPr>
              <a:t>In a grid-world, is “reach goal” enough, or do we also care about path length, risk, and energy?</a:t>
            </a:r>
            <a:endParaRPr lang="en-US" sz="1600" b="0" u="none" strike="noStrike">
              <a:solidFill>
                <a:srgbClr val="000000"/>
              </a:solidFill>
              <a:effectLst/>
              <a:uFillTx/>
              <a:latin typeface="Arial"/>
            </a:endParaRPr>
          </a:p>
        </p:txBody>
      </p:sp>
      <p:sp>
        <p:nvSpPr>
          <p:cNvPr id="455" name="Text 12"/>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456" name="Text 13"/>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25</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Learning agents</a:t>
            </a:r>
            <a:endParaRPr lang="en-US" sz="3000" b="0" u="none" strike="noStrike">
              <a:solidFill>
                <a:srgbClr val="000000"/>
              </a:solidFill>
              <a:effectLst/>
              <a:uFillTx/>
              <a:latin typeface="Arial"/>
            </a:endParaRPr>
          </a:p>
        </p:txBody>
      </p:sp>
      <p:sp>
        <p:nvSpPr>
          <p:cNvPr id="458"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59"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Learning modifies components to improve performance from feedback.</a:t>
            </a:r>
            <a:endParaRPr lang="en-US" sz="1150" b="0" u="none" strike="noStrike">
              <a:solidFill>
                <a:srgbClr val="000000"/>
              </a:solidFill>
              <a:effectLst/>
              <a:uFillTx/>
              <a:latin typeface="Arial"/>
            </a:endParaRPr>
          </a:p>
        </p:txBody>
      </p:sp>
      <p:sp>
        <p:nvSpPr>
          <p:cNvPr id="460" name="Shape 3"/>
          <p:cNvSpPr/>
          <p:nvPr/>
        </p:nvSpPr>
        <p:spPr>
          <a:xfrm>
            <a:off x="2057400" y="2240280"/>
            <a:ext cx="1600200" cy="360"/>
          </a:xfrm>
          <a:prstGeom prst="line">
            <a:avLst/>
          </a:prstGeom>
          <a:ln w="27940">
            <a:solidFill>
              <a:srgbClr val="3273DC"/>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61" name="Shape 4"/>
          <p:cNvSpPr/>
          <p:nvPr/>
        </p:nvSpPr>
        <p:spPr>
          <a:xfrm>
            <a:off x="6400800" y="2240280"/>
            <a:ext cx="1600200" cy="360"/>
          </a:xfrm>
          <a:prstGeom prst="line">
            <a:avLst/>
          </a:prstGeom>
          <a:ln w="27940">
            <a:solidFill>
              <a:srgbClr val="2F855A"/>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62" name="Shape 5"/>
          <p:cNvSpPr/>
          <p:nvPr/>
        </p:nvSpPr>
        <p:spPr>
          <a:xfrm flipV="1">
            <a:off x="5029200" y="2971800"/>
            <a:ext cx="360" cy="868680"/>
          </a:xfrm>
          <a:prstGeom prst="line">
            <a:avLst/>
          </a:prstGeom>
          <a:ln w="27940">
            <a:solidFill>
              <a:srgbClr val="C99700"/>
            </a:solidFill>
            <a:round/>
            <a:tailEnd len="med" type="triangle" w="me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463" name="Shape 6"/>
          <p:cNvSpPr/>
          <p:nvPr/>
        </p:nvSpPr>
        <p:spPr>
          <a:xfrm>
            <a:off x="822960" y="1691640"/>
            <a:ext cx="2468160" cy="1096560"/>
          </a:xfrm>
          <a:prstGeom prst="roundRect">
            <a:avLst>
              <a:gd name="adj" fmla="val 10000"/>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4" name="Text 7"/>
          <p:cNvSpPr/>
          <p:nvPr/>
        </p:nvSpPr>
        <p:spPr>
          <a:xfrm>
            <a:off x="1005840" y="1847160"/>
            <a:ext cx="2102400" cy="25524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600" b="1" u="none" strike="noStrike">
                <a:solidFill>
                  <a:srgbClr val="3273DC"/>
                </a:solidFill>
                <a:effectLst/>
                <a:uFillTx/>
                <a:latin typeface="Aptos"/>
              </a:rPr>
              <a:t>Performance element</a:t>
            </a:r>
            <a:endParaRPr lang="en-US" sz="1600" b="0" u="none" strike="noStrike">
              <a:solidFill>
                <a:srgbClr val="000000"/>
              </a:solidFill>
              <a:effectLst/>
              <a:uFillTx/>
              <a:latin typeface="Arial"/>
            </a:endParaRPr>
          </a:p>
        </p:txBody>
      </p:sp>
      <p:sp>
        <p:nvSpPr>
          <p:cNvPr id="465" name="Text 8"/>
          <p:cNvSpPr/>
          <p:nvPr/>
        </p:nvSpPr>
        <p:spPr>
          <a:xfrm>
            <a:off x="1024200" y="2221920"/>
            <a:ext cx="2065680" cy="4564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Chooses actions</a:t>
            </a:r>
            <a:endParaRPr lang="en-US" sz="1270" b="0" u="none" strike="noStrike">
              <a:solidFill>
                <a:srgbClr val="000000"/>
              </a:solidFill>
              <a:effectLst/>
              <a:uFillTx/>
              <a:latin typeface="Arial"/>
            </a:endParaRPr>
          </a:p>
        </p:txBody>
      </p:sp>
      <p:sp>
        <p:nvSpPr>
          <p:cNvPr id="466" name="Shape 9"/>
          <p:cNvSpPr/>
          <p:nvPr/>
        </p:nvSpPr>
        <p:spPr>
          <a:xfrm>
            <a:off x="3657600" y="1691640"/>
            <a:ext cx="2651040" cy="1096560"/>
          </a:xfrm>
          <a:prstGeom prst="roundRect">
            <a:avLst>
              <a:gd name="adj" fmla="val 10000"/>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7" name="Text 10"/>
          <p:cNvSpPr/>
          <p:nvPr/>
        </p:nvSpPr>
        <p:spPr>
          <a:xfrm>
            <a:off x="3840480" y="1847160"/>
            <a:ext cx="22852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Learning element</a:t>
            </a:r>
            <a:endParaRPr lang="en-US" sz="1600" b="0" u="none" strike="noStrike">
              <a:solidFill>
                <a:srgbClr val="000000"/>
              </a:solidFill>
              <a:effectLst/>
              <a:uFillTx/>
              <a:latin typeface="Arial"/>
            </a:endParaRPr>
          </a:p>
        </p:txBody>
      </p:sp>
      <p:sp>
        <p:nvSpPr>
          <p:cNvPr id="468" name="Text 11"/>
          <p:cNvSpPr/>
          <p:nvPr/>
        </p:nvSpPr>
        <p:spPr>
          <a:xfrm>
            <a:off x="3858840" y="2221920"/>
            <a:ext cx="2248560" cy="4564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Improves the performance element</a:t>
            </a:r>
            <a:endParaRPr lang="en-US" sz="1270" b="0" u="none" strike="noStrike">
              <a:solidFill>
                <a:srgbClr val="000000"/>
              </a:solidFill>
              <a:effectLst/>
              <a:uFillTx/>
              <a:latin typeface="Arial"/>
            </a:endParaRPr>
          </a:p>
        </p:txBody>
      </p:sp>
      <p:sp>
        <p:nvSpPr>
          <p:cNvPr id="469" name="Shape 12"/>
          <p:cNvSpPr/>
          <p:nvPr/>
        </p:nvSpPr>
        <p:spPr>
          <a:xfrm>
            <a:off x="8001000" y="1691640"/>
            <a:ext cx="2651040" cy="1096560"/>
          </a:xfrm>
          <a:prstGeom prst="roundRect">
            <a:avLst>
              <a:gd name="adj" fmla="val 10000"/>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0" name="Text 13"/>
          <p:cNvSpPr/>
          <p:nvPr/>
        </p:nvSpPr>
        <p:spPr>
          <a:xfrm>
            <a:off x="8183880" y="1847160"/>
            <a:ext cx="228528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Critic</a:t>
            </a:r>
            <a:endParaRPr lang="en-US" sz="1600" b="0" u="none" strike="noStrike">
              <a:solidFill>
                <a:srgbClr val="000000"/>
              </a:solidFill>
              <a:effectLst/>
              <a:uFillTx/>
              <a:latin typeface="Arial"/>
            </a:endParaRPr>
          </a:p>
        </p:txBody>
      </p:sp>
      <p:sp>
        <p:nvSpPr>
          <p:cNvPr id="471" name="Text 14"/>
          <p:cNvSpPr/>
          <p:nvPr/>
        </p:nvSpPr>
        <p:spPr>
          <a:xfrm>
            <a:off x="8202240" y="2221920"/>
            <a:ext cx="2248560" cy="4564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Provides feedback against a performance standard</a:t>
            </a:r>
            <a:endParaRPr lang="en-US" sz="1270" b="0" u="none" strike="noStrike">
              <a:solidFill>
                <a:srgbClr val="000000"/>
              </a:solidFill>
              <a:effectLst/>
              <a:uFillTx/>
              <a:latin typeface="Arial"/>
            </a:endParaRPr>
          </a:p>
        </p:txBody>
      </p:sp>
      <p:sp>
        <p:nvSpPr>
          <p:cNvPr id="472" name="Shape 15"/>
          <p:cNvSpPr/>
          <p:nvPr/>
        </p:nvSpPr>
        <p:spPr>
          <a:xfrm>
            <a:off x="3566160" y="3840480"/>
            <a:ext cx="2971080" cy="1005120"/>
          </a:xfrm>
          <a:prstGeom prst="roundRect">
            <a:avLst>
              <a:gd name="adj" fmla="val 10909"/>
            </a:avLst>
          </a:prstGeom>
          <a:solidFill>
            <a:srgbClr val="F3EE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3" name="Text 16"/>
          <p:cNvSpPr/>
          <p:nvPr/>
        </p:nvSpPr>
        <p:spPr>
          <a:xfrm>
            <a:off x="3749040" y="3996000"/>
            <a:ext cx="26053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Problem generator</a:t>
            </a:r>
            <a:endParaRPr lang="en-US" sz="1600" b="0" u="none" strike="noStrike">
              <a:solidFill>
                <a:srgbClr val="000000"/>
              </a:solidFill>
              <a:effectLst/>
              <a:uFillTx/>
              <a:latin typeface="Arial"/>
            </a:endParaRPr>
          </a:p>
        </p:txBody>
      </p:sp>
      <p:sp>
        <p:nvSpPr>
          <p:cNvPr id="474" name="Text 17"/>
          <p:cNvSpPr/>
          <p:nvPr/>
        </p:nvSpPr>
        <p:spPr>
          <a:xfrm>
            <a:off x="3767400" y="4370760"/>
            <a:ext cx="2568600" cy="3650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Suggests exploratory actions</a:t>
            </a:r>
            <a:endParaRPr lang="en-US" sz="1270" b="0" u="none" strike="noStrike">
              <a:solidFill>
                <a:srgbClr val="000000"/>
              </a:solidFill>
              <a:effectLst/>
              <a:uFillTx/>
              <a:latin typeface="Arial"/>
            </a:endParaRPr>
          </a:p>
        </p:txBody>
      </p:sp>
      <p:sp>
        <p:nvSpPr>
          <p:cNvPr id="475" name="Text 18"/>
          <p:cNvSpPr/>
          <p:nvPr/>
        </p:nvSpPr>
        <p:spPr>
          <a:xfrm>
            <a:off x="1234440" y="5486400"/>
            <a:ext cx="9737640" cy="31932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600" b="1" u="none" strike="noStrike">
                <a:solidFill>
                  <a:srgbClr val="002B49"/>
                </a:solidFill>
                <a:effectLst/>
                <a:uFillTx/>
                <a:latin typeface="Aptos"/>
              </a:rPr>
              <a:t>Today’s lab is not full learning yet; it sets up the simulation framework needed for learning later.</a:t>
            </a:r>
            <a:endParaRPr lang="en-US" sz="1600" b="0" u="none" strike="noStrike">
              <a:solidFill>
                <a:srgbClr val="000000"/>
              </a:solidFill>
              <a:effectLst/>
              <a:uFillTx/>
              <a:latin typeface="Arial"/>
            </a:endParaRPr>
          </a:p>
        </p:txBody>
      </p:sp>
      <p:sp>
        <p:nvSpPr>
          <p:cNvPr id="476" name="Text 19"/>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477" name="Text 20"/>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26</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Python/Jupyter review</a:t>
            </a:r>
            <a:endParaRPr lang="en-US" sz="3000" b="0" u="none" strike="noStrike">
              <a:solidFill>
                <a:srgbClr val="000000"/>
              </a:solidFill>
              <a:effectLst/>
              <a:uFillTx/>
              <a:latin typeface="Arial"/>
            </a:endParaRPr>
          </a:p>
        </p:txBody>
      </p:sp>
      <p:sp>
        <p:nvSpPr>
          <p:cNvPr id="479"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80"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We need just enough Python to implement the lab cleanly.</a:t>
            </a:r>
            <a:endParaRPr lang="en-US" sz="1150" b="0" u="none" strike="noStrike">
              <a:solidFill>
                <a:srgbClr val="000000"/>
              </a:solidFill>
              <a:effectLst/>
              <a:uFillTx/>
              <a:latin typeface="Arial"/>
            </a:endParaRPr>
          </a:p>
        </p:txBody>
      </p:sp>
      <p:sp>
        <p:nvSpPr>
          <p:cNvPr id="481" name="Shape 3"/>
          <p:cNvSpPr/>
          <p:nvPr/>
        </p:nvSpPr>
        <p:spPr>
          <a:xfrm>
            <a:off x="777240" y="1325880"/>
            <a:ext cx="3291120" cy="1325160"/>
          </a:xfrm>
          <a:prstGeom prst="roundRect">
            <a:avLst>
              <a:gd name="adj" fmla="val 8276"/>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2" name="Text 4"/>
          <p:cNvSpPr/>
          <p:nvPr/>
        </p:nvSpPr>
        <p:spPr>
          <a:xfrm>
            <a:off x="960120" y="1481400"/>
            <a:ext cx="29253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Functions</a:t>
            </a:r>
            <a:endParaRPr lang="en-US" sz="1600" b="0" u="none" strike="noStrike">
              <a:solidFill>
                <a:srgbClr val="000000"/>
              </a:solidFill>
              <a:effectLst/>
              <a:uFillTx/>
              <a:latin typeface="Arial"/>
            </a:endParaRPr>
          </a:p>
        </p:txBody>
      </p:sp>
      <p:sp>
        <p:nvSpPr>
          <p:cNvPr id="483" name="Text 5"/>
          <p:cNvSpPr/>
          <p:nvPr/>
        </p:nvSpPr>
        <p:spPr>
          <a:xfrm>
            <a:off x="978480" y="1856160"/>
            <a:ext cx="288864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Encapsulate environment logic: reset(), perceive(), step().</a:t>
            </a:r>
            <a:endParaRPr lang="en-US" sz="1270" b="0" u="none" strike="noStrike">
              <a:solidFill>
                <a:srgbClr val="000000"/>
              </a:solidFill>
              <a:effectLst/>
              <a:uFillTx/>
              <a:latin typeface="Arial"/>
            </a:endParaRPr>
          </a:p>
        </p:txBody>
      </p:sp>
      <p:sp>
        <p:nvSpPr>
          <p:cNvPr id="484" name="Shape 6"/>
          <p:cNvSpPr/>
          <p:nvPr/>
        </p:nvSpPr>
        <p:spPr>
          <a:xfrm>
            <a:off x="4434840" y="1325880"/>
            <a:ext cx="3291120" cy="1325160"/>
          </a:xfrm>
          <a:prstGeom prst="roundRect">
            <a:avLst>
              <a:gd name="adj" fmla="val 8276"/>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5" name="Text 7"/>
          <p:cNvSpPr/>
          <p:nvPr/>
        </p:nvSpPr>
        <p:spPr>
          <a:xfrm>
            <a:off x="4617720" y="1481400"/>
            <a:ext cx="29253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Dictionaries</a:t>
            </a:r>
            <a:endParaRPr lang="en-US" sz="1600" b="0" u="none" strike="noStrike">
              <a:solidFill>
                <a:srgbClr val="000000"/>
              </a:solidFill>
              <a:effectLst/>
              <a:uFillTx/>
              <a:latin typeface="Arial"/>
            </a:endParaRPr>
          </a:p>
        </p:txBody>
      </p:sp>
      <p:sp>
        <p:nvSpPr>
          <p:cNvPr id="486" name="Text 8"/>
          <p:cNvSpPr/>
          <p:nvPr/>
        </p:nvSpPr>
        <p:spPr>
          <a:xfrm>
            <a:off x="4636080" y="1856160"/>
            <a:ext cx="288864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Represent state, rewards, and configuration.</a:t>
            </a:r>
            <a:endParaRPr lang="en-US" sz="1270" b="0" u="none" strike="noStrike">
              <a:solidFill>
                <a:srgbClr val="000000"/>
              </a:solidFill>
              <a:effectLst/>
              <a:uFillTx/>
              <a:latin typeface="Arial"/>
            </a:endParaRPr>
          </a:p>
        </p:txBody>
      </p:sp>
      <p:sp>
        <p:nvSpPr>
          <p:cNvPr id="487" name="Shape 9"/>
          <p:cNvSpPr/>
          <p:nvPr/>
        </p:nvSpPr>
        <p:spPr>
          <a:xfrm>
            <a:off x="8092440" y="1325880"/>
            <a:ext cx="3291120" cy="1325160"/>
          </a:xfrm>
          <a:prstGeom prst="roundRect">
            <a:avLst>
              <a:gd name="adj" fmla="val 8276"/>
            </a:avLst>
          </a:prstGeom>
          <a:solidFill>
            <a:srgbClr val="F3EE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8" name="Text 10"/>
          <p:cNvSpPr/>
          <p:nvPr/>
        </p:nvSpPr>
        <p:spPr>
          <a:xfrm>
            <a:off x="8275320" y="1481400"/>
            <a:ext cx="29253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Classes</a:t>
            </a:r>
            <a:endParaRPr lang="en-US" sz="1600" b="0" u="none" strike="noStrike">
              <a:solidFill>
                <a:srgbClr val="000000"/>
              </a:solidFill>
              <a:effectLst/>
              <a:uFillTx/>
              <a:latin typeface="Arial"/>
            </a:endParaRPr>
          </a:p>
        </p:txBody>
      </p:sp>
      <p:sp>
        <p:nvSpPr>
          <p:cNvPr id="489" name="Text 11"/>
          <p:cNvSpPr/>
          <p:nvPr/>
        </p:nvSpPr>
        <p:spPr>
          <a:xfrm>
            <a:off x="8293680" y="1856160"/>
            <a:ext cx="288864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Optional structure for Environment and Agent objects.</a:t>
            </a:r>
            <a:endParaRPr lang="en-US" sz="1270" b="0" u="none" strike="noStrike">
              <a:solidFill>
                <a:srgbClr val="000000"/>
              </a:solidFill>
              <a:effectLst/>
              <a:uFillTx/>
              <a:latin typeface="Arial"/>
            </a:endParaRPr>
          </a:p>
        </p:txBody>
      </p:sp>
      <p:sp>
        <p:nvSpPr>
          <p:cNvPr id="490" name="Shape 12"/>
          <p:cNvSpPr/>
          <p:nvPr/>
        </p:nvSpPr>
        <p:spPr>
          <a:xfrm>
            <a:off x="777240" y="3337560"/>
            <a:ext cx="3291120" cy="1325160"/>
          </a:xfrm>
          <a:prstGeom prst="roundRect">
            <a:avLst>
              <a:gd name="adj" fmla="val 8276"/>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1" name="Text 13"/>
          <p:cNvSpPr/>
          <p:nvPr/>
        </p:nvSpPr>
        <p:spPr>
          <a:xfrm>
            <a:off x="960120" y="3493080"/>
            <a:ext cx="29253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Loops</a:t>
            </a:r>
            <a:endParaRPr lang="en-US" sz="1600" b="0" u="none" strike="noStrike">
              <a:solidFill>
                <a:srgbClr val="000000"/>
              </a:solidFill>
              <a:effectLst/>
              <a:uFillTx/>
              <a:latin typeface="Arial"/>
            </a:endParaRPr>
          </a:p>
        </p:txBody>
      </p:sp>
      <p:sp>
        <p:nvSpPr>
          <p:cNvPr id="492" name="Text 14"/>
          <p:cNvSpPr/>
          <p:nvPr/>
        </p:nvSpPr>
        <p:spPr>
          <a:xfrm>
            <a:off x="978480" y="3867840"/>
            <a:ext cx="288864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Run repeated percept → action → update cycles.</a:t>
            </a:r>
            <a:endParaRPr lang="en-US" sz="1270" b="0" u="none" strike="noStrike">
              <a:solidFill>
                <a:srgbClr val="000000"/>
              </a:solidFill>
              <a:effectLst/>
              <a:uFillTx/>
              <a:latin typeface="Arial"/>
            </a:endParaRPr>
          </a:p>
        </p:txBody>
      </p:sp>
      <p:sp>
        <p:nvSpPr>
          <p:cNvPr id="493" name="Shape 15"/>
          <p:cNvSpPr/>
          <p:nvPr/>
        </p:nvSpPr>
        <p:spPr>
          <a:xfrm>
            <a:off x="4434840" y="3337560"/>
            <a:ext cx="3291120" cy="1325160"/>
          </a:xfrm>
          <a:prstGeom prst="roundRect">
            <a:avLst>
              <a:gd name="adj" fmla="val 8276"/>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4" name="Text 16"/>
          <p:cNvSpPr/>
          <p:nvPr/>
        </p:nvSpPr>
        <p:spPr>
          <a:xfrm>
            <a:off x="4617720" y="3493080"/>
            <a:ext cx="29253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Randomness</a:t>
            </a:r>
            <a:endParaRPr lang="en-US" sz="1600" b="0" u="none" strike="noStrike">
              <a:solidFill>
                <a:srgbClr val="000000"/>
              </a:solidFill>
              <a:effectLst/>
              <a:uFillTx/>
              <a:latin typeface="Arial"/>
            </a:endParaRPr>
          </a:p>
        </p:txBody>
      </p:sp>
      <p:sp>
        <p:nvSpPr>
          <p:cNvPr id="495" name="Text 17"/>
          <p:cNvSpPr/>
          <p:nvPr/>
        </p:nvSpPr>
        <p:spPr>
          <a:xfrm>
            <a:off x="4636080" y="3867840"/>
            <a:ext cx="288864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Test stochastic environments or randomized policies.</a:t>
            </a:r>
            <a:endParaRPr lang="en-US" sz="1270" b="0" u="none" strike="noStrike">
              <a:solidFill>
                <a:srgbClr val="000000"/>
              </a:solidFill>
              <a:effectLst/>
              <a:uFillTx/>
              <a:latin typeface="Arial"/>
            </a:endParaRPr>
          </a:p>
        </p:txBody>
      </p:sp>
      <p:sp>
        <p:nvSpPr>
          <p:cNvPr id="496" name="Shape 18"/>
          <p:cNvSpPr/>
          <p:nvPr/>
        </p:nvSpPr>
        <p:spPr>
          <a:xfrm>
            <a:off x="8092440" y="3337560"/>
            <a:ext cx="3291120" cy="1325160"/>
          </a:xfrm>
          <a:prstGeom prst="roundRect">
            <a:avLst>
              <a:gd name="adj" fmla="val 8276"/>
            </a:avLst>
          </a:prstGeom>
          <a:solidFill>
            <a:srgbClr val="FFF3E8"/>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7" name="Text 19"/>
          <p:cNvSpPr/>
          <p:nvPr/>
        </p:nvSpPr>
        <p:spPr>
          <a:xfrm>
            <a:off x="8275320" y="3493080"/>
            <a:ext cx="29253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Trace output</a:t>
            </a:r>
            <a:endParaRPr lang="en-US" sz="1600" b="0" u="none" strike="noStrike">
              <a:solidFill>
                <a:srgbClr val="000000"/>
              </a:solidFill>
              <a:effectLst/>
              <a:uFillTx/>
              <a:latin typeface="Arial"/>
            </a:endParaRPr>
          </a:p>
        </p:txBody>
      </p:sp>
      <p:sp>
        <p:nvSpPr>
          <p:cNvPr id="498" name="Text 20"/>
          <p:cNvSpPr/>
          <p:nvPr/>
        </p:nvSpPr>
        <p:spPr>
          <a:xfrm>
            <a:off x="8293680" y="3867840"/>
            <a:ext cx="288864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Print or log states before making plots.</a:t>
            </a:r>
            <a:endParaRPr lang="en-US" sz="1270" b="0" u="none" strike="noStrike">
              <a:solidFill>
                <a:srgbClr val="000000"/>
              </a:solidFill>
              <a:effectLst/>
              <a:uFillTx/>
              <a:latin typeface="Arial"/>
            </a:endParaRPr>
          </a:p>
        </p:txBody>
      </p:sp>
      <p:sp>
        <p:nvSpPr>
          <p:cNvPr id="499" name="Text 21"/>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500" name="Text 22"/>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27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Notebook skeleton: the simulation loop</a:t>
            </a:r>
            <a:endParaRPr lang="en-US" sz="3000" b="0" u="none" strike="noStrike">
              <a:solidFill>
                <a:srgbClr val="000000"/>
              </a:solidFill>
              <a:effectLst/>
              <a:uFillTx/>
              <a:latin typeface="Arial"/>
            </a:endParaRPr>
          </a:p>
        </p:txBody>
      </p:sp>
      <p:sp>
        <p:nvSpPr>
          <p:cNvPr id="502"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03"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Keep the first implementation small and inspectable.</a:t>
            </a:r>
            <a:endParaRPr lang="en-US" sz="1150" b="0" u="none" strike="noStrike">
              <a:solidFill>
                <a:srgbClr val="000000"/>
              </a:solidFill>
              <a:effectLst/>
              <a:uFillTx/>
              <a:latin typeface="Arial"/>
            </a:endParaRPr>
          </a:p>
        </p:txBody>
      </p:sp>
      <p:sp>
        <p:nvSpPr>
          <p:cNvPr id="504" name="Shape 3"/>
          <p:cNvSpPr/>
          <p:nvPr/>
        </p:nvSpPr>
        <p:spPr>
          <a:xfrm>
            <a:off x="731520" y="1143000"/>
            <a:ext cx="5760000" cy="4982760"/>
          </a:xfrm>
          <a:prstGeom prst="roundRect">
            <a:avLst>
              <a:gd name="adj" fmla="val 2202"/>
            </a:avLst>
          </a:prstGeom>
          <a:solidFill>
            <a:srgbClr val="111827"/>
          </a:solidFill>
          <a:ln w="12700">
            <a:solidFill>
              <a:srgbClr val="11182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05" name="Text 4"/>
          <p:cNvSpPr/>
          <p:nvPr/>
        </p:nvSpPr>
        <p:spPr>
          <a:xfrm>
            <a:off x="1005840" y="1463040"/>
            <a:ext cx="5211360" cy="4159800"/>
          </a:xfrm>
          <a:prstGeom prst="rect">
            <a:avLst/>
          </a:prstGeom>
          <a:noFill/>
          <a:ln w="0">
            <a:noFill/>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550" b="0" u="none" strike="noStrike">
                <a:solidFill>
                  <a:srgbClr val="F8FAFC"/>
                </a:solidFill>
                <a:effectLst/>
                <a:uFillTx/>
                <a:latin typeface="Courier New"/>
                <a:ea typeface="Courier New"/>
              </a:rPr>
              <a:t>state = env.reset()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F8FAFC"/>
                </a:solidFill>
                <a:effectLst/>
                <a:uFillTx/>
                <a:latin typeface="Courier New"/>
                <a:ea typeface="Courier New"/>
              </a:rPr>
              <a:t>score = 0</a:t>
            </a:r>
            <a:endParaRPr lang="en-US" sz="1550" b="0" u="none" strike="noStrike">
              <a:solidFill>
                <a:srgbClr val="000000"/>
              </a:solidFill>
              <a:effectLst/>
              <a:uFillTx/>
              <a:latin typeface="Arial"/>
            </a:endParaRPr>
          </a:p>
          <a:p>
            <a:pPr defTabSz="914400">
              <a:lnSpc>
                <a:spcPct val="100000"/>
              </a:lnSpc>
              <a:tabLst>
                <a:tab pos="0" algn="l"/>
              </a:tabLst>
            </a:pP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F8FAFC"/>
                </a:solidFill>
                <a:effectLst/>
                <a:uFillTx/>
                <a:latin typeface="Courier New"/>
                <a:ea typeface="Courier New"/>
              </a:rPr>
              <a:t>for t in range(20):</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F8FAFC"/>
                </a:solidFill>
                <a:effectLst/>
                <a:uFillTx/>
                <a:latin typeface="Courier New"/>
                <a:ea typeface="Courier New"/>
              </a:rPr>
              <a:t>    percept = env.perceive(state)</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F8FAFC"/>
                </a:solidFill>
                <a:effectLst/>
                <a:uFillTx/>
                <a:latin typeface="Courier New"/>
                <a:ea typeface="Courier New"/>
              </a:rPr>
              <a:t>    action = agent.act(percept)</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F8FAFC"/>
                </a:solidFill>
                <a:effectLst/>
                <a:uFillTx/>
                <a:latin typeface="Courier New"/>
                <a:ea typeface="Courier New"/>
              </a:rPr>
              <a:t>    state, reward = env.step(action)</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F8FAFC"/>
                </a:solidFill>
                <a:effectLst/>
                <a:uFillTx/>
                <a:latin typeface="Courier New"/>
                <a:ea typeface="Courier New"/>
              </a:rPr>
              <a:t>    score += reward</a:t>
            </a:r>
            <a:endParaRPr lang="en-US" sz="1550" b="0" u="none" strike="noStrike">
              <a:solidFill>
                <a:srgbClr val="000000"/>
              </a:solidFill>
              <a:effectLst/>
              <a:uFillTx/>
              <a:latin typeface="Arial"/>
            </a:endParaRPr>
          </a:p>
          <a:p>
            <a:pPr defTabSz="914400">
              <a:lnSpc>
                <a:spcPct val="100000"/>
              </a:lnSpc>
              <a:tabLst>
                <a:tab pos="0" algn="l"/>
              </a:tabLst>
            </a:pPr>
            <a:r>
              <a:rPr lang="en-US" sz="1550" b="0" u="none" strike="noStrike">
                <a:solidFill>
                  <a:srgbClr val="F8FAFC"/>
                </a:solidFill>
                <a:effectLst/>
                <a:uFillTx/>
                <a:latin typeface="Courier New"/>
                <a:ea typeface="Courier New"/>
              </a:rPr>
              <a:t>    print(t, percept, action, score)</a:t>
            </a:r>
            <a:endParaRPr lang="en-US" sz="1550" b="0" u="none" strike="noStrike">
              <a:solidFill>
                <a:srgbClr val="000000"/>
              </a:solidFill>
              <a:effectLst/>
              <a:uFillTx/>
              <a:latin typeface="Arial"/>
            </a:endParaRPr>
          </a:p>
        </p:txBody>
      </p:sp>
      <p:sp>
        <p:nvSpPr>
          <p:cNvPr id="506" name="Text 5"/>
          <p:cNvSpPr/>
          <p:nvPr/>
        </p:nvSpPr>
        <p:spPr>
          <a:xfrm>
            <a:off x="6995160" y="1417320"/>
            <a:ext cx="3016800" cy="25524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2100" b="1" u="none" strike="noStrike">
                <a:solidFill>
                  <a:srgbClr val="002B49"/>
                </a:solidFill>
                <a:effectLst/>
                <a:uFillTx/>
                <a:latin typeface="Aptos"/>
              </a:rPr>
              <a:t>Trace each step</a:t>
            </a:r>
            <a:endParaRPr lang="en-US" sz="2100" b="0" u="none" strike="noStrike">
              <a:solidFill>
                <a:srgbClr val="000000"/>
              </a:solidFill>
              <a:effectLst/>
              <a:uFillTx/>
              <a:latin typeface="Arial"/>
            </a:endParaRPr>
          </a:p>
        </p:txBody>
      </p:sp>
      <p:sp>
        <p:nvSpPr>
          <p:cNvPr id="507" name="Text 6"/>
          <p:cNvSpPr/>
          <p:nvPr/>
        </p:nvSpPr>
        <p:spPr>
          <a:xfrm>
            <a:off x="7132320" y="1920240"/>
            <a:ext cx="4205520" cy="1782360"/>
          </a:xfrm>
          <a:prstGeom prst="rect">
            <a:avLst/>
          </a:prstGeom>
          <a:noFill/>
          <a:ln w="0">
            <a:noFill/>
          </a:ln>
        </p:spPr>
        <p:style>
          <a:lnRef idx="0"/>
          <a:fillRef idx="0"/>
          <a:effectRef idx="0"/>
          <a:fontRef idx="minor"/>
        </p:style>
        <p:txBody>
          <a:bodyPr lIns="360" tIns="360" rIns="360" bIns="360" anchor="ctr">
            <a:normAutofit/>
          </a:bodyPr>
          <a:p>
            <a:pPr>
              <a:lnSpc>
                <a:spcPct val="100000"/>
              </a:lnSpc>
            </a:pPr>
            <a:r>
              <a:rPr lang="en-US" sz="1600" b="0" u="none" strike="noStrike">
                <a:solidFill>
                  <a:srgbClr val="111827"/>
                </a:solidFill>
                <a:effectLst/>
                <a:uFillTx/>
                <a:latin typeface="Aptos"/>
              </a:rPr>
              <a:t>What did the agent perceive?</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 </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Which action did it choose?</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 </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How did the environment change?</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 </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How did the score change?</a:t>
            </a:r>
            <a:endParaRPr lang="en-US" sz="1600" b="0" u="none" strike="noStrike">
              <a:solidFill>
                <a:srgbClr val="000000"/>
              </a:solidFill>
              <a:effectLst/>
              <a:uFillTx/>
              <a:latin typeface="Arial"/>
            </a:endParaRPr>
          </a:p>
        </p:txBody>
      </p:sp>
      <p:sp>
        <p:nvSpPr>
          <p:cNvPr id="508" name="Shape 7"/>
          <p:cNvSpPr/>
          <p:nvPr/>
        </p:nvSpPr>
        <p:spPr>
          <a:xfrm>
            <a:off x="7178040" y="4800600"/>
            <a:ext cx="3839760" cy="685080"/>
          </a:xfrm>
          <a:prstGeom prst="roundRect">
            <a:avLst>
              <a:gd name="adj" fmla="val 16000"/>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9" name="Text 8"/>
          <p:cNvSpPr/>
          <p:nvPr/>
        </p:nvSpPr>
        <p:spPr>
          <a:xfrm>
            <a:off x="7379280" y="4983480"/>
            <a:ext cx="3437280" cy="3650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002B49"/>
                </a:solidFill>
                <a:effectLst/>
                <a:uFillTx/>
                <a:latin typeface="Aptos"/>
              </a:rPr>
              <a:t>Debug first. Optimize later.</a:t>
            </a:r>
            <a:endParaRPr lang="en-US" sz="1600" b="0" u="none" strike="noStrike">
              <a:solidFill>
                <a:srgbClr val="000000"/>
              </a:solidFill>
              <a:effectLst/>
              <a:uFillTx/>
              <a:latin typeface="Arial"/>
            </a:endParaRPr>
          </a:p>
        </p:txBody>
      </p:sp>
      <p:sp>
        <p:nvSpPr>
          <p:cNvPr id="510" name="Text 9"/>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511" name="Text 10"/>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28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Grid-world lab: minimum viable environment</a:t>
            </a:r>
            <a:endParaRPr lang="en-US" sz="3000" b="0" u="none" strike="noStrike">
              <a:solidFill>
                <a:srgbClr val="000000"/>
              </a:solidFill>
              <a:effectLst/>
              <a:uFillTx/>
              <a:latin typeface="Arial"/>
            </a:endParaRPr>
          </a:p>
        </p:txBody>
      </p:sp>
      <p:sp>
        <p:nvSpPr>
          <p:cNvPr id="513"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14"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Define a world that is small enough to inspect by hand.</a:t>
            </a:r>
            <a:endParaRPr lang="en-US" sz="1150" b="0" u="none" strike="noStrike">
              <a:solidFill>
                <a:srgbClr val="000000"/>
              </a:solidFill>
              <a:effectLst/>
              <a:uFillTx/>
              <a:latin typeface="Arial"/>
            </a:endParaRPr>
          </a:p>
        </p:txBody>
      </p:sp>
      <p:sp>
        <p:nvSpPr>
          <p:cNvPr id="515" name="Shape 3"/>
          <p:cNvSpPr/>
          <p:nvPr/>
        </p:nvSpPr>
        <p:spPr>
          <a:xfrm>
            <a:off x="914400" y="132588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6" name="Shape 4"/>
          <p:cNvSpPr/>
          <p:nvPr/>
        </p:nvSpPr>
        <p:spPr>
          <a:xfrm>
            <a:off x="1417320" y="132588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7" name="Shape 5"/>
          <p:cNvSpPr/>
          <p:nvPr/>
        </p:nvSpPr>
        <p:spPr>
          <a:xfrm>
            <a:off x="1920240" y="132588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8" name="Shape 6"/>
          <p:cNvSpPr/>
          <p:nvPr/>
        </p:nvSpPr>
        <p:spPr>
          <a:xfrm>
            <a:off x="2423160" y="132588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9" name="Shape 7"/>
          <p:cNvSpPr/>
          <p:nvPr/>
        </p:nvSpPr>
        <p:spPr>
          <a:xfrm>
            <a:off x="2926080" y="1325880"/>
            <a:ext cx="502200" cy="502200"/>
          </a:xfrm>
          <a:prstGeom prst="rect">
            <a:avLst/>
          </a:prstGeom>
          <a:solidFill>
            <a:srgbClr val="D1FAD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0" name="Shape 8"/>
          <p:cNvSpPr/>
          <p:nvPr/>
        </p:nvSpPr>
        <p:spPr>
          <a:xfrm>
            <a:off x="914400" y="182880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1" name="Shape 9"/>
          <p:cNvSpPr/>
          <p:nvPr/>
        </p:nvSpPr>
        <p:spPr>
          <a:xfrm>
            <a:off x="1417320" y="182880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2" name="Shape 10"/>
          <p:cNvSpPr/>
          <p:nvPr/>
        </p:nvSpPr>
        <p:spPr>
          <a:xfrm>
            <a:off x="1920240" y="1828800"/>
            <a:ext cx="502200" cy="502200"/>
          </a:xfrm>
          <a:prstGeom prst="rect">
            <a:avLst/>
          </a:prstGeom>
          <a:solidFill>
            <a:srgbClr val="344054"/>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23" name="Shape 11"/>
          <p:cNvSpPr/>
          <p:nvPr/>
        </p:nvSpPr>
        <p:spPr>
          <a:xfrm>
            <a:off x="2423160" y="182880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4" name="Shape 12"/>
          <p:cNvSpPr/>
          <p:nvPr/>
        </p:nvSpPr>
        <p:spPr>
          <a:xfrm>
            <a:off x="2926080" y="182880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5" name="Shape 13"/>
          <p:cNvSpPr/>
          <p:nvPr/>
        </p:nvSpPr>
        <p:spPr>
          <a:xfrm>
            <a:off x="914400" y="233172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6" name="Shape 14"/>
          <p:cNvSpPr/>
          <p:nvPr/>
        </p:nvSpPr>
        <p:spPr>
          <a:xfrm>
            <a:off x="1417320" y="233172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7" name="Shape 15"/>
          <p:cNvSpPr/>
          <p:nvPr/>
        </p:nvSpPr>
        <p:spPr>
          <a:xfrm>
            <a:off x="1920240" y="233172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8" name="Shape 16"/>
          <p:cNvSpPr/>
          <p:nvPr/>
        </p:nvSpPr>
        <p:spPr>
          <a:xfrm>
            <a:off x="2423160" y="233172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9" name="Shape 17"/>
          <p:cNvSpPr/>
          <p:nvPr/>
        </p:nvSpPr>
        <p:spPr>
          <a:xfrm>
            <a:off x="2926080" y="233172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0" name="Shape 18"/>
          <p:cNvSpPr/>
          <p:nvPr/>
        </p:nvSpPr>
        <p:spPr>
          <a:xfrm>
            <a:off x="914400" y="283464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1" name="Shape 19"/>
          <p:cNvSpPr/>
          <p:nvPr/>
        </p:nvSpPr>
        <p:spPr>
          <a:xfrm>
            <a:off x="1417320" y="2834640"/>
            <a:ext cx="502200" cy="502200"/>
          </a:xfrm>
          <a:prstGeom prst="rect">
            <a:avLst/>
          </a:prstGeom>
          <a:solidFill>
            <a:srgbClr val="344054"/>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2" name="Shape 20"/>
          <p:cNvSpPr/>
          <p:nvPr/>
        </p:nvSpPr>
        <p:spPr>
          <a:xfrm>
            <a:off x="1920240" y="283464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3" name="Shape 21"/>
          <p:cNvSpPr/>
          <p:nvPr/>
        </p:nvSpPr>
        <p:spPr>
          <a:xfrm>
            <a:off x="2423160" y="283464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4" name="Shape 22"/>
          <p:cNvSpPr/>
          <p:nvPr/>
        </p:nvSpPr>
        <p:spPr>
          <a:xfrm>
            <a:off x="2926080" y="2834640"/>
            <a:ext cx="502200" cy="502200"/>
          </a:xfrm>
          <a:prstGeom prst="rect">
            <a:avLst/>
          </a:prstGeom>
          <a:solidFill>
            <a:srgbClr val="FFFFFF"/>
          </a:solidFill>
          <a:ln w="12700">
            <a:solidFill>
              <a:srgbClr val="98A2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5" name="Shape 23"/>
          <p:cNvSpPr/>
          <p:nvPr/>
        </p:nvSpPr>
        <p:spPr>
          <a:xfrm>
            <a:off x="987480" y="1398960"/>
            <a:ext cx="346680" cy="346680"/>
          </a:xfrm>
          <a:prstGeom prst="ellipse">
            <a:avLst/>
          </a:prstGeom>
          <a:solidFill>
            <a:srgbClr val="3273DC"/>
          </a:solidFill>
          <a:ln w="1270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6" name="Text 24"/>
          <p:cNvSpPr/>
          <p:nvPr/>
        </p:nvSpPr>
        <p:spPr>
          <a:xfrm>
            <a:off x="2926080" y="1444680"/>
            <a:ext cx="502200" cy="182160"/>
          </a:xfrm>
          <a:prstGeom prst="rect">
            <a:avLst/>
          </a:prstGeom>
          <a:noFill/>
          <a:ln w="0">
            <a:noFill/>
          </a:ln>
        </p:spPr>
        <p:style>
          <a:lnRef idx="0"/>
          <a:fillRef idx="0"/>
          <a:effectRef idx="0"/>
          <a:fontRef idx="minor"/>
        </p:style>
        <p:txBody>
          <a:bodyPr lIns="360" tIns="360" rIns="360" bIns="360" anchor="t">
            <a:normAutofit lnSpcReduction="9999"/>
          </a:bodyPr>
          <a:p>
            <a:pPr algn="ctr" defTabSz="914400">
              <a:lnSpc>
                <a:spcPct val="100000"/>
              </a:lnSpc>
              <a:tabLst>
                <a:tab pos="0" algn="l"/>
              </a:tabLst>
            </a:pPr>
            <a:r>
              <a:rPr lang="en-US" sz="1300" b="1" u="none" strike="noStrike">
                <a:solidFill>
                  <a:srgbClr val="2F855A"/>
                </a:solidFill>
                <a:effectLst/>
                <a:uFillTx/>
                <a:latin typeface="Aptos"/>
              </a:rPr>
              <a:t>G</a:t>
            </a:r>
            <a:endParaRPr lang="en-US" sz="1300" b="0" u="none" strike="noStrike">
              <a:solidFill>
                <a:srgbClr val="000000"/>
              </a:solidFill>
              <a:effectLst/>
              <a:uFillTx/>
              <a:latin typeface="Arial"/>
            </a:endParaRPr>
          </a:p>
        </p:txBody>
      </p:sp>
      <p:sp>
        <p:nvSpPr>
          <p:cNvPr id="537" name="Shape 25"/>
          <p:cNvSpPr/>
          <p:nvPr/>
        </p:nvSpPr>
        <p:spPr>
          <a:xfrm>
            <a:off x="4206240" y="1234440"/>
            <a:ext cx="3016800" cy="1050840"/>
          </a:xfrm>
          <a:prstGeom prst="roundRect">
            <a:avLst>
              <a:gd name="adj" fmla="val 10435"/>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8" name="Text 26"/>
          <p:cNvSpPr/>
          <p:nvPr/>
        </p:nvSpPr>
        <p:spPr>
          <a:xfrm>
            <a:off x="4389120" y="1389960"/>
            <a:ext cx="26510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State</a:t>
            </a:r>
            <a:endParaRPr lang="en-US" sz="1600" b="0" u="none" strike="noStrike">
              <a:solidFill>
                <a:srgbClr val="000000"/>
              </a:solidFill>
              <a:effectLst/>
              <a:uFillTx/>
              <a:latin typeface="Arial"/>
            </a:endParaRPr>
          </a:p>
        </p:txBody>
      </p:sp>
      <p:sp>
        <p:nvSpPr>
          <p:cNvPr id="539" name="Text 27"/>
          <p:cNvSpPr/>
          <p:nvPr/>
        </p:nvSpPr>
        <p:spPr>
          <a:xfrm>
            <a:off x="4407480" y="1764720"/>
            <a:ext cx="2614320" cy="4107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agent position, dirt locations, walls, time step</a:t>
            </a:r>
            <a:endParaRPr lang="en-US" sz="1270" b="0" u="none" strike="noStrike">
              <a:solidFill>
                <a:srgbClr val="000000"/>
              </a:solidFill>
              <a:effectLst/>
              <a:uFillTx/>
              <a:latin typeface="Arial"/>
            </a:endParaRPr>
          </a:p>
        </p:txBody>
      </p:sp>
      <p:sp>
        <p:nvSpPr>
          <p:cNvPr id="540" name="Shape 28"/>
          <p:cNvSpPr/>
          <p:nvPr/>
        </p:nvSpPr>
        <p:spPr>
          <a:xfrm>
            <a:off x="7863840" y="1234440"/>
            <a:ext cx="3016800" cy="1050840"/>
          </a:xfrm>
          <a:prstGeom prst="roundRect">
            <a:avLst>
              <a:gd name="adj" fmla="val 10435"/>
            </a:avLst>
          </a:prstGeom>
          <a:solidFill>
            <a:srgbClr val="FFF3E8"/>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1" name="Text 29"/>
          <p:cNvSpPr/>
          <p:nvPr/>
        </p:nvSpPr>
        <p:spPr>
          <a:xfrm>
            <a:off x="8046720" y="1389960"/>
            <a:ext cx="26510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Actions</a:t>
            </a:r>
            <a:endParaRPr lang="en-US" sz="1600" b="0" u="none" strike="noStrike">
              <a:solidFill>
                <a:srgbClr val="000000"/>
              </a:solidFill>
              <a:effectLst/>
              <a:uFillTx/>
              <a:latin typeface="Arial"/>
            </a:endParaRPr>
          </a:p>
        </p:txBody>
      </p:sp>
      <p:sp>
        <p:nvSpPr>
          <p:cNvPr id="542" name="Text 30"/>
          <p:cNvSpPr/>
          <p:nvPr/>
        </p:nvSpPr>
        <p:spPr>
          <a:xfrm>
            <a:off x="8065080" y="1764720"/>
            <a:ext cx="2614320" cy="4107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N, S, E, W, Clean, Stop</a:t>
            </a:r>
            <a:endParaRPr lang="en-US" sz="1270" b="0" u="none" strike="noStrike">
              <a:solidFill>
                <a:srgbClr val="000000"/>
              </a:solidFill>
              <a:effectLst/>
              <a:uFillTx/>
              <a:latin typeface="Arial"/>
            </a:endParaRPr>
          </a:p>
        </p:txBody>
      </p:sp>
      <p:sp>
        <p:nvSpPr>
          <p:cNvPr id="543" name="Shape 31"/>
          <p:cNvSpPr/>
          <p:nvPr/>
        </p:nvSpPr>
        <p:spPr>
          <a:xfrm>
            <a:off x="4206240" y="3063240"/>
            <a:ext cx="3016800" cy="1050840"/>
          </a:xfrm>
          <a:prstGeom prst="roundRect">
            <a:avLst>
              <a:gd name="adj" fmla="val 10435"/>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4" name="Text 32"/>
          <p:cNvSpPr/>
          <p:nvPr/>
        </p:nvSpPr>
        <p:spPr>
          <a:xfrm>
            <a:off x="4389120" y="3218760"/>
            <a:ext cx="26510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Reward</a:t>
            </a:r>
            <a:endParaRPr lang="en-US" sz="1600" b="0" u="none" strike="noStrike">
              <a:solidFill>
                <a:srgbClr val="000000"/>
              </a:solidFill>
              <a:effectLst/>
              <a:uFillTx/>
              <a:latin typeface="Arial"/>
            </a:endParaRPr>
          </a:p>
        </p:txBody>
      </p:sp>
      <p:sp>
        <p:nvSpPr>
          <p:cNvPr id="545" name="Text 33"/>
          <p:cNvSpPr/>
          <p:nvPr/>
        </p:nvSpPr>
        <p:spPr>
          <a:xfrm>
            <a:off x="4407480" y="3593520"/>
            <a:ext cx="2614320" cy="4107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 clean cell, - movement, - invalid move, + goal</a:t>
            </a:r>
            <a:endParaRPr lang="en-US" sz="1270" b="0" u="none" strike="noStrike">
              <a:solidFill>
                <a:srgbClr val="000000"/>
              </a:solidFill>
              <a:effectLst/>
              <a:uFillTx/>
              <a:latin typeface="Arial"/>
            </a:endParaRPr>
          </a:p>
        </p:txBody>
      </p:sp>
      <p:sp>
        <p:nvSpPr>
          <p:cNvPr id="546" name="Shape 34"/>
          <p:cNvSpPr/>
          <p:nvPr/>
        </p:nvSpPr>
        <p:spPr>
          <a:xfrm>
            <a:off x="7863840" y="3063240"/>
            <a:ext cx="3016800" cy="1050840"/>
          </a:xfrm>
          <a:prstGeom prst="roundRect">
            <a:avLst>
              <a:gd name="adj" fmla="val 10435"/>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7" name="Text 35"/>
          <p:cNvSpPr/>
          <p:nvPr/>
        </p:nvSpPr>
        <p:spPr>
          <a:xfrm>
            <a:off x="8046720" y="3218760"/>
            <a:ext cx="26510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Terminal condition</a:t>
            </a:r>
            <a:endParaRPr lang="en-US" sz="1600" b="0" u="none" strike="noStrike">
              <a:solidFill>
                <a:srgbClr val="000000"/>
              </a:solidFill>
              <a:effectLst/>
              <a:uFillTx/>
              <a:latin typeface="Arial"/>
            </a:endParaRPr>
          </a:p>
        </p:txBody>
      </p:sp>
      <p:sp>
        <p:nvSpPr>
          <p:cNvPr id="548" name="Text 36"/>
          <p:cNvSpPr/>
          <p:nvPr/>
        </p:nvSpPr>
        <p:spPr>
          <a:xfrm>
            <a:off x="8065080" y="3593520"/>
            <a:ext cx="2614320" cy="41076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all dirt cleaned, goal reached, or max steps exceeded</a:t>
            </a:r>
            <a:endParaRPr lang="en-US" sz="1270" b="0" u="none" strike="noStrike">
              <a:solidFill>
                <a:srgbClr val="000000"/>
              </a:solidFill>
              <a:effectLst/>
              <a:uFillTx/>
              <a:latin typeface="Arial"/>
            </a:endParaRPr>
          </a:p>
        </p:txBody>
      </p:sp>
      <p:sp>
        <p:nvSpPr>
          <p:cNvPr id="549" name="Shape 37"/>
          <p:cNvSpPr/>
          <p:nvPr/>
        </p:nvSpPr>
        <p:spPr>
          <a:xfrm>
            <a:off x="1097280" y="5120640"/>
            <a:ext cx="9966240" cy="639360"/>
          </a:xfrm>
          <a:prstGeom prst="roundRect">
            <a:avLst>
              <a:gd name="adj" fmla="val 17143"/>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0" name="Text 38"/>
          <p:cNvSpPr/>
          <p:nvPr/>
        </p:nvSpPr>
        <p:spPr>
          <a:xfrm>
            <a:off x="1298520" y="5303520"/>
            <a:ext cx="9563760" cy="3193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002B49"/>
                </a:solidFill>
                <a:effectLst/>
                <a:uFillTx/>
                <a:latin typeface="Aptos"/>
              </a:rPr>
              <a:t>Your first grid-world should be boring enough that bugs are obvious.</a:t>
            </a:r>
            <a:endParaRPr lang="en-US" sz="1600" b="0" u="none" strike="noStrike">
              <a:solidFill>
                <a:srgbClr val="000000"/>
              </a:solidFill>
              <a:effectLst/>
              <a:uFillTx/>
              <a:latin typeface="Arial"/>
            </a:endParaRPr>
          </a:p>
        </p:txBody>
      </p:sp>
      <p:sp>
        <p:nvSpPr>
          <p:cNvPr id="551" name="Text 39"/>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552" name="Text 40"/>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29</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Lab deliverable</a:t>
            </a:r>
            <a:endParaRPr lang="en-US" sz="3000" b="0" u="none" strike="noStrike">
              <a:solidFill>
                <a:srgbClr val="000000"/>
              </a:solidFill>
              <a:effectLst/>
              <a:uFillTx/>
              <a:latin typeface="Arial"/>
            </a:endParaRPr>
          </a:p>
        </p:txBody>
      </p:sp>
      <p:sp>
        <p:nvSpPr>
          <p:cNvPr id="554"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55"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What students should submit or demonstrate.</a:t>
            </a:r>
            <a:endParaRPr lang="en-US" sz="1150" b="0" u="none" strike="noStrike">
              <a:solidFill>
                <a:srgbClr val="000000"/>
              </a:solidFill>
              <a:effectLst/>
              <a:uFillTx/>
              <a:latin typeface="Arial"/>
            </a:endParaRPr>
          </a:p>
        </p:txBody>
      </p:sp>
      <p:sp>
        <p:nvSpPr>
          <p:cNvPr id="556" name="Shape 3"/>
          <p:cNvSpPr/>
          <p:nvPr/>
        </p:nvSpPr>
        <p:spPr>
          <a:xfrm>
            <a:off x="822960" y="1325880"/>
            <a:ext cx="3199680" cy="1325160"/>
          </a:xfrm>
          <a:prstGeom prst="roundRect">
            <a:avLst>
              <a:gd name="adj" fmla="val 8276"/>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7" name="Text 4"/>
          <p:cNvSpPr/>
          <p:nvPr/>
        </p:nvSpPr>
        <p:spPr>
          <a:xfrm>
            <a:off x="1005840" y="1481400"/>
            <a:ext cx="28339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1. PEAS table</a:t>
            </a:r>
            <a:endParaRPr lang="en-US" sz="1600" b="0" u="none" strike="noStrike">
              <a:solidFill>
                <a:srgbClr val="000000"/>
              </a:solidFill>
              <a:effectLst/>
              <a:uFillTx/>
              <a:latin typeface="Arial"/>
            </a:endParaRPr>
          </a:p>
        </p:txBody>
      </p:sp>
      <p:sp>
        <p:nvSpPr>
          <p:cNvPr id="558" name="Text 5"/>
          <p:cNvSpPr/>
          <p:nvPr/>
        </p:nvSpPr>
        <p:spPr>
          <a:xfrm>
            <a:off x="1024200" y="1856160"/>
            <a:ext cx="279720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Performance, Environment, Actuators, Sensors for your grid-world.</a:t>
            </a:r>
            <a:endParaRPr lang="en-US" sz="1270" b="0" u="none" strike="noStrike">
              <a:solidFill>
                <a:srgbClr val="000000"/>
              </a:solidFill>
              <a:effectLst/>
              <a:uFillTx/>
              <a:latin typeface="Arial"/>
            </a:endParaRPr>
          </a:p>
        </p:txBody>
      </p:sp>
      <p:sp>
        <p:nvSpPr>
          <p:cNvPr id="559" name="Shape 6"/>
          <p:cNvSpPr/>
          <p:nvPr/>
        </p:nvSpPr>
        <p:spPr>
          <a:xfrm>
            <a:off x="4480560" y="1325880"/>
            <a:ext cx="3199680" cy="1325160"/>
          </a:xfrm>
          <a:prstGeom prst="roundRect">
            <a:avLst>
              <a:gd name="adj" fmla="val 8276"/>
            </a:avLst>
          </a:prstGeom>
          <a:solidFill>
            <a:srgbClr val="E6F7F8"/>
          </a:solidFill>
          <a:ln w="1651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0" name="Text 7"/>
          <p:cNvSpPr/>
          <p:nvPr/>
        </p:nvSpPr>
        <p:spPr>
          <a:xfrm>
            <a:off x="4663440" y="1481400"/>
            <a:ext cx="28339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0E7C86"/>
                </a:solidFill>
                <a:effectLst/>
                <a:uFillTx/>
                <a:latin typeface="Aptos"/>
              </a:rPr>
              <a:t>2. Agent policy</a:t>
            </a:r>
            <a:endParaRPr lang="en-US" sz="1600" b="0" u="none" strike="noStrike">
              <a:solidFill>
                <a:srgbClr val="000000"/>
              </a:solidFill>
              <a:effectLst/>
              <a:uFillTx/>
              <a:latin typeface="Arial"/>
            </a:endParaRPr>
          </a:p>
        </p:txBody>
      </p:sp>
      <p:sp>
        <p:nvSpPr>
          <p:cNvPr id="561" name="Text 8"/>
          <p:cNvSpPr/>
          <p:nvPr/>
        </p:nvSpPr>
        <p:spPr>
          <a:xfrm>
            <a:off x="4681800" y="1856160"/>
            <a:ext cx="279720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At least one simple reflex policy implemented in code.</a:t>
            </a:r>
            <a:endParaRPr lang="en-US" sz="1270" b="0" u="none" strike="noStrike">
              <a:solidFill>
                <a:srgbClr val="000000"/>
              </a:solidFill>
              <a:effectLst/>
              <a:uFillTx/>
              <a:latin typeface="Arial"/>
            </a:endParaRPr>
          </a:p>
        </p:txBody>
      </p:sp>
      <p:sp>
        <p:nvSpPr>
          <p:cNvPr id="562" name="Shape 9"/>
          <p:cNvSpPr/>
          <p:nvPr/>
        </p:nvSpPr>
        <p:spPr>
          <a:xfrm>
            <a:off x="8138160" y="1325880"/>
            <a:ext cx="3199680" cy="1325160"/>
          </a:xfrm>
          <a:prstGeom prst="roundRect">
            <a:avLst>
              <a:gd name="adj" fmla="val 8276"/>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3" name="Text 10"/>
          <p:cNvSpPr/>
          <p:nvPr/>
        </p:nvSpPr>
        <p:spPr>
          <a:xfrm>
            <a:off x="8321040" y="1481400"/>
            <a:ext cx="28339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3. Simulation trace</a:t>
            </a:r>
            <a:endParaRPr lang="en-US" sz="1600" b="0" u="none" strike="noStrike">
              <a:solidFill>
                <a:srgbClr val="000000"/>
              </a:solidFill>
              <a:effectLst/>
              <a:uFillTx/>
              <a:latin typeface="Arial"/>
            </a:endParaRPr>
          </a:p>
        </p:txBody>
      </p:sp>
      <p:sp>
        <p:nvSpPr>
          <p:cNvPr id="564" name="Text 11"/>
          <p:cNvSpPr/>
          <p:nvPr/>
        </p:nvSpPr>
        <p:spPr>
          <a:xfrm>
            <a:off x="8339400" y="1856160"/>
            <a:ext cx="279720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A printed trace showing percept, action, new state, and score.</a:t>
            </a:r>
            <a:endParaRPr lang="en-US" sz="1270" b="0" u="none" strike="noStrike">
              <a:solidFill>
                <a:srgbClr val="000000"/>
              </a:solidFill>
              <a:effectLst/>
              <a:uFillTx/>
              <a:latin typeface="Arial"/>
            </a:endParaRPr>
          </a:p>
        </p:txBody>
      </p:sp>
      <p:sp>
        <p:nvSpPr>
          <p:cNvPr id="565" name="Shape 12"/>
          <p:cNvSpPr/>
          <p:nvPr/>
        </p:nvSpPr>
        <p:spPr>
          <a:xfrm>
            <a:off x="2651760" y="3520440"/>
            <a:ext cx="3199680" cy="1325160"/>
          </a:xfrm>
          <a:prstGeom prst="roundRect">
            <a:avLst>
              <a:gd name="adj" fmla="val 8276"/>
            </a:avLst>
          </a:prstGeom>
          <a:solidFill>
            <a:srgbClr val="F3EE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6" name="Text 13"/>
          <p:cNvSpPr/>
          <p:nvPr/>
        </p:nvSpPr>
        <p:spPr>
          <a:xfrm>
            <a:off x="2834640" y="3675960"/>
            <a:ext cx="28339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4. Reflection</a:t>
            </a:r>
            <a:endParaRPr lang="en-US" sz="1600" b="0" u="none" strike="noStrike">
              <a:solidFill>
                <a:srgbClr val="000000"/>
              </a:solidFill>
              <a:effectLst/>
              <a:uFillTx/>
              <a:latin typeface="Arial"/>
            </a:endParaRPr>
          </a:p>
        </p:txBody>
      </p:sp>
      <p:sp>
        <p:nvSpPr>
          <p:cNvPr id="567" name="Text 14"/>
          <p:cNvSpPr/>
          <p:nvPr/>
        </p:nvSpPr>
        <p:spPr>
          <a:xfrm>
            <a:off x="2853000" y="4050720"/>
            <a:ext cx="279720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Explain when your agent is rational and when it fails.</a:t>
            </a:r>
            <a:endParaRPr lang="en-US" sz="1270" b="0" u="none" strike="noStrike">
              <a:solidFill>
                <a:srgbClr val="000000"/>
              </a:solidFill>
              <a:effectLst/>
              <a:uFillTx/>
              <a:latin typeface="Arial"/>
            </a:endParaRPr>
          </a:p>
        </p:txBody>
      </p:sp>
      <p:sp>
        <p:nvSpPr>
          <p:cNvPr id="568" name="Shape 15"/>
          <p:cNvSpPr/>
          <p:nvPr/>
        </p:nvSpPr>
        <p:spPr>
          <a:xfrm>
            <a:off x="6309360" y="3520440"/>
            <a:ext cx="3199680" cy="1325160"/>
          </a:xfrm>
          <a:prstGeom prst="roundRect">
            <a:avLst>
              <a:gd name="adj" fmla="val 8276"/>
            </a:avLst>
          </a:prstGeom>
          <a:solidFill>
            <a:srgbClr val="E9F7E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9" name="Text 16"/>
          <p:cNvSpPr/>
          <p:nvPr/>
        </p:nvSpPr>
        <p:spPr>
          <a:xfrm>
            <a:off x="6492240" y="3675960"/>
            <a:ext cx="28339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5. Extension</a:t>
            </a:r>
            <a:endParaRPr lang="en-US" sz="1600" b="0" u="none" strike="noStrike">
              <a:solidFill>
                <a:srgbClr val="000000"/>
              </a:solidFill>
              <a:effectLst/>
              <a:uFillTx/>
              <a:latin typeface="Arial"/>
            </a:endParaRPr>
          </a:p>
        </p:txBody>
      </p:sp>
      <p:sp>
        <p:nvSpPr>
          <p:cNvPr id="570" name="Text 17"/>
          <p:cNvSpPr/>
          <p:nvPr/>
        </p:nvSpPr>
        <p:spPr>
          <a:xfrm>
            <a:off x="6510600" y="4050720"/>
            <a:ext cx="2797200" cy="68508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Optional: add walls, stochastic dirt, or partial observability.</a:t>
            </a:r>
            <a:endParaRPr lang="en-US" sz="1270" b="0" u="none" strike="noStrike">
              <a:solidFill>
                <a:srgbClr val="000000"/>
              </a:solidFill>
              <a:effectLst/>
              <a:uFillTx/>
              <a:latin typeface="Arial"/>
            </a:endParaRPr>
          </a:p>
        </p:txBody>
      </p:sp>
      <p:sp>
        <p:nvSpPr>
          <p:cNvPr id="571" name="Text 18"/>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572" name="Text 19"/>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30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Common bugs in first agent simulations</a:t>
            </a:r>
            <a:endParaRPr lang="en-US" sz="3000" b="0" u="none" strike="noStrike">
              <a:solidFill>
                <a:srgbClr val="000000"/>
              </a:solidFill>
              <a:effectLst/>
              <a:uFillTx/>
              <a:latin typeface="Arial"/>
            </a:endParaRPr>
          </a:p>
        </p:txBody>
      </p:sp>
      <p:sp>
        <p:nvSpPr>
          <p:cNvPr id="574"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75"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Most errors come from hidden assumptions.</a:t>
            </a:r>
            <a:endParaRPr lang="en-US" sz="1150" b="0" u="none" strike="noStrike">
              <a:solidFill>
                <a:srgbClr val="000000"/>
              </a:solidFill>
              <a:effectLst/>
              <a:uFillTx/>
              <a:latin typeface="Arial"/>
            </a:endParaRPr>
          </a:p>
        </p:txBody>
      </p:sp>
      <p:sp>
        <p:nvSpPr>
          <p:cNvPr id="576" name="Shape 3"/>
          <p:cNvSpPr/>
          <p:nvPr/>
        </p:nvSpPr>
        <p:spPr>
          <a:xfrm>
            <a:off x="777240" y="1325880"/>
            <a:ext cx="3245400" cy="1416600"/>
          </a:xfrm>
          <a:prstGeom prst="roundRect">
            <a:avLst>
              <a:gd name="adj" fmla="val 7742"/>
            </a:avLst>
          </a:prstGeom>
          <a:solidFill>
            <a:srgbClr val="FFF1F0"/>
          </a:solidFill>
          <a:ln w="16510">
            <a:solidFill>
              <a:srgbClr val="C5303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7" name="Text 4"/>
          <p:cNvSpPr/>
          <p:nvPr/>
        </p:nvSpPr>
        <p:spPr>
          <a:xfrm>
            <a:off x="960120" y="148140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53030"/>
                </a:solidFill>
                <a:effectLst/>
                <a:uFillTx/>
                <a:latin typeface="Aptos"/>
              </a:rPr>
              <a:t>State mutation</a:t>
            </a:r>
            <a:endParaRPr lang="en-US" sz="1600" b="0" u="none" strike="noStrike">
              <a:solidFill>
                <a:srgbClr val="000000"/>
              </a:solidFill>
              <a:effectLst/>
              <a:uFillTx/>
              <a:latin typeface="Arial"/>
            </a:endParaRPr>
          </a:p>
        </p:txBody>
      </p:sp>
      <p:sp>
        <p:nvSpPr>
          <p:cNvPr id="578" name="Text 5"/>
          <p:cNvSpPr/>
          <p:nvPr/>
        </p:nvSpPr>
        <p:spPr>
          <a:xfrm>
            <a:off x="978480" y="1856160"/>
            <a:ext cx="28429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The environment changes a dictionary or list unexpectedly across steps.</a:t>
            </a:r>
            <a:endParaRPr lang="en-US" sz="1270" b="0" u="none" strike="noStrike">
              <a:solidFill>
                <a:srgbClr val="000000"/>
              </a:solidFill>
              <a:effectLst/>
              <a:uFillTx/>
              <a:latin typeface="Arial"/>
            </a:endParaRPr>
          </a:p>
        </p:txBody>
      </p:sp>
      <p:sp>
        <p:nvSpPr>
          <p:cNvPr id="579" name="Shape 6"/>
          <p:cNvSpPr/>
          <p:nvPr/>
        </p:nvSpPr>
        <p:spPr>
          <a:xfrm>
            <a:off x="4480560" y="1325880"/>
            <a:ext cx="3245400" cy="1416600"/>
          </a:xfrm>
          <a:prstGeom prst="roundRect">
            <a:avLst>
              <a:gd name="adj" fmla="val 7742"/>
            </a:avLst>
          </a:prstGeom>
          <a:solidFill>
            <a:srgbClr val="FFF3E8"/>
          </a:solidFill>
          <a:ln w="16510">
            <a:solidFill>
              <a:srgbClr val="DD6B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0" name="Text 7"/>
          <p:cNvSpPr/>
          <p:nvPr/>
        </p:nvSpPr>
        <p:spPr>
          <a:xfrm>
            <a:off x="4663440" y="148140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DD6B20"/>
                </a:solidFill>
                <a:effectLst/>
                <a:uFillTx/>
                <a:latin typeface="Aptos"/>
              </a:rPr>
              <a:t>Coordinate confusion</a:t>
            </a:r>
            <a:endParaRPr lang="en-US" sz="1600" b="0" u="none" strike="noStrike">
              <a:solidFill>
                <a:srgbClr val="000000"/>
              </a:solidFill>
              <a:effectLst/>
              <a:uFillTx/>
              <a:latin typeface="Arial"/>
            </a:endParaRPr>
          </a:p>
        </p:txBody>
      </p:sp>
      <p:sp>
        <p:nvSpPr>
          <p:cNvPr id="581" name="Text 8"/>
          <p:cNvSpPr/>
          <p:nvPr/>
        </p:nvSpPr>
        <p:spPr>
          <a:xfrm>
            <a:off x="4681800" y="1856160"/>
            <a:ext cx="28429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Rows vs. columns or x vs. y are flipped.</a:t>
            </a:r>
            <a:endParaRPr lang="en-US" sz="1270" b="0" u="none" strike="noStrike">
              <a:solidFill>
                <a:srgbClr val="000000"/>
              </a:solidFill>
              <a:effectLst/>
              <a:uFillTx/>
              <a:latin typeface="Arial"/>
            </a:endParaRPr>
          </a:p>
        </p:txBody>
      </p:sp>
      <p:sp>
        <p:nvSpPr>
          <p:cNvPr id="582" name="Shape 9"/>
          <p:cNvSpPr/>
          <p:nvPr/>
        </p:nvSpPr>
        <p:spPr>
          <a:xfrm>
            <a:off x="8183880" y="1325880"/>
            <a:ext cx="3245400" cy="1416600"/>
          </a:xfrm>
          <a:prstGeom prst="roundRect">
            <a:avLst>
              <a:gd name="adj" fmla="val 7742"/>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3" name="Text 10"/>
          <p:cNvSpPr/>
          <p:nvPr/>
        </p:nvSpPr>
        <p:spPr>
          <a:xfrm>
            <a:off x="8366760" y="148140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Reward leakage</a:t>
            </a:r>
            <a:endParaRPr lang="en-US" sz="1600" b="0" u="none" strike="noStrike">
              <a:solidFill>
                <a:srgbClr val="000000"/>
              </a:solidFill>
              <a:effectLst/>
              <a:uFillTx/>
              <a:latin typeface="Arial"/>
            </a:endParaRPr>
          </a:p>
        </p:txBody>
      </p:sp>
      <p:sp>
        <p:nvSpPr>
          <p:cNvPr id="584" name="Text 11"/>
          <p:cNvSpPr/>
          <p:nvPr/>
        </p:nvSpPr>
        <p:spPr>
          <a:xfrm>
            <a:off x="8385120" y="1856160"/>
            <a:ext cx="28429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The agent gets credit twice or misses penalties.</a:t>
            </a:r>
            <a:endParaRPr lang="en-US" sz="1270" b="0" u="none" strike="noStrike">
              <a:solidFill>
                <a:srgbClr val="000000"/>
              </a:solidFill>
              <a:effectLst/>
              <a:uFillTx/>
              <a:latin typeface="Arial"/>
            </a:endParaRPr>
          </a:p>
        </p:txBody>
      </p:sp>
      <p:sp>
        <p:nvSpPr>
          <p:cNvPr id="585" name="Shape 12"/>
          <p:cNvSpPr/>
          <p:nvPr/>
        </p:nvSpPr>
        <p:spPr>
          <a:xfrm>
            <a:off x="2606040" y="3520440"/>
            <a:ext cx="3245400" cy="1416600"/>
          </a:xfrm>
          <a:prstGeom prst="roundRect">
            <a:avLst>
              <a:gd name="adj" fmla="val 7742"/>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6" name="Text 13"/>
          <p:cNvSpPr/>
          <p:nvPr/>
        </p:nvSpPr>
        <p:spPr>
          <a:xfrm>
            <a:off x="2788920" y="367596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Invalid moves</a:t>
            </a:r>
            <a:endParaRPr lang="en-US" sz="1600" b="0" u="none" strike="noStrike">
              <a:solidFill>
                <a:srgbClr val="000000"/>
              </a:solidFill>
              <a:effectLst/>
              <a:uFillTx/>
              <a:latin typeface="Arial"/>
            </a:endParaRPr>
          </a:p>
        </p:txBody>
      </p:sp>
      <p:sp>
        <p:nvSpPr>
          <p:cNvPr id="587" name="Text 14"/>
          <p:cNvSpPr/>
          <p:nvPr/>
        </p:nvSpPr>
        <p:spPr>
          <a:xfrm>
            <a:off x="2807280" y="4050720"/>
            <a:ext cx="28429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Walking through walls or outside the grid changes state incorrectly.</a:t>
            </a:r>
            <a:endParaRPr lang="en-US" sz="1270" b="0" u="none" strike="noStrike">
              <a:solidFill>
                <a:srgbClr val="000000"/>
              </a:solidFill>
              <a:effectLst/>
              <a:uFillTx/>
              <a:latin typeface="Arial"/>
            </a:endParaRPr>
          </a:p>
        </p:txBody>
      </p:sp>
      <p:sp>
        <p:nvSpPr>
          <p:cNvPr id="588" name="Shape 15"/>
          <p:cNvSpPr/>
          <p:nvPr/>
        </p:nvSpPr>
        <p:spPr>
          <a:xfrm>
            <a:off x="6355080" y="3520440"/>
            <a:ext cx="3245400" cy="1416600"/>
          </a:xfrm>
          <a:prstGeom prst="roundRect">
            <a:avLst>
              <a:gd name="adj" fmla="val 7742"/>
            </a:avLst>
          </a:prstGeom>
          <a:solidFill>
            <a:srgbClr val="F3EEFF"/>
          </a:solidFill>
          <a:ln w="1651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9" name="Text 16"/>
          <p:cNvSpPr/>
          <p:nvPr/>
        </p:nvSpPr>
        <p:spPr>
          <a:xfrm>
            <a:off x="6537960" y="3675960"/>
            <a:ext cx="287964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6B46C1"/>
                </a:solidFill>
                <a:effectLst/>
                <a:uFillTx/>
                <a:latin typeface="Aptos"/>
              </a:rPr>
              <a:t>No trace</a:t>
            </a:r>
            <a:endParaRPr lang="en-US" sz="1600" b="0" u="none" strike="noStrike">
              <a:solidFill>
                <a:srgbClr val="000000"/>
              </a:solidFill>
              <a:effectLst/>
              <a:uFillTx/>
              <a:latin typeface="Arial"/>
            </a:endParaRPr>
          </a:p>
        </p:txBody>
      </p:sp>
      <p:sp>
        <p:nvSpPr>
          <p:cNvPr id="590" name="Text 17"/>
          <p:cNvSpPr/>
          <p:nvPr/>
        </p:nvSpPr>
        <p:spPr>
          <a:xfrm>
            <a:off x="6556320" y="4050720"/>
            <a:ext cx="284292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The simulation only prints final score, making bugs hard to see.</a:t>
            </a:r>
            <a:endParaRPr lang="en-US" sz="1270" b="0" u="none" strike="noStrike">
              <a:solidFill>
                <a:srgbClr val="000000"/>
              </a:solidFill>
              <a:effectLst/>
              <a:uFillTx/>
              <a:latin typeface="Arial"/>
            </a:endParaRPr>
          </a:p>
        </p:txBody>
      </p:sp>
      <p:sp>
        <p:nvSpPr>
          <p:cNvPr id="591" name="Text 18"/>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592" name="Text 19"/>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31</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In-class activity: design before coding</a:t>
            </a:r>
            <a:endParaRPr lang="en-US" sz="3000" b="0" u="none" strike="noStrike">
              <a:solidFill>
                <a:srgbClr val="000000"/>
              </a:solidFill>
              <a:effectLst/>
              <a:uFillTx/>
              <a:latin typeface="Arial"/>
            </a:endParaRPr>
          </a:p>
        </p:txBody>
      </p:sp>
      <p:sp>
        <p:nvSpPr>
          <p:cNvPr id="594"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95"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Choose one scenario and write PEAS + environment properties.</a:t>
            </a:r>
            <a:endParaRPr lang="en-US" sz="1150" b="0" u="none" strike="noStrike">
              <a:solidFill>
                <a:srgbClr val="000000"/>
              </a:solidFill>
              <a:effectLst/>
              <a:uFillTx/>
              <a:latin typeface="Arial"/>
            </a:endParaRPr>
          </a:p>
        </p:txBody>
      </p:sp>
      <p:sp>
        <p:nvSpPr>
          <p:cNvPr id="596" name="Shape 3"/>
          <p:cNvSpPr/>
          <p:nvPr/>
        </p:nvSpPr>
        <p:spPr>
          <a:xfrm>
            <a:off x="822960" y="1325880"/>
            <a:ext cx="3199680" cy="1599480"/>
          </a:xfrm>
          <a:prstGeom prst="roundRect">
            <a:avLst>
              <a:gd name="adj" fmla="val 6857"/>
            </a:avLst>
          </a:prstGeom>
          <a:solidFill>
            <a:srgbClr val="FFFFFF"/>
          </a:solidFill>
          <a:ln w="1651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7" name="Text 4"/>
          <p:cNvSpPr/>
          <p:nvPr/>
        </p:nvSpPr>
        <p:spPr>
          <a:xfrm>
            <a:off x="1005840" y="1481400"/>
            <a:ext cx="28339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2F855A"/>
                </a:solidFill>
                <a:effectLst/>
                <a:uFillTx/>
                <a:latin typeface="Aptos"/>
              </a:rPr>
              <a:t>Campus delivery robot</a:t>
            </a:r>
            <a:endParaRPr lang="en-US" sz="1600" b="0" u="none" strike="noStrike">
              <a:solidFill>
                <a:srgbClr val="000000"/>
              </a:solidFill>
              <a:effectLst/>
              <a:uFillTx/>
              <a:latin typeface="Arial"/>
            </a:endParaRPr>
          </a:p>
        </p:txBody>
      </p:sp>
      <p:sp>
        <p:nvSpPr>
          <p:cNvPr id="598" name="Text 5"/>
          <p:cNvSpPr/>
          <p:nvPr/>
        </p:nvSpPr>
        <p:spPr>
          <a:xfrm>
            <a:off x="1024200" y="1856160"/>
            <a:ext cx="2797200" cy="9594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Deliver items between buildings without blocking pedestrians.</a:t>
            </a:r>
            <a:endParaRPr lang="en-US" sz="1270" b="0" u="none" strike="noStrike">
              <a:solidFill>
                <a:srgbClr val="000000"/>
              </a:solidFill>
              <a:effectLst/>
              <a:uFillTx/>
              <a:latin typeface="Arial"/>
            </a:endParaRPr>
          </a:p>
        </p:txBody>
      </p:sp>
      <p:sp>
        <p:nvSpPr>
          <p:cNvPr id="599" name="Shape 6"/>
          <p:cNvSpPr/>
          <p:nvPr/>
        </p:nvSpPr>
        <p:spPr>
          <a:xfrm>
            <a:off x="4572000" y="1325880"/>
            <a:ext cx="3199680" cy="1599480"/>
          </a:xfrm>
          <a:prstGeom prst="roundRect">
            <a:avLst>
              <a:gd name="adj" fmla="val 6857"/>
            </a:avLst>
          </a:prstGeom>
          <a:solidFill>
            <a:srgbClr val="FFFF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0" name="Text 7"/>
          <p:cNvSpPr/>
          <p:nvPr/>
        </p:nvSpPr>
        <p:spPr>
          <a:xfrm>
            <a:off x="4754880" y="1481400"/>
            <a:ext cx="28339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Email triage agent</a:t>
            </a:r>
            <a:endParaRPr lang="en-US" sz="1600" b="0" u="none" strike="noStrike">
              <a:solidFill>
                <a:srgbClr val="000000"/>
              </a:solidFill>
              <a:effectLst/>
              <a:uFillTx/>
              <a:latin typeface="Arial"/>
            </a:endParaRPr>
          </a:p>
        </p:txBody>
      </p:sp>
      <p:sp>
        <p:nvSpPr>
          <p:cNvPr id="601" name="Text 8"/>
          <p:cNvSpPr/>
          <p:nvPr/>
        </p:nvSpPr>
        <p:spPr>
          <a:xfrm>
            <a:off x="4773240" y="1856160"/>
            <a:ext cx="2797200" cy="9594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Prioritize incoming email without hiding important messages.</a:t>
            </a:r>
            <a:endParaRPr lang="en-US" sz="1270" b="0" u="none" strike="noStrike">
              <a:solidFill>
                <a:srgbClr val="000000"/>
              </a:solidFill>
              <a:effectLst/>
              <a:uFillTx/>
              <a:latin typeface="Arial"/>
            </a:endParaRPr>
          </a:p>
        </p:txBody>
      </p:sp>
      <p:sp>
        <p:nvSpPr>
          <p:cNvPr id="602" name="Shape 9"/>
          <p:cNvSpPr/>
          <p:nvPr/>
        </p:nvSpPr>
        <p:spPr>
          <a:xfrm>
            <a:off x="8321040" y="1325880"/>
            <a:ext cx="3199680" cy="1599480"/>
          </a:xfrm>
          <a:prstGeom prst="roundRect">
            <a:avLst>
              <a:gd name="adj" fmla="val 6857"/>
            </a:avLst>
          </a:prstGeom>
          <a:solidFill>
            <a:srgbClr val="FFFFFF"/>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3" name="Text 10"/>
          <p:cNvSpPr/>
          <p:nvPr/>
        </p:nvSpPr>
        <p:spPr>
          <a:xfrm>
            <a:off x="8503920" y="1481400"/>
            <a:ext cx="283392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Grid-world cleaner</a:t>
            </a:r>
            <a:endParaRPr lang="en-US" sz="1600" b="0" u="none" strike="noStrike">
              <a:solidFill>
                <a:srgbClr val="000000"/>
              </a:solidFill>
              <a:effectLst/>
              <a:uFillTx/>
              <a:latin typeface="Arial"/>
            </a:endParaRPr>
          </a:p>
        </p:txBody>
      </p:sp>
      <p:sp>
        <p:nvSpPr>
          <p:cNvPr id="604" name="Text 11"/>
          <p:cNvSpPr/>
          <p:nvPr/>
        </p:nvSpPr>
        <p:spPr>
          <a:xfrm>
            <a:off x="8522280" y="1856160"/>
            <a:ext cx="2797200" cy="9594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Clean cells efficiently with limited sensors.</a:t>
            </a:r>
            <a:endParaRPr lang="en-US" sz="1270" b="0" u="none" strike="noStrike">
              <a:solidFill>
                <a:srgbClr val="000000"/>
              </a:solidFill>
              <a:effectLst/>
              <a:uFillTx/>
              <a:latin typeface="Arial"/>
            </a:endParaRPr>
          </a:p>
        </p:txBody>
      </p:sp>
      <p:sp>
        <p:nvSpPr>
          <p:cNvPr id="605" name="Text 12"/>
          <p:cNvSpPr/>
          <p:nvPr/>
        </p:nvSpPr>
        <p:spPr>
          <a:xfrm>
            <a:off x="1005840" y="4023360"/>
            <a:ext cx="2010960" cy="25524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2000" b="1" u="none" strike="noStrike">
                <a:solidFill>
                  <a:srgbClr val="002B49"/>
                </a:solidFill>
                <a:effectLst/>
                <a:uFillTx/>
                <a:latin typeface="Aptos"/>
              </a:rPr>
              <a:t>Group output</a:t>
            </a:r>
            <a:endParaRPr lang="en-US" sz="2000" b="0" u="none" strike="noStrike">
              <a:solidFill>
                <a:srgbClr val="000000"/>
              </a:solidFill>
              <a:effectLst/>
              <a:uFillTx/>
              <a:latin typeface="Arial"/>
            </a:endParaRPr>
          </a:p>
        </p:txBody>
      </p:sp>
      <p:sp>
        <p:nvSpPr>
          <p:cNvPr id="606" name="Text 13"/>
          <p:cNvSpPr/>
          <p:nvPr/>
        </p:nvSpPr>
        <p:spPr>
          <a:xfrm>
            <a:off x="1143000" y="4480560"/>
            <a:ext cx="9691920" cy="1005120"/>
          </a:xfrm>
          <a:prstGeom prst="rect">
            <a:avLst/>
          </a:prstGeom>
          <a:noFill/>
          <a:ln w="0">
            <a:noFill/>
          </a:ln>
        </p:spPr>
        <p:style>
          <a:lnRef idx="0"/>
          <a:fillRef idx="0"/>
          <a:effectRef idx="0"/>
          <a:fontRef idx="minor"/>
        </p:style>
        <p:txBody>
          <a:bodyPr lIns="360" tIns="360" rIns="360" bIns="360" anchor="ctr">
            <a:normAutofit fontScale="85000" lnSpcReduction="9999"/>
          </a:bodyPr>
          <a:p>
            <a:pPr>
              <a:lnSpc>
                <a:spcPct val="100000"/>
              </a:lnSpc>
            </a:pPr>
            <a:r>
              <a:rPr lang="en-US" sz="1600" b="0" u="none" strike="noStrike">
                <a:solidFill>
                  <a:srgbClr val="111827"/>
                </a:solidFill>
                <a:effectLst/>
                <a:uFillTx/>
                <a:latin typeface="Aptos"/>
              </a:rPr>
              <a:t>One PEAS table</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 </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One environment classification</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 </a:t>
            </a:r>
            <a:endParaRPr lang="en-US" sz="16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600" b="0" u="none" strike="noStrike">
                <a:solidFill>
                  <a:srgbClr val="111827"/>
                </a:solidFill>
                <a:effectLst/>
                <a:uFillTx/>
                <a:latin typeface="Aptos"/>
              </a:rPr>
              <a:t>One agent design choice and why</a:t>
            </a:r>
            <a:endParaRPr lang="en-US" sz="1600" b="0" u="none" strike="noStrike">
              <a:solidFill>
                <a:srgbClr val="000000"/>
              </a:solidFill>
              <a:effectLst/>
              <a:uFillTx/>
              <a:latin typeface="Arial"/>
            </a:endParaRPr>
          </a:p>
        </p:txBody>
      </p:sp>
      <p:sp>
        <p:nvSpPr>
          <p:cNvPr id="607" name="Text 14"/>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608" name="Text 15"/>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32</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Exit ticket</a:t>
            </a:r>
            <a:endParaRPr lang="en-US" sz="3000" b="0" u="none" strike="noStrike">
              <a:solidFill>
                <a:srgbClr val="000000"/>
              </a:solidFill>
              <a:effectLst/>
              <a:uFillTx/>
              <a:latin typeface="Arial"/>
            </a:endParaRPr>
          </a:p>
        </p:txBody>
      </p:sp>
      <p:sp>
        <p:nvSpPr>
          <p:cNvPr id="610"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11"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Five minutes: make the agent lens stick.</a:t>
            </a:r>
            <a:endParaRPr lang="en-US" sz="1150" b="0" u="none" strike="noStrike">
              <a:solidFill>
                <a:srgbClr val="000000"/>
              </a:solidFill>
              <a:effectLst/>
              <a:uFillTx/>
              <a:latin typeface="Arial"/>
            </a:endParaRPr>
          </a:p>
        </p:txBody>
      </p:sp>
      <p:sp>
        <p:nvSpPr>
          <p:cNvPr id="612" name="Shape 3"/>
          <p:cNvSpPr/>
          <p:nvPr/>
        </p:nvSpPr>
        <p:spPr>
          <a:xfrm>
            <a:off x="868680" y="1417320"/>
            <a:ext cx="3291120" cy="1416600"/>
          </a:xfrm>
          <a:prstGeom prst="roundRect">
            <a:avLst>
              <a:gd name="adj" fmla="val 7742"/>
            </a:avLst>
          </a:prstGeom>
          <a:solidFill>
            <a:srgbClr val="FFF7E0"/>
          </a:solidFill>
          <a:ln w="1651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3" name="Text 4"/>
          <p:cNvSpPr/>
          <p:nvPr/>
        </p:nvSpPr>
        <p:spPr>
          <a:xfrm>
            <a:off x="1051560" y="1572840"/>
            <a:ext cx="29253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99700"/>
                </a:solidFill>
                <a:effectLst/>
                <a:uFillTx/>
                <a:latin typeface="Aptos"/>
              </a:rPr>
              <a:t>Question 1</a:t>
            </a:r>
            <a:endParaRPr lang="en-US" sz="1600" b="0" u="none" strike="noStrike">
              <a:solidFill>
                <a:srgbClr val="000000"/>
              </a:solidFill>
              <a:effectLst/>
              <a:uFillTx/>
              <a:latin typeface="Arial"/>
            </a:endParaRPr>
          </a:p>
        </p:txBody>
      </p:sp>
      <p:sp>
        <p:nvSpPr>
          <p:cNvPr id="614" name="Text 5"/>
          <p:cNvSpPr/>
          <p:nvPr/>
        </p:nvSpPr>
        <p:spPr>
          <a:xfrm>
            <a:off x="1069920" y="1947600"/>
            <a:ext cx="288864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What is one AI system you can describe using PEAS?</a:t>
            </a:r>
            <a:endParaRPr lang="en-US" sz="1270" b="0" u="none" strike="noStrike">
              <a:solidFill>
                <a:srgbClr val="000000"/>
              </a:solidFill>
              <a:effectLst/>
              <a:uFillTx/>
              <a:latin typeface="Arial"/>
            </a:endParaRPr>
          </a:p>
        </p:txBody>
      </p:sp>
      <p:sp>
        <p:nvSpPr>
          <p:cNvPr id="615" name="Shape 6"/>
          <p:cNvSpPr/>
          <p:nvPr/>
        </p:nvSpPr>
        <p:spPr>
          <a:xfrm>
            <a:off x="4480560" y="1417320"/>
            <a:ext cx="3291120" cy="1416600"/>
          </a:xfrm>
          <a:prstGeom prst="roundRect">
            <a:avLst>
              <a:gd name="adj" fmla="val 7742"/>
            </a:avLst>
          </a:prstGeom>
          <a:solidFill>
            <a:srgbClr val="FFF1F0"/>
          </a:solidFill>
          <a:ln w="16510">
            <a:solidFill>
              <a:srgbClr val="C5303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6" name="Text 7"/>
          <p:cNvSpPr/>
          <p:nvPr/>
        </p:nvSpPr>
        <p:spPr>
          <a:xfrm>
            <a:off x="4663440" y="1572840"/>
            <a:ext cx="29253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C53030"/>
                </a:solidFill>
                <a:effectLst/>
                <a:uFillTx/>
                <a:latin typeface="Aptos"/>
              </a:rPr>
              <a:t>Question 2</a:t>
            </a:r>
            <a:endParaRPr lang="en-US" sz="1600" b="0" u="none" strike="noStrike">
              <a:solidFill>
                <a:srgbClr val="000000"/>
              </a:solidFill>
              <a:effectLst/>
              <a:uFillTx/>
              <a:latin typeface="Arial"/>
            </a:endParaRPr>
          </a:p>
        </p:txBody>
      </p:sp>
      <p:sp>
        <p:nvSpPr>
          <p:cNvPr id="617" name="Text 8"/>
          <p:cNvSpPr/>
          <p:nvPr/>
        </p:nvSpPr>
        <p:spPr>
          <a:xfrm>
            <a:off x="4681800" y="1947600"/>
            <a:ext cx="288864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What performance measure could cause that system to behave badly?</a:t>
            </a:r>
            <a:endParaRPr lang="en-US" sz="1270" b="0" u="none" strike="noStrike">
              <a:solidFill>
                <a:srgbClr val="000000"/>
              </a:solidFill>
              <a:effectLst/>
              <a:uFillTx/>
              <a:latin typeface="Arial"/>
            </a:endParaRPr>
          </a:p>
        </p:txBody>
      </p:sp>
      <p:sp>
        <p:nvSpPr>
          <p:cNvPr id="618" name="Shape 9"/>
          <p:cNvSpPr/>
          <p:nvPr/>
        </p:nvSpPr>
        <p:spPr>
          <a:xfrm>
            <a:off x="8092440" y="1417320"/>
            <a:ext cx="3291120" cy="1416600"/>
          </a:xfrm>
          <a:prstGeom prst="roundRect">
            <a:avLst>
              <a:gd name="adj" fmla="val 7742"/>
            </a:avLst>
          </a:prstGeom>
          <a:solidFill>
            <a:srgbClr val="EFF6FF"/>
          </a:solidFill>
          <a:ln w="1651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9" name="Text 10"/>
          <p:cNvSpPr/>
          <p:nvPr/>
        </p:nvSpPr>
        <p:spPr>
          <a:xfrm>
            <a:off x="8275320" y="1572840"/>
            <a:ext cx="2925360" cy="25524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600" b="1" u="none" strike="noStrike">
                <a:solidFill>
                  <a:srgbClr val="3273DC"/>
                </a:solidFill>
                <a:effectLst/>
                <a:uFillTx/>
                <a:latin typeface="Aptos"/>
              </a:rPr>
              <a:t>Question 3</a:t>
            </a:r>
            <a:endParaRPr lang="en-US" sz="1600" b="0" u="none" strike="noStrike">
              <a:solidFill>
                <a:srgbClr val="000000"/>
              </a:solidFill>
              <a:effectLst/>
              <a:uFillTx/>
              <a:latin typeface="Arial"/>
            </a:endParaRPr>
          </a:p>
        </p:txBody>
      </p:sp>
      <p:sp>
        <p:nvSpPr>
          <p:cNvPr id="620" name="Text 11"/>
          <p:cNvSpPr/>
          <p:nvPr/>
        </p:nvSpPr>
        <p:spPr>
          <a:xfrm>
            <a:off x="8293680" y="1947600"/>
            <a:ext cx="2888640" cy="7765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70" b="0" u="none" strike="noStrike">
                <a:solidFill>
                  <a:srgbClr val="111827"/>
                </a:solidFill>
                <a:effectLst/>
                <a:uFillTx/>
                <a:latin typeface="Aptos"/>
              </a:rPr>
              <a:t>What is one environment property that makes the task difficult?</a:t>
            </a:r>
            <a:endParaRPr lang="en-US" sz="1270" b="0" u="none" strike="noStrike">
              <a:solidFill>
                <a:srgbClr val="000000"/>
              </a:solidFill>
              <a:effectLst/>
              <a:uFillTx/>
              <a:latin typeface="Arial"/>
            </a:endParaRPr>
          </a:p>
        </p:txBody>
      </p:sp>
      <p:sp>
        <p:nvSpPr>
          <p:cNvPr id="621" name="Shape 12"/>
          <p:cNvSpPr/>
          <p:nvPr/>
        </p:nvSpPr>
        <p:spPr>
          <a:xfrm>
            <a:off x="1325880" y="4297680"/>
            <a:ext cx="9554760" cy="685080"/>
          </a:xfrm>
          <a:prstGeom prst="roundRect">
            <a:avLst>
              <a:gd name="adj" fmla="val 16000"/>
            </a:avLst>
          </a:prstGeom>
          <a:solidFill>
            <a:srgbClr val="EAF1F8"/>
          </a:solidFill>
          <a:ln w="15240">
            <a:solidFill>
              <a:srgbClr val="002B49"/>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2" name="Text 13"/>
          <p:cNvSpPr/>
          <p:nvPr/>
        </p:nvSpPr>
        <p:spPr>
          <a:xfrm>
            <a:off x="1527120" y="4480560"/>
            <a:ext cx="9152280" cy="36504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002B49"/>
                </a:solidFill>
                <a:effectLst/>
                <a:uFillTx/>
                <a:latin typeface="Aptos"/>
              </a:rPr>
              <a:t>Submit as a short response or discuss before leaving.</a:t>
            </a:r>
            <a:endParaRPr lang="en-US" sz="1600" b="0" u="none" strike="noStrike">
              <a:solidFill>
                <a:srgbClr val="000000"/>
              </a:solidFill>
              <a:effectLst/>
              <a:uFillTx/>
              <a:latin typeface="Arial"/>
            </a:endParaRPr>
          </a:p>
        </p:txBody>
      </p:sp>
      <p:sp>
        <p:nvSpPr>
          <p:cNvPr id="623" name="Text 14"/>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624" name="Text 15"/>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33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Wrap-up: what to remember</a:t>
            </a:r>
            <a:endParaRPr lang="en-US" sz="3000" b="0" u="none" strike="noStrike">
              <a:solidFill>
                <a:srgbClr val="000000"/>
              </a:solidFill>
              <a:effectLst/>
              <a:uFillTx/>
              <a:latin typeface="Arial"/>
            </a:endParaRPr>
          </a:p>
        </p:txBody>
      </p:sp>
      <p:sp>
        <p:nvSpPr>
          <p:cNvPr id="626"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27"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This week’s foundation will recur throughout the course.</a:t>
            </a:r>
            <a:endParaRPr lang="en-US" sz="1150" b="0" u="none" strike="noStrike">
              <a:solidFill>
                <a:srgbClr val="000000"/>
              </a:solidFill>
              <a:effectLst/>
              <a:uFillTx/>
              <a:latin typeface="Arial"/>
            </a:endParaRPr>
          </a:p>
        </p:txBody>
      </p:sp>
      <p:sp>
        <p:nvSpPr>
          <p:cNvPr id="628" name="Shape 3"/>
          <p:cNvSpPr/>
          <p:nvPr/>
        </p:nvSpPr>
        <p:spPr>
          <a:xfrm>
            <a:off x="822960" y="1143000"/>
            <a:ext cx="566280" cy="566280"/>
          </a:xfrm>
          <a:prstGeom prst="ellipse">
            <a:avLst/>
          </a:prstGeom>
          <a:solidFill>
            <a:srgbClr val="C99700"/>
          </a:solidFill>
          <a:ln w="1270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9" name="Text 4"/>
          <p:cNvSpPr/>
          <p:nvPr/>
        </p:nvSpPr>
        <p:spPr>
          <a:xfrm>
            <a:off x="822960" y="128016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1</a:t>
            </a:r>
            <a:endParaRPr lang="en-US" sz="1400" b="0" u="none" strike="noStrike">
              <a:solidFill>
                <a:srgbClr val="000000"/>
              </a:solidFill>
              <a:effectLst/>
              <a:uFillTx/>
              <a:latin typeface="Arial"/>
            </a:endParaRPr>
          </a:p>
        </p:txBody>
      </p:sp>
      <p:sp>
        <p:nvSpPr>
          <p:cNvPr id="630" name="Text 5"/>
          <p:cNvSpPr/>
          <p:nvPr/>
        </p:nvSpPr>
        <p:spPr>
          <a:xfrm>
            <a:off x="1554480" y="1207080"/>
            <a:ext cx="2925360" cy="2188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650" b="1" u="none" strike="noStrike">
                <a:solidFill>
                  <a:srgbClr val="002B49"/>
                </a:solidFill>
                <a:effectLst/>
                <a:uFillTx/>
                <a:latin typeface="Aptos"/>
              </a:rPr>
              <a:t>AI as agent design</a:t>
            </a:r>
            <a:endParaRPr lang="en-US" sz="1650" b="0" u="none" strike="noStrike">
              <a:solidFill>
                <a:srgbClr val="000000"/>
              </a:solidFill>
              <a:effectLst/>
              <a:uFillTx/>
              <a:latin typeface="Arial"/>
            </a:endParaRPr>
          </a:p>
        </p:txBody>
      </p:sp>
      <p:sp>
        <p:nvSpPr>
          <p:cNvPr id="631" name="Text 6"/>
          <p:cNvSpPr/>
          <p:nvPr/>
        </p:nvSpPr>
        <p:spPr>
          <a:xfrm>
            <a:off x="4663440" y="1216080"/>
            <a:ext cx="6125760" cy="27360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380" b="0" u="none" strike="noStrike">
                <a:solidFill>
                  <a:srgbClr val="111827"/>
                </a:solidFill>
                <a:effectLst/>
                <a:uFillTx/>
                <a:latin typeface="Aptos"/>
              </a:rPr>
              <a:t>Systems perceive, decide, and act in environments.</a:t>
            </a:r>
            <a:endParaRPr lang="en-US" sz="1380" b="0" u="none" strike="noStrike">
              <a:solidFill>
                <a:srgbClr val="000000"/>
              </a:solidFill>
              <a:effectLst/>
              <a:uFillTx/>
              <a:latin typeface="Arial"/>
            </a:endParaRPr>
          </a:p>
        </p:txBody>
      </p:sp>
      <p:sp>
        <p:nvSpPr>
          <p:cNvPr id="632" name="Shape 7"/>
          <p:cNvSpPr/>
          <p:nvPr/>
        </p:nvSpPr>
        <p:spPr>
          <a:xfrm>
            <a:off x="822960" y="1947600"/>
            <a:ext cx="566280" cy="566280"/>
          </a:xfrm>
          <a:prstGeom prst="ellipse">
            <a:avLst/>
          </a:prstGeom>
          <a:solidFill>
            <a:srgbClr val="0E7C86"/>
          </a:solidFill>
          <a:ln w="12700">
            <a:solidFill>
              <a:srgbClr val="0E7C8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33" name="Text 8"/>
          <p:cNvSpPr/>
          <p:nvPr/>
        </p:nvSpPr>
        <p:spPr>
          <a:xfrm>
            <a:off x="822960" y="208476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2</a:t>
            </a:r>
            <a:endParaRPr lang="en-US" sz="1400" b="0" u="none" strike="noStrike">
              <a:solidFill>
                <a:srgbClr val="000000"/>
              </a:solidFill>
              <a:effectLst/>
              <a:uFillTx/>
              <a:latin typeface="Arial"/>
            </a:endParaRPr>
          </a:p>
        </p:txBody>
      </p:sp>
      <p:sp>
        <p:nvSpPr>
          <p:cNvPr id="634" name="Text 9"/>
          <p:cNvSpPr/>
          <p:nvPr/>
        </p:nvSpPr>
        <p:spPr>
          <a:xfrm>
            <a:off x="1554480" y="2011680"/>
            <a:ext cx="2925360" cy="2188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650" b="1" u="none" strike="noStrike">
                <a:solidFill>
                  <a:srgbClr val="002B49"/>
                </a:solidFill>
                <a:effectLst/>
                <a:uFillTx/>
                <a:latin typeface="Aptos"/>
              </a:rPr>
              <a:t>Rationality</a:t>
            </a:r>
            <a:endParaRPr lang="en-US" sz="1650" b="0" u="none" strike="noStrike">
              <a:solidFill>
                <a:srgbClr val="000000"/>
              </a:solidFill>
              <a:effectLst/>
              <a:uFillTx/>
              <a:latin typeface="Arial"/>
            </a:endParaRPr>
          </a:p>
        </p:txBody>
      </p:sp>
      <p:sp>
        <p:nvSpPr>
          <p:cNvPr id="635" name="Text 10"/>
          <p:cNvSpPr/>
          <p:nvPr/>
        </p:nvSpPr>
        <p:spPr>
          <a:xfrm>
            <a:off x="4663440" y="2020680"/>
            <a:ext cx="6125760" cy="27360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380" b="0" u="none" strike="noStrike">
                <a:solidFill>
                  <a:srgbClr val="111827"/>
                </a:solidFill>
                <a:effectLst/>
                <a:uFillTx/>
                <a:latin typeface="Aptos"/>
              </a:rPr>
              <a:t>Choose actions that maximize expected performance given evidence.</a:t>
            </a:r>
            <a:endParaRPr lang="en-US" sz="1380" b="0" u="none" strike="noStrike">
              <a:solidFill>
                <a:srgbClr val="000000"/>
              </a:solidFill>
              <a:effectLst/>
              <a:uFillTx/>
              <a:latin typeface="Arial"/>
            </a:endParaRPr>
          </a:p>
        </p:txBody>
      </p:sp>
      <p:sp>
        <p:nvSpPr>
          <p:cNvPr id="636" name="Shape 11"/>
          <p:cNvSpPr/>
          <p:nvPr/>
        </p:nvSpPr>
        <p:spPr>
          <a:xfrm>
            <a:off x="822960" y="2752200"/>
            <a:ext cx="566280" cy="566280"/>
          </a:xfrm>
          <a:prstGeom prst="ellipse">
            <a:avLst/>
          </a:prstGeom>
          <a:solidFill>
            <a:srgbClr val="3273DC"/>
          </a:solidFill>
          <a:ln w="12700">
            <a:solidFill>
              <a:srgbClr val="3273D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37" name="Text 12"/>
          <p:cNvSpPr/>
          <p:nvPr/>
        </p:nvSpPr>
        <p:spPr>
          <a:xfrm>
            <a:off x="822960" y="288936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3</a:t>
            </a:r>
            <a:endParaRPr lang="en-US" sz="1400" b="0" u="none" strike="noStrike">
              <a:solidFill>
                <a:srgbClr val="000000"/>
              </a:solidFill>
              <a:effectLst/>
              <a:uFillTx/>
              <a:latin typeface="Arial"/>
            </a:endParaRPr>
          </a:p>
        </p:txBody>
      </p:sp>
      <p:sp>
        <p:nvSpPr>
          <p:cNvPr id="638" name="Text 13"/>
          <p:cNvSpPr/>
          <p:nvPr/>
        </p:nvSpPr>
        <p:spPr>
          <a:xfrm>
            <a:off x="1554480" y="2816280"/>
            <a:ext cx="2925360" cy="2188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650" b="1" u="none" strike="noStrike">
                <a:solidFill>
                  <a:srgbClr val="002B49"/>
                </a:solidFill>
                <a:effectLst/>
                <a:uFillTx/>
                <a:latin typeface="Aptos"/>
              </a:rPr>
              <a:t>PEAS first</a:t>
            </a:r>
            <a:endParaRPr lang="en-US" sz="1650" b="0" u="none" strike="noStrike">
              <a:solidFill>
                <a:srgbClr val="000000"/>
              </a:solidFill>
              <a:effectLst/>
              <a:uFillTx/>
              <a:latin typeface="Arial"/>
            </a:endParaRPr>
          </a:p>
        </p:txBody>
      </p:sp>
      <p:sp>
        <p:nvSpPr>
          <p:cNvPr id="639" name="Text 14"/>
          <p:cNvSpPr/>
          <p:nvPr/>
        </p:nvSpPr>
        <p:spPr>
          <a:xfrm>
            <a:off x="4663440" y="2825640"/>
            <a:ext cx="6125760" cy="27360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380" b="0" u="none" strike="noStrike">
                <a:solidFill>
                  <a:srgbClr val="111827"/>
                </a:solidFill>
                <a:effectLst/>
                <a:uFillTx/>
                <a:latin typeface="Aptos"/>
              </a:rPr>
              <a:t>Specify tasks before selecting algorithms or writing code.</a:t>
            </a:r>
            <a:endParaRPr lang="en-US" sz="1380" b="0" u="none" strike="noStrike">
              <a:solidFill>
                <a:srgbClr val="000000"/>
              </a:solidFill>
              <a:effectLst/>
              <a:uFillTx/>
              <a:latin typeface="Arial"/>
            </a:endParaRPr>
          </a:p>
        </p:txBody>
      </p:sp>
      <p:sp>
        <p:nvSpPr>
          <p:cNvPr id="640" name="Shape 15"/>
          <p:cNvSpPr/>
          <p:nvPr/>
        </p:nvSpPr>
        <p:spPr>
          <a:xfrm>
            <a:off x="822960" y="3557160"/>
            <a:ext cx="566280" cy="566280"/>
          </a:xfrm>
          <a:prstGeom prst="ellipse">
            <a:avLst/>
          </a:prstGeom>
          <a:solidFill>
            <a:srgbClr val="6B46C1"/>
          </a:solidFill>
          <a:ln w="12700">
            <a:solidFill>
              <a:srgbClr val="6B46C1"/>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1" name="Text 16"/>
          <p:cNvSpPr/>
          <p:nvPr/>
        </p:nvSpPr>
        <p:spPr>
          <a:xfrm>
            <a:off x="822960" y="369432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4</a:t>
            </a:r>
            <a:endParaRPr lang="en-US" sz="1400" b="0" u="none" strike="noStrike">
              <a:solidFill>
                <a:srgbClr val="000000"/>
              </a:solidFill>
              <a:effectLst/>
              <a:uFillTx/>
              <a:latin typeface="Arial"/>
            </a:endParaRPr>
          </a:p>
        </p:txBody>
      </p:sp>
      <p:sp>
        <p:nvSpPr>
          <p:cNvPr id="642" name="Text 17"/>
          <p:cNvSpPr/>
          <p:nvPr/>
        </p:nvSpPr>
        <p:spPr>
          <a:xfrm>
            <a:off x="1554480" y="3620880"/>
            <a:ext cx="2925360" cy="2188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650" b="1" u="none" strike="noStrike">
                <a:solidFill>
                  <a:srgbClr val="002B49"/>
                </a:solidFill>
                <a:effectLst/>
                <a:uFillTx/>
                <a:latin typeface="Aptos"/>
              </a:rPr>
              <a:t>Environment matters</a:t>
            </a:r>
            <a:endParaRPr lang="en-US" sz="1650" b="0" u="none" strike="noStrike">
              <a:solidFill>
                <a:srgbClr val="000000"/>
              </a:solidFill>
              <a:effectLst/>
              <a:uFillTx/>
              <a:latin typeface="Arial"/>
            </a:endParaRPr>
          </a:p>
        </p:txBody>
      </p:sp>
      <p:sp>
        <p:nvSpPr>
          <p:cNvPr id="643" name="Text 18"/>
          <p:cNvSpPr/>
          <p:nvPr/>
        </p:nvSpPr>
        <p:spPr>
          <a:xfrm>
            <a:off x="4663440" y="3630240"/>
            <a:ext cx="6125760" cy="27360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380" b="0" u="none" strike="noStrike">
                <a:solidFill>
                  <a:srgbClr val="111827"/>
                </a:solidFill>
                <a:effectLst/>
                <a:uFillTx/>
                <a:latin typeface="Aptos"/>
              </a:rPr>
              <a:t>Observability, uncertainty, time, and other agents shape the design.</a:t>
            </a:r>
            <a:endParaRPr lang="en-US" sz="1380" b="0" u="none" strike="noStrike">
              <a:solidFill>
                <a:srgbClr val="000000"/>
              </a:solidFill>
              <a:effectLst/>
              <a:uFillTx/>
              <a:latin typeface="Arial"/>
            </a:endParaRPr>
          </a:p>
        </p:txBody>
      </p:sp>
      <p:sp>
        <p:nvSpPr>
          <p:cNvPr id="644" name="Shape 19"/>
          <p:cNvSpPr/>
          <p:nvPr/>
        </p:nvSpPr>
        <p:spPr>
          <a:xfrm>
            <a:off x="822960" y="4361760"/>
            <a:ext cx="566280" cy="566280"/>
          </a:xfrm>
          <a:prstGeom prst="ellipse">
            <a:avLst/>
          </a:prstGeom>
          <a:solidFill>
            <a:srgbClr val="2F855A"/>
          </a:solidFill>
          <a:ln w="12700">
            <a:solidFill>
              <a:srgbClr val="2F855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5" name="Text 20"/>
          <p:cNvSpPr/>
          <p:nvPr/>
        </p:nvSpPr>
        <p:spPr>
          <a:xfrm>
            <a:off x="822960" y="4498920"/>
            <a:ext cx="566280" cy="182160"/>
          </a:xfrm>
          <a:prstGeom prst="rect">
            <a:avLst/>
          </a:prstGeom>
          <a:noFill/>
          <a:ln w="0">
            <a:noFill/>
          </a:ln>
        </p:spPr>
        <p:style>
          <a:lnRef idx="0"/>
          <a:fillRef idx="0"/>
          <a:effectRef idx="0"/>
          <a:fontRef idx="minor"/>
        </p:style>
        <p:txBody>
          <a:bodyPr lIns="360" tIns="360" rIns="360" bIns="36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rPr>
              <a:t>5</a:t>
            </a:r>
            <a:endParaRPr lang="en-US" sz="1400" b="0" u="none" strike="noStrike">
              <a:solidFill>
                <a:srgbClr val="000000"/>
              </a:solidFill>
              <a:effectLst/>
              <a:uFillTx/>
              <a:latin typeface="Arial"/>
            </a:endParaRPr>
          </a:p>
        </p:txBody>
      </p:sp>
      <p:sp>
        <p:nvSpPr>
          <p:cNvPr id="646" name="Text 21"/>
          <p:cNvSpPr/>
          <p:nvPr/>
        </p:nvSpPr>
        <p:spPr>
          <a:xfrm>
            <a:off x="1554480" y="4425840"/>
            <a:ext cx="2925360" cy="2188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650" b="1" u="none" strike="noStrike">
                <a:solidFill>
                  <a:srgbClr val="002B49"/>
                </a:solidFill>
                <a:effectLst/>
                <a:uFillTx/>
                <a:latin typeface="Aptos"/>
              </a:rPr>
              <a:t>Simulation mindset</a:t>
            </a:r>
            <a:endParaRPr lang="en-US" sz="1650" b="0" u="none" strike="noStrike">
              <a:solidFill>
                <a:srgbClr val="000000"/>
              </a:solidFill>
              <a:effectLst/>
              <a:uFillTx/>
              <a:latin typeface="Arial"/>
            </a:endParaRPr>
          </a:p>
        </p:txBody>
      </p:sp>
      <p:sp>
        <p:nvSpPr>
          <p:cNvPr id="647" name="Text 22"/>
          <p:cNvSpPr/>
          <p:nvPr/>
        </p:nvSpPr>
        <p:spPr>
          <a:xfrm>
            <a:off x="4663440" y="4434840"/>
            <a:ext cx="6125760" cy="27360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380" b="0" u="none" strike="noStrike">
                <a:solidFill>
                  <a:srgbClr val="111827"/>
                </a:solidFill>
                <a:effectLst/>
                <a:uFillTx/>
                <a:latin typeface="Aptos"/>
              </a:rPr>
              <a:t>Use small worlds to test assumptions before scaling up.</a:t>
            </a:r>
            <a:endParaRPr lang="en-US" sz="1380" b="0" u="none" strike="noStrike">
              <a:solidFill>
                <a:srgbClr val="000000"/>
              </a:solidFill>
              <a:effectLst/>
              <a:uFillTx/>
              <a:latin typeface="Arial"/>
            </a:endParaRPr>
          </a:p>
        </p:txBody>
      </p:sp>
      <p:sp>
        <p:nvSpPr>
          <p:cNvPr id="648" name="Shape 23"/>
          <p:cNvSpPr/>
          <p:nvPr/>
        </p:nvSpPr>
        <p:spPr>
          <a:xfrm>
            <a:off x="1280160" y="5532120"/>
            <a:ext cx="9646200" cy="593640"/>
          </a:xfrm>
          <a:prstGeom prst="roundRect">
            <a:avLst>
              <a:gd name="adj" fmla="val 18462"/>
            </a:avLst>
          </a:prstGeom>
          <a:solidFill>
            <a:srgbClr val="FFF7E0"/>
          </a:solidFill>
          <a:ln w="1524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9" name="Text 24"/>
          <p:cNvSpPr/>
          <p:nvPr/>
        </p:nvSpPr>
        <p:spPr>
          <a:xfrm>
            <a:off x="1481400" y="5715000"/>
            <a:ext cx="9243720" cy="27360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600" b="1" u="none" strike="noStrike">
                <a:solidFill>
                  <a:srgbClr val="002B49"/>
                </a:solidFill>
                <a:effectLst/>
                <a:uFillTx/>
                <a:latin typeface="Aptos"/>
              </a:rPr>
              <a:t>Before next class: read AIMA Ch. 1-2 and open the instructor notebook.</a:t>
            </a:r>
            <a:endParaRPr lang="en-US" sz="1600" b="0" u="none" strike="noStrike">
              <a:solidFill>
                <a:srgbClr val="000000"/>
              </a:solidFill>
              <a:effectLst/>
              <a:uFillTx/>
              <a:latin typeface="Arial"/>
            </a:endParaRPr>
          </a:p>
        </p:txBody>
      </p:sp>
      <p:sp>
        <p:nvSpPr>
          <p:cNvPr id="650" name="Text 25"/>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651" name="Text 26"/>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34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Text 0"/>
          <p:cNvSpPr/>
          <p:nvPr/>
        </p:nvSpPr>
        <p:spPr>
          <a:xfrm>
            <a:off x="502920" y="292680"/>
            <a:ext cx="10240560" cy="41076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000" b="1" u="none" strike="noStrike">
                <a:solidFill>
                  <a:srgbClr val="002B49"/>
                </a:solidFill>
                <a:effectLst/>
                <a:uFillTx/>
                <a:latin typeface="Aptos Display"/>
                <a:ea typeface="Aptos Display"/>
              </a:rPr>
              <a:t>Source and instructor preparation notes</a:t>
            </a:r>
            <a:endParaRPr lang="en-US" sz="3000" b="0" u="none" strike="noStrike">
              <a:solidFill>
                <a:srgbClr val="000000"/>
              </a:solidFill>
              <a:effectLst/>
              <a:uFillTx/>
              <a:latin typeface="Arial"/>
            </a:endParaRPr>
          </a:p>
        </p:txBody>
      </p:sp>
      <p:sp>
        <p:nvSpPr>
          <p:cNvPr id="653" name="Shape 1"/>
          <p:cNvSpPr/>
          <p:nvPr/>
        </p:nvSpPr>
        <p:spPr>
          <a:xfrm>
            <a:off x="502920" y="840960"/>
            <a:ext cx="1234440" cy="360"/>
          </a:xfrm>
          <a:prstGeom prst="line">
            <a:avLst/>
          </a:prstGeom>
          <a:ln w="38100">
            <a:solidFill>
              <a:srgbClr val="C997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54" name="Text 2"/>
          <p:cNvSpPr/>
          <p:nvPr/>
        </p:nvSpPr>
        <p:spPr>
          <a:xfrm>
            <a:off x="1874520" y="713160"/>
            <a:ext cx="7405920" cy="255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50" b="0" u="none" strike="noStrike">
                <a:solidFill>
                  <a:srgbClr val="475467"/>
                </a:solidFill>
                <a:effectLst/>
                <a:uFillTx/>
                <a:latin typeface="Aptos"/>
              </a:rPr>
              <a:t>Keep or hide this backup slide.</a:t>
            </a:r>
            <a:endParaRPr lang="en-US" sz="1150" b="0" u="none" strike="noStrike">
              <a:solidFill>
                <a:srgbClr val="000000"/>
              </a:solidFill>
              <a:effectLst/>
              <a:uFillTx/>
              <a:latin typeface="Arial"/>
            </a:endParaRPr>
          </a:p>
        </p:txBody>
      </p:sp>
      <p:sp>
        <p:nvSpPr>
          <p:cNvPr id="655" name="Text 3"/>
          <p:cNvSpPr/>
          <p:nvPr/>
        </p:nvSpPr>
        <p:spPr>
          <a:xfrm>
            <a:off x="868680" y="1234440"/>
            <a:ext cx="2925360" cy="25524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2000" b="1" u="none" strike="noStrike">
                <a:solidFill>
                  <a:srgbClr val="002B49"/>
                </a:solidFill>
                <a:effectLst/>
                <a:uFillTx/>
                <a:latin typeface="Aptos"/>
              </a:rPr>
              <a:t>Primary materials</a:t>
            </a:r>
            <a:endParaRPr lang="en-US" sz="2000" b="0" u="none" strike="noStrike">
              <a:solidFill>
                <a:srgbClr val="000000"/>
              </a:solidFill>
              <a:effectLst/>
              <a:uFillTx/>
              <a:latin typeface="Arial"/>
            </a:endParaRPr>
          </a:p>
        </p:txBody>
      </p:sp>
      <p:sp>
        <p:nvSpPr>
          <p:cNvPr id="656" name="Text 4"/>
          <p:cNvSpPr/>
          <p:nvPr/>
        </p:nvSpPr>
        <p:spPr>
          <a:xfrm>
            <a:off x="1005840" y="1737360"/>
            <a:ext cx="9966240" cy="1325160"/>
          </a:xfrm>
          <a:prstGeom prst="rect">
            <a:avLst/>
          </a:prstGeom>
          <a:noFill/>
          <a:ln w="0">
            <a:noFill/>
          </a:ln>
        </p:spPr>
        <p:style>
          <a:lnRef idx="0"/>
          <a:fillRef idx="0"/>
          <a:effectRef idx="0"/>
          <a:fontRef idx="minor"/>
        </p:style>
        <p:txBody>
          <a:bodyPr lIns="360" tIns="360" rIns="360" bIns="360" anchor="ctr">
            <a:normAutofit fontScale="85000" lnSpcReduction="9999"/>
          </a:bodyPr>
          <a:p>
            <a:pPr>
              <a:lnSpc>
                <a:spcPct val="100000"/>
              </a:lnSpc>
            </a:pPr>
            <a:r>
              <a:rPr lang="en-US" sz="1500" b="0" u="none" strike="noStrike">
                <a:solidFill>
                  <a:srgbClr val="111827"/>
                </a:solidFill>
                <a:effectLst/>
                <a:uFillTx/>
                <a:latin typeface="Aptos"/>
              </a:rPr>
              <a:t>Course syllabus: COMP 469 Artificial Intelligence/Neural Nets, Fall 2026.</a:t>
            </a:r>
            <a:endParaRPr lang="en-US" sz="15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00" b="0" u="none" strike="noStrike">
                <a:solidFill>
                  <a:srgbClr val="111827"/>
                </a:solidFill>
                <a:effectLst/>
                <a:uFillTx/>
                <a:latin typeface="Aptos"/>
              </a:rPr>
              <a:t> </a:t>
            </a:r>
            <a:endParaRPr lang="en-US" sz="15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00" b="0" u="none" strike="noStrike">
                <a:solidFill>
                  <a:srgbClr val="111827"/>
                </a:solidFill>
                <a:effectLst/>
                <a:uFillTx/>
                <a:latin typeface="Aptos"/>
              </a:rPr>
              <a:t>AIMA Chapter 1: Introduction.</a:t>
            </a:r>
            <a:endParaRPr lang="en-US" sz="15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00" b="0" u="none" strike="noStrike">
                <a:solidFill>
                  <a:srgbClr val="111827"/>
                </a:solidFill>
                <a:effectLst/>
                <a:uFillTx/>
                <a:latin typeface="Aptos"/>
              </a:rPr>
              <a:t> </a:t>
            </a:r>
            <a:endParaRPr lang="en-US" sz="15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00" b="0" u="none" strike="noStrike">
                <a:solidFill>
                  <a:srgbClr val="111827"/>
                </a:solidFill>
                <a:effectLst/>
                <a:uFillTx/>
                <a:latin typeface="Aptos"/>
              </a:rPr>
              <a:t>AIMA Chapter 2: Intelligent Agents.</a:t>
            </a:r>
            <a:endParaRPr lang="en-US" sz="15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00" b="0" u="none" strike="noStrike">
                <a:solidFill>
                  <a:srgbClr val="111827"/>
                </a:solidFill>
                <a:effectLst/>
                <a:uFillTx/>
                <a:latin typeface="Aptos"/>
              </a:rPr>
              <a:t> </a:t>
            </a:r>
            <a:endParaRPr lang="en-US" sz="15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00" b="0" u="none" strike="noStrike">
                <a:solidFill>
                  <a:srgbClr val="111827"/>
                </a:solidFill>
                <a:effectLst/>
                <a:uFillTx/>
                <a:latin typeface="Aptos"/>
              </a:rPr>
              <a:t>Instructor notebook: grid-world / vacuum agent simulation.</a:t>
            </a:r>
            <a:endParaRPr lang="en-US" sz="1500" b="0" u="none" strike="noStrike">
              <a:solidFill>
                <a:srgbClr val="000000"/>
              </a:solidFill>
              <a:effectLst/>
              <a:uFillTx/>
              <a:latin typeface="Arial"/>
            </a:endParaRPr>
          </a:p>
        </p:txBody>
      </p:sp>
      <p:sp>
        <p:nvSpPr>
          <p:cNvPr id="657" name="Text 5"/>
          <p:cNvSpPr/>
          <p:nvPr/>
        </p:nvSpPr>
        <p:spPr>
          <a:xfrm>
            <a:off x="868680" y="3840480"/>
            <a:ext cx="2925360" cy="25524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2000" b="1" u="none" strike="noStrike">
                <a:solidFill>
                  <a:srgbClr val="002B49"/>
                </a:solidFill>
                <a:effectLst/>
                <a:uFillTx/>
                <a:latin typeface="Aptos"/>
              </a:rPr>
              <a:t>Recommended prep</a:t>
            </a:r>
            <a:endParaRPr lang="en-US" sz="2000" b="0" u="none" strike="noStrike">
              <a:solidFill>
                <a:srgbClr val="000000"/>
              </a:solidFill>
              <a:effectLst/>
              <a:uFillTx/>
              <a:latin typeface="Arial"/>
            </a:endParaRPr>
          </a:p>
        </p:txBody>
      </p:sp>
      <p:sp>
        <p:nvSpPr>
          <p:cNvPr id="658" name="Text 6"/>
          <p:cNvSpPr/>
          <p:nvPr/>
        </p:nvSpPr>
        <p:spPr>
          <a:xfrm>
            <a:off x="1005840" y="4343400"/>
            <a:ext cx="9966240" cy="1005120"/>
          </a:xfrm>
          <a:prstGeom prst="rect">
            <a:avLst/>
          </a:prstGeom>
          <a:noFill/>
          <a:ln w="0">
            <a:noFill/>
          </a:ln>
        </p:spPr>
        <p:style>
          <a:lnRef idx="0"/>
          <a:fillRef idx="0"/>
          <a:effectRef idx="0"/>
          <a:fontRef idx="minor"/>
        </p:style>
        <p:txBody>
          <a:bodyPr lIns="360" tIns="360" rIns="360" bIns="360" anchor="ctr">
            <a:normAutofit fontScale="92500" lnSpcReduction="9999"/>
          </a:bodyPr>
          <a:p>
            <a:pPr>
              <a:lnSpc>
                <a:spcPct val="100000"/>
              </a:lnSpc>
            </a:pPr>
            <a:r>
              <a:rPr lang="en-US" sz="1500" b="0" u="none" strike="noStrike">
                <a:solidFill>
                  <a:srgbClr val="111827"/>
                </a:solidFill>
                <a:effectLst/>
                <a:uFillTx/>
                <a:latin typeface="Aptos"/>
              </a:rPr>
              <a:t>Open Jupyter before class and test the starter notebook.</a:t>
            </a:r>
            <a:endParaRPr lang="en-US" sz="15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00" b="0" u="none" strike="noStrike">
                <a:solidFill>
                  <a:srgbClr val="111827"/>
                </a:solidFill>
                <a:effectLst/>
                <a:uFillTx/>
                <a:latin typeface="Aptos"/>
              </a:rPr>
              <a:t> </a:t>
            </a:r>
            <a:endParaRPr lang="en-US" sz="15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00" b="0" u="none" strike="noStrike">
                <a:solidFill>
                  <a:srgbClr val="111827"/>
                </a:solidFill>
                <a:effectLst/>
                <a:uFillTx/>
                <a:latin typeface="Aptos"/>
              </a:rPr>
              <a:t>Have one completed trace ready in case the live demo fails.</a:t>
            </a:r>
            <a:endParaRPr lang="en-US" sz="15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00" b="0" u="none" strike="noStrike">
                <a:solidFill>
                  <a:srgbClr val="111827"/>
                </a:solidFill>
                <a:effectLst/>
                <a:uFillTx/>
                <a:latin typeface="Aptos"/>
              </a:rPr>
              <a:t> </a:t>
            </a:r>
            <a:endParaRPr lang="en-US" sz="1500" b="0" u="none" strike="noStrike">
              <a:solidFill>
                <a:srgbClr val="000000"/>
              </a:solidFill>
              <a:effectLst/>
              <a:uFillTx/>
              <a:latin typeface="Arial"/>
            </a:endParaRPr>
          </a:p>
          <a:p>
            <a:pPr marL="228600" indent="-228600" defTabSz="914400">
              <a:lnSpc>
                <a:spcPct val="100000"/>
              </a:lnSpc>
              <a:buClr>
                <a:srgbClr val="111827"/>
              </a:buClr>
              <a:buFont typeface="Symbol" charset="2"/>
              <a:buChar char=""/>
            </a:pPr>
            <a:r>
              <a:rPr lang="en-US" sz="1500" b="0" u="none" strike="noStrike">
                <a:solidFill>
                  <a:srgbClr val="111827"/>
                </a:solidFill>
                <a:effectLst/>
                <a:uFillTx/>
                <a:latin typeface="Aptos"/>
              </a:rPr>
              <a:t>Decide whether the lab is individual, pairs, or small groups.</a:t>
            </a:r>
            <a:endParaRPr lang="en-US" sz="1500" b="0" u="none" strike="noStrike">
              <a:solidFill>
                <a:srgbClr val="000000"/>
              </a:solidFill>
              <a:effectLst/>
              <a:uFillTx/>
              <a:latin typeface="Arial"/>
            </a:endParaRPr>
          </a:p>
        </p:txBody>
      </p:sp>
      <p:sp>
        <p:nvSpPr>
          <p:cNvPr id="659" name="Text 7"/>
          <p:cNvSpPr/>
          <p:nvPr/>
        </p:nvSpPr>
        <p:spPr>
          <a:xfrm>
            <a:off x="502920" y="6537960"/>
            <a:ext cx="53028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rPr>
              <a:t>COMP 469 | AI Agents and Foundations</a:t>
            </a:r>
            <a:endParaRPr lang="en-US" sz="850" b="0" u="none" strike="noStrike">
              <a:solidFill>
                <a:srgbClr val="000000"/>
              </a:solidFill>
              <a:effectLst/>
              <a:uFillTx/>
              <a:latin typeface="Arial"/>
            </a:endParaRPr>
          </a:p>
        </p:txBody>
      </p:sp>
      <p:sp>
        <p:nvSpPr>
          <p:cNvPr id="660" name="Text 8"/>
          <p:cNvSpPr/>
          <p:nvPr/>
        </p:nvSpPr>
        <p:spPr>
          <a:xfrm>
            <a:off x="11109960" y="6510600"/>
            <a:ext cx="502200" cy="182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rPr>
              <a:t>35</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42</TotalTime>
  <Application>LibreOffice/26.2.4.2$Linux_X86_64 LibreOffice_project/620$Build-2</Application>
  <AppVersion>15.0000</AppVersion>
  <Words>0</Words>
  <Paragraphs>0</Paragraphs>
  <Company>California State University Channel Islands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2026-06-07T05:45:17Z</dcterms:created>
  <dc:creator>COMP 469 - CSU Channel Islands</dc:creator>
  <dc:description/>
  <dc:language>en-US</dc:language>
  <cp:lastModifiedBy/>
  <dcterms:modified xsi:type="dcterms:W3CDTF">2026-07-25T00:34:27Z</dcterms:modified>
  <cp:revision>5</cp:revision>
  <dc:subject>Two-hour lecture: AI Agents and Foundations</dc:subject>
  <dc:title>COMP 469 - AI Agents and Foundations - Two Hour Lecture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35</vt:i4>
  </property>
  <property fmtid="{D5CDD505-2E9C-101B-9397-08002B2CF9AE}" pid="3" name="PresentationFormat">
    <vt:lpwstr>On-screen Show (16:9)</vt:lpwstr>
  </property>
  <property fmtid="{D5CDD505-2E9C-101B-9397-08002B2CF9AE}" pid="4" name="Slides">
    <vt:i4>35</vt:i4>
  </property>
</Properties>
</file>