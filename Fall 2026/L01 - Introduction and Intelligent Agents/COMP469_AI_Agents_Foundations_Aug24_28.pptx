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0:00-0:03. Welcome students and frame the lecture as the launch point for the course. The goal is not to memorize definitions, but to learn the agent lens that will organize the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0:03-0:06. Show students the pacing. Make it clear that the lab is not separate from the lecture; the lecture concepts become variables, functions, and simulation traces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0:06-0:10. Connect this slide to the syllabus. Mention that Weekday classes begin Aug 24 and that students should use CI Learn for the latest materials and due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0:10-0:13. This is the contract for the lecture. Tell students that these outcomes also predict what the lab asks them to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0:13-0:18. Confirm students can open notebooks and know where files are posted. Emphasize that a GPU is not required for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0:18-0:22. Ground this in the syllabus. Students may use AI agents for help, but they must understand and explain their own submissions.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0:22-0:30. Give students 2 minutes to think, 2 minutes to pair, and take 3-4 examples. Translate each example into perception, action, objective, and adaptation.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0:30-0:37. Explain the matrix and why the rational-agent approach is useful for design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0:37-0:42. This prepares students for value alignment and performance measure pitfalls without going too deep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0:42-0:48. Tie the agent loop directly to Chapter 2. Ask students to point to sensors and actuators in a phone, a robot vacuum, and a recommendation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0:48-0:53. Students often confuse percept with state. Explain that the agent may not know the true state; it only receives percepts.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0:53-0:58. Use the table-driven agent as a thought experiment. The point is not that tables are impossible in small examples; the point is that general intelligence needs compact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0:58-1:05. Have students identify proxy metrics and failure modes. This is a gentle introduction to objective specification and value alignment.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1:05-1:10. Use this to prevent hindsight bias. Make the phrase expected performance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1:10-1:17. Small-group discussion. Ask each group to defend one judgment. Keep the focus on evidence and performance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1:17-1:22.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1:22-1:27. Emphasize that PEAS is a design discipline. Students should not jump to code before specifying the task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1:27-1:34. Use the taxi to show that PEAS is not just a table; it exposes conflicting objectives and environment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1:34-1:40. This slide bridges to lab. Ask: what if the location sensor is removed? What if movement has a cost? What if dirt reappears?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1:40-1:46. Give one quick example for each property. Avoid over-defining; the goal is to prepare students to classify the lab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1:46-1:52. Let students answer quickly. Reinforce that environment properties determine the appropriate agent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1:52-1:58. Present this as a progression of what information is represented explicitly. This sets up future weeks on search, planning, uncertainty, and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1:58-2:03 if extended; otherwise compress. If running exactly two hours, use this and the next several slides as lab support material after the main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when moving beyond simple reflex. If the grid-world agent cannot see all cells, it needs memory or a belief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goal-based agents to search and planning in later weeks. Connect utility-based agents to uncertainty and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introduce the learning agent architecture. Do not go deep; the goal is to show why simulation and performance measures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quick diagnostic. Ask how many students have used notebooks and Python classes. Adjust lab pacing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line. Connect env.perceive and env.step to sensors and actuators. The print trace is the simplest debugging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lab setup. Ask students to describe a state representation. Then ask what information the agent does and does not receive.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deliverables concrete. A short trace and short reflection are more valuable than a large untested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normalize debugging. Encourage students to print state and action at every time step until behavior is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permits, use this activity near the end. Otherwise assign it as a short in-class check or Canvas discussion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the last five minutes. This gives you a quick diagnostic of whether students understand PEAS, performance measures, and environment properties.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summary. Remind students where to find the notebook and what to prepare.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Backup/reference slide. Hide it before presenting if you prefer.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49"/>
        </a:solidFill>
      </p:bgPr>
    </p:bg>
    <p:spTree>
      <p:nvGrpSpPr>
        <p:cNvPr id="1" name=""/>
        <p:cNvGrpSpPr/>
        <p:nvPr/>
      </p:nvGrpSpPr>
      <p:grpSpPr>
        <a:xfrm>
          <a:off x="0" y="0"/>
          <a:ext cx="0" cy="0"/>
          <a:chOff x="0" y="0"/>
          <a:chExt cx="0" cy="0"/>
        </a:xfrm>
      </p:grpSpPr>
      <p:pic>
        <p:nvPicPr>
          <p:cNvPr id="2" name="Image 0" descr="/mnt/data/wide_cinematic_futuristic_scene_a_dark_blue_nigh.png">    </p:cNvPr>
          <p:cNvPicPr>
            <a:picLocks noChangeAspect="1"/>
          </p:cNvPicPr>
          <p:nvPr/>
        </p:nvPicPr>
        <p:blipFill>
          <a:blip r:embed="rId1"/>
          <a:srcRect l="42000" r="9374" t="0" b="0"/>
          <a:stretch/>
        </p:blipFill>
        <p:spPr>
          <a:xfrm>
            <a:off x="6263640" y="0"/>
            <a:ext cx="5925312" cy="6858000"/>
          </a:xfrm>
          <a:prstGeom prst="rect">
            <a:avLst/>
          </a:prstGeom>
        </p:spPr>
      </p:pic>
      <p:sp>
        <p:nvSpPr>
          <p:cNvPr id="3" name="Shape 0"/>
          <p:cNvSpPr/>
          <p:nvPr/>
        </p:nvSpPr>
        <p:spPr>
          <a:xfrm>
            <a:off x="6035040" y="0"/>
            <a:ext cx="228600" cy="6858000"/>
          </a:xfrm>
          <a:prstGeom prst="rect">
            <a:avLst/>
          </a:prstGeom>
          <a:solidFill>
            <a:srgbClr val="C99700"/>
          </a:solidFill>
          <a:ln w="12700">
            <a:solidFill>
              <a:srgbClr val="C99700"/>
            </a:solidFill>
            <a:prstDash val="solid"/>
          </a:ln>
        </p:spPr>
      </p:sp>
      <p:sp>
        <p:nvSpPr>
          <p:cNvPr id="4" name="Text 1"/>
          <p:cNvSpPr/>
          <p:nvPr/>
        </p:nvSpPr>
        <p:spPr>
          <a:xfrm>
            <a:off x="658368" y="658368"/>
            <a:ext cx="2103120" cy="228600"/>
          </a:xfrm>
          <a:prstGeom prst="rect">
            <a:avLst/>
          </a:prstGeom>
          <a:noFill/>
          <a:ln/>
        </p:spPr>
        <p:txBody>
          <a:bodyPr wrap="square" lIns="254" tIns="254" rIns="254" bIns="254" rtlCol="0" anchor="t">
            <a:normAutofit/>
          </a:bodyPr>
          <a:lstStyle/>
          <a:p>
            <a:pPr algn="l" indent="0" marL="0">
              <a:buNone/>
            </a:pPr>
            <a:r>
              <a:rPr lang="en-US" sz="1400" b="1" dirty="0">
                <a:solidFill>
                  <a:srgbClr val="C99700"/>
                </a:solidFill>
              </a:rPr>
              <a:t>COMP 469</a:t>
            </a:r>
            <a:endParaRPr lang="en-US" sz="1400" dirty="0"/>
          </a:p>
        </p:txBody>
      </p:sp>
      <p:sp>
        <p:nvSpPr>
          <p:cNvPr id="5" name="Text 2"/>
          <p:cNvSpPr/>
          <p:nvPr/>
        </p:nvSpPr>
        <p:spPr>
          <a:xfrm>
            <a:off x="640080" y="1234440"/>
            <a:ext cx="5074920" cy="1325880"/>
          </a:xfrm>
          <a:prstGeom prst="rect">
            <a:avLst/>
          </a:prstGeom>
          <a:noFill/>
          <a:ln/>
        </p:spPr>
        <p:txBody>
          <a:bodyPr wrap="square" lIns="254" tIns="254" rIns="254" bIns="254" rtlCol="0" anchor="t">
            <a:normAutofit/>
          </a:bodyPr>
          <a:lstStyle/>
          <a:p>
            <a:pPr algn="l" indent="0" marL="0">
              <a:buNone/>
            </a:pPr>
            <a:r>
              <a:rPr lang="en-US" sz="4200" b="1" dirty="0">
                <a:solidFill>
                  <a:srgbClr val="FFFFFF"/>
                </a:solidFill>
              </a:rPr>
              <a:t>AI Agents</a:t>
            </a:r>
            <a:endParaRPr lang="en-US" sz="4200" dirty="0"/>
          </a:p>
          <a:p>
            <a:pPr algn="l" indent="0" marL="0">
              <a:buNone/>
            </a:pPr>
            <a:r>
              <a:rPr lang="en-US" sz="4200" b="1" dirty="0">
                <a:solidFill>
                  <a:srgbClr val="FFFFFF"/>
                </a:solidFill>
              </a:rPr>
              <a:t>and Foundations</a:t>
            </a:r>
            <a:endParaRPr lang="en-US" sz="4200" dirty="0"/>
          </a:p>
        </p:txBody>
      </p:sp>
      <p:sp>
        <p:nvSpPr>
          <p:cNvPr id="6" name="Text 3"/>
          <p:cNvSpPr/>
          <p:nvPr/>
        </p:nvSpPr>
        <p:spPr>
          <a:xfrm>
            <a:off x="658368" y="2880360"/>
            <a:ext cx="5029200" cy="320040"/>
          </a:xfrm>
          <a:prstGeom prst="rect">
            <a:avLst/>
          </a:prstGeom>
          <a:noFill/>
          <a:ln/>
        </p:spPr>
        <p:txBody>
          <a:bodyPr wrap="square" lIns="254" tIns="254" rIns="254" bIns="254" rtlCol="0" anchor="t">
            <a:normAutofit/>
          </a:bodyPr>
          <a:lstStyle/>
          <a:p>
            <a:pPr algn="l" indent="0" marL="0">
              <a:buNone/>
            </a:pPr>
            <a:r>
              <a:rPr lang="en-US" sz="1500" dirty="0">
                <a:solidFill>
                  <a:srgbClr val="DDE6F2"/>
                </a:solidFill>
              </a:rPr>
              <a:t>Two-hour lecture | Aug 24-28 | CSU Channel Islands</a:t>
            </a:r>
            <a:endParaRPr lang="en-US" sz="1500" dirty="0"/>
          </a:p>
        </p:txBody>
      </p:sp>
      <p:sp>
        <p:nvSpPr>
          <p:cNvPr id="7" name="Shape 4"/>
          <p:cNvSpPr/>
          <p:nvPr/>
        </p:nvSpPr>
        <p:spPr>
          <a:xfrm>
            <a:off x="658368" y="3840480"/>
            <a:ext cx="4709160" cy="868680"/>
          </a:xfrm>
          <a:prstGeom prst="roundRect">
            <a:avLst>
              <a:gd name="adj" fmla="val 12632"/>
            </a:avLst>
          </a:prstGeom>
          <a:solidFill>
            <a:srgbClr val="123B5A"/>
          </a:solidFill>
          <a:ln w="15240">
            <a:solidFill>
              <a:srgbClr val="C99700"/>
            </a:solidFill>
            <a:prstDash val="solid"/>
          </a:ln>
        </p:spPr>
      </p:sp>
      <p:sp>
        <p:nvSpPr>
          <p:cNvPr id="8" name="Text 5"/>
          <p:cNvSpPr/>
          <p:nvPr/>
        </p:nvSpPr>
        <p:spPr>
          <a:xfrm>
            <a:off x="859536" y="4023360"/>
            <a:ext cx="4306824" cy="548640"/>
          </a:xfrm>
          <a:prstGeom prst="rect">
            <a:avLst/>
          </a:prstGeom>
          <a:noFill/>
          <a:ln/>
        </p:spPr>
        <p:txBody>
          <a:bodyPr wrap="square" lIns="254" tIns="254" rIns="254" bIns="254" rtlCol="0" anchor="ctr">
            <a:normAutofit/>
          </a:bodyPr>
          <a:lstStyle/>
          <a:p>
            <a:pPr algn="ctr" indent="0" marL="0">
              <a:buNone/>
            </a:pPr>
            <a:r>
              <a:rPr lang="en-US" sz="1600" b="1" dirty="0">
                <a:solidFill>
                  <a:srgbClr val="FFFFFF"/>
                </a:solidFill>
              </a:rPr>
              <a:t>Week 1: define intelligence, build agent vocabulary, and prepare for the grid-world lab.</a:t>
            </a:r>
            <a:endParaRPr lang="en-US" sz="1600" dirty="0"/>
          </a:p>
        </p:txBody>
      </p:sp>
      <p:sp>
        <p:nvSpPr>
          <p:cNvPr id="9" name="Text 6"/>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CSU Channel Islands</a:t>
            </a:r>
            <a:endParaRPr lang="en-US" sz="850" dirty="0"/>
          </a:p>
        </p:txBody>
      </p:sp>
      <p:sp>
        <p:nvSpPr>
          <p:cNvPr id="10" name="Text 7"/>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Two-hour lecture map</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A time-boxed flow aligned to Week 1 of the syllabus.</a:t>
            </a:r>
            <a:endParaRPr lang="en-US" sz="1150" dirty="0"/>
          </a:p>
        </p:txBody>
      </p:sp>
      <p:sp>
        <p:nvSpPr>
          <p:cNvPr id="5" name="Shape 3"/>
          <p:cNvSpPr/>
          <p:nvPr/>
        </p:nvSpPr>
        <p:spPr>
          <a:xfrm>
            <a:off x="822960" y="1828800"/>
            <a:ext cx="10378440" cy="0"/>
          </a:xfrm>
          <a:prstGeom prst="line">
            <a:avLst/>
          </a:prstGeom>
          <a:noFill/>
          <a:ln w="25400">
            <a:solidFill>
              <a:srgbClr val="CBD5E1"/>
            </a:solidFill>
            <a:prstDash val="solid"/>
          </a:ln>
        </p:spPr>
      </p:sp>
      <p:sp>
        <p:nvSpPr>
          <p:cNvPr id="6" name="Shape 4"/>
          <p:cNvSpPr/>
          <p:nvPr/>
        </p:nvSpPr>
        <p:spPr>
          <a:xfrm>
            <a:off x="914400" y="1554480"/>
            <a:ext cx="566928" cy="566928"/>
          </a:xfrm>
          <a:prstGeom prst="ellipse">
            <a:avLst/>
          </a:prstGeom>
          <a:solidFill>
            <a:srgbClr val="C99700"/>
          </a:solidFill>
          <a:ln w="12700">
            <a:solidFill>
              <a:srgbClr val="C99700"/>
            </a:solidFill>
            <a:prstDash val="solid"/>
          </a:ln>
        </p:spPr>
      </p:sp>
      <p:sp>
        <p:nvSpPr>
          <p:cNvPr id="7" name="Text 5"/>
          <p:cNvSpPr/>
          <p:nvPr/>
        </p:nvSpPr>
        <p:spPr>
          <a:xfrm>
            <a:off x="914400" y="1691640"/>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1</a:t>
            </a:r>
            <a:endParaRPr lang="en-US" sz="1400" dirty="0"/>
          </a:p>
        </p:txBody>
      </p:sp>
      <p:sp>
        <p:nvSpPr>
          <p:cNvPr id="8" name="Text 6"/>
          <p:cNvSpPr/>
          <p:nvPr/>
        </p:nvSpPr>
        <p:spPr>
          <a:xfrm>
            <a:off x="502920" y="2258568"/>
            <a:ext cx="1569720" cy="201168"/>
          </a:xfrm>
          <a:prstGeom prst="rect">
            <a:avLst/>
          </a:prstGeom>
          <a:noFill/>
          <a:ln/>
        </p:spPr>
        <p:txBody>
          <a:bodyPr wrap="square" lIns="254" tIns="254" rIns="254" bIns="254" rtlCol="0" anchor="t">
            <a:normAutofit/>
          </a:bodyPr>
          <a:lstStyle/>
          <a:p>
            <a:pPr algn="ctr" indent="0" marL="0">
              <a:buNone/>
            </a:pPr>
            <a:r>
              <a:rPr lang="en-US" sz="1250" b="1" dirty="0">
                <a:solidFill>
                  <a:srgbClr val="002B49"/>
                </a:solidFill>
              </a:rPr>
              <a:t>Launch</a:t>
            </a:r>
            <a:endParaRPr lang="en-US" sz="1250" dirty="0"/>
          </a:p>
        </p:txBody>
      </p:sp>
      <p:sp>
        <p:nvSpPr>
          <p:cNvPr id="9" name="Text 7"/>
          <p:cNvSpPr/>
          <p:nvPr/>
        </p:nvSpPr>
        <p:spPr>
          <a:xfrm>
            <a:off x="411480" y="2560320"/>
            <a:ext cx="1661160" cy="530352"/>
          </a:xfrm>
          <a:prstGeom prst="rect">
            <a:avLst/>
          </a:prstGeom>
          <a:noFill/>
          <a:ln/>
        </p:spPr>
        <p:txBody>
          <a:bodyPr wrap="square" lIns="254" tIns="254" rIns="254" bIns="254" rtlCol="0" anchor="t">
            <a:normAutofit/>
          </a:bodyPr>
          <a:lstStyle/>
          <a:p>
            <a:pPr algn="ctr" indent="0" marL="0">
              <a:buNone/>
            </a:pPr>
            <a:r>
              <a:rPr lang="en-US" sz="1050" dirty="0">
                <a:solidFill>
                  <a:srgbClr val="475467"/>
                </a:solidFill>
              </a:rPr>
              <a:t>Course frame, expectations, tooling</a:t>
            </a:r>
            <a:endParaRPr lang="en-US" sz="1050" dirty="0"/>
          </a:p>
        </p:txBody>
      </p:sp>
      <p:sp>
        <p:nvSpPr>
          <p:cNvPr id="10" name="Shape 8"/>
          <p:cNvSpPr/>
          <p:nvPr/>
        </p:nvSpPr>
        <p:spPr>
          <a:xfrm>
            <a:off x="2667000" y="1554480"/>
            <a:ext cx="566928" cy="566928"/>
          </a:xfrm>
          <a:prstGeom prst="ellipse">
            <a:avLst/>
          </a:prstGeom>
          <a:solidFill>
            <a:srgbClr val="0E7C86"/>
          </a:solidFill>
          <a:ln w="12700">
            <a:solidFill>
              <a:srgbClr val="0E7C86"/>
            </a:solidFill>
            <a:prstDash val="solid"/>
          </a:ln>
        </p:spPr>
      </p:sp>
      <p:sp>
        <p:nvSpPr>
          <p:cNvPr id="11" name="Text 9"/>
          <p:cNvSpPr/>
          <p:nvPr/>
        </p:nvSpPr>
        <p:spPr>
          <a:xfrm>
            <a:off x="2667000" y="1691640"/>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2</a:t>
            </a:r>
            <a:endParaRPr lang="en-US" sz="1400" dirty="0"/>
          </a:p>
        </p:txBody>
      </p:sp>
      <p:sp>
        <p:nvSpPr>
          <p:cNvPr id="12" name="Text 10"/>
          <p:cNvSpPr/>
          <p:nvPr/>
        </p:nvSpPr>
        <p:spPr>
          <a:xfrm>
            <a:off x="2255520" y="2258568"/>
            <a:ext cx="1569720" cy="201168"/>
          </a:xfrm>
          <a:prstGeom prst="rect">
            <a:avLst/>
          </a:prstGeom>
          <a:noFill/>
          <a:ln/>
        </p:spPr>
        <p:txBody>
          <a:bodyPr wrap="square" lIns="254" tIns="254" rIns="254" bIns="254" rtlCol="0" anchor="t">
            <a:normAutofit/>
          </a:bodyPr>
          <a:lstStyle/>
          <a:p>
            <a:pPr algn="ctr" indent="0" marL="0">
              <a:buNone/>
            </a:pPr>
            <a:r>
              <a:rPr lang="en-US" sz="1250" b="1" dirty="0">
                <a:solidFill>
                  <a:srgbClr val="002B49"/>
                </a:solidFill>
              </a:rPr>
              <a:t>What is AI?</a:t>
            </a:r>
            <a:endParaRPr lang="en-US" sz="1250" dirty="0"/>
          </a:p>
        </p:txBody>
      </p:sp>
      <p:sp>
        <p:nvSpPr>
          <p:cNvPr id="13" name="Text 11"/>
          <p:cNvSpPr/>
          <p:nvPr/>
        </p:nvSpPr>
        <p:spPr>
          <a:xfrm>
            <a:off x="2164080" y="2560320"/>
            <a:ext cx="1661160" cy="530352"/>
          </a:xfrm>
          <a:prstGeom prst="rect">
            <a:avLst/>
          </a:prstGeom>
          <a:noFill/>
          <a:ln/>
        </p:spPr>
        <p:txBody>
          <a:bodyPr wrap="square" lIns="254" tIns="254" rIns="254" bIns="254" rtlCol="0" anchor="t">
            <a:normAutofit/>
          </a:bodyPr>
          <a:lstStyle/>
          <a:p>
            <a:pPr algn="ctr" indent="0" marL="0">
              <a:buNone/>
            </a:pPr>
            <a:r>
              <a:rPr lang="en-US" sz="1050" dirty="0">
                <a:solidFill>
                  <a:srgbClr val="475467"/>
                </a:solidFill>
              </a:rPr>
              <a:t>Four views and rational-agent stance</a:t>
            </a:r>
            <a:endParaRPr lang="en-US" sz="1050" dirty="0"/>
          </a:p>
        </p:txBody>
      </p:sp>
      <p:sp>
        <p:nvSpPr>
          <p:cNvPr id="14" name="Shape 12"/>
          <p:cNvSpPr/>
          <p:nvPr/>
        </p:nvSpPr>
        <p:spPr>
          <a:xfrm>
            <a:off x="4419600" y="1554480"/>
            <a:ext cx="566928" cy="566928"/>
          </a:xfrm>
          <a:prstGeom prst="ellipse">
            <a:avLst/>
          </a:prstGeom>
          <a:solidFill>
            <a:srgbClr val="3273DC"/>
          </a:solidFill>
          <a:ln w="12700">
            <a:solidFill>
              <a:srgbClr val="3273DC"/>
            </a:solidFill>
            <a:prstDash val="solid"/>
          </a:ln>
        </p:spPr>
      </p:sp>
      <p:sp>
        <p:nvSpPr>
          <p:cNvPr id="15" name="Text 13"/>
          <p:cNvSpPr/>
          <p:nvPr/>
        </p:nvSpPr>
        <p:spPr>
          <a:xfrm>
            <a:off x="4419600" y="1691640"/>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3</a:t>
            </a:r>
            <a:endParaRPr lang="en-US" sz="1400" dirty="0"/>
          </a:p>
        </p:txBody>
      </p:sp>
      <p:sp>
        <p:nvSpPr>
          <p:cNvPr id="16" name="Text 14"/>
          <p:cNvSpPr/>
          <p:nvPr/>
        </p:nvSpPr>
        <p:spPr>
          <a:xfrm>
            <a:off x="4008120" y="2258568"/>
            <a:ext cx="1569720" cy="201168"/>
          </a:xfrm>
          <a:prstGeom prst="rect">
            <a:avLst/>
          </a:prstGeom>
          <a:noFill/>
          <a:ln/>
        </p:spPr>
        <p:txBody>
          <a:bodyPr wrap="square" lIns="254" tIns="254" rIns="254" bIns="254" rtlCol="0" anchor="t">
            <a:normAutofit/>
          </a:bodyPr>
          <a:lstStyle/>
          <a:p>
            <a:pPr algn="ctr" indent="0" marL="0">
              <a:buNone/>
            </a:pPr>
            <a:r>
              <a:rPr lang="en-US" sz="1250" b="1" dirty="0">
                <a:solidFill>
                  <a:srgbClr val="002B49"/>
                </a:solidFill>
              </a:rPr>
              <a:t>Agents</a:t>
            </a:r>
            <a:endParaRPr lang="en-US" sz="1250" dirty="0"/>
          </a:p>
        </p:txBody>
      </p:sp>
      <p:sp>
        <p:nvSpPr>
          <p:cNvPr id="17" name="Text 15"/>
          <p:cNvSpPr/>
          <p:nvPr/>
        </p:nvSpPr>
        <p:spPr>
          <a:xfrm>
            <a:off x="3916680" y="2560320"/>
            <a:ext cx="1661160" cy="530352"/>
          </a:xfrm>
          <a:prstGeom prst="rect">
            <a:avLst/>
          </a:prstGeom>
          <a:noFill/>
          <a:ln/>
        </p:spPr>
        <p:txBody>
          <a:bodyPr wrap="square" lIns="254" tIns="254" rIns="254" bIns="254" rtlCol="0" anchor="t">
            <a:normAutofit/>
          </a:bodyPr>
          <a:lstStyle/>
          <a:p>
            <a:pPr algn="ctr" indent="0" marL="0">
              <a:buNone/>
            </a:pPr>
            <a:r>
              <a:rPr lang="en-US" sz="1050" dirty="0">
                <a:solidFill>
                  <a:srgbClr val="475467"/>
                </a:solidFill>
              </a:rPr>
              <a:t>Percepts, actions, rationality</a:t>
            </a:r>
            <a:endParaRPr lang="en-US" sz="1050" dirty="0"/>
          </a:p>
        </p:txBody>
      </p:sp>
      <p:sp>
        <p:nvSpPr>
          <p:cNvPr id="18" name="Shape 16"/>
          <p:cNvSpPr/>
          <p:nvPr/>
        </p:nvSpPr>
        <p:spPr>
          <a:xfrm>
            <a:off x="6172200" y="1554480"/>
            <a:ext cx="566928" cy="566928"/>
          </a:xfrm>
          <a:prstGeom prst="ellipse">
            <a:avLst/>
          </a:prstGeom>
          <a:solidFill>
            <a:srgbClr val="6B46C1"/>
          </a:solidFill>
          <a:ln w="12700">
            <a:solidFill>
              <a:srgbClr val="6B46C1"/>
            </a:solidFill>
            <a:prstDash val="solid"/>
          </a:ln>
        </p:spPr>
      </p:sp>
      <p:sp>
        <p:nvSpPr>
          <p:cNvPr id="19" name="Text 17"/>
          <p:cNvSpPr/>
          <p:nvPr/>
        </p:nvSpPr>
        <p:spPr>
          <a:xfrm>
            <a:off x="6172200" y="1691640"/>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4</a:t>
            </a:r>
            <a:endParaRPr lang="en-US" sz="1400" dirty="0"/>
          </a:p>
        </p:txBody>
      </p:sp>
      <p:sp>
        <p:nvSpPr>
          <p:cNvPr id="20" name="Text 18"/>
          <p:cNvSpPr/>
          <p:nvPr/>
        </p:nvSpPr>
        <p:spPr>
          <a:xfrm>
            <a:off x="5760720" y="2258568"/>
            <a:ext cx="1569720" cy="201168"/>
          </a:xfrm>
          <a:prstGeom prst="rect">
            <a:avLst/>
          </a:prstGeom>
          <a:noFill/>
          <a:ln/>
        </p:spPr>
        <p:txBody>
          <a:bodyPr wrap="square" lIns="254" tIns="254" rIns="254" bIns="254" rtlCol="0" anchor="t">
            <a:normAutofit/>
          </a:bodyPr>
          <a:lstStyle/>
          <a:p>
            <a:pPr algn="ctr" indent="0" marL="0">
              <a:buNone/>
            </a:pPr>
            <a:r>
              <a:rPr lang="en-US" sz="1250" b="1" dirty="0">
                <a:solidFill>
                  <a:srgbClr val="002B49"/>
                </a:solidFill>
              </a:rPr>
              <a:t>PEAS</a:t>
            </a:r>
            <a:endParaRPr lang="en-US" sz="1250" dirty="0"/>
          </a:p>
        </p:txBody>
      </p:sp>
      <p:sp>
        <p:nvSpPr>
          <p:cNvPr id="21" name="Text 19"/>
          <p:cNvSpPr/>
          <p:nvPr/>
        </p:nvSpPr>
        <p:spPr>
          <a:xfrm>
            <a:off x="5669280" y="2560320"/>
            <a:ext cx="1661160" cy="530352"/>
          </a:xfrm>
          <a:prstGeom prst="rect">
            <a:avLst/>
          </a:prstGeom>
          <a:noFill/>
          <a:ln/>
        </p:spPr>
        <p:txBody>
          <a:bodyPr wrap="square" lIns="254" tIns="254" rIns="254" bIns="254" rtlCol="0" anchor="t">
            <a:normAutofit/>
          </a:bodyPr>
          <a:lstStyle/>
          <a:p>
            <a:pPr algn="ctr" indent="0" marL="0">
              <a:buNone/>
            </a:pPr>
            <a:r>
              <a:rPr lang="en-US" sz="1050" dirty="0">
                <a:solidFill>
                  <a:srgbClr val="475467"/>
                </a:solidFill>
              </a:rPr>
              <a:t>Specify task environments before code</a:t>
            </a:r>
            <a:endParaRPr lang="en-US" sz="1050" dirty="0"/>
          </a:p>
        </p:txBody>
      </p:sp>
      <p:sp>
        <p:nvSpPr>
          <p:cNvPr id="22" name="Shape 20"/>
          <p:cNvSpPr/>
          <p:nvPr/>
        </p:nvSpPr>
        <p:spPr>
          <a:xfrm>
            <a:off x="7924800" y="1554480"/>
            <a:ext cx="566928" cy="566928"/>
          </a:xfrm>
          <a:prstGeom prst="ellipse">
            <a:avLst/>
          </a:prstGeom>
          <a:solidFill>
            <a:srgbClr val="2F855A"/>
          </a:solidFill>
          <a:ln w="12700">
            <a:solidFill>
              <a:srgbClr val="2F855A"/>
            </a:solidFill>
            <a:prstDash val="solid"/>
          </a:ln>
        </p:spPr>
      </p:sp>
      <p:sp>
        <p:nvSpPr>
          <p:cNvPr id="23" name="Text 21"/>
          <p:cNvSpPr/>
          <p:nvPr/>
        </p:nvSpPr>
        <p:spPr>
          <a:xfrm>
            <a:off x="7924800" y="1691640"/>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5</a:t>
            </a:r>
            <a:endParaRPr lang="en-US" sz="1400" dirty="0"/>
          </a:p>
        </p:txBody>
      </p:sp>
      <p:sp>
        <p:nvSpPr>
          <p:cNvPr id="24" name="Text 22"/>
          <p:cNvSpPr/>
          <p:nvPr/>
        </p:nvSpPr>
        <p:spPr>
          <a:xfrm>
            <a:off x="7513320" y="2258568"/>
            <a:ext cx="1569720" cy="201168"/>
          </a:xfrm>
          <a:prstGeom prst="rect">
            <a:avLst/>
          </a:prstGeom>
          <a:noFill/>
          <a:ln/>
        </p:spPr>
        <p:txBody>
          <a:bodyPr wrap="square" lIns="254" tIns="254" rIns="254" bIns="254" rtlCol="0" anchor="t">
            <a:normAutofit/>
          </a:bodyPr>
          <a:lstStyle/>
          <a:p>
            <a:pPr algn="ctr" indent="0" marL="0">
              <a:buNone/>
            </a:pPr>
            <a:r>
              <a:rPr lang="en-US" sz="1250" b="1" dirty="0">
                <a:solidFill>
                  <a:srgbClr val="002B49"/>
                </a:solidFill>
              </a:rPr>
              <a:t>Lab</a:t>
            </a:r>
            <a:endParaRPr lang="en-US" sz="1250" dirty="0"/>
          </a:p>
        </p:txBody>
      </p:sp>
      <p:sp>
        <p:nvSpPr>
          <p:cNvPr id="25" name="Text 23"/>
          <p:cNvSpPr/>
          <p:nvPr/>
        </p:nvSpPr>
        <p:spPr>
          <a:xfrm>
            <a:off x="7421880" y="2560320"/>
            <a:ext cx="1661160" cy="530352"/>
          </a:xfrm>
          <a:prstGeom prst="rect">
            <a:avLst/>
          </a:prstGeom>
          <a:noFill/>
          <a:ln/>
        </p:spPr>
        <p:txBody>
          <a:bodyPr wrap="square" lIns="254" tIns="254" rIns="254" bIns="254" rtlCol="0" anchor="t">
            <a:normAutofit/>
          </a:bodyPr>
          <a:lstStyle/>
          <a:p>
            <a:pPr algn="ctr" indent="0" marL="0">
              <a:buNone/>
            </a:pPr>
            <a:r>
              <a:rPr lang="en-US" sz="1050" dirty="0">
                <a:solidFill>
                  <a:srgbClr val="475467"/>
                </a:solidFill>
              </a:rPr>
              <a:t>Grid-world agent in Python/Jupyter</a:t>
            </a:r>
            <a:endParaRPr lang="en-US" sz="1050" dirty="0"/>
          </a:p>
        </p:txBody>
      </p:sp>
      <p:sp>
        <p:nvSpPr>
          <p:cNvPr id="26" name="Shape 24"/>
          <p:cNvSpPr/>
          <p:nvPr/>
        </p:nvSpPr>
        <p:spPr>
          <a:xfrm>
            <a:off x="9677400" y="1554480"/>
            <a:ext cx="566928" cy="566928"/>
          </a:xfrm>
          <a:prstGeom prst="ellipse">
            <a:avLst/>
          </a:prstGeom>
          <a:solidFill>
            <a:srgbClr val="DD6B20"/>
          </a:solidFill>
          <a:ln w="12700">
            <a:solidFill>
              <a:srgbClr val="DD6B20"/>
            </a:solidFill>
            <a:prstDash val="solid"/>
          </a:ln>
        </p:spPr>
      </p:sp>
      <p:sp>
        <p:nvSpPr>
          <p:cNvPr id="27" name="Text 25"/>
          <p:cNvSpPr/>
          <p:nvPr/>
        </p:nvSpPr>
        <p:spPr>
          <a:xfrm>
            <a:off x="9677400" y="1691640"/>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6</a:t>
            </a:r>
            <a:endParaRPr lang="en-US" sz="1400" dirty="0"/>
          </a:p>
        </p:txBody>
      </p:sp>
      <p:sp>
        <p:nvSpPr>
          <p:cNvPr id="28" name="Text 26"/>
          <p:cNvSpPr/>
          <p:nvPr/>
        </p:nvSpPr>
        <p:spPr>
          <a:xfrm>
            <a:off x="9265920" y="2258568"/>
            <a:ext cx="1569720" cy="201168"/>
          </a:xfrm>
          <a:prstGeom prst="rect">
            <a:avLst/>
          </a:prstGeom>
          <a:noFill/>
          <a:ln/>
        </p:spPr>
        <p:txBody>
          <a:bodyPr wrap="square" lIns="254" tIns="254" rIns="254" bIns="254" rtlCol="0" anchor="t">
            <a:normAutofit/>
          </a:bodyPr>
          <a:lstStyle/>
          <a:p>
            <a:pPr algn="ctr" indent="0" marL="0">
              <a:buNone/>
            </a:pPr>
            <a:r>
              <a:rPr lang="en-US" sz="1250" b="1" dirty="0">
                <a:solidFill>
                  <a:srgbClr val="002B49"/>
                </a:solidFill>
              </a:rPr>
              <a:t>Wrap</a:t>
            </a:r>
            <a:endParaRPr lang="en-US" sz="1250" dirty="0"/>
          </a:p>
        </p:txBody>
      </p:sp>
      <p:sp>
        <p:nvSpPr>
          <p:cNvPr id="29" name="Text 27"/>
          <p:cNvSpPr/>
          <p:nvPr/>
        </p:nvSpPr>
        <p:spPr>
          <a:xfrm>
            <a:off x="9174480" y="2560320"/>
            <a:ext cx="1661160" cy="530352"/>
          </a:xfrm>
          <a:prstGeom prst="rect">
            <a:avLst/>
          </a:prstGeom>
          <a:noFill/>
          <a:ln/>
        </p:spPr>
        <p:txBody>
          <a:bodyPr wrap="square" lIns="254" tIns="254" rIns="254" bIns="254" rtlCol="0" anchor="t">
            <a:normAutofit/>
          </a:bodyPr>
          <a:lstStyle/>
          <a:p>
            <a:pPr algn="ctr" indent="0" marL="0">
              <a:buNone/>
            </a:pPr>
            <a:r>
              <a:rPr lang="en-US" sz="1050" dirty="0">
                <a:solidFill>
                  <a:srgbClr val="475467"/>
                </a:solidFill>
              </a:rPr>
              <a:t>Exit ticket and next steps</a:t>
            </a:r>
            <a:endParaRPr lang="en-US" sz="1050" dirty="0"/>
          </a:p>
        </p:txBody>
      </p:sp>
      <p:sp>
        <p:nvSpPr>
          <p:cNvPr id="30" name="Shape 28"/>
          <p:cNvSpPr/>
          <p:nvPr/>
        </p:nvSpPr>
        <p:spPr>
          <a:xfrm>
            <a:off x="1325880" y="5166360"/>
            <a:ext cx="9555480" cy="640080"/>
          </a:xfrm>
          <a:prstGeom prst="roundRect">
            <a:avLst>
              <a:gd name="adj" fmla="val 17143"/>
            </a:avLst>
          </a:prstGeom>
          <a:solidFill>
            <a:srgbClr val="FFF7E0"/>
          </a:solidFill>
          <a:ln w="15240">
            <a:solidFill>
              <a:srgbClr val="C99700"/>
            </a:solidFill>
            <a:prstDash val="solid"/>
          </a:ln>
        </p:spPr>
      </p:sp>
      <p:sp>
        <p:nvSpPr>
          <p:cNvPr id="31" name="Text 29"/>
          <p:cNvSpPr/>
          <p:nvPr/>
        </p:nvSpPr>
        <p:spPr>
          <a:xfrm>
            <a:off x="1527048" y="5349240"/>
            <a:ext cx="9153144" cy="32004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Suggested pacing: 10 + 25 + 30 + 25 + 25 + 5 = 120 minutes</a:t>
            </a:r>
            <a:endParaRPr lang="en-US" sz="1600" dirty="0"/>
          </a:p>
        </p:txBody>
      </p:sp>
      <p:sp>
        <p:nvSpPr>
          <p:cNvPr id="32" name="Text 30"/>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33" name="Text 31"/>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Syllabus alignment for Week 1</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AI Agents and Foundations | Aug 24-28</a:t>
            </a:r>
            <a:endParaRPr lang="en-US" sz="1150" dirty="0"/>
          </a:p>
        </p:txBody>
      </p:sp>
      <p:sp>
        <p:nvSpPr>
          <p:cNvPr id="5" name="Shape 3"/>
          <p:cNvSpPr/>
          <p:nvPr/>
        </p:nvSpPr>
        <p:spPr>
          <a:xfrm>
            <a:off x="685800" y="1325880"/>
            <a:ext cx="3246120" cy="1097280"/>
          </a:xfrm>
          <a:prstGeom prst="roundRect">
            <a:avLst>
              <a:gd name="adj" fmla="val 10000"/>
            </a:avLst>
          </a:prstGeom>
          <a:solidFill>
            <a:srgbClr val="FFF7E0"/>
          </a:solidFill>
          <a:ln w="16510">
            <a:solidFill>
              <a:srgbClr val="C99700"/>
            </a:solidFill>
            <a:prstDash val="solid"/>
          </a:ln>
        </p:spPr>
      </p:sp>
      <p:sp>
        <p:nvSpPr>
          <p:cNvPr id="6" name="Text 4"/>
          <p:cNvSpPr/>
          <p:nvPr/>
        </p:nvSpPr>
        <p:spPr>
          <a:xfrm>
            <a:off x="868680" y="1481328"/>
            <a:ext cx="288036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Core concept</a:t>
            </a:r>
            <a:endParaRPr lang="en-US" sz="1600" dirty="0"/>
          </a:p>
        </p:txBody>
      </p:sp>
      <p:sp>
        <p:nvSpPr>
          <p:cNvPr id="7" name="Text 5"/>
          <p:cNvSpPr/>
          <p:nvPr/>
        </p:nvSpPr>
        <p:spPr>
          <a:xfrm>
            <a:off x="886968" y="1856232"/>
            <a:ext cx="284378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AI agents and foundations</a:t>
            </a:r>
            <a:endParaRPr lang="en-US" sz="1270" dirty="0"/>
          </a:p>
        </p:txBody>
      </p:sp>
      <p:sp>
        <p:nvSpPr>
          <p:cNvPr id="8" name="Shape 6"/>
          <p:cNvSpPr/>
          <p:nvPr/>
        </p:nvSpPr>
        <p:spPr>
          <a:xfrm>
            <a:off x="4480560" y="1325880"/>
            <a:ext cx="3246120" cy="1097280"/>
          </a:xfrm>
          <a:prstGeom prst="roundRect">
            <a:avLst>
              <a:gd name="adj" fmla="val 10000"/>
            </a:avLst>
          </a:prstGeom>
          <a:solidFill>
            <a:srgbClr val="E6F7F8"/>
          </a:solidFill>
          <a:ln w="16510">
            <a:solidFill>
              <a:srgbClr val="0E7C86"/>
            </a:solidFill>
            <a:prstDash val="solid"/>
          </a:ln>
        </p:spPr>
      </p:sp>
      <p:sp>
        <p:nvSpPr>
          <p:cNvPr id="9" name="Text 7"/>
          <p:cNvSpPr/>
          <p:nvPr/>
        </p:nvSpPr>
        <p:spPr>
          <a:xfrm>
            <a:off x="4663440" y="1481328"/>
            <a:ext cx="288036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Reading focus</a:t>
            </a:r>
            <a:endParaRPr lang="en-US" sz="1600" dirty="0"/>
          </a:p>
        </p:txBody>
      </p:sp>
      <p:sp>
        <p:nvSpPr>
          <p:cNvPr id="10" name="Text 8"/>
          <p:cNvSpPr/>
          <p:nvPr/>
        </p:nvSpPr>
        <p:spPr>
          <a:xfrm>
            <a:off x="4681728" y="1856232"/>
            <a:ext cx="284378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AIMA Chapter 1 and Chapter 2; instructor notebook</a:t>
            </a:r>
            <a:endParaRPr lang="en-US" sz="1270" dirty="0"/>
          </a:p>
        </p:txBody>
      </p:sp>
      <p:sp>
        <p:nvSpPr>
          <p:cNvPr id="11" name="Shape 9"/>
          <p:cNvSpPr/>
          <p:nvPr/>
        </p:nvSpPr>
        <p:spPr>
          <a:xfrm>
            <a:off x="8275320" y="1325880"/>
            <a:ext cx="3246120" cy="1097280"/>
          </a:xfrm>
          <a:prstGeom prst="roundRect">
            <a:avLst>
              <a:gd name="adj" fmla="val 10000"/>
            </a:avLst>
          </a:prstGeom>
          <a:solidFill>
            <a:srgbClr val="E9F7EF"/>
          </a:solidFill>
          <a:ln w="16510">
            <a:solidFill>
              <a:srgbClr val="2F855A"/>
            </a:solidFill>
            <a:prstDash val="solid"/>
          </a:ln>
        </p:spPr>
      </p:sp>
      <p:sp>
        <p:nvSpPr>
          <p:cNvPr id="12" name="Text 10"/>
          <p:cNvSpPr/>
          <p:nvPr/>
        </p:nvSpPr>
        <p:spPr>
          <a:xfrm>
            <a:off x="8458200" y="1481328"/>
            <a:ext cx="288036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Lab focus</a:t>
            </a:r>
            <a:endParaRPr lang="en-US" sz="1600" dirty="0"/>
          </a:p>
        </p:txBody>
      </p:sp>
      <p:sp>
        <p:nvSpPr>
          <p:cNvPr id="13" name="Text 11"/>
          <p:cNvSpPr/>
          <p:nvPr/>
        </p:nvSpPr>
        <p:spPr>
          <a:xfrm>
            <a:off x="8476488" y="1856232"/>
            <a:ext cx="284378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Simple grid-world / vacuum agent simulation in Python</a:t>
            </a:r>
            <a:endParaRPr lang="en-US" sz="1270" dirty="0"/>
          </a:p>
        </p:txBody>
      </p:sp>
      <p:sp>
        <p:nvSpPr>
          <p:cNvPr id="14" name="Text 12"/>
          <p:cNvSpPr/>
          <p:nvPr/>
        </p:nvSpPr>
        <p:spPr>
          <a:xfrm>
            <a:off x="822960" y="3063240"/>
            <a:ext cx="2743200" cy="256032"/>
          </a:xfrm>
          <a:prstGeom prst="rect">
            <a:avLst/>
          </a:prstGeom>
          <a:noFill/>
          <a:ln/>
        </p:spPr>
        <p:txBody>
          <a:bodyPr wrap="square" lIns="254" tIns="254" rIns="254" bIns="254" rtlCol="0" anchor="t">
            <a:normAutofit/>
          </a:bodyPr>
          <a:lstStyle/>
          <a:p>
            <a:pPr algn="l" indent="0" marL="0">
              <a:buNone/>
            </a:pPr>
            <a:r>
              <a:rPr lang="en-US" sz="2000" b="1" dirty="0">
                <a:solidFill>
                  <a:srgbClr val="002B49"/>
                </a:solidFill>
              </a:rPr>
              <a:t>Course pattern</a:t>
            </a:r>
            <a:endParaRPr lang="en-US" sz="2000" dirty="0"/>
          </a:p>
        </p:txBody>
      </p:sp>
      <p:sp>
        <p:nvSpPr>
          <p:cNvPr id="15" name="Text 13"/>
          <p:cNvSpPr/>
          <p:nvPr/>
        </p:nvSpPr>
        <p:spPr>
          <a:xfrm>
            <a:off x="1005840" y="3520440"/>
            <a:ext cx="9966960" cy="1417320"/>
          </a:xfrm>
          <a:prstGeom prst="rect">
            <a:avLst/>
          </a:prstGeom>
          <a:noFill/>
          <a:ln/>
        </p:spPr>
        <p:txBody>
          <a:bodyPr wrap="square" lIns="381" tIns="381" rIns="381" bIns="381" rtlCol="0" anchor="ctr">
            <a:normAutofit/>
          </a:bodyPr>
          <a:lstStyle/>
          <a:p>
            <a:pPr marL="228600" indent="-228600">
              <a:buSzPct val="100000"/>
              <a:buChar char="•"/>
            </a:pPr>
            <a:r>
              <a:rPr lang="en-US" sz="1550" dirty="0">
                <a:solidFill>
                  <a:srgbClr val="111827"/>
                </a:solidFill>
              </a:rPr>
              <a:t>Short lecture segments introduce the vocabulary.
</a:t>
            </a:r>
            <a:endParaRPr lang="en-US" sz="1550" dirty="0"/>
          </a:p>
          <a:p>
            <a:pPr marL="228600" indent="-228600">
              <a:buSzPct val="100000"/>
              <a:buChar char="•"/>
            </a:pPr>
            <a:r>
              <a:rPr lang="en-US" sz="1550" dirty="0">
                <a:solidFill>
                  <a:srgbClr val="111827"/>
                </a:solidFill>
              </a:rPr>
              <a:t>Guided demos turn vocabulary into executable code.
</a:t>
            </a:r>
            <a:endParaRPr lang="en-US" sz="1550" dirty="0"/>
          </a:p>
          <a:p>
            <a:pPr marL="228600" indent="-228600">
              <a:buSzPct val="100000"/>
              <a:buChar char="•"/>
            </a:pPr>
            <a:r>
              <a:rPr lang="en-US" sz="1550" dirty="0">
                <a:solidFill>
                  <a:srgbClr val="111827"/>
                </a:solidFill>
              </a:rPr>
              <a:t>Labs emphasize implementation, testing, and explanation.
</a:t>
            </a:r>
            <a:endParaRPr lang="en-US" sz="1550" dirty="0"/>
          </a:p>
          <a:p>
            <a:pPr marL="228600" indent="-228600">
              <a:buSzPct val="100000"/>
              <a:buChar char="•"/>
            </a:pPr>
            <a:r>
              <a:rPr lang="en-US" sz="1550" dirty="0">
                <a:solidFill>
                  <a:srgbClr val="111827"/>
                </a:solidFill>
              </a:rPr>
              <a:t>CI Learn is the source for announcements, notebooks, and submissions.</a:t>
            </a:r>
            <a:endParaRPr lang="en-US" sz="1550" dirty="0"/>
          </a:p>
        </p:txBody>
      </p:sp>
      <p:sp>
        <p:nvSpPr>
          <p:cNvPr id="16" name="Text 14"/>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7" name="Text 15"/>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Learning outcomes for today</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Students should leave ready to explain and implement a small agent.</a:t>
            </a:r>
            <a:endParaRPr lang="en-US" sz="1150" dirty="0"/>
          </a:p>
        </p:txBody>
      </p:sp>
      <p:sp>
        <p:nvSpPr>
          <p:cNvPr id="5" name="Shape 3"/>
          <p:cNvSpPr/>
          <p:nvPr/>
        </p:nvSpPr>
        <p:spPr>
          <a:xfrm>
            <a:off x="822960" y="1234440"/>
            <a:ext cx="566928" cy="566928"/>
          </a:xfrm>
          <a:prstGeom prst="ellipse">
            <a:avLst/>
          </a:prstGeom>
          <a:solidFill>
            <a:srgbClr val="C99700"/>
          </a:solidFill>
          <a:ln w="12700">
            <a:solidFill>
              <a:srgbClr val="C99700"/>
            </a:solidFill>
            <a:prstDash val="solid"/>
          </a:ln>
        </p:spPr>
      </p:sp>
      <p:sp>
        <p:nvSpPr>
          <p:cNvPr id="6" name="Text 4"/>
          <p:cNvSpPr/>
          <p:nvPr/>
        </p:nvSpPr>
        <p:spPr>
          <a:xfrm>
            <a:off x="822960" y="1371600"/>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1</a:t>
            </a:r>
            <a:endParaRPr lang="en-US" sz="1400" dirty="0"/>
          </a:p>
        </p:txBody>
      </p:sp>
      <p:sp>
        <p:nvSpPr>
          <p:cNvPr id="7" name="Text 5"/>
          <p:cNvSpPr/>
          <p:nvPr/>
        </p:nvSpPr>
        <p:spPr>
          <a:xfrm>
            <a:off x="1572768" y="1298448"/>
            <a:ext cx="2743200" cy="228600"/>
          </a:xfrm>
          <a:prstGeom prst="rect">
            <a:avLst/>
          </a:prstGeom>
          <a:noFill/>
          <a:ln/>
        </p:spPr>
        <p:txBody>
          <a:bodyPr wrap="square" lIns="254" tIns="254" rIns="254" bIns="254" rtlCol="0" anchor="t">
            <a:normAutofit/>
          </a:bodyPr>
          <a:lstStyle/>
          <a:p>
            <a:pPr algn="l" indent="0" marL="0">
              <a:buNone/>
            </a:pPr>
            <a:r>
              <a:rPr lang="en-US" sz="1700" b="1" dirty="0">
                <a:solidFill>
                  <a:srgbClr val="002B49"/>
                </a:solidFill>
              </a:rPr>
              <a:t>Define intelligence</a:t>
            </a:r>
            <a:endParaRPr lang="en-US" sz="1700" dirty="0"/>
          </a:p>
        </p:txBody>
      </p:sp>
      <p:sp>
        <p:nvSpPr>
          <p:cNvPr id="8" name="Text 6"/>
          <p:cNvSpPr/>
          <p:nvPr/>
        </p:nvSpPr>
        <p:spPr>
          <a:xfrm>
            <a:off x="4617720" y="1307592"/>
            <a:ext cx="6126480" cy="301752"/>
          </a:xfrm>
          <a:prstGeom prst="rect">
            <a:avLst/>
          </a:prstGeom>
          <a:noFill/>
          <a:ln/>
        </p:spPr>
        <p:txBody>
          <a:bodyPr wrap="square" lIns="254" tIns="254" rIns="254" bIns="254" rtlCol="0" anchor="t">
            <a:normAutofit/>
          </a:bodyPr>
          <a:lstStyle/>
          <a:p>
            <a:pPr algn="l" indent="0" marL="0">
              <a:buNone/>
            </a:pPr>
            <a:r>
              <a:rPr lang="en-US" sz="1400" dirty="0">
                <a:solidFill>
                  <a:srgbClr val="111827"/>
                </a:solidFill>
              </a:rPr>
              <a:t>Explain human-centered vs. rational definitions of AI.</a:t>
            </a:r>
            <a:endParaRPr lang="en-US" sz="1400" dirty="0"/>
          </a:p>
        </p:txBody>
      </p:sp>
      <p:sp>
        <p:nvSpPr>
          <p:cNvPr id="9" name="Shape 7"/>
          <p:cNvSpPr/>
          <p:nvPr/>
        </p:nvSpPr>
        <p:spPr>
          <a:xfrm>
            <a:off x="822960" y="2075688"/>
            <a:ext cx="566928" cy="566928"/>
          </a:xfrm>
          <a:prstGeom prst="ellipse">
            <a:avLst/>
          </a:prstGeom>
          <a:solidFill>
            <a:srgbClr val="0E7C86"/>
          </a:solidFill>
          <a:ln w="12700">
            <a:solidFill>
              <a:srgbClr val="0E7C86"/>
            </a:solidFill>
            <a:prstDash val="solid"/>
          </a:ln>
        </p:spPr>
      </p:sp>
      <p:sp>
        <p:nvSpPr>
          <p:cNvPr id="10" name="Text 8"/>
          <p:cNvSpPr/>
          <p:nvPr/>
        </p:nvSpPr>
        <p:spPr>
          <a:xfrm>
            <a:off x="822960" y="2212848"/>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2</a:t>
            </a:r>
            <a:endParaRPr lang="en-US" sz="1400" dirty="0"/>
          </a:p>
        </p:txBody>
      </p:sp>
      <p:sp>
        <p:nvSpPr>
          <p:cNvPr id="11" name="Text 9"/>
          <p:cNvSpPr/>
          <p:nvPr/>
        </p:nvSpPr>
        <p:spPr>
          <a:xfrm>
            <a:off x="1572768" y="2139696"/>
            <a:ext cx="2743200" cy="228600"/>
          </a:xfrm>
          <a:prstGeom prst="rect">
            <a:avLst/>
          </a:prstGeom>
          <a:noFill/>
          <a:ln/>
        </p:spPr>
        <p:txBody>
          <a:bodyPr wrap="square" lIns="254" tIns="254" rIns="254" bIns="254" rtlCol="0" anchor="t">
            <a:normAutofit/>
          </a:bodyPr>
          <a:lstStyle/>
          <a:p>
            <a:pPr algn="l" indent="0" marL="0">
              <a:buNone/>
            </a:pPr>
            <a:r>
              <a:rPr lang="en-US" sz="1700" b="1" dirty="0">
                <a:solidFill>
                  <a:srgbClr val="002B49"/>
                </a:solidFill>
              </a:rPr>
              <a:t>Model an agent</a:t>
            </a:r>
            <a:endParaRPr lang="en-US" sz="1700" dirty="0"/>
          </a:p>
        </p:txBody>
      </p:sp>
      <p:sp>
        <p:nvSpPr>
          <p:cNvPr id="12" name="Text 10"/>
          <p:cNvSpPr/>
          <p:nvPr/>
        </p:nvSpPr>
        <p:spPr>
          <a:xfrm>
            <a:off x="4617720" y="2148840"/>
            <a:ext cx="6126480" cy="301752"/>
          </a:xfrm>
          <a:prstGeom prst="rect">
            <a:avLst/>
          </a:prstGeom>
          <a:noFill/>
          <a:ln/>
        </p:spPr>
        <p:txBody>
          <a:bodyPr wrap="square" lIns="254" tIns="254" rIns="254" bIns="254" rtlCol="0" anchor="t">
            <a:normAutofit/>
          </a:bodyPr>
          <a:lstStyle/>
          <a:p>
            <a:pPr algn="l" indent="0" marL="0">
              <a:buNone/>
            </a:pPr>
            <a:r>
              <a:rPr lang="en-US" sz="1400" dirty="0">
                <a:solidFill>
                  <a:srgbClr val="111827"/>
                </a:solidFill>
              </a:rPr>
              <a:t>Describe percepts, sensors, actions, actuators, and environment.</a:t>
            </a:r>
            <a:endParaRPr lang="en-US" sz="1400" dirty="0"/>
          </a:p>
        </p:txBody>
      </p:sp>
      <p:sp>
        <p:nvSpPr>
          <p:cNvPr id="13" name="Shape 11"/>
          <p:cNvSpPr/>
          <p:nvPr/>
        </p:nvSpPr>
        <p:spPr>
          <a:xfrm>
            <a:off x="822960" y="2916936"/>
            <a:ext cx="566928" cy="566928"/>
          </a:xfrm>
          <a:prstGeom prst="ellipse">
            <a:avLst/>
          </a:prstGeom>
          <a:solidFill>
            <a:srgbClr val="3273DC"/>
          </a:solidFill>
          <a:ln w="12700">
            <a:solidFill>
              <a:srgbClr val="3273DC"/>
            </a:solidFill>
            <a:prstDash val="solid"/>
          </a:ln>
        </p:spPr>
      </p:sp>
      <p:sp>
        <p:nvSpPr>
          <p:cNvPr id="14" name="Text 12"/>
          <p:cNvSpPr/>
          <p:nvPr/>
        </p:nvSpPr>
        <p:spPr>
          <a:xfrm>
            <a:off x="822960" y="3054096"/>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3</a:t>
            </a:r>
            <a:endParaRPr lang="en-US" sz="1400" dirty="0"/>
          </a:p>
        </p:txBody>
      </p:sp>
      <p:sp>
        <p:nvSpPr>
          <p:cNvPr id="15" name="Text 13"/>
          <p:cNvSpPr/>
          <p:nvPr/>
        </p:nvSpPr>
        <p:spPr>
          <a:xfrm>
            <a:off x="1572768" y="2980944"/>
            <a:ext cx="2743200" cy="228600"/>
          </a:xfrm>
          <a:prstGeom prst="rect">
            <a:avLst/>
          </a:prstGeom>
          <a:noFill/>
          <a:ln/>
        </p:spPr>
        <p:txBody>
          <a:bodyPr wrap="square" lIns="254" tIns="254" rIns="254" bIns="254" rtlCol="0" anchor="t">
            <a:normAutofit/>
          </a:bodyPr>
          <a:lstStyle/>
          <a:p>
            <a:pPr algn="l" indent="0" marL="0">
              <a:buNone/>
            </a:pPr>
            <a:r>
              <a:rPr lang="en-US" sz="1700" b="1" dirty="0">
                <a:solidFill>
                  <a:srgbClr val="002B49"/>
                </a:solidFill>
              </a:rPr>
              <a:t>Evaluate behavior</a:t>
            </a:r>
            <a:endParaRPr lang="en-US" sz="1700" dirty="0"/>
          </a:p>
        </p:txBody>
      </p:sp>
      <p:sp>
        <p:nvSpPr>
          <p:cNvPr id="16" name="Text 14"/>
          <p:cNvSpPr/>
          <p:nvPr/>
        </p:nvSpPr>
        <p:spPr>
          <a:xfrm>
            <a:off x="4617720" y="2990088"/>
            <a:ext cx="6126480" cy="301752"/>
          </a:xfrm>
          <a:prstGeom prst="rect">
            <a:avLst/>
          </a:prstGeom>
          <a:noFill/>
          <a:ln/>
        </p:spPr>
        <p:txBody>
          <a:bodyPr wrap="square" lIns="254" tIns="254" rIns="254" bIns="254" rtlCol="0" anchor="t">
            <a:normAutofit/>
          </a:bodyPr>
          <a:lstStyle/>
          <a:p>
            <a:pPr algn="l" indent="0" marL="0">
              <a:buNone/>
            </a:pPr>
            <a:r>
              <a:rPr lang="en-US" sz="1400" dirty="0">
                <a:solidFill>
                  <a:srgbClr val="111827"/>
                </a:solidFill>
              </a:rPr>
              <a:t>Use performance measures and expected outcomes.</a:t>
            </a:r>
            <a:endParaRPr lang="en-US" sz="1400" dirty="0"/>
          </a:p>
        </p:txBody>
      </p:sp>
      <p:sp>
        <p:nvSpPr>
          <p:cNvPr id="17" name="Shape 15"/>
          <p:cNvSpPr/>
          <p:nvPr/>
        </p:nvSpPr>
        <p:spPr>
          <a:xfrm>
            <a:off x="822960" y="3758184"/>
            <a:ext cx="566928" cy="566928"/>
          </a:xfrm>
          <a:prstGeom prst="ellipse">
            <a:avLst/>
          </a:prstGeom>
          <a:solidFill>
            <a:srgbClr val="6B46C1"/>
          </a:solidFill>
          <a:ln w="12700">
            <a:solidFill>
              <a:srgbClr val="6B46C1"/>
            </a:solidFill>
            <a:prstDash val="solid"/>
          </a:ln>
        </p:spPr>
      </p:sp>
      <p:sp>
        <p:nvSpPr>
          <p:cNvPr id="18" name="Text 16"/>
          <p:cNvSpPr/>
          <p:nvPr/>
        </p:nvSpPr>
        <p:spPr>
          <a:xfrm>
            <a:off x="822960" y="3895344"/>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4</a:t>
            </a:r>
            <a:endParaRPr lang="en-US" sz="1400" dirty="0"/>
          </a:p>
        </p:txBody>
      </p:sp>
      <p:sp>
        <p:nvSpPr>
          <p:cNvPr id="19" name="Text 17"/>
          <p:cNvSpPr/>
          <p:nvPr/>
        </p:nvSpPr>
        <p:spPr>
          <a:xfrm>
            <a:off x="1572768" y="3822192"/>
            <a:ext cx="2743200" cy="228600"/>
          </a:xfrm>
          <a:prstGeom prst="rect">
            <a:avLst/>
          </a:prstGeom>
          <a:noFill/>
          <a:ln/>
        </p:spPr>
        <p:txBody>
          <a:bodyPr wrap="square" lIns="254" tIns="254" rIns="254" bIns="254" rtlCol="0" anchor="t">
            <a:normAutofit/>
          </a:bodyPr>
          <a:lstStyle/>
          <a:p>
            <a:pPr algn="l" indent="0" marL="0">
              <a:buNone/>
            </a:pPr>
            <a:r>
              <a:rPr lang="en-US" sz="1700" b="1" dirty="0">
                <a:solidFill>
                  <a:srgbClr val="002B49"/>
                </a:solidFill>
              </a:rPr>
              <a:t>Specify PEAS</a:t>
            </a:r>
            <a:endParaRPr lang="en-US" sz="1700" dirty="0"/>
          </a:p>
        </p:txBody>
      </p:sp>
      <p:sp>
        <p:nvSpPr>
          <p:cNvPr id="20" name="Text 18"/>
          <p:cNvSpPr/>
          <p:nvPr/>
        </p:nvSpPr>
        <p:spPr>
          <a:xfrm>
            <a:off x="4617720" y="3831336"/>
            <a:ext cx="6126480" cy="301752"/>
          </a:xfrm>
          <a:prstGeom prst="rect">
            <a:avLst/>
          </a:prstGeom>
          <a:noFill/>
          <a:ln/>
        </p:spPr>
        <p:txBody>
          <a:bodyPr wrap="square" lIns="254" tIns="254" rIns="254" bIns="254" rtlCol="0" anchor="t">
            <a:normAutofit/>
          </a:bodyPr>
          <a:lstStyle/>
          <a:p>
            <a:pPr algn="l" indent="0" marL="0">
              <a:buNone/>
            </a:pPr>
            <a:r>
              <a:rPr lang="en-US" sz="1400" dirty="0">
                <a:solidFill>
                  <a:srgbClr val="111827"/>
                </a:solidFill>
              </a:rPr>
              <a:t>Write a complete task-environment description.</a:t>
            </a:r>
            <a:endParaRPr lang="en-US" sz="1400" dirty="0"/>
          </a:p>
        </p:txBody>
      </p:sp>
      <p:sp>
        <p:nvSpPr>
          <p:cNvPr id="21" name="Shape 19"/>
          <p:cNvSpPr/>
          <p:nvPr/>
        </p:nvSpPr>
        <p:spPr>
          <a:xfrm>
            <a:off x="822960" y="4599432"/>
            <a:ext cx="566928" cy="566928"/>
          </a:xfrm>
          <a:prstGeom prst="ellipse">
            <a:avLst/>
          </a:prstGeom>
          <a:solidFill>
            <a:srgbClr val="2F855A"/>
          </a:solidFill>
          <a:ln w="12700">
            <a:solidFill>
              <a:srgbClr val="2F855A"/>
            </a:solidFill>
            <a:prstDash val="solid"/>
          </a:ln>
        </p:spPr>
      </p:sp>
      <p:sp>
        <p:nvSpPr>
          <p:cNvPr id="22" name="Text 20"/>
          <p:cNvSpPr/>
          <p:nvPr/>
        </p:nvSpPr>
        <p:spPr>
          <a:xfrm>
            <a:off x="822960" y="4736592"/>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5</a:t>
            </a:r>
            <a:endParaRPr lang="en-US" sz="1400" dirty="0"/>
          </a:p>
        </p:txBody>
      </p:sp>
      <p:sp>
        <p:nvSpPr>
          <p:cNvPr id="23" name="Text 21"/>
          <p:cNvSpPr/>
          <p:nvPr/>
        </p:nvSpPr>
        <p:spPr>
          <a:xfrm>
            <a:off x="1572768" y="4663440"/>
            <a:ext cx="2743200" cy="228600"/>
          </a:xfrm>
          <a:prstGeom prst="rect">
            <a:avLst/>
          </a:prstGeom>
          <a:noFill/>
          <a:ln/>
        </p:spPr>
        <p:txBody>
          <a:bodyPr wrap="square" lIns="254" tIns="254" rIns="254" bIns="254" rtlCol="0" anchor="t">
            <a:normAutofit/>
          </a:bodyPr>
          <a:lstStyle/>
          <a:p>
            <a:pPr algn="l" indent="0" marL="0">
              <a:buNone/>
            </a:pPr>
            <a:r>
              <a:rPr lang="en-US" sz="1700" b="1" dirty="0">
                <a:solidFill>
                  <a:srgbClr val="002B49"/>
                </a:solidFill>
              </a:rPr>
              <a:t>Run a simulation</a:t>
            </a:r>
            <a:endParaRPr lang="en-US" sz="1700" dirty="0"/>
          </a:p>
        </p:txBody>
      </p:sp>
      <p:sp>
        <p:nvSpPr>
          <p:cNvPr id="24" name="Text 22"/>
          <p:cNvSpPr/>
          <p:nvPr/>
        </p:nvSpPr>
        <p:spPr>
          <a:xfrm>
            <a:off x="4617720" y="4672584"/>
            <a:ext cx="6126480" cy="301752"/>
          </a:xfrm>
          <a:prstGeom prst="rect">
            <a:avLst/>
          </a:prstGeom>
          <a:noFill/>
          <a:ln/>
        </p:spPr>
        <p:txBody>
          <a:bodyPr wrap="square" lIns="254" tIns="254" rIns="254" bIns="254" rtlCol="0" anchor="t">
            <a:normAutofit/>
          </a:bodyPr>
          <a:lstStyle/>
          <a:p>
            <a:pPr algn="l" indent="0" marL="0">
              <a:buNone/>
            </a:pPr>
            <a:r>
              <a:rPr lang="en-US" sz="1400" dirty="0">
                <a:solidFill>
                  <a:srgbClr val="111827"/>
                </a:solidFill>
              </a:rPr>
              <a:t>Implement a small grid-world loop in Python/Jupyter.</a:t>
            </a:r>
            <a:endParaRPr lang="en-US" sz="1400" dirty="0"/>
          </a:p>
        </p:txBody>
      </p:sp>
      <p:sp>
        <p:nvSpPr>
          <p:cNvPr id="25" name="Text 23"/>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6" name="Text 24"/>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Course tooling: get ready to compute</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A minimal stack for the first lab and future assignments.</a:t>
            </a:r>
            <a:endParaRPr lang="en-US" sz="1150" dirty="0"/>
          </a:p>
        </p:txBody>
      </p:sp>
      <p:sp>
        <p:nvSpPr>
          <p:cNvPr id="5" name="Shape 3"/>
          <p:cNvSpPr/>
          <p:nvPr/>
        </p:nvSpPr>
        <p:spPr>
          <a:xfrm>
            <a:off x="822960" y="1325880"/>
            <a:ext cx="3063240" cy="868680"/>
          </a:xfrm>
          <a:prstGeom prst="roundRect">
            <a:avLst>
              <a:gd name="adj" fmla="val 12632"/>
            </a:avLst>
          </a:prstGeom>
          <a:solidFill>
            <a:srgbClr val="FFFFFF"/>
          </a:solidFill>
          <a:ln w="16510">
            <a:solidFill>
              <a:srgbClr val="3273DC"/>
            </a:solidFill>
            <a:prstDash val="solid"/>
          </a:ln>
        </p:spPr>
      </p:sp>
      <p:sp>
        <p:nvSpPr>
          <p:cNvPr id="6" name="Text 4"/>
          <p:cNvSpPr/>
          <p:nvPr/>
        </p:nvSpPr>
        <p:spPr>
          <a:xfrm>
            <a:off x="1005840" y="1481328"/>
            <a:ext cx="269748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Python 3</a:t>
            </a:r>
            <a:endParaRPr lang="en-US" sz="1600" dirty="0"/>
          </a:p>
        </p:txBody>
      </p:sp>
      <p:sp>
        <p:nvSpPr>
          <p:cNvPr id="7" name="Text 5"/>
          <p:cNvSpPr/>
          <p:nvPr/>
        </p:nvSpPr>
        <p:spPr>
          <a:xfrm>
            <a:off x="1024128" y="1856232"/>
            <a:ext cx="2660904" cy="2286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language</a:t>
            </a:r>
            <a:endParaRPr lang="en-US" sz="1270" dirty="0"/>
          </a:p>
        </p:txBody>
      </p:sp>
      <p:sp>
        <p:nvSpPr>
          <p:cNvPr id="8" name="Shape 6"/>
          <p:cNvSpPr/>
          <p:nvPr/>
        </p:nvSpPr>
        <p:spPr>
          <a:xfrm>
            <a:off x="4572000" y="1325880"/>
            <a:ext cx="3063240" cy="868680"/>
          </a:xfrm>
          <a:prstGeom prst="roundRect">
            <a:avLst>
              <a:gd name="adj" fmla="val 12632"/>
            </a:avLst>
          </a:prstGeom>
          <a:solidFill>
            <a:srgbClr val="FFFFFF"/>
          </a:solidFill>
          <a:ln w="16510">
            <a:solidFill>
              <a:srgbClr val="C99700"/>
            </a:solidFill>
            <a:prstDash val="solid"/>
          </a:ln>
        </p:spPr>
      </p:sp>
      <p:sp>
        <p:nvSpPr>
          <p:cNvPr id="9" name="Text 7"/>
          <p:cNvSpPr/>
          <p:nvPr/>
        </p:nvSpPr>
        <p:spPr>
          <a:xfrm>
            <a:off x="4754880" y="1481328"/>
            <a:ext cx="269748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Jupyter</a:t>
            </a:r>
            <a:endParaRPr lang="en-US" sz="1600" dirty="0"/>
          </a:p>
        </p:txBody>
      </p:sp>
      <p:sp>
        <p:nvSpPr>
          <p:cNvPr id="10" name="Text 8"/>
          <p:cNvSpPr/>
          <p:nvPr/>
        </p:nvSpPr>
        <p:spPr>
          <a:xfrm>
            <a:off x="4773168" y="1856232"/>
            <a:ext cx="2660904" cy="2286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notebooks</a:t>
            </a:r>
            <a:endParaRPr lang="en-US" sz="1270" dirty="0"/>
          </a:p>
        </p:txBody>
      </p:sp>
      <p:sp>
        <p:nvSpPr>
          <p:cNvPr id="11" name="Shape 9"/>
          <p:cNvSpPr/>
          <p:nvPr/>
        </p:nvSpPr>
        <p:spPr>
          <a:xfrm>
            <a:off x="8321040" y="1325880"/>
            <a:ext cx="3063240" cy="868680"/>
          </a:xfrm>
          <a:prstGeom prst="roundRect">
            <a:avLst>
              <a:gd name="adj" fmla="val 12632"/>
            </a:avLst>
          </a:prstGeom>
          <a:solidFill>
            <a:srgbClr val="FFFFFF"/>
          </a:solidFill>
          <a:ln w="16510">
            <a:solidFill>
              <a:srgbClr val="2F855A"/>
            </a:solidFill>
            <a:prstDash val="solid"/>
          </a:ln>
        </p:spPr>
      </p:sp>
      <p:sp>
        <p:nvSpPr>
          <p:cNvPr id="12" name="Text 10"/>
          <p:cNvSpPr/>
          <p:nvPr/>
        </p:nvSpPr>
        <p:spPr>
          <a:xfrm>
            <a:off x="8503920" y="1481328"/>
            <a:ext cx="269748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NumPy</a:t>
            </a:r>
            <a:endParaRPr lang="en-US" sz="1600" dirty="0"/>
          </a:p>
        </p:txBody>
      </p:sp>
      <p:sp>
        <p:nvSpPr>
          <p:cNvPr id="13" name="Text 11"/>
          <p:cNvSpPr/>
          <p:nvPr/>
        </p:nvSpPr>
        <p:spPr>
          <a:xfrm>
            <a:off x="8522208" y="1856232"/>
            <a:ext cx="2660904" cy="2286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arrays</a:t>
            </a:r>
            <a:endParaRPr lang="en-US" sz="1270" dirty="0"/>
          </a:p>
        </p:txBody>
      </p:sp>
      <p:sp>
        <p:nvSpPr>
          <p:cNvPr id="14" name="Shape 12"/>
          <p:cNvSpPr/>
          <p:nvPr/>
        </p:nvSpPr>
        <p:spPr>
          <a:xfrm>
            <a:off x="822960" y="2743200"/>
            <a:ext cx="3063240" cy="868680"/>
          </a:xfrm>
          <a:prstGeom prst="roundRect">
            <a:avLst>
              <a:gd name="adj" fmla="val 12632"/>
            </a:avLst>
          </a:prstGeom>
          <a:solidFill>
            <a:srgbClr val="FFFFFF"/>
          </a:solidFill>
          <a:ln w="16510">
            <a:solidFill>
              <a:srgbClr val="0E7C86"/>
            </a:solidFill>
            <a:prstDash val="solid"/>
          </a:ln>
        </p:spPr>
      </p:sp>
      <p:sp>
        <p:nvSpPr>
          <p:cNvPr id="15" name="Text 13"/>
          <p:cNvSpPr/>
          <p:nvPr/>
        </p:nvSpPr>
        <p:spPr>
          <a:xfrm>
            <a:off x="1005840" y="2898648"/>
            <a:ext cx="269748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pandas</a:t>
            </a:r>
            <a:endParaRPr lang="en-US" sz="1600" dirty="0"/>
          </a:p>
        </p:txBody>
      </p:sp>
      <p:sp>
        <p:nvSpPr>
          <p:cNvPr id="16" name="Text 14"/>
          <p:cNvSpPr/>
          <p:nvPr/>
        </p:nvSpPr>
        <p:spPr>
          <a:xfrm>
            <a:off x="1024128" y="3273552"/>
            <a:ext cx="2660904" cy="2286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data</a:t>
            </a:r>
            <a:endParaRPr lang="en-US" sz="1270" dirty="0"/>
          </a:p>
        </p:txBody>
      </p:sp>
      <p:sp>
        <p:nvSpPr>
          <p:cNvPr id="17" name="Shape 15"/>
          <p:cNvSpPr/>
          <p:nvPr/>
        </p:nvSpPr>
        <p:spPr>
          <a:xfrm>
            <a:off x="4572000" y="2743200"/>
            <a:ext cx="3063240" cy="868680"/>
          </a:xfrm>
          <a:prstGeom prst="roundRect">
            <a:avLst>
              <a:gd name="adj" fmla="val 12632"/>
            </a:avLst>
          </a:prstGeom>
          <a:solidFill>
            <a:srgbClr val="FFFFFF"/>
          </a:solidFill>
          <a:ln w="16510">
            <a:solidFill>
              <a:srgbClr val="6B46C1"/>
            </a:solidFill>
            <a:prstDash val="solid"/>
          </a:ln>
        </p:spPr>
      </p:sp>
      <p:sp>
        <p:nvSpPr>
          <p:cNvPr id="18" name="Text 16"/>
          <p:cNvSpPr/>
          <p:nvPr/>
        </p:nvSpPr>
        <p:spPr>
          <a:xfrm>
            <a:off x="4754880" y="2898648"/>
            <a:ext cx="2697480" cy="256032"/>
          </a:xfrm>
          <a:prstGeom prst="rect">
            <a:avLst/>
          </a:prstGeom>
          <a:noFill/>
          <a:ln/>
        </p:spPr>
        <p:txBody>
          <a:bodyPr wrap="square" lIns="254" tIns="254" rIns="254" bIns="254" rtlCol="0" anchor="t">
            <a:normAutofit/>
          </a:bodyPr>
          <a:lstStyle/>
          <a:p>
            <a:pPr algn="ctr" indent="0" marL="0">
              <a:buNone/>
            </a:pPr>
            <a:r>
              <a:rPr lang="en-US" sz="1600" b="1" dirty="0">
                <a:solidFill>
                  <a:srgbClr val="6B46C1"/>
                </a:solidFill>
              </a:rPr>
              <a:t>scikit-learn</a:t>
            </a:r>
            <a:endParaRPr lang="en-US" sz="1600" dirty="0"/>
          </a:p>
        </p:txBody>
      </p:sp>
      <p:sp>
        <p:nvSpPr>
          <p:cNvPr id="19" name="Text 17"/>
          <p:cNvSpPr/>
          <p:nvPr/>
        </p:nvSpPr>
        <p:spPr>
          <a:xfrm>
            <a:off x="4773168" y="3273552"/>
            <a:ext cx="2660904" cy="2286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models</a:t>
            </a:r>
            <a:endParaRPr lang="en-US" sz="1270" dirty="0"/>
          </a:p>
        </p:txBody>
      </p:sp>
      <p:sp>
        <p:nvSpPr>
          <p:cNvPr id="20" name="Shape 18"/>
          <p:cNvSpPr/>
          <p:nvPr/>
        </p:nvSpPr>
        <p:spPr>
          <a:xfrm>
            <a:off x="8321040" y="2743200"/>
            <a:ext cx="3063240" cy="868680"/>
          </a:xfrm>
          <a:prstGeom prst="roundRect">
            <a:avLst>
              <a:gd name="adj" fmla="val 12632"/>
            </a:avLst>
          </a:prstGeom>
          <a:solidFill>
            <a:srgbClr val="FFFFFF"/>
          </a:solidFill>
          <a:ln w="16510">
            <a:solidFill>
              <a:srgbClr val="DD6B20"/>
            </a:solidFill>
            <a:prstDash val="solid"/>
          </a:ln>
        </p:spPr>
      </p:sp>
      <p:sp>
        <p:nvSpPr>
          <p:cNvPr id="21" name="Text 19"/>
          <p:cNvSpPr/>
          <p:nvPr/>
        </p:nvSpPr>
        <p:spPr>
          <a:xfrm>
            <a:off x="8503920" y="2898648"/>
            <a:ext cx="2697480" cy="256032"/>
          </a:xfrm>
          <a:prstGeom prst="rect">
            <a:avLst/>
          </a:prstGeom>
          <a:noFill/>
          <a:ln/>
        </p:spPr>
        <p:txBody>
          <a:bodyPr wrap="square" lIns="254" tIns="254" rIns="254" bIns="254" rtlCol="0" anchor="t">
            <a:normAutofit/>
          </a:bodyPr>
          <a:lstStyle/>
          <a:p>
            <a:pPr algn="ctr" indent="0" marL="0">
              <a:buNone/>
            </a:pPr>
            <a:r>
              <a:rPr lang="en-US" sz="1600" b="1" dirty="0">
                <a:solidFill>
                  <a:srgbClr val="DD6B20"/>
                </a:solidFill>
              </a:rPr>
              <a:t>PyTorch / TensorFlow</a:t>
            </a:r>
            <a:endParaRPr lang="en-US" sz="1600" dirty="0"/>
          </a:p>
        </p:txBody>
      </p:sp>
      <p:sp>
        <p:nvSpPr>
          <p:cNvPr id="22" name="Text 20"/>
          <p:cNvSpPr/>
          <p:nvPr/>
        </p:nvSpPr>
        <p:spPr>
          <a:xfrm>
            <a:off x="8522208" y="3273552"/>
            <a:ext cx="2660904" cy="2286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later neural nets</a:t>
            </a:r>
            <a:endParaRPr lang="en-US" sz="1270" dirty="0"/>
          </a:p>
        </p:txBody>
      </p:sp>
      <p:sp>
        <p:nvSpPr>
          <p:cNvPr id="23" name="Shape 21"/>
          <p:cNvSpPr/>
          <p:nvPr/>
        </p:nvSpPr>
        <p:spPr>
          <a:xfrm>
            <a:off x="1325880" y="5166360"/>
            <a:ext cx="9555480" cy="640080"/>
          </a:xfrm>
          <a:prstGeom prst="roundRect">
            <a:avLst>
              <a:gd name="adj" fmla="val 17143"/>
            </a:avLst>
          </a:prstGeom>
          <a:solidFill>
            <a:srgbClr val="FFF7E0"/>
          </a:solidFill>
          <a:ln w="15240">
            <a:solidFill>
              <a:srgbClr val="C99700"/>
            </a:solidFill>
            <a:prstDash val="solid"/>
          </a:ln>
        </p:spPr>
      </p:sp>
      <p:sp>
        <p:nvSpPr>
          <p:cNvPr id="24" name="Text 22"/>
          <p:cNvSpPr/>
          <p:nvPr/>
        </p:nvSpPr>
        <p:spPr>
          <a:xfrm>
            <a:off x="1527048" y="5349240"/>
            <a:ext cx="9153144" cy="32004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Today’s rule: keep the first notebook small, inspectable, and easy to debug.</a:t>
            </a:r>
            <a:endParaRPr lang="en-US" sz="1600" dirty="0"/>
          </a:p>
        </p:txBody>
      </p:sp>
      <p:sp>
        <p:nvSpPr>
          <p:cNvPr id="25" name="Text 23"/>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6" name="Text 24"/>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Responsible AI use in this course</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Use AI tools to learn, not to outsource learning.</a:t>
            </a:r>
            <a:endParaRPr lang="en-US" sz="1150" dirty="0"/>
          </a:p>
        </p:txBody>
      </p:sp>
      <p:sp>
        <p:nvSpPr>
          <p:cNvPr id="5" name="Shape 3"/>
          <p:cNvSpPr/>
          <p:nvPr/>
        </p:nvSpPr>
        <p:spPr>
          <a:xfrm>
            <a:off x="777240" y="1325880"/>
            <a:ext cx="4983480" cy="1828800"/>
          </a:xfrm>
          <a:prstGeom prst="roundRect">
            <a:avLst>
              <a:gd name="adj" fmla="val 6000"/>
            </a:avLst>
          </a:prstGeom>
          <a:solidFill>
            <a:srgbClr val="E9F7EF"/>
          </a:solidFill>
          <a:ln w="16510">
            <a:solidFill>
              <a:srgbClr val="2F855A"/>
            </a:solidFill>
            <a:prstDash val="solid"/>
          </a:ln>
        </p:spPr>
      </p:sp>
      <p:sp>
        <p:nvSpPr>
          <p:cNvPr id="6" name="Text 4"/>
          <p:cNvSpPr/>
          <p:nvPr/>
        </p:nvSpPr>
        <p:spPr>
          <a:xfrm>
            <a:off x="960120" y="1481328"/>
            <a:ext cx="461772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Allowed support</a:t>
            </a:r>
            <a:endParaRPr lang="en-US" sz="1600" dirty="0"/>
          </a:p>
        </p:txBody>
      </p:sp>
      <p:sp>
        <p:nvSpPr>
          <p:cNvPr id="7" name="Text 5"/>
          <p:cNvSpPr/>
          <p:nvPr/>
        </p:nvSpPr>
        <p:spPr>
          <a:xfrm>
            <a:off x="978408" y="1856232"/>
            <a:ext cx="4581144" cy="11887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Ask conceptual questions, debug error messages, generate tiny examples, compare approaches.</a:t>
            </a:r>
            <a:endParaRPr lang="en-US" sz="1270" dirty="0"/>
          </a:p>
        </p:txBody>
      </p:sp>
      <p:sp>
        <p:nvSpPr>
          <p:cNvPr id="8" name="Shape 6"/>
          <p:cNvSpPr/>
          <p:nvPr/>
        </p:nvSpPr>
        <p:spPr>
          <a:xfrm>
            <a:off x="6400800" y="1325880"/>
            <a:ext cx="4983480" cy="1828800"/>
          </a:xfrm>
          <a:prstGeom prst="roundRect">
            <a:avLst>
              <a:gd name="adj" fmla="val 6000"/>
            </a:avLst>
          </a:prstGeom>
          <a:solidFill>
            <a:srgbClr val="FFF1F0"/>
          </a:solidFill>
          <a:ln w="16510">
            <a:solidFill>
              <a:srgbClr val="C53030"/>
            </a:solidFill>
            <a:prstDash val="solid"/>
          </a:ln>
        </p:spPr>
      </p:sp>
      <p:sp>
        <p:nvSpPr>
          <p:cNvPr id="9" name="Text 7"/>
          <p:cNvSpPr/>
          <p:nvPr/>
        </p:nvSpPr>
        <p:spPr>
          <a:xfrm>
            <a:off x="6583680" y="1481328"/>
            <a:ext cx="4617720" cy="256032"/>
          </a:xfrm>
          <a:prstGeom prst="rect">
            <a:avLst/>
          </a:prstGeom>
          <a:noFill/>
          <a:ln/>
        </p:spPr>
        <p:txBody>
          <a:bodyPr wrap="square" lIns="254" tIns="254" rIns="254" bIns="254" rtlCol="0" anchor="t">
            <a:normAutofit/>
          </a:bodyPr>
          <a:lstStyle/>
          <a:p>
            <a:pPr algn="ctr" indent="0" marL="0">
              <a:buNone/>
            </a:pPr>
            <a:r>
              <a:rPr lang="en-US" sz="1600" b="1" dirty="0">
                <a:solidFill>
                  <a:srgbClr val="C53030"/>
                </a:solidFill>
              </a:rPr>
              <a:t>Not allowed</a:t>
            </a:r>
            <a:endParaRPr lang="en-US" sz="1600" dirty="0"/>
          </a:p>
        </p:txBody>
      </p:sp>
      <p:sp>
        <p:nvSpPr>
          <p:cNvPr id="10" name="Text 8"/>
          <p:cNvSpPr/>
          <p:nvPr/>
        </p:nvSpPr>
        <p:spPr>
          <a:xfrm>
            <a:off x="6601968" y="1856232"/>
            <a:ext cx="4581144" cy="11887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Do not submit AI-generated code, text, analysis, diagrams, or results unless the assignment permits it and you disclose it.</a:t>
            </a:r>
            <a:endParaRPr lang="en-US" sz="1270" dirty="0"/>
          </a:p>
        </p:txBody>
      </p:sp>
      <p:sp>
        <p:nvSpPr>
          <p:cNvPr id="11" name="Text 9"/>
          <p:cNvSpPr/>
          <p:nvPr/>
        </p:nvSpPr>
        <p:spPr>
          <a:xfrm>
            <a:off x="1051560" y="3886200"/>
            <a:ext cx="2286000" cy="274320"/>
          </a:xfrm>
          <a:prstGeom prst="rect">
            <a:avLst/>
          </a:prstGeom>
          <a:noFill/>
          <a:ln/>
        </p:spPr>
        <p:txBody>
          <a:bodyPr wrap="square" lIns="254" tIns="254" rIns="254" bIns="254" rtlCol="0" anchor="t">
            <a:normAutofit/>
          </a:bodyPr>
          <a:lstStyle/>
          <a:p>
            <a:pPr algn="l" indent="0" marL="0">
              <a:buNone/>
            </a:pPr>
            <a:r>
              <a:rPr lang="en-US" sz="1900" b="1" dirty="0">
                <a:solidFill>
                  <a:srgbClr val="002B49"/>
                </a:solidFill>
              </a:rPr>
              <a:t>Disclosure prompt</a:t>
            </a:r>
            <a:endParaRPr lang="en-US" sz="1900" dirty="0"/>
          </a:p>
        </p:txBody>
      </p:sp>
      <p:sp>
        <p:nvSpPr>
          <p:cNvPr id="12" name="Shape 10"/>
          <p:cNvSpPr/>
          <p:nvPr/>
        </p:nvSpPr>
        <p:spPr>
          <a:xfrm>
            <a:off x="3429000" y="3730752"/>
            <a:ext cx="7680960" cy="822960"/>
          </a:xfrm>
          <a:prstGeom prst="roundRect">
            <a:avLst>
              <a:gd name="adj" fmla="val 13333"/>
            </a:avLst>
          </a:prstGeom>
          <a:solidFill>
            <a:srgbClr val="EFF6FF"/>
          </a:solidFill>
          <a:ln w="15240">
            <a:solidFill>
              <a:srgbClr val="3273DC"/>
            </a:solidFill>
            <a:prstDash val="solid"/>
          </a:ln>
        </p:spPr>
      </p:sp>
      <p:sp>
        <p:nvSpPr>
          <p:cNvPr id="13" name="Text 11"/>
          <p:cNvSpPr/>
          <p:nvPr/>
        </p:nvSpPr>
        <p:spPr>
          <a:xfrm>
            <a:off x="3630168" y="3913632"/>
            <a:ext cx="7278624" cy="50292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What tool did you use? What help did you request? What did you verify or change yourself?</a:t>
            </a:r>
            <a:endParaRPr lang="en-US" sz="1600" dirty="0"/>
          </a:p>
        </p:txBody>
      </p:sp>
      <p:sp>
        <p:nvSpPr>
          <p:cNvPr id="14" name="Text 12"/>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5" name="Text 13"/>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What counts as intelligence?</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Start with behavior we can observe and evaluate.</a:t>
            </a:r>
            <a:endParaRPr lang="en-US" sz="1150" dirty="0"/>
          </a:p>
        </p:txBody>
      </p:sp>
      <p:sp>
        <p:nvSpPr>
          <p:cNvPr id="5" name="Text 3"/>
          <p:cNvSpPr/>
          <p:nvPr/>
        </p:nvSpPr>
        <p:spPr>
          <a:xfrm>
            <a:off x="822960" y="1234440"/>
            <a:ext cx="2834640" cy="274320"/>
          </a:xfrm>
          <a:prstGeom prst="rect">
            <a:avLst/>
          </a:prstGeom>
          <a:noFill/>
          <a:ln/>
        </p:spPr>
        <p:txBody>
          <a:bodyPr wrap="square" lIns="254" tIns="254" rIns="254" bIns="254" rtlCol="0" anchor="t">
            <a:normAutofit/>
          </a:bodyPr>
          <a:lstStyle/>
          <a:p>
            <a:pPr algn="l" indent="0" marL="0">
              <a:buNone/>
            </a:pPr>
            <a:r>
              <a:rPr lang="en-US" sz="2100" b="1" dirty="0">
                <a:solidFill>
                  <a:srgbClr val="002B49"/>
                </a:solidFill>
              </a:rPr>
              <a:t>Think-pair-share</a:t>
            </a:r>
            <a:endParaRPr lang="en-US" sz="2100" dirty="0"/>
          </a:p>
        </p:txBody>
      </p:sp>
      <p:sp>
        <p:nvSpPr>
          <p:cNvPr id="6" name="Shape 4"/>
          <p:cNvSpPr/>
          <p:nvPr/>
        </p:nvSpPr>
        <p:spPr>
          <a:xfrm>
            <a:off x="822960" y="1783080"/>
            <a:ext cx="4297680" cy="960120"/>
          </a:xfrm>
          <a:prstGeom prst="roundRect">
            <a:avLst>
              <a:gd name="adj" fmla="val 11429"/>
            </a:avLst>
          </a:prstGeom>
          <a:solidFill>
            <a:srgbClr val="FFF7E0"/>
          </a:solidFill>
          <a:ln w="15240">
            <a:solidFill>
              <a:srgbClr val="C99700"/>
            </a:solidFill>
            <a:prstDash val="solid"/>
          </a:ln>
        </p:spPr>
      </p:sp>
      <p:sp>
        <p:nvSpPr>
          <p:cNvPr id="7" name="Text 5"/>
          <p:cNvSpPr/>
          <p:nvPr/>
        </p:nvSpPr>
        <p:spPr>
          <a:xfrm>
            <a:off x="1024128" y="1965960"/>
            <a:ext cx="3895344" cy="64008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Name one system you consider intelligent. What does it perceive? What does it do?</a:t>
            </a:r>
            <a:endParaRPr lang="en-US" sz="1600" dirty="0"/>
          </a:p>
        </p:txBody>
      </p:sp>
      <p:sp>
        <p:nvSpPr>
          <p:cNvPr id="8" name="Shape 6"/>
          <p:cNvSpPr/>
          <p:nvPr/>
        </p:nvSpPr>
        <p:spPr>
          <a:xfrm>
            <a:off x="5669280" y="1143000"/>
            <a:ext cx="2560320" cy="960120"/>
          </a:xfrm>
          <a:prstGeom prst="roundRect">
            <a:avLst>
              <a:gd name="adj" fmla="val 11429"/>
            </a:avLst>
          </a:prstGeom>
          <a:solidFill>
            <a:srgbClr val="E6F7F8"/>
          </a:solidFill>
          <a:ln w="16510">
            <a:solidFill>
              <a:srgbClr val="0E7C86"/>
            </a:solidFill>
            <a:prstDash val="solid"/>
          </a:ln>
        </p:spPr>
      </p:sp>
      <p:sp>
        <p:nvSpPr>
          <p:cNvPr id="9" name="Text 7"/>
          <p:cNvSpPr/>
          <p:nvPr/>
        </p:nvSpPr>
        <p:spPr>
          <a:xfrm>
            <a:off x="5852160" y="1298448"/>
            <a:ext cx="219456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Perception</a:t>
            </a:r>
            <a:endParaRPr lang="en-US" sz="1600" dirty="0"/>
          </a:p>
        </p:txBody>
      </p:sp>
      <p:sp>
        <p:nvSpPr>
          <p:cNvPr id="10" name="Text 8"/>
          <p:cNvSpPr/>
          <p:nvPr/>
        </p:nvSpPr>
        <p:spPr>
          <a:xfrm>
            <a:off x="5870448" y="1673352"/>
            <a:ext cx="2157984" cy="3200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What information enters the system?</a:t>
            </a:r>
            <a:endParaRPr lang="en-US" sz="1270" dirty="0"/>
          </a:p>
        </p:txBody>
      </p:sp>
      <p:sp>
        <p:nvSpPr>
          <p:cNvPr id="11" name="Shape 9"/>
          <p:cNvSpPr/>
          <p:nvPr/>
        </p:nvSpPr>
        <p:spPr>
          <a:xfrm>
            <a:off x="8641080" y="1143000"/>
            <a:ext cx="2560320" cy="960120"/>
          </a:xfrm>
          <a:prstGeom prst="roundRect">
            <a:avLst>
              <a:gd name="adj" fmla="val 11429"/>
            </a:avLst>
          </a:prstGeom>
          <a:solidFill>
            <a:srgbClr val="FFF3E8"/>
          </a:solidFill>
          <a:ln w="16510">
            <a:solidFill>
              <a:srgbClr val="DD6B20"/>
            </a:solidFill>
            <a:prstDash val="solid"/>
          </a:ln>
        </p:spPr>
      </p:sp>
      <p:sp>
        <p:nvSpPr>
          <p:cNvPr id="12" name="Text 10"/>
          <p:cNvSpPr/>
          <p:nvPr/>
        </p:nvSpPr>
        <p:spPr>
          <a:xfrm>
            <a:off x="8823960" y="1298448"/>
            <a:ext cx="2194560" cy="256032"/>
          </a:xfrm>
          <a:prstGeom prst="rect">
            <a:avLst/>
          </a:prstGeom>
          <a:noFill/>
          <a:ln/>
        </p:spPr>
        <p:txBody>
          <a:bodyPr wrap="square" lIns="254" tIns="254" rIns="254" bIns="254" rtlCol="0" anchor="t">
            <a:normAutofit/>
          </a:bodyPr>
          <a:lstStyle/>
          <a:p>
            <a:pPr algn="ctr" indent="0" marL="0">
              <a:buNone/>
            </a:pPr>
            <a:r>
              <a:rPr lang="en-US" sz="1600" b="1" dirty="0">
                <a:solidFill>
                  <a:srgbClr val="DD6B20"/>
                </a:solidFill>
              </a:rPr>
              <a:t>Action</a:t>
            </a:r>
            <a:endParaRPr lang="en-US" sz="1600" dirty="0"/>
          </a:p>
        </p:txBody>
      </p:sp>
      <p:sp>
        <p:nvSpPr>
          <p:cNvPr id="13" name="Text 11"/>
          <p:cNvSpPr/>
          <p:nvPr/>
        </p:nvSpPr>
        <p:spPr>
          <a:xfrm>
            <a:off x="8842248" y="1673352"/>
            <a:ext cx="2157984" cy="3200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What choices can it make?</a:t>
            </a:r>
            <a:endParaRPr lang="en-US" sz="1270" dirty="0"/>
          </a:p>
        </p:txBody>
      </p:sp>
      <p:sp>
        <p:nvSpPr>
          <p:cNvPr id="14" name="Shape 12"/>
          <p:cNvSpPr/>
          <p:nvPr/>
        </p:nvSpPr>
        <p:spPr>
          <a:xfrm>
            <a:off x="5669280" y="2880360"/>
            <a:ext cx="2560320" cy="960120"/>
          </a:xfrm>
          <a:prstGeom prst="roundRect">
            <a:avLst>
              <a:gd name="adj" fmla="val 11429"/>
            </a:avLst>
          </a:prstGeom>
          <a:solidFill>
            <a:srgbClr val="EFF6FF"/>
          </a:solidFill>
          <a:ln w="16510">
            <a:solidFill>
              <a:srgbClr val="3273DC"/>
            </a:solidFill>
            <a:prstDash val="solid"/>
          </a:ln>
        </p:spPr>
      </p:sp>
      <p:sp>
        <p:nvSpPr>
          <p:cNvPr id="15" name="Text 13"/>
          <p:cNvSpPr/>
          <p:nvPr/>
        </p:nvSpPr>
        <p:spPr>
          <a:xfrm>
            <a:off x="5852160" y="3035808"/>
            <a:ext cx="219456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Objective</a:t>
            </a:r>
            <a:endParaRPr lang="en-US" sz="1600" dirty="0"/>
          </a:p>
        </p:txBody>
      </p:sp>
      <p:sp>
        <p:nvSpPr>
          <p:cNvPr id="16" name="Text 14"/>
          <p:cNvSpPr/>
          <p:nvPr/>
        </p:nvSpPr>
        <p:spPr>
          <a:xfrm>
            <a:off x="5870448" y="3410712"/>
            <a:ext cx="2157984" cy="3200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What makes one behavior better than another?</a:t>
            </a:r>
            <a:endParaRPr lang="en-US" sz="1270" dirty="0"/>
          </a:p>
        </p:txBody>
      </p:sp>
      <p:sp>
        <p:nvSpPr>
          <p:cNvPr id="17" name="Shape 15"/>
          <p:cNvSpPr/>
          <p:nvPr/>
        </p:nvSpPr>
        <p:spPr>
          <a:xfrm>
            <a:off x="8641080" y="2880360"/>
            <a:ext cx="2560320" cy="960120"/>
          </a:xfrm>
          <a:prstGeom prst="roundRect">
            <a:avLst>
              <a:gd name="adj" fmla="val 11429"/>
            </a:avLst>
          </a:prstGeom>
          <a:solidFill>
            <a:srgbClr val="E9F7EF"/>
          </a:solidFill>
          <a:ln w="16510">
            <a:solidFill>
              <a:srgbClr val="2F855A"/>
            </a:solidFill>
            <a:prstDash val="solid"/>
          </a:ln>
        </p:spPr>
      </p:sp>
      <p:sp>
        <p:nvSpPr>
          <p:cNvPr id="18" name="Text 16"/>
          <p:cNvSpPr/>
          <p:nvPr/>
        </p:nvSpPr>
        <p:spPr>
          <a:xfrm>
            <a:off x="8823960" y="3035808"/>
            <a:ext cx="219456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Adaptation</a:t>
            </a:r>
            <a:endParaRPr lang="en-US" sz="1600" dirty="0"/>
          </a:p>
        </p:txBody>
      </p:sp>
      <p:sp>
        <p:nvSpPr>
          <p:cNvPr id="19" name="Text 17"/>
          <p:cNvSpPr/>
          <p:nvPr/>
        </p:nvSpPr>
        <p:spPr>
          <a:xfrm>
            <a:off x="8842248" y="3410712"/>
            <a:ext cx="2157984" cy="3200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Does it learn or improve over time?</a:t>
            </a:r>
            <a:endParaRPr lang="en-US" sz="1270" dirty="0"/>
          </a:p>
        </p:txBody>
      </p:sp>
      <p:sp>
        <p:nvSpPr>
          <p:cNvPr id="20" name="Text 18"/>
          <p:cNvSpPr/>
          <p:nvPr/>
        </p:nvSpPr>
        <p:spPr>
          <a:xfrm>
            <a:off x="1188720" y="4892040"/>
            <a:ext cx="9875520" cy="502920"/>
          </a:xfrm>
          <a:prstGeom prst="rect">
            <a:avLst/>
          </a:prstGeom>
          <a:noFill/>
          <a:ln/>
        </p:spPr>
        <p:txBody>
          <a:bodyPr wrap="square" lIns="254" tIns="254" rIns="254" bIns="254" rtlCol="0" anchor="t">
            <a:normAutofit/>
          </a:bodyPr>
          <a:lstStyle/>
          <a:p>
            <a:pPr algn="ctr" indent="0" marL="0">
              <a:buNone/>
            </a:pPr>
            <a:r>
              <a:rPr lang="en-US" sz="1800" b="1" dirty="0">
                <a:solidFill>
                  <a:srgbClr val="002B49"/>
                </a:solidFill>
              </a:rPr>
              <a:t>Use student examples to move from “smart” as a label to “agent” as an analysis tool.</a:t>
            </a:r>
            <a:endParaRPr lang="en-US" sz="1800" dirty="0"/>
          </a:p>
        </p:txBody>
      </p:sp>
      <p:sp>
        <p:nvSpPr>
          <p:cNvPr id="21" name="Text 19"/>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2" name="Text 20"/>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Four historical approaches to AI</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Human vs. rational; thought vs. behavior.</a:t>
            </a:r>
            <a:endParaRPr lang="en-US" sz="1150" dirty="0"/>
          </a:p>
        </p:txBody>
      </p:sp>
      <p:sp>
        <p:nvSpPr>
          <p:cNvPr id="5" name="Text 3"/>
          <p:cNvSpPr/>
          <p:nvPr/>
        </p:nvSpPr>
        <p:spPr>
          <a:xfrm>
            <a:off x="4297680" y="1024128"/>
            <a:ext cx="1828800" cy="201168"/>
          </a:xfrm>
          <a:prstGeom prst="rect">
            <a:avLst/>
          </a:prstGeom>
          <a:noFill/>
          <a:ln/>
        </p:spPr>
        <p:txBody>
          <a:bodyPr wrap="square" lIns="254" tIns="254" rIns="254" bIns="254" rtlCol="0" anchor="t">
            <a:normAutofit/>
          </a:bodyPr>
          <a:lstStyle/>
          <a:p>
            <a:pPr algn="ctr" indent="0" marL="0">
              <a:buNone/>
            </a:pPr>
            <a:r>
              <a:rPr lang="en-US" sz="1300" b="1" dirty="0">
                <a:solidFill>
                  <a:srgbClr val="475467"/>
                </a:solidFill>
              </a:rPr>
              <a:t>Thinking</a:t>
            </a:r>
            <a:endParaRPr lang="en-US" sz="1300" dirty="0"/>
          </a:p>
        </p:txBody>
      </p:sp>
      <p:sp>
        <p:nvSpPr>
          <p:cNvPr id="6" name="Text 4"/>
          <p:cNvSpPr/>
          <p:nvPr/>
        </p:nvSpPr>
        <p:spPr>
          <a:xfrm>
            <a:off x="6583680" y="1024128"/>
            <a:ext cx="1828800" cy="201168"/>
          </a:xfrm>
          <a:prstGeom prst="rect">
            <a:avLst/>
          </a:prstGeom>
          <a:noFill/>
          <a:ln/>
        </p:spPr>
        <p:txBody>
          <a:bodyPr wrap="square" lIns="254" tIns="254" rIns="254" bIns="254" rtlCol="0" anchor="t">
            <a:normAutofit/>
          </a:bodyPr>
          <a:lstStyle/>
          <a:p>
            <a:pPr algn="ctr" indent="0" marL="0">
              <a:buNone/>
            </a:pPr>
            <a:r>
              <a:rPr lang="en-US" sz="1300" b="1" dirty="0">
                <a:solidFill>
                  <a:srgbClr val="475467"/>
                </a:solidFill>
              </a:rPr>
              <a:t>Acting</a:t>
            </a:r>
            <a:endParaRPr lang="en-US" sz="1300" dirty="0"/>
          </a:p>
        </p:txBody>
      </p:sp>
      <p:sp>
        <p:nvSpPr>
          <p:cNvPr id="7" name="Text 5"/>
          <p:cNvSpPr/>
          <p:nvPr/>
        </p:nvSpPr>
        <p:spPr>
          <a:xfrm>
            <a:off x="1280160" y="1801368"/>
            <a:ext cx="914400" cy="201168"/>
          </a:xfrm>
          <a:prstGeom prst="rect">
            <a:avLst/>
          </a:prstGeom>
          <a:noFill/>
          <a:ln/>
        </p:spPr>
        <p:txBody>
          <a:bodyPr wrap="square" lIns="254" tIns="254" rIns="254" bIns="254" rtlCol="0" anchor="t">
            <a:normAutofit/>
          </a:bodyPr>
          <a:lstStyle/>
          <a:p>
            <a:pPr algn="r" indent="0" marL="0">
              <a:buNone/>
            </a:pPr>
            <a:r>
              <a:rPr lang="en-US" sz="1300" b="1" dirty="0">
                <a:solidFill>
                  <a:srgbClr val="475467"/>
                </a:solidFill>
              </a:rPr>
              <a:t>Humanly</a:t>
            </a:r>
            <a:endParaRPr lang="en-US" sz="1300" dirty="0"/>
          </a:p>
        </p:txBody>
      </p:sp>
      <p:sp>
        <p:nvSpPr>
          <p:cNvPr id="8" name="Text 6"/>
          <p:cNvSpPr/>
          <p:nvPr/>
        </p:nvSpPr>
        <p:spPr>
          <a:xfrm>
            <a:off x="1280160" y="3246120"/>
            <a:ext cx="914400" cy="201168"/>
          </a:xfrm>
          <a:prstGeom prst="rect">
            <a:avLst/>
          </a:prstGeom>
          <a:noFill/>
          <a:ln/>
        </p:spPr>
        <p:txBody>
          <a:bodyPr wrap="square" lIns="254" tIns="254" rIns="254" bIns="254" rtlCol="0" anchor="t">
            <a:normAutofit/>
          </a:bodyPr>
          <a:lstStyle/>
          <a:p>
            <a:pPr algn="r" indent="0" marL="0">
              <a:buNone/>
            </a:pPr>
            <a:r>
              <a:rPr lang="en-US" sz="1300" b="1" dirty="0">
                <a:solidFill>
                  <a:srgbClr val="475467"/>
                </a:solidFill>
              </a:rPr>
              <a:t>Rationally</a:t>
            </a:r>
            <a:endParaRPr lang="en-US" sz="1300" dirty="0"/>
          </a:p>
        </p:txBody>
      </p:sp>
      <p:sp>
        <p:nvSpPr>
          <p:cNvPr id="9" name="Shape 7"/>
          <p:cNvSpPr/>
          <p:nvPr/>
        </p:nvSpPr>
        <p:spPr>
          <a:xfrm>
            <a:off x="2377440" y="1325880"/>
            <a:ext cx="2194560" cy="1143000"/>
          </a:xfrm>
          <a:prstGeom prst="roundRect">
            <a:avLst>
              <a:gd name="adj" fmla="val 9600"/>
            </a:avLst>
          </a:prstGeom>
          <a:solidFill>
            <a:srgbClr val="FFFFFF"/>
          </a:solidFill>
          <a:ln w="16510">
            <a:solidFill>
              <a:srgbClr val="0E7C86"/>
            </a:solidFill>
            <a:prstDash val="solid"/>
          </a:ln>
        </p:spPr>
      </p:sp>
      <p:sp>
        <p:nvSpPr>
          <p:cNvPr id="10" name="Text 8"/>
          <p:cNvSpPr/>
          <p:nvPr/>
        </p:nvSpPr>
        <p:spPr>
          <a:xfrm>
            <a:off x="2560320" y="1481328"/>
            <a:ext cx="182880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Cognitive modeling</a:t>
            </a:r>
            <a:endParaRPr lang="en-US" sz="1600" dirty="0"/>
          </a:p>
        </p:txBody>
      </p:sp>
      <p:sp>
        <p:nvSpPr>
          <p:cNvPr id="11" name="Text 9"/>
          <p:cNvSpPr/>
          <p:nvPr/>
        </p:nvSpPr>
        <p:spPr>
          <a:xfrm>
            <a:off x="2578608" y="1856232"/>
            <a:ext cx="1792224" cy="5029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Does it think like a human?</a:t>
            </a:r>
            <a:endParaRPr lang="en-US" sz="1270" dirty="0"/>
          </a:p>
        </p:txBody>
      </p:sp>
      <p:sp>
        <p:nvSpPr>
          <p:cNvPr id="12" name="Shape 10"/>
          <p:cNvSpPr/>
          <p:nvPr/>
        </p:nvSpPr>
        <p:spPr>
          <a:xfrm>
            <a:off x="4892040" y="1325880"/>
            <a:ext cx="2194560" cy="1143000"/>
          </a:xfrm>
          <a:prstGeom prst="roundRect">
            <a:avLst>
              <a:gd name="adj" fmla="val 9600"/>
            </a:avLst>
          </a:prstGeom>
          <a:solidFill>
            <a:srgbClr val="FFFFFF"/>
          </a:solidFill>
          <a:ln w="16510">
            <a:solidFill>
              <a:srgbClr val="3273DC"/>
            </a:solidFill>
            <a:prstDash val="solid"/>
          </a:ln>
        </p:spPr>
      </p:sp>
      <p:sp>
        <p:nvSpPr>
          <p:cNvPr id="13" name="Text 11"/>
          <p:cNvSpPr/>
          <p:nvPr/>
        </p:nvSpPr>
        <p:spPr>
          <a:xfrm>
            <a:off x="5074920" y="1481328"/>
            <a:ext cx="182880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Turing test</a:t>
            </a:r>
            <a:endParaRPr lang="en-US" sz="1600" dirty="0"/>
          </a:p>
        </p:txBody>
      </p:sp>
      <p:sp>
        <p:nvSpPr>
          <p:cNvPr id="14" name="Text 12"/>
          <p:cNvSpPr/>
          <p:nvPr/>
        </p:nvSpPr>
        <p:spPr>
          <a:xfrm>
            <a:off x="5093208" y="1856232"/>
            <a:ext cx="1792224" cy="5029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Does it act like a human?</a:t>
            </a:r>
            <a:endParaRPr lang="en-US" sz="1270" dirty="0"/>
          </a:p>
        </p:txBody>
      </p:sp>
      <p:sp>
        <p:nvSpPr>
          <p:cNvPr id="15" name="Shape 13"/>
          <p:cNvSpPr/>
          <p:nvPr/>
        </p:nvSpPr>
        <p:spPr>
          <a:xfrm>
            <a:off x="2377440" y="2788920"/>
            <a:ext cx="2194560" cy="1143000"/>
          </a:xfrm>
          <a:prstGeom prst="roundRect">
            <a:avLst>
              <a:gd name="adj" fmla="val 9600"/>
            </a:avLst>
          </a:prstGeom>
          <a:solidFill>
            <a:srgbClr val="FFFFFF"/>
          </a:solidFill>
          <a:ln w="16510">
            <a:solidFill>
              <a:srgbClr val="6B46C1"/>
            </a:solidFill>
            <a:prstDash val="solid"/>
          </a:ln>
        </p:spPr>
      </p:sp>
      <p:sp>
        <p:nvSpPr>
          <p:cNvPr id="16" name="Text 14"/>
          <p:cNvSpPr/>
          <p:nvPr/>
        </p:nvSpPr>
        <p:spPr>
          <a:xfrm>
            <a:off x="2560320" y="2944368"/>
            <a:ext cx="1828800" cy="256032"/>
          </a:xfrm>
          <a:prstGeom prst="rect">
            <a:avLst/>
          </a:prstGeom>
          <a:noFill/>
          <a:ln/>
        </p:spPr>
        <p:txBody>
          <a:bodyPr wrap="square" lIns="254" tIns="254" rIns="254" bIns="254" rtlCol="0" anchor="t">
            <a:normAutofit/>
          </a:bodyPr>
          <a:lstStyle/>
          <a:p>
            <a:pPr algn="ctr" indent="0" marL="0">
              <a:buNone/>
            </a:pPr>
            <a:r>
              <a:rPr lang="en-US" sz="1600" b="1" dirty="0">
                <a:solidFill>
                  <a:srgbClr val="6B46C1"/>
                </a:solidFill>
              </a:rPr>
              <a:t>Laws of thought</a:t>
            </a:r>
            <a:endParaRPr lang="en-US" sz="1600" dirty="0"/>
          </a:p>
        </p:txBody>
      </p:sp>
      <p:sp>
        <p:nvSpPr>
          <p:cNvPr id="17" name="Text 15"/>
          <p:cNvSpPr/>
          <p:nvPr/>
        </p:nvSpPr>
        <p:spPr>
          <a:xfrm>
            <a:off x="2578608" y="3319272"/>
            <a:ext cx="1792224" cy="5029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Does it reason correctly?</a:t>
            </a:r>
            <a:endParaRPr lang="en-US" sz="1270" dirty="0"/>
          </a:p>
        </p:txBody>
      </p:sp>
      <p:sp>
        <p:nvSpPr>
          <p:cNvPr id="18" name="Shape 16"/>
          <p:cNvSpPr/>
          <p:nvPr/>
        </p:nvSpPr>
        <p:spPr>
          <a:xfrm>
            <a:off x="4892040" y="2788920"/>
            <a:ext cx="2194560" cy="1143000"/>
          </a:xfrm>
          <a:prstGeom prst="roundRect">
            <a:avLst>
              <a:gd name="adj" fmla="val 9600"/>
            </a:avLst>
          </a:prstGeom>
          <a:solidFill>
            <a:srgbClr val="FFFFFF"/>
          </a:solidFill>
          <a:ln w="16510">
            <a:solidFill>
              <a:srgbClr val="C99700"/>
            </a:solidFill>
            <a:prstDash val="solid"/>
          </a:ln>
        </p:spPr>
      </p:sp>
      <p:sp>
        <p:nvSpPr>
          <p:cNvPr id="19" name="Text 17"/>
          <p:cNvSpPr/>
          <p:nvPr/>
        </p:nvSpPr>
        <p:spPr>
          <a:xfrm>
            <a:off x="5074920" y="2944368"/>
            <a:ext cx="182880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Rational agents</a:t>
            </a:r>
            <a:endParaRPr lang="en-US" sz="1600" dirty="0"/>
          </a:p>
        </p:txBody>
      </p:sp>
      <p:sp>
        <p:nvSpPr>
          <p:cNvPr id="20" name="Text 18"/>
          <p:cNvSpPr/>
          <p:nvPr/>
        </p:nvSpPr>
        <p:spPr>
          <a:xfrm>
            <a:off x="5093208" y="3319272"/>
            <a:ext cx="1792224" cy="5029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Does it act to achieve the best expected outcome?</a:t>
            </a:r>
            <a:endParaRPr lang="en-US" sz="1270" dirty="0"/>
          </a:p>
        </p:txBody>
      </p:sp>
      <p:sp>
        <p:nvSpPr>
          <p:cNvPr id="21" name="Shape 19"/>
          <p:cNvSpPr/>
          <p:nvPr/>
        </p:nvSpPr>
        <p:spPr>
          <a:xfrm>
            <a:off x="1463040" y="5166360"/>
            <a:ext cx="9235440" cy="640080"/>
          </a:xfrm>
          <a:prstGeom prst="roundRect">
            <a:avLst>
              <a:gd name="adj" fmla="val 17143"/>
            </a:avLst>
          </a:prstGeom>
          <a:solidFill>
            <a:srgbClr val="FFF7E0"/>
          </a:solidFill>
          <a:ln w="15240">
            <a:solidFill>
              <a:srgbClr val="C99700"/>
            </a:solidFill>
            <a:prstDash val="solid"/>
          </a:ln>
        </p:spPr>
      </p:sp>
      <p:sp>
        <p:nvSpPr>
          <p:cNvPr id="22" name="Text 20"/>
          <p:cNvSpPr/>
          <p:nvPr/>
        </p:nvSpPr>
        <p:spPr>
          <a:xfrm>
            <a:off x="1664208" y="5349240"/>
            <a:ext cx="8833104" cy="32004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COMP 469 uses the rational-agent view as the organizing model.</a:t>
            </a:r>
            <a:endParaRPr lang="en-US" sz="1600" dirty="0"/>
          </a:p>
        </p:txBody>
      </p:sp>
      <p:sp>
        <p:nvSpPr>
          <p:cNvPr id="23" name="Text 21"/>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4" name="Text 22"/>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Why “acting rationally” is useful</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It gives us a design target: choose actions that are expected to work.</a:t>
            </a:r>
            <a:endParaRPr lang="en-US" sz="1150" dirty="0"/>
          </a:p>
        </p:txBody>
      </p:sp>
      <p:sp>
        <p:nvSpPr>
          <p:cNvPr id="5" name="Shape 3"/>
          <p:cNvSpPr/>
          <p:nvPr/>
        </p:nvSpPr>
        <p:spPr>
          <a:xfrm>
            <a:off x="777240" y="1280160"/>
            <a:ext cx="3429000" cy="1508760"/>
          </a:xfrm>
          <a:prstGeom prst="roundRect">
            <a:avLst>
              <a:gd name="adj" fmla="val 7273"/>
            </a:avLst>
          </a:prstGeom>
          <a:solidFill>
            <a:srgbClr val="EFF6FF"/>
          </a:solidFill>
          <a:ln w="16510">
            <a:solidFill>
              <a:srgbClr val="3273DC"/>
            </a:solidFill>
            <a:prstDash val="solid"/>
          </a:ln>
        </p:spPr>
      </p:sp>
      <p:sp>
        <p:nvSpPr>
          <p:cNvPr id="6" name="Text 4"/>
          <p:cNvSpPr/>
          <p:nvPr/>
        </p:nvSpPr>
        <p:spPr>
          <a:xfrm>
            <a:off x="960120" y="1435608"/>
            <a:ext cx="306324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General</a:t>
            </a:r>
            <a:endParaRPr lang="en-US" sz="1600" dirty="0"/>
          </a:p>
        </p:txBody>
      </p:sp>
      <p:sp>
        <p:nvSpPr>
          <p:cNvPr id="7" name="Text 5"/>
          <p:cNvSpPr/>
          <p:nvPr/>
        </p:nvSpPr>
        <p:spPr>
          <a:xfrm>
            <a:off x="978408" y="1810512"/>
            <a:ext cx="3026664" cy="8686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Works for software, robots, games, classifiers, assistants, and decision systems.</a:t>
            </a:r>
            <a:endParaRPr lang="en-US" sz="1270" dirty="0"/>
          </a:p>
        </p:txBody>
      </p:sp>
      <p:sp>
        <p:nvSpPr>
          <p:cNvPr id="8" name="Shape 6"/>
          <p:cNvSpPr/>
          <p:nvPr/>
        </p:nvSpPr>
        <p:spPr>
          <a:xfrm>
            <a:off x="4389120" y="1280160"/>
            <a:ext cx="3429000" cy="1508760"/>
          </a:xfrm>
          <a:prstGeom prst="roundRect">
            <a:avLst>
              <a:gd name="adj" fmla="val 7273"/>
            </a:avLst>
          </a:prstGeom>
          <a:solidFill>
            <a:srgbClr val="FFF7E0"/>
          </a:solidFill>
          <a:ln w="16510">
            <a:solidFill>
              <a:srgbClr val="C99700"/>
            </a:solidFill>
            <a:prstDash val="solid"/>
          </a:ln>
        </p:spPr>
      </p:sp>
      <p:sp>
        <p:nvSpPr>
          <p:cNvPr id="9" name="Text 7"/>
          <p:cNvSpPr/>
          <p:nvPr/>
        </p:nvSpPr>
        <p:spPr>
          <a:xfrm>
            <a:off x="4572000" y="1435608"/>
            <a:ext cx="306324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Measurable</a:t>
            </a:r>
            <a:endParaRPr lang="en-US" sz="1600" dirty="0"/>
          </a:p>
        </p:txBody>
      </p:sp>
      <p:sp>
        <p:nvSpPr>
          <p:cNvPr id="10" name="Text 8"/>
          <p:cNvSpPr/>
          <p:nvPr/>
        </p:nvSpPr>
        <p:spPr>
          <a:xfrm>
            <a:off x="4590288" y="1810512"/>
            <a:ext cx="3026664" cy="8686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Connects behavior to performance measures, evidence, and uncertainty.</a:t>
            </a:r>
            <a:endParaRPr lang="en-US" sz="1270" dirty="0"/>
          </a:p>
        </p:txBody>
      </p:sp>
      <p:sp>
        <p:nvSpPr>
          <p:cNvPr id="11" name="Shape 9"/>
          <p:cNvSpPr/>
          <p:nvPr/>
        </p:nvSpPr>
        <p:spPr>
          <a:xfrm>
            <a:off x="8001000" y="1280160"/>
            <a:ext cx="3429000" cy="1508760"/>
          </a:xfrm>
          <a:prstGeom prst="roundRect">
            <a:avLst>
              <a:gd name="adj" fmla="val 7273"/>
            </a:avLst>
          </a:prstGeom>
          <a:solidFill>
            <a:srgbClr val="E9F7EF"/>
          </a:solidFill>
          <a:ln w="16510">
            <a:solidFill>
              <a:srgbClr val="2F855A"/>
            </a:solidFill>
            <a:prstDash val="solid"/>
          </a:ln>
        </p:spPr>
      </p:sp>
      <p:sp>
        <p:nvSpPr>
          <p:cNvPr id="12" name="Text 10"/>
          <p:cNvSpPr/>
          <p:nvPr/>
        </p:nvSpPr>
        <p:spPr>
          <a:xfrm>
            <a:off x="8183880" y="1435608"/>
            <a:ext cx="306324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Buildable</a:t>
            </a:r>
            <a:endParaRPr lang="en-US" sz="1600" dirty="0"/>
          </a:p>
        </p:txBody>
      </p:sp>
      <p:sp>
        <p:nvSpPr>
          <p:cNvPr id="13" name="Text 11"/>
          <p:cNvSpPr/>
          <p:nvPr/>
        </p:nvSpPr>
        <p:spPr>
          <a:xfrm>
            <a:off x="8202168" y="1810512"/>
            <a:ext cx="3026664" cy="8686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Lets us derive programs from task descriptions instead of relying only on intuition.</a:t>
            </a:r>
            <a:endParaRPr lang="en-US" sz="1270" dirty="0"/>
          </a:p>
        </p:txBody>
      </p:sp>
      <p:sp>
        <p:nvSpPr>
          <p:cNvPr id="14" name="Text 12"/>
          <p:cNvSpPr/>
          <p:nvPr/>
        </p:nvSpPr>
        <p:spPr>
          <a:xfrm>
            <a:off x="1097280" y="4023360"/>
            <a:ext cx="9966960" cy="347472"/>
          </a:xfrm>
          <a:prstGeom prst="rect">
            <a:avLst/>
          </a:prstGeom>
          <a:noFill/>
          <a:ln/>
        </p:spPr>
        <p:txBody>
          <a:bodyPr wrap="square" lIns="254" tIns="254" rIns="254" bIns="254" rtlCol="0" anchor="t">
            <a:normAutofit/>
          </a:bodyPr>
          <a:lstStyle/>
          <a:p>
            <a:pPr algn="ctr" indent="0" marL="0">
              <a:buNone/>
            </a:pPr>
            <a:r>
              <a:rPr lang="en-US" sz="2200" b="1" dirty="0">
                <a:solidFill>
                  <a:srgbClr val="002B49"/>
                </a:solidFill>
              </a:rPr>
              <a:t>But rationality depends on the objective we provide.</a:t>
            </a:r>
            <a:endParaRPr lang="en-US" sz="2200" dirty="0"/>
          </a:p>
        </p:txBody>
      </p:sp>
      <p:sp>
        <p:nvSpPr>
          <p:cNvPr id="15" name="Text 13"/>
          <p:cNvSpPr/>
          <p:nvPr/>
        </p:nvSpPr>
        <p:spPr>
          <a:xfrm>
            <a:off x="1371600" y="4617720"/>
            <a:ext cx="9418320" cy="411480"/>
          </a:xfrm>
          <a:prstGeom prst="rect">
            <a:avLst/>
          </a:prstGeom>
          <a:noFill/>
          <a:ln/>
        </p:spPr>
        <p:txBody>
          <a:bodyPr wrap="square" lIns="254" tIns="254" rIns="254" bIns="254" rtlCol="0" anchor="t">
            <a:normAutofit/>
          </a:bodyPr>
          <a:lstStyle/>
          <a:p>
            <a:pPr algn="ctr" indent="0" marL="0">
              <a:buNone/>
            </a:pPr>
            <a:r>
              <a:rPr lang="en-US" sz="1600" dirty="0">
                <a:solidFill>
                  <a:srgbClr val="111827"/>
                </a:solidFill>
              </a:rPr>
              <a:t>Poorly specified goals can produce technically “rational” behavior that no one actually wants.</a:t>
            </a:r>
            <a:endParaRPr lang="en-US" sz="1600" dirty="0"/>
          </a:p>
        </p:txBody>
      </p:sp>
      <p:sp>
        <p:nvSpPr>
          <p:cNvPr id="16" name="Text 14"/>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7" name="Text 15"/>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Agent vocabulary</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The same words will appear in lecture, lab, and exams.</a:t>
            </a:r>
            <a:endParaRPr lang="en-US" sz="1150" dirty="0"/>
          </a:p>
        </p:txBody>
      </p:sp>
      <p:sp>
        <p:nvSpPr>
          <p:cNvPr id="5" name="Shape 3"/>
          <p:cNvSpPr/>
          <p:nvPr/>
        </p:nvSpPr>
        <p:spPr>
          <a:xfrm>
            <a:off x="2926080" y="2148840"/>
            <a:ext cx="1645920" cy="0"/>
          </a:xfrm>
          <a:prstGeom prst="line">
            <a:avLst/>
          </a:prstGeom>
          <a:noFill/>
          <a:ln w="27940">
            <a:solidFill>
              <a:srgbClr val="0E7C86"/>
            </a:solidFill>
            <a:prstDash val="solid"/>
            <a:tailEnd type="triangle"/>
          </a:ln>
        </p:spPr>
      </p:sp>
      <p:sp>
        <p:nvSpPr>
          <p:cNvPr id="6" name="Shape 4"/>
          <p:cNvSpPr/>
          <p:nvPr/>
        </p:nvSpPr>
        <p:spPr>
          <a:xfrm>
            <a:off x="7589520" y="2148840"/>
            <a:ext cx="1645920" cy="0"/>
          </a:xfrm>
          <a:prstGeom prst="line">
            <a:avLst/>
          </a:prstGeom>
          <a:noFill/>
          <a:ln w="27940">
            <a:solidFill>
              <a:srgbClr val="DD6B20"/>
            </a:solidFill>
            <a:prstDash val="solid"/>
            <a:tailEnd type="triangle"/>
          </a:ln>
        </p:spPr>
      </p:sp>
      <p:sp>
        <p:nvSpPr>
          <p:cNvPr id="7" name="Shape 5"/>
          <p:cNvSpPr/>
          <p:nvPr/>
        </p:nvSpPr>
        <p:spPr>
          <a:xfrm>
            <a:off x="9235440" y="4251960"/>
            <a:ext cx="-1645920" cy="0"/>
          </a:xfrm>
          <a:prstGeom prst="line">
            <a:avLst/>
          </a:prstGeom>
          <a:noFill/>
          <a:ln w="27940">
            <a:solidFill>
              <a:srgbClr val="DD6B20"/>
            </a:solidFill>
            <a:prstDash val="solid"/>
            <a:tailEnd type="triangle"/>
          </a:ln>
        </p:spPr>
      </p:sp>
      <p:sp>
        <p:nvSpPr>
          <p:cNvPr id="8" name="Shape 6"/>
          <p:cNvSpPr/>
          <p:nvPr/>
        </p:nvSpPr>
        <p:spPr>
          <a:xfrm>
            <a:off x="4572000" y="4251960"/>
            <a:ext cx="-1645920" cy="0"/>
          </a:xfrm>
          <a:prstGeom prst="line">
            <a:avLst/>
          </a:prstGeom>
          <a:noFill/>
          <a:ln w="27940">
            <a:solidFill>
              <a:srgbClr val="0E7C86"/>
            </a:solidFill>
            <a:prstDash val="solid"/>
            <a:tailEnd type="triangle"/>
          </a:ln>
        </p:spPr>
      </p:sp>
      <p:sp>
        <p:nvSpPr>
          <p:cNvPr id="9" name="Shape 7"/>
          <p:cNvSpPr/>
          <p:nvPr/>
        </p:nvSpPr>
        <p:spPr>
          <a:xfrm>
            <a:off x="731520" y="2103120"/>
            <a:ext cx="2103120" cy="1600200"/>
          </a:xfrm>
          <a:prstGeom prst="roundRect">
            <a:avLst>
              <a:gd name="adj" fmla="val 6857"/>
            </a:avLst>
          </a:prstGeom>
          <a:solidFill>
            <a:srgbClr val="E6F7F8"/>
          </a:solidFill>
          <a:ln w="16510">
            <a:solidFill>
              <a:srgbClr val="0E7C86"/>
            </a:solidFill>
            <a:prstDash val="solid"/>
          </a:ln>
        </p:spPr>
      </p:sp>
      <p:sp>
        <p:nvSpPr>
          <p:cNvPr id="10" name="Text 8"/>
          <p:cNvSpPr/>
          <p:nvPr/>
        </p:nvSpPr>
        <p:spPr>
          <a:xfrm>
            <a:off x="914400" y="2258568"/>
            <a:ext cx="173736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Environment</a:t>
            </a:r>
            <a:endParaRPr lang="en-US" sz="1600" dirty="0"/>
          </a:p>
        </p:txBody>
      </p:sp>
      <p:sp>
        <p:nvSpPr>
          <p:cNvPr id="11" name="Text 9"/>
          <p:cNvSpPr/>
          <p:nvPr/>
        </p:nvSpPr>
        <p:spPr>
          <a:xfrm>
            <a:off x="932688" y="2633472"/>
            <a:ext cx="1700784" cy="9601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The part of the world relevant to the task.</a:t>
            </a:r>
            <a:endParaRPr lang="en-US" sz="1270" dirty="0"/>
          </a:p>
        </p:txBody>
      </p:sp>
      <p:sp>
        <p:nvSpPr>
          <p:cNvPr id="12" name="Shape 10"/>
          <p:cNvSpPr/>
          <p:nvPr/>
        </p:nvSpPr>
        <p:spPr>
          <a:xfrm>
            <a:off x="4709160" y="1920240"/>
            <a:ext cx="2697480" cy="1965960"/>
          </a:xfrm>
          <a:prstGeom prst="roundRect">
            <a:avLst>
              <a:gd name="adj" fmla="val 5581"/>
            </a:avLst>
          </a:prstGeom>
          <a:solidFill>
            <a:srgbClr val="FFFFFF"/>
          </a:solidFill>
          <a:ln w="16510">
            <a:solidFill>
              <a:srgbClr val="002B49"/>
            </a:solidFill>
            <a:prstDash val="solid"/>
          </a:ln>
        </p:spPr>
      </p:sp>
      <p:sp>
        <p:nvSpPr>
          <p:cNvPr id="13" name="Text 11"/>
          <p:cNvSpPr/>
          <p:nvPr/>
        </p:nvSpPr>
        <p:spPr>
          <a:xfrm>
            <a:off x="4892040" y="2075688"/>
            <a:ext cx="2331720" cy="256032"/>
          </a:xfrm>
          <a:prstGeom prst="rect">
            <a:avLst/>
          </a:prstGeom>
          <a:noFill/>
          <a:ln/>
        </p:spPr>
        <p:txBody>
          <a:bodyPr wrap="square" lIns="254" tIns="254" rIns="254" bIns="254" rtlCol="0" anchor="t">
            <a:normAutofit/>
          </a:bodyPr>
          <a:lstStyle/>
          <a:p>
            <a:pPr algn="ctr" indent="0" marL="0">
              <a:buNone/>
            </a:pPr>
            <a:r>
              <a:rPr lang="en-US" sz="1600" b="1" dirty="0">
                <a:solidFill>
                  <a:srgbClr val="002B49"/>
                </a:solidFill>
              </a:rPr>
              <a:t>Agent</a:t>
            </a:r>
            <a:endParaRPr lang="en-US" sz="1600" dirty="0"/>
          </a:p>
        </p:txBody>
      </p:sp>
      <p:sp>
        <p:nvSpPr>
          <p:cNvPr id="14" name="Text 12"/>
          <p:cNvSpPr/>
          <p:nvPr/>
        </p:nvSpPr>
        <p:spPr>
          <a:xfrm>
            <a:off x="4910328" y="2450592"/>
            <a:ext cx="2295144" cy="13258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Program + architecture that maps percepts to actions.</a:t>
            </a:r>
            <a:endParaRPr lang="en-US" sz="1270" dirty="0"/>
          </a:p>
        </p:txBody>
      </p:sp>
      <p:sp>
        <p:nvSpPr>
          <p:cNvPr id="15" name="Shape 13"/>
          <p:cNvSpPr/>
          <p:nvPr/>
        </p:nvSpPr>
        <p:spPr>
          <a:xfrm>
            <a:off x="9326880" y="2103120"/>
            <a:ext cx="2103120" cy="1600200"/>
          </a:xfrm>
          <a:prstGeom prst="roundRect">
            <a:avLst>
              <a:gd name="adj" fmla="val 6857"/>
            </a:avLst>
          </a:prstGeom>
          <a:solidFill>
            <a:srgbClr val="FFF3E8"/>
          </a:solidFill>
          <a:ln w="16510">
            <a:solidFill>
              <a:srgbClr val="DD6B20"/>
            </a:solidFill>
            <a:prstDash val="solid"/>
          </a:ln>
        </p:spPr>
      </p:sp>
      <p:sp>
        <p:nvSpPr>
          <p:cNvPr id="16" name="Text 14"/>
          <p:cNvSpPr/>
          <p:nvPr/>
        </p:nvSpPr>
        <p:spPr>
          <a:xfrm>
            <a:off x="9509760" y="2258568"/>
            <a:ext cx="1737360" cy="256032"/>
          </a:xfrm>
          <a:prstGeom prst="rect">
            <a:avLst/>
          </a:prstGeom>
          <a:noFill/>
          <a:ln/>
        </p:spPr>
        <p:txBody>
          <a:bodyPr wrap="square" lIns="254" tIns="254" rIns="254" bIns="254" rtlCol="0" anchor="t">
            <a:normAutofit/>
          </a:bodyPr>
          <a:lstStyle/>
          <a:p>
            <a:pPr algn="ctr" indent="0" marL="0">
              <a:buNone/>
            </a:pPr>
            <a:r>
              <a:rPr lang="en-US" sz="1600" b="1" dirty="0">
                <a:solidFill>
                  <a:srgbClr val="DD6B20"/>
                </a:solidFill>
              </a:rPr>
              <a:t>Actions</a:t>
            </a:r>
            <a:endParaRPr lang="en-US" sz="1600" dirty="0"/>
          </a:p>
        </p:txBody>
      </p:sp>
      <p:sp>
        <p:nvSpPr>
          <p:cNvPr id="17" name="Text 15"/>
          <p:cNvSpPr/>
          <p:nvPr/>
        </p:nvSpPr>
        <p:spPr>
          <a:xfrm>
            <a:off x="9528048" y="2633472"/>
            <a:ext cx="1700784" cy="9601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Choices that affect the environment or gather information.</a:t>
            </a:r>
            <a:endParaRPr lang="en-US" sz="1270" dirty="0"/>
          </a:p>
        </p:txBody>
      </p:sp>
      <p:sp>
        <p:nvSpPr>
          <p:cNvPr id="18" name="Text 16"/>
          <p:cNvSpPr/>
          <p:nvPr/>
        </p:nvSpPr>
        <p:spPr>
          <a:xfrm>
            <a:off x="3246120" y="1874520"/>
            <a:ext cx="1234440" cy="182880"/>
          </a:xfrm>
          <a:prstGeom prst="rect">
            <a:avLst/>
          </a:prstGeom>
          <a:noFill/>
          <a:ln/>
        </p:spPr>
        <p:txBody>
          <a:bodyPr wrap="square" lIns="254" tIns="254" rIns="254" bIns="254" rtlCol="0" anchor="t">
            <a:normAutofit/>
          </a:bodyPr>
          <a:lstStyle/>
          <a:p>
            <a:pPr algn="ctr" indent="0" marL="0">
              <a:buNone/>
            </a:pPr>
            <a:r>
              <a:rPr lang="en-US" sz="1050" b="1" dirty="0">
                <a:solidFill>
                  <a:srgbClr val="0E7C86"/>
                </a:solidFill>
              </a:rPr>
              <a:t>sensors → percepts</a:t>
            </a:r>
            <a:endParaRPr lang="en-US" sz="1050" dirty="0"/>
          </a:p>
        </p:txBody>
      </p:sp>
      <p:sp>
        <p:nvSpPr>
          <p:cNvPr id="19" name="Text 17"/>
          <p:cNvSpPr/>
          <p:nvPr/>
        </p:nvSpPr>
        <p:spPr>
          <a:xfrm>
            <a:off x="7818120" y="1874520"/>
            <a:ext cx="1005840" cy="182880"/>
          </a:xfrm>
          <a:prstGeom prst="rect">
            <a:avLst/>
          </a:prstGeom>
          <a:noFill/>
          <a:ln/>
        </p:spPr>
        <p:txBody>
          <a:bodyPr wrap="square" lIns="254" tIns="254" rIns="254" bIns="254" rtlCol="0" anchor="t">
            <a:normAutofit/>
          </a:bodyPr>
          <a:lstStyle/>
          <a:p>
            <a:pPr algn="ctr" indent="0" marL="0">
              <a:buNone/>
            </a:pPr>
            <a:r>
              <a:rPr lang="en-US" sz="1050" b="1" dirty="0">
                <a:solidFill>
                  <a:srgbClr val="DD6B20"/>
                </a:solidFill>
              </a:rPr>
              <a:t>actuators</a:t>
            </a:r>
            <a:endParaRPr lang="en-US" sz="1050" dirty="0"/>
          </a:p>
        </p:txBody>
      </p:sp>
      <p:sp>
        <p:nvSpPr>
          <p:cNvPr id="20" name="Shape 18"/>
          <p:cNvSpPr/>
          <p:nvPr/>
        </p:nvSpPr>
        <p:spPr>
          <a:xfrm>
            <a:off x="1280160" y="5257800"/>
            <a:ext cx="9601200" cy="685800"/>
          </a:xfrm>
          <a:prstGeom prst="roundRect">
            <a:avLst>
              <a:gd name="adj" fmla="val 16000"/>
            </a:avLst>
          </a:prstGeom>
          <a:solidFill>
            <a:srgbClr val="FFF7E0"/>
          </a:solidFill>
          <a:ln w="15240">
            <a:solidFill>
              <a:srgbClr val="C99700"/>
            </a:solidFill>
            <a:prstDash val="solid"/>
          </a:ln>
        </p:spPr>
      </p:sp>
      <p:sp>
        <p:nvSpPr>
          <p:cNvPr id="21" name="Text 19"/>
          <p:cNvSpPr/>
          <p:nvPr/>
        </p:nvSpPr>
        <p:spPr>
          <a:xfrm>
            <a:off x="1481328" y="5440680"/>
            <a:ext cx="9198864" cy="36576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An agent is anything that perceives its environment through sensors and acts on it through actuators.</a:t>
            </a:r>
            <a:endParaRPr lang="en-US" sz="1600" dirty="0"/>
          </a:p>
        </p:txBody>
      </p:sp>
      <p:sp>
        <p:nvSpPr>
          <p:cNvPr id="22" name="Text 20"/>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3" name="Text 21"/>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Percepts, histories, and actions</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The current percept is not always enough.</a:t>
            </a:r>
            <a:endParaRPr lang="en-US" sz="1150" dirty="0"/>
          </a:p>
        </p:txBody>
      </p:sp>
      <p:sp>
        <p:nvSpPr>
          <p:cNvPr id="5" name="Shape 3"/>
          <p:cNvSpPr/>
          <p:nvPr/>
        </p:nvSpPr>
        <p:spPr>
          <a:xfrm>
            <a:off x="868680" y="1508760"/>
            <a:ext cx="3063240" cy="1234440"/>
          </a:xfrm>
          <a:prstGeom prst="roundRect">
            <a:avLst>
              <a:gd name="adj" fmla="val 8889"/>
            </a:avLst>
          </a:prstGeom>
          <a:solidFill>
            <a:srgbClr val="E6F7F8"/>
          </a:solidFill>
          <a:ln w="16510">
            <a:solidFill>
              <a:srgbClr val="0E7C86"/>
            </a:solidFill>
            <a:prstDash val="solid"/>
          </a:ln>
        </p:spPr>
      </p:sp>
      <p:sp>
        <p:nvSpPr>
          <p:cNvPr id="6" name="Text 4"/>
          <p:cNvSpPr/>
          <p:nvPr/>
        </p:nvSpPr>
        <p:spPr>
          <a:xfrm>
            <a:off x="1051560" y="1664208"/>
            <a:ext cx="269748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Percept</a:t>
            </a:r>
            <a:endParaRPr lang="en-US" sz="1600" dirty="0"/>
          </a:p>
        </p:txBody>
      </p:sp>
      <p:sp>
        <p:nvSpPr>
          <p:cNvPr id="7" name="Text 5"/>
          <p:cNvSpPr/>
          <p:nvPr/>
        </p:nvSpPr>
        <p:spPr>
          <a:xfrm>
            <a:off x="1069848" y="2039112"/>
            <a:ext cx="2660904" cy="5943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The content currently received by sensors.</a:t>
            </a:r>
            <a:endParaRPr lang="en-US" sz="1270" dirty="0"/>
          </a:p>
        </p:txBody>
      </p:sp>
      <p:sp>
        <p:nvSpPr>
          <p:cNvPr id="8" name="Shape 6"/>
          <p:cNvSpPr/>
          <p:nvPr/>
        </p:nvSpPr>
        <p:spPr>
          <a:xfrm>
            <a:off x="4526280" y="1508760"/>
            <a:ext cx="3063240" cy="1234440"/>
          </a:xfrm>
          <a:prstGeom prst="roundRect">
            <a:avLst>
              <a:gd name="adj" fmla="val 8889"/>
            </a:avLst>
          </a:prstGeom>
          <a:solidFill>
            <a:srgbClr val="EFF6FF"/>
          </a:solidFill>
          <a:ln w="16510">
            <a:solidFill>
              <a:srgbClr val="3273DC"/>
            </a:solidFill>
            <a:prstDash val="solid"/>
          </a:ln>
        </p:spPr>
      </p:sp>
      <p:sp>
        <p:nvSpPr>
          <p:cNvPr id="9" name="Text 7"/>
          <p:cNvSpPr/>
          <p:nvPr/>
        </p:nvSpPr>
        <p:spPr>
          <a:xfrm>
            <a:off x="4709160" y="1664208"/>
            <a:ext cx="269748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Percept sequence</a:t>
            </a:r>
            <a:endParaRPr lang="en-US" sz="1600" dirty="0"/>
          </a:p>
        </p:txBody>
      </p:sp>
      <p:sp>
        <p:nvSpPr>
          <p:cNvPr id="10" name="Text 8"/>
          <p:cNvSpPr/>
          <p:nvPr/>
        </p:nvSpPr>
        <p:spPr>
          <a:xfrm>
            <a:off x="4727448" y="2039112"/>
            <a:ext cx="2660904" cy="5943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The complete history of percepts so far.</a:t>
            </a:r>
            <a:endParaRPr lang="en-US" sz="1270" dirty="0"/>
          </a:p>
        </p:txBody>
      </p:sp>
      <p:sp>
        <p:nvSpPr>
          <p:cNvPr id="11" name="Shape 9"/>
          <p:cNvSpPr/>
          <p:nvPr/>
        </p:nvSpPr>
        <p:spPr>
          <a:xfrm>
            <a:off x="8183880" y="1508760"/>
            <a:ext cx="3063240" cy="1234440"/>
          </a:xfrm>
          <a:prstGeom prst="roundRect">
            <a:avLst>
              <a:gd name="adj" fmla="val 8889"/>
            </a:avLst>
          </a:prstGeom>
          <a:solidFill>
            <a:srgbClr val="F3EEFF"/>
          </a:solidFill>
          <a:ln w="16510">
            <a:solidFill>
              <a:srgbClr val="6B46C1"/>
            </a:solidFill>
            <a:prstDash val="solid"/>
          </a:ln>
        </p:spPr>
      </p:sp>
      <p:sp>
        <p:nvSpPr>
          <p:cNvPr id="12" name="Text 10"/>
          <p:cNvSpPr/>
          <p:nvPr/>
        </p:nvSpPr>
        <p:spPr>
          <a:xfrm>
            <a:off x="8366760" y="1664208"/>
            <a:ext cx="2697480" cy="256032"/>
          </a:xfrm>
          <a:prstGeom prst="rect">
            <a:avLst/>
          </a:prstGeom>
          <a:noFill/>
          <a:ln/>
        </p:spPr>
        <p:txBody>
          <a:bodyPr wrap="square" lIns="254" tIns="254" rIns="254" bIns="254" rtlCol="0" anchor="t">
            <a:normAutofit/>
          </a:bodyPr>
          <a:lstStyle/>
          <a:p>
            <a:pPr algn="ctr" indent="0" marL="0">
              <a:buNone/>
            </a:pPr>
            <a:r>
              <a:rPr lang="en-US" sz="1600" b="1" dirty="0">
                <a:solidFill>
                  <a:srgbClr val="6B46C1"/>
                </a:solidFill>
              </a:rPr>
              <a:t>Agent function</a:t>
            </a:r>
            <a:endParaRPr lang="en-US" sz="1600" dirty="0"/>
          </a:p>
        </p:txBody>
      </p:sp>
      <p:sp>
        <p:nvSpPr>
          <p:cNvPr id="13" name="Text 11"/>
          <p:cNvSpPr/>
          <p:nvPr/>
        </p:nvSpPr>
        <p:spPr>
          <a:xfrm>
            <a:off x="8385048" y="2039112"/>
            <a:ext cx="2660904" cy="5943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A mapping from possible percept sequences to actions.</a:t>
            </a:r>
            <a:endParaRPr lang="en-US" sz="1270" dirty="0"/>
          </a:p>
        </p:txBody>
      </p:sp>
      <p:sp>
        <p:nvSpPr>
          <p:cNvPr id="14" name="Shape 12"/>
          <p:cNvSpPr/>
          <p:nvPr/>
        </p:nvSpPr>
        <p:spPr>
          <a:xfrm>
            <a:off x="3931920" y="2121408"/>
            <a:ext cx="548640" cy="0"/>
          </a:xfrm>
          <a:prstGeom prst="line">
            <a:avLst/>
          </a:prstGeom>
          <a:noFill/>
          <a:ln w="27940">
            <a:solidFill>
              <a:srgbClr val="475467"/>
            </a:solidFill>
            <a:prstDash val="solid"/>
            <a:tailEnd type="triangle"/>
          </a:ln>
        </p:spPr>
      </p:sp>
      <p:sp>
        <p:nvSpPr>
          <p:cNvPr id="15" name="Shape 13"/>
          <p:cNvSpPr/>
          <p:nvPr/>
        </p:nvSpPr>
        <p:spPr>
          <a:xfrm>
            <a:off x="7589520" y="2121408"/>
            <a:ext cx="548640" cy="0"/>
          </a:xfrm>
          <a:prstGeom prst="line">
            <a:avLst/>
          </a:prstGeom>
          <a:noFill/>
          <a:ln w="27940">
            <a:solidFill>
              <a:srgbClr val="475467"/>
            </a:solidFill>
            <a:prstDash val="solid"/>
            <a:tailEnd type="triangle"/>
          </a:ln>
        </p:spPr>
      </p:sp>
      <p:sp>
        <p:nvSpPr>
          <p:cNvPr id="16" name="Text 14"/>
          <p:cNvSpPr/>
          <p:nvPr/>
        </p:nvSpPr>
        <p:spPr>
          <a:xfrm>
            <a:off x="1005840" y="3840480"/>
            <a:ext cx="3108960" cy="274320"/>
          </a:xfrm>
          <a:prstGeom prst="rect">
            <a:avLst/>
          </a:prstGeom>
          <a:noFill/>
          <a:ln/>
        </p:spPr>
        <p:txBody>
          <a:bodyPr wrap="square" lIns="254" tIns="254" rIns="254" bIns="254" rtlCol="0" anchor="t">
            <a:normAutofit/>
          </a:bodyPr>
          <a:lstStyle/>
          <a:p>
            <a:pPr algn="l" indent="0" marL="0">
              <a:buNone/>
            </a:pPr>
            <a:r>
              <a:rPr lang="en-US" sz="1800" b="1" dirty="0">
                <a:solidFill>
                  <a:srgbClr val="002B49"/>
                </a:solidFill>
              </a:rPr>
              <a:t>Example: braking from a video frame</a:t>
            </a:r>
            <a:endParaRPr lang="en-US" sz="1800" dirty="0"/>
          </a:p>
        </p:txBody>
      </p:sp>
      <p:sp>
        <p:nvSpPr>
          <p:cNvPr id="17" name="Text 15"/>
          <p:cNvSpPr/>
          <p:nvPr/>
        </p:nvSpPr>
        <p:spPr>
          <a:xfrm>
            <a:off x="1143000" y="4315968"/>
            <a:ext cx="9692640" cy="1051560"/>
          </a:xfrm>
          <a:prstGeom prst="rect">
            <a:avLst/>
          </a:prstGeom>
          <a:noFill/>
          <a:ln/>
        </p:spPr>
        <p:txBody>
          <a:bodyPr wrap="square" lIns="381" tIns="381" rIns="381" bIns="381" rtlCol="0" anchor="ctr">
            <a:normAutofit/>
          </a:bodyPr>
          <a:lstStyle/>
          <a:p>
            <a:pPr marL="228600" indent="-228600">
              <a:buSzPct val="100000"/>
              <a:buChar char="•"/>
            </a:pPr>
            <a:r>
              <a:rPr lang="en-US" sz="1550" dirty="0">
                <a:solidFill>
                  <a:srgbClr val="111827"/>
                </a:solidFill>
              </a:rPr>
              <a:t>A single frame may show red lights.
</a:t>
            </a:r>
            <a:endParaRPr lang="en-US" sz="1550" dirty="0"/>
          </a:p>
          <a:p>
            <a:pPr marL="228600" indent="-228600">
              <a:buSzPct val="100000"/>
              <a:buChar char="•"/>
            </a:pPr>
            <a:r>
              <a:rPr lang="en-US" sz="1550" dirty="0">
                <a:solidFill>
                  <a:srgbClr val="111827"/>
                </a:solidFill>
              </a:rPr>
              <a:t>A short history can reveal whether lights just turned on.
</a:t>
            </a:r>
            <a:endParaRPr lang="en-US" sz="1550" dirty="0"/>
          </a:p>
          <a:p>
            <a:pPr marL="228600" indent="-228600">
              <a:buSzPct val="100000"/>
              <a:buChar char="•"/>
            </a:pPr>
            <a:r>
              <a:rPr lang="en-US" sz="1550" dirty="0">
                <a:solidFill>
                  <a:srgbClr val="111827"/>
                </a:solidFill>
              </a:rPr>
              <a:t>Memory changes what the agent can infer.</a:t>
            </a:r>
            <a:endParaRPr lang="en-US" sz="1550" dirty="0"/>
          </a:p>
        </p:txBody>
      </p:sp>
      <p:sp>
        <p:nvSpPr>
          <p:cNvPr id="18" name="Text 16"/>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9" name="Text 17"/>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Agent function vs. agent program</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One is an abstract behavior; the other is executable implementation.</a:t>
            </a:r>
            <a:endParaRPr lang="en-US" sz="1150" dirty="0"/>
          </a:p>
        </p:txBody>
      </p:sp>
      <p:sp>
        <p:nvSpPr>
          <p:cNvPr id="5" name="Shape 3"/>
          <p:cNvSpPr/>
          <p:nvPr/>
        </p:nvSpPr>
        <p:spPr>
          <a:xfrm>
            <a:off x="914400" y="1417320"/>
            <a:ext cx="4617720" cy="1920240"/>
          </a:xfrm>
          <a:prstGeom prst="roundRect">
            <a:avLst>
              <a:gd name="adj" fmla="val 5714"/>
            </a:avLst>
          </a:prstGeom>
          <a:solidFill>
            <a:srgbClr val="EFF6FF"/>
          </a:solidFill>
          <a:ln w="16510">
            <a:solidFill>
              <a:srgbClr val="3273DC"/>
            </a:solidFill>
            <a:prstDash val="solid"/>
          </a:ln>
        </p:spPr>
      </p:sp>
      <p:sp>
        <p:nvSpPr>
          <p:cNvPr id="6" name="Text 4"/>
          <p:cNvSpPr/>
          <p:nvPr/>
        </p:nvSpPr>
        <p:spPr>
          <a:xfrm>
            <a:off x="1097280" y="1572768"/>
            <a:ext cx="425196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Agent function</a:t>
            </a:r>
            <a:endParaRPr lang="en-US" sz="1600" dirty="0"/>
          </a:p>
        </p:txBody>
      </p:sp>
      <p:sp>
        <p:nvSpPr>
          <p:cNvPr id="7" name="Text 5"/>
          <p:cNvSpPr/>
          <p:nvPr/>
        </p:nvSpPr>
        <p:spPr>
          <a:xfrm>
            <a:off x="1115568" y="1947672"/>
            <a:ext cx="4215384" cy="12801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Mathematical description: for every possible percept sequence, what action should be selected?</a:t>
            </a:r>
            <a:endParaRPr lang="en-US" sz="1270" dirty="0"/>
          </a:p>
        </p:txBody>
      </p:sp>
      <p:sp>
        <p:nvSpPr>
          <p:cNvPr id="8" name="Shape 6"/>
          <p:cNvSpPr/>
          <p:nvPr/>
        </p:nvSpPr>
        <p:spPr>
          <a:xfrm>
            <a:off x="6629400" y="1417320"/>
            <a:ext cx="4617720" cy="1920240"/>
          </a:xfrm>
          <a:prstGeom prst="roundRect">
            <a:avLst>
              <a:gd name="adj" fmla="val 5714"/>
            </a:avLst>
          </a:prstGeom>
          <a:solidFill>
            <a:srgbClr val="E9F7EF"/>
          </a:solidFill>
          <a:ln w="16510">
            <a:solidFill>
              <a:srgbClr val="2F855A"/>
            </a:solidFill>
            <a:prstDash val="solid"/>
          </a:ln>
        </p:spPr>
      </p:sp>
      <p:sp>
        <p:nvSpPr>
          <p:cNvPr id="9" name="Text 7"/>
          <p:cNvSpPr/>
          <p:nvPr/>
        </p:nvSpPr>
        <p:spPr>
          <a:xfrm>
            <a:off x="6812280" y="1572768"/>
            <a:ext cx="425196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Agent program</a:t>
            </a:r>
            <a:endParaRPr lang="en-US" sz="1600" dirty="0"/>
          </a:p>
        </p:txBody>
      </p:sp>
      <p:sp>
        <p:nvSpPr>
          <p:cNvPr id="10" name="Text 8"/>
          <p:cNvSpPr/>
          <p:nvPr/>
        </p:nvSpPr>
        <p:spPr>
          <a:xfrm>
            <a:off x="6830568" y="1947672"/>
            <a:ext cx="4215384" cy="12801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Concrete implementation: code running on hardware that receives the current percept and returns an action.</a:t>
            </a:r>
            <a:endParaRPr lang="en-US" sz="1270" dirty="0"/>
          </a:p>
        </p:txBody>
      </p:sp>
      <p:sp>
        <p:nvSpPr>
          <p:cNvPr id="11" name="Text 9"/>
          <p:cNvSpPr/>
          <p:nvPr/>
        </p:nvSpPr>
        <p:spPr>
          <a:xfrm>
            <a:off x="914400" y="4160520"/>
            <a:ext cx="5120640" cy="292608"/>
          </a:xfrm>
          <a:prstGeom prst="rect">
            <a:avLst/>
          </a:prstGeom>
          <a:noFill/>
          <a:ln/>
        </p:spPr>
        <p:txBody>
          <a:bodyPr wrap="square" lIns="254" tIns="254" rIns="254" bIns="254" rtlCol="0" anchor="t">
            <a:normAutofit/>
          </a:bodyPr>
          <a:lstStyle/>
          <a:p>
            <a:pPr algn="l" indent="0" marL="0">
              <a:buNone/>
            </a:pPr>
            <a:r>
              <a:rPr lang="en-US" sz="1900" b="1" dirty="0">
                <a:solidFill>
                  <a:srgbClr val="002B49"/>
                </a:solidFill>
              </a:rPr>
              <a:t>Why not just tabulate every possible percept sequence?</a:t>
            </a:r>
            <a:endParaRPr lang="en-US" sz="1900" dirty="0"/>
          </a:p>
        </p:txBody>
      </p:sp>
      <p:sp>
        <p:nvSpPr>
          <p:cNvPr id="12" name="Shape 10"/>
          <p:cNvSpPr/>
          <p:nvPr/>
        </p:nvSpPr>
        <p:spPr>
          <a:xfrm>
            <a:off x="6355080" y="3950208"/>
            <a:ext cx="4754880" cy="822960"/>
          </a:xfrm>
          <a:prstGeom prst="roundRect">
            <a:avLst>
              <a:gd name="adj" fmla="val 13333"/>
            </a:avLst>
          </a:prstGeom>
          <a:solidFill>
            <a:srgbClr val="FFF7E0"/>
          </a:solidFill>
          <a:ln w="15240">
            <a:solidFill>
              <a:srgbClr val="C99700"/>
            </a:solidFill>
            <a:prstDash val="solid"/>
          </a:ln>
        </p:spPr>
      </p:sp>
      <p:sp>
        <p:nvSpPr>
          <p:cNvPr id="13" name="Text 11"/>
          <p:cNvSpPr/>
          <p:nvPr/>
        </p:nvSpPr>
        <p:spPr>
          <a:xfrm>
            <a:off x="6556248" y="4133088"/>
            <a:ext cx="4352544" cy="50292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The table grows explosively. AI needs compact programs that produce rational behavior.</a:t>
            </a:r>
            <a:endParaRPr lang="en-US" sz="1600" dirty="0"/>
          </a:p>
        </p:txBody>
      </p:sp>
      <p:sp>
        <p:nvSpPr>
          <p:cNvPr id="14" name="Text 12"/>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5" name="Text 13"/>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Good behavior: performance measures</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Rationality is judged by consequences relative to a measure.</a:t>
            </a:r>
            <a:endParaRPr lang="en-US" sz="1150" dirty="0"/>
          </a:p>
        </p:txBody>
      </p:sp>
      <p:sp>
        <p:nvSpPr>
          <p:cNvPr id="5" name="Shape 3"/>
          <p:cNvSpPr/>
          <p:nvPr/>
        </p:nvSpPr>
        <p:spPr>
          <a:xfrm>
            <a:off x="777240" y="1463040"/>
            <a:ext cx="3383280" cy="1965960"/>
          </a:xfrm>
          <a:prstGeom prst="roundRect">
            <a:avLst>
              <a:gd name="adj" fmla="val 5581"/>
            </a:avLst>
          </a:prstGeom>
          <a:solidFill>
            <a:srgbClr val="FFF1F0"/>
          </a:solidFill>
          <a:ln w="16510">
            <a:solidFill>
              <a:srgbClr val="C53030"/>
            </a:solidFill>
            <a:prstDash val="solid"/>
          </a:ln>
        </p:spPr>
      </p:sp>
      <p:sp>
        <p:nvSpPr>
          <p:cNvPr id="6" name="Text 4"/>
          <p:cNvSpPr/>
          <p:nvPr/>
        </p:nvSpPr>
        <p:spPr>
          <a:xfrm>
            <a:off x="960120" y="1618488"/>
            <a:ext cx="3017520" cy="256032"/>
          </a:xfrm>
          <a:prstGeom prst="rect">
            <a:avLst/>
          </a:prstGeom>
          <a:noFill/>
          <a:ln/>
        </p:spPr>
        <p:txBody>
          <a:bodyPr wrap="square" lIns="254" tIns="254" rIns="254" bIns="254" rtlCol="0" anchor="t">
            <a:normAutofit/>
          </a:bodyPr>
          <a:lstStyle/>
          <a:p>
            <a:pPr algn="ctr" indent="0" marL="0">
              <a:buNone/>
            </a:pPr>
            <a:r>
              <a:rPr lang="en-US" sz="1600" b="1" dirty="0">
                <a:solidFill>
                  <a:srgbClr val="C53030"/>
                </a:solidFill>
              </a:rPr>
              <a:t>Vacuum cleaner</a:t>
            </a:r>
            <a:endParaRPr lang="en-US" sz="1600" dirty="0"/>
          </a:p>
        </p:txBody>
      </p:sp>
      <p:sp>
        <p:nvSpPr>
          <p:cNvPr id="7" name="Text 5"/>
          <p:cNvSpPr/>
          <p:nvPr/>
        </p:nvSpPr>
        <p:spPr>
          <a:xfrm>
            <a:off x="978408" y="1993392"/>
            <a:ext cx="2980944" cy="13258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Bad measure: reward dirt collected. The agent could dump dirt and clean it again.</a:t>
            </a:r>
            <a:endParaRPr lang="en-US" sz="1270" dirty="0"/>
          </a:p>
        </p:txBody>
      </p:sp>
      <p:sp>
        <p:nvSpPr>
          <p:cNvPr id="8" name="Shape 6"/>
          <p:cNvSpPr/>
          <p:nvPr/>
        </p:nvSpPr>
        <p:spPr>
          <a:xfrm>
            <a:off x="4434840" y="1463040"/>
            <a:ext cx="3383280" cy="1965960"/>
          </a:xfrm>
          <a:prstGeom prst="roundRect">
            <a:avLst>
              <a:gd name="adj" fmla="val 5581"/>
            </a:avLst>
          </a:prstGeom>
          <a:solidFill>
            <a:srgbClr val="E9F7EF"/>
          </a:solidFill>
          <a:ln w="16510">
            <a:solidFill>
              <a:srgbClr val="2F855A"/>
            </a:solidFill>
            <a:prstDash val="solid"/>
          </a:ln>
        </p:spPr>
      </p:sp>
      <p:sp>
        <p:nvSpPr>
          <p:cNvPr id="9" name="Text 7"/>
          <p:cNvSpPr/>
          <p:nvPr/>
        </p:nvSpPr>
        <p:spPr>
          <a:xfrm>
            <a:off x="4617720" y="1618488"/>
            <a:ext cx="301752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Better measure</a:t>
            </a:r>
            <a:endParaRPr lang="en-US" sz="1600" dirty="0"/>
          </a:p>
        </p:txBody>
      </p:sp>
      <p:sp>
        <p:nvSpPr>
          <p:cNvPr id="10" name="Text 8"/>
          <p:cNvSpPr/>
          <p:nvPr/>
        </p:nvSpPr>
        <p:spPr>
          <a:xfrm>
            <a:off x="4636008" y="1993392"/>
            <a:ext cx="2980944" cy="13258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Reward clean squares over time, possibly penalizing noise, energy, or movement.</a:t>
            </a:r>
            <a:endParaRPr lang="en-US" sz="1270" dirty="0"/>
          </a:p>
        </p:txBody>
      </p:sp>
      <p:sp>
        <p:nvSpPr>
          <p:cNvPr id="11" name="Shape 9"/>
          <p:cNvSpPr/>
          <p:nvPr/>
        </p:nvSpPr>
        <p:spPr>
          <a:xfrm>
            <a:off x="8092440" y="1463040"/>
            <a:ext cx="3383280" cy="1965960"/>
          </a:xfrm>
          <a:prstGeom prst="roundRect">
            <a:avLst>
              <a:gd name="adj" fmla="val 5581"/>
            </a:avLst>
          </a:prstGeom>
          <a:solidFill>
            <a:srgbClr val="FFF7E0"/>
          </a:solidFill>
          <a:ln w="16510">
            <a:solidFill>
              <a:srgbClr val="C99700"/>
            </a:solidFill>
            <a:prstDash val="solid"/>
          </a:ln>
        </p:spPr>
      </p:sp>
      <p:sp>
        <p:nvSpPr>
          <p:cNvPr id="12" name="Text 10"/>
          <p:cNvSpPr/>
          <p:nvPr/>
        </p:nvSpPr>
        <p:spPr>
          <a:xfrm>
            <a:off x="8275320" y="1618488"/>
            <a:ext cx="301752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Lesson</a:t>
            </a:r>
            <a:endParaRPr lang="en-US" sz="1600" dirty="0"/>
          </a:p>
        </p:txBody>
      </p:sp>
      <p:sp>
        <p:nvSpPr>
          <p:cNvPr id="13" name="Text 11"/>
          <p:cNvSpPr/>
          <p:nvPr/>
        </p:nvSpPr>
        <p:spPr>
          <a:xfrm>
            <a:off x="8293608" y="1993392"/>
            <a:ext cx="2980944" cy="13258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Measure what you actually want achieved, not a convenient proxy.</a:t>
            </a:r>
            <a:endParaRPr lang="en-US" sz="1270" dirty="0"/>
          </a:p>
        </p:txBody>
      </p:sp>
      <p:sp>
        <p:nvSpPr>
          <p:cNvPr id="14" name="Text 12"/>
          <p:cNvSpPr/>
          <p:nvPr/>
        </p:nvSpPr>
        <p:spPr>
          <a:xfrm>
            <a:off x="1005840" y="4251960"/>
            <a:ext cx="2377440" cy="274320"/>
          </a:xfrm>
          <a:prstGeom prst="rect">
            <a:avLst/>
          </a:prstGeom>
          <a:noFill/>
          <a:ln/>
        </p:spPr>
        <p:txBody>
          <a:bodyPr wrap="square" lIns="254" tIns="254" rIns="254" bIns="254" rtlCol="0" anchor="t">
            <a:normAutofit/>
          </a:bodyPr>
          <a:lstStyle/>
          <a:p>
            <a:pPr algn="l" indent="0" marL="0">
              <a:buNone/>
            </a:pPr>
            <a:r>
              <a:rPr lang="en-US" sz="1800" b="1" dirty="0">
                <a:solidFill>
                  <a:srgbClr val="002B49"/>
                </a:solidFill>
              </a:rPr>
              <a:t>Question for students</a:t>
            </a:r>
            <a:endParaRPr lang="en-US" sz="1800" dirty="0"/>
          </a:p>
        </p:txBody>
      </p:sp>
      <p:sp>
        <p:nvSpPr>
          <p:cNvPr id="15" name="Shape 13"/>
          <p:cNvSpPr/>
          <p:nvPr/>
        </p:nvSpPr>
        <p:spPr>
          <a:xfrm>
            <a:off x="3566160" y="4069080"/>
            <a:ext cx="7406640" cy="777240"/>
          </a:xfrm>
          <a:prstGeom prst="roundRect">
            <a:avLst>
              <a:gd name="adj" fmla="val 14118"/>
            </a:avLst>
          </a:prstGeom>
          <a:solidFill>
            <a:srgbClr val="EFF6FF"/>
          </a:solidFill>
          <a:ln w="15240">
            <a:solidFill>
              <a:srgbClr val="3273DC"/>
            </a:solidFill>
            <a:prstDash val="solid"/>
          </a:ln>
        </p:spPr>
      </p:sp>
      <p:sp>
        <p:nvSpPr>
          <p:cNvPr id="16" name="Text 14"/>
          <p:cNvSpPr/>
          <p:nvPr/>
        </p:nvSpPr>
        <p:spPr>
          <a:xfrm>
            <a:off x="3767328" y="4251960"/>
            <a:ext cx="7004304" cy="45720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What could go wrong if an AI tutor is rewarded only for “minutes spent in app”?</a:t>
            </a:r>
            <a:endParaRPr lang="en-US" sz="1600" dirty="0"/>
          </a:p>
        </p:txBody>
      </p:sp>
      <p:sp>
        <p:nvSpPr>
          <p:cNvPr id="17" name="Text 15"/>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8" name="Text 16"/>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Rationality is not omniscience</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A rational action can still lead to a bad outcome.</a:t>
            </a:r>
            <a:endParaRPr lang="en-US" sz="1150" dirty="0"/>
          </a:p>
        </p:txBody>
      </p:sp>
      <p:sp>
        <p:nvSpPr>
          <p:cNvPr id="5" name="Shape 3"/>
          <p:cNvSpPr/>
          <p:nvPr/>
        </p:nvSpPr>
        <p:spPr>
          <a:xfrm>
            <a:off x="868680" y="1417320"/>
            <a:ext cx="3017520" cy="1508760"/>
          </a:xfrm>
          <a:prstGeom prst="roundRect">
            <a:avLst>
              <a:gd name="adj" fmla="val 7273"/>
            </a:avLst>
          </a:prstGeom>
          <a:solidFill>
            <a:srgbClr val="F3EEFF"/>
          </a:solidFill>
          <a:ln w="16510">
            <a:solidFill>
              <a:srgbClr val="6B46C1"/>
            </a:solidFill>
            <a:prstDash val="solid"/>
          </a:ln>
        </p:spPr>
      </p:sp>
      <p:sp>
        <p:nvSpPr>
          <p:cNvPr id="6" name="Text 4"/>
          <p:cNvSpPr/>
          <p:nvPr/>
        </p:nvSpPr>
        <p:spPr>
          <a:xfrm>
            <a:off x="1051560" y="1572768"/>
            <a:ext cx="2651760" cy="256032"/>
          </a:xfrm>
          <a:prstGeom prst="rect">
            <a:avLst/>
          </a:prstGeom>
          <a:noFill/>
          <a:ln/>
        </p:spPr>
        <p:txBody>
          <a:bodyPr wrap="square" lIns="254" tIns="254" rIns="254" bIns="254" rtlCol="0" anchor="t">
            <a:normAutofit/>
          </a:bodyPr>
          <a:lstStyle/>
          <a:p>
            <a:pPr algn="ctr" indent="0" marL="0">
              <a:buNone/>
            </a:pPr>
            <a:r>
              <a:rPr lang="en-US" sz="1600" b="1" dirty="0">
                <a:solidFill>
                  <a:srgbClr val="6B46C1"/>
                </a:solidFill>
              </a:rPr>
              <a:t>Omniscience</a:t>
            </a:r>
            <a:endParaRPr lang="en-US" sz="1600" dirty="0"/>
          </a:p>
        </p:txBody>
      </p:sp>
      <p:sp>
        <p:nvSpPr>
          <p:cNvPr id="7" name="Text 5"/>
          <p:cNvSpPr/>
          <p:nvPr/>
        </p:nvSpPr>
        <p:spPr>
          <a:xfrm>
            <a:off x="1069848" y="1947672"/>
            <a:ext cx="2615184" cy="8686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Knows the actual outcome of every action.</a:t>
            </a:r>
            <a:endParaRPr lang="en-US" sz="1270" dirty="0"/>
          </a:p>
        </p:txBody>
      </p:sp>
      <p:sp>
        <p:nvSpPr>
          <p:cNvPr id="8" name="Shape 6"/>
          <p:cNvSpPr/>
          <p:nvPr/>
        </p:nvSpPr>
        <p:spPr>
          <a:xfrm>
            <a:off x="4572000" y="1417320"/>
            <a:ext cx="3017520" cy="1508760"/>
          </a:xfrm>
          <a:prstGeom prst="roundRect">
            <a:avLst>
              <a:gd name="adj" fmla="val 7273"/>
            </a:avLst>
          </a:prstGeom>
          <a:solidFill>
            <a:srgbClr val="EFF6FF"/>
          </a:solidFill>
          <a:ln w="16510">
            <a:solidFill>
              <a:srgbClr val="3273DC"/>
            </a:solidFill>
            <a:prstDash val="solid"/>
          </a:ln>
        </p:spPr>
      </p:sp>
      <p:sp>
        <p:nvSpPr>
          <p:cNvPr id="9" name="Text 7"/>
          <p:cNvSpPr/>
          <p:nvPr/>
        </p:nvSpPr>
        <p:spPr>
          <a:xfrm>
            <a:off x="4754880" y="1572768"/>
            <a:ext cx="265176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Rationality</a:t>
            </a:r>
            <a:endParaRPr lang="en-US" sz="1600" dirty="0"/>
          </a:p>
        </p:txBody>
      </p:sp>
      <p:sp>
        <p:nvSpPr>
          <p:cNvPr id="10" name="Text 8"/>
          <p:cNvSpPr/>
          <p:nvPr/>
        </p:nvSpPr>
        <p:spPr>
          <a:xfrm>
            <a:off x="4773168" y="1947672"/>
            <a:ext cx="2615184" cy="8686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Chooses the action expected to maximize performance using available evidence.</a:t>
            </a:r>
            <a:endParaRPr lang="en-US" sz="1270" dirty="0"/>
          </a:p>
        </p:txBody>
      </p:sp>
      <p:sp>
        <p:nvSpPr>
          <p:cNvPr id="11" name="Shape 9"/>
          <p:cNvSpPr/>
          <p:nvPr/>
        </p:nvSpPr>
        <p:spPr>
          <a:xfrm>
            <a:off x="8275320" y="1417320"/>
            <a:ext cx="3017520" cy="1508760"/>
          </a:xfrm>
          <a:prstGeom prst="roundRect">
            <a:avLst>
              <a:gd name="adj" fmla="val 7273"/>
            </a:avLst>
          </a:prstGeom>
          <a:solidFill>
            <a:srgbClr val="FFF7E0"/>
          </a:solidFill>
          <a:ln w="16510">
            <a:solidFill>
              <a:srgbClr val="C99700"/>
            </a:solidFill>
            <a:prstDash val="solid"/>
          </a:ln>
        </p:spPr>
      </p:sp>
      <p:sp>
        <p:nvSpPr>
          <p:cNvPr id="12" name="Text 10"/>
          <p:cNvSpPr/>
          <p:nvPr/>
        </p:nvSpPr>
        <p:spPr>
          <a:xfrm>
            <a:off x="8458200" y="1572768"/>
            <a:ext cx="265176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Perfection</a:t>
            </a:r>
            <a:endParaRPr lang="en-US" sz="1600" dirty="0"/>
          </a:p>
        </p:txBody>
      </p:sp>
      <p:sp>
        <p:nvSpPr>
          <p:cNvPr id="13" name="Text 11"/>
          <p:cNvSpPr/>
          <p:nvPr/>
        </p:nvSpPr>
        <p:spPr>
          <a:xfrm>
            <a:off x="8476488" y="1947672"/>
            <a:ext cx="2615184" cy="8686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Always gets the best actual outcome after the fact.</a:t>
            </a:r>
            <a:endParaRPr lang="en-US" sz="1270" dirty="0"/>
          </a:p>
        </p:txBody>
      </p:sp>
      <p:sp>
        <p:nvSpPr>
          <p:cNvPr id="14" name="Text 12"/>
          <p:cNvSpPr/>
          <p:nvPr/>
        </p:nvSpPr>
        <p:spPr>
          <a:xfrm>
            <a:off x="1143000" y="3886200"/>
            <a:ext cx="9875520" cy="411480"/>
          </a:xfrm>
          <a:prstGeom prst="rect">
            <a:avLst/>
          </a:prstGeom>
          <a:noFill/>
          <a:ln/>
        </p:spPr>
        <p:txBody>
          <a:bodyPr wrap="square" lIns="254" tIns="254" rIns="254" bIns="254" rtlCol="0" anchor="t">
            <a:normAutofit/>
          </a:bodyPr>
          <a:lstStyle/>
          <a:p>
            <a:pPr algn="ctr" indent="0" marL="0">
              <a:buNone/>
            </a:pPr>
            <a:r>
              <a:rPr lang="en-US" sz="2200" b="1" dirty="0">
                <a:solidFill>
                  <a:srgbClr val="002B49"/>
                </a:solidFill>
              </a:rPr>
              <a:t>Expected performance matters because real agents act under uncertainty.</a:t>
            </a:r>
            <a:endParaRPr lang="en-US" sz="2200" dirty="0"/>
          </a:p>
        </p:txBody>
      </p:sp>
      <p:sp>
        <p:nvSpPr>
          <p:cNvPr id="15" name="Text 13"/>
          <p:cNvSpPr/>
          <p:nvPr/>
        </p:nvSpPr>
        <p:spPr>
          <a:xfrm>
            <a:off x="1508760" y="4663440"/>
            <a:ext cx="9144000" cy="347472"/>
          </a:xfrm>
          <a:prstGeom prst="rect">
            <a:avLst/>
          </a:prstGeom>
          <a:noFill/>
          <a:ln/>
        </p:spPr>
        <p:txBody>
          <a:bodyPr wrap="square" lIns="254" tIns="254" rIns="254" bIns="254" rtlCol="0" anchor="t">
            <a:normAutofit/>
          </a:bodyPr>
          <a:lstStyle/>
          <a:p>
            <a:pPr algn="ctr" indent="0" marL="0">
              <a:buNone/>
            </a:pPr>
            <a:r>
              <a:rPr lang="en-US" sz="1600" dirty="0">
                <a:solidFill>
                  <a:srgbClr val="111827"/>
                </a:solidFill>
              </a:rPr>
              <a:t>Rational agents should also gather information when information improves future choices.</a:t>
            </a:r>
            <a:endParaRPr lang="en-US" sz="1600" dirty="0"/>
          </a:p>
        </p:txBody>
      </p:sp>
      <p:sp>
        <p:nvSpPr>
          <p:cNvPr id="16" name="Text 14"/>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7" name="Text 15"/>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Activity: rational or not?</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Decide using the agent’s evidence, not hindsight.</a:t>
            </a:r>
            <a:endParaRPr lang="en-US" sz="1150" dirty="0"/>
          </a:p>
        </p:txBody>
      </p:sp>
      <p:sp>
        <p:nvSpPr>
          <p:cNvPr id="5" name="Shape 3"/>
          <p:cNvSpPr/>
          <p:nvPr/>
        </p:nvSpPr>
        <p:spPr>
          <a:xfrm>
            <a:off x="777240" y="1463040"/>
            <a:ext cx="3246120" cy="1645920"/>
          </a:xfrm>
          <a:prstGeom prst="roundRect">
            <a:avLst>
              <a:gd name="adj" fmla="val 6667"/>
            </a:avLst>
          </a:prstGeom>
          <a:solidFill>
            <a:srgbClr val="FFFFFF"/>
          </a:solidFill>
          <a:ln w="16510">
            <a:solidFill>
              <a:srgbClr val="0E7C86"/>
            </a:solidFill>
            <a:prstDash val="solid"/>
          </a:ln>
        </p:spPr>
      </p:sp>
      <p:sp>
        <p:nvSpPr>
          <p:cNvPr id="6" name="Text 4"/>
          <p:cNvSpPr/>
          <p:nvPr/>
        </p:nvSpPr>
        <p:spPr>
          <a:xfrm>
            <a:off x="960120" y="1618488"/>
            <a:ext cx="288036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Robot vacuum</a:t>
            </a:r>
            <a:endParaRPr lang="en-US" sz="1600" dirty="0"/>
          </a:p>
        </p:txBody>
      </p:sp>
      <p:sp>
        <p:nvSpPr>
          <p:cNvPr id="7" name="Text 5"/>
          <p:cNvSpPr/>
          <p:nvPr/>
        </p:nvSpPr>
        <p:spPr>
          <a:xfrm>
            <a:off x="978408" y="1993392"/>
            <a:ext cx="2843784" cy="10058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Moves left when clean, but it may already be at the left wall.</a:t>
            </a:r>
            <a:endParaRPr lang="en-US" sz="1270" dirty="0"/>
          </a:p>
        </p:txBody>
      </p:sp>
      <p:sp>
        <p:nvSpPr>
          <p:cNvPr id="8" name="Shape 6"/>
          <p:cNvSpPr/>
          <p:nvPr/>
        </p:nvSpPr>
        <p:spPr>
          <a:xfrm>
            <a:off x="4572000" y="1463040"/>
            <a:ext cx="3246120" cy="1645920"/>
          </a:xfrm>
          <a:prstGeom prst="roundRect">
            <a:avLst>
              <a:gd name="adj" fmla="val 6667"/>
            </a:avLst>
          </a:prstGeom>
          <a:solidFill>
            <a:srgbClr val="FFFFFF"/>
          </a:solidFill>
          <a:ln w="16510">
            <a:solidFill>
              <a:srgbClr val="C99700"/>
            </a:solidFill>
            <a:prstDash val="solid"/>
          </a:ln>
        </p:spPr>
      </p:sp>
      <p:sp>
        <p:nvSpPr>
          <p:cNvPr id="9" name="Text 7"/>
          <p:cNvSpPr/>
          <p:nvPr/>
        </p:nvSpPr>
        <p:spPr>
          <a:xfrm>
            <a:off x="4754880" y="1618488"/>
            <a:ext cx="288036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Taxi</a:t>
            </a:r>
            <a:endParaRPr lang="en-US" sz="1600" dirty="0"/>
          </a:p>
        </p:txBody>
      </p:sp>
      <p:sp>
        <p:nvSpPr>
          <p:cNvPr id="10" name="Text 8"/>
          <p:cNvSpPr/>
          <p:nvPr/>
        </p:nvSpPr>
        <p:spPr>
          <a:xfrm>
            <a:off x="4773168" y="1993392"/>
            <a:ext cx="2843784" cy="10058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Slows down before a blind corner even though no car appears.</a:t>
            </a:r>
            <a:endParaRPr lang="en-US" sz="1270" dirty="0"/>
          </a:p>
        </p:txBody>
      </p:sp>
      <p:sp>
        <p:nvSpPr>
          <p:cNvPr id="11" name="Shape 9"/>
          <p:cNvSpPr/>
          <p:nvPr/>
        </p:nvSpPr>
        <p:spPr>
          <a:xfrm>
            <a:off x="8366760" y="1463040"/>
            <a:ext cx="3246120" cy="1645920"/>
          </a:xfrm>
          <a:prstGeom prst="roundRect">
            <a:avLst>
              <a:gd name="adj" fmla="val 6667"/>
            </a:avLst>
          </a:prstGeom>
          <a:solidFill>
            <a:srgbClr val="FFFFFF"/>
          </a:solidFill>
          <a:ln w="16510">
            <a:solidFill>
              <a:srgbClr val="3273DC"/>
            </a:solidFill>
            <a:prstDash val="solid"/>
          </a:ln>
        </p:spPr>
      </p:sp>
      <p:sp>
        <p:nvSpPr>
          <p:cNvPr id="12" name="Text 10"/>
          <p:cNvSpPr/>
          <p:nvPr/>
        </p:nvSpPr>
        <p:spPr>
          <a:xfrm>
            <a:off x="8549640" y="1618488"/>
            <a:ext cx="288036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Email filter</a:t>
            </a:r>
            <a:endParaRPr lang="en-US" sz="1600" dirty="0"/>
          </a:p>
        </p:txBody>
      </p:sp>
      <p:sp>
        <p:nvSpPr>
          <p:cNvPr id="13" name="Text 11"/>
          <p:cNvSpPr/>
          <p:nvPr/>
        </p:nvSpPr>
        <p:spPr>
          <a:xfrm>
            <a:off x="8567928" y="1993392"/>
            <a:ext cx="2843784" cy="10058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Quarantines a message because it matches known phishing indicators.</a:t>
            </a:r>
            <a:endParaRPr lang="en-US" sz="1270" dirty="0"/>
          </a:p>
        </p:txBody>
      </p:sp>
      <p:sp>
        <p:nvSpPr>
          <p:cNvPr id="14" name="Text 12"/>
          <p:cNvSpPr/>
          <p:nvPr/>
        </p:nvSpPr>
        <p:spPr>
          <a:xfrm>
            <a:off x="960120" y="3977640"/>
            <a:ext cx="3108960" cy="256032"/>
          </a:xfrm>
          <a:prstGeom prst="rect">
            <a:avLst/>
          </a:prstGeom>
          <a:noFill/>
          <a:ln/>
        </p:spPr>
        <p:txBody>
          <a:bodyPr wrap="square" lIns="254" tIns="254" rIns="254" bIns="254" rtlCol="0" anchor="t">
            <a:normAutofit/>
          </a:bodyPr>
          <a:lstStyle/>
          <a:p>
            <a:pPr algn="l" indent="0" marL="0">
              <a:buNone/>
            </a:pPr>
            <a:r>
              <a:rPr lang="en-US" sz="2000" b="1" dirty="0">
                <a:solidFill>
                  <a:srgbClr val="002B49"/>
                </a:solidFill>
              </a:rPr>
              <a:t>For each case, identify:</a:t>
            </a:r>
            <a:endParaRPr lang="en-US" sz="2000" dirty="0"/>
          </a:p>
        </p:txBody>
      </p:sp>
      <p:sp>
        <p:nvSpPr>
          <p:cNvPr id="15" name="Text 13"/>
          <p:cNvSpPr/>
          <p:nvPr/>
        </p:nvSpPr>
        <p:spPr>
          <a:xfrm>
            <a:off x="1097280" y="4434840"/>
            <a:ext cx="9692640" cy="1051560"/>
          </a:xfrm>
          <a:prstGeom prst="rect">
            <a:avLst/>
          </a:prstGeom>
          <a:noFill/>
          <a:ln/>
        </p:spPr>
        <p:txBody>
          <a:bodyPr wrap="square" lIns="381" tIns="381" rIns="381" bIns="381" rtlCol="0" anchor="ctr">
            <a:normAutofit/>
          </a:bodyPr>
          <a:lstStyle/>
          <a:p>
            <a:pPr marL="228600" indent="-228600">
              <a:buSzPct val="100000"/>
              <a:buChar char="•"/>
            </a:pPr>
            <a:r>
              <a:rPr lang="en-US" sz="1600" dirty="0">
                <a:solidFill>
                  <a:srgbClr val="111827"/>
                </a:solidFill>
              </a:rPr>
              <a:t>What evidence did the agent have?
</a:t>
            </a:r>
            <a:endParaRPr lang="en-US" sz="1600" dirty="0"/>
          </a:p>
          <a:p>
            <a:pPr marL="228600" indent="-228600">
              <a:buSzPct val="100000"/>
              <a:buChar char="•"/>
            </a:pPr>
            <a:r>
              <a:rPr lang="en-US" sz="1600" dirty="0">
                <a:solidFill>
                  <a:srgbClr val="111827"/>
                </a:solidFill>
              </a:rPr>
              <a:t>What performance measure is assumed?
</a:t>
            </a:r>
            <a:endParaRPr lang="en-US" sz="1600" dirty="0"/>
          </a:p>
          <a:p>
            <a:pPr marL="228600" indent="-228600">
              <a:buSzPct val="100000"/>
              <a:buChar char="•"/>
            </a:pPr>
            <a:r>
              <a:rPr lang="en-US" sz="1600" dirty="0">
                <a:solidFill>
                  <a:srgbClr val="111827"/>
                </a:solidFill>
              </a:rPr>
              <a:t>What information would improve the next action?</a:t>
            </a:r>
            <a:endParaRPr lang="en-US" sz="1600" dirty="0"/>
          </a:p>
        </p:txBody>
      </p:sp>
      <p:sp>
        <p:nvSpPr>
          <p:cNvPr id="16" name="Text 14"/>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7" name="Text 15"/>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B49"/>
        </a:solidFill>
      </p:bgPr>
    </p:bg>
    <p:spTree>
      <p:nvGrpSpPr>
        <p:cNvPr id="1" name=""/>
        <p:cNvGrpSpPr/>
        <p:nvPr/>
      </p:nvGrpSpPr>
      <p:grpSpPr>
        <a:xfrm>
          <a:off x="0" y="0"/>
          <a:ext cx="0" cy="0"/>
          <a:chOff x="0" y="0"/>
          <a:chExt cx="0" cy="0"/>
        </a:xfrm>
      </p:grpSpPr>
      <p:sp>
        <p:nvSpPr>
          <p:cNvPr id="2" name="Shape 0"/>
          <p:cNvSpPr/>
          <p:nvPr/>
        </p:nvSpPr>
        <p:spPr>
          <a:xfrm>
            <a:off x="731520" y="941832"/>
            <a:ext cx="1234440" cy="0"/>
          </a:xfrm>
          <a:prstGeom prst="line">
            <a:avLst/>
          </a:prstGeom>
          <a:noFill/>
          <a:ln w="38100">
            <a:solidFill>
              <a:srgbClr val="C99700"/>
            </a:solidFill>
            <a:prstDash val="solid"/>
          </a:ln>
        </p:spPr>
      </p:sp>
      <p:sp>
        <p:nvSpPr>
          <p:cNvPr id="3" name="Text 1"/>
          <p:cNvSpPr/>
          <p:nvPr/>
        </p:nvSpPr>
        <p:spPr>
          <a:xfrm>
            <a:off x="731520" y="1188720"/>
            <a:ext cx="5486400" cy="594360"/>
          </a:xfrm>
          <a:prstGeom prst="rect">
            <a:avLst/>
          </a:prstGeom>
          <a:noFill/>
          <a:ln/>
        </p:spPr>
        <p:txBody>
          <a:bodyPr wrap="square" lIns="254" tIns="254" rIns="254" bIns="254" rtlCol="0" anchor="t">
            <a:normAutofit/>
          </a:bodyPr>
          <a:lstStyle/>
          <a:p>
            <a:pPr algn="l" indent="0" marL="0">
              <a:buNone/>
            </a:pPr>
            <a:r>
              <a:rPr lang="en-US" sz="4400" b="1" dirty="0">
                <a:solidFill>
                  <a:srgbClr val="FFFFFF"/>
                </a:solidFill>
              </a:rPr>
              <a:t>Five-minute reset</a:t>
            </a:r>
            <a:endParaRPr lang="en-US" sz="4400" dirty="0"/>
          </a:p>
        </p:txBody>
      </p:sp>
      <p:sp>
        <p:nvSpPr>
          <p:cNvPr id="4" name="Text 2"/>
          <p:cNvSpPr/>
          <p:nvPr/>
        </p:nvSpPr>
        <p:spPr>
          <a:xfrm>
            <a:off x="777240" y="2057400"/>
            <a:ext cx="5715000" cy="685800"/>
          </a:xfrm>
          <a:prstGeom prst="rect">
            <a:avLst/>
          </a:prstGeom>
          <a:noFill/>
          <a:ln/>
        </p:spPr>
        <p:txBody>
          <a:bodyPr wrap="square" lIns="254" tIns="254" rIns="254" bIns="254" rtlCol="0" anchor="t">
            <a:normAutofit/>
          </a:bodyPr>
          <a:lstStyle/>
          <a:p>
            <a:pPr algn="l" indent="0" marL="0">
              <a:buNone/>
            </a:pPr>
            <a:r>
              <a:rPr lang="en-US" sz="1800" dirty="0">
                <a:solidFill>
                  <a:srgbClr val="DDE6F2"/>
                </a:solidFill>
              </a:rPr>
              <a:t>When you return, we will turn the agent idea into a task specification and then into Python code.</a:t>
            </a:r>
            <a:endParaRPr lang="en-US" sz="1800" dirty="0"/>
          </a:p>
        </p:txBody>
      </p:sp>
      <p:sp>
        <p:nvSpPr>
          <p:cNvPr id="5" name="Shape 3"/>
          <p:cNvSpPr/>
          <p:nvPr/>
        </p:nvSpPr>
        <p:spPr>
          <a:xfrm>
            <a:off x="822960" y="4389120"/>
            <a:ext cx="5212080" cy="384048"/>
          </a:xfrm>
          <a:prstGeom prst="roundRect">
            <a:avLst>
              <a:gd name="adj" fmla="val 19048"/>
            </a:avLst>
          </a:prstGeom>
          <a:solidFill>
            <a:srgbClr val="C99700"/>
          </a:solidFill>
          <a:ln w="12700">
            <a:solidFill>
              <a:srgbClr val="C99700"/>
            </a:solidFill>
            <a:prstDash val="solid"/>
          </a:ln>
        </p:spPr>
      </p:sp>
      <p:sp>
        <p:nvSpPr>
          <p:cNvPr id="6" name="Text 4"/>
          <p:cNvSpPr/>
          <p:nvPr/>
        </p:nvSpPr>
        <p:spPr>
          <a:xfrm>
            <a:off x="932688" y="4489704"/>
            <a:ext cx="4992624" cy="10972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rPr>
              <a:t>Next: PEAS → environment properties → lab notebook</a:t>
            </a:r>
            <a:endParaRPr lang="en-US" sz="1150" dirty="0"/>
          </a:p>
        </p:txBody>
      </p:sp>
      <p:sp>
        <p:nvSpPr>
          <p:cNvPr id="7" name="Text 5"/>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Break</a:t>
            </a:r>
            <a:endParaRPr lang="en-US" sz="850" dirty="0"/>
          </a:p>
        </p:txBody>
      </p:sp>
      <p:sp>
        <p:nvSpPr>
          <p:cNvPr id="8" name="Text 6"/>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PEAS framework</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Performance, Environment, Actuators, Sensors.</a:t>
            </a:r>
            <a:endParaRPr lang="en-US" sz="1150" dirty="0"/>
          </a:p>
        </p:txBody>
      </p:sp>
      <p:sp>
        <p:nvSpPr>
          <p:cNvPr id="5" name="Shape 3"/>
          <p:cNvSpPr/>
          <p:nvPr/>
        </p:nvSpPr>
        <p:spPr>
          <a:xfrm>
            <a:off x="1737360" y="1417320"/>
            <a:ext cx="566928" cy="566928"/>
          </a:xfrm>
          <a:prstGeom prst="ellipse">
            <a:avLst/>
          </a:prstGeom>
          <a:solidFill>
            <a:srgbClr val="C99700"/>
          </a:solidFill>
          <a:ln w="12700">
            <a:solidFill>
              <a:srgbClr val="C99700"/>
            </a:solidFill>
            <a:prstDash val="solid"/>
          </a:ln>
        </p:spPr>
      </p:sp>
      <p:sp>
        <p:nvSpPr>
          <p:cNvPr id="6" name="Text 4"/>
          <p:cNvSpPr/>
          <p:nvPr/>
        </p:nvSpPr>
        <p:spPr>
          <a:xfrm>
            <a:off x="1737360" y="1554480"/>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P</a:t>
            </a:r>
            <a:endParaRPr lang="en-US" sz="1400" dirty="0"/>
          </a:p>
        </p:txBody>
      </p:sp>
      <p:sp>
        <p:nvSpPr>
          <p:cNvPr id="7" name="Text 5"/>
          <p:cNvSpPr/>
          <p:nvPr/>
        </p:nvSpPr>
        <p:spPr>
          <a:xfrm>
            <a:off x="868680" y="2148840"/>
            <a:ext cx="2286000" cy="256032"/>
          </a:xfrm>
          <a:prstGeom prst="rect">
            <a:avLst/>
          </a:prstGeom>
          <a:noFill/>
          <a:ln/>
        </p:spPr>
        <p:txBody>
          <a:bodyPr wrap="square" lIns="254" tIns="254" rIns="254" bIns="254" rtlCol="0" anchor="t">
            <a:normAutofit/>
          </a:bodyPr>
          <a:lstStyle/>
          <a:p>
            <a:pPr algn="ctr" indent="0" marL="0">
              <a:buNone/>
            </a:pPr>
            <a:r>
              <a:rPr lang="en-US" sz="1800" b="1" dirty="0">
                <a:solidFill>
                  <a:srgbClr val="C99700"/>
                </a:solidFill>
              </a:rPr>
              <a:t>Performance</a:t>
            </a:r>
            <a:endParaRPr lang="en-US" sz="1800" dirty="0"/>
          </a:p>
        </p:txBody>
      </p:sp>
      <p:sp>
        <p:nvSpPr>
          <p:cNvPr id="8" name="Text 6"/>
          <p:cNvSpPr/>
          <p:nvPr/>
        </p:nvSpPr>
        <p:spPr>
          <a:xfrm>
            <a:off x="868680" y="2560320"/>
            <a:ext cx="2286000" cy="502920"/>
          </a:xfrm>
          <a:prstGeom prst="rect">
            <a:avLst/>
          </a:prstGeom>
          <a:noFill/>
          <a:ln/>
        </p:spPr>
        <p:txBody>
          <a:bodyPr wrap="square" lIns="254" tIns="254" rIns="254" bIns="254" rtlCol="0" anchor="t">
            <a:normAutofit/>
          </a:bodyPr>
          <a:lstStyle/>
          <a:p>
            <a:pPr algn="ctr" indent="0" marL="0">
              <a:buNone/>
            </a:pPr>
            <a:r>
              <a:rPr lang="en-US" sz="1300" dirty="0">
                <a:solidFill>
                  <a:srgbClr val="111827"/>
                </a:solidFill>
              </a:rPr>
              <a:t>How success is measured</a:t>
            </a:r>
            <a:endParaRPr lang="en-US" sz="1300" dirty="0"/>
          </a:p>
        </p:txBody>
      </p:sp>
      <p:sp>
        <p:nvSpPr>
          <p:cNvPr id="9" name="Shape 7"/>
          <p:cNvSpPr/>
          <p:nvPr/>
        </p:nvSpPr>
        <p:spPr>
          <a:xfrm>
            <a:off x="4572000" y="1417320"/>
            <a:ext cx="566928" cy="566928"/>
          </a:xfrm>
          <a:prstGeom prst="ellipse">
            <a:avLst/>
          </a:prstGeom>
          <a:solidFill>
            <a:srgbClr val="0E7C86"/>
          </a:solidFill>
          <a:ln w="12700">
            <a:solidFill>
              <a:srgbClr val="0E7C86"/>
            </a:solidFill>
            <a:prstDash val="solid"/>
          </a:ln>
        </p:spPr>
      </p:sp>
      <p:sp>
        <p:nvSpPr>
          <p:cNvPr id="10" name="Text 8"/>
          <p:cNvSpPr/>
          <p:nvPr/>
        </p:nvSpPr>
        <p:spPr>
          <a:xfrm>
            <a:off x="4572000" y="1554480"/>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E</a:t>
            </a:r>
            <a:endParaRPr lang="en-US" sz="1400" dirty="0"/>
          </a:p>
        </p:txBody>
      </p:sp>
      <p:sp>
        <p:nvSpPr>
          <p:cNvPr id="11" name="Text 9"/>
          <p:cNvSpPr/>
          <p:nvPr/>
        </p:nvSpPr>
        <p:spPr>
          <a:xfrm>
            <a:off x="3703320" y="2148840"/>
            <a:ext cx="2286000" cy="256032"/>
          </a:xfrm>
          <a:prstGeom prst="rect">
            <a:avLst/>
          </a:prstGeom>
          <a:noFill/>
          <a:ln/>
        </p:spPr>
        <p:txBody>
          <a:bodyPr wrap="square" lIns="254" tIns="254" rIns="254" bIns="254" rtlCol="0" anchor="t">
            <a:normAutofit/>
          </a:bodyPr>
          <a:lstStyle/>
          <a:p>
            <a:pPr algn="ctr" indent="0" marL="0">
              <a:buNone/>
            </a:pPr>
            <a:r>
              <a:rPr lang="en-US" sz="1800" b="1" dirty="0">
                <a:solidFill>
                  <a:srgbClr val="0E7C86"/>
                </a:solidFill>
              </a:rPr>
              <a:t>Environment</a:t>
            </a:r>
            <a:endParaRPr lang="en-US" sz="1800" dirty="0"/>
          </a:p>
        </p:txBody>
      </p:sp>
      <p:sp>
        <p:nvSpPr>
          <p:cNvPr id="12" name="Text 10"/>
          <p:cNvSpPr/>
          <p:nvPr/>
        </p:nvSpPr>
        <p:spPr>
          <a:xfrm>
            <a:off x="3703320" y="2560320"/>
            <a:ext cx="2286000" cy="502920"/>
          </a:xfrm>
          <a:prstGeom prst="rect">
            <a:avLst/>
          </a:prstGeom>
          <a:noFill/>
          <a:ln/>
        </p:spPr>
        <p:txBody>
          <a:bodyPr wrap="square" lIns="254" tIns="254" rIns="254" bIns="254" rtlCol="0" anchor="t">
            <a:normAutofit/>
          </a:bodyPr>
          <a:lstStyle/>
          <a:p>
            <a:pPr algn="ctr" indent="0" marL="0">
              <a:buNone/>
            </a:pPr>
            <a:r>
              <a:rPr lang="en-US" sz="1300" dirty="0">
                <a:solidFill>
                  <a:srgbClr val="111827"/>
                </a:solidFill>
              </a:rPr>
              <a:t>Where the agent operates</a:t>
            </a:r>
            <a:endParaRPr lang="en-US" sz="1300" dirty="0"/>
          </a:p>
        </p:txBody>
      </p:sp>
      <p:sp>
        <p:nvSpPr>
          <p:cNvPr id="13" name="Shape 11"/>
          <p:cNvSpPr/>
          <p:nvPr/>
        </p:nvSpPr>
        <p:spPr>
          <a:xfrm>
            <a:off x="7406640" y="1417320"/>
            <a:ext cx="566928" cy="566928"/>
          </a:xfrm>
          <a:prstGeom prst="ellipse">
            <a:avLst/>
          </a:prstGeom>
          <a:solidFill>
            <a:srgbClr val="DD6B20"/>
          </a:solidFill>
          <a:ln w="12700">
            <a:solidFill>
              <a:srgbClr val="DD6B20"/>
            </a:solidFill>
            <a:prstDash val="solid"/>
          </a:ln>
        </p:spPr>
      </p:sp>
      <p:sp>
        <p:nvSpPr>
          <p:cNvPr id="14" name="Text 12"/>
          <p:cNvSpPr/>
          <p:nvPr/>
        </p:nvSpPr>
        <p:spPr>
          <a:xfrm>
            <a:off x="7406640" y="1554480"/>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A</a:t>
            </a:r>
            <a:endParaRPr lang="en-US" sz="1400" dirty="0"/>
          </a:p>
        </p:txBody>
      </p:sp>
      <p:sp>
        <p:nvSpPr>
          <p:cNvPr id="15" name="Text 13"/>
          <p:cNvSpPr/>
          <p:nvPr/>
        </p:nvSpPr>
        <p:spPr>
          <a:xfrm>
            <a:off x="6537960" y="2148840"/>
            <a:ext cx="2286000" cy="256032"/>
          </a:xfrm>
          <a:prstGeom prst="rect">
            <a:avLst/>
          </a:prstGeom>
          <a:noFill/>
          <a:ln/>
        </p:spPr>
        <p:txBody>
          <a:bodyPr wrap="square" lIns="254" tIns="254" rIns="254" bIns="254" rtlCol="0" anchor="t">
            <a:normAutofit/>
          </a:bodyPr>
          <a:lstStyle/>
          <a:p>
            <a:pPr algn="ctr" indent="0" marL="0">
              <a:buNone/>
            </a:pPr>
            <a:r>
              <a:rPr lang="en-US" sz="1800" b="1" dirty="0">
                <a:solidFill>
                  <a:srgbClr val="DD6B20"/>
                </a:solidFill>
              </a:rPr>
              <a:t>Actuators</a:t>
            </a:r>
            <a:endParaRPr lang="en-US" sz="1800" dirty="0"/>
          </a:p>
        </p:txBody>
      </p:sp>
      <p:sp>
        <p:nvSpPr>
          <p:cNvPr id="16" name="Text 14"/>
          <p:cNvSpPr/>
          <p:nvPr/>
        </p:nvSpPr>
        <p:spPr>
          <a:xfrm>
            <a:off x="6537960" y="2560320"/>
            <a:ext cx="2286000" cy="502920"/>
          </a:xfrm>
          <a:prstGeom prst="rect">
            <a:avLst/>
          </a:prstGeom>
          <a:noFill/>
          <a:ln/>
        </p:spPr>
        <p:txBody>
          <a:bodyPr wrap="square" lIns="254" tIns="254" rIns="254" bIns="254" rtlCol="0" anchor="t">
            <a:normAutofit/>
          </a:bodyPr>
          <a:lstStyle/>
          <a:p>
            <a:pPr algn="ctr" indent="0" marL="0">
              <a:buNone/>
            </a:pPr>
            <a:r>
              <a:rPr lang="en-US" sz="1300" dirty="0">
                <a:solidFill>
                  <a:srgbClr val="111827"/>
                </a:solidFill>
              </a:rPr>
              <a:t>How the agent acts</a:t>
            </a:r>
            <a:endParaRPr lang="en-US" sz="1300" dirty="0"/>
          </a:p>
        </p:txBody>
      </p:sp>
      <p:sp>
        <p:nvSpPr>
          <p:cNvPr id="17" name="Shape 15"/>
          <p:cNvSpPr/>
          <p:nvPr/>
        </p:nvSpPr>
        <p:spPr>
          <a:xfrm>
            <a:off x="10241280" y="1417320"/>
            <a:ext cx="566928" cy="566928"/>
          </a:xfrm>
          <a:prstGeom prst="ellipse">
            <a:avLst/>
          </a:prstGeom>
          <a:solidFill>
            <a:srgbClr val="3273DC"/>
          </a:solidFill>
          <a:ln w="12700">
            <a:solidFill>
              <a:srgbClr val="3273DC"/>
            </a:solidFill>
            <a:prstDash val="solid"/>
          </a:ln>
        </p:spPr>
      </p:sp>
      <p:sp>
        <p:nvSpPr>
          <p:cNvPr id="18" name="Text 16"/>
          <p:cNvSpPr/>
          <p:nvPr/>
        </p:nvSpPr>
        <p:spPr>
          <a:xfrm>
            <a:off x="10241280" y="1554480"/>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S</a:t>
            </a:r>
            <a:endParaRPr lang="en-US" sz="1400" dirty="0"/>
          </a:p>
        </p:txBody>
      </p:sp>
      <p:sp>
        <p:nvSpPr>
          <p:cNvPr id="19" name="Text 17"/>
          <p:cNvSpPr/>
          <p:nvPr/>
        </p:nvSpPr>
        <p:spPr>
          <a:xfrm>
            <a:off x="9372600" y="2148840"/>
            <a:ext cx="2286000" cy="256032"/>
          </a:xfrm>
          <a:prstGeom prst="rect">
            <a:avLst/>
          </a:prstGeom>
          <a:noFill/>
          <a:ln/>
        </p:spPr>
        <p:txBody>
          <a:bodyPr wrap="square" lIns="254" tIns="254" rIns="254" bIns="254" rtlCol="0" anchor="t">
            <a:normAutofit/>
          </a:bodyPr>
          <a:lstStyle/>
          <a:p>
            <a:pPr algn="ctr" indent="0" marL="0">
              <a:buNone/>
            </a:pPr>
            <a:r>
              <a:rPr lang="en-US" sz="1800" b="1" dirty="0">
                <a:solidFill>
                  <a:srgbClr val="3273DC"/>
                </a:solidFill>
              </a:rPr>
              <a:t>Sensors</a:t>
            </a:r>
            <a:endParaRPr lang="en-US" sz="1800" dirty="0"/>
          </a:p>
        </p:txBody>
      </p:sp>
      <p:sp>
        <p:nvSpPr>
          <p:cNvPr id="20" name="Text 18"/>
          <p:cNvSpPr/>
          <p:nvPr/>
        </p:nvSpPr>
        <p:spPr>
          <a:xfrm>
            <a:off x="9372600" y="2560320"/>
            <a:ext cx="2286000" cy="502920"/>
          </a:xfrm>
          <a:prstGeom prst="rect">
            <a:avLst/>
          </a:prstGeom>
          <a:noFill/>
          <a:ln/>
        </p:spPr>
        <p:txBody>
          <a:bodyPr wrap="square" lIns="254" tIns="254" rIns="254" bIns="254" rtlCol="0" anchor="t">
            <a:normAutofit/>
          </a:bodyPr>
          <a:lstStyle/>
          <a:p>
            <a:pPr algn="ctr" indent="0" marL="0">
              <a:buNone/>
            </a:pPr>
            <a:r>
              <a:rPr lang="en-US" sz="1300" dirty="0">
                <a:solidFill>
                  <a:srgbClr val="111827"/>
                </a:solidFill>
              </a:rPr>
              <a:t>How the agent perceives</a:t>
            </a:r>
            <a:endParaRPr lang="en-US" sz="1300" dirty="0"/>
          </a:p>
        </p:txBody>
      </p:sp>
      <p:sp>
        <p:nvSpPr>
          <p:cNvPr id="21" name="Shape 19"/>
          <p:cNvSpPr/>
          <p:nvPr/>
        </p:nvSpPr>
        <p:spPr>
          <a:xfrm>
            <a:off x="1143000" y="4389120"/>
            <a:ext cx="9829800" cy="777240"/>
          </a:xfrm>
          <a:prstGeom prst="roundRect">
            <a:avLst>
              <a:gd name="adj" fmla="val 14118"/>
            </a:avLst>
          </a:prstGeom>
          <a:solidFill>
            <a:srgbClr val="FFF7E0"/>
          </a:solidFill>
          <a:ln w="15240">
            <a:solidFill>
              <a:srgbClr val="C99700"/>
            </a:solidFill>
            <a:prstDash val="solid"/>
          </a:ln>
        </p:spPr>
      </p:sp>
      <p:sp>
        <p:nvSpPr>
          <p:cNvPr id="22" name="Text 20"/>
          <p:cNvSpPr/>
          <p:nvPr/>
        </p:nvSpPr>
        <p:spPr>
          <a:xfrm>
            <a:off x="1344168" y="4572000"/>
            <a:ext cx="9427464" cy="45720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In designing an agent, specify PEAS as fully as possible before choosing algorithms.</a:t>
            </a:r>
            <a:endParaRPr lang="en-US" sz="1600" dirty="0"/>
          </a:p>
        </p:txBody>
      </p:sp>
      <p:sp>
        <p:nvSpPr>
          <p:cNvPr id="23" name="Text 21"/>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4" name="Text 22"/>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PEAS example: automated taxi</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A complex agent shows why specification matters.</a:t>
            </a:r>
            <a:endParaRPr lang="en-US" sz="1150" dirty="0"/>
          </a:p>
        </p:txBody>
      </p:sp>
      <p:pic>
        <p:nvPicPr>
          <p:cNvPr id="5" name="Image 0" descr="/mnt/data/a_clean_infographic_illustration_with_a_central_sc.png">    </p:cNvPr>
          <p:cNvPicPr>
            <a:picLocks noChangeAspect="1"/>
          </p:cNvPicPr>
          <p:nvPr/>
        </p:nvPicPr>
        <p:blipFill>
          <a:blip r:embed="rId1"/>
          <a:srcRect l="52000" r="-23457" t="0" b="0"/>
          <a:stretch/>
        </p:blipFill>
        <p:spPr>
          <a:xfrm>
            <a:off x="594360" y="1143000"/>
            <a:ext cx="5166360" cy="4069080"/>
          </a:xfrm>
          <a:prstGeom prst="rect">
            <a:avLst/>
          </a:prstGeom>
        </p:spPr>
      </p:pic>
      <p:sp>
        <p:nvSpPr>
          <p:cNvPr id="6" name="Shape 3"/>
          <p:cNvSpPr/>
          <p:nvPr/>
        </p:nvSpPr>
        <p:spPr>
          <a:xfrm>
            <a:off x="6126480" y="1188720"/>
            <a:ext cx="2423160" cy="1097280"/>
          </a:xfrm>
          <a:prstGeom prst="roundRect">
            <a:avLst>
              <a:gd name="adj" fmla="val 10000"/>
            </a:avLst>
          </a:prstGeom>
          <a:solidFill>
            <a:srgbClr val="FFF7E0"/>
          </a:solidFill>
          <a:ln w="16510">
            <a:solidFill>
              <a:srgbClr val="C99700"/>
            </a:solidFill>
            <a:prstDash val="solid"/>
          </a:ln>
        </p:spPr>
      </p:sp>
      <p:sp>
        <p:nvSpPr>
          <p:cNvPr id="7" name="Text 4"/>
          <p:cNvSpPr/>
          <p:nvPr/>
        </p:nvSpPr>
        <p:spPr>
          <a:xfrm>
            <a:off x="6309360" y="1344168"/>
            <a:ext cx="205740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Performance</a:t>
            </a:r>
            <a:endParaRPr lang="en-US" sz="1600" dirty="0"/>
          </a:p>
        </p:txBody>
      </p:sp>
      <p:sp>
        <p:nvSpPr>
          <p:cNvPr id="8" name="Text 5"/>
          <p:cNvSpPr/>
          <p:nvPr/>
        </p:nvSpPr>
        <p:spPr>
          <a:xfrm>
            <a:off x="6327648" y="1719072"/>
            <a:ext cx="202082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Safe, legal, comfortable, efficient, profitable trip.</a:t>
            </a:r>
            <a:endParaRPr lang="en-US" sz="1270" dirty="0"/>
          </a:p>
        </p:txBody>
      </p:sp>
      <p:sp>
        <p:nvSpPr>
          <p:cNvPr id="9" name="Shape 6"/>
          <p:cNvSpPr/>
          <p:nvPr/>
        </p:nvSpPr>
        <p:spPr>
          <a:xfrm>
            <a:off x="8915400" y="1188720"/>
            <a:ext cx="2423160" cy="1097280"/>
          </a:xfrm>
          <a:prstGeom prst="roundRect">
            <a:avLst>
              <a:gd name="adj" fmla="val 10000"/>
            </a:avLst>
          </a:prstGeom>
          <a:solidFill>
            <a:srgbClr val="E6F7F8"/>
          </a:solidFill>
          <a:ln w="16510">
            <a:solidFill>
              <a:srgbClr val="0E7C86"/>
            </a:solidFill>
            <a:prstDash val="solid"/>
          </a:ln>
        </p:spPr>
      </p:sp>
      <p:sp>
        <p:nvSpPr>
          <p:cNvPr id="10" name="Text 7"/>
          <p:cNvSpPr/>
          <p:nvPr/>
        </p:nvSpPr>
        <p:spPr>
          <a:xfrm>
            <a:off x="9098280" y="1344168"/>
            <a:ext cx="205740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Environment</a:t>
            </a:r>
            <a:endParaRPr lang="en-US" sz="1600" dirty="0"/>
          </a:p>
        </p:txBody>
      </p:sp>
      <p:sp>
        <p:nvSpPr>
          <p:cNvPr id="11" name="Text 8"/>
          <p:cNvSpPr/>
          <p:nvPr/>
        </p:nvSpPr>
        <p:spPr>
          <a:xfrm>
            <a:off x="9116568" y="1719072"/>
            <a:ext cx="202082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Roads, vehicles, pedestrians, weather, passengers.</a:t>
            </a:r>
            <a:endParaRPr lang="en-US" sz="1270" dirty="0"/>
          </a:p>
        </p:txBody>
      </p:sp>
      <p:sp>
        <p:nvSpPr>
          <p:cNvPr id="12" name="Shape 9"/>
          <p:cNvSpPr/>
          <p:nvPr/>
        </p:nvSpPr>
        <p:spPr>
          <a:xfrm>
            <a:off x="6126480" y="2743200"/>
            <a:ext cx="2423160" cy="1097280"/>
          </a:xfrm>
          <a:prstGeom prst="roundRect">
            <a:avLst>
              <a:gd name="adj" fmla="val 10000"/>
            </a:avLst>
          </a:prstGeom>
          <a:solidFill>
            <a:srgbClr val="FFF3E8"/>
          </a:solidFill>
          <a:ln w="16510">
            <a:solidFill>
              <a:srgbClr val="DD6B20"/>
            </a:solidFill>
            <a:prstDash val="solid"/>
          </a:ln>
        </p:spPr>
      </p:sp>
      <p:sp>
        <p:nvSpPr>
          <p:cNvPr id="13" name="Text 10"/>
          <p:cNvSpPr/>
          <p:nvPr/>
        </p:nvSpPr>
        <p:spPr>
          <a:xfrm>
            <a:off x="6309360" y="2898648"/>
            <a:ext cx="2057400" cy="256032"/>
          </a:xfrm>
          <a:prstGeom prst="rect">
            <a:avLst/>
          </a:prstGeom>
          <a:noFill/>
          <a:ln/>
        </p:spPr>
        <p:txBody>
          <a:bodyPr wrap="square" lIns="254" tIns="254" rIns="254" bIns="254" rtlCol="0" anchor="t">
            <a:normAutofit/>
          </a:bodyPr>
          <a:lstStyle/>
          <a:p>
            <a:pPr algn="ctr" indent="0" marL="0">
              <a:buNone/>
            </a:pPr>
            <a:r>
              <a:rPr lang="en-US" sz="1600" b="1" dirty="0">
                <a:solidFill>
                  <a:srgbClr val="DD6B20"/>
                </a:solidFill>
              </a:rPr>
              <a:t>Actuators</a:t>
            </a:r>
            <a:endParaRPr lang="en-US" sz="1600" dirty="0"/>
          </a:p>
        </p:txBody>
      </p:sp>
      <p:sp>
        <p:nvSpPr>
          <p:cNvPr id="14" name="Text 11"/>
          <p:cNvSpPr/>
          <p:nvPr/>
        </p:nvSpPr>
        <p:spPr>
          <a:xfrm>
            <a:off x="6327648" y="3273552"/>
            <a:ext cx="202082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Steering, braking, accelerator, display, voice.</a:t>
            </a:r>
            <a:endParaRPr lang="en-US" sz="1270" dirty="0"/>
          </a:p>
        </p:txBody>
      </p:sp>
      <p:sp>
        <p:nvSpPr>
          <p:cNvPr id="15" name="Shape 12"/>
          <p:cNvSpPr/>
          <p:nvPr/>
        </p:nvSpPr>
        <p:spPr>
          <a:xfrm>
            <a:off x="8915400" y="2743200"/>
            <a:ext cx="2423160" cy="1097280"/>
          </a:xfrm>
          <a:prstGeom prst="roundRect">
            <a:avLst>
              <a:gd name="adj" fmla="val 10000"/>
            </a:avLst>
          </a:prstGeom>
          <a:solidFill>
            <a:srgbClr val="EFF6FF"/>
          </a:solidFill>
          <a:ln w="16510">
            <a:solidFill>
              <a:srgbClr val="3273DC"/>
            </a:solidFill>
            <a:prstDash val="solid"/>
          </a:ln>
        </p:spPr>
      </p:sp>
      <p:sp>
        <p:nvSpPr>
          <p:cNvPr id="16" name="Text 13"/>
          <p:cNvSpPr/>
          <p:nvPr/>
        </p:nvSpPr>
        <p:spPr>
          <a:xfrm>
            <a:off x="9098280" y="2898648"/>
            <a:ext cx="205740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Sensors</a:t>
            </a:r>
            <a:endParaRPr lang="en-US" sz="1600" dirty="0"/>
          </a:p>
        </p:txBody>
      </p:sp>
      <p:sp>
        <p:nvSpPr>
          <p:cNvPr id="17" name="Text 14"/>
          <p:cNvSpPr/>
          <p:nvPr/>
        </p:nvSpPr>
        <p:spPr>
          <a:xfrm>
            <a:off x="9116568" y="3273552"/>
            <a:ext cx="202082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Cameras, lidar, speedometer, GPS, microphones.</a:t>
            </a:r>
            <a:endParaRPr lang="en-US" sz="1270" dirty="0"/>
          </a:p>
        </p:txBody>
      </p:sp>
      <p:sp>
        <p:nvSpPr>
          <p:cNvPr id="18" name="Text 15"/>
          <p:cNvSpPr/>
          <p:nvPr/>
        </p:nvSpPr>
        <p:spPr>
          <a:xfrm>
            <a:off x="6263640" y="4736592"/>
            <a:ext cx="4937760" cy="502920"/>
          </a:xfrm>
          <a:prstGeom prst="rect">
            <a:avLst/>
          </a:prstGeom>
          <a:noFill/>
          <a:ln/>
        </p:spPr>
        <p:txBody>
          <a:bodyPr wrap="square" lIns="254" tIns="254" rIns="254" bIns="254" rtlCol="0" anchor="t">
            <a:normAutofit/>
          </a:bodyPr>
          <a:lstStyle/>
          <a:p>
            <a:pPr algn="ctr" indent="0" marL="0">
              <a:buNone/>
            </a:pPr>
            <a:r>
              <a:rPr lang="en-US" sz="1500" b="1" dirty="0">
                <a:solidFill>
                  <a:srgbClr val="002B49"/>
                </a:solidFill>
              </a:rPr>
              <a:t>Tradeoffs are unavoidable: speed vs. safety, cost vs. comfort, profit vs. passenger preference.</a:t>
            </a:r>
            <a:endParaRPr lang="en-US" sz="1500" dirty="0"/>
          </a:p>
        </p:txBody>
      </p:sp>
      <p:sp>
        <p:nvSpPr>
          <p:cNvPr id="19" name="Text 16"/>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0" name="Text 17"/>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PEAS example: grid-world cleaner</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The lab version is intentionally small but conceptually complete.</a:t>
            </a:r>
            <a:endParaRPr lang="en-US" sz="1150" dirty="0"/>
          </a:p>
        </p:txBody>
      </p:sp>
      <p:pic>
        <p:nvPicPr>
          <p:cNvPr id="5" name="Image 0" descr="/mnt/data/a_clean_infographic_diagram_style_illustration_o.png">    </p:cNvPr>
          <p:cNvPicPr>
            <a:picLocks noChangeAspect="1"/>
          </p:cNvPicPr>
          <p:nvPr/>
        </p:nvPicPr>
        <p:blipFill>
          <a:blip r:embed="rId1"/>
          <a:srcRect l="45000" r="-17269" t="0" b="0"/>
          <a:stretch/>
        </p:blipFill>
        <p:spPr>
          <a:xfrm>
            <a:off x="640080" y="1143000"/>
            <a:ext cx="5166360" cy="4023360"/>
          </a:xfrm>
          <a:prstGeom prst="rect">
            <a:avLst/>
          </a:prstGeom>
        </p:spPr>
      </p:pic>
      <p:sp>
        <p:nvSpPr>
          <p:cNvPr id="6" name="Shape 3"/>
          <p:cNvSpPr/>
          <p:nvPr/>
        </p:nvSpPr>
        <p:spPr>
          <a:xfrm>
            <a:off x="6172200" y="1188720"/>
            <a:ext cx="2423160" cy="1097280"/>
          </a:xfrm>
          <a:prstGeom prst="roundRect">
            <a:avLst>
              <a:gd name="adj" fmla="val 10000"/>
            </a:avLst>
          </a:prstGeom>
          <a:solidFill>
            <a:srgbClr val="FFF7E0"/>
          </a:solidFill>
          <a:ln w="16510">
            <a:solidFill>
              <a:srgbClr val="C99700"/>
            </a:solidFill>
            <a:prstDash val="solid"/>
          </a:ln>
        </p:spPr>
      </p:sp>
      <p:sp>
        <p:nvSpPr>
          <p:cNvPr id="7" name="Text 4"/>
          <p:cNvSpPr/>
          <p:nvPr/>
        </p:nvSpPr>
        <p:spPr>
          <a:xfrm>
            <a:off x="6355080" y="1344168"/>
            <a:ext cx="205740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Performance</a:t>
            </a:r>
            <a:endParaRPr lang="en-US" sz="1600" dirty="0"/>
          </a:p>
        </p:txBody>
      </p:sp>
      <p:sp>
        <p:nvSpPr>
          <p:cNvPr id="8" name="Text 5"/>
          <p:cNvSpPr/>
          <p:nvPr/>
        </p:nvSpPr>
        <p:spPr>
          <a:xfrm>
            <a:off x="6373368" y="1719072"/>
            <a:ext cx="202082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+1 for clean cells; penalties for movement or time.</a:t>
            </a:r>
            <a:endParaRPr lang="en-US" sz="1270" dirty="0"/>
          </a:p>
        </p:txBody>
      </p:sp>
      <p:sp>
        <p:nvSpPr>
          <p:cNvPr id="9" name="Shape 6"/>
          <p:cNvSpPr/>
          <p:nvPr/>
        </p:nvSpPr>
        <p:spPr>
          <a:xfrm>
            <a:off x="8961120" y="1188720"/>
            <a:ext cx="2423160" cy="1097280"/>
          </a:xfrm>
          <a:prstGeom prst="roundRect">
            <a:avLst>
              <a:gd name="adj" fmla="val 10000"/>
            </a:avLst>
          </a:prstGeom>
          <a:solidFill>
            <a:srgbClr val="E6F7F8"/>
          </a:solidFill>
          <a:ln w="16510">
            <a:solidFill>
              <a:srgbClr val="0E7C86"/>
            </a:solidFill>
            <a:prstDash val="solid"/>
          </a:ln>
        </p:spPr>
      </p:sp>
      <p:sp>
        <p:nvSpPr>
          <p:cNvPr id="10" name="Text 7"/>
          <p:cNvSpPr/>
          <p:nvPr/>
        </p:nvSpPr>
        <p:spPr>
          <a:xfrm>
            <a:off x="9144000" y="1344168"/>
            <a:ext cx="205740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Environment</a:t>
            </a:r>
            <a:endParaRPr lang="en-US" sz="1600" dirty="0"/>
          </a:p>
        </p:txBody>
      </p:sp>
      <p:sp>
        <p:nvSpPr>
          <p:cNvPr id="11" name="Text 8"/>
          <p:cNvSpPr/>
          <p:nvPr/>
        </p:nvSpPr>
        <p:spPr>
          <a:xfrm>
            <a:off x="9162288" y="1719072"/>
            <a:ext cx="202082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Grid cells, walls, dirt, starting position, goal conditions.</a:t>
            </a:r>
            <a:endParaRPr lang="en-US" sz="1270" dirty="0"/>
          </a:p>
        </p:txBody>
      </p:sp>
      <p:sp>
        <p:nvSpPr>
          <p:cNvPr id="12" name="Shape 9"/>
          <p:cNvSpPr/>
          <p:nvPr/>
        </p:nvSpPr>
        <p:spPr>
          <a:xfrm>
            <a:off x="6172200" y="2743200"/>
            <a:ext cx="2423160" cy="1097280"/>
          </a:xfrm>
          <a:prstGeom prst="roundRect">
            <a:avLst>
              <a:gd name="adj" fmla="val 10000"/>
            </a:avLst>
          </a:prstGeom>
          <a:solidFill>
            <a:srgbClr val="FFF3E8"/>
          </a:solidFill>
          <a:ln w="16510">
            <a:solidFill>
              <a:srgbClr val="DD6B20"/>
            </a:solidFill>
            <a:prstDash val="solid"/>
          </a:ln>
        </p:spPr>
      </p:sp>
      <p:sp>
        <p:nvSpPr>
          <p:cNvPr id="13" name="Text 10"/>
          <p:cNvSpPr/>
          <p:nvPr/>
        </p:nvSpPr>
        <p:spPr>
          <a:xfrm>
            <a:off x="6355080" y="2898648"/>
            <a:ext cx="2057400" cy="256032"/>
          </a:xfrm>
          <a:prstGeom prst="rect">
            <a:avLst/>
          </a:prstGeom>
          <a:noFill/>
          <a:ln/>
        </p:spPr>
        <p:txBody>
          <a:bodyPr wrap="square" lIns="254" tIns="254" rIns="254" bIns="254" rtlCol="0" anchor="t">
            <a:normAutofit/>
          </a:bodyPr>
          <a:lstStyle/>
          <a:p>
            <a:pPr algn="ctr" indent="0" marL="0">
              <a:buNone/>
            </a:pPr>
            <a:r>
              <a:rPr lang="en-US" sz="1600" b="1" dirty="0">
                <a:solidFill>
                  <a:srgbClr val="DD6B20"/>
                </a:solidFill>
              </a:rPr>
              <a:t>Actuators</a:t>
            </a:r>
            <a:endParaRPr lang="en-US" sz="1600" dirty="0"/>
          </a:p>
        </p:txBody>
      </p:sp>
      <p:sp>
        <p:nvSpPr>
          <p:cNvPr id="14" name="Text 11"/>
          <p:cNvSpPr/>
          <p:nvPr/>
        </p:nvSpPr>
        <p:spPr>
          <a:xfrm>
            <a:off x="6373368" y="3273552"/>
            <a:ext cx="202082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Move north/south/east/west; clean current cell; stop.</a:t>
            </a:r>
            <a:endParaRPr lang="en-US" sz="1270" dirty="0"/>
          </a:p>
        </p:txBody>
      </p:sp>
      <p:sp>
        <p:nvSpPr>
          <p:cNvPr id="15" name="Shape 12"/>
          <p:cNvSpPr/>
          <p:nvPr/>
        </p:nvSpPr>
        <p:spPr>
          <a:xfrm>
            <a:off x="8961120" y="2743200"/>
            <a:ext cx="2423160" cy="1097280"/>
          </a:xfrm>
          <a:prstGeom prst="roundRect">
            <a:avLst>
              <a:gd name="adj" fmla="val 10000"/>
            </a:avLst>
          </a:prstGeom>
          <a:solidFill>
            <a:srgbClr val="EFF6FF"/>
          </a:solidFill>
          <a:ln w="16510">
            <a:solidFill>
              <a:srgbClr val="3273DC"/>
            </a:solidFill>
            <a:prstDash val="solid"/>
          </a:ln>
        </p:spPr>
      </p:sp>
      <p:sp>
        <p:nvSpPr>
          <p:cNvPr id="16" name="Text 13"/>
          <p:cNvSpPr/>
          <p:nvPr/>
        </p:nvSpPr>
        <p:spPr>
          <a:xfrm>
            <a:off x="9144000" y="2898648"/>
            <a:ext cx="205740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Sensors</a:t>
            </a:r>
            <a:endParaRPr lang="en-US" sz="1600" dirty="0"/>
          </a:p>
        </p:txBody>
      </p:sp>
      <p:sp>
        <p:nvSpPr>
          <p:cNvPr id="17" name="Text 14"/>
          <p:cNvSpPr/>
          <p:nvPr/>
        </p:nvSpPr>
        <p:spPr>
          <a:xfrm>
            <a:off x="9162288" y="3273552"/>
            <a:ext cx="202082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Location sensor, dirt sensor, wall sensor, or partial observations.</a:t>
            </a:r>
            <a:endParaRPr lang="en-US" sz="1270" dirty="0"/>
          </a:p>
        </p:txBody>
      </p:sp>
      <p:sp>
        <p:nvSpPr>
          <p:cNvPr id="18" name="Shape 15"/>
          <p:cNvSpPr/>
          <p:nvPr/>
        </p:nvSpPr>
        <p:spPr>
          <a:xfrm>
            <a:off x="6355080" y="4709160"/>
            <a:ext cx="4892040" cy="731520"/>
          </a:xfrm>
          <a:prstGeom prst="roundRect">
            <a:avLst>
              <a:gd name="adj" fmla="val 15000"/>
            </a:avLst>
          </a:prstGeom>
          <a:solidFill>
            <a:srgbClr val="FFF7E0"/>
          </a:solidFill>
          <a:ln w="15240">
            <a:solidFill>
              <a:srgbClr val="C99700"/>
            </a:solidFill>
            <a:prstDash val="solid"/>
          </a:ln>
        </p:spPr>
      </p:sp>
      <p:sp>
        <p:nvSpPr>
          <p:cNvPr id="19" name="Text 16"/>
          <p:cNvSpPr/>
          <p:nvPr/>
        </p:nvSpPr>
        <p:spPr>
          <a:xfrm>
            <a:off x="6556248" y="4892040"/>
            <a:ext cx="4489704" cy="41148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Changing one PEAS element can make the same agent rational or irrational.</a:t>
            </a:r>
            <a:endParaRPr lang="en-US" sz="1600" dirty="0"/>
          </a:p>
        </p:txBody>
      </p:sp>
      <p:sp>
        <p:nvSpPr>
          <p:cNvPr id="20" name="Text 17"/>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1" name="Text 18"/>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Environment properties: what the agent is up against</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These dimensions influence the right agent design.</a:t>
            </a:r>
            <a:endParaRPr lang="en-US" sz="1150" dirty="0"/>
          </a:p>
        </p:txBody>
      </p:sp>
      <p:sp>
        <p:nvSpPr>
          <p:cNvPr id="5" name="Shape 3"/>
          <p:cNvSpPr/>
          <p:nvPr/>
        </p:nvSpPr>
        <p:spPr>
          <a:xfrm>
            <a:off x="822960" y="1234440"/>
            <a:ext cx="2743200" cy="1005840"/>
          </a:xfrm>
          <a:prstGeom prst="roundRect">
            <a:avLst>
              <a:gd name="adj" fmla="val 10909"/>
            </a:avLst>
          </a:prstGeom>
          <a:solidFill>
            <a:srgbClr val="E6F7F8"/>
          </a:solidFill>
          <a:ln w="16510">
            <a:solidFill>
              <a:srgbClr val="0E7C86"/>
            </a:solidFill>
            <a:prstDash val="solid"/>
          </a:ln>
        </p:spPr>
      </p:sp>
      <p:sp>
        <p:nvSpPr>
          <p:cNvPr id="6" name="Text 4"/>
          <p:cNvSpPr/>
          <p:nvPr/>
        </p:nvSpPr>
        <p:spPr>
          <a:xfrm>
            <a:off x="1005840" y="1389888"/>
            <a:ext cx="237744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Observable?</a:t>
            </a:r>
            <a:endParaRPr lang="en-US" sz="1600" dirty="0"/>
          </a:p>
        </p:txBody>
      </p:sp>
      <p:sp>
        <p:nvSpPr>
          <p:cNvPr id="7" name="Text 5"/>
          <p:cNvSpPr/>
          <p:nvPr/>
        </p:nvSpPr>
        <p:spPr>
          <a:xfrm>
            <a:off x="1024128" y="1764792"/>
            <a:ext cx="2340864" cy="3657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Can sensors access all relevant state?</a:t>
            </a:r>
            <a:endParaRPr lang="en-US" sz="1270" dirty="0"/>
          </a:p>
        </p:txBody>
      </p:sp>
      <p:sp>
        <p:nvSpPr>
          <p:cNvPr id="8" name="Shape 6"/>
          <p:cNvSpPr/>
          <p:nvPr/>
        </p:nvSpPr>
        <p:spPr>
          <a:xfrm>
            <a:off x="3611880" y="1234440"/>
            <a:ext cx="2743200" cy="1005840"/>
          </a:xfrm>
          <a:prstGeom prst="roundRect">
            <a:avLst>
              <a:gd name="adj" fmla="val 10909"/>
            </a:avLst>
          </a:prstGeom>
          <a:solidFill>
            <a:srgbClr val="EFF6FF"/>
          </a:solidFill>
          <a:ln w="16510">
            <a:solidFill>
              <a:srgbClr val="3273DC"/>
            </a:solidFill>
            <a:prstDash val="solid"/>
          </a:ln>
        </p:spPr>
      </p:sp>
      <p:sp>
        <p:nvSpPr>
          <p:cNvPr id="9" name="Text 7"/>
          <p:cNvSpPr/>
          <p:nvPr/>
        </p:nvSpPr>
        <p:spPr>
          <a:xfrm>
            <a:off x="3794760" y="1389888"/>
            <a:ext cx="237744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Single or multiagent?</a:t>
            </a:r>
            <a:endParaRPr lang="en-US" sz="1600" dirty="0"/>
          </a:p>
        </p:txBody>
      </p:sp>
      <p:sp>
        <p:nvSpPr>
          <p:cNvPr id="10" name="Text 8"/>
          <p:cNvSpPr/>
          <p:nvPr/>
        </p:nvSpPr>
        <p:spPr>
          <a:xfrm>
            <a:off x="3813048" y="1764792"/>
            <a:ext cx="2340864" cy="3657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Do other decision-makers affect performance?</a:t>
            </a:r>
            <a:endParaRPr lang="en-US" sz="1270" dirty="0"/>
          </a:p>
        </p:txBody>
      </p:sp>
      <p:sp>
        <p:nvSpPr>
          <p:cNvPr id="11" name="Shape 9"/>
          <p:cNvSpPr/>
          <p:nvPr/>
        </p:nvSpPr>
        <p:spPr>
          <a:xfrm>
            <a:off x="6400800" y="1234440"/>
            <a:ext cx="2743200" cy="1005840"/>
          </a:xfrm>
          <a:prstGeom prst="roundRect">
            <a:avLst>
              <a:gd name="adj" fmla="val 10909"/>
            </a:avLst>
          </a:prstGeom>
          <a:solidFill>
            <a:srgbClr val="FFF7E0"/>
          </a:solidFill>
          <a:ln w="16510">
            <a:solidFill>
              <a:srgbClr val="C99700"/>
            </a:solidFill>
            <a:prstDash val="solid"/>
          </a:ln>
        </p:spPr>
      </p:sp>
      <p:sp>
        <p:nvSpPr>
          <p:cNvPr id="12" name="Text 10"/>
          <p:cNvSpPr/>
          <p:nvPr/>
        </p:nvSpPr>
        <p:spPr>
          <a:xfrm>
            <a:off x="6583680" y="1389888"/>
            <a:ext cx="237744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Deterministic?</a:t>
            </a:r>
            <a:endParaRPr lang="en-US" sz="1600" dirty="0"/>
          </a:p>
        </p:txBody>
      </p:sp>
      <p:sp>
        <p:nvSpPr>
          <p:cNvPr id="13" name="Text 11"/>
          <p:cNvSpPr/>
          <p:nvPr/>
        </p:nvSpPr>
        <p:spPr>
          <a:xfrm>
            <a:off x="6601968" y="1764792"/>
            <a:ext cx="2340864" cy="3657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Is the next state fully determined by current state and action?</a:t>
            </a:r>
            <a:endParaRPr lang="en-US" sz="1270" dirty="0"/>
          </a:p>
        </p:txBody>
      </p:sp>
      <p:sp>
        <p:nvSpPr>
          <p:cNvPr id="14" name="Shape 12"/>
          <p:cNvSpPr/>
          <p:nvPr/>
        </p:nvSpPr>
        <p:spPr>
          <a:xfrm>
            <a:off x="9189720" y="1234440"/>
            <a:ext cx="2743200" cy="1005840"/>
          </a:xfrm>
          <a:prstGeom prst="roundRect">
            <a:avLst>
              <a:gd name="adj" fmla="val 10909"/>
            </a:avLst>
          </a:prstGeom>
          <a:solidFill>
            <a:srgbClr val="F3EEFF"/>
          </a:solidFill>
          <a:ln w="16510">
            <a:solidFill>
              <a:srgbClr val="6B46C1"/>
            </a:solidFill>
            <a:prstDash val="solid"/>
          </a:ln>
        </p:spPr>
      </p:sp>
      <p:sp>
        <p:nvSpPr>
          <p:cNvPr id="15" name="Text 13"/>
          <p:cNvSpPr/>
          <p:nvPr/>
        </p:nvSpPr>
        <p:spPr>
          <a:xfrm>
            <a:off x="9372600" y="1389888"/>
            <a:ext cx="2377440" cy="256032"/>
          </a:xfrm>
          <a:prstGeom prst="rect">
            <a:avLst/>
          </a:prstGeom>
          <a:noFill/>
          <a:ln/>
        </p:spPr>
        <p:txBody>
          <a:bodyPr wrap="square" lIns="254" tIns="254" rIns="254" bIns="254" rtlCol="0" anchor="t">
            <a:normAutofit/>
          </a:bodyPr>
          <a:lstStyle/>
          <a:p>
            <a:pPr algn="ctr" indent="0" marL="0">
              <a:buNone/>
            </a:pPr>
            <a:r>
              <a:rPr lang="en-US" sz="1600" b="1" dirty="0">
                <a:solidFill>
                  <a:srgbClr val="6B46C1"/>
                </a:solidFill>
              </a:rPr>
              <a:t>Sequential?</a:t>
            </a:r>
            <a:endParaRPr lang="en-US" sz="1600" dirty="0"/>
          </a:p>
        </p:txBody>
      </p:sp>
      <p:sp>
        <p:nvSpPr>
          <p:cNvPr id="16" name="Text 14"/>
          <p:cNvSpPr/>
          <p:nvPr/>
        </p:nvSpPr>
        <p:spPr>
          <a:xfrm>
            <a:off x="9390888" y="1764792"/>
            <a:ext cx="2340864" cy="3657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Do current actions affect future choices?</a:t>
            </a:r>
            <a:endParaRPr lang="en-US" sz="1270" dirty="0"/>
          </a:p>
        </p:txBody>
      </p:sp>
      <p:sp>
        <p:nvSpPr>
          <p:cNvPr id="17" name="Shape 15"/>
          <p:cNvSpPr/>
          <p:nvPr/>
        </p:nvSpPr>
        <p:spPr>
          <a:xfrm>
            <a:off x="2194560" y="3063240"/>
            <a:ext cx="2743200" cy="1005840"/>
          </a:xfrm>
          <a:prstGeom prst="roundRect">
            <a:avLst>
              <a:gd name="adj" fmla="val 10909"/>
            </a:avLst>
          </a:prstGeom>
          <a:solidFill>
            <a:srgbClr val="FFF3E8"/>
          </a:solidFill>
          <a:ln w="16510">
            <a:solidFill>
              <a:srgbClr val="DD6B20"/>
            </a:solidFill>
            <a:prstDash val="solid"/>
          </a:ln>
        </p:spPr>
      </p:sp>
      <p:sp>
        <p:nvSpPr>
          <p:cNvPr id="18" name="Text 16"/>
          <p:cNvSpPr/>
          <p:nvPr/>
        </p:nvSpPr>
        <p:spPr>
          <a:xfrm>
            <a:off x="2377440" y="3218688"/>
            <a:ext cx="2377440" cy="256032"/>
          </a:xfrm>
          <a:prstGeom prst="rect">
            <a:avLst/>
          </a:prstGeom>
          <a:noFill/>
          <a:ln/>
        </p:spPr>
        <p:txBody>
          <a:bodyPr wrap="square" lIns="254" tIns="254" rIns="254" bIns="254" rtlCol="0" anchor="t">
            <a:normAutofit/>
          </a:bodyPr>
          <a:lstStyle/>
          <a:p>
            <a:pPr algn="ctr" indent="0" marL="0">
              <a:buNone/>
            </a:pPr>
            <a:r>
              <a:rPr lang="en-US" sz="1600" b="1" dirty="0">
                <a:solidFill>
                  <a:srgbClr val="DD6B20"/>
                </a:solidFill>
              </a:rPr>
              <a:t>Dynamic?</a:t>
            </a:r>
            <a:endParaRPr lang="en-US" sz="1600" dirty="0"/>
          </a:p>
        </p:txBody>
      </p:sp>
      <p:sp>
        <p:nvSpPr>
          <p:cNvPr id="19" name="Text 17"/>
          <p:cNvSpPr/>
          <p:nvPr/>
        </p:nvSpPr>
        <p:spPr>
          <a:xfrm>
            <a:off x="2395728" y="3593592"/>
            <a:ext cx="2340864" cy="3657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Can the world change while the agent deliberates?</a:t>
            </a:r>
            <a:endParaRPr lang="en-US" sz="1270" dirty="0"/>
          </a:p>
        </p:txBody>
      </p:sp>
      <p:sp>
        <p:nvSpPr>
          <p:cNvPr id="20" name="Shape 18"/>
          <p:cNvSpPr/>
          <p:nvPr/>
        </p:nvSpPr>
        <p:spPr>
          <a:xfrm>
            <a:off x="5029200" y="3063240"/>
            <a:ext cx="2743200" cy="1005840"/>
          </a:xfrm>
          <a:prstGeom prst="roundRect">
            <a:avLst>
              <a:gd name="adj" fmla="val 10909"/>
            </a:avLst>
          </a:prstGeom>
          <a:solidFill>
            <a:srgbClr val="E9F7EF"/>
          </a:solidFill>
          <a:ln w="16510">
            <a:solidFill>
              <a:srgbClr val="2F855A"/>
            </a:solidFill>
            <a:prstDash val="solid"/>
          </a:ln>
        </p:spPr>
      </p:sp>
      <p:sp>
        <p:nvSpPr>
          <p:cNvPr id="21" name="Text 19"/>
          <p:cNvSpPr/>
          <p:nvPr/>
        </p:nvSpPr>
        <p:spPr>
          <a:xfrm>
            <a:off x="5212080" y="3218688"/>
            <a:ext cx="237744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Continuous?</a:t>
            </a:r>
            <a:endParaRPr lang="en-US" sz="1600" dirty="0"/>
          </a:p>
        </p:txBody>
      </p:sp>
      <p:sp>
        <p:nvSpPr>
          <p:cNvPr id="22" name="Text 20"/>
          <p:cNvSpPr/>
          <p:nvPr/>
        </p:nvSpPr>
        <p:spPr>
          <a:xfrm>
            <a:off x="5230368" y="3593592"/>
            <a:ext cx="2340864" cy="3657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Are state, time, percepts, or actions continuous?</a:t>
            </a:r>
            <a:endParaRPr lang="en-US" sz="1270" dirty="0"/>
          </a:p>
        </p:txBody>
      </p:sp>
      <p:sp>
        <p:nvSpPr>
          <p:cNvPr id="23" name="Shape 21"/>
          <p:cNvSpPr/>
          <p:nvPr/>
        </p:nvSpPr>
        <p:spPr>
          <a:xfrm>
            <a:off x="7863840" y="3063240"/>
            <a:ext cx="2743200" cy="1005840"/>
          </a:xfrm>
          <a:prstGeom prst="roundRect">
            <a:avLst>
              <a:gd name="adj" fmla="val 10909"/>
            </a:avLst>
          </a:prstGeom>
          <a:solidFill>
            <a:srgbClr val="FFF1F0"/>
          </a:solidFill>
          <a:ln w="16510">
            <a:solidFill>
              <a:srgbClr val="C53030"/>
            </a:solidFill>
            <a:prstDash val="solid"/>
          </a:ln>
        </p:spPr>
      </p:sp>
      <p:sp>
        <p:nvSpPr>
          <p:cNvPr id="24" name="Text 22"/>
          <p:cNvSpPr/>
          <p:nvPr/>
        </p:nvSpPr>
        <p:spPr>
          <a:xfrm>
            <a:off x="8046720" y="3218688"/>
            <a:ext cx="2377440" cy="256032"/>
          </a:xfrm>
          <a:prstGeom prst="rect">
            <a:avLst/>
          </a:prstGeom>
          <a:noFill/>
          <a:ln/>
        </p:spPr>
        <p:txBody>
          <a:bodyPr wrap="square" lIns="254" tIns="254" rIns="254" bIns="254" rtlCol="0" anchor="t">
            <a:normAutofit/>
          </a:bodyPr>
          <a:lstStyle/>
          <a:p>
            <a:pPr algn="ctr" indent="0" marL="0">
              <a:buNone/>
            </a:pPr>
            <a:r>
              <a:rPr lang="en-US" sz="1600" b="1" dirty="0">
                <a:solidFill>
                  <a:srgbClr val="C53030"/>
                </a:solidFill>
              </a:rPr>
              <a:t>Known?</a:t>
            </a:r>
            <a:endParaRPr lang="en-US" sz="1600" dirty="0"/>
          </a:p>
        </p:txBody>
      </p:sp>
      <p:sp>
        <p:nvSpPr>
          <p:cNvPr id="25" name="Text 23"/>
          <p:cNvSpPr/>
          <p:nvPr/>
        </p:nvSpPr>
        <p:spPr>
          <a:xfrm>
            <a:off x="8065008" y="3593592"/>
            <a:ext cx="2340864" cy="3657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Does the agent know the rules or transition probabilities?</a:t>
            </a:r>
            <a:endParaRPr lang="en-US" sz="1270" dirty="0"/>
          </a:p>
        </p:txBody>
      </p:sp>
      <p:sp>
        <p:nvSpPr>
          <p:cNvPr id="26" name="Shape 24"/>
          <p:cNvSpPr/>
          <p:nvPr/>
        </p:nvSpPr>
        <p:spPr>
          <a:xfrm>
            <a:off x="1325880" y="5166360"/>
            <a:ext cx="9555480" cy="640080"/>
          </a:xfrm>
          <a:prstGeom prst="roundRect">
            <a:avLst>
              <a:gd name="adj" fmla="val 17143"/>
            </a:avLst>
          </a:prstGeom>
          <a:solidFill>
            <a:srgbClr val="FFF7E0"/>
          </a:solidFill>
          <a:ln w="15240">
            <a:solidFill>
              <a:srgbClr val="C99700"/>
            </a:solidFill>
            <a:prstDash val="solid"/>
          </a:ln>
        </p:spPr>
      </p:sp>
      <p:sp>
        <p:nvSpPr>
          <p:cNvPr id="27" name="Text 25"/>
          <p:cNvSpPr/>
          <p:nvPr/>
        </p:nvSpPr>
        <p:spPr>
          <a:xfrm>
            <a:off x="1527048" y="5349240"/>
            <a:ext cx="9153144" cy="32004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Hardest case: partially observable, multiagent, nondeterministic, sequential, dynamic, continuous, and unknown.</a:t>
            </a:r>
            <a:endParaRPr lang="en-US" sz="1600" dirty="0"/>
          </a:p>
        </p:txBody>
      </p:sp>
      <p:sp>
        <p:nvSpPr>
          <p:cNvPr id="28" name="Text 26"/>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9" name="Text 27"/>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Classify three environments</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Use the dimensions to explain design difficulty.</a:t>
            </a:r>
            <a:endParaRPr lang="en-US" sz="1150" dirty="0"/>
          </a:p>
        </p:txBody>
      </p:sp>
      <p:sp>
        <p:nvSpPr>
          <p:cNvPr id="5" name="Shape 3"/>
          <p:cNvSpPr/>
          <p:nvPr/>
        </p:nvSpPr>
        <p:spPr>
          <a:xfrm>
            <a:off x="868680" y="1554480"/>
            <a:ext cx="3154680" cy="1828800"/>
          </a:xfrm>
          <a:prstGeom prst="roundRect">
            <a:avLst>
              <a:gd name="adj" fmla="val 6000"/>
            </a:avLst>
          </a:prstGeom>
          <a:solidFill>
            <a:srgbClr val="FFFFFF"/>
          </a:solidFill>
          <a:ln w="16510">
            <a:solidFill>
              <a:srgbClr val="0E7C86"/>
            </a:solidFill>
            <a:prstDash val="solid"/>
          </a:ln>
        </p:spPr>
      </p:sp>
      <p:sp>
        <p:nvSpPr>
          <p:cNvPr id="6" name="Text 4"/>
          <p:cNvSpPr/>
          <p:nvPr/>
        </p:nvSpPr>
        <p:spPr>
          <a:xfrm>
            <a:off x="1051560" y="1709928"/>
            <a:ext cx="278892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Crossword puzzle</a:t>
            </a:r>
            <a:endParaRPr lang="en-US" sz="1600" dirty="0"/>
          </a:p>
        </p:txBody>
      </p:sp>
      <p:sp>
        <p:nvSpPr>
          <p:cNvPr id="7" name="Text 5"/>
          <p:cNvSpPr/>
          <p:nvPr/>
        </p:nvSpPr>
        <p:spPr>
          <a:xfrm>
            <a:off x="1069848" y="2084832"/>
            <a:ext cx="2752344" cy="11887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mostly observable, single-agent, static, discrete</a:t>
            </a:r>
            <a:endParaRPr lang="en-US" sz="1270" dirty="0"/>
          </a:p>
        </p:txBody>
      </p:sp>
      <p:sp>
        <p:nvSpPr>
          <p:cNvPr id="8" name="Shape 6"/>
          <p:cNvSpPr/>
          <p:nvPr/>
        </p:nvSpPr>
        <p:spPr>
          <a:xfrm>
            <a:off x="4617720" y="1554480"/>
            <a:ext cx="3154680" cy="1828800"/>
          </a:xfrm>
          <a:prstGeom prst="roundRect">
            <a:avLst>
              <a:gd name="adj" fmla="val 6000"/>
            </a:avLst>
          </a:prstGeom>
          <a:solidFill>
            <a:srgbClr val="FFFFFF"/>
          </a:solidFill>
          <a:ln w="16510">
            <a:solidFill>
              <a:srgbClr val="6B46C1"/>
            </a:solidFill>
            <a:prstDash val="solid"/>
          </a:ln>
        </p:spPr>
      </p:sp>
      <p:sp>
        <p:nvSpPr>
          <p:cNvPr id="9" name="Text 7"/>
          <p:cNvSpPr/>
          <p:nvPr/>
        </p:nvSpPr>
        <p:spPr>
          <a:xfrm>
            <a:off x="4800600" y="1709928"/>
            <a:ext cx="2788920" cy="256032"/>
          </a:xfrm>
          <a:prstGeom prst="rect">
            <a:avLst/>
          </a:prstGeom>
          <a:noFill/>
          <a:ln/>
        </p:spPr>
        <p:txBody>
          <a:bodyPr wrap="square" lIns="254" tIns="254" rIns="254" bIns="254" rtlCol="0" anchor="t">
            <a:normAutofit/>
          </a:bodyPr>
          <a:lstStyle/>
          <a:p>
            <a:pPr algn="ctr" indent="0" marL="0">
              <a:buNone/>
            </a:pPr>
            <a:r>
              <a:rPr lang="en-US" sz="1600" b="1" dirty="0">
                <a:solidFill>
                  <a:srgbClr val="6B46C1"/>
                </a:solidFill>
              </a:rPr>
              <a:t>Chess</a:t>
            </a:r>
            <a:endParaRPr lang="en-US" sz="1600" dirty="0"/>
          </a:p>
        </p:txBody>
      </p:sp>
      <p:sp>
        <p:nvSpPr>
          <p:cNvPr id="10" name="Text 8"/>
          <p:cNvSpPr/>
          <p:nvPr/>
        </p:nvSpPr>
        <p:spPr>
          <a:xfrm>
            <a:off x="4818888" y="2084832"/>
            <a:ext cx="2752344" cy="11887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observable, competitive multiagent, sequential, discrete</a:t>
            </a:r>
            <a:endParaRPr lang="en-US" sz="1270" dirty="0"/>
          </a:p>
        </p:txBody>
      </p:sp>
      <p:sp>
        <p:nvSpPr>
          <p:cNvPr id="11" name="Shape 9"/>
          <p:cNvSpPr/>
          <p:nvPr/>
        </p:nvSpPr>
        <p:spPr>
          <a:xfrm>
            <a:off x="8366760" y="1554480"/>
            <a:ext cx="3154680" cy="1828800"/>
          </a:xfrm>
          <a:prstGeom prst="roundRect">
            <a:avLst>
              <a:gd name="adj" fmla="val 6000"/>
            </a:avLst>
          </a:prstGeom>
          <a:solidFill>
            <a:srgbClr val="FFFFFF"/>
          </a:solidFill>
          <a:ln w="16510">
            <a:solidFill>
              <a:srgbClr val="DD6B20"/>
            </a:solidFill>
            <a:prstDash val="solid"/>
          </a:ln>
        </p:spPr>
      </p:sp>
      <p:sp>
        <p:nvSpPr>
          <p:cNvPr id="12" name="Text 10"/>
          <p:cNvSpPr/>
          <p:nvPr/>
        </p:nvSpPr>
        <p:spPr>
          <a:xfrm>
            <a:off x="8549640" y="1709928"/>
            <a:ext cx="2788920" cy="256032"/>
          </a:xfrm>
          <a:prstGeom prst="rect">
            <a:avLst/>
          </a:prstGeom>
          <a:noFill/>
          <a:ln/>
        </p:spPr>
        <p:txBody>
          <a:bodyPr wrap="square" lIns="254" tIns="254" rIns="254" bIns="254" rtlCol="0" anchor="t">
            <a:normAutofit/>
          </a:bodyPr>
          <a:lstStyle/>
          <a:p>
            <a:pPr algn="ctr" indent="0" marL="0">
              <a:buNone/>
            </a:pPr>
            <a:r>
              <a:rPr lang="en-US" sz="1600" b="1" dirty="0">
                <a:solidFill>
                  <a:srgbClr val="DD6B20"/>
                </a:solidFill>
              </a:rPr>
              <a:t>Robot taxi</a:t>
            </a:r>
            <a:endParaRPr lang="en-US" sz="1600" dirty="0"/>
          </a:p>
        </p:txBody>
      </p:sp>
      <p:sp>
        <p:nvSpPr>
          <p:cNvPr id="13" name="Text 11"/>
          <p:cNvSpPr/>
          <p:nvPr/>
        </p:nvSpPr>
        <p:spPr>
          <a:xfrm>
            <a:off x="8567928" y="2084832"/>
            <a:ext cx="2752344" cy="11887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partially observable, multiagent, dynamic, continuous, uncertain</a:t>
            </a:r>
            <a:endParaRPr lang="en-US" sz="1270" dirty="0"/>
          </a:p>
        </p:txBody>
      </p:sp>
      <p:sp>
        <p:nvSpPr>
          <p:cNvPr id="14" name="Text 12"/>
          <p:cNvSpPr/>
          <p:nvPr/>
        </p:nvSpPr>
        <p:spPr>
          <a:xfrm>
            <a:off x="960120" y="4160520"/>
            <a:ext cx="1280160" cy="228600"/>
          </a:xfrm>
          <a:prstGeom prst="rect">
            <a:avLst/>
          </a:prstGeom>
          <a:noFill/>
          <a:ln/>
        </p:spPr>
        <p:txBody>
          <a:bodyPr wrap="square" lIns="254" tIns="254" rIns="254" bIns="254" rtlCol="0" anchor="t">
            <a:normAutofit/>
          </a:bodyPr>
          <a:lstStyle/>
          <a:p>
            <a:pPr algn="l" indent="0" marL="0">
              <a:buNone/>
            </a:pPr>
            <a:r>
              <a:rPr lang="en-US" sz="1800" b="1" dirty="0">
                <a:solidFill>
                  <a:srgbClr val="002B49"/>
                </a:solidFill>
              </a:rPr>
              <a:t>Prompt</a:t>
            </a:r>
            <a:endParaRPr lang="en-US" sz="1800" dirty="0"/>
          </a:p>
        </p:txBody>
      </p:sp>
      <p:sp>
        <p:nvSpPr>
          <p:cNvPr id="15" name="Shape 13"/>
          <p:cNvSpPr/>
          <p:nvPr/>
        </p:nvSpPr>
        <p:spPr>
          <a:xfrm>
            <a:off x="2423160" y="3977640"/>
            <a:ext cx="8412480" cy="777240"/>
          </a:xfrm>
          <a:prstGeom prst="roundRect">
            <a:avLst>
              <a:gd name="adj" fmla="val 14118"/>
            </a:avLst>
          </a:prstGeom>
          <a:solidFill>
            <a:srgbClr val="EFF6FF"/>
          </a:solidFill>
          <a:ln w="15240">
            <a:solidFill>
              <a:srgbClr val="3273DC"/>
            </a:solidFill>
            <a:prstDash val="solid"/>
          </a:ln>
        </p:spPr>
      </p:sp>
      <p:sp>
        <p:nvSpPr>
          <p:cNvPr id="16" name="Text 14"/>
          <p:cNvSpPr/>
          <p:nvPr/>
        </p:nvSpPr>
        <p:spPr>
          <a:xfrm>
            <a:off x="2624328" y="4160520"/>
            <a:ext cx="8010144" cy="45720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Which one needs internal state? Which one needs planning? Which one needs uncertainty handling?</a:t>
            </a:r>
            <a:endParaRPr lang="en-US" sz="1600" dirty="0"/>
          </a:p>
        </p:txBody>
      </p:sp>
      <p:sp>
        <p:nvSpPr>
          <p:cNvPr id="17" name="Text 15"/>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8" name="Text 16"/>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Agent program families</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Four basic designs recur across AI systems.</a:t>
            </a:r>
            <a:endParaRPr lang="en-US" sz="1150" dirty="0"/>
          </a:p>
        </p:txBody>
      </p:sp>
      <p:sp>
        <p:nvSpPr>
          <p:cNvPr id="5" name="Shape 3"/>
          <p:cNvSpPr/>
          <p:nvPr/>
        </p:nvSpPr>
        <p:spPr>
          <a:xfrm>
            <a:off x="2011680" y="2834640"/>
            <a:ext cx="1737360" cy="0"/>
          </a:xfrm>
          <a:prstGeom prst="line">
            <a:avLst/>
          </a:prstGeom>
          <a:noFill/>
          <a:ln w="27940">
            <a:solidFill>
              <a:srgbClr val="475467"/>
            </a:solidFill>
            <a:prstDash val="solid"/>
            <a:tailEnd type="triangle"/>
          </a:ln>
        </p:spPr>
      </p:sp>
      <p:sp>
        <p:nvSpPr>
          <p:cNvPr id="6" name="Shape 4"/>
          <p:cNvSpPr/>
          <p:nvPr/>
        </p:nvSpPr>
        <p:spPr>
          <a:xfrm>
            <a:off x="5303520" y="2834640"/>
            <a:ext cx="1737360" cy="0"/>
          </a:xfrm>
          <a:prstGeom prst="line">
            <a:avLst/>
          </a:prstGeom>
          <a:noFill/>
          <a:ln w="27940">
            <a:solidFill>
              <a:srgbClr val="475467"/>
            </a:solidFill>
            <a:prstDash val="solid"/>
            <a:tailEnd type="triangle"/>
          </a:ln>
        </p:spPr>
      </p:sp>
      <p:sp>
        <p:nvSpPr>
          <p:cNvPr id="7" name="Shape 5"/>
          <p:cNvSpPr/>
          <p:nvPr/>
        </p:nvSpPr>
        <p:spPr>
          <a:xfrm>
            <a:off x="8595360" y="2834640"/>
            <a:ext cx="1737360" cy="0"/>
          </a:xfrm>
          <a:prstGeom prst="line">
            <a:avLst/>
          </a:prstGeom>
          <a:noFill/>
          <a:ln w="27940">
            <a:solidFill>
              <a:srgbClr val="475467"/>
            </a:solidFill>
            <a:prstDash val="solid"/>
            <a:tailEnd type="triangle"/>
          </a:ln>
        </p:spPr>
      </p:sp>
      <p:sp>
        <p:nvSpPr>
          <p:cNvPr id="8" name="Shape 6"/>
          <p:cNvSpPr/>
          <p:nvPr/>
        </p:nvSpPr>
        <p:spPr>
          <a:xfrm>
            <a:off x="685800" y="2103120"/>
            <a:ext cx="2103120" cy="1417320"/>
          </a:xfrm>
          <a:prstGeom prst="roundRect">
            <a:avLst>
              <a:gd name="adj" fmla="val 7742"/>
            </a:avLst>
          </a:prstGeom>
          <a:solidFill>
            <a:srgbClr val="E6F7F8"/>
          </a:solidFill>
          <a:ln w="16510">
            <a:solidFill>
              <a:srgbClr val="0E7C86"/>
            </a:solidFill>
            <a:prstDash val="solid"/>
          </a:ln>
        </p:spPr>
      </p:sp>
      <p:sp>
        <p:nvSpPr>
          <p:cNvPr id="9" name="Text 7"/>
          <p:cNvSpPr/>
          <p:nvPr/>
        </p:nvSpPr>
        <p:spPr>
          <a:xfrm>
            <a:off x="868680" y="2258568"/>
            <a:ext cx="173736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Simple reflex</a:t>
            </a:r>
            <a:endParaRPr lang="en-US" sz="1600" dirty="0"/>
          </a:p>
        </p:txBody>
      </p:sp>
      <p:sp>
        <p:nvSpPr>
          <p:cNvPr id="10" name="Text 8"/>
          <p:cNvSpPr/>
          <p:nvPr/>
        </p:nvSpPr>
        <p:spPr>
          <a:xfrm>
            <a:off x="886968" y="2633472"/>
            <a:ext cx="170078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Current percept → action</a:t>
            </a:r>
            <a:endParaRPr lang="en-US" sz="1270" dirty="0"/>
          </a:p>
        </p:txBody>
      </p:sp>
      <p:sp>
        <p:nvSpPr>
          <p:cNvPr id="11" name="Shape 9"/>
          <p:cNvSpPr/>
          <p:nvPr/>
        </p:nvSpPr>
        <p:spPr>
          <a:xfrm>
            <a:off x="3657600" y="2103120"/>
            <a:ext cx="2103120" cy="1417320"/>
          </a:xfrm>
          <a:prstGeom prst="roundRect">
            <a:avLst>
              <a:gd name="adj" fmla="val 7742"/>
            </a:avLst>
          </a:prstGeom>
          <a:solidFill>
            <a:srgbClr val="EFF6FF"/>
          </a:solidFill>
          <a:ln w="16510">
            <a:solidFill>
              <a:srgbClr val="3273DC"/>
            </a:solidFill>
            <a:prstDash val="solid"/>
          </a:ln>
        </p:spPr>
      </p:sp>
      <p:sp>
        <p:nvSpPr>
          <p:cNvPr id="12" name="Text 10"/>
          <p:cNvSpPr/>
          <p:nvPr/>
        </p:nvSpPr>
        <p:spPr>
          <a:xfrm>
            <a:off x="3840480" y="2258568"/>
            <a:ext cx="173736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Model-based</a:t>
            </a:r>
            <a:endParaRPr lang="en-US" sz="1600" dirty="0"/>
          </a:p>
        </p:txBody>
      </p:sp>
      <p:sp>
        <p:nvSpPr>
          <p:cNvPr id="13" name="Text 11"/>
          <p:cNvSpPr/>
          <p:nvPr/>
        </p:nvSpPr>
        <p:spPr>
          <a:xfrm>
            <a:off x="3858768" y="2633472"/>
            <a:ext cx="170078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Current percept + internal state → action</a:t>
            </a:r>
            <a:endParaRPr lang="en-US" sz="1270" dirty="0"/>
          </a:p>
        </p:txBody>
      </p:sp>
      <p:sp>
        <p:nvSpPr>
          <p:cNvPr id="14" name="Shape 12"/>
          <p:cNvSpPr/>
          <p:nvPr/>
        </p:nvSpPr>
        <p:spPr>
          <a:xfrm>
            <a:off x="6629400" y="2103120"/>
            <a:ext cx="2103120" cy="1417320"/>
          </a:xfrm>
          <a:prstGeom prst="roundRect">
            <a:avLst>
              <a:gd name="adj" fmla="val 7742"/>
            </a:avLst>
          </a:prstGeom>
          <a:solidFill>
            <a:srgbClr val="F3EEFF"/>
          </a:solidFill>
          <a:ln w="16510">
            <a:solidFill>
              <a:srgbClr val="6B46C1"/>
            </a:solidFill>
            <a:prstDash val="solid"/>
          </a:ln>
        </p:spPr>
      </p:sp>
      <p:sp>
        <p:nvSpPr>
          <p:cNvPr id="15" name="Text 13"/>
          <p:cNvSpPr/>
          <p:nvPr/>
        </p:nvSpPr>
        <p:spPr>
          <a:xfrm>
            <a:off x="6812280" y="2258568"/>
            <a:ext cx="1737360" cy="256032"/>
          </a:xfrm>
          <a:prstGeom prst="rect">
            <a:avLst/>
          </a:prstGeom>
          <a:noFill/>
          <a:ln/>
        </p:spPr>
        <p:txBody>
          <a:bodyPr wrap="square" lIns="254" tIns="254" rIns="254" bIns="254" rtlCol="0" anchor="t">
            <a:normAutofit/>
          </a:bodyPr>
          <a:lstStyle/>
          <a:p>
            <a:pPr algn="ctr" indent="0" marL="0">
              <a:buNone/>
            </a:pPr>
            <a:r>
              <a:rPr lang="en-US" sz="1600" b="1" dirty="0">
                <a:solidFill>
                  <a:srgbClr val="6B46C1"/>
                </a:solidFill>
              </a:rPr>
              <a:t>Goal-based</a:t>
            </a:r>
            <a:endParaRPr lang="en-US" sz="1600" dirty="0"/>
          </a:p>
        </p:txBody>
      </p:sp>
      <p:sp>
        <p:nvSpPr>
          <p:cNvPr id="16" name="Text 14"/>
          <p:cNvSpPr/>
          <p:nvPr/>
        </p:nvSpPr>
        <p:spPr>
          <a:xfrm>
            <a:off x="6830568" y="2633472"/>
            <a:ext cx="170078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Choose actions that achieve desired states</a:t>
            </a:r>
            <a:endParaRPr lang="en-US" sz="1270" dirty="0"/>
          </a:p>
        </p:txBody>
      </p:sp>
      <p:sp>
        <p:nvSpPr>
          <p:cNvPr id="17" name="Shape 15"/>
          <p:cNvSpPr/>
          <p:nvPr/>
        </p:nvSpPr>
        <p:spPr>
          <a:xfrm>
            <a:off x="9601200" y="2103120"/>
            <a:ext cx="2103120" cy="1417320"/>
          </a:xfrm>
          <a:prstGeom prst="roundRect">
            <a:avLst>
              <a:gd name="adj" fmla="val 7742"/>
            </a:avLst>
          </a:prstGeom>
          <a:solidFill>
            <a:srgbClr val="FFF7E0"/>
          </a:solidFill>
          <a:ln w="16510">
            <a:solidFill>
              <a:srgbClr val="C99700"/>
            </a:solidFill>
            <a:prstDash val="solid"/>
          </a:ln>
        </p:spPr>
      </p:sp>
      <p:sp>
        <p:nvSpPr>
          <p:cNvPr id="18" name="Text 16"/>
          <p:cNvSpPr/>
          <p:nvPr/>
        </p:nvSpPr>
        <p:spPr>
          <a:xfrm>
            <a:off x="9784080" y="2258568"/>
            <a:ext cx="173736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Utility-based</a:t>
            </a:r>
            <a:endParaRPr lang="en-US" sz="1600" dirty="0"/>
          </a:p>
        </p:txBody>
      </p:sp>
      <p:sp>
        <p:nvSpPr>
          <p:cNvPr id="19" name="Text 17"/>
          <p:cNvSpPr/>
          <p:nvPr/>
        </p:nvSpPr>
        <p:spPr>
          <a:xfrm>
            <a:off x="9802368" y="2633472"/>
            <a:ext cx="170078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Choose actions that maximize expected utility</a:t>
            </a:r>
            <a:endParaRPr lang="en-US" sz="1270" dirty="0"/>
          </a:p>
        </p:txBody>
      </p:sp>
      <p:sp>
        <p:nvSpPr>
          <p:cNvPr id="20" name="Text 18"/>
          <p:cNvSpPr/>
          <p:nvPr/>
        </p:nvSpPr>
        <p:spPr>
          <a:xfrm>
            <a:off x="1325880" y="4846320"/>
            <a:ext cx="9555480" cy="384048"/>
          </a:xfrm>
          <a:prstGeom prst="rect">
            <a:avLst/>
          </a:prstGeom>
          <a:noFill/>
          <a:ln/>
        </p:spPr>
        <p:txBody>
          <a:bodyPr wrap="square" lIns="254" tIns="254" rIns="254" bIns="254" rtlCol="0" anchor="t">
            <a:normAutofit/>
          </a:bodyPr>
          <a:lstStyle/>
          <a:p>
            <a:pPr algn="ctr" indent="0" marL="0">
              <a:buNone/>
            </a:pPr>
            <a:r>
              <a:rPr lang="en-US" sz="1800" b="1" dirty="0">
                <a:solidFill>
                  <a:srgbClr val="002B49"/>
                </a:solidFill>
              </a:rPr>
              <a:t>More expressive designs are usually more flexible, but often more computationally expensive.</a:t>
            </a:r>
            <a:endParaRPr lang="en-US" sz="1800" dirty="0"/>
          </a:p>
        </p:txBody>
      </p:sp>
      <p:sp>
        <p:nvSpPr>
          <p:cNvPr id="21" name="Text 19"/>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2" name="Text 20"/>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22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Simple reflex agents</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Condition-action rules are useful, but brittle.</a:t>
            </a:r>
            <a:endParaRPr lang="en-US" sz="1150" dirty="0"/>
          </a:p>
        </p:txBody>
      </p:sp>
      <p:sp>
        <p:nvSpPr>
          <p:cNvPr id="5" name="Shape 3"/>
          <p:cNvSpPr/>
          <p:nvPr/>
        </p:nvSpPr>
        <p:spPr>
          <a:xfrm>
            <a:off x="868680" y="1325880"/>
            <a:ext cx="4206240" cy="1554480"/>
          </a:xfrm>
          <a:prstGeom prst="roundRect">
            <a:avLst>
              <a:gd name="adj" fmla="val 7059"/>
            </a:avLst>
          </a:prstGeom>
          <a:solidFill>
            <a:srgbClr val="E6F7F8"/>
          </a:solidFill>
          <a:ln w="16510">
            <a:solidFill>
              <a:srgbClr val="0E7C86"/>
            </a:solidFill>
            <a:prstDash val="solid"/>
          </a:ln>
        </p:spPr>
      </p:sp>
      <p:sp>
        <p:nvSpPr>
          <p:cNvPr id="6" name="Text 4"/>
          <p:cNvSpPr/>
          <p:nvPr/>
        </p:nvSpPr>
        <p:spPr>
          <a:xfrm>
            <a:off x="1051560" y="1481328"/>
            <a:ext cx="384048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Rule</a:t>
            </a:r>
            <a:endParaRPr lang="en-US" sz="1600" dirty="0"/>
          </a:p>
        </p:txBody>
      </p:sp>
      <p:sp>
        <p:nvSpPr>
          <p:cNvPr id="7" name="Text 5"/>
          <p:cNvSpPr/>
          <p:nvPr/>
        </p:nvSpPr>
        <p:spPr>
          <a:xfrm>
            <a:off x="1069848" y="1856232"/>
            <a:ext cx="3803904" cy="9144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if current square is dirty then Suck</a:t>
            </a:r>
            <a:endParaRPr lang="en-US" sz="1270" dirty="0"/>
          </a:p>
          <a:p>
            <a:pPr algn="ctr" indent="0" marL="0">
              <a:buNone/>
            </a:pPr>
            <a:r>
              <a:rPr lang="en-US" sz="1270" dirty="0">
                <a:solidFill>
                  <a:srgbClr val="111827"/>
                </a:solidFill>
              </a:rPr>
              <a:t>else move to another square</a:t>
            </a:r>
            <a:endParaRPr lang="en-US" sz="1270" dirty="0"/>
          </a:p>
        </p:txBody>
      </p:sp>
      <p:sp>
        <p:nvSpPr>
          <p:cNvPr id="8" name="Shape 6"/>
          <p:cNvSpPr/>
          <p:nvPr/>
        </p:nvSpPr>
        <p:spPr>
          <a:xfrm>
            <a:off x="6126480" y="1325880"/>
            <a:ext cx="2331720" cy="1554480"/>
          </a:xfrm>
          <a:prstGeom prst="roundRect">
            <a:avLst>
              <a:gd name="adj" fmla="val 7059"/>
            </a:avLst>
          </a:prstGeom>
          <a:solidFill>
            <a:srgbClr val="E9F7EF"/>
          </a:solidFill>
          <a:ln w="16510">
            <a:solidFill>
              <a:srgbClr val="2F855A"/>
            </a:solidFill>
            <a:prstDash val="solid"/>
          </a:ln>
        </p:spPr>
      </p:sp>
      <p:sp>
        <p:nvSpPr>
          <p:cNvPr id="9" name="Text 7"/>
          <p:cNvSpPr/>
          <p:nvPr/>
        </p:nvSpPr>
        <p:spPr>
          <a:xfrm>
            <a:off x="6309360" y="1481328"/>
            <a:ext cx="196596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Strength</a:t>
            </a:r>
            <a:endParaRPr lang="en-US" sz="1600" dirty="0"/>
          </a:p>
        </p:txBody>
      </p:sp>
      <p:sp>
        <p:nvSpPr>
          <p:cNvPr id="10" name="Text 8"/>
          <p:cNvSpPr/>
          <p:nvPr/>
        </p:nvSpPr>
        <p:spPr>
          <a:xfrm>
            <a:off x="6327648" y="1856232"/>
            <a:ext cx="1929384" cy="9144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Small, fast, inspectable, easy to implement.</a:t>
            </a:r>
            <a:endParaRPr lang="en-US" sz="1270" dirty="0"/>
          </a:p>
        </p:txBody>
      </p:sp>
      <p:sp>
        <p:nvSpPr>
          <p:cNvPr id="11" name="Shape 9"/>
          <p:cNvSpPr/>
          <p:nvPr/>
        </p:nvSpPr>
        <p:spPr>
          <a:xfrm>
            <a:off x="9006840" y="1325880"/>
            <a:ext cx="2331720" cy="1554480"/>
          </a:xfrm>
          <a:prstGeom prst="roundRect">
            <a:avLst>
              <a:gd name="adj" fmla="val 7059"/>
            </a:avLst>
          </a:prstGeom>
          <a:solidFill>
            <a:srgbClr val="FFF1F0"/>
          </a:solidFill>
          <a:ln w="16510">
            <a:solidFill>
              <a:srgbClr val="C53030"/>
            </a:solidFill>
            <a:prstDash val="solid"/>
          </a:ln>
        </p:spPr>
      </p:sp>
      <p:sp>
        <p:nvSpPr>
          <p:cNvPr id="12" name="Text 10"/>
          <p:cNvSpPr/>
          <p:nvPr/>
        </p:nvSpPr>
        <p:spPr>
          <a:xfrm>
            <a:off x="9189720" y="1481328"/>
            <a:ext cx="1965960" cy="256032"/>
          </a:xfrm>
          <a:prstGeom prst="rect">
            <a:avLst/>
          </a:prstGeom>
          <a:noFill/>
          <a:ln/>
        </p:spPr>
        <p:txBody>
          <a:bodyPr wrap="square" lIns="254" tIns="254" rIns="254" bIns="254" rtlCol="0" anchor="t">
            <a:normAutofit/>
          </a:bodyPr>
          <a:lstStyle/>
          <a:p>
            <a:pPr algn="ctr" indent="0" marL="0">
              <a:buNone/>
            </a:pPr>
            <a:r>
              <a:rPr lang="en-US" sz="1600" b="1" dirty="0">
                <a:solidFill>
                  <a:srgbClr val="C53030"/>
                </a:solidFill>
              </a:rPr>
              <a:t>Weakness</a:t>
            </a:r>
            <a:endParaRPr lang="en-US" sz="1600" dirty="0"/>
          </a:p>
        </p:txBody>
      </p:sp>
      <p:sp>
        <p:nvSpPr>
          <p:cNvPr id="13" name="Text 11"/>
          <p:cNvSpPr/>
          <p:nvPr/>
        </p:nvSpPr>
        <p:spPr>
          <a:xfrm>
            <a:off x="9208008" y="1856232"/>
            <a:ext cx="1929384" cy="9144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Fails under partial observability or changed performance measures.</a:t>
            </a:r>
            <a:endParaRPr lang="en-US" sz="1270" dirty="0"/>
          </a:p>
        </p:txBody>
      </p:sp>
      <p:sp>
        <p:nvSpPr>
          <p:cNvPr id="14" name="Text 12"/>
          <p:cNvSpPr/>
          <p:nvPr/>
        </p:nvSpPr>
        <p:spPr>
          <a:xfrm>
            <a:off x="960120" y="3977640"/>
            <a:ext cx="2194560" cy="256032"/>
          </a:xfrm>
          <a:prstGeom prst="rect">
            <a:avLst/>
          </a:prstGeom>
          <a:noFill/>
          <a:ln/>
        </p:spPr>
        <p:txBody>
          <a:bodyPr wrap="square" lIns="254" tIns="254" rIns="254" bIns="254" rtlCol="0" anchor="t">
            <a:normAutofit/>
          </a:bodyPr>
          <a:lstStyle/>
          <a:p>
            <a:pPr algn="l" indent="0" marL="0">
              <a:buNone/>
            </a:pPr>
            <a:r>
              <a:rPr lang="en-US" sz="1900" b="1" dirty="0">
                <a:solidFill>
                  <a:srgbClr val="002B49"/>
                </a:solidFill>
              </a:rPr>
              <a:t>Lab connection</a:t>
            </a:r>
            <a:endParaRPr lang="en-US" sz="1900" dirty="0"/>
          </a:p>
        </p:txBody>
      </p:sp>
      <p:sp>
        <p:nvSpPr>
          <p:cNvPr id="15" name="Shape 13"/>
          <p:cNvSpPr/>
          <p:nvPr/>
        </p:nvSpPr>
        <p:spPr>
          <a:xfrm>
            <a:off x="3337560" y="3794760"/>
            <a:ext cx="7635240" cy="822960"/>
          </a:xfrm>
          <a:prstGeom prst="roundRect">
            <a:avLst>
              <a:gd name="adj" fmla="val 13333"/>
            </a:avLst>
          </a:prstGeom>
          <a:solidFill>
            <a:srgbClr val="FFF7E0"/>
          </a:solidFill>
          <a:ln w="15240">
            <a:solidFill>
              <a:srgbClr val="C99700"/>
            </a:solidFill>
            <a:prstDash val="solid"/>
          </a:ln>
        </p:spPr>
      </p:sp>
      <p:sp>
        <p:nvSpPr>
          <p:cNvPr id="16" name="Text 14"/>
          <p:cNvSpPr/>
          <p:nvPr/>
        </p:nvSpPr>
        <p:spPr>
          <a:xfrm>
            <a:off x="3538728" y="3977640"/>
            <a:ext cx="7232904" cy="50292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Start with a simple reflex policy so the simulation loop is understandable before improving the agent.</a:t>
            </a:r>
            <a:endParaRPr lang="en-US" sz="1600" dirty="0"/>
          </a:p>
        </p:txBody>
      </p:sp>
      <p:sp>
        <p:nvSpPr>
          <p:cNvPr id="17" name="Text 15"/>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8" name="Text 16"/>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23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Model-based agents</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Internal state helps when sensors are incomplete.</a:t>
            </a:r>
            <a:endParaRPr lang="en-US" sz="1150" dirty="0"/>
          </a:p>
        </p:txBody>
      </p:sp>
      <p:sp>
        <p:nvSpPr>
          <p:cNvPr id="5" name="Shape 3"/>
          <p:cNvSpPr/>
          <p:nvPr/>
        </p:nvSpPr>
        <p:spPr>
          <a:xfrm>
            <a:off x="1691640" y="2834640"/>
            <a:ext cx="1325880" cy="0"/>
          </a:xfrm>
          <a:prstGeom prst="line">
            <a:avLst/>
          </a:prstGeom>
          <a:noFill/>
          <a:ln w="27940">
            <a:solidFill>
              <a:srgbClr val="0E7C86"/>
            </a:solidFill>
            <a:prstDash val="solid"/>
            <a:tailEnd type="triangle"/>
          </a:ln>
        </p:spPr>
      </p:sp>
      <p:sp>
        <p:nvSpPr>
          <p:cNvPr id="6" name="Shape 4"/>
          <p:cNvSpPr/>
          <p:nvPr/>
        </p:nvSpPr>
        <p:spPr>
          <a:xfrm>
            <a:off x="4709160" y="2834640"/>
            <a:ext cx="1325880" cy="0"/>
          </a:xfrm>
          <a:prstGeom prst="line">
            <a:avLst/>
          </a:prstGeom>
          <a:noFill/>
          <a:ln w="27940">
            <a:solidFill>
              <a:srgbClr val="3273DC"/>
            </a:solidFill>
            <a:prstDash val="solid"/>
            <a:tailEnd type="triangle"/>
          </a:ln>
        </p:spPr>
      </p:sp>
      <p:sp>
        <p:nvSpPr>
          <p:cNvPr id="7" name="Shape 5"/>
          <p:cNvSpPr/>
          <p:nvPr/>
        </p:nvSpPr>
        <p:spPr>
          <a:xfrm>
            <a:off x="7818120" y="2834640"/>
            <a:ext cx="1325880" cy="0"/>
          </a:xfrm>
          <a:prstGeom prst="line">
            <a:avLst/>
          </a:prstGeom>
          <a:noFill/>
          <a:ln w="27940">
            <a:solidFill>
              <a:srgbClr val="DD6B20"/>
            </a:solidFill>
            <a:prstDash val="solid"/>
            <a:tailEnd type="triangle"/>
          </a:ln>
        </p:spPr>
      </p:sp>
      <p:sp>
        <p:nvSpPr>
          <p:cNvPr id="8" name="Shape 6"/>
          <p:cNvSpPr/>
          <p:nvPr/>
        </p:nvSpPr>
        <p:spPr>
          <a:xfrm>
            <a:off x="685800" y="2148840"/>
            <a:ext cx="1828800" cy="1234440"/>
          </a:xfrm>
          <a:prstGeom prst="roundRect">
            <a:avLst>
              <a:gd name="adj" fmla="val 8889"/>
            </a:avLst>
          </a:prstGeom>
          <a:solidFill>
            <a:srgbClr val="E6F7F8"/>
          </a:solidFill>
          <a:ln w="16510">
            <a:solidFill>
              <a:srgbClr val="0E7C86"/>
            </a:solidFill>
            <a:prstDash val="solid"/>
          </a:ln>
        </p:spPr>
      </p:sp>
      <p:sp>
        <p:nvSpPr>
          <p:cNvPr id="9" name="Text 7"/>
          <p:cNvSpPr/>
          <p:nvPr/>
        </p:nvSpPr>
        <p:spPr>
          <a:xfrm>
            <a:off x="868680" y="2304288"/>
            <a:ext cx="146304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Percept</a:t>
            </a:r>
            <a:endParaRPr lang="en-US" sz="1600" dirty="0"/>
          </a:p>
        </p:txBody>
      </p:sp>
      <p:sp>
        <p:nvSpPr>
          <p:cNvPr id="10" name="Text 8"/>
          <p:cNvSpPr/>
          <p:nvPr/>
        </p:nvSpPr>
        <p:spPr>
          <a:xfrm>
            <a:off x="886968" y="2679192"/>
            <a:ext cx="1426464" cy="5943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What I see now</a:t>
            </a:r>
            <a:endParaRPr lang="en-US" sz="1270" dirty="0"/>
          </a:p>
        </p:txBody>
      </p:sp>
      <p:sp>
        <p:nvSpPr>
          <p:cNvPr id="11" name="Shape 9"/>
          <p:cNvSpPr/>
          <p:nvPr/>
        </p:nvSpPr>
        <p:spPr>
          <a:xfrm>
            <a:off x="3017520" y="2057400"/>
            <a:ext cx="2331720" cy="1417320"/>
          </a:xfrm>
          <a:prstGeom prst="roundRect">
            <a:avLst>
              <a:gd name="adj" fmla="val 7742"/>
            </a:avLst>
          </a:prstGeom>
          <a:solidFill>
            <a:srgbClr val="EFF6FF"/>
          </a:solidFill>
          <a:ln w="16510">
            <a:solidFill>
              <a:srgbClr val="3273DC"/>
            </a:solidFill>
            <a:prstDash val="solid"/>
          </a:ln>
        </p:spPr>
      </p:sp>
      <p:sp>
        <p:nvSpPr>
          <p:cNvPr id="12" name="Text 10"/>
          <p:cNvSpPr/>
          <p:nvPr/>
        </p:nvSpPr>
        <p:spPr>
          <a:xfrm>
            <a:off x="3200400" y="2212848"/>
            <a:ext cx="196596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Internal state</a:t>
            </a:r>
            <a:endParaRPr lang="en-US" sz="1600" dirty="0"/>
          </a:p>
        </p:txBody>
      </p:sp>
      <p:sp>
        <p:nvSpPr>
          <p:cNvPr id="13" name="Text 11"/>
          <p:cNvSpPr/>
          <p:nvPr/>
        </p:nvSpPr>
        <p:spPr>
          <a:xfrm>
            <a:off x="3218688" y="2587752"/>
            <a:ext cx="192938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Best guess of what the world is like now</a:t>
            </a:r>
            <a:endParaRPr lang="en-US" sz="1270" dirty="0"/>
          </a:p>
        </p:txBody>
      </p:sp>
      <p:sp>
        <p:nvSpPr>
          <p:cNvPr id="14" name="Shape 12"/>
          <p:cNvSpPr/>
          <p:nvPr/>
        </p:nvSpPr>
        <p:spPr>
          <a:xfrm>
            <a:off x="5897880" y="2057400"/>
            <a:ext cx="2331720" cy="1417320"/>
          </a:xfrm>
          <a:prstGeom prst="roundRect">
            <a:avLst>
              <a:gd name="adj" fmla="val 7742"/>
            </a:avLst>
          </a:prstGeom>
          <a:solidFill>
            <a:srgbClr val="F3EEFF"/>
          </a:solidFill>
          <a:ln w="16510">
            <a:solidFill>
              <a:srgbClr val="6B46C1"/>
            </a:solidFill>
            <a:prstDash val="solid"/>
          </a:ln>
        </p:spPr>
      </p:sp>
      <p:sp>
        <p:nvSpPr>
          <p:cNvPr id="15" name="Text 13"/>
          <p:cNvSpPr/>
          <p:nvPr/>
        </p:nvSpPr>
        <p:spPr>
          <a:xfrm>
            <a:off x="6080760" y="2212848"/>
            <a:ext cx="1965960" cy="256032"/>
          </a:xfrm>
          <a:prstGeom prst="rect">
            <a:avLst/>
          </a:prstGeom>
          <a:noFill/>
          <a:ln/>
        </p:spPr>
        <p:txBody>
          <a:bodyPr wrap="square" lIns="254" tIns="254" rIns="254" bIns="254" rtlCol="0" anchor="t">
            <a:normAutofit/>
          </a:bodyPr>
          <a:lstStyle/>
          <a:p>
            <a:pPr algn="ctr" indent="0" marL="0">
              <a:buNone/>
            </a:pPr>
            <a:r>
              <a:rPr lang="en-US" sz="1600" b="1" dirty="0">
                <a:solidFill>
                  <a:srgbClr val="6B46C1"/>
                </a:solidFill>
              </a:rPr>
              <a:t>Model</a:t>
            </a:r>
            <a:endParaRPr lang="en-US" sz="1600" dirty="0"/>
          </a:p>
        </p:txBody>
      </p:sp>
      <p:sp>
        <p:nvSpPr>
          <p:cNvPr id="16" name="Text 14"/>
          <p:cNvSpPr/>
          <p:nvPr/>
        </p:nvSpPr>
        <p:spPr>
          <a:xfrm>
            <a:off x="6099048" y="2587752"/>
            <a:ext cx="192938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How the world changes and how sensors reflect state</a:t>
            </a:r>
            <a:endParaRPr lang="en-US" sz="1270" dirty="0"/>
          </a:p>
        </p:txBody>
      </p:sp>
      <p:sp>
        <p:nvSpPr>
          <p:cNvPr id="17" name="Shape 15"/>
          <p:cNvSpPr/>
          <p:nvPr/>
        </p:nvSpPr>
        <p:spPr>
          <a:xfrm>
            <a:off x="9189720" y="2148840"/>
            <a:ext cx="1828800" cy="1234440"/>
          </a:xfrm>
          <a:prstGeom prst="roundRect">
            <a:avLst>
              <a:gd name="adj" fmla="val 8889"/>
            </a:avLst>
          </a:prstGeom>
          <a:solidFill>
            <a:srgbClr val="FFF3E8"/>
          </a:solidFill>
          <a:ln w="16510">
            <a:solidFill>
              <a:srgbClr val="DD6B20"/>
            </a:solidFill>
            <a:prstDash val="solid"/>
          </a:ln>
        </p:spPr>
      </p:sp>
      <p:sp>
        <p:nvSpPr>
          <p:cNvPr id="18" name="Text 16"/>
          <p:cNvSpPr/>
          <p:nvPr/>
        </p:nvSpPr>
        <p:spPr>
          <a:xfrm>
            <a:off x="9372600" y="2304288"/>
            <a:ext cx="1463040" cy="256032"/>
          </a:xfrm>
          <a:prstGeom prst="rect">
            <a:avLst/>
          </a:prstGeom>
          <a:noFill/>
          <a:ln/>
        </p:spPr>
        <p:txBody>
          <a:bodyPr wrap="square" lIns="254" tIns="254" rIns="254" bIns="254" rtlCol="0" anchor="t">
            <a:normAutofit/>
          </a:bodyPr>
          <a:lstStyle/>
          <a:p>
            <a:pPr algn="ctr" indent="0" marL="0">
              <a:buNone/>
            </a:pPr>
            <a:r>
              <a:rPr lang="en-US" sz="1600" b="1" dirty="0">
                <a:solidFill>
                  <a:srgbClr val="DD6B20"/>
                </a:solidFill>
              </a:rPr>
              <a:t>Action</a:t>
            </a:r>
            <a:endParaRPr lang="en-US" sz="1600" dirty="0"/>
          </a:p>
        </p:txBody>
      </p:sp>
      <p:sp>
        <p:nvSpPr>
          <p:cNvPr id="19" name="Text 17"/>
          <p:cNvSpPr/>
          <p:nvPr/>
        </p:nvSpPr>
        <p:spPr>
          <a:xfrm>
            <a:off x="9390888" y="2679192"/>
            <a:ext cx="1426464" cy="5943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Decision using state estimate</a:t>
            </a:r>
            <a:endParaRPr lang="en-US" sz="1270" dirty="0"/>
          </a:p>
        </p:txBody>
      </p:sp>
      <p:sp>
        <p:nvSpPr>
          <p:cNvPr id="20" name="Shape 18"/>
          <p:cNvSpPr/>
          <p:nvPr/>
        </p:nvSpPr>
        <p:spPr>
          <a:xfrm>
            <a:off x="1463040" y="4846320"/>
            <a:ext cx="9235440" cy="640080"/>
          </a:xfrm>
          <a:prstGeom prst="roundRect">
            <a:avLst>
              <a:gd name="adj" fmla="val 17143"/>
            </a:avLst>
          </a:prstGeom>
          <a:solidFill>
            <a:srgbClr val="FFF7E0"/>
          </a:solidFill>
          <a:ln w="15240">
            <a:solidFill>
              <a:srgbClr val="C99700"/>
            </a:solidFill>
            <a:prstDash val="solid"/>
          </a:ln>
        </p:spPr>
      </p:sp>
      <p:sp>
        <p:nvSpPr>
          <p:cNvPr id="21" name="Text 19"/>
          <p:cNvSpPr/>
          <p:nvPr/>
        </p:nvSpPr>
        <p:spPr>
          <a:xfrm>
            <a:off x="1664208" y="5029200"/>
            <a:ext cx="8833104" cy="32004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Transition model + sensor model = a way to update beliefs about state.</a:t>
            </a:r>
            <a:endParaRPr lang="en-US" sz="1600" dirty="0"/>
          </a:p>
        </p:txBody>
      </p:sp>
      <p:sp>
        <p:nvSpPr>
          <p:cNvPr id="22" name="Text 20"/>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3" name="Text 21"/>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Goal-based and utility-based agents</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Planning and tradeoffs enter once “what do I want?” is explicit.</a:t>
            </a:r>
            <a:endParaRPr lang="en-US" sz="1150" dirty="0"/>
          </a:p>
        </p:txBody>
      </p:sp>
      <p:sp>
        <p:nvSpPr>
          <p:cNvPr id="5" name="Shape 3"/>
          <p:cNvSpPr/>
          <p:nvPr/>
        </p:nvSpPr>
        <p:spPr>
          <a:xfrm>
            <a:off x="868680" y="1463040"/>
            <a:ext cx="4754880" cy="1920240"/>
          </a:xfrm>
          <a:prstGeom prst="roundRect">
            <a:avLst>
              <a:gd name="adj" fmla="val 5714"/>
            </a:avLst>
          </a:prstGeom>
          <a:solidFill>
            <a:srgbClr val="F3EEFF"/>
          </a:solidFill>
          <a:ln w="16510">
            <a:solidFill>
              <a:srgbClr val="6B46C1"/>
            </a:solidFill>
            <a:prstDash val="solid"/>
          </a:ln>
        </p:spPr>
      </p:sp>
      <p:sp>
        <p:nvSpPr>
          <p:cNvPr id="6" name="Text 4"/>
          <p:cNvSpPr/>
          <p:nvPr/>
        </p:nvSpPr>
        <p:spPr>
          <a:xfrm>
            <a:off x="1051560" y="1618488"/>
            <a:ext cx="4389120" cy="256032"/>
          </a:xfrm>
          <a:prstGeom prst="rect">
            <a:avLst/>
          </a:prstGeom>
          <a:noFill/>
          <a:ln/>
        </p:spPr>
        <p:txBody>
          <a:bodyPr wrap="square" lIns="254" tIns="254" rIns="254" bIns="254" rtlCol="0" anchor="t">
            <a:normAutofit/>
          </a:bodyPr>
          <a:lstStyle/>
          <a:p>
            <a:pPr algn="ctr" indent="0" marL="0">
              <a:buNone/>
            </a:pPr>
            <a:r>
              <a:rPr lang="en-US" sz="1600" b="1" dirty="0">
                <a:solidFill>
                  <a:srgbClr val="6B46C1"/>
                </a:solidFill>
              </a:rPr>
              <a:t>Goal-based</a:t>
            </a:r>
            <a:endParaRPr lang="en-US" sz="1600" dirty="0"/>
          </a:p>
        </p:txBody>
      </p:sp>
      <p:sp>
        <p:nvSpPr>
          <p:cNvPr id="7" name="Text 5"/>
          <p:cNvSpPr/>
          <p:nvPr/>
        </p:nvSpPr>
        <p:spPr>
          <a:xfrm>
            <a:off x="1069848" y="1993392"/>
            <a:ext cx="4352544" cy="12801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Select actions that reach a desirable state. Example: get to the goal tile.</a:t>
            </a:r>
            <a:endParaRPr lang="en-US" sz="1270" dirty="0"/>
          </a:p>
        </p:txBody>
      </p:sp>
      <p:sp>
        <p:nvSpPr>
          <p:cNvPr id="8" name="Shape 6"/>
          <p:cNvSpPr/>
          <p:nvPr/>
        </p:nvSpPr>
        <p:spPr>
          <a:xfrm>
            <a:off x="6537960" y="1463040"/>
            <a:ext cx="4754880" cy="1920240"/>
          </a:xfrm>
          <a:prstGeom prst="roundRect">
            <a:avLst>
              <a:gd name="adj" fmla="val 5714"/>
            </a:avLst>
          </a:prstGeom>
          <a:solidFill>
            <a:srgbClr val="FFF7E0"/>
          </a:solidFill>
          <a:ln w="16510">
            <a:solidFill>
              <a:srgbClr val="C99700"/>
            </a:solidFill>
            <a:prstDash val="solid"/>
          </a:ln>
        </p:spPr>
      </p:sp>
      <p:sp>
        <p:nvSpPr>
          <p:cNvPr id="9" name="Text 7"/>
          <p:cNvSpPr/>
          <p:nvPr/>
        </p:nvSpPr>
        <p:spPr>
          <a:xfrm>
            <a:off x="6720840" y="1618488"/>
            <a:ext cx="438912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Utility-based</a:t>
            </a:r>
            <a:endParaRPr lang="en-US" sz="1600" dirty="0"/>
          </a:p>
        </p:txBody>
      </p:sp>
      <p:sp>
        <p:nvSpPr>
          <p:cNvPr id="10" name="Text 8"/>
          <p:cNvSpPr/>
          <p:nvPr/>
        </p:nvSpPr>
        <p:spPr>
          <a:xfrm>
            <a:off x="6739128" y="1993392"/>
            <a:ext cx="4352544" cy="12801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Compare outcomes by degree of desirability. Example: reach goal while minimizing cost and risk.</a:t>
            </a:r>
            <a:endParaRPr lang="en-US" sz="1270" dirty="0"/>
          </a:p>
        </p:txBody>
      </p:sp>
      <p:sp>
        <p:nvSpPr>
          <p:cNvPr id="11" name="Text 9"/>
          <p:cNvSpPr/>
          <p:nvPr/>
        </p:nvSpPr>
        <p:spPr>
          <a:xfrm>
            <a:off x="1143000" y="4160520"/>
            <a:ext cx="1463040" cy="228600"/>
          </a:xfrm>
          <a:prstGeom prst="rect">
            <a:avLst/>
          </a:prstGeom>
          <a:noFill/>
          <a:ln/>
        </p:spPr>
        <p:txBody>
          <a:bodyPr wrap="square" lIns="254" tIns="254" rIns="254" bIns="254" rtlCol="0" anchor="t">
            <a:normAutofit/>
          </a:bodyPr>
          <a:lstStyle/>
          <a:p>
            <a:pPr algn="l" indent="0" marL="0">
              <a:buNone/>
            </a:pPr>
            <a:r>
              <a:rPr lang="en-US" sz="1900" b="1" dirty="0">
                <a:solidFill>
                  <a:srgbClr val="002B49"/>
                </a:solidFill>
              </a:rPr>
              <a:t>Question</a:t>
            </a:r>
            <a:endParaRPr lang="en-US" sz="1900" dirty="0"/>
          </a:p>
        </p:txBody>
      </p:sp>
      <p:sp>
        <p:nvSpPr>
          <p:cNvPr id="12" name="Shape 10"/>
          <p:cNvSpPr/>
          <p:nvPr/>
        </p:nvSpPr>
        <p:spPr>
          <a:xfrm>
            <a:off x="2834640" y="3977640"/>
            <a:ext cx="8138160" cy="777240"/>
          </a:xfrm>
          <a:prstGeom prst="roundRect">
            <a:avLst>
              <a:gd name="adj" fmla="val 14118"/>
            </a:avLst>
          </a:prstGeom>
          <a:solidFill>
            <a:srgbClr val="EFF6FF"/>
          </a:solidFill>
          <a:ln w="15240">
            <a:solidFill>
              <a:srgbClr val="3273DC"/>
            </a:solidFill>
            <a:prstDash val="solid"/>
          </a:ln>
        </p:spPr>
      </p:sp>
      <p:sp>
        <p:nvSpPr>
          <p:cNvPr id="13" name="Text 11"/>
          <p:cNvSpPr/>
          <p:nvPr/>
        </p:nvSpPr>
        <p:spPr>
          <a:xfrm>
            <a:off x="3035808" y="4160520"/>
            <a:ext cx="7735824" cy="45720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In a grid-world, is “reach goal” enough, or do we also care about path length, risk, and energy?</a:t>
            </a:r>
            <a:endParaRPr lang="en-US" sz="1600" dirty="0"/>
          </a:p>
        </p:txBody>
      </p:sp>
      <p:sp>
        <p:nvSpPr>
          <p:cNvPr id="14" name="Text 12"/>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5" name="Text 13"/>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Learning agents</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Learning modifies components to improve performance from feedback.</a:t>
            </a:r>
            <a:endParaRPr lang="en-US" sz="1150" dirty="0"/>
          </a:p>
        </p:txBody>
      </p:sp>
      <p:sp>
        <p:nvSpPr>
          <p:cNvPr id="5" name="Shape 3"/>
          <p:cNvSpPr/>
          <p:nvPr/>
        </p:nvSpPr>
        <p:spPr>
          <a:xfrm>
            <a:off x="2057400" y="2240280"/>
            <a:ext cx="1600200" cy="0"/>
          </a:xfrm>
          <a:prstGeom prst="line">
            <a:avLst/>
          </a:prstGeom>
          <a:noFill/>
          <a:ln w="27940">
            <a:solidFill>
              <a:srgbClr val="3273DC"/>
            </a:solidFill>
            <a:prstDash val="solid"/>
            <a:tailEnd type="triangle"/>
          </a:ln>
        </p:spPr>
      </p:sp>
      <p:sp>
        <p:nvSpPr>
          <p:cNvPr id="6" name="Shape 4"/>
          <p:cNvSpPr/>
          <p:nvPr/>
        </p:nvSpPr>
        <p:spPr>
          <a:xfrm>
            <a:off x="6400800" y="2240280"/>
            <a:ext cx="1600200" cy="0"/>
          </a:xfrm>
          <a:prstGeom prst="line">
            <a:avLst/>
          </a:prstGeom>
          <a:noFill/>
          <a:ln w="27940">
            <a:solidFill>
              <a:srgbClr val="2F855A"/>
            </a:solidFill>
            <a:prstDash val="solid"/>
            <a:tailEnd type="triangle"/>
          </a:ln>
        </p:spPr>
      </p:sp>
      <p:sp>
        <p:nvSpPr>
          <p:cNvPr id="7" name="Shape 5"/>
          <p:cNvSpPr/>
          <p:nvPr/>
        </p:nvSpPr>
        <p:spPr>
          <a:xfrm>
            <a:off x="5029200" y="3840480"/>
            <a:ext cx="0" cy="-868680"/>
          </a:xfrm>
          <a:prstGeom prst="line">
            <a:avLst/>
          </a:prstGeom>
          <a:noFill/>
          <a:ln w="27940">
            <a:solidFill>
              <a:srgbClr val="C99700"/>
            </a:solidFill>
            <a:prstDash val="solid"/>
            <a:tailEnd type="triangle"/>
          </a:ln>
        </p:spPr>
      </p:sp>
      <p:sp>
        <p:nvSpPr>
          <p:cNvPr id="8" name="Shape 6"/>
          <p:cNvSpPr/>
          <p:nvPr/>
        </p:nvSpPr>
        <p:spPr>
          <a:xfrm>
            <a:off x="822960" y="1691640"/>
            <a:ext cx="2468880" cy="1097280"/>
          </a:xfrm>
          <a:prstGeom prst="roundRect">
            <a:avLst>
              <a:gd name="adj" fmla="val 10000"/>
            </a:avLst>
          </a:prstGeom>
          <a:solidFill>
            <a:srgbClr val="EFF6FF"/>
          </a:solidFill>
          <a:ln w="16510">
            <a:solidFill>
              <a:srgbClr val="3273DC"/>
            </a:solidFill>
            <a:prstDash val="solid"/>
          </a:ln>
        </p:spPr>
      </p:sp>
      <p:sp>
        <p:nvSpPr>
          <p:cNvPr id="9" name="Text 7"/>
          <p:cNvSpPr/>
          <p:nvPr/>
        </p:nvSpPr>
        <p:spPr>
          <a:xfrm>
            <a:off x="1005840" y="1847088"/>
            <a:ext cx="210312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Performance element</a:t>
            </a:r>
            <a:endParaRPr lang="en-US" sz="1600" dirty="0"/>
          </a:p>
        </p:txBody>
      </p:sp>
      <p:sp>
        <p:nvSpPr>
          <p:cNvPr id="10" name="Text 8"/>
          <p:cNvSpPr/>
          <p:nvPr/>
        </p:nvSpPr>
        <p:spPr>
          <a:xfrm>
            <a:off x="1024128" y="2221992"/>
            <a:ext cx="206654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Chooses actions</a:t>
            </a:r>
            <a:endParaRPr lang="en-US" sz="1270" dirty="0"/>
          </a:p>
        </p:txBody>
      </p:sp>
      <p:sp>
        <p:nvSpPr>
          <p:cNvPr id="11" name="Shape 9"/>
          <p:cNvSpPr/>
          <p:nvPr/>
        </p:nvSpPr>
        <p:spPr>
          <a:xfrm>
            <a:off x="3657600" y="1691640"/>
            <a:ext cx="2651760" cy="1097280"/>
          </a:xfrm>
          <a:prstGeom prst="roundRect">
            <a:avLst>
              <a:gd name="adj" fmla="val 10000"/>
            </a:avLst>
          </a:prstGeom>
          <a:solidFill>
            <a:srgbClr val="E9F7EF"/>
          </a:solidFill>
          <a:ln w="16510">
            <a:solidFill>
              <a:srgbClr val="2F855A"/>
            </a:solidFill>
            <a:prstDash val="solid"/>
          </a:ln>
        </p:spPr>
      </p:sp>
      <p:sp>
        <p:nvSpPr>
          <p:cNvPr id="12" name="Text 10"/>
          <p:cNvSpPr/>
          <p:nvPr/>
        </p:nvSpPr>
        <p:spPr>
          <a:xfrm>
            <a:off x="3840480" y="1847088"/>
            <a:ext cx="228600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Learning element</a:t>
            </a:r>
            <a:endParaRPr lang="en-US" sz="1600" dirty="0"/>
          </a:p>
        </p:txBody>
      </p:sp>
      <p:sp>
        <p:nvSpPr>
          <p:cNvPr id="13" name="Text 11"/>
          <p:cNvSpPr/>
          <p:nvPr/>
        </p:nvSpPr>
        <p:spPr>
          <a:xfrm>
            <a:off x="3858768" y="2221992"/>
            <a:ext cx="224942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Improves the performance element</a:t>
            </a:r>
            <a:endParaRPr lang="en-US" sz="1270" dirty="0"/>
          </a:p>
        </p:txBody>
      </p:sp>
      <p:sp>
        <p:nvSpPr>
          <p:cNvPr id="14" name="Shape 12"/>
          <p:cNvSpPr/>
          <p:nvPr/>
        </p:nvSpPr>
        <p:spPr>
          <a:xfrm>
            <a:off x="8001000" y="1691640"/>
            <a:ext cx="2651760" cy="1097280"/>
          </a:xfrm>
          <a:prstGeom prst="roundRect">
            <a:avLst>
              <a:gd name="adj" fmla="val 10000"/>
            </a:avLst>
          </a:prstGeom>
          <a:solidFill>
            <a:srgbClr val="FFF7E0"/>
          </a:solidFill>
          <a:ln w="16510">
            <a:solidFill>
              <a:srgbClr val="C99700"/>
            </a:solidFill>
            <a:prstDash val="solid"/>
          </a:ln>
        </p:spPr>
      </p:sp>
      <p:sp>
        <p:nvSpPr>
          <p:cNvPr id="15" name="Text 13"/>
          <p:cNvSpPr/>
          <p:nvPr/>
        </p:nvSpPr>
        <p:spPr>
          <a:xfrm>
            <a:off x="8183880" y="1847088"/>
            <a:ext cx="228600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Critic</a:t>
            </a:r>
            <a:endParaRPr lang="en-US" sz="1600" dirty="0"/>
          </a:p>
        </p:txBody>
      </p:sp>
      <p:sp>
        <p:nvSpPr>
          <p:cNvPr id="16" name="Text 14"/>
          <p:cNvSpPr/>
          <p:nvPr/>
        </p:nvSpPr>
        <p:spPr>
          <a:xfrm>
            <a:off x="8202168" y="2221992"/>
            <a:ext cx="2249424" cy="4572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Provides feedback against a performance standard</a:t>
            </a:r>
            <a:endParaRPr lang="en-US" sz="1270" dirty="0"/>
          </a:p>
        </p:txBody>
      </p:sp>
      <p:sp>
        <p:nvSpPr>
          <p:cNvPr id="17" name="Shape 15"/>
          <p:cNvSpPr/>
          <p:nvPr/>
        </p:nvSpPr>
        <p:spPr>
          <a:xfrm>
            <a:off x="3566160" y="3840480"/>
            <a:ext cx="2971800" cy="1005840"/>
          </a:xfrm>
          <a:prstGeom prst="roundRect">
            <a:avLst>
              <a:gd name="adj" fmla="val 10909"/>
            </a:avLst>
          </a:prstGeom>
          <a:solidFill>
            <a:srgbClr val="F3EEFF"/>
          </a:solidFill>
          <a:ln w="16510">
            <a:solidFill>
              <a:srgbClr val="6B46C1"/>
            </a:solidFill>
            <a:prstDash val="solid"/>
          </a:ln>
        </p:spPr>
      </p:sp>
      <p:sp>
        <p:nvSpPr>
          <p:cNvPr id="18" name="Text 16"/>
          <p:cNvSpPr/>
          <p:nvPr/>
        </p:nvSpPr>
        <p:spPr>
          <a:xfrm>
            <a:off x="3749040" y="3995928"/>
            <a:ext cx="2606040" cy="256032"/>
          </a:xfrm>
          <a:prstGeom prst="rect">
            <a:avLst/>
          </a:prstGeom>
          <a:noFill/>
          <a:ln/>
        </p:spPr>
        <p:txBody>
          <a:bodyPr wrap="square" lIns="254" tIns="254" rIns="254" bIns="254" rtlCol="0" anchor="t">
            <a:normAutofit/>
          </a:bodyPr>
          <a:lstStyle/>
          <a:p>
            <a:pPr algn="ctr" indent="0" marL="0">
              <a:buNone/>
            </a:pPr>
            <a:r>
              <a:rPr lang="en-US" sz="1600" b="1" dirty="0">
                <a:solidFill>
                  <a:srgbClr val="6B46C1"/>
                </a:solidFill>
              </a:rPr>
              <a:t>Problem generator</a:t>
            </a:r>
            <a:endParaRPr lang="en-US" sz="1600" dirty="0"/>
          </a:p>
        </p:txBody>
      </p:sp>
      <p:sp>
        <p:nvSpPr>
          <p:cNvPr id="19" name="Text 17"/>
          <p:cNvSpPr/>
          <p:nvPr/>
        </p:nvSpPr>
        <p:spPr>
          <a:xfrm>
            <a:off x="3767328" y="4370832"/>
            <a:ext cx="2569464" cy="36576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Suggests exploratory actions</a:t>
            </a:r>
            <a:endParaRPr lang="en-US" sz="1270" dirty="0"/>
          </a:p>
        </p:txBody>
      </p:sp>
      <p:sp>
        <p:nvSpPr>
          <p:cNvPr id="20" name="Text 18"/>
          <p:cNvSpPr/>
          <p:nvPr/>
        </p:nvSpPr>
        <p:spPr>
          <a:xfrm>
            <a:off x="1234440" y="5486400"/>
            <a:ext cx="9738360" cy="320040"/>
          </a:xfrm>
          <a:prstGeom prst="rect">
            <a:avLst/>
          </a:prstGeom>
          <a:noFill/>
          <a:ln/>
        </p:spPr>
        <p:txBody>
          <a:bodyPr wrap="square" lIns="254" tIns="254" rIns="254" bIns="254" rtlCol="0" anchor="t">
            <a:normAutofit/>
          </a:bodyPr>
          <a:lstStyle/>
          <a:p>
            <a:pPr algn="ctr" indent="0" marL="0">
              <a:buNone/>
            </a:pPr>
            <a:r>
              <a:rPr lang="en-US" sz="1600" b="1" dirty="0">
                <a:solidFill>
                  <a:srgbClr val="002B49"/>
                </a:solidFill>
              </a:rPr>
              <a:t>Today’s lab is not full learning yet; it sets up the simulation framework needed for learning later.</a:t>
            </a:r>
            <a:endParaRPr lang="en-US" sz="1600" dirty="0"/>
          </a:p>
        </p:txBody>
      </p:sp>
      <p:sp>
        <p:nvSpPr>
          <p:cNvPr id="21" name="Text 19"/>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2" name="Text 20"/>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Python/Jupyter review</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We need just enough Python to implement the lab cleanly.</a:t>
            </a:r>
            <a:endParaRPr lang="en-US" sz="1150" dirty="0"/>
          </a:p>
        </p:txBody>
      </p:sp>
      <p:sp>
        <p:nvSpPr>
          <p:cNvPr id="5" name="Shape 3"/>
          <p:cNvSpPr/>
          <p:nvPr/>
        </p:nvSpPr>
        <p:spPr>
          <a:xfrm>
            <a:off x="777240" y="1325880"/>
            <a:ext cx="3291840" cy="1325880"/>
          </a:xfrm>
          <a:prstGeom prst="roundRect">
            <a:avLst>
              <a:gd name="adj" fmla="val 8276"/>
            </a:avLst>
          </a:prstGeom>
          <a:solidFill>
            <a:srgbClr val="EFF6FF"/>
          </a:solidFill>
          <a:ln w="16510">
            <a:solidFill>
              <a:srgbClr val="3273DC"/>
            </a:solidFill>
            <a:prstDash val="solid"/>
          </a:ln>
        </p:spPr>
      </p:sp>
      <p:sp>
        <p:nvSpPr>
          <p:cNvPr id="6" name="Text 4"/>
          <p:cNvSpPr/>
          <p:nvPr/>
        </p:nvSpPr>
        <p:spPr>
          <a:xfrm>
            <a:off x="960120" y="1481328"/>
            <a:ext cx="292608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Functions</a:t>
            </a:r>
            <a:endParaRPr lang="en-US" sz="1600" dirty="0"/>
          </a:p>
        </p:txBody>
      </p:sp>
      <p:sp>
        <p:nvSpPr>
          <p:cNvPr id="7" name="Text 5"/>
          <p:cNvSpPr/>
          <p:nvPr/>
        </p:nvSpPr>
        <p:spPr>
          <a:xfrm>
            <a:off x="978408" y="1856232"/>
            <a:ext cx="2889504" cy="6858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Encapsulate environment logic: reset(), perceive(), step().</a:t>
            </a:r>
            <a:endParaRPr lang="en-US" sz="1270" dirty="0"/>
          </a:p>
        </p:txBody>
      </p:sp>
      <p:sp>
        <p:nvSpPr>
          <p:cNvPr id="8" name="Shape 6"/>
          <p:cNvSpPr/>
          <p:nvPr/>
        </p:nvSpPr>
        <p:spPr>
          <a:xfrm>
            <a:off x="4434840" y="1325880"/>
            <a:ext cx="3291840" cy="1325880"/>
          </a:xfrm>
          <a:prstGeom prst="roundRect">
            <a:avLst>
              <a:gd name="adj" fmla="val 8276"/>
            </a:avLst>
          </a:prstGeom>
          <a:solidFill>
            <a:srgbClr val="E6F7F8"/>
          </a:solidFill>
          <a:ln w="16510">
            <a:solidFill>
              <a:srgbClr val="0E7C86"/>
            </a:solidFill>
            <a:prstDash val="solid"/>
          </a:ln>
        </p:spPr>
      </p:sp>
      <p:sp>
        <p:nvSpPr>
          <p:cNvPr id="9" name="Text 7"/>
          <p:cNvSpPr/>
          <p:nvPr/>
        </p:nvSpPr>
        <p:spPr>
          <a:xfrm>
            <a:off x="4617720" y="1481328"/>
            <a:ext cx="292608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Dictionaries</a:t>
            </a:r>
            <a:endParaRPr lang="en-US" sz="1600" dirty="0"/>
          </a:p>
        </p:txBody>
      </p:sp>
      <p:sp>
        <p:nvSpPr>
          <p:cNvPr id="10" name="Text 8"/>
          <p:cNvSpPr/>
          <p:nvPr/>
        </p:nvSpPr>
        <p:spPr>
          <a:xfrm>
            <a:off x="4636008" y="1856232"/>
            <a:ext cx="2889504" cy="6858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Represent state, rewards, and configuration.</a:t>
            </a:r>
            <a:endParaRPr lang="en-US" sz="1270" dirty="0"/>
          </a:p>
        </p:txBody>
      </p:sp>
      <p:sp>
        <p:nvSpPr>
          <p:cNvPr id="11" name="Shape 9"/>
          <p:cNvSpPr/>
          <p:nvPr/>
        </p:nvSpPr>
        <p:spPr>
          <a:xfrm>
            <a:off x="8092440" y="1325880"/>
            <a:ext cx="3291840" cy="1325880"/>
          </a:xfrm>
          <a:prstGeom prst="roundRect">
            <a:avLst>
              <a:gd name="adj" fmla="val 8276"/>
            </a:avLst>
          </a:prstGeom>
          <a:solidFill>
            <a:srgbClr val="F3EEFF"/>
          </a:solidFill>
          <a:ln w="16510">
            <a:solidFill>
              <a:srgbClr val="6B46C1"/>
            </a:solidFill>
            <a:prstDash val="solid"/>
          </a:ln>
        </p:spPr>
      </p:sp>
      <p:sp>
        <p:nvSpPr>
          <p:cNvPr id="12" name="Text 10"/>
          <p:cNvSpPr/>
          <p:nvPr/>
        </p:nvSpPr>
        <p:spPr>
          <a:xfrm>
            <a:off x="8275320" y="1481328"/>
            <a:ext cx="2926080" cy="256032"/>
          </a:xfrm>
          <a:prstGeom prst="rect">
            <a:avLst/>
          </a:prstGeom>
          <a:noFill/>
          <a:ln/>
        </p:spPr>
        <p:txBody>
          <a:bodyPr wrap="square" lIns="254" tIns="254" rIns="254" bIns="254" rtlCol="0" anchor="t">
            <a:normAutofit/>
          </a:bodyPr>
          <a:lstStyle/>
          <a:p>
            <a:pPr algn="ctr" indent="0" marL="0">
              <a:buNone/>
            </a:pPr>
            <a:r>
              <a:rPr lang="en-US" sz="1600" b="1" dirty="0">
                <a:solidFill>
                  <a:srgbClr val="6B46C1"/>
                </a:solidFill>
              </a:rPr>
              <a:t>Classes</a:t>
            </a:r>
            <a:endParaRPr lang="en-US" sz="1600" dirty="0"/>
          </a:p>
        </p:txBody>
      </p:sp>
      <p:sp>
        <p:nvSpPr>
          <p:cNvPr id="13" name="Text 11"/>
          <p:cNvSpPr/>
          <p:nvPr/>
        </p:nvSpPr>
        <p:spPr>
          <a:xfrm>
            <a:off x="8293608" y="1856232"/>
            <a:ext cx="2889504" cy="6858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Optional structure for Environment and Agent objects.</a:t>
            </a:r>
            <a:endParaRPr lang="en-US" sz="1270" dirty="0"/>
          </a:p>
        </p:txBody>
      </p:sp>
      <p:sp>
        <p:nvSpPr>
          <p:cNvPr id="14" name="Shape 12"/>
          <p:cNvSpPr/>
          <p:nvPr/>
        </p:nvSpPr>
        <p:spPr>
          <a:xfrm>
            <a:off x="777240" y="3337560"/>
            <a:ext cx="3291840" cy="1325880"/>
          </a:xfrm>
          <a:prstGeom prst="roundRect">
            <a:avLst>
              <a:gd name="adj" fmla="val 8276"/>
            </a:avLst>
          </a:prstGeom>
          <a:solidFill>
            <a:srgbClr val="E9F7EF"/>
          </a:solidFill>
          <a:ln w="16510">
            <a:solidFill>
              <a:srgbClr val="2F855A"/>
            </a:solidFill>
            <a:prstDash val="solid"/>
          </a:ln>
        </p:spPr>
      </p:sp>
      <p:sp>
        <p:nvSpPr>
          <p:cNvPr id="15" name="Text 13"/>
          <p:cNvSpPr/>
          <p:nvPr/>
        </p:nvSpPr>
        <p:spPr>
          <a:xfrm>
            <a:off x="960120" y="3493008"/>
            <a:ext cx="292608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Loops</a:t>
            </a:r>
            <a:endParaRPr lang="en-US" sz="1600" dirty="0"/>
          </a:p>
        </p:txBody>
      </p:sp>
      <p:sp>
        <p:nvSpPr>
          <p:cNvPr id="16" name="Text 14"/>
          <p:cNvSpPr/>
          <p:nvPr/>
        </p:nvSpPr>
        <p:spPr>
          <a:xfrm>
            <a:off x="978408" y="3867912"/>
            <a:ext cx="2889504" cy="6858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Run repeated percept → action → update cycles.</a:t>
            </a:r>
            <a:endParaRPr lang="en-US" sz="1270" dirty="0"/>
          </a:p>
        </p:txBody>
      </p:sp>
      <p:sp>
        <p:nvSpPr>
          <p:cNvPr id="17" name="Shape 15"/>
          <p:cNvSpPr/>
          <p:nvPr/>
        </p:nvSpPr>
        <p:spPr>
          <a:xfrm>
            <a:off x="4434840" y="3337560"/>
            <a:ext cx="3291840" cy="1325880"/>
          </a:xfrm>
          <a:prstGeom prst="roundRect">
            <a:avLst>
              <a:gd name="adj" fmla="val 8276"/>
            </a:avLst>
          </a:prstGeom>
          <a:solidFill>
            <a:srgbClr val="FFF7E0"/>
          </a:solidFill>
          <a:ln w="16510">
            <a:solidFill>
              <a:srgbClr val="C99700"/>
            </a:solidFill>
            <a:prstDash val="solid"/>
          </a:ln>
        </p:spPr>
      </p:sp>
      <p:sp>
        <p:nvSpPr>
          <p:cNvPr id="18" name="Text 16"/>
          <p:cNvSpPr/>
          <p:nvPr/>
        </p:nvSpPr>
        <p:spPr>
          <a:xfrm>
            <a:off x="4617720" y="3493008"/>
            <a:ext cx="292608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Randomness</a:t>
            </a:r>
            <a:endParaRPr lang="en-US" sz="1600" dirty="0"/>
          </a:p>
        </p:txBody>
      </p:sp>
      <p:sp>
        <p:nvSpPr>
          <p:cNvPr id="19" name="Text 17"/>
          <p:cNvSpPr/>
          <p:nvPr/>
        </p:nvSpPr>
        <p:spPr>
          <a:xfrm>
            <a:off x="4636008" y="3867912"/>
            <a:ext cx="2889504" cy="6858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Test stochastic environments or randomized policies.</a:t>
            </a:r>
            <a:endParaRPr lang="en-US" sz="1270" dirty="0"/>
          </a:p>
        </p:txBody>
      </p:sp>
      <p:sp>
        <p:nvSpPr>
          <p:cNvPr id="20" name="Shape 18"/>
          <p:cNvSpPr/>
          <p:nvPr/>
        </p:nvSpPr>
        <p:spPr>
          <a:xfrm>
            <a:off x="8092440" y="3337560"/>
            <a:ext cx="3291840" cy="1325880"/>
          </a:xfrm>
          <a:prstGeom prst="roundRect">
            <a:avLst>
              <a:gd name="adj" fmla="val 8276"/>
            </a:avLst>
          </a:prstGeom>
          <a:solidFill>
            <a:srgbClr val="FFF3E8"/>
          </a:solidFill>
          <a:ln w="16510">
            <a:solidFill>
              <a:srgbClr val="DD6B20"/>
            </a:solidFill>
            <a:prstDash val="solid"/>
          </a:ln>
        </p:spPr>
      </p:sp>
      <p:sp>
        <p:nvSpPr>
          <p:cNvPr id="21" name="Text 19"/>
          <p:cNvSpPr/>
          <p:nvPr/>
        </p:nvSpPr>
        <p:spPr>
          <a:xfrm>
            <a:off x="8275320" y="3493008"/>
            <a:ext cx="2926080" cy="256032"/>
          </a:xfrm>
          <a:prstGeom prst="rect">
            <a:avLst/>
          </a:prstGeom>
          <a:noFill/>
          <a:ln/>
        </p:spPr>
        <p:txBody>
          <a:bodyPr wrap="square" lIns="254" tIns="254" rIns="254" bIns="254" rtlCol="0" anchor="t">
            <a:normAutofit/>
          </a:bodyPr>
          <a:lstStyle/>
          <a:p>
            <a:pPr algn="ctr" indent="0" marL="0">
              <a:buNone/>
            </a:pPr>
            <a:r>
              <a:rPr lang="en-US" sz="1600" b="1" dirty="0">
                <a:solidFill>
                  <a:srgbClr val="DD6B20"/>
                </a:solidFill>
              </a:rPr>
              <a:t>Trace output</a:t>
            </a:r>
            <a:endParaRPr lang="en-US" sz="1600" dirty="0"/>
          </a:p>
        </p:txBody>
      </p:sp>
      <p:sp>
        <p:nvSpPr>
          <p:cNvPr id="22" name="Text 20"/>
          <p:cNvSpPr/>
          <p:nvPr/>
        </p:nvSpPr>
        <p:spPr>
          <a:xfrm>
            <a:off x="8293608" y="3867912"/>
            <a:ext cx="2889504" cy="6858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Print or log states before making plots.</a:t>
            </a:r>
            <a:endParaRPr lang="en-US" sz="1270" dirty="0"/>
          </a:p>
        </p:txBody>
      </p:sp>
      <p:sp>
        <p:nvSpPr>
          <p:cNvPr id="23" name="Text 21"/>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4" name="Text 22"/>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27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Notebook skeleton: the simulation loop</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Keep the first implementation small and inspectable.</a:t>
            </a:r>
            <a:endParaRPr lang="en-US" sz="1150" dirty="0"/>
          </a:p>
        </p:txBody>
      </p:sp>
      <p:sp>
        <p:nvSpPr>
          <p:cNvPr id="5" name="Shape 3"/>
          <p:cNvSpPr/>
          <p:nvPr/>
        </p:nvSpPr>
        <p:spPr>
          <a:xfrm>
            <a:off x="731520" y="1143000"/>
            <a:ext cx="5760720" cy="4983480"/>
          </a:xfrm>
          <a:prstGeom prst="roundRect">
            <a:avLst>
              <a:gd name="adj" fmla="val 2202"/>
            </a:avLst>
          </a:prstGeom>
          <a:solidFill>
            <a:srgbClr val="111827"/>
          </a:solidFill>
          <a:ln w="12700">
            <a:solidFill>
              <a:srgbClr val="111827"/>
            </a:solidFill>
            <a:prstDash val="solid"/>
          </a:ln>
        </p:spPr>
      </p:sp>
      <p:sp>
        <p:nvSpPr>
          <p:cNvPr id="6" name="Text 4"/>
          <p:cNvSpPr/>
          <p:nvPr/>
        </p:nvSpPr>
        <p:spPr>
          <a:xfrm>
            <a:off x="1005840" y="1463040"/>
            <a:ext cx="5212080" cy="4160520"/>
          </a:xfrm>
          <a:prstGeom prst="rect">
            <a:avLst/>
          </a:prstGeom>
          <a:noFill/>
          <a:ln/>
        </p:spPr>
        <p:txBody>
          <a:bodyPr wrap="square" lIns="1270" tIns="1270" rIns="1270" bIns="1270" rtlCol="0" anchor="ctr">
            <a:normAutofit/>
          </a:bodyPr>
          <a:lstStyle/>
          <a:p>
            <a:pPr indent="0" marL="0">
              <a:buNone/>
            </a:pPr>
            <a:r>
              <a:rPr lang="en-US" sz="1550" dirty="0">
                <a:solidFill>
                  <a:srgbClr val="F8FAFC"/>
                </a:solidFill>
                <a:latin typeface="Courier New" pitchFamily="34" charset="0"/>
                <a:ea typeface="Courier New" pitchFamily="34" charset="-122"/>
                <a:cs typeface="Courier New" pitchFamily="34" charset="-120"/>
              </a:rPr>
              <a:t>state = env.reset()</a:t>
            </a:r>
            <a:endParaRPr lang="en-US" sz="1550" dirty="0"/>
          </a:p>
          <a:p>
            <a:pPr indent="0" marL="0">
              <a:buNone/>
            </a:pPr>
            <a:r>
              <a:rPr lang="en-US" sz="1550" dirty="0">
                <a:solidFill>
                  <a:srgbClr val="F8FAFC"/>
                </a:solidFill>
                <a:latin typeface="Courier New" pitchFamily="34" charset="0"/>
                <a:ea typeface="Courier New" pitchFamily="34" charset="-122"/>
                <a:cs typeface="Courier New" pitchFamily="34" charset="-120"/>
              </a:rPr>
              <a:t>score = 0</a:t>
            </a:r>
            <a:endParaRPr lang="en-US" sz="1550" dirty="0"/>
          </a:p>
          <a:p>
            <a:pPr indent="0" marL="0">
              <a:buNone/>
            </a:pPr>
            <a:endParaRPr lang="en-US" sz="1550" dirty="0"/>
          </a:p>
          <a:p>
            <a:pPr indent="0" marL="0">
              <a:buNone/>
            </a:pPr>
            <a:r>
              <a:rPr lang="en-US" sz="1550" dirty="0">
                <a:solidFill>
                  <a:srgbClr val="F8FAFC"/>
                </a:solidFill>
                <a:latin typeface="Courier New" pitchFamily="34" charset="0"/>
                <a:ea typeface="Courier New" pitchFamily="34" charset="-122"/>
                <a:cs typeface="Courier New" pitchFamily="34" charset="-120"/>
              </a:rPr>
              <a:t>for t in range(20):</a:t>
            </a:r>
            <a:endParaRPr lang="en-US" sz="1550" dirty="0"/>
          </a:p>
          <a:p>
            <a:pPr indent="0" marL="0">
              <a:buNone/>
            </a:pPr>
            <a:r>
              <a:rPr lang="en-US" sz="1550" dirty="0">
                <a:solidFill>
                  <a:srgbClr val="F8FAFC"/>
                </a:solidFill>
                <a:latin typeface="Courier New" pitchFamily="34" charset="0"/>
                <a:ea typeface="Courier New" pitchFamily="34" charset="-122"/>
                <a:cs typeface="Courier New" pitchFamily="34" charset="-120"/>
              </a:rPr>
              <a:t>    percept = env.perceive(state)</a:t>
            </a:r>
            <a:endParaRPr lang="en-US" sz="1550" dirty="0"/>
          </a:p>
          <a:p>
            <a:pPr indent="0" marL="0">
              <a:buNone/>
            </a:pPr>
            <a:r>
              <a:rPr lang="en-US" sz="1550" dirty="0">
                <a:solidFill>
                  <a:srgbClr val="F8FAFC"/>
                </a:solidFill>
                <a:latin typeface="Courier New" pitchFamily="34" charset="0"/>
                <a:ea typeface="Courier New" pitchFamily="34" charset="-122"/>
                <a:cs typeface="Courier New" pitchFamily="34" charset="-120"/>
              </a:rPr>
              <a:t>    action = agent.act(percept)</a:t>
            </a:r>
            <a:endParaRPr lang="en-US" sz="1550" dirty="0"/>
          </a:p>
          <a:p>
            <a:pPr indent="0" marL="0">
              <a:buNone/>
            </a:pPr>
            <a:r>
              <a:rPr lang="en-US" sz="1550" dirty="0">
                <a:solidFill>
                  <a:srgbClr val="F8FAFC"/>
                </a:solidFill>
                <a:latin typeface="Courier New" pitchFamily="34" charset="0"/>
                <a:ea typeface="Courier New" pitchFamily="34" charset="-122"/>
                <a:cs typeface="Courier New" pitchFamily="34" charset="-120"/>
              </a:rPr>
              <a:t>    state, reward = env.step(action)</a:t>
            </a:r>
            <a:endParaRPr lang="en-US" sz="1550" dirty="0"/>
          </a:p>
          <a:p>
            <a:pPr indent="0" marL="0">
              <a:buNone/>
            </a:pPr>
            <a:r>
              <a:rPr lang="en-US" sz="1550" dirty="0">
                <a:solidFill>
                  <a:srgbClr val="F8FAFC"/>
                </a:solidFill>
                <a:latin typeface="Courier New" pitchFamily="34" charset="0"/>
                <a:ea typeface="Courier New" pitchFamily="34" charset="-122"/>
                <a:cs typeface="Courier New" pitchFamily="34" charset="-120"/>
              </a:rPr>
              <a:t>    score += reward</a:t>
            </a:r>
            <a:endParaRPr lang="en-US" sz="1550" dirty="0"/>
          </a:p>
          <a:p>
            <a:pPr indent="0" marL="0">
              <a:buNone/>
            </a:pPr>
            <a:r>
              <a:rPr lang="en-US" sz="1550" dirty="0">
                <a:solidFill>
                  <a:srgbClr val="F8FAFC"/>
                </a:solidFill>
                <a:latin typeface="Courier New" pitchFamily="34" charset="0"/>
                <a:ea typeface="Courier New" pitchFamily="34" charset="-122"/>
                <a:cs typeface="Courier New" pitchFamily="34" charset="-120"/>
              </a:rPr>
              <a:t>    print(t, percept, action, score)</a:t>
            </a:r>
            <a:endParaRPr lang="en-US" sz="1550" dirty="0"/>
          </a:p>
        </p:txBody>
      </p:sp>
      <p:sp>
        <p:nvSpPr>
          <p:cNvPr id="7" name="Text 5"/>
          <p:cNvSpPr/>
          <p:nvPr/>
        </p:nvSpPr>
        <p:spPr>
          <a:xfrm>
            <a:off x="6995160" y="1417320"/>
            <a:ext cx="3017520" cy="256032"/>
          </a:xfrm>
          <a:prstGeom prst="rect">
            <a:avLst/>
          </a:prstGeom>
          <a:noFill/>
          <a:ln/>
        </p:spPr>
        <p:txBody>
          <a:bodyPr wrap="square" lIns="254" tIns="254" rIns="254" bIns="254" rtlCol="0" anchor="t">
            <a:normAutofit/>
          </a:bodyPr>
          <a:lstStyle/>
          <a:p>
            <a:pPr algn="l" indent="0" marL="0">
              <a:buNone/>
            </a:pPr>
            <a:r>
              <a:rPr lang="en-US" sz="2100" b="1" dirty="0">
                <a:solidFill>
                  <a:srgbClr val="002B49"/>
                </a:solidFill>
              </a:rPr>
              <a:t>Trace each step</a:t>
            </a:r>
            <a:endParaRPr lang="en-US" sz="2100" dirty="0"/>
          </a:p>
        </p:txBody>
      </p:sp>
      <p:sp>
        <p:nvSpPr>
          <p:cNvPr id="8" name="Text 6"/>
          <p:cNvSpPr/>
          <p:nvPr/>
        </p:nvSpPr>
        <p:spPr>
          <a:xfrm>
            <a:off x="7132320" y="1920240"/>
            <a:ext cx="4206240" cy="1783080"/>
          </a:xfrm>
          <a:prstGeom prst="rect">
            <a:avLst/>
          </a:prstGeom>
          <a:noFill/>
          <a:ln/>
        </p:spPr>
        <p:txBody>
          <a:bodyPr wrap="square" lIns="381" tIns="381" rIns="381" bIns="381" rtlCol="0" anchor="ctr">
            <a:normAutofit/>
          </a:bodyPr>
          <a:lstStyle/>
          <a:p>
            <a:pPr marL="228600" indent="-228600">
              <a:buSzPct val="100000"/>
              <a:buChar char="•"/>
            </a:pPr>
            <a:r>
              <a:rPr lang="en-US" sz="1600" dirty="0">
                <a:solidFill>
                  <a:srgbClr val="111827"/>
                </a:solidFill>
              </a:rPr>
              <a:t>What did the agent perceive?
</a:t>
            </a:r>
            <a:endParaRPr lang="en-US" sz="1600" dirty="0"/>
          </a:p>
          <a:p>
            <a:pPr marL="228600" indent="-228600">
              <a:buSzPct val="100000"/>
              <a:buChar char="•"/>
            </a:pPr>
            <a:r>
              <a:rPr lang="en-US" sz="1600" dirty="0">
                <a:solidFill>
                  <a:srgbClr val="111827"/>
                </a:solidFill>
              </a:rPr>
              <a:t>Which action did it choose?
</a:t>
            </a:r>
            <a:endParaRPr lang="en-US" sz="1600" dirty="0"/>
          </a:p>
          <a:p>
            <a:pPr marL="228600" indent="-228600">
              <a:buSzPct val="100000"/>
              <a:buChar char="•"/>
            </a:pPr>
            <a:r>
              <a:rPr lang="en-US" sz="1600" dirty="0">
                <a:solidFill>
                  <a:srgbClr val="111827"/>
                </a:solidFill>
              </a:rPr>
              <a:t>How did the environment change?
</a:t>
            </a:r>
            <a:endParaRPr lang="en-US" sz="1600" dirty="0"/>
          </a:p>
          <a:p>
            <a:pPr marL="228600" indent="-228600">
              <a:buSzPct val="100000"/>
              <a:buChar char="•"/>
            </a:pPr>
            <a:r>
              <a:rPr lang="en-US" sz="1600" dirty="0">
                <a:solidFill>
                  <a:srgbClr val="111827"/>
                </a:solidFill>
              </a:rPr>
              <a:t>How did the score change?</a:t>
            </a:r>
            <a:endParaRPr lang="en-US" sz="1600" dirty="0"/>
          </a:p>
        </p:txBody>
      </p:sp>
      <p:sp>
        <p:nvSpPr>
          <p:cNvPr id="9" name="Shape 7"/>
          <p:cNvSpPr/>
          <p:nvPr/>
        </p:nvSpPr>
        <p:spPr>
          <a:xfrm>
            <a:off x="7178040" y="4800600"/>
            <a:ext cx="3840480" cy="685800"/>
          </a:xfrm>
          <a:prstGeom prst="roundRect">
            <a:avLst>
              <a:gd name="adj" fmla="val 16000"/>
            </a:avLst>
          </a:prstGeom>
          <a:solidFill>
            <a:srgbClr val="FFF7E0"/>
          </a:solidFill>
          <a:ln w="15240">
            <a:solidFill>
              <a:srgbClr val="C99700"/>
            </a:solidFill>
            <a:prstDash val="solid"/>
          </a:ln>
        </p:spPr>
      </p:sp>
      <p:sp>
        <p:nvSpPr>
          <p:cNvPr id="10" name="Text 8"/>
          <p:cNvSpPr/>
          <p:nvPr/>
        </p:nvSpPr>
        <p:spPr>
          <a:xfrm>
            <a:off x="7379208" y="4983480"/>
            <a:ext cx="3438144" cy="36576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Debug first. Optimize later.</a:t>
            </a:r>
            <a:endParaRPr lang="en-US" sz="1600" dirty="0"/>
          </a:p>
        </p:txBody>
      </p:sp>
      <p:sp>
        <p:nvSpPr>
          <p:cNvPr id="11" name="Text 9"/>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2" name="Text 10"/>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28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Grid-world lab: minimum viable environment</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Define a world that is small enough to inspect by hand.</a:t>
            </a:r>
            <a:endParaRPr lang="en-US" sz="1150" dirty="0"/>
          </a:p>
        </p:txBody>
      </p:sp>
      <p:sp>
        <p:nvSpPr>
          <p:cNvPr id="5" name="Shape 3"/>
          <p:cNvSpPr/>
          <p:nvPr/>
        </p:nvSpPr>
        <p:spPr>
          <a:xfrm>
            <a:off x="914400" y="1325880"/>
            <a:ext cx="502920" cy="502920"/>
          </a:xfrm>
          <a:prstGeom prst="rect">
            <a:avLst/>
          </a:prstGeom>
          <a:solidFill>
            <a:srgbClr val="FFFFFF"/>
          </a:solidFill>
          <a:ln w="12700">
            <a:solidFill>
              <a:srgbClr val="98A2B3"/>
            </a:solidFill>
            <a:prstDash val="solid"/>
          </a:ln>
        </p:spPr>
      </p:sp>
      <p:sp>
        <p:nvSpPr>
          <p:cNvPr id="6" name="Shape 4"/>
          <p:cNvSpPr/>
          <p:nvPr/>
        </p:nvSpPr>
        <p:spPr>
          <a:xfrm>
            <a:off x="1417320" y="1325880"/>
            <a:ext cx="502920" cy="502920"/>
          </a:xfrm>
          <a:prstGeom prst="rect">
            <a:avLst/>
          </a:prstGeom>
          <a:solidFill>
            <a:srgbClr val="FFFFFF"/>
          </a:solidFill>
          <a:ln w="12700">
            <a:solidFill>
              <a:srgbClr val="98A2B3"/>
            </a:solidFill>
            <a:prstDash val="solid"/>
          </a:ln>
        </p:spPr>
      </p:sp>
      <p:sp>
        <p:nvSpPr>
          <p:cNvPr id="7" name="Shape 5"/>
          <p:cNvSpPr/>
          <p:nvPr/>
        </p:nvSpPr>
        <p:spPr>
          <a:xfrm>
            <a:off x="1920240" y="1325880"/>
            <a:ext cx="502920" cy="502920"/>
          </a:xfrm>
          <a:prstGeom prst="rect">
            <a:avLst/>
          </a:prstGeom>
          <a:solidFill>
            <a:srgbClr val="FFFFFF"/>
          </a:solidFill>
          <a:ln w="12700">
            <a:solidFill>
              <a:srgbClr val="98A2B3"/>
            </a:solidFill>
            <a:prstDash val="solid"/>
          </a:ln>
        </p:spPr>
      </p:sp>
      <p:sp>
        <p:nvSpPr>
          <p:cNvPr id="8" name="Shape 6"/>
          <p:cNvSpPr/>
          <p:nvPr/>
        </p:nvSpPr>
        <p:spPr>
          <a:xfrm>
            <a:off x="2423160" y="1325880"/>
            <a:ext cx="502920" cy="502920"/>
          </a:xfrm>
          <a:prstGeom prst="rect">
            <a:avLst/>
          </a:prstGeom>
          <a:solidFill>
            <a:srgbClr val="FFFFFF"/>
          </a:solidFill>
          <a:ln w="12700">
            <a:solidFill>
              <a:srgbClr val="98A2B3"/>
            </a:solidFill>
            <a:prstDash val="solid"/>
          </a:ln>
        </p:spPr>
      </p:sp>
      <p:sp>
        <p:nvSpPr>
          <p:cNvPr id="9" name="Shape 7"/>
          <p:cNvSpPr/>
          <p:nvPr/>
        </p:nvSpPr>
        <p:spPr>
          <a:xfrm>
            <a:off x="2926080" y="1325880"/>
            <a:ext cx="502920" cy="502920"/>
          </a:xfrm>
          <a:prstGeom prst="rect">
            <a:avLst/>
          </a:prstGeom>
          <a:solidFill>
            <a:srgbClr val="D1FADF"/>
          </a:solidFill>
          <a:ln w="12700">
            <a:solidFill>
              <a:srgbClr val="98A2B3"/>
            </a:solidFill>
            <a:prstDash val="solid"/>
          </a:ln>
        </p:spPr>
      </p:sp>
      <p:sp>
        <p:nvSpPr>
          <p:cNvPr id="10" name="Shape 8"/>
          <p:cNvSpPr/>
          <p:nvPr/>
        </p:nvSpPr>
        <p:spPr>
          <a:xfrm>
            <a:off x="914400" y="1828800"/>
            <a:ext cx="502920" cy="502920"/>
          </a:xfrm>
          <a:prstGeom prst="rect">
            <a:avLst/>
          </a:prstGeom>
          <a:solidFill>
            <a:srgbClr val="FFFFFF"/>
          </a:solidFill>
          <a:ln w="12700">
            <a:solidFill>
              <a:srgbClr val="98A2B3"/>
            </a:solidFill>
            <a:prstDash val="solid"/>
          </a:ln>
        </p:spPr>
      </p:sp>
      <p:sp>
        <p:nvSpPr>
          <p:cNvPr id="11" name="Shape 9"/>
          <p:cNvSpPr/>
          <p:nvPr/>
        </p:nvSpPr>
        <p:spPr>
          <a:xfrm>
            <a:off x="1417320" y="1828800"/>
            <a:ext cx="502920" cy="502920"/>
          </a:xfrm>
          <a:prstGeom prst="rect">
            <a:avLst/>
          </a:prstGeom>
          <a:solidFill>
            <a:srgbClr val="FFFFFF"/>
          </a:solidFill>
          <a:ln w="12700">
            <a:solidFill>
              <a:srgbClr val="98A2B3"/>
            </a:solidFill>
            <a:prstDash val="solid"/>
          </a:ln>
        </p:spPr>
      </p:sp>
      <p:sp>
        <p:nvSpPr>
          <p:cNvPr id="12" name="Shape 10"/>
          <p:cNvSpPr/>
          <p:nvPr/>
        </p:nvSpPr>
        <p:spPr>
          <a:xfrm>
            <a:off x="1920240" y="1828800"/>
            <a:ext cx="502920" cy="502920"/>
          </a:xfrm>
          <a:prstGeom prst="rect">
            <a:avLst/>
          </a:prstGeom>
          <a:solidFill>
            <a:srgbClr val="344054"/>
          </a:solidFill>
          <a:ln w="12700">
            <a:solidFill>
              <a:srgbClr val="98A2B3"/>
            </a:solidFill>
            <a:prstDash val="solid"/>
          </a:ln>
        </p:spPr>
      </p:sp>
      <p:sp>
        <p:nvSpPr>
          <p:cNvPr id="13" name="Shape 11"/>
          <p:cNvSpPr/>
          <p:nvPr/>
        </p:nvSpPr>
        <p:spPr>
          <a:xfrm>
            <a:off x="2423160" y="1828800"/>
            <a:ext cx="502920" cy="502920"/>
          </a:xfrm>
          <a:prstGeom prst="rect">
            <a:avLst/>
          </a:prstGeom>
          <a:solidFill>
            <a:srgbClr val="FFFFFF"/>
          </a:solidFill>
          <a:ln w="12700">
            <a:solidFill>
              <a:srgbClr val="98A2B3"/>
            </a:solidFill>
            <a:prstDash val="solid"/>
          </a:ln>
        </p:spPr>
      </p:sp>
      <p:sp>
        <p:nvSpPr>
          <p:cNvPr id="14" name="Shape 12"/>
          <p:cNvSpPr/>
          <p:nvPr/>
        </p:nvSpPr>
        <p:spPr>
          <a:xfrm>
            <a:off x="2926080" y="1828800"/>
            <a:ext cx="502920" cy="502920"/>
          </a:xfrm>
          <a:prstGeom prst="rect">
            <a:avLst/>
          </a:prstGeom>
          <a:solidFill>
            <a:srgbClr val="FFFFFF"/>
          </a:solidFill>
          <a:ln w="12700">
            <a:solidFill>
              <a:srgbClr val="98A2B3"/>
            </a:solidFill>
            <a:prstDash val="solid"/>
          </a:ln>
        </p:spPr>
      </p:sp>
      <p:sp>
        <p:nvSpPr>
          <p:cNvPr id="15" name="Shape 13"/>
          <p:cNvSpPr/>
          <p:nvPr/>
        </p:nvSpPr>
        <p:spPr>
          <a:xfrm>
            <a:off x="914400" y="2331720"/>
            <a:ext cx="502920" cy="502920"/>
          </a:xfrm>
          <a:prstGeom prst="rect">
            <a:avLst/>
          </a:prstGeom>
          <a:solidFill>
            <a:srgbClr val="FFFFFF"/>
          </a:solidFill>
          <a:ln w="12700">
            <a:solidFill>
              <a:srgbClr val="98A2B3"/>
            </a:solidFill>
            <a:prstDash val="solid"/>
          </a:ln>
        </p:spPr>
      </p:sp>
      <p:sp>
        <p:nvSpPr>
          <p:cNvPr id="16" name="Shape 14"/>
          <p:cNvSpPr/>
          <p:nvPr/>
        </p:nvSpPr>
        <p:spPr>
          <a:xfrm>
            <a:off x="1417320" y="2331720"/>
            <a:ext cx="502920" cy="502920"/>
          </a:xfrm>
          <a:prstGeom prst="rect">
            <a:avLst/>
          </a:prstGeom>
          <a:solidFill>
            <a:srgbClr val="FFFFFF"/>
          </a:solidFill>
          <a:ln w="12700">
            <a:solidFill>
              <a:srgbClr val="98A2B3"/>
            </a:solidFill>
            <a:prstDash val="solid"/>
          </a:ln>
        </p:spPr>
      </p:sp>
      <p:sp>
        <p:nvSpPr>
          <p:cNvPr id="17" name="Shape 15"/>
          <p:cNvSpPr/>
          <p:nvPr/>
        </p:nvSpPr>
        <p:spPr>
          <a:xfrm>
            <a:off x="1920240" y="2331720"/>
            <a:ext cx="502920" cy="502920"/>
          </a:xfrm>
          <a:prstGeom prst="rect">
            <a:avLst/>
          </a:prstGeom>
          <a:solidFill>
            <a:srgbClr val="FFFFFF"/>
          </a:solidFill>
          <a:ln w="12700">
            <a:solidFill>
              <a:srgbClr val="98A2B3"/>
            </a:solidFill>
            <a:prstDash val="solid"/>
          </a:ln>
        </p:spPr>
      </p:sp>
      <p:sp>
        <p:nvSpPr>
          <p:cNvPr id="18" name="Shape 16"/>
          <p:cNvSpPr/>
          <p:nvPr/>
        </p:nvSpPr>
        <p:spPr>
          <a:xfrm>
            <a:off x="2423160" y="2331720"/>
            <a:ext cx="502920" cy="502920"/>
          </a:xfrm>
          <a:prstGeom prst="rect">
            <a:avLst/>
          </a:prstGeom>
          <a:solidFill>
            <a:srgbClr val="FFFFFF"/>
          </a:solidFill>
          <a:ln w="12700">
            <a:solidFill>
              <a:srgbClr val="98A2B3"/>
            </a:solidFill>
            <a:prstDash val="solid"/>
          </a:ln>
        </p:spPr>
      </p:sp>
      <p:sp>
        <p:nvSpPr>
          <p:cNvPr id="19" name="Shape 17"/>
          <p:cNvSpPr/>
          <p:nvPr/>
        </p:nvSpPr>
        <p:spPr>
          <a:xfrm>
            <a:off x="2926080" y="2331720"/>
            <a:ext cx="502920" cy="502920"/>
          </a:xfrm>
          <a:prstGeom prst="rect">
            <a:avLst/>
          </a:prstGeom>
          <a:solidFill>
            <a:srgbClr val="FFFFFF"/>
          </a:solidFill>
          <a:ln w="12700">
            <a:solidFill>
              <a:srgbClr val="98A2B3"/>
            </a:solidFill>
            <a:prstDash val="solid"/>
          </a:ln>
        </p:spPr>
      </p:sp>
      <p:sp>
        <p:nvSpPr>
          <p:cNvPr id="20" name="Shape 18"/>
          <p:cNvSpPr/>
          <p:nvPr/>
        </p:nvSpPr>
        <p:spPr>
          <a:xfrm>
            <a:off x="914400" y="2834640"/>
            <a:ext cx="502920" cy="502920"/>
          </a:xfrm>
          <a:prstGeom prst="rect">
            <a:avLst/>
          </a:prstGeom>
          <a:solidFill>
            <a:srgbClr val="FFFFFF"/>
          </a:solidFill>
          <a:ln w="12700">
            <a:solidFill>
              <a:srgbClr val="98A2B3"/>
            </a:solidFill>
            <a:prstDash val="solid"/>
          </a:ln>
        </p:spPr>
      </p:sp>
      <p:sp>
        <p:nvSpPr>
          <p:cNvPr id="21" name="Shape 19"/>
          <p:cNvSpPr/>
          <p:nvPr/>
        </p:nvSpPr>
        <p:spPr>
          <a:xfrm>
            <a:off x="1417320" y="2834640"/>
            <a:ext cx="502920" cy="502920"/>
          </a:xfrm>
          <a:prstGeom prst="rect">
            <a:avLst/>
          </a:prstGeom>
          <a:solidFill>
            <a:srgbClr val="344054"/>
          </a:solidFill>
          <a:ln w="12700">
            <a:solidFill>
              <a:srgbClr val="98A2B3"/>
            </a:solidFill>
            <a:prstDash val="solid"/>
          </a:ln>
        </p:spPr>
      </p:sp>
      <p:sp>
        <p:nvSpPr>
          <p:cNvPr id="22" name="Shape 20"/>
          <p:cNvSpPr/>
          <p:nvPr/>
        </p:nvSpPr>
        <p:spPr>
          <a:xfrm>
            <a:off x="1920240" y="2834640"/>
            <a:ext cx="502920" cy="502920"/>
          </a:xfrm>
          <a:prstGeom prst="rect">
            <a:avLst/>
          </a:prstGeom>
          <a:solidFill>
            <a:srgbClr val="FFFFFF"/>
          </a:solidFill>
          <a:ln w="12700">
            <a:solidFill>
              <a:srgbClr val="98A2B3"/>
            </a:solidFill>
            <a:prstDash val="solid"/>
          </a:ln>
        </p:spPr>
      </p:sp>
      <p:sp>
        <p:nvSpPr>
          <p:cNvPr id="23" name="Shape 21"/>
          <p:cNvSpPr/>
          <p:nvPr/>
        </p:nvSpPr>
        <p:spPr>
          <a:xfrm>
            <a:off x="2423160" y="2834640"/>
            <a:ext cx="502920" cy="502920"/>
          </a:xfrm>
          <a:prstGeom prst="rect">
            <a:avLst/>
          </a:prstGeom>
          <a:solidFill>
            <a:srgbClr val="FFFFFF"/>
          </a:solidFill>
          <a:ln w="12700">
            <a:solidFill>
              <a:srgbClr val="98A2B3"/>
            </a:solidFill>
            <a:prstDash val="solid"/>
          </a:ln>
        </p:spPr>
      </p:sp>
      <p:sp>
        <p:nvSpPr>
          <p:cNvPr id="24" name="Shape 22"/>
          <p:cNvSpPr/>
          <p:nvPr/>
        </p:nvSpPr>
        <p:spPr>
          <a:xfrm>
            <a:off x="2926080" y="2834640"/>
            <a:ext cx="502920" cy="502920"/>
          </a:xfrm>
          <a:prstGeom prst="rect">
            <a:avLst/>
          </a:prstGeom>
          <a:solidFill>
            <a:srgbClr val="FFFFFF"/>
          </a:solidFill>
          <a:ln w="12700">
            <a:solidFill>
              <a:srgbClr val="98A2B3"/>
            </a:solidFill>
            <a:prstDash val="solid"/>
          </a:ln>
        </p:spPr>
      </p:sp>
      <p:sp>
        <p:nvSpPr>
          <p:cNvPr id="25" name="Shape 23"/>
          <p:cNvSpPr/>
          <p:nvPr/>
        </p:nvSpPr>
        <p:spPr>
          <a:xfrm>
            <a:off x="987552" y="1399032"/>
            <a:ext cx="347472" cy="347472"/>
          </a:xfrm>
          <a:prstGeom prst="ellipse">
            <a:avLst/>
          </a:prstGeom>
          <a:solidFill>
            <a:srgbClr val="3273DC"/>
          </a:solidFill>
          <a:ln w="12700">
            <a:solidFill>
              <a:srgbClr val="3273DC"/>
            </a:solidFill>
            <a:prstDash val="solid"/>
          </a:ln>
        </p:spPr>
      </p:sp>
      <p:sp>
        <p:nvSpPr>
          <p:cNvPr id="26" name="Text 24"/>
          <p:cNvSpPr/>
          <p:nvPr/>
        </p:nvSpPr>
        <p:spPr>
          <a:xfrm>
            <a:off x="2926080" y="1444752"/>
            <a:ext cx="502920" cy="182880"/>
          </a:xfrm>
          <a:prstGeom prst="rect">
            <a:avLst/>
          </a:prstGeom>
          <a:noFill/>
          <a:ln/>
        </p:spPr>
        <p:txBody>
          <a:bodyPr wrap="square" lIns="254" tIns="254" rIns="254" bIns="254" rtlCol="0" anchor="t">
            <a:normAutofit/>
          </a:bodyPr>
          <a:lstStyle/>
          <a:p>
            <a:pPr algn="ctr" indent="0" marL="0">
              <a:buNone/>
            </a:pPr>
            <a:r>
              <a:rPr lang="en-US" sz="1300" b="1" dirty="0">
                <a:solidFill>
                  <a:srgbClr val="2F855A"/>
                </a:solidFill>
              </a:rPr>
              <a:t>G</a:t>
            </a:r>
            <a:endParaRPr lang="en-US" sz="1300" dirty="0"/>
          </a:p>
        </p:txBody>
      </p:sp>
      <p:sp>
        <p:nvSpPr>
          <p:cNvPr id="27" name="Shape 25"/>
          <p:cNvSpPr/>
          <p:nvPr/>
        </p:nvSpPr>
        <p:spPr>
          <a:xfrm>
            <a:off x="4206240" y="1234440"/>
            <a:ext cx="3017520" cy="1051560"/>
          </a:xfrm>
          <a:prstGeom prst="roundRect">
            <a:avLst>
              <a:gd name="adj" fmla="val 10435"/>
            </a:avLst>
          </a:prstGeom>
          <a:solidFill>
            <a:srgbClr val="EFF6FF"/>
          </a:solidFill>
          <a:ln w="16510">
            <a:solidFill>
              <a:srgbClr val="3273DC"/>
            </a:solidFill>
            <a:prstDash val="solid"/>
          </a:ln>
        </p:spPr>
      </p:sp>
      <p:sp>
        <p:nvSpPr>
          <p:cNvPr id="28" name="Text 26"/>
          <p:cNvSpPr/>
          <p:nvPr/>
        </p:nvSpPr>
        <p:spPr>
          <a:xfrm>
            <a:off x="4389120" y="1389888"/>
            <a:ext cx="265176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State</a:t>
            </a:r>
            <a:endParaRPr lang="en-US" sz="1600" dirty="0"/>
          </a:p>
        </p:txBody>
      </p:sp>
      <p:sp>
        <p:nvSpPr>
          <p:cNvPr id="29" name="Text 27"/>
          <p:cNvSpPr/>
          <p:nvPr/>
        </p:nvSpPr>
        <p:spPr>
          <a:xfrm>
            <a:off x="4407408" y="1764792"/>
            <a:ext cx="2615184" cy="4114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agent position, dirt locations, walls, time step</a:t>
            </a:r>
            <a:endParaRPr lang="en-US" sz="1270" dirty="0"/>
          </a:p>
        </p:txBody>
      </p:sp>
      <p:sp>
        <p:nvSpPr>
          <p:cNvPr id="30" name="Shape 28"/>
          <p:cNvSpPr/>
          <p:nvPr/>
        </p:nvSpPr>
        <p:spPr>
          <a:xfrm>
            <a:off x="7863840" y="1234440"/>
            <a:ext cx="3017520" cy="1051560"/>
          </a:xfrm>
          <a:prstGeom prst="roundRect">
            <a:avLst>
              <a:gd name="adj" fmla="val 10435"/>
            </a:avLst>
          </a:prstGeom>
          <a:solidFill>
            <a:srgbClr val="FFF3E8"/>
          </a:solidFill>
          <a:ln w="16510">
            <a:solidFill>
              <a:srgbClr val="DD6B20"/>
            </a:solidFill>
            <a:prstDash val="solid"/>
          </a:ln>
        </p:spPr>
      </p:sp>
      <p:sp>
        <p:nvSpPr>
          <p:cNvPr id="31" name="Text 29"/>
          <p:cNvSpPr/>
          <p:nvPr/>
        </p:nvSpPr>
        <p:spPr>
          <a:xfrm>
            <a:off x="8046720" y="1389888"/>
            <a:ext cx="2651760" cy="256032"/>
          </a:xfrm>
          <a:prstGeom prst="rect">
            <a:avLst/>
          </a:prstGeom>
          <a:noFill/>
          <a:ln/>
        </p:spPr>
        <p:txBody>
          <a:bodyPr wrap="square" lIns="254" tIns="254" rIns="254" bIns="254" rtlCol="0" anchor="t">
            <a:normAutofit/>
          </a:bodyPr>
          <a:lstStyle/>
          <a:p>
            <a:pPr algn="ctr" indent="0" marL="0">
              <a:buNone/>
            </a:pPr>
            <a:r>
              <a:rPr lang="en-US" sz="1600" b="1" dirty="0">
                <a:solidFill>
                  <a:srgbClr val="DD6B20"/>
                </a:solidFill>
              </a:rPr>
              <a:t>Actions</a:t>
            </a:r>
            <a:endParaRPr lang="en-US" sz="1600" dirty="0"/>
          </a:p>
        </p:txBody>
      </p:sp>
      <p:sp>
        <p:nvSpPr>
          <p:cNvPr id="32" name="Text 30"/>
          <p:cNvSpPr/>
          <p:nvPr/>
        </p:nvSpPr>
        <p:spPr>
          <a:xfrm>
            <a:off x="8065008" y="1764792"/>
            <a:ext cx="2615184" cy="4114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N, S, E, W, Clean, Stop</a:t>
            </a:r>
            <a:endParaRPr lang="en-US" sz="1270" dirty="0"/>
          </a:p>
        </p:txBody>
      </p:sp>
      <p:sp>
        <p:nvSpPr>
          <p:cNvPr id="33" name="Shape 31"/>
          <p:cNvSpPr/>
          <p:nvPr/>
        </p:nvSpPr>
        <p:spPr>
          <a:xfrm>
            <a:off x="4206240" y="3063240"/>
            <a:ext cx="3017520" cy="1051560"/>
          </a:xfrm>
          <a:prstGeom prst="roundRect">
            <a:avLst>
              <a:gd name="adj" fmla="val 10435"/>
            </a:avLst>
          </a:prstGeom>
          <a:solidFill>
            <a:srgbClr val="FFF7E0"/>
          </a:solidFill>
          <a:ln w="16510">
            <a:solidFill>
              <a:srgbClr val="C99700"/>
            </a:solidFill>
            <a:prstDash val="solid"/>
          </a:ln>
        </p:spPr>
      </p:sp>
      <p:sp>
        <p:nvSpPr>
          <p:cNvPr id="34" name="Text 32"/>
          <p:cNvSpPr/>
          <p:nvPr/>
        </p:nvSpPr>
        <p:spPr>
          <a:xfrm>
            <a:off x="4389120" y="3218688"/>
            <a:ext cx="265176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Reward</a:t>
            </a:r>
            <a:endParaRPr lang="en-US" sz="1600" dirty="0"/>
          </a:p>
        </p:txBody>
      </p:sp>
      <p:sp>
        <p:nvSpPr>
          <p:cNvPr id="35" name="Text 33"/>
          <p:cNvSpPr/>
          <p:nvPr/>
        </p:nvSpPr>
        <p:spPr>
          <a:xfrm>
            <a:off x="4407408" y="3593592"/>
            <a:ext cx="2615184" cy="4114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 clean cell, - movement, - invalid move, + goal</a:t>
            </a:r>
            <a:endParaRPr lang="en-US" sz="1270" dirty="0"/>
          </a:p>
        </p:txBody>
      </p:sp>
      <p:sp>
        <p:nvSpPr>
          <p:cNvPr id="36" name="Shape 34"/>
          <p:cNvSpPr/>
          <p:nvPr/>
        </p:nvSpPr>
        <p:spPr>
          <a:xfrm>
            <a:off x="7863840" y="3063240"/>
            <a:ext cx="3017520" cy="1051560"/>
          </a:xfrm>
          <a:prstGeom prst="roundRect">
            <a:avLst>
              <a:gd name="adj" fmla="val 10435"/>
            </a:avLst>
          </a:prstGeom>
          <a:solidFill>
            <a:srgbClr val="E9F7EF"/>
          </a:solidFill>
          <a:ln w="16510">
            <a:solidFill>
              <a:srgbClr val="2F855A"/>
            </a:solidFill>
            <a:prstDash val="solid"/>
          </a:ln>
        </p:spPr>
      </p:sp>
      <p:sp>
        <p:nvSpPr>
          <p:cNvPr id="37" name="Text 35"/>
          <p:cNvSpPr/>
          <p:nvPr/>
        </p:nvSpPr>
        <p:spPr>
          <a:xfrm>
            <a:off x="8046720" y="3218688"/>
            <a:ext cx="265176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Terminal condition</a:t>
            </a:r>
            <a:endParaRPr lang="en-US" sz="1600" dirty="0"/>
          </a:p>
        </p:txBody>
      </p:sp>
      <p:sp>
        <p:nvSpPr>
          <p:cNvPr id="38" name="Text 36"/>
          <p:cNvSpPr/>
          <p:nvPr/>
        </p:nvSpPr>
        <p:spPr>
          <a:xfrm>
            <a:off x="8065008" y="3593592"/>
            <a:ext cx="2615184" cy="41148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all dirt cleaned, goal reached, or max steps exceeded</a:t>
            </a:r>
            <a:endParaRPr lang="en-US" sz="1270" dirty="0"/>
          </a:p>
        </p:txBody>
      </p:sp>
      <p:sp>
        <p:nvSpPr>
          <p:cNvPr id="39" name="Shape 37"/>
          <p:cNvSpPr/>
          <p:nvPr/>
        </p:nvSpPr>
        <p:spPr>
          <a:xfrm>
            <a:off x="1097280" y="5120640"/>
            <a:ext cx="9966960" cy="640080"/>
          </a:xfrm>
          <a:prstGeom prst="roundRect">
            <a:avLst>
              <a:gd name="adj" fmla="val 17143"/>
            </a:avLst>
          </a:prstGeom>
          <a:solidFill>
            <a:srgbClr val="FFF7E0"/>
          </a:solidFill>
          <a:ln w="15240">
            <a:solidFill>
              <a:srgbClr val="C99700"/>
            </a:solidFill>
            <a:prstDash val="solid"/>
          </a:ln>
        </p:spPr>
      </p:sp>
      <p:sp>
        <p:nvSpPr>
          <p:cNvPr id="40" name="Text 38"/>
          <p:cNvSpPr/>
          <p:nvPr/>
        </p:nvSpPr>
        <p:spPr>
          <a:xfrm>
            <a:off x="1298448" y="5303520"/>
            <a:ext cx="9564624" cy="32004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Your first grid-world should be boring enough that bugs are obvious.</a:t>
            </a:r>
            <a:endParaRPr lang="en-US" sz="1600" dirty="0"/>
          </a:p>
        </p:txBody>
      </p:sp>
      <p:sp>
        <p:nvSpPr>
          <p:cNvPr id="41" name="Text 39"/>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42" name="Text 40"/>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29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Lab deliverable</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What students should submit or demonstrate.</a:t>
            </a:r>
            <a:endParaRPr lang="en-US" sz="1150" dirty="0"/>
          </a:p>
        </p:txBody>
      </p:sp>
      <p:sp>
        <p:nvSpPr>
          <p:cNvPr id="5" name="Shape 3"/>
          <p:cNvSpPr/>
          <p:nvPr/>
        </p:nvSpPr>
        <p:spPr>
          <a:xfrm>
            <a:off x="822960" y="1325880"/>
            <a:ext cx="3200400" cy="1325880"/>
          </a:xfrm>
          <a:prstGeom prst="roundRect">
            <a:avLst>
              <a:gd name="adj" fmla="val 8276"/>
            </a:avLst>
          </a:prstGeom>
          <a:solidFill>
            <a:srgbClr val="FFF7E0"/>
          </a:solidFill>
          <a:ln w="16510">
            <a:solidFill>
              <a:srgbClr val="C99700"/>
            </a:solidFill>
            <a:prstDash val="solid"/>
          </a:ln>
        </p:spPr>
      </p:sp>
      <p:sp>
        <p:nvSpPr>
          <p:cNvPr id="6" name="Text 4"/>
          <p:cNvSpPr/>
          <p:nvPr/>
        </p:nvSpPr>
        <p:spPr>
          <a:xfrm>
            <a:off x="1005840" y="1481328"/>
            <a:ext cx="283464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1. PEAS table</a:t>
            </a:r>
            <a:endParaRPr lang="en-US" sz="1600" dirty="0"/>
          </a:p>
        </p:txBody>
      </p:sp>
      <p:sp>
        <p:nvSpPr>
          <p:cNvPr id="7" name="Text 5"/>
          <p:cNvSpPr/>
          <p:nvPr/>
        </p:nvSpPr>
        <p:spPr>
          <a:xfrm>
            <a:off x="1024128" y="1856232"/>
            <a:ext cx="2798064" cy="6858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Performance, Environment, Actuators, Sensors for your grid-world.</a:t>
            </a:r>
            <a:endParaRPr lang="en-US" sz="1270" dirty="0"/>
          </a:p>
        </p:txBody>
      </p:sp>
      <p:sp>
        <p:nvSpPr>
          <p:cNvPr id="8" name="Shape 6"/>
          <p:cNvSpPr/>
          <p:nvPr/>
        </p:nvSpPr>
        <p:spPr>
          <a:xfrm>
            <a:off x="4480560" y="1325880"/>
            <a:ext cx="3200400" cy="1325880"/>
          </a:xfrm>
          <a:prstGeom prst="roundRect">
            <a:avLst>
              <a:gd name="adj" fmla="val 8276"/>
            </a:avLst>
          </a:prstGeom>
          <a:solidFill>
            <a:srgbClr val="E6F7F8"/>
          </a:solidFill>
          <a:ln w="16510">
            <a:solidFill>
              <a:srgbClr val="0E7C86"/>
            </a:solidFill>
            <a:prstDash val="solid"/>
          </a:ln>
        </p:spPr>
      </p:sp>
      <p:sp>
        <p:nvSpPr>
          <p:cNvPr id="9" name="Text 7"/>
          <p:cNvSpPr/>
          <p:nvPr/>
        </p:nvSpPr>
        <p:spPr>
          <a:xfrm>
            <a:off x="4663440" y="1481328"/>
            <a:ext cx="2834640" cy="256032"/>
          </a:xfrm>
          <a:prstGeom prst="rect">
            <a:avLst/>
          </a:prstGeom>
          <a:noFill/>
          <a:ln/>
        </p:spPr>
        <p:txBody>
          <a:bodyPr wrap="square" lIns="254" tIns="254" rIns="254" bIns="254" rtlCol="0" anchor="t">
            <a:normAutofit/>
          </a:bodyPr>
          <a:lstStyle/>
          <a:p>
            <a:pPr algn="ctr" indent="0" marL="0">
              <a:buNone/>
            </a:pPr>
            <a:r>
              <a:rPr lang="en-US" sz="1600" b="1" dirty="0">
                <a:solidFill>
                  <a:srgbClr val="0E7C86"/>
                </a:solidFill>
              </a:rPr>
              <a:t>2. Agent policy</a:t>
            </a:r>
            <a:endParaRPr lang="en-US" sz="1600" dirty="0"/>
          </a:p>
        </p:txBody>
      </p:sp>
      <p:sp>
        <p:nvSpPr>
          <p:cNvPr id="10" name="Text 8"/>
          <p:cNvSpPr/>
          <p:nvPr/>
        </p:nvSpPr>
        <p:spPr>
          <a:xfrm>
            <a:off x="4681728" y="1856232"/>
            <a:ext cx="2798064" cy="6858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At least one simple reflex policy implemented in code.</a:t>
            </a:r>
            <a:endParaRPr lang="en-US" sz="1270" dirty="0"/>
          </a:p>
        </p:txBody>
      </p:sp>
      <p:sp>
        <p:nvSpPr>
          <p:cNvPr id="11" name="Shape 9"/>
          <p:cNvSpPr/>
          <p:nvPr/>
        </p:nvSpPr>
        <p:spPr>
          <a:xfrm>
            <a:off x="8138160" y="1325880"/>
            <a:ext cx="3200400" cy="1325880"/>
          </a:xfrm>
          <a:prstGeom prst="roundRect">
            <a:avLst>
              <a:gd name="adj" fmla="val 8276"/>
            </a:avLst>
          </a:prstGeom>
          <a:solidFill>
            <a:srgbClr val="EFF6FF"/>
          </a:solidFill>
          <a:ln w="16510">
            <a:solidFill>
              <a:srgbClr val="3273DC"/>
            </a:solidFill>
            <a:prstDash val="solid"/>
          </a:ln>
        </p:spPr>
      </p:sp>
      <p:sp>
        <p:nvSpPr>
          <p:cNvPr id="12" name="Text 10"/>
          <p:cNvSpPr/>
          <p:nvPr/>
        </p:nvSpPr>
        <p:spPr>
          <a:xfrm>
            <a:off x="8321040" y="1481328"/>
            <a:ext cx="283464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3. Simulation trace</a:t>
            </a:r>
            <a:endParaRPr lang="en-US" sz="1600" dirty="0"/>
          </a:p>
        </p:txBody>
      </p:sp>
      <p:sp>
        <p:nvSpPr>
          <p:cNvPr id="13" name="Text 11"/>
          <p:cNvSpPr/>
          <p:nvPr/>
        </p:nvSpPr>
        <p:spPr>
          <a:xfrm>
            <a:off x="8339328" y="1856232"/>
            <a:ext cx="2798064" cy="6858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A printed trace showing percept, action, new state, and score.</a:t>
            </a:r>
            <a:endParaRPr lang="en-US" sz="1270" dirty="0"/>
          </a:p>
        </p:txBody>
      </p:sp>
      <p:sp>
        <p:nvSpPr>
          <p:cNvPr id="14" name="Shape 12"/>
          <p:cNvSpPr/>
          <p:nvPr/>
        </p:nvSpPr>
        <p:spPr>
          <a:xfrm>
            <a:off x="2651760" y="3520440"/>
            <a:ext cx="3200400" cy="1325880"/>
          </a:xfrm>
          <a:prstGeom prst="roundRect">
            <a:avLst>
              <a:gd name="adj" fmla="val 8276"/>
            </a:avLst>
          </a:prstGeom>
          <a:solidFill>
            <a:srgbClr val="F3EEFF"/>
          </a:solidFill>
          <a:ln w="16510">
            <a:solidFill>
              <a:srgbClr val="6B46C1"/>
            </a:solidFill>
            <a:prstDash val="solid"/>
          </a:ln>
        </p:spPr>
      </p:sp>
      <p:sp>
        <p:nvSpPr>
          <p:cNvPr id="15" name="Text 13"/>
          <p:cNvSpPr/>
          <p:nvPr/>
        </p:nvSpPr>
        <p:spPr>
          <a:xfrm>
            <a:off x="2834640" y="3675888"/>
            <a:ext cx="2834640" cy="256032"/>
          </a:xfrm>
          <a:prstGeom prst="rect">
            <a:avLst/>
          </a:prstGeom>
          <a:noFill/>
          <a:ln/>
        </p:spPr>
        <p:txBody>
          <a:bodyPr wrap="square" lIns="254" tIns="254" rIns="254" bIns="254" rtlCol="0" anchor="t">
            <a:normAutofit/>
          </a:bodyPr>
          <a:lstStyle/>
          <a:p>
            <a:pPr algn="ctr" indent="0" marL="0">
              <a:buNone/>
            </a:pPr>
            <a:r>
              <a:rPr lang="en-US" sz="1600" b="1" dirty="0">
                <a:solidFill>
                  <a:srgbClr val="6B46C1"/>
                </a:solidFill>
              </a:rPr>
              <a:t>4. Reflection</a:t>
            </a:r>
            <a:endParaRPr lang="en-US" sz="1600" dirty="0"/>
          </a:p>
        </p:txBody>
      </p:sp>
      <p:sp>
        <p:nvSpPr>
          <p:cNvPr id="16" name="Text 14"/>
          <p:cNvSpPr/>
          <p:nvPr/>
        </p:nvSpPr>
        <p:spPr>
          <a:xfrm>
            <a:off x="2852928" y="4050792"/>
            <a:ext cx="2798064" cy="6858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Explain when your agent is rational and when it fails.</a:t>
            </a:r>
            <a:endParaRPr lang="en-US" sz="1270" dirty="0"/>
          </a:p>
        </p:txBody>
      </p:sp>
      <p:sp>
        <p:nvSpPr>
          <p:cNvPr id="17" name="Shape 15"/>
          <p:cNvSpPr/>
          <p:nvPr/>
        </p:nvSpPr>
        <p:spPr>
          <a:xfrm>
            <a:off x="6309360" y="3520440"/>
            <a:ext cx="3200400" cy="1325880"/>
          </a:xfrm>
          <a:prstGeom prst="roundRect">
            <a:avLst>
              <a:gd name="adj" fmla="val 8276"/>
            </a:avLst>
          </a:prstGeom>
          <a:solidFill>
            <a:srgbClr val="E9F7EF"/>
          </a:solidFill>
          <a:ln w="16510">
            <a:solidFill>
              <a:srgbClr val="2F855A"/>
            </a:solidFill>
            <a:prstDash val="solid"/>
          </a:ln>
        </p:spPr>
      </p:sp>
      <p:sp>
        <p:nvSpPr>
          <p:cNvPr id="18" name="Text 16"/>
          <p:cNvSpPr/>
          <p:nvPr/>
        </p:nvSpPr>
        <p:spPr>
          <a:xfrm>
            <a:off x="6492240" y="3675888"/>
            <a:ext cx="283464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5. Extension</a:t>
            </a:r>
            <a:endParaRPr lang="en-US" sz="1600" dirty="0"/>
          </a:p>
        </p:txBody>
      </p:sp>
      <p:sp>
        <p:nvSpPr>
          <p:cNvPr id="19" name="Text 17"/>
          <p:cNvSpPr/>
          <p:nvPr/>
        </p:nvSpPr>
        <p:spPr>
          <a:xfrm>
            <a:off x="6510528" y="4050792"/>
            <a:ext cx="2798064" cy="68580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Optional: add walls, stochastic dirt, or partial observability.</a:t>
            </a:r>
            <a:endParaRPr lang="en-US" sz="1270" dirty="0"/>
          </a:p>
        </p:txBody>
      </p:sp>
      <p:sp>
        <p:nvSpPr>
          <p:cNvPr id="20" name="Text 18"/>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1" name="Text 19"/>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30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Common bugs in first agent simulations</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Most errors come from hidden assumptions.</a:t>
            </a:r>
            <a:endParaRPr lang="en-US" sz="1150" dirty="0"/>
          </a:p>
        </p:txBody>
      </p:sp>
      <p:sp>
        <p:nvSpPr>
          <p:cNvPr id="5" name="Shape 3"/>
          <p:cNvSpPr/>
          <p:nvPr/>
        </p:nvSpPr>
        <p:spPr>
          <a:xfrm>
            <a:off x="777240" y="1325880"/>
            <a:ext cx="3246120" cy="1417320"/>
          </a:xfrm>
          <a:prstGeom prst="roundRect">
            <a:avLst>
              <a:gd name="adj" fmla="val 7742"/>
            </a:avLst>
          </a:prstGeom>
          <a:solidFill>
            <a:srgbClr val="FFF1F0"/>
          </a:solidFill>
          <a:ln w="16510">
            <a:solidFill>
              <a:srgbClr val="C53030"/>
            </a:solidFill>
            <a:prstDash val="solid"/>
          </a:ln>
        </p:spPr>
      </p:sp>
      <p:sp>
        <p:nvSpPr>
          <p:cNvPr id="6" name="Text 4"/>
          <p:cNvSpPr/>
          <p:nvPr/>
        </p:nvSpPr>
        <p:spPr>
          <a:xfrm>
            <a:off x="960120" y="1481328"/>
            <a:ext cx="2880360" cy="256032"/>
          </a:xfrm>
          <a:prstGeom prst="rect">
            <a:avLst/>
          </a:prstGeom>
          <a:noFill/>
          <a:ln/>
        </p:spPr>
        <p:txBody>
          <a:bodyPr wrap="square" lIns="254" tIns="254" rIns="254" bIns="254" rtlCol="0" anchor="t">
            <a:normAutofit/>
          </a:bodyPr>
          <a:lstStyle/>
          <a:p>
            <a:pPr algn="ctr" indent="0" marL="0">
              <a:buNone/>
            </a:pPr>
            <a:r>
              <a:rPr lang="en-US" sz="1600" b="1" dirty="0">
                <a:solidFill>
                  <a:srgbClr val="C53030"/>
                </a:solidFill>
              </a:rPr>
              <a:t>State mutation</a:t>
            </a:r>
            <a:endParaRPr lang="en-US" sz="1600" dirty="0"/>
          </a:p>
        </p:txBody>
      </p:sp>
      <p:sp>
        <p:nvSpPr>
          <p:cNvPr id="7" name="Text 5"/>
          <p:cNvSpPr/>
          <p:nvPr/>
        </p:nvSpPr>
        <p:spPr>
          <a:xfrm>
            <a:off x="978408" y="1856232"/>
            <a:ext cx="284378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The environment changes a dictionary or list unexpectedly across steps.</a:t>
            </a:r>
            <a:endParaRPr lang="en-US" sz="1270" dirty="0"/>
          </a:p>
        </p:txBody>
      </p:sp>
      <p:sp>
        <p:nvSpPr>
          <p:cNvPr id="8" name="Shape 6"/>
          <p:cNvSpPr/>
          <p:nvPr/>
        </p:nvSpPr>
        <p:spPr>
          <a:xfrm>
            <a:off x="4480560" y="1325880"/>
            <a:ext cx="3246120" cy="1417320"/>
          </a:xfrm>
          <a:prstGeom prst="roundRect">
            <a:avLst>
              <a:gd name="adj" fmla="val 7742"/>
            </a:avLst>
          </a:prstGeom>
          <a:solidFill>
            <a:srgbClr val="FFF3E8"/>
          </a:solidFill>
          <a:ln w="16510">
            <a:solidFill>
              <a:srgbClr val="DD6B20"/>
            </a:solidFill>
            <a:prstDash val="solid"/>
          </a:ln>
        </p:spPr>
      </p:sp>
      <p:sp>
        <p:nvSpPr>
          <p:cNvPr id="9" name="Text 7"/>
          <p:cNvSpPr/>
          <p:nvPr/>
        </p:nvSpPr>
        <p:spPr>
          <a:xfrm>
            <a:off x="4663440" y="1481328"/>
            <a:ext cx="2880360" cy="256032"/>
          </a:xfrm>
          <a:prstGeom prst="rect">
            <a:avLst/>
          </a:prstGeom>
          <a:noFill/>
          <a:ln/>
        </p:spPr>
        <p:txBody>
          <a:bodyPr wrap="square" lIns="254" tIns="254" rIns="254" bIns="254" rtlCol="0" anchor="t">
            <a:normAutofit/>
          </a:bodyPr>
          <a:lstStyle/>
          <a:p>
            <a:pPr algn="ctr" indent="0" marL="0">
              <a:buNone/>
            </a:pPr>
            <a:r>
              <a:rPr lang="en-US" sz="1600" b="1" dirty="0">
                <a:solidFill>
                  <a:srgbClr val="DD6B20"/>
                </a:solidFill>
              </a:rPr>
              <a:t>Coordinate confusion</a:t>
            </a:r>
            <a:endParaRPr lang="en-US" sz="1600" dirty="0"/>
          </a:p>
        </p:txBody>
      </p:sp>
      <p:sp>
        <p:nvSpPr>
          <p:cNvPr id="10" name="Text 8"/>
          <p:cNvSpPr/>
          <p:nvPr/>
        </p:nvSpPr>
        <p:spPr>
          <a:xfrm>
            <a:off x="4681728" y="1856232"/>
            <a:ext cx="284378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Rows vs. columns or x vs. y are flipped.</a:t>
            </a:r>
            <a:endParaRPr lang="en-US" sz="1270" dirty="0"/>
          </a:p>
        </p:txBody>
      </p:sp>
      <p:sp>
        <p:nvSpPr>
          <p:cNvPr id="11" name="Shape 9"/>
          <p:cNvSpPr/>
          <p:nvPr/>
        </p:nvSpPr>
        <p:spPr>
          <a:xfrm>
            <a:off x="8183880" y="1325880"/>
            <a:ext cx="3246120" cy="1417320"/>
          </a:xfrm>
          <a:prstGeom prst="roundRect">
            <a:avLst>
              <a:gd name="adj" fmla="val 7742"/>
            </a:avLst>
          </a:prstGeom>
          <a:solidFill>
            <a:srgbClr val="FFF7E0"/>
          </a:solidFill>
          <a:ln w="16510">
            <a:solidFill>
              <a:srgbClr val="C99700"/>
            </a:solidFill>
            <a:prstDash val="solid"/>
          </a:ln>
        </p:spPr>
      </p:sp>
      <p:sp>
        <p:nvSpPr>
          <p:cNvPr id="12" name="Text 10"/>
          <p:cNvSpPr/>
          <p:nvPr/>
        </p:nvSpPr>
        <p:spPr>
          <a:xfrm>
            <a:off x="8366760" y="1481328"/>
            <a:ext cx="288036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Reward leakage</a:t>
            </a:r>
            <a:endParaRPr lang="en-US" sz="1600" dirty="0"/>
          </a:p>
        </p:txBody>
      </p:sp>
      <p:sp>
        <p:nvSpPr>
          <p:cNvPr id="13" name="Text 11"/>
          <p:cNvSpPr/>
          <p:nvPr/>
        </p:nvSpPr>
        <p:spPr>
          <a:xfrm>
            <a:off x="8385048" y="1856232"/>
            <a:ext cx="284378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The agent gets credit twice or misses penalties.</a:t>
            </a:r>
            <a:endParaRPr lang="en-US" sz="1270" dirty="0"/>
          </a:p>
        </p:txBody>
      </p:sp>
      <p:sp>
        <p:nvSpPr>
          <p:cNvPr id="14" name="Shape 12"/>
          <p:cNvSpPr/>
          <p:nvPr/>
        </p:nvSpPr>
        <p:spPr>
          <a:xfrm>
            <a:off x="2606040" y="3520440"/>
            <a:ext cx="3246120" cy="1417320"/>
          </a:xfrm>
          <a:prstGeom prst="roundRect">
            <a:avLst>
              <a:gd name="adj" fmla="val 7742"/>
            </a:avLst>
          </a:prstGeom>
          <a:solidFill>
            <a:srgbClr val="EFF6FF"/>
          </a:solidFill>
          <a:ln w="16510">
            <a:solidFill>
              <a:srgbClr val="3273DC"/>
            </a:solidFill>
            <a:prstDash val="solid"/>
          </a:ln>
        </p:spPr>
      </p:sp>
      <p:sp>
        <p:nvSpPr>
          <p:cNvPr id="15" name="Text 13"/>
          <p:cNvSpPr/>
          <p:nvPr/>
        </p:nvSpPr>
        <p:spPr>
          <a:xfrm>
            <a:off x="2788920" y="3675888"/>
            <a:ext cx="288036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Invalid moves</a:t>
            </a:r>
            <a:endParaRPr lang="en-US" sz="1600" dirty="0"/>
          </a:p>
        </p:txBody>
      </p:sp>
      <p:sp>
        <p:nvSpPr>
          <p:cNvPr id="16" name="Text 14"/>
          <p:cNvSpPr/>
          <p:nvPr/>
        </p:nvSpPr>
        <p:spPr>
          <a:xfrm>
            <a:off x="2807208" y="4050792"/>
            <a:ext cx="284378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Walking through walls or outside the grid changes state incorrectly.</a:t>
            </a:r>
            <a:endParaRPr lang="en-US" sz="1270" dirty="0"/>
          </a:p>
        </p:txBody>
      </p:sp>
      <p:sp>
        <p:nvSpPr>
          <p:cNvPr id="17" name="Shape 15"/>
          <p:cNvSpPr/>
          <p:nvPr/>
        </p:nvSpPr>
        <p:spPr>
          <a:xfrm>
            <a:off x="6355080" y="3520440"/>
            <a:ext cx="3246120" cy="1417320"/>
          </a:xfrm>
          <a:prstGeom prst="roundRect">
            <a:avLst>
              <a:gd name="adj" fmla="val 7742"/>
            </a:avLst>
          </a:prstGeom>
          <a:solidFill>
            <a:srgbClr val="F3EEFF"/>
          </a:solidFill>
          <a:ln w="16510">
            <a:solidFill>
              <a:srgbClr val="6B46C1"/>
            </a:solidFill>
            <a:prstDash val="solid"/>
          </a:ln>
        </p:spPr>
      </p:sp>
      <p:sp>
        <p:nvSpPr>
          <p:cNvPr id="18" name="Text 16"/>
          <p:cNvSpPr/>
          <p:nvPr/>
        </p:nvSpPr>
        <p:spPr>
          <a:xfrm>
            <a:off x="6537960" y="3675888"/>
            <a:ext cx="2880360" cy="256032"/>
          </a:xfrm>
          <a:prstGeom prst="rect">
            <a:avLst/>
          </a:prstGeom>
          <a:noFill/>
          <a:ln/>
        </p:spPr>
        <p:txBody>
          <a:bodyPr wrap="square" lIns="254" tIns="254" rIns="254" bIns="254" rtlCol="0" anchor="t">
            <a:normAutofit/>
          </a:bodyPr>
          <a:lstStyle/>
          <a:p>
            <a:pPr algn="ctr" indent="0" marL="0">
              <a:buNone/>
            </a:pPr>
            <a:r>
              <a:rPr lang="en-US" sz="1600" b="1" dirty="0">
                <a:solidFill>
                  <a:srgbClr val="6B46C1"/>
                </a:solidFill>
              </a:rPr>
              <a:t>No trace</a:t>
            </a:r>
            <a:endParaRPr lang="en-US" sz="1600" dirty="0"/>
          </a:p>
        </p:txBody>
      </p:sp>
      <p:sp>
        <p:nvSpPr>
          <p:cNvPr id="19" name="Text 17"/>
          <p:cNvSpPr/>
          <p:nvPr/>
        </p:nvSpPr>
        <p:spPr>
          <a:xfrm>
            <a:off x="6556248" y="4050792"/>
            <a:ext cx="284378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The simulation only prints final score, making bugs hard to see.</a:t>
            </a:r>
            <a:endParaRPr lang="en-US" sz="1270" dirty="0"/>
          </a:p>
        </p:txBody>
      </p:sp>
      <p:sp>
        <p:nvSpPr>
          <p:cNvPr id="20" name="Text 18"/>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1" name="Text 19"/>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31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In-class activity: design before coding</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Choose one scenario and write PEAS + environment properties.</a:t>
            </a:r>
            <a:endParaRPr lang="en-US" sz="1150" dirty="0"/>
          </a:p>
        </p:txBody>
      </p:sp>
      <p:sp>
        <p:nvSpPr>
          <p:cNvPr id="5" name="Shape 3"/>
          <p:cNvSpPr/>
          <p:nvPr/>
        </p:nvSpPr>
        <p:spPr>
          <a:xfrm>
            <a:off x="822960" y="1325880"/>
            <a:ext cx="3200400" cy="1600200"/>
          </a:xfrm>
          <a:prstGeom prst="roundRect">
            <a:avLst>
              <a:gd name="adj" fmla="val 6857"/>
            </a:avLst>
          </a:prstGeom>
          <a:solidFill>
            <a:srgbClr val="FFFFFF"/>
          </a:solidFill>
          <a:ln w="16510">
            <a:solidFill>
              <a:srgbClr val="2F855A"/>
            </a:solidFill>
            <a:prstDash val="solid"/>
          </a:ln>
        </p:spPr>
      </p:sp>
      <p:sp>
        <p:nvSpPr>
          <p:cNvPr id="6" name="Text 4"/>
          <p:cNvSpPr/>
          <p:nvPr/>
        </p:nvSpPr>
        <p:spPr>
          <a:xfrm>
            <a:off x="1005840" y="1481328"/>
            <a:ext cx="2834640" cy="256032"/>
          </a:xfrm>
          <a:prstGeom prst="rect">
            <a:avLst/>
          </a:prstGeom>
          <a:noFill/>
          <a:ln/>
        </p:spPr>
        <p:txBody>
          <a:bodyPr wrap="square" lIns="254" tIns="254" rIns="254" bIns="254" rtlCol="0" anchor="t">
            <a:normAutofit/>
          </a:bodyPr>
          <a:lstStyle/>
          <a:p>
            <a:pPr algn="ctr" indent="0" marL="0">
              <a:buNone/>
            </a:pPr>
            <a:r>
              <a:rPr lang="en-US" sz="1600" b="1" dirty="0">
                <a:solidFill>
                  <a:srgbClr val="2F855A"/>
                </a:solidFill>
              </a:rPr>
              <a:t>Campus delivery robot</a:t>
            </a:r>
            <a:endParaRPr lang="en-US" sz="1600" dirty="0"/>
          </a:p>
        </p:txBody>
      </p:sp>
      <p:sp>
        <p:nvSpPr>
          <p:cNvPr id="7" name="Text 5"/>
          <p:cNvSpPr/>
          <p:nvPr/>
        </p:nvSpPr>
        <p:spPr>
          <a:xfrm>
            <a:off x="1024128" y="1856232"/>
            <a:ext cx="2798064" cy="9601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Deliver items between buildings without blocking pedestrians.</a:t>
            </a:r>
            <a:endParaRPr lang="en-US" sz="1270" dirty="0"/>
          </a:p>
        </p:txBody>
      </p:sp>
      <p:sp>
        <p:nvSpPr>
          <p:cNvPr id="8" name="Shape 6"/>
          <p:cNvSpPr/>
          <p:nvPr/>
        </p:nvSpPr>
        <p:spPr>
          <a:xfrm>
            <a:off x="4572000" y="1325880"/>
            <a:ext cx="3200400" cy="1600200"/>
          </a:xfrm>
          <a:prstGeom prst="roundRect">
            <a:avLst>
              <a:gd name="adj" fmla="val 6857"/>
            </a:avLst>
          </a:prstGeom>
          <a:solidFill>
            <a:srgbClr val="FFFFFF"/>
          </a:solidFill>
          <a:ln w="16510">
            <a:solidFill>
              <a:srgbClr val="3273DC"/>
            </a:solidFill>
            <a:prstDash val="solid"/>
          </a:ln>
        </p:spPr>
      </p:sp>
      <p:sp>
        <p:nvSpPr>
          <p:cNvPr id="9" name="Text 7"/>
          <p:cNvSpPr/>
          <p:nvPr/>
        </p:nvSpPr>
        <p:spPr>
          <a:xfrm>
            <a:off x="4754880" y="1481328"/>
            <a:ext cx="283464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Email triage agent</a:t>
            </a:r>
            <a:endParaRPr lang="en-US" sz="1600" dirty="0"/>
          </a:p>
        </p:txBody>
      </p:sp>
      <p:sp>
        <p:nvSpPr>
          <p:cNvPr id="10" name="Text 8"/>
          <p:cNvSpPr/>
          <p:nvPr/>
        </p:nvSpPr>
        <p:spPr>
          <a:xfrm>
            <a:off x="4773168" y="1856232"/>
            <a:ext cx="2798064" cy="9601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Prioritize incoming email without hiding important messages.</a:t>
            </a:r>
            <a:endParaRPr lang="en-US" sz="1270" dirty="0"/>
          </a:p>
        </p:txBody>
      </p:sp>
      <p:sp>
        <p:nvSpPr>
          <p:cNvPr id="11" name="Shape 9"/>
          <p:cNvSpPr/>
          <p:nvPr/>
        </p:nvSpPr>
        <p:spPr>
          <a:xfrm>
            <a:off x="8321040" y="1325880"/>
            <a:ext cx="3200400" cy="1600200"/>
          </a:xfrm>
          <a:prstGeom prst="roundRect">
            <a:avLst>
              <a:gd name="adj" fmla="val 6857"/>
            </a:avLst>
          </a:prstGeom>
          <a:solidFill>
            <a:srgbClr val="FFFFFF"/>
          </a:solidFill>
          <a:ln w="16510">
            <a:solidFill>
              <a:srgbClr val="C99700"/>
            </a:solidFill>
            <a:prstDash val="solid"/>
          </a:ln>
        </p:spPr>
      </p:sp>
      <p:sp>
        <p:nvSpPr>
          <p:cNvPr id="12" name="Text 10"/>
          <p:cNvSpPr/>
          <p:nvPr/>
        </p:nvSpPr>
        <p:spPr>
          <a:xfrm>
            <a:off x="8503920" y="1481328"/>
            <a:ext cx="283464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Grid-world cleaner</a:t>
            </a:r>
            <a:endParaRPr lang="en-US" sz="1600" dirty="0"/>
          </a:p>
        </p:txBody>
      </p:sp>
      <p:sp>
        <p:nvSpPr>
          <p:cNvPr id="13" name="Text 11"/>
          <p:cNvSpPr/>
          <p:nvPr/>
        </p:nvSpPr>
        <p:spPr>
          <a:xfrm>
            <a:off x="8522208" y="1856232"/>
            <a:ext cx="2798064" cy="96012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Clean cells efficiently with limited sensors.</a:t>
            </a:r>
            <a:endParaRPr lang="en-US" sz="1270" dirty="0"/>
          </a:p>
        </p:txBody>
      </p:sp>
      <p:sp>
        <p:nvSpPr>
          <p:cNvPr id="14" name="Text 12"/>
          <p:cNvSpPr/>
          <p:nvPr/>
        </p:nvSpPr>
        <p:spPr>
          <a:xfrm>
            <a:off x="1005840" y="4023360"/>
            <a:ext cx="2011680" cy="256032"/>
          </a:xfrm>
          <a:prstGeom prst="rect">
            <a:avLst/>
          </a:prstGeom>
          <a:noFill/>
          <a:ln/>
        </p:spPr>
        <p:txBody>
          <a:bodyPr wrap="square" lIns="254" tIns="254" rIns="254" bIns="254" rtlCol="0" anchor="t">
            <a:normAutofit/>
          </a:bodyPr>
          <a:lstStyle/>
          <a:p>
            <a:pPr algn="l" indent="0" marL="0">
              <a:buNone/>
            </a:pPr>
            <a:r>
              <a:rPr lang="en-US" sz="2000" b="1" dirty="0">
                <a:solidFill>
                  <a:srgbClr val="002B49"/>
                </a:solidFill>
              </a:rPr>
              <a:t>Group output</a:t>
            </a:r>
            <a:endParaRPr lang="en-US" sz="2000" dirty="0"/>
          </a:p>
        </p:txBody>
      </p:sp>
      <p:sp>
        <p:nvSpPr>
          <p:cNvPr id="15" name="Text 13"/>
          <p:cNvSpPr/>
          <p:nvPr/>
        </p:nvSpPr>
        <p:spPr>
          <a:xfrm>
            <a:off x="1143000" y="4480560"/>
            <a:ext cx="9692640" cy="1005840"/>
          </a:xfrm>
          <a:prstGeom prst="rect">
            <a:avLst/>
          </a:prstGeom>
          <a:noFill/>
          <a:ln/>
        </p:spPr>
        <p:txBody>
          <a:bodyPr wrap="square" lIns="381" tIns="381" rIns="381" bIns="381" rtlCol="0" anchor="ctr">
            <a:normAutofit/>
          </a:bodyPr>
          <a:lstStyle/>
          <a:p>
            <a:pPr marL="228600" indent="-228600">
              <a:buSzPct val="100000"/>
              <a:buChar char="•"/>
            </a:pPr>
            <a:r>
              <a:rPr lang="en-US" sz="1600" dirty="0">
                <a:solidFill>
                  <a:srgbClr val="111827"/>
                </a:solidFill>
              </a:rPr>
              <a:t>One PEAS table
</a:t>
            </a:r>
            <a:endParaRPr lang="en-US" sz="1600" dirty="0"/>
          </a:p>
          <a:p>
            <a:pPr marL="228600" indent="-228600">
              <a:buSzPct val="100000"/>
              <a:buChar char="•"/>
            </a:pPr>
            <a:r>
              <a:rPr lang="en-US" sz="1600" dirty="0">
                <a:solidFill>
                  <a:srgbClr val="111827"/>
                </a:solidFill>
              </a:rPr>
              <a:t>One environment classification
</a:t>
            </a:r>
            <a:endParaRPr lang="en-US" sz="1600" dirty="0"/>
          </a:p>
          <a:p>
            <a:pPr marL="228600" indent="-228600">
              <a:buSzPct val="100000"/>
              <a:buChar char="•"/>
            </a:pPr>
            <a:r>
              <a:rPr lang="en-US" sz="1600" dirty="0">
                <a:solidFill>
                  <a:srgbClr val="111827"/>
                </a:solidFill>
              </a:rPr>
              <a:t>One agent design choice and why</a:t>
            </a:r>
            <a:endParaRPr lang="en-US" sz="1600" dirty="0"/>
          </a:p>
        </p:txBody>
      </p:sp>
      <p:sp>
        <p:nvSpPr>
          <p:cNvPr id="16" name="Text 14"/>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7" name="Text 15"/>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32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Exit ticket</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Five minutes: make the agent lens stick.</a:t>
            </a:r>
            <a:endParaRPr lang="en-US" sz="1150" dirty="0"/>
          </a:p>
        </p:txBody>
      </p:sp>
      <p:sp>
        <p:nvSpPr>
          <p:cNvPr id="5" name="Shape 3"/>
          <p:cNvSpPr/>
          <p:nvPr/>
        </p:nvSpPr>
        <p:spPr>
          <a:xfrm>
            <a:off x="868680" y="1417320"/>
            <a:ext cx="3291840" cy="1417320"/>
          </a:xfrm>
          <a:prstGeom prst="roundRect">
            <a:avLst>
              <a:gd name="adj" fmla="val 7742"/>
            </a:avLst>
          </a:prstGeom>
          <a:solidFill>
            <a:srgbClr val="FFF7E0"/>
          </a:solidFill>
          <a:ln w="16510">
            <a:solidFill>
              <a:srgbClr val="C99700"/>
            </a:solidFill>
            <a:prstDash val="solid"/>
          </a:ln>
        </p:spPr>
      </p:sp>
      <p:sp>
        <p:nvSpPr>
          <p:cNvPr id="6" name="Text 4"/>
          <p:cNvSpPr/>
          <p:nvPr/>
        </p:nvSpPr>
        <p:spPr>
          <a:xfrm>
            <a:off x="1051560" y="1572768"/>
            <a:ext cx="2926080" cy="256032"/>
          </a:xfrm>
          <a:prstGeom prst="rect">
            <a:avLst/>
          </a:prstGeom>
          <a:noFill/>
          <a:ln/>
        </p:spPr>
        <p:txBody>
          <a:bodyPr wrap="square" lIns="254" tIns="254" rIns="254" bIns="254" rtlCol="0" anchor="t">
            <a:normAutofit/>
          </a:bodyPr>
          <a:lstStyle/>
          <a:p>
            <a:pPr algn="ctr" indent="0" marL="0">
              <a:buNone/>
            </a:pPr>
            <a:r>
              <a:rPr lang="en-US" sz="1600" b="1" dirty="0">
                <a:solidFill>
                  <a:srgbClr val="C99700"/>
                </a:solidFill>
              </a:rPr>
              <a:t>Question 1</a:t>
            </a:r>
            <a:endParaRPr lang="en-US" sz="1600" dirty="0"/>
          </a:p>
        </p:txBody>
      </p:sp>
      <p:sp>
        <p:nvSpPr>
          <p:cNvPr id="7" name="Text 5"/>
          <p:cNvSpPr/>
          <p:nvPr/>
        </p:nvSpPr>
        <p:spPr>
          <a:xfrm>
            <a:off x="1069848" y="1947672"/>
            <a:ext cx="288950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What is one AI system you can describe using PEAS?</a:t>
            </a:r>
            <a:endParaRPr lang="en-US" sz="1270" dirty="0"/>
          </a:p>
        </p:txBody>
      </p:sp>
      <p:sp>
        <p:nvSpPr>
          <p:cNvPr id="8" name="Shape 6"/>
          <p:cNvSpPr/>
          <p:nvPr/>
        </p:nvSpPr>
        <p:spPr>
          <a:xfrm>
            <a:off x="4480560" y="1417320"/>
            <a:ext cx="3291840" cy="1417320"/>
          </a:xfrm>
          <a:prstGeom prst="roundRect">
            <a:avLst>
              <a:gd name="adj" fmla="val 7742"/>
            </a:avLst>
          </a:prstGeom>
          <a:solidFill>
            <a:srgbClr val="FFF1F0"/>
          </a:solidFill>
          <a:ln w="16510">
            <a:solidFill>
              <a:srgbClr val="C53030"/>
            </a:solidFill>
            <a:prstDash val="solid"/>
          </a:ln>
        </p:spPr>
      </p:sp>
      <p:sp>
        <p:nvSpPr>
          <p:cNvPr id="9" name="Text 7"/>
          <p:cNvSpPr/>
          <p:nvPr/>
        </p:nvSpPr>
        <p:spPr>
          <a:xfrm>
            <a:off x="4663440" y="1572768"/>
            <a:ext cx="2926080" cy="256032"/>
          </a:xfrm>
          <a:prstGeom prst="rect">
            <a:avLst/>
          </a:prstGeom>
          <a:noFill/>
          <a:ln/>
        </p:spPr>
        <p:txBody>
          <a:bodyPr wrap="square" lIns="254" tIns="254" rIns="254" bIns="254" rtlCol="0" anchor="t">
            <a:normAutofit/>
          </a:bodyPr>
          <a:lstStyle/>
          <a:p>
            <a:pPr algn="ctr" indent="0" marL="0">
              <a:buNone/>
            </a:pPr>
            <a:r>
              <a:rPr lang="en-US" sz="1600" b="1" dirty="0">
                <a:solidFill>
                  <a:srgbClr val="C53030"/>
                </a:solidFill>
              </a:rPr>
              <a:t>Question 2</a:t>
            </a:r>
            <a:endParaRPr lang="en-US" sz="1600" dirty="0"/>
          </a:p>
        </p:txBody>
      </p:sp>
      <p:sp>
        <p:nvSpPr>
          <p:cNvPr id="10" name="Text 8"/>
          <p:cNvSpPr/>
          <p:nvPr/>
        </p:nvSpPr>
        <p:spPr>
          <a:xfrm>
            <a:off x="4681728" y="1947672"/>
            <a:ext cx="288950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What performance measure could cause that system to behave badly?</a:t>
            </a:r>
            <a:endParaRPr lang="en-US" sz="1270" dirty="0"/>
          </a:p>
        </p:txBody>
      </p:sp>
      <p:sp>
        <p:nvSpPr>
          <p:cNvPr id="11" name="Shape 9"/>
          <p:cNvSpPr/>
          <p:nvPr/>
        </p:nvSpPr>
        <p:spPr>
          <a:xfrm>
            <a:off x="8092440" y="1417320"/>
            <a:ext cx="3291840" cy="1417320"/>
          </a:xfrm>
          <a:prstGeom prst="roundRect">
            <a:avLst>
              <a:gd name="adj" fmla="val 7742"/>
            </a:avLst>
          </a:prstGeom>
          <a:solidFill>
            <a:srgbClr val="EFF6FF"/>
          </a:solidFill>
          <a:ln w="16510">
            <a:solidFill>
              <a:srgbClr val="3273DC"/>
            </a:solidFill>
            <a:prstDash val="solid"/>
          </a:ln>
        </p:spPr>
      </p:sp>
      <p:sp>
        <p:nvSpPr>
          <p:cNvPr id="12" name="Text 10"/>
          <p:cNvSpPr/>
          <p:nvPr/>
        </p:nvSpPr>
        <p:spPr>
          <a:xfrm>
            <a:off x="8275320" y="1572768"/>
            <a:ext cx="2926080" cy="256032"/>
          </a:xfrm>
          <a:prstGeom prst="rect">
            <a:avLst/>
          </a:prstGeom>
          <a:noFill/>
          <a:ln/>
        </p:spPr>
        <p:txBody>
          <a:bodyPr wrap="square" lIns="254" tIns="254" rIns="254" bIns="254" rtlCol="0" anchor="t">
            <a:normAutofit/>
          </a:bodyPr>
          <a:lstStyle/>
          <a:p>
            <a:pPr algn="ctr" indent="0" marL="0">
              <a:buNone/>
            </a:pPr>
            <a:r>
              <a:rPr lang="en-US" sz="1600" b="1" dirty="0">
                <a:solidFill>
                  <a:srgbClr val="3273DC"/>
                </a:solidFill>
              </a:rPr>
              <a:t>Question 3</a:t>
            </a:r>
            <a:endParaRPr lang="en-US" sz="1600" dirty="0"/>
          </a:p>
        </p:txBody>
      </p:sp>
      <p:sp>
        <p:nvSpPr>
          <p:cNvPr id="13" name="Text 11"/>
          <p:cNvSpPr/>
          <p:nvPr/>
        </p:nvSpPr>
        <p:spPr>
          <a:xfrm>
            <a:off x="8293608" y="1947672"/>
            <a:ext cx="2889504" cy="777240"/>
          </a:xfrm>
          <a:prstGeom prst="rect">
            <a:avLst/>
          </a:prstGeom>
          <a:noFill/>
          <a:ln/>
        </p:spPr>
        <p:txBody>
          <a:bodyPr wrap="square" lIns="254" tIns="254" rIns="254" bIns="254" rtlCol="0" anchor="ctr">
            <a:normAutofit/>
          </a:bodyPr>
          <a:lstStyle/>
          <a:p>
            <a:pPr algn="ctr" indent="0" marL="0">
              <a:buNone/>
            </a:pPr>
            <a:r>
              <a:rPr lang="en-US" sz="1270" dirty="0">
                <a:solidFill>
                  <a:srgbClr val="111827"/>
                </a:solidFill>
              </a:rPr>
              <a:t>What is one environment property that makes the task difficult?</a:t>
            </a:r>
            <a:endParaRPr lang="en-US" sz="1270" dirty="0"/>
          </a:p>
        </p:txBody>
      </p:sp>
      <p:sp>
        <p:nvSpPr>
          <p:cNvPr id="14" name="Shape 12"/>
          <p:cNvSpPr/>
          <p:nvPr/>
        </p:nvSpPr>
        <p:spPr>
          <a:xfrm>
            <a:off x="1325880" y="4297680"/>
            <a:ext cx="9555480" cy="685800"/>
          </a:xfrm>
          <a:prstGeom prst="roundRect">
            <a:avLst>
              <a:gd name="adj" fmla="val 16000"/>
            </a:avLst>
          </a:prstGeom>
          <a:solidFill>
            <a:srgbClr val="EAF1F8"/>
          </a:solidFill>
          <a:ln w="15240">
            <a:solidFill>
              <a:srgbClr val="002B49"/>
            </a:solidFill>
            <a:prstDash val="solid"/>
          </a:ln>
        </p:spPr>
      </p:sp>
      <p:sp>
        <p:nvSpPr>
          <p:cNvPr id="15" name="Text 13"/>
          <p:cNvSpPr/>
          <p:nvPr/>
        </p:nvSpPr>
        <p:spPr>
          <a:xfrm>
            <a:off x="1527048" y="4480560"/>
            <a:ext cx="9153144" cy="36576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Submit as a short response or discuss before leaving.</a:t>
            </a:r>
            <a:endParaRPr lang="en-US" sz="1600" dirty="0"/>
          </a:p>
        </p:txBody>
      </p:sp>
      <p:sp>
        <p:nvSpPr>
          <p:cNvPr id="16" name="Text 14"/>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7" name="Text 15"/>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33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Wrap-up: what to remember</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This week’s foundation will recur throughout the course.</a:t>
            </a:r>
            <a:endParaRPr lang="en-US" sz="1150" dirty="0"/>
          </a:p>
        </p:txBody>
      </p:sp>
      <p:sp>
        <p:nvSpPr>
          <p:cNvPr id="5" name="Shape 3"/>
          <p:cNvSpPr/>
          <p:nvPr/>
        </p:nvSpPr>
        <p:spPr>
          <a:xfrm>
            <a:off x="822960" y="1143000"/>
            <a:ext cx="566928" cy="566928"/>
          </a:xfrm>
          <a:prstGeom prst="ellipse">
            <a:avLst/>
          </a:prstGeom>
          <a:solidFill>
            <a:srgbClr val="C99700"/>
          </a:solidFill>
          <a:ln w="12700">
            <a:solidFill>
              <a:srgbClr val="C99700"/>
            </a:solidFill>
            <a:prstDash val="solid"/>
          </a:ln>
        </p:spPr>
      </p:sp>
      <p:sp>
        <p:nvSpPr>
          <p:cNvPr id="6" name="Text 4"/>
          <p:cNvSpPr/>
          <p:nvPr/>
        </p:nvSpPr>
        <p:spPr>
          <a:xfrm>
            <a:off x="822960" y="1280160"/>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1</a:t>
            </a:r>
            <a:endParaRPr lang="en-US" sz="1400" dirty="0"/>
          </a:p>
        </p:txBody>
      </p:sp>
      <p:sp>
        <p:nvSpPr>
          <p:cNvPr id="7" name="Text 5"/>
          <p:cNvSpPr/>
          <p:nvPr/>
        </p:nvSpPr>
        <p:spPr>
          <a:xfrm>
            <a:off x="1554480" y="1207008"/>
            <a:ext cx="2926080" cy="219456"/>
          </a:xfrm>
          <a:prstGeom prst="rect">
            <a:avLst/>
          </a:prstGeom>
          <a:noFill/>
          <a:ln/>
        </p:spPr>
        <p:txBody>
          <a:bodyPr wrap="square" lIns="254" tIns="254" rIns="254" bIns="254" rtlCol="0" anchor="t">
            <a:normAutofit/>
          </a:bodyPr>
          <a:lstStyle/>
          <a:p>
            <a:pPr algn="l" indent="0" marL="0">
              <a:buNone/>
            </a:pPr>
            <a:r>
              <a:rPr lang="en-US" sz="1650" b="1" dirty="0">
                <a:solidFill>
                  <a:srgbClr val="002B49"/>
                </a:solidFill>
              </a:rPr>
              <a:t>AI as agent design</a:t>
            </a:r>
            <a:endParaRPr lang="en-US" sz="1650" dirty="0"/>
          </a:p>
        </p:txBody>
      </p:sp>
      <p:sp>
        <p:nvSpPr>
          <p:cNvPr id="8" name="Text 6"/>
          <p:cNvSpPr/>
          <p:nvPr/>
        </p:nvSpPr>
        <p:spPr>
          <a:xfrm>
            <a:off x="4663440" y="1216152"/>
            <a:ext cx="6126480" cy="274320"/>
          </a:xfrm>
          <a:prstGeom prst="rect">
            <a:avLst/>
          </a:prstGeom>
          <a:noFill/>
          <a:ln/>
        </p:spPr>
        <p:txBody>
          <a:bodyPr wrap="square" lIns="254" tIns="254" rIns="254" bIns="254" rtlCol="0" anchor="t">
            <a:normAutofit/>
          </a:bodyPr>
          <a:lstStyle/>
          <a:p>
            <a:pPr algn="l" indent="0" marL="0">
              <a:buNone/>
            </a:pPr>
            <a:r>
              <a:rPr lang="en-US" sz="1380" dirty="0">
                <a:solidFill>
                  <a:srgbClr val="111827"/>
                </a:solidFill>
              </a:rPr>
              <a:t>Systems perceive, decide, and act in environments.</a:t>
            </a:r>
            <a:endParaRPr lang="en-US" sz="1380" dirty="0"/>
          </a:p>
        </p:txBody>
      </p:sp>
      <p:sp>
        <p:nvSpPr>
          <p:cNvPr id="9" name="Shape 7"/>
          <p:cNvSpPr/>
          <p:nvPr/>
        </p:nvSpPr>
        <p:spPr>
          <a:xfrm>
            <a:off x="822960" y="1947672"/>
            <a:ext cx="566928" cy="566928"/>
          </a:xfrm>
          <a:prstGeom prst="ellipse">
            <a:avLst/>
          </a:prstGeom>
          <a:solidFill>
            <a:srgbClr val="0E7C86"/>
          </a:solidFill>
          <a:ln w="12700">
            <a:solidFill>
              <a:srgbClr val="0E7C86"/>
            </a:solidFill>
            <a:prstDash val="solid"/>
          </a:ln>
        </p:spPr>
      </p:sp>
      <p:sp>
        <p:nvSpPr>
          <p:cNvPr id="10" name="Text 8"/>
          <p:cNvSpPr/>
          <p:nvPr/>
        </p:nvSpPr>
        <p:spPr>
          <a:xfrm>
            <a:off x="822960" y="2084832"/>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2</a:t>
            </a:r>
            <a:endParaRPr lang="en-US" sz="1400" dirty="0"/>
          </a:p>
        </p:txBody>
      </p:sp>
      <p:sp>
        <p:nvSpPr>
          <p:cNvPr id="11" name="Text 9"/>
          <p:cNvSpPr/>
          <p:nvPr/>
        </p:nvSpPr>
        <p:spPr>
          <a:xfrm>
            <a:off x="1554480" y="2011680"/>
            <a:ext cx="2926080" cy="219456"/>
          </a:xfrm>
          <a:prstGeom prst="rect">
            <a:avLst/>
          </a:prstGeom>
          <a:noFill/>
          <a:ln/>
        </p:spPr>
        <p:txBody>
          <a:bodyPr wrap="square" lIns="254" tIns="254" rIns="254" bIns="254" rtlCol="0" anchor="t">
            <a:normAutofit/>
          </a:bodyPr>
          <a:lstStyle/>
          <a:p>
            <a:pPr algn="l" indent="0" marL="0">
              <a:buNone/>
            </a:pPr>
            <a:r>
              <a:rPr lang="en-US" sz="1650" b="1" dirty="0">
                <a:solidFill>
                  <a:srgbClr val="002B49"/>
                </a:solidFill>
              </a:rPr>
              <a:t>Rationality</a:t>
            </a:r>
            <a:endParaRPr lang="en-US" sz="1650" dirty="0"/>
          </a:p>
        </p:txBody>
      </p:sp>
      <p:sp>
        <p:nvSpPr>
          <p:cNvPr id="12" name="Text 10"/>
          <p:cNvSpPr/>
          <p:nvPr/>
        </p:nvSpPr>
        <p:spPr>
          <a:xfrm>
            <a:off x="4663440" y="2020824"/>
            <a:ext cx="6126480" cy="274320"/>
          </a:xfrm>
          <a:prstGeom prst="rect">
            <a:avLst/>
          </a:prstGeom>
          <a:noFill/>
          <a:ln/>
        </p:spPr>
        <p:txBody>
          <a:bodyPr wrap="square" lIns="254" tIns="254" rIns="254" bIns="254" rtlCol="0" anchor="t">
            <a:normAutofit/>
          </a:bodyPr>
          <a:lstStyle/>
          <a:p>
            <a:pPr algn="l" indent="0" marL="0">
              <a:buNone/>
            </a:pPr>
            <a:r>
              <a:rPr lang="en-US" sz="1380" dirty="0">
                <a:solidFill>
                  <a:srgbClr val="111827"/>
                </a:solidFill>
              </a:rPr>
              <a:t>Choose actions that maximize expected performance given evidence.</a:t>
            </a:r>
            <a:endParaRPr lang="en-US" sz="1380" dirty="0"/>
          </a:p>
        </p:txBody>
      </p:sp>
      <p:sp>
        <p:nvSpPr>
          <p:cNvPr id="13" name="Shape 11"/>
          <p:cNvSpPr/>
          <p:nvPr/>
        </p:nvSpPr>
        <p:spPr>
          <a:xfrm>
            <a:off x="822960" y="2752344"/>
            <a:ext cx="566928" cy="566928"/>
          </a:xfrm>
          <a:prstGeom prst="ellipse">
            <a:avLst/>
          </a:prstGeom>
          <a:solidFill>
            <a:srgbClr val="3273DC"/>
          </a:solidFill>
          <a:ln w="12700">
            <a:solidFill>
              <a:srgbClr val="3273DC"/>
            </a:solidFill>
            <a:prstDash val="solid"/>
          </a:ln>
        </p:spPr>
      </p:sp>
      <p:sp>
        <p:nvSpPr>
          <p:cNvPr id="14" name="Text 12"/>
          <p:cNvSpPr/>
          <p:nvPr/>
        </p:nvSpPr>
        <p:spPr>
          <a:xfrm>
            <a:off x="822960" y="2889504"/>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3</a:t>
            </a:r>
            <a:endParaRPr lang="en-US" sz="1400" dirty="0"/>
          </a:p>
        </p:txBody>
      </p:sp>
      <p:sp>
        <p:nvSpPr>
          <p:cNvPr id="15" name="Text 13"/>
          <p:cNvSpPr/>
          <p:nvPr/>
        </p:nvSpPr>
        <p:spPr>
          <a:xfrm>
            <a:off x="1554480" y="2816352"/>
            <a:ext cx="2926080" cy="219456"/>
          </a:xfrm>
          <a:prstGeom prst="rect">
            <a:avLst/>
          </a:prstGeom>
          <a:noFill/>
          <a:ln/>
        </p:spPr>
        <p:txBody>
          <a:bodyPr wrap="square" lIns="254" tIns="254" rIns="254" bIns="254" rtlCol="0" anchor="t">
            <a:normAutofit/>
          </a:bodyPr>
          <a:lstStyle/>
          <a:p>
            <a:pPr algn="l" indent="0" marL="0">
              <a:buNone/>
            </a:pPr>
            <a:r>
              <a:rPr lang="en-US" sz="1650" b="1" dirty="0">
                <a:solidFill>
                  <a:srgbClr val="002B49"/>
                </a:solidFill>
              </a:rPr>
              <a:t>PEAS first</a:t>
            </a:r>
            <a:endParaRPr lang="en-US" sz="1650" dirty="0"/>
          </a:p>
        </p:txBody>
      </p:sp>
      <p:sp>
        <p:nvSpPr>
          <p:cNvPr id="16" name="Text 14"/>
          <p:cNvSpPr/>
          <p:nvPr/>
        </p:nvSpPr>
        <p:spPr>
          <a:xfrm>
            <a:off x="4663440" y="2825496"/>
            <a:ext cx="6126480" cy="274320"/>
          </a:xfrm>
          <a:prstGeom prst="rect">
            <a:avLst/>
          </a:prstGeom>
          <a:noFill/>
          <a:ln/>
        </p:spPr>
        <p:txBody>
          <a:bodyPr wrap="square" lIns="254" tIns="254" rIns="254" bIns="254" rtlCol="0" anchor="t">
            <a:normAutofit/>
          </a:bodyPr>
          <a:lstStyle/>
          <a:p>
            <a:pPr algn="l" indent="0" marL="0">
              <a:buNone/>
            </a:pPr>
            <a:r>
              <a:rPr lang="en-US" sz="1380" dirty="0">
                <a:solidFill>
                  <a:srgbClr val="111827"/>
                </a:solidFill>
              </a:rPr>
              <a:t>Specify tasks before selecting algorithms or writing code.</a:t>
            </a:r>
            <a:endParaRPr lang="en-US" sz="1380" dirty="0"/>
          </a:p>
        </p:txBody>
      </p:sp>
      <p:sp>
        <p:nvSpPr>
          <p:cNvPr id="17" name="Shape 15"/>
          <p:cNvSpPr/>
          <p:nvPr/>
        </p:nvSpPr>
        <p:spPr>
          <a:xfrm>
            <a:off x="822960" y="3557016"/>
            <a:ext cx="566928" cy="566928"/>
          </a:xfrm>
          <a:prstGeom prst="ellipse">
            <a:avLst/>
          </a:prstGeom>
          <a:solidFill>
            <a:srgbClr val="6B46C1"/>
          </a:solidFill>
          <a:ln w="12700">
            <a:solidFill>
              <a:srgbClr val="6B46C1"/>
            </a:solidFill>
            <a:prstDash val="solid"/>
          </a:ln>
        </p:spPr>
      </p:sp>
      <p:sp>
        <p:nvSpPr>
          <p:cNvPr id="18" name="Text 16"/>
          <p:cNvSpPr/>
          <p:nvPr/>
        </p:nvSpPr>
        <p:spPr>
          <a:xfrm>
            <a:off x="822960" y="3694176"/>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4</a:t>
            </a:r>
            <a:endParaRPr lang="en-US" sz="1400" dirty="0"/>
          </a:p>
        </p:txBody>
      </p:sp>
      <p:sp>
        <p:nvSpPr>
          <p:cNvPr id="19" name="Text 17"/>
          <p:cNvSpPr/>
          <p:nvPr/>
        </p:nvSpPr>
        <p:spPr>
          <a:xfrm>
            <a:off x="1554480" y="3621024"/>
            <a:ext cx="2926080" cy="219456"/>
          </a:xfrm>
          <a:prstGeom prst="rect">
            <a:avLst/>
          </a:prstGeom>
          <a:noFill/>
          <a:ln/>
        </p:spPr>
        <p:txBody>
          <a:bodyPr wrap="square" lIns="254" tIns="254" rIns="254" bIns="254" rtlCol="0" anchor="t">
            <a:normAutofit/>
          </a:bodyPr>
          <a:lstStyle/>
          <a:p>
            <a:pPr algn="l" indent="0" marL="0">
              <a:buNone/>
            </a:pPr>
            <a:r>
              <a:rPr lang="en-US" sz="1650" b="1" dirty="0">
                <a:solidFill>
                  <a:srgbClr val="002B49"/>
                </a:solidFill>
              </a:rPr>
              <a:t>Environment matters</a:t>
            </a:r>
            <a:endParaRPr lang="en-US" sz="1650" dirty="0"/>
          </a:p>
        </p:txBody>
      </p:sp>
      <p:sp>
        <p:nvSpPr>
          <p:cNvPr id="20" name="Text 18"/>
          <p:cNvSpPr/>
          <p:nvPr/>
        </p:nvSpPr>
        <p:spPr>
          <a:xfrm>
            <a:off x="4663440" y="3630168"/>
            <a:ext cx="6126480" cy="274320"/>
          </a:xfrm>
          <a:prstGeom prst="rect">
            <a:avLst/>
          </a:prstGeom>
          <a:noFill/>
          <a:ln/>
        </p:spPr>
        <p:txBody>
          <a:bodyPr wrap="square" lIns="254" tIns="254" rIns="254" bIns="254" rtlCol="0" anchor="t">
            <a:normAutofit/>
          </a:bodyPr>
          <a:lstStyle/>
          <a:p>
            <a:pPr algn="l" indent="0" marL="0">
              <a:buNone/>
            </a:pPr>
            <a:r>
              <a:rPr lang="en-US" sz="1380" dirty="0">
                <a:solidFill>
                  <a:srgbClr val="111827"/>
                </a:solidFill>
              </a:rPr>
              <a:t>Observability, uncertainty, time, and other agents shape the design.</a:t>
            </a:r>
            <a:endParaRPr lang="en-US" sz="1380" dirty="0"/>
          </a:p>
        </p:txBody>
      </p:sp>
      <p:sp>
        <p:nvSpPr>
          <p:cNvPr id="21" name="Shape 19"/>
          <p:cNvSpPr/>
          <p:nvPr/>
        </p:nvSpPr>
        <p:spPr>
          <a:xfrm>
            <a:off x="822960" y="4361688"/>
            <a:ext cx="566928" cy="566928"/>
          </a:xfrm>
          <a:prstGeom prst="ellipse">
            <a:avLst/>
          </a:prstGeom>
          <a:solidFill>
            <a:srgbClr val="2F855A"/>
          </a:solidFill>
          <a:ln w="12700">
            <a:solidFill>
              <a:srgbClr val="2F855A"/>
            </a:solidFill>
            <a:prstDash val="solid"/>
          </a:ln>
        </p:spPr>
      </p:sp>
      <p:sp>
        <p:nvSpPr>
          <p:cNvPr id="22" name="Text 20"/>
          <p:cNvSpPr/>
          <p:nvPr/>
        </p:nvSpPr>
        <p:spPr>
          <a:xfrm>
            <a:off x="822960" y="4498848"/>
            <a:ext cx="566928" cy="182880"/>
          </a:xfrm>
          <a:prstGeom prst="rect">
            <a:avLst/>
          </a:prstGeom>
          <a:noFill/>
          <a:ln/>
        </p:spPr>
        <p:txBody>
          <a:bodyPr wrap="square" lIns="254" tIns="254" rIns="254" bIns="254" rtlCol="0" anchor="t">
            <a:normAutofit/>
          </a:bodyPr>
          <a:lstStyle/>
          <a:p>
            <a:pPr algn="ctr" indent="0" marL="0">
              <a:buNone/>
            </a:pPr>
            <a:r>
              <a:rPr lang="en-US" sz="1400" b="1" dirty="0">
                <a:solidFill>
                  <a:srgbClr val="FFFFFF"/>
                </a:solidFill>
              </a:rPr>
              <a:t>5</a:t>
            </a:r>
            <a:endParaRPr lang="en-US" sz="1400" dirty="0"/>
          </a:p>
        </p:txBody>
      </p:sp>
      <p:sp>
        <p:nvSpPr>
          <p:cNvPr id="23" name="Text 21"/>
          <p:cNvSpPr/>
          <p:nvPr/>
        </p:nvSpPr>
        <p:spPr>
          <a:xfrm>
            <a:off x="1554480" y="4425696"/>
            <a:ext cx="2926080" cy="219456"/>
          </a:xfrm>
          <a:prstGeom prst="rect">
            <a:avLst/>
          </a:prstGeom>
          <a:noFill/>
          <a:ln/>
        </p:spPr>
        <p:txBody>
          <a:bodyPr wrap="square" lIns="254" tIns="254" rIns="254" bIns="254" rtlCol="0" anchor="t">
            <a:normAutofit/>
          </a:bodyPr>
          <a:lstStyle/>
          <a:p>
            <a:pPr algn="l" indent="0" marL="0">
              <a:buNone/>
            </a:pPr>
            <a:r>
              <a:rPr lang="en-US" sz="1650" b="1" dirty="0">
                <a:solidFill>
                  <a:srgbClr val="002B49"/>
                </a:solidFill>
              </a:rPr>
              <a:t>Simulation mindset</a:t>
            </a:r>
            <a:endParaRPr lang="en-US" sz="1650" dirty="0"/>
          </a:p>
        </p:txBody>
      </p:sp>
      <p:sp>
        <p:nvSpPr>
          <p:cNvPr id="24" name="Text 22"/>
          <p:cNvSpPr/>
          <p:nvPr/>
        </p:nvSpPr>
        <p:spPr>
          <a:xfrm>
            <a:off x="4663440" y="4434840"/>
            <a:ext cx="6126480" cy="274320"/>
          </a:xfrm>
          <a:prstGeom prst="rect">
            <a:avLst/>
          </a:prstGeom>
          <a:noFill/>
          <a:ln/>
        </p:spPr>
        <p:txBody>
          <a:bodyPr wrap="square" lIns="254" tIns="254" rIns="254" bIns="254" rtlCol="0" anchor="t">
            <a:normAutofit/>
          </a:bodyPr>
          <a:lstStyle/>
          <a:p>
            <a:pPr algn="l" indent="0" marL="0">
              <a:buNone/>
            </a:pPr>
            <a:r>
              <a:rPr lang="en-US" sz="1380" dirty="0">
                <a:solidFill>
                  <a:srgbClr val="111827"/>
                </a:solidFill>
              </a:rPr>
              <a:t>Use small worlds to test assumptions before scaling up.</a:t>
            </a:r>
            <a:endParaRPr lang="en-US" sz="1380" dirty="0"/>
          </a:p>
        </p:txBody>
      </p:sp>
      <p:sp>
        <p:nvSpPr>
          <p:cNvPr id="25" name="Shape 23"/>
          <p:cNvSpPr/>
          <p:nvPr/>
        </p:nvSpPr>
        <p:spPr>
          <a:xfrm>
            <a:off x="1280160" y="5532120"/>
            <a:ext cx="9646920" cy="594360"/>
          </a:xfrm>
          <a:prstGeom prst="roundRect">
            <a:avLst>
              <a:gd name="adj" fmla="val 18462"/>
            </a:avLst>
          </a:prstGeom>
          <a:solidFill>
            <a:srgbClr val="FFF7E0"/>
          </a:solidFill>
          <a:ln w="15240">
            <a:solidFill>
              <a:srgbClr val="C99700"/>
            </a:solidFill>
            <a:prstDash val="solid"/>
          </a:ln>
        </p:spPr>
      </p:sp>
      <p:sp>
        <p:nvSpPr>
          <p:cNvPr id="26" name="Text 24"/>
          <p:cNvSpPr/>
          <p:nvPr/>
        </p:nvSpPr>
        <p:spPr>
          <a:xfrm>
            <a:off x="1481328" y="5715000"/>
            <a:ext cx="9244584" cy="274320"/>
          </a:xfrm>
          <a:prstGeom prst="rect">
            <a:avLst/>
          </a:prstGeom>
          <a:noFill/>
          <a:ln/>
        </p:spPr>
        <p:txBody>
          <a:bodyPr wrap="square" lIns="254" tIns="254" rIns="254" bIns="254" rtlCol="0" anchor="ctr">
            <a:normAutofit/>
          </a:bodyPr>
          <a:lstStyle/>
          <a:p>
            <a:pPr algn="ctr" indent="0" marL="0">
              <a:buNone/>
            </a:pPr>
            <a:r>
              <a:rPr lang="en-US" sz="1600" b="1" dirty="0">
                <a:solidFill>
                  <a:srgbClr val="002B49"/>
                </a:solidFill>
              </a:rPr>
              <a:t>Before next class: read AIMA Ch. 1-2 and open the instructor notebook.</a:t>
            </a:r>
            <a:endParaRPr lang="en-US" sz="1600" dirty="0"/>
          </a:p>
        </p:txBody>
      </p:sp>
      <p:sp>
        <p:nvSpPr>
          <p:cNvPr id="27" name="Text 25"/>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28" name="Text 26"/>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34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92608"/>
            <a:ext cx="10241280" cy="411480"/>
          </a:xfrm>
          <a:prstGeom prst="rect">
            <a:avLst/>
          </a:prstGeom>
          <a:noFill/>
          <a:ln/>
        </p:spPr>
        <p:txBody>
          <a:bodyPr wrap="square" lIns="0" tIns="0" rIns="0" bIns="0" rtlCol="0" anchor="ctr">
            <a:normAutofit/>
          </a:bodyPr>
          <a:lstStyle/>
          <a:p>
            <a:pPr indent="0" marL="0">
              <a:buNone/>
            </a:pPr>
            <a:r>
              <a:rPr lang="en-US" sz="3000" b="1" dirty="0">
                <a:solidFill>
                  <a:srgbClr val="002B49"/>
                </a:solidFill>
                <a:latin typeface="Aptos Display" pitchFamily="34" charset="0"/>
                <a:ea typeface="Aptos Display" pitchFamily="34" charset="-122"/>
                <a:cs typeface="Aptos Display" pitchFamily="34" charset="-120"/>
              </a:rPr>
              <a:t>Source and instructor preparation notes</a:t>
            </a:r>
            <a:endParaRPr lang="en-US" sz="3000" dirty="0"/>
          </a:p>
        </p:txBody>
      </p:sp>
      <p:sp>
        <p:nvSpPr>
          <p:cNvPr id="3" name="Shape 1"/>
          <p:cNvSpPr/>
          <p:nvPr/>
        </p:nvSpPr>
        <p:spPr>
          <a:xfrm>
            <a:off x="502920" y="841248"/>
            <a:ext cx="1234440" cy="0"/>
          </a:xfrm>
          <a:prstGeom prst="line">
            <a:avLst/>
          </a:prstGeom>
          <a:noFill/>
          <a:ln w="38100">
            <a:solidFill>
              <a:srgbClr val="C99700"/>
            </a:solidFill>
            <a:prstDash val="solid"/>
          </a:ln>
        </p:spPr>
      </p:sp>
      <p:sp>
        <p:nvSpPr>
          <p:cNvPr id="4" name="Text 2"/>
          <p:cNvSpPr/>
          <p:nvPr/>
        </p:nvSpPr>
        <p:spPr>
          <a:xfrm>
            <a:off x="1874520" y="713232"/>
            <a:ext cx="7406640" cy="256032"/>
          </a:xfrm>
          <a:prstGeom prst="rect">
            <a:avLst/>
          </a:prstGeom>
          <a:noFill/>
          <a:ln/>
        </p:spPr>
        <p:txBody>
          <a:bodyPr wrap="square" lIns="0" tIns="0" rIns="0" bIns="0" rtlCol="0" anchor="ctr">
            <a:normAutofit/>
          </a:bodyPr>
          <a:lstStyle/>
          <a:p>
            <a:pPr indent="0" marL="0">
              <a:buNone/>
            </a:pPr>
            <a:r>
              <a:rPr lang="en-US" sz="1150" dirty="0">
                <a:solidFill>
                  <a:srgbClr val="475467"/>
                </a:solidFill>
              </a:rPr>
              <a:t>Keep or hide this backup slide.</a:t>
            </a:r>
            <a:endParaRPr lang="en-US" sz="1150" dirty="0"/>
          </a:p>
        </p:txBody>
      </p:sp>
      <p:sp>
        <p:nvSpPr>
          <p:cNvPr id="5" name="Text 3"/>
          <p:cNvSpPr/>
          <p:nvPr/>
        </p:nvSpPr>
        <p:spPr>
          <a:xfrm>
            <a:off x="868680" y="1234440"/>
            <a:ext cx="2926080" cy="256032"/>
          </a:xfrm>
          <a:prstGeom prst="rect">
            <a:avLst/>
          </a:prstGeom>
          <a:noFill/>
          <a:ln/>
        </p:spPr>
        <p:txBody>
          <a:bodyPr wrap="square" lIns="254" tIns="254" rIns="254" bIns="254" rtlCol="0" anchor="t">
            <a:normAutofit/>
          </a:bodyPr>
          <a:lstStyle/>
          <a:p>
            <a:pPr algn="l" indent="0" marL="0">
              <a:buNone/>
            </a:pPr>
            <a:r>
              <a:rPr lang="en-US" sz="2000" b="1" dirty="0">
                <a:solidFill>
                  <a:srgbClr val="002B49"/>
                </a:solidFill>
              </a:rPr>
              <a:t>Primary materials</a:t>
            </a:r>
            <a:endParaRPr lang="en-US" sz="2000" dirty="0"/>
          </a:p>
        </p:txBody>
      </p:sp>
      <p:sp>
        <p:nvSpPr>
          <p:cNvPr id="6" name="Text 4"/>
          <p:cNvSpPr/>
          <p:nvPr/>
        </p:nvSpPr>
        <p:spPr>
          <a:xfrm>
            <a:off x="1005840" y="1737360"/>
            <a:ext cx="9966960" cy="1325880"/>
          </a:xfrm>
          <a:prstGeom prst="rect">
            <a:avLst/>
          </a:prstGeom>
          <a:noFill/>
          <a:ln/>
        </p:spPr>
        <p:txBody>
          <a:bodyPr wrap="square" lIns="381" tIns="381" rIns="381" bIns="381" rtlCol="0" anchor="ctr">
            <a:normAutofit/>
          </a:bodyPr>
          <a:lstStyle/>
          <a:p>
            <a:pPr marL="228600" indent="-228600">
              <a:buSzPct val="100000"/>
              <a:buChar char="•"/>
            </a:pPr>
            <a:r>
              <a:rPr lang="en-US" sz="1500" dirty="0">
                <a:solidFill>
                  <a:srgbClr val="111827"/>
                </a:solidFill>
              </a:rPr>
              <a:t>Course syllabus: COMP 469 Artificial Intelligence/Neural Nets, Fall 2026.
</a:t>
            </a:r>
            <a:endParaRPr lang="en-US" sz="1500" dirty="0"/>
          </a:p>
          <a:p>
            <a:pPr marL="228600" indent="-228600">
              <a:buSzPct val="100000"/>
              <a:buChar char="•"/>
            </a:pPr>
            <a:r>
              <a:rPr lang="en-US" sz="1500" dirty="0">
                <a:solidFill>
                  <a:srgbClr val="111827"/>
                </a:solidFill>
              </a:rPr>
              <a:t>AIMA Chapter 1: Introduction.
</a:t>
            </a:r>
            <a:endParaRPr lang="en-US" sz="1500" dirty="0"/>
          </a:p>
          <a:p>
            <a:pPr marL="228600" indent="-228600">
              <a:buSzPct val="100000"/>
              <a:buChar char="•"/>
            </a:pPr>
            <a:r>
              <a:rPr lang="en-US" sz="1500" dirty="0">
                <a:solidFill>
                  <a:srgbClr val="111827"/>
                </a:solidFill>
              </a:rPr>
              <a:t>AIMA Chapter 2: Intelligent Agents.
</a:t>
            </a:r>
            <a:endParaRPr lang="en-US" sz="1500" dirty="0"/>
          </a:p>
          <a:p>
            <a:pPr marL="228600" indent="-228600">
              <a:buSzPct val="100000"/>
              <a:buChar char="•"/>
            </a:pPr>
            <a:r>
              <a:rPr lang="en-US" sz="1500" dirty="0">
                <a:solidFill>
                  <a:srgbClr val="111827"/>
                </a:solidFill>
              </a:rPr>
              <a:t>Instructor notebook: grid-world / vacuum agent simulation.</a:t>
            </a:r>
            <a:endParaRPr lang="en-US" sz="1500" dirty="0"/>
          </a:p>
        </p:txBody>
      </p:sp>
      <p:sp>
        <p:nvSpPr>
          <p:cNvPr id="7" name="Text 5"/>
          <p:cNvSpPr/>
          <p:nvPr/>
        </p:nvSpPr>
        <p:spPr>
          <a:xfrm>
            <a:off x="868680" y="3840480"/>
            <a:ext cx="2926080" cy="256032"/>
          </a:xfrm>
          <a:prstGeom prst="rect">
            <a:avLst/>
          </a:prstGeom>
          <a:noFill/>
          <a:ln/>
        </p:spPr>
        <p:txBody>
          <a:bodyPr wrap="square" lIns="254" tIns="254" rIns="254" bIns="254" rtlCol="0" anchor="t">
            <a:normAutofit/>
          </a:bodyPr>
          <a:lstStyle/>
          <a:p>
            <a:pPr algn="l" indent="0" marL="0">
              <a:buNone/>
            </a:pPr>
            <a:r>
              <a:rPr lang="en-US" sz="2000" b="1" dirty="0">
                <a:solidFill>
                  <a:srgbClr val="002B49"/>
                </a:solidFill>
              </a:rPr>
              <a:t>Recommended prep</a:t>
            </a:r>
            <a:endParaRPr lang="en-US" sz="2000" dirty="0"/>
          </a:p>
        </p:txBody>
      </p:sp>
      <p:sp>
        <p:nvSpPr>
          <p:cNvPr id="8" name="Text 6"/>
          <p:cNvSpPr/>
          <p:nvPr/>
        </p:nvSpPr>
        <p:spPr>
          <a:xfrm>
            <a:off x="1005840" y="4343400"/>
            <a:ext cx="9966960" cy="1005840"/>
          </a:xfrm>
          <a:prstGeom prst="rect">
            <a:avLst/>
          </a:prstGeom>
          <a:noFill/>
          <a:ln/>
        </p:spPr>
        <p:txBody>
          <a:bodyPr wrap="square" lIns="381" tIns="381" rIns="381" bIns="381" rtlCol="0" anchor="ctr">
            <a:normAutofit/>
          </a:bodyPr>
          <a:lstStyle/>
          <a:p>
            <a:pPr marL="228600" indent="-228600">
              <a:buSzPct val="100000"/>
              <a:buChar char="•"/>
            </a:pPr>
            <a:r>
              <a:rPr lang="en-US" sz="1500" dirty="0">
                <a:solidFill>
                  <a:srgbClr val="111827"/>
                </a:solidFill>
              </a:rPr>
              <a:t>Open Jupyter before class and test the starter notebook.
</a:t>
            </a:r>
            <a:endParaRPr lang="en-US" sz="1500" dirty="0"/>
          </a:p>
          <a:p>
            <a:pPr marL="228600" indent="-228600">
              <a:buSzPct val="100000"/>
              <a:buChar char="•"/>
            </a:pPr>
            <a:r>
              <a:rPr lang="en-US" sz="1500" dirty="0">
                <a:solidFill>
                  <a:srgbClr val="111827"/>
                </a:solidFill>
              </a:rPr>
              <a:t>Have one completed trace ready in case the live demo fails.
</a:t>
            </a:r>
            <a:endParaRPr lang="en-US" sz="1500" dirty="0"/>
          </a:p>
          <a:p>
            <a:pPr marL="228600" indent="-228600">
              <a:buSzPct val="100000"/>
              <a:buChar char="•"/>
            </a:pPr>
            <a:r>
              <a:rPr lang="en-US" sz="1500" dirty="0">
                <a:solidFill>
                  <a:srgbClr val="111827"/>
                </a:solidFill>
              </a:rPr>
              <a:t>Decide whether the lab is individual, pairs, or small groups.</a:t>
            </a:r>
            <a:endParaRPr lang="en-US" sz="1500" dirty="0"/>
          </a:p>
        </p:txBody>
      </p:sp>
      <p:sp>
        <p:nvSpPr>
          <p:cNvPr id="9" name="Text 7"/>
          <p:cNvSpPr/>
          <p:nvPr/>
        </p:nvSpPr>
        <p:spPr>
          <a:xfrm>
            <a:off x="502920" y="6537960"/>
            <a:ext cx="5303520" cy="182880"/>
          </a:xfrm>
          <a:prstGeom prst="rect">
            <a:avLst/>
          </a:prstGeom>
          <a:noFill/>
          <a:ln/>
        </p:spPr>
        <p:txBody>
          <a:bodyPr wrap="square" lIns="0" tIns="0" rIns="0" bIns="0" rtlCol="0" anchor="ctr"/>
          <a:lstStyle/>
          <a:p>
            <a:pPr indent="0" marL="0">
              <a:buNone/>
            </a:pPr>
            <a:r>
              <a:rPr lang="en-US" sz="850" dirty="0">
                <a:solidFill>
                  <a:srgbClr val="667085"/>
                </a:solidFill>
              </a:rPr>
              <a:t>COMP 469 | AI Agents and Foundations</a:t>
            </a:r>
            <a:endParaRPr lang="en-US" sz="850" dirty="0"/>
          </a:p>
        </p:txBody>
      </p:sp>
      <p:sp>
        <p:nvSpPr>
          <p:cNvPr id="10" name="Text 8"/>
          <p:cNvSpPr/>
          <p:nvPr/>
        </p:nvSpPr>
        <p:spPr>
          <a:xfrm>
            <a:off x="11109960" y="6510528"/>
            <a:ext cx="502920" cy="182880"/>
          </a:xfrm>
          <a:prstGeom prst="rect">
            <a:avLst/>
          </a:prstGeom>
          <a:noFill/>
          <a:ln/>
        </p:spPr>
        <p:txBody>
          <a:bodyPr wrap="square" lIns="0" tIns="0" rIns="0" bIns="0" rtlCol="0" anchor="ctr"/>
          <a:lstStyle/>
          <a:p>
            <a:pPr algn="r" indent="0" marL="0">
              <a:buNone/>
            </a:pPr>
            <a:r>
              <a:rPr lang="en-US" sz="850" dirty="0">
                <a:solidFill>
                  <a:srgbClr val="667085"/>
                </a:solidFill>
              </a:rPr>
              <a:t>35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California State University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 AI Agents and Foundations - Two Hour Lecture</dc:title>
  <dc:subject>Two-hour lecture: AI Agents and Foundations</dc:subject>
  <dc:creator>COMP 469 - CSU Channel Islands</dc:creator>
  <cp:lastModifiedBy>COMP 469 - CSU Channel Islands</cp:lastModifiedBy>
  <cp:revision>1</cp:revision>
  <dcterms:created xsi:type="dcterms:W3CDTF">2026-06-07T05:45:17Z</dcterms:created>
  <dcterms:modified xsi:type="dcterms:W3CDTF">2026-06-07T05:45:17Z</dcterms:modified>
</cp:coreProperties>
</file>