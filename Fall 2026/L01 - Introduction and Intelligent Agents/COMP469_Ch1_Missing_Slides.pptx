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Behaviorism and cognitive psychology give two different ways to think about intelligence. Behaviorism focuses on what can be observed directly: the stimulus presented to an animal or person and the resulting response. This helped make psychology more objective, but it avoided explanations based on beliefs, goals, or internal mental processes. Cognitive psychology moved back toward the idea that the brain can be studied as an information-processing system. Kenneth Craik described a knowledge-based agent as translating a stimulus into an internal representation, manipulating that representation, and then translating the result into action. This is important for AI because many intelligent systems need some internal model of the world, not just a direct stimulus-response mapping.
[Sources]
Russell &amp; Norvig, Artificial Intelligence: A Modern Approach, Chapter 1, Section 1.2.5, Psychology.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why linguistics became important to AI. The behaviorist account of language treated language learning as stimulus and response. Noam Chomsky criticized this because people, especially children, can understand and produce sentences they have never heard before. His theory emphasized formal structures in language, which made language seem programmable in principle. Modern natural language processing grew out of this intersection between linguistics and AI. The chapter also stresses that language understanding is more than syntax. To understand a sentence, a system often needs knowledge of the subject matter and context.
[Sources]
Russell &amp; Norvig, Artificial Intelligence: A Modern Approach, Chapter 1, Section 1.2.8, Linguistics.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connects several early symbolic AI ideas. Newell and Simon argued for the physical symbol system hypothesis: any intelligent system must manipulate symbol structures. McCarthy's Advice Taker expanded this direction by imagining a system with explicit world knowledge that could use logical deduction to derive plans and accept new information. Shakey the Robot showed how these ideas could connect to physical action by combining logical reasoning, planning, perception, and movement. This is important historically because it explains why early AI placed so much emphasis on knowledge representation, symbolic reasoning, and planning before the field shifted toward statistical learning and neural networks.
[Sources]
Russell &amp; Norvig, Artificial Intelligence: A Modern Approach, Chapter 1, Section 1.3.2, Early Enthusiasm, Great Expectations (1952-1969).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data is its own phase in the history of AI. The web and advances in computing made it possible to collect extremely large datasets: text, images, speech, video, genomic data, vehicle tracking data, clickstream data, and social-network data. This changed the kinds of methods that worked well. Instead of relying only on hand-coded knowledge, systems could learn patterns from huge numbers of examples. The chapter notes that increasing dataset size can sometimes improve results more than small changes to the algorithm. ImageNet helped trigger a computer vision revolution, and IBM Watson's Jeopardy! victory showed the public the power of data-driven AI.
[Sources]
Russell &amp; Norvig, Artificial Intelligence: A Modern Approach, Chapter 1, Section 1.3.7, Big Data (2001-present).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risks section is not only about autonomous weapons or technical failure. It also emphasizes surveillance and persuasion. AI can monitor communications, video, speech, and other data at scale. Machine learning can also tailor information flows to individuals, which can influence social and political behavior. The chapter also warns about biased decision-making when machine-learning systems are used for tasks such as loans or parole. The conclusion is that as AI systems take on more social roles, governance becomes necessary. The chapter mentions voluntary self-governance from research organizations and companies, along with government and international efforts to create appropriate regulations for specific use cases.
[Sources]
Russell &amp; Norvig, Artificial Intelligence: A Modern Approach, Chapter 1, Section 1.5, Risks and Benefits of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closes by distinguishing between human-level AI, artificial general intelligence, and artificial superintelligence. HLAI refers to a system that can learn to do anything a human can do. AGI has similar broad-general capability language. ASI goes further: it would far surpass human ability. The gorilla problem is the chapter's analogy for long-term control risk. Gorillas have little control over their future because humans are more capable. If superhuman AI were created and humans could not control it, humans could be in a similar position. This is different from the King Midas problem. King Midas is about getting exactly what you asked for but not what you intended. The gorilla problem is about relative capability and control over the future.
[Sources]
Russell &amp; Norvig, Artificial Intelligence: A Modern Approach, Chapter 1, Section 1.5, Risks and Benefits of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02920" y="292608"/>
            <a:ext cx="914400" cy="228600"/>
          </a:xfrm>
          <a:prstGeom prst="rect">
            <a:avLst/>
          </a:prstGeom>
          <a:noFill/>
          <a:ln/>
        </p:spPr>
        <p:txBody>
          <a:bodyPr wrap="square" lIns="0" tIns="0" rIns="0" bIns="0" rtlCol="0" anchor="ctr"/>
          <a:lstStyle/>
          <a:p>
            <a:pPr indent="0" marL="0">
              <a:buNone/>
            </a:pPr>
            <a:r>
              <a:rPr lang="en-US" sz="950" b="1" dirty="0">
                <a:solidFill>
                  <a:srgbClr val="247BA0"/>
                </a:solidFill>
                <a:latin typeface="Aptos" pitchFamily="34" charset="0"/>
                <a:ea typeface="Aptos" pitchFamily="34" charset="-122"/>
                <a:cs typeface="Aptos" pitchFamily="34" charset="-120"/>
              </a:rPr>
              <a:t>1.2.5</a:t>
            </a:r>
            <a:endParaRPr lang="en-US" sz="950" dirty="0"/>
          </a:p>
        </p:txBody>
      </p:sp>
      <p:sp>
        <p:nvSpPr>
          <p:cNvPr id="3" name="Text 1"/>
          <p:cNvSpPr/>
          <p:nvPr/>
        </p:nvSpPr>
        <p:spPr>
          <a:xfrm>
            <a:off x="502920" y="566928"/>
            <a:ext cx="10881360" cy="475488"/>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Behaviorism vs. Cognitive Psychology</a:t>
            </a:r>
            <a:endParaRPr lang="en-US" sz="2500" dirty="0"/>
          </a:p>
        </p:txBody>
      </p:sp>
      <p:sp>
        <p:nvSpPr>
          <p:cNvPr id="4" name="Shape 2"/>
          <p:cNvSpPr/>
          <p:nvPr/>
        </p:nvSpPr>
        <p:spPr>
          <a:xfrm>
            <a:off x="502920" y="1152144"/>
            <a:ext cx="11155680" cy="0"/>
          </a:xfrm>
          <a:prstGeom prst="line">
            <a:avLst/>
          </a:prstGeom>
          <a:noFill/>
          <a:ln w="12700">
            <a:solidFill>
              <a:srgbClr val="D9E2EC"/>
            </a:solidFill>
            <a:prstDash val="solid"/>
          </a:ln>
        </p:spPr>
      </p:sp>
      <p:sp>
        <p:nvSpPr>
          <p:cNvPr id="5" name="Text 3"/>
          <p:cNvSpPr/>
          <p:nvPr/>
        </p:nvSpPr>
        <p:spPr>
          <a:xfrm>
            <a:off x="9829800" y="6464808"/>
            <a:ext cx="1828800" cy="182880"/>
          </a:xfrm>
          <a:prstGeom prst="rect">
            <a:avLst/>
          </a:prstGeom>
          <a:noFill/>
          <a:ln/>
        </p:spPr>
        <p:txBody>
          <a:bodyPr wrap="square" lIns="0" tIns="0" rIns="0" bIns="0" rtlCol="0" anchor="ctr"/>
          <a:lstStyle/>
          <a:p>
            <a:pPr algn="r" indent="0" marL="0">
              <a:buNone/>
            </a:pPr>
            <a:r>
              <a:rPr lang="en-US" sz="850" dirty="0">
                <a:solidFill>
                  <a:srgbClr val="7B8794"/>
                </a:solidFill>
                <a:latin typeface="Aptos" pitchFamily="34" charset="0"/>
                <a:ea typeface="Aptos" pitchFamily="34" charset="-122"/>
                <a:cs typeface="Aptos" pitchFamily="34" charset="-120"/>
              </a:rPr>
              <a:t>COMP 469 · Chapter 1</a:t>
            </a:r>
            <a:endParaRPr lang="en-US" sz="850" dirty="0"/>
          </a:p>
        </p:txBody>
      </p:sp>
      <p:sp>
        <p:nvSpPr>
          <p:cNvPr id="6" name="Text 4"/>
          <p:cNvSpPr/>
          <p:nvPr/>
        </p:nvSpPr>
        <p:spPr>
          <a:xfrm>
            <a:off x="731520" y="1444752"/>
            <a:ext cx="4937760" cy="320040"/>
          </a:xfrm>
          <a:prstGeom prst="rect">
            <a:avLst/>
          </a:prstGeom>
          <a:noFill/>
          <a:ln/>
        </p:spPr>
        <p:txBody>
          <a:bodyPr wrap="square" lIns="0" tIns="0" rIns="0" bIns="0" rtlCol="0" anchor="ctr"/>
          <a:lstStyle/>
          <a:p>
            <a:pPr indent="0" marL="0">
              <a:buNone/>
            </a:pPr>
            <a:r>
              <a:rPr lang="en-US" sz="1900" b="1" dirty="0">
                <a:solidFill>
                  <a:srgbClr val="102A43"/>
                </a:solidFill>
                <a:latin typeface="Aptos Display" pitchFamily="34" charset="0"/>
                <a:ea typeface="Aptos Display" pitchFamily="34" charset="-122"/>
                <a:cs typeface="Aptos Display" pitchFamily="34" charset="-120"/>
              </a:rPr>
              <a:t>Behaviorism</a:t>
            </a:r>
            <a:endParaRPr lang="en-US" sz="1900" dirty="0"/>
          </a:p>
        </p:txBody>
      </p:sp>
      <p:sp>
        <p:nvSpPr>
          <p:cNvPr id="7" name="Text 5"/>
          <p:cNvSpPr/>
          <p:nvPr/>
        </p:nvSpPr>
        <p:spPr>
          <a:xfrm>
            <a:off x="6492240" y="1444752"/>
            <a:ext cx="4937760" cy="320040"/>
          </a:xfrm>
          <a:prstGeom prst="rect">
            <a:avLst/>
          </a:prstGeom>
          <a:noFill/>
          <a:ln/>
        </p:spPr>
        <p:txBody>
          <a:bodyPr wrap="square" lIns="0" tIns="0" rIns="0" bIns="0" rtlCol="0" anchor="ctr"/>
          <a:lstStyle/>
          <a:p>
            <a:pPr indent="0" marL="0">
              <a:buNone/>
            </a:pPr>
            <a:r>
              <a:rPr lang="en-US" sz="1900" b="1" dirty="0">
                <a:solidFill>
                  <a:srgbClr val="102A43"/>
                </a:solidFill>
                <a:latin typeface="Aptos Display" pitchFamily="34" charset="0"/>
                <a:ea typeface="Aptos Display" pitchFamily="34" charset="-122"/>
                <a:cs typeface="Aptos Display" pitchFamily="34" charset="-120"/>
              </a:rPr>
              <a:t>Cognitive Psychology</a:t>
            </a:r>
            <a:endParaRPr lang="en-US" sz="1900" dirty="0"/>
          </a:p>
        </p:txBody>
      </p:sp>
      <p:sp>
        <p:nvSpPr>
          <p:cNvPr id="8" name="Shape 6"/>
          <p:cNvSpPr/>
          <p:nvPr/>
        </p:nvSpPr>
        <p:spPr>
          <a:xfrm>
            <a:off x="685800" y="1874520"/>
            <a:ext cx="5166360" cy="2057400"/>
          </a:xfrm>
          <a:prstGeom prst="roundRect">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9" name="Text 7"/>
          <p:cNvSpPr/>
          <p:nvPr/>
        </p:nvSpPr>
        <p:spPr>
          <a:xfrm>
            <a:off x="1005840" y="2029968"/>
            <a:ext cx="4526280" cy="320040"/>
          </a:xfrm>
          <a:prstGeom prst="rect">
            <a:avLst/>
          </a:prstGeom>
          <a:noFill/>
          <a:ln/>
        </p:spPr>
        <p:txBody>
          <a:bodyPr wrap="square" lIns="0" tIns="0" rIns="0" bIns="0" rtlCol="0" anchor="ctr"/>
          <a:lstStyle/>
          <a:p>
            <a:pPr algn="ctr" indent="0" marL="0">
              <a:buNone/>
            </a:pPr>
            <a:r>
              <a:rPr lang="en-US" sz="1900" b="1" dirty="0">
                <a:solidFill>
                  <a:srgbClr val="C1121F"/>
                </a:solidFill>
              </a:rPr>
              <a:t>Stimulus → Response</a:t>
            </a:r>
            <a:endParaRPr lang="en-US" sz="1900" dirty="0"/>
          </a:p>
        </p:txBody>
      </p:sp>
      <p:sp>
        <p:nvSpPr>
          <p:cNvPr id="10" name="Text 8"/>
          <p:cNvSpPr/>
          <p:nvPr/>
        </p:nvSpPr>
        <p:spPr>
          <a:xfrm>
            <a:off x="960120" y="2542032"/>
            <a:ext cx="4617720" cy="1143000"/>
          </a:xfrm>
          <a:prstGeom prst="rect">
            <a:avLst/>
          </a:prstGeom>
          <a:noFill/>
          <a:ln/>
        </p:spPr>
        <p:txBody>
          <a:bodyPr wrap="square" lIns="889" tIns="889" rIns="889" bIns="889" rtlCol="0" anchor="ctr">
            <a:normAutofit/>
          </a:bodyPr>
          <a:lstStyle/>
          <a:p>
            <a:r>
              <a:rPr lang="en-US" sz="1380" b="1" dirty="0">
                <a:solidFill>
                  <a:srgbClr val="1F2933"/>
                </a:solidFill>
                <a:latin typeface="Aptos" pitchFamily="34" charset="0"/>
                <a:ea typeface="Aptos" pitchFamily="34" charset="-122"/>
                <a:cs typeface="Aptos" pitchFamily="34" charset="-120"/>
              </a:rPr>
              <a:t>Observable behavior: </a:t>
            </a:r>
            <a:endParaRPr lang="en-US" sz="1380" dirty="0"/>
          </a:p>
          <a:p>
            <a:r>
              <a:rPr lang="en-US" sz="1380" dirty="0">
                <a:solidFill>
                  <a:srgbClr val="1F2933"/>
                </a:solidFill>
                <a:latin typeface="Aptos" pitchFamily="34" charset="0"/>
                <a:ea typeface="Aptos" pitchFamily="34" charset="-122"/>
                <a:cs typeface="Aptos" pitchFamily="34" charset="-120"/>
              </a:rPr>
              <a:t>only what can be measured directly</a:t>
            </a:r>
            <a:pPr indent="0" marL="0">
              <a:buNone/>
            </a:pPr>
            <a:r>
              <a:rPr lang="en-US" sz="1380" dirty="0">
                <a:solidFill>
                  <a:srgbClr val="1F2933"/>
                </a:solidFill>
                <a:latin typeface="Aptos" pitchFamily="34" charset="0"/>
                <a:ea typeface="Aptos" pitchFamily="34" charset="-122"/>
                <a:cs typeface="Aptos" pitchFamily="34" charset="-120"/>
              </a:rPr>
              <a:t>
</a:t>
            </a:r>
            <a:endParaRPr lang="en-US" sz="1380" dirty="0"/>
          </a:p>
          <a:p>
            <a:r>
              <a:rPr lang="en-US" sz="1380" b="1" dirty="0">
                <a:solidFill>
                  <a:srgbClr val="1F2933"/>
                </a:solidFill>
                <a:latin typeface="Aptos" pitchFamily="34" charset="0"/>
                <a:ea typeface="Aptos" pitchFamily="34" charset="-122"/>
                <a:cs typeface="Aptos" pitchFamily="34" charset="-120"/>
              </a:rPr>
              <a:t>Rejects introspection: </a:t>
            </a:r>
            <a:endParaRPr lang="en-US" sz="1380" dirty="0"/>
          </a:p>
          <a:p>
            <a:r>
              <a:rPr lang="en-US" sz="1380" dirty="0">
                <a:solidFill>
                  <a:srgbClr val="1F2933"/>
                </a:solidFill>
                <a:latin typeface="Aptos" pitchFamily="34" charset="0"/>
                <a:ea typeface="Aptos" pitchFamily="34" charset="-122"/>
                <a:cs typeface="Aptos" pitchFamily="34" charset="-120"/>
              </a:rPr>
              <a:t>mental states are not reliable evidence</a:t>
            </a:r>
            <a:pPr indent="0" marL="0">
              <a:buNone/>
            </a:pPr>
            <a:r>
              <a:rPr lang="en-US" sz="1380" dirty="0">
                <a:solidFill>
                  <a:srgbClr val="1F2933"/>
                </a:solidFill>
                <a:latin typeface="Aptos" pitchFamily="34" charset="0"/>
                <a:ea typeface="Aptos" pitchFamily="34" charset="-122"/>
                <a:cs typeface="Aptos" pitchFamily="34" charset="-120"/>
              </a:rPr>
              <a:t>
</a:t>
            </a:r>
            <a:endParaRPr lang="en-US" sz="1380" dirty="0"/>
          </a:p>
          <a:p>
            <a:r>
              <a:rPr lang="en-US" sz="1380" b="1" dirty="0">
                <a:solidFill>
                  <a:srgbClr val="1F2933"/>
                </a:solidFill>
                <a:latin typeface="Aptos" pitchFamily="34" charset="0"/>
                <a:ea typeface="Aptos" pitchFamily="34" charset="-122"/>
                <a:cs typeface="Aptos" pitchFamily="34" charset="-120"/>
              </a:rPr>
              <a:t>Useful but limited: </a:t>
            </a:r>
            <a:endParaRPr lang="en-US" sz="1380" dirty="0"/>
          </a:p>
          <a:p>
            <a:r>
              <a:rPr lang="en-US" sz="1380" dirty="0">
                <a:solidFill>
                  <a:srgbClr val="1F2933"/>
                </a:solidFill>
                <a:latin typeface="Aptos" pitchFamily="34" charset="0"/>
                <a:ea typeface="Aptos" pitchFamily="34" charset="-122"/>
                <a:cs typeface="Aptos" pitchFamily="34" charset="-120"/>
              </a:rPr>
              <a:t>stronger with animals than humans</a:t>
            </a:r>
            <a:endParaRPr lang="en-US" sz="1380" dirty="0"/>
          </a:p>
        </p:txBody>
      </p:sp>
      <p:sp>
        <p:nvSpPr>
          <p:cNvPr id="11" name="Shape 9"/>
          <p:cNvSpPr/>
          <p:nvPr/>
        </p:nvSpPr>
        <p:spPr>
          <a:xfrm>
            <a:off x="6355080" y="1874520"/>
            <a:ext cx="5166360" cy="2057400"/>
          </a:xfrm>
          <a:prstGeom prst="roundRect">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2" name="Text 10"/>
          <p:cNvSpPr/>
          <p:nvPr/>
        </p:nvSpPr>
        <p:spPr>
          <a:xfrm>
            <a:off x="6629400" y="2029968"/>
            <a:ext cx="4617720" cy="320040"/>
          </a:xfrm>
          <a:prstGeom prst="rect">
            <a:avLst/>
          </a:prstGeom>
          <a:noFill/>
          <a:ln/>
        </p:spPr>
        <p:txBody>
          <a:bodyPr wrap="square" lIns="0" tIns="0" rIns="0" bIns="0" rtlCol="0" anchor="ctr"/>
          <a:lstStyle/>
          <a:p>
            <a:pPr algn="ctr" indent="0" marL="0">
              <a:buNone/>
            </a:pPr>
            <a:r>
              <a:rPr lang="en-US" sz="1730" b="1" dirty="0">
                <a:solidFill>
                  <a:srgbClr val="55A630"/>
                </a:solidFill>
              </a:rPr>
              <a:t>Input → Representation → Action</a:t>
            </a:r>
            <a:endParaRPr lang="en-US" sz="1730" dirty="0"/>
          </a:p>
        </p:txBody>
      </p:sp>
      <p:sp>
        <p:nvSpPr>
          <p:cNvPr id="13" name="Text 11"/>
          <p:cNvSpPr/>
          <p:nvPr/>
        </p:nvSpPr>
        <p:spPr>
          <a:xfrm>
            <a:off x="6629400" y="2542032"/>
            <a:ext cx="4617720" cy="1143000"/>
          </a:xfrm>
          <a:prstGeom prst="rect">
            <a:avLst/>
          </a:prstGeom>
          <a:noFill/>
          <a:ln/>
        </p:spPr>
        <p:txBody>
          <a:bodyPr wrap="square" lIns="889" tIns="889" rIns="889" bIns="889" rtlCol="0" anchor="ctr">
            <a:normAutofit/>
          </a:bodyPr>
          <a:lstStyle/>
          <a:p>
            <a:r>
              <a:rPr lang="en-US" sz="1380" b="1" dirty="0">
                <a:solidFill>
                  <a:srgbClr val="1F2933"/>
                </a:solidFill>
                <a:latin typeface="Aptos" pitchFamily="34" charset="0"/>
                <a:ea typeface="Aptos" pitchFamily="34" charset="-122"/>
                <a:cs typeface="Aptos" pitchFamily="34" charset="-120"/>
              </a:rPr>
              <a:t>Mind as information processor: </a:t>
            </a:r>
            <a:endParaRPr lang="en-US" sz="1380" dirty="0"/>
          </a:p>
          <a:p>
            <a:r>
              <a:rPr lang="en-US" sz="1380" dirty="0">
                <a:solidFill>
                  <a:srgbClr val="1F2933"/>
                </a:solidFill>
                <a:latin typeface="Aptos" pitchFamily="34" charset="0"/>
                <a:ea typeface="Aptos" pitchFamily="34" charset="-122"/>
                <a:cs typeface="Aptos" pitchFamily="34" charset="-120"/>
              </a:rPr>
              <a:t>beliefs, goals, internal models</a:t>
            </a:r>
            <a:pPr indent="0" marL="0">
              <a:buNone/>
            </a:pPr>
            <a:r>
              <a:rPr lang="en-US" sz="1380" dirty="0">
                <a:solidFill>
                  <a:srgbClr val="1F2933"/>
                </a:solidFill>
                <a:latin typeface="Aptos" pitchFamily="34" charset="0"/>
                <a:ea typeface="Aptos" pitchFamily="34" charset="-122"/>
                <a:cs typeface="Aptos" pitchFamily="34" charset="-120"/>
              </a:rPr>
              <a:t>
</a:t>
            </a:r>
            <a:endParaRPr lang="en-US" sz="1380" dirty="0"/>
          </a:p>
          <a:p>
            <a:r>
              <a:rPr lang="en-US" sz="1380" b="1" dirty="0">
                <a:solidFill>
                  <a:srgbClr val="1F2933"/>
                </a:solidFill>
                <a:latin typeface="Aptos" pitchFamily="34" charset="0"/>
                <a:ea typeface="Aptos" pitchFamily="34" charset="-122"/>
                <a:cs typeface="Aptos" pitchFamily="34" charset="-120"/>
              </a:rPr>
              <a:t>Craik model: </a:t>
            </a:r>
            <a:endParaRPr lang="en-US" sz="1380" dirty="0"/>
          </a:p>
          <a:p>
            <a:r>
              <a:rPr lang="en-US" sz="1380" dirty="0">
                <a:solidFill>
                  <a:srgbClr val="1F2933"/>
                </a:solidFill>
                <a:latin typeface="Aptos" pitchFamily="34" charset="0"/>
                <a:ea typeface="Aptos" pitchFamily="34" charset="-122"/>
                <a:cs typeface="Aptos" pitchFamily="34" charset="-120"/>
              </a:rPr>
              <a:t>represent, manipulate, act</a:t>
            </a:r>
            <a:pPr indent="0" marL="0">
              <a:buNone/>
            </a:pPr>
            <a:r>
              <a:rPr lang="en-US" sz="1380" dirty="0">
                <a:solidFill>
                  <a:srgbClr val="1F2933"/>
                </a:solidFill>
                <a:latin typeface="Aptos" pitchFamily="34" charset="0"/>
                <a:ea typeface="Aptos" pitchFamily="34" charset="-122"/>
                <a:cs typeface="Aptos" pitchFamily="34" charset="-120"/>
              </a:rPr>
              <a:t>
</a:t>
            </a:r>
            <a:endParaRPr lang="en-US" sz="1380" dirty="0"/>
          </a:p>
          <a:p>
            <a:r>
              <a:rPr lang="en-US" sz="1380" b="1" dirty="0">
                <a:solidFill>
                  <a:srgbClr val="1F2933"/>
                </a:solidFill>
                <a:latin typeface="Aptos" pitchFamily="34" charset="0"/>
                <a:ea typeface="Aptos" pitchFamily="34" charset="-122"/>
                <a:cs typeface="Aptos" pitchFamily="34" charset="-120"/>
              </a:rPr>
              <a:t>Bridge to AI: </a:t>
            </a:r>
            <a:endParaRPr lang="en-US" sz="1380" dirty="0"/>
          </a:p>
          <a:p>
            <a:r>
              <a:rPr lang="en-US" sz="1380" dirty="0">
                <a:solidFill>
                  <a:srgbClr val="1F2933"/>
                </a:solidFill>
                <a:latin typeface="Aptos" pitchFamily="34" charset="0"/>
                <a:ea typeface="Aptos" pitchFamily="34" charset="-122"/>
                <a:cs typeface="Aptos" pitchFamily="34" charset="-120"/>
              </a:rPr>
              <a:t>cognitive theories can be written as programs</a:t>
            </a:r>
            <a:endParaRPr lang="en-US" sz="1380" dirty="0"/>
          </a:p>
        </p:txBody>
      </p:sp>
      <p:sp>
        <p:nvSpPr>
          <p:cNvPr id="14" name="Text 12"/>
          <p:cNvSpPr/>
          <p:nvPr/>
        </p:nvSpPr>
        <p:spPr>
          <a:xfrm>
            <a:off x="822960" y="4599432"/>
            <a:ext cx="10561320" cy="530352"/>
          </a:xfrm>
          <a:prstGeom prst="rect">
            <a:avLst/>
          </a:prstGeom>
          <a:noFill/>
          <a:ln/>
        </p:spPr>
        <p:txBody>
          <a:bodyPr wrap="square" lIns="508" tIns="508" rIns="508" bIns="508" rtlCol="0" anchor="ctr"/>
          <a:lstStyle/>
          <a:p>
            <a:pPr algn="ctr" indent="0" marL="0">
              <a:buNone/>
            </a:pPr>
            <a:r>
              <a:rPr lang="en-US" sz="1800" b="1" dirty="0">
                <a:solidFill>
                  <a:srgbClr val="102A43"/>
                </a:solidFill>
                <a:latin typeface="Aptos Display" pitchFamily="34" charset="0"/>
                <a:ea typeface="Aptos Display" pitchFamily="34" charset="-122"/>
                <a:cs typeface="Aptos Display" pitchFamily="34" charset="-120"/>
              </a:rPr>
              <a:t>Discussion prompt: Is a chatbot best understood by its behavior, its internal process, or both?</a:t>
            </a:r>
            <a:endParaRPr lang="en-US" sz="1800" dirty="0"/>
          </a:p>
        </p:txBody>
      </p:sp>
      <p:sp>
        <p:nvSpPr>
          <p:cNvPr id="15" name="Shape 13"/>
          <p:cNvSpPr/>
          <p:nvPr/>
        </p:nvSpPr>
        <p:spPr>
          <a:xfrm>
            <a:off x="1417320" y="5394960"/>
            <a:ext cx="9326880" cy="640080"/>
          </a:xfrm>
          <a:prstGeom prst="roundRect">
            <a:avLst>
              <a:gd name="adj" fmla="val 11429"/>
            </a:avLst>
          </a:prstGeom>
          <a:solidFill>
            <a:srgbClr val="247BA0"/>
          </a:solidFill>
          <a:ln w="12700">
            <a:solidFill>
              <a:srgbClr val="247BA0"/>
            </a:solidFill>
            <a:prstDash val="solid"/>
          </a:ln>
          <a:effectLst>
            <a:outerShdw sx="100000" sy="100000" kx="0" ky="0" algn="bl" rotWithShape="0" blurRad="19050" dist="7620" dir="2700000">
              <a:srgbClr val="000000">
                <a:alpha val="10000"/>
              </a:srgbClr>
            </a:outerShdw>
          </a:effectLst>
        </p:spPr>
      </p:sp>
      <p:sp>
        <p:nvSpPr>
          <p:cNvPr id="16" name="Text 14"/>
          <p:cNvSpPr/>
          <p:nvPr/>
        </p:nvSpPr>
        <p:spPr>
          <a:xfrm>
            <a:off x="1554480" y="5486400"/>
            <a:ext cx="9052560" cy="457200"/>
          </a:xfrm>
          <a:prstGeom prst="rect">
            <a:avLst/>
          </a:prstGeom>
          <a:noFill/>
          <a:ln/>
        </p:spPr>
        <p:txBody>
          <a:bodyPr wrap="square" lIns="0" tIns="0" rIns="0" bIns="0" rtlCol="0" anchor="ctr">
            <a:normAutofit/>
          </a:bodyPr>
          <a:lstStyle/>
          <a:p>
            <a:pPr algn="ctr" indent="0" marL="0">
              <a:buNone/>
            </a:pPr>
            <a:r>
              <a:rPr lang="en-US" sz="1450" b="1" dirty="0">
                <a:solidFill>
                  <a:srgbClr val="FFFFFF"/>
                </a:solidFill>
                <a:latin typeface="Aptos" pitchFamily="34" charset="0"/>
                <a:ea typeface="Aptos" pitchFamily="34" charset="-122"/>
                <a:cs typeface="Aptos" pitchFamily="34" charset="-120"/>
              </a:rPr>
              <a:t>Key idea: AI inherited both observable behavior and internal representation as ways to study intelligence.</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02920" y="292608"/>
            <a:ext cx="914400" cy="228600"/>
          </a:xfrm>
          <a:prstGeom prst="rect">
            <a:avLst/>
          </a:prstGeom>
          <a:noFill/>
          <a:ln/>
        </p:spPr>
        <p:txBody>
          <a:bodyPr wrap="square" lIns="0" tIns="0" rIns="0" bIns="0" rtlCol="0" anchor="ctr"/>
          <a:lstStyle/>
          <a:p>
            <a:pPr indent="0" marL="0">
              <a:buNone/>
            </a:pPr>
            <a:r>
              <a:rPr lang="en-US" sz="950" b="1" dirty="0">
                <a:solidFill>
                  <a:srgbClr val="247BA0"/>
                </a:solidFill>
                <a:latin typeface="Aptos" pitchFamily="34" charset="0"/>
                <a:ea typeface="Aptos" pitchFamily="34" charset="-122"/>
                <a:cs typeface="Aptos" pitchFamily="34" charset="-120"/>
              </a:rPr>
              <a:t>1.2.8</a:t>
            </a:r>
            <a:endParaRPr lang="en-US" sz="950" dirty="0"/>
          </a:p>
        </p:txBody>
      </p:sp>
      <p:sp>
        <p:nvSpPr>
          <p:cNvPr id="3" name="Text 1"/>
          <p:cNvSpPr/>
          <p:nvPr/>
        </p:nvSpPr>
        <p:spPr>
          <a:xfrm>
            <a:off x="502920" y="566928"/>
            <a:ext cx="10881360" cy="475488"/>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Linguistics: Language, Thought, and AI</a:t>
            </a:r>
            <a:endParaRPr lang="en-US" sz="2500" dirty="0"/>
          </a:p>
        </p:txBody>
      </p:sp>
      <p:sp>
        <p:nvSpPr>
          <p:cNvPr id="4" name="Shape 2"/>
          <p:cNvSpPr/>
          <p:nvPr/>
        </p:nvSpPr>
        <p:spPr>
          <a:xfrm>
            <a:off x="502920" y="1152144"/>
            <a:ext cx="11155680" cy="0"/>
          </a:xfrm>
          <a:prstGeom prst="line">
            <a:avLst/>
          </a:prstGeom>
          <a:noFill/>
          <a:ln w="12700">
            <a:solidFill>
              <a:srgbClr val="D9E2EC"/>
            </a:solidFill>
            <a:prstDash val="solid"/>
          </a:ln>
        </p:spPr>
      </p:sp>
      <p:sp>
        <p:nvSpPr>
          <p:cNvPr id="5" name="Text 3"/>
          <p:cNvSpPr/>
          <p:nvPr/>
        </p:nvSpPr>
        <p:spPr>
          <a:xfrm>
            <a:off x="9829800" y="6464808"/>
            <a:ext cx="1828800" cy="182880"/>
          </a:xfrm>
          <a:prstGeom prst="rect">
            <a:avLst/>
          </a:prstGeom>
          <a:noFill/>
          <a:ln/>
        </p:spPr>
        <p:txBody>
          <a:bodyPr wrap="square" lIns="0" tIns="0" rIns="0" bIns="0" rtlCol="0" anchor="ctr"/>
          <a:lstStyle/>
          <a:p>
            <a:pPr algn="r" indent="0" marL="0">
              <a:buNone/>
            </a:pPr>
            <a:r>
              <a:rPr lang="en-US" sz="850" dirty="0">
                <a:solidFill>
                  <a:srgbClr val="7B8794"/>
                </a:solidFill>
                <a:latin typeface="Aptos" pitchFamily="34" charset="0"/>
                <a:ea typeface="Aptos" pitchFamily="34" charset="-122"/>
                <a:cs typeface="Aptos" pitchFamily="34" charset="-120"/>
              </a:rPr>
              <a:t>COMP 469 · Chapter 1</a:t>
            </a:r>
            <a:endParaRPr lang="en-US" sz="850" dirty="0"/>
          </a:p>
        </p:txBody>
      </p:sp>
      <p:sp>
        <p:nvSpPr>
          <p:cNvPr id="6" name="Shape 4"/>
          <p:cNvSpPr/>
          <p:nvPr/>
        </p:nvSpPr>
        <p:spPr>
          <a:xfrm>
            <a:off x="685800" y="1508760"/>
            <a:ext cx="3246120" cy="3337560"/>
          </a:xfrm>
          <a:prstGeom prst="roundRect">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7" name="Text 5"/>
          <p:cNvSpPr/>
          <p:nvPr/>
        </p:nvSpPr>
        <p:spPr>
          <a:xfrm>
            <a:off x="960120" y="1737360"/>
            <a:ext cx="2697480" cy="274320"/>
          </a:xfrm>
          <a:prstGeom prst="rect">
            <a:avLst/>
          </a:prstGeom>
          <a:noFill/>
          <a:ln/>
        </p:spPr>
        <p:txBody>
          <a:bodyPr wrap="square" lIns="0" tIns="0" rIns="0" bIns="0" rtlCol="0" anchor="ctr"/>
          <a:lstStyle/>
          <a:p>
            <a:pPr algn="ctr" indent="0" marL="0">
              <a:buNone/>
            </a:pPr>
            <a:r>
              <a:rPr lang="en-US" sz="1800" b="1" dirty="0">
                <a:solidFill>
                  <a:srgbClr val="C1121F"/>
                </a:solidFill>
              </a:rPr>
              <a:t>Behaviorist view</a:t>
            </a:r>
            <a:endParaRPr lang="en-US" sz="1800" dirty="0"/>
          </a:p>
        </p:txBody>
      </p:sp>
      <p:sp>
        <p:nvSpPr>
          <p:cNvPr id="8" name="Text 6"/>
          <p:cNvSpPr/>
          <p:nvPr/>
        </p:nvSpPr>
        <p:spPr>
          <a:xfrm>
            <a:off x="914400" y="2249424"/>
            <a:ext cx="2788920" cy="868680"/>
          </a:xfrm>
          <a:prstGeom prst="rect">
            <a:avLst/>
          </a:prstGeom>
          <a:noFill/>
          <a:ln/>
        </p:spPr>
        <p:txBody>
          <a:bodyPr wrap="square" lIns="635" tIns="635" rIns="635" bIns="635" rtlCol="0" anchor="ctr">
            <a:normAutofit/>
          </a:bodyPr>
          <a:lstStyle/>
          <a:p>
            <a:pPr algn="ctr" indent="0" marL="0">
              <a:buNone/>
            </a:pPr>
            <a:r>
              <a:rPr lang="en-US" sz="1700" dirty="0">
                <a:solidFill>
                  <a:srgbClr val="1F2933"/>
                </a:solidFill>
              </a:rPr>
              <a:t>Language as learned stimulus-response behavior</a:t>
            </a:r>
            <a:endParaRPr lang="en-US" sz="1700" dirty="0"/>
          </a:p>
        </p:txBody>
      </p:sp>
      <p:sp>
        <p:nvSpPr>
          <p:cNvPr id="9" name="Text 7"/>
          <p:cNvSpPr/>
          <p:nvPr/>
        </p:nvSpPr>
        <p:spPr>
          <a:xfrm>
            <a:off x="914400" y="3364992"/>
            <a:ext cx="2788920" cy="685800"/>
          </a:xfrm>
          <a:prstGeom prst="rect">
            <a:avLst/>
          </a:prstGeom>
          <a:noFill/>
          <a:ln/>
        </p:spPr>
        <p:txBody>
          <a:bodyPr wrap="square" lIns="635" tIns="635" rIns="635" bIns="635" rtlCol="0" anchor="ctr">
            <a:normAutofit/>
          </a:bodyPr>
          <a:lstStyle/>
          <a:p>
            <a:pPr algn="ctr" indent="0" marL="0">
              <a:buNone/>
            </a:pPr>
            <a:r>
              <a:rPr lang="en-US" sz="1350" dirty="0">
                <a:solidFill>
                  <a:srgbClr val="52616B"/>
                </a:solidFill>
              </a:rPr>
              <a:t>Problem: children create and understand sentences they have never heard before.</a:t>
            </a:r>
            <a:endParaRPr lang="en-US" sz="1350" dirty="0"/>
          </a:p>
        </p:txBody>
      </p:sp>
      <p:sp>
        <p:nvSpPr>
          <p:cNvPr id="10" name="Shape 8"/>
          <p:cNvSpPr/>
          <p:nvPr/>
        </p:nvSpPr>
        <p:spPr>
          <a:xfrm>
            <a:off x="4251960" y="2560320"/>
            <a:ext cx="914400" cy="594360"/>
          </a:xfrm>
          <a:prstGeom prst="chevron">
            <a:avLst/>
          </a:prstGeom>
          <a:solidFill>
            <a:srgbClr val="F3C677"/>
          </a:solidFill>
          <a:ln w="12700">
            <a:solidFill>
              <a:srgbClr val="F3C677"/>
            </a:solidFill>
            <a:prstDash val="solid"/>
          </a:ln>
        </p:spPr>
      </p:sp>
      <p:sp>
        <p:nvSpPr>
          <p:cNvPr id="11" name="Text 9"/>
          <p:cNvSpPr/>
          <p:nvPr/>
        </p:nvSpPr>
        <p:spPr>
          <a:xfrm>
            <a:off x="3977640" y="3310128"/>
            <a:ext cx="1417320" cy="411480"/>
          </a:xfrm>
          <a:prstGeom prst="rect">
            <a:avLst/>
          </a:prstGeom>
          <a:noFill/>
          <a:ln/>
        </p:spPr>
        <p:txBody>
          <a:bodyPr wrap="square" lIns="0" tIns="0" rIns="0" bIns="0" rtlCol="0" anchor="ctr">
            <a:normAutofit/>
          </a:bodyPr>
          <a:lstStyle/>
          <a:p>
            <a:pPr algn="ctr" indent="0" marL="0">
              <a:buNone/>
            </a:pPr>
            <a:r>
              <a:rPr lang="en-US" sz="1250" b="1" dirty="0">
                <a:solidFill>
                  <a:srgbClr val="102A43"/>
                </a:solidFill>
              </a:rPr>
              <a:t>Chomsky critique</a:t>
            </a:r>
            <a:endParaRPr lang="en-US" sz="1250" dirty="0"/>
          </a:p>
        </p:txBody>
      </p:sp>
      <p:sp>
        <p:nvSpPr>
          <p:cNvPr id="12" name="Shape 10"/>
          <p:cNvSpPr/>
          <p:nvPr/>
        </p:nvSpPr>
        <p:spPr>
          <a:xfrm>
            <a:off x="5486400" y="1508760"/>
            <a:ext cx="5989320" cy="3337560"/>
          </a:xfrm>
          <a:prstGeom prst="roundRect">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3" name="Text 11"/>
          <p:cNvSpPr/>
          <p:nvPr/>
        </p:nvSpPr>
        <p:spPr>
          <a:xfrm>
            <a:off x="5806440" y="1737360"/>
            <a:ext cx="5349240" cy="320040"/>
          </a:xfrm>
          <a:prstGeom prst="rect">
            <a:avLst/>
          </a:prstGeom>
          <a:noFill/>
          <a:ln/>
        </p:spPr>
        <p:txBody>
          <a:bodyPr wrap="square" lIns="0" tIns="0" rIns="0" bIns="0" rtlCol="0" anchor="ctr"/>
          <a:lstStyle/>
          <a:p>
            <a:pPr algn="ctr" indent="0" marL="0">
              <a:buNone/>
            </a:pPr>
            <a:r>
              <a:rPr lang="en-US" sz="1800" b="1" dirty="0">
                <a:solidFill>
                  <a:srgbClr val="102A43"/>
                </a:solidFill>
              </a:rPr>
              <a:t>Modern language AI needs more than syntax</a:t>
            </a:r>
            <a:endParaRPr lang="en-US" sz="1800" dirty="0"/>
          </a:p>
        </p:txBody>
      </p:sp>
      <p:sp>
        <p:nvSpPr>
          <p:cNvPr id="14" name="Text 12"/>
          <p:cNvSpPr/>
          <p:nvPr/>
        </p:nvSpPr>
        <p:spPr>
          <a:xfrm>
            <a:off x="5897880" y="2331720"/>
            <a:ext cx="5303520" cy="1600200"/>
          </a:xfrm>
          <a:prstGeom prst="rect">
            <a:avLst/>
          </a:prstGeom>
          <a:noFill/>
          <a:ln/>
        </p:spPr>
        <p:txBody>
          <a:bodyPr wrap="square" lIns="889" tIns="889" rIns="889" bIns="889" rtlCol="0" anchor="ctr">
            <a:normAutofit/>
          </a:bodyPr>
          <a:lstStyle/>
          <a:p>
            <a:r>
              <a:rPr lang="en-US" sz="1500" b="1" dirty="0">
                <a:solidFill>
                  <a:srgbClr val="1F2933"/>
                </a:solidFill>
                <a:latin typeface="Aptos" pitchFamily="34" charset="0"/>
                <a:ea typeface="Aptos" pitchFamily="34" charset="-122"/>
                <a:cs typeface="Aptos" pitchFamily="34" charset="-120"/>
              </a:rPr>
              <a:t>Formal models: </a:t>
            </a:r>
            <a:endParaRPr lang="en-US" sz="1500" dirty="0"/>
          </a:p>
          <a:p>
            <a:r>
              <a:rPr lang="en-US" sz="1500" dirty="0">
                <a:solidFill>
                  <a:srgbClr val="1F2933"/>
                </a:solidFill>
                <a:latin typeface="Aptos" pitchFamily="34" charset="0"/>
                <a:ea typeface="Aptos" pitchFamily="34" charset="-122"/>
                <a:cs typeface="Aptos" pitchFamily="34" charset="-120"/>
              </a:rPr>
              <a:t>grammar and structure can be described precisely</a:t>
            </a:r>
            <a:pPr indent="0" marL="0">
              <a:buNone/>
            </a:pPr>
            <a:r>
              <a:rPr lang="en-US" sz="1500" dirty="0">
                <a:solidFill>
                  <a:srgbClr val="1F2933"/>
                </a:solidFill>
                <a:latin typeface="Aptos" pitchFamily="34" charset="0"/>
                <a:ea typeface="Aptos" pitchFamily="34" charset="-122"/>
                <a:cs typeface="Aptos" pitchFamily="34" charset="-120"/>
              </a:rPr>
              <a:t>
</a:t>
            </a:r>
            <a:endParaRPr lang="en-US" sz="1500" dirty="0"/>
          </a:p>
          <a:p>
            <a:r>
              <a:rPr lang="en-US" sz="1500" b="1" dirty="0">
                <a:solidFill>
                  <a:srgbClr val="1F2933"/>
                </a:solidFill>
                <a:latin typeface="Aptos" pitchFamily="34" charset="0"/>
                <a:ea typeface="Aptos" pitchFamily="34" charset="-122"/>
                <a:cs typeface="Aptos" pitchFamily="34" charset="-120"/>
              </a:rPr>
              <a:t>Computational linguistics: </a:t>
            </a:r>
            <a:endParaRPr lang="en-US" sz="1500" dirty="0"/>
          </a:p>
          <a:p>
            <a:r>
              <a:rPr lang="en-US" sz="1500" dirty="0">
                <a:solidFill>
                  <a:srgbClr val="1F2933"/>
                </a:solidFill>
                <a:latin typeface="Aptos" pitchFamily="34" charset="0"/>
                <a:ea typeface="Aptos" pitchFamily="34" charset="-122"/>
                <a:cs typeface="Aptos" pitchFamily="34" charset="-120"/>
              </a:rPr>
              <a:t>language + computer models</a:t>
            </a:r>
            <a:pPr indent="0" marL="0">
              <a:buNone/>
            </a:pPr>
            <a:r>
              <a:rPr lang="en-US" sz="1500" dirty="0">
                <a:solidFill>
                  <a:srgbClr val="1F2933"/>
                </a:solidFill>
                <a:latin typeface="Aptos" pitchFamily="34" charset="0"/>
                <a:ea typeface="Aptos" pitchFamily="34" charset="-122"/>
                <a:cs typeface="Aptos" pitchFamily="34" charset="-120"/>
              </a:rPr>
              <a:t>
</a:t>
            </a:r>
            <a:endParaRPr lang="en-US" sz="1500" dirty="0"/>
          </a:p>
          <a:p>
            <a:r>
              <a:rPr lang="en-US" sz="1500" b="1" dirty="0">
                <a:solidFill>
                  <a:srgbClr val="1F2933"/>
                </a:solidFill>
                <a:latin typeface="Aptos" pitchFamily="34" charset="0"/>
                <a:ea typeface="Aptos" pitchFamily="34" charset="-122"/>
                <a:cs typeface="Aptos" pitchFamily="34" charset="-120"/>
              </a:rPr>
              <a:t>Natural language processing: </a:t>
            </a:r>
            <a:endParaRPr lang="en-US" sz="1500" dirty="0"/>
          </a:p>
          <a:p>
            <a:r>
              <a:rPr lang="en-US" sz="1500" dirty="0">
                <a:solidFill>
                  <a:srgbClr val="1F2933"/>
                </a:solidFill>
                <a:latin typeface="Aptos" pitchFamily="34" charset="0"/>
                <a:ea typeface="Aptos" pitchFamily="34" charset="-122"/>
                <a:cs typeface="Aptos" pitchFamily="34" charset="-120"/>
              </a:rPr>
              <a:t>machines process and use human language</a:t>
            </a:r>
            <a:pPr indent="0" marL="0">
              <a:buNone/>
            </a:pPr>
            <a:r>
              <a:rPr lang="en-US" sz="1500" dirty="0">
                <a:solidFill>
                  <a:srgbClr val="1F2933"/>
                </a:solidFill>
                <a:latin typeface="Aptos" pitchFamily="34" charset="0"/>
                <a:ea typeface="Aptos" pitchFamily="34" charset="-122"/>
                <a:cs typeface="Aptos" pitchFamily="34" charset="-120"/>
              </a:rPr>
              <a:t>
</a:t>
            </a:r>
            <a:endParaRPr lang="en-US" sz="1500" dirty="0"/>
          </a:p>
          <a:p>
            <a:r>
              <a:rPr lang="en-US" sz="1500" b="1" dirty="0">
                <a:solidFill>
                  <a:srgbClr val="1F2933"/>
                </a:solidFill>
                <a:latin typeface="Aptos" pitchFamily="34" charset="0"/>
                <a:ea typeface="Aptos" pitchFamily="34" charset="-122"/>
                <a:cs typeface="Aptos" pitchFamily="34" charset="-120"/>
              </a:rPr>
              <a:t>Context matters: </a:t>
            </a:r>
            <a:endParaRPr lang="en-US" sz="1500" dirty="0"/>
          </a:p>
          <a:p>
            <a:r>
              <a:rPr lang="en-US" sz="1500" dirty="0">
                <a:solidFill>
                  <a:srgbClr val="1F2933"/>
                </a:solidFill>
                <a:latin typeface="Aptos" pitchFamily="34" charset="0"/>
                <a:ea typeface="Aptos" pitchFamily="34" charset="-122"/>
                <a:cs typeface="Aptos" pitchFamily="34" charset="-120"/>
              </a:rPr>
              <a:t>understanding requires knowledge of the world</a:t>
            </a:r>
            <a:endParaRPr lang="en-US" sz="1500" dirty="0"/>
          </a:p>
        </p:txBody>
      </p:sp>
      <p:sp>
        <p:nvSpPr>
          <p:cNvPr id="15" name="Shape 13"/>
          <p:cNvSpPr/>
          <p:nvPr/>
        </p:nvSpPr>
        <p:spPr>
          <a:xfrm>
            <a:off x="1508760" y="5358384"/>
            <a:ext cx="9144000" cy="640080"/>
          </a:xfrm>
          <a:prstGeom prst="roundRect">
            <a:avLst>
              <a:gd name="adj" fmla="val 11429"/>
            </a:avLst>
          </a:prstGeom>
          <a:solidFill>
            <a:srgbClr val="6D28D9"/>
          </a:solidFill>
          <a:ln w="12700">
            <a:solidFill>
              <a:srgbClr val="6D28D9"/>
            </a:solidFill>
            <a:prstDash val="solid"/>
          </a:ln>
          <a:effectLst>
            <a:outerShdw sx="100000" sy="100000" kx="0" ky="0" algn="bl" rotWithShape="0" blurRad="19050" dist="7620" dir="2700000">
              <a:srgbClr val="000000">
                <a:alpha val="10000"/>
              </a:srgbClr>
            </a:outerShdw>
          </a:effectLst>
        </p:spPr>
      </p:sp>
      <p:sp>
        <p:nvSpPr>
          <p:cNvPr id="16" name="Text 14"/>
          <p:cNvSpPr/>
          <p:nvPr/>
        </p:nvSpPr>
        <p:spPr>
          <a:xfrm>
            <a:off x="1645920" y="5449824"/>
            <a:ext cx="8869680" cy="457200"/>
          </a:xfrm>
          <a:prstGeom prst="rect">
            <a:avLst/>
          </a:prstGeom>
          <a:noFill/>
          <a:ln/>
        </p:spPr>
        <p:txBody>
          <a:bodyPr wrap="square" lIns="0" tIns="0" rIns="0" bIns="0" rtlCol="0" anchor="ctr">
            <a:normAutofit/>
          </a:bodyPr>
          <a:lstStyle/>
          <a:p>
            <a:pPr algn="ctr" indent="0" marL="0">
              <a:buNone/>
            </a:pPr>
            <a:r>
              <a:rPr lang="en-US" sz="1450" b="1" dirty="0">
                <a:solidFill>
                  <a:srgbClr val="FFFFFF"/>
                </a:solidFill>
                <a:latin typeface="Aptos" pitchFamily="34" charset="0"/>
                <a:ea typeface="Aptos" pitchFamily="34" charset="-122"/>
                <a:cs typeface="Aptos" pitchFamily="34" charset="-120"/>
              </a:rPr>
              <a:t>Key idea: language understanding is not just word order; it requires meaning, context, and world knowledge.</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02920" y="292608"/>
            <a:ext cx="914400" cy="228600"/>
          </a:xfrm>
          <a:prstGeom prst="rect">
            <a:avLst/>
          </a:prstGeom>
          <a:noFill/>
          <a:ln/>
        </p:spPr>
        <p:txBody>
          <a:bodyPr wrap="square" lIns="0" tIns="0" rIns="0" bIns="0" rtlCol="0" anchor="ctr"/>
          <a:lstStyle/>
          <a:p>
            <a:pPr indent="0" marL="0">
              <a:buNone/>
            </a:pPr>
            <a:r>
              <a:rPr lang="en-US" sz="950" b="1" dirty="0">
                <a:solidFill>
                  <a:srgbClr val="247BA0"/>
                </a:solidFill>
                <a:latin typeface="Aptos" pitchFamily="34" charset="0"/>
                <a:ea typeface="Aptos" pitchFamily="34" charset="-122"/>
                <a:cs typeface="Aptos" pitchFamily="34" charset="-120"/>
              </a:rPr>
              <a:t>1.3.2</a:t>
            </a:r>
            <a:endParaRPr lang="en-US" sz="950" dirty="0"/>
          </a:p>
        </p:txBody>
      </p:sp>
      <p:sp>
        <p:nvSpPr>
          <p:cNvPr id="3" name="Text 1"/>
          <p:cNvSpPr/>
          <p:nvPr/>
        </p:nvSpPr>
        <p:spPr>
          <a:xfrm>
            <a:off x="502920" y="566928"/>
            <a:ext cx="10881360" cy="475488"/>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Early Symbolic AI: Symbols, Advice, and Action</a:t>
            </a:r>
            <a:endParaRPr lang="en-US" sz="2500" dirty="0"/>
          </a:p>
        </p:txBody>
      </p:sp>
      <p:sp>
        <p:nvSpPr>
          <p:cNvPr id="4" name="Shape 2"/>
          <p:cNvSpPr/>
          <p:nvPr/>
        </p:nvSpPr>
        <p:spPr>
          <a:xfrm>
            <a:off x="502920" y="1152144"/>
            <a:ext cx="11155680" cy="0"/>
          </a:xfrm>
          <a:prstGeom prst="line">
            <a:avLst/>
          </a:prstGeom>
          <a:noFill/>
          <a:ln w="12700">
            <a:solidFill>
              <a:srgbClr val="D9E2EC"/>
            </a:solidFill>
            <a:prstDash val="solid"/>
          </a:ln>
        </p:spPr>
      </p:sp>
      <p:sp>
        <p:nvSpPr>
          <p:cNvPr id="5" name="Text 3"/>
          <p:cNvSpPr/>
          <p:nvPr/>
        </p:nvSpPr>
        <p:spPr>
          <a:xfrm>
            <a:off x="9829800" y="6464808"/>
            <a:ext cx="1828800" cy="182880"/>
          </a:xfrm>
          <a:prstGeom prst="rect">
            <a:avLst/>
          </a:prstGeom>
          <a:noFill/>
          <a:ln/>
        </p:spPr>
        <p:txBody>
          <a:bodyPr wrap="square" lIns="0" tIns="0" rIns="0" bIns="0" rtlCol="0" anchor="ctr"/>
          <a:lstStyle/>
          <a:p>
            <a:pPr algn="r" indent="0" marL="0">
              <a:buNone/>
            </a:pPr>
            <a:r>
              <a:rPr lang="en-US" sz="850" dirty="0">
                <a:solidFill>
                  <a:srgbClr val="7B8794"/>
                </a:solidFill>
                <a:latin typeface="Aptos" pitchFamily="34" charset="0"/>
                <a:ea typeface="Aptos" pitchFamily="34" charset="-122"/>
                <a:cs typeface="Aptos" pitchFamily="34" charset="-120"/>
              </a:rPr>
              <a:t>COMP 469 · Chapter 1</a:t>
            </a:r>
            <a:endParaRPr lang="en-US" sz="850" dirty="0"/>
          </a:p>
        </p:txBody>
      </p:sp>
      <p:sp>
        <p:nvSpPr>
          <p:cNvPr id="6" name="Shape 4"/>
          <p:cNvSpPr/>
          <p:nvPr/>
        </p:nvSpPr>
        <p:spPr>
          <a:xfrm>
            <a:off x="594360" y="1517904"/>
            <a:ext cx="3520440" cy="3566160"/>
          </a:xfrm>
          <a:prstGeom prst="roundRect">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7" name="Shape 5"/>
          <p:cNvSpPr/>
          <p:nvPr/>
        </p:nvSpPr>
        <p:spPr>
          <a:xfrm>
            <a:off x="594360" y="1517904"/>
            <a:ext cx="3520440" cy="146304"/>
          </a:xfrm>
          <a:prstGeom prst="rect">
            <a:avLst/>
          </a:prstGeom>
          <a:solidFill>
            <a:srgbClr val="247BA0"/>
          </a:solidFill>
          <a:ln w="12700">
            <a:solidFill>
              <a:srgbClr val="247BA0"/>
            </a:solidFill>
            <a:prstDash val="solid"/>
          </a:ln>
        </p:spPr>
      </p:sp>
      <p:sp>
        <p:nvSpPr>
          <p:cNvPr id="8" name="Text 6"/>
          <p:cNvSpPr/>
          <p:nvPr/>
        </p:nvSpPr>
        <p:spPr>
          <a:xfrm>
            <a:off x="777240" y="1828800"/>
            <a:ext cx="3154680" cy="502920"/>
          </a:xfrm>
          <a:prstGeom prst="rect">
            <a:avLst/>
          </a:prstGeom>
          <a:noFill/>
          <a:ln/>
        </p:spPr>
        <p:txBody>
          <a:bodyPr wrap="square" lIns="0" tIns="0" rIns="0" bIns="0" rtlCol="0" anchor="ctr">
            <a:normAutofit/>
          </a:bodyPr>
          <a:lstStyle/>
          <a:p>
            <a:pPr algn="ctr" indent="0" marL="0">
              <a:buNone/>
            </a:pPr>
            <a:r>
              <a:rPr lang="en-US" sz="1800" b="1" dirty="0">
                <a:solidFill>
                  <a:srgbClr val="102A43"/>
                </a:solidFill>
              </a:rPr>
              <a:t>Physical Symbol System</a:t>
            </a:r>
            <a:endParaRPr lang="en-US" sz="1800" dirty="0"/>
          </a:p>
        </p:txBody>
      </p:sp>
      <p:sp>
        <p:nvSpPr>
          <p:cNvPr id="9" name="Text 7"/>
          <p:cNvSpPr/>
          <p:nvPr/>
        </p:nvSpPr>
        <p:spPr>
          <a:xfrm>
            <a:off x="914400" y="2615184"/>
            <a:ext cx="2971800" cy="1783080"/>
          </a:xfrm>
          <a:prstGeom prst="rect">
            <a:avLst/>
          </a:prstGeom>
          <a:noFill/>
          <a:ln/>
        </p:spPr>
        <p:txBody>
          <a:bodyPr wrap="square" lIns="889" tIns="889" rIns="889" bIns="889" rtlCol="0" anchor="ctr">
            <a:normAutofit/>
          </a:bodyPr>
          <a:lstStyle/>
          <a:p>
            <a:r>
              <a:rPr lang="en-US" sz="1330" dirty="0">
                <a:solidFill>
                  <a:srgbClr val="1F2933"/>
                </a:solidFill>
                <a:latin typeface="Aptos" pitchFamily="34" charset="0"/>
                <a:ea typeface="Aptos" pitchFamily="34" charset="-122"/>
                <a:cs typeface="Aptos" pitchFamily="34" charset="-120"/>
              </a:rPr>
              <a:t>Intelligence as symbol manipulation</a:t>
            </a:r>
            <a:pPr indent="0" marL="0">
              <a:buNone/>
            </a:pPr>
            <a:r>
              <a:rPr lang="en-US" sz="1330" dirty="0">
                <a:solidFill>
                  <a:srgbClr val="1F2933"/>
                </a:solidFill>
                <a:latin typeface="Aptos" pitchFamily="34" charset="0"/>
                <a:ea typeface="Aptos" pitchFamily="34" charset="-122"/>
                <a:cs typeface="Aptos" pitchFamily="34" charset="-120"/>
              </a:rPr>
              <a:t>
</a:t>
            </a:r>
            <a:endParaRPr lang="en-US" sz="1330" dirty="0"/>
          </a:p>
          <a:p>
            <a:r>
              <a:rPr lang="en-US" sz="1330" dirty="0">
                <a:solidFill>
                  <a:srgbClr val="1F2933"/>
                </a:solidFill>
                <a:latin typeface="Aptos" pitchFamily="34" charset="0"/>
                <a:ea typeface="Aptos" pitchFamily="34" charset="-122"/>
                <a:cs typeface="Aptos" pitchFamily="34" charset="-120"/>
              </a:rPr>
              <a:t>Newell &amp; Simon: symbols are necessary and sufficient for general intelligent action</a:t>
            </a:r>
            <a:endParaRPr lang="en-US" sz="1330" dirty="0"/>
          </a:p>
        </p:txBody>
      </p:sp>
      <p:sp>
        <p:nvSpPr>
          <p:cNvPr id="10" name="Shape 8"/>
          <p:cNvSpPr/>
          <p:nvPr/>
        </p:nvSpPr>
        <p:spPr>
          <a:xfrm>
            <a:off x="4480560" y="1517904"/>
            <a:ext cx="3520440" cy="3566160"/>
          </a:xfrm>
          <a:prstGeom prst="roundRect">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1" name="Shape 9"/>
          <p:cNvSpPr/>
          <p:nvPr/>
        </p:nvSpPr>
        <p:spPr>
          <a:xfrm>
            <a:off x="4480560" y="1517904"/>
            <a:ext cx="3520440" cy="146304"/>
          </a:xfrm>
          <a:prstGeom prst="rect">
            <a:avLst/>
          </a:prstGeom>
          <a:solidFill>
            <a:srgbClr val="55A630"/>
          </a:solidFill>
          <a:ln w="12700">
            <a:solidFill>
              <a:srgbClr val="55A630"/>
            </a:solidFill>
            <a:prstDash val="solid"/>
          </a:ln>
        </p:spPr>
      </p:sp>
      <p:sp>
        <p:nvSpPr>
          <p:cNvPr id="12" name="Text 10"/>
          <p:cNvSpPr/>
          <p:nvPr/>
        </p:nvSpPr>
        <p:spPr>
          <a:xfrm>
            <a:off x="4663440" y="1828800"/>
            <a:ext cx="3154680" cy="502920"/>
          </a:xfrm>
          <a:prstGeom prst="rect">
            <a:avLst/>
          </a:prstGeom>
          <a:noFill/>
          <a:ln/>
        </p:spPr>
        <p:txBody>
          <a:bodyPr wrap="square" lIns="0" tIns="0" rIns="0" bIns="0" rtlCol="0" anchor="ctr">
            <a:normAutofit/>
          </a:bodyPr>
          <a:lstStyle/>
          <a:p>
            <a:pPr algn="ctr" indent="0" marL="0">
              <a:buNone/>
            </a:pPr>
            <a:r>
              <a:rPr lang="en-US" sz="1800" b="1" dirty="0">
                <a:solidFill>
                  <a:srgbClr val="102A43"/>
                </a:solidFill>
              </a:rPr>
              <a:t>Advice Taker</a:t>
            </a:r>
            <a:endParaRPr lang="en-US" sz="1800" dirty="0"/>
          </a:p>
        </p:txBody>
      </p:sp>
      <p:sp>
        <p:nvSpPr>
          <p:cNvPr id="13" name="Text 11"/>
          <p:cNvSpPr/>
          <p:nvPr/>
        </p:nvSpPr>
        <p:spPr>
          <a:xfrm>
            <a:off x="4800600" y="2615184"/>
            <a:ext cx="2971800" cy="1783080"/>
          </a:xfrm>
          <a:prstGeom prst="rect">
            <a:avLst/>
          </a:prstGeom>
          <a:noFill/>
          <a:ln/>
        </p:spPr>
        <p:txBody>
          <a:bodyPr wrap="square" lIns="889" tIns="889" rIns="889" bIns="889" rtlCol="0" anchor="ctr">
            <a:normAutofit/>
          </a:bodyPr>
          <a:lstStyle/>
          <a:p>
            <a:r>
              <a:rPr lang="en-US" sz="1330" dirty="0">
                <a:solidFill>
                  <a:srgbClr val="1F2933"/>
                </a:solidFill>
                <a:latin typeface="Aptos" pitchFamily="34" charset="0"/>
                <a:ea typeface="Aptos" pitchFamily="34" charset="-122"/>
                <a:cs typeface="Aptos" pitchFamily="34" charset="-120"/>
              </a:rPr>
              <a:t>McCarthy: represent world knowledge explicitly</a:t>
            </a:r>
            <a:pPr indent="0" marL="0">
              <a:buNone/>
            </a:pPr>
            <a:r>
              <a:rPr lang="en-US" sz="1330" dirty="0">
                <a:solidFill>
                  <a:srgbClr val="1F2933"/>
                </a:solidFill>
                <a:latin typeface="Aptos" pitchFamily="34" charset="0"/>
                <a:ea typeface="Aptos" pitchFamily="34" charset="-122"/>
                <a:cs typeface="Aptos" pitchFamily="34" charset="-120"/>
              </a:rPr>
              <a:t>
</a:t>
            </a:r>
            <a:endParaRPr lang="en-US" sz="1330" dirty="0"/>
          </a:p>
          <a:p>
            <a:r>
              <a:rPr lang="en-US" sz="1330" dirty="0">
                <a:solidFill>
                  <a:srgbClr val="1F2933"/>
                </a:solidFill>
                <a:latin typeface="Aptos" pitchFamily="34" charset="0"/>
                <a:ea typeface="Aptos" pitchFamily="34" charset="-122"/>
                <a:cs typeface="Aptos" pitchFamily="34" charset="-120"/>
              </a:rPr>
              <a:t>Use logical deduction to derive plans</a:t>
            </a:r>
            <a:pPr indent="0" marL="0">
              <a:buNone/>
            </a:pPr>
            <a:r>
              <a:rPr lang="en-US" sz="1330" dirty="0">
                <a:solidFill>
                  <a:srgbClr val="1F2933"/>
                </a:solidFill>
                <a:latin typeface="Aptos" pitchFamily="34" charset="0"/>
                <a:ea typeface="Aptos" pitchFamily="34" charset="-122"/>
                <a:cs typeface="Aptos" pitchFamily="34" charset="-120"/>
              </a:rPr>
              <a:t>
</a:t>
            </a:r>
            <a:endParaRPr lang="en-US" sz="1330" dirty="0"/>
          </a:p>
          <a:p>
            <a:r>
              <a:rPr lang="en-US" sz="1330" dirty="0">
                <a:solidFill>
                  <a:srgbClr val="1F2933"/>
                </a:solidFill>
                <a:latin typeface="Aptos" pitchFamily="34" charset="0"/>
                <a:ea typeface="Aptos" pitchFamily="34" charset="-122"/>
                <a:cs typeface="Aptos" pitchFamily="34" charset="-120"/>
              </a:rPr>
              <a:t>Accept new facts without full reprogramming</a:t>
            </a:r>
            <a:endParaRPr lang="en-US" sz="1330" dirty="0"/>
          </a:p>
        </p:txBody>
      </p:sp>
      <p:sp>
        <p:nvSpPr>
          <p:cNvPr id="14" name="Shape 12"/>
          <p:cNvSpPr/>
          <p:nvPr/>
        </p:nvSpPr>
        <p:spPr>
          <a:xfrm>
            <a:off x="8366760" y="1517904"/>
            <a:ext cx="3520440" cy="3566160"/>
          </a:xfrm>
          <a:prstGeom prst="roundRect">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5" name="Shape 13"/>
          <p:cNvSpPr/>
          <p:nvPr/>
        </p:nvSpPr>
        <p:spPr>
          <a:xfrm>
            <a:off x="8366760" y="1517904"/>
            <a:ext cx="3520440" cy="146304"/>
          </a:xfrm>
          <a:prstGeom prst="rect">
            <a:avLst/>
          </a:prstGeom>
          <a:solidFill>
            <a:srgbClr val="F97316"/>
          </a:solidFill>
          <a:ln w="12700">
            <a:solidFill>
              <a:srgbClr val="F97316"/>
            </a:solidFill>
            <a:prstDash val="solid"/>
          </a:ln>
        </p:spPr>
      </p:sp>
      <p:sp>
        <p:nvSpPr>
          <p:cNvPr id="16" name="Text 14"/>
          <p:cNvSpPr/>
          <p:nvPr/>
        </p:nvSpPr>
        <p:spPr>
          <a:xfrm>
            <a:off x="8549640" y="1828800"/>
            <a:ext cx="3154680" cy="502920"/>
          </a:xfrm>
          <a:prstGeom prst="rect">
            <a:avLst/>
          </a:prstGeom>
          <a:noFill/>
          <a:ln/>
        </p:spPr>
        <p:txBody>
          <a:bodyPr wrap="square" lIns="0" tIns="0" rIns="0" bIns="0" rtlCol="0" anchor="ctr">
            <a:normAutofit/>
          </a:bodyPr>
          <a:lstStyle/>
          <a:p>
            <a:pPr algn="ctr" indent="0" marL="0">
              <a:buNone/>
            </a:pPr>
            <a:r>
              <a:rPr lang="en-US" sz="1800" b="1" dirty="0">
                <a:solidFill>
                  <a:srgbClr val="102A43"/>
                </a:solidFill>
              </a:rPr>
              <a:t>Shakey the Robot</a:t>
            </a:r>
            <a:endParaRPr lang="en-US" sz="1800" dirty="0"/>
          </a:p>
        </p:txBody>
      </p:sp>
      <p:sp>
        <p:nvSpPr>
          <p:cNvPr id="17" name="Text 15"/>
          <p:cNvSpPr/>
          <p:nvPr/>
        </p:nvSpPr>
        <p:spPr>
          <a:xfrm>
            <a:off x="8686800" y="2615184"/>
            <a:ext cx="2971800" cy="1783080"/>
          </a:xfrm>
          <a:prstGeom prst="rect">
            <a:avLst/>
          </a:prstGeom>
          <a:noFill/>
          <a:ln/>
        </p:spPr>
        <p:txBody>
          <a:bodyPr wrap="square" lIns="889" tIns="889" rIns="889" bIns="889" rtlCol="0" anchor="ctr">
            <a:normAutofit/>
          </a:bodyPr>
          <a:lstStyle/>
          <a:p>
            <a:r>
              <a:rPr lang="en-US" sz="1330" dirty="0">
                <a:solidFill>
                  <a:srgbClr val="1F2933"/>
                </a:solidFill>
                <a:latin typeface="Aptos" pitchFamily="34" charset="0"/>
                <a:ea typeface="Aptos" pitchFamily="34" charset="-122"/>
                <a:cs typeface="Aptos" pitchFamily="34" charset="-120"/>
              </a:rPr>
              <a:t>Early integration of reasoning and physical activity</a:t>
            </a:r>
            <a:pPr indent="0" marL="0">
              <a:buNone/>
            </a:pPr>
            <a:r>
              <a:rPr lang="en-US" sz="1330" dirty="0">
                <a:solidFill>
                  <a:srgbClr val="1F2933"/>
                </a:solidFill>
                <a:latin typeface="Aptos" pitchFamily="34" charset="0"/>
                <a:ea typeface="Aptos" pitchFamily="34" charset="-122"/>
                <a:cs typeface="Aptos" pitchFamily="34" charset="-120"/>
              </a:rPr>
              <a:t>
</a:t>
            </a:r>
            <a:endParaRPr lang="en-US" sz="1330" dirty="0"/>
          </a:p>
          <a:p>
            <a:r>
              <a:rPr lang="en-US" sz="1330" dirty="0">
                <a:solidFill>
                  <a:srgbClr val="1F2933"/>
                </a:solidFill>
                <a:latin typeface="Aptos" pitchFamily="34" charset="0"/>
                <a:ea typeface="Aptos" pitchFamily="34" charset="-122"/>
                <a:cs typeface="Aptos" pitchFamily="34" charset="-120"/>
              </a:rPr>
              <a:t>Planning, perception, and action in one system</a:t>
            </a:r>
            <a:endParaRPr lang="en-US" sz="1330" dirty="0"/>
          </a:p>
        </p:txBody>
      </p:sp>
      <p:sp>
        <p:nvSpPr>
          <p:cNvPr id="18" name="Shape 16"/>
          <p:cNvSpPr/>
          <p:nvPr/>
        </p:nvSpPr>
        <p:spPr>
          <a:xfrm>
            <a:off x="1554480" y="5486400"/>
            <a:ext cx="9052560" cy="594360"/>
          </a:xfrm>
          <a:prstGeom prst="roundRect">
            <a:avLst>
              <a:gd name="adj" fmla="val 12308"/>
            </a:avLst>
          </a:prstGeom>
          <a:solidFill>
            <a:srgbClr val="102A43"/>
          </a:solidFill>
          <a:ln w="12700">
            <a:solidFill>
              <a:srgbClr val="102A43"/>
            </a:solidFill>
            <a:prstDash val="solid"/>
          </a:ln>
          <a:effectLst>
            <a:outerShdw sx="100000" sy="100000" kx="0" ky="0" algn="bl" rotWithShape="0" blurRad="19050" dist="7620" dir="2700000">
              <a:srgbClr val="000000">
                <a:alpha val="10000"/>
              </a:srgbClr>
            </a:outerShdw>
          </a:effectLst>
        </p:spPr>
      </p:sp>
      <p:sp>
        <p:nvSpPr>
          <p:cNvPr id="19" name="Text 17"/>
          <p:cNvSpPr/>
          <p:nvPr/>
        </p:nvSpPr>
        <p:spPr>
          <a:xfrm>
            <a:off x="1691640" y="5577840"/>
            <a:ext cx="8778240" cy="411480"/>
          </a:xfrm>
          <a:prstGeom prst="rect">
            <a:avLst/>
          </a:prstGeom>
          <a:noFill/>
          <a:ln/>
        </p:spPr>
        <p:txBody>
          <a:bodyPr wrap="square" lIns="0" tIns="0" rIns="0" bIns="0" rtlCol="0" anchor="ctr">
            <a:normAutofit/>
          </a:bodyPr>
          <a:lstStyle/>
          <a:p>
            <a:pPr algn="ctr" indent="0" marL="0">
              <a:buNone/>
            </a:pPr>
            <a:r>
              <a:rPr lang="en-US" sz="1450" b="1" dirty="0">
                <a:solidFill>
                  <a:srgbClr val="FFFFFF"/>
                </a:solidFill>
                <a:latin typeface="Aptos" pitchFamily="34" charset="0"/>
                <a:ea typeface="Aptos" pitchFamily="34" charset="-122"/>
                <a:cs typeface="Aptos" pitchFamily="34" charset="-120"/>
              </a:rPr>
              <a:t>Key idea: early AI assumed intelligence could be built from explicit symbols, rules, and reasoning.</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02920" y="292608"/>
            <a:ext cx="914400" cy="228600"/>
          </a:xfrm>
          <a:prstGeom prst="rect">
            <a:avLst/>
          </a:prstGeom>
          <a:noFill/>
          <a:ln/>
        </p:spPr>
        <p:txBody>
          <a:bodyPr wrap="square" lIns="0" tIns="0" rIns="0" bIns="0" rtlCol="0" anchor="ctr"/>
          <a:lstStyle/>
          <a:p>
            <a:pPr indent="0" marL="0">
              <a:buNone/>
            </a:pPr>
            <a:r>
              <a:rPr lang="en-US" sz="950" b="1" dirty="0">
                <a:solidFill>
                  <a:srgbClr val="247BA0"/>
                </a:solidFill>
                <a:latin typeface="Aptos" pitchFamily="34" charset="0"/>
                <a:ea typeface="Aptos" pitchFamily="34" charset="-122"/>
                <a:cs typeface="Aptos" pitchFamily="34" charset="-120"/>
              </a:rPr>
              <a:t>1.3.7</a:t>
            </a:r>
            <a:endParaRPr lang="en-US" sz="950" dirty="0"/>
          </a:p>
        </p:txBody>
      </p:sp>
      <p:sp>
        <p:nvSpPr>
          <p:cNvPr id="3" name="Text 1"/>
          <p:cNvSpPr/>
          <p:nvPr/>
        </p:nvSpPr>
        <p:spPr>
          <a:xfrm>
            <a:off x="502920" y="566928"/>
            <a:ext cx="10881360" cy="475488"/>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Big Data: Learning from Massive Datasets</a:t>
            </a:r>
            <a:endParaRPr lang="en-US" sz="2500" dirty="0"/>
          </a:p>
        </p:txBody>
      </p:sp>
      <p:sp>
        <p:nvSpPr>
          <p:cNvPr id="4" name="Shape 2"/>
          <p:cNvSpPr/>
          <p:nvPr/>
        </p:nvSpPr>
        <p:spPr>
          <a:xfrm>
            <a:off x="502920" y="1152144"/>
            <a:ext cx="11155680" cy="0"/>
          </a:xfrm>
          <a:prstGeom prst="line">
            <a:avLst/>
          </a:prstGeom>
          <a:noFill/>
          <a:ln w="12700">
            <a:solidFill>
              <a:srgbClr val="D9E2EC"/>
            </a:solidFill>
            <a:prstDash val="solid"/>
          </a:ln>
        </p:spPr>
      </p:sp>
      <p:sp>
        <p:nvSpPr>
          <p:cNvPr id="5" name="Text 3"/>
          <p:cNvSpPr/>
          <p:nvPr/>
        </p:nvSpPr>
        <p:spPr>
          <a:xfrm>
            <a:off x="9829800" y="6464808"/>
            <a:ext cx="1828800" cy="182880"/>
          </a:xfrm>
          <a:prstGeom prst="rect">
            <a:avLst/>
          </a:prstGeom>
          <a:noFill/>
          <a:ln/>
        </p:spPr>
        <p:txBody>
          <a:bodyPr wrap="square" lIns="0" tIns="0" rIns="0" bIns="0" rtlCol="0" anchor="ctr"/>
          <a:lstStyle/>
          <a:p>
            <a:pPr algn="r" indent="0" marL="0">
              <a:buNone/>
            </a:pPr>
            <a:r>
              <a:rPr lang="en-US" sz="850" dirty="0">
                <a:solidFill>
                  <a:srgbClr val="7B8794"/>
                </a:solidFill>
                <a:latin typeface="Aptos" pitchFamily="34" charset="0"/>
                <a:ea typeface="Aptos" pitchFamily="34" charset="-122"/>
                <a:cs typeface="Aptos" pitchFamily="34" charset="-120"/>
              </a:rPr>
              <a:t>COMP 469 · Chapter 1</a:t>
            </a:r>
            <a:endParaRPr lang="en-US" sz="850" dirty="0"/>
          </a:p>
        </p:txBody>
      </p:sp>
      <p:sp>
        <p:nvSpPr>
          <p:cNvPr id="6" name="Text 4"/>
          <p:cNvSpPr/>
          <p:nvPr/>
        </p:nvSpPr>
        <p:spPr>
          <a:xfrm>
            <a:off x="777240" y="1417320"/>
            <a:ext cx="4572000" cy="320040"/>
          </a:xfrm>
          <a:prstGeom prst="rect">
            <a:avLst/>
          </a:prstGeom>
          <a:noFill/>
          <a:ln/>
        </p:spPr>
        <p:txBody>
          <a:bodyPr wrap="square" lIns="0" tIns="0" rIns="0" bIns="0" rtlCol="0" anchor="ctr"/>
          <a:lstStyle/>
          <a:p>
            <a:pPr indent="0" marL="0">
              <a:buNone/>
            </a:pPr>
            <a:r>
              <a:rPr lang="en-US" sz="1900" b="1" dirty="0">
                <a:solidFill>
                  <a:srgbClr val="102A43"/>
                </a:solidFill>
              </a:rPr>
              <a:t>Why big data changed AI</a:t>
            </a:r>
            <a:endParaRPr lang="en-US" sz="1900" dirty="0"/>
          </a:p>
        </p:txBody>
      </p:sp>
      <p:sp>
        <p:nvSpPr>
          <p:cNvPr id="7" name="Text 5"/>
          <p:cNvSpPr/>
          <p:nvPr/>
        </p:nvSpPr>
        <p:spPr>
          <a:xfrm>
            <a:off x="822960" y="1874520"/>
            <a:ext cx="4983480" cy="2331720"/>
          </a:xfrm>
          <a:prstGeom prst="rect">
            <a:avLst/>
          </a:prstGeom>
          <a:noFill/>
          <a:ln/>
        </p:spPr>
        <p:txBody>
          <a:bodyPr wrap="square" lIns="889" tIns="889" rIns="889" bIns="889" rtlCol="0" anchor="ctr">
            <a:normAutofit/>
          </a:bodyPr>
          <a:lstStyle/>
          <a:p>
            <a:r>
              <a:rPr lang="en-US" sz="1500" b="1" dirty="0">
                <a:solidFill>
                  <a:srgbClr val="1F2933"/>
                </a:solidFill>
                <a:latin typeface="Aptos" pitchFamily="34" charset="0"/>
                <a:ea typeface="Aptos" pitchFamily="34" charset="-122"/>
                <a:cs typeface="Aptos" pitchFamily="34" charset="-120"/>
              </a:rPr>
              <a:t>Scale: </a:t>
            </a:r>
            <a:endParaRPr lang="en-US" sz="1500" dirty="0"/>
          </a:p>
          <a:p>
            <a:r>
              <a:rPr lang="en-US" sz="1500" dirty="0">
                <a:solidFill>
                  <a:srgbClr val="1F2933"/>
                </a:solidFill>
                <a:latin typeface="Aptos" pitchFamily="34" charset="0"/>
                <a:ea typeface="Aptos" pitchFamily="34" charset="-122"/>
                <a:cs typeface="Aptos" pitchFamily="34" charset="-120"/>
              </a:rPr>
              <a:t>trillions of words, billions of images, speech, video, genomic and behavioral data</a:t>
            </a:r>
            <a:pPr indent="0" marL="0">
              <a:buNone/>
            </a:pPr>
            <a:r>
              <a:rPr lang="en-US" sz="1500" dirty="0">
                <a:solidFill>
                  <a:srgbClr val="1F2933"/>
                </a:solidFill>
                <a:latin typeface="Aptos" pitchFamily="34" charset="0"/>
                <a:ea typeface="Aptos" pitchFamily="34" charset="-122"/>
                <a:cs typeface="Aptos" pitchFamily="34" charset="-120"/>
              </a:rPr>
              <a:t>
</a:t>
            </a:r>
            <a:endParaRPr lang="en-US" sz="1500" dirty="0"/>
          </a:p>
          <a:p>
            <a:r>
              <a:rPr lang="en-US" sz="1500" b="1" dirty="0">
                <a:solidFill>
                  <a:srgbClr val="1F2933"/>
                </a:solidFill>
                <a:latin typeface="Aptos" pitchFamily="34" charset="0"/>
                <a:ea typeface="Aptos" pitchFamily="34" charset="-122"/>
                <a:cs typeface="Aptos" pitchFamily="34" charset="-120"/>
              </a:rPr>
              <a:t>Learning over hand-coding: </a:t>
            </a:r>
            <a:endParaRPr lang="en-US" sz="1500" dirty="0"/>
          </a:p>
          <a:p>
            <a:r>
              <a:rPr lang="en-US" sz="1500" dirty="0">
                <a:solidFill>
                  <a:srgbClr val="1F2933"/>
                </a:solidFill>
                <a:latin typeface="Aptos" pitchFamily="34" charset="0"/>
                <a:ea typeface="Aptos" pitchFamily="34" charset="-122"/>
                <a:cs typeface="Aptos" pitchFamily="34" charset="-120"/>
              </a:rPr>
              <a:t>systems discover patterns from examples</a:t>
            </a:r>
            <a:pPr indent="0" marL="0">
              <a:buNone/>
            </a:pPr>
            <a:r>
              <a:rPr lang="en-US" sz="1500" dirty="0">
                <a:solidFill>
                  <a:srgbClr val="1F2933"/>
                </a:solidFill>
                <a:latin typeface="Aptos" pitchFamily="34" charset="0"/>
                <a:ea typeface="Aptos" pitchFamily="34" charset="-122"/>
                <a:cs typeface="Aptos" pitchFamily="34" charset="-120"/>
              </a:rPr>
              <a:t>
</a:t>
            </a:r>
            <a:endParaRPr lang="en-US" sz="1500" dirty="0"/>
          </a:p>
          <a:p>
            <a:r>
              <a:rPr lang="en-US" sz="1500" b="1" dirty="0">
                <a:solidFill>
                  <a:srgbClr val="1F2933"/>
                </a:solidFill>
                <a:latin typeface="Aptos" pitchFamily="34" charset="0"/>
                <a:ea typeface="Aptos" pitchFamily="34" charset="-122"/>
                <a:cs typeface="Aptos" pitchFamily="34" charset="-120"/>
              </a:rPr>
              <a:t>Data can dominate tweaks: </a:t>
            </a:r>
            <a:endParaRPr lang="en-US" sz="1500" dirty="0"/>
          </a:p>
          <a:p>
            <a:r>
              <a:rPr lang="en-US" sz="1500" dirty="0">
                <a:solidFill>
                  <a:srgbClr val="1F2933"/>
                </a:solidFill>
                <a:latin typeface="Aptos" pitchFamily="34" charset="0"/>
                <a:ea typeface="Aptos" pitchFamily="34" charset="-122"/>
                <a:cs typeface="Aptos" pitchFamily="34" charset="-120"/>
              </a:rPr>
              <a:t>more data often helps more than small algorithm changes</a:t>
            </a:r>
            <a:pPr indent="0" marL="0">
              <a:buNone/>
            </a:pPr>
            <a:r>
              <a:rPr lang="en-US" sz="1500" dirty="0">
                <a:solidFill>
                  <a:srgbClr val="1F2933"/>
                </a:solidFill>
                <a:latin typeface="Aptos" pitchFamily="34" charset="0"/>
                <a:ea typeface="Aptos" pitchFamily="34" charset="-122"/>
                <a:cs typeface="Aptos" pitchFamily="34" charset="-120"/>
              </a:rPr>
              <a:t>
</a:t>
            </a:r>
            <a:endParaRPr lang="en-US" sz="1500" dirty="0"/>
          </a:p>
          <a:p>
            <a:r>
              <a:rPr lang="en-US" sz="1500" b="1" dirty="0">
                <a:solidFill>
                  <a:srgbClr val="1F2933"/>
                </a:solidFill>
                <a:latin typeface="Aptos" pitchFamily="34" charset="0"/>
                <a:ea typeface="Aptos" pitchFamily="34" charset="-122"/>
                <a:cs typeface="Aptos" pitchFamily="34" charset="-120"/>
              </a:rPr>
              <a:t>Commercial impact: </a:t>
            </a:r>
            <a:endParaRPr lang="en-US" sz="1500" dirty="0"/>
          </a:p>
          <a:p>
            <a:r>
              <a:rPr lang="en-US" sz="1500" dirty="0">
                <a:solidFill>
                  <a:srgbClr val="1F2933"/>
                </a:solidFill>
                <a:latin typeface="Aptos" pitchFamily="34" charset="0"/>
                <a:ea typeface="Aptos" pitchFamily="34" charset="-122"/>
                <a:cs typeface="Aptos" pitchFamily="34" charset="-120"/>
              </a:rPr>
              <a:t>large datasets helped restore AI momentum</a:t>
            </a:r>
            <a:endParaRPr lang="en-US" sz="1500" dirty="0"/>
          </a:p>
        </p:txBody>
      </p:sp>
      <p:sp>
        <p:nvSpPr>
          <p:cNvPr id="8" name="Shape 6"/>
          <p:cNvSpPr/>
          <p:nvPr/>
        </p:nvSpPr>
        <p:spPr>
          <a:xfrm>
            <a:off x="6172200" y="1554480"/>
            <a:ext cx="1371600" cy="640080"/>
          </a:xfrm>
          <a:prstGeom prst="chevron">
            <a:avLst/>
          </a:prstGeom>
          <a:solidFill>
            <a:srgbClr val="247BA0"/>
          </a:solidFill>
          <a:ln w="12700">
            <a:solidFill>
              <a:srgbClr val="247BA0"/>
            </a:solidFill>
            <a:prstDash val="solid"/>
          </a:ln>
        </p:spPr>
      </p:sp>
      <p:sp>
        <p:nvSpPr>
          <p:cNvPr id="9" name="Text 7"/>
          <p:cNvSpPr/>
          <p:nvPr/>
        </p:nvSpPr>
        <p:spPr>
          <a:xfrm>
            <a:off x="6309360" y="1719072"/>
            <a:ext cx="1078992" cy="228600"/>
          </a:xfrm>
          <a:prstGeom prst="rect">
            <a:avLst/>
          </a:prstGeom>
          <a:noFill/>
          <a:ln/>
        </p:spPr>
        <p:txBody>
          <a:bodyPr wrap="square" lIns="0" tIns="0" rIns="0" bIns="0" rtlCol="0" anchor="ctr"/>
          <a:lstStyle/>
          <a:p>
            <a:pPr algn="ctr" indent="0" marL="0">
              <a:buNone/>
            </a:pPr>
            <a:r>
              <a:rPr lang="en-US" sz="1400" b="1" dirty="0">
                <a:solidFill>
                  <a:srgbClr val="FFFFFF"/>
                </a:solidFill>
              </a:rPr>
              <a:t>Data</a:t>
            </a:r>
            <a:endParaRPr lang="en-US" sz="1400" dirty="0"/>
          </a:p>
        </p:txBody>
      </p:sp>
      <p:sp>
        <p:nvSpPr>
          <p:cNvPr id="10" name="Shape 8"/>
          <p:cNvSpPr/>
          <p:nvPr/>
        </p:nvSpPr>
        <p:spPr>
          <a:xfrm>
            <a:off x="7543800" y="1554480"/>
            <a:ext cx="1371600" cy="640080"/>
          </a:xfrm>
          <a:prstGeom prst="chevron">
            <a:avLst/>
          </a:prstGeom>
          <a:solidFill>
            <a:srgbClr val="70C1B3"/>
          </a:solidFill>
          <a:ln w="12700">
            <a:solidFill>
              <a:srgbClr val="70C1B3"/>
            </a:solidFill>
            <a:prstDash val="solid"/>
          </a:ln>
        </p:spPr>
      </p:sp>
      <p:sp>
        <p:nvSpPr>
          <p:cNvPr id="11" name="Text 9"/>
          <p:cNvSpPr/>
          <p:nvPr/>
        </p:nvSpPr>
        <p:spPr>
          <a:xfrm>
            <a:off x="7635240" y="1719072"/>
            <a:ext cx="1143000" cy="228600"/>
          </a:xfrm>
          <a:prstGeom prst="rect">
            <a:avLst/>
          </a:prstGeom>
          <a:noFill/>
          <a:ln/>
        </p:spPr>
        <p:txBody>
          <a:bodyPr wrap="square" lIns="0" tIns="0" rIns="0" bIns="0" rtlCol="0" anchor="ctr"/>
          <a:lstStyle/>
          <a:p>
            <a:pPr algn="ctr" indent="0" marL="0">
              <a:buNone/>
            </a:pPr>
            <a:r>
              <a:rPr lang="en-US" sz="1400" b="1" dirty="0">
                <a:solidFill>
                  <a:srgbClr val="FFFFFF"/>
                </a:solidFill>
              </a:rPr>
              <a:t>Training</a:t>
            </a:r>
            <a:endParaRPr lang="en-US" sz="1400" dirty="0"/>
          </a:p>
        </p:txBody>
      </p:sp>
      <p:sp>
        <p:nvSpPr>
          <p:cNvPr id="12" name="Shape 10"/>
          <p:cNvSpPr/>
          <p:nvPr/>
        </p:nvSpPr>
        <p:spPr>
          <a:xfrm>
            <a:off x="8915400" y="1554480"/>
            <a:ext cx="1371600" cy="640080"/>
          </a:xfrm>
          <a:prstGeom prst="chevron">
            <a:avLst/>
          </a:prstGeom>
          <a:solidFill>
            <a:srgbClr val="55A630"/>
          </a:solidFill>
          <a:ln w="12700">
            <a:solidFill>
              <a:srgbClr val="55A630"/>
            </a:solidFill>
            <a:prstDash val="solid"/>
          </a:ln>
        </p:spPr>
      </p:sp>
      <p:sp>
        <p:nvSpPr>
          <p:cNvPr id="13" name="Text 11"/>
          <p:cNvSpPr/>
          <p:nvPr/>
        </p:nvSpPr>
        <p:spPr>
          <a:xfrm>
            <a:off x="9079992" y="1719072"/>
            <a:ext cx="1005840" cy="228600"/>
          </a:xfrm>
          <a:prstGeom prst="rect">
            <a:avLst/>
          </a:prstGeom>
          <a:noFill/>
          <a:ln/>
        </p:spPr>
        <p:txBody>
          <a:bodyPr wrap="square" lIns="0" tIns="0" rIns="0" bIns="0" rtlCol="0" anchor="ctr"/>
          <a:lstStyle/>
          <a:p>
            <a:pPr algn="ctr" indent="0" marL="0">
              <a:buNone/>
            </a:pPr>
            <a:r>
              <a:rPr lang="en-US" sz="1400" b="1" dirty="0">
                <a:solidFill>
                  <a:srgbClr val="FFFFFF"/>
                </a:solidFill>
              </a:rPr>
              <a:t>Model</a:t>
            </a:r>
            <a:endParaRPr lang="en-US" sz="1400" dirty="0"/>
          </a:p>
        </p:txBody>
      </p:sp>
      <p:sp>
        <p:nvSpPr>
          <p:cNvPr id="14" name="Shape 12"/>
          <p:cNvSpPr/>
          <p:nvPr/>
        </p:nvSpPr>
        <p:spPr>
          <a:xfrm>
            <a:off x="10287000" y="1554480"/>
            <a:ext cx="1371600" cy="640080"/>
          </a:xfrm>
          <a:prstGeom prst="chevron">
            <a:avLst/>
          </a:prstGeom>
          <a:solidFill>
            <a:srgbClr val="F97316"/>
          </a:solidFill>
          <a:ln w="12700">
            <a:solidFill>
              <a:srgbClr val="F97316"/>
            </a:solidFill>
            <a:prstDash val="solid"/>
          </a:ln>
        </p:spPr>
      </p:sp>
      <p:sp>
        <p:nvSpPr>
          <p:cNvPr id="15" name="Text 13"/>
          <p:cNvSpPr/>
          <p:nvPr/>
        </p:nvSpPr>
        <p:spPr>
          <a:xfrm>
            <a:off x="10451592" y="1719072"/>
            <a:ext cx="1005840" cy="228600"/>
          </a:xfrm>
          <a:prstGeom prst="rect">
            <a:avLst/>
          </a:prstGeom>
          <a:noFill/>
          <a:ln/>
        </p:spPr>
        <p:txBody>
          <a:bodyPr wrap="square" lIns="0" tIns="0" rIns="0" bIns="0" rtlCol="0" anchor="ctr"/>
          <a:lstStyle/>
          <a:p>
            <a:pPr algn="ctr" indent="0" marL="0">
              <a:buNone/>
            </a:pPr>
            <a:r>
              <a:rPr lang="en-US" sz="1400" b="1" dirty="0">
                <a:solidFill>
                  <a:srgbClr val="FFFFFF"/>
                </a:solidFill>
              </a:rPr>
              <a:t>Task</a:t>
            </a:r>
            <a:endParaRPr lang="en-US" sz="1400" dirty="0"/>
          </a:p>
        </p:txBody>
      </p:sp>
      <p:sp>
        <p:nvSpPr>
          <p:cNvPr id="16" name="Shape 14"/>
          <p:cNvSpPr/>
          <p:nvPr/>
        </p:nvSpPr>
        <p:spPr>
          <a:xfrm>
            <a:off x="6263640" y="2743200"/>
            <a:ext cx="5166360" cy="493776"/>
          </a:xfrm>
          <a:prstGeom prst="roundRect">
            <a:avLst/>
          </a:prstGeom>
          <a:solidFill>
            <a:srgbClr val="FFFFFF"/>
          </a:solidFill>
          <a:ln w="12700">
            <a:solidFill>
              <a:srgbClr val="D9E2EC"/>
            </a:solidFill>
            <a:prstDash val="solid"/>
          </a:ln>
        </p:spPr>
      </p:sp>
      <p:sp>
        <p:nvSpPr>
          <p:cNvPr id="17" name="Text 15"/>
          <p:cNvSpPr/>
          <p:nvPr/>
        </p:nvSpPr>
        <p:spPr>
          <a:xfrm>
            <a:off x="6446520" y="2852928"/>
            <a:ext cx="1234440" cy="210312"/>
          </a:xfrm>
          <a:prstGeom prst="rect">
            <a:avLst/>
          </a:prstGeom>
          <a:noFill/>
          <a:ln/>
        </p:spPr>
        <p:txBody>
          <a:bodyPr wrap="square" lIns="0" tIns="0" rIns="0" bIns="0" rtlCol="0" anchor="ctr"/>
          <a:lstStyle/>
          <a:p>
            <a:pPr indent="0" marL="0">
              <a:buNone/>
            </a:pPr>
            <a:r>
              <a:rPr lang="en-US" sz="1250" b="1" dirty="0">
                <a:solidFill>
                  <a:srgbClr val="102A43"/>
                </a:solidFill>
              </a:rPr>
              <a:t>ImageNet</a:t>
            </a:r>
            <a:endParaRPr lang="en-US" sz="1250" dirty="0"/>
          </a:p>
        </p:txBody>
      </p:sp>
      <p:sp>
        <p:nvSpPr>
          <p:cNvPr id="18" name="Text 16"/>
          <p:cNvSpPr/>
          <p:nvPr/>
        </p:nvSpPr>
        <p:spPr>
          <a:xfrm>
            <a:off x="7726680" y="2852928"/>
            <a:ext cx="3520440" cy="228600"/>
          </a:xfrm>
          <a:prstGeom prst="rect">
            <a:avLst/>
          </a:prstGeom>
          <a:noFill/>
          <a:ln/>
        </p:spPr>
        <p:txBody>
          <a:bodyPr wrap="square" lIns="0" tIns="0" rIns="0" bIns="0" rtlCol="0" anchor="ctr">
            <a:normAutofit/>
          </a:bodyPr>
          <a:lstStyle/>
          <a:p>
            <a:pPr indent="0" marL="0">
              <a:buNone/>
            </a:pPr>
            <a:r>
              <a:rPr lang="en-US" sz="1250" dirty="0">
                <a:solidFill>
                  <a:srgbClr val="1F2933"/>
                </a:solidFill>
              </a:rPr>
              <a:t>large image datasets accelerated computer vision</a:t>
            </a:r>
            <a:endParaRPr lang="en-US" sz="1250" dirty="0"/>
          </a:p>
        </p:txBody>
      </p:sp>
      <p:sp>
        <p:nvSpPr>
          <p:cNvPr id="19" name="Shape 17"/>
          <p:cNvSpPr/>
          <p:nvPr/>
        </p:nvSpPr>
        <p:spPr>
          <a:xfrm>
            <a:off x="6263640" y="3401568"/>
            <a:ext cx="5166360" cy="493776"/>
          </a:xfrm>
          <a:prstGeom prst="roundRect">
            <a:avLst/>
          </a:prstGeom>
          <a:solidFill>
            <a:srgbClr val="FFFFFF"/>
          </a:solidFill>
          <a:ln w="12700">
            <a:solidFill>
              <a:srgbClr val="D9E2EC"/>
            </a:solidFill>
            <a:prstDash val="solid"/>
          </a:ln>
        </p:spPr>
      </p:sp>
      <p:sp>
        <p:nvSpPr>
          <p:cNvPr id="20" name="Text 18"/>
          <p:cNvSpPr/>
          <p:nvPr/>
        </p:nvSpPr>
        <p:spPr>
          <a:xfrm>
            <a:off x="6446520" y="3511296"/>
            <a:ext cx="1234440" cy="210312"/>
          </a:xfrm>
          <a:prstGeom prst="rect">
            <a:avLst/>
          </a:prstGeom>
          <a:noFill/>
          <a:ln/>
        </p:spPr>
        <p:txBody>
          <a:bodyPr wrap="square" lIns="0" tIns="0" rIns="0" bIns="0" rtlCol="0" anchor="ctr"/>
          <a:lstStyle/>
          <a:p>
            <a:pPr indent="0" marL="0">
              <a:buNone/>
            </a:pPr>
            <a:r>
              <a:rPr lang="en-US" sz="1250" b="1" dirty="0">
                <a:solidFill>
                  <a:srgbClr val="102A43"/>
                </a:solidFill>
              </a:rPr>
              <a:t>Watson</a:t>
            </a:r>
            <a:endParaRPr lang="en-US" sz="1250" dirty="0"/>
          </a:p>
        </p:txBody>
      </p:sp>
      <p:sp>
        <p:nvSpPr>
          <p:cNvPr id="21" name="Text 19"/>
          <p:cNvSpPr/>
          <p:nvPr/>
        </p:nvSpPr>
        <p:spPr>
          <a:xfrm>
            <a:off x="7726680" y="3511296"/>
            <a:ext cx="3520440" cy="228600"/>
          </a:xfrm>
          <a:prstGeom prst="rect">
            <a:avLst/>
          </a:prstGeom>
          <a:noFill/>
          <a:ln/>
        </p:spPr>
        <p:txBody>
          <a:bodyPr wrap="square" lIns="0" tIns="0" rIns="0" bIns="0" rtlCol="0" anchor="ctr">
            <a:normAutofit/>
          </a:bodyPr>
          <a:lstStyle/>
          <a:p>
            <a:pPr indent="0" marL="0">
              <a:buNone/>
            </a:pPr>
            <a:r>
              <a:rPr lang="en-US" sz="1250" dirty="0">
                <a:solidFill>
                  <a:srgbClr val="1F2933"/>
                </a:solidFill>
              </a:rPr>
              <a:t>Jeopardy! victory highlighted data-driven systems</a:t>
            </a:r>
            <a:endParaRPr lang="en-US" sz="1250" dirty="0"/>
          </a:p>
        </p:txBody>
      </p:sp>
      <p:sp>
        <p:nvSpPr>
          <p:cNvPr id="22" name="Shape 20"/>
          <p:cNvSpPr/>
          <p:nvPr/>
        </p:nvSpPr>
        <p:spPr>
          <a:xfrm>
            <a:off x="6263640" y="4059936"/>
            <a:ext cx="5166360" cy="493776"/>
          </a:xfrm>
          <a:prstGeom prst="roundRect">
            <a:avLst/>
          </a:prstGeom>
          <a:solidFill>
            <a:srgbClr val="FFFFFF"/>
          </a:solidFill>
          <a:ln w="12700">
            <a:solidFill>
              <a:srgbClr val="D9E2EC"/>
            </a:solidFill>
            <a:prstDash val="solid"/>
          </a:ln>
        </p:spPr>
      </p:sp>
      <p:sp>
        <p:nvSpPr>
          <p:cNvPr id="23" name="Text 21"/>
          <p:cNvSpPr/>
          <p:nvPr/>
        </p:nvSpPr>
        <p:spPr>
          <a:xfrm>
            <a:off x="6446520" y="4169664"/>
            <a:ext cx="1234440" cy="210312"/>
          </a:xfrm>
          <a:prstGeom prst="rect">
            <a:avLst/>
          </a:prstGeom>
          <a:noFill/>
          <a:ln/>
        </p:spPr>
        <p:txBody>
          <a:bodyPr wrap="square" lIns="0" tIns="0" rIns="0" bIns="0" rtlCol="0" anchor="ctr"/>
          <a:lstStyle/>
          <a:p>
            <a:pPr indent="0" marL="0">
              <a:buNone/>
            </a:pPr>
            <a:r>
              <a:rPr lang="en-US" sz="1250" b="1" dirty="0">
                <a:solidFill>
                  <a:srgbClr val="102A43"/>
                </a:solidFill>
              </a:rPr>
              <a:t>Web text</a:t>
            </a:r>
            <a:endParaRPr lang="en-US" sz="1250" dirty="0"/>
          </a:p>
        </p:txBody>
      </p:sp>
      <p:sp>
        <p:nvSpPr>
          <p:cNvPr id="24" name="Text 22"/>
          <p:cNvSpPr/>
          <p:nvPr/>
        </p:nvSpPr>
        <p:spPr>
          <a:xfrm>
            <a:off x="7726680" y="4169664"/>
            <a:ext cx="3520440" cy="228600"/>
          </a:xfrm>
          <a:prstGeom prst="rect">
            <a:avLst/>
          </a:prstGeom>
          <a:noFill/>
          <a:ln/>
        </p:spPr>
        <p:txBody>
          <a:bodyPr wrap="square" lIns="0" tIns="0" rIns="0" bIns="0" rtlCol="0" anchor="ctr">
            <a:normAutofit/>
          </a:bodyPr>
          <a:lstStyle/>
          <a:p>
            <a:pPr indent="0" marL="0">
              <a:buNone/>
            </a:pPr>
            <a:r>
              <a:rPr lang="en-US" sz="1250" dirty="0">
                <a:solidFill>
                  <a:srgbClr val="1F2933"/>
                </a:solidFill>
              </a:rPr>
              <a:t>massive text data improved language tasks</a:t>
            </a:r>
            <a:endParaRPr lang="en-US" sz="1250" dirty="0"/>
          </a:p>
        </p:txBody>
      </p:sp>
      <p:sp>
        <p:nvSpPr>
          <p:cNvPr id="25" name="Shape 23"/>
          <p:cNvSpPr/>
          <p:nvPr/>
        </p:nvSpPr>
        <p:spPr>
          <a:xfrm>
            <a:off x="1371600" y="5513832"/>
            <a:ext cx="9418320" cy="594360"/>
          </a:xfrm>
          <a:prstGeom prst="roundRect">
            <a:avLst>
              <a:gd name="adj" fmla="val 12308"/>
            </a:avLst>
          </a:prstGeom>
          <a:solidFill>
            <a:srgbClr val="55A630"/>
          </a:solidFill>
          <a:ln w="12700">
            <a:solidFill>
              <a:srgbClr val="55A630"/>
            </a:solidFill>
            <a:prstDash val="solid"/>
          </a:ln>
          <a:effectLst>
            <a:outerShdw sx="100000" sy="100000" kx="0" ky="0" algn="bl" rotWithShape="0" blurRad="19050" dist="7620" dir="2700000">
              <a:srgbClr val="000000">
                <a:alpha val="10000"/>
              </a:srgbClr>
            </a:outerShdw>
          </a:effectLst>
        </p:spPr>
      </p:sp>
      <p:sp>
        <p:nvSpPr>
          <p:cNvPr id="26" name="Text 24"/>
          <p:cNvSpPr/>
          <p:nvPr/>
        </p:nvSpPr>
        <p:spPr>
          <a:xfrm>
            <a:off x="1508760" y="5605272"/>
            <a:ext cx="9144000" cy="411480"/>
          </a:xfrm>
          <a:prstGeom prst="rect">
            <a:avLst/>
          </a:prstGeom>
          <a:noFill/>
          <a:ln/>
        </p:spPr>
        <p:txBody>
          <a:bodyPr wrap="square" lIns="0" tIns="0" rIns="0" bIns="0" rtlCol="0" anchor="ctr">
            <a:normAutofit/>
          </a:bodyPr>
          <a:lstStyle/>
          <a:p>
            <a:pPr algn="ctr" indent="0" marL="0">
              <a:buNone/>
            </a:pPr>
            <a:r>
              <a:rPr lang="en-US" sz="1450" b="1" dirty="0">
                <a:solidFill>
                  <a:srgbClr val="FFFFFF"/>
                </a:solidFill>
                <a:latin typeface="Aptos" pitchFamily="34" charset="0"/>
                <a:ea typeface="Aptos" pitchFamily="34" charset="-122"/>
                <a:cs typeface="Aptos" pitchFamily="34" charset="-120"/>
              </a:rPr>
              <a:t>Key idea: AI shifted from manually writing rules to learning patterns from large-scale data.</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02920" y="292608"/>
            <a:ext cx="914400" cy="228600"/>
          </a:xfrm>
          <a:prstGeom prst="rect">
            <a:avLst/>
          </a:prstGeom>
          <a:noFill/>
          <a:ln/>
        </p:spPr>
        <p:txBody>
          <a:bodyPr wrap="square" lIns="0" tIns="0" rIns="0" bIns="0" rtlCol="0" anchor="ctr"/>
          <a:lstStyle/>
          <a:p>
            <a:pPr indent="0" marL="0">
              <a:buNone/>
            </a:pPr>
            <a:r>
              <a:rPr lang="en-US" sz="950" b="1" dirty="0">
                <a:solidFill>
                  <a:srgbClr val="247BA0"/>
                </a:solidFill>
                <a:latin typeface="Aptos" pitchFamily="34" charset="0"/>
                <a:ea typeface="Aptos" pitchFamily="34" charset="-122"/>
                <a:cs typeface="Aptos" pitchFamily="34" charset="-120"/>
              </a:rPr>
              <a:t>1.5</a:t>
            </a:r>
            <a:endParaRPr lang="en-US" sz="950" dirty="0"/>
          </a:p>
        </p:txBody>
      </p:sp>
      <p:sp>
        <p:nvSpPr>
          <p:cNvPr id="3" name="Text 1"/>
          <p:cNvSpPr/>
          <p:nvPr/>
        </p:nvSpPr>
        <p:spPr>
          <a:xfrm>
            <a:off x="502920" y="566928"/>
            <a:ext cx="10881360" cy="475488"/>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Surveillance, Persuasion, and Governance</a:t>
            </a:r>
            <a:endParaRPr lang="en-US" sz="2500" dirty="0"/>
          </a:p>
        </p:txBody>
      </p:sp>
      <p:sp>
        <p:nvSpPr>
          <p:cNvPr id="4" name="Shape 2"/>
          <p:cNvSpPr/>
          <p:nvPr/>
        </p:nvSpPr>
        <p:spPr>
          <a:xfrm>
            <a:off x="502920" y="1152144"/>
            <a:ext cx="11155680" cy="0"/>
          </a:xfrm>
          <a:prstGeom prst="line">
            <a:avLst/>
          </a:prstGeom>
          <a:noFill/>
          <a:ln w="12700">
            <a:solidFill>
              <a:srgbClr val="D9E2EC"/>
            </a:solidFill>
            <a:prstDash val="solid"/>
          </a:ln>
        </p:spPr>
      </p:sp>
      <p:sp>
        <p:nvSpPr>
          <p:cNvPr id="5" name="Text 3"/>
          <p:cNvSpPr/>
          <p:nvPr/>
        </p:nvSpPr>
        <p:spPr>
          <a:xfrm>
            <a:off x="9829800" y="6464808"/>
            <a:ext cx="1828800" cy="182880"/>
          </a:xfrm>
          <a:prstGeom prst="rect">
            <a:avLst/>
          </a:prstGeom>
          <a:noFill/>
          <a:ln/>
        </p:spPr>
        <p:txBody>
          <a:bodyPr wrap="square" lIns="0" tIns="0" rIns="0" bIns="0" rtlCol="0" anchor="ctr"/>
          <a:lstStyle/>
          <a:p>
            <a:pPr algn="r" indent="0" marL="0">
              <a:buNone/>
            </a:pPr>
            <a:r>
              <a:rPr lang="en-US" sz="850" dirty="0">
                <a:solidFill>
                  <a:srgbClr val="7B8794"/>
                </a:solidFill>
                <a:latin typeface="Aptos" pitchFamily="34" charset="0"/>
                <a:ea typeface="Aptos" pitchFamily="34" charset="-122"/>
                <a:cs typeface="Aptos" pitchFamily="34" charset="-120"/>
              </a:rPr>
              <a:t>COMP 469 · Chapter 1</a:t>
            </a:r>
            <a:endParaRPr lang="en-US" sz="850" dirty="0"/>
          </a:p>
        </p:txBody>
      </p:sp>
      <p:sp>
        <p:nvSpPr>
          <p:cNvPr id="6" name="Text 4"/>
          <p:cNvSpPr/>
          <p:nvPr/>
        </p:nvSpPr>
        <p:spPr>
          <a:xfrm>
            <a:off x="822960" y="1371600"/>
            <a:ext cx="10515600" cy="292608"/>
          </a:xfrm>
          <a:prstGeom prst="rect">
            <a:avLst/>
          </a:prstGeom>
          <a:noFill/>
          <a:ln/>
        </p:spPr>
        <p:txBody>
          <a:bodyPr wrap="square" lIns="0" tIns="0" rIns="0" bIns="0" rtlCol="0" anchor="ctr"/>
          <a:lstStyle/>
          <a:p>
            <a:pPr algn="ctr" indent="0" marL="0">
              <a:buNone/>
            </a:pPr>
            <a:r>
              <a:rPr lang="en-US" sz="1850" b="1" dirty="0">
                <a:solidFill>
                  <a:srgbClr val="102A43"/>
                </a:solidFill>
              </a:rPr>
              <a:t>Risks scale when AI systems are deployed broadly</a:t>
            </a:r>
            <a:endParaRPr lang="en-US" sz="1850" dirty="0"/>
          </a:p>
        </p:txBody>
      </p:sp>
      <p:sp>
        <p:nvSpPr>
          <p:cNvPr id="7" name="Shape 5"/>
          <p:cNvSpPr/>
          <p:nvPr/>
        </p:nvSpPr>
        <p:spPr>
          <a:xfrm>
            <a:off x="1005840" y="1947672"/>
            <a:ext cx="10149840" cy="530352"/>
          </a:xfrm>
          <a:prstGeom prst="roundRect">
            <a:avLst/>
          </a:prstGeom>
          <a:solidFill>
            <a:srgbClr val="FFFFFF"/>
          </a:solidFill>
          <a:ln w="12700">
            <a:solidFill>
              <a:srgbClr val="D9E2EC"/>
            </a:solidFill>
            <a:prstDash val="solid"/>
          </a:ln>
          <a:effectLst>
            <a:outerShdw sx="100000" sy="100000" kx="0" ky="0" algn="bl" rotWithShape="0" blurRad="7620" dist="3810" dir="2700000">
              <a:srgbClr val="000000">
                <a:alpha val="4000"/>
              </a:srgbClr>
            </a:outerShdw>
          </a:effectLst>
        </p:spPr>
      </p:sp>
      <p:sp>
        <p:nvSpPr>
          <p:cNvPr id="8" name="Shape 6"/>
          <p:cNvSpPr/>
          <p:nvPr/>
        </p:nvSpPr>
        <p:spPr>
          <a:xfrm>
            <a:off x="1005840" y="1947672"/>
            <a:ext cx="109728" cy="530352"/>
          </a:xfrm>
          <a:prstGeom prst="rect">
            <a:avLst/>
          </a:prstGeom>
          <a:solidFill>
            <a:srgbClr val="247BA0"/>
          </a:solidFill>
          <a:ln w="12700">
            <a:solidFill>
              <a:srgbClr val="247BA0"/>
            </a:solidFill>
            <a:prstDash val="solid"/>
          </a:ln>
        </p:spPr>
      </p:sp>
      <p:sp>
        <p:nvSpPr>
          <p:cNvPr id="9" name="Text 7"/>
          <p:cNvSpPr/>
          <p:nvPr/>
        </p:nvSpPr>
        <p:spPr>
          <a:xfrm>
            <a:off x="1325880" y="2066544"/>
            <a:ext cx="1417320" cy="228600"/>
          </a:xfrm>
          <a:prstGeom prst="rect">
            <a:avLst/>
          </a:prstGeom>
          <a:noFill/>
          <a:ln/>
        </p:spPr>
        <p:txBody>
          <a:bodyPr wrap="square" lIns="0" tIns="0" rIns="0" bIns="0" rtlCol="0" anchor="ctr"/>
          <a:lstStyle/>
          <a:p>
            <a:pPr indent="0" marL="0">
              <a:buNone/>
            </a:pPr>
            <a:r>
              <a:rPr lang="en-US" sz="1400" b="1" dirty="0">
                <a:solidFill>
                  <a:srgbClr val="247BA0"/>
                </a:solidFill>
              </a:rPr>
              <a:t>Surveillance</a:t>
            </a:r>
            <a:endParaRPr lang="en-US" sz="1400" dirty="0"/>
          </a:p>
        </p:txBody>
      </p:sp>
      <p:sp>
        <p:nvSpPr>
          <p:cNvPr id="10" name="Text 8"/>
          <p:cNvSpPr/>
          <p:nvPr/>
        </p:nvSpPr>
        <p:spPr>
          <a:xfrm>
            <a:off x="2788920" y="2066544"/>
            <a:ext cx="8092440" cy="237744"/>
          </a:xfrm>
          <a:prstGeom prst="rect">
            <a:avLst/>
          </a:prstGeom>
          <a:noFill/>
          <a:ln/>
        </p:spPr>
        <p:txBody>
          <a:bodyPr wrap="square" lIns="0" tIns="0" rIns="0" bIns="0" rtlCol="0" anchor="ctr">
            <a:normAutofit/>
          </a:bodyPr>
          <a:lstStyle/>
          <a:p>
            <a:pPr indent="0" marL="0">
              <a:buNone/>
            </a:pPr>
            <a:r>
              <a:rPr lang="en-US" sz="1350" dirty="0">
                <a:solidFill>
                  <a:srgbClr val="1F2933"/>
                </a:solidFill>
              </a:rPr>
              <a:t>speech, vision, and language systems can monitor communication and behavior at scale</a:t>
            </a:r>
            <a:endParaRPr lang="en-US" sz="1350" dirty="0"/>
          </a:p>
        </p:txBody>
      </p:sp>
      <p:sp>
        <p:nvSpPr>
          <p:cNvPr id="11" name="Shape 9"/>
          <p:cNvSpPr/>
          <p:nvPr/>
        </p:nvSpPr>
        <p:spPr>
          <a:xfrm>
            <a:off x="1005840" y="2706624"/>
            <a:ext cx="10149840" cy="530352"/>
          </a:xfrm>
          <a:prstGeom prst="roundRect">
            <a:avLst/>
          </a:prstGeom>
          <a:solidFill>
            <a:srgbClr val="FFFFFF"/>
          </a:solidFill>
          <a:ln w="12700">
            <a:solidFill>
              <a:srgbClr val="D9E2EC"/>
            </a:solidFill>
            <a:prstDash val="solid"/>
          </a:ln>
          <a:effectLst>
            <a:outerShdw sx="100000" sy="100000" kx="0" ky="0" algn="bl" rotWithShape="0" blurRad="7620" dist="3810" dir="2700000">
              <a:srgbClr val="000000">
                <a:alpha val="4000"/>
              </a:srgbClr>
            </a:outerShdw>
          </a:effectLst>
        </p:spPr>
      </p:sp>
      <p:sp>
        <p:nvSpPr>
          <p:cNvPr id="12" name="Shape 10"/>
          <p:cNvSpPr/>
          <p:nvPr/>
        </p:nvSpPr>
        <p:spPr>
          <a:xfrm>
            <a:off x="1005840" y="2706624"/>
            <a:ext cx="109728" cy="530352"/>
          </a:xfrm>
          <a:prstGeom prst="rect">
            <a:avLst/>
          </a:prstGeom>
          <a:solidFill>
            <a:srgbClr val="F97316"/>
          </a:solidFill>
          <a:ln w="12700">
            <a:solidFill>
              <a:srgbClr val="F97316"/>
            </a:solidFill>
            <a:prstDash val="solid"/>
          </a:ln>
        </p:spPr>
      </p:sp>
      <p:sp>
        <p:nvSpPr>
          <p:cNvPr id="13" name="Text 11"/>
          <p:cNvSpPr/>
          <p:nvPr/>
        </p:nvSpPr>
        <p:spPr>
          <a:xfrm>
            <a:off x="1325880" y="2825496"/>
            <a:ext cx="1417320" cy="228600"/>
          </a:xfrm>
          <a:prstGeom prst="rect">
            <a:avLst/>
          </a:prstGeom>
          <a:noFill/>
          <a:ln/>
        </p:spPr>
        <p:txBody>
          <a:bodyPr wrap="square" lIns="0" tIns="0" rIns="0" bIns="0" rtlCol="0" anchor="ctr"/>
          <a:lstStyle/>
          <a:p>
            <a:pPr indent="0" marL="0">
              <a:buNone/>
            </a:pPr>
            <a:r>
              <a:rPr lang="en-US" sz="1400" b="1" dirty="0">
                <a:solidFill>
                  <a:srgbClr val="F97316"/>
                </a:solidFill>
              </a:rPr>
              <a:t>Persuasion</a:t>
            </a:r>
            <a:endParaRPr lang="en-US" sz="1400" dirty="0"/>
          </a:p>
        </p:txBody>
      </p:sp>
      <p:sp>
        <p:nvSpPr>
          <p:cNvPr id="14" name="Text 12"/>
          <p:cNvSpPr/>
          <p:nvPr/>
        </p:nvSpPr>
        <p:spPr>
          <a:xfrm>
            <a:off x="2788920" y="2825496"/>
            <a:ext cx="8092440" cy="237744"/>
          </a:xfrm>
          <a:prstGeom prst="rect">
            <a:avLst/>
          </a:prstGeom>
          <a:noFill/>
          <a:ln/>
        </p:spPr>
        <p:txBody>
          <a:bodyPr wrap="square" lIns="0" tIns="0" rIns="0" bIns="0" rtlCol="0" anchor="ctr">
            <a:normAutofit/>
          </a:bodyPr>
          <a:lstStyle/>
          <a:p>
            <a:pPr indent="0" marL="0">
              <a:buNone/>
            </a:pPr>
            <a:r>
              <a:rPr lang="en-US" sz="1350" dirty="0">
                <a:solidFill>
                  <a:srgbClr val="1F2933"/>
                </a:solidFill>
              </a:rPr>
              <a:t>machine learning can personalize information flows and influence decisions or behavior</a:t>
            </a:r>
            <a:endParaRPr lang="en-US" sz="1350" dirty="0"/>
          </a:p>
        </p:txBody>
      </p:sp>
      <p:sp>
        <p:nvSpPr>
          <p:cNvPr id="15" name="Shape 13"/>
          <p:cNvSpPr/>
          <p:nvPr/>
        </p:nvSpPr>
        <p:spPr>
          <a:xfrm>
            <a:off x="1005840" y="3465576"/>
            <a:ext cx="10149840" cy="530352"/>
          </a:xfrm>
          <a:prstGeom prst="roundRect">
            <a:avLst/>
          </a:prstGeom>
          <a:solidFill>
            <a:srgbClr val="FFFFFF"/>
          </a:solidFill>
          <a:ln w="12700">
            <a:solidFill>
              <a:srgbClr val="D9E2EC"/>
            </a:solidFill>
            <a:prstDash val="solid"/>
          </a:ln>
          <a:effectLst>
            <a:outerShdw sx="100000" sy="100000" kx="0" ky="0" algn="bl" rotWithShape="0" blurRad="7620" dist="3810" dir="2700000">
              <a:srgbClr val="000000">
                <a:alpha val="4000"/>
              </a:srgbClr>
            </a:outerShdw>
          </a:effectLst>
        </p:spPr>
      </p:sp>
      <p:sp>
        <p:nvSpPr>
          <p:cNvPr id="16" name="Shape 14"/>
          <p:cNvSpPr/>
          <p:nvPr/>
        </p:nvSpPr>
        <p:spPr>
          <a:xfrm>
            <a:off x="1005840" y="3465576"/>
            <a:ext cx="109728" cy="530352"/>
          </a:xfrm>
          <a:prstGeom prst="rect">
            <a:avLst/>
          </a:prstGeom>
          <a:solidFill>
            <a:srgbClr val="C1121F"/>
          </a:solidFill>
          <a:ln w="12700">
            <a:solidFill>
              <a:srgbClr val="C1121F"/>
            </a:solidFill>
            <a:prstDash val="solid"/>
          </a:ln>
        </p:spPr>
      </p:sp>
      <p:sp>
        <p:nvSpPr>
          <p:cNvPr id="17" name="Text 15"/>
          <p:cNvSpPr/>
          <p:nvPr/>
        </p:nvSpPr>
        <p:spPr>
          <a:xfrm>
            <a:off x="1325880" y="3584448"/>
            <a:ext cx="1417320" cy="228600"/>
          </a:xfrm>
          <a:prstGeom prst="rect">
            <a:avLst/>
          </a:prstGeom>
          <a:noFill/>
          <a:ln/>
        </p:spPr>
        <p:txBody>
          <a:bodyPr wrap="square" lIns="0" tIns="0" rIns="0" bIns="0" rtlCol="0" anchor="ctr"/>
          <a:lstStyle/>
          <a:p>
            <a:pPr indent="0" marL="0">
              <a:buNone/>
            </a:pPr>
            <a:r>
              <a:rPr lang="en-US" sz="1400" b="1" dirty="0">
                <a:solidFill>
                  <a:srgbClr val="C1121F"/>
                </a:solidFill>
              </a:rPr>
              <a:t>Bias</a:t>
            </a:r>
            <a:endParaRPr lang="en-US" sz="1400" dirty="0"/>
          </a:p>
        </p:txBody>
      </p:sp>
      <p:sp>
        <p:nvSpPr>
          <p:cNvPr id="18" name="Text 16"/>
          <p:cNvSpPr/>
          <p:nvPr/>
        </p:nvSpPr>
        <p:spPr>
          <a:xfrm>
            <a:off x="2788920" y="3584448"/>
            <a:ext cx="8092440" cy="237744"/>
          </a:xfrm>
          <a:prstGeom prst="rect">
            <a:avLst/>
          </a:prstGeom>
          <a:noFill/>
          <a:ln/>
        </p:spPr>
        <p:txBody>
          <a:bodyPr wrap="square" lIns="0" tIns="0" rIns="0" bIns="0" rtlCol="0" anchor="ctr">
            <a:normAutofit/>
          </a:bodyPr>
          <a:lstStyle/>
          <a:p>
            <a:pPr indent="0" marL="0">
              <a:buNone/>
            </a:pPr>
            <a:r>
              <a:rPr lang="en-US" sz="1350" dirty="0">
                <a:solidFill>
                  <a:srgbClr val="1F2933"/>
                </a:solidFill>
              </a:rPr>
              <a:t>models trained on biased data can amplify unfair decisions in loans, parole, hiring, and more</a:t>
            </a:r>
            <a:endParaRPr lang="en-US" sz="1350" dirty="0"/>
          </a:p>
        </p:txBody>
      </p:sp>
      <p:sp>
        <p:nvSpPr>
          <p:cNvPr id="19" name="Shape 17"/>
          <p:cNvSpPr/>
          <p:nvPr/>
        </p:nvSpPr>
        <p:spPr>
          <a:xfrm>
            <a:off x="1005840" y="4224528"/>
            <a:ext cx="10149840" cy="530352"/>
          </a:xfrm>
          <a:prstGeom prst="roundRect">
            <a:avLst/>
          </a:prstGeom>
          <a:solidFill>
            <a:srgbClr val="FFFFFF"/>
          </a:solidFill>
          <a:ln w="12700">
            <a:solidFill>
              <a:srgbClr val="D9E2EC"/>
            </a:solidFill>
            <a:prstDash val="solid"/>
          </a:ln>
          <a:effectLst>
            <a:outerShdw sx="100000" sy="100000" kx="0" ky="0" algn="bl" rotWithShape="0" blurRad="7620" dist="3810" dir="2700000">
              <a:srgbClr val="000000">
                <a:alpha val="4000"/>
              </a:srgbClr>
            </a:outerShdw>
          </a:effectLst>
        </p:spPr>
      </p:sp>
      <p:sp>
        <p:nvSpPr>
          <p:cNvPr id="20" name="Shape 18"/>
          <p:cNvSpPr/>
          <p:nvPr/>
        </p:nvSpPr>
        <p:spPr>
          <a:xfrm>
            <a:off x="1005840" y="4224528"/>
            <a:ext cx="109728" cy="530352"/>
          </a:xfrm>
          <a:prstGeom prst="rect">
            <a:avLst/>
          </a:prstGeom>
          <a:solidFill>
            <a:srgbClr val="55A630"/>
          </a:solidFill>
          <a:ln w="12700">
            <a:solidFill>
              <a:srgbClr val="55A630"/>
            </a:solidFill>
            <a:prstDash val="solid"/>
          </a:ln>
        </p:spPr>
      </p:sp>
      <p:sp>
        <p:nvSpPr>
          <p:cNvPr id="21" name="Text 19"/>
          <p:cNvSpPr/>
          <p:nvPr/>
        </p:nvSpPr>
        <p:spPr>
          <a:xfrm>
            <a:off x="1325880" y="4343400"/>
            <a:ext cx="1417320" cy="228600"/>
          </a:xfrm>
          <a:prstGeom prst="rect">
            <a:avLst/>
          </a:prstGeom>
          <a:noFill/>
          <a:ln/>
        </p:spPr>
        <p:txBody>
          <a:bodyPr wrap="square" lIns="0" tIns="0" rIns="0" bIns="0" rtlCol="0" anchor="ctr"/>
          <a:lstStyle/>
          <a:p>
            <a:pPr indent="0" marL="0">
              <a:buNone/>
            </a:pPr>
            <a:r>
              <a:rPr lang="en-US" sz="1400" b="1" dirty="0">
                <a:solidFill>
                  <a:srgbClr val="55A630"/>
                </a:solidFill>
              </a:rPr>
              <a:t>Governance</a:t>
            </a:r>
            <a:endParaRPr lang="en-US" sz="1400" dirty="0"/>
          </a:p>
        </p:txBody>
      </p:sp>
      <p:sp>
        <p:nvSpPr>
          <p:cNvPr id="22" name="Text 20"/>
          <p:cNvSpPr/>
          <p:nvPr/>
        </p:nvSpPr>
        <p:spPr>
          <a:xfrm>
            <a:off x="2788920" y="4343400"/>
            <a:ext cx="8092440" cy="237744"/>
          </a:xfrm>
          <a:prstGeom prst="rect">
            <a:avLst/>
          </a:prstGeom>
          <a:noFill/>
          <a:ln/>
        </p:spPr>
        <p:txBody>
          <a:bodyPr wrap="square" lIns="0" tIns="0" rIns="0" bIns="0" rtlCol="0" anchor="ctr">
            <a:normAutofit/>
          </a:bodyPr>
          <a:lstStyle/>
          <a:p>
            <a:pPr indent="0" marL="0">
              <a:buNone/>
            </a:pPr>
            <a:r>
              <a:rPr lang="en-US" sz="1350" dirty="0">
                <a:solidFill>
                  <a:srgbClr val="1F2933"/>
                </a:solidFill>
              </a:rPr>
              <a:t>technical standards, self-governance, and regulation become necessary as impact grows</a:t>
            </a:r>
            <a:endParaRPr lang="en-US" sz="1350" dirty="0"/>
          </a:p>
        </p:txBody>
      </p:sp>
      <p:sp>
        <p:nvSpPr>
          <p:cNvPr id="23" name="Shape 21"/>
          <p:cNvSpPr/>
          <p:nvPr/>
        </p:nvSpPr>
        <p:spPr>
          <a:xfrm>
            <a:off x="1325880" y="5504688"/>
            <a:ext cx="9555480" cy="621792"/>
          </a:xfrm>
          <a:prstGeom prst="roundRect">
            <a:avLst>
              <a:gd name="adj" fmla="val 11765"/>
            </a:avLst>
          </a:prstGeom>
          <a:solidFill>
            <a:srgbClr val="C1121F"/>
          </a:solidFill>
          <a:ln w="12700">
            <a:solidFill>
              <a:srgbClr val="C1121F"/>
            </a:solidFill>
            <a:prstDash val="solid"/>
          </a:ln>
          <a:effectLst>
            <a:outerShdw sx="100000" sy="100000" kx="0" ky="0" algn="bl" rotWithShape="0" blurRad="19050" dist="7620" dir="2700000">
              <a:srgbClr val="000000">
                <a:alpha val="10000"/>
              </a:srgbClr>
            </a:outerShdw>
          </a:effectLst>
        </p:spPr>
      </p:sp>
      <p:sp>
        <p:nvSpPr>
          <p:cNvPr id="24" name="Text 22"/>
          <p:cNvSpPr/>
          <p:nvPr/>
        </p:nvSpPr>
        <p:spPr>
          <a:xfrm>
            <a:off x="1463040" y="5596128"/>
            <a:ext cx="9281160" cy="438912"/>
          </a:xfrm>
          <a:prstGeom prst="rect">
            <a:avLst/>
          </a:prstGeom>
          <a:noFill/>
          <a:ln/>
        </p:spPr>
        <p:txBody>
          <a:bodyPr wrap="square" lIns="0" tIns="0" rIns="0" bIns="0" rtlCol="0" anchor="ctr">
            <a:normAutofit/>
          </a:bodyPr>
          <a:lstStyle/>
          <a:p>
            <a:pPr algn="ctr" indent="0" marL="0">
              <a:buNone/>
            </a:pPr>
            <a:r>
              <a:rPr lang="en-US" sz="1450" b="1" dirty="0">
                <a:solidFill>
                  <a:srgbClr val="FFFFFF"/>
                </a:solidFill>
                <a:latin typeface="Aptos" pitchFamily="34" charset="0"/>
                <a:ea typeface="Aptos" pitchFamily="34" charset="-122"/>
                <a:cs typeface="Aptos" pitchFamily="34" charset="-120"/>
              </a:rPr>
              <a:t>Key idea: Chapter 1 treats AI as a dual-use technology: the same capabilities can help or harm.</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02920" y="292608"/>
            <a:ext cx="914400" cy="228600"/>
          </a:xfrm>
          <a:prstGeom prst="rect">
            <a:avLst/>
          </a:prstGeom>
          <a:noFill/>
          <a:ln/>
        </p:spPr>
        <p:txBody>
          <a:bodyPr wrap="square" lIns="0" tIns="0" rIns="0" bIns="0" rtlCol="0" anchor="ctr"/>
          <a:lstStyle/>
          <a:p>
            <a:pPr indent="0" marL="0">
              <a:buNone/>
            </a:pPr>
            <a:r>
              <a:rPr lang="en-US" sz="950" b="1" dirty="0">
                <a:solidFill>
                  <a:srgbClr val="247BA0"/>
                </a:solidFill>
                <a:latin typeface="Aptos" pitchFamily="34" charset="0"/>
                <a:ea typeface="Aptos" pitchFamily="34" charset="-122"/>
                <a:cs typeface="Aptos" pitchFamily="34" charset="-120"/>
              </a:rPr>
              <a:t>1.5</a:t>
            </a:r>
            <a:endParaRPr lang="en-US" sz="950" dirty="0"/>
          </a:p>
        </p:txBody>
      </p:sp>
      <p:sp>
        <p:nvSpPr>
          <p:cNvPr id="3" name="Text 1"/>
          <p:cNvSpPr/>
          <p:nvPr/>
        </p:nvSpPr>
        <p:spPr>
          <a:xfrm>
            <a:off x="502920" y="566928"/>
            <a:ext cx="10881360" cy="475488"/>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HLAI, AGI, ASI, and the Gorilla Problem</a:t>
            </a:r>
            <a:endParaRPr lang="en-US" sz="2500" dirty="0"/>
          </a:p>
        </p:txBody>
      </p:sp>
      <p:sp>
        <p:nvSpPr>
          <p:cNvPr id="4" name="Shape 2"/>
          <p:cNvSpPr/>
          <p:nvPr/>
        </p:nvSpPr>
        <p:spPr>
          <a:xfrm>
            <a:off x="502920" y="1152144"/>
            <a:ext cx="11155680" cy="0"/>
          </a:xfrm>
          <a:prstGeom prst="line">
            <a:avLst/>
          </a:prstGeom>
          <a:noFill/>
          <a:ln w="12700">
            <a:solidFill>
              <a:srgbClr val="D9E2EC"/>
            </a:solidFill>
            <a:prstDash val="solid"/>
          </a:ln>
        </p:spPr>
      </p:sp>
      <p:sp>
        <p:nvSpPr>
          <p:cNvPr id="5" name="Text 3"/>
          <p:cNvSpPr/>
          <p:nvPr/>
        </p:nvSpPr>
        <p:spPr>
          <a:xfrm>
            <a:off x="9829800" y="6464808"/>
            <a:ext cx="1828800" cy="182880"/>
          </a:xfrm>
          <a:prstGeom prst="rect">
            <a:avLst/>
          </a:prstGeom>
          <a:noFill/>
          <a:ln/>
        </p:spPr>
        <p:txBody>
          <a:bodyPr wrap="square" lIns="0" tIns="0" rIns="0" bIns="0" rtlCol="0" anchor="ctr"/>
          <a:lstStyle/>
          <a:p>
            <a:pPr algn="r" indent="0" marL="0">
              <a:buNone/>
            </a:pPr>
            <a:r>
              <a:rPr lang="en-US" sz="850" dirty="0">
                <a:solidFill>
                  <a:srgbClr val="7B8794"/>
                </a:solidFill>
                <a:latin typeface="Aptos" pitchFamily="34" charset="0"/>
                <a:ea typeface="Aptos" pitchFamily="34" charset="-122"/>
                <a:cs typeface="Aptos" pitchFamily="34" charset="-120"/>
              </a:rPr>
              <a:t>COMP 469 · Chapter 1</a:t>
            </a:r>
            <a:endParaRPr lang="en-US" sz="850" dirty="0"/>
          </a:p>
        </p:txBody>
      </p:sp>
      <p:sp>
        <p:nvSpPr>
          <p:cNvPr id="6" name="Shape 4"/>
          <p:cNvSpPr/>
          <p:nvPr/>
        </p:nvSpPr>
        <p:spPr>
          <a:xfrm>
            <a:off x="822960" y="1417320"/>
            <a:ext cx="3383280" cy="1389888"/>
          </a:xfrm>
          <a:prstGeom prst="roundRect">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7" name="Text 5"/>
          <p:cNvSpPr/>
          <p:nvPr/>
        </p:nvSpPr>
        <p:spPr>
          <a:xfrm>
            <a:off x="1051560" y="1664208"/>
            <a:ext cx="822960" cy="274320"/>
          </a:xfrm>
          <a:prstGeom prst="rect">
            <a:avLst/>
          </a:prstGeom>
          <a:noFill/>
          <a:ln/>
        </p:spPr>
        <p:txBody>
          <a:bodyPr wrap="square" lIns="0" tIns="0" rIns="0" bIns="0" rtlCol="0" anchor="ctr"/>
          <a:lstStyle/>
          <a:p>
            <a:pPr indent="0" marL="0">
              <a:buNone/>
            </a:pPr>
            <a:r>
              <a:rPr lang="en-US" sz="2000" b="1" dirty="0">
                <a:solidFill>
                  <a:srgbClr val="247BA0"/>
                </a:solidFill>
              </a:rPr>
              <a:t>HLAI</a:t>
            </a:r>
            <a:endParaRPr lang="en-US" sz="2000" dirty="0"/>
          </a:p>
        </p:txBody>
      </p:sp>
      <p:sp>
        <p:nvSpPr>
          <p:cNvPr id="8" name="Text 6"/>
          <p:cNvSpPr/>
          <p:nvPr/>
        </p:nvSpPr>
        <p:spPr>
          <a:xfrm>
            <a:off x="1874520" y="1618488"/>
            <a:ext cx="2057400" cy="457200"/>
          </a:xfrm>
          <a:prstGeom prst="rect">
            <a:avLst/>
          </a:prstGeom>
          <a:noFill/>
          <a:ln/>
        </p:spPr>
        <p:txBody>
          <a:bodyPr wrap="square" lIns="0" tIns="0" rIns="0" bIns="0" rtlCol="0" anchor="ctr">
            <a:normAutofit/>
          </a:bodyPr>
          <a:lstStyle/>
          <a:p>
            <a:pPr indent="0" marL="0">
              <a:buNone/>
            </a:pPr>
            <a:r>
              <a:rPr lang="en-US" sz="1350" dirty="0">
                <a:solidFill>
                  <a:srgbClr val="1F2933"/>
                </a:solidFill>
              </a:rPr>
              <a:t>Human-level AI: learn to do anything a human can do</a:t>
            </a:r>
            <a:endParaRPr lang="en-US" sz="1350" dirty="0"/>
          </a:p>
        </p:txBody>
      </p:sp>
      <p:sp>
        <p:nvSpPr>
          <p:cNvPr id="9" name="Shape 7"/>
          <p:cNvSpPr/>
          <p:nvPr/>
        </p:nvSpPr>
        <p:spPr>
          <a:xfrm>
            <a:off x="4434840" y="1417320"/>
            <a:ext cx="3383280" cy="1389888"/>
          </a:xfrm>
          <a:prstGeom prst="roundRect">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0" name="Text 8"/>
          <p:cNvSpPr/>
          <p:nvPr/>
        </p:nvSpPr>
        <p:spPr>
          <a:xfrm>
            <a:off x="4663440" y="1664208"/>
            <a:ext cx="822960" cy="274320"/>
          </a:xfrm>
          <a:prstGeom prst="rect">
            <a:avLst/>
          </a:prstGeom>
          <a:noFill/>
          <a:ln/>
        </p:spPr>
        <p:txBody>
          <a:bodyPr wrap="square" lIns="0" tIns="0" rIns="0" bIns="0" rtlCol="0" anchor="ctr"/>
          <a:lstStyle/>
          <a:p>
            <a:pPr indent="0" marL="0">
              <a:buNone/>
            </a:pPr>
            <a:r>
              <a:rPr lang="en-US" sz="2000" b="1" dirty="0">
                <a:solidFill>
                  <a:srgbClr val="6D28D9"/>
                </a:solidFill>
              </a:rPr>
              <a:t>AGI</a:t>
            </a:r>
            <a:endParaRPr lang="en-US" sz="2000" dirty="0"/>
          </a:p>
        </p:txBody>
      </p:sp>
      <p:sp>
        <p:nvSpPr>
          <p:cNvPr id="11" name="Text 9"/>
          <p:cNvSpPr/>
          <p:nvPr/>
        </p:nvSpPr>
        <p:spPr>
          <a:xfrm>
            <a:off x="5486400" y="1618488"/>
            <a:ext cx="2057400" cy="457200"/>
          </a:xfrm>
          <a:prstGeom prst="rect">
            <a:avLst/>
          </a:prstGeom>
          <a:noFill/>
          <a:ln/>
        </p:spPr>
        <p:txBody>
          <a:bodyPr wrap="square" lIns="0" tIns="0" rIns="0" bIns="0" rtlCol="0" anchor="ctr">
            <a:normAutofit/>
          </a:bodyPr>
          <a:lstStyle/>
          <a:p>
            <a:pPr indent="0" marL="0">
              <a:buNone/>
            </a:pPr>
            <a:r>
              <a:rPr lang="en-US" sz="1350" dirty="0">
                <a:solidFill>
                  <a:srgbClr val="1F2933"/>
                </a:solidFill>
              </a:rPr>
              <a:t>Artificial general intelligence: broad abilities across tasks</a:t>
            </a:r>
            <a:endParaRPr lang="en-US" sz="1350" dirty="0"/>
          </a:p>
        </p:txBody>
      </p:sp>
      <p:sp>
        <p:nvSpPr>
          <p:cNvPr id="12" name="Shape 10"/>
          <p:cNvSpPr/>
          <p:nvPr/>
        </p:nvSpPr>
        <p:spPr>
          <a:xfrm>
            <a:off x="8046720" y="1417320"/>
            <a:ext cx="3383280" cy="1389888"/>
          </a:xfrm>
          <a:prstGeom prst="roundRect">
            <a:avLst/>
          </a:prstGeom>
          <a:solidFill>
            <a:srgbClr val="FFFFFF"/>
          </a:solidFill>
          <a:ln w="12700">
            <a:solidFill>
              <a:srgbClr val="D9E2EC"/>
            </a:solidFill>
            <a:prstDash val="solid"/>
          </a:ln>
          <a:effectLst>
            <a:outerShdw sx="100000" sy="100000" kx="0" ky="0" algn="bl" rotWithShape="0" blurRad="12700" dist="5080" dir="2700000">
              <a:srgbClr val="000000">
                <a:alpha val="8000"/>
              </a:srgbClr>
            </a:outerShdw>
          </a:effectLst>
        </p:spPr>
      </p:sp>
      <p:sp>
        <p:nvSpPr>
          <p:cNvPr id="13" name="Text 11"/>
          <p:cNvSpPr/>
          <p:nvPr/>
        </p:nvSpPr>
        <p:spPr>
          <a:xfrm>
            <a:off x="8275320" y="1664208"/>
            <a:ext cx="822960" cy="274320"/>
          </a:xfrm>
          <a:prstGeom prst="rect">
            <a:avLst/>
          </a:prstGeom>
          <a:noFill/>
          <a:ln/>
        </p:spPr>
        <p:txBody>
          <a:bodyPr wrap="square" lIns="0" tIns="0" rIns="0" bIns="0" rtlCol="0" anchor="ctr"/>
          <a:lstStyle/>
          <a:p>
            <a:pPr indent="0" marL="0">
              <a:buNone/>
            </a:pPr>
            <a:r>
              <a:rPr lang="en-US" sz="2000" b="1" dirty="0">
                <a:solidFill>
                  <a:srgbClr val="C1121F"/>
                </a:solidFill>
              </a:rPr>
              <a:t>ASI</a:t>
            </a:r>
            <a:endParaRPr lang="en-US" sz="2000" dirty="0"/>
          </a:p>
        </p:txBody>
      </p:sp>
      <p:sp>
        <p:nvSpPr>
          <p:cNvPr id="14" name="Text 12"/>
          <p:cNvSpPr/>
          <p:nvPr/>
        </p:nvSpPr>
        <p:spPr>
          <a:xfrm>
            <a:off x="9098280" y="1618488"/>
            <a:ext cx="2057400" cy="457200"/>
          </a:xfrm>
          <a:prstGeom prst="rect">
            <a:avLst/>
          </a:prstGeom>
          <a:noFill/>
          <a:ln/>
        </p:spPr>
        <p:txBody>
          <a:bodyPr wrap="square" lIns="0" tIns="0" rIns="0" bIns="0" rtlCol="0" anchor="ctr">
            <a:normAutofit/>
          </a:bodyPr>
          <a:lstStyle/>
          <a:p>
            <a:pPr indent="0" marL="0">
              <a:buNone/>
            </a:pPr>
            <a:r>
              <a:rPr lang="en-US" sz="1350" dirty="0">
                <a:solidFill>
                  <a:srgbClr val="1F2933"/>
                </a:solidFill>
              </a:rPr>
              <a:t>Artificial superintelligence: far surpasses human ability</a:t>
            </a:r>
            <a:endParaRPr lang="en-US" sz="1350" dirty="0"/>
          </a:p>
        </p:txBody>
      </p:sp>
      <p:sp>
        <p:nvSpPr>
          <p:cNvPr id="15" name="Shape 13"/>
          <p:cNvSpPr/>
          <p:nvPr/>
        </p:nvSpPr>
        <p:spPr>
          <a:xfrm>
            <a:off x="1828800" y="3273552"/>
            <a:ext cx="8412480" cy="0"/>
          </a:xfrm>
          <a:prstGeom prst="line">
            <a:avLst/>
          </a:prstGeom>
          <a:noFill/>
          <a:ln w="25400">
            <a:solidFill>
              <a:srgbClr val="D9E2EC"/>
            </a:solidFill>
            <a:prstDash val="solid"/>
            <a:headEnd type="none"/>
            <a:tailEnd type="triangle"/>
          </a:ln>
        </p:spPr>
      </p:sp>
      <p:sp>
        <p:nvSpPr>
          <p:cNvPr id="16" name="Text 14"/>
          <p:cNvSpPr/>
          <p:nvPr/>
        </p:nvSpPr>
        <p:spPr>
          <a:xfrm>
            <a:off x="4754880" y="3456432"/>
            <a:ext cx="2560320" cy="274320"/>
          </a:xfrm>
          <a:prstGeom prst="rect">
            <a:avLst/>
          </a:prstGeom>
          <a:noFill/>
          <a:ln/>
        </p:spPr>
        <p:txBody>
          <a:bodyPr wrap="square" lIns="0" tIns="0" rIns="0" bIns="0" rtlCol="0" anchor="ctr"/>
          <a:lstStyle/>
          <a:p>
            <a:pPr algn="ctr" indent="0" marL="0">
              <a:buNone/>
            </a:pPr>
            <a:r>
              <a:rPr lang="en-US" sz="1500" b="1" dirty="0">
                <a:solidFill>
                  <a:srgbClr val="52616B"/>
                </a:solidFill>
              </a:rPr>
              <a:t>Capability increases</a:t>
            </a:r>
            <a:endParaRPr lang="en-US" sz="1500" dirty="0"/>
          </a:p>
        </p:txBody>
      </p:sp>
      <p:sp>
        <p:nvSpPr>
          <p:cNvPr id="17" name="Shape 15"/>
          <p:cNvSpPr/>
          <p:nvPr/>
        </p:nvSpPr>
        <p:spPr>
          <a:xfrm>
            <a:off x="960120" y="4160520"/>
            <a:ext cx="10287000" cy="1005840"/>
          </a:xfrm>
          <a:prstGeom prst="roundRect">
            <a:avLst/>
          </a:prstGeom>
          <a:solidFill>
            <a:srgbClr val="FFFFFF"/>
          </a:solidFill>
          <a:ln w="12700">
            <a:solidFill>
              <a:srgbClr val="D9E2EC"/>
            </a:solidFill>
            <a:prstDash val="solid"/>
          </a:ln>
        </p:spPr>
      </p:sp>
      <p:sp>
        <p:nvSpPr>
          <p:cNvPr id="18" name="Text 16"/>
          <p:cNvSpPr/>
          <p:nvPr/>
        </p:nvSpPr>
        <p:spPr>
          <a:xfrm>
            <a:off x="1234440" y="4407408"/>
            <a:ext cx="2286000" cy="274320"/>
          </a:xfrm>
          <a:prstGeom prst="rect">
            <a:avLst/>
          </a:prstGeom>
          <a:noFill/>
          <a:ln/>
        </p:spPr>
        <p:txBody>
          <a:bodyPr wrap="square" lIns="0" tIns="0" rIns="0" bIns="0" rtlCol="0" anchor="ctr"/>
          <a:lstStyle/>
          <a:p>
            <a:pPr indent="0" marL="0">
              <a:buNone/>
            </a:pPr>
            <a:r>
              <a:rPr lang="en-US" sz="1800" b="1" dirty="0">
                <a:solidFill>
                  <a:srgbClr val="102A43"/>
                </a:solidFill>
              </a:rPr>
              <a:t>The Gorilla Problem</a:t>
            </a:r>
            <a:endParaRPr lang="en-US" sz="1800" dirty="0"/>
          </a:p>
        </p:txBody>
      </p:sp>
      <p:sp>
        <p:nvSpPr>
          <p:cNvPr id="19" name="Text 17"/>
          <p:cNvSpPr/>
          <p:nvPr/>
        </p:nvSpPr>
        <p:spPr>
          <a:xfrm>
            <a:off x="3611880" y="4343400"/>
            <a:ext cx="7269480" cy="347472"/>
          </a:xfrm>
          <a:prstGeom prst="rect">
            <a:avLst/>
          </a:prstGeom>
          <a:noFill/>
          <a:ln/>
        </p:spPr>
        <p:txBody>
          <a:bodyPr wrap="square" lIns="0" tIns="0" rIns="0" bIns="0" rtlCol="0" anchor="ctr">
            <a:normAutofit/>
          </a:bodyPr>
          <a:lstStyle/>
          <a:p>
            <a:pPr indent="0" marL="0">
              <a:buNone/>
            </a:pPr>
            <a:r>
              <a:rPr lang="en-US" sz="1550" dirty="0">
                <a:solidFill>
                  <a:srgbClr val="1F2933"/>
                </a:solidFill>
              </a:rPr>
              <a:t>A less capable species may have little control over its future once a more capable intelligence exists.</a:t>
            </a:r>
            <a:endParaRPr lang="en-US" sz="1550" dirty="0"/>
          </a:p>
        </p:txBody>
      </p:sp>
      <p:sp>
        <p:nvSpPr>
          <p:cNvPr id="20" name="Shape 18"/>
          <p:cNvSpPr/>
          <p:nvPr/>
        </p:nvSpPr>
        <p:spPr>
          <a:xfrm>
            <a:off x="1188720" y="5623560"/>
            <a:ext cx="9784080" cy="530352"/>
          </a:xfrm>
          <a:prstGeom prst="roundRect">
            <a:avLst>
              <a:gd name="adj" fmla="val 13793"/>
            </a:avLst>
          </a:prstGeom>
          <a:solidFill>
            <a:srgbClr val="6D28D9"/>
          </a:solidFill>
          <a:ln w="12700">
            <a:solidFill>
              <a:srgbClr val="6D28D9"/>
            </a:solidFill>
            <a:prstDash val="solid"/>
          </a:ln>
          <a:effectLst>
            <a:outerShdw sx="100000" sy="100000" kx="0" ky="0" algn="bl" rotWithShape="0" blurRad="19050" dist="7620" dir="2700000">
              <a:srgbClr val="000000">
                <a:alpha val="10000"/>
              </a:srgbClr>
            </a:outerShdw>
          </a:effectLst>
        </p:spPr>
      </p:sp>
      <p:sp>
        <p:nvSpPr>
          <p:cNvPr id="21" name="Text 19"/>
          <p:cNvSpPr/>
          <p:nvPr/>
        </p:nvSpPr>
        <p:spPr>
          <a:xfrm>
            <a:off x="1325880" y="5715000"/>
            <a:ext cx="9509760" cy="347472"/>
          </a:xfrm>
          <a:prstGeom prst="rect">
            <a:avLst/>
          </a:prstGeom>
          <a:noFill/>
          <a:ln/>
        </p:spPr>
        <p:txBody>
          <a:bodyPr wrap="square" lIns="0" tIns="0" rIns="0" bIns="0" rtlCol="0" anchor="ctr">
            <a:normAutofit/>
          </a:bodyPr>
          <a:lstStyle/>
          <a:p>
            <a:pPr algn="ctr" indent="0" marL="0">
              <a:buNone/>
            </a:pPr>
            <a:r>
              <a:rPr lang="en-US" sz="1450" b="1" dirty="0">
                <a:solidFill>
                  <a:srgbClr val="FFFFFF"/>
                </a:solidFill>
                <a:latin typeface="Aptos" pitchFamily="34" charset="0"/>
                <a:ea typeface="Aptos" pitchFamily="34" charset="-122"/>
                <a:cs typeface="Aptos" pitchFamily="34" charset="-120"/>
              </a:rPr>
              <a:t>Key idea: objective misalignment is one risk; loss of control to a more capable intelligence is another.</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CSU Channel Islands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Supplemental Slides</dc:title>
  <dc:subject>COMP 469 Chapter 1 missing lecture slides</dc:subject>
  <dc:creator>OpenAI</dc:creator>
  <cp:lastModifiedBy>OpenAI</cp:lastModifiedBy>
  <cp:revision>1</cp:revision>
  <dcterms:created xsi:type="dcterms:W3CDTF">2026-07-27T00:28:39Z</dcterms:created>
  <dcterms:modified xsi:type="dcterms:W3CDTF">2026-07-27T00:28:39Z</dcterms:modified>
</cp:coreProperties>
</file>