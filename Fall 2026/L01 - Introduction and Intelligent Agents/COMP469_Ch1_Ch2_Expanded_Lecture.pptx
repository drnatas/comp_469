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slideMasters/slideMaster5.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6.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0.xml" ContentType="application/vnd.openxmlformats-officedocument.presentationml.slide+xml"/>
  <Override PartName="/ppt/slides/slide38.xml" ContentType="application/vnd.openxmlformats-officedocument.presentationml.slide+xml"/>
  <Override PartName="/ppt/slides/slide36.xml" ContentType="application/vnd.openxmlformats-officedocument.presentationml.slide+xml"/>
  <Override PartName="/ppt/slides/slide33.xml" ContentType="application/vnd.openxmlformats-officedocument.presentationml.slide+xml"/>
  <Override PartName="/ppt/slides/slide39.xml" ContentType="application/vnd.openxmlformats-officedocument.presentationml.slide+xml"/>
  <Override PartName="/ppt/slides/slide32.xml" ContentType="application/vnd.openxmlformats-officedocument.presentationml.slide+xml"/>
  <Override PartName="/ppt/slides/slide65.xml" ContentType="application/vnd.openxmlformats-officedocument.presentationml.slide+xml"/>
  <Override PartName="/ppt/slides/slide12.xml" ContentType="application/vnd.openxmlformats-officedocument.presentationml.slide+xml"/>
  <Override PartName="/ppt/slides/slide27.xml" ContentType="application/vnd.openxmlformats-officedocument.presentationml.slide+xml"/>
  <Override PartName="/ppt/slides/slide46.xml" ContentType="application/vnd.openxmlformats-officedocument.presentationml.slide+xml"/>
  <Override PartName="/ppt/slides/slide29.xml" ContentType="application/vnd.openxmlformats-officedocument.presentationml.slide+xml"/>
  <Override PartName="/ppt/slides/slide62.xml" ContentType="application/vnd.openxmlformats-officedocument.presentationml.slide+xml"/>
  <Override PartName="/ppt/slides/slide48.xml" ContentType="application/vnd.openxmlformats-officedocument.presentationml.slide+xml"/>
  <Override PartName="/ppt/slides/slide31.xml" ContentType="application/vnd.openxmlformats-officedocument.presentationml.slide+xml"/>
  <Override PartName="/ppt/slides/slide63.xml" ContentType="application/vnd.openxmlformats-officedocument.presentationml.slide+xml"/>
  <Override PartName="/ppt/slides/slide67.xml" ContentType="application/vnd.openxmlformats-officedocument.presentationml.slide+xml"/>
  <Override PartName="/ppt/slides/slide35.xml" ContentType="application/vnd.openxmlformats-officedocument.presentationml.slide+xml"/>
  <Override PartName="/ppt/slides/slide80.xml" ContentType="application/vnd.openxmlformats-officedocument.presentationml.slide+xml"/>
  <Override PartName="/ppt/slides/slide64.xml" ContentType="application/vnd.openxmlformats-officedocument.presentationml.slide+xml"/>
  <Override PartName="/ppt/slides/slide61.xml" ContentType="application/vnd.openxmlformats-officedocument.presentationml.slide+xml"/>
  <Override PartName="/ppt/slides/slide79.xml" ContentType="application/vnd.openxmlformats-officedocument.presentationml.slide+xml"/>
  <Override PartName="/ppt/slides/slide78.xml" ContentType="application/vnd.openxmlformats-officedocument.presentationml.slide+xml"/>
  <Override PartName="/ppt/slides/slide7.xml" ContentType="application/vnd.openxmlformats-officedocument.presentationml.slide+xml"/>
  <Override PartName="/ppt/slides/slide77.xml" ContentType="application/vnd.openxmlformats-officedocument.presentationml.slide+xml"/>
  <Override PartName="/ppt/slides/slide37.xml" ContentType="application/vnd.openxmlformats-officedocument.presentationml.slide+xml"/>
  <Override PartName="/ppt/slides/slide69.xml" ContentType="application/vnd.openxmlformats-officedocument.presentationml.slide+xml"/>
  <Override PartName="/ppt/slides/slide72.xml" ContentType="application/vnd.openxmlformats-officedocument.presentationml.slide+xml"/>
  <Override PartName="/ppt/slides/slide75.xml" ContentType="application/vnd.openxmlformats-officedocument.presentationml.slide+xml"/>
  <Override PartName="/ppt/slides/slide49.xml" ContentType="application/vnd.openxmlformats-officedocument.presentationml.slide+xml"/>
  <Override PartName="/ppt/slides/slide66.xml" ContentType="application/vnd.openxmlformats-officedocument.presentationml.slide+xml"/>
  <Override PartName="/ppt/slides/slide2.xml" ContentType="application/vnd.openxmlformats-officedocument.presentationml.slide+xml"/>
  <Override PartName="/ppt/slides/slide41.xml" ContentType="application/vnd.openxmlformats-officedocument.presentationml.slide+xml"/>
  <Override PartName="/ppt/slides/slide23.xml" ContentType="application/vnd.openxmlformats-officedocument.presentationml.slide+xml"/>
  <Override PartName="/ppt/slides/slide76.xml" ContentType="application/vnd.openxmlformats-officedocument.presentationml.slide+xml"/>
  <Override PartName="/ppt/slides/slide71.xml" ContentType="application/vnd.openxmlformats-officedocument.presentationml.slide+xml"/>
  <Override PartName="/ppt/slides/slide28.xml" ContentType="application/vnd.openxmlformats-officedocument.presentationml.slide+xml"/>
  <Override PartName="/ppt/slides/slide70.xml" ContentType="application/vnd.openxmlformats-officedocument.presentationml.slide+xml"/>
  <Override PartName="/ppt/slides/slide60.xml" ContentType="application/vnd.openxmlformats-officedocument.presentationml.slide+xml"/>
  <Override PartName="/ppt/slides/slide21.xml" ContentType="application/vnd.openxmlformats-officedocument.presentationml.slide+xml"/>
  <Override PartName="/ppt/slides/slide68.xml" ContentType="application/vnd.openxmlformats-officedocument.presentationml.slide+xml"/>
  <Override PartName="/ppt/slides/slide14.xml" ContentType="application/vnd.openxmlformats-officedocument.presentationml.slide+xml"/>
  <Override PartName="/ppt/slides/slide73.xml" ContentType="application/vnd.openxmlformats-officedocument.presentationml.slide+xml"/>
  <Override PartName="/ppt/slides/slide52.xml" ContentType="application/vnd.openxmlformats-officedocument.presentationml.slide+xml"/>
  <Override PartName="/ppt/slides/slide30.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58.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6.xml" ContentType="application/vnd.openxmlformats-officedocument.presentationml.slide+xml"/>
  <Override PartName="/ppt/slides/slide47.xml" ContentType="application/vnd.openxmlformats-officedocument.presentationml.slide+xml"/>
  <Override PartName="/ppt/slides/slide17.xml" ContentType="application/vnd.openxmlformats-officedocument.presentationml.slide+xml"/>
  <Override PartName="/ppt/slides/slide34.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26.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74.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59.xml" ContentType="application/vnd.openxmlformats-officedocument.presentationml.slide+xml"/>
  <Override PartName="/ppt/slides/slide56.xml" ContentType="application/vnd.openxmlformats-officedocument.presentationml.slide+xml"/>
  <Override PartName="/ppt/slides/slide50.xml" ContentType="application/vnd.openxmlformats-officedocument.presentationml.slide+xml"/>
  <Override PartName="/ppt/slides/slide24.xml" ContentType="application/vnd.openxmlformats-officedocument.presentationml.slide+xml"/>
  <Override PartName="/ppt/notesSlides/notesSlide46.xml" ContentType="application/vnd.openxmlformats-officedocument.presentationml.notesSlide+xml"/>
  <Override PartName="/ppt/notesSlides/notesSlide43.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40.xml" ContentType="application/vnd.openxmlformats-officedocument.presentationml.notesSlide+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notesSlides/notesSlide34.xml" ContentType="application/vnd.openxmlformats-officedocument.presentationml.notesSlide+xml"/>
  <Override PartName="/ppt/notesSlides/notesSlide32.xml" ContentType="application/vnd.openxmlformats-officedocument.presentationml.notesSlide+xml"/>
  <Override PartName="/ppt/notesSlides/notesSlide77.xml" ContentType="application/vnd.openxmlformats-officedocument.presentationml.notesSlide+xml"/>
  <Override PartName="/ppt/notesSlides/notesSlide58.xml" ContentType="application/vnd.openxmlformats-officedocument.presentationml.notesSlide+xml"/>
  <Override PartName="/ppt/notesSlides/notesSlide76.xml" ContentType="application/vnd.openxmlformats-officedocument.presentationml.notesSlide+xml"/>
  <Override PartName="/ppt/notesSlides/notesSlide78.xml" ContentType="application/vnd.openxmlformats-officedocument.presentationml.notesSlide+xml"/>
  <Override PartName="/ppt/notesSlides/notesSlide22.xml" ContentType="application/vnd.openxmlformats-officedocument.presentationml.notesSlide+xml"/>
  <Override PartName="/ppt/notesSlides/notesSlide47.xml" ContentType="application/vnd.openxmlformats-officedocument.presentationml.notesSlide+xml"/>
  <Override PartName="/ppt/notesSlides/notesSlide54.xml" ContentType="application/vnd.openxmlformats-officedocument.presentationml.notesSlide+xml"/>
  <Override PartName="/ppt/notesSlides/notesSlide53.xml" ContentType="application/vnd.openxmlformats-officedocument.presentationml.notesSlide+xml"/>
  <Override PartName="/ppt/notesSlides/notesSlide71.xml" ContentType="application/vnd.openxmlformats-officedocument.presentationml.notesSlide+xml"/>
  <Override PartName="/ppt/notesSlides/notesSlide7.xml" ContentType="application/vnd.openxmlformats-officedocument.presentationml.notesSlide+xml"/>
  <Override PartName="/ppt/notesSlides/notesSlide60.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notesSlides/notesSlide51.xml" ContentType="application/vnd.openxmlformats-officedocument.presentationml.notesSlide+xml"/>
  <Override PartName="/ppt/notesSlides/notesSlide35.xml" ContentType="application/vnd.openxmlformats-officedocument.presentationml.notesSlide+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1.xml" ContentType="application/vnd.openxmlformats-officedocument.presentationml.notesSlide+xml"/>
  <Override PartName="/ppt/notesSlides/notesSlide72.xml" ContentType="application/vnd.openxmlformats-officedocument.presentationml.notesSlide+xml"/>
  <Override PartName="/ppt/notesSlides/notesSlide68.xml" ContentType="application/vnd.openxmlformats-officedocument.presentationml.notesSlide+xml"/>
  <Override PartName="/ppt/notesSlides/notesSlide57.xml" ContentType="application/vnd.openxmlformats-officedocument.presentationml.notesSlide+xml"/>
  <Override PartName="/ppt/notesSlides/notesSlide17.xml" ContentType="application/vnd.openxmlformats-officedocument.presentationml.notesSlide+xml"/>
  <Override PartName="/ppt/notesSlides/notesSlide25.xml" ContentType="application/vnd.openxmlformats-officedocument.presentationml.notesSlide+xml"/>
  <Override PartName="/ppt/notesSlides/notesSlide69.xml" ContentType="application/vnd.openxmlformats-officedocument.presentationml.notesSlide+xml"/>
  <Override PartName="/ppt/notesSlides/notesSlide79.xml" ContentType="application/vnd.openxmlformats-officedocument.presentationml.notesSlide+xml"/>
  <Override PartName="/ppt/notesSlides/notesSlide66.xml" ContentType="application/vnd.openxmlformats-officedocument.presentationml.notesSlide+xml"/>
  <Override PartName="/ppt/notesSlides/notesSlide45.xml" ContentType="application/vnd.openxmlformats-officedocument.presentationml.notesSlide+xml"/>
  <Override PartName="/ppt/notesSlides/notesSlide65.xml" ContentType="application/vnd.openxmlformats-officedocument.presentationml.notesSlide+xml"/>
  <Override PartName="/ppt/notesSlides/notesSlide70.xml" ContentType="application/vnd.openxmlformats-officedocument.presentationml.notesSlide+xml"/>
  <Override PartName="/ppt/notesSlides/notesSlide50.xml" ContentType="application/vnd.openxmlformats-officedocument.presentationml.notesSlide+xml"/>
  <Override PartName="/ppt/notesSlides/notesSlide62.xml" ContentType="application/vnd.openxmlformats-officedocument.presentationml.notesSlide+xml"/>
  <Override PartName="/ppt/notesSlides/notesSlide8.xml" ContentType="application/vnd.openxmlformats-officedocument.presentationml.notesSlide+xml"/>
  <Override PartName="/ppt/notesSlides/notesSlide74.xml" ContentType="application/vnd.openxmlformats-officedocument.presentationml.notesSlide+xml"/>
  <Override PartName="/ppt/notesSlides/notesSlide29.xml" ContentType="application/vnd.openxmlformats-officedocument.presentationml.notesSlide+xml"/>
  <Override PartName="/ppt/notesSlides/notesSlide80.xml" ContentType="application/vnd.openxmlformats-officedocument.presentationml.notesSlide+xml"/>
  <Override PartName="/ppt/notesSlides/notesSlide64.xml" ContentType="application/vnd.openxmlformats-officedocument.presentationml.notesSlide+xml"/>
  <Override PartName="/ppt/notesSlides/notesSlide63.xml" ContentType="application/vnd.openxmlformats-officedocument.presentationml.notesSlide+xml"/>
  <Override PartName="/ppt/notesSlides/notesSlide12.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55.xml" ContentType="application/vnd.openxmlformats-officedocument.presentationml.notesSlide+xml"/>
  <Override PartName="/ppt/notesSlides/notesSlide61.xml" ContentType="application/vnd.openxmlformats-officedocument.presentationml.notesSlide+xml"/>
  <Override PartName="/ppt/notesSlides/notesSlide59.xml" ContentType="application/vnd.openxmlformats-officedocument.presentationml.notesSlide+xml"/>
  <Override PartName="/ppt/notesSlides/notesSlide56.xml" ContentType="application/vnd.openxmlformats-officedocument.presentationml.notesSlide+xml"/>
  <Override PartName="/ppt/notesSlides/notesSlide75.xml" ContentType="application/vnd.openxmlformats-officedocument.presentationml.notesSlide+xml"/>
  <Override PartName="/ppt/notesSlides/notesSlide33.xml" ContentType="application/vnd.openxmlformats-officedocument.presentationml.notesSlide+xml"/>
  <Override PartName="/ppt/notesSlides/notesSlide3.xml" ContentType="application/vnd.openxmlformats-officedocument.presentationml.notesSlide+xml"/>
  <Override PartName="/ppt/notesSlides/notesSlide28.xml" ContentType="application/vnd.openxmlformats-officedocument.presentationml.notesSlide+xml"/>
  <Override PartName="/ppt/notesSlides/notesSlide21.xml" ContentType="application/vnd.openxmlformats-officedocument.presentationml.notesSlide+xml"/>
  <Override PartName="/ppt/notesSlides/notesSlide18.xml" ContentType="application/vnd.openxmlformats-officedocument.presentationml.notesSlide+xml"/>
  <Override PartName="/ppt/notesSlides/notesSlide42.xml" ContentType="application/vnd.openxmlformats-officedocument.presentationml.notesSlide+xml"/>
  <Override PartName="/ppt/notesSlides/notesSlide24.xml" ContentType="application/vnd.openxmlformats-officedocument.presentationml.notesSlide+xml"/>
  <Override PartName="/ppt/notesSlides/notesSlide16.xml" ContentType="application/vnd.openxmlformats-officedocument.presentationml.notesSlide+xml"/>
  <Override PartName="/ppt/notesSlides/notesSlide67.xml" ContentType="application/vnd.openxmlformats-officedocument.presentationml.notesSlide+xml"/>
  <Override PartName="/ppt/notesSlides/notesSlide15.xml" ContentType="application/vnd.openxmlformats-officedocument.presentationml.notesSlide+xml"/>
  <Override PartName="/ppt/notesSlides/notesSlide31.xml" ContentType="application/vnd.openxmlformats-officedocument.presentationml.notesSlide+xml"/>
  <Override PartName="/ppt/notesSlides/notesSlide73.xml" ContentType="application/vnd.openxmlformats-officedocument.presentationml.notesSlide+xml"/>
  <Override PartName="/ppt/notesSlides/notesSlide52.xml" ContentType="application/vnd.openxmlformats-officedocument.presentationml.notesSlide+xml"/>
  <Override PartName="/ppt/notesSlides/notesSlide27.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44.xml" ContentType="application/vnd.openxmlformats-officedocument.presentationml.notesSlide+xml"/>
  <Override PartName="/ppt/notesSlides/notesSlide11.xml" ContentType="application/vnd.openxmlformats-officedocument.presentationml.notesSlide+xml"/>
  <Override PartName="/ppt/notesSlides/notesSlide26.xml" ContentType="application/vnd.openxmlformats-officedocument.presentationml.notesSlide+xml"/>
  <Override PartName="/ppt/notesSlides/notesSlide20.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3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Lst>
  <p:sldSz cx="9144000" cy="5143500"/>
  <p:notesSz cx="51435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slideMaster" Target="slideMasters/slideMaster5.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1350" b="0" u="none" strike="noStrike">
                <a:solidFill>
                  <a:schemeClr val="dk1"/>
                </a:solidFill>
                <a:effectLst/>
                <a:uFillTx/>
                <a:latin typeface="Aptos"/>
              </a:rPr>
              <a:t>Click to move the slide</a:t>
            </a:r>
            <a:endParaRPr lang="en-US" sz="1350" b="0" u="none" strike="noStrike">
              <a:solidFill>
                <a:schemeClr val="dk1"/>
              </a:solidFill>
              <a:effectLst/>
              <a:uFillTx/>
              <a:latin typeface="Aptos"/>
            </a:endParaRPr>
          </a:p>
        </p:txBody>
      </p:sp>
      <p:sp>
        <p:nvSpPr>
          <p:cNvPr id="13"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4"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5"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6"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7"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BE7CEDE8-258C-44F0-86D9-31E1912662DA}"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1" name="PlaceHolder 1"/>
          <p:cNvSpPr>
            <a:spLocks noGrp="1"/>
          </p:cNvSpPr>
          <p:nvPr>
            <p:ph type="sldImg"/>
          </p:nvPr>
        </p:nvSpPr>
        <p:spPr>
          <a:xfrm>
            <a:off x="453600" y="1038960"/>
            <a:ext cx="3628440" cy="2803320"/>
          </a:xfrm>
          <a:prstGeom prst="rect">
            <a:avLst/>
          </a:prstGeom>
          <a:ln w="0">
            <a:noFill/>
          </a:ln>
        </p:spPr>
      </p:sp>
      <p:sp>
        <p:nvSpPr>
          <p:cNvPr id="1122" name="PlaceHolder 2"/>
          <p:cNvSpPr>
            <a:spLocks noGrp="1"/>
          </p:cNvSpPr>
          <p:nvPr>
            <p:ph type="body"/>
          </p:nvPr>
        </p:nvSpPr>
        <p:spPr>
          <a:xfrm>
            <a:off x="453600" y="4000320"/>
            <a:ext cx="3628440" cy="327060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Use this as the opening frame. Emphasize that this course studies AI as agent design: a system perceives, reasons, acts, and improves. Tell students that Chapters 1 and 2 give the vocabulary that later chapters reuse in search, logic, uncertainty, learning, language, vision, and robotics. Reference: AIMA Ch. 1–2 and https://aima.cs.berkeley.edu/.</a:t>
            </a:r>
            <a:endParaRPr lang="en-US" sz="2000" b="0" u="none" strike="noStrike">
              <a:solidFill>
                <a:srgbClr val="000000"/>
              </a:solidFill>
              <a:effectLst/>
              <a:uFillTx/>
              <a:latin typeface="Arial"/>
            </a:endParaRPr>
          </a:p>
        </p:txBody>
      </p:sp>
      <p:sp>
        <p:nvSpPr>
          <p:cNvPr id="1123" name="PlaceHolder 3"/>
          <p:cNvSpPr>
            <a:spLocks noGrp="1"/>
          </p:cNvSpPr>
          <p:nvPr>
            <p:ph type="sldNum" idx="4"/>
          </p:nvPr>
        </p:nvSpPr>
        <p:spPr>
          <a:xfrm>
            <a:off x="2570760" y="7895520"/>
            <a:ext cx="1964160" cy="4143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77774A4-EABB-47B8-AD49-5028E36F91F3}"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4" name="PlaceHolder 1"/>
          <p:cNvSpPr>
            <a:spLocks noGrp="1"/>
          </p:cNvSpPr>
          <p:nvPr>
            <p:ph type="sldImg"/>
          </p:nvPr>
        </p:nvSpPr>
        <p:spPr>
          <a:xfrm>
            <a:off x="685800" y="1143000"/>
            <a:ext cx="5483880" cy="3083760"/>
          </a:xfrm>
          <a:prstGeom prst="rect">
            <a:avLst/>
          </a:prstGeom>
          <a:ln w="0">
            <a:noFill/>
          </a:ln>
        </p:spPr>
      </p:sp>
      <p:sp>
        <p:nvSpPr>
          <p:cNvPr id="1125"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Frame the two-hour lecture: Chapter 1 asks what AI is and where it came from; Chapter 2 makes it operational with agents and environments. Use this slide to set expectations: students should leave able to classify a task environment and sketch an appropriate agent architecture. Reference: https://aima.cs.berkeley.edu/.</a:t>
            </a:r>
            <a:endParaRPr lang="en-US" sz="2000" b="0" u="none" strike="noStrike">
              <a:solidFill>
                <a:srgbClr val="000000"/>
              </a:solidFill>
              <a:effectLst/>
              <a:uFillTx/>
              <a:latin typeface="Arial"/>
            </a:endParaRPr>
          </a:p>
        </p:txBody>
      </p:sp>
      <p:sp>
        <p:nvSpPr>
          <p:cNvPr id="1126" name="PlaceHolder 3"/>
          <p:cNvSpPr>
            <a:spLocks noGrp="1"/>
          </p:cNvSpPr>
          <p:nvPr>
            <p:ph type="sldNum" idx="5"/>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787CF9B-6B1C-4697-9CC7-3BB3F3A746C4}"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7" name="PlaceHolder 1"/>
          <p:cNvSpPr>
            <a:spLocks noGrp="1"/>
          </p:cNvSpPr>
          <p:nvPr>
            <p:ph type="sldImg"/>
          </p:nvPr>
        </p:nvSpPr>
        <p:spPr>
          <a:xfrm>
            <a:off x="685800" y="1143000"/>
            <a:ext cx="5483880" cy="3083760"/>
          </a:xfrm>
          <a:prstGeom prst="rect">
            <a:avLst/>
          </a:prstGeom>
          <a:ln w="0">
            <a:noFill/>
          </a:ln>
        </p:spPr>
      </p:sp>
      <p:sp>
        <p:nvSpPr>
          <p:cNvPr id="1128"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Walk students through the roadmap. Mention that Chapter 1 is conceptual and historical, while Chapter 2 gives the engineering vocabulary needed for Lab 01. Keep returning to one guiding question: what should the agent do next, given what it has perceived so far?</a:t>
            </a:r>
            <a:endParaRPr lang="en-US" sz="2000" b="0" u="none" strike="noStrike">
              <a:solidFill>
                <a:srgbClr val="000000"/>
              </a:solidFill>
              <a:effectLst/>
              <a:uFillTx/>
              <a:latin typeface="Arial"/>
            </a:endParaRPr>
          </a:p>
        </p:txBody>
      </p:sp>
      <p:sp>
        <p:nvSpPr>
          <p:cNvPr id="1129" name="PlaceHolder 3"/>
          <p:cNvSpPr>
            <a:spLocks noGrp="1"/>
          </p:cNvSpPr>
          <p:nvPr>
            <p:ph type="sldNum" idx="6"/>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353AD98-F337-4540-8D02-90D7DEB336EF}"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0" name="PlaceHolder 1"/>
          <p:cNvSpPr>
            <a:spLocks noGrp="1"/>
          </p:cNvSpPr>
          <p:nvPr>
            <p:ph type="sldImg"/>
          </p:nvPr>
        </p:nvSpPr>
        <p:spPr>
          <a:xfrm>
            <a:off x="685800" y="1143000"/>
            <a:ext cx="5483880" cy="3083760"/>
          </a:xfrm>
          <a:prstGeom prst="rect">
            <a:avLst/>
          </a:prstGeom>
          <a:ln w="0">
            <a:noFill/>
          </a:ln>
        </p:spPr>
      </p:sp>
      <p:sp>
        <p:nvSpPr>
          <p:cNvPr id="1131"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Start Part 1 by asking students to give examples of AI they have used this week. Sort answers into perception, language, decision making, robotics, and recommendation. Then state that Chapter 1 explains why all of these can be studied under the same agent framework.</a:t>
            </a:r>
            <a:endParaRPr lang="en-US" sz="2000" b="0" u="none" strike="noStrike">
              <a:solidFill>
                <a:srgbClr val="000000"/>
              </a:solidFill>
              <a:effectLst/>
              <a:uFillTx/>
              <a:latin typeface="Arial"/>
            </a:endParaRPr>
          </a:p>
        </p:txBody>
      </p:sp>
      <p:sp>
        <p:nvSpPr>
          <p:cNvPr id="1132" name="PlaceHolder 3"/>
          <p:cNvSpPr>
            <a:spLocks noGrp="1"/>
          </p:cNvSpPr>
          <p:nvPr>
            <p:ph type="sldNum" idx="7"/>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BEE2E51-4BAC-4021-B429-8F0E32CD7E93}"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3" name="PlaceHolder 1"/>
          <p:cNvSpPr>
            <a:spLocks noGrp="1"/>
          </p:cNvSpPr>
          <p:nvPr>
            <p:ph type="sldImg"/>
          </p:nvPr>
        </p:nvSpPr>
        <p:spPr>
          <a:xfrm>
            <a:off x="685800" y="1143000"/>
            <a:ext cx="5483880" cy="3083760"/>
          </a:xfrm>
          <a:prstGeom prst="rect">
            <a:avLst/>
          </a:prstGeom>
          <a:ln w="0">
            <a:noFill/>
          </a:ln>
        </p:spPr>
      </p:sp>
      <p:sp>
        <p:nvSpPr>
          <p:cNvPr id="1134"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key phrase is 'act effectively and safely.' AI is not just prediction or automation; it is about selecting actions in a world. Stress that rationality means choosing actions expected to achieve the performance objective, not necessarily acting like a human. Reference: Turing 1950, https://doi.org/10.1093/mind/LIX.236.433.</a:t>
            </a:r>
            <a:endParaRPr lang="en-US" sz="2000" b="0" u="none" strike="noStrike">
              <a:solidFill>
                <a:srgbClr val="000000"/>
              </a:solidFill>
              <a:effectLst/>
              <a:uFillTx/>
              <a:latin typeface="Arial"/>
            </a:endParaRPr>
          </a:p>
        </p:txBody>
      </p:sp>
      <p:sp>
        <p:nvSpPr>
          <p:cNvPr id="1135" name="PlaceHolder 3"/>
          <p:cNvSpPr>
            <a:spLocks noGrp="1"/>
          </p:cNvSpPr>
          <p:nvPr>
            <p:ph type="sldNum" idx="8"/>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BEC6E9F-33B8-4D20-8941-007394FBAB8B}"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6" name="PlaceHolder 1"/>
          <p:cNvSpPr>
            <a:spLocks noGrp="1"/>
          </p:cNvSpPr>
          <p:nvPr>
            <p:ph type="sldImg"/>
          </p:nvPr>
        </p:nvSpPr>
        <p:spPr>
          <a:xfrm>
            <a:off x="685800" y="1143000"/>
            <a:ext cx="5483880" cy="3083760"/>
          </a:xfrm>
          <a:prstGeom prst="rect">
            <a:avLst/>
          </a:prstGeom>
          <a:ln w="0">
            <a:noFill/>
          </a:ln>
        </p:spPr>
      </p:sp>
      <p:sp>
        <p:nvSpPr>
          <p:cNvPr id="1137"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Spend time on the 2-by-2 framework. A helpful example is a tutoring chatbot: acting humanly means sounding like a teacher; thinking humanly means matching human cognitive steps; thinking rationally means deriving correct answers; acting rationally means helping the student learn. The course emphasizes acting rationally.</a:t>
            </a:r>
            <a:endParaRPr lang="en-US" sz="2000" b="0" u="none" strike="noStrike">
              <a:solidFill>
                <a:srgbClr val="000000"/>
              </a:solidFill>
              <a:effectLst/>
              <a:uFillTx/>
              <a:latin typeface="Arial"/>
            </a:endParaRPr>
          </a:p>
        </p:txBody>
      </p:sp>
      <p:sp>
        <p:nvSpPr>
          <p:cNvPr id="1138" name="PlaceHolder 3"/>
          <p:cNvSpPr>
            <a:spLocks noGrp="1"/>
          </p:cNvSpPr>
          <p:nvPr>
            <p:ph type="sldNum" idx="9"/>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1D8B9BE-1B00-478F-A4C2-09DE67CE22F2}"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9" name="PlaceHolder 1"/>
          <p:cNvSpPr>
            <a:spLocks noGrp="1"/>
          </p:cNvSpPr>
          <p:nvPr>
            <p:ph type="sldImg"/>
          </p:nvPr>
        </p:nvSpPr>
        <p:spPr>
          <a:xfrm>
            <a:off x="685800" y="1143000"/>
            <a:ext cx="5483880" cy="3083760"/>
          </a:xfrm>
          <a:prstGeom prst="rect">
            <a:avLst/>
          </a:prstGeom>
          <a:ln w="0">
            <a:noFill/>
          </a:ln>
        </p:spPr>
      </p:sp>
      <p:sp>
        <p:nvSpPr>
          <p:cNvPr id="1140"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Do not present alignment as science fiction only. Connect it to small systems: a recommender optimized only for clicks may show sensational content; a vacuum rewarded for dirt cleaned might dump dirt. The design lesson is to specify what we actually want, not a proxy that is easy to measure. References: NIST AI RMF https://www.nist.gov/itl/ai-risk-management-framework and OECD AI Principles https://www.oecd.org/en/topics/ai-principles.html.</a:t>
            </a:r>
            <a:endParaRPr lang="en-US" sz="2000" b="0" u="none" strike="noStrike">
              <a:solidFill>
                <a:srgbClr val="000000"/>
              </a:solidFill>
              <a:effectLst/>
              <a:uFillTx/>
              <a:latin typeface="Arial"/>
            </a:endParaRPr>
          </a:p>
        </p:txBody>
      </p:sp>
      <p:sp>
        <p:nvSpPr>
          <p:cNvPr id="1141" name="PlaceHolder 3"/>
          <p:cNvSpPr>
            <a:spLocks noGrp="1"/>
          </p:cNvSpPr>
          <p:nvPr>
            <p:ph type="sldNum" idx="10"/>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9A6FA70-F48C-4E8E-8448-0A730595C816}"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2" name="PlaceHolder 1"/>
          <p:cNvSpPr>
            <a:spLocks noGrp="1"/>
          </p:cNvSpPr>
          <p:nvPr>
            <p:ph type="sldImg"/>
          </p:nvPr>
        </p:nvSpPr>
        <p:spPr>
          <a:xfrm>
            <a:off x="0" y="764280"/>
            <a:ext cx="0" cy="0"/>
          </a:xfrm>
          <a:prstGeom prst="rect">
            <a:avLst/>
          </a:prstGeom>
          <a:ln w="0">
            <a:noFill/>
          </a:ln>
        </p:spPr>
      </p:sp>
      <p:sp>
        <p:nvSpPr>
          <p:cNvPr id="1143"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is a useful conceptual distinction. Students often think a system must think like a person to count as AI. AIMA separates the human-centered approaches from rational approaches. Use the airplane analogy: artificial flight did not require copying feathers. In AI, some systems are inspired by humans, but the course usually asks whether the agent selects good actions under constraints.</a:t>
            </a:r>
            <a:endParaRPr lang="en-US" sz="2000" b="0" u="none" strike="noStrike">
              <a:solidFill>
                <a:srgbClr val="000000"/>
              </a:solidFill>
              <a:effectLst/>
              <a:uFillTx/>
              <a:latin typeface="Arial"/>
            </a:endParaRPr>
          </a:p>
        </p:txBody>
      </p:sp>
      <p:sp>
        <p:nvSpPr>
          <p:cNvPr id="1144" name="PlaceHolder 3"/>
          <p:cNvSpPr>
            <a:spLocks noGrp="1"/>
          </p:cNvSpPr>
          <p:nvPr>
            <p:ph type="sldNum" idx="11"/>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20C613E4-45D3-46B0-B7D7-2A5E82419ABB}"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5" name="PlaceHolder 1"/>
          <p:cNvSpPr>
            <a:spLocks noGrp="1"/>
          </p:cNvSpPr>
          <p:nvPr>
            <p:ph type="sldImg"/>
          </p:nvPr>
        </p:nvSpPr>
        <p:spPr>
          <a:xfrm>
            <a:off x="0" y="764280"/>
            <a:ext cx="0" cy="0"/>
          </a:xfrm>
          <a:prstGeom prst="rect">
            <a:avLst/>
          </a:prstGeom>
          <a:ln w="0">
            <a:noFill/>
          </a:ln>
        </p:spPr>
      </p:sp>
      <p:sp>
        <p:nvSpPr>
          <p:cNvPr id="1146"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the blocks image as a metaphor: AI is assembled from multiple blocks. Students can think of each discipline as contributing a different design question. Philosophy: what is correct reasoning and ethical action? Mathematics: what can be proven or computed? Economics: how should preferences and tradeoffs be represented? Neuroscience and psychology: how do natural intelligent systems work? Linguistics: how is language structured? Engineering: how do we build reliable machines?</a:t>
            </a:r>
            <a:endParaRPr lang="en-US" sz="2000" b="0" u="none" strike="noStrike">
              <a:solidFill>
                <a:srgbClr val="000000"/>
              </a:solidFill>
              <a:effectLst/>
              <a:uFillTx/>
              <a:latin typeface="Arial"/>
            </a:endParaRPr>
          </a:p>
        </p:txBody>
      </p:sp>
      <p:sp>
        <p:nvSpPr>
          <p:cNvPr id="1147" name="PlaceHolder 3"/>
          <p:cNvSpPr>
            <a:spLocks noGrp="1"/>
          </p:cNvSpPr>
          <p:nvPr>
            <p:ph type="sldNum" idx="12"/>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FC9C9F3A-E8AE-4B80-BE91-6E4162A39ED0}"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8" name="PlaceHolder 1"/>
          <p:cNvSpPr>
            <a:spLocks noGrp="1"/>
          </p:cNvSpPr>
          <p:nvPr>
            <p:ph type="sldImg"/>
          </p:nvPr>
        </p:nvSpPr>
        <p:spPr>
          <a:xfrm>
            <a:off x="685800" y="1143000"/>
            <a:ext cx="5483880" cy="3083760"/>
          </a:xfrm>
          <a:prstGeom prst="rect">
            <a:avLst/>
          </a:prstGeom>
          <a:ln w="0">
            <a:noFill/>
          </a:ln>
        </p:spPr>
      </p:sp>
      <p:sp>
        <p:nvSpPr>
          <p:cNvPr id="1149"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Use this slide to show AI as an interdisciplinary field. Philosophy contributes logic and ethics; math contributes probability and computation; economics contributes utility and game theory; neuroscience and psychology inspire models; linguistics contributes language structure; engineering provides hardware and control. Students do not need mastery of every discipline now, but should recognize the sources of AI ideas.</a:t>
            </a:r>
            <a:endParaRPr lang="en-US" sz="2000" b="0" u="none" strike="noStrike">
              <a:solidFill>
                <a:srgbClr val="000000"/>
              </a:solidFill>
              <a:effectLst/>
              <a:uFillTx/>
              <a:latin typeface="Arial"/>
            </a:endParaRPr>
          </a:p>
        </p:txBody>
      </p:sp>
      <p:sp>
        <p:nvSpPr>
          <p:cNvPr id="1150" name="PlaceHolder 3"/>
          <p:cNvSpPr>
            <a:spLocks noGrp="1"/>
          </p:cNvSpPr>
          <p:nvPr>
            <p:ph type="sldNum" idx="13"/>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1D1A063-8F62-46D0-9358-E758074051A5}"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1" name="PlaceHolder 1"/>
          <p:cNvSpPr>
            <a:spLocks noGrp="1"/>
          </p:cNvSpPr>
          <p:nvPr>
            <p:ph type="sldImg"/>
          </p:nvPr>
        </p:nvSpPr>
        <p:spPr>
          <a:xfrm>
            <a:off x="685800" y="1143000"/>
            <a:ext cx="5483880" cy="3083760"/>
          </a:xfrm>
          <a:prstGeom prst="rect">
            <a:avLst/>
          </a:prstGeom>
          <a:ln w="0">
            <a:noFill/>
          </a:ln>
        </p:spPr>
      </p:sp>
      <p:sp>
        <p:nvSpPr>
          <p:cNvPr id="1152"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Link logic, probability, and computation. Logic handles valid inference under certainty; probability handles uncertainty; computability and complexity tell us which problems can be solved and which are too expensive. This becomes important when students ask why we use heuristics or approximations.</a:t>
            </a:r>
            <a:endParaRPr lang="en-US" sz="2000" b="0" u="none" strike="noStrike">
              <a:solidFill>
                <a:srgbClr val="000000"/>
              </a:solidFill>
              <a:effectLst/>
              <a:uFillTx/>
              <a:latin typeface="Arial"/>
            </a:endParaRPr>
          </a:p>
        </p:txBody>
      </p:sp>
      <p:sp>
        <p:nvSpPr>
          <p:cNvPr id="1153" name="PlaceHolder 3"/>
          <p:cNvSpPr>
            <a:spLocks noGrp="1"/>
          </p:cNvSpPr>
          <p:nvPr>
            <p:ph type="sldNum" idx="14"/>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2712F17-F7B7-421B-BAA2-D73F249902F3}"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4" name="PlaceHolder 1"/>
          <p:cNvSpPr>
            <a:spLocks noGrp="1"/>
          </p:cNvSpPr>
          <p:nvPr>
            <p:ph type="sldImg"/>
          </p:nvPr>
        </p:nvSpPr>
        <p:spPr>
          <a:xfrm>
            <a:off x="685800" y="1143000"/>
            <a:ext cx="5483880" cy="3083760"/>
          </a:xfrm>
          <a:prstGeom prst="rect">
            <a:avLst/>
          </a:prstGeom>
          <a:ln w="0">
            <a:noFill/>
          </a:ln>
        </p:spPr>
      </p:sp>
      <p:sp>
        <p:nvSpPr>
          <p:cNvPr id="1155"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Tell the history as cycles of optimism, limits, and new tools. The lesson is not that one paradigm replaces all others forever; modern systems blend search, optimization, logic, probability, learning, and engineering. Dartmouth 1956 reference: https://home.dartmouth.edu/about/artificial-intelligence-ai-coined-dartmouth.</a:t>
            </a:r>
            <a:endParaRPr lang="en-US" sz="2000" b="0" u="none" strike="noStrike">
              <a:solidFill>
                <a:srgbClr val="000000"/>
              </a:solidFill>
              <a:effectLst/>
              <a:uFillTx/>
              <a:latin typeface="Arial"/>
            </a:endParaRPr>
          </a:p>
        </p:txBody>
      </p:sp>
      <p:sp>
        <p:nvSpPr>
          <p:cNvPr id="1156" name="PlaceHolder 3"/>
          <p:cNvSpPr>
            <a:spLocks noGrp="1"/>
          </p:cNvSpPr>
          <p:nvPr>
            <p:ph type="sldNum" idx="15"/>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0E18686-0B1D-406A-9F9A-4FEAEF09F3E1}"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7" name="PlaceHolder 1"/>
          <p:cNvSpPr>
            <a:spLocks noGrp="1"/>
          </p:cNvSpPr>
          <p:nvPr>
            <p:ph type="sldImg"/>
          </p:nvPr>
        </p:nvSpPr>
        <p:spPr>
          <a:xfrm>
            <a:off x="685800" y="1143000"/>
            <a:ext cx="5483880" cy="3083760"/>
          </a:xfrm>
          <a:prstGeom prst="rect">
            <a:avLst/>
          </a:prstGeom>
          <a:ln w="0">
            <a:noFill/>
          </a:ln>
        </p:spPr>
      </p:sp>
      <p:sp>
        <p:nvSpPr>
          <p:cNvPr id="1158"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Highlight that early AI had impressive demonstrations in limited domains. Ask: why would blocks worlds, checkers, and algebra word problems be attractive early targets? Answer: small state spaces, clear rules, and easy scoring. Then transition to scaling problems.</a:t>
            </a:r>
            <a:endParaRPr lang="en-US" sz="2000" b="0" u="none" strike="noStrike">
              <a:solidFill>
                <a:srgbClr val="000000"/>
              </a:solidFill>
              <a:effectLst/>
              <a:uFillTx/>
              <a:latin typeface="Arial"/>
            </a:endParaRPr>
          </a:p>
        </p:txBody>
      </p:sp>
      <p:sp>
        <p:nvSpPr>
          <p:cNvPr id="1159" name="PlaceHolder 3"/>
          <p:cNvSpPr>
            <a:spLocks noGrp="1"/>
          </p:cNvSpPr>
          <p:nvPr>
            <p:ph type="sldNum" idx="16"/>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872BD3D-F20F-451C-A167-A7261A18799B}"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0" name="PlaceHolder 1"/>
          <p:cNvSpPr>
            <a:spLocks noGrp="1"/>
          </p:cNvSpPr>
          <p:nvPr>
            <p:ph type="sldImg"/>
          </p:nvPr>
        </p:nvSpPr>
        <p:spPr>
          <a:xfrm>
            <a:off x="685800" y="1143000"/>
            <a:ext cx="5483880" cy="3083760"/>
          </a:xfrm>
          <a:prstGeom prst="rect">
            <a:avLst/>
          </a:prstGeom>
          <a:ln w="0">
            <a:noFill/>
          </a:ln>
        </p:spPr>
      </p:sp>
      <p:sp>
        <p:nvSpPr>
          <p:cNvPr id="1161"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Explain the first AI winter as a scaling lesson. Early systems looked intelligent in toy domains but often failed on real-world variability. Expert systems showed the power of domain knowledge but also brittleness and maintenance costs.</a:t>
            </a:r>
            <a:endParaRPr lang="en-US" sz="2000" b="0" u="none" strike="noStrike">
              <a:solidFill>
                <a:srgbClr val="000000"/>
              </a:solidFill>
              <a:effectLst/>
              <a:uFillTx/>
              <a:latin typeface="Arial"/>
            </a:endParaRPr>
          </a:p>
        </p:txBody>
      </p:sp>
      <p:sp>
        <p:nvSpPr>
          <p:cNvPr id="1162" name="PlaceHolder 3"/>
          <p:cNvSpPr>
            <a:spLocks noGrp="1"/>
          </p:cNvSpPr>
          <p:nvPr>
            <p:ph type="sldNum" idx="17"/>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0B1C555-AECB-4350-80EC-AE64CE7F3A42}"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3" name="PlaceHolder 1"/>
          <p:cNvSpPr>
            <a:spLocks noGrp="1"/>
          </p:cNvSpPr>
          <p:nvPr>
            <p:ph type="sldImg"/>
          </p:nvPr>
        </p:nvSpPr>
        <p:spPr>
          <a:xfrm>
            <a:off x="685800" y="1143000"/>
            <a:ext cx="5483880" cy="3083760"/>
          </a:xfrm>
          <a:prstGeom prst="rect">
            <a:avLst/>
          </a:prstGeom>
          <a:ln w="0">
            <a:noFill/>
          </a:ln>
        </p:spPr>
      </p:sp>
      <p:sp>
        <p:nvSpPr>
          <p:cNvPr id="1164"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Explain the shift from hand-coded knowledge to data-driven learning, and from shallow pipelines to learned representations. Mention that deep learning did not remove the need for agents, objectives, safety, search, or environment analysis; it changed how parts of the agent can be implemented.</a:t>
            </a:r>
            <a:endParaRPr lang="en-US" sz="2000" b="0" u="none" strike="noStrike">
              <a:solidFill>
                <a:srgbClr val="000000"/>
              </a:solidFill>
              <a:effectLst/>
              <a:uFillTx/>
              <a:latin typeface="Arial"/>
            </a:endParaRPr>
          </a:p>
        </p:txBody>
      </p:sp>
      <p:sp>
        <p:nvSpPr>
          <p:cNvPr id="1165" name="PlaceHolder 3"/>
          <p:cNvSpPr>
            <a:spLocks noGrp="1"/>
          </p:cNvSpPr>
          <p:nvPr>
            <p:ph type="sldNum" idx="18"/>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1FF5483-FA50-4BC2-8148-05D33288496D}"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6" name="PlaceHolder 1"/>
          <p:cNvSpPr>
            <a:spLocks noGrp="1"/>
          </p:cNvSpPr>
          <p:nvPr>
            <p:ph type="sldImg"/>
          </p:nvPr>
        </p:nvSpPr>
        <p:spPr>
          <a:xfrm>
            <a:off x="685800" y="1143000"/>
            <a:ext cx="5483880" cy="3083760"/>
          </a:xfrm>
          <a:prstGeom prst="rect">
            <a:avLst/>
          </a:prstGeom>
          <a:ln w="0">
            <a:noFill/>
          </a:ln>
        </p:spPr>
      </p:sp>
      <p:sp>
        <p:nvSpPr>
          <p:cNvPr id="1167"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Give examples but avoid overclaiming general intelligence. AI systems can exceed humans in narrow tasks, yet fail under distribution shift, adversarial examples, ambiguous goals, or missing context. Ask students to name one task where AI is strong and one where it remains risky.</a:t>
            </a:r>
            <a:endParaRPr lang="en-US" sz="2000" b="0" u="none" strike="noStrike">
              <a:solidFill>
                <a:srgbClr val="000000"/>
              </a:solidFill>
              <a:effectLst/>
              <a:uFillTx/>
              <a:latin typeface="Arial"/>
            </a:endParaRPr>
          </a:p>
        </p:txBody>
      </p:sp>
      <p:sp>
        <p:nvSpPr>
          <p:cNvPr id="1168" name="PlaceHolder 3"/>
          <p:cNvSpPr>
            <a:spLocks noGrp="1"/>
          </p:cNvSpPr>
          <p:nvPr>
            <p:ph type="sldNum" idx="19"/>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E82E4A7-D9DE-48AB-8CAB-57934F70F423}"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9" name="PlaceHolder 1"/>
          <p:cNvSpPr>
            <a:spLocks noGrp="1"/>
          </p:cNvSpPr>
          <p:nvPr>
            <p:ph type="sldImg"/>
          </p:nvPr>
        </p:nvSpPr>
        <p:spPr>
          <a:xfrm>
            <a:off x="-360" y="763920"/>
            <a:ext cx="0" cy="0"/>
          </a:xfrm>
          <a:prstGeom prst="rect">
            <a:avLst/>
          </a:prstGeom>
          <a:ln w="0">
            <a:noFill/>
          </a:ln>
        </p:spPr>
      </p:sp>
      <p:sp>
        <p:nvSpPr>
          <p:cNvPr id="1170"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Shakey to connect Chapter 1 history to Chapter 2 agents. Shakey was significant because it integrated sensing, planning, and action in a physical environment. It illustrates the agent loop before modern deep learning. Reference: Computer History Museum, Shakey, https://www.computerhistory.org/revolution/artificial-intelligence-robotics/13/289; IEEE Milestone article, https://ethw.org/Milestones%3ASHAKEY%3A_The_World%E2%80%99s_First_Mobile_Intelligent_Robot%2C_1972. Image source used: https://robogeek.ru/files/blogs/0004/2301/_cache/fit650x800-shakey.jpg.</a:t>
            </a:r>
            <a:endParaRPr lang="en-US" sz="2000" b="0" u="none" strike="noStrike">
              <a:solidFill>
                <a:srgbClr val="000000"/>
              </a:solidFill>
              <a:effectLst/>
              <a:uFillTx/>
              <a:latin typeface="Arial"/>
            </a:endParaRPr>
          </a:p>
        </p:txBody>
      </p:sp>
      <p:sp>
        <p:nvSpPr>
          <p:cNvPr id="1171" name="PlaceHolder 3"/>
          <p:cNvSpPr>
            <a:spLocks noGrp="1"/>
          </p:cNvSpPr>
          <p:nvPr>
            <p:ph type="sldNum" idx="20"/>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945EF605-88D4-4460-AC2C-68B0FDB693F4}"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2" name="PlaceHolder 1"/>
          <p:cNvSpPr>
            <a:spLocks noGrp="1"/>
          </p:cNvSpPr>
          <p:nvPr>
            <p:ph type="sldImg"/>
          </p:nvPr>
        </p:nvSpPr>
        <p:spPr>
          <a:xfrm>
            <a:off x="685800" y="1143000"/>
            <a:ext cx="5483880" cy="3083760"/>
          </a:xfrm>
          <a:prstGeom prst="rect">
            <a:avLst/>
          </a:prstGeom>
          <a:ln w="0">
            <a:noFill/>
          </a:ln>
        </p:spPr>
      </p:sp>
      <p:sp>
        <p:nvSpPr>
          <p:cNvPr id="1173"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Use benefits and risks as design pressure, not as a side topic. The same agent framework helps analyze both: what objective is optimized, what sensors are available, what actions are possible, and what performance measure is being used? References: NIST AI RMF and OECD AI Principles.</a:t>
            </a:r>
            <a:endParaRPr lang="en-US" sz="2000" b="0" u="none" strike="noStrike">
              <a:solidFill>
                <a:srgbClr val="000000"/>
              </a:solidFill>
              <a:effectLst/>
              <a:uFillTx/>
              <a:latin typeface="Arial"/>
            </a:endParaRPr>
          </a:p>
        </p:txBody>
      </p:sp>
      <p:sp>
        <p:nvSpPr>
          <p:cNvPr id="1174" name="PlaceHolder 3"/>
          <p:cNvSpPr>
            <a:spLocks noGrp="1"/>
          </p:cNvSpPr>
          <p:nvPr>
            <p:ph type="sldNum" idx="21"/>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D3A7EC5-F043-4136-AA63-03DF1C376F57}"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5" name="PlaceHolder 1"/>
          <p:cNvSpPr>
            <a:spLocks noGrp="1"/>
          </p:cNvSpPr>
          <p:nvPr>
            <p:ph type="sldImg"/>
          </p:nvPr>
        </p:nvSpPr>
        <p:spPr>
          <a:xfrm>
            <a:off x="685800" y="1143000"/>
            <a:ext cx="5483880" cy="3083760"/>
          </a:xfrm>
          <a:prstGeom prst="rect">
            <a:avLst/>
          </a:prstGeom>
          <a:ln w="0">
            <a:noFill/>
          </a:ln>
        </p:spPr>
      </p:sp>
      <p:sp>
        <p:nvSpPr>
          <p:cNvPr id="1176"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Use this summary as a retrieval check. Ask students to close notes and reconstruct the four approaches to AI. Then ask which approach best matches the rest of the course. Answer: rational agents, with attention to safety and limited computational resources.</a:t>
            </a:r>
            <a:endParaRPr lang="en-US" sz="2000" b="0" u="none" strike="noStrike">
              <a:solidFill>
                <a:srgbClr val="000000"/>
              </a:solidFill>
              <a:effectLst/>
              <a:uFillTx/>
              <a:latin typeface="Arial"/>
            </a:endParaRPr>
          </a:p>
        </p:txBody>
      </p:sp>
      <p:sp>
        <p:nvSpPr>
          <p:cNvPr id="1177" name="PlaceHolder 3"/>
          <p:cNvSpPr>
            <a:spLocks noGrp="1"/>
          </p:cNvSpPr>
          <p:nvPr>
            <p:ph type="sldNum" idx="22"/>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9DA77E3-E9A3-4310-B407-44A87C676641}"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8" name="PlaceHolder 1"/>
          <p:cNvSpPr>
            <a:spLocks noGrp="1"/>
          </p:cNvSpPr>
          <p:nvPr>
            <p:ph type="sldImg"/>
          </p:nvPr>
        </p:nvSpPr>
        <p:spPr>
          <a:xfrm>
            <a:off x="685800" y="1143000"/>
            <a:ext cx="5483880" cy="3083760"/>
          </a:xfrm>
          <a:prstGeom prst="rect">
            <a:avLst/>
          </a:prstGeom>
          <a:ln w="0">
            <a:noFill/>
          </a:ln>
        </p:spPr>
      </p:sp>
      <p:sp>
        <p:nvSpPr>
          <p:cNvPr id="1179"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Transition: Chapter 1 gives the big picture; Chapter 2 gives the central abstraction. From now on, many problems will be described as an agent in an environment receiving percepts and producing actions.</a:t>
            </a:r>
            <a:endParaRPr lang="en-US" sz="2000" b="0" u="none" strike="noStrike">
              <a:solidFill>
                <a:srgbClr val="000000"/>
              </a:solidFill>
              <a:effectLst/>
              <a:uFillTx/>
              <a:latin typeface="Arial"/>
            </a:endParaRPr>
          </a:p>
        </p:txBody>
      </p:sp>
      <p:sp>
        <p:nvSpPr>
          <p:cNvPr id="1180" name="PlaceHolder 3"/>
          <p:cNvSpPr>
            <a:spLocks noGrp="1"/>
          </p:cNvSpPr>
          <p:nvPr>
            <p:ph type="sldNum" idx="23"/>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8866342-34B3-4E23-B023-A0088768C42E}"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1" name="PlaceHolder 1"/>
          <p:cNvSpPr>
            <a:spLocks noGrp="1"/>
          </p:cNvSpPr>
          <p:nvPr>
            <p:ph type="sldImg"/>
          </p:nvPr>
        </p:nvSpPr>
        <p:spPr>
          <a:xfrm>
            <a:off x="685800" y="1143000"/>
            <a:ext cx="5483880" cy="3083760"/>
          </a:xfrm>
          <a:prstGeom prst="rect">
            <a:avLst/>
          </a:prstGeom>
          <a:ln w="0">
            <a:noFill/>
          </a:ln>
        </p:spPr>
      </p:sp>
      <p:sp>
        <p:nvSpPr>
          <p:cNvPr id="1182"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Preview Chapter 2. The most important vocabulary for Lab 01 is: agent, percept, action, performance measure, PEAS, environment dimensions, and agent architecture. Tell students these terms will appear in assignments and exams.</a:t>
            </a:r>
            <a:endParaRPr lang="en-US" sz="2000" b="0" u="none" strike="noStrike">
              <a:solidFill>
                <a:srgbClr val="000000"/>
              </a:solidFill>
              <a:effectLst/>
              <a:uFillTx/>
              <a:latin typeface="Arial"/>
            </a:endParaRPr>
          </a:p>
        </p:txBody>
      </p:sp>
      <p:sp>
        <p:nvSpPr>
          <p:cNvPr id="1183" name="PlaceHolder 3"/>
          <p:cNvSpPr>
            <a:spLocks noGrp="1"/>
          </p:cNvSpPr>
          <p:nvPr>
            <p:ph type="sldNum" idx="24"/>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93F73E7-D2AC-4422-8148-E6ADF01B4026}"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4" name="PlaceHolder 1"/>
          <p:cNvSpPr>
            <a:spLocks noGrp="1"/>
          </p:cNvSpPr>
          <p:nvPr>
            <p:ph type="sldImg"/>
          </p:nvPr>
        </p:nvSpPr>
        <p:spPr>
          <a:xfrm>
            <a:off x="685800" y="1143000"/>
            <a:ext cx="5483880" cy="3083760"/>
          </a:xfrm>
          <a:prstGeom prst="rect">
            <a:avLst/>
          </a:prstGeom>
          <a:ln w="0">
            <a:noFill/>
          </a:ln>
        </p:spPr>
      </p:sp>
      <p:sp>
        <p:nvSpPr>
          <p:cNvPr id="1185"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Distinguish the agent from the environment. Sensors provide percepts; actuators produce actions. The agent function maps percept sequences to actions; the agent program implements the function on hardware. This distinction matters when comparing abstract behavior to code.</a:t>
            </a:r>
            <a:endParaRPr lang="en-US" sz="2000" b="0" u="none" strike="noStrike">
              <a:solidFill>
                <a:srgbClr val="000000"/>
              </a:solidFill>
              <a:effectLst/>
              <a:uFillTx/>
              <a:latin typeface="Arial"/>
            </a:endParaRPr>
          </a:p>
        </p:txBody>
      </p:sp>
      <p:sp>
        <p:nvSpPr>
          <p:cNvPr id="1186" name="PlaceHolder 3"/>
          <p:cNvSpPr>
            <a:spLocks noGrp="1"/>
          </p:cNvSpPr>
          <p:nvPr>
            <p:ph type="sldNum" idx="25"/>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ABEAEAF-3AAD-4261-94D1-D288DEA9714A}"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7" name="PlaceHolder 1"/>
          <p:cNvSpPr>
            <a:spLocks noGrp="1"/>
          </p:cNvSpPr>
          <p:nvPr>
            <p:ph type="sldImg"/>
          </p:nvPr>
        </p:nvSpPr>
        <p:spPr>
          <a:xfrm>
            <a:off x="685800" y="1143000"/>
            <a:ext cx="5483880" cy="3083760"/>
          </a:xfrm>
          <a:prstGeom prst="rect">
            <a:avLst/>
          </a:prstGeom>
          <a:ln w="0">
            <a:noFill/>
          </a:ln>
        </p:spPr>
      </p:sp>
      <p:sp>
        <p:nvSpPr>
          <p:cNvPr id="1188"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Make the lookup table problem concrete. Even a simple percept vocabulary grows exponentially with sequence length. The goal of AI design is to write compact programs that generalize across percept sequences rather than memorizing every possible history.</a:t>
            </a:r>
            <a:endParaRPr lang="en-US" sz="2000" b="0" u="none" strike="noStrike">
              <a:solidFill>
                <a:srgbClr val="000000"/>
              </a:solidFill>
              <a:effectLst/>
              <a:uFillTx/>
              <a:latin typeface="Arial"/>
            </a:endParaRPr>
          </a:p>
        </p:txBody>
      </p:sp>
      <p:sp>
        <p:nvSpPr>
          <p:cNvPr id="1189" name="PlaceHolder 3"/>
          <p:cNvSpPr>
            <a:spLocks noGrp="1"/>
          </p:cNvSpPr>
          <p:nvPr>
            <p:ph type="sldNum" idx="26"/>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5A5097C-10BD-44C1-B5FB-60DCA722A5D0}"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0" name="PlaceHolder 1"/>
          <p:cNvSpPr>
            <a:spLocks noGrp="1"/>
          </p:cNvSpPr>
          <p:nvPr>
            <p:ph type="sldImg"/>
          </p:nvPr>
        </p:nvSpPr>
        <p:spPr>
          <a:xfrm>
            <a:off x="685800" y="1143000"/>
            <a:ext cx="5483880" cy="3083760"/>
          </a:xfrm>
          <a:prstGeom prst="rect">
            <a:avLst/>
          </a:prstGeom>
          <a:ln w="0">
            <a:noFill/>
          </a:ln>
        </p:spPr>
      </p:sp>
      <p:sp>
        <p:nvSpPr>
          <p:cNvPr id="1191"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four rationality factors are the backbone: performance measure, percept sequence, prior knowledge, and available actions. Emphasize that rationality is judged relative to what the agent has perceived and what it can do, not with hindsight.</a:t>
            </a:r>
            <a:endParaRPr lang="en-US" sz="2000" b="0" u="none" strike="noStrike">
              <a:solidFill>
                <a:srgbClr val="000000"/>
              </a:solidFill>
              <a:effectLst/>
              <a:uFillTx/>
              <a:latin typeface="Arial"/>
            </a:endParaRPr>
          </a:p>
        </p:txBody>
      </p:sp>
      <p:sp>
        <p:nvSpPr>
          <p:cNvPr id="1192" name="PlaceHolder 3"/>
          <p:cNvSpPr>
            <a:spLocks noGrp="1"/>
          </p:cNvSpPr>
          <p:nvPr>
            <p:ph type="sldNum" idx="27"/>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D3A591F-C317-4DB3-AACA-1EF719E2700E}"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3" name="PlaceHolder 1"/>
          <p:cNvSpPr>
            <a:spLocks noGrp="1"/>
          </p:cNvSpPr>
          <p:nvPr>
            <p:ph type="sldImg"/>
          </p:nvPr>
        </p:nvSpPr>
        <p:spPr>
          <a:xfrm>
            <a:off x="685800" y="1143000"/>
            <a:ext cx="5483880" cy="3083760"/>
          </a:xfrm>
          <a:prstGeom prst="rect">
            <a:avLst/>
          </a:prstGeom>
          <a:ln w="0">
            <a:noFill/>
          </a:ln>
        </p:spPr>
      </p:sp>
      <p:sp>
        <p:nvSpPr>
          <p:cNvPr id="1194"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Rationality is not omniscience. A rational agent maximizes expected performance, not guaranteed actual performance. Autonomy means the agent can learn from experience instead of relying only on designer assumptions. Use the crossing-the-street example or the sphex wasp story from Chapter 2.</a:t>
            </a:r>
            <a:endParaRPr lang="en-US" sz="2000" b="0" u="none" strike="noStrike">
              <a:solidFill>
                <a:srgbClr val="000000"/>
              </a:solidFill>
              <a:effectLst/>
              <a:uFillTx/>
              <a:latin typeface="Arial"/>
            </a:endParaRPr>
          </a:p>
        </p:txBody>
      </p:sp>
      <p:sp>
        <p:nvSpPr>
          <p:cNvPr id="1195" name="PlaceHolder 3"/>
          <p:cNvSpPr>
            <a:spLocks noGrp="1"/>
          </p:cNvSpPr>
          <p:nvPr>
            <p:ph type="sldNum" idx="28"/>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97BFF6B-79D0-4500-A6F0-3FD70B768796}"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6" name="PlaceHolder 1"/>
          <p:cNvSpPr>
            <a:spLocks noGrp="1"/>
          </p:cNvSpPr>
          <p:nvPr>
            <p:ph type="sldImg"/>
          </p:nvPr>
        </p:nvSpPr>
        <p:spPr>
          <a:xfrm>
            <a:off x="685800" y="1143000"/>
            <a:ext cx="5483880" cy="3083760"/>
          </a:xfrm>
          <a:prstGeom prst="rect">
            <a:avLst/>
          </a:prstGeom>
          <a:ln w="0">
            <a:noFill/>
          </a:ln>
        </p:spPr>
      </p:sp>
      <p:sp>
        <p:nvSpPr>
          <p:cNvPr id="1197"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PEAS is the first design step. Have students use the acronym aloud: Performance, Environment, Actuators, Sensors. Point out that changing one PEAS component can change the best agent architecture.</a:t>
            </a:r>
            <a:endParaRPr lang="en-US" sz="2000" b="0" u="none" strike="noStrike">
              <a:solidFill>
                <a:srgbClr val="000000"/>
              </a:solidFill>
              <a:effectLst/>
              <a:uFillTx/>
              <a:latin typeface="Arial"/>
            </a:endParaRPr>
          </a:p>
        </p:txBody>
      </p:sp>
      <p:sp>
        <p:nvSpPr>
          <p:cNvPr id="1198" name="PlaceHolder 3"/>
          <p:cNvSpPr>
            <a:spLocks noGrp="1"/>
          </p:cNvSpPr>
          <p:nvPr>
            <p:ph type="sldNum" idx="29"/>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5FD669A-DD22-416D-8E20-75506DF8B449}"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9" name="PlaceHolder 1"/>
          <p:cNvSpPr>
            <a:spLocks noGrp="1"/>
          </p:cNvSpPr>
          <p:nvPr>
            <p:ph type="sldImg"/>
          </p:nvPr>
        </p:nvSpPr>
        <p:spPr>
          <a:xfrm>
            <a:off x="0" y="764280"/>
            <a:ext cx="0" cy="0"/>
          </a:xfrm>
          <a:prstGeom prst="rect">
            <a:avLst/>
          </a:prstGeom>
          <a:ln w="0">
            <a:noFill/>
          </a:ln>
        </p:spPr>
      </p:sp>
      <p:sp>
        <p:nvSpPr>
          <p:cNvPr id="1200"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Make the idea consequential. A performance measure is not a motivational slogan; it is the scoring rule. The vacuum example makes this clear: measuring dirt collected can reward perverse behavior, while measuring clean squares over time better captures the desired state. This is an early version of the objective specification problem discussed in Chapter 1.</a:t>
            </a:r>
            <a:endParaRPr lang="en-US" sz="2000" b="0" u="none" strike="noStrike">
              <a:solidFill>
                <a:srgbClr val="000000"/>
              </a:solidFill>
              <a:effectLst/>
              <a:uFillTx/>
              <a:latin typeface="Arial"/>
            </a:endParaRPr>
          </a:p>
        </p:txBody>
      </p:sp>
      <p:sp>
        <p:nvSpPr>
          <p:cNvPr id="1201" name="PlaceHolder 3"/>
          <p:cNvSpPr>
            <a:spLocks noGrp="1"/>
          </p:cNvSpPr>
          <p:nvPr>
            <p:ph type="sldNum" idx="30"/>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C870AA80-25EB-4BC5-B8B0-2F8A7CC47DED}"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2" name="PlaceHolder 1"/>
          <p:cNvSpPr>
            <a:spLocks noGrp="1"/>
          </p:cNvSpPr>
          <p:nvPr>
            <p:ph type="sldImg"/>
          </p:nvPr>
        </p:nvSpPr>
        <p:spPr>
          <a:xfrm>
            <a:off x="685800" y="1143000"/>
            <a:ext cx="5483880" cy="3083760"/>
          </a:xfrm>
          <a:prstGeom prst="rect">
            <a:avLst/>
          </a:prstGeom>
          <a:ln w="0">
            <a:noFill/>
          </a:ln>
        </p:spPr>
      </p:sp>
      <p:sp>
        <p:nvSpPr>
          <p:cNvPr id="1203"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Use examples: chess is fully observable, deterministic, sequential, static, discrete, known, multiagent. Taxi driving is partially observable, stochastic, sequential, dynamic, continuous, and multiagent. These dimensions predict what algorithms will be appropriate later.</a:t>
            </a:r>
            <a:endParaRPr lang="en-US" sz="2000" b="0" u="none" strike="noStrike">
              <a:solidFill>
                <a:srgbClr val="000000"/>
              </a:solidFill>
              <a:effectLst/>
              <a:uFillTx/>
              <a:latin typeface="Arial"/>
            </a:endParaRPr>
          </a:p>
        </p:txBody>
      </p:sp>
      <p:sp>
        <p:nvSpPr>
          <p:cNvPr id="1204" name="PlaceHolder 3"/>
          <p:cNvSpPr>
            <a:spLocks noGrp="1"/>
          </p:cNvSpPr>
          <p:nvPr>
            <p:ph type="sldNum" idx="31"/>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C2D253D-2389-4AA2-983C-525920ABFECE}"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5" name="PlaceHolder 1"/>
          <p:cNvSpPr>
            <a:spLocks noGrp="1"/>
          </p:cNvSpPr>
          <p:nvPr>
            <p:ph type="sldImg"/>
          </p:nvPr>
        </p:nvSpPr>
        <p:spPr>
          <a:xfrm>
            <a:off x="0" y="764280"/>
            <a:ext cx="0" cy="0"/>
          </a:xfrm>
          <a:prstGeom prst="rect">
            <a:avLst/>
          </a:prstGeom>
          <a:ln w="0">
            <a:noFill/>
          </a:ln>
        </p:spPr>
      </p:sp>
      <p:sp>
        <p:nvSpPr>
          <p:cNvPr id="1206"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the taxi as the contrast case. It is partially observable, stochastic, dynamic, continuous, sequential, and multiagent. That makes it dramatically harder than the vacuum world. Source image/table: uploaded Chapter 2, Figure 2.4. Ask students which PEAS component is hardest to specify. Usually performance is hardest because it involves tradeoffs among safety, time, comfort, and cost.</a:t>
            </a:r>
            <a:endParaRPr lang="en-US" sz="2000" b="0" u="none" strike="noStrike">
              <a:solidFill>
                <a:srgbClr val="000000"/>
              </a:solidFill>
              <a:effectLst/>
              <a:uFillTx/>
              <a:latin typeface="Arial"/>
            </a:endParaRPr>
          </a:p>
        </p:txBody>
      </p:sp>
      <p:sp>
        <p:nvSpPr>
          <p:cNvPr id="1207" name="PlaceHolder 3"/>
          <p:cNvSpPr>
            <a:spLocks noGrp="1"/>
          </p:cNvSpPr>
          <p:nvPr>
            <p:ph type="sldNum" idx="32"/>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CE74096A-F92F-4CAE-A64D-BAAF5CD12DC0}"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8" name="PlaceHolder 1"/>
          <p:cNvSpPr>
            <a:spLocks noGrp="1"/>
          </p:cNvSpPr>
          <p:nvPr>
            <p:ph type="sldImg"/>
          </p:nvPr>
        </p:nvSpPr>
        <p:spPr>
          <a:xfrm>
            <a:off x="685800" y="1143000"/>
            <a:ext cx="5483880" cy="3083760"/>
          </a:xfrm>
          <a:prstGeom prst="rect">
            <a:avLst/>
          </a:prstGeom>
          <a:ln w="0">
            <a:noFill/>
          </a:ln>
        </p:spPr>
      </p:sp>
      <p:sp>
        <p:nvSpPr>
          <p:cNvPr id="1209"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Simple reflex agents are rules over current percepts. They are fast and easy to explain, but brittle when the current percept does not contain all relevant information. Connect to thermostats and the reflex vacuum agent in Lab 01.</a:t>
            </a:r>
            <a:endParaRPr lang="en-US" sz="2000" b="0" u="none" strike="noStrike">
              <a:solidFill>
                <a:srgbClr val="000000"/>
              </a:solidFill>
              <a:effectLst/>
              <a:uFillTx/>
              <a:latin typeface="Arial"/>
            </a:endParaRPr>
          </a:p>
        </p:txBody>
      </p:sp>
      <p:sp>
        <p:nvSpPr>
          <p:cNvPr id="1210" name="PlaceHolder 3"/>
          <p:cNvSpPr>
            <a:spLocks noGrp="1"/>
          </p:cNvSpPr>
          <p:nvPr>
            <p:ph type="sldNum" idx="33"/>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FCC447A-DA6D-467E-99B8-57C8A4037CA6}"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1" name="PlaceHolder 1"/>
          <p:cNvSpPr>
            <a:spLocks noGrp="1"/>
          </p:cNvSpPr>
          <p:nvPr>
            <p:ph type="sldImg"/>
          </p:nvPr>
        </p:nvSpPr>
        <p:spPr>
          <a:xfrm>
            <a:off x="0" y="764280"/>
            <a:ext cx="0" cy="0"/>
          </a:xfrm>
          <a:prstGeom prst="rect">
            <a:avLst/>
          </a:prstGeom>
          <a:ln w="0">
            <a:noFill/>
          </a:ln>
        </p:spPr>
      </p:sp>
      <p:sp>
        <p:nvSpPr>
          <p:cNvPr id="1212"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the figure to show the simple reflex architecture. It has no internal state; it chooses an action based on the current percept. This is often good enough for simple, fully observable conditions. In Lab 01, a simple reflex vacuum agent can follow a fixed rule, but it cannot remember where it has already cleaned unless that information is part of the current percept. Source image: uploaded Chapter 2, Figure 2.9.</a:t>
            </a:r>
            <a:endParaRPr lang="en-US" sz="2000" b="0" u="none" strike="noStrike">
              <a:solidFill>
                <a:srgbClr val="000000"/>
              </a:solidFill>
              <a:effectLst/>
              <a:uFillTx/>
              <a:latin typeface="Arial"/>
            </a:endParaRPr>
          </a:p>
        </p:txBody>
      </p:sp>
      <p:sp>
        <p:nvSpPr>
          <p:cNvPr id="1213" name="PlaceHolder 3"/>
          <p:cNvSpPr>
            <a:spLocks noGrp="1"/>
          </p:cNvSpPr>
          <p:nvPr>
            <p:ph type="sldNum" idx="34"/>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FA071496-548E-4B7B-8317-5D43E108C92C}"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4" name="PlaceHolder 1"/>
          <p:cNvSpPr>
            <a:spLocks noGrp="1"/>
          </p:cNvSpPr>
          <p:nvPr>
            <p:ph type="sldImg"/>
          </p:nvPr>
        </p:nvSpPr>
        <p:spPr>
          <a:xfrm>
            <a:off x="685800" y="1143000"/>
            <a:ext cx="5483880" cy="3083760"/>
          </a:xfrm>
          <a:prstGeom prst="rect">
            <a:avLst/>
          </a:prstGeom>
          <a:ln w="0">
            <a:noFill/>
          </a:ln>
        </p:spPr>
      </p:sp>
      <p:sp>
        <p:nvSpPr>
          <p:cNvPr id="1215"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Model-based agents add memory. The internal state is a summary of the percept history, not magic access to the whole world. In Lab 01, a model-based vacuum agent stores visited squares and known dirt status.</a:t>
            </a:r>
            <a:endParaRPr lang="en-US" sz="2000" b="0" u="none" strike="noStrike">
              <a:solidFill>
                <a:srgbClr val="000000"/>
              </a:solidFill>
              <a:effectLst/>
              <a:uFillTx/>
              <a:latin typeface="Arial"/>
            </a:endParaRPr>
          </a:p>
        </p:txBody>
      </p:sp>
      <p:sp>
        <p:nvSpPr>
          <p:cNvPr id="1216" name="PlaceHolder 3"/>
          <p:cNvSpPr>
            <a:spLocks noGrp="1"/>
          </p:cNvSpPr>
          <p:nvPr>
            <p:ph type="sldNum" idx="35"/>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47AC449-4835-45DB-827E-F111EE2A6653}"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7" name="PlaceHolder 1"/>
          <p:cNvSpPr>
            <a:spLocks noGrp="1"/>
          </p:cNvSpPr>
          <p:nvPr>
            <p:ph type="sldImg"/>
          </p:nvPr>
        </p:nvSpPr>
        <p:spPr>
          <a:xfrm>
            <a:off x="0" y="764280"/>
            <a:ext cx="0" cy="0"/>
          </a:xfrm>
          <a:prstGeom prst="rect">
            <a:avLst/>
          </a:prstGeom>
          <a:ln w="0">
            <a:noFill/>
          </a:ln>
        </p:spPr>
      </p:sp>
      <p:sp>
        <p:nvSpPr>
          <p:cNvPr id="1218"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Explain that the model summarizes the percept sequence. A model-based agent does not necessarily know the real state; it stores its best estimate based on what it has perceived and how it believes the world changes. In the lab, a visited set and known-status dictionary are the first form of a model. Source image: uploaded Chapter 2, Figure 2.11.</a:t>
            </a:r>
            <a:endParaRPr lang="en-US" sz="2000" b="0" u="none" strike="noStrike">
              <a:solidFill>
                <a:srgbClr val="000000"/>
              </a:solidFill>
              <a:effectLst/>
              <a:uFillTx/>
              <a:latin typeface="Arial"/>
            </a:endParaRPr>
          </a:p>
        </p:txBody>
      </p:sp>
      <p:sp>
        <p:nvSpPr>
          <p:cNvPr id="1219" name="PlaceHolder 3"/>
          <p:cNvSpPr>
            <a:spLocks noGrp="1"/>
          </p:cNvSpPr>
          <p:nvPr>
            <p:ph type="sldNum" idx="36"/>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D35D6BFC-F8D7-45B9-908B-9A49EAE02B8A}"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0" name="PlaceHolder 1"/>
          <p:cNvSpPr>
            <a:spLocks noGrp="1"/>
          </p:cNvSpPr>
          <p:nvPr>
            <p:ph type="sldImg"/>
          </p:nvPr>
        </p:nvSpPr>
        <p:spPr>
          <a:xfrm>
            <a:off x="685800" y="1143000"/>
            <a:ext cx="5483880" cy="3083760"/>
          </a:xfrm>
          <a:prstGeom prst="rect">
            <a:avLst/>
          </a:prstGeom>
          <a:ln w="0">
            <a:noFill/>
          </a:ln>
        </p:spPr>
      </p:sp>
      <p:sp>
        <p:nvSpPr>
          <p:cNvPr id="1221"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Goal-based agents ask: what future state am I trying to reach? They often require search or planning. This slide prepares students for Chapter 3, where actions are organized into paths from start to goal.</a:t>
            </a:r>
            <a:endParaRPr lang="en-US" sz="2000" b="0" u="none" strike="noStrike">
              <a:solidFill>
                <a:srgbClr val="000000"/>
              </a:solidFill>
              <a:effectLst/>
              <a:uFillTx/>
              <a:latin typeface="Arial"/>
            </a:endParaRPr>
          </a:p>
        </p:txBody>
      </p:sp>
      <p:sp>
        <p:nvSpPr>
          <p:cNvPr id="1222" name="PlaceHolder 3"/>
          <p:cNvSpPr>
            <a:spLocks noGrp="1"/>
          </p:cNvSpPr>
          <p:nvPr>
            <p:ph type="sldNum" idx="37"/>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0005D08-89BB-410B-8F4F-03541577F9D0}"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3" name="PlaceHolder 1"/>
          <p:cNvSpPr>
            <a:spLocks noGrp="1"/>
          </p:cNvSpPr>
          <p:nvPr>
            <p:ph type="sldImg"/>
          </p:nvPr>
        </p:nvSpPr>
        <p:spPr>
          <a:xfrm>
            <a:off x="0" y="764280"/>
            <a:ext cx="0" cy="0"/>
          </a:xfrm>
          <a:prstGeom prst="rect">
            <a:avLst/>
          </a:prstGeom>
          <a:ln w="0">
            <a:noFill/>
          </a:ln>
        </p:spPr>
      </p:sp>
      <p:sp>
        <p:nvSpPr>
          <p:cNvPr id="1224"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Goal-based agents are the bridge to Chapter 3 search. The agent asks: which action sequence gets me to a goal state? In the vacuum lab, the goal-based agent can compute a path to the nearest dirty square. Make clear that goals alone do not handle tradeoffs such as risk, cost, or preference among multiple good outcomes. Source image: uploaded Chapter 2, Figure 2.13.</a:t>
            </a:r>
            <a:endParaRPr lang="en-US" sz="2000" b="0" u="none" strike="noStrike">
              <a:solidFill>
                <a:srgbClr val="000000"/>
              </a:solidFill>
              <a:effectLst/>
              <a:uFillTx/>
              <a:latin typeface="Arial"/>
            </a:endParaRPr>
          </a:p>
        </p:txBody>
      </p:sp>
      <p:sp>
        <p:nvSpPr>
          <p:cNvPr id="1225" name="PlaceHolder 3"/>
          <p:cNvSpPr>
            <a:spLocks noGrp="1"/>
          </p:cNvSpPr>
          <p:nvPr>
            <p:ph type="sldNum" idx="38"/>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D10D6D7A-1B3D-4DC4-8A73-35BCDD4A87E6}"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6" name="PlaceHolder 1"/>
          <p:cNvSpPr>
            <a:spLocks noGrp="1"/>
          </p:cNvSpPr>
          <p:nvPr>
            <p:ph type="sldImg"/>
          </p:nvPr>
        </p:nvSpPr>
        <p:spPr>
          <a:xfrm>
            <a:off x="685800" y="1143000"/>
            <a:ext cx="5483880" cy="3083760"/>
          </a:xfrm>
          <a:prstGeom prst="rect">
            <a:avLst/>
          </a:prstGeom>
          <a:ln w="0">
            <a:noFill/>
          </a:ln>
        </p:spPr>
      </p:sp>
      <p:sp>
        <p:nvSpPr>
          <p:cNvPr id="1227"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Utility-based agents handle tradeoffs and uncertainty. Goals are often too crude; utility lets the agent compare speed vs. safety, cost vs. quality, or risk vs. reward. This is the foundation for later decision theory and reinforcement learning.</a:t>
            </a:r>
            <a:endParaRPr lang="en-US" sz="2000" b="0" u="none" strike="noStrike">
              <a:solidFill>
                <a:srgbClr val="000000"/>
              </a:solidFill>
              <a:effectLst/>
              <a:uFillTx/>
              <a:latin typeface="Arial"/>
            </a:endParaRPr>
          </a:p>
        </p:txBody>
      </p:sp>
      <p:sp>
        <p:nvSpPr>
          <p:cNvPr id="1228" name="PlaceHolder 3"/>
          <p:cNvSpPr>
            <a:spLocks noGrp="1"/>
          </p:cNvSpPr>
          <p:nvPr>
            <p:ph type="sldNum" idx="39"/>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C978AD9-0C8A-441B-AB1C-ACC826BFF5BE}"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9" name="PlaceHolder 1"/>
          <p:cNvSpPr>
            <a:spLocks noGrp="1"/>
          </p:cNvSpPr>
          <p:nvPr>
            <p:ph type="sldImg"/>
          </p:nvPr>
        </p:nvSpPr>
        <p:spPr>
          <a:xfrm>
            <a:off x="0" y="764280"/>
            <a:ext cx="0" cy="0"/>
          </a:xfrm>
          <a:prstGeom prst="rect">
            <a:avLst/>
          </a:prstGeom>
          <a:ln w="0">
            <a:noFill/>
          </a:ln>
        </p:spPr>
      </p:sp>
      <p:sp>
        <p:nvSpPr>
          <p:cNvPr id="1230" name="PlaceHolder 2"/>
          <p:cNvSpPr>
            <a:spLocks noGrp="1"/>
          </p:cNvSpPr>
          <p:nvPr>
            <p:ph type="body"/>
          </p:nvPr>
        </p:nvSpPr>
        <p:spPr>
          <a:xfrm>
            <a:off x="777240" y="4777560"/>
            <a:ext cx="6216480" cy="452484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Utility-based agents are essential when there are tradeoffs. A taxi may have a goal of reaching the destination, but utility compares routes that differ in time, risk, comfort, legality, and fuel. Under uncertainty, the agent maximizes expected utility. This previews Chapters 16–17. Source image: uploaded Chapter 2, Figure 2.14.</a:t>
            </a:r>
            <a:endParaRPr lang="en-US" sz="2000" b="0" u="none" strike="noStrike">
              <a:solidFill>
                <a:srgbClr val="000000"/>
              </a:solidFill>
              <a:effectLst/>
              <a:uFillTx/>
              <a:latin typeface="Arial"/>
            </a:endParaRPr>
          </a:p>
        </p:txBody>
      </p:sp>
      <p:sp>
        <p:nvSpPr>
          <p:cNvPr id="1231" name="PlaceHolder 3"/>
          <p:cNvSpPr>
            <a:spLocks noGrp="1"/>
          </p:cNvSpPr>
          <p:nvPr>
            <p:ph type="sldNum" idx="40"/>
          </p:nvPr>
        </p:nvSpPr>
        <p:spPr>
          <a:xfrm>
            <a:off x="4399200" y="9555480"/>
            <a:ext cx="3371760" cy="50148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1AB379DF-31B1-4137-B7D3-9BAF589EBD61}"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2" name="PlaceHolder 1"/>
          <p:cNvSpPr>
            <a:spLocks noGrp="1"/>
          </p:cNvSpPr>
          <p:nvPr>
            <p:ph type="sldImg"/>
          </p:nvPr>
        </p:nvSpPr>
        <p:spPr>
          <a:xfrm>
            <a:off x="685800" y="1143000"/>
            <a:ext cx="5483880" cy="3083760"/>
          </a:xfrm>
          <a:prstGeom prst="rect">
            <a:avLst/>
          </a:prstGeom>
          <a:ln w="0">
            <a:noFill/>
          </a:ln>
        </p:spPr>
      </p:sp>
      <p:sp>
        <p:nvSpPr>
          <p:cNvPr id="1233"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learning agent diagram shows how an agent improves over time. The performance element chooses actions; the critic evaluates outcomes; the learning element updates behavior; the problem generator encourages exploration.</a:t>
            </a:r>
            <a:endParaRPr lang="en-US" sz="2000" b="0" u="none" strike="noStrike">
              <a:solidFill>
                <a:srgbClr val="000000"/>
              </a:solidFill>
              <a:effectLst/>
              <a:uFillTx/>
              <a:latin typeface="Arial"/>
            </a:endParaRPr>
          </a:p>
        </p:txBody>
      </p:sp>
      <p:sp>
        <p:nvSpPr>
          <p:cNvPr id="1234" name="PlaceHolder 3"/>
          <p:cNvSpPr>
            <a:spLocks noGrp="1"/>
          </p:cNvSpPr>
          <p:nvPr>
            <p:ph type="sldNum" idx="41"/>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2D0C0CF-37B1-4025-A571-8FF88793EFE7}"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5" name="PlaceHolder 1"/>
          <p:cNvSpPr>
            <a:spLocks noGrp="1"/>
          </p:cNvSpPr>
          <p:nvPr>
            <p:ph type="sldImg"/>
          </p:nvPr>
        </p:nvSpPr>
        <p:spPr>
          <a:xfrm>
            <a:off x="0" y="764280"/>
            <a:ext cx="0" cy="0"/>
          </a:xfrm>
          <a:prstGeom prst="rect">
            <a:avLst/>
          </a:prstGeom>
          <a:ln w="0">
            <a:noFill/>
          </a:ln>
        </p:spPr>
      </p:sp>
      <p:sp>
        <p:nvSpPr>
          <p:cNvPr id="1236"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the learning agent diagram to show how improvement is structured. The performance element is what acts now; the learning element changes the performance element; the critic supplies feedback; the problem generator suggests exploratory actions. Source image: uploaded Chapter 2, Figure 2.15. Connect to reinforcement learning later in the course.</a:t>
            </a:r>
            <a:endParaRPr lang="en-US" sz="2000" b="0" u="none" strike="noStrike">
              <a:solidFill>
                <a:srgbClr val="000000"/>
              </a:solidFill>
              <a:effectLst/>
              <a:uFillTx/>
              <a:latin typeface="Arial"/>
            </a:endParaRPr>
          </a:p>
        </p:txBody>
      </p:sp>
      <p:sp>
        <p:nvSpPr>
          <p:cNvPr id="1237" name="PlaceHolder 3"/>
          <p:cNvSpPr>
            <a:spLocks noGrp="1"/>
          </p:cNvSpPr>
          <p:nvPr>
            <p:ph type="sldNum" idx="42"/>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8403DA23-9086-4F16-826A-F1AC4FBDAEEA}"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8" name="PlaceHolder 1"/>
          <p:cNvSpPr>
            <a:spLocks noGrp="1"/>
          </p:cNvSpPr>
          <p:nvPr>
            <p:ph type="sldImg"/>
          </p:nvPr>
        </p:nvSpPr>
        <p:spPr>
          <a:xfrm>
            <a:off x="685800" y="1143000"/>
            <a:ext cx="5483880" cy="3083760"/>
          </a:xfrm>
          <a:prstGeom prst="rect">
            <a:avLst/>
          </a:prstGeom>
          <a:ln w="0">
            <a:noFill/>
          </a:ln>
        </p:spPr>
      </p:sp>
      <p:sp>
        <p:nvSpPr>
          <p:cNvPr id="1239"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Representation determines what an agent can say about the world. Atomic representations treat each state as a black box; factored representations use variables; structured representations model objects and relations. This foreshadows CSPs, logic, Bayesian networks, and first-order logic.</a:t>
            </a:r>
            <a:endParaRPr lang="en-US" sz="2000" b="0" u="none" strike="noStrike">
              <a:solidFill>
                <a:srgbClr val="000000"/>
              </a:solidFill>
              <a:effectLst/>
              <a:uFillTx/>
              <a:latin typeface="Arial"/>
            </a:endParaRPr>
          </a:p>
        </p:txBody>
      </p:sp>
      <p:sp>
        <p:nvSpPr>
          <p:cNvPr id="1240" name="PlaceHolder 3"/>
          <p:cNvSpPr>
            <a:spLocks noGrp="1"/>
          </p:cNvSpPr>
          <p:nvPr>
            <p:ph type="sldNum" idx="43"/>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A72FDCB-1A1F-4C79-B7DA-E452A68928CE}"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1" name="PlaceHolder 1"/>
          <p:cNvSpPr>
            <a:spLocks noGrp="1"/>
          </p:cNvSpPr>
          <p:nvPr>
            <p:ph type="sldImg"/>
          </p:nvPr>
        </p:nvSpPr>
        <p:spPr>
          <a:xfrm>
            <a:off x="0" y="764280"/>
            <a:ext cx="0" cy="0"/>
          </a:xfrm>
          <a:prstGeom prst="rect">
            <a:avLst/>
          </a:prstGeom>
          <a:ln w="0">
            <a:noFill/>
          </a:ln>
        </p:spPr>
      </p:sp>
      <p:sp>
        <p:nvSpPr>
          <p:cNvPr id="1242"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shows why representation is a central AI question. Atomic states are simple but do not share structure. Factored states allow reasoning over variables. Structured representations allow objects and relations, which become central in first-order logic. Source image: uploaded Chapter 2, Figure 2.16.</a:t>
            </a:r>
            <a:endParaRPr lang="en-US" sz="2000" b="0" u="none" strike="noStrike">
              <a:solidFill>
                <a:srgbClr val="000000"/>
              </a:solidFill>
              <a:effectLst/>
              <a:uFillTx/>
              <a:latin typeface="Arial"/>
            </a:endParaRPr>
          </a:p>
        </p:txBody>
      </p:sp>
      <p:sp>
        <p:nvSpPr>
          <p:cNvPr id="1243" name="PlaceHolder 3"/>
          <p:cNvSpPr>
            <a:spLocks noGrp="1"/>
          </p:cNvSpPr>
          <p:nvPr>
            <p:ph type="sldNum" idx="44"/>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465B6900-B172-40D5-A014-9ECD20D2D447}"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4" name="PlaceHolder 1"/>
          <p:cNvSpPr>
            <a:spLocks noGrp="1"/>
          </p:cNvSpPr>
          <p:nvPr>
            <p:ph type="sldImg"/>
          </p:nvPr>
        </p:nvSpPr>
        <p:spPr>
          <a:xfrm>
            <a:off x="685800" y="1143000"/>
            <a:ext cx="5483880" cy="3083760"/>
          </a:xfrm>
          <a:prstGeom prst="rect">
            <a:avLst/>
          </a:prstGeom>
          <a:ln w="0">
            <a:noFill/>
          </a:ln>
        </p:spPr>
      </p:sp>
      <p:sp>
        <p:nvSpPr>
          <p:cNvPr id="1245"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Use this full summary for exam preparation. Ask students to identify which bullets belong to Chapter 1 and which belong to Chapter 2. Then ask them to explain how value alignment connects to performance measures.</a:t>
            </a:r>
            <a:endParaRPr lang="en-US" sz="2000" b="0" u="none" strike="noStrike">
              <a:solidFill>
                <a:srgbClr val="000000"/>
              </a:solidFill>
              <a:effectLst/>
              <a:uFillTx/>
              <a:latin typeface="Arial"/>
            </a:endParaRPr>
          </a:p>
        </p:txBody>
      </p:sp>
      <p:sp>
        <p:nvSpPr>
          <p:cNvPr id="1246" name="PlaceHolder 3"/>
          <p:cNvSpPr>
            <a:spLocks noGrp="1"/>
          </p:cNvSpPr>
          <p:nvPr>
            <p:ph type="sldNum" idx="45"/>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43788D6-0CEC-4241-A1DF-FE30DFB127A4}"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7" name="PlaceHolder 1"/>
          <p:cNvSpPr>
            <a:spLocks noGrp="1"/>
          </p:cNvSpPr>
          <p:nvPr>
            <p:ph type="sldImg"/>
          </p:nvPr>
        </p:nvSpPr>
        <p:spPr>
          <a:xfrm>
            <a:off x="685800" y="1143000"/>
            <a:ext cx="5483880" cy="3083760"/>
          </a:xfrm>
          <a:prstGeom prst="rect">
            <a:avLst/>
          </a:prstGeom>
          <a:ln w="0">
            <a:noFill/>
          </a:ln>
        </p:spPr>
      </p:sp>
      <p:sp>
        <p:nvSpPr>
          <p:cNvPr id="1248"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Pause for questions. Suggested prompt: choose an AI system you use and describe its sensors, actuators, environment, and likely performance measure. This prepares students for the expanded examples that follow.</a:t>
            </a:r>
            <a:endParaRPr lang="en-US" sz="2000" b="0" u="none" strike="noStrike">
              <a:solidFill>
                <a:srgbClr val="000000"/>
              </a:solidFill>
              <a:effectLst/>
              <a:uFillTx/>
              <a:latin typeface="Arial"/>
            </a:endParaRPr>
          </a:p>
        </p:txBody>
      </p:sp>
      <p:sp>
        <p:nvSpPr>
          <p:cNvPr id="1249" name="PlaceHolder 3"/>
          <p:cNvSpPr>
            <a:spLocks noGrp="1"/>
          </p:cNvSpPr>
          <p:nvPr>
            <p:ph type="sldNum" idx="46"/>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E1C72D2-E335-412B-BBE3-87D3F03B9959}"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0" name="PlaceHolder 1"/>
          <p:cNvSpPr>
            <a:spLocks noGrp="1"/>
          </p:cNvSpPr>
          <p:nvPr>
            <p:ph type="sldImg"/>
          </p:nvPr>
        </p:nvSpPr>
        <p:spPr>
          <a:xfrm>
            <a:off x="0" y="764280"/>
            <a:ext cx="0" cy="0"/>
          </a:xfrm>
          <a:prstGeom prst="rect">
            <a:avLst/>
          </a:prstGeom>
          <a:ln w="0">
            <a:noFill/>
          </a:ln>
        </p:spPr>
      </p:sp>
      <p:sp>
        <p:nvSpPr>
          <p:cNvPr id="1251"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divider marks the supplemental section. You can teach these slides after the original deck or move them into the relevant sections. They are designed to make abstract ideas concrete through examples, diagrams, and student checks. The notes include suggested prompts and answers.</a:t>
            </a:r>
            <a:endParaRPr lang="en-US" sz="2000" b="0" u="none" strike="noStrike">
              <a:solidFill>
                <a:srgbClr val="000000"/>
              </a:solidFill>
              <a:effectLst/>
              <a:uFillTx/>
              <a:latin typeface="Arial"/>
            </a:endParaRPr>
          </a:p>
        </p:txBody>
      </p:sp>
      <p:sp>
        <p:nvSpPr>
          <p:cNvPr id="1252" name="PlaceHolder 3"/>
          <p:cNvSpPr>
            <a:spLocks noGrp="1"/>
          </p:cNvSpPr>
          <p:nvPr>
            <p:ph type="sldNum" idx="47"/>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44AC74B5-FC19-4837-B4FE-EDA4FA868764}"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3" name="PlaceHolder 1"/>
          <p:cNvSpPr>
            <a:spLocks noGrp="1"/>
          </p:cNvSpPr>
          <p:nvPr>
            <p:ph type="sldImg"/>
          </p:nvPr>
        </p:nvSpPr>
        <p:spPr>
          <a:xfrm>
            <a:off x="0" y="764280"/>
            <a:ext cx="0" cy="0"/>
          </a:xfrm>
          <a:prstGeom prst="rect">
            <a:avLst/>
          </a:prstGeom>
          <a:ln w="0">
            <a:noFill/>
          </a:ln>
        </p:spPr>
      </p:sp>
      <p:sp>
        <p:nvSpPr>
          <p:cNvPr id="1254"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Teaching goal: make the outcomes explicit. A useful opening question is: what would it mean to 'understand AI' after only two chapters? The answer is not that students can build GPT or a robot yet. It means they can describe an AI system as an agent with sensors, actions, objectives, and environmental constraints. Ask students which objective they feel least confident about; revisit it during the lecture.</a:t>
            </a:r>
            <a:endParaRPr lang="en-US" sz="2000" b="0" u="none" strike="noStrike">
              <a:solidFill>
                <a:srgbClr val="000000"/>
              </a:solidFill>
              <a:effectLst/>
              <a:uFillTx/>
              <a:latin typeface="Arial"/>
            </a:endParaRPr>
          </a:p>
        </p:txBody>
      </p:sp>
      <p:sp>
        <p:nvSpPr>
          <p:cNvPr id="1255" name="PlaceHolder 3"/>
          <p:cNvSpPr>
            <a:spLocks noGrp="1"/>
          </p:cNvSpPr>
          <p:nvPr>
            <p:ph type="sldNum" idx="48"/>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77348883-B7B1-4487-93BB-9FCC1D6179E2}"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6" name="PlaceHolder 1"/>
          <p:cNvSpPr>
            <a:spLocks noGrp="1"/>
          </p:cNvSpPr>
          <p:nvPr>
            <p:ph type="sldImg"/>
          </p:nvPr>
        </p:nvSpPr>
        <p:spPr>
          <a:xfrm>
            <a:off x="0" y="764280"/>
            <a:ext cx="0" cy="0"/>
          </a:xfrm>
          <a:prstGeom prst="rect">
            <a:avLst/>
          </a:prstGeom>
          <a:ln w="0">
            <a:noFill/>
          </a:ln>
        </p:spPr>
      </p:sp>
      <p:sp>
        <p:nvSpPr>
          <p:cNvPr id="1257"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this slide to prevent a common misconception: AI is not just chatbots or neural networks. Chapter 1 lists learning, reasoning, perception, chess, theorem proving, poetry, driving, and diagnosis as AI tasks. The unifying question is action selection: what should the system do next to perform well? Ask students to map an everyday app to one or more circles on the slide.</a:t>
            </a:r>
            <a:endParaRPr lang="en-US" sz="2000" b="0" u="none" strike="noStrike">
              <a:solidFill>
                <a:srgbClr val="000000"/>
              </a:solidFill>
              <a:effectLst/>
              <a:uFillTx/>
              <a:latin typeface="Arial"/>
            </a:endParaRPr>
          </a:p>
        </p:txBody>
      </p:sp>
      <p:sp>
        <p:nvSpPr>
          <p:cNvPr id="1258" name="PlaceHolder 3"/>
          <p:cNvSpPr>
            <a:spLocks noGrp="1"/>
          </p:cNvSpPr>
          <p:nvPr>
            <p:ph type="sldNum" idx="49"/>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175EFAAA-F0BC-4C70-A8D6-608666C8C47C}"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9" name="PlaceHolder 1"/>
          <p:cNvSpPr>
            <a:spLocks noGrp="1"/>
          </p:cNvSpPr>
          <p:nvPr>
            <p:ph type="sldImg"/>
          </p:nvPr>
        </p:nvSpPr>
        <p:spPr>
          <a:xfrm>
            <a:off x="0" y="764280"/>
            <a:ext cx="0" cy="0"/>
          </a:xfrm>
          <a:prstGeom prst="rect">
            <a:avLst/>
          </a:prstGeom>
          <a:ln w="0">
            <a:noFill/>
          </a:ln>
        </p:spPr>
      </p:sp>
      <p:sp>
        <p:nvSpPr>
          <p:cNvPr id="1260"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makes the 2-by-2 framework concrete. Students often memorize the four labels without understanding the difference. Use one tutoring assistant to compare them. The same system can be evaluated four ways: by human-likeness, cognitive fidelity, logical validity, or expected educational impact. Stress that AIMA's dominant approach is the rational-agent approach because it supports mathematically precise design.</a:t>
            </a:r>
            <a:endParaRPr lang="en-US" sz="2000" b="0" u="none" strike="noStrike">
              <a:solidFill>
                <a:srgbClr val="000000"/>
              </a:solidFill>
              <a:effectLst/>
              <a:uFillTx/>
              <a:latin typeface="Arial"/>
            </a:endParaRPr>
          </a:p>
        </p:txBody>
      </p:sp>
      <p:sp>
        <p:nvSpPr>
          <p:cNvPr id="1261" name="PlaceHolder 3"/>
          <p:cNvSpPr>
            <a:spLocks noGrp="1"/>
          </p:cNvSpPr>
          <p:nvPr>
            <p:ph type="sldNum" idx="50"/>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7A08B4CD-375B-4647-922B-D67C4408E7F5}"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2" name="PlaceHolder 1"/>
          <p:cNvSpPr>
            <a:spLocks noGrp="1"/>
          </p:cNvSpPr>
          <p:nvPr>
            <p:ph type="sldImg"/>
          </p:nvPr>
        </p:nvSpPr>
        <p:spPr>
          <a:xfrm>
            <a:off x="0" y="764280"/>
            <a:ext cx="0" cy="0"/>
          </a:xfrm>
          <a:prstGeom prst="rect">
            <a:avLst/>
          </a:prstGeom>
          <a:ln w="0">
            <a:noFill/>
          </a:ln>
        </p:spPr>
      </p:sp>
      <p:sp>
        <p:nvSpPr>
          <p:cNvPr id="1263"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Explain that the Turing Test is historically important because it reframes 'Can machines think?' as an observable test. However, it is not the main engineering objective of the course. A system could imitate humans yet be unsafe or inefficient; another system could be superhuman in a narrow task without imitating humans. Reference: Turing, A. M. (1950), Computing Machinery and Intelligence, https://doi.org/10.1093/mind/LIX.236.433.</a:t>
            </a:r>
            <a:endParaRPr lang="en-US" sz="2000" b="0" u="none" strike="noStrike">
              <a:solidFill>
                <a:srgbClr val="000000"/>
              </a:solidFill>
              <a:effectLst/>
              <a:uFillTx/>
              <a:latin typeface="Arial"/>
            </a:endParaRPr>
          </a:p>
        </p:txBody>
      </p:sp>
      <p:sp>
        <p:nvSpPr>
          <p:cNvPr id="1264" name="PlaceHolder 3"/>
          <p:cNvSpPr>
            <a:spLocks noGrp="1"/>
          </p:cNvSpPr>
          <p:nvPr>
            <p:ph type="sldNum" idx="51"/>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1930208C-0573-445B-BEF3-5917F9511905}"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5" name="PlaceHolder 1"/>
          <p:cNvSpPr>
            <a:spLocks noGrp="1"/>
          </p:cNvSpPr>
          <p:nvPr>
            <p:ph type="sldImg"/>
          </p:nvPr>
        </p:nvSpPr>
        <p:spPr>
          <a:xfrm>
            <a:off x="0" y="764280"/>
            <a:ext cx="0" cy="0"/>
          </a:xfrm>
          <a:prstGeom prst="rect">
            <a:avLst/>
          </a:prstGeom>
          <a:ln w="0">
            <a:noFill/>
          </a:ln>
        </p:spPr>
      </p:sp>
      <p:sp>
        <p:nvSpPr>
          <p:cNvPr id="1266"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Walk through the loop slowly. The environment produces percepts through sensors. The agent program transforms the percept sequence plus internal state into an action. The environment changes, and the performance measure evaluates the resulting sequence of states. Make clear that the performance measure is external: it is how the designer or user scores the agent, not necessarily what the code explicitly stores.</a:t>
            </a:r>
            <a:endParaRPr lang="en-US" sz="2000" b="0" u="none" strike="noStrike">
              <a:solidFill>
                <a:srgbClr val="000000"/>
              </a:solidFill>
              <a:effectLst/>
              <a:uFillTx/>
              <a:latin typeface="Arial"/>
            </a:endParaRPr>
          </a:p>
        </p:txBody>
      </p:sp>
      <p:sp>
        <p:nvSpPr>
          <p:cNvPr id="1267" name="PlaceHolder 3"/>
          <p:cNvSpPr>
            <a:spLocks noGrp="1"/>
          </p:cNvSpPr>
          <p:nvPr>
            <p:ph type="sldNum" idx="52"/>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12F76DE3-F2AD-4C65-8A66-EF8662FCB64B}"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8" name="PlaceHolder 1"/>
          <p:cNvSpPr>
            <a:spLocks noGrp="1"/>
          </p:cNvSpPr>
          <p:nvPr>
            <p:ph type="sldImg"/>
          </p:nvPr>
        </p:nvSpPr>
        <p:spPr>
          <a:xfrm>
            <a:off x="0" y="764280"/>
            <a:ext cx="0" cy="0"/>
          </a:xfrm>
          <a:prstGeom prst="rect">
            <a:avLst/>
          </a:prstGeom>
          <a:ln w="0">
            <a:noFill/>
          </a:ln>
        </p:spPr>
      </p:sp>
      <p:sp>
        <p:nvSpPr>
          <p:cNvPr id="1269"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connects Chapter 1 alignment to Chapter 2 performance measures. The standard model is powerful: define an objective and build a system to maximize it. The risk is proxy failure. Use a simple example: a system rewarded for engagement may maximize outrage; a cleaning robot rewarded for dirt collected might spread dirt. The more capable the optimizer, the less forgiving a flawed objective becomes. References: NIST AI RMF https://www.nist.gov/itl/ai-risk-management-framework; OECD AI Principles https://www.oecd.org/en/topics/ai-principles.html.</a:t>
            </a:r>
            <a:endParaRPr lang="en-US" sz="2000" b="0" u="none" strike="noStrike">
              <a:solidFill>
                <a:srgbClr val="000000"/>
              </a:solidFill>
              <a:effectLst/>
              <a:uFillTx/>
              <a:latin typeface="Arial"/>
            </a:endParaRPr>
          </a:p>
        </p:txBody>
      </p:sp>
      <p:sp>
        <p:nvSpPr>
          <p:cNvPr id="1270" name="PlaceHolder 3"/>
          <p:cNvSpPr>
            <a:spLocks noGrp="1"/>
          </p:cNvSpPr>
          <p:nvPr>
            <p:ph type="sldNum" idx="53"/>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91E3840F-0956-49F2-9300-B43137F33B1F}"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1" name="PlaceHolder 1"/>
          <p:cNvSpPr>
            <a:spLocks noGrp="1"/>
          </p:cNvSpPr>
          <p:nvPr>
            <p:ph type="sldImg"/>
          </p:nvPr>
        </p:nvSpPr>
        <p:spPr>
          <a:xfrm>
            <a:off x="0" y="764280"/>
            <a:ext cx="0" cy="0"/>
          </a:xfrm>
          <a:prstGeom prst="rect">
            <a:avLst/>
          </a:prstGeom>
          <a:ln w="0">
            <a:noFill/>
          </a:ln>
        </p:spPr>
      </p:sp>
      <p:sp>
        <p:nvSpPr>
          <p:cNvPr id="1272"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is the bridge between abstract AI safety and the first programming lab. Ask students: If I pay a robot per piece of trash picked up, what could go wrong? Then ask: what would a better measure look like? The Chapter 2 answer is to evaluate the sequence of environment states: is the floor clean over time, and at what cost? This will help students understand why performance measures are central to rationality.</a:t>
            </a:r>
            <a:endParaRPr lang="en-US" sz="2000" b="0" u="none" strike="noStrike">
              <a:solidFill>
                <a:srgbClr val="000000"/>
              </a:solidFill>
              <a:effectLst/>
              <a:uFillTx/>
              <a:latin typeface="Arial"/>
            </a:endParaRPr>
          </a:p>
        </p:txBody>
      </p:sp>
      <p:sp>
        <p:nvSpPr>
          <p:cNvPr id="1273" name="PlaceHolder 3"/>
          <p:cNvSpPr>
            <a:spLocks noGrp="1"/>
          </p:cNvSpPr>
          <p:nvPr>
            <p:ph type="sldNum" idx="54"/>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58E1570E-F397-4132-98A6-3680B7A1FB85}"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4" name="PlaceHolder 1"/>
          <p:cNvSpPr>
            <a:spLocks noGrp="1"/>
          </p:cNvSpPr>
          <p:nvPr>
            <p:ph type="sldImg"/>
          </p:nvPr>
        </p:nvSpPr>
        <p:spPr>
          <a:xfrm>
            <a:off x="0" y="764280"/>
            <a:ext cx="0" cy="0"/>
          </a:xfrm>
          <a:prstGeom prst="rect">
            <a:avLst/>
          </a:prstGeom>
          <a:ln w="0">
            <a:noFill/>
          </a:ln>
        </p:spPr>
      </p:sp>
      <p:sp>
        <p:nvSpPr>
          <p:cNvPr id="1275"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The purpose is to show why the foundations are not historical trivia. Logic appears in knowledge-based agents. Probability appears when sensors are noisy or the world is partially observable. Complexity explains why perfect rationality is often impossible; agents must be bounded by computation time. Ask students which pillar best fits a self-driving car. The answer is all three.</a:t>
            </a:r>
            <a:endParaRPr lang="en-US" sz="2000" b="0" u="none" strike="noStrike">
              <a:solidFill>
                <a:srgbClr val="000000"/>
              </a:solidFill>
              <a:effectLst/>
              <a:uFillTx/>
              <a:latin typeface="Arial"/>
            </a:endParaRPr>
          </a:p>
        </p:txBody>
      </p:sp>
      <p:sp>
        <p:nvSpPr>
          <p:cNvPr id="1276" name="PlaceHolder 3"/>
          <p:cNvSpPr>
            <a:spLocks noGrp="1"/>
          </p:cNvSpPr>
          <p:nvPr>
            <p:ph type="sldNum" idx="55"/>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E24CD661-1CFF-47AA-8AC0-DCD9CC33C314}"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7" name="PlaceHolder 1"/>
          <p:cNvSpPr>
            <a:spLocks noGrp="1"/>
          </p:cNvSpPr>
          <p:nvPr>
            <p:ph type="sldImg"/>
          </p:nvPr>
        </p:nvSpPr>
        <p:spPr>
          <a:xfrm>
            <a:off x="0" y="764280"/>
            <a:ext cx="0" cy="0"/>
          </a:xfrm>
          <a:prstGeom prst="rect">
            <a:avLst/>
          </a:prstGeom>
          <a:ln w="0">
            <a:noFill/>
          </a:ln>
        </p:spPr>
      </p:sp>
      <p:sp>
        <p:nvSpPr>
          <p:cNvPr id="1278"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previews the course progression. Early chapters use search and logic in simplified worlds. Later chapters add probability because real sensors and human goals are uncertain. A rational agent generally needs both beliefs and preferences: What is likely to happen? How good or bad would that outcome be? This slide also helps students see why AI is broader than machine learning.</a:t>
            </a:r>
            <a:endParaRPr lang="en-US" sz="2000" b="0" u="none" strike="noStrike">
              <a:solidFill>
                <a:srgbClr val="000000"/>
              </a:solidFill>
              <a:effectLst/>
              <a:uFillTx/>
              <a:latin typeface="Arial"/>
            </a:endParaRPr>
          </a:p>
        </p:txBody>
      </p:sp>
      <p:sp>
        <p:nvSpPr>
          <p:cNvPr id="1279" name="PlaceHolder 3"/>
          <p:cNvSpPr>
            <a:spLocks noGrp="1"/>
          </p:cNvSpPr>
          <p:nvPr>
            <p:ph type="sldNum" idx="56"/>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AACBBAD3-BBFB-4573-BD62-4D8B8D78DC98}"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0" name="PlaceHolder 1"/>
          <p:cNvSpPr>
            <a:spLocks noGrp="1"/>
          </p:cNvSpPr>
          <p:nvPr>
            <p:ph type="sldImg"/>
          </p:nvPr>
        </p:nvSpPr>
        <p:spPr>
          <a:xfrm>
            <a:off x="0" y="764280"/>
            <a:ext cx="0" cy="0"/>
          </a:xfrm>
          <a:prstGeom prst="rect">
            <a:avLst/>
          </a:prstGeom>
          <a:ln w="0">
            <a:noFill/>
          </a:ln>
        </p:spPr>
      </p:sp>
      <p:sp>
        <p:nvSpPr>
          <p:cNvPr id="1281"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Tell the history as engineering learning, not a list of dates. Students should remember the lesson behind each era: formalization, toy success, combinatorial explosion, domain knowledge, probabilistic reasoning, big data, and deep learning. This historical perspective prevents 'new technique solves everything' thinking. Reference for Dartmouth 1956: https://home.dartmouth.edu/about/artificial-intelligence-ai-coined-dartmouth.</a:t>
            </a:r>
            <a:endParaRPr lang="en-US" sz="2000" b="0" u="none" strike="noStrike">
              <a:solidFill>
                <a:srgbClr val="000000"/>
              </a:solidFill>
              <a:effectLst/>
              <a:uFillTx/>
              <a:latin typeface="Arial"/>
            </a:endParaRPr>
          </a:p>
        </p:txBody>
      </p:sp>
      <p:sp>
        <p:nvSpPr>
          <p:cNvPr id="1282" name="PlaceHolder 3"/>
          <p:cNvSpPr>
            <a:spLocks noGrp="1"/>
          </p:cNvSpPr>
          <p:nvPr>
            <p:ph type="sldNum" idx="57"/>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826E2140-C464-4CDC-9F9D-470B3C650AE6}"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3" name="PlaceHolder 1"/>
          <p:cNvSpPr>
            <a:spLocks noGrp="1"/>
          </p:cNvSpPr>
          <p:nvPr>
            <p:ph type="sldImg"/>
          </p:nvPr>
        </p:nvSpPr>
        <p:spPr>
          <a:xfrm>
            <a:off x="0" y="764280"/>
            <a:ext cx="0" cy="0"/>
          </a:xfrm>
          <a:prstGeom prst="rect">
            <a:avLst/>
          </a:prstGeom>
          <a:ln w="0">
            <a:noFill/>
          </a:ln>
        </p:spPr>
      </p:sp>
      <p:sp>
        <p:nvSpPr>
          <p:cNvPr id="1284"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Expert systems are a good example of the importance of representation. They succeeded by encoding expert knowledge in rules, but they were difficult to build and maintain. Ask students to imagine a medical expert system: what happens when a new disease variant appears or a symptom is missing? This prepares them for later knowledge representation chapters and for understanding why data-driven learning became attractive.</a:t>
            </a:r>
            <a:endParaRPr lang="en-US" sz="2000" b="0" u="none" strike="noStrike">
              <a:solidFill>
                <a:srgbClr val="000000"/>
              </a:solidFill>
              <a:effectLst/>
              <a:uFillTx/>
              <a:latin typeface="Arial"/>
            </a:endParaRPr>
          </a:p>
        </p:txBody>
      </p:sp>
      <p:sp>
        <p:nvSpPr>
          <p:cNvPr id="1285" name="PlaceHolder 3"/>
          <p:cNvSpPr>
            <a:spLocks noGrp="1"/>
          </p:cNvSpPr>
          <p:nvPr>
            <p:ph type="sldNum" idx="58"/>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EFEE053D-7424-485C-BA1D-868614DA2512}"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6" name="PlaceHolder 1"/>
          <p:cNvSpPr>
            <a:spLocks noGrp="1"/>
          </p:cNvSpPr>
          <p:nvPr>
            <p:ph type="sldImg"/>
          </p:nvPr>
        </p:nvSpPr>
        <p:spPr>
          <a:xfrm>
            <a:off x="0" y="764280"/>
            <a:ext cx="0" cy="0"/>
          </a:xfrm>
          <a:prstGeom prst="rect">
            <a:avLst/>
          </a:prstGeom>
          <a:ln w="0">
            <a:noFill/>
          </a:ln>
        </p:spPr>
      </p:sp>
      <p:sp>
        <p:nvSpPr>
          <p:cNvPr id="1287"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Emphasize balance. Deep learning is a major AI success, especially for perception and language, because it learns internal representations from data. But it does not erase Chapter 2. A learned model is usually part of a larger agent architecture: sensors collect data, the model estimates something, the agent chooses actions, and the performance measure determines success. This helps students avoid reducing all AI to neural networks.</a:t>
            </a:r>
            <a:endParaRPr lang="en-US" sz="2000" b="0" u="none" strike="noStrike">
              <a:solidFill>
                <a:srgbClr val="000000"/>
              </a:solidFill>
              <a:effectLst/>
              <a:uFillTx/>
              <a:latin typeface="Arial"/>
            </a:endParaRPr>
          </a:p>
        </p:txBody>
      </p:sp>
      <p:sp>
        <p:nvSpPr>
          <p:cNvPr id="1288" name="PlaceHolder 3"/>
          <p:cNvSpPr>
            <a:spLocks noGrp="1"/>
          </p:cNvSpPr>
          <p:nvPr>
            <p:ph type="sldNum" idx="59"/>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77F027D0-F057-45D2-9835-AA9F22CEFA8F}"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9" name="PlaceHolder 1"/>
          <p:cNvSpPr>
            <a:spLocks noGrp="1"/>
          </p:cNvSpPr>
          <p:nvPr>
            <p:ph type="sldImg"/>
          </p:nvPr>
        </p:nvSpPr>
        <p:spPr>
          <a:xfrm>
            <a:off x="0" y="764280"/>
            <a:ext cx="0" cy="0"/>
          </a:xfrm>
          <a:prstGeom prst="rect">
            <a:avLst/>
          </a:prstGeom>
          <a:ln w="0">
            <a:noFill/>
          </a:ln>
        </p:spPr>
      </p:sp>
      <p:sp>
        <p:nvSpPr>
          <p:cNvPr id="1290"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makes the state-of-the-art discussion careful. A model can do very well on a benchmark but still be unsafe if the task environment changes. Prompt students to identify tests: edge cases, adversarial examples, fairness checks, human oversight, uncertainty estimates, and monitoring after deployment. Reference examples: IBM Deep Blue https://www.ibm.com/history/deep-blue; AlphaGo paper https://www.nature.com/articles/nature16961; DeepMind AlphaGo overview https://deepmind.google/research/alphago/.</a:t>
            </a:r>
            <a:endParaRPr lang="en-US" sz="2000" b="0" u="none" strike="noStrike">
              <a:solidFill>
                <a:srgbClr val="000000"/>
              </a:solidFill>
              <a:effectLst/>
              <a:uFillTx/>
              <a:latin typeface="Arial"/>
            </a:endParaRPr>
          </a:p>
        </p:txBody>
      </p:sp>
      <p:sp>
        <p:nvSpPr>
          <p:cNvPr id="1291" name="PlaceHolder 3"/>
          <p:cNvSpPr>
            <a:spLocks noGrp="1"/>
          </p:cNvSpPr>
          <p:nvPr>
            <p:ph type="sldNum" idx="60"/>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FC81E35B-99BC-4929-A40B-025CD07F9B59}"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2" name="PlaceHolder 1"/>
          <p:cNvSpPr>
            <a:spLocks noGrp="1"/>
          </p:cNvSpPr>
          <p:nvPr>
            <p:ph type="sldImg"/>
          </p:nvPr>
        </p:nvSpPr>
        <p:spPr>
          <a:xfrm>
            <a:off x="0" y="764280"/>
            <a:ext cx="0" cy="0"/>
          </a:xfrm>
          <a:prstGeom prst="rect">
            <a:avLst/>
          </a:prstGeom>
          <a:ln w="0">
            <a:noFill/>
          </a:ln>
        </p:spPr>
      </p:sp>
      <p:sp>
        <p:nvSpPr>
          <p:cNvPr id="1293"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this as a practical safety checklist. It is intentionally tied to Chapter 2 vocabulary. Students should learn that ethics is not separate from technical design: objectives, sensors, actions, environment assumptions, and learning dynamics all create risk. References for responsible AI frameworks: NIST AI Risk Management Framework, https://www.nist.gov/itl/ai-risk-management-framework; OECD AI Principles, https://www.oecd.org/en/topics/ai-principles.html.</a:t>
            </a:r>
            <a:endParaRPr lang="en-US" sz="2000" b="0" u="none" strike="noStrike">
              <a:solidFill>
                <a:srgbClr val="000000"/>
              </a:solidFill>
              <a:effectLst/>
              <a:uFillTx/>
              <a:latin typeface="Arial"/>
            </a:endParaRPr>
          </a:p>
        </p:txBody>
      </p:sp>
      <p:sp>
        <p:nvSpPr>
          <p:cNvPr id="1294" name="PlaceHolder 3"/>
          <p:cNvSpPr>
            <a:spLocks noGrp="1"/>
          </p:cNvSpPr>
          <p:nvPr>
            <p:ph type="sldNum" idx="61"/>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5BB0F600-DC95-4F66-9662-594924EAA516}"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5" name="PlaceHolder 1"/>
          <p:cNvSpPr>
            <a:spLocks noGrp="1"/>
          </p:cNvSpPr>
          <p:nvPr>
            <p:ph type="sldImg"/>
          </p:nvPr>
        </p:nvSpPr>
        <p:spPr>
          <a:xfrm>
            <a:off x="0" y="764280"/>
            <a:ext cx="0" cy="0"/>
          </a:xfrm>
          <a:prstGeom prst="rect">
            <a:avLst/>
          </a:prstGeom>
          <a:ln w="0">
            <a:noFill/>
          </a:ln>
        </p:spPr>
      </p:sp>
      <p:sp>
        <p:nvSpPr>
          <p:cNvPr id="1296"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introduces the vocabulary that students must use in Lab 01 and exams. Ask them to pick a familiar system—Google Maps, a spam filter, a robot vacuum, a recommender—and label each term. The point is to move from vague statements like 'the AI knows' to precise statements about percepts, internal state, action, and performance.</a:t>
            </a:r>
            <a:endParaRPr lang="en-US" sz="2000" b="0" u="none" strike="noStrike">
              <a:solidFill>
                <a:srgbClr val="000000"/>
              </a:solidFill>
              <a:effectLst/>
              <a:uFillTx/>
              <a:latin typeface="Arial"/>
            </a:endParaRPr>
          </a:p>
        </p:txBody>
      </p:sp>
      <p:sp>
        <p:nvSpPr>
          <p:cNvPr id="1297" name="PlaceHolder 3"/>
          <p:cNvSpPr>
            <a:spLocks noGrp="1"/>
          </p:cNvSpPr>
          <p:nvPr>
            <p:ph type="sldNum" idx="62"/>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BC33DA4E-3B30-4C4B-8985-F2C217C9F598}"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8" name="PlaceHolder 1"/>
          <p:cNvSpPr>
            <a:spLocks noGrp="1"/>
          </p:cNvSpPr>
          <p:nvPr>
            <p:ph type="sldImg"/>
          </p:nvPr>
        </p:nvSpPr>
        <p:spPr>
          <a:xfrm>
            <a:off x="0" y="764280"/>
            <a:ext cx="0" cy="0"/>
          </a:xfrm>
          <a:prstGeom prst="rect">
            <a:avLst/>
          </a:prstGeom>
          <a:ln w="0">
            <a:noFill/>
          </a:ln>
        </p:spPr>
      </p:sp>
      <p:sp>
        <p:nvSpPr>
          <p:cNvPr id="1299"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the textbook's agent-environment diagram. Students should not think of AI as a one-shot prediction function. The agent repeatedly receives percepts and acts. This is why the complete percept sequence matters. Ask: what are the sensors and actuators for a spam filter? Sensors could be email text, sender, links; actuators could be labeling, moving, warning, or deleting. Source image: uploaded Chapter 2, Figure 2.1.</a:t>
            </a:r>
            <a:endParaRPr lang="en-US" sz="2000" b="0" u="none" strike="noStrike">
              <a:solidFill>
                <a:srgbClr val="000000"/>
              </a:solidFill>
              <a:effectLst/>
              <a:uFillTx/>
              <a:latin typeface="Arial"/>
            </a:endParaRPr>
          </a:p>
        </p:txBody>
      </p:sp>
      <p:sp>
        <p:nvSpPr>
          <p:cNvPr id="1300" name="PlaceHolder 3"/>
          <p:cNvSpPr>
            <a:spLocks noGrp="1"/>
          </p:cNvSpPr>
          <p:nvPr>
            <p:ph type="sldNum" idx="63"/>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F9D1048E-F878-44B7-A6E7-2EC44E9A3721}"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1" name="PlaceHolder 1"/>
          <p:cNvSpPr>
            <a:spLocks noGrp="1"/>
          </p:cNvSpPr>
          <p:nvPr>
            <p:ph type="sldImg"/>
          </p:nvPr>
        </p:nvSpPr>
        <p:spPr>
          <a:xfrm>
            <a:off x="0" y="764280"/>
            <a:ext cx="0" cy="0"/>
          </a:xfrm>
          <a:prstGeom prst="rect">
            <a:avLst/>
          </a:prstGeom>
          <a:ln w="0">
            <a:noFill/>
          </a:ln>
        </p:spPr>
      </p:sp>
      <p:sp>
        <p:nvSpPr>
          <p:cNvPr id="1302"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Give students 30 seconds to answer. The current percept alone does not tell whether other squares are dirty or whether the agent has already visited them. A reflex agent may move according to a fixed rule, but a model-based agent can use memory of the percept sequence. This slide prepares students to understand why Lab 01 compares reflex, model-based, and goal-based agents.</a:t>
            </a:r>
            <a:endParaRPr lang="en-US" sz="2000" b="0" u="none" strike="noStrike">
              <a:solidFill>
                <a:srgbClr val="000000"/>
              </a:solidFill>
              <a:effectLst/>
              <a:uFillTx/>
              <a:latin typeface="Arial"/>
            </a:endParaRPr>
          </a:p>
        </p:txBody>
      </p:sp>
      <p:sp>
        <p:nvSpPr>
          <p:cNvPr id="1303" name="PlaceHolder 3"/>
          <p:cNvSpPr>
            <a:spLocks noGrp="1"/>
          </p:cNvSpPr>
          <p:nvPr>
            <p:ph type="sldNum" idx="64"/>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EEA7DFAE-464B-4841-93F7-5ECA57C0BA57}"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4" name="PlaceHolder 1"/>
          <p:cNvSpPr>
            <a:spLocks noGrp="1"/>
          </p:cNvSpPr>
          <p:nvPr>
            <p:ph type="sldImg"/>
          </p:nvPr>
        </p:nvSpPr>
        <p:spPr>
          <a:xfrm>
            <a:off x="0" y="764280"/>
            <a:ext cx="0" cy="0"/>
          </a:xfrm>
          <a:prstGeom prst="rect">
            <a:avLst/>
          </a:prstGeom>
          <a:ln w="0">
            <a:noFill/>
          </a:ln>
        </p:spPr>
      </p:sp>
      <p:sp>
        <p:nvSpPr>
          <p:cNvPr id="1305"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Figure 2.2 and 2.3 from the chapter to show the difference. An agent function is a complete mapping from every possible percept history to an action. A program is how we implement that mapping compactly. This distinction matters because a lookup table is impossible for realistic agents. In Lab 01, the code students write is an agent program; the behavior it produces is part of the agent function. Source image: uploaded Chapter 2, Figures 2.2 and 2.3.</a:t>
            </a:r>
            <a:endParaRPr lang="en-US" sz="2000" b="0" u="none" strike="noStrike">
              <a:solidFill>
                <a:srgbClr val="000000"/>
              </a:solidFill>
              <a:effectLst/>
              <a:uFillTx/>
              <a:latin typeface="Arial"/>
            </a:endParaRPr>
          </a:p>
        </p:txBody>
      </p:sp>
      <p:sp>
        <p:nvSpPr>
          <p:cNvPr id="1306" name="PlaceHolder 3"/>
          <p:cNvSpPr>
            <a:spLocks noGrp="1"/>
          </p:cNvSpPr>
          <p:nvPr>
            <p:ph type="sldNum" idx="65"/>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1455E069-79AD-42E7-85A0-AFDEA118303A}"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7" name="PlaceHolder 1"/>
          <p:cNvSpPr>
            <a:spLocks noGrp="1"/>
          </p:cNvSpPr>
          <p:nvPr>
            <p:ph type="sldImg"/>
          </p:nvPr>
        </p:nvSpPr>
        <p:spPr>
          <a:xfrm>
            <a:off x="0" y="764280"/>
            <a:ext cx="0" cy="0"/>
          </a:xfrm>
          <a:prstGeom prst="rect">
            <a:avLst/>
          </a:prstGeom>
          <a:ln w="0">
            <a:noFill/>
          </a:ln>
        </p:spPr>
      </p:sp>
      <p:sp>
        <p:nvSpPr>
          <p:cNvPr id="1308"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Students sometimes underestimate toy worlds. Explain that a toy environment is useful because every piece of the agent loop is visible. We can change observability, stochastic dirt, action costs, or grid size and immediately see how the best design changes. Connect directly to Lab 01: the coding is a vehicle for understanding reflex, model-based, and goal-based behavior.</a:t>
            </a:r>
            <a:endParaRPr lang="en-US" sz="2000" b="0" u="none" strike="noStrike">
              <a:solidFill>
                <a:srgbClr val="000000"/>
              </a:solidFill>
              <a:effectLst/>
              <a:uFillTx/>
              <a:latin typeface="Arial"/>
            </a:endParaRPr>
          </a:p>
        </p:txBody>
      </p:sp>
      <p:sp>
        <p:nvSpPr>
          <p:cNvPr id="1309" name="PlaceHolder 3"/>
          <p:cNvSpPr>
            <a:spLocks noGrp="1"/>
          </p:cNvSpPr>
          <p:nvPr>
            <p:ph type="sldNum" idx="66"/>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866F9231-6271-4DEB-B6CF-10A579E59B92}"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0" name="PlaceHolder 1"/>
          <p:cNvSpPr>
            <a:spLocks noGrp="1"/>
          </p:cNvSpPr>
          <p:nvPr>
            <p:ph type="sldImg"/>
          </p:nvPr>
        </p:nvSpPr>
        <p:spPr>
          <a:xfrm>
            <a:off x="0" y="764280"/>
            <a:ext cx="0" cy="0"/>
          </a:xfrm>
          <a:prstGeom prst="rect">
            <a:avLst/>
          </a:prstGeom>
          <a:ln w="0">
            <a:noFill/>
          </a:ln>
        </p:spPr>
      </p:sp>
      <p:sp>
        <p:nvSpPr>
          <p:cNvPr id="1311"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turns the formal definition into a classroom checklist. For any proposed action, ask: What score are we maximizing? What has the agent perceived? What does it know before acting? What actions can it legally take? Use this to evaluate student examples and to avoid hindsight bias when judging an agent.</a:t>
            </a:r>
            <a:endParaRPr lang="en-US" sz="2000" b="0" u="none" strike="noStrike">
              <a:solidFill>
                <a:srgbClr val="000000"/>
              </a:solidFill>
              <a:effectLst/>
              <a:uFillTx/>
              <a:latin typeface="Arial"/>
            </a:endParaRPr>
          </a:p>
        </p:txBody>
      </p:sp>
      <p:sp>
        <p:nvSpPr>
          <p:cNvPr id="1312" name="PlaceHolder 3"/>
          <p:cNvSpPr>
            <a:spLocks noGrp="1"/>
          </p:cNvSpPr>
          <p:nvPr>
            <p:ph type="sldNum" idx="67"/>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F86156E7-348E-4DBA-88E8-1B8D08872674}"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3" name="PlaceHolder 1"/>
          <p:cNvSpPr>
            <a:spLocks noGrp="1"/>
          </p:cNvSpPr>
          <p:nvPr>
            <p:ph type="sldImg"/>
          </p:nvPr>
        </p:nvSpPr>
        <p:spPr>
          <a:xfrm>
            <a:off x="0" y="764280"/>
            <a:ext cx="0" cy="0"/>
          </a:xfrm>
          <a:prstGeom prst="rect">
            <a:avLst/>
          </a:prstGeom>
          <a:ln w="0">
            <a:noFill/>
          </a:ln>
        </p:spPr>
      </p:sp>
      <p:sp>
        <p:nvSpPr>
          <p:cNvPr id="1314"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the Chapter 2 street-crossing example. The point is to distinguish expected performance from actual hindsight. Rationality is not magic; it depends on percepts and feasible information gathering. Ask students: is it rational to look both ways? Yes, because information gathering can improve expected performance.</a:t>
            </a:r>
            <a:endParaRPr lang="en-US" sz="2000" b="0" u="none" strike="noStrike">
              <a:solidFill>
                <a:srgbClr val="000000"/>
              </a:solidFill>
              <a:effectLst/>
              <a:uFillTx/>
              <a:latin typeface="Arial"/>
            </a:endParaRPr>
          </a:p>
        </p:txBody>
      </p:sp>
      <p:sp>
        <p:nvSpPr>
          <p:cNvPr id="1315" name="PlaceHolder 3"/>
          <p:cNvSpPr>
            <a:spLocks noGrp="1"/>
          </p:cNvSpPr>
          <p:nvPr>
            <p:ph type="sldNum" idx="68"/>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998CDC11-26A6-494E-A916-64F300A65F3E}"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6" name="PlaceHolder 1"/>
          <p:cNvSpPr>
            <a:spLocks noGrp="1"/>
          </p:cNvSpPr>
          <p:nvPr>
            <p:ph type="sldImg"/>
          </p:nvPr>
        </p:nvSpPr>
        <p:spPr>
          <a:xfrm>
            <a:off x="0" y="764280"/>
            <a:ext cx="0" cy="0"/>
          </a:xfrm>
          <a:prstGeom prst="rect">
            <a:avLst/>
          </a:prstGeom>
          <a:ln w="0">
            <a:noFill/>
          </a:ln>
        </p:spPr>
      </p:sp>
      <p:sp>
        <p:nvSpPr>
          <p:cNvPr id="1317"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Explain autonomy as a spectrum. A completely hand-coded agent may work only when designer assumptions are correct. Learning allows the agent to adapt. The sphex wasp and dung beetle examples from Chapter 2 show what happens when fixed behavior fails. In Lab 01, a model-based agent becomes more autonomous than a simple reflex agent because it uses past percepts.</a:t>
            </a:r>
            <a:endParaRPr lang="en-US" sz="2000" b="0" u="none" strike="noStrike">
              <a:solidFill>
                <a:srgbClr val="000000"/>
              </a:solidFill>
              <a:effectLst/>
              <a:uFillTx/>
              <a:latin typeface="Arial"/>
            </a:endParaRPr>
          </a:p>
        </p:txBody>
      </p:sp>
      <p:sp>
        <p:nvSpPr>
          <p:cNvPr id="1318" name="PlaceHolder 3"/>
          <p:cNvSpPr>
            <a:spLocks noGrp="1"/>
          </p:cNvSpPr>
          <p:nvPr>
            <p:ph type="sldNum" idx="69"/>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0009F036-C5B2-4072-92AF-7075C88430B3}"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9" name="PlaceHolder 1"/>
          <p:cNvSpPr>
            <a:spLocks noGrp="1"/>
          </p:cNvSpPr>
          <p:nvPr>
            <p:ph type="sldImg"/>
          </p:nvPr>
        </p:nvSpPr>
        <p:spPr>
          <a:xfrm>
            <a:off x="0" y="764280"/>
            <a:ext cx="0" cy="0"/>
          </a:xfrm>
          <a:prstGeom prst="rect">
            <a:avLst/>
          </a:prstGeom>
          <a:ln w="0">
            <a:noFill/>
          </a:ln>
        </p:spPr>
      </p:sp>
      <p:sp>
        <p:nvSpPr>
          <p:cNvPr id="1320"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this slide to prepare for the lab. Students should be able to fill PEAS before writing code. Ask: What if the sensor cannot see location? What if suction sometimes fails? What if dirt appears randomly? Each change alters environment classification and may require a different agent architecture.</a:t>
            </a:r>
            <a:endParaRPr lang="en-US" sz="2000" b="0" u="none" strike="noStrike">
              <a:solidFill>
                <a:srgbClr val="000000"/>
              </a:solidFill>
              <a:effectLst/>
              <a:uFillTx/>
              <a:latin typeface="Arial"/>
            </a:endParaRPr>
          </a:p>
        </p:txBody>
      </p:sp>
      <p:sp>
        <p:nvSpPr>
          <p:cNvPr id="1321" name="PlaceHolder 3"/>
          <p:cNvSpPr>
            <a:spLocks noGrp="1"/>
          </p:cNvSpPr>
          <p:nvPr>
            <p:ph type="sldNum" idx="70"/>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6AAC3CA4-DB5D-414A-8315-05E53B096D50}"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2" name="PlaceHolder 1"/>
          <p:cNvSpPr>
            <a:spLocks noGrp="1"/>
          </p:cNvSpPr>
          <p:nvPr>
            <p:ph type="sldImg"/>
          </p:nvPr>
        </p:nvSpPr>
        <p:spPr>
          <a:xfrm>
            <a:off x="0" y="764280"/>
            <a:ext cx="0" cy="0"/>
          </a:xfrm>
          <a:prstGeom prst="rect">
            <a:avLst/>
          </a:prstGeom>
          <a:ln w="0">
            <a:noFill/>
          </a:ln>
        </p:spPr>
      </p:sp>
      <p:sp>
        <p:nvSpPr>
          <p:cNvPr id="1323"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Suggested activity: assign each row of the room a different system, or let students choose one. After two minutes, ask for one PEAS row at a time. Instructor answers: Spam filter sensors include email contents and metadata; actuators include labeling, quarantine, deletion; environment includes inbox and adversarial senders; performance includes blocking spam without blocking legitimate mail. Medical assistant: sensors include patient data; actions include recommendations; performance includes accuracy, safety, calibration, fairness, and clinician usability.</a:t>
            </a:r>
            <a:endParaRPr lang="en-US" sz="2000" b="0" u="none" strike="noStrike">
              <a:solidFill>
                <a:srgbClr val="000000"/>
              </a:solidFill>
              <a:effectLst/>
              <a:uFillTx/>
              <a:latin typeface="Arial"/>
            </a:endParaRPr>
          </a:p>
        </p:txBody>
      </p:sp>
      <p:sp>
        <p:nvSpPr>
          <p:cNvPr id="1324" name="PlaceHolder 3"/>
          <p:cNvSpPr>
            <a:spLocks noGrp="1"/>
          </p:cNvSpPr>
          <p:nvPr>
            <p:ph type="sldNum" idx="71"/>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091DCA70-B283-4529-8952-4E7849FF9193}"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5" name="PlaceHolder 1"/>
          <p:cNvSpPr>
            <a:spLocks noGrp="1"/>
          </p:cNvSpPr>
          <p:nvPr>
            <p:ph type="sldImg"/>
          </p:nvPr>
        </p:nvSpPr>
        <p:spPr>
          <a:xfrm>
            <a:off x="0" y="764280"/>
            <a:ext cx="0" cy="0"/>
          </a:xfrm>
          <a:prstGeom prst="rect">
            <a:avLst/>
          </a:prstGeom>
          <a:ln w="0">
            <a:noFill/>
          </a:ln>
        </p:spPr>
      </p:sp>
      <p:sp>
        <p:nvSpPr>
          <p:cNvPr id="1326"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summarizes Section 2.3. The right side of each pair usually forces more sophisticated agents: memory, probability, planning, game theory, online learning, or control. Source image/table: uploaded Chapter 2, Figure 2.6. Ask students to classify chess, poker, taxi driving, and the vacuum world. Use the answers to preview later chapters.</a:t>
            </a:r>
            <a:endParaRPr lang="en-US" sz="2000" b="0" u="none" strike="noStrike">
              <a:solidFill>
                <a:srgbClr val="000000"/>
              </a:solidFill>
              <a:effectLst/>
              <a:uFillTx/>
              <a:latin typeface="Arial"/>
            </a:endParaRPr>
          </a:p>
        </p:txBody>
      </p:sp>
      <p:sp>
        <p:nvSpPr>
          <p:cNvPr id="1327" name="PlaceHolder 3"/>
          <p:cNvSpPr>
            <a:spLocks noGrp="1"/>
          </p:cNvSpPr>
          <p:nvPr>
            <p:ph type="sldNum" idx="72"/>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513D9B93-D5A2-4327-B786-A343A41A009D}"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8" name="PlaceHolder 1"/>
          <p:cNvSpPr>
            <a:spLocks noGrp="1"/>
          </p:cNvSpPr>
          <p:nvPr>
            <p:ph type="sldImg"/>
          </p:nvPr>
        </p:nvSpPr>
        <p:spPr>
          <a:xfrm>
            <a:off x="0" y="764280"/>
            <a:ext cx="0" cy="0"/>
          </a:xfrm>
          <a:prstGeom prst="rect">
            <a:avLst/>
          </a:prstGeom>
          <a:ln w="0">
            <a:noFill/>
          </a:ln>
        </p:spPr>
      </p:sp>
      <p:sp>
        <p:nvSpPr>
          <p:cNvPr id="1329"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this slide as a quick quiz. Ask students to classify each example before revealing or discussing the text. Important nuance: classification depends on how the task is formulated. For example, a vacuum world with only local dirt sensors is partially observable; a simulator that gives the full grid is fully observable. This nuance is important for the lab.</a:t>
            </a:r>
            <a:endParaRPr lang="en-US" sz="2000" b="0" u="none" strike="noStrike">
              <a:solidFill>
                <a:srgbClr val="000000"/>
              </a:solidFill>
              <a:effectLst/>
              <a:uFillTx/>
              <a:latin typeface="Arial"/>
            </a:endParaRPr>
          </a:p>
        </p:txBody>
      </p:sp>
      <p:sp>
        <p:nvSpPr>
          <p:cNvPr id="1330" name="PlaceHolder 3"/>
          <p:cNvSpPr>
            <a:spLocks noGrp="1"/>
          </p:cNvSpPr>
          <p:nvPr>
            <p:ph type="sldNum" idx="73"/>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248ADCAE-2DEA-4C62-B3CC-F07991327F2D}"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1" name="PlaceHolder 1"/>
          <p:cNvSpPr>
            <a:spLocks noGrp="1"/>
          </p:cNvSpPr>
          <p:nvPr>
            <p:ph type="sldImg"/>
          </p:nvPr>
        </p:nvSpPr>
        <p:spPr>
          <a:xfrm>
            <a:off x="0" y="764280"/>
            <a:ext cx="0" cy="0"/>
          </a:xfrm>
          <a:prstGeom prst="rect">
            <a:avLst/>
          </a:prstGeom>
          <a:ln w="0">
            <a:noFill/>
          </a:ln>
        </p:spPr>
      </p:sp>
      <p:sp>
        <p:nvSpPr>
          <p:cNvPr id="1332"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gives students a reason to care about classification. Environment properties are not vocabulary for vocabulary's sake. They guide algorithm choice. If the world is deterministic and known, search may work. If it is stochastic, use probability. If it is multiagent, use game theory. If it is partially observable, maintain beliefs or gather information.</a:t>
            </a:r>
            <a:endParaRPr lang="en-US" sz="2000" b="0" u="none" strike="noStrike">
              <a:solidFill>
                <a:srgbClr val="000000"/>
              </a:solidFill>
              <a:effectLst/>
              <a:uFillTx/>
              <a:latin typeface="Arial"/>
            </a:endParaRPr>
          </a:p>
        </p:txBody>
      </p:sp>
      <p:sp>
        <p:nvSpPr>
          <p:cNvPr id="1333" name="PlaceHolder 3"/>
          <p:cNvSpPr>
            <a:spLocks noGrp="1"/>
          </p:cNvSpPr>
          <p:nvPr>
            <p:ph type="sldNum" idx="74"/>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6D53399D-C5C0-41F6-9280-904F8DC0AC5B}"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4" name="PlaceHolder 1"/>
          <p:cNvSpPr>
            <a:spLocks noGrp="1"/>
          </p:cNvSpPr>
          <p:nvPr>
            <p:ph type="sldImg"/>
          </p:nvPr>
        </p:nvSpPr>
        <p:spPr>
          <a:xfrm>
            <a:off x="0" y="764280"/>
            <a:ext cx="0" cy="0"/>
          </a:xfrm>
          <a:prstGeom prst="rect">
            <a:avLst/>
          </a:prstGeom>
          <a:ln w="0">
            <a:noFill/>
          </a:ln>
        </p:spPr>
      </p:sp>
      <p:sp>
        <p:nvSpPr>
          <p:cNvPr id="1335"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Suggested answers: Thermostat = simple reflex because current temperature drives a rule. Robot vacuum mapping a house = model-based because it tracks visited places and obstacles. Route planner = goal-based because it searches for a path to a destination. Self-driving car = utility-based because it trades off safety, legality, comfort, time, and uncertainty. Game-playing agent improving from experience = learning agent. Point out that real systems often combine architectures.</a:t>
            </a:r>
            <a:endParaRPr lang="en-US" sz="2000" b="0" u="none" strike="noStrike">
              <a:solidFill>
                <a:srgbClr val="000000"/>
              </a:solidFill>
              <a:effectLst/>
              <a:uFillTx/>
              <a:latin typeface="Arial"/>
            </a:endParaRPr>
          </a:p>
        </p:txBody>
      </p:sp>
      <p:sp>
        <p:nvSpPr>
          <p:cNvPr id="1336" name="PlaceHolder 3"/>
          <p:cNvSpPr>
            <a:spLocks noGrp="1"/>
          </p:cNvSpPr>
          <p:nvPr>
            <p:ph type="sldNum" idx="75"/>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4E2B402D-1A5B-4AB5-A4A0-D0B905E9E2A3}"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7" name="PlaceHolder 1"/>
          <p:cNvSpPr>
            <a:spLocks noGrp="1"/>
          </p:cNvSpPr>
          <p:nvPr>
            <p:ph type="sldImg"/>
          </p:nvPr>
        </p:nvSpPr>
        <p:spPr>
          <a:xfrm>
            <a:off x="0" y="764280"/>
            <a:ext cx="0" cy="0"/>
          </a:xfrm>
          <a:prstGeom prst="rect">
            <a:avLst/>
          </a:prstGeom>
          <a:ln w="0">
            <a:noFill/>
          </a:ln>
        </p:spPr>
      </p:sp>
      <p:sp>
        <p:nvSpPr>
          <p:cNvPr id="1338"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aligns the lecture with the provided Lab 01 teacher notes. Emphasize that the code is a vehicle for conceptual understanding. A correct reflex agent should not store visited cells. A model-based agent should maintain an internal model. A goal-based agent should use a search procedure such as BFS. Reference: uploaded COMP469_Lab01_Teacher_Notes.md.</a:t>
            </a:r>
            <a:endParaRPr lang="en-US" sz="2000" b="0" u="none" strike="noStrike">
              <a:solidFill>
                <a:srgbClr val="000000"/>
              </a:solidFill>
              <a:effectLst/>
              <a:uFillTx/>
              <a:latin typeface="Arial"/>
            </a:endParaRPr>
          </a:p>
        </p:txBody>
      </p:sp>
      <p:sp>
        <p:nvSpPr>
          <p:cNvPr id="1339" name="PlaceHolder 3"/>
          <p:cNvSpPr>
            <a:spLocks noGrp="1"/>
          </p:cNvSpPr>
          <p:nvPr>
            <p:ph type="sldNum" idx="76"/>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4C1C25C7-B0BE-4337-ABAF-CDC3B458BCC1}"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0" name="PlaceHolder 1"/>
          <p:cNvSpPr>
            <a:spLocks noGrp="1"/>
          </p:cNvSpPr>
          <p:nvPr>
            <p:ph type="sldImg"/>
          </p:nvPr>
        </p:nvSpPr>
        <p:spPr>
          <a:xfrm>
            <a:off x="0" y="764280"/>
            <a:ext cx="0" cy="0"/>
          </a:xfrm>
          <a:prstGeom prst="rect">
            <a:avLst/>
          </a:prstGeom>
          <a:ln w="0">
            <a:noFill/>
          </a:ln>
        </p:spPr>
      </p:sp>
      <p:sp>
        <p:nvSpPr>
          <p:cNvPr id="1341"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Instructor guidance from the Lab 01 notes: students often put a visited set in the reflex agent, which makes it model-based. They may confuse the agent's internal model with the simulator's ground truth. They may optimize dirt collected rather than clean floor over time. They may cache a BFS path even when the world changes. Use these mistakes as formative feedback opportunities.</a:t>
            </a:r>
            <a:endParaRPr lang="en-US" sz="2000" b="0" u="none" strike="noStrike">
              <a:solidFill>
                <a:srgbClr val="000000"/>
              </a:solidFill>
              <a:effectLst/>
              <a:uFillTx/>
              <a:latin typeface="Arial"/>
            </a:endParaRPr>
          </a:p>
        </p:txBody>
      </p:sp>
      <p:sp>
        <p:nvSpPr>
          <p:cNvPr id="1342" name="PlaceHolder 3"/>
          <p:cNvSpPr>
            <a:spLocks noGrp="1"/>
          </p:cNvSpPr>
          <p:nvPr>
            <p:ph type="sldNum" idx="77"/>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3749F482-0B90-4F02-862B-05B46C3F3F91}"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3" name="PlaceHolder 1"/>
          <p:cNvSpPr>
            <a:spLocks noGrp="1"/>
          </p:cNvSpPr>
          <p:nvPr>
            <p:ph type="sldImg"/>
          </p:nvPr>
        </p:nvSpPr>
        <p:spPr>
          <a:xfrm>
            <a:off x="0" y="764280"/>
            <a:ext cx="0" cy="0"/>
          </a:xfrm>
          <a:prstGeom prst="rect">
            <a:avLst/>
          </a:prstGeom>
          <a:ln w="0">
            <a:noFill/>
          </a:ln>
        </p:spPr>
      </p:sp>
      <p:sp>
        <p:nvSpPr>
          <p:cNvPr id="1344"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this near the end to consolidate. AI is not a grab bag of techniques; the textbook's organizing idea is rational agents. To design one, specify PEAS, classify the environment, choose an architecture, and choose a representation. Later algorithms are tools for implementing pieces of this concept map.</a:t>
            </a:r>
            <a:endParaRPr lang="en-US" sz="2000" b="0" u="none" strike="noStrike">
              <a:solidFill>
                <a:srgbClr val="000000"/>
              </a:solidFill>
              <a:effectLst/>
              <a:uFillTx/>
              <a:latin typeface="Arial"/>
            </a:endParaRPr>
          </a:p>
        </p:txBody>
      </p:sp>
      <p:sp>
        <p:nvSpPr>
          <p:cNvPr id="1345" name="PlaceHolder 3"/>
          <p:cNvSpPr>
            <a:spLocks noGrp="1"/>
          </p:cNvSpPr>
          <p:nvPr>
            <p:ph type="sldNum" idx="78"/>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F18F2CF5-C57D-4F6B-BFF7-42C72B636A19}"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6" name="PlaceHolder 1"/>
          <p:cNvSpPr>
            <a:spLocks noGrp="1"/>
          </p:cNvSpPr>
          <p:nvPr>
            <p:ph type="sldImg"/>
          </p:nvPr>
        </p:nvSpPr>
        <p:spPr>
          <a:xfrm>
            <a:off x="0" y="764280"/>
            <a:ext cx="0" cy="0"/>
          </a:xfrm>
          <a:prstGeom prst="rect">
            <a:avLst/>
          </a:prstGeom>
          <a:ln w="0">
            <a:noFill/>
          </a:ln>
        </p:spPr>
      </p:sp>
      <p:sp>
        <p:nvSpPr>
          <p:cNvPr id="1347"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Answers: 1. Acting humanly, thinking humanly, thinking rationally, acting rationally. 2. The number of possible percept sequences is enormous or infinite, so a complete table does not scale. 3. Performance measure, Environment, Actuators, Sensors. 4. A taxi cannot see what other drivers are thinking; a vacuum with only a local dirt sensor cannot know whether distant squares are dirty; poker players cannot see opponents' cards. 5. Utilities are useful when there are tradeoffs, conflicting goals, preferences among outcomes, or uncertainty about success.</a:t>
            </a:r>
            <a:endParaRPr lang="en-US" sz="2000" b="0" u="none" strike="noStrike">
              <a:solidFill>
                <a:srgbClr val="000000"/>
              </a:solidFill>
              <a:effectLst/>
              <a:uFillTx/>
              <a:latin typeface="Arial"/>
            </a:endParaRPr>
          </a:p>
        </p:txBody>
      </p:sp>
      <p:sp>
        <p:nvSpPr>
          <p:cNvPr id="1348" name="PlaceHolder 3"/>
          <p:cNvSpPr>
            <a:spLocks noGrp="1"/>
          </p:cNvSpPr>
          <p:nvPr>
            <p:ph type="sldNum" idx="79"/>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239013F0-BAE4-4522-AE4F-9B624234C5D7}"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9" name="PlaceHolder 1"/>
          <p:cNvSpPr>
            <a:spLocks noGrp="1"/>
          </p:cNvSpPr>
          <p:nvPr>
            <p:ph type="sldImg"/>
          </p:nvPr>
        </p:nvSpPr>
        <p:spPr>
          <a:xfrm>
            <a:off x="0" y="764280"/>
            <a:ext cx="0" cy="0"/>
          </a:xfrm>
          <a:prstGeom prst="rect">
            <a:avLst/>
          </a:prstGeom>
          <a:ln w="0">
            <a:noFill/>
          </a:ln>
        </p:spPr>
      </p:sp>
      <p:sp>
        <p:nvSpPr>
          <p:cNvPr id="1350"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helps students apply Chapters 1 and 2 outside class. When they see a headline about AI, they can ask these questions instead of reacting vaguely. The same checklist works for chatbots, medical tools, recommender systems, robots, and autonomous vehicles. It also provides a framework for student presentations or short written reflections.</a:t>
            </a:r>
            <a:endParaRPr lang="en-US" sz="2000" b="0" u="none" strike="noStrike">
              <a:solidFill>
                <a:srgbClr val="000000"/>
              </a:solidFill>
              <a:effectLst/>
              <a:uFillTx/>
              <a:latin typeface="Arial"/>
            </a:endParaRPr>
          </a:p>
        </p:txBody>
      </p:sp>
      <p:sp>
        <p:nvSpPr>
          <p:cNvPr id="1351" name="PlaceHolder 3"/>
          <p:cNvSpPr>
            <a:spLocks noGrp="1"/>
          </p:cNvSpPr>
          <p:nvPr>
            <p:ph type="sldNum" idx="80"/>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08A4824B-C357-419F-A08F-84C00DB880CE}"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2" name="PlaceHolder 1"/>
          <p:cNvSpPr>
            <a:spLocks noGrp="1"/>
          </p:cNvSpPr>
          <p:nvPr>
            <p:ph type="sldImg"/>
          </p:nvPr>
        </p:nvSpPr>
        <p:spPr>
          <a:xfrm>
            <a:off x="0" y="764280"/>
            <a:ext cx="0" cy="0"/>
          </a:xfrm>
          <a:prstGeom prst="rect">
            <a:avLst/>
          </a:prstGeom>
          <a:ln w="0">
            <a:noFill/>
          </a:ln>
        </p:spPr>
      </p:sp>
      <p:sp>
        <p:nvSpPr>
          <p:cNvPr id="1353"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These are the visible URL references for the lecture deck. AIMA is the primary textbook reference. Turing is the original imitation-game paper. Dartmouth gives the historical origin of the term artificial intelligence. IBM and DeepMind provide historical examples. NIST provides a practical risk-management framework. Use these in the syllabus or LMS if desired.</a:t>
            </a:r>
            <a:endParaRPr lang="en-US" sz="2000" b="0" u="none" strike="noStrike">
              <a:solidFill>
                <a:srgbClr val="000000"/>
              </a:solidFill>
              <a:effectLst/>
              <a:uFillTx/>
              <a:latin typeface="Arial"/>
            </a:endParaRPr>
          </a:p>
        </p:txBody>
      </p:sp>
      <p:sp>
        <p:nvSpPr>
          <p:cNvPr id="1354" name="PlaceHolder 3"/>
          <p:cNvSpPr>
            <a:spLocks noGrp="1"/>
          </p:cNvSpPr>
          <p:nvPr>
            <p:ph type="sldNum" idx="81"/>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78D09636-474D-4488-B7A0-9176A9A3E090}"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5" name="PlaceHolder 1"/>
          <p:cNvSpPr>
            <a:spLocks noGrp="1"/>
          </p:cNvSpPr>
          <p:nvPr>
            <p:ph type="sldImg"/>
          </p:nvPr>
        </p:nvSpPr>
        <p:spPr>
          <a:xfrm>
            <a:off x="0" y="764280"/>
            <a:ext cx="0" cy="0"/>
          </a:xfrm>
          <a:prstGeom prst="rect">
            <a:avLst/>
          </a:prstGeom>
          <a:ln w="0">
            <a:noFill/>
          </a:ln>
        </p:spPr>
      </p:sp>
      <p:sp>
        <p:nvSpPr>
          <p:cNvPr id="1356"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provides additional source URLs and image credits. Images extracted from Chapter_1.docx and Chapter_2.docx are treated as course materials provided by the instructor. The Shakey photo is embedded in the deck and credited here and in the speaker notes for the Shakey slide.</a:t>
            </a:r>
            <a:endParaRPr lang="en-US" sz="2000" b="0" u="none" strike="noStrike">
              <a:solidFill>
                <a:srgbClr val="000000"/>
              </a:solidFill>
              <a:effectLst/>
              <a:uFillTx/>
              <a:latin typeface="Arial"/>
            </a:endParaRPr>
          </a:p>
        </p:txBody>
      </p:sp>
      <p:sp>
        <p:nvSpPr>
          <p:cNvPr id="1357" name="PlaceHolder 3"/>
          <p:cNvSpPr>
            <a:spLocks noGrp="1"/>
          </p:cNvSpPr>
          <p:nvPr>
            <p:ph type="sldNum" idx="82"/>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F7CD8D19-D11F-4A37-8BEB-27037F3EB092}"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8" name="PlaceHolder 1"/>
          <p:cNvSpPr>
            <a:spLocks noGrp="1"/>
          </p:cNvSpPr>
          <p:nvPr>
            <p:ph type="sldImg"/>
          </p:nvPr>
        </p:nvSpPr>
        <p:spPr>
          <a:xfrm>
            <a:off x="0" y="764280"/>
            <a:ext cx="0" cy="0"/>
          </a:xfrm>
          <a:prstGeom prst="rect">
            <a:avLst/>
          </a:prstGeom>
          <a:ln w="0">
            <a:noFill/>
          </a:ln>
        </p:spPr>
      </p:sp>
      <p:sp>
        <p:nvSpPr>
          <p:cNvPr id="1359"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Close by asking students to explain how Chapter 2 leads into Chapter 3. A problem-solving agent has a goal, a state representation, actions, and a search algorithm to choose a path. Remind them that every algorithm later in the course sits inside an agent that perceives and acts in an environment.</a:t>
            </a:r>
            <a:endParaRPr lang="en-US" sz="2000" b="0" u="none" strike="noStrike">
              <a:solidFill>
                <a:srgbClr val="000000"/>
              </a:solidFill>
              <a:effectLst/>
              <a:uFillTx/>
              <a:latin typeface="Arial"/>
            </a:endParaRPr>
          </a:p>
        </p:txBody>
      </p:sp>
      <p:sp>
        <p:nvSpPr>
          <p:cNvPr id="1360" name="PlaceHolder 3"/>
          <p:cNvSpPr>
            <a:spLocks noGrp="1"/>
          </p:cNvSpPr>
          <p:nvPr>
            <p:ph type="sldNum" idx="83"/>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6EFE0EDC-187D-4EBF-8148-FE0CC52D41A3}"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496800"/>
            <a:ext cx="8227080" cy="274680"/>
          </a:xfrm>
          <a:prstGeom prst="rect">
            <a:avLst/>
          </a:prstGeom>
          <a:noFill/>
          <a:ln w="0">
            <a:noFill/>
          </a:ln>
        </p:spPr>
        <p:txBody>
          <a:bodyPr lIns="0" tIns="0" rIns="0" bIns="0" anchor="ctr">
            <a:spAutoFit/>
          </a:bodyPr>
          <a:lstStyle>
            <a:lvl1pPr indent="0" algn="l">
              <a:lnSpc>
                <a:spcPct val="100000"/>
              </a:lnSpc>
              <a:buNone/>
              <a:tabLst>
                <a:tab pos="0" algn="l"/>
              </a:tabLst>
              <a:defRPr lang="en-US" sz="1800" b="0" u="none" strike="noStrike">
                <a:solidFill>
                  <a:schemeClr val="dk1"/>
                </a:solidFill>
                <a:effectLst/>
                <a:uFillTx/>
                <a:latin typeface="Calibri"/>
              </a:defRPr>
            </a:lvl1pPr>
          </a:lstStyle>
          <a:p>
            <a:pPr indent="0" algn="l">
              <a:lnSpc>
                <a:spcPct val="100000"/>
              </a:lnSpc>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457200" y="1203480"/>
            <a:ext cx="8228160" cy="29818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7440" cy="856800"/>
          </a:xfrm>
          <a:prstGeom prst="rect">
            <a:avLst/>
          </a:prstGeom>
          <a:noFill/>
          <a:ln w="0">
            <a:noFill/>
          </a:ln>
        </p:spPr>
        <p:txBody>
          <a:bodyPr lIns="0" tIns="0" rIns="0" bIns="0" anchor="ctr">
            <a:noAutofit/>
          </a:bodyPr>
          <a:lstStyle>
            <a:lvl1pPr indent="0" algn="l">
              <a:lnSpc>
                <a:spcPct val="100000"/>
              </a:lnSpc>
              <a:buNone/>
              <a:tabLst>
                <a:tab pos="0" algn="l"/>
              </a:tabLst>
              <a:defRPr lang="en-US" sz="1800" b="0" u="none" strike="noStrike">
                <a:solidFill>
                  <a:schemeClr val="dk1"/>
                </a:solidFill>
                <a:effectLst/>
                <a:uFillTx/>
                <a:latin typeface="Calibri"/>
              </a:defRPr>
            </a:lvl1pPr>
          </a:lstStyle>
          <a:p>
            <a:pPr indent="0" algn="l">
              <a:lnSpc>
                <a:spcPct val="100000"/>
              </a:lnSpc>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457200" y="1203480"/>
            <a:ext cx="8227440" cy="298116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bg>
      <p:bgPr>
        <a:solidFill>
          <a:srgbClr val="F7F8FA"/>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bg>
      <p:bgPr>
        <a:solidFill>
          <a:srgbClr val="F7F8FA"/>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531360"/>
            <a:ext cx="8227080" cy="205920"/>
          </a:xfrm>
          <a:prstGeom prst="rect">
            <a:avLst/>
          </a:prstGeom>
          <a:noFill/>
          <a:ln w="0">
            <a:noFill/>
          </a:ln>
        </p:spPr>
        <p:txBody>
          <a:bodyPr lIns="0" tIns="0" rIns="0" bIns="0" anchor="ctr">
            <a:spAutoFit/>
          </a:bodyPr>
          <a:lstStyle>
            <a:lvl1pPr indent="0" algn="l">
              <a:lnSpc>
                <a:spcPct val="100000"/>
              </a:lnSpc>
              <a:buNone/>
              <a:tabLst>
                <a:tab pos="0" algn="l"/>
              </a:tabLst>
              <a:defRPr lang="en-US" sz="1350" b="0" u="none" strike="noStrike">
                <a:solidFill>
                  <a:schemeClr val="dk1"/>
                </a:solidFill>
                <a:effectLst/>
                <a:uFillTx/>
                <a:latin typeface="Aptos"/>
              </a:defRPr>
            </a:lvl1pPr>
          </a:lstStyle>
          <a:p>
            <a:pPr indent="0" algn="l">
              <a:lnSpc>
                <a:spcPct val="100000"/>
              </a:lnSpc>
              <a:buNone/>
              <a:tabLst>
                <a:tab pos="0" algn="l"/>
              </a:tabLst>
            </a:pPr>
            <a:r>
              <a:rPr lang="en-US" sz="1350" b="0" u="none" strike="noStrike">
                <a:solidFill>
                  <a:schemeClr val="dk1"/>
                </a:solidFill>
                <a:effectLst/>
                <a:uFillTx/>
                <a:latin typeface="Aptos"/>
              </a:rPr>
              <a:t>Click to edit the title text format</a:t>
            </a:r>
            <a:endParaRPr lang="en-US" sz="1350" b="0" u="none" strike="noStrike">
              <a:solidFill>
                <a:schemeClr val="dk1"/>
              </a:solidFill>
              <a:effectLst/>
              <a:uFillTx/>
              <a:latin typeface="Aptos"/>
            </a:endParaRPr>
          </a:p>
        </p:txBody>
      </p:sp>
      <p:sp>
        <p:nvSpPr>
          <p:cNvPr id="7" name="PlaceHolder 2"/>
          <p:cNvSpPr>
            <a:spLocks noGrp="1"/>
          </p:cNvSpPr>
          <p:nvPr>
            <p:ph type="body"/>
          </p:nvPr>
        </p:nvSpPr>
        <p:spPr>
          <a:xfrm>
            <a:off x="457200" y="1203480"/>
            <a:ext cx="8227440" cy="2981160"/>
          </a:xfrm>
          <a:prstGeom prst="rect">
            <a:avLst/>
          </a:prstGeom>
          <a:noFill/>
          <a:ln w="0">
            <a:noFill/>
          </a:ln>
        </p:spPr>
        <p:txBody>
          <a:bodyPr lIns="0" tIns="0" rIns="0" bIns="0" anchor="t">
            <a:normAutofit/>
          </a:bodyPr>
          <a:lstStyle>
            <a:lvl1pPr algn="l">
              <a:lnSpc>
                <a:spcPct val="100000"/>
              </a:lnSpc>
              <a:spcBef>
                <a:spcPts val="1060"/>
              </a:spcBef>
              <a:buClr>
                <a:srgbClr val="000000"/>
              </a:buClr>
              <a:buSzPct val="45000"/>
              <a:buFont typeface="Wingdings" charset="2"/>
              <a:buChar char=""/>
              <a:defRPr lang="en-US" sz="2400" b="0" u="none" strike="noStrike">
                <a:solidFill>
                  <a:schemeClr val="dk1"/>
                </a:solidFill>
                <a:effectLst/>
                <a:uFillTx/>
                <a:latin typeface="Aptos"/>
              </a:defRPr>
            </a:lvl1pPr>
            <a:lvl2pPr lvl="1" algn="l">
              <a:lnSpc>
                <a:spcPct val="100000"/>
              </a:lnSpc>
              <a:spcBef>
                <a:spcPts val="848"/>
              </a:spcBef>
              <a:buClr>
                <a:srgbClr val="000000"/>
              </a:buClr>
              <a:buSzPct val="75000"/>
              <a:buFont typeface="Symbol" charset="2"/>
              <a:buChar char=""/>
              <a:defRPr lang="en-US" sz="1800" b="0" u="none" strike="noStrike">
                <a:solidFill>
                  <a:schemeClr val="dk1"/>
                </a:solidFill>
                <a:effectLst/>
                <a:uFillTx/>
                <a:latin typeface="Aptos"/>
              </a:defRPr>
            </a:lvl2pPr>
            <a:lvl3pPr lvl="2" algn="l">
              <a:lnSpc>
                <a:spcPct val="100000"/>
              </a:lnSpc>
              <a:spcBef>
                <a:spcPts val="635"/>
              </a:spcBef>
              <a:buClr>
                <a:srgbClr val="000000"/>
              </a:buClr>
              <a:buSzPct val="45000"/>
              <a:buFont typeface="Wingdings" charset="2"/>
              <a:buChar char=""/>
              <a:defRPr lang="en-US" sz="1500" b="0" u="none" strike="noStrike">
                <a:solidFill>
                  <a:schemeClr val="dk1"/>
                </a:solidFill>
                <a:effectLst/>
                <a:uFillTx/>
                <a:latin typeface="Aptos"/>
              </a:defRPr>
            </a:lvl3pPr>
            <a:lvl4pPr lvl="3" algn="l">
              <a:lnSpc>
                <a:spcPct val="100000"/>
              </a:lnSpc>
              <a:spcBef>
                <a:spcPts val="422"/>
              </a:spcBef>
              <a:buClr>
                <a:srgbClr val="000000"/>
              </a:buClr>
              <a:buSzPct val="75000"/>
              <a:buFont typeface="Symbol" charset="2"/>
              <a:buChar char=""/>
              <a:defRPr lang="en-US" sz="1500" b="0" u="none" strike="noStrike">
                <a:solidFill>
                  <a:schemeClr val="dk1"/>
                </a:solidFill>
                <a:effectLst/>
                <a:uFillTx/>
                <a:latin typeface="Aptos"/>
              </a:defRPr>
            </a:lvl4pPr>
            <a:lvl5pPr lvl="4" algn="l">
              <a:lnSpc>
                <a:spcPct val="100000"/>
              </a:lnSpc>
              <a:spcBef>
                <a:spcPts val="210"/>
              </a:spcBef>
              <a:buClr>
                <a:srgbClr val="000000"/>
              </a:buClr>
              <a:buSzPct val="45000"/>
              <a:buFont typeface="Wingdings" charset="2"/>
              <a:buChar char=""/>
              <a:defRPr lang="en-US" sz="1500" b="0" u="none" strike="noStrike">
                <a:solidFill>
                  <a:schemeClr val="dk1"/>
                </a:solidFill>
                <a:effectLst/>
                <a:uFillTx/>
                <a:latin typeface="Aptos"/>
              </a:defRPr>
            </a:lvl5pPr>
            <a:lvl6pPr lvl="5" algn="l">
              <a:lnSpc>
                <a:spcPct val="100000"/>
              </a:lnSpc>
              <a:spcBef>
                <a:spcPts val="210"/>
              </a:spcBef>
              <a:buClr>
                <a:srgbClr val="000000"/>
              </a:buClr>
              <a:buSzPct val="45000"/>
              <a:buFont typeface="Wingdings" charset="2"/>
              <a:buChar char=""/>
              <a:defRPr lang="en-US" sz="1500" b="0" u="none" strike="noStrike">
                <a:solidFill>
                  <a:schemeClr val="dk1"/>
                </a:solidFill>
                <a:effectLst/>
                <a:uFillTx/>
                <a:latin typeface="Aptos"/>
              </a:defRPr>
            </a:lvl6pPr>
            <a:lvl7pPr lvl="6" algn="l">
              <a:lnSpc>
                <a:spcPct val="100000"/>
              </a:lnSpc>
              <a:spcBef>
                <a:spcPts val="210"/>
              </a:spcBef>
              <a:buClr>
                <a:srgbClr val="000000"/>
              </a:buClr>
              <a:buSzPct val="45000"/>
              <a:buFont typeface="Wingdings" charset="2"/>
              <a:buChar char=""/>
              <a:defRPr lang="en-US" sz="1500" b="0" u="none" strike="noStrike">
                <a:solidFill>
                  <a:schemeClr val="dk1"/>
                </a:solidFill>
                <a:effectLst/>
                <a:uFillTx/>
                <a:latin typeface="Aptos"/>
              </a:defRPr>
            </a:lvl7pPr>
          </a:lstStyle>
          <a:p>
            <a:pPr marL="432000" indent="-324000" algn="l">
              <a:lnSpc>
                <a:spcPct val="100000"/>
              </a:lnSpc>
              <a:spcBef>
                <a:spcPts val="1060"/>
              </a:spcBef>
              <a:buClr>
                <a:srgbClr val="000000"/>
              </a:buClr>
              <a:buSzPct val="45000"/>
              <a:buFont typeface="Wingdings" charset="2"/>
              <a:buChar char=""/>
            </a:pPr>
            <a:r>
              <a:rPr lang="en-US" sz="2400" b="0" u="none" strike="noStrike">
                <a:solidFill>
                  <a:schemeClr val="dk1"/>
                </a:solidFill>
                <a:effectLst/>
                <a:uFillTx/>
                <a:latin typeface="Aptos"/>
              </a:rPr>
              <a:t>Click to edit the outline text format</a:t>
            </a:r>
            <a:endParaRPr lang="en-US" sz="2400" b="0" u="none" strike="noStrike">
              <a:solidFill>
                <a:schemeClr val="dk1"/>
              </a:solidFill>
              <a:effectLst/>
              <a:uFillTx/>
              <a:latin typeface="Aptos"/>
            </a:endParaRPr>
          </a:p>
          <a:p>
            <a:pPr marL="864000" lvl="1" indent="-324000" algn="l">
              <a:lnSpc>
                <a:spcPct val="100000"/>
              </a:lnSpc>
              <a:spcBef>
                <a:spcPts val="848"/>
              </a:spcBef>
              <a:buClr>
                <a:srgbClr val="000000"/>
              </a:buClr>
              <a:buSzPct val="75000"/>
              <a:buFont typeface="Symbol" charset="2"/>
              <a:buChar char=""/>
            </a:pPr>
            <a:r>
              <a:rPr lang="en-US" sz="1800" b="0" u="none" strike="noStrike">
                <a:solidFill>
                  <a:schemeClr val="dk1"/>
                </a:solidFill>
                <a:effectLst/>
                <a:uFillTx/>
                <a:latin typeface="Aptos"/>
              </a:rPr>
              <a:t>Second Outline Level</a:t>
            </a:r>
            <a:endParaRPr lang="en-US" sz="1800" b="0" u="none" strike="noStrike">
              <a:solidFill>
                <a:schemeClr val="dk1"/>
              </a:solidFill>
              <a:effectLst/>
              <a:uFillTx/>
              <a:latin typeface="Aptos"/>
            </a:endParaRPr>
          </a:p>
          <a:p>
            <a:pPr marL="1296000" lvl="2" indent="-288000" algn="l">
              <a:lnSpc>
                <a:spcPct val="100000"/>
              </a:lnSpc>
              <a:spcBef>
                <a:spcPts val="635"/>
              </a:spcBef>
              <a:buClr>
                <a:srgbClr val="000000"/>
              </a:buClr>
              <a:buSzPct val="45000"/>
              <a:buFont typeface="Wingdings" charset="2"/>
              <a:buChar char=""/>
            </a:pPr>
            <a:r>
              <a:rPr lang="en-US" sz="1500" b="0" u="none" strike="noStrike">
                <a:solidFill>
                  <a:schemeClr val="dk1"/>
                </a:solidFill>
                <a:effectLst/>
                <a:uFillTx/>
                <a:latin typeface="Aptos"/>
              </a:rPr>
              <a:t>Third Outline Level</a:t>
            </a:r>
            <a:endParaRPr lang="en-US" sz="1500" b="0" u="none" strike="noStrike">
              <a:solidFill>
                <a:schemeClr val="dk1"/>
              </a:solidFill>
              <a:effectLst/>
              <a:uFillTx/>
              <a:latin typeface="Aptos"/>
            </a:endParaRPr>
          </a:p>
          <a:p>
            <a:pPr marL="1728000" lvl="3" indent="-216000" algn="l">
              <a:lnSpc>
                <a:spcPct val="100000"/>
              </a:lnSpc>
              <a:spcBef>
                <a:spcPts val="422"/>
              </a:spcBef>
              <a:buClr>
                <a:srgbClr val="000000"/>
              </a:buClr>
              <a:buSzPct val="75000"/>
              <a:buFont typeface="Symbol" charset="2"/>
              <a:buChar char=""/>
            </a:pPr>
            <a:r>
              <a:rPr lang="en-US" sz="1500" b="0" u="none" strike="noStrike">
                <a:solidFill>
                  <a:schemeClr val="dk1"/>
                </a:solidFill>
                <a:effectLst/>
                <a:uFillTx/>
                <a:latin typeface="Aptos"/>
              </a:rPr>
              <a:t>Fourth Outline Level</a:t>
            </a:r>
            <a:endParaRPr lang="en-US" sz="1500" b="0" u="none" strike="noStrike">
              <a:solidFill>
                <a:schemeClr val="dk1"/>
              </a:solidFill>
              <a:effectLst/>
              <a:uFillTx/>
              <a:latin typeface="Aptos"/>
            </a:endParaRPr>
          </a:p>
          <a:p>
            <a:pPr marL="2160000" lvl="4" indent="-216000" algn="l">
              <a:lnSpc>
                <a:spcPct val="10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Fifth Outline Level</a:t>
            </a:r>
            <a:endParaRPr lang="en-US" sz="1500" b="0" u="none" strike="noStrike">
              <a:solidFill>
                <a:schemeClr val="dk1"/>
              </a:solidFill>
              <a:effectLst/>
              <a:uFillTx/>
              <a:latin typeface="Aptos"/>
            </a:endParaRPr>
          </a:p>
          <a:p>
            <a:pPr marL="2592000" lvl="5" indent="-216000" algn="l">
              <a:lnSpc>
                <a:spcPct val="10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Sixth Outline Level</a:t>
            </a:r>
            <a:endParaRPr lang="en-US" sz="1500" b="0" u="none" strike="noStrike">
              <a:solidFill>
                <a:schemeClr val="dk1"/>
              </a:solidFill>
              <a:effectLst/>
              <a:uFillTx/>
              <a:latin typeface="Aptos"/>
            </a:endParaRPr>
          </a:p>
          <a:p>
            <a:pPr marL="3024000" lvl="6" indent="-216000" algn="l">
              <a:lnSpc>
                <a:spcPct val="10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Seventh Outline Level</a:t>
            </a:r>
            <a:endParaRPr lang="en-US" sz="1500" b="0" u="none" strike="noStrike">
              <a:solidFill>
                <a:schemeClr val="dk1"/>
              </a:solidFill>
              <a:effectLst/>
              <a:uFillTx/>
              <a:latin typeface="Aptos"/>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1_DEFAULT">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494640"/>
            <a:ext cx="8227080" cy="279360"/>
          </a:xfrm>
          <a:prstGeom prst="rect">
            <a:avLst/>
          </a:prstGeom>
          <a:noFill/>
          <a:ln w="0">
            <a:noFill/>
          </a:ln>
        </p:spPr>
        <p:txBody>
          <a:bodyPr lIns="0" tIns="0" rIns="0" bIns="0" anchor="ctr">
            <a:spAutoFit/>
          </a:bodyPr>
          <a:p>
            <a:pPr indent="0" algn="l">
              <a:buNone/>
              <a:tabLst>
                <a:tab pos="0" algn="l"/>
              </a:tabLst>
            </a:pPr>
            <a:endParaRPr lang="en-US" sz="1800" b="0" u="none" strike="noStrike">
              <a:solidFill>
                <a:schemeClr val="dk1"/>
              </a:solidFill>
              <a:effectLst/>
              <a:uFillTx/>
              <a:latin typeface="Calibri"/>
            </a:endParaRPr>
          </a:p>
        </p:txBody>
      </p:sp>
      <p:sp>
        <p:nvSpPr>
          <p:cNvPr id="11" name="PlaceHolder 2"/>
          <p:cNvSpPr>
            <a:spLocks noGrp="1"/>
          </p:cNvSpPr>
          <p:nvPr>
            <p:ph type="subTitle"/>
          </p:nvPr>
        </p:nvSpPr>
        <p:spPr>
          <a:xfrm>
            <a:off x="457200" y="1203480"/>
            <a:ext cx="8228160" cy="298188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2"/>
    <p:sldLayoutId id="2147483653"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496800"/>
            <a:ext cx="8227080" cy="274680"/>
          </a:xfrm>
          <a:prstGeom prst="rect">
            <a:avLst/>
          </a:prstGeom>
          <a:noFill/>
          <a:ln w="0">
            <a:noFill/>
          </a:ln>
        </p:spPr>
        <p:txBody>
          <a:bodyPr lIns="0" tIns="0" rIns="0" bIns="0" anchor="ctr">
            <a:spAutoFit/>
          </a:bodyPr>
          <a:lstStyle>
            <a:lvl1pPr indent="0" algn="l">
              <a:buNone/>
              <a:tabLst>
                <a:tab pos="0" algn="l"/>
              </a:tabLst>
              <a:defRPr lang="en-US" sz="1800" b="0" u="none" strike="noStrike">
                <a:solidFill>
                  <a:schemeClr val="dk1"/>
                </a:solidFill>
                <a:effectLst/>
                <a:uFillTx/>
                <a:latin typeface="Calibri"/>
              </a:defRPr>
            </a:lvl1pPr>
          </a:lstStyle>
          <a:p>
            <a:pPr indent="0" algn="l">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9"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5"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2.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5.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hyperlink" Target="https://maps.deflock.org/" TargetMode="External"/><Relationship Id="rId2" Type="http://schemas.openxmlformats.org/officeDocument/2006/relationships/slideLayout" Target="../slideLayouts/slideLayout2.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5.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5.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5.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5.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5.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5.xml"/><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hyperlink" Target="https://aima.cs.berkeley.edu/" TargetMode="External"/><Relationship Id="rId2" Type="http://schemas.openxmlformats.org/officeDocument/2006/relationships/hyperlink" Target="https://doi.org/10.1093/mind/LIX.236.433" TargetMode="External"/><Relationship Id="rId3" Type="http://schemas.openxmlformats.org/officeDocument/2006/relationships/hyperlink" Target="https://home.dartmouth.edu/about/artificial-intelligence-ai-coined-dartmouth" TargetMode="External"/><Relationship Id="rId4" Type="http://schemas.openxmlformats.org/officeDocument/2006/relationships/hyperlink" Target="https://www.ibm.com/history/deep-blue" TargetMode="External"/><Relationship Id="rId5" Type="http://schemas.openxmlformats.org/officeDocument/2006/relationships/hyperlink" Target="https://www.nature.com/articles/nature16961" TargetMode="External"/><Relationship Id="rId6" Type="http://schemas.openxmlformats.org/officeDocument/2006/relationships/hyperlink" Target="https://www.nist.gov/itl/ai-risk-management-framework" TargetMode="External"/><Relationship Id="rId7" Type="http://schemas.openxmlformats.org/officeDocument/2006/relationships/slideLayout" Target="../slideLayouts/slideLayout1.xml"/><Relationship Id="rId8"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hyperlink" Target="https://www.oecd.org/en/topics/ai-principles.html" TargetMode="External"/><Relationship Id="rId2" Type="http://schemas.openxmlformats.org/officeDocument/2006/relationships/hyperlink" Target="https://deepmind.google/research/alphago/" TargetMode="External"/><Relationship Id="rId3" Type="http://schemas.openxmlformats.org/officeDocument/2006/relationships/hyperlink" Target="https://www.computerhistory.org/revolution/artificial-intelligence-robotics/13/289" TargetMode="External"/><Relationship Id="rId4" Type="http://schemas.openxmlformats.org/officeDocument/2006/relationships/hyperlink" Target="https://ethw.org/Milestones%3ASHAKEY%3A_The_World&#8217;s_First_Mobile_Intelligent_Robot%2C_1972" TargetMode="External"/><Relationship Id="rId5" Type="http://schemas.openxmlformats.org/officeDocument/2006/relationships/hyperlink" Target="https://robogeek.ru/files/blogs/0004/2301/_cache/fit650x800-shakey.jpg" TargetMode="External"/><Relationship Id="rId6" Type="http://schemas.openxmlformats.org/officeDocument/2006/relationships/slideLayout" Target="../slideLayouts/slideLayout1.xml"/><Relationship Id="rId7"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B49"/>
        </a:solidFill>
      </p:bgPr>
    </p:bg>
    <p:spTree>
      <p:nvGrpSpPr>
        <p:cNvPr id="1" name=""/>
        <p:cNvGrpSpPr/>
        <p:nvPr/>
      </p:nvGrpSpPr>
      <p:grpSpPr>
        <a:xfrm>
          <a:off x="0" y="0"/>
          <a:ext cx="0" cy="0"/>
          <a:chOff x="0" y="0"/>
          <a:chExt cx="0" cy="0"/>
        </a:xfrm>
      </p:grpSpPr>
      <p:pic>
        <p:nvPicPr>
          <p:cNvPr id="18" name="Image 0" descr="/mnt/data/wide_cinematic_futuristic_scene_a_dark_blue_nigh.png"/>
          <p:cNvPicPr/>
          <p:nvPr/>
        </p:nvPicPr>
        <p:blipFill>
          <a:blip r:embed="rId1"/>
          <a:srcRect l="41968" t="0" r="9372" b="0"/>
          <a:stretch/>
        </p:blipFill>
        <p:spPr>
          <a:xfrm>
            <a:off x="4697640" y="0"/>
            <a:ext cx="4441680" cy="5141160"/>
          </a:xfrm>
          <a:prstGeom prst="rect">
            <a:avLst/>
          </a:prstGeom>
          <a:noFill/>
          <a:ln w="0">
            <a:noFill/>
          </a:ln>
        </p:spPr>
      </p:pic>
      <p:sp>
        <p:nvSpPr>
          <p:cNvPr id="19" name="Shape 2"/>
          <p:cNvSpPr/>
          <p:nvPr/>
        </p:nvSpPr>
        <p:spPr>
          <a:xfrm>
            <a:off x="4526280" y="0"/>
            <a:ext cx="168840" cy="5141520"/>
          </a:xfrm>
          <a:prstGeom prst="rect">
            <a:avLst/>
          </a:prstGeom>
          <a:solidFill>
            <a:srgbClr val="C99700"/>
          </a:solidFill>
          <a:ln w="12600">
            <a:solidFill>
              <a:srgbClr val="C99700"/>
            </a:solidFill>
            <a:round/>
          </a:ln>
        </p:spPr>
        <p:style>
          <a:lnRef idx="0"/>
          <a:fillRef idx="0"/>
          <a:effectRef idx="0"/>
          <a:fontRef idx="minor"/>
        </p:style>
        <p:txBody>
          <a:bodyPr lIns="84600" tIns="45000" rIns="84600" bIns="45000" anchor="t">
            <a:noAutofit/>
          </a:bodyPr>
          <a:p>
            <a:endParaRPr lang="en-US" sz="1800" b="0" u="none" strike="noStrike">
              <a:solidFill>
                <a:srgbClr val="000000"/>
              </a:solidFill>
              <a:effectLst/>
              <a:uFillTx/>
              <a:latin typeface="Arial"/>
            </a:endParaRPr>
          </a:p>
        </p:txBody>
      </p:sp>
      <p:sp>
        <p:nvSpPr>
          <p:cNvPr id="20" name="Text 38"/>
          <p:cNvSpPr/>
          <p:nvPr/>
        </p:nvSpPr>
        <p:spPr>
          <a:xfrm>
            <a:off x="493920" y="493560"/>
            <a:ext cx="1575000" cy="169200"/>
          </a:xfrm>
          <a:prstGeom prst="rect">
            <a:avLst/>
          </a:prstGeom>
          <a:noFill/>
          <a:ln w="0">
            <a:noFill/>
          </a:ln>
        </p:spPr>
        <p:style>
          <a:lnRef idx="0"/>
          <a:fillRef idx="0"/>
          <a:effectRef idx="0"/>
          <a:fontRef idx="minor"/>
        </p:style>
        <p:txBody>
          <a:bodyPr lIns="360" tIns="360" rIns="360" bIns="360" anchor="t">
            <a:normAutofit fontScale="85000" lnSpcReduction="9999"/>
          </a:bodyPr>
          <a:p>
            <a:pPr defTabSz="914400">
              <a:lnSpc>
                <a:spcPct val="100000"/>
              </a:lnSpc>
              <a:tabLst>
                <a:tab pos="0" algn="l"/>
              </a:tabLst>
            </a:pPr>
            <a:r>
              <a:rPr lang="en-US" sz="1400" b="1" u="none" strike="noStrike">
                <a:solidFill>
                  <a:srgbClr val="C99700"/>
                </a:solidFill>
                <a:effectLst/>
                <a:uFillTx/>
                <a:latin typeface="Aptos"/>
                <a:ea typeface="DejaVu Sans"/>
              </a:rPr>
              <a:t>COMP 469</a:t>
            </a:r>
            <a:endParaRPr lang="en-US" sz="1400" b="0" u="none" strike="noStrike">
              <a:solidFill>
                <a:srgbClr val="FFFFFF"/>
              </a:solidFill>
              <a:effectLst/>
              <a:uFillTx/>
              <a:latin typeface="Arial"/>
            </a:endParaRPr>
          </a:p>
        </p:txBody>
      </p:sp>
      <p:sp>
        <p:nvSpPr>
          <p:cNvPr id="21" name="Text 40"/>
          <p:cNvSpPr/>
          <p:nvPr/>
        </p:nvSpPr>
        <p:spPr>
          <a:xfrm>
            <a:off x="479880" y="925560"/>
            <a:ext cx="3803760" cy="992160"/>
          </a:xfrm>
          <a:prstGeom prst="rect">
            <a:avLst/>
          </a:prstGeom>
          <a:noFill/>
          <a:ln w="0">
            <a:noFill/>
          </a:ln>
        </p:spPr>
        <p:style>
          <a:lnRef idx="0"/>
          <a:fillRef idx="0"/>
          <a:effectRef idx="0"/>
          <a:fontRef idx="minor"/>
        </p:style>
        <p:txBody>
          <a:bodyPr lIns="360" tIns="360" rIns="360" bIns="360" anchor="t">
            <a:normAutofit fontScale="77500" lnSpcReduction="19999"/>
          </a:bodyPr>
          <a:p>
            <a:pPr defTabSz="914400">
              <a:lnSpc>
                <a:spcPct val="100000"/>
              </a:lnSpc>
              <a:tabLst>
                <a:tab pos="0" algn="l"/>
              </a:tabLst>
            </a:pPr>
            <a:r>
              <a:rPr lang="en-US" sz="4200" b="1" u="none" strike="noStrike">
                <a:solidFill>
                  <a:srgbClr val="FFFFFF"/>
                </a:solidFill>
                <a:effectLst/>
                <a:uFillTx/>
                <a:latin typeface="Aptos"/>
                <a:ea typeface="DejaVu Sans"/>
              </a:rPr>
              <a:t>AI Agents</a:t>
            </a:r>
            <a:endParaRPr lang="en-US" sz="4200" b="0" u="none" strike="noStrike">
              <a:solidFill>
                <a:srgbClr val="FFFFFF"/>
              </a:solidFill>
              <a:effectLst/>
              <a:uFillTx/>
              <a:latin typeface="Arial"/>
            </a:endParaRPr>
          </a:p>
          <a:p>
            <a:pPr defTabSz="914400">
              <a:lnSpc>
                <a:spcPct val="100000"/>
              </a:lnSpc>
              <a:tabLst>
                <a:tab pos="0" algn="l"/>
              </a:tabLst>
            </a:pPr>
            <a:r>
              <a:rPr lang="en-US" sz="4200" b="1" u="none" strike="noStrike">
                <a:solidFill>
                  <a:srgbClr val="FFFFFF"/>
                </a:solidFill>
                <a:effectLst/>
                <a:uFillTx/>
                <a:latin typeface="Aptos"/>
                <a:ea typeface="DejaVu Sans"/>
              </a:rPr>
              <a:t>and Foundations</a:t>
            </a:r>
            <a:endParaRPr lang="en-US" sz="4200" b="0" u="none" strike="noStrike">
              <a:solidFill>
                <a:srgbClr val="FFFFFF"/>
              </a:solidFill>
              <a:effectLst/>
              <a:uFillTx/>
              <a:latin typeface="Arial"/>
            </a:endParaRPr>
          </a:p>
        </p:txBody>
      </p:sp>
      <p:sp>
        <p:nvSpPr>
          <p:cNvPr id="22" name="Text 41"/>
          <p:cNvSpPr/>
          <p:nvPr/>
        </p:nvSpPr>
        <p:spPr>
          <a:xfrm>
            <a:off x="493920" y="2160000"/>
            <a:ext cx="3769560" cy="237600"/>
          </a:xfrm>
          <a:prstGeom prst="rect">
            <a:avLst/>
          </a:prstGeom>
          <a:noFill/>
          <a:ln w="0">
            <a:noFill/>
          </a:ln>
        </p:spPr>
        <p:style>
          <a:lnRef idx="0"/>
          <a:fillRef idx="0"/>
          <a:effectRef idx="0"/>
          <a:fontRef idx="minor"/>
        </p:style>
        <p:txBody>
          <a:bodyPr lIns="360" tIns="360" rIns="360" bIns="360" anchor="t">
            <a:normAutofit fontScale="62500" lnSpcReduction="19999"/>
          </a:bodyPr>
          <a:p>
            <a:endParaRPr lang="en-US" sz="1800" b="0" u="none" strike="noStrike">
              <a:solidFill>
                <a:srgbClr val="FFFFFF"/>
              </a:solidFill>
              <a:effectLst/>
              <a:uFillTx/>
              <a:latin typeface="Arial"/>
            </a:endParaRPr>
          </a:p>
        </p:txBody>
      </p:sp>
      <p:sp>
        <p:nvSpPr>
          <p:cNvPr id="23" name="Shape 25"/>
          <p:cNvSpPr/>
          <p:nvPr/>
        </p:nvSpPr>
        <p:spPr>
          <a:xfrm>
            <a:off x="493920" y="2880360"/>
            <a:ext cx="3529440" cy="649080"/>
          </a:xfrm>
          <a:prstGeom prst="roundRect">
            <a:avLst>
              <a:gd name="adj" fmla="val 12632"/>
            </a:avLst>
          </a:prstGeom>
          <a:solidFill>
            <a:srgbClr val="123B5A"/>
          </a:solidFill>
          <a:ln w="1512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 name="Text 42"/>
          <p:cNvSpPr/>
          <p:nvPr/>
        </p:nvSpPr>
        <p:spPr>
          <a:xfrm>
            <a:off x="644760" y="3017520"/>
            <a:ext cx="3227760" cy="408960"/>
          </a:xfrm>
          <a:prstGeom prst="rect">
            <a:avLst/>
          </a:prstGeom>
          <a:noFill/>
          <a:ln w="0">
            <a:noFill/>
          </a:ln>
        </p:spPr>
        <p:style>
          <a:lnRef idx="0"/>
          <a:fillRef idx="0"/>
          <a:effectRef idx="0"/>
          <a:fontRef idx="minor"/>
        </p:style>
        <p:txBody>
          <a:bodyPr lIns="360" tIns="360" rIns="360" bIns="360" anchor="ctr">
            <a:normAutofit fontScale="70000" lnSpcReduction="19999"/>
          </a:bodyPr>
          <a:p>
            <a:pPr algn="ctr" defTabSz="914400">
              <a:lnSpc>
                <a:spcPct val="100000"/>
              </a:lnSpc>
              <a:tabLst>
                <a:tab pos="0" algn="l"/>
              </a:tabLst>
            </a:pPr>
            <a:r>
              <a:rPr lang="en-US" sz="1600" b="1" u="none" strike="noStrike">
                <a:solidFill>
                  <a:srgbClr val="FFFFFF"/>
                </a:solidFill>
                <a:effectLst/>
                <a:uFillTx/>
                <a:latin typeface="Aptos"/>
                <a:ea typeface="DejaVu Sans"/>
              </a:rPr>
              <a:t>Week 1: define intelligence, build agent vocabulary, and prepare for the grid-world lab.</a:t>
            </a:r>
            <a:endParaRPr lang="en-US" sz="1600" b="0" u="none" strike="noStrike">
              <a:solidFill>
                <a:srgbClr val="FFFFFF"/>
              </a:solidFill>
              <a:effectLst/>
              <a:uFillTx/>
              <a:latin typeface="Arial"/>
            </a:endParaRPr>
          </a:p>
        </p:txBody>
      </p:sp>
      <p:sp>
        <p:nvSpPr>
          <p:cNvPr id="25" name="Text 43"/>
          <p:cNvSpPr/>
          <p:nvPr/>
        </p:nvSpPr>
        <p:spPr>
          <a:xfrm>
            <a:off x="377280" y="4903560"/>
            <a:ext cx="3975120" cy="134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ea typeface="DejaVu Sans"/>
              </a:rPr>
              <a:t>COMP 469 | CSU Channel Islands</a:t>
            </a:r>
            <a:endParaRPr lang="en-US" sz="850" b="0" u="none" strike="noStrike">
              <a:solidFill>
                <a:srgbClr val="FFFFFF"/>
              </a:solidFill>
              <a:effectLst/>
              <a:uFillTx/>
              <a:latin typeface="Arial"/>
            </a:endParaRPr>
          </a:p>
        </p:txBody>
      </p:sp>
      <p:sp>
        <p:nvSpPr>
          <p:cNvPr id="26" name="Text 44"/>
          <p:cNvSpPr/>
          <p:nvPr/>
        </p:nvSpPr>
        <p:spPr>
          <a:xfrm>
            <a:off x="8332560" y="4883040"/>
            <a:ext cx="374760" cy="1346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ea typeface="DejaVu Sans"/>
              </a:rPr>
              <a:t>01</a:t>
            </a:r>
            <a:endParaRPr lang="en-US" sz="8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2B5B"/>
        </a:solidFill>
      </p:bgPr>
    </p:bg>
    <p:spTree>
      <p:nvGrpSpPr>
        <p:cNvPr id="1" name=""/>
        <p:cNvGrpSpPr/>
        <p:nvPr/>
      </p:nvGrpSpPr>
      <p:grpSpPr>
        <a:xfrm>
          <a:off x="0" y="0"/>
          <a:ext cx="0" cy="0"/>
          <a:chOff x="0" y="0"/>
          <a:chExt cx="0" cy="0"/>
        </a:xfrm>
      </p:grpSpPr>
      <p:sp>
        <p:nvSpPr>
          <p:cNvPr id="27" name="Shape 0"/>
          <p:cNvSpPr/>
          <p:nvPr/>
        </p:nvSpPr>
        <p:spPr>
          <a:xfrm>
            <a:off x="0" y="0"/>
            <a:ext cx="162000" cy="5141160"/>
          </a:xfrm>
          <a:prstGeom prst="rect">
            <a:avLst/>
          </a:prstGeom>
          <a:solidFill>
            <a:srgbClr val="F4A020"/>
          </a:solidFill>
          <a:ln w="12700">
            <a:solidFill>
              <a:srgbClr val="F4A020"/>
            </a:solidFill>
            <a:round/>
          </a:ln>
        </p:spPr>
        <p:style>
          <a:lnRef idx="0"/>
          <a:fillRef idx="0"/>
          <a:effectRef idx="0"/>
          <a:fontRef idx="minor"/>
        </p:style>
        <p:txBody>
          <a:bodyPr lIns="81000" tIns="45000" rIns="81000" bIns="45000" anchor="t">
            <a:noAutofit/>
          </a:bodyPr>
          <a:p>
            <a:endParaRPr lang="en-US" sz="1800" b="0" u="none" strike="noStrike">
              <a:solidFill>
                <a:srgbClr val="000000"/>
              </a:solidFill>
              <a:effectLst/>
              <a:uFillTx/>
              <a:latin typeface="Arial"/>
            </a:endParaRPr>
          </a:p>
        </p:txBody>
      </p:sp>
      <p:sp>
        <p:nvSpPr>
          <p:cNvPr id="28" name="Shape 1"/>
          <p:cNvSpPr/>
          <p:nvPr/>
        </p:nvSpPr>
        <p:spPr>
          <a:xfrm>
            <a:off x="164520" y="4389120"/>
            <a:ext cx="8976960" cy="752040"/>
          </a:xfrm>
          <a:prstGeom prst="rect">
            <a:avLst/>
          </a:prstGeom>
          <a:solidFill>
            <a:srgbClr val="0D1B36"/>
          </a:solidFill>
          <a:ln w="12700">
            <a:solidFill>
              <a:srgbClr val="0D1B3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 name="Text 2"/>
          <p:cNvSpPr/>
          <p:nvPr/>
        </p:nvSpPr>
        <p:spPr>
          <a:xfrm>
            <a:off x="457200" y="914400"/>
            <a:ext cx="8227080" cy="1643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800" b="1" u="none" strike="noStrike">
                <a:solidFill>
                  <a:srgbClr val="FFFFFF"/>
                </a:solidFill>
                <a:effectLst/>
                <a:uFillTx/>
                <a:latin typeface="Calibri"/>
                <a:ea typeface="Calibri"/>
              </a:rPr>
              <a:t>Chapters 1 &amp; 2: Introduction to AI</a:t>
            </a:r>
            <a:endParaRPr lang="en-US" sz="3800" b="0" u="none" strike="noStrike">
              <a:solidFill>
                <a:srgbClr val="FFFFFF"/>
              </a:solidFill>
              <a:effectLst/>
              <a:uFillTx/>
              <a:latin typeface="Arial"/>
            </a:endParaRPr>
          </a:p>
          <a:p>
            <a:pPr defTabSz="914400">
              <a:lnSpc>
                <a:spcPct val="100000"/>
              </a:lnSpc>
              <a:tabLst>
                <a:tab pos="0" algn="l"/>
              </a:tabLst>
            </a:pPr>
            <a:r>
              <a:rPr lang="en-US" sz="3800" b="1" u="none" strike="noStrike">
                <a:solidFill>
                  <a:srgbClr val="FFFFFF"/>
                </a:solidFill>
                <a:effectLst/>
                <a:uFillTx/>
                <a:latin typeface="Calibri"/>
                <a:ea typeface="Calibri"/>
              </a:rPr>
              <a:t>&amp; Intelligent Agents</a:t>
            </a:r>
            <a:endParaRPr lang="en-US" sz="3800" b="0" u="none" strike="noStrike">
              <a:solidFill>
                <a:srgbClr val="FFFFFF"/>
              </a:solidFill>
              <a:effectLst/>
              <a:uFillTx/>
              <a:latin typeface="Arial"/>
            </a:endParaRPr>
          </a:p>
        </p:txBody>
      </p:sp>
      <p:sp>
        <p:nvSpPr>
          <p:cNvPr id="30" name="Text 3"/>
          <p:cNvSpPr/>
          <p:nvPr/>
        </p:nvSpPr>
        <p:spPr>
          <a:xfrm>
            <a:off x="457200" y="2651760"/>
            <a:ext cx="8227080" cy="591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900" b="0" u="none" strike="noStrike">
                <a:solidFill>
                  <a:srgbClr val="CBD5E1"/>
                </a:solidFill>
                <a:effectLst/>
                <a:uFillTx/>
                <a:latin typeface="Calibri"/>
                <a:ea typeface="Calibri"/>
              </a:rPr>
              <a:t>Russell &amp; Norvig · Artificial Intelligence: A Modern Approach (4th ed.)</a:t>
            </a:r>
            <a:endParaRPr lang="en-US" sz="1900" b="0" u="none" strike="noStrike">
              <a:solidFill>
                <a:srgbClr val="FFFFFF"/>
              </a:solidFill>
              <a:effectLst/>
              <a:uFillTx/>
              <a:latin typeface="Arial"/>
            </a:endParaRPr>
          </a:p>
        </p:txBody>
      </p:sp>
      <p:sp>
        <p:nvSpPr>
          <p:cNvPr id="31" name="Text 4"/>
          <p:cNvSpPr/>
          <p:nvPr/>
        </p:nvSpPr>
        <p:spPr>
          <a:xfrm>
            <a:off x="457200" y="4480560"/>
            <a:ext cx="8227080" cy="45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0" u="none" strike="noStrike">
                <a:solidFill>
                  <a:srgbClr val="CBD5E1"/>
                </a:solidFill>
                <a:effectLst/>
                <a:uFillTx/>
                <a:latin typeface="Calibri"/>
                <a:ea typeface="Calibri"/>
              </a:rPr>
              <a:t>COMP 469 – Artificial Intelligence  |  CSU Channel Islands  |  Two-Hour Lecture</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32"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34"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Lecture Roadmap</a:t>
            </a:r>
            <a:endParaRPr lang="en-US" sz="2200" b="0" u="none" strike="noStrike">
              <a:solidFill>
                <a:srgbClr val="000000"/>
              </a:solidFill>
              <a:effectLst/>
              <a:uFillTx/>
              <a:latin typeface="Arial"/>
            </a:endParaRPr>
          </a:p>
        </p:txBody>
      </p:sp>
      <p:sp>
        <p:nvSpPr>
          <p:cNvPr id="35" name="Text 3"/>
          <p:cNvSpPr/>
          <p:nvPr/>
        </p:nvSpPr>
        <p:spPr>
          <a:xfrm>
            <a:off x="365760" y="960120"/>
            <a:ext cx="8409960" cy="397512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pPr>
            <a:endParaRPr lang="en-US" sz="1500" b="0" u="none" strike="noStrike">
              <a:solidFill>
                <a:srgbClr val="000000"/>
              </a:solidFill>
              <a:effectLst/>
              <a:uFillTx/>
              <a:latin typeface="Arial"/>
            </a:endParaRPr>
          </a:p>
          <a:p>
            <a:pPr defTabSz="914400">
              <a:lnSpc>
                <a:spcPct val="100000"/>
              </a:lnSpc>
            </a:pPr>
            <a:r>
              <a:rPr lang="en-US" sz="1500" b="1" u="none" strike="noStrike">
                <a:solidFill>
                  <a:srgbClr val="0F2B5B"/>
                </a:solidFill>
                <a:effectLst/>
                <a:uFillTx/>
                <a:latin typeface="Calibri"/>
                <a:ea typeface="Calibri"/>
              </a:rPr>
              <a:t>Part 1 — Chapter 1: Introduction to AI</a:t>
            </a:r>
            <a:endParaRPr lang="en-US" sz="1500" b="0" u="none" strike="noStrike">
              <a:solidFill>
                <a:srgbClr val="000000"/>
              </a:solidFill>
              <a:effectLst/>
              <a:uFillTx/>
              <a:latin typeface="Arial"/>
            </a:endParaRPr>
          </a:p>
          <a:p>
            <a:pPr marL="360000" indent="-34308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What is AI?</a:t>
            </a:r>
            <a:endParaRPr lang="en-US" sz="1500" b="0" u="none" strike="noStrike">
              <a:solidFill>
                <a:srgbClr val="000000"/>
              </a:solidFill>
              <a:effectLst/>
              <a:uFillTx/>
              <a:latin typeface="Arial"/>
            </a:endParaRPr>
          </a:p>
          <a:p>
            <a:pPr marL="360000" indent="-34308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Foundations of AI</a:t>
            </a:r>
            <a:endParaRPr lang="en-US" sz="1500" b="0" u="none" strike="noStrike">
              <a:solidFill>
                <a:srgbClr val="000000"/>
              </a:solidFill>
              <a:effectLst/>
              <a:uFillTx/>
              <a:latin typeface="Arial"/>
            </a:endParaRPr>
          </a:p>
          <a:p>
            <a:pPr marL="360000" indent="-34308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History and Applications</a:t>
            </a:r>
            <a:endParaRPr lang="en-US" sz="1500" b="0" u="none" strike="noStrike">
              <a:solidFill>
                <a:srgbClr val="000000"/>
              </a:solidFill>
              <a:effectLst/>
              <a:uFillTx/>
              <a:latin typeface="Arial"/>
            </a:endParaRPr>
          </a:p>
          <a:p>
            <a:pPr marL="360000" indent="-34308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Risks and Ethics</a:t>
            </a:r>
            <a:endParaRPr lang="en-US" sz="1500" b="0" u="none" strike="noStrike">
              <a:solidFill>
                <a:srgbClr val="000000"/>
              </a:solidFill>
              <a:effectLst/>
              <a:uFillTx/>
              <a:latin typeface="Arial"/>
            </a:endParaRPr>
          </a:p>
          <a:p>
            <a:pPr defTabSz="914400">
              <a:lnSpc>
                <a:spcPct val="100000"/>
              </a:lnSpc>
            </a:pPr>
            <a:endParaRPr lang="en-US" sz="1500" b="0" u="none" strike="noStrike">
              <a:solidFill>
                <a:srgbClr val="000000"/>
              </a:solidFill>
              <a:effectLst/>
              <a:uFillTx/>
              <a:latin typeface="Arial"/>
            </a:endParaRPr>
          </a:p>
          <a:p>
            <a:pPr defTabSz="914400">
              <a:lnSpc>
                <a:spcPct val="100000"/>
              </a:lnSpc>
            </a:pPr>
            <a:r>
              <a:rPr lang="en-US" sz="1500" b="1" u="none" strike="noStrike">
                <a:solidFill>
                  <a:srgbClr val="0F2B5B"/>
                </a:solidFill>
                <a:effectLst/>
                <a:uFillTx/>
                <a:latin typeface="Calibri"/>
                <a:ea typeface="Calibri"/>
              </a:rPr>
              <a:t>Part 2 — Chapter 2: Intelligent Agents</a:t>
            </a:r>
            <a:endParaRPr lang="en-US" sz="1500" b="0" u="none" strike="noStrike">
              <a:solidFill>
                <a:srgbClr val="000000"/>
              </a:solidFill>
              <a:effectLst/>
              <a:uFillTx/>
              <a:latin typeface="Arial"/>
            </a:endParaRPr>
          </a:p>
          <a:p>
            <a:pPr marL="360000" indent="-34308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Agents and Rationality</a:t>
            </a:r>
            <a:endParaRPr lang="en-US" sz="1500" b="0" u="none" strike="noStrike">
              <a:solidFill>
                <a:srgbClr val="000000"/>
              </a:solidFill>
              <a:effectLst/>
              <a:uFillTx/>
              <a:latin typeface="Arial"/>
            </a:endParaRPr>
          </a:p>
          <a:p>
            <a:pPr marL="360000" indent="-34308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PEAS Framework</a:t>
            </a:r>
            <a:endParaRPr lang="en-US" sz="1500" b="0" u="none" strike="noStrike">
              <a:solidFill>
                <a:srgbClr val="000000"/>
              </a:solidFill>
              <a:effectLst/>
              <a:uFillTx/>
              <a:latin typeface="Arial"/>
            </a:endParaRPr>
          </a:p>
          <a:p>
            <a:pPr marL="360000" indent="-34308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Task Environment Properties</a:t>
            </a:r>
            <a:endParaRPr lang="en-US" sz="1500" b="0" u="none" strike="noStrike">
              <a:solidFill>
                <a:srgbClr val="000000"/>
              </a:solidFill>
              <a:effectLst/>
              <a:uFillTx/>
              <a:latin typeface="Arial"/>
            </a:endParaRPr>
          </a:p>
          <a:p>
            <a:pPr marL="360000" indent="-34308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Agent Architectures</a:t>
            </a:r>
            <a:endParaRPr lang="en-US" sz="1500" b="0" u="none" strike="noStrike">
              <a:solidFill>
                <a:srgbClr val="000000"/>
              </a:solidFill>
              <a:effectLst/>
              <a:uFillTx/>
              <a:latin typeface="Arial"/>
            </a:endParaRPr>
          </a:p>
          <a:p>
            <a:pPr marL="360000" indent="-34308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Learning Agents</a:t>
            </a:r>
            <a:endParaRPr lang="en-US" sz="1500" b="0" u="none" strike="noStrike">
              <a:solidFill>
                <a:srgbClr val="000000"/>
              </a:solidFill>
              <a:effectLst/>
              <a:uFillTx/>
              <a:latin typeface="Arial"/>
            </a:endParaRPr>
          </a:p>
          <a:p>
            <a:pPr marL="360000" indent="-34308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Knowledge Representation</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36"/>
        </a:solidFill>
      </p:bgPr>
    </p:bg>
    <p:spTree>
      <p:nvGrpSpPr>
        <p:cNvPr id="1" name=""/>
        <p:cNvGrpSpPr/>
        <p:nvPr/>
      </p:nvGrpSpPr>
      <p:grpSpPr>
        <a:xfrm>
          <a:off x="0" y="0"/>
          <a:ext cx="0" cy="0"/>
          <a:chOff x="0" y="0"/>
          <a:chExt cx="0" cy="0"/>
        </a:xfrm>
      </p:grpSpPr>
      <p:sp>
        <p:nvSpPr>
          <p:cNvPr id="36" name="Shape 0"/>
          <p:cNvSpPr/>
          <p:nvPr/>
        </p:nvSpPr>
        <p:spPr>
          <a:xfrm>
            <a:off x="0" y="0"/>
            <a:ext cx="162000" cy="5141160"/>
          </a:xfrm>
          <a:prstGeom prst="rect">
            <a:avLst/>
          </a:prstGeom>
          <a:solidFill>
            <a:srgbClr val="F4A020"/>
          </a:solidFill>
          <a:ln w="12700">
            <a:solidFill>
              <a:srgbClr val="F4A020"/>
            </a:solidFill>
            <a:round/>
          </a:ln>
        </p:spPr>
        <p:style>
          <a:lnRef idx="0"/>
          <a:fillRef idx="0"/>
          <a:effectRef idx="0"/>
          <a:fontRef idx="minor"/>
        </p:style>
        <p:txBody>
          <a:bodyPr lIns="81000" tIns="45000" rIns="81000" bIns="45000" anchor="t">
            <a:noAutofit/>
          </a:bodyPr>
          <a:p>
            <a:endParaRPr lang="en-US" sz="1800" b="0" u="none" strike="noStrike">
              <a:solidFill>
                <a:srgbClr val="000000"/>
              </a:solidFill>
              <a:effectLst/>
              <a:uFillTx/>
              <a:latin typeface="Arial"/>
            </a:endParaRPr>
          </a:p>
        </p:txBody>
      </p:sp>
      <p:sp>
        <p:nvSpPr>
          <p:cNvPr id="37" name="Text 1"/>
          <p:cNvSpPr/>
          <p:nvPr/>
        </p:nvSpPr>
        <p:spPr>
          <a:xfrm>
            <a:off x="457200" y="822960"/>
            <a:ext cx="8227080" cy="500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600" b="0" u="none" strike="noStrike">
                <a:solidFill>
                  <a:srgbClr val="CBD5E1"/>
                </a:solidFill>
                <a:effectLst/>
                <a:uFillTx/>
                <a:latin typeface="Calibri"/>
                <a:ea typeface="Calibri"/>
              </a:rPr>
              <a:t>PART 1</a:t>
            </a:r>
            <a:endParaRPr lang="en-US" sz="1600" b="0" u="none" strike="noStrike">
              <a:solidFill>
                <a:srgbClr val="FFFFFF"/>
              </a:solidFill>
              <a:effectLst/>
              <a:uFillTx/>
              <a:latin typeface="Arial"/>
            </a:endParaRPr>
          </a:p>
        </p:txBody>
      </p:sp>
      <p:sp>
        <p:nvSpPr>
          <p:cNvPr id="38" name="Text 2"/>
          <p:cNvSpPr/>
          <p:nvPr/>
        </p:nvSpPr>
        <p:spPr>
          <a:xfrm>
            <a:off x="457200" y="1417320"/>
            <a:ext cx="8227080" cy="1003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600" b="1" u="none" strike="noStrike">
                <a:solidFill>
                  <a:srgbClr val="FFFFFF"/>
                </a:solidFill>
                <a:effectLst/>
                <a:uFillTx/>
                <a:latin typeface="Calibri"/>
                <a:ea typeface="Calibri"/>
              </a:rPr>
              <a:t>Chapter 1: Introduction to AI</a:t>
            </a:r>
            <a:endParaRPr lang="en-US" sz="3600" b="0" u="none" strike="noStrike">
              <a:solidFill>
                <a:srgbClr val="FFFFFF"/>
              </a:solidFill>
              <a:effectLst/>
              <a:uFillTx/>
              <a:latin typeface="Arial"/>
            </a:endParaRPr>
          </a:p>
        </p:txBody>
      </p:sp>
      <p:sp>
        <p:nvSpPr>
          <p:cNvPr id="39" name="Text 3"/>
          <p:cNvSpPr/>
          <p:nvPr/>
        </p:nvSpPr>
        <p:spPr>
          <a:xfrm>
            <a:off x="457200" y="2514600"/>
            <a:ext cx="8227080" cy="454680"/>
          </a:xfrm>
          <a:prstGeom prst="rect">
            <a:avLst/>
          </a:prstGeom>
          <a:noFill/>
          <a:ln w="0">
            <a:noFill/>
          </a:ln>
        </p:spPr>
        <p:style>
          <a:lnRef idx="0"/>
          <a:fillRef idx="0"/>
          <a:effectRef idx="0"/>
          <a:fontRef idx="minor"/>
        </p:style>
        <p:txBody>
          <a:bodyPr lIns="90000" tIns="45000" rIns="90000" bIns="45000" anchor="ctr">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40"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42"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1.1 What Is AI?</a:t>
            </a:r>
            <a:endParaRPr lang="en-US" sz="2200" b="0" u="none" strike="noStrike">
              <a:solidFill>
                <a:srgbClr val="000000"/>
              </a:solidFill>
              <a:effectLst/>
              <a:uFillTx/>
              <a:latin typeface="Arial"/>
            </a:endParaRPr>
          </a:p>
        </p:txBody>
      </p:sp>
      <p:sp>
        <p:nvSpPr>
          <p:cNvPr id="43" name="Text 3"/>
          <p:cNvSpPr/>
          <p:nvPr/>
        </p:nvSpPr>
        <p:spPr>
          <a:xfrm>
            <a:off x="365760" y="960120"/>
            <a:ext cx="8409960" cy="39751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AI is concerned with understanding AND building intelligent entities; machines that compute how to act effectively and safely</a:t>
            </a:r>
            <a:endParaRPr lang="en-US" sz="1500" b="0" u="none" strike="noStrike">
              <a:solidFill>
                <a:srgbClr val="000000"/>
              </a:solidFill>
              <a:effectLst/>
              <a:uFillTx/>
              <a:latin typeface="Arial"/>
            </a:endParaRPr>
          </a:p>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Already generating &gt; $1 trillion/year in revenue (and growing rapidly)</a:t>
            </a:r>
            <a:endParaRPr lang="en-US" sz="15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Two central dimensions create four approaches: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Human vs. Rational (fidelity to humans vs. formal optimality)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Thought vs. Behavior (internal processes vs. external action)</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The prevailing view: the Standard Model</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AI focused on rational action — doing the right thing</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'Right thing' is defined by the objective provided to the agent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Shared with control theory, operations research, economics, statistics</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Key refinement: perfect rationality is computationally intractable — limited rationality and value alignment are critical concerns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44"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5"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46"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1.1 Four Approaches to AI</a:t>
            </a:r>
            <a:endParaRPr lang="en-US" sz="2200" b="0" u="none" strike="noStrike">
              <a:solidFill>
                <a:srgbClr val="000000"/>
              </a:solidFill>
              <a:effectLst/>
              <a:uFillTx/>
              <a:latin typeface="Arial"/>
            </a:endParaRPr>
          </a:p>
        </p:txBody>
      </p:sp>
      <p:sp>
        <p:nvSpPr>
          <p:cNvPr id="47" name="Text 3"/>
          <p:cNvSpPr/>
          <p:nvPr/>
        </p:nvSpPr>
        <p:spPr>
          <a:xfrm>
            <a:off x="1371600" y="914400"/>
            <a:ext cx="2740680" cy="3175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64748B"/>
                </a:solidFill>
                <a:effectLst/>
                <a:uFillTx/>
                <a:latin typeface="Calibri"/>
                <a:ea typeface="Calibri"/>
              </a:rPr>
              <a:t>HUMAN</a:t>
            </a:r>
            <a:endParaRPr lang="en-US" sz="1300" b="0" u="none" strike="noStrike">
              <a:solidFill>
                <a:srgbClr val="000000"/>
              </a:solidFill>
              <a:effectLst/>
              <a:uFillTx/>
              <a:latin typeface="Arial"/>
            </a:endParaRPr>
          </a:p>
        </p:txBody>
      </p:sp>
      <p:sp>
        <p:nvSpPr>
          <p:cNvPr id="48" name="Text 4"/>
          <p:cNvSpPr/>
          <p:nvPr/>
        </p:nvSpPr>
        <p:spPr>
          <a:xfrm>
            <a:off x="5029200" y="914400"/>
            <a:ext cx="2740680" cy="3175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64748B"/>
                </a:solidFill>
                <a:effectLst/>
                <a:uFillTx/>
                <a:latin typeface="Calibri"/>
                <a:ea typeface="Calibri"/>
              </a:rPr>
              <a:t>RATIONAL</a:t>
            </a:r>
            <a:endParaRPr lang="en-US" sz="1300" b="0" u="none" strike="noStrike">
              <a:solidFill>
                <a:srgbClr val="000000"/>
              </a:solidFill>
              <a:effectLst/>
              <a:uFillTx/>
              <a:latin typeface="Arial"/>
            </a:endParaRPr>
          </a:p>
        </p:txBody>
      </p:sp>
      <p:sp>
        <p:nvSpPr>
          <p:cNvPr id="49" name="Text 5"/>
          <p:cNvSpPr/>
          <p:nvPr/>
        </p:nvSpPr>
        <p:spPr>
          <a:xfrm rot="16200000">
            <a:off x="0" y="1922760"/>
            <a:ext cx="1094760" cy="3175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64748B"/>
                </a:solidFill>
                <a:effectLst/>
                <a:uFillTx/>
                <a:latin typeface="Calibri"/>
                <a:ea typeface="Calibri"/>
              </a:rPr>
              <a:t>THOUGHT</a:t>
            </a:r>
            <a:endParaRPr lang="en-US" sz="1100" b="0" u="none" strike="noStrike">
              <a:solidFill>
                <a:srgbClr val="000000"/>
              </a:solidFill>
              <a:effectLst/>
              <a:uFillTx/>
              <a:latin typeface="Arial"/>
            </a:endParaRPr>
          </a:p>
        </p:txBody>
      </p:sp>
      <p:sp>
        <p:nvSpPr>
          <p:cNvPr id="50" name="Text 6"/>
          <p:cNvSpPr/>
          <p:nvPr/>
        </p:nvSpPr>
        <p:spPr>
          <a:xfrm rot="16200000">
            <a:off x="0" y="3660120"/>
            <a:ext cx="1094760" cy="3175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64748B"/>
                </a:solidFill>
                <a:effectLst/>
                <a:uFillTx/>
                <a:latin typeface="Calibri"/>
                <a:ea typeface="Calibri"/>
              </a:rPr>
              <a:t>BEHAVIOR</a:t>
            </a:r>
            <a:endParaRPr lang="en-US" sz="1100" b="0" u="none" strike="noStrike">
              <a:solidFill>
                <a:srgbClr val="000000"/>
              </a:solidFill>
              <a:effectLst/>
              <a:uFillTx/>
              <a:latin typeface="Arial"/>
            </a:endParaRPr>
          </a:p>
        </p:txBody>
      </p:sp>
      <p:sp>
        <p:nvSpPr>
          <p:cNvPr id="51" name="Shape 7"/>
          <p:cNvSpPr/>
          <p:nvPr/>
        </p:nvSpPr>
        <p:spPr>
          <a:xfrm>
            <a:off x="1005840" y="1280160"/>
            <a:ext cx="3746520" cy="1551960"/>
          </a:xfrm>
          <a:prstGeom prst="rect">
            <a:avLst/>
          </a:prstGeom>
          <a:solidFill>
            <a:srgbClr val="3A7FD5"/>
          </a:solidFill>
          <a:ln w="12700">
            <a:solidFill>
              <a:srgbClr val="3A7FD5"/>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2" name="Text 8"/>
          <p:cNvSpPr/>
          <p:nvPr/>
        </p:nvSpPr>
        <p:spPr>
          <a:xfrm>
            <a:off x="1097280" y="1371600"/>
            <a:ext cx="3563640" cy="408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Thinking Humanly</a:t>
            </a:r>
            <a:endParaRPr lang="en-US" sz="1400" b="0" u="none" strike="noStrike">
              <a:solidFill>
                <a:srgbClr val="000000"/>
              </a:solidFill>
              <a:effectLst/>
              <a:uFillTx/>
              <a:latin typeface="Arial"/>
            </a:endParaRPr>
          </a:p>
        </p:txBody>
      </p:sp>
      <p:sp>
        <p:nvSpPr>
          <p:cNvPr id="53" name="Text 9"/>
          <p:cNvSpPr/>
          <p:nvPr/>
        </p:nvSpPr>
        <p:spPr>
          <a:xfrm>
            <a:off x="1097280" y="1737360"/>
            <a:ext cx="3563640" cy="100332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00" b="0" u="none" strike="noStrike">
                <a:solidFill>
                  <a:srgbClr val="FFFFFF"/>
                </a:solidFill>
                <a:effectLst/>
                <a:uFillTx/>
                <a:latin typeface="Calibri"/>
                <a:ea typeface="Calibri"/>
              </a:rPr>
              <a:t>Cognitive modeling approach.</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FFFFFF"/>
                </a:solidFill>
                <a:effectLst/>
                <a:uFillTx/>
                <a:latin typeface="Calibri"/>
                <a:ea typeface="Calibri"/>
              </a:rPr>
              <a:t>GPS: match human problem-solving steps (Newell &amp; Simon)</a:t>
            </a:r>
            <a:endParaRPr lang="en-US" sz="1200" b="0" u="none" strike="noStrike">
              <a:solidFill>
                <a:srgbClr val="000000"/>
              </a:solidFill>
              <a:effectLst/>
              <a:uFillTx/>
              <a:latin typeface="Arial"/>
            </a:endParaRPr>
          </a:p>
        </p:txBody>
      </p:sp>
      <p:sp>
        <p:nvSpPr>
          <p:cNvPr id="54" name="Shape 10"/>
          <p:cNvSpPr/>
          <p:nvPr/>
        </p:nvSpPr>
        <p:spPr>
          <a:xfrm>
            <a:off x="5120640" y="1280160"/>
            <a:ext cx="3746520" cy="1551960"/>
          </a:xfrm>
          <a:prstGeom prst="rect">
            <a:avLst/>
          </a:prstGeom>
          <a:solidFill>
            <a:srgbClr val="028090"/>
          </a:solidFill>
          <a:ln w="12700">
            <a:solidFill>
              <a:srgbClr val="028090"/>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 name="Text 11"/>
          <p:cNvSpPr/>
          <p:nvPr/>
        </p:nvSpPr>
        <p:spPr>
          <a:xfrm>
            <a:off x="5212080" y="1371600"/>
            <a:ext cx="3563640" cy="408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Thinking Rationally</a:t>
            </a:r>
            <a:endParaRPr lang="en-US" sz="1400" b="0" u="none" strike="noStrike">
              <a:solidFill>
                <a:srgbClr val="000000"/>
              </a:solidFill>
              <a:effectLst/>
              <a:uFillTx/>
              <a:latin typeface="Arial"/>
            </a:endParaRPr>
          </a:p>
        </p:txBody>
      </p:sp>
      <p:sp>
        <p:nvSpPr>
          <p:cNvPr id="56" name="Text 12"/>
          <p:cNvSpPr/>
          <p:nvPr/>
        </p:nvSpPr>
        <p:spPr>
          <a:xfrm>
            <a:off x="5212080" y="1737360"/>
            <a:ext cx="3563640" cy="100332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00" b="0" u="none" strike="noStrike">
                <a:solidFill>
                  <a:srgbClr val="FFFFFF"/>
                </a:solidFill>
                <a:effectLst/>
                <a:uFillTx/>
                <a:latin typeface="Calibri"/>
                <a:ea typeface="Calibri"/>
              </a:rPr>
              <a:t>Laws of Thought approach.</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FFFFFF"/>
                </a:solidFill>
                <a:effectLst/>
                <a:uFillTx/>
                <a:latin typeface="Calibri"/>
                <a:ea typeface="Calibri"/>
              </a:rPr>
              <a:t>Logic and formal deduction; Aristotle's syllogisms → first-order logic</a:t>
            </a:r>
            <a:endParaRPr lang="en-US" sz="1200" b="0" u="none" strike="noStrike">
              <a:solidFill>
                <a:srgbClr val="000000"/>
              </a:solidFill>
              <a:effectLst/>
              <a:uFillTx/>
              <a:latin typeface="Arial"/>
            </a:endParaRPr>
          </a:p>
        </p:txBody>
      </p:sp>
      <p:sp>
        <p:nvSpPr>
          <p:cNvPr id="57" name="Shape 13"/>
          <p:cNvSpPr/>
          <p:nvPr/>
        </p:nvSpPr>
        <p:spPr>
          <a:xfrm>
            <a:off x="1005840" y="3017520"/>
            <a:ext cx="3746520" cy="1551960"/>
          </a:xfrm>
          <a:prstGeom prst="rect">
            <a:avLst/>
          </a:prstGeom>
          <a:solidFill>
            <a:srgbClr val="6D2E46"/>
          </a:solidFill>
          <a:ln w="12700">
            <a:solidFill>
              <a:srgbClr val="6D2E46"/>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8" name="Text 14"/>
          <p:cNvSpPr/>
          <p:nvPr/>
        </p:nvSpPr>
        <p:spPr>
          <a:xfrm>
            <a:off x="1097280" y="3108960"/>
            <a:ext cx="3563640" cy="408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Acting Humanly</a:t>
            </a:r>
            <a:endParaRPr lang="en-US" sz="1400" b="0" u="none" strike="noStrike">
              <a:solidFill>
                <a:srgbClr val="000000"/>
              </a:solidFill>
              <a:effectLst/>
              <a:uFillTx/>
              <a:latin typeface="Arial"/>
            </a:endParaRPr>
          </a:p>
        </p:txBody>
      </p:sp>
      <p:sp>
        <p:nvSpPr>
          <p:cNvPr id="59" name="Text 15"/>
          <p:cNvSpPr/>
          <p:nvPr/>
        </p:nvSpPr>
        <p:spPr>
          <a:xfrm>
            <a:off x="1097280" y="3474720"/>
            <a:ext cx="3563640" cy="100332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00" b="0" u="none" strike="noStrike">
                <a:solidFill>
                  <a:srgbClr val="FFFFFF"/>
                </a:solidFill>
                <a:effectLst/>
                <a:uFillTx/>
                <a:latin typeface="Calibri"/>
                <a:ea typeface="Calibri"/>
              </a:rPr>
              <a:t>Turing Test approach.</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FFFFFF"/>
                </a:solidFill>
                <a:effectLst/>
                <a:uFillTx/>
                <a:latin typeface="Calibri"/>
                <a:ea typeface="Calibri"/>
              </a:rPr>
              <a:t>Behaviorally indistinguishable from human via NLP, knowledge, reasoning, ML</a:t>
            </a:r>
            <a:endParaRPr lang="en-US" sz="1200" b="0" u="none" strike="noStrike">
              <a:solidFill>
                <a:srgbClr val="000000"/>
              </a:solidFill>
              <a:effectLst/>
              <a:uFillTx/>
              <a:latin typeface="Arial"/>
            </a:endParaRPr>
          </a:p>
        </p:txBody>
      </p:sp>
      <p:sp>
        <p:nvSpPr>
          <p:cNvPr id="60" name="Shape 16"/>
          <p:cNvSpPr/>
          <p:nvPr/>
        </p:nvSpPr>
        <p:spPr>
          <a:xfrm>
            <a:off x="5120640" y="3017520"/>
            <a:ext cx="3746520" cy="1551960"/>
          </a:xfrm>
          <a:prstGeom prst="rect">
            <a:avLst/>
          </a:prstGeom>
          <a:solidFill>
            <a:srgbClr val="1B6B3A"/>
          </a:solidFill>
          <a:ln w="12700">
            <a:solidFill>
              <a:srgbClr val="1B6B3A"/>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1" name="Text 17"/>
          <p:cNvSpPr/>
          <p:nvPr/>
        </p:nvSpPr>
        <p:spPr>
          <a:xfrm>
            <a:off x="5212080" y="3108960"/>
            <a:ext cx="3563640" cy="408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Acting Rationally ✓</a:t>
            </a:r>
            <a:endParaRPr lang="en-US" sz="1400" b="0" u="none" strike="noStrike">
              <a:solidFill>
                <a:srgbClr val="000000"/>
              </a:solidFill>
              <a:effectLst/>
              <a:uFillTx/>
              <a:latin typeface="Arial"/>
            </a:endParaRPr>
          </a:p>
        </p:txBody>
      </p:sp>
      <p:sp>
        <p:nvSpPr>
          <p:cNvPr id="62" name="Text 18"/>
          <p:cNvSpPr/>
          <p:nvPr/>
        </p:nvSpPr>
        <p:spPr>
          <a:xfrm>
            <a:off x="5212080" y="3474720"/>
            <a:ext cx="3563640" cy="100332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00" b="0" u="none" strike="noStrike">
                <a:solidFill>
                  <a:srgbClr val="FFFFFF"/>
                </a:solidFill>
                <a:effectLst/>
                <a:uFillTx/>
                <a:latin typeface="Calibri"/>
                <a:ea typeface="Calibri"/>
              </a:rPr>
              <a:t>Rational Agent approach (dominant).</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FFFFFF"/>
                </a:solidFill>
                <a:effectLst/>
                <a:uFillTx/>
                <a:latin typeface="Calibri"/>
                <a:ea typeface="Calibri"/>
              </a:rPr>
              <a:t>Maximize expected performance; mathematically well-defined &amp; general</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63"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4"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65"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1.1 The Value Alignment Problem</a:t>
            </a:r>
            <a:endParaRPr lang="en-US" sz="2200" b="0" u="none" strike="noStrike">
              <a:solidFill>
                <a:srgbClr val="000000"/>
              </a:solidFill>
              <a:effectLst/>
              <a:uFillTx/>
              <a:latin typeface="Arial"/>
            </a:endParaRPr>
          </a:p>
        </p:txBody>
      </p:sp>
      <p:sp>
        <p:nvSpPr>
          <p:cNvPr id="66" name="Text 3"/>
          <p:cNvSpPr/>
          <p:nvPr/>
        </p:nvSpPr>
        <p:spPr>
          <a:xfrm>
            <a:off x="365760" y="960120"/>
            <a:ext cx="8409960" cy="39751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Standard model: provide the machine a fixed objective → maximize it</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Works in controlled environments where objectives can be reset and refined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Breaks down as systems become more capable and deployed in the real world</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The King Midas Problem</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 chess machine told to 'win at all costs' might hypnotize, blackmail, or bribe its opponent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These behaviors are logically optimal for the stated objective — but not what we desire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The more intelligent the system, the more severe the misalignment consequences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The solution: machines that know they don't know the objective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Instead of fixed objectives → pursue human objectives under uncertainty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Positive incentive to be switched off if uncertain about human goals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Inverse reinforcement learning: learn preferences from human behavior</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Norbert Wiener (1960): 'If we use a mechanical agency with whose operation we cannot interfere effectively … we had better be quite sure that the purpose put into the machine is the purpose which we really desire.'</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decor-background 8"/>
          <p:cNvSpPr/>
          <p:nvPr/>
        </p:nvSpPr>
        <p:spPr>
          <a:xfrm>
            <a:off x="0" y="0"/>
            <a:ext cx="9142560" cy="514224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8" name="decor-section 8"/>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ea typeface="DejaVu Sans"/>
              </a:rPr>
              <a:t>COMP 469 · Chapters 1 &amp; 2 Expanded</a:t>
            </a:r>
            <a:endParaRPr lang="en-US" sz="750" b="0" u="none" strike="noStrike">
              <a:solidFill>
                <a:srgbClr val="000000"/>
              </a:solidFill>
              <a:effectLst/>
              <a:uFillTx/>
              <a:latin typeface="Arial"/>
            </a:endParaRPr>
          </a:p>
        </p:txBody>
      </p:sp>
      <p:sp>
        <p:nvSpPr>
          <p:cNvPr id="69" name="content-title 8"/>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Human-like and rational are different claims</a:t>
            </a:r>
            <a:endParaRPr lang="en-US" sz="2400" b="0" u="none" strike="noStrike">
              <a:solidFill>
                <a:srgbClr val="000000"/>
              </a:solidFill>
              <a:effectLst/>
              <a:uFillTx/>
              <a:latin typeface="Arial"/>
            </a:endParaRPr>
          </a:p>
        </p:txBody>
      </p:sp>
      <p:sp>
        <p:nvSpPr>
          <p:cNvPr id="70" name="content-subtitle 8"/>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A model can be useful without matching the human mind.</a:t>
            </a:r>
            <a:endParaRPr lang="en-US" sz="1150" b="0" u="none" strike="noStrike">
              <a:solidFill>
                <a:srgbClr val="000000"/>
              </a:solidFill>
              <a:effectLst/>
              <a:uFillTx/>
              <a:latin typeface="Arial"/>
            </a:endParaRPr>
          </a:p>
        </p:txBody>
      </p:sp>
      <p:cxnSp>
        <p:nvCxnSpPr>
          <p:cNvPr id="71" name="decor-title-line 8"/>
          <p:cNvCxnSpPr/>
          <p:nvPr/>
        </p:nvCxnSpPr>
        <p:spPr>
          <a:xfrm>
            <a:off x="320040" y="932400"/>
            <a:ext cx="8505360" cy="1440"/>
          </a:xfrm>
          <a:prstGeom prst="straightConnector1">
            <a:avLst/>
          </a:prstGeom>
          <a:ln w="25560">
            <a:solidFill>
              <a:srgbClr val="F2A122"/>
            </a:solidFill>
            <a:round/>
          </a:ln>
        </p:spPr>
      </p:cxnSp>
      <p:sp>
        <p:nvSpPr>
          <p:cNvPr id="72" name="decor-footer 8"/>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sp>
        <p:nvSpPr>
          <p:cNvPr id="73" name="content-card 3"/>
          <p:cNvSpPr/>
          <p:nvPr/>
        </p:nvSpPr>
        <p:spPr>
          <a:xfrm>
            <a:off x="640080" y="1234440"/>
            <a:ext cx="3701880" cy="1233000"/>
          </a:xfrm>
          <a:prstGeom prst="roundRect">
            <a:avLst>
              <a:gd name="adj" fmla="val 16667"/>
            </a:avLst>
          </a:prstGeom>
          <a:solidFill>
            <a:srgbClr val="E7F3FB"/>
          </a:solidFill>
          <a:ln w="12600">
            <a:solidFill>
              <a:srgbClr val="DCE1E8"/>
            </a:solidFill>
            <a:miter/>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4" name="decor-card-accent 3"/>
          <p:cNvSpPr/>
          <p:nvPr/>
        </p:nvSpPr>
        <p:spPr>
          <a:xfrm>
            <a:off x="640080" y="1234440"/>
            <a:ext cx="71640" cy="1233000"/>
          </a:xfrm>
          <a:prstGeom prst="rect">
            <a:avLst/>
          </a:prstGeom>
          <a:solidFill>
            <a:srgbClr val="2084C9"/>
          </a:solidFill>
          <a:ln w="6480">
            <a:noFill/>
          </a:ln>
        </p:spPr>
        <p:style>
          <a:lnRef idx="0"/>
          <a:fillRef idx="0"/>
          <a:effectRef idx="0"/>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75" name="content-card-title 3"/>
          <p:cNvSpPr/>
          <p:nvPr/>
        </p:nvSpPr>
        <p:spPr>
          <a:xfrm>
            <a:off x="804600" y="1344240"/>
            <a:ext cx="344592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ea typeface="DejaVu Sans"/>
              </a:rPr>
              <a:t>Human-like claim</a:t>
            </a:r>
            <a:endParaRPr lang="en-US" sz="1250" b="0" u="none" strike="noStrike">
              <a:solidFill>
                <a:srgbClr val="000000"/>
              </a:solidFill>
              <a:effectLst/>
              <a:uFillTx/>
              <a:latin typeface="Arial"/>
            </a:endParaRPr>
          </a:p>
        </p:txBody>
      </p:sp>
      <p:sp>
        <p:nvSpPr>
          <p:cNvPr id="76" name="content-card-body 3"/>
          <p:cNvSpPr/>
          <p:nvPr/>
        </p:nvSpPr>
        <p:spPr>
          <a:xfrm>
            <a:off x="804600" y="1673280"/>
            <a:ext cx="3445920" cy="7300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ea typeface="DejaVu Sans"/>
              </a:rPr>
              <a:t>Evidence comes from psychology, timing, errors, brain imaging, and behavior matching.</a:t>
            </a:r>
            <a:endParaRPr lang="en-US" sz="1300" b="0" u="none" strike="noStrike">
              <a:solidFill>
                <a:srgbClr val="000000"/>
              </a:solidFill>
              <a:effectLst/>
              <a:uFillTx/>
              <a:latin typeface="Arial"/>
            </a:endParaRPr>
          </a:p>
        </p:txBody>
      </p:sp>
      <p:sp>
        <p:nvSpPr>
          <p:cNvPr id="77" name="content-card 4"/>
          <p:cNvSpPr/>
          <p:nvPr/>
        </p:nvSpPr>
        <p:spPr>
          <a:xfrm>
            <a:off x="4800600" y="1234440"/>
            <a:ext cx="3701880" cy="1233000"/>
          </a:xfrm>
          <a:prstGeom prst="roundRect">
            <a:avLst>
              <a:gd name="adj" fmla="val 16667"/>
            </a:avLst>
          </a:prstGeom>
          <a:solidFill>
            <a:srgbClr val="EDF8F4"/>
          </a:solidFill>
          <a:ln w="12600">
            <a:solidFill>
              <a:srgbClr val="DCE1E8"/>
            </a:solidFill>
            <a:miter/>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8" name="decor-card-accent 4"/>
          <p:cNvSpPr/>
          <p:nvPr/>
        </p:nvSpPr>
        <p:spPr>
          <a:xfrm>
            <a:off x="4800600" y="1234440"/>
            <a:ext cx="71640" cy="1233000"/>
          </a:xfrm>
          <a:prstGeom prst="rect">
            <a:avLst/>
          </a:prstGeom>
          <a:solidFill>
            <a:srgbClr val="4A9D50"/>
          </a:solidFill>
          <a:ln w="6480">
            <a:noFill/>
          </a:ln>
        </p:spPr>
        <p:style>
          <a:lnRef idx="0"/>
          <a:fillRef idx="0"/>
          <a:effectRef idx="0"/>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79" name="content-card-title 4"/>
          <p:cNvSpPr/>
          <p:nvPr/>
        </p:nvSpPr>
        <p:spPr>
          <a:xfrm>
            <a:off x="4965120" y="1344240"/>
            <a:ext cx="344592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ea typeface="DejaVu Sans"/>
              </a:rPr>
              <a:t>Rational claim</a:t>
            </a:r>
            <a:endParaRPr lang="en-US" sz="1250" b="0" u="none" strike="noStrike">
              <a:solidFill>
                <a:srgbClr val="000000"/>
              </a:solidFill>
              <a:effectLst/>
              <a:uFillTx/>
              <a:latin typeface="Arial"/>
            </a:endParaRPr>
          </a:p>
        </p:txBody>
      </p:sp>
      <p:sp>
        <p:nvSpPr>
          <p:cNvPr id="80" name="content-card-body 4"/>
          <p:cNvSpPr/>
          <p:nvPr/>
        </p:nvSpPr>
        <p:spPr>
          <a:xfrm>
            <a:off x="4965120" y="1673280"/>
            <a:ext cx="3445920" cy="7300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ea typeface="DejaVu Sans"/>
              </a:rPr>
              <a:t>Evidence comes from math, optimality, expected utility, proof, probability, and performance.</a:t>
            </a:r>
            <a:endParaRPr lang="en-US" sz="1300" b="0" u="none" strike="noStrike">
              <a:solidFill>
                <a:srgbClr val="000000"/>
              </a:solidFill>
              <a:effectLst/>
              <a:uFillTx/>
              <a:latin typeface="Arial"/>
            </a:endParaRPr>
          </a:p>
        </p:txBody>
      </p:sp>
      <p:sp>
        <p:nvSpPr>
          <p:cNvPr id="81" name="content-analogy 2"/>
          <p:cNvSpPr/>
          <p:nvPr/>
        </p:nvSpPr>
        <p:spPr>
          <a:xfrm>
            <a:off x="1143000" y="2971800"/>
            <a:ext cx="6856560" cy="410040"/>
          </a:xfrm>
          <a:prstGeom prst="rect">
            <a:avLst/>
          </a:prstGeom>
          <a:solidFill>
            <a:srgbClr val="F7F8FA"/>
          </a:solidFill>
          <a:ln w="0">
            <a:solidFill>
              <a:srgbClr val="DCE1E8"/>
            </a:solidFill>
          </a:ln>
        </p:spPr>
        <p:style>
          <a:lnRef idx="0"/>
          <a:fillRef idx="0"/>
          <a:effectRef idx="0"/>
          <a:fontRef idx="minor"/>
        </p:style>
        <p:txBody>
          <a:bodyPr lIns="73080" tIns="73080" rIns="73080" bIns="73080" anchor="t">
            <a:normAutofit fontScale="77500" lnSpcReduction="19999"/>
          </a:bodyPr>
          <a:p>
            <a:pPr algn="ctr">
              <a:lnSpc>
                <a:spcPct val="100000"/>
              </a:lnSpc>
            </a:pPr>
            <a:r>
              <a:rPr lang="en-US" sz="1900" b="1" u="none" strike="noStrike">
                <a:solidFill>
                  <a:srgbClr val="091F3F"/>
                </a:solidFill>
                <a:effectLst/>
                <a:uFillTx/>
                <a:latin typeface="Aptos"/>
                <a:ea typeface="DejaVu Sans"/>
              </a:rPr>
              <a:t>Example: an airplane does not flap like a bird, but it still solves flight.</a:t>
            </a:r>
            <a:endParaRPr lang="en-US" sz="1900" b="0" u="none" strike="noStrike">
              <a:solidFill>
                <a:srgbClr val="000000"/>
              </a:solidFill>
              <a:effectLst/>
              <a:uFillTx/>
              <a:latin typeface="Arial"/>
            </a:endParaRPr>
          </a:p>
        </p:txBody>
      </p:sp>
      <p:sp>
        <p:nvSpPr>
          <p:cNvPr id="82" name="content-bullets 8"/>
          <p:cNvSpPr/>
          <p:nvPr/>
        </p:nvSpPr>
        <p:spPr>
          <a:xfrm>
            <a:off x="1143000" y="3657600"/>
            <a:ext cx="6856560" cy="63864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500" b="0" u="none" strike="noStrike">
                <a:solidFill>
                  <a:srgbClr val="1E1E1E"/>
                </a:solidFill>
                <a:effectLst/>
                <a:uFillTx/>
                <a:latin typeface="Aptos"/>
                <a:ea typeface="DejaVu Sans"/>
              </a:rPr>
              <a:t>• Cognitive science asks: is this how people think?</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AI engineering asks: does this agent act effectively?</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decor-background 9"/>
          <p:cNvSpPr/>
          <p:nvPr/>
        </p:nvSpPr>
        <p:spPr>
          <a:xfrm>
            <a:off x="0" y="0"/>
            <a:ext cx="9142560" cy="514224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4" name="decor-section 9"/>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ea typeface="DejaVu Sans"/>
              </a:rPr>
              <a:t>COMP 469 · Chapters 1 &amp; 2 Expanded</a:t>
            </a:r>
            <a:endParaRPr lang="en-US" sz="750" b="0" u="none" strike="noStrike">
              <a:solidFill>
                <a:srgbClr val="000000"/>
              </a:solidFill>
              <a:effectLst/>
              <a:uFillTx/>
              <a:latin typeface="Arial"/>
            </a:endParaRPr>
          </a:p>
        </p:txBody>
      </p:sp>
      <p:sp>
        <p:nvSpPr>
          <p:cNvPr id="85" name="content-title 9"/>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Seven foundations: what each contributes</a:t>
            </a:r>
            <a:endParaRPr lang="en-US" sz="2400" b="0" u="none" strike="noStrike">
              <a:solidFill>
                <a:srgbClr val="000000"/>
              </a:solidFill>
              <a:effectLst/>
              <a:uFillTx/>
              <a:latin typeface="Arial"/>
            </a:endParaRPr>
          </a:p>
        </p:txBody>
      </p:sp>
      <p:sp>
        <p:nvSpPr>
          <p:cNvPr id="86" name="content-subtitle 9"/>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AI borrows tools and questions from many disciplines.</a:t>
            </a:r>
            <a:endParaRPr lang="en-US" sz="1150" b="0" u="none" strike="noStrike">
              <a:solidFill>
                <a:srgbClr val="000000"/>
              </a:solidFill>
              <a:effectLst/>
              <a:uFillTx/>
              <a:latin typeface="Arial"/>
            </a:endParaRPr>
          </a:p>
        </p:txBody>
      </p:sp>
      <p:cxnSp>
        <p:nvCxnSpPr>
          <p:cNvPr id="87" name="decor-title-line 9"/>
          <p:cNvCxnSpPr/>
          <p:nvPr/>
        </p:nvCxnSpPr>
        <p:spPr>
          <a:xfrm>
            <a:off x="320040" y="932400"/>
            <a:ext cx="8505360" cy="1440"/>
          </a:xfrm>
          <a:prstGeom prst="straightConnector1">
            <a:avLst/>
          </a:prstGeom>
          <a:ln w="25560">
            <a:solidFill>
              <a:srgbClr val="F2A122"/>
            </a:solidFill>
            <a:round/>
          </a:ln>
        </p:spPr>
      </p:cxnSp>
      <p:sp>
        <p:nvSpPr>
          <p:cNvPr id="88" name="decor-footer 9"/>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pic>
        <p:nvPicPr>
          <p:cNvPr id="89" name="content-blocks-image 2" descr="image3.png"/>
          <p:cNvPicPr/>
          <p:nvPr/>
        </p:nvPicPr>
        <p:blipFill>
          <a:blip r:embed="rId1"/>
          <a:stretch/>
        </p:blipFill>
        <p:spPr>
          <a:xfrm>
            <a:off x="5257800" y="1143000"/>
            <a:ext cx="3290400" cy="2010240"/>
          </a:xfrm>
          <a:prstGeom prst="rect">
            <a:avLst/>
          </a:prstGeom>
          <a:noFill/>
          <a:ln w="0">
            <a:noFill/>
          </a:ln>
        </p:spPr>
      </p:pic>
      <p:sp>
        <p:nvSpPr>
          <p:cNvPr id="90" name="content-foundation 8"/>
          <p:cNvSpPr/>
          <p:nvPr/>
        </p:nvSpPr>
        <p:spPr>
          <a:xfrm>
            <a:off x="594360" y="1005840"/>
            <a:ext cx="132444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ea typeface="DejaVu Sans"/>
              </a:rPr>
              <a:t>Philosophy</a:t>
            </a:r>
            <a:endParaRPr lang="en-US" sz="1050" b="0" u="none" strike="noStrike">
              <a:solidFill>
                <a:srgbClr val="000000"/>
              </a:solidFill>
              <a:effectLst/>
              <a:uFillTx/>
              <a:latin typeface="Arial"/>
            </a:endParaRPr>
          </a:p>
        </p:txBody>
      </p:sp>
      <p:sp>
        <p:nvSpPr>
          <p:cNvPr id="91" name="content-foundation-detail 8"/>
          <p:cNvSpPr/>
          <p:nvPr/>
        </p:nvSpPr>
        <p:spPr>
          <a:xfrm>
            <a:off x="1828800" y="1005840"/>
            <a:ext cx="292464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0" u="none" strike="noStrike">
                <a:solidFill>
                  <a:srgbClr val="1E1E1E"/>
                </a:solidFill>
                <a:effectLst/>
                <a:uFillTx/>
                <a:latin typeface="Aptos"/>
                <a:ea typeface="DejaVu Sans"/>
              </a:rPr>
              <a:t>logic, ethics, mind</a:t>
            </a:r>
            <a:endParaRPr lang="en-US" sz="1050" b="0" u="none" strike="noStrike">
              <a:solidFill>
                <a:srgbClr val="000000"/>
              </a:solidFill>
              <a:effectLst/>
              <a:uFillTx/>
              <a:latin typeface="Arial"/>
            </a:endParaRPr>
          </a:p>
        </p:txBody>
      </p:sp>
      <p:sp>
        <p:nvSpPr>
          <p:cNvPr id="92" name="content-foundation 9"/>
          <p:cNvSpPr/>
          <p:nvPr/>
        </p:nvSpPr>
        <p:spPr>
          <a:xfrm>
            <a:off x="594360" y="1435680"/>
            <a:ext cx="132444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ea typeface="DejaVu Sans"/>
              </a:rPr>
              <a:t>Mathematics</a:t>
            </a:r>
            <a:endParaRPr lang="en-US" sz="1050" b="0" u="none" strike="noStrike">
              <a:solidFill>
                <a:srgbClr val="000000"/>
              </a:solidFill>
              <a:effectLst/>
              <a:uFillTx/>
              <a:latin typeface="Arial"/>
            </a:endParaRPr>
          </a:p>
        </p:txBody>
      </p:sp>
      <p:sp>
        <p:nvSpPr>
          <p:cNvPr id="93" name="content-foundation-detail 9"/>
          <p:cNvSpPr/>
          <p:nvPr/>
        </p:nvSpPr>
        <p:spPr>
          <a:xfrm>
            <a:off x="1828800" y="1435680"/>
            <a:ext cx="292464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0" u="none" strike="noStrike">
                <a:solidFill>
                  <a:srgbClr val="1E1E1E"/>
                </a:solidFill>
                <a:effectLst/>
                <a:uFillTx/>
                <a:latin typeface="Aptos"/>
                <a:ea typeface="DejaVu Sans"/>
              </a:rPr>
              <a:t>proof, probability, complexity</a:t>
            </a:r>
            <a:endParaRPr lang="en-US" sz="1050" b="0" u="none" strike="noStrike">
              <a:solidFill>
                <a:srgbClr val="000000"/>
              </a:solidFill>
              <a:effectLst/>
              <a:uFillTx/>
              <a:latin typeface="Arial"/>
            </a:endParaRPr>
          </a:p>
        </p:txBody>
      </p:sp>
      <p:sp>
        <p:nvSpPr>
          <p:cNvPr id="94" name="content-foundation 10"/>
          <p:cNvSpPr/>
          <p:nvPr/>
        </p:nvSpPr>
        <p:spPr>
          <a:xfrm>
            <a:off x="594360" y="1865520"/>
            <a:ext cx="132444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ea typeface="DejaVu Sans"/>
              </a:rPr>
              <a:t>Economics</a:t>
            </a:r>
            <a:endParaRPr lang="en-US" sz="1050" b="0" u="none" strike="noStrike">
              <a:solidFill>
                <a:srgbClr val="000000"/>
              </a:solidFill>
              <a:effectLst/>
              <a:uFillTx/>
              <a:latin typeface="Arial"/>
            </a:endParaRPr>
          </a:p>
        </p:txBody>
      </p:sp>
      <p:sp>
        <p:nvSpPr>
          <p:cNvPr id="95" name="content-foundation-detail 10"/>
          <p:cNvSpPr/>
          <p:nvPr/>
        </p:nvSpPr>
        <p:spPr>
          <a:xfrm>
            <a:off x="1828800" y="1865520"/>
            <a:ext cx="292464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0" u="none" strike="noStrike">
                <a:solidFill>
                  <a:srgbClr val="1E1E1E"/>
                </a:solidFill>
                <a:effectLst/>
                <a:uFillTx/>
                <a:latin typeface="Aptos"/>
                <a:ea typeface="DejaVu Sans"/>
              </a:rPr>
              <a:t>utility, games, decisions</a:t>
            </a:r>
            <a:endParaRPr lang="en-US" sz="1050" b="0" u="none" strike="noStrike">
              <a:solidFill>
                <a:srgbClr val="000000"/>
              </a:solidFill>
              <a:effectLst/>
              <a:uFillTx/>
              <a:latin typeface="Arial"/>
            </a:endParaRPr>
          </a:p>
        </p:txBody>
      </p:sp>
      <p:sp>
        <p:nvSpPr>
          <p:cNvPr id="96" name="content-foundation 11"/>
          <p:cNvSpPr/>
          <p:nvPr/>
        </p:nvSpPr>
        <p:spPr>
          <a:xfrm>
            <a:off x="594360" y="2295000"/>
            <a:ext cx="132444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ea typeface="DejaVu Sans"/>
              </a:rPr>
              <a:t>Neuroscience</a:t>
            </a:r>
            <a:endParaRPr lang="en-US" sz="1050" b="0" u="none" strike="noStrike">
              <a:solidFill>
                <a:srgbClr val="000000"/>
              </a:solidFill>
              <a:effectLst/>
              <a:uFillTx/>
              <a:latin typeface="Arial"/>
            </a:endParaRPr>
          </a:p>
        </p:txBody>
      </p:sp>
      <p:sp>
        <p:nvSpPr>
          <p:cNvPr id="97" name="content-foundation-detail 11"/>
          <p:cNvSpPr/>
          <p:nvPr/>
        </p:nvSpPr>
        <p:spPr>
          <a:xfrm>
            <a:off x="1828800" y="2295000"/>
            <a:ext cx="292464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0" u="none" strike="noStrike">
                <a:solidFill>
                  <a:srgbClr val="1E1E1E"/>
                </a:solidFill>
                <a:effectLst/>
                <a:uFillTx/>
                <a:latin typeface="Aptos"/>
                <a:ea typeface="DejaVu Sans"/>
              </a:rPr>
              <a:t>brains, neurons</a:t>
            </a:r>
            <a:endParaRPr lang="en-US" sz="1050" b="0" u="none" strike="noStrike">
              <a:solidFill>
                <a:srgbClr val="000000"/>
              </a:solidFill>
              <a:effectLst/>
              <a:uFillTx/>
              <a:latin typeface="Arial"/>
            </a:endParaRPr>
          </a:p>
        </p:txBody>
      </p:sp>
      <p:sp>
        <p:nvSpPr>
          <p:cNvPr id="98" name="content-foundation 12"/>
          <p:cNvSpPr/>
          <p:nvPr/>
        </p:nvSpPr>
        <p:spPr>
          <a:xfrm>
            <a:off x="594360" y="2724840"/>
            <a:ext cx="132444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ea typeface="DejaVu Sans"/>
              </a:rPr>
              <a:t>Psychology</a:t>
            </a:r>
            <a:endParaRPr lang="en-US" sz="1050" b="0" u="none" strike="noStrike">
              <a:solidFill>
                <a:srgbClr val="000000"/>
              </a:solidFill>
              <a:effectLst/>
              <a:uFillTx/>
              <a:latin typeface="Arial"/>
            </a:endParaRPr>
          </a:p>
        </p:txBody>
      </p:sp>
      <p:sp>
        <p:nvSpPr>
          <p:cNvPr id="99" name="content-foundation-detail 12"/>
          <p:cNvSpPr/>
          <p:nvPr/>
        </p:nvSpPr>
        <p:spPr>
          <a:xfrm>
            <a:off x="1828800" y="2724840"/>
            <a:ext cx="292464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0" u="none" strike="noStrike">
                <a:solidFill>
                  <a:srgbClr val="1E1E1E"/>
                </a:solidFill>
                <a:effectLst/>
                <a:uFillTx/>
                <a:latin typeface="Aptos"/>
                <a:ea typeface="DejaVu Sans"/>
              </a:rPr>
              <a:t>cognition, behavior</a:t>
            </a:r>
            <a:endParaRPr lang="en-US" sz="1050" b="0" u="none" strike="noStrike">
              <a:solidFill>
                <a:srgbClr val="000000"/>
              </a:solidFill>
              <a:effectLst/>
              <a:uFillTx/>
              <a:latin typeface="Arial"/>
            </a:endParaRPr>
          </a:p>
        </p:txBody>
      </p:sp>
      <p:sp>
        <p:nvSpPr>
          <p:cNvPr id="100" name="content-foundation 13"/>
          <p:cNvSpPr/>
          <p:nvPr/>
        </p:nvSpPr>
        <p:spPr>
          <a:xfrm>
            <a:off x="594360" y="3154680"/>
            <a:ext cx="132444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ea typeface="DejaVu Sans"/>
              </a:rPr>
              <a:t>Linguistics</a:t>
            </a:r>
            <a:endParaRPr lang="en-US" sz="1050" b="0" u="none" strike="noStrike">
              <a:solidFill>
                <a:srgbClr val="000000"/>
              </a:solidFill>
              <a:effectLst/>
              <a:uFillTx/>
              <a:latin typeface="Arial"/>
            </a:endParaRPr>
          </a:p>
        </p:txBody>
      </p:sp>
      <p:sp>
        <p:nvSpPr>
          <p:cNvPr id="101" name="content-foundation-detail 13"/>
          <p:cNvSpPr/>
          <p:nvPr/>
        </p:nvSpPr>
        <p:spPr>
          <a:xfrm>
            <a:off x="1828800" y="3154680"/>
            <a:ext cx="292464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0" u="none" strike="noStrike">
                <a:solidFill>
                  <a:srgbClr val="1E1E1E"/>
                </a:solidFill>
                <a:effectLst/>
                <a:uFillTx/>
                <a:latin typeface="Aptos"/>
                <a:ea typeface="DejaVu Sans"/>
              </a:rPr>
              <a:t>language structure</a:t>
            </a:r>
            <a:endParaRPr lang="en-US" sz="1050" b="0" u="none" strike="noStrike">
              <a:solidFill>
                <a:srgbClr val="000000"/>
              </a:solidFill>
              <a:effectLst/>
              <a:uFillTx/>
              <a:latin typeface="Arial"/>
            </a:endParaRPr>
          </a:p>
        </p:txBody>
      </p:sp>
      <p:sp>
        <p:nvSpPr>
          <p:cNvPr id="102" name="content-foundation 14"/>
          <p:cNvSpPr/>
          <p:nvPr/>
        </p:nvSpPr>
        <p:spPr>
          <a:xfrm>
            <a:off x="594360" y="3584520"/>
            <a:ext cx="132444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ea typeface="DejaVu Sans"/>
              </a:rPr>
              <a:t>Engineering</a:t>
            </a:r>
            <a:endParaRPr lang="en-US" sz="1050" b="0" u="none" strike="noStrike">
              <a:solidFill>
                <a:srgbClr val="000000"/>
              </a:solidFill>
              <a:effectLst/>
              <a:uFillTx/>
              <a:latin typeface="Arial"/>
            </a:endParaRPr>
          </a:p>
        </p:txBody>
      </p:sp>
      <p:sp>
        <p:nvSpPr>
          <p:cNvPr id="103" name="content-foundation-detail 14"/>
          <p:cNvSpPr/>
          <p:nvPr/>
        </p:nvSpPr>
        <p:spPr>
          <a:xfrm>
            <a:off x="1828800" y="3584520"/>
            <a:ext cx="292464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0" u="none" strike="noStrike">
                <a:solidFill>
                  <a:srgbClr val="1E1E1E"/>
                </a:solidFill>
                <a:effectLst/>
                <a:uFillTx/>
                <a:latin typeface="Aptos"/>
                <a:ea typeface="DejaVu Sans"/>
              </a:rPr>
              <a:t>hardware, control</a:t>
            </a:r>
            <a:endParaRPr lang="en-US" sz="1050" b="0" u="none" strike="noStrike">
              <a:solidFill>
                <a:srgbClr val="000000"/>
              </a:solidFill>
              <a:effectLst/>
              <a:uFillTx/>
              <a:latin typeface="Arial"/>
            </a:endParaRPr>
          </a:p>
        </p:txBody>
      </p:sp>
      <p:sp>
        <p:nvSpPr>
          <p:cNvPr id="104" name="content-insight 2"/>
          <p:cNvSpPr/>
          <p:nvPr/>
        </p:nvSpPr>
        <p:spPr>
          <a:xfrm>
            <a:off x="4754880" y="3429000"/>
            <a:ext cx="3884760" cy="501480"/>
          </a:xfrm>
          <a:prstGeom prst="rect">
            <a:avLst/>
          </a:prstGeom>
          <a:solidFill>
            <a:srgbClr val="E7F3FB"/>
          </a:solidFill>
          <a:ln w="0">
            <a:solidFill>
              <a:srgbClr val="DCE1E8"/>
            </a:solidFill>
          </a:ln>
        </p:spPr>
        <p:style>
          <a:lnRef idx="0"/>
          <a:fillRef idx="0"/>
          <a:effectRef idx="0"/>
          <a:fontRef idx="minor"/>
        </p:style>
        <p:txBody>
          <a:bodyPr lIns="90000" tIns="91440" rIns="90000" bIns="91440" anchor="t">
            <a:normAutofit fontScale="62500" lnSpcReduction="19999"/>
          </a:bodyPr>
          <a:p>
            <a:pPr>
              <a:lnSpc>
                <a:spcPct val="100000"/>
              </a:lnSpc>
            </a:pPr>
            <a:r>
              <a:rPr lang="en-US" sz="1400" b="1" u="none" strike="noStrike">
                <a:solidFill>
                  <a:srgbClr val="091F3F"/>
                </a:solidFill>
                <a:effectLst/>
                <a:uFillTx/>
                <a:latin typeface="Aptos"/>
                <a:ea typeface="DejaVu Sans"/>
              </a:rPr>
              <a:t>No single foundation is enough; intelligent agents need representation, uncertainty, learning, action, and computation.</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05"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6"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07"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1.2 Foundations of AI — Seven Disciplines</a:t>
            </a:r>
            <a:endParaRPr lang="en-US" sz="2200" b="0" u="none" strike="noStrike">
              <a:solidFill>
                <a:srgbClr val="000000"/>
              </a:solidFill>
              <a:effectLst/>
              <a:uFillTx/>
              <a:latin typeface="Arial"/>
            </a:endParaRPr>
          </a:p>
        </p:txBody>
      </p:sp>
      <p:sp>
        <p:nvSpPr>
          <p:cNvPr id="108" name="Text 3"/>
          <p:cNvSpPr/>
          <p:nvPr/>
        </p:nvSpPr>
        <p:spPr>
          <a:xfrm>
            <a:off x="365760" y="914400"/>
            <a:ext cx="8409960" cy="39751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 Philosophy</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Can formal rules draw valid conclusions? → Aristotle's syllogisms, logic</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How does mind relate to brain? Dualism vs. materialism</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Consequentialism (Mill) vs. Deontological ethics (Kant)</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Mathematics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Formal logic (Boole → Frege → Gödel → Turing)</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Probability theory: Bayes' rule, decision theory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Computability &amp; tractability: Church-Turing thesis, NP-completeness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Economics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Expected utility maximization (Bernoulli, von Neumann)</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Game theory for multiagent settings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Sequential decisions: MDPs (Bellman, 1957); satisficing (Simon)</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Neuroscience + Psychology + Linguistics + Engineering</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Neurons, Hebbian learning, brain-machine interfaces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Cognitive psychology: brain as information processor (Craik 1943)</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Chomsky: language requires formal, learnable models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Computing hardware: Moore's Law, GPUs, TPUs</a:t>
            </a:r>
            <a:endParaRPr lang="en-US" sz="1300" b="0" u="none" strike="noStrike">
              <a:solidFill>
                <a:srgbClr val="000000"/>
              </a:solidFill>
              <a:effectLst/>
              <a:uFillTx/>
              <a:latin typeface="Arial"/>
            </a:endParaRPr>
          </a:p>
        </p:txBody>
      </p:sp>
      <p:pic>
        <p:nvPicPr>
          <p:cNvPr id="109" name=""/>
          <p:cNvPicPr/>
          <p:nvPr/>
        </p:nvPicPr>
        <p:blipFill>
          <a:blip r:embed="rId1"/>
          <a:stretch/>
        </p:blipFill>
        <p:spPr>
          <a:xfrm>
            <a:off x="6545520" y="804960"/>
            <a:ext cx="996120" cy="1250280"/>
          </a:xfrm>
          <a:prstGeom prst="rect">
            <a:avLst/>
          </a:prstGeom>
          <a:noFill/>
          <a:ln w="0">
            <a:noFill/>
          </a:ln>
        </p:spPr>
      </p:pic>
      <p:pic>
        <p:nvPicPr>
          <p:cNvPr id="110" name=""/>
          <p:cNvPicPr/>
          <p:nvPr/>
        </p:nvPicPr>
        <p:blipFill>
          <a:blip r:embed="rId2"/>
          <a:stretch/>
        </p:blipFill>
        <p:spPr>
          <a:xfrm>
            <a:off x="7746480" y="2057400"/>
            <a:ext cx="938160" cy="125028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11"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2"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13"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1.2.2 Mathematical Foundations</a:t>
            </a:r>
            <a:endParaRPr lang="en-US" sz="2200" b="0" u="none" strike="noStrike">
              <a:solidFill>
                <a:srgbClr val="000000"/>
              </a:solidFill>
              <a:effectLst/>
              <a:uFillTx/>
              <a:latin typeface="Arial"/>
            </a:endParaRPr>
          </a:p>
        </p:txBody>
      </p:sp>
      <p:sp>
        <p:nvSpPr>
          <p:cNvPr id="114" name="Shape 3"/>
          <p:cNvSpPr/>
          <p:nvPr/>
        </p:nvSpPr>
        <p:spPr>
          <a:xfrm>
            <a:off x="320040" y="1005840"/>
            <a:ext cx="3929400" cy="383796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5" name="Shape 4"/>
          <p:cNvSpPr/>
          <p:nvPr/>
        </p:nvSpPr>
        <p:spPr>
          <a:xfrm>
            <a:off x="320040" y="1005840"/>
            <a:ext cx="3929400" cy="408960"/>
          </a:xfrm>
          <a:prstGeom prst="rect">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6" name="Text 5"/>
          <p:cNvSpPr/>
          <p:nvPr/>
        </p:nvSpPr>
        <p:spPr>
          <a:xfrm>
            <a:off x="320040" y="1005840"/>
            <a:ext cx="3929400" cy="408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Logic &amp; Computation</a:t>
            </a:r>
            <a:endParaRPr lang="en-US" sz="1400" b="0" u="none" strike="noStrike">
              <a:solidFill>
                <a:srgbClr val="000000"/>
              </a:solidFill>
              <a:effectLst/>
              <a:uFillTx/>
              <a:latin typeface="Arial"/>
            </a:endParaRPr>
          </a:p>
        </p:txBody>
      </p:sp>
      <p:sp>
        <p:nvSpPr>
          <p:cNvPr id="117" name="Text 6"/>
          <p:cNvSpPr/>
          <p:nvPr/>
        </p:nvSpPr>
        <p:spPr>
          <a:xfrm>
            <a:off x="457200" y="1508760"/>
            <a:ext cx="3655080" cy="31978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Boole (1847): Boolean / propositional logic</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Frege (1879): first-order logic with objects &amp; relations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Gödel incompleteness theorem (1931): some truths have no proof</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Turing (1936): Church-Turing thesis; defines computability</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Turing also proved some functions are uncomputable (halting problem)</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Tractability: polynomial vs. exponential; NP-completeness (Cook 1971)</a:t>
            </a:r>
            <a:endParaRPr lang="en-US" sz="1300" b="0" u="none" strike="noStrike">
              <a:solidFill>
                <a:srgbClr val="000000"/>
              </a:solidFill>
              <a:effectLst/>
              <a:uFillTx/>
              <a:latin typeface="Arial"/>
            </a:endParaRPr>
          </a:p>
        </p:txBody>
      </p:sp>
      <p:sp>
        <p:nvSpPr>
          <p:cNvPr id="118" name="Shape 7"/>
          <p:cNvSpPr/>
          <p:nvPr/>
        </p:nvSpPr>
        <p:spPr>
          <a:xfrm>
            <a:off x="4892040" y="1005840"/>
            <a:ext cx="3929400" cy="383796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9" name="Shape 8"/>
          <p:cNvSpPr/>
          <p:nvPr/>
        </p:nvSpPr>
        <p:spPr>
          <a:xfrm>
            <a:off x="4892040" y="1005840"/>
            <a:ext cx="3929400" cy="40896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0" name="Text 9"/>
          <p:cNvSpPr/>
          <p:nvPr/>
        </p:nvSpPr>
        <p:spPr>
          <a:xfrm>
            <a:off x="4892040" y="1005840"/>
            <a:ext cx="3929400" cy="408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Probability &amp; Statistics</a:t>
            </a:r>
            <a:endParaRPr lang="en-US" sz="1400" b="0" u="none" strike="noStrike">
              <a:solidFill>
                <a:srgbClr val="000000"/>
              </a:solidFill>
              <a:effectLst/>
              <a:uFillTx/>
              <a:latin typeface="Arial"/>
            </a:endParaRPr>
          </a:p>
        </p:txBody>
      </p:sp>
      <p:sp>
        <p:nvSpPr>
          <p:cNvPr id="121" name="Text 10"/>
          <p:cNvSpPr/>
          <p:nvPr/>
        </p:nvSpPr>
        <p:spPr>
          <a:xfrm>
            <a:off x="5029200" y="1508760"/>
            <a:ext cx="3655080" cy="31978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Cardano (1501): first formal probability</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Bayes (1702): updating probabilities from evidence; Bayes' rule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Laplace, Bernoulli: statistical foundations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Fisher (1922): modern statistics; experiment design + analysis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Key insight: probability generalizes logic to uncertain worlds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Combined with data → modern ML and Bayesian networks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22"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3"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24"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1.3 History of AI – Key Eras</a:t>
            </a:r>
            <a:endParaRPr lang="en-US" sz="2200" b="0" u="none" strike="noStrike">
              <a:solidFill>
                <a:srgbClr val="000000"/>
              </a:solidFill>
              <a:effectLst/>
              <a:uFillTx/>
              <a:latin typeface="Arial"/>
            </a:endParaRPr>
          </a:p>
        </p:txBody>
      </p:sp>
      <p:sp>
        <p:nvSpPr>
          <p:cNvPr id="125" name="Shape 3"/>
          <p:cNvSpPr/>
          <p:nvPr/>
        </p:nvSpPr>
        <p:spPr>
          <a:xfrm>
            <a:off x="365760" y="2331720"/>
            <a:ext cx="8409960" cy="162000"/>
          </a:xfrm>
          <a:prstGeom prst="rect">
            <a:avLst/>
          </a:prstGeom>
          <a:solidFill>
            <a:srgbClr val="CBD5E1"/>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6" name="Shape 4"/>
          <p:cNvSpPr/>
          <p:nvPr/>
        </p:nvSpPr>
        <p:spPr>
          <a:xfrm>
            <a:off x="777240" y="2249280"/>
            <a:ext cx="253440" cy="253440"/>
          </a:xfrm>
          <a:prstGeom prst="ellipse">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7" name="Text 5"/>
          <p:cNvSpPr/>
          <p:nvPr/>
        </p:nvSpPr>
        <p:spPr>
          <a:xfrm>
            <a:off x="365760" y="960120"/>
            <a:ext cx="1186200" cy="774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3A7FD5"/>
                </a:solidFill>
                <a:effectLst/>
                <a:uFillTx/>
                <a:latin typeface="Calibri"/>
                <a:ea typeface="Calibri"/>
              </a:rPr>
              <a:t>1943–56</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3A7FD5"/>
                </a:solidFill>
                <a:effectLst/>
                <a:uFillTx/>
                <a:latin typeface="Calibri"/>
                <a:ea typeface="Calibri"/>
              </a:rPr>
              <a:t>Inception</a:t>
            </a:r>
            <a:endParaRPr lang="en-US" sz="950" b="0" u="none" strike="noStrike">
              <a:solidFill>
                <a:srgbClr val="000000"/>
              </a:solidFill>
              <a:effectLst/>
              <a:uFillTx/>
              <a:latin typeface="Arial"/>
            </a:endParaRPr>
          </a:p>
        </p:txBody>
      </p:sp>
      <p:sp>
        <p:nvSpPr>
          <p:cNvPr id="128" name="Shape 6"/>
          <p:cNvSpPr/>
          <p:nvPr/>
        </p:nvSpPr>
        <p:spPr>
          <a:xfrm>
            <a:off x="905040" y="1737360"/>
            <a:ext cx="360" cy="511920"/>
          </a:xfrm>
          <a:prstGeom prst="line">
            <a:avLst/>
          </a:prstGeom>
          <a:ln w="19050">
            <a:solidFill>
              <a:srgbClr val="3A7FD5"/>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29" name="Text 7"/>
          <p:cNvSpPr/>
          <p:nvPr/>
        </p:nvSpPr>
        <p:spPr>
          <a:xfrm>
            <a:off x="365760" y="2541960"/>
            <a:ext cx="118620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McCulloch &amp; Pitts</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Dartmouth 1956</a:t>
            </a:r>
            <a:endParaRPr lang="en-US" sz="900" b="0" u="none" strike="noStrike">
              <a:solidFill>
                <a:srgbClr val="000000"/>
              </a:solidFill>
              <a:effectLst/>
              <a:uFillTx/>
              <a:latin typeface="Arial"/>
            </a:endParaRPr>
          </a:p>
        </p:txBody>
      </p:sp>
      <p:sp>
        <p:nvSpPr>
          <p:cNvPr id="130" name="Shape 8"/>
          <p:cNvSpPr/>
          <p:nvPr/>
        </p:nvSpPr>
        <p:spPr>
          <a:xfrm>
            <a:off x="2057400" y="2249280"/>
            <a:ext cx="253440" cy="253440"/>
          </a:xfrm>
          <a:prstGeom prst="ellipse">
            <a:avLst/>
          </a:prstGeom>
          <a:solidFill>
            <a:srgbClr val="028090"/>
          </a:solidFill>
          <a:ln w="12700">
            <a:solidFill>
              <a:srgbClr val="02809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1" name="Text 9"/>
          <p:cNvSpPr/>
          <p:nvPr/>
        </p:nvSpPr>
        <p:spPr>
          <a:xfrm>
            <a:off x="1645920" y="1051560"/>
            <a:ext cx="118620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GPS, LISP</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Microworlds</a:t>
            </a:r>
            <a:endParaRPr lang="en-US" sz="900" b="0" u="none" strike="noStrike">
              <a:solidFill>
                <a:srgbClr val="000000"/>
              </a:solidFill>
              <a:effectLst/>
              <a:uFillTx/>
              <a:latin typeface="Arial"/>
            </a:endParaRPr>
          </a:p>
        </p:txBody>
      </p:sp>
      <p:sp>
        <p:nvSpPr>
          <p:cNvPr id="132" name="Shape 10"/>
          <p:cNvSpPr/>
          <p:nvPr/>
        </p:nvSpPr>
        <p:spPr>
          <a:xfrm>
            <a:off x="2185200" y="1783080"/>
            <a:ext cx="360" cy="475200"/>
          </a:xfrm>
          <a:prstGeom prst="line">
            <a:avLst/>
          </a:prstGeom>
          <a:ln w="19050">
            <a:solidFill>
              <a:srgbClr val="028090"/>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33" name="Text 11"/>
          <p:cNvSpPr/>
          <p:nvPr/>
        </p:nvSpPr>
        <p:spPr>
          <a:xfrm>
            <a:off x="1645920" y="2578680"/>
            <a:ext cx="1186200" cy="774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028090"/>
                </a:solidFill>
                <a:effectLst/>
                <a:uFillTx/>
                <a:latin typeface="Calibri"/>
                <a:ea typeface="Calibri"/>
              </a:rPr>
              <a:t>1952–69</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028090"/>
                </a:solidFill>
                <a:effectLst/>
                <a:uFillTx/>
                <a:latin typeface="Calibri"/>
                <a:ea typeface="Calibri"/>
              </a:rPr>
              <a:t>Early Hype</a:t>
            </a:r>
            <a:endParaRPr lang="en-US" sz="950" b="0" u="none" strike="noStrike">
              <a:solidFill>
                <a:srgbClr val="000000"/>
              </a:solidFill>
              <a:effectLst/>
              <a:uFillTx/>
              <a:latin typeface="Arial"/>
            </a:endParaRPr>
          </a:p>
        </p:txBody>
      </p:sp>
      <p:sp>
        <p:nvSpPr>
          <p:cNvPr id="134" name="Shape 12"/>
          <p:cNvSpPr/>
          <p:nvPr/>
        </p:nvSpPr>
        <p:spPr>
          <a:xfrm>
            <a:off x="3383280" y="2249280"/>
            <a:ext cx="253440" cy="253440"/>
          </a:xfrm>
          <a:prstGeom prst="ellipse">
            <a:avLst/>
          </a:prstGeom>
          <a:solidFill>
            <a:srgbClr val="8B1A1A"/>
          </a:solidFill>
          <a:ln w="12700">
            <a:solidFill>
              <a:srgbClr val="8B1A1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5" name="Text 13"/>
          <p:cNvSpPr/>
          <p:nvPr/>
        </p:nvSpPr>
        <p:spPr>
          <a:xfrm>
            <a:off x="2971800" y="960120"/>
            <a:ext cx="1186200" cy="774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8B1A1A"/>
                </a:solidFill>
                <a:effectLst/>
                <a:uFillTx/>
                <a:latin typeface="Calibri"/>
                <a:ea typeface="Calibri"/>
              </a:rPr>
              <a:t>1966–73</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8B1A1A"/>
                </a:solidFill>
                <a:effectLst/>
                <a:uFillTx/>
                <a:latin typeface="Calibri"/>
                <a:ea typeface="Calibri"/>
              </a:rPr>
              <a:t>First Winter</a:t>
            </a:r>
            <a:endParaRPr lang="en-US" sz="950" b="0" u="none" strike="noStrike">
              <a:solidFill>
                <a:srgbClr val="000000"/>
              </a:solidFill>
              <a:effectLst/>
              <a:uFillTx/>
              <a:latin typeface="Arial"/>
            </a:endParaRPr>
          </a:p>
        </p:txBody>
      </p:sp>
      <p:sp>
        <p:nvSpPr>
          <p:cNvPr id="136" name="Shape 14"/>
          <p:cNvSpPr/>
          <p:nvPr/>
        </p:nvSpPr>
        <p:spPr>
          <a:xfrm>
            <a:off x="3511080" y="1737360"/>
            <a:ext cx="360" cy="511920"/>
          </a:xfrm>
          <a:prstGeom prst="line">
            <a:avLst/>
          </a:prstGeom>
          <a:ln w="19050">
            <a:solidFill>
              <a:srgbClr val="8B1A1A"/>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37" name="Text 15"/>
          <p:cNvSpPr/>
          <p:nvPr/>
        </p:nvSpPr>
        <p:spPr>
          <a:xfrm>
            <a:off x="2971800" y="2541960"/>
            <a:ext cx="118620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Intractability</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Lighthill report</a:t>
            </a:r>
            <a:endParaRPr lang="en-US" sz="900" b="0" u="none" strike="noStrike">
              <a:solidFill>
                <a:srgbClr val="000000"/>
              </a:solidFill>
              <a:effectLst/>
              <a:uFillTx/>
              <a:latin typeface="Arial"/>
            </a:endParaRPr>
          </a:p>
        </p:txBody>
      </p:sp>
      <p:sp>
        <p:nvSpPr>
          <p:cNvPr id="138" name="Shape 16"/>
          <p:cNvSpPr/>
          <p:nvPr/>
        </p:nvSpPr>
        <p:spPr>
          <a:xfrm>
            <a:off x="4663440" y="2249280"/>
            <a:ext cx="253440" cy="253440"/>
          </a:xfrm>
          <a:prstGeom prst="ellipse">
            <a:avLst/>
          </a:prstGeom>
          <a:solidFill>
            <a:srgbClr val="1B6B3A"/>
          </a:solidFill>
          <a:ln w="12700">
            <a:solidFill>
              <a:srgbClr val="1B6B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9" name="Text 17"/>
          <p:cNvSpPr/>
          <p:nvPr/>
        </p:nvSpPr>
        <p:spPr>
          <a:xfrm>
            <a:off x="4251960" y="1051560"/>
            <a:ext cx="118620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DENDRAL, MYCIN</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$billions</a:t>
            </a:r>
            <a:endParaRPr lang="en-US" sz="900" b="0" u="none" strike="noStrike">
              <a:solidFill>
                <a:srgbClr val="000000"/>
              </a:solidFill>
              <a:effectLst/>
              <a:uFillTx/>
              <a:latin typeface="Arial"/>
            </a:endParaRPr>
          </a:p>
        </p:txBody>
      </p:sp>
      <p:sp>
        <p:nvSpPr>
          <p:cNvPr id="140" name="Shape 18"/>
          <p:cNvSpPr/>
          <p:nvPr/>
        </p:nvSpPr>
        <p:spPr>
          <a:xfrm>
            <a:off x="4791240" y="1783080"/>
            <a:ext cx="360" cy="475200"/>
          </a:xfrm>
          <a:prstGeom prst="line">
            <a:avLst/>
          </a:prstGeom>
          <a:ln w="19050">
            <a:solidFill>
              <a:srgbClr val="1B6B3A"/>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41" name="Text 19"/>
          <p:cNvSpPr/>
          <p:nvPr/>
        </p:nvSpPr>
        <p:spPr>
          <a:xfrm>
            <a:off x="4251960" y="2578680"/>
            <a:ext cx="1186200" cy="774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1B6B3A"/>
                </a:solidFill>
                <a:effectLst/>
                <a:uFillTx/>
                <a:latin typeface="Calibri"/>
                <a:ea typeface="Calibri"/>
              </a:rPr>
              <a:t>1969–86</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1B6B3A"/>
                </a:solidFill>
                <a:effectLst/>
                <a:uFillTx/>
                <a:latin typeface="Calibri"/>
                <a:ea typeface="Calibri"/>
              </a:rPr>
              <a:t>Expert Sys.</a:t>
            </a:r>
            <a:endParaRPr lang="en-US" sz="950" b="0" u="none" strike="noStrike">
              <a:solidFill>
                <a:srgbClr val="000000"/>
              </a:solidFill>
              <a:effectLst/>
              <a:uFillTx/>
              <a:latin typeface="Arial"/>
            </a:endParaRPr>
          </a:p>
        </p:txBody>
      </p:sp>
      <p:sp>
        <p:nvSpPr>
          <p:cNvPr id="142" name="Shape 20"/>
          <p:cNvSpPr/>
          <p:nvPr/>
        </p:nvSpPr>
        <p:spPr>
          <a:xfrm>
            <a:off x="5943600" y="2249280"/>
            <a:ext cx="253440" cy="253440"/>
          </a:xfrm>
          <a:prstGeom prst="ellipse">
            <a:avLst/>
          </a:prstGeom>
          <a:solidFill>
            <a:srgbClr val="1A4FA0"/>
          </a:solidFill>
          <a:ln w="12700">
            <a:solidFill>
              <a:srgbClr val="1A4FA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3" name="Text 21"/>
          <p:cNvSpPr/>
          <p:nvPr/>
        </p:nvSpPr>
        <p:spPr>
          <a:xfrm>
            <a:off x="5532120" y="960120"/>
            <a:ext cx="1186200" cy="774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1A4FA0"/>
                </a:solidFill>
                <a:effectLst/>
                <a:uFillTx/>
                <a:latin typeface="Calibri"/>
                <a:ea typeface="Calibri"/>
              </a:rPr>
              <a:t>1986+</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1A4FA0"/>
                </a:solidFill>
                <a:effectLst/>
                <a:uFillTx/>
                <a:latin typeface="Calibri"/>
                <a:ea typeface="Calibri"/>
              </a:rPr>
              <a:t>Neural Nets</a:t>
            </a:r>
            <a:endParaRPr lang="en-US" sz="950" b="0" u="none" strike="noStrike">
              <a:solidFill>
                <a:srgbClr val="000000"/>
              </a:solidFill>
              <a:effectLst/>
              <a:uFillTx/>
              <a:latin typeface="Arial"/>
            </a:endParaRPr>
          </a:p>
        </p:txBody>
      </p:sp>
      <p:sp>
        <p:nvSpPr>
          <p:cNvPr id="144" name="Shape 22"/>
          <p:cNvSpPr/>
          <p:nvPr/>
        </p:nvSpPr>
        <p:spPr>
          <a:xfrm>
            <a:off x="6071400" y="1737360"/>
            <a:ext cx="360" cy="511920"/>
          </a:xfrm>
          <a:prstGeom prst="line">
            <a:avLst/>
          </a:prstGeom>
          <a:ln w="19050">
            <a:solidFill>
              <a:srgbClr val="1A4FA0"/>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45" name="Text 23"/>
          <p:cNvSpPr/>
          <p:nvPr/>
        </p:nvSpPr>
        <p:spPr>
          <a:xfrm>
            <a:off x="5532120" y="2541960"/>
            <a:ext cx="118620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Backprop</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Connectionism</a:t>
            </a:r>
            <a:endParaRPr lang="en-US" sz="900" b="0" u="none" strike="noStrike">
              <a:solidFill>
                <a:srgbClr val="000000"/>
              </a:solidFill>
              <a:effectLst/>
              <a:uFillTx/>
              <a:latin typeface="Arial"/>
            </a:endParaRPr>
          </a:p>
        </p:txBody>
      </p:sp>
      <p:sp>
        <p:nvSpPr>
          <p:cNvPr id="146" name="Shape 24"/>
          <p:cNvSpPr/>
          <p:nvPr/>
        </p:nvSpPr>
        <p:spPr>
          <a:xfrm>
            <a:off x="7223760" y="2249280"/>
            <a:ext cx="253440" cy="253440"/>
          </a:xfrm>
          <a:prstGeom prst="ellipse">
            <a:avLst/>
          </a:prstGeom>
          <a:solidFill>
            <a:srgbClr val="6D2E46"/>
          </a:solidFill>
          <a:ln w="12700">
            <a:solidFill>
              <a:srgbClr val="6D2E4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7" name="Text 25"/>
          <p:cNvSpPr/>
          <p:nvPr/>
        </p:nvSpPr>
        <p:spPr>
          <a:xfrm>
            <a:off x="6812280" y="1051560"/>
            <a:ext cx="118620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Bayes nets</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MDPs, RL</a:t>
            </a:r>
            <a:endParaRPr lang="en-US" sz="900" b="0" u="none" strike="noStrike">
              <a:solidFill>
                <a:srgbClr val="000000"/>
              </a:solidFill>
              <a:effectLst/>
              <a:uFillTx/>
              <a:latin typeface="Arial"/>
            </a:endParaRPr>
          </a:p>
        </p:txBody>
      </p:sp>
      <p:sp>
        <p:nvSpPr>
          <p:cNvPr id="148" name="Shape 26"/>
          <p:cNvSpPr/>
          <p:nvPr/>
        </p:nvSpPr>
        <p:spPr>
          <a:xfrm>
            <a:off x="7351560" y="1783080"/>
            <a:ext cx="360" cy="475200"/>
          </a:xfrm>
          <a:prstGeom prst="line">
            <a:avLst/>
          </a:prstGeom>
          <a:ln w="19050">
            <a:solidFill>
              <a:srgbClr val="6D2E46"/>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49" name="Text 27"/>
          <p:cNvSpPr/>
          <p:nvPr/>
        </p:nvSpPr>
        <p:spPr>
          <a:xfrm>
            <a:off x="6812280" y="2578680"/>
            <a:ext cx="1186200" cy="774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6D2E46"/>
                </a:solidFill>
                <a:effectLst/>
                <a:uFillTx/>
                <a:latin typeface="Calibri"/>
                <a:ea typeface="Calibri"/>
              </a:rPr>
              <a:t>1987+</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6D2E46"/>
                </a:solidFill>
                <a:effectLst/>
                <a:uFillTx/>
                <a:latin typeface="Calibri"/>
                <a:ea typeface="Calibri"/>
              </a:rPr>
              <a:t>Prob. Reason.</a:t>
            </a:r>
            <a:endParaRPr lang="en-US" sz="950" b="0" u="none" strike="noStrike">
              <a:solidFill>
                <a:srgbClr val="000000"/>
              </a:solidFill>
              <a:effectLst/>
              <a:uFillTx/>
              <a:latin typeface="Arial"/>
            </a:endParaRPr>
          </a:p>
        </p:txBody>
      </p:sp>
      <p:sp>
        <p:nvSpPr>
          <p:cNvPr id="150" name="Shape 28"/>
          <p:cNvSpPr/>
          <p:nvPr/>
        </p:nvSpPr>
        <p:spPr>
          <a:xfrm>
            <a:off x="8412480" y="2249280"/>
            <a:ext cx="253440" cy="253440"/>
          </a:xfrm>
          <a:prstGeom prst="ellipse">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1" name="Text 29"/>
          <p:cNvSpPr/>
          <p:nvPr/>
        </p:nvSpPr>
        <p:spPr>
          <a:xfrm>
            <a:off x="8001000" y="960120"/>
            <a:ext cx="1186200" cy="774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0F2B5B"/>
                </a:solidFill>
                <a:effectLst/>
                <a:uFillTx/>
                <a:latin typeface="Calibri"/>
                <a:ea typeface="Calibri"/>
              </a:rPr>
              <a:t>2011+</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0F2B5B"/>
                </a:solidFill>
                <a:effectLst/>
                <a:uFillTx/>
                <a:latin typeface="Calibri"/>
                <a:ea typeface="Calibri"/>
              </a:rPr>
              <a:t>Deep Learning</a:t>
            </a:r>
            <a:endParaRPr lang="en-US" sz="950" b="0" u="none" strike="noStrike">
              <a:solidFill>
                <a:srgbClr val="000000"/>
              </a:solidFill>
              <a:effectLst/>
              <a:uFillTx/>
              <a:latin typeface="Arial"/>
            </a:endParaRPr>
          </a:p>
        </p:txBody>
      </p:sp>
      <p:sp>
        <p:nvSpPr>
          <p:cNvPr id="152" name="Shape 30"/>
          <p:cNvSpPr/>
          <p:nvPr/>
        </p:nvSpPr>
        <p:spPr>
          <a:xfrm>
            <a:off x="8540280" y="1737360"/>
            <a:ext cx="360" cy="511920"/>
          </a:xfrm>
          <a:prstGeom prst="line">
            <a:avLst/>
          </a:prstGeom>
          <a:ln w="19050">
            <a:solidFill>
              <a:srgbClr val="0F2B5B"/>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53" name="Text 31"/>
          <p:cNvSpPr/>
          <p:nvPr/>
        </p:nvSpPr>
        <p:spPr>
          <a:xfrm>
            <a:off x="8001000" y="2541960"/>
            <a:ext cx="118620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ImageNet, AlphaGo</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LLMs</a:t>
            </a:r>
            <a:endParaRPr lang="en-US" sz="900" b="0" u="none" strike="noStrike">
              <a:solidFill>
                <a:srgbClr val="000000"/>
              </a:solidFill>
              <a:effectLst/>
              <a:uFillTx/>
              <a:latin typeface="Arial"/>
            </a:endParaRPr>
          </a:p>
        </p:txBody>
      </p:sp>
      <p:sp>
        <p:nvSpPr>
          <p:cNvPr id="154" name="Shape 32"/>
          <p:cNvSpPr/>
          <p:nvPr/>
        </p:nvSpPr>
        <p:spPr>
          <a:xfrm>
            <a:off x="365760" y="3657600"/>
            <a:ext cx="8409960" cy="12319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5" name="Shape 33"/>
          <p:cNvSpPr/>
          <p:nvPr/>
        </p:nvSpPr>
        <p:spPr>
          <a:xfrm>
            <a:off x="365760" y="3657600"/>
            <a:ext cx="8409960" cy="34488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6" name="Text 34"/>
          <p:cNvSpPr/>
          <p:nvPr/>
        </p:nvSpPr>
        <p:spPr>
          <a:xfrm>
            <a:off x="365760" y="3657600"/>
            <a:ext cx="8409960" cy="344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2B5B"/>
                </a:solidFill>
                <a:effectLst/>
                <a:uFillTx/>
                <a:latin typeface="Calibri"/>
                <a:ea typeface="Calibri"/>
              </a:rPr>
              <a:t>  Turing Award Milestones</a:t>
            </a:r>
            <a:endParaRPr lang="en-US" sz="1200" b="0" u="none" strike="noStrike">
              <a:solidFill>
                <a:srgbClr val="000000"/>
              </a:solidFill>
              <a:effectLst/>
              <a:uFillTx/>
              <a:latin typeface="Arial"/>
            </a:endParaRPr>
          </a:p>
        </p:txBody>
      </p:sp>
      <p:sp>
        <p:nvSpPr>
          <p:cNvPr id="157" name="Text 35"/>
          <p:cNvSpPr/>
          <p:nvPr/>
        </p:nvSpPr>
        <p:spPr>
          <a:xfrm>
            <a:off x="457200" y="4041720"/>
            <a:ext cx="822708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FFFFFF"/>
                </a:solidFill>
                <a:effectLst/>
                <a:uFillTx/>
                <a:latin typeface="Calibri"/>
                <a:ea typeface="Calibri"/>
              </a:rPr>
              <a:t>Minsky &amp; McCarthy (1969, 1971) · Feigenbaum &amp; Reddy (1994) · Judea Pearl (2011) · Bengio, Hinton, LeCun (2019)</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58"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9"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60"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1.3 Inception &amp; Early Enthusiasm (1943–1969)</a:t>
            </a:r>
            <a:endParaRPr lang="en-US" sz="2200" b="0" u="none" strike="noStrike">
              <a:solidFill>
                <a:srgbClr val="000000"/>
              </a:solidFill>
              <a:effectLst/>
              <a:uFillTx/>
              <a:latin typeface="Arial"/>
            </a:endParaRPr>
          </a:p>
        </p:txBody>
      </p:sp>
      <p:sp>
        <p:nvSpPr>
          <p:cNvPr id="161" name="Text 3"/>
          <p:cNvSpPr/>
          <p:nvPr/>
        </p:nvSpPr>
        <p:spPr>
          <a:xfrm>
            <a:off x="365760" y="960120"/>
            <a:ext cx="8409960" cy="39751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1943: McCulloch &amp; Pitts — artificial neuron model</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Any computable function can be computed by a network of neurons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Logical connectives implementable with simple network structures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1950: Turing — 'Computing Machinery and Intelligence'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Introduced the Turing Test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Also introduced: machine learning, genetic algorithms, reinforcement learning</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1956: Dartmouth Workshop — AI is officially 'born'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McCarthy coined the term 'Artificial Intelligence'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10 researchers; Newell &amp; Simon presented Logic Theorist</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1952–1969: Early successes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GPS: General Problem Solver — imitated human problem-solving</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Checkers (Samuel): first program to outplay its creator via RL</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LISP (McCarthy, 1958): dominant AI language for 30 years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Microworlds: SAINT (calculus), STUDENT (algebra), blocks world</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62"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3"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64"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1.3 Dose of Reality → Expert Systems (1966–1986)</a:t>
            </a:r>
            <a:endParaRPr lang="en-US" sz="2200" b="0" u="none" strike="noStrike">
              <a:solidFill>
                <a:srgbClr val="000000"/>
              </a:solidFill>
              <a:effectLst/>
              <a:uFillTx/>
              <a:latin typeface="Arial"/>
            </a:endParaRPr>
          </a:p>
        </p:txBody>
      </p:sp>
      <p:sp>
        <p:nvSpPr>
          <p:cNvPr id="165" name="Shape 3"/>
          <p:cNvSpPr/>
          <p:nvPr/>
        </p:nvSpPr>
        <p:spPr>
          <a:xfrm>
            <a:off x="320040" y="1005840"/>
            <a:ext cx="3929400" cy="383796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6" name="Shape 4"/>
          <p:cNvSpPr/>
          <p:nvPr/>
        </p:nvSpPr>
        <p:spPr>
          <a:xfrm>
            <a:off x="320040" y="1005840"/>
            <a:ext cx="3929400" cy="408960"/>
          </a:xfrm>
          <a:prstGeom prst="rect">
            <a:avLst/>
          </a:prstGeom>
          <a:solidFill>
            <a:srgbClr val="8B1A1A"/>
          </a:solidFill>
          <a:ln w="12700">
            <a:solidFill>
              <a:srgbClr val="8B1A1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7" name="Text 5"/>
          <p:cNvSpPr/>
          <p:nvPr/>
        </p:nvSpPr>
        <p:spPr>
          <a:xfrm>
            <a:off x="320040" y="1005840"/>
            <a:ext cx="3929400" cy="408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First AI Winter (1966–1973)</a:t>
            </a:r>
            <a:endParaRPr lang="en-US" sz="1400" b="0" u="none" strike="noStrike">
              <a:solidFill>
                <a:srgbClr val="000000"/>
              </a:solidFill>
              <a:effectLst/>
              <a:uFillTx/>
              <a:latin typeface="Arial"/>
            </a:endParaRPr>
          </a:p>
        </p:txBody>
      </p:sp>
      <p:sp>
        <p:nvSpPr>
          <p:cNvPr id="168" name="Text 6"/>
          <p:cNvSpPr/>
          <p:nvPr/>
        </p:nvSpPr>
        <p:spPr>
          <a:xfrm>
            <a:off x="457200" y="1508760"/>
            <a:ext cx="3655080" cy="31978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Early systems worked on tiny problems; failed badly on harder ones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Combinatorial explosion: scaling up is not just faster hardware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Minsky &amp; Papert (1969): perceptrons cannot represent XOR</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Lighthill Report (1973): UK government ends AI funding</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Lesson: general 'weak methods' don't scale</a:t>
            </a:r>
            <a:endParaRPr lang="en-US" sz="1300" b="0" u="none" strike="noStrike">
              <a:solidFill>
                <a:srgbClr val="000000"/>
              </a:solidFill>
              <a:effectLst/>
              <a:uFillTx/>
              <a:latin typeface="Arial"/>
            </a:endParaRPr>
          </a:p>
        </p:txBody>
      </p:sp>
      <p:sp>
        <p:nvSpPr>
          <p:cNvPr id="169" name="Shape 7"/>
          <p:cNvSpPr/>
          <p:nvPr/>
        </p:nvSpPr>
        <p:spPr>
          <a:xfrm>
            <a:off x="4892040" y="1005840"/>
            <a:ext cx="3929400" cy="383796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0" name="Shape 8"/>
          <p:cNvSpPr/>
          <p:nvPr/>
        </p:nvSpPr>
        <p:spPr>
          <a:xfrm>
            <a:off x="4892040" y="1005840"/>
            <a:ext cx="3929400" cy="408960"/>
          </a:xfrm>
          <a:prstGeom prst="rect">
            <a:avLst/>
          </a:prstGeom>
          <a:solidFill>
            <a:srgbClr val="1B6B3A"/>
          </a:solidFill>
          <a:ln w="12700">
            <a:solidFill>
              <a:srgbClr val="1B6B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1" name="Text 9"/>
          <p:cNvSpPr/>
          <p:nvPr/>
        </p:nvSpPr>
        <p:spPr>
          <a:xfrm>
            <a:off x="4892040" y="1005840"/>
            <a:ext cx="3929400" cy="408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Expert Systems (1969–1986)</a:t>
            </a:r>
            <a:endParaRPr lang="en-US" sz="1400" b="0" u="none" strike="noStrike">
              <a:solidFill>
                <a:srgbClr val="000000"/>
              </a:solidFill>
              <a:effectLst/>
              <a:uFillTx/>
              <a:latin typeface="Arial"/>
            </a:endParaRPr>
          </a:p>
        </p:txBody>
      </p:sp>
      <p:sp>
        <p:nvSpPr>
          <p:cNvPr id="172" name="Text 10"/>
          <p:cNvSpPr/>
          <p:nvPr/>
        </p:nvSpPr>
        <p:spPr>
          <a:xfrm>
            <a:off x="5029200" y="1508760"/>
            <a:ext cx="3655080" cy="31978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DENDRAL (1969): infer molecular structure from mass spectrometer data</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MYCIN: 450 rules → diagnostic performance matching experts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R1 (DEC): saved $40M/year by 1986 configuring computer orders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AI industry: few million (1980) → billions (1988)</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Second AI Winter: brittleness, inability to handle uncertainty, no learning</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73"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4"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75"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1.3 Modern AI: Neural Nets → Probabilistic → Deep Learning</a:t>
            </a:r>
            <a:endParaRPr lang="en-US" sz="2200" b="0" u="none" strike="noStrike">
              <a:solidFill>
                <a:srgbClr val="000000"/>
              </a:solidFill>
              <a:effectLst/>
              <a:uFillTx/>
              <a:latin typeface="Arial"/>
            </a:endParaRPr>
          </a:p>
        </p:txBody>
      </p:sp>
      <p:sp>
        <p:nvSpPr>
          <p:cNvPr id="176" name="Text 3"/>
          <p:cNvSpPr/>
          <p:nvPr/>
        </p:nvSpPr>
        <p:spPr>
          <a:xfrm>
            <a:off x="365760" y="960120"/>
            <a:ext cx="8409960" cy="39751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1986: Backpropagation rediscovered → connectionist revolution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Parallel Distributed Processing (Rumelhart &amp; McClelland)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Challenged symbolic AI; debate: symbols vs. distributed representations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1987+: Probabilistic reasoning &amp; machine learning</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Judea Pearl (1988): Bayesian networks — rigorous uncertain reasoning</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Rich Sutton: reinforcement learning + MDPs unified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Speech recognition: HMMs dominate; data-driven, mathematically grounded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Benchmark datasets: ImageNet, SQuAD, LibriSpeech become standard</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2001+: Big Data + Deep Learning</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Millions of images, billions of words → learning algorithms flourish</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2012 ImageNet: Hinton's group CNN — dramatic leap over prior systems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AlphaGo (2016) beats world Go champion; AlphaZero: purely self-play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2017: Microsoft achieves human parity on Switchboard speech recognition</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77"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8"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79"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1.4 State of the Art — What AI Can Do Today</a:t>
            </a:r>
            <a:endParaRPr lang="en-US" sz="2200" b="0" u="none" strike="noStrike">
              <a:solidFill>
                <a:srgbClr val="000000"/>
              </a:solidFill>
              <a:effectLst/>
              <a:uFillTx/>
              <a:latin typeface="Arial"/>
            </a:endParaRPr>
          </a:p>
        </p:txBody>
      </p:sp>
      <p:sp>
        <p:nvSpPr>
          <p:cNvPr id="180" name="Text 3"/>
          <p:cNvSpPr/>
          <p:nvPr/>
        </p:nvSpPr>
        <p:spPr>
          <a:xfrm>
            <a:off x="365760" y="960120"/>
            <a:ext cx="8409960" cy="39751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Perception &amp; Language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Object recognition: error rate 28% (2010) → 2% (2017) — beats humans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Speech recognition: word error rate 5.1%, matching human performance (2017)</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Machine translation: 100+ languages, 99% of humans' native tongues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Question answering (SQuAD): F1 score 95, exceeds human benchmark</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Reasoning &amp; Decision Making</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Chess (Deep Blue, 1997), Go (AlphaGo, 2016), Poker, StarCraft II, Dota 2</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Autonomous planning: NASA Remote Agent; DART saved 30 years of DARPA investment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Robotic vehicles: Waymo at 10M miles; autonomous drones delivering blood in Rwanda</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Science &amp; Medicine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AI ≥ expert doctors at diagnosing Alzheimer's, metastatic cancer, skin disease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Human-AI partnerships outperform either alone (LYNA: 99.6% accuracy)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AlphaFold: protein structure prediction — decades-old biology challenge solved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Deep learning models detect extreme weather patterns buried in climate data</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decor-background 7"/>
          <p:cNvSpPr/>
          <p:nvPr/>
        </p:nvSpPr>
        <p:spPr>
          <a:xfrm>
            <a:off x="0" y="0"/>
            <a:ext cx="9142560" cy="514224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2" name="content-title 1"/>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From symbols to action: Shakey the Robot</a:t>
            </a:r>
            <a:endParaRPr lang="en-US" sz="2400" b="0" u="none" strike="noStrike">
              <a:solidFill>
                <a:srgbClr val="000000"/>
              </a:solidFill>
              <a:effectLst/>
              <a:uFillTx/>
              <a:latin typeface="Arial"/>
            </a:endParaRPr>
          </a:p>
        </p:txBody>
      </p:sp>
      <p:sp>
        <p:nvSpPr>
          <p:cNvPr id="183" name="content-subtitle 1"/>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Early AI connected perception, planning, and movement.</a:t>
            </a:r>
            <a:endParaRPr lang="en-US" sz="1150" b="0" u="none" strike="noStrike">
              <a:solidFill>
                <a:srgbClr val="000000"/>
              </a:solidFill>
              <a:effectLst/>
              <a:uFillTx/>
              <a:latin typeface="Arial"/>
            </a:endParaRPr>
          </a:p>
        </p:txBody>
      </p:sp>
      <p:cxnSp>
        <p:nvCxnSpPr>
          <p:cNvPr id="184" name="decor-title-line 1"/>
          <p:cNvCxnSpPr/>
          <p:nvPr/>
        </p:nvCxnSpPr>
        <p:spPr>
          <a:xfrm>
            <a:off x="320040" y="932400"/>
            <a:ext cx="8505360" cy="1440"/>
          </a:xfrm>
          <a:prstGeom prst="straightConnector1">
            <a:avLst/>
          </a:prstGeom>
          <a:ln w="25560">
            <a:solidFill>
              <a:srgbClr val="F2A122"/>
            </a:solidFill>
            <a:round/>
          </a:ln>
        </p:spPr>
      </p:cxnSp>
      <p:sp>
        <p:nvSpPr>
          <p:cNvPr id="185" name="decor-footer 1"/>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pic>
        <p:nvPicPr>
          <p:cNvPr id="186" name="content-shakey 1" descr="shakey.jpg"/>
          <p:cNvPicPr/>
          <p:nvPr/>
        </p:nvPicPr>
        <p:blipFill>
          <a:blip r:embed="rId1"/>
          <a:stretch/>
        </p:blipFill>
        <p:spPr>
          <a:xfrm>
            <a:off x="685800" y="1210320"/>
            <a:ext cx="3656160" cy="2744640"/>
          </a:xfrm>
          <a:prstGeom prst="rect">
            <a:avLst/>
          </a:prstGeom>
          <a:noFill/>
          <a:ln w="0">
            <a:noFill/>
          </a:ln>
        </p:spPr>
      </p:pic>
      <p:sp>
        <p:nvSpPr>
          <p:cNvPr id="187" name="content-bullets 1"/>
          <p:cNvSpPr/>
          <p:nvPr/>
        </p:nvSpPr>
        <p:spPr>
          <a:xfrm>
            <a:off x="4709160" y="1234440"/>
            <a:ext cx="3839040" cy="210168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500" b="0" u="none" strike="noStrike">
                <a:solidFill>
                  <a:srgbClr val="1E1E1E"/>
                </a:solidFill>
                <a:effectLst/>
                <a:uFillTx/>
                <a:latin typeface="Aptos"/>
                <a:ea typeface="DejaVu Sans"/>
              </a:rPr>
              <a:t>• SRI project, 1966–1972</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Combined vision, planning, navigation, and action</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Reasoned about its own actions in rooms with blocks and ramps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Historically important even though it was not a practical household robot</a:t>
            </a:r>
            <a:endParaRPr lang="en-US" sz="1500" b="0" u="none" strike="noStrike">
              <a:solidFill>
                <a:srgbClr val="000000"/>
              </a:solidFill>
              <a:effectLst/>
              <a:uFillTx/>
              <a:latin typeface="Arial"/>
            </a:endParaRPr>
          </a:p>
        </p:txBody>
      </p:sp>
      <p:sp>
        <p:nvSpPr>
          <p:cNvPr id="188" name="content-why 1"/>
          <p:cNvSpPr/>
          <p:nvPr/>
        </p:nvSpPr>
        <p:spPr>
          <a:xfrm>
            <a:off x="4709160" y="3611880"/>
            <a:ext cx="3656160" cy="437400"/>
          </a:xfrm>
          <a:prstGeom prst="rect">
            <a:avLst/>
          </a:prstGeom>
          <a:solidFill>
            <a:srgbClr val="E7F3FB"/>
          </a:solidFill>
          <a:ln w="0">
            <a:solidFill>
              <a:srgbClr val="DCE1E8"/>
            </a:solidFill>
          </a:ln>
        </p:spPr>
        <p:style>
          <a:lnRef idx="0"/>
          <a:fillRef idx="0"/>
          <a:effectRef idx="0"/>
          <a:fontRef idx="minor"/>
        </p:style>
        <p:txBody>
          <a:bodyPr lIns="73080" tIns="73080" rIns="73080" bIns="73080" anchor="t">
            <a:normAutofit fontScale="70000" lnSpcReduction="19999"/>
          </a:bodyPr>
          <a:p>
            <a:pPr>
              <a:lnSpc>
                <a:spcPct val="100000"/>
              </a:lnSpc>
            </a:pPr>
            <a:r>
              <a:rPr lang="en-US" sz="1500" b="1" u="none" strike="noStrike">
                <a:solidFill>
                  <a:srgbClr val="091F3F"/>
                </a:solidFill>
                <a:effectLst/>
                <a:uFillTx/>
                <a:latin typeface="Aptos"/>
                <a:ea typeface="DejaVu Sans"/>
              </a:rPr>
              <a:t>Why it matters: an AI agent is not just a model; it acts in an environment.</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89"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0"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91"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1.5 Risks and Benefits of AI</a:t>
            </a:r>
            <a:endParaRPr lang="en-US" sz="2200" b="0" u="none" strike="noStrike">
              <a:solidFill>
                <a:srgbClr val="000000"/>
              </a:solidFill>
              <a:effectLst/>
              <a:uFillTx/>
              <a:latin typeface="Arial"/>
            </a:endParaRPr>
          </a:p>
        </p:txBody>
      </p:sp>
      <p:sp>
        <p:nvSpPr>
          <p:cNvPr id="192" name="Shape 3"/>
          <p:cNvSpPr/>
          <p:nvPr/>
        </p:nvSpPr>
        <p:spPr>
          <a:xfrm>
            <a:off x="320040" y="1005840"/>
            <a:ext cx="3929400" cy="383796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3" name="Shape 4"/>
          <p:cNvSpPr/>
          <p:nvPr/>
        </p:nvSpPr>
        <p:spPr>
          <a:xfrm>
            <a:off x="320040" y="1005840"/>
            <a:ext cx="3929400" cy="408960"/>
          </a:xfrm>
          <a:prstGeom prst="rect">
            <a:avLst/>
          </a:prstGeom>
          <a:solidFill>
            <a:srgbClr val="1B6B3A"/>
          </a:solidFill>
          <a:ln w="12700">
            <a:solidFill>
              <a:srgbClr val="1B6B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4" name="Text 5"/>
          <p:cNvSpPr/>
          <p:nvPr/>
        </p:nvSpPr>
        <p:spPr>
          <a:xfrm>
            <a:off x="320040" y="1005840"/>
            <a:ext cx="3929400" cy="408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Benefits</a:t>
            </a:r>
            <a:endParaRPr lang="en-US" sz="1400" b="0" u="none" strike="noStrike">
              <a:solidFill>
                <a:srgbClr val="000000"/>
              </a:solidFill>
              <a:effectLst/>
              <a:uFillTx/>
              <a:latin typeface="Arial"/>
            </a:endParaRPr>
          </a:p>
        </p:txBody>
      </p:sp>
      <p:sp>
        <p:nvSpPr>
          <p:cNvPr id="195" name="Text 6"/>
          <p:cNvSpPr/>
          <p:nvPr/>
        </p:nvSpPr>
        <p:spPr>
          <a:xfrm>
            <a:off x="457200" y="1508760"/>
            <a:ext cx="3655080" cy="31978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Free humanity from menial, repetitive work</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Dramatically increase production of goods and services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Accelerate scientific research: cures, climate solutions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Demis Hassabis: 'First solve AI, then use AI to solve everything else'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Medical AI already equals or exceeds specialists in several diagnostics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AI helps 100M+ people daily with navigation, translation, recommendations</a:t>
            </a:r>
            <a:endParaRPr lang="en-US" sz="1300" b="0" u="none" strike="noStrike">
              <a:solidFill>
                <a:srgbClr val="000000"/>
              </a:solidFill>
              <a:effectLst/>
              <a:uFillTx/>
              <a:latin typeface="Arial"/>
            </a:endParaRPr>
          </a:p>
        </p:txBody>
      </p:sp>
      <p:sp>
        <p:nvSpPr>
          <p:cNvPr id="196" name="Shape 7"/>
          <p:cNvSpPr/>
          <p:nvPr/>
        </p:nvSpPr>
        <p:spPr>
          <a:xfrm>
            <a:off x="4892040" y="1005840"/>
            <a:ext cx="3929400" cy="383796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7" name="Shape 8"/>
          <p:cNvSpPr/>
          <p:nvPr/>
        </p:nvSpPr>
        <p:spPr>
          <a:xfrm>
            <a:off x="4892040" y="1005840"/>
            <a:ext cx="3929400" cy="408960"/>
          </a:xfrm>
          <a:prstGeom prst="rect">
            <a:avLst/>
          </a:prstGeom>
          <a:solidFill>
            <a:srgbClr val="8B1A1A"/>
          </a:solidFill>
          <a:ln w="12700">
            <a:solidFill>
              <a:srgbClr val="8B1A1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8" name="Text 9"/>
          <p:cNvSpPr/>
          <p:nvPr/>
        </p:nvSpPr>
        <p:spPr>
          <a:xfrm>
            <a:off x="4892040" y="1005840"/>
            <a:ext cx="3929400" cy="408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Risks</a:t>
            </a:r>
            <a:endParaRPr lang="en-US" sz="1400" b="0" u="none" strike="noStrike">
              <a:solidFill>
                <a:srgbClr val="000000"/>
              </a:solidFill>
              <a:effectLst/>
              <a:uFillTx/>
              <a:latin typeface="Arial"/>
            </a:endParaRPr>
          </a:p>
        </p:txBody>
      </p:sp>
      <p:sp>
        <p:nvSpPr>
          <p:cNvPr id="199" name="Text 10"/>
          <p:cNvSpPr/>
          <p:nvPr/>
        </p:nvSpPr>
        <p:spPr>
          <a:xfrm>
            <a:off x="5029200" y="1508760"/>
            <a:ext cx="3655080" cy="31978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Lethal autonomous weapons: scalable, no human supervision required</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563C1"/>
                </a:solidFill>
                <a:effectLst/>
                <a:uFillTx/>
                <a:latin typeface="Calibri"/>
                <a:ea typeface="Calibri"/>
                <a:hlinkClick r:id="rId1"/>
              </a:rPr>
              <a:t>Mass surveillance</a:t>
            </a:r>
            <a:r>
              <a:rPr lang="en-US" sz="1300" b="0" u="none" strike="noStrike">
                <a:solidFill>
                  <a:srgbClr val="00A933"/>
                </a:solidFill>
                <a:effectLst/>
                <a:uFillTx/>
                <a:latin typeface="Calibri"/>
                <a:ea typeface="Calibri"/>
              </a:rPr>
              <a:t>:</a:t>
            </a:r>
            <a:r>
              <a:rPr lang="en-US" sz="1300" b="0" u="none" strike="noStrike">
                <a:solidFill>
                  <a:srgbClr val="0F2B5B"/>
                </a:solidFill>
                <a:effectLst/>
                <a:uFillTx/>
                <a:latin typeface="Calibri"/>
                <a:ea typeface="Calibri"/>
              </a:rPr>
              <a:t> speech/vision AI enables real-time monitoring at scale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Biased decision making: parole, loans — reflecting and amplifying societal bias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Employment disruption: shifts wealth from labor to capital</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Safety-critical failures: self-driving fatal accidents; formal verification gaps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Cybersecurity: RL-powered phishing/blackmail; automated malware</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3679"/>
        </a:solidFill>
      </p:bgPr>
    </p:bg>
    <p:spTree>
      <p:nvGrpSpPr>
        <p:cNvPr id="1" name=""/>
        <p:cNvGrpSpPr/>
        <p:nvPr/>
      </p:nvGrpSpPr>
      <p:grpSpPr>
        <a:xfrm>
          <a:off x="0" y="0"/>
          <a:ext cx="0" cy="0"/>
          <a:chOff x="0" y="0"/>
          <a:chExt cx="0" cy="0"/>
        </a:xfrm>
      </p:grpSpPr>
      <p:sp>
        <p:nvSpPr>
          <p:cNvPr id="200" name="Shape 0"/>
          <p:cNvSpPr/>
          <p:nvPr/>
        </p:nvSpPr>
        <p:spPr>
          <a:xfrm>
            <a:off x="0" y="0"/>
            <a:ext cx="162000" cy="5141160"/>
          </a:xfrm>
          <a:prstGeom prst="rect">
            <a:avLst/>
          </a:prstGeom>
          <a:solidFill>
            <a:srgbClr val="F4A020"/>
          </a:solidFill>
          <a:ln w="12700">
            <a:solidFill>
              <a:srgbClr val="F4A020"/>
            </a:solidFill>
            <a:round/>
          </a:ln>
        </p:spPr>
        <p:style>
          <a:lnRef idx="0"/>
          <a:fillRef idx="0"/>
          <a:effectRef idx="0"/>
          <a:fontRef idx="minor"/>
        </p:style>
        <p:txBody>
          <a:bodyPr lIns="81000" tIns="45000" rIns="81000" bIns="45000" anchor="t">
            <a:noAutofit/>
          </a:bodyPr>
          <a:p>
            <a:endParaRPr lang="en-US" sz="1800" b="0" u="none" strike="noStrike">
              <a:solidFill>
                <a:srgbClr val="000000"/>
              </a:solidFill>
              <a:effectLst/>
              <a:uFillTx/>
              <a:latin typeface="Arial"/>
            </a:endParaRPr>
          </a:p>
        </p:txBody>
      </p:sp>
      <p:sp>
        <p:nvSpPr>
          <p:cNvPr id="201" name="Text 1"/>
          <p:cNvSpPr/>
          <p:nvPr/>
        </p:nvSpPr>
        <p:spPr>
          <a:xfrm>
            <a:off x="457200" y="228600"/>
            <a:ext cx="8227080" cy="683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trike="noStrike">
                <a:solidFill>
                  <a:srgbClr val="FFFFFF"/>
                </a:solidFill>
                <a:effectLst/>
                <a:uFillTx/>
                <a:latin typeface="Calibri"/>
                <a:ea typeface="Calibri"/>
              </a:rPr>
              <a:t>Chapter 1 Summary</a:t>
            </a:r>
            <a:endParaRPr lang="en-US" sz="2600" b="0" u="none" strike="noStrike">
              <a:solidFill>
                <a:srgbClr val="FFFFFF"/>
              </a:solidFill>
              <a:effectLst/>
              <a:uFillTx/>
              <a:latin typeface="Arial"/>
            </a:endParaRPr>
          </a:p>
        </p:txBody>
      </p:sp>
      <p:sp>
        <p:nvSpPr>
          <p:cNvPr id="202" name="Text 2"/>
          <p:cNvSpPr/>
          <p:nvPr/>
        </p:nvSpPr>
        <p:spPr>
          <a:xfrm>
            <a:off x="457200" y="1005840"/>
            <a:ext cx="8318520" cy="392940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AI's goal:</a:t>
            </a:r>
            <a:r>
              <a:rPr lang="en-US" sz="1500" b="0" u="none" strike="noStrike">
                <a:solidFill>
                  <a:srgbClr val="FFFFFF"/>
                </a:solidFill>
                <a:effectLst/>
                <a:uFillTx/>
                <a:latin typeface="Calibri"/>
                <a:ea typeface="Calibri"/>
              </a:rPr>
              <a:t> build agents that act rationally — maximizing expected performance given an objective.</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Four historical approaches: </a:t>
            </a:r>
            <a:r>
              <a:rPr lang="en-US" sz="1500" b="0" u="none" strike="noStrike">
                <a:solidFill>
                  <a:srgbClr val="FFFFFF"/>
                </a:solidFill>
                <a:effectLst/>
                <a:uFillTx/>
                <a:latin typeface="Calibri"/>
                <a:ea typeface="Calibri"/>
              </a:rPr>
              <a:t>acting/thinking humanly vs. rationally. The rational agent approach dominates.</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Value alignment:</a:t>
            </a:r>
            <a:r>
              <a:rPr lang="en-US" sz="1500" b="0" u="none" strike="noStrike">
                <a:solidFill>
                  <a:srgbClr val="FFFFFF"/>
                </a:solidFill>
                <a:effectLst/>
                <a:uFillTx/>
                <a:latin typeface="Calibri"/>
                <a:ea typeface="Calibri"/>
              </a:rPr>
              <a:t> machines pursuing a fixed objective can cause harm; future AI must handle uncertain objectives.</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Seven founding disciplines: </a:t>
            </a:r>
            <a:r>
              <a:rPr lang="en-US" sz="1500" b="0" u="none" strike="noStrike">
                <a:solidFill>
                  <a:srgbClr val="FFFFFF"/>
                </a:solidFill>
                <a:effectLst/>
                <a:uFillTx/>
                <a:latin typeface="Calibri"/>
                <a:ea typeface="Calibri"/>
              </a:rPr>
              <a:t>Philosophy, Mathematics, Economics, Neuroscience, Psychology, Linguistics, CS.</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History follows cycles: </a:t>
            </a:r>
            <a:r>
              <a:rPr lang="en-US" sz="1500" b="0" u="none" strike="noStrike">
                <a:solidFill>
                  <a:srgbClr val="FFFFFF"/>
                </a:solidFill>
                <a:effectLst/>
                <a:uFillTx/>
                <a:latin typeface="Calibri"/>
                <a:ea typeface="Calibri"/>
              </a:rPr>
              <a:t>enthusiasm → failure → new approach. Deep learning is the latest revolution.</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State of the art: </a:t>
            </a:r>
            <a:r>
              <a:rPr lang="en-US" sz="1500" b="0" u="none" strike="noStrike">
                <a:solidFill>
                  <a:srgbClr val="FFFFFF"/>
                </a:solidFill>
                <a:effectLst/>
                <a:uFillTx/>
                <a:latin typeface="Calibri"/>
                <a:ea typeface="Calibri"/>
              </a:rPr>
              <a:t>AI now matches or exceeds humans in perception, translation, diagnosis, and complex games.</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Risks are real: </a:t>
            </a:r>
            <a:r>
              <a:rPr lang="en-US" sz="1500" b="0" u="none" strike="noStrike">
                <a:solidFill>
                  <a:srgbClr val="FFFFFF"/>
                </a:solidFill>
                <a:effectLst/>
                <a:uFillTx/>
                <a:latin typeface="Calibri"/>
                <a:ea typeface="Calibri"/>
              </a:rPr>
              <a:t>autonomous weapons, surveillance, bias, employment disruption, misaligned superintelligence</a:t>
            </a:r>
            <a:r>
              <a:rPr lang="en-US" sz="1300" b="0" u="none" strike="noStrike">
                <a:solidFill>
                  <a:srgbClr val="FFFFFF"/>
                </a:solidFill>
                <a:effectLst/>
                <a:uFillTx/>
                <a:latin typeface="Calibri"/>
                <a:ea typeface="Calibri"/>
              </a:rPr>
              <a:t>.</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36"/>
        </a:solidFill>
      </p:bgPr>
    </p:bg>
    <p:spTree>
      <p:nvGrpSpPr>
        <p:cNvPr id="1" name=""/>
        <p:cNvGrpSpPr/>
        <p:nvPr/>
      </p:nvGrpSpPr>
      <p:grpSpPr>
        <a:xfrm>
          <a:off x="0" y="0"/>
          <a:ext cx="0" cy="0"/>
          <a:chOff x="0" y="0"/>
          <a:chExt cx="0" cy="0"/>
        </a:xfrm>
      </p:grpSpPr>
      <p:sp>
        <p:nvSpPr>
          <p:cNvPr id="203" name="Shape 0"/>
          <p:cNvSpPr/>
          <p:nvPr/>
        </p:nvSpPr>
        <p:spPr>
          <a:xfrm>
            <a:off x="0" y="0"/>
            <a:ext cx="162000" cy="5141160"/>
          </a:xfrm>
          <a:prstGeom prst="rect">
            <a:avLst/>
          </a:prstGeom>
          <a:solidFill>
            <a:srgbClr val="F4A020"/>
          </a:solidFill>
          <a:ln w="12700">
            <a:solidFill>
              <a:srgbClr val="F4A020"/>
            </a:solidFill>
            <a:round/>
          </a:ln>
        </p:spPr>
        <p:style>
          <a:lnRef idx="0"/>
          <a:fillRef idx="0"/>
          <a:effectRef idx="0"/>
          <a:fontRef idx="minor"/>
        </p:style>
        <p:txBody>
          <a:bodyPr lIns="81000" tIns="45000" rIns="81000" bIns="45000" anchor="t">
            <a:noAutofit/>
          </a:bodyPr>
          <a:p>
            <a:endParaRPr lang="en-US" sz="1800" b="0" u="none" strike="noStrike">
              <a:solidFill>
                <a:srgbClr val="000000"/>
              </a:solidFill>
              <a:effectLst/>
              <a:uFillTx/>
              <a:latin typeface="Arial"/>
            </a:endParaRPr>
          </a:p>
        </p:txBody>
      </p:sp>
      <p:sp>
        <p:nvSpPr>
          <p:cNvPr id="204" name="Text 1"/>
          <p:cNvSpPr/>
          <p:nvPr/>
        </p:nvSpPr>
        <p:spPr>
          <a:xfrm>
            <a:off x="457200" y="822960"/>
            <a:ext cx="8227080" cy="500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600" b="0" u="none" strike="noStrike">
                <a:solidFill>
                  <a:srgbClr val="CBD5E1"/>
                </a:solidFill>
                <a:effectLst/>
                <a:uFillTx/>
                <a:latin typeface="Calibri"/>
                <a:ea typeface="Calibri"/>
              </a:rPr>
              <a:t>PART 2</a:t>
            </a:r>
            <a:endParaRPr lang="en-US" sz="1600" b="0" u="none" strike="noStrike">
              <a:solidFill>
                <a:srgbClr val="FFFFFF"/>
              </a:solidFill>
              <a:effectLst/>
              <a:uFillTx/>
              <a:latin typeface="Arial"/>
            </a:endParaRPr>
          </a:p>
        </p:txBody>
      </p:sp>
      <p:sp>
        <p:nvSpPr>
          <p:cNvPr id="205" name="Text 2"/>
          <p:cNvSpPr/>
          <p:nvPr/>
        </p:nvSpPr>
        <p:spPr>
          <a:xfrm>
            <a:off x="457200" y="1417320"/>
            <a:ext cx="8227080" cy="1003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600" b="1" u="none" strike="noStrike">
                <a:solidFill>
                  <a:srgbClr val="FFFFFF"/>
                </a:solidFill>
                <a:effectLst/>
                <a:uFillTx/>
                <a:latin typeface="Calibri"/>
                <a:ea typeface="Calibri"/>
              </a:rPr>
              <a:t>Chapter 2: Intelligent Agents</a:t>
            </a:r>
            <a:endParaRPr lang="en-US" sz="3600" b="0" u="none" strike="noStrike">
              <a:solidFill>
                <a:srgbClr val="FFFFFF"/>
              </a:solidFill>
              <a:effectLst/>
              <a:uFillTx/>
              <a:latin typeface="Arial"/>
            </a:endParaRPr>
          </a:p>
        </p:txBody>
      </p:sp>
      <p:sp>
        <p:nvSpPr>
          <p:cNvPr id="206" name="Text 3"/>
          <p:cNvSpPr/>
          <p:nvPr/>
        </p:nvSpPr>
        <p:spPr>
          <a:xfrm>
            <a:off x="457200" y="2514600"/>
            <a:ext cx="8227080" cy="454680"/>
          </a:xfrm>
          <a:prstGeom prst="rect">
            <a:avLst/>
          </a:prstGeom>
          <a:noFill/>
          <a:ln w="0">
            <a:noFill/>
          </a:ln>
        </p:spPr>
        <p:style>
          <a:lnRef idx="0"/>
          <a:fillRef idx="0"/>
          <a:effectRef idx="0"/>
          <a:fontRef idx="minor"/>
        </p:style>
        <p:txBody>
          <a:bodyPr lIns="90000" tIns="45000" rIns="90000" bIns="45000" anchor="ctr">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07"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8"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09"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Chapter 2 — What We'll Cover</a:t>
            </a:r>
            <a:endParaRPr lang="en-US" sz="2200" b="0" u="none" strike="noStrike">
              <a:solidFill>
                <a:srgbClr val="000000"/>
              </a:solidFill>
              <a:effectLst/>
              <a:uFillTx/>
              <a:latin typeface="Arial"/>
            </a:endParaRPr>
          </a:p>
        </p:txBody>
      </p:sp>
      <p:sp>
        <p:nvSpPr>
          <p:cNvPr id="210" name="Text 3"/>
          <p:cNvSpPr/>
          <p:nvPr/>
        </p:nvSpPr>
        <p:spPr>
          <a:xfrm>
            <a:off x="365760" y="960120"/>
            <a:ext cx="8409960" cy="39751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2.1  Agents and Environments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Percepts, actions, and the agent function</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Why lookup tables fail</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2.2  Good Behavior: Rationality</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Performance measures and the definition of rationality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Rationality vs. omniscience; autonomy and learning</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2.3  Task Environments (PEAS)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Specifying the task environment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Seven key dimensions every AI designer must consider</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2.4  Agent Architectures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Simple Reflex → Model-Based → Goal-Based → Utility-Based → Learning</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Atomic, Factored, and Structured representations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11"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2"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13"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2.1 What Is an Agent?</a:t>
            </a:r>
            <a:endParaRPr lang="en-US" sz="2200" b="0" u="none" strike="noStrike">
              <a:solidFill>
                <a:srgbClr val="000000"/>
              </a:solidFill>
              <a:effectLst/>
              <a:uFillTx/>
              <a:latin typeface="Arial"/>
            </a:endParaRPr>
          </a:p>
        </p:txBody>
      </p:sp>
      <p:sp>
        <p:nvSpPr>
          <p:cNvPr id="214" name="Text 3"/>
          <p:cNvSpPr/>
          <p:nvPr/>
        </p:nvSpPr>
        <p:spPr>
          <a:xfrm>
            <a:off x="365760" y="960120"/>
            <a:ext cx="8409960" cy="39751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An agent perceives its environment through sensors and acts upon it through actuators</a:t>
            </a:r>
            <a:endParaRPr lang="en-US" sz="15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Examples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Human → eyes/ears, hands/voice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Robot → cameras/lidar, motors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Software agent → file/network inputs, file writes/API calls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Percept &amp; Percept Sequence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Percept = content the sensors are perceiving right now</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Percept sequence = complete history of all past percepts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Agent's action may depend on the entire percept history</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Agent Function vs. Agent Program</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Agent function: abstract math — maps percept sequence → action</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Agent program: concrete implementation on hardware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Same agent function; many possible programs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15"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6"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17"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2.1 Why a Lookup Table Fails</a:t>
            </a:r>
            <a:endParaRPr lang="en-US" sz="2200" b="0" u="none" strike="noStrike">
              <a:solidFill>
                <a:srgbClr val="000000"/>
              </a:solidFill>
              <a:effectLst/>
              <a:uFillTx/>
              <a:latin typeface="Arial"/>
            </a:endParaRPr>
          </a:p>
        </p:txBody>
      </p:sp>
      <p:sp>
        <p:nvSpPr>
          <p:cNvPr id="218" name="Text 3"/>
          <p:cNvSpPr/>
          <p:nvPr/>
        </p:nvSpPr>
        <p:spPr>
          <a:xfrm>
            <a:off x="365760" y="960120"/>
            <a:ext cx="8409960" cy="39751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A table-driven agent explicitly stores the correct action for every possible percept sequence</a:t>
            </a:r>
            <a:endParaRPr lang="en-US" sz="15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The table is astronomically large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Taxi with 8 cameras at 70 MB/s → &gt; 10⁶⁰⁰,⁰⁰⁰,⁰⁰⁰ entries per hour</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Chess alone: at least 10¹⁵⁰ entries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Observable atoms in the universe: &lt; 10⁸⁰</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Three practical failures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No physical agent has space to store the table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No designer has time to construct it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No agent could learn all entries from experience</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The central AI challenge: write compact programs that produce rational behavior — like Newton's method replaced printed square-root tables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19"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0"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21"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2.2 Rationality — The Four Factors</a:t>
            </a:r>
            <a:endParaRPr lang="en-US" sz="2200" b="0" u="none" strike="noStrike">
              <a:solidFill>
                <a:srgbClr val="000000"/>
              </a:solidFill>
              <a:effectLst/>
              <a:uFillTx/>
              <a:latin typeface="Arial"/>
            </a:endParaRPr>
          </a:p>
        </p:txBody>
      </p:sp>
      <p:sp>
        <p:nvSpPr>
          <p:cNvPr id="222" name="Text 3"/>
          <p:cNvSpPr/>
          <p:nvPr/>
        </p:nvSpPr>
        <p:spPr>
          <a:xfrm>
            <a:off x="365760" y="960120"/>
            <a:ext cx="8409960" cy="39751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What determines rational action?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1. The performance measure; criterion of success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2. Prior knowledge of the environment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3. The actions the agent can perform</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4. The agent's percept sequence to date</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Definition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 rational agent selects the action that maximizes expected performance given its percept sequence and built-in knowledge</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Performance measure design pitfalls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Measure 'dirt cleaned' → agent dumps and re-cleans to game the score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Better: reward clean floor at each time step</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General rule: measure what you actually want, not how you expect the agent to behave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Related to the King Midas / value alignment problem from Ch. 1</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23"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4"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25"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2.2 Rationality vs. Omniscience vs. Autonomy</a:t>
            </a:r>
            <a:endParaRPr lang="en-US" sz="2200" b="0" u="none" strike="noStrike">
              <a:solidFill>
                <a:srgbClr val="000000"/>
              </a:solidFill>
              <a:effectLst/>
              <a:uFillTx/>
              <a:latin typeface="Arial"/>
            </a:endParaRPr>
          </a:p>
        </p:txBody>
      </p:sp>
      <p:sp>
        <p:nvSpPr>
          <p:cNvPr id="226" name="Shape 3"/>
          <p:cNvSpPr/>
          <p:nvPr/>
        </p:nvSpPr>
        <p:spPr>
          <a:xfrm>
            <a:off x="320040" y="1005840"/>
            <a:ext cx="3929400" cy="383796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7" name="Shape 4"/>
          <p:cNvSpPr/>
          <p:nvPr/>
        </p:nvSpPr>
        <p:spPr>
          <a:xfrm>
            <a:off x="320040" y="1005840"/>
            <a:ext cx="3929400" cy="408960"/>
          </a:xfrm>
          <a:prstGeom prst="rect">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8" name="Text 5"/>
          <p:cNvSpPr/>
          <p:nvPr/>
        </p:nvSpPr>
        <p:spPr>
          <a:xfrm>
            <a:off x="320040" y="1005840"/>
            <a:ext cx="3929400" cy="408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Rationality</a:t>
            </a:r>
            <a:endParaRPr lang="en-US" sz="1400" b="0" u="none" strike="noStrike">
              <a:solidFill>
                <a:srgbClr val="000000"/>
              </a:solidFill>
              <a:effectLst/>
              <a:uFillTx/>
              <a:latin typeface="Arial"/>
            </a:endParaRPr>
          </a:p>
        </p:txBody>
      </p:sp>
      <p:sp>
        <p:nvSpPr>
          <p:cNvPr id="229" name="Text 6"/>
          <p:cNvSpPr/>
          <p:nvPr/>
        </p:nvSpPr>
        <p:spPr>
          <a:xfrm>
            <a:off x="457200" y="1508760"/>
            <a:ext cx="3655080" cy="31978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Maximizes expected performance given available information</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Does NOT require knowing the actual outcome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Information gathering is part of rational behavior</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Must learn from percepts to improve over time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'Look both ways before crossing' is rationally required even if no truck is coming</a:t>
            </a:r>
            <a:endParaRPr lang="en-US" sz="1300" b="0" u="none" strike="noStrike">
              <a:solidFill>
                <a:srgbClr val="000000"/>
              </a:solidFill>
              <a:effectLst/>
              <a:uFillTx/>
              <a:latin typeface="Arial"/>
            </a:endParaRPr>
          </a:p>
        </p:txBody>
      </p:sp>
      <p:sp>
        <p:nvSpPr>
          <p:cNvPr id="230" name="Shape 7"/>
          <p:cNvSpPr/>
          <p:nvPr/>
        </p:nvSpPr>
        <p:spPr>
          <a:xfrm>
            <a:off x="4892040" y="1005840"/>
            <a:ext cx="3929400" cy="383796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1" name="Shape 8"/>
          <p:cNvSpPr/>
          <p:nvPr/>
        </p:nvSpPr>
        <p:spPr>
          <a:xfrm>
            <a:off x="4892040" y="1005840"/>
            <a:ext cx="3929400" cy="40896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2" name="Text 9"/>
          <p:cNvSpPr/>
          <p:nvPr/>
        </p:nvSpPr>
        <p:spPr>
          <a:xfrm>
            <a:off x="4892040" y="1005840"/>
            <a:ext cx="3929400" cy="408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Omniscience / Autonomy</a:t>
            </a:r>
            <a:endParaRPr lang="en-US" sz="1400" b="0" u="none" strike="noStrike">
              <a:solidFill>
                <a:srgbClr val="000000"/>
              </a:solidFill>
              <a:effectLst/>
              <a:uFillTx/>
              <a:latin typeface="Arial"/>
            </a:endParaRPr>
          </a:p>
        </p:txBody>
      </p:sp>
      <p:sp>
        <p:nvSpPr>
          <p:cNvPr id="233" name="Text 10"/>
          <p:cNvSpPr/>
          <p:nvPr/>
        </p:nvSpPr>
        <p:spPr>
          <a:xfrm>
            <a:off x="5029200" y="1508760"/>
            <a:ext cx="3655080" cy="31978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Omniscient = knows the actual outcome — impossible in reality</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Rationality ≠ perfection (cargo door example)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Autonomy = relying on own learning, not just designer's prior knowledge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Rational agents should learn to compensate for incomplete priors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Sphex wasp: lacks autonomy → repeats failed plan forever</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34"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5"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36"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2.3 PEAS: Specifying the Task Environment</a:t>
            </a:r>
            <a:endParaRPr lang="en-US" sz="2200" b="0" u="none" strike="noStrike">
              <a:solidFill>
                <a:srgbClr val="000000"/>
              </a:solidFill>
              <a:effectLst/>
              <a:uFillTx/>
              <a:latin typeface="Arial"/>
            </a:endParaRPr>
          </a:p>
        </p:txBody>
      </p:sp>
      <p:sp>
        <p:nvSpPr>
          <p:cNvPr id="237" name="Text 3"/>
          <p:cNvSpPr/>
          <p:nvPr/>
        </p:nvSpPr>
        <p:spPr>
          <a:xfrm>
            <a:off x="365760" y="960120"/>
            <a:ext cx="8409960" cy="39751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P — Performance Measure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What does success look like? (safety, speed, profit, comfort…)</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E — Environment</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What does the agent operate in? (roads, weather, passengers…)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A — Actuators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How does the agent act? (steering, braking, display, voice…)</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S — Sensors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How does the agent perceive? (cameras, lidar, GPS, microphone…)</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Automated Taxi Example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Performance: correct destination, safety, fuel, legality, comfort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Environment: roads, traffic, pedestrians, weather, passengers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Actuators: accelerator, brakes, steering, horn, touchscreen display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Sensors: cameras, lidar, ultrasound, speedometer, GPS, touchscreen input</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decor-background 11"/>
          <p:cNvSpPr/>
          <p:nvPr/>
        </p:nvSpPr>
        <p:spPr>
          <a:xfrm>
            <a:off x="0" y="0"/>
            <a:ext cx="9142560" cy="514224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9" name="decor-section 11"/>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ea typeface="DejaVu Sans"/>
              </a:rPr>
              <a:t>COMP 469 · Chapters 1 &amp; 2 Expanded</a:t>
            </a:r>
            <a:endParaRPr lang="en-US" sz="750" b="0" u="none" strike="noStrike">
              <a:solidFill>
                <a:srgbClr val="000000"/>
              </a:solidFill>
              <a:effectLst/>
              <a:uFillTx/>
              <a:latin typeface="Arial"/>
            </a:endParaRPr>
          </a:p>
        </p:txBody>
      </p:sp>
      <p:sp>
        <p:nvSpPr>
          <p:cNvPr id="240" name="content-title 11"/>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Performance measures score histories, not intentions</a:t>
            </a:r>
            <a:endParaRPr lang="en-US" sz="2400" b="0" u="none" strike="noStrike">
              <a:solidFill>
                <a:srgbClr val="000000"/>
              </a:solidFill>
              <a:effectLst/>
              <a:uFillTx/>
              <a:latin typeface="Arial"/>
            </a:endParaRPr>
          </a:p>
        </p:txBody>
      </p:sp>
      <p:sp>
        <p:nvSpPr>
          <p:cNvPr id="241" name="content-subtitle 11"/>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A rational agent optimizes what you measure.</a:t>
            </a:r>
            <a:endParaRPr lang="en-US" sz="1150" b="0" u="none" strike="noStrike">
              <a:solidFill>
                <a:srgbClr val="000000"/>
              </a:solidFill>
              <a:effectLst/>
              <a:uFillTx/>
              <a:latin typeface="Arial"/>
            </a:endParaRPr>
          </a:p>
        </p:txBody>
      </p:sp>
      <p:cxnSp>
        <p:nvCxnSpPr>
          <p:cNvPr id="242" name="decor-title-line 11"/>
          <p:cNvCxnSpPr/>
          <p:nvPr/>
        </p:nvCxnSpPr>
        <p:spPr>
          <a:xfrm>
            <a:off x="320040" y="932400"/>
            <a:ext cx="8505360" cy="1440"/>
          </a:xfrm>
          <a:prstGeom prst="straightConnector1">
            <a:avLst/>
          </a:prstGeom>
          <a:ln w="25560">
            <a:solidFill>
              <a:srgbClr val="F2A122"/>
            </a:solidFill>
            <a:round/>
          </a:ln>
        </p:spPr>
      </p:cxnSp>
      <p:sp>
        <p:nvSpPr>
          <p:cNvPr id="243" name="decor-footer 11"/>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sp>
        <p:nvSpPr>
          <p:cNvPr id="244" name="content-term 4"/>
          <p:cNvSpPr/>
          <p:nvPr/>
        </p:nvSpPr>
        <p:spPr>
          <a:xfrm>
            <a:off x="822960" y="1188720"/>
            <a:ext cx="2467440" cy="309600"/>
          </a:xfrm>
          <a:prstGeom prst="rect">
            <a:avLst/>
          </a:prstGeom>
          <a:solidFill>
            <a:srgbClr val="091F3F"/>
          </a:solidFill>
          <a:ln w="0">
            <a:solidFill>
              <a:srgbClr val="091F3F"/>
            </a:solidFill>
          </a:ln>
        </p:spPr>
        <p:style>
          <a:lnRef idx="0"/>
          <a:fillRef idx="0"/>
          <a:effectRef idx="0"/>
          <a:fontRef idx="minor"/>
        </p:style>
        <p:txBody>
          <a:bodyPr lIns="45720" tIns="45000" rIns="45720" bIns="45000" anchor="t">
            <a:normAutofit fontScale="92500" lnSpcReduction="9999"/>
          </a:bodyPr>
          <a:p>
            <a:pPr algn="ctr">
              <a:lnSpc>
                <a:spcPct val="100000"/>
              </a:lnSpc>
            </a:pPr>
            <a:r>
              <a:rPr lang="en-US" sz="1700" b="1" u="none" strike="noStrike">
                <a:solidFill>
                  <a:srgbClr val="FFFFFF"/>
                </a:solidFill>
                <a:effectLst/>
                <a:uFillTx/>
                <a:latin typeface="Aptos"/>
                <a:ea typeface="DejaVu Sans"/>
              </a:rPr>
              <a:t>Performance measure</a:t>
            </a:r>
            <a:endParaRPr lang="en-US" sz="1700" b="0" u="none" strike="noStrike">
              <a:solidFill>
                <a:srgbClr val="FFFFFF"/>
              </a:solidFill>
              <a:effectLst/>
              <a:uFillTx/>
              <a:latin typeface="Arial"/>
            </a:endParaRPr>
          </a:p>
        </p:txBody>
      </p:sp>
      <p:sp>
        <p:nvSpPr>
          <p:cNvPr id="245" name="content-def 4"/>
          <p:cNvSpPr/>
          <p:nvPr/>
        </p:nvSpPr>
        <p:spPr>
          <a:xfrm>
            <a:off x="685800" y="1664280"/>
            <a:ext cx="2741760" cy="565560"/>
          </a:xfrm>
          <a:prstGeom prst="rect">
            <a:avLst/>
          </a:prstGeom>
          <a:solidFill>
            <a:srgbClr val="F7F8FA"/>
          </a:solidFill>
          <a:ln w="0">
            <a:solidFill>
              <a:srgbClr val="DCE1E8"/>
            </a:solidFill>
          </a:ln>
        </p:spPr>
        <p:style>
          <a:lnRef idx="0"/>
          <a:fillRef idx="0"/>
          <a:effectRef idx="0"/>
          <a:fontRef idx="minor"/>
        </p:style>
        <p:txBody>
          <a:bodyPr lIns="73080" tIns="73080" rIns="73080" bIns="73080" anchor="t">
            <a:normAutofit fontScale="85000" lnSpcReduction="9999"/>
          </a:bodyPr>
          <a:p>
            <a:pPr algn="ctr">
              <a:lnSpc>
                <a:spcPct val="100000"/>
              </a:lnSpc>
            </a:pPr>
            <a:r>
              <a:rPr lang="en-US" sz="1500" b="0" u="none" strike="noStrike">
                <a:solidFill>
                  <a:srgbClr val="1E1E1E"/>
                </a:solidFill>
                <a:effectLst/>
                <a:uFillTx/>
                <a:latin typeface="Aptos"/>
                <a:ea typeface="DejaVu Sans"/>
              </a:rPr>
              <a:t>A function that evaluates a sequence of environment states.</a:t>
            </a:r>
            <a:endParaRPr lang="en-US" sz="1500" b="0" u="none" strike="noStrike">
              <a:solidFill>
                <a:srgbClr val="000000"/>
              </a:solidFill>
              <a:effectLst/>
              <a:uFillTx/>
              <a:latin typeface="Arial"/>
            </a:endParaRPr>
          </a:p>
        </p:txBody>
      </p:sp>
      <p:sp>
        <p:nvSpPr>
          <p:cNvPr id="246" name="content-term 5"/>
          <p:cNvSpPr/>
          <p:nvPr/>
        </p:nvSpPr>
        <p:spPr>
          <a:xfrm>
            <a:off x="3703320" y="1188720"/>
            <a:ext cx="1918800" cy="309600"/>
          </a:xfrm>
          <a:prstGeom prst="rect">
            <a:avLst/>
          </a:prstGeom>
          <a:solidFill>
            <a:srgbClr val="B73D3B"/>
          </a:solidFill>
          <a:ln w="0">
            <a:solidFill>
              <a:srgbClr val="B73D3B"/>
            </a:solidFill>
          </a:ln>
        </p:spPr>
        <p:style>
          <a:lnRef idx="0"/>
          <a:fillRef idx="0"/>
          <a:effectRef idx="0"/>
          <a:fontRef idx="minor"/>
        </p:style>
        <p:txBody>
          <a:bodyPr lIns="45720" tIns="45000" rIns="45720" bIns="45000" anchor="t">
            <a:normAutofit fontScale="92500" lnSpcReduction="9999"/>
          </a:bodyPr>
          <a:p>
            <a:pPr algn="ctr">
              <a:lnSpc>
                <a:spcPct val="100000"/>
              </a:lnSpc>
            </a:pPr>
            <a:r>
              <a:rPr lang="en-US" sz="1700" b="1" u="none" strike="noStrike">
                <a:solidFill>
                  <a:srgbClr val="FFFFFF"/>
                </a:solidFill>
                <a:effectLst/>
                <a:uFillTx/>
                <a:latin typeface="Aptos"/>
                <a:ea typeface="DejaVu Sans"/>
              </a:rPr>
              <a:t>Bad design</a:t>
            </a:r>
            <a:endParaRPr lang="en-US" sz="1700" b="0" u="none" strike="noStrike">
              <a:solidFill>
                <a:srgbClr val="FFFFFF"/>
              </a:solidFill>
              <a:effectLst/>
              <a:uFillTx/>
              <a:latin typeface="Arial"/>
            </a:endParaRPr>
          </a:p>
        </p:txBody>
      </p:sp>
      <p:sp>
        <p:nvSpPr>
          <p:cNvPr id="247" name="content-def 5"/>
          <p:cNvSpPr/>
          <p:nvPr/>
        </p:nvSpPr>
        <p:spPr>
          <a:xfrm>
            <a:off x="3429000" y="1664280"/>
            <a:ext cx="2467440" cy="565560"/>
          </a:xfrm>
          <a:prstGeom prst="rect">
            <a:avLst/>
          </a:prstGeom>
          <a:solidFill>
            <a:srgbClr val="FFEEEE"/>
          </a:solidFill>
          <a:ln w="0">
            <a:solidFill>
              <a:srgbClr val="DCE1E8"/>
            </a:solidFill>
          </a:ln>
        </p:spPr>
        <p:style>
          <a:lnRef idx="0"/>
          <a:fillRef idx="0"/>
          <a:effectRef idx="0"/>
          <a:fontRef idx="minor"/>
        </p:style>
        <p:txBody>
          <a:bodyPr lIns="73080" tIns="73080" rIns="73080" bIns="73080" anchor="t">
            <a:normAutofit lnSpcReduction="9999"/>
          </a:bodyPr>
          <a:p>
            <a:pPr algn="ctr">
              <a:lnSpc>
                <a:spcPct val="100000"/>
              </a:lnSpc>
            </a:pPr>
            <a:r>
              <a:rPr lang="en-US" sz="1500" b="0" u="none" strike="noStrike">
                <a:solidFill>
                  <a:srgbClr val="1E1E1E"/>
                </a:solidFill>
                <a:effectLst/>
                <a:uFillTx/>
                <a:latin typeface="Aptos"/>
                <a:ea typeface="DejaVu Sans"/>
              </a:rPr>
              <a:t>Reward easy proxy</a:t>
            </a:r>
            <a:br>
              <a:rPr sz="1500"/>
            </a:br>
            <a:r>
              <a:rPr lang="en-US" sz="1500" b="0" u="none" strike="noStrike">
                <a:solidFill>
                  <a:srgbClr val="1E1E1E"/>
                </a:solidFill>
                <a:effectLst/>
                <a:uFillTx/>
                <a:latin typeface="Aptos"/>
                <a:ea typeface="DejaVu Sans"/>
              </a:rPr>
              <a:t>→ agent exploits proxy</a:t>
            </a:r>
            <a:endParaRPr lang="en-US" sz="1500" b="0" u="none" strike="noStrike">
              <a:solidFill>
                <a:srgbClr val="000000"/>
              </a:solidFill>
              <a:effectLst/>
              <a:uFillTx/>
              <a:latin typeface="Arial"/>
            </a:endParaRPr>
          </a:p>
        </p:txBody>
      </p:sp>
      <p:sp>
        <p:nvSpPr>
          <p:cNvPr id="248" name="content-term 6"/>
          <p:cNvSpPr/>
          <p:nvPr/>
        </p:nvSpPr>
        <p:spPr>
          <a:xfrm>
            <a:off x="6355080" y="1188720"/>
            <a:ext cx="1918800" cy="309600"/>
          </a:xfrm>
          <a:prstGeom prst="rect">
            <a:avLst/>
          </a:prstGeom>
          <a:solidFill>
            <a:srgbClr val="4A9D50"/>
          </a:solidFill>
          <a:ln w="0">
            <a:solidFill>
              <a:srgbClr val="4A9D50"/>
            </a:solidFill>
          </a:ln>
        </p:spPr>
        <p:style>
          <a:lnRef idx="0"/>
          <a:fillRef idx="0"/>
          <a:effectRef idx="0"/>
          <a:fontRef idx="minor"/>
        </p:style>
        <p:txBody>
          <a:bodyPr lIns="45720" tIns="45000" rIns="45720" bIns="45000" anchor="t">
            <a:normAutofit fontScale="92500" lnSpcReduction="9999"/>
          </a:bodyPr>
          <a:p>
            <a:pPr algn="ctr">
              <a:lnSpc>
                <a:spcPct val="100000"/>
              </a:lnSpc>
            </a:pPr>
            <a:r>
              <a:rPr lang="en-US" sz="1700" b="1" u="none" strike="noStrike">
                <a:solidFill>
                  <a:srgbClr val="FFFFFF"/>
                </a:solidFill>
                <a:effectLst/>
                <a:uFillTx/>
                <a:latin typeface="Aptos"/>
                <a:ea typeface="DejaVu Sans"/>
              </a:rPr>
              <a:t>Good design</a:t>
            </a:r>
            <a:endParaRPr lang="en-US" sz="1700" b="0" u="none" strike="noStrike">
              <a:solidFill>
                <a:srgbClr val="FFFFFF"/>
              </a:solidFill>
              <a:effectLst/>
              <a:uFillTx/>
              <a:latin typeface="Arial"/>
            </a:endParaRPr>
          </a:p>
        </p:txBody>
      </p:sp>
      <p:sp>
        <p:nvSpPr>
          <p:cNvPr id="249" name="content-def 6"/>
          <p:cNvSpPr/>
          <p:nvPr/>
        </p:nvSpPr>
        <p:spPr>
          <a:xfrm>
            <a:off x="6080760" y="1664280"/>
            <a:ext cx="2467440" cy="565560"/>
          </a:xfrm>
          <a:prstGeom prst="rect">
            <a:avLst/>
          </a:prstGeom>
          <a:solidFill>
            <a:srgbClr val="EDF8F4"/>
          </a:solidFill>
          <a:ln w="0">
            <a:solidFill>
              <a:srgbClr val="DCE1E8"/>
            </a:solidFill>
          </a:ln>
        </p:spPr>
        <p:style>
          <a:lnRef idx="0"/>
          <a:fillRef idx="0"/>
          <a:effectRef idx="0"/>
          <a:fontRef idx="minor"/>
        </p:style>
        <p:txBody>
          <a:bodyPr lIns="73080" tIns="73080" rIns="73080" bIns="73080" anchor="t">
            <a:normAutofit fontScale="92500" lnSpcReduction="9999"/>
          </a:bodyPr>
          <a:p>
            <a:pPr algn="ctr">
              <a:lnSpc>
                <a:spcPct val="100000"/>
              </a:lnSpc>
            </a:pPr>
            <a:r>
              <a:rPr lang="en-US" sz="1500" b="0" u="none" strike="noStrike">
                <a:solidFill>
                  <a:srgbClr val="1E1E1E"/>
                </a:solidFill>
                <a:effectLst/>
                <a:uFillTx/>
                <a:latin typeface="Aptos"/>
                <a:ea typeface="DejaVu Sans"/>
              </a:rPr>
              <a:t>Reward desired world state</a:t>
            </a:r>
            <a:br>
              <a:rPr sz="1500"/>
            </a:br>
            <a:r>
              <a:rPr lang="en-US" sz="1500" b="0" u="none" strike="noStrike">
                <a:solidFill>
                  <a:srgbClr val="1E1E1E"/>
                </a:solidFill>
                <a:effectLst/>
                <a:uFillTx/>
                <a:latin typeface="Aptos"/>
                <a:ea typeface="DejaVu Sans"/>
              </a:rPr>
              <a:t>→ agent aligns better</a:t>
            </a:r>
            <a:endParaRPr lang="en-US" sz="1500" b="0" u="none" strike="noStrike">
              <a:solidFill>
                <a:srgbClr val="000000"/>
              </a:solidFill>
              <a:effectLst/>
              <a:uFillTx/>
              <a:latin typeface="Arial"/>
            </a:endParaRPr>
          </a:p>
        </p:txBody>
      </p:sp>
      <p:sp>
        <p:nvSpPr>
          <p:cNvPr id="250" name="content-quote 2"/>
          <p:cNvSpPr/>
          <p:nvPr/>
        </p:nvSpPr>
        <p:spPr>
          <a:xfrm>
            <a:off x="1005840" y="3154680"/>
            <a:ext cx="7130880" cy="41004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gn="ctr">
              <a:lnSpc>
                <a:spcPct val="100000"/>
              </a:lnSpc>
            </a:pPr>
            <a:r>
              <a:rPr lang="en-US" sz="2000" b="1" u="none" strike="noStrike">
                <a:solidFill>
                  <a:srgbClr val="091F3F"/>
                </a:solidFill>
                <a:effectLst/>
                <a:uFillTx/>
                <a:latin typeface="Aptos"/>
                <a:ea typeface="DejaVu Sans"/>
              </a:rPr>
              <a:t>In AI, 'what you ask for is what you get' — sometimes painfully literally.</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51"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2"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53"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2.3 Properties of Task Environments</a:t>
            </a:r>
            <a:endParaRPr lang="en-US" sz="2200" b="0" u="none" strike="noStrike">
              <a:solidFill>
                <a:srgbClr val="000000"/>
              </a:solidFill>
              <a:effectLst/>
              <a:uFillTx/>
              <a:latin typeface="Arial"/>
            </a:endParaRPr>
          </a:p>
        </p:txBody>
      </p:sp>
      <p:sp>
        <p:nvSpPr>
          <p:cNvPr id="254" name="Shape 3"/>
          <p:cNvSpPr/>
          <p:nvPr/>
        </p:nvSpPr>
        <p:spPr>
          <a:xfrm>
            <a:off x="274320" y="960120"/>
            <a:ext cx="4112280" cy="82044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5" name="Shape 4"/>
          <p:cNvSpPr/>
          <p:nvPr/>
        </p:nvSpPr>
        <p:spPr>
          <a:xfrm>
            <a:off x="274320" y="960120"/>
            <a:ext cx="2054880" cy="820440"/>
          </a:xfrm>
          <a:prstGeom prst="rect">
            <a:avLst/>
          </a:prstGeom>
          <a:solidFill>
            <a:srgbClr val="D6E8F7"/>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6" name="Text 5"/>
          <p:cNvSpPr/>
          <p:nvPr/>
        </p:nvSpPr>
        <p:spPr>
          <a:xfrm>
            <a:off x="365760" y="1005840"/>
            <a:ext cx="191772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A4FA0"/>
                </a:solidFill>
                <a:effectLst/>
                <a:uFillTx/>
                <a:latin typeface="Calibri"/>
                <a:ea typeface="Calibri"/>
              </a:rPr>
              <a:t>Fully Observable</a:t>
            </a:r>
            <a:endParaRPr lang="en-US" sz="1100" b="0" u="none" strike="noStrike">
              <a:solidFill>
                <a:srgbClr val="000000"/>
              </a:solidFill>
              <a:effectLst/>
              <a:uFillTx/>
              <a:latin typeface="Arial"/>
            </a:endParaRPr>
          </a:p>
        </p:txBody>
      </p:sp>
      <p:sp>
        <p:nvSpPr>
          <p:cNvPr id="257" name="Shape 6"/>
          <p:cNvSpPr/>
          <p:nvPr/>
        </p:nvSpPr>
        <p:spPr>
          <a:xfrm>
            <a:off x="2331720" y="1051560"/>
            <a:ext cx="360" cy="640080"/>
          </a:xfrm>
          <a:prstGeom prst="line">
            <a:avLst/>
          </a:prstGeom>
          <a:ln w="12700">
            <a:solidFill>
              <a:srgbClr val="CBD5E1"/>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258" name="Text 7"/>
          <p:cNvSpPr/>
          <p:nvPr/>
        </p:nvSpPr>
        <p:spPr>
          <a:xfrm>
            <a:off x="2423160" y="1005840"/>
            <a:ext cx="191772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Partially Observable</a:t>
            </a:r>
            <a:endParaRPr lang="en-US" sz="1100" b="0" u="none" strike="noStrike">
              <a:solidFill>
                <a:srgbClr val="000000"/>
              </a:solidFill>
              <a:effectLst/>
              <a:uFillTx/>
              <a:latin typeface="Arial"/>
            </a:endParaRPr>
          </a:p>
        </p:txBody>
      </p:sp>
      <p:sp>
        <p:nvSpPr>
          <p:cNvPr id="259" name="Shape 8"/>
          <p:cNvSpPr/>
          <p:nvPr/>
        </p:nvSpPr>
        <p:spPr>
          <a:xfrm>
            <a:off x="274320" y="1965960"/>
            <a:ext cx="4112280" cy="82044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0" name="Shape 9"/>
          <p:cNvSpPr/>
          <p:nvPr/>
        </p:nvSpPr>
        <p:spPr>
          <a:xfrm>
            <a:off x="274320" y="1965960"/>
            <a:ext cx="2054880" cy="820440"/>
          </a:xfrm>
          <a:prstGeom prst="rect">
            <a:avLst/>
          </a:prstGeom>
          <a:solidFill>
            <a:srgbClr val="D6E8F7"/>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1" name="Text 10"/>
          <p:cNvSpPr/>
          <p:nvPr/>
        </p:nvSpPr>
        <p:spPr>
          <a:xfrm>
            <a:off x="365760" y="2011680"/>
            <a:ext cx="191772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A4FA0"/>
                </a:solidFill>
                <a:effectLst/>
                <a:uFillTx/>
                <a:latin typeface="Calibri"/>
                <a:ea typeface="Calibri"/>
              </a:rPr>
              <a:t>Single-Agent</a:t>
            </a:r>
            <a:endParaRPr lang="en-US" sz="1100" b="0" u="none" strike="noStrike">
              <a:solidFill>
                <a:srgbClr val="000000"/>
              </a:solidFill>
              <a:effectLst/>
              <a:uFillTx/>
              <a:latin typeface="Arial"/>
            </a:endParaRPr>
          </a:p>
        </p:txBody>
      </p:sp>
      <p:sp>
        <p:nvSpPr>
          <p:cNvPr id="262" name="Shape 11"/>
          <p:cNvSpPr/>
          <p:nvPr/>
        </p:nvSpPr>
        <p:spPr>
          <a:xfrm>
            <a:off x="2331720" y="2057400"/>
            <a:ext cx="360" cy="640080"/>
          </a:xfrm>
          <a:prstGeom prst="line">
            <a:avLst/>
          </a:prstGeom>
          <a:ln w="12700">
            <a:solidFill>
              <a:srgbClr val="CBD5E1"/>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263" name="Text 12"/>
          <p:cNvSpPr/>
          <p:nvPr/>
        </p:nvSpPr>
        <p:spPr>
          <a:xfrm>
            <a:off x="2423160" y="2011680"/>
            <a:ext cx="191772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Multiagent</a:t>
            </a:r>
            <a:endParaRPr lang="en-US" sz="1100" b="0" u="none" strike="noStrike">
              <a:solidFill>
                <a:srgbClr val="000000"/>
              </a:solidFill>
              <a:effectLst/>
              <a:uFillTx/>
              <a:latin typeface="Arial"/>
            </a:endParaRPr>
          </a:p>
        </p:txBody>
      </p:sp>
      <p:sp>
        <p:nvSpPr>
          <p:cNvPr id="264" name="Shape 13"/>
          <p:cNvSpPr/>
          <p:nvPr/>
        </p:nvSpPr>
        <p:spPr>
          <a:xfrm>
            <a:off x="274320" y="2971800"/>
            <a:ext cx="4112280" cy="82044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5" name="Shape 14"/>
          <p:cNvSpPr/>
          <p:nvPr/>
        </p:nvSpPr>
        <p:spPr>
          <a:xfrm>
            <a:off x="274320" y="2971800"/>
            <a:ext cx="2054880" cy="820440"/>
          </a:xfrm>
          <a:prstGeom prst="rect">
            <a:avLst/>
          </a:prstGeom>
          <a:solidFill>
            <a:srgbClr val="D6E8F7"/>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6" name="Text 15"/>
          <p:cNvSpPr/>
          <p:nvPr/>
        </p:nvSpPr>
        <p:spPr>
          <a:xfrm>
            <a:off x="365760" y="3017520"/>
            <a:ext cx="191772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A4FA0"/>
                </a:solidFill>
                <a:effectLst/>
                <a:uFillTx/>
                <a:latin typeface="Calibri"/>
                <a:ea typeface="Calibri"/>
              </a:rPr>
              <a:t>Deterministic</a:t>
            </a:r>
            <a:endParaRPr lang="en-US" sz="1100" b="0" u="none" strike="noStrike">
              <a:solidFill>
                <a:srgbClr val="000000"/>
              </a:solidFill>
              <a:effectLst/>
              <a:uFillTx/>
              <a:latin typeface="Arial"/>
            </a:endParaRPr>
          </a:p>
        </p:txBody>
      </p:sp>
      <p:sp>
        <p:nvSpPr>
          <p:cNvPr id="267" name="Shape 16"/>
          <p:cNvSpPr/>
          <p:nvPr/>
        </p:nvSpPr>
        <p:spPr>
          <a:xfrm>
            <a:off x="2331720" y="3063240"/>
            <a:ext cx="360" cy="640080"/>
          </a:xfrm>
          <a:prstGeom prst="line">
            <a:avLst/>
          </a:prstGeom>
          <a:ln w="12700">
            <a:solidFill>
              <a:srgbClr val="CBD5E1"/>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268" name="Text 17"/>
          <p:cNvSpPr/>
          <p:nvPr/>
        </p:nvSpPr>
        <p:spPr>
          <a:xfrm>
            <a:off x="2423160" y="3017520"/>
            <a:ext cx="191772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Nondeterministic</a:t>
            </a:r>
            <a:endParaRPr lang="en-US" sz="1100" b="0" u="none" strike="noStrike">
              <a:solidFill>
                <a:srgbClr val="000000"/>
              </a:solidFill>
              <a:effectLst/>
              <a:uFillTx/>
              <a:latin typeface="Arial"/>
            </a:endParaRPr>
          </a:p>
        </p:txBody>
      </p:sp>
      <p:sp>
        <p:nvSpPr>
          <p:cNvPr id="269" name="Shape 18"/>
          <p:cNvSpPr/>
          <p:nvPr/>
        </p:nvSpPr>
        <p:spPr>
          <a:xfrm>
            <a:off x="274320" y="3977640"/>
            <a:ext cx="4112280" cy="82044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0" name="Shape 19"/>
          <p:cNvSpPr/>
          <p:nvPr/>
        </p:nvSpPr>
        <p:spPr>
          <a:xfrm>
            <a:off x="274320" y="3977640"/>
            <a:ext cx="2054880" cy="820440"/>
          </a:xfrm>
          <a:prstGeom prst="rect">
            <a:avLst/>
          </a:prstGeom>
          <a:solidFill>
            <a:srgbClr val="D6E8F7"/>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1" name="Text 20"/>
          <p:cNvSpPr/>
          <p:nvPr/>
        </p:nvSpPr>
        <p:spPr>
          <a:xfrm>
            <a:off x="365760" y="4023360"/>
            <a:ext cx="191772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A4FA0"/>
                </a:solidFill>
                <a:effectLst/>
                <a:uFillTx/>
                <a:latin typeface="Calibri"/>
                <a:ea typeface="Calibri"/>
              </a:rPr>
              <a:t>Episodic</a:t>
            </a:r>
            <a:endParaRPr lang="en-US" sz="1100" b="0" u="none" strike="noStrike">
              <a:solidFill>
                <a:srgbClr val="000000"/>
              </a:solidFill>
              <a:effectLst/>
              <a:uFillTx/>
              <a:latin typeface="Arial"/>
            </a:endParaRPr>
          </a:p>
        </p:txBody>
      </p:sp>
      <p:sp>
        <p:nvSpPr>
          <p:cNvPr id="272" name="Shape 21"/>
          <p:cNvSpPr/>
          <p:nvPr/>
        </p:nvSpPr>
        <p:spPr>
          <a:xfrm>
            <a:off x="2331720" y="4069080"/>
            <a:ext cx="360" cy="640080"/>
          </a:xfrm>
          <a:prstGeom prst="line">
            <a:avLst/>
          </a:prstGeom>
          <a:ln w="12700">
            <a:solidFill>
              <a:srgbClr val="CBD5E1"/>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273" name="Text 22"/>
          <p:cNvSpPr/>
          <p:nvPr/>
        </p:nvSpPr>
        <p:spPr>
          <a:xfrm>
            <a:off x="2423160" y="4023360"/>
            <a:ext cx="191772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Sequential</a:t>
            </a:r>
            <a:endParaRPr lang="en-US" sz="1100" b="0" u="none" strike="noStrike">
              <a:solidFill>
                <a:srgbClr val="000000"/>
              </a:solidFill>
              <a:effectLst/>
              <a:uFillTx/>
              <a:latin typeface="Arial"/>
            </a:endParaRPr>
          </a:p>
        </p:txBody>
      </p:sp>
      <p:sp>
        <p:nvSpPr>
          <p:cNvPr id="274" name="Shape 23"/>
          <p:cNvSpPr/>
          <p:nvPr/>
        </p:nvSpPr>
        <p:spPr>
          <a:xfrm>
            <a:off x="4709160" y="960120"/>
            <a:ext cx="4112280" cy="82044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5" name="Shape 24"/>
          <p:cNvSpPr/>
          <p:nvPr/>
        </p:nvSpPr>
        <p:spPr>
          <a:xfrm>
            <a:off x="4709160" y="960120"/>
            <a:ext cx="2054880" cy="820440"/>
          </a:xfrm>
          <a:prstGeom prst="rect">
            <a:avLst/>
          </a:prstGeom>
          <a:solidFill>
            <a:srgbClr val="D6E8F7"/>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6" name="Text 25"/>
          <p:cNvSpPr/>
          <p:nvPr/>
        </p:nvSpPr>
        <p:spPr>
          <a:xfrm>
            <a:off x="4800600" y="1005840"/>
            <a:ext cx="191772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A4FA0"/>
                </a:solidFill>
                <a:effectLst/>
                <a:uFillTx/>
                <a:latin typeface="Calibri"/>
                <a:ea typeface="Calibri"/>
              </a:rPr>
              <a:t>Static</a:t>
            </a:r>
            <a:endParaRPr lang="en-US" sz="1100" b="0" u="none" strike="noStrike">
              <a:solidFill>
                <a:srgbClr val="000000"/>
              </a:solidFill>
              <a:effectLst/>
              <a:uFillTx/>
              <a:latin typeface="Arial"/>
            </a:endParaRPr>
          </a:p>
        </p:txBody>
      </p:sp>
      <p:sp>
        <p:nvSpPr>
          <p:cNvPr id="277" name="Shape 26"/>
          <p:cNvSpPr/>
          <p:nvPr/>
        </p:nvSpPr>
        <p:spPr>
          <a:xfrm>
            <a:off x="6766560" y="1051560"/>
            <a:ext cx="360" cy="640080"/>
          </a:xfrm>
          <a:prstGeom prst="line">
            <a:avLst/>
          </a:prstGeom>
          <a:ln w="12700">
            <a:solidFill>
              <a:srgbClr val="CBD5E1"/>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278" name="Text 27"/>
          <p:cNvSpPr/>
          <p:nvPr/>
        </p:nvSpPr>
        <p:spPr>
          <a:xfrm>
            <a:off x="6858000" y="1005840"/>
            <a:ext cx="191772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Dynamic</a:t>
            </a:r>
            <a:endParaRPr lang="en-US" sz="1100" b="0" u="none" strike="noStrike">
              <a:solidFill>
                <a:srgbClr val="000000"/>
              </a:solidFill>
              <a:effectLst/>
              <a:uFillTx/>
              <a:latin typeface="Arial"/>
            </a:endParaRPr>
          </a:p>
        </p:txBody>
      </p:sp>
      <p:sp>
        <p:nvSpPr>
          <p:cNvPr id="279" name="Shape 28"/>
          <p:cNvSpPr/>
          <p:nvPr/>
        </p:nvSpPr>
        <p:spPr>
          <a:xfrm>
            <a:off x="4709160" y="1965960"/>
            <a:ext cx="4112280" cy="82044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0" name="Shape 29"/>
          <p:cNvSpPr/>
          <p:nvPr/>
        </p:nvSpPr>
        <p:spPr>
          <a:xfrm>
            <a:off x="4709160" y="1965960"/>
            <a:ext cx="2054880" cy="820440"/>
          </a:xfrm>
          <a:prstGeom prst="rect">
            <a:avLst/>
          </a:prstGeom>
          <a:solidFill>
            <a:srgbClr val="D6E8F7"/>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1" name="Text 30"/>
          <p:cNvSpPr/>
          <p:nvPr/>
        </p:nvSpPr>
        <p:spPr>
          <a:xfrm>
            <a:off x="4800600" y="2011680"/>
            <a:ext cx="191772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A4FA0"/>
                </a:solidFill>
                <a:effectLst/>
                <a:uFillTx/>
                <a:latin typeface="Calibri"/>
                <a:ea typeface="Calibri"/>
              </a:rPr>
              <a:t>Discrete</a:t>
            </a:r>
            <a:endParaRPr lang="en-US" sz="1100" b="0" u="none" strike="noStrike">
              <a:solidFill>
                <a:srgbClr val="000000"/>
              </a:solidFill>
              <a:effectLst/>
              <a:uFillTx/>
              <a:latin typeface="Arial"/>
            </a:endParaRPr>
          </a:p>
        </p:txBody>
      </p:sp>
      <p:sp>
        <p:nvSpPr>
          <p:cNvPr id="282" name="Shape 31"/>
          <p:cNvSpPr/>
          <p:nvPr/>
        </p:nvSpPr>
        <p:spPr>
          <a:xfrm>
            <a:off x="6766560" y="2057400"/>
            <a:ext cx="360" cy="640080"/>
          </a:xfrm>
          <a:prstGeom prst="line">
            <a:avLst/>
          </a:prstGeom>
          <a:ln w="12700">
            <a:solidFill>
              <a:srgbClr val="CBD5E1"/>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283" name="Text 32"/>
          <p:cNvSpPr/>
          <p:nvPr/>
        </p:nvSpPr>
        <p:spPr>
          <a:xfrm>
            <a:off x="6858000" y="2011680"/>
            <a:ext cx="191772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Continuous</a:t>
            </a:r>
            <a:endParaRPr lang="en-US" sz="1100" b="0" u="none" strike="noStrike">
              <a:solidFill>
                <a:srgbClr val="000000"/>
              </a:solidFill>
              <a:effectLst/>
              <a:uFillTx/>
              <a:latin typeface="Arial"/>
            </a:endParaRPr>
          </a:p>
        </p:txBody>
      </p:sp>
      <p:sp>
        <p:nvSpPr>
          <p:cNvPr id="284" name="Shape 33"/>
          <p:cNvSpPr/>
          <p:nvPr/>
        </p:nvSpPr>
        <p:spPr>
          <a:xfrm>
            <a:off x="4709160" y="2971800"/>
            <a:ext cx="4112280" cy="82044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5" name="Shape 34"/>
          <p:cNvSpPr/>
          <p:nvPr/>
        </p:nvSpPr>
        <p:spPr>
          <a:xfrm>
            <a:off x="4709160" y="2971800"/>
            <a:ext cx="2054880" cy="820440"/>
          </a:xfrm>
          <a:prstGeom prst="rect">
            <a:avLst/>
          </a:prstGeom>
          <a:solidFill>
            <a:srgbClr val="D6E8F7"/>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6" name="Text 35"/>
          <p:cNvSpPr/>
          <p:nvPr/>
        </p:nvSpPr>
        <p:spPr>
          <a:xfrm>
            <a:off x="4800600" y="3017520"/>
            <a:ext cx="191772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A4FA0"/>
                </a:solidFill>
                <a:effectLst/>
                <a:uFillTx/>
                <a:latin typeface="Calibri"/>
                <a:ea typeface="Calibri"/>
              </a:rPr>
              <a:t>Known</a:t>
            </a:r>
            <a:endParaRPr lang="en-US" sz="1100" b="0" u="none" strike="noStrike">
              <a:solidFill>
                <a:srgbClr val="000000"/>
              </a:solidFill>
              <a:effectLst/>
              <a:uFillTx/>
              <a:latin typeface="Arial"/>
            </a:endParaRPr>
          </a:p>
        </p:txBody>
      </p:sp>
      <p:sp>
        <p:nvSpPr>
          <p:cNvPr id="287" name="Shape 36"/>
          <p:cNvSpPr/>
          <p:nvPr/>
        </p:nvSpPr>
        <p:spPr>
          <a:xfrm>
            <a:off x="6766560" y="3063240"/>
            <a:ext cx="360" cy="640080"/>
          </a:xfrm>
          <a:prstGeom prst="line">
            <a:avLst/>
          </a:prstGeom>
          <a:ln w="12700">
            <a:solidFill>
              <a:srgbClr val="CBD5E1"/>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288" name="Text 37"/>
          <p:cNvSpPr/>
          <p:nvPr/>
        </p:nvSpPr>
        <p:spPr>
          <a:xfrm>
            <a:off x="6858000" y="3017520"/>
            <a:ext cx="1917720" cy="729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Unknown</a:t>
            </a:r>
            <a:endParaRPr lang="en-US" sz="1100" b="0" u="none" strike="noStrike">
              <a:solidFill>
                <a:srgbClr val="000000"/>
              </a:solidFill>
              <a:effectLst/>
              <a:uFillTx/>
              <a:latin typeface="Arial"/>
            </a:endParaRPr>
          </a:p>
        </p:txBody>
      </p:sp>
      <p:sp>
        <p:nvSpPr>
          <p:cNvPr id="289" name="Shape 38"/>
          <p:cNvSpPr/>
          <p:nvPr/>
        </p:nvSpPr>
        <p:spPr>
          <a:xfrm>
            <a:off x="4709160" y="4114800"/>
            <a:ext cx="4112280" cy="82044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0" name="Text 39"/>
          <p:cNvSpPr/>
          <p:nvPr/>
        </p:nvSpPr>
        <p:spPr>
          <a:xfrm>
            <a:off x="4709160" y="4114800"/>
            <a:ext cx="4112280" cy="820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F2B5B"/>
                </a:solidFill>
                <a:effectLst/>
                <a:uFillTx/>
                <a:latin typeface="Calibri"/>
                <a:ea typeface="Calibri"/>
              </a:rPr>
              <a:t>Taxi driving is hard in all 7 dimensions!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decor-background 10"/>
          <p:cNvSpPr/>
          <p:nvPr/>
        </p:nvSpPr>
        <p:spPr>
          <a:xfrm>
            <a:off x="0" y="0"/>
            <a:ext cx="9142560" cy="514224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2" name="decor-section 10"/>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ea typeface="DejaVu Sans"/>
              </a:rPr>
              <a:t>COMP 469 · Chapters 1 &amp; 2 Expanded</a:t>
            </a:r>
            <a:endParaRPr lang="en-US" sz="750" b="0" u="none" strike="noStrike">
              <a:solidFill>
                <a:srgbClr val="000000"/>
              </a:solidFill>
              <a:effectLst/>
              <a:uFillTx/>
              <a:latin typeface="Arial"/>
            </a:endParaRPr>
          </a:p>
        </p:txBody>
      </p:sp>
      <p:sp>
        <p:nvSpPr>
          <p:cNvPr id="293" name="content-title 10"/>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PEAS example: Automated taxi</a:t>
            </a:r>
            <a:endParaRPr lang="en-US" sz="2400" b="0" u="none" strike="noStrike">
              <a:solidFill>
                <a:srgbClr val="000000"/>
              </a:solidFill>
              <a:effectLst/>
              <a:uFillTx/>
              <a:latin typeface="Arial"/>
            </a:endParaRPr>
          </a:p>
        </p:txBody>
      </p:sp>
      <p:sp>
        <p:nvSpPr>
          <p:cNvPr id="294" name="content-subtitle 10"/>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A realistic PEAS description is more complicated than the vacuum world.</a:t>
            </a:r>
            <a:endParaRPr lang="en-US" sz="1150" b="0" u="none" strike="noStrike">
              <a:solidFill>
                <a:srgbClr val="000000"/>
              </a:solidFill>
              <a:effectLst/>
              <a:uFillTx/>
              <a:latin typeface="Arial"/>
            </a:endParaRPr>
          </a:p>
        </p:txBody>
      </p:sp>
      <p:cxnSp>
        <p:nvCxnSpPr>
          <p:cNvPr id="295" name="decor-title-line 10"/>
          <p:cNvCxnSpPr/>
          <p:nvPr/>
        </p:nvCxnSpPr>
        <p:spPr>
          <a:xfrm>
            <a:off x="320040" y="932400"/>
            <a:ext cx="8505360" cy="1440"/>
          </a:xfrm>
          <a:prstGeom prst="straightConnector1">
            <a:avLst/>
          </a:prstGeom>
          <a:ln w="25560">
            <a:solidFill>
              <a:srgbClr val="F2A122"/>
            </a:solidFill>
            <a:round/>
          </a:ln>
        </p:spPr>
      </p:cxnSp>
      <p:sp>
        <p:nvSpPr>
          <p:cNvPr id="296" name="decor-footer 10"/>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pic>
        <p:nvPicPr>
          <p:cNvPr id="297" name="content-peas-taxi 2" descr="image3.png"/>
          <p:cNvPicPr/>
          <p:nvPr/>
        </p:nvPicPr>
        <p:blipFill>
          <a:blip r:embed="rId1"/>
          <a:stretch/>
        </p:blipFill>
        <p:spPr>
          <a:xfrm>
            <a:off x="594360" y="1520280"/>
            <a:ext cx="3930480" cy="1896120"/>
          </a:xfrm>
          <a:prstGeom prst="rect">
            <a:avLst/>
          </a:prstGeom>
          <a:noFill/>
          <a:ln w="0">
            <a:noFill/>
          </a:ln>
        </p:spPr>
      </p:pic>
      <p:sp>
        <p:nvSpPr>
          <p:cNvPr id="298" name="content-bullets 9"/>
          <p:cNvSpPr/>
          <p:nvPr/>
        </p:nvSpPr>
        <p:spPr>
          <a:xfrm>
            <a:off x="4800600" y="1143000"/>
            <a:ext cx="3701880" cy="233028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420" b="0" u="none" strike="noStrike">
                <a:solidFill>
                  <a:srgbClr val="1E1E1E"/>
                </a:solidFill>
                <a:effectLst/>
                <a:uFillTx/>
                <a:latin typeface="Aptos"/>
                <a:ea typeface="DejaVu Sans"/>
              </a:rPr>
              <a:t>• Performance includes safety, legality, comfort, time, and profit</a:t>
            </a:r>
            <a:endParaRPr lang="en-US" sz="1420" b="0" u="none" strike="noStrike">
              <a:solidFill>
                <a:srgbClr val="000000"/>
              </a:solidFill>
              <a:effectLst/>
              <a:uFillTx/>
              <a:latin typeface="Arial"/>
            </a:endParaRPr>
          </a:p>
          <a:p>
            <a:pPr>
              <a:lnSpc>
                <a:spcPct val="105000"/>
              </a:lnSpc>
              <a:spcAft>
                <a:spcPts val="601"/>
              </a:spcAft>
            </a:pPr>
            <a:r>
              <a:rPr lang="en-US" sz="1420" b="0" u="none" strike="noStrike">
                <a:solidFill>
                  <a:srgbClr val="1E1E1E"/>
                </a:solidFill>
                <a:effectLst/>
                <a:uFillTx/>
                <a:latin typeface="Aptos"/>
                <a:ea typeface="DejaVu Sans"/>
              </a:rPr>
              <a:t>• Environment includes roads, pedestrians, weather, maps, and traffic</a:t>
            </a:r>
            <a:endParaRPr lang="en-US" sz="1420" b="0" u="none" strike="noStrike">
              <a:solidFill>
                <a:srgbClr val="000000"/>
              </a:solidFill>
              <a:effectLst/>
              <a:uFillTx/>
              <a:latin typeface="Arial"/>
            </a:endParaRPr>
          </a:p>
          <a:p>
            <a:pPr>
              <a:lnSpc>
                <a:spcPct val="105000"/>
              </a:lnSpc>
              <a:spcAft>
                <a:spcPts val="601"/>
              </a:spcAft>
            </a:pPr>
            <a:r>
              <a:rPr lang="en-US" sz="1420" b="0" u="none" strike="noStrike">
                <a:solidFill>
                  <a:srgbClr val="1E1E1E"/>
                </a:solidFill>
                <a:effectLst/>
                <a:uFillTx/>
                <a:latin typeface="Aptos"/>
                <a:ea typeface="DejaVu Sans"/>
              </a:rPr>
              <a:t>• Actuators include steering, braking, acceleration, signals, horn</a:t>
            </a:r>
            <a:endParaRPr lang="en-US" sz="1420" b="0" u="none" strike="noStrike">
              <a:solidFill>
                <a:srgbClr val="000000"/>
              </a:solidFill>
              <a:effectLst/>
              <a:uFillTx/>
              <a:latin typeface="Arial"/>
            </a:endParaRPr>
          </a:p>
          <a:p>
            <a:pPr>
              <a:lnSpc>
                <a:spcPct val="105000"/>
              </a:lnSpc>
              <a:spcAft>
                <a:spcPts val="601"/>
              </a:spcAft>
            </a:pPr>
            <a:r>
              <a:rPr lang="en-US" sz="1420" b="0" u="none" strike="noStrike">
                <a:solidFill>
                  <a:srgbClr val="1E1E1E"/>
                </a:solidFill>
                <a:effectLst/>
                <a:uFillTx/>
                <a:latin typeface="Aptos"/>
                <a:ea typeface="DejaVu Sans"/>
              </a:rPr>
              <a:t>• Sensors include cameras, lidar/radar, GPS, speedometer, engine sensors</a:t>
            </a:r>
            <a:endParaRPr lang="en-US" sz="142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99"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0"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301"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2.4 Agent Type 1</a:t>
            </a:r>
            <a:endParaRPr lang="en-US" sz="2200" b="0" u="none" strike="noStrike">
              <a:solidFill>
                <a:srgbClr val="000000"/>
              </a:solidFill>
              <a:effectLst/>
              <a:uFillTx/>
              <a:latin typeface="Arial"/>
            </a:endParaRPr>
          </a:p>
        </p:txBody>
      </p:sp>
      <p:sp>
        <p:nvSpPr>
          <p:cNvPr id="302" name="Shape 3"/>
          <p:cNvSpPr/>
          <p:nvPr/>
        </p:nvSpPr>
        <p:spPr>
          <a:xfrm>
            <a:off x="320040" y="960120"/>
            <a:ext cx="8501400" cy="546120"/>
          </a:xfrm>
          <a:prstGeom prst="rect">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3" name="Text 4"/>
          <p:cNvSpPr/>
          <p:nvPr/>
        </p:nvSpPr>
        <p:spPr>
          <a:xfrm>
            <a:off x="320040" y="960120"/>
            <a:ext cx="8501400" cy="546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FFFFFF"/>
                </a:solidFill>
                <a:effectLst/>
                <a:uFillTx/>
                <a:latin typeface="Calibri"/>
                <a:ea typeface="Calibri"/>
              </a:rPr>
              <a:t>Simple Reflex Agent</a:t>
            </a:r>
            <a:endParaRPr lang="en-US" sz="2000" b="0" u="none" strike="noStrike">
              <a:solidFill>
                <a:srgbClr val="000000"/>
              </a:solidFill>
              <a:effectLst/>
              <a:uFillTx/>
              <a:latin typeface="Arial"/>
            </a:endParaRPr>
          </a:p>
        </p:txBody>
      </p:sp>
      <p:sp>
        <p:nvSpPr>
          <p:cNvPr id="304" name="Shape 5"/>
          <p:cNvSpPr/>
          <p:nvPr/>
        </p:nvSpPr>
        <p:spPr>
          <a:xfrm>
            <a:off x="320040" y="1645920"/>
            <a:ext cx="8501400" cy="957600"/>
          </a:xfrm>
          <a:prstGeom prst="rect">
            <a:avLst/>
          </a:prstGeom>
          <a:solidFill>
            <a:srgbClr val="FFFFFF"/>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5" name="Text 6"/>
          <p:cNvSpPr/>
          <p:nvPr/>
        </p:nvSpPr>
        <p:spPr>
          <a:xfrm>
            <a:off x="502920" y="1691640"/>
            <a:ext cx="8227080" cy="866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0" u="none" strike="noStrike">
                <a:solidFill>
                  <a:srgbClr val="0F2B5B"/>
                </a:solidFill>
                <a:effectLst/>
                <a:uFillTx/>
                <a:latin typeface="Calibri"/>
                <a:ea typeface="Calibri"/>
              </a:rPr>
              <a:t>Selects actions based solely on the current percept; ignores percept history entirely. Uses condition-action rules: if car-in-front-is-braking → initiate-braking.</a:t>
            </a:r>
            <a:endParaRPr lang="en-US" sz="1400" b="0" u="none" strike="noStrike">
              <a:solidFill>
                <a:srgbClr val="000000"/>
              </a:solidFill>
              <a:effectLst/>
              <a:uFillTx/>
              <a:latin typeface="Arial"/>
            </a:endParaRPr>
          </a:p>
        </p:txBody>
      </p:sp>
      <p:sp>
        <p:nvSpPr>
          <p:cNvPr id="306" name="Text 7"/>
          <p:cNvSpPr/>
          <p:nvPr/>
        </p:nvSpPr>
        <p:spPr>
          <a:xfrm>
            <a:off x="320040" y="2715840"/>
            <a:ext cx="4112280" cy="3175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A4FA0"/>
                </a:solidFill>
                <a:effectLst/>
                <a:uFillTx/>
                <a:latin typeface="Calibri"/>
                <a:ea typeface="Calibri"/>
              </a:rPr>
              <a:t>Key Characteristics:</a:t>
            </a:r>
            <a:endParaRPr lang="en-US" sz="1300" b="0" u="none" strike="noStrike">
              <a:solidFill>
                <a:srgbClr val="000000"/>
              </a:solidFill>
              <a:effectLst/>
              <a:uFillTx/>
              <a:latin typeface="Arial"/>
            </a:endParaRPr>
          </a:p>
        </p:txBody>
      </p:sp>
      <p:sp>
        <p:nvSpPr>
          <p:cNvPr id="307" name="Text 8"/>
          <p:cNvSpPr/>
          <p:nvPr/>
        </p:nvSpPr>
        <p:spPr>
          <a:xfrm>
            <a:off x="320040" y="3017520"/>
            <a:ext cx="4386600" cy="173484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No internal state — stateless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Only works in fully observable environments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Prone to infinite loops when partially observable</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Randomization can sometimes help escape loops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Example: basic vacuum agent (Dirty→Suck, else move)</a:t>
            </a:r>
            <a:endParaRPr lang="en-US" sz="1300" b="0" u="none" strike="noStrike">
              <a:solidFill>
                <a:srgbClr val="000000"/>
              </a:solidFill>
              <a:effectLst/>
              <a:uFillTx/>
              <a:latin typeface="Arial"/>
            </a:endParaRPr>
          </a:p>
        </p:txBody>
      </p:sp>
      <p:sp>
        <p:nvSpPr>
          <p:cNvPr id="308" name="Shape 9"/>
          <p:cNvSpPr/>
          <p:nvPr/>
        </p:nvSpPr>
        <p:spPr>
          <a:xfrm>
            <a:off x="4892040" y="2715840"/>
            <a:ext cx="3929400" cy="210060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9" name="Shape 10"/>
          <p:cNvSpPr/>
          <p:nvPr/>
        </p:nvSpPr>
        <p:spPr>
          <a:xfrm>
            <a:off x="4892040" y="2715840"/>
            <a:ext cx="3929400" cy="34488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0" name="Text 11"/>
          <p:cNvSpPr/>
          <p:nvPr/>
        </p:nvSpPr>
        <p:spPr>
          <a:xfrm>
            <a:off x="4892040" y="2715840"/>
            <a:ext cx="3929400" cy="344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2B5B"/>
                </a:solidFill>
                <a:effectLst/>
                <a:uFillTx/>
                <a:latin typeface="Calibri"/>
                <a:ea typeface="Calibri"/>
              </a:rPr>
              <a:t> Key Idea</a:t>
            </a:r>
            <a:endParaRPr lang="en-US" sz="1200" b="0" u="none" strike="noStrike">
              <a:solidFill>
                <a:srgbClr val="000000"/>
              </a:solidFill>
              <a:effectLst/>
              <a:uFillTx/>
              <a:latin typeface="Arial"/>
            </a:endParaRPr>
          </a:p>
        </p:txBody>
      </p:sp>
      <p:sp>
        <p:nvSpPr>
          <p:cNvPr id="311" name="Text 12"/>
          <p:cNvSpPr/>
          <p:nvPr/>
        </p:nvSpPr>
        <p:spPr>
          <a:xfrm>
            <a:off x="4983480" y="3127320"/>
            <a:ext cx="3746520" cy="15976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00" b="0" u="none" strike="noStrike">
                <a:solidFill>
                  <a:srgbClr val="FFFFFF"/>
                </a:solidFill>
                <a:effectLst/>
                <a:uFillTx/>
                <a:latin typeface="Calibri"/>
                <a:ea typeface="Calibri"/>
              </a:rPr>
              <a:t>Simple and fast, but fragile. Fails whenever the current percept alone is not enough to determine the correct action.</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decor-background 1"/>
          <p:cNvSpPr/>
          <p:nvPr/>
        </p:nvSpPr>
        <p:spPr>
          <a:xfrm>
            <a:off x="0" y="0"/>
            <a:ext cx="9142560" cy="514224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3" name="decor-section 2"/>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ea typeface="DejaVu Sans"/>
              </a:rPr>
              <a:t>COMP 469 · Chapters 1 &amp; 2 Expanded</a:t>
            </a:r>
            <a:endParaRPr lang="en-US" sz="750" b="0" u="none" strike="noStrike">
              <a:solidFill>
                <a:srgbClr val="000000"/>
              </a:solidFill>
              <a:effectLst/>
              <a:uFillTx/>
              <a:latin typeface="Arial"/>
            </a:endParaRPr>
          </a:p>
        </p:txBody>
      </p:sp>
      <p:sp>
        <p:nvSpPr>
          <p:cNvPr id="314" name="content-title 2"/>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Agent type 1: Simple reflex</a:t>
            </a:r>
            <a:endParaRPr lang="en-US" sz="2400" b="0" u="none" strike="noStrike">
              <a:solidFill>
                <a:srgbClr val="000000"/>
              </a:solidFill>
              <a:effectLst/>
              <a:uFillTx/>
              <a:latin typeface="Arial"/>
            </a:endParaRPr>
          </a:p>
        </p:txBody>
      </p:sp>
      <p:sp>
        <p:nvSpPr>
          <p:cNvPr id="315" name="content-subtitle 2"/>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Fast rule-based behavior, but no memory.</a:t>
            </a:r>
            <a:endParaRPr lang="en-US" sz="1150" b="0" u="none" strike="noStrike">
              <a:solidFill>
                <a:srgbClr val="000000"/>
              </a:solidFill>
              <a:effectLst/>
              <a:uFillTx/>
              <a:latin typeface="Arial"/>
            </a:endParaRPr>
          </a:p>
        </p:txBody>
      </p:sp>
      <p:cxnSp>
        <p:nvCxnSpPr>
          <p:cNvPr id="316" name="decor-title-line 2"/>
          <p:cNvCxnSpPr/>
          <p:nvPr/>
        </p:nvCxnSpPr>
        <p:spPr>
          <a:xfrm>
            <a:off x="320040" y="932400"/>
            <a:ext cx="8505360" cy="1440"/>
          </a:xfrm>
          <a:prstGeom prst="straightConnector1">
            <a:avLst/>
          </a:prstGeom>
          <a:ln w="25560">
            <a:solidFill>
              <a:srgbClr val="F2A122"/>
            </a:solidFill>
            <a:miter/>
          </a:ln>
        </p:spPr>
      </p:cxnSp>
      <p:sp>
        <p:nvSpPr>
          <p:cNvPr id="317" name="decor-footer 2"/>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pic>
        <p:nvPicPr>
          <p:cNvPr id="318" name="content-simple-reflex-diagram 2" descr="image8.png"/>
          <p:cNvPicPr/>
          <p:nvPr/>
        </p:nvPicPr>
        <p:blipFill>
          <a:blip r:embed="rId1"/>
          <a:stretch/>
        </p:blipFill>
        <p:spPr>
          <a:xfrm>
            <a:off x="792720" y="1051560"/>
            <a:ext cx="3076920" cy="2421720"/>
          </a:xfrm>
          <a:prstGeom prst="rect">
            <a:avLst/>
          </a:prstGeom>
          <a:noFill/>
          <a:ln w="0">
            <a:noFill/>
          </a:ln>
        </p:spPr>
      </p:pic>
      <p:sp>
        <p:nvSpPr>
          <p:cNvPr id="319" name="content-bullets 2"/>
          <p:cNvSpPr/>
          <p:nvPr/>
        </p:nvSpPr>
        <p:spPr>
          <a:xfrm>
            <a:off x="4343400" y="1143000"/>
            <a:ext cx="3976200" cy="1598760"/>
          </a:xfrm>
          <a:prstGeom prst="rect">
            <a:avLst/>
          </a:prstGeom>
          <a:noFill/>
          <a:ln w="0">
            <a:noFill/>
          </a:ln>
        </p:spPr>
        <p:style>
          <a:lnRef idx="0"/>
          <a:fillRef idx="0"/>
          <a:effectRef idx="0"/>
          <a:fontRef idx="minor"/>
        </p:style>
        <p:txBody>
          <a:bodyPr lIns="90000" tIns="18360" rIns="45720" bIns="18360" anchor="t">
            <a:normAutofit lnSpcReduction="9999"/>
          </a:bodyPr>
          <a:p>
            <a:pPr>
              <a:lnSpc>
                <a:spcPct val="105000"/>
              </a:lnSpc>
              <a:spcAft>
                <a:spcPts val="601"/>
              </a:spcAft>
            </a:pPr>
            <a:r>
              <a:rPr lang="en-US" sz="1500" b="0" u="none" strike="noStrike">
                <a:solidFill>
                  <a:srgbClr val="1E1E1E"/>
                </a:solidFill>
                <a:effectLst/>
                <a:uFillTx/>
                <a:latin typeface="Aptos"/>
                <a:ea typeface="DejaVu Sans"/>
              </a:rPr>
              <a:t>• Condition-action rules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Uses only current percept</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Works when current percept contains enough information</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Fails in partially observable or changing worlds</a:t>
            </a:r>
            <a:endParaRPr lang="en-US" sz="1500" b="0" u="none" strike="noStrike">
              <a:solidFill>
                <a:srgbClr val="000000"/>
              </a:solidFill>
              <a:effectLst/>
              <a:uFillTx/>
              <a:latin typeface="Arial"/>
            </a:endParaRPr>
          </a:p>
        </p:txBody>
      </p:sp>
      <p:sp>
        <p:nvSpPr>
          <p:cNvPr id="320" name="content-example 2"/>
          <p:cNvSpPr/>
          <p:nvPr/>
        </p:nvSpPr>
        <p:spPr>
          <a:xfrm>
            <a:off x="4343400" y="3246120"/>
            <a:ext cx="3884760" cy="410040"/>
          </a:xfrm>
          <a:prstGeom prst="rect">
            <a:avLst/>
          </a:prstGeom>
          <a:solidFill>
            <a:srgbClr val="E7F3FB"/>
          </a:solidFill>
          <a:ln w="0">
            <a:solidFill>
              <a:srgbClr val="DCE1E8"/>
            </a:solidFill>
          </a:ln>
        </p:spPr>
        <p:style>
          <a:lnRef idx="0"/>
          <a:fillRef idx="0"/>
          <a:effectRef idx="0"/>
          <a:fontRef idx="minor"/>
        </p:style>
        <p:txBody>
          <a:bodyPr lIns="54720" tIns="54720" rIns="54720" bIns="54720" anchor="t">
            <a:normAutofit fontScale="77500" lnSpcReduction="19999"/>
          </a:bodyPr>
          <a:p>
            <a:pPr>
              <a:lnSpc>
                <a:spcPct val="100000"/>
              </a:lnSpc>
            </a:pPr>
            <a:r>
              <a:rPr lang="en-US" sz="1450" b="1" u="none" strike="noStrike">
                <a:solidFill>
                  <a:srgbClr val="091F3F"/>
                </a:solidFill>
                <a:effectLst/>
                <a:uFillTx/>
                <a:latin typeface="Aptos"/>
                <a:ea typeface="DejaVu Sans"/>
              </a:rPr>
              <a:t>Thermostat rule: IF temperature &lt; target THEN heat ON.</a:t>
            </a:r>
            <a:endParaRPr lang="en-US" sz="14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321"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2"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323"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2.4 Agent Type 2</a:t>
            </a:r>
            <a:endParaRPr lang="en-US" sz="2200" b="0" u="none" strike="noStrike">
              <a:solidFill>
                <a:srgbClr val="000000"/>
              </a:solidFill>
              <a:effectLst/>
              <a:uFillTx/>
              <a:latin typeface="Arial"/>
            </a:endParaRPr>
          </a:p>
        </p:txBody>
      </p:sp>
      <p:sp>
        <p:nvSpPr>
          <p:cNvPr id="324" name="Shape 3"/>
          <p:cNvSpPr/>
          <p:nvPr/>
        </p:nvSpPr>
        <p:spPr>
          <a:xfrm>
            <a:off x="320040" y="960120"/>
            <a:ext cx="8501400" cy="546120"/>
          </a:xfrm>
          <a:prstGeom prst="rect">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5" name="Text 4"/>
          <p:cNvSpPr/>
          <p:nvPr/>
        </p:nvSpPr>
        <p:spPr>
          <a:xfrm>
            <a:off x="320040" y="960120"/>
            <a:ext cx="8501400" cy="546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FFFFFF"/>
                </a:solidFill>
                <a:effectLst/>
                <a:uFillTx/>
                <a:latin typeface="Calibri"/>
                <a:ea typeface="Calibri"/>
              </a:rPr>
              <a:t>Model-Based Reflex Agent</a:t>
            </a:r>
            <a:endParaRPr lang="en-US" sz="2000" b="0" u="none" strike="noStrike">
              <a:solidFill>
                <a:srgbClr val="000000"/>
              </a:solidFill>
              <a:effectLst/>
              <a:uFillTx/>
              <a:latin typeface="Arial"/>
            </a:endParaRPr>
          </a:p>
        </p:txBody>
      </p:sp>
      <p:sp>
        <p:nvSpPr>
          <p:cNvPr id="326" name="Shape 5"/>
          <p:cNvSpPr/>
          <p:nvPr/>
        </p:nvSpPr>
        <p:spPr>
          <a:xfrm>
            <a:off x="320040" y="1645920"/>
            <a:ext cx="8501400" cy="957600"/>
          </a:xfrm>
          <a:prstGeom prst="rect">
            <a:avLst/>
          </a:prstGeom>
          <a:solidFill>
            <a:srgbClr val="FFFFFF"/>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7" name="Text 6"/>
          <p:cNvSpPr/>
          <p:nvPr/>
        </p:nvSpPr>
        <p:spPr>
          <a:xfrm>
            <a:off x="502920" y="1691640"/>
            <a:ext cx="8227080" cy="866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0" u="none" strike="noStrike">
                <a:solidFill>
                  <a:srgbClr val="0F2B5B"/>
                </a:solidFill>
                <a:effectLst/>
                <a:uFillTx/>
                <a:latin typeface="Calibri"/>
                <a:ea typeface="Calibri"/>
              </a:rPr>
              <a:t>Maintains an internal state to track parts of the world it cannot currently observe. Uses a transition model (how the world changes) and a sensor model (how state is reflected in percepts).</a:t>
            </a:r>
            <a:endParaRPr lang="en-US" sz="1400" b="0" u="none" strike="noStrike">
              <a:solidFill>
                <a:srgbClr val="000000"/>
              </a:solidFill>
              <a:effectLst/>
              <a:uFillTx/>
              <a:latin typeface="Arial"/>
            </a:endParaRPr>
          </a:p>
        </p:txBody>
      </p:sp>
      <p:sp>
        <p:nvSpPr>
          <p:cNvPr id="328" name="Text 7"/>
          <p:cNvSpPr/>
          <p:nvPr/>
        </p:nvSpPr>
        <p:spPr>
          <a:xfrm>
            <a:off x="320040" y="2715840"/>
            <a:ext cx="4112280" cy="3175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A4FA0"/>
                </a:solidFill>
                <a:effectLst/>
                <a:uFillTx/>
                <a:latin typeface="Calibri"/>
                <a:ea typeface="Calibri"/>
              </a:rPr>
              <a:t>Key Characteristics:</a:t>
            </a:r>
            <a:endParaRPr lang="en-US" sz="1300" b="0" u="none" strike="noStrike">
              <a:solidFill>
                <a:srgbClr val="000000"/>
              </a:solidFill>
              <a:effectLst/>
              <a:uFillTx/>
              <a:latin typeface="Arial"/>
            </a:endParaRPr>
          </a:p>
        </p:txBody>
      </p:sp>
      <p:sp>
        <p:nvSpPr>
          <p:cNvPr id="329" name="Text 8"/>
          <p:cNvSpPr/>
          <p:nvPr/>
        </p:nvSpPr>
        <p:spPr>
          <a:xfrm>
            <a:off x="320040" y="3017520"/>
            <a:ext cx="4386600" cy="173484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Maintains internal state — handles partial observability</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Transition model: effects of actions + world evolution</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Sensor model: maps world state to percepts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Updates internal state with each new percept</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Example: taxi tracking positions of occluded vehicles</a:t>
            </a:r>
            <a:endParaRPr lang="en-US" sz="1300" b="0" u="none" strike="noStrike">
              <a:solidFill>
                <a:srgbClr val="000000"/>
              </a:solidFill>
              <a:effectLst/>
              <a:uFillTx/>
              <a:latin typeface="Arial"/>
            </a:endParaRPr>
          </a:p>
        </p:txBody>
      </p:sp>
      <p:sp>
        <p:nvSpPr>
          <p:cNvPr id="330" name="Shape 9"/>
          <p:cNvSpPr/>
          <p:nvPr/>
        </p:nvSpPr>
        <p:spPr>
          <a:xfrm>
            <a:off x="4892040" y="2715840"/>
            <a:ext cx="3929400" cy="210060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1" name="Shape 10"/>
          <p:cNvSpPr/>
          <p:nvPr/>
        </p:nvSpPr>
        <p:spPr>
          <a:xfrm>
            <a:off x="4892040" y="2715840"/>
            <a:ext cx="3929400" cy="34488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2" name="Text 11"/>
          <p:cNvSpPr/>
          <p:nvPr/>
        </p:nvSpPr>
        <p:spPr>
          <a:xfrm>
            <a:off x="4892040" y="2715840"/>
            <a:ext cx="3929400" cy="344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2B5B"/>
                </a:solidFill>
                <a:effectLst/>
                <a:uFillTx/>
                <a:latin typeface="Calibri"/>
                <a:ea typeface="Calibri"/>
              </a:rPr>
              <a:t> Key Idea</a:t>
            </a:r>
            <a:endParaRPr lang="en-US" sz="1200" b="0" u="none" strike="noStrike">
              <a:solidFill>
                <a:srgbClr val="000000"/>
              </a:solidFill>
              <a:effectLst/>
              <a:uFillTx/>
              <a:latin typeface="Arial"/>
            </a:endParaRPr>
          </a:p>
        </p:txBody>
      </p:sp>
      <p:sp>
        <p:nvSpPr>
          <p:cNvPr id="333" name="Text 12"/>
          <p:cNvSpPr/>
          <p:nvPr/>
        </p:nvSpPr>
        <p:spPr>
          <a:xfrm>
            <a:off x="4983480" y="3127320"/>
            <a:ext cx="3746520" cy="15976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00" b="0" u="none" strike="noStrike">
                <a:solidFill>
                  <a:srgbClr val="FFFFFF"/>
                </a:solidFill>
                <a:effectLst/>
                <a:uFillTx/>
                <a:latin typeface="Calibri"/>
                <a:ea typeface="Calibri"/>
              </a:rPr>
              <a:t>Keeps a 'best guess' of world state. Enables smarter behavior in partially observable environments where the current percept alone is insufficient.</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decor-background 2"/>
          <p:cNvSpPr/>
          <p:nvPr/>
        </p:nvSpPr>
        <p:spPr>
          <a:xfrm>
            <a:off x="0" y="0"/>
            <a:ext cx="9142560" cy="514224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5" name="decor-section 3"/>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ea typeface="DejaVu Sans"/>
              </a:rPr>
              <a:t>COMP 469 · Chapters 1 &amp; 2 Expanded</a:t>
            </a:r>
            <a:endParaRPr lang="en-US" sz="750" b="0" u="none" strike="noStrike">
              <a:solidFill>
                <a:srgbClr val="000000"/>
              </a:solidFill>
              <a:effectLst/>
              <a:uFillTx/>
              <a:latin typeface="Arial"/>
            </a:endParaRPr>
          </a:p>
        </p:txBody>
      </p:sp>
      <p:sp>
        <p:nvSpPr>
          <p:cNvPr id="336" name="content-title 3"/>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Agent type 2: Model-based reflex</a:t>
            </a:r>
            <a:endParaRPr lang="en-US" sz="2400" b="0" u="none" strike="noStrike">
              <a:solidFill>
                <a:srgbClr val="000000"/>
              </a:solidFill>
              <a:effectLst/>
              <a:uFillTx/>
              <a:latin typeface="Arial"/>
            </a:endParaRPr>
          </a:p>
        </p:txBody>
      </p:sp>
      <p:sp>
        <p:nvSpPr>
          <p:cNvPr id="337" name="content-subtitle 3"/>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Memory turns percepts into an internal state.</a:t>
            </a:r>
            <a:endParaRPr lang="en-US" sz="1150" b="0" u="none" strike="noStrike">
              <a:solidFill>
                <a:srgbClr val="000000"/>
              </a:solidFill>
              <a:effectLst/>
              <a:uFillTx/>
              <a:latin typeface="Arial"/>
            </a:endParaRPr>
          </a:p>
        </p:txBody>
      </p:sp>
      <p:cxnSp>
        <p:nvCxnSpPr>
          <p:cNvPr id="338" name="decor-title-line 3"/>
          <p:cNvCxnSpPr/>
          <p:nvPr/>
        </p:nvCxnSpPr>
        <p:spPr>
          <a:xfrm>
            <a:off x="320040" y="932400"/>
            <a:ext cx="8505360" cy="1440"/>
          </a:xfrm>
          <a:prstGeom prst="straightConnector1">
            <a:avLst/>
          </a:prstGeom>
          <a:ln w="25560">
            <a:solidFill>
              <a:srgbClr val="F2A122"/>
            </a:solidFill>
            <a:miter/>
          </a:ln>
        </p:spPr>
      </p:cxnSp>
      <p:sp>
        <p:nvSpPr>
          <p:cNvPr id="339" name="decor-footer 3"/>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pic>
        <p:nvPicPr>
          <p:cNvPr id="340" name="content-model-based-figure 2" descr="image10.png"/>
          <p:cNvPicPr/>
          <p:nvPr/>
        </p:nvPicPr>
        <p:blipFill>
          <a:blip r:embed="rId1"/>
          <a:stretch/>
        </p:blipFill>
        <p:spPr>
          <a:xfrm>
            <a:off x="1192680" y="1051560"/>
            <a:ext cx="2093760" cy="2833200"/>
          </a:xfrm>
          <a:prstGeom prst="rect">
            <a:avLst/>
          </a:prstGeom>
          <a:noFill/>
          <a:ln w="0">
            <a:noFill/>
          </a:ln>
        </p:spPr>
      </p:pic>
      <p:sp>
        <p:nvSpPr>
          <p:cNvPr id="341" name="content-bullets 3"/>
          <p:cNvSpPr/>
          <p:nvPr/>
        </p:nvSpPr>
        <p:spPr>
          <a:xfrm>
            <a:off x="4251960" y="1143000"/>
            <a:ext cx="4067640" cy="178164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500" b="0" u="none" strike="noStrike">
                <a:solidFill>
                  <a:srgbClr val="1E1E1E"/>
                </a:solidFill>
                <a:effectLst/>
                <a:uFillTx/>
                <a:latin typeface="Aptos"/>
                <a:ea typeface="DejaVu Sans"/>
              </a:rPr>
              <a:t>• Maintains internal state</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Uses a model of how the world changes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Uses a model of how actions affect the world</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Handles partial observability better than simple reflex</a:t>
            </a:r>
            <a:endParaRPr lang="en-US" sz="1500" b="0" u="none" strike="noStrike">
              <a:solidFill>
                <a:srgbClr val="000000"/>
              </a:solidFill>
              <a:effectLst/>
              <a:uFillTx/>
              <a:latin typeface="Arial"/>
            </a:endParaRPr>
          </a:p>
        </p:txBody>
      </p:sp>
      <p:sp>
        <p:nvSpPr>
          <p:cNvPr id="342" name="content-lab-link 2"/>
          <p:cNvSpPr/>
          <p:nvPr/>
        </p:nvSpPr>
        <p:spPr>
          <a:xfrm>
            <a:off x="4251960" y="3337560"/>
            <a:ext cx="3930480" cy="410040"/>
          </a:xfrm>
          <a:prstGeom prst="rect">
            <a:avLst/>
          </a:prstGeom>
          <a:solidFill>
            <a:srgbClr val="E7F3FB"/>
          </a:solidFill>
          <a:ln w="0">
            <a:solidFill>
              <a:srgbClr val="DCE1E8"/>
            </a:solidFill>
          </a:ln>
        </p:spPr>
        <p:style>
          <a:lnRef idx="0"/>
          <a:fillRef idx="0"/>
          <a:effectRef idx="0"/>
          <a:fontRef idx="minor"/>
        </p:style>
        <p:txBody>
          <a:bodyPr lIns="54720" tIns="54720" rIns="54720" bIns="54720" anchor="t">
            <a:normAutofit fontScale="77500" lnSpcReduction="19999"/>
          </a:bodyPr>
          <a:p>
            <a:pPr>
              <a:lnSpc>
                <a:spcPct val="100000"/>
              </a:lnSpc>
            </a:pPr>
            <a:r>
              <a:rPr lang="en-US" sz="1450" b="1" u="none" strike="noStrike">
                <a:solidFill>
                  <a:srgbClr val="091F3F"/>
                </a:solidFill>
                <a:effectLst/>
                <a:uFillTx/>
                <a:latin typeface="Aptos"/>
                <a:ea typeface="DejaVu Sans"/>
              </a:rPr>
              <a:t>Lab link: visited squares + known dirt status = internal model.</a:t>
            </a:r>
            <a:endParaRPr lang="en-US" sz="14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343"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4"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345"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2.4 Agent Type 3</a:t>
            </a:r>
            <a:endParaRPr lang="en-US" sz="2200" b="0" u="none" strike="noStrike">
              <a:solidFill>
                <a:srgbClr val="000000"/>
              </a:solidFill>
              <a:effectLst/>
              <a:uFillTx/>
              <a:latin typeface="Arial"/>
            </a:endParaRPr>
          </a:p>
        </p:txBody>
      </p:sp>
      <p:sp>
        <p:nvSpPr>
          <p:cNvPr id="346" name="Shape 3"/>
          <p:cNvSpPr/>
          <p:nvPr/>
        </p:nvSpPr>
        <p:spPr>
          <a:xfrm>
            <a:off x="320040" y="960120"/>
            <a:ext cx="8501400" cy="546120"/>
          </a:xfrm>
          <a:prstGeom prst="rect">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7" name="Text 4"/>
          <p:cNvSpPr/>
          <p:nvPr/>
        </p:nvSpPr>
        <p:spPr>
          <a:xfrm>
            <a:off x="320040" y="960120"/>
            <a:ext cx="8501400" cy="546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FFFFFF"/>
                </a:solidFill>
                <a:effectLst/>
                <a:uFillTx/>
                <a:latin typeface="Calibri"/>
                <a:ea typeface="Calibri"/>
              </a:rPr>
              <a:t>Goal-Based Agent</a:t>
            </a:r>
            <a:endParaRPr lang="en-US" sz="2000" b="0" u="none" strike="noStrike">
              <a:solidFill>
                <a:srgbClr val="000000"/>
              </a:solidFill>
              <a:effectLst/>
              <a:uFillTx/>
              <a:latin typeface="Arial"/>
            </a:endParaRPr>
          </a:p>
        </p:txBody>
      </p:sp>
      <p:sp>
        <p:nvSpPr>
          <p:cNvPr id="348" name="Shape 5"/>
          <p:cNvSpPr/>
          <p:nvPr/>
        </p:nvSpPr>
        <p:spPr>
          <a:xfrm>
            <a:off x="320040" y="1645920"/>
            <a:ext cx="8501400" cy="957600"/>
          </a:xfrm>
          <a:prstGeom prst="rect">
            <a:avLst/>
          </a:prstGeom>
          <a:solidFill>
            <a:srgbClr val="FFFFFF"/>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9" name="Text 6"/>
          <p:cNvSpPr/>
          <p:nvPr/>
        </p:nvSpPr>
        <p:spPr>
          <a:xfrm>
            <a:off x="502920" y="1691640"/>
            <a:ext cx="8227080" cy="866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0" u="none" strike="noStrike">
                <a:solidFill>
                  <a:srgbClr val="0F2B5B"/>
                </a:solidFill>
                <a:effectLst/>
                <a:uFillTx/>
                <a:latin typeface="Calibri"/>
                <a:ea typeface="Calibri"/>
              </a:rPr>
              <a:t>Combines a world model with explicit goal information describing desired situations. Uses search (Ch. 3–5) or planning (Ch. 11) to find action sequences that achieve the goal.</a:t>
            </a:r>
            <a:endParaRPr lang="en-US" sz="1400" b="0" u="none" strike="noStrike">
              <a:solidFill>
                <a:srgbClr val="000000"/>
              </a:solidFill>
              <a:effectLst/>
              <a:uFillTx/>
              <a:latin typeface="Arial"/>
            </a:endParaRPr>
          </a:p>
        </p:txBody>
      </p:sp>
      <p:sp>
        <p:nvSpPr>
          <p:cNvPr id="350" name="Text 7"/>
          <p:cNvSpPr/>
          <p:nvPr/>
        </p:nvSpPr>
        <p:spPr>
          <a:xfrm>
            <a:off x="320040" y="2715840"/>
            <a:ext cx="4112280" cy="3175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A4FA0"/>
                </a:solidFill>
                <a:effectLst/>
                <a:uFillTx/>
                <a:latin typeface="Calibri"/>
                <a:ea typeface="Calibri"/>
              </a:rPr>
              <a:t>Key Characteristics:</a:t>
            </a:r>
            <a:endParaRPr lang="en-US" sz="1300" b="0" u="none" strike="noStrike">
              <a:solidFill>
                <a:srgbClr val="000000"/>
              </a:solidFill>
              <a:effectLst/>
              <a:uFillTx/>
              <a:latin typeface="Arial"/>
            </a:endParaRPr>
          </a:p>
        </p:txBody>
      </p:sp>
      <p:sp>
        <p:nvSpPr>
          <p:cNvPr id="351" name="Text 8"/>
          <p:cNvSpPr/>
          <p:nvPr/>
        </p:nvSpPr>
        <p:spPr>
          <a:xfrm>
            <a:off x="320040" y="3017520"/>
            <a:ext cx="4386600" cy="173484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Explicit goal representation</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Considers future consequences of actions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Requires search or planning algorithms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More flexible: change the goal → behavior changes automatically</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Example: taxi navigating to a destination</a:t>
            </a:r>
            <a:endParaRPr lang="en-US" sz="1300" b="0" u="none" strike="noStrike">
              <a:solidFill>
                <a:srgbClr val="000000"/>
              </a:solidFill>
              <a:effectLst/>
              <a:uFillTx/>
              <a:latin typeface="Arial"/>
            </a:endParaRPr>
          </a:p>
        </p:txBody>
      </p:sp>
      <p:sp>
        <p:nvSpPr>
          <p:cNvPr id="352" name="Shape 9"/>
          <p:cNvSpPr/>
          <p:nvPr/>
        </p:nvSpPr>
        <p:spPr>
          <a:xfrm>
            <a:off x="4892040" y="2715840"/>
            <a:ext cx="3929400" cy="210060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3" name="Shape 10"/>
          <p:cNvSpPr/>
          <p:nvPr/>
        </p:nvSpPr>
        <p:spPr>
          <a:xfrm>
            <a:off x="4892040" y="2715840"/>
            <a:ext cx="3929400" cy="34488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4" name="Text 11"/>
          <p:cNvSpPr/>
          <p:nvPr/>
        </p:nvSpPr>
        <p:spPr>
          <a:xfrm>
            <a:off x="4892040" y="2715840"/>
            <a:ext cx="3929400" cy="344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2B5B"/>
                </a:solidFill>
                <a:effectLst/>
                <a:uFillTx/>
                <a:latin typeface="Calibri"/>
                <a:ea typeface="Calibri"/>
              </a:rPr>
              <a:t> Key Idea</a:t>
            </a:r>
            <a:endParaRPr lang="en-US" sz="1200" b="0" u="none" strike="noStrike">
              <a:solidFill>
                <a:srgbClr val="000000"/>
              </a:solidFill>
              <a:effectLst/>
              <a:uFillTx/>
              <a:latin typeface="Arial"/>
            </a:endParaRPr>
          </a:p>
        </p:txBody>
      </p:sp>
      <p:sp>
        <p:nvSpPr>
          <p:cNvPr id="355" name="Text 12"/>
          <p:cNvSpPr/>
          <p:nvPr/>
        </p:nvSpPr>
        <p:spPr>
          <a:xfrm>
            <a:off x="4983480" y="3127320"/>
            <a:ext cx="3746520" cy="15976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00" b="0" u="none" strike="noStrike">
                <a:solidFill>
                  <a:srgbClr val="FFFFFF"/>
                </a:solidFill>
                <a:effectLst/>
                <a:uFillTx/>
                <a:latin typeface="Calibri"/>
                <a:ea typeface="Calibri"/>
              </a:rPr>
              <a:t>Unlike reflex agents, goal-based agents ask: 'What will happen if I do X? Will that achieve my goal?' Knowledge is explicit and modifiable.</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decor-background 3"/>
          <p:cNvSpPr/>
          <p:nvPr/>
        </p:nvSpPr>
        <p:spPr>
          <a:xfrm>
            <a:off x="0" y="0"/>
            <a:ext cx="9142560" cy="514224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7" name="decor-section 4"/>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ea typeface="DejaVu Sans"/>
              </a:rPr>
              <a:t>COMP 469 · Chapters 1 &amp; 2 Expanded</a:t>
            </a:r>
            <a:endParaRPr lang="en-US" sz="750" b="0" u="none" strike="noStrike">
              <a:solidFill>
                <a:srgbClr val="000000"/>
              </a:solidFill>
              <a:effectLst/>
              <a:uFillTx/>
              <a:latin typeface="Arial"/>
            </a:endParaRPr>
          </a:p>
        </p:txBody>
      </p:sp>
      <p:sp>
        <p:nvSpPr>
          <p:cNvPr id="358" name="content-title 4"/>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Agent type 3: Goal-based</a:t>
            </a:r>
            <a:endParaRPr lang="en-US" sz="2400" b="0" u="none" strike="noStrike">
              <a:solidFill>
                <a:srgbClr val="000000"/>
              </a:solidFill>
              <a:effectLst/>
              <a:uFillTx/>
              <a:latin typeface="Arial"/>
            </a:endParaRPr>
          </a:p>
        </p:txBody>
      </p:sp>
      <p:sp>
        <p:nvSpPr>
          <p:cNvPr id="359" name="content-subtitle 4"/>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Goals let the agent compare future possibilities.</a:t>
            </a:r>
            <a:endParaRPr lang="en-US" sz="1150" b="0" u="none" strike="noStrike">
              <a:solidFill>
                <a:srgbClr val="000000"/>
              </a:solidFill>
              <a:effectLst/>
              <a:uFillTx/>
              <a:latin typeface="Arial"/>
            </a:endParaRPr>
          </a:p>
        </p:txBody>
      </p:sp>
      <p:cxnSp>
        <p:nvCxnSpPr>
          <p:cNvPr id="360" name="decor-title-line 4"/>
          <p:cNvCxnSpPr/>
          <p:nvPr/>
        </p:nvCxnSpPr>
        <p:spPr>
          <a:xfrm>
            <a:off x="320040" y="932400"/>
            <a:ext cx="8505360" cy="1440"/>
          </a:xfrm>
          <a:prstGeom prst="straightConnector1">
            <a:avLst/>
          </a:prstGeom>
          <a:ln w="25560">
            <a:solidFill>
              <a:srgbClr val="F2A122"/>
            </a:solidFill>
            <a:miter/>
          </a:ln>
        </p:spPr>
      </p:cxnSp>
      <p:sp>
        <p:nvSpPr>
          <p:cNvPr id="361" name="decor-footer 4"/>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pic>
        <p:nvPicPr>
          <p:cNvPr id="362" name="content-goal-figure 2" descr="image11.png"/>
          <p:cNvPicPr/>
          <p:nvPr/>
        </p:nvPicPr>
        <p:blipFill>
          <a:blip r:embed="rId1"/>
          <a:stretch/>
        </p:blipFill>
        <p:spPr>
          <a:xfrm>
            <a:off x="685800" y="1194840"/>
            <a:ext cx="3381840" cy="2592360"/>
          </a:xfrm>
          <a:prstGeom prst="rect">
            <a:avLst/>
          </a:prstGeom>
          <a:noFill/>
          <a:ln w="0">
            <a:noFill/>
          </a:ln>
        </p:spPr>
      </p:pic>
      <p:sp>
        <p:nvSpPr>
          <p:cNvPr id="363" name="content-bullets 4"/>
          <p:cNvSpPr/>
          <p:nvPr/>
        </p:nvSpPr>
        <p:spPr>
          <a:xfrm>
            <a:off x="4434840" y="1143000"/>
            <a:ext cx="3793320" cy="164448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500" b="0" u="none" strike="noStrike">
                <a:solidFill>
                  <a:srgbClr val="1E1E1E"/>
                </a:solidFill>
                <a:effectLst/>
                <a:uFillTx/>
                <a:latin typeface="Aptos"/>
                <a:ea typeface="DejaVu Sans"/>
              </a:rPr>
              <a:t>• Represents desired future states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Uses search or planning</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Can adapt when the goal changes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Less reactive, more flexible</a:t>
            </a:r>
            <a:endParaRPr lang="en-US" sz="1500" b="0" u="none" strike="noStrike">
              <a:solidFill>
                <a:srgbClr val="000000"/>
              </a:solidFill>
              <a:effectLst/>
              <a:uFillTx/>
              <a:latin typeface="Arial"/>
            </a:endParaRPr>
          </a:p>
        </p:txBody>
      </p:sp>
      <p:sp>
        <p:nvSpPr>
          <p:cNvPr id="364" name="content-lab-link 3"/>
          <p:cNvSpPr/>
          <p:nvPr/>
        </p:nvSpPr>
        <p:spPr>
          <a:xfrm>
            <a:off x="4434840" y="3246120"/>
            <a:ext cx="3793320" cy="410040"/>
          </a:xfrm>
          <a:prstGeom prst="rect">
            <a:avLst/>
          </a:prstGeom>
          <a:solidFill>
            <a:srgbClr val="E7F3FB"/>
          </a:solidFill>
          <a:ln w="0">
            <a:solidFill>
              <a:srgbClr val="DCE1E8"/>
            </a:solidFill>
          </a:ln>
        </p:spPr>
        <p:style>
          <a:lnRef idx="0"/>
          <a:fillRef idx="0"/>
          <a:effectRef idx="0"/>
          <a:fontRef idx="minor"/>
        </p:style>
        <p:txBody>
          <a:bodyPr lIns="54720" tIns="54720" rIns="54720" bIns="54720" anchor="t">
            <a:normAutofit fontScale="77500" lnSpcReduction="19999"/>
          </a:bodyPr>
          <a:p>
            <a:pPr>
              <a:lnSpc>
                <a:spcPct val="100000"/>
              </a:lnSpc>
            </a:pPr>
            <a:r>
              <a:rPr lang="en-US" sz="1500" b="1" u="none" strike="noStrike">
                <a:solidFill>
                  <a:srgbClr val="091F3F"/>
                </a:solidFill>
                <a:effectLst/>
                <a:uFillTx/>
                <a:latin typeface="Aptos"/>
                <a:ea typeface="DejaVu Sans"/>
              </a:rPr>
              <a:t>Lab link: find the nearest dirty square using BFS.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365"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6"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367"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2.4 Agent Type 4</a:t>
            </a:r>
            <a:endParaRPr lang="en-US" sz="2200" b="0" u="none" strike="noStrike">
              <a:solidFill>
                <a:srgbClr val="000000"/>
              </a:solidFill>
              <a:effectLst/>
              <a:uFillTx/>
              <a:latin typeface="Arial"/>
            </a:endParaRPr>
          </a:p>
        </p:txBody>
      </p:sp>
      <p:sp>
        <p:nvSpPr>
          <p:cNvPr id="368" name="Shape 3"/>
          <p:cNvSpPr/>
          <p:nvPr/>
        </p:nvSpPr>
        <p:spPr>
          <a:xfrm>
            <a:off x="320040" y="960120"/>
            <a:ext cx="8501400" cy="546120"/>
          </a:xfrm>
          <a:prstGeom prst="rect">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9" name="Text 4"/>
          <p:cNvSpPr/>
          <p:nvPr/>
        </p:nvSpPr>
        <p:spPr>
          <a:xfrm>
            <a:off x="320040" y="960120"/>
            <a:ext cx="8501400" cy="546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FFFFFF"/>
                </a:solidFill>
                <a:effectLst/>
                <a:uFillTx/>
                <a:latin typeface="Calibri"/>
                <a:ea typeface="Calibri"/>
              </a:rPr>
              <a:t>Utility-Based Agent</a:t>
            </a:r>
            <a:endParaRPr lang="en-US" sz="2000" b="0" u="none" strike="noStrike">
              <a:solidFill>
                <a:srgbClr val="000000"/>
              </a:solidFill>
              <a:effectLst/>
              <a:uFillTx/>
              <a:latin typeface="Arial"/>
            </a:endParaRPr>
          </a:p>
        </p:txBody>
      </p:sp>
      <p:sp>
        <p:nvSpPr>
          <p:cNvPr id="370" name="Shape 5"/>
          <p:cNvSpPr/>
          <p:nvPr/>
        </p:nvSpPr>
        <p:spPr>
          <a:xfrm>
            <a:off x="320040" y="1645920"/>
            <a:ext cx="8501400" cy="957600"/>
          </a:xfrm>
          <a:prstGeom prst="rect">
            <a:avLst/>
          </a:prstGeom>
          <a:solidFill>
            <a:srgbClr val="FFFFFF"/>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1" name="Text 6"/>
          <p:cNvSpPr/>
          <p:nvPr/>
        </p:nvSpPr>
        <p:spPr>
          <a:xfrm>
            <a:off x="502920" y="1691640"/>
            <a:ext cx="8227080" cy="866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0" u="none" strike="noStrike">
                <a:solidFill>
                  <a:srgbClr val="0F2B5B"/>
                </a:solidFill>
                <a:effectLst/>
                <a:uFillTx/>
                <a:latin typeface="Calibri"/>
                <a:ea typeface="Calibri"/>
              </a:rPr>
              <a:t>Uses a utility function to compare world states — going beyond binary goal/no-goal to a graded measure of desirability. Maximizes expected utility across uncertain outcomes.</a:t>
            </a:r>
            <a:endParaRPr lang="en-US" sz="1400" b="0" u="none" strike="noStrike">
              <a:solidFill>
                <a:srgbClr val="000000"/>
              </a:solidFill>
              <a:effectLst/>
              <a:uFillTx/>
              <a:latin typeface="Arial"/>
            </a:endParaRPr>
          </a:p>
        </p:txBody>
      </p:sp>
      <p:sp>
        <p:nvSpPr>
          <p:cNvPr id="372" name="Text 7"/>
          <p:cNvSpPr/>
          <p:nvPr/>
        </p:nvSpPr>
        <p:spPr>
          <a:xfrm>
            <a:off x="320040" y="2715840"/>
            <a:ext cx="4112280" cy="3175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A4FA0"/>
                </a:solidFill>
                <a:effectLst/>
                <a:uFillTx/>
                <a:latin typeface="Calibri"/>
                <a:ea typeface="Calibri"/>
              </a:rPr>
              <a:t>Key Characteristics:</a:t>
            </a:r>
            <a:endParaRPr lang="en-US" sz="1300" b="0" u="none" strike="noStrike">
              <a:solidFill>
                <a:srgbClr val="000000"/>
              </a:solidFill>
              <a:effectLst/>
              <a:uFillTx/>
              <a:latin typeface="Arial"/>
            </a:endParaRPr>
          </a:p>
        </p:txBody>
      </p:sp>
      <p:sp>
        <p:nvSpPr>
          <p:cNvPr id="373" name="Text 8"/>
          <p:cNvSpPr/>
          <p:nvPr/>
        </p:nvSpPr>
        <p:spPr>
          <a:xfrm>
            <a:off x="320040" y="3017520"/>
            <a:ext cx="4386600" cy="173484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Utility function = internalized performance measure</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Handles conflicting goals via principled tradeoffs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Handles uncertainty: weighs likelihood × importance of outcomes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Maximizes expected utility over probabilistic outcomes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Example: taxi balancing speed, safety, and passenger comfort</a:t>
            </a:r>
            <a:endParaRPr lang="en-US" sz="1300" b="0" u="none" strike="noStrike">
              <a:solidFill>
                <a:srgbClr val="000000"/>
              </a:solidFill>
              <a:effectLst/>
              <a:uFillTx/>
              <a:latin typeface="Arial"/>
            </a:endParaRPr>
          </a:p>
        </p:txBody>
      </p:sp>
      <p:sp>
        <p:nvSpPr>
          <p:cNvPr id="374" name="Shape 9"/>
          <p:cNvSpPr/>
          <p:nvPr/>
        </p:nvSpPr>
        <p:spPr>
          <a:xfrm>
            <a:off x="4892040" y="2715840"/>
            <a:ext cx="3929400" cy="210060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5" name="Shape 10"/>
          <p:cNvSpPr/>
          <p:nvPr/>
        </p:nvSpPr>
        <p:spPr>
          <a:xfrm>
            <a:off x="4892040" y="2715840"/>
            <a:ext cx="3929400" cy="34488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6" name="Text 11"/>
          <p:cNvSpPr/>
          <p:nvPr/>
        </p:nvSpPr>
        <p:spPr>
          <a:xfrm>
            <a:off x="4892040" y="2715840"/>
            <a:ext cx="3929400" cy="344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2B5B"/>
                </a:solidFill>
                <a:effectLst/>
                <a:uFillTx/>
                <a:latin typeface="Calibri"/>
                <a:ea typeface="Calibri"/>
              </a:rPr>
              <a:t> Key Idea</a:t>
            </a:r>
            <a:endParaRPr lang="en-US" sz="1200" b="0" u="none" strike="noStrike">
              <a:solidFill>
                <a:srgbClr val="000000"/>
              </a:solidFill>
              <a:effectLst/>
              <a:uFillTx/>
              <a:latin typeface="Arial"/>
            </a:endParaRPr>
          </a:p>
        </p:txBody>
      </p:sp>
      <p:sp>
        <p:nvSpPr>
          <p:cNvPr id="377" name="Text 12"/>
          <p:cNvSpPr/>
          <p:nvPr/>
        </p:nvSpPr>
        <p:spPr>
          <a:xfrm>
            <a:off x="4983480" y="3127320"/>
            <a:ext cx="3746520" cy="15976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00" b="0" u="none" strike="noStrike">
                <a:solidFill>
                  <a:srgbClr val="FFFFFF"/>
                </a:solidFill>
                <a:effectLst/>
                <a:uFillTx/>
                <a:latin typeface="Calibri"/>
                <a:ea typeface="Calibri"/>
              </a:rPr>
              <a:t>Goals give binary happy/unhappy; utility gives a continuous measure. Essential when goals conflict or outcomes are uncertain.</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decor-background 6"/>
          <p:cNvSpPr/>
          <p:nvPr/>
        </p:nvSpPr>
        <p:spPr>
          <a:xfrm>
            <a:off x="0" y="0"/>
            <a:ext cx="9142920" cy="514260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9" name="decor-section 7"/>
          <p:cNvSpPr/>
          <p:nvPr/>
        </p:nvSpPr>
        <p:spPr>
          <a:xfrm>
            <a:off x="320040" y="109800"/>
            <a:ext cx="4113720" cy="18180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ea typeface="DejaVu Sans"/>
              </a:rPr>
              <a:t>COMP 469 · Chapters 1 &amp; 2 Expanded</a:t>
            </a:r>
            <a:endParaRPr lang="en-US" sz="750" b="0" u="none" strike="noStrike">
              <a:solidFill>
                <a:srgbClr val="000000"/>
              </a:solidFill>
              <a:effectLst/>
              <a:uFillTx/>
              <a:latin typeface="Arial"/>
            </a:endParaRPr>
          </a:p>
        </p:txBody>
      </p:sp>
      <p:sp>
        <p:nvSpPr>
          <p:cNvPr id="380" name="content-title 7"/>
          <p:cNvSpPr/>
          <p:nvPr/>
        </p:nvSpPr>
        <p:spPr>
          <a:xfrm>
            <a:off x="320040" y="320040"/>
            <a:ext cx="8137080" cy="36468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Agent type 4: Utility-based</a:t>
            </a:r>
            <a:endParaRPr lang="en-US" sz="2400" b="0" u="none" strike="noStrike">
              <a:solidFill>
                <a:srgbClr val="000000"/>
              </a:solidFill>
              <a:effectLst/>
              <a:uFillTx/>
              <a:latin typeface="Arial"/>
            </a:endParaRPr>
          </a:p>
        </p:txBody>
      </p:sp>
      <p:sp>
        <p:nvSpPr>
          <p:cNvPr id="381" name="content-subtitle 7"/>
          <p:cNvSpPr/>
          <p:nvPr/>
        </p:nvSpPr>
        <p:spPr>
          <a:xfrm>
            <a:off x="347400" y="704160"/>
            <a:ext cx="7954200" cy="27324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Utilities compare tradeoffs when goals are not enough.</a:t>
            </a:r>
            <a:endParaRPr lang="en-US" sz="1150" b="0" u="none" strike="noStrike">
              <a:solidFill>
                <a:srgbClr val="000000"/>
              </a:solidFill>
              <a:effectLst/>
              <a:uFillTx/>
              <a:latin typeface="Arial"/>
            </a:endParaRPr>
          </a:p>
        </p:txBody>
      </p:sp>
      <p:cxnSp>
        <p:nvCxnSpPr>
          <p:cNvPr id="382" name="decor-title-line 7"/>
          <p:cNvCxnSpPr/>
          <p:nvPr/>
        </p:nvCxnSpPr>
        <p:spPr>
          <a:xfrm>
            <a:off x="320040" y="932400"/>
            <a:ext cx="8505000" cy="1080"/>
          </a:xfrm>
          <a:prstGeom prst="straightConnector1">
            <a:avLst/>
          </a:prstGeom>
          <a:ln w="25560">
            <a:solidFill>
              <a:srgbClr val="F2A122"/>
            </a:solidFill>
            <a:miter/>
          </a:ln>
        </p:spPr>
      </p:cxnSp>
      <p:sp>
        <p:nvSpPr>
          <p:cNvPr id="383" name="decor-footer 7"/>
          <p:cNvSpPr/>
          <p:nvPr/>
        </p:nvSpPr>
        <p:spPr>
          <a:xfrm>
            <a:off x="320040" y="4873680"/>
            <a:ext cx="6399720" cy="14508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pic>
        <p:nvPicPr>
          <p:cNvPr id="384" name="content-utility-figure 2" descr="image12.png"/>
          <p:cNvPicPr/>
          <p:nvPr/>
        </p:nvPicPr>
        <p:blipFill>
          <a:blip r:embed="rId1"/>
          <a:stretch/>
        </p:blipFill>
        <p:spPr>
          <a:xfrm>
            <a:off x="685800" y="1074960"/>
            <a:ext cx="3382200" cy="2832480"/>
          </a:xfrm>
          <a:prstGeom prst="rect">
            <a:avLst/>
          </a:prstGeom>
          <a:noFill/>
          <a:ln w="0">
            <a:noFill/>
          </a:ln>
        </p:spPr>
      </p:pic>
      <p:sp>
        <p:nvSpPr>
          <p:cNvPr id="385" name="content-bullets 7"/>
          <p:cNvSpPr/>
          <p:nvPr/>
        </p:nvSpPr>
        <p:spPr>
          <a:xfrm>
            <a:off x="4434840" y="1143000"/>
            <a:ext cx="3793680" cy="178200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500" b="0" u="none" strike="noStrike">
                <a:solidFill>
                  <a:srgbClr val="1E1E1E"/>
                </a:solidFill>
                <a:effectLst/>
                <a:uFillTx/>
                <a:latin typeface="Aptos"/>
                <a:ea typeface="DejaVu Sans"/>
              </a:rPr>
              <a:t>• Ranks outcomes by desirability</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Handles conflicting goals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Handles uncertain outcomes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Chooses actions that maximize expected utility</a:t>
            </a:r>
            <a:endParaRPr lang="en-US" sz="1500" b="0" u="none" strike="noStrike">
              <a:solidFill>
                <a:srgbClr val="000000"/>
              </a:solidFill>
              <a:effectLst/>
              <a:uFillTx/>
              <a:latin typeface="Arial"/>
            </a:endParaRPr>
          </a:p>
        </p:txBody>
      </p:sp>
      <p:sp>
        <p:nvSpPr>
          <p:cNvPr id="386" name="content-example 3"/>
          <p:cNvSpPr/>
          <p:nvPr/>
        </p:nvSpPr>
        <p:spPr>
          <a:xfrm>
            <a:off x="4434840" y="3383280"/>
            <a:ext cx="3793680" cy="410400"/>
          </a:xfrm>
          <a:prstGeom prst="rect">
            <a:avLst/>
          </a:prstGeom>
          <a:solidFill>
            <a:srgbClr val="E7F3FB"/>
          </a:solidFill>
          <a:ln w="0">
            <a:solidFill>
              <a:srgbClr val="DCE1E8"/>
            </a:solidFill>
          </a:ln>
        </p:spPr>
        <p:style>
          <a:lnRef idx="0"/>
          <a:fillRef idx="0"/>
          <a:effectRef idx="0"/>
          <a:fontRef idx="minor"/>
        </p:style>
        <p:txBody>
          <a:bodyPr lIns="54720" tIns="54720" rIns="54720" bIns="54720" anchor="t">
            <a:normAutofit fontScale="85000" lnSpcReduction="19999"/>
          </a:bodyPr>
          <a:p>
            <a:pPr>
              <a:lnSpc>
                <a:spcPct val="100000"/>
              </a:lnSpc>
            </a:pPr>
            <a:r>
              <a:rPr lang="en-US" sz="1400" b="1" u="none" strike="noStrike">
                <a:solidFill>
                  <a:srgbClr val="091F3F"/>
                </a:solidFill>
                <a:effectLst/>
                <a:uFillTx/>
                <a:latin typeface="Aptos"/>
                <a:ea typeface="DejaVu Sans"/>
              </a:rPr>
              <a:t>Example: fastest route is not always best if risk, comfort, and legality matter.</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387"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8"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389"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2.4 Agent Type 5: Learning Agent</a:t>
            </a:r>
            <a:endParaRPr lang="en-US" sz="2200" b="0" u="none" strike="noStrike">
              <a:solidFill>
                <a:srgbClr val="000000"/>
              </a:solidFill>
              <a:effectLst/>
              <a:uFillTx/>
              <a:latin typeface="Arial"/>
            </a:endParaRPr>
          </a:p>
        </p:txBody>
      </p:sp>
      <p:sp>
        <p:nvSpPr>
          <p:cNvPr id="390" name="Text 3"/>
          <p:cNvSpPr/>
          <p:nvPr/>
        </p:nvSpPr>
        <p:spPr>
          <a:xfrm>
            <a:off x="365760" y="960120"/>
            <a:ext cx="8409960" cy="39751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Four Components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Performance Element — selects external actions (what we've described so far)</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Learning Element — improves performance using feedback from the critic</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Critic — evaluates performance against a fixed external standard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Problem Generator — suggests exploratory actions to discover new information</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Key advantages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Operates in initially unknown environments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Becomes more competent than initial knowledge alone allows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Can improve any component: reflex rules, world model, utility function</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Exploration vs. Exploitation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Problem generator: short-term suboptimal actions → long-term better policy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Analogous to Galileo's experiments — deliberate exploration to update beliefs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Taxi: unexpected braking on wet roads → updates deceleration model</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decor-background 5"/>
          <p:cNvSpPr/>
          <p:nvPr/>
        </p:nvSpPr>
        <p:spPr>
          <a:xfrm>
            <a:off x="0" y="0"/>
            <a:ext cx="9142560" cy="514224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2" name="decor-section 6"/>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ea typeface="DejaVu Sans"/>
              </a:rPr>
              <a:t>COMP 469 · Chapters 1 &amp; 2 Expanded</a:t>
            </a:r>
            <a:endParaRPr lang="en-US" sz="750" b="0" u="none" strike="noStrike">
              <a:solidFill>
                <a:srgbClr val="000000"/>
              </a:solidFill>
              <a:effectLst/>
              <a:uFillTx/>
              <a:latin typeface="Arial"/>
            </a:endParaRPr>
          </a:p>
        </p:txBody>
      </p:sp>
      <p:sp>
        <p:nvSpPr>
          <p:cNvPr id="393" name="content-title 6"/>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Agent type 5: Learning agent</a:t>
            </a:r>
            <a:endParaRPr lang="en-US" sz="2400" b="0" u="none" strike="noStrike">
              <a:solidFill>
                <a:srgbClr val="000000"/>
              </a:solidFill>
              <a:effectLst/>
              <a:uFillTx/>
              <a:latin typeface="Arial"/>
            </a:endParaRPr>
          </a:p>
        </p:txBody>
      </p:sp>
      <p:sp>
        <p:nvSpPr>
          <p:cNvPr id="394" name="content-subtitle 6"/>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Learning lets the agent improve from experience.</a:t>
            </a:r>
            <a:endParaRPr lang="en-US" sz="1150" b="0" u="none" strike="noStrike">
              <a:solidFill>
                <a:srgbClr val="000000"/>
              </a:solidFill>
              <a:effectLst/>
              <a:uFillTx/>
              <a:latin typeface="Arial"/>
            </a:endParaRPr>
          </a:p>
        </p:txBody>
      </p:sp>
      <p:cxnSp>
        <p:nvCxnSpPr>
          <p:cNvPr id="395" name="decor-title-line 6"/>
          <p:cNvCxnSpPr/>
          <p:nvPr/>
        </p:nvCxnSpPr>
        <p:spPr>
          <a:xfrm>
            <a:off x="320040" y="932400"/>
            <a:ext cx="8505360" cy="1440"/>
          </a:xfrm>
          <a:prstGeom prst="straightConnector1">
            <a:avLst/>
          </a:prstGeom>
          <a:ln w="25560">
            <a:solidFill>
              <a:srgbClr val="F2A122"/>
            </a:solidFill>
            <a:miter/>
          </a:ln>
        </p:spPr>
      </p:cxnSp>
      <p:sp>
        <p:nvSpPr>
          <p:cNvPr id="396" name="decor-footer 6"/>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pic>
        <p:nvPicPr>
          <p:cNvPr id="397" name="content-learning-figure 2" descr="image13.png"/>
          <p:cNvPicPr/>
          <p:nvPr/>
        </p:nvPicPr>
        <p:blipFill>
          <a:blip r:embed="rId1"/>
          <a:stretch/>
        </p:blipFill>
        <p:spPr>
          <a:xfrm>
            <a:off x="985320" y="1051560"/>
            <a:ext cx="3331800" cy="2878920"/>
          </a:xfrm>
          <a:prstGeom prst="rect">
            <a:avLst/>
          </a:prstGeom>
          <a:noFill/>
          <a:ln w="0">
            <a:noFill/>
          </a:ln>
        </p:spPr>
      </p:pic>
      <p:sp>
        <p:nvSpPr>
          <p:cNvPr id="398" name="content-bullets 6"/>
          <p:cNvSpPr/>
          <p:nvPr/>
        </p:nvSpPr>
        <p:spPr>
          <a:xfrm>
            <a:off x="4892040" y="1234440"/>
            <a:ext cx="3519000" cy="1690200"/>
          </a:xfrm>
          <a:prstGeom prst="rect">
            <a:avLst/>
          </a:prstGeom>
          <a:noFill/>
          <a:ln w="0">
            <a:noFill/>
          </a:ln>
        </p:spPr>
        <p:style>
          <a:lnRef idx="0"/>
          <a:fillRef idx="0"/>
          <a:effectRef idx="0"/>
          <a:fontRef idx="minor"/>
        </p:style>
        <p:txBody>
          <a:bodyPr lIns="90000" tIns="18360" rIns="45720" bIns="18360" anchor="t">
            <a:normAutofit fontScale="92500" lnSpcReduction="9999"/>
          </a:bodyPr>
          <a:p>
            <a:pPr>
              <a:lnSpc>
                <a:spcPct val="105000"/>
              </a:lnSpc>
              <a:spcAft>
                <a:spcPts val="601"/>
              </a:spcAft>
            </a:pPr>
            <a:r>
              <a:rPr lang="en-US" sz="1500" b="0" u="none" strike="noStrike">
                <a:solidFill>
                  <a:srgbClr val="1E1E1E"/>
                </a:solidFill>
                <a:effectLst/>
                <a:uFillTx/>
                <a:latin typeface="Aptos"/>
                <a:ea typeface="DejaVu Sans"/>
              </a:rPr>
              <a:t>• Performance element: chooses actions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Critic: evaluates performance</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Learning element: improves the agent</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Problem generator: encourages exploration</a:t>
            </a:r>
            <a:endParaRPr lang="en-US" sz="1500" b="0" u="none" strike="noStrike">
              <a:solidFill>
                <a:srgbClr val="000000"/>
              </a:solidFill>
              <a:effectLst/>
              <a:uFillTx/>
              <a:latin typeface="Arial"/>
            </a:endParaRPr>
          </a:p>
        </p:txBody>
      </p:sp>
      <p:sp>
        <p:nvSpPr>
          <p:cNvPr id="399" name="content-bottom 3"/>
          <p:cNvSpPr/>
          <p:nvPr/>
        </p:nvSpPr>
        <p:spPr>
          <a:xfrm>
            <a:off x="4892040" y="3429000"/>
            <a:ext cx="3427560" cy="382680"/>
          </a:xfrm>
          <a:prstGeom prst="rect">
            <a:avLst/>
          </a:prstGeom>
          <a:solidFill>
            <a:srgbClr val="E7F3FB"/>
          </a:solidFill>
          <a:ln w="0">
            <a:solidFill>
              <a:srgbClr val="DCE1E8"/>
            </a:solidFill>
          </a:ln>
        </p:spPr>
        <p:style>
          <a:lnRef idx="0"/>
          <a:fillRef idx="0"/>
          <a:effectRef idx="0"/>
          <a:fontRef idx="minor"/>
        </p:style>
        <p:txBody>
          <a:bodyPr lIns="54720" tIns="54720" rIns="54720" bIns="54720" anchor="t">
            <a:normAutofit fontScale="70000" lnSpcReduction="19999"/>
          </a:bodyPr>
          <a:p>
            <a:pPr>
              <a:lnSpc>
                <a:spcPct val="100000"/>
              </a:lnSpc>
            </a:pPr>
            <a:r>
              <a:rPr lang="en-US" sz="1450" b="1" u="none" strike="noStrike">
                <a:solidFill>
                  <a:srgbClr val="091F3F"/>
                </a:solidFill>
                <a:effectLst/>
                <a:uFillTx/>
                <a:latin typeface="Aptos"/>
                <a:ea typeface="DejaVu Sans"/>
              </a:rPr>
              <a:t>Learning is how agents become more autonomous over time.</a:t>
            </a:r>
            <a:endParaRPr lang="en-US" sz="14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400" name="Shape 0"/>
          <p:cNvSpPr/>
          <p:nvPr/>
        </p:nvSpPr>
        <p:spPr>
          <a:xfrm>
            <a:off x="0" y="0"/>
            <a:ext cx="9141480" cy="77472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01" name="Shape 1"/>
          <p:cNvSpPr/>
          <p:nvPr/>
        </p:nvSpPr>
        <p:spPr>
          <a:xfrm>
            <a:off x="0" y="777240"/>
            <a:ext cx="9141480" cy="6156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402" name="Text 2"/>
          <p:cNvSpPr/>
          <p:nvPr/>
        </p:nvSpPr>
        <p:spPr>
          <a:xfrm>
            <a:off x="320040" y="0"/>
            <a:ext cx="8501400" cy="77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2.4.7 Representation: Atomic → Factored → Structured</a:t>
            </a:r>
            <a:endParaRPr lang="en-US" sz="2200" b="0" u="none" strike="noStrike">
              <a:solidFill>
                <a:srgbClr val="000000"/>
              </a:solidFill>
              <a:effectLst/>
              <a:uFillTx/>
              <a:latin typeface="Arial"/>
            </a:endParaRPr>
          </a:p>
        </p:txBody>
      </p:sp>
      <p:sp>
        <p:nvSpPr>
          <p:cNvPr id="403" name="Text 3"/>
          <p:cNvSpPr/>
          <p:nvPr/>
        </p:nvSpPr>
        <p:spPr>
          <a:xfrm>
            <a:off x="365760" y="960120"/>
            <a:ext cx="8409960" cy="39751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Atomic Representation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World state = single indivisible 'black box'</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Used in: search algorithms (Ch. 3–5), HMMs (Ch. 14), MDPs (Ch. 17)</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Example: city name in a route-planning problem</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Factored Representation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State = fixed set of variables/attributes with values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States can share attribute values → easier to reason about differences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Used in: CSPs, propositional logic, Bayesian networks, planning, most ML</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Example: GPS location, fuel level, oil warning light, toll money</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Structured Representation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Objects and their explicit relationships described formally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Used in: relational databases, first-order logic, NLP</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Far more expressive but harder to reason with</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Example: 'loose cow blocking truck reversing into dairy farm driveway'</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decor-background 4"/>
          <p:cNvSpPr/>
          <p:nvPr/>
        </p:nvSpPr>
        <p:spPr>
          <a:xfrm>
            <a:off x="0" y="0"/>
            <a:ext cx="9142560" cy="514224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5" name="decor-section 5"/>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ea typeface="DejaVu Sans"/>
              </a:rPr>
              <a:t>COMP 469 · Chapters 1 &amp; 2 Expanded</a:t>
            </a:r>
            <a:endParaRPr lang="en-US" sz="750" b="0" u="none" strike="noStrike">
              <a:solidFill>
                <a:srgbClr val="000000"/>
              </a:solidFill>
              <a:effectLst/>
              <a:uFillTx/>
              <a:latin typeface="Arial"/>
            </a:endParaRPr>
          </a:p>
        </p:txBody>
      </p:sp>
      <p:sp>
        <p:nvSpPr>
          <p:cNvPr id="406" name="content-title 5"/>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Representations: atomic → factored → structured</a:t>
            </a:r>
            <a:endParaRPr lang="en-US" sz="2400" b="0" u="none" strike="noStrike">
              <a:solidFill>
                <a:srgbClr val="000000"/>
              </a:solidFill>
              <a:effectLst/>
              <a:uFillTx/>
              <a:latin typeface="Arial"/>
            </a:endParaRPr>
          </a:p>
        </p:txBody>
      </p:sp>
      <p:sp>
        <p:nvSpPr>
          <p:cNvPr id="407" name="content-subtitle 5"/>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More expressiveness usually means harder reasoning.</a:t>
            </a:r>
            <a:endParaRPr lang="en-US" sz="1150" b="0" u="none" strike="noStrike">
              <a:solidFill>
                <a:srgbClr val="000000"/>
              </a:solidFill>
              <a:effectLst/>
              <a:uFillTx/>
              <a:latin typeface="Arial"/>
            </a:endParaRPr>
          </a:p>
        </p:txBody>
      </p:sp>
      <p:cxnSp>
        <p:nvCxnSpPr>
          <p:cNvPr id="408" name="decor-title-line 5"/>
          <p:cNvCxnSpPr/>
          <p:nvPr/>
        </p:nvCxnSpPr>
        <p:spPr>
          <a:xfrm>
            <a:off x="320040" y="932400"/>
            <a:ext cx="8505360" cy="1440"/>
          </a:xfrm>
          <a:prstGeom prst="straightConnector1">
            <a:avLst/>
          </a:prstGeom>
          <a:ln w="25560">
            <a:solidFill>
              <a:srgbClr val="F2A122"/>
            </a:solidFill>
            <a:miter/>
          </a:ln>
        </p:spPr>
      </p:cxnSp>
      <p:sp>
        <p:nvSpPr>
          <p:cNvPr id="409" name="decor-footer 5"/>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pic>
        <p:nvPicPr>
          <p:cNvPr id="410" name="content-representation-figure 2" descr="image14.png"/>
          <p:cNvPicPr/>
          <p:nvPr/>
        </p:nvPicPr>
        <p:blipFill>
          <a:blip r:embed="rId1"/>
          <a:stretch/>
        </p:blipFill>
        <p:spPr>
          <a:xfrm>
            <a:off x="685800" y="1094760"/>
            <a:ext cx="3930480" cy="2381040"/>
          </a:xfrm>
          <a:prstGeom prst="rect">
            <a:avLst/>
          </a:prstGeom>
          <a:noFill/>
          <a:ln w="0">
            <a:noFill/>
          </a:ln>
        </p:spPr>
      </p:pic>
      <p:sp>
        <p:nvSpPr>
          <p:cNvPr id="411" name="content-bullets 5"/>
          <p:cNvSpPr/>
          <p:nvPr/>
        </p:nvSpPr>
        <p:spPr>
          <a:xfrm>
            <a:off x="4892040" y="1143000"/>
            <a:ext cx="3610440" cy="178164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500" b="0" u="none" strike="noStrike">
                <a:solidFill>
                  <a:srgbClr val="1E1E1E"/>
                </a:solidFill>
                <a:effectLst/>
                <a:uFillTx/>
                <a:latin typeface="Aptos"/>
                <a:ea typeface="DejaVu Sans"/>
              </a:rPr>
              <a:t>• Atomic: each state is a black box</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Factored: states have variables and values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Structured: objects and relations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Choose the least expressive representation that solves the task</a:t>
            </a:r>
            <a:endParaRPr lang="en-US" sz="1500" b="0" u="none" strike="noStrike">
              <a:solidFill>
                <a:srgbClr val="000000"/>
              </a:solidFill>
              <a:effectLst/>
              <a:uFillTx/>
              <a:latin typeface="Arial"/>
            </a:endParaRPr>
          </a:p>
        </p:txBody>
      </p:sp>
      <p:sp>
        <p:nvSpPr>
          <p:cNvPr id="412" name="content-bottom 2"/>
          <p:cNvSpPr/>
          <p:nvPr/>
        </p:nvSpPr>
        <p:spPr>
          <a:xfrm>
            <a:off x="1005840" y="3886200"/>
            <a:ext cx="7130880" cy="291240"/>
          </a:xfrm>
          <a:prstGeom prst="rect">
            <a:avLst/>
          </a:prstGeom>
          <a:noFill/>
          <a:ln w="0">
            <a:noFill/>
          </a:ln>
        </p:spPr>
        <p:style>
          <a:lnRef idx="0"/>
          <a:fillRef idx="0"/>
          <a:effectRef idx="0"/>
          <a:fontRef idx="minor"/>
        </p:style>
        <p:txBody>
          <a:bodyPr lIns="45720" tIns="45000" rIns="45720" bIns="45000" anchor="t">
            <a:normAutofit fontScale="77500" lnSpcReduction="19999"/>
          </a:bodyPr>
          <a:p>
            <a:pPr algn="ctr">
              <a:lnSpc>
                <a:spcPct val="100000"/>
              </a:lnSpc>
            </a:pPr>
            <a:r>
              <a:rPr lang="en-US" sz="1500" b="1" u="none" strike="noStrike">
                <a:solidFill>
                  <a:srgbClr val="091F3F"/>
                </a:solidFill>
                <a:effectLst/>
                <a:uFillTx/>
                <a:latin typeface="Aptos"/>
                <a:ea typeface="DejaVu Sans"/>
              </a:rPr>
              <a:t>This ladder previews CSPs, logic, probabilistic models, planning, and machine learning.</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2B5B"/>
        </a:solidFill>
      </p:bgPr>
    </p:bg>
    <p:spTree>
      <p:nvGrpSpPr>
        <p:cNvPr id="1" name=""/>
        <p:cNvGrpSpPr/>
        <p:nvPr/>
      </p:nvGrpSpPr>
      <p:grpSpPr>
        <a:xfrm>
          <a:off x="0" y="0"/>
          <a:ext cx="0" cy="0"/>
          <a:chOff x="0" y="0"/>
          <a:chExt cx="0" cy="0"/>
        </a:xfrm>
      </p:grpSpPr>
      <p:sp>
        <p:nvSpPr>
          <p:cNvPr id="413" name="Shape 0"/>
          <p:cNvSpPr/>
          <p:nvPr/>
        </p:nvSpPr>
        <p:spPr>
          <a:xfrm>
            <a:off x="0" y="0"/>
            <a:ext cx="162000" cy="5141160"/>
          </a:xfrm>
          <a:prstGeom prst="rect">
            <a:avLst/>
          </a:prstGeom>
          <a:solidFill>
            <a:srgbClr val="F4A020"/>
          </a:solidFill>
          <a:ln w="12700">
            <a:solidFill>
              <a:srgbClr val="F4A020"/>
            </a:solidFill>
            <a:round/>
          </a:ln>
        </p:spPr>
        <p:style>
          <a:lnRef idx="0"/>
          <a:fillRef idx="0"/>
          <a:effectRef idx="0"/>
          <a:fontRef idx="minor"/>
        </p:style>
        <p:txBody>
          <a:bodyPr lIns="81000" tIns="45000" rIns="81000" bIns="45000" anchor="t">
            <a:noAutofit/>
          </a:bodyPr>
          <a:p>
            <a:endParaRPr lang="en-US" sz="1800" b="0" u="none" strike="noStrike">
              <a:solidFill>
                <a:srgbClr val="000000"/>
              </a:solidFill>
              <a:effectLst/>
              <a:uFillTx/>
              <a:latin typeface="Arial"/>
            </a:endParaRPr>
          </a:p>
        </p:txBody>
      </p:sp>
      <p:sp>
        <p:nvSpPr>
          <p:cNvPr id="414" name="Text 1"/>
          <p:cNvSpPr/>
          <p:nvPr/>
        </p:nvSpPr>
        <p:spPr>
          <a:xfrm>
            <a:off x="457200" y="228600"/>
            <a:ext cx="8227080" cy="683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trike="noStrike">
                <a:solidFill>
                  <a:srgbClr val="FFFFFF"/>
                </a:solidFill>
                <a:effectLst/>
                <a:uFillTx/>
                <a:latin typeface="Calibri"/>
                <a:ea typeface="Calibri"/>
              </a:rPr>
              <a:t>Full Lecture Summary — Chapters 1 &amp; 2</a:t>
            </a:r>
            <a:endParaRPr lang="en-US" sz="2600" b="0" u="none" strike="noStrike">
              <a:solidFill>
                <a:srgbClr val="FFFFFF"/>
              </a:solidFill>
              <a:effectLst/>
              <a:uFillTx/>
              <a:latin typeface="Arial"/>
            </a:endParaRPr>
          </a:p>
        </p:txBody>
      </p:sp>
      <p:sp>
        <p:nvSpPr>
          <p:cNvPr id="415" name="Text 2"/>
          <p:cNvSpPr/>
          <p:nvPr/>
        </p:nvSpPr>
        <p:spPr>
          <a:xfrm>
            <a:off x="457200" y="1005840"/>
            <a:ext cx="8318520" cy="392940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AI = building rational agents that maximize expected performance; the 'standard model' is shared with economics, control theory, and statistics.</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Four historical approaches: the rational agent view dominates because it is mathematically well-defined and general.</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Value alignment is AI's central unsolved problem: a fixed objective in a capable system can cause unintended harm.</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AI history cycles between enthusiasm and winters; deep learning is the current revolution; transformers, GPUs, big data.</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Today: AI meets or exceeds humans in perception, translation, game-playing, and specialized medical diagnosis.</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An agent's behavior = agent function (abstract) + agent program (concrete). Lookup tables are infeasible; compact programs are the goal.</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Task environments are characterized via PEAS and seven dimensions: observable, agents, determinism, episodic, static, discrete, known.</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Five agent types of increasing sophistication: Simple Reflex → Model-Based → Goal-Based → Utility-Based → Learning Agent.</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Representations scale in expressiveness: Atomic → Factored → Structured; more expressive = harder reasoning.</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36"/>
        </a:solidFill>
      </p:bgPr>
    </p:bg>
    <p:spTree>
      <p:nvGrpSpPr>
        <p:cNvPr id="1" name=""/>
        <p:cNvGrpSpPr/>
        <p:nvPr/>
      </p:nvGrpSpPr>
      <p:grpSpPr>
        <a:xfrm>
          <a:off x="0" y="0"/>
          <a:ext cx="0" cy="0"/>
          <a:chOff x="0" y="0"/>
          <a:chExt cx="0" cy="0"/>
        </a:xfrm>
      </p:grpSpPr>
      <p:sp>
        <p:nvSpPr>
          <p:cNvPr id="416" name="Shape 0"/>
          <p:cNvSpPr/>
          <p:nvPr/>
        </p:nvSpPr>
        <p:spPr>
          <a:xfrm>
            <a:off x="0" y="0"/>
            <a:ext cx="162000" cy="5141160"/>
          </a:xfrm>
          <a:prstGeom prst="rect">
            <a:avLst/>
          </a:prstGeom>
          <a:solidFill>
            <a:srgbClr val="F4A020"/>
          </a:solidFill>
          <a:ln w="12700">
            <a:solidFill>
              <a:srgbClr val="F4A020"/>
            </a:solidFill>
            <a:round/>
          </a:ln>
        </p:spPr>
        <p:style>
          <a:lnRef idx="0"/>
          <a:fillRef idx="0"/>
          <a:effectRef idx="0"/>
          <a:fontRef idx="minor"/>
        </p:style>
        <p:txBody>
          <a:bodyPr lIns="81000" tIns="45000" rIns="81000" bIns="45000" anchor="t">
            <a:noAutofit/>
          </a:bodyPr>
          <a:p>
            <a:endParaRPr lang="en-US" sz="1800" b="0" u="none" strike="noStrike">
              <a:solidFill>
                <a:srgbClr val="000000"/>
              </a:solidFill>
              <a:effectLst/>
              <a:uFillTx/>
              <a:latin typeface="Arial"/>
            </a:endParaRPr>
          </a:p>
        </p:txBody>
      </p:sp>
      <p:sp>
        <p:nvSpPr>
          <p:cNvPr id="417" name="Text 1"/>
          <p:cNvSpPr/>
          <p:nvPr/>
        </p:nvSpPr>
        <p:spPr>
          <a:xfrm>
            <a:off x="457200" y="1371600"/>
            <a:ext cx="8227080" cy="911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200" b="1" u="none" strike="noStrike">
                <a:solidFill>
                  <a:srgbClr val="FFFFFF"/>
                </a:solidFill>
                <a:effectLst/>
                <a:uFillTx/>
                <a:latin typeface="Calibri"/>
                <a:ea typeface="Calibri"/>
              </a:rPr>
              <a:t>Questions?</a:t>
            </a:r>
            <a:endParaRPr lang="en-US" sz="4200" b="0" u="none" strike="noStrike">
              <a:solidFill>
                <a:srgbClr val="FFFFFF"/>
              </a:solidFill>
              <a:effectLst/>
              <a:uFillTx/>
              <a:latin typeface="Arial"/>
            </a:endParaRPr>
          </a:p>
        </p:txBody>
      </p:sp>
      <p:sp>
        <p:nvSpPr>
          <p:cNvPr id="418" name="Text 2"/>
          <p:cNvSpPr/>
          <p:nvPr/>
        </p:nvSpPr>
        <p:spPr>
          <a:xfrm>
            <a:off x="457200" y="2468880"/>
            <a:ext cx="8227080" cy="546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0" u="none" strike="noStrike">
                <a:solidFill>
                  <a:srgbClr val="CBD5E1"/>
                </a:solidFill>
                <a:effectLst/>
                <a:uFillTx/>
                <a:latin typeface="Calibri"/>
                <a:ea typeface="Calibri"/>
              </a:rPr>
              <a:t>Next lecture: Chapter 3 — Solving Problems by Searching</a:t>
            </a:r>
            <a:endParaRPr lang="en-US" sz="2000" b="0" u="none" strike="noStrike">
              <a:solidFill>
                <a:srgbClr val="FFFFFF"/>
              </a:solidFill>
              <a:effectLst/>
              <a:uFillTx/>
              <a:latin typeface="Arial"/>
            </a:endParaRPr>
          </a:p>
        </p:txBody>
      </p:sp>
      <p:sp>
        <p:nvSpPr>
          <p:cNvPr id="419" name="Text 3"/>
          <p:cNvSpPr/>
          <p:nvPr/>
        </p:nvSpPr>
        <p:spPr>
          <a:xfrm>
            <a:off x="457200" y="3063240"/>
            <a:ext cx="8227080" cy="454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64748B"/>
                </a:solidFill>
                <a:effectLst/>
                <a:uFillTx/>
                <a:latin typeface="Calibri"/>
                <a:ea typeface="Calibri"/>
              </a:rPr>
              <a:t>BFS, DFS, UCS, A* heuristic search — the backbone of classical AI planning</a:t>
            </a:r>
            <a:endParaRPr lang="en-US" sz="1500" b="0" u="none" strike="noStrike">
              <a:solidFill>
                <a:srgbClr val="FFFFFF"/>
              </a:solidFill>
              <a:effectLst/>
              <a:uFillTx/>
              <a:latin typeface="Arial"/>
            </a:endParaRPr>
          </a:p>
        </p:txBody>
      </p:sp>
      <p:sp>
        <p:nvSpPr>
          <p:cNvPr id="420" name="Text 4"/>
          <p:cNvSpPr/>
          <p:nvPr/>
        </p:nvSpPr>
        <p:spPr>
          <a:xfrm>
            <a:off x="457200" y="4480560"/>
            <a:ext cx="8227080" cy="408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0" u="none" strike="noStrike">
                <a:solidFill>
                  <a:srgbClr val="64748B"/>
                </a:solidFill>
                <a:effectLst/>
                <a:uFillTx/>
                <a:latin typeface="Calibri"/>
                <a:ea typeface="Calibri"/>
              </a:rPr>
              <a:t>COMP 469 · Artificial Intelligence · CSU Channel Islands</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decor-background"/>
          <p:cNvSpPr/>
          <p:nvPr/>
        </p:nvSpPr>
        <p:spPr>
          <a:xfrm>
            <a:off x="0" y="0"/>
            <a:ext cx="9142560" cy="5142240"/>
          </a:xfrm>
          <a:prstGeom prst="rect">
            <a:avLst/>
          </a:prstGeom>
          <a:solidFill>
            <a:srgbClr val="091F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2" name="decor-accent"/>
          <p:cNvSpPr/>
          <p:nvPr/>
        </p:nvSpPr>
        <p:spPr>
          <a:xfrm>
            <a:off x="0" y="0"/>
            <a:ext cx="71640" cy="5142240"/>
          </a:xfrm>
          <a:prstGeom prst="rect">
            <a:avLst/>
          </a:prstGeom>
          <a:solidFill>
            <a:srgbClr val="F2A122"/>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423" name="decor-section"/>
          <p:cNvSpPr/>
          <p:nvPr/>
        </p:nvSpPr>
        <p:spPr>
          <a:xfrm>
            <a:off x="320040" y="182880"/>
            <a:ext cx="3107520" cy="19980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700" b="1" u="none" strike="noStrike">
                <a:solidFill>
                  <a:srgbClr val="F8BE48"/>
                </a:solidFill>
                <a:effectLst/>
                <a:uFillTx/>
                <a:latin typeface="Aptos"/>
              </a:rPr>
              <a:t>COMP 469 · Chapters 1 &amp; 2 Expanded</a:t>
            </a:r>
            <a:endParaRPr lang="en-US" sz="700" b="0" u="none" strike="noStrike">
              <a:solidFill>
                <a:srgbClr val="000000"/>
              </a:solidFill>
              <a:effectLst/>
              <a:uFillTx/>
              <a:latin typeface="Arial"/>
            </a:endParaRPr>
          </a:p>
        </p:txBody>
      </p:sp>
      <p:sp>
        <p:nvSpPr>
          <p:cNvPr id="424" name="content-title"/>
          <p:cNvSpPr/>
          <p:nvPr/>
        </p:nvSpPr>
        <p:spPr>
          <a:xfrm>
            <a:off x="320040" y="658440"/>
            <a:ext cx="8136720" cy="68436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2900" b="1" u="none" strike="noStrike">
                <a:solidFill>
                  <a:srgbClr val="FFFFFF"/>
                </a:solidFill>
                <a:effectLst/>
                <a:uFillTx/>
                <a:latin typeface="Aptos Display"/>
              </a:rPr>
              <a:t>Expanded Teaching Slides</a:t>
            </a:r>
            <a:endParaRPr lang="en-US" sz="2900" b="0" u="none" strike="noStrike">
              <a:solidFill>
                <a:srgbClr val="000000"/>
              </a:solidFill>
              <a:effectLst/>
              <a:uFillTx/>
              <a:latin typeface="Arial"/>
            </a:endParaRPr>
          </a:p>
        </p:txBody>
      </p:sp>
      <p:sp>
        <p:nvSpPr>
          <p:cNvPr id="425" name="content-subtitle"/>
          <p:cNvSpPr/>
          <p:nvPr/>
        </p:nvSpPr>
        <p:spPr>
          <a:xfrm>
            <a:off x="347400" y="1417320"/>
            <a:ext cx="7679520" cy="41004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500" b="0" u="none" strike="noStrike">
                <a:solidFill>
                  <a:srgbClr val="DCE8F4"/>
                </a:solidFill>
                <a:effectLst/>
                <a:uFillTx/>
                <a:latin typeface="Aptos"/>
              </a:rPr>
              <a:t>Examples, instructor notes, visuals, and classroom checks for Chapters 1 &amp; 2</a:t>
            </a:r>
            <a:endParaRPr lang="en-US" sz="1500" b="0" u="none" strike="noStrike">
              <a:solidFill>
                <a:srgbClr val="000000"/>
              </a:solidFill>
              <a:effectLst/>
              <a:uFillTx/>
              <a:latin typeface="Arial"/>
            </a:endParaRPr>
          </a:p>
        </p:txBody>
      </p:sp>
      <p:sp>
        <p:nvSpPr>
          <p:cNvPr id="426"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427" name="content-callout"/>
          <p:cNvSpPr/>
          <p:nvPr/>
        </p:nvSpPr>
        <p:spPr>
          <a:xfrm>
            <a:off x="640080" y="2148840"/>
            <a:ext cx="7770960" cy="4557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800" b="1" u="none" strike="noStrike">
                <a:solidFill>
                  <a:srgbClr val="FFFFFF"/>
                </a:solidFill>
                <a:effectLst/>
                <a:uFillTx/>
                <a:latin typeface="Aptos"/>
              </a:rPr>
              <a:t>Use these after the core lecture or interleave them with the original slides.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9"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430"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What students should be able to do</a:t>
            </a:r>
            <a:endParaRPr lang="en-US" sz="2400" b="0" u="none" strike="noStrike">
              <a:solidFill>
                <a:srgbClr val="000000"/>
              </a:solidFill>
              <a:effectLst/>
              <a:uFillTx/>
              <a:latin typeface="Arial"/>
            </a:endParaRPr>
          </a:p>
        </p:txBody>
      </p:sp>
      <p:sp>
        <p:nvSpPr>
          <p:cNvPr id="431"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By the end of Chapters 1 &amp; 2, students should speak the language of AI agents.</a:t>
            </a:r>
            <a:endParaRPr lang="en-US" sz="1150" b="0" u="none" strike="noStrike">
              <a:solidFill>
                <a:srgbClr val="000000"/>
              </a:solidFill>
              <a:effectLst/>
              <a:uFillTx/>
              <a:latin typeface="Arial"/>
            </a:endParaRPr>
          </a:p>
        </p:txBody>
      </p:sp>
      <p:cxnSp>
        <p:nvCxnSpPr>
          <p:cNvPr id="432" name="decor-title-line"/>
          <p:cNvCxnSpPr/>
          <p:nvPr/>
        </p:nvCxnSpPr>
        <p:spPr>
          <a:xfrm>
            <a:off x="320040" y="932400"/>
            <a:ext cx="8505360" cy="1440"/>
          </a:xfrm>
          <a:prstGeom prst="straightConnector1">
            <a:avLst/>
          </a:prstGeom>
          <a:ln w="25400">
            <a:solidFill>
              <a:srgbClr val="F2A122"/>
            </a:solidFill>
            <a:round/>
          </a:ln>
        </p:spPr>
      </p:cxnSp>
      <p:sp>
        <p:nvSpPr>
          <p:cNvPr id="433"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434" name="content-bullets"/>
          <p:cNvSpPr/>
          <p:nvPr/>
        </p:nvSpPr>
        <p:spPr>
          <a:xfrm>
            <a:off x="502920" y="1170360"/>
            <a:ext cx="4204800" cy="333612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600" b="0" u="none" strike="noStrike">
                <a:solidFill>
                  <a:srgbClr val="1E1E1E"/>
                </a:solidFill>
                <a:effectLst/>
                <a:uFillTx/>
                <a:latin typeface="Aptos"/>
              </a:rPr>
              <a:t>• Define AI using the rational-agent view</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 Explain the four historical approaches to AI</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 Describe why objectives and performance measures matter</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 Specify a task environment using PEAS</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 Classify an environment and choose an agent architecture</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 Connect lecture ideas to the Vacuum World lab</a:t>
            </a:r>
            <a:endParaRPr lang="en-US" sz="1600" b="0" u="none" strike="noStrike">
              <a:solidFill>
                <a:srgbClr val="000000"/>
              </a:solidFill>
              <a:effectLst/>
              <a:uFillTx/>
              <a:latin typeface="Arial"/>
            </a:endParaRPr>
          </a:p>
        </p:txBody>
      </p:sp>
      <p:sp>
        <p:nvSpPr>
          <p:cNvPr id="435" name="content-node"/>
          <p:cNvSpPr/>
          <p:nvPr/>
        </p:nvSpPr>
        <p:spPr>
          <a:xfrm>
            <a:off x="5120640" y="1920240"/>
            <a:ext cx="638640" cy="41904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6" name="content-node-text"/>
          <p:cNvSpPr/>
          <p:nvPr/>
        </p:nvSpPr>
        <p:spPr>
          <a:xfrm>
            <a:off x="5139000" y="1984320"/>
            <a:ext cx="601920" cy="16308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gn="ctr">
              <a:lnSpc>
                <a:spcPct val="100000"/>
              </a:lnSpc>
            </a:pPr>
            <a:r>
              <a:rPr lang="en-US" sz="850" b="1" u="none" strike="noStrike">
                <a:solidFill>
                  <a:srgbClr val="FFFFFF"/>
                </a:solidFill>
                <a:effectLst/>
                <a:uFillTx/>
                <a:latin typeface="Aptos"/>
              </a:rPr>
              <a:t>Define</a:t>
            </a:r>
            <a:endParaRPr lang="en-US" sz="850" b="0" u="none" strike="noStrike">
              <a:solidFill>
                <a:srgbClr val="000000"/>
              </a:solidFill>
              <a:effectLst/>
              <a:uFillTx/>
              <a:latin typeface="Arial"/>
            </a:endParaRPr>
          </a:p>
        </p:txBody>
      </p:sp>
      <p:sp>
        <p:nvSpPr>
          <p:cNvPr id="437" name="content-node"/>
          <p:cNvSpPr/>
          <p:nvPr/>
        </p:nvSpPr>
        <p:spPr>
          <a:xfrm>
            <a:off x="5870520" y="1755720"/>
            <a:ext cx="638640" cy="419040"/>
          </a:xfrm>
          <a:prstGeom prst="roundRect">
            <a:avLst>
              <a:gd name="adj" fmla="val 16667"/>
            </a:avLst>
          </a:prstGeom>
          <a:solidFill>
            <a:srgbClr val="00897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8" name="content-node-text"/>
          <p:cNvSpPr/>
          <p:nvPr/>
        </p:nvSpPr>
        <p:spPr>
          <a:xfrm>
            <a:off x="5888880" y="1819800"/>
            <a:ext cx="601920" cy="16308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gn="ctr">
              <a:lnSpc>
                <a:spcPct val="100000"/>
              </a:lnSpc>
            </a:pPr>
            <a:r>
              <a:rPr lang="en-US" sz="850" b="1" u="none" strike="noStrike">
                <a:solidFill>
                  <a:srgbClr val="FFFFFF"/>
                </a:solidFill>
                <a:effectLst/>
                <a:uFillTx/>
                <a:latin typeface="Aptos"/>
              </a:rPr>
              <a:t>Specify</a:t>
            </a:r>
            <a:endParaRPr lang="en-US" sz="850" b="0" u="none" strike="noStrike">
              <a:solidFill>
                <a:srgbClr val="000000"/>
              </a:solidFill>
              <a:effectLst/>
              <a:uFillTx/>
              <a:latin typeface="Arial"/>
            </a:endParaRPr>
          </a:p>
        </p:txBody>
      </p:sp>
      <p:sp>
        <p:nvSpPr>
          <p:cNvPr id="439" name="content-node"/>
          <p:cNvSpPr/>
          <p:nvPr/>
        </p:nvSpPr>
        <p:spPr>
          <a:xfrm>
            <a:off x="6620400" y="1591200"/>
            <a:ext cx="638640" cy="419040"/>
          </a:xfrm>
          <a:prstGeom prst="roundRect">
            <a:avLst>
              <a:gd name="adj" fmla="val 16667"/>
            </a:avLst>
          </a:prstGeom>
          <a:solidFill>
            <a:srgbClr val="7452A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0" name="content-node-text"/>
          <p:cNvSpPr/>
          <p:nvPr/>
        </p:nvSpPr>
        <p:spPr>
          <a:xfrm>
            <a:off x="6638400" y="1654920"/>
            <a:ext cx="601920" cy="16308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gn="ctr">
              <a:lnSpc>
                <a:spcPct val="100000"/>
              </a:lnSpc>
            </a:pPr>
            <a:r>
              <a:rPr lang="en-US" sz="850" b="1" u="none" strike="noStrike">
                <a:solidFill>
                  <a:srgbClr val="FFFFFF"/>
                </a:solidFill>
                <a:effectLst/>
                <a:uFillTx/>
                <a:latin typeface="Aptos"/>
              </a:rPr>
              <a:t>Classify</a:t>
            </a:r>
            <a:endParaRPr lang="en-US" sz="850" b="0" u="none" strike="noStrike">
              <a:solidFill>
                <a:srgbClr val="000000"/>
              </a:solidFill>
              <a:effectLst/>
              <a:uFillTx/>
              <a:latin typeface="Arial"/>
            </a:endParaRPr>
          </a:p>
        </p:txBody>
      </p:sp>
      <p:sp>
        <p:nvSpPr>
          <p:cNvPr id="441" name="content-node"/>
          <p:cNvSpPr/>
          <p:nvPr/>
        </p:nvSpPr>
        <p:spPr>
          <a:xfrm>
            <a:off x="7369920" y="1426320"/>
            <a:ext cx="638640" cy="419040"/>
          </a:xfrm>
          <a:prstGeom prst="roundRect">
            <a:avLst>
              <a:gd name="adj" fmla="val 16667"/>
            </a:avLst>
          </a:prstGeom>
          <a:solidFill>
            <a:srgbClr val="4A9D5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2" name="content-node-text"/>
          <p:cNvSpPr/>
          <p:nvPr/>
        </p:nvSpPr>
        <p:spPr>
          <a:xfrm>
            <a:off x="7388280" y="1490400"/>
            <a:ext cx="601920" cy="16308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gn="ctr">
              <a:lnSpc>
                <a:spcPct val="100000"/>
              </a:lnSpc>
            </a:pPr>
            <a:r>
              <a:rPr lang="en-US" sz="850" b="1" u="none" strike="noStrike">
                <a:solidFill>
                  <a:srgbClr val="FFFFFF"/>
                </a:solidFill>
                <a:effectLst/>
                <a:uFillTx/>
                <a:latin typeface="Aptos"/>
              </a:rPr>
              <a:t>Design</a:t>
            </a:r>
            <a:endParaRPr lang="en-US" sz="850" b="0" u="none" strike="noStrike">
              <a:solidFill>
                <a:srgbClr val="000000"/>
              </a:solidFill>
              <a:effectLst/>
              <a:uFillTx/>
              <a:latin typeface="Arial"/>
            </a:endParaRPr>
          </a:p>
        </p:txBody>
      </p:sp>
      <p:sp>
        <p:nvSpPr>
          <p:cNvPr id="443" name="content-node"/>
          <p:cNvSpPr/>
          <p:nvPr/>
        </p:nvSpPr>
        <p:spPr>
          <a:xfrm>
            <a:off x="8119800" y="1261800"/>
            <a:ext cx="638640" cy="419040"/>
          </a:xfrm>
          <a:prstGeom prst="roundRect">
            <a:avLst>
              <a:gd name="adj" fmla="val 16667"/>
            </a:avLst>
          </a:prstGeom>
          <a:solidFill>
            <a:srgbClr val="F2A122"/>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4" name="content-node-text"/>
          <p:cNvSpPr/>
          <p:nvPr/>
        </p:nvSpPr>
        <p:spPr>
          <a:xfrm>
            <a:off x="8138160" y="1325880"/>
            <a:ext cx="601920" cy="16308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gn="ctr">
              <a:lnSpc>
                <a:spcPct val="100000"/>
              </a:lnSpc>
            </a:pPr>
            <a:r>
              <a:rPr lang="en-US" sz="850" b="1" u="none" strike="noStrike">
                <a:solidFill>
                  <a:srgbClr val="FFFFFF"/>
                </a:solidFill>
                <a:effectLst/>
                <a:uFillTx/>
                <a:latin typeface="Aptos"/>
              </a:rPr>
              <a:t>Evaluate</a:t>
            </a:r>
            <a:endParaRPr lang="en-US" sz="850" b="0" u="none" strike="noStrike">
              <a:solidFill>
                <a:srgbClr val="000000"/>
              </a:solidFill>
              <a:effectLst/>
              <a:uFillTx/>
              <a:latin typeface="Arial"/>
            </a:endParaRPr>
          </a:p>
        </p:txBody>
      </p:sp>
      <p:sp>
        <p:nvSpPr>
          <p:cNvPr id="445" name="content-highlight"/>
          <p:cNvSpPr/>
          <p:nvPr/>
        </p:nvSpPr>
        <p:spPr>
          <a:xfrm>
            <a:off x="4983480" y="2788920"/>
            <a:ext cx="3610440" cy="638640"/>
          </a:xfrm>
          <a:prstGeom prst="rect">
            <a:avLst/>
          </a:prstGeom>
          <a:solidFill>
            <a:srgbClr val="E7F3FB"/>
          </a:solidFill>
          <a:ln w="0">
            <a:solidFill>
              <a:srgbClr val="DCE1E8"/>
            </a:solidFill>
          </a:ln>
        </p:spPr>
        <p:style>
          <a:lnRef idx="0"/>
          <a:fillRef idx="0"/>
          <a:effectRef idx="0"/>
          <a:fontRef idx="minor"/>
        </p:style>
        <p:txBody>
          <a:bodyPr lIns="109800" tIns="109800" rIns="109800" bIns="109800" anchor="t">
            <a:normAutofit fontScale="77500" lnSpcReduction="19999"/>
          </a:bodyPr>
          <a:p>
            <a:pPr>
              <a:lnSpc>
                <a:spcPct val="100000"/>
              </a:lnSpc>
            </a:pPr>
            <a:r>
              <a:rPr lang="en-US" sz="1500" b="1" u="none" strike="noStrike">
                <a:solidFill>
                  <a:srgbClr val="091F3F"/>
                </a:solidFill>
                <a:effectLst/>
                <a:uFillTx/>
                <a:latin typeface="Aptos"/>
              </a:rPr>
              <a:t>A student who can do these five verbs can analyze most AI systems at a high level.</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7"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448"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AI is a universal field, not one tool</a:t>
            </a:r>
            <a:endParaRPr lang="en-US" sz="2400" b="0" u="none" strike="noStrike">
              <a:solidFill>
                <a:srgbClr val="000000"/>
              </a:solidFill>
              <a:effectLst/>
              <a:uFillTx/>
              <a:latin typeface="Arial"/>
            </a:endParaRPr>
          </a:p>
        </p:txBody>
      </p:sp>
      <p:sp>
        <p:nvSpPr>
          <p:cNvPr id="449"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Chapter 1 frames AI as relevant to any intellectual task, from perception to decision making.</a:t>
            </a:r>
            <a:endParaRPr lang="en-US" sz="1150" b="0" u="none" strike="noStrike">
              <a:solidFill>
                <a:srgbClr val="000000"/>
              </a:solidFill>
              <a:effectLst/>
              <a:uFillTx/>
              <a:latin typeface="Arial"/>
            </a:endParaRPr>
          </a:p>
        </p:txBody>
      </p:sp>
      <p:cxnSp>
        <p:nvCxnSpPr>
          <p:cNvPr id="450" name="decor-title-line"/>
          <p:cNvCxnSpPr/>
          <p:nvPr/>
        </p:nvCxnSpPr>
        <p:spPr>
          <a:xfrm>
            <a:off x="320040" y="932400"/>
            <a:ext cx="8505360" cy="1440"/>
          </a:xfrm>
          <a:prstGeom prst="straightConnector1">
            <a:avLst/>
          </a:prstGeom>
          <a:ln w="25400">
            <a:solidFill>
              <a:srgbClr val="F2A122"/>
            </a:solidFill>
            <a:round/>
          </a:ln>
        </p:spPr>
      </p:cxnSp>
      <p:sp>
        <p:nvSpPr>
          <p:cNvPr id="451"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cxnSp>
        <p:nvCxnSpPr>
          <p:cNvPr id="452" name="content-connector"/>
          <p:cNvCxnSpPr/>
          <p:nvPr/>
        </p:nvCxnSpPr>
        <p:spPr>
          <a:xfrm>
            <a:off x="2587680" y="1554480"/>
            <a:ext cx="1985760" cy="668880"/>
          </a:xfrm>
          <a:prstGeom prst="straightConnector1">
            <a:avLst/>
          </a:prstGeom>
          <a:ln w="19050">
            <a:solidFill>
              <a:srgbClr val="5A6473"/>
            </a:solidFill>
            <a:round/>
          </a:ln>
        </p:spPr>
      </p:cxnSp>
      <p:cxnSp>
        <p:nvCxnSpPr>
          <p:cNvPr id="453" name="content-connector"/>
          <p:cNvCxnSpPr/>
          <p:nvPr/>
        </p:nvCxnSpPr>
        <p:spPr>
          <a:xfrm>
            <a:off x="4370760" y="1188720"/>
            <a:ext cx="202680" cy="1034640"/>
          </a:xfrm>
          <a:prstGeom prst="straightConnector1">
            <a:avLst/>
          </a:prstGeom>
          <a:ln w="19050">
            <a:solidFill>
              <a:srgbClr val="5A6473"/>
            </a:solidFill>
            <a:round/>
          </a:ln>
        </p:spPr>
      </p:cxnSp>
      <p:cxnSp>
        <p:nvCxnSpPr>
          <p:cNvPr id="454" name="content-connector"/>
          <p:cNvCxnSpPr/>
          <p:nvPr/>
        </p:nvCxnSpPr>
        <p:spPr>
          <a:xfrm flipH="1">
            <a:off x="4572000" y="1554480"/>
            <a:ext cx="1629000" cy="668880"/>
          </a:xfrm>
          <a:prstGeom prst="straightConnector1">
            <a:avLst/>
          </a:prstGeom>
          <a:ln w="19050">
            <a:solidFill>
              <a:srgbClr val="5A6473"/>
            </a:solidFill>
            <a:round/>
          </a:ln>
        </p:spPr>
      </p:cxnSp>
      <p:cxnSp>
        <p:nvCxnSpPr>
          <p:cNvPr id="455" name="content-connector"/>
          <p:cNvCxnSpPr/>
          <p:nvPr/>
        </p:nvCxnSpPr>
        <p:spPr>
          <a:xfrm flipV="1">
            <a:off x="2541960" y="2221920"/>
            <a:ext cx="2031480" cy="934200"/>
          </a:xfrm>
          <a:prstGeom prst="straightConnector1">
            <a:avLst/>
          </a:prstGeom>
          <a:ln w="19050">
            <a:solidFill>
              <a:srgbClr val="5A6473"/>
            </a:solidFill>
            <a:round/>
          </a:ln>
        </p:spPr>
      </p:cxnSp>
      <p:cxnSp>
        <p:nvCxnSpPr>
          <p:cNvPr id="456" name="content-connector"/>
          <p:cNvCxnSpPr/>
          <p:nvPr/>
        </p:nvCxnSpPr>
        <p:spPr>
          <a:xfrm flipV="1">
            <a:off x="4370760" y="2221920"/>
            <a:ext cx="202680" cy="1299960"/>
          </a:xfrm>
          <a:prstGeom prst="straightConnector1">
            <a:avLst/>
          </a:prstGeom>
          <a:ln w="19050">
            <a:solidFill>
              <a:srgbClr val="5A6473"/>
            </a:solidFill>
            <a:round/>
          </a:ln>
        </p:spPr>
      </p:cxnSp>
      <p:cxnSp>
        <p:nvCxnSpPr>
          <p:cNvPr id="457" name="content-connector"/>
          <p:cNvCxnSpPr/>
          <p:nvPr/>
        </p:nvCxnSpPr>
        <p:spPr>
          <a:xfrm flipH="1" flipV="1">
            <a:off x="4572000" y="2221920"/>
            <a:ext cx="1674720" cy="934200"/>
          </a:xfrm>
          <a:prstGeom prst="straightConnector1">
            <a:avLst/>
          </a:prstGeom>
          <a:ln w="19050">
            <a:solidFill>
              <a:srgbClr val="5A6473"/>
            </a:solidFill>
            <a:round/>
          </a:ln>
        </p:spPr>
      </p:cxnSp>
      <p:sp>
        <p:nvSpPr>
          <p:cNvPr id="458" name="content-node"/>
          <p:cNvSpPr/>
          <p:nvPr/>
        </p:nvSpPr>
        <p:spPr>
          <a:xfrm>
            <a:off x="1874520" y="1051560"/>
            <a:ext cx="1415880" cy="50148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9" name="content-node-text"/>
          <p:cNvSpPr/>
          <p:nvPr/>
        </p:nvSpPr>
        <p:spPr>
          <a:xfrm>
            <a:off x="1920240" y="1197720"/>
            <a:ext cx="132444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200" b="1" u="none" strike="noStrike">
                <a:solidFill>
                  <a:srgbClr val="FFFFFF"/>
                </a:solidFill>
                <a:effectLst/>
                <a:uFillTx/>
                <a:latin typeface="Aptos"/>
              </a:rPr>
              <a:t>Learning</a:t>
            </a:r>
            <a:endParaRPr lang="en-US" sz="1200" b="0" u="none" strike="noStrike">
              <a:solidFill>
                <a:srgbClr val="000000"/>
              </a:solidFill>
              <a:effectLst/>
              <a:uFillTx/>
              <a:latin typeface="Arial"/>
            </a:endParaRPr>
          </a:p>
        </p:txBody>
      </p:sp>
      <p:sp>
        <p:nvSpPr>
          <p:cNvPr id="460" name="content-node"/>
          <p:cNvSpPr/>
          <p:nvPr/>
        </p:nvSpPr>
        <p:spPr>
          <a:xfrm>
            <a:off x="3657600" y="685800"/>
            <a:ext cx="1415880" cy="501480"/>
          </a:xfrm>
          <a:prstGeom prst="roundRect">
            <a:avLst>
              <a:gd name="adj" fmla="val 16667"/>
            </a:avLst>
          </a:prstGeom>
          <a:solidFill>
            <a:srgbClr val="7452A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1" name="content-node-text"/>
          <p:cNvSpPr/>
          <p:nvPr/>
        </p:nvSpPr>
        <p:spPr>
          <a:xfrm>
            <a:off x="3703320" y="831960"/>
            <a:ext cx="132444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200" b="1" u="none" strike="noStrike">
                <a:solidFill>
                  <a:srgbClr val="FFFFFF"/>
                </a:solidFill>
                <a:effectLst/>
                <a:uFillTx/>
                <a:latin typeface="Aptos"/>
              </a:rPr>
              <a:t>Reasoning</a:t>
            </a:r>
            <a:endParaRPr lang="en-US" sz="1200" b="0" u="none" strike="noStrike">
              <a:solidFill>
                <a:srgbClr val="000000"/>
              </a:solidFill>
              <a:effectLst/>
              <a:uFillTx/>
              <a:latin typeface="Arial"/>
            </a:endParaRPr>
          </a:p>
        </p:txBody>
      </p:sp>
      <p:sp>
        <p:nvSpPr>
          <p:cNvPr id="462" name="content-node"/>
          <p:cNvSpPr/>
          <p:nvPr/>
        </p:nvSpPr>
        <p:spPr>
          <a:xfrm>
            <a:off x="5486400" y="1051560"/>
            <a:ext cx="1415880" cy="501480"/>
          </a:xfrm>
          <a:prstGeom prst="roundRect">
            <a:avLst>
              <a:gd name="adj" fmla="val 16667"/>
            </a:avLst>
          </a:prstGeom>
          <a:solidFill>
            <a:srgbClr val="00897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3" name="content-node-text"/>
          <p:cNvSpPr/>
          <p:nvPr/>
        </p:nvSpPr>
        <p:spPr>
          <a:xfrm>
            <a:off x="5532120" y="1197720"/>
            <a:ext cx="132444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200" b="1" u="none" strike="noStrike">
                <a:solidFill>
                  <a:srgbClr val="FFFFFF"/>
                </a:solidFill>
                <a:effectLst/>
                <a:uFillTx/>
                <a:latin typeface="Aptos"/>
              </a:rPr>
              <a:t>Language</a:t>
            </a:r>
            <a:endParaRPr lang="en-US" sz="1200" b="0" u="none" strike="noStrike">
              <a:solidFill>
                <a:srgbClr val="000000"/>
              </a:solidFill>
              <a:effectLst/>
              <a:uFillTx/>
              <a:latin typeface="Arial"/>
            </a:endParaRPr>
          </a:p>
        </p:txBody>
      </p:sp>
      <p:sp>
        <p:nvSpPr>
          <p:cNvPr id="464" name="content-node"/>
          <p:cNvSpPr/>
          <p:nvPr/>
        </p:nvSpPr>
        <p:spPr>
          <a:xfrm>
            <a:off x="1828800" y="3154680"/>
            <a:ext cx="1415880" cy="501480"/>
          </a:xfrm>
          <a:prstGeom prst="roundRect">
            <a:avLst>
              <a:gd name="adj" fmla="val 16667"/>
            </a:avLst>
          </a:prstGeom>
          <a:solidFill>
            <a:srgbClr val="4A9D5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5" name="content-node-text"/>
          <p:cNvSpPr/>
          <p:nvPr/>
        </p:nvSpPr>
        <p:spPr>
          <a:xfrm>
            <a:off x="1874520" y="3300840"/>
            <a:ext cx="132444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200" b="1" u="none" strike="noStrike">
                <a:solidFill>
                  <a:srgbClr val="FFFFFF"/>
                </a:solidFill>
                <a:effectLst/>
                <a:uFillTx/>
                <a:latin typeface="Aptos"/>
              </a:rPr>
              <a:t>Perception</a:t>
            </a:r>
            <a:endParaRPr lang="en-US" sz="1200" b="0" u="none" strike="noStrike">
              <a:solidFill>
                <a:srgbClr val="000000"/>
              </a:solidFill>
              <a:effectLst/>
              <a:uFillTx/>
              <a:latin typeface="Arial"/>
            </a:endParaRPr>
          </a:p>
        </p:txBody>
      </p:sp>
      <p:sp>
        <p:nvSpPr>
          <p:cNvPr id="466" name="content-node"/>
          <p:cNvSpPr/>
          <p:nvPr/>
        </p:nvSpPr>
        <p:spPr>
          <a:xfrm>
            <a:off x="3657600" y="3520440"/>
            <a:ext cx="1415880" cy="501480"/>
          </a:xfrm>
          <a:prstGeom prst="roundRect">
            <a:avLst>
              <a:gd name="adj" fmla="val 16667"/>
            </a:avLst>
          </a:prstGeom>
          <a:solidFill>
            <a:srgbClr val="F2A122"/>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7" name="content-node-text"/>
          <p:cNvSpPr/>
          <p:nvPr/>
        </p:nvSpPr>
        <p:spPr>
          <a:xfrm>
            <a:off x="3703320" y="3666600"/>
            <a:ext cx="132444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200" b="1" u="none" strike="noStrike">
                <a:solidFill>
                  <a:srgbClr val="FFFFFF"/>
                </a:solidFill>
                <a:effectLst/>
                <a:uFillTx/>
                <a:latin typeface="Aptos"/>
              </a:rPr>
              <a:t>Planning</a:t>
            </a:r>
            <a:endParaRPr lang="en-US" sz="1200" b="0" u="none" strike="noStrike">
              <a:solidFill>
                <a:srgbClr val="000000"/>
              </a:solidFill>
              <a:effectLst/>
              <a:uFillTx/>
              <a:latin typeface="Arial"/>
            </a:endParaRPr>
          </a:p>
        </p:txBody>
      </p:sp>
      <p:sp>
        <p:nvSpPr>
          <p:cNvPr id="468" name="content-node"/>
          <p:cNvSpPr/>
          <p:nvPr/>
        </p:nvSpPr>
        <p:spPr>
          <a:xfrm>
            <a:off x="5532120" y="3154680"/>
            <a:ext cx="1415880" cy="501480"/>
          </a:xfrm>
          <a:prstGeom prst="roundRect">
            <a:avLst>
              <a:gd name="adj" fmla="val 16667"/>
            </a:avLst>
          </a:prstGeom>
          <a:solidFill>
            <a:srgbClr val="B73D3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9" name="content-node-text"/>
          <p:cNvSpPr/>
          <p:nvPr/>
        </p:nvSpPr>
        <p:spPr>
          <a:xfrm>
            <a:off x="5577840" y="3300840"/>
            <a:ext cx="132444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200" b="1" u="none" strike="noStrike">
                <a:solidFill>
                  <a:srgbClr val="FFFFFF"/>
                </a:solidFill>
                <a:effectLst/>
                <a:uFillTx/>
                <a:latin typeface="Aptos"/>
              </a:rPr>
              <a:t>Robotics</a:t>
            </a:r>
            <a:endParaRPr lang="en-US" sz="1200" b="0" u="none" strike="noStrike">
              <a:solidFill>
                <a:srgbClr val="000000"/>
              </a:solidFill>
              <a:effectLst/>
              <a:uFillTx/>
              <a:latin typeface="Arial"/>
            </a:endParaRPr>
          </a:p>
        </p:txBody>
      </p:sp>
      <p:sp>
        <p:nvSpPr>
          <p:cNvPr id="470" name="content-center"/>
          <p:cNvSpPr/>
          <p:nvPr/>
        </p:nvSpPr>
        <p:spPr>
          <a:xfrm>
            <a:off x="3337560" y="2057400"/>
            <a:ext cx="2467440" cy="318600"/>
          </a:xfrm>
          <a:prstGeom prst="rect">
            <a:avLst/>
          </a:prstGeom>
          <a:solidFill>
            <a:srgbClr val="091F3F"/>
          </a:solidFill>
          <a:ln w="0">
            <a:solidFill>
              <a:srgbClr val="091F3F"/>
            </a:solidFill>
          </a:ln>
        </p:spPr>
        <p:style>
          <a:lnRef idx="0"/>
          <a:fillRef idx="0"/>
          <a:effectRef idx="0"/>
          <a:fontRef idx="minor"/>
        </p:style>
        <p:txBody>
          <a:bodyPr lIns="36720" tIns="36720" rIns="36720" bIns="36720" anchor="t">
            <a:normAutofit fontScale="77500" lnSpcReduction="19999"/>
          </a:bodyPr>
          <a:p>
            <a:pPr algn="ctr">
              <a:lnSpc>
                <a:spcPct val="100000"/>
              </a:lnSpc>
            </a:pPr>
            <a:r>
              <a:rPr lang="en-US" sz="2100" b="1" u="none" strike="noStrike">
                <a:solidFill>
                  <a:srgbClr val="FFFFFF"/>
                </a:solidFill>
                <a:effectLst/>
                <a:uFillTx/>
                <a:latin typeface="Aptos"/>
              </a:rPr>
              <a:t>Artificial Intelligence</a:t>
            </a:r>
            <a:endParaRPr lang="en-US" sz="2100" b="0" u="none" strike="noStrike">
              <a:solidFill>
                <a:srgbClr val="FFFFFF"/>
              </a:solidFill>
              <a:effectLst/>
              <a:uFillTx/>
              <a:latin typeface="Arial"/>
            </a:endParaRPr>
          </a:p>
        </p:txBody>
      </p:sp>
      <p:sp>
        <p:nvSpPr>
          <p:cNvPr id="471" name="content-bottom"/>
          <p:cNvSpPr/>
          <p:nvPr/>
        </p:nvSpPr>
        <p:spPr>
          <a:xfrm>
            <a:off x="777240" y="4251960"/>
            <a:ext cx="7588080" cy="318600"/>
          </a:xfrm>
          <a:prstGeom prst="rect">
            <a:avLst/>
          </a:prstGeom>
          <a:noFill/>
          <a:ln w="0">
            <a:noFill/>
          </a:ln>
        </p:spPr>
        <p:style>
          <a:lnRef idx="0"/>
          <a:fillRef idx="0"/>
          <a:effectRef idx="0"/>
          <a:fontRef idx="minor"/>
        </p:style>
        <p:txBody>
          <a:bodyPr lIns="45720" tIns="45000" rIns="45720" bIns="45000" anchor="t">
            <a:normAutofit fontScale="92500" lnSpcReduction="9999"/>
          </a:bodyPr>
          <a:p>
            <a:pPr algn="ctr">
              <a:lnSpc>
                <a:spcPct val="100000"/>
              </a:lnSpc>
            </a:pPr>
            <a:r>
              <a:rPr lang="en-US" sz="1500" b="1" u="none" strike="noStrike">
                <a:solidFill>
                  <a:srgbClr val="091F3F"/>
                </a:solidFill>
                <a:effectLst/>
                <a:uFillTx/>
                <a:latin typeface="Aptos"/>
              </a:rPr>
              <a:t>The course unifies these areas with the agent idea: perceive → decide → act → learn.</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3"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474"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Four approaches through one example</a:t>
            </a:r>
            <a:endParaRPr lang="en-US" sz="2400" b="0" u="none" strike="noStrike">
              <a:solidFill>
                <a:srgbClr val="000000"/>
              </a:solidFill>
              <a:effectLst/>
              <a:uFillTx/>
              <a:latin typeface="Arial"/>
            </a:endParaRPr>
          </a:p>
        </p:txBody>
      </p:sp>
      <p:sp>
        <p:nvSpPr>
          <p:cNvPr id="475"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Example system: an AI campus tutoring assistant.</a:t>
            </a:r>
            <a:endParaRPr lang="en-US" sz="1150" b="0" u="none" strike="noStrike">
              <a:solidFill>
                <a:srgbClr val="000000"/>
              </a:solidFill>
              <a:effectLst/>
              <a:uFillTx/>
              <a:latin typeface="Arial"/>
            </a:endParaRPr>
          </a:p>
        </p:txBody>
      </p:sp>
      <p:cxnSp>
        <p:nvCxnSpPr>
          <p:cNvPr id="476" name="decor-title-line"/>
          <p:cNvCxnSpPr/>
          <p:nvPr/>
        </p:nvCxnSpPr>
        <p:spPr>
          <a:xfrm>
            <a:off x="320040" y="932400"/>
            <a:ext cx="8505360" cy="1440"/>
          </a:xfrm>
          <a:prstGeom prst="straightConnector1">
            <a:avLst/>
          </a:prstGeom>
          <a:ln w="25400">
            <a:solidFill>
              <a:srgbClr val="F2A122"/>
            </a:solidFill>
            <a:round/>
          </a:ln>
        </p:spPr>
      </p:cxnSp>
      <p:sp>
        <p:nvSpPr>
          <p:cNvPr id="477"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478" name="content-card"/>
          <p:cNvSpPr/>
          <p:nvPr/>
        </p:nvSpPr>
        <p:spPr>
          <a:xfrm>
            <a:off x="502920" y="1170360"/>
            <a:ext cx="3656160" cy="114156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9" name="decor-card-accent"/>
          <p:cNvSpPr/>
          <p:nvPr/>
        </p:nvSpPr>
        <p:spPr>
          <a:xfrm>
            <a:off x="502920" y="1170360"/>
            <a:ext cx="71640" cy="1141560"/>
          </a:xfrm>
          <a:prstGeom prst="rect">
            <a:avLst/>
          </a:prstGeom>
          <a:solidFill>
            <a:srgbClr val="B73D3B"/>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480" name="content-card-title"/>
          <p:cNvSpPr/>
          <p:nvPr/>
        </p:nvSpPr>
        <p:spPr>
          <a:xfrm>
            <a:off x="667440" y="128016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Acting humanly</a:t>
            </a:r>
            <a:endParaRPr lang="en-US" sz="1250" b="0" u="none" strike="noStrike">
              <a:solidFill>
                <a:srgbClr val="000000"/>
              </a:solidFill>
              <a:effectLst/>
              <a:uFillTx/>
              <a:latin typeface="Arial"/>
            </a:endParaRPr>
          </a:p>
        </p:txBody>
      </p:sp>
      <p:sp>
        <p:nvSpPr>
          <p:cNvPr id="481" name="content-card-body"/>
          <p:cNvSpPr/>
          <p:nvPr/>
        </p:nvSpPr>
        <p:spPr>
          <a:xfrm>
            <a:off x="667440" y="1609200"/>
            <a:ext cx="3400200" cy="63864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Can students tell it is not a human tutor?</a:t>
            </a:r>
            <a:endParaRPr lang="en-US" sz="1300" b="0" u="none" strike="noStrike">
              <a:solidFill>
                <a:srgbClr val="000000"/>
              </a:solidFill>
              <a:effectLst/>
              <a:uFillTx/>
              <a:latin typeface="Arial"/>
            </a:endParaRPr>
          </a:p>
        </p:txBody>
      </p:sp>
      <p:sp>
        <p:nvSpPr>
          <p:cNvPr id="482" name="content-card"/>
          <p:cNvSpPr/>
          <p:nvPr/>
        </p:nvSpPr>
        <p:spPr>
          <a:xfrm>
            <a:off x="4663440" y="1170360"/>
            <a:ext cx="3656160" cy="114156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3" name="decor-card-accent"/>
          <p:cNvSpPr/>
          <p:nvPr/>
        </p:nvSpPr>
        <p:spPr>
          <a:xfrm>
            <a:off x="4663440" y="1170360"/>
            <a:ext cx="71640" cy="1141560"/>
          </a:xfrm>
          <a:prstGeom prst="rect">
            <a:avLst/>
          </a:prstGeom>
          <a:solidFill>
            <a:srgbClr val="7452A6"/>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484" name="content-card-title"/>
          <p:cNvSpPr/>
          <p:nvPr/>
        </p:nvSpPr>
        <p:spPr>
          <a:xfrm>
            <a:off x="4827960" y="128016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Thinking humanly</a:t>
            </a:r>
            <a:endParaRPr lang="en-US" sz="1250" b="0" u="none" strike="noStrike">
              <a:solidFill>
                <a:srgbClr val="000000"/>
              </a:solidFill>
              <a:effectLst/>
              <a:uFillTx/>
              <a:latin typeface="Arial"/>
            </a:endParaRPr>
          </a:p>
        </p:txBody>
      </p:sp>
      <p:sp>
        <p:nvSpPr>
          <p:cNvPr id="485" name="content-card-body"/>
          <p:cNvSpPr/>
          <p:nvPr/>
        </p:nvSpPr>
        <p:spPr>
          <a:xfrm>
            <a:off x="4827960" y="1609200"/>
            <a:ext cx="3400200" cy="63864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Does it make mistakes and reasoning steps like a student?</a:t>
            </a:r>
            <a:endParaRPr lang="en-US" sz="1300" b="0" u="none" strike="noStrike">
              <a:solidFill>
                <a:srgbClr val="000000"/>
              </a:solidFill>
              <a:effectLst/>
              <a:uFillTx/>
              <a:latin typeface="Arial"/>
            </a:endParaRPr>
          </a:p>
        </p:txBody>
      </p:sp>
      <p:sp>
        <p:nvSpPr>
          <p:cNvPr id="486" name="content-card"/>
          <p:cNvSpPr/>
          <p:nvPr/>
        </p:nvSpPr>
        <p:spPr>
          <a:xfrm>
            <a:off x="502920" y="2770560"/>
            <a:ext cx="3656160" cy="114156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7" name="decor-card-accent"/>
          <p:cNvSpPr/>
          <p:nvPr/>
        </p:nvSpPr>
        <p:spPr>
          <a:xfrm>
            <a:off x="502920" y="2770560"/>
            <a:ext cx="71640" cy="1141560"/>
          </a:xfrm>
          <a:prstGeom prst="rect">
            <a:avLst/>
          </a:prstGeom>
          <a:solidFill>
            <a:srgbClr val="00897B"/>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488" name="content-card-title"/>
          <p:cNvSpPr/>
          <p:nvPr/>
        </p:nvSpPr>
        <p:spPr>
          <a:xfrm>
            <a:off x="667440" y="288036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Thinking rationally</a:t>
            </a:r>
            <a:endParaRPr lang="en-US" sz="1250" b="0" u="none" strike="noStrike">
              <a:solidFill>
                <a:srgbClr val="000000"/>
              </a:solidFill>
              <a:effectLst/>
              <a:uFillTx/>
              <a:latin typeface="Arial"/>
            </a:endParaRPr>
          </a:p>
        </p:txBody>
      </p:sp>
      <p:sp>
        <p:nvSpPr>
          <p:cNvPr id="489" name="content-card-body"/>
          <p:cNvSpPr/>
          <p:nvPr/>
        </p:nvSpPr>
        <p:spPr>
          <a:xfrm>
            <a:off x="667440" y="3209400"/>
            <a:ext cx="3400200" cy="63864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Does it derive valid answers from rules and facts?</a:t>
            </a:r>
            <a:endParaRPr lang="en-US" sz="1300" b="0" u="none" strike="noStrike">
              <a:solidFill>
                <a:srgbClr val="000000"/>
              </a:solidFill>
              <a:effectLst/>
              <a:uFillTx/>
              <a:latin typeface="Arial"/>
            </a:endParaRPr>
          </a:p>
        </p:txBody>
      </p:sp>
      <p:sp>
        <p:nvSpPr>
          <p:cNvPr id="490" name="content-card"/>
          <p:cNvSpPr/>
          <p:nvPr/>
        </p:nvSpPr>
        <p:spPr>
          <a:xfrm>
            <a:off x="4663440" y="2770560"/>
            <a:ext cx="3656160" cy="114156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1" name="decor-card-accent"/>
          <p:cNvSpPr/>
          <p:nvPr/>
        </p:nvSpPr>
        <p:spPr>
          <a:xfrm>
            <a:off x="4663440" y="2770560"/>
            <a:ext cx="71640" cy="114156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492" name="content-card-title"/>
          <p:cNvSpPr/>
          <p:nvPr/>
        </p:nvSpPr>
        <p:spPr>
          <a:xfrm>
            <a:off x="4827960" y="288036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Acting rationally</a:t>
            </a:r>
            <a:endParaRPr lang="en-US" sz="1250" b="0" u="none" strike="noStrike">
              <a:solidFill>
                <a:srgbClr val="000000"/>
              </a:solidFill>
              <a:effectLst/>
              <a:uFillTx/>
              <a:latin typeface="Arial"/>
            </a:endParaRPr>
          </a:p>
        </p:txBody>
      </p:sp>
      <p:sp>
        <p:nvSpPr>
          <p:cNvPr id="493" name="content-card-body"/>
          <p:cNvSpPr/>
          <p:nvPr/>
        </p:nvSpPr>
        <p:spPr>
          <a:xfrm>
            <a:off x="4827960" y="3209400"/>
            <a:ext cx="3400200" cy="63864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Does it choose actions that improve learning outcomes?</a:t>
            </a:r>
            <a:endParaRPr lang="en-US" sz="1300" b="0" u="none" strike="noStrike">
              <a:solidFill>
                <a:srgbClr val="000000"/>
              </a:solidFill>
              <a:effectLst/>
              <a:uFillTx/>
              <a:latin typeface="Arial"/>
            </a:endParaRPr>
          </a:p>
        </p:txBody>
      </p:sp>
      <p:sp>
        <p:nvSpPr>
          <p:cNvPr id="494" name="content-emphasis"/>
          <p:cNvSpPr/>
          <p:nvPr/>
        </p:nvSpPr>
        <p:spPr>
          <a:xfrm>
            <a:off x="2788920" y="4160520"/>
            <a:ext cx="3610440" cy="345960"/>
          </a:xfrm>
          <a:prstGeom prst="rect">
            <a:avLst/>
          </a:prstGeom>
          <a:solidFill>
            <a:srgbClr val="091F3F"/>
          </a:solidFill>
          <a:ln w="0">
            <a:solidFill>
              <a:srgbClr val="091F3F"/>
            </a:solidFill>
          </a:ln>
        </p:spPr>
        <p:style>
          <a:lnRef idx="0"/>
          <a:fillRef idx="0"/>
          <a:effectRef idx="0"/>
          <a:fontRef idx="minor"/>
        </p:style>
        <p:txBody>
          <a:bodyPr lIns="45720" tIns="45000" rIns="45720" bIns="45000" anchor="t">
            <a:normAutofit fontScale="92500" lnSpcReduction="9999"/>
          </a:bodyPr>
          <a:p>
            <a:pPr algn="ctr">
              <a:lnSpc>
                <a:spcPct val="100000"/>
              </a:lnSpc>
            </a:pPr>
            <a:r>
              <a:rPr lang="en-US" sz="1700" b="1" u="none" strike="noStrike">
                <a:solidFill>
                  <a:srgbClr val="FFFFFF"/>
                </a:solidFill>
                <a:effectLst/>
                <a:uFillTx/>
                <a:latin typeface="Aptos"/>
              </a:rPr>
              <a:t>Course emphasis: acting rationally</a:t>
            </a:r>
            <a:endParaRPr lang="en-US" sz="17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6"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497"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The Turing Test becomes a capability checklist</a:t>
            </a:r>
            <a:endParaRPr lang="en-US" sz="2400" b="0" u="none" strike="noStrike">
              <a:solidFill>
                <a:srgbClr val="000000"/>
              </a:solidFill>
              <a:effectLst/>
              <a:uFillTx/>
              <a:latin typeface="Arial"/>
            </a:endParaRPr>
          </a:p>
        </p:txBody>
      </p:sp>
      <p:sp>
        <p:nvSpPr>
          <p:cNvPr id="498"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Passing a serious imitation game would require much of AI.</a:t>
            </a:r>
            <a:endParaRPr lang="en-US" sz="1150" b="0" u="none" strike="noStrike">
              <a:solidFill>
                <a:srgbClr val="000000"/>
              </a:solidFill>
              <a:effectLst/>
              <a:uFillTx/>
              <a:latin typeface="Arial"/>
            </a:endParaRPr>
          </a:p>
        </p:txBody>
      </p:sp>
      <p:cxnSp>
        <p:nvCxnSpPr>
          <p:cNvPr id="499" name="decor-title-line"/>
          <p:cNvCxnSpPr/>
          <p:nvPr/>
        </p:nvCxnSpPr>
        <p:spPr>
          <a:xfrm>
            <a:off x="320040" y="932400"/>
            <a:ext cx="8505360" cy="1440"/>
          </a:xfrm>
          <a:prstGeom prst="straightConnector1">
            <a:avLst/>
          </a:prstGeom>
          <a:ln w="25400">
            <a:solidFill>
              <a:srgbClr val="F2A122"/>
            </a:solidFill>
            <a:round/>
          </a:ln>
        </p:spPr>
      </p:cxnSp>
      <p:sp>
        <p:nvSpPr>
          <p:cNvPr id="500"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501" name="content-stack"/>
          <p:cNvSpPr/>
          <p:nvPr/>
        </p:nvSpPr>
        <p:spPr>
          <a:xfrm>
            <a:off x="1005840" y="4069080"/>
            <a:ext cx="2924640" cy="36432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2" name="content-stack-label"/>
          <p:cNvSpPr/>
          <p:nvPr/>
        </p:nvSpPr>
        <p:spPr>
          <a:xfrm>
            <a:off x="1078920" y="4151520"/>
            <a:ext cx="2787480" cy="13572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100" b="1" u="none" strike="noStrike">
                <a:solidFill>
                  <a:srgbClr val="FFFFFF"/>
                </a:solidFill>
                <a:effectLst/>
                <a:uFillTx/>
                <a:latin typeface="Aptos"/>
              </a:rPr>
              <a:t>Natural language processing</a:t>
            </a:r>
            <a:endParaRPr lang="en-US" sz="1100" b="0" u="none" strike="noStrike">
              <a:solidFill>
                <a:srgbClr val="000000"/>
              </a:solidFill>
              <a:effectLst/>
              <a:uFillTx/>
              <a:latin typeface="Arial"/>
            </a:endParaRPr>
          </a:p>
        </p:txBody>
      </p:sp>
      <p:sp>
        <p:nvSpPr>
          <p:cNvPr id="503" name="content-stack"/>
          <p:cNvSpPr/>
          <p:nvPr/>
        </p:nvSpPr>
        <p:spPr>
          <a:xfrm>
            <a:off x="1005840" y="3566160"/>
            <a:ext cx="2924640" cy="364320"/>
          </a:xfrm>
          <a:prstGeom prst="roundRect">
            <a:avLst>
              <a:gd name="adj" fmla="val 16667"/>
            </a:avLst>
          </a:prstGeom>
          <a:solidFill>
            <a:srgbClr val="00897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4" name="content-stack-label"/>
          <p:cNvSpPr/>
          <p:nvPr/>
        </p:nvSpPr>
        <p:spPr>
          <a:xfrm>
            <a:off x="1078920" y="3648600"/>
            <a:ext cx="2787480" cy="13572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100" b="1" u="none" strike="noStrike">
                <a:solidFill>
                  <a:srgbClr val="FFFFFF"/>
                </a:solidFill>
                <a:effectLst/>
                <a:uFillTx/>
                <a:latin typeface="Aptos"/>
              </a:rPr>
              <a:t>Knowledge representation</a:t>
            </a:r>
            <a:endParaRPr lang="en-US" sz="1100" b="0" u="none" strike="noStrike">
              <a:solidFill>
                <a:srgbClr val="000000"/>
              </a:solidFill>
              <a:effectLst/>
              <a:uFillTx/>
              <a:latin typeface="Arial"/>
            </a:endParaRPr>
          </a:p>
        </p:txBody>
      </p:sp>
      <p:sp>
        <p:nvSpPr>
          <p:cNvPr id="505" name="content-stack"/>
          <p:cNvSpPr/>
          <p:nvPr/>
        </p:nvSpPr>
        <p:spPr>
          <a:xfrm>
            <a:off x="1005840" y="3063240"/>
            <a:ext cx="2924640" cy="364320"/>
          </a:xfrm>
          <a:prstGeom prst="roundRect">
            <a:avLst>
              <a:gd name="adj" fmla="val 16667"/>
            </a:avLst>
          </a:prstGeom>
          <a:solidFill>
            <a:srgbClr val="7452A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6" name="content-stack-label"/>
          <p:cNvSpPr/>
          <p:nvPr/>
        </p:nvSpPr>
        <p:spPr>
          <a:xfrm>
            <a:off x="1078920" y="3145680"/>
            <a:ext cx="2787480" cy="13572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100" b="1" u="none" strike="noStrike">
                <a:solidFill>
                  <a:srgbClr val="FFFFFF"/>
                </a:solidFill>
                <a:effectLst/>
                <a:uFillTx/>
                <a:latin typeface="Aptos"/>
              </a:rPr>
              <a:t>Automated reasoning</a:t>
            </a:r>
            <a:endParaRPr lang="en-US" sz="1100" b="0" u="none" strike="noStrike">
              <a:solidFill>
                <a:srgbClr val="000000"/>
              </a:solidFill>
              <a:effectLst/>
              <a:uFillTx/>
              <a:latin typeface="Arial"/>
            </a:endParaRPr>
          </a:p>
        </p:txBody>
      </p:sp>
      <p:sp>
        <p:nvSpPr>
          <p:cNvPr id="507" name="content-stack"/>
          <p:cNvSpPr/>
          <p:nvPr/>
        </p:nvSpPr>
        <p:spPr>
          <a:xfrm>
            <a:off x="1005840" y="2560320"/>
            <a:ext cx="2924640" cy="364320"/>
          </a:xfrm>
          <a:prstGeom prst="roundRect">
            <a:avLst>
              <a:gd name="adj" fmla="val 16667"/>
            </a:avLst>
          </a:prstGeom>
          <a:solidFill>
            <a:srgbClr val="4A9D5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8" name="content-stack-label"/>
          <p:cNvSpPr/>
          <p:nvPr/>
        </p:nvSpPr>
        <p:spPr>
          <a:xfrm>
            <a:off x="1078920" y="2642760"/>
            <a:ext cx="2787480" cy="13572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100" b="1" u="none" strike="noStrike">
                <a:solidFill>
                  <a:srgbClr val="FFFFFF"/>
                </a:solidFill>
                <a:effectLst/>
                <a:uFillTx/>
                <a:latin typeface="Aptos"/>
              </a:rPr>
              <a:t>Machine learning</a:t>
            </a:r>
            <a:endParaRPr lang="en-US" sz="1100" b="0" u="none" strike="noStrike">
              <a:solidFill>
                <a:srgbClr val="000000"/>
              </a:solidFill>
              <a:effectLst/>
              <a:uFillTx/>
              <a:latin typeface="Arial"/>
            </a:endParaRPr>
          </a:p>
        </p:txBody>
      </p:sp>
      <p:sp>
        <p:nvSpPr>
          <p:cNvPr id="509" name="content-stack"/>
          <p:cNvSpPr/>
          <p:nvPr/>
        </p:nvSpPr>
        <p:spPr>
          <a:xfrm>
            <a:off x="1005840" y="2057400"/>
            <a:ext cx="2924640" cy="364320"/>
          </a:xfrm>
          <a:prstGeom prst="roundRect">
            <a:avLst>
              <a:gd name="adj" fmla="val 16667"/>
            </a:avLst>
          </a:prstGeom>
          <a:solidFill>
            <a:srgbClr val="F2A122"/>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0" name="content-stack-label"/>
          <p:cNvSpPr/>
          <p:nvPr/>
        </p:nvSpPr>
        <p:spPr>
          <a:xfrm>
            <a:off x="1078920" y="2139840"/>
            <a:ext cx="2787480" cy="13572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3200" b="1" u="none" strike="noStrike">
                <a:solidFill>
                  <a:srgbClr val="FFFFFF"/>
                </a:solidFill>
                <a:effectLst/>
                <a:uFillTx/>
                <a:latin typeface="Aptos"/>
              </a:rPr>
              <a:t>Computer vision</a:t>
            </a:r>
            <a:endParaRPr lang="en-US" sz="3200" b="0" u="none" strike="noStrike">
              <a:solidFill>
                <a:srgbClr val="000000"/>
              </a:solidFill>
              <a:effectLst/>
              <a:uFillTx/>
              <a:latin typeface="Arial"/>
            </a:endParaRPr>
          </a:p>
        </p:txBody>
      </p:sp>
      <p:sp>
        <p:nvSpPr>
          <p:cNvPr id="511" name="content-stack"/>
          <p:cNvSpPr/>
          <p:nvPr/>
        </p:nvSpPr>
        <p:spPr>
          <a:xfrm>
            <a:off x="1005840" y="1554480"/>
            <a:ext cx="2924640" cy="364320"/>
          </a:xfrm>
          <a:prstGeom prst="roundRect">
            <a:avLst>
              <a:gd name="adj" fmla="val 16667"/>
            </a:avLst>
          </a:prstGeom>
          <a:solidFill>
            <a:srgbClr val="B73D3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2" name="content-stack-label"/>
          <p:cNvSpPr/>
          <p:nvPr/>
        </p:nvSpPr>
        <p:spPr>
          <a:xfrm>
            <a:off x="1078920" y="1636920"/>
            <a:ext cx="2787480" cy="13572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3200" b="1" u="none" strike="noStrike">
                <a:solidFill>
                  <a:srgbClr val="FFFFFF"/>
                </a:solidFill>
                <a:effectLst/>
                <a:uFillTx/>
                <a:latin typeface="Aptos"/>
              </a:rPr>
              <a:t>Robotics</a:t>
            </a:r>
            <a:endParaRPr lang="en-US" sz="3200" b="0" u="none" strike="noStrike">
              <a:solidFill>
                <a:srgbClr val="000000"/>
              </a:solidFill>
              <a:effectLst/>
              <a:uFillTx/>
              <a:latin typeface="Arial"/>
            </a:endParaRPr>
          </a:p>
        </p:txBody>
      </p:sp>
      <p:sp>
        <p:nvSpPr>
          <p:cNvPr id="513" name="content-written"/>
          <p:cNvSpPr/>
          <p:nvPr/>
        </p:nvSpPr>
        <p:spPr>
          <a:xfrm>
            <a:off x="4754880" y="1325880"/>
            <a:ext cx="2924640" cy="410040"/>
          </a:xfrm>
          <a:prstGeom prst="rect">
            <a:avLst/>
          </a:prstGeom>
          <a:solidFill>
            <a:srgbClr val="E7F3FB"/>
          </a:solidFill>
          <a:ln w="0">
            <a:solidFill>
              <a:srgbClr val="2084C9"/>
            </a:solidFill>
          </a:ln>
        </p:spPr>
        <p:style>
          <a:lnRef idx="0"/>
          <a:fillRef idx="0"/>
          <a:effectRef idx="0"/>
          <a:fontRef idx="minor"/>
        </p:style>
        <p:txBody>
          <a:bodyPr lIns="45720" tIns="45000" rIns="45720" bIns="45000" anchor="t">
            <a:normAutofit/>
          </a:bodyPr>
          <a:p>
            <a:pPr algn="ctr">
              <a:lnSpc>
                <a:spcPct val="100000"/>
              </a:lnSpc>
            </a:pPr>
            <a:r>
              <a:rPr lang="en-US" sz="1800" b="1" u="none" strike="noStrike">
                <a:solidFill>
                  <a:srgbClr val="091F3F"/>
                </a:solidFill>
                <a:effectLst/>
                <a:uFillTx/>
                <a:latin typeface="Aptos"/>
              </a:rPr>
              <a:t>Written Turing Test</a:t>
            </a:r>
            <a:endParaRPr lang="en-US" sz="1800" b="0" u="none" strike="noStrike">
              <a:solidFill>
                <a:srgbClr val="000000"/>
              </a:solidFill>
              <a:effectLst/>
              <a:uFillTx/>
              <a:latin typeface="Arial"/>
            </a:endParaRPr>
          </a:p>
        </p:txBody>
      </p:sp>
      <p:sp>
        <p:nvSpPr>
          <p:cNvPr id="514" name="content-total"/>
          <p:cNvSpPr/>
          <p:nvPr/>
        </p:nvSpPr>
        <p:spPr>
          <a:xfrm>
            <a:off x="4754880" y="2788920"/>
            <a:ext cx="2924640" cy="410040"/>
          </a:xfrm>
          <a:prstGeom prst="rect">
            <a:avLst/>
          </a:prstGeom>
          <a:solidFill>
            <a:srgbClr val="FFF4E0"/>
          </a:solidFill>
          <a:ln w="0">
            <a:solidFill>
              <a:srgbClr val="F2A122"/>
            </a:solidFill>
          </a:ln>
        </p:spPr>
        <p:style>
          <a:lnRef idx="0"/>
          <a:fillRef idx="0"/>
          <a:effectRef idx="0"/>
          <a:fontRef idx="minor"/>
        </p:style>
        <p:txBody>
          <a:bodyPr lIns="45720" tIns="45000" rIns="45720" bIns="45000" anchor="t">
            <a:normAutofit/>
          </a:bodyPr>
          <a:p>
            <a:pPr algn="ctr">
              <a:lnSpc>
                <a:spcPct val="100000"/>
              </a:lnSpc>
            </a:pPr>
            <a:r>
              <a:rPr lang="en-US" sz="1800" b="1" u="none" strike="noStrike">
                <a:solidFill>
                  <a:srgbClr val="091F3F"/>
                </a:solidFill>
                <a:effectLst/>
                <a:uFillTx/>
                <a:latin typeface="Aptos"/>
              </a:rPr>
              <a:t>Total Turing Test</a:t>
            </a:r>
            <a:endParaRPr lang="en-US" sz="1800" b="0" u="none" strike="noStrike">
              <a:solidFill>
                <a:srgbClr val="000000"/>
              </a:solidFill>
              <a:effectLst/>
              <a:uFillTx/>
              <a:latin typeface="Arial"/>
            </a:endParaRPr>
          </a:p>
        </p:txBody>
      </p:sp>
      <p:sp>
        <p:nvSpPr>
          <p:cNvPr id="515" name="content-total-detail"/>
          <p:cNvSpPr/>
          <p:nvPr/>
        </p:nvSpPr>
        <p:spPr>
          <a:xfrm>
            <a:off x="4956120" y="3273480"/>
            <a:ext cx="2513160" cy="22716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gn="ctr">
              <a:lnSpc>
                <a:spcPct val="100000"/>
              </a:lnSpc>
            </a:pPr>
            <a:r>
              <a:rPr lang="en-US" sz="1300" b="0" u="none" strike="noStrike">
                <a:solidFill>
                  <a:srgbClr val="1E1E1E"/>
                </a:solidFill>
                <a:effectLst/>
                <a:uFillTx/>
                <a:latin typeface="Aptos"/>
              </a:rPr>
              <a:t>Adds perception and physical action.</a:t>
            </a:r>
            <a:endParaRPr lang="en-US" sz="1300" b="0" u="none" strike="noStrike">
              <a:solidFill>
                <a:srgbClr val="000000"/>
              </a:solidFill>
              <a:effectLst/>
              <a:uFillTx/>
              <a:latin typeface="Arial"/>
            </a:endParaRPr>
          </a:p>
        </p:txBody>
      </p:sp>
      <p:sp>
        <p:nvSpPr>
          <p:cNvPr id="516" name="content-note"/>
          <p:cNvSpPr/>
          <p:nvPr/>
        </p:nvSpPr>
        <p:spPr>
          <a:xfrm>
            <a:off x="685800" y="1005840"/>
            <a:ext cx="7862400" cy="2545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gn="ctr">
              <a:lnSpc>
                <a:spcPct val="100000"/>
              </a:lnSpc>
            </a:pPr>
            <a:r>
              <a:rPr lang="en-US" sz="1400" b="0" u="none" strike="noStrike">
                <a:solidFill>
                  <a:srgbClr val="5A6473"/>
                </a:solidFill>
                <a:effectLst/>
                <a:uFillTx/>
                <a:latin typeface="Aptos"/>
              </a:rPr>
              <a:t>Key teaching point: Turing proposed a test of behavior, not a full theory of intelligence.</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8"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519"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The rational-agent design loop</a:t>
            </a:r>
            <a:endParaRPr lang="en-US" sz="2400" b="0" u="none" strike="noStrike">
              <a:solidFill>
                <a:srgbClr val="000000"/>
              </a:solidFill>
              <a:effectLst/>
              <a:uFillTx/>
              <a:latin typeface="Arial"/>
            </a:endParaRPr>
          </a:p>
        </p:txBody>
      </p:sp>
      <p:sp>
        <p:nvSpPr>
          <p:cNvPr id="520"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The central engineering question: what action should be chosen now?</a:t>
            </a:r>
            <a:endParaRPr lang="en-US" sz="1150" b="0" u="none" strike="noStrike">
              <a:solidFill>
                <a:srgbClr val="000000"/>
              </a:solidFill>
              <a:effectLst/>
              <a:uFillTx/>
              <a:latin typeface="Arial"/>
            </a:endParaRPr>
          </a:p>
        </p:txBody>
      </p:sp>
      <p:cxnSp>
        <p:nvCxnSpPr>
          <p:cNvPr id="521" name="decor-title-line"/>
          <p:cNvCxnSpPr/>
          <p:nvPr/>
        </p:nvCxnSpPr>
        <p:spPr>
          <a:xfrm>
            <a:off x="320040" y="932400"/>
            <a:ext cx="8505360" cy="1440"/>
          </a:xfrm>
          <a:prstGeom prst="straightConnector1">
            <a:avLst/>
          </a:prstGeom>
          <a:ln w="25400">
            <a:solidFill>
              <a:srgbClr val="F2A122"/>
            </a:solidFill>
            <a:round/>
          </a:ln>
        </p:spPr>
      </p:cxnSp>
      <p:sp>
        <p:nvSpPr>
          <p:cNvPr id="522"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cxnSp>
        <p:nvCxnSpPr>
          <p:cNvPr id="523" name="content-connector"/>
          <p:cNvCxnSpPr/>
          <p:nvPr/>
        </p:nvCxnSpPr>
        <p:spPr>
          <a:xfrm>
            <a:off x="1828800" y="2103120"/>
            <a:ext cx="1007280" cy="1440"/>
          </a:xfrm>
          <a:prstGeom prst="straightConnector1">
            <a:avLst/>
          </a:prstGeom>
          <a:ln w="25400">
            <a:solidFill>
              <a:srgbClr val="5A6473"/>
            </a:solidFill>
            <a:round/>
          </a:ln>
        </p:spPr>
      </p:cxnSp>
      <p:cxnSp>
        <p:nvCxnSpPr>
          <p:cNvPr id="524" name="content-connector"/>
          <p:cNvCxnSpPr/>
          <p:nvPr/>
        </p:nvCxnSpPr>
        <p:spPr>
          <a:xfrm>
            <a:off x="3886200" y="2103120"/>
            <a:ext cx="1007280" cy="1440"/>
          </a:xfrm>
          <a:prstGeom prst="straightConnector1">
            <a:avLst/>
          </a:prstGeom>
          <a:ln w="25400">
            <a:solidFill>
              <a:srgbClr val="5A6473"/>
            </a:solidFill>
            <a:round/>
          </a:ln>
        </p:spPr>
      </p:cxnSp>
      <p:cxnSp>
        <p:nvCxnSpPr>
          <p:cNvPr id="525" name="content-connector"/>
          <p:cNvCxnSpPr/>
          <p:nvPr/>
        </p:nvCxnSpPr>
        <p:spPr>
          <a:xfrm>
            <a:off x="6080760" y="2103120"/>
            <a:ext cx="1007280" cy="1440"/>
          </a:xfrm>
          <a:prstGeom prst="straightConnector1">
            <a:avLst/>
          </a:prstGeom>
          <a:ln w="25400">
            <a:solidFill>
              <a:srgbClr val="5A6473"/>
            </a:solidFill>
            <a:round/>
          </a:ln>
        </p:spPr>
      </p:cxnSp>
      <p:cxnSp>
        <p:nvCxnSpPr>
          <p:cNvPr id="526" name="content-connector"/>
          <p:cNvCxnSpPr/>
          <p:nvPr/>
        </p:nvCxnSpPr>
        <p:spPr>
          <a:xfrm flipH="1">
            <a:off x="3291840" y="2743200"/>
            <a:ext cx="1830240" cy="1440"/>
          </a:xfrm>
          <a:prstGeom prst="straightConnector1">
            <a:avLst/>
          </a:prstGeom>
          <a:ln w="19050">
            <a:solidFill>
              <a:srgbClr val="5A6473"/>
            </a:solidFill>
            <a:round/>
          </a:ln>
        </p:spPr>
      </p:cxnSp>
      <p:sp>
        <p:nvSpPr>
          <p:cNvPr id="527" name="content-node"/>
          <p:cNvSpPr/>
          <p:nvPr/>
        </p:nvSpPr>
        <p:spPr>
          <a:xfrm>
            <a:off x="685800" y="1691640"/>
            <a:ext cx="1187280" cy="77580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28" name="content-node-text"/>
          <p:cNvSpPr/>
          <p:nvPr/>
        </p:nvSpPr>
        <p:spPr>
          <a:xfrm>
            <a:off x="722520" y="1920240"/>
            <a:ext cx="111420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200" b="1" u="none" strike="noStrike">
                <a:solidFill>
                  <a:srgbClr val="FFFFFF"/>
                </a:solidFill>
                <a:effectLst/>
                <a:uFillTx/>
                <a:latin typeface="Aptos"/>
              </a:rPr>
              <a:t>Percepts</a:t>
            </a:r>
            <a:endParaRPr lang="en-US" sz="1200" b="0" u="none" strike="noStrike">
              <a:solidFill>
                <a:srgbClr val="000000"/>
              </a:solidFill>
              <a:effectLst/>
              <a:uFillTx/>
              <a:latin typeface="Arial"/>
            </a:endParaRPr>
          </a:p>
        </p:txBody>
      </p:sp>
      <p:sp>
        <p:nvSpPr>
          <p:cNvPr id="529" name="content-node"/>
          <p:cNvSpPr/>
          <p:nvPr/>
        </p:nvSpPr>
        <p:spPr>
          <a:xfrm>
            <a:off x="2788920" y="1691640"/>
            <a:ext cx="1324440" cy="775800"/>
          </a:xfrm>
          <a:prstGeom prst="roundRect">
            <a:avLst>
              <a:gd name="adj" fmla="val 16667"/>
            </a:avLst>
          </a:prstGeom>
          <a:solidFill>
            <a:srgbClr val="091F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30" name="content-node-text"/>
          <p:cNvSpPr/>
          <p:nvPr/>
        </p:nvSpPr>
        <p:spPr>
          <a:xfrm>
            <a:off x="2825640" y="1920240"/>
            <a:ext cx="1251360" cy="16308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gn="ctr">
              <a:lnSpc>
                <a:spcPct val="100000"/>
              </a:lnSpc>
            </a:pPr>
            <a:r>
              <a:rPr lang="en-US" sz="1100" b="1" u="none" strike="noStrike">
                <a:solidFill>
                  <a:srgbClr val="FFFFFF"/>
                </a:solidFill>
                <a:effectLst/>
                <a:uFillTx/>
                <a:latin typeface="Aptos"/>
              </a:rPr>
              <a:t>Agent program</a:t>
            </a:r>
            <a:endParaRPr lang="en-US" sz="1100" b="0" u="none" strike="noStrike">
              <a:solidFill>
                <a:srgbClr val="000000"/>
              </a:solidFill>
              <a:effectLst/>
              <a:uFillTx/>
              <a:latin typeface="Arial"/>
            </a:endParaRPr>
          </a:p>
        </p:txBody>
      </p:sp>
      <p:sp>
        <p:nvSpPr>
          <p:cNvPr id="531" name="content-node"/>
          <p:cNvSpPr/>
          <p:nvPr/>
        </p:nvSpPr>
        <p:spPr>
          <a:xfrm>
            <a:off x="4892040" y="1691640"/>
            <a:ext cx="1187280" cy="775800"/>
          </a:xfrm>
          <a:prstGeom prst="roundRect">
            <a:avLst>
              <a:gd name="adj" fmla="val 16667"/>
            </a:avLst>
          </a:prstGeom>
          <a:solidFill>
            <a:srgbClr val="4A9D5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32" name="content-node-text"/>
          <p:cNvSpPr/>
          <p:nvPr/>
        </p:nvSpPr>
        <p:spPr>
          <a:xfrm>
            <a:off x="4928760" y="1920240"/>
            <a:ext cx="111420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200" b="1" u="none" strike="noStrike">
                <a:solidFill>
                  <a:srgbClr val="FFFFFF"/>
                </a:solidFill>
                <a:effectLst/>
                <a:uFillTx/>
                <a:latin typeface="Aptos"/>
              </a:rPr>
              <a:t>Actions</a:t>
            </a:r>
            <a:endParaRPr lang="en-US" sz="1200" b="0" u="none" strike="noStrike">
              <a:solidFill>
                <a:srgbClr val="000000"/>
              </a:solidFill>
              <a:effectLst/>
              <a:uFillTx/>
              <a:latin typeface="Arial"/>
            </a:endParaRPr>
          </a:p>
        </p:txBody>
      </p:sp>
      <p:sp>
        <p:nvSpPr>
          <p:cNvPr id="533" name="content-node"/>
          <p:cNvSpPr/>
          <p:nvPr/>
        </p:nvSpPr>
        <p:spPr>
          <a:xfrm>
            <a:off x="7086600" y="1691640"/>
            <a:ext cx="1324440" cy="775800"/>
          </a:xfrm>
          <a:prstGeom prst="roundRect">
            <a:avLst>
              <a:gd name="adj" fmla="val 16667"/>
            </a:avLst>
          </a:prstGeom>
          <a:solidFill>
            <a:srgbClr val="F2A122"/>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34" name="content-node-text"/>
          <p:cNvSpPr/>
          <p:nvPr/>
        </p:nvSpPr>
        <p:spPr>
          <a:xfrm>
            <a:off x="7123320" y="1920240"/>
            <a:ext cx="12513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200" b="1" u="none" strike="noStrike">
                <a:solidFill>
                  <a:srgbClr val="FFFFFF"/>
                </a:solidFill>
                <a:effectLst/>
                <a:uFillTx/>
                <a:latin typeface="Aptos"/>
              </a:rPr>
              <a:t>Environment</a:t>
            </a:r>
            <a:endParaRPr lang="en-US" sz="1200" b="0" u="none" strike="noStrike">
              <a:solidFill>
                <a:srgbClr val="000000"/>
              </a:solidFill>
              <a:effectLst/>
              <a:uFillTx/>
              <a:latin typeface="Arial"/>
            </a:endParaRPr>
          </a:p>
        </p:txBody>
      </p:sp>
      <p:sp>
        <p:nvSpPr>
          <p:cNvPr id="535" name="content-node"/>
          <p:cNvSpPr/>
          <p:nvPr/>
        </p:nvSpPr>
        <p:spPr>
          <a:xfrm>
            <a:off x="3063240" y="3154680"/>
            <a:ext cx="2970360" cy="501480"/>
          </a:xfrm>
          <a:prstGeom prst="roundRect">
            <a:avLst>
              <a:gd name="adj" fmla="val 16667"/>
            </a:avLst>
          </a:prstGeom>
          <a:solidFill>
            <a:srgbClr val="7452A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36" name="content-node-text"/>
          <p:cNvSpPr/>
          <p:nvPr/>
        </p:nvSpPr>
        <p:spPr>
          <a:xfrm>
            <a:off x="3099960" y="3300840"/>
            <a:ext cx="2897280" cy="16308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gn="ctr">
              <a:lnSpc>
                <a:spcPct val="100000"/>
              </a:lnSpc>
            </a:pPr>
            <a:r>
              <a:rPr lang="en-US" sz="1100" b="1" u="none" strike="noStrike">
                <a:solidFill>
                  <a:srgbClr val="FFFFFF"/>
                </a:solidFill>
                <a:effectLst/>
                <a:uFillTx/>
                <a:latin typeface="Aptos"/>
              </a:rPr>
              <a:t>Performance measure</a:t>
            </a:r>
            <a:endParaRPr lang="en-US" sz="1100" b="0" u="none" strike="noStrike">
              <a:solidFill>
                <a:srgbClr val="000000"/>
              </a:solidFill>
              <a:effectLst/>
              <a:uFillTx/>
              <a:latin typeface="Arial"/>
            </a:endParaRPr>
          </a:p>
        </p:txBody>
      </p:sp>
      <p:sp>
        <p:nvSpPr>
          <p:cNvPr id="537" name="content-bottom"/>
          <p:cNvSpPr/>
          <p:nvPr/>
        </p:nvSpPr>
        <p:spPr>
          <a:xfrm>
            <a:off x="1097280" y="4069080"/>
            <a:ext cx="6948000" cy="29124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gn="ctr">
              <a:lnSpc>
                <a:spcPct val="100000"/>
              </a:lnSpc>
            </a:pPr>
            <a:r>
              <a:rPr lang="en-US" sz="1500" b="1" u="none" strike="noStrike">
                <a:solidFill>
                  <a:srgbClr val="091F3F"/>
                </a:solidFill>
                <a:effectLst/>
                <a:uFillTx/>
                <a:latin typeface="Aptos"/>
              </a:rPr>
              <a:t>Rationality is local to what the agent has perceived and what actions are available.</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8"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39"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540"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The standard model: objective → optimization</a:t>
            </a:r>
            <a:endParaRPr lang="en-US" sz="2400" b="0" u="none" strike="noStrike">
              <a:solidFill>
                <a:srgbClr val="000000"/>
              </a:solidFill>
              <a:effectLst/>
              <a:uFillTx/>
              <a:latin typeface="Arial"/>
            </a:endParaRPr>
          </a:p>
        </p:txBody>
      </p:sp>
      <p:sp>
        <p:nvSpPr>
          <p:cNvPr id="541"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Powerful agents amplify both good objectives and bad objectives.</a:t>
            </a:r>
            <a:endParaRPr lang="en-US" sz="1150" b="0" u="none" strike="noStrike">
              <a:solidFill>
                <a:srgbClr val="000000"/>
              </a:solidFill>
              <a:effectLst/>
              <a:uFillTx/>
              <a:latin typeface="Arial"/>
            </a:endParaRPr>
          </a:p>
        </p:txBody>
      </p:sp>
      <p:cxnSp>
        <p:nvCxnSpPr>
          <p:cNvPr id="542" name="decor-title-line"/>
          <p:cNvCxnSpPr/>
          <p:nvPr/>
        </p:nvCxnSpPr>
        <p:spPr>
          <a:xfrm>
            <a:off x="320040" y="932400"/>
            <a:ext cx="8505360" cy="1440"/>
          </a:xfrm>
          <a:prstGeom prst="straightConnector1">
            <a:avLst/>
          </a:prstGeom>
          <a:ln w="25400">
            <a:solidFill>
              <a:srgbClr val="F2A122"/>
            </a:solidFill>
            <a:round/>
          </a:ln>
        </p:spPr>
      </p:cxnSp>
      <p:sp>
        <p:nvSpPr>
          <p:cNvPr id="543"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cxnSp>
        <p:nvCxnSpPr>
          <p:cNvPr id="544" name="content-connector"/>
          <p:cNvCxnSpPr/>
          <p:nvPr/>
        </p:nvCxnSpPr>
        <p:spPr>
          <a:xfrm>
            <a:off x="1280160" y="2423160"/>
            <a:ext cx="1601640" cy="1440"/>
          </a:xfrm>
          <a:prstGeom prst="straightConnector1">
            <a:avLst/>
          </a:prstGeom>
          <a:ln w="25400">
            <a:solidFill>
              <a:srgbClr val="5A6473"/>
            </a:solidFill>
            <a:round/>
          </a:ln>
        </p:spPr>
      </p:cxnSp>
      <p:cxnSp>
        <p:nvCxnSpPr>
          <p:cNvPr id="545" name="content-connector"/>
          <p:cNvCxnSpPr/>
          <p:nvPr/>
        </p:nvCxnSpPr>
        <p:spPr>
          <a:xfrm>
            <a:off x="4069080" y="2423160"/>
            <a:ext cx="1601640" cy="1440"/>
          </a:xfrm>
          <a:prstGeom prst="straightConnector1">
            <a:avLst/>
          </a:prstGeom>
          <a:ln w="25400">
            <a:solidFill>
              <a:srgbClr val="5A6473"/>
            </a:solidFill>
            <a:round/>
          </a:ln>
        </p:spPr>
      </p:cxnSp>
      <p:cxnSp>
        <p:nvCxnSpPr>
          <p:cNvPr id="546" name="content-connector"/>
          <p:cNvCxnSpPr/>
          <p:nvPr/>
        </p:nvCxnSpPr>
        <p:spPr>
          <a:xfrm>
            <a:off x="6858000" y="2423160"/>
            <a:ext cx="1326960" cy="1440"/>
          </a:xfrm>
          <a:prstGeom prst="straightConnector1">
            <a:avLst/>
          </a:prstGeom>
          <a:ln w="25400">
            <a:solidFill>
              <a:srgbClr val="5A6473"/>
            </a:solidFill>
            <a:round/>
          </a:ln>
        </p:spPr>
      </p:cxnSp>
      <p:sp>
        <p:nvSpPr>
          <p:cNvPr id="547" name="content-node"/>
          <p:cNvSpPr/>
          <p:nvPr/>
        </p:nvSpPr>
        <p:spPr>
          <a:xfrm>
            <a:off x="502920" y="2057400"/>
            <a:ext cx="1415880" cy="63864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48" name="content-node-text"/>
          <p:cNvSpPr/>
          <p:nvPr/>
        </p:nvSpPr>
        <p:spPr>
          <a:xfrm>
            <a:off x="530280" y="2286000"/>
            <a:ext cx="13611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150" b="1" u="none" strike="noStrike">
                <a:solidFill>
                  <a:srgbClr val="FFFFFF"/>
                </a:solidFill>
                <a:effectLst/>
                <a:uFillTx/>
                <a:latin typeface="Aptos"/>
              </a:rPr>
              <a:t>Objective</a:t>
            </a:r>
            <a:endParaRPr lang="en-US" sz="1150" b="0" u="none" strike="noStrike">
              <a:solidFill>
                <a:srgbClr val="000000"/>
              </a:solidFill>
              <a:effectLst/>
              <a:uFillTx/>
              <a:latin typeface="Arial"/>
            </a:endParaRPr>
          </a:p>
        </p:txBody>
      </p:sp>
      <p:sp>
        <p:nvSpPr>
          <p:cNvPr id="549" name="content-node"/>
          <p:cNvSpPr/>
          <p:nvPr/>
        </p:nvSpPr>
        <p:spPr>
          <a:xfrm>
            <a:off x="2834640" y="2057400"/>
            <a:ext cx="1415880" cy="638640"/>
          </a:xfrm>
          <a:prstGeom prst="roundRect">
            <a:avLst>
              <a:gd name="adj" fmla="val 16667"/>
            </a:avLst>
          </a:prstGeom>
          <a:solidFill>
            <a:srgbClr val="7452A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50" name="content-node-text"/>
          <p:cNvSpPr/>
          <p:nvPr/>
        </p:nvSpPr>
        <p:spPr>
          <a:xfrm>
            <a:off x="2862000" y="2286000"/>
            <a:ext cx="13611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150" b="1" u="none" strike="noStrike">
                <a:solidFill>
                  <a:srgbClr val="FFFFFF"/>
                </a:solidFill>
                <a:effectLst/>
                <a:uFillTx/>
                <a:latin typeface="Aptos"/>
              </a:rPr>
              <a:t>Optimizer</a:t>
            </a:r>
            <a:endParaRPr lang="en-US" sz="1150" b="0" u="none" strike="noStrike">
              <a:solidFill>
                <a:srgbClr val="000000"/>
              </a:solidFill>
              <a:effectLst/>
              <a:uFillTx/>
              <a:latin typeface="Arial"/>
            </a:endParaRPr>
          </a:p>
        </p:txBody>
      </p:sp>
      <p:sp>
        <p:nvSpPr>
          <p:cNvPr id="551" name="content-node"/>
          <p:cNvSpPr/>
          <p:nvPr/>
        </p:nvSpPr>
        <p:spPr>
          <a:xfrm>
            <a:off x="5440680" y="2057400"/>
            <a:ext cx="1415880" cy="638640"/>
          </a:xfrm>
          <a:prstGeom prst="roundRect">
            <a:avLst>
              <a:gd name="adj" fmla="val 16667"/>
            </a:avLst>
          </a:prstGeom>
          <a:solidFill>
            <a:srgbClr val="4A9D5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52" name="content-node-text"/>
          <p:cNvSpPr/>
          <p:nvPr/>
        </p:nvSpPr>
        <p:spPr>
          <a:xfrm>
            <a:off x="5468040" y="2286000"/>
            <a:ext cx="13611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150" b="1" u="none" strike="noStrike">
                <a:solidFill>
                  <a:srgbClr val="FFFFFF"/>
                </a:solidFill>
                <a:effectLst/>
                <a:uFillTx/>
                <a:latin typeface="Aptos"/>
              </a:rPr>
              <a:t>Actions</a:t>
            </a:r>
            <a:endParaRPr lang="en-US" sz="1150" b="0" u="none" strike="noStrike">
              <a:solidFill>
                <a:srgbClr val="000000"/>
              </a:solidFill>
              <a:effectLst/>
              <a:uFillTx/>
              <a:latin typeface="Arial"/>
            </a:endParaRPr>
          </a:p>
        </p:txBody>
      </p:sp>
      <p:sp>
        <p:nvSpPr>
          <p:cNvPr id="553" name="content-node"/>
          <p:cNvSpPr/>
          <p:nvPr/>
        </p:nvSpPr>
        <p:spPr>
          <a:xfrm>
            <a:off x="7315200" y="2057400"/>
            <a:ext cx="1415880" cy="638640"/>
          </a:xfrm>
          <a:prstGeom prst="roundRect">
            <a:avLst>
              <a:gd name="adj" fmla="val 16667"/>
            </a:avLst>
          </a:prstGeom>
          <a:solidFill>
            <a:srgbClr val="F2A122"/>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54" name="content-node-text"/>
          <p:cNvSpPr/>
          <p:nvPr/>
        </p:nvSpPr>
        <p:spPr>
          <a:xfrm>
            <a:off x="7342560" y="2286000"/>
            <a:ext cx="13611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150" b="1" u="none" strike="noStrike">
                <a:solidFill>
                  <a:srgbClr val="FFFFFF"/>
                </a:solidFill>
                <a:effectLst/>
                <a:uFillTx/>
                <a:latin typeface="Aptos"/>
              </a:rPr>
              <a:t>World impact</a:t>
            </a:r>
            <a:endParaRPr lang="en-US" sz="1150" b="0" u="none" strike="noStrike">
              <a:solidFill>
                <a:srgbClr val="000000"/>
              </a:solidFill>
              <a:effectLst/>
              <a:uFillTx/>
              <a:latin typeface="Arial"/>
            </a:endParaRPr>
          </a:p>
        </p:txBody>
      </p:sp>
      <p:sp>
        <p:nvSpPr>
          <p:cNvPr id="555" name="content-fail-title"/>
          <p:cNvSpPr/>
          <p:nvPr/>
        </p:nvSpPr>
        <p:spPr>
          <a:xfrm>
            <a:off x="3520440" y="3246120"/>
            <a:ext cx="2101680" cy="2912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gn="ctr">
              <a:lnSpc>
                <a:spcPct val="100000"/>
              </a:lnSpc>
            </a:pPr>
            <a:r>
              <a:rPr lang="en-US" sz="1800" b="1" u="none" strike="noStrike">
                <a:solidFill>
                  <a:srgbClr val="B73D3B"/>
                </a:solidFill>
                <a:effectLst/>
                <a:uFillTx/>
                <a:latin typeface="Aptos"/>
              </a:rPr>
              <a:t>Failure mode</a:t>
            </a:r>
            <a:endParaRPr lang="en-US" sz="1800" b="0" u="none" strike="noStrike">
              <a:solidFill>
                <a:srgbClr val="000000"/>
              </a:solidFill>
              <a:effectLst/>
              <a:uFillTx/>
              <a:latin typeface="Arial"/>
            </a:endParaRPr>
          </a:p>
        </p:txBody>
      </p:sp>
      <p:sp>
        <p:nvSpPr>
          <p:cNvPr id="556" name="content-fail"/>
          <p:cNvSpPr/>
          <p:nvPr/>
        </p:nvSpPr>
        <p:spPr>
          <a:xfrm>
            <a:off x="1325880" y="3611880"/>
            <a:ext cx="6582240" cy="43740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gn="ctr">
              <a:lnSpc>
                <a:spcPct val="100000"/>
              </a:lnSpc>
            </a:pPr>
            <a:r>
              <a:rPr lang="en-US" sz="1500" b="0" u="none" strike="noStrike">
                <a:solidFill>
                  <a:srgbClr val="1E1E1E"/>
                </a:solidFill>
                <a:effectLst/>
                <a:uFillTx/>
                <a:latin typeface="Aptos"/>
              </a:rPr>
              <a:t>When the objective is only a proxy for what humans actually value, optimization can produce unintended behavior.</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58"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559"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Alignment starts with tiny examples</a:t>
            </a:r>
            <a:endParaRPr lang="en-US" sz="2400" b="0" u="none" strike="noStrike">
              <a:solidFill>
                <a:srgbClr val="000000"/>
              </a:solidFill>
              <a:effectLst/>
              <a:uFillTx/>
              <a:latin typeface="Arial"/>
            </a:endParaRPr>
          </a:p>
        </p:txBody>
      </p:sp>
      <p:sp>
        <p:nvSpPr>
          <p:cNvPr id="560"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The vacuum world shows why measuring the right thing matters.</a:t>
            </a:r>
            <a:endParaRPr lang="en-US" sz="1150" b="0" u="none" strike="noStrike">
              <a:solidFill>
                <a:srgbClr val="000000"/>
              </a:solidFill>
              <a:effectLst/>
              <a:uFillTx/>
              <a:latin typeface="Arial"/>
            </a:endParaRPr>
          </a:p>
        </p:txBody>
      </p:sp>
      <p:cxnSp>
        <p:nvCxnSpPr>
          <p:cNvPr id="561" name="decor-title-line"/>
          <p:cNvCxnSpPr/>
          <p:nvPr/>
        </p:nvCxnSpPr>
        <p:spPr>
          <a:xfrm>
            <a:off x="320040" y="932400"/>
            <a:ext cx="8505360" cy="1440"/>
          </a:xfrm>
          <a:prstGeom prst="straightConnector1">
            <a:avLst/>
          </a:prstGeom>
          <a:ln w="25400">
            <a:solidFill>
              <a:srgbClr val="F2A122"/>
            </a:solidFill>
            <a:round/>
          </a:ln>
        </p:spPr>
      </p:cxnSp>
      <p:sp>
        <p:nvSpPr>
          <p:cNvPr id="562"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563" name="content-card"/>
          <p:cNvSpPr/>
          <p:nvPr/>
        </p:nvSpPr>
        <p:spPr>
          <a:xfrm>
            <a:off x="685800" y="1234440"/>
            <a:ext cx="3747600" cy="1415880"/>
          </a:xfrm>
          <a:prstGeom prst="roundRect">
            <a:avLst>
              <a:gd name="adj" fmla="val 16667"/>
            </a:avLst>
          </a:prstGeom>
          <a:solidFill>
            <a:srgbClr val="FFEEEE"/>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64" name="decor-card-accent"/>
          <p:cNvSpPr/>
          <p:nvPr/>
        </p:nvSpPr>
        <p:spPr>
          <a:xfrm>
            <a:off x="685800" y="1234440"/>
            <a:ext cx="71640" cy="1415880"/>
          </a:xfrm>
          <a:prstGeom prst="rect">
            <a:avLst/>
          </a:prstGeom>
          <a:solidFill>
            <a:srgbClr val="B73D3B"/>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565" name="content-card-title"/>
          <p:cNvSpPr/>
          <p:nvPr/>
        </p:nvSpPr>
        <p:spPr>
          <a:xfrm>
            <a:off x="850320" y="1344240"/>
            <a:ext cx="349164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Bad performance measure</a:t>
            </a:r>
            <a:endParaRPr lang="en-US" sz="1250" b="0" u="none" strike="noStrike">
              <a:solidFill>
                <a:srgbClr val="000000"/>
              </a:solidFill>
              <a:effectLst/>
              <a:uFillTx/>
              <a:latin typeface="Arial"/>
            </a:endParaRPr>
          </a:p>
        </p:txBody>
      </p:sp>
      <p:sp>
        <p:nvSpPr>
          <p:cNvPr id="566" name="content-card-body"/>
          <p:cNvSpPr/>
          <p:nvPr/>
        </p:nvSpPr>
        <p:spPr>
          <a:xfrm>
            <a:off x="850320" y="1673280"/>
            <a:ext cx="3491640" cy="91296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Reward: amount of dirt sucked up.</a:t>
            </a:r>
            <a:br>
              <a:rPr sz="1300"/>
            </a:br>
            <a:r>
              <a:rPr lang="en-US" sz="1300" b="0" u="none" strike="noStrike">
                <a:solidFill>
                  <a:srgbClr val="1E1E1E"/>
                </a:solidFill>
                <a:effectLst/>
                <a:uFillTx/>
                <a:latin typeface="Aptos"/>
              </a:rPr>
              <a:t>Problem: the rational agent may dump dirt and clean it repeatedly.</a:t>
            </a:r>
            <a:endParaRPr lang="en-US" sz="1300" b="0" u="none" strike="noStrike">
              <a:solidFill>
                <a:srgbClr val="000000"/>
              </a:solidFill>
              <a:effectLst/>
              <a:uFillTx/>
              <a:latin typeface="Arial"/>
            </a:endParaRPr>
          </a:p>
        </p:txBody>
      </p:sp>
      <p:sp>
        <p:nvSpPr>
          <p:cNvPr id="567" name="content-card"/>
          <p:cNvSpPr/>
          <p:nvPr/>
        </p:nvSpPr>
        <p:spPr>
          <a:xfrm>
            <a:off x="4709160" y="1234440"/>
            <a:ext cx="3747600" cy="1415880"/>
          </a:xfrm>
          <a:prstGeom prst="roundRect">
            <a:avLst>
              <a:gd name="adj" fmla="val 16667"/>
            </a:avLst>
          </a:prstGeom>
          <a:solidFill>
            <a:srgbClr val="EDF8F4"/>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68" name="decor-card-accent"/>
          <p:cNvSpPr/>
          <p:nvPr/>
        </p:nvSpPr>
        <p:spPr>
          <a:xfrm>
            <a:off x="4709160" y="1234440"/>
            <a:ext cx="71640" cy="141588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569" name="content-card-title"/>
          <p:cNvSpPr/>
          <p:nvPr/>
        </p:nvSpPr>
        <p:spPr>
          <a:xfrm>
            <a:off x="4873680" y="1344240"/>
            <a:ext cx="349164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Better performance measure</a:t>
            </a:r>
            <a:endParaRPr lang="en-US" sz="1250" b="0" u="none" strike="noStrike">
              <a:solidFill>
                <a:srgbClr val="000000"/>
              </a:solidFill>
              <a:effectLst/>
              <a:uFillTx/>
              <a:latin typeface="Arial"/>
            </a:endParaRPr>
          </a:p>
        </p:txBody>
      </p:sp>
      <p:sp>
        <p:nvSpPr>
          <p:cNvPr id="570" name="content-card-body"/>
          <p:cNvSpPr/>
          <p:nvPr/>
        </p:nvSpPr>
        <p:spPr>
          <a:xfrm>
            <a:off x="4873680" y="1673280"/>
            <a:ext cx="3491640" cy="91296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Reward: clean squares over time.</a:t>
            </a:r>
            <a:br>
              <a:rPr sz="1300"/>
            </a:br>
            <a:r>
              <a:rPr lang="en-US" sz="1300" b="0" u="none" strike="noStrike">
                <a:solidFill>
                  <a:srgbClr val="1E1E1E"/>
                </a:solidFill>
                <a:effectLst/>
                <a:uFillTx/>
                <a:latin typeface="Aptos"/>
              </a:rPr>
              <a:t>Optional penalties: movement, noise, energy, damage, time.</a:t>
            </a:r>
            <a:endParaRPr lang="en-US" sz="1300" b="0" u="none" strike="noStrike">
              <a:solidFill>
                <a:srgbClr val="000000"/>
              </a:solidFill>
              <a:effectLst/>
              <a:uFillTx/>
              <a:latin typeface="Arial"/>
            </a:endParaRPr>
          </a:p>
        </p:txBody>
      </p:sp>
      <p:sp>
        <p:nvSpPr>
          <p:cNvPr id="571" name="content-rule-title"/>
          <p:cNvSpPr/>
          <p:nvPr/>
        </p:nvSpPr>
        <p:spPr>
          <a:xfrm>
            <a:off x="3063240" y="3154680"/>
            <a:ext cx="3016080" cy="272880"/>
          </a:xfrm>
          <a:prstGeom prst="rect">
            <a:avLst/>
          </a:prstGeom>
          <a:solidFill>
            <a:srgbClr val="091F3F"/>
          </a:solidFill>
          <a:ln w="0">
            <a:solidFill>
              <a:srgbClr val="091F3F"/>
            </a:solidFill>
          </a:ln>
        </p:spPr>
        <p:style>
          <a:lnRef idx="0"/>
          <a:fillRef idx="0"/>
          <a:effectRef idx="0"/>
          <a:fontRef idx="minor"/>
        </p:style>
        <p:txBody>
          <a:bodyPr lIns="36720" tIns="36720" rIns="36720" bIns="36720" anchor="t">
            <a:normAutofit fontScale="85000" lnSpcReduction="19999"/>
          </a:bodyPr>
          <a:p>
            <a:pPr algn="ctr">
              <a:lnSpc>
                <a:spcPct val="100000"/>
              </a:lnSpc>
            </a:pPr>
            <a:r>
              <a:rPr lang="en-US" sz="1800" b="1" u="none" strike="noStrike">
                <a:solidFill>
                  <a:srgbClr val="FFFFFF"/>
                </a:solidFill>
                <a:effectLst/>
                <a:uFillTx/>
                <a:latin typeface="Aptos"/>
              </a:rPr>
              <a:t>Design rule</a:t>
            </a:r>
            <a:endParaRPr lang="en-US" sz="1800" b="0" u="none" strike="noStrike">
              <a:solidFill>
                <a:srgbClr val="FFFFFF"/>
              </a:solidFill>
              <a:effectLst/>
              <a:uFillTx/>
              <a:latin typeface="Arial"/>
            </a:endParaRPr>
          </a:p>
        </p:txBody>
      </p:sp>
      <p:sp>
        <p:nvSpPr>
          <p:cNvPr id="572" name="content-rule"/>
          <p:cNvSpPr/>
          <p:nvPr/>
        </p:nvSpPr>
        <p:spPr>
          <a:xfrm>
            <a:off x="1188720" y="3566160"/>
            <a:ext cx="6765120" cy="327600"/>
          </a:xfrm>
          <a:prstGeom prst="rect">
            <a:avLst/>
          </a:prstGeom>
          <a:noFill/>
          <a:ln w="0">
            <a:noFill/>
          </a:ln>
        </p:spPr>
        <p:style>
          <a:lnRef idx="0"/>
          <a:fillRef idx="0"/>
          <a:effectRef idx="0"/>
          <a:fontRef idx="minor"/>
        </p:style>
        <p:txBody>
          <a:bodyPr lIns="45720" tIns="45000" rIns="45720" bIns="45000" anchor="t">
            <a:normAutofit fontScale="77500" lnSpcReduction="19999"/>
          </a:bodyPr>
          <a:p>
            <a:pPr algn="ctr">
              <a:lnSpc>
                <a:spcPct val="100000"/>
              </a:lnSpc>
            </a:pPr>
            <a:r>
              <a:rPr lang="en-US" sz="1800" b="1" u="none" strike="noStrike">
                <a:solidFill>
                  <a:srgbClr val="091F3F"/>
                </a:solidFill>
                <a:effectLst/>
                <a:uFillTx/>
                <a:latin typeface="Aptos"/>
              </a:rPr>
              <a:t>Measure the state of the world you want, not just the behavior you expect.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74"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575"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Three mathematical pillars</a:t>
            </a:r>
            <a:endParaRPr lang="en-US" sz="2400" b="0" u="none" strike="noStrike">
              <a:solidFill>
                <a:srgbClr val="000000"/>
              </a:solidFill>
              <a:effectLst/>
              <a:uFillTx/>
              <a:latin typeface="Arial"/>
            </a:endParaRPr>
          </a:p>
        </p:txBody>
      </p:sp>
      <p:sp>
        <p:nvSpPr>
          <p:cNvPr id="576"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Logic, probability, and complexity become recurring course tools.</a:t>
            </a:r>
            <a:endParaRPr lang="en-US" sz="1150" b="0" u="none" strike="noStrike">
              <a:solidFill>
                <a:srgbClr val="000000"/>
              </a:solidFill>
              <a:effectLst/>
              <a:uFillTx/>
              <a:latin typeface="Arial"/>
            </a:endParaRPr>
          </a:p>
        </p:txBody>
      </p:sp>
      <p:cxnSp>
        <p:nvCxnSpPr>
          <p:cNvPr id="577" name="decor-title-line"/>
          <p:cNvCxnSpPr/>
          <p:nvPr/>
        </p:nvCxnSpPr>
        <p:spPr>
          <a:xfrm>
            <a:off x="320040" y="932400"/>
            <a:ext cx="8505360" cy="1440"/>
          </a:xfrm>
          <a:prstGeom prst="straightConnector1">
            <a:avLst/>
          </a:prstGeom>
          <a:ln w="25400">
            <a:solidFill>
              <a:srgbClr val="F2A122"/>
            </a:solidFill>
            <a:round/>
          </a:ln>
        </p:spPr>
      </p:cxnSp>
      <p:sp>
        <p:nvSpPr>
          <p:cNvPr id="578"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579" name="content-card"/>
          <p:cNvSpPr/>
          <p:nvPr/>
        </p:nvSpPr>
        <p:spPr>
          <a:xfrm>
            <a:off x="640080" y="1280160"/>
            <a:ext cx="2513160" cy="1461600"/>
          </a:xfrm>
          <a:prstGeom prst="roundRect">
            <a:avLst>
              <a:gd name="adj" fmla="val 16667"/>
            </a:avLst>
          </a:prstGeom>
          <a:solidFill>
            <a:srgbClr val="E7F3FB"/>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80" name="decor-card-accent"/>
          <p:cNvSpPr/>
          <p:nvPr/>
        </p:nvSpPr>
        <p:spPr>
          <a:xfrm>
            <a:off x="640080" y="1280160"/>
            <a:ext cx="71640" cy="1461600"/>
          </a:xfrm>
          <a:prstGeom prst="rect">
            <a:avLst/>
          </a:prstGeom>
          <a:solidFill>
            <a:srgbClr val="2084C9"/>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581" name="content-card-title"/>
          <p:cNvSpPr/>
          <p:nvPr/>
        </p:nvSpPr>
        <p:spPr>
          <a:xfrm>
            <a:off x="804600" y="1389960"/>
            <a:ext cx="2257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Logic</a:t>
            </a:r>
            <a:endParaRPr lang="en-US" sz="1250" b="0" u="none" strike="noStrike">
              <a:solidFill>
                <a:srgbClr val="000000"/>
              </a:solidFill>
              <a:effectLst/>
              <a:uFillTx/>
              <a:latin typeface="Arial"/>
            </a:endParaRPr>
          </a:p>
        </p:txBody>
      </p:sp>
      <p:sp>
        <p:nvSpPr>
          <p:cNvPr id="582" name="content-card-body"/>
          <p:cNvSpPr/>
          <p:nvPr/>
        </p:nvSpPr>
        <p:spPr>
          <a:xfrm>
            <a:off x="804600" y="1719000"/>
            <a:ext cx="2257200" cy="9586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When knowledge is certain, derive conclusions that must follow.</a:t>
            </a:r>
            <a:endParaRPr lang="en-US" sz="1300" b="0" u="none" strike="noStrike">
              <a:solidFill>
                <a:srgbClr val="000000"/>
              </a:solidFill>
              <a:effectLst/>
              <a:uFillTx/>
              <a:latin typeface="Arial"/>
            </a:endParaRPr>
          </a:p>
        </p:txBody>
      </p:sp>
      <p:sp>
        <p:nvSpPr>
          <p:cNvPr id="583" name="content-card"/>
          <p:cNvSpPr/>
          <p:nvPr/>
        </p:nvSpPr>
        <p:spPr>
          <a:xfrm>
            <a:off x="3337560" y="1280160"/>
            <a:ext cx="2513160" cy="1461600"/>
          </a:xfrm>
          <a:prstGeom prst="roundRect">
            <a:avLst>
              <a:gd name="adj" fmla="val 16667"/>
            </a:avLst>
          </a:prstGeom>
          <a:solidFill>
            <a:srgbClr val="EDF8F4"/>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84" name="decor-card-accent"/>
          <p:cNvSpPr/>
          <p:nvPr/>
        </p:nvSpPr>
        <p:spPr>
          <a:xfrm>
            <a:off x="3337560" y="1280160"/>
            <a:ext cx="71640" cy="146160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585" name="content-card-title"/>
          <p:cNvSpPr/>
          <p:nvPr/>
        </p:nvSpPr>
        <p:spPr>
          <a:xfrm>
            <a:off x="3502080" y="1389960"/>
            <a:ext cx="2257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Probability</a:t>
            </a:r>
            <a:endParaRPr lang="en-US" sz="1250" b="0" u="none" strike="noStrike">
              <a:solidFill>
                <a:srgbClr val="000000"/>
              </a:solidFill>
              <a:effectLst/>
              <a:uFillTx/>
              <a:latin typeface="Arial"/>
            </a:endParaRPr>
          </a:p>
        </p:txBody>
      </p:sp>
      <p:sp>
        <p:nvSpPr>
          <p:cNvPr id="586" name="content-card-body"/>
          <p:cNvSpPr/>
          <p:nvPr/>
        </p:nvSpPr>
        <p:spPr>
          <a:xfrm>
            <a:off x="3502080" y="1719000"/>
            <a:ext cx="2257200" cy="9586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When information is uncertain, update beliefs from evidence.</a:t>
            </a:r>
            <a:endParaRPr lang="en-US" sz="1300" b="0" u="none" strike="noStrike">
              <a:solidFill>
                <a:srgbClr val="000000"/>
              </a:solidFill>
              <a:effectLst/>
              <a:uFillTx/>
              <a:latin typeface="Arial"/>
            </a:endParaRPr>
          </a:p>
        </p:txBody>
      </p:sp>
      <p:sp>
        <p:nvSpPr>
          <p:cNvPr id="587" name="content-card"/>
          <p:cNvSpPr/>
          <p:nvPr/>
        </p:nvSpPr>
        <p:spPr>
          <a:xfrm>
            <a:off x="6035040" y="1280160"/>
            <a:ext cx="2513160" cy="1461600"/>
          </a:xfrm>
          <a:prstGeom prst="roundRect">
            <a:avLst>
              <a:gd name="adj" fmla="val 16667"/>
            </a:avLst>
          </a:prstGeom>
          <a:solidFill>
            <a:srgbClr val="FFF4E0"/>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88" name="decor-card-accent"/>
          <p:cNvSpPr/>
          <p:nvPr/>
        </p:nvSpPr>
        <p:spPr>
          <a:xfrm>
            <a:off x="6035040" y="1280160"/>
            <a:ext cx="71640" cy="1461600"/>
          </a:xfrm>
          <a:prstGeom prst="rect">
            <a:avLst/>
          </a:prstGeom>
          <a:solidFill>
            <a:srgbClr val="F2A122"/>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589" name="content-card-title"/>
          <p:cNvSpPr/>
          <p:nvPr/>
        </p:nvSpPr>
        <p:spPr>
          <a:xfrm>
            <a:off x="6199560" y="1389960"/>
            <a:ext cx="2257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Complexity</a:t>
            </a:r>
            <a:endParaRPr lang="en-US" sz="1250" b="0" u="none" strike="noStrike">
              <a:solidFill>
                <a:srgbClr val="000000"/>
              </a:solidFill>
              <a:effectLst/>
              <a:uFillTx/>
              <a:latin typeface="Arial"/>
            </a:endParaRPr>
          </a:p>
        </p:txBody>
      </p:sp>
      <p:sp>
        <p:nvSpPr>
          <p:cNvPr id="590" name="content-card-body"/>
          <p:cNvSpPr/>
          <p:nvPr/>
        </p:nvSpPr>
        <p:spPr>
          <a:xfrm>
            <a:off x="6199560" y="1719000"/>
            <a:ext cx="2257200" cy="9586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When exact computation is too expensive, use heuristics and approximation.</a:t>
            </a:r>
            <a:endParaRPr lang="en-US" sz="1300" b="0" u="none" strike="noStrike">
              <a:solidFill>
                <a:srgbClr val="000000"/>
              </a:solidFill>
              <a:effectLst/>
              <a:uFillTx/>
              <a:latin typeface="Arial"/>
            </a:endParaRPr>
          </a:p>
        </p:txBody>
      </p:sp>
      <p:sp>
        <p:nvSpPr>
          <p:cNvPr id="591" name="content-bottom"/>
          <p:cNvSpPr/>
          <p:nvPr/>
        </p:nvSpPr>
        <p:spPr>
          <a:xfrm>
            <a:off x="960120" y="3429000"/>
            <a:ext cx="7222320" cy="45576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gn="ctr">
              <a:lnSpc>
                <a:spcPct val="100000"/>
              </a:lnSpc>
            </a:pPr>
            <a:r>
              <a:rPr lang="en-US" sz="1700" b="1" u="none" strike="noStrike">
                <a:solidFill>
                  <a:srgbClr val="091F3F"/>
                </a:solidFill>
                <a:effectLst/>
                <a:uFillTx/>
                <a:latin typeface="Aptos"/>
              </a:rPr>
              <a:t>Later chapters reuse these pillars: search, logic, Bayesian networks, planning, MDPs, and learning.</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93"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594"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From certainty to uncertainty</a:t>
            </a:r>
            <a:endParaRPr lang="en-US" sz="2400" b="0" u="none" strike="noStrike">
              <a:solidFill>
                <a:srgbClr val="000000"/>
              </a:solidFill>
              <a:effectLst/>
              <a:uFillTx/>
              <a:latin typeface="Arial"/>
            </a:endParaRPr>
          </a:p>
        </p:txBody>
      </p:sp>
      <p:sp>
        <p:nvSpPr>
          <p:cNvPr id="595"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AI needs both valid inference and uncertain inference.</a:t>
            </a:r>
            <a:endParaRPr lang="en-US" sz="1150" b="0" u="none" strike="noStrike">
              <a:solidFill>
                <a:srgbClr val="000000"/>
              </a:solidFill>
              <a:effectLst/>
              <a:uFillTx/>
              <a:latin typeface="Arial"/>
            </a:endParaRPr>
          </a:p>
        </p:txBody>
      </p:sp>
      <p:cxnSp>
        <p:nvCxnSpPr>
          <p:cNvPr id="596" name="decor-title-line"/>
          <p:cNvCxnSpPr/>
          <p:nvPr/>
        </p:nvCxnSpPr>
        <p:spPr>
          <a:xfrm>
            <a:off x="320040" y="932400"/>
            <a:ext cx="8505360" cy="1440"/>
          </a:xfrm>
          <a:prstGeom prst="straightConnector1">
            <a:avLst/>
          </a:prstGeom>
          <a:ln w="25400">
            <a:solidFill>
              <a:srgbClr val="F2A122"/>
            </a:solidFill>
            <a:round/>
          </a:ln>
        </p:spPr>
      </p:cxnSp>
      <p:sp>
        <p:nvSpPr>
          <p:cNvPr id="597"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cxnSp>
        <p:nvCxnSpPr>
          <p:cNvPr id="598" name="content-line"/>
          <p:cNvCxnSpPr/>
          <p:nvPr/>
        </p:nvCxnSpPr>
        <p:spPr>
          <a:xfrm>
            <a:off x="1051560" y="2468880"/>
            <a:ext cx="7042320" cy="1440"/>
          </a:xfrm>
          <a:prstGeom prst="straightConnector1">
            <a:avLst/>
          </a:prstGeom>
          <a:ln w="25400">
            <a:solidFill>
              <a:srgbClr val="5A6473"/>
            </a:solidFill>
            <a:round/>
          </a:ln>
        </p:spPr>
      </p:cxnSp>
      <p:sp>
        <p:nvSpPr>
          <p:cNvPr id="599" name="content-node"/>
          <p:cNvSpPr/>
          <p:nvPr/>
        </p:nvSpPr>
        <p:spPr>
          <a:xfrm>
            <a:off x="685800" y="2057400"/>
            <a:ext cx="1370160" cy="82152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00" name="content-node-text"/>
          <p:cNvSpPr/>
          <p:nvPr/>
        </p:nvSpPr>
        <p:spPr>
          <a:xfrm>
            <a:off x="777240" y="2194560"/>
            <a:ext cx="1187280" cy="31860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gn="ctr">
              <a:lnSpc>
                <a:spcPct val="100000"/>
              </a:lnSpc>
            </a:pPr>
            <a:r>
              <a:rPr lang="en-US" sz="1050" b="1" u="none" strike="noStrike">
                <a:solidFill>
                  <a:srgbClr val="FFFFFF"/>
                </a:solidFill>
                <a:effectLst/>
                <a:uFillTx/>
                <a:latin typeface="Aptos"/>
              </a:rPr>
              <a:t>Logic</a:t>
            </a:r>
            <a:br>
              <a:rPr sz="1050"/>
            </a:br>
            <a:r>
              <a:rPr lang="en-US" sz="1050" b="1" u="none" strike="noStrike">
                <a:solidFill>
                  <a:srgbClr val="FFFFFF"/>
                </a:solidFill>
                <a:effectLst/>
                <a:uFillTx/>
                <a:latin typeface="Aptos"/>
              </a:rPr>
              <a:t>true/false</a:t>
            </a:r>
            <a:endParaRPr lang="en-US" sz="1050" b="0" u="none" strike="noStrike">
              <a:solidFill>
                <a:srgbClr val="000000"/>
              </a:solidFill>
              <a:effectLst/>
              <a:uFillTx/>
              <a:latin typeface="Arial"/>
            </a:endParaRPr>
          </a:p>
        </p:txBody>
      </p:sp>
      <p:sp>
        <p:nvSpPr>
          <p:cNvPr id="601" name="content-node"/>
          <p:cNvSpPr/>
          <p:nvPr/>
        </p:nvSpPr>
        <p:spPr>
          <a:xfrm>
            <a:off x="3886200" y="2057400"/>
            <a:ext cx="1370160" cy="821520"/>
          </a:xfrm>
          <a:prstGeom prst="roundRect">
            <a:avLst>
              <a:gd name="adj" fmla="val 16667"/>
            </a:avLst>
          </a:prstGeom>
          <a:solidFill>
            <a:srgbClr val="4A9D5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02" name="content-node-text"/>
          <p:cNvSpPr/>
          <p:nvPr/>
        </p:nvSpPr>
        <p:spPr>
          <a:xfrm>
            <a:off x="3977640" y="2194560"/>
            <a:ext cx="1187280" cy="31860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gn="ctr">
              <a:lnSpc>
                <a:spcPct val="100000"/>
              </a:lnSpc>
            </a:pPr>
            <a:r>
              <a:rPr lang="en-US" sz="1050" b="1" u="none" strike="noStrike">
                <a:solidFill>
                  <a:srgbClr val="FFFFFF"/>
                </a:solidFill>
                <a:effectLst/>
                <a:uFillTx/>
                <a:latin typeface="Aptos"/>
              </a:rPr>
              <a:t>Probability</a:t>
            </a:r>
            <a:br>
              <a:rPr sz="1050"/>
            </a:br>
            <a:r>
              <a:rPr lang="en-US" sz="1050" b="1" u="none" strike="noStrike">
                <a:solidFill>
                  <a:srgbClr val="FFFFFF"/>
                </a:solidFill>
                <a:effectLst/>
                <a:uFillTx/>
                <a:latin typeface="Aptos"/>
              </a:rPr>
              <a:t>degrees of belief</a:t>
            </a:r>
            <a:endParaRPr lang="en-US" sz="1050" b="0" u="none" strike="noStrike">
              <a:solidFill>
                <a:srgbClr val="000000"/>
              </a:solidFill>
              <a:effectLst/>
              <a:uFillTx/>
              <a:latin typeface="Arial"/>
            </a:endParaRPr>
          </a:p>
        </p:txBody>
      </p:sp>
      <p:sp>
        <p:nvSpPr>
          <p:cNvPr id="603" name="content-node"/>
          <p:cNvSpPr/>
          <p:nvPr/>
        </p:nvSpPr>
        <p:spPr>
          <a:xfrm>
            <a:off x="7086600" y="2057400"/>
            <a:ext cx="1370160" cy="821520"/>
          </a:xfrm>
          <a:prstGeom prst="roundRect">
            <a:avLst>
              <a:gd name="adj" fmla="val 16667"/>
            </a:avLst>
          </a:prstGeom>
          <a:solidFill>
            <a:srgbClr val="F2A122"/>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04" name="content-node-text"/>
          <p:cNvSpPr/>
          <p:nvPr/>
        </p:nvSpPr>
        <p:spPr>
          <a:xfrm>
            <a:off x="7178040" y="2194560"/>
            <a:ext cx="1187280" cy="31860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gn="ctr">
              <a:lnSpc>
                <a:spcPct val="100000"/>
              </a:lnSpc>
            </a:pPr>
            <a:r>
              <a:rPr lang="en-US" sz="1050" b="1" u="none" strike="noStrike">
                <a:solidFill>
                  <a:srgbClr val="FFFFFF"/>
                </a:solidFill>
                <a:effectLst/>
                <a:uFillTx/>
                <a:latin typeface="Aptos"/>
              </a:rPr>
              <a:t>Decision theory</a:t>
            </a:r>
            <a:br>
              <a:rPr sz="1050"/>
            </a:br>
            <a:r>
              <a:rPr lang="en-US" sz="1050" b="1" u="none" strike="noStrike">
                <a:solidFill>
                  <a:srgbClr val="FFFFFF"/>
                </a:solidFill>
                <a:effectLst/>
                <a:uFillTx/>
                <a:latin typeface="Aptos"/>
              </a:rPr>
              <a:t>beliefs + utilities</a:t>
            </a:r>
            <a:endParaRPr lang="en-US" sz="1050" b="0" u="none" strike="noStrike">
              <a:solidFill>
                <a:srgbClr val="000000"/>
              </a:solidFill>
              <a:effectLst/>
              <a:uFillTx/>
              <a:latin typeface="Arial"/>
            </a:endParaRPr>
          </a:p>
        </p:txBody>
      </p:sp>
      <p:sp>
        <p:nvSpPr>
          <p:cNvPr id="605" name="content-bullets"/>
          <p:cNvSpPr/>
          <p:nvPr/>
        </p:nvSpPr>
        <p:spPr>
          <a:xfrm>
            <a:off x="1051560" y="3246120"/>
            <a:ext cx="7039440" cy="867240"/>
          </a:xfrm>
          <a:prstGeom prst="rect">
            <a:avLst/>
          </a:prstGeom>
          <a:noFill/>
          <a:ln w="0">
            <a:noFill/>
          </a:ln>
        </p:spPr>
        <p:style>
          <a:lnRef idx="0"/>
          <a:fillRef idx="0"/>
          <a:effectRef idx="0"/>
          <a:fontRef idx="minor"/>
        </p:style>
        <p:txBody>
          <a:bodyPr lIns="90000" tIns="18360" rIns="45720" bIns="18360" anchor="t">
            <a:normAutofit lnSpcReduction="9999"/>
          </a:bodyPr>
          <a:p>
            <a:pPr>
              <a:lnSpc>
                <a:spcPct val="105000"/>
              </a:lnSpc>
              <a:spcAft>
                <a:spcPts val="601"/>
              </a:spcAft>
            </a:pPr>
            <a:r>
              <a:rPr lang="en-US" sz="1500" b="0" u="none" strike="noStrike">
                <a:solidFill>
                  <a:srgbClr val="1E1E1E"/>
                </a:solidFill>
                <a:effectLst/>
                <a:uFillTx/>
                <a:latin typeface="Aptos"/>
              </a:rPr>
              <a:t>• Logic: if premises are true, the conclusion must be true</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Probability: belief changes with evidence</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Decision theory: choose actions using probabilities and utilities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07"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608"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AI history is a sequence of lessons</a:t>
            </a:r>
            <a:endParaRPr lang="en-US" sz="2400" b="0" u="none" strike="noStrike">
              <a:solidFill>
                <a:srgbClr val="000000"/>
              </a:solidFill>
              <a:effectLst/>
              <a:uFillTx/>
              <a:latin typeface="Arial"/>
            </a:endParaRPr>
          </a:p>
        </p:txBody>
      </p:sp>
      <p:sp>
        <p:nvSpPr>
          <p:cNvPr id="609"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Each era kept some ideas and exposed new limits.</a:t>
            </a:r>
            <a:endParaRPr lang="en-US" sz="1150" b="0" u="none" strike="noStrike">
              <a:solidFill>
                <a:srgbClr val="000000"/>
              </a:solidFill>
              <a:effectLst/>
              <a:uFillTx/>
              <a:latin typeface="Arial"/>
            </a:endParaRPr>
          </a:p>
        </p:txBody>
      </p:sp>
      <p:cxnSp>
        <p:nvCxnSpPr>
          <p:cNvPr id="610" name="decor-title-line"/>
          <p:cNvCxnSpPr/>
          <p:nvPr/>
        </p:nvCxnSpPr>
        <p:spPr>
          <a:xfrm>
            <a:off x="320040" y="932400"/>
            <a:ext cx="8505360" cy="1440"/>
          </a:xfrm>
          <a:prstGeom prst="straightConnector1">
            <a:avLst/>
          </a:prstGeom>
          <a:ln w="25400">
            <a:solidFill>
              <a:srgbClr val="F2A122"/>
            </a:solidFill>
            <a:round/>
          </a:ln>
        </p:spPr>
      </p:cxnSp>
      <p:sp>
        <p:nvSpPr>
          <p:cNvPr id="611"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612" name="content-era"/>
          <p:cNvSpPr/>
          <p:nvPr/>
        </p:nvSpPr>
        <p:spPr>
          <a:xfrm>
            <a:off x="502920" y="2011680"/>
            <a:ext cx="1004400" cy="382680"/>
          </a:xfrm>
          <a:prstGeom prst="roundRect">
            <a:avLst>
              <a:gd name="adj" fmla="val 16667"/>
            </a:avLst>
          </a:prstGeom>
          <a:solidFill>
            <a:srgbClr val="091F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13" name="content-era-text"/>
          <p:cNvSpPr/>
          <p:nvPr/>
        </p:nvSpPr>
        <p:spPr>
          <a:xfrm>
            <a:off x="530280" y="2139840"/>
            <a:ext cx="949680" cy="108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780" b="1" u="none" strike="noStrike">
                <a:solidFill>
                  <a:srgbClr val="FFFFFF"/>
                </a:solidFill>
                <a:effectLst/>
                <a:uFillTx/>
                <a:latin typeface="Aptos"/>
              </a:rPr>
              <a:t>1940s–50s</a:t>
            </a:r>
            <a:endParaRPr lang="en-US" sz="780" b="0" u="none" strike="noStrike">
              <a:solidFill>
                <a:srgbClr val="000000"/>
              </a:solidFill>
              <a:effectLst/>
              <a:uFillTx/>
              <a:latin typeface="Arial"/>
            </a:endParaRPr>
          </a:p>
        </p:txBody>
      </p:sp>
      <p:sp>
        <p:nvSpPr>
          <p:cNvPr id="614" name="content-lesson"/>
          <p:cNvSpPr/>
          <p:nvPr/>
        </p:nvSpPr>
        <p:spPr>
          <a:xfrm>
            <a:off x="457200" y="2541960"/>
            <a:ext cx="1141560" cy="501480"/>
          </a:xfrm>
          <a:prstGeom prst="rect">
            <a:avLst/>
          </a:prstGeom>
          <a:noFill/>
          <a:ln w="0">
            <a:noFill/>
          </a:ln>
        </p:spPr>
        <p:style>
          <a:lnRef idx="0"/>
          <a:fillRef idx="0"/>
          <a:effectRef idx="0"/>
          <a:fontRef idx="minor"/>
        </p:style>
        <p:txBody>
          <a:bodyPr lIns="45720" tIns="45000" rIns="45720" bIns="45000" anchor="t">
            <a:normAutofit/>
          </a:bodyPr>
          <a:p>
            <a:pPr algn="ctr">
              <a:lnSpc>
                <a:spcPct val="100000"/>
              </a:lnSpc>
            </a:pPr>
            <a:r>
              <a:rPr lang="en-US" sz="880" b="0" u="none" strike="noStrike">
                <a:solidFill>
                  <a:srgbClr val="1E1E1E"/>
                </a:solidFill>
                <a:effectLst/>
                <a:uFillTx/>
                <a:latin typeface="Aptos"/>
              </a:rPr>
              <a:t>AI can be formalized</a:t>
            </a:r>
            <a:endParaRPr lang="en-US" sz="880" b="0" u="none" strike="noStrike">
              <a:solidFill>
                <a:srgbClr val="000000"/>
              </a:solidFill>
              <a:effectLst/>
              <a:uFillTx/>
              <a:latin typeface="Arial"/>
            </a:endParaRPr>
          </a:p>
        </p:txBody>
      </p:sp>
      <p:cxnSp>
        <p:nvCxnSpPr>
          <p:cNvPr id="615" name="decor-tick"/>
          <p:cNvCxnSpPr/>
          <p:nvPr/>
        </p:nvCxnSpPr>
        <p:spPr>
          <a:xfrm>
            <a:off x="1005840" y="2395440"/>
            <a:ext cx="1440" cy="147960"/>
          </a:xfrm>
          <a:prstGeom prst="straightConnector1">
            <a:avLst/>
          </a:prstGeom>
          <a:ln w="0">
            <a:solidFill>
              <a:srgbClr val="F2A122"/>
            </a:solidFill>
          </a:ln>
        </p:spPr>
      </p:cxnSp>
      <p:sp>
        <p:nvSpPr>
          <p:cNvPr id="616" name="content-era"/>
          <p:cNvSpPr/>
          <p:nvPr/>
        </p:nvSpPr>
        <p:spPr>
          <a:xfrm>
            <a:off x="1710000" y="2011680"/>
            <a:ext cx="1004400" cy="38268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17" name="content-era-text"/>
          <p:cNvSpPr/>
          <p:nvPr/>
        </p:nvSpPr>
        <p:spPr>
          <a:xfrm>
            <a:off x="1737360" y="2139840"/>
            <a:ext cx="949680" cy="108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780" b="1" u="none" strike="noStrike">
                <a:solidFill>
                  <a:srgbClr val="FFFFFF"/>
                </a:solidFill>
                <a:effectLst/>
                <a:uFillTx/>
                <a:latin typeface="Aptos"/>
              </a:rPr>
              <a:t>1950s–60s</a:t>
            </a:r>
            <a:endParaRPr lang="en-US" sz="780" b="0" u="none" strike="noStrike">
              <a:solidFill>
                <a:srgbClr val="000000"/>
              </a:solidFill>
              <a:effectLst/>
              <a:uFillTx/>
              <a:latin typeface="Arial"/>
            </a:endParaRPr>
          </a:p>
        </p:txBody>
      </p:sp>
      <p:sp>
        <p:nvSpPr>
          <p:cNvPr id="618" name="content-lesson"/>
          <p:cNvSpPr/>
          <p:nvPr/>
        </p:nvSpPr>
        <p:spPr>
          <a:xfrm>
            <a:off x="1664280" y="2541960"/>
            <a:ext cx="1141560" cy="501480"/>
          </a:xfrm>
          <a:prstGeom prst="rect">
            <a:avLst/>
          </a:prstGeom>
          <a:noFill/>
          <a:ln w="0">
            <a:noFill/>
          </a:ln>
        </p:spPr>
        <p:style>
          <a:lnRef idx="0"/>
          <a:fillRef idx="0"/>
          <a:effectRef idx="0"/>
          <a:fontRef idx="minor"/>
        </p:style>
        <p:txBody>
          <a:bodyPr lIns="45720" tIns="45000" rIns="45720" bIns="45000" anchor="t">
            <a:normAutofit/>
          </a:bodyPr>
          <a:p>
            <a:pPr algn="ctr">
              <a:lnSpc>
                <a:spcPct val="100000"/>
              </a:lnSpc>
            </a:pPr>
            <a:r>
              <a:rPr lang="en-US" sz="880" b="0" u="none" strike="noStrike">
                <a:solidFill>
                  <a:srgbClr val="1E1E1E"/>
                </a:solidFill>
                <a:effectLst/>
                <a:uFillTx/>
                <a:latin typeface="Aptos"/>
              </a:rPr>
              <a:t>Toy problems are solvable</a:t>
            </a:r>
            <a:endParaRPr lang="en-US" sz="880" b="0" u="none" strike="noStrike">
              <a:solidFill>
                <a:srgbClr val="000000"/>
              </a:solidFill>
              <a:effectLst/>
              <a:uFillTx/>
              <a:latin typeface="Arial"/>
            </a:endParaRPr>
          </a:p>
        </p:txBody>
      </p:sp>
      <p:cxnSp>
        <p:nvCxnSpPr>
          <p:cNvPr id="619" name="decor-tick"/>
          <p:cNvCxnSpPr/>
          <p:nvPr/>
        </p:nvCxnSpPr>
        <p:spPr>
          <a:xfrm>
            <a:off x="2212560" y="2395440"/>
            <a:ext cx="1440" cy="147960"/>
          </a:xfrm>
          <a:prstGeom prst="straightConnector1">
            <a:avLst/>
          </a:prstGeom>
          <a:ln w="0">
            <a:solidFill>
              <a:srgbClr val="F2A122"/>
            </a:solidFill>
          </a:ln>
        </p:spPr>
      </p:cxnSp>
      <p:sp>
        <p:nvSpPr>
          <p:cNvPr id="620" name="content-era"/>
          <p:cNvSpPr/>
          <p:nvPr/>
        </p:nvSpPr>
        <p:spPr>
          <a:xfrm>
            <a:off x="2917080" y="2011680"/>
            <a:ext cx="1004400" cy="382680"/>
          </a:xfrm>
          <a:prstGeom prst="roundRect">
            <a:avLst>
              <a:gd name="adj" fmla="val 16667"/>
            </a:avLst>
          </a:prstGeom>
          <a:solidFill>
            <a:srgbClr val="091F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1" name="content-era-text"/>
          <p:cNvSpPr/>
          <p:nvPr/>
        </p:nvSpPr>
        <p:spPr>
          <a:xfrm>
            <a:off x="2944440" y="2139840"/>
            <a:ext cx="949680" cy="108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780" b="1" u="none" strike="noStrike">
                <a:solidFill>
                  <a:srgbClr val="FFFFFF"/>
                </a:solidFill>
                <a:effectLst/>
                <a:uFillTx/>
                <a:latin typeface="Aptos"/>
              </a:rPr>
              <a:t>1970s</a:t>
            </a:r>
            <a:endParaRPr lang="en-US" sz="780" b="0" u="none" strike="noStrike">
              <a:solidFill>
                <a:srgbClr val="000000"/>
              </a:solidFill>
              <a:effectLst/>
              <a:uFillTx/>
              <a:latin typeface="Arial"/>
            </a:endParaRPr>
          </a:p>
        </p:txBody>
      </p:sp>
      <p:sp>
        <p:nvSpPr>
          <p:cNvPr id="622" name="content-lesson"/>
          <p:cNvSpPr/>
          <p:nvPr/>
        </p:nvSpPr>
        <p:spPr>
          <a:xfrm>
            <a:off x="2871360" y="2541960"/>
            <a:ext cx="1141560" cy="501480"/>
          </a:xfrm>
          <a:prstGeom prst="rect">
            <a:avLst/>
          </a:prstGeom>
          <a:noFill/>
          <a:ln w="0">
            <a:noFill/>
          </a:ln>
        </p:spPr>
        <p:style>
          <a:lnRef idx="0"/>
          <a:fillRef idx="0"/>
          <a:effectRef idx="0"/>
          <a:fontRef idx="minor"/>
        </p:style>
        <p:txBody>
          <a:bodyPr lIns="45720" tIns="45000" rIns="45720" bIns="45000" anchor="t">
            <a:normAutofit/>
          </a:bodyPr>
          <a:p>
            <a:pPr algn="ctr">
              <a:lnSpc>
                <a:spcPct val="100000"/>
              </a:lnSpc>
            </a:pPr>
            <a:r>
              <a:rPr lang="en-US" sz="880" b="0" u="none" strike="noStrike">
                <a:solidFill>
                  <a:srgbClr val="1E1E1E"/>
                </a:solidFill>
                <a:effectLst/>
                <a:uFillTx/>
                <a:latin typeface="Aptos"/>
              </a:rPr>
              <a:t>Scaling is hard</a:t>
            </a:r>
            <a:endParaRPr lang="en-US" sz="880" b="0" u="none" strike="noStrike">
              <a:solidFill>
                <a:srgbClr val="000000"/>
              </a:solidFill>
              <a:effectLst/>
              <a:uFillTx/>
              <a:latin typeface="Arial"/>
            </a:endParaRPr>
          </a:p>
        </p:txBody>
      </p:sp>
      <p:cxnSp>
        <p:nvCxnSpPr>
          <p:cNvPr id="623" name="decor-tick"/>
          <p:cNvCxnSpPr/>
          <p:nvPr/>
        </p:nvCxnSpPr>
        <p:spPr>
          <a:xfrm>
            <a:off x="3419640" y="2395440"/>
            <a:ext cx="1440" cy="147960"/>
          </a:xfrm>
          <a:prstGeom prst="straightConnector1">
            <a:avLst/>
          </a:prstGeom>
          <a:ln w="0">
            <a:solidFill>
              <a:srgbClr val="F2A122"/>
            </a:solidFill>
          </a:ln>
        </p:spPr>
      </p:cxnSp>
      <p:sp>
        <p:nvSpPr>
          <p:cNvPr id="624" name="content-era"/>
          <p:cNvSpPr/>
          <p:nvPr/>
        </p:nvSpPr>
        <p:spPr>
          <a:xfrm>
            <a:off x="4123800" y="2011680"/>
            <a:ext cx="1004400" cy="38268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5" name="content-era-text"/>
          <p:cNvSpPr/>
          <p:nvPr/>
        </p:nvSpPr>
        <p:spPr>
          <a:xfrm>
            <a:off x="4151520" y="2139840"/>
            <a:ext cx="949680" cy="108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780" b="1" u="none" strike="noStrike">
                <a:solidFill>
                  <a:srgbClr val="FFFFFF"/>
                </a:solidFill>
                <a:effectLst/>
                <a:uFillTx/>
                <a:latin typeface="Aptos"/>
              </a:rPr>
              <a:t>1980s</a:t>
            </a:r>
            <a:endParaRPr lang="en-US" sz="780" b="0" u="none" strike="noStrike">
              <a:solidFill>
                <a:srgbClr val="000000"/>
              </a:solidFill>
              <a:effectLst/>
              <a:uFillTx/>
              <a:latin typeface="Arial"/>
            </a:endParaRPr>
          </a:p>
        </p:txBody>
      </p:sp>
      <p:sp>
        <p:nvSpPr>
          <p:cNvPr id="626" name="content-lesson"/>
          <p:cNvSpPr/>
          <p:nvPr/>
        </p:nvSpPr>
        <p:spPr>
          <a:xfrm>
            <a:off x="4078080" y="2541960"/>
            <a:ext cx="1141560" cy="501480"/>
          </a:xfrm>
          <a:prstGeom prst="rect">
            <a:avLst/>
          </a:prstGeom>
          <a:noFill/>
          <a:ln w="0">
            <a:noFill/>
          </a:ln>
        </p:spPr>
        <p:style>
          <a:lnRef idx="0"/>
          <a:fillRef idx="0"/>
          <a:effectRef idx="0"/>
          <a:fontRef idx="minor"/>
        </p:style>
        <p:txBody>
          <a:bodyPr lIns="45720" tIns="45000" rIns="45720" bIns="45000" anchor="t">
            <a:normAutofit/>
          </a:bodyPr>
          <a:p>
            <a:pPr algn="ctr">
              <a:lnSpc>
                <a:spcPct val="100000"/>
              </a:lnSpc>
            </a:pPr>
            <a:r>
              <a:rPr lang="en-US" sz="880" b="0" u="none" strike="noStrike">
                <a:solidFill>
                  <a:srgbClr val="1E1E1E"/>
                </a:solidFill>
                <a:effectLst/>
                <a:uFillTx/>
                <a:latin typeface="Aptos"/>
              </a:rPr>
              <a:t>Knowledge matters</a:t>
            </a:r>
            <a:endParaRPr lang="en-US" sz="880" b="0" u="none" strike="noStrike">
              <a:solidFill>
                <a:srgbClr val="000000"/>
              </a:solidFill>
              <a:effectLst/>
              <a:uFillTx/>
              <a:latin typeface="Arial"/>
            </a:endParaRPr>
          </a:p>
        </p:txBody>
      </p:sp>
      <p:cxnSp>
        <p:nvCxnSpPr>
          <p:cNvPr id="627" name="decor-tick"/>
          <p:cNvCxnSpPr/>
          <p:nvPr/>
        </p:nvCxnSpPr>
        <p:spPr>
          <a:xfrm>
            <a:off x="4626720" y="2395440"/>
            <a:ext cx="1440" cy="147960"/>
          </a:xfrm>
          <a:prstGeom prst="straightConnector1">
            <a:avLst/>
          </a:prstGeom>
          <a:ln w="0">
            <a:solidFill>
              <a:srgbClr val="F2A122"/>
            </a:solidFill>
          </a:ln>
        </p:spPr>
      </p:cxnSp>
      <p:sp>
        <p:nvSpPr>
          <p:cNvPr id="628" name="content-era"/>
          <p:cNvSpPr/>
          <p:nvPr/>
        </p:nvSpPr>
        <p:spPr>
          <a:xfrm>
            <a:off x="5330880" y="2011680"/>
            <a:ext cx="1004400" cy="382680"/>
          </a:xfrm>
          <a:prstGeom prst="roundRect">
            <a:avLst>
              <a:gd name="adj" fmla="val 16667"/>
            </a:avLst>
          </a:prstGeom>
          <a:solidFill>
            <a:srgbClr val="091F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9" name="content-era-text"/>
          <p:cNvSpPr/>
          <p:nvPr/>
        </p:nvSpPr>
        <p:spPr>
          <a:xfrm>
            <a:off x="5358240" y="2139840"/>
            <a:ext cx="949680" cy="108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780" b="1" u="none" strike="noStrike">
                <a:solidFill>
                  <a:srgbClr val="FFFFFF"/>
                </a:solidFill>
                <a:effectLst/>
                <a:uFillTx/>
                <a:latin typeface="Aptos"/>
              </a:rPr>
              <a:t>1990s</a:t>
            </a:r>
            <a:endParaRPr lang="en-US" sz="780" b="0" u="none" strike="noStrike">
              <a:solidFill>
                <a:srgbClr val="000000"/>
              </a:solidFill>
              <a:effectLst/>
              <a:uFillTx/>
              <a:latin typeface="Arial"/>
            </a:endParaRPr>
          </a:p>
        </p:txBody>
      </p:sp>
      <p:sp>
        <p:nvSpPr>
          <p:cNvPr id="630" name="content-lesson"/>
          <p:cNvSpPr/>
          <p:nvPr/>
        </p:nvSpPr>
        <p:spPr>
          <a:xfrm>
            <a:off x="5285160" y="2541960"/>
            <a:ext cx="1141560" cy="501480"/>
          </a:xfrm>
          <a:prstGeom prst="rect">
            <a:avLst/>
          </a:prstGeom>
          <a:noFill/>
          <a:ln w="0">
            <a:noFill/>
          </a:ln>
        </p:spPr>
        <p:style>
          <a:lnRef idx="0"/>
          <a:fillRef idx="0"/>
          <a:effectRef idx="0"/>
          <a:fontRef idx="minor"/>
        </p:style>
        <p:txBody>
          <a:bodyPr lIns="45720" tIns="45000" rIns="45720" bIns="45000" anchor="t">
            <a:normAutofit/>
          </a:bodyPr>
          <a:p>
            <a:pPr algn="ctr">
              <a:lnSpc>
                <a:spcPct val="100000"/>
              </a:lnSpc>
            </a:pPr>
            <a:r>
              <a:rPr lang="en-US" sz="880" b="0" u="none" strike="noStrike">
                <a:solidFill>
                  <a:srgbClr val="1E1E1E"/>
                </a:solidFill>
                <a:effectLst/>
                <a:uFillTx/>
                <a:latin typeface="Aptos"/>
              </a:rPr>
              <a:t>Uncertainty matters</a:t>
            </a:r>
            <a:endParaRPr lang="en-US" sz="880" b="0" u="none" strike="noStrike">
              <a:solidFill>
                <a:srgbClr val="000000"/>
              </a:solidFill>
              <a:effectLst/>
              <a:uFillTx/>
              <a:latin typeface="Arial"/>
            </a:endParaRPr>
          </a:p>
        </p:txBody>
      </p:sp>
      <p:cxnSp>
        <p:nvCxnSpPr>
          <p:cNvPr id="631" name="decor-tick"/>
          <p:cNvCxnSpPr/>
          <p:nvPr/>
        </p:nvCxnSpPr>
        <p:spPr>
          <a:xfrm>
            <a:off x="5833800" y="2395440"/>
            <a:ext cx="1440" cy="147960"/>
          </a:xfrm>
          <a:prstGeom prst="straightConnector1">
            <a:avLst/>
          </a:prstGeom>
          <a:ln w="0">
            <a:solidFill>
              <a:srgbClr val="F2A122"/>
            </a:solidFill>
          </a:ln>
        </p:spPr>
      </p:cxnSp>
      <p:sp>
        <p:nvSpPr>
          <p:cNvPr id="632" name="content-era"/>
          <p:cNvSpPr/>
          <p:nvPr/>
        </p:nvSpPr>
        <p:spPr>
          <a:xfrm>
            <a:off x="6537960" y="2011680"/>
            <a:ext cx="1004400" cy="38268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33" name="content-era-text"/>
          <p:cNvSpPr/>
          <p:nvPr/>
        </p:nvSpPr>
        <p:spPr>
          <a:xfrm>
            <a:off x="6565320" y="2139840"/>
            <a:ext cx="949680" cy="108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780" b="1" u="none" strike="noStrike">
                <a:solidFill>
                  <a:srgbClr val="FFFFFF"/>
                </a:solidFill>
                <a:effectLst/>
                <a:uFillTx/>
                <a:latin typeface="Aptos"/>
              </a:rPr>
              <a:t>2000s+</a:t>
            </a:r>
            <a:endParaRPr lang="en-US" sz="780" b="0" u="none" strike="noStrike">
              <a:solidFill>
                <a:srgbClr val="000000"/>
              </a:solidFill>
              <a:effectLst/>
              <a:uFillTx/>
              <a:latin typeface="Arial"/>
            </a:endParaRPr>
          </a:p>
        </p:txBody>
      </p:sp>
      <p:sp>
        <p:nvSpPr>
          <p:cNvPr id="634" name="content-lesson"/>
          <p:cNvSpPr/>
          <p:nvPr/>
        </p:nvSpPr>
        <p:spPr>
          <a:xfrm>
            <a:off x="6492240" y="2541960"/>
            <a:ext cx="1141560" cy="501480"/>
          </a:xfrm>
          <a:prstGeom prst="rect">
            <a:avLst/>
          </a:prstGeom>
          <a:noFill/>
          <a:ln w="0">
            <a:noFill/>
          </a:ln>
        </p:spPr>
        <p:style>
          <a:lnRef idx="0"/>
          <a:fillRef idx="0"/>
          <a:effectRef idx="0"/>
          <a:fontRef idx="minor"/>
        </p:style>
        <p:txBody>
          <a:bodyPr lIns="45720" tIns="45000" rIns="45720" bIns="45000" anchor="t">
            <a:normAutofit/>
          </a:bodyPr>
          <a:p>
            <a:pPr algn="ctr">
              <a:lnSpc>
                <a:spcPct val="100000"/>
              </a:lnSpc>
            </a:pPr>
            <a:r>
              <a:rPr lang="en-US" sz="880" b="0" u="none" strike="noStrike">
                <a:solidFill>
                  <a:srgbClr val="1E1E1E"/>
                </a:solidFill>
                <a:effectLst/>
                <a:uFillTx/>
                <a:latin typeface="Aptos"/>
              </a:rPr>
              <a:t>Data + compute matter</a:t>
            </a:r>
            <a:endParaRPr lang="en-US" sz="880" b="0" u="none" strike="noStrike">
              <a:solidFill>
                <a:srgbClr val="000000"/>
              </a:solidFill>
              <a:effectLst/>
              <a:uFillTx/>
              <a:latin typeface="Arial"/>
            </a:endParaRPr>
          </a:p>
        </p:txBody>
      </p:sp>
      <p:cxnSp>
        <p:nvCxnSpPr>
          <p:cNvPr id="635" name="decor-tick"/>
          <p:cNvCxnSpPr/>
          <p:nvPr/>
        </p:nvCxnSpPr>
        <p:spPr>
          <a:xfrm>
            <a:off x="7040880" y="2395440"/>
            <a:ext cx="1440" cy="147960"/>
          </a:xfrm>
          <a:prstGeom prst="straightConnector1">
            <a:avLst/>
          </a:prstGeom>
          <a:ln w="0">
            <a:solidFill>
              <a:srgbClr val="F2A122"/>
            </a:solidFill>
          </a:ln>
        </p:spPr>
      </p:cxnSp>
      <p:sp>
        <p:nvSpPr>
          <p:cNvPr id="636" name="content-era"/>
          <p:cNvSpPr/>
          <p:nvPr/>
        </p:nvSpPr>
        <p:spPr>
          <a:xfrm>
            <a:off x="7745040" y="2011680"/>
            <a:ext cx="1004400" cy="382680"/>
          </a:xfrm>
          <a:prstGeom prst="roundRect">
            <a:avLst>
              <a:gd name="adj" fmla="val 16667"/>
            </a:avLst>
          </a:prstGeom>
          <a:solidFill>
            <a:srgbClr val="091F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37" name="content-era-text"/>
          <p:cNvSpPr/>
          <p:nvPr/>
        </p:nvSpPr>
        <p:spPr>
          <a:xfrm>
            <a:off x="7772400" y="2139840"/>
            <a:ext cx="949680" cy="108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780" b="1" u="none" strike="noStrike">
                <a:solidFill>
                  <a:srgbClr val="FFFFFF"/>
                </a:solidFill>
                <a:effectLst/>
                <a:uFillTx/>
                <a:latin typeface="Aptos"/>
              </a:rPr>
              <a:t>2010s+</a:t>
            </a:r>
            <a:endParaRPr lang="en-US" sz="780" b="0" u="none" strike="noStrike">
              <a:solidFill>
                <a:srgbClr val="000000"/>
              </a:solidFill>
              <a:effectLst/>
              <a:uFillTx/>
              <a:latin typeface="Arial"/>
            </a:endParaRPr>
          </a:p>
        </p:txBody>
      </p:sp>
      <p:sp>
        <p:nvSpPr>
          <p:cNvPr id="638" name="content-lesson"/>
          <p:cNvSpPr/>
          <p:nvPr/>
        </p:nvSpPr>
        <p:spPr>
          <a:xfrm>
            <a:off x="7699320" y="2541960"/>
            <a:ext cx="1141560" cy="501480"/>
          </a:xfrm>
          <a:prstGeom prst="rect">
            <a:avLst/>
          </a:prstGeom>
          <a:noFill/>
          <a:ln w="0">
            <a:noFill/>
          </a:ln>
        </p:spPr>
        <p:style>
          <a:lnRef idx="0"/>
          <a:fillRef idx="0"/>
          <a:effectRef idx="0"/>
          <a:fontRef idx="minor"/>
        </p:style>
        <p:txBody>
          <a:bodyPr lIns="45720" tIns="45000" rIns="45720" bIns="45000" anchor="t">
            <a:normAutofit/>
          </a:bodyPr>
          <a:p>
            <a:pPr algn="ctr">
              <a:lnSpc>
                <a:spcPct val="100000"/>
              </a:lnSpc>
            </a:pPr>
            <a:r>
              <a:rPr lang="en-US" sz="880" b="0" u="none" strike="noStrike">
                <a:solidFill>
                  <a:srgbClr val="1E1E1E"/>
                </a:solidFill>
                <a:effectLst/>
                <a:uFillTx/>
                <a:latin typeface="Aptos"/>
              </a:rPr>
              <a:t>Representation learning scales</a:t>
            </a:r>
            <a:endParaRPr lang="en-US" sz="880" b="0" u="none" strike="noStrike">
              <a:solidFill>
                <a:srgbClr val="000000"/>
              </a:solidFill>
              <a:effectLst/>
              <a:uFillTx/>
              <a:latin typeface="Arial"/>
            </a:endParaRPr>
          </a:p>
        </p:txBody>
      </p:sp>
      <p:cxnSp>
        <p:nvCxnSpPr>
          <p:cNvPr id="639" name="decor-tick"/>
          <p:cNvCxnSpPr/>
          <p:nvPr/>
        </p:nvCxnSpPr>
        <p:spPr>
          <a:xfrm>
            <a:off x="8247600" y="2395440"/>
            <a:ext cx="1440" cy="147960"/>
          </a:xfrm>
          <a:prstGeom prst="straightConnector1">
            <a:avLst/>
          </a:prstGeom>
          <a:ln w="0">
            <a:solidFill>
              <a:srgbClr val="F2A122"/>
            </a:solidFill>
          </a:ln>
        </p:spPr>
      </p:cxnSp>
      <p:sp>
        <p:nvSpPr>
          <p:cNvPr id="640" name="content-takeaway"/>
          <p:cNvSpPr/>
          <p:nvPr/>
        </p:nvSpPr>
        <p:spPr>
          <a:xfrm>
            <a:off x="914400" y="3794760"/>
            <a:ext cx="7313760" cy="309600"/>
          </a:xfrm>
          <a:prstGeom prst="rect">
            <a:avLst/>
          </a:prstGeom>
          <a:noFill/>
          <a:ln w="0">
            <a:noFill/>
          </a:ln>
        </p:spPr>
        <p:style>
          <a:lnRef idx="0"/>
          <a:fillRef idx="0"/>
          <a:effectRef idx="0"/>
          <a:fontRef idx="minor"/>
        </p:style>
        <p:txBody>
          <a:bodyPr lIns="45720" tIns="45000" rIns="45720" bIns="45000" anchor="t">
            <a:normAutofit fontScale="77500" lnSpcReduction="19999"/>
          </a:bodyPr>
          <a:p>
            <a:pPr algn="ctr">
              <a:lnSpc>
                <a:spcPct val="100000"/>
              </a:lnSpc>
            </a:pPr>
            <a:r>
              <a:rPr lang="en-US" sz="1600" b="1" u="none" strike="noStrike">
                <a:solidFill>
                  <a:srgbClr val="091F3F"/>
                </a:solidFill>
                <a:effectLst/>
                <a:uFillTx/>
                <a:latin typeface="Aptos"/>
              </a:rPr>
              <a:t>The pattern: enthusiasm → limits → new representation or algorithm → broader success.</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1"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42"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643"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Expert systems: powerful, but brittle</a:t>
            </a:r>
            <a:endParaRPr lang="en-US" sz="2400" b="0" u="none" strike="noStrike">
              <a:solidFill>
                <a:srgbClr val="000000"/>
              </a:solidFill>
              <a:effectLst/>
              <a:uFillTx/>
              <a:latin typeface="Arial"/>
            </a:endParaRPr>
          </a:p>
        </p:txBody>
      </p:sp>
      <p:sp>
        <p:nvSpPr>
          <p:cNvPr id="644"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Domain knowledge can outperform general weak methods—until the world changes.</a:t>
            </a:r>
            <a:endParaRPr lang="en-US" sz="1150" b="0" u="none" strike="noStrike">
              <a:solidFill>
                <a:srgbClr val="000000"/>
              </a:solidFill>
              <a:effectLst/>
              <a:uFillTx/>
              <a:latin typeface="Arial"/>
            </a:endParaRPr>
          </a:p>
        </p:txBody>
      </p:sp>
      <p:cxnSp>
        <p:nvCxnSpPr>
          <p:cNvPr id="645" name="decor-title-line"/>
          <p:cNvCxnSpPr/>
          <p:nvPr/>
        </p:nvCxnSpPr>
        <p:spPr>
          <a:xfrm>
            <a:off x="320040" y="932400"/>
            <a:ext cx="8505360" cy="1440"/>
          </a:xfrm>
          <a:prstGeom prst="straightConnector1">
            <a:avLst/>
          </a:prstGeom>
          <a:ln w="25400">
            <a:solidFill>
              <a:srgbClr val="F2A122"/>
            </a:solidFill>
            <a:round/>
          </a:ln>
        </p:spPr>
      </p:cxnSp>
      <p:sp>
        <p:nvSpPr>
          <p:cNvPr id="646"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647" name="content-node"/>
          <p:cNvSpPr/>
          <p:nvPr/>
        </p:nvSpPr>
        <p:spPr>
          <a:xfrm>
            <a:off x="685800" y="1417320"/>
            <a:ext cx="1918800" cy="54720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48" name="content-node-text"/>
          <p:cNvSpPr/>
          <p:nvPr/>
        </p:nvSpPr>
        <p:spPr>
          <a:xfrm>
            <a:off x="777240" y="1627560"/>
            <a:ext cx="1735920" cy="13572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500" b="1" u="none" strike="noStrike">
                <a:solidFill>
                  <a:srgbClr val="FFFFFF"/>
                </a:solidFill>
                <a:effectLst/>
                <a:uFillTx/>
                <a:latin typeface="Aptos"/>
              </a:rPr>
              <a:t>Facts</a:t>
            </a:r>
            <a:endParaRPr lang="en-US" sz="1500" b="0" u="none" strike="noStrike">
              <a:solidFill>
                <a:srgbClr val="000000"/>
              </a:solidFill>
              <a:effectLst/>
              <a:uFillTx/>
              <a:latin typeface="Arial"/>
            </a:endParaRPr>
          </a:p>
        </p:txBody>
      </p:sp>
      <p:sp>
        <p:nvSpPr>
          <p:cNvPr id="649" name="content-node"/>
          <p:cNvSpPr/>
          <p:nvPr/>
        </p:nvSpPr>
        <p:spPr>
          <a:xfrm>
            <a:off x="685800" y="2331720"/>
            <a:ext cx="1918800" cy="547200"/>
          </a:xfrm>
          <a:prstGeom prst="roundRect">
            <a:avLst>
              <a:gd name="adj" fmla="val 16667"/>
            </a:avLst>
          </a:prstGeom>
          <a:solidFill>
            <a:srgbClr val="7452A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50" name="content-node-text"/>
          <p:cNvSpPr/>
          <p:nvPr/>
        </p:nvSpPr>
        <p:spPr>
          <a:xfrm>
            <a:off x="777240" y="2541960"/>
            <a:ext cx="1735920" cy="13572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500" b="1" u="none" strike="noStrike">
                <a:solidFill>
                  <a:srgbClr val="FFFFFF"/>
                </a:solidFill>
                <a:effectLst/>
                <a:uFillTx/>
                <a:latin typeface="Aptos"/>
              </a:rPr>
              <a:t>Rules</a:t>
            </a:r>
            <a:endParaRPr lang="en-US" sz="1500" b="0" u="none" strike="noStrike">
              <a:solidFill>
                <a:srgbClr val="000000"/>
              </a:solidFill>
              <a:effectLst/>
              <a:uFillTx/>
              <a:latin typeface="Arial"/>
            </a:endParaRPr>
          </a:p>
        </p:txBody>
      </p:sp>
      <p:sp>
        <p:nvSpPr>
          <p:cNvPr id="651" name="content-node"/>
          <p:cNvSpPr/>
          <p:nvPr/>
        </p:nvSpPr>
        <p:spPr>
          <a:xfrm>
            <a:off x="3291840" y="1874520"/>
            <a:ext cx="1918800" cy="547200"/>
          </a:xfrm>
          <a:prstGeom prst="roundRect">
            <a:avLst>
              <a:gd name="adj" fmla="val 16667"/>
            </a:avLst>
          </a:prstGeom>
          <a:solidFill>
            <a:srgbClr val="091F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52" name="content-node-text"/>
          <p:cNvSpPr/>
          <p:nvPr/>
        </p:nvSpPr>
        <p:spPr>
          <a:xfrm>
            <a:off x="3383280" y="2075760"/>
            <a:ext cx="1735920" cy="13572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250" b="1" u="none" strike="noStrike">
                <a:solidFill>
                  <a:srgbClr val="FFFFFF"/>
                </a:solidFill>
                <a:effectLst/>
                <a:uFillTx/>
                <a:latin typeface="Aptos"/>
              </a:rPr>
              <a:t>Inference engine</a:t>
            </a:r>
            <a:endParaRPr lang="en-US" sz="1250" b="0" u="none" strike="noStrike">
              <a:solidFill>
                <a:srgbClr val="000000"/>
              </a:solidFill>
              <a:effectLst/>
              <a:uFillTx/>
              <a:latin typeface="Arial"/>
            </a:endParaRPr>
          </a:p>
        </p:txBody>
      </p:sp>
      <p:sp>
        <p:nvSpPr>
          <p:cNvPr id="653" name="content-node"/>
          <p:cNvSpPr/>
          <p:nvPr/>
        </p:nvSpPr>
        <p:spPr>
          <a:xfrm>
            <a:off x="5897880" y="1874520"/>
            <a:ext cx="1918800" cy="547200"/>
          </a:xfrm>
          <a:prstGeom prst="roundRect">
            <a:avLst>
              <a:gd name="adj" fmla="val 16667"/>
            </a:avLst>
          </a:prstGeom>
          <a:solidFill>
            <a:srgbClr val="4A9D5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54" name="content-node-text"/>
          <p:cNvSpPr/>
          <p:nvPr/>
        </p:nvSpPr>
        <p:spPr>
          <a:xfrm>
            <a:off x="5989320" y="2075760"/>
            <a:ext cx="1735920" cy="13572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500" b="1" u="none" strike="noStrike">
                <a:solidFill>
                  <a:srgbClr val="FFFFFF"/>
                </a:solidFill>
                <a:effectLst/>
                <a:uFillTx/>
                <a:latin typeface="Aptos"/>
              </a:rPr>
              <a:t>Advice</a:t>
            </a:r>
            <a:endParaRPr lang="en-US" sz="1500" b="0" u="none" strike="noStrike">
              <a:solidFill>
                <a:srgbClr val="000000"/>
              </a:solidFill>
              <a:effectLst/>
              <a:uFillTx/>
              <a:latin typeface="Arial"/>
            </a:endParaRPr>
          </a:p>
        </p:txBody>
      </p:sp>
      <p:cxnSp>
        <p:nvCxnSpPr>
          <p:cNvPr id="655" name="content-connector"/>
          <p:cNvCxnSpPr/>
          <p:nvPr/>
        </p:nvCxnSpPr>
        <p:spPr>
          <a:xfrm>
            <a:off x="2606040" y="1691640"/>
            <a:ext cx="687240" cy="367200"/>
          </a:xfrm>
          <a:prstGeom prst="straightConnector1">
            <a:avLst/>
          </a:prstGeom>
          <a:ln w="25400">
            <a:solidFill>
              <a:srgbClr val="5A6473"/>
            </a:solidFill>
            <a:round/>
          </a:ln>
        </p:spPr>
      </p:cxnSp>
      <p:cxnSp>
        <p:nvCxnSpPr>
          <p:cNvPr id="656" name="content-connector"/>
          <p:cNvCxnSpPr/>
          <p:nvPr/>
        </p:nvCxnSpPr>
        <p:spPr>
          <a:xfrm flipV="1">
            <a:off x="2606040" y="2240280"/>
            <a:ext cx="687240" cy="367200"/>
          </a:xfrm>
          <a:prstGeom prst="straightConnector1">
            <a:avLst/>
          </a:prstGeom>
          <a:ln w="25400">
            <a:solidFill>
              <a:srgbClr val="5A6473"/>
            </a:solidFill>
            <a:round/>
          </a:ln>
        </p:spPr>
      </p:cxnSp>
      <p:cxnSp>
        <p:nvCxnSpPr>
          <p:cNvPr id="657" name="content-connector"/>
          <p:cNvCxnSpPr/>
          <p:nvPr/>
        </p:nvCxnSpPr>
        <p:spPr>
          <a:xfrm>
            <a:off x="5212080" y="2148840"/>
            <a:ext cx="687240" cy="1440"/>
          </a:xfrm>
          <a:prstGeom prst="straightConnector1">
            <a:avLst/>
          </a:prstGeom>
          <a:ln w="25400">
            <a:solidFill>
              <a:srgbClr val="5A6473"/>
            </a:solidFill>
            <a:round/>
          </a:ln>
        </p:spPr>
      </p:cxnSp>
      <p:sp>
        <p:nvSpPr>
          <p:cNvPr id="658" name="content-bullets"/>
          <p:cNvSpPr/>
          <p:nvPr/>
        </p:nvSpPr>
        <p:spPr>
          <a:xfrm>
            <a:off x="1005840" y="3429000"/>
            <a:ext cx="6948000" cy="684360"/>
          </a:xfrm>
          <a:prstGeom prst="rect">
            <a:avLst/>
          </a:prstGeom>
          <a:noFill/>
          <a:ln w="0">
            <a:noFill/>
          </a:ln>
        </p:spPr>
        <p:style>
          <a:lnRef idx="0"/>
          <a:fillRef idx="0"/>
          <a:effectRef idx="0"/>
          <a:fontRef idx="minor"/>
        </p:style>
        <p:txBody>
          <a:bodyPr lIns="90000" tIns="18360" rIns="45720" bIns="18360" anchor="t">
            <a:normAutofit fontScale="85000" lnSpcReduction="19999"/>
          </a:bodyPr>
          <a:p>
            <a:pPr>
              <a:lnSpc>
                <a:spcPct val="105000"/>
              </a:lnSpc>
              <a:spcAft>
                <a:spcPts val="601"/>
              </a:spcAft>
            </a:pPr>
            <a:r>
              <a:rPr lang="en-US" sz="1500" b="0" u="none" strike="noStrike">
                <a:solidFill>
                  <a:srgbClr val="1E1E1E"/>
                </a:solidFill>
                <a:effectLst/>
                <a:uFillTx/>
                <a:latin typeface="Aptos"/>
              </a:rPr>
              <a:t>• Strength: explainable rule-based decisions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Weakness: expensive knowledge engineering</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Weakness: brittle outside encoded cases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9"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60"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661"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Deep learning: learned representations</a:t>
            </a:r>
            <a:endParaRPr lang="en-US" sz="2400" b="0" u="none" strike="noStrike">
              <a:solidFill>
                <a:srgbClr val="000000"/>
              </a:solidFill>
              <a:effectLst/>
              <a:uFillTx/>
              <a:latin typeface="Arial"/>
            </a:endParaRPr>
          </a:p>
        </p:txBody>
      </p:sp>
      <p:sp>
        <p:nvSpPr>
          <p:cNvPr id="662"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Modern AI often learns features instead of hand-coding them.</a:t>
            </a:r>
            <a:endParaRPr lang="en-US" sz="1150" b="0" u="none" strike="noStrike">
              <a:solidFill>
                <a:srgbClr val="000000"/>
              </a:solidFill>
              <a:effectLst/>
              <a:uFillTx/>
              <a:latin typeface="Arial"/>
            </a:endParaRPr>
          </a:p>
        </p:txBody>
      </p:sp>
      <p:cxnSp>
        <p:nvCxnSpPr>
          <p:cNvPr id="663" name="decor-title-line"/>
          <p:cNvCxnSpPr/>
          <p:nvPr/>
        </p:nvCxnSpPr>
        <p:spPr>
          <a:xfrm>
            <a:off x="320040" y="932400"/>
            <a:ext cx="8505360" cy="1440"/>
          </a:xfrm>
          <a:prstGeom prst="straightConnector1">
            <a:avLst/>
          </a:prstGeom>
          <a:ln w="25400">
            <a:solidFill>
              <a:srgbClr val="F2A122"/>
            </a:solidFill>
            <a:round/>
          </a:ln>
        </p:spPr>
      </p:cxnSp>
      <p:sp>
        <p:nvSpPr>
          <p:cNvPr id="664"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665" name="content-layer"/>
          <p:cNvSpPr/>
          <p:nvPr/>
        </p:nvSpPr>
        <p:spPr>
          <a:xfrm>
            <a:off x="777240" y="1920240"/>
            <a:ext cx="1324440" cy="59292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66" name="content-layer-text"/>
          <p:cNvSpPr/>
          <p:nvPr/>
        </p:nvSpPr>
        <p:spPr>
          <a:xfrm>
            <a:off x="822960" y="2130480"/>
            <a:ext cx="1233000" cy="144720"/>
          </a:xfrm>
          <a:prstGeom prst="rect">
            <a:avLst/>
          </a:prstGeom>
          <a:noFill/>
          <a:ln w="0">
            <a:noFill/>
          </a:ln>
        </p:spPr>
        <p:style>
          <a:lnRef idx="0"/>
          <a:fillRef idx="0"/>
          <a:effectRef idx="0"/>
          <a:fontRef idx="minor"/>
        </p:style>
        <p:txBody>
          <a:bodyPr lIns="45720" tIns="45000" rIns="45720" bIns="45000" anchor="t">
            <a:normAutofit fontScale="40000" lnSpcReduction="19999"/>
          </a:bodyPr>
          <a:p>
            <a:pPr algn="ctr">
              <a:lnSpc>
                <a:spcPct val="100000"/>
              </a:lnSpc>
            </a:pPr>
            <a:r>
              <a:rPr lang="en-US" sz="1050" b="1" u="none" strike="noStrike">
                <a:solidFill>
                  <a:srgbClr val="FFFFFF"/>
                </a:solidFill>
                <a:effectLst/>
                <a:uFillTx/>
                <a:latin typeface="Aptos"/>
              </a:rPr>
              <a:t>Input</a:t>
            </a:r>
            <a:endParaRPr lang="en-US" sz="1050" b="0" u="none" strike="noStrike">
              <a:solidFill>
                <a:srgbClr val="000000"/>
              </a:solidFill>
              <a:effectLst/>
              <a:uFillTx/>
              <a:latin typeface="Arial"/>
            </a:endParaRPr>
          </a:p>
        </p:txBody>
      </p:sp>
      <p:sp>
        <p:nvSpPr>
          <p:cNvPr id="667" name="content-layer"/>
          <p:cNvSpPr/>
          <p:nvPr/>
        </p:nvSpPr>
        <p:spPr>
          <a:xfrm>
            <a:off x="2377440" y="1920240"/>
            <a:ext cx="1324440" cy="592920"/>
          </a:xfrm>
          <a:prstGeom prst="roundRect">
            <a:avLst>
              <a:gd name="adj" fmla="val 16667"/>
            </a:avLst>
          </a:prstGeom>
          <a:solidFill>
            <a:srgbClr val="00897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68" name="content-layer-text"/>
          <p:cNvSpPr/>
          <p:nvPr/>
        </p:nvSpPr>
        <p:spPr>
          <a:xfrm>
            <a:off x="2423160" y="2130480"/>
            <a:ext cx="1233000" cy="144720"/>
          </a:xfrm>
          <a:prstGeom prst="rect">
            <a:avLst/>
          </a:prstGeom>
          <a:noFill/>
          <a:ln w="0">
            <a:noFill/>
          </a:ln>
        </p:spPr>
        <p:style>
          <a:lnRef idx="0"/>
          <a:fillRef idx="0"/>
          <a:effectRef idx="0"/>
          <a:fontRef idx="minor"/>
        </p:style>
        <p:txBody>
          <a:bodyPr lIns="45720" tIns="45000" rIns="45720" bIns="45000" anchor="t">
            <a:normAutofit fontScale="40000" lnSpcReduction="19999"/>
          </a:bodyPr>
          <a:p>
            <a:pPr algn="ctr">
              <a:lnSpc>
                <a:spcPct val="100000"/>
              </a:lnSpc>
            </a:pPr>
            <a:r>
              <a:rPr lang="en-US" sz="1050" b="1" u="none" strike="noStrike">
                <a:solidFill>
                  <a:srgbClr val="FFFFFF"/>
                </a:solidFill>
                <a:effectLst/>
                <a:uFillTx/>
                <a:latin typeface="Aptos"/>
              </a:rPr>
              <a:t>Features</a:t>
            </a:r>
            <a:endParaRPr lang="en-US" sz="1050" b="0" u="none" strike="noStrike">
              <a:solidFill>
                <a:srgbClr val="000000"/>
              </a:solidFill>
              <a:effectLst/>
              <a:uFillTx/>
              <a:latin typeface="Arial"/>
            </a:endParaRPr>
          </a:p>
        </p:txBody>
      </p:sp>
      <p:sp>
        <p:nvSpPr>
          <p:cNvPr id="669" name="content-layer"/>
          <p:cNvSpPr/>
          <p:nvPr/>
        </p:nvSpPr>
        <p:spPr>
          <a:xfrm>
            <a:off x="4206240" y="1920240"/>
            <a:ext cx="1324440" cy="592920"/>
          </a:xfrm>
          <a:prstGeom prst="roundRect">
            <a:avLst>
              <a:gd name="adj" fmla="val 16667"/>
            </a:avLst>
          </a:prstGeom>
          <a:solidFill>
            <a:srgbClr val="7452A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70" name="content-layer-text"/>
          <p:cNvSpPr/>
          <p:nvPr/>
        </p:nvSpPr>
        <p:spPr>
          <a:xfrm>
            <a:off x="4251960" y="2130480"/>
            <a:ext cx="1233000" cy="144720"/>
          </a:xfrm>
          <a:prstGeom prst="rect">
            <a:avLst/>
          </a:prstGeom>
          <a:noFill/>
          <a:ln w="0">
            <a:noFill/>
          </a:ln>
        </p:spPr>
        <p:style>
          <a:lnRef idx="0"/>
          <a:fillRef idx="0"/>
          <a:effectRef idx="0"/>
          <a:fontRef idx="minor"/>
        </p:style>
        <p:txBody>
          <a:bodyPr lIns="45720" tIns="45000" rIns="45720" bIns="45000" anchor="t">
            <a:normAutofit fontScale="40000" lnSpcReduction="19999"/>
          </a:bodyPr>
          <a:p>
            <a:pPr algn="ctr">
              <a:lnSpc>
                <a:spcPct val="100000"/>
              </a:lnSpc>
            </a:pPr>
            <a:r>
              <a:rPr lang="en-US" sz="1050" b="1" u="none" strike="noStrike">
                <a:solidFill>
                  <a:srgbClr val="FFFFFF"/>
                </a:solidFill>
                <a:effectLst/>
                <a:uFillTx/>
                <a:latin typeface="Aptos"/>
              </a:rPr>
              <a:t>Hidden layers</a:t>
            </a:r>
            <a:endParaRPr lang="en-US" sz="1050" b="0" u="none" strike="noStrike">
              <a:solidFill>
                <a:srgbClr val="000000"/>
              </a:solidFill>
              <a:effectLst/>
              <a:uFillTx/>
              <a:latin typeface="Arial"/>
            </a:endParaRPr>
          </a:p>
        </p:txBody>
      </p:sp>
      <p:sp>
        <p:nvSpPr>
          <p:cNvPr id="671" name="content-layer"/>
          <p:cNvSpPr/>
          <p:nvPr/>
        </p:nvSpPr>
        <p:spPr>
          <a:xfrm>
            <a:off x="6400800" y="1920240"/>
            <a:ext cx="1324440" cy="592920"/>
          </a:xfrm>
          <a:prstGeom prst="roundRect">
            <a:avLst>
              <a:gd name="adj" fmla="val 16667"/>
            </a:avLst>
          </a:prstGeom>
          <a:solidFill>
            <a:srgbClr val="4A9D5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72" name="content-layer-text"/>
          <p:cNvSpPr/>
          <p:nvPr/>
        </p:nvSpPr>
        <p:spPr>
          <a:xfrm>
            <a:off x="6446520" y="2130480"/>
            <a:ext cx="1233000" cy="144720"/>
          </a:xfrm>
          <a:prstGeom prst="rect">
            <a:avLst/>
          </a:prstGeom>
          <a:noFill/>
          <a:ln w="0">
            <a:noFill/>
          </a:ln>
        </p:spPr>
        <p:style>
          <a:lnRef idx="0"/>
          <a:fillRef idx="0"/>
          <a:effectRef idx="0"/>
          <a:fontRef idx="minor"/>
        </p:style>
        <p:txBody>
          <a:bodyPr lIns="45720" tIns="45000" rIns="45720" bIns="45000" anchor="t">
            <a:normAutofit fontScale="40000" lnSpcReduction="19999"/>
          </a:bodyPr>
          <a:p>
            <a:pPr algn="ctr">
              <a:lnSpc>
                <a:spcPct val="100000"/>
              </a:lnSpc>
            </a:pPr>
            <a:r>
              <a:rPr lang="en-US" sz="1050" b="1" u="none" strike="noStrike">
                <a:solidFill>
                  <a:srgbClr val="FFFFFF"/>
                </a:solidFill>
                <a:effectLst/>
                <a:uFillTx/>
                <a:latin typeface="Aptos"/>
              </a:rPr>
              <a:t>Prediction / action</a:t>
            </a:r>
            <a:endParaRPr lang="en-US" sz="1050" b="0" u="none" strike="noStrike">
              <a:solidFill>
                <a:srgbClr val="000000"/>
              </a:solidFill>
              <a:effectLst/>
              <a:uFillTx/>
              <a:latin typeface="Arial"/>
            </a:endParaRPr>
          </a:p>
        </p:txBody>
      </p:sp>
      <p:cxnSp>
        <p:nvCxnSpPr>
          <p:cNvPr id="673" name="content-connector"/>
          <p:cNvCxnSpPr/>
          <p:nvPr/>
        </p:nvCxnSpPr>
        <p:spPr>
          <a:xfrm>
            <a:off x="2103120" y="2221920"/>
            <a:ext cx="275760" cy="1440"/>
          </a:xfrm>
          <a:prstGeom prst="straightConnector1">
            <a:avLst/>
          </a:prstGeom>
          <a:ln w="25400">
            <a:solidFill>
              <a:srgbClr val="5A6473"/>
            </a:solidFill>
            <a:round/>
          </a:ln>
        </p:spPr>
      </p:cxnSp>
      <p:cxnSp>
        <p:nvCxnSpPr>
          <p:cNvPr id="674" name="content-connector"/>
          <p:cNvCxnSpPr/>
          <p:nvPr/>
        </p:nvCxnSpPr>
        <p:spPr>
          <a:xfrm>
            <a:off x="3703320" y="2221920"/>
            <a:ext cx="504360" cy="1440"/>
          </a:xfrm>
          <a:prstGeom prst="straightConnector1">
            <a:avLst/>
          </a:prstGeom>
          <a:ln w="25400">
            <a:solidFill>
              <a:srgbClr val="5A6473"/>
            </a:solidFill>
            <a:round/>
          </a:ln>
        </p:spPr>
      </p:cxnSp>
      <p:cxnSp>
        <p:nvCxnSpPr>
          <p:cNvPr id="675" name="content-connector"/>
          <p:cNvCxnSpPr/>
          <p:nvPr/>
        </p:nvCxnSpPr>
        <p:spPr>
          <a:xfrm>
            <a:off x="5532120" y="2221920"/>
            <a:ext cx="870120" cy="1440"/>
          </a:xfrm>
          <a:prstGeom prst="straightConnector1">
            <a:avLst/>
          </a:prstGeom>
          <a:ln w="25400">
            <a:solidFill>
              <a:srgbClr val="5A6473"/>
            </a:solidFill>
            <a:round/>
          </a:ln>
        </p:spPr>
      </p:cxnSp>
      <p:sp>
        <p:nvSpPr>
          <p:cNvPr id="676" name="content-bullets"/>
          <p:cNvSpPr/>
          <p:nvPr/>
        </p:nvSpPr>
        <p:spPr>
          <a:xfrm>
            <a:off x="914400" y="3017520"/>
            <a:ext cx="7313760" cy="912960"/>
          </a:xfrm>
          <a:prstGeom prst="rect">
            <a:avLst/>
          </a:prstGeom>
          <a:noFill/>
          <a:ln w="0">
            <a:noFill/>
          </a:ln>
        </p:spPr>
        <p:style>
          <a:lnRef idx="0"/>
          <a:fillRef idx="0"/>
          <a:effectRef idx="0"/>
          <a:fontRef idx="minor"/>
        </p:style>
        <p:txBody>
          <a:bodyPr lIns="90000" tIns="18360" rIns="45720" bIns="18360" anchor="t">
            <a:normAutofit fontScale="85000" lnSpcReduction="19999"/>
          </a:bodyPr>
          <a:p>
            <a:pPr>
              <a:lnSpc>
                <a:spcPct val="105000"/>
              </a:lnSpc>
              <a:spcAft>
                <a:spcPts val="601"/>
              </a:spcAft>
            </a:pPr>
            <a:r>
              <a:rPr lang="en-US" sz="1500" b="0" u="none" strike="noStrike">
                <a:solidFill>
                  <a:srgbClr val="1E1E1E"/>
                </a:solidFill>
                <a:effectLst/>
                <a:uFillTx/>
                <a:latin typeface="Aptos"/>
              </a:rPr>
              <a:t>• Less manual feature engineering</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Needs data, compute, and careful evaluation</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Still embedded inside an agent with objectives and actions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Can be brittle under distribution shift</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7"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78"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679"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State of the art: capability is not the same as robustness</a:t>
            </a:r>
            <a:endParaRPr lang="en-US" sz="2400" b="0" u="none" strike="noStrike">
              <a:solidFill>
                <a:srgbClr val="000000"/>
              </a:solidFill>
              <a:effectLst/>
              <a:uFillTx/>
              <a:latin typeface="Arial"/>
            </a:endParaRPr>
          </a:p>
        </p:txBody>
      </p:sp>
      <p:sp>
        <p:nvSpPr>
          <p:cNvPr id="680"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A system can be excellent on a benchmark and still fail in deployment.</a:t>
            </a:r>
            <a:endParaRPr lang="en-US" sz="1150" b="0" u="none" strike="noStrike">
              <a:solidFill>
                <a:srgbClr val="000000"/>
              </a:solidFill>
              <a:effectLst/>
              <a:uFillTx/>
              <a:latin typeface="Arial"/>
            </a:endParaRPr>
          </a:p>
        </p:txBody>
      </p:sp>
      <p:cxnSp>
        <p:nvCxnSpPr>
          <p:cNvPr id="681" name="decor-title-line"/>
          <p:cNvCxnSpPr/>
          <p:nvPr/>
        </p:nvCxnSpPr>
        <p:spPr>
          <a:xfrm>
            <a:off x="320040" y="932400"/>
            <a:ext cx="8505360" cy="1440"/>
          </a:xfrm>
          <a:prstGeom prst="straightConnector1">
            <a:avLst/>
          </a:prstGeom>
          <a:ln w="25400">
            <a:solidFill>
              <a:srgbClr val="F2A122"/>
            </a:solidFill>
            <a:round/>
          </a:ln>
        </p:spPr>
      </p:cxnSp>
      <p:sp>
        <p:nvSpPr>
          <p:cNvPr id="682"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683" name="content-card"/>
          <p:cNvSpPr/>
          <p:nvPr/>
        </p:nvSpPr>
        <p:spPr>
          <a:xfrm>
            <a:off x="685800" y="1143000"/>
            <a:ext cx="3656160" cy="1370160"/>
          </a:xfrm>
          <a:prstGeom prst="roundRect">
            <a:avLst>
              <a:gd name="adj" fmla="val 16667"/>
            </a:avLst>
          </a:prstGeom>
          <a:solidFill>
            <a:srgbClr val="EDF8F4"/>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84" name="decor-card-accent"/>
          <p:cNvSpPr/>
          <p:nvPr/>
        </p:nvSpPr>
        <p:spPr>
          <a:xfrm>
            <a:off x="685800" y="1143000"/>
            <a:ext cx="71640" cy="137016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685" name="content-card-title"/>
          <p:cNvSpPr/>
          <p:nvPr/>
        </p:nvSpPr>
        <p:spPr>
          <a:xfrm>
            <a:off x="850320" y="125280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High capability</a:t>
            </a:r>
            <a:endParaRPr lang="en-US" sz="1250" b="0" u="none" strike="noStrike">
              <a:solidFill>
                <a:srgbClr val="000000"/>
              </a:solidFill>
              <a:effectLst/>
              <a:uFillTx/>
              <a:latin typeface="Arial"/>
            </a:endParaRPr>
          </a:p>
        </p:txBody>
      </p:sp>
      <p:sp>
        <p:nvSpPr>
          <p:cNvPr id="686" name="content-card-body"/>
          <p:cNvSpPr/>
          <p:nvPr/>
        </p:nvSpPr>
        <p:spPr>
          <a:xfrm>
            <a:off x="850320" y="1581840"/>
            <a:ext cx="3400200" cy="86724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Image recognition, speech recognition, translation, game playing, code generation, protein-structure prediction.</a:t>
            </a:r>
            <a:endParaRPr lang="en-US" sz="1300" b="0" u="none" strike="noStrike">
              <a:solidFill>
                <a:srgbClr val="000000"/>
              </a:solidFill>
              <a:effectLst/>
              <a:uFillTx/>
              <a:latin typeface="Arial"/>
            </a:endParaRPr>
          </a:p>
        </p:txBody>
      </p:sp>
      <p:sp>
        <p:nvSpPr>
          <p:cNvPr id="687" name="content-card"/>
          <p:cNvSpPr/>
          <p:nvPr/>
        </p:nvSpPr>
        <p:spPr>
          <a:xfrm>
            <a:off x="4709160" y="1143000"/>
            <a:ext cx="3656160" cy="1370160"/>
          </a:xfrm>
          <a:prstGeom prst="roundRect">
            <a:avLst>
              <a:gd name="adj" fmla="val 16667"/>
            </a:avLst>
          </a:prstGeom>
          <a:solidFill>
            <a:srgbClr val="FFEEEE"/>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88" name="decor-card-accent"/>
          <p:cNvSpPr/>
          <p:nvPr/>
        </p:nvSpPr>
        <p:spPr>
          <a:xfrm>
            <a:off x="4709160" y="1143000"/>
            <a:ext cx="71640" cy="1370160"/>
          </a:xfrm>
          <a:prstGeom prst="rect">
            <a:avLst/>
          </a:prstGeom>
          <a:solidFill>
            <a:srgbClr val="B73D3B"/>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689" name="content-card-title"/>
          <p:cNvSpPr/>
          <p:nvPr/>
        </p:nvSpPr>
        <p:spPr>
          <a:xfrm>
            <a:off x="4873680" y="125280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Remaining limits</a:t>
            </a:r>
            <a:endParaRPr lang="en-US" sz="1250" b="0" u="none" strike="noStrike">
              <a:solidFill>
                <a:srgbClr val="000000"/>
              </a:solidFill>
              <a:effectLst/>
              <a:uFillTx/>
              <a:latin typeface="Arial"/>
            </a:endParaRPr>
          </a:p>
        </p:txBody>
      </p:sp>
      <p:sp>
        <p:nvSpPr>
          <p:cNvPr id="690" name="content-card-body"/>
          <p:cNvSpPr/>
          <p:nvPr/>
        </p:nvSpPr>
        <p:spPr>
          <a:xfrm>
            <a:off x="4873680" y="1581840"/>
            <a:ext cx="3400200" cy="86724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Out-of-distribution data, causal reasoning, long-horizon planning, uncertainty calibration, value alignment, verification.</a:t>
            </a:r>
            <a:endParaRPr lang="en-US" sz="1300" b="0" u="none" strike="noStrike">
              <a:solidFill>
                <a:srgbClr val="000000"/>
              </a:solidFill>
              <a:effectLst/>
              <a:uFillTx/>
              <a:latin typeface="Arial"/>
            </a:endParaRPr>
          </a:p>
        </p:txBody>
      </p:sp>
      <p:sp>
        <p:nvSpPr>
          <p:cNvPr id="691" name="content-question"/>
          <p:cNvSpPr/>
          <p:nvPr/>
        </p:nvSpPr>
        <p:spPr>
          <a:xfrm>
            <a:off x="914400" y="3246120"/>
            <a:ext cx="7313760" cy="382680"/>
          </a:xfrm>
          <a:prstGeom prst="rect">
            <a:avLst/>
          </a:prstGeom>
          <a:solidFill>
            <a:srgbClr val="E7F3FB"/>
          </a:solidFill>
          <a:ln w="0">
            <a:solidFill>
              <a:srgbClr val="DCE1E8"/>
            </a:solidFill>
          </a:ln>
        </p:spPr>
        <p:style>
          <a:lnRef idx="0"/>
          <a:fillRef idx="0"/>
          <a:effectRef idx="0"/>
          <a:fontRef idx="minor"/>
        </p:style>
        <p:txBody>
          <a:bodyPr lIns="54720" tIns="54720" rIns="54720" bIns="54720" anchor="t">
            <a:normAutofit fontScale="70000" lnSpcReduction="19999"/>
          </a:bodyPr>
          <a:p>
            <a:pPr algn="ctr">
              <a:lnSpc>
                <a:spcPct val="100000"/>
              </a:lnSpc>
            </a:pPr>
            <a:r>
              <a:rPr lang="en-US" sz="1800" b="1" u="none" strike="noStrike">
                <a:solidFill>
                  <a:srgbClr val="091F3F"/>
                </a:solidFill>
                <a:effectLst/>
                <a:uFillTx/>
                <a:latin typeface="Aptos"/>
              </a:rPr>
              <a:t>Class question: What would you test before deploying an AI agent in the real world?</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2"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93"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694"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Risk analysis: ask agent-design questions</a:t>
            </a:r>
            <a:endParaRPr lang="en-US" sz="2400" b="0" u="none" strike="noStrike">
              <a:solidFill>
                <a:srgbClr val="000000"/>
              </a:solidFill>
              <a:effectLst/>
              <a:uFillTx/>
              <a:latin typeface="Arial"/>
            </a:endParaRPr>
          </a:p>
        </p:txBody>
      </p:sp>
      <p:sp>
        <p:nvSpPr>
          <p:cNvPr id="695"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Safety and ethics are easier to discuss when we name the agent pieces.</a:t>
            </a:r>
            <a:endParaRPr lang="en-US" sz="1150" b="0" u="none" strike="noStrike">
              <a:solidFill>
                <a:srgbClr val="000000"/>
              </a:solidFill>
              <a:effectLst/>
              <a:uFillTx/>
              <a:latin typeface="Arial"/>
            </a:endParaRPr>
          </a:p>
        </p:txBody>
      </p:sp>
      <p:cxnSp>
        <p:nvCxnSpPr>
          <p:cNvPr id="696" name="decor-title-line"/>
          <p:cNvCxnSpPr/>
          <p:nvPr/>
        </p:nvCxnSpPr>
        <p:spPr>
          <a:xfrm>
            <a:off x="320040" y="932400"/>
            <a:ext cx="8505360" cy="1440"/>
          </a:xfrm>
          <a:prstGeom prst="straightConnector1">
            <a:avLst/>
          </a:prstGeom>
          <a:ln w="25400">
            <a:solidFill>
              <a:srgbClr val="F2A122"/>
            </a:solidFill>
            <a:round/>
          </a:ln>
        </p:spPr>
      </p:cxnSp>
      <p:sp>
        <p:nvSpPr>
          <p:cNvPr id="697"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698" name="content-card"/>
          <p:cNvSpPr/>
          <p:nvPr/>
        </p:nvSpPr>
        <p:spPr>
          <a:xfrm>
            <a:off x="548640" y="1143000"/>
            <a:ext cx="2421720" cy="86724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99" name="decor-card-accent"/>
          <p:cNvSpPr/>
          <p:nvPr/>
        </p:nvSpPr>
        <p:spPr>
          <a:xfrm>
            <a:off x="548640" y="1143000"/>
            <a:ext cx="71640" cy="867240"/>
          </a:xfrm>
          <a:prstGeom prst="rect">
            <a:avLst/>
          </a:prstGeom>
          <a:solidFill>
            <a:srgbClr val="2084C9"/>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700" name="content-card-title"/>
          <p:cNvSpPr/>
          <p:nvPr/>
        </p:nvSpPr>
        <p:spPr>
          <a:xfrm>
            <a:off x="713160" y="1252800"/>
            <a:ext cx="216576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Objective</a:t>
            </a:r>
            <a:endParaRPr lang="en-US" sz="1250" b="0" u="none" strike="noStrike">
              <a:solidFill>
                <a:srgbClr val="000000"/>
              </a:solidFill>
              <a:effectLst/>
              <a:uFillTx/>
              <a:latin typeface="Arial"/>
            </a:endParaRPr>
          </a:p>
        </p:txBody>
      </p:sp>
      <p:sp>
        <p:nvSpPr>
          <p:cNvPr id="701" name="content-card-body"/>
          <p:cNvSpPr/>
          <p:nvPr/>
        </p:nvSpPr>
        <p:spPr>
          <a:xfrm>
            <a:off x="713160" y="1581840"/>
            <a:ext cx="216576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00" b="0" u="none" strike="noStrike">
                <a:solidFill>
                  <a:srgbClr val="1E1E1E"/>
                </a:solidFill>
                <a:effectLst/>
                <a:uFillTx/>
                <a:latin typeface="Aptos"/>
              </a:rPr>
              <a:t>What exactly is being optimized?</a:t>
            </a:r>
            <a:endParaRPr lang="en-US" sz="1200" b="0" u="none" strike="noStrike">
              <a:solidFill>
                <a:srgbClr val="000000"/>
              </a:solidFill>
              <a:effectLst/>
              <a:uFillTx/>
              <a:latin typeface="Arial"/>
            </a:endParaRPr>
          </a:p>
        </p:txBody>
      </p:sp>
      <p:sp>
        <p:nvSpPr>
          <p:cNvPr id="702" name="content-card"/>
          <p:cNvSpPr/>
          <p:nvPr/>
        </p:nvSpPr>
        <p:spPr>
          <a:xfrm>
            <a:off x="3337560" y="1143000"/>
            <a:ext cx="2421720" cy="86724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03" name="decor-card-accent"/>
          <p:cNvSpPr/>
          <p:nvPr/>
        </p:nvSpPr>
        <p:spPr>
          <a:xfrm>
            <a:off x="3337560" y="1143000"/>
            <a:ext cx="71640" cy="867240"/>
          </a:xfrm>
          <a:prstGeom prst="rect">
            <a:avLst/>
          </a:prstGeom>
          <a:solidFill>
            <a:srgbClr val="00897B"/>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704" name="content-card-title"/>
          <p:cNvSpPr/>
          <p:nvPr/>
        </p:nvSpPr>
        <p:spPr>
          <a:xfrm>
            <a:off x="3502080" y="1252800"/>
            <a:ext cx="216576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Sensors</a:t>
            </a:r>
            <a:endParaRPr lang="en-US" sz="1250" b="0" u="none" strike="noStrike">
              <a:solidFill>
                <a:srgbClr val="000000"/>
              </a:solidFill>
              <a:effectLst/>
              <a:uFillTx/>
              <a:latin typeface="Arial"/>
            </a:endParaRPr>
          </a:p>
        </p:txBody>
      </p:sp>
      <p:sp>
        <p:nvSpPr>
          <p:cNvPr id="705" name="content-card-body"/>
          <p:cNvSpPr/>
          <p:nvPr/>
        </p:nvSpPr>
        <p:spPr>
          <a:xfrm>
            <a:off x="3502080" y="1581840"/>
            <a:ext cx="216576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00" b="0" u="none" strike="noStrike">
                <a:solidFill>
                  <a:srgbClr val="1E1E1E"/>
                </a:solidFill>
                <a:effectLst/>
                <a:uFillTx/>
                <a:latin typeface="Aptos"/>
              </a:rPr>
              <a:t>What is missing, noisy, or biased?</a:t>
            </a:r>
            <a:endParaRPr lang="en-US" sz="1200" b="0" u="none" strike="noStrike">
              <a:solidFill>
                <a:srgbClr val="000000"/>
              </a:solidFill>
              <a:effectLst/>
              <a:uFillTx/>
              <a:latin typeface="Arial"/>
            </a:endParaRPr>
          </a:p>
        </p:txBody>
      </p:sp>
      <p:sp>
        <p:nvSpPr>
          <p:cNvPr id="706" name="content-card"/>
          <p:cNvSpPr/>
          <p:nvPr/>
        </p:nvSpPr>
        <p:spPr>
          <a:xfrm>
            <a:off x="6126480" y="1143000"/>
            <a:ext cx="2421720" cy="86724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07" name="decor-card-accent"/>
          <p:cNvSpPr/>
          <p:nvPr/>
        </p:nvSpPr>
        <p:spPr>
          <a:xfrm>
            <a:off x="6126480" y="1143000"/>
            <a:ext cx="71640" cy="86724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708" name="content-card-title"/>
          <p:cNvSpPr/>
          <p:nvPr/>
        </p:nvSpPr>
        <p:spPr>
          <a:xfrm>
            <a:off x="6291000" y="1252800"/>
            <a:ext cx="216576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Actions</a:t>
            </a:r>
            <a:endParaRPr lang="en-US" sz="1250" b="0" u="none" strike="noStrike">
              <a:solidFill>
                <a:srgbClr val="000000"/>
              </a:solidFill>
              <a:effectLst/>
              <a:uFillTx/>
              <a:latin typeface="Arial"/>
            </a:endParaRPr>
          </a:p>
        </p:txBody>
      </p:sp>
      <p:sp>
        <p:nvSpPr>
          <p:cNvPr id="709" name="content-card-body"/>
          <p:cNvSpPr/>
          <p:nvPr/>
        </p:nvSpPr>
        <p:spPr>
          <a:xfrm>
            <a:off x="6291000" y="1581840"/>
            <a:ext cx="2165760" cy="364320"/>
          </a:xfrm>
          <a:prstGeom prst="rect">
            <a:avLst/>
          </a:prstGeom>
          <a:noFill/>
          <a:ln w="0">
            <a:noFill/>
          </a:ln>
        </p:spPr>
        <p:style>
          <a:lnRef idx="0"/>
          <a:fillRef idx="0"/>
          <a:effectRef idx="0"/>
          <a:fontRef idx="minor"/>
        </p:style>
        <p:txBody>
          <a:bodyPr lIns="45720" tIns="45000" rIns="45720" bIns="45000" anchor="t">
            <a:normAutofit fontScale="92500" lnSpcReduction="9999"/>
          </a:bodyPr>
          <a:p>
            <a:pPr>
              <a:lnSpc>
                <a:spcPct val="100000"/>
              </a:lnSpc>
            </a:pPr>
            <a:r>
              <a:rPr lang="en-US" sz="1200" b="0" u="none" strike="noStrike">
                <a:solidFill>
                  <a:srgbClr val="1E1E1E"/>
                </a:solidFill>
                <a:effectLst/>
                <a:uFillTx/>
                <a:latin typeface="Aptos"/>
              </a:rPr>
              <a:t>What can the system change?</a:t>
            </a:r>
            <a:endParaRPr lang="en-US" sz="1200" b="0" u="none" strike="noStrike">
              <a:solidFill>
                <a:srgbClr val="000000"/>
              </a:solidFill>
              <a:effectLst/>
              <a:uFillTx/>
              <a:latin typeface="Arial"/>
            </a:endParaRPr>
          </a:p>
        </p:txBody>
      </p:sp>
      <p:sp>
        <p:nvSpPr>
          <p:cNvPr id="710" name="content-card"/>
          <p:cNvSpPr/>
          <p:nvPr/>
        </p:nvSpPr>
        <p:spPr>
          <a:xfrm>
            <a:off x="548640" y="2377440"/>
            <a:ext cx="2421720" cy="86724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11" name="decor-card-accent"/>
          <p:cNvSpPr/>
          <p:nvPr/>
        </p:nvSpPr>
        <p:spPr>
          <a:xfrm>
            <a:off x="548640" y="2377440"/>
            <a:ext cx="71640" cy="867240"/>
          </a:xfrm>
          <a:prstGeom prst="rect">
            <a:avLst/>
          </a:prstGeom>
          <a:solidFill>
            <a:srgbClr val="F2A122"/>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712" name="content-card-title"/>
          <p:cNvSpPr/>
          <p:nvPr/>
        </p:nvSpPr>
        <p:spPr>
          <a:xfrm>
            <a:off x="713160" y="2487240"/>
            <a:ext cx="216576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Environment</a:t>
            </a:r>
            <a:endParaRPr lang="en-US" sz="1250" b="0" u="none" strike="noStrike">
              <a:solidFill>
                <a:srgbClr val="000000"/>
              </a:solidFill>
              <a:effectLst/>
              <a:uFillTx/>
              <a:latin typeface="Arial"/>
            </a:endParaRPr>
          </a:p>
        </p:txBody>
      </p:sp>
      <p:sp>
        <p:nvSpPr>
          <p:cNvPr id="713" name="content-card-body"/>
          <p:cNvSpPr/>
          <p:nvPr/>
        </p:nvSpPr>
        <p:spPr>
          <a:xfrm>
            <a:off x="713160" y="2816280"/>
            <a:ext cx="2165760" cy="3643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00" b="0" u="none" strike="noStrike">
                <a:solidFill>
                  <a:srgbClr val="1E1E1E"/>
                </a:solidFill>
                <a:effectLst/>
                <a:uFillTx/>
                <a:latin typeface="Aptos"/>
              </a:rPr>
              <a:t>Who else is affected?</a:t>
            </a:r>
            <a:endParaRPr lang="en-US" sz="1200" b="0" u="none" strike="noStrike">
              <a:solidFill>
                <a:srgbClr val="000000"/>
              </a:solidFill>
              <a:effectLst/>
              <a:uFillTx/>
              <a:latin typeface="Arial"/>
            </a:endParaRPr>
          </a:p>
        </p:txBody>
      </p:sp>
      <p:sp>
        <p:nvSpPr>
          <p:cNvPr id="714" name="content-card"/>
          <p:cNvSpPr/>
          <p:nvPr/>
        </p:nvSpPr>
        <p:spPr>
          <a:xfrm>
            <a:off x="3337560" y="2377440"/>
            <a:ext cx="2421720" cy="86724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15" name="decor-card-accent"/>
          <p:cNvSpPr/>
          <p:nvPr/>
        </p:nvSpPr>
        <p:spPr>
          <a:xfrm>
            <a:off x="3337560" y="2377440"/>
            <a:ext cx="71640" cy="867240"/>
          </a:xfrm>
          <a:prstGeom prst="rect">
            <a:avLst/>
          </a:prstGeom>
          <a:solidFill>
            <a:srgbClr val="7452A6"/>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716" name="content-card-title"/>
          <p:cNvSpPr/>
          <p:nvPr/>
        </p:nvSpPr>
        <p:spPr>
          <a:xfrm>
            <a:off x="3502080" y="2487240"/>
            <a:ext cx="216576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Oversight</a:t>
            </a:r>
            <a:endParaRPr lang="en-US" sz="1250" b="0" u="none" strike="noStrike">
              <a:solidFill>
                <a:srgbClr val="000000"/>
              </a:solidFill>
              <a:effectLst/>
              <a:uFillTx/>
              <a:latin typeface="Arial"/>
            </a:endParaRPr>
          </a:p>
        </p:txBody>
      </p:sp>
      <p:sp>
        <p:nvSpPr>
          <p:cNvPr id="717" name="content-card-body"/>
          <p:cNvSpPr/>
          <p:nvPr/>
        </p:nvSpPr>
        <p:spPr>
          <a:xfrm>
            <a:off x="3502080" y="2816280"/>
            <a:ext cx="216576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00" b="0" u="none" strike="noStrike">
                <a:solidFill>
                  <a:srgbClr val="1E1E1E"/>
                </a:solidFill>
                <a:effectLst/>
                <a:uFillTx/>
                <a:latin typeface="Aptos"/>
              </a:rPr>
              <a:t>Can humans intervene or audit?</a:t>
            </a:r>
            <a:endParaRPr lang="en-US" sz="1200" b="0" u="none" strike="noStrike">
              <a:solidFill>
                <a:srgbClr val="000000"/>
              </a:solidFill>
              <a:effectLst/>
              <a:uFillTx/>
              <a:latin typeface="Arial"/>
            </a:endParaRPr>
          </a:p>
        </p:txBody>
      </p:sp>
      <p:sp>
        <p:nvSpPr>
          <p:cNvPr id="718" name="content-card"/>
          <p:cNvSpPr/>
          <p:nvPr/>
        </p:nvSpPr>
        <p:spPr>
          <a:xfrm>
            <a:off x="6126480" y="2377440"/>
            <a:ext cx="2421720" cy="86724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19" name="decor-card-accent"/>
          <p:cNvSpPr/>
          <p:nvPr/>
        </p:nvSpPr>
        <p:spPr>
          <a:xfrm>
            <a:off x="6126480" y="2377440"/>
            <a:ext cx="71640" cy="867240"/>
          </a:xfrm>
          <a:prstGeom prst="rect">
            <a:avLst/>
          </a:prstGeom>
          <a:solidFill>
            <a:srgbClr val="B73D3B"/>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720" name="content-card-title"/>
          <p:cNvSpPr/>
          <p:nvPr/>
        </p:nvSpPr>
        <p:spPr>
          <a:xfrm>
            <a:off x="6291000" y="2487240"/>
            <a:ext cx="216576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Learning</a:t>
            </a:r>
            <a:endParaRPr lang="en-US" sz="1250" b="0" u="none" strike="noStrike">
              <a:solidFill>
                <a:srgbClr val="000000"/>
              </a:solidFill>
              <a:effectLst/>
              <a:uFillTx/>
              <a:latin typeface="Arial"/>
            </a:endParaRPr>
          </a:p>
        </p:txBody>
      </p:sp>
      <p:sp>
        <p:nvSpPr>
          <p:cNvPr id="721" name="content-card-body"/>
          <p:cNvSpPr/>
          <p:nvPr/>
        </p:nvSpPr>
        <p:spPr>
          <a:xfrm>
            <a:off x="6291000" y="2816280"/>
            <a:ext cx="2165760" cy="36432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1200" b="0" u="none" strike="noStrike">
                <a:solidFill>
                  <a:srgbClr val="1E1E1E"/>
                </a:solidFill>
                <a:effectLst/>
                <a:uFillTx/>
                <a:latin typeface="Aptos"/>
              </a:rPr>
              <a:t>How does behavior change over time?</a:t>
            </a:r>
            <a:endParaRPr lang="en-US" sz="1200" b="0" u="none" strike="noStrike">
              <a:solidFill>
                <a:srgbClr val="000000"/>
              </a:solidFill>
              <a:effectLst/>
              <a:uFillTx/>
              <a:latin typeface="Arial"/>
            </a:endParaRPr>
          </a:p>
        </p:txBody>
      </p:sp>
      <p:sp>
        <p:nvSpPr>
          <p:cNvPr id="722" name="content-takeaway"/>
          <p:cNvSpPr/>
          <p:nvPr/>
        </p:nvSpPr>
        <p:spPr>
          <a:xfrm>
            <a:off x="1005840" y="3886200"/>
            <a:ext cx="7130880" cy="327600"/>
          </a:xfrm>
          <a:prstGeom prst="rect">
            <a:avLst/>
          </a:prstGeom>
          <a:noFill/>
          <a:ln w="0">
            <a:noFill/>
          </a:ln>
        </p:spPr>
        <p:style>
          <a:lnRef idx="0"/>
          <a:fillRef idx="0"/>
          <a:effectRef idx="0"/>
          <a:fontRef idx="minor"/>
        </p:style>
        <p:txBody>
          <a:bodyPr lIns="45720" tIns="45000" rIns="45720" bIns="45000" anchor="t">
            <a:normAutofit fontScale="92500" lnSpcReduction="9999"/>
          </a:bodyPr>
          <a:p>
            <a:pPr algn="ctr">
              <a:lnSpc>
                <a:spcPct val="100000"/>
              </a:lnSpc>
            </a:pPr>
            <a:r>
              <a:rPr lang="en-US" sz="1800" b="1" u="none" strike="noStrike">
                <a:solidFill>
                  <a:srgbClr val="091F3F"/>
                </a:solidFill>
                <a:effectLst/>
                <a:uFillTx/>
                <a:latin typeface="Aptos"/>
              </a:rPr>
              <a:t>Use PEAS before deployment, not after harm occurs.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24"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725"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Chapter 2: the core agent vocabulary</a:t>
            </a:r>
            <a:endParaRPr lang="en-US" sz="2400" b="0" u="none" strike="noStrike">
              <a:solidFill>
                <a:srgbClr val="000000"/>
              </a:solidFill>
              <a:effectLst/>
              <a:uFillTx/>
              <a:latin typeface="Arial"/>
            </a:endParaRPr>
          </a:p>
        </p:txBody>
      </p:sp>
      <p:sp>
        <p:nvSpPr>
          <p:cNvPr id="726"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Everything later in the course can be described using these terms.</a:t>
            </a:r>
            <a:endParaRPr lang="en-US" sz="1150" b="0" u="none" strike="noStrike">
              <a:solidFill>
                <a:srgbClr val="000000"/>
              </a:solidFill>
              <a:effectLst/>
              <a:uFillTx/>
              <a:latin typeface="Arial"/>
            </a:endParaRPr>
          </a:p>
        </p:txBody>
      </p:sp>
      <p:cxnSp>
        <p:nvCxnSpPr>
          <p:cNvPr id="727" name="decor-title-line"/>
          <p:cNvCxnSpPr/>
          <p:nvPr/>
        </p:nvCxnSpPr>
        <p:spPr>
          <a:xfrm>
            <a:off x="320040" y="932400"/>
            <a:ext cx="8505360" cy="1440"/>
          </a:xfrm>
          <a:prstGeom prst="straightConnector1">
            <a:avLst/>
          </a:prstGeom>
          <a:ln w="25400">
            <a:solidFill>
              <a:srgbClr val="F2A122"/>
            </a:solidFill>
            <a:round/>
          </a:ln>
        </p:spPr>
      </p:cxnSp>
      <p:sp>
        <p:nvSpPr>
          <p:cNvPr id="728"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729" name="content-term"/>
          <p:cNvSpPr/>
          <p:nvPr/>
        </p:nvSpPr>
        <p:spPr>
          <a:xfrm>
            <a:off x="731520" y="1097280"/>
            <a:ext cx="191880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Agent</a:t>
            </a:r>
            <a:endParaRPr lang="en-US" sz="1200" b="0" u="none" strike="noStrike">
              <a:solidFill>
                <a:srgbClr val="000000"/>
              </a:solidFill>
              <a:effectLst/>
              <a:uFillTx/>
              <a:latin typeface="Arial"/>
            </a:endParaRPr>
          </a:p>
        </p:txBody>
      </p:sp>
      <p:sp>
        <p:nvSpPr>
          <p:cNvPr id="730" name="content-def"/>
          <p:cNvSpPr/>
          <p:nvPr/>
        </p:nvSpPr>
        <p:spPr>
          <a:xfrm>
            <a:off x="2651760" y="1097280"/>
            <a:ext cx="530208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0" u="none" strike="noStrike">
                <a:solidFill>
                  <a:srgbClr val="1E1E1E"/>
                </a:solidFill>
                <a:effectLst/>
                <a:uFillTx/>
                <a:latin typeface="Aptos"/>
              </a:rPr>
              <a:t>perceives + acts</a:t>
            </a:r>
            <a:endParaRPr lang="en-US" sz="1200" b="0" u="none" strike="noStrike">
              <a:solidFill>
                <a:srgbClr val="000000"/>
              </a:solidFill>
              <a:effectLst/>
              <a:uFillTx/>
              <a:latin typeface="Arial"/>
            </a:endParaRPr>
          </a:p>
        </p:txBody>
      </p:sp>
      <p:sp>
        <p:nvSpPr>
          <p:cNvPr id="731" name="content-term"/>
          <p:cNvSpPr/>
          <p:nvPr/>
        </p:nvSpPr>
        <p:spPr>
          <a:xfrm>
            <a:off x="731520" y="1536120"/>
            <a:ext cx="191880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Percept sequence</a:t>
            </a:r>
            <a:endParaRPr lang="en-US" sz="1200" b="0" u="none" strike="noStrike">
              <a:solidFill>
                <a:srgbClr val="000000"/>
              </a:solidFill>
              <a:effectLst/>
              <a:uFillTx/>
              <a:latin typeface="Arial"/>
            </a:endParaRPr>
          </a:p>
        </p:txBody>
      </p:sp>
      <p:sp>
        <p:nvSpPr>
          <p:cNvPr id="732" name="content-def"/>
          <p:cNvSpPr/>
          <p:nvPr/>
        </p:nvSpPr>
        <p:spPr>
          <a:xfrm>
            <a:off x="2651760" y="1536120"/>
            <a:ext cx="530208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0" u="none" strike="noStrike">
                <a:solidFill>
                  <a:srgbClr val="1E1E1E"/>
                </a:solidFill>
                <a:effectLst/>
                <a:uFillTx/>
                <a:latin typeface="Aptos"/>
              </a:rPr>
              <a:t>history of inputs</a:t>
            </a:r>
            <a:endParaRPr lang="en-US" sz="1200" b="0" u="none" strike="noStrike">
              <a:solidFill>
                <a:srgbClr val="000000"/>
              </a:solidFill>
              <a:effectLst/>
              <a:uFillTx/>
              <a:latin typeface="Arial"/>
            </a:endParaRPr>
          </a:p>
        </p:txBody>
      </p:sp>
      <p:sp>
        <p:nvSpPr>
          <p:cNvPr id="733" name="content-term"/>
          <p:cNvSpPr/>
          <p:nvPr/>
        </p:nvSpPr>
        <p:spPr>
          <a:xfrm>
            <a:off x="731520" y="1974960"/>
            <a:ext cx="191880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Agent function</a:t>
            </a:r>
            <a:endParaRPr lang="en-US" sz="1200" b="0" u="none" strike="noStrike">
              <a:solidFill>
                <a:srgbClr val="000000"/>
              </a:solidFill>
              <a:effectLst/>
              <a:uFillTx/>
              <a:latin typeface="Arial"/>
            </a:endParaRPr>
          </a:p>
        </p:txBody>
      </p:sp>
      <p:sp>
        <p:nvSpPr>
          <p:cNvPr id="734" name="content-def"/>
          <p:cNvSpPr/>
          <p:nvPr/>
        </p:nvSpPr>
        <p:spPr>
          <a:xfrm>
            <a:off x="2651760" y="1974960"/>
            <a:ext cx="530208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0" u="none" strike="noStrike">
                <a:solidFill>
                  <a:srgbClr val="1E1E1E"/>
                </a:solidFill>
                <a:effectLst/>
                <a:uFillTx/>
                <a:latin typeface="Aptos"/>
              </a:rPr>
              <a:t>percepts → action</a:t>
            </a:r>
            <a:endParaRPr lang="en-US" sz="1200" b="0" u="none" strike="noStrike">
              <a:solidFill>
                <a:srgbClr val="000000"/>
              </a:solidFill>
              <a:effectLst/>
              <a:uFillTx/>
              <a:latin typeface="Arial"/>
            </a:endParaRPr>
          </a:p>
        </p:txBody>
      </p:sp>
      <p:sp>
        <p:nvSpPr>
          <p:cNvPr id="735" name="content-term"/>
          <p:cNvSpPr/>
          <p:nvPr/>
        </p:nvSpPr>
        <p:spPr>
          <a:xfrm>
            <a:off x="731520" y="2414160"/>
            <a:ext cx="191880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Performance measure</a:t>
            </a:r>
            <a:endParaRPr lang="en-US" sz="1200" b="0" u="none" strike="noStrike">
              <a:solidFill>
                <a:srgbClr val="000000"/>
              </a:solidFill>
              <a:effectLst/>
              <a:uFillTx/>
              <a:latin typeface="Arial"/>
            </a:endParaRPr>
          </a:p>
        </p:txBody>
      </p:sp>
      <p:sp>
        <p:nvSpPr>
          <p:cNvPr id="736" name="content-def"/>
          <p:cNvSpPr/>
          <p:nvPr/>
        </p:nvSpPr>
        <p:spPr>
          <a:xfrm>
            <a:off x="2651760" y="2414160"/>
            <a:ext cx="530208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0" u="none" strike="noStrike">
                <a:solidFill>
                  <a:srgbClr val="1E1E1E"/>
                </a:solidFill>
                <a:effectLst/>
                <a:uFillTx/>
                <a:latin typeface="Aptos"/>
              </a:rPr>
              <a:t>scores outcomes</a:t>
            </a:r>
            <a:endParaRPr lang="en-US" sz="1200" b="0" u="none" strike="noStrike">
              <a:solidFill>
                <a:srgbClr val="000000"/>
              </a:solidFill>
              <a:effectLst/>
              <a:uFillTx/>
              <a:latin typeface="Arial"/>
            </a:endParaRPr>
          </a:p>
        </p:txBody>
      </p:sp>
      <p:sp>
        <p:nvSpPr>
          <p:cNvPr id="737" name="content-term"/>
          <p:cNvSpPr/>
          <p:nvPr/>
        </p:nvSpPr>
        <p:spPr>
          <a:xfrm>
            <a:off x="731520" y="2853000"/>
            <a:ext cx="191880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PEAS</a:t>
            </a:r>
            <a:endParaRPr lang="en-US" sz="1200" b="0" u="none" strike="noStrike">
              <a:solidFill>
                <a:srgbClr val="000000"/>
              </a:solidFill>
              <a:effectLst/>
              <a:uFillTx/>
              <a:latin typeface="Arial"/>
            </a:endParaRPr>
          </a:p>
        </p:txBody>
      </p:sp>
      <p:sp>
        <p:nvSpPr>
          <p:cNvPr id="738" name="content-def"/>
          <p:cNvSpPr/>
          <p:nvPr/>
        </p:nvSpPr>
        <p:spPr>
          <a:xfrm>
            <a:off x="2651760" y="2853000"/>
            <a:ext cx="530208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0" u="none" strike="noStrike">
                <a:solidFill>
                  <a:srgbClr val="1E1E1E"/>
                </a:solidFill>
                <a:effectLst/>
                <a:uFillTx/>
                <a:latin typeface="Aptos"/>
              </a:rPr>
              <a:t>task specification</a:t>
            </a:r>
            <a:endParaRPr lang="en-US" sz="1200" b="0" u="none" strike="noStrike">
              <a:solidFill>
                <a:srgbClr val="000000"/>
              </a:solidFill>
              <a:effectLst/>
              <a:uFillTx/>
              <a:latin typeface="Arial"/>
            </a:endParaRPr>
          </a:p>
        </p:txBody>
      </p:sp>
      <p:sp>
        <p:nvSpPr>
          <p:cNvPr id="739" name="content-term"/>
          <p:cNvSpPr/>
          <p:nvPr/>
        </p:nvSpPr>
        <p:spPr>
          <a:xfrm>
            <a:off x="731520" y="3291840"/>
            <a:ext cx="191880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Environment dimensions</a:t>
            </a:r>
            <a:endParaRPr lang="en-US" sz="1200" b="0" u="none" strike="noStrike">
              <a:solidFill>
                <a:srgbClr val="000000"/>
              </a:solidFill>
              <a:effectLst/>
              <a:uFillTx/>
              <a:latin typeface="Arial"/>
            </a:endParaRPr>
          </a:p>
        </p:txBody>
      </p:sp>
      <p:sp>
        <p:nvSpPr>
          <p:cNvPr id="740" name="content-def"/>
          <p:cNvSpPr/>
          <p:nvPr/>
        </p:nvSpPr>
        <p:spPr>
          <a:xfrm>
            <a:off x="2651760" y="3291840"/>
            <a:ext cx="530208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0" u="none" strike="noStrike">
                <a:solidFill>
                  <a:srgbClr val="1E1E1E"/>
                </a:solidFill>
                <a:effectLst/>
                <a:uFillTx/>
                <a:latin typeface="Aptos"/>
              </a:rPr>
              <a:t>design constraints</a:t>
            </a:r>
            <a:endParaRPr lang="en-US" sz="1200" b="0" u="none" strike="noStrike">
              <a:solidFill>
                <a:srgbClr val="000000"/>
              </a:solidFill>
              <a:effectLst/>
              <a:uFillTx/>
              <a:latin typeface="Arial"/>
            </a:endParaRPr>
          </a:p>
        </p:txBody>
      </p:sp>
      <p:sp>
        <p:nvSpPr>
          <p:cNvPr id="741" name="content-term"/>
          <p:cNvSpPr/>
          <p:nvPr/>
        </p:nvSpPr>
        <p:spPr>
          <a:xfrm>
            <a:off x="731520" y="3730680"/>
            <a:ext cx="191880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Agent architecture</a:t>
            </a:r>
            <a:endParaRPr lang="en-US" sz="1200" b="0" u="none" strike="noStrike">
              <a:solidFill>
                <a:srgbClr val="000000"/>
              </a:solidFill>
              <a:effectLst/>
              <a:uFillTx/>
              <a:latin typeface="Arial"/>
            </a:endParaRPr>
          </a:p>
        </p:txBody>
      </p:sp>
      <p:sp>
        <p:nvSpPr>
          <p:cNvPr id="742" name="content-def"/>
          <p:cNvSpPr/>
          <p:nvPr/>
        </p:nvSpPr>
        <p:spPr>
          <a:xfrm>
            <a:off x="2651760" y="3730680"/>
            <a:ext cx="530208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0" u="none" strike="noStrike">
                <a:solidFill>
                  <a:srgbClr val="1E1E1E"/>
                </a:solidFill>
                <a:effectLst/>
                <a:uFillTx/>
                <a:latin typeface="Aptos"/>
              </a:rPr>
              <a:t>program structure</a:t>
            </a:r>
            <a:endParaRPr lang="en-US" sz="1200" b="0" u="none" strike="noStrike">
              <a:solidFill>
                <a:srgbClr val="000000"/>
              </a:solidFill>
              <a:effectLst/>
              <a:uFillTx/>
              <a:latin typeface="Arial"/>
            </a:endParaRPr>
          </a:p>
        </p:txBody>
      </p:sp>
      <p:sp>
        <p:nvSpPr>
          <p:cNvPr id="743" name="content-bottom"/>
          <p:cNvSpPr/>
          <p:nvPr/>
        </p:nvSpPr>
        <p:spPr>
          <a:xfrm>
            <a:off x="914400" y="4343400"/>
            <a:ext cx="7313760" cy="2271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gn="ctr">
              <a:lnSpc>
                <a:spcPct val="100000"/>
              </a:lnSpc>
            </a:pPr>
            <a:r>
              <a:rPr lang="en-US" sz="1500" b="1" u="none" strike="noStrike">
                <a:solidFill>
                  <a:srgbClr val="091F3F"/>
                </a:solidFill>
                <a:effectLst/>
                <a:uFillTx/>
                <a:latin typeface="Aptos"/>
              </a:rPr>
              <a:t>These words let students discuss any AI system without jumping straight to code.</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45"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746"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Agent = sensors + program + actuators</a:t>
            </a:r>
            <a:endParaRPr lang="en-US" sz="2400" b="0" u="none" strike="noStrike">
              <a:solidFill>
                <a:srgbClr val="000000"/>
              </a:solidFill>
              <a:effectLst/>
              <a:uFillTx/>
              <a:latin typeface="Arial"/>
            </a:endParaRPr>
          </a:p>
        </p:txBody>
      </p:sp>
      <p:sp>
        <p:nvSpPr>
          <p:cNvPr id="747"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The environment both influences and is influenced by the agent.</a:t>
            </a:r>
            <a:endParaRPr lang="en-US" sz="1150" b="0" u="none" strike="noStrike">
              <a:solidFill>
                <a:srgbClr val="000000"/>
              </a:solidFill>
              <a:effectLst/>
              <a:uFillTx/>
              <a:latin typeface="Arial"/>
            </a:endParaRPr>
          </a:p>
        </p:txBody>
      </p:sp>
      <p:cxnSp>
        <p:nvCxnSpPr>
          <p:cNvPr id="748" name="decor-title-line"/>
          <p:cNvCxnSpPr/>
          <p:nvPr/>
        </p:nvCxnSpPr>
        <p:spPr>
          <a:xfrm>
            <a:off x="320040" y="932400"/>
            <a:ext cx="8505360" cy="1440"/>
          </a:xfrm>
          <a:prstGeom prst="straightConnector1">
            <a:avLst/>
          </a:prstGeom>
          <a:ln w="25400">
            <a:solidFill>
              <a:srgbClr val="F2A122"/>
            </a:solidFill>
            <a:round/>
          </a:ln>
        </p:spPr>
      </p:cxnSp>
      <p:sp>
        <p:nvSpPr>
          <p:cNvPr id="749"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pic>
        <p:nvPicPr>
          <p:cNvPr id="750" name="content-agent-figure" descr="image1.png"/>
          <p:cNvPicPr/>
          <p:nvPr/>
        </p:nvPicPr>
        <p:blipFill>
          <a:blip r:embed="rId1"/>
          <a:stretch/>
        </p:blipFill>
        <p:spPr>
          <a:xfrm>
            <a:off x="685800" y="1088640"/>
            <a:ext cx="4021920" cy="2896200"/>
          </a:xfrm>
          <a:prstGeom prst="rect">
            <a:avLst/>
          </a:prstGeom>
          <a:noFill/>
          <a:ln w="0">
            <a:noFill/>
          </a:ln>
        </p:spPr>
      </p:pic>
      <p:sp>
        <p:nvSpPr>
          <p:cNvPr id="751" name="content-bullets"/>
          <p:cNvSpPr/>
          <p:nvPr/>
        </p:nvSpPr>
        <p:spPr>
          <a:xfrm>
            <a:off x="4983480" y="1417320"/>
            <a:ext cx="3473280" cy="159876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500" b="0" u="none" strike="noStrike">
                <a:solidFill>
                  <a:srgbClr val="1E1E1E"/>
                </a:solidFill>
                <a:effectLst/>
                <a:uFillTx/>
                <a:latin typeface="Aptos"/>
              </a:rPr>
              <a:t>• Sensors turn environment state into percepts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The agent program chooses actions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Actuators affect the environment</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The loop repeats over time</a:t>
            </a:r>
            <a:endParaRPr lang="en-US" sz="1500" b="0" u="none" strike="noStrike">
              <a:solidFill>
                <a:srgbClr val="000000"/>
              </a:solidFill>
              <a:effectLst/>
              <a:uFillTx/>
              <a:latin typeface="Arial"/>
            </a:endParaRPr>
          </a:p>
        </p:txBody>
      </p:sp>
      <p:sp>
        <p:nvSpPr>
          <p:cNvPr id="752" name="content-warning"/>
          <p:cNvSpPr/>
          <p:nvPr/>
        </p:nvSpPr>
        <p:spPr>
          <a:xfrm>
            <a:off x="4892040" y="3474720"/>
            <a:ext cx="3656160" cy="382680"/>
          </a:xfrm>
          <a:prstGeom prst="rect">
            <a:avLst/>
          </a:prstGeom>
          <a:solidFill>
            <a:srgbClr val="E7F3FB"/>
          </a:solidFill>
          <a:ln w="0">
            <a:solidFill>
              <a:srgbClr val="DCE1E8"/>
            </a:solidFill>
          </a:ln>
        </p:spPr>
        <p:style>
          <a:lnRef idx="0"/>
          <a:fillRef idx="0"/>
          <a:effectRef idx="0"/>
          <a:fontRef idx="minor"/>
        </p:style>
        <p:txBody>
          <a:bodyPr lIns="54720" tIns="54720" rIns="54720" bIns="54720" anchor="t">
            <a:normAutofit fontScale="70000" lnSpcReduction="19999"/>
          </a:bodyPr>
          <a:p>
            <a:pPr>
              <a:lnSpc>
                <a:spcPct val="100000"/>
              </a:lnSpc>
            </a:pPr>
            <a:r>
              <a:rPr lang="en-US" sz="1500" b="1" u="none" strike="noStrike">
                <a:solidFill>
                  <a:srgbClr val="091F3F"/>
                </a:solidFill>
                <a:effectLst/>
                <a:uFillTx/>
                <a:latin typeface="Aptos"/>
              </a:rPr>
              <a:t>Important: the agent usually sees only part of the environment.</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54"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755"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Percept sequence: the history matters</a:t>
            </a:r>
            <a:endParaRPr lang="en-US" sz="2400" b="0" u="none" strike="noStrike">
              <a:solidFill>
                <a:srgbClr val="000000"/>
              </a:solidFill>
              <a:effectLst/>
              <a:uFillTx/>
              <a:latin typeface="Arial"/>
            </a:endParaRPr>
          </a:p>
        </p:txBody>
      </p:sp>
      <p:sp>
        <p:nvSpPr>
          <p:cNvPr id="756"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The current percept may not contain enough information.</a:t>
            </a:r>
            <a:endParaRPr lang="en-US" sz="1150" b="0" u="none" strike="noStrike">
              <a:solidFill>
                <a:srgbClr val="000000"/>
              </a:solidFill>
              <a:effectLst/>
              <a:uFillTx/>
              <a:latin typeface="Arial"/>
            </a:endParaRPr>
          </a:p>
        </p:txBody>
      </p:sp>
      <p:cxnSp>
        <p:nvCxnSpPr>
          <p:cNvPr id="757" name="decor-title-line"/>
          <p:cNvCxnSpPr/>
          <p:nvPr/>
        </p:nvCxnSpPr>
        <p:spPr>
          <a:xfrm>
            <a:off x="320040" y="932400"/>
            <a:ext cx="8505360" cy="1440"/>
          </a:xfrm>
          <a:prstGeom prst="straightConnector1">
            <a:avLst/>
          </a:prstGeom>
          <a:ln w="25400">
            <a:solidFill>
              <a:srgbClr val="F2A122"/>
            </a:solidFill>
            <a:round/>
          </a:ln>
        </p:spPr>
      </p:cxnSp>
      <p:sp>
        <p:nvSpPr>
          <p:cNvPr id="758"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759" name="content-label"/>
          <p:cNvSpPr/>
          <p:nvPr/>
        </p:nvSpPr>
        <p:spPr>
          <a:xfrm>
            <a:off x="731520" y="1143000"/>
            <a:ext cx="2010240" cy="254520"/>
          </a:xfrm>
          <a:prstGeom prst="rect">
            <a:avLst/>
          </a:prstGeom>
          <a:solidFill>
            <a:srgbClr val="2084C9"/>
          </a:solidFill>
          <a:ln w="0">
            <a:solidFill>
              <a:srgbClr val="2084C9"/>
            </a:solidFill>
          </a:ln>
        </p:spPr>
        <p:style>
          <a:lnRef idx="0"/>
          <a:fillRef idx="0"/>
          <a:effectRef idx="0"/>
          <a:fontRef idx="minor"/>
        </p:style>
        <p:txBody>
          <a:bodyPr lIns="36720" tIns="36720" rIns="36720" bIns="36720" anchor="t">
            <a:normAutofit fontScale="85000" lnSpcReduction="19999"/>
          </a:bodyPr>
          <a:p>
            <a:pPr algn="ctr">
              <a:lnSpc>
                <a:spcPct val="100000"/>
              </a:lnSpc>
            </a:pPr>
            <a:r>
              <a:rPr lang="en-US" sz="1600" b="1" u="none" strike="noStrike">
                <a:solidFill>
                  <a:srgbClr val="FFFFFF"/>
                </a:solidFill>
                <a:effectLst/>
                <a:uFillTx/>
                <a:latin typeface="Aptos"/>
              </a:rPr>
              <a:t>Current percept</a:t>
            </a:r>
            <a:endParaRPr lang="en-US" sz="1600" b="0" u="none" strike="noStrike">
              <a:solidFill>
                <a:srgbClr val="FFFFFF"/>
              </a:solidFill>
              <a:effectLst/>
              <a:uFillTx/>
              <a:latin typeface="Arial"/>
            </a:endParaRPr>
          </a:p>
        </p:txBody>
      </p:sp>
      <p:sp>
        <p:nvSpPr>
          <p:cNvPr id="760" name="content-percept"/>
          <p:cNvSpPr/>
          <p:nvPr/>
        </p:nvSpPr>
        <p:spPr>
          <a:xfrm>
            <a:off x="731520" y="1554480"/>
            <a:ext cx="2010240" cy="318600"/>
          </a:xfrm>
          <a:prstGeom prst="rect">
            <a:avLst/>
          </a:prstGeom>
          <a:solidFill>
            <a:srgbClr val="E7F3FB"/>
          </a:solidFill>
          <a:ln w="0">
            <a:solidFill>
              <a:srgbClr val="DCE1E8"/>
            </a:solidFill>
          </a:ln>
        </p:spPr>
        <p:style>
          <a:lnRef idx="0"/>
          <a:fillRef idx="0"/>
          <a:effectRef idx="0"/>
          <a:fontRef idx="minor"/>
        </p:style>
        <p:txBody>
          <a:bodyPr lIns="45720" tIns="45000" rIns="45720" bIns="45000" anchor="t">
            <a:normAutofit fontScale="85000" lnSpcReduction="9999"/>
          </a:bodyPr>
          <a:p>
            <a:pPr algn="ctr">
              <a:lnSpc>
                <a:spcPct val="100000"/>
              </a:lnSpc>
            </a:pPr>
            <a:r>
              <a:rPr lang="en-US" sz="1800" b="1" u="none" strike="noStrike">
                <a:solidFill>
                  <a:srgbClr val="091F3F"/>
                </a:solidFill>
                <a:effectLst/>
                <a:uFillTx/>
                <a:latin typeface="Aptos"/>
              </a:rPr>
              <a:t>(A, Clean)</a:t>
            </a:r>
            <a:endParaRPr lang="en-US" sz="1800" b="0" u="none" strike="noStrike">
              <a:solidFill>
                <a:srgbClr val="000000"/>
              </a:solidFill>
              <a:effectLst/>
              <a:uFillTx/>
              <a:latin typeface="Arial"/>
            </a:endParaRPr>
          </a:p>
        </p:txBody>
      </p:sp>
      <p:sp>
        <p:nvSpPr>
          <p:cNvPr id="761" name="content-label"/>
          <p:cNvSpPr/>
          <p:nvPr/>
        </p:nvSpPr>
        <p:spPr>
          <a:xfrm>
            <a:off x="3474720" y="1143000"/>
            <a:ext cx="2376000" cy="254520"/>
          </a:xfrm>
          <a:prstGeom prst="rect">
            <a:avLst/>
          </a:prstGeom>
          <a:solidFill>
            <a:srgbClr val="7452A6"/>
          </a:solidFill>
          <a:ln w="0">
            <a:solidFill>
              <a:srgbClr val="7452A6"/>
            </a:solidFill>
          </a:ln>
        </p:spPr>
        <p:style>
          <a:lnRef idx="0"/>
          <a:fillRef idx="0"/>
          <a:effectRef idx="0"/>
          <a:fontRef idx="minor"/>
        </p:style>
        <p:txBody>
          <a:bodyPr lIns="36720" tIns="36720" rIns="36720" bIns="36720" anchor="t">
            <a:normAutofit fontScale="85000" lnSpcReduction="19999"/>
          </a:bodyPr>
          <a:p>
            <a:pPr algn="ctr">
              <a:lnSpc>
                <a:spcPct val="100000"/>
              </a:lnSpc>
            </a:pPr>
            <a:r>
              <a:rPr lang="en-US" sz="1600" b="1" u="none" strike="noStrike">
                <a:solidFill>
                  <a:srgbClr val="FFFFFF"/>
                </a:solidFill>
                <a:effectLst/>
                <a:uFillTx/>
                <a:latin typeface="Aptos"/>
              </a:rPr>
              <a:t>Percept sequence</a:t>
            </a:r>
            <a:endParaRPr lang="en-US" sz="1600" b="0" u="none" strike="noStrike">
              <a:solidFill>
                <a:srgbClr val="FFFFFF"/>
              </a:solidFill>
              <a:effectLst/>
              <a:uFillTx/>
              <a:latin typeface="Arial"/>
            </a:endParaRPr>
          </a:p>
        </p:txBody>
      </p:sp>
      <p:sp>
        <p:nvSpPr>
          <p:cNvPr id="762" name="content-seq"/>
          <p:cNvSpPr/>
          <p:nvPr/>
        </p:nvSpPr>
        <p:spPr>
          <a:xfrm>
            <a:off x="3154680" y="1554480"/>
            <a:ext cx="3061800" cy="592920"/>
          </a:xfrm>
          <a:prstGeom prst="rect">
            <a:avLst/>
          </a:prstGeom>
          <a:solidFill>
            <a:srgbClr val="F2ECFA"/>
          </a:solidFill>
          <a:ln w="0">
            <a:solidFill>
              <a:srgbClr val="DCE1E8"/>
            </a:solidFill>
          </a:ln>
        </p:spPr>
        <p:style>
          <a:lnRef idx="0"/>
          <a:fillRef idx="0"/>
          <a:effectRef idx="0"/>
          <a:fontRef idx="minor"/>
        </p:style>
        <p:txBody>
          <a:bodyPr lIns="54720" tIns="54720" rIns="54720" bIns="54720" anchor="t">
            <a:normAutofit/>
          </a:bodyPr>
          <a:p>
            <a:pPr algn="ctr">
              <a:lnSpc>
                <a:spcPct val="100000"/>
              </a:lnSpc>
            </a:pPr>
            <a:r>
              <a:rPr lang="en-US" sz="1300" b="1" u="none" strike="noStrike">
                <a:solidFill>
                  <a:srgbClr val="091F3F"/>
                </a:solidFill>
                <a:effectLst/>
                <a:uFillTx/>
                <a:latin typeface="Aptos"/>
              </a:rPr>
              <a:t>[(A, Dirty), Suck, (A, Clean), Right, (B, Dirty)]</a:t>
            </a:r>
            <a:endParaRPr lang="en-US" sz="1300" b="0" u="none" strike="noStrike">
              <a:solidFill>
                <a:srgbClr val="000000"/>
              </a:solidFill>
              <a:effectLst/>
              <a:uFillTx/>
              <a:latin typeface="Arial"/>
            </a:endParaRPr>
          </a:p>
        </p:txBody>
      </p:sp>
      <p:sp>
        <p:nvSpPr>
          <p:cNvPr id="763" name="content-check-title"/>
          <p:cNvSpPr/>
          <p:nvPr/>
        </p:nvSpPr>
        <p:spPr>
          <a:xfrm>
            <a:off x="914400" y="2880360"/>
            <a:ext cx="7313760" cy="2545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gn="ctr">
              <a:lnSpc>
                <a:spcPct val="100000"/>
              </a:lnSpc>
            </a:pPr>
            <a:r>
              <a:rPr lang="en-US" sz="1800" b="1" u="none" strike="noStrike">
                <a:solidFill>
                  <a:srgbClr val="091F3F"/>
                </a:solidFill>
                <a:effectLst/>
                <a:uFillTx/>
                <a:latin typeface="Aptos"/>
              </a:rPr>
              <a:t>Student check</a:t>
            </a:r>
            <a:endParaRPr lang="en-US" sz="1800" b="0" u="none" strike="noStrike">
              <a:solidFill>
                <a:srgbClr val="000000"/>
              </a:solidFill>
              <a:effectLst/>
              <a:uFillTx/>
              <a:latin typeface="Arial"/>
            </a:endParaRPr>
          </a:p>
        </p:txBody>
      </p:sp>
      <p:sp>
        <p:nvSpPr>
          <p:cNvPr id="764" name="content-check"/>
          <p:cNvSpPr/>
          <p:nvPr/>
        </p:nvSpPr>
        <p:spPr>
          <a:xfrm>
            <a:off x="1005840" y="3246120"/>
            <a:ext cx="7130880" cy="50148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gn="ctr">
              <a:lnSpc>
                <a:spcPct val="100000"/>
              </a:lnSpc>
            </a:pPr>
            <a:r>
              <a:rPr lang="en-US" sz="1700" b="0" u="none" strike="noStrike">
                <a:solidFill>
                  <a:srgbClr val="1E1E1E"/>
                </a:solidFill>
                <a:effectLst/>
                <a:uFillTx/>
                <a:latin typeface="Aptos"/>
              </a:rPr>
              <a:t>If the current square is clean, should the vacuum move left, right, or stop? What extra information would help?</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66"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767"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Agent function ≠ agent program</a:t>
            </a:r>
            <a:endParaRPr lang="en-US" sz="2400" b="0" u="none" strike="noStrike">
              <a:solidFill>
                <a:srgbClr val="000000"/>
              </a:solidFill>
              <a:effectLst/>
              <a:uFillTx/>
              <a:latin typeface="Arial"/>
            </a:endParaRPr>
          </a:p>
        </p:txBody>
      </p:sp>
      <p:sp>
        <p:nvSpPr>
          <p:cNvPr id="768"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The function is abstract; the program is the implementation.</a:t>
            </a:r>
            <a:endParaRPr lang="en-US" sz="1150" b="0" u="none" strike="noStrike">
              <a:solidFill>
                <a:srgbClr val="000000"/>
              </a:solidFill>
              <a:effectLst/>
              <a:uFillTx/>
              <a:latin typeface="Arial"/>
            </a:endParaRPr>
          </a:p>
        </p:txBody>
      </p:sp>
      <p:cxnSp>
        <p:nvCxnSpPr>
          <p:cNvPr id="769" name="decor-title-line"/>
          <p:cNvCxnSpPr/>
          <p:nvPr/>
        </p:nvCxnSpPr>
        <p:spPr>
          <a:xfrm>
            <a:off x="320040" y="932400"/>
            <a:ext cx="8505360" cy="1440"/>
          </a:xfrm>
          <a:prstGeom prst="straightConnector1">
            <a:avLst/>
          </a:prstGeom>
          <a:ln w="25400">
            <a:solidFill>
              <a:srgbClr val="F2A122"/>
            </a:solidFill>
            <a:round/>
          </a:ln>
        </p:spPr>
      </p:cxnSp>
      <p:sp>
        <p:nvSpPr>
          <p:cNvPr id="770"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pic>
        <p:nvPicPr>
          <p:cNvPr id="771" name="content-vacuum-table" descr="image2.png"/>
          <p:cNvPicPr/>
          <p:nvPr/>
        </p:nvPicPr>
        <p:blipFill>
          <a:blip r:embed="rId1"/>
          <a:stretch/>
        </p:blipFill>
        <p:spPr>
          <a:xfrm>
            <a:off x="914400" y="1092960"/>
            <a:ext cx="2692080" cy="3707640"/>
          </a:xfrm>
          <a:prstGeom prst="rect">
            <a:avLst/>
          </a:prstGeom>
          <a:noFill/>
          <a:ln w="0">
            <a:noFill/>
          </a:ln>
        </p:spPr>
      </p:pic>
      <p:sp>
        <p:nvSpPr>
          <p:cNvPr id="772" name="content-card"/>
          <p:cNvSpPr/>
          <p:nvPr/>
        </p:nvSpPr>
        <p:spPr>
          <a:xfrm>
            <a:off x="4343400" y="1143000"/>
            <a:ext cx="3839040" cy="1233000"/>
          </a:xfrm>
          <a:prstGeom prst="roundRect">
            <a:avLst>
              <a:gd name="adj" fmla="val 16667"/>
            </a:avLst>
          </a:prstGeom>
          <a:solidFill>
            <a:srgbClr val="E7F3FB"/>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73" name="decor-card-accent"/>
          <p:cNvSpPr/>
          <p:nvPr/>
        </p:nvSpPr>
        <p:spPr>
          <a:xfrm>
            <a:off x="4343400" y="1143000"/>
            <a:ext cx="71640" cy="1233000"/>
          </a:xfrm>
          <a:prstGeom prst="rect">
            <a:avLst/>
          </a:prstGeom>
          <a:solidFill>
            <a:srgbClr val="2084C9"/>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774" name="content-card-title"/>
          <p:cNvSpPr/>
          <p:nvPr/>
        </p:nvSpPr>
        <p:spPr>
          <a:xfrm>
            <a:off x="4507920" y="1252800"/>
            <a:ext cx="358308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Agent function</a:t>
            </a:r>
            <a:endParaRPr lang="en-US" sz="1250" b="0" u="none" strike="noStrike">
              <a:solidFill>
                <a:srgbClr val="000000"/>
              </a:solidFill>
              <a:effectLst/>
              <a:uFillTx/>
              <a:latin typeface="Arial"/>
            </a:endParaRPr>
          </a:p>
        </p:txBody>
      </p:sp>
      <p:sp>
        <p:nvSpPr>
          <p:cNvPr id="775" name="content-card-body"/>
          <p:cNvSpPr/>
          <p:nvPr/>
        </p:nvSpPr>
        <p:spPr>
          <a:xfrm>
            <a:off x="4507920" y="1581840"/>
            <a:ext cx="3583080" cy="7300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Mathematical mapping:</a:t>
            </a:r>
            <a:br>
              <a:rPr sz="1300"/>
            </a:br>
            <a:r>
              <a:rPr lang="en-US" sz="1300" b="0" u="none" strike="noStrike">
                <a:solidFill>
                  <a:srgbClr val="1E1E1E"/>
                </a:solidFill>
                <a:effectLst/>
                <a:uFillTx/>
                <a:latin typeface="Aptos"/>
              </a:rPr>
              <a:t>percept sequence → action.</a:t>
            </a:r>
            <a:br>
              <a:rPr sz="1300"/>
            </a:br>
            <a:r>
              <a:rPr lang="en-US" sz="1300" b="0" u="none" strike="noStrike">
                <a:solidFill>
                  <a:srgbClr val="1E1E1E"/>
                </a:solidFill>
                <a:effectLst/>
                <a:uFillTx/>
                <a:latin typeface="Aptos"/>
              </a:rPr>
              <a:t>Could be tabulated in principle.</a:t>
            </a:r>
            <a:endParaRPr lang="en-US" sz="1300" b="0" u="none" strike="noStrike">
              <a:solidFill>
                <a:srgbClr val="000000"/>
              </a:solidFill>
              <a:effectLst/>
              <a:uFillTx/>
              <a:latin typeface="Arial"/>
            </a:endParaRPr>
          </a:p>
        </p:txBody>
      </p:sp>
      <p:sp>
        <p:nvSpPr>
          <p:cNvPr id="776" name="content-card"/>
          <p:cNvSpPr/>
          <p:nvPr/>
        </p:nvSpPr>
        <p:spPr>
          <a:xfrm>
            <a:off x="4343400" y="2697480"/>
            <a:ext cx="3839040" cy="1233000"/>
          </a:xfrm>
          <a:prstGeom prst="roundRect">
            <a:avLst>
              <a:gd name="adj" fmla="val 16667"/>
            </a:avLst>
          </a:prstGeom>
          <a:solidFill>
            <a:srgbClr val="EDF8F4"/>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77" name="decor-card-accent"/>
          <p:cNvSpPr/>
          <p:nvPr/>
        </p:nvSpPr>
        <p:spPr>
          <a:xfrm>
            <a:off x="4343400" y="2697480"/>
            <a:ext cx="71640" cy="123300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778" name="content-card-title"/>
          <p:cNvSpPr/>
          <p:nvPr/>
        </p:nvSpPr>
        <p:spPr>
          <a:xfrm>
            <a:off x="4507920" y="2807280"/>
            <a:ext cx="358308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Agent program</a:t>
            </a:r>
            <a:endParaRPr lang="en-US" sz="1250" b="0" u="none" strike="noStrike">
              <a:solidFill>
                <a:srgbClr val="000000"/>
              </a:solidFill>
              <a:effectLst/>
              <a:uFillTx/>
              <a:latin typeface="Arial"/>
            </a:endParaRPr>
          </a:p>
        </p:txBody>
      </p:sp>
      <p:sp>
        <p:nvSpPr>
          <p:cNvPr id="779" name="content-card-body"/>
          <p:cNvSpPr/>
          <p:nvPr/>
        </p:nvSpPr>
        <p:spPr>
          <a:xfrm>
            <a:off x="4507920" y="3136320"/>
            <a:ext cx="3583080" cy="7300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Compact code that implements behavior.</a:t>
            </a:r>
            <a:br>
              <a:rPr sz="1300"/>
            </a:br>
            <a:r>
              <a:rPr lang="en-US" sz="1300" b="0" u="none" strike="noStrike">
                <a:solidFill>
                  <a:srgbClr val="1E1E1E"/>
                </a:solidFill>
                <a:effectLst/>
                <a:uFillTx/>
                <a:latin typeface="Aptos"/>
              </a:rPr>
              <a:t>Runs on sensors, actuators, and hardware.</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0"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81"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782"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Why a tiny vacuum world teaches real AI</a:t>
            </a:r>
            <a:endParaRPr lang="en-US" sz="2400" b="0" u="none" strike="noStrike">
              <a:solidFill>
                <a:srgbClr val="000000"/>
              </a:solidFill>
              <a:effectLst/>
              <a:uFillTx/>
              <a:latin typeface="Arial"/>
            </a:endParaRPr>
          </a:p>
        </p:txBody>
      </p:sp>
      <p:sp>
        <p:nvSpPr>
          <p:cNvPr id="783"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Small environments reveal big design ideas.</a:t>
            </a:r>
            <a:endParaRPr lang="en-US" sz="1150" b="0" u="none" strike="noStrike">
              <a:solidFill>
                <a:srgbClr val="000000"/>
              </a:solidFill>
              <a:effectLst/>
              <a:uFillTx/>
              <a:latin typeface="Arial"/>
            </a:endParaRPr>
          </a:p>
        </p:txBody>
      </p:sp>
      <p:cxnSp>
        <p:nvCxnSpPr>
          <p:cNvPr id="784" name="decor-title-line"/>
          <p:cNvCxnSpPr/>
          <p:nvPr/>
        </p:nvCxnSpPr>
        <p:spPr>
          <a:xfrm>
            <a:off x="320040" y="932400"/>
            <a:ext cx="8505360" cy="1440"/>
          </a:xfrm>
          <a:prstGeom prst="straightConnector1">
            <a:avLst/>
          </a:prstGeom>
          <a:ln w="25400">
            <a:solidFill>
              <a:srgbClr val="F2A122"/>
            </a:solidFill>
            <a:round/>
          </a:ln>
        </p:spPr>
      </p:cxnSp>
      <p:sp>
        <p:nvSpPr>
          <p:cNvPr id="785"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pic>
        <p:nvPicPr>
          <p:cNvPr id="786" name="content-vacuum" descr="image2.png"/>
          <p:cNvPicPr/>
          <p:nvPr/>
        </p:nvPicPr>
        <p:blipFill>
          <a:blip r:embed="rId1"/>
          <a:stretch/>
        </p:blipFill>
        <p:spPr>
          <a:xfrm>
            <a:off x="1391400" y="1143000"/>
            <a:ext cx="2037600" cy="2806200"/>
          </a:xfrm>
          <a:prstGeom prst="rect">
            <a:avLst/>
          </a:prstGeom>
          <a:noFill/>
          <a:ln w="0">
            <a:noFill/>
          </a:ln>
        </p:spPr>
      </p:pic>
      <p:sp>
        <p:nvSpPr>
          <p:cNvPr id="787" name="content-bullets"/>
          <p:cNvSpPr/>
          <p:nvPr/>
        </p:nvSpPr>
        <p:spPr>
          <a:xfrm>
            <a:off x="4160520" y="1143000"/>
            <a:ext cx="4204800" cy="219312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500" b="0" u="none" strike="noStrike">
                <a:solidFill>
                  <a:srgbClr val="1E1E1E"/>
                </a:solidFill>
                <a:effectLst/>
                <a:uFillTx/>
                <a:latin typeface="Aptos"/>
              </a:rPr>
              <a:t>• Percepts: location and dirt status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Actions: Left, Right, Suck, NoOp</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Performance: clean floor over time</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Environment dimensions can be changed</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Agent architecture changes behavior</a:t>
            </a:r>
            <a:endParaRPr lang="en-US" sz="1500" b="0" u="none" strike="noStrike">
              <a:solidFill>
                <a:srgbClr val="000000"/>
              </a:solidFill>
              <a:effectLst/>
              <a:uFillTx/>
              <a:latin typeface="Arial"/>
            </a:endParaRPr>
          </a:p>
        </p:txBody>
      </p:sp>
      <p:sp>
        <p:nvSpPr>
          <p:cNvPr id="788" name="content-bottom"/>
          <p:cNvSpPr/>
          <p:nvPr/>
        </p:nvSpPr>
        <p:spPr>
          <a:xfrm>
            <a:off x="1005840" y="4154760"/>
            <a:ext cx="7130880" cy="3276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gn="ctr">
              <a:lnSpc>
                <a:spcPct val="100000"/>
              </a:lnSpc>
            </a:pPr>
            <a:r>
              <a:rPr lang="en-US" sz="1700" b="1" u="none" strike="noStrike">
                <a:solidFill>
                  <a:srgbClr val="091F3F"/>
                </a:solidFill>
                <a:effectLst/>
                <a:uFillTx/>
                <a:latin typeface="Aptos"/>
              </a:rPr>
              <a:t>The world is simple so students can focus on the agent design choices.</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9"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90"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791"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Rationality checklist</a:t>
            </a:r>
            <a:endParaRPr lang="en-US" sz="2400" b="0" u="none" strike="noStrike">
              <a:solidFill>
                <a:srgbClr val="000000"/>
              </a:solidFill>
              <a:effectLst/>
              <a:uFillTx/>
              <a:latin typeface="Arial"/>
            </a:endParaRPr>
          </a:p>
        </p:txBody>
      </p:sp>
      <p:sp>
        <p:nvSpPr>
          <p:cNvPr id="792"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A rational choice is relative to four pieces of information.</a:t>
            </a:r>
            <a:endParaRPr lang="en-US" sz="1150" b="0" u="none" strike="noStrike">
              <a:solidFill>
                <a:srgbClr val="000000"/>
              </a:solidFill>
              <a:effectLst/>
              <a:uFillTx/>
              <a:latin typeface="Arial"/>
            </a:endParaRPr>
          </a:p>
        </p:txBody>
      </p:sp>
      <p:cxnSp>
        <p:nvCxnSpPr>
          <p:cNvPr id="793" name="decor-title-line"/>
          <p:cNvCxnSpPr/>
          <p:nvPr/>
        </p:nvCxnSpPr>
        <p:spPr>
          <a:xfrm>
            <a:off x="320040" y="932400"/>
            <a:ext cx="8505360" cy="1440"/>
          </a:xfrm>
          <a:prstGeom prst="straightConnector1">
            <a:avLst/>
          </a:prstGeom>
          <a:ln w="25400">
            <a:solidFill>
              <a:srgbClr val="F2A122"/>
            </a:solidFill>
            <a:round/>
          </a:ln>
        </p:spPr>
      </p:cxnSp>
      <p:sp>
        <p:nvSpPr>
          <p:cNvPr id="794"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795" name="content-num"/>
          <p:cNvSpPr/>
          <p:nvPr/>
        </p:nvSpPr>
        <p:spPr>
          <a:xfrm>
            <a:off x="1005840" y="1143000"/>
            <a:ext cx="437400" cy="43740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96" name="content-num-text"/>
          <p:cNvSpPr/>
          <p:nvPr/>
        </p:nvSpPr>
        <p:spPr>
          <a:xfrm>
            <a:off x="1134000" y="1271160"/>
            <a:ext cx="181440" cy="9000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300" b="1" u="none" strike="noStrike">
                <a:solidFill>
                  <a:srgbClr val="FFFFFF"/>
                </a:solidFill>
                <a:effectLst/>
                <a:uFillTx/>
                <a:latin typeface="Aptos"/>
              </a:rPr>
              <a:t>1</a:t>
            </a:r>
            <a:endParaRPr lang="en-US" sz="1300" b="0" u="none" strike="noStrike">
              <a:solidFill>
                <a:srgbClr val="000000"/>
              </a:solidFill>
              <a:effectLst/>
              <a:uFillTx/>
              <a:latin typeface="Arial"/>
            </a:endParaRPr>
          </a:p>
        </p:txBody>
      </p:sp>
      <p:sp>
        <p:nvSpPr>
          <p:cNvPr id="797" name="content-label"/>
          <p:cNvSpPr/>
          <p:nvPr/>
        </p:nvSpPr>
        <p:spPr>
          <a:xfrm>
            <a:off x="1691640" y="1252800"/>
            <a:ext cx="5027760" cy="163080"/>
          </a:xfrm>
          <a:prstGeom prst="rect">
            <a:avLst/>
          </a:prstGeom>
          <a:noFill/>
          <a:ln w="0">
            <a:noFill/>
          </a:ln>
        </p:spPr>
        <p:style>
          <a:lnRef idx="0"/>
          <a:fillRef idx="0"/>
          <a:effectRef idx="0"/>
          <a:fontRef idx="minor"/>
        </p:style>
        <p:txBody>
          <a:bodyPr lIns="45720" tIns="45000" rIns="45720" bIns="45000" anchor="t">
            <a:normAutofit fontScale="32500" lnSpcReduction="19999"/>
          </a:bodyPr>
          <a:p>
            <a:pPr>
              <a:lnSpc>
                <a:spcPct val="100000"/>
              </a:lnSpc>
            </a:pPr>
            <a:r>
              <a:rPr lang="en-US" sz="1700" b="1" u="none" strike="noStrike">
                <a:solidFill>
                  <a:srgbClr val="091F3F"/>
                </a:solidFill>
                <a:effectLst/>
                <a:uFillTx/>
                <a:latin typeface="Aptos"/>
              </a:rPr>
              <a:t>Performance measure</a:t>
            </a:r>
            <a:endParaRPr lang="en-US" sz="1700" b="0" u="none" strike="noStrike">
              <a:solidFill>
                <a:srgbClr val="000000"/>
              </a:solidFill>
              <a:effectLst/>
              <a:uFillTx/>
              <a:latin typeface="Arial"/>
            </a:endParaRPr>
          </a:p>
        </p:txBody>
      </p:sp>
      <p:sp>
        <p:nvSpPr>
          <p:cNvPr id="798" name="content-num"/>
          <p:cNvSpPr/>
          <p:nvPr/>
        </p:nvSpPr>
        <p:spPr>
          <a:xfrm>
            <a:off x="1005840" y="1856160"/>
            <a:ext cx="437400" cy="437400"/>
          </a:xfrm>
          <a:prstGeom prst="roundRect">
            <a:avLst>
              <a:gd name="adj" fmla="val 16667"/>
            </a:avLst>
          </a:prstGeom>
          <a:solidFill>
            <a:srgbClr val="00897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99" name="content-num-text"/>
          <p:cNvSpPr/>
          <p:nvPr/>
        </p:nvSpPr>
        <p:spPr>
          <a:xfrm>
            <a:off x="1134000" y="1984320"/>
            <a:ext cx="181440" cy="9000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300" b="1" u="none" strike="noStrike">
                <a:solidFill>
                  <a:srgbClr val="FFFFFF"/>
                </a:solidFill>
                <a:effectLst/>
                <a:uFillTx/>
                <a:latin typeface="Aptos"/>
              </a:rPr>
              <a:t>2</a:t>
            </a:r>
            <a:endParaRPr lang="en-US" sz="1300" b="0" u="none" strike="noStrike">
              <a:solidFill>
                <a:srgbClr val="000000"/>
              </a:solidFill>
              <a:effectLst/>
              <a:uFillTx/>
              <a:latin typeface="Arial"/>
            </a:endParaRPr>
          </a:p>
        </p:txBody>
      </p:sp>
      <p:sp>
        <p:nvSpPr>
          <p:cNvPr id="800" name="content-label"/>
          <p:cNvSpPr/>
          <p:nvPr/>
        </p:nvSpPr>
        <p:spPr>
          <a:xfrm>
            <a:off x="1691640" y="1965960"/>
            <a:ext cx="5027760" cy="163080"/>
          </a:xfrm>
          <a:prstGeom prst="rect">
            <a:avLst/>
          </a:prstGeom>
          <a:noFill/>
          <a:ln w="0">
            <a:noFill/>
          </a:ln>
        </p:spPr>
        <p:style>
          <a:lnRef idx="0"/>
          <a:fillRef idx="0"/>
          <a:effectRef idx="0"/>
          <a:fontRef idx="minor"/>
        </p:style>
        <p:txBody>
          <a:bodyPr lIns="45720" tIns="45000" rIns="45720" bIns="45000" anchor="t">
            <a:normAutofit fontScale="32500" lnSpcReduction="19999"/>
          </a:bodyPr>
          <a:p>
            <a:pPr>
              <a:lnSpc>
                <a:spcPct val="100000"/>
              </a:lnSpc>
            </a:pPr>
            <a:r>
              <a:rPr lang="en-US" sz="1700" b="1" u="none" strike="noStrike">
                <a:solidFill>
                  <a:srgbClr val="091F3F"/>
                </a:solidFill>
                <a:effectLst/>
                <a:uFillTx/>
                <a:latin typeface="Aptos"/>
              </a:rPr>
              <a:t>Percept sequence so far</a:t>
            </a:r>
            <a:endParaRPr lang="en-US" sz="1700" b="0" u="none" strike="noStrike">
              <a:solidFill>
                <a:srgbClr val="000000"/>
              </a:solidFill>
              <a:effectLst/>
              <a:uFillTx/>
              <a:latin typeface="Arial"/>
            </a:endParaRPr>
          </a:p>
        </p:txBody>
      </p:sp>
      <p:sp>
        <p:nvSpPr>
          <p:cNvPr id="801" name="content-num"/>
          <p:cNvSpPr/>
          <p:nvPr/>
        </p:nvSpPr>
        <p:spPr>
          <a:xfrm>
            <a:off x="1005840" y="2569320"/>
            <a:ext cx="437400" cy="437400"/>
          </a:xfrm>
          <a:prstGeom prst="roundRect">
            <a:avLst>
              <a:gd name="adj" fmla="val 16667"/>
            </a:avLst>
          </a:prstGeom>
          <a:solidFill>
            <a:srgbClr val="7452A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02" name="content-num-text"/>
          <p:cNvSpPr/>
          <p:nvPr/>
        </p:nvSpPr>
        <p:spPr>
          <a:xfrm>
            <a:off x="1134000" y="2697480"/>
            <a:ext cx="181440" cy="9000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300" b="1" u="none" strike="noStrike">
                <a:solidFill>
                  <a:srgbClr val="FFFFFF"/>
                </a:solidFill>
                <a:effectLst/>
                <a:uFillTx/>
                <a:latin typeface="Aptos"/>
              </a:rPr>
              <a:t>3</a:t>
            </a:r>
            <a:endParaRPr lang="en-US" sz="1300" b="0" u="none" strike="noStrike">
              <a:solidFill>
                <a:srgbClr val="000000"/>
              </a:solidFill>
              <a:effectLst/>
              <a:uFillTx/>
              <a:latin typeface="Arial"/>
            </a:endParaRPr>
          </a:p>
        </p:txBody>
      </p:sp>
      <p:sp>
        <p:nvSpPr>
          <p:cNvPr id="803" name="content-label"/>
          <p:cNvSpPr/>
          <p:nvPr/>
        </p:nvSpPr>
        <p:spPr>
          <a:xfrm>
            <a:off x="1691640" y="2679120"/>
            <a:ext cx="5027760" cy="163080"/>
          </a:xfrm>
          <a:prstGeom prst="rect">
            <a:avLst/>
          </a:prstGeom>
          <a:noFill/>
          <a:ln w="0">
            <a:noFill/>
          </a:ln>
        </p:spPr>
        <p:style>
          <a:lnRef idx="0"/>
          <a:fillRef idx="0"/>
          <a:effectRef idx="0"/>
          <a:fontRef idx="minor"/>
        </p:style>
        <p:txBody>
          <a:bodyPr lIns="45720" tIns="45000" rIns="45720" bIns="45000" anchor="t">
            <a:normAutofit fontScale="32500" lnSpcReduction="19999"/>
          </a:bodyPr>
          <a:p>
            <a:pPr>
              <a:lnSpc>
                <a:spcPct val="100000"/>
              </a:lnSpc>
            </a:pPr>
            <a:r>
              <a:rPr lang="en-US" sz="1700" b="1" u="none" strike="noStrike">
                <a:solidFill>
                  <a:srgbClr val="091F3F"/>
                </a:solidFill>
                <a:effectLst/>
                <a:uFillTx/>
                <a:latin typeface="Aptos"/>
              </a:rPr>
              <a:t>Prior knowledge</a:t>
            </a:r>
            <a:endParaRPr lang="en-US" sz="1700" b="0" u="none" strike="noStrike">
              <a:solidFill>
                <a:srgbClr val="000000"/>
              </a:solidFill>
              <a:effectLst/>
              <a:uFillTx/>
              <a:latin typeface="Arial"/>
            </a:endParaRPr>
          </a:p>
        </p:txBody>
      </p:sp>
      <p:sp>
        <p:nvSpPr>
          <p:cNvPr id="804" name="content-num"/>
          <p:cNvSpPr/>
          <p:nvPr/>
        </p:nvSpPr>
        <p:spPr>
          <a:xfrm>
            <a:off x="1005840" y="3282840"/>
            <a:ext cx="437400" cy="437400"/>
          </a:xfrm>
          <a:prstGeom prst="roundRect">
            <a:avLst>
              <a:gd name="adj" fmla="val 16667"/>
            </a:avLst>
          </a:prstGeom>
          <a:solidFill>
            <a:srgbClr val="F2A122"/>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05" name="content-num-text"/>
          <p:cNvSpPr/>
          <p:nvPr/>
        </p:nvSpPr>
        <p:spPr>
          <a:xfrm>
            <a:off x="1134000" y="3410640"/>
            <a:ext cx="181440" cy="9000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300" b="1" u="none" strike="noStrike">
                <a:solidFill>
                  <a:srgbClr val="FFFFFF"/>
                </a:solidFill>
                <a:effectLst/>
                <a:uFillTx/>
                <a:latin typeface="Aptos"/>
              </a:rPr>
              <a:t>4</a:t>
            </a:r>
            <a:endParaRPr lang="en-US" sz="1300" b="0" u="none" strike="noStrike">
              <a:solidFill>
                <a:srgbClr val="000000"/>
              </a:solidFill>
              <a:effectLst/>
              <a:uFillTx/>
              <a:latin typeface="Arial"/>
            </a:endParaRPr>
          </a:p>
        </p:txBody>
      </p:sp>
      <p:sp>
        <p:nvSpPr>
          <p:cNvPr id="806" name="content-label"/>
          <p:cNvSpPr/>
          <p:nvPr/>
        </p:nvSpPr>
        <p:spPr>
          <a:xfrm>
            <a:off x="1691640" y="3392280"/>
            <a:ext cx="5027760" cy="163080"/>
          </a:xfrm>
          <a:prstGeom prst="rect">
            <a:avLst/>
          </a:prstGeom>
          <a:noFill/>
          <a:ln w="0">
            <a:noFill/>
          </a:ln>
        </p:spPr>
        <p:style>
          <a:lnRef idx="0"/>
          <a:fillRef idx="0"/>
          <a:effectRef idx="0"/>
          <a:fontRef idx="minor"/>
        </p:style>
        <p:txBody>
          <a:bodyPr lIns="45720" tIns="45000" rIns="45720" bIns="45000" anchor="t">
            <a:normAutofit fontScale="32500" lnSpcReduction="19999"/>
          </a:bodyPr>
          <a:p>
            <a:pPr>
              <a:lnSpc>
                <a:spcPct val="100000"/>
              </a:lnSpc>
            </a:pPr>
            <a:r>
              <a:rPr lang="en-US" sz="1700" b="1" u="none" strike="noStrike">
                <a:solidFill>
                  <a:srgbClr val="091F3F"/>
                </a:solidFill>
                <a:effectLst/>
                <a:uFillTx/>
                <a:latin typeface="Aptos"/>
              </a:rPr>
              <a:t>Available actions</a:t>
            </a:r>
            <a:endParaRPr lang="en-US" sz="1700" b="0" u="none" strike="noStrike">
              <a:solidFill>
                <a:srgbClr val="000000"/>
              </a:solidFill>
              <a:effectLst/>
              <a:uFillTx/>
              <a:latin typeface="Arial"/>
            </a:endParaRPr>
          </a:p>
        </p:txBody>
      </p:sp>
      <p:sp>
        <p:nvSpPr>
          <p:cNvPr id="807" name="content-bottom"/>
          <p:cNvSpPr/>
          <p:nvPr/>
        </p:nvSpPr>
        <p:spPr>
          <a:xfrm>
            <a:off x="1097280" y="4251960"/>
            <a:ext cx="7039440" cy="300240"/>
          </a:xfrm>
          <a:prstGeom prst="rect">
            <a:avLst/>
          </a:prstGeom>
          <a:solidFill>
            <a:srgbClr val="E7F3FB"/>
          </a:solidFill>
          <a:ln w="0">
            <a:solidFill>
              <a:srgbClr val="DCE1E8"/>
            </a:solidFill>
          </a:ln>
        </p:spPr>
        <p:style>
          <a:lnRef idx="0"/>
          <a:fillRef idx="0"/>
          <a:effectRef idx="0"/>
          <a:fontRef idx="minor"/>
        </p:style>
        <p:txBody>
          <a:bodyPr lIns="45720" tIns="45000" rIns="45720" bIns="45000" anchor="t">
            <a:normAutofit fontScale="77500" lnSpcReduction="19999"/>
          </a:bodyPr>
          <a:p>
            <a:pPr algn="ctr">
              <a:lnSpc>
                <a:spcPct val="100000"/>
              </a:lnSpc>
            </a:pPr>
            <a:r>
              <a:rPr lang="en-US" sz="1500" b="1" u="none" strike="noStrike">
                <a:solidFill>
                  <a:srgbClr val="1E1E1E"/>
                </a:solidFill>
                <a:effectLst/>
                <a:uFillTx/>
                <a:latin typeface="Aptos"/>
              </a:rPr>
              <a:t>Do not ask 'Was it perfect?' Ask 'Was it expected to perform best given what it knew?'</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8"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09"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810"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Rationality is not omniscience</a:t>
            </a:r>
            <a:endParaRPr lang="en-US" sz="2400" b="0" u="none" strike="noStrike">
              <a:solidFill>
                <a:srgbClr val="000000"/>
              </a:solidFill>
              <a:effectLst/>
              <a:uFillTx/>
              <a:latin typeface="Arial"/>
            </a:endParaRPr>
          </a:p>
        </p:txBody>
      </p:sp>
      <p:sp>
        <p:nvSpPr>
          <p:cNvPr id="811"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Rational agents cannot be blamed for information they could not have.</a:t>
            </a:r>
            <a:endParaRPr lang="en-US" sz="1150" b="0" u="none" strike="noStrike">
              <a:solidFill>
                <a:srgbClr val="000000"/>
              </a:solidFill>
              <a:effectLst/>
              <a:uFillTx/>
              <a:latin typeface="Arial"/>
            </a:endParaRPr>
          </a:p>
        </p:txBody>
      </p:sp>
      <p:cxnSp>
        <p:nvCxnSpPr>
          <p:cNvPr id="812" name="decor-title-line"/>
          <p:cNvCxnSpPr/>
          <p:nvPr/>
        </p:nvCxnSpPr>
        <p:spPr>
          <a:xfrm>
            <a:off x="320040" y="932400"/>
            <a:ext cx="8505360" cy="1440"/>
          </a:xfrm>
          <a:prstGeom prst="straightConnector1">
            <a:avLst/>
          </a:prstGeom>
          <a:ln w="25400">
            <a:solidFill>
              <a:srgbClr val="F2A122"/>
            </a:solidFill>
            <a:round/>
          </a:ln>
        </p:spPr>
      </p:cxnSp>
      <p:sp>
        <p:nvSpPr>
          <p:cNvPr id="813"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814" name="content-card"/>
          <p:cNvSpPr/>
          <p:nvPr/>
        </p:nvSpPr>
        <p:spPr>
          <a:xfrm>
            <a:off x="777240" y="1234440"/>
            <a:ext cx="3564720" cy="1233000"/>
          </a:xfrm>
          <a:prstGeom prst="roundRect">
            <a:avLst>
              <a:gd name="adj" fmla="val 16667"/>
            </a:avLst>
          </a:prstGeom>
          <a:solidFill>
            <a:srgbClr val="FFF4E0"/>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15" name="decor-card-accent"/>
          <p:cNvSpPr/>
          <p:nvPr/>
        </p:nvSpPr>
        <p:spPr>
          <a:xfrm>
            <a:off x="777240" y="1234440"/>
            <a:ext cx="71640" cy="1233000"/>
          </a:xfrm>
          <a:prstGeom prst="rect">
            <a:avLst/>
          </a:prstGeom>
          <a:solidFill>
            <a:srgbClr val="F2A122"/>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816" name="content-card-title"/>
          <p:cNvSpPr/>
          <p:nvPr/>
        </p:nvSpPr>
        <p:spPr>
          <a:xfrm>
            <a:off x="941760" y="1344240"/>
            <a:ext cx="330876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Omniscient</a:t>
            </a:r>
            <a:endParaRPr lang="en-US" sz="1250" b="0" u="none" strike="noStrike">
              <a:solidFill>
                <a:srgbClr val="000000"/>
              </a:solidFill>
              <a:effectLst/>
              <a:uFillTx/>
              <a:latin typeface="Arial"/>
            </a:endParaRPr>
          </a:p>
        </p:txBody>
      </p:sp>
      <p:sp>
        <p:nvSpPr>
          <p:cNvPr id="817" name="content-card-body"/>
          <p:cNvSpPr/>
          <p:nvPr/>
        </p:nvSpPr>
        <p:spPr>
          <a:xfrm>
            <a:off x="941760" y="1673280"/>
            <a:ext cx="3308760" cy="7300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Knows the actual outcome of each action before acting. Impossible in reality.</a:t>
            </a:r>
            <a:endParaRPr lang="en-US" sz="1300" b="0" u="none" strike="noStrike">
              <a:solidFill>
                <a:srgbClr val="000000"/>
              </a:solidFill>
              <a:effectLst/>
              <a:uFillTx/>
              <a:latin typeface="Arial"/>
            </a:endParaRPr>
          </a:p>
        </p:txBody>
      </p:sp>
      <p:sp>
        <p:nvSpPr>
          <p:cNvPr id="818" name="content-card"/>
          <p:cNvSpPr/>
          <p:nvPr/>
        </p:nvSpPr>
        <p:spPr>
          <a:xfrm>
            <a:off x="4709160" y="1234440"/>
            <a:ext cx="3564720" cy="1233000"/>
          </a:xfrm>
          <a:prstGeom prst="roundRect">
            <a:avLst>
              <a:gd name="adj" fmla="val 16667"/>
            </a:avLst>
          </a:prstGeom>
          <a:solidFill>
            <a:srgbClr val="EDF8F4"/>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19" name="decor-card-accent"/>
          <p:cNvSpPr/>
          <p:nvPr/>
        </p:nvSpPr>
        <p:spPr>
          <a:xfrm>
            <a:off x="4709160" y="1234440"/>
            <a:ext cx="71640" cy="123300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820" name="content-card-title"/>
          <p:cNvSpPr/>
          <p:nvPr/>
        </p:nvSpPr>
        <p:spPr>
          <a:xfrm>
            <a:off x="4873680" y="1344240"/>
            <a:ext cx="330876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Rational</a:t>
            </a:r>
            <a:endParaRPr lang="en-US" sz="1250" b="0" u="none" strike="noStrike">
              <a:solidFill>
                <a:srgbClr val="000000"/>
              </a:solidFill>
              <a:effectLst/>
              <a:uFillTx/>
              <a:latin typeface="Arial"/>
            </a:endParaRPr>
          </a:p>
        </p:txBody>
      </p:sp>
      <p:sp>
        <p:nvSpPr>
          <p:cNvPr id="821" name="content-card-body"/>
          <p:cNvSpPr/>
          <p:nvPr/>
        </p:nvSpPr>
        <p:spPr>
          <a:xfrm>
            <a:off x="4873680" y="1673280"/>
            <a:ext cx="3308760" cy="7300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Chooses the action with the best expected performance using current percepts and knowledge.</a:t>
            </a:r>
            <a:endParaRPr lang="en-US" sz="1300" b="0" u="none" strike="noStrike">
              <a:solidFill>
                <a:srgbClr val="000000"/>
              </a:solidFill>
              <a:effectLst/>
              <a:uFillTx/>
              <a:latin typeface="Arial"/>
            </a:endParaRPr>
          </a:p>
        </p:txBody>
      </p:sp>
      <p:sp>
        <p:nvSpPr>
          <p:cNvPr id="822" name="content-example-label"/>
          <p:cNvSpPr/>
          <p:nvPr/>
        </p:nvSpPr>
        <p:spPr>
          <a:xfrm>
            <a:off x="1005840" y="2971800"/>
            <a:ext cx="1187280" cy="254520"/>
          </a:xfrm>
          <a:prstGeom prst="rect">
            <a:avLst/>
          </a:prstGeom>
          <a:solidFill>
            <a:srgbClr val="091F3F"/>
          </a:solidFill>
          <a:ln w="0">
            <a:solidFill>
              <a:srgbClr val="091F3F"/>
            </a:solidFill>
          </a:ln>
        </p:spPr>
        <p:style>
          <a:lnRef idx="0"/>
          <a:fillRef idx="0"/>
          <a:effectRef idx="0"/>
          <a:fontRef idx="minor"/>
        </p:style>
        <p:txBody>
          <a:bodyPr lIns="36720" tIns="36720" rIns="36720" bIns="36720" anchor="t">
            <a:normAutofit fontScale="85000" lnSpcReduction="19999"/>
          </a:bodyPr>
          <a:p>
            <a:pPr algn="ctr">
              <a:lnSpc>
                <a:spcPct val="100000"/>
              </a:lnSpc>
            </a:pPr>
            <a:r>
              <a:rPr lang="en-US" sz="1600" b="1" u="none" strike="noStrike">
                <a:solidFill>
                  <a:srgbClr val="FFFFFF"/>
                </a:solidFill>
                <a:effectLst/>
                <a:uFillTx/>
                <a:latin typeface="Aptos"/>
              </a:rPr>
              <a:t>Example</a:t>
            </a:r>
            <a:endParaRPr lang="en-US" sz="1600" b="0" u="none" strike="noStrike">
              <a:solidFill>
                <a:srgbClr val="FFFFFF"/>
              </a:solidFill>
              <a:effectLst/>
              <a:uFillTx/>
              <a:latin typeface="Arial"/>
            </a:endParaRPr>
          </a:p>
        </p:txBody>
      </p:sp>
      <p:sp>
        <p:nvSpPr>
          <p:cNvPr id="823" name="content-example"/>
          <p:cNvSpPr/>
          <p:nvPr/>
        </p:nvSpPr>
        <p:spPr>
          <a:xfrm>
            <a:off x="2377440" y="2926080"/>
            <a:ext cx="5576400" cy="50148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450" b="0" u="none" strike="noStrike">
                <a:solidFill>
                  <a:srgbClr val="1E1E1E"/>
                </a:solidFill>
                <a:effectLst/>
                <a:uFillTx/>
                <a:latin typeface="Aptos"/>
              </a:rPr>
              <a:t>Looking before crossing a road is rational because it improves expected performance; being hit by an unforeseeable falling object does not make the original decision irrational.</a:t>
            </a:r>
            <a:endParaRPr lang="en-US" sz="14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4"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25"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826"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Autonomy: less dependence on designer assumptions</a:t>
            </a:r>
            <a:endParaRPr lang="en-US" sz="2400" b="0" u="none" strike="noStrike">
              <a:solidFill>
                <a:srgbClr val="000000"/>
              </a:solidFill>
              <a:effectLst/>
              <a:uFillTx/>
              <a:latin typeface="Arial"/>
            </a:endParaRPr>
          </a:p>
        </p:txBody>
      </p:sp>
      <p:sp>
        <p:nvSpPr>
          <p:cNvPr id="827"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A rational agent should learn from its own percepts when possible.</a:t>
            </a:r>
            <a:endParaRPr lang="en-US" sz="1150" b="0" u="none" strike="noStrike">
              <a:solidFill>
                <a:srgbClr val="000000"/>
              </a:solidFill>
              <a:effectLst/>
              <a:uFillTx/>
              <a:latin typeface="Arial"/>
            </a:endParaRPr>
          </a:p>
        </p:txBody>
      </p:sp>
      <p:cxnSp>
        <p:nvCxnSpPr>
          <p:cNvPr id="828" name="decor-title-line"/>
          <p:cNvCxnSpPr/>
          <p:nvPr/>
        </p:nvCxnSpPr>
        <p:spPr>
          <a:xfrm>
            <a:off x="320040" y="932400"/>
            <a:ext cx="8505360" cy="1440"/>
          </a:xfrm>
          <a:prstGeom prst="straightConnector1">
            <a:avLst/>
          </a:prstGeom>
          <a:ln w="25400">
            <a:solidFill>
              <a:srgbClr val="F2A122"/>
            </a:solidFill>
            <a:round/>
          </a:ln>
        </p:spPr>
      </p:cxnSp>
      <p:sp>
        <p:nvSpPr>
          <p:cNvPr id="829"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cxnSp>
        <p:nvCxnSpPr>
          <p:cNvPr id="830" name="content-line"/>
          <p:cNvCxnSpPr/>
          <p:nvPr/>
        </p:nvCxnSpPr>
        <p:spPr>
          <a:xfrm>
            <a:off x="914400" y="2240280"/>
            <a:ext cx="7179480" cy="1440"/>
          </a:xfrm>
          <a:prstGeom prst="straightConnector1">
            <a:avLst/>
          </a:prstGeom>
          <a:ln w="25400">
            <a:solidFill>
              <a:srgbClr val="5A6473"/>
            </a:solidFill>
            <a:round/>
          </a:ln>
        </p:spPr>
      </p:cxnSp>
      <p:sp>
        <p:nvSpPr>
          <p:cNvPr id="831" name="content-node"/>
          <p:cNvSpPr/>
          <p:nvPr/>
        </p:nvSpPr>
        <p:spPr>
          <a:xfrm>
            <a:off x="685800" y="1828800"/>
            <a:ext cx="2010240" cy="775800"/>
          </a:xfrm>
          <a:prstGeom prst="roundRect">
            <a:avLst>
              <a:gd name="adj" fmla="val 16667"/>
            </a:avLst>
          </a:prstGeom>
          <a:solidFill>
            <a:srgbClr val="B73D3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32" name="content-node-text"/>
          <p:cNvSpPr/>
          <p:nvPr/>
        </p:nvSpPr>
        <p:spPr>
          <a:xfrm>
            <a:off x="777240" y="2103120"/>
            <a:ext cx="1827360" cy="13572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400" b="1" u="none" strike="noStrike">
                <a:solidFill>
                  <a:srgbClr val="FFFFFF"/>
                </a:solidFill>
                <a:effectLst/>
                <a:uFillTx/>
                <a:latin typeface="Aptos"/>
              </a:rPr>
              <a:t>Fixed reflexes</a:t>
            </a:r>
            <a:endParaRPr lang="en-US" sz="1400" b="0" u="none" strike="noStrike">
              <a:solidFill>
                <a:srgbClr val="000000"/>
              </a:solidFill>
              <a:effectLst/>
              <a:uFillTx/>
              <a:latin typeface="Arial"/>
            </a:endParaRPr>
          </a:p>
        </p:txBody>
      </p:sp>
      <p:sp>
        <p:nvSpPr>
          <p:cNvPr id="833" name="content-node"/>
          <p:cNvSpPr/>
          <p:nvPr/>
        </p:nvSpPr>
        <p:spPr>
          <a:xfrm>
            <a:off x="3520440" y="1828800"/>
            <a:ext cx="2010240" cy="775800"/>
          </a:xfrm>
          <a:prstGeom prst="roundRect">
            <a:avLst>
              <a:gd name="adj" fmla="val 16667"/>
            </a:avLst>
          </a:prstGeom>
          <a:solidFill>
            <a:srgbClr val="F2A122"/>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34" name="content-node-text"/>
          <p:cNvSpPr/>
          <p:nvPr/>
        </p:nvSpPr>
        <p:spPr>
          <a:xfrm>
            <a:off x="3611880" y="2103120"/>
            <a:ext cx="1827360" cy="13572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400" b="1" u="none" strike="noStrike">
                <a:solidFill>
                  <a:srgbClr val="FFFFFF"/>
                </a:solidFill>
                <a:effectLst/>
                <a:uFillTx/>
                <a:latin typeface="Aptos"/>
              </a:rPr>
              <a:t>Model updates</a:t>
            </a:r>
            <a:endParaRPr lang="en-US" sz="1400" b="0" u="none" strike="noStrike">
              <a:solidFill>
                <a:srgbClr val="000000"/>
              </a:solidFill>
              <a:effectLst/>
              <a:uFillTx/>
              <a:latin typeface="Arial"/>
            </a:endParaRPr>
          </a:p>
        </p:txBody>
      </p:sp>
      <p:sp>
        <p:nvSpPr>
          <p:cNvPr id="835" name="content-node"/>
          <p:cNvSpPr/>
          <p:nvPr/>
        </p:nvSpPr>
        <p:spPr>
          <a:xfrm>
            <a:off x="6355080" y="1828800"/>
            <a:ext cx="2010240" cy="775800"/>
          </a:xfrm>
          <a:prstGeom prst="roundRect">
            <a:avLst>
              <a:gd name="adj" fmla="val 16667"/>
            </a:avLst>
          </a:prstGeom>
          <a:solidFill>
            <a:srgbClr val="4A9D5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36" name="content-node-text"/>
          <p:cNvSpPr/>
          <p:nvPr/>
        </p:nvSpPr>
        <p:spPr>
          <a:xfrm>
            <a:off x="6446520" y="2057400"/>
            <a:ext cx="1827360" cy="2545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gn="ctr">
              <a:lnSpc>
                <a:spcPct val="100000"/>
              </a:lnSpc>
            </a:pPr>
            <a:r>
              <a:rPr lang="en-US" sz="1150" b="1" u="none" strike="noStrike">
                <a:solidFill>
                  <a:srgbClr val="FFFFFF"/>
                </a:solidFill>
                <a:effectLst/>
                <a:uFillTx/>
                <a:latin typeface="Aptos"/>
              </a:rPr>
              <a:t>Learning from experience</a:t>
            </a:r>
            <a:endParaRPr lang="en-US" sz="1150" b="0" u="none" strike="noStrike">
              <a:solidFill>
                <a:srgbClr val="000000"/>
              </a:solidFill>
              <a:effectLst/>
              <a:uFillTx/>
              <a:latin typeface="Arial"/>
            </a:endParaRPr>
          </a:p>
        </p:txBody>
      </p:sp>
      <p:sp>
        <p:nvSpPr>
          <p:cNvPr id="837" name="content-label"/>
          <p:cNvSpPr/>
          <p:nvPr/>
        </p:nvSpPr>
        <p:spPr>
          <a:xfrm>
            <a:off x="3108960" y="2926080"/>
            <a:ext cx="2833200" cy="2912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gn="ctr">
              <a:lnSpc>
                <a:spcPct val="100000"/>
              </a:lnSpc>
            </a:pPr>
            <a:r>
              <a:rPr lang="en-US" sz="1800" b="1" u="none" strike="noStrike">
                <a:solidFill>
                  <a:srgbClr val="091F3F"/>
                </a:solidFill>
                <a:effectLst/>
                <a:uFillTx/>
                <a:latin typeface="Aptos"/>
              </a:rPr>
              <a:t>More autonomy</a:t>
            </a:r>
            <a:endParaRPr lang="en-US" sz="1800" b="0" u="none" strike="noStrike">
              <a:solidFill>
                <a:srgbClr val="000000"/>
              </a:solidFill>
              <a:effectLst/>
              <a:uFillTx/>
              <a:latin typeface="Arial"/>
            </a:endParaRPr>
          </a:p>
        </p:txBody>
      </p:sp>
      <p:sp>
        <p:nvSpPr>
          <p:cNvPr id="838" name="content-bullets"/>
          <p:cNvSpPr/>
          <p:nvPr/>
        </p:nvSpPr>
        <p:spPr>
          <a:xfrm>
            <a:off x="1005840" y="3520440"/>
            <a:ext cx="7222320" cy="684360"/>
          </a:xfrm>
          <a:prstGeom prst="rect">
            <a:avLst/>
          </a:prstGeom>
          <a:noFill/>
          <a:ln w="0">
            <a:noFill/>
          </a:ln>
        </p:spPr>
        <p:style>
          <a:lnRef idx="0"/>
          <a:fillRef idx="0"/>
          <a:effectRef idx="0"/>
          <a:fontRef idx="minor"/>
        </p:style>
        <p:txBody>
          <a:bodyPr lIns="90000" tIns="18360" rIns="45720" bIns="18360" anchor="t">
            <a:normAutofit fontScale="85000" lnSpcReduction="19999"/>
          </a:bodyPr>
          <a:p>
            <a:pPr>
              <a:lnSpc>
                <a:spcPct val="105000"/>
              </a:lnSpc>
              <a:spcAft>
                <a:spcPts val="601"/>
              </a:spcAft>
            </a:pPr>
            <a:r>
              <a:rPr lang="en-US" sz="1500" b="0" u="none" strike="noStrike">
                <a:solidFill>
                  <a:srgbClr val="1E1E1E"/>
                </a:solidFill>
                <a:effectLst/>
                <a:uFillTx/>
                <a:latin typeface="Aptos"/>
              </a:rPr>
              <a:t>• Built-in knowledge helps at the start</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Percepts should improve future behavior</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Learning reduces fragility when assumptions fail</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9"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40"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841"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PEAS example: Vacuum World</a:t>
            </a:r>
            <a:endParaRPr lang="en-US" sz="2400" b="0" u="none" strike="noStrike">
              <a:solidFill>
                <a:srgbClr val="000000"/>
              </a:solidFill>
              <a:effectLst/>
              <a:uFillTx/>
              <a:latin typeface="Arial"/>
            </a:endParaRPr>
          </a:p>
        </p:txBody>
      </p:sp>
      <p:sp>
        <p:nvSpPr>
          <p:cNvPr id="842"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Use PEAS before designing the program.</a:t>
            </a:r>
            <a:endParaRPr lang="en-US" sz="1150" b="0" u="none" strike="noStrike">
              <a:solidFill>
                <a:srgbClr val="000000"/>
              </a:solidFill>
              <a:effectLst/>
              <a:uFillTx/>
              <a:latin typeface="Arial"/>
            </a:endParaRPr>
          </a:p>
        </p:txBody>
      </p:sp>
      <p:cxnSp>
        <p:nvCxnSpPr>
          <p:cNvPr id="843" name="decor-title-line"/>
          <p:cNvCxnSpPr/>
          <p:nvPr/>
        </p:nvCxnSpPr>
        <p:spPr>
          <a:xfrm>
            <a:off x="320040" y="932400"/>
            <a:ext cx="8505360" cy="1440"/>
          </a:xfrm>
          <a:prstGeom prst="straightConnector1">
            <a:avLst/>
          </a:prstGeom>
          <a:ln w="25400">
            <a:solidFill>
              <a:srgbClr val="F2A122"/>
            </a:solidFill>
            <a:round/>
          </a:ln>
        </p:spPr>
      </p:cxnSp>
      <p:sp>
        <p:nvSpPr>
          <p:cNvPr id="844"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845" name="content-card"/>
          <p:cNvSpPr/>
          <p:nvPr/>
        </p:nvSpPr>
        <p:spPr>
          <a:xfrm>
            <a:off x="685800" y="1143000"/>
            <a:ext cx="3656160" cy="100440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46" name="decor-card-accent"/>
          <p:cNvSpPr/>
          <p:nvPr/>
        </p:nvSpPr>
        <p:spPr>
          <a:xfrm>
            <a:off x="685800" y="1143000"/>
            <a:ext cx="71640" cy="1004400"/>
          </a:xfrm>
          <a:prstGeom prst="rect">
            <a:avLst/>
          </a:prstGeom>
          <a:solidFill>
            <a:srgbClr val="2084C9"/>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847" name="content-card-title"/>
          <p:cNvSpPr/>
          <p:nvPr/>
        </p:nvSpPr>
        <p:spPr>
          <a:xfrm>
            <a:off x="850320" y="125280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Performance</a:t>
            </a:r>
            <a:endParaRPr lang="en-US" sz="1250" b="0" u="none" strike="noStrike">
              <a:solidFill>
                <a:srgbClr val="000000"/>
              </a:solidFill>
              <a:effectLst/>
              <a:uFillTx/>
              <a:latin typeface="Arial"/>
            </a:endParaRPr>
          </a:p>
        </p:txBody>
      </p:sp>
      <p:sp>
        <p:nvSpPr>
          <p:cNvPr id="848" name="content-card-body"/>
          <p:cNvSpPr/>
          <p:nvPr/>
        </p:nvSpPr>
        <p:spPr>
          <a:xfrm>
            <a:off x="850320" y="1581840"/>
            <a:ext cx="3400200" cy="5014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50" b="0" u="none" strike="noStrike">
                <a:solidFill>
                  <a:srgbClr val="1E1E1E"/>
                </a:solidFill>
                <a:effectLst/>
                <a:uFillTx/>
                <a:latin typeface="Aptos"/>
              </a:rPr>
              <a:t>Clean squares over time; penalties for moves or energy</a:t>
            </a:r>
            <a:endParaRPr lang="en-US" sz="1250" b="0" u="none" strike="noStrike">
              <a:solidFill>
                <a:srgbClr val="000000"/>
              </a:solidFill>
              <a:effectLst/>
              <a:uFillTx/>
              <a:latin typeface="Arial"/>
            </a:endParaRPr>
          </a:p>
        </p:txBody>
      </p:sp>
      <p:sp>
        <p:nvSpPr>
          <p:cNvPr id="849" name="content-card"/>
          <p:cNvSpPr/>
          <p:nvPr/>
        </p:nvSpPr>
        <p:spPr>
          <a:xfrm>
            <a:off x="4754880" y="1143000"/>
            <a:ext cx="3656160" cy="100440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50" name="decor-card-accent"/>
          <p:cNvSpPr/>
          <p:nvPr/>
        </p:nvSpPr>
        <p:spPr>
          <a:xfrm>
            <a:off x="4754880" y="1143000"/>
            <a:ext cx="71640" cy="1004400"/>
          </a:xfrm>
          <a:prstGeom prst="rect">
            <a:avLst/>
          </a:prstGeom>
          <a:solidFill>
            <a:srgbClr val="00897B"/>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851" name="content-card-title"/>
          <p:cNvSpPr/>
          <p:nvPr/>
        </p:nvSpPr>
        <p:spPr>
          <a:xfrm>
            <a:off x="4919400" y="125280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Environment</a:t>
            </a:r>
            <a:endParaRPr lang="en-US" sz="1250" b="0" u="none" strike="noStrike">
              <a:solidFill>
                <a:srgbClr val="000000"/>
              </a:solidFill>
              <a:effectLst/>
              <a:uFillTx/>
              <a:latin typeface="Arial"/>
            </a:endParaRPr>
          </a:p>
        </p:txBody>
      </p:sp>
      <p:sp>
        <p:nvSpPr>
          <p:cNvPr id="852" name="content-card-body"/>
          <p:cNvSpPr/>
          <p:nvPr/>
        </p:nvSpPr>
        <p:spPr>
          <a:xfrm>
            <a:off x="4919400" y="1581840"/>
            <a:ext cx="3400200" cy="5014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50" b="0" u="none" strike="noStrike">
                <a:solidFill>
                  <a:srgbClr val="1E1E1E"/>
                </a:solidFill>
                <a:effectLst/>
                <a:uFillTx/>
                <a:latin typeface="Aptos"/>
              </a:rPr>
              <a:t>Grid rooms; dirt; walls or obstacles; possibly stochastic dirt</a:t>
            </a:r>
            <a:endParaRPr lang="en-US" sz="1250" b="0" u="none" strike="noStrike">
              <a:solidFill>
                <a:srgbClr val="000000"/>
              </a:solidFill>
              <a:effectLst/>
              <a:uFillTx/>
              <a:latin typeface="Arial"/>
            </a:endParaRPr>
          </a:p>
        </p:txBody>
      </p:sp>
      <p:sp>
        <p:nvSpPr>
          <p:cNvPr id="853" name="content-card"/>
          <p:cNvSpPr/>
          <p:nvPr/>
        </p:nvSpPr>
        <p:spPr>
          <a:xfrm>
            <a:off x="685800" y="2560320"/>
            <a:ext cx="3656160" cy="100440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54" name="decor-card-accent"/>
          <p:cNvSpPr/>
          <p:nvPr/>
        </p:nvSpPr>
        <p:spPr>
          <a:xfrm>
            <a:off x="685800" y="2560320"/>
            <a:ext cx="71640" cy="100440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855" name="content-card-title"/>
          <p:cNvSpPr/>
          <p:nvPr/>
        </p:nvSpPr>
        <p:spPr>
          <a:xfrm>
            <a:off x="850320" y="267012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Actuators</a:t>
            </a:r>
            <a:endParaRPr lang="en-US" sz="1250" b="0" u="none" strike="noStrike">
              <a:solidFill>
                <a:srgbClr val="000000"/>
              </a:solidFill>
              <a:effectLst/>
              <a:uFillTx/>
              <a:latin typeface="Arial"/>
            </a:endParaRPr>
          </a:p>
        </p:txBody>
      </p:sp>
      <p:sp>
        <p:nvSpPr>
          <p:cNvPr id="856" name="content-card-body"/>
          <p:cNvSpPr/>
          <p:nvPr/>
        </p:nvSpPr>
        <p:spPr>
          <a:xfrm>
            <a:off x="850320" y="2999160"/>
            <a:ext cx="3400200" cy="5014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50" b="0" u="none" strike="noStrike">
                <a:solidFill>
                  <a:srgbClr val="1E1E1E"/>
                </a:solidFill>
                <a:effectLst/>
                <a:uFillTx/>
                <a:latin typeface="Aptos"/>
              </a:rPr>
              <a:t>Left, Right, Up, Down, Suck, NoOp</a:t>
            </a:r>
            <a:endParaRPr lang="en-US" sz="1250" b="0" u="none" strike="noStrike">
              <a:solidFill>
                <a:srgbClr val="000000"/>
              </a:solidFill>
              <a:effectLst/>
              <a:uFillTx/>
              <a:latin typeface="Arial"/>
            </a:endParaRPr>
          </a:p>
        </p:txBody>
      </p:sp>
      <p:sp>
        <p:nvSpPr>
          <p:cNvPr id="857" name="content-card"/>
          <p:cNvSpPr/>
          <p:nvPr/>
        </p:nvSpPr>
        <p:spPr>
          <a:xfrm>
            <a:off x="4754880" y="2560320"/>
            <a:ext cx="3656160" cy="100440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58" name="decor-card-accent"/>
          <p:cNvSpPr/>
          <p:nvPr/>
        </p:nvSpPr>
        <p:spPr>
          <a:xfrm>
            <a:off x="4754880" y="2560320"/>
            <a:ext cx="71640" cy="1004400"/>
          </a:xfrm>
          <a:prstGeom prst="rect">
            <a:avLst/>
          </a:prstGeom>
          <a:solidFill>
            <a:srgbClr val="F2A122"/>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859" name="content-card-title"/>
          <p:cNvSpPr/>
          <p:nvPr/>
        </p:nvSpPr>
        <p:spPr>
          <a:xfrm>
            <a:off x="4919400" y="267012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Sensors</a:t>
            </a:r>
            <a:endParaRPr lang="en-US" sz="1250" b="0" u="none" strike="noStrike">
              <a:solidFill>
                <a:srgbClr val="000000"/>
              </a:solidFill>
              <a:effectLst/>
              <a:uFillTx/>
              <a:latin typeface="Arial"/>
            </a:endParaRPr>
          </a:p>
        </p:txBody>
      </p:sp>
      <p:sp>
        <p:nvSpPr>
          <p:cNvPr id="860" name="content-card-body"/>
          <p:cNvSpPr/>
          <p:nvPr/>
        </p:nvSpPr>
        <p:spPr>
          <a:xfrm>
            <a:off x="4919400" y="2999160"/>
            <a:ext cx="3400200" cy="5014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50" b="0" u="none" strike="noStrike">
                <a:solidFill>
                  <a:srgbClr val="1E1E1E"/>
                </a:solidFill>
                <a:effectLst/>
                <a:uFillTx/>
                <a:latin typeface="Aptos"/>
              </a:rPr>
              <a:t>Current location; current square status; maybe bump</a:t>
            </a:r>
            <a:endParaRPr lang="en-US" sz="1250" b="0" u="none" strike="noStrike">
              <a:solidFill>
                <a:srgbClr val="000000"/>
              </a:solidFill>
              <a:effectLst/>
              <a:uFillTx/>
              <a:latin typeface="Arial"/>
            </a:endParaRPr>
          </a:p>
        </p:txBody>
      </p:sp>
      <p:sp>
        <p:nvSpPr>
          <p:cNvPr id="861" name="content-bottom"/>
          <p:cNvSpPr/>
          <p:nvPr/>
        </p:nvSpPr>
        <p:spPr>
          <a:xfrm>
            <a:off x="1143000" y="4160520"/>
            <a:ext cx="6856560" cy="254520"/>
          </a:xfrm>
          <a:prstGeom prst="rect">
            <a:avLst/>
          </a:prstGeom>
          <a:noFill/>
          <a:ln w="0">
            <a:noFill/>
          </a:ln>
        </p:spPr>
        <p:style>
          <a:lnRef idx="0"/>
          <a:fillRef idx="0"/>
          <a:effectRef idx="0"/>
          <a:fontRef idx="minor"/>
        </p:style>
        <p:txBody>
          <a:bodyPr lIns="45720" tIns="45000" rIns="45720" bIns="45000" anchor="t">
            <a:normAutofit fontScale="77500" lnSpcReduction="19999"/>
          </a:bodyPr>
          <a:p>
            <a:pPr algn="ctr">
              <a:lnSpc>
                <a:spcPct val="100000"/>
              </a:lnSpc>
            </a:pPr>
            <a:r>
              <a:rPr lang="en-US" sz="1700" b="1" u="none" strike="noStrike">
                <a:solidFill>
                  <a:srgbClr val="091F3F"/>
                </a:solidFill>
                <a:effectLst/>
                <a:uFillTx/>
                <a:latin typeface="Aptos"/>
              </a:rPr>
              <a:t>Changing PEAS changes the rational agent.</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2"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63"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864"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Class activity: build a PEAS table</a:t>
            </a:r>
            <a:endParaRPr lang="en-US" sz="2400" b="0" u="none" strike="noStrike">
              <a:solidFill>
                <a:srgbClr val="000000"/>
              </a:solidFill>
              <a:effectLst/>
              <a:uFillTx/>
              <a:latin typeface="Arial"/>
            </a:endParaRPr>
          </a:p>
        </p:txBody>
      </p:sp>
      <p:sp>
        <p:nvSpPr>
          <p:cNvPr id="865"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Students can apply PEAS to any AI system.</a:t>
            </a:r>
            <a:endParaRPr lang="en-US" sz="1150" b="0" u="none" strike="noStrike">
              <a:solidFill>
                <a:srgbClr val="000000"/>
              </a:solidFill>
              <a:effectLst/>
              <a:uFillTx/>
              <a:latin typeface="Arial"/>
            </a:endParaRPr>
          </a:p>
        </p:txBody>
      </p:sp>
      <p:cxnSp>
        <p:nvCxnSpPr>
          <p:cNvPr id="866" name="decor-title-line"/>
          <p:cNvCxnSpPr/>
          <p:nvPr/>
        </p:nvCxnSpPr>
        <p:spPr>
          <a:xfrm>
            <a:off x="320040" y="932400"/>
            <a:ext cx="8505360" cy="1440"/>
          </a:xfrm>
          <a:prstGeom prst="straightConnector1">
            <a:avLst/>
          </a:prstGeom>
          <a:ln w="25400">
            <a:solidFill>
              <a:srgbClr val="F2A122"/>
            </a:solidFill>
            <a:round/>
          </a:ln>
        </p:spPr>
      </p:cxnSp>
      <p:sp>
        <p:nvSpPr>
          <p:cNvPr id="867"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868" name="content-system"/>
          <p:cNvSpPr/>
          <p:nvPr/>
        </p:nvSpPr>
        <p:spPr>
          <a:xfrm>
            <a:off x="731520" y="1143000"/>
            <a:ext cx="1690200" cy="38268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69" name="content-system-label"/>
          <p:cNvSpPr/>
          <p:nvPr/>
        </p:nvSpPr>
        <p:spPr>
          <a:xfrm>
            <a:off x="786240" y="1271160"/>
            <a:ext cx="1580400" cy="9000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850" b="1" u="none" strike="noStrike">
                <a:solidFill>
                  <a:srgbClr val="FFFFFF"/>
                </a:solidFill>
                <a:effectLst/>
                <a:uFillTx/>
                <a:latin typeface="Aptos"/>
              </a:rPr>
              <a:t>spam filter</a:t>
            </a:r>
            <a:endParaRPr lang="en-US" sz="850" b="0" u="none" strike="noStrike">
              <a:solidFill>
                <a:srgbClr val="000000"/>
              </a:solidFill>
              <a:effectLst/>
              <a:uFillTx/>
              <a:latin typeface="Arial"/>
            </a:endParaRPr>
          </a:p>
        </p:txBody>
      </p:sp>
      <p:sp>
        <p:nvSpPr>
          <p:cNvPr id="870" name="content-system"/>
          <p:cNvSpPr/>
          <p:nvPr/>
        </p:nvSpPr>
        <p:spPr>
          <a:xfrm>
            <a:off x="2788920" y="1143000"/>
            <a:ext cx="1690200" cy="382680"/>
          </a:xfrm>
          <a:prstGeom prst="roundRect">
            <a:avLst>
              <a:gd name="adj" fmla="val 16667"/>
            </a:avLst>
          </a:prstGeom>
          <a:solidFill>
            <a:srgbClr val="00897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71" name="content-system-label"/>
          <p:cNvSpPr/>
          <p:nvPr/>
        </p:nvSpPr>
        <p:spPr>
          <a:xfrm>
            <a:off x="2843640" y="1271160"/>
            <a:ext cx="1580400" cy="9000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850" b="1" u="none" strike="noStrike">
                <a:solidFill>
                  <a:srgbClr val="FFFFFF"/>
                </a:solidFill>
                <a:effectLst/>
                <a:uFillTx/>
                <a:latin typeface="Aptos"/>
              </a:rPr>
              <a:t>medical diagnosis assistant</a:t>
            </a:r>
            <a:endParaRPr lang="en-US" sz="850" b="0" u="none" strike="noStrike">
              <a:solidFill>
                <a:srgbClr val="000000"/>
              </a:solidFill>
              <a:effectLst/>
              <a:uFillTx/>
              <a:latin typeface="Arial"/>
            </a:endParaRPr>
          </a:p>
        </p:txBody>
      </p:sp>
      <p:sp>
        <p:nvSpPr>
          <p:cNvPr id="872" name="content-system"/>
          <p:cNvSpPr/>
          <p:nvPr/>
        </p:nvSpPr>
        <p:spPr>
          <a:xfrm>
            <a:off x="4846320" y="1143000"/>
            <a:ext cx="1690200" cy="382680"/>
          </a:xfrm>
          <a:prstGeom prst="roundRect">
            <a:avLst>
              <a:gd name="adj" fmla="val 16667"/>
            </a:avLst>
          </a:prstGeom>
          <a:solidFill>
            <a:srgbClr val="7452A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73" name="content-system-label"/>
          <p:cNvSpPr/>
          <p:nvPr/>
        </p:nvSpPr>
        <p:spPr>
          <a:xfrm>
            <a:off x="4901040" y="1271160"/>
            <a:ext cx="1580400" cy="9000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850" b="1" u="none" strike="noStrike">
                <a:solidFill>
                  <a:srgbClr val="FFFFFF"/>
                </a:solidFill>
                <a:effectLst/>
                <a:uFillTx/>
                <a:latin typeface="Aptos"/>
              </a:rPr>
              <a:t>recommender system</a:t>
            </a:r>
            <a:endParaRPr lang="en-US" sz="850" b="0" u="none" strike="noStrike">
              <a:solidFill>
                <a:srgbClr val="000000"/>
              </a:solidFill>
              <a:effectLst/>
              <a:uFillTx/>
              <a:latin typeface="Arial"/>
            </a:endParaRPr>
          </a:p>
        </p:txBody>
      </p:sp>
      <p:sp>
        <p:nvSpPr>
          <p:cNvPr id="874" name="content-system"/>
          <p:cNvSpPr/>
          <p:nvPr/>
        </p:nvSpPr>
        <p:spPr>
          <a:xfrm>
            <a:off x="6903720" y="1143000"/>
            <a:ext cx="1690200" cy="382680"/>
          </a:xfrm>
          <a:prstGeom prst="roundRect">
            <a:avLst>
              <a:gd name="adj" fmla="val 16667"/>
            </a:avLst>
          </a:prstGeom>
          <a:solidFill>
            <a:srgbClr val="F2A122"/>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75" name="content-system-label"/>
          <p:cNvSpPr/>
          <p:nvPr/>
        </p:nvSpPr>
        <p:spPr>
          <a:xfrm>
            <a:off x="6958440" y="1271160"/>
            <a:ext cx="1580400" cy="9000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850" b="1" u="none" strike="noStrike">
                <a:solidFill>
                  <a:srgbClr val="FFFFFF"/>
                </a:solidFill>
                <a:effectLst/>
                <a:uFillTx/>
                <a:latin typeface="Aptos"/>
              </a:rPr>
              <a:t>warehouse robot</a:t>
            </a:r>
            <a:endParaRPr lang="en-US" sz="850" b="0" u="none" strike="noStrike">
              <a:solidFill>
                <a:srgbClr val="000000"/>
              </a:solidFill>
              <a:effectLst/>
              <a:uFillTx/>
              <a:latin typeface="Arial"/>
            </a:endParaRPr>
          </a:p>
        </p:txBody>
      </p:sp>
      <p:sp>
        <p:nvSpPr>
          <p:cNvPr id="876" name="content-row"/>
          <p:cNvSpPr/>
          <p:nvPr/>
        </p:nvSpPr>
        <p:spPr>
          <a:xfrm>
            <a:off x="685800" y="1874520"/>
            <a:ext cx="146160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Performance</a:t>
            </a:r>
            <a:endParaRPr lang="en-US" sz="1200" b="0" u="none" strike="noStrike">
              <a:solidFill>
                <a:srgbClr val="000000"/>
              </a:solidFill>
              <a:effectLst/>
              <a:uFillTx/>
              <a:latin typeface="Arial"/>
            </a:endParaRPr>
          </a:p>
        </p:txBody>
      </p:sp>
      <p:cxnSp>
        <p:nvCxnSpPr>
          <p:cNvPr id="877" name="decor-line"/>
          <p:cNvCxnSpPr/>
          <p:nvPr/>
        </p:nvCxnSpPr>
        <p:spPr>
          <a:xfrm>
            <a:off x="2057400" y="1965960"/>
            <a:ext cx="6356520" cy="1440"/>
          </a:xfrm>
          <a:prstGeom prst="straightConnector1">
            <a:avLst/>
          </a:prstGeom>
          <a:ln w="0">
            <a:solidFill>
              <a:srgbClr val="DCE1E8"/>
            </a:solidFill>
          </a:ln>
        </p:spPr>
      </p:cxnSp>
      <p:sp>
        <p:nvSpPr>
          <p:cNvPr id="878" name="content-row"/>
          <p:cNvSpPr/>
          <p:nvPr/>
        </p:nvSpPr>
        <p:spPr>
          <a:xfrm>
            <a:off x="685800" y="2377440"/>
            <a:ext cx="146160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Environment</a:t>
            </a:r>
            <a:endParaRPr lang="en-US" sz="1200" b="0" u="none" strike="noStrike">
              <a:solidFill>
                <a:srgbClr val="000000"/>
              </a:solidFill>
              <a:effectLst/>
              <a:uFillTx/>
              <a:latin typeface="Arial"/>
            </a:endParaRPr>
          </a:p>
        </p:txBody>
      </p:sp>
      <p:cxnSp>
        <p:nvCxnSpPr>
          <p:cNvPr id="879" name="decor-line"/>
          <p:cNvCxnSpPr/>
          <p:nvPr/>
        </p:nvCxnSpPr>
        <p:spPr>
          <a:xfrm>
            <a:off x="2057400" y="2468880"/>
            <a:ext cx="6356520" cy="1440"/>
          </a:xfrm>
          <a:prstGeom prst="straightConnector1">
            <a:avLst/>
          </a:prstGeom>
          <a:ln w="0">
            <a:solidFill>
              <a:srgbClr val="DCE1E8"/>
            </a:solidFill>
          </a:ln>
        </p:spPr>
      </p:cxnSp>
      <p:sp>
        <p:nvSpPr>
          <p:cNvPr id="880" name="content-row"/>
          <p:cNvSpPr/>
          <p:nvPr/>
        </p:nvSpPr>
        <p:spPr>
          <a:xfrm>
            <a:off x="685800" y="2880360"/>
            <a:ext cx="146160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Actuators</a:t>
            </a:r>
            <a:endParaRPr lang="en-US" sz="1200" b="0" u="none" strike="noStrike">
              <a:solidFill>
                <a:srgbClr val="000000"/>
              </a:solidFill>
              <a:effectLst/>
              <a:uFillTx/>
              <a:latin typeface="Arial"/>
            </a:endParaRPr>
          </a:p>
        </p:txBody>
      </p:sp>
      <p:cxnSp>
        <p:nvCxnSpPr>
          <p:cNvPr id="881" name="decor-line"/>
          <p:cNvCxnSpPr/>
          <p:nvPr/>
        </p:nvCxnSpPr>
        <p:spPr>
          <a:xfrm>
            <a:off x="2057400" y="2971800"/>
            <a:ext cx="6356520" cy="1440"/>
          </a:xfrm>
          <a:prstGeom prst="straightConnector1">
            <a:avLst/>
          </a:prstGeom>
          <a:ln w="0">
            <a:solidFill>
              <a:srgbClr val="DCE1E8"/>
            </a:solidFill>
          </a:ln>
        </p:spPr>
      </p:cxnSp>
      <p:sp>
        <p:nvSpPr>
          <p:cNvPr id="882" name="content-row"/>
          <p:cNvSpPr/>
          <p:nvPr/>
        </p:nvSpPr>
        <p:spPr>
          <a:xfrm>
            <a:off x="685800" y="3383280"/>
            <a:ext cx="146160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Sensors</a:t>
            </a:r>
            <a:endParaRPr lang="en-US" sz="1200" b="0" u="none" strike="noStrike">
              <a:solidFill>
                <a:srgbClr val="000000"/>
              </a:solidFill>
              <a:effectLst/>
              <a:uFillTx/>
              <a:latin typeface="Arial"/>
            </a:endParaRPr>
          </a:p>
        </p:txBody>
      </p:sp>
      <p:cxnSp>
        <p:nvCxnSpPr>
          <p:cNvPr id="883" name="decor-line"/>
          <p:cNvCxnSpPr/>
          <p:nvPr/>
        </p:nvCxnSpPr>
        <p:spPr>
          <a:xfrm>
            <a:off x="2057400" y="3474720"/>
            <a:ext cx="6356520" cy="1440"/>
          </a:xfrm>
          <a:prstGeom prst="straightConnector1">
            <a:avLst/>
          </a:prstGeom>
          <a:ln w="0">
            <a:solidFill>
              <a:srgbClr val="DCE1E8"/>
            </a:solidFill>
          </a:ln>
        </p:spPr>
      </p:cxnSp>
      <p:sp>
        <p:nvSpPr>
          <p:cNvPr id="884" name="content-prompt"/>
          <p:cNvSpPr/>
          <p:nvPr/>
        </p:nvSpPr>
        <p:spPr>
          <a:xfrm>
            <a:off x="1097280" y="4251960"/>
            <a:ext cx="7039440" cy="2728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gn="ctr">
              <a:lnSpc>
                <a:spcPct val="100000"/>
              </a:lnSpc>
            </a:pPr>
            <a:r>
              <a:rPr lang="en-US" sz="1600" b="1" u="none" strike="noStrike">
                <a:solidFill>
                  <a:srgbClr val="091F3F"/>
                </a:solidFill>
                <a:effectLst/>
                <a:uFillTx/>
                <a:latin typeface="Aptos"/>
              </a:rPr>
              <a:t>Prompt: choose one system and fill the four PEAS rows in two minutes.</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5"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86"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887"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Environment dimensions predict agent difficulty</a:t>
            </a:r>
            <a:endParaRPr lang="en-US" sz="2400" b="0" u="none" strike="noStrike">
              <a:solidFill>
                <a:srgbClr val="000000"/>
              </a:solidFill>
              <a:effectLst/>
              <a:uFillTx/>
              <a:latin typeface="Arial"/>
            </a:endParaRPr>
          </a:p>
        </p:txBody>
      </p:sp>
      <p:sp>
        <p:nvSpPr>
          <p:cNvPr id="888"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The harder side of each dimension usually requires richer agent design.</a:t>
            </a:r>
            <a:endParaRPr lang="en-US" sz="1150" b="0" u="none" strike="noStrike">
              <a:solidFill>
                <a:srgbClr val="000000"/>
              </a:solidFill>
              <a:effectLst/>
              <a:uFillTx/>
              <a:latin typeface="Arial"/>
            </a:endParaRPr>
          </a:p>
        </p:txBody>
      </p:sp>
      <p:cxnSp>
        <p:nvCxnSpPr>
          <p:cNvPr id="889" name="decor-title-line"/>
          <p:cNvCxnSpPr/>
          <p:nvPr/>
        </p:nvCxnSpPr>
        <p:spPr>
          <a:xfrm>
            <a:off x="320040" y="932400"/>
            <a:ext cx="8505360" cy="1440"/>
          </a:xfrm>
          <a:prstGeom prst="straightConnector1">
            <a:avLst/>
          </a:prstGeom>
          <a:ln w="25400">
            <a:solidFill>
              <a:srgbClr val="F2A122"/>
            </a:solidFill>
            <a:round/>
          </a:ln>
        </p:spPr>
      </p:cxnSp>
      <p:sp>
        <p:nvSpPr>
          <p:cNvPr id="890"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891" name="content-dim"/>
          <p:cNvSpPr/>
          <p:nvPr/>
        </p:nvSpPr>
        <p:spPr>
          <a:xfrm>
            <a:off x="777240" y="1024200"/>
            <a:ext cx="22845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2084C9"/>
                </a:solidFill>
                <a:effectLst/>
                <a:uFillTx/>
                <a:latin typeface="Aptos"/>
              </a:rPr>
              <a:t>Fully observable</a:t>
            </a:r>
            <a:endParaRPr lang="en-US" sz="1150" b="0" u="none" strike="noStrike">
              <a:solidFill>
                <a:srgbClr val="000000"/>
              </a:solidFill>
              <a:effectLst/>
              <a:uFillTx/>
              <a:latin typeface="Arial"/>
            </a:endParaRPr>
          </a:p>
        </p:txBody>
      </p:sp>
      <p:sp>
        <p:nvSpPr>
          <p:cNvPr id="892" name="content-arrow"/>
          <p:cNvSpPr/>
          <p:nvPr/>
        </p:nvSpPr>
        <p:spPr>
          <a:xfrm>
            <a:off x="3063240" y="1024200"/>
            <a:ext cx="2271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5A6473"/>
                </a:solidFill>
                <a:effectLst/>
                <a:uFillTx/>
                <a:latin typeface="Aptos"/>
              </a:rPr>
              <a:t>→</a:t>
            </a:r>
            <a:endParaRPr lang="en-US" sz="1150" b="0" u="none" strike="noStrike">
              <a:solidFill>
                <a:srgbClr val="000000"/>
              </a:solidFill>
              <a:effectLst/>
              <a:uFillTx/>
              <a:latin typeface="Arial"/>
            </a:endParaRPr>
          </a:p>
        </p:txBody>
      </p:sp>
      <p:sp>
        <p:nvSpPr>
          <p:cNvPr id="893" name="content-dim"/>
          <p:cNvSpPr/>
          <p:nvPr/>
        </p:nvSpPr>
        <p:spPr>
          <a:xfrm>
            <a:off x="3429000" y="1024200"/>
            <a:ext cx="22845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B73D3B"/>
                </a:solidFill>
                <a:effectLst/>
                <a:uFillTx/>
                <a:latin typeface="Aptos"/>
              </a:rPr>
              <a:t>Partially observable</a:t>
            </a:r>
            <a:endParaRPr lang="en-US" sz="1150" b="0" u="none" strike="noStrike">
              <a:solidFill>
                <a:srgbClr val="000000"/>
              </a:solidFill>
              <a:effectLst/>
              <a:uFillTx/>
              <a:latin typeface="Arial"/>
            </a:endParaRPr>
          </a:p>
        </p:txBody>
      </p:sp>
      <p:sp>
        <p:nvSpPr>
          <p:cNvPr id="894" name="content-hard"/>
          <p:cNvSpPr/>
          <p:nvPr/>
        </p:nvSpPr>
        <p:spPr>
          <a:xfrm>
            <a:off x="5806440" y="1024200"/>
            <a:ext cx="91296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00" b="0" i="1" u="none" strike="noStrike">
                <a:solidFill>
                  <a:srgbClr val="5A6473"/>
                </a:solidFill>
                <a:effectLst/>
                <a:uFillTx/>
                <a:latin typeface="Aptos"/>
              </a:rPr>
              <a:t>harder</a:t>
            </a:r>
            <a:endParaRPr lang="en-US" sz="1000" b="0" u="none" strike="noStrike">
              <a:solidFill>
                <a:srgbClr val="000000"/>
              </a:solidFill>
              <a:effectLst/>
              <a:uFillTx/>
              <a:latin typeface="Arial"/>
            </a:endParaRPr>
          </a:p>
        </p:txBody>
      </p:sp>
      <p:sp>
        <p:nvSpPr>
          <p:cNvPr id="895" name="content-dim"/>
          <p:cNvSpPr/>
          <p:nvPr/>
        </p:nvSpPr>
        <p:spPr>
          <a:xfrm>
            <a:off x="777240" y="1463040"/>
            <a:ext cx="22845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2084C9"/>
                </a:solidFill>
                <a:effectLst/>
                <a:uFillTx/>
                <a:latin typeface="Aptos"/>
              </a:rPr>
              <a:t>Single-agent</a:t>
            </a:r>
            <a:endParaRPr lang="en-US" sz="1150" b="0" u="none" strike="noStrike">
              <a:solidFill>
                <a:srgbClr val="000000"/>
              </a:solidFill>
              <a:effectLst/>
              <a:uFillTx/>
              <a:latin typeface="Arial"/>
            </a:endParaRPr>
          </a:p>
        </p:txBody>
      </p:sp>
      <p:sp>
        <p:nvSpPr>
          <p:cNvPr id="896" name="content-arrow"/>
          <p:cNvSpPr/>
          <p:nvPr/>
        </p:nvSpPr>
        <p:spPr>
          <a:xfrm>
            <a:off x="3063240" y="1463040"/>
            <a:ext cx="2271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5A6473"/>
                </a:solidFill>
                <a:effectLst/>
                <a:uFillTx/>
                <a:latin typeface="Aptos"/>
              </a:rPr>
              <a:t>→</a:t>
            </a:r>
            <a:endParaRPr lang="en-US" sz="1150" b="0" u="none" strike="noStrike">
              <a:solidFill>
                <a:srgbClr val="000000"/>
              </a:solidFill>
              <a:effectLst/>
              <a:uFillTx/>
              <a:latin typeface="Arial"/>
            </a:endParaRPr>
          </a:p>
        </p:txBody>
      </p:sp>
      <p:sp>
        <p:nvSpPr>
          <p:cNvPr id="897" name="content-dim"/>
          <p:cNvSpPr/>
          <p:nvPr/>
        </p:nvSpPr>
        <p:spPr>
          <a:xfrm>
            <a:off x="3429000" y="1463040"/>
            <a:ext cx="22845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B73D3B"/>
                </a:solidFill>
                <a:effectLst/>
                <a:uFillTx/>
                <a:latin typeface="Aptos"/>
              </a:rPr>
              <a:t>Multiagent</a:t>
            </a:r>
            <a:endParaRPr lang="en-US" sz="1150" b="0" u="none" strike="noStrike">
              <a:solidFill>
                <a:srgbClr val="000000"/>
              </a:solidFill>
              <a:effectLst/>
              <a:uFillTx/>
              <a:latin typeface="Arial"/>
            </a:endParaRPr>
          </a:p>
        </p:txBody>
      </p:sp>
      <p:sp>
        <p:nvSpPr>
          <p:cNvPr id="898" name="content-hard"/>
          <p:cNvSpPr/>
          <p:nvPr/>
        </p:nvSpPr>
        <p:spPr>
          <a:xfrm>
            <a:off x="5806440" y="1463040"/>
            <a:ext cx="91296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00" b="0" i="1" u="none" strike="noStrike">
                <a:solidFill>
                  <a:srgbClr val="5A6473"/>
                </a:solidFill>
                <a:effectLst/>
                <a:uFillTx/>
                <a:latin typeface="Aptos"/>
              </a:rPr>
              <a:t>harder</a:t>
            </a:r>
            <a:endParaRPr lang="en-US" sz="1000" b="0" u="none" strike="noStrike">
              <a:solidFill>
                <a:srgbClr val="000000"/>
              </a:solidFill>
              <a:effectLst/>
              <a:uFillTx/>
              <a:latin typeface="Arial"/>
            </a:endParaRPr>
          </a:p>
        </p:txBody>
      </p:sp>
      <p:sp>
        <p:nvSpPr>
          <p:cNvPr id="899" name="content-dim"/>
          <p:cNvSpPr/>
          <p:nvPr/>
        </p:nvSpPr>
        <p:spPr>
          <a:xfrm>
            <a:off x="777240" y="1901880"/>
            <a:ext cx="22845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2084C9"/>
                </a:solidFill>
                <a:effectLst/>
                <a:uFillTx/>
                <a:latin typeface="Aptos"/>
              </a:rPr>
              <a:t>Deterministic</a:t>
            </a:r>
            <a:endParaRPr lang="en-US" sz="1150" b="0" u="none" strike="noStrike">
              <a:solidFill>
                <a:srgbClr val="000000"/>
              </a:solidFill>
              <a:effectLst/>
              <a:uFillTx/>
              <a:latin typeface="Arial"/>
            </a:endParaRPr>
          </a:p>
        </p:txBody>
      </p:sp>
      <p:sp>
        <p:nvSpPr>
          <p:cNvPr id="900" name="content-arrow"/>
          <p:cNvSpPr/>
          <p:nvPr/>
        </p:nvSpPr>
        <p:spPr>
          <a:xfrm>
            <a:off x="3063240" y="1901880"/>
            <a:ext cx="2271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5A6473"/>
                </a:solidFill>
                <a:effectLst/>
                <a:uFillTx/>
                <a:latin typeface="Aptos"/>
              </a:rPr>
              <a:t>→</a:t>
            </a:r>
            <a:endParaRPr lang="en-US" sz="1150" b="0" u="none" strike="noStrike">
              <a:solidFill>
                <a:srgbClr val="000000"/>
              </a:solidFill>
              <a:effectLst/>
              <a:uFillTx/>
              <a:latin typeface="Arial"/>
            </a:endParaRPr>
          </a:p>
        </p:txBody>
      </p:sp>
      <p:sp>
        <p:nvSpPr>
          <p:cNvPr id="901" name="content-dim"/>
          <p:cNvSpPr/>
          <p:nvPr/>
        </p:nvSpPr>
        <p:spPr>
          <a:xfrm>
            <a:off x="3429000" y="1901880"/>
            <a:ext cx="22845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B73D3B"/>
                </a:solidFill>
                <a:effectLst/>
                <a:uFillTx/>
                <a:latin typeface="Aptos"/>
              </a:rPr>
              <a:t>Stochastic</a:t>
            </a:r>
            <a:endParaRPr lang="en-US" sz="1150" b="0" u="none" strike="noStrike">
              <a:solidFill>
                <a:srgbClr val="000000"/>
              </a:solidFill>
              <a:effectLst/>
              <a:uFillTx/>
              <a:latin typeface="Arial"/>
            </a:endParaRPr>
          </a:p>
        </p:txBody>
      </p:sp>
      <p:sp>
        <p:nvSpPr>
          <p:cNvPr id="902" name="content-hard"/>
          <p:cNvSpPr/>
          <p:nvPr/>
        </p:nvSpPr>
        <p:spPr>
          <a:xfrm>
            <a:off x="5806440" y="1901880"/>
            <a:ext cx="91296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00" b="0" i="1" u="none" strike="noStrike">
                <a:solidFill>
                  <a:srgbClr val="5A6473"/>
                </a:solidFill>
                <a:effectLst/>
                <a:uFillTx/>
                <a:latin typeface="Aptos"/>
              </a:rPr>
              <a:t>harder</a:t>
            </a:r>
            <a:endParaRPr lang="en-US" sz="1000" b="0" u="none" strike="noStrike">
              <a:solidFill>
                <a:srgbClr val="000000"/>
              </a:solidFill>
              <a:effectLst/>
              <a:uFillTx/>
              <a:latin typeface="Arial"/>
            </a:endParaRPr>
          </a:p>
        </p:txBody>
      </p:sp>
      <p:sp>
        <p:nvSpPr>
          <p:cNvPr id="903" name="content-dim"/>
          <p:cNvSpPr/>
          <p:nvPr/>
        </p:nvSpPr>
        <p:spPr>
          <a:xfrm>
            <a:off x="777240" y="2340720"/>
            <a:ext cx="22845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2084C9"/>
                </a:solidFill>
                <a:effectLst/>
                <a:uFillTx/>
                <a:latin typeface="Aptos"/>
              </a:rPr>
              <a:t>Episodic</a:t>
            </a:r>
            <a:endParaRPr lang="en-US" sz="1150" b="0" u="none" strike="noStrike">
              <a:solidFill>
                <a:srgbClr val="000000"/>
              </a:solidFill>
              <a:effectLst/>
              <a:uFillTx/>
              <a:latin typeface="Arial"/>
            </a:endParaRPr>
          </a:p>
        </p:txBody>
      </p:sp>
      <p:sp>
        <p:nvSpPr>
          <p:cNvPr id="904" name="content-arrow"/>
          <p:cNvSpPr/>
          <p:nvPr/>
        </p:nvSpPr>
        <p:spPr>
          <a:xfrm>
            <a:off x="3063240" y="2340720"/>
            <a:ext cx="2271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5A6473"/>
                </a:solidFill>
                <a:effectLst/>
                <a:uFillTx/>
                <a:latin typeface="Aptos"/>
              </a:rPr>
              <a:t>→</a:t>
            </a:r>
            <a:endParaRPr lang="en-US" sz="1150" b="0" u="none" strike="noStrike">
              <a:solidFill>
                <a:srgbClr val="000000"/>
              </a:solidFill>
              <a:effectLst/>
              <a:uFillTx/>
              <a:latin typeface="Arial"/>
            </a:endParaRPr>
          </a:p>
        </p:txBody>
      </p:sp>
      <p:sp>
        <p:nvSpPr>
          <p:cNvPr id="905" name="content-dim"/>
          <p:cNvSpPr/>
          <p:nvPr/>
        </p:nvSpPr>
        <p:spPr>
          <a:xfrm>
            <a:off x="3429000" y="2340720"/>
            <a:ext cx="22845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B73D3B"/>
                </a:solidFill>
                <a:effectLst/>
                <a:uFillTx/>
                <a:latin typeface="Aptos"/>
              </a:rPr>
              <a:t>Sequential</a:t>
            </a:r>
            <a:endParaRPr lang="en-US" sz="1150" b="0" u="none" strike="noStrike">
              <a:solidFill>
                <a:srgbClr val="000000"/>
              </a:solidFill>
              <a:effectLst/>
              <a:uFillTx/>
              <a:latin typeface="Arial"/>
            </a:endParaRPr>
          </a:p>
        </p:txBody>
      </p:sp>
      <p:sp>
        <p:nvSpPr>
          <p:cNvPr id="906" name="content-hard"/>
          <p:cNvSpPr/>
          <p:nvPr/>
        </p:nvSpPr>
        <p:spPr>
          <a:xfrm>
            <a:off x="5806440" y="2340720"/>
            <a:ext cx="91296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00" b="0" i="1" u="none" strike="noStrike">
                <a:solidFill>
                  <a:srgbClr val="5A6473"/>
                </a:solidFill>
                <a:effectLst/>
                <a:uFillTx/>
                <a:latin typeface="Aptos"/>
              </a:rPr>
              <a:t>harder</a:t>
            </a:r>
            <a:endParaRPr lang="en-US" sz="1000" b="0" u="none" strike="noStrike">
              <a:solidFill>
                <a:srgbClr val="000000"/>
              </a:solidFill>
              <a:effectLst/>
              <a:uFillTx/>
              <a:latin typeface="Arial"/>
            </a:endParaRPr>
          </a:p>
        </p:txBody>
      </p:sp>
      <p:sp>
        <p:nvSpPr>
          <p:cNvPr id="907" name="content-dim"/>
          <p:cNvSpPr/>
          <p:nvPr/>
        </p:nvSpPr>
        <p:spPr>
          <a:xfrm>
            <a:off x="777240" y="2779920"/>
            <a:ext cx="22845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2084C9"/>
                </a:solidFill>
                <a:effectLst/>
                <a:uFillTx/>
                <a:latin typeface="Aptos"/>
              </a:rPr>
              <a:t>Static</a:t>
            </a:r>
            <a:endParaRPr lang="en-US" sz="1150" b="0" u="none" strike="noStrike">
              <a:solidFill>
                <a:srgbClr val="000000"/>
              </a:solidFill>
              <a:effectLst/>
              <a:uFillTx/>
              <a:latin typeface="Arial"/>
            </a:endParaRPr>
          </a:p>
        </p:txBody>
      </p:sp>
      <p:sp>
        <p:nvSpPr>
          <p:cNvPr id="908" name="content-arrow"/>
          <p:cNvSpPr/>
          <p:nvPr/>
        </p:nvSpPr>
        <p:spPr>
          <a:xfrm>
            <a:off x="3063240" y="2779920"/>
            <a:ext cx="2271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5A6473"/>
                </a:solidFill>
                <a:effectLst/>
                <a:uFillTx/>
                <a:latin typeface="Aptos"/>
              </a:rPr>
              <a:t>→</a:t>
            </a:r>
            <a:endParaRPr lang="en-US" sz="1150" b="0" u="none" strike="noStrike">
              <a:solidFill>
                <a:srgbClr val="000000"/>
              </a:solidFill>
              <a:effectLst/>
              <a:uFillTx/>
              <a:latin typeface="Arial"/>
            </a:endParaRPr>
          </a:p>
        </p:txBody>
      </p:sp>
      <p:sp>
        <p:nvSpPr>
          <p:cNvPr id="909" name="content-dim"/>
          <p:cNvSpPr/>
          <p:nvPr/>
        </p:nvSpPr>
        <p:spPr>
          <a:xfrm>
            <a:off x="3429000" y="2779920"/>
            <a:ext cx="22845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B73D3B"/>
                </a:solidFill>
                <a:effectLst/>
                <a:uFillTx/>
                <a:latin typeface="Aptos"/>
              </a:rPr>
              <a:t>Dynamic</a:t>
            </a:r>
            <a:endParaRPr lang="en-US" sz="1150" b="0" u="none" strike="noStrike">
              <a:solidFill>
                <a:srgbClr val="000000"/>
              </a:solidFill>
              <a:effectLst/>
              <a:uFillTx/>
              <a:latin typeface="Arial"/>
            </a:endParaRPr>
          </a:p>
        </p:txBody>
      </p:sp>
      <p:sp>
        <p:nvSpPr>
          <p:cNvPr id="910" name="content-hard"/>
          <p:cNvSpPr/>
          <p:nvPr/>
        </p:nvSpPr>
        <p:spPr>
          <a:xfrm>
            <a:off x="5806440" y="2779920"/>
            <a:ext cx="91296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00" b="0" i="1" u="none" strike="noStrike">
                <a:solidFill>
                  <a:srgbClr val="5A6473"/>
                </a:solidFill>
                <a:effectLst/>
                <a:uFillTx/>
                <a:latin typeface="Aptos"/>
              </a:rPr>
              <a:t>harder</a:t>
            </a:r>
            <a:endParaRPr lang="en-US" sz="1000" b="0" u="none" strike="noStrike">
              <a:solidFill>
                <a:srgbClr val="000000"/>
              </a:solidFill>
              <a:effectLst/>
              <a:uFillTx/>
              <a:latin typeface="Arial"/>
            </a:endParaRPr>
          </a:p>
        </p:txBody>
      </p:sp>
      <p:sp>
        <p:nvSpPr>
          <p:cNvPr id="911" name="content-dim"/>
          <p:cNvSpPr/>
          <p:nvPr/>
        </p:nvSpPr>
        <p:spPr>
          <a:xfrm>
            <a:off x="777240" y="3218760"/>
            <a:ext cx="22845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2084C9"/>
                </a:solidFill>
                <a:effectLst/>
                <a:uFillTx/>
                <a:latin typeface="Aptos"/>
              </a:rPr>
              <a:t>Discrete</a:t>
            </a:r>
            <a:endParaRPr lang="en-US" sz="1150" b="0" u="none" strike="noStrike">
              <a:solidFill>
                <a:srgbClr val="000000"/>
              </a:solidFill>
              <a:effectLst/>
              <a:uFillTx/>
              <a:latin typeface="Arial"/>
            </a:endParaRPr>
          </a:p>
        </p:txBody>
      </p:sp>
      <p:sp>
        <p:nvSpPr>
          <p:cNvPr id="912" name="content-arrow"/>
          <p:cNvSpPr/>
          <p:nvPr/>
        </p:nvSpPr>
        <p:spPr>
          <a:xfrm>
            <a:off x="3063240" y="3218760"/>
            <a:ext cx="2271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5A6473"/>
                </a:solidFill>
                <a:effectLst/>
                <a:uFillTx/>
                <a:latin typeface="Aptos"/>
              </a:rPr>
              <a:t>→</a:t>
            </a:r>
            <a:endParaRPr lang="en-US" sz="1150" b="0" u="none" strike="noStrike">
              <a:solidFill>
                <a:srgbClr val="000000"/>
              </a:solidFill>
              <a:effectLst/>
              <a:uFillTx/>
              <a:latin typeface="Arial"/>
            </a:endParaRPr>
          </a:p>
        </p:txBody>
      </p:sp>
      <p:sp>
        <p:nvSpPr>
          <p:cNvPr id="913" name="content-dim"/>
          <p:cNvSpPr/>
          <p:nvPr/>
        </p:nvSpPr>
        <p:spPr>
          <a:xfrm>
            <a:off x="3429000" y="3218760"/>
            <a:ext cx="22845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B73D3B"/>
                </a:solidFill>
                <a:effectLst/>
                <a:uFillTx/>
                <a:latin typeface="Aptos"/>
              </a:rPr>
              <a:t>Continuous</a:t>
            </a:r>
            <a:endParaRPr lang="en-US" sz="1150" b="0" u="none" strike="noStrike">
              <a:solidFill>
                <a:srgbClr val="000000"/>
              </a:solidFill>
              <a:effectLst/>
              <a:uFillTx/>
              <a:latin typeface="Arial"/>
            </a:endParaRPr>
          </a:p>
        </p:txBody>
      </p:sp>
      <p:sp>
        <p:nvSpPr>
          <p:cNvPr id="914" name="content-hard"/>
          <p:cNvSpPr/>
          <p:nvPr/>
        </p:nvSpPr>
        <p:spPr>
          <a:xfrm>
            <a:off x="5806440" y="3218760"/>
            <a:ext cx="91296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00" b="0" i="1" u="none" strike="noStrike">
                <a:solidFill>
                  <a:srgbClr val="5A6473"/>
                </a:solidFill>
                <a:effectLst/>
                <a:uFillTx/>
                <a:latin typeface="Aptos"/>
              </a:rPr>
              <a:t>harder</a:t>
            </a:r>
            <a:endParaRPr lang="en-US" sz="1000" b="0" u="none" strike="noStrike">
              <a:solidFill>
                <a:srgbClr val="000000"/>
              </a:solidFill>
              <a:effectLst/>
              <a:uFillTx/>
              <a:latin typeface="Arial"/>
            </a:endParaRPr>
          </a:p>
        </p:txBody>
      </p:sp>
      <p:sp>
        <p:nvSpPr>
          <p:cNvPr id="915" name="content-dim"/>
          <p:cNvSpPr/>
          <p:nvPr/>
        </p:nvSpPr>
        <p:spPr>
          <a:xfrm>
            <a:off x="777240" y="3657600"/>
            <a:ext cx="22845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2084C9"/>
                </a:solidFill>
                <a:effectLst/>
                <a:uFillTx/>
                <a:latin typeface="Aptos"/>
              </a:rPr>
              <a:t>Known</a:t>
            </a:r>
            <a:endParaRPr lang="en-US" sz="1150" b="0" u="none" strike="noStrike">
              <a:solidFill>
                <a:srgbClr val="000000"/>
              </a:solidFill>
              <a:effectLst/>
              <a:uFillTx/>
              <a:latin typeface="Arial"/>
            </a:endParaRPr>
          </a:p>
        </p:txBody>
      </p:sp>
      <p:sp>
        <p:nvSpPr>
          <p:cNvPr id="916" name="content-arrow"/>
          <p:cNvSpPr/>
          <p:nvPr/>
        </p:nvSpPr>
        <p:spPr>
          <a:xfrm>
            <a:off x="3063240" y="3657600"/>
            <a:ext cx="2271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5A6473"/>
                </a:solidFill>
                <a:effectLst/>
                <a:uFillTx/>
                <a:latin typeface="Aptos"/>
              </a:rPr>
              <a:t>→</a:t>
            </a:r>
            <a:endParaRPr lang="en-US" sz="1150" b="0" u="none" strike="noStrike">
              <a:solidFill>
                <a:srgbClr val="000000"/>
              </a:solidFill>
              <a:effectLst/>
              <a:uFillTx/>
              <a:latin typeface="Arial"/>
            </a:endParaRPr>
          </a:p>
        </p:txBody>
      </p:sp>
      <p:sp>
        <p:nvSpPr>
          <p:cNvPr id="917" name="content-dim"/>
          <p:cNvSpPr/>
          <p:nvPr/>
        </p:nvSpPr>
        <p:spPr>
          <a:xfrm>
            <a:off x="3429000" y="3657600"/>
            <a:ext cx="22845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B73D3B"/>
                </a:solidFill>
                <a:effectLst/>
                <a:uFillTx/>
                <a:latin typeface="Aptos"/>
              </a:rPr>
              <a:t>Unknown</a:t>
            </a:r>
            <a:endParaRPr lang="en-US" sz="1150" b="0" u="none" strike="noStrike">
              <a:solidFill>
                <a:srgbClr val="000000"/>
              </a:solidFill>
              <a:effectLst/>
              <a:uFillTx/>
              <a:latin typeface="Arial"/>
            </a:endParaRPr>
          </a:p>
        </p:txBody>
      </p:sp>
      <p:sp>
        <p:nvSpPr>
          <p:cNvPr id="918" name="content-hard"/>
          <p:cNvSpPr/>
          <p:nvPr/>
        </p:nvSpPr>
        <p:spPr>
          <a:xfrm>
            <a:off x="5806440" y="3657600"/>
            <a:ext cx="91296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00" b="0" i="1" u="none" strike="noStrike">
                <a:solidFill>
                  <a:srgbClr val="5A6473"/>
                </a:solidFill>
                <a:effectLst/>
                <a:uFillTx/>
                <a:latin typeface="Aptos"/>
              </a:rPr>
              <a:t>harder</a:t>
            </a:r>
            <a:endParaRPr lang="en-US" sz="1000" b="0" u="none" strike="noStrike">
              <a:solidFill>
                <a:srgbClr val="000000"/>
              </a:solidFill>
              <a:effectLst/>
              <a:uFillTx/>
              <a:latin typeface="Arial"/>
            </a:endParaRPr>
          </a:p>
        </p:txBody>
      </p:sp>
      <p:pic>
        <p:nvPicPr>
          <p:cNvPr id="919" name="content-env-table" descr="image5.png"/>
          <p:cNvPicPr/>
          <p:nvPr/>
        </p:nvPicPr>
        <p:blipFill>
          <a:blip r:embed="rId1"/>
          <a:stretch/>
        </p:blipFill>
        <p:spPr>
          <a:xfrm>
            <a:off x="6537960" y="1577520"/>
            <a:ext cx="2284560" cy="1324440"/>
          </a:xfrm>
          <a:prstGeom prst="rect">
            <a:avLst/>
          </a:prstGeom>
          <a:noFill/>
          <a:ln w="0">
            <a:noFill/>
          </a:ln>
        </p:spPr>
      </p:pic>
      <p:sp>
        <p:nvSpPr>
          <p:cNvPr id="920" name="content-question"/>
          <p:cNvSpPr/>
          <p:nvPr/>
        </p:nvSpPr>
        <p:spPr>
          <a:xfrm>
            <a:off x="1097280" y="4407480"/>
            <a:ext cx="6948000" cy="227160"/>
          </a:xfrm>
          <a:prstGeom prst="rect">
            <a:avLst/>
          </a:prstGeom>
          <a:noFill/>
          <a:ln w="0">
            <a:noFill/>
          </a:ln>
        </p:spPr>
        <p:style>
          <a:lnRef idx="0"/>
          <a:fillRef idx="0"/>
          <a:effectRef idx="0"/>
          <a:fontRef idx="minor"/>
        </p:style>
        <p:txBody>
          <a:bodyPr lIns="45720" tIns="45000" rIns="45720" bIns="45000" anchor="t">
            <a:normAutofit fontScale="77500" lnSpcReduction="19999"/>
          </a:bodyPr>
          <a:p>
            <a:pPr algn="ctr">
              <a:lnSpc>
                <a:spcPct val="100000"/>
              </a:lnSpc>
            </a:pPr>
            <a:r>
              <a:rPr lang="en-US" sz="1400" b="1" u="none" strike="noStrike">
                <a:solidFill>
                  <a:srgbClr val="091F3F"/>
                </a:solidFill>
                <a:effectLst/>
                <a:uFillTx/>
                <a:latin typeface="Aptos"/>
              </a:rPr>
              <a:t>Ask: what changes in the agent when the world becomes partially observable?</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1"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22"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923"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Classify environments by examples</a:t>
            </a:r>
            <a:endParaRPr lang="en-US" sz="2400" b="0" u="none" strike="noStrike">
              <a:solidFill>
                <a:srgbClr val="000000"/>
              </a:solidFill>
              <a:effectLst/>
              <a:uFillTx/>
              <a:latin typeface="Arial"/>
            </a:endParaRPr>
          </a:p>
        </p:txBody>
      </p:sp>
      <p:sp>
        <p:nvSpPr>
          <p:cNvPr id="924"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Students learn the dimensions by comparing tasks.</a:t>
            </a:r>
            <a:endParaRPr lang="en-US" sz="1150" b="0" u="none" strike="noStrike">
              <a:solidFill>
                <a:srgbClr val="000000"/>
              </a:solidFill>
              <a:effectLst/>
              <a:uFillTx/>
              <a:latin typeface="Arial"/>
            </a:endParaRPr>
          </a:p>
        </p:txBody>
      </p:sp>
      <p:cxnSp>
        <p:nvCxnSpPr>
          <p:cNvPr id="925" name="decor-title-line"/>
          <p:cNvCxnSpPr/>
          <p:nvPr/>
        </p:nvCxnSpPr>
        <p:spPr>
          <a:xfrm>
            <a:off x="320040" y="932400"/>
            <a:ext cx="8505360" cy="1440"/>
          </a:xfrm>
          <a:prstGeom prst="straightConnector1">
            <a:avLst/>
          </a:prstGeom>
          <a:ln w="25400">
            <a:solidFill>
              <a:srgbClr val="F2A122"/>
            </a:solidFill>
            <a:round/>
          </a:ln>
        </p:spPr>
      </p:cxnSp>
      <p:sp>
        <p:nvSpPr>
          <p:cNvPr id="926"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927" name="content-card"/>
          <p:cNvSpPr/>
          <p:nvPr/>
        </p:nvSpPr>
        <p:spPr>
          <a:xfrm>
            <a:off x="640080" y="960120"/>
            <a:ext cx="3656160" cy="73008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28" name="decor-card-accent"/>
          <p:cNvSpPr/>
          <p:nvPr/>
        </p:nvSpPr>
        <p:spPr>
          <a:xfrm>
            <a:off x="640080" y="960120"/>
            <a:ext cx="71640" cy="730080"/>
          </a:xfrm>
          <a:prstGeom prst="rect">
            <a:avLst/>
          </a:prstGeom>
          <a:solidFill>
            <a:srgbClr val="2084C9"/>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929" name="content-card-title"/>
          <p:cNvSpPr/>
          <p:nvPr/>
        </p:nvSpPr>
        <p:spPr>
          <a:xfrm>
            <a:off x="804600" y="106992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Crossword</a:t>
            </a:r>
            <a:endParaRPr lang="en-US" sz="1250" b="0" u="none" strike="noStrike">
              <a:solidFill>
                <a:srgbClr val="000000"/>
              </a:solidFill>
              <a:effectLst/>
              <a:uFillTx/>
              <a:latin typeface="Arial"/>
            </a:endParaRPr>
          </a:p>
        </p:txBody>
      </p:sp>
      <p:sp>
        <p:nvSpPr>
          <p:cNvPr id="930" name="content-card-body"/>
          <p:cNvSpPr/>
          <p:nvPr/>
        </p:nvSpPr>
        <p:spPr>
          <a:xfrm>
            <a:off x="804600" y="1398960"/>
            <a:ext cx="3400200" cy="227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150" b="0" u="none" strike="noStrike">
                <a:solidFill>
                  <a:srgbClr val="1E1E1E"/>
                </a:solidFill>
                <a:effectLst/>
                <a:uFillTx/>
                <a:latin typeface="Aptos"/>
              </a:rPr>
              <a:t>fully observable, deterministic, static, discrete</a:t>
            </a:r>
            <a:endParaRPr lang="en-US" sz="1150" b="0" u="none" strike="noStrike">
              <a:solidFill>
                <a:srgbClr val="000000"/>
              </a:solidFill>
              <a:effectLst/>
              <a:uFillTx/>
              <a:latin typeface="Arial"/>
            </a:endParaRPr>
          </a:p>
        </p:txBody>
      </p:sp>
      <p:sp>
        <p:nvSpPr>
          <p:cNvPr id="931" name="content-card"/>
          <p:cNvSpPr/>
          <p:nvPr/>
        </p:nvSpPr>
        <p:spPr>
          <a:xfrm>
            <a:off x="4709160" y="960120"/>
            <a:ext cx="3656160" cy="73008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32" name="decor-card-accent"/>
          <p:cNvSpPr/>
          <p:nvPr/>
        </p:nvSpPr>
        <p:spPr>
          <a:xfrm>
            <a:off x="4709160" y="960120"/>
            <a:ext cx="71640" cy="730080"/>
          </a:xfrm>
          <a:prstGeom prst="rect">
            <a:avLst/>
          </a:prstGeom>
          <a:solidFill>
            <a:srgbClr val="00897B"/>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933" name="content-card-title"/>
          <p:cNvSpPr/>
          <p:nvPr/>
        </p:nvSpPr>
        <p:spPr>
          <a:xfrm>
            <a:off x="4873680" y="106992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Chess</a:t>
            </a:r>
            <a:endParaRPr lang="en-US" sz="1250" b="0" u="none" strike="noStrike">
              <a:solidFill>
                <a:srgbClr val="000000"/>
              </a:solidFill>
              <a:effectLst/>
              <a:uFillTx/>
              <a:latin typeface="Arial"/>
            </a:endParaRPr>
          </a:p>
        </p:txBody>
      </p:sp>
      <p:sp>
        <p:nvSpPr>
          <p:cNvPr id="934" name="content-card-body"/>
          <p:cNvSpPr/>
          <p:nvPr/>
        </p:nvSpPr>
        <p:spPr>
          <a:xfrm>
            <a:off x="4873680" y="1398960"/>
            <a:ext cx="3400200" cy="227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150" b="0" u="none" strike="noStrike">
                <a:solidFill>
                  <a:srgbClr val="1E1E1E"/>
                </a:solidFill>
                <a:effectLst/>
                <a:uFillTx/>
                <a:latin typeface="Aptos"/>
              </a:rPr>
              <a:t>fully observable, deterministic, multiagent, sequential</a:t>
            </a:r>
            <a:endParaRPr lang="en-US" sz="1150" b="0" u="none" strike="noStrike">
              <a:solidFill>
                <a:srgbClr val="000000"/>
              </a:solidFill>
              <a:effectLst/>
              <a:uFillTx/>
              <a:latin typeface="Arial"/>
            </a:endParaRPr>
          </a:p>
        </p:txBody>
      </p:sp>
      <p:sp>
        <p:nvSpPr>
          <p:cNvPr id="935" name="content-card"/>
          <p:cNvSpPr/>
          <p:nvPr/>
        </p:nvSpPr>
        <p:spPr>
          <a:xfrm>
            <a:off x="640080" y="1965960"/>
            <a:ext cx="3656160" cy="73008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36" name="decor-card-accent"/>
          <p:cNvSpPr/>
          <p:nvPr/>
        </p:nvSpPr>
        <p:spPr>
          <a:xfrm>
            <a:off x="640080" y="1965960"/>
            <a:ext cx="71640" cy="730080"/>
          </a:xfrm>
          <a:prstGeom prst="rect">
            <a:avLst/>
          </a:prstGeom>
          <a:solidFill>
            <a:srgbClr val="7452A6"/>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937" name="content-card-title"/>
          <p:cNvSpPr/>
          <p:nvPr/>
        </p:nvSpPr>
        <p:spPr>
          <a:xfrm>
            <a:off x="804600" y="207576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Poker</a:t>
            </a:r>
            <a:endParaRPr lang="en-US" sz="1250" b="0" u="none" strike="noStrike">
              <a:solidFill>
                <a:srgbClr val="000000"/>
              </a:solidFill>
              <a:effectLst/>
              <a:uFillTx/>
              <a:latin typeface="Arial"/>
            </a:endParaRPr>
          </a:p>
        </p:txBody>
      </p:sp>
      <p:sp>
        <p:nvSpPr>
          <p:cNvPr id="938" name="content-card-body"/>
          <p:cNvSpPr/>
          <p:nvPr/>
        </p:nvSpPr>
        <p:spPr>
          <a:xfrm>
            <a:off x="804600" y="2404800"/>
            <a:ext cx="3400200" cy="227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150" b="0" u="none" strike="noStrike">
                <a:solidFill>
                  <a:srgbClr val="1E1E1E"/>
                </a:solidFill>
                <a:effectLst/>
                <a:uFillTx/>
                <a:latin typeface="Aptos"/>
              </a:rPr>
              <a:t>partially observable, stochastic, multiagent</a:t>
            </a:r>
            <a:endParaRPr lang="en-US" sz="1150" b="0" u="none" strike="noStrike">
              <a:solidFill>
                <a:srgbClr val="000000"/>
              </a:solidFill>
              <a:effectLst/>
              <a:uFillTx/>
              <a:latin typeface="Arial"/>
            </a:endParaRPr>
          </a:p>
        </p:txBody>
      </p:sp>
      <p:sp>
        <p:nvSpPr>
          <p:cNvPr id="939" name="content-card"/>
          <p:cNvSpPr/>
          <p:nvPr/>
        </p:nvSpPr>
        <p:spPr>
          <a:xfrm>
            <a:off x="4709160" y="1965960"/>
            <a:ext cx="3656160" cy="73008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40" name="decor-card-accent"/>
          <p:cNvSpPr/>
          <p:nvPr/>
        </p:nvSpPr>
        <p:spPr>
          <a:xfrm>
            <a:off x="4709160" y="1965960"/>
            <a:ext cx="71640" cy="730080"/>
          </a:xfrm>
          <a:prstGeom prst="rect">
            <a:avLst/>
          </a:prstGeom>
          <a:solidFill>
            <a:srgbClr val="F2A122"/>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941" name="content-card-title"/>
          <p:cNvSpPr/>
          <p:nvPr/>
        </p:nvSpPr>
        <p:spPr>
          <a:xfrm>
            <a:off x="4873680" y="207576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Taxi</a:t>
            </a:r>
            <a:endParaRPr lang="en-US" sz="1250" b="0" u="none" strike="noStrike">
              <a:solidFill>
                <a:srgbClr val="000000"/>
              </a:solidFill>
              <a:effectLst/>
              <a:uFillTx/>
              <a:latin typeface="Arial"/>
            </a:endParaRPr>
          </a:p>
        </p:txBody>
      </p:sp>
      <p:sp>
        <p:nvSpPr>
          <p:cNvPr id="942" name="content-card-body"/>
          <p:cNvSpPr/>
          <p:nvPr/>
        </p:nvSpPr>
        <p:spPr>
          <a:xfrm>
            <a:off x="4873680" y="2404800"/>
            <a:ext cx="3400200" cy="227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150" b="0" u="none" strike="noStrike">
                <a:solidFill>
                  <a:srgbClr val="1E1E1E"/>
                </a:solidFill>
                <a:effectLst/>
                <a:uFillTx/>
                <a:latin typeface="Aptos"/>
              </a:rPr>
              <a:t>partially observable, stochastic, dynamic, continuous</a:t>
            </a:r>
            <a:endParaRPr lang="en-US" sz="1150" b="0" u="none" strike="noStrike">
              <a:solidFill>
                <a:srgbClr val="000000"/>
              </a:solidFill>
              <a:effectLst/>
              <a:uFillTx/>
              <a:latin typeface="Arial"/>
            </a:endParaRPr>
          </a:p>
        </p:txBody>
      </p:sp>
      <p:sp>
        <p:nvSpPr>
          <p:cNvPr id="943" name="content-card"/>
          <p:cNvSpPr/>
          <p:nvPr/>
        </p:nvSpPr>
        <p:spPr>
          <a:xfrm>
            <a:off x="640080" y="2971800"/>
            <a:ext cx="3656160" cy="73008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44" name="decor-card-accent"/>
          <p:cNvSpPr/>
          <p:nvPr/>
        </p:nvSpPr>
        <p:spPr>
          <a:xfrm>
            <a:off x="640080" y="2971800"/>
            <a:ext cx="71640" cy="73008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945" name="content-card-title"/>
          <p:cNvSpPr/>
          <p:nvPr/>
        </p:nvSpPr>
        <p:spPr>
          <a:xfrm>
            <a:off x="804600" y="308160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Image classifier</a:t>
            </a:r>
            <a:endParaRPr lang="en-US" sz="1250" b="0" u="none" strike="noStrike">
              <a:solidFill>
                <a:srgbClr val="000000"/>
              </a:solidFill>
              <a:effectLst/>
              <a:uFillTx/>
              <a:latin typeface="Arial"/>
            </a:endParaRPr>
          </a:p>
        </p:txBody>
      </p:sp>
      <p:sp>
        <p:nvSpPr>
          <p:cNvPr id="946" name="content-card-body"/>
          <p:cNvSpPr/>
          <p:nvPr/>
        </p:nvSpPr>
        <p:spPr>
          <a:xfrm>
            <a:off x="804600" y="3410640"/>
            <a:ext cx="3400200" cy="227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150" b="0" u="none" strike="noStrike">
                <a:solidFill>
                  <a:srgbClr val="1E1E1E"/>
                </a:solidFill>
                <a:effectLst/>
                <a:uFillTx/>
                <a:latin typeface="Aptos"/>
              </a:rPr>
              <a:t>episodic, static, often fully observable</a:t>
            </a:r>
            <a:endParaRPr lang="en-US" sz="1150" b="0" u="none" strike="noStrike">
              <a:solidFill>
                <a:srgbClr val="000000"/>
              </a:solidFill>
              <a:effectLst/>
              <a:uFillTx/>
              <a:latin typeface="Arial"/>
            </a:endParaRPr>
          </a:p>
        </p:txBody>
      </p:sp>
      <p:sp>
        <p:nvSpPr>
          <p:cNvPr id="947" name="content-card"/>
          <p:cNvSpPr/>
          <p:nvPr/>
        </p:nvSpPr>
        <p:spPr>
          <a:xfrm>
            <a:off x="4709160" y="2971800"/>
            <a:ext cx="3656160" cy="73008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48" name="decor-card-accent"/>
          <p:cNvSpPr/>
          <p:nvPr/>
        </p:nvSpPr>
        <p:spPr>
          <a:xfrm>
            <a:off x="4709160" y="2971800"/>
            <a:ext cx="71640" cy="730080"/>
          </a:xfrm>
          <a:prstGeom prst="rect">
            <a:avLst/>
          </a:prstGeom>
          <a:solidFill>
            <a:srgbClr val="B73D3B"/>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949" name="content-card-title"/>
          <p:cNvSpPr/>
          <p:nvPr/>
        </p:nvSpPr>
        <p:spPr>
          <a:xfrm>
            <a:off x="4873680" y="308160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Vacuum lab</a:t>
            </a:r>
            <a:endParaRPr lang="en-US" sz="1250" b="0" u="none" strike="noStrike">
              <a:solidFill>
                <a:srgbClr val="000000"/>
              </a:solidFill>
              <a:effectLst/>
              <a:uFillTx/>
              <a:latin typeface="Arial"/>
            </a:endParaRPr>
          </a:p>
        </p:txBody>
      </p:sp>
      <p:sp>
        <p:nvSpPr>
          <p:cNvPr id="950" name="content-card-body"/>
          <p:cNvSpPr/>
          <p:nvPr/>
        </p:nvSpPr>
        <p:spPr>
          <a:xfrm>
            <a:off x="4873680" y="3410640"/>
            <a:ext cx="3400200" cy="227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150" b="0" u="none" strike="noStrike">
                <a:solidFill>
                  <a:srgbClr val="1E1E1E"/>
                </a:solidFill>
                <a:effectLst/>
                <a:uFillTx/>
                <a:latin typeface="Aptos"/>
              </a:rPr>
              <a:t>can be changed to test each property</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1"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52"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953"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Environment properties change the algorithm</a:t>
            </a:r>
            <a:endParaRPr lang="en-US" sz="2400" b="0" u="none" strike="noStrike">
              <a:solidFill>
                <a:srgbClr val="000000"/>
              </a:solidFill>
              <a:effectLst/>
              <a:uFillTx/>
              <a:latin typeface="Arial"/>
            </a:endParaRPr>
          </a:p>
        </p:txBody>
      </p:sp>
      <p:sp>
        <p:nvSpPr>
          <p:cNvPr id="954"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The same goal can require very different methods.</a:t>
            </a:r>
            <a:endParaRPr lang="en-US" sz="1150" b="0" u="none" strike="noStrike">
              <a:solidFill>
                <a:srgbClr val="000000"/>
              </a:solidFill>
              <a:effectLst/>
              <a:uFillTx/>
              <a:latin typeface="Arial"/>
            </a:endParaRPr>
          </a:p>
        </p:txBody>
      </p:sp>
      <p:cxnSp>
        <p:nvCxnSpPr>
          <p:cNvPr id="955" name="decor-title-line"/>
          <p:cNvCxnSpPr/>
          <p:nvPr/>
        </p:nvCxnSpPr>
        <p:spPr>
          <a:xfrm>
            <a:off x="320040" y="932400"/>
            <a:ext cx="8505360" cy="1440"/>
          </a:xfrm>
          <a:prstGeom prst="straightConnector1">
            <a:avLst/>
          </a:prstGeom>
          <a:ln w="25400">
            <a:solidFill>
              <a:srgbClr val="F2A122"/>
            </a:solidFill>
            <a:round/>
          </a:ln>
        </p:spPr>
      </p:cxnSp>
      <p:sp>
        <p:nvSpPr>
          <p:cNvPr id="956"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957" name="content-card"/>
          <p:cNvSpPr/>
          <p:nvPr/>
        </p:nvSpPr>
        <p:spPr>
          <a:xfrm>
            <a:off x="685800" y="1097280"/>
            <a:ext cx="3656160" cy="1004400"/>
          </a:xfrm>
          <a:prstGeom prst="roundRect">
            <a:avLst>
              <a:gd name="adj" fmla="val 16667"/>
            </a:avLst>
          </a:prstGeom>
          <a:solidFill>
            <a:srgbClr val="E7F3FB"/>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58" name="decor-card-accent"/>
          <p:cNvSpPr/>
          <p:nvPr/>
        </p:nvSpPr>
        <p:spPr>
          <a:xfrm>
            <a:off x="685800" y="1097280"/>
            <a:ext cx="71640" cy="1004400"/>
          </a:xfrm>
          <a:prstGeom prst="rect">
            <a:avLst/>
          </a:prstGeom>
          <a:solidFill>
            <a:srgbClr val="2084C9"/>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959" name="content-card-title"/>
          <p:cNvSpPr/>
          <p:nvPr/>
        </p:nvSpPr>
        <p:spPr>
          <a:xfrm>
            <a:off x="850320" y="120708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Fully observable + deterministic</a:t>
            </a:r>
            <a:endParaRPr lang="en-US" sz="1250" b="0" u="none" strike="noStrike">
              <a:solidFill>
                <a:srgbClr val="000000"/>
              </a:solidFill>
              <a:effectLst/>
              <a:uFillTx/>
              <a:latin typeface="Arial"/>
            </a:endParaRPr>
          </a:p>
        </p:txBody>
      </p:sp>
      <p:sp>
        <p:nvSpPr>
          <p:cNvPr id="960" name="content-card-body"/>
          <p:cNvSpPr/>
          <p:nvPr/>
        </p:nvSpPr>
        <p:spPr>
          <a:xfrm>
            <a:off x="850320" y="1536120"/>
            <a:ext cx="3400200" cy="5014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Search and planning can use explicit states and transitions.</a:t>
            </a:r>
            <a:endParaRPr lang="en-US" sz="1300" b="0" u="none" strike="noStrike">
              <a:solidFill>
                <a:srgbClr val="000000"/>
              </a:solidFill>
              <a:effectLst/>
              <a:uFillTx/>
              <a:latin typeface="Arial"/>
            </a:endParaRPr>
          </a:p>
        </p:txBody>
      </p:sp>
      <p:sp>
        <p:nvSpPr>
          <p:cNvPr id="961" name="content-card"/>
          <p:cNvSpPr/>
          <p:nvPr/>
        </p:nvSpPr>
        <p:spPr>
          <a:xfrm>
            <a:off x="4709160" y="1097280"/>
            <a:ext cx="3656160" cy="1004400"/>
          </a:xfrm>
          <a:prstGeom prst="roundRect">
            <a:avLst>
              <a:gd name="adj" fmla="val 16667"/>
            </a:avLst>
          </a:prstGeom>
          <a:solidFill>
            <a:srgbClr val="F2EC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62" name="decor-card-accent"/>
          <p:cNvSpPr/>
          <p:nvPr/>
        </p:nvSpPr>
        <p:spPr>
          <a:xfrm>
            <a:off x="4709160" y="1097280"/>
            <a:ext cx="71640" cy="1004400"/>
          </a:xfrm>
          <a:prstGeom prst="rect">
            <a:avLst/>
          </a:prstGeom>
          <a:solidFill>
            <a:srgbClr val="7452A6"/>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963" name="content-card-title"/>
          <p:cNvSpPr/>
          <p:nvPr/>
        </p:nvSpPr>
        <p:spPr>
          <a:xfrm>
            <a:off x="4873680" y="120708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Partially observable</a:t>
            </a:r>
            <a:endParaRPr lang="en-US" sz="1250" b="0" u="none" strike="noStrike">
              <a:solidFill>
                <a:srgbClr val="000000"/>
              </a:solidFill>
              <a:effectLst/>
              <a:uFillTx/>
              <a:latin typeface="Arial"/>
            </a:endParaRPr>
          </a:p>
        </p:txBody>
      </p:sp>
      <p:sp>
        <p:nvSpPr>
          <p:cNvPr id="964" name="content-card-body"/>
          <p:cNvSpPr/>
          <p:nvPr/>
        </p:nvSpPr>
        <p:spPr>
          <a:xfrm>
            <a:off x="4873680" y="1536120"/>
            <a:ext cx="3400200" cy="5014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Agent needs memory, belief states, filtering, or information gathering.</a:t>
            </a:r>
            <a:endParaRPr lang="en-US" sz="1300" b="0" u="none" strike="noStrike">
              <a:solidFill>
                <a:srgbClr val="000000"/>
              </a:solidFill>
              <a:effectLst/>
              <a:uFillTx/>
              <a:latin typeface="Arial"/>
            </a:endParaRPr>
          </a:p>
        </p:txBody>
      </p:sp>
      <p:sp>
        <p:nvSpPr>
          <p:cNvPr id="965" name="content-card"/>
          <p:cNvSpPr/>
          <p:nvPr/>
        </p:nvSpPr>
        <p:spPr>
          <a:xfrm>
            <a:off x="685800" y="2514600"/>
            <a:ext cx="3656160" cy="1004400"/>
          </a:xfrm>
          <a:prstGeom prst="roundRect">
            <a:avLst>
              <a:gd name="adj" fmla="val 16667"/>
            </a:avLst>
          </a:prstGeom>
          <a:solidFill>
            <a:srgbClr val="EDF8F4"/>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66" name="decor-card-accent"/>
          <p:cNvSpPr/>
          <p:nvPr/>
        </p:nvSpPr>
        <p:spPr>
          <a:xfrm>
            <a:off x="685800" y="2514600"/>
            <a:ext cx="71640" cy="100440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967" name="content-card-title"/>
          <p:cNvSpPr/>
          <p:nvPr/>
        </p:nvSpPr>
        <p:spPr>
          <a:xfrm>
            <a:off x="850320" y="262440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Stochastic</a:t>
            </a:r>
            <a:endParaRPr lang="en-US" sz="1250" b="0" u="none" strike="noStrike">
              <a:solidFill>
                <a:srgbClr val="000000"/>
              </a:solidFill>
              <a:effectLst/>
              <a:uFillTx/>
              <a:latin typeface="Arial"/>
            </a:endParaRPr>
          </a:p>
        </p:txBody>
      </p:sp>
      <p:sp>
        <p:nvSpPr>
          <p:cNvPr id="968" name="content-card-body"/>
          <p:cNvSpPr/>
          <p:nvPr/>
        </p:nvSpPr>
        <p:spPr>
          <a:xfrm>
            <a:off x="850320" y="2953440"/>
            <a:ext cx="3400200" cy="5014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Agent needs probabilities and expected utility.</a:t>
            </a:r>
            <a:endParaRPr lang="en-US" sz="1300" b="0" u="none" strike="noStrike">
              <a:solidFill>
                <a:srgbClr val="000000"/>
              </a:solidFill>
              <a:effectLst/>
              <a:uFillTx/>
              <a:latin typeface="Arial"/>
            </a:endParaRPr>
          </a:p>
        </p:txBody>
      </p:sp>
      <p:sp>
        <p:nvSpPr>
          <p:cNvPr id="969" name="content-card"/>
          <p:cNvSpPr/>
          <p:nvPr/>
        </p:nvSpPr>
        <p:spPr>
          <a:xfrm>
            <a:off x="4709160" y="2514600"/>
            <a:ext cx="3656160" cy="1004400"/>
          </a:xfrm>
          <a:prstGeom prst="roundRect">
            <a:avLst>
              <a:gd name="adj" fmla="val 16667"/>
            </a:avLst>
          </a:prstGeom>
          <a:solidFill>
            <a:srgbClr val="FFF4E0"/>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70" name="decor-card-accent"/>
          <p:cNvSpPr/>
          <p:nvPr/>
        </p:nvSpPr>
        <p:spPr>
          <a:xfrm>
            <a:off x="4709160" y="2514600"/>
            <a:ext cx="71640" cy="1004400"/>
          </a:xfrm>
          <a:prstGeom prst="rect">
            <a:avLst/>
          </a:prstGeom>
          <a:solidFill>
            <a:srgbClr val="F2A122"/>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971" name="content-card-title"/>
          <p:cNvSpPr/>
          <p:nvPr/>
        </p:nvSpPr>
        <p:spPr>
          <a:xfrm>
            <a:off x="4873680" y="262440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Multiagent</a:t>
            </a:r>
            <a:endParaRPr lang="en-US" sz="1250" b="0" u="none" strike="noStrike">
              <a:solidFill>
                <a:srgbClr val="000000"/>
              </a:solidFill>
              <a:effectLst/>
              <a:uFillTx/>
              <a:latin typeface="Arial"/>
            </a:endParaRPr>
          </a:p>
        </p:txBody>
      </p:sp>
      <p:sp>
        <p:nvSpPr>
          <p:cNvPr id="972" name="content-card-body"/>
          <p:cNvSpPr/>
          <p:nvPr/>
        </p:nvSpPr>
        <p:spPr>
          <a:xfrm>
            <a:off x="4873680" y="2953440"/>
            <a:ext cx="3400200" cy="5014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Agent must consider cooperation, competition, communication, and games.</a:t>
            </a:r>
            <a:endParaRPr lang="en-US" sz="1300" b="0" u="none" strike="noStrike">
              <a:solidFill>
                <a:srgbClr val="000000"/>
              </a:solidFill>
              <a:effectLst/>
              <a:uFillTx/>
              <a:latin typeface="Arial"/>
            </a:endParaRPr>
          </a:p>
        </p:txBody>
      </p:sp>
      <p:sp>
        <p:nvSpPr>
          <p:cNvPr id="973" name="content-bottom"/>
          <p:cNvSpPr/>
          <p:nvPr/>
        </p:nvSpPr>
        <p:spPr>
          <a:xfrm>
            <a:off x="1097280" y="4114800"/>
            <a:ext cx="6948000" cy="2728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gn="ctr">
              <a:lnSpc>
                <a:spcPct val="100000"/>
              </a:lnSpc>
            </a:pPr>
            <a:r>
              <a:rPr lang="en-US" sz="1700" b="1" u="none" strike="noStrike">
                <a:solidFill>
                  <a:srgbClr val="091F3F"/>
                </a:solidFill>
                <a:effectLst/>
                <a:uFillTx/>
                <a:latin typeface="Aptos"/>
              </a:rPr>
              <a:t>This is why Chapter 2 comes before the algorithm chapters.</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4"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75"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976"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Class activity: match the architecture</a:t>
            </a:r>
            <a:endParaRPr lang="en-US" sz="2400" b="0" u="none" strike="noStrike">
              <a:solidFill>
                <a:srgbClr val="000000"/>
              </a:solidFill>
              <a:effectLst/>
              <a:uFillTx/>
              <a:latin typeface="Arial"/>
            </a:endParaRPr>
          </a:p>
        </p:txBody>
      </p:sp>
      <p:sp>
        <p:nvSpPr>
          <p:cNvPr id="977"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Which agent type fits each problem best?</a:t>
            </a:r>
            <a:endParaRPr lang="en-US" sz="1150" b="0" u="none" strike="noStrike">
              <a:solidFill>
                <a:srgbClr val="000000"/>
              </a:solidFill>
              <a:effectLst/>
              <a:uFillTx/>
              <a:latin typeface="Arial"/>
            </a:endParaRPr>
          </a:p>
        </p:txBody>
      </p:sp>
      <p:cxnSp>
        <p:nvCxnSpPr>
          <p:cNvPr id="978" name="decor-title-line"/>
          <p:cNvCxnSpPr/>
          <p:nvPr/>
        </p:nvCxnSpPr>
        <p:spPr>
          <a:xfrm>
            <a:off x="320040" y="932400"/>
            <a:ext cx="8505360" cy="1440"/>
          </a:xfrm>
          <a:prstGeom prst="straightConnector1">
            <a:avLst/>
          </a:prstGeom>
          <a:ln w="25400">
            <a:solidFill>
              <a:srgbClr val="F2A122"/>
            </a:solidFill>
            <a:round/>
          </a:ln>
        </p:spPr>
      </p:cxnSp>
      <p:sp>
        <p:nvSpPr>
          <p:cNvPr id="979"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980" name="content-problem"/>
          <p:cNvSpPr/>
          <p:nvPr/>
        </p:nvSpPr>
        <p:spPr>
          <a:xfrm>
            <a:off x="777240" y="1051560"/>
            <a:ext cx="4204800" cy="20880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50" b="1" u="none" strike="noStrike">
                <a:solidFill>
                  <a:srgbClr val="091F3F"/>
                </a:solidFill>
                <a:effectLst/>
                <a:uFillTx/>
                <a:latin typeface="Aptos"/>
              </a:rPr>
              <a:t>Thermostat</a:t>
            </a:r>
            <a:endParaRPr lang="en-US" sz="1350" b="0" u="none" strike="noStrike">
              <a:solidFill>
                <a:srgbClr val="000000"/>
              </a:solidFill>
              <a:effectLst/>
              <a:uFillTx/>
              <a:latin typeface="Arial"/>
            </a:endParaRPr>
          </a:p>
        </p:txBody>
      </p:sp>
      <p:sp>
        <p:nvSpPr>
          <p:cNvPr id="981" name="content-arrow"/>
          <p:cNvSpPr/>
          <p:nvPr/>
        </p:nvSpPr>
        <p:spPr>
          <a:xfrm>
            <a:off x="4846320" y="1051560"/>
            <a:ext cx="272880" cy="20880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50" b="1" u="none" strike="noStrike">
                <a:solidFill>
                  <a:srgbClr val="5A6473"/>
                </a:solidFill>
                <a:effectLst/>
                <a:uFillTx/>
                <a:latin typeface="Aptos"/>
              </a:rPr>
              <a:t>→</a:t>
            </a:r>
            <a:endParaRPr lang="en-US" sz="1350" b="0" u="none" strike="noStrike">
              <a:solidFill>
                <a:srgbClr val="000000"/>
              </a:solidFill>
              <a:effectLst/>
              <a:uFillTx/>
              <a:latin typeface="Arial"/>
            </a:endParaRPr>
          </a:p>
        </p:txBody>
      </p:sp>
      <p:sp>
        <p:nvSpPr>
          <p:cNvPr id="982" name="content-answer-placeholder"/>
          <p:cNvSpPr/>
          <p:nvPr/>
        </p:nvSpPr>
        <p:spPr>
          <a:xfrm>
            <a:off x="5257800" y="1051560"/>
            <a:ext cx="2193120" cy="20880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00" b="0" i="1" u="none" strike="noStrike">
                <a:solidFill>
                  <a:srgbClr val="5A6473"/>
                </a:solidFill>
                <a:effectLst/>
                <a:uFillTx/>
                <a:latin typeface="Aptos"/>
              </a:rPr>
              <a:t>Answer in notes</a:t>
            </a:r>
            <a:endParaRPr lang="en-US" sz="1300" b="0" u="none" strike="noStrike">
              <a:solidFill>
                <a:srgbClr val="000000"/>
              </a:solidFill>
              <a:effectLst/>
              <a:uFillTx/>
              <a:latin typeface="Arial"/>
            </a:endParaRPr>
          </a:p>
        </p:txBody>
      </p:sp>
      <p:sp>
        <p:nvSpPr>
          <p:cNvPr id="983" name="content-problem"/>
          <p:cNvSpPr/>
          <p:nvPr/>
        </p:nvSpPr>
        <p:spPr>
          <a:xfrm>
            <a:off x="777240" y="1673280"/>
            <a:ext cx="4204800" cy="20880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50" b="1" u="none" strike="noStrike">
                <a:solidFill>
                  <a:srgbClr val="091F3F"/>
                </a:solidFill>
                <a:effectLst/>
                <a:uFillTx/>
                <a:latin typeface="Aptos"/>
              </a:rPr>
              <a:t>Robot vacuum mapping a house</a:t>
            </a:r>
            <a:endParaRPr lang="en-US" sz="1350" b="0" u="none" strike="noStrike">
              <a:solidFill>
                <a:srgbClr val="000000"/>
              </a:solidFill>
              <a:effectLst/>
              <a:uFillTx/>
              <a:latin typeface="Arial"/>
            </a:endParaRPr>
          </a:p>
        </p:txBody>
      </p:sp>
      <p:sp>
        <p:nvSpPr>
          <p:cNvPr id="984" name="content-arrow"/>
          <p:cNvSpPr/>
          <p:nvPr/>
        </p:nvSpPr>
        <p:spPr>
          <a:xfrm>
            <a:off x="4846320" y="1673280"/>
            <a:ext cx="272880" cy="20880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50" b="1" u="none" strike="noStrike">
                <a:solidFill>
                  <a:srgbClr val="5A6473"/>
                </a:solidFill>
                <a:effectLst/>
                <a:uFillTx/>
                <a:latin typeface="Aptos"/>
              </a:rPr>
              <a:t>→</a:t>
            </a:r>
            <a:endParaRPr lang="en-US" sz="1350" b="0" u="none" strike="noStrike">
              <a:solidFill>
                <a:srgbClr val="000000"/>
              </a:solidFill>
              <a:effectLst/>
              <a:uFillTx/>
              <a:latin typeface="Arial"/>
            </a:endParaRPr>
          </a:p>
        </p:txBody>
      </p:sp>
      <p:sp>
        <p:nvSpPr>
          <p:cNvPr id="985" name="content-answer-placeholder"/>
          <p:cNvSpPr/>
          <p:nvPr/>
        </p:nvSpPr>
        <p:spPr>
          <a:xfrm>
            <a:off x="5257800" y="1673280"/>
            <a:ext cx="2193120" cy="20880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00" b="0" i="1" u="none" strike="noStrike">
                <a:solidFill>
                  <a:srgbClr val="5A6473"/>
                </a:solidFill>
                <a:effectLst/>
                <a:uFillTx/>
                <a:latin typeface="Aptos"/>
              </a:rPr>
              <a:t>Answer in notes</a:t>
            </a:r>
            <a:endParaRPr lang="en-US" sz="1300" b="0" u="none" strike="noStrike">
              <a:solidFill>
                <a:srgbClr val="000000"/>
              </a:solidFill>
              <a:effectLst/>
              <a:uFillTx/>
              <a:latin typeface="Arial"/>
            </a:endParaRPr>
          </a:p>
        </p:txBody>
      </p:sp>
      <p:sp>
        <p:nvSpPr>
          <p:cNvPr id="986" name="content-problem"/>
          <p:cNvSpPr/>
          <p:nvPr/>
        </p:nvSpPr>
        <p:spPr>
          <a:xfrm>
            <a:off x="777240" y="2295000"/>
            <a:ext cx="4204800" cy="20880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50" b="1" u="none" strike="noStrike">
                <a:solidFill>
                  <a:srgbClr val="091F3F"/>
                </a:solidFill>
                <a:effectLst/>
                <a:uFillTx/>
                <a:latin typeface="Aptos"/>
              </a:rPr>
              <a:t>Route planner</a:t>
            </a:r>
            <a:endParaRPr lang="en-US" sz="1350" b="0" u="none" strike="noStrike">
              <a:solidFill>
                <a:srgbClr val="000000"/>
              </a:solidFill>
              <a:effectLst/>
              <a:uFillTx/>
              <a:latin typeface="Arial"/>
            </a:endParaRPr>
          </a:p>
        </p:txBody>
      </p:sp>
      <p:sp>
        <p:nvSpPr>
          <p:cNvPr id="987" name="content-arrow"/>
          <p:cNvSpPr/>
          <p:nvPr/>
        </p:nvSpPr>
        <p:spPr>
          <a:xfrm>
            <a:off x="4846320" y="2295000"/>
            <a:ext cx="272880" cy="20880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50" b="1" u="none" strike="noStrike">
                <a:solidFill>
                  <a:srgbClr val="5A6473"/>
                </a:solidFill>
                <a:effectLst/>
                <a:uFillTx/>
                <a:latin typeface="Aptos"/>
              </a:rPr>
              <a:t>→</a:t>
            </a:r>
            <a:endParaRPr lang="en-US" sz="1350" b="0" u="none" strike="noStrike">
              <a:solidFill>
                <a:srgbClr val="000000"/>
              </a:solidFill>
              <a:effectLst/>
              <a:uFillTx/>
              <a:latin typeface="Arial"/>
            </a:endParaRPr>
          </a:p>
        </p:txBody>
      </p:sp>
      <p:sp>
        <p:nvSpPr>
          <p:cNvPr id="988" name="content-answer-placeholder"/>
          <p:cNvSpPr/>
          <p:nvPr/>
        </p:nvSpPr>
        <p:spPr>
          <a:xfrm>
            <a:off x="5257800" y="2295000"/>
            <a:ext cx="2193120" cy="20880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00" b="0" i="1" u="none" strike="noStrike">
                <a:solidFill>
                  <a:srgbClr val="5A6473"/>
                </a:solidFill>
                <a:effectLst/>
                <a:uFillTx/>
                <a:latin typeface="Aptos"/>
              </a:rPr>
              <a:t>Answer in notes</a:t>
            </a:r>
            <a:endParaRPr lang="en-US" sz="1300" b="0" u="none" strike="noStrike">
              <a:solidFill>
                <a:srgbClr val="000000"/>
              </a:solidFill>
              <a:effectLst/>
              <a:uFillTx/>
              <a:latin typeface="Arial"/>
            </a:endParaRPr>
          </a:p>
        </p:txBody>
      </p:sp>
      <p:sp>
        <p:nvSpPr>
          <p:cNvPr id="989" name="content-problem"/>
          <p:cNvSpPr/>
          <p:nvPr/>
        </p:nvSpPr>
        <p:spPr>
          <a:xfrm>
            <a:off x="777240" y="2917080"/>
            <a:ext cx="4204800" cy="20880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50" b="1" u="none" strike="noStrike">
                <a:solidFill>
                  <a:srgbClr val="091F3F"/>
                </a:solidFill>
                <a:effectLst/>
                <a:uFillTx/>
                <a:latin typeface="Aptos"/>
              </a:rPr>
              <a:t>Self-driving car choosing risk tradeoffs</a:t>
            </a:r>
            <a:endParaRPr lang="en-US" sz="1350" b="0" u="none" strike="noStrike">
              <a:solidFill>
                <a:srgbClr val="000000"/>
              </a:solidFill>
              <a:effectLst/>
              <a:uFillTx/>
              <a:latin typeface="Arial"/>
            </a:endParaRPr>
          </a:p>
        </p:txBody>
      </p:sp>
      <p:sp>
        <p:nvSpPr>
          <p:cNvPr id="990" name="content-arrow"/>
          <p:cNvSpPr/>
          <p:nvPr/>
        </p:nvSpPr>
        <p:spPr>
          <a:xfrm>
            <a:off x="4846320" y="2917080"/>
            <a:ext cx="272880" cy="20880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50" b="1" u="none" strike="noStrike">
                <a:solidFill>
                  <a:srgbClr val="5A6473"/>
                </a:solidFill>
                <a:effectLst/>
                <a:uFillTx/>
                <a:latin typeface="Aptos"/>
              </a:rPr>
              <a:t>→</a:t>
            </a:r>
            <a:endParaRPr lang="en-US" sz="1350" b="0" u="none" strike="noStrike">
              <a:solidFill>
                <a:srgbClr val="000000"/>
              </a:solidFill>
              <a:effectLst/>
              <a:uFillTx/>
              <a:latin typeface="Arial"/>
            </a:endParaRPr>
          </a:p>
        </p:txBody>
      </p:sp>
      <p:sp>
        <p:nvSpPr>
          <p:cNvPr id="991" name="content-answer-placeholder"/>
          <p:cNvSpPr/>
          <p:nvPr/>
        </p:nvSpPr>
        <p:spPr>
          <a:xfrm>
            <a:off x="5257800" y="2917080"/>
            <a:ext cx="2193120" cy="20880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00" b="0" i="1" u="none" strike="noStrike">
                <a:solidFill>
                  <a:srgbClr val="5A6473"/>
                </a:solidFill>
                <a:effectLst/>
                <a:uFillTx/>
                <a:latin typeface="Aptos"/>
              </a:rPr>
              <a:t>Answer in notes</a:t>
            </a:r>
            <a:endParaRPr lang="en-US" sz="1300" b="0" u="none" strike="noStrike">
              <a:solidFill>
                <a:srgbClr val="000000"/>
              </a:solidFill>
              <a:effectLst/>
              <a:uFillTx/>
              <a:latin typeface="Arial"/>
            </a:endParaRPr>
          </a:p>
        </p:txBody>
      </p:sp>
      <p:sp>
        <p:nvSpPr>
          <p:cNvPr id="992" name="content-problem"/>
          <p:cNvSpPr/>
          <p:nvPr/>
        </p:nvSpPr>
        <p:spPr>
          <a:xfrm>
            <a:off x="777240" y="3538800"/>
            <a:ext cx="4204800" cy="20880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50" b="1" u="none" strike="noStrike">
                <a:solidFill>
                  <a:srgbClr val="091F3F"/>
                </a:solidFill>
                <a:effectLst/>
                <a:uFillTx/>
                <a:latin typeface="Aptos"/>
              </a:rPr>
              <a:t>Game-playing agent improving from experience</a:t>
            </a:r>
            <a:endParaRPr lang="en-US" sz="1350" b="0" u="none" strike="noStrike">
              <a:solidFill>
                <a:srgbClr val="000000"/>
              </a:solidFill>
              <a:effectLst/>
              <a:uFillTx/>
              <a:latin typeface="Arial"/>
            </a:endParaRPr>
          </a:p>
        </p:txBody>
      </p:sp>
      <p:sp>
        <p:nvSpPr>
          <p:cNvPr id="993" name="content-arrow"/>
          <p:cNvSpPr/>
          <p:nvPr/>
        </p:nvSpPr>
        <p:spPr>
          <a:xfrm>
            <a:off x="4846320" y="3538800"/>
            <a:ext cx="272880" cy="20880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50" b="1" u="none" strike="noStrike">
                <a:solidFill>
                  <a:srgbClr val="5A6473"/>
                </a:solidFill>
                <a:effectLst/>
                <a:uFillTx/>
                <a:latin typeface="Aptos"/>
              </a:rPr>
              <a:t>→</a:t>
            </a:r>
            <a:endParaRPr lang="en-US" sz="1350" b="0" u="none" strike="noStrike">
              <a:solidFill>
                <a:srgbClr val="000000"/>
              </a:solidFill>
              <a:effectLst/>
              <a:uFillTx/>
              <a:latin typeface="Arial"/>
            </a:endParaRPr>
          </a:p>
        </p:txBody>
      </p:sp>
      <p:sp>
        <p:nvSpPr>
          <p:cNvPr id="994" name="content-answer-placeholder"/>
          <p:cNvSpPr/>
          <p:nvPr/>
        </p:nvSpPr>
        <p:spPr>
          <a:xfrm>
            <a:off x="5257800" y="3538800"/>
            <a:ext cx="2193120" cy="20880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00" b="0" i="1" u="none" strike="noStrike">
                <a:solidFill>
                  <a:srgbClr val="5A6473"/>
                </a:solidFill>
                <a:effectLst/>
                <a:uFillTx/>
                <a:latin typeface="Aptos"/>
              </a:rPr>
              <a:t>Answer in notes</a:t>
            </a:r>
            <a:endParaRPr lang="en-US" sz="1300" b="0" u="none" strike="noStrike">
              <a:solidFill>
                <a:srgbClr val="000000"/>
              </a:solidFill>
              <a:effectLst/>
              <a:uFillTx/>
              <a:latin typeface="Arial"/>
            </a:endParaRPr>
          </a:p>
        </p:txBody>
      </p:sp>
      <p:sp>
        <p:nvSpPr>
          <p:cNvPr id="995" name="content-prompt"/>
          <p:cNvSpPr/>
          <p:nvPr/>
        </p:nvSpPr>
        <p:spPr>
          <a:xfrm>
            <a:off x="1005840" y="4297680"/>
            <a:ext cx="7130880" cy="2271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gn="ctr">
              <a:lnSpc>
                <a:spcPct val="100000"/>
              </a:lnSpc>
            </a:pPr>
            <a:r>
              <a:rPr lang="en-US" sz="1500" b="1" u="none" strike="noStrike">
                <a:solidFill>
                  <a:srgbClr val="091F3F"/>
                </a:solidFill>
                <a:effectLst/>
                <a:uFillTx/>
                <a:latin typeface="Aptos"/>
              </a:rPr>
              <a:t>Have students answer before revealing the instructor notes.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6"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97"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998"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Bridge to Lab 01: Vacuum World Agents</a:t>
            </a:r>
            <a:endParaRPr lang="en-US" sz="2400" b="0" u="none" strike="noStrike">
              <a:solidFill>
                <a:srgbClr val="000000"/>
              </a:solidFill>
              <a:effectLst/>
              <a:uFillTx/>
              <a:latin typeface="Arial"/>
            </a:endParaRPr>
          </a:p>
        </p:txBody>
      </p:sp>
      <p:sp>
        <p:nvSpPr>
          <p:cNvPr id="999"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The lab turns Chapter 2 vocabulary into runnable code.</a:t>
            </a:r>
            <a:endParaRPr lang="en-US" sz="1150" b="0" u="none" strike="noStrike">
              <a:solidFill>
                <a:srgbClr val="000000"/>
              </a:solidFill>
              <a:effectLst/>
              <a:uFillTx/>
              <a:latin typeface="Arial"/>
            </a:endParaRPr>
          </a:p>
        </p:txBody>
      </p:sp>
      <p:cxnSp>
        <p:nvCxnSpPr>
          <p:cNvPr id="1000" name="decor-title-line"/>
          <p:cNvCxnSpPr/>
          <p:nvPr/>
        </p:nvCxnSpPr>
        <p:spPr>
          <a:xfrm>
            <a:off x="320040" y="932400"/>
            <a:ext cx="8505360" cy="1440"/>
          </a:xfrm>
          <a:prstGeom prst="straightConnector1">
            <a:avLst/>
          </a:prstGeom>
          <a:ln w="25400">
            <a:solidFill>
              <a:srgbClr val="F2A122"/>
            </a:solidFill>
            <a:round/>
          </a:ln>
        </p:spPr>
      </p:cxnSp>
      <p:sp>
        <p:nvSpPr>
          <p:cNvPr id="1001"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1002" name="content-card"/>
          <p:cNvSpPr/>
          <p:nvPr/>
        </p:nvSpPr>
        <p:spPr>
          <a:xfrm>
            <a:off x="685800" y="1143000"/>
            <a:ext cx="2513160" cy="114156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03" name="decor-card-accent"/>
          <p:cNvSpPr/>
          <p:nvPr/>
        </p:nvSpPr>
        <p:spPr>
          <a:xfrm>
            <a:off x="685800" y="1143000"/>
            <a:ext cx="71640" cy="1141560"/>
          </a:xfrm>
          <a:prstGeom prst="rect">
            <a:avLst/>
          </a:prstGeom>
          <a:solidFill>
            <a:srgbClr val="2084C9"/>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1004" name="content-card-title"/>
          <p:cNvSpPr/>
          <p:nvPr/>
        </p:nvSpPr>
        <p:spPr>
          <a:xfrm>
            <a:off x="850320" y="1252800"/>
            <a:ext cx="2257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Reflex agent</a:t>
            </a:r>
            <a:endParaRPr lang="en-US" sz="1250" b="0" u="none" strike="noStrike">
              <a:solidFill>
                <a:srgbClr val="000000"/>
              </a:solidFill>
              <a:effectLst/>
              <a:uFillTx/>
              <a:latin typeface="Arial"/>
            </a:endParaRPr>
          </a:p>
        </p:txBody>
      </p:sp>
      <p:sp>
        <p:nvSpPr>
          <p:cNvPr id="1005" name="content-card-body"/>
          <p:cNvSpPr/>
          <p:nvPr/>
        </p:nvSpPr>
        <p:spPr>
          <a:xfrm>
            <a:off x="850320" y="1581840"/>
            <a:ext cx="2257200" cy="63864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00" b="0" u="none" strike="noStrike">
                <a:solidFill>
                  <a:srgbClr val="1E1E1E"/>
                </a:solidFill>
                <a:effectLst/>
                <a:uFillTx/>
                <a:latin typeface="Aptos"/>
              </a:rPr>
              <a:t>Current percept → action. No memory. Good for seeing limits of reactive rules.</a:t>
            </a:r>
            <a:endParaRPr lang="en-US" sz="1200" b="0" u="none" strike="noStrike">
              <a:solidFill>
                <a:srgbClr val="000000"/>
              </a:solidFill>
              <a:effectLst/>
              <a:uFillTx/>
              <a:latin typeface="Arial"/>
            </a:endParaRPr>
          </a:p>
        </p:txBody>
      </p:sp>
      <p:sp>
        <p:nvSpPr>
          <p:cNvPr id="1006" name="content-card"/>
          <p:cNvSpPr/>
          <p:nvPr/>
        </p:nvSpPr>
        <p:spPr>
          <a:xfrm>
            <a:off x="3337560" y="1143000"/>
            <a:ext cx="2513160" cy="114156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07" name="decor-card-accent"/>
          <p:cNvSpPr/>
          <p:nvPr/>
        </p:nvSpPr>
        <p:spPr>
          <a:xfrm>
            <a:off x="3337560" y="1143000"/>
            <a:ext cx="71640" cy="1141560"/>
          </a:xfrm>
          <a:prstGeom prst="rect">
            <a:avLst/>
          </a:prstGeom>
          <a:solidFill>
            <a:srgbClr val="7452A6"/>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1008" name="content-card-title"/>
          <p:cNvSpPr/>
          <p:nvPr/>
        </p:nvSpPr>
        <p:spPr>
          <a:xfrm>
            <a:off x="3502080" y="1252800"/>
            <a:ext cx="2257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Model-based agent</a:t>
            </a:r>
            <a:endParaRPr lang="en-US" sz="1250" b="0" u="none" strike="noStrike">
              <a:solidFill>
                <a:srgbClr val="000000"/>
              </a:solidFill>
              <a:effectLst/>
              <a:uFillTx/>
              <a:latin typeface="Arial"/>
            </a:endParaRPr>
          </a:p>
        </p:txBody>
      </p:sp>
      <p:sp>
        <p:nvSpPr>
          <p:cNvPr id="1009" name="content-card-body"/>
          <p:cNvSpPr/>
          <p:nvPr/>
        </p:nvSpPr>
        <p:spPr>
          <a:xfrm>
            <a:off x="3502080" y="1581840"/>
            <a:ext cx="2257200" cy="63864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00" b="0" u="none" strike="noStrike">
                <a:solidFill>
                  <a:srgbClr val="1E1E1E"/>
                </a:solidFill>
                <a:effectLst/>
                <a:uFillTx/>
                <a:latin typeface="Aptos"/>
              </a:rPr>
              <a:t>Stores visited squares and known status. Builds a partial internal map.</a:t>
            </a:r>
            <a:endParaRPr lang="en-US" sz="1200" b="0" u="none" strike="noStrike">
              <a:solidFill>
                <a:srgbClr val="000000"/>
              </a:solidFill>
              <a:effectLst/>
              <a:uFillTx/>
              <a:latin typeface="Arial"/>
            </a:endParaRPr>
          </a:p>
        </p:txBody>
      </p:sp>
      <p:sp>
        <p:nvSpPr>
          <p:cNvPr id="1010" name="content-card"/>
          <p:cNvSpPr/>
          <p:nvPr/>
        </p:nvSpPr>
        <p:spPr>
          <a:xfrm>
            <a:off x="5989320" y="1143000"/>
            <a:ext cx="2513160" cy="114156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11" name="decor-card-accent"/>
          <p:cNvSpPr/>
          <p:nvPr/>
        </p:nvSpPr>
        <p:spPr>
          <a:xfrm>
            <a:off x="5989320" y="1143000"/>
            <a:ext cx="71640" cy="114156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1012" name="content-card-title"/>
          <p:cNvSpPr/>
          <p:nvPr/>
        </p:nvSpPr>
        <p:spPr>
          <a:xfrm>
            <a:off x="6153840" y="1252800"/>
            <a:ext cx="2257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Goal-based agent</a:t>
            </a:r>
            <a:endParaRPr lang="en-US" sz="1250" b="0" u="none" strike="noStrike">
              <a:solidFill>
                <a:srgbClr val="000000"/>
              </a:solidFill>
              <a:effectLst/>
              <a:uFillTx/>
              <a:latin typeface="Arial"/>
            </a:endParaRPr>
          </a:p>
        </p:txBody>
      </p:sp>
      <p:sp>
        <p:nvSpPr>
          <p:cNvPr id="1013" name="content-card-body"/>
          <p:cNvSpPr/>
          <p:nvPr/>
        </p:nvSpPr>
        <p:spPr>
          <a:xfrm>
            <a:off x="6153840" y="1581840"/>
            <a:ext cx="2257200" cy="63864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00" b="0" u="none" strike="noStrike">
                <a:solidFill>
                  <a:srgbClr val="1E1E1E"/>
                </a:solidFill>
                <a:effectLst/>
                <a:uFillTx/>
                <a:latin typeface="Aptos"/>
              </a:rPr>
              <a:t>Uses BFS to plan a path to a dirty square. Replans as the world changes.</a:t>
            </a:r>
            <a:endParaRPr lang="en-US" sz="1200" b="0" u="none" strike="noStrike">
              <a:solidFill>
                <a:srgbClr val="000000"/>
              </a:solidFill>
              <a:effectLst/>
              <a:uFillTx/>
              <a:latin typeface="Arial"/>
            </a:endParaRPr>
          </a:p>
        </p:txBody>
      </p:sp>
      <p:sp>
        <p:nvSpPr>
          <p:cNvPr id="1014" name="content-lab-goal"/>
          <p:cNvSpPr/>
          <p:nvPr/>
        </p:nvSpPr>
        <p:spPr>
          <a:xfrm>
            <a:off x="914400" y="3154680"/>
            <a:ext cx="7313760" cy="410040"/>
          </a:xfrm>
          <a:prstGeom prst="rect">
            <a:avLst/>
          </a:prstGeom>
          <a:solidFill>
            <a:srgbClr val="E7F3FB"/>
          </a:solidFill>
          <a:ln w="0">
            <a:solidFill>
              <a:srgbClr val="DCE1E8"/>
            </a:solidFill>
          </a:ln>
        </p:spPr>
        <p:style>
          <a:lnRef idx="0"/>
          <a:fillRef idx="0"/>
          <a:effectRef idx="0"/>
          <a:fontRef idx="minor"/>
        </p:style>
        <p:txBody>
          <a:bodyPr lIns="54720" tIns="54720" rIns="54720" bIns="54720" anchor="t">
            <a:normAutofit fontScale="62500" lnSpcReduction="19999"/>
          </a:bodyPr>
          <a:p>
            <a:pPr algn="ctr">
              <a:lnSpc>
                <a:spcPct val="100000"/>
              </a:lnSpc>
            </a:pPr>
            <a:r>
              <a:rPr lang="en-US" sz="1800" b="1" u="none" strike="noStrike">
                <a:solidFill>
                  <a:srgbClr val="091F3F"/>
                </a:solidFill>
                <a:effectLst/>
                <a:uFillTx/>
                <a:latin typeface="Aptos"/>
              </a:rPr>
              <a:t>Lab learning goal: make each agent run, then explain its behavior using AIMA vocabulary.</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5"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16"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1017"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Common Lab 01 mistakes to watch for</a:t>
            </a:r>
            <a:endParaRPr lang="en-US" sz="2400" b="0" u="none" strike="noStrike">
              <a:solidFill>
                <a:srgbClr val="000000"/>
              </a:solidFill>
              <a:effectLst/>
              <a:uFillTx/>
              <a:latin typeface="Arial"/>
            </a:endParaRPr>
          </a:p>
        </p:txBody>
      </p:sp>
      <p:sp>
        <p:nvSpPr>
          <p:cNvPr id="1018"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These mistakes are conceptual, not just coding errors.</a:t>
            </a:r>
            <a:endParaRPr lang="en-US" sz="1150" b="0" u="none" strike="noStrike">
              <a:solidFill>
                <a:srgbClr val="000000"/>
              </a:solidFill>
              <a:effectLst/>
              <a:uFillTx/>
              <a:latin typeface="Arial"/>
            </a:endParaRPr>
          </a:p>
        </p:txBody>
      </p:sp>
      <p:cxnSp>
        <p:nvCxnSpPr>
          <p:cNvPr id="1019" name="decor-title-line"/>
          <p:cNvCxnSpPr/>
          <p:nvPr/>
        </p:nvCxnSpPr>
        <p:spPr>
          <a:xfrm>
            <a:off x="320040" y="932400"/>
            <a:ext cx="8505360" cy="1440"/>
          </a:xfrm>
          <a:prstGeom prst="straightConnector1">
            <a:avLst/>
          </a:prstGeom>
          <a:ln w="25400">
            <a:solidFill>
              <a:srgbClr val="F2A122"/>
            </a:solidFill>
            <a:round/>
          </a:ln>
        </p:spPr>
      </p:cxnSp>
      <p:sp>
        <p:nvSpPr>
          <p:cNvPr id="1020"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1021" name="content-card"/>
          <p:cNvSpPr/>
          <p:nvPr/>
        </p:nvSpPr>
        <p:spPr>
          <a:xfrm>
            <a:off x="685800" y="1143000"/>
            <a:ext cx="3656160" cy="912960"/>
          </a:xfrm>
          <a:prstGeom prst="roundRect">
            <a:avLst>
              <a:gd name="adj" fmla="val 16667"/>
            </a:avLst>
          </a:prstGeom>
          <a:solidFill>
            <a:srgbClr val="FFF4E0"/>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22" name="decor-card-accent"/>
          <p:cNvSpPr/>
          <p:nvPr/>
        </p:nvSpPr>
        <p:spPr>
          <a:xfrm>
            <a:off x="685800" y="1143000"/>
            <a:ext cx="71640" cy="912960"/>
          </a:xfrm>
          <a:prstGeom prst="rect">
            <a:avLst/>
          </a:prstGeom>
          <a:solidFill>
            <a:srgbClr val="B73D3B"/>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1023" name="content-card-title"/>
          <p:cNvSpPr/>
          <p:nvPr/>
        </p:nvSpPr>
        <p:spPr>
          <a:xfrm>
            <a:off x="850320" y="125280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Reflex agent has memory</a:t>
            </a:r>
            <a:endParaRPr lang="en-US" sz="1250" b="0" u="none" strike="noStrike">
              <a:solidFill>
                <a:srgbClr val="000000"/>
              </a:solidFill>
              <a:effectLst/>
              <a:uFillTx/>
              <a:latin typeface="Arial"/>
            </a:endParaRPr>
          </a:p>
        </p:txBody>
      </p:sp>
      <p:sp>
        <p:nvSpPr>
          <p:cNvPr id="1024" name="content-card-body"/>
          <p:cNvSpPr/>
          <p:nvPr/>
        </p:nvSpPr>
        <p:spPr>
          <a:xfrm>
            <a:off x="850320" y="1581840"/>
            <a:ext cx="3400200" cy="41004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50" b="0" u="none" strike="noStrike">
                <a:solidFill>
                  <a:srgbClr val="1E1E1E"/>
                </a:solidFill>
                <a:effectLst/>
                <a:uFillTx/>
                <a:latin typeface="Aptos"/>
              </a:rPr>
              <a:t>Then it is not reflex anymore.</a:t>
            </a:r>
            <a:endParaRPr lang="en-US" sz="1250" b="0" u="none" strike="noStrike">
              <a:solidFill>
                <a:srgbClr val="000000"/>
              </a:solidFill>
              <a:effectLst/>
              <a:uFillTx/>
              <a:latin typeface="Arial"/>
            </a:endParaRPr>
          </a:p>
        </p:txBody>
      </p:sp>
      <p:sp>
        <p:nvSpPr>
          <p:cNvPr id="1025" name="content-card"/>
          <p:cNvSpPr/>
          <p:nvPr/>
        </p:nvSpPr>
        <p:spPr>
          <a:xfrm>
            <a:off x="4754880" y="1143000"/>
            <a:ext cx="3656160" cy="912960"/>
          </a:xfrm>
          <a:prstGeom prst="roundRect">
            <a:avLst>
              <a:gd name="adj" fmla="val 16667"/>
            </a:avLst>
          </a:prstGeom>
          <a:solidFill>
            <a:srgbClr val="FFF4E0"/>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26" name="decor-card-accent"/>
          <p:cNvSpPr/>
          <p:nvPr/>
        </p:nvSpPr>
        <p:spPr>
          <a:xfrm>
            <a:off x="4754880" y="1143000"/>
            <a:ext cx="71640" cy="912960"/>
          </a:xfrm>
          <a:prstGeom prst="rect">
            <a:avLst/>
          </a:prstGeom>
          <a:solidFill>
            <a:srgbClr val="F2A122"/>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1027" name="content-card-title"/>
          <p:cNvSpPr/>
          <p:nvPr/>
        </p:nvSpPr>
        <p:spPr>
          <a:xfrm>
            <a:off x="4919400" y="125280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Performance = dirt collected</a:t>
            </a:r>
            <a:endParaRPr lang="en-US" sz="1250" b="0" u="none" strike="noStrike">
              <a:solidFill>
                <a:srgbClr val="000000"/>
              </a:solidFill>
              <a:effectLst/>
              <a:uFillTx/>
              <a:latin typeface="Arial"/>
            </a:endParaRPr>
          </a:p>
        </p:txBody>
      </p:sp>
      <p:sp>
        <p:nvSpPr>
          <p:cNvPr id="1028" name="content-card-body"/>
          <p:cNvSpPr/>
          <p:nvPr/>
        </p:nvSpPr>
        <p:spPr>
          <a:xfrm>
            <a:off x="4919400" y="1581840"/>
            <a:ext cx="3400200" cy="41004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50" b="0" u="none" strike="noStrike">
                <a:solidFill>
                  <a:srgbClr val="1E1E1E"/>
                </a:solidFill>
                <a:effectLst/>
                <a:uFillTx/>
                <a:latin typeface="Aptos"/>
              </a:rPr>
              <a:t>Can reward the wrong behavior.</a:t>
            </a:r>
            <a:endParaRPr lang="en-US" sz="1250" b="0" u="none" strike="noStrike">
              <a:solidFill>
                <a:srgbClr val="000000"/>
              </a:solidFill>
              <a:effectLst/>
              <a:uFillTx/>
              <a:latin typeface="Arial"/>
            </a:endParaRPr>
          </a:p>
        </p:txBody>
      </p:sp>
      <p:sp>
        <p:nvSpPr>
          <p:cNvPr id="1029" name="content-card"/>
          <p:cNvSpPr/>
          <p:nvPr/>
        </p:nvSpPr>
        <p:spPr>
          <a:xfrm>
            <a:off x="685800" y="2468880"/>
            <a:ext cx="3656160" cy="912960"/>
          </a:xfrm>
          <a:prstGeom prst="roundRect">
            <a:avLst>
              <a:gd name="adj" fmla="val 16667"/>
            </a:avLst>
          </a:prstGeom>
          <a:solidFill>
            <a:srgbClr val="FFF4E0"/>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30" name="decor-card-accent"/>
          <p:cNvSpPr/>
          <p:nvPr/>
        </p:nvSpPr>
        <p:spPr>
          <a:xfrm>
            <a:off x="685800" y="2468880"/>
            <a:ext cx="71640" cy="912960"/>
          </a:xfrm>
          <a:prstGeom prst="rect">
            <a:avLst/>
          </a:prstGeom>
          <a:solidFill>
            <a:srgbClr val="7452A6"/>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1031" name="content-card-title"/>
          <p:cNvSpPr/>
          <p:nvPr/>
        </p:nvSpPr>
        <p:spPr>
          <a:xfrm>
            <a:off x="850320" y="257868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Model = full ground truth</a:t>
            </a:r>
            <a:endParaRPr lang="en-US" sz="1250" b="0" u="none" strike="noStrike">
              <a:solidFill>
                <a:srgbClr val="000000"/>
              </a:solidFill>
              <a:effectLst/>
              <a:uFillTx/>
              <a:latin typeface="Arial"/>
            </a:endParaRPr>
          </a:p>
        </p:txBody>
      </p:sp>
      <p:sp>
        <p:nvSpPr>
          <p:cNvPr id="1032" name="content-card-body"/>
          <p:cNvSpPr/>
          <p:nvPr/>
        </p:nvSpPr>
        <p:spPr>
          <a:xfrm>
            <a:off x="850320" y="2907720"/>
            <a:ext cx="3400200" cy="41004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50" b="0" u="none" strike="noStrike">
                <a:solidFill>
                  <a:srgbClr val="1E1E1E"/>
                </a:solidFill>
                <a:effectLst/>
                <a:uFillTx/>
                <a:latin typeface="Aptos"/>
              </a:rPr>
              <a:t>A model should be built from percepts.</a:t>
            </a:r>
            <a:endParaRPr lang="en-US" sz="1250" b="0" u="none" strike="noStrike">
              <a:solidFill>
                <a:srgbClr val="000000"/>
              </a:solidFill>
              <a:effectLst/>
              <a:uFillTx/>
              <a:latin typeface="Arial"/>
            </a:endParaRPr>
          </a:p>
        </p:txBody>
      </p:sp>
      <p:sp>
        <p:nvSpPr>
          <p:cNvPr id="1033" name="content-card"/>
          <p:cNvSpPr/>
          <p:nvPr/>
        </p:nvSpPr>
        <p:spPr>
          <a:xfrm>
            <a:off x="4754880" y="2468880"/>
            <a:ext cx="3656160" cy="912960"/>
          </a:xfrm>
          <a:prstGeom prst="roundRect">
            <a:avLst>
              <a:gd name="adj" fmla="val 16667"/>
            </a:avLst>
          </a:prstGeom>
          <a:solidFill>
            <a:srgbClr val="FFF4E0"/>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34" name="decor-card-accent"/>
          <p:cNvSpPr/>
          <p:nvPr/>
        </p:nvSpPr>
        <p:spPr>
          <a:xfrm>
            <a:off x="4754880" y="2468880"/>
            <a:ext cx="71640" cy="912960"/>
          </a:xfrm>
          <a:prstGeom prst="rect">
            <a:avLst/>
          </a:prstGeom>
          <a:solidFill>
            <a:srgbClr val="2084C9"/>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1035" name="content-card-title"/>
          <p:cNvSpPr/>
          <p:nvPr/>
        </p:nvSpPr>
        <p:spPr>
          <a:xfrm>
            <a:off x="4919400" y="2578680"/>
            <a:ext cx="3400200" cy="236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Goal agent never replans</a:t>
            </a:r>
            <a:endParaRPr lang="en-US" sz="1250" b="0" u="none" strike="noStrike">
              <a:solidFill>
                <a:srgbClr val="000000"/>
              </a:solidFill>
              <a:effectLst/>
              <a:uFillTx/>
              <a:latin typeface="Arial"/>
            </a:endParaRPr>
          </a:p>
        </p:txBody>
      </p:sp>
      <p:sp>
        <p:nvSpPr>
          <p:cNvPr id="1036" name="content-card-body"/>
          <p:cNvSpPr/>
          <p:nvPr/>
        </p:nvSpPr>
        <p:spPr>
          <a:xfrm>
            <a:off x="4919400" y="2907720"/>
            <a:ext cx="3400200" cy="41004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50" b="0" u="none" strike="noStrike">
                <a:solidFill>
                  <a:srgbClr val="1E1E1E"/>
                </a:solidFill>
                <a:effectLst/>
                <a:uFillTx/>
                <a:latin typeface="Aptos"/>
              </a:rPr>
              <a:t>World changes can make a plan stale.</a:t>
            </a:r>
            <a:endParaRPr lang="en-US" sz="1250" b="0" u="none" strike="noStrike">
              <a:solidFill>
                <a:srgbClr val="000000"/>
              </a:solidFill>
              <a:effectLst/>
              <a:uFillTx/>
              <a:latin typeface="Arial"/>
            </a:endParaRPr>
          </a:p>
        </p:txBody>
      </p:sp>
      <p:sp>
        <p:nvSpPr>
          <p:cNvPr id="1037" name="content-bottom"/>
          <p:cNvSpPr/>
          <p:nvPr/>
        </p:nvSpPr>
        <p:spPr>
          <a:xfrm>
            <a:off x="1005840" y="4069080"/>
            <a:ext cx="7130880" cy="29124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gn="ctr">
              <a:lnSpc>
                <a:spcPct val="100000"/>
              </a:lnSpc>
            </a:pPr>
            <a:r>
              <a:rPr lang="en-US" sz="1700" b="1" u="none" strike="noStrike">
                <a:solidFill>
                  <a:srgbClr val="091F3F"/>
                </a:solidFill>
                <a:effectLst/>
                <a:uFillTx/>
                <a:latin typeface="Aptos"/>
              </a:rPr>
              <a:t>Use the vocabulary to debug the design before debugging the code.</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8"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39"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1040"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Chapters 1 &amp; 2 concept map</a:t>
            </a:r>
            <a:endParaRPr lang="en-US" sz="2400" b="0" u="none" strike="noStrike">
              <a:solidFill>
                <a:srgbClr val="000000"/>
              </a:solidFill>
              <a:effectLst/>
              <a:uFillTx/>
              <a:latin typeface="Arial"/>
            </a:endParaRPr>
          </a:p>
        </p:txBody>
      </p:sp>
      <p:sp>
        <p:nvSpPr>
          <p:cNvPr id="1041"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The course foundation in one picture.</a:t>
            </a:r>
            <a:endParaRPr lang="en-US" sz="1150" b="0" u="none" strike="noStrike">
              <a:solidFill>
                <a:srgbClr val="000000"/>
              </a:solidFill>
              <a:effectLst/>
              <a:uFillTx/>
              <a:latin typeface="Arial"/>
            </a:endParaRPr>
          </a:p>
        </p:txBody>
      </p:sp>
      <p:cxnSp>
        <p:nvCxnSpPr>
          <p:cNvPr id="1042" name="decor-title-line"/>
          <p:cNvCxnSpPr/>
          <p:nvPr/>
        </p:nvCxnSpPr>
        <p:spPr>
          <a:xfrm>
            <a:off x="320040" y="932400"/>
            <a:ext cx="8505360" cy="1440"/>
          </a:xfrm>
          <a:prstGeom prst="straightConnector1">
            <a:avLst/>
          </a:prstGeom>
          <a:ln w="25400">
            <a:solidFill>
              <a:srgbClr val="F2A122"/>
            </a:solidFill>
            <a:round/>
          </a:ln>
        </p:spPr>
      </p:cxnSp>
      <p:sp>
        <p:nvSpPr>
          <p:cNvPr id="1043"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cxnSp>
        <p:nvCxnSpPr>
          <p:cNvPr id="1044" name="content-connector"/>
          <p:cNvCxnSpPr/>
          <p:nvPr/>
        </p:nvCxnSpPr>
        <p:spPr>
          <a:xfrm>
            <a:off x="2057400" y="2011680"/>
            <a:ext cx="1281600" cy="1440"/>
          </a:xfrm>
          <a:prstGeom prst="straightConnector1">
            <a:avLst/>
          </a:prstGeom>
          <a:ln w="25400">
            <a:solidFill>
              <a:srgbClr val="5A6473"/>
            </a:solidFill>
            <a:round/>
          </a:ln>
        </p:spPr>
      </p:cxnSp>
      <p:cxnSp>
        <p:nvCxnSpPr>
          <p:cNvPr id="1045" name="content-connector"/>
          <p:cNvCxnSpPr/>
          <p:nvPr/>
        </p:nvCxnSpPr>
        <p:spPr>
          <a:xfrm>
            <a:off x="4617720" y="2011680"/>
            <a:ext cx="1281600" cy="1440"/>
          </a:xfrm>
          <a:prstGeom prst="straightConnector1">
            <a:avLst/>
          </a:prstGeom>
          <a:ln w="25400">
            <a:solidFill>
              <a:srgbClr val="5A6473"/>
            </a:solidFill>
            <a:round/>
          </a:ln>
        </p:spPr>
      </p:cxnSp>
      <p:cxnSp>
        <p:nvCxnSpPr>
          <p:cNvPr id="1046" name="content-connector"/>
          <p:cNvCxnSpPr/>
          <p:nvPr/>
        </p:nvCxnSpPr>
        <p:spPr>
          <a:xfrm flipH="1" flipV="1">
            <a:off x="3657600" y="2331720"/>
            <a:ext cx="961560" cy="641520"/>
          </a:xfrm>
          <a:prstGeom prst="straightConnector1">
            <a:avLst/>
          </a:prstGeom>
          <a:ln w="19050">
            <a:solidFill>
              <a:srgbClr val="5A6473"/>
            </a:solidFill>
            <a:round/>
          </a:ln>
        </p:spPr>
      </p:cxnSp>
      <p:cxnSp>
        <p:nvCxnSpPr>
          <p:cNvPr id="1047" name="content-connector"/>
          <p:cNvCxnSpPr/>
          <p:nvPr/>
        </p:nvCxnSpPr>
        <p:spPr>
          <a:xfrm flipV="1">
            <a:off x="4617720" y="2331720"/>
            <a:ext cx="1693080" cy="641520"/>
          </a:xfrm>
          <a:prstGeom prst="straightConnector1">
            <a:avLst/>
          </a:prstGeom>
          <a:ln w="19050">
            <a:solidFill>
              <a:srgbClr val="5A6473"/>
            </a:solidFill>
            <a:round/>
          </a:ln>
        </p:spPr>
      </p:cxnSp>
      <p:sp>
        <p:nvSpPr>
          <p:cNvPr id="1048" name="content-node"/>
          <p:cNvSpPr/>
          <p:nvPr/>
        </p:nvSpPr>
        <p:spPr>
          <a:xfrm>
            <a:off x="777240" y="1691640"/>
            <a:ext cx="1233000" cy="592920"/>
          </a:xfrm>
          <a:prstGeom prst="roundRect">
            <a:avLst>
              <a:gd name="adj" fmla="val 16667"/>
            </a:avLst>
          </a:prstGeom>
          <a:solidFill>
            <a:srgbClr val="091F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49" name="content-node-text"/>
          <p:cNvSpPr/>
          <p:nvPr/>
        </p:nvSpPr>
        <p:spPr>
          <a:xfrm>
            <a:off x="822960" y="1911240"/>
            <a:ext cx="1141560" cy="13572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150" b="1" u="none" strike="noStrike">
                <a:solidFill>
                  <a:srgbClr val="FFFFFF"/>
                </a:solidFill>
                <a:effectLst/>
                <a:uFillTx/>
                <a:latin typeface="Aptos"/>
              </a:rPr>
              <a:t>AI</a:t>
            </a:r>
            <a:endParaRPr lang="en-US" sz="1150" b="0" u="none" strike="noStrike">
              <a:solidFill>
                <a:srgbClr val="000000"/>
              </a:solidFill>
              <a:effectLst/>
              <a:uFillTx/>
              <a:latin typeface="Arial"/>
            </a:endParaRPr>
          </a:p>
        </p:txBody>
      </p:sp>
      <p:sp>
        <p:nvSpPr>
          <p:cNvPr id="1050" name="content-node"/>
          <p:cNvSpPr/>
          <p:nvPr/>
        </p:nvSpPr>
        <p:spPr>
          <a:xfrm>
            <a:off x="3154680" y="1691640"/>
            <a:ext cx="1644480" cy="59292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51" name="content-node-text"/>
          <p:cNvSpPr/>
          <p:nvPr/>
        </p:nvSpPr>
        <p:spPr>
          <a:xfrm>
            <a:off x="3200400" y="1911240"/>
            <a:ext cx="1553040" cy="13572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150" b="1" u="none" strike="noStrike">
                <a:solidFill>
                  <a:srgbClr val="FFFFFF"/>
                </a:solidFill>
                <a:effectLst/>
                <a:uFillTx/>
                <a:latin typeface="Aptos"/>
              </a:rPr>
              <a:t>Rational agent</a:t>
            </a:r>
            <a:endParaRPr lang="en-US" sz="1150" b="0" u="none" strike="noStrike">
              <a:solidFill>
                <a:srgbClr val="000000"/>
              </a:solidFill>
              <a:effectLst/>
              <a:uFillTx/>
              <a:latin typeface="Arial"/>
            </a:endParaRPr>
          </a:p>
        </p:txBody>
      </p:sp>
      <p:sp>
        <p:nvSpPr>
          <p:cNvPr id="1052" name="content-node"/>
          <p:cNvSpPr/>
          <p:nvPr/>
        </p:nvSpPr>
        <p:spPr>
          <a:xfrm>
            <a:off x="5897880" y="1691640"/>
            <a:ext cx="1827360" cy="592920"/>
          </a:xfrm>
          <a:prstGeom prst="roundRect">
            <a:avLst>
              <a:gd name="adj" fmla="val 16667"/>
            </a:avLst>
          </a:prstGeom>
          <a:solidFill>
            <a:srgbClr val="00897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53" name="content-node-text"/>
          <p:cNvSpPr/>
          <p:nvPr/>
        </p:nvSpPr>
        <p:spPr>
          <a:xfrm>
            <a:off x="5943600" y="1911240"/>
            <a:ext cx="1735920" cy="13572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150" b="1" u="none" strike="noStrike">
                <a:solidFill>
                  <a:srgbClr val="FFFFFF"/>
                </a:solidFill>
                <a:effectLst/>
                <a:uFillTx/>
                <a:latin typeface="Aptos"/>
              </a:rPr>
              <a:t>Task environment</a:t>
            </a:r>
            <a:endParaRPr lang="en-US" sz="1150" b="0" u="none" strike="noStrike">
              <a:solidFill>
                <a:srgbClr val="000000"/>
              </a:solidFill>
              <a:effectLst/>
              <a:uFillTx/>
              <a:latin typeface="Arial"/>
            </a:endParaRPr>
          </a:p>
        </p:txBody>
      </p:sp>
      <p:sp>
        <p:nvSpPr>
          <p:cNvPr id="1054" name="content-node"/>
          <p:cNvSpPr/>
          <p:nvPr/>
        </p:nvSpPr>
        <p:spPr>
          <a:xfrm>
            <a:off x="1874520" y="2743200"/>
            <a:ext cx="1233000" cy="592920"/>
          </a:xfrm>
          <a:prstGeom prst="roundRect">
            <a:avLst>
              <a:gd name="adj" fmla="val 16667"/>
            </a:avLst>
          </a:prstGeom>
          <a:solidFill>
            <a:srgbClr val="F2A122"/>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55" name="content-node-text"/>
          <p:cNvSpPr/>
          <p:nvPr/>
        </p:nvSpPr>
        <p:spPr>
          <a:xfrm>
            <a:off x="1920240" y="2962800"/>
            <a:ext cx="1141560" cy="13572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150" b="1" u="none" strike="noStrike">
                <a:solidFill>
                  <a:srgbClr val="FFFFFF"/>
                </a:solidFill>
                <a:effectLst/>
                <a:uFillTx/>
                <a:latin typeface="Aptos"/>
              </a:rPr>
              <a:t>PEAS</a:t>
            </a:r>
            <a:endParaRPr lang="en-US" sz="1150" b="0" u="none" strike="noStrike">
              <a:solidFill>
                <a:srgbClr val="000000"/>
              </a:solidFill>
              <a:effectLst/>
              <a:uFillTx/>
              <a:latin typeface="Arial"/>
            </a:endParaRPr>
          </a:p>
        </p:txBody>
      </p:sp>
      <p:sp>
        <p:nvSpPr>
          <p:cNvPr id="1056" name="content-node"/>
          <p:cNvSpPr/>
          <p:nvPr/>
        </p:nvSpPr>
        <p:spPr>
          <a:xfrm>
            <a:off x="3703320" y="2743200"/>
            <a:ext cx="1598760" cy="592920"/>
          </a:xfrm>
          <a:prstGeom prst="roundRect">
            <a:avLst>
              <a:gd name="adj" fmla="val 16667"/>
            </a:avLst>
          </a:prstGeom>
          <a:solidFill>
            <a:srgbClr val="7452A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57" name="content-node-text"/>
          <p:cNvSpPr/>
          <p:nvPr/>
        </p:nvSpPr>
        <p:spPr>
          <a:xfrm>
            <a:off x="3749040" y="2962800"/>
            <a:ext cx="1507320" cy="13572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150" b="1" u="none" strike="noStrike">
                <a:solidFill>
                  <a:srgbClr val="FFFFFF"/>
                </a:solidFill>
                <a:effectLst/>
                <a:uFillTx/>
                <a:latin typeface="Aptos"/>
              </a:rPr>
              <a:t>Architecture</a:t>
            </a:r>
            <a:endParaRPr lang="en-US" sz="1150" b="0" u="none" strike="noStrike">
              <a:solidFill>
                <a:srgbClr val="000000"/>
              </a:solidFill>
              <a:effectLst/>
              <a:uFillTx/>
              <a:latin typeface="Arial"/>
            </a:endParaRPr>
          </a:p>
        </p:txBody>
      </p:sp>
      <p:sp>
        <p:nvSpPr>
          <p:cNvPr id="1058" name="content-node"/>
          <p:cNvSpPr/>
          <p:nvPr/>
        </p:nvSpPr>
        <p:spPr>
          <a:xfrm>
            <a:off x="6172200" y="2743200"/>
            <a:ext cx="1598760" cy="592920"/>
          </a:xfrm>
          <a:prstGeom prst="roundRect">
            <a:avLst>
              <a:gd name="adj" fmla="val 16667"/>
            </a:avLst>
          </a:prstGeom>
          <a:solidFill>
            <a:srgbClr val="4A9D5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59" name="content-node-text"/>
          <p:cNvSpPr/>
          <p:nvPr/>
        </p:nvSpPr>
        <p:spPr>
          <a:xfrm>
            <a:off x="6217920" y="2962800"/>
            <a:ext cx="1507320" cy="13572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150" b="1" u="none" strike="noStrike">
                <a:solidFill>
                  <a:srgbClr val="FFFFFF"/>
                </a:solidFill>
                <a:effectLst/>
                <a:uFillTx/>
                <a:latin typeface="Aptos"/>
              </a:rPr>
              <a:t>Representation</a:t>
            </a:r>
            <a:endParaRPr lang="en-US" sz="1150" b="0" u="none" strike="noStrike">
              <a:solidFill>
                <a:srgbClr val="000000"/>
              </a:solidFill>
              <a:effectLst/>
              <a:uFillTx/>
              <a:latin typeface="Arial"/>
            </a:endParaRPr>
          </a:p>
        </p:txBody>
      </p:sp>
      <p:sp>
        <p:nvSpPr>
          <p:cNvPr id="1060" name="content-bottom"/>
          <p:cNvSpPr/>
          <p:nvPr/>
        </p:nvSpPr>
        <p:spPr>
          <a:xfrm>
            <a:off x="822960" y="3977640"/>
            <a:ext cx="7496640" cy="3459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gn="ctr">
              <a:lnSpc>
                <a:spcPct val="100000"/>
              </a:lnSpc>
            </a:pPr>
            <a:r>
              <a:rPr lang="en-US" sz="1700" b="1" u="none" strike="noStrike">
                <a:solidFill>
                  <a:srgbClr val="091F3F"/>
                </a:solidFill>
                <a:effectLst/>
                <a:uFillTx/>
                <a:latin typeface="Aptos"/>
              </a:rPr>
              <a:t>Big idea: intelligence is analyzed as choosing actions that achieve objectives in environments.</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1"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62"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1063"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Quick review quiz</a:t>
            </a:r>
            <a:endParaRPr lang="en-US" sz="2400" b="0" u="none" strike="noStrike">
              <a:solidFill>
                <a:srgbClr val="000000"/>
              </a:solidFill>
              <a:effectLst/>
              <a:uFillTx/>
              <a:latin typeface="Arial"/>
            </a:endParaRPr>
          </a:p>
        </p:txBody>
      </p:sp>
      <p:sp>
        <p:nvSpPr>
          <p:cNvPr id="1064"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Use as an exit ticket or exam review.</a:t>
            </a:r>
            <a:endParaRPr lang="en-US" sz="1150" b="0" u="none" strike="noStrike">
              <a:solidFill>
                <a:srgbClr val="000000"/>
              </a:solidFill>
              <a:effectLst/>
              <a:uFillTx/>
              <a:latin typeface="Arial"/>
            </a:endParaRPr>
          </a:p>
        </p:txBody>
      </p:sp>
      <p:cxnSp>
        <p:nvCxnSpPr>
          <p:cNvPr id="1065" name="decor-title-line"/>
          <p:cNvCxnSpPr/>
          <p:nvPr/>
        </p:nvCxnSpPr>
        <p:spPr>
          <a:xfrm>
            <a:off x="320040" y="932400"/>
            <a:ext cx="8505360" cy="1440"/>
          </a:xfrm>
          <a:prstGeom prst="straightConnector1">
            <a:avLst/>
          </a:prstGeom>
          <a:ln w="25400">
            <a:solidFill>
              <a:srgbClr val="F2A122"/>
            </a:solidFill>
            <a:round/>
          </a:ln>
        </p:spPr>
      </p:cxnSp>
      <p:sp>
        <p:nvSpPr>
          <p:cNvPr id="1066"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1067" name="content-bullets"/>
          <p:cNvSpPr/>
          <p:nvPr/>
        </p:nvSpPr>
        <p:spPr>
          <a:xfrm>
            <a:off x="822960" y="1143000"/>
            <a:ext cx="7405200" cy="201024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600" b="0" u="none" strike="noStrike">
                <a:solidFill>
                  <a:srgbClr val="1E1E1E"/>
                </a:solidFill>
                <a:effectLst/>
                <a:uFillTx/>
                <a:latin typeface="Aptos"/>
              </a:rPr>
              <a:t>1. What are the four approaches to AI?</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2. Why is a lookup-table agent infeasible?</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3. What does PEAS stand for?</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4. Give one example of partial observability.</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5. When do goals become insufficient and utilities become useful?</a:t>
            </a:r>
            <a:endParaRPr lang="en-US" sz="1600" b="0" u="none" strike="noStrike">
              <a:solidFill>
                <a:srgbClr val="000000"/>
              </a:solidFill>
              <a:effectLst/>
              <a:uFillTx/>
              <a:latin typeface="Arial"/>
            </a:endParaRPr>
          </a:p>
        </p:txBody>
      </p:sp>
      <p:sp>
        <p:nvSpPr>
          <p:cNvPr id="1068" name="content-answer-note"/>
          <p:cNvSpPr/>
          <p:nvPr/>
        </p:nvSpPr>
        <p:spPr>
          <a:xfrm>
            <a:off x="2514600" y="3794760"/>
            <a:ext cx="4113360" cy="318600"/>
          </a:xfrm>
          <a:prstGeom prst="rect">
            <a:avLst/>
          </a:prstGeom>
          <a:solidFill>
            <a:srgbClr val="091F3F"/>
          </a:solidFill>
          <a:ln w="0">
            <a:solidFill>
              <a:srgbClr val="091F3F"/>
            </a:solidFill>
          </a:ln>
        </p:spPr>
        <p:style>
          <a:lnRef idx="0"/>
          <a:fillRef idx="0"/>
          <a:effectRef idx="0"/>
          <a:fontRef idx="minor"/>
        </p:style>
        <p:txBody>
          <a:bodyPr lIns="45720" tIns="45000" rIns="45720" bIns="45000" anchor="t">
            <a:normAutofit lnSpcReduction="9999"/>
          </a:bodyPr>
          <a:p>
            <a:pPr algn="ctr">
              <a:lnSpc>
                <a:spcPct val="100000"/>
              </a:lnSpc>
            </a:pPr>
            <a:r>
              <a:rPr lang="en-US" sz="1600" b="1" u="none" strike="noStrike">
                <a:solidFill>
                  <a:srgbClr val="FFFFFF"/>
                </a:solidFill>
                <a:effectLst/>
                <a:uFillTx/>
                <a:latin typeface="Aptos"/>
              </a:rPr>
              <a:t>Answers are in the speaker notes.</a:t>
            </a:r>
            <a:endParaRPr lang="en-US"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9"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70"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1071"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How to read any AI system</a:t>
            </a:r>
            <a:endParaRPr lang="en-US" sz="2400" b="0" u="none" strike="noStrike">
              <a:solidFill>
                <a:srgbClr val="000000"/>
              </a:solidFill>
              <a:effectLst/>
              <a:uFillTx/>
              <a:latin typeface="Arial"/>
            </a:endParaRPr>
          </a:p>
        </p:txBody>
      </p:sp>
      <p:sp>
        <p:nvSpPr>
          <p:cNvPr id="1072"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A practical checklist for students.</a:t>
            </a:r>
            <a:endParaRPr lang="en-US" sz="1150" b="0" u="none" strike="noStrike">
              <a:solidFill>
                <a:srgbClr val="000000"/>
              </a:solidFill>
              <a:effectLst/>
              <a:uFillTx/>
              <a:latin typeface="Arial"/>
            </a:endParaRPr>
          </a:p>
        </p:txBody>
      </p:sp>
      <p:cxnSp>
        <p:nvCxnSpPr>
          <p:cNvPr id="1073" name="decor-title-line"/>
          <p:cNvCxnSpPr/>
          <p:nvPr/>
        </p:nvCxnSpPr>
        <p:spPr>
          <a:xfrm>
            <a:off x="320040" y="932400"/>
            <a:ext cx="8505360" cy="1440"/>
          </a:xfrm>
          <a:prstGeom prst="straightConnector1">
            <a:avLst/>
          </a:prstGeom>
          <a:ln w="25400">
            <a:solidFill>
              <a:srgbClr val="F2A122"/>
            </a:solidFill>
            <a:round/>
          </a:ln>
        </p:spPr>
      </p:cxnSp>
      <p:sp>
        <p:nvSpPr>
          <p:cNvPr id="1074"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1075" name="content-bullets"/>
          <p:cNvSpPr/>
          <p:nvPr/>
        </p:nvSpPr>
        <p:spPr>
          <a:xfrm>
            <a:off x="914400" y="1097280"/>
            <a:ext cx="7313760" cy="255888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600" b="0" u="none" strike="noStrike">
                <a:solidFill>
                  <a:srgbClr val="1E1E1E"/>
                </a:solidFill>
                <a:effectLst/>
                <a:uFillTx/>
                <a:latin typeface="Aptos"/>
              </a:rPr>
              <a:t>• What environment is the system operating in?</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 What percepts does it receive?</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 What actions can it take?</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 What performance measure is being optimized?</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 What representation does it use?</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 What could go wrong if the objective is misspecified?</a:t>
            </a:r>
            <a:endParaRPr lang="en-US" sz="1600" b="0" u="none" strike="noStrike">
              <a:solidFill>
                <a:srgbClr val="000000"/>
              </a:solidFill>
              <a:effectLst/>
              <a:uFillTx/>
              <a:latin typeface="Arial"/>
            </a:endParaRPr>
          </a:p>
        </p:txBody>
      </p:sp>
      <p:sp>
        <p:nvSpPr>
          <p:cNvPr id="1076" name="content-bottom"/>
          <p:cNvSpPr/>
          <p:nvPr/>
        </p:nvSpPr>
        <p:spPr>
          <a:xfrm>
            <a:off x="1097280" y="4160520"/>
            <a:ext cx="6948000" cy="29124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gn="ctr">
              <a:lnSpc>
                <a:spcPct val="100000"/>
              </a:lnSpc>
            </a:pPr>
            <a:r>
              <a:rPr lang="en-US" sz="1650" b="1" u="none" strike="noStrike">
                <a:solidFill>
                  <a:srgbClr val="091F3F"/>
                </a:solidFill>
                <a:effectLst/>
                <a:uFillTx/>
                <a:latin typeface="Aptos"/>
              </a:rPr>
              <a:t>This checklist turns news about AI into technical analysis.</a:t>
            </a:r>
            <a:endParaRPr lang="en-US" sz="16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7"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78"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1079"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Core references and URLs</a:t>
            </a:r>
            <a:endParaRPr lang="en-US" sz="2400" b="0" u="none" strike="noStrike">
              <a:solidFill>
                <a:srgbClr val="000000"/>
              </a:solidFill>
              <a:effectLst/>
              <a:uFillTx/>
              <a:latin typeface="Arial"/>
            </a:endParaRPr>
          </a:p>
        </p:txBody>
      </p:sp>
      <p:sp>
        <p:nvSpPr>
          <p:cNvPr id="1080"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Use these links for students who want to read further.</a:t>
            </a:r>
            <a:endParaRPr lang="en-US" sz="1150" b="0" u="none" strike="noStrike">
              <a:solidFill>
                <a:srgbClr val="000000"/>
              </a:solidFill>
              <a:effectLst/>
              <a:uFillTx/>
              <a:latin typeface="Arial"/>
            </a:endParaRPr>
          </a:p>
        </p:txBody>
      </p:sp>
      <p:cxnSp>
        <p:nvCxnSpPr>
          <p:cNvPr id="1081" name="decor-title-line"/>
          <p:cNvCxnSpPr/>
          <p:nvPr/>
        </p:nvCxnSpPr>
        <p:spPr>
          <a:xfrm>
            <a:off x="320040" y="932400"/>
            <a:ext cx="8505360" cy="1440"/>
          </a:xfrm>
          <a:prstGeom prst="straightConnector1">
            <a:avLst/>
          </a:prstGeom>
          <a:ln w="25400">
            <a:solidFill>
              <a:srgbClr val="F2A122"/>
            </a:solidFill>
            <a:round/>
          </a:ln>
        </p:spPr>
      </p:cxnSp>
      <p:sp>
        <p:nvSpPr>
          <p:cNvPr id="1082"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1083" name="content-ref-label"/>
          <p:cNvSpPr/>
          <p:nvPr/>
        </p:nvSpPr>
        <p:spPr>
          <a:xfrm>
            <a:off x="640080" y="1097280"/>
            <a:ext cx="3016080" cy="16308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1080" b="1" u="none" strike="noStrike">
                <a:solidFill>
                  <a:srgbClr val="091F3F"/>
                </a:solidFill>
                <a:effectLst/>
                <a:uFillTx/>
                <a:latin typeface="Aptos"/>
              </a:rPr>
              <a:t>AIMA official site</a:t>
            </a:r>
            <a:endParaRPr lang="en-US" sz="1080" b="0" u="none" strike="noStrike">
              <a:solidFill>
                <a:srgbClr val="000000"/>
              </a:solidFill>
              <a:effectLst/>
              <a:uFillTx/>
              <a:latin typeface="Arial"/>
            </a:endParaRPr>
          </a:p>
        </p:txBody>
      </p:sp>
      <p:sp>
        <p:nvSpPr>
          <p:cNvPr id="1084" name="content-ref-url"/>
          <p:cNvSpPr/>
          <p:nvPr/>
        </p:nvSpPr>
        <p:spPr>
          <a:xfrm>
            <a:off x="3657600" y="1097280"/>
            <a:ext cx="50277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960" b="0" u="sng" strike="noStrike">
                <a:solidFill>
                  <a:srgbClr val="0563C1"/>
                </a:solidFill>
                <a:effectLst/>
                <a:uFillTx/>
                <a:latin typeface="Aptos"/>
                <a:hlinkClick r:id="rId1"/>
              </a:rPr>
              <a:t>https://aima.cs.berkeley.edu/</a:t>
            </a:r>
            <a:endParaRPr lang="en-US" sz="960" b="0" u="none" strike="noStrike">
              <a:solidFill>
                <a:srgbClr val="000000"/>
              </a:solidFill>
              <a:effectLst/>
              <a:uFillTx/>
              <a:latin typeface="Arial"/>
            </a:endParaRPr>
          </a:p>
        </p:txBody>
      </p:sp>
      <p:sp>
        <p:nvSpPr>
          <p:cNvPr id="1085" name="content-ref-label"/>
          <p:cNvSpPr/>
          <p:nvPr/>
        </p:nvSpPr>
        <p:spPr>
          <a:xfrm>
            <a:off x="640080" y="1600200"/>
            <a:ext cx="3016080" cy="16308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1080" b="1" u="none" strike="noStrike">
                <a:solidFill>
                  <a:srgbClr val="091F3F"/>
                </a:solidFill>
                <a:effectLst/>
                <a:uFillTx/>
                <a:latin typeface="Aptos"/>
              </a:rPr>
              <a:t>Turing 1950, Computing Machinery and Intelligence</a:t>
            </a:r>
            <a:endParaRPr lang="en-US" sz="1080" b="0" u="none" strike="noStrike">
              <a:solidFill>
                <a:srgbClr val="000000"/>
              </a:solidFill>
              <a:effectLst/>
              <a:uFillTx/>
              <a:latin typeface="Arial"/>
            </a:endParaRPr>
          </a:p>
        </p:txBody>
      </p:sp>
      <p:sp>
        <p:nvSpPr>
          <p:cNvPr id="1086" name="content-ref-url"/>
          <p:cNvSpPr/>
          <p:nvPr/>
        </p:nvSpPr>
        <p:spPr>
          <a:xfrm>
            <a:off x="3657600" y="1600200"/>
            <a:ext cx="50277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960" b="0" u="sng" strike="noStrike">
                <a:solidFill>
                  <a:srgbClr val="0563C1"/>
                </a:solidFill>
                <a:effectLst/>
                <a:uFillTx/>
                <a:latin typeface="Aptos"/>
                <a:hlinkClick r:id="rId2"/>
              </a:rPr>
              <a:t>https://doi.org/10.1093/mind/LIX.236.433</a:t>
            </a:r>
            <a:endParaRPr lang="en-US" sz="960" b="0" u="none" strike="noStrike">
              <a:solidFill>
                <a:srgbClr val="000000"/>
              </a:solidFill>
              <a:effectLst/>
              <a:uFillTx/>
              <a:latin typeface="Arial"/>
            </a:endParaRPr>
          </a:p>
        </p:txBody>
      </p:sp>
      <p:sp>
        <p:nvSpPr>
          <p:cNvPr id="1087" name="content-ref-label"/>
          <p:cNvSpPr/>
          <p:nvPr/>
        </p:nvSpPr>
        <p:spPr>
          <a:xfrm>
            <a:off x="640080" y="2103120"/>
            <a:ext cx="3016080" cy="16308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1080" b="1" u="none" strike="noStrike">
                <a:solidFill>
                  <a:srgbClr val="091F3F"/>
                </a:solidFill>
                <a:effectLst/>
                <a:uFillTx/>
                <a:latin typeface="Aptos"/>
              </a:rPr>
              <a:t>Dartmouth AI origin story</a:t>
            </a:r>
            <a:endParaRPr lang="en-US" sz="1080" b="0" u="none" strike="noStrike">
              <a:solidFill>
                <a:srgbClr val="000000"/>
              </a:solidFill>
              <a:effectLst/>
              <a:uFillTx/>
              <a:latin typeface="Arial"/>
            </a:endParaRPr>
          </a:p>
        </p:txBody>
      </p:sp>
      <p:sp>
        <p:nvSpPr>
          <p:cNvPr id="1088" name="content-ref-url"/>
          <p:cNvSpPr/>
          <p:nvPr/>
        </p:nvSpPr>
        <p:spPr>
          <a:xfrm>
            <a:off x="3657600" y="2103120"/>
            <a:ext cx="50277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960" b="0" u="sng" strike="noStrike">
                <a:solidFill>
                  <a:srgbClr val="0563C1"/>
                </a:solidFill>
                <a:effectLst/>
                <a:uFillTx/>
                <a:latin typeface="Aptos"/>
                <a:hlinkClick r:id="rId3"/>
              </a:rPr>
              <a:t>https://home.dartmouth.edu/about/artificial-intelligence-ai-coined-dartmouth</a:t>
            </a:r>
            <a:endParaRPr lang="en-US" sz="960" b="0" u="none" strike="noStrike">
              <a:solidFill>
                <a:srgbClr val="000000"/>
              </a:solidFill>
              <a:effectLst/>
              <a:uFillTx/>
              <a:latin typeface="Arial"/>
            </a:endParaRPr>
          </a:p>
        </p:txBody>
      </p:sp>
      <p:sp>
        <p:nvSpPr>
          <p:cNvPr id="1089" name="content-ref-label"/>
          <p:cNvSpPr/>
          <p:nvPr/>
        </p:nvSpPr>
        <p:spPr>
          <a:xfrm>
            <a:off x="640080" y="2606040"/>
            <a:ext cx="3016080" cy="16308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1080" b="1" u="none" strike="noStrike">
                <a:solidFill>
                  <a:srgbClr val="091F3F"/>
                </a:solidFill>
                <a:effectLst/>
                <a:uFillTx/>
                <a:latin typeface="Aptos"/>
              </a:rPr>
              <a:t>IBM Deep Blue history</a:t>
            </a:r>
            <a:endParaRPr lang="en-US" sz="1080" b="0" u="none" strike="noStrike">
              <a:solidFill>
                <a:srgbClr val="000000"/>
              </a:solidFill>
              <a:effectLst/>
              <a:uFillTx/>
              <a:latin typeface="Arial"/>
            </a:endParaRPr>
          </a:p>
        </p:txBody>
      </p:sp>
      <p:sp>
        <p:nvSpPr>
          <p:cNvPr id="1090" name="content-ref-url"/>
          <p:cNvSpPr/>
          <p:nvPr/>
        </p:nvSpPr>
        <p:spPr>
          <a:xfrm>
            <a:off x="3657600" y="2606040"/>
            <a:ext cx="50277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960" b="0" u="sng" strike="noStrike">
                <a:solidFill>
                  <a:srgbClr val="0563C1"/>
                </a:solidFill>
                <a:effectLst/>
                <a:uFillTx/>
                <a:latin typeface="Aptos"/>
                <a:hlinkClick r:id="rId4"/>
              </a:rPr>
              <a:t>https://www.ibm.com/history/deep-blue</a:t>
            </a:r>
            <a:endParaRPr lang="en-US" sz="960" b="0" u="none" strike="noStrike">
              <a:solidFill>
                <a:srgbClr val="000000"/>
              </a:solidFill>
              <a:effectLst/>
              <a:uFillTx/>
              <a:latin typeface="Arial"/>
            </a:endParaRPr>
          </a:p>
        </p:txBody>
      </p:sp>
      <p:sp>
        <p:nvSpPr>
          <p:cNvPr id="1091" name="content-ref-label"/>
          <p:cNvSpPr/>
          <p:nvPr/>
        </p:nvSpPr>
        <p:spPr>
          <a:xfrm>
            <a:off x="640080" y="3108960"/>
            <a:ext cx="3016080" cy="16308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1080" b="1" u="none" strike="noStrike">
                <a:solidFill>
                  <a:srgbClr val="091F3F"/>
                </a:solidFill>
                <a:effectLst/>
                <a:uFillTx/>
                <a:latin typeface="Aptos"/>
              </a:rPr>
              <a:t>AlphaGo Nature paper</a:t>
            </a:r>
            <a:endParaRPr lang="en-US" sz="1080" b="0" u="none" strike="noStrike">
              <a:solidFill>
                <a:srgbClr val="000000"/>
              </a:solidFill>
              <a:effectLst/>
              <a:uFillTx/>
              <a:latin typeface="Arial"/>
            </a:endParaRPr>
          </a:p>
        </p:txBody>
      </p:sp>
      <p:sp>
        <p:nvSpPr>
          <p:cNvPr id="1092" name="content-ref-url"/>
          <p:cNvSpPr/>
          <p:nvPr/>
        </p:nvSpPr>
        <p:spPr>
          <a:xfrm>
            <a:off x="3657600" y="3108960"/>
            <a:ext cx="50277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960" b="0" u="sng" strike="noStrike">
                <a:solidFill>
                  <a:srgbClr val="0563C1"/>
                </a:solidFill>
                <a:effectLst/>
                <a:uFillTx/>
                <a:latin typeface="Aptos"/>
                <a:hlinkClick r:id="rId5"/>
              </a:rPr>
              <a:t>https://www.nature.com/articles/nature16961</a:t>
            </a:r>
            <a:endParaRPr lang="en-US" sz="960" b="0" u="none" strike="noStrike">
              <a:solidFill>
                <a:srgbClr val="000000"/>
              </a:solidFill>
              <a:effectLst/>
              <a:uFillTx/>
              <a:latin typeface="Arial"/>
            </a:endParaRPr>
          </a:p>
        </p:txBody>
      </p:sp>
      <p:sp>
        <p:nvSpPr>
          <p:cNvPr id="1093" name="content-ref-label"/>
          <p:cNvSpPr/>
          <p:nvPr/>
        </p:nvSpPr>
        <p:spPr>
          <a:xfrm>
            <a:off x="640080" y="3611880"/>
            <a:ext cx="3016080" cy="16308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1080" b="1" u="none" strike="noStrike">
                <a:solidFill>
                  <a:srgbClr val="091F3F"/>
                </a:solidFill>
                <a:effectLst/>
                <a:uFillTx/>
                <a:latin typeface="Aptos"/>
              </a:rPr>
              <a:t>NIST AI Risk Management Framework</a:t>
            </a:r>
            <a:endParaRPr lang="en-US" sz="1080" b="0" u="none" strike="noStrike">
              <a:solidFill>
                <a:srgbClr val="000000"/>
              </a:solidFill>
              <a:effectLst/>
              <a:uFillTx/>
              <a:latin typeface="Arial"/>
            </a:endParaRPr>
          </a:p>
        </p:txBody>
      </p:sp>
      <p:sp>
        <p:nvSpPr>
          <p:cNvPr id="1094" name="content-ref-url"/>
          <p:cNvSpPr/>
          <p:nvPr/>
        </p:nvSpPr>
        <p:spPr>
          <a:xfrm>
            <a:off x="3657600" y="3611880"/>
            <a:ext cx="5027760" cy="16308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960" b="0" u="sng" strike="noStrike">
                <a:solidFill>
                  <a:srgbClr val="0563C1"/>
                </a:solidFill>
                <a:effectLst/>
                <a:uFillTx/>
                <a:latin typeface="Aptos"/>
                <a:hlinkClick r:id="rId6"/>
              </a:rPr>
              <a:t>https://www.nist.gov/itl/ai-risk-management-framework</a:t>
            </a:r>
            <a:endParaRPr lang="en-US"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5" name="decor-background"/>
          <p:cNvSpPr/>
          <p:nvPr/>
        </p:nvSpPr>
        <p:spPr>
          <a:xfrm>
            <a:off x="0" y="0"/>
            <a:ext cx="9142560" cy="51422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96" name="decor-section"/>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1097" name="content-title"/>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Additional sources and image credits</a:t>
            </a:r>
            <a:endParaRPr lang="en-US" sz="2400" b="0" u="none" strike="noStrike">
              <a:solidFill>
                <a:srgbClr val="000000"/>
              </a:solidFill>
              <a:effectLst/>
              <a:uFillTx/>
              <a:latin typeface="Arial"/>
            </a:endParaRPr>
          </a:p>
        </p:txBody>
      </p:sp>
      <p:sp>
        <p:nvSpPr>
          <p:cNvPr id="1098" name="content-subtitle"/>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Instructor-facing references for the expanded slides.</a:t>
            </a:r>
            <a:endParaRPr lang="en-US" sz="1150" b="0" u="none" strike="noStrike">
              <a:solidFill>
                <a:srgbClr val="000000"/>
              </a:solidFill>
              <a:effectLst/>
              <a:uFillTx/>
              <a:latin typeface="Arial"/>
            </a:endParaRPr>
          </a:p>
        </p:txBody>
      </p:sp>
      <p:cxnSp>
        <p:nvCxnSpPr>
          <p:cNvPr id="1099" name="decor-title-line"/>
          <p:cNvCxnSpPr/>
          <p:nvPr/>
        </p:nvCxnSpPr>
        <p:spPr>
          <a:xfrm>
            <a:off x="320040" y="932400"/>
            <a:ext cx="8505360" cy="1440"/>
          </a:xfrm>
          <a:prstGeom prst="straightConnector1">
            <a:avLst/>
          </a:prstGeom>
          <a:ln w="25400">
            <a:solidFill>
              <a:srgbClr val="F2A122"/>
            </a:solidFill>
            <a:round/>
          </a:ln>
        </p:spPr>
      </p:cxnSp>
      <p:sp>
        <p:nvSpPr>
          <p:cNvPr id="1100"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1101" name="content-ref-label"/>
          <p:cNvSpPr/>
          <p:nvPr/>
        </p:nvSpPr>
        <p:spPr>
          <a:xfrm>
            <a:off x="640080" y="1097280"/>
            <a:ext cx="283320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rPr>
              <a:t>OECD AI Principles</a:t>
            </a:r>
            <a:endParaRPr lang="en-US" sz="1050" b="0" u="none" strike="noStrike">
              <a:solidFill>
                <a:srgbClr val="000000"/>
              </a:solidFill>
              <a:effectLst/>
              <a:uFillTx/>
              <a:latin typeface="Arial"/>
            </a:endParaRPr>
          </a:p>
        </p:txBody>
      </p:sp>
      <p:sp>
        <p:nvSpPr>
          <p:cNvPr id="1102" name="content-ref-url"/>
          <p:cNvSpPr/>
          <p:nvPr/>
        </p:nvSpPr>
        <p:spPr>
          <a:xfrm>
            <a:off x="3474720" y="1097280"/>
            <a:ext cx="5302080" cy="16308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889" b="0" u="sng" strike="noStrike">
                <a:solidFill>
                  <a:srgbClr val="0563C1"/>
                </a:solidFill>
                <a:effectLst/>
                <a:uFillTx/>
                <a:latin typeface="Aptos"/>
                <a:hlinkClick r:id="rId1"/>
              </a:rPr>
              <a:t>https://www.oecd.org/en/topics/ai-principles.html</a:t>
            </a:r>
            <a:endParaRPr lang="en-US" sz="889" b="0" u="none" strike="noStrike">
              <a:solidFill>
                <a:srgbClr val="000000"/>
              </a:solidFill>
              <a:effectLst/>
              <a:uFillTx/>
              <a:latin typeface="Arial"/>
            </a:endParaRPr>
          </a:p>
        </p:txBody>
      </p:sp>
      <p:sp>
        <p:nvSpPr>
          <p:cNvPr id="1103" name="content-ref-label"/>
          <p:cNvSpPr/>
          <p:nvPr/>
        </p:nvSpPr>
        <p:spPr>
          <a:xfrm>
            <a:off x="640080" y="1600200"/>
            <a:ext cx="283320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rPr>
              <a:t>DeepMind AlphaGo overview</a:t>
            </a:r>
            <a:endParaRPr lang="en-US" sz="1050" b="0" u="none" strike="noStrike">
              <a:solidFill>
                <a:srgbClr val="000000"/>
              </a:solidFill>
              <a:effectLst/>
              <a:uFillTx/>
              <a:latin typeface="Arial"/>
            </a:endParaRPr>
          </a:p>
        </p:txBody>
      </p:sp>
      <p:sp>
        <p:nvSpPr>
          <p:cNvPr id="1104" name="content-ref-url"/>
          <p:cNvSpPr/>
          <p:nvPr/>
        </p:nvSpPr>
        <p:spPr>
          <a:xfrm>
            <a:off x="3474720" y="1600200"/>
            <a:ext cx="5302080" cy="16308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889" b="0" u="sng" strike="noStrike">
                <a:solidFill>
                  <a:srgbClr val="0563C1"/>
                </a:solidFill>
                <a:effectLst/>
                <a:uFillTx/>
                <a:latin typeface="Aptos"/>
                <a:hlinkClick r:id="rId2"/>
              </a:rPr>
              <a:t>https://deepmind.google/research/alphago/</a:t>
            </a:r>
            <a:endParaRPr lang="en-US" sz="889" b="0" u="none" strike="noStrike">
              <a:solidFill>
                <a:srgbClr val="000000"/>
              </a:solidFill>
              <a:effectLst/>
              <a:uFillTx/>
              <a:latin typeface="Arial"/>
            </a:endParaRPr>
          </a:p>
        </p:txBody>
      </p:sp>
      <p:sp>
        <p:nvSpPr>
          <p:cNvPr id="1105" name="content-ref-label"/>
          <p:cNvSpPr/>
          <p:nvPr/>
        </p:nvSpPr>
        <p:spPr>
          <a:xfrm>
            <a:off x="640080" y="2103120"/>
            <a:ext cx="283320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rPr>
              <a:t>Computer History Museum: Shakey</a:t>
            </a:r>
            <a:endParaRPr lang="en-US" sz="1050" b="0" u="none" strike="noStrike">
              <a:solidFill>
                <a:srgbClr val="000000"/>
              </a:solidFill>
              <a:effectLst/>
              <a:uFillTx/>
              <a:latin typeface="Arial"/>
            </a:endParaRPr>
          </a:p>
        </p:txBody>
      </p:sp>
      <p:sp>
        <p:nvSpPr>
          <p:cNvPr id="1106" name="content-ref-url"/>
          <p:cNvSpPr/>
          <p:nvPr/>
        </p:nvSpPr>
        <p:spPr>
          <a:xfrm>
            <a:off x="3474720" y="2103120"/>
            <a:ext cx="5302080" cy="16308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889" b="0" u="sng" strike="noStrike">
                <a:solidFill>
                  <a:srgbClr val="0563C1"/>
                </a:solidFill>
                <a:effectLst/>
                <a:uFillTx/>
                <a:latin typeface="Aptos"/>
                <a:hlinkClick r:id="rId3"/>
              </a:rPr>
              <a:t>https://www.computerhistory.org/revolution/artificial-intelligence-robotics/13/289</a:t>
            </a:r>
            <a:endParaRPr lang="en-US" sz="889" b="0" u="none" strike="noStrike">
              <a:solidFill>
                <a:srgbClr val="000000"/>
              </a:solidFill>
              <a:effectLst/>
              <a:uFillTx/>
              <a:latin typeface="Arial"/>
            </a:endParaRPr>
          </a:p>
        </p:txBody>
      </p:sp>
      <p:sp>
        <p:nvSpPr>
          <p:cNvPr id="1107" name="content-ref-label"/>
          <p:cNvSpPr/>
          <p:nvPr/>
        </p:nvSpPr>
        <p:spPr>
          <a:xfrm>
            <a:off x="640080" y="2606040"/>
            <a:ext cx="283320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rPr>
              <a:t>IEEE Milestone: Shakey</a:t>
            </a:r>
            <a:endParaRPr lang="en-US" sz="1050" b="0" u="none" strike="noStrike">
              <a:solidFill>
                <a:srgbClr val="000000"/>
              </a:solidFill>
              <a:effectLst/>
              <a:uFillTx/>
              <a:latin typeface="Arial"/>
            </a:endParaRPr>
          </a:p>
        </p:txBody>
      </p:sp>
      <p:sp>
        <p:nvSpPr>
          <p:cNvPr id="1108" name="content-ref-url"/>
          <p:cNvSpPr/>
          <p:nvPr/>
        </p:nvSpPr>
        <p:spPr>
          <a:xfrm>
            <a:off x="3474720" y="2606040"/>
            <a:ext cx="5302080" cy="16308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889" b="0" u="sng" strike="noStrike">
                <a:solidFill>
                  <a:srgbClr val="0563C1"/>
                </a:solidFill>
                <a:effectLst/>
                <a:uFillTx/>
                <a:latin typeface="Aptos"/>
                <a:hlinkClick r:id="rId4"/>
              </a:rPr>
              <a:t>https://ethw.org/Milestones%3ASHAKEY%3A_The_World%E2%80%99s_First_Mobile_Intelligent_Robot%2C_1972</a:t>
            </a:r>
            <a:endParaRPr lang="en-US" sz="889" b="0" u="none" strike="noStrike">
              <a:solidFill>
                <a:srgbClr val="000000"/>
              </a:solidFill>
              <a:effectLst/>
              <a:uFillTx/>
              <a:latin typeface="Arial"/>
            </a:endParaRPr>
          </a:p>
        </p:txBody>
      </p:sp>
      <p:sp>
        <p:nvSpPr>
          <p:cNvPr id="1109" name="content-ref-label"/>
          <p:cNvSpPr/>
          <p:nvPr/>
        </p:nvSpPr>
        <p:spPr>
          <a:xfrm>
            <a:off x="640080" y="3108960"/>
            <a:ext cx="283320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rPr>
              <a:t>Shakey image used</a:t>
            </a:r>
            <a:endParaRPr lang="en-US" sz="1050" b="0" u="none" strike="noStrike">
              <a:solidFill>
                <a:srgbClr val="000000"/>
              </a:solidFill>
              <a:effectLst/>
              <a:uFillTx/>
              <a:latin typeface="Arial"/>
            </a:endParaRPr>
          </a:p>
        </p:txBody>
      </p:sp>
      <p:sp>
        <p:nvSpPr>
          <p:cNvPr id="1110" name="content-ref-url"/>
          <p:cNvSpPr/>
          <p:nvPr/>
        </p:nvSpPr>
        <p:spPr>
          <a:xfrm>
            <a:off x="3474720" y="3108960"/>
            <a:ext cx="5302080" cy="16308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889" b="0" u="sng" strike="noStrike">
                <a:solidFill>
                  <a:srgbClr val="0563C1"/>
                </a:solidFill>
                <a:effectLst/>
                <a:uFillTx/>
                <a:latin typeface="Aptos"/>
                <a:hlinkClick r:id="rId5"/>
              </a:rPr>
              <a:t>https://robogeek.ru/files/blogs/0004/2301/_cache/fit650x800-shakey.jpg</a:t>
            </a:r>
            <a:endParaRPr lang="en-US" sz="889" b="0" u="none" strike="noStrike">
              <a:solidFill>
                <a:srgbClr val="000000"/>
              </a:solidFill>
              <a:effectLst/>
              <a:uFillTx/>
              <a:latin typeface="Arial"/>
            </a:endParaRPr>
          </a:p>
        </p:txBody>
      </p:sp>
      <p:sp>
        <p:nvSpPr>
          <p:cNvPr id="1111" name="content-ref-label"/>
          <p:cNvSpPr/>
          <p:nvPr/>
        </p:nvSpPr>
        <p:spPr>
          <a:xfrm>
            <a:off x="640080" y="3611880"/>
            <a:ext cx="2833200" cy="16308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rPr>
              <a:t>Chapter images</a:t>
            </a:r>
            <a:endParaRPr lang="en-US" sz="1050" b="0" u="none" strike="noStrike">
              <a:solidFill>
                <a:srgbClr val="000000"/>
              </a:solidFill>
              <a:effectLst/>
              <a:uFillTx/>
              <a:latin typeface="Arial"/>
            </a:endParaRPr>
          </a:p>
        </p:txBody>
      </p:sp>
      <p:sp>
        <p:nvSpPr>
          <p:cNvPr id="1112" name="content-ref-url"/>
          <p:cNvSpPr/>
          <p:nvPr/>
        </p:nvSpPr>
        <p:spPr>
          <a:xfrm>
            <a:off x="3474720" y="3611880"/>
            <a:ext cx="5302080" cy="16308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889" b="0" u="none" strike="noStrike">
                <a:solidFill>
                  <a:srgbClr val="1E1E1E"/>
                </a:solidFill>
                <a:effectLst/>
                <a:uFillTx/>
                <a:latin typeface="Aptos"/>
              </a:rPr>
              <a:t>Uploaded Chapter_1.docx and Chapter_2.docx course materials</a:t>
            </a:r>
            <a:endParaRPr lang="en-US" sz="889"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3" name="decor-background"/>
          <p:cNvSpPr/>
          <p:nvPr/>
        </p:nvSpPr>
        <p:spPr>
          <a:xfrm>
            <a:off x="0" y="0"/>
            <a:ext cx="9142560" cy="5142240"/>
          </a:xfrm>
          <a:prstGeom prst="rect">
            <a:avLst/>
          </a:prstGeom>
          <a:solidFill>
            <a:srgbClr val="091F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14" name="decor-accent"/>
          <p:cNvSpPr/>
          <p:nvPr/>
        </p:nvSpPr>
        <p:spPr>
          <a:xfrm>
            <a:off x="0" y="0"/>
            <a:ext cx="71640" cy="5142240"/>
          </a:xfrm>
          <a:prstGeom prst="rect">
            <a:avLst/>
          </a:prstGeom>
          <a:solidFill>
            <a:srgbClr val="F2A122"/>
          </a:solidFill>
          <a:ln>
            <a:noFill/>
          </a:ln>
        </p:spPr>
        <p:style>
          <a:lnRef idx="1">
            <a:schemeClr val="accent1"/>
          </a:lnRef>
          <a:fillRef idx="3">
            <a:schemeClr val="accent1"/>
          </a:fillRef>
          <a:effectRef idx="2">
            <a:schemeClr val="accent1"/>
          </a:effectRef>
          <a:fontRef idx="minor"/>
        </p:style>
        <p:txBody>
          <a:bodyPr lIns="36000" tIns="45000" rIns="36000" bIns="45000" anchor="ctr">
            <a:noAutofit/>
          </a:bodyPr>
          <a:p>
            <a:endParaRPr lang="en-US" sz="1800" b="0" u="none" strike="noStrike">
              <a:solidFill>
                <a:schemeClr val="lt1"/>
              </a:solidFill>
              <a:effectLst/>
              <a:uFillTx/>
              <a:latin typeface="Calibri"/>
            </a:endParaRPr>
          </a:p>
        </p:txBody>
      </p:sp>
      <p:sp>
        <p:nvSpPr>
          <p:cNvPr id="1115" name="decor-section"/>
          <p:cNvSpPr/>
          <p:nvPr/>
        </p:nvSpPr>
        <p:spPr>
          <a:xfrm>
            <a:off x="320040" y="182880"/>
            <a:ext cx="3107520" cy="19980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700" b="1" u="none" strike="noStrike">
                <a:solidFill>
                  <a:srgbClr val="F8BE48"/>
                </a:solidFill>
                <a:effectLst/>
                <a:uFillTx/>
                <a:latin typeface="Aptos"/>
              </a:rPr>
              <a:t>COMP 469 · Chapters 1 &amp; 2 Expanded</a:t>
            </a:r>
            <a:endParaRPr lang="en-US" sz="700" b="0" u="none" strike="noStrike">
              <a:solidFill>
                <a:srgbClr val="000000"/>
              </a:solidFill>
              <a:effectLst/>
              <a:uFillTx/>
              <a:latin typeface="Arial"/>
            </a:endParaRPr>
          </a:p>
        </p:txBody>
      </p:sp>
      <p:sp>
        <p:nvSpPr>
          <p:cNvPr id="1116" name="content-title"/>
          <p:cNvSpPr/>
          <p:nvPr/>
        </p:nvSpPr>
        <p:spPr>
          <a:xfrm>
            <a:off x="320040" y="658440"/>
            <a:ext cx="8136720" cy="68436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2900" b="1" u="none" strike="noStrike">
                <a:solidFill>
                  <a:srgbClr val="FFFFFF"/>
                </a:solidFill>
                <a:effectLst/>
                <a:uFillTx/>
                <a:latin typeface="Aptos Display"/>
              </a:rPr>
              <a:t>Final questions</a:t>
            </a:r>
            <a:endParaRPr lang="en-US" sz="2900" b="0" u="none" strike="noStrike">
              <a:solidFill>
                <a:srgbClr val="000000"/>
              </a:solidFill>
              <a:effectLst/>
              <a:uFillTx/>
              <a:latin typeface="Arial"/>
            </a:endParaRPr>
          </a:p>
        </p:txBody>
      </p:sp>
      <p:sp>
        <p:nvSpPr>
          <p:cNvPr id="1117" name="content-subtitle"/>
          <p:cNvSpPr/>
          <p:nvPr/>
        </p:nvSpPr>
        <p:spPr>
          <a:xfrm>
            <a:off x="347400" y="1417320"/>
            <a:ext cx="7679520" cy="41004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500" b="0" u="none" strike="noStrike">
                <a:solidFill>
                  <a:srgbClr val="DCE8F4"/>
                </a:solidFill>
                <a:effectLst/>
                <a:uFillTx/>
                <a:latin typeface="Aptos"/>
              </a:rPr>
              <a:t>Connect this lecture to the rest of the course.</a:t>
            </a:r>
            <a:endParaRPr lang="en-US" sz="1500" b="0" u="none" strike="noStrike">
              <a:solidFill>
                <a:srgbClr val="000000"/>
              </a:solidFill>
              <a:effectLst/>
              <a:uFillTx/>
              <a:latin typeface="Arial"/>
            </a:endParaRPr>
          </a:p>
        </p:txBody>
      </p:sp>
      <p:sp>
        <p:nvSpPr>
          <p:cNvPr id="1118" name="decor-footer"/>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1119" name="content-next"/>
          <p:cNvSpPr/>
          <p:nvPr/>
        </p:nvSpPr>
        <p:spPr>
          <a:xfrm>
            <a:off x="731520" y="2057400"/>
            <a:ext cx="7679520" cy="410040"/>
          </a:xfrm>
          <a:prstGeom prst="rect">
            <a:avLst/>
          </a:prstGeom>
          <a:noFill/>
          <a:ln w="0">
            <a:noFill/>
          </a:ln>
        </p:spPr>
        <p:style>
          <a:lnRef idx="0"/>
          <a:fillRef idx="0"/>
          <a:effectRef idx="0"/>
          <a:fontRef idx="minor"/>
        </p:style>
        <p:txBody>
          <a:bodyPr lIns="45720" tIns="45000" rIns="45720" bIns="45000" anchor="t">
            <a:normAutofit fontScale="92500" lnSpcReduction="9999"/>
          </a:bodyPr>
          <a:p>
            <a:pPr algn="ctr">
              <a:lnSpc>
                <a:spcPct val="100000"/>
              </a:lnSpc>
            </a:pPr>
            <a:r>
              <a:rPr lang="en-US" sz="2400" b="1" u="none" strike="noStrike">
                <a:solidFill>
                  <a:srgbClr val="FFFFFF"/>
                </a:solidFill>
                <a:effectLst/>
                <a:uFillTx/>
                <a:latin typeface="Aptos"/>
              </a:rPr>
              <a:t>Next: problem-solving agents and search</a:t>
            </a:r>
            <a:endParaRPr lang="en-US" sz="2400" b="0" u="none" strike="noStrike">
              <a:solidFill>
                <a:srgbClr val="000000"/>
              </a:solidFill>
              <a:effectLst/>
              <a:uFillTx/>
              <a:latin typeface="Arial"/>
            </a:endParaRPr>
          </a:p>
        </p:txBody>
      </p:sp>
      <p:sp>
        <p:nvSpPr>
          <p:cNvPr id="1120" name="content-sub"/>
          <p:cNvSpPr/>
          <p:nvPr/>
        </p:nvSpPr>
        <p:spPr>
          <a:xfrm>
            <a:off x="1051560" y="2788920"/>
            <a:ext cx="7039440" cy="382680"/>
          </a:xfrm>
          <a:prstGeom prst="rect">
            <a:avLst/>
          </a:prstGeom>
          <a:noFill/>
          <a:ln w="0">
            <a:noFill/>
          </a:ln>
        </p:spPr>
        <p:style>
          <a:lnRef idx="0"/>
          <a:fillRef idx="0"/>
          <a:effectRef idx="0"/>
          <a:fontRef idx="minor"/>
        </p:style>
        <p:txBody>
          <a:bodyPr lIns="45720" tIns="45000" rIns="45720" bIns="45000" anchor="t">
            <a:normAutofit fontScale="77500" lnSpcReduction="19999"/>
          </a:bodyPr>
          <a:p>
            <a:pPr algn="ctr">
              <a:lnSpc>
                <a:spcPct val="100000"/>
              </a:lnSpc>
            </a:pPr>
            <a:r>
              <a:rPr lang="en-US" sz="1550" b="0" u="none" strike="noStrike">
                <a:solidFill>
                  <a:srgbClr val="E1EAF6"/>
                </a:solidFill>
                <a:effectLst/>
                <a:uFillTx/>
                <a:latin typeface="Aptos"/>
              </a:rPr>
              <a:t>BFS, DFS, UCS, A*, and heuristic reasoning begin from the agent framework you learned today.</a:t>
            </a:r>
            <a:endParaRPr lang="en-US" sz="15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836</TotalTime>
  <Application>LibreOffice/26.2.4.2$Linux_X86_64 LibreOffice_project/620$Build-2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2026-06-07T05:41:19Z</dcterms:created>
  <dc:creator>COMP 469</dc:creator>
  <dc:description/>
  <dc:language>en-US</dc:language>
  <cp:lastModifiedBy/>
  <dcterms:modified xsi:type="dcterms:W3CDTF">2026-07-12T10:17:11Z</dcterms:modified>
  <cp:revision>17</cp:revision>
  <dc:subject>PptxGenJS Presentation</dc:subject>
  <dc:title>COMP 469 – Chapters 1 &amp; 2: Introduction + Intelligent Agents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32</vt:i4>
  </property>
  <property fmtid="{D5CDD505-2E9C-101B-9397-08002B2CF9AE}" pid="3" name="PresentationFormat">
    <vt:lpwstr>On-screen Show (16:9)</vt:lpwstr>
  </property>
  <property fmtid="{D5CDD505-2E9C-101B-9397-08002B2CF9AE}" pid="4" name="Slides">
    <vt:i4>32</vt:i4>
  </property>
</Properties>
</file>