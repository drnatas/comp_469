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Open the class here.
Frame the whole lecture in one sentence before touching a formula: for four lectures we have assumed somebody hands us the model. Today we take that away and the agent has to learn by doing.
Attribution note: this deck follows the structure of Berkeley CS 188 Lecture 11 and the AIMA 4e treatment in Chapter 22. Tell students the Berkeley slides and demos are freely available at ai.berkeley.edu if they want a second pass.
Housekeeping to mention now, not later: Project 3 is the crawler and gridworld Q-learning agent, so everything today is directly implementable.
-------------------------------------------------------------
PACING PLAN FOR A 120-MINUTE SLOT
-------------------------------------------------------------
  0:00   Part 1  Why learning is not planning        12 min
  0:12   Part 1  Motivating problems                  9 min
  0:21   Part 2  RL as an unknown MDP                 4 min
  0:25   Part 3  Model-based learning                14 min
  0:39   Part 4  Model-free, the age argument         7 min
  0:46   Part 5  Passive RL and direct evaluation    14 min
  1:00   BREAK                                       10 min
  1:10   Part 6  Temporal difference learning        20 min
  1:30   Part 7  Q-learning                          26 min
  1:56   Part 8  Wrap-up and next session             8 min
  2:04   ends with four minutes of slack
Slides marked OPTIONAL in their notes add 25 minutes of material. Drop them first if you fall behind; keep them if your section runs long or if you are splitting this across two 75-minute meetings.
Two things not to cut under any circumstances: the direct-evaluation critique where B and E disagree, and the Q-learning worked trace. Those two slides carry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Draw the arc explicitly. Each row removed one convenience.
Search: the world is deterministic and fully known, so a sequence of actions is enough.
MDPs: outcomes became stochastic, so a sequence is not enough and we needed a policy - but we still knew T and R.
Today: T and R go away. That is the only change. Everything else in the formalism survives intact.
Ask the room before advancing: 'if you do not know T, which of the algorithms from last lecture still runs?' The honest answer is none of them, and that is the problem we solve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objectives 5 and 6 aloud and say plainly that these are the exam mechanics. Students consistently under-practise doing the updates by hand and then lose points for arithmetic, not for concepts.
Objective 3 is the conceptual hinge of the whole lecture. If they only remember one sentence, it should be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OPTIONAL, cut this first if you are behind] Point out the gap deliberately. AIMA 22.3.1 and 22.3.2 are the exploration material and we are not covering it today - we will end the lecture at exactly the point where it becomes unavoidable.
Tell students that AIMA calls direct evaluation 'direct utility estimation' and calls model-based RL 'adaptive dynamic programming'. Berkeley uses different names for the same algorithms. They will see both in the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is deliberate revision. Do not rush it - the contrast on the next slide only lands if this one is fresh.
Emphasise the word 'offline'. In the MDP setting you can imagine falling into the pit a thousand times and it costs nothing, because the falling happens inside a model. The three blue boxes are inputs; the green box is the output.
Ask: 'which of these four is the agent actually trying to produce?' Answer: the policy. That stays true today. Only the inputs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Put the two formula slides side by side mentally for the class. The equation is character-for-character identical except that two terms became question marks.
Stress the last row hardest. In search, an unexplored frontier node is still there if the current plan fails - you can back up. In RL there is no backing up. If you jump in the fire, you have jumped in the fire.
Concrete example students respond to: learning to fly a helicopter by RL means you will destroy several helicopters. That is not a flaw in the algorithm, it is the cost structure of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Everything in this lecture is an answer to one question: what can you do with a stream of these four-tuples?
Two assumptions worth naming out loud now:
1. Full observability. The agent always knows which state it is in. Drop that and you get a POMDP, which we handle much later in the course.
2. The reward arrives per transition, not at the end. The agent is maximising the discounted SUM, which is why a locally negative step can be correct.
Good moment for the hopping-robot intuition: a one-legged hopper has to push slightly backward on each step to move net forward. No greedy view of a single reward would ever discover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If you have the Berkeley video clips, play the AIBO walk here: initial, training, finished. Roughly 1,000 trials between the first and last clip.
The pedagogically important observation is the contrast between case 2 and case 1. A student will reasonably object to case 1: 'I could hand-script a walking gait for a four-legged robot.' Concede that. Then point at the snake. Twelve coupled joints where the forces have to sum correctly is not something a person writes down.
Also note the hybrid path used in practice: train in a best-guess simulator, then polish with real-world RL. Simulation is only as good as your model, and the residual is exactly what RL is for.
Start the crawler applet running in the background now and leave it running for the rest of the lecture. Students will watch it improve while you lecture, which does more for intuition than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Play this for laughs and then turn it. Students remember the joke and the joke carries the lesson.
The serious version is reward hacking, and it is worth naming real cases: a boat-racing agent that learned to spin in circles collecting respawning power-ups instead of finishing the race; a simulated robot that learned to topple over rather than walk because the reward measured height of the head.
Tie it to their own work: in Project 3 you will choose living rewards and discount factors. Those choices are the reward design, and small changes flip the optimal policy from 'take the safe long path' to 'risk the cliff'.
Security-minded framing that lands well with this cohort: the reward function is the specification, and anything unspecified is fair game for the optimiser. That is the same failure mode as an overly permissive access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slot machine framing from last lecture is the cleanest anchor: you cannot learn a machine's payout without putting money in. There is no way to reason your way to the answer from the outside.
Draw out the consequence that motivates the second half of the course: because actions are real and irreversible, the agent has to decide on every single step whether to do what currently looks best or to try something it has poor data on. That is exploration versus exploitation, and we will end today's lecture right at its doorstep.
Do not resolve the tension yet. Just plant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Short slide. The reason it exists is that students conflate 'episode' with 'iteration' and then misread every algorithm that follows.
Make the reset explicit: the agent's position resets, its learned values do not. Ask what would happen if the values reset too - answer, nothing is ever learned, you just re-run the same first episode forever.
The continuing-task case connects back to why gamma exists. If there is no terminal state, an undiscounted sum of rewards diverges.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Insist on the phrase 'withheld' rather than 'nonexistent'. The MDP is real; the agent just cannot read it. That distinction matters because it is why convergence proofs are even possible - there is a true Q* out there to converge to.
Gridworld example students already have in their heads: you do not know whether the exit in the corner pays +10 or -10 until you go there and pull the lever.
The statistical point on the right is worth a beat. One trial of a stochastic action tells you almost nothing about its distribution. This is the same sample-size question as the slot machine, and it is why 'how many trials before I trust this estimate' will hang over everything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Give the map before the details so students can place each algorithm as it arrives.
Model-based is built first because it reuses everything from last lecture: learn the MDP, then solve it with value iteration. It is the stepping stone, not the destination.
Within model-free, the passive/active split is about who chooses the actions. Passive means a fixed policy is handed to you and you evaluate it. Active means you choose, and you are after the optimal policy.
Say plainly why model-free wins in practice: the model can be enormous and irrelevant. To play well you need to know which moves are good, not the full distribution over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including discussion  ·  OPTIONAL, cut this first if you are behind] Let them actually talk. Two minutes of pair discussion, then cold-call two or three groups.
Expected wrong answer to B: 'T(s,a,s') = 1'. That is the maximum-likelihood estimate from one sample, and it is technically what counting gives you - but it is nearly worthless. Push on the difference between an estimate and a trustworthy estimate.
Question C is the one that gets the room talking. Expect answers about metrics gaming, ticket-closure rates, click-through, standardised test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cut this first if you are behind] Answer B is the pivot into the next section. Say it explicitly: the weakness they just identified in a one-sample estimate is precisely the first of four problems with model-based learning, and we are about to build the method anyway so they can see it fail on its own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pitch is genuinely appealing and you should sell it before you attack it: we already know how to solve MDPs, so the only missing piece is the MDP itself. Go get it.
Note the asymmetry between T and R. Transitions are stochastic and need counting. Rewards in most course problems are deterministic given (s, a, s'), so one observation pins them down. If rewards were noisy you would average them the same way.
Flag the recompute cost now: value iteration over the whole state space, run again every time the model updates. On a large problem that is expensive, and it is one reason people reach for model-free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Spend the time here so you never have to re-explain the layout. Every worked example for the next forty minutes lives on this grid.
The single most important line is the last one. C going east is stochastic - sometimes it slips to A. That is what makes this an MDP rather than a graph, and it is why one episode through C is not enough to know what C is worth.
Note that the policy is given to us. We are not choosing actions yet. That is the passive setting and it holds until the Q-learning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Walk episode 1 out loud, transition by transition, so the notation is unambiguous: state, action, next state, reward.
Then contrast episodes 3 and 4. Identical opening, identical action from C, different landing state. Ask the class what that tells them - the answer you want is that C's east action is stochastic, and that no single episode could have revealed that.
Count the transitions with them: 3 + 3 + 3 + 3 = 12. It is worth saying the number out loud because students imagine RL needs enormous data before anything can be computed, and we are about to compute a full model from twelve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Do this one live rather than reading it. Ask the class to count with you: 'how many times did the agent take east from C?' Four. 'How many landed in D?' Three. So T-hat of D given C, east is three quarters.
Then ask the sharper question: is the true transition probability 0.75? Almost certainly not. It is whatever the environment's real parameter is - probably 0.8 in a standard gridworld. Four samples gave us 0.75. That gap is sampling noise and it does not go away by wishing.
Point at B: T-hat of C given B, east equals 1.00 from two samples. The model now asserts this transition is deterministic. It might be, or we might have been lucky twice. The model has no way to express its own uncertainty, which is a real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cut this first if you are behind] The point to make is that step 2 is free intellectual work - we already did it last lecture. All the difficulty in model-based RL lives in step 1.
The third bullet under 'what this buys you' is underappreciated and worth calling out: because you have an explicit model, you can change the reward function and re-plan without collecting a single new sample. Model-free methods cannot do that - they would have to relearn from scratch. That is a genuine advantage and the main reason model-based methods are still researched hard.
The storage line lands well with this cohort if you make it concrete: a modest problem with 10,000 states and 4 actions needs 400 million transition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Run this as discussion rather than exposition. Ask 'what could go wrong here?' and let them generate the list; they will usually find 1 and 3 on their own, sometimes 2, almost never 4.
Problem 2 deserves a concrete instance: under this fixed policy the agent never goes west from B. So the model has no entry at all for (B, west). Value iteration on that model will happily produce a policy that is optimal for a world where west does not exist.
Problem 4 is the deepest and the one to leave hanging. Every algorithm today describes what to do with experience once it arrives. None of them says how to steer the agent toward the experience it most needs. That gap is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detour is the conceptual centre of the lecture. Do not hurry it, and do not let students dismiss it as obvious.
Actually do it live if the room is small enough: ask four or five students their age and write the numbers on the board. Then ask the class which of the two boxes they would use. Almost everyone says average the numbers, because it is obviously the sane thing to do.
Then make the point that will pay off for the next hour: nobody in this room would build a histogram of ages first. But that is exactly what model-based RL does. Estimate the distribution, then take the weighted average against it.
Set up the next slide by asking WHY the right-hand box works. Do not answer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sentence to get exactly right: probability shows up as frequency. You never have to write the probability down because the sampling process already applied it for you.
Point at the left panel of the figure. The grey bars are the true distribution, the red outlines are what 400 samples actually delivered. They line up, and nobody had to estimate anything to make that happen.
Right panel: both estimators converge to the same 21.33. Model-based is slightly smoother early on, which is a genuine and general property - it can be more sample-efficient. But it needed to store and maintain a distribution to get there, and the model-free line needed one running number.
If a student asks which is better: neither, and that is the honest answer. Model-free wins in practice because the model is often enormous and mostly irrelevant to acting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Slow down. Read the big sentence aloud, then pause.
Tell students explicitly: if you retain one sentence from this lecture, retain that one. Everything from here is bookkeeping about which average to take and how often to update it.
Preview the three answers so the structure is visible in advance:
- Direct evaluation averages whole returns, one per visit, at the end of the episode.
- TD learning averages one-step samples, immediately, on every transition.
- Q-learning does the same but on state-action pairs, which turns out to solve the control problem as well.
Then move. Do not over-explain a slide whose job is to be memorable.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distinction students lose is between policy evaluation and control. Say it three different ways.
Policy evaluation: here is a policy, how good is it? Control: find me a good policy. Today's first half only does evaluation, and the second half does control.
The red box exists because students hear 'fixed policy, just watching' and mentally file it under planning. It is not. The transitions are real, the rewards are real, the pit is real. The only thing that has been taken away is the agent's freedom to choose.
Analogy that works: a new analyst shadowing an experienced one. They are not making the decisions, but they are in the room and the incidents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Emphasise the word 'total' in step 2. This is the single most common error when students do it by hand: they write down the immediate reward, or the final reward, instead of the sum of everything from that point on.
Say the definition of a return out loud and make them repeat the structure: the sample value of a state on one visit is the sum of all rewards received from that visit to the end of the episode.
The last line is deliberately provocative. Let it sit. We are going to build the method carefully and then show exactly why it is abandoned - that sequence teaches better than skipping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Do this on the board with them, not off the slide. Ask for V(B) before revealing it and expect to hear both −1 and +10 from the room.
The C row carries the subtlety worth dwelling on: the first −1, the step that got the agent from B to C, does not appear in C's return. It was paid before arriving. A state's value is about the future, and past costs are sunk.
If gamma were less than 1, note that each term would be discounted by its distance: r + gamma r' + gamma squared r''. Here gamma is 1 so the arithmetic stays clean, which is exactly why the example is set up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the states in order of difficulty.
A was visited once and returned −10. B was visited twice, both times returning +8. D returned +10 three times. Those are easy.
C is where the lesson is. Three episodes went through D and returned 9. The fourth slipped to A: a −1 living reward plus a −10 pit, so −11 for that episode. Mean of 9, 9, 9, −11 is 16 over 4, which is +4.
E is worth one extra beat because students miscompute it. Two visits: episode 3 returned −1 −1 +10 = 8, episode 4 returned −1 −1 −10 = −12. Mean is −2.
Now set the hook for the next slide: ask whether anything about these five numbers looks wrong. Do not answer.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This is the most important slide in the first half. Give it room.
Establish the structural fact first: under this policy, B goes east to C and E goes north to C. Both land in C with a −1 step. Whatever C is worth, B and E are worth exactly one step less than it. They cannot differ.
Direct evaluation reports +8 and −2, a fourteen-point spread, purely because B's two episodes happened to avoid the pit and one of E's did not.
The right panel is the one to make them look at. If you take the model we learned earlier and simply evaluate the policy on it, you get V(B) = V(E) = 3, and C = 4. Those numbers are consistent with each other. That is what using the connectivity buys you.
State the diagnosis plainly: direct evaluation treats every state as an independent estimation problem. It never uses the fact that B leads to C. So everything it learns about C has to be relearned from scratch for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cut this first if you are behind] The unbiasedness point in the left column is worth stating because it is the one real advantage direct evaluation retains, and a sharp student may raise it later when we discuss TD.
TD learning bootstraps: it updates one estimate using another estimate, which introduces bias early on. Direct evaluation never does, so it is unbiased but high variance. TD is biased but low variance. That bias-variance trade is the real comparison, and in practice the variance reduction wins decisively.
Do not go deeper than that today. Just plant the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cut this first if you are behind] This figure is generated from an actual run, not drawn by hand. Both methods see the same episodes from the same seed.
Read the axes for them: horizontal is episodes on a log scale, vertical is root mean squared error against the true values computed by value iteration.
Be honest about what the curves show. Direct evaluation starts lower - it is unbiased, so with very little data it is not systematically off. TD starts worse because it is bootstrapping off estimates that are all still zero. Then TD keeps improving as the estimates feed each other, which is the connectivity paying off.
The honest summary is the keyline: the issue is sample cost. In a simulator you might not care. On hardware, every episode is a real trial with real wear and real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Roughly the sixty-minute mark if you have kept pace.
Before you break, leave one question on the board for them to chew on: we know B leads to C, and we have an estimate for C. How could B use that estimate directly instead of waiting to watch its own episodes play out?
That is the TD update, and if anyone works it out over the break the second half writes itself.
Leave the crawler applet running through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Reconnect this to the B and E failure they just saw. The property in the second green row is the exact thing direct evaluation lacked.
Say the structural insight cleanly: this update reads a number from one step away and does not care what happens after that. The value of s' already summarises the entire future beyond it. That is the whole point of a value function.
Then land on the keyline as a genuine question. We have exactly one tool for removing a model - replace an expectation with a running average of samples. Ask them where the expectation is in this formula. It is the sum over s' weighted by T. That is the thing we are going to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Present the idea as if it works, let them nod along, then break it.
The formula is right. That is the frustrating part. If you could stand in state s and take the same action fifty times, averaging those samples would give you exactly the Bellman update with no model at all.
The obstacle is not mathematical, it is physical. You get one sample per visit and then you are somewhere else. Ask the class what they would do - the answer you are steering toward is: stop batching, update on every single sample as it arrives.
That reframe is the entire content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Show algebraically that forms two and three are identical - expand the third and the V terms collect. Students who have seen gradient descent recognise the third form instantly as a step proportional to an error.
Two things to nail down:
1. The sample uses V of s prime, the CURRENT estimate of the landing state. It is a guess, and early on it is a bad guess. TD bootstraps off its own estimates and it still works.
2. Likely outcomes contribute updates more often, purely because they happen more often. The weighting by T comes back for free through frequency, exactly as in the age example.
Remind them the policy is still fixed. Students start believing TD solves control at this point and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second bullet is the insight, and it is genuinely non-obvious. Students initially read the forgetting as a defect.
Argue it properly: a sample taken 200 transitions ago used whatever V(s') was believed at that time, and that belief was worse than the current one. So the old sample is contaminated by an old estimate, and discounting it is correct.
Right-hand panel: the true value jumps at sample 60. Alpha of 0.1 crawls to the new level, alpha of 0.5 gets there fast but rattles. That is the whole stability-versus-responsiveness trade in one picture.
For Project 3 tell them 0.1 to 0.5 is the practical range, and that the convergence guarantee needs alpha to shrink but not too fast. We show that failing empirically later in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The single most important worked example in the lecture. Do it slowly on the board alongside the slide.
Setup: gamma 1, alpha 0.5, everything believed to be 0 except D which is already believed to be 8.
Transition one, B east to C with reward −2. We are learning about B. Old estimate 0. Sample is −2 plus 1 times V(C), and V(C) is still 0, so the sample is −2. New V(B) is half of 0 plus half of −2, which is −1. Sanity check it aloud: B looked worth 0, we paid 2 to reach a state that still looks worthless, so B should drop. It did.
Transition two, C east to D with reward −2. Now we learn about C. Old estimate 0. Sample is −2 plus V(D) which is 8, so 6. New V(C) is half of 0 plus half of 6, which is 3. Again check the direction: C looked neutral, this transition revealed it leads toward the good exit, so it should rise. It did.
Ask why V(B) did not become 3 as well. It cannot yet - B's update happened before C knew anything. B improves the next time it is visited. That delay is the backward propagation we will see explicitly in the Q-learning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Students break this rule constantly on exams, updating the landing state instead of the departure state. Say it, show it, and say it again.
The last pair of bullets pre-empts a question that always comes up during Project 3: 'my agent ran two hundred steps and every Q-value is still zero, is it broken?' No. Until the first reward is actually collected there is nothing to propagate. The first nonzero value appears at the goal and then crawls outward.
Tell them that explicitly now and you will save yourself the office-hours traffic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Cover the answer box with a blank sheet, or animate it in, and give them the two minutes for real.
Question 4 is the diagnostic. If they say yes, they have not internalised the rule from the previous slide.
The keyline is the payoff and worth saying twice: E never went to D, never saw the +10, and its value still improved. Direct evaluation could not have done that - it would have had to wait for E's own episode to finish. This is the connectivity working, and it is the entire reason TD beats direct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a genuine dead end and it should feel like one. Do not rush to the fix.
Make the circularity explicit: RL exists because we do not have T and R. TD learning triumphantly evaluates a policy without them. Then the very first thing you want to do with that evaluation - improve the policy - needs T and R again.
Historical context is worth the minute. This is roughly where reinforcement learning sat for a long stretch. People knew how to evaluate a given policy from experience. Nobody knew how to use that to choose actions or learn optimal behaviour. The field could describe how good your current habits were and could not tell you how to change them.
Set up the obvious next question: why not just apply the same sampling trick to value iteration, which computes V star rather than V 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Work the left panel first and let the difficulty be felt.
The sum over s prime is not the problem - we already know how to sample that. The problem is the max over a sitting outside it. To take a max over actions you need a value for every action, which means comparing what different actions would do from the same state. On any given visit to s you execute exactly one action and see one outcome. You cannot rewind and try the other two to compare.
This blocked the field for a long time. Everyone knew they wanted this update and knew they wanted it as a running average, and the max was simply in the way.
Now the right panel. Write the same dynamic programming update for Q-values instead, assuming for a moment the model is known, just to look at the shape. The max moved inside the bracket. The outer averaging over s prime is exactly the same kind of average as before, so it can be sampled. And the inner max is over Q-values you are already storing for every action out of s prime - computing it costs nothing, because you already maintain all those numbers.
Say the punchline plainly: the choice of which action to bootstrap from became a free lookup instead of something requiring a second action in the same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cut this first if you are behind] The equivalence in the green box is worth pausing on. The best Q-value available at a state IS the value of that state. Nothing new is being tracked - it is the same information, indexed differently.
So why bother? Because the indexing is what you need at decision time. With V you know how good states are and still cannot rank actions. With Q you read off the row for your current state and take the largest entry.
Cost: you store |S| times |A| numbers instead of |S|. In a four-action gridworld that is four times the memory. That is the price of model-free action selection and it is a bargain.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Note that the deck's page counter is fine here; this is the algorithm slide students will photograph, so keep it clean and spend the time.
Walk the four lines as a loop the agent runs forever. Emphasise that step three uses max over a prime, the best action available from the landing state, not the action the agent actually takes next. That distinction is the whole of the next slide and the source of the off-policy property.
Point out what is being learned: one number per state-action pair. A gridworld cell with four moves is learning four Q-values simultaneously, even though only one of them corresponds to the eventual optimal action. The other three still get learned and still help along the way.
Tell them this is the update they implement in Project 3, and it is about four lines of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cut this first if you are behind] Reinforce the gradient-step reading. Students with a machine learning background will see this as stochastic gradient descent on squared temporal difference error, and that framing is correct and useful.
The word to attach is 'surprise'. The bracket measures how wrong the old belief was, and alpha decides how much of that surprise to act on. That is a good mental model for the rest of the course and for deep RL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Run this live in the gridworld applet if you have it; the table is the fallback and the reference.
Rows one and two are the ones students find disturbing and they are the most instructive. Zero old estimate, zero reward, zero bootstrap, so the update does literally nothing. That is correct behaviour, not a bug.
Row three is the first real information entering the system. A nonzero reward arrives at the exit and one Q-value becomes 0.50.
Row four is the mechanism that matters. A different action, in a different state, now lands in a square that has a nonzero value, so it inherits a fraction of it. The value moved one step backward through the grid.
Row five shows the same Q-value being revisited and climbing from 0.50 to 0.75. Repeated visits push it toward its true value. As the neighbour climbs, later visits to its predecessor climb correspondingly.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Let them look before you talk. The picture does the work.
Trace one path with a pointer from the exit backward to the start and narrate the bootstrapping chain: this square learned from that one, which learned from the exit.
Point out the red region around the −1 terminal spreading too. Bad news propagates by exactly the same mechanism, which is how the agent learns to keep its distance from the cliff.
This figure is generated from the same tabular Q-learning implementation they will write in Project 3. Nothing here is illustrative-only.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This result is not obviously possible and students should be told that it surprised the field. It is the property that unlocked modern RL.
If you have the applet, demonstrate it: deliberately and repeatedly walk the agent south into the −10 pit from a state whose other action is already estimated around 0.94. Two things visibly fail to happen. First, the good action's value does not degrade and keeps propagating backward normally. Second, the bad action does not even get flagged as clearly bad right away, because the pit-adjacent square still has other zero-valued escape routes and the update bootstraps off the best of them.
Practical consequence worth naming: this is why you can learn from logged data, from a human demonstrator, or from an old policy's replay buffer. The experience does not have to come from the policy you are trying to learn. That is the foundation of deep Q-networks and of offline RL generally.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cut this first if you are behind] Read the red curve first: that agent chose uniformly at random on every single step for 15,000 episodes. It never once tried to do well. Its Q-values still converged to within 0.02 of optimal.
Both axes are log scale, so the steady downward slope is genuine convergence rather than a plateau.
Anticipate the obvious objection: if random works, why explore cleverly at all? Two answers. First, the reward you collect while learning is terrible, and in the real world that cost is real. Second, in large state spaces random walking never reaches the interesting regions at all. Both push toward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These are not footnotes. They are the two things that will actually go wrong in Project 3.
Red curve: exploration set to 2 percent. The agent commits early, stops sampling, and the error flattens out around 0.33 and stays there. It looks converged. It is not - it is stuck.
Amber curve: constant alpha of 0.3. Notice it descends and then oscillates permanently. With a fixed learning rate every new sample yanks the estimate around by a fixed fraction, so it never settles. The visual signature is a noisy floor rather than a smooth descent.
Green is both conditions satisfied. Tell students to recognise these two signatures when debugging: a flat plateau means insufficient exploration, a noisy floor means alpha never shrank.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payoff slide for the whole lecture. Let it land.
Have them compare cell by cell. The numbers agree to roughly two decimal places almost everywhere, and the arrangement of which triangle is darkest - which is the greedy action - matches everywhere that matters.
Restate what the left panel actually had access to: a stream of (s, a, s', r) tuples produced by an agent choosing at random 70 percent of the time. No transition probabilities. No reward function. No lookahead. Four lines of update rule.
Then be honest about the caveat that motivates the rest of the course: this grid has eleven states. Everything here is a table indexed by state and action, and that table is hopeless for backgammon or Atari or anything with a camera. Fixing that is function approximation, which is where RL II ends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Close the loop opened in the very first section. Problem 4 with model-based learning was that nothing told the agent how to go get the data it needed. We have not solved that. We have built three algorithms that all assume the experience shows up somehow.
If the crawler applet is still running, demonstrate epsilon live. At around 40 percent random the crawler visibly flails and explores messily. Turn epsilon to zero and force it to always take its best known action, and it commits fully to what it has learned. The contrast is dramatic and students remember it.
Be honest about epsilon-greedy's weakness so RL II has somewhere to go: it explores uniformly, wasting effort on states it already understands. Better schemes direct exploration where uncertainty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the columns, not the rows. Each column is one algorithm's complete profile.
The two rows that matter are 'gives a policy' and 'finds optimal'. Direct evaluation and TD both answer 'how good is this policy'. Neither answers 'what should I do'. Q-learning answers both, and it does so because it indexes by action and takes a max.
The on/off policy row is the one students most often cannot explain on an exam. Make them say it back: Q-learning is off-policy because its bootstrap uses the best available action from the landing state, not the action the behaviour policy will actually take.
Note the gap in the model-based column under 'updates when'. It re-solves periodically rather than continuously, and that is a real practical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Read all five aloud. This is the slide students photograph.
If you are short of time, cut anything else and keep this. Numbers 2 and 5 are the conceptual load-bearing ones and are the most likely short-answer exam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cut this first if you are behind] Go through these briskly. The value is in naming them so students recognise the error when they are about to make it.
The last one is subtle and worth a sentence. In sample = r + gamma V(s'), gamma multiplies only the bootstrapped value. The immediate reward arrives now, so it is undiscounted. Students who have memorised the return formula sometimes discount r as well.
Trap five is the one that separates a B from an A. If a question asks how to improve a policy and the answer given is TD learning, that answer is wrong regardless of how well the update is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cut this first if you are behind] Question 3 is the bridge into next lecture and the one worth grading carefully. The two answers you want are: the reward collected during learning is real and a random policy collects almost none of it, and in a large state space a random walk never reaches the interesting states at all so convergence in the limit is worthless.
Push the Project 3 timing hard. Students who wait until after the exploration lecture end up implementing the update and the exploration strategy at the same time, and then cannot tell which one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OPTIONAL, cut this first if you are behind] Leave them with the scaling problem. It is the honest limitation of everything we did today and it is what makes the next lecture necessary rather than optional.
Concrete numbers land well here: backgammon has on the order of 10 to the 20 states. A single Atari screen has 256 to the power of 33,600 possible frames. No table survives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OPTIONAL, cut this first if you are behind] Point students at Sutton and Barto specifically. It is freely available from the authors and it is the book to read if any of today was interesting enough to pursue.
The attribution note matters. The Berkeley materials are openly licensed for exactly this kind of reuse and the courtesy of saying so is worth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52A"/>
        </a:solidFill>
      </p:bgPr>
    </p:bg>
    <p:spTree>
      <p:nvGrpSpPr>
        <p:cNvPr id="1" name=""/>
        <p:cNvGrpSpPr/>
        <p:nvPr/>
      </p:nvGrpSpPr>
      <p:grpSpPr>
        <a:xfrm>
          <a:off x="0" y="0"/>
          <a:ext cx="0" cy="0"/>
          <a:chOff x="0" y="0"/>
          <a:chExt cx="0" cy="0"/>
        </a:xfrm>
      </p:grpSpPr>
      <p:sp>
        <p:nvSpPr>
          <p:cNvPr id="2" name="Text 0"/>
          <p:cNvSpPr/>
          <p:nvPr/>
        </p:nvSpPr>
        <p:spPr>
          <a:xfrm>
            <a:off x="566928" y="1481328"/>
            <a:ext cx="7315200" cy="365760"/>
          </a:xfrm>
          <a:prstGeom prst="rect">
            <a:avLst/>
          </a:prstGeom>
          <a:noFill/>
          <a:ln/>
        </p:spPr>
        <p:txBody>
          <a:bodyPr wrap="square" lIns="0" tIns="0" rIns="0" bIns="0" rtlCol="0" anchor="ctr"/>
          <a:lstStyle/>
          <a:p>
            <a:pPr indent="0" marL="0">
              <a:buNone/>
            </a:pPr>
            <a:r>
              <a:rPr lang="en-US" sz="1400" b="1" spc="300" kern="0" dirty="0">
                <a:solidFill>
                  <a:srgbClr val="C8102E"/>
                </a:solidFill>
                <a:latin typeface="Calibri" pitchFamily="34" charset="0"/>
                <a:ea typeface="Calibri" pitchFamily="34" charset="-122"/>
                <a:cs typeface="Calibri" pitchFamily="34" charset="-120"/>
              </a:rPr>
              <a:t>COMP 469</a:t>
            </a:r>
            <a:endParaRPr lang="en-US" sz="1400" dirty="0"/>
          </a:p>
        </p:txBody>
      </p:sp>
      <p:sp>
        <p:nvSpPr>
          <p:cNvPr id="3" name="Text 1"/>
          <p:cNvSpPr/>
          <p:nvPr/>
        </p:nvSpPr>
        <p:spPr>
          <a:xfrm>
            <a:off x="566928" y="1847088"/>
            <a:ext cx="8229600" cy="365760"/>
          </a:xfrm>
          <a:prstGeom prst="rect">
            <a:avLst/>
          </a:prstGeom>
          <a:noFill/>
          <a:ln/>
        </p:spPr>
        <p:txBody>
          <a:bodyPr wrap="square" lIns="0" tIns="0" rIns="0" bIns="0" rtlCol="0" anchor="ctr"/>
          <a:lstStyle/>
          <a:p>
            <a:pPr indent="0" marL="0">
              <a:buNone/>
            </a:pPr>
            <a:r>
              <a:rPr lang="en-US" sz="1500" dirty="0">
                <a:solidFill>
                  <a:srgbClr val="A7A8AA"/>
                </a:solidFill>
                <a:latin typeface="Calibri" pitchFamily="34" charset="0"/>
                <a:ea typeface="Calibri" pitchFamily="34" charset="-122"/>
                <a:cs typeface="Calibri" pitchFamily="34" charset="-120"/>
              </a:rPr>
              <a:t>Introduction to Artificial Intelligence</a:t>
            </a:r>
            <a:endParaRPr lang="en-US" sz="1500" dirty="0"/>
          </a:p>
        </p:txBody>
      </p:sp>
      <p:sp>
        <p:nvSpPr>
          <p:cNvPr id="4" name="Text 2"/>
          <p:cNvSpPr/>
          <p:nvPr/>
        </p:nvSpPr>
        <p:spPr>
          <a:xfrm>
            <a:off x="566928" y="2450592"/>
            <a:ext cx="10424160" cy="10515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Reinforcement Learning I</a:t>
            </a:r>
            <a:endParaRPr lang="en-US" sz="4600" dirty="0"/>
          </a:p>
        </p:txBody>
      </p:sp>
      <p:sp>
        <p:nvSpPr>
          <p:cNvPr id="5" name="Text 3"/>
          <p:cNvSpPr/>
          <p:nvPr/>
        </p:nvSpPr>
        <p:spPr>
          <a:xfrm>
            <a:off x="566928" y="3547872"/>
            <a:ext cx="10424160" cy="402336"/>
          </a:xfrm>
          <a:prstGeom prst="rect">
            <a:avLst/>
          </a:prstGeom>
          <a:noFill/>
          <a:ln/>
        </p:spPr>
        <p:txBody>
          <a:bodyPr wrap="square" lIns="0" tIns="0" rIns="0" bIns="0" rtlCol="0" anchor="ctr"/>
          <a:lstStyle/>
          <a:p>
            <a:pPr indent="0" marL="0">
              <a:buNone/>
            </a:pPr>
            <a:r>
              <a:rPr lang="en-US" sz="1700" dirty="0">
                <a:solidFill>
                  <a:srgbClr val="C3C7CB"/>
                </a:solidFill>
                <a:latin typeface="Calibri" pitchFamily="34" charset="0"/>
                <a:ea typeface="Calibri" pitchFamily="34" charset="-122"/>
                <a:cs typeface="Calibri" pitchFamily="34" charset="-120"/>
              </a:rPr>
              <a:t>Model-Based Learning  ·  Temporal Difference Learning  ·  Q-Learning</a:t>
            </a:r>
            <a:endParaRPr lang="en-US" sz="1700" dirty="0"/>
          </a:p>
        </p:txBody>
      </p:sp>
      <p:sp>
        <p:nvSpPr>
          <p:cNvPr id="6" name="Shape 4"/>
          <p:cNvSpPr/>
          <p:nvPr/>
        </p:nvSpPr>
        <p:spPr>
          <a:xfrm>
            <a:off x="566928" y="4224528"/>
            <a:ext cx="1463040" cy="32004"/>
          </a:xfrm>
          <a:prstGeom prst="rect">
            <a:avLst/>
          </a:prstGeom>
          <a:solidFill>
            <a:srgbClr val="C8102E"/>
          </a:solidFill>
          <a:ln/>
        </p:spPr>
      </p:sp>
      <p:sp>
        <p:nvSpPr>
          <p:cNvPr id="7" name="Text 5"/>
          <p:cNvSpPr/>
          <p:nvPr/>
        </p:nvSpPr>
        <p:spPr>
          <a:xfrm>
            <a:off x="566928" y="4498848"/>
            <a:ext cx="8778240" cy="1097280"/>
          </a:xfrm>
          <a:prstGeom prst="rect">
            <a:avLst/>
          </a:prstGeom>
          <a:noFill/>
          <a:ln/>
        </p:spPr>
        <p:txBody>
          <a:bodyPr wrap="square" lIns="0" tIns="0" rIns="0" bIns="0" rtlCol="0" anchor="ctr"/>
          <a:lstStyle/>
          <a:p>
            <a:pPr indent="0" marL="0">
              <a:lnSpc>
                <a:spcPct val="130000"/>
              </a:lnSpc>
              <a:buNone/>
            </a:pPr>
            <a:r>
              <a:rPr lang="en-US" sz="1250" b="1" dirty="0">
                <a:solidFill>
                  <a:srgbClr val="A7A8AA"/>
                </a:solidFill>
                <a:latin typeface="Calibri" pitchFamily="34" charset="0"/>
                <a:ea typeface="Calibri" pitchFamily="34" charset="-122"/>
                <a:cs typeface="Calibri" pitchFamily="34" charset="-120"/>
              </a:rPr>
              <a:t>California State University Channel Islands</a:t>
            </a:r>
            <a:endParaRPr lang="en-US" sz="1250" dirty="0"/>
          </a:p>
          <a:p>
            <a:pPr indent="0" marL="0">
              <a:lnSpc>
                <a:spcPct val="130000"/>
              </a:lnSpc>
              <a:buNone/>
            </a:pPr>
            <a:r>
              <a:rPr lang="en-US" sz="1250" dirty="0">
                <a:solidFill>
                  <a:srgbClr val="A7A8AA"/>
                </a:solidFill>
                <a:latin typeface="Calibri" pitchFamily="34" charset="0"/>
                <a:ea typeface="Calibri" pitchFamily="34" charset="-122"/>
                <a:cs typeface="Calibri" pitchFamily="34" charset="-120"/>
              </a:rPr>
              <a:t>AIMA 4th edition, Sections 22.1 – 22.3</a:t>
            </a:r>
            <a:endParaRPr lang="en-US" sz="1250" dirty="0"/>
          </a:p>
          <a:p>
            <a:pPr indent="0" marL="0">
              <a:lnSpc>
                <a:spcPct val="130000"/>
              </a:lnSpc>
              <a:buNone/>
            </a:pPr>
            <a:r>
              <a:rPr lang="en-US" sz="1250" dirty="0">
                <a:solidFill>
                  <a:srgbClr val="A7A8AA"/>
                </a:solidFill>
                <a:latin typeface="Calibri" pitchFamily="34" charset="0"/>
                <a:ea typeface="Calibri" pitchFamily="34" charset="-122"/>
                <a:cs typeface="Calibri" pitchFamily="34" charset="-120"/>
              </a:rPr>
              <a:t>Adapted from UC Berkeley CS 188 (Klein and Abbeel), Lecture 11</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Where this sits in the course</a:t>
            </a:r>
            <a:endParaRPr lang="en-US" sz="3000" dirty="0"/>
          </a:p>
        </p:txBody>
      </p:sp>
      <p:sp>
        <p:nvSpPr>
          <p:cNvPr id="3" name="Shape 1"/>
          <p:cNvSpPr/>
          <p:nvPr/>
        </p:nvSpPr>
        <p:spPr>
          <a:xfrm>
            <a:off x="566928" y="1463040"/>
            <a:ext cx="11057839" cy="786384"/>
          </a:xfrm>
          <a:prstGeom prst="roundRect">
            <a:avLst>
              <a:gd name="adj" fmla="val 10465"/>
            </a:avLst>
          </a:prstGeom>
          <a:solidFill>
            <a:srgbClr val="F4F5F6"/>
          </a:solidFill>
          <a:ln/>
        </p:spPr>
      </p:sp>
      <p:sp>
        <p:nvSpPr>
          <p:cNvPr id="4" name="Text 2"/>
          <p:cNvSpPr/>
          <p:nvPr/>
        </p:nvSpPr>
        <p:spPr>
          <a:xfrm>
            <a:off x="841248" y="1536192"/>
            <a:ext cx="3200400" cy="347472"/>
          </a:xfrm>
          <a:prstGeom prst="rect">
            <a:avLst/>
          </a:prstGeom>
          <a:noFill/>
          <a:ln/>
        </p:spPr>
        <p:txBody>
          <a:bodyPr wrap="square" lIns="0" tIns="0" rIns="0" bIns="0" rtlCol="0" anchor="ctr"/>
          <a:lstStyle/>
          <a:p>
            <a:pPr indent="0" marL="0">
              <a:buNone/>
            </a:pPr>
            <a:r>
              <a:rPr lang="en-US" sz="1600" b="1" dirty="0">
                <a:solidFill>
                  <a:srgbClr val="22252A"/>
                </a:solidFill>
                <a:latin typeface="Calibri" pitchFamily="34" charset="0"/>
                <a:ea typeface="Calibri" pitchFamily="34" charset="-122"/>
                <a:cs typeface="Calibri" pitchFamily="34" charset="-120"/>
              </a:rPr>
              <a:t>Search</a:t>
            </a:r>
            <a:endParaRPr lang="en-US" sz="1600" dirty="0"/>
          </a:p>
        </p:txBody>
      </p:sp>
      <p:sp>
        <p:nvSpPr>
          <p:cNvPr id="5" name="Text 3"/>
          <p:cNvSpPr/>
          <p:nvPr/>
        </p:nvSpPr>
        <p:spPr>
          <a:xfrm>
            <a:off x="841248" y="1865376"/>
            <a:ext cx="3200400" cy="274320"/>
          </a:xfrm>
          <a:prstGeom prst="rect">
            <a:avLst/>
          </a:prstGeom>
          <a:noFill/>
          <a:ln/>
        </p:spPr>
        <p:txBody>
          <a:bodyPr wrap="square" lIns="0" tIns="0" rIns="0" bIns="0" rtlCol="0" anchor="ctr"/>
          <a:lstStyle/>
          <a:p>
            <a:pPr indent="0" marL="0">
              <a:buNone/>
            </a:pPr>
            <a:r>
              <a:rPr lang="en-US" sz="1150" dirty="0">
                <a:solidFill>
                  <a:srgbClr val="53565A"/>
                </a:solidFill>
                <a:latin typeface="Calibri" pitchFamily="34" charset="0"/>
                <a:ea typeface="Calibri" pitchFamily="34" charset="-122"/>
                <a:cs typeface="Calibri" pitchFamily="34" charset="-120"/>
              </a:rPr>
              <a:t>Chs. 3 – 5</a:t>
            </a:r>
            <a:endParaRPr lang="en-US" sz="1150" dirty="0"/>
          </a:p>
        </p:txBody>
      </p:sp>
      <p:sp>
        <p:nvSpPr>
          <p:cNvPr id="6" name="Text 4"/>
          <p:cNvSpPr/>
          <p:nvPr/>
        </p:nvSpPr>
        <p:spPr>
          <a:xfrm>
            <a:off x="4133088" y="1463040"/>
            <a:ext cx="5852160" cy="786384"/>
          </a:xfrm>
          <a:prstGeom prst="rect">
            <a:avLst/>
          </a:prstGeom>
          <a:noFill/>
          <a:ln/>
        </p:spPr>
        <p:txBody>
          <a:bodyPr wrap="square" lIns="0" tIns="0" rIns="0" bIns="0" rtlCol="0" anchor="ctr"/>
          <a:lstStyle/>
          <a:p>
            <a:pPr indent="0" marL="0">
              <a:buNone/>
            </a:pPr>
            <a:r>
              <a:rPr lang="en-US" sz="1400" dirty="0">
                <a:solidFill>
                  <a:srgbClr val="3C4047"/>
                </a:solidFill>
                <a:latin typeface="Calibri" pitchFamily="34" charset="0"/>
                <a:ea typeface="Calibri" pitchFamily="34" charset="-122"/>
                <a:cs typeface="Calibri" pitchFamily="34" charset="-120"/>
              </a:rPr>
              <a:t>Deterministic, known world. Plan a path.</a:t>
            </a:r>
            <a:endParaRPr lang="en-US" sz="1400" dirty="0"/>
          </a:p>
        </p:txBody>
      </p:sp>
      <p:sp>
        <p:nvSpPr>
          <p:cNvPr id="7" name="Shape 5"/>
          <p:cNvSpPr/>
          <p:nvPr/>
        </p:nvSpPr>
        <p:spPr>
          <a:xfrm>
            <a:off x="566928" y="2359152"/>
            <a:ext cx="11057839" cy="786384"/>
          </a:xfrm>
          <a:prstGeom prst="roundRect">
            <a:avLst>
              <a:gd name="adj" fmla="val 10465"/>
            </a:avLst>
          </a:prstGeom>
          <a:solidFill>
            <a:srgbClr val="F4F5F6"/>
          </a:solidFill>
          <a:ln/>
        </p:spPr>
      </p:sp>
      <p:sp>
        <p:nvSpPr>
          <p:cNvPr id="8" name="Text 6"/>
          <p:cNvSpPr/>
          <p:nvPr/>
        </p:nvSpPr>
        <p:spPr>
          <a:xfrm>
            <a:off x="841248" y="2432304"/>
            <a:ext cx="3200400" cy="347472"/>
          </a:xfrm>
          <a:prstGeom prst="rect">
            <a:avLst/>
          </a:prstGeom>
          <a:noFill/>
          <a:ln/>
        </p:spPr>
        <p:txBody>
          <a:bodyPr wrap="square" lIns="0" tIns="0" rIns="0" bIns="0" rtlCol="0" anchor="ctr"/>
          <a:lstStyle/>
          <a:p>
            <a:pPr indent="0" marL="0">
              <a:buNone/>
            </a:pPr>
            <a:r>
              <a:rPr lang="en-US" sz="1600" b="1" dirty="0">
                <a:solidFill>
                  <a:srgbClr val="22252A"/>
                </a:solidFill>
                <a:latin typeface="Calibri" pitchFamily="34" charset="0"/>
                <a:ea typeface="Calibri" pitchFamily="34" charset="-122"/>
                <a:cs typeface="Calibri" pitchFamily="34" charset="-120"/>
              </a:rPr>
              <a:t>CSPs and Logic</a:t>
            </a:r>
            <a:endParaRPr lang="en-US" sz="1600" dirty="0"/>
          </a:p>
        </p:txBody>
      </p:sp>
      <p:sp>
        <p:nvSpPr>
          <p:cNvPr id="9" name="Text 7"/>
          <p:cNvSpPr/>
          <p:nvPr/>
        </p:nvSpPr>
        <p:spPr>
          <a:xfrm>
            <a:off x="841248" y="2761488"/>
            <a:ext cx="3200400" cy="274320"/>
          </a:xfrm>
          <a:prstGeom prst="rect">
            <a:avLst/>
          </a:prstGeom>
          <a:noFill/>
          <a:ln/>
        </p:spPr>
        <p:txBody>
          <a:bodyPr wrap="square" lIns="0" tIns="0" rIns="0" bIns="0" rtlCol="0" anchor="ctr"/>
          <a:lstStyle/>
          <a:p>
            <a:pPr indent="0" marL="0">
              <a:buNone/>
            </a:pPr>
            <a:r>
              <a:rPr lang="en-US" sz="1150" dirty="0">
                <a:solidFill>
                  <a:srgbClr val="53565A"/>
                </a:solidFill>
                <a:latin typeface="Calibri" pitchFamily="34" charset="0"/>
                <a:ea typeface="Calibri" pitchFamily="34" charset="-122"/>
                <a:cs typeface="Calibri" pitchFamily="34" charset="-120"/>
              </a:rPr>
              <a:t>Chs. 6, 8</a:t>
            </a:r>
            <a:endParaRPr lang="en-US" sz="1150" dirty="0"/>
          </a:p>
        </p:txBody>
      </p:sp>
      <p:sp>
        <p:nvSpPr>
          <p:cNvPr id="10" name="Text 8"/>
          <p:cNvSpPr/>
          <p:nvPr/>
        </p:nvSpPr>
        <p:spPr>
          <a:xfrm>
            <a:off x="4133088" y="2359152"/>
            <a:ext cx="5852160" cy="786384"/>
          </a:xfrm>
          <a:prstGeom prst="rect">
            <a:avLst/>
          </a:prstGeom>
          <a:noFill/>
          <a:ln/>
        </p:spPr>
        <p:txBody>
          <a:bodyPr wrap="square" lIns="0" tIns="0" rIns="0" bIns="0" rtlCol="0" anchor="ctr"/>
          <a:lstStyle/>
          <a:p>
            <a:pPr indent="0" marL="0">
              <a:buNone/>
            </a:pPr>
            <a:r>
              <a:rPr lang="en-US" sz="1400" dirty="0">
                <a:solidFill>
                  <a:srgbClr val="3C4047"/>
                </a:solidFill>
                <a:latin typeface="Calibri" pitchFamily="34" charset="0"/>
                <a:ea typeface="Calibri" pitchFamily="34" charset="-122"/>
                <a:cs typeface="Calibri" pitchFamily="34" charset="-120"/>
              </a:rPr>
              <a:t>Structure and inference over constraints.</a:t>
            </a:r>
            <a:endParaRPr lang="en-US" sz="1400" dirty="0"/>
          </a:p>
        </p:txBody>
      </p:sp>
      <p:sp>
        <p:nvSpPr>
          <p:cNvPr id="11" name="Shape 9"/>
          <p:cNvSpPr/>
          <p:nvPr/>
        </p:nvSpPr>
        <p:spPr>
          <a:xfrm>
            <a:off x="566928" y="3255264"/>
            <a:ext cx="11057839" cy="786384"/>
          </a:xfrm>
          <a:prstGeom prst="roundRect">
            <a:avLst>
              <a:gd name="adj" fmla="val 10465"/>
            </a:avLst>
          </a:prstGeom>
          <a:solidFill>
            <a:srgbClr val="F4F5F6"/>
          </a:solidFill>
          <a:ln/>
        </p:spPr>
      </p:sp>
      <p:sp>
        <p:nvSpPr>
          <p:cNvPr id="12" name="Text 10"/>
          <p:cNvSpPr/>
          <p:nvPr/>
        </p:nvSpPr>
        <p:spPr>
          <a:xfrm>
            <a:off x="841248" y="3328416"/>
            <a:ext cx="3200400" cy="347472"/>
          </a:xfrm>
          <a:prstGeom prst="rect">
            <a:avLst/>
          </a:prstGeom>
          <a:noFill/>
          <a:ln/>
        </p:spPr>
        <p:txBody>
          <a:bodyPr wrap="square" lIns="0" tIns="0" rIns="0" bIns="0" rtlCol="0" anchor="ctr"/>
          <a:lstStyle/>
          <a:p>
            <a:pPr indent="0" marL="0">
              <a:buNone/>
            </a:pPr>
            <a:r>
              <a:rPr lang="en-US" sz="1600" b="1" dirty="0">
                <a:solidFill>
                  <a:srgbClr val="22252A"/>
                </a:solidFill>
                <a:latin typeface="Calibri" pitchFamily="34" charset="0"/>
                <a:ea typeface="Calibri" pitchFamily="34" charset="-122"/>
                <a:cs typeface="Calibri" pitchFamily="34" charset="-120"/>
              </a:rPr>
              <a:t>MDPs</a:t>
            </a:r>
            <a:endParaRPr lang="en-US" sz="1600" dirty="0"/>
          </a:p>
        </p:txBody>
      </p:sp>
      <p:sp>
        <p:nvSpPr>
          <p:cNvPr id="13" name="Text 11"/>
          <p:cNvSpPr/>
          <p:nvPr/>
        </p:nvSpPr>
        <p:spPr>
          <a:xfrm>
            <a:off x="841248" y="3657600"/>
            <a:ext cx="3200400" cy="274320"/>
          </a:xfrm>
          <a:prstGeom prst="rect">
            <a:avLst/>
          </a:prstGeom>
          <a:noFill/>
          <a:ln/>
        </p:spPr>
        <p:txBody>
          <a:bodyPr wrap="square" lIns="0" tIns="0" rIns="0" bIns="0" rtlCol="0" anchor="ctr"/>
          <a:lstStyle/>
          <a:p>
            <a:pPr indent="0" marL="0">
              <a:buNone/>
            </a:pPr>
            <a:r>
              <a:rPr lang="en-US" sz="1150" dirty="0">
                <a:solidFill>
                  <a:srgbClr val="53565A"/>
                </a:solidFill>
                <a:latin typeface="Calibri" pitchFamily="34" charset="0"/>
                <a:ea typeface="Calibri" pitchFamily="34" charset="-122"/>
                <a:cs typeface="Calibri" pitchFamily="34" charset="-120"/>
              </a:rPr>
              <a:t>Ch. 17</a:t>
            </a:r>
            <a:endParaRPr lang="en-US" sz="1150" dirty="0"/>
          </a:p>
        </p:txBody>
      </p:sp>
      <p:sp>
        <p:nvSpPr>
          <p:cNvPr id="14" name="Text 12"/>
          <p:cNvSpPr/>
          <p:nvPr/>
        </p:nvSpPr>
        <p:spPr>
          <a:xfrm>
            <a:off x="4133088" y="3255264"/>
            <a:ext cx="5852160" cy="786384"/>
          </a:xfrm>
          <a:prstGeom prst="rect">
            <a:avLst/>
          </a:prstGeom>
          <a:noFill/>
          <a:ln/>
        </p:spPr>
        <p:txBody>
          <a:bodyPr wrap="square" lIns="0" tIns="0" rIns="0" bIns="0" rtlCol="0" anchor="ctr"/>
          <a:lstStyle/>
          <a:p>
            <a:pPr indent="0" marL="0">
              <a:buNone/>
            </a:pPr>
            <a:r>
              <a:rPr lang="en-US" sz="1400" dirty="0">
                <a:solidFill>
                  <a:srgbClr val="3C4047"/>
                </a:solidFill>
                <a:latin typeface="Calibri" pitchFamily="34" charset="0"/>
                <a:ea typeface="Calibri" pitchFamily="34" charset="-122"/>
                <a:cs typeface="Calibri" pitchFamily="34" charset="-120"/>
              </a:rPr>
              <a:t>Stochastic, known world. Plan a policy.</a:t>
            </a:r>
            <a:endParaRPr lang="en-US" sz="1400" dirty="0"/>
          </a:p>
        </p:txBody>
      </p:sp>
      <p:sp>
        <p:nvSpPr>
          <p:cNvPr id="15" name="Shape 13"/>
          <p:cNvSpPr/>
          <p:nvPr/>
        </p:nvSpPr>
        <p:spPr>
          <a:xfrm>
            <a:off x="566928" y="4151376"/>
            <a:ext cx="11057839" cy="786384"/>
          </a:xfrm>
          <a:prstGeom prst="roundRect">
            <a:avLst>
              <a:gd name="adj" fmla="val 10465"/>
            </a:avLst>
          </a:prstGeom>
          <a:solidFill>
            <a:srgbClr val="FBEAED"/>
          </a:solidFill>
          <a:ln/>
        </p:spPr>
      </p:sp>
      <p:sp>
        <p:nvSpPr>
          <p:cNvPr id="16" name="Text 14"/>
          <p:cNvSpPr/>
          <p:nvPr/>
        </p:nvSpPr>
        <p:spPr>
          <a:xfrm>
            <a:off x="841248" y="4224528"/>
            <a:ext cx="3200400" cy="347472"/>
          </a:xfrm>
          <a:prstGeom prst="rect">
            <a:avLst/>
          </a:prstGeom>
          <a:noFill/>
          <a:ln/>
        </p:spPr>
        <p:txBody>
          <a:bodyPr wrap="square" lIns="0" tIns="0" rIns="0" bIns="0" rtlCol="0" anchor="ctr"/>
          <a:lstStyle/>
          <a:p>
            <a:pPr indent="0" marL="0">
              <a:buNone/>
            </a:pPr>
            <a:r>
              <a:rPr lang="en-US" sz="1600" b="1" dirty="0">
                <a:solidFill>
                  <a:srgbClr val="C8102E"/>
                </a:solidFill>
                <a:latin typeface="Calibri" pitchFamily="34" charset="0"/>
                <a:ea typeface="Calibri" pitchFamily="34" charset="-122"/>
                <a:cs typeface="Calibri" pitchFamily="34" charset="-120"/>
              </a:rPr>
              <a:t>Reinforcement Learning</a:t>
            </a:r>
            <a:endParaRPr lang="en-US" sz="1600" dirty="0"/>
          </a:p>
        </p:txBody>
      </p:sp>
      <p:sp>
        <p:nvSpPr>
          <p:cNvPr id="17" name="Text 15"/>
          <p:cNvSpPr/>
          <p:nvPr/>
        </p:nvSpPr>
        <p:spPr>
          <a:xfrm>
            <a:off x="841248" y="4553712"/>
            <a:ext cx="3200400" cy="274320"/>
          </a:xfrm>
          <a:prstGeom prst="rect">
            <a:avLst/>
          </a:prstGeom>
          <a:noFill/>
          <a:ln/>
        </p:spPr>
        <p:txBody>
          <a:bodyPr wrap="square" lIns="0" tIns="0" rIns="0" bIns="0" rtlCol="0" anchor="ctr"/>
          <a:lstStyle/>
          <a:p>
            <a:pPr indent="0" marL="0">
              <a:buNone/>
            </a:pPr>
            <a:r>
              <a:rPr lang="en-US" sz="1150" dirty="0">
                <a:solidFill>
                  <a:srgbClr val="53565A"/>
                </a:solidFill>
                <a:latin typeface="Calibri" pitchFamily="34" charset="0"/>
                <a:ea typeface="Calibri" pitchFamily="34" charset="-122"/>
                <a:cs typeface="Calibri" pitchFamily="34" charset="-120"/>
              </a:rPr>
              <a:t>Ch. 22</a:t>
            </a:r>
            <a:endParaRPr lang="en-US" sz="1150" dirty="0"/>
          </a:p>
        </p:txBody>
      </p:sp>
      <p:sp>
        <p:nvSpPr>
          <p:cNvPr id="18" name="Text 16"/>
          <p:cNvSpPr/>
          <p:nvPr/>
        </p:nvSpPr>
        <p:spPr>
          <a:xfrm>
            <a:off x="4133088" y="4151376"/>
            <a:ext cx="5852160" cy="786384"/>
          </a:xfrm>
          <a:prstGeom prst="rect">
            <a:avLst/>
          </a:prstGeom>
          <a:noFill/>
          <a:ln/>
        </p:spPr>
        <p:txBody>
          <a:bodyPr wrap="square" lIns="0" tIns="0" rIns="0" bIns="0" rtlCol="0" anchor="ctr"/>
          <a:lstStyle/>
          <a:p>
            <a:pPr indent="0" marL="0">
              <a:buNone/>
            </a:pPr>
            <a:r>
              <a:rPr lang="en-US" sz="1400" dirty="0">
                <a:solidFill>
                  <a:srgbClr val="8E0B20"/>
                </a:solidFill>
                <a:latin typeface="Calibri" pitchFamily="34" charset="0"/>
                <a:ea typeface="Calibri" pitchFamily="34" charset="-122"/>
                <a:cs typeface="Calibri" pitchFamily="34" charset="-120"/>
              </a:rPr>
              <a:t>Stochastic, UNKNOWN world. Learn a policy.</a:t>
            </a:r>
            <a:endParaRPr lang="en-US" sz="1400" dirty="0"/>
          </a:p>
        </p:txBody>
      </p:sp>
      <p:sp>
        <p:nvSpPr>
          <p:cNvPr id="19" name="Text 17"/>
          <p:cNvSpPr/>
          <p:nvPr/>
        </p:nvSpPr>
        <p:spPr>
          <a:xfrm>
            <a:off x="9887407" y="4151376"/>
            <a:ext cx="1463040" cy="786384"/>
          </a:xfrm>
          <a:prstGeom prst="rect">
            <a:avLst/>
          </a:prstGeom>
          <a:noFill/>
          <a:ln/>
        </p:spPr>
        <p:txBody>
          <a:bodyPr wrap="square" lIns="0" tIns="0" rIns="0" bIns="0" rtlCol="0" anchor="ctr"/>
          <a:lstStyle/>
          <a:p>
            <a:pPr algn="r" indent="0" marL="0">
              <a:buNone/>
            </a:pPr>
            <a:r>
              <a:rPr lang="en-US" sz="1050" b="1" spc="120" kern="0" dirty="0">
                <a:solidFill>
                  <a:srgbClr val="C8102E"/>
                </a:solidFill>
                <a:latin typeface="Calibri" pitchFamily="34" charset="0"/>
                <a:ea typeface="Calibri" pitchFamily="34" charset="-122"/>
                <a:cs typeface="Calibri" pitchFamily="34" charset="-120"/>
              </a:rPr>
              <a:t>YOU ARE HERE</a:t>
            </a:r>
            <a:endParaRPr lang="en-US" sz="1050" dirty="0"/>
          </a:p>
        </p:txBody>
      </p:sp>
      <p:sp>
        <p:nvSpPr>
          <p:cNvPr id="20" name="Shape 18"/>
          <p:cNvSpPr/>
          <p:nvPr/>
        </p:nvSpPr>
        <p:spPr>
          <a:xfrm>
            <a:off x="566928" y="5047488"/>
            <a:ext cx="11057839" cy="786384"/>
          </a:xfrm>
          <a:prstGeom prst="roundRect">
            <a:avLst>
              <a:gd name="adj" fmla="val 10465"/>
            </a:avLst>
          </a:prstGeom>
          <a:solidFill>
            <a:srgbClr val="F4F5F6"/>
          </a:solidFill>
          <a:ln/>
        </p:spPr>
      </p:sp>
      <p:sp>
        <p:nvSpPr>
          <p:cNvPr id="21" name="Text 19"/>
          <p:cNvSpPr/>
          <p:nvPr/>
        </p:nvSpPr>
        <p:spPr>
          <a:xfrm>
            <a:off x="841248" y="5120640"/>
            <a:ext cx="3200400" cy="347472"/>
          </a:xfrm>
          <a:prstGeom prst="rect">
            <a:avLst/>
          </a:prstGeom>
          <a:noFill/>
          <a:ln/>
        </p:spPr>
        <p:txBody>
          <a:bodyPr wrap="square" lIns="0" tIns="0" rIns="0" bIns="0" rtlCol="0" anchor="ctr"/>
          <a:lstStyle/>
          <a:p>
            <a:pPr indent="0" marL="0">
              <a:buNone/>
            </a:pPr>
            <a:r>
              <a:rPr lang="en-US" sz="1600" b="1" dirty="0">
                <a:solidFill>
                  <a:srgbClr val="22252A"/>
                </a:solidFill>
                <a:latin typeface="Calibri" pitchFamily="34" charset="0"/>
                <a:ea typeface="Calibri" pitchFamily="34" charset="-122"/>
                <a:cs typeface="Calibri" pitchFamily="34" charset="-120"/>
              </a:rPr>
              <a:t>Probabilistic Reasoning</a:t>
            </a:r>
            <a:endParaRPr lang="en-US" sz="1600" dirty="0"/>
          </a:p>
        </p:txBody>
      </p:sp>
      <p:sp>
        <p:nvSpPr>
          <p:cNvPr id="22" name="Text 20"/>
          <p:cNvSpPr/>
          <p:nvPr/>
        </p:nvSpPr>
        <p:spPr>
          <a:xfrm>
            <a:off x="841248" y="5449824"/>
            <a:ext cx="3200400" cy="274320"/>
          </a:xfrm>
          <a:prstGeom prst="rect">
            <a:avLst/>
          </a:prstGeom>
          <a:noFill/>
          <a:ln/>
        </p:spPr>
        <p:txBody>
          <a:bodyPr wrap="square" lIns="0" tIns="0" rIns="0" bIns="0" rtlCol="0" anchor="ctr"/>
          <a:lstStyle/>
          <a:p>
            <a:pPr indent="0" marL="0">
              <a:buNone/>
            </a:pPr>
            <a:r>
              <a:rPr lang="en-US" sz="1150" dirty="0">
                <a:solidFill>
                  <a:srgbClr val="53565A"/>
                </a:solidFill>
                <a:latin typeface="Calibri" pitchFamily="34" charset="0"/>
                <a:ea typeface="Calibri" pitchFamily="34" charset="-122"/>
                <a:cs typeface="Calibri" pitchFamily="34" charset="-120"/>
              </a:rPr>
              <a:t>Chs. 12 – 14</a:t>
            </a:r>
            <a:endParaRPr lang="en-US" sz="1150" dirty="0"/>
          </a:p>
        </p:txBody>
      </p:sp>
      <p:sp>
        <p:nvSpPr>
          <p:cNvPr id="23" name="Text 21"/>
          <p:cNvSpPr/>
          <p:nvPr/>
        </p:nvSpPr>
        <p:spPr>
          <a:xfrm>
            <a:off x="4133088" y="5047488"/>
            <a:ext cx="5852160" cy="786384"/>
          </a:xfrm>
          <a:prstGeom prst="rect">
            <a:avLst/>
          </a:prstGeom>
          <a:noFill/>
          <a:ln/>
        </p:spPr>
        <p:txBody>
          <a:bodyPr wrap="square" lIns="0" tIns="0" rIns="0" bIns="0" rtlCol="0" anchor="ctr"/>
          <a:lstStyle/>
          <a:p>
            <a:pPr indent="0" marL="0">
              <a:buNone/>
            </a:pPr>
            <a:r>
              <a:rPr lang="en-US" sz="1400" dirty="0">
                <a:solidFill>
                  <a:srgbClr val="3C4047"/>
                </a:solidFill>
                <a:latin typeface="Calibri" pitchFamily="34" charset="0"/>
                <a:ea typeface="Calibri" pitchFamily="34" charset="-122"/>
                <a:cs typeface="Calibri" pitchFamily="34" charset="-120"/>
              </a:rPr>
              <a:t>Belief over hidden state. Coming later.</a:t>
            </a:r>
            <a:endParaRPr lang="en-US" sz="1400" dirty="0"/>
          </a:p>
        </p:txBody>
      </p:sp>
      <p:sp>
        <p:nvSpPr>
          <p:cNvPr id="24" name="Text 22"/>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5" name="Text 23"/>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Learning objectives</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By the end of this session you should be able to do all six of these unaided.</a:t>
            </a:r>
            <a:endParaRPr lang="en-US" sz="1400" dirty="0"/>
          </a:p>
        </p:txBody>
      </p:sp>
      <p:sp>
        <p:nvSpPr>
          <p:cNvPr id="4" name="Shape 2"/>
          <p:cNvSpPr/>
          <p:nvPr/>
        </p:nvSpPr>
        <p:spPr>
          <a:xfrm>
            <a:off x="603504" y="1700784"/>
            <a:ext cx="365760" cy="365760"/>
          </a:xfrm>
          <a:prstGeom prst="ellipse">
            <a:avLst/>
          </a:prstGeom>
          <a:solidFill>
            <a:srgbClr val="C8102E"/>
          </a:solidFill>
          <a:ln/>
        </p:spPr>
      </p:sp>
      <p:sp>
        <p:nvSpPr>
          <p:cNvPr id="5" name="Text 3"/>
          <p:cNvSpPr/>
          <p:nvPr/>
        </p:nvSpPr>
        <p:spPr>
          <a:xfrm>
            <a:off x="603504" y="1700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70432" y="1609344"/>
            <a:ext cx="10417759" cy="566928"/>
          </a:xfrm>
          <a:prstGeom prst="rect">
            <a:avLst/>
          </a:prstGeom>
          <a:noFill/>
          <a:ln/>
        </p:spPr>
        <p:txBody>
          <a:bodyPr wrap="square" lIns="0" tIns="0" rIns="0" bIns="0" rtlCol="0" anchor="ctr"/>
          <a:lstStyle/>
          <a:p>
            <a:pPr indent="0" marL="0">
              <a:buNone/>
            </a:pPr>
            <a:r>
              <a:rPr lang="en-US" sz="1450" dirty="0">
                <a:solidFill>
                  <a:srgbClr val="3C4047"/>
                </a:solidFill>
                <a:latin typeface="Calibri" pitchFamily="34" charset="0"/>
                <a:ea typeface="Calibri" pitchFamily="34" charset="-122"/>
                <a:cs typeface="Calibri" pitchFamily="34" charset="-120"/>
              </a:rPr>
              <a:t>State the RL problem as an MDP with T and R removed, and explain why that single change breaks value iteration.</a:t>
            </a:r>
            <a:endParaRPr lang="en-US" sz="1450" dirty="0"/>
          </a:p>
        </p:txBody>
      </p:sp>
      <p:sp>
        <p:nvSpPr>
          <p:cNvPr id="7" name="Shape 5"/>
          <p:cNvSpPr/>
          <p:nvPr/>
        </p:nvSpPr>
        <p:spPr>
          <a:xfrm>
            <a:off x="603504" y="2359152"/>
            <a:ext cx="365760" cy="365760"/>
          </a:xfrm>
          <a:prstGeom prst="ellipse">
            <a:avLst/>
          </a:prstGeom>
          <a:solidFill>
            <a:srgbClr val="C8102E"/>
          </a:solidFill>
          <a:ln/>
        </p:spPr>
      </p:sp>
      <p:sp>
        <p:nvSpPr>
          <p:cNvPr id="8" name="Text 6"/>
          <p:cNvSpPr/>
          <p:nvPr/>
        </p:nvSpPr>
        <p:spPr>
          <a:xfrm>
            <a:off x="603504" y="2359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70432" y="2267712"/>
            <a:ext cx="10417759" cy="566928"/>
          </a:xfrm>
          <a:prstGeom prst="rect">
            <a:avLst/>
          </a:prstGeom>
          <a:noFill/>
          <a:ln/>
        </p:spPr>
        <p:txBody>
          <a:bodyPr wrap="square" lIns="0" tIns="0" rIns="0" bIns="0" rtlCol="0" anchor="ctr"/>
          <a:lstStyle/>
          <a:p>
            <a:pPr indent="0" marL="0">
              <a:buNone/>
            </a:pPr>
            <a:r>
              <a:rPr lang="en-US" sz="1450" dirty="0">
                <a:solidFill>
                  <a:srgbClr val="3C4047"/>
                </a:solidFill>
                <a:latin typeface="Calibri" pitchFamily="34" charset="0"/>
                <a:ea typeface="Calibri" pitchFamily="34" charset="-122"/>
                <a:cs typeface="Calibri" pitchFamily="34" charset="-120"/>
              </a:rPr>
              <a:t>Build an empirical model from observed episodes and solve it (model-based learning).</a:t>
            </a:r>
            <a:endParaRPr lang="en-US" sz="1450" dirty="0"/>
          </a:p>
        </p:txBody>
      </p:sp>
      <p:sp>
        <p:nvSpPr>
          <p:cNvPr id="10" name="Shape 8"/>
          <p:cNvSpPr/>
          <p:nvPr/>
        </p:nvSpPr>
        <p:spPr>
          <a:xfrm>
            <a:off x="603504" y="3017520"/>
            <a:ext cx="365760" cy="365760"/>
          </a:xfrm>
          <a:prstGeom prst="ellipse">
            <a:avLst/>
          </a:prstGeom>
          <a:solidFill>
            <a:srgbClr val="C8102E"/>
          </a:solidFill>
          <a:ln/>
        </p:spPr>
      </p:sp>
      <p:sp>
        <p:nvSpPr>
          <p:cNvPr id="11" name="Text 9"/>
          <p:cNvSpPr/>
          <p:nvPr/>
        </p:nvSpPr>
        <p:spPr>
          <a:xfrm>
            <a:off x="603504" y="3017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170432" y="2926080"/>
            <a:ext cx="10417759" cy="566928"/>
          </a:xfrm>
          <a:prstGeom prst="rect">
            <a:avLst/>
          </a:prstGeom>
          <a:noFill/>
          <a:ln/>
        </p:spPr>
        <p:txBody>
          <a:bodyPr wrap="square" lIns="0" tIns="0" rIns="0" bIns="0" rtlCol="0" anchor="ctr"/>
          <a:lstStyle/>
          <a:p>
            <a:pPr indent="0" marL="0">
              <a:buNone/>
            </a:pPr>
            <a:r>
              <a:rPr lang="en-US" sz="1450" dirty="0">
                <a:solidFill>
                  <a:srgbClr val="3C4047"/>
                </a:solidFill>
                <a:latin typeface="Calibri" pitchFamily="34" charset="0"/>
                <a:ea typeface="Calibri" pitchFamily="34" charset="-122"/>
                <a:cs typeface="Calibri" pitchFamily="34" charset="-120"/>
              </a:rPr>
              <a:t>Explain why a running average of samples estimates an expectation without ever building the model.</a:t>
            </a:r>
            <a:endParaRPr lang="en-US" sz="1450" dirty="0"/>
          </a:p>
        </p:txBody>
      </p:sp>
      <p:sp>
        <p:nvSpPr>
          <p:cNvPr id="13" name="Shape 11"/>
          <p:cNvSpPr/>
          <p:nvPr/>
        </p:nvSpPr>
        <p:spPr>
          <a:xfrm>
            <a:off x="603504" y="3675888"/>
            <a:ext cx="365760" cy="365760"/>
          </a:xfrm>
          <a:prstGeom prst="ellipse">
            <a:avLst/>
          </a:prstGeom>
          <a:solidFill>
            <a:srgbClr val="C8102E"/>
          </a:solidFill>
          <a:ln/>
        </p:spPr>
      </p:sp>
      <p:sp>
        <p:nvSpPr>
          <p:cNvPr id="14" name="Text 12"/>
          <p:cNvSpPr/>
          <p:nvPr/>
        </p:nvSpPr>
        <p:spPr>
          <a:xfrm>
            <a:off x="603504" y="3675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170432" y="3584448"/>
            <a:ext cx="10417759" cy="566928"/>
          </a:xfrm>
          <a:prstGeom prst="rect">
            <a:avLst/>
          </a:prstGeom>
          <a:noFill/>
          <a:ln/>
        </p:spPr>
        <p:txBody>
          <a:bodyPr wrap="square" lIns="0" tIns="0" rIns="0" bIns="0" rtlCol="0" anchor="ctr"/>
          <a:lstStyle/>
          <a:p>
            <a:pPr indent="0" marL="0">
              <a:buNone/>
            </a:pPr>
            <a:r>
              <a:rPr lang="en-US" sz="1450" dirty="0">
                <a:solidFill>
                  <a:srgbClr val="3C4047"/>
                </a:solidFill>
                <a:latin typeface="Calibri" pitchFamily="34" charset="0"/>
                <a:ea typeface="Calibri" pitchFamily="34" charset="-122"/>
                <a:cs typeface="Calibri" pitchFamily="34" charset="-120"/>
              </a:rPr>
              <a:t>Run direct evaluation by hand, and say precisely what information it discards.</a:t>
            </a:r>
            <a:endParaRPr lang="en-US" sz="1450" dirty="0"/>
          </a:p>
        </p:txBody>
      </p:sp>
      <p:sp>
        <p:nvSpPr>
          <p:cNvPr id="16" name="Shape 14"/>
          <p:cNvSpPr/>
          <p:nvPr/>
        </p:nvSpPr>
        <p:spPr>
          <a:xfrm>
            <a:off x="603504" y="4334256"/>
            <a:ext cx="365760" cy="365760"/>
          </a:xfrm>
          <a:prstGeom prst="ellipse">
            <a:avLst/>
          </a:prstGeom>
          <a:solidFill>
            <a:srgbClr val="C8102E"/>
          </a:solidFill>
          <a:ln/>
        </p:spPr>
      </p:sp>
      <p:sp>
        <p:nvSpPr>
          <p:cNvPr id="17" name="Text 15"/>
          <p:cNvSpPr/>
          <p:nvPr/>
        </p:nvSpPr>
        <p:spPr>
          <a:xfrm>
            <a:off x="603504" y="4334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170432" y="4242816"/>
            <a:ext cx="10417759" cy="566928"/>
          </a:xfrm>
          <a:prstGeom prst="rect">
            <a:avLst/>
          </a:prstGeom>
          <a:noFill/>
          <a:ln/>
        </p:spPr>
        <p:txBody>
          <a:bodyPr wrap="square" lIns="0" tIns="0" rIns="0" bIns="0" rtlCol="0" anchor="ctr"/>
          <a:lstStyle/>
          <a:p>
            <a:pPr indent="0" marL="0">
              <a:buNone/>
            </a:pPr>
            <a:r>
              <a:rPr lang="en-US" sz="1450" dirty="0">
                <a:solidFill>
                  <a:srgbClr val="3C4047"/>
                </a:solidFill>
                <a:latin typeface="Calibri" pitchFamily="34" charset="0"/>
                <a:ea typeface="Calibri" pitchFamily="34" charset="-122"/>
                <a:cs typeface="Calibri" pitchFamily="34" charset="-120"/>
              </a:rPr>
              <a:t>Apply the temporal difference update to a transition and compute the new value.</a:t>
            </a:r>
            <a:endParaRPr lang="en-US" sz="1450" dirty="0"/>
          </a:p>
        </p:txBody>
      </p:sp>
      <p:sp>
        <p:nvSpPr>
          <p:cNvPr id="19" name="Shape 17"/>
          <p:cNvSpPr/>
          <p:nvPr/>
        </p:nvSpPr>
        <p:spPr>
          <a:xfrm>
            <a:off x="603504" y="4992624"/>
            <a:ext cx="365760" cy="365760"/>
          </a:xfrm>
          <a:prstGeom prst="ellipse">
            <a:avLst/>
          </a:prstGeom>
          <a:solidFill>
            <a:srgbClr val="C8102E"/>
          </a:solidFill>
          <a:ln/>
        </p:spPr>
      </p:sp>
      <p:sp>
        <p:nvSpPr>
          <p:cNvPr id="20" name="Text 18"/>
          <p:cNvSpPr/>
          <p:nvPr/>
        </p:nvSpPr>
        <p:spPr>
          <a:xfrm>
            <a:off x="603504" y="49926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1" name="Text 19"/>
          <p:cNvSpPr/>
          <p:nvPr/>
        </p:nvSpPr>
        <p:spPr>
          <a:xfrm>
            <a:off x="1170432" y="4901184"/>
            <a:ext cx="10417759" cy="566928"/>
          </a:xfrm>
          <a:prstGeom prst="rect">
            <a:avLst/>
          </a:prstGeom>
          <a:noFill/>
          <a:ln/>
        </p:spPr>
        <p:txBody>
          <a:bodyPr wrap="square" lIns="0" tIns="0" rIns="0" bIns="0" rtlCol="0" anchor="ctr"/>
          <a:lstStyle/>
          <a:p>
            <a:pPr indent="0" marL="0">
              <a:buNone/>
            </a:pPr>
            <a:r>
              <a:rPr lang="en-US" sz="1450" dirty="0">
                <a:solidFill>
                  <a:srgbClr val="3C4047"/>
                </a:solidFill>
                <a:latin typeface="Calibri" pitchFamily="34" charset="0"/>
                <a:ea typeface="Calibri" pitchFamily="34" charset="-122"/>
                <a:cs typeface="Calibri" pitchFamily="34" charset="-120"/>
              </a:rPr>
              <a:t>Apply the Q-learning update, and explain why the max makes it off-policy.</a:t>
            </a:r>
            <a:endParaRPr lang="en-US" sz="1450" dirty="0"/>
          </a:p>
        </p:txBody>
      </p:sp>
      <p:sp>
        <p:nvSpPr>
          <p:cNvPr id="22" name="Shape 20"/>
          <p:cNvSpPr/>
          <p:nvPr/>
        </p:nvSpPr>
        <p:spPr>
          <a:xfrm>
            <a:off x="566928" y="5650992"/>
            <a:ext cx="11057839" cy="603504"/>
          </a:xfrm>
          <a:prstGeom prst="roundRect">
            <a:avLst>
              <a:gd name="adj" fmla="val 13636"/>
            </a:avLst>
          </a:prstGeom>
          <a:solidFill>
            <a:srgbClr val="FBEAED"/>
          </a:solidFill>
          <a:ln/>
        </p:spPr>
      </p:sp>
      <p:sp>
        <p:nvSpPr>
          <p:cNvPr id="23" name="Shape 21"/>
          <p:cNvSpPr/>
          <p:nvPr/>
        </p:nvSpPr>
        <p:spPr>
          <a:xfrm>
            <a:off x="786384" y="5861304"/>
            <a:ext cx="182880" cy="182880"/>
          </a:xfrm>
          <a:prstGeom prst="ellipse">
            <a:avLst/>
          </a:prstGeom>
          <a:solidFill>
            <a:srgbClr val="C8102E"/>
          </a:solidFill>
          <a:ln/>
        </p:spPr>
      </p:sp>
      <p:sp>
        <p:nvSpPr>
          <p:cNvPr id="24" name="Text 22"/>
          <p:cNvSpPr/>
          <p:nvPr/>
        </p:nvSpPr>
        <p:spPr>
          <a:xfrm>
            <a:off x="1115568" y="5650992"/>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Objectives 5 and 6 are the two you will be asked to execute on paper.</a:t>
            </a:r>
            <a:endParaRPr lang="en-US" sz="1450" dirty="0"/>
          </a:p>
        </p:txBody>
      </p:sp>
      <p:sp>
        <p:nvSpPr>
          <p:cNvPr id="25" name="Text 23"/>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6" name="Text 24"/>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Reading and source map</a:t>
            </a:r>
            <a:endParaRPr lang="en-US" sz="3000" dirty="0"/>
          </a:p>
        </p:txBody>
      </p:sp>
      <p:sp>
        <p:nvSpPr>
          <p:cNvPr id="3" name="Text 1"/>
          <p:cNvSpPr/>
          <p:nvPr/>
        </p:nvSpPr>
        <p:spPr>
          <a:xfrm>
            <a:off x="566928" y="1463040"/>
            <a:ext cx="5120640" cy="365760"/>
          </a:xfrm>
          <a:prstGeom prst="rect">
            <a:avLst/>
          </a:prstGeom>
          <a:noFill/>
          <a:ln/>
        </p:spPr>
        <p:txBody>
          <a:bodyPr wrap="square" lIns="0" tIns="0" rIns="0" bIns="0" rtlCol="0" anchor="ctr"/>
          <a:lstStyle/>
          <a:p>
            <a:pPr indent="0" marL="0">
              <a:buNone/>
            </a:pPr>
            <a:r>
              <a:rPr lang="en-US" sz="1700" b="1" dirty="0">
                <a:solidFill>
                  <a:srgbClr val="C8102E"/>
                </a:solidFill>
                <a:latin typeface="Cambria" pitchFamily="34" charset="0"/>
                <a:ea typeface="Cambria" pitchFamily="34" charset="-122"/>
                <a:cs typeface="Cambria" pitchFamily="34" charset="-120"/>
              </a:rPr>
              <a:t>AIMA 4th edition</a:t>
            </a:r>
            <a:endParaRPr lang="en-US" sz="1700" dirty="0"/>
          </a:p>
        </p:txBody>
      </p:sp>
      <p:sp>
        <p:nvSpPr>
          <p:cNvPr id="4" name="Shape 2"/>
          <p:cNvSpPr/>
          <p:nvPr/>
        </p:nvSpPr>
        <p:spPr>
          <a:xfrm>
            <a:off x="566928" y="1938528"/>
            <a:ext cx="5120640" cy="493776"/>
          </a:xfrm>
          <a:prstGeom prst="roundRect">
            <a:avLst>
              <a:gd name="adj" fmla="val 16667"/>
            </a:avLst>
          </a:prstGeom>
          <a:solidFill>
            <a:srgbClr val="F4F5F6"/>
          </a:solidFill>
          <a:ln/>
        </p:spPr>
      </p:sp>
      <p:sp>
        <p:nvSpPr>
          <p:cNvPr id="5" name="Text 3"/>
          <p:cNvSpPr/>
          <p:nvPr/>
        </p:nvSpPr>
        <p:spPr>
          <a:xfrm>
            <a:off x="768096" y="1938528"/>
            <a:ext cx="1005840" cy="493776"/>
          </a:xfrm>
          <a:prstGeom prst="rect">
            <a:avLst/>
          </a:prstGeom>
          <a:noFill/>
          <a:ln/>
        </p:spPr>
        <p:txBody>
          <a:bodyPr wrap="square" lIns="0" tIns="0" rIns="0" bIns="0" rtlCol="0" anchor="ctr"/>
          <a:lstStyle/>
          <a:p>
            <a:pPr indent="0" marL="0">
              <a:buNone/>
            </a:pPr>
            <a:r>
              <a:rPr lang="en-US" sz="1250" b="1" dirty="0">
                <a:solidFill>
                  <a:srgbClr val="C8102E"/>
                </a:solidFill>
                <a:latin typeface="Courier New" pitchFamily="34" charset="0"/>
                <a:ea typeface="Courier New" pitchFamily="34" charset="-122"/>
                <a:cs typeface="Courier New" pitchFamily="34" charset="-120"/>
              </a:rPr>
              <a:t>22.1</a:t>
            </a:r>
            <a:endParaRPr lang="en-US" sz="1250" dirty="0"/>
          </a:p>
        </p:txBody>
      </p:sp>
      <p:sp>
        <p:nvSpPr>
          <p:cNvPr id="6" name="Text 4"/>
          <p:cNvSpPr/>
          <p:nvPr/>
        </p:nvSpPr>
        <p:spPr>
          <a:xfrm>
            <a:off x="1865376" y="1938528"/>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Learning from Rewards</a:t>
            </a:r>
            <a:endParaRPr lang="en-US" sz="1350" dirty="0"/>
          </a:p>
        </p:txBody>
      </p:sp>
      <p:sp>
        <p:nvSpPr>
          <p:cNvPr id="7" name="Shape 5"/>
          <p:cNvSpPr/>
          <p:nvPr/>
        </p:nvSpPr>
        <p:spPr>
          <a:xfrm>
            <a:off x="566928" y="2505456"/>
            <a:ext cx="5120640" cy="493776"/>
          </a:xfrm>
          <a:prstGeom prst="roundRect">
            <a:avLst>
              <a:gd name="adj" fmla="val 16667"/>
            </a:avLst>
          </a:prstGeom>
          <a:solidFill>
            <a:srgbClr val="F4F5F6"/>
          </a:solidFill>
          <a:ln/>
        </p:spPr>
      </p:sp>
      <p:sp>
        <p:nvSpPr>
          <p:cNvPr id="8" name="Text 6"/>
          <p:cNvSpPr/>
          <p:nvPr/>
        </p:nvSpPr>
        <p:spPr>
          <a:xfrm>
            <a:off x="768096" y="2505456"/>
            <a:ext cx="1005840" cy="493776"/>
          </a:xfrm>
          <a:prstGeom prst="rect">
            <a:avLst/>
          </a:prstGeom>
          <a:noFill/>
          <a:ln/>
        </p:spPr>
        <p:txBody>
          <a:bodyPr wrap="square" lIns="0" tIns="0" rIns="0" bIns="0" rtlCol="0" anchor="ctr"/>
          <a:lstStyle/>
          <a:p>
            <a:pPr indent="0" marL="0">
              <a:buNone/>
            </a:pPr>
            <a:r>
              <a:rPr lang="en-US" sz="1250" b="1" dirty="0">
                <a:solidFill>
                  <a:srgbClr val="C8102E"/>
                </a:solidFill>
                <a:latin typeface="Courier New" pitchFamily="34" charset="0"/>
                <a:ea typeface="Courier New" pitchFamily="34" charset="-122"/>
                <a:cs typeface="Courier New" pitchFamily="34" charset="-120"/>
              </a:rPr>
              <a:t>22.2</a:t>
            </a:r>
            <a:endParaRPr lang="en-US" sz="1250" dirty="0"/>
          </a:p>
        </p:txBody>
      </p:sp>
      <p:sp>
        <p:nvSpPr>
          <p:cNvPr id="9" name="Text 7"/>
          <p:cNvSpPr/>
          <p:nvPr/>
        </p:nvSpPr>
        <p:spPr>
          <a:xfrm>
            <a:off x="1865376" y="2505456"/>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Passive Reinforcement Learning</a:t>
            </a:r>
            <a:endParaRPr lang="en-US" sz="1350" dirty="0"/>
          </a:p>
        </p:txBody>
      </p:sp>
      <p:sp>
        <p:nvSpPr>
          <p:cNvPr id="10" name="Shape 8"/>
          <p:cNvSpPr/>
          <p:nvPr/>
        </p:nvSpPr>
        <p:spPr>
          <a:xfrm>
            <a:off x="566928" y="3072384"/>
            <a:ext cx="5120640" cy="493776"/>
          </a:xfrm>
          <a:prstGeom prst="roundRect">
            <a:avLst>
              <a:gd name="adj" fmla="val 16667"/>
            </a:avLst>
          </a:prstGeom>
          <a:solidFill>
            <a:srgbClr val="F4F5F6"/>
          </a:solidFill>
          <a:ln/>
        </p:spPr>
      </p:sp>
      <p:sp>
        <p:nvSpPr>
          <p:cNvPr id="11" name="Text 9"/>
          <p:cNvSpPr/>
          <p:nvPr/>
        </p:nvSpPr>
        <p:spPr>
          <a:xfrm>
            <a:off x="768096" y="3072384"/>
            <a:ext cx="1005840" cy="493776"/>
          </a:xfrm>
          <a:prstGeom prst="rect">
            <a:avLst/>
          </a:prstGeom>
          <a:noFill/>
          <a:ln/>
        </p:spPr>
        <p:txBody>
          <a:bodyPr wrap="square" lIns="0" tIns="0" rIns="0" bIns="0" rtlCol="0" anchor="ctr"/>
          <a:lstStyle/>
          <a:p>
            <a:pPr indent="0" marL="0">
              <a:buNone/>
            </a:pPr>
            <a:r>
              <a:rPr lang="en-US" sz="1250" b="1" dirty="0">
                <a:solidFill>
                  <a:srgbClr val="C8102E"/>
                </a:solidFill>
                <a:latin typeface="Courier New" pitchFamily="34" charset="0"/>
                <a:ea typeface="Courier New" pitchFamily="34" charset="-122"/>
                <a:cs typeface="Courier New" pitchFamily="34" charset="-120"/>
              </a:rPr>
              <a:t>22.2.1</a:t>
            </a:r>
            <a:endParaRPr lang="en-US" sz="1250" dirty="0"/>
          </a:p>
        </p:txBody>
      </p:sp>
      <p:sp>
        <p:nvSpPr>
          <p:cNvPr id="12" name="Text 10"/>
          <p:cNvSpPr/>
          <p:nvPr/>
        </p:nvSpPr>
        <p:spPr>
          <a:xfrm>
            <a:off x="1865376" y="3072384"/>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Direct utility estimation</a:t>
            </a:r>
            <a:endParaRPr lang="en-US" sz="1350" dirty="0"/>
          </a:p>
        </p:txBody>
      </p:sp>
      <p:sp>
        <p:nvSpPr>
          <p:cNvPr id="13" name="Shape 11"/>
          <p:cNvSpPr/>
          <p:nvPr/>
        </p:nvSpPr>
        <p:spPr>
          <a:xfrm>
            <a:off x="566928" y="3639312"/>
            <a:ext cx="5120640" cy="493776"/>
          </a:xfrm>
          <a:prstGeom prst="roundRect">
            <a:avLst>
              <a:gd name="adj" fmla="val 16667"/>
            </a:avLst>
          </a:prstGeom>
          <a:solidFill>
            <a:srgbClr val="F4F5F6"/>
          </a:solidFill>
          <a:ln/>
        </p:spPr>
      </p:sp>
      <p:sp>
        <p:nvSpPr>
          <p:cNvPr id="14" name="Text 12"/>
          <p:cNvSpPr/>
          <p:nvPr/>
        </p:nvSpPr>
        <p:spPr>
          <a:xfrm>
            <a:off x="768096" y="3639312"/>
            <a:ext cx="1005840" cy="493776"/>
          </a:xfrm>
          <a:prstGeom prst="rect">
            <a:avLst/>
          </a:prstGeom>
          <a:noFill/>
          <a:ln/>
        </p:spPr>
        <p:txBody>
          <a:bodyPr wrap="square" lIns="0" tIns="0" rIns="0" bIns="0" rtlCol="0" anchor="ctr"/>
          <a:lstStyle/>
          <a:p>
            <a:pPr indent="0" marL="0">
              <a:buNone/>
            </a:pPr>
            <a:r>
              <a:rPr lang="en-US" sz="1250" b="1" dirty="0">
                <a:solidFill>
                  <a:srgbClr val="C8102E"/>
                </a:solidFill>
                <a:latin typeface="Courier New" pitchFamily="34" charset="0"/>
                <a:ea typeface="Courier New" pitchFamily="34" charset="-122"/>
                <a:cs typeface="Courier New" pitchFamily="34" charset="-120"/>
              </a:rPr>
              <a:t>22.2.2</a:t>
            </a:r>
            <a:endParaRPr lang="en-US" sz="1250" dirty="0"/>
          </a:p>
        </p:txBody>
      </p:sp>
      <p:sp>
        <p:nvSpPr>
          <p:cNvPr id="15" name="Text 13"/>
          <p:cNvSpPr/>
          <p:nvPr/>
        </p:nvSpPr>
        <p:spPr>
          <a:xfrm>
            <a:off x="1865376" y="3639312"/>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Adaptive dynamic programming</a:t>
            </a:r>
            <a:endParaRPr lang="en-US" sz="1350" dirty="0"/>
          </a:p>
        </p:txBody>
      </p:sp>
      <p:sp>
        <p:nvSpPr>
          <p:cNvPr id="16" name="Shape 14"/>
          <p:cNvSpPr/>
          <p:nvPr/>
        </p:nvSpPr>
        <p:spPr>
          <a:xfrm>
            <a:off x="566928" y="4206240"/>
            <a:ext cx="5120640" cy="493776"/>
          </a:xfrm>
          <a:prstGeom prst="roundRect">
            <a:avLst>
              <a:gd name="adj" fmla="val 16667"/>
            </a:avLst>
          </a:prstGeom>
          <a:solidFill>
            <a:srgbClr val="F4F5F6"/>
          </a:solidFill>
          <a:ln/>
        </p:spPr>
      </p:sp>
      <p:sp>
        <p:nvSpPr>
          <p:cNvPr id="17" name="Text 15"/>
          <p:cNvSpPr/>
          <p:nvPr/>
        </p:nvSpPr>
        <p:spPr>
          <a:xfrm>
            <a:off x="768096" y="4206240"/>
            <a:ext cx="1005840" cy="493776"/>
          </a:xfrm>
          <a:prstGeom prst="rect">
            <a:avLst/>
          </a:prstGeom>
          <a:noFill/>
          <a:ln/>
        </p:spPr>
        <p:txBody>
          <a:bodyPr wrap="square" lIns="0" tIns="0" rIns="0" bIns="0" rtlCol="0" anchor="ctr"/>
          <a:lstStyle/>
          <a:p>
            <a:pPr indent="0" marL="0">
              <a:buNone/>
            </a:pPr>
            <a:r>
              <a:rPr lang="en-US" sz="1250" b="1" dirty="0">
                <a:solidFill>
                  <a:srgbClr val="C8102E"/>
                </a:solidFill>
                <a:latin typeface="Courier New" pitchFamily="34" charset="0"/>
                <a:ea typeface="Courier New" pitchFamily="34" charset="-122"/>
                <a:cs typeface="Courier New" pitchFamily="34" charset="-120"/>
              </a:rPr>
              <a:t>22.2.3</a:t>
            </a:r>
            <a:endParaRPr lang="en-US" sz="1250" dirty="0"/>
          </a:p>
        </p:txBody>
      </p:sp>
      <p:sp>
        <p:nvSpPr>
          <p:cNvPr id="18" name="Text 16"/>
          <p:cNvSpPr/>
          <p:nvPr/>
        </p:nvSpPr>
        <p:spPr>
          <a:xfrm>
            <a:off x="1865376" y="4206240"/>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Temporal-difference learning</a:t>
            </a:r>
            <a:endParaRPr lang="en-US" sz="1350" dirty="0"/>
          </a:p>
        </p:txBody>
      </p:sp>
      <p:sp>
        <p:nvSpPr>
          <p:cNvPr id="19" name="Shape 17"/>
          <p:cNvSpPr/>
          <p:nvPr/>
        </p:nvSpPr>
        <p:spPr>
          <a:xfrm>
            <a:off x="566928" y="4773168"/>
            <a:ext cx="5120640" cy="493776"/>
          </a:xfrm>
          <a:prstGeom prst="roundRect">
            <a:avLst>
              <a:gd name="adj" fmla="val 16667"/>
            </a:avLst>
          </a:prstGeom>
          <a:solidFill>
            <a:srgbClr val="F4F5F6"/>
          </a:solidFill>
          <a:ln/>
        </p:spPr>
      </p:sp>
      <p:sp>
        <p:nvSpPr>
          <p:cNvPr id="20" name="Text 18"/>
          <p:cNvSpPr/>
          <p:nvPr/>
        </p:nvSpPr>
        <p:spPr>
          <a:xfrm>
            <a:off x="768096" y="4773168"/>
            <a:ext cx="1005840" cy="493776"/>
          </a:xfrm>
          <a:prstGeom prst="rect">
            <a:avLst/>
          </a:prstGeom>
          <a:noFill/>
          <a:ln/>
        </p:spPr>
        <p:txBody>
          <a:bodyPr wrap="square" lIns="0" tIns="0" rIns="0" bIns="0" rtlCol="0" anchor="ctr"/>
          <a:lstStyle/>
          <a:p>
            <a:pPr indent="0" marL="0">
              <a:buNone/>
            </a:pPr>
            <a:r>
              <a:rPr lang="en-US" sz="1250" b="1" dirty="0">
                <a:solidFill>
                  <a:srgbClr val="C8102E"/>
                </a:solidFill>
                <a:latin typeface="Courier New" pitchFamily="34" charset="0"/>
                <a:ea typeface="Courier New" pitchFamily="34" charset="-122"/>
                <a:cs typeface="Courier New" pitchFamily="34" charset="-120"/>
              </a:rPr>
              <a:t>22.3.3</a:t>
            </a:r>
            <a:endParaRPr lang="en-US" sz="1250" dirty="0"/>
          </a:p>
        </p:txBody>
      </p:sp>
      <p:sp>
        <p:nvSpPr>
          <p:cNvPr id="21" name="Text 19"/>
          <p:cNvSpPr/>
          <p:nvPr/>
        </p:nvSpPr>
        <p:spPr>
          <a:xfrm>
            <a:off x="1865376" y="4773168"/>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Temporal-difference Q-learning</a:t>
            </a:r>
            <a:endParaRPr lang="en-US" sz="1350" dirty="0"/>
          </a:p>
        </p:txBody>
      </p:sp>
      <p:sp>
        <p:nvSpPr>
          <p:cNvPr id="22" name="Text 20"/>
          <p:cNvSpPr/>
          <p:nvPr/>
        </p:nvSpPr>
        <p:spPr>
          <a:xfrm>
            <a:off x="6281928" y="1463040"/>
            <a:ext cx="5120640" cy="365760"/>
          </a:xfrm>
          <a:prstGeom prst="rect">
            <a:avLst/>
          </a:prstGeom>
          <a:noFill/>
          <a:ln/>
        </p:spPr>
        <p:txBody>
          <a:bodyPr wrap="square" lIns="0" tIns="0" rIns="0" bIns="0" rtlCol="0" anchor="ctr"/>
          <a:lstStyle/>
          <a:p>
            <a:pPr indent="0" marL="0">
              <a:buNone/>
            </a:pPr>
            <a:r>
              <a:rPr lang="en-US" sz="1700" b="1" dirty="0">
                <a:solidFill>
                  <a:srgbClr val="53565A"/>
                </a:solidFill>
                <a:latin typeface="Cambria" pitchFamily="34" charset="0"/>
                <a:ea typeface="Cambria" pitchFamily="34" charset="-122"/>
                <a:cs typeface="Cambria" pitchFamily="34" charset="-120"/>
              </a:rPr>
              <a:t>Berkeley CS 188</a:t>
            </a:r>
            <a:endParaRPr lang="en-US" sz="1700" dirty="0"/>
          </a:p>
        </p:txBody>
      </p:sp>
      <p:sp>
        <p:nvSpPr>
          <p:cNvPr id="23" name="Shape 21"/>
          <p:cNvSpPr/>
          <p:nvPr/>
        </p:nvSpPr>
        <p:spPr>
          <a:xfrm>
            <a:off x="6281928" y="1938528"/>
            <a:ext cx="5120640" cy="493776"/>
          </a:xfrm>
          <a:prstGeom prst="roundRect">
            <a:avLst>
              <a:gd name="adj" fmla="val 16667"/>
            </a:avLst>
          </a:prstGeom>
          <a:solidFill>
            <a:srgbClr val="F4F5F6"/>
          </a:solidFill>
          <a:ln/>
        </p:spPr>
      </p:sp>
      <p:sp>
        <p:nvSpPr>
          <p:cNvPr id="24" name="Text 22"/>
          <p:cNvSpPr/>
          <p:nvPr/>
        </p:nvSpPr>
        <p:spPr>
          <a:xfrm>
            <a:off x="6483096" y="1938528"/>
            <a:ext cx="1005840" cy="493776"/>
          </a:xfrm>
          <a:prstGeom prst="rect">
            <a:avLst/>
          </a:prstGeom>
          <a:noFill/>
          <a:ln/>
        </p:spPr>
        <p:txBody>
          <a:bodyPr wrap="square" lIns="0" tIns="0" rIns="0" bIns="0" rtlCol="0" anchor="ctr"/>
          <a:lstStyle/>
          <a:p>
            <a:pPr indent="0" marL="0">
              <a:buNone/>
            </a:pPr>
            <a:r>
              <a:rPr lang="en-US" sz="1250" b="1" dirty="0">
                <a:solidFill>
                  <a:srgbClr val="53565A"/>
                </a:solidFill>
                <a:latin typeface="Courier New" pitchFamily="34" charset="0"/>
                <a:ea typeface="Courier New" pitchFamily="34" charset="-122"/>
                <a:cs typeface="Courier New" pitchFamily="34" charset="-120"/>
              </a:rPr>
              <a:t>Lec 11</a:t>
            </a:r>
            <a:endParaRPr lang="en-US" sz="1250" dirty="0"/>
          </a:p>
        </p:txBody>
      </p:sp>
      <p:sp>
        <p:nvSpPr>
          <p:cNvPr id="25" name="Text 23"/>
          <p:cNvSpPr/>
          <p:nvPr/>
        </p:nvSpPr>
        <p:spPr>
          <a:xfrm>
            <a:off x="7580376" y="1938528"/>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Reinforcement Learning I</a:t>
            </a:r>
            <a:endParaRPr lang="en-US" sz="1350" dirty="0"/>
          </a:p>
        </p:txBody>
      </p:sp>
      <p:sp>
        <p:nvSpPr>
          <p:cNvPr id="26" name="Shape 24"/>
          <p:cNvSpPr/>
          <p:nvPr/>
        </p:nvSpPr>
        <p:spPr>
          <a:xfrm>
            <a:off x="6281928" y="2505456"/>
            <a:ext cx="5120640" cy="493776"/>
          </a:xfrm>
          <a:prstGeom prst="roundRect">
            <a:avLst>
              <a:gd name="adj" fmla="val 16667"/>
            </a:avLst>
          </a:prstGeom>
          <a:solidFill>
            <a:srgbClr val="F4F5F6"/>
          </a:solidFill>
          <a:ln/>
        </p:spPr>
      </p:sp>
      <p:sp>
        <p:nvSpPr>
          <p:cNvPr id="27" name="Text 25"/>
          <p:cNvSpPr/>
          <p:nvPr/>
        </p:nvSpPr>
        <p:spPr>
          <a:xfrm>
            <a:off x="6483096" y="2505456"/>
            <a:ext cx="1005840" cy="493776"/>
          </a:xfrm>
          <a:prstGeom prst="rect">
            <a:avLst/>
          </a:prstGeom>
          <a:noFill/>
          <a:ln/>
        </p:spPr>
        <p:txBody>
          <a:bodyPr wrap="square" lIns="0" tIns="0" rIns="0" bIns="0" rtlCol="0" anchor="ctr"/>
          <a:lstStyle/>
          <a:p>
            <a:pPr indent="0" marL="0">
              <a:buNone/>
            </a:pPr>
            <a:r>
              <a:rPr lang="en-US" sz="1250" b="1" dirty="0">
                <a:solidFill>
                  <a:srgbClr val="53565A"/>
                </a:solidFill>
                <a:latin typeface="Courier New" pitchFamily="34" charset="0"/>
                <a:ea typeface="Courier New" pitchFamily="34" charset="-122"/>
                <a:cs typeface="Courier New" pitchFamily="34" charset="-120"/>
              </a:rPr>
              <a:t>Demo</a:t>
            </a:r>
            <a:endParaRPr lang="en-US" sz="1250" dirty="0"/>
          </a:p>
        </p:txBody>
      </p:sp>
      <p:sp>
        <p:nvSpPr>
          <p:cNvPr id="28" name="Text 26"/>
          <p:cNvSpPr/>
          <p:nvPr/>
        </p:nvSpPr>
        <p:spPr>
          <a:xfrm>
            <a:off x="7580376" y="2505456"/>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Gridworld Q-learning</a:t>
            </a:r>
            <a:endParaRPr lang="en-US" sz="1350" dirty="0"/>
          </a:p>
        </p:txBody>
      </p:sp>
      <p:sp>
        <p:nvSpPr>
          <p:cNvPr id="29" name="Shape 27"/>
          <p:cNvSpPr/>
          <p:nvPr/>
        </p:nvSpPr>
        <p:spPr>
          <a:xfrm>
            <a:off x="6281928" y="3072384"/>
            <a:ext cx="5120640" cy="493776"/>
          </a:xfrm>
          <a:prstGeom prst="roundRect">
            <a:avLst>
              <a:gd name="adj" fmla="val 16667"/>
            </a:avLst>
          </a:prstGeom>
          <a:solidFill>
            <a:srgbClr val="F4F5F6"/>
          </a:solidFill>
          <a:ln/>
        </p:spPr>
      </p:sp>
      <p:sp>
        <p:nvSpPr>
          <p:cNvPr id="30" name="Text 28"/>
          <p:cNvSpPr/>
          <p:nvPr/>
        </p:nvSpPr>
        <p:spPr>
          <a:xfrm>
            <a:off x="6483096" y="3072384"/>
            <a:ext cx="1005840" cy="493776"/>
          </a:xfrm>
          <a:prstGeom prst="rect">
            <a:avLst/>
          </a:prstGeom>
          <a:noFill/>
          <a:ln/>
        </p:spPr>
        <p:txBody>
          <a:bodyPr wrap="square" lIns="0" tIns="0" rIns="0" bIns="0" rtlCol="0" anchor="ctr"/>
          <a:lstStyle/>
          <a:p>
            <a:pPr indent="0" marL="0">
              <a:buNone/>
            </a:pPr>
            <a:r>
              <a:rPr lang="en-US" sz="1250" b="1" dirty="0">
                <a:solidFill>
                  <a:srgbClr val="53565A"/>
                </a:solidFill>
                <a:latin typeface="Courier New" pitchFamily="34" charset="0"/>
                <a:ea typeface="Courier New" pitchFamily="34" charset="-122"/>
                <a:cs typeface="Courier New" pitchFamily="34" charset="-120"/>
              </a:rPr>
              <a:t>Demo</a:t>
            </a:r>
            <a:endParaRPr lang="en-US" sz="1250" dirty="0"/>
          </a:p>
        </p:txBody>
      </p:sp>
      <p:sp>
        <p:nvSpPr>
          <p:cNvPr id="31" name="Text 29"/>
          <p:cNvSpPr/>
          <p:nvPr/>
        </p:nvSpPr>
        <p:spPr>
          <a:xfrm>
            <a:off x="7580376" y="3072384"/>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Crawler bot</a:t>
            </a:r>
            <a:endParaRPr lang="en-US" sz="1350" dirty="0"/>
          </a:p>
        </p:txBody>
      </p:sp>
      <p:sp>
        <p:nvSpPr>
          <p:cNvPr id="32" name="Shape 30"/>
          <p:cNvSpPr/>
          <p:nvPr/>
        </p:nvSpPr>
        <p:spPr>
          <a:xfrm>
            <a:off x="6281928" y="3639312"/>
            <a:ext cx="5120640" cy="493776"/>
          </a:xfrm>
          <a:prstGeom prst="roundRect">
            <a:avLst>
              <a:gd name="adj" fmla="val 16667"/>
            </a:avLst>
          </a:prstGeom>
          <a:solidFill>
            <a:srgbClr val="F4F5F6"/>
          </a:solidFill>
          <a:ln/>
        </p:spPr>
      </p:sp>
      <p:sp>
        <p:nvSpPr>
          <p:cNvPr id="33" name="Text 31"/>
          <p:cNvSpPr/>
          <p:nvPr/>
        </p:nvSpPr>
        <p:spPr>
          <a:xfrm>
            <a:off x="6483096" y="3639312"/>
            <a:ext cx="1005840" cy="493776"/>
          </a:xfrm>
          <a:prstGeom prst="rect">
            <a:avLst/>
          </a:prstGeom>
          <a:noFill/>
          <a:ln/>
        </p:spPr>
        <p:txBody>
          <a:bodyPr wrap="square" lIns="0" tIns="0" rIns="0" bIns="0" rtlCol="0" anchor="ctr"/>
          <a:lstStyle/>
          <a:p>
            <a:pPr indent="0" marL="0">
              <a:buNone/>
            </a:pPr>
            <a:r>
              <a:rPr lang="en-US" sz="1250" b="1" dirty="0">
                <a:solidFill>
                  <a:srgbClr val="53565A"/>
                </a:solidFill>
                <a:latin typeface="Courier New" pitchFamily="34" charset="0"/>
                <a:ea typeface="Courier New" pitchFamily="34" charset="-122"/>
                <a:cs typeface="Courier New" pitchFamily="34" charset="-120"/>
              </a:rPr>
              <a:t>Project 3</a:t>
            </a:r>
            <a:endParaRPr lang="en-US" sz="1250" dirty="0"/>
          </a:p>
        </p:txBody>
      </p:sp>
      <p:sp>
        <p:nvSpPr>
          <p:cNvPr id="34" name="Text 32"/>
          <p:cNvSpPr/>
          <p:nvPr/>
        </p:nvSpPr>
        <p:spPr>
          <a:xfrm>
            <a:off x="7580376" y="3639312"/>
            <a:ext cx="3657600" cy="49377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Q-learning agent</a:t>
            </a:r>
            <a:endParaRPr lang="en-US" sz="1350" dirty="0"/>
          </a:p>
        </p:txBody>
      </p:sp>
      <p:sp>
        <p:nvSpPr>
          <p:cNvPr id="35" name="Shape 33"/>
          <p:cNvSpPr/>
          <p:nvPr/>
        </p:nvSpPr>
        <p:spPr>
          <a:xfrm>
            <a:off x="566928" y="5468112"/>
            <a:ext cx="11057839" cy="603504"/>
          </a:xfrm>
          <a:prstGeom prst="roundRect">
            <a:avLst>
              <a:gd name="adj" fmla="val 13636"/>
            </a:avLst>
          </a:prstGeom>
          <a:solidFill>
            <a:srgbClr val="F4F5F6"/>
          </a:solidFill>
          <a:ln/>
        </p:spPr>
      </p:sp>
      <p:sp>
        <p:nvSpPr>
          <p:cNvPr id="36" name="Shape 34"/>
          <p:cNvSpPr/>
          <p:nvPr/>
        </p:nvSpPr>
        <p:spPr>
          <a:xfrm>
            <a:off x="786384" y="5678424"/>
            <a:ext cx="182880" cy="182880"/>
          </a:xfrm>
          <a:prstGeom prst="ellipse">
            <a:avLst/>
          </a:prstGeom>
          <a:solidFill>
            <a:srgbClr val="53565A"/>
          </a:solidFill>
          <a:ln/>
        </p:spPr>
      </p:sp>
      <p:sp>
        <p:nvSpPr>
          <p:cNvPr id="37" name="Text 35"/>
          <p:cNvSpPr/>
          <p:nvPr/>
        </p:nvSpPr>
        <p:spPr>
          <a:xfrm>
            <a:off x="1115568" y="5468112"/>
            <a:ext cx="10289743" cy="603504"/>
          </a:xfrm>
          <a:prstGeom prst="rect">
            <a:avLst/>
          </a:prstGeom>
          <a:noFill/>
          <a:ln/>
        </p:spPr>
        <p:txBody>
          <a:bodyPr wrap="square" lIns="0" tIns="0" rIns="0" bIns="0" rtlCol="0" anchor="ctr"/>
          <a:lstStyle/>
          <a:p>
            <a:pPr indent="0" marL="0">
              <a:buNone/>
            </a:pPr>
            <a:r>
              <a:rPr lang="en-US" sz="1450" b="1" dirty="0">
                <a:solidFill>
                  <a:srgbClr val="3C4047"/>
                </a:solidFill>
                <a:latin typeface="Calibri" pitchFamily="34" charset="0"/>
                <a:ea typeface="Calibri" pitchFamily="34" charset="-122"/>
                <a:cs typeface="Calibri" pitchFamily="34" charset="-120"/>
              </a:rPr>
              <a:t>Deferred to RL II: exploration strategies (22.3.1), safe exploration (22.3.2), and approximate Q-learning (22.4).</a:t>
            </a:r>
            <a:endParaRPr lang="en-US" sz="1450" dirty="0"/>
          </a:p>
        </p:txBody>
      </p:sp>
      <p:sp>
        <p:nvSpPr>
          <p:cNvPr id="38" name="Text 36"/>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39" name="Text 37"/>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566928" y="2212848"/>
            <a:ext cx="960120" cy="960120"/>
          </a:xfrm>
          <a:prstGeom prst="ellipse">
            <a:avLst/>
          </a:prstGeom>
          <a:solidFill>
            <a:srgbClr val="C8102E"/>
          </a:solidFill>
          <a:ln/>
        </p:spPr>
      </p:sp>
      <p:sp>
        <p:nvSpPr>
          <p:cNvPr id="3" name="Text 1"/>
          <p:cNvSpPr/>
          <p:nvPr/>
        </p:nvSpPr>
        <p:spPr>
          <a:xfrm>
            <a:off x="566928" y="2212848"/>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4" name="Text 2"/>
          <p:cNvSpPr/>
          <p:nvPr/>
        </p:nvSpPr>
        <p:spPr>
          <a:xfrm>
            <a:off x="566928" y="3401568"/>
            <a:ext cx="9509760" cy="84124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Why learning is not planning</a:t>
            </a:r>
            <a:endParaRPr lang="en-US" sz="3800" dirty="0"/>
          </a:p>
        </p:txBody>
      </p:sp>
      <p:sp>
        <p:nvSpPr>
          <p:cNvPr id="5" name="Text 3"/>
          <p:cNvSpPr/>
          <p:nvPr/>
        </p:nvSpPr>
        <p:spPr>
          <a:xfrm>
            <a:off x="566928" y="4315968"/>
            <a:ext cx="8778240" cy="731520"/>
          </a:xfrm>
          <a:prstGeom prst="rect">
            <a:avLst/>
          </a:prstGeom>
          <a:noFill/>
          <a:ln/>
        </p:spPr>
        <p:txBody>
          <a:bodyPr wrap="square" lIns="0" tIns="0" rIns="0" bIns="0" rtlCol="0" anchor="t"/>
          <a:lstStyle/>
          <a:p>
            <a:pPr indent="0" marL="0">
              <a:lnSpc>
                <a:spcPct val="115000"/>
              </a:lnSpc>
              <a:buNone/>
            </a:pPr>
            <a:r>
              <a:rPr lang="en-US" sz="1550" dirty="0">
                <a:solidFill>
                  <a:srgbClr val="C3C7CB"/>
                </a:solidFill>
                <a:latin typeface="Calibri" pitchFamily="34" charset="0"/>
                <a:ea typeface="Calibri" pitchFamily="34" charset="-122"/>
                <a:cs typeface="Calibri" pitchFamily="34" charset="-120"/>
              </a:rPr>
              <a:t>The formalism does not change. One assumption disappears, and every algorithm we have built stops working.</a:t>
            </a:r>
            <a:endParaRPr lang="en-US" sz="1550" dirty="0"/>
          </a:p>
        </p:txBody>
      </p:sp>
      <p:sp>
        <p:nvSpPr>
          <p:cNvPr id="6" name="Text 4"/>
          <p:cNvSpPr/>
          <p:nvPr/>
        </p:nvSpPr>
        <p:spPr>
          <a:xfrm>
            <a:off x="7418527" y="2304288"/>
            <a:ext cx="4206240" cy="365760"/>
          </a:xfrm>
          <a:prstGeom prst="rect">
            <a:avLst/>
          </a:prstGeom>
          <a:noFill/>
          <a:ln/>
        </p:spPr>
        <p:txBody>
          <a:bodyPr wrap="square" lIns="0" tIns="0" rIns="0" bIns="0" rtlCol="0" anchor="ctr"/>
          <a:lstStyle/>
          <a:p>
            <a:pPr algn="r" indent="0" marL="0">
              <a:buNone/>
            </a:pPr>
            <a:r>
              <a:rPr lang="en-US" sz="1200" dirty="0">
                <a:solidFill>
                  <a:srgbClr val="A7A8AA"/>
                </a:solidFill>
                <a:latin typeface="Calibri" pitchFamily="34" charset="0"/>
                <a:ea typeface="Calibri" pitchFamily="34" charset="-122"/>
                <a:cs typeface="Calibri" pitchFamily="34" charset="-120"/>
              </a:rPr>
              <a:t>AIMA 22.1</a:t>
            </a:r>
            <a:endParaRPr lang="en-US" sz="1200" dirty="0"/>
          </a:p>
        </p:txBody>
      </p:sp>
      <p:sp>
        <p:nvSpPr>
          <p:cNvPr id="7"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8"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You were handed the model</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LAST LECTURE</a:t>
            </a:r>
            <a:endParaRPr lang="en-US" sz="1050" dirty="0"/>
          </a:p>
        </p:txBody>
      </p:sp>
      <p:sp>
        <p:nvSpPr>
          <p:cNvPr id="4" name="Shape 2"/>
          <p:cNvSpPr/>
          <p:nvPr/>
        </p:nvSpPr>
        <p:spPr>
          <a:xfrm>
            <a:off x="566928" y="1481328"/>
            <a:ext cx="11057839" cy="859536"/>
          </a:xfrm>
          <a:prstGeom prst="roundRect">
            <a:avLst>
              <a:gd name="adj" fmla="val 9574"/>
            </a:avLst>
          </a:prstGeom>
          <a:solidFill>
            <a:srgbClr val="F4F5F6"/>
          </a:solidFill>
          <a:ln/>
        </p:spPr>
      </p:sp>
      <p:sp>
        <p:nvSpPr>
          <p:cNvPr id="5" name="Text 3"/>
          <p:cNvSpPr/>
          <p:nvPr/>
        </p:nvSpPr>
        <p:spPr>
          <a:xfrm>
            <a:off x="731520" y="1481328"/>
            <a:ext cx="10728655" cy="859536"/>
          </a:xfrm>
          <a:prstGeom prst="rect">
            <a:avLst/>
          </a:prstGeom>
          <a:noFill/>
          <a:ln/>
        </p:spPr>
        <p:txBody>
          <a:bodyPr wrap="square" lIns="0" tIns="0" rIns="0" bIns="0" rtlCol="0" anchor="ctr"/>
          <a:lstStyle/>
          <a:p>
            <a:pPr algn="ctr" indent="0" marL="0">
              <a:buNone/>
            </a:pPr>
            <a:r>
              <a:rPr lang="en-US" sz="2000" b="1" dirty="0">
                <a:solidFill>
                  <a:srgbClr val="22252A"/>
                </a:solidFill>
                <a:latin typeface="Cambria" pitchFamily="34" charset="0"/>
                <a:ea typeface="Cambria" pitchFamily="34" charset="-122"/>
                <a:cs typeface="Cambria" pitchFamily="34" charset="-120"/>
              </a:rPr>
              <a:t>V*(s)  =  maxₐ  Σₛ'  T(s, a, s')  [ R(s, a, s')  +  γ V*(s') ]</a:t>
            </a:r>
            <a:endParaRPr lang="en-US" sz="2000" dirty="0"/>
          </a:p>
        </p:txBody>
      </p:sp>
      <p:sp>
        <p:nvSpPr>
          <p:cNvPr id="6" name="Text 4"/>
          <p:cNvSpPr/>
          <p:nvPr/>
        </p:nvSpPr>
        <p:spPr>
          <a:xfrm>
            <a:off x="566928" y="2542032"/>
            <a:ext cx="11057839" cy="822960"/>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Every symbol on the right-hand side was available to you before the agent moved. T and R were part of the problem statement, so value iteration could be run to convergence in advance, offline, without ever touching the world.</a:t>
            </a:r>
            <a:endParaRPr lang="en-US" sz="1500" dirty="0"/>
          </a:p>
        </p:txBody>
      </p:sp>
      <p:sp>
        <p:nvSpPr>
          <p:cNvPr id="7" name="Shape 5"/>
          <p:cNvSpPr/>
          <p:nvPr/>
        </p:nvSpPr>
        <p:spPr>
          <a:xfrm>
            <a:off x="566928" y="3529584"/>
            <a:ext cx="2633472" cy="1481328"/>
          </a:xfrm>
          <a:prstGeom prst="roundRect">
            <a:avLst>
              <a:gd name="adj" fmla="val 5556"/>
            </a:avLst>
          </a:prstGeom>
          <a:solidFill>
            <a:srgbClr val="E7EEF6"/>
          </a:solidFill>
          <a:ln/>
        </p:spPr>
      </p:sp>
      <p:sp>
        <p:nvSpPr>
          <p:cNvPr id="8" name="Text 6"/>
          <p:cNvSpPr/>
          <p:nvPr/>
        </p:nvSpPr>
        <p:spPr>
          <a:xfrm>
            <a:off x="566928" y="3675888"/>
            <a:ext cx="2633472" cy="384048"/>
          </a:xfrm>
          <a:prstGeom prst="rect">
            <a:avLst/>
          </a:prstGeom>
          <a:noFill/>
          <a:ln/>
        </p:spPr>
        <p:txBody>
          <a:bodyPr wrap="square" lIns="0" tIns="0" rIns="0" bIns="0" rtlCol="0" anchor="ctr"/>
          <a:lstStyle/>
          <a:p>
            <a:pPr algn="ctr" indent="0" marL="0">
              <a:buNone/>
            </a:pPr>
            <a:r>
              <a:rPr lang="en-US" sz="1900" b="1" dirty="0">
                <a:solidFill>
                  <a:srgbClr val="1C5D99"/>
                </a:solidFill>
                <a:latin typeface="Cambria" pitchFamily="34" charset="0"/>
                <a:ea typeface="Cambria" pitchFamily="34" charset="-122"/>
                <a:cs typeface="Cambria" pitchFamily="34" charset="-120"/>
              </a:rPr>
              <a:t>T(s, a, s')</a:t>
            </a:r>
            <a:endParaRPr lang="en-US" sz="1900" dirty="0"/>
          </a:p>
        </p:txBody>
      </p:sp>
      <p:sp>
        <p:nvSpPr>
          <p:cNvPr id="9" name="Text 7"/>
          <p:cNvSpPr/>
          <p:nvPr/>
        </p:nvSpPr>
        <p:spPr>
          <a:xfrm>
            <a:off x="713232" y="4096512"/>
            <a:ext cx="2340864" cy="512064"/>
          </a:xfrm>
          <a:prstGeom prst="rect">
            <a:avLst/>
          </a:prstGeom>
          <a:noFill/>
          <a:ln/>
        </p:spPr>
        <p:txBody>
          <a:bodyPr wrap="square" lIns="0" tIns="0" rIns="0" bIns="0" rtlCol="0" anchor="t"/>
          <a:lstStyle/>
          <a:p>
            <a:pPr algn="ctr" indent="0" marL="0">
              <a:buNone/>
            </a:pPr>
            <a:r>
              <a:rPr lang="en-US" sz="1250" dirty="0">
                <a:solidFill>
                  <a:srgbClr val="3C4047"/>
                </a:solidFill>
                <a:latin typeface="Calibri" pitchFamily="34" charset="0"/>
                <a:ea typeface="Calibri" pitchFamily="34" charset="-122"/>
                <a:cs typeface="Calibri" pitchFamily="34" charset="-120"/>
              </a:rPr>
              <a:t>Where actions take you</a:t>
            </a:r>
            <a:endParaRPr lang="en-US" sz="1250" dirty="0"/>
          </a:p>
        </p:txBody>
      </p:sp>
      <p:sp>
        <p:nvSpPr>
          <p:cNvPr id="10" name="Text 8"/>
          <p:cNvSpPr/>
          <p:nvPr/>
        </p:nvSpPr>
        <p:spPr>
          <a:xfrm>
            <a:off x="566928" y="4626864"/>
            <a:ext cx="2633472" cy="274320"/>
          </a:xfrm>
          <a:prstGeom prst="rect">
            <a:avLst/>
          </a:prstGeom>
          <a:noFill/>
          <a:ln/>
        </p:spPr>
        <p:txBody>
          <a:bodyPr wrap="square" lIns="0" tIns="0" rIns="0" bIns="0" rtlCol="0" anchor="ctr"/>
          <a:lstStyle/>
          <a:p>
            <a:pPr algn="ctr" indent="0" marL="0">
              <a:buNone/>
            </a:pPr>
            <a:r>
              <a:rPr lang="en-US" sz="1000" b="1" spc="140" kern="0" dirty="0">
                <a:solidFill>
                  <a:srgbClr val="1C5D99"/>
                </a:solidFill>
                <a:latin typeface="Calibri" pitchFamily="34" charset="0"/>
                <a:ea typeface="Calibri" pitchFamily="34" charset="-122"/>
                <a:cs typeface="Calibri" pitchFamily="34" charset="-120"/>
              </a:rPr>
              <a:t>GIVEN</a:t>
            </a:r>
            <a:endParaRPr lang="en-US" sz="1000" dirty="0"/>
          </a:p>
        </p:txBody>
      </p:sp>
      <p:sp>
        <p:nvSpPr>
          <p:cNvPr id="11" name="Shape 9"/>
          <p:cNvSpPr/>
          <p:nvPr/>
        </p:nvSpPr>
        <p:spPr>
          <a:xfrm>
            <a:off x="3364992" y="3529584"/>
            <a:ext cx="2633472" cy="1481328"/>
          </a:xfrm>
          <a:prstGeom prst="roundRect">
            <a:avLst>
              <a:gd name="adj" fmla="val 5556"/>
            </a:avLst>
          </a:prstGeom>
          <a:solidFill>
            <a:srgbClr val="E7EEF6"/>
          </a:solidFill>
          <a:ln/>
        </p:spPr>
      </p:sp>
      <p:sp>
        <p:nvSpPr>
          <p:cNvPr id="12" name="Text 10"/>
          <p:cNvSpPr/>
          <p:nvPr/>
        </p:nvSpPr>
        <p:spPr>
          <a:xfrm>
            <a:off x="3364992" y="3675888"/>
            <a:ext cx="2633472" cy="384048"/>
          </a:xfrm>
          <a:prstGeom prst="rect">
            <a:avLst/>
          </a:prstGeom>
          <a:noFill/>
          <a:ln/>
        </p:spPr>
        <p:txBody>
          <a:bodyPr wrap="square" lIns="0" tIns="0" rIns="0" bIns="0" rtlCol="0" anchor="ctr"/>
          <a:lstStyle/>
          <a:p>
            <a:pPr algn="ctr" indent="0" marL="0">
              <a:buNone/>
            </a:pPr>
            <a:r>
              <a:rPr lang="en-US" sz="1900" b="1" dirty="0">
                <a:solidFill>
                  <a:srgbClr val="1C5D99"/>
                </a:solidFill>
                <a:latin typeface="Cambria" pitchFamily="34" charset="0"/>
                <a:ea typeface="Cambria" pitchFamily="34" charset="-122"/>
                <a:cs typeface="Cambria" pitchFamily="34" charset="-120"/>
              </a:rPr>
              <a:t>R(s, a, s')</a:t>
            </a:r>
            <a:endParaRPr lang="en-US" sz="1900" dirty="0"/>
          </a:p>
        </p:txBody>
      </p:sp>
      <p:sp>
        <p:nvSpPr>
          <p:cNvPr id="13" name="Text 11"/>
          <p:cNvSpPr/>
          <p:nvPr/>
        </p:nvSpPr>
        <p:spPr>
          <a:xfrm>
            <a:off x="3511296" y="4096512"/>
            <a:ext cx="2340864" cy="512064"/>
          </a:xfrm>
          <a:prstGeom prst="rect">
            <a:avLst/>
          </a:prstGeom>
          <a:noFill/>
          <a:ln/>
        </p:spPr>
        <p:txBody>
          <a:bodyPr wrap="square" lIns="0" tIns="0" rIns="0" bIns="0" rtlCol="0" anchor="t"/>
          <a:lstStyle/>
          <a:p>
            <a:pPr algn="ctr" indent="0" marL="0">
              <a:buNone/>
            </a:pPr>
            <a:r>
              <a:rPr lang="en-US" sz="1250" dirty="0">
                <a:solidFill>
                  <a:srgbClr val="3C4047"/>
                </a:solidFill>
                <a:latin typeface="Calibri" pitchFamily="34" charset="0"/>
                <a:ea typeface="Calibri" pitchFamily="34" charset="-122"/>
                <a:cs typeface="Calibri" pitchFamily="34" charset="-120"/>
              </a:rPr>
              <a:t>What outcomes are worth</a:t>
            </a:r>
            <a:endParaRPr lang="en-US" sz="1250" dirty="0"/>
          </a:p>
        </p:txBody>
      </p:sp>
      <p:sp>
        <p:nvSpPr>
          <p:cNvPr id="14" name="Text 12"/>
          <p:cNvSpPr/>
          <p:nvPr/>
        </p:nvSpPr>
        <p:spPr>
          <a:xfrm>
            <a:off x="3364992" y="4626864"/>
            <a:ext cx="2633472" cy="274320"/>
          </a:xfrm>
          <a:prstGeom prst="rect">
            <a:avLst/>
          </a:prstGeom>
          <a:noFill/>
          <a:ln/>
        </p:spPr>
        <p:txBody>
          <a:bodyPr wrap="square" lIns="0" tIns="0" rIns="0" bIns="0" rtlCol="0" anchor="ctr"/>
          <a:lstStyle/>
          <a:p>
            <a:pPr algn="ctr" indent="0" marL="0">
              <a:buNone/>
            </a:pPr>
            <a:r>
              <a:rPr lang="en-US" sz="1000" b="1" spc="140" kern="0" dirty="0">
                <a:solidFill>
                  <a:srgbClr val="1C5D99"/>
                </a:solidFill>
                <a:latin typeface="Calibri" pitchFamily="34" charset="0"/>
                <a:ea typeface="Calibri" pitchFamily="34" charset="-122"/>
                <a:cs typeface="Calibri" pitchFamily="34" charset="-120"/>
              </a:rPr>
              <a:t>GIVEN</a:t>
            </a:r>
            <a:endParaRPr lang="en-US" sz="1000" dirty="0"/>
          </a:p>
        </p:txBody>
      </p:sp>
      <p:sp>
        <p:nvSpPr>
          <p:cNvPr id="15" name="Shape 13"/>
          <p:cNvSpPr/>
          <p:nvPr/>
        </p:nvSpPr>
        <p:spPr>
          <a:xfrm>
            <a:off x="6163056" y="3529584"/>
            <a:ext cx="2633472" cy="1481328"/>
          </a:xfrm>
          <a:prstGeom prst="roundRect">
            <a:avLst>
              <a:gd name="adj" fmla="val 5556"/>
            </a:avLst>
          </a:prstGeom>
          <a:solidFill>
            <a:srgbClr val="E7EEF6"/>
          </a:solidFill>
          <a:ln/>
        </p:spPr>
      </p:sp>
      <p:sp>
        <p:nvSpPr>
          <p:cNvPr id="16" name="Text 14"/>
          <p:cNvSpPr/>
          <p:nvPr/>
        </p:nvSpPr>
        <p:spPr>
          <a:xfrm>
            <a:off x="6163056" y="3675888"/>
            <a:ext cx="2633472" cy="384048"/>
          </a:xfrm>
          <a:prstGeom prst="rect">
            <a:avLst/>
          </a:prstGeom>
          <a:noFill/>
          <a:ln/>
        </p:spPr>
        <p:txBody>
          <a:bodyPr wrap="square" lIns="0" tIns="0" rIns="0" bIns="0" rtlCol="0" anchor="ctr"/>
          <a:lstStyle/>
          <a:p>
            <a:pPr algn="ctr" indent="0" marL="0">
              <a:buNone/>
            </a:pPr>
            <a:r>
              <a:rPr lang="en-US" sz="1900" b="1" dirty="0">
                <a:solidFill>
                  <a:srgbClr val="1C5D99"/>
                </a:solidFill>
                <a:latin typeface="Cambria" pitchFamily="34" charset="0"/>
                <a:ea typeface="Cambria" pitchFamily="34" charset="-122"/>
                <a:cs typeface="Cambria" pitchFamily="34" charset="-120"/>
              </a:rPr>
              <a:t>γ</a:t>
            </a:r>
            <a:endParaRPr lang="en-US" sz="1900" dirty="0"/>
          </a:p>
        </p:txBody>
      </p:sp>
      <p:sp>
        <p:nvSpPr>
          <p:cNvPr id="17" name="Text 15"/>
          <p:cNvSpPr/>
          <p:nvPr/>
        </p:nvSpPr>
        <p:spPr>
          <a:xfrm>
            <a:off x="6309360" y="4096512"/>
            <a:ext cx="2340864" cy="512064"/>
          </a:xfrm>
          <a:prstGeom prst="rect">
            <a:avLst/>
          </a:prstGeom>
          <a:noFill/>
          <a:ln/>
        </p:spPr>
        <p:txBody>
          <a:bodyPr wrap="square" lIns="0" tIns="0" rIns="0" bIns="0" rtlCol="0" anchor="t"/>
          <a:lstStyle/>
          <a:p>
            <a:pPr algn="ctr" indent="0" marL="0">
              <a:buNone/>
            </a:pPr>
            <a:r>
              <a:rPr lang="en-US" sz="1250" dirty="0">
                <a:solidFill>
                  <a:srgbClr val="3C4047"/>
                </a:solidFill>
                <a:latin typeface="Calibri" pitchFamily="34" charset="0"/>
                <a:ea typeface="Calibri" pitchFamily="34" charset="-122"/>
                <a:cs typeface="Calibri" pitchFamily="34" charset="-120"/>
              </a:rPr>
              <a:t>How much the future counts</a:t>
            </a:r>
            <a:endParaRPr lang="en-US" sz="1250" dirty="0"/>
          </a:p>
        </p:txBody>
      </p:sp>
      <p:sp>
        <p:nvSpPr>
          <p:cNvPr id="18" name="Text 16"/>
          <p:cNvSpPr/>
          <p:nvPr/>
        </p:nvSpPr>
        <p:spPr>
          <a:xfrm>
            <a:off x="6163056" y="4626864"/>
            <a:ext cx="2633472" cy="274320"/>
          </a:xfrm>
          <a:prstGeom prst="rect">
            <a:avLst/>
          </a:prstGeom>
          <a:noFill/>
          <a:ln/>
        </p:spPr>
        <p:txBody>
          <a:bodyPr wrap="square" lIns="0" tIns="0" rIns="0" bIns="0" rtlCol="0" anchor="ctr"/>
          <a:lstStyle/>
          <a:p>
            <a:pPr algn="ctr" indent="0" marL="0">
              <a:buNone/>
            </a:pPr>
            <a:r>
              <a:rPr lang="en-US" sz="1000" b="1" spc="140" kern="0" dirty="0">
                <a:solidFill>
                  <a:srgbClr val="1C5D99"/>
                </a:solidFill>
                <a:latin typeface="Calibri" pitchFamily="34" charset="0"/>
                <a:ea typeface="Calibri" pitchFamily="34" charset="-122"/>
                <a:cs typeface="Calibri" pitchFamily="34" charset="-120"/>
              </a:rPr>
              <a:t>GIVEN</a:t>
            </a:r>
            <a:endParaRPr lang="en-US" sz="1000" dirty="0"/>
          </a:p>
        </p:txBody>
      </p:sp>
      <p:sp>
        <p:nvSpPr>
          <p:cNvPr id="19" name="Shape 17"/>
          <p:cNvSpPr/>
          <p:nvPr/>
        </p:nvSpPr>
        <p:spPr>
          <a:xfrm>
            <a:off x="8961120" y="3529584"/>
            <a:ext cx="2633472" cy="1481328"/>
          </a:xfrm>
          <a:prstGeom prst="roundRect">
            <a:avLst>
              <a:gd name="adj" fmla="val 5556"/>
            </a:avLst>
          </a:prstGeom>
          <a:solidFill>
            <a:srgbClr val="E8F2ED"/>
          </a:solidFill>
          <a:ln/>
        </p:spPr>
      </p:sp>
      <p:sp>
        <p:nvSpPr>
          <p:cNvPr id="20" name="Text 18"/>
          <p:cNvSpPr/>
          <p:nvPr/>
        </p:nvSpPr>
        <p:spPr>
          <a:xfrm>
            <a:off x="8961120" y="3675888"/>
            <a:ext cx="2633472" cy="384048"/>
          </a:xfrm>
          <a:prstGeom prst="rect">
            <a:avLst/>
          </a:prstGeom>
          <a:noFill/>
          <a:ln/>
        </p:spPr>
        <p:txBody>
          <a:bodyPr wrap="square" lIns="0" tIns="0" rIns="0" bIns="0" rtlCol="0" anchor="ctr"/>
          <a:lstStyle/>
          <a:p>
            <a:pPr algn="ctr" indent="0" marL="0">
              <a:buNone/>
            </a:pPr>
            <a:r>
              <a:rPr lang="en-US" sz="1900" b="1" dirty="0">
                <a:solidFill>
                  <a:srgbClr val="1B7F5A"/>
                </a:solidFill>
                <a:latin typeface="Cambria" pitchFamily="34" charset="0"/>
                <a:ea typeface="Cambria" pitchFamily="34" charset="-122"/>
                <a:cs typeface="Cambria" pitchFamily="34" charset="-120"/>
              </a:rPr>
              <a:t>π*(s)</a:t>
            </a:r>
            <a:endParaRPr lang="en-US" sz="1900" dirty="0"/>
          </a:p>
        </p:txBody>
      </p:sp>
      <p:sp>
        <p:nvSpPr>
          <p:cNvPr id="21" name="Text 19"/>
          <p:cNvSpPr/>
          <p:nvPr/>
        </p:nvSpPr>
        <p:spPr>
          <a:xfrm>
            <a:off x="9107424" y="4096512"/>
            <a:ext cx="2340864" cy="512064"/>
          </a:xfrm>
          <a:prstGeom prst="rect">
            <a:avLst/>
          </a:prstGeom>
          <a:noFill/>
          <a:ln/>
        </p:spPr>
        <p:txBody>
          <a:bodyPr wrap="square" lIns="0" tIns="0" rIns="0" bIns="0" rtlCol="0" anchor="t"/>
          <a:lstStyle/>
          <a:p>
            <a:pPr algn="ctr" indent="0" marL="0">
              <a:buNone/>
            </a:pPr>
            <a:r>
              <a:rPr lang="en-US" sz="1250" dirty="0">
                <a:solidFill>
                  <a:srgbClr val="3C4047"/>
                </a:solidFill>
                <a:latin typeface="Calibri" pitchFamily="34" charset="0"/>
                <a:ea typeface="Calibri" pitchFamily="34" charset="-122"/>
                <a:cs typeface="Calibri" pitchFamily="34" charset="-120"/>
              </a:rPr>
              <a:t>What to do in each state</a:t>
            </a:r>
            <a:endParaRPr lang="en-US" sz="1250" dirty="0"/>
          </a:p>
        </p:txBody>
      </p:sp>
      <p:sp>
        <p:nvSpPr>
          <p:cNvPr id="22" name="Text 20"/>
          <p:cNvSpPr/>
          <p:nvPr/>
        </p:nvSpPr>
        <p:spPr>
          <a:xfrm>
            <a:off x="8961120" y="4626864"/>
            <a:ext cx="2633472" cy="274320"/>
          </a:xfrm>
          <a:prstGeom prst="rect">
            <a:avLst/>
          </a:prstGeom>
          <a:noFill/>
          <a:ln/>
        </p:spPr>
        <p:txBody>
          <a:bodyPr wrap="square" lIns="0" tIns="0" rIns="0" bIns="0" rtlCol="0" anchor="ctr"/>
          <a:lstStyle/>
          <a:p>
            <a:pPr algn="ctr" indent="0" marL="0">
              <a:buNone/>
            </a:pPr>
            <a:r>
              <a:rPr lang="en-US" sz="1000" b="1" spc="140" kern="0" dirty="0">
                <a:solidFill>
                  <a:srgbClr val="1B7F5A"/>
                </a:solidFill>
                <a:latin typeface="Calibri" pitchFamily="34" charset="0"/>
                <a:ea typeface="Calibri" pitchFamily="34" charset="-122"/>
                <a:cs typeface="Calibri" pitchFamily="34" charset="-120"/>
              </a:rPr>
              <a:t>COMPUTED</a:t>
            </a:r>
            <a:endParaRPr lang="en-US" sz="1000" dirty="0"/>
          </a:p>
        </p:txBody>
      </p:sp>
      <p:sp>
        <p:nvSpPr>
          <p:cNvPr id="23" name="Shape 21"/>
          <p:cNvSpPr/>
          <p:nvPr/>
        </p:nvSpPr>
        <p:spPr>
          <a:xfrm>
            <a:off x="566928" y="5266944"/>
            <a:ext cx="11057839" cy="603504"/>
          </a:xfrm>
          <a:prstGeom prst="roundRect">
            <a:avLst>
              <a:gd name="adj" fmla="val 13636"/>
            </a:avLst>
          </a:prstGeom>
          <a:solidFill>
            <a:srgbClr val="F4F5F6"/>
          </a:solidFill>
          <a:ln/>
        </p:spPr>
      </p:sp>
      <p:sp>
        <p:nvSpPr>
          <p:cNvPr id="24" name="Shape 22"/>
          <p:cNvSpPr/>
          <p:nvPr/>
        </p:nvSpPr>
        <p:spPr>
          <a:xfrm>
            <a:off x="786384" y="5477256"/>
            <a:ext cx="182880" cy="182880"/>
          </a:xfrm>
          <a:prstGeom prst="ellipse">
            <a:avLst/>
          </a:prstGeom>
          <a:solidFill>
            <a:srgbClr val="53565A"/>
          </a:solidFill>
          <a:ln/>
        </p:spPr>
      </p:sp>
      <p:sp>
        <p:nvSpPr>
          <p:cNvPr id="25" name="Text 23"/>
          <p:cNvSpPr/>
          <p:nvPr/>
        </p:nvSpPr>
        <p:spPr>
          <a:xfrm>
            <a:off x="1115568" y="5266944"/>
            <a:ext cx="10289743" cy="603504"/>
          </a:xfrm>
          <a:prstGeom prst="rect">
            <a:avLst/>
          </a:prstGeom>
          <a:noFill/>
          <a:ln/>
        </p:spPr>
        <p:txBody>
          <a:bodyPr wrap="square" lIns="0" tIns="0" rIns="0" bIns="0" rtlCol="0" anchor="ctr"/>
          <a:lstStyle/>
          <a:p>
            <a:pPr indent="0" marL="0">
              <a:buNone/>
            </a:pPr>
            <a:r>
              <a:rPr lang="en-US" sz="1450" b="1" dirty="0">
                <a:solidFill>
                  <a:srgbClr val="3C4047"/>
                </a:solidFill>
                <a:latin typeface="Calibri" pitchFamily="34" charset="0"/>
                <a:ea typeface="Calibri" pitchFamily="34" charset="-122"/>
                <a:cs typeface="Calibri" pitchFamily="34" charset="-120"/>
              </a:rPr>
              <a:t>Planning is a computation you perform before you act. Nothing is at stake while you do it.</a:t>
            </a:r>
            <a:endParaRPr lang="en-US" sz="1450" dirty="0"/>
          </a:p>
        </p:txBody>
      </p:sp>
      <p:sp>
        <p:nvSpPr>
          <p:cNvPr id="26" name="Text 2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7" name="Text 2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The model is gone</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THIS LECTURE</a:t>
            </a:r>
            <a:endParaRPr lang="en-US" sz="1050" dirty="0"/>
          </a:p>
        </p:txBody>
      </p:sp>
      <p:sp>
        <p:nvSpPr>
          <p:cNvPr id="4" name="Shape 2"/>
          <p:cNvSpPr/>
          <p:nvPr/>
        </p:nvSpPr>
        <p:spPr>
          <a:xfrm>
            <a:off x="566928" y="1481328"/>
            <a:ext cx="11057839" cy="859536"/>
          </a:xfrm>
          <a:prstGeom prst="roundRect">
            <a:avLst>
              <a:gd name="adj" fmla="val 9574"/>
            </a:avLst>
          </a:prstGeom>
          <a:solidFill>
            <a:srgbClr val="FBEAED"/>
          </a:solidFill>
          <a:ln/>
        </p:spPr>
      </p:sp>
      <p:sp>
        <p:nvSpPr>
          <p:cNvPr id="5" name="Text 3"/>
          <p:cNvSpPr/>
          <p:nvPr/>
        </p:nvSpPr>
        <p:spPr>
          <a:xfrm>
            <a:off x="731520" y="1481328"/>
            <a:ext cx="10728655" cy="859536"/>
          </a:xfrm>
          <a:prstGeom prst="rect">
            <a:avLst/>
          </a:prstGeom>
          <a:noFill/>
          <a:ln/>
        </p:spPr>
        <p:txBody>
          <a:bodyPr wrap="square" lIns="0" tIns="0" rIns="0" bIns="0" rtlCol="0" anchor="ctr"/>
          <a:lstStyle/>
          <a:p>
            <a:pPr algn="ctr" indent="0" marL="0">
              <a:buNone/>
            </a:pPr>
            <a:r>
              <a:rPr lang="en-US" sz="2000" b="1" dirty="0">
                <a:solidFill>
                  <a:srgbClr val="8E0B20"/>
                </a:solidFill>
                <a:latin typeface="Cambria" pitchFamily="34" charset="0"/>
                <a:ea typeface="Cambria" pitchFamily="34" charset="-122"/>
                <a:cs typeface="Cambria" pitchFamily="34" charset="-120"/>
              </a:rPr>
              <a:t>V*(s)  =  maxₐ  Σₛ'  ? (s, a, s')  [ ? (s, a, s')  +  γ V*(s') ]</a:t>
            </a:r>
            <a:endParaRPr lang="en-US" sz="2000" dirty="0"/>
          </a:p>
        </p:txBody>
      </p:sp>
      <p:sp>
        <p:nvSpPr>
          <p:cNvPr id="6" name="Text 4"/>
          <p:cNvSpPr/>
          <p:nvPr/>
        </p:nvSpPr>
        <p:spPr>
          <a:xfrm>
            <a:off x="566928" y="2542032"/>
            <a:ext cx="11057839" cy="731520"/>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There is still an MDP underneath. It is simply unknown to the agent. Until you have stood in a state and taken an action, you do not know what it does or what it pays.</a:t>
            </a:r>
            <a:endParaRPr lang="en-US" sz="1500" dirty="0"/>
          </a:p>
        </p:txBody>
      </p:sp>
      <p:sp>
        <p:nvSpPr>
          <p:cNvPr id="7" name="Shape 5"/>
          <p:cNvSpPr/>
          <p:nvPr/>
        </p:nvSpPr>
        <p:spPr>
          <a:xfrm>
            <a:off x="566928" y="3346704"/>
            <a:ext cx="11057839" cy="512064"/>
          </a:xfrm>
          <a:prstGeom prst="roundRect">
            <a:avLst>
              <a:gd name="adj" fmla="val 16071"/>
            </a:avLst>
          </a:prstGeom>
          <a:solidFill>
            <a:srgbClr val="F4F5F6"/>
          </a:solidFill>
          <a:ln/>
        </p:spPr>
      </p:sp>
      <p:sp>
        <p:nvSpPr>
          <p:cNvPr id="8" name="Text 6"/>
          <p:cNvSpPr/>
          <p:nvPr/>
        </p:nvSpPr>
        <p:spPr>
          <a:xfrm>
            <a:off x="822960" y="3346704"/>
            <a:ext cx="5029200" cy="512064"/>
          </a:xfrm>
          <a:prstGeom prst="rect">
            <a:avLst/>
          </a:prstGeom>
          <a:noFill/>
          <a:ln/>
        </p:spPr>
        <p:txBody>
          <a:bodyPr wrap="square" lIns="0" tIns="0" rIns="0" bIns="0" rtlCol="0" anchor="ctr"/>
          <a:lstStyle/>
          <a:p>
            <a:pPr indent="0" marL="0">
              <a:buNone/>
            </a:pPr>
            <a:r>
              <a:rPr lang="en-US" sz="1400" b="1" dirty="0">
                <a:solidFill>
                  <a:srgbClr val="22252A"/>
                </a:solidFill>
                <a:latin typeface="Calibri" pitchFamily="34" charset="0"/>
                <a:ea typeface="Calibri" pitchFamily="34" charset="-122"/>
                <a:cs typeface="Calibri" pitchFamily="34" charset="-120"/>
              </a:rPr>
              <a:t>You cannot compute an expectation</a:t>
            </a:r>
            <a:endParaRPr lang="en-US" sz="1400" dirty="0"/>
          </a:p>
        </p:txBody>
      </p:sp>
      <p:sp>
        <p:nvSpPr>
          <p:cNvPr id="9" name="Text 7"/>
          <p:cNvSpPr/>
          <p:nvPr/>
        </p:nvSpPr>
        <p:spPr>
          <a:xfrm>
            <a:off x="6007608" y="3346704"/>
            <a:ext cx="5394960" cy="512064"/>
          </a:xfrm>
          <a:prstGeom prst="rect">
            <a:avLst/>
          </a:prstGeom>
          <a:noFill/>
          <a:ln/>
        </p:spPr>
        <p:txBody>
          <a:bodyPr wrap="square" lIns="0" tIns="0" rIns="0" bIns="0" rtlCol="0" anchor="ctr"/>
          <a:lstStyle/>
          <a:p>
            <a:pPr indent="0" marL="0">
              <a:buNone/>
            </a:pPr>
            <a:r>
              <a:rPr lang="en-US" sz="1350" dirty="0">
                <a:solidFill>
                  <a:srgbClr val="53565A"/>
                </a:solidFill>
                <a:latin typeface="Calibri" pitchFamily="34" charset="0"/>
                <a:ea typeface="Calibri" pitchFamily="34" charset="-122"/>
                <a:cs typeface="Calibri" pitchFamily="34" charset="-120"/>
              </a:rPr>
              <a:t>the weights T(s, a, s') are missing</a:t>
            </a:r>
            <a:endParaRPr lang="en-US" sz="1350" dirty="0"/>
          </a:p>
        </p:txBody>
      </p:sp>
      <p:sp>
        <p:nvSpPr>
          <p:cNvPr id="10" name="Shape 8"/>
          <p:cNvSpPr/>
          <p:nvPr/>
        </p:nvSpPr>
        <p:spPr>
          <a:xfrm>
            <a:off x="566928" y="3931920"/>
            <a:ext cx="11057839" cy="512064"/>
          </a:xfrm>
          <a:prstGeom prst="roundRect">
            <a:avLst>
              <a:gd name="adj" fmla="val 16071"/>
            </a:avLst>
          </a:prstGeom>
          <a:solidFill>
            <a:srgbClr val="F4F5F6"/>
          </a:solidFill>
          <a:ln/>
        </p:spPr>
      </p:sp>
      <p:sp>
        <p:nvSpPr>
          <p:cNvPr id="11" name="Text 9"/>
          <p:cNvSpPr/>
          <p:nvPr/>
        </p:nvSpPr>
        <p:spPr>
          <a:xfrm>
            <a:off x="822960" y="3931920"/>
            <a:ext cx="5029200" cy="512064"/>
          </a:xfrm>
          <a:prstGeom prst="rect">
            <a:avLst/>
          </a:prstGeom>
          <a:noFill/>
          <a:ln/>
        </p:spPr>
        <p:txBody>
          <a:bodyPr wrap="square" lIns="0" tIns="0" rIns="0" bIns="0" rtlCol="0" anchor="ctr"/>
          <a:lstStyle/>
          <a:p>
            <a:pPr indent="0" marL="0">
              <a:buNone/>
            </a:pPr>
            <a:r>
              <a:rPr lang="en-US" sz="1400" b="1" dirty="0">
                <a:solidFill>
                  <a:srgbClr val="22252A"/>
                </a:solidFill>
                <a:latin typeface="Calibri" pitchFamily="34" charset="0"/>
                <a:ea typeface="Calibri" pitchFamily="34" charset="-122"/>
                <a:cs typeface="Calibri" pitchFamily="34" charset="-120"/>
              </a:rPr>
              <a:t>You cannot evaluate an action in advance</a:t>
            </a:r>
            <a:endParaRPr lang="en-US" sz="1400" dirty="0"/>
          </a:p>
        </p:txBody>
      </p:sp>
      <p:sp>
        <p:nvSpPr>
          <p:cNvPr id="12" name="Text 10"/>
          <p:cNvSpPr/>
          <p:nvPr/>
        </p:nvSpPr>
        <p:spPr>
          <a:xfrm>
            <a:off x="6007608" y="3931920"/>
            <a:ext cx="5394960" cy="512064"/>
          </a:xfrm>
          <a:prstGeom prst="rect">
            <a:avLst/>
          </a:prstGeom>
          <a:noFill/>
          <a:ln/>
        </p:spPr>
        <p:txBody>
          <a:bodyPr wrap="square" lIns="0" tIns="0" rIns="0" bIns="0" rtlCol="0" anchor="ctr"/>
          <a:lstStyle/>
          <a:p>
            <a:pPr indent="0" marL="0">
              <a:buNone/>
            </a:pPr>
            <a:r>
              <a:rPr lang="en-US" sz="1350" dirty="0">
                <a:solidFill>
                  <a:srgbClr val="53565A"/>
                </a:solidFill>
                <a:latin typeface="Calibri" pitchFamily="34" charset="0"/>
                <a:ea typeface="Calibri" pitchFamily="34" charset="-122"/>
                <a:cs typeface="Calibri" pitchFamily="34" charset="-120"/>
              </a:rPr>
              <a:t>you do not know what it leads to</a:t>
            </a:r>
            <a:endParaRPr lang="en-US" sz="1350" dirty="0"/>
          </a:p>
        </p:txBody>
      </p:sp>
      <p:sp>
        <p:nvSpPr>
          <p:cNvPr id="13" name="Shape 11"/>
          <p:cNvSpPr/>
          <p:nvPr/>
        </p:nvSpPr>
        <p:spPr>
          <a:xfrm>
            <a:off x="566928" y="4517136"/>
            <a:ext cx="11057839" cy="512064"/>
          </a:xfrm>
          <a:prstGeom prst="roundRect">
            <a:avLst>
              <a:gd name="adj" fmla="val 16071"/>
            </a:avLst>
          </a:prstGeom>
          <a:solidFill>
            <a:srgbClr val="F4F5F6"/>
          </a:solidFill>
          <a:ln/>
        </p:spPr>
      </p:sp>
      <p:sp>
        <p:nvSpPr>
          <p:cNvPr id="14" name="Text 12"/>
          <p:cNvSpPr/>
          <p:nvPr/>
        </p:nvSpPr>
        <p:spPr>
          <a:xfrm>
            <a:off x="822960" y="4517136"/>
            <a:ext cx="5029200" cy="512064"/>
          </a:xfrm>
          <a:prstGeom prst="rect">
            <a:avLst/>
          </a:prstGeom>
          <a:noFill/>
          <a:ln/>
        </p:spPr>
        <p:txBody>
          <a:bodyPr wrap="square" lIns="0" tIns="0" rIns="0" bIns="0" rtlCol="0" anchor="ctr"/>
          <a:lstStyle/>
          <a:p>
            <a:pPr indent="0" marL="0">
              <a:buNone/>
            </a:pPr>
            <a:r>
              <a:rPr lang="en-US" sz="1400" b="1" dirty="0">
                <a:solidFill>
                  <a:srgbClr val="22252A"/>
                </a:solidFill>
                <a:latin typeface="Calibri" pitchFamily="34" charset="0"/>
                <a:ea typeface="Calibri" pitchFamily="34" charset="-122"/>
                <a:cs typeface="Calibri" pitchFamily="34" charset="-120"/>
              </a:rPr>
              <a:t>You cannot tell a good state from a bad one</a:t>
            </a:r>
            <a:endParaRPr lang="en-US" sz="1400" dirty="0"/>
          </a:p>
        </p:txBody>
      </p:sp>
      <p:sp>
        <p:nvSpPr>
          <p:cNvPr id="15" name="Text 13"/>
          <p:cNvSpPr/>
          <p:nvPr/>
        </p:nvSpPr>
        <p:spPr>
          <a:xfrm>
            <a:off x="6007608" y="4517136"/>
            <a:ext cx="5394960" cy="512064"/>
          </a:xfrm>
          <a:prstGeom prst="rect">
            <a:avLst/>
          </a:prstGeom>
          <a:noFill/>
          <a:ln/>
        </p:spPr>
        <p:txBody>
          <a:bodyPr wrap="square" lIns="0" tIns="0" rIns="0" bIns="0" rtlCol="0" anchor="ctr"/>
          <a:lstStyle/>
          <a:p>
            <a:pPr indent="0" marL="0">
              <a:buNone/>
            </a:pPr>
            <a:r>
              <a:rPr lang="en-US" sz="1350" dirty="0">
                <a:solidFill>
                  <a:srgbClr val="53565A"/>
                </a:solidFill>
                <a:latin typeface="Calibri" pitchFamily="34" charset="0"/>
                <a:ea typeface="Calibri" pitchFamily="34" charset="-122"/>
                <a:cs typeface="Calibri" pitchFamily="34" charset="-120"/>
              </a:rPr>
              <a:t>until you have visited it and been paid</a:t>
            </a:r>
            <a:endParaRPr lang="en-US" sz="1350" dirty="0"/>
          </a:p>
        </p:txBody>
      </p:sp>
      <p:sp>
        <p:nvSpPr>
          <p:cNvPr id="16" name="Shape 14"/>
          <p:cNvSpPr/>
          <p:nvPr/>
        </p:nvSpPr>
        <p:spPr>
          <a:xfrm>
            <a:off x="566928" y="5102352"/>
            <a:ext cx="11057839" cy="512064"/>
          </a:xfrm>
          <a:prstGeom prst="roundRect">
            <a:avLst>
              <a:gd name="adj" fmla="val 16071"/>
            </a:avLst>
          </a:prstGeom>
          <a:solidFill>
            <a:srgbClr val="F4F5F6"/>
          </a:solidFill>
          <a:ln/>
        </p:spPr>
      </p:sp>
      <p:sp>
        <p:nvSpPr>
          <p:cNvPr id="17" name="Text 15"/>
          <p:cNvSpPr/>
          <p:nvPr/>
        </p:nvSpPr>
        <p:spPr>
          <a:xfrm>
            <a:off x="822960" y="5102352"/>
            <a:ext cx="5029200" cy="512064"/>
          </a:xfrm>
          <a:prstGeom prst="rect">
            <a:avLst/>
          </a:prstGeom>
          <a:noFill/>
          <a:ln/>
        </p:spPr>
        <p:txBody>
          <a:bodyPr wrap="square" lIns="0" tIns="0" rIns="0" bIns="0" rtlCol="0" anchor="ctr"/>
          <a:lstStyle/>
          <a:p>
            <a:pPr indent="0" marL="0">
              <a:buNone/>
            </a:pPr>
            <a:r>
              <a:rPr lang="en-US" sz="1400" b="1" dirty="0">
                <a:solidFill>
                  <a:srgbClr val="22252A"/>
                </a:solidFill>
                <a:latin typeface="Calibri" pitchFamily="34" charset="0"/>
                <a:ea typeface="Calibri" pitchFamily="34" charset="-122"/>
                <a:cs typeface="Calibri" pitchFamily="34" charset="-120"/>
              </a:rPr>
              <a:t>You cannot practise for free</a:t>
            </a:r>
            <a:endParaRPr lang="en-US" sz="1400" dirty="0"/>
          </a:p>
        </p:txBody>
      </p:sp>
      <p:sp>
        <p:nvSpPr>
          <p:cNvPr id="18" name="Text 16"/>
          <p:cNvSpPr/>
          <p:nvPr/>
        </p:nvSpPr>
        <p:spPr>
          <a:xfrm>
            <a:off x="6007608" y="5102352"/>
            <a:ext cx="5394960" cy="512064"/>
          </a:xfrm>
          <a:prstGeom prst="rect">
            <a:avLst/>
          </a:prstGeom>
          <a:noFill/>
          <a:ln/>
        </p:spPr>
        <p:txBody>
          <a:bodyPr wrap="square" lIns="0" tIns="0" rIns="0" bIns="0" rtlCol="0" anchor="ctr"/>
          <a:lstStyle/>
          <a:p>
            <a:pPr indent="0" marL="0">
              <a:buNone/>
            </a:pPr>
            <a:r>
              <a:rPr lang="en-US" sz="1350" dirty="0">
                <a:solidFill>
                  <a:srgbClr val="53565A"/>
                </a:solidFill>
                <a:latin typeface="Calibri" pitchFamily="34" charset="0"/>
                <a:ea typeface="Calibri" pitchFamily="34" charset="-122"/>
                <a:cs typeface="Calibri" pitchFamily="34" charset="-120"/>
              </a:rPr>
              <a:t>there is no simulator to fail inside</a:t>
            </a:r>
            <a:endParaRPr lang="en-US" sz="1350" dirty="0"/>
          </a:p>
        </p:txBody>
      </p:sp>
      <p:sp>
        <p:nvSpPr>
          <p:cNvPr id="19" name="Shape 17"/>
          <p:cNvSpPr/>
          <p:nvPr/>
        </p:nvSpPr>
        <p:spPr>
          <a:xfrm>
            <a:off x="566928" y="5650992"/>
            <a:ext cx="11057839" cy="603504"/>
          </a:xfrm>
          <a:prstGeom prst="roundRect">
            <a:avLst>
              <a:gd name="adj" fmla="val 13636"/>
            </a:avLst>
          </a:prstGeom>
          <a:solidFill>
            <a:srgbClr val="FBEAED"/>
          </a:solidFill>
          <a:ln/>
        </p:spPr>
      </p:sp>
      <p:sp>
        <p:nvSpPr>
          <p:cNvPr id="20" name="Shape 18"/>
          <p:cNvSpPr/>
          <p:nvPr/>
        </p:nvSpPr>
        <p:spPr>
          <a:xfrm>
            <a:off x="786384" y="5861304"/>
            <a:ext cx="182880" cy="182880"/>
          </a:xfrm>
          <a:prstGeom prst="ellipse">
            <a:avLst/>
          </a:prstGeom>
          <a:solidFill>
            <a:srgbClr val="C8102E"/>
          </a:solidFill>
          <a:ln/>
        </p:spPr>
      </p:sp>
      <p:sp>
        <p:nvSpPr>
          <p:cNvPr id="21" name="Text 19"/>
          <p:cNvSpPr/>
          <p:nvPr/>
        </p:nvSpPr>
        <p:spPr>
          <a:xfrm>
            <a:off x="1115568" y="5650992"/>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Learning is not a computation you perform before acting. Acting is how the computation gets its inputs.</a:t>
            </a:r>
            <a:endParaRPr lang="en-US" sz="1450" dirty="0"/>
          </a:p>
        </p:txBody>
      </p:sp>
      <p:sp>
        <p:nvSpPr>
          <p:cNvPr id="22" name="Text 20"/>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3" name="Text 21"/>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The only channel the agent has</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Action out, state and reward back. Repeat. That is the entire interface.</a:t>
            </a:r>
            <a:endParaRPr lang="en-US" sz="1400" dirty="0"/>
          </a:p>
        </p:txBody>
      </p:sp>
      <p:pic>
        <p:nvPicPr>
          <p:cNvPr id="4" name="Image 0" descr="/home/claude/comp469_rl/figures/fig01_agent_env_loop.png">    </p:cNvPr>
          <p:cNvPicPr>
            <a:picLocks noChangeAspect="1"/>
          </p:cNvPicPr>
          <p:nvPr/>
        </p:nvPicPr>
        <p:blipFill>
          <a:blip r:embed="rId1"/>
          <a:srcRect l="0" r="0" t="0" b="0"/>
          <a:stretch/>
        </p:blipFill>
        <p:spPr>
          <a:xfrm>
            <a:off x="1325880" y="1700784"/>
            <a:ext cx="9509760" cy="3310128"/>
          </a:xfrm>
          <a:prstGeom prst="rect">
            <a:avLst/>
          </a:prstGeom>
        </p:spPr>
      </p:pic>
      <p:sp>
        <p:nvSpPr>
          <p:cNvPr id="5" name="Shape 2"/>
          <p:cNvSpPr/>
          <p:nvPr/>
        </p:nvSpPr>
        <p:spPr>
          <a:xfrm>
            <a:off x="566928" y="5102352"/>
            <a:ext cx="2633472" cy="658368"/>
          </a:xfrm>
          <a:prstGeom prst="roundRect">
            <a:avLst>
              <a:gd name="adj" fmla="val 12500"/>
            </a:avLst>
          </a:prstGeom>
          <a:solidFill>
            <a:srgbClr val="F4F5F6"/>
          </a:solidFill>
          <a:ln/>
        </p:spPr>
      </p:sp>
      <p:sp>
        <p:nvSpPr>
          <p:cNvPr id="6" name="Text 3"/>
          <p:cNvSpPr/>
          <p:nvPr/>
        </p:nvSpPr>
        <p:spPr>
          <a:xfrm>
            <a:off x="768096" y="5102352"/>
            <a:ext cx="548640" cy="658368"/>
          </a:xfrm>
          <a:prstGeom prst="rect">
            <a:avLst/>
          </a:prstGeom>
          <a:noFill/>
          <a:ln/>
        </p:spPr>
        <p:txBody>
          <a:bodyPr wrap="square" lIns="0" tIns="0" rIns="0" bIns="0" rtlCol="0" anchor="ctr"/>
          <a:lstStyle/>
          <a:p>
            <a:pPr indent="0" marL="0">
              <a:buNone/>
            </a:pPr>
            <a:r>
              <a:rPr lang="en-US" sz="2000" b="1" dirty="0">
                <a:solidFill>
                  <a:srgbClr val="1C5D99"/>
                </a:solidFill>
                <a:latin typeface="Cambria" pitchFamily="34" charset="0"/>
                <a:ea typeface="Cambria" pitchFamily="34" charset="-122"/>
                <a:cs typeface="Cambria" pitchFamily="34" charset="-120"/>
              </a:rPr>
              <a:t>s</a:t>
            </a:r>
            <a:endParaRPr lang="en-US" sz="2000" dirty="0"/>
          </a:p>
        </p:txBody>
      </p:sp>
      <p:sp>
        <p:nvSpPr>
          <p:cNvPr id="7" name="Text 4"/>
          <p:cNvSpPr/>
          <p:nvPr/>
        </p:nvSpPr>
        <p:spPr>
          <a:xfrm>
            <a:off x="1335024" y="5102352"/>
            <a:ext cx="1737360" cy="658368"/>
          </a:xfrm>
          <a:prstGeom prst="rect">
            <a:avLst/>
          </a:prstGeom>
          <a:noFill/>
          <a:ln/>
        </p:spPr>
        <p:txBody>
          <a:bodyPr wrap="square" lIns="0" tIns="0" rIns="0" bIns="0" rtlCol="0" anchor="ctr"/>
          <a:lstStyle/>
          <a:p>
            <a:pPr indent="0" marL="0">
              <a:buNone/>
            </a:pPr>
            <a:r>
              <a:rPr lang="en-US" sz="1150" dirty="0">
                <a:solidFill>
                  <a:srgbClr val="3C4047"/>
                </a:solidFill>
                <a:latin typeface="Calibri" pitchFamily="34" charset="0"/>
                <a:ea typeface="Calibri" pitchFamily="34" charset="-122"/>
                <a:cs typeface="Calibri" pitchFamily="34" charset="-120"/>
              </a:rPr>
              <a:t>the state you are in</a:t>
            </a:r>
            <a:endParaRPr lang="en-US" sz="1150" dirty="0"/>
          </a:p>
        </p:txBody>
      </p:sp>
      <p:sp>
        <p:nvSpPr>
          <p:cNvPr id="8" name="Shape 5"/>
          <p:cNvSpPr/>
          <p:nvPr/>
        </p:nvSpPr>
        <p:spPr>
          <a:xfrm>
            <a:off x="3364992" y="5102352"/>
            <a:ext cx="2633472" cy="658368"/>
          </a:xfrm>
          <a:prstGeom prst="roundRect">
            <a:avLst>
              <a:gd name="adj" fmla="val 12500"/>
            </a:avLst>
          </a:prstGeom>
          <a:solidFill>
            <a:srgbClr val="F4F5F6"/>
          </a:solidFill>
          <a:ln/>
        </p:spPr>
      </p:sp>
      <p:sp>
        <p:nvSpPr>
          <p:cNvPr id="9" name="Text 6"/>
          <p:cNvSpPr/>
          <p:nvPr/>
        </p:nvSpPr>
        <p:spPr>
          <a:xfrm>
            <a:off x="3566160" y="5102352"/>
            <a:ext cx="548640" cy="658368"/>
          </a:xfrm>
          <a:prstGeom prst="rect">
            <a:avLst/>
          </a:prstGeom>
          <a:noFill/>
          <a:ln/>
        </p:spPr>
        <p:txBody>
          <a:bodyPr wrap="square" lIns="0" tIns="0" rIns="0" bIns="0" rtlCol="0" anchor="ctr"/>
          <a:lstStyle/>
          <a:p>
            <a:pPr indent="0" marL="0">
              <a:buNone/>
            </a:pPr>
            <a:r>
              <a:rPr lang="en-US" sz="2000" b="1" dirty="0">
                <a:solidFill>
                  <a:srgbClr val="C8102E"/>
                </a:solidFill>
                <a:latin typeface="Cambria" pitchFamily="34" charset="0"/>
                <a:ea typeface="Cambria" pitchFamily="34" charset="-122"/>
                <a:cs typeface="Cambria" pitchFamily="34" charset="-120"/>
              </a:rPr>
              <a:t>a</a:t>
            </a:r>
            <a:endParaRPr lang="en-US" sz="2000" dirty="0"/>
          </a:p>
        </p:txBody>
      </p:sp>
      <p:sp>
        <p:nvSpPr>
          <p:cNvPr id="10" name="Text 7"/>
          <p:cNvSpPr/>
          <p:nvPr/>
        </p:nvSpPr>
        <p:spPr>
          <a:xfrm>
            <a:off x="4133088" y="5102352"/>
            <a:ext cx="1737360" cy="658368"/>
          </a:xfrm>
          <a:prstGeom prst="rect">
            <a:avLst/>
          </a:prstGeom>
          <a:noFill/>
          <a:ln/>
        </p:spPr>
        <p:txBody>
          <a:bodyPr wrap="square" lIns="0" tIns="0" rIns="0" bIns="0" rtlCol="0" anchor="ctr"/>
          <a:lstStyle/>
          <a:p>
            <a:pPr indent="0" marL="0">
              <a:buNone/>
            </a:pPr>
            <a:r>
              <a:rPr lang="en-US" sz="1150" dirty="0">
                <a:solidFill>
                  <a:srgbClr val="3C4047"/>
                </a:solidFill>
                <a:latin typeface="Calibri" pitchFamily="34" charset="0"/>
                <a:ea typeface="Calibri" pitchFamily="34" charset="-122"/>
                <a:cs typeface="Calibri" pitchFamily="34" charset="-120"/>
              </a:rPr>
              <a:t>the action you chose</a:t>
            </a:r>
            <a:endParaRPr lang="en-US" sz="1150" dirty="0"/>
          </a:p>
        </p:txBody>
      </p:sp>
      <p:sp>
        <p:nvSpPr>
          <p:cNvPr id="11" name="Shape 8"/>
          <p:cNvSpPr/>
          <p:nvPr/>
        </p:nvSpPr>
        <p:spPr>
          <a:xfrm>
            <a:off x="6163056" y="5102352"/>
            <a:ext cx="2633472" cy="658368"/>
          </a:xfrm>
          <a:prstGeom prst="roundRect">
            <a:avLst>
              <a:gd name="adj" fmla="val 12500"/>
            </a:avLst>
          </a:prstGeom>
          <a:solidFill>
            <a:srgbClr val="F4F5F6"/>
          </a:solidFill>
          <a:ln/>
        </p:spPr>
      </p:sp>
      <p:sp>
        <p:nvSpPr>
          <p:cNvPr id="12" name="Text 9"/>
          <p:cNvSpPr/>
          <p:nvPr/>
        </p:nvSpPr>
        <p:spPr>
          <a:xfrm>
            <a:off x="6364224" y="5102352"/>
            <a:ext cx="548640" cy="658368"/>
          </a:xfrm>
          <a:prstGeom prst="rect">
            <a:avLst/>
          </a:prstGeom>
          <a:noFill/>
          <a:ln/>
        </p:spPr>
        <p:txBody>
          <a:bodyPr wrap="square" lIns="0" tIns="0" rIns="0" bIns="0" rtlCol="0" anchor="ctr"/>
          <a:lstStyle/>
          <a:p>
            <a:pPr indent="0" marL="0">
              <a:buNone/>
            </a:pPr>
            <a:r>
              <a:rPr lang="en-US" sz="2000" b="1" dirty="0">
                <a:solidFill>
                  <a:srgbClr val="53565A"/>
                </a:solidFill>
                <a:latin typeface="Cambria" pitchFamily="34" charset="0"/>
                <a:ea typeface="Cambria" pitchFamily="34" charset="-122"/>
                <a:cs typeface="Cambria" pitchFamily="34" charset="-120"/>
              </a:rPr>
              <a:t>s'</a:t>
            </a:r>
            <a:endParaRPr lang="en-US" sz="2000" dirty="0"/>
          </a:p>
        </p:txBody>
      </p:sp>
      <p:sp>
        <p:nvSpPr>
          <p:cNvPr id="13" name="Text 10"/>
          <p:cNvSpPr/>
          <p:nvPr/>
        </p:nvSpPr>
        <p:spPr>
          <a:xfrm>
            <a:off x="6931152" y="5102352"/>
            <a:ext cx="1737360" cy="658368"/>
          </a:xfrm>
          <a:prstGeom prst="rect">
            <a:avLst/>
          </a:prstGeom>
          <a:noFill/>
          <a:ln/>
        </p:spPr>
        <p:txBody>
          <a:bodyPr wrap="square" lIns="0" tIns="0" rIns="0" bIns="0" rtlCol="0" anchor="ctr"/>
          <a:lstStyle/>
          <a:p>
            <a:pPr indent="0" marL="0">
              <a:buNone/>
            </a:pPr>
            <a:r>
              <a:rPr lang="en-US" sz="1150" dirty="0">
                <a:solidFill>
                  <a:srgbClr val="3C4047"/>
                </a:solidFill>
                <a:latin typeface="Calibri" pitchFamily="34" charset="0"/>
                <a:ea typeface="Calibri" pitchFamily="34" charset="-122"/>
                <a:cs typeface="Calibri" pitchFamily="34" charset="-120"/>
              </a:rPr>
              <a:t>where you actually ended up</a:t>
            </a:r>
            <a:endParaRPr lang="en-US" sz="1150" dirty="0"/>
          </a:p>
        </p:txBody>
      </p:sp>
      <p:sp>
        <p:nvSpPr>
          <p:cNvPr id="14" name="Shape 11"/>
          <p:cNvSpPr/>
          <p:nvPr/>
        </p:nvSpPr>
        <p:spPr>
          <a:xfrm>
            <a:off x="8961120" y="5102352"/>
            <a:ext cx="2633472" cy="658368"/>
          </a:xfrm>
          <a:prstGeom prst="roundRect">
            <a:avLst>
              <a:gd name="adj" fmla="val 12500"/>
            </a:avLst>
          </a:prstGeom>
          <a:solidFill>
            <a:srgbClr val="F4F5F6"/>
          </a:solidFill>
          <a:ln/>
        </p:spPr>
      </p:sp>
      <p:sp>
        <p:nvSpPr>
          <p:cNvPr id="15" name="Text 12"/>
          <p:cNvSpPr/>
          <p:nvPr/>
        </p:nvSpPr>
        <p:spPr>
          <a:xfrm>
            <a:off x="9162288" y="5102352"/>
            <a:ext cx="548640" cy="658368"/>
          </a:xfrm>
          <a:prstGeom prst="rect">
            <a:avLst/>
          </a:prstGeom>
          <a:noFill/>
          <a:ln/>
        </p:spPr>
        <p:txBody>
          <a:bodyPr wrap="square" lIns="0" tIns="0" rIns="0" bIns="0" rtlCol="0" anchor="ctr"/>
          <a:lstStyle/>
          <a:p>
            <a:pPr indent="0" marL="0">
              <a:buNone/>
            </a:pPr>
            <a:r>
              <a:rPr lang="en-US" sz="2000" b="1" dirty="0">
                <a:solidFill>
                  <a:srgbClr val="1B7F5A"/>
                </a:solidFill>
                <a:latin typeface="Cambria" pitchFamily="34" charset="0"/>
                <a:ea typeface="Cambria" pitchFamily="34" charset="-122"/>
                <a:cs typeface="Cambria" pitchFamily="34" charset="-120"/>
              </a:rPr>
              <a:t>r</a:t>
            </a:r>
            <a:endParaRPr lang="en-US" sz="2000" dirty="0"/>
          </a:p>
        </p:txBody>
      </p:sp>
      <p:sp>
        <p:nvSpPr>
          <p:cNvPr id="16" name="Text 13"/>
          <p:cNvSpPr/>
          <p:nvPr/>
        </p:nvSpPr>
        <p:spPr>
          <a:xfrm>
            <a:off x="9729216" y="5102352"/>
            <a:ext cx="1737360" cy="658368"/>
          </a:xfrm>
          <a:prstGeom prst="rect">
            <a:avLst/>
          </a:prstGeom>
          <a:noFill/>
          <a:ln/>
        </p:spPr>
        <p:txBody>
          <a:bodyPr wrap="square" lIns="0" tIns="0" rIns="0" bIns="0" rtlCol="0" anchor="ctr"/>
          <a:lstStyle/>
          <a:p>
            <a:pPr indent="0" marL="0">
              <a:buNone/>
            </a:pPr>
            <a:r>
              <a:rPr lang="en-US" sz="1150" dirty="0">
                <a:solidFill>
                  <a:srgbClr val="3C4047"/>
                </a:solidFill>
                <a:latin typeface="Calibri" pitchFamily="34" charset="0"/>
                <a:ea typeface="Calibri" pitchFamily="34" charset="-122"/>
                <a:cs typeface="Calibri" pitchFamily="34" charset="-120"/>
              </a:rPr>
              <a:t>what you were paid for it</a:t>
            </a:r>
            <a:endParaRPr lang="en-US" sz="1150" dirty="0"/>
          </a:p>
        </p:txBody>
      </p:sp>
      <p:sp>
        <p:nvSpPr>
          <p:cNvPr id="17" name="Text 1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8" name="Text 1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Three problems nobody can write down a solution for</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MOTIVATION</a:t>
            </a:r>
            <a:endParaRPr lang="en-US" sz="1050" dirty="0"/>
          </a:p>
        </p:txBody>
      </p:sp>
      <p:sp>
        <p:nvSpPr>
          <p:cNvPr id="4" name="Shape 2"/>
          <p:cNvSpPr/>
          <p:nvPr/>
        </p:nvSpPr>
        <p:spPr>
          <a:xfrm>
            <a:off x="566928" y="1517904"/>
            <a:ext cx="3529584" cy="3913632"/>
          </a:xfrm>
          <a:prstGeom prst="roundRect">
            <a:avLst>
              <a:gd name="adj" fmla="val 2332"/>
            </a:avLst>
          </a:prstGeom>
          <a:solidFill>
            <a:srgbClr val="F4F5F6"/>
          </a:solidFill>
          <a:ln/>
        </p:spPr>
      </p:sp>
      <p:sp>
        <p:nvSpPr>
          <p:cNvPr id="5" name="Shape 3"/>
          <p:cNvSpPr/>
          <p:nvPr/>
        </p:nvSpPr>
        <p:spPr>
          <a:xfrm>
            <a:off x="804672" y="1737360"/>
            <a:ext cx="365760" cy="365760"/>
          </a:xfrm>
          <a:prstGeom prst="ellipse">
            <a:avLst/>
          </a:prstGeom>
          <a:solidFill>
            <a:srgbClr val="C8102E"/>
          </a:solidFill>
          <a:ln/>
        </p:spPr>
      </p:sp>
      <p:sp>
        <p:nvSpPr>
          <p:cNvPr id="6" name="Text 4"/>
          <p:cNvSpPr/>
          <p:nvPr/>
        </p:nvSpPr>
        <p:spPr>
          <a:xfrm>
            <a:off x="804672"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98448" y="1719072"/>
            <a:ext cx="2615184" cy="402336"/>
          </a:xfrm>
          <a:prstGeom prst="rect">
            <a:avLst/>
          </a:prstGeom>
          <a:noFill/>
          <a:ln/>
        </p:spPr>
        <p:txBody>
          <a:bodyPr wrap="square" lIns="0" tIns="0" rIns="0" bIns="0" rtlCol="0" anchor="ctr"/>
          <a:lstStyle/>
          <a:p>
            <a:pPr indent="0" marL="0">
              <a:buNone/>
            </a:pPr>
            <a:r>
              <a:rPr lang="en-US" sz="1650" b="1" dirty="0">
                <a:solidFill>
                  <a:srgbClr val="22252A"/>
                </a:solidFill>
                <a:latin typeface="Cambria" pitchFamily="34" charset="0"/>
                <a:ea typeface="Cambria" pitchFamily="34" charset="-122"/>
                <a:cs typeface="Cambria" pitchFamily="34" charset="-120"/>
              </a:rPr>
              <a:t>Quadruped gait</a:t>
            </a:r>
            <a:endParaRPr lang="en-US" sz="1650" dirty="0"/>
          </a:p>
        </p:txBody>
      </p:sp>
      <p:sp>
        <p:nvSpPr>
          <p:cNvPr id="8" name="Text 6"/>
          <p:cNvSpPr/>
          <p:nvPr/>
        </p:nvSpPr>
        <p:spPr>
          <a:xfrm>
            <a:off x="804672" y="2194560"/>
            <a:ext cx="3072384" cy="256032"/>
          </a:xfrm>
          <a:prstGeom prst="rect">
            <a:avLst/>
          </a:prstGeom>
          <a:noFill/>
          <a:ln/>
        </p:spPr>
        <p:txBody>
          <a:bodyPr wrap="square" lIns="0" tIns="0" rIns="0" bIns="0" rtlCol="0" anchor="ctr"/>
          <a:lstStyle/>
          <a:p>
            <a:pPr indent="0" marL="0">
              <a:buNone/>
            </a:pPr>
            <a:r>
              <a:rPr lang="en-US" sz="1100" i="1" dirty="0">
                <a:solidFill>
                  <a:srgbClr val="53565A"/>
                </a:solidFill>
                <a:latin typeface="Calibri" pitchFamily="34" charset="0"/>
                <a:ea typeface="Calibri" pitchFamily="34" charset="-122"/>
                <a:cs typeface="Calibri" pitchFamily="34" charset="-120"/>
              </a:rPr>
              <a:t>Kohl and Stone, ICRA 2004</a:t>
            </a:r>
            <a:endParaRPr lang="en-US" sz="1100" dirty="0"/>
          </a:p>
        </p:txBody>
      </p:sp>
      <p:sp>
        <p:nvSpPr>
          <p:cNvPr id="9" name="Text 7"/>
          <p:cNvSpPr/>
          <p:nvPr/>
        </p:nvSpPr>
        <p:spPr>
          <a:xfrm>
            <a:off x="804672" y="2560320"/>
            <a:ext cx="3054096" cy="274320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3C4047"/>
                </a:solidFill>
                <a:latin typeface="Calibri" pitchFamily="34" charset="0"/>
                <a:ea typeface="Calibri" pitchFamily="34" charset="-122"/>
                <a:cs typeface="Calibri" pitchFamily="34" charset="-120"/>
              </a:rPr>
              <a:t>Reward: net forward distance per trial.</a:t>
            </a:r>
            <a:endParaRPr lang="en-US" sz="1250" dirty="0"/>
          </a:p>
          <a:p>
            <a:pPr marL="177800" indent="-177800">
              <a:spcAft>
                <a:spcPts val="1000"/>
              </a:spcAft>
              <a:buSzPct val="100000"/>
              <a:buChar char="•"/>
            </a:pPr>
            <a:r>
              <a:rPr lang="en-US" sz="1250" dirty="0">
                <a:solidFill>
                  <a:srgbClr val="3C4047"/>
                </a:solidFill>
                <a:latin typeface="Calibri" pitchFamily="34" charset="0"/>
                <a:ea typeface="Calibri" pitchFamily="34" charset="-122"/>
                <a:cs typeface="Calibri" pitchFamily="34" charset="-120"/>
              </a:rPr>
              <a:t>The learned gait is not the obvious straight-legged one. It drops onto the elbows for support.</a:t>
            </a:r>
            <a:endParaRPr lang="en-US" sz="1250" dirty="0"/>
          </a:p>
          <a:p>
            <a:pPr marL="177800" indent="-177800">
              <a:spcAft>
                <a:spcPts val="1000"/>
              </a:spcAft>
              <a:buSzPct val="100000"/>
              <a:buChar char="•"/>
            </a:pPr>
            <a:r>
              <a:rPr lang="en-US" sz="1250" dirty="0">
                <a:solidFill>
                  <a:srgbClr val="3C4047"/>
                </a:solidFill>
                <a:latin typeface="Calibri" pitchFamily="34" charset="0"/>
                <a:ea typeface="Calibri" pitchFamily="34" charset="-122"/>
                <a:cs typeface="Calibri" pitchFamily="34" charset="-120"/>
              </a:rPr>
              <a:t>Retuning is needed on a new field, because turf changes how much the legs slip.</a:t>
            </a:r>
            <a:endParaRPr lang="en-US" sz="1250" dirty="0"/>
          </a:p>
        </p:txBody>
      </p:sp>
      <p:sp>
        <p:nvSpPr>
          <p:cNvPr id="10" name="Shape 8"/>
          <p:cNvSpPr/>
          <p:nvPr/>
        </p:nvSpPr>
        <p:spPr>
          <a:xfrm>
            <a:off x="4315968" y="1517904"/>
            <a:ext cx="3529584" cy="3913632"/>
          </a:xfrm>
          <a:prstGeom prst="roundRect">
            <a:avLst>
              <a:gd name="adj" fmla="val 2332"/>
            </a:avLst>
          </a:prstGeom>
          <a:solidFill>
            <a:srgbClr val="F4F5F6"/>
          </a:solidFill>
          <a:ln/>
        </p:spPr>
      </p:sp>
      <p:sp>
        <p:nvSpPr>
          <p:cNvPr id="11" name="Shape 9"/>
          <p:cNvSpPr/>
          <p:nvPr/>
        </p:nvSpPr>
        <p:spPr>
          <a:xfrm>
            <a:off x="4553712" y="1737360"/>
            <a:ext cx="365760" cy="365760"/>
          </a:xfrm>
          <a:prstGeom prst="ellipse">
            <a:avLst/>
          </a:prstGeom>
          <a:solidFill>
            <a:srgbClr val="C8102E"/>
          </a:solidFill>
          <a:ln/>
        </p:spPr>
      </p:sp>
      <p:sp>
        <p:nvSpPr>
          <p:cNvPr id="12" name="Text 10"/>
          <p:cNvSpPr/>
          <p:nvPr/>
        </p:nvSpPr>
        <p:spPr>
          <a:xfrm>
            <a:off x="4553712"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5047488" y="1719072"/>
            <a:ext cx="2615184" cy="402336"/>
          </a:xfrm>
          <a:prstGeom prst="rect">
            <a:avLst/>
          </a:prstGeom>
          <a:noFill/>
          <a:ln/>
        </p:spPr>
        <p:txBody>
          <a:bodyPr wrap="square" lIns="0" tIns="0" rIns="0" bIns="0" rtlCol="0" anchor="ctr"/>
          <a:lstStyle/>
          <a:p>
            <a:pPr indent="0" marL="0">
              <a:buNone/>
            </a:pPr>
            <a:r>
              <a:rPr lang="en-US" sz="1650" b="1" dirty="0">
                <a:solidFill>
                  <a:srgbClr val="22252A"/>
                </a:solidFill>
                <a:latin typeface="Cambria" pitchFamily="34" charset="0"/>
                <a:ea typeface="Cambria" pitchFamily="34" charset="-122"/>
                <a:cs typeface="Cambria" pitchFamily="34" charset="-120"/>
              </a:rPr>
              <a:t>Sidewinding snake</a:t>
            </a:r>
            <a:endParaRPr lang="en-US" sz="1650" dirty="0"/>
          </a:p>
        </p:txBody>
      </p:sp>
      <p:sp>
        <p:nvSpPr>
          <p:cNvPr id="14" name="Text 12"/>
          <p:cNvSpPr/>
          <p:nvPr/>
        </p:nvSpPr>
        <p:spPr>
          <a:xfrm>
            <a:off x="4553712" y="2194560"/>
            <a:ext cx="3072384" cy="256032"/>
          </a:xfrm>
          <a:prstGeom prst="rect">
            <a:avLst/>
          </a:prstGeom>
          <a:noFill/>
          <a:ln/>
        </p:spPr>
        <p:txBody>
          <a:bodyPr wrap="square" lIns="0" tIns="0" rIns="0" bIns="0" rtlCol="0" anchor="ctr"/>
          <a:lstStyle/>
          <a:p>
            <a:pPr indent="0" marL="0">
              <a:buNone/>
            </a:pPr>
            <a:r>
              <a:rPr lang="en-US" sz="1100" i="1" dirty="0">
                <a:solidFill>
                  <a:srgbClr val="53565A"/>
                </a:solidFill>
                <a:latin typeface="Calibri" pitchFamily="34" charset="0"/>
                <a:ea typeface="Calibri" pitchFamily="34" charset="-122"/>
                <a:cs typeface="Calibri" pitchFamily="34" charset="-120"/>
              </a:rPr>
              <a:t>Ng et al.</a:t>
            </a:r>
            <a:endParaRPr lang="en-US" sz="1100" dirty="0"/>
          </a:p>
        </p:txBody>
      </p:sp>
      <p:sp>
        <p:nvSpPr>
          <p:cNvPr id="15" name="Text 13"/>
          <p:cNvSpPr/>
          <p:nvPr/>
        </p:nvSpPr>
        <p:spPr>
          <a:xfrm>
            <a:off x="4553712" y="2560320"/>
            <a:ext cx="3054096" cy="274320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3C4047"/>
                </a:solidFill>
                <a:latin typeface="Calibri" pitchFamily="34" charset="0"/>
                <a:ea typeface="Calibri" pitchFamily="34" charset="-122"/>
                <a:cs typeface="Calibri" pitchFamily="34" charset="-120"/>
              </a:rPr>
              <a:t>A dozen joints that must be phased against each other.</a:t>
            </a:r>
            <a:endParaRPr lang="en-US" sz="1250" dirty="0"/>
          </a:p>
          <a:p>
            <a:pPr marL="177800" indent="-177800">
              <a:spcAft>
                <a:spcPts val="1000"/>
              </a:spcAft>
              <a:buSzPct val="100000"/>
              <a:buChar char="•"/>
            </a:pPr>
            <a:r>
              <a:rPr lang="en-US" sz="1250" dirty="0">
                <a:solidFill>
                  <a:srgbClr val="3C4047"/>
                </a:solidFill>
                <a:latin typeface="Calibri" pitchFamily="34" charset="0"/>
                <a:ea typeface="Calibri" pitchFamily="34" charset="-122"/>
                <a:cs typeface="Calibri" pitchFamily="34" charset="-120"/>
              </a:rPr>
              <a:t>A human can script a four-legged walk. Scripting a coordinated many-joint sidewind is far harder.</a:t>
            </a:r>
            <a:endParaRPr lang="en-US" sz="1250" dirty="0"/>
          </a:p>
          <a:p>
            <a:pPr marL="177800" indent="-177800">
              <a:spcAft>
                <a:spcPts val="1000"/>
              </a:spcAft>
              <a:buSzPct val="100000"/>
              <a:buChar char="•"/>
            </a:pPr>
            <a:r>
              <a:rPr lang="en-US" sz="1250" dirty="0">
                <a:solidFill>
                  <a:srgbClr val="3C4047"/>
                </a:solidFill>
                <a:latin typeface="Calibri" pitchFamily="34" charset="0"/>
                <a:ea typeface="Calibri" pitchFamily="34" charset="-122"/>
                <a:cs typeface="Calibri" pitchFamily="34" charset="-120"/>
              </a:rPr>
              <a:t>The forces have to sum to net motion rather than to thrashing.</a:t>
            </a:r>
            <a:endParaRPr lang="en-US" sz="1250" dirty="0"/>
          </a:p>
        </p:txBody>
      </p:sp>
      <p:sp>
        <p:nvSpPr>
          <p:cNvPr id="16" name="Shape 14"/>
          <p:cNvSpPr/>
          <p:nvPr/>
        </p:nvSpPr>
        <p:spPr>
          <a:xfrm>
            <a:off x="8065008" y="1517904"/>
            <a:ext cx="3529584" cy="3913632"/>
          </a:xfrm>
          <a:prstGeom prst="roundRect">
            <a:avLst>
              <a:gd name="adj" fmla="val 2332"/>
            </a:avLst>
          </a:prstGeom>
          <a:solidFill>
            <a:srgbClr val="F4F5F6"/>
          </a:solidFill>
          <a:ln/>
        </p:spPr>
      </p:sp>
      <p:sp>
        <p:nvSpPr>
          <p:cNvPr id="17" name="Shape 15"/>
          <p:cNvSpPr/>
          <p:nvPr/>
        </p:nvSpPr>
        <p:spPr>
          <a:xfrm>
            <a:off x="8302752" y="1737360"/>
            <a:ext cx="365760" cy="365760"/>
          </a:xfrm>
          <a:prstGeom prst="ellipse">
            <a:avLst/>
          </a:prstGeom>
          <a:solidFill>
            <a:srgbClr val="C8102E"/>
          </a:solidFill>
          <a:ln/>
        </p:spPr>
      </p:sp>
      <p:sp>
        <p:nvSpPr>
          <p:cNvPr id="18" name="Text 16"/>
          <p:cNvSpPr/>
          <p:nvPr/>
        </p:nvSpPr>
        <p:spPr>
          <a:xfrm>
            <a:off x="8302752"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796528" y="1719072"/>
            <a:ext cx="2615184" cy="402336"/>
          </a:xfrm>
          <a:prstGeom prst="rect">
            <a:avLst/>
          </a:prstGeom>
          <a:noFill/>
          <a:ln/>
        </p:spPr>
        <p:txBody>
          <a:bodyPr wrap="square" lIns="0" tIns="0" rIns="0" bIns="0" rtlCol="0" anchor="ctr"/>
          <a:lstStyle/>
          <a:p>
            <a:pPr indent="0" marL="0">
              <a:buNone/>
            </a:pPr>
            <a:r>
              <a:rPr lang="en-US" sz="1650" b="1" dirty="0">
                <a:solidFill>
                  <a:srgbClr val="22252A"/>
                </a:solidFill>
                <a:latin typeface="Cambria" pitchFamily="34" charset="0"/>
                <a:ea typeface="Cambria" pitchFamily="34" charset="-122"/>
                <a:cs typeface="Cambria" pitchFamily="34" charset="-120"/>
              </a:rPr>
              <a:t>The crawler</a:t>
            </a:r>
            <a:endParaRPr lang="en-US" sz="1650" dirty="0"/>
          </a:p>
        </p:txBody>
      </p:sp>
      <p:sp>
        <p:nvSpPr>
          <p:cNvPr id="20" name="Text 18"/>
          <p:cNvSpPr/>
          <p:nvPr/>
        </p:nvSpPr>
        <p:spPr>
          <a:xfrm>
            <a:off x="8302752" y="2194560"/>
            <a:ext cx="3072384" cy="256032"/>
          </a:xfrm>
          <a:prstGeom prst="rect">
            <a:avLst/>
          </a:prstGeom>
          <a:noFill/>
          <a:ln/>
        </p:spPr>
        <p:txBody>
          <a:bodyPr wrap="square" lIns="0" tIns="0" rIns="0" bIns="0" rtlCol="0" anchor="ctr"/>
          <a:lstStyle/>
          <a:p>
            <a:pPr indent="0" marL="0">
              <a:buNone/>
            </a:pPr>
            <a:r>
              <a:rPr lang="en-US" sz="1100" i="1" dirty="0">
                <a:solidFill>
                  <a:srgbClr val="53565A"/>
                </a:solidFill>
                <a:latin typeface="Calibri" pitchFamily="34" charset="0"/>
                <a:ea typeface="Calibri" pitchFamily="34" charset="-122"/>
                <a:cs typeface="Calibri" pitchFamily="34" charset="-120"/>
              </a:rPr>
              <a:t>Project 3</a:t>
            </a:r>
            <a:endParaRPr lang="en-US" sz="1100" dirty="0"/>
          </a:p>
        </p:txBody>
      </p:sp>
      <p:sp>
        <p:nvSpPr>
          <p:cNvPr id="21" name="Text 19"/>
          <p:cNvSpPr/>
          <p:nvPr/>
        </p:nvSpPr>
        <p:spPr>
          <a:xfrm>
            <a:off x="8302752" y="2560320"/>
            <a:ext cx="3054096" cy="274320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3C4047"/>
                </a:solidFill>
                <a:latin typeface="Calibri" pitchFamily="34" charset="0"/>
                <a:ea typeface="Calibri" pitchFamily="34" charset="-122"/>
                <a:cs typeface="Calibri" pitchFamily="34" charset="-120"/>
              </a:rPr>
              <a:t>Two controllable angles: shoulder and elbow.</a:t>
            </a:r>
            <a:endParaRPr lang="en-US" sz="1250" dirty="0"/>
          </a:p>
          <a:p>
            <a:pPr marL="177800" indent="-177800">
              <a:spcAft>
                <a:spcPts val="1000"/>
              </a:spcAft>
              <a:buSzPct val="100000"/>
              <a:buChar char="•"/>
            </a:pPr>
            <a:r>
              <a:rPr lang="en-US" sz="1250" dirty="0">
                <a:solidFill>
                  <a:srgbClr val="3C4047"/>
                </a:solidFill>
                <a:latin typeface="Calibri" pitchFamily="34" charset="0"/>
                <a:ea typeface="Calibri" pitchFamily="34" charset="-122"/>
                <a:cs typeface="Calibri" pitchFamily="34" charset="-120"/>
              </a:rPr>
              <a:t>Some cycle of raising and lowering them produces a net forward scoop.</a:t>
            </a:r>
            <a:endParaRPr lang="en-US" sz="1250" dirty="0"/>
          </a:p>
          <a:p>
            <a:pPr marL="177800" indent="-177800">
              <a:spcAft>
                <a:spcPts val="1000"/>
              </a:spcAft>
              <a:buSzPct val="100000"/>
              <a:buChar char="•"/>
            </a:pPr>
            <a:r>
              <a:rPr lang="en-US" sz="1250" dirty="0">
                <a:solidFill>
                  <a:srgbClr val="3C4047"/>
                </a:solidFill>
                <a:latin typeface="Calibri" pitchFamily="34" charset="0"/>
                <a:ea typeface="Calibri" pitchFamily="34" charset="-122"/>
                <a:cs typeface="Calibri" pitchFamily="34" charset="-120"/>
              </a:rPr>
              <a:t>The robot has no built-in concept of walking. It has to find the cycle.</a:t>
            </a:r>
            <a:endParaRPr lang="en-US" sz="1250" dirty="0"/>
          </a:p>
        </p:txBody>
      </p:sp>
      <p:sp>
        <p:nvSpPr>
          <p:cNvPr id="22" name="Shape 20"/>
          <p:cNvSpPr/>
          <p:nvPr/>
        </p:nvSpPr>
        <p:spPr>
          <a:xfrm>
            <a:off x="566928" y="5632704"/>
            <a:ext cx="11057839" cy="603504"/>
          </a:xfrm>
          <a:prstGeom prst="roundRect">
            <a:avLst>
              <a:gd name="adj" fmla="val 13636"/>
            </a:avLst>
          </a:prstGeom>
          <a:solidFill>
            <a:srgbClr val="FBEAED"/>
          </a:solidFill>
          <a:ln/>
        </p:spPr>
      </p:sp>
      <p:sp>
        <p:nvSpPr>
          <p:cNvPr id="23" name="Shape 21"/>
          <p:cNvSpPr/>
          <p:nvPr/>
        </p:nvSpPr>
        <p:spPr>
          <a:xfrm>
            <a:off x="786384" y="5843016"/>
            <a:ext cx="182880" cy="182880"/>
          </a:xfrm>
          <a:prstGeom prst="ellipse">
            <a:avLst/>
          </a:prstGeom>
          <a:solidFill>
            <a:srgbClr val="C8102E"/>
          </a:solidFill>
          <a:ln/>
        </p:spPr>
      </p:sp>
      <p:sp>
        <p:nvSpPr>
          <p:cNvPr id="24" name="Text 22"/>
          <p:cNvSpPr/>
          <p:nvPr/>
        </p:nvSpPr>
        <p:spPr>
          <a:xfrm>
            <a:off x="1115568" y="5632704"/>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Common thread: the reward is easy to state and the behaviour that earns it is impossible to specify.</a:t>
            </a:r>
            <a:endParaRPr lang="en-US" sz="1450" dirty="0"/>
          </a:p>
        </p:txBody>
      </p:sp>
      <p:sp>
        <p:nvSpPr>
          <p:cNvPr id="25" name="Text 23"/>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6" name="Text 24"/>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Can you teach a cat to fetch?</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A CAUTIONARY TALE</a:t>
            </a:r>
            <a:endParaRPr lang="en-US" sz="1050" dirty="0"/>
          </a:p>
        </p:txBody>
      </p:sp>
      <p:sp>
        <p:nvSpPr>
          <p:cNvPr id="4" name="Text 2"/>
          <p:cNvSpPr/>
          <p:nvPr/>
        </p:nvSpPr>
        <p:spPr>
          <a:xfrm>
            <a:off x="566928" y="1298448"/>
            <a:ext cx="11057839" cy="365760"/>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The experiment: throw a ball the way you would for a dog, three times, and watch what the cats learn.</a:t>
            </a:r>
            <a:endParaRPr lang="en-US" sz="1500" dirty="0"/>
          </a:p>
        </p:txBody>
      </p:sp>
      <p:sp>
        <p:nvSpPr>
          <p:cNvPr id="5" name="Shape 3"/>
          <p:cNvSpPr/>
          <p:nvPr/>
        </p:nvSpPr>
        <p:spPr>
          <a:xfrm>
            <a:off x="566928" y="1847088"/>
            <a:ext cx="3529584" cy="1335024"/>
          </a:xfrm>
          <a:prstGeom prst="roundRect">
            <a:avLst>
              <a:gd name="adj" fmla="val 6164"/>
            </a:avLst>
          </a:prstGeom>
          <a:solidFill>
            <a:srgbClr val="F4F5F6"/>
          </a:solidFill>
          <a:ln/>
        </p:spPr>
      </p:sp>
      <p:sp>
        <p:nvSpPr>
          <p:cNvPr id="6" name="Text 4"/>
          <p:cNvSpPr/>
          <p:nvPr/>
        </p:nvSpPr>
        <p:spPr>
          <a:xfrm>
            <a:off x="804672" y="1975104"/>
            <a:ext cx="3072384" cy="310896"/>
          </a:xfrm>
          <a:prstGeom prst="rect">
            <a:avLst/>
          </a:prstGeom>
          <a:noFill/>
          <a:ln/>
        </p:spPr>
        <p:txBody>
          <a:bodyPr wrap="square" lIns="0" tIns="0" rIns="0" bIns="0" rtlCol="0" anchor="ctr"/>
          <a:lstStyle/>
          <a:p>
            <a:pPr indent="0" marL="0">
              <a:buNone/>
            </a:pPr>
            <a:r>
              <a:rPr lang="en-US" sz="1450" b="1" dirty="0">
                <a:solidFill>
                  <a:srgbClr val="53565A"/>
                </a:solidFill>
                <a:latin typeface="Calibri" pitchFamily="34" charset="0"/>
                <a:ea typeface="Calibri" pitchFamily="34" charset="-122"/>
                <a:cs typeface="Calibri" pitchFamily="34" charset="-120"/>
              </a:rPr>
              <a:t>Iteration 1</a:t>
            </a:r>
            <a:endParaRPr lang="en-US" sz="1450" dirty="0"/>
          </a:p>
        </p:txBody>
      </p:sp>
      <p:sp>
        <p:nvSpPr>
          <p:cNvPr id="7" name="Text 5"/>
          <p:cNvSpPr/>
          <p:nvPr/>
        </p:nvSpPr>
        <p:spPr>
          <a:xfrm>
            <a:off x="804672" y="2322576"/>
            <a:ext cx="3054096" cy="713232"/>
          </a:xfrm>
          <a:prstGeom prst="rect">
            <a:avLst/>
          </a:prstGeom>
          <a:noFill/>
          <a:ln/>
        </p:spPr>
        <p:txBody>
          <a:bodyPr wrap="square" lIns="0" tIns="0" rIns="0" bIns="0" rtlCol="0" anchor="t"/>
          <a:lstStyle/>
          <a:p>
            <a:pPr indent="0" marL="0">
              <a:buNone/>
            </a:pPr>
            <a:r>
              <a:rPr lang="en-US" sz="1300" dirty="0">
                <a:solidFill>
                  <a:srgbClr val="3C4047"/>
                </a:solidFill>
                <a:latin typeface="Calibri" pitchFamily="34" charset="0"/>
                <a:ea typeface="Calibri" pitchFamily="34" charset="-122"/>
                <a:cs typeface="Calibri" pitchFamily="34" charset="-120"/>
              </a:rPr>
              <a:t>Ball thrown. Cats absent.</a:t>
            </a:r>
            <a:endParaRPr lang="en-US" sz="1300" dirty="0"/>
          </a:p>
        </p:txBody>
      </p:sp>
      <p:sp>
        <p:nvSpPr>
          <p:cNvPr id="8" name="Shape 6"/>
          <p:cNvSpPr/>
          <p:nvPr/>
        </p:nvSpPr>
        <p:spPr>
          <a:xfrm>
            <a:off x="4315968" y="1847088"/>
            <a:ext cx="3529584" cy="1335024"/>
          </a:xfrm>
          <a:prstGeom prst="roundRect">
            <a:avLst>
              <a:gd name="adj" fmla="val 6164"/>
            </a:avLst>
          </a:prstGeom>
          <a:solidFill>
            <a:srgbClr val="F4F5F6"/>
          </a:solidFill>
          <a:ln/>
        </p:spPr>
      </p:sp>
      <p:sp>
        <p:nvSpPr>
          <p:cNvPr id="9" name="Text 7"/>
          <p:cNvSpPr/>
          <p:nvPr/>
        </p:nvSpPr>
        <p:spPr>
          <a:xfrm>
            <a:off x="4553712" y="1975104"/>
            <a:ext cx="3072384" cy="310896"/>
          </a:xfrm>
          <a:prstGeom prst="rect">
            <a:avLst/>
          </a:prstGeom>
          <a:noFill/>
          <a:ln/>
        </p:spPr>
        <p:txBody>
          <a:bodyPr wrap="square" lIns="0" tIns="0" rIns="0" bIns="0" rtlCol="0" anchor="ctr"/>
          <a:lstStyle/>
          <a:p>
            <a:pPr indent="0" marL="0">
              <a:buNone/>
            </a:pPr>
            <a:r>
              <a:rPr lang="en-US" sz="1450" b="1" dirty="0">
                <a:solidFill>
                  <a:srgbClr val="53565A"/>
                </a:solidFill>
                <a:latin typeface="Calibri" pitchFamily="34" charset="0"/>
                <a:ea typeface="Calibri" pitchFamily="34" charset="-122"/>
                <a:cs typeface="Calibri" pitchFamily="34" charset="-120"/>
              </a:rPr>
              <a:t>Iteration 2</a:t>
            </a:r>
            <a:endParaRPr lang="en-US" sz="1450" dirty="0"/>
          </a:p>
        </p:txBody>
      </p:sp>
      <p:sp>
        <p:nvSpPr>
          <p:cNvPr id="10" name="Text 8"/>
          <p:cNvSpPr/>
          <p:nvPr/>
        </p:nvSpPr>
        <p:spPr>
          <a:xfrm>
            <a:off x="4553712" y="2322576"/>
            <a:ext cx="3054096" cy="713232"/>
          </a:xfrm>
          <a:prstGeom prst="rect">
            <a:avLst/>
          </a:prstGeom>
          <a:noFill/>
          <a:ln/>
        </p:spPr>
        <p:txBody>
          <a:bodyPr wrap="square" lIns="0" tIns="0" rIns="0" bIns="0" rtlCol="0" anchor="t"/>
          <a:lstStyle/>
          <a:p>
            <a:pPr indent="0" marL="0">
              <a:buNone/>
            </a:pPr>
            <a:r>
              <a:rPr lang="en-US" sz="1300" dirty="0">
                <a:solidFill>
                  <a:srgbClr val="3C4047"/>
                </a:solidFill>
                <a:latin typeface="Calibri" pitchFamily="34" charset="0"/>
                <a:ea typeface="Calibri" pitchFamily="34" charset="-122"/>
                <a:cs typeface="Calibri" pitchFamily="34" charset="-120"/>
              </a:rPr>
              <a:t>Cats present, facing the camera, ignoring the ball.</a:t>
            </a:r>
            <a:endParaRPr lang="en-US" sz="1300" dirty="0"/>
          </a:p>
        </p:txBody>
      </p:sp>
      <p:sp>
        <p:nvSpPr>
          <p:cNvPr id="11" name="Shape 9"/>
          <p:cNvSpPr/>
          <p:nvPr/>
        </p:nvSpPr>
        <p:spPr>
          <a:xfrm>
            <a:off x="8065008" y="1847088"/>
            <a:ext cx="3529584" cy="1335024"/>
          </a:xfrm>
          <a:prstGeom prst="roundRect">
            <a:avLst>
              <a:gd name="adj" fmla="val 6164"/>
            </a:avLst>
          </a:prstGeom>
          <a:solidFill>
            <a:srgbClr val="F4F5F6"/>
          </a:solidFill>
          <a:ln/>
        </p:spPr>
      </p:sp>
      <p:sp>
        <p:nvSpPr>
          <p:cNvPr id="12" name="Text 10"/>
          <p:cNvSpPr/>
          <p:nvPr/>
        </p:nvSpPr>
        <p:spPr>
          <a:xfrm>
            <a:off x="8302752" y="1975104"/>
            <a:ext cx="3072384" cy="310896"/>
          </a:xfrm>
          <a:prstGeom prst="rect">
            <a:avLst/>
          </a:prstGeom>
          <a:noFill/>
          <a:ln/>
        </p:spPr>
        <p:txBody>
          <a:bodyPr wrap="square" lIns="0" tIns="0" rIns="0" bIns="0" rtlCol="0" anchor="ctr"/>
          <a:lstStyle/>
          <a:p>
            <a:pPr indent="0" marL="0">
              <a:buNone/>
            </a:pPr>
            <a:r>
              <a:rPr lang="en-US" sz="1450" b="1" dirty="0">
                <a:solidFill>
                  <a:srgbClr val="C8102E"/>
                </a:solidFill>
                <a:latin typeface="Calibri" pitchFamily="34" charset="0"/>
                <a:ea typeface="Calibri" pitchFamily="34" charset="-122"/>
                <a:cs typeface="Calibri" pitchFamily="34" charset="-120"/>
              </a:rPr>
              <a:t>Iteration 3</a:t>
            </a:r>
            <a:endParaRPr lang="en-US" sz="1450" dirty="0"/>
          </a:p>
        </p:txBody>
      </p:sp>
      <p:sp>
        <p:nvSpPr>
          <p:cNvPr id="13" name="Text 11"/>
          <p:cNvSpPr/>
          <p:nvPr/>
        </p:nvSpPr>
        <p:spPr>
          <a:xfrm>
            <a:off x="8302752" y="2322576"/>
            <a:ext cx="3054096" cy="713232"/>
          </a:xfrm>
          <a:prstGeom prst="rect">
            <a:avLst/>
          </a:prstGeom>
          <a:noFill/>
          <a:ln/>
        </p:spPr>
        <p:txBody>
          <a:bodyPr wrap="square" lIns="0" tIns="0" rIns="0" bIns="0" rtlCol="0" anchor="t"/>
          <a:lstStyle/>
          <a:p>
            <a:pPr indent="0" marL="0">
              <a:buNone/>
            </a:pPr>
            <a:r>
              <a:rPr lang="en-US" sz="1300" dirty="0">
                <a:solidFill>
                  <a:srgbClr val="3C4047"/>
                </a:solidFill>
                <a:latin typeface="Calibri" pitchFamily="34" charset="0"/>
                <a:ea typeface="Calibri" pitchFamily="34" charset="-122"/>
                <a:cs typeface="Calibri" pitchFamily="34" charset="-120"/>
              </a:rPr>
              <a:t>Cats walking away. Fully disengaged.</a:t>
            </a:r>
            <a:endParaRPr lang="en-US" sz="1300" dirty="0"/>
          </a:p>
        </p:txBody>
      </p:sp>
      <p:sp>
        <p:nvSpPr>
          <p:cNvPr id="14" name="Shape 12"/>
          <p:cNvSpPr/>
          <p:nvPr/>
        </p:nvSpPr>
        <p:spPr>
          <a:xfrm>
            <a:off x="566928" y="3401568"/>
            <a:ext cx="11057839" cy="1883664"/>
          </a:xfrm>
          <a:prstGeom prst="roundRect">
            <a:avLst>
              <a:gd name="adj" fmla="val 4369"/>
            </a:avLst>
          </a:prstGeom>
          <a:solidFill>
            <a:srgbClr val="22252A"/>
          </a:solidFill>
          <a:ln/>
        </p:spPr>
      </p:sp>
      <p:sp>
        <p:nvSpPr>
          <p:cNvPr id="15" name="Text 13"/>
          <p:cNvSpPr/>
          <p:nvPr/>
        </p:nvSpPr>
        <p:spPr>
          <a:xfrm>
            <a:off x="950976" y="3621024"/>
            <a:ext cx="10289743" cy="402336"/>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This is reinforcement learning working correctly.</a:t>
            </a:r>
            <a:endParaRPr lang="en-US" sz="2000" dirty="0"/>
          </a:p>
        </p:txBody>
      </p:sp>
      <p:sp>
        <p:nvSpPr>
          <p:cNvPr id="16" name="Text 14"/>
          <p:cNvSpPr/>
          <p:nvPr/>
        </p:nvSpPr>
        <p:spPr>
          <a:xfrm>
            <a:off x="950976" y="4096512"/>
            <a:ext cx="10289743" cy="914400"/>
          </a:xfrm>
          <a:prstGeom prst="rect">
            <a:avLst/>
          </a:prstGeom>
          <a:noFill/>
          <a:ln/>
        </p:spPr>
        <p:txBody>
          <a:bodyPr wrap="square" lIns="0" tIns="0" rIns="0" bIns="0" rtlCol="0" anchor="t"/>
          <a:lstStyle/>
          <a:p>
            <a:pPr indent="0" marL="0">
              <a:lnSpc>
                <a:spcPct val="120000"/>
              </a:lnSpc>
              <a:buNone/>
            </a:pPr>
            <a:r>
              <a:rPr lang="en-US" sz="1500" dirty="0">
                <a:solidFill>
                  <a:srgbClr val="C3C7CB"/>
                </a:solidFill>
                <a:latin typeface="Calibri" pitchFamily="34" charset="0"/>
                <a:ea typeface="Calibri" pitchFamily="34" charset="-122"/>
                <a:cs typeface="Calibri" pitchFamily="34" charset="-120"/>
              </a:rPr>
              <a:t>No reward was ever wired up for fetching. </a:t>
            </a:r>
            <a:pPr indent="0" marL="0">
              <a:lnSpc>
                <a:spcPct val="120000"/>
              </a:lnSpc>
              <a:buNone/>
            </a:pPr>
            <a:r>
              <a:rPr lang="en-US" sz="1500" b="1" dirty="0">
                <a:solidFill>
                  <a:srgbClr val="FFFFFF"/>
                </a:solidFill>
                <a:latin typeface="Calibri" pitchFamily="34" charset="0"/>
                <a:ea typeface="Calibri" pitchFamily="34" charset="-122"/>
                <a:cs typeface="Calibri" pitchFamily="34" charset="-120"/>
              </a:rPr>
              <a:t>So the cats learned the optimal policy for the reward function that actually existed, which was to conserve energy and ignore the ball.</a:t>
            </a:r>
            <a:endParaRPr lang="en-US" sz="1500" dirty="0"/>
          </a:p>
        </p:txBody>
      </p:sp>
      <p:sp>
        <p:nvSpPr>
          <p:cNvPr id="17" name="Shape 15"/>
          <p:cNvSpPr/>
          <p:nvPr/>
        </p:nvSpPr>
        <p:spPr>
          <a:xfrm>
            <a:off x="566928" y="5559552"/>
            <a:ext cx="11057839" cy="603504"/>
          </a:xfrm>
          <a:prstGeom prst="roundRect">
            <a:avLst>
              <a:gd name="adj" fmla="val 13636"/>
            </a:avLst>
          </a:prstGeom>
          <a:solidFill>
            <a:srgbClr val="FBEAED"/>
          </a:solidFill>
          <a:ln/>
        </p:spPr>
      </p:sp>
      <p:sp>
        <p:nvSpPr>
          <p:cNvPr id="18" name="Shape 16"/>
          <p:cNvSpPr/>
          <p:nvPr/>
        </p:nvSpPr>
        <p:spPr>
          <a:xfrm>
            <a:off x="786384" y="5769864"/>
            <a:ext cx="182880" cy="182880"/>
          </a:xfrm>
          <a:prstGeom prst="ellipse">
            <a:avLst/>
          </a:prstGeom>
          <a:solidFill>
            <a:srgbClr val="C8102E"/>
          </a:solidFill>
          <a:ln/>
        </p:spPr>
      </p:sp>
      <p:sp>
        <p:nvSpPr>
          <p:cNvPr id="19" name="Text 17"/>
          <p:cNvSpPr/>
          <p:nvPr/>
        </p:nvSpPr>
        <p:spPr>
          <a:xfrm>
            <a:off x="1115568" y="5559552"/>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You get what you reward, not what you meant to teach. Reward design is the hardest unforced error in applied RL.</a:t>
            </a:r>
            <a:endParaRPr lang="en-US" sz="1450" dirty="0"/>
          </a:p>
        </p:txBody>
      </p:sp>
      <p:sp>
        <p:nvSpPr>
          <p:cNvPr id="20" name="Text 18"/>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1" name="Text 19"/>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Offline planning versus online learning</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Same MDP. Completely different relationship with failure.</a:t>
            </a:r>
            <a:endParaRPr lang="en-US" sz="1400" dirty="0"/>
          </a:p>
        </p:txBody>
      </p:sp>
      <p:pic>
        <p:nvPicPr>
          <p:cNvPr id="4" name="Image 0" descr="/home/claude/comp469_rl/figures/fig02_offline_vs_online.png">    </p:cNvPr>
          <p:cNvPicPr>
            <a:picLocks noChangeAspect="1"/>
          </p:cNvPicPr>
          <p:nvPr/>
        </p:nvPicPr>
        <p:blipFill>
          <a:blip r:embed="rId1"/>
          <a:srcRect l="0" r="0" t="0" b="0"/>
          <a:stretch/>
        </p:blipFill>
        <p:spPr>
          <a:xfrm>
            <a:off x="841248" y="1572768"/>
            <a:ext cx="10515600" cy="3877056"/>
          </a:xfrm>
          <a:prstGeom prst="rect">
            <a:avLst/>
          </a:prstGeom>
        </p:spPr>
      </p:pic>
      <p:sp>
        <p:nvSpPr>
          <p:cNvPr id="5" name="Shape 2"/>
          <p:cNvSpPr/>
          <p:nvPr/>
        </p:nvSpPr>
        <p:spPr>
          <a:xfrm>
            <a:off x="566928" y="5614416"/>
            <a:ext cx="11057839" cy="603504"/>
          </a:xfrm>
          <a:prstGeom prst="roundRect">
            <a:avLst>
              <a:gd name="adj" fmla="val 13636"/>
            </a:avLst>
          </a:prstGeom>
          <a:solidFill>
            <a:srgbClr val="FBEAED"/>
          </a:solidFill>
          <a:ln/>
        </p:spPr>
      </p:sp>
      <p:sp>
        <p:nvSpPr>
          <p:cNvPr id="6" name="Shape 3"/>
          <p:cNvSpPr/>
          <p:nvPr/>
        </p:nvSpPr>
        <p:spPr>
          <a:xfrm>
            <a:off x="786384" y="5824728"/>
            <a:ext cx="182880" cy="182880"/>
          </a:xfrm>
          <a:prstGeom prst="ellipse">
            <a:avLst/>
          </a:prstGeom>
          <a:solidFill>
            <a:srgbClr val="C8102E"/>
          </a:solidFill>
          <a:ln/>
        </p:spPr>
      </p:sp>
      <p:sp>
        <p:nvSpPr>
          <p:cNvPr id="7" name="Text 4"/>
          <p:cNvSpPr/>
          <p:nvPr/>
        </p:nvSpPr>
        <p:spPr>
          <a:xfrm>
            <a:off x="1115568" y="5614416"/>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In planning, a mistake is a discarded branch of a search tree. In learning, a mistake is a mistake.</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Experience arrives in episodes</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BOOKKEEPING</a:t>
            </a:r>
            <a:endParaRPr lang="en-US" sz="1050" dirty="0"/>
          </a:p>
        </p:txBody>
      </p:sp>
      <p:sp>
        <p:nvSpPr>
          <p:cNvPr id="4" name="Text 2"/>
          <p:cNvSpPr/>
          <p:nvPr/>
        </p:nvSpPr>
        <p:spPr>
          <a:xfrm>
            <a:off x="566928" y="1316736"/>
            <a:ext cx="11057839" cy="658368"/>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Because you cannot rewind, experience is chopped into episodes: a run of transitions from a start state until something terminal happens, after which the agent is reset and starts again.</a:t>
            </a:r>
            <a:endParaRPr lang="en-US" sz="1500" dirty="0"/>
          </a:p>
        </p:txBody>
      </p:sp>
      <p:sp>
        <p:nvSpPr>
          <p:cNvPr id="5" name="Shape 3"/>
          <p:cNvSpPr/>
          <p:nvPr/>
        </p:nvSpPr>
        <p:spPr>
          <a:xfrm>
            <a:off x="566928" y="2103120"/>
            <a:ext cx="11057839" cy="1225296"/>
          </a:xfrm>
          <a:prstGeom prst="roundRect">
            <a:avLst>
              <a:gd name="adj" fmla="val 6716"/>
            </a:avLst>
          </a:prstGeom>
          <a:solidFill>
            <a:srgbClr val="F4F5F6"/>
          </a:solidFill>
          <a:ln/>
        </p:spPr>
      </p:sp>
      <p:sp>
        <p:nvSpPr>
          <p:cNvPr id="6" name="Text 4"/>
          <p:cNvSpPr/>
          <p:nvPr/>
        </p:nvSpPr>
        <p:spPr>
          <a:xfrm>
            <a:off x="987552" y="2359152"/>
            <a:ext cx="1133856" cy="457200"/>
          </a:xfrm>
          <a:prstGeom prst="rect">
            <a:avLst/>
          </a:prstGeom>
          <a:noFill/>
          <a:ln/>
        </p:spPr>
        <p:txBody>
          <a:bodyPr wrap="square" lIns="0" tIns="0" rIns="0" bIns="0" rtlCol="0" anchor="ctr"/>
          <a:lstStyle/>
          <a:p>
            <a:pPr algn="ctr" indent="0" marL="0">
              <a:buNone/>
            </a:pPr>
            <a:r>
              <a:rPr lang="en-US" sz="1700" b="1" dirty="0">
                <a:solidFill>
                  <a:srgbClr val="1C5D99"/>
                </a:solidFill>
                <a:latin typeface="Cambria" pitchFamily="34" charset="0"/>
                <a:ea typeface="Cambria" pitchFamily="34" charset="-122"/>
                <a:cs typeface="Cambria" pitchFamily="34" charset="-120"/>
              </a:rPr>
              <a:t>s₀</a:t>
            </a:r>
            <a:endParaRPr lang="en-US" sz="1700" dirty="0"/>
          </a:p>
        </p:txBody>
      </p:sp>
      <p:sp>
        <p:nvSpPr>
          <p:cNvPr id="7" name="Text 5"/>
          <p:cNvSpPr/>
          <p:nvPr/>
        </p:nvSpPr>
        <p:spPr>
          <a:xfrm>
            <a:off x="2121408" y="2359152"/>
            <a:ext cx="347472" cy="457200"/>
          </a:xfrm>
          <a:prstGeom prst="rect">
            <a:avLst/>
          </a:prstGeom>
          <a:noFill/>
          <a:ln/>
        </p:spPr>
        <p:txBody>
          <a:bodyPr wrap="square" lIns="0" tIns="0" rIns="0" bIns="0" rtlCol="0" anchor="ctr"/>
          <a:lstStyle/>
          <a:p>
            <a:pPr algn="ctr" indent="0" marL="0">
              <a:buNone/>
            </a:pPr>
            <a:r>
              <a:rPr lang="en-US" sz="1600" dirty="0">
                <a:solidFill>
                  <a:srgbClr val="A7A8AA"/>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2468880" y="2359152"/>
            <a:ext cx="1133856" cy="457200"/>
          </a:xfrm>
          <a:prstGeom prst="rect">
            <a:avLst/>
          </a:prstGeom>
          <a:noFill/>
          <a:ln/>
        </p:spPr>
        <p:txBody>
          <a:bodyPr wrap="square" lIns="0" tIns="0" rIns="0" bIns="0" rtlCol="0" anchor="ctr"/>
          <a:lstStyle/>
          <a:p>
            <a:pPr algn="ctr" indent="0" marL="0">
              <a:buNone/>
            </a:pPr>
            <a:r>
              <a:rPr lang="en-US" sz="1700" b="1" dirty="0">
                <a:solidFill>
                  <a:srgbClr val="C8102E"/>
                </a:solidFill>
                <a:latin typeface="Cambria" pitchFamily="34" charset="0"/>
                <a:ea typeface="Cambria" pitchFamily="34" charset="-122"/>
                <a:cs typeface="Cambria" pitchFamily="34" charset="-120"/>
              </a:rPr>
              <a:t>a₀, r₀</a:t>
            </a:r>
            <a:endParaRPr lang="en-US" sz="1700" dirty="0"/>
          </a:p>
        </p:txBody>
      </p:sp>
      <p:sp>
        <p:nvSpPr>
          <p:cNvPr id="9" name="Text 7"/>
          <p:cNvSpPr/>
          <p:nvPr/>
        </p:nvSpPr>
        <p:spPr>
          <a:xfrm>
            <a:off x="3602736" y="2359152"/>
            <a:ext cx="347472" cy="457200"/>
          </a:xfrm>
          <a:prstGeom prst="rect">
            <a:avLst/>
          </a:prstGeom>
          <a:noFill/>
          <a:ln/>
        </p:spPr>
        <p:txBody>
          <a:bodyPr wrap="square" lIns="0" tIns="0" rIns="0" bIns="0" rtlCol="0" anchor="ctr"/>
          <a:lstStyle/>
          <a:p>
            <a:pPr algn="ctr" indent="0" marL="0">
              <a:buNone/>
            </a:pPr>
            <a:r>
              <a:rPr lang="en-US" sz="1600" dirty="0">
                <a:solidFill>
                  <a:srgbClr val="A7A8AA"/>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3950208" y="2359152"/>
            <a:ext cx="1133856" cy="457200"/>
          </a:xfrm>
          <a:prstGeom prst="rect">
            <a:avLst/>
          </a:prstGeom>
          <a:noFill/>
          <a:ln/>
        </p:spPr>
        <p:txBody>
          <a:bodyPr wrap="square" lIns="0" tIns="0" rIns="0" bIns="0" rtlCol="0" anchor="ctr"/>
          <a:lstStyle/>
          <a:p>
            <a:pPr algn="ctr" indent="0" marL="0">
              <a:buNone/>
            </a:pPr>
            <a:r>
              <a:rPr lang="en-US" sz="1700" b="1" dirty="0">
                <a:solidFill>
                  <a:srgbClr val="1C5D99"/>
                </a:solidFill>
                <a:latin typeface="Cambria" pitchFamily="34" charset="0"/>
                <a:ea typeface="Cambria" pitchFamily="34" charset="-122"/>
                <a:cs typeface="Cambria" pitchFamily="34" charset="-120"/>
              </a:rPr>
              <a:t>s₁</a:t>
            </a:r>
            <a:endParaRPr lang="en-US" sz="1700" dirty="0"/>
          </a:p>
        </p:txBody>
      </p:sp>
      <p:sp>
        <p:nvSpPr>
          <p:cNvPr id="11" name="Text 9"/>
          <p:cNvSpPr/>
          <p:nvPr/>
        </p:nvSpPr>
        <p:spPr>
          <a:xfrm>
            <a:off x="5084064" y="2359152"/>
            <a:ext cx="347472" cy="457200"/>
          </a:xfrm>
          <a:prstGeom prst="rect">
            <a:avLst/>
          </a:prstGeom>
          <a:noFill/>
          <a:ln/>
        </p:spPr>
        <p:txBody>
          <a:bodyPr wrap="square" lIns="0" tIns="0" rIns="0" bIns="0" rtlCol="0" anchor="ctr"/>
          <a:lstStyle/>
          <a:p>
            <a:pPr algn="ctr" indent="0" marL="0">
              <a:buNone/>
            </a:pPr>
            <a:r>
              <a:rPr lang="en-US" sz="1600" dirty="0">
                <a:solidFill>
                  <a:srgbClr val="A7A8AA"/>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5431536" y="2359152"/>
            <a:ext cx="1133856" cy="457200"/>
          </a:xfrm>
          <a:prstGeom prst="rect">
            <a:avLst/>
          </a:prstGeom>
          <a:noFill/>
          <a:ln/>
        </p:spPr>
        <p:txBody>
          <a:bodyPr wrap="square" lIns="0" tIns="0" rIns="0" bIns="0" rtlCol="0" anchor="ctr"/>
          <a:lstStyle/>
          <a:p>
            <a:pPr algn="ctr" indent="0" marL="0">
              <a:buNone/>
            </a:pPr>
            <a:r>
              <a:rPr lang="en-US" sz="1700" b="1" dirty="0">
                <a:solidFill>
                  <a:srgbClr val="C8102E"/>
                </a:solidFill>
                <a:latin typeface="Cambria" pitchFamily="34" charset="0"/>
                <a:ea typeface="Cambria" pitchFamily="34" charset="-122"/>
                <a:cs typeface="Cambria" pitchFamily="34" charset="-120"/>
              </a:rPr>
              <a:t>a₁, r₁</a:t>
            </a:r>
            <a:endParaRPr lang="en-US" sz="1700" dirty="0"/>
          </a:p>
        </p:txBody>
      </p:sp>
      <p:sp>
        <p:nvSpPr>
          <p:cNvPr id="13" name="Text 11"/>
          <p:cNvSpPr/>
          <p:nvPr/>
        </p:nvSpPr>
        <p:spPr>
          <a:xfrm>
            <a:off x="6565392" y="2359152"/>
            <a:ext cx="347472" cy="457200"/>
          </a:xfrm>
          <a:prstGeom prst="rect">
            <a:avLst/>
          </a:prstGeom>
          <a:noFill/>
          <a:ln/>
        </p:spPr>
        <p:txBody>
          <a:bodyPr wrap="square" lIns="0" tIns="0" rIns="0" bIns="0" rtlCol="0" anchor="ctr"/>
          <a:lstStyle/>
          <a:p>
            <a:pPr algn="ctr" indent="0" marL="0">
              <a:buNone/>
            </a:pPr>
            <a:r>
              <a:rPr lang="en-US" sz="1600" dirty="0">
                <a:solidFill>
                  <a:srgbClr val="A7A8AA"/>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6912864" y="2359152"/>
            <a:ext cx="1133856" cy="457200"/>
          </a:xfrm>
          <a:prstGeom prst="rect">
            <a:avLst/>
          </a:prstGeom>
          <a:noFill/>
          <a:ln/>
        </p:spPr>
        <p:txBody>
          <a:bodyPr wrap="square" lIns="0" tIns="0" rIns="0" bIns="0" rtlCol="0" anchor="ctr"/>
          <a:lstStyle/>
          <a:p>
            <a:pPr algn="ctr" indent="0" marL="0">
              <a:buNone/>
            </a:pPr>
            <a:r>
              <a:rPr lang="en-US" sz="1700" b="1" dirty="0">
                <a:solidFill>
                  <a:srgbClr val="1C5D99"/>
                </a:solidFill>
                <a:latin typeface="Cambria" pitchFamily="34" charset="0"/>
                <a:ea typeface="Cambria" pitchFamily="34" charset="-122"/>
                <a:cs typeface="Cambria" pitchFamily="34" charset="-120"/>
              </a:rPr>
              <a:t>s₂</a:t>
            </a:r>
            <a:endParaRPr lang="en-US" sz="1700" dirty="0"/>
          </a:p>
        </p:txBody>
      </p:sp>
      <p:sp>
        <p:nvSpPr>
          <p:cNvPr id="15" name="Text 13"/>
          <p:cNvSpPr/>
          <p:nvPr/>
        </p:nvSpPr>
        <p:spPr>
          <a:xfrm>
            <a:off x="8046720" y="2359152"/>
            <a:ext cx="347472" cy="457200"/>
          </a:xfrm>
          <a:prstGeom prst="rect">
            <a:avLst/>
          </a:prstGeom>
          <a:noFill/>
          <a:ln/>
        </p:spPr>
        <p:txBody>
          <a:bodyPr wrap="square" lIns="0" tIns="0" rIns="0" bIns="0" rtlCol="0" anchor="ctr"/>
          <a:lstStyle/>
          <a:p>
            <a:pPr algn="ctr" indent="0" marL="0">
              <a:buNone/>
            </a:pPr>
            <a:r>
              <a:rPr lang="en-US" sz="1600" dirty="0">
                <a:solidFill>
                  <a:srgbClr val="A7A8AA"/>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8394192" y="2359152"/>
            <a:ext cx="1133856" cy="457200"/>
          </a:xfrm>
          <a:prstGeom prst="rect">
            <a:avLst/>
          </a:prstGeom>
          <a:noFill/>
          <a:ln/>
        </p:spPr>
        <p:txBody>
          <a:bodyPr wrap="square" lIns="0" tIns="0" rIns="0" bIns="0" rtlCol="0" anchor="ctr"/>
          <a:lstStyle/>
          <a:p>
            <a:pPr algn="ctr" indent="0" marL="0">
              <a:buNone/>
            </a:pPr>
            <a:r>
              <a:rPr lang="en-US" sz="1700" b="1" dirty="0">
                <a:solidFill>
                  <a:srgbClr val="53565A"/>
                </a:solidFill>
                <a:latin typeface="Cambria" pitchFamily="34" charset="0"/>
                <a:ea typeface="Cambria" pitchFamily="34" charset="-122"/>
                <a:cs typeface="Cambria" pitchFamily="34" charset="-120"/>
              </a:rPr>
              <a:t>…</a:t>
            </a:r>
            <a:endParaRPr lang="en-US" sz="1700" dirty="0"/>
          </a:p>
        </p:txBody>
      </p:sp>
      <p:sp>
        <p:nvSpPr>
          <p:cNvPr id="17" name="Text 15"/>
          <p:cNvSpPr/>
          <p:nvPr/>
        </p:nvSpPr>
        <p:spPr>
          <a:xfrm>
            <a:off x="9528048" y="2359152"/>
            <a:ext cx="347472" cy="457200"/>
          </a:xfrm>
          <a:prstGeom prst="rect">
            <a:avLst/>
          </a:prstGeom>
          <a:noFill/>
          <a:ln/>
        </p:spPr>
        <p:txBody>
          <a:bodyPr wrap="square" lIns="0" tIns="0" rIns="0" bIns="0" rtlCol="0" anchor="ctr"/>
          <a:lstStyle/>
          <a:p>
            <a:pPr algn="ctr" indent="0" marL="0">
              <a:buNone/>
            </a:pPr>
            <a:r>
              <a:rPr lang="en-US" sz="1600" dirty="0">
                <a:solidFill>
                  <a:srgbClr val="A7A8AA"/>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875520" y="2359152"/>
            <a:ext cx="1133856" cy="457200"/>
          </a:xfrm>
          <a:prstGeom prst="rect">
            <a:avLst/>
          </a:prstGeom>
          <a:noFill/>
          <a:ln/>
        </p:spPr>
        <p:txBody>
          <a:bodyPr wrap="square" lIns="0" tIns="0" rIns="0" bIns="0" rtlCol="0" anchor="ctr"/>
          <a:lstStyle/>
          <a:p>
            <a:pPr algn="ctr" indent="0" marL="0">
              <a:buNone/>
            </a:pPr>
            <a:r>
              <a:rPr lang="en-US" sz="1700" b="1" dirty="0">
                <a:solidFill>
                  <a:srgbClr val="53565A"/>
                </a:solidFill>
                <a:latin typeface="Cambria" pitchFamily="34" charset="0"/>
                <a:ea typeface="Cambria" pitchFamily="34" charset="-122"/>
                <a:cs typeface="Cambria" pitchFamily="34" charset="-120"/>
              </a:rPr>
              <a:t>sₜ</a:t>
            </a:r>
            <a:endParaRPr lang="en-US" sz="1700" dirty="0"/>
          </a:p>
        </p:txBody>
      </p:sp>
      <p:sp>
        <p:nvSpPr>
          <p:cNvPr id="19" name="Text 17"/>
          <p:cNvSpPr/>
          <p:nvPr/>
        </p:nvSpPr>
        <p:spPr>
          <a:xfrm>
            <a:off x="987552" y="2852928"/>
            <a:ext cx="10216591" cy="329184"/>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one episode  =  one continuous run, ending in a terminal state, a pit, a crash, or a time limit</a:t>
            </a:r>
            <a:endParaRPr lang="en-US" sz="1250" dirty="0"/>
          </a:p>
        </p:txBody>
      </p:sp>
      <p:sp>
        <p:nvSpPr>
          <p:cNvPr id="20" name="Text 18"/>
          <p:cNvSpPr/>
          <p:nvPr/>
        </p:nvSpPr>
        <p:spPr>
          <a:xfrm>
            <a:off x="566928" y="3529584"/>
            <a:ext cx="11057839" cy="1920240"/>
          </a:xfrm>
          <a:prstGeom prst="rect">
            <a:avLst/>
          </a:prstGeom>
          <a:noFill/>
          <a:ln/>
        </p:spPr>
        <p:txBody>
          <a:bodyPr wrap="square" lIns="0" tIns="0" rIns="0" bIns="0" rtlCol="0" anchor="t"/>
          <a:lstStyle/>
          <a:p>
            <a:pPr marL="177800" indent="-177800">
              <a:spcAft>
                <a:spcPts val="800"/>
              </a:spcAft>
              <a:buSzPct val="100000"/>
              <a:buChar char="•"/>
            </a:pPr>
            <a:r>
              <a:rPr lang="en-US" sz="1450" b="1" dirty="0">
                <a:solidFill>
                  <a:srgbClr val="3C4047"/>
                </a:solidFill>
                <a:latin typeface="Calibri" pitchFamily="34" charset="0"/>
                <a:ea typeface="Calibri" pitchFamily="34" charset="-122"/>
                <a:cs typeface="Calibri" pitchFamily="34" charset="-120"/>
              </a:rPr>
              <a:t>Terminal conditions are part of the problem design.</a:t>
            </a:r>
            <a:endParaRPr lang="en-US" sz="1450" dirty="0"/>
          </a:p>
          <a:p>
            <a:pPr lvl="1" marL="355600" indent="-177800">
              <a:spcAft>
                <a:spcPts val="800"/>
              </a:spcAft>
              <a:buSzPct val="100000"/>
              <a:buChar char="•"/>
            </a:pPr>
            <a:r>
              <a:rPr lang="en-US" sz="1450" dirty="0">
                <a:solidFill>
                  <a:srgbClr val="3C4047"/>
                </a:solidFill>
                <a:latin typeface="Calibri" pitchFamily="34" charset="0"/>
                <a:ea typeface="Calibri" pitchFamily="34" charset="-122"/>
                <a:cs typeface="Calibri" pitchFamily="34" charset="-120"/>
              </a:rPr>
              <a:t>Reaching a goal, falling in a pit, crashing the helicopter, or simply running out of time.</a:t>
            </a:r>
            <a:endParaRPr lang="en-US" sz="1450" dirty="0"/>
          </a:p>
          <a:p>
            <a:pPr marL="177800" indent="-177800">
              <a:spcAft>
                <a:spcPts val="800"/>
              </a:spcAft>
              <a:buSzPct val="100000"/>
              <a:buChar char="•"/>
            </a:pPr>
            <a:r>
              <a:rPr lang="en-US" sz="1450" b="1" dirty="0">
                <a:solidFill>
                  <a:srgbClr val="3C4047"/>
                </a:solidFill>
                <a:latin typeface="Calibri" pitchFamily="34" charset="0"/>
                <a:ea typeface="Calibri" pitchFamily="34" charset="-122"/>
                <a:cs typeface="Calibri" pitchFamily="34" charset="-120"/>
              </a:rPr>
              <a:t>Between episodes the agent resets, but what it has learned does not.</a:t>
            </a:r>
            <a:endParaRPr lang="en-US" sz="1450" dirty="0"/>
          </a:p>
          <a:p>
            <a:pPr lvl="1" marL="355600" indent="-177800">
              <a:spcAft>
                <a:spcPts val="800"/>
              </a:spcAft>
              <a:buSzPct val="100000"/>
              <a:buChar char="•"/>
            </a:pPr>
            <a:r>
              <a:rPr lang="en-US" sz="1450" dirty="0">
                <a:solidFill>
                  <a:srgbClr val="3C4047"/>
                </a:solidFill>
                <a:latin typeface="Calibri" pitchFamily="34" charset="0"/>
                <a:ea typeface="Calibri" pitchFamily="34" charset="-122"/>
                <a:cs typeface="Calibri" pitchFamily="34" charset="-120"/>
              </a:rPr>
              <a:t>The value estimates carry across. That accumulation is the whole point.</a:t>
            </a:r>
            <a:endParaRPr lang="en-US" sz="1450" dirty="0"/>
          </a:p>
          <a:p>
            <a:pPr marL="177800" indent="-177800">
              <a:spcAft>
                <a:spcPts val="800"/>
              </a:spcAft>
              <a:buSzPct val="100000"/>
              <a:buChar char="•"/>
            </a:pPr>
            <a:r>
              <a:rPr lang="en-US" sz="1450" b="1" dirty="0">
                <a:solidFill>
                  <a:srgbClr val="3C4047"/>
                </a:solidFill>
                <a:latin typeface="Calibri" pitchFamily="34" charset="0"/>
                <a:ea typeface="Calibri" pitchFamily="34" charset="-122"/>
                <a:cs typeface="Calibri" pitchFamily="34" charset="-120"/>
              </a:rPr>
              <a:t>Some problems have no natural episode boundary at all.</a:t>
            </a:r>
            <a:endParaRPr lang="en-US" sz="1450" dirty="0"/>
          </a:p>
          <a:p>
            <a:pPr lvl="1" marL="355600" indent="-177800">
              <a:spcAft>
                <a:spcPts val="800"/>
              </a:spcAft>
              <a:buSzPct val="100000"/>
              <a:buChar char="•"/>
            </a:pPr>
            <a:r>
              <a:rPr lang="en-US" sz="1450" dirty="0">
                <a:solidFill>
                  <a:srgbClr val="3C4047"/>
                </a:solidFill>
                <a:latin typeface="Calibri" pitchFamily="34" charset="0"/>
                <a:ea typeface="Calibri" pitchFamily="34" charset="-122"/>
                <a:cs typeface="Calibri" pitchFamily="34" charset="-120"/>
              </a:rPr>
              <a:t>A running server, a trading book, a thermostat. These are continuing tasks, and discounting is what keeps their values finite.</a:t>
            </a:r>
            <a:endParaRPr lang="en-US" sz="1450" dirty="0"/>
          </a:p>
        </p:txBody>
      </p:sp>
      <p:sp>
        <p:nvSpPr>
          <p:cNvPr id="21" name="Shape 19"/>
          <p:cNvSpPr/>
          <p:nvPr/>
        </p:nvSpPr>
        <p:spPr>
          <a:xfrm>
            <a:off x="566928" y="5614416"/>
            <a:ext cx="11057839" cy="603504"/>
          </a:xfrm>
          <a:prstGeom prst="roundRect">
            <a:avLst>
              <a:gd name="adj" fmla="val 13636"/>
            </a:avLst>
          </a:prstGeom>
          <a:solidFill>
            <a:srgbClr val="FBEAED"/>
          </a:solidFill>
          <a:ln/>
        </p:spPr>
      </p:sp>
      <p:sp>
        <p:nvSpPr>
          <p:cNvPr id="22" name="Shape 20"/>
          <p:cNvSpPr/>
          <p:nvPr/>
        </p:nvSpPr>
        <p:spPr>
          <a:xfrm>
            <a:off x="786384" y="5824728"/>
            <a:ext cx="182880" cy="182880"/>
          </a:xfrm>
          <a:prstGeom prst="ellipse">
            <a:avLst/>
          </a:prstGeom>
          <a:solidFill>
            <a:srgbClr val="C8102E"/>
          </a:solidFill>
          <a:ln/>
        </p:spPr>
      </p:sp>
      <p:sp>
        <p:nvSpPr>
          <p:cNvPr id="23" name="Text 21"/>
          <p:cNvSpPr/>
          <p:nvPr/>
        </p:nvSpPr>
        <p:spPr>
          <a:xfrm>
            <a:off x="1115568" y="5614416"/>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An episode resets the agent's position. It never resets what the agent has learned.</a:t>
            </a:r>
            <a:endParaRPr lang="en-US" sz="1450" dirty="0"/>
          </a:p>
        </p:txBody>
      </p:sp>
      <p:sp>
        <p:nvSpPr>
          <p:cNvPr id="24" name="Text 22"/>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5" name="Text 23"/>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566928" y="2212848"/>
            <a:ext cx="960120" cy="960120"/>
          </a:xfrm>
          <a:prstGeom prst="ellipse">
            <a:avLst/>
          </a:prstGeom>
          <a:solidFill>
            <a:srgbClr val="C8102E"/>
          </a:solidFill>
          <a:ln/>
        </p:spPr>
      </p:sp>
      <p:sp>
        <p:nvSpPr>
          <p:cNvPr id="3" name="Text 1"/>
          <p:cNvSpPr/>
          <p:nvPr/>
        </p:nvSpPr>
        <p:spPr>
          <a:xfrm>
            <a:off x="566928" y="2212848"/>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4" name="Text 2"/>
          <p:cNvSpPr/>
          <p:nvPr/>
        </p:nvSpPr>
        <p:spPr>
          <a:xfrm>
            <a:off x="566928" y="3401568"/>
            <a:ext cx="9509760" cy="84124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RL problem, stated</a:t>
            </a:r>
            <a:endParaRPr lang="en-US" sz="3800" dirty="0"/>
          </a:p>
        </p:txBody>
      </p:sp>
      <p:sp>
        <p:nvSpPr>
          <p:cNvPr id="5" name="Text 3"/>
          <p:cNvSpPr/>
          <p:nvPr/>
        </p:nvSpPr>
        <p:spPr>
          <a:xfrm>
            <a:off x="566928" y="4315968"/>
            <a:ext cx="8778240" cy="731520"/>
          </a:xfrm>
          <a:prstGeom prst="rect">
            <a:avLst/>
          </a:prstGeom>
          <a:noFill/>
          <a:ln/>
        </p:spPr>
        <p:txBody>
          <a:bodyPr wrap="square" lIns="0" tIns="0" rIns="0" bIns="0" rtlCol="0" anchor="t"/>
          <a:lstStyle/>
          <a:p>
            <a:pPr indent="0" marL="0">
              <a:lnSpc>
                <a:spcPct val="115000"/>
              </a:lnSpc>
              <a:buNone/>
            </a:pPr>
            <a:r>
              <a:rPr lang="en-US" sz="1550" dirty="0">
                <a:solidFill>
                  <a:srgbClr val="C3C7CB"/>
                </a:solidFill>
                <a:latin typeface="Calibri" pitchFamily="34" charset="0"/>
                <a:ea typeface="Calibri" pitchFamily="34" charset="-122"/>
                <a:cs typeface="Calibri" pitchFamily="34" charset="-120"/>
              </a:rPr>
              <a:t>Same states, same actions, same policy target. Two unknowns.</a:t>
            </a:r>
            <a:endParaRPr lang="en-US" sz="1550" dirty="0"/>
          </a:p>
        </p:txBody>
      </p:sp>
      <p:sp>
        <p:nvSpPr>
          <p:cNvPr id="6" name="Text 4"/>
          <p:cNvSpPr/>
          <p:nvPr/>
        </p:nvSpPr>
        <p:spPr>
          <a:xfrm>
            <a:off x="7418527" y="2304288"/>
            <a:ext cx="4206240" cy="365760"/>
          </a:xfrm>
          <a:prstGeom prst="rect">
            <a:avLst/>
          </a:prstGeom>
          <a:noFill/>
          <a:ln/>
        </p:spPr>
        <p:txBody>
          <a:bodyPr wrap="square" lIns="0" tIns="0" rIns="0" bIns="0" rtlCol="0" anchor="ctr"/>
          <a:lstStyle/>
          <a:p>
            <a:pPr algn="r" indent="0" marL="0">
              <a:buNone/>
            </a:pPr>
            <a:r>
              <a:rPr lang="en-US" sz="1200" dirty="0">
                <a:solidFill>
                  <a:srgbClr val="A7A8AA"/>
                </a:solidFill>
                <a:latin typeface="Calibri" pitchFamily="34" charset="0"/>
                <a:ea typeface="Calibri" pitchFamily="34" charset="-122"/>
                <a:cs typeface="Calibri" pitchFamily="34" charset="-120"/>
              </a:rPr>
              <a:t>AIMA 22.1</a:t>
            </a:r>
            <a:endParaRPr lang="en-US" sz="1200" dirty="0"/>
          </a:p>
        </p:txBody>
      </p:sp>
      <p:sp>
        <p:nvSpPr>
          <p:cNvPr id="7"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8"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Still an MDP, with two pieces withheld</a:t>
            </a:r>
            <a:endParaRPr lang="en-US" sz="3000" dirty="0"/>
          </a:p>
        </p:txBody>
      </p:sp>
      <p:sp>
        <p:nvSpPr>
          <p:cNvPr id="3" name="Text 1"/>
          <p:cNvSpPr/>
          <p:nvPr/>
        </p:nvSpPr>
        <p:spPr>
          <a:xfrm>
            <a:off x="566928" y="1426464"/>
            <a:ext cx="5212080" cy="329184"/>
          </a:xfrm>
          <a:prstGeom prst="rect">
            <a:avLst/>
          </a:prstGeom>
          <a:noFill/>
          <a:ln/>
        </p:spPr>
        <p:txBody>
          <a:bodyPr wrap="square" lIns="0" tIns="0" rIns="0" bIns="0" rtlCol="0" anchor="ctr"/>
          <a:lstStyle/>
          <a:p>
            <a:pPr indent="0" marL="0">
              <a:buNone/>
            </a:pPr>
            <a:r>
              <a:rPr lang="en-US" sz="1500" b="1" dirty="0">
                <a:solidFill>
                  <a:srgbClr val="53565A"/>
                </a:solidFill>
                <a:latin typeface="Cambria" pitchFamily="34" charset="0"/>
                <a:ea typeface="Cambria" pitchFamily="34" charset="-122"/>
                <a:cs typeface="Cambria" pitchFamily="34" charset="-120"/>
              </a:rPr>
              <a:t>Unchanged from last lecture</a:t>
            </a:r>
            <a:endParaRPr lang="en-US" sz="1500" dirty="0"/>
          </a:p>
        </p:txBody>
      </p:sp>
      <p:sp>
        <p:nvSpPr>
          <p:cNvPr id="4" name="Shape 2"/>
          <p:cNvSpPr/>
          <p:nvPr/>
        </p:nvSpPr>
        <p:spPr>
          <a:xfrm>
            <a:off x="566928" y="1865376"/>
            <a:ext cx="5212080" cy="621792"/>
          </a:xfrm>
          <a:prstGeom prst="roundRect">
            <a:avLst>
              <a:gd name="adj" fmla="val 13235"/>
            </a:avLst>
          </a:prstGeom>
          <a:solidFill>
            <a:srgbClr val="F4F5F6"/>
          </a:solidFill>
          <a:ln/>
        </p:spPr>
      </p:sp>
      <p:sp>
        <p:nvSpPr>
          <p:cNvPr id="5" name="Text 3"/>
          <p:cNvSpPr/>
          <p:nvPr/>
        </p:nvSpPr>
        <p:spPr>
          <a:xfrm>
            <a:off x="804672" y="1865376"/>
            <a:ext cx="1371600" cy="621792"/>
          </a:xfrm>
          <a:prstGeom prst="rect">
            <a:avLst/>
          </a:prstGeom>
          <a:noFill/>
          <a:ln/>
        </p:spPr>
        <p:txBody>
          <a:bodyPr wrap="square" lIns="0" tIns="0" rIns="0" bIns="0" rtlCol="0" anchor="ctr"/>
          <a:lstStyle/>
          <a:p>
            <a:pPr indent="0" marL="0">
              <a:buNone/>
            </a:pPr>
            <a:r>
              <a:rPr lang="en-US" sz="1700" b="1" dirty="0">
                <a:solidFill>
                  <a:srgbClr val="22252A"/>
                </a:solidFill>
                <a:latin typeface="Cambria" pitchFamily="34" charset="0"/>
                <a:ea typeface="Cambria" pitchFamily="34" charset="-122"/>
                <a:cs typeface="Cambria" pitchFamily="34" charset="-120"/>
              </a:rPr>
              <a:t>S</a:t>
            </a:r>
            <a:endParaRPr lang="en-US" sz="1700" dirty="0"/>
          </a:p>
        </p:txBody>
      </p:sp>
      <p:sp>
        <p:nvSpPr>
          <p:cNvPr id="6" name="Text 4"/>
          <p:cNvSpPr/>
          <p:nvPr/>
        </p:nvSpPr>
        <p:spPr>
          <a:xfrm>
            <a:off x="2212848" y="1865376"/>
            <a:ext cx="3383280" cy="621792"/>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a set of states</a:t>
            </a:r>
            <a:endParaRPr lang="en-US" sz="1350" dirty="0"/>
          </a:p>
        </p:txBody>
      </p:sp>
      <p:sp>
        <p:nvSpPr>
          <p:cNvPr id="7" name="Shape 5"/>
          <p:cNvSpPr/>
          <p:nvPr/>
        </p:nvSpPr>
        <p:spPr>
          <a:xfrm>
            <a:off x="566928" y="2578608"/>
            <a:ext cx="5212080" cy="621792"/>
          </a:xfrm>
          <a:prstGeom prst="roundRect">
            <a:avLst>
              <a:gd name="adj" fmla="val 13235"/>
            </a:avLst>
          </a:prstGeom>
          <a:solidFill>
            <a:srgbClr val="F4F5F6"/>
          </a:solidFill>
          <a:ln/>
        </p:spPr>
      </p:sp>
      <p:sp>
        <p:nvSpPr>
          <p:cNvPr id="8" name="Text 6"/>
          <p:cNvSpPr/>
          <p:nvPr/>
        </p:nvSpPr>
        <p:spPr>
          <a:xfrm>
            <a:off x="804672" y="2578608"/>
            <a:ext cx="1371600" cy="621792"/>
          </a:xfrm>
          <a:prstGeom prst="rect">
            <a:avLst/>
          </a:prstGeom>
          <a:noFill/>
          <a:ln/>
        </p:spPr>
        <p:txBody>
          <a:bodyPr wrap="square" lIns="0" tIns="0" rIns="0" bIns="0" rtlCol="0" anchor="ctr"/>
          <a:lstStyle/>
          <a:p>
            <a:pPr indent="0" marL="0">
              <a:buNone/>
            </a:pPr>
            <a:r>
              <a:rPr lang="en-US" sz="1700" b="1" dirty="0">
                <a:solidFill>
                  <a:srgbClr val="22252A"/>
                </a:solidFill>
                <a:latin typeface="Cambria" pitchFamily="34" charset="0"/>
                <a:ea typeface="Cambria" pitchFamily="34" charset="-122"/>
                <a:cs typeface="Cambria" pitchFamily="34" charset="-120"/>
              </a:rPr>
              <a:t>A</a:t>
            </a:r>
            <a:endParaRPr lang="en-US" sz="1700" dirty="0"/>
          </a:p>
        </p:txBody>
      </p:sp>
      <p:sp>
        <p:nvSpPr>
          <p:cNvPr id="9" name="Text 7"/>
          <p:cNvSpPr/>
          <p:nvPr/>
        </p:nvSpPr>
        <p:spPr>
          <a:xfrm>
            <a:off x="2212848" y="2578608"/>
            <a:ext cx="3383280" cy="621792"/>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a set of actions, possibly per state</a:t>
            </a:r>
            <a:endParaRPr lang="en-US" sz="1350" dirty="0"/>
          </a:p>
        </p:txBody>
      </p:sp>
      <p:sp>
        <p:nvSpPr>
          <p:cNvPr id="10" name="Shape 8"/>
          <p:cNvSpPr/>
          <p:nvPr/>
        </p:nvSpPr>
        <p:spPr>
          <a:xfrm>
            <a:off x="566928" y="3291840"/>
            <a:ext cx="5212080" cy="621792"/>
          </a:xfrm>
          <a:prstGeom prst="roundRect">
            <a:avLst>
              <a:gd name="adj" fmla="val 13235"/>
            </a:avLst>
          </a:prstGeom>
          <a:solidFill>
            <a:srgbClr val="F4F5F6"/>
          </a:solidFill>
          <a:ln/>
        </p:spPr>
      </p:sp>
      <p:sp>
        <p:nvSpPr>
          <p:cNvPr id="11" name="Text 9"/>
          <p:cNvSpPr/>
          <p:nvPr/>
        </p:nvSpPr>
        <p:spPr>
          <a:xfrm>
            <a:off x="804672" y="3291840"/>
            <a:ext cx="1371600" cy="621792"/>
          </a:xfrm>
          <a:prstGeom prst="rect">
            <a:avLst/>
          </a:prstGeom>
          <a:noFill/>
          <a:ln/>
        </p:spPr>
        <p:txBody>
          <a:bodyPr wrap="square" lIns="0" tIns="0" rIns="0" bIns="0" rtlCol="0" anchor="ctr"/>
          <a:lstStyle/>
          <a:p>
            <a:pPr indent="0" marL="0">
              <a:buNone/>
            </a:pPr>
            <a:r>
              <a:rPr lang="en-US" sz="1700" b="1" dirty="0">
                <a:solidFill>
                  <a:srgbClr val="22252A"/>
                </a:solidFill>
                <a:latin typeface="Cambria" pitchFamily="34" charset="0"/>
                <a:ea typeface="Cambria" pitchFamily="34" charset="-122"/>
                <a:cs typeface="Cambria" pitchFamily="34" charset="-120"/>
              </a:rPr>
              <a:t>γ</a:t>
            </a:r>
            <a:endParaRPr lang="en-US" sz="1700" dirty="0"/>
          </a:p>
        </p:txBody>
      </p:sp>
      <p:sp>
        <p:nvSpPr>
          <p:cNvPr id="12" name="Text 10"/>
          <p:cNvSpPr/>
          <p:nvPr/>
        </p:nvSpPr>
        <p:spPr>
          <a:xfrm>
            <a:off x="2212848" y="3291840"/>
            <a:ext cx="3383280" cy="621792"/>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a discount factor</a:t>
            </a:r>
            <a:endParaRPr lang="en-US" sz="1350" dirty="0"/>
          </a:p>
        </p:txBody>
      </p:sp>
      <p:sp>
        <p:nvSpPr>
          <p:cNvPr id="13" name="Shape 11"/>
          <p:cNvSpPr/>
          <p:nvPr/>
        </p:nvSpPr>
        <p:spPr>
          <a:xfrm>
            <a:off x="566928" y="4005072"/>
            <a:ext cx="5212080" cy="621792"/>
          </a:xfrm>
          <a:prstGeom prst="roundRect">
            <a:avLst>
              <a:gd name="adj" fmla="val 13235"/>
            </a:avLst>
          </a:prstGeom>
          <a:solidFill>
            <a:srgbClr val="F4F5F6"/>
          </a:solidFill>
          <a:ln/>
        </p:spPr>
      </p:sp>
      <p:sp>
        <p:nvSpPr>
          <p:cNvPr id="14" name="Text 12"/>
          <p:cNvSpPr/>
          <p:nvPr/>
        </p:nvSpPr>
        <p:spPr>
          <a:xfrm>
            <a:off x="804672" y="4005072"/>
            <a:ext cx="1371600" cy="621792"/>
          </a:xfrm>
          <a:prstGeom prst="rect">
            <a:avLst/>
          </a:prstGeom>
          <a:noFill/>
          <a:ln/>
        </p:spPr>
        <p:txBody>
          <a:bodyPr wrap="square" lIns="0" tIns="0" rIns="0" bIns="0" rtlCol="0" anchor="ctr"/>
          <a:lstStyle/>
          <a:p>
            <a:pPr indent="0" marL="0">
              <a:buNone/>
            </a:pPr>
            <a:r>
              <a:rPr lang="en-US" sz="1700" b="1" dirty="0">
                <a:solidFill>
                  <a:srgbClr val="22252A"/>
                </a:solidFill>
                <a:latin typeface="Cambria" pitchFamily="34" charset="0"/>
                <a:ea typeface="Cambria" pitchFamily="34" charset="-122"/>
                <a:cs typeface="Cambria" pitchFamily="34" charset="-120"/>
              </a:rPr>
              <a:t>π(s)</a:t>
            </a:r>
            <a:endParaRPr lang="en-US" sz="1700" dirty="0"/>
          </a:p>
        </p:txBody>
      </p:sp>
      <p:sp>
        <p:nvSpPr>
          <p:cNvPr id="15" name="Text 13"/>
          <p:cNvSpPr/>
          <p:nvPr/>
        </p:nvSpPr>
        <p:spPr>
          <a:xfrm>
            <a:off x="2212848" y="4005072"/>
            <a:ext cx="3383280" cy="621792"/>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the policy we are still trying to produce</a:t>
            </a:r>
            <a:endParaRPr lang="en-US" sz="1350" dirty="0"/>
          </a:p>
        </p:txBody>
      </p:sp>
      <p:sp>
        <p:nvSpPr>
          <p:cNvPr id="16" name="Text 14"/>
          <p:cNvSpPr/>
          <p:nvPr/>
        </p:nvSpPr>
        <p:spPr>
          <a:xfrm>
            <a:off x="6345936" y="1426464"/>
            <a:ext cx="5212080" cy="329184"/>
          </a:xfrm>
          <a:prstGeom prst="rect">
            <a:avLst/>
          </a:prstGeom>
          <a:noFill/>
          <a:ln/>
        </p:spPr>
        <p:txBody>
          <a:bodyPr wrap="square" lIns="0" tIns="0" rIns="0" bIns="0" rtlCol="0" anchor="ctr"/>
          <a:lstStyle/>
          <a:p>
            <a:pPr indent="0" marL="0">
              <a:buNone/>
            </a:pPr>
            <a:r>
              <a:rPr lang="en-US" sz="1500" b="1" dirty="0">
                <a:solidFill>
                  <a:srgbClr val="C8102E"/>
                </a:solidFill>
                <a:latin typeface="Cambria" pitchFamily="34" charset="0"/>
                <a:ea typeface="Cambria" pitchFamily="34" charset="-122"/>
                <a:cs typeface="Cambria" pitchFamily="34" charset="-120"/>
              </a:rPr>
              <a:t>Withheld from the agent</a:t>
            </a:r>
            <a:endParaRPr lang="en-US" sz="1500" dirty="0"/>
          </a:p>
        </p:txBody>
      </p:sp>
      <p:sp>
        <p:nvSpPr>
          <p:cNvPr id="17" name="Shape 15"/>
          <p:cNvSpPr/>
          <p:nvPr/>
        </p:nvSpPr>
        <p:spPr>
          <a:xfrm>
            <a:off x="6345936" y="1865376"/>
            <a:ext cx="5212080" cy="621792"/>
          </a:xfrm>
          <a:prstGeom prst="roundRect">
            <a:avLst>
              <a:gd name="adj" fmla="val 13235"/>
            </a:avLst>
          </a:prstGeom>
          <a:solidFill>
            <a:srgbClr val="FBEAED"/>
          </a:solidFill>
          <a:ln/>
        </p:spPr>
      </p:sp>
      <p:sp>
        <p:nvSpPr>
          <p:cNvPr id="18" name="Text 16"/>
          <p:cNvSpPr/>
          <p:nvPr/>
        </p:nvSpPr>
        <p:spPr>
          <a:xfrm>
            <a:off x="6583680" y="1865376"/>
            <a:ext cx="1920240" cy="621792"/>
          </a:xfrm>
          <a:prstGeom prst="rect">
            <a:avLst/>
          </a:prstGeom>
          <a:noFill/>
          <a:ln/>
        </p:spPr>
        <p:txBody>
          <a:bodyPr wrap="square" lIns="0" tIns="0" rIns="0" bIns="0" rtlCol="0" anchor="ctr"/>
          <a:lstStyle/>
          <a:p>
            <a:pPr indent="0" marL="0">
              <a:buNone/>
            </a:pPr>
            <a:r>
              <a:rPr lang="en-US" sz="1700" b="1" dirty="0">
                <a:solidFill>
                  <a:srgbClr val="C8102E"/>
                </a:solidFill>
                <a:latin typeface="Cambria" pitchFamily="34" charset="0"/>
                <a:ea typeface="Cambria" pitchFamily="34" charset="-122"/>
                <a:cs typeface="Cambria" pitchFamily="34" charset="-120"/>
              </a:rPr>
              <a:t>T(s, a, s')</a:t>
            </a:r>
            <a:endParaRPr lang="en-US" sz="1700" dirty="0"/>
          </a:p>
        </p:txBody>
      </p:sp>
      <p:sp>
        <p:nvSpPr>
          <p:cNvPr id="19" name="Text 17"/>
          <p:cNvSpPr/>
          <p:nvPr/>
        </p:nvSpPr>
        <p:spPr>
          <a:xfrm>
            <a:off x="8558784" y="1865376"/>
            <a:ext cx="2834640" cy="621792"/>
          </a:xfrm>
          <a:prstGeom prst="rect">
            <a:avLst/>
          </a:prstGeom>
          <a:noFill/>
          <a:ln/>
        </p:spPr>
        <p:txBody>
          <a:bodyPr wrap="square" lIns="0" tIns="0" rIns="0" bIns="0" rtlCol="0" anchor="ctr"/>
          <a:lstStyle/>
          <a:p>
            <a:pPr indent="0" marL="0">
              <a:buNone/>
            </a:pPr>
            <a:r>
              <a:rPr lang="en-US" sz="1350" dirty="0">
                <a:solidFill>
                  <a:srgbClr val="8E0B20"/>
                </a:solidFill>
                <a:latin typeface="Calibri" pitchFamily="34" charset="0"/>
                <a:ea typeface="Calibri" pitchFamily="34" charset="-122"/>
                <a:cs typeface="Calibri" pitchFamily="34" charset="-120"/>
              </a:rPr>
              <a:t>the transition model</a:t>
            </a:r>
            <a:endParaRPr lang="en-US" sz="1350" dirty="0"/>
          </a:p>
        </p:txBody>
      </p:sp>
      <p:sp>
        <p:nvSpPr>
          <p:cNvPr id="20" name="Shape 18"/>
          <p:cNvSpPr/>
          <p:nvPr/>
        </p:nvSpPr>
        <p:spPr>
          <a:xfrm>
            <a:off x="6345936" y="2578608"/>
            <a:ext cx="5212080" cy="621792"/>
          </a:xfrm>
          <a:prstGeom prst="roundRect">
            <a:avLst>
              <a:gd name="adj" fmla="val 13235"/>
            </a:avLst>
          </a:prstGeom>
          <a:solidFill>
            <a:srgbClr val="FBEAED"/>
          </a:solidFill>
          <a:ln/>
        </p:spPr>
      </p:sp>
      <p:sp>
        <p:nvSpPr>
          <p:cNvPr id="21" name="Text 19"/>
          <p:cNvSpPr/>
          <p:nvPr/>
        </p:nvSpPr>
        <p:spPr>
          <a:xfrm>
            <a:off x="6583680" y="2578608"/>
            <a:ext cx="1920240" cy="621792"/>
          </a:xfrm>
          <a:prstGeom prst="rect">
            <a:avLst/>
          </a:prstGeom>
          <a:noFill/>
          <a:ln/>
        </p:spPr>
        <p:txBody>
          <a:bodyPr wrap="square" lIns="0" tIns="0" rIns="0" bIns="0" rtlCol="0" anchor="ctr"/>
          <a:lstStyle/>
          <a:p>
            <a:pPr indent="0" marL="0">
              <a:buNone/>
            </a:pPr>
            <a:r>
              <a:rPr lang="en-US" sz="1700" b="1" dirty="0">
                <a:solidFill>
                  <a:srgbClr val="C8102E"/>
                </a:solidFill>
                <a:latin typeface="Cambria" pitchFamily="34" charset="0"/>
                <a:ea typeface="Cambria" pitchFamily="34" charset="-122"/>
                <a:cs typeface="Cambria" pitchFamily="34" charset="-120"/>
              </a:rPr>
              <a:t>R(s, a, s')</a:t>
            </a:r>
            <a:endParaRPr lang="en-US" sz="1700" dirty="0"/>
          </a:p>
        </p:txBody>
      </p:sp>
      <p:sp>
        <p:nvSpPr>
          <p:cNvPr id="22" name="Text 20"/>
          <p:cNvSpPr/>
          <p:nvPr/>
        </p:nvSpPr>
        <p:spPr>
          <a:xfrm>
            <a:off x="8558784" y="2578608"/>
            <a:ext cx="2834640" cy="621792"/>
          </a:xfrm>
          <a:prstGeom prst="rect">
            <a:avLst/>
          </a:prstGeom>
          <a:noFill/>
          <a:ln/>
        </p:spPr>
        <p:txBody>
          <a:bodyPr wrap="square" lIns="0" tIns="0" rIns="0" bIns="0" rtlCol="0" anchor="ctr"/>
          <a:lstStyle/>
          <a:p>
            <a:pPr indent="0" marL="0">
              <a:buNone/>
            </a:pPr>
            <a:r>
              <a:rPr lang="en-US" sz="1350" dirty="0">
                <a:solidFill>
                  <a:srgbClr val="8E0B20"/>
                </a:solidFill>
                <a:latin typeface="Calibri" pitchFamily="34" charset="0"/>
                <a:ea typeface="Calibri" pitchFamily="34" charset="-122"/>
                <a:cs typeface="Calibri" pitchFamily="34" charset="-120"/>
              </a:rPr>
              <a:t>the reward function</a:t>
            </a:r>
            <a:endParaRPr lang="en-US" sz="1350" dirty="0"/>
          </a:p>
        </p:txBody>
      </p:sp>
      <p:sp>
        <p:nvSpPr>
          <p:cNvPr id="23" name="Shape 21"/>
          <p:cNvSpPr/>
          <p:nvPr/>
        </p:nvSpPr>
        <p:spPr>
          <a:xfrm>
            <a:off x="6345936" y="3291840"/>
            <a:ext cx="5212080" cy="1335024"/>
          </a:xfrm>
          <a:prstGeom prst="roundRect">
            <a:avLst>
              <a:gd name="adj" fmla="val 6164"/>
            </a:avLst>
          </a:prstGeom>
          <a:solidFill>
            <a:srgbClr val="F4F5F6"/>
          </a:solidFill>
          <a:ln/>
        </p:spPr>
      </p:sp>
      <p:sp>
        <p:nvSpPr>
          <p:cNvPr id="24" name="Text 22"/>
          <p:cNvSpPr/>
          <p:nvPr/>
        </p:nvSpPr>
        <p:spPr>
          <a:xfrm>
            <a:off x="6583680" y="3438144"/>
            <a:ext cx="4754880" cy="292608"/>
          </a:xfrm>
          <a:prstGeom prst="rect">
            <a:avLst/>
          </a:prstGeom>
          <a:noFill/>
          <a:ln/>
        </p:spPr>
        <p:txBody>
          <a:bodyPr wrap="square" lIns="0" tIns="0" rIns="0" bIns="0" rtlCol="0" anchor="ctr"/>
          <a:lstStyle/>
          <a:p>
            <a:pPr indent="0" marL="0">
              <a:buNone/>
            </a:pPr>
            <a:r>
              <a:rPr lang="en-US" sz="1350" b="1" dirty="0">
                <a:solidFill>
                  <a:srgbClr val="22252A"/>
                </a:solidFill>
                <a:latin typeface="Calibri" pitchFamily="34" charset="0"/>
                <a:ea typeface="Calibri" pitchFamily="34" charset="-122"/>
                <a:cs typeface="Calibri" pitchFamily="34" charset="-120"/>
              </a:rPr>
              <a:t>What that costs you</a:t>
            </a:r>
            <a:endParaRPr lang="en-US" sz="1350" dirty="0"/>
          </a:p>
        </p:txBody>
      </p:sp>
      <p:sp>
        <p:nvSpPr>
          <p:cNvPr id="25" name="Text 23"/>
          <p:cNvSpPr/>
          <p:nvPr/>
        </p:nvSpPr>
        <p:spPr>
          <a:xfrm>
            <a:off x="6583680" y="3767328"/>
            <a:ext cx="4754880" cy="786384"/>
          </a:xfrm>
          <a:prstGeom prst="rect">
            <a:avLst/>
          </a:prstGeom>
          <a:noFill/>
          <a:ln/>
        </p:spPr>
        <p:txBody>
          <a:bodyPr wrap="square" lIns="0" tIns="0" rIns="0" bIns="0" rtlCol="0" anchor="t"/>
          <a:lstStyle/>
          <a:p>
            <a:pPr indent="0" marL="0">
              <a:buNone/>
            </a:pPr>
            <a:r>
              <a:rPr lang="en-US" sz="1250" dirty="0">
                <a:solidFill>
                  <a:srgbClr val="3C4047"/>
                </a:solidFill>
                <a:latin typeface="Calibri" pitchFamily="34" charset="0"/>
                <a:ea typeface="Calibri" pitchFamily="34" charset="-122"/>
                <a:cs typeface="Calibri" pitchFamily="34" charset="-120"/>
              </a:rPr>
              <a:t>You must visit a state to learn anything about it, and in a stochastic world you must take the same action many times before one trial's outcome means anything.</a:t>
            </a:r>
            <a:endParaRPr lang="en-US" sz="1250" dirty="0"/>
          </a:p>
        </p:txBody>
      </p:sp>
      <p:sp>
        <p:nvSpPr>
          <p:cNvPr id="26" name="Shape 24"/>
          <p:cNvSpPr/>
          <p:nvPr/>
        </p:nvSpPr>
        <p:spPr>
          <a:xfrm>
            <a:off x="566928" y="4974336"/>
            <a:ext cx="11057839" cy="603504"/>
          </a:xfrm>
          <a:prstGeom prst="roundRect">
            <a:avLst>
              <a:gd name="adj" fmla="val 13636"/>
            </a:avLst>
          </a:prstGeom>
          <a:solidFill>
            <a:srgbClr val="FBEAED"/>
          </a:solidFill>
          <a:ln/>
        </p:spPr>
      </p:sp>
      <p:sp>
        <p:nvSpPr>
          <p:cNvPr id="27" name="Shape 25"/>
          <p:cNvSpPr/>
          <p:nvPr/>
        </p:nvSpPr>
        <p:spPr>
          <a:xfrm>
            <a:off x="786384" y="5184648"/>
            <a:ext cx="182880" cy="182880"/>
          </a:xfrm>
          <a:prstGeom prst="ellipse">
            <a:avLst/>
          </a:prstGeom>
          <a:solidFill>
            <a:srgbClr val="C8102E"/>
          </a:solidFill>
          <a:ln/>
        </p:spPr>
      </p:sp>
      <p:sp>
        <p:nvSpPr>
          <p:cNvPr id="28" name="Text 26"/>
          <p:cNvSpPr/>
          <p:nvPr/>
        </p:nvSpPr>
        <p:spPr>
          <a:xfrm>
            <a:off x="1115568" y="4974336"/>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Formally there is an MDP. The agent simply does not have a copy of it.</a:t>
            </a:r>
            <a:endParaRPr lang="en-US" sz="1450" dirty="0"/>
          </a:p>
        </p:txBody>
      </p:sp>
      <p:sp>
        <p:nvSpPr>
          <p:cNvPr id="29" name="Text 27"/>
          <p:cNvSpPr/>
          <p:nvPr/>
        </p:nvSpPr>
        <p:spPr>
          <a:xfrm>
            <a:off x="566928" y="5724144"/>
            <a:ext cx="11057839" cy="457200"/>
          </a:xfrm>
          <a:prstGeom prst="rect">
            <a:avLst/>
          </a:prstGeom>
          <a:noFill/>
          <a:ln/>
        </p:spPr>
        <p:txBody>
          <a:bodyPr wrap="square" lIns="0" tIns="0" rIns="0" bIns="0" rtlCol="0" anchor="t"/>
          <a:lstStyle/>
          <a:p>
            <a:pPr algn="l" indent="0" marL="0">
              <a:lnSpc>
                <a:spcPct val="114000"/>
              </a:lnSpc>
              <a:buNone/>
            </a:pPr>
            <a:r>
              <a:rPr lang="en-US" sz="1250" i="1" dirty="0">
                <a:solidFill>
                  <a:srgbClr val="53565A"/>
                </a:solidFill>
                <a:latin typeface="Calibri" pitchFamily="34" charset="0"/>
                <a:ea typeface="Calibri" pitchFamily="34" charset="-122"/>
                <a:cs typeface="Calibri" pitchFamily="34" charset="-120"/>
              </a:rPr>
              <a:t>Assumption for today: full observability. The agent always knows which state it is in. Relaxing that gives a partially observable MDP, covered much later.</a:t>
            </a:r>
            <a:endParaRPr lang="en-US" sz="1250" dirty="0"/>
          </a:p>
        </p:txBody>
      </p:sp>
      <p:sp>
        <p:nvSpPr>
          <p:cNvPr id="30" name="Text 28"/>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31" name="Text 29"/>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Two families, four algorithms</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Every method today is one of the four leaves. We build them left to right.</a:t>
            </a:r>
            <a:endParaRPr lang="en-US" sz="1400" dirty="0"/>
          </a:p>
        </p:txBody>
      </p:sp>
      <p:pic>
        <p:nvPicPr>
          <p:cNvPr id="4" name="Image 0" descr="/home/claude/comp469_rl/figures/fig03_taxonomy.png">    </p:cNvPr>
          <p:cNvPicPr>
            <a:picLocks noChangeAspect="1"/>
          </p:cNvPicPr>
          <p:nvPr/>
        </p:nvPicPr>
        <p:blipFill>
          <a:blip r:embed="rId1"/>
          <a:srcRect l="0" r="0" t="0" b="0"/>
          <a:stretch/>
        </p:blipFill>
        <p:spPr>
          <a:xfrm>
            <a:off x="658368" y="1536192"/>
            <a:ext cx="10881360" cy="3968496"/>
          </a:xfrm>
          <a:prstGeom prst="rect">
            <a:avLst/>
          </a:prstGeom>
        </p:spPr>
      </p:pic>
      <p:sp>
        <p:nvSpPr>
          <p:cNvPr id="5" name="Shape 2"/>
          <p:cNvSpPr/>
          <p:nvPr/>
        </p:nvSpPr>
        <p:spPr>
          <a:xfrm>
            <a:off x="566928" y="5632704"/>
            <a:ext cx="11057839" cy="603504"/>
          </a:xfrm>
          <a:prstGeom prst="roundRect">
            <a:avLst>
              <a:gd name="adj" fmla="val 13636"/>
            </a:avLst>
          </a:prstGeom>
          <a:solidFill>
            <a:srgbClr val="F4F5F6"/>
          </a:solidFill>
          <a:ln/>
        </p:spPr>
      </p:sp>
      <p:sp>
        <p:nvSpPr>
          <p:cNvPr id="6" name="Shape 3"/>
          <p:cNvSpPr/>
          <p:nvPr/>
        </p:nvSpPr>
        <p:spPr>
          <a:xfrm>
            <a:off x="786384" y="5843016"/>
            <a:ext cx="182880" cy="182880"/>
          </a:xfrm>
          <a:prstGeom prst="ellipse">
            <a:avLst/>
          </a:prstGeom>
          <a:solidFill>
            <a:srgbClr val="53565A"/>
          </a:solidFill>
          <a:ln/>
        </p:spPr>
      </p:sp>
      <p:sp>
        <p:nvSpPr>
          <p:cNvPr id="7" name="Text 4"/>
          <p:cNvSpPr/>
          <p:nvPr/>
        </p:nvSpPr>
        <p:spPr>
          <a:xfrm>
            <a:off x="1115568" y="5632704"/>
            <a:ext cx="10289743" cy="603504"/>
          </a:xfrm>
          <a:prstGeom prst="rect">
            <a:avLst/>
          </a:prstGeom>
          <a:noFill/>
          <a:ln/>
        </p:spPr>
        <p:txBody>
          <a:bodyPr wrap="square" lIns="0" tIns="0" rIns="0" bIns="0" rtlCol="0" anchor="ctr"/>
          <a:lstStyle/>
          <a:p>
            <a:pPr indent="0" marL="0">
              <a:buNone/>
            </a:pPr>
            <a:r>
              <a:rPr lang="en-US" sz="1450" b="1" dirty="0">
                <a:solidFill>
                  <a:srgbClr val="3C4047"/>
                </a:solidFill>
                <a:latin typeface="Calibri" pitchFamily="34" charset="0"/>
                <a:ea typeface="Calibri" pitchFamily="34" charset="-122"/>
                <a:cs typeface="Calibri" pitchFamily="34" charset="-120"/>
              </a:rPr>
              <a:t>Neither family dominates the other, but model-free methods are what almost everyone actually deploys.</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Before we build anything</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CHECKPOINT 1</a:t>
            </a:r>
            <a:endParaRPr lang="en-US" sz="1050" dirty="0"/>
          </a:p>
        </p:txBody>
      </p:sp>
      <p:sp>
        <p:nvSpPr>
          <p:cNvPr id="4" name="Text 2"/>
          <p:cNvSpPr/>
          <p:nvPr/>
        </p:nvSpPr>
        <p:spPr>
          <a:xfrm>
            <a:off x="566928" y="1188720"/>
            <a:ext cx="11057839" cy="329184"/>
          </a:xfrm>
          <a:prstGeom prst="rect">
            <a:avLst/>
          </a:prstGeom>
          <a:noFill/>
          <a:ln/>
        </p:spPr>
        <p:txBody>
          <a:bodyPr wrap="square" lIns="0" tIns="0" rIns="0" bIns="0" rtlCol="0" anchor="t"/>
          <a:lstStyle/>
          <a:p>
            <a:pPr algn="l" indent="0" marL="0">
              <a:lnSpc>
                <a:spcPct val="114000"/>
              </a:lnSpc>
              <a:buNone/>
            </a:pPr>
            <a:r>
              <a:rPr lang="en-US" sz="1400" i="1" dirty="0">
                <a:solidFill>
                  <a:srgbClr val="53565A"/>
                </a:solidFill>
                <a:latin typeface="Calibri" pitchFamily="34" charset="0"/>
                <a:ea typeface="Calibri" pitchFamily="34" charset="-122"/>
                <a:cs typeface="Calibri" pitchFamily="34" charset="-120"/>
              </a:rPr>
              <a:t>Take two minutes with the person next to you. Be ready to defend an answer.</a:t>
            </a:r>
            <a:endParaRPr lang="en-US" sz="1400" dirty="0"/>
          </a:p>
        </p:txBody>
      </p:sp>
      <p:sp>
        <p:nvSpPr>
          <p:cNvPr id="5" name="Shape 3"/>
          <p:cNvSpPr/>
          <p:nvPr/>
        </p:nvSpPr>
        <p:spPr>
          <a:xfrm>
            <a:off x="566928" y="1664208"/>
            <a:ext cx="11057839" cy="1133856"/>
          </a:xfrm>
          <a:prstGeom prst="roundRect">
            <a:avLst>
              <a:gd name="adj" fmla="val 7258"/>
            </a:avLst>
          </a:prstGeom>
          <a:solidFill>
            <a:srgbClr val="F4F5F6"/>
          </a:solidFill>
          <a:ln/>
        </p:spPr>
      </p:sp>
      <p:sp>
        <p:nvSpPr>
          <p:cNvPr id="6" name="Shape 4"/>
          <p:cNvSpPr/>
          <p:nvPr/>
        </p:nvSpPr>
        <p:spPr>
          <a:xfrm>
            <a:off x="841248" y="2029968"/>
            <a:ext cx="402336" cy="402336"/>
          </a:xfrm>
          <a:prstGeom prst="ellipse">
            <a:avLst/>
          </a:prstGeom>
          <a:solidFill>
            <a:srgbClr val="C8102E"/>
          </a:solidFill>
          <a:ln/>
        </p:spPr>
      </p:sp>
      <p:sp>
        <p:nvSpPr>
          <p:cNvPr id="7" name="Text 5"/>
          <p:cNvSpPr/>
          <p:nvPr/>
        </p:nvSpPr>
        <p:spPr>
          <a:xfrm>
            <a:off x="841248"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8" name="Text 6"/>
          <p:cNvSpPr/>
          <p:nvPr/>
        </p:nvSpPr>
        <p:spPr>
          <a:xfrm>
            <a:off x="1481328" y="1664208"/>
            <a:ext cx="9869119" cy="1133856"/>
          </a:xfrm>
          <a:prstGeom prst="rect">
            <a:avLst/>
          </a:prstGeom>
          <a:noFill/>
          <a:ln/>
        </p:spPr>
        <p:txBody>
          <a:bodyPr wrap="square" lIns="0" tIns="0" rIns="0" bIns="0" rtlCol="0" anchor="ctr"/>
          <a:lstStyle/>
          <a:p>
            <a:pPr indent="0" marL="0">
              <a:buNone/>
            </a:pPr>
            <a:r>
              <a:rPr lang="en-US" sz="1500" dirty="0">
                <a:solidFill>
                  <a:srgbClr val="3C4047"/>
                </a:solidFill>
                <a:latin typeface="Calibri" pitchFamily="34" charset="0"/>
                <a:ea typeface="Calibri" pitchFamily="34" charset="-122"/>
                <a:cs typeface="Calibri" pitchFamily="34" charset="-120"/>
              </a:rPr>
              <a:t>A friend says: 'RL is just value iteration where you estimate T first.' What does that description leave out?</a:t>
            </a:r>
            <a:endParaRPr lang="en-US" sz="1500" dirty="0"/>
          </a:p>
        </p:txBody>
      </p:sp>
      <p:sp>
        <p:nvSpPr>
          <p:cNvPr id="9" name="Shape 7"/>
          <p:cNvSpPr/>
          <p:nvPr/>
        </p:nvSpPr>
        <p:spPr>
          <a:xfrm>
            <a:off x="566928" y="2944368"/>
            <a:ext cx="11057839" cy="1133856"/>
          </a:xfrm>
          <a:prstGeom prst="roundRect">
            <a:avLst>
              <a:gd name="adj" fmla="val 7258"/>
            </a:avLst>
          </a:prstGeom>
          <a:solidFill>
            <a:srgbClr val="F4F5F6"/>
          </a:solidFill>
          <a:ln/>
        </p:spPr>
      </p:sp>
      <p:sp>
        <p:nvSpPr>
          <p:cNvPr id="10" name="Shape 8"/>
          <p:cNvSpPr/>
          <p:nvPr/>
        </p:nvSpPr>
        <p:spPr>
          <a:xfrm>
            <a:off x="841248" y="3310128"/>
            <a:ext cx="402336" cy="402336"/>
          </a:xfrm>
          <a:prstGeom prst="ellipse">
            <a:avLst/>
          </a:prstGeom>
          <a:solidFill>
            <a:srgbClr val="C8102E"/>
          </a:solidFill>
          <a:ln/>
        </p:spPr>
      </p:sp>
      <p:sp>
        <p:nvSpPr>
          <p:cNvPr id="11" name="Text 9"/>
          <p:cNvSpPr/>
          <p:nvPr/>
        </p:nvSpPr>
        <p:spPr>
          <a:xfrm>
            <a:off x="841248" y="33101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1481328" y="2944368"/>
            <a:ext cx="9869119" cy="1133856"/>
          </a:xfrm>
          <a:prstGeom prst="rect">
            <a:avLst/>
          </a:prstGeom>
          <a:noFill/>
          <a:ln/>
        </p:spPr>
        <p:txBody>
          <a:bodyPr wrap="square" lIns="0" tIns="0" rIns="0" bIns="0" rtlCol="0" anchor="ctr"/>
          <a:lstStyle/>
          <a:p>
            <a:pPr indent="0" marL="0">
              <a:buNone/>
            </a:pPr>
            <a:r>
              <a:rPr lang="en-US" sz="1500" dirty="0">
                <a:solidFill>
                  <a:srgbClr val="3C4047"/>
                </a:solidFill>
                <a:latin typeface="Calibri" pitchFamily="34" charset="0"/>
                <a:ea typeface="Calibri" pitchFamily="34" charset="-122"/>
                <a:cs typeface="Calibri" pitchFamily="34" charset="-120"/>
              </a:rPr>
              <a:t>Your agent has visited state s exactly once, took action a, and landed in s'. What can you legitimately conclude about T(s, a, s')?</a:t>
            </a:r>
            <a:endParaRPr lang="en-US" sz="1500" dirty="0"/>
          </a:p>
        </p:txBody>
      </p:sp>
      <p:sp>
        <p:nvSpPr>
          <p:cNvPr id="13" name="Shape 11"/>
          <p:cNvSpPr/>
          <p:nvPr/>
        </p:nvSpPr>
        <p:spPr>
          <a:xfrm>
            <a:off x="566928" y="4224528"/>
            <a:ext cx="11057839" cy="1133856"/>
          </a:xfrm>
          <a:prstGeom prst="roundRect">
            <a:avLst>
              <a:gd name="adj" fmla="val 7258"/>
            </a:avLst>
          </a:prstGeom>
          <a:solidFill>
            <a:srgbClr val="F4F5F6"/>
          </a:solidFill>
          <a:ln/>
        </p:spPr>
      </p:sp>
      <p:sp>
        <p:nvSpPr>
          <p:cNvPr id="14" name="Shape 12"/>
          <p:cNvSpPr/>
          <p:nvPr/>
        </p:nvSpPr>
        <p:spPr>
          <a:xfrm>
            <a:off x="841248" y="4590288"/>
            <a:ext cx="402336" cy="402336"/>
          </a:xfrm>
          <a:prstGeom prst="ellipse">
            <a:avLst/>
          </a:prstGeom>
          <a:solidFill>
            <a:srgbClr val="C8102E"/>
          </a:solidFill>
          <a:ln/>
        </p:spPr>
      </p:sp>
      <p:sp>
        <p:nvSpPr>
          <p:cNvPr id="15" name="Text 13"/>
          <p:cNvSpPr/>
          <p:nvPr/>
        </p:nvSpPr>
        <p:spPr>
          <a:xfrm>
            <a:off x="841248" y="45902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6" name="Text 14"/>
          <p:cNvSpPr/>
          <p:nvPr/>
        </p:nvSpPr>
        <p:spPr>
          <a:xfrm>
            <a:off x="1481328" y="4224528"/>
            <a:ext cx="9869119" cy="1133856"/>
          </a:xfrm>
          <a:prstGeom prst="rect">
            <a:avLst/>
          </a:prstGeom>
          <a:noFill/>
          <a:ln/>
        </p:spPr>
        <p:txBody>
          <a:bodyPr wrap="square" lIns="0" tIns="0" rIns="0" bIns="0" rtlCol="0" anchor="ctr"/>
          <a:lstStyle/>
          <a:p>
            <a:pPr indent="0" marL="0">
              <a:buNone/>
            </a:pPr>
            <a:r>
              <a:rPr lang="en-US" sz="1500" dirty="0">
                <a:solidFill>
                  <a:srgbClr val="3C4047"/>
                </a:solidFill>
                <a:latin typeface="Calibri" pitchFamily="34" charset="0"/>
                <a:ea typeface="Calibri" pitchFamily="34" charset="-122"/>
                <a:cs typeface="Calibri" pitchFamily="34" charset="-120"/>
              </a:rPr>
              <a:t>Give an example from your own field where the reward you can measure is not the behaviour you actually want.</a:t>
            </a:r>
            <a:endParaRPr lang="en-US" sz="1500" dirty="0"/>
          </a:p>
        </p:txBody>
      </p:sp>
      <p:sp>
        <p:nvSpPr>
          <p:cNvPr id="17" name="Shape 15"/>
          <p:cNvSpPr/>
          <p:nvPr/>
        </p:nvSpPr>
        <p:spPr>
          <a:xfrm>
            <a:off x="566928" y="5614416"/>
            <a:ext cx="11057839" cy="603504"/>
          </a:xfrm>
          <a:prstGeom prst="roundRect">
            <a:avLst>
              <a:gd name="adj" fmla="val 13636"/>
            </a:avLst>
          </a:prstGeom>
          <a:solidFill>
            <a:srgbClr val="FBEAED"/>
          </a:solidFill>
          <a:ln/>
        </p:spPr>
      </p:sp>
      <p:sp>
        <p:nvSpPr>
          <p:cNvPr id="18" name="Shape 16"/>
          <p:cNvSpPr/>
          <p:nvPr/>
        </p:nvSpPr>
        <p:spPr>
          <a:xfrm>
            <a:off x="786384" y="5824728"/>
            <a:ext cx="182880" cy="182880"/>
          </a:xfrm>
          <a:prstGeom prst="ellipse">
            <a:avLst/>
          </a:prstGeom>
          <a:solidFill>
            <a:srgbClr val="C8102E"/>
          </a:solidFill>
          <a:ln/>
        </p:spPr>
      </p:sp>
      <p:sp>
        <p:nvSpPr>
          <p:cNvPr id="19" name="Text 17"/>
          <p:cNvSpPr/>
          <p:nvPr/>
        </p:nvSpPr>
        <p:spPr>
          <a:xfrm>
            <a:off x="1115568" y="5614416"/>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Answers on the next slide. Question B is the one people get wrong.</a:t>
            </a:r>
            <a:endParaRPr lang="en-US" sz="1450" dirty="0"/>
          </a:p>
        </p:txBody>
      </p:sp>
      <p:sp>
        <p:nvSpPr>
          <p:cNvPr id="20" name="Text 18"/>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1" name="Text 19"/>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Answers</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CHECKPOINT 1</a:t>
            </a:r>
            <a:endParaRPr lang="en-US" sz="1050" dirty="0"/>
          </a:p>
        </p:txBody>
      </p:sp>
      <p:sp>
        <p:nvSpPr>
          <p:cNvPr id="4" name="Shape 2"/>
          <p:cNvSpPr/>
          <p:nvPr/>
        </p:nvSpPr>
        <p:spPr>
          <a:xfrm>
            <a:off x="566928" y="1408176"/>
            <a:ext cx="11057839" cy="1463040"/>
          </a:xfrm>
          <a:prstGeom prst="roundRect">
            <a:avLst>
              <a:gd name="adj" fmla="val 5625"/>
            </a:avLst>
          </a:prstGeom>
          <a:solidFill>
            <a:srgbClr val="F4F5F6"/>
          </a:solidFill>
          <a:ln/>
        </p:spPr>
      </p:sp>
      <p:sp>
        <p:nvSpPr>
          <p:cNvPr id="5" name="Shape 3"/>
          <p:cNvSpPr/>
          <p:nvPr/>
        </p:nvSpPr>
        <p:spPr>
          <a:xfrm>
            <a:off x="841248" y="1664208"/>
            <a:ext cx="402336" cy="402336"/>
          </a:xfrm>
          <a:prstGeom prst="ellipse">
            <a:avLst/>
          </a:prstGeom>
          <a:solidFill>
            <a:srgbClr val="C8102E"/>
          </a:solidFill>
          <a:ln/>
        </p:spPr>
      </p:sp>
      <p:sp>
        <p:nvSpPr>
          <p:cNvPr id="6" name="Text 4"/>
          <p:cNvSpPr/>
          <p:nvPr/>
        </p:nvSpPr>
        <p:spPr>
          <a:xfrm>
            <a:off x="841248" y="16642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7" name="Text 5"/>
          <p:cNvSpPr/>
          <p:nvPr/>
        </p:nvSpPr>
        <p:spPr>
          <a:xfrm>
            <a:off x="1481328" y="1554480"/>
            <a:ext cx="9869119" cy="365760"/>
          </a:xfrm>
          <a:prstGeom prst="rect">
            <a:avLst/>
          </a:prstGeom>
          <a:noFill/>
          <a:ln/>
        </p:spPr>
        <p:txBody>
          <a:bodyPr wrap="square" lIns="0" tIns="0" rIns="0" bIns="0" rtlCol="0" anchor="ctr"/>
          <a:lstStyle/>
          <a:p>
            <a:pPr indent="0" marL="0">
              <a:buNone/>
            </a:pPr>
            <a:r>
              <a:rPr lang="en-US" sz="1500" b="1" dirty="0">
                <a:solidFill>
                  <a:srgbClr val="22252A"/>
                </a:solidFill>
                <a:latin typeface="Calibri" pitchFamily="34" charset="0"/>
                <a:ea typeface="Calibri" pitchFamily="34" charset="-122"/>
                <a:cs typeface="Calibri" pitchFamily="34" charset="-120"/>
              </a:rPr>
              <a:t>It leaves out the entire model-free branch.</a:t>
            </a:r>
            <a:endParaRPr lang="en-US" sz="1500" dirty="0"/>
          </a:p>
        </p:txBody>
      </p:sp>
      <p:sp>
        <p:nvSpPr>
          <p:cNvPr id="8" name="Text 6"/>
          <p:cNvSpPr/>
          <p:nvPr/>
        </p:nvSpPr>
        <p:spPr>
          <a:xfrm>
            <a:off x="1481328" y="1938528"/>
            <a:ext cx="9850831" cy="841248"/>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Model-free methods never estimate T at all. They estimate values directly from sampled returns, and those are the methods that scale. The description also hides the harder question of how you get the experience in the first place.</a:t>
            </a:r>
            <a:endParaRPr lang="en-US" sz="1300" dirty="0"/>
          </a:p>
        </p:txBody>
      </p:sp>
      <p:sp>
        <p:nvSpPr>
          <p:cNvPr id="9" name="Shape 7"/>
          <p:cNvSpPr/>
          <p:nvPr/>
        </p:nvSpPr>
        <p:spPr>
          <a:xfrm>
            <a:off x="566928" y="2999232"/>
            <a:ext cx="11057839" cy="1463040"/>
          </a:xfrm>
          <a:prstGeom prst="roundRect">
            <a:avLst>
              <a:gd name="adj" fmla="val 5625"/>
            </a:avLst>
          </a:prstGeom>
          <a:solidFill>
            <a:srgbClr val="F4F5F6"/>
          </a:solidFill>
          <a:ln/>
        </p:spPr>
      </p:sp>
      <p:sp>
        <p:nvSpPr>
          <p:cNvPr id="10" name="Shape 8"/>
          <p:cNvSpPr/>
          <p:nvPr/>
        </p:nvSpPr>
        <p:spPr>
          <a:xfrm>
            <a:off x="841248" y="3255264"/>
            <a:ext cx="402336" cy="402336"/>
          </a:xfrm>
          <a:prstGeom prst="ellipse">
            <a:avLst/>
          </a:prstGeom>
          <a:solidFill>
            <a:srgbClr val="C8102E"/>
          </a:solidFill>
          <a:ln/>
        </p:spPr>
      </p:sp>
      <p:sp>
        <p:nvSpPr>
          <p:cNvPr id="11" name="Text 9"/>
          <p:cNvSpPr/>
          <p:nvPr/>
        </p:nvSpPr>
        <p:spPr>
          <a:xfrm>
            <a:off x="841248" y="32552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1481328" y="3145536"/>
            <a:ext cx="9869119" cy="365760"/>
          </a:xfrm>
          <a:prstGeom prst="rect">
            <a:avLst/>
          </a:prstGeom>
          <a:noFill/>
          <a:ln/>
        </p:spPr>
        <p:txBody>
          <a:bodyPr wrap="square" lIns="0" tIns="0" rIns="0" bIns="0" rtlCol="0" anchor="ctr"/>
          <a:lstStyle/>
          <a:p>
            <a:pPr indent="0" marL="0">
              <a:buNone/>
            </a:pPr>
            <a:r>
              <a:rPr lang="en-US" sz="1500" b="1" dirty="0">
                <a:solidFill>
                  <a:srgbClr val="22252A"/>
                </a:solidFill>
                <a:latin typeface="Calibri" pitchFamily="34" charset="0"/>
                <a:ea typeface="Calibri" pitchFamily="34" charset="-122"/>
                <a:cs typeface="Calibri" pitchFamily="34" charset="-120"/>
              </a:rPr>
              <a:t>Almost nothing, and the maximum-likelihood estimate is misleading.</a:t>
            </a:r>
            <a:endParaRPr lang="en-US" sz="1500" dirty="0"/>
          </a:p>
        </p:txBody>
      </p:sp>
      <p:sp>
        <p:nvSpPr>
          <p:cNvPr id="13" name="Text 11"/>
          <p:cNvSpPr/>
          <p:nvPr/>
        </p:nvSpPr>
        <p:spPr>
          <a:xfrm>
            <a:off x="1481328" y="3529584"/>
            <a:ext cx="9850831" cy="841248"/>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Counting gives T(s, a, s') = 1, which asserts the transition is deterministic on the strength of one trial. With a single sample you cannot distinguish a certain outcome from an 80 percent one. This small-sample fragility is the first real problem with model-based learning.</a:t>
            </a:r>
            <a:endParaRPr lang="en-US" sz="1300" dirty="0"/>
          </a:p>
        </p:txBody>
      </p:sp>
      <p:sp>
        <p:nvSpPr>
          <p:cNvPr id="14" name="Shape 12"/>
          <p:cNvSpPr/>
          <p:nvPr/>
        </p:nvSpPr>
        <p:spPr>
          <a:xfrm>
            <a:off x="566928" y="4590288"/>
            <a:ext cx="11057839" cy="1463040"/>
          </a:xfrm>
          <a:prstGeom prst="roundRect">
            <a:avLst>
              <a:gd name="adj" fmla="val 5625"/>
            </a:avLst>
          </a:prstGeom>
          <a:solidFill>
            <a:srgbClr val="F4F5F6"/>
          </a:solidFill>
          <a:ln/>
        </p:spPr>
      </p:sp>
      <p:sp>
        <p:nvSpPr>
          <p:cNvPr id="15" name="Shape 13"/>
          <p:cNvSpPr/>
          <p:nvPr/>
        </p:nvSpPr>
        <p:spPr>
          <a:xfrm>
            <a:off x="841248" y="4846320"/>
            <a:ext cx="402336" cy="402336"/>
          </a:xfrm>
          <a:prstGeom prst="ellipse">
            <a:avLst/>
          </a:prstGeom>
          <a:solidFill>
            <a:srgbClr val="C8102E"/>
          </a:solidFill>
          <a:ln/>
        </p:spPr>
      </p:sp>
      <p:sp>
        <p:nvSpPr>
          <p:cNvPr id="16" name="Text 14"/>
          <p:cNvSpPr/>
          <p:nvPr/>
        </p:nvSpPr>
        <p:spPr>
          <a:xfrm>
            <a:off x="841248" y="4846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481328" y="4736592"/>
            <a:ext cx="9869119" cy="365760"/>
          </a:xfrm>
          <a:prstGeom prst="rect">
            <a:avLst/>
          </a:prstGeom>
          <a:noFill/>
          <a:ln/>
        </p:spPr>
        <p:txBody>
          <a:bodyPr wrap="square" lIns="0" tIns="0" rIns="0" bIns="0" rtlCol="0" anchor="ctr"/>
          <a:lstStyle/>
          <a:p>
            <a:pPr indent="0" marL="0">
              <a:buNone/>
            </a:pPr>
            <a:r>
              <a:rPr lang="en-US" sz="1500" b="1" dirty="0">
                <a:solidFill>
                  <a:srgbClr val="22252A"/>
                </a:solidFill>
                <a:latin typeface="Calibri" pitchFamily="34" charset="0"/>
                <a:ea typeface="Calibri" pitchFamily="34" charset="-122"/>
                <a:cs typeface="Calibri" pitchFamily="34" charset="-120"/>
              </a:rPr>
              <a:t>Every measurable proxy eventually gets optimised instead of the goal.</a:t>
            </a:r>
            <a:endParaRPr lang="en-US" sz="1500" dirty="0"/>
          </a:p>
        </p:txBody>
      </p:sp>
      <p:sp>
        <p:nvSpPr>
          <p:cNvPr id="18" name="Text 16"/>
          <p:cNvSpPr/>
          <p:nvPr/>
        </p:nvSpPr>
        <p:spPr>
          <a:xfrm>
            <a:off x="1481328" y="5120640"/>
            <a:ext cx="9850831" cy="841248"/>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Tickets closed rather than problems solved, patches applied rather than risk reduced, alerts triaged rather than intrusions found. The agent is not cheating; it is doing exactly what was written down.</a:t>
            </a:r>
            <a:endParaRPr lang="en-US" sz="1300" dirty="0"/>
          </a:p>
        </p:txBody>
      </p:sp>
      <p:sp>
        <p:nvSpPr>
          <p:cNvPr id="19" name="Text 17"/>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0" name="Text 18"/>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566928" y="2212848"/>
            <a:ext cx="960120" cy="960120"/>
          </a:xfrm>
          <a:prstGeom prst="ellipse">
            <a:avLst/>
          </a:prstGeom>
          <a:solidFill>
            <a:srgbClr val="C8102E"/>
          </a:solidFill>
          <a:ln/>
        </p:spPr>
      </p:sp>
      <p:sp>
        <p:nvSpPr>
          <p:cNvPr id="3" name="Text 1"/>
          <p:cNvSpPr/>
          <p:nvPr/>
        </p:nvSpPr>
        <p:spPr>
          <a:xfrm>
            <a:off x="566928" y="2212848"/>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4" name="Text 2"/>
          <p:cNvSpPr/>
          <p:nvPr/>
        </p:nvSpPr>
        <p:spPr>
          <a:xfrm>
            <a:off x="566928" y="3401568"/>
            <a:ext cx="9509760" cy="84124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Model-based learning</a:t>
            </a:r>
            <a:endParaRPr lang="en-US" sz="3800" dirty="0"/>
          </a:p>
        </p:txBody>
      </p:sp>
      <p:sp>
        <p:nvSpPr>
          <p:cNvPr id="5" name="Text 3"/>
          <p:cNvSpPr/>
          <p:nvPr/>
        </p:nvSpPr>
        <p:spPr>
          <a:xfrm>
            <a:off x="566928" y="4315968"/>
            <a:ext cx="8778240" cy="731520"/>
          </a:xfrm>
          <a:prstGeom prst="rect">
            <a:avLst/>
          </a:prstGeom>
          <a:noFill/>
          <a:ln/>
        </p:spPr>
        <p:txBody>
          <a:bodyPr wrap="square" lIns="0" tIns="0" rIns="0" bIns="0" rtlCol="0" anchor="t"/>
          <a:lstStyle/>
          <a:p>
            <a:pPr indent="0" marL="0">
              <a:lnSpc>
                <a:spcPct val="115000"/>
              </a:lnSpc>
              <a:buNone/>
            </a:pPr>
            <a:r>
              <a:rPr lang="en-US" sz="1550" dirty="0">
                <a:solidFill>
                  <a:srgbClr val="C3C7CB"/>
                </a:solidFill>
                <a:latin typeface="Calibri" pitchFamily="34" charset="0"/>
                <a:ea typeface="Calibri" pitchFamily="34" charset="-122"/>
                <a:cs typeface="Calibri" pitchFamily="34" charset="-120"/>
              </a:rPr>
              <a:t>If you knew the MDP you could already solve it. So go and find out which MDP you are in.</a:t>
            </a:r>
            <a:endParaRPr lang="en-US" sz="1550" dirty="0"/>
          </a:p>
        </p:txBody>
      </p:sp>
      <p:sp>
        <p:nvSpPr>
          <p:cNvPr id="6" name="Text 4"/>
          <p:cNvSpPr/>
          <p:nvPr/>
        </p:nvSpPr>
        <p:spPr>
          <a:xfrm>
            <a:off x="7418527" y="2304288"/>
            <a:ext cx="4206240" cy="365760"/>
          </a:xfrm>
          <a:prstGeom prst="rect">
            <a:avLst/>
          </a:prstGeom>
          <a:noFill/>
          <a:ln/>
        </p:spPr>
        <p:txBody>
          <a:bodyPr wrap="square" lIns="0" tIns="0" rIns="0" bIns="0" rtlCol="0" anchor="ctr"/>
          <a:lstStyle/>
          <a:p>
            <a:pPr algn="r" indent="0" marL="0">
              <a:buNone/>
            </a:pPr>
            <a:r>
              <a:rPr lang="en-US" sz="1200" dirty="0">
                <a:solidFill>
                  <a:srgbClr val="A7A8AA"/>
                </a:solidFill>
                <a:latin typeface="Calibri" pitchFamily="34" charset="0"/>
                <a:ea typeface="Calibri" pitchFamily="34" charset="-122"/>
                <a:cs typeface="Calibri" pitchFamily="34" charset="-120"/>
              </a:rPr>
              <a:t>AIMA 22.2.2</a:t>
            </a:r>
            <a:endParaRPr lang="en-US" sz="1200" dirty="0"/>
          </a:p>
        </p:txBody>
      </p:sp>
      <p:sp>
        <p:nvSpPr>
          <p:cNvPr id="7"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8"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The idea in two steps</a:t>
            </a:r>
            <a:endParaRPr lang="en-US" sz="3000" dirty="0"/>
          </a:p>
        </p:txBody>
      </p:sp>
      <p:sp>
        <p:nvSpPr>
          <p:cNvPr id="3" name="Shape 1"/>
          <p:cNvSpPr/>
          <p:nvPr/>
        </p:nvSpPr>
        <p:spPr>
          <a:xfrm>
            <a:off x="566928" y="1517904"/>
            <a:ext cx="5358384" cy="2688336"/>
          </a:xfrm>
          <a:prstGeom prst="roundRect">
            <a:avLst>
              <a:gd name="adj" fmla="val 3061"/>
            </a:avLst>
          </a:prstGeom>
          <a:solidFill>
            <a:srgbClr val="F4F5F6"/>
          </a:solidFill>
          <a:ln/>
        </p:spPr>
      </p:sp>
      <p:sp>
        <p:nvSpPr>
          <p:cNvPr id="4" name="Shape 2"/>
          <p:cNvSpPr/>
          <p:nvPr/>
        </p:nvSpPr>
        <p:spPr>
          <a:xfrm>
            <a:off x="841248" y="1755648"/>
            <a:ext cx="457200" cy="457200"/>
          </a:xfrm>
          <a:prstGeom prst="ellipse">
            <a:avLst/>
          </a:prstGeom>
          <a:solidFill>
            <a:srgbClr val="1C5D99"/>
          </a:solidFill>
          <a:ln/>
        </p:spPr>
      </p:sp>
      <p:sp>
        <p:nvSpPr>
          <p:cNvPr id="5" name="Text 3"/>
          <p:cNvSpPr/>
          <p:nvPr/>
        </p:nvSpPr>
        <p:spPr>
          <a:xfrm>
            <a:off x="841248" y="17556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44752" y="1737360"/>
            <a:ext cx="4261104" cy="457200"/>
          </a:xfrm>
          <a:prstGeom prst="rect">
            <a:avLst/>
          </a:prstGeom>
          <a:noFill/>
          <a:ln/>
        </p:spPr>
        <p:txBody>
          <a:bodyPr wrap="square" lIns="0" tIns="0" rIns="0" bIns="0" rtlCol="0" anchor="ctr"/>
          <a:lstStyle/>
          <a:p>
            <a:pPr indent="0" marL="0">
              <a:buNone/>
            </a:pPr>
            <a:r>
              <a:rPr lang="en-US" sz="1800" b="1" dirty="0">
                <a:solidFill>
                  <a:srgbClr val="1C5D99"/>
                </a:solidFill>
                <a:latin typeface="Cambria" pitchFamily="34" charset="0"/>
                <a:ea typeface="Cambria" pitchFamily="34" charset="-122"/>
                <a:cs typeface="Cambria" pitchFamily="34" charset="-120"/>
              </a:rPr>
              <a:t>Learn an empirical MDP</a:t>
            </a:r>
            <a:endParaRPr lang="en-US" sz="1800" dirty="0"/>
          </a:p>
        </p:txBody>
      </p:sp>
      <p:sp>
        <p:nvSpPr>
          <p:cNvPr id="7" name="Text 5"/>
          <p:cNvSpPr/>
          <p:nvPr/>
        </p:nvSpPr>
        <p:spPr>
          <a:xfrm>
            <a:off x="841248" y="2340864"/>
            <a:ext cx="4809744" cy="173736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3C4047"/>
                </a:solidFill>
                <a:latin typeface="Calibri" pitchFamily="34" charset="0"/>
                <a:ea typeface="Calibri" pitchFamily="34" charset="-122"/>
                <a:cs typeface="Calibri" pitchFamily="34" charset="-120"/>
              </a:rPr>
              <a:t>For every (s, a) you have tried, count which s' you landed in.</a:t>
            </a:r>
            <a:endParaRPr lang="en-US" sz="1350" dirty="0"/>
          </a:p>
          <a:p>
            <a:pPr marL="177800" indent="-177800">
              <a:spcAft>
                <a:spcPts val="900"/>
              </a:spcAft>
              <a:buSzPct val="100000"/>
              <a:buChar char="•"/>
            </a:pPr>
            <a:r>
              <a:rPr lang="en-US" sz="1350" dirty="0">
                <a:solidFill>
                  <a:srgbClr val="3C4047"/>
                </a:solidFill>
                <a:latin typeface="Calibri" pitchFamily="34" charset="0"/>
                <a:ea typeface="Calibri" pitchFamily="34" charset="-122"/>
                <a:cs typeface="Calibri" pitchFamily="34" charset="-120"/>
              </a:rPr>
              <a:t>Normalise those counts into an estimated transition model T̂(s, a, s').</a:t>
            </a:r>
            <a:endParaRPr lang="en-US" sz="1350" dirty="0"/>
          </a:p>
          <a:p>
            <a:pPr marL="177800" indent="-177800">
              <a:spcAft>
                <a:spcPts val="900"/>
              </a:spcAft>
              <a:buSzPct val="100000"/>
              <a:buChar char="•"/>
            </a:pPr>
            <a:r>
              <a:rPr lang="en-US" sz="1350" dirty="0">
                <a:solidFill>
                  <a:srgbClr val="3C4047"/>
                </a:solidFill>
                <a:latin typeface="Calibri" pitchFamily="34" charset="0"/>
                <a:ea typeface="Calibri" pitchFamily="34" charset="-122"/>
                <a:cs typeface="Calibri" pitchFamily="34" charset="-120"/>
              </a:rPr>
              <a:t>Record each reward R̂(s, a, s') the first time you are paid it.</a:t>
            </a:r>
            <a:endParaRPr lang="en-US" sz="1350" dirty="0"/>
          </a:p>
        </p:txBody>
      </p:sp>
      <p:sp>
        <p:nvSpPr>
          <p:cNvPr id="8" name="Shape 6"/>
          <p:cNvSpPr/>
          <p:nvPr/>
        </p:nvSpPr>
        <p:spPr>
          <a:xfrm>
            <a:off x="6309360" y="1517904"/>
            <a:ext cx="5358384" cy="2688336"/>
          </a:xfrm>
          <a:prstGeom prst="roundRect">
            <a:avLst>
              <a:gd name="adj" fmla="val 3061"/>
            </a:avLst>
          </a:prstGeom>
          <a:solidFill>
            <a:srgbClr val="F4F5F6"/>
          </a:solidFill>
          <a:ln/>
        </p:spPr>
      </p:sp>
      <p:sp>
        <p:nvSpPr>
          <p:cNvPr id="9" name="Shape 7"/>
          <p:cNvSpPr/>
          <p:nvPr/>
        </p:nvSpPr>
        <p:spPr>
          <a:xfrm>
            <a:off x="6583680" y="1755648"/>
            <a:ext cx="457200" cy="457200"/>
          </a:xfrm>
          <a:prstGeom prst="ellipse">
            <a:avLst/>
          </a:prstGeom>
          <a:solidFill>
            <a:srgbClr val="1B7F5A"/>
          </a:solidFill>
          <a:ln/>
        </p:spPr>
      </p:sp>
      <p:sp>
        <p:nvSpPr>
          <p:cNvPr id="10" name="Text 8"/>
          <p:cNvSpPr/>
          <p:nvPr/>
        </p:nvSpPr>
        <p:spPr>
          <a:xfrm>
            <a:off x="6583680" y="17556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7187184" y="1737360"/>
            <a:ext cx="4261104" cy="457200"/>
          </a:xfrm>
          <a:prstGeom prst="rect">
            <a:avLst/>
          </a:prstGeom>
          <a:noFill/>
          <a:ln/>
        </p:spPr>
        <p:txBody>
          <a:bodyPr wrap="square" lIns="0" tIns="0" rIns="0" bIns="0" rtlCol="0" anchor="ctr"/>
          <a:lstStyle/>
          <a:p>
            <a:pPr indent="0" marL="0">
              <a:buNone/>
            </a:pPr>
            <a:r>
              <a:rPr lang="en-US" sz="1800" b="1" dirty="0">
                <a:solidFill>
                  <a:srgbClr val="1B7F5A"/>
                </a:solidFill>
                <a:latin typeface="Cambria" pitchFamily="34" charset="0"/>
                <a:ea typeface="Cambria" pitchFamily="34" charset="-122"/>
                <a:cs typeface="Cambria" pitchFamily="34" charset="-120"/>
              </a:rPr>
              <a:t>Solve it as if it were correct</a:t>
            </a:r>
            <a:endParaRPr lang="en-US" sz="1800" dirty="0"/>
          </a:p>
        </p:txBody>
      </p:sp>
      <p:sp>
        <p:nvSpPr>
          <p:cNvPr id="12" name="Text 10"/>
          <p:cNvSpPr/>
          <p:nvPr/>
        </p:nvSpPr>
        <p:spPr>
          <a:xfrm>
            <a:off x="6583680" y="2340864"/>
            <a:ext cx="4809744" cy="173736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3C4047"/>
                </a:solidFill>
                <a:latin typeface="Calibri" pitchFamily="34" charset="0"/>
                <a:ea typeface="Calibri" pitchFamily="34" charset="-122"/>
                <a:cs typeface="Calibri" pitchFamily="34" charset="-120"/>
              </a:rPr>
              <a:t>Hand T̂ and R̂ to value iteration, exactly as in the last lecture.</a:t>
            </a:r>
            <a:endParaRPr lang="en-US" sz="1350" dirty="0"/>
          </a:p>
          <a:p>
            <a:pPr marL="177800" indent="-177800">
              <a:spcAft>
                <a:spcPts val="900"/>
              </a:spcAft>
              <a:buSzPct val="100000"/>
              <a:buChar char="•"/>
            </a:pPr>
            <a:r>
              <a:rPr lang="en-US" sz="1350" dirty="0">
                <a:solidFill>
                  <a:srgbClr val="3C4047"/>
                </a:solidFill>
                <a:latin typeface="Calibri" pitchFamily="34" charset="0"/>
                <a:ea typeface="Calibri" pitchFamily="34" charset="-122"/>
                <a:cs typeface="Calibri" pitchFamily="34" charset="-120"/>
              </a:rPr>
              <a:t>Nothing about the solver changes. It cannot tell the difference.</a:t>
            </a:r>
            <a:endParaRPr lang="en-US" sz="1350" dirty="0"/>
          </a:p>
          <a:p>
            <a:pPr marL="177800" indent="-177800">
              <a:spcAft>
                <a:spcPts val="900"/>
              </a:spcAft>
              <a:buSzPct val="100000"/>
              <a:buChar char="•"/>
            </a:pPr>
            <a:r>
              <a:rPr lang="en-US" sz="1350" dirty="0">
                <a:solidFill>
                  <a:srgbClr val="3C4047"/>
                </a:solidFill>
                <a:latin typeface="Calibri" pitchFamily="34" charset="0"/>
                <a:ea typeface="Calibri" pitchFamily="34" charset="-122"/>
                <a:cs typeface="Calibri" pitchFamily="34" charset="-120"/>
              </a:rPr>
              <a:t>Re-solve periodically as more experience refines the estimates.</a:t>
            </a:r>
            <a:endParaRPr lang="en-US" sz="1350" dirty="0"/>
          </a:p>
        </p:txBody>
      </p:sp>
      <p:sp>
        <p:nvSpPr>
          <p:cNvPr id="13" name="Shape 11"/>
          <p:cNvSpPr/>
          <p:nvPr/>
        </p:nvSpPr>
        <p:spPr>
          <a:xfrm>
            <a:off x="566928" y="4443984"/>
            <a:ext cx="11057839" cy="731520"/>
          </a:xfrm>
          <a:prstGeom prst="roundRect">
            <a:avLst>
              <a:gd name="adj" fmla="val 11250"/>
            </a:avLst>
          </a:prstGeom>
          <a:solidFill>
            <a:srgbClr val="F4F5F6"/>
          </a:solidFill>
          <a:ln/>
        </p:spPr>
      </p:sp>
      <p:sp>
        <p:nvSpPr>
          <p:cNvPr id="14" name="Text 12"/>
          <p:cNvSpPr/>
          <p:nvPr/>
        </p:nvSpPr>
        <p:spPr>
          <a:xfrm>
            <a:off x="731520" y="4443984"/>
            <a:ext cx="10728655" cy="731520"/>
          </a:xfrm>
          <a:prstGeom prst="rect">
            <a:avLst/>
          </a:prstGeom>
          <a:noFill/>
          <a:ln/>
        </p:spPr>
        <p:txBody>
          <a:bodyPr wrap="square" lIns="0" tIns="0" rIns="0" bIns="0" rtlCol="0" anchor="ctr"/>
          <a:lstStyle/>
          <a:p>
            <a:pPr algn="ctr" indent="0" marL="0">
              <a:buNone/>
            </a:pPr>
            <a:r>
              <a:rPr lang="en-US" sz="1900" b="1" dirty="0">
                <a:solidFill>
                  <a:srgbClr val="22252A"/>
                </a:solidFill>
                <a:latin typeface="Cambria" pitchFamily="34" charset="0"/>
                <a:ea typeface="Cambria" pitchFamily="34" charset="-122"/>
                <a:cs typeface="Cambria" pitchFamily="34" charset="-120"/>
              </a:rPr>
              <a:t>T̂(s, a, s')  =  count(s, a, s')  /  count(s, a)</a:t>
            </a:r>
            <a:endParaRPr lang="en-US" sz="1900" dirty="0"/>
          </a:p>
        </p:txBody>
      </p:sp>
      <p:sp>
        <p:nvSpPr>
          <p:cNvPr id="15" name="Shape 13"/>
          <p:cNvSpPr/>
          <p:nvPr/>
        </p:nvSpPr>
        <p:spPr>
          <a:xfrm>
            <a:off x="566928" y="5413248"/>
            <a:ext cx="11057839" cy="603504"/>
          </a:xfrm>
          <a:prstGeom prst="roundRect">
            <a:avLst>
              <a:gd name="adj" fmla="val 13636"/>
            </a:avLst>
          </a:prstGeom>
          <a:solidFill>
            <a:srgbClr val="F4F5F6"/>
          </a:solidFill>
          <a:ln/>
        </p:spPr>
      </p:sp>
      <p:sp>
        <p:nvSpPr>
          <p:cNvPr id="16" name="Shape 14"/>
          <p:cNvSpPr/>
          <p:nvPr/>
        </p:nvSpPr>
        <p:spPr>
          <a:xfrm>
            <a:off x="786384" y="5623560"/>
            <a:ext cx="182880" cy="182880"/>
          </a:xfrm>
          <a:prstGeom prst="ellipse">
            <a:avLst/>
          </a:prstGeom>
          <a:solidFill>
            <a:srgbClr val="53565A"/>
          </a:solidFill>
          <a:ln/>
        </p:spPr>
      </p:sp>
      <p:sp>
        <p:nvSpPr>
          <p:cNvPr id="17" name="Text 15"/>
          <p:cNvSpPr/>
          <p:nvPr/>
        </p:nvSpPr>
        <p:spPr>
          <a:xfrm>
            <a:off x="1115568" y="5413248"/>
            <a:ext cx="10289743" cy="603504"/>
          </a:xfrm>
          <a:prstGeom prst="rect">
            <a:avLst/>
          </a:prstGeom>
          <a:noFill/>
          <a:ln/>
        </p:spPr>
        <p:txBody>
          <a:bodyPr wrap="square" lIns="0" tIns="0" rIns="0" bIns="0" rtlCol="0" anchor="ctr"/>
          <a:lstStyle/>
          <a:p>
            <a:pPr indent="0" marL="0">
              <a:buNone/>
            </a:pPr>
            <a:r>
              <a:rPr lang="en-US" sz="1450" b="1" dirty="0">
                <a:solidFill>
                  <a:srgbClr val="3C4047"/>
                </a:solidFill>
                <a:latin typeface="Calibri" pitchFamily="34" charset="0"/>
                <a:ea typeface="Calibri" pitchFamily="34" charset="-122"/>
                <a:cs typeface="Calibri" pitchFamily="34" charset="-120"/>
              </a:rPr>
              <a:t>This is maximum likelihood estimation followed by planning. AIMA calls it adaptive dynamic programming.</a:t>
            </a:r>
            <a:endParaRPr lang="en-US" sz="1450" dirty="0"/>
          </a:p>
        </p:txBody>
      </p:sp>
      <p:sp>
        <p:nvSpPr>
          <p:cNvPr id="18" name="Text 16"/>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9" name="Text 17"/>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The running example</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We will use this five-state grid for model-based learning, direct evaluation, and TD learning.</a:t>
            </a:r>
            <a:endParaRPr lang="en-US" sz="1400" dirty="0"/>
          </a:p>
        </p:txBody>
      </p:sp>
      <p:pic>
        <p:nvPicPr>
          <p:cNvPr id="4" name="Image 0" descr="/home/claude/comp469_rl/figures/fig04_abcde_grid.png">    </p:cNvPr>
          <p:cNvPicPr>
            <a:picLocks noChangeAspect="1"/>
          </p:cNvPicPr>
          <p:nvPr/>
        </p:nvPicPr>
        <p:blipFill>
          <a:blip r:embed="rId1"/>
          <a:srcRect l="0" r="0" t="0" b="0"/>
          <a:stretch/>
        </p:blipFill>
        <p:spPr>
          <a:xfrm>
            <a:off x="822960" y="1572768"/>
            <a:ext cx="4114800" cy="3840480"/>
          </a:xfrm>
          <a:prstGeom prst="rect">
            <a:avLst/>
          </a:prstGeom>
        </p:spPr>
      </p:pic>
      <p:sp>
        <p:nvSpPr>
          <p:cNvPr id="5" name="Shape 2"/>
          <p:cNvSpPr/>
          <p:nvPr/>
        </p:nvSpPr>
        <p:spPr>
          <a:xfrm>
            <a:off x="5358384" y="1645920"/>
            <a:ext cx="6263640" cy="566928"/>
          </a:xfrm>
          <a:prstGeom prst="roundRect">
            <a:avLst>
              <a:gd name="adj" fmla="val 14516"/>
            </a:avLst>
          </a:prstGeom>
          <a:solidFill>
            <a:srgbClr val="F4F5F6"/>
          </a:solidFill>
          <a:ln/>
        </p:spPr>
      </p:sp>
      <p:sp>
        <p:nvSpPr>
          <p:cNvPr id="6" name="Text 3"/>
          <p:cNvSpPr/>
          <p:nvPr/>
        </p:nvSpPr>
        <p:spPr>
          <a:xfrm>
            <a:off x="5577840" y="1645920"/>
            <a:ext cx="1828800" cy="566928"/>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States</a:t>
            </a:r>
            <a:endParaRPr lang="en-US" sz="1300" dirty="0"/>
          </a:p>
        </p:txBody>
      </p:sp>
      <p:sp>
        <p:nvSpPr>
          <p:cNvPr id="7" name="Text 4"/>
          <p:cNvSpPr/>
          <p:nvPr/>
        </p:nvSpPr>
        <p:spPr>
          <a:xfrm>
            <a:off x="7461504" y="1645920"/>
            <a:ext cx="4023360" cy="566928"/>
          </a:xfrm>
          <a:prstGeom prst="rect">
            <a:avLst/>
          </a:prstGeom>
          <a:noFill/>
          <a:ln/>
        </p:spPr>
        <p:txBody>
          <a:bodyPr wrap="square" lIns="0" tIns="0" rIns="0" bIns="0" rtlCol="0" anchor="ctr"/>
          <a:lstStyle/>
          <a:p>
            <a:pPr indent="0" marL="0">
              <a:buNone/>
            </a:pPr>
            <a:r>
              <a:rPr lang="en-US" sz="1250" dirty="0">
                <a:solidFill>
                  <a:srgbClr val="3C4047"/>
                </a:solidFill>
                <a:latin typeface="Calibri" pitchFamily="34" charset="0"/>
                <a:ea typeface="Calibri" pitchFamily="34" charset="-122"/>
                <a:cs typeface="Calibri" pitchFamily="34" charset="-120"/>
              </a:rPr>
              <a:t>A, B, C, D, E. The grey squares are walls.</a:t>
            </a:r>
            <a:endParaRPr lang="en-US" sz="1250" dirty="0"/>
          </a:p>
        </p:txBody>
      </p:sp>
      <p:sp>
        <p:nvSpPr>
          <p:cNvPr id="8" name="Shape 5"/>
          <p:cNvSpPr/>
          <p:nvPr/>
        </p:nvSpPr>
        <p:spPr>
          <a:xfrm>
            <a:off x="5358384" y="2286000"/>
            <a:ext cx="6263640" cy="566928"/>
          </a:xfrm>
          <a:prstGeom prst="roundRect">
            <a:avLst>
              <a:gd name="adj" fmla="val 14516"/>
            </a:avLst>
          </a:prstGeom>
          <a:solidFill>
            <a:srgbClr val="F4F5F6"/>
          </a:solidFill>
          <a:ln/>
        </p:spPr>
      </p:sp>
      <p:sp>
        <p:nvSpPr>
          <p:cNvPr id="9" name="Text 6"/>
          <p:cNvSpPr/>
          <p:nvPr/>
        </p:nvSpPr>
        <p:spPr>
          <a:xfrm>
            <a:off x="5577840" y="2286000"/>
            <a:ext cx="1828800" cy="566928"/>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Fixed policy π</a:t>
            </a:r>
            <a:endParaRPr lang="en-US" sz="1300" dirty="0"/>
          </a:p>
        </p:txBody>
      </p:sp>
      <p:sp>
        <p:nvSpPr>
          <p:cNvPr id="10" name="Text 7"/>
          <p:cNvSpPr/>
          <p:nvPr/>
        </p:nvSpPr>
        <p:spPr>
          <a:xfrm>
            <a:off x="7461504" y="2286000"/>
            <a:ext cx="4023360" cy="566928"/>
          </a:xfrm>
          <a:prstGeom prst="rect">
            <a:avLst/>
          </a:prstGeom>
          <a:noFill/>
          <a:ln/>
        </p:spPr>
        <p:txBody>
          <a:bodyPr wrap="square" lIns="0" tIns="0" rIns="0" bIns="0" rtlCol="0" anchor="ctr"/>
          <a:lstStyle/>
          <a:p>
            <a:pPr indent="0" marL="0">
              <a:buNone/>
            </a:pPr>
            <a:r>
              <a:rPr lang="en-US" sz="1250" dirty="0">
                <a:solidFill>
                  <a:srgbClr val="3C4047"/>
                </a:solidFill>
                <a:latin typeface="Calibri" pitchFamily="34" charset="0"/>
                <a:ea typeface="Calibri" pitchFamily="34" charset="-122"/>
                <a:cs typeface="Calibri" pitchFamily="34" charset="-120"/>
              </a:rPr>
              <a:t>B goes east, C goes east, E goes north, A and D exit.</a:t>
            </a:r>
            <a:endParaRPr lang="en-US" sz="1250" dirty="0"/>
          </a:p>
        </p:txBody>
      </p:sp>
      <p:sp>
        <p:nvSpPr>
          <p:cNvPr id="11" name="Shape 8"/>
          <p:cNvSpPr/>
          <p:nvPr/>
        </p:nvSpPr>
        <p:spPr>
          <a:xfrm>
            <a:off x="5358384" y="2926080"/>
            <a:ext cx="6263640" cy="566928"/>
          </a:xfrm>
          <a:prstGeom prst="roundRect">
            <a:avLst>
              <a:gd name="adj" fmla="val 14516"/>
            </a:avLst>
          </a:prstGeom>
          <a:solidFill>
            <a:srgbClr val="F4F5F6"/>
          </a:solidFill>
          <a:ln/>
        </p:spPr>
      </p:sp>
      <p:sp>
        <p:nvSpPr>
          <p:cNvPr id="12" name="Text 9"/>
          <p:cNvSpPr/>
          <p:nvPr/>
        </p:nvSpPr>
        <p:spPr>
          <a:xfrm>
            <a:off x="5577840" y="2926080"/>
            <a:ext cx="1828800" cy="566928"/>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Living reward</a:t>
            </a:r>
            <a:endParaRPr lang="en-US" sz="1300" dirty="0"/>
          </a:p>
        </p:txBody>
      </p:sp>
      <p:sp>
        <p:nvSpPr>
          <p:cNvPr id="13" name="Text 10"/>
          <p:cNvSpPr/>
          <p:nvPr/>
        </p:nvSpPr>
        <p:spPr>
          <a:xfrm>
            <a:off x="7461504" y="2926080"/>
            <a:ext cx="4023360" cy="566928"/>
          </a:xfrm>
          <a:prstGeom prst="rect">
            <a:avLst/>
          </a:prstGeom>
          <a:noFill/>
          <a:ln/>
        </p:spPr>
        <p:txBody>
          <a:bodyPr wrap="square" lIns="0" tIns="0" rIns="0" bIns="0" rtlCol="0" anchor="ctr"/>
          <a:lstStyle/>
          <a:p>
            <a:pPr indent="0" marL="0">
              <a:buNone/>
            </a:pPr>
            <a:r>
              <a:rPr lang="en-US" sz="1250" dirty="0">
                <a:solidFill>
                  <a:srgbClr val="3C4047"/>
                </a:solidFill>
                <a:latin typeface="Calibri" pitchFamily="34" charset="0"/>
                <a:ea typeface="Calibri" pitchFamily="34" charset="-122"/>
                <a:cs typeface="Calibri" pitchFamily="34" charset="-120"/>
              </a:rPr>
              <a:t>−1 for every move you make.</a:t>
            </a:r>
            <a:endParaRPr lang="en-US" sz="1250" dirty="0"/>
          </a:p>
        </p:txBody>
      </p:sp>
      <p:sp>
        <p:nvSpPr>
          <p:cNvPr id="14" name="Shape 11"/>
          <p:cNvSpPr/>
          <p:nvPr/>
        </p:nvSpPr>
        <p:spPr>
          <a:xfrm>
            <a:off x="5358384" y="3566160"/>
            <a:ext cx="6263640" cy="566928"/>
          </a:xfrm>
          <a:prstGeom prst="roundRect">
            <a:avLst>
              <a:gd name="adj" fmla="val 14516"/>
            </a:avLst>
          </a:prstGeom>
          <a:solidFill>
            <a:srgbClr val="F4F5F6"/>
          </a:solidFill>
          <a:ln/>
        </p:spPr>
      </p:sp>
      <p:sp>
        <p:nvSpPr>
          <p:cNvPr id="15" name="Text 12"/>
          <p:cNvSpPr/>
          <p:nvPr/>
        </p:nvSpPr>
        <p:spPr>
          <a:xfrm>
            <a:off x="5577840" y="3566160"/>
            <a:ext cx="1828800" cy="566928"/>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Exits</a:t>
            </a:r>
            <a:endParaRPr lang="en-US" sz="1300" dirty="0"/>
          </a:p>
        </p:txBody>
      </p:sp>
      <p:sp>
        <p:nvSpPr>
          <p:cNvPr id="16" name="Text 13"/>
          <p:cNvSpPr/>
          <p:nvPr/>
        </p:nvSpPr>
        <p:spPr>
          <a:xfrm>
            <a:off x="7461504" y="3566160"/>
            <a:ext cx="4023360" cy="566928"/>
          </a:xfrm>
          <a:prstGeom prst="rect">
            <a:avLst/>
          </a:prstGeom>
          <a:noFill/>
          <a:ln/>
        </p:spPr>
        <p:txBody>
          <a:bodyPr wrap="square" lIns="0" tIns="0" rIns="0" bIns="0" rtlCol="0" anchor="ctr"/>
          <a:lstStyle/>
          <a:p>
            <a:pPr indent="0" marL="0">
              <a:buNone/>
            </a:pPr>
            <a:r>
              <a:rPr lang="en-US" sz="1250" dirty="0">
                <a:solidFill>
                  <a:srgbClr val="3C4047"/>
                </a:solidFill>
                <a:latin typeface="Calibri" pitchFamily="34" charset="0"/>
                <a:ea typeface="Calibri" pitchFamily="34" charset="-122"/>
                <a:cs typeface="Calibri" pitchFamily="34" charset="-120"/>
              </a:rPr>
              <a:t>D pays +10. A pays −10.</a:t>
            </a:r>
            <a:endParaRPr lang="en-US" sz="1250" dirty="0"/>
          </a:p>
        </p:txBody>
      </p:sp>
      <p:sp>
        <p:nvSpPr>
          <p:cNvPr id="17" name="Shape 14"/>
          <p:cNvSpPr/>
          <p:nvPr/>
        </p:nvSpPr>
        <p:spPr>
          <a:xfrm>
            <a:off x="5358384" y="4206240"/>
            <a:ext cx="6263640" cy="566928"/>
          </a:xfrm>
          <a:prstGeom prst="roundRect">
            <a:avLst>
              <a:gd name="adj" fmla="val 14516"/>
            </a:avLst>
          </a:prstGeom>
          <a:solidFill>
            <a:srgbClr val="F4F5F6"/>
          </a:solidFill>
          <a:ln/>
        </p:spPr>
      </p:sp>
      <p:sp>
        <p:nvSpPr>
          <p:cNvPr id="18" name="Text 15"/>
          <p:cNvSpPr/>
          <p:nvPr/>
        </p:nvSpPr>
        <p:spPr>
          <a:xfrm>
            <a:off x="5577840" y="4206240"/>
            <a:ext cx="1828800" cy="566928"/>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Discount</a:t>
            </a:r>
            <a:endParaRPr lang="en-US" sz="1300" dirty="0"/>
          </a:p>
        </p:txBody>
      </p:sp>
      <p:sp>
        <p:nvSpPr>
          <p:cNvPr id="19" name="Text 16"/>
          <p:cNvSpPr/>
          <p:nvPr/>
        </p:nvSpPr>
        <p:spPr>
          <a:xfrm>
            <a:off x="7461504" y="4206240"/>
            <a:ext cx="4023360" cy="566928"/>
          </a:xfrm>
          <a:prstGeom prst="rect">
            <a:avLst/>
          </a:prstGeom>
          <a:noFill/>
          <a:ln/>
        </p:spPr>
        <p:txBody>
          <a:bodyPr wrap="square" lIns="0" tIns="0" rIns="0" bIns="0" rtlCol="0" anchor="ctr"/>
          <a:lstStyle/>
          <a:p>
            <a:pPr indent="0" marL="0">
              <a:buNone/>
            </a:pPr>
            <a:r>
              <a:rPr lang="en-US" sz="1250" dirty="0">
                <a:solidFill>
                  <a:srgbClr val="3C4047"/>
                </a:solidFill>
                <a:latin typeface="Calibri" pitchFamily="34" charset="0"/>
                <a:ea typeface="Calibri" pitchFamily="34" charset="-122"/>
                <a:cs typeface="Calibri" pitchFamily="34" charset="-120"/>
              </a:rPr>
              <a:t>γ = 1, so no discounting. Returns are plain sums.</a:t>
            </a:r>
            <a:endParaRPr lang="en-US" sz="1250" dirty="0"/>
          </a:p>
        </p:txBody>
      </p:sp>
      <p:sp>
        <p:nvSpPr>
          <p:cNvPr id="20" name="Shape 17"/>
          <p:cNvSpPr/>
          <p:nvPr/>
        </p:nvSpPr>
        <p:spPr>
          <a:xfrm>
            <a:off x="5358384" y="4846320"/>
            <a:ext cx="6263640" cy="566928"/>
          </a:xfrm>
          <a:prstGeom prst="roundRect">
            <a:avLst>
              <a:gd name="adj" fmla="val 14516"/>
            </a:avLst>
          </a:prstGeom>
          <a:solidFill>
            <a:srgbClr val="F4F5F6"/>
          </a:solidFill>
          <a:ln/>
        </p:spPr>
      </p:sp>
      <p:sp>
        <p:nvSpPr>
          <p:cNvPr id="21" name="Text 18"/>
          <p:cNvSpPr/>
          <p:nvPr/>
        </p:nvSpPr>
        <p:spPr>
          <a:xfrm>
            <a:off x="5577840" y="4846320"/>
            <a:ext cx="1828800" cy="566928"/>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Stochastic?</a:t>
            </a:r>
            <a:endParaRPr lang="en-US" sz="1300" dirty="0"/>
          </a:p>
        </p:txBody>
      </p:sp>
      <p:sp>
        <p:nvSpPr>
          <p:cNvPr id="22" name="Text 19"/>
          <p:cNvSpPr/>
          <p:nvPr/>
        </p:nvSpPr>
        <p:spPr>
          <a:xfrm>
            <a:off x="7461504" y="4846320"/>
            <a:ext cx="4023360" cy="566928"/>
          </a:xfrm>
          <a:prstGeom prst="rect">
            <a:avLst/>
          </a:prstGeom>
          <a:noFill/>
          <a:ln/>
        </p:spPr>
        <p:txBody>
          <a:bodyPr wrap="square" lIns="0" tIns="0" rIns="0" bIns="0" rtlCol="0" anchor="ctr"/>
          <a:lstStyle/>
          <a:p>
            <a:pPr indent="0" marL="0">
              <a:buNone/>
            </a:pPr>
            <a:r>
              <a:rPr lang="en-US" sz="1250" dirty="0">
                <a:solidFill>
                  <a:srgbClr val="3C4047"/>
                </a:solidFill>
                <a:latin typeface="Calibri" pitchFamily="34" charset="0"/>
                <a:ea typeface="Calibri" pitchFamily="34" charset="-122"/>
                <a:cs typeface="Calibri" pitchFamily="34" charset="-120"/>
              </a:rPr>
              <a:t>Yes. C going east does not always reach D.</a:t>
            </a:r>
            <a:endParaRPr lang="en-US" sz="1250" dirty="0"/>
          </a:p>
        </p:txBody>
      </p:sp>
      <p:sp>
        <p:nvSpPr>
          <p:cNvPr id="23" name="Text 20"/>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4" name="Text 21"/>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Four observed episodes</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The agent executes π and we take notes. This is the entire training set.</a:t>
            </a:r>
            <a:endParaRPr lang="en-US" sz="1400" dirty="0"/>
          </a:p>
        </p:txBody>
      </p:sp>
      <p:sp>
        <p:nvSpPr>
          <p:cNvPr id="4" name="Shape 2"/>
          <p:cNvSpPr/>
          <p:nvPr/>
        </p:nvSpPr>
        <p:spPr>
          <a:xfrm>
            <a:off x="566928" y="1609344"/>
            <a:ext cx="2633472" cy="2395728"/>
          </a:xfrm>
          <a:prstGeom prst="roundRect">
            <a:avLst>
              <a:gd name="adj" fmla="val 3435"/>
            </a:avLst>
          </a:prstGeom>
          <a:solidFill>
            <a:srgbClr val="F4F5F6"/>
          </a:solidFill>
          <a:ln/>
        </p:spPr>
      </p:sp>
      <p:sp>
        <p:nvSpPr>
          <p:cNvPr id="5" name="Text 3"/>
          <p:cNvSpPr/>
          <p:nvPr/>
        </p:nvSpPr>
        <p:spPr>
          <a:xfrm>
            <a:off x="786384" y="1737360"/>
            <a:ext cx="2194560" cy="329184"/>
          </a:xfrm>
          <a:prstGeom prst="rect">
            <a:avLst/>
          </a:prstGeom>
          <a:noFill/>
          <a:ln/>
        </p:spPr>
        <p:txBody>
          <a:bodyPr wrap="square" lIns="0" tIns="0" rIns="0" bIns="0" rtlCol="0" anchor="ctr"/>
          <a:lstStyle/>
          <a:p>
            <a:pPr indent="0" marL="0">
              <a:buNone/>
            </a:pPr>
            <a:r>
              <a:rPr lang="en-US" sz="1450" b="1" dirty="0">
                <a:solidFill>
                  <a:srgbClr val="22252A"/>
                </a:solidFill>
                <a:latin typeface="Calibri" pitchFamily="34" charset="0"/>
                <a:ea typeface="Calibri" pitchFamily="34" charset="-122"/>
                <a:cs typeface="Calibri" pitchFamily="34" charset="-120"/>
              </a:rPr>
              <a:t>Episode 1</a:t>
            </a:r>
            <a:endParaRPr lang="en-US" sz="1450" dirty="0"/>
          </a:p>
        </p:txBody>
      </p:sp>
      <p:sp>
        <p:nvSpPr>
          <p:cNvPr id="6" name="Text 4"/>
          <p:cNvSpPr/>
          <p:nvPr/>
        </p:nvSpPr>
        <p:spPr>
          <a:xfrm>
            <a:off x="786384" y="21396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B, east, C</a:t>
            </a:r>
            <a:endParaRPr lang="en-US" sz="1250" dirty="0"/>
          </a:p>
        </p:txBody>
      </p:sp>
      <p:sp>
        <p:nvSpPr>
          <p:cNvPr id="7" name="Text 5"/>
          <p:cNvSpPr/>
          <p:nvPr/>
        </p:nvSpPr>
        <p:spPr>
          <a:xfrm>
            <a:off x="2359152" y="2139696"/>
            <a:ext cx="658368" cy="402336"/>
          </a:xfrm>
          <a:prstGeom prst="rect">
            <a:avLst/>
          </a:prstGeom>
          <a:noFill/>
          <a:ln/>
        </p:spPr>
        <p:txBody>
          <a:bodyPr wrap="square" lIns="0" tIns="0" rIns="0" bIns="0" rtlCol="0" anchor="ctr"/>
          <a:lstStyle/>
          <a:p>
            <a:pPr algn="r" indent="0" marL="0">
              <a:buNone/>
            </a:pPr>
            <a:r>
              <a:rPr lang="en-US" sz="1300" b="1" dirty="0">
                <a:solidFill>
                  <a:srgbClr val="53565A"/>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86384" y="25968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C, east, D</a:t>
            </a:r>
            <a:endParaRPr lang="en-US" sz="1250" dirty="0"/>
          </a:p>
        </p:txBody>
      </p:sp>
      <p:sp>
        <p:nvSpPr>
          <p:cNvPr id="9" name="Text 7"/>
          <p:cNvSpPr/>
          <p:nvPr/>
        </p:nvSpPr>
        <p:spPr>
          <a:xfrm>
            <a:off x="2359152" y="2596896"/>
            <a:ext cx="658368" cy="402336"/>
          </a:xfrm>
          <a:prstGeom prst="rect">
            <a:avLst/>
          </a:prstGeom>
          <a:noFill/>
          <a:ln/>
        </p:spPr>
        <p:txBody>
          <a:bodyPr wrap="square" lIns="0" tIns="0" rIns="0" bIns="0" rtlCol="0" anchor="ctr"/>
          <a:lstStyle/>
          <a:p>
            <a:pPr algn="r" indent="0" marL="0">
              <a:buNone/>
            </a:pPr>
            <a:r>
              <a:rPr lang="en-US" sz="1300" b="1" dirty="0">
                <a:solidFill>
                  <a:srgbClr val="53565A"/>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786384" y="30540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D, exit, x</a:t>
            </a:r>
            <a:endParaRPr lang="en-US" sz="1250" dirty="0"/>
          </a:p>
        </p:txBody>
      </p:sp>
      <p:sp>
        <p:nvSpPr>
          <p:cNvPr id="11" name="Text 9"/>
          <p:cNvSpPr/>
          <p:nvPr/>
        </p:nvSpPr>
        <p:spPr>
          <a:xfrm>
            <a:off x="2359152" y="3054096"/>
            <a:ext cx="658368" cy="402336"/>
          </a:xfrm>
          <a:prstGeom prst="rect">
            <a:avLst/>
          </a:prstGeom>
          <a:noFill/>
          <a:ln/>
        </p:spPr>
        <p:txBody>
          <a:bodyPr wrap="square" lIns="0" tIns="0" rIns="0" bIns="0" rtlCol="0" anchor="ctr"/>
          <a:lstStyle/>
          <a:p>
            <a:pPr algn="r" indent="0" marL="0">
              <a:buNone/>
            </a:pPr>
            <a:r>
              <a:rPr lang="en-US" sz="1300" b="1" dirty="0">
                <a:solidFill>
                  <a:srgbClr val="1B7F5A"/>
                </a:solidFill>
                <a:latin typeface="Calibri" pitchFamily="34" charset="0"/>
                <a:ea typeface="Calibri" pitchFamily="34" charset="-122"/>
                <a:cs typeface="Calibri" pitchFamily="34" charset="-120"/>
              </a:rPr>
              <a:t>+10</a:t>
            </a:r>
            <a:endParaRPr lang="en-US" sz="1300" dirty="0"/>
          </a:p>
        </p:txBody>
      </p:sp>
      <p:sp>
        <p:nvSpPr>
          <p:cNvPr id="12" name="Shape 10"/>
          <p:cNvSpPr/>
          <p:nvPr/>
        </p:nvSpPr>
        <p:spPr>
          <a:xfrm>
            <a:off x="3364992" y="1609344"/>
            <a:ext cx="2633472" cy="2395728"/>
          </a:xfrm>
          <a:prstGeom prst="roundRect">
            <a:avLst>
              <a:gd name="adj" fmla="val 3435"/>
            </a:avLst>
          </a:prstGeom>
          <a:solidFill>
            <a:srgbClr val="F4F5F6"/>
          </a:solidFill>
          <a:ln/>
        </p:spPr>
      </p:sp>
      <p:sp>
        <p:nvSpPr>
          <p:cNvPr id="13" name="Text 11"/>
          <p:cNvSpPr/>
          <p:nvPr/>
        </p:nvSpPr>
        <p:spPr>
          <a:xfrm>
            <a:off x="3584448" y="1737360"/>
            <a:ext cx="2194560" cy="329184"/>
          </a:xfrm>
          <a:prstGeom prst="rect">
            <a:avLst/>
          </a:prstGeom>
          <a:noFill/>
          <a:ln/>
        </p:spPr>
        <p:txBody>
          <a:bodyPr wrap="square" lIns="0" tIns="0" rIns="0" bIns="0" rtlCol="0" anchor="ctr"/>
          <a:lstStyle/>
          <a:p>
            <a:pPr indent="0" marL="0">
              <a:buNone/>
            </a:pPr>
            <a:r>
              <a:rPr lang="en-US" sz="1450" b="1" dirty="0">
                <a:solidFill>
                  <a:srgbClr val="22252A"/>
                </a:solidFill>
                <a:latin typeface="Calibri" pitchFamily="34" charset="0"/>
                <a:ea typeface="Calibri" pitchFamily="34" charset="-122"/>
                <a:cs typeface="Calibri" pitchFamily="34" charset="-120"/>
              </a:rPr>
              <a:t>Episode 2</a:t>
            </a:r>
            <a:endParaRPr lang="en-US" sz="1450" dirty="0"/>
          </a:p>
        </p:txBody>
      </p:sp>
      <p:sp>
        <p:nvSpPr>
          <p:cNvPr id="14" name="Text 12"/>
          <p:cNvSpPr/>
          <p:nvPr/>
        </p:nvSpPr>
        <p:spPr>
          <a:xfrm>
            <a:off x="3584448" y="21396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B, east, C</a:t>
            </a:r>
            <a:endParaRPr lang="en-US" sz="1250" dirty="0"/>
          </a:p>
        </p:txBody>
      </p:sp>
      <p:sp>
        <p:nvSpPr>
          <p:cNvPr id="15" name="Text 13"/>
          <p:cNvSpPr/>
          <p:nvPr/>
        </p:nvSpPr>
        <p:spPr>
          <a:xfrm>
            <a:off x="5157216" y="2139696"/>
            <a:ext cx="658368" cy="402336"/>
          </a:xfrm>
          <a:prstGeom prst="rect">
            <a:avLst/>
          </a:prstGeom>
          <a:noFill/>
          <a:ln/>
        </p:spPr>
        <p:txBody>
          <a:bodyPr wrap="square" lIns="0" tIns="0" rIns="0" bIns="0" rtlCol="0" anchor="ctr"/>
          <a:lstStyle/>
          <a:p>
            <a:pPr algn="r" indent="0" marL="0">
              <a:buNone/>
            </a:pPr>
            <a:r>
              <a:rPr lang="en-US" sz="1300" b="1" dirty="0">
                <a:solidFill>
                  <a:srgbClr val="53565A"/>
                </a:solidFill>
                <a:latin typeface="Calibri" pitchFamily="34" charset="0"/>
                <a:ea typeface="Calibri" pitchFamily="34" charset="-122"/>
                <a:cs typeface="Calibri" pitchFamily="34" charset="-120"/>
              </a:rPr>
              <a:t>−1</a:t>
            </a:r>
            <a:endParaRPr lang="en-US" sz="1300" dirty="0"/>
          </a:p>
        </p:txBody>
      </p:sp>
      <p:sp>
        <p:nvSpPr>
          <p:cNvPr id="16" name="Text 14"/>
          <p:cNvSpPr/>
          <p:nvPr/>
        </p:nvSpPr>
        <p:spPr>
          <a:xfrm>
            <a:off x="3584448" y="25968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C, east, D</a:t>
            </a:r>
            <a:endParaRPr lang="en-US" sz="1250" dirty="0"/>
          </a:p>
        </p:txBody>
      </p:sp>
      <p:sp>
        <p:nvSpPr>
          <p:cNvPr id="17" name="Text 15"/>
          <p:cNvSpPr/>
          <p:nvPr/>
        </p:nvSpPr>
        <p:spPr>
          <a:xfrm>
            <a:off x="5157216" y="2596896"/>
            <a:ext cx="658368" cy="402336"/>
          </a:xfrm>
          <a:prstGeom prst="rect">
            <a:avLst/>
          </a:prstGeom>
          <a:noFill/>
          <a:ln/>
        </p:spPr>
        <p:txBody>
          <a:bodyPr wrap="square" lIns="0" tIns="0" rIns="0" bIns="0" rtlCol="0" anchor="ctr"/>
          <a:lstStyle/>
          <a:p>
            <a:pPr algn="r" indent="0" marL="0">
              <a:buNone/>
            </a:pPr>
            <a:r>
              <a:rPr lang="en-US" sz="1300" b="1" dirty="0">
                <a:solidFill>
                  <a:srgbClr val="53565A"/>
                </a:solidFill>
                <a:latin typeface="Calibri" pitchFamily="34" charset="0"/>
                <a:ea typeface="Calibri" pitchFamily="34" charset="-122"/>
                <a:cs typeface="Calibri" pitchFamily="34" charset="-120"/>
              </a:rPr>
              <a:t>−1</a:t>
            </a:r>
            <a:endParaRPr lang="en-US" sz="1300" dirty="0"/>
          </a:p>
        </p:txBody>
      </p:sp>
      <p:sp>
        <p:nvSpPr>
          <p:cNvPr id="18" name="Text 16"/>
          <p:cNvSpPr/>
          <p:nvPr/>
        </p:nvSpPr>
        <p:spPr>
          <a:xfrm>
            <a:off x="3584448" y="30540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D, exit, x</a:t>
            </a:r>
            <a:endParaRPr lang="en-US" sz="1250" dirty="0"/>
          </a:p>
        </p:txBody>
      </p:sp>
      <p:sp>
        <p:nvSpPr>
          <p:cNvPr id="19" name="Text 17"/>
          <p:cNvSpPr/>
          <p:nvPr/>
        </p:nvSpPr>
        <p:spPr>
          <a:xfrm>
            <a:off x="5157216" y="3054096"/>
            <a:ext cx="658368" cy="402336"/>
          </a:xfrm>
          <a:prstGeom prst="rect">
            <a:avLst/>
          </a:prstGeom>
          <a:noFill/>
          <a:ln/>
        </p:spPr>
        <p:txBody>
          <a:bodyPr wrap="square" lIns="0" tIns="0" rIns="0" bIns="0" rtlCol="0" anchor="ctr"/>
          <a:lstStyle/>
          <a:p>
            <a:pPr algn="r" indent="0" marL="0">
              <a:buNone/>
            </a:pPr>
            <a:r>
              <a:rPr lang="en-US" sz="1300" b="1" dirty="0">
                <a:solidFill>
                  <a:srgbClr val="1B7F5A"/>
                </a:solidFill>
                <a:latin typeface="Calibri" pitchFamily="34" charset="0"/>
                <a:ea typeface="Calibri" pitchFamily="34" charset="-122"/>
                <a:cs typeface="Calibri" pitchFamily="34" charset="-120"/>
              </a:rPr>
              <a:t>+10</a:t>
            </a:r>
            <a:endParaRPr lang="en-US" sz="1300" dirty="0"/>
          </a:p>
        </p:txBody>
      </p:sp>
      <p:sp>
        <p:nvSpPr>
          <p:cNvPr id="20" name="Shape 18"/>
          <p:cNvSpPr/>
          <p:nvPr/>
        </p:nvSpPr>
        <p:spPr>
          <a:xfrm>
            <a:off x="6163056" y="1609344"/>
            <a:ext cx="2633472" cy="2395728"/>
          </a:xfrm>
          <a:prstGeom prst="roundRect">
            <a:avLst>
              <a:gd name="adj" fmla="val 3435"/>
            </a:avLst>
          </a:prstGeom>
          <a:solidFill>
            <a:srgbClr val="F4F5F6"/>
          </a:solidFill>
          <a:ln/>
        </p:spPr>
      </p:sp>
      <p:sp>
        <p:nvSpPr>
          <p:cNvPr id="21" name="Text 19"/>
          <p:cNvSpPr/>
          <p:nvPr/>
        </p:nvSpPr>
        <p:spPr>
          <a:xfrm>
            <a:off x="6382512" y="1737360"/>
            <a:ext cx="2194560" cy="329184"/>
          </a:xfrm>
          <a:prstGeom prst="rect">
            <a:avLst/>
          </a:prstGeom>
          <a:noFill/>
          <a:ln/>
        </p:spPr>
        <p:txBody>
          <a:bodyPr wrap="square" lIns="0" tIns="0" rIns="0" bIns="0" rtlCol="0" anchor="ctr"/>
          <a:lstStyle/>
          <a:p>
            <a:pPr indent="0" marL="0">
              <a:buNone/>
            </a:pPr>
            <a:r>
              <a:rPr lang="en-US" sz="1450" b="1" dirty="0">
                <a:solidFill>
                  <a:srgbClr val="22252A"/>
                </a:solidFill>
                <a:latin typeface="Calibri" pitchFamily="34" charset="0"/>
                <a:ea typeface="Calibri" pitchFamily="34" charset="-122"/>
                <a:cs typeface="Calibri" pitchFamily="34" charset="-120"/>
              </a:rPr>
              <a:t>Episode 3</a:t>
            </a:r>
            <a:endParaRPr lang="en-US" sz="1450" dirty="0"/>
          </a:p>
        </p:txBody>
      </p:sp>
      <p:sp>
        <p:nvSpPr>
          <p:cNvPr id="22" name="Text 20"/>
          <p:cNvSpPr/>
          <p:nvPr/>
        </p:nvSpPr>
        <p:spPr>
          <a:xfrm>
            <a:off x="6382512" y="21396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E, north, C</a:t>
            </a:r>
            <a:endParaRPr lang="en-US" sz="1250" dirty="0"/>
          </a:p>
        </p:txBody>
      </p:sp>
      <p:sp>
        <p:nvSpPr>
          <p:cNvPr id="23" name="Text 21"/>
          <p:cNvSpPr/>
          <p:nvPr/>
        </p:nvSpPr>
        <p:spPr>
          <a:xfrm>
            <a:off x="7955280" y="2139696"/>
            <a:ext cx="658368" cy="402336"/>
          </a:xfrm>
          <a:prstGeom prst="rect">
            <a:avLst/>
          </a:prstGeom>
          <a:noFill/>
          <a:ln/>
        </p:spPr>
        <p:txBody>
          <a:bodyPr wrap="square" lIns="0" tIns="0" rIns="0" bIns="0" rtlCol="0" anchor="ctr"/>
          <a:lstStyle/>
          <a:p>
            <a:pPr algn="r" indent="0" marL="0">
              <a:buNone/>
            </a:pPr>
            <a:r>
              <a:rPr lang="en-US" sz="1300" b="1" dirty="0">
                <a:solidFill>
                  <a:srgbClr val="53565A"/>
                </a:solidFill>
                <a:latin typeface="Calibri" pitchFamily="34" charset="0"/>
                <a:ea typeface="Calibri" pitchFamily="34" charset="-122"/>
                <a:cs typeface="Calibri" pitchFamily="34" charset="-120"/>
              </a:rPr>
              <a:t>−1</a:t>
            </a:r>
            <a:endParaRPr lang="en-US" sz="1300" dirty="0"/>
          </a:p>
        </p:txBody>
      </p:sp>
      <p:sp>
        <p:nvSpPr>
          <p:cNvPr id="24" name="Text 22"/>
          <p:cNvSpPr/>
          <p:nvPr/>
        </p:nvSpPr>
        <p:spPr>
          <a:xfrm>
            <a:off x="6382512" y="25968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C, east, D</a:t>
            </a:r>
            <a:endParaRPr lang="en-US" sz="1250" dirty="0"/>
          </a:p>
        </p:txBody>
      </p:sp>
      <p:sp>
        <p:nvSpPr>
          <p:cNvPr id="25" name="Text 23"/>
          <p:cNvSpPr/>
          <p:nvPr/>
        </p:nvSpPr>
        <p:spPr>
          <a:xfrm>
            <a:off x="7955280" y="2596896"/>
            <a:ext cx="658368" cy="402336"/>
          </a:xfrm>
          <a:prstGeom prst="rect">
            <a:avLst/>
          </a:prstGeom>
          <a:noFill/>
          <a:ln/>
        </p:spPr>
        <p:txBody>
          <a:bodyPr wrap="square" lIns="0" tIns="0" rIns="0" bIns="0" rtlCol="0" anchor="ctr"/>
          <a:lstStyle/>
          <a:p>
            <a:pPr algn="r" indent="0" marL="0">
              <a:buNone/>
            </a:pPr>
            <a:r>
              <a:rPr lang="en-US" sz="1300" b="1" dirty="0">
                <a:solidFill>
                  <a:srgbClr val="53565A"/>
                </a:solidFill>
                <a:latin typeface="Calibri" pitchFamily="34" charset="0"/>
                <a:ea typeface="Calibri" pitchFamily="34" charset="-122"/>
                <a:cs typeface="Calibri" pitchFamily="34" charset="-120"/>
              </a:rPr>
              <a:t>−1</a:t>
            </a:r>
            <a:endParaRPr lang="en-US" sz="1300" dirty="0"/>
          </a:p>
        </p:txBody>
      </p:sp>
      <p:sp>
        <p:nvSpPr>
          <p:cNvPr id="26" name="Text 24"/>
          <p:cNvSpPr/>
          <p:nvPr/>
        </p:nvSpPr>
        <p:spPr>
          <a:xfrm>
            <a:off x="6382512" y="30540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D, exit, x</a:t>
            </a:r>
            <a:endParaRPr lang="en-US" sz="1250" dirty="0"/>
          </a:p>
        </p:txBody>
      </p:sp>
      <p:sp>
        <p:nvSpPr>
          <p:cNvPr id="27" name="Text 25"/>
          <p:cNvSpPr/>
          <p:nvPr/>
        </p:nvSpPr>
        <p:spPr>
          <a:xfrm>
            <a:off x="7955280" y="3054096"/>
            <a:ext cx="658368" cy="402336"/>
          </a:xfrm>
          <a:prstGeom prst="rect">
            <a:avLst/>
          </a:prstGeom>
          <a:noFill/>
          <a:ln/>
        </p:spPr>
        <p:txBody>
          <a:bodyPr wrap="square" lIns="0" tIns="0" rIns="0" bIns="0" rtlCol="0" anchor="ctr"/>
          <a:lstStyle/>
          <a:p>
            <a:pPr algn="r" indent="0" marL="0">
              <a:buNone/>
            </a:pPr>
            <a:r>
              <a:rPr lang="en-US" sz="1300" b="1" dirty="0">
                <a:solidFill>
                  <a:srgbClr val="1B7F5A"/>
                </a:solidFill>
                <a:latin typeface="Calibri" pitchFamily="34" charset="0"/>
                <a:ea typeface="Calibri" pitchFamily="34" charset="-122"/>
                <a:cs typeface="Calibri" pitchFamily="34" charset="-120"/>
              </a:rPr>
              <a:t>+10</a:t>
            </a:r>
            <a:endParaRPr lang="en-US" sz="1300" dirty="0"/>
          </a:p>
        </p:txBody>
      </p:sp>
      <p:sp>
        <p:nvSpPr>
          <p:cNvPr id="28" name="Shape 26"/>
          <p:cNvSpPr/>
          <p:nvPr/>
        </p:nvSpPr>
        <p:spPr>
          <a:xfrm>
            <a:off x="8961120" y="1609344"/>
            <a:ext cx="2633472" cy="2395728"/>
          </a:xfrm>
          <a:prstGeom prst="roundRect">
            <a:avLst>
              <a:gd name="adj" fmla="val 3435"/>
            </a:avLst>
          </a:prstGeom>
          <a:solidFill>
            <a:srgbClr val="FBEAED"/>
          </a:solidFill>
          <a:ln/>
        </p:spPr>
      </p:sp>
      <p:sp>
        <p:nvSpPr>
          <p:cNvPr id="29" name="Text 27"/>
          <p:cNvSpPr/>
          <p:nvPr/>
        </p:nvSpPr>
        <p:spPr>
          <a:xfrm>
            <a:off x="9180576" y="1737360"/>
            <a:ext cx="2194560" cy="329184"/>
          </a:xfrm>
          <a:prstGeom prst="rect">
            <a:avLst/>
          </a:prstGeom>
          <a:noFill/>
          <a:ln/>
        </p:spPr>
        <p:txBody>
          <a:bodyPr wrap="square" lIns="0" tIns="0" rIns="0" bIns="0" rtlCol="0" anchor="ctr"/>
          <a:lstStyle/>
          <a:p>
            <a:pPr indent="0" marL="0">
              <a:buNone/>
            </a:pPr>
            <a:r>
              <a:rPr lang="en-US" sz="1450" b="1" dirty="0">
                <a:solidFill>
                  <a:srgbClr val="C8102E"/>
                </a:solidFill>
                <a:latin typeface="Calibri" pitchFamily="34" charset="0"/>
                <a:ea typeface="Calibri" pitchFamily="34" charset="-122"/>
                <a:cs typeface="Calibri" pitchFamily="34" charset="-120"/>
              </a:rPr>
              <a:t>Episode 4</a:t>
            </a:r>
            <a:endParaRPr lang="en-US" sz="1450" dirty="0"/>
          </a:p>
        </p:txBody>
      </p:sp>
      <p:sp>
        <p:nvSpPr>
          <p:cNvPr id="30" name="Text 28"/>
          <p:cNvSpPr/>
          <p:nvPr/>
        </p:nvSpPr>
        <p:spPr>
          <a:xfrm>
            <a:off x="9180576" y="21396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E, north, C</a:t>
            </a:r>
            <a:endParaRPr lang="en-US" sz="1250" dirty="0"/>
          </a:p>
        </p:txBody>
      </p:sp>
      <p:sp>
        <p:nvSpPr>
          <p:cNvPr id="31" name="Text 29"/>
          <p:cNvSpPr/>
          <p:nvPr/>
        </p:nvSpPr>
        <p:spPr>
          <a:xfrm>
            <a:off x="10753344" y="2139696"/>
            <a:ext cx="658368" cy="402336"/>
          </a:xfrm>
          <a:prstGeom prst="rect">
            <a:avLst/>
          </a:prstGeom>
          <a:noFill/>
          <a:ln/>
        </p:spPr>
        <p:txBody>
          <a:bodyPr wrap="square" lIns="0" tIns="0" rIns="0" bIns="0" rtlCol="0" anchor="ctr"/>
          <a:lstStyle/>
          <a:p>
            <a:pPr algn="r" indent="0" marL="0">
              <a:buNone/>
            </a:pPr>
            <a:r>
              <a:rPr lang="en-US" sz="1300" b="1" dirty="0">
                <a:solidFill>
                  <a:srgbClr val="53565A"/>
                </a:solidFill>
                <a:latin typeface="Calibri" pitchFamily="34" charset="0"/>
                <a:ea typeface="Calibri" pitchFamily="34" charset="-122"/>
                <a:cs typeface="Calibri" pitchFamily="34" charset="-120"/>
              </a:rPr>
              <a:t>−1</a:t>
            </a:r>
            <a:endParaRPr lang="en-US" sz="1300" dirty="0"/>
          </a:p>
        </p:txBody>
      </p:sp>
      <p:sp>
        <p:nvSpPr>
          <p:cNvPr id="32" name="Text 30"/>
          <p:cNvSpPr/>
          <p:nvPr/>
        </p:nvSpPr>
        <p:spPr>
          <a:xfrm>
            <a:off x="9180576" y="25968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C, east, A</a:t>
            </a:r>
            <a:endParaRPr lang="en-US" sz="1250" dirty="0"/>
          </a:p>
        </p:txBody>
      </p:sp>
      <p:sp>
        <p:nvSpPr>
          <p:cNvPr id="33" name="Text 31"/>
          <p:cNvSpPr/>
          <p:nvPr/>
        </p:nvSpPr>
        <p:spPr>
          <a:xfrm>
            <a:off x="10753344" y="2596896"/>
            <a:ext cx="658368" cy="402336"/>
          </a:xfrm>
          <a:prstGeom prst="rect">
            <a:avLst/>
          </a:prstGeom>
          <a:noFill/>
          <a:ln/>
        </p:spPr>
        <p:txBody>
          <a:bodyPr wrap="square" lIns="0" tIns="0" rIns="0" bIns="0" rtlCol="0" anchor="ctr"/>
          <a:lstStyle/>
          <a:p>
            <a:pPr algn="r" indent="0" marL="0">
              <a:buNone/>
            </a:pPr>
            <a:r>
              <a:rPr lang="en-US" sz="1300" b="1" dirty="0">
                <a:solidFill>
                  <a:srgbClr val="53565A"/>
                </a:solidFill>
                <a:latin typeface="Calibri" pitchFamily="34" charset="0"/>
                <a:ea typeface="Calibri" pitchFamily="34" charset="-122"/>
                <a:cs typeface="Calibri" pitchFamily="34" charset="-120"/>
              </a:rPr>
              <a:t>−1</a:t>
            </a:r>
            <a:endParaRPr lang="en-US" sz="1300" dirty="0"/>
          </a:p>
        </p:txBody>
      </p:sp>
      <p:sp>
        <p:nvSpPr>
          <p:cNvPr id="34" name="Text 32"/>
          <p:cNvSpPr/>
          <p:nvPr/>
        </p:nvSpPr>
        <p:spPr>
          <a:xfrm>
            <a:off x="9180576" y="3054096"/>
            <a:ext cx="1600200" cy="402336"/>
          </a:xfrm>
          <a:prstGeom prst="rect">
            <a:avLst/>
          </a:prstGeom>
          <a:noFill/>
          <a:ln/>
        </p:spPr>
        <p:txBody>
          <a:bodyPr wrap="square" lIns="0" tIns="0" rIns="0" bIns="0" rtlCol="0" anchor="ctr"/>
          <a:lstStyle/>
          <a:p>
            <a:pPr indent="0" marL="0">
              <a:buNone/>
            </a:pPr>
            <a:r>
              <a:rPr lang="en-US" sz="1250" dirty="0">
                <a:solidFill>
                  <a:srgbClr val="3C4047"/>
                </a:solidFill>
                <a:latin typeface="Courier New" pitchFamily="34" charset="0"/>
                <a:ea typeface="Courier New" pitchFamily="34" charset="-122"/>
                <a:cs typeface="Courier New" pitchFamily="34" charset="-120"/>
              </a:rPr>
              <a:t>A, exit, x</a:t>
            </a:r>
            <a:endParaRPr lang="en-US" sz="1250" dirty="0"/>
          </a:p>
        </p:txBody>
      </p:sp>
      <p:sp>
        <p:nvSpPr>
          <p:cNvPr id="35" name="Text 33"/>
          <p:cNvSpPr/>
          <p:nvPr/>
        </p:nvSpPr>
        <p:spPr>
          <a:xfrm>
            <a:off x="10753344" y="3054096"/>
            <a:ext cx="658368" cy="402336"/>
          </a:xfrm>
          <a:prstGeom prst="rect">
            <a:avLst/>
          </a:prstGeom>
          <a:noFill/>
          <a:ln/>
        </p:spPr>
        <p:txBody>
          <a:bodyPr wrap="square" lIns="0" tIns="0" rIns="0" bIns="0" rtlCol="0" anchor="ctr"/>
          <a:lstStyle/>
          <a:p>
            <a:pPr algn="r" indent="0" marL="0">
              <a:buNone/>
            </a:pPr>
            <a:r>
              <a:rPr lang="en-US" sz="1300" b="1" dirty="0">
                <a:solidFill>
                  <a:srgbClr val="53565A"/>
                </a:solidFill>
                <a:latin typeface="Calibri" pitchFamily="34" charset="0"/>
                <a:ea typeface="Calibri" pitchFamily="34" charset="-122"/>
                <a:cs typeface="Calibri" pitchFamily="34" charset="-120"/>
              </a:rPr>
              <a:t>−10</a:t>
            </a:r>
            <a:endParaRPr lang="en-US" sz="1300" dirty="0"/>
          </a:p>
        </p:txBody>
      </p:sp>
      <p:sp>
        <p:nvSpPr>
          <p:cNvPr id="36" name="Text 34"/>
          <p:cNvSpPr/>
          <p:nvPr/>
        </p:nvSpPr>
        <p:spPr>
          <a:xfrm>
            <a:off x="9180576" y="3602736"/>
            <a:ext cx="2194560" cy="292608"/>
          </a:xfrm>
          <a:prstGeom prst="rect">
            <a:avLst/>
          </a:prstGeom>
          <a:noFill/>
          <a:ln/>
        </p:spPr>
        <p:txBody>
          <a:bodyPr wrap="square" lIns="0" tIns="0" rIns="0" bIns="0" rtlCol="0" anchor="ctr"/>
          <a:lstStyle/>
          <a:p>
            <a:pPr indent="0" marL="0">
              <a:buNone/>
            </a:pPr>
            <a:r>
              <a:rPr lang="en-US" sz="1150" i="1" dirty="0">
                <a:solidFill>
                  <a:srgbClr val="C8102E"/>
                </a:solidFill>
                <a:latin typeface="Calibri" pitchFamily="34" charset="0"/>
                <a:ea typeface="Calibri" pitchFamily="34" charset="-122"/>
                <a:cs typeface="Calibri" pitchFamily="34" charset="-120"/>
              </a:rPr>
              <a:t>fell into the pit</a:t>
            </a:r>
            <a:endParaRPr lang="en-US" sz="1150" dirty="0"/>
          </a:p>
        </p:txBody>
      </p:sp>
      <p:sp>
        <p:nvSpPr>
          <p:cNvPr id="37" name="Text 35"/>
          <p:cNvSpPr/>
          <p:nvPr/>
        </p:nvSpPr>
        <p:spPr>
          <a:xfrm>
            <a:off x="566928" y="4279392"/>
            <a:ext cx="11057839" cy="694944"/>
          </a:xfrm>
          <a:prstGeom prst="rect">
            <a:avLst/>
          </a:prstGeom>
          <a:noFill/>
          <a:ln/>
        </p:spPr>
        <p:txBody>
          <a:bodyPr wrap="square" lIns="0" tIns="0" rIns="0" bIns="0" rtlCol="0" anchor="t"/>
          <a:lstStyle/>
          <a:p>
            <a:pPr algn="l" indent="0" marL="0">
              <a:lnSpc>
                <a:spcPct val="114000"/>
              </a:lnSpc>
              <a:buNone/>
            </a:pPr>
            <a:r>
              <a:rPr lang="en-US" sz="1450" dirty="0">
                <a:solidFill>
                  <a:srgbClr val="3C4047"/>
                </a:solidFill>
                <a:latin typeface="Calibri" pitchFamily="34" charset="0"/>
                <a:ea typeface="Calibri" pitchFamily="34" charset="-122"/>
                <a:cs typeface="Calibri" pitchFamily="34" charset="-120"/>
              </a:rPr>
              <a:t>Notice episode 4. The agent took the same action from C as in the other three episodes, east, and ended up somewhere else. That is the stochasticity, and it is the only reason this problem is interesting.</a:t>
            </a:r>
            <a:endParaRPr lang="en-US" sz="1450" dirty="0"/>
          </a:p>
        </p:txBody>
      </p:sp>
      <p:sp>
        <p:nvSpPr>
          <p:cNvPr id="38" name="Shape 36"/>
          <p:cNvSpPr/>
          <p:nvPr/>
        </p:nvSpPr>
        <p:spPr>
          <a:xfrm>
            <a:off x="566928" y="5138928"/>
            <a:ext cx="11057839" cy="603504"/>
          </a:xfrm>
          <a:prstGeom prst="roundRect">
            <a:avLst>
              <a:gd name="adj" fmla="val 13636"/>
            </a:avLst>
          </a:prstGeom>
          <a:solidFill>
            <a:srgbClr val="F4F5F6"/>
          </a:solidFill>
          <a:ln/>
        </p:spPr>
      </p:sp>
      <p:sp>
        <p:nvSpPr>
          <p:cNvPr id="39" name="Shape 37"/>
          <p:cNvSpPr/>
          <p:nvPr/>
        </p:nvSpPr>
        <p:spPr>
          <a:xfrm>
            <a:off x="786384" y="5349240"/>
            <a:ext cx="182880" cy="182880"/>
          </a:xfrm>
          <a:prstGeom prst="ellipse">
            <a:avLst/>
          </a:prstGeom>
          <a:solidFill>
            <a:srgbClr val="53565A"/>
          </a:solidFill>
          <a:ln/>
        </p:spPr>
      </p:sp>
      <p:sp>
        <p:nvSpPr>
          <p:cNvPr id="40" name="Text 38"/>
          <p:cNvSpPr/>
          <p:nvPr/>
        </p:nvSpPr>
        <p:spPr>
          <a:xfrm>
            <a:off x="1115568" y="5138928"/>
            <a:ext cx="10289743" cy="603504"/>
          </a:xfrm>
          <a:prstGeom prst="rect">
            <a:avLst/>
          </a:prstGeom>
          <a:noFill/>
          <a:ln/>
        </p:spPr>
        <p:txBody>
          <a:bodyPr wrap="square" lIns="0" tIns="0" rIns="0" bIns="0" rtlCol="0" anchor="ctr"/>
          <a:lstStyle/>
          <a:p>
            <a:pPr indent="0" marL="0">
              <a:buNone/>
            </a:pPr>
            <a:r>
              <a:rPr lang="en-US" sz="1450" b="1" dirty="0">
                <a:solidFill>
                  <a:srgbClr val="3C4047"/>
                </a:solidFill>
                <a:latin typeface="Calibri" pitchFamily="34" charset="0"/>
                <a:ea typeface="Calibri" pitchFamily="34" charset="-122"/>
                <a:cs typeface="Calibri" pitchFamily="34" charset="-120"/>
              </a:rPr>
              <a:t>Twelve transitions total. Everything we learn today comes out of exactly these twelve tuples.</a:t>
            </a:r>
            <a:endParaRPr lang="en-US" sz="1450" dirty="0"/>
          </a:p>
        </p:txBody>
      </p:sp>
      <p:sp>
        <p:nvSpPr>
          <p:cNvPr id="41" name="Text 39"/>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42" name="Text 40"/>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Count, then normalise</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STEP 1</a:t>
            </a:r>
            <a:endParaRPr lang="en-US" sz="1050" dirty="0"/>
          </a:p>
        </p:txBody>
      </p:sp>
      <p:pic>
        <p:nvPicPr>
          <p:cNvPr id="4" name="Image 0" descr="/home/claude/comp469_rl/figures/fig05_model_based_counts.png">    </p:cNvPr>
          <p:cNvPicPr>
            <a:picLocks noChangeAspect="1"/>
          </p:cNvPicPr>
          <p:nvPr/>
        </p:nvPicPr>
        <p:blipFill>
          <a:blip r:embed="rId1"/>
          <a:srcRect l="0" r="0" t="0" b="0"/>
          <a:stretch/>
        </p:blipFill>
        <p:spPr>
          <a:xfrm>
            <a:off x="658368" y="1481328"/>
            <a:ext cx="10881360" cy="3913632"/>
          </a:xfrm>
          <a:prstGeom prst="rect">
            <a:avLst/>
          </a:prstGeom>
        </p:spPr>
      </p:pic>
      <p:sp>
        <p:nvSpPr>
          <p:cNvPr id="5" name="Shape 2"/>
          <p:cNvSpPr/>
          <p:nvPr/>
        </p:nvSpPr>
        <p:spPr>
          <a:xfrm>
            <a:off x="566928" y="5541264"/>
            <a:ext cx="11057839" cy="603504"/>
          </a:xfrm>
          <a:prstGeom prst="roundRect">
            <a:avLst>
              <a:gd name="adj" fmla="val 13636"/>
            </a:avLst>
          </a:prstGeom>
          <a:solidFill>
            <a:srgbClr val="FBEAED"/>
          </a:solidFill>
          <a:ln/>
        </p:spPr>
      </p:sp>
      <p:sp>
        <p:nvSpPr>
          <p:cNvPr id="6" name="Shape 3"/>
          <p:cNvSpPr/>
          <p:nvPr/>
        </p:nvSpPr>
        <p:spPr>
          <a:xfrm>
            <a:off x="786384" y="5751576"/>
            <a:ext cx="182880" cy="182880"/>
          </a:xfrm>
          <a:prstGeom prst="ellipse">
            <a:avLst/>
          </a:prstGeom>
          <a:solidFill>
            <a:srgbClr val="C8102E"/>
          </a:solidFill>
          <a:ln/>
        </p:spPr>
      </p:sp>
      <p:sp>
        <p:nvSpPr>
          <p:cNvPr id="7" name="Text 4"/>
          <p:cNvSpPr/>
          <p:nvPr/>
        </p:nvSpPr>
        <p:spPr>
          <a:xfrm>
            <a:off x="1115568" y="5541264"/>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C took east four times: three landings in D, one in A. That single fraction is everything the model knows about C.</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Hand the learned model to value iteration</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STEP 2</a:t>
            </a:r>
            <a:endParaRPr lang="en-US" sz="1050" dirty="0"/>
          </a:p>
        </p:txBody>
      </p:sp>
      <p:sp>
        <p:nvSpPr>
          <p:cNvPr id="4" name="Text 2"/>
          <p:cNvSpPr/>
          <p:nvPr/>
        </p:nvSpPr>
        <p:spPr>
          <a:xfrm>
            <a:off x="566928" y="1243584"/>
            <a:ext cx="11057839" cy="402336"/>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Nothing about the solver changes. It runs the same Bellman update it always did, on estimates rather than on truth.</a:t>
            </a:r>
            <a:endParaRPr lang="en-US" sz="1500" dirty="0"/>
          </a:p>
        </p:txBody>
      </p:sp>
      <p:sp>
        <p:nvSpPr>
          <p:cNvPr id="5" name="Shape 3"/>
          <p:cNvSpPr/>
          <p:nvPr/>
        </p:nvSpPr>
        <p:spPr>
          <a:xfrm>
            <a:off x="566928" y="1773936"/>
            <a:ext cx="11057839" cy="822960"/>
          </a:xfrm>
          <a:prstGeom prst="roundRect">
            <a:avLst>
              <a:gd name="adj" fmla="val 10000"/>
            </a:avLst>
          </a:prstGeom>
          <a:solidFill>
            <a:srgbClr val="E7EEF6"/>
          </a:solidFill>
          <a:ln/>
        </p:spPr>
      </p:sp>
      <p:sp>
        <p:nvSpPr>
          <p:cNvPr id="6" name="Text 4"/>
          <p:cNvSpPr/>
          <p:nvPr/>
        </p:nvSpPr>
        <p:spPr>
          <a:xfrm>
            <a:off x="731520" y="1773936"/>
            <a:ext cx="10728655" cy="822960"/>
          </a:xfrm>
          <a:prstGeom prst="rect">
            <a:avLst/>
          </a:prstGeom>
          <a:noFill/>
          <a:ln/>
        </p:spPr>
        <p:txBody>
          <a:bodyPr wrap="square" lIns="0" tIns="0" rIns="0" bIns="0" rtlCol="0" anchor="ctr"/>
          <a:lstStyle/>
          <a:p>
            <a:pPr algn="ctr" indent="0" marL="0">
              <a:buNone/>
            </a:pPr>
            <a:r>
              <a:rPr lang="en-US" sz="1900" b="1" dirty="0">
                <a:solidFill>
                  <a:srgbClr val="1C5D99"/>
                </a:solidFill>
                <a:latin typeface="Cambria" pitchFamily="34" charset="0"/>
                <a:ea typeface="Cambria" pitchFamily="34" charset="-122"/>
                <a:cs typeface="Cambria" pitchFamily="34" charset="-120"/>
              </a:rPr>
              <a:t>Vₖ₊₁(s)  </a:t>
            </a:r>
            <a:pPr algn="ctr" indent="0" marL="0">
              <a:buNone/>
            </a:pPr>
            <a:r>
              <a:rPr lang="en-US" sz="2200" b="1" dirty="0">
                <a:solidFill>
                  <a:srgbClr val="1C5D99"/>
                </a:solidFill>
                <a:latin typeface="Calibri" pitchFamily="34" charset="0"/>
                <a:ea typeface="Calibri" pitchFamily="34" charset="-122"/>
                <a:cs typeface="Calibri" pitchFamily="34" charset="-120"/>
              </a:rPr>
              <a:t>←</a:t>
            </a:r>
            <a:pPr algn="ctr" indent="0" marL="0">
              <a:buNone/>
            </a:pPr>
            <a:r>
              <a:rPr lang="en-US" sz="1900" b="1" dirty="0">
                <a:solidFill>
                  <a:srgbClr val="1C5D99"/>
                </a:solidFill>
                <a:latin typeface="Cambria" pitchFamily="34" charset="0"/>
                <a:ea typeface="Cambria" pitchFamily="34" charset="-122"/>
                <a:cs typeface="Cambria" pitchFamily="34" charset="-120"/>
              </a:rPr>
              <a:t>  maxₐ  Σₛ'  T̂(s, a, s')  [ R̂(s, a, s')  +  γ Vₖ(s') ]</a:t>
            </a:r>
            <a:endParaRPr lang="en-US" sz="1900" dirty="0"/>
          </a:p>
        </p:txBody>
      </p:sp>
      <p:sp>
        <p:nvSpPr>
          <p:cNvPr id="7" name="Shape 5"/>
          <p:cNvSpPr/>
          <p:nvPr/>
        </p:nvSpPr>
        <p:spPr>
          <a:xfrm>
            <a:off x="566928" y="2816352"/>
            <a:ext cx="5358384" cy="2139696"/>
          </a:xfrm>
          <a:prstGeom prst="roundRect">
            <a:avLst>
              <a:gd name="adj" fmla="val 3846"/>
            </a:avLst>
          </a:prstGeom>
          <a:solidFill>
            <a:srgbClr val="E8F2ED"/>
          </a:solidFill>
          <a:ln/>
        </p:spPr>
      </p:sp>
      <p:sp>
        <p:nvSpPr>
          <p:cNvPr id="8" name="Text 6"/>
          <p:cNvSpPr/>
          <p:nvPr/>
        </p:nvSpPr>
        <p:spPr>
          <a:xfrm>
            <a:off x="822960" y="2962656"/>
            <a:ext cx="4846320" cy="329184"/>
          </a:xfrm>
          <a:prstGeom prst="rect">
            <a:avLst/>
          </a:prstGeom>
          <a:noFill/>
          <a:ln/>
        </p:spPr>
        <p:txBody>
          <a:bodyPr wrap="square" lIns="0" tIns="0" rIns="0" bIns="0" rtlCol="0" anchor="ctr"/>
          <a:lstStyle/>
          <a:p>
            <a:pPr indent="0" marL="0">
              <a:buNone/>
            </a:pPr>
            <a:r>
              <a:rPr lang="en-US" sz="1500" b="1" dirty="0">
                <a:solidFill>
                  <a:srgbClr val="1B7F5A"/>
                </a:solidFill>
                <a:latin typeface="Cambria" pitchFamily="34" charset="0"/>
                <a:ea typeface="Cambria" pitchFamily="34" charset="-122"/>
                <a:cs typeface="Cambria" pitchFamily="34" charset="-120"/>
              </a:rPr>
              <a:t>What this buys you</a:t>
            </a:r>
            <a:endParaRPr lang="en-US" sz="1500" dirty="0"/>
          </a:p>
        </p:txBody>
      </p:sp>
      <p:sp>
        <p:nvSpPr>
          <p:cNvPr id="9" name="Text 7"/>
          <p:cNvSpPr/>
          <p:nvPr/>
        </p:nvSpPr>
        <p:spPr>
          <a:xfrm>
            <a:off x="822960" y="3364992"/>
            <a:ext cx="4828032" cy="14630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C4047"/>
                </a:solidFill>
                <a:latin typeface="Calibri" pitchFamily="34" charset="0"/>
                <a:ea typeface="Calibri" pitchFamily="34" charset="-122"/>
                <a:cs typeface="Calibri" pitchFamily="34" charset="-120"/>
              </a:rPr>
              <a:t>Uses every observed transition efficiently. Each sample updates the model, and the model informs every state.</a:t>
            </a:r>
            <a:endParaRPr lang="en-US" sz="1250" dirty="0"/>
          </a:p>
          <a:p>
            <a:pPr marL="177800" indent="-177800">
              <a:spcAft>
                <a:spcPts val="800"/>
              </a:spcAft>
              <a:buSzPct val="100000"/>
              <a:buChar char="•"/>
            </a:pPr>
            <a:r>
              <a:rPr lang="en-US" sz="1250" dirty="0">
                <a:solidFill>
                  <a:srgbClr val="3C4047"/>
                </a:solidFill>
                <a:latin typeface="Calibri" pitchFamily="34" charset="0"/>
                <a:ea typeface="Calibri" pitchFamily="34" charset="-122"/>
                <a:cs typeface="Calibri" pitchFamily="34" charset="-120"/>
              </a:rPr>
              <a:t>Once T̂ is good, planning quality is as good as ordinary value iteration.</a:t>
            </a:r>
            <a:endParaRPr lang="en-US" sz="1250" dirty="0"/>
          </a:p>
          <a:p>
            <a:pPr marL="177800" indent="-177800">
              <a:spcAft>
                <a:spcPts val="800"/>
              </a:spcAft>
              <a:buSzPct val="100000"/>
              <a:buChar char="•"/>
            </a:pPr>
            <a:r>
              <a:rPr lang="en-US" sz="1250" dirty="0">
                <a:solidFill>
                  <a:srgbClr val="3C4047"/>
                </a:solidFill>
                <a:latin typeface="Calibri" pitchFamily="34" charset="0"/>
                <a:ea typeface="Calibri" pitchFamily="34" charset="-122"/>
                <a:cs typeface="Calibri" pitchFamily="34" charset="-120"/>
              </a:rPr>
              <a:t>You can re-plan for a new reward function without collecting new experience.</a:t>
            </a:r>
            <a:endParaRPr lang="en-US" sz="1250" dirty="0"/>
          </a:p>
        </p:txBody>
      </p:sp>
      <p:sp>
        <p:nvSpPr>
          <p:cNvPr id="10" name="Shape 8"/>
          <p:cNvSpPr/>
          <p:nvPr/>
        </p:nvSpPr>
        <p:spPr>
          <a:xfrm>
            <a:off x="6309360" y="2816352"/>
            <a:ext cx="5358384" cy="2139696"/>
          </a:xfrm>
          <a:prstGeom prst="roundRect">
            <a:avLst>
              <a:gd name="adj" fmla="val 3846"/>
            </a:avLst>
          </a:prstGeom>
          <a:solidFill>
            <a:srgbClr val="FBEAED"/>
          </a:solidFill>
          <a:ln/>
        </p:spPr>
      </p:sp>
      <p:sp>
        <p:nvSpPr>
          <p:cNvPr id="11" name="Text 9"/>
          <p:cNvSpPr/>
          <p:nvPr/>
        </p:nvSpPr>
        <p:spPr>
          <a:xfrm>
            <a:off x="6565392" y="2962656"/>
            <a:ext cx="4846320" cy="329184"/>
          </a:xfrm>
          <a:prstGeom prst="rect">
            <a:avLst/>
          </a:prstGeom>
          <a:noFill/>
          <a:ln/>
        </p:spPr>
        <p:txBody>
          <a:bodyPr wrap="square" lIns="0" tIns="0" rIns="0" bIns="0" rtlCol="0" anchor="ctr"/>
          <a:lstStyle/>
          <a:p>
            <a:pPr indent="0" marL="0">
              <a:buNone/>
            </a:pPr>
            <a:r>
              <a:rPr lang="en-US" sz="1500" b="1" dirty="0">
                <a:solidFill>
                  <a:srgbClr val="C8102E"/>
                </a:solidFill>
                <a:latin typeface="Cambria" pitchFamily="34" charset="0"/>
                <a:ea typeface="Cambria" pitchFamily="34" charset="-122"/>
                <a:cs typeface="Cambria" pitchFamily="34" charset="-120"/>
              </a:rPr>
              <a:t>What it costs</a:t>
            </a:r>
            <a:endParaRPr lang="en-US" sz="1500" dirty="0"/>
          </a:p>
        </p:txBody>
      </p:sp>
      <p:sp>
        <p:nvSpPr>
          <p:cNvPr id="12" name="Text 10"/>
          <p:cNvSpPr/>
          <p:nvPr/>
        </p:nvSpPr>
        <p:spPr>
          <a:xfrm>
            <a:off x="6565392" y="3364992"/>
            <a:ext cx="4828032" cy="14630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C4047"/>
                </a:solidFill>
                <a:latin typeface="Calibri" pitchFamily="34" charset="0"/>
                <a:ea typeface="Calibri" pitchFamily="34" charset="-122"/>
                <a:cs typeface="Calibri" pitchFamily="34" charset="-120"/>
              </a:rPr>
              <a:t>You must store a full model: |S| × |A| × |S| numbers.</a:t>
            </a:r>
            <a:endParaRPr lang="en-US" sz="1250" dirty="0"/>
          </a:p>
          <a:p>
            <a:pPr marL="177800" indent="-177800">
              <a:spcAft>
                <a:spcPts val="800"/>
              </a:spcAft>
              <a:buSzPct val="100000"/>
              <a:buChar char="•"/>
            </a:pPr>
            <a:r>
              <a:rPr lang="en-US" sz="1250" dirty="0">
                <a:solidFill>
                  <a:srgbClr val="3C4047"/>
                </a:solidFill>
                <a:latin typeface="Calibri" pitchFamily="34" charset="0"/>
                <a:ea typeface="Calibri" pitchFamily="34" charset="-122"/>
                <a:cs typeface="Calibri" pitchFamily="34" charset="-120"/>
              </a:rPr>
              <a:t>You must re-run a full solve every time the model changes materially.</a:t>
            </a:r>
            <a:endParaRPr lang="en-US" sz="1250" dirty="0"/>
          </a:p>
          <a:p>
            <a:pPr marL="177800" indent="-177800">
              <a:spcAft>
                <a:spcPts val="800"/>
              </a:spcAft>
              <a:buSzPct val="100000"/>
              <a:buChar char="•"/>
            </a:pPr>
            <a:r>
              <a:rPr lang="en-US" sz="1250" dirty="0">
                <a:solidFill>
                  <a:srgbClr val="3C4047"/>
                </a:solidFill>
                <a:latin typeface="Calibri" pitchFamily="34" charset="0"/>
                <a:ea typeface="Calibri" pitchFamily="34" charset="-122"/>
                <a:cs typeface="Calibri" pitchFamily="34" charset="-120"/>
              </a:rPr>
              <a:t>Both costs scale with the state space, which is exactly what gets large.</a:t>
            </a:r>
            <a:endParaRPr lang="en-US" sz="1250" dirty="0"/>
          </a:p>
        </p:txBody>
      </p:sp>
      <p:sp>
        <p:nvSpPr>
          <p:cNvPr id="13" name="Shape 11"/>
          <p:cNvSpPr/>
          <p:nvPr/>
        </p:nvSpPr>
        <p:spPr>
          <a:xfrm>
            <a:off x="566928" y="5212080"/>
            <a:ext cx="11057839" cy="603504"/>
          </a:xfrm>
          <a:prstGeom prst="roundRect">
            <a:avLst>
              <a:gd name="adj" fmla="val 13636"/>
            </a:avLst>
          </a:prstGeom>
          <a:solidFill>
            <a:srgbClr val="FBEAED"/>
          </a:solidFill>
          <a:ln/>
        </p:spPr>
      </p:sp>
      <p:sp>
        <p:nvSpPr>
          <p:cNvPr id="14" name="Shape 12"/>
          <p:cNvSpPr/>
          <p:nvPr/>
        </p:nvSpPr>
        <p:spPr>
          <a:xfrm>
            <a:off x="786384" y="5422392"/>
            <a:ext cx="182880" cy="182880"/>
          </a:xfrm>
          <a:prstGeom prst="ellipse">
            <a:avLst/>
          </a:prstGeom>
          <a:solidFill>
            <a:srgbClr val="C8102E"/>
          </a:solidFill>
          <a:ln/>
        </p:spPr>
      </p:sp>
      <p:sp>
        <p:nvSpPr>
          <p:cNvPr id="15" name="Text 13"/>
          <p:cNvSpPr/>
          <p:nvPr/>
        </p:nvSpPr>
        <p:spPr>
          <a:xfrm>
            <a:off x="1115568" y="5212080"/>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Solving the learned MDP is the easy half. Getting a trustworthy model is the hard half.</a:t>
            </a:r>
            <a:endParaRPr lang="en-US" sz="1450" dirty="0"/>
          </a:p>
        </p:txBody>
      </p:sp>
      <p:sp>
        <p:nvSpPr>
          <p:cNvPr id="16" name="Text 1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7" name="Text 1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Four things wrong with model-based learning</a:t>
            </a:r>
            <a:endParaRPr lang="en-US" sz="3000" dirty="0"/>
          </a:p>
        </p:txBody>
      </p:sp>
      <p:sp>
        <p:nvSpPr>
          <p:cNvPr id="3" name="Shape 1"/>
          <p:cNvSpPr/>
          <p:nvPr/>
        </p:nvSpPr>
        <p:spPr>
          <a:xfrm>
            <a:off x="566928" y="1481328"/>
            <a:ext cx="11057839" cy="1005840"/>
          </a:xfrm>
          <a:prstGeom prst="roundRect">
            <a:avLst>
              <a:gd name="adj" fmla="val 8182"/>
            </a:avLst>
          </a:prstGeom>
          <a:solidFill>
            <a:srgbClr val="F4F5F6"/>
          </a:solidFill>
          <a:ln/>
        </p:spPr>
      </p:sp>
      <p:sp>
        <p:nvSpPr>
          <p:cNvPr id="4" name="Shape 2"/>
          <p:cNvSpPr/>
          <p:nvPr/>
        </p:nvSpPr>
        <p:spPr>
          <a:xfrm>
            <a:off x="841248" y="1783080"/>
            <a:ext cx="402336" cy="402336"/>
          </a:xfrm>
          <a:prstGeom prst="ellipse">
            <a:avLst/>
          </a:prstGeom>
          <a:solidFill>
            <a:srgbClr val="C8102E"/>
          </a:solidFill>
          <a:ln/>
        </p:spPr>
      </p:sp>
      <p:sp>
        <p:nvSpPr>
          <p:cNvPr id="5" name="Text 3"/>
          <p:cNvSpPr/>
          <p:nvPr/>
        </p:nvSpPr>
        <p:spPr>
          <a:xfrm>
            <a:off x="841248" y="17830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481328" y="1609344"/>
            <a:ext cx="3200400" cy="384048"/>
          </a:xfrm>
          <a:prstGeom prst="rect">
            <a:avLst/>
          </a:prstGeom>
          <a:noFill/>
          <a:ln/>
        </p:spPr>
        <p:txBody>
          <a:bodyPr wrap="square" lIns="0" tIns="0" rIns="0" bIns="0" rtlCol="0" anchor="ctr"/>
          <a:lstStyle/>
          <a:p>
            <a:pPr indent="0" marL="0">
              <a:buNone/>
            </a:pPr>
            <a:r>
              <a:rPr lang="en-US" sz="1550" b="1" dirty="0">
                <a:solidFill>
                  <a:srgbClr val="22252A"/>
                </a:solidFill>
                <a:latin typeface="Calibri" pitchFamily="34" charset="0"/>
                <a:ea typeface="Calibri" pitchFamily="34" charset="-122"/>
                <a:cs typeface="Calibri" pitchFamily="34" charset="-120"/>
              </a:rPr>
              <a:t>Small-sample noise</a:t>
            </a:r>
            <a:endParaRPr lang="en-US" sz="1550" dirty="0"/>
          </a:p>
        </p:txBody>
      </p:sp>
      <p:sp>
        <p:nvSpPr>
          <p:cNvPr id="7" name="Text 5"/>
          <p:cNvSpPr/>
          <p:nvPr/>
        </p:nvSpPr>
        <p:spPr>
          <a:xfrm>
            <a:off x="4773168" y="1481328"/>
            <a:ext cx="6583680" cy="1005840"/>
          </a:xfrm>
          <a:prstGeom prst="rect">
            <a:avLst/>
          </a:prstGeom>
          <a:noFill/>
          <a:ln/>
        </p:spPr>
        <p:txBody>
          <a:bodyPr wrap="square" lIns="0" tIns="0" rIns="0" bIns="0" rtlCol="0" anchor="ctr"/>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Estimates built from a handful of visits can be badly wrong, and there are a lot of (s, a) pairs to cover.</a:t>
            </a:r>
            <a:endParaRPr lang="en-US" sz="1300" dirty="0"/>
          </a:p>
        </p:txBody>
      </p:sp>
      <p:sp>
        <p:nvSpPr>
          <p:cNvPr id="8" name="Shape 6"/>
          <p:cNvSpPr/>
          <p:nvPr/>
        </p:nvSpPr>
        <p:spPr>
          <a:xfrm>
            <a:off x="566928" y="2596896"/>
            <a:ext cx="11057839" cy="1005840"/>
          </a:xfrm>
          <a:prstGeom prst="roundRect">
            <a:avLst>
              <a:gd name="adj" fmla="val 8182"/>
            </a:avLst>
          </a:prstGeom>
          <a:solidFill>
            <a:srgbClr val="F4F5F6"/>
          </a:solidFill>
          <a:ln/>
        </p:spPr>
      </p:sp>
      <p:sp>
        <p:nvSpPr>
          <p:cNvPr id="9" name="Shape 7"/>
          <p:cNvSpPr/>
          <p:nvPr/>
        </p:nvSpPr>
        <p:spPr>
          <a:xfrm>
            <a:off x="841248" y="2898648"/>
            <a:ext cx="402336" cy="402336"/>
          </a:xfrm>
          <a:prstGeom prst="ellipse">
            <a:avLst/>
          </a:prstGeom>
          <a:solidFill>
            <a:srgbClr val="C8102E"/>
          </a:solidFill>
          <a:ln/>
        </p:spPr>
      </p:sp>
      <p:sp>
        <p:nvSpPr>
          <p:cNvPr id="10" name="Text 8"/>
          <p:cNvSpPr/>
          <p:nvPr/>
        </p:nvSpPr>
        <p:spPr>
          <a:xfrm>
            <a:off x="841248" y="2898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481328" y="2724912"/>
            <a:ext cx="3200400" cy="384048"/>
          </a:xfrm>
          <a:prstGeom prst="rect">
            <a:avLst/>
          </a:prstGeom>
          <a:noFill/>
          <a:ln/>
        </p:spPr>
        <p:txBody>
          <a:bodyPr wrap="square" lIns="0" tIns="0" rIns="0" bIns="0" rtlCol="0" anchor="ctr"/>
          <a:lstStyle/>
          <a:p>
            <a:pPr indent="0" marL="0">
              <a:buNone/>
            </a:pPr>
            <a:r>
              <a:rPr lang="en-US" sz="1550" b="1" dirty="0">
                <a:solidFill>
                  <a:srgbClr val="22252A"/>
                </a:solidFill>
                <a:latin typeface="Calibri" pitchFamily="34" charset="0"/>
                <a:ea typeface="Calibri" pitchFamily="34" charset="-122"/>
                <a:cs typeface="Calibri" pitchFamily="34" charset="-120"/>
              </a:rPr>
              <a:t>No coverage guarantee</a:t>
            </a:r>
            <a:endParaRPr lang="en-US" sz="1550" dirty="0"/>
          </a:p>
        </p:txBody>
      </p:sp>
      <p:sp>
        <p:nvSpPr>
          <p:cNvPr id="12" name="Text 10"/>
          <p:cNvSpPr/>
          <p:nvPr/>
        </p:nvSpPr>
        <p:spPr>
          <a:xfrm>
            <a:off x="4773168" y="2596896"/>
            <a:ext cx="6583680" cy="1005840"/>
          </a:xfrm>
          <a:prstGeom prst="rect">
            <a:avLst/>
          </a:prstGeom>
          <a:noFill/>
          <a:ln/>
        </p:spPr>
        <p:txBody>
          <a:bodyPr wrap="square" lIns="0" tIns="0" rIns="0" bIns="0" rtlCol="0" anchor="ctr"/>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States the given policy never visits are simply blank. Nothing here ensures the experience stream covers what you need.</a:t>
            </a:r>
            <a:endParaRPr lang="en-US" sz="1300" dirty="0"/>
          </a:p>
        </p:txBody>
      </p:sp>
      <p:sp>
        <p:nvSpPr>
          <p:cNvPr id="13" name="Shape 11"/>
          <p:cNvSpPr/>
          <p:nvPr/>
        </p:nvSpPr>
        <p:spPr>
          <a:xfrm>
            <a:off x="566928" y="3712464"/>
            <a:ext cx="11057839" cy="1005840"/>
          </a:xfrm>
          <a:prstGeom prst="roundRect">
            <a:avLst>
              <a:gd name="adj" fmla="val 8182"/>
            </a:avLst>
          </a:prstGeom>
          <a:solidFill>
            <a:srgbClr val="F4F5F6"/>
          </a:solidFill>
          <a:ln/>
        </p:spPr>
      </p:sp>
      <p:sp>
        <p:nvSpPr>
          <p:cNvPr id="14" name="Shape 12"/>
          <p:cNvSpPr/>
          <p:nvPr/>
        </p:nvSpPr>
        <p:spPr>
          <a:xfrm>
            <a:off x="841248" y="4014216"/>
            <a:ext cx="402336" cy="402336"/>
          </a:xfrm>
          <a:prstGeom prst="ellipse">
            <a:avLst/>
          </a:prstGeom>
          <a:solidFill>
            <a:srgbClr val="C8102E"/>
          </a:solidFill>
          <a:ln/>
        </p:spPr>
      </p:sp>
      <p:sp>
        <p:nvSpPr>
          <p:cNvPr id="15" name="Text 13"/>
          <p:cNvSpPr/>
          <p:nvPr/>
        </p:nvSpPr>
        <p:spPr>
          <a:xfrm>
            <a:off x="841248" y="4014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481328" y="3840480"/>
            <a:ext cx="3200400" cy="384048"/>
          </a:xfrm>
          <a:prstGeom prst="rect">
            <a:avLst/>
          </a:prstGeom>
          <a:noFill/>
          <a:ln/>
        </p:spPr>
        <p:txBody>
          <a:bodyPr wrap="square" lIns="0" tIns="0" rIns="0" bIns="0" rtlCol="0" anchor="ctr"/>
          <a:lstStyle/>
          <a:p>
            <a:pPr indent="0" marL="0">
              <a:buNone/>
            </a:pPr>
            <a:r>
              <a:rPr lang="en-US" sz="1550" b="1" dirty="0">
                <a:solidFill>
                  <a:srgbClr val="22252A"/>
                </a:solidFill>
                <a:latin typeface="Calibri" pitchFamily="34" charset="0"/>
                <a:ea typeface="Calibri" pitchFamily="34" charset="-122"/>
                <a:cs typeface="Calibri" pitchFamily="34" charset="-120"/>
              </a:rPr>
              <a:t>Real consequences</a:t>
            </a:r>
            <a:endParaRPr lang="en-US" sz="1550" dirty="0"/>
          </a:p>
        </p:txBody>
      </p:sp>
      <p:sp>
        <p:nvSpPr>
          <p:cNvPr id="17" name="Text 15"/>
          <p:cNvSpPr/>
          <p:nvPr/>
        </p:nvSpPr>
        <p:spPr>
          <a:xfrm>
            <a:off x="4773168" y="3712464"/>
            <a:ext cx="6583680" cy="1005840"/>
          </a:xfrm>
          <a:prstGeom prst="rect">
            <a:avLst/>
          </a:prstGeom>
          <a:noFill/>
          <a:ln/>
        </p:spPr>
        <p:txBody>
          <a:bodyPr wrap="square" lIns="0" tIns="0" rIns="0" bIns="0" rtlCol="0" anchor="ctr"/>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You are not in a simulator. A badly estimated action can collect a large negative reward for real. Fine for card games, expensive for drones.</a:t>
            </a:r>
            <a:endParaRPr lang="en-US" sz="1300" dirty="0"/>
          </a:p>
        </p:txBody>
      </p:sp>
      <p:sp>
        <p:nvSpPr>
          <p:cNvPr id="18" name="Shape 16"/>
          <p:cNvSpPr/>
          <p:nvPr/>
        </p:nvSpPr>
        <p:spPr>
          <a:xfrm>
            <a:off x="566928" y="4828032"/>
            <a:ext cx="11057839" cy="1005840"/>
          </a:xfrm>
          <a:prstGeom prst="roundRect">
            <a:avLst>
              <a:gd name="adj" fmla="val 8182"/>
            </a:avLst>
          </a:prstGeom>
          <a:solidFill>
            <a:srgbClr val="F4F5F6"/>
          </a:solidFill>
          <a:ln/>
        </p:spPr>
      </p:sp>
      <p:sp>
        <p:nvSpPr>
          <p:cNvPr id="19" name="Shape 17"/>
          <p:cNvSpPr/>
          <p:nvPr/>
        </p:nvSpPr>
        <p:spPr>
          <a:xfrm>
            <a:off x="841248" y="5129784"/>
            <a:ext cx="402336" cy="402336"/>
          </a:xfrm>
          <a:prstGeom prst="ellipse">
            <a:avLst/>
          </a:prstGeom>
          <a:solidFill>
            <a:srgbClr val="C8102E"/>
          </a:solidFill>
          <a:ln/>
        </p:spPr>
      </p:sp>
      <p:sp>
        <p:nvSpPr>
          <p:cNvPr id="20" name="Text 18"/>
          <p:cNvSpPr/>
          <p:nvPr/>
        </p:nvSpPr>
        <p:spPr>
          <a:xfrm>
            <a:off x="841248" y="5129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481328" y="4956048"/>
            <a:ext cx="3200400" cy="384048"/>
          </a:xfrm>
          <a:prstGeom prst="rect">
            <a:avLst/>
          </a:prstGeom>
          <a:noFill/>
          <a:ln/>
        </p:spPr>
        <p:txBody>
          <a:bodyPr wrap="square" lIns="0" tIns="0" rIns="0" bIns="0" rtlCol="0" anchor="ctr"/>
          <a:lstStyle/>
          <a:p>
            <a:pPr indent="0" marL="0">
              <a:buNone/>
            </a:pPr>
            <a:r>
              <a:rPr lang="en-US" sz="1550" b="1" dirty="0">
                <a:solidFill>
                  <a:srgbClr val="22252A"/>
                </a:solidFill>
                <a:latin typeface="Calibri" pitchFamily="34" charset="0"/>
                <a:ea typeface="Calibri" pitchFamily="34" charset="-122"/>
                <a:cs typeface="Calibri" pitchFamily="34" charset="-120"/>
              </a:rPr>
              <a:t>No way to go get data</a:t>
            </a:r>
            <a:endParaRPr lang="en-US" sz="1550" dirty="0"/>
          </a:p>
        </p:txBody>
      </p:sp>
      <p:sp>
        <p:nvSpPr>
          <p:cNvPr id="22" name="Text 20"/>
          <p:cNvSpPr/>
          <p:nvPr/>
        </p:nvSpPr>
        <p:spPr>
          <a:xfrm>
            <a:off x="4773168" y="4828032"/>
            <a:ext cx="6583680" cy="1005840"/>
          </a:xfrm>
          <a:prstGeom prst="rect">
            <a:avLst/>
          </a:prstGeom>
          <a:noFill/>
          <a:ln/>
        </p:spPr>
        <p:txBody>
          <a:bodyPr wrap="square" lIns="0" tIns="0" rIns="0" bIns="0" rtlCol="0" anchor="ctr"/>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If you decide you need better statistics at C, this framework has nothing to say about how to get back to C. It describes learning from experience, not seeking it.</a:t>
            </a:r>
            <a:endParaRPr lang="en-US" sz="1300" dirty="0"/>
          </a:p>
        </p:txBody>
      </p:sp>
      <p:sp>
        <p:nvSpPr>
          <p:cNvPr id="23" name="Shape 21"/>
          <p:cNvSpPr/>
          <p:nvPr/>
        </p:nvSpPr>
        <p:spPr>
          <a:xfrm>
            <a:off x="566928" y="5669280"/>
            <a:ext cx="11057839" cy="603504"/>
          </a:xfrm>
          <a:prstGeom prst="roundRect">
            <a:avLst>
              <a:gd name="adj" fmla="val 13636"/>
            </a:avLst>
          </a:prstGeom>
          <a:solidFill>
            <a:srgbClr val="FBEAED"/>
          </a:solidFill>
          <a:ln/>
        </p:spPr>
      </p:sp>
      <p:sp>
        <p:nvSpPr>
          <p:cNvPr id="24" name="Shape 22"/>
          <p:cNvSpPr/>
          <p:nvPr/>
        </p:nvSpPr>
        <p:spPr>
          <a:xfrm>
            <a:off x="786384" y="5879592"/>
            <a:ext cx="182880" cy="182880"/>
          </a:xfrm>
          <a:prstGeom prst="ellipse">
            <a:avLst/>
          </a:prstGeom>
          <a:solidFill>
            <a:srgbClr val="C8102E"/>
          </a:solidFill>
          <a:ln/>
        </p:spPr>
      </p:sp>
      <p:sp>
        <p:nvSpPr>
          <p:cNvPr id="25" name="Text 23"/>
          <p:cNvSpPr/>
          <p:nvPr/>
        </p:nvSpPr>
        <p:spPr>
          <a:xfrm>
            <a:off x="1115568" y="5669280"/>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Problem 4 is the one we cannot fix today. It becomes the exploration problem, and it is where this lecture ends.</a:t>
            </a:r>
            <a:endParaRPr lang="en-US" sz="1450" dirty="0"/>
          </a:p>
        </p:txBody>
      </p:sp>
      <p:sp>
        <p:nvSpPr>
          <p:cNvPr id="26" name="Text 2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7" name="Text 2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566928" y="2212848"/>
            <a:ext cx="960120" cy="960120"/>
          </a:xfrm>
          <a:prstGeom prst="ellipse">
            <a:avLst/>
          </a:prstGeom>
          <a:solidFill>
            <a:srgbClr val="C8102E"/>
          </a:solidFill>
          <a:ln/>
        </p:spPr>
      </p:sp>
      <p:sp>
        <p:nvSpPr>
          <p:cNvPr id="3" name="Text 1"/>
          <p:cNvSpPr/>
          <p:nvPr/>
        </p:nvSpPr>
        <p:spPr>
          <a:xfrm>
            <a:off x="566928" y="2212848"/>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4</a:t>
            </a:r>
            <a:endParaRPr lang="en-US" sz="3400" dirty="0"/>
          </a:p>
        </p:txBody>
      </p:sp>
      <p:sp>
        <p:nvSpPr>
          <p:cNvPr id="4" name="Text 2"/>
          <p:cNvSpPr/>
          <p:nvPr/>
        </p:nvSpPr>
        <p:spPr>
          <a:xfrm>
            <a:off x="566928" y="3401568"/>
            <a:ext cx="9509760" cy="84124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Model-free learning</a:t>
            </a:r>
            <a:endParaRPr lang="en-US" sz="3800" dirty="0"/>
          </a:p>
        </p:txBody>
      </p:sp>
      <p:sp>
        <p:nvSpPr>
          <p:cNvPr id="5" name="Text 3"/>
          <p:cNvSpPr/>
          <p:nvPr/>
        </p:nvSpPr>
        <p:spPr>
          <a:xfrm>
            <a:off x="566928" y="4315968"/>
            <a:ext cx="8778240" cy="731520"/>
          </a:xfrm>
          <a:prstGeom prst="rect">
            <a:avLst/>
          </a:prstGeom>
          <a:noFill/>
          <a:ln/>
        </p:spPr>
        <p:txBody>
          <a:bodyPr wrap="square" lIns="0" tIns="0" rIns="0" bIns="0" rtlCol="0" anchor="t"/>
          <a:lstStyle/>
          <a:p>
            <a:pPr indent="0" marL="0">
              <a:lnSpc>
                <a:spcPct val="115000"/>
              </a:lnSpc>
              <a:buNone/>
            </a:pPr>
            <a:r>
              <a:rPr lang="en-US" sz="1550" dirty="0">
                <a:solidFill>
                  <a:srgbClr val="C3C7CB"/>
                </a:solidFill>
                <a:latin typeface="Calibri" pitchFamily="34" charset="0"/>
                <a:ea typeface="Calibri" pitchFamily="34" charset="-122"/>
                <a:cs typeface="Calibri" pitchFamily="34" charset="-120"/>
              </a:rPr>
              <a:t>You do not need a distribution to compute an average. You only need samples.</a:t>
            </a:r>
            <a:endParaRPr lang="en-US" sz="1550" dirty="0"/>
          </a:p>
        </p:txBody>
      </p:sp>
      <p:sp>
        <p:nvSpPr>
          <p:cNvPr id="6" name="Text 4"/>
          <p:cNvSpPr/>
          <p:nvPr/>
        </p:nvSpPr>
        <p:spPr>
          <a:xfrm>
            <a:off x="7418527" y="2304288"/>
            <a:ext cx="4206240" cy="365760"/>
          </a:xfrm>
          <a:prstGeom prst="rect">
            <a:avLst/>
          </a:prstGeom>
          <a:noFill/>
          <a:ln/>
        </p:spPr>
        <p:txBody>
          <a:bodyPr wrap="square" lIns="0" tIns="0" rIns="0" bIns="0" rtlCol="0" anchor="ctr"/>
          <a:lstStyle/>
          <a:p>
            <a:pPr algn="r" indent="0" marL="0">
              <a:buNone/>
            </a:pPr>
            <a:r>
              <a:rPr lang="en-US" sz="1200" dirty="0">
                <a:solidFill>
                  <a:srgbClr val="A7A8AA"/>
                </a:solidFill>
                <a:latin typeface="Calibri" pitchFamily="34" charset="0"/>
                <a:ea typeface="Calibri" pitchFamily="34" charset="-122"/>
                <a:cs typeface="Calibri" pitchFamily="34" charset="-120"/>
              </a:rPr>
              <a:t>AIMA 22.2</a:t>
            </a:r>
            <a:endParaRPr lang="en-US" sz="1200" dirty="0"/>
          </a:p>
        </p:txBody>
      </p:sp>
      <p:sp>
        <p:nvSpPr>
          <p:cNvPr id="7"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8"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Expected age of a COMP 469 section</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A DETOUR WORTH TAKING</a:t>
            </a:r>
            <a:endParaRPr lang="en-US" sz="1050" dirty="0"/>
          </a:p>
        </p:txBody>
      </p:sp>
      <p:sp>
        <p:nvSpPr>
          <p:cNvPr id="4" name="Text 2"/>
          <p:cNvSpPr/>
          <p:nvPr/>
        </p:nvSpPr>
        <p:spPr>
          <a:xfrm>
            <a:off x="566928" y="1261872"/>
            <a:ext cx="11057839" cy="658368"/>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Forget MDPs for four minutes. Suppose I want the average age of the people in this room. There are two honest ways to get it, and the difference between them is the difference between the two halves of this lecture.</a:t>
            </a:r>
            <a:endParaRPr lang="en-US" sz="1500" dirty="0"/>
          </a:p>
        </p:txBody>
      </p:sp>
      <p:sp>
        <p:nvSpPr>
          <p:cNvPr id="5" name="Shape 3"/>
          <p:cNvSpPr/>
          <p:nvPr/>
        </p:nvSpPr>
        <p:spPr>
          <a:xfrm>
            <a:off x="566928" y="2029968"/>
            <a:ext cx="11057839" cy="859536"/>
          </a:xfrm>
          <a:prstGeom prst="roundRect">
            <a:avLst>
              <a:gd name="adj" fmla="val 9574"/>
            </a:avLst>
          </a:prstGeom>
          <a:solidFill>
            <a:srgbClr val="E8F2ED"/>
          </a:solidFill>
          <a:ln/>
        </p:spPr>
      </p:sp>
      <p:sp>
        <p:nvSpPr>
          <p:cNvPr id="6" name="Text 4"/>
          <p:cNvSpPr/>
          <p:nvPr/>
        </p:nvSpPr>
        <p:spPr>
          <a:xfrm>
            <a:off x="859536" y="2121408"/>
            <a:ext cx="4023360" cy="310896"/>
          </a:xfrm>
          <a:prstGeom prst="rect">
            <a:avLst/>
          </a:prstGeom>
          <a:noFill/>
          <a:ln/>
        </p:spPr>
        <p:txBody>
          <a:bodyPr wrap="square" lIns="0" tIns="0" rIns="0" bIns="0" rtlCol="0" anchor="ctr"/>
          <a:lstStyle/>
          <a:p>
            <a:pPr indent="0" marL="0">
              <a:buNone/>
            </a:pPr>
            <a:r>
              <a:rPr lang="en-US" sz="1350" b="1" dirty="0">
                <a:solidFill>
                  <a:srgbClr val="1B7F5A"/>
                </a:solidFill>
                <a:latin typeface="Calibri" pitchFamily="34" charset="0"/>
                <a:ea typeface="Calibri" pitchFamily="34" charset="-122"/>
                <a:cs typeface="Calibri" pitchFamily="34" charset="-120"/>
              </a:rPr>
              <a:t>If I already knew P(age)</a:t>
            </a:r>
            <a:endParaRPr lang="en-US" sz="1350" dirty="0"/>
          </a:p>
        </p:txBody>
      </p:sp>
      <p:sp>
        <p:nvSpPr>
          <p:cNvPr id="7" name="Text 5"/>
          <p:cNvSpPr/>
          <p:nvPr/>
        </p:nvSpPr>
        <p:spPr>
          <a:xfrm>
            <a:off x="859536" y="2432304"/>
            <a:ext cx="10472623" cy="365760"/>
          </a:xfrm>
          <a:prstGeom prst="rect">
            <a:avLst/>
          </a:prstGeom>
          <a:noFill/>
          <a:ln/>
        </p:spPr>
        <p:txBody>
          <a:bodyPr wrap="square" lIns="0" tIns="0" rIns="0" bIns="0" rtlCol="0" anchor="ctr"/>
          <a:lstStyle/>
          <a:p>
            <a:pPr indent="0" marL="0">
              <a:buNone/>
            </a:pPr>
            <a:r>
              <a:rPr lang="en-US" sz="1600" b="1" dirty="0">
                <a:solidFill>
                  <a:srgbClr val="22252A"/>
                </a:solidFill>
                <a:latin typeface="Cambria" pitchFamily="34" charset="0"/>
                <a:ea typeface="Cambria" pitchFamily="34" charset="-122"/>
                <a:cs typeface="Cambria" pitchFamily="34" charset="-120"/>
              </a:rPr>
              <a:t>E[A]  =  Σₐ  P(a) · a          =   0.35 × 20  +  0.25 × 21  +  …</a:t>
            </a:r>
            <a:endParaRPr lang="en-US" sz="1600" dirty="0"/>
          </a:p>
        </p:txBody>
      </p:sp>
      <p:sp>
        <p:nvSpPr>
          <p:cNvPr id="8" name="Text 6"/>
          <p:cNvSpPr/>
          <p:nvPr/>
        </p:nvSpPr>
        <p:spPr>
          <a:xfrm>
            <a:off x="7418527" y="2121408"/>
            <a:ext cx="3931920" cy="310896"/>
          </a:xfrm>
          <a:prstGeom prst="rect">
            <a:avLst/>
          </a:prstGeom>
          <a:noFill/>
          <a:ln/>
        </p:spPr>
        <p:txBody>
          <a:bodyPr wrap="square" lIns="0" tIns="0" rIns="0" bIns="0" rtlCol="0" anchor="ctr"/>
          <a:lstStyle/>
          <a:p>
            <a:pPr algn="r" indent="0" marL="0">
              <a:buNone/>
            </a:pPr>
            <a:r>
              <a:rPr lang="en-US" sz="1200" i="1" dirty="0">
                <a:solidFill>
                  <a:srgbClr val="1B7F5A"/>
                </a:solidFill>
                <a:latin typeface="Calibri" pitchFamily="34" charset="0"/>
                <a:ea typeface="Calibri" pitchFamily="34" charset="-122"/>
                <a:cs typeface="Calibri" pitchFamily="34" charset="-120"/>
              </a:rPr>
              <a:t>a weighted average, and I need the weights</a:t>
            </a:r>
            <a:endParaRPr lang="en-US" sz="1200" dirty="0"/>
          </a:p>
        </p:txBody>
      </p:sp>
      <p:sp>
        <p:nvSpPr>
          <p:cNvPr id="9" name="Text 7"/>
          <p:cNvSpPr/>
          <p:nvPr/>
        </p:nvSpPr>
        <p:spPr>
          <a:xfrm>
            <a:off x="566928" y="3072384"/>
            <a:ext cx="11057839" cy="402336"/>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But I do not know P(age). All I can do is go around the room and ask. That gives me a stream of raw samples:</a:t>
            </a:r>
            <a:endParaRPr lang="en-US" sz="1500" dirty="0"/>
          </a:p>
        </p:txBody>
      </p:sp>
      <p:sp>
        <p:nvSpPr>
          <p:cNvPr id="10" name="Shape 8"/>
          <p:cNvSpPr/>
          <p:nvPr/>
        </p:nvSpPr>
        <p:spPr>
          <a:xfrm>
            <a:off x="566928" y="3584448"/>
            <a:ext cx="11057839" cy="658368"/>
          </a:xfrm>
          <a:prstGeom prst="roundRect">
            <a:avLst>
              <a:gd name="adj" fmla="val 12500"/>
            </a:avLst>
          </a:prstGeom>
          <a:solidFill>
            <a:srgbClr val="F4F5F6"/>
          </a:solidFill>
          <a:ln/>
        </p:spPr>
      </p:sp>
      <p:sp>
        <p:nvSpPr>
          <p:cNvPr id="11" name="Text 9"/>
          <p:cNvSpPr/>
          <p:nvPr/>
        </p:nvSpPr>
        <p:spPr>
          <a:xfrm>
            <a:off x="731520" y="3584448"/>
            <a:ext cx="10728655" cy="658368"/>
          </a:xfrm>
          <a:prstGeom prst="rect">
            <a:avLst/>
          </a:prstGeom>
          <a:noFill/>
          <a:ln/>
        </p:spPr>
        <p:txBody>
          <a:bodyPr wrap="square" lIns="0" tIns="0" rIns="0" bIns="0" rtlCol="0" anchor="ctr"/>
          <a:lstStyle/>
          <a:p>
            <a:pPr algn="ctr" indent="0" marL="0">
              <a:buNone/>
            </a:pPr>
            <a:r>
              <a:rPr lang="en-US" sz="2000" b="1" dirty="0">
                <a:solidFill>
                  <a:srgbClr val="22252A"/>
                </a:solidFill>
                <a:latin typeface="Cambria" pitchFamily="34" charset="0"/>
                <a:ea typeface="Cambria" pitchFamily="34" charset="-122"/>
                <a:cs typeface="Cambria" pitchFamily="34" charset="-120"/>
              </a:rPr>
              <a:t>[ a₁,  a₂,  a₃,  …,  aₙ ]</a:t>
            </a:r>
            <a:endParaRPr lang="en-US" sz="2000" dirty="0"/>
          </a:p>
        </p:txBody>
      </p:sp>
      <p:sp>
        <p:nvSpPr>
          <p:cNvPr id="12" name="Shape 10"/>
          <p:cNvSpPr/>
          <p:nvPr/>
        </p:nvSpPr>
        <p:spPr>
          <a:xfrm>
            <a:off x="566928" y="4443984"/>
            <a:ext cx="5358384" cy="1572768"/>
          </a:xfrm>
          <a:prstGeom prst="roundRect">
            <a:avLst>
              <a:gd name="adj" fmla="val 5233"/>
            </a:avLst>
          </a:prstGeom>
          <a:solidFill>
            <a:srgbClr val="E7EEF6"/>
          </a:solidFill>
          <a:ln/>
        </p:spPr>
      </p:sp>
      <p:sp>
        <p:nvSpPr>
          <p:cNvPr id="13" name="Text 11"/>
          <p:cNvSpPr/>
          <p:nvPr/>
        </p:nvSpPr>
        <p:spPr>
          <a:xfrm>
            <a:off x="822960" y="4553712"/>
            <a:ext cx="4846320" cy="329184"/>
          </a:xfrm>
          <a:prstGeom prst="rect">
            <a:avLst/>
          </a:prstGeom>
          <a:noFill/>
          <a:ln/>
        </p:spPr>
        <p:txBody>
          <a:bodyPr wrap="square" lIns="0" tIns="0" rIns="0" bIns="0" rtlCol="0" anchor="ctr"/>
          <a:lstStyle/>
          <a:p>
            <a:pPr indent="0" marL="0">
              <a:buNone/>
            </a:pPr>
            <a:r>
              <a:rPr lang="en-US" sz="1550" b="1" dirty="0">
                <a:solidFill>
                  <a:srgbClr val="1C5D99"/>
                </a:solidFill>
                <a:latin typeface="Cambria" pitchFamily="34" charset="0"/>
                <a:ea typeface="Cambria" pitchFamily="34" charset="-122"/>
                <a:cs typeface="Cambria" pitchFamily="34" charset="-120"/>
              </a:rPr>
              <a:t>Model-based</a:t>
            </a:r>
            <a:endParaRPr lang="en-US" sz="1550" dirty="0"/>
          </a:p>
        </p:txBody>
      </p:sp>
      <p:sp>
        <p:nvSpPr>
          <p:cNvPr id="14" name="Text 12"/>
          <p:cNvSpPr/>
          <p:nvPr/>
        </p:nvSpPr>
        <p:spPr>
          <a:xfrm>
            <a:off x="822960" y="4901184"/>
            <a:ext cx="4828032" cy="512064"/>
          </a:xfrm>
          <a:prstGeom prst="rect">
            <a:avLst/>
          </a:prstGeom>
          <a:noFill/>
          <a:ln/>
        </p:spPr>
        <p:txBody>
          <a:bodyPr wrap="square" lIns="0" tIns="0" rIns="0" bIns="0" rtlCol="0" anchor="t"/>
          <a:lstStyle/>
          <a:p>
            <a:pPr indent="0" marL="0">
              <a:buNone/>
            </a:pPr>
            <a:r>
              <a:rPr lang="en-US" sz="1250" dirty="0">
                <a:solidFill>
                  <a:srgbClr val="3C4047"/>
                </a:solidFill>
                <a:latin typeface="Calibri" pitchFamily="34" charset="0"/>
                <a:ea typeface="Calibri" pitchFamily="34" charset="-122"/>
                <a:cs typeface="Calibri" pitchFamily="34" charset="-120"/>
              </a:rPr>
              <a:t>Use the samples to estimate the distribution, then compute the expectation from it.</a:t>
            </a:r>
            <a:endParaRPr lang="en-US" sz="1250" dirty="0"/>
          </a:p>
        </p:txBody>
      </p:sp>
      <p:sp>
        <p:nvSpPr>
          <p:cNvPr id="15" name="Text 13"/>
          <p:cNvSpPr/>
          <p:nvPr/>
        </p:nvSpPr>
        <p:spPr>
          <a:xfrm>
            <a:off x="822960" y="5468112"/>
            <a:ext cx="4828032" cy="402336"/>
          </a:xfrm>
          <a:prstGeom prst="rect">
            <a:avLst/>
          </a:prstGeom>
          <a:noFill/>
          <a:ln/>
        </p:spPr>
        <p:txBody>
          <a:bodyPr wrap="square" lIns="0" tIns="0" rIns="0" bIns="0" rtlCol="0" anchor="ctr"/>
          <a:lstStyle/>
          <a:p>
            <a:pPr indent="0" marL="0">
              <a:buNone/>
            </a:pPr>
            <a:r>
              <a:rPr lang="en-US" sz="1350" b="1" dirty="0">
                <a:solidFill>
                  <a:srgbClr val="1C5D99"/>
                </a:solidFill>
                <a:latin typeface="Cambria" pitchFamily="34" charset="0"/>
                <a:ea typeface="Cambria" pitchFamily="34" charset="-122"/>
                <a:cs typeface="Cambria" pitchFamily="34" charset="-120"/>
              </a:rPr>
              <a:t>P̂(a) = num(a) / N        E[A] ≈ Σₐ P̂(a) · a</a:t>
            </a:r>
            <a:endParaRPr lang="en-US" sz="1350" dirty="0"/>
          </a:p>
        </p:txBody>
      </p:sp>
      <p:sp>
        <p:nvSpPr>
          <p:cNvPr id="16" name="Shape 14"/>
          <p:cNvSpPr/>
          <p:nvPr/>
        </p:nvSpPr>
        <p:spPr>
          <a:xfrm>
            <a:off x="6309360" y="4443984"/>
            <a:ext cx="5358384" cy="1572768"/>
          </a:xfrm>
          <a:prstGeom prst="roundRect">
            <a:avLst>
              <a:gd name="adj" fmla="val 5233"/>
            </a:avLst>
          </a:prstGeom>
          <a:solidFill>
            <a:srgbClr val="FBEAED"/>
          </a:solidFill>
          <a:ln/>
        </p:spPr>
      </p:sp>
      <p:sp>
        <p:nvSpPr>
          <p:cNvPr id="17" name="Text 15"/>
          <p:cNvSpPr/>
          <p:nvPr/>
        </p:nvSpPr>
        <p:spPr>
          <a:xfrm>
            <a:off x="6565392" y="4553712"/>
            <a:ext cx="4846320" cy="329184"/>
          </a:xfrm>
          <a:prstGeom prst="rect">
            <a:avLst/>
          </a:prstGeom>
          <a:noFill/>
          <a:ln/>
        </p:spPr>
        <p:txBody>
          <a:bodyPr wrap="square" lIns="0" tIns="0" rIns="0" bIns="0" rtlCol="0" anchor="ctr"/>
          <a:lstStyle/>
          <a:p>
            <a:pPr indent="0" marL="0">
              <a:buNone/>
            </a:pPr>
            <a:r>
              <a:rPr lang="en-US" sz="1550" b="1" dirty="0">
                <a:solidFill>
                  <a:srgbClr val="C8102E"/>
                </a:solidFill>
                <a:latin typeface="Cambria" pitchFamily="34" charset="0"/>
                <a:ea typeface="Cambria" pitchFamily="34" charset="-122"/>
                <a:cs typeface="Cambria" pitchFamily="34" charset="-120"/>
              </a:rPr>
              <a:t>Model-free</a:t>
            </a:r>
            <a:endParaRPr lang="en-US" sz="1550" dirty="0"/>
          </a:p>
        </p:txBody>
      </p:sp>
      <p:sp>
        <p:nvSpPr>
          <p:cNvPr id="18" name="Text 16"/>
          <p:cNvSpPr/>
          <p:nvPr/>
        </p:nvSpPr>
        <p:spPr>
          <a:xfrm>
            <a:off x="6565392" y="4901184"/>
            <a:ext cx="4828032" cy="512064"/>
          </a:xfrm>
          <a:prstGeom prst="rect">
            <a:avLst/>
          </a:prstGeom>
          <a:noFill/>
          <a:ln/>
        </p:spPr>
        <p:txBody>
          <a:bodyPr wrap="square" lIns="0" tIns="0" rIns="0" bIns="0" rtlCol="0" anchor="t"/>
          <a:lstStyle/>
          <a:p>
            <a:pPr indent="0" marL="0">
              <a:buNone/>
            </a:pPr>
            <a:r>
              <a:rPr lang="en-US" sz="1250" dirty="0">
                <a:solidFill>
                  <a:srgbClr val="3C4047"/>
                </a:solidFill>
                <a:latin typeface="Calibri" pitchFamily="34" charset="0"/>
                <a:ea typeface="Calibri" pitchFamily="34" charset="-122"/>
                <a:cs typeface="Calibri" pitchFamily="34" charset="-120"/>
              </a:rPr>
              <a:t>Skip the distribution entirely. Just average the numbers as they arrive.</a:t>
            </a:r>
            <a:endParaRPr lang="en-US" sz="1250" dirty="0"/>
          </a:p>
        </p:txBody>
      </p:sp>
      <p:sp>
        <p:nvSpPr>
          <p:cNvPr id="19" name="Text 17"/>
          <p:cNvSpPr/>
          <p:nvPr/>
        </p:nvSpPr>
        <p:spPr>
          <a:xfrm>
            <a:off x="6565392" y="5468112"/>
            <a:ext cx="4828032" cy="402336"/>
          </a:xfrm>
          <a:prstGeom prst="rect">
            <a:avLst/>
          </a:prstGeom>
          <a:noFill/>
          <a:ln/>
        </p:spPr>
        <p:txBody>
          <a:bodyPr wrap="square" lIns="0" tIns="0" rIns="0" bIns="0" rtlCol="0" anchor="ctr"/>
          <a:lstStyle/>
          <a:p>
            <a:pPr indent="0" marL="0">
              <a:buNone/>
            </a:pPr>
            <a:r>
              <a:rPr lang="en-US" sz="1350" b="1" dirty="0">
                <a:solidFill>
                  <a:srgbClr val="C8102E"/>
                </a:solidFill>
                <a:latin typeface="Cambria" pitchFamily="34" charset="0"/>
                <a:ea typeface="Cambria" pitchFamily="34" charset="-122"/>
                <a:cs typeface="Cambria" pitchFamily="34" charset="-120"/>
              </a:rPr>
              <a:t>E[A]  ≈  (1/N) Σᵢ aᵢ</a:t>
            </a:r>
            <a:endParaRPr lang="en-US" sz="1350" dirty="0"/>
          </a:p>
        </p:txBody>
      </p:sp>
      <p:sp>
        <p:nvSpPr>
          <p:cNvPr id="20" name="Text 18"/>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1" name="Text 19"/>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Why averaging raw samples gets the same answer</a:t>
            </a:r>
            <a:endParaRPr lang="en-US" sz="3000" dirty="0"/>
          </a:p>
        </p:txBody>
      </p:sp>
      <p:pic>
        <p:nvPicPr>
          <p:cNvPr id="3" name="Image 0" descr="/home/claude/comp469_rl/figures/fig06_expected_age.png">    </p:cNvPr>
          <p:cNvPicPr>
            <a:picLocks noChangeAspect="1"/>
          </p:cNvPicPr>
          <p:nvPr/>
        </p:nvPicPr>
        <p:blipFill>
          <a:blip r:embed="rId1"/>
          <a:srcRect l="0" r="0" t="0" b="0"/>
          <a:stretch/>
        </p:blipFill>
        <p:spPr>
          <a:xfrm>
            <a:off x="658368" y="1389888"/>
            <a:ext cx="10881360" cy="3017520"/>
          </a:xfrm>
          <a:prstGeom prst="rect">
            <a:avLst/>
          </a:prstGeom>
        </p:spPr>
      </p:pic>
      <p:sp>
        <p:nvSpPr>
          <p:cNvPr id="4" name="Shape 1"/>
          <p:cNvSpPr/>
          <p:nvPr/>
        </p:nvSpPr>
        <p:spPr>
          <a:xfrm>
            <a:off x="566928" y="4572000"/>
            <a:ext cx="5358384" cy="1261872"/>
          </a:xfrm>
          <a:prstGeom prst="roundRect">
            <a:avLst>
              <a:gd name="adj" fmla="val 6522"/>
            </a:avLst>
          </a:prstGeom>
          <a:solidFill>
            <a:srgbClr val="E7EEF6"/>
          </a:solidFill>
          <a:ln/>
        </p:spPr>
      </p:sp>
      <p:sp>
        <p:nvSpPr>
          <p:cNvPr id="5" name="Text 2"/>
          <p:cNvSpPr/>
          <p:nvPr/>
        </p:nvSpPr>
        <p:spPr>
          <a:xfrm>
            <a:off x="822960" y="4681728"/>
            <a:ext cx="4846320" cy="292608"/>
          </a:xfrm>
          <a:prstGeom prst="rect">
            <a:avLst/>
          </a:prstGeom>
          <a:noFill/>
          <a:ln/>
        </p:spPr>
        <p:txBody>
          <a:bodyPr wrap="square" lIns="0" tIns="0" rIns="0" bIns="0" rtlCol="0" anchor="ctr"/>
          <a:lstStyle/>
          <a:p>
            <a:pPr indent="0" marL="0">
              <a:buNone/>
            </a:pPr>
            <a:r>
              <a:rPr lang="en-US" sz="1350" b="1" dirty="0">
                <a:solidFill>
                  <a:srgbClr val="1C5D99"/>
                </a:solidFill>
                <a:latin typeface="Calibri" pitchFamily="34" charset="0"/>
                <a:ea typeface="Calibri" pitchFamily="34" charset="-122"/>
                <a:cs typeface="Calibri" pitchFamily="34" charset="-120"/>
              </a:rPr>
              <a:t>Model-based works because</a:t>
            </a:r>
            <a:endParaRPr lang="en-US" sz="1350" dirty="0"/>
          </a:p>
        </p:txBody>
      </p:sp>
      <p:sp>
        <p:nvSpPr>
          <p:cNvPr id="6" name="Text 3"/>
          <p:cNvSpPr/>
          <p:nvPr/>
        </p:nvSpPr>
        <p:spPr>
          <a:xfrm>
            <a:off x="822960" y="4992624"/>
            <a:ext cx="4828032" cy="749808"/>
          </a:xfrm>
          <a:prstGeom prst="rect">
            <a:avLst/>
          </a:prstGeom>
          <a:noFill/>
          <a:ln/>
        </p:spPr>
        <p:txBody>
          <a:bodyPr wrap="square" lIns="0" tIns="0" rIns="0" bIns="0" rtlCol="0" anchor="t"/>
          <a:lstStyle/>
          <a:p>
            <a:pPr indent="0" marL="0">
              <a:lnSpc>
                <a:spcPct val="110000"/>
              </a:lnSpc>
              <a:buNone/>
            </a:pPr>
            <a:r>
              <a:rPr lang="en-US" sz="1250" dirty="0">
                <a:solidFill>
                  <a:srgbClr val="3C4047"/>
                </a:solidFill>
                <a:latin typeface="Calibri" pitchFamily="34" charset="0"/>
                <a:ea typeface="Calibri" pitchFamily="34" charset="-122"/>
                <a:cs typeface="Calibri" pitchFamily="34" charset="-120"/>
              </a:rPr>
              <a:t>eventually you learn the right distribution, and then the weighted average is correct by construction.</a:t>
            </a:r>
            <a:endParaRPr lang="en-US" sz="1250" dirty="0"/>
          </a:p>
        </p:txBody>
      </p:sp>
      <p:sp>
        <p:nvSpPr>
          <p:cNvPr id="7" name="Shape 4"/>
          <p:cNvSpPr/>
          <p:nvPr/>
        </p:nvSpPr>
        <p:spPr>
          <a:xfrm>
            <a:off x="6309360" y="4572000"/>
            <a:ext cx="5358384" cy="1261872"/>
          </a:xfrm>
          <a:prstGeom prst="roundRect">
            <a:avLst>
              <a:gd name="adj" fmla="val 6522"/>
            </a:avLst>
          </a:prstGeom>
          <a:solidFill>
            <a:srgbClr val="FBEAED"/>
          </a:solidFill>
          <a:ln/>
        </p:spPr>
      </p:sp>
      <p:sp>
        <p:nvSpPr>
          <p:cNvPr id="8" name="Text 5"/>
          <p:cNvSpPr/>
          <p:nvPr/>
        </p:nvSpPr>
        <p:spPr>
          <a:xfrm>
            <a:off x="6565392" y="4681728"/>
            <a:ext cx="4846320" cy="292608"/>
          </a:xfrm>
          <a:prstGeom prst="rect">
            <a:avLst/>
          </a:prstGeom>
          <a:noFill/>
          <a:ln/>
        </p:spPr>
        <p:txBody>
          <a:bodyPr wrap="square" lIns="0" tIns="0" rIns="0" bIns="0" rtlCol="0" anchor="ctr"/>
          <a:lstStyle/>
          <a:p>
            <a:pPr indent="0" marL="0">
              <a:buNone/>
            </a:pPr>
            <a:r>
              <a:rPr lang="en-US" sz="1350" b="1" dirty="0">
                <a:solidFill>
                  <a:srgbClr val="C8102E"/>
                </a:solidFill>
                <a:latin typeface="Calibri" pitchFamily="34" charset="0"/>
                <a:ea typeface="Calibri" pitchFamily="34" charset="-122"/>
                <a:cs typeface="Calibri" pitchFamily="34" charset="-120"/>
              </a:rPr>
              <a:t>Model-free works because</a:t>
            </a:r>
            <a:endParaRPr lang="en-US" sz="1350" dirty="0"/>
          </a:p>
        </p:txBody>
      </p:sp>
      <p:sp>
        <p:nvSpPr>
          <p:cNvPr id="9" name="Text 6"/>
          <p:cNvSpPr/>
          <p:nvPr/>
        </p:nvSpPr>
        <p:spPr>
          <a:xfrm>
            <a:off x="6565392" y="4992624"/>
            <a:ext cx="4828032" cy="749808"/>
          </a:xfrm>
          <a:prstGeom prst="rect">
            <a:avLst/>
          </a:prstGeom>
          <a:noFill/>
          <a:ln/>
        </p:spPr>
        <p:txBody>
          <a:bodyPr wrap="square" lIns="0" tIns="0" rIns="0" bIns="0" rtlCol="0" anchor="t"/>
          <a:lstStyle/>
          <a:p>
            <a:pPr indent="0" marL="0">
              <a:lnSpc>
                <a:spcPct val="110000"/>
              </a:lnSpc>
              <a:buNone/>
            </a:pPr>
            <a:r>
              <a:rPr lang="en-US" sz="1250" dirty="0">
                <a:solidFill>
                  <a:srgbClr val="3C4047"/>
                </a:solidFill>
                <a:latin typeface="Calibri" pitchFamily="34" charset="0"/>
                <a:ea typeface="Calibri" pitchFamily="34" charset="-122"/>
                <a:cs typeface="Calibri" pitchFamily="34" charset="-120"/>
              </a:rPr>
              <a:t>samples arrive with the right frequencies. A value twice as likely shows up twice as often, so an unweighted average of the stream already carries the weights.</a:t>
            </a:r>
            <a:endParaRPr lang="en-US" sz="1250" dirty="0"/>
          </a:p>
        </p:txBody>
      </p:sp>
      <p:sp>
        <p:nvSpPr>
          <p:cNvPr id="10" name="Text 7"/>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1" name="Text 8"/>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2252A"/>
        </a:solidFill>
      </p:bgPr>
    </p:bg>
    <p:spTree>
      <p:nvGrpSpPr>
        <p:cNvPr id="1" name=""/>
        <p:cNvGrpSpPr/>
        <p:nvPr/>
      </p:nvGrpSpPr>
      <p:grpSpPr>
        <a:xfrm>
          <a:off x="0" y="0"/>
          <a:ext cx="0" cy="0"/>
          <a:chOff x="0" y="0"/>
          <a:chExt cx="0" cy="0"/>
        </a:xfrm>
      </p:grpSpPr>
      <p:sp>
        <p:nvSpPr>
          <p:cNvPr id="2" name="Text 0"/>
          <p:cNvSpPr/>
          <p:nvPr/>
        </p:nvSpPr>
        <p:spPr>
          <a:xfrm>
            <a:off x="566928" y="1389888"/>
            <a:ext cx="11057839" cy="310896"/>
          </a:xfrm>
          <a:prstGeom prst="rect">
            <a:avLst/>
          </a:prstGeom>
          <a:noFill/>
          <a:ln/>
        </p:spPr>
        <p:txBody>
          <a:bodyPr wrap="square" lIns="0" tIns="0" rIns="0" bIns="0" rtlCol="0" anchor="ctr"/>
          <a:lstStyle/>
          <a:p>
            <a:pPr indent="0" marL="0">
              <a:buNone/>
            </a:pPr>
            <a:r>
              <a:rPr lang="en-US" sz="1200" b="1" spc="220" kern="0" dirty="0">
                <a:solidFill>
                  <a:srgbClr val="C8102E"/>
                </a:solidFill>
                <a:latin typeface="Calibri" pitchFamily="34" charset="0"/>
                <a:ea typeface="Calibri" pitchFamily="34" charset="-122"/>
                <a:cs typeface="Calibri" pitchFamily="34" charset="-120"/>
              </a:rPr>
              <a:t>THE IDEA BEHIND EVERY REMAINING ALGORITHM</a:t>
            </a:r>
            <a:endParaRPr lang="en-US" sz="1200" dirty="0"/>
          </a:p>
        </p:txBody>
      </p:sp>
      <p:sp>
        <p:nvSpPr>
          <p:cNvPr id="3" name="Text 1"/>
          <p:cNvSpPr/>
          <p:nvPr/>
        </p:nvSpPr>
        <p:spPr>
          <a:xfrm>
            <a:off x="566928" y="1920240"/>
            <a:ext cx="10424160" cy="1645920"/>
          </a:xfrm>
          <a:prstGeom prst="rect">
            <a:avLst/>
          </a:prstGeom>
          <a:noFill/>
          <a:ln/>
        </p:spPr>
        <p:txBody>
          <a:bodyPr wrap="square" lIns="0" tIns="0" rIns="0" bIns="0" rtlCol="0" anchor="t"/>
          <a:lstStyle/>
          <a:p>
            <a:pPr indent="0" marL="0">
              <a:lnSpc>
                <a:spcPct val="112000"/>
              </a:lnSpc>
              <a:buNone/>
            </a:pPr>
            <a:r>
              <a:rPr lang="en-US" sz="3100" b="1" dirty="0">
                <a:solidFill>
                  <a:srgbClr val="FFFFFF"/>
                </a:solidFill>
                <a:latin typeface="Cambria" pitchFamily="34" charset="0"/>
                <a:ea typeface="Cambria" pitchFamily="34" charset="-122"/>
                <a:cs typeface="Cambria" pitchFamily="34" charset="-120"/>
              </a:rPr>
              <a:t>Any expectation you would have computed with a model can instead be computed as a running average of samples you actually observed.</a:t>
            </a:r>
            <a:endParaRPr lang="en-US" sz="3100" dirty="0"/>
          </a:p>
        </p:txBody>
      </p:sp>
      <p:sp>
        <p:nvSpPr>
          <p:cNvPr id="4" name="Shape 2"/>
          <p:cNvSpPr/>
          <p:nvPr/>
        </p:nvSpPr>
        <p:spPr>
          <a:xfrm>
            <a:off x="566928" y="3840480"/>
            <a:ext cx="11057839" cy="1389888"/>
          </a:xfrm>
          <a:prstGeom prst="roundRect">
            <a:avLst>
              <a:gd name="adj" fmla="val 5921"/>
            </a:avLst>
          </a:prstGeom>
          <a:solidFill>
            <a:srgbClr val="31353B"/>
          </a:solidFill>
          <a:ln/>
        </p:spPr>
      </p:sp>
      <p:sp>
        <p:nvSpPr>
          <p:cNvPr id="5" name="Text 3"/>
          <p:cNvSpPr/>
          <p:nvPr/>
        </p:nvSpPr>
        <p:spPr>
          <a:xfrm>
            <a:off x="932688" y="4059936"/>
            <a:ext cx="4206240" cy="457200"/>
          </a:xfrm>
          <a:prstGeom prst="rect">
            <a:avLst/>
          </a:prstGeom>
          <a:noFill/>
          <a:ln/>
        </p:spPr>
        <p:txBody>
          <a:bodyPr wrap="square" lIns="0" tIns="0" rIns="0" bIns="0" rtlCol="0" anchor="ctr"/>
          <a:lstStyle/>
          <a:p>
            <a:pPr algn="ctr" indent="0" marL="0">
              <a:buNone/>
            </a:pPr>
            <a:r>
              <a:rPr lang="en-US" sz="2000" b="1" dirty="0">
                <a:solidFill>
                  <a:srgbClr val="9CA2A8"/>
                </a:solidFill>
                <a:latin typeface="Cambria" pitchFamily="34" charset="0"/>
                <a:ea typeface="Cambria" pitchFamily="34" charset="-122"/>
                <a:cs typeface="Cambria" pitchFamily="34" charset="-120"/>
              </a:rPr>
              <a:t>Σₛ'  T(s, a, s') · [ … ]</a:t>
            </a:r>
            <a:endParaRPr lang="en-US" sz="2000" dirty="0"/>
          </a:p>
        </p:txBody>
      </p:sp>
      <p:sp>
        <p:nvSpPr>
          <p:cNvPr id="6" name="Text 4"/>
          <p:cNvSpPr/>
          <p:nvPr/>
        </p:nvSpPr>
        <p:spPr>
          <a:xfrm>
            <a:off x="932688" y="4535424"/>
            <a:ext cx="4206240" cy="292608"/>
          </a:xfrm>
          <a:prstGeom prst="rect">
            <a:avLst/>
          </a:prstGeom>
          <a:noFill/>
          <a:ln/>
        </p:spPr>
        <p:txBody>
          <a:bodyPr wrap="square" lIns="0" tIns="0" rIns="0" bIns="0" rtlCol="0" anchor="ctr"/>
          <a:lstStyle/>
          <a:p>
            <a:pPr algn="ctr" indent="0" marL="0">
              <a:buNone/>
            </a:pPr>
            <a:r>
              <a:rPr lang="en-US" sz="1200" dirty="0">
                <a:solidFill>
                  <a:srgbClr val="7A8087"/>
                </a:solidFill>
                <a:latin typeface="Calibri" pitchFamily="34" charset="0"/>
                <a:ea typeface="Calibri" pitchFamily="34" charset="-122"/>
                <a:cs typeface="Calibri" pitchFamily="34" charset="-120"/>
              </a:rPr>
              <a:t>needs the weights</a:t>
            </a:r>
            <a:endParaRPr lang="en-US" sz="1200" dirty="0"/>
          </a:p>
        </p:txBody>
      </p:sp>
      <p:sp>
        <p:nvSpPr>
          <p:cNvPr id="7" name="Text 5"/>
          <p:cNvSpPr/>
          <p:nvPr/>
        </p:nvSpPr>
        <p:spPr>
          <a:xfrm>
            <a:off x="5120640" y="4059936"/>
            <a:ext cx="822960" cy="457200"/>
          </a:xfrm>
          <a:prstGeom prst="rect">
            <a:avLst/>
          </a:prstGeom>
          <a:noFill/>
          <a:ln/>
        </p:spPr>
        <p:txBody>
          <a:bodyPr wrap="square" lIns="0" tIns="0" rIns="0" bIns="0" rtlCol="0" anchor="ctr"/>
          <a:lstStyle/>
          <a:p>
            <a:pPr algn="ctr" indent="0" marL="0">
              <a:buNone/>
            </a:pPr>
            <a:r>
              <a:rPr lang="en-US" sz="2200" dirty="0">
                <a:solidFill>
                  <a:srgbClr val="C8102E"/>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6035040" y="4059936"/>
            <a:ext cx="54864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running average of  [ … ]  as it happens</a:t>
            </a:r>
            <a:endParaRPr lang="en-US" sz="2000" dirty="0"/>
          </a:p>
        </p:txBody>
      </p:sp>
      <p:sp>
        <p:nvSpPr>
          <p:cNvPr id="9" name="Text 7"/>
          <p:cNvSpPr/>
          <p:nvPr/>
        </p:nvSpPr>
        <p:spPr>
          <a:xfrm>
            <a:off x="6035040" y="4535424"/>
            <a:ext cx="5486400" cy="292608"/>
          </a:xfrm>
          <a:prstGeom prst="rect">
            <a:avLst/>
          </a:prstGeom>
          <a:noFill/>
          <a:ln/>
        </p:spPr>
        <p:txBody>
          <a:bodyPr wrap="square" lIns="0" tIns="0" rIns="0" bIns="0" rtlCol="0" anchor="ctr"/>
          <a:lstStyle/>
          <a:p>
            <a:pPr algn="ctr" indent="0" marL="0">
              <a:buNone/>
            </a:pPr>
            <a:r>
              <a:rPr lang="en-US" sz="1200" dirty="0">
                <a:solidFill>
                  <a:srgbClr val="C8102E"/>
                </a:solidFill>
                <a:latin typeface="Calibri" pitchFamily="34" charset="0"/>
                <a:ea typeface="Calibri" pitchFamily="34" charset="-122"/>
                <a:cs typeface="Calibri" pitchFamily="34" charset="-120"/>
              </a:rPr>
              <a:t>needs nothing but experience</a:t>
            </a:r>
            <a:endParaRPr lang="en-US" sz="1200" dirty="0"/>
          </a:p>
        </p:txBody>
      </p:sp>
      <p:sp>
        <p:nvSpPr>
          <p:cNvPr id="10" name="Text 8"/>
          <p:cNvSpPr/>
          <p:nvPr/>
        </p:nvSpPr>
        <p:spPr>
          <a:xfrm>
            <a:off x="566928" y="5504688"/>
            <a:ext cx="10424160" cy="566928"/>
          </a:xfrm>
          <a:prstGeom prst="rect">
            <a:avLst/>
          </a:prstGeom>
          <a:noFill/>
          <a:ln/>
        </p:spPr>
        <p:txBody>
          <a:bodyPr wrap="square" lIns="0" tIns="0" rIns="0" bIns="0" rtlCol="0" anchor="t"/>
          <a:lstStyle/>
          <a:p>
            <a:pPr indent="0" marL="0">
              <a:buNone/>
            </a:pPr>
            <a:r>
              <a:rPr lang="en-US" sz="1450" dirty="0">
                <a:solidFill>
                  <a:srgbClr val="C3C7CB"/>
                </a:solidFill>
                <a:latin typeface="Calibri" pitchFamily="34" charset="0"/>
                <a:ea typeface="Calibri" pitchFamily="34" charset="-122"/>
                <a:cs typeface="Calibri" pitchFamily="34" charset="-120"/>
              </a:rPr>
              <a:t>Direct evaluation, TD learning, and Q-learning are three different answers to the question of which expectation to replace and when to update.</a:t>
            </a:r>
            <a:endParaRPr lang="en-US" sz="1450" dirty="0"/>
          </a:p>
        </p:txBody>
      </p:sp>
      <p:sp>
        <p:nvSpPr>
          <p:cNvPr id="11" name="Text 9"/>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2" name="Text 10"/>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566928" y="2212848"/>
            <a:ext cx="960120" cy="960120"/>
          </a:xfrm>
          <a:prstGeom prst="ellipse">
            <a:avLst/>
          </a:prstGeom>
          <a:solidFill>
            <a:srgbClr val="C8102E"/>
          </a:solidFill>
          <a:ln/>
        </p:spPr>
      </p:sp>
      <p:sp>
        <p:nvSpPr>
          <p:cNvPr id="3" name="Text 1"/>
          <p:cNvSpPr/>
          <p:nvPr/>
        </p:nvSpPr>
        <p:spPr>
          <a:xfrm>
            <a:off x="566928" y="2212848"/>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5</a:t>
            </a:r>
            <a:endParaRPr lang="en-US" sz="3400" dirty="0"/>
          </a:p>
        </p:txBody>
      </p:sp>
      <p:sp>
        <p:nvSpPr>
          <p:cNvPr id="4" name="Text 2"/>
          <p:cNvSpPr/>
          <p:nvPr/>
        </p:nvSpPr>
        <p:spPr>
          <a:xfrm>
            <a:off x="566928" y="3401568"/>
            <a:ext cx="9509760" cy="84124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Passive RL and direct evaluation</a:t>
            </a:r>
            <a:endParaRPr lang="en-US" sz="3800" dirty="0"/>
          </a:p>
        </p:txBody>
      </p:sp>
      <p:sp>
        <p:nvSpPr>
          <p:cNvPr id="5" name="Text 3"/>
          <p:cNvSpPr/>
          <p:nvPr/>
        </p:nvSpPr>
        <p:spPr>
          <a:xfrm>
            <a:off x="566928" y="4315968"/>
            <a:ext cx="8778240" cy="731520"/>
          </a:xfrm>
          <a:prstGeom prst="rect">
            <a:avLst/>
          </a:prstGeom>
          <a:noFill/>
          <a:ln/>
        </p:spPr>
        <p:txBody>
          <a:bodyPr wrap="square" lIns="0" tIns="0" rIns="0" bIns="0" rtlCol="0" anchor="t"/>
          <a:lstStyle/>
          <a:p>
            <a:pPr indent="0" marL="0">
              <a:lnSpc>
                <a:spcPct val="115000"/>
              </a:lnSpc>
              <a:buNone/>
            </a:pPr>
            <a:r>
              <a:rPr lang="en-US" sz="1550" dirty="0">
                <a:solidFill>
                  <a:srgbClr val="C3C7CB"/>
                </a:solidFill>
                <a:latin typeface="Calibri" pitchFamily="34" charset="0"/>
                <a:ea typeface="Calibri" pitchFamily="34" charset="-122"/>
                <a:cs typeface="Calibri" pitchFamily="34" charset="-120"/>
              </a:rPr>
              <a:t>Simplify twice so the learning mechanics can be seen clearly, then watch the simplest possible method waste most of its data.</a:t>
            </a:r>
            <a:endParaRPr lang="en-US" sz="1550" dirty="0"/>
          </a:p>
        </p:txBody>
      </p:sp>
      <p:sp>
        <p:nvSpPr>
          <p:cNvPr id="6" name="Text 4"/>
          <p:cNvSpPr/>
          <p:nvPr/>
        </p:nvSpPr>
        <p:spPr>
          <a:xfrm>
            <a:off x="7418527" y="2304288"/>
            <a:ext cx="4206240" cy="365760"/>
          </a:xfrm>
          <a:prstGeom prst="rect">
            <a:avLst/>
          </a:prstGeom>
          <a:noFill/>
          <a:ln/>
        </p:spPr>
        <p:txBody>
          <a:bodyPr wrap="square" lIns="0" tIns="0" rIns="0" bIns="0" rtlCol="0" anchor="ctr"/>
          <a:lstStyle/>
          <a:p>
            <a:pPr algn="r" indent="0" marL="0">
              <a:buNone/>
            </a:pPr>
            <a:r>
              <a:rPr lang="en-US" sz="1200" dirty="0">
                <a:solidFill>
                  <a:srgbClr val="A7A8AA"/>
                </a:solidFill>
                <a:latin typeface="Calibri" pitchFamily="34" charset="0"/>
                <a:ea typeface="Calibri" pitchFamily="34" charset="-122"/>
                <a:cs typeface="Calibri" pitchFamily="34" charset="-120"/>
              </a:rPr>
              <a:t>AIMA 22.2.1</a:t>
            </a:r>
            <a:endParaRPr lang="en-US" sz="1200" dirty="0"/>
          </a:p>
        </p:txBody>
      </p:sp>
      <p:sp>
        <p:nvSpPr>
          <p:cNvPr id="7"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8"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Passive reinforcement learning</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Two simplifications, made on purpose, so that one thing is happening at a time.</a:t>
            </a:r>
            <a:endParaRPr lang="en-US" sz="1400" dirty="0"/>
          </a:p>
        </p:txBody>
      </p:sp>
      <p:sp>
        <p:nvSpPr>
          <p:cNvPr id="4" name="Shape 2"/>
          <p:cNvSpPr/>
          <p:nvPr/>
        </p:nvSpPr>
        <p:spPr>
          <a:xfrm>
            <a:off x="566928" y="1609344"/>
            <a:ext cx="11057839" cy="1298448"/>
          </a:xfrm>
          <a:prstGeom prst="roundRect">
            <a:avLst>
              <a:gd name="adj" fmla="val 6338"/>
            </a:avLst>
          </a:prstGeom>
          <a:solidFill>
            <a:srgbClr val="F4F5F6"/>
          </a:solidFill>
          <a:ln/>
        </p:spPr>
      </p:sp>
      <p:sp>
        <p:nvSpPr>
          <p:cNvPr id="5" name="Shape 3"/>
          <p:cNvSpPr/>
          <p:nvPr/>
        </p:nvSpPr>
        <p:spPr>
          <a:xfrm>
            <a:off x="859536" y="2048256"/>
            <a:ext cx="438912" cy="438912"/>
          </a:xfrm>
          <a:prstGeom prst="ellipse">
            <a:avLst/>
          </a:prstGeom>
          <a:solidFill>
            <a:srgbClr val="1C5D99"/>
          </a:solidFill>
          <a:ln/>
        </p:spPr>
      </p:sp>
      <p:sp>
        <p:nvSpPr>
          <p:cNvPr id="6" name="Text 4"/>
          <p:cNvSpPr/>
          <p:nvPr/>
        </p:nvSpPr>
        <p:spPr>
          <a:xfrm>
            <a:off x="859536" y="204825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17904" y="1755648"/>
            <a:ext cx="4572000" cy="384048"/>
          </a:xfrm>
          <a:prstGeom prst="rect">
            <a:avLst/>
          </a:prstGeom>
          <a:noFill/>
          <a:ln/>
        </p:spPr>
        <p:txBody>
          <a:bodyPr wrap="square" lIns="0" tIns="0" rIns="0" bIns="0" rtlCol="0" anchor="ctr"/>
          <a:lstStyle/>
          <a:p>
            <a:pPr indent="0" marL="0">
              <a:buNone/>
            </a:pPr>
            <a:r>
              <a:rPr lang="en-US" sz="1650" b="1" dirty="0">
                <a:solidFill>
                  <a:srgbClr val="22252A"/>
                </a:solidFill>
                <a:latin typeface="Cambria" pitchFamily="34" charset="0"/>
                <a:ea typeface="Cambria" pitchFamily="34" charset="-122"/>
                <a:cs typeface="Cambria" pitchFamily="34" charset="-120"/>
              </a:rPr>
              <a:t>You do not choose actions</a:t>
            </a:r>
            <a:endParaRPr lang="en-US" sz="1650" dirty="0"/>
          </a:p>
        </p:txBody>
      </p:sp>
      <p:sp>
        <p:nvSpPr>
          <p:cNvPr id="8" name="Text 6"/>
          <p:cNvSpPr/>
          <p:nvPr/>
        </p:nvSpPr>
        <p:spPr>
          <a:xfrm>
            <a:off x="1517904" y="2157984"/>
            <a:ext cx="9777679" cy="640080"/>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The learner is along for the ride. Some policy is being executed and the learner takes notes. Choosing what to try, and the explore-versus-exploit problem that comes with it, is deferred.</a:t>
            </a:r>
            <a:endParaRPr lang="en-US" sz="1300" dirty="0"/>
          </a:p>
        </p:txBody>
      </p:sp>
      <p:sp>
        <p:nvSpPr>
          <p:cNvPr id="9" name="Shape 7"/>
          <p:cNvSpPr/>
          <p:nvPr/>
        </p:nvSpPr>
        <p:spPr>
          <a:xfrm>
            <a:off x="566928" y="3035808"/>
            <a:ext cx="11057839" cy="1298448"/>
          </a:xfrm>
          <a:prstGeom prst="roundRect">
            <a:avLst>
              <a:gd name="adj" fmla="val 6338"/>
            </a:avLst>
          </a:prstGeom>
          <a:solidFill>
            <a:srgbClr val="F4F5F6"/>
          </a:solidFill>
          <a:ln/>
        </p:spPr>
      </p:sp>
      <p:sp>
        <p:nvSpPr>
          <p:cNvPr id="10" name="Shape 8"/>
          <p:cNvSpPr/>
          <p:nvPr/>
        </p:nvSpPr>
        <p:spPr>
          <a:xfrm>
            <a:off x="859536" y="3474720"/>
            <a:ext cx="438912" cy="438912"/>
          </a:xfrm>
          <a:prstGeom prst="ellipse">
            <a:avLst/>
          </a:prstGeom>
          <a:solidFill>
            <a:srgbClr val="1C5D99"/>
          </a:solidFill>
          <a:ln/>
        </p:spPr>
      </p:sp>
      <p:sp>
        <p:nvSpPr>
          <p:cNvPr id="11" name="Text 9"/>
          <p:cNvSpPr/>
          <p:nvPr/>
        </p:nvSpPr>
        <p:spPr>
          <a:xfrm>
            <a:off x="859536" y="34747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17904" y="3182112"/>
            <a:ext cx="4572000" cy="384048"/>
          </a:xfrm>
          <a:prstGeom prst="rect">
            <a:avLst/>
          </a:prstGeom>
          <a:noFill/>
          <a:ln/>
        </p:spPr>
        <p:txBody>
          <a:bodyPr wrap="square" lIns="0" tIns="0" rIns="0" bIns="0" rtlCol="0" anchor="ctr"/>
          <a:lstStyle/>
          <a:p>
            <a:pPr indent="0" marL="0">
              <a:buNone/>
            </a:pPr>
            <a:r>
              <a:rPr lang="en-US" sz="1650" b="1" dirty="0">
                <a:solidFill>
                  <a:srgbClr val="22252A"/>
                </a:solidFill>
                <a:latin typeface="Cambria" pitchFamily="34" charset="0"/>
                <a:ea typeface="Cambria" pitchFamily="34" charset="-122"/>
                <a:cs typeface="Cambria" pitchFamily="34" charset="-120"/>
              </a:rPr>
              <a:t>The policy is fixed</a:t>
            </a:r>
            <a:endParaRPr lang="en-US" sz="1650" dirty="0"/>
          </a:p>
        </p:txBody>
      </p:sp>
      <p:sp>
        <p:nvSpPr>
          <p:cNvPr id="13" name="Text 11"/>
          <p:cNvSpPr/>
          <p:nvPr/>
        </p:nvSpPr>
        <p:spPr>
          <a:xfrm>
            <a:off x="1517904" y="3584448"/>
            <a:ext cx="9777679" cy="640080"/>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We are learning Vπ(s), the value of s under one specific given policy. Not V*(s). This is policy evaluation, not control. Learning optimal behaviour is the harder problem we reach in the Q-learning section.</a:t>
            </a:r>
            <a:endParaRPr lang="en-US" sz="1300" dirty="0"/>
          </a:p>
        </p:txBody>
      </p:sp>
      <p:sp>
        <p:nvSpPr>
          <p:cNvPr id="14" name="Shape 12"/>
          <p:cNvSpPr/>
          <p:nvPr/>
        </p:nvSpPr>
        <p:spPr>
          <a:xfrm>
            <a:off x="566928" y="4517136"/>
            <a:ext cx="11057839" cy="932688"/>
          </a:xfrm>
          <a:prstGeom prst="roundRect">
            <a:avLst>
              <a:gd name="adj" fmla="val 8824"/>
            </a:avLst>
          </a:prstGeom>
          <a:solidFill>
            <a:srgbClr val="FBEAED"/>
          </a:solidFill>
          <a:ln/>
        </p:spPr>
      </p:sp>
      <p:sp>
        <p:nvSpPr>
          <p:cNvPr id="15" name="Text 13"/>
          <p:cNvSpPr/>
          <p:nvPr/>
        </p:nvSpPr>
        <p:spPr>
          <a:xfrm>
            <a:off x="859536" y="4626864"/>
            <a:ext cx="4572000" cy="310896"/>
          </a:xfrm>
          <a:prstGeom prst="rect">
            <a:avLst/>
          </a:prstGeom>
          <a:noFill/>
          <a:ln/>
        </p:spPr>
        <p:txBody>
          <a:bodyPr wrap="square" lIns="0" tIns="0" rIns="0" bIns="0" rtlCol="0" anchor="ctr"/>
          <a:lstStyle/>
          <a:p>
            <a:pPr indent="0" marL="0">
              <a:buNone/>
            </a:pPr>
            <a:r>
              <a:rPr lang="en-US" sz="1450" b="1" dirty="0">
                <a:solidFill>
                  <a:srgbClr val="C8102E"/>
                </a:solidFill>
                <a:latin typeface="Calibri" pitchFamily="34" charset="0"/>
                <a:ea typeface="Calibri" pitchFamily="34" charset="-122"/>
                <a:cs typeface="Calibri" pitchFamily="34" charset="-120"/>
              </a:rPr>
              <a:t>This is still not offline planning.</a:t>
            </a:r>
            <a:endParaRPr lang="en-US" sz="1450" dirty="0"/>
          </a:p>
        </p:txBody>
      </p:sp>
      <p:sp>
        <p:nvSpPr>
          <p:cNvPr id="16" name="Text 14"/>
          <p:cNvSpPr/>
          <p:nvPr/>
        </p:nvSpPr>
        <p:spPr>
          <a:xfrm>
            <a:off x="859536" y="4937760"/>
            <a:ext cx="10472623" cy="438912"/>
          </a:xfrm>
          <a:prstGeom prst="rect">
            <a:avLst/>
          </a:prstGeom>
          <a:noFill/>
          <a:ln/>
        </p:spPr>
        <p:txBody>
          <a:bodyPr wrap="square" lIns="0" tIns="0" rIns="0" bIns="0" rtlCol="0" anchor="t"/>
          <a:lstStyle/>
          <a:p>
            <a:pPr indent="0" marL="0">
              <a:buNone/>
            </a:pPr>
            <a:r>
              <a:rPr lang="en-US" sz="1300" dirty="0">
                <a:solidFill>
                  <a:srgbClr val="8E0B20"/>
                </a:solidFill>
                <a:latin typeface="Calibri" pitchFamily="34" charset="0"/>
                <a:ea typeface="Calibri" pitchFamily="34" charset="-122"/>
                <a:cs typeface="Calibri" pitchFamily="34" charset="-120"/>
              </a:rPr>
              <a:t>The agent is genuinely out in the world taking actions and being paid. It simply is not the one deciding which actions those are.</a:t>
            </a:r>
            <a:endParaRPr lang="en-US" sz="1300" dirty="0"/>
          </a:p>
        </p:txBody>
      </p:sp>
      <p:sp>
        <p:nvSpPr>
          <p:cNvPr id="17" name="Shape 15"/>
          <p:cNvSpPr/>
          <p:nvPr/>
        </p:nvSpPr>
        <p:spPr>
          <a:xfrm>
            <a:off x="566928" y="5632704"/>
            <a:ext cx="11057839" cy="603504"/>
          </a:xfrm>
          <a:prstGeom prst="roundRect">
            <a:avLst>
              <a:gd name="adj" fmla="val 13636"/>
            </a:avLst>
          </a:prstGeom>
          <a:solidFill>
            <a:srgbClr val="F4F5F6"/>
          </a:solidFill>
          <a:ln/>
        </p:spPr>
      </p:sp>
      <p:sp>
        <p:nvSpPr>
          <p:cNvPr id="18" name="Shape 16"/>
          <p:cNvSpPr/>
          <p:nvPr/>
        </p:nvSpPr>
        <p:spPr>
          <a:xfrm>
            <a:off x="786384" y="5843016"/>
            <a:ext cx="182880" cy="182880"/>
          </a:xfrm>
          <a:prstGeom prst="ellipse">
            <a:avLst/>
          </a:prstGeom>
          <a:solidFill>
            <a:srgbClr val="53565A"/>
          </a:solidFill>
          <a:ln/>
        </p:spPr>
      </p:sp>
      <p:sp>
        <p:nvSpPr>
          <p:cNvPr id="19" name="Text 17"/>
          <p:cNvSpPr/>
          <p:nvPr/>
        </p:nvSpPr>
        <p:spPr>
          <a:xfrm>
            <a:off x="1115568" y="5632704"/>
            <a:ext cx="10289743" cy="603504"/>
          </a:xfrm>
          <a:prstGeom prst="rect">
            <a:avLst/>
          </a:prstGeom>
          <a:noFill/>
          <a:ln/>
        </p:spPr>
        <p:txBody>
          <a:bodyPr wrap="square" lIns="0" tIns="0" rIns="0" bIns="0" rtlCol="0" anchor="ctr"/>
          <a:lstStyle/>
          <a:p>
            <a:pPr indent="0" marL="0">
              <a:buNone/>
            </a:pPr>
            <a:r>
              <a:rPr lang="en-US" sz="1450" b="1" dirty="0">
                <a:solidFill>
                  <a:srgbClr val="3C4047"/>
                </a:solidFill>
                <a:latin typeface="Calibri" pitchFamily="34" charset="0"/>
                <a:ea typeface="Calibri" pitchFamily="34" charset="-122"/>
                <a:cs typeface="Calibri" pitchFamily="34" charset="-120"/>
              </a:rPr>
              <a:t>Input: a fixed π. Unknown: T and R. Goal: the state values under that π.</a:t>
            </a:r>
            <a:endParaRPr lang="en-US" sz="1450" dirty="0"/>
          </a:p>
        </p:txBody>
      </p:sp>
      <p:sp>
        <p:nvSpPr>
          <p:cNvPr id="20" name="Text 18"/>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1" name="Text 19"/>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Direct evaluation</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The simplest thing that could possibly work, stated in three lines.</a:t>
            </a:r>
            <a:endParaRPr lang="en-US" sz="1400" dirty="0"/>
          </a:p>
        </p:txBody>
      </p:sp>
      <p:sp>
        <p:nvSpPr>
          <p:cNvPr id="4" name="Shape 2"/>
          <p:cNvSpPr/>
          <p:nvPr/>
        </p:nvSpPr>
        <p:spPr>
          <a:xfrm>
            <a:off x="566928" y="1645920"/>
            <a:ext cx="11057839" cy="786384"/>
          </a:xfrm>
          <a:prstGeom prst="roundRect">
            <a:avLst>
              <a:gd name="adj" fmla="val 10465"/>
            </a:avLst>
          </a:prstGeom>
          <a:solidFill>
            <a:srgbClr val="F4F5F6"/>
          </a:solidFill>
          <a:ln/>
        </p:spPr>
      </p:sp>
      <p:sp>
        <p:nvSpPr>
          <p:cNvPr id="5" name="Shape 3"/>
          <p:cNvSpPr/>
          <p:nvPr/>
        </p:nvSpPr>
        <p:spPr>
          <a:xfrm>
            <a:off x="859536" y="1837944"/>
            <a:ext cx="402336" cy="402336"/>
          </a:xfrm>
          <a:prstGeom prst="ellipse">
            <a:avLst/>
          </a:prstGeom>
          <a:solidFill>
            <a:srgbClr val="C8102E"/>
          </a:solidFill>
          <a:ln/>
        </p:spPr>
      </p:sp>
      <p:sp>
        <p:nvSpPr>
          <p:cNvPr id="6" name="Text 4"/>
          <p:cNvSpPr/>
          <p:nvPr/>
        </p:nvSpPr>
        <p:spPr>
          <a:xfrm>
            <a:off x="859536" y="18379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17904" y="1645920"/>
            <a:ext cx="9777679" cy="786384"/>
          </a:xfrm>
          <a:prstGeom prst="rect">
            <a:avLst/>
          </a:prstGeom>
          <a:noFill/>
          <a:ln/>
        </p:spPr>
        <p:txBody>
          <a:bodyPr wrap="square" lIns="0" tIns="0" rIns="0" bIns="0" rtlCol="0" anchor="ctr"/>
          <a:lstStyle/>
          <a:p>
            <a:pPr indent="0" marL="0">
              <a:buNone/>
            </a:pPr>
            <a:r>
              <a:rPr lang="en-US" sz="1450" dirty="0">
                <a:solidFill>
                  <a:srgbClr val="3C4047"/>
                </a:solidFill>
                <a:latin typeface="Calibri" pitchFamily="34" charset="0"/>
                <a:ea typeface="Calibri" pitchFamily="34" charset="-122"/>
                <a:cs typeface="Calibri" pitchFamily="34" charset="-120"/>
              </a:rPr>
              <a:t>Act according to π.</a:t>
            </a:r>
            <a:endParaRPr lang="en-US" sz="1450" dirty="0"/>
          </a:p>
        </p:txBody>
      </p:sp>
      <p:sp>
        <p:nvSpPr>
          <p:cNvPr id="8" name="Shape 6"/>
          <p:cNvSpPr/>
          <p:nvPr/>
        </p:nvSpPr>
        <p:spPr>
          <a:xfrm>
            <a:off x="566928" y="2542032"/>
            <a:ext cx="11057839" cy="786384"/>
          </a:xfrm>
          <a:prstGeom prst="roundRect">
            <a:avLst>
              <a:gd name="adj" fmla="val 10465"/>
            </a:avLst>
          </a:prstGeom>
          <a:solidFill>
            <a:srgbClr val="F4F5F6"/>
          </a:solidFill>
          <a:ln/>
        </p:spPr>
      </p:sp>
      <p:sp>
        <p:nvSpPr>
          <p:cNvPr id="9" name="Shape 7"/>
          <p:cNvSpPr/>
          <p:nvPr/>
        </p:nvSpPr>
        <p:spPr>
          <a:xfrm>
            <a:off x="859536" y="2734056"/>
            <a:ext cx="402336" cy="402336"/>
          </a:xfrm>
          <a:prstGeom prst="ellipse">
            <a:avLst/>
          </a:prstGeom>
          <a:solidFill>
            <a:srgbClr val="C8102E"/>
          </a:solidFill>
          <a:ln/>
        </p:spPr>
      </p:sp>
      <p:sp>
        <p:nvSpPr>
          <p:cNvPr id="10" name="Text 8"/>
          <p:cNvSpPr/>
          <p:nvPr/>
        </p:nvSpPr>
        <p:spPr>
          <a:xfrm>
            <a:off x="859536"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517904" y="2542032"/>
            <a:ext cx="9777679" cy="786384"/>
          </a:xfrm>
          <a:prstGeom prst="rect">
            <a:avLst/>
          </a:prstGeom>
          <a:noFill/>
          <a:ln/>
        </p:spPr>
        <p:txBody>
          <a:bodyPr wrap="square" lIns="0" tIns="0" rIns="0" bIns="0" rtlCol="0" anchor="ctr"/>
          <a:lstStyle/>
          <a:p>
            <a:pPr indent="0" marL="0">
              <a:buNone/>
            </a:pPr>
            <a:r>
              <a:rPr lang="en-US" sz="1450" dirty="0">
                <a:solidFill>
                  <a:srgbClr val="3C4047"/>
                </a:solidFill>
                <a:latin typeface="Calibri" pitchFamily="34" charset="0"/>
                <a:ea typeface="Calibri" pitchFamily="34" charset="-122"/>
                <a:cs typeface="Calibri" pitchFamily="34" charset="-120"/>
              </a:rPr>
              <a:t>Every time you visit a state, write down the total discounted reward that actually arrived from that point until the episode ended.</a:t>
            </a:r>
            <a:endParaRPr lang="en-US" sz="1450" dirty="0"/>
          </a:p>
        </p:txBody>
      </p:sp>
      <p:sp>
        <p:nvSpPr>
          <p:cNvPr id="12" name="Shape 10"/>
          <p:cNvSpPr/>
          <p:nvPr/>
        </p:nvSpPr>
        <p:spPr>
          <a:xfrm>
            <a:off x="566928" y="3438144"/>
            <a:ext cx="11057839" cy="786384"/>
          </a:xfrm>
          <a:prstGeom prst="roundRect">
            <a:avLst>
              <a:gd name="adj" fmla="val 10465"/>
            </a:avLst>
          </a:prstGeom>
          <a:solidFill>
            <a:srgbClr val="F4F5F6"/>
          </a:solidFill>
          <a:ln/>
        </p:spPr>
      </p:sp>
      <p:sp>
        <p:nvSpPr>
          <p:cNvPr id="13" name="Shape 11"/>
          <p:cNvSpPr/>
          <p:nvPr/>
        </p:nvSpPr>
        <p:spPr>
          <a:xfrm>
            <a:off x="859536" y="3630168"/>
            <a:ext cx="402336" cy="402336"/>
          </a:xfrm>
          <a:prstGeom prst="ellipse">
            <a:avLst/>
          </a:prstGeom>
          <a:solidFill>
            <a:srgbClr val="C8102E"/>
          </a:solidFill>
          <a:ln/>
        </p:spPr>
      </p:sp>
      <p:sp>
        <p:nvSpPr>
          <p:cNvPr id="14" name="Text 12"/>
          <p:cNvSpPr/>
          <p:nvPr/>
        </p:nvSpPr>
        <p:spPr>
          <a:xfrm>
            <a:off x="859536" y="36301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517904" y="3438144"/>
            <a:ext cx="9777679" cy="786384"/>
          </a:xfrm>
          <a:prstGeom prst="rect">
            <a:avLst/>
          </a:prstGeom>
          <a:noFill/>
          <a:ln/>
        </p:spPr>
        <p:txBody>
          <a:bodyPr wrap="square" lIns="0" tIns="0" rIns="0" bIns="0" rtlCol="0" anchor="ctr"/>
          <a:lstStyle/>
          <a:p>
            <a:pPr indent="0" marL="0">
              <a:buNone/>
            </a:pPr>
            <a:r>
              <a:rPr lang="en-US" sz="1450" dirty="0">
                <a:solidFill>
                  <a:srgbClr val="3C4047"/>
                </a:solidFill>
                <a:latin typeface="Calibri" pitchFamily="34" charset="0"/>
                <a:ea typeface="Calibri" pitchFamily="34" charset="-122"/>
                <a:cs typeface="Calibri" pitchFamily="34" charset="-120"/>
              </a:rPr>
              <a:t>Average those totals across every visit to that state.</a:t>
            </a:r>
            <a:endParaRPr lang="en-US" sz="1450" dirty="0"/>
          </a:p>
        </p:txBody>
      </p:sp>
      <p:sp>
        <p:nvSpPr>
          <p:cNvPr id="16" name="Shape 14"/>
          <p:cNvSpPr/>
          <p:nvPr/>
        </p:nvSpPr>
        <p:spPr>
          <a:xfrm>
            <a:off x="566928" y="4389120"/>
            <a:ext cx="11057839" cy="786384"/>
          </a:xfrm>
          <a:prstGeom prst="roundRect">
            <a:avLst>
              <a:gd name="adj" fmla="val 10465"/>
            </a:avLst>
          </a:prstGeom>
          <a:solidFill>
            <a:srgbClr val="F4F5F6"/>
          </a:solidFill>
          <a:ln/>
        </p:spPr>
      </p:sp>
      <p:sp>
        <p:nvSpPr>
          <p:cNvPr id="17" name="Text 15"/>
          <p:cNvSpPr/>
          <p:nvPr/>
        </p:nvSpPr>
        <p:spPr>
          <a:xfrm>
            <a:off x="731520" y="4389120"/>
            <a:ext cx="10728655" cy="786384"/>
          </a:xfrm>
          <a:prstGeom prst="rect">
            <a:avLst/>
          </a:prstGeom>
          <a:noFill/>
          <a:ln/>
        </p:spPr>
        <p:txBody>
          <a:bodyPr wrap="square" lIns="0" tIns="0" rIns="0" bIns="0" rtlCol="0" anchor="ctr"/>
          <a:lstStyle/>
          <a:p>
            <a:pPr algn="ctr" indent="0" marL="0">
              <a:buNone/>
            </a:pPr>
            <a:r>
              <a:rPr lang="en-US" sz="1800" b="1" dirty="0">
                <a:solidFill>
                  <a:srgbClr val="22252A"/>
                </a:solidFill>
                <a:latin typeface="Cambria" pitchFamily="34" charset="0"/>
                <a:ea typeface="Cambria" pitchFamily="34" charset="-122"/>
                <a:cs typeface="Cambria" pitchFamily="34" charset="-120"/>
              </a:rPr>
              <a:t>Vπ(s)  ≈  average over visits to s of  [ rₜ + γ rₜ₊₁ + γ² rₜ₊₂ + … ]</a:t>
            </a:r>
            <a:endParaRPr lang="en-US" sz="1800" dirty="0"/>
          </a:p>
        </p:txBody>
      </p:sp>
      <p:sp>
        <p:nvSpPr>
          <p:cNvPr id="18" name="Text 16"/>
          <p:cNvSpPr/>
          <p:nvPr/>
        </p:nvSpPr>
        <p:spPr>
          <a:xfrm>
            <a:off x="566928" y="5340096"/>
            <a:ext cx="11057839" cy="566928"/>
          </a:xfrm>
          <a:prstGeom prst="rect">
            <a:avLst/>
          </a:prstGeom>
          <a:noFill/>
          <a:ln/>
        </p:spPr>
        <p:txBody>
          <a:bodyPr wrap="square" lIns="0" tIns="0" rIns="0" bIns="0" rtlCol="0" anchor="t"/>
          <a:lstStyle/>
          <a:p>
            <a:pPr algn="l" indent="0" marL="0">
              <a:lnSpc>
                <a:spcPct val="114000"/>
              </a:lnSpc>
              <a:buNone/>
            </a:pPr>
            <a:r>
              <a:rPr lang="en-US" sz="1400" i="1" dirty="0">
                <a:solidFill>
                  <a:srgbClr val="53565A"/>
                </a:solidFill>
                <a:latin typeface="Calibri" pitchFamily="34" charset="0"/>
                <a:ea typeface="Calibri" pitchFamily="34" charset="-122"/>
                <a:cs typeface="Calibri" pitchFamily="34" charset="-120"/>
              </a:rPr>
              <a:t>That is the whole algorithm. AIMA calls it direct utility estimation; you will also see it called Monte Carlo evaluation. It is correct in the limit, and essentially nobody uses it.</a:t>
            </a:r>
            <a:endParaRPr lang="en-US" sz="1400" dirty="0"/>
          </a:p>
        </p:txBody>
      </p:sp>
      <p:sp>
        <p:nvSpPr>
          <p:cNvPr id="19" name="Text 17"/>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0" name="Text 18"/>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Computing returns from episode 1</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WORKED BY HAND</a:t>
            </a:r>
            <a:endParaRPr lang="en-US" sz="1050" dirty="0"/>
          </a:p>
        </p:txBody>
      </p:sp>
      <p:sp>
        <p:nvSpPr>
          <p:cNvPr id="4" name="Text 2"/>
          <p:cNvSpPr/>
          <p:nvPr/>
        </p:nvSpPr>
        <p:spPr>
          <a:xfrm>
            <a:off x="566928" y="1243584"/>
            <a:ext cx="11057839" cy="457200"/>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Episode 1 was  B → C → D → exit, paying −1, −1, and +10. Each state's sample is the sum of everything from that state onward, with γ = 1.</a:t>
            </a:r>
            <a:endParaRPr lang="en-US" sz="1500" dirty="0"/>
          </a:p>
        </p:txBody>
      </p:sp>
      <p:sp>
        <p:nvSpPr>
          <p:cNvPr id="5" name="Shape 3"/>
          <p:cNvSpPr/>
          <p:nvPr/>
        </p:nvSpPr>
        <p:spPr>
          <a:xfrm>
            <a:off x="566928" y="1847088"/>
            <a:ext cx="11057839" cy="859536"/>
          </a:xfrm>
          <a:prstGeom prst="roundRect">
            <a:avLst>
              <a:gd name="adj" fmla="val 9574"/>
            </a:avLst>
          </a:prstGeom>
          <a:solidFill>
            <a:srgbClr val="F4F5F6"/>
          </a:solidFill>
          <a:ln/>
        </p:spPr>
      </p:sp>
      <p:sp>
        <p:nvSpPr>
          <p:cNvPr id="6" name="Text 4"/>
          <p:cNvSpPr/>
          <p:nvPr/>
        </p:nvSpPr>
        <p:spPr>
          <a:xfrm>
            <a:off x="841248" y="1847088"/>
            <a:ext cx="603504" cy="859536"/>
          </a:xfrm>
          <a:prstGeom prst="rect">
            <a:avLst/>
          </a:prstGeom>
          <a:noFill/>
          <a:ln/>
        </p:spPr>
        <p:txBody>
          <a:bodyPr wrap="square" lIns="0" tIns="0" rIns="0" bIns="0" rtlCol="0" anchor="ctr"/>
          <a:lstStyle/>
          <a:p>
            <a:pPr algn="ctr" indent="0" marL="0">
              <a:buNone/>
            </a:pPr>
            <a:r>
              <a:rPr lang="en-US" sz="2400" b="1" dirty="0">
                <a:solidFill>
                  <a:srgbClr val="22252A"/>
                </a:solidFill>
                <a:latin typeface="Cambria" pitchFamily="34" charset="0"/>
                <a:ea typeface="Cambria" pitchFamily="34" charset="-122"/>
                <a:cs typeface="Cambria" pitchFamily="34" charset="-120"/>
              </a:rPr>
              <a:t>B</a:t>
            </a:r>
            <a:endParaRPr lang="en-US" sz="2400" dirty="0"/>
          </a:p>
        </p:txBody>
      </p:sp>
      <p:sp>
        <p:nvSpPr>
          <p:cNvPr id="7" name="Text 5"/>
          <p:cNvSpPr/>
          <p:nvPr/>
        </p:nvSpPr>
        <p:spPr>
          <a:xfrm>
            <a:off x="1609344" y="1847088"/>
            <a:ext cx="3200400" cy="859536"/>
          </a:xfrm>
          <a:prstGeom prst="rect">
            <a:avLst/>
          </a:prstGeom>
          <a:noFill/>
          <a:ln/>
        </p:spPr>
        <p:txBody>
          <a:bodyPr wrap="square" lIns="0" tIns="0" rIns="0" bIns="0" rtlCol="0" anchor="ctr"/>
          <a:lstStyle/>
          <a:p>
            <a:pPr indent="0" marL="0">
              <a:buNone/>
            </a:pPr>
            <a:r>
              <a:rPr lang="en-US" sz="1600" dirty="0">
                <a:solidFill>
                  <a:srgbClr val="3C4047"/>
                </a:solidFill>
                <a:latin typeface="Cambria" pitchFamily="34" charset="0"/>
                <a:ea typeface="Cambria" pitchFamily="34" charset="-122"/>
                <a:cs typeface="Cambria" pitchFamily="34" charset="-120"/>
              </a:rPr>
              <a:t>−1  +  −1  +  +10</a:t>
            </a:r>
            <a:endParaRPr lang="en-US" sz="1600" dirty="0"/>
          </a:p>
        </p:txBody>
      </p:sp>
      <p:sp>
        <p:nvSpPr>
          <p:cNvPr id="8" name="Text 6"/>
          <p:cNvSpPr/>
          <p:nvPr/>
        </p:nvSpPr>
        <p:spPr>
          <a:xfrm>
            <a:off x="4846320" y="1847088"/>
            <a:ext cx="365760" cy="859536"/>
          </a:xfrm>
          <a:prstGeom prst="rect">
            <a:avLst/>
          </a:prstGeom>
          <a:noFill/>
          <a:ln/>
        </p:spPr>
        <p:txBody>
          <a:bodyPr wrap="square" lIns="0" tIns="0" rIns="0" bIns="0" rtlCol="0" anchor="ctr"/>
          <a:lstStyle/>
          <a:p>
            <a:pPr algn="ctr" indent="0" marL="0">
              <a:buNone/>
            </a:pPr>
            <a:r>
              <a:rPr lang="en-US" sz="1500" dirty="0">
                <a:solidFill>
                  <a:srgbClr val="A7A8AA"/>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5248656" y="1847088"/>
            <a:ext cx="1005840" cy="859536"/>
          </a:xfrm>
          <a:prstGeom prst="rect">
            <a:avLst/>
          </a:prstGeom>
          <a:noFill/>
          <a:ln/>
        </p:spPr>
        <p:txBody>
          <a:bodyPr wrap="square" lIns="0" tIns="0" rIns="0" bIns="0" rtlCol="0" anchor="ctr"/>
          <a:lstStyle/>
          <a:p>
            <a:pPr indent="0" marL="0">
              <a:buNone/>
            </a:pPr>
            <a:r>
              <a:rPr lang="en-US" sz="2400" b="1" dirty="0">
                <a:solidFill>
                  <a:srgbClr val="1B7F5A"/>
                </a:solidFill>
                <a:latin typeface="Cambria" pitchFamily="34" charset="0"/>
                <a:ea typeface="Cambria" pitchFamily="34" charset="-122"/>
                <a:cs typeface="Cambria" pitchFamily="34" charset="-120"/>
              </a:rPr>
              <a:t>+8</a:t>
            </a:r>
            <a:endParaRPr lang="en-US" sz="2400" dirty="0"/>
          </a:p>
        </p:txBody>
      </p:sp>
      <p:sp>
        <p:nvSpPr>
          <p:cNvPr id="10" name="Text 8"/>
          <p:cNvSpPr/>
          <p:nvPr/>
        </p:nvSpPr>
        <p:spPr>
          <a:xfrm>
            <a:off x="6419088" y="1847088"/>
            <a:ext cx="4937760" cy="859536"/>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everything that happened after arriving at B</a:t>
            </a:r>
            <a:endParaRPr lang="en-US" sz="1250" dirty="0"/>
          </a:p>
        </p:txBody>
      </p:sp>
      <p:sp>
        <p:nvSpPr>
          <p:cNvPr id="11" name="Shape 9"/>
          <p:cNvSpPr/>
          <p:nvPr/>
        </p:nvSpPr>
        <p:spPr>
          <a:xfrm>
            <a:off x="566928" y="2816352"/>
            <a:ext cx="11057839" cy="859536"/>
          </a:xfrm>
          <a:prstGeom prst="roundRect">
            <a:avLst>
              <a:gd name="adj" fmla="val 9574"/>
            </a:avLst>
          </a:prstGeom>
          <a:solidFill>
            <a:srgbClr val="F4F5F6"/>
          </a:solidFill>
          <a:ln/>
        </p:spPr>
      </p:sp>
      <p:sp>
        <p:nvSpPr>
          <p:cNvPr id="12" name="Text 10"/>
          <p:cNvSpPr/>
          <p:nvPr/>
        </p:nvSpPr>
        <p:spPr>
          <a:xfrm>
            <a:off x="841248" y="2816352"/>
            <a:ext cx="603504" cy="859536"/>
          </a:xfrm>
          <a:prstGeom prst="rect">
            <a:avLst/>
          </a:prstGeom>
          <a:noFill/>
          <a:ln/>
        </p:spPr>
        <p:txBody>
          <a:bodyPr wrap="square" lIns="0" tIns="0" rIns="0" bIns="0" rtlCol="0" anchor="ctr"/>
          <a:lstStyle/>
          <a:p>
            <a:pPr algn="ctr" indent="0" marL="0">
              <a:buNone/>
            </a:pPr>
            <a:r>
              <a:rPr lang="en-US" sz="2400" b="1" dirty="0">
                <a:solidFill>
                  <a:srgbClr val="22252A"/>
                </a:solidFill>
                <a:latin typeface="Cambria" pitchFamily="34" charset="0"/>
                <a:ea typeface="Cambria" pitchFamily="34" charset="-122"/>
                <a:cs typeface="Cambria" pitchFamily="34" charset="-120"/>
              </a:rPr>
              <a:t>C</a:t>
            </a:r>
            <a:endParaRPr lang="en-US" sz="2400" dirty="0"/>
          </a:p>
        </p:txBody>
      </p:sp>
      <p:sp>
        <p:nvSpPr>
          <p:cNvPr id="13" name="Text 11"/>
          <p:cNvSpPr/>
          <p:nvPr/>
        </p:nvSpPr>
        <p:spPr>
          <a:xfrm>
            <a:off x="1609344" y="2816352"/>
            <a:ext cx="3200400" cy="859536"/>
          </a:xfrm>
          <a:prstGeom prst="rect">
            <a:avLst/>
          </a:prstGeom>
          <a:noFill/>
          <a:ln/>
        </p:spPr>
        <p:txBody>
          <a:bodyPr wrap="square" lIns="0" tIns="0" rIns="0" bIns="0" rtlCol="0" anchor="ctr"/>
          <a:lstStyle/>
          <a:p>
            <a:pPr indent="0" marL="0">
              <a:buNone/>
            </a:pPr>
            <a:r>
              <a:rPr lang="en-US" sz="1600" dirty="0">
                <a:solidFill>
                  <a:srgbClr val="3C4047"/>
                </a:solidFill>
                <a:latin typeface="Cambria" pitchFamily="34" charset="0"/>
                <a:ea typeface="Cambria" pitchFamily="34" charset="-122"/>
                <a:cs typeface="Cambria" pitchFamily="34" charset="-120"/>
              </a:rPr>
              <a:t>−1  +  +10</a:t>
            </a:r>
            <a:endParaRPr lang="en-US" sz="1600" dirty="0"/>
          </a:p>
        </p:txBody>
      </p:sp>
      <p:sp>
        <p:nvSpPr>
          <p:cNvPr id="14" name="Text 12"/>
          <p:cNvSpPr/>
          <p:nvPr/>
        </p:nvSpPr>
        <p:spPr>
          <a:xfrm>
            <a:off x="4846320" y="2816352"/>
            <a:ext cx="365760" cy="859536"/>
          </a:xfrm>
          <a:prstGeom prst="rect">
            <a:avLst/>
          </a:prstGeom>
          <a:noFill/>
          <a:ln/>
        </p:spPr>
        <p:txBody>
          <a:bodyPr wrap="square" lIns="0" tIns="0" rIns="0" bIns="0" rtlCol="0" anchor="ctr"/>
          <a:lstStyle/>
          <a:p>
            <a:pPr algn="ctr" indent="0" marL="0">
              <a:buNone/>
            </a:pPr>
            <a:r>
              <a:rPr lang="en-US" sz="1500" dirty="0">
                <a:solidFill>
                  <a:srgbClr val="A7A8AA"/>
                </a:solidFill>
                <a:latin typeface="Calibri" pitchFamily="34" charset="0"/>
                <a:ea typeface="Calibri" pitchFamily="34" charset="-122"/>
                <a:cs typeface="Calibri" pitchFamily="34" charset="-120"/>
              </a:rPr>
              <a:t>=</a:t>
            </a:r>
            <a:endParaRPr lang="en-US" sz="1500" dirty="0"/>
          </a:p>
        </p:txBody>
      </p:sp>
      <p:sp>
        <p:nvSpPr>
          <p:cNvPr id="15" name="Text 13"/>
          <p:cNvSpPr/>
          <p:nvPr/>
        </p:nvSpPr>
        <p:spPr>
          <a:xfrm>
            <a:off x="5248656" y="2816352"/>
            <a:ext cx="1005840" cy="859536"/>
          </a:xfrm>
          <a:prstGeom prst="rect">
            <a:avLst/>
          </a:prstGeom>
          <a:noFill/>
          <a:ln/>
        </p:spPr>
        <p:txBody>
          <a:bodyPr wrap="square" lIns="0" tIns="0" rIns="0" bIns="0" rtlCol="0" anchor="ctr"/>
          <a:lstStyle/>
          <a:p>
            <a:pPr indent="0" marL="0">
              <a:buNone/>
            </a:pPr>
            <a:r>
              <a:rPr lang="en-US" sz="2400" b="1" dirty="0">
                <a:solidFill>
                  <a:srgbClr val="1B7F5A"/>
                </a:solidFill>
                <a:latin typeface="Cambria" pitchFamily="34" charset="0"/>
                <a:ea typeface="Cambria" pitchFamily="34" charset="-122"/>
                <a:cs typeface="Cambria" pitchFamily="34" charset="-120"/>
              </a:rPr>
              <a:t>+9</a:t>
            </a:r>
            <a:endParaRPr lang="en-US" sz="2400" dirty="0"/>
          </a:p>
        </p:txBody>
      </p:sp>
      <p:sp>
        <p:nvSpPr>
          <p:cNvPr id="16" name="Text 14"/>
          <p:cNvSpPr/>
          <p:nvPr/>
        </p:nvSpPr>
        <p:spPr>
          <a:xfrm>
            <a:off x="6419088" y="2816352"/>
            <a:ext cx="4937760" cy="859536"/>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the first −1 is already spent and does not count against C</a:t>
            </a:r>
            <a:endParaRPr lang="en-US" sz="1250" dirty="0"/>
          </a:p>
        </p:txBody>
      </p:sp>
      <p:sp>
        <p:nvSpPr>
          <p:cNvPr id="17" name="Shape 15"/>
          <p:cNvSpPr/>
          <p:nvPr/>
        </p:nvSpPr>
        <p:spPr>
          <a:xfrm>
            <a:off x="566928" y="3785616"/>
            <a:ext cx="11057839" cy="859536"/>
          </a:xfrm>
          <a:prstGeom prst="roundRect">
            <a:avLst>
              <a:gd name="adj" fmla="val 9574"/>
            </a:avLst>
          </a:prstGeom>
          <a:solidFill>
            <a:srgbClr val="F4F5F6"/>
          </a:solidFill>
          <a:ln/>
        </p:spPr>
      </p:sp>
      <p:sp>
        <p:nvSpPr>
          <p:cNvPr id="18" name="Text 16"/>
          <p:cNvSpPr/>
          <p:nvPr/>
        </p:nvSpPr>
        <p:spPr>
          <a:xfrm>
            <a:off x="841248" y="3785616"/>
            <a:ext cx="603504" cy="859536"/>
          </a:xfrm>
          <a:prstGeom prst="rect">
            <a:avLst/>
          </a:prstGeom>
          <a:noFill/>
          <a:ln/>
        </p:spPr>
        <p:txBody>
          <a:bodyPr wrap="square" lIns="0" tIns="0" rIns="0" bIns="0" rtlCol="0" anchor="ctr"/>
          <a:lstStyle/>
          <a:p>
            <a:pPr algn="ctr" indent="0" marL="0">
              <a:buNone/>
            </a:pPr>
            <a:r>
              <a:rPr lang="en-US" sz="2400" b="1" dirty="0">
                <a:solidFill>
                  <a:srgbClr val="22252A"/>
                </a:solidFill>
                <a:latin typeface="Cambria" pitchFamily="34" charset="0"/>
                <a:ea typeface="Cambria" pitchFamily="34" charset="-122"/>
                <a:cs typeface="Cambria" pitchFamily="34" charset="-120"/>
              </a:rPr>
              <a:t>D</a:t>
            </a:r>
            <a:endParaRPr lang="en-US" sz="2400" dirty="0"/>
          </a:p>
        </p:txBody>
      </p:sp>
      <p:sp>
        <p:nvSpPr>
          <p:cNvPr id="19" name="Text 17"/>
          <p:cNvSpPr/>
          <p:nvPr/>
        </p:nvSpPr>
        <p:spPr>
          <a:xfrm>
            <a:off x="1609344" y="3785616"/>
            <a:ext cx="3200400" cy="859536"/>
          </a:xfrm>
          <a:prstGeom prst="rect">
            <a:avLst/>
          </a:prstGeom>
          <a:noFill/>
          <a:ln/>
        </p:spPr>
        <p:txBody>
          <a:bodyPr wrap="square" lIns="0" tIns="0" rIns="0" bIns="0" rtlCol="0" anchor="ctr"/>
          <a:lstStyle/>
          <a:p>
            <a:pPr indent="0" marL="0">
              <a:buNone/>
            </a:pPr>
            <a:r>
              <a:rPr lang="en-US" sz="1600" dirty="0">
                <a:solidFill>
                  <a:srgbClr val="3C4047"/>
                </a:solidFill>
                <a:latin typeface="Cambria" pitchFamily="34" charset="0"/>
                <a:ea typeface="Cambria" pitchFamily="34" charset="-122"/>
                <a:cs typeface="Cambria" pitchFamily="34" charset="-120"/>
              </a:rPr>
              <a:t>+10</a:t>
            </a:r>
            <a:endParaRPr lang="en-US" sz="1600" dirty="0"/>
          </a:p>
        </p:txBody>
      </p:sp>
      <p:sp>
        <p:nvSpPr>
          <p:cNvPr id="20" name="Text 18"/>
          <p:cNvSpPr/>
          <p:nvPr/>
        </p:nvSpPr>
        <p:spPr>
          <a:xfrm>
            <a:off x="4846320" y="3785616"/>
            <a:ext cx="365760" cy="859536"/>
          </a:xfrm>
          <a:prstGeom prst="rect">
            <a:avLst/>
          </a:prstGeom>
          <a:noFill/>
          <a:ln/>
        </p:spPr>
        <p:txBody>
          <a:bodyPr wrap="square" lIns="0" tIns="0" rIns="0" bIns="0" rtlCol="0" anchor="ctr"/>
          <a:lstStyle/>
          <a:p>
            <a:pPr algn="ctr" indent="0" marL="0">
              <a:buNone/>
            </a:pPr>
            <a:r>
              <a:rPr lang="en-US" sz="1500" dirty="0">
                <a:solidFill>
                  <a:srgbClr val="A7A8AA"/>
                </a:solidFill>
                <a:latin typeface="Calibri" pitchFamily="34" charset="0"/>
                <a:ea typeface="Calibri" pitchFamily="34" charset="-122"/>
                <a:cs typeface="Calibri" pitchFamily="34" charset="-120"/>
              </a:rPr>
              <a:t>=</a:t>
            </a:r>
            <a:endParaRPr lang="en-US" sz="1500" dirty="0"/>
          </a:p>
        </p:txBody>
      </p:sp>
      <p:sp>
        <p:nvSpPr>
          <p:cNvPr id="21" name="Text 19"/>
          <p:cNvSpPr/>
          <p:nvPr/>
        </p:nvSpPr>
        <p:spPr>
          <a:xfrm>
            <a:off x="5248656" y="3785616"/>
            <a:ext cx="1005840" cy="859536"/>
          </a:xfrm>
          <a:prstGeom prst="rect">
            <a:avLst/>
          </a:prstGeom>
          <a:noFill/>
          <a:ln/>
        </p:spPr>
        <p:txBody>
          <a:bodyPr wrap="square" lIns="0" tIns="0" rIns="0" bIns="0" rtlCol="0" anchor="ctr"/>
          <a:lstStyle/>
          <a:p>
            <a:pPr indent="0" marL="0">
              <a:buNone/>
            </a:pPr>
            <a:r>
              <a:rPr lang="en-US" sz="2400" b="1" dirty="0">
                <a:solidFill>
                  <a:srgbClr val="1B7F5A"/>
                </a:solidFill>
                <a:latin typeface="Cambria" pitchFamily="34" charset="0"/>
                <a:ea typeface="Cambria" pitchFamily="34" charset="-122"/>
                <a:cs typeface="Cambria" pitchFamily="34" charset="-120"/>
              </a:rPr>
              <a:t>+10</a:t>
            </a:r>
            <a:endParaRPr lang="en-US" sz="2400" dirty="0"/>
          </a:p>
        </p:txBody>
      </p:sp>
      <p:sp>
        <p:nvSpPr>
          <p:cNvPr id="22" name="Text 20"/>
          <p:cNvSpPr/>
          <p:nvPr/>
        </p:nvSpPr>
        <p:spPr>
          <a:xfrm>
            <a:off x="6419088" y="3785616"/>
            <a:ext cx="4937760" cy="859536"/>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only the exit reward remains</a:t>
            </a:r>
            <a:endParaRPr lang="en-US" sz="1250" dirty="0"/>
          </a:p>
        </p:txBody>
      </p:sp>
      <p:sp>
        <p:nvSpPr>
          <p:cNvPr id="23" name="Shape 21"/>
          <p:cNvSpPr/>
          <p:nvPr/>
        </p:nvSpPr>
        <p:spPr>
          <a:xfrm>
            <a:off x="566928" y="4846320"/>
            <a:ext cx="11057839" cy="786384"/>
          </a:xfrm>
          <a:prstGeom prst="roundRect">
            <a:avLst>
              <a:gd name="adj" fmla="val 10465"/>
            </a:avLst>
          </a:prstGeom>
          <a:solidFill>
            <a:srgbClr val="FBEAED"/>
          </a:solidFill>
          <a:ln/>
        </p:spPr>
      </p:sp>
      <p:sp>
        <p:nvSpPr>
          <p:cNvPr id="24" name="Text 22"/>
          <p:cNvSpPr/>
          <p:nvPr/>
        </p:nvSpPr>
        <p:spPr>
          <a:xfrm>
            <a:off x="841248" y="4846320"/>
            <a:ext cx="1188720" cy="786384"/>
          </a:xfrm>
          <a:prstGeom prst="rect">
            <a:avLst/>
          </a:prstGeom>
          <a:noFill/>
          <a:ln/>
        </p:spPr>
        <p:txBody>
          <a:bodyPr wrap="square" lIns="0" tIns="0" rIns="0" bIns="0" rtlCol="0" anchor="ctr"/>
          <a:lstStyle/>
          <a:p>
            <a:pPr indent="0" marL="0">
              <a:buNone/>
            </a:pPr>
            <a:r>
              <a:rPr lang="en-US" sz="1350" b="1" dirty="0">
                <a:solidFill>
                  <a:srgbClr val="C8102E"/>
                </a:solidFill>
                <a:latin typeface="Calibri" pitchFamily="34" charset="0"/>
                <a:ea typeface="Calibri" pitchFamily="34" charset="-122"/>
                <a:cs typeface="Calibri" pitchFamily="34" charset="-120"/>
              </a:rPr>
              <a:t>The trap</a:t>
            </a:r>
            <a:endParaRPr lang="en-US" sz="1350" dirty="0"/>
          </a:p>
        </p:txBody>
      </p:sp>
      <p:sp>
        <p:nvSpPr>
          <p:cNvPr id="25" name="Text 23"/>
          <p:cNvSpPr/>
          <p:nvPr/>
        </p:nvSpPr>
        <p:spPr>
          <a:xfrm>
            <a:off x="2121408" y="4846320"/>
            <a:ext cx="9229039" cy="786384"/>
          </a:xfrm>
          <a:prstGeom prst="rect">
            <a:avLst/>
          </a:prstGeom>
          <a:noFill/>
          <a:ln/>
        </p:spPr>
        <p:txBody>
          <a:bodyPr wrap="square" lIns="0" tIns="0" rIns="0" bIns="0" rtlCol="0" anchor="ctr"/>
          <a:lstStyle/>
          <a:p>
            <a:pPr indent="0" marL="0">
              <a:buNone/>
            </a:pPr>
            <a:r>
              <a:rPr lang="en-US" sz="1350" dirty="0">
                <a:solidFill>
                  <a:srgbClr val="8E0B20"/>
                </a:solidFill>
                <a:latin typeface="Calibri" pitchFamily="34" charset="0"/>
                <a:ea typeface="Calibri" pitchFamily="34" charset="-122"/>
                <a:cs typeface="Calibri" pitchFamily="34" charset="-120"/>
              </a:rPr>
              <a:t>V(B) is not −1, and it is not +10. A state is worth the whole future that follows it, not the next reward and not the last one.</a:t>
            </a:r>
            <a:endParaRPr lang="en-US" sz="1350" dirty="0"/>
          </a:p>
        </p:txBody>
      </p:sp>
      <p:sp>
        <p:nvSpPr>
          <p:cNvPr id="26" name="Text 2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7" name="Text 2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All four episodes, averaged</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Each state's estimate is the mean of its observed returns.</a:t>
            </a:r>
            <a:endParaRPr lang="en-US" sz="1400" dirty="0"/>
          </a:p>
        </p:txBody>
      </p:sp>
      <p:pic>
        <p:nvPicPr>
          <p:cNvPr id="4" name="Image 0" descr="/home/claude/comp469_rl/figures/fig07_direct_eval.png">    </p:cNvPr>
          <p:cNvPicPr>
            <a:picLocks noChangeAspect="1"/>
          </p:cNvPicPr>
          <p:nvPr/>
        </p:nvPicPr>
        <p:blipFill>
          <a:blip r:embed="rId1"/>
          <a:srcRect l="0" r="0" t="0" b="0"/>
          <a:stretch/>
        </p:blipFill>
        <p:spPr>
          <a:xfrm>
            <a:off x="749808" y="1517904"/>
            <a:ext cx="10698480" cy="3840480"/>
          </a:xfrm>
          <a:prstGeom prst="rect">
            <a:avLst/>
          </a:prstGeom>
        </p:spPr>
      </p:pic>
      <p:sp>
        <p:nvSpPr>
          <p:cNvPr id="5" name="Shape 2"/>
          <p:cNvSpPr/>
          <p:nvPr/>
        </p:nvSpPr>
        <p:spPr>
          <a:xfrm>
            <a:off x="566928" y="5541264"/>
            <a:ext cx="11057839" cy="603504"/>
          </a:xfrm>
          <a:prstGeom prst="roundRect">
            <a:avLst>
              <a:gd name="adj" fmla="val 13636"/>
            </a:avLst>
          </a:prstGeom>
          <a:solidFill>
            <a:srgbClr val="FBEAED"/>
          </a:solidFill>
          <a:ln/>
        </p:spPr>
      </p:sp>
      <p:sp>
        <p:nvSpPr>
          <p:cNvPr id="6" name="Shape 3"/>
          <p:cNvSpPr/>
          <p:nvPr/>
        </p:nvSpPr>
        <p:spPr>
          <a:xfrm>
            <a:off x="786384" y="5751576"/>
            <a:ext cx="182880" cy="182880"/>
          </a:xfrm>
          <a:prstGeom prst="ellipse">
            <a:avLst/>
          </a:prstGeom>
          <a:solidFill>
            <a:srgbClr val="C8102E"/>
          </a:solidFill>
          <a:ln/>
        </p:spPr>
      </p:sp>
      <p:sp>
        <p:nvSpPr>
          <p:cNvPr id="7" name="Text 4"/>
          <p:cNvSpPr/>
          <p:nvPr/>
        </p:nvSpPr>
        <p:spPr>
          <a:xfrm>
            <a:off x="1115568" y="5541264"/>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C was visited four times: 9, 9, 9, and −11. One unlucky episode pulls its estimate down to +4.</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B and E cannot possibly have different values</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THE PROBLEM</a:t>
            </a:r>
            <a:endParaRPr lang="en-US" sz="1050" dirty="0"/>
          </a:p>
        </p:txBody>
      </p:sp>
      <p:pic>
        <p:nvPicPr>
          <p:cNvPr id="4" name="Image 0" descr="/home/claude/comp469_rl/figures/fig08_b_vs_e.png">    </p:cNvPr>
          <p:cNvPicPr>
            <a:picLocks noChangeAspect="1"/>
          </p:cNvPicPr>
          <p:nvPr/>
        </p:nvPicPr>
        <p:blipFill>
          <a:blip r:embed="rId1"/>
          <a:srcRect l="0" r="0" t="0" b="0"/>
          <a:stretch/>
        </p:blipFill>
        <p:spPr>
          <a:xfrm>
            <a:off x="566928" y="1371600"/>
            <a:ext cx="11064240" cy="3968496"/>
          </a:xfrm>
          <a:prstGeom prst="rect">
            <a:avLst/>
          </a:prstGeom>
        </p:spPr>
      </p:pic>
      <p:sp>
        <p:nvSpPr>
          <p:cNvPr id="5" name="Shape 2"/>
          <p:cNvSpPr/>
          <p:nvPr/>
        </p:nvSpPr>
        <p:spPr>
          <a:xfrm>
            <a:off x="566928" y="5504688"/>
            <a:ext cx="11057839" cy="603504"/>
          </a:xfrm>
          <a:prstGeom prst="roundRect">
            <a:avLst>
              <a:gd name="adj" fmla="val 13636"/>
            </a:avLst>
          </a:prstGeom>
          <a:solidFill>
            <a:srgbClr val="FBEAED"/>
          </a:solidFill>
          <a:ln/>
        </p:spPr>
      </p:sp>
      <p:sp>
        <p:nvSpPr>
          <p:cNvPr id="6" name="Shape 3"/>
          <p:cNvSpPr/>
          <p:nvPr/>
        </p:nvSpPr>
        <p:spPr>
          <a:xfrm>
            <a:off x="786384" y="5715000"/>
            <a:ext cx="182880" cy="182880"/>
          </a:xfrm>
          <a:prstGeom prst="ellipse">
            <a:avLst/>
          </a:prstGeom>
          <a:solidFill>
            <a:srgbClr val="C8102E"/>
          </a:solidFill>
          <a:ln/>
        </p:spPr>
      </p:sp>
      <p:sp>
        <p:nvSpPr>
          <p:cNvPr id="7" name="Text 4"/>
          <p:cNvSpPr/>
          <p:nvPr/>
        </p:nvSpPr>
        <p:spPr>
          <a:xfrm>
            <a:off x="1115568" y="5504688"/>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Under this policy B and E both go straight to C, so they must be worth the same. Direct evaluation reports +8 and −2.</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Direct evaluation, scored honestly</a:t>
            </a:r>
            <a:endParaRPr lang="en-US" sz="3000" dirty="0"/>
          </a:p>
        </p:txBody>
      </p:sp>
      <p:sp>
        <p:nvSpPr>
          <p:cNvPr id="3" name="Shape 1"/>
          <p:cNvSpPr/>
          <p:nvPr/>
        </p:nvSpPr>
        <p:spPr>
          <a:xfrm>
            <a:off x="566928" y="1481328"/>
            <a:ext cx="5358384" cy="3529584"/>
          </a:xfrm>
          <a:prstGeom prst="roundRect">
            <a:avLst>
              <a:gd name="adj" fmla="val 2332"/>
            </a:avLst>
          </a:prstGeom>
          <a:solidFill>
            <a:srgbClr val="E8F2ED"/>
          </a:solidFill>
          <a:ln/>
        </p:spPr>
      </p:sp>
      <p:sp>
        <p:nvSpPr>
          <p:cNvPr id="4" name="Text 2"/>
          <p:cNvSpPr/>
          <p:nvPr/>
        </p:nvSpPr>
        <p:spPr>
          <a:xfrm>
            <a:off x="841248" y="1627632"/>
            <a:ext cx="4809744" cy="365760"/>
          </a:xfrm>
          <a:prstGeom prst="rect">
            <a:avLst/>
          </a:prstGeom>
          <a:noFill/>
          <a:ln/>
        </p:spPr>
        <p:txBody>
          <a:bodyPr wrap="square" lIns="0" tIns="0" rIns="0" bIns="0" rtlCol="0" anchor="ctr"/>
          <a:lstStyle/>
          <a:p>
            <a:pPr indent="0" marL="0">
              <a:buNone/>
            </a:pPr>
            <a:r>
              <a:rPr lang="en-US" sz="1650" b="1" dirty="0">
                <a:solidFill>
                  <a:srgbClr val="1B7F5A"/>
                </a:solidFill>
                <a:latin typeface="Cambria" pitchFamily="34" charset="0"/>
                <a:ea typeface="Cambria" pitchFamily="34" charset="-122"/>
                <a:cs typeface="Cambria" pitchFamily="34" charset="-120"/>
              </a:rPr>
              <a:t>Where it holds up</a:t>
            </a:r>
            <a:endParaRPr lang="en-US" sz="1650" dirty="0"/>
          </a:p>
        </p:txBody>
      </p:sp>
      <p:sp>
        <p:nvSpPr>
          <p:cNvPr id="5" name="Text 3"/>
          <p:cNvSpPr/>
          <p:nvPr/>
        </p:nvSpPr>
        <p:spPr>
          <a:xfrm>
            <a:off x="841248" y="2084832"/>
            <a:ext cx="4791456" cy="2743200"/>
          </a:xfrm>
          <a:prstGeom prst="rect">
            <a:avLst/>
          </a:prstGeom>
          <a:noFill/>
          <a:ln/>
        </p:spPr>
        <p:txBody>
          <a:bodyPr wrap="square" lIns="0" tIns="0" rIns="0" bIns="0" rtlCol="0" anchor="t"/>
          <a:lstStyle/>
          <a:p>
            <a:pPr marL="177800" indent="-177800">
              <a:spcAft>
                <a:spcPts val="1100"/>
              </a:spcAft>
              <a:buSzPct val="100000"/>
              <a:buChar char="•"/>
            </a:pPr>
            <a:r>
              <a:rPr lang="en-US" sz="1300" dirty="0">
                <a:solidFill>
                  <a:srgbClr val="3C4047"/>
                </a:solidFill>
                <a:latin typeface="Calibri" pitchFamily="34" charset="0"/>
                <a:ea typeface="Calibri" pitchFamily="34" charset="-122"/>
                <a:cs typeface="Calibri" pitchFamily="34" charset="-120"/>
              </a:rPr>
              <a:t>It is genuinely simple. You can implement it in ten lines.</a:t>
            </a:r>
            <a:endParaRPr lang="en-US" sz="1300" dirty="0"/>
          </a:p>
          <a:p>
            <a:pPr marL="177800" indent="-177800">
              <a:spcAft>
                <a:spcPts val="1100"/>
              </a:spcAft>
              <a:buSzPct val="100000"/>
              <a:buChar char="•"/>
            </a:pPr>
            <a:r>
              <a:rPr lang="en-US" sz="1300" dirty="0">
                <a:solidFill>
                  <a:srgbClr val="3C4047"/>
                </a:solidFill>
                <a:latin typeface="Calibri" pitchFamily="34" charset="0"/>
                <a:ea typeface="Calibri" pitchFamily="34" charset="-122"/>
                <a:cs typeface="Calibri" pitchFamily="34" charset="-120"/>
              </a:rPr>
              <a:t>It requires no knowledge of T or R. They are implicit in the observed rewards.</a:t>
            </a:r>
            <a:endParaRPr lang="en-US" sz="1300" dirty="0"/>
          </a:p>
          <a:p>
            <a:pPr marL="177800" indent="-177800">
              <a:spcAft>
                <a:spcPts val="1100"/>
              </a:spcAft>
              <a:buSzPct val="100000"/>
              <a:buChar char="•"/>
            </a:pPr>
            <a:r>
              <a:rPr lang="en-US" sz="1300" dirty="0">
                <a:solidFill>
                  <a:srgbClr val="3C4047"/>
                </a:solidFill>
                <a:latin typeface="Calibri" pitchFamily="34" charset="0"/>
                <a:ea typeface="Calibri" pitchFamily="34" charset="-122"/>
                <a:cs typeface="Calibri" pitchFamily="34" charset="-120"/>
              </a:rPr>
              <a:t>It converges to the correct values eventually, for exactly the reason the age example did: it is averaging samples.</a:t>
            </a:r>
            <a:endParaRPr lang="en-US" sz="1300" dirty="0"/>
          </a:p>
          <a:p>
            <a:pPr marL="177800" indent="-177800">
              <a:spcAft>
                <a:spcPts val="1100"/>
              </a:spcAft>
              <a:buSzPct val="100000"/>
              <a:buChar char="•"/>
            </a:pPr>
            <a:r>
              <a:rPr lang="en-US" sz="1300" dirty="0">
                <a:solidFill>
                  <a:srgbClr val="3C4047"/>
                </a:solidFill>
                <a:latin typeface="Calibri" pitchFamily="34" charset="0"/>
                <a:ea typeface="Calibri" pitchFamily="34" charset="-122"/>
                <a:cs typeface="Calibri" pitchFamily="34" charset="-120"/>
              </a:rPr>
              <a:t>It is unbiased. No bootstrapping means no error inherited from other estimates.</a:t>
            </a:r>
            <a:endParaRPr lang="en-US" sz="1300" dirty="0"/>
          </a:p>
        </p:txBody>
      </p:sp>
      <p:sp>
        <p:nvSpPr>
          <p:cNvPr id="6" name="Shape 4"/>
          <p:cNvSpPr/>
          <p:nvPr/>
        </p:nvSpPr>
        <p:spPr>
          <a:xfrm>
            <a:off x="6309360" y="1481328"/>
            <a:ext cx="5358384" cy="3529584"/>
          </a:xfrm>
          <a:prstGeom prst="roundRect">
            <a:avLst>
              <a:gd name="adj" fmla="val 2332"/>
            </a:avLst>
          </a:prstGeom>
          <a:solidFill>
            <a:srgbClr val="FBEAED"/>
          </a:solidFill>
          <a:ln/>
        </p:spPr>
      </p:sp>
      <p:sp>
        <p:nvSpPr>
          <p:cNvPr id="7" name="Text 5"/>
          <p:cNvSpPr/>
          <p:nvPr/>
        </p:nvSpPr>
        <p:spPr>
          <a:xfrm>
            <a:off x="6583680" y="1627632"/>
            <a:ext cx="4809744" cy="365760"/>
          </a:xfrm>
          <a:prstGeom prst="rect">
            <a:avLst/>
          </a:prstGeom>
          <a:noFill/>
          <a:ln/>
        </p:spPr>
        <p:txBody>
          <a:bodyPr wrap="square" lIns="0" tIns="0" rIns="0" bIns="0" rtlCol="0" anchor="ctr"/>
          <a:lstStyle/>
          <a:p>
            <a:pPr indent="0" marL="0">
              <a:buNone/>
            </a:pPr>
            <a:r>
              <a:rPr lang="en-US" sz="1650" b="1" dirty="0">
                <a:solidFill>
                  <a:srgbClr val="C8102E"/>
                </a:solidFill>
                <a:latin typeface="Cambria" pitchFamily="34" charset="0"/>
                <a:ea typeface="Cambria" pitchFamily="34" charset="-122"/>
                <a:cs typeface="Cambria" pitchFamily="34" charset="-120"/>
              </a:rPr>
              <a:t>Where it fails</a:t>
            </a:r>
            <a:endParaRPr lang="en-US" sz="1650" dirty="0"/>
          </a:p>
        </p:txBody>
      </p:sp>
      <p:sp>
        <p:nvSpPr>
          <p:cNvPr id="8" name="Text 6"/>
          <p:cNvSpPr/>
          <p:nvPr/>
        </p:nvSpPr>
        <p:spPr>
          <a:xfrm>
            <a:off x="6583680" y="2084832"/>
            <a:ext cx="4791456" cy="2743200"/>
          </a:xfrm>
          <a:prstGeom prst="rect">
            <a:avLst/>
          </a:prstGeom>
          <a:noFill/>
          <a:ln/>
        </p:spPr>
        <p:txBody>
          <a:bodyPr wrap="square" lIns="0" tIns="0" rIns="0" bIns="0" rtlCol="0" anchor="t"/>
          <a:lstStyle/>
          <a:p>
            <a:pPr marL="177800" indent="-177800">
              <a:spcAft>
                <a:spcPts val="1100"/>
              </a:spcAft>
              <a:buSzPct val="100000"/>
              <a:buChar char="•"/>
            </a:pPr>
            <a:r>
              <a:rPr lang="en-US" sz="1300" dirty="0">
                <a:solidFill>
                  <a:srgbClr val="3C4047"/>
                </a:solidFill>
                <a:latin typeface="Calibri" pitchFamily="34" charset="0"/>
                <a:ea typeface="Calibri" pitchFamily="34" charset="-122"/>
                <a:cs typeface="Calibri" pitchFamily="34" charset="-120"/>
              </a:rPr>
              <a:t>It throws away every fact about how states connect to each other.</a:t>
            </a:r>
            <a:endParaRPr lang="en-US" sz="1300" dirty="0"/>
          </a:p>
          <a:p>
            <a:pPr marL="177800" indent="-177800">
              <a:spcAft>
                <a:spcPts val="1100"/>
              </a:spcAft>
              <a:buSzPct val="100000"/>
              <a:buChar char="•"/>
            </a:pPr>
            <a:r>
              <a:rPr lang="en-US" sz="1300" dirty="0">
                <a:solidFill>
                  <a:srgbClr val="3C4047"/>
                </a:solidFill>
                <a:latin typeface="Calibri" pitchFamily="34" charset="0"/>
                <a:ea typeface="Calibri" pitchFamily="34" charset="-122"/>
                <a:cs typeface="Calibri" pitchFamily="34" charset="-120"/>
              </a:rPr>
              <a:t>Each state must be learned separately, from its own independent visits.</a:t>
            </a:r>
            <a:endParaRPr lang="en-US" sz="1300" dirty="0"/>
          </a:p>
          <a:p>
            <a:pPr marL="177800" indent="-177800">
              <a:spcAft>
                <a:spcPts val="1100"/>
              </a:spcAft>
              <a:buSzPct val="100000"/>
              <a:buChar char="•"/>
            </a:pPr>
            <a:r>
              <a:rPr lang="en-US" sz="1300" dirty="0">
                <a:solidFill>
                  <a:srgbClr val="3C4047"/>
                </a:solidFill>
                <a:latin typeface="Calibri" pitchFamily="34" charset="0"/>
                <a:ea typeface="Calibri" pitchFamily="34" charset="-122"/>
                <a:cs typeface="Calibri" pitchFamily="34" charset="-120"/>
              </a:rPr>
              <a:t>Every sample absorbs the variance of the entire rest of the episode, most of which is irrelevant noise once you know the next state's value.</a:t>
            </a:r>
            <a:endParaRPr lang="en-US" sz="1300" dirty="0"/>
          </a:p>
          <a:p>
            <a:pPr marL="177800" indent="-177800">
              <a:spcAft>
                <a:spcPts val="1100"/>
              </a:spcAft>
              <a:buSzPct val="100000"/>
              <a:buChar char="•"/>
            </a:pPr>
            <a:r>
              <a:rPr lang="en-US" sz="1300" dirty="0">
                <a:solidFill>
                  <a:srgbClr val="3C4047"/>
                </a:solidFill>
                <a:latin typeface="Calibri" pitchFamily="34" charset="0"/>
                <a:ea typeface="Calibri" pitchFamily="34" charset="-122"/>
                <a:cs typeface="Calibri" pitchFamily="34" charset="-120"/>
              </a:rPr>
              <a:t>So it needs far more experience than necessary to reach the same accuracy.</a:t>
            </a:r>
            <a:endParaRPr lang="en-US" sz="1300" dirty="0"/>
          </a:p>
        </p:txBody>
      </p:sp>
      <p:sp>
        <p:nvSpPr>
          <p:cNvPr id="9" name="Shape 7"/>
          <p:cNvSpPr/>
          <p:nvPr/>
        </p:nvSpPr>
        <p:spPr>
          <a:xfrm>
            <a:off x="566928" y="5230368"/>
            <a:ext cx="11057839" cy="603504"/>
          </a:xfrm>
          <a:prstGeom prst="roundRect">
            <a:avLst>
              <a:gd name="adj" fmla="val 13636"/>
            </a:avLst>
          </a:prstGeom>
          <a:solidFill>
            <a:srgbClr val="FBEAED"/>
          </a:solidFill>
          <a:ln/>
        </p:spPr>
      </p:sp>
      <p:sp>
        <p:nvSpPr>
          <p:cNvPr id="10" name="Shape 8"/>
          <p:cNvSpPr/>
          <p:nvPr/>
        </p:nvSpPr>
        <p:spPr>
          <a:xfrm>
            <a:off x="786384" y="5440680"/>
            <a:ext cx="182880" cy="182880"/>
          </a:xfrm>
          <a:prstGeom prst="ellipse">
            <a:avLst/>
          </a:prstGeom>
          <a:solidFill>
            <a:srgbClr val="C8102E"/>
          </a:solidFill>
          <a:ln/>
        </p:spPr>
      </p:sp>
      <p:sp>
        <p:nvSpPr>
          <p:cNvPr id="11" name="Text 9"/>
          <p:cNvSpPr/>
          <p:nvPr/>
        </p:nvSpPr>
        <p:spPr>
          <a:xfrm>
            <a:off x="1115568" y="5230368"/>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The fix is not a better averaging scheme. The fix is to stop ignoring that B leads to C.</a:t>
            </a:r>
            <a:endParaRPr lang="en-US" sz="1450" dirty="0"/>
          </a:p>
        </p:txBody>
      </p:sp>
      <p:sp>
        <p:nvSpPr>
          <p:cNvPr id="12" name="Text 10"/>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3" name="Text 11"/>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What that waste costs in practice</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Identical experience, both methods evaluating the same fixed policy on the same gridworld.</a:t>
            </a:r>
            <a:endParaRPr lang="en-US" sz="1400" dirty="0"/>
          </a:p>
        </p:txBody>
      </p:sp>
      <p:pic>
        <p:nvPicPr>
          <p:cNvPr id="4" name="Image 0" descr="/home/claude/comp469_rl/figures/fig11_efficiency.png">    </p:cNvPr>
          <p:cNvPicPr>
            <a:picLocks noChangeAspect="1"/>
          </p:cNvPicPr>
          <p:nvPr/>
        </p:nvPicPr>
        <p:blipFill>
          <a:blip r:embed="rId1"/>
          <a:srcRect l="0" r="0" t="0" b="0"/>
          <a:stretch/>
        </p:blipFill>
        <p:spPr>
          <a:xfrm>
            <a:off x="1920240" y="1572768"/>
            <a:ext cx="8321040" cy="3931920"/>
          </a:xfrm>
          <a:prstGeom prst="rect">
            <a:avLst/>
          </a:prstGeom>
        </p:spPr>
      </p:pic>
      <p:sp>
        <p:nvSpPr>
          <p:cNvPr id="5" name="Shape 2"/>
          <p:cNvSpPr/>
          <p:nvPr/>
        </p:nvSpPr>
        <p:spPr>
          <a:xfrm>
            <a:off x="566928" y="5632704"/>
            <a:ext cx="11057839" cy="603504"/>
          </a:xfrm>
          <a:prstGeom prst="roundRect">
            <a:avLst>
              <a:gd name="adj" fmla="val 13636"/>
            </a:avLst>
          </a:prstGeom>
          <a:solidFill>
            <a:srgbClr val="F4F5F6"/>
          </a:solidFill>
          <a:ln/>
        </p:spPr>
      </p:sp>
      <p:sp>
        <p:nvSpPr>
          <p:cNvPr id="6" name="Shape 3"/>
          <p:cNvSpPr/>
          <p:nvPr/>
        </p:nvSpPr>
        <p:spPr>
          <a:xfrm>
            <a:off x="786384" y="5843016"/>
            <a:ext cx="182880" cy="182880"/>
          </a:xfrm>
          <a:prstGeom prst="ellipse">
            <a:avLst/>
          </a:prstGeom>
          <a:solidFill>
            <a:srgbClr val="53565A"/>
          </a:solidFill>
          <a:ln/>
        </p:spPr>
      </p:sp>
      <p:sp>
        <p:nvSpPr>
          <p:cNvPr id="7" name="Text 4"/>
          <p:cNvSpPr/>
          <p:nvPr/>
        </p:nvSpPr>
        <p:spPr>
          <a:xfrm>
            <a:off x="1115568" y="5632704"/>
            <a:ext cx="10289743" cy="603504"/>
          </a:xfrm>
          <a:prstGeom prst="rect">
            <a:avLst/>
          </a:prstGeom>
          <a:noFill/>
          <a:ln/>
        </p:spPr>
        <p:txBody>
          <a:bodyPr wrap="square" lIns="0" tIns="0" rIns="0" bIns="0" rtlCol="0" anchor="ctr"/>
          <a:lstStyle/>
          <a:p>
            <a:pPr indent="0" marL="0">
              <a:buNone/>
            </a:pPr>
            <a:r>
              <a:rPr lang="en-US" sz="1450" b="1" dirty="0">
                <a:solidFill>
                  <a:srgbClr val="3C4047"/>
                </a:solidFill>
                <a:latin typeface="Calibri" pitchFamily="34" charset="0"/>
                <a:ea typeface="Calibri" pitchFamily="34" charset="-122"/>
                <a:cs typeface="Calibri" pitchFamily="34" charset="-120"/>
              </a:rPr>
              <a:t>Direct evaluation is not wrong. It is slow, and slow is fatal when every sample costs a real action in a real world.</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566928" y="2103120"/>
            <a:ext cx="960120" cy="960120"/>
          </a:xfrm>
          <a:prstGeom prst="ellipse">
            <a:avLst/>
          </a:prstGeom>
          <a:solidFill>
            <a:srgbClr val="C8102E"/>
          </a:solidFill>
          <a:ln/>
        </p:spPr>
      </p:sp>
      <p:sp>
        <p:nvSpPr>
          <p:cNvPr id="3" name="Text 1"/>
          <p:cNvSpPr/>
          <p:nvPr/>
        </p:nvSpPr>
        <p:spPr>
          <a:xfrm>
            <a:off x="566928" y="2103120"/>
            <a:ext cx="96012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10</a:t>
            </a:r>
            <a:endParaRPr lang="en-US" sz="3000" dirty="0"/>
          </a:p>
        </p:txBody>
      </p:sp>
      <p:sp>
        <p:nvSpPr>
          <p:cNvPr id="4" name="Text 2"/>
          <p:cNvSpPr/>
          <p:nvPr/>
        </p:nvSpPr>
        <p:spPr>
          <a:xfrm>
            <a:off x="566928" y="3273552"/>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Break</a:t>
            </a:r>
            <a:endParaRPr lang="en-US" sz="4000" dirty="0"/>
          </a:p>
        </p:txBody>
      </p:sp>
      <p:sp>
        <p:nvSpPr>
          <p:cNvPr id="5" name="Text 3"/>
          <p:cNvSpPr/>
          <p:nvPr/>
        </p:nvSpPr>
        <p:spPr>
          <a:xfrm>
            <a:off x="566928" y="4133088"/>
            <a:ext cx="7863840" cy="822960"/>
          </a:xfrm>
          <a:prstGeom prst="rect">
            <a:avLst/>
          </a:prstGeom>
          <a:noFill/>
          <a:ln/>
        </p:spPr>
        <p:txBody>
          <a:bodyPr wrap="square" lIns="0" tIns="0" rIns="0" bIns="0" rtlCol="0" anchor="t"/>
          <a:lstStyle/>
          <a:p>
            <a:pPr indent="0" marL="0">
              <a:lnSpc>
                <a:spcPct val="118000"/>
              </a:lnSpc>
              <a:buNone/>
            </a:pPr>
            <a:r>
              <a:rPr lang="en-US" sz="1550" dirty="0">
                <a:solidFill>
                  <a:srgbClr val="C3C7CB"/>
                </a:solidFill>
                <a:latin typeface="Calibri" pitchFamily="34" charset="0"/>
                <a:ea typeface="Calibri" pitchFamily="34" charset="-122"/>
                <a:cs typeface="Calibri" pitchFamily="34" charset="-120"/>
              </a:rPr>
              <a:t>Back in ten minutes. When we return we stop averaging whole episodes and start learning from every single transition.</a:t>
            </a:r>
            <a:endParaRPr lang="en-US" sz="1550" dirty="0"/>
          </a:p>
        </p:txBody>
      </p:sp>
      <p:sp>
        <p:nvSpPr>
          <p:cNvPr id="6" name="Shape 4"/>
          <p:cNvSpPr/>
          <p:nvPr/>
        </p:nvSpPr>
        <p:spPr>
          <a:xfrm>
            <a:off x="8503920" y="2103120"/>
            <a:ext cx="3108960" cy="2761488"/>
          </a:xfrm>
          <a:prstGeom prst="roundRect">
            <a:avLst>
              <a:gd name="adj" fmla="val 2980"/>
            </a:avLst>
          </a:prstGeom>
          <a:solidFill>
            <a:srgbClr val="31353B"/>
          </a:solidFill>
          <a:ln/>
        </p:spPr>
      </p:sp>
      <p:sp>
        <p:nvSpPr>
          <p:cNvPr id="7" name="Text 5"/>
          <p:cNvSpPr/>
          <p:nvPr/>
        </p:nvSpPr>
        <p:spPr>
          <a:xfrm>
            <a:off x="8759952" y="2267712"/>
            <a:ext cx="2651760" cy="310896"/>
          </a:xfrm>
          <a:prstGeom prst="rect">
            <a:avLst/>
          </a:prstGeom>
          <a:noFill/>
          <a:ln/>
        </p:spPr>
        <p:txBody>
          <a:bodyPr wrap="square" lIns="0" tIns="0" rIns="0" bIns="0" rtlCol="0" anchor="ctr"/>
          <a:lstStyle/>
          <a:p>
            <a:pPr indent="0" marL="0">
              <a:buNone/>
            </a:pPr>
            <a:r>
              <a:rPr lang="en-US" sz="1200" b="1" spc="140" kern="0" dirty="0">
                <a:solidFill>
                  <a:srgbClr val="C8102E"/>
                </a:solidFill>
                <a:latin typeface="Calibri" pitchFamily="34" charset="0"/>
                <a:ea typeface="Calibri" pitchFamily="34" charset="-122"/>
                <a:cs typeface="Calibri" pitchFamily="34" charset="-120"/>
              </a:rPr>
              <a:t>So far</a:t>
            </a:r>
            <a:endParaRPr lang="en-US" sz="1200" dirty="0"/>
          </a:p>
        </p:txBody>
      </p:sp>
      <p:sp>
        <p:nvSpPr>
          <p:cNvPr id="8" name="Shape 6"/>
          <p:cNvSpPr/>
          <p:nvPr/>
        </p:nvSpPr>
        <p:spPr>
          <a:xfrm>
            <a:off x="8759952" y="2761488"/>
            <a:ext cx="128016" cy="128016"/>
          </a:xfrm>
          <a:prstGeom prst="ellipse">
            <a:avLst/>
          </a:prstGeom>
          <a:solidFill>
            <a:srgbClr val="C8102E"/>
          </a:solidFill>
          <a:ln/>
        </p:spPr>
      </p:sp>
      <p:sp>
        <p:nvSpPr>
          <p:cNvPr id="9" name="Text 7"/>
          <p:cNvSpPr/>
          <p:nvPr/>
        </p:nvSpPr>
        <p:spPr>
          <a:xfrm>
            <a:off x="9015984" y="2670048"/>
            <a:ext cx="2395728" cy="566928"/>
          </a:xfrm>
          <a:prstGeom prst="rect">
            <a:avLst/>
          </a:prstGeom>
          <a:noFill/>
          <a:ln/>
        </p:spPr>
        <p:txBody>
          <a:bodyPr wrap="square" lIns="0" tIns="0" rIns="0" bIns="0" rtlCol="0" anchor="t"/>
          <a:lstStyle/>
          <a:p>
            <a:pPr indent="0" marL="0">
              <a:buNone/>
            </a:pPr>
            <a:r>
              <a:rPr lang="en-US" sz="1150" dirty="0">
                <a:solidFill>
                  <a:srgbClr val="C3C7CB"/>
                </a:solidFill>
                <a:latin typeface="Calibri" pitchFamily="34" charset="0"/>
                <a:ea typeface="Calibri" pitchFamily="34" charset="-122"/>
                <a:cs typeface="Calibri" pitchFamily="34" charset="-120"/>
              </a:rPr>
              <a:t>RL is an MDP with T and R withheld</a:t>
            </a:r>
            <a:endParaRPr lang="en-US" sz="1150" dirty="0"/>
          </a:p>
        </p:txBody>
      </p:sp>
      <p:sp>
        <p:nvSpPr>
          <p:cNvPr id="10" name="Shape 8"/>
          <p:cNvSpPr/>
          <p:nvPr/>
        </p:nvSpPr>
        <p:spPr>
          <a:xfrm>
            <a:off x="8759952" y="3328416"/>
            <a:ext cx="128016" cy="128016"/>
          </a:xfrm>
          <a:prstGeom prst="ellipse">
            <a:avLst/>
          </a:prstGeom>
          <a:solidFill>
            <a:srgbClr val="C8102E"/>
          </a:solidFill>
          <a:ln/>
        </p:spPr>
      </p:sp>
      <p:sp>
        <p:nvSpPr>
          <p:cNvPr id="11" name="Text 9"/>
          <p:cNvSpPr/>
          <p:nvPr/>
        </p:nvSpPr>
        <p:spPr>
          <a:xfrm>
            <a:off x="9015984" y="3236976"/>
            <a:ext cx="2395728" cy="566928"/>
          </a:xfrm>
          <a:prstGeom prst="rect">
            <a:avLst/>
          </a:prstGeom>
          <a:noFill/>
          <a:ln/>
        </p:spPr>
        <p:txBody>
          <a:bodyPr wrap="square" lIns="0" tIns="0" rIns="0" bIns="0" rtlCol="0" anchor="t"/>
          <a:lstStyle/>
          <a:p>
            <a:pPr indent="0" marL="0">
              <a:buNone/>
            </a:pPr>
            <a:r>
              <a:rPr lang="en-US" sz="1150" dirty="0">
                <a:solidFill>
                  <a:srgbClr val="C3C7CB"/>
                </a:solidFill>
                <a:latin typeface="Calibri" pitchFamily="34" charset="0"/>
                <a:ea typeface="Calibri" pitchFamily="34" charset="-122"/>
                <a:cs typeface="Calibri" pitchFamily="34" charset="-120"/>
              </a:rPr>
              <a:t>Model-based: learn T̂ and R̂, then solve</a:t>
            </a:r>
            <a:endParaRPr lang="en-US" sz="1150" dirty="0"/>
          </a:p>
        </p:txBody>
      </p:sp>
      <p:sp>
        <p:nvSpPr>
          <p:cNvPr id="12" name="Shape 10"/>
          <p:cNvSpPr/>
          <p:nvPr/>
        </p:nvSpPr>
        <p:spPr>
          <a:xfrm>
            <a:off x="8759952" y="3895344"/>
            <a:ext cx="128016" cy="128016"/>
          </a:xfrm>
          <a:prstGeom prst="ellipse">
            <a:avLst/>
          </a:prstGeom>
          <a:solidFill>
            <a:srgbClr val="C8102E"/>
          </a:solidFill>
          <a:ln/>
        </p:spPr>
      </p:sp>
      <p:sp>
        <p:nvSpPr>
          <p:cNvPr id="13" name="Text 11"/>
          <p:cNvSpPr/>
          <p:nvPr/>
        </p:nvSpPr>
        <p:spPr>
          <a:xfrm>
            <a:off x="9015984" y="3803904"/>
            <a:ext cx="2395728" cy="566928"/>
          </a:xfrm>
          <a:prstGeom prst="rect">
            <a:avLst/>
          </a:prstGeom>
          <a:noFill/>
          <a:ln/>
        </p:spPr>
        <p:txBody>
          <a:bodyPr wrap="square" lIns="0" tIns="0" rIns="0" bIns="0" rtlCol="0" anchor="t"/>
          <a:lstStyle/>
          <a:p>
            <a:pPr indent="0" marL="0">
              <a:buNone/>
            </a:pPr>
            <a:r>
              <a:rPr lang="en-US" sz="1150" dirty="0">
                <a:solidFill>
                  <a:srgbClr val="C3C7CB"/>
                </a:solidFill>
                <a:latin typeface="Calibri" pitchFamily="34" charset="0"/>
                <a:ea typeface="Calibri" pitchFamily="34" charset="-122"/>
                <a:cs typeface="Calibri" pitchFamily="34" charset="-120"/>
              </a:rPr>
              <a:t>Averaging samples replaces an expectation</a:t>
            </a:r>
            <a:endParaRPr lang="en-US" sz="1150" dirty="0"/>
          </a:p>
        </p:txBody>
      </p:sp>
      <p:sp>
        <p:nvSpPr>
          <p:cNvPr id="14" name="Shape 12"/>
          <p:cNvSpPr/>
          <p:nvPr/>
        </p:nvSpPr>
        <p:spPr>
          <a:xfrm>
            <a:off x="8759952" y="4462272"/>
            <a:ext cx="128016" cy="128016"/>
          </a:xfrm>
          <a:prstGeom prst="ellipse">
            <a:avLst/>
          </a:prstGeom>
          <a:solidFill>
            <a:srgbClr val="C8102E"/>
          </a:solidFill>
          <a:ln/>
        </p:spPr>
      </p:sp>
      <p:sp>
        <p:nvSpPr>
          <p:cNvPr id="15" name="Text 13"/>
          <p:cNvSpPr/>
          <p:nvPr/>
        </p:nvSpPr>
        <p:spPr>
          <a:xfrm>
            <a:off x="9015984" y="4370832"/>
            <a:ext cx="2395728" cy="566928"/>
          </a:xfrm>
          <a:prstGeom prst="rect">
            <a:avLst/>
          </a:prstGeom>
          <a:noFill/>
          <a:ln/>
        </p:spPr>
        <p:txBody>
          <a:bodyPr wrap="square" lIns="0" tIns="0" rIns="0" bIns="0" rtlCol="0" anchor="t"/>
          <a:lstStyle/>
          <a:p>
            <a:pPr indent="0" marL="0">
              <a:buNone/>
            </a:pPr>
            <a:r>
              <a:rPr lang="en-US" sz="1150" dirty="0">
                <a:solidFill>
                  <a:srgbClr val="C3C7CB"/>
                </a:solidFill>
                <a:latin typeface="Calibri" pitchFamily="34" charset="0"/>
                <a:ea typeface="Calibri" pitchFamily="34" charset="-122"/>
                <a:cs typeface="Calibri" pitchFamily="34" charset="-120"/>
              </a:rPr>
              <a:t>Direct evaluation works but wastes the structure</a:t>
            </a:r>
            <a:endParaRPr lang="en-US" sz="1150" dirty="0"/>
          </a:p>
        </p:txBody>
      </p:sp>
      <p:sp>
        <p:nvSpPr>
          <p:cNvPr id="16" name="Text 1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7" name="Text 1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566928" y="2212848"/>
            <a:ext cx="960120" cy="960120"/>
          </a:xfrm>
          <a:prstGeom prst="ellipse">
            <a:avLst/>
          </a:prstGeom>
          <a:solidFill>
            <a:srgbClr val="C8102E"/>
          </a:solidFill>
          <a:ln/>
        </p:spPr>
      </p:sp>
      <p:sp>
        <p:nvSpPr>
          <p:cNvPr id="3" name="Text 1"/>
          <p:cNvSpPr/>
          <p:nvPr/>
        </p:nvSpPr>
        <p:spPr>
          <a:xfrm>
            <a:off x="566928" y="2212848"/>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6</a:t>
            </a:r>
            <a:endParaRPr lang="en-US" sz="3400" dirty="0"/>
          </a:p>
        </p:txBody>
      </p:sp>
      <p:sp>
        <p:nvSpPr>
          <p:cNvPr id="4" name="Text 2"/>
          <p:cNvSpPr/>
          <p:nvPr/>
        </p:nvSpPr>
        <p:spPr>
          <a:xfrm>
            <a:off x="566928" y="3401568"/>
            <a:ext cx="9509760" cy="84124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Temporal difference learning</a:t>
            </a:r>
            <a:endParaRPr lang="en-US" sz="3800" dirty="0"/>
          </a:p>
        </p:txBody>
      </p:sp>
      <p:sp>
        <p:nvSpPr>
          <p:cNvPr id="5" name="Text 3"/>
          <p:cNvSpPr/>
          <p:nvPr/>
        </p:nvSpPr>
        <p:spPr>
          <a:xfrm>
            <a:off x="566928" y="4315968"/>
            <a:ext cx="8778240" cy="731520"/>
          </a:xfrm>
          <a:prstGeom prst="rect">
            <a:avLst/>
          </a:prstGeom>
          <a:noFill/>
          <a:ln/>
        </p:spPr>
        <p:txBody>
          <a:bodyPr wrap="square" lIns="0" tIns="0" rIns="0" bIns="0" rtlCol="0" anchor="t"/>
          <a:lstStyle/>
          <a:p>
            <a:pPr indent="0" marL="0">
              <a:lnSpc>
                <a:spcPct val="115000"/>
              </a:lnSpc>
              <a:buNone/>
            </a:pPr>
            <a:r>
              <a:rPr lang="en-US" sz="1550" dirty="0">
                <a:solidFill>
                  <a:srgbClr val="C3C7CB"/>
                </a:solidFill>
                <a:latin typeface="Calibri" pitchFamily="34" charset="0"/>
                <a:ea typeface="Calibri" pitchFamily="34" charset="-122"/>
                <a:cs typeface="Calibri" pitchFamily="34" charset="-120"/>
              </a:rPr>
              <a:t>Stop waiting for the episode to finish. Learn something from every single transition.</a:t>
            </a:r>
            <a:endParaRPr lang="en-US" sz="1550" dirty="0"/>
          </a:p>
        </p:txBody>
      </p:sp>
      <p:sp>
        <p:nvSpPr>
          <p:cNvPr id="6" name="Text 4"/>
          <p:cNvSpPr/>
          <p:nvPr/>
        </p:nvSpPr>
        <p:spPr>
          <a:xfrm>
            <a:off x="7418527" y="2304288"/>
            <a:ext cx="4206240" cy="365760"/>
          </a:xfrm>
          <a:prstGeom prst="rect">
            <a:avLst/>
          </a:prstGeom>
          <a:noFill/>
          <a:ln/>
        </p:spPr>
        <p:txBody>
          <a:bodyPr wrap="square" lIns="0" tIns="0" rIns="0" bIns="0" rtlCol="0" anchor="ctr"/>
          <a:lstStyle/>
          <a:p>
            <a:pPr algn="r" indent="0" marL="0">
              <a:buNone/>
            </a:pPr>
            <a:r>
              <a:rPr lang="en-US" sz="1200" dirty="0">
                <a:solidFill>
                  <a:srgbClr val="A7A8AA"/>
                </a:solidFill>
                <a:latin typeface="Calibri" pitchFamily="34" charset="0"/>
                <a:ea typeface="Calibri" pitchFamily="34" charset="-122"/>
                <a:cs typeface="Calibri" pitchFamily="34" charset="-120"/>
              </a:rPr>
              <a:t>AIMA 22.2.3</a:t>
            </a:r>
            <a:endParaRPr lang="en-US" sz="1200" dirty="0"/>
          </a:p>
        </p:txBody>
      </p:sp>
      <p:sp>
        <p:nvSpPr>
          <p:cNvPr id="7"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8"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Policy evaluation, when you have the model</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RECALL FROM LAST LECTURE</a:t>
            </a:r>
            <a:endParaRPr lang="en-US" sz="1050" dirty="0"/>
          </a:p>
        </p:txBody>
      </p:sp>
      <p:sp>
        <p:nvSpPr>
          <p:cNvPr id="4" name="Shape 2"/>
          <p:cNvSpPr/>
          <p:nvPr/>
        </p:nvSpPr>
        <p:spPr>
          <a:xfrm>
            <a:off x="566928" y="1481328"/>
            <a:ext cx="11057839" cy="841248"/>
          </a:xfrm>
          <a:prstGeom prst="roundRect">
            <a:avLst>
              <a:gd name="adj" fmla="val 9783"/>
            </a:avLst>
          </a:prstGeom>
          <a:solidFill>
            <a:srgbClr val="E7EEF6"/>
          </a:solidFill>
          <a:ln/>
        </p:spPr>
      </p:sp>
      <p:sp>
        <p:nvSpPr>
          <p:cNvPr id="5" name="Text 3"/>
          <p:cNvSpPr/>
          <p:nvPr/>
        </p:nvSpPr>
        <p:spPr>
          <a:xfrm>
            <a:off x="731520" y="1481328"/>
            <a:ext cx="10728655" cy="841248"/>
          </a:xfrm>
          <a:prstGeom prst="rect">
            <a:avLst/>
          </a:prstGeom>
          <a:noFill/>
          <a:ln/>
        </p:spPr>
        <p:txBody>
          <a:bodyPr wrap="square" lIns="0" tIns="0" rIns="0" bIns="0" rtlCol="0" anchor="ctr"/>
          <a:lstStyle/>
          <a:p>
            <a:pPr algn="ctr" indent="0" marL="0">
              <a:buNone/>
            </a:pPr>
            <a:r>
              <a:rPr lang="en-US" sz="1900" b="1" dirty="0">
                <a:solidFill>
                  <a:srgbClr val="1C5D99"/>
                </a:solidFill>
                <a:latin typeface="Cambria" pitchFamily="34" charset="0"/>
                <a:ea typeface="Cambria" pitchFamily="34" charset="-122"/>
                <a:cs typeface="Cambria" pitchFamily="34" charset="-120"/>
              </a:rPr>
              <a:t>Vₖ₊₁π(s)  </a:t>
            </a:r>
            <a:pPr algn="ctr" indent="0" marL="0">
              <a:buNone/>
            </a:pPr>
            <a:r>
              <a:rPr lang="en-US" sz="2200" b="1" dirty="0">
                <a:solidFill>
                  <a:srgbClr val="1C5D99"/>
                </a:solidFill>
                <a:latin typeface="Calibri" pitchFamily="34" charset="0"/>
                <a:ea typeface="Calibri" pitchFamily="34" charset="-122"/>
                <a:cs typeface="Calibri" pitchFamily="34" charset="-120"/>
              </a:rPr>
              <a:t>←</a:t>
            </a:r>
            <a:pPr algn="ctr" indent="0" marL="0">
              <a:buNone/>
            </a:pPr>
            <a:r>
              <a:rPr lang="en-US" sz="1900" b="1" dirty="0">
                <a:solidFill>
                  <a:srgbClr val="1C5D99"/>
                </a:solidFill>
                <a:latin typeface="Cambria" pitchFamily="34" charset="0"/>
                <a:ea typeface="Cambria" pitchFamily="34" charset="-122"/>
                <a:cs typeface="Cambria" pitchFamily="34" charset="-120"/>
              </a:rPr>
              <a:t>  Σₛ'  T(s, π(s), s')  [ R(s, π(s), s')  +  γ Vₖπ(s') ]</a:t>
            </a:r>
            <a:endParaRPr lang="en-US" sz="1900" dirty="0"/>
          </a:p>
        </p:txBody>
      </p:sp>
      <p:sp>
        <p:nvSpPr>
          <p:cNvPr id="6" name="Text 4"/>
          <p:cNvSpPr/>
          <p:nvPr/>
        </p:nvSpPr>
        <p:spPr>
          <a:xfrm>
            <a:off x="566928" y="2395728"/>
            <a:ext cx="11057839" cy="310896"/>
          </a:xfrm>
          <a:prstGeom prst="rect">
            <a:avLst/>
          </a:prstGeom>
          <a:noFill/>
          <a:ln/>
        </p:spPr>
        <p:txBody>
          <a:bodyPr wrap="square" lIns="0" tIns="0" rIns="0" bIns="0" rtlCol="0" anchor="t"/>
          <a:lstStyle/>
          <a:p>
            <a:pPr algn="ctr" indent="0" marL="0">
              <a:lnSpc>
                <a:spcPct val="114000"/>
              </a:lnSpc>
              <a:buNone/>
            </a:pPr>
            <a:r>
              <a:rPr lang="en-US" sz="1350" i="1" dirty="0">
                <a:solidFill>
                  <a:srgbClr val="53565A"/>
                </a:solidFill>
                <a:latin typeface="Calibri" pitchFamily="34" charset="0"/>
                <a:ea typeface="Calibri" pitchFamily="34" charset="-122"/>
                <a:cs typeface="Calibri" pitchFamily="34" charset="-120"/>
              </a:rPr>
              <a:t>starting from V₀π(s) = 0 everywhere.</a:t>
            </a:r>
            <a:endParaRPr lang="en-US" sz="1350" dirty="0"/>
          </a:p>
        </p:txBody>
      </p:sp>
      <p:sp>
        <p:nvSpPr>
          <p:cNvPr id="7" name="Shape 5"/>
          <p:cNvSpPr/>
          <p:nvPr/>
        </p:nvSpPr>
        <p:spPr>
          <a:xfrm>
            <a:off x="566928" y="2889504"/>
            <a:ext cx="11057839" cy="859536"/>
          </a:xfrm>
          <a:prstGeom prst="roundRect">
            <a:avLst>
              <a:gd name="adj" fmla="val 9574"/>
            </a:avLst>
          </a:prstGeom>
          <a:solidFill>
            <a:srgbClr val="F4F5F6"/>
          </a:solidFill>
          <a:ln/>
        </p:spPr>
      </p:sp>
      <p:sp>
        <p:nvSpPr>
          <p:cNvPr id="8" name="Shape 6"/>
          <p:cNvSpPr/>
          <p:nvPr/>
        </p:nvSpPr>
        <p:spPr>
          <a:xfrm>
            <a:off x="859536" y="3236976"/>
            <a:ext cx="182880" cy="182880"/>
          </a:xfrm>
          <a:prstGeom prst="ellipse">
            <a:avLst/>
          </a:prstGeom>
          <a:solidFill>
            <a:srgbClr val="1B7F5A"/>
          </a:solidFill>
          <a:ln/>
        </p:spPr>
      </p:sp>
      <p:sp>
        <p:nvSpPr>
          <p:cNvPr id="9" name="Text 7"/>
          <p:cNvSpPr/>
          <p:nvPr/>
        </p:nvSpPr>
        <p:spPr>
          <a:xfrm>
            <a:off x="1225296" y="2889504"/>
            <a:ext cx="3657600" cy="859536"/>
          </a:xfrm>
          <a:prstGeom prst="rect">
            <a:avLst/>
          </a:prstGeom>
          <a:noFill/>
          <a:ln/>
        </p:spPr>
        <p:txBody>
          <a:bodyPr wrap="square" lIns="0" tIns="0" rIns="0" bIns="0" rtlCol="0" anchor="ctr"/>
          <a:lstStyle/>
          <a:p>
            <a:pPr indent="0" marL="0">
              <a:buNone/>
            </a:pPr>
            <a:r>
              <a:rPr lang="en-US" sz="1400" b="1" dirty="0">
                <a:solidFill>
                  <a:srgbClr val="22252A"/>
                </a:solidFill>
                <a:latin typeface="Calibri" pitchFamily="34" charset="0"/>
                <a:ea typeface="Calibri" pitchFamily="34" charset="-122"/>
                <a:cs typeface="Calibri" pitchFamily="34" charset="-120"/>
              </a:rPr>
              <a:t>One step of lookahead is enough</a:t>
            </a:r>
            <a:endParaRPr lang="en-US" sz="1400" dirty="0"/>
          </a:p>
        </p:txBody>
      </p:sp>
      <p:sp>
        <p:nvSpPr>
          <p:cNvPr id="10" name="Text 8"/>
          <p:cNvSpPr/>
          <p:nvPr/>
        </p:nvSpPr>
        <p:spPr>
          <a:xfrm>
            <a:off x="5010912" y="2889504"/>
            <a:ext cx="6309360" cy="859536"/>
          </a:xfrm>
          <a:prstGeom prst="rect">
            <a:avLst/>
          </a:prstGeom>
          <a:noFill/>
          <a:ln/>
        </p:spPr>
        <p:txBody>
          <a:bodyPr wrap="square" lIns="0" tIns="0" rIns="0" bIns="0" rtlCol="0" anchor="ctr"/>
          <a:lstStyle/>
          <a:p>
            <a:pPr indent="0" marL="0">
              <a:lnSpc>
                <a:spcPct val="108000"/>
              </a:lnSpc>
              <a:buNone/>
            </a:pPr>
            <a:r>
              <a:rPr lang="en-US" sz="1250" dirty="0">
                <a:solidFill>
                  <a:srgbClr val="3C4047"/>
                </a:solidFill>
                <a:latin typeface="Calibri" pitchFamily="34" charset="0"/>
                <a:ea typeface="Calibri" pitchFamily="34" charset="-122"/>
                <a:cs typeface="Calibri" pitchFamily="34" charset="-120"/>
              </a:rPr>
              <a:t>The new estimate at s is built from the old estimate at s', one step away. You never unroll the whole rest of the episode.</a:t>
            </a:r>
            <a:endParaRPr lang="en-US" sz="1250" dirty="0"/>
          </a:p>
        </p:txBody>
      </p:sp>
      <p:sp>
        <p:nvSpPr>
          <p:cNvPr id="11" name="Shape 9"/>
          <p:cNvSpPr/>
          <p:nvPr/>
        </p:nvSpPr>
        <p:spPr>
          <a:xfrm>
            <a:off x="566928" y="3858768"/>
            <a:ext cx="11057839" cy="859536"/>
          </a:xfrm>
          <a:prstGeom prst="roundRect">
            <a:avLst>
              <a:gd name="adj" fmla="val 9574"/>
            </a:avLst>
          </a:prstGeom>
          <a:solidFill>
            <a:srgbClr val="F4F5F6"/>
          </a:solidFill>
          <a:ln/>
        </p:spPr>
      </p:sp>
      <p:sp>
        <p:nvSpPr>
          <p:cNvPr id="12" name="Shape 10"/>
          <p:cNvSpPr/>
          <p:nvPr/>
        </p:nvSpPr>
        <p:spPr>
          <a:xfrm>
            <a:off x="859536" y="4206240"/>
            <a:ext cx="182880" cy="182880"/>
          </a:xfrm>
          <a:prstGeom prst="ellipse">
            <a:avLst/>
          </a:prstGeom>
          <a:solidFill>
            <a:srgbClr val="1B7F5A"/>
          </a:solidFill>
          <a:ln/>
        </p:spPr>
      </p:sp>
      <p:sp>
        <p:nvSpPr>
          <p:cNvPr id="13" name="Text 11"/>
          <p:cNvSpPr/>
          <p:nvPr/>
        </p:nvSpPr>
        <p:spPr>
          <a:xfrm>
            <a:off x="1225296" y="3858768"/>
            <a:ext cx="3657600" cy="859536"/>
          </a:xfrm>
          <a:prstGeom prst="rect">
            <a:avLst/>
          </a:prstGeom>
          <a:noFill/>
          <a:ln/>
        </p:spPr>
        <p:txBody>
          <a:bodyPr wrap="square" lIns="0" tIns="0" rIns="0" bIns="0" rtlCol="0" anchor="ctr"/>
          <a:lstStyle/>
          <a:p>
            <a:pPr indent="0" marL="0">
              <a:buNone/>
            </a:pPr>
            <a:r>
              <a:rPr lang="en-US" sz="1400" b="1" dirty="0">
                <a:solidFill>
                  <a:srgbClr val="22252A"/>
                </a:solidFill>
                <a:latin typeface="Calibri" pitchFamily="34" charset="0"/>
                <a:ea typeface="Calibri" pitchFamily="34" charset="-122"/>
                <a:cs typeface="Calibri" pitchFamily="34" charset="-120"/>
              </a:rPr>
              <a:t>Connectivity does the work</a:t>
            </a:r>
            <a:endParaRPr lang="en-US" sz="1400" dirty="0"/>
          </a:p>
        </p:txBody>
      </p:sp>
      <p:sp>
        <p:nvSpPr>
          <p:cNvPr id="14" name="Text 12"/>
          <p:cNvSpPr/>
          <p:nvPr/>
        </p:nvSpPr>
        <p:spPr>
          <a:xfrm>
            <a:off x="5010912" y="3858768"/>
            <a:ext cx="6309360" cy="859536"/>
          </a:xfrm>
          <a:prstGeom prst="rect">
            <a:avLst/>
          </a:prstGeom>
          <a:noFill/>
          <a:ln/>
        </p:spPr>
        <p:txBody>
          <a:bodyPr wrap="square" lIns="0" tIns="0" rIns="0" bIns="0" rtlCol="0" anchor="ctr"/>
          <a:lstStyle/>
          <a:p>
            <a:pPr indent="0" marL="0">
              <a:lnSpc>
                <a:spcPct val="108000"/>
              </a:lnSpc>
              <a:buNone/>
            </a:pPr>
            <a:r>
              <a:rPr lang="en-US" sz="1250" dirty="0">
                <a:solidFill>
                  <a:srgbClr val="3C4047"/>
                </a:solidFill>
                <a:latin typeface="Calibri" pitchFamily="34" charset="0"/>
                <a:ea typeface="Calibri" pitchFamily="34" charset="-122"/>
                <a:cs typeface="Calibri" pitchFamily="34" charset="-120"/>
              </a:rPr>
              <a:t>Everything already believed about C automatically improves B, because B's update reads C's number. This is exactly what direct evaluation discarded.</a:t>
            </a:r>
            <a:endParaRPr lang="en-US" sz="1250" dirty="0"/>
          </a:p>
        </p:txBody>
      </p:sp>
      <p:sp>
        <p:nvSpPr>
          <p:cNvPr id="15" name="Shape 13"/>
          <p:cNvSpPr/>
          <p:nvPr/>
        </p:nvSpPr>
        <p:spPr>
          <a:xfrm>
            <a:off x="566928" y="4828032"/>
            <a:ext cx="11057839" cy="859536"/>
          </a:xfrm>
          <a:prstGeom prst="roundRect">
            <a:avLst>
              <a:gd name="adj" fmla="val 9574"/>
            </a:avLst>
          </a:prstGeom>
          <a:solidFill>
            <a:srgbClr val="FBEAED"/>
          </a:solidFill>
          <a:ln/>
        </p:spPr>
      </p:sp>
      <p:sp>
        <p:nvSpPr>
          <p:cNvPr id="16" name="Shape 14"/>
          <p:cNvSpPr/>
          <p:nvPr/>
        </p:nvSpPr>
        <p:spPr>
          <a:xfrm>
            <a:off x="859536" y="5175504"/>
            <a:ext cx="182880" cy="182880"/>
          </a:xfrm>
          <a:prstGeom prst="ellipse">
            <a:avLst/>
          </a:prstGeom>
          <a:solidFill>
            <a:srgbClr val="C8102E"/>
          </a:solidFill>
          <a:ln/>
        </p:spPr>
      </p:sp>
      <p:sp>
        <p:nvSpPr>
          <p:cNvPr id="17" name="Text 15"/>
          <p:cNvSpPr/>
          <p:nvPr/>
        </p:nvSpPr>
        <p:spPr>
          <a:xfrm>
            <a:off x="1225296" y="4828032"/>
            <a:ext cx="3657600" cy="859536"/>
          </a:xfrm>
          <a:prstGeom prst="rect">
            <a:avLst/>
          </a:prstGeom>
          <a:noFill/>
          <a:ln/>
        </p:spPr>
        <p:txBody>
          <a:bodyPr wrap="square" lIns="0" tIns="0" rIns="0" bIns="0"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But it needs T and R</a:t>
            </a:r>
            <a:endParaRPr lang="en-US" sz="1400" dirty="0"/>
          </a:p>
        </p:txBody>
      </p:sp>
      <p:sp>
        <p:nvSpPr>
          <p:cNvPr id="18" name="Text 16"/>
          <p:cNvSpPr/>
          <p:nvPr/>
        </p:nvSpPr>
        <p:spPr>
          <a:xfrm>
            <a:off x="5010912" y="4828032"/>
            <a:ext cx="6309360" cy="859536"/>
          </a:xfrm>
          <a:prstGeom prst="rect">
            <a:avLst/>
          </a:prstGeom>
          <a:noFill/>
          <a:ln/>
        </p:spPr>
        <p:txBody>
          <a:bodyPr wrap="square" lIns="0" tIns="0" rIns="0" bIns="0" rtlCol="0" anchor="ctr"/>
          <a:lstStyle/>
          <a:p>
            <a:pPr indent="0" marL="0">
              <a:lnSpc>
                <a:spcPct val="108000"/>
              </a:lnSpc>
              <a:buNone/>
            </a:pPr>
            <a:r>
              <a:rPr lang="en-US" sz="1250" dirty="0">
                <a:solidFill>
                  <a:srgbClr val="3C4047"/>
                </a:solidFill>
                <a:latin typeface="Calibri" pitchFamily="34" charset="0"/>
                <a:ea typeface="Calibri" pitchFamily="34" charset="-122"/>
                <a:cs typeface="Calibri" pitchFamily="34" charset="-120"/>
              </a:rPr>
              <a:t>The weights in that sum and the reward inside the bracket are precisely the two things RL does not have.</a:t>
            </a:r>
            <a:endParaRPr lang="en-US" sz="1250" dirty="0"/>
          </a:p>
        </p:txBody>
      </p:sp>
      <p:sp>
        <p:nvSpPr>
          <p:cNvPr id="19" name="Shape 17"/>
          <p:cNvSpPr/>
          <p:nvPr/>
        </p:nvSpPr>
        <p:spPr>
          <a:xfrm>
            <a:off x="566928" y="5632704"/>
            <a:ext cx="11057839" cy="603504"/>
          </a:xfrm>
          <a:prstGeom prst="roundRect">
            <a:avLst>
              <a:gd name="adj" fmla="val 13636"/>
            </a:avLst>
          </a:prstGeom>
          <a:solidFill>
            <a:srgbClr val="FBEAED"/>
          </a:solidFill>
          <a:ln/>
        </p:spPr>
      </p:sp>
      <p:sp>
        <p:nvSpPr>
          <p:cNvPr id="20" name="Shape 18"/>
          <p:cNvSpPr/>
          <p:nvPr/>
        </p:nvSpPr>
        <p:spPr>
          <a:xfrm>
            <a:off x="786384" y="5843016"/>
            <a:ext cx="182880" cy="182880"/>
          </a:xfrm>
          <a:prstGeom prst="ellipse">
            <a:avLst/>
          </a:prstGeom>
          <a:solidFill>
            <a:srgbClr val="C8102E"/>
          </a:solidFill>
          <a:ln/>
        </p:spPr>
      </p:sp>
      <p:sp>
        <p:nvSpPr>
          <p:cNvPr id="21" name="Text 19"/>
          <p:cNvSpPr/>
          <p:nvPr/>
        </p:nvSpPr>
        <p:spPr>
          <a:xfrm>
            <a:off x="1115568" y="5632704"/>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The central question of RL: can we run this update without knowing T and R?</a:t>
            </a:r>
            <a:endParaRPr lang="en-US" sz="1450" dirty="0"/>
          </a:p>
        </p:txBody>
      </p:sp>
      <p:sp>
        <p:nvSpPr>
          <p:cNvPr id="22" name="Text 20"/>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3" name="Text 21"/>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39</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Sample the outcomes and average them</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FIRST ATTEMPT</a:t>
            </a:r>
            <a:endParaRPr lang="en-US" sz="1050" dirty="0"/>
          </a:p>
        </p:txBody>
      </p:sp>
      <p:sp>
        <p:nvSpPr>
          <p:cNvPr id="4" name="Text 2"/>
          <p:cNvSpPr/>
          <p:nvPr/>
        </p:nvSpPr>
        <p:spPr>
          <a:xfrm>
            <a:off x="566928" y="1225296"/>
            <a:ext cx="11057839" cy="402336"/>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We cannot compute the weighted sum, so take samples of the outcome by actually doing the action, and average them.</a:t>
            </a:r>
            <a:endParaRPr lang="en-US" sz="1500" dirty="0"/>
          </a:p>
        </p:txBody>
      </p:sp>
      <p:sp>
        <p:nvSpPr>
          <p:cNvPr id="5" name="Shape 3"/>
          <p:cNvSpPr/>
          <p:nvPr/>
        </p:nvSpPr>
        <p:spPr>
          <a:xfrm>
            <a:off x="566928" y="1755648"/>
            <a:ext cx="11057839" cy="1737360"/>
          </a:xfrm>
          <a:prstGeom prst="roundRect">
            <a:avLst>
              <a:gd name="adj" fmla="val 4737"/>
            </a:avLst>
          </a:prstGeom>
          <a:solidFill>
            <a:srgbClr val="F4F5F6"/>
          </a:solidFill>
          <a:ln/>
        </p:spPr>
      </p:sp>
      <p:sp>
        <p:nvSpPr>
          <p:cNvPr id="6" name="Text 4"/>
          <p:cNvSpPr/>
          <p:nvPr/>
        </p:nvSpPr>
        <p:spPr>
          <a:xfrm>
            <a:off x="932688" y="1883664"/>
            <a:ext cx="10326319" cy="365760"/>
          </a:xfrm>
          <a:prstGeom prst="rect">
            <a:avLst/>
          </a:prstGeom>
          <a:noFill/>
          <a:ln/>
        </p:spPr>
        <p:txBody>
          <a:bodyPr wrap="square" lIns="0" tIns="0" rIns="0" bIns="0" rtlCol="0" anchor="ctr"/>
          <a:lstStyle/>
          <a:p>
            <a:pPr indent="0" marL="0">
              <a:buNone/>
            </a:pPr>
            <a:r>
              <a:rPr lang="en-US" sz="1550" b="1" dirty="0">
                <a:solidFill>
                  <a:srgbClr val="1B7F5A"/>
                </a:solidFill>
                <a:latin typeface="Cambria" pitchFamily="34" charset="0"/>
                <a:ea typeface="Cambria" pitchFamily="34" charset="-122"/>
                <a:cs typeface="Cambria" pitchFamily="34" charset="-120"/>
              </a:rPr>
              <a:t>sample₁  =  R(s, π(s), s'₁)  +  γ Vₖπ(s'₁)</a:t>
            </a:r>
            <a:endParaRPr lang="en-US" sz="1550" dirty="0"/>
          </a:p>
        </p:txBody>
      </p:sp>
      <p:sp>
        <p:nvSpPr>
          <p:cNvPr id="7" name="Text 5"/>
          <p:cNvSpPr/>
          <p:nvPr/>
        </p:nvSpPr>
        <p:spPr>
          <a:xfrm>
            <a:off x="932688" y="2267712"/>
            <a:ext cx="10326319" cy="365760"/>
          </a:xfrm>
          <a:prstGeom prst="rect">
            <a:avLst/>
          </a:prstGeom>
          <a:noFill/>
          <a:ln/>
        </p:spPr>
        <p:txBody>
          <a:bodyPr wrap="square" lIns="0" tIns="0" rIns="0" bIns="0" rtlCol="0" anchor="ctr"/>
          <a:lstStyle/>
          <a:p>
            <a:pPr indent="0" marL="0">
              <a:buNone/>
            </a:pPr>
            <a:r>
              <a:rPr lang="en-US" sz="1550" b="1" dirty="0">
                <a:solidFill>
                  <a:srgbClr val="1B7F5A"/>
                </a:solidFill>
                <a:latin typeface="Cambria" pitchFamily="34" charset="0"/>
                <a:ea typeface="Cambria" pitchFamily="34" charset="-122"/>
                <a:cs typeface="Cambria" pitchFamily="34" charset="-120"/>
              </a:rPr>
              <a:t>sample₂  =  R(s, π(s), s'₂)  +  γ Vₖπ(s'₂)</a:t>
            </a:r>
            <a:endParaRPr lang="en-US" sz="1550" dirty="0"/>
          </a:p>
        </p:txBody>
      </p:sp>
      <p:sp>
        <p:nvSpPr>
          <p:cNvPr id="8" name="Text 6"/>
          <p:cNvSpPr/>
          <p:nvPr/>
        </p:nvSpPr>
        <p:spPr>
          <a:xfrm>
            <a:off x="932688" y="2651760"/>
            <a:ext cx="10326319" cy="365760"/>
          </a:xfrm>
          <a:prstGeom prst="rect">
            <a:avLst/>
          </a:prstGeom>
          <a:noFill/>
          <a:ln/>
        </p:spPr>
        <p:txBody>
          <a:bodyPr wrap="square" lIns="0" tIns="0" rIns="0" bIns="0" rtlCol="0" anchor="ctr"/>
          <a:lstStyle/>
          <a:p>
            <a:pPr indent="0" marL="0">
              <a:buNone/>
            </a:pPr>
            <a:r>
              <a:rPr lang="en-US" sz="1550" b="1" dirty="0">
                <a:solidFill>
                  <a:srgbClr val="1B7F5A"/>
                </a:solidFill>
                <a:latin typeface="Cambria" pitchFamily="34" charset="0"/>
                <a:ea typeface="Cambria" pitchFamily="34" charset="-122"/>
                <a:cs typeface="Cambria" pitchFamily="34" charset="-120"/>
              </a:rPr>
              <a:t>…</a:t>
            </a:r>
            <a:endParaRPr lang="en-US" sz="1550" dirty="0"/>
          </a:p>
        </p:txBody>
      </p:sp>
      <p:sp>
        <p:nvSpPr>
          <p:cNvPr id="9" name="Text 7"/>
          <p:cNvSpPr/>
          <p:nvPr/>
        </p:nvSpPr>
        <p:spPr>
          <a:xfrm>
            <a:off x="932688" y="3035808"/>
            <a:ext cx="10326319" cy="365760"/>
          </a:xfrm>
          <a:prstGeom prst="rect">
            <a:avLst/>
          </a:prstGeom>
          <a:noFill/>
          <a:ln/>
        </p:spPr>
        <p:txBody>
          <a:bodyPr wrap="square" lIns="0" tIns="0" rIns="0" bIns="0" rtlCol="0" anchor="ctr"/>
          <a:lstStyle/>
          <a:p>
            <a:pPr indent="0" marL="0">
              <a:buNone/>
            </a:pPr>
            <a:r>
              <a:rPr lang="en-US" sz="1550" b="1" dirty="0">
                <a:solidFill>
                  <a:srgbClr val="1B7F5A"/>
                </a:solidFill>
                <a:latin typeface="Cambria" pitchFamily="34" charset="0"/>
                <a:ea typeface="Cambria" pitchFamily="34" charset="-122"/>
                <a:cs typeface="Cambria" pitchFamily="34" charset="-120"/>
              </a:rPr>
              <a:t>sampleₙ  =  R(s, π(s), s'ₙ)  +  γ Vₖπ(s'ₙ)</a:t>
            </a:r>
            <a:endParaRPr lang="en-US" sz="1550" dirty="0"/>
          </a:p>
        </p:txBody>
      </p:sp>
      <p:sp>
        <p:nvSpPr>
          <p:cNvPr id="10" name="Shape 8"/>
          <p:cNvSpPr/>
          <p:nvPr/>
        </p:nvSpPr>
        <p:spPr>
          <a:xfrm>
            <a:off x="566928" y="3657600"/>
            <a:ext cx="11057839" cy="713232"/>
          </a:xfrm>
          <a:prstGeom prst="roundRect">
            <a:avLst>
              <a:gd name="adj" fmla="val 11538"/>
            </a:avLst>
          </a:prstGeom>
          <a:solidFill>
            <a:srgbClr val="E7EEF6"/>
          </a:solidFill>
          <a:ln/>
        </p:spPr>
      </p:sp>
      <p:sp>
        <p:nvSpPr>
          <p:cNvPr id="11" name="Text 9"/>
          <p:cNvSpPr/>
          <p:nvPr/>
        </p:nvSpPr>
        <p:spPr>
          <a:xfrm>
            <a:off x="731520" y="3657600"/>
            <a:ext cx="10728655" cy="713232"/>
          </a:xfrm>
          <a:prstGeom prst="rect">
            <a:avLst/>
          </a:prstGeom>
          <a:noFill/>
          <a:ln/>
        </p:spPr>
        <p:txBody>
          <a:bodyPr wrap="square" lIns="0" tIns="0" rIns="0" bIns="0" rtlCol="0" anchor="ctr"/>
          <a:lstStyle/>
          <a:p>
            <a:pPr algn="ctr" indent="0" marL="0">
              <a:buNone/>
            </a:pPr>
            <a:r>
              <a:rPr lang="en-US" sz="1900" b="1" dirty="0">
                <a:solidFill>
                  <a:srgbClr val="1C5D99"/>
                </a:solidFill>
                <a:latin typeface="Cambria" pitchFamily="34" charset="0"/>
                <a:ea typeface="Cambria" pitchFamily="34" charset="-122"/>
                <a:cs typeface="Cambria" pitchFamily="34" charset="-120"/>
              </a:rPr>
              <a:t>Vₖ₊₁π(s)  </a:t>
            </a:r>
            <a:pPr algn="ctr" indent="0" marL="0">
              <a:buNone/>
            </a:pPr>
            <a:r>
              <a:rPr lang="en-US" sz="2200" b="1" dirty="0">
                <a:solidFill>
                  <a:srgbClr val="1C5D99"/>
                </a:solidFill>
                <a:latin typeface="Calibri" pitchFamily="34" charset="0"/>
                <a:ea typeface="Calibri" pitchFamily="34" charset="-122"/>
                <a:cs typeface="Calibri" pitchFamily="34" charset="-120"/>
              </a:rPr>
              <a:t>←</a:t>
            </a:r>
            <a:pPr algn="ctr" indent="0" marL="0">
              <a:buNone/>
            </a:pPr>
            <a:r>
              <a:rPr lang="en-US" sz="1900" b="1" dirty="0">
                <a:solidFill>
                  <a:srgbClr val="1C5D99"/>
                </a:solidFill>
                <a:latin typeface="Cambria" pitchFamily="34" charset="0"/>
                <a:ea typeface="Cambria" pitchFamily="34" charset="-122"/>
                <a:cs typeface="Cambria" pitchFamily="34" charset="-120"/>
              </a:rPr>
              <a:t>  (1/n)  Σᵢ  sampleᵢ</a:t>
            </a:r>
            <a:endParaRPr lang="en-US" sz="1900" dirty="0"/>
          </a:p>
        </p:txBody>
      </p:sp>
      <p:sp>
        <p:nvSpPr>
          <p:cNvPr id="12" name="Shape 10"/>
          <p:cNvSpPr/>
          <p:nvPr/>
        </p:nvSpPr>
        <p:spPr>
          <a:xfrm>
            <a:off x="566928" y="4590288"/>
            <a:ext cx="11057839" cy="1060704"/>
          </a:xfrm>
          <a:prstGeom prst="roundRect">
            <a:avLst>
              <a:gd name="adj" fmla="val 7759"/>
            </a:avLst>
          </a:prstGeom>
          <a:solidFill>
            <a:srgbClr val="FBEAED"/>
          </a:solidFill>
          <a:ln/>
        </p:spPr>
      </p:sp>
      <p:sp>
        <p:nvSpPr>
          <p:cNvPr id="13" name="Text 11"/>
          <p:cNvSpPr/>
          <p:nvPr/>
        </p:nvSpPr>
        <p:spPr>
          <a:xfrm>
            <a:off x="859536" y="4700016"/>
            <a:ext cx="5486400" cy="329184"/>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Almost. But you cannot rewind time.</a:t>
            </a:r>
            <a:endParaRPr lang="en-US" sz="1500" dirty="0"/>
          </a:p>
        </p:txBody>
      </p:sp>
      <p:sp>
        <p:nvSpPr>
          <p:cNvPr id="14" name="Text 12"/>
          <p:cNvSpPr/>
          <p:nvPr/>
        </p:nvSpPr>
        <p:spPr>
          <a:xfrm>
            <a:off x="859536" y="5029200"/>
            <a:ext cx="10472623" cy="548640"/>
          </a:xfrm>
          <a:prstGeom prst="rect">
            <a:avLst/>
          </a:prstGeom>
          <a:noFill/>
          <a:ln/>
        </p:spPr>
        <p:txBody>
          <a:bodyPr wrap="square" lIns="0" tIns="0" rIns="0" bIns="0" rtlCol="0" anchor="t"/>
          <a:lstStyle/>
          <a:p>
            <a:pPr indent="0" marL="0">
              <a:lnSpc>
                <a:spcPct val="108000"/>
              </a:lnSpc>
              <a:buNone/>
            </a:pPr>
            <a:r>
              <a:rPr lang="en-US" sz="1250" dirty="0">
                <a:solidFill>
                  <a:srgbClr val="8E0B20"/>
                </a:solidFill>
                <a:latin typeface="Calibri" pitchFamily="34" charset="0"/>
                <a:ea typeface="Calibri" pitchFamily="34" charset="-122"/>
                <a:cs typeface="Calibri" pitchFamily="34" charset="-120"/>
              </a:rPr>
              <a:t>Once you take π(s) from s you land somewhere and you are off. Getting a second sample from that same s means waiting until you happen to return, and while you wait you are incorporating nothing. Samples do not arrive in neat batches from one state; they trickle in scattered across wherever the agent goes.</a:t>
            </a:r>
            <a:endParaRPr lang="en-US" sz="1250" dirty="0"/>
          </a:p>
        </p:txBody>
      </p:sp>
      <p:sp>
        <p:nvSpPr>
          <p:cNvPr id="15" name="Text 13"/>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6" name="Text 14"/>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Temporal difference learning</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Learn from every experience, immediately, one sample at a time.</a:t>
            </a:r>
            <a:endParaRPr lang="en-US" sz="1400" dirty="0"/>
          </a:p>
        </p:txBody>
      </p:sp>
      <p:sp>
        <p:nvSpPr>
          <p:cNvPr id="4" name="Text 2"/>
          <p:cNvSpPr/>
          <p:nvPr/>
        </p:nvSpPr>
        <p:spPr>
          <a:xfrm>
            <a:off x="566928" y="1517904"/>
            <a:ext cx="11057839" cy="310896"/>
          </a:xfrm>
          <a:prstGeom prst="rect">
            <a:avLst/>
          </a:prstGeom>
          <a:noFill/>
          <a:ln/>
        </p:spPr>
        <p:txBody>
          <a:bodyPr wrap="square" lIns="0" tIns="0" rIns="0" bIns="0" rtlCol="0" anchor="t"/>
          <a:lstStyle/>
          <a:p>
            <a:pPr algn="l" indent="0" marL="0">
              <a:lnSpc>
                <a:spcPct val="114000"/>
              </a:lnSpc>
              <a:buNone/>
            </a:pPr>
            <a:r>
              <a:rPr lang="en-US" sz="1450" dirty="0">
                <a:solidFill>
                  <a:srgbClr val="3C4047"/>
                </a:solidFill>
                <a:latin typeface="Calibri" pitchFamily="34" charset="0"/>
                <a:ea typeface="Calibri" pitchFamily="34" charset="-122"/>
                <a:cs typeface="Calibri" pitchFamily="34" charset="-120"/>
              </a:rPr>
              <a:t>Given a single observed transition  (s, a, s', r):</a:t>
            </a:r>
            <a:endParaRPr lang="en-US" sz="1450" dirty="0"/>
          </a:p>
        </p:txBody>
      </p:sp>
      <p:sp>
        <p:nvSpPr>
          <p:cNvPr id="5" name="Shape 3"/>
          <p:cNvSpPr/>
          <p:nvPr/>
        </p:nvSpPr>
        <p:spPr>
          <a:xfrm>
            <a:off x="566928" y="1920240"/>
            <a:ext cx="11057839" cy="859536"/>
          </a:xfrm>
          <a:prstGeom prst="roundRect">
            <a:avLst>
              <a:gd name="adj" fmla="val 9574"/>
            </a:avLst>
          </a:prstGeom>
          <a:solidFill>
            <a:srgbClr val="E8F2ED"/>
          </a:solidFill>
          <a:ln/>
        </p:spPr>
      </p:sp>
      <p:sp>
        <p:nvSpPr>
          <p:cNvPr id="6" name="Text 4"/>
          <p:cNvSpPr/>
          <p:nvPr/>
        </p:nvSpPr>
        <p:spPr>
          <a:xfrm>
            <a:off x="859536" y="1920240"/>
            <a:ext cx="2651760" cy="859536"/>
          </a:xfrm>
          <a:prstGeom prst="rect">
            <a:avLst/>
          </a:prstGeom>
          <a:noFill/>
          <a:ln/>
        </p:spPr>
        <p:txBody>
          <a:bodyPr wrap="square" lIns="0" tIns="0" rIns="0" bIns="0" rtlCol="0" anchor="ctr"/>
          <a:lstStyle/>
          <a:p>
            <a:pPr indent="0" marL="0">
              <a:buNone/>
            </a:pPr>
            <a:r>
              <a:rPr lang="en-US" sz="1250" b="1" dirty="0">
                <a:solidFill>
                  <a:srgbClr val="1B7F5A"/>
                </a:solidFill>
                <a:latin typeface="Calibri" pitchFamily="34" charset="0"/>
                <a:ea typeface="Calibri" pitchFamily="34" charset="-122"/>
                <a:cs typeface="Calibri" pitchFamily="34" charset="-120"/>
              </a:rPr>
              <a:t>Sample of V(s)</a:t>
            </a:r>
            <a:endParaRPr lang="en-US" sz="1250" dirty="0"/>
          </a:p>
        </p:txBody>
      </p:sp>
      <p:sp>
        <p:nvSpPr>
          <p:cNvPr id="7" name="Text 5"/>
          <p:cNvSpPr/>
          <p:nvPr/>
        </p:nvSpPr>
        <p:spPr>
          <a:xfrm>
            <a:off x="3584448" y="1920240"/>
            <a:ext cx="7680960" cy="859536"/>
          </a:xfrm>
          <a:prstGeom prst="rect">
            <a:avLst/>
          </a:prstGeom>
          <a:noFill/>
          <a:ln/>
        </p:spPr>
        <p:txBody>
          <a:bodyPr wrap="square" lIns="0" tIns="0" rIns="0" bIns="0" rtlCol="0" anchor="ctr"/>
          <a:lstStyle/>
          <a:p>
            <a:pPr indent="0" marL="0">
              <a:buNone/>
            </a:pPr>
            <a:r>
              <a:rPr lang="en-US" sz="1700" b="1" dirty="0">
                <a:solidFill>
                  <a:srgbClr val="22252A"/>
                </a:solidFill>
                <a:latin typeface="Cambria" pitchFamily="34" charset="0"/>
                <a:ea typeface="Cambria" pitchFamily="34" charset="-122"/>
                <a:cs typeface="Cambria" pitchFamily="34" charset="-120"/>
              </a:rPr>
              <a:t>sample  =  r  +  γ Vπ(s')</a:t>
            </a:r>
            <a:endParaRPr lang="en-US" sz="1700" dirty="0"/>
          </a:p>
        </p:txBody>
      </p:sp>
      <p:sp>
        <p:nvSpPr>
          <p:cNvPr id="8" name="Shape 6"/>
          <p:cNvSpPr/>
          <p:nvPr/>
        </p:nvSpPr>
        <p:spPr>
          <a:xfrm>
            <a:off x="566928" y="2889504"/>
            <a:ext cx="11057839" cy="859536"/>
          </a:xfrm>
          <a:prstGeom prst="roundRect">
            <a:avLst>
              <a:gd name="adj" fmla="val 9574"/>
            </a:avLst>
          </a:prstGeom>
          <a:solidFill>
            <a:srgbClr val="E7EEF6"/>
          </a:solidFill>
          <a:ln/>
        </p:spPr>
      </p:sp>
      <p:sp>
        <p:nvSpPr>
          <p:cNvPr id="9" name="Text 7"/>
          <p:cNvSpPr/>
          <p:nvPr/>
        </p:nvSpPr>
        <p:spPr>
          <a:xfrm>
            <a:off x="859536" y="2889504"/>
            <a:ext cx="2651760" cy="859536"/>
          </a:xfrm>
          <a:prstGeom prst="rect">
            <a:avLst/>
          </a:prstGeom>
          <a:noFill/>
          <a:ln/>
        </p:spPr>
        <p:txBody>
          <a:bodyPr wrap="square" lIns="0" tIns="0" rIns="0" bIns="0" rtlCol="0" anchor="ctr"/>
          <a:lstStyle/>
          <a:p>
            <a:pPr indent="0" marL="0">
              <a:buNone/>
            </a:pPr>
            <a:r>
              <a:rPr lang="en-US" sz="1250" b="1" dirty="0">
                <a:solidFill>
                  <a:srgbClr val="1C5D99"/>
                </a:solidFill>
                <a:latin typeface="Calibri" pitchFamily="34" charset="0"/>
                <a:ea typeface="Calibri" pitchFamily="34" charset="-122"/>
                <a:cs typeface="Calibri" pitchFamily="34" charset="-120"/>
              </a:rPr>
              <a:t>Update to V(s)</a:t>
            </a:r>
            <a:endParaRPr lang="en-US" sz="1250" dirty="0"/>
          </a:p>
        </p:txBody>
      </p:sp>
      <p:sp>
        <p:nvSpPr>
          <p:cNvPr id="10" name="Text 8"/>
          <p:cNvSpPr/>
          <p:nvPr/>
        </p:nvSpPr>
        <p:spPr>
          <a:xfrm>
            <a:off x="3584448" y="2889504"/>
            <a:ext cx="7680960" cy="859536"/>
          </a:xfrm>
          <a:prstGeom prst="rect">
            <a:avLst/>
          </a:prstGeom>
          <a:noFill/>
          <a:ln/>
        </p:spPr>
        <p:txBody>
          <a:bodyPr wrap="square" lIns="0" tIns="0" rIns="0" bIns="0" rtlCol="0" anchor="ctr"/>
          <a:lstStyle/>
          <a:p>
            <a:pPr indent="0" marL="0">
              <a:buNone/>
            </a:pPr>
            <a:r>
              <a:rPr lang="en-US" sz="1700" b="1" dirty="0">
                <a:solidFill>
                  <a:srgbClr val="22252A"/>
                </a:solidFill>
                <a:latin typeface="Cambria" pitchFamily="34" charset="0"/>
                <a:ea typeface="Cambria" pitchFamily="34" charset="-122"/>
                <a:cs typeface="Cambria" pitchFamily="34" charset="-120"/>
              </a:rPr>
              <a:t>Vπ(s)  </a:t>
            </a:r>
            <a:pPr indent="0" marL="0">
              <a:buNone/>
            </a:pPr>
            <a:r>
              <a:rPr lang="en-US" sz="2000" b="1" dirty="0">
                <a:solidFill>
                  <a:srgbClr val="C8102E"/>
                </a:solidFill>
                <a:latin typeface="Calibri" pitchFamily="34" charset="0"/>
                <a:ea typeface="Calibri" pitchFamily="34" charset="-122"/>
                <a:cs typeface="Calibri" pitchFamily="34" charset="-120"/>
              </a:rPr>
              <a:t>←</a:t>
            </a:r>
            <a:pPr indent="0" marL="0">
              <a:buNone/>
            </a:pPr>
            <a:r>
              <a:rPr lang="en-US" sz="1700" b="1" dirty="0">
                <a:solidFill>
                  <a:srgbClr val="22252A"/>
                </a:solidFill>
                <a:latin typeface="Cambria" pitchFamily="34" charset="0"/>
                <a:ea typeface="Cambria" pitchFamily="34" charset="-122"/>
                <a:cs typeface="Cambria" pitchFamily="34" charset="-120"/>
              </a:rPr>
              <a:t>  (1 − α) Vπ(s)  +  α · sample</a:t>
            </a:r>
            <a:endParaRPr lang="en-US" sz="1700" dirty="0"/>
          </a:p>
        </p:txBody>
      </p:sp>
      <p:sp>
        <p:nvSpPr>
          <p:cNvPr id="11" name="Shape 9"/>
          <p:cNvSpPr/>
          <p:nvPr/>
        </p:nvSpPr>
        <p:spPr>
          <a:xfrm>
            <a:off x="566928" y="3858768"/>
            <a:ext cx="11057839" cy="859536"/>
          </a:xfrm>
          <a:prstGeom prst="roundRect">
            <a:avLst>
              <a:gd name="adj" fmla="val 9574"/>
            </a:avLst>
          </a:prstGeom>
          <a:solidFill>
            <a:srgbClr val="FBEAED"/>
          </a:solidFill>
          <a:ln/>
        </p:spPr>
      </p:sp>
      <p:sp>
        <p:nvSpPr>
          <p:cNvPr id="12" name="Text 10"/>
          <p:cNvSpPr/>
          <p:nvPr/>
        </p:nvSpPr>
        <p:spPr>
          <a:xfrm>
            <a:off x="859536" y="3858768"/>
            <a:ext cx="2651760" cy="859536"/>
          </a:xfrm>
          <a:prstGeom prst="rect">
            <a:avLst/>
          </a:prstGeom>
          <a:noFill/>
          <a:ln/>
        </p:spPr>
        <p:txBody>
          <a:bodyPr wrap="square" lIns="0" tIns="0" rIns="0" bIns="0" rtlCol="0" anchor="ctr"/>
          <a:lstStyle/>
          <a:p>
            <a:pPr indent="0" marL="0">
              <a:buNone/>
            </a:pPr>
            <a:r>
              <a:rPr lang="en-US" sz="1250" b="1" dirty="0">
                <a:solidFill>
                  <a:srgbClr val="C8102E"/>
                </a:solidFill>
                <a:latin typeface="Calibri" pitchFamily="34" charset="0"/>
                <a:ea typeface="Calibri" pitchFamily="34" charset="-122"/>
                <a:cs typeface="Calibri" pitchFamily="34" charset="-120"/>
              </a:rPr>
              <a:t>Same update, rearranged</a:t>
            </a:r>
            <a:endParaRPr lang="en-US" sz="1250" dirty="0"/>
          </a:p>
        </p:txBody>
      </p:sp>
      <p:sp>
        <p:nvSpPr>
          <p:cNvPr id="13" name="Text 11"/>
          <p:cNvSpPr/>
          <p:nvPr/>
        </p:nvSpPr>
        <p:spPr>
          <a:xfrm>
            <a:off x="3584448" y="3858768"/>
            <a:ext cx="7680960" cy="859536"/>
          </a:xfrm>
          <a:prstGeom prst="rect">
            <a:avLst/>
          </a:prstGeom>
          <a:noFill/>
          <a:ln/>
        </p:spPr>
        <p:txBody>
          <a:bodyPr wrap="square" lIns="0" tIns="0" rIns="0" bIns="0" rtlCol="0" anchor="ctr"/>
          <a:lstStyle/>
          <a:p>
            <a:pPr indent="0" marL="0">
              <a:buNone/>
            </a:pPr>
            <a:r>
              <a:rPr lang="en-US" sz="1700" b="1" dirty="0">
                <a:solidFill>
                  <a:srgbClr val="22252A"/>
                </a:solidFill>
                <a:latin typeface="Cambria" pitchFamily="34" charset="0"/>
                <a:ea typeface="Cambria" pitchFamily="34" charset="-122"/>
                <a:cs typeface="Cambria" pitchFamily="34" charset="-120"/>
              </a:rPr>
              <a:t>Vπ(s)  </a:t>
            </a:r>
            <a:pPr indent="0" marL="0">
              <a:buNone/>
            </a:pPr>
            <a:r>
              <a:rPr lang="en-US" sz="2000" b="1" dirty="0">
                <a:solidFill>
                  <a:srgbClr val="C8102E"/>
                </a:solidFill>
                <a:latin typeface="Calibri" pitchFamily="34" charset="0"/>
                <a:ea typeface="Calibri" pitchFamily="34" charset="-122"/>
                <a:cs typeface="Calibri" pitchFamily="34" charset="-120"/>
              </a:rPr>
              <a:t>←</a:t>
            </a:r>
            <a:pPr indent="0" marL="0">
              <a:buNone/>
            </a:pPr>
            <a:r>
              <a:rPr lang="en-US" sz="1700" b="1" dirty="0">
                <a:solidFill>
                  <a:srgbClr val="22252A"/>
                </a:solidFill>
                <a:latin typeface="Cambria" pitchFamily="34" charset="0"/>
                <a:ea typeface="Cambria" pitchFamily="34" charset="-122"/>
                <a:cs typeface="Cambria" pitchFamily="34" charset="-120"/>
              </a:rPr>
              <a:t>  Vπ(s)  +  α ( sample − Vπ(s) )</a:t>
            </a:r>
            <a:endParaRPr lang="en-US" sz="1700" dirty="0"/>
          </a:p>
        </p:txBody>
      </p:sp>
      <p:sp>
        <p:nvSpPr>
          <p:cNvPr id="14" name="Shape 12"/>
          <p:cNvSpPr/>
          <p:nvPr/>
        </p:nvSpPr>
        <p:spPr>
          <a:xfrm>
            <a:off x="566928" y="4882896"/>
            <a:ext cx="11057839" cy="786384"/>
          </a:xfrm>
          <a:prstGeom prst="roundRect">
            <a:avLst>
              <a:gd name="adj" fmla="val 10465"/>
            </a:avLst>
          </a:prstGeom>
          <a:solidFill>
            <a:srgbClr val="F4F5F6"/>
          </a:solidFill>
          <a:ln/>
        </p:spPr>
      </p:sp>
      <p:sp>
        <p:nvSpPr>
          <p:cNvPr id="15" name="Text 13"/>
          <p:cNvSpPr/>
          <p:nvPr/>
        </p:nvSpPr>
        <p:spPr>
          <a:xfrm>
            <a:off x="859536" y="4882896"/>
            <a:ext cx="3931920" cy="786384"/>
          </a:xfrm>
          <a:prstGeom prst="rect">
            <a:avLst/>
          </a:prstGeom>
          <a:noFill/>
          <a:ln/>
        </p:spPr>
        <p:txBody>
          <a:bodyPr wrap="square" lIns="0" tIns="0" rIns="0" bIns="0" rtlCol="0" anchor="ctr"/>
          <a:lstStyle/>
          <a:p>
            <a:pPr indent="0" marL="0">
              <a:buNone/>
            </a:pPr>
            <a:r>
              <a:rPr lang="en-US" sz="1350" b="1" dirty="0">
                <a:solidFill>
                  <a:srgbClr val="22252A"/>
                </a:solidFill>
                <a:latin typeface="Calibri" pitchFamily="34" charset="0"/>
                <a:ea typeface="Calibri" pitchFamily="34" charset="-122"/>
                <a:cs typeface="Calibri" pitchFamily="34" charset="-120"/>
              </a:rPr>
              <a:t>The third form is the one to remember.</a:t>
            </a:r>
            <a:endParaRPr lang="en-US" sz="1350" dirty="0"/>
          </a:p>
        </p:txBody>
      </p:sp>
      <p:sp>
        <p:nvSpPr>
          <p:cNvPr id="16" name="Text 14"/>
          <p:cNvSpPr/>
          <p:nvPr/>
        </p:nvSpPr>
        <p:spPr>
          <a:xfrm>
            <a:off x="4956048" y="4882896"/>
            <a:ext cx="6309360" cy="786384"/>
          </a:xfrm>
          <a:prstGeom prst="rect">
            <a:avLst/>
          </a:prstGeom>
          <a:noFill/>
          <a:ln/>
        </p:spPr>
        <p:txBody>
          <a:bodyPr wrap="square" lIns="0" tIns="0" rIns="0" bIns="0" rtlCol="0" anchor="ctr"/>
          <a:lstStyle/>
          <a:p>
            <a:pPr indent="0" marL="0">
              <a:buNone/>
            </a:pPr>
            <a:r>
              <a:rPr lang="en-US" sz="1300" dirty="0">
                <a:solidFill>
                  <a:srgbClr val="3C4047"/>
                </a:solidFill>
                <a:latin typeface="Calibri" pitchFamily="34" charset="0"/>
                <a:ea typeface="Calibri" pitchFamily="34" charset="-122"/>
                <a:cs typeface="Calibri" pitchFamily="34" charset="-120"/>
              </a:rPr>
              <a:t>The bracket is the temporal difference: how far off your old belief turned out to be. No surprise means no update.</a:t>
            </a:r>
            <a:endParaRPr lang="en-US" sz="1300" dirty="0"/>
          </a:p>
        </p:txBody>
      </p:sp>
      <p:sp>
        <p:nvSpPr>
          <p:cNvPr id="17" name="Text 15"/>
          <p:cNvSpPr/>
          <p:nvPr/>
        </p:nvSpPr>
        <p:spPr>
          <a:xfrm>
            <a:off x="566928" y="5815584"/>
            <a:ext cx="11057839" cy="329184"/>
          </a:xfrm>
          <a:prstGeom prst="rect">
            <a:avLst/>
          </a:prstGeom>
          <a:noFill/>
          <a:ln/>
        </p:spPr>
        <p:txBody>
          <a:bodyPr wrap="square" lIns="0" tIns="0" rIns="0" bIns="0" rtlCol="0" anchor="t"/>
          <a:lstStyle/>
          <a:p>
            <a:pPr algn="l" indent="0" marL="0">
              <a:lnSpc>
                <a:spcPct val="114000"/>
              </a:lnSpc>
              <a:buNone/>
            </a:pPr>
            <a:r>
              <a:rPr lang="en-US" sz="1250" i="1" dirty="0">
                <a:solidFill>
                  <a:srgbClr val="53565A"/>
                </a:solidFill>
                <a:latin typeface="Calibri" pitchFamily="34" charset="0"/>
                <a:ea typeface="Calibri" pitchFamily="34" charset="-122"/>
                <a:cs typeface="Calibri" pitchFamily="34" charset="-120"/>
              </a:rPr>
              <a:t>Policy is still fixed. This is still evaluation, not control.</a:t>
            </a:r>
            <a:endParaRPr lang="en-US" sz="1250" dirty="0"/>
          </a:p>
        </p:txBody>
      </p:sp>
      <p:sp>
        <p:nvSpPr>
          <p:cNvPr id="18" name="Text 16"/>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9" name="Text 17"/>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41</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This is an exponential moving average</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Repeatedly interpolating toward each new sample weights recent experience more heavily.</a:t>
            </a:r>
            <a:endParaRPr lang="en-US" sz="1400" dirty="0"/>
          </a:p>
        </p:txBody>
      </p:sp>
      <p:pic>
        <p:nvPicPr>
          <p:cNvPr id="4" name="Image 0" descr="/home/claude/comp469_rl/figures/fig09_ema_weights.png">    </p:cNvPr>
          <p:cNvPicPr>
            <a:picLocks noChangeAspect="1"/>
          </p:cNvPicPr>
          <p:nvPr/>
        </p:nvPicPr>
        <p:blipFill>
          <a:blip r:embed="rId1"/>
          <a:srcRect l="0" r="0" t="0" b="0"/>
          <a:stretch/>
        </p:blipFill>
        <p:spPr>
          <a:xfrm>
            <a:off x="749808" y="1517904"/>
            <a:ext cx="10698480" cy="3310128"/>
          </a:xfrm>
          <a:prstGeom prst="rect">
            <a:avLst/>
          </a:prstGeom>
        </p:spPr>
      </p:pic>
      <p:sp>
        <p:nvSpPr>
          <p:cNvPr id="5" name="Shape 2"/>
          <p:cNvSpPr/>
          <p:nvPr/>
        </p:nvSpPr>
        <p:spPr>
          <a:xfrm>
            <a:off x="566928" y="4956048"/>
            <a:ext cx="2633472" cy="950976"/>
          </a:xfrm>
          <a:prstGeom prst="roundRect">
            <a:avLst>
              <a:gd name="adj" fmla="val 8654"/>
            </a:avLst>
          </a:prstGeom>
          <a:solidFill>
            <a:srgbClr val="F4F5F6"/>
          </a:solidFill>
          <a:ln/>
        </p:spPr>
      </p:sp>
      <p:sp>
        <p:nvSpPr>
          <p:cNvPr id="6" name="Shape 3"/>
          <p:cNvSpPr/>
          <p:nvPr/>
        </p:nvSpPr>
        <p:spPr>
          <a:xfrm>
            <a:off x="768096" y="5138928"/>
            <a:ext cx="146304" cy="146304"/>
          </a:xfrm>
          <a:prstGeom prst="ellipse">
            <a:avLst/>
          </a:prstGeom>
          <a:solidFill>
            <a:srgbClr val="53565A"/>
          </a:solidFill>
          <a:ln/>
        </p:spPr>
      </p:sp>
      <p:sp>
        <p:nvSpPr>
          <p:cNvPr id="7" name="Text 4"/>
          <p:cNvSpPr/>
          <p:nvPr/>
        </p:nvSpPr>
        <p:spPr>
          <a:xfrm>
            <a:off x="1005840" y="5029200"/>
            <a:ext cx="1993392" cy="804672"/>
          </a:xfrm>
          <a:prstGeom prst="rect">
            <a:avLst/>
          </a:prstGeom>
          <a:noFill/>
          <a:ln/>
        </p:spPr>
        <p:txBody>
          <a:bodyPr wrap="square" lIns="0" tIns="0" rIns="0" bIns="0" rtlCol="0" anchor="t"/>
          <a:lstStyle/>
          <a:p>
            <a:pPr indent="0" marL="0">
              <a:lnSpc>
                <a:spcPct val="106000"/>
              </a:lnSpc>
              <a:buNone/>
            </a:pPr>
            <a:r>
              <a:rPr lang="en-US" sz="1150" dirty="0">
                <a:solidFill>
                  <a:srgbClr val="3C4047"/>
                </a:solidFill>
                <a:latin typeface="Calibri" pitchFamily="34" charset="0"/>
                <a:ea typeface="Calibri" pitchFamily="34" charset="-122"/>
                <a:cs typeface="Calibri" pitchFamily="34" charset="-120"/>
              </a:rPr>
              <a:t>Old samples decay by (1 − α) each step</a:t>
            </a:r>
            <a:endParaRPr lang="en-US" sz="1150" dirty="0"/>
          </a:p>
        </p:txBody>
      </p:sp>
      <p:sp>
        <p:nvSpPr>
          <p:cNvPr id="8" name="Shape 5"/>
          <p:cNvSpPr/>
          <p:nvPr/>
        </p:nvSpPr>
        <p:spPr>
          <a:xfrm>
            <a:off x="3364992" y="4956048"/>
            <a:ext cx="2633472" cy="950976"/>
          </a:xfrm>
          <a:prstGeom prst="roundRect">
            <a:avLst>
              <a:gd name="adj" fmla="val 8654"/>
            </a:avLst>
          </a:prstGeom>
          <a:solidFill>
            <a:srgbClr val="F4F5F6"/>
          </a:solidFill>
          <a:ln/>
        </p:spPr>
      </p:sp>
      <p:sp>
        <p:nvSpPr>
          <p:cNvPr id="9" name="Shape 6"/>
          <p:cNvSpPr/>
          <p:nvPr/>
        </p:nvSpPr>
        <p:spPr>
          <a:xfrm>
            <a:off x="3566160" y="5138928"/>
            <a:ext cx="146304" cy="146304"/>
          </a:xfrm>
          <a:prstGeom prst="ellipse">
            <a:avLst/>
          </a:prstGeom>
          <a:solidFill>
            <a:srgbClr val="1B7F5A"/>
          </a:solidFill>
          <a:ln/>
        </p:spPr>
      </p:sp>
      <p:sp>
        <p:nvSpPr>
          <p:cNvPr id="10" name="Text 7"/>
          <p:cNvSpPr/>
          <p:nvPr/>
        </p:nvSpPr>
        <p:spPr>
          <a:xfrm>
            <a:off x="3803904" y="5029200"/>
            <a:ext cx="1993392" cy="804672"/>
          </a:xfrm>
          <a:prstGeom prst="rect">
            <a:avLst/>
          </a:prstGeom>
          <a:noFill/>
          <a:ln/>
        </p:spPr>
        <p:txBody>
          <a:bodyPr wrap="square" lIns="0" tIns="0" rIns="0" bIns="0" rtlCol="0" anchor="t"/>
          <a:lstStyle/>
          <a:p>
            <a:pPr indent="0" marL="0">
              <a:lnSpc>
                <a:spcPct val="106000"/>
              </a:lnSpc>
              <a:buNone/>
            </a:pPr>
            <a:r>
              <a:rPr lang="en-US" sz="1150" dirty="0">
                <a:solidFill>
                  <a:srgbClr val="3C4047"/>
                </a:solidFill>
                <a:latin typeface="Calibri" pitchFamily="34" charset="0"/>
                <a:ea typeface="Calibri" pitchFamily="34" charset="-122"/>
                <a:cs typeface="Calibri" pitchFamily="34" charset="-120"/>
              </a:rPr>
              <a:t>Which is correct, not a bug: old samples were computed against older, worse estimates of the downstream states</a:t>
            </a:r>
            <a:endParaRPr lang="en-US" sz="1150" dirty="0"/>
          </a:p>
        </p:txBody>
      </p:sp>
      <p:sp>
        <p:nvSpPr>
          <p:cNvPr id="11" name="Shape 8"/>
          <p:cNvSpPr/>
          <p:nvPr/>
        </p:nvSpPr>
        <p:spPr>
          <a:xfrm>
            <a:off x="6163056" y="4956048"/>
            <a:ext cx="2633472" cy="950976"/>
          </a:xfrm>
          <a:prstGeom prst="roundRect">
            <a:avLst>
              <a:gd name="adj" fmla="val 8654"/>
            </a:avLst>
          </a:prstGeom>
          <a:solidFill>
            <a:srgbClr val="F4F5F6"/>
          </a:solidFill>
          <a:ln/>
        </p:spPr>
      </p:sp>
      <p:sp>
        <p:nvSpPr>
          <p:cNvPr id="12" name="Shape 9"/>
          <p:cNvSpPr/>
          <p:nvPr/>
        </p:nvSpPr>
        <p:spPr>
          <a:xfrm>
            <a:off x="6364224" y="5138928"/>
            <a:ext cx="146304" cy="146304"/>
          </a:xfrm>
          <a:prstGeom prst="ellipse">
            <a:avLst/>
          </a:prstGeom>
          <a:solidFill>
            <a:srgbClr val="1C5D99"/>
          </a:solidFill>
          <a:ln/>
        </p:spPr>
      </p:sp>
      <p:sp>
        <p:nvSpPr>
          <p:cNvPr id="13" name="Text 10"/>
          <p:cNvSpPr/>
          <p:nvPr/>
        </p:nvSpPr>
        <p:spPr>
          <a:xfrm>
            <a:off x="6601968" y="5029200"/>
            <a:ext cx="1993392" cy="804672"/>
          </a:xfrm>
          <a:prstGeom prst="rect">
            <a:avLst/>
          </a:prstGeom>
          <a:noFill/>
          <a:ln/>
        </p:spPr>
        <p:txBody>
          <a:bodyPr wrap="square" lIns="0" tIns="0" rIns="0" bIns="0" rtlCol="0" anchor="t"/>
          <a:lstStyle/>
          <a:p>
            <a:pPr indent="0" marL="0">
              <a:lnSpc>
                <a:spcPct val="106000"/>
              </a:lnSpc>
              <a:buNone/>
            </a:pPr>
            <a:r>
              <a:rPr lang="en-US" sz="1150" dirty="0">
                <a:solidFill>
                  <a:srgbClr val="3C4047"/>
                </a:solidFill>
                <a:latin typeface="Calibri" pitchFamily="34" charset="0"/>
                <a:ea typeface="Calibri" pitchFamily="34" charset="-122"/>
                <a:cs typeface="Calibri" pitchFamily="34" charset="-120"/>
              </a:rPr>
              <a:t>Small α is stable but slow. Large α tracks change but stays noisy</a:t>
            </a:r>
            <a:endParaRPr lang="en-US" sz="1150" dirty="0"/>
          </a:p>
        </p:txBody>
      </p:sp>
      <p:sp>
        <p:nvSpPr>
          <p:cNvPr id="14" name="Shape 11"/>
          <p:cNvSpPr/>
          <p:nvPr/>
        </p:nvSpPr>
        <p:spPr>
          <a:xfrm>
            <a:off x="8961120" y="4956048"/>
            <a:ext cx="2633472" cy="950976"/>
          </a:xfrm>
          <a:prstGeom prst="roundRect">
            <a:avLst>
              <a:gd name="adj" fmla="val 8654"/>
            </a:avLst>
          </a:prstGeom>
          <a:solidFill>
            <a:srgbClr val="F4F5F6"/>
          </a:solidFill>
          <a:ln/>
        </p:spPr>
      </p:sp>
      <p:sp>
        <p:nvSpPr>
          <p:cNvPr id="15" name="Shape 12"/>
          <p:cNvSpPr/>
          <p:nvPr/>
        </p:nvSpPr>
        <p:spPr>
          <a:xfrm>
            <a:off x="9162288" y="5138928"/>
            <a:ext cx="146304" cy="146304"/>
          </a:xfrm>
          <a:prstGeom prst="ellipse">
            <a:avLst/>
          </a:prstGeom>
          <a:solidFill>
            <a:srgbClr val="C8102E"/>
          </a:solidFill>
          <a:ln/>
        </p:spPr>
      </p:sp>
      <p:sp>
        <p:nvSpPr>
          <p:cNvPr id="16" name="Text 13"/>
          <p:cNvSpPr/>
          <p:nvPr/>
        </p:nvSpPr>
        <p:spPr>
          <a:xfrm>
            <a:off x="9400032" y="5029200"/>
            <a:ext cx="1993392" cy="804672"/>
          </a:xfrm>
          <a:prstGeom prst="rect">
            <a:avLst/>
          </a:prstGeom>
          <a:noFill/>
          <a:ln/>
        </p:spPr>
        <p:txBody>
          <a:bodyPr wrap="square" lIns="0" tIns="0" rIns="0" bIns="0" rtlCol="0" anchor="t"/>
          <a:lstStyle/>
          <a:p>
            <a:pPr indent="0" marL="0">
              <a:lnSpc>
                <a:spcPct val="106000"/>
              </a:lnSpc>
              <a:buNone/>
            </a:pPr>
            <a:r>
              <a:rPr lang="en-US" sz="1150" dirty="0">
                <a:solidFill>
                  <a:srgbClr val="3C4047"/>
                </a:solidFill>
                <a:latin typeface="Calibri" pitchFamily="34" charset="0"/>
                <a:ea typeface="Calibri" pitchFamily="34" charset="-122"/>
                <a:cs typeface="Calibri" pitchFamily="34" charset="-120"/>
              </a:rPr>
              <a:t>Decreasing α over time gives convergence</a:t>
            </a:r>
            <a:endParaRPr lang="en-US" sz="1150" dirty="0"/>
          </a:p>
        </p:txBody>
      </p:sp>
      <p:sp>
        <p:nvSpPr>
          <p:cNvPr id="17" name="Text 1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8" name="Text 1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Two transitions, two updates</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WORKED BY HAND</a:t>
            </a:r>
            <a:endParaRPr lang="en-US" sz="1050" dirty="0"/>
          </a:p>
        </p:txBody>
      </p:sp>
      <p:pic>
        <p:nvPicPr>
          <p:cNvPr id="4" name="Image 0" descr="/home/claude/comp469_rl/figures/fig10_td_worked.png">    </p:cNvPr>
          <p:cNvPicPr>
            <a:picLocks noChangeAspect="1"/>
          </p:cNvPicPr>
          <p:nvPr/>
        </p:nvPicPr>
        <p:blipFill>
          <a:blip r:embed="rId1"/>
          <a:srcRect l="0" r="0" t="0" b="0"/>
          <a:stretch/>
        </p:blipFill>
        <p:spPr>
          <a:xfrm>
            <a:off x="384048" y="1371600"/>
            <a:ext cx="11430000" cy="4059936"/>
          </a:xfrm>
          <a:prstGeom prst="rect">
            <a:avLst/>
          </a:prstGeom>
        </p:spPr>
      </p:pic>
      <p:sp>
        <p:nvSpPr>
          <p:cNvPr id="5" name="Shape 2"/>
          <p:cNvSpPr/>
          <p:nvPr/>
        </p:nvSpPr>
        <p:spPr>
          <a:xfrm>
            <a:off x="566928" y="5577840"/>
            <a:ext cx="11057839" cy="603504"/>
          </a:xfrm>
          <a:prstGeom prst="roundRect">
            <a:avLst>
              <a:gd name="adj" fmla="val 13636"/>
            </a:avLst>
          </a:prstGeom>
          <a:solidFill>
            <a:srgbClr val="FBEAED"/>
          </a:solidFill>
          <a:ln/>
        </p:spPr>
      </p:sp>
      <p:sp>
        <p:nvSpPr>
          <p:cNvPr id="6" name="Shape 3"/>
          <p:cNvSpPr/>
          <p:nvPr/>
        </p:nvSpPr>
        <p:spPr>
          <a:xfrm>
            <a:off x="786384" y="5788152"/>
            <a:ext cx="182880" cy="182880"/>
          </a:xfrm>
          <a:prstGeom prst="ellipse">
            <a:avLst/>
          </a:prstGeom>
          <a:solidFill>
            <a:srgbClr val="C8102E"/>
          </a:solidFill>
          <a:ln/>
        </p:spPr>
      </p:sp>
      <p:sp>
        <p:nvSpPr>
          <p:cNvPr id="7" name="Text 4"/>
          <p:cNvSpPr/>
          <p:nvPr/>
        </p:nvSpPr>
        <p:spPr>
          <a:xfrm>
            <a:off x="1115568" y="5577840"/>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Each update touches exactly one state, and only the state the agent just left.</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43</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You update the state you left, never the one you land in</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EASY TO GET WRONG</a:t>
            </a:r>
            <a:endParaRPr lang="en-US" sz="1050" dirty="0"/>
          </a:p>
        </p:txBody>
      </p:sp>
      <p:sp>
        <p:nvSpPr>
          <p:cNvPr id="4" name="Text 2"/>
          <p:cNvSpPr/>
          <p:nvPr/>
        </p:nvSpPr>
        <p:spPr>
          <a:xfrm>
            <a:off x="566928" y="1243584"/>
            <a:ext cx="11057839" cy="621792"/>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Arriving somewhere tells you nothing about that place. You have not done anything there yet. The reward and the transition you just observed are evidence about where you came from.</a:t>
            </a:r>
            <a:endParaRPr lang="en-US" sz="1500" dirty="0"/>
          </a:p>
        </p:txBody>
      </p:sp>
      <p:sp>
        <p:nvSpPr>
          <p:cNvPr id="5" name="Shape 3"/>
          <p:cNvSpPr/>
          <p:nvPr/>
        </p:nvSpPr>
        <p:spPr>
          <a:xfrm>
            <a:off x="566928" y="1975104"/>
            <a:ext cx="11057839" cy="1481328"/>
          </a:xfrm>
          <a:prstGeom prst="roundRect">
            <a:avLst>
              <a:gd name="adj" fmla="val 5556"/>
            </a:avLst>
          </a:prstGeom>
          <a:solidFill>
            <a:srgbClr val="F4F5F6"/>
          </a:solidFill>
          <a:ln/>
        </p:spPr>
      </p:sp>
      <p:sp>
        <p:nvSpPr>
          <p:cNvPr id="6" name="Text 4"/>
          <p:cNvSpPr/>
          <p:nvPr/>
        </p:nvSpPr>
        <p:spPr>
          <a:xfrm>
            <a:off x="2304288" y="2139696"/>
            <a:ext cx="1737360" cy="512064"/>
          </a:xfrm>
          <a:prstGeom prst="rect">
            <a:avLst/>
          </a:prstGeom>
          <a:noFill/>
          <a:ln/>
        </p:spPr>
        <p:txBody>
          <a:bodyPr wrap="square" lIns="0" tIns="0" rIns="0" bIns="0" rtlCol="0" anchor="ctr"/>
          <a:lstStyle/>
          <a:p>
            <a:pPr algn="ctr" indent="0" marL="0">
              <a:buNone/>
            </a:pPr>
            <a:r>
              <a:rPr lang="en-US" sz="2600" b="1" dirty="0">
                <a:solidFill>
                  <a:srgbClr val="C8102E"/>
                </a:solidFill>
                <a:latin typeface="Cambria" pitchFamily="34" charset="0"/>
                <a:ea typeface="Cambria" pitchFamily="34" charset="-122"/>
                <a:cs typeface="Cambria" pitchFamily="34" charset="-120"/>
              </a:rPr>
              <a:t>s</a:t>
            </a:r>
            <a:endParaRPr lang="en-US" sz="2600" dirty="0"/>
          </a:p>
        </p:txBody>
      </p:sp>
      <p:sp>
        <p:nvSpPr>
          <p:cNvPr id="7" name="Text 5"/>
          <p:cNvSpPr/>
          <p:nvPr/>
        </p:nvSpPr>
        <p:spPr>
          <a:xfrm>
            <a:off x="1984248" y="2670048"/>
            <a:ext cx="2377440" cy="292608"/>
          </a:xfrm>
          <a:prstGeom prst="rect">
            <a:avLst/>
          </a:prstGeom>
          <a:noFill/>
          <a:ln/>
        </p:spPr>
        <p:txBody>
          <a:bodyPr wrap="square" lIns="0" tIns="0" rIns="0" bIns="0" rtlCol="0" anchor="ctr"/>
          <a:lstStyle/>
          <a:p>
            <a:pPr algn="ctr" indent="0" marL="0">
              <a:buNone/>
            </a:pPr>
            <a:r>
              <a:rPr lang="en-US" sz="1150" i="1" dirty="0">
                <a:solidFill>
                  <a:srgbClr val="C8102E"/>
                </a:solidFill>
                <a:latin typeface="Calibri" pitchFamily="34" charset="0"/>
                <a:ea typeface="Calibri" pitchFamily="34" charset="-122"/>
                <a:cs typeface="Calibri" pitchFamily="34" charset="-120"/>
              </a:rPr>
              <a:t>updated</a:t>
            </a:r>
            <a:endParaRPr lang="en-US" sz="1150" dirty="0"/>
          </a:p>
        </p:txBody>
      </p:sp>
      <p:sp>
        <p:nvSpPr>
          <p:cNvPr id="8" name="Text 6"/>
          <p:cNvSpPr/>
          <p:nvPr/>
        </p:nvSpPr>
        <p:spPr>
          <a:xfrm>
            <a:off x="4041648" y="2139696"/>
            <a:ext cx="914400" cy="512064"/>
          </a:xfrm>
          <a:prstGeom prst="rect">
            <a:avLst/>
          </a:prstGeom>
          <a:noFill/>
          <a:ln/>
        </p:spPr>
        <p:txBody>
          <a:bodyPr wrap="square" lIns="0" tIns="0" rIns="0" bIns="0" rtlCol="0" anchor="ctr"/>
          <a:lstStyle/>
          <a:p>
            <a:pPr algn="ctr" indent="0" marL="0">
              <a:buNone/>
            </a:pPr>
            <a:r>
              <a:rPr lang="en-US" sz="2200" dirty="0">
                <a:solidFill>
                  <a:srgbClr val="A7A8AA"/>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4956048" y="2139696"/>
            <a:ext cx="1737360" cy="512064"/>
          </a:xfrm>
          <a:prstGeom prst="rect">
            <a:avLst/>
          </a:prstGeom>
          <a:noFill/>
          <a:ln/>
        </p:spPr>
        <p:txBody>
          <a:bodyPr wrap="square" lIns="0" tIns="0" rIns="0" bIns="0" rtlCol="0" anchor="ctr"/>
          <a:lstStyle/>
          <a:p>
            <a:pPr algn="ctr" indent="0" marL="0">
              <a:buNone/>
            </a:pPr>
            <a:r>
              <a:rPr lang="en-US" sz="2600" b="1" dirty="0">
                <a:solidFill>
                  <a:srgbClr val="53565A"/>
                </a:solidFill>
                <a:latin typeface="Cambria" pitchFamily="34" charset="0"/>
                <a:ea typeface="Cambria" pitchFamily="34" charset="-122"/>
                <a:cs typeface="Cambria" pitchFamily="34" charset="-120"/>
              </a:rPr>
              <a:t>a, r</a:t>
            </a:r>
            <a:endParaRPr lang="en-US" sz="2600" dirty="0"/>
          </a:p>
        </p:txBody>
      </p:sp>
      <p:sp>
        <p:nvSpPr>
          <p:cNvPr id="10" name="Text 8"/>
          <p:cNvSpPr/>
          <p:nvPr/>
        </p:nvSpPr>
        <p:spPr>
          <a:xfrm>
            <a:off x="4636008" y="2670048"/>
            <a:ext cx="2377440" cy="292608"/>
          </a:xfrm>
          <a:prstGeom prst="rect">
            <a:avLst/>
          </a:prstGeom>
          <a:noFill/>
          <a:ln/>
        </p:spPr>
        <p:txBody>
          <a:bodyPr wrap="square" lIns="0" tIns="0" rIns="0" bIns="0" rtlCol="0" anchor="ctr"/>
          <a:lstStyle/>
          <a:p>
            <a:pPr algn="ctr" indent="0" marL="0">
              <a:buNone/>
            </a:pPr>
            <a:r>
              <a:rPr lang="en-US" sz="1150" i="1" dirty="0">
                <a:solidFill>
                  <a:srgbClr val="53565A"/>
                </a:solidFill>
                <a:latin typeface="Calibri" pitchFamily="34" charset="0"/>
                <a:ea typeface="Calibri" pitchFamily="34" charset="-122"/>
                <a:cs typeface="Calibri" pitchFamily="34" charset="-120"/>
              </a:rPr>
              <a:t>observed</a:t>
            </a:r>
            <a:endParaRPr lang="en-US" sz="1150" dirty="0"/>
          </a:p>
        </p:txBody>
      </p:sp>
      <p:sp>
        <p:nvSpPr>
          <p:cNvPr id="11" name="Text 9"/>
          <p:cNvSpPr/>
          <p:nvPr/>
        </p:nvSpPr>
        <p:spPr>
          <a:xfrm>
            <a:off x="6693408" y="2139696"/>
            <a:ext cx="914400" cy="512064"/>
          </a:xfrm>
          <a:prstGeom prst="rect">
            <a:avLst/>
          </a:prstGeom>
          <a:noFill/>
          <a:ln/>
        </p:spPr>
        <p:txBody>
          <a:bodyPr wrap="square" lIns="0" tIns="0" rIns="0" bIns="0" rtlCol="0" anchor="ctr"/>
          <a:lstStyle/>
          <a:p>
            <a:pPr algn="ctr" indent="0" marL="0">
              <a:buNone/>
            </a:pPr>
            <a:r>
              <a:rPr lang="en-US" sz="2200" dirty="0">
                <a:solidFill>
                  <a:srgbClr val="A7A8AA"/>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7607808" y="2139696"/>
            <a:ext cx="1737360" cy="512064"/>
          </a:xfrm>
          <a:prstGeom prst="rect">
            <a:avLst/>
          </a:prstGeom>
          <a:noFill/>
          <a:ln/>
        </p:spPr>
        <p:txBody>
          <a:bodyPr wrap="square" lIns="0" tIns="0" rIns="0" bIns="0" rtlCol="0" anchor="ctr"/>
          <a:lstStyle/>
          <a:p>
            <a:pPr algn="ctr" indent="0" marL="0">
              <a:buNone/>
            </a:pPr>
            <a:r>
              <a:rPr lang="en-US" sz="2600" b="1" dirty="0">
                <a:solidFill>
                  <a:srgbClr val="1C5D99"/>
                </a:solidFill>
                <a:latin typeface="Cambria" pitchFamily="34" charset="0"/>
                <a:ea typeface="Cambria" pitchFamily="34" charset="-122"/>
                <a:cs typeface="Cambria" pitchFamily="34" charset="-120"/>
              </a:rPr>
              <a:t>s'</a:t>
            </a:r>
            <a:endParaRPr lang="en-US" sz="2600" dirty="0"/>
          </a:p>
        </p:txBody>
      </p:sp>
      <p:sp>
        <p:nvSpPr>
          <p:cNvPr id="13" name="Text 11"/>
          <p:cNvSpPr/>
          <p:nvPr/>
        </p:nvSpPr>
        <p:spPr>
          <a:xfrm>
            <a:off x="7287768" y="2670048"/>
            <a:ext cx="2377440" cy="292608"/>
          </a:xfrm>
          <a:prstGeom prst="rect">
            <a:avLst/>
          </a:prstGeom>
          <a:noFill/>
          <a:ln/>
        </p:spPr>
        <p:txBody>
          <a:bodyPr wrap="square" lIns="0" tIns="0" rIns="0" bIns="0" rtlCol="0" anchor="ctr"/>
          <a:lstStyle/>
          <a:p>
            <a:pPr algn="ctr" indent="0" marL="0">
              <a:buNone/>
            </a:pPr>
            <a:r>
              <a:rPr lang="en-US" sz="1150" i="1" dirty="0">
                <a:solidFill>
                  <a:srgbClr val="1C5D99"/>
                </a:solidFill>
                <a:latin typeface="Calibri" pitchFamily="34" charset="0"/>
                <a:ea typeface="Calibri" pitchFamily="34" charset="-122"/>
                <a:cs typeface="Calibri" pitchFamily="34" charset="-120"/>
              </a:rPr>
              <a:t>read, never updated</a:t>
            </a:r>
            <a:endParaRPr lang="en-US" sz="1150" dirty="0"/>
          </a:p>
        </p:txBody>
      </p:sp>
      <p:sp>
        <p:nvSpPr>
          <p:cNvPr id="14" name="Text 12"/>
          <p:cNvSpPr/>
          <p:nvPr/>
        </p:nvSpPr>
        <p:spPr>
          <a:xfrm>
            <a:off x="841248" y="3054096"/>
            <a:ext cx="10509199" cy="310896"/>
          </a:xfrm>
          <a:prstGeom prst="rect">
            <a:avLst/>
          </a:prstGeom>
          <a:noFill/>
          <a:ln/>
        </p:spPr>
        <p:txBody>
          <a:bodyPr wrap="square" lIns="0" tIns="0" rIns="0" bIns="0" rtlCol="0" anchor="ctr"/>
          <a:lstStyle/>
          <a:p>
            <a:pPr algn="ctr" indent="0" marL="0">
              <a:buNone/>
            </a:pPr>
            <a:r>
              <a:rPr lang="en-US" sz="1250" i="1" dirty="0">
                <a:solidFill>
                  <a:srgbClr val="53565A"/>
                </a:solidFill>
                <a:latin typeface="Calibri" pitchFamily="34" charset="0"/>
                <a:ea typeface="Calibri" pitchFamily="34" charset="-122"/>
                <a:cs typeface="Calibri" pitchFamily="34" charset="-120"/>
              </a:rPr>
              <a:t>V(s') is read only, to build the sample. The transition is evidence about s.</a:t>
            </a:r>
            <a:endParaRPr lang="en-US" sz="1250" dirty="0"/>
          </a:p>
        </p:txBody>
      </p:sp>
      <p:sp>
        <p:nvSpPr>
          <p:cNvPr id="15" name="Text 13"/>
          <p:cNvSpPr/>
          <p:nvPr/>
        </p:nvSpPr>
        <p:spPr>
          <a:xfrm>
            <a:off x="566928" y="3712464"/>
            <a:ext cx="11057839" cy="2286000"/>
          </a:xfrm>
          <a:prstGeom prst="rect">
            <a:avLst/>
          </a:prstGeom>
          <a:noFill/>
          <a:ln/>
        </p:spPr>
        <p:txBody>
          <a:bodyPr wrap="square" lIns="0" tIns="0" rIns="0" bIns="0" rtlCol="0" anchor="t"/>
          <a:lstStyle/>
          <a:p>
            <a:pPr marL="177800" indent="-177800">
              <a:spcAft>
                <a:spcPts val="900"/>
              </a:spcAft>
              <a:buSzPct val="100000"/>
              <a:buChar char="•"/>
            </a:pPr>
            <a:r>
              <a:rPr lang="en-US" sz="1600" b="1" dirty="0">
                <a:solidFill>
                  <a:srgbClr val="3C4047"/>
                </a:solidFill>
                <a:latin typeface="Calibri" pitchFamily="34" charset="0"/>
                <a:ea typeface="Calibri" pitchFamily="34" charset="-122"/>
                <a:cs typeface="Calibri" pitchFamily="34" charset="-120"/>
              </a:rPr>
              <a:t>You leave learning in your wake.</a:t>
            </a:r>
            <a:endParaRPr lang="en-US" sz="1600" dirty="0"/>
          </a:p>
          <a:p>
            <a:pPr lvl="1" marL="355600" indent="-177800">
              <a:spcAft>
                <a:spcPts val="900"/>
              </a:spcAft>
              <a:buSzPct val="100000"/>
              <a:buChar char="•"/>
            </a:pPr>
            <a:r>
              <a:rPr lang="en-US" sz="1500" dirty="0">
                <a:solidFill>
                  <a:srgbClr val="3C4047"/>
                </a:solidFill>
                <a:latin typeface="Calibri" pitchFamily="34" charset="0"/>
                <a:ea typeface="Calibri" pitchFamily="34" charset="-122"/>
                <a:cs typeface="Calibri" pitchFamily="34" charset="-120"/>
              </a:rPr>
              <a:t>Each transition improves exactly one number, and it is behind you.</a:t>
            </a:r>
            <a:endParaRPr lang="en-US" sz="1600" dirty="0"/>
          </a:p>
          <a:p>
            <a:pPr marL="177800" indent="-177800">
              <a:spcAft>
                <a:spcPts val="900"/>
              </a:spcAft>
              <a:buSzPct val="100000"/>
              <a:buChar char="•"/>
            </a:pPr>
            <a:r>
              <a:rPr lang="en-US" sz="1600" b="1" dirty="0">
                <a:solidFill>
                  <a:srgbClr val="3C4047"/>
                </a:solidFill>
                <a:latin typeface="Calibri" pitchFamily="34" charset="0"/>
                <a:ea typeface="Calibri" pitchFamily="34" charset="-122"/>
                <a:cs typeface="Calibri" pitchFamily="34" charset="-120"/>
              </a:rPr>
              <a:t>Values therefore propagate backward, one state per visit.</a:t>
            </a:r>
            <a:endParaRPr lang="en-US" sz="1600" dirty="0"/>
          </a:p>
          <a:p>
            <a:pPr lvl="1" marL="355600" indent="-177800">
              <a:spcAft>
                <a:spcPts val="900"/>
              </a:spcAft>
              <a:buSzPct val="100000"/>
              <a:buChar char="•"/>
            </a:pPr>
            <a:r>
              <a:rPr lang="en-US" sz="1500" dirty="0">
                <a:solidFill>
                  <a:srgbClr val="3C4047"/>
                </a:solidFill>
                <a:latin typeface="Calibri" pitchFamily="34" charset="0"/>
                <a:ea typeface="Calibri" pitchFamily="34" charset="-122"/>
                <a:cs typeface="Calibri" pitchFamily="34" charset="-120"/>
              </a:rPr>
              <a:t>Good news near the exit takes several passes to reach the start, because each pass moves it one step.</a:t>
            </a:r>
            <a:endParaRPr lang="en-US" sz="1600" dirty="0"/>
          </a:p>
          <a:p>
            <a:pPr marL="177800" indent="-177800">
              <a:spcAft>
                <a:spcPts val="900"/>
              </a:spcAft>
              <a:buSzPct val="100000"/>
              <a:buChar char="•"/>
            </a:pPr>
            <a:r>
              <a:rPr lang="en-US" sz="1600" b="1" dirty="0">
                <a:solidFill>
                  <a:srgbClr val="3C4047"/>
                </a:solidFill>
                <a:latin typeface="Calibri" pitchFamily="34" charset="0"/>
                <a:ea typeface="Calibri" pitchFamily="34" charset="-122"/>
                <a:cs typeface="Calibri" pitchFamily="34" charset="-120"/>
              </a:rPr>
              <a:t>This is why early episodes look like nothing is happening.</a:t>
            </a:r>
            <a:endParaRPr lang="en-US" sz="1600" dirty="0"/>
          </a:p>
          <a:p>
            <a:pPr lvl="1" marL="355600" indent="-177800">
              <a:spcAft>
                <a:spcPts val="900"/>
              </a:spcAft>
              <a:buSzPct val="100000"/>
              <a:buChar char="•"/>
            </a:pPr>
            <a:r>
              <a:rPr lang="en-US" sz="1500" dirty="0">
                <a:solidFill>
                  <a:srgbClr val="3C4047"/>
                </a:solidFill>
                <a:latin typeface="Calibri" pitchFamily="34" charset="0"/>
                <a:ea typeface="Calibri" pitchFamily="34" charset="-122"/>
                <a:cs typeface="Calibri" pitchFamily="34" charset="-120"/>
              </a:rPr>
              <a:t>Until some state has a nonzero value, every sample is zero plus zero, and every update is a no-op.</a:t>
            </a:r>
            <a:endParaRPr lang="en-US" sz="1600" dirty="0"/>
          </a:p>
        </p:txBody>
      </p:sp>
      <p:sp>
        <p:nvSpPr>
          <p:cNvPr id="16" name="Text 1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7" name="Text 1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44</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Do one by hand</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CHECKPOINT 2</a:t>
            </a:r>
            <a:endParaRPr lang="en-US" sz="1050" dirty="0"/>
          </a:p>
        </p:txBody>
      </p:sp>
      <p:sp>
        <p:nvSpPr>
          <p:cNvPr id="4" name="Text 2"/>
          <p:cNvSpPr/>
          <p:nvPr/>
        </p:nvSpPr>
        <p:spPr>
          <a:xfrm>
            <a:off x="566928" y="1170432"/>
            <a:ext cx="11057839" cy="329184"/>
          </a:xfrm>
          <a:prstGeom prst="rect">
            <a:avLst/>
          </a:prstGeom>
          <a:noFill/>
          <a:ln/>
        </p:spPr>
        <p:txBody>
          <a:bodyPr wrap="square" lIns="0" tIns="0" rIns="0" bIns="0" rtlCol="0" anchor="t"/>
          <a:lstStyle/>
          <a:p>
            <a:pPr algn="l" indent="0" marL="0">
              <a:lnSpc>
                <a:spcPct val="114000"/>
              </a:lnSpc>
              <a:buNone/>
            </a:pPr>
            <a:r>
              <a:rPr lang="en-US" sz="1400" i="1" dirty="0">
                <a:solidFill>
                  <a:srgbClr val="53565A"/>
                </a:solidFill>
                <a:latin typeface="Calibri" pitchFamily="34" charset="0"/>
                <a:ea typeface="Calibri" pitchFamily="34" charset="-122"/>
                <a:cs typeface="Calibri" pitchFamily="34" charset="-120"/>
              </a:rPr>
              <a:t>Two minutes. Same grid, γ = 1, α = 0.5. Current estimates are shown.</a:t>
            </a:r>
            <a:endParaRPr lang="en-US" sz="1400" dirty="0"/>
          </a:p>
        </p:txBody>
      </p:sp>
      <p:sp>
        <p:nvSpPr>
          <p:cNvPr id="5" name="Shape 3"/>
          <p:cNvSpPr/>
          <p:nvPr/>
        </p:nvSpPr>
        <p:spPr>
          <a:xfrm>
            <a:off x="566928" y="1609344"/>
            <a:ext cx="5120640" cy="2103120"/>
          </a:xfrm>
          <a:prstGeom prst="roundRect">
            <a:avLst>
              <a:gd name="adj" fmla="val 3913"/>
            </a:avLst>
          </a:prstGeom>
          <a:solidFill>
            <a:srgbClr val="F4F5F6"/>
          </a:solidFill>
          <a:ln/>
        </p:spPr>
      </p:sp>
      <p:sp>
        <p:nvSpPr>
          <p:cNvPr id="6" name="Text 4"/>
          <p:cNvSpPr/>
          <p:nvPr/>
        </p:nvSpPr>
        <p:spPr>
          <a:xfrm>
            <a:off x="841248" y="1737360"/>
            <a:ext cx="4572000" cy="292608"/>
          </a:xfrm>
          <a:prstGeom prst="rect">
            <a:avLst/>
          </a:prstGeom>
          <a:noFill/>
          <a:ln/>
        </p:spPr>
        <p:txBody>
          <a:bodyPr wrap="square" lIns="0" tIns="0" rIns="0" bIns="0" rtlCol="0" anchor="ctr"/>
          <a:lstStyle/>
          <a:p>
            <a:pPr indent="0" marL="0">
              <a:buNone/>
            </a:pPr>
            <a:r>
              <a:rPr lang="en-US" sz="1300" b="1" dirty="0">
                <a:solidFill>
                  <a:srgbClr val="22252A"/>
                </a:solidFill>
                <a:latin typeface="Calibri" pitchFamily="34" charset="0"/>
                <a:ea typeface="Calibri" pitchFamily="34" charset="-122"/>
                <a:cs typeface="Calibri" pitchFamily="34" charset="-120"/>
              </a:rPr>
              <a:t>Current estimates</a:t>
            </a:r>
            <a:endParaRPr lang="en-US" sz="1300" dirty="0"/>
          </a:p>
        </p:txBody>
      </p:sp>
      <p:sp>
        <p:nvSpPr>
          <p:cNvPr id="7" name="Text 5"/>
          <p:cNvSpPr/>
          <p:nvPr/>
        </p:nvSpPr>
        <p:spPr>
          <a:xfrm>
            <a:off x="841248" y="2139696"/>
            <a:ext cx="1170432" cy="310896"/>
          </a:xfrm>
          <a:prstGeom prst="rect">
            <a:avLst/>
          </a:prstGeom>
          <a:noFill/>
          <a:ln/>
        </p:spPr>
        <p:txBody>
          <a:bodyPr wrap="square" lIns="0" tIns="0" rIns="0" bIns="0" rtlCol="0" anchor="ctr"/>
          <a:lstStyle/>
          <a:p>
            <a:pPr algn="ctr" indent="0" marL="0">
              <a:buNone/>
            </a:pPr>
            <a:r>
              <a:rPr lang="en-US" sz="1250" dirty="0">
                <a:solidFill>
                  <a:srgbClr val="53565A"/>
                </a:solidFill>
                <a:latin typeface="Calibri" pitchFamily="34" charset="0"/>
                <a:ea typeface="Calibri" pitchFamily="34" charset="-122"/>
                <a:cs typeface="Calibri" pitchFamily="34" charset="-120"/>
              </a:rPr>
              <a:t>V(B)</a:t>
            </a:r>
            <a:endParaRPr lang="en-US" sz="1250" dirty="0"/>
          </a:p>
        </p:txBody>
      </p:sp>
      <p:sp>
        <p:nvSpPr>
          <p:cNvPr id="8" name="Text 6"/>
          <p:cNvSpPr/>
          <p:nvPr/>
        </p:nvSpPr>
        <p:spPr>
          <a:xfrm>
            <a:off x="841248" y="2432304"/>
            <a:ext cx="1170432" cy="457200"/>
          </a:xfrm>
          <a:prstGeom prst="rect">
            <a:avLst/>
          </a:prstGeom>
          <a:noFill/>
          <a:ln/>
        </p:spPr>
        <p:txBody>
          <a:bodyPr wrap="square" lIns="0" tIns="0" rIns="0" bIns="0" rtlCol="0" anchor="ctr"/>
          <a:lstStyle/>
          <a:p>
            <a:pPr algn="ctr" indent="0" marL="0">
              <a:buNone/>
            </a:pPr>
            <a:r>
              <a:rPr lang="en-US" sz="2200" b="1" dirty="0">
                <a:solidFill>
                  <a:srgbClr val="1B7F5A"/>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2029968" y="2139696"/>
            <a:ext cx="1170432" cy="310896"/>
          </a:xfrm>
          <a:prstGeom prst="rect">
            <a:avLst/>
          </a:prstGeom>
          <a:noFill/>
          <a:ln/>
        </p:spPr>
        <p:txBody>
          <a:bodyPr wrap="square" lIns="0" tIns="0" rIns="0" bIns="0" rtlCol="0" anchor="ctr"/>
          <a:lstStyle/>
          <a:p>
            <a:pPr algn="ctr" indent="0" marL="0">
              <a:buNone/>
            </a:pPr>
            <a:r>
              <a:rPr lang="en-US" sz="1250" dirty="0">
                <a:solidFill>
                  <a:srgbClr val="53565A"/>
                </a:solidFill>
                <a:latin typeface="Calibri" pitchFamily="34" charset="0"/>
                <a:ea typeface="Calibri" pitchFamily="34" charset="-122"/>
                <a:cs typeface="Calibri" pitchFamily="34" charset="-120"/>
              </a:rPr>
              <a:t>V(C)</a:t>
            </a:r>
            <a:endParaRPr lang="en-US" sz="1250" dirty="0"/>
          </a:p>
        </p:txBody>
      </p:sp>
      <p:sp>
        <p:nvSpPr>
          <p:cNvPr id="10" name="Text 8"/>
          <p:cNvSpPr/>
          <p:nvPr/>
        </p:nvSpPr>
        <p:spPr>
          <a:xfrm>
            <a:off x="2029968" y="2432304"/>
            <a:ext cx="1170432" cy="457200"/>
          </a:xfrm>
          <a:prstGeom prst="rect">
            <a:avLst/>
          </a:prstGeom>
          <a:noFill/>
          <a:ln/>
        </p:spPr>
        <p:txBody>
          <a:bodyPr wrap="square" lIns="0" tIns="0" rIns="0" bIns="0" rtlCol="0" anchor="ctr"/>
          <a:lstStyle/>
          <a:p>
            <a:pPr algn="ctr" indent="0" marL="0">
              <a:buNone/>
            </a:pPr>
            <a:r>
              <a:rPr lang="en-US" sz="2200" b="1" dirty="0">
                <a:solidFill>
                  <a:srgbClr val="1B7F5A"/>
                </a:solidFill>
                <a:latin typeface="Cambria" pitchFamily="34" charset="0"/>
                <a:ea typeface="Cambria" pitchFamily="34" charset="-122"/>
                <a:cs typeface="Cambria" pitchFamily="34" charset="-120"/>
              </a:rPr>
              <a:t>+3</a:t>
            </a:r>
            <a:endParaRPr lang="en-US" sz="2200" dirty="0"/>
          </a:p>
        </p:txBody>
      </p:sp>
      <p:sp>
        <p:nvSpPr>
          <p:cNvPr id="11" name="Text 9"/>
          <p:cNvSpPr/>
          <p:nvPr/>
        </p:nvSpPr>
        <p:spPr>
          <a:xfrm>
            <a:off x="3218688" y="2139696"/>
            <a:ext cx="1170432" cy="310896"/>
          </a:xfrm>
          <a:prstGeom prst="rect">
            <a:avLst/>
          </a:prstGeom>
          <a:noFill/>
          <a:ln/>
        </p:spPr>
        <p:txBody>
          <a:bodyPr wrap="square" lIns="0" tIns="0" rIns="0" bIns="0" rtlCol="0" anchor="ctr"/>
          <a:lstStyle/>
          <a:p>
            <a:pPr algn="ctr" indent="0" marL="0">
              <a:buNone/>
            </a:pPr>
            <a:r>
              <a:rPr lang="en-US" sz="1250" dirty="0">
                <a:solidFill>
                  <a:srgbClr val="53565A"/>
                </a:solidFill>
                <a:latin typeface="Calibri" pitchFamily="34" charset="0"/>
                <a:ea typeface="Calibri" pitchFamily="34" charset="-122"/>
                <a:cs typeface="Calibri" pitchFamily="34" charset="-120"/>
              </a:rPr>
              <a:t>V(D)</a:t>
            </a:r>
            <a:endParaRPr lang="en-US" sz="1250" dirty="0"/>
          </a:p>
        </p:txBody>
      </p:sp>
      <p:sp>
        <p:nvSpPr>
          <p:cNvPr id="12" name="Text 10"/>
          <p:cNvSpPr/>
          <p:nvPr/>
        </p:nvSpPr>
        <p:spPr>
          <a:xfrm>
            <a:off x="3218688" y="2432304"/>
            <a:ext cx="1170432" cy="457200"/>
          </a:xfrm>
          <a:prstGeom prst="rect">
            <a:avLst/>
          </a:prstGeom>
          <a:noFill/>
          <a:ln/>
        </p:spPr>
        <p:txBody>
          <a:bodyPr wrap="square" lIns="0" tIns="0" rIns="0" bIns="0" rtlCol="0" anchor="ctr"/>
          <a:lstStyle/>
          <a:p>
            <a:pPr algn="ctr" indent="0" marL="0">
              <a:buNone/>
            </a:pPr>
            <a:r>
              <a:rPr lang="en-US" sz="2200" b="1" dirty="0">
                <a:solidFill>
                  <a:srgbClr val="1B7F5A"/>
                </a:solidFill>
                <a:latin typeface="Cambria" pitchFamily="34" charset="0"/>
                <a:ea typeface="Cambria" pitchFamily="34" charset="-122"/>
                <a:cs typeface="Cambria" pitchFamily="34" charset="-120"/>
              </a:rPr>
              <a:t>+8</a:t>
            </a:r>
            <a:endParaRPr lang="en-US" sz="2200" dirty="0"/>
          </a:p>
        </p:txBody>
      </p:sp>
      <p:sp>
        <p:nvSpPr>
          <p:cNvPr id="13" name="Text 11"/>
          <p:cNvSpPr/>
          <p:nvPr/>
        </p:nvSpPr>
        <p:spPr>
          <a:xfrm>
            <a:off x="4407408" y="2139696"/>
            <a:ext cx="1170432" cy="310896"/>
          </a:xfrm>
          <a:prstGeom prst="rect">
            <a:avLst/>
          </a:prstGeom>
          <a:noFill/>
          <a:ln/>
        </p:spPr>
        <p:txBody>
          <a:bodyPr wrap="square" lIns="0" tIns="0" rIns="0" bIns="0" rtlCol="0" anchor="ctr"/>
          <a:lstStyle/>
          <a:p>
            <a:pPr algn="ctr" indent="0" marL="0">
              <a:buNone/>
            </a:pPr>
            <a:r>
              <a:rPr lang="en-US" sz="1250" dirty="0">
                <a:solidFill>
                  <a:srgbClr val="53565A"/>
                </a:solidFill>
                <a:latin typeface="Calibri" pitchFamily="34" charset="0"/>
                <a:ea typeface="Calibri" pitchFamily="34" charset="-122"/>
                <a:cs typeface="Calibri" pitchFamily="34" charset="-120"/>
              </a:rPr>
              <a:t>V(E)</a:t>
            </a:r>
            <a:endParaRPr lang="en-US" sz="1250" dirty="0"/>
          </a:p>
        </p:txBody>
      </p:sp>
      <p:sp>
        <p:nvSpPr>
          <p:cNvPr id="14" name="Text 12"/>
          <p:cNvSpPr/>
          <p:nvPr/>
        </p:nvSpPr>
        <p:spPr>
          <a:xfrm>
            <a:off x="4407408" y="2432304"/>
            <a:ext cx="1170432" cy="457200"/>
          </a:xfrm>
          <a:prstGeom prst="rect">
            <a:avLst/>
          </a:prstGeom>
          <a:noFill/>
          <a:ln/>
        </p:spPr>
        <p:txBody>
          <a:bodyPr wrap="square" lIns="0" tIns="0" rIns="0" bIns="0" rtlCol="0" anchor="ctr"/>
          <a:lstStyle/>
          <a:p>
            <a:pPr algn="ctr" indent="0" marL="0">
              <a:buNone/>
            </a:pPr>
            <a:r>
              <a:rPr lang="en-US" sz="2200" b="1" dirty="0">
                <a:solidFill>
                  <a:srgbClr val="53565A"/>
                </a:solidFill>
                <a:latin typeface="Cambria" pitchFamily="34" charset="0"/>
                <a:ea typeface="Cambria" pitchFamily="34" charset="-122"/>
                <a:cs typeface="Cambria" pitchFamily="34" charset="-120"/>
              </a:rPr>
              <a:t>0</a:t>
            </a:r>
            <a:endParaRPr lang="en-US" sz="2200" dirty="0"/>
          </a:p>
        </p:txBody>
      </p:sp>
      <p:sp>
        <p:nvSpPr>
          <p:cNvPr id="15" name="Text 13"/>
          <p:cNvSpPr/>
          <p:nvPr/>
        </p:nvSpPr>
        <p:spPr>
          <a:xfrm>
            <a:off x="841248" y="3035808"/>
            <a:ext cx="4572000" cy="365760"/>
          </a:xfrm>
          <a:prstGeom prst="rect">
            <a:avLst/>
          </a:prstGeom>
          <a:noFill/>
          <a:ln/>
        </p:spPr>
        <p:txBody>
          <a:bodyPr wrap="square" lIns="0" tIns="0" rIns="0" bIns="0"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Observed transition:   E,  north,  C,  reward −1</a:t>
            </a:r>
            <a:endParaRPr lang="en-US" sz="1400" dirty="0"/>
          </a:p>
        </p:txBody>
      </p:sp>
      <p:sp>
        <p:nvSpPr>
          <p:cNvPr id="16" name="Shape 14"/>
          <p:cNvSpPr/>
          <p:nvPr/>
        </p:nvSpPr>
        <p:spPr>
          <a:xfrm>
            <a:off x="6089904" y="1609344"/>
            <a:ext cx="5532120" cy="658368"/>
          </a:xfrm>
          <a:prstGeom prst="roundRect">
            <a:avLst>
              <a:gd name="adj" fmla="val 12500"/>
            </a:avLst>
          </a:prstGeom>
          <a:solidFill>
            <a:srgbClr val="F4F5F6"/>
          </a:solidFill>
          <a:ln/>
        </p:spPr>
      </p:sp>
      <p:sp>
        <p:nvSpPr>
          <p:cNvPr id="17" name="Shape 15"/>
          <p:cNvSpPr/>
          <p:nvPr/>
        </p:nvSpPr>
        <p:spPr>
          <a:xfrm>
            <a:off x="6309360" y="1746504"/>
            <a:ext cx="384048" cy="384048"/>
          </a:xfrm>
          <a:prstGeom prst="ellipse">
            <a:avLst/>
          </a:prstGeom>
          <a:solidFill>
            <a:srgbClr val="C8102E"/>
          </a:solidFill>
          <a:ln/>
        </p:spPr>
      </p:sp>
      <p:sp>
        <p:nvSpPr>
          <p:cNvPr id="18" name="Text 16"/>
          <p:cNvSpPr/>
          <p:nvPr/>
        </p:nvSpPr>
        <p:spPr>
          <a:xfrm>
            <a:off x="6309360" y="1746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Text 17"/>
          <p:cNvSpPr/>
          <p:nvPr/>
        </p:nvSpPr>
        <p:spPr>
          <a:xfrm>
            <a:off x="6839712" y="1609344"/>
            <a:ext cx="4572000" cy="658368"/>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Which state's value changes?</a:t>
            </a:r>
            <a:endParaRPr lang="en-US" sz="1350" dirty="0"/>
          </a:p>
        </p:txBody>
      </p:sp>
      <p:sp>
        <p:nvSpPr>
          <p:cNvPr id="20" name="Shape 18"/>
          <p:cNvSpPr/>
          <p:nvPr/>
        </p:nvSpPr>
        <p:spPr>
          <a:xfrm>
            <a:off x="6089904" y="2359152"/>
            <a:ext cx="5532120" cy="658368"/>
          </a:xfrm>
          <a:prstGeom prst="roundRect">
            <a:avLst>
              <a:gd name="adj" fmla="val 12500"/>
            </a:avLst>
          </a:prstGeom>
          <a:solidFill>
            <a:srgbClr val="F4F5F6"/>
          </a:solidFill>
          <a:ln/>
        </p:spPr>
      </p:sp>
      <p:sp>
        <p:nvSpPr>
          <p:cNvPr id="21" name="Shape 19"/>
          <p:cNvSpPr/>
          <p:nvPr/>
        </p:nvSpPr>
        <p:spPr>
          <a:xfrm>
            <a:off x="6309360" y="2496312"/>
            <a:ext cx="384048" cy="384048"/>
          </a:xfrm>
          <a:prstGeom prst="ellipse">
            <a:avLst/>
          </a:prstGeom>
          <a:solidFill>
            <a:srgbClr val="C8102E"/>
          </a:solidFill>
          <a:ln/>
        </p:spPr>
      </p:sp>
      <p:sp>
        <p:nvSpPr>
          <p:cNvPr id="22" name="Text 20"/>
          <p:cNvSpPr/>
          <p:nvPr/>
        </p:nvSpPr>
        <p:spPr>
          <a:xfrm>
            <a:off x="6309360" y="2496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1"/>
          <p:cNvSpPr/>
          <p:nvPr/>
        </p:nvSpPr>
        <p:spPr>
          <a:xfrm>
            <a:off x="6839712" y="2359152"/>
            <a:ext cx="4572000" cy="658368"/>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What is the sample?</a:t>
            </a:r>
            <a:endParaRPr lang="en-US" sz="1350" dirty="0"/>
          </a:p>
        </p:txBody>
      </p:sp>
      <p:sp>
        <p:nvSpPr>
          <p:cNvPr id="24" name="Shape 22"/>
          <p:cNvSpPr/>
          <p:nvPr/>
        </p:nvSpPr>
        <p:spPr>
          <a:xfrm>
            <a:off x="6089904" y="3108960"/>
            <a:ext cx="5532120" cy="658368"/>
          </a:xfrm>
          <a:prstGeom prst="roundRect">
            <a:avLst>
              <a:gd name="adj" fmla="val 12500"/>
            </a:avLst>
          </a:prstGeom>
          <a:solidFill>
            <a:srgbClr val="F4F5F6"/>
          </a:solidFill>
          <a:ln/>
        </p:spPr>
      </p:sp>
      <p:sp>
        <p:nvSpPr>
          <p:cNvPr id="25" name="Shape 23"/>
          <p:cNvSpPr/>
          <p:nvPr/>
        </p:nvSpPr>
        <p:spPr>
          <a:xfrm>
            <a:off x="6309360" y="3246120"/>
            <a:ext cx="384048" cy="384048"/>
          </a:xfrm>
          <a:prstGeom prst="ellipse">
            <a:avLst/>
          </a:prstGeom>
          <a:solidFill>
            <a:srgbClr val="C8102E"/>
          </a:solidFill>
          <a:ln/>
        </p:spPr>
      </p:sp>
      <p:sp>
        <p:nvSpPr>
          <p:cNvPr id="26" name="Text 24"/>
          <p:cNvSpPr/>
          <p:nvPr/>
        </p:nvSpPr>
        <p:spPr>
          <a:xfrm>
            <a:off x="6309360" y="3246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p:nvPr/>
        </p:nvSpPr>
        <p:spPr>
          <a:xfrm>
            <a:off x="6839712" y="3108960"/>
            <a:ext cx="4572000" cy="658368"/>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What is the new estimate for that state?</a:t>
            </a:r>
            <a:endParaRPr lang="en-US" sz="1350" dirty="0"/>
          </a:p>
        </p:txBody>
      </p:sp>
      <p:sp>
        <p:nvSpPr>
          <p:cNvPr id="28" name="Shape 26"/>
          <p:cNvSpPr/>
          <p:nvPr/>
        </p:nvSpPr>
        <p:spPr>
          <a:xfrm>
            <a:off x="6089904" y="3858768"/>
            <a:ext cx="5532120" cy="658368"/>
          </a:xfrm>
          <a:prstGeom prst="roundRect">
            <a:avLst>
              <a:gd name="adj" fmla="val 12500"/>
            </a:avLst>
          </a:prstGeom>
          <a:solidFill>
            <a:srgbClr val="F4F5F6"/>
          </a:solidFill>
          <a:ln/>
        </p:spPr>
      </p:sp>
      <p:sp>
        <p:nvSpPr>
          <p:cNvPr id="29" name="Shape 27"/>
          <p:cNvSpPr/>
          <p:nvPr/>
        </p:nvSpPr>
        <p:spPr>
          <a:xfrm>
            <a:off x="6309360" y="3995928"/>
            <a:ext cx="384048" cy="384048"/>
          </a:xfrm>
          <a:prstGeom prst="ellipse">
            <a:avLst/>
          </a:prstGeom>
          <a:solidFill>
            <a:srgbClr val="C8102E"/>
          </a:solidFill>
          <a:ln/>
        </p:spPr>
      </p:sp>
      <p:sp>
        <p:nvSpPr>
          <p:cNvPr id="30" name="Text 28"/>
          <p:cNvSpPr/>
          <p:nvPr/>
        </p:nvSpPr>
        <p:spPr>
          <a:xfrm>
            <a:off x="6309360" y="3995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p:nvPr/>
        </p:nvSpPr>
        <p:spPr>
          <a:xfrm>
            <a:off x="6839712" y="3858768"/>
            <a:ext cx="4572000" cy="658368"/>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Would your answer to 1 change if the reward had been +100?</a:t>
            </a:r>
            <a:endParaRPr lang="en-US" sz="1350" dirty="0"/>
          </a:p>
        </p:txBody>
      </p:sp>
      <p:sp>
        <p:nvSpPr>
          <p:cNvPr id="32" name="Shape 30"/>
          <p:cNvSpPr/>
          <p:nvPr/>
        </p:nvSpPr>
        <p:spPr>
          <a:xfrm>
            <a:off x="566928" y="3986784"/>
            <a:ext cx="11057839" cy="1426464"/>
          </a:xfrm>
          <a:prstGeom prst="roundRect">
            <a:avLst>
              <a:gd name="adj" fmla="val 5769"/>
            </a:avLst>
          </a:prstGeom>
          <a:solidFill>
            <a:srgbClr val="E8F2ED"/>
          </a:solidFill>
          <a:ln/>
        </p:spPr>
      </p:sp>
      <p:sp>
        <p:nvSpPr>
          <p:cNvPr id="33" name="Text 31"/>
          <p:cNvSpPr/>
          <p:nvPr/>
        </p:nvSpPr>
        <p:spPr>
          <a:xfrm>
            <a:off x="859536" y="4096512"/>
            <a:ext cx="2743200" cy="292608"/>
          </a:xfrm>
          <a:prstGeom prst="rect">
            <a:avLst/>
          </a:prstGeom>
          <a:noFill/>
          <a:ln/>
        </p:spPr>
        <p:txBody>
          <a:bodyPr wrap="square" lIns="0" tIns="0" rIns="0" bIns="0" rtlCol="0" anchor="ctr"/>
          <a:lstStyle/>
          <a:p>
            <a:pPr indent="0" marL="0">
              <a:buNone/>
            </a:pPr>
            <a:r>
              <a:rPr lang="en-US" sz="1300" b="1" dirty="0">
                <a:solidFill>
                  <a:srgbClr val="1B7F5A"/>
                </a:solidFill>
                <a:latin typeface="Calibri" pitchFamily="34" charset="0"/>
                <a:ea typeface="Calibri" pitchFamily="34" charset="-122"/>
                <a:cs typeface="Calibri" pitchFamily="34" charset="-120"/>
              </a:rPr>
              <a:t>Answers</a:t>
            </a:r>
            <a:endParaRPr lang="en-US" sz="1300" dirty="0"/>
          </a:p>
        </p:txBody>
      </p:sp>
      <p:sp>
        <p:nvSpPr>
          <p:cNvPr id="34" name="Text 32"/>
          <p:cNvSpPr/>
          <p:nvPr/>
        </p:nvSpPr>
        <p:spPr>
          <a:xfrm>
            <a:off x="859536" y="4407408"/>
            <a:ext cx="10472623" cy="932688"/>
          </a:xfrm>
          <a:prstGeom prst="rect">
            <a:avLst/>
          </a:prstGeom>
          <a:noFill/>
          <a:ln/>
        </p:spPr>
        <p:txBody>
          <a:bodyPr wrap="square" lIns="0" tIns="0" rIns="0" bIns="0" rtlCol="0" anchor="t"/>
          <a:lstStyle/>
          <a:p>
            <a:pPr indent="0" marL="0">
              <a:lnSpc>
                <a:spcPct val="112000"/>
              </a:lnSpc>
              <a:buNone/>
            </a:pPr>
            <a:r>
              <a:rPr lang="en-US" sz="1300" dirty="0">
                <a:solidFill>
                  <a:srgbClr val="3C4047"/>
                </a:solidFill>
                <a:latin typeface="Calibri" pitchFamily="34" charset="0"/>
                <a:ea typeface="Calibri" pitchFamily="34" charset="-122"/>
                <a:cs typeface="Calibri" pitchFamily="34" charset="-120"/>
              </a:rPr>
              <a:t>1.  E, the state we left.  C is only read.</a:t>
            </a:r>
            <a:endParaRPr lang="en-US" sz="1300" dirty="0"/>
          </a:p>
          <a:p>
            <a:pPr indent="0" marL="0">
              <a:lnSpc>
                <a:spcPct val="112000"/>
              </a:lnSpc>
              <a:buNone/>
            </a:pPr>
            <a:r>
              <a:rPr lang="en-US" sz="1300" dirty="0">
                <a:solidFill>
                  <a:srgbClr val="3C4047"/>
                </a:solidFill>
                <a:latin typeface="Calibri" pitchFamily="34" charset="0"/>
                <a:ea typeface="Calibri" pitchFamily="34" charset="-122"/>
                <a:cs typeface="Calibri" pitchFamily="34" charset="-120"/>
              </a:rPr>
              <a:t>2.  sample  =  −1  +  1 × V(C)  =  −1  +  3  =  +2</a:t>
            </a:r>
            <a:endParaRPr lang="en-US" sz="1300" dirty="0"/>
          </a:p>
          <a:p>
            <a:pPr indent="0" marL="0">
              <a:lnSpc>
                <a:spcPct val="112000"/>
              </a:lnSpc>
              <a:buNone/>
            </a:pPr>
            <a:r>
              <a:rPr lang="en-US" sz="1300" dirty="0">
                <a:solidFill>
                  <a:srgbClr val="3C4047"/>
                </a:solidFill>
                <a:latin typeface="Calibri" pitchFamily="34" charset="0"/>
                <a:ea typeface="Calibri" pitchFamily="34" charset="-122"/>
                <a:cs typeface="Calibri" pitchFamily="34" charset="-120"/>
              </a:rPr>
              <a:t>3.  V(E)  ←  0.5 × 0  +  0.5 × 2  =  +1</a:t>
            </a:r>
            <a:endParaRPr lang="en-US" sz="1300" dirty="0"/>
          </a:p>
          <a:p>
            <a:pPr indent="0" marL="0">
              <a:lnSpc>
                <a:spcPct val="112000"/>
              </a:lnSpc>
              <a:buNone/>
            </a:pPr>
            <a:r>
              <a:rPr lang="en-US" sz="1300" dirty="0">
                <a:solidFill>
                  <a:srgbClr val="3C4047"/>
                </a:solidFill>
                <a:latin typeface="Calibri" pitchFamily="34" charset="0"/>
                <a:ea typeface="Calibri" pitchFamily="34" charset="-122"/>
                <a:cs typeface="Calibri" pitchFamily="34" charset="-120"/>
              </a:rPr>
              <a:t>4.  No. The reward changes the sample, never which state gets updated.</a:t>
            </a:r>
            <a:endParaRPr lang="en-US" sz="1300" dirty="0"/>
          </a:p>
        </p:txBody>
      </p:sp>
      <p:sp>
        <p:nvSpPr>
          <p:cNvPr id="35" name="Shape 33"/>
          <p:cNvSpPr/>
          <p:nvPr/>
        </p:nvSpPr>
        <p:spPr>
          <a:xfrm>
            <a:off x="566928" y="5577840"/>
            <a:ext cx="11057839" cy="603504"/>
          </a:xfrm>
          <a:prstGeom prst="roundRect">
            <a:avLst>
              <a:gd name="adj" fmla="val 13636"/>
            </a:avLst>
          </a:prstGeom>
          <a:solidFill>
            <a:srgbClr val="FBEAED"/>
          </a:solidFill>
          <a:ln/>
        </p:spPr>
      </p:sp>
      <p:sp>
        <p:nvSpPr>
          <p:cNvPr id="36" name="Shape 34"/>
          <p:cNvSpPr/>
          <p:nvPr/>
        </p:nvSpPr>
        <p:spPr>
          <a:xfrm>
            <a:off x="786384" y="5788152"/>
            <a:ext cx="182880" cy="182880"/>
          </a:xfrm>
          <a:prstGeom prst="ellipse">
            <a:avLst/>
          </a:prstGeom>
          <a:solidFill>
            <a:srgbClr val="C8102E"/>
          </a:solidFill>
          <a:ln/>
        </p:spPr>
      </p:sp>
      <p:sp>
        <p:nvSpPr>
          <p:cNvPr id="37" name="Text 35"/>
          <p:cNvSpPr/>
          <p:nvPr/>
        </p:nvSpPr>
        <p:spPr>
          <a:xfrm>
            <a:off x="1115568" y="5577840"/>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E rose from 0 to +1 without ever seeing the exit, purely by borrowing C's estimate.</a:t>
            </a:r>
            <a:endParaRPr lang="en-US" sz="1450" dirty="0"/>
          </a:p>
        </p:txBody>
      </p:sp>
      <p:sp>
        <p:nvSpPr>
          <p:cNvPr id="38" name="Text 36"/>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39" name="Text 37"/>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45</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566928" y="2212848"/>
            <a:ext cx="960120" cy="960120"/>
          </a:xfrm>
          <a:prstGeom prst="ellipse">
            <a:avLst/>
          </a:prstGeom>
          <a:solidFill>
            <a:srgbClr val="C8102E"/>
          </a:solidFill>
          <a:ln/>
        </p:spPr>
      </p:sp>
      <p:sp>
        <p:nvSpPr>
          <p:cNvPr id="3" name="Text 1"/>
          <p:cNvSpPr/>
          <p:nvPr/>
        </p:nvSpPr>
        <p:spPr>
          <a:xfrm>
            <a:off x="566928" y="2212848"/>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7</a:t>
            </a:r>
            <a:endParaRPr lang="en-US" sz="3400" dirty="0"/>
          </a:p>
        </p:txBody>
      </p:sp>
      <p:sp>
        <p:nvSpPr>
          <p:cNvPr id="4" name="Text 2"/>
          <p:cNvSpPr/>
          <p:nvPr/>
        </p:nvSpPr>
        <p:spPr>
          <a:xfrm>
            <a:off x="566928" y="3401568"/>
            <a:ext cx="9509760" cy="84124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Q-learning</a:t>
            </a:r>
            <a:endParaRPr lang="en-US" sz="3800" dirty="0"/>
          </a:p>
        </p:txBody>
      </p:sp>
      <p:sp>
        <p:nvSpPr>
          <p:cNvPr id="5" name="Text 3"/>
          <p:cNvSpPr/>
          <p:nvPr/>
        </p:nvSpPr>
        <p:spPr>
          <a:xfrm>
            <a:off x="566928" y="4315968"/>
            <a:ext cx="8778240" cy="731520"/>
          </a:xfrm>
          <a:prstGeom prst="rect">
            <a:avLst/>
          </a:prstGeom>
          <a:noFill/>
          <a:ln/>
        </p:spPr>
        <p:txBody>
          <a:bodyPr wrap="square" lIns="0" tIns="0" rIns="0" bIns="0" rtlCol="0" anchor="t"/>
          <a:lstStyle/>
          <a:p>
            <a:pPr indent="0" marL="0">
              <a:lnSpc>
                <a:spcPct val="115000"/>
              </a:lnSpc>
              <a:buNone/>
            </a:pPr>
            <a:r>
              <a:rPr lang="en-US" sz="1550" dirty="0">
                <a:solidFill>
                  <a:srgbClr val="C3C7CB"/>
                </a:solidFill>
                <a:latin typeface="Calibri" pitchFamily="34" charset="0"/>
                <a:ea typeface="Calibri" pitchFamily="34" charset="-122"/>
                <a:cs typeface="Calibri" pitchFamily="34" charset="-120"/>
              </a:rPr>
              <a:t>Learning values was never the goal. Choosing actions was. That takes one more idea.</a:t>
            </a:r>
            <a:endParaRPr lang="en-US" sz="1550" dirty="0"/>
          </a:p>
        </p:txBody>
      </p:sp>
      <p:sp>
        <p:nvSpPr>
          <p:cNvPr id="6" name="Text 4"/>
          <p:cNvSpPr/>
          <p:nvPr/>
        </p:nvSpPr>
        <p:spPr>
          <a:xfrm>
            <a:off x="7418527" y="2304288"/>
            <a:ext cx="4206240" cy="365760"/>
          </a:xfrm>
          <a:prstGeom prst="rect">
            <a:avLst/>
          </a:prstGeom>
          <a:noFill/>
          <a:ln/>
        </p:spPr>
        <p:txBody>
          <a:bodyPr wrap="square" lIns="0" tIns="0" rIns="0" bIns="0" rtlCol="0" anchor="ctr"/>
          <a:lstStyle/>
          <a:p>
            <a:pPr algn="r" indent="0" marL="0">
              <a:buNone/>
            </a:pPr>
            <a:r>
              <a:rPr lang="en-US" sz="1200" dirty="0">
                <a:solidFill>
                  <a:srgbClr val="A7A8AA"/>
                </a:solidFill>
                <a:latin typeface="Calibri" pitchFamily="34" charset="0"/>
                <a:ea typeface="Calibri" pitchFamily="34" charset="-122"/>
                <a:cs typeface="Calibri" pitchFamily="34" charset="-120"/>
              </a:rPr>
              <a:t>AIMA 22.3.3</a:t>
            </a:r>
            <a:endParaRPr lang="en-US" sz="1200" dirty="0"/>
          </a:p>
        </p:txBody>
      </p:sp>
      <p:sp>
        <p:nvSpPr>
          <p:cNvPr id="7"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8"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46</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TD gives you Vπ. It does not give you a policy.</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THE PROBLEM WITH WHAT WE JUST BUILT</a:t>
            </a:r>
            <a:endParaRPr lang="en-US" sz="1050" dirty="0"/>
          </a:p>
        </p:txBody>
      </p:sp>
      <p:sp>
        <p:nvSpPr>
          <p:cNvPr id="4" name="Text 2"/>
          <p:cNvSpPr/>
          <p:nvPr/>
        </p:nvSpPr>
        <p:spPr>
          <a:xfrm>
            <a:off x="566928" y="1243584"/>
            <a:ext cx="11057839" cy="457200"/>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TD learning is a model-free way to do policy evaluation. But the moment you want to turn those values into a better policy, you are stuck.</a:t>
            </a:r>
            <a:endParaRPr lang="en-US" sz="1500" dirty="0"/>
          </a:p>
        </p:txBody>
      </p:sp>
      <p:sp>
        <p:nvSpPr>
          <p:cNvPr id="5" name="Shape 3"/>
          <p:cNvSpPr/>
          <p:nvPr/>
        </p:nvSpPr>
        <p:spPr>
          <a:xfrm>
            <a:off x="566928" y="1810512"/>
            <a:ext cx="11057839" cy="731520"/>
          </a:xfrm>
          <a:prstGeom prst="roundRect">
            <a:avLst>
              <a:gd name="adj" fmla="val 11250"/>
            </a:avLst>
          </a:prstGeom>
          <a:solidFill>
            <a:srgbClr val="F4F5F6"/>
          </a:solidFill>
          <a:ln/>
        </p:spPr>
      </p:sp>
      <p:sp>
        <p:nvSpPr>
          <p:cNvPr id="6" name="Text 4"/>
          <p:cNvSpPr/>
          <p:nvPr/>
        </p:nvSpPr>
        <p:spPr>
          <a:xfrm>
            <a:off x="731520" y="1810512"/>
            <a:ext cx="10728655" cy="731520"/>
          </a:xfrm>
          <a:prstGeom prst="rect">
            <a:avLst/>
          </a:prstGeom>
          <a:noFill/>
          <a:ln/>
        </p:spPr>
        <p:txBody>
          <a:bodyPr wrap="square" lIns="0" tIns="0" rIns="0" bIns="0" rtlCol="0" anchor="ctr"/>
          <a:lstStyle/>
          <a:p>
            <a:pPr algn="ctr" indent="0" marL="0">
              <a:buNone/>
            </a:pPr>
            <a:r>
              <a:rPr lang="en-US" sz="2000" b="1" dirty="0">
                <a:solidFill>
                  <a:srgbClr val="22252A"/>
                </a:solidFill>
                <a:latin typeface="Cambria" pitchFamily="34" charset="0"/>
                <a:ea typeface="Cambria" pitchFamily="34" charset="-122"/>
                <a:cs typeface="Cambria" pitchFamily="34" charset="-120"/>
              </a:rPr>
              <a:t>π(s)  =  arg maxₐ  Q(s, a)</a:t>
            </a:r>
            <a:endParaRPr lang="en-US" sz="2000" dirty="0"/>
          </a:p>
        </p:txBody>
      </p:sp>
      <p:sp>
        <p:nvSpPr>
          <p:cNvPr id="7" name="Shape 5"/>
          <p:cNvSpPr/>
          <p:nvPr/>
        </p:nvSpPr>
        <p:spPr>
          <a:xfrm>
            <a:off x="566928" y="2670048"/>
            <a:ext cx="11057839" cy="786384"/>
          </a:xfrm>
          <a:prstGeom prst="roundRect">
            <a:avLst>
              <a:gd name="adj" fmla="val 10465"/>
            </a:avLst>
          </a:prstGeom>
          <a:solidFill>
            <a:srgbClr val="FBEAED"/>
          </a:solidFill>
          <a:ln/>
        </p:spPr>
      </p:sp>
      <p:sp>
        <p:nvSpPr>
          <p:cNvPr id="8" name="Text 6"/>
          <p:cNvSpPr/>
          <p:nvPr/>
        </p:nvSpPr>
        <p:spPr>
          <a:xfrm>
            <a:off x="731520" y="2670048"/>
            <a:ext cx="10728655" cy="786384"/>
          </a:xfrm>
          <a:prstGeom prst="rect">
            <a:avLst/>
          </a:prstGeom>
          <a:noFill/>
          <a:ln/>
        </p:spPr>
        <p:txBody>
          <a:bodyPr wrap="square" lIns="0" tIns="0" rIns="0" bIns="0" rtlCol="0" anchor="ctr"/>
          <a:lstStyle/>
          <a:p>
            <a:pPr algn="ctr" indent="0" marL="0">
              <a:buNone/>
            </a:pPr>
            <a:r>
              <a:rPr lang="en-US" sz="1900" b="1" dirty="0">
                <a:solidFill>
                  <a:srgbClr val="8E0B20"/>
                </a:solidFill>
                <a:latin typeface="Cambria" pitchFamily="34" charset="0"/>
                <a:ea typeface="Cambria" pitchFamily="34" charset="-122"/>
                <a:cs typeface="Cambria" pitchFamily="34" charset="-120"/>
              </a:rPr>
              <a:t>Q(s, a)  =  Σₛ'  T(s, a, s')  [ R(s, a, s')  +  γ V(s') ]</a:t>
            </a:r>
            <a:endParaRPr lang="en-US" sz="1900" dirty="0"/>
          </a:p>
        </p:txBody>
      </p:sp>
      <p:sp>
        <p:nvSpPr>
          <p:cNvPr id="9" name="Shape 7"/>
          <p:cNvSpPr/>
          <p:nvPr/>
        </p:nvSpPr>
        <p:spPr>
          <a:xfrm>
            <a:off x="566928" y="3675888"/>
            <a:ext cx="11057839" cy="1536192"/>
          </a:xfrm>
          <a:prstGeom prst="roundRect">
            <a:avLst>
              <a:gd name="adj" fmla="val 5357"/>
            </a:avLst>
          </a:prstGeom>
          <a:solidFill>
            <a:srgbClr val="F4F5F6"/>
          </a:solidFill>
          <a:ln/>
        </p:spPr>
      </p:sp>
      <p:sp>
        <p:nvSpPr>
          <p:cNvPr id="10" name="Text 8"/>
          <p:cNvSpPr/>
          <p:nvPr/>
        </p:nvSpPr>
        <p:spPr>
          <a:xfrm>
            <a:off x="859536" y="3803904"/>
            <a:ext cx="5486400" cy="329184"/>
          </a:xfrm>
          <a:prstGeom prst="rect">
            <a:avLst/>
          </a:prstGeom>
          <a:noFill/>
          <a:ln/>
        </p:spPr>
        <p:txBody>
          <a:bodyPr wrap="square" lIns="0" tIns="0" rIns="0" bIns="0" rtlCol="0" anchor="ctr"/>
          <a:lstStyle/>
          <a:p>
            <a:pPr indent="0" marL="0">
              <a:buNone/>
            </a:pPr>
            <a:r>
              <a:rPr lang="en-US" sz="1500" b="1" dirty="0">
                <a:solidFill>
                  <a:srgbClr val="22252A"/>
                </a:solidFill>
                <a:latin typeface="Calibri" pitchFamily="34" charset="0"/>
                <a:ea typeface="Calibri" pitchFamily="34" charset="-122"/>
                <a:cs typeface="Calibri" pitchFamily="34" charset="-120"/>
              </a:rPr>
              <a:t>Read the second line carefully.</a:t>
            </a:r>
            <a:endParaRPr lang="en-US" sz="1500" dirty="0"/>
          </a:p>
        </p:txBody>
      </p:sp>
      <p:sp>
        <p:nvSpPr>
          <p:cNvPr id="11" name="Text 9"/>
          <p:cNvSpPr/>
          <p:nvPr/>
        </p:nvSpPr>
        <p:spPr>
          <a:xfrm>
            <a:off x="859536" y="4169664"/>
            <a:ext cx="10472623" cy="914400"/>
          </a:xfrm>
          <a:prstGeom prst="rect">
            <a:avLst/>
          </a:prstGeom>
          <a:noFill/>
          <a:ln/>
        </p:spPr>
        <p:txBody>
          <a:bodyPr wrap="square" lIns="0" tIns="0" rIns="0" bIns="0" rtlCol="0" anchor="t"/>
          <a:lstStyle/>
          <a:p>
            <a:pPr indent="0" marL="0">
              <a:lnSpc>
                <a:spcPct val="114000"/>
              </a:lnSpc>
              <a:buNone/>
            </a:pPr>
            <a:r>
              <a:rPr lang="en-US" sz="1400" dirty="0">
                <a:solidFill>
                  <a:srgbClr val="3C4047"/>
                </a:solidFill>
                <a:latin typeface="Calibri" pitchFamily="34" charset="0"/>
                <a:ea typeface="Calibri" pitchFamily="34" charset="-122"/>
                <a:cs typeface="Calibri" pitchFamily="34" charset="-120"/>
              </a:rPr>
              <a:t>To pick an action from state values you have to score each action, and scoring an action means computing its Q-value. That computation needs T and R. So even with a perfect Vπ in hand, action selection still requires exactly the model that reinforcement learning does not have.</a:t>
            </a:r>
            <a:endParaRPr lang="en-US" sz="1400" dirty="0"/>
          </a:p>
        </p:txBody>
      </p:sp>
      <p:sp>
        <p:nvSpPr>
          <p:cNvPr id="12" name="Shape 10"/>
          <p:cNvSpPr/>
          <p:nvPr/>
        </p:nvSpPr>
        <p:spPr>
          <a:xfrm>
            <a:off x="566928" y="5413248"/>
            <a:ext cx="11057839" cy="603504"/>
          </a:xfrm>
          <a:prstGeom prst="roundRect">
            <a:avLst>
              <a:gd name="adj" fmla="val 13636"/>
            </a:avLst>
          </a:prstGeom>
          <a:solidFill>
            <a:srgbClr val="FBEAED"/>
          </a:solidFill>
          <a:ln/>
        </p:spPr>
      </p:sp>
      <p:sp>
        <p:nvSpPr>
          <p:cNvPr id="13" name="Shape 11"/>
          <p:cNvSpPr/>
          <p:nvPr/>
        </p:nvSpPr>
        <p:spPr>
          <a:xfrm>
            <a:off x="786384" y="5623560"/>
            <a:ext cx="182880" cy="182880"/>
          </a:xfrm>
          <a:prstGeom prst="ellipse">
            <a:avLst/>
          </a:prstGeom>
          <a:solidFill>
            <a:srgbClr val="C8102E"/>
          </a:solidFill>
          <a:ln/>
        </p:spPr>
      </p:sp>
      <p:sp>
        <p:nvSpPr>
          <p:cNvPr id="14" name="Text 12"/>
          <p:cNvSpPr/>
          <p:nvPr/>
        </p:nvSpPr>
        <p:spPr>
          <a:xfrm>
            <a:off x="1115568" y="5413248"/>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We removed the model from evaluation and it came straight back in at decision time.</a:t>
            </a:r>
            <a:endParaRPr lang="en-US" sz="1450" dirty="0"/>
          </a:p>
        </p:txBody>
      </p:sp>
      <p:sp>
        <p:nvSpPr>
          <p:cNvPr id="15" name="Text 13"/>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6" name="Text 14"/>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47</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The max is standing in the way</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THE OBVIOUS FIX, AND WHY IT FAILS</a:t>
            </a:r>
            <a:endParaRPr lang="en-US" sz="1050" dirty="0"/>
          </a:p>
        </p:txBody>
      </p:sp>
      <p:pic>
        <p:nvPicPr>
          <p:cNvPr id="4" name="Image 0" descr="/home/claude/comp469_rl/figures/fig12_max_wall.png">    </p:cNvPr>
          <p:cNvPicPr>
            <a:picLocks noChangeAspect="1"/>
          </p:cNvPicPr>
          <p:nvPr/>
        </p:nvPicPr>
        <p:blipFill>
          <a:blip r:embed="rId1"/>
          <a:srcRect l="0" r="0" t="0" b="0"/>
          <a:stretch/>
        </p:blipFill>
        <p:spPr>
          <a:xfrm>
            <a:off x="566928" y="1316736"/>
            <a:ext cx="11064240" cy="4151376"/>
          </a:xfrm>
          <a:prstGeom prst="rect">
            <a:avLst/>
          </a:prstGeom>
        </p:spPr>
      </p:pic>
      <p:sp>
        <p:nvSpPr>
          <p:cNvPr id="5" name="Shape 2"/>
          <p:cNvSpPr/>
          <p:nvPr/>
        </p:nvSpPr>
        <p:spPr>
          <a:xfrm>
            <a:off x="566928" y="5614416"/>
            <a:ext cx="11057839" cy="603504"/>
          </a:xfrm>
          <a:prstGeom prst="roundRect">
            <a:avLst>
              <a:gd name="adj" fmla="val 13636"/>
            </a:avLst>
          </a:prstGeom>
          <a:solidFill>
            <a:srgbClr val="FBEAED"/>
          </a:solidFill>
          <a:ln/>
        </p:spPr>
      </p:sp>
      <p:sp>
        <p:nvSpPr>
          <p:cNvPr id="6" name="Shape 3"/>
          <p:cNvSpPr/>
          <p:nvPr/>
        </p:nvSpPr>
        <p:spPr>
          <a:xfrm>
            <a:off x="786384" y="5824728"/>
            <a:ext cx="182880" cy="182880"/>
          </a:xfrm>
          <a:prstGeom prst="ellipse">
            <a:avLst/>
          </a:prstGeom>
          <a:solidFill>
            <a:srgbClr val="C8102E"/>
          </a:solidFill>
          <a:ln/>
        </p:spPr>
      </p:sp>
      <p:sp>
        <p:nvSpPr>
          <p:cNvPr id="7" name="Text 4"/>
          <p:cNvSpPr/>
          <p:nvPr/>
        </p:nvSpPr>
        <p:spPr>
          <a:xfrm>
            <a:off x="1115568" y="5614416"/>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Under a fixed π there was no max to worry about. Chasing optimal values puts one in front of the average.</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48</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Q-value iteration</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DETOUR</a:t>
            </a:r>
            <a:endParaRPr lang="en-US" sz="1050" dirty="0"/>
          </a:p>
        </p:txBody>
      </p:sp>
      <p:sp>
        <p:nvSpPr>
          <p:cNvPr id="4" name="Text 2"/>
          <p:cNvSpPr/>
          <p:nvPr/>
        </p:nvSpPr>
        <p:spPr>
          <a:xfrm>
            <a:off x="566928" y="1225296"/>
            <a:ext cx="11057839" cy="384048"/>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Same algorithm as value iteration, tracking one number per state-action pair instead of one per state.</a:t>
            </a:r>
            <a:endParaRPr lang="en-US" sz="1500" dirty="0"/>
          </a:p>
        </p:txBody>
      </p:sp>
      <p:sp>
        <p:nvSpPr>
          <p:cNvPr id="5" name="Shape 3"/>
          <p:cNvSpPr/>
          <p:nvPr/>
        </p:nvSpPr>
        <p:spPr>
          <a:xfrm>
            <a:off x="566928" y="1737360"/>
            <a:ext cx="11057839" cy="1517904"/>
          </a:xfrm>
          <a:prstGeom prst="roundRect">
            <a:avLst>
              <a:gd name="adj" fmla="val 5422"/>
            </a:avLst>
          </a:prstGeom>
          <a:solidFill>
            <a:srgbClr val="F4F5F6"/>
          </a:solidFill>
          <a:ln/>
        </p:spPr>
      </p:sp>
      <p:sp>
        <p:nvSpPr>
          <p:cNvPr id="6" name="Text 4"/>
          <p:cNvSpPr/>
          <p:nvPr/>
        </p:nvSpPr>
        <p:spPr>
          <a:xfrm>
            <a:off x="859536" y="1865376"/>
            <a:ext cx="4206240" cy="347472"/>
          </a:xfrm>
          <a:prstGeom prst="rect">
            <a:avLst/>
          </a:prstGeom>
          <a:noFill/>
          <a:ln/>
        </p:spPr>
        <p:txBody>
          <a:bodyPr wrap="square" lIns="0" tIns="0" rIns="0" bIns="0" rtlCol="0" anchor="ctr"/>
          <a:lstStyle/>
          <a:p>
            <a:pPr indent="0" marL="0">
              <a:buNone/>
            </a:pPr>
            <a:r>
              <a:rPr lang="en-US" sz="1600" b="1" dirty="0">
                <a:solidFill>
                  <a:srgbClr val="53565A"/>
                </a:solidFill>
                <a:latin typeface="Cambria" pitchFamily="34" charset="0"/>
                <a:ea typeface="Cambria" pitchFamily="34" charset="-122"/>
                <a:cs typeface="Cambria" pitchFamily="34" charset="-120"/>
              </a:rPr>
              <a:t>Value iteration</a:t>
            </a:r>
            <a:endParaRPr lang="en-US" sz="1600" dirty="0"/>
          </a:p>
        </p:txBody>
      </p:sp>
      <p:sp>
        <p:nvSpPr>
          <p:cNvPr id="7" name="Text 5"/>
          <p:cNvSpPr/>
          <p:nvPr/>
        </p:nvSpPr>
        <p:spPr>
          <a:xfrm>
            <a:off x="859536" y="2212848"/>
            <a:ext cx="7315200" cy="292608"/>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V₀(s) = 0, which we know is right</a:t>
            </a:r>
            <a:endParaRPr lang="en-US" sz="1250" dirty="0"/>
          </a:p>
        </p:txBody>
      </p:sp>
      <p:sp>
        <p:nvSpPr>
          <p:cNvPr id="8" name="Text 6"/>
          <p:cNvSpPr/>
          <p:nvPr/>
        </p:nvSpPr>
        <p:spPr>
          <a:xfrm>
            <a:off x="859536" y="2578608"/>
            <a:ext cx="10472623" cy="530352"/>
          </a:xfrm>
          <a:prstGeom prst="rect">
            <a:avLst/>
          </a:prstGeom>
          <a:noFill/>
          <a:ln/>
        </p:spPr>
        <p:txBody>
          <a:bodyPr wrap="square" lIns="0" tIns="0" rIns="0" bIns="0" rtlCol="0" anchor="ctr"/>
          <a:lstStyle/>
          <a:p>
            <a:pPr indent="0" marL="0">
              <a:buNone/>
            </a:pPr>
            <a:r>
              <a:rPr lang="en-US" sz="1600" b="1" dirty="0">
                <a:solidFill>
                  <a:srgbClr val="22252A"/>
                </a:solidFill>
                <a:latin typeface="Cambria" pitchFamily="34" charset="0"/>
                <a:ea typeface="Cambria" pitchFamily="34" charset="-122"/>
                <a:cs typeface="Cambria" pitchFamily="34" charset="-120"/>
              </a:rPr>
              <a:t>Vₖ₊₁(s)  </a:t>
            </a:r>
            <a:pPr indent="0" marL="0">
              <a:buNone/>
            </a:pPr>
            <a:r>
              <a:rPr lang="en-US" sz="1900" b="1" dirty="0">
                <a:solidFill>
                  <a:srgbClr val="53565A"/>
                </a:solidFill>
                <a:latin typeface="Calibri" pitchFamily="34" charset="0"/>
                <a:ea typeface="Calibri" pitchFamily="34" charset="-122"/>
                <a:cs typeface="Calibri" pitchFamily="34" charset="-120"/>
              </a:rPr>
              <a:t>←</a:t>
            </a:r>
            <a:pPr indent="0" marL="0">
              <a:buNone/>
            </a:pPr>
            <a:r>
              <a:rPr lang="en-US" sz="1600" b="1" dirty="0">
                <a:solidFill>
                  <a:srgbClr val="22252A"/>
                </a:solidFill>
                <a:latin typeface="Cambria" pitchFamily="34" charset="0"/>
                <a:ea typeface="Cambria" pitchFamily="34" charset="-122"/>
                <a:cs typeface="Cambria" pitchFamily="34" charset="-120"/>
              </a:rPr>
              <a:t>  maxₐ  Σₛ'  T(s, a, s') [ R  +  γ Vₖ(s') ]</a:t>
            </a:r>
            <a:endParaRPr lang="en-US" sz="1600" dirty="0"/>
          </a:p>
        </p:txBody>
      </p:sp>
      <p:sp>
        <p:nvSpPr>
          <p:cNvPr id="9" name="Shape 7"/>
          <p:cNvSpPr/>
          <p:nvPr/>
        </p:nvSpPr>
        <p:spPr>
          <a:xfrm>
            <a:off x="566928" y="3401568"/>
            <a:ext cx="11057839" cy="1517904"/>
          </a:xfrm>
          <a:prstGeom prst="roundRect">
            <a:avLst>
              <a:gd name="adj" fmla="val 5422"/>
            </a:avLst>
          </a:prstGeom>
          <a:solidFill>
            <a:srgbClr val="FBEAED"/>
          </a:solidFill>
          <a:ln/>
        </p:spPr>
      </p:sp>
      <p:sp>
        <p:nvSpPr>
          <p:cNvPr id="10" name="Text 8"/>
          <p:cNvSpPr/>
          <p:nvPr/>
        </p:nvSpPr>
        <p:spPr>
          <a:xfrm>
            <a:off x="859536" y="3529584"/>
            <a:ext cx="4206240" cy="347472"/>
          </a:xfrm>
          <a:prstGeom prst="rect">
            <a:avLst/>
          </a:prstGeom>
          <a:noFill/>
          <a:ln/>
        </p:spPr>
        <p:txBody>
          <a:bodyPr wrap="square" lIns="0" tIns="0" rIns="0" bIns="0" rtlCol="0" anchor="ctr"/>
          <a:lstStyle/>
          <a:p>
            <a:pPr indent="0" marL="0">
              <a:buNone/>
            </a:pPr>
            <a:r>
              <a:rPr lang="en-US" sz="1600" b="1" dirty="0">
                <a:solidFill>
                  <a:srgbClr val="C8102E"/>
                </a:solidFill>
                <a:latin typeface="Cambria" pitchFamily="34" charset="0"/>
                <a:ea typeface="Cambria" pitchFamily="34" charset="-122"/>
                <a:cs typeface="Cambria" pitchFamily="34" charset="-120"/>
              </a:rPr>
              <a:t>Q-value iteration</a:t>
            </a:r>
            <a:endParaRPr lang="en-US" sz="1600" dirty="0"/>
          </a:p>
        </p:txBody>
      </p:sp>
      <p:sp>
        <p:nvSpPr>
          <p:cNvPr id="11" name="Text 9"/>
          <p:cNvSpPr/>
          <p:nvPr/>
        </p:nvSpPr>
        <p:spPr>
          <a:xfrm>
            <a:off x="859536" y="3877056"/>
            <a:ext cx="7315200" cy="292608"/>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Q₀(s, a) = 0, which we also know is right</a:t>
            </a:r>
            <a:endParaRPr lang="en-US" sz="1250" dirty="0"/>
          </a:p>
        </p:txBody>
      </p:sp>
      <p:sp>
        <p:nvSpPr>
          <p:cNvPr id="12" name="Text 10"/>
          <p:cNvSpPr/>
          <p:nvPr/>
        </p:nvSpPr>
        <p:spPr>
          <a:xfrm>
            <a:off x="859536" y="4242816"/>
            <a:ext cx="10472623" cy="530352"/>
          </a:xfrm>
          <a:prstGeom prst="rect">
            <a:avLst/>
          </a:prstGeom>
          <a:noFill/>
          <a:ln/>
        </p:spPr>
        <p:txBody>
          <a:bodyPr wrap="square" lIns="0" tIns="0" rIns="0" bIns="0" rtlCol="0" anchor="ctr"/>
          <a:lstStyle/>
          <a:p>
            <a:pPr indent="0" marL="0">
              <a:buNone/>
            </a:pPr>
            <a:r>
              <a:rPr lang="en-US" sz="1600" b="1" dirty="0">
                <a:solidFill>
                  <a:srgbClr val="22252A"/>
                </a:solidFill>
                <a:latin typeface="Cambria" pitchFamily="34" charset="0"/>
                <a:ea typeface="Cambria" pitchFamily="34" charset="-122"/>
                <a:cs typeface="Cambria" pitchFamily="34" charset="-120"/>
              </a:rPr>
              <a:t>Qₖ₊₁(s, a)  </a:t>
            </a:r>
            <a:pPr indent="0" marL="0">
              <a:buNone/>
            </a:pPr>
            <a:r>
              <a:rPr lang="en-US" sz="1900" b="1" dirty="0">
                <a:solidFill>
                  <a:srgbClr val="C8102E"/>
                </a:solidFill>
                <a:latin typeface="Calibri" pitchFamily="34" charset="0"/>
                <a:ea typeface="Calibri" pitchFamily="34" charset="-122"/>
                <a:cs typeface="Calibri" pitchFamily="34" charset="-120"/>
              </a:rPr>
              <a:t>←</a:t>
            </a:r>
            <a:pPr indent="0" marL="0">
              <a:buNone/>
            </a:pPr>
            <a:r>
              <a:rPr lang="en-US" sz="1600" b="1" dirty="0">
                <a:solidFill>
                  <a:srgbClr val="22252A"/>
                </a:solidFill>
                <a:latin typeface="Cambria" pitchFamily="34" charset="0"/>
                <a:ea typeface="Cambria" pitchFamily="34" charset="-122"/>
                <a:cs typeface="Cambria" pitchFamily="34" charset="-120"/>
              </a:rPr>
              <a:t>  Σₛ'  T(s, a, s') [ R  +  γ maxₐ' Qₖ(s', a') ]</a:t>
            </a:r>
            <a:endParaRPr lang="en-US" sz="1600" dirty="0"/>
          </a:p>
        </p:txBody>
      </p:sp>
      <p:sp>
        <p:nvSpPr>
          <p:cNvPr id="13" name="Shape 11"/>
          <p:cNvSpPr/>
          <p:nvPr/>
        </p:nvSpPr>
        <p:spPr>
          <a:xfrm>
            <a:off x="566928" y="5120640"/>
            <a:ext cx="11057839" cy="786384"/>
          </a:xfrm>
          <a:prstGeom prst="roundRect">
            <a:avLst>
              <a:gd name="adj" fmla="val 10465"/>
            </a:avLst>
          </a:prstGeom>
          <a:solidFill>
            <a:srgbClr val="E8F2ED"/>
          </a:solidFill>
          <a:ln/>
        </p:spPr>
      </p:sp>
      <p:sp>
        <p:nvSpPr>
          <p:cNvPr id="14" name="Text 12"/>
          <p:cNvSpPr/>
          <p:nvPr/>
        </p:nvSpPr>
        <p:spPr>
          <a:xfrm>
            <a:off x="859536" y="5120640"/>
            <a:ext cx="2651760" cy="786384"/>
          </a:xfrm>
          <a:prstGeom prst="rect">
            <a:avLst/>
          </a:prstGeom>
          <a:noFill/>
          <a:ln/>
        </p:spPr>
        <p:txBody>
          <a:bodyPr wrap="square" lIns="0" tIns="0" rIns="0" bIns="0" rtlCol="0" anchor="ctr"/>
          <a:lstStyle/>
          <a:p>
            <a:pPr indent="0" marL="0">
              <a:buNone/>
            </a:pPr>
            <a:r>
              <a:rPr lang="en-US" sz="1600" b="1" dirty="0">
                <a:solidFill>
                  <a:srgbClr val="1B7F5A"/>
                </a:solidFill>
                <a:latin typeface="Cambria" pitchFamily="34" charset="0"/>
                <a:ea typeface="Cambria" pitchFamily="34" charset="-122"/>
                <a:cs typeface="Cambria" pitchFamily="34" charset="-120"/>
              </a:rPr>
              <a:t>maxₐ' Qₖ(s', a')</a:t>
            </a:r>
            <a:endParaRPr lang="en-US" sz="1600" dirty="0"/>
          </a:p>
        </p:txBody>
      </p:sp>
      <p:sp>
        <p:nvSpPr>
          <p:cNvPr id="15" name="Text 13"/>
          <p:cNvSpPr/>
          <p:nvPr/>
        </p:nvSpPr>
        <p:spPr>
          <a:xfrm>
            <a:off x="3675888" y="5120640"/>
            <a:ext cx="7589520" cy="786384"/>
          </a:xfrm>
          <a:prstGeom prst="rect">
            <a:avLst/>
          </a:prstGeom>
          <a:noFill/>
          <a:ln/>
        </p:spPr>
        <p:txBody>
          <a:bodyPr wrap="square" lIns="0" tIns="0" rIns="0" bIns="0" rtlCol="0" anchor="ctr"/>
          <a:lstStyle/>
          <a:p>
            <a:pPr indent="0" marL="0">
              <a:buNone/>
            </a:pPr>
            <a:r>
              <a:rPr lang="en-US" sz="1300" dirty="0">
                <a:solidFill>
                  <a:srgbClr val="3C4047"/>
                </a:solidFill>
                <a:latin typeface="Calibri" pitchFamily="34" charset="0"/>
                <a:ea typeface="Calibri" pitchFamily="34" charset="-122"/>
                <a:cs typeface="Calibri" pitchFamily="34" charset="-120"/>
              </a:rPr>
              <a:t>is just another way of writing Vₖ(s'). The two formulations carry the same information; Q simply stores it broken out by action, which is what makes it usable.</a:t>
            </a:r>
            <a:endParaRPr lang="en-US" sz="1300" dirty="0"/>
          </a:p>
        </p:txBody>
      </p:sp>
      <p:sp>
        <p:nvSpPr>
          <p:cNvPr id="16" name="Text 1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7" name="Text 1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49</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Q-learning</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Sample-based Q-value iteration. Take the update above and replace the expectation with a running average.</a:t>
            </a:r>
            <a:endParaRPr lang="en-US" sz="1400" dirty="0"/>
          </a:p>
        </p:txBody>
      </p:sp>
      <p:sp>
        <p:nvSpPr>
          <p:cNvPr id="4" name="Shape 2"/>
          <p:cNvSpPr/>
          <p:nvPr/>
        </p:nvSpPr>
        <p:spPr>
          <a:xfrm>
            <a:off x="566928" y="1700784"/>
            <a:ext cx="11057839" cy="859536"/>
          </a:xfrm>
          <a:prstGeom prst="roundRect">
            <a:avLst>
              <a:gd name="adj" fmla="val 9574"/>
            </a:avLst>
          </a:prstGeom>
          <a:solidFill>
            <a:srgbClr val="F4F5F6"/>
          </a:solidFill>
          <a:ln/>
        </p:spPr>
      </p:sp>
      <p:sp>
        <p:nvSpPr>
          <p:cNvPr id="5" name="Shape 3"/>
          <p:cNvSpPr/>
          <p:nvPr/>
        </p:nvSpPr>
        <p:spPr>
          <a:xfrm>
            <a:off x="841248" y="1929384"/>
            <a:ext cx="402336" cy="402336"/>
          </a:xfrm>
          <a:prstGeom prst="ellipse">
            <a:avLst/>
          </a:prstGeom>
          <a:solidFill>
            <a:srgbClr val="53565A"/>
          </a:solidFill>
          <a:ln/>
        </p:spPr>
      </p:sp>
      <p:sp>
        <p:nvSpPr>
          <p:cNvPr id="6" name="Text 4"/>
          <p:cNvSpPr/>
          <p:nvPr/>
        </p:nvSpPr>
        <p:spPr>
          <a:xfrm>
            <a:off x="841248" y="19293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81328" y="1700784"/>
            <a:ext cx="3291840" cy="85953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Receive a sample</a:t>
            </a:r>
            <a:endParaRPr lang="en-US" sz="1350" dirty="0"/>
          </a:p>
        </p:txBody>
      </p:sp>
      <p:sp>
        <p:nvSpPr>
          <p:cNvPr id="8" name="Text 6"/>
          <p:cNvSpPr/>
          <p:nvPr/>
        </p:nvSpPr>
        <p:spPr>
          <a:xfrm>
            <a:off x="4864608" y="1700784"/>
            <a:ext cx="6492240" cy="859536"/>
          </a:xfrm>
          <a:prstGeom prst="rect">
            <a:avLst/>
          </a:prstGeom>
          <a:noFill/>
          <a:ln/>
        </p:spPr>
        <p:txBody>
          <a:bodyPr wrap="square" lIns="0" tIns="0" rIns="0" bIns="0" rtlCol="0" anchor="ctr"/>
          <a:lstStyle/>
          <a:p>
            <a:pPr indent="0" marL="0">
              <a:buNone/>
            </a:pPr>
            <a:r>
              <a:rPr lang="en-US" sz="1650" b="1" dirty="0">
                <a:solidFill>
                  <a:srgbClr val="22252A"/>
                </a:solidFill>
                <a:latin typeface="Cambria" pitchFamily="34" charset="0"/>
                <a:ea typeface="Cambria" pitchFamily="34" charset="-122"/>
                <a:cs typeface="Cambria" pitchFamily="34" charset="-120"/>
              </a:rPr>
              <a:t>(s, a, s', r)</a:t>
            </a:r>
            <a:endParaRPr lang="en-US" sz="1650" dirty="0"/>
          </a:p>
        </p:txBody>
      </p:sp>
      <p:sp>
        <p:nvSpPr>
          <p:cNvPr id="9" name="Shape 7"/>
          <p:cNvSpPr/>
          <p:nvPr/>
        </p:nvSpPr>
        <p:spPr>
          <a:xfrm>
            <a:off x="566928" y="2670048"/>
            <a:ext cx="11057839" cy="859536"/>
          </a:xfrm>
          <a:prstGeom prst="roundRect">
            <a:avLst>
              <a:gd name="adj" fmla="val 9574"/>
            </a:avLst>
          </a:prstGeom>
          <a:solidFill>
            <a:srgbClr val="F4F5F6"/>
          </a:solidFill>
          <a:ln/>
        </p:spPr>
      </p:sp>
      <p:sp>
        <p:nvSpPr>
          <p:cNvPr id="10" name="Shape 8"/>
          <p:cNvSpPr/>
          <p:nvPr/>
        </p:nvSpPr>
        <p:spPr>
          <a:xfrm>
            <a:off x="841248" y="2898648"/>
            <a:ext cx="402336" cy="402336"/>
          </a:xfrm>
          <a:prstGeom prst="ellipse">
            <a:avLst/>
          </a:prstGeom>
          <a:solidFill>
            <a:srgbClr val="1C5D99"/>
          </a:solidFill>
          <a:ln/>
        </p:spPr>
      </p:sp>
      <p:sp>
        <p:nvSpPr>
          <p:cNvPr id="11" name="Text 9"/>
          <p:cNvSpPr/>
          <p:nvPr/>
        </p:nvSpPr>
        <p:spPr>
          <a:xfrm>
            <a:off x="841248" y="28986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481328" y="2670048"/>
            <a:ext cx="3291840" cy="85953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Consider your old estimate</a:t>
            </a:r>
            <a:endParaRPr lang="en-US" sz="1350" dirty="0"/>
          </a:p>
        </p:txBody>
      </p:sp>
      <p:sp>
        <p:nvSpPr>
          <p:cNvPr id="13" name="Text 11"/>
          <p:cNvSpPr/>
          <p:nvPr/>
        </p:nvSpPr>
        <p:spPr>
          <a:xfrm>
            <a:off x="4864608" y="2670048"/>
            <a:ext cx="6492240" cy="859536"/>
          </a:xfrm>
          <a:prstGeom prst="rect">
            <a:avLst/>
          </a:prstGeom>
          <a:noFill/>
          <a:ln/>
        </p:spPr>
        <p:txBody>
          <a:bodyPr wrap="square" lIns="0" tIns="0" rIns="0" bIns="0" rtlCol="0" anchor="ctr"/>
          <a:lstStyle/>
          <a:p>
            <a:pPr indent="0" marL="0">
              <a:buNone/>
            </a:pPr>
            <a:r>
              <a:rPr lang="en-US" sz="1650" b="1" dirty="0">
                <a:solidFill>
                  <a:srgbClr val="22252A"/>
                </a:solidFill>
                <a:latin typeface="Cambria" pitchFamily="34" charset="0"/>
                <a:ea typeface="Cambria" pitchFamily="34" charset="-122"/>
                <a:cs typeface="Cambria" pitchFamily="34" charset="-120"/>
              </a:rPr>
              <a:t>Q(s, a)</a:t>
            </a:r>
            <a:endParaRPr lang="en-US" sz="1650" dirty="0"/>
          </a:p>
        </p:txBody>
      </p:sp>
      <p:sp>
        <p:nvSpPr>
          <p:cNvPr id="14" name="Shape 12"/>
          <p:cNvSpPr/>
          <p:nvPr/>
        </p:nvSpPr>
        <p:spPr>
          <a:xfrm>
            <a:off x="566928" y="3639312"/>
            <a:ext cx="11057839" cy="859536"/>
          </a:xfrm>
          <a:prstGeom prst="roundRect">
            <a:avLst>
              <a:gd name="adj" fmla="val 9574"/>
            </a:avLst>
          </a:prstGeom>
          <a:solidFill>
            <a:srgbClr val="F4F5F6"/>
          </a:solidFill>
          <a:ln/>
        </p:spPr>
      </p:sp>
      <p:sp>
        <p:nvSpPr>
          <p:cNvPr id="15" name="Shape 13"/>
          <p:cNvSpPr/>
          <p:nvPr/>
        </p:nvSpPr>
        <p:spPr>
          <a:xfrm>
            <a:off x="841248" y="3867912"/>
            <a:ext cx="402336" cy="402336"/>
          </a:xfrm>
          <a:prstGeom prst="ellipse">
            <a:avLst/>
          </a:prstGeom>
          <a:solidFill>
            <a:srgbClr val="1B7F5A"/>
          </a:solidFill>
          <a:ln/>
        </p:spPr>
      </p:sp>
      <p:sp>
        <p:nvSpPr>
          <p:cNvPr id="16" name="Text 14"/>
          <p:cNvSpPr/>
          <p:nvPr/>
        </p:nvSpPr>
        <p:spPr>
          <a:xfrm>
            <a:off x="841248" y="38679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81328" y="3639312"/>
            <a:ext cx="3291840" cy="85953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Form the new sample estimate</a:t>
            </a:r>
            <a:endParaRPr lang="en-US" sz="1350" dirty="0"/>
          </a:p>
        </p:txBody>
      </p:sp>
      <p:sp>
        <p:nvSpPr>
          <p:cNvPr id="18" name="Text 16"/>
          <p:cNvSpPr/>
          <p:nvPr/>
        </p:nvSpPr>
        <p:spPr>
          <a:xfrm>
            <a:off x="4864608" y="3639312"/>
            <a:ext cx="6492240" cy="859536"/>
          </a:xfrm>
          <a:prstGeom prst="rect">
            <a:avLst/>
          </a:prstGeom>
          <a:noFill/>
          <a:ln/>
        </p:spPr>
        <p:txBody>
          <a:bodyPr wrap="square" lIns="0" tIns="0" rIns="0" bIns="0" rtlCol="0" anchor="ctr"/>
          <a:lstStyle/>
          <a:p>
            <a:pPr indent="0" marL="0">
              <a:buNone/>
            </a:pPr>
            <a:r>
              <a:rPr lang="en-US" sz="1650" b="1" dirty="0">
                <a:solidFill>
                  <a:srgbClr val="22252A"/>
                </a:solidFill>
                <a:latin typeface="Cambria" pitchFamily="34" charset="0"/>
                <a:ea typeface="Cambria" pitchFamily="34" charset="-122"/>
                <a:cs typeface="Cambria" pitchFamily="34" charset="-120"/>
              </a:rPr>
              <a:t>sample  =  r  +  γ maxₐ' Q(s', a')</a:t>
            </a:r>
            <a:endParaRPr lang="en-US" sz="1650" dirty="0"/>
          </a:p>
        </p:txBody>
      </p:sp>
      <p:sp>
        <p:nvSpPr>
          <p:cNvPr id="19" name="Shape 17"/>
          <p:cNvSpPr/>
          <p:nvPr/>
        </p:nvSpPr>
        <p:spPr>
          <a:xfrm>
            <a:off x="566928" y="4608576"/>
            <a:ext cx="11057839" cy="859536"/>
          </a:xfrm>
          <a:prstGeom prst="roundRect">
            <a:avLst>
              <a:gd name="adj" fmla="val 9574"/>
            </a:avLst>
          </a:prstGeom>
          <a:solidFill>
            <a:srgbClr val="FBEAED"/>
          </a:solidFill>
          <a:ln/>
        </p:spPr>
      </p:sp>
      <p:sp>
        <p:nvSpPr>
          <p:cNvPr id="20" name="Shape 18"/>
          <p:cNvSpPr/>
          <p:nvPr/>
        </p:nvSpPr>
        <p:spPr>
          <a:xfrm>
            <a:off x="841248" y="4837176"/>
            <a:ext cx="402336" cy="402336"/>
          </a:xfrm>
          <a:prstGeom prst="ellipse">
            <a:avLst/>
          </a:prstGeom>
          <a:solidFill>
            <a:srgbClr val="C8102E"/>
          </a:solidFill>
          <a:ln/>
        </p:spPr>
      </p:sp>
      <p:sp>
        <p:nvSpPr>
          <p:cNvPr id="21" name="Text 19"/>
          <p:cNvSpPr/>
          <p:nvPr/>
        </p:nvSpPr>
        <p:spPr>
          <a:xfrm>
            <a:off x="841248" y="4837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481328" y="4608576"/>
            <a:ext cx="3291840" cy="859536"/>
          </a:xfrm>
          <a:prstGeom prst="rect">
            <a:avLst/>
          </a:prstGeom>
          <a:noFill/>
          <a:ln/>
        </p:spPr>
        <p:txBody>
          <a:bodyPr wrap="square" lIns="0" tIns="0" rIns="0" bIns="0" rtlCol="0" anchor="ctr"/>
          <a:lstStyle/>
          <a:p>
            <a:pPr indent="0" marL="0">
              <a:buNone/>
            </a:pPr>
            <a:r>
              <a:rPr lang="en-US" sz="1350" dirty="0">
                <a:solidFill>
                  <a:srgbClr val="3C4047"/>
                </a:solidFill>
                <a:latin typeface="Calibri" pitchFamily="34" charset="0"/>
                <a:ea typeface="Calibri" pitchFamily="34" charset="-122"/>
                <a:cs typeface="Calibri" pitchFamily="34" charset="-120"/>
              </a:rPr>
              <a:t>Fold it into a running average</a:t>
            </a:r>
            <a:endParaRPr lang="en-US" sz="1350" dirty="0"/>
          </a:p>
        </p:txBody>
      </p:sp>
      <p:sp>
        <p:nvSpPr>
          <p:cNvPr id="23" name="Text 21"/>
          <p:cNvSpPr/>
          <p:nvPr/>
        </p:nvSpPr>
        <p:spPr>
          <a:xfrm>
            <a:off x="4864608" y="4608576"/>
            <a:ext cx="6492240" cy="859536"/>
          </a:xfrm>
          <a:prstGeom prst="rect">
            <a:avLst/>
          </a:prstGeom>
          <a:noFill/>
          <a:ln/>
        </p:spPr>
        <p:txBody>
          <a:bodyPr wrap="square" lIns="0" tIns="0" rIns="0" bIns="0" rtlCol="0" anchor="ctr"/>
          <a:lstStyle/>
          <a:p>
            <a:pPr indent="0" marL="0">
              <a:buNone/>
            </a:pPr>
            <a:r>
              <a:rPr lang="en-US" sz="1650" b="1" dirty="0">
                <a:solidFill>
                  <a:srgbClr val="8E0B20"/>
                </a:solidFill>
                <a:latin typeface="Cambria" pitchFamily="34" charset="0"/>
                <a:ea typeface="Cambria" pitchFamily="34" charset="-122"/>
                <a:cs typeface="Cambria" pitchFamily="34" charset="-120"/>
              </a:rPr>
              <a:t>Q(s, a)  </a:t>
            </a:r>
            <a:pPr indent="0" marL="0">
              <a:buNone/>
            </a:pPr>
            <a:r>
              <a:rPr lang="en-US" sz="1950" b="1" dirty="0">
                <a:solidFill>
                  <a:srgbClr val="8E0B20"/>
                </a:solidFill>
                <a:latin typeface="Calibri" pitchFamily="34" charset="0"/>
                <a:ea typeface="Calibri" pitchFamily="34" charset="-122"/>
                <a:cs typeface="Calibri" pitchFamily="34" charset="-120"/>
              </a:rPr>
              <a:t>←</a:t>
            </a:r>
            <a:pPr indent="0" marL="0">
              <a:buNone/>
            </a:pPr>
            <a:r>
              <a:rPr lang="en-US" sz="1650" b="1" dirty="0">
                <a:solidFill>
                  <a:srgbClr val="8E0B20"/>
                </a:solidFill>
                <a:latin typeface="Cambria" pitchFamily="34" charset="0"/>
                <a:ea typeface="Cambria" pitchFamily="34" charset="-122"/>
                <a:cs typeface="Cambria" pitchFamily="34" charset="-120"/>
              </a:rPr>
              <a:t>  (1 − α) Q(s, a)  +  α · sample</a:t>
            </a:r>
            <a:endParaRPr lang="en-US" sz="1650" dirty="0"/>
          </a:p>
        </p:txBody>
      </p:sp>
      <p:sp>
        <p:nvSpPr>
          <p:cNvPr id="24" name="Shape 22"/>
          <p:cNvSpPr/>
          <p:nvPr/>
        </p:nvSpPr>
        <p:spPr>
          <a:xfrm>
            <a:off x="566928" y="5504688"/>
            <a:ext cx="11057839" cy="694944"/>
          </a:xfrm>
          <a:prstGeom prst="roundRect">
            <a:avLst>
              <a:gd name="adj" fmla="val 11842"/>
            </a:avLst>
          </a:prstGeom>
          <a:solidFill>
            <a:srgbClr val="E8F2ED"/>
          </a:solidFill>
          <a:ln/>
        </p:spPr>
      </p:sp>
      <p:sp>
        <p:nvSpPr>
          <p:cNvPr id="25" name="Text 23"/>
          <p:cNvSpPr/>
          <p:nvPr/>
        </p:nvSpPr>
        <p:spPr>
          <a:xfrm>
            <a:off x="859536" y="5504688"/>
            <a:ext cx="10472623" cy="694944"/>
          </a:xfrm>
          <a:prstGeom prst="rect">
            <a:avLst/>
          </a:prstGeom>
          <a:noFill/>
          <a:ln/>
        </p:spPr>
        <p:txBody>
          <a:bodyPr wrap="square" lIns="0" tIns="0" rIns="0" bIns="0" rtlCol="0" anchor="ctr"/>
          <a:lstStyle/>
          <a:p>
            <a:pPr indent="0" marL="0">
              <a:buNone/>
            </a:pPr>
            <a:r>
              <a:rPr lang="en-US" sz="1400" b="1" dirty="0">
                <a:solidFill>
                  <a:srgbClr val="1B7F5A"/>
                </a:solidFill>
                <a:latin typeface="Calibri" pitchFamily="34" charset="0"/>
                <a:ea typeface="Calibri" pitchFamily="34" charset="-122"/>
                <a:cs typeface="Calibri" pitchFamily="34" charset="-120"/>
              </a:rPr>
              <a:t>Action selection is now completely model-free: look at the Q-values leaving your state and take the largest. No T, no R, no lookahead.</a:t>
            </a:r>
            <a:endParaRPr lang="en-US" sz="1400" dirty="0"/>
          </a:p>
        </p:txBody>
      </p:sp>
      <p:sp>
        <p:nvSpPr>
          <p:cNvPr id="26" name="Text 24"/>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7" name="Text 25"/>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50</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Anatomy of the update</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Written as a correction rather than an interpolation, the same four lines read as a single idea.</a:t>
            </a:r>
            <a:endParaRPr lang="en-US" sz="1400" dirty="0"/>
          </a:p>
        </p:txBody>
      </p:sp>
      <p:pic>
        <p:nvPicPr>
          <p:cNvPr id="4" name="Image 0" descr="/home/claude/comp469_rl/figures/fig17_update_anatomy.png">    </p:cNvPr>
          <p:cNvPicPr>
            <a:picLocks noChangeAspect="1"/>
          </p:cNvPicPr>
          <p:nvPr/>
        </p:nvPicPr>
        <p:blipFill>
          <a:blip r:embed="rId1"/>
          <a:srcRect l="0" r="0" t="0" b="0"/>
          <a:stretch/>
        </p:blipFill>
        <p:spPr>
          <a:xfrm>
            <a:off x="658368" y="1627632"/>
            <a:ext cx="10881360" cy="3346704"/>
          </a:xfrm>
          <a:prstGeom prst="rect">
            <a:avLst/>
          </a:prstGeom>
        </p:spPr>
      </p:pic>
      <p:sp>
        <p:nvSpPr>
          <p:cNvPr id="5" name="Shape 2"/>
          <p:cNvSpPr/>
          <p:nvPr/>
        </p:nvSpPr>
        <p:spPr>
          <a:xfrm>
            <a:off x="566928" y="5084064"/>
            <a:ext cx="3529584" cy="896112"/>
          </a:xfrm>
          <a:prstGeom prst="roundRect">
            <a:avLst>
              <a:gd name="adj" fmla="val 9184"/>
            </a:avLst>
          </a:prstGeom>
          <a:solidFill>
            <a:srgbClr val="F4F5F6"/>
          </a:solidFill>
          <a:ln/>
        </p:spPr>
      </p:sp>
      <p:sp>
        <p:nvSpPr>
          <p:cNvPr id="6" name="Text 3"/>
          <p:cNvSpPr/>
          <p:nvPr/>
        </p:nvSpPr>
        <p:spPr>
          <a:xfrm>
            <a:off x="786384" y="5175504"/>
            <a:ext cx="3090672" cy="310896"/>
          </a:xfrm>
          <a:prstGeom prst="rect">
            <a:avLst/>
          </a:prstGeom>
          <a:noFill/>
          <a:ln/>
        </p:spPr>
        <p:txBody>
          <a:bodyPr wrap="square" lIns="0" tIns="0" rIns="0" bIns="0" rtlCol="0" anchor="ctr"/>
          <a:lstStyle/>
          <a:p>
            <a:pPr indent="0" marL="0">
              <a:buNone/>
            </a:pPr>
            <a:r>
              <a:rPr lang="en-US" sz="1250" b="1" dirty="0">
                <a:solidFill>
                  <a:srgbClr val="22252A"/>
                </a:solidFill>
                <a:latin typeface="Calibri" pitchFamily="34" charset="0"/>
                <a:ea typeface="Calibri" pitchFamily="34" charset="-122"/>
                <a:cs typeface="Calibri" pitchFamily="34" charset="-120"/>
              </a:rPr>
              <a:t>If the sample matches your estimate</a:t>
            </a:r>
            <a:endParaRPr lang="en-US" sz="1250" dirty="0"/>
          </a:p>
        </p:txBody>
      </p:sp>
      <p:sp>
        <p:nvSpPr>
          <p:cNvPr id="7" name="Text 4"/>
          <p:cNvSpPr/>
          <p:nvPr/>
        </p:nvSpPr>
        <p:spPr>
          <a:xfrm>
            <a:off x="786384" y="5486400"/>
            <a:ext cx="3090672" cy="402336"/>
          </a:xfrm>
          <a:prstGeom prst="rect">
            <a:avLst/>
          </a:prstGeom>
          <a:noFill/>
          <a:ln/>
        </p:spPr>
        <p:txBody>
          <a:bodyPr wrap="square" lIns="0" tIns="0" rIns="0" bIns="0" rtlCol="0" anchor="t"/>
          <a:lstStyle/>
          <a:p>
            <a:pPr indent="0" marL="0">
              <a:buNone/>
            </a:pPr>
            <a:r>
              <a:rPr lang="en-US" sz="1200" dirty="0">
                <a:solidFill>
                  <a:srgbClr val="3C4047"/>
                </a:solidFill>
                <a:latin typeface="Calibri" pitchFamily="34" charset="0"/>
                <a:ea typeface="Calibri" pitchFamily="34" charset="-122"/>
                <a:cs typeface="Calibri" pitchFamily="34" charset="-120"/>
              </a:rPr>
              <a:t>the bracket is zero and nothing moves.</a:t>
            </a:r>
            <a:endParaRPr lang="en-US" sz="1200" dirty="0"/>
          </a:p>
        </p:txBody>
      </p:sp>
      <p:sp>
        <p:nvSpPr>
          <p:cNvPr id="8" name="Shape 5"/>
          <p:cNvSpPr/>
          <p:nvPr/>
        </p:nvSpPr>
        <p:spPr>
          <a:xfrm>
            <a:off x="4315968" y="5084064"/>
            <a:ext cx="3529584" cy="896112"/>
          </a:xfrm>
          <a:prstGeom prst="roundRect">
            <a:avLst>
              <a:gd name="adj" fmla="val 9184"/>
            </a:avLst>
          </a:prstGeom>
          <a:solidFill>
            <a:srgbClr val="F4F5F6"/>
          </a:solidFill>
          <a:ln/>
        </p:spPr>
      </p:sp>
      <p:sp>
        <p:nvSpPr>
          <p:cNvPr id="9" name="Text 6"/>
          <p:cNvSpPr/>
          <p:nvPr/>
        </p:nvSpPr>
        <p:spPr>
          <a:xfrm>
            <a:off x="4535424" y="5175504"/>
            <a:ext cx="3090672" cy="310896"/>
          </a:xfrm>
          <a:prstGeom prst="rect">
            <a:avLst/>
          </a:prstGeom>
          <a:noFill/>
          <a:ln/>
        </p:spPr>
        <p:txBody>
          <a:bodyPr wrap="square" lIns="0" tIns="0" rIns="0" bIns="0" rtlCol="0" anchor="ctr"/>
          <a:lstStyle/>
          <a:p>
            <a:pPr indent="0" marL="0">
              <a:buNone/>
            </a:pPr>
            <a:r>
              <a:rPr lang="en-US" sz="1250" b="1" dirty="0">
                <a:solidFill>
                  <a:srgbClr val="22252A"/>
                </a:solidFill>
                <a:latin typeface="Calibri" pitchFamily="34" charset="0"/>
                <a:ea typeface="Calibri" pitchFamily="34" charset="-122"/>
                <a:cs typeface="Calibri" pitchFamily="34" charset="-120"/>
              </a:rPr>
              <a:t>If the sample is higher</a:t>
            </a:r>
            <a:endParaRPr lang="en-US" sz="1250" dirty="0"/>
          </a:p>
        </p:txBody>
      </p:sp>
      <p:sp>
        <p:nvSpPr>
          <p:cNvPr id="10" name="Text 7"/>
          <p:cNvSpPr/>
          <p:nvPr/>
        </p:nvSpPr>
        <p:spPr>
          <a:xfrm>
            <a:off x="4535424" y="5486400"/>
            <a:ext cx="3090672" cy="402336"/>
          </a:xfrm>
          <a:prstGeom prst="rect">
            <a:avLst/>
          </a:prstGeom>
          <a:noFill/>
          <a:ln/>
        </p:spPr>
        <p:txBody>
          <a:bodyPr wrap="square" lIns="0" tIns="0" rIns="0" bIns="0" rtlCol="0" anchor="t"/>
          <a:lstStyle/>
          <a:p>
            <a:pPr indent="0" marL="0">
              <a:buNone/>
            </a:pPr>
            <a:r>
              <a:rPr lang="en-US" sz="1200" dirty="0">
                <a:solidFill>
                  <a:srgbClr val="3C4047"/>
                </a:solidFill>
                <a:latin typeface="Calibri" pitchFamily="34" charset="0"/>
                <a:ea typeface="Calibri" pitchFamily="34" charset="-122"/>
                <a:cs typeface="Calibri" pitchFamily="34" charset="-120"/>
              </a:rPr>
              <a:t>the estimate rises by a fraction α of the gap.</a:t>
            </a:r>
            <a:endParaRPr lang="en-US" sz="1200" dirty="0"/>
          </a:p>
        </p:txBody>
      </p:sp>
      <p:sp>
        <p:nvSpPr>
          <p:cNvPr id="11" name="Shape 8"/>
          <p:cNvSpPr/>
          <p:nvPr/>
        </p:nvSpPr>
        <p:spPr>
          <a:xfrm>
            <a:off x="8065008" y="5084064"/>
            <a:ext cx="3529584" cy="896112"/>
          </a:xfrm>
          <a:prstGeom prst="roundRect">
            <a:avLst>
              <a:gd name="adj" fmla="val 9184"/>
            </a:avLst>
          </a:prstGeom>
          <a:solidFill>
            <a:srgbClr val="F4F5F6"/>
          </a:solidFill>
          <a:ln/>
        </p:spPr>
      </p:sp>
      <p:sp>
        <p:nvSpPr>
          <p:cNvPr id="12" name="Text 9"/>
          <p:cNvSpPr/>
          <p:nvPr/>
        </p:nvSpPr>
        <p:spPr>
          <a:xfrm>
            <a:off x="8284464" y="5175504"/>
            <a:ext cx="3090672" cy="310896"/>
          </a:xfrm>
          <a:prstGeom prst="rect">
            <a:avLst/>
          </a:prstGeom>
          <a:noFill/>
          <a:ln/>
        </p:spPr>
        <p:txBody>
          <a:bodyPr wrap="square" lIns="0" tIns="0" rIns="0" bIns="0" rtlCol="0" anchor="ctr"/>
          <a:lstStyle/>
          <a:p>
            <a:pPr indent="0" marL="0">
              <a:buNone/>
            </a:pPr>
            <a:r>
              <a:rPr lang="en-US" sz="1250" b="1" dirty="0">
                <a:solidFill>
                  <a:srgbClr val="22252A"/>
                </a:solidFill>
                <a:latin typeface="Calibri" pitchFamily="34" charset="0"/>
                <a:ea typeface="Calibri" pitchFamily="34" charset="-122"/>
                <a:cs typeface="Calibri" pitchFamily="34" charset="-120"/>
              </a:rPr>
              <a:t>If the sample is lower</a:t>
            </a:r>
            <a:endParaRPr lang="en-US" sz="1250" dirty="0"/>
          </a:p>
        </p:txBody>
      </p:sp>
      <p:sp>
        <p:nvSpPr>
          <p:cNvPr id="13" name="Text 10"/>
          <p:cNvSpPr/>
          <p:nvPr/>
        </p:nvSpPr>
        <p:spPr>
          <a:xfrm>
            <a:off x="8284464" y="5486400"/>
            <a:ext cx="3090672" cy="402336"/>
          </a:xfrm>
          <a:prstGeom prst="rect">
            <a:avLst/>
          </a:prstGeom>
          <a:noFill/>
          <a:ln/>
        </p:spPr>
        <p:txBody>
          <a:bodyPr wrap="square" lIns="0" tIns="0" rIns="0" bIns="0" rtlCol="0" anchor="t"/>
          <a:lstStyle/>
          <a:p>
            <a:pPr indent="0" marL="0">
              <a:buNone/>
            </a:pPr>
            <a:r>
              <a:rPr lang="en-US" sz="1200" dirty="0">
                <a:solidFill>
                  <a:srgbClr val="3C4047"/>
                </a:solidFill>
                <a:latin typeface="Calibri" pitchFamily="34" charset="0"/>
                <a:ea typeface="Calibri" pitchFamily="34" charset="-122"/>
                <a:cs typeface="Calibri" pitchFamily="34" charset="-120"/>
              </a:rPr>
              <a:t>it falls by the same fraction.</a:t>
            </a:r>
            <a:endParaRPr lang="en-US" sz="1200" dirty="0"/>
          </a:p>
        </p:txBody>
      </p:sp>
      <p:sp>
        <p:nvSpPr>
          <p:cNvPr id="14" name="Text 11"/>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5" name="Text 12"/>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51</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Watching the first value appear</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WORKED TRACE</a:t>
            </a:r>
            <a:endParaRPr lang="en-US" sz="1050" dirty="0"/>
          </a:p>
        </p:txBody>
      </p:sp>
      <p:sp>
        <p:nvSpPr>
          <p:cNvPr id="4" name="Text 2"/>
          <p:cNvSpPr/>
          <p:nvPr/>
        </p:nvSpPr>
        <p:spPr>
          <a:xfrm>
            <a:off x="566928" y="1225296"/>
            <a:ext cx="11057839" cy="365760"/>
          </a:xfrm>
          <a:prstGeom prst="rect">
            <a:avLst/>
          </a:prstGeom>
          <a:noFill/>
          <a:ln/>
        </p:spPr>
        <p:txBody>
          <a:bodyPr wrap="square" lIns="0" tIns="0" rIns="0" bIns="0" rtlCol="0" anchor="t"/>
          <a:lstStyle/>
          <a:p>
            <a:pPr algn="l" indent="0" marL="0">
              <a:lnSpc>
                <a:spcPct val="114000"/>
              </a:lnSpc>
              <a:buNone/>
            </a:pPr>
            <a:r>
              <a:rPr lang="en-US" sz="1450" dirty="0">
                <a:solidFill>
                  <a:srgbClr val="3C4047"/>
                </a:solidFill>
                <a:latin typeface="Calibri" pitchFamily="34" charset="0"/>
                <a:ea typeface="Calibri" pitchFamily="34" charset="-122"/>
                <a:cs typeface="Calibri" pitchFamily="34" charset="-120"/>
              </a:rPr>
              <a:t>Gridworld, all Q-values start at 0, α = 0.5, γ = 1. Follow the arithmetic, not the picture.</a:t>
            </a:r>
            <a:endParaRPr lang="en-US" sz="1450" dirty="0"/>
          </a:p>
        </p:txBody>
      </p:sp>
      <p:sp>
        <p:nvSpPr>
          <p:cNvPr id="5" name="Shape 3"/>
          <p:cNvSpPr/>
          <p:nvPr/>
        </p:nvSpPr>
        <p:spPr>
          <a:xfrm>
            <a:off x="566928" y="1700784"/>
            <a:ext cx="11057839" cy="713232"/>
          </a:xfrm>
          <a:prstGeom prst="roundRect">
            <a:avLst>
              <a:gd name="adj" fmla="val 11538"/>
            </a:avLst>
          </a:prstGeom>
          <a:solidFill>
            <a:srgbClr val="F4F5F6"/>
          </a:solidFill>
          <a:ln/>
        </p:spPr>
      </p:sp>
      <p:sp>
        <p:nvSpPr>
          <p:cNvPr id="6" name="Text 4"/>
          <p:cNvSpPr/>
          <p:nvPr/>
        </p:nvSpPr>
        <p:spPr>
          <a:xfrm>
            <a:off x="786384" y="1700784"/>
            <a:ext cx="914400" cy="713232"/>
          </a:xfrm>
          <a:prstGeom prst="rect">
            <a:avLst/>
          </a:prstGeom>
          <a:noFill/>
          <a:ln/>
        </p:spPr>
        <p:txBody>
          <a:bodyPr wrap="square" lIns="0" tIns="0" rIns="0" bIns="0" rtlCol="0" anchor="ctr"/>
          <a:lstStyle/>
          <a:p>
            <a:pPr indent="0" marL="0">
              <a:buNone/>
            </a:pPr>
            <a:r>
              <a:rPr lang="en-US" sz="1150" b="1" dirty="0">
                <a:solidFill>
                  <a:srgbClr val="53565A"/>
                </a:solidFill>
                <a:latin typeface="Calibri" pitchFamily="34" charset="0"/>
                <a:ea typeface="Calibri" pitchFamily="34" charset="-122"/>
                <a:cs typeface="Calibri" pitchFamily="34" charset="-120"/>
              </a:rPr>
              <a:t>Episode 1</a:t>
            </a:r>
            <a:endParaRPr lang="en-US" sz="1150" dirty="0"/>
          </a:p>
        </p:txBody>
      </p:sp>
      <p:sp>
        <p:nvSpPr>
          <p:cNvPr id="7" name="Text 5"/>
          <p:cNvSpPr/>
          <p:nvPr/>
        </p:nvSpPr>
        <p:spPr>
          <a:xfrm>
            <a:off x="1755648" y="1700784"/>
            <a:ext cx="2651760" cy="713232"/>
          </a:xfrm>
          <a:prstGeom prst="rect">
            <a:avLst/>
          </a:prstGeom>
          <a:noFill/>
          <a:ln/>
        </p:spPr>
        <p:txBody>
          <a:bodyPr wrap="square" lIns="0" tIns="0" rIns="0" bIns="0" rtlCol="0" anchor="ctr"/>
          <a:lstStyle/>
          <a:p>
            <a:pPr indent="0" marL="0">
              <a:buNone/>
            </a:pPr>
            <a:r>
              <a:rPr lang="en-US" sz="1200" dirty="0">
                <a:solidFill>
                  <a:srgbClr val="3C4047"/>
                </a:solidFill>
                <a:latin typeface="Calibri" pitchFamily="34" charset="0"/>
                <a:ea typeface="Calibri" pitchFamily="34" charset="-122"/>
                <a:cs typeface="Calibri" pitchFamily="34" charset="-120"/>
              </a:rPr>
              <a:t>north into an empty square</a:t>
            </a:r>
            <a:endParaRPr lang="en-US" sz="1200" dirty="0"/>
          </a:p>
        </p:txBody>
      </p:sp>
      <p:sp>
        <p:nvSpPr>
          <p:cNvPr id="8" name="Text 6"/>
          <p:cNvSpPr/>
          <p:nvPr/>
        </p:nvSpPr>
        <p:spPr>
          <a:xfrm>
            <a:off x="4443984" y="1700784"/>
            <a:ext cx="822960" cy="713232"/>
          </a:xfrm>
          <a:prstGeom prst="rect">
            <a:avLst/>
          </a:prstGeom>
          <a:noFill/>
          <a:ln/>
        </p:spPr>
        <p:txBody>
          <a:bodyPr wrap="square" lIns="0" tIns="0" rIns="0" bIns="0" rtlCol="0" anchor="ctr"/>
          <a:lstStyle/>
          <a:p>
            <a:pPr indent="0" marL="0">
              <a:buNone/>
            </a:pPr>
            <a:r>
              <a:rPr lang="en-US" sz="1150" dirty="0">
                <a:solidFill>
                  <a:srgbClr val="53565A"/>
                </a:solidFill>
                <a:latin typeface="Courier New" pitchFamily="34" charset="0"/>
                <a:ea typeface="Courier New" pitchFamily="34" charset="-122"/>
                <a:cs typeface="Courier New" pitchFamily="34" charset="-120"/>
              </a:rPr>
              <a:t>old 0</a:t>
            </a:r>
            <a:endParaRPr lang="en-US" sz="1150" dirty="0"/>
          </a:p>
        </p:txBody>
      </p:sp>
      <p:sp>
        <p:nvSpPr>
          <p:cNvPr id="9" name="Text 7"/>
          <p:cNvSpPr/>
          <p:nvPr/>
        </p:nvSpPr>
        <p:spPr>
          <a:xfrm>
            <a:off x="5321808" y="1700784"/>
            <a:ext cx="3108960" cy="713232"/>
          </a:xfrm>
          <a:prstGeom prst="rect">
            <a:avLst/>
          </a:prstGeom>
          <a:noFill/>
          <a:ln/>
        </p:spPr>
        <p:txBody>
          <a:bodyPr wrap="square" lIns="0" tIns="0" rIns="0" bIns="0" rtlCol="0" anchor="ctr"/>
          <a:lstStyle/>
          <a:p>
            <a:pPr indent="0" marL="0">
              <a:buNone/>
            </a:pPr>
            <a:r>
              <a:rPr lang="en-US" sz="1200" dirty="0">
                <a:solidFill>
                  <a:srgbClr val="3C4047"/>
                </a:solidFill>
                <a:latin typeface="Cambria" pitchFamily="34" charset="0"/>
                <a:ea typeface="Cambria" pitchFamily="34" charset="-122"/>
                <a:cs typeface="Cambria" pitchFamily="34" charset="-120"/>
              </a:rPr>
              <a:t>sample  =  0  +  max(0,0,0,0)  =  0</a:t>
            </a:r>
            <a:endParaRPr lang="en-US" sz="1200" dirty="0"/>
          </a:p>
        </p:txBody>
      </p:sp>
      <p:sp>
        <p:nvSpPr>
          <p:cNvPr id="10" name="Text 8"/>
          <p:cNvSpPr/>
          <p:nvPr/>
        </p:nvSpPr>
        <p:spPr>
          <a:xfrm>
            <a:off x="8522208" y="1700784"/>
            <a:ext cx="2834640" cy="713232"/>
          </a:xfrm>
          <a:prstGeom prst="rect">
            <a:avLst/>
          </a:prstGeom>
          <a:noFill/>
          <a:ln/>
        </p:spPr>
        <p:txBody>
          <a:bodyPr wrap="square" lIns="0" tIns="0" rIns="0" bIns="0" rtlCol="0" anchor="ctr"/>
          <a:lstStyle/>
          <a:p>
            <a:pPr indent="0" marL="0">
              <a:buNone/>
            </a:pPr>
            <a:r>
              <a:rPr lang="en-US" sz="1200" b="1" dirty="0">
                <a:solidFill>
                  <a:srgbClr val="53565A"/>
                </a:solidFill>
                <a:latin typeface="Cambria" pitchFamily="34" charset="0"/>
                <a:ea typeface="Cambria" pitchFamily="34" charset="-122"/>
                <a:cs typeface="Cambria" pitchFamily="34" charset="-120"/>
              </a:rPr>
              <a:t>no change</a:t>
            </a:r>
            <a:endParaRPr lang="en-US" sz="1200" dirty="0"/>
          </a:p>
        </p:txBody>
      </p:sp>
      <p:sp>
        <p:nvSpPr>
          <p:cNvPr id="11" name="Shape 9"/>
          <p:cNvSpPr/>
          <p:nvPr/>
        </p:nvSpPr>
        <p:spPr>
          <a:xfrm>
            <a:off x="566928" y="2487168"/>
            <a:ext cx="11057839" cy="713232"/>
          </a:xfrm>
          <a:prstGeom prst="roundRect">
            <a:avLst>
              <a:gd name="adj" fmla="val 11538"/>
            </a:avLst>
          </a:prstGeom>
          <a:solidFill>
            <a:srgbClr val="F4F5F6"/>
          </a:solidFill>
          <a:ln/>
        </p:spPr>
      </p:sp>
      <p:sp>
        <p:nvSpPr>
          <p:cNvPr id="12" name="Text 10"/>
          <p:cNvSpPr/>
          <p:nvPr/>
        </p:nvSpPr>
        <p:spPr>
          <a:xfrm>
            <a:off x="786384" y="2487168"/>
            <a:ext cx="914400" cy="713232"/>
          </a:xfrm>
          <a:prstGeom prst="rect">
            <a:avLst/>
          </a:prstGeom>
          <a:noFill/>
          <a:ln/>
        </p:spPr>
        <p:txBody>
          <a:bodyPr wrap="square" lIns="0" tIns="0" rIns="0" bIns="0" rtlCol="0" anchor="ctr"/>
          <a:lstStyle/>
          <a:p>
            <a:pPr indent="0" marL="0">
              <a:buNone/>
            </a:pPr>
            <a:r>
              <a:rPr lang="en-US" sz="1150" b="1" dirty="0">
                <a:solidFill>
                  <a:srgbClr val="53565A"/>
                </a:solidFill>
                <a:latin typeface="Calibri" pitchFamily="34" charset="0"/>
                <a:ea typeface="Calibri" pitchFamily="34" charset="-122"/>
                <a:cs typeface="Calibri" pitchFamily="34" charset="-120"/>
              </a:rPr>
              <a:t>Episode 1</a:t>
            </a:r>
            <a:endParaRPr lang="en-US" sz="1150" dirty="0"/>
          </a:p>
        </p:txBody>
      </p:sp>
      <p:sp>
        <p:nvSpPr>
          <p:cNvPr id="13" name="Text 11"/>
          <p:cNvSpPr/>
          <p:nvPr/>
        </p:nvSpPr>
        <p:spPr>
          <a:xfrm>
            <a:off x="1755648" y="2487168"/>
            <a:ext cx="2651760" cy="713232"/>
          </a:xfrm>
          <a:prstGeom prst="rect">
            <a:avLst/>
          </a:prstGeom>
          <a:noFill/>
          <a:ln/>
        </p:spPr>
        <p:txBody>
          <a:bodyPr wrap="square" lIns="0" tIns="0" rIns="0" bIns="0" rtlCol="0" anchor="ctr"/>
          <a:lstStyle/>
          <a:p>
            <a:pPr indent="0" marL="0">
              <a:buNone/>
            </a:pPr>
            <a:r>
              <a:rPr lang="en-US" sz="1200" dirty="0">
                <a:solidFill>
                  <a:srgbClr val="3C4047"/>
                </a:solidFill>
                <a:latin typeface="Calibri" pitchFamily="34" charset="0"/>
                <a:ea typeface="Calibri" pitchFamily="34" charset="-122"/>
                <a:cs typeface="Calibri" pitchFamily="34" charset="-120"/>
              </a:rPr>
              <a:t>east into another empty square</a:t>
            </a:r>
            <a:endParaRPr lang="en-US" sz="1200" dirty="0"/>
          </a:p>
        </p:txBody>
      </p:sp>
      <p:sp>
        <p:nvSpPr>
          <p:cNvPr id="14" name="Text 12"/>
          <p:cNvSpPr/>
          <p:nvPr/>
        </p:nvSpPr>
        <p:spPr>
          <a:xfrm>
            <a:off x="4443984" y="2487168"/>
            <a:ext cx="822960" cy="713232"/>
          </a:xfrm>
          <a:prstGeom prst="rect">
            <a:avLst/>
          </a:prstGeom>
          <a:noFill/>
          <a:ln/>
        </p:spPr>
        <p:txBody>
          <a:bodyPr wrap="square" lIns="0" tIns="0" rIns="0" bIns="0" rtlCol="0" anchor="ctr"/>
          <a:lstStyle/>
          <a:p>
            <a:pPr indent="0" marL="0">
              <a:buNone/>
            </a:pPr>
            <a:r>
              <a:rPr lang="en-US" sz="1150" dirty="0">
                <a:solidFill>
                  <a:srgbClr val="53565A"/>
                </a:solidFill>
                <a:latin typeface="Courier New" pitchFamily="34" charset="0"/>
                <a:ea typeface="Courier New" pitchFamily="34" charset="-122"/>
                <a:cs typeface="Courier New" pitchFamily="34" charset="-120"/>
              </a:rPr>
              <a:t>old 0</a:t>
            </a:r>
            <a:endParaRPr lang="en-US" sz="1150" dirty="0"/>
          </a:p>
        </p:txBody>
      </p:sp>
      <p:sp>
        <p:nvSpPr>
          <p:cNvPr id="15" name="Text 13"/>
          <p:cNvSpPr/>
          <p:nvPr/>
        </p:nvSpPr>
        <p:spPr>
          <a:xfrm>
            <a:off x="5321808" y="2487168"/>
            <a:ext cx="3108960" cy="713232"/>
          </a:xfrm>
          <a:prstGeom prst="rect">
            <a:avLst/>
          </a:prstGeom>
          <a:noFill/>
          <a:ln/>
        </p:spPr>
        <p:txBody>
          <a:bodyPr wrap="square" lIns="0" tIns="0" rIns="0" bIns="0" rtlCol="0" anchor="ctr"/>
          <a:lstStyle/>
          <a:p>
            <a:pPr indent="0" marL="0">
              <a:buNone/>
            </a:pPr>
            <a:r>
              <a:rPr lang="en-US" sz="1200" dirty="0">
                <a:solidFill>
                  <a:srgbClr val="3C4047"/>
                </a:solidFill>
                <a:latin typeface="Cambria" pitchFamily="34" charset="0"/>
                <a:ea typeface="Cambria" pitchFamily="34" charset="-122"/>
                <a:cs typeface="Cambria" pitchFamily="34" charset="-120"/>
              </a:rPr>
              <a:t>sample  =  0  +  0  =  0</a:t>
            </a:r>
            <a:endParaRPr lang="en-US" sz="1200" dirty="0"/>
          </a:p>
        </p:txBody>
      </p:sp>
      <p:sp>
        <p:nvSpPr>
          <p:cNvPr id="16" name="Text 14"/>
          <p:cNvSpPr/>
          <p:nvPr/>
        </p:nvSpPr>
        <p:spPr>
          <a:xfrm>
            <a:off x="8522208" y="2487168"/>
            <a:ext cx="2834640" cy="713232"/>
          </a:xfrm>
          <a:prstGeom prst="rect">
            <a:avLst/>
          </a:prstGeom>
          <a:noFill/>
          <a:ln/>
        </p:spPr>
        <p:txBody>
          <a:bodyPr wrap="square" lIns="0" tIns="0" rIns="0" bIns="0" rtlCol="0" anchor="ctr"/>
          <a:lstStyle/>
          <a:p>
            <a:pPr indent="0" marL="0">
              <a:buNone/>
            </a:pPr>
            <a:r>
              <a:rPr lang="en-US" sz="1200" b="1" dirty="0">
                <a:solidFill>
                  <a:srgbClr val="53565A"/>
                </a:solidFill>
                <a:latin typeface="Cambria" pitchFamily="34" charset="0"/>
                <a:ea typeface="Cambria" pitchFamily="34" charset="-122"/>
                <a:cs typeface="Cambria" pitchFamily="34" charset="-120"/>
              </a:rPr>
              <a:t>no change</a:t>
            </a:r>
            <a:endParaRPr lang="en-US" sz="1200" dirty="0"/>
          </a:p>
        </p:txBody>
      </p:sp>
      <p:sp>
        <p:nvSpPr>
          <p:cNvPr id="17" name="Shape 15"/>
          <p:cNvSpPr/>
          <p:nvPr/>
        </p:nvSpPr>
        <p:spPr>
          <a:xfrm>
            <a:off x="566928" y="3273552"/>
            <a:ext cx="11057839" cy="713232"/>
          </a:xfrm>
          <a:prstGeom prst="roundRect">
            <a:avLst>
              <a:gd name="adj" fmla="val 11538"/>
            </a:avLst>
          </a:prstGeom>
          <a:solidFill>
            <a:srgbClr val="E8F2ED"/>
          </a:solidFill>
          <a:ln/>
        </p:spPr>
      </p:sp>
      <p:sp>
        <p:nvSpPr>
          <p:cNvPr id="18" name="Text 16"/>
          <p:cNvSpPr/>
          <p:nvPr/>
        </p:nvSpPr>
        <p:spPr>
          <a:xfrm>
            <a:off x="786384" y="3273552"/>
            <a:ext cx="914400" cy="713232"/>
          </a:xfrm>
          <a:prstGeom prst="rect">
            <a:avLst/>
          </a:prstGeom>
          <a:noFill/>
          <a:ln/>
        </p:spPr>
        <p:txBody>
          <a:bodyPr wrap="square" lIns="0" tIns="0" rIns="0" bIns="0" rtlCol="0" anchor="ctr"/>
          <a:lstStyle/>
          <a:p>
            <a:pPr indent="0" marL="0">
              <a:buNone/>
            </a:pPr>
            <a:r>
              <a:rPr lang="en-US" sz="1150" b="1" dirty="0">
                <a:solidFill>
                  <a:srgbClr val="53565A"/>
                </a:solidFill>
                <a:latin typeface="Calibri" pitchFamily="34" charset="0"/>
                <a:ea typeface="Calibri" pitchFamily="34" charset="-122"/>
                <a:cs typeface="Calibri" pitchFamily="34" charset="-120"/>
              </a:rPr>
              <a:t>Episode 1</a:t>
            </a:r>
            <a:endParaRPr lang="en-US" sz="1150" dirty="0"/>
          </a:p>
        </p:txBody>
      </p:sp>
      <p:sp>
        <p:nvSpPr>
          <p:cNvPr id="19" name="Text 17"/>
          <p:cNvSpPr/>
          <p:nvPr/>
        </p:nvSpPr>
        <p:spPr>
          <a:xfrm>
            <a:off x="1755648" y="3273552"/>
            <a:ext cx="2651760" cy="713232"/>
          </a:xfrm>
          <a:prstGeom prst="rect">
            <a:avLst/>
          </a:prstGeom>
          <a:noFill/>
          <a:ln/>
        </p:spPr>
        <p:txBody>
          <a:bodyPr wrap="square" lIns="0" tIns="0" rIns="0" bIns="0" rtlCol="0" anchor="ctr"/>
          <a:lstStyle/>
          <a:p>
            <a:pPr indent="0" marL="0">
              <a:buNone/>
            </a:pPr>
            <a:r>
              <a:rPr lang="en-US" sz="1200" dirty="0">
                <a:solidFill>
                  <a:srgbClr val="3C4047"/>
                </a:solidFill>
                <a:latin typeface="Calibri" pitchFamily="34" charset="0"/>
                <a:ea typeface="Calibri" pitchFamily="34" charset="-122"/>
                <a:cs typeface="Calibri" pitchFamily="34" charset="-120"/>
              </a:rPr>
              <a:t>exit, collecting +1</a:t>
            </a:r>
            <a:endParaRPr lang="en-US" sz="1200" dirty="0"/>
          </a:p>
        </p:txBody>
      </p:sp>
      <p:sp>
        <p:nvSpPr>
          <p:cNvPr id="20" name="Text 18"/>
          <p:cNvSpPr/>
          <p:nvPr/>
        </p:nvSpPr>
        <p:spPr>
          <a:xfrm>
            <a:off x="4443984" y="3273552"/>
            <a:ext cx="822960" cy="713232"/>
          </a:xfrm>
          <a:prstGeom prst="rect">
            <a:avLst/>
          </a:prstGeom>
          <a:noFill/>
          <a:ln/>
        </p:spPr>
        <p:txBody>
          <a:bodyPr wrap="square" lIns="0" tIns="0" rIns="0" bIns="0" rtlCol="0" anchor="ctr"/>
          <a:lstStyle/>
          <a:p>
            <a:pPr indent="0" marL="0">
              <a:buNone/>
            </a:pPr>
            <a:r>
              <a:rPr lang="en-US" sz="1150" dirty="0">
                <a:solidFill>
                  <a:srgbClr val="53565A"/>
                </a:solidFill>
                <a:latin typeface="Courier New" pitchFamily="34" charset="0"/>
                <a:ea typeface="Courier New" pitchFamily="34" charset="-122"/>
                <a:cs typeface="Courier New" pitchFamily="34" charset="-120"/>
              </a:rPr>
              <a:t>old 0</a:t>
            </a:r>
            <a:endParaRPr lang="en-US" sz="1150" dirty="0"/>
          </a:p>
        </p:txBody>
      </p:sp>
      <p:sp>
        <p:nvSpPr>
          <p:cNvPr id="21" name="Text 19"/>
          <p:cNvSpPr/>
          <p:nvPr/>
        </p:nvSpPr>
        <p:spPr>
          <a:xfrm>
            <a:off x="5321808" y="3273552"/>
            <a:ext cx="3108960" cy="713232"/>
          </a:xfrm>
          <a:prstGeom prst="rect">
            <a:avLst/>
          </a:prstGeom>
          <a:noFill/>
          <a:ln/>
        </p:spPr>
        <p:txBody>
          <a:bodyPr wrap="square" lIns="0" tIns="0" rIns="0" bIns="0" rtlCol="0" anchor="ctr"/>
          <a:lstStyle/>
          <a:p>
            <a:pPr indent="0" marL="0">
              <a:buNone/>
            </a:pPr>
            <a:r>
              <a:rPr lang="en-US" sz="1200" dirty="0">
                <a:solidFill>
                  <a:srgbClr val="3C4047"/>
                </a:solidFill>
                <a:latin typeface="Cambria" pitchFamily="34" charset="0"/>
                <a:ea typeface="Cambria" pitchFamily="34" charset="-122"/>
                <a:cs typeface="Cambria" pitchFamily="34" charset="-120"/>
              </a:rPr>
              <a:t>sample  =  1  +  0  =  1</a:t>
            </a:r>
            <a:endParaRPr lang="en-US" sz="1200" dirty="0"/>
          </a:p>
        </p:txBody>
      </p:sp>
      <p:sp>
        <p:nvSpPr>
          <p:cNvPr id="22" name="Text 20"/>
          <p:cNvSpPr/>
          <p:nvPr/>
        </p:nvSpPr>
        <p:spPr>
          <a:xfrm>
            <a:off x="8522208" y="3273552"/>
            <a:ext cx="2834640" cy="713232"/>
          </a:xfrm>
          <a:prstGeom prst="rect">
            <a:avLst/>
          </a:prstGeom>
          <a:noFill/>
          <a:ln/>
        </p:spPr>
        <p:txBody>
          <a:bodyPr wrap="square" lIns="0" tIns="0" rIns="0" bIns="0" rtlCol="0" anchor="ctr"/>
          <a:lstStyle/>
          <a:p>
            <a:pPr indent="0" marL="0">
              <a:buNone/>
            </a:pPr>
            <a:r>
              <a:rPr lang="en-US" sz="1200" b="1" dirty="0">
                <a:solidFill>
                  <a:srgbClr val="1B7F5A"/>
                </a:solidFill>
                <a:latin typeface="Cambria" pitchFamily="34" charset="0"/>
                <a:ea typeface="Cambria" pitchFamily="34" charset="-122"/>
                <a:cs typeface="Cambria" pitchFamily="34" charset="-120"/>
              </a:rPr>
              <a:t>Q  </a:t>
            </a:r>
            <a:pPr indent="0" marL="0">
              <a:buNone/>
            </a:pPr>
            <a:r>
              <a:rPr lang="en-US" sz="1500" b="1" dirty="0">
                <a:solidFill>
                  <a:srgbClr val="1B7F5A"/>
                </a:solidFill>
                <a:latin typeface="Calibri" pitchFamily="34" charset="0"/>
                <a:ea typeface="Calibri" pitchFamily="34" charset="-122"/>
                <a:cs typeface="Calibri" pitchFamily="34" charset="-120"/>
              </a:rPr>
              <a:t>←</a:t>
            </a:r>
            <a:pPr indent="0" marL="0">
              <a:buNone/>
            </a:pPr>
            <a:r>
              <a:rPr lang="en-US" sz="1200" b="1" dirty="0">
                <a:solidFill>
                  <a:srgbClr val="1B7F5A"/>
                </a:solidFill>
                <a:latin typeface="Cambria" pitchFamily="34" charset="0"/>
                <a:ea typeface="Cambria" pitchFamily="34" charset="-122"/>
                <a:cs typeface="Cambria" pitchFamily="34" charset="-120"/>
              </a:rPr>
              <a:t>  0.5(0) + 0.5(1)  =  0.50</a:t>
            </a:r>
            <a:endParaRPr lang="en-US" sz="1200" dirty="0"/>
          </a:p>
        </p:txBody>
      </p:sp>
      <p:sp>
        <p:nvSpPr>
          <p:cNvPr id="23" name="Shape 21"/>
          <p:cNvSpPr/>
          <p:nvPr/>
        </p:nvSpPr>
        <p:spPr>
          <a:xfrm>
            <a:off x="566928" y="4059936"/>
            <a:ext cx="11057839" cy="713232"/>
          </a:xfrm>
          <a:prstGeom prst="roundRect">
            <a:avLst>
              <a:gd name="adj" fmla="val 11538"/>
            </a:avLst>
          </a:prstGeom>
          <a:solidFill>
            <a:srgbClr val="E8F2ED"/>
          </a:solidFill>
          <a:ln/>
        </p:spPr>
      </p:sp>
      <p:sp>
        <p:nvSpPr>
          <p:cNvPr id="24" name="Text 22"/>
          <p:cNvSpPr/>
          <p:nvPr/>
        </p:nvSpPr>
        <p:spPr>
          <a:xfrm>
            <a:off x="786384" y="4059936"/>
            <a:ext cx="914400" cy="713232"/>
          </a:xfrm>
          <a:prstGeom prst="rect">
            <a:avLst/>
          </a:prstGeom>
          <a:noFill/>
          <a:ln/>
        </p:spPr>
        <p:txBody>
          <a:bodyPr wrap="square" lIns="0" tIns="0" rIns="0" bIns="0" rtlCol="0" anchor="ctr"/>
          <a:lstStyle/>
          <a:p>
            <a:pPr indent="0" marL="0">
              <a:buNone/>
            </a:pPr>
            <a:r>
              <a:rPr lang="en-US" sz="1150" b="1" dirty="0">
                <a:solidFill>
                  <a:srgbClr val="53565A"/>
                </a:solidFill>
                <a:latin typeface="Calibri" pitchFamily="34" charset="0"/>
                <a:ea typeface="Calibri" pitchFamily="34" charset="-122"/>
                <a:cs typeface="Calibri" pitchFamily="34" charset="-120"/>
              </a:rPr>
              <a:t>Episode 2</a:t>
            </a:r>
            <a:endParaRPr lang="en-US" sz="1150" dirty="0"/>
          </a:p>
        </p:txBody>
      </p:sp>
      <p:sp>
        <p:nvSpPr>
          <p:cNvPr id="25" name="Text 23"/>
          <p:cNvSpPr/>
          <p:nvPr/>
        </p:nvSpPr>
        <p:spPr>
          <a:xfrm>
            <a:off x="1755648" y="4059936"/>
            <a:ext cx="2651760" cy="713232"/>
          </a:xfrm>
          <a:prstGeom prst="rect">
            <a:avLst/>
          </a:prstGeom>
          <a:noFill/>
          <a:ln/>
        </p:spPr>
        <p:txBody>
          <a:bodyPr wrap="square" lIns="0" tIns="0" rIns="0" bIns="0" rtlCol="0" anchor="ctr"/>
          <a:lstStyle/>
          <a:p>
            <a:pPr indent="0" marL="0">
              <a:buNone/>
            </a:pPr>
            <a:r>
              <a:rPr lang="en-US" sz="1200" dirty="0">
                <a:solidFill>
                  <a:srgbClr val="3C4047"/>
                </a:solidFill>
                <a:latin typeface="Calibri" pitchFamily="34" charset="0"/>
                <a:ea typeface="Calibri" pitchFamily="34" charset="-122"/>
                <a:cs typeface="Calibri" pitchFamily="34" charset="-120"/>
              </a:rPr>
              <a:t>east into that 0.50 square</a:t>
            </a:r>
            <a:endParaRPr lang="en-US" sz="1200" dirty="0"/>
          </a:p>
        </p:txBody>
      </p:sp>
      <p:sp>
        <p:nvSpPr>
          <p:cNvPr id="26" name="Text 24"/>
          <p:cNvSpPr/>
          <p:nvPr/>
        </p:nvSpPr>
        <p:spPr>
          <a:xfrm>
            <a:off x="4443984" y="4059936"/>
            <a:ext cx="822960" cy="713232"/>
          </a:xfrm>
          <a:prstGeom prst="rect">
            <a:avLst/>
          </a:prstGeom>
          <a:noFill/>
          <a:ln/>
        </p:spPr>
        <p:txBody>
          <a:bodyPr wrap="square" lIns="0" tIns="0" rIns="0" bIns="0" rtlCol="0" anchor="ctr"/>
          <a:lstStyle/>
          <a:p>
            <a:pPr indent="0" marL="0">
              <a:buNone/>
            </a:pPr>
            <a:r>
              <a:rPr lang="en-US" sz="1150" dirty="0">
                <a:solidFill>
                  <a:srgbClr val="53565A"/>
                </a:solidFill>
                <a:latin typeface="Courier New" pitchFamily="34" charset="0"/>
                <a:ea typeface="Courier New" pitchFamily="34" charset="-122"/>
                <a:cs typeface="Courier New" pitchFamily="34" charset="-120"/>
              </a:rPr>
              <a:t>old 0</a:t>
            </a:r>
            <a:endParaRPr lang="en-US" sz="1150" dirty="0"/>
          </a:p>
        </p:txBody>
      </p:sp>
      <p:sp>
        <p:nvSpPr>
          <p:cNvPr id="27" name="Text 25"/>
          <p:cNvSpPr/>
          <p:nvPr/>
        </p:nvSpPr>
        <p:spPr>
          <a:xfrm>
            <a:off x="5321808" y="4059936"/>
            <a:ext cx="3108960" cy="713232"/>
          </a:xfrm>
          <a:prstGeom prst="rect">
            <a:avLst/>
          </a:prstGeom>
          <a:noFill/>
          <a:ln/>
        </p:spPr>
        <p:txBody>
          <a:bodyPr wrap="square" lIns="0" tIns="0" rIns="0" bIns="0" rtlCol="0" anchor="ctr"/>
          <a:lstStyle/>
          <a:p>
            <a:pPr indent="0" marL="0">
              <a:buNone/>
            </a:pPr>
            <a:r>
              <a:rPr lang="en-US" sz="1200" dirty="0">
                <a:solidFill>
                  <a:srgbClr val="3C4047"/>
                </a:solidFill>
                <a:latin typeface="Cambria" pitchFamily="34" charset="0"/>
                <a:ea typeface="Cambria" pitchFamily="34" charset="-122"/>
                <a:cs typeface="Cambria" pitchFamily="34" charset="-120"/>
              </a:rPr>
              <a:t>sample  =  0  +  0.50  =  0.50</a:t>
            </a:r>
            <a:endParaRPr lang="en-US" sz="1200" dirty="0"/>
          </a:p>
        </p:txBody>
      </p:sp>
      <p:sp>
        <p:nvSpPr>
          <p:cNvPr id="28" name="Text 26"/>
          <p:cNvSpPr/>
          <p:nvPr/>
        </p:nvSpPr>
        <p:spPr>
          <a:xfrm>
            <a:off x="8522208" y="4059936"/>
            <a:ext cx="2834640" cy="713232"/>
          </a:xfrm>
          <a:prstGeom prst="rect">
            <a:avLst/>
          </a:prstGeom>
          <a:noFill/>
          <a:ln/>
        </p:spPr>
        <p:txBody>
          <a:bodyPr wrap="square" lIns="0" tIns="0" rIns="0" bIns="0" rtlCol="0" anchor="ctr"/>
          <a:lstStyle/>
          <a:p>
            <a:pPr indent="0" marL="0">
              <a:buNone/>
            </a:pPr>
            <a:r>
              <a:rPr lang="en-US" sz="1200" b="1" dirty="0">
                <a:solidFill>
                  <a:srgbClr val="1B7F5A"/>
                </a:solidFill>
                <a:latin typeface="Cambria" pitchFamily="34" charset="0"/>
                <a:ea typeface="Cambria" pitchFamily="34" charset="-122"/>
                <a:cs typeface="Cambria" pitchFamily="34" charset="-120"/>
              </a:rPr>
              <a:t>Q  </a:t>
            </a:r>
            <a:pPr indent="0" marL="0">
              <a:buNone/>
            </a:pPr>
            <a:r>
              <a:rPr lang="en-US" sz="1500" b="1" dirty="0">
                <a:solidFill>
                  <a:srgbClr val="1B7F5A"/>
                </a:solidFill>
                <a:latin typeface="Calibri" pitchFamily="34" charset="0"/>
                <a:ea typeface="Calibri" pitchFamily="34" charset="-122"/>
                <a:cs typeface="Calibri" pitchFamily="34" charset="-120"/>
              </a:rPr>
              <a:t>←</a:t>
            </a:r>
            <a:pPr indent="0" marL="0">
              <a:buNone/>
            </a:pPr>
            <a:r>
              <a:rPr lang="en-US" sz="1200" b="1" dirty="0">
                <a:solidFill>
                  <a:srgbClr val="1B7F5A"/>
                </a:solidFill>
                <a:latin typeface="Cambria" pitchFamily="34" charset="0"/>
                <a:ea typeface="Cambria" pitchFamily="34" charset="-122"/>
                <a:cs typeface="Cambria" pitchFamily="34" charset="-120"/>
              </a:rPr>
              <a:t>  0.5(0) + 0.5(0.5)  =  0.25</a:t>
            </a:r>
            <a:endParaRPr lang="en-US" sz="1200" dirty="0"/>
          </a:p>
        </p:txBody>
      </p:sp>
      <p:sp>
        <p:nvSpPr>
          <p:cNvPr id="29" name="Shape 27"/>
          <p:cNvSpPr/>
          <p:nvPr/>
        </p:nvSpPr>
        <p:spPr>
          <a:xfrm>
            <a:off x="566928" y="4846320"/>
            <a:ext cx="11057839" cy="713232"/>
          </a:xfrm>
          <a:prstGeom prst="roundRect">
            <a:avLst>
              <a:gd name="adj" fmla="val 11538"/>
            </a:avLst>
          </a:prstGeom>
          <a:solidFill>
            <a:srgbClr val="E8F2ED"/>
          </a:solidFill>
          <a:ln/>
        </p:spPr>
      </p:sp>
      <p:sp>
        <p:nvSpPr>
          <p:cNvPr id="30" name="Text 28"/>
          <p:cNvSpPr/>
          <p:nvPr/>
        </p:nvSpPr>
        <p:spPr>
          <a:xfrm>
            <a:off x="786384" y="4846320"/>
            <a:ext cx="914400" cy="713232"/>
          </a:xfrm>
          <a:prstGeom prst="rect">
            <a:avLst/>
          </a:prstGeom>
          <a:noFill/>
          <a:ln/>
        </p:spPr>
        <p:txBody>
          <a:bodyPr wrap="square" lIns="0" tIns="0" rIns="0" bIns="0" rtlCol="0" anchor="ctr"/>
          <a:lstStyle/>
          <a:p>
            <a:pPr indent="0" marL="0">
              <a:buNone/>
            </a:pPr>
            <a:r>
              <a:rPr lang="en-US" sz="1150" b="1" dirty="0">
                <a:solidFill>
                  <a:srgbClr val="53565A"/>
                </a:solidFill>
                <a:latin typeface="Calibri" pitchFamily="34" charset="0"/>
                <a:ea typeface="Calibri" pitchFamily="34" charset="-122"/>
                <a:cs typeface="Calibri" pitchFamily="34" charset="-120"/>
              </a:rPr>
              <a:t>Episode 2</a:t>
            </a:r>
            <a:endParaRPr lang="en-US" sz="1150" dirty="0"/>
          </a:p>
        </p:txBody>
      </p:sp>
      <p:sp>
        <p:nvSpPr>
          <p:cNvPr id="31" name="Text 29"/>
          <p:cNvSpPr/>
          <p:nvPr/>
        </p:nvSpPr>
        <p:spPr>
          <a:xfrm>
            <a:off x="1755648" y="4846320"/>
            <a:ext cx="2651760" cy="713232"/>
          </a:xfrm>
          <a:prstGeom prst="rect">
            <a:avLst/>
          </a:prstGeom>
          <a:noFill/>
          <a:ln/>
        </p:spPr>
        <p:txBody>
          <a:bodyPr wrap="square" lIns="0" tIns="0" rIns="0" bIns="0" rtlCol="0" anchor="ctr"/>
          <a:lstStyle/>
          <a:p>
            <a:pPr indent="0" marL="0">
              <a:buNone/>
            </a:pPr>
            <a:r>
              <a:rPr lang="en-US" sz="1200" dirty="0">
                <a:solidFill>
                  <a:srgbClr val="3C4047"/>
                </a:solidFill>
                <a:latin typeface="Calibri" pitchFamily="34" charset="0"/>
                <a:ea typeface="Calibri" pitchFamily="34" charset="-122"/>
                <a:cs typeface="Calibri" pitchFamily="34" charset="-120"/>
              </a:rPr>
              <a:t>exit again</a:t>
            </a:r>
            <a:endParaRPr lang="en-US" sz="1200" dirty="0"/>
          </a:p>
        </p:txBody>
      </p:sp>
      <p:sp>
        <p:nvSpPr>
          <p:cNvPr id="32" name="Text 30"/>
          <p:cNvSpPr/>
          <p:nvPr/>
        </p:nvSpPr>
        <p:spPr>
          <a:xfrm>
            <a:off x="4443984" y="4846320"/>
            <a:ext cx="822960" cy="713232"/>
          </a:xfrm>
          <a:prstGeom prst="rect">
            <a:avLst/>
          </a:prstGeom>
          <a:noFill/>
          <a:ln/>
        </p:spPr>
        <p:txBody>
          <a:bodyPr wrap="square" lIns="0" tIns="0" rIns="0" bIns="0" rtlCol="0" anchor="ctr"/>
          <a:lstStyle/>
          <a:p>
            <a:pPr indent="0" marL="0">
              <a:buNone/>
            </a:pPr>
            <a:r>
              <a:rPr lang="en-US" sz="1150" dirty="0">
                <a:solidFill>
                  <a:srgbClr val="53565A"/>
                </a:solidFill>
                <a:latin typeface="Courier New" pitchFamily="34" charset="0"/>
                <a:ea typeface="Courier New" pitchFamily="34" charset="-122"/>
                <a:cs typeface="Courier New" pitchFamily="34" charset="-120"/>
              </a:rPr>
              <a:t>old 0.50</a:t>
            </a:r>
            <a:endParaRPr lang="en-US" sz="1150" dirty="0"/>
          </a:p>
        </p:txBody>
      </p:sp>
      <p:sp>
        <p:nvSpPr>
          <p:cNvPr id="33" name="Text 31"/>
          <p:cNvSpPr/>
          <p:nvPr/>
        </p:nvSpPr>
        <p:spPr>
          <a:xfrm>
            <a:off x="5321808" y="4846320"/>
            <a:ext cx="3108960" cy="713232"/>
          </a:xfrm>
          <a:prstGeom prst="rect">
            <a:avLst/>
          </a:prstGeom>
          <a:noFill/>
          <a:ln/>
        </p:spPr>
        <p:txBody>
          <a:bodyPr wrap="square" lIns="0" tIns="0" rIns="0" bIns="0" rtlCol="0" anchor="ctr"/>
          <a:lstStyle/>
          <a:p>
            <a:pPr indent="0" marL="0">
              <a:buNone/>
            </a:pPr>
            <a:r>
              <a:rPr lang="en-US" sz="1200" dirty="0">
                <a:solidFill>
                  <a:srgbClr val="3C4047"/>
                </a:solidFill>
                <a:latin typeface="Cambria" pitchFamily="34" charset="0"/>
                <a:ea typeface="Cambria" pitchFamily="34" charset="-122"/>
                <a:cs typeface="Cambria" pitchFamily="34" charset="-120"/>
              </a:rPr>
              <a:t>sample  =  1  +  0  =  1</a:t>
            </a:r>
            <a:endParaRPr lang="en-US" sz="1200" dirty="0"/>
          </a:p>
        </p:txBody>
      </p:sp>
      <p:sp>
        <p:nvSpPr>
          <p:cNvPr id="34" name="Text 32"/>
          <p:cNvSpPr/>
          <p:nvPr/>
        </p:nvSpPr>
        <p:spPr>
          <a:xfrm>
            <a:off x="8522208" y="4846320"/>
            <a:ext cx="2834640" cy="713232"/>
          </a:xfrm>
          <a:prstGeom prst="rect">
            <a:avLst/>
          </a:prstGeom>
          <a:noFill/>
          <a:ln/>
        </p:spPr>
        <p:txBody>
          <a:bodyPr wrap="square" lIns="0" tIns="0" rIns="0" bIns="0" rtlCol="0" anchor="ctr"/>
          <a:lstStyle/>
          <a:p>
            <a:pPr indent="0" marL="0">
              <a:buNone/>
            </a:pPr>
            <a:r>
              <a:rPr lang="en-US" sz="1200" b="1" dirty="0">
                <a:solidFill>
                  <a:srgbClr val="1B7F5A"/>
                </a:solidFill>
                <a:latin typeface="Cambria" pitchFamily="34" charset="0"/>
                <a:ea typeface="Cambria" pitchFamily="34" charset="-122"/>
                <a:cs typeface="Cambria" pitchFamily="34" charset="-120"/>
              </a:rPr>
              <a:t>Q  </a:t>
            </a:r>
            <a:pPr indent="0" marL="0">
              <a:buNone/>
            </a:pPr>
            <a:r>
              <a:rPr lang="en-US" sz="1500" b="1" dirty="0">
                <a:solidFill>
                  <a:srgbClr val="1B7F5A"/>
                </a:solidFill>
                <a:latin typeface="Calibri" pitchFamily="34" charset="0"/>
                <a:ea typeface="Calibri" pitchFamily="34" charset="-122"/>
                <a:cs typeface="Calibri" pitchFamily="34" charset="-120"/>
              </a:rPr>
              <a:t>←</a:t>
            </a:r>
            <a:pPr indent="0" marL="0">
              <a:buNone/>
            </a:pPr>
            <a:r>
              <a:rPr lang="en-US" sz="1200" b="1" dirty="0">
                <a:solidFill>
                  <a:srgbClr val="1B7F5A"/>
                </a:solidFill>
                <a:latin typeface="Cambria" pitchFamily="34" charset="0"/>
                <a:ea typeface="Cambria" pitchFamily="34" charset="-122"/>
                <a:cs typeface="Cambria" pitchFamily="34" charset="-120"/>
              </a:rPr>
              <a:t>  0.5(0.5) + 0.5(1)  =  0.75</a:t>
            </a:r>
            <a:endParaRPr lang="en-US" sz="1200" dirty="0"/>
          </a:p>
        </p:txBody>
      </p:sp>
      <p:sp>
        <p:nvSpPr>
          <p:cNvPr id="35" name="Shape 33"/>
          <p:cNvSpPr/>
          <p:nvPr/>
        </p:nvSpPr>
        <p:spPr>
          <a:xfrm>
            <a:off x="566928" y="5687568"/>
            <a:ext cx="11057839" cy="603504"/>
          </a:xfrm>
          <a:prstGeom prst="roundRect">
            <a:avLst>
              <a:gd name="adj" fmla="val 13636"/>
            </a:avLst>
          </a:prstGeom>
          <a:solidFill>
            <a:srgbClr val="FBEAED"/>
          </a:solidFill>
          <a:ln/>
        </p:spPr>
      </p:sp>
      <p:sp>
        <p:nvSpPr>
          <p:cNvPr id="36" name="Shape 34"/>
          <p:cNvSpPr/>
          <p:nvPr/>
        </p:nvSpPr>
        <p:spPr>
          <a:xfrm>
            <a:off x="786384" y="5897880"/>
            <a:ext cx="182880" cy="182880"/>
          </a:xfrm>
          <a:prstGeom prst="ellipse">
            <a:avLst/>
          </a:prstGeom>
          <a:solidFill>
            <a:srgbClr val="C8102E"/>
          </a:solidFill>
          <a:ln/>
        </p:spPr>
      </p:sp>
      <p:sp>
        <p:nvSpPr>
          <p:cNvPr id="37" name="Text 35"/>
          <p:cNvSpPr/>
          <p:nvPr/>
        </p:nvSpPr>
        <p:spPr>
          <a:xfrm>
            <a:off x="1115568" y="5687568"/>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Nothing happens at all until a real reward is collected. Then it walks backward, one state per visit.</a:t>
            </a:r>
            <a:endParaRPr lang="en-US" sz="1450" dirty="0"/>
          </a:p>
        </p:txBody>
      </p:sp>
      <p:sp>
        <p:nvSpPr>
          <p:cNvPr id="38" name="Text 36"/>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39" name="Text 37"/>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52</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Value spreading backward from the exit</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Four snapshots from one training run. Each triangle is one action's Q-value.</a:t>
            </a:r>
            <a:endParaRPr lang="en-US" sz="1400" dirty="0"/>
          </a:p>
        </p:txBody>
      </p:sp>
      <p:pic>
        <p:nvPicPr>
          <p:cNvPr id="4" name="Image 0" descr="/home/claude/comp469_rl/figures/fig13_q_propagation.png">    </p:cNvPr>
          <p:cNvPicPr>
            <a:picLocks noChangeAspect="1"/>
          </p:cNvPicPr>
          <p:nvPr/>
        </p:nvPicPr>
        <p:blipFill>
          <a:blip r:embed="rId1"/>
          <a:srcRect l="0" r="0" t="0" b="0"/>
          <a:stretch/>
        </p:blipFill>
        <p:spPr>
          <a:xfrm>
            <a:off x="384048" y="1572768"/>
            <a:ext cx="11430000" cy="3054096"/>
          </a:xfrm>
          <a:prstGeom prst="rect">
            <a:avLst/>
          </a:prstGeom>
        </p:spPr>
      </p:pic>
      <p:sp>
        <p:nvSpPr>
          <p:cNvPr id="5" name="Text 2"/>
          <p:cNvSpPr/>
          <p:nvPr/>
        </p:nvSpPr>
        <p:spPr>
          <a:xfrm>
            <a:off x="566928" y="4791456"/>
            <a:ext cx="11057839" cy="786384"/>
          </a:xfrm>
          <a:prstGeom prst="rect">
            <a:avLst/>
          </a:prstGeom>
          <a:noFill/>
          <a:ln/>
        </p:spPr>
        <p:txBody>
          <a:bodyPr wrap="square" lIns="0" tIns="0" rIns="0" bIns="0" rtlCol="0" anchor="t"/>
          <a:lstStyle/>
          <a:p>
            <a:pPr algn="l" indent="0" marL="0">
              <a:lnSpc>
                <a:spcPct val="114000"/>
              </a:lnSpc>
              <a:buNone/>
            </a:pPr>
            <a:r>
              <a:rPr lang="en-US" sz="1400" dirty="0">
                <a:solidFill>
                  <a:srgbClr val="3C4047"/>
                </a:solidFill>
                <a:latin typeface="Calibri" pitchFamily="34" charset="0"/>
                <a:ea typeface="Calibri" pitchFamily="34" charset="-122"/>
                <a:cs typeface="Calibri" pitchFamily="34" charset="-120"/>
              </a:rPr>
              <a:t>After 10 episodes only the squares adjacent to the terminals know anything. By 50 the good news has reached the middle of the board. By 2,000 the whole grid has coherent values and the greedy path is visible as a chain of the darkest green triangles.</a:t>
            </a:r>
            <a:endParaRPr lang="en-US" sz="1400" dirty="0"/>
          </a:p>
        </p:txBody>
      </p:sp>
      <p:sp>
        <p:nvSpPr>
          <p:cNvPr id="6" name="Shape 3"/>
          <p:cNvSpPr/>
          <p:nvPr/>
        </p:nvSpPr>
        <p:spPr>
          <a:xfrm>
            <a:off x="566928" y="5669280"/>
            <a:ext cx="11057839" cy="603504"/>
          </a:xfrm>
          <a:prstGeom prst="roundRect">
            <a:avLst>
              <a:gd name="adj" fmla="val 13636"/>
            </a:avLst>
          </a:prstGeom>
          <a:solidFill>
            <a:srgbClr val="FBEAED"/>
          </a:solidFill>
          <a:ln/>
        </p:spPr>
      </p:sp>
      <p:sp>
        <p:nvSpPr>
          <p:cNvPr id="7" name="Shape 4"/>
          <p:cNvSpPr/>
          <p:nvPr/>
        </p:nvSpPr>
        <p:spPr>
          <a:xfrm>
            <a:off x="786384" y="5879592"/>
            <a:ext cx="182880" cy="182880"/>
          </a:xfrm>
          <a:prstGeom prst="ellipse">
            <a:avLst/>
          </a:prstGeom>
          <a:solidFill>
            <a:srgbClr val="C8102E"/>
          </a:solidFill>
          <a:ln/>
        </p:spPr>
      </p:sp>
      <p:sp>
        <p:nvSpPr>
          <p:cNvPr id="8" name="Text 5"/>
          <p:cNvSpPr/>
          <p:nvPr/>
        </p:nvSpPr>
        <p:spPr>
          <a:xfrm>
            <a:off x="1115568" y="5669280"/>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Nobody told the agent where the exit was. It found out, then told its neighbours, who told theirs.</a:t>
            </a:r>
            <a:endParaRPr lang="en-US" sz="1450" dirty="0"/>
          </a:p>
        </p:txBody>
      </p:sp>
      <p:sp>
        <p:nvSpPr>
          <p:cNvPr id="9" name="Text 6"/>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0" name="Text 7"/>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53</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Q-learning converges to optimal even if you act badly</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THE SURPRISING PART</a:t>
            </a:r>
            <a:endParaRPr lang="en-US" sz="1050" dirty="0"/>
          </a:p>
        </p:txBody>
      </p:sp>
      <p:sp>
        <p:nvSpPr>
          <p:cNvPr id="4" name="Text 2"/>
          <p:cNvSpPr/>
          <p:nvPr/>
        </p:nvSpPr>
        <p:spPr>
          <a:xfrm>
            <a:off x="566928" y="1243584"/>
            <a:ext cx="11057839" cy="621792"/>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The bootstrap term is  maxₐ' Q(s', a')  — the best action known from the landing state, not the action the agent actually takes next. That one choice decouples what is learned from how the agent behaves.</a:t>
            </a:r>
            <a:endParaRPr lang="en-US" sz="1500" dirty="0"/>
          </a:p>
        </p:txBody>
      </p:sp>
      <p:sp>
        <p:nvSpPr>
          <p:cNvPr id="5" name="Shape 3"/>
          <p:cNvSpPr/>
          <p:nvPr/>
        </p:nvSpPr>
        <p:spPr>
          <a:xfrm>
            <a:off x="566928" y="1956816"/>
            <a:ext cx="11057839" cy="1097280"/>
          </a:xfrm>
          <a:prstGeom prst="roundRect">
            <a:avLst>
              <a:gd name="adj" fmla="val 7500"/>
            </a:avLst>
          </a:prstGeom>
          <a:solidFill>
            <a:srgbClr val="22252A"/>
          </a:solidFill>
          <a:ln/>
        </p:spPr>
      </p:sp>
      <p:sp>
        <p:nvSpPr>
          <p:cNvPr id="6" name="Text 4"/>
          <p:cNvSpPr/>
          <p:nvPr/>
        </p:nvSpPr>
        <p:spPr>
          <a:xfrm>
            <a:off x="932688" y="2066544"/>
            <a:ext cx="10326319"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You can act almost completely at random and still learn the optimal Q-values.</a:t>
            </a:r>
            <a:endParaRPr lang="en-US" sz="1900" dirty="0"/>
          </a:p>
        </p:txBody>
      </p:sp>
      <p:sp>
        <p:nvSpPr>
          <p:cNvPr id="7" name="Text 5"/>
          <p:cNvSpPr/>
          <p:nvPr/>
        </p:nvSpPr>
        <p:spPr>
          <a:xfrm>
            <a:off x="932688" y="2487168"/>
            <a:ext cx="10326319" cy="457200"/>
          </a:xfrm>
          <a:prstGeom prst="rect">
            <a:avLst/>
          </a:prstGeom>
          <a:noFill/>
          <a:ln/>
        </p:spPr>
        <p:txBody>
          <a:bodyPr wrap="square" lIns="0" tIns="0" rIns="0" bIns="0" rtlCol="0" anchor="t"/>
          <a:lstStyle/>
          <a:p>
            <a:pPr indent="0" marL="0">
              <a:buNone/>
            </a:pPr>
            <a:r>
              <a:rPr lang="en-US" sz="1350" dirty="0">
                <a:solidFill>
                  <a:srgbClr val="C3C7CB"/>
                </a:solidFill>
                <a:latin typeface="Calibri" pitchFamily="34" charset="0"/>
                <a:ea typeface="Calibri" pitchFamily="34" charset="-122"/>
                <a:cs typeface="Calibri" pitchFamily="34" charset="-120"/>
              </a:rPr>
              <a:t>Provided every state-action pair keeps getting tried, the estimates converge to Q*, no matter how poor the policy generating the experience is. This is called off-policy learning.</a:t>
            </a:r>
            <a:endParaRPr lang="en-US" sz="1350" dirty="0"/>
          </a:p>
        </p:txBody>
      </p:sp>
      <p:sp>
        <p:nvSpPr>
          <p:cNvPr id="8" name="Shape 6"/>
          <p:cNvSpPr/>
          <p:nvPr/>
        </p:nvSpPr>
        <p:spPr>
          <a:xfrm>
            <a:off x="566928" y="3236976"/>
            <a:ext cx="5358384" cy="1298448"/>
          </a:xfrm>
          <a:prstGeom prst="roundRect">
            <a:avLst>
              <a:gd name="adj" fmla="val 6338"/>
            </a:avLst>
          </a:prstGeom>
          <a:solidFill>
            <a:srgbClr val="F4F5F6"/>
          </a:solidFill>
          <a:ln/>
        </p:spPr>
      </p:sp>
      <p:sp>
        <p:nvSpPr>
          <p:cNvPr id="9" name="Text 7"/>
          <p:cNvSpPr/>
          <p:nvPr/>
        </p:nvSpPr>
        <p:spPr>
          <a:xfrm>
            <a:off x="841248" y="3364992"/>
            <a:ext cx="4809744" cy="329184"/>
          </a:xfrm>
          <a:prstGeom prst="rect">
            <a:avLst/>
          </a:prstGeom>
          <a:noFill/>
          <a:ln/>
        </p:spPr>
        <p:txBody>
          <a:bodyPr wrap="square" lIns="0" tIns="0" rIns="0" bIns="0" rtlCol="0" anchor="ctr"/>
          <a:lstStyle/>
          <a:p>
            <a:pPr indent="0" marL="0">
              <a:buNone/>
            </a:pPr>
            <a:r>
              <a:rPr lang="en-US" sz="1500" b="1" dirty="0">
                <a:solidFill>
                  <a:srgbClr val="53565A"/>
                </a:solidFill>
                <a:latin typeface="Cambria" pitchFamily="34" charset="0"/>
                <a:ea typeface="Cambria" pitchFamily="34" charset="-122"/>
                <a:cs typeface="Cambria" pitchFamily="34" charset="-120"/>
              </a:rPr>
              <a:t>Behaviour policy</a:t>
            </a:r>
            <a:endParaRPr lang="en-US" sz="1500" dirty="0"/>
          </a:p>
        </p:txBody>
      </p:sp>
      <p:sp>
        <p:nvSpPr>
          <p:cNvPr id="10" name="Text 8"/>
          <p:cNvSpPr/>
          <p:nvPr/>
        </p:nvSpPr>
        <p:spPr>
          <a:xfrm>
            <a:off x="841248" y="3712464"/>
            <a:ext cx="4791456" cy="731520"/>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What the agent actually does to generate experience. Can be random, can be terrible, can walk into the pit on purpose.</a:t>
            </a:r>
            <a:endParaRPr lang="en-US" sz="1300" dirty="0"/>
          </a:p>
        </p:txBody>
      </p:sp>
      <p:sp>
        <p:nvSpPr>
          <p:cNvPr id="11" name="Shape 9"/>
          <p:cNvSpPr/>
          <p:nvPr/>
        </p:nvSpPr>
        <p:spPr>
          <a:xfrm>
            <a:off x="6309360" y="3236976"/>
            <a:ext cx="5358384" cy="1298448"/>
          </a:xfrm>
          <a:prstGeom prst="roundRect">
            <a:avLst>
              <a:gd name="adj" fmla="val 6338"/>
            </a:avLst>
          </a:prstGeom>
          <a:solidFill>
            <a:srgbClr val="E8F2ED"/>
          </a:solidFill>
          <a:ln/>
        </p:spPr>
      </p:sp>
      <p:sp>
        <p:nvSpPr>
          <p:cNvPr id="12" name="Text 10"/>
          <p:cNvSpPr/>
          <p:nvPr/>
        </p:nvSpPr>
        <p:spPr>
          <a:xfrm>
            <a:off x="6583680" y="3364992"/>
            <a:ext cx="4809744" cy="329184"/>
          </a:xfrm>
          <a:prstGeom prst="rect">
            <a:avLst/>
          </a:prstGeom>
          <a:noFill/>
          <a:ln/>
        </p:spPr>
        <p:txBody>
          <a:bodyPr wrap="square" lIns="0" tIns="0" rIns="0" bIns="0" rtlCol="0" anchor="ctr"/>
          <a:lstStyle/>
          <a:p>
            <a:pPr indent="0" marL="0">
              <a:buNone/>
            </a:pPr>
            <a:r>
              <a:rPr lang="en-US" sz="1500" b="1" dirty="0">
                <a:solidFill>
                  <a:srgbClr val="1B7F5A"/>
                </a:solidFill>
                <a:latin typeface="Cambria" pitchFamily="34" charset="0"/>
                <a:ea typeface="Cambria" pitchFamily="34" charset="-122"/>
                <a:cs typeface="Cambria" pitchFamily="34" charset="-120"/>
              </a:rPr>
              <a:t>Target policy</a:t>
            </a:r>
            <a:endParaRPr lang="en-US" sz="1500" dirty="0"/>
          </a:p>
        </p:txBody>
      </p:sp>
      <p:sp>
        <p:nvSpPr>
          <p:cNvPr id="13" name="Text 11"/>
          <p:cNvSpPr/>
          <p:nvPr/>
        </p:nvSpPr>
        <p:spPr>
          <a:xfrm>
            <a:off x="6583680" y="3712464"/>
            <a:ext cx="4791456" cy="731520"/>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What the agent is learning about: the greedy policy with respect to Q. Never actually executed during learning.</a:t>
            </a:r>
            <a:endParaRPr lang="en-US" sz="1300" dirty="0"/>
          </a:p>
        </p:txBody>
      </p:sp>
      <p:sp>
        <p:nvSpPr>
          <p:cNvPr id="14" name="Shape 12"/>
          <p:cNvSpPr/>
          <p:nvPr/>
        </p:nvSpPr>
        <p:spPr>
          <a:xfrm>
            <a:off x="566928" y="4700016"/>
            <a:ext cx="11057839" cy="914400"/>
          </a:xfrm>
          <a:prstGeom prst="roundRect">
            <a:avLst>
              <a:gd name="adj" fmla="val 9000"/>
            </a:avLst>
          </a:prstGeom>
          <a:solidFill>
            <a:srgbClr val="FBEAED"/>
          </a:solidFill>
          <a:ln/>
        </p:spPr>
      </p:sp>
      <p:sp>
        <p:nvSpPr>
          <p:cNvPr id="15" name="Text 13"/>
          <p:cNvSpPr/>
          <p:nvPr/>
        </p:nvSpPr>
        <p:spPr>
          <a:xfrm>
            <a:off x="859536" y="4791456"/>
            <a:ext cx="4023360" cy="310896"/>
          </a:xfrm>
          <a:prstGeom prst="rect">
            <a:avLst/>
          </a:prstGeom>
          <a:noFill/>
          <a:ln/>
        </p:spPr>
        <p:txBody>
          <a:bodyPr wrap="square" lIns="0" tIns="0" rIns="0" bIns="0" rtlCol="0" anchor="ctr"/>
          <a:lstStyle/>
          <a:p>
            <a:pPr indent="0" marL="0">
              <a:buNone/>
            </a:pPr>
            <a:r>
              <a:rPr lang="en-US" sz="1350" b="1" dirty="0">
                <a:solidFill>
                  <a:srgbClr val="C8102E"/>
                </a:solidFill>
                <a:latin typeface="Calibri" pitchFamily="34" charset="0"/>
                <a:ea typeface="Calibri" pitchFamily="34" charset="-122"/>
                <a:cs typeface="Calibri" pitchFamily="34" charset="-120"/>
              </a:rPr>
              <a:t>Contrast with TD value learning</a:t>
            </a:r>
            <a:endParaRPr lang="en-US" sz="1350" dirty="0"/>
          </a:p>
        </p:txBody>
      </p:sp>
      <p:sp>
        <p:nvSpPr>
          <p:cNvPr id="16" name="Text 14"/>
          <p:cNvSpPr/>
          <p:nvPr/>
        </p:nvSpPr>
        <p:spPr>
          <a:xfrm>
            <a:off x="859536" y="5102352"/>
            <a:ext cx="10472623" cy="457200"/>
          </a:xfrm>
          <a:prstGeom prst="rect">
            <a:avLst/>
          </a:prstGeom>
          <a:noFill/>
          <a:ln/>
        </p:spPr>
        <p:txBody>
          <a:bodyPr wrap="square" lIns="0" tIns="0" rIns="0" bIns="0" rtlCol="0" anchor="t"/>
          <a:lstStyle/>
          <a:p>
            <a:pPr indent="0" marL="0">
              <a:buNone/>
            </a:pPr>
            <a:r>
              <a:rPr lang="en-US" sz="1250" dirty="0">
                <a:solidFill>
                  <a:srgbClr val="8E0B20"/>
                </a:solidFill>
                <a:latin typeface="Calibri" pitchFamily="34" charset="0"/>
                <a:ea typeface="Calibri" pitchFamily="34" charset="-122"/>
                <a:cs typeface="Calibri" pitchFamily="34" charset="-120"/>
              </a:rPr>
              <a:t>With no max to shield it, plain TD would let a repeated bad experience drag down the predecessor's estimate, because it uses whatever actually happened. The max over Q-values is exactly what insulates a state's known good option from being corrupted by bad exploratory choices made out of the same landing state.</a:t>
            </a:r>
            <a:endParaRPr lang="en-US" sz="1250" dirty="0"/>
          </a:p>
        </p:txBody>
      </p:sp>
      <p:sp>
        <p:nvSpPr>
          <p:cNvPr id="17" name="Text 1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8" name="Text 1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54</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The same optimal answer from three different behaviours</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One implementation, three behaviour policies, error measured against Q* from value iteration.</a:t>
            </a:r>
            <a:endParaRPr lang="en-US" sz="1400" dirty="0"/>
          </a:p>
        </p:txBody>
      </p:sp>
      <p:pic>
        <p:nvPicPr>
          <p:cNvPr id="4" name="Image 0" descr="/home/claude/comp469_rl/figures/fig14_offpolicy.png">    </p:cNvPr>
          <p:cNvPicPr>
            <a:picLocks noChangeAspect="1"/>
          </p:cNvPicPr>
          <p:nvPr/>
        </p:nvPicPr>
        <p:blipFill>
          <a:blip r:embed="rId1"/>
          <a:srcRect l="0" r="0" t="0" b="0"/>
          <a:stretch/>
        </p:blipFill>
        <p:spPr>
          <a:xfrm>
            <a:off x="2011680" y="1591056"/>
            <a:ext cx="8138160" cy="3913632"/>
          </a:xfrm>
          <a:prstGeom prst="rect">
            <a:avLst/>
          </a:prstGeom>
        </p:spPr>
      </p:pic>
      <p:sp>
        <p:nvSpPr>
          <p:cNvPr id="5" name="Shape 2"/>
          <p:cNvSpPr/>
          <p:nvPr/>
        </p:nvSpPr>
        <p:spPr>
          <a:xfrm>
            <a:off x="566928" y="5632704"/>
            <a:ext cx="11057839" cy="603504"/>
          </a:xfrm>
          <a:prstGeom prst="roundRect">
            <a:avLst>
              <a:gd name="adj" fmla="val 13636"/>
            </a:avLst>
          </a:prstGeom>
          <a:solidFill>
            <a:srgbClr val="FBEAED"/>
          </a:solidFill>
          <a:ln/>
        </p:spPr>
      </p:sp>
      <p:sp>
        <p:nvSpPr>
          <p:cNvPr id="6" name="Shape 3"/>
          <p:cNvSpPr/>
          <p:nvPr/>
        </p:nvSpPr>
        <p:spPr>
          <a:xfrm>
            <a:off x="786384" y="5843016"/>
            <a:ext cx="182880" cy="182880"/>
          </a:xfrm>
          <a:prstGeom prst="ellipse">
            <a:avLst/>
          </a:prstGeom>
          <a:solidFill>
            <a:srgbClr val="C8102E"/>
          </a:solidFill>
          <a:ln/>
        </p:spPr>
      </p:sp>
      <p:sp>
        <p:nvSpPr>
          <p:cNvPr id="7" name="Text 4"/>
          <p:cNvSpPr/>
          <p:nvPr/>
        </p:nvSpPr>
        <p:spPr>
          <a:xfrm>
            <a:off x="1115568" y="5632704"/>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Acting badly changes how long learning takes. It does not change what is learned.</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55</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The guarantee has conditions</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Both are easy to violate, and both fail quietly rather than loudly.</a:t>
            </a:r>
            <a:endParaRPr lang="en-US" sz="1400" dirty="0"/>
          </a:p>
        </p:txBody>
      </p:sp>
      <p:pic>
        <p:nvPicPr>
          <p:cNvPr id="4" name="Image 0" descr="/home/claude/comp469_rl/figures/fig15_caveats.png">    </p:cNvPr>
          <p:cNvPicPr>
            <a:picLocks noChangeAspect="1"/>
          </p:cNvPicPr>
          <p:nvPr/>
        </p:nvPicPr>
        <p:blipFill>
          <a:blip r:embed="rId1"/>
          <a:srcRect l="0" r="0" t="0" b="0"/>
          <a:stretch/>
        </p:blipFill>
        <p:spPr>
          <a:xfrm>
            <a:off x="658368" y="1554480"/>
            <a:ext cx="6766560" cy="3566160"/>
          </a:xfrm>
          <a:prstGeom prst="rect">
            <a:avLst/>
          </a:prstGeom>
        </p:spPr>
      </p:pic>
      <p:sp>
        <p:nvSpPr>
          <p:cNvPr id="5" name="Shape 2"/>
          <p:cNvSpPr/>
          <p:nvPr/>
        </p:nvSpPr>
        <p:spPr>
          <a:xfrm>
            <a:off x="7626096" y="1591056"/>
            <a:ext cx="4005072" cy="1170432"/>
          </a:xfrm>
          <a:prstGeom prst="roundRect">
            <a:avLst>
              <a:gd name="adj" fmla="val 7031"/>
            </a:avLst>
          </a:prstGeom>
          <a:solidFill>
            <a:srgbClr val="F4F5F6"/>
          </a:solidFill>
          <a:ln/>
        </p:spPr>
      </p:sp>
      <p:sp>
        <p:nvSpPr>
          <p:cNvPr id="6" name="Shape 3"/>
          <p:cNvSpPr/>
          <p:nvPr/>
        </p:nvSpPr>
        <p:spPr>
          <a:xfrm>
            <a:off x="7845552" y="1773936"/>
            <a:ext cx="164592" cy="164592"/>
          </a:xfrm>
          <a:prstGeom prst="ellipse">
            <a:avLst/>
          </a:prstGeom>
          <a:solidFill>
            <a:srgbClr val="C8102E"/>
          </a:solidFill>
          <a:ln/>
        </p:spPr>
      </p:sp>
      <p:sp>
        <p:nvSpPr>
          <p:cNvPr id="7" name="Text 4"/>
          <p:cNvSpPr/>
          <p:nvPr/>
        </p:nvSpPr>
        <p:spPr>
          <a:xfrm>
            <a:off x="8101584" y="1682496"/>
            <a:ext cx="3383280" cy="347472"/>
          </a:xfrm>
          <a:prstGeom prst="rect">
            <a:avLst/>
          </a:prstGeom>
          <a:noFill/>
          <a:ln/>
        </p:spPr>
        <p:txBody>
          <a:bodyPr wrap="square" lIns="0" tIns="0" rIns="0" bIns="0" rtlCol="0" anchor="ctr"/>
          <a:lstStyle/>
          <a:p>
            <a:pPr indent="0" marL="0">
              <a:buNone/>
            </a:pPr>
            <a:r>
              <a:rPr lang="en-US" sz="1300" b="1" dirty="0">
                <a:solidFill>
                  <a:srgbClr val="C8102E"/>
                </a:solidFill>
                <a:latin typeface="Calibri" pitchFamily="34" charset="0"/>
                <a:ea typeface="Calibri" pitchFamily="34" charset="-122"/>
                <a:cs typeface="Calibri" pitchFamily="34" charset="-120"/>
              </a:rPr>
              <a:t>You have to explore enough</a:t>
            </a:r>
            <a:endParaRPr lang="en-US" sz="1300" dirty="0"/>
          </a:p>
        </p:txBody>
      </p:sp>
      <p:sp>
        <p:nvSpPr>
          <p:cNvPr id="8" name="Text 5"/>
          <p:cNvSpPr/>
          <p:nvPr/>
        </p:nvSpPr>
        <p:spPr>
          <a:xfrm>
            <a:off x="7845552" y="2048256"/>
            <a:ext cx="3657600" cy="640080"/>
          </a:xfrm>
          <a:prstGeom prst="rect">
            <a:avLst/>
          </a:prstGeom>
          <a:noFill/>
          <a:ln/>
        </p:spPr>
        <p:txBody>
          <a:bodyPr wrap="square" lIns="0" tIns="0" rIns="0" bIns="0" rtlCol="0" anchor="t"/>
          <a:lstStyle/>
          <a:p>
            <a:pPr indent="0" marL="0">
              <a:lnSpc>
                <a:spcPct val="106000"/>
              </a:lnSpc>
              <a:buNone/>
            </a:pPr>
            <a:r>
              <a:rPr lang="en-US" sz="1150" dirty="0">
                <a:solidFill>
                  <a:srgbClr val="3C4047"/>
                </a:solidFill>
                <a:latin typeface="Calibri" pitchFamily="34" charset="0"/>
                <a:ea typeface="Calibri" pitchFamily="34" charset="-122"/>
                <a:cs typeface="Calibri" pitchFamily="34" charset="-120"/>
              </a:rPr>
              <a:t>Every state-action pair must keep being tried. An agent that goes greedy too early stops sampling alternatives and locks in whatever it happened to believe.</a:t>
            </a:r>
            <a:endParaRPr lang="en-US" sz="1150" dirty="0"/>
          </a:p>
        </p:txBody>
      </p:sp>
      <p:sp>
        <p:nvSpPr>
          <p:cNvPr id="9" name="Shape 6"/>
          <p:cNvSpPr/>
          <p:nvPr/>
        </p:nvSpPr>
        <p:spPr>
          <a:xfrm>
            <a:off x="7626096" y="2852928"/>
            <a:ext cx="4005072" cy="1170432"/>
          </a:xfrm>
          <a:prstGeom prst="roundRect">
            <a:avLst>
              <a:gd name="adj" fmla="val 7031"/>
            </a:avLst>
          </a:prstGeom>
          <a:solidFill>
            <a:srgbClr val="F4F5F6"/>
          </a:solidFill>
          <a:ln/>
        </p:spPr>
      </p:sp>
      <p:sp>
        <p:nvSpPr>
          <p:cNvPr id="10" name="Shape 7"/>
          <p:cNvSpPr/>
          <p:nvPr/>
        </p:nvSpPr>
        <p:spPr>
          <a:xfrm>
            <a:off x="7845552" y="3035808"/>
            <a:ext cx="164592" cy="164592"/>
          </a:xfrm>
          <a:prstGeom prst="ellipse">
            <a:avLst/>
          </a:prstGeom>
          <a:solidFill>
            <a:srgbClr val="B8860B"/>
          </a:solidFill>
          <a:ln/>
        </p:spPr>
      </p:sp>
      <p:sp>
        <p:nvSpPr>
          <p:cNvPr id="11" name="Text 8"/>
          <p:cNvSpPr/>
          <p:nvPr/>
        </p:nvSpPr>
        <p:spPr>
          <a:xfrm>
            <a:off x="8101584" y="2944368"/>
            <a:ext cx="3383280" cy="347472"/>
          </a:xfrm>
          <a:prstGeom prst="rect">
            <a:avLst/>
          </a:prstGeom>
          <a:noFill/>
          <a:ln/>
        </p:spPr>
        <p:txBody>
          <a:bodyPr wrap="square" lIns="0" tIns="0" rIns="0" bIns="0"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α must shrink, but not too fast</a:t>
            </a:r>
            <a:endParaRPr lang="en-US" sz="1300" dirty="0"/>
          </a:p>
        </p:txBody>
      </p:sp>
      <p:sp>
        <p:nvSpPr>
          <p:cNvPr id="12" name="Text 9"/>
          <p:cNvSpPr/>
          <p:nvPr/>
        </p:nvSpPr>
        <p:spPr>
          <a:xfrm>
            <a:off x="7845552" y="3310128"/>
            <a:ext cx="3657600" cy="640080"/>
          </a:xfrm>
          <a:prstGeom prst="rect">
            <a:avLst/>
          </a:prstGeom>
          <a:noFill/>
          <a:ln/>
        </p:spPr>
        <p:txBody>
          <a:bodyPr wrap="square" lIns="0" tIns="0" rIns="0" bIns="0" rtlCol="0" anchor="t"/>
          <a:lstStyle/>
          <a:p>
            <a:pPr indent="0" marL="0">
              <a:lnSpc>
                <a:spcPct val="106000"/>
              </a:lnSpc>
              <a:buNone/>
            </a:pPr>
            <a:r>
              <a:rPr lang="en-US" sz="1150" dirty="0">
                <a:solidFill>
                  <a:srgbClr val="3C4047"/>
                </a:solidFill>
                <a:latin typeface="Calibri" pitchFamily="34" charset="0"/>
                <a:ea typeface="Calibri" pitchFamily="34" charset="-122"/>
                <a:cs typeface="Calibri" pitchFamily="34" charset="-120"/>
              </a:rPr>
              <a:t>A learning rate that never decreases leaves the estimates rattling around the true values forever. One that collapses too quickly freezes them before they arrive.</a:t>
            </a:r>
            <a:endParaRPr lang="en-US" sz="1150" dirty="0"/>
          </a:p>
        </p:txBody>
      </p:sp>
      <p:sp>
        <p:nvSpPr>
          <p:cNvPr id="13" name="Shape 10"/>
          <p:cNvSpPr/>
          <p:nvPr/>
        </p:nvSpPr>
        <p:spPr>
          <a:xfrm>
            <a:off x="7626096" y="4114800"/>
            <a:ext cx="4005072" cy="1170432"/>
          </a:xfrm>
          <a:prstGeom prst="roundRect">
            <a:avLst>
              <a:gd name="adj" fmla="val 7031"/>
            </a:avLst>
          </a:prstGeom>
          <a:solidFill>
            <a:srgbClr val="F4F5F6"/>
          </a:solidFill>
          <a:ln/>
        </p:spPr>
      </p:sp>
      <p:sp>
        <p:nvSpPr>
          <p:cNvPr id="14" name="Shape 11"/>
          <p:cNvSpPr/>
          <p:nvPr/>
        </p:nvSpPr>
        <p:spPr>
          <a:xfrm>
            <a:off x="7845552" y="4297680"/>
            <a:ext cx="164592" cy="164592"/>
          </a:xfrm>
          <a:prstGeom prst="ellipse">
            <a:avLst/>
          </a:prstGeom>
          <a:solidFill>
            <a:srgbClr val="1B7F5A"/>
          </a:solidFill>
          <a:ln/>
        </p:spPr>
      </p:sp>
      <p:sp>
        <p:nvSpPr>
          <p:cNvPr id="15" name="Text 12"/>
          <p:cNvSpPr/>
          <p:nvPr/>
        </p:nvSpPr>
        <p:spPr>
          <a:xfrm>
            <a:off x="8101584" y="4206240"/>
            <a:ext cx="3383280" cy="347472"/>
          </a:xfrm>
          <a:prstGeom prst="rect">
            <a:avLst/>
          </a:prstGeom>
          <a:noFill/>
          <a:ln/>
        </p:spPr>
        <p:txBody>
          <a:bodyPr wrap="square" lIns="0" tIns="0" rIns="0" bIns="0" rtlCol="0" anchor="ctr"/>
          <a:lstStyle/>
          <a:p>
            <a:pPr indent="0" marL="0">
              <a:buNone/>
            </a:pPr>
            <a:r>
              <a:rPr lang="en-US" sz="1300" b="1" dirty="0">
                <a:solidFill>
                  <a:srgbClr val="1B7F5A"/>
                </a:solidFill>
                <a:latin typeface="Calibri" pitchFamily="34" charset="0"/>
                <a:ea typeface="Calibri" pitchFamily="34" charset="-122"/>
                <a:cs typeface="Calibri" pitchFamily="34" charset="-120"/>
              </a:rPr>
              <a:t>In the limit, action selection does not matter</a:t>
            </a:r>
            <a:endParaRPr lang="en-US" sz="1300" dirty="0"/>
          </a:p>
        </p:txBody>
      </p:sp>
      <p:sp>
        <p:nvSpPr>
          <p:cNvPr id="16" name="Text 13"/>
          <p:cNvSpPr/>
          <p:nvPr/>
        </p:nvSpPr>
        <p:spPr>
          <a:xfrm>
            <a:off x="7845552" y="4572000"/>
            <a:ext cx="3657600" cy="640080"/>
          </a:xfrm>
          <a:prstGeom prst="rect">
            <a:avLst/>
          </a:prstGeom>
          <a:noFill/>
          <a:ln/>
        </p:spPr>
        <p:txBody>
          <a:bodyPr wrap="square" lIns="0" tIns="0" rIns="0" bIns="0" rtlCol="0" anchor="t"/>
          <a:lstStyle/>
          <a:p>
            <a:pPr indent="0" marL="0">
              <a:lnSpc>
                <a:spcPct val="106000"/>
              </a:lnSpc>
              <a:buNone/>
            </a:pPr>
            <a:r>
              <a:rPr lang="en-US" sz="1150" dirty="0">
                <a:solidFill>
                  <a:srgbClr val="3C4047"/>
                </a:solidFill>
                <a:latin typeface="Calibri" pitchFamily="34" charset="0"/>
                <a:ea typeface="Calibri" pitchFamily="34" charset="-122"/>
                <a:cs typeface="Calibri" pitchFamily="34" charset="-120"/>
              </a:rPr>
              <a:t>Given both conditions, how you choose actions affects only the speed.</a:t>
            </a:r>
            <a:endParaRPr lang="en-US" sz="1150" dirty="0"/>
          </a:p>
        </p:txBody>
      </p:sp>
      <p:sp>
        <p:nvSpPr>
          <p:cNvPr id="17" name="Shape 14"/>
          <p:cNvSpPr/>
          <p:nvPr/>
        </p:nvSpPr>
        <p:spPr>
          <a:xfrm>
            <a:off x="566928" y="5358384"/>
            <a:ext cx="11057839" cy="603504"/>
          </a:xfrm>
          <a:prstGeom prst="roundRect">
            <a:avLst>
              <a:gd name="adj" fmla="val 13636"/>
            </a:avLst>
          </a:prstGeom>
          <a:solidFill>
            <a:srgbClr val="F4F5F6"/>
          </a:solidFill>
          <a:ln/>
        </p:spPr>
      </p:sp>
      <p:sp>
        <p:nvSpPr>
          <p:cNvPr id="18" name="Shape 15"/>
          <p:cNvSpPr/>
          <p:nvPr/>
        </p:nvSpPr>
        <p:spPr>
          <a:xfrm>
            <a:off x="786384" y="5568696"/>
            <a:ext cx="182880" cy="182880"/>
          </a:xfrm>
          <a:prstGeom prst="ellipse">
            <a:avLst/>
          </a:prstGeom>
          <a:solidFill>
            <a:srgbClr val="53565A"/>
          </a:solidFill>
          <a:ln/>
        </p:spPr>
      </p:sp>
      <p:sp>
        <p:nvSpPr>
          <p:cNvPr id="19" name="Text 16"/>
          <p:cNvSpPr/>
          <p:nvPr/>
        </p:nvSpPr>
        <p:spPr>
          <a:xfrm>
            <a:off x="1115568" y="5358384"/>
            <a:ext cx="10289743" cy="603504"/>
          </a:xfrm>
          <a:prstGeom prst="rect">
            <a:avLst/>
          </a:prstGeom>
          <a:noFill/>
          <a:ln/>
        </p:spPr>
        <p:txBody>
          <a:bodyPr wrap="square" lIns="0" tIns="0" rIns="0" bIns="0" rtlCol="0" anchor="ctr"/>
          <a:lstStyle/>
          <a:p>
            <a:pPr indent="0" marL="0">
              <a:buNone/>
            </a:pPr>
            <a:r>
              <a:rPr lang="en-US" sz="1450" b="1" dirty="0">
                <a:solidFill>
                  <a:srgbClr val="3C4047"/>
                </a:solidFill>
                <a:latin typeface="Calibri" pitchFamily="34" charset="0"/>
                <a:ea typeface="Calibri" pitchFamily="34" charset="-122"/>
                <a:cs typeface="Calibri" pitchFamily="34" charset="-120"/>
              </a:rPr>
              <a:t>Both failures were produced with the same code as the previous slide. Only the exploration rate and α schedule changed.</a:t>
            </a:r>
            <a:endParaRPr lang="en-US" sz="1450" dirty="0"/>
          </a:p>
        </p:txBody>
      </p:sp>
      <p:sp>
        <p:nvSpPr>
          <p:cNvPr id="20" name="Text 17"/>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1" name="Text 18"/>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56</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Learned from experience versus computed from the model</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Left: Q-learning after 15,000 episodes of mostly random behaviour. Right: value iteration with full knowledge of T and R.</a:t>
            </a:r>
            <a:endParaRPr lang="en-US" sz="1400" dirty="0"/>
          </a:p>
        </p:txBody>
      </p:sp>
      <p:pic>
        <p:nvPicPr>
          <p:cNvPr id="4" name="Image 0" descr="/home/claude/comp469_rl/figures/fig16_final_q.png">    </p:cNvPr>
          <p:cNvPicPr>
            <a:picLocks noChangeAspect="1"/>
          </p:cNvPicPr>
          <p:nvPr/>
        </p:nvPicPr>
        <p:blipFill>
          <a:blip r:embed="rId1"/>
          <a:srcRect l="0" r="0" t="0" b="0"/>
          <a:stretch/>
        </p:blipFill>
        <p:spPr>
          <a:xfrm>
            <a:off x="566928" y="1609344"/>
            <a:ext cx="11064240" cy="3840480"/>
          </a:xfrm>
          <a:prstGeom prst="rect">
            <a:avLst/>
          </a:prstGeom>
        </p:spPr>
      </p:pic>
      <p:sp>
        <p:nvSpPr>
          <p:cNvPr id="5" name="Shape 2"/>
          <p:cNvSpPr/>
          <p:nvPr/>
        </p:nvSpPr>
        <p:spPr>
          <a:xfrm>
            <a:off x="566928" y="5596128"/>
            <a:ext cx="11057839" cy="603504"/>
          </a:xfrm>
          <a:prstGeom prst="roundRect">
            <a:avLst>
              <a:gd name="adj" fmla="val 13636"/>
            </a:avLst>
          </a:prstGeom>
          <a:solidFill>
            <a:srgbClr val="FBEAED"/>
          </a:solidFill>
          <a:ln/>
        </p:spPr>
      </p:sp>
      <p:sp>
        <p:nvSpPr>
          <p:cNvPr id="6" name="Shape 3"/>
          <p:cNvSpPr/>
          <p:nvPr/>
        </p:nvSpPr>
        <p:spPr>
          <a:xfrm>
            <a:off x="786384" y="5806440"/>
            <a:ext cx="182880" cy="182880"/>
          </a:xfrm>
          <a:prstGeom prst="ellipse">
            <a:avLst/>
          </a:prstGeom>
          <a:solidFill>
            <a:srgbClr val="C8102E"/>
          </a:solidFill>
          <a:ln/>
        </p:spPr>
      </p:sp>
      <p:sp>
        <p:nvSpPr>
          <p:cNvPr id="7" name="Text 4"/>
          <p:cNvSpPr/>
          <p:nvPr/>
        </p:nvSpPr>
        <p:spPr>
          <a:xfrm>
            <a:off x="1115568" y="5596128"/>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The agent never saw T or R. It recovered the same policy anyway, from nothing but observed transitions.</a:t>
            </a:r>
            <a:endParaRPr lang="en-US" sz="1450" dirty="0"/>
          </a:p>
        </p:txBody>
      </p:sp>
      <p:sp>
        <p:nvSpPr>
          <p:cNvPr id="8"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9"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57</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22252A"/>
        </a:solidFill>
      </p:bgPr>
    </p:bg>
    <p:spTree>
      <p:nvGrpSpPr>
        <p:cNvPr id="1" name=""/>
        <p:cNvGrpSpPr/>
        <p:nvPr/>
      </p:nvGrpSpPr>
      <p:grpSpPr>
        <a:xfrm>
          <a:off x="0" y="0"/>
          <a:ext cx="0" cy="0"/>
          <a:chOff x="0" y="0"/>
          <a:chExt cx="0" cy="0"/>
        </a:xfrm>
      </p:grpSpPr>
      <p:sp>
        <p:nvSpPr>
          <p:cNvPr id="2" name="Shape 0"/>
          <p:cNvSpPr/>
          <p:nvPr/>
        </p:nvSpPr>
        <p:spPr>
          <a:xfrm>
            <a:off x="566928" y="2212848"/>
            <a:ext cx="960120" cy="960120"/>
          </a:xfrm>
          <a:prstGeom prst="ellipse">
            <a:avLst/>
          </a:prstGeom>
          <a:solidFill>
            <a:srgbClr val="C8102E"/>
          </a:solidFill>
          <a:ln/>
        </p:spPr>
      </p:sp>
      <p:sp>
        <p:nvSpPr>
          <p:cNvPr id="3" name="Text 1"/>
          <p:cNvSpPr/>
          <p:nvPr/>
        </p:nvSpPr>
        <p:spPr>
          <a:xfrm>
            <a:off x="566928" y="2212848"/>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8</a:t>
            </a:r>
            <a:endParaRPr lang="en-US" sz="3400" dirty="0"/>
          </a:p>
        </p:txBody>
      </p:sp>
      <p:sp>
        <p:nvSpPr>
          <p:cNvPr id="4" name="Text 2"/>
          <p:cNvSpPr/>
          <p:nvPr/>
        </p:nvSpPr>
        <p:spPr>
          <a:xfrm>
            <a:off x="566928" y="3401568"/>
            <a:ext cx="9509760" cy="84124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Where this leaves off</a:t>
            </a:r>
            <a:endParaRPr lang="en-US" sz="3800" dirty="0"/>
          </a:p>
        </p:txBody>
      </p:sp>
      <p:sp>
        <p:nvSpPr>
          <p:cNvPr id="5" name="Text 3"/>
          <p:cNvSpPr/>
          <p:nvPr/>
        </p:nvSpPr>
        <p:spPr>
          <a:xfrm>
            <a:off x="566928" y="4315968"/>
            <a:ext cx="8778240" cy="731520"/>
          </a:xfrm>
          <a:prstGeom prst="rect">
            <a:avLst/>
          </a:prstGeom>
          <a:noFill/>
          <a:ln/>
        </p:spPr>
        <p:txBody>
          <a:bodyPr wrap="square" lIns="0" tIns="0" rIns="0" bIns="0" rtlCol="0" anchor="t"/>
          <a:lstStyle/>
          <a:p>
            <a:pPr indent="0" marL="0">
              <a:lnSpc>
                <a:spcPct val="115000"/>
              </a:lnSpc>
              <a:buNone/>
            </a:pPr>
            <a:r>
              <a:rPr lang="en-US" sz="1550" dirty="0">
                <a:solidFill>
                  <a:srgbClr val="C3C7CB"/>
                </a:solidFill>
                <a:latin typeface="Calibri" pitchFamily="34" charset="0"/>
                <a:ea typeface="Calibri" pitchFamily="34" charset="-122"/>
                <a:cs typeface="Calibri" pitchFamily="34" charset="-120"/>
              </a:rPr>
              <a:t>Q-learning tolerates a bad policy. It still needs some policy, and that policy has a decision to make on every step.</a:t>
            </a:r>
            <a:endParaRPr lang="en-US" sz="1550" dirty="0"/>
          </a:p>
        </p:txBody>
      </p:sp>
      <p:sp>
        <p:nvSpPr>
          <p:cNvPr id="6" name="Text 4"/>
          <p:cNvSpPr/>
          <p:nvPr/>
        </p:nvSpPr>
        <p:spPr>
          <a:xfrm>
            <a:off x="7418527" y="2304288"/>
            <a:ext cx="4206240" cy="365760"/>
          </a:xfrm>
          <a:prstGeom prst="rect">
            <a:avLst/>
          </a:prstGeom>
          <a:noFill/>
          <a:ln/>
        </p:spPr>
        <p:txBody>
          <a:bodyPr wrap="square" lIns="0" tIns="0" rIns="0" bIns="0" rtlCol="0" anchor="ctr"/>
          <a:lstStyle/>
          <a:p>
            <a:pPr algn="r" indent="0" marL="0">
              <a:buNone/>
            </a:pPr>
            <a:r>
              <a:rPr lang="en-US" sz="1200" dirty="0">
                <a:solidFill>
                  <a:srgbClr val="A7A8AA"/>
                </a:solidFill>
                <a:latin typeface="Calibri" pitchFamily="34" charset="0"/>
                <a:ea typeface="Calibri" pitchFamily="34" charset="-122"/>
                <a:cs typeface="Calibri" pitchFamily="34" charset="-120"/>
              </a:rPr>
              <a:t>AIMA 22.3.1, next lecture</a:t>
            </a:r>
            <a:endParaRPr lang="en-US" sz="1200" dirty="0"/>
          </a:p>
        </p:txBody>
      </p:sp>
      <p:sp>
        <p:nvSpPr>
          <p:cNvPr id="7" name="Text 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8" name="Text 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58</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Exploration versus exploitation</a:t>
            </a:r>
            <a:endParaRPr lang="en-US" sz="3000" dirty="0"/>
          </a:p>
        </p:txBody>
      </p:sp>
      <p:sp>
        <p:nvSpPr>
          <p:cNvPr id="3" name="Text 1"/>
          <p:cNvSpPr/>
          <p:nvPr/>
        </p:nvSpPr>
        <p:spPr>
          <a:xfrm>
            <a:off x="566928" y="1225296"/>
            <a:ext cx="11057839" cy="475488"/>
          </a:xfrm>
          <a:prstGeom prst="rect">
            <a:avLst/>
          </a:prstGeom>
          <a:noFill/>
          <a:ln/>
        </p:spPr>
        <p:txBody>
          <a:bodyPr wrap="square" lIns="0" tIns="0" rIns="0" bIns="0" rtlCol="0" anchor="t"/>
          <a:lstStyle/>
          <a:p>
            <a:pPr algn="l" indent="0" marL="0">
              <a:lnSpc>
                <a:spcPct val="114000"/>
              </a:lnSpc>
              <a:buNone/>
            </a:pPr>
            <a:r>
              <a:rPr lang="en-US" sz="1500" dirty="0">
                <a:solidFill>
                  <a:srgbClr val="3C4047"/>
                </a:solidFill>
                <a:latin typeface="Calibri" pitchFamily="34" charset="0"/>
                <a:ea typeface="Calibri" pitchFamily="34" charset="-122"/>
                <a:cs typeface="Calibri" pitchFamily="34" charset="-120"/>
              </a:rPr>
              <a:t>Q-learning converges regardless of how experience is generated, but something still has to generate it. On every single step that generator faces one choice.</a:t>
            </a:r>
            <a:endParaRPr lang="en-US" sz="1500" dirty="0"/>
          </a:p>
        </p:txBody>
      </p:sp>
      <p:sp>
        <p:nvSpPr>
          <p:cNvPr id="4" name="Shape 2"/>
          <p:cNvSpPr/>
          <p:nvPr/>
        </p:nvSpPr>
        <p:spPr>
          <a:xfrm>
            <a:off x="566928" y="1810512"/>
            <a:ext cx="5358384" cy="2084832"/>
          </a:xfrm>
          <a:prstGeom prst="roundRect">
            <a:avLst>
              <a:gd name="adj" fmla="val 3947"/>
            </a:avLst>
          </a:prstGeom>
          <a:solidFill>
            <a:srgbClr val="E8F2ED"/>
          </a:solidFill>
          <a:ln/>
        </p:spPr>
      </p:sp>
      <p:sp>
        <p:nvSpPr>
          <p:cNvPr id="5" name="Text 3"/>
          <p:cNvSpPr/>
          <p:nvPr/>
        </p:nvSpPr>
        <p:spPr>
          <a:xfrm>
            <a:off x="841248" y="1938528"/>
            <a:ext cx="4809744" cy="402336"/>
          </a:xfrm>
          <a:prstGeom prst="rect">
            <a:avLst/>
          </a:prstGeom>
          <a:noFill/>
          <a:ln/>
        </p:spPr>
        <p:txBody>
          <a:bodyPr wrap="square" lIns="0" tIns="0" rIns="0" bIns="0" rtlCol="0" anchor="ctr"/>
          <a:lstStyle/>
          <a:p>
            <a:pPr indent="0" marL="0">
              <a:buNone/>
            </a:pPr>
            <a:r>
              <a:rPr lang="en-US" sz="2000" b="1" dirty="0">
                <a:solidFill>
                  <a:srgbClr val="1B7F5A"/>
                </a:solidFill>
                <a:latin typeface="Cambria" pitchFamily="34" charset="0"/>
                <a:ea typeface="Cambria" pitchFamily="34" charset="-122"/>
                <a:cs typeface="Cambria" pitchFamily="34" charset="-120"/>
              </a:rPr>
              <a:t>Exploit</a:t>
            </a:r>
            <a:endParaRPr lang="en-US" sz="2000" dirty="0"/>
          </a:p>
        </p:txBody>
      </p:sp>
      <p:sp>
        <p:nvSpPr>
          <p:cNvPr id="6" name="Text 4"/>
          <p:cNvSpPr/>
          <p:nvPr/>
        </p:nvSpPr>
        <p:spPr>
          <a:xfrm>
            <a:off x="841248" y="2377440"/>
            <a:ext cx="4791456" cy="329184"/>
          </a:xfrm>
          <a:prstGeom prst="rect">
            <a:avLst/>
          </a:prstGeom>
          <a:noFill/>
          <a:ln/>
        </p:spPr>
        <p:txBody>
          <a:bodyPr wrap="square" lIns="0" tIns="0" rIns="0" bIns="0" rtlCol="0" anchor="ctr"/>
          <a:lstStyle/>
          <a:p>
            <a:pPr indent="0" marL="0">
              <a:buNone/>
            </a:pPr>
            <a:r>
              <a:rPr lang="en-US" sz="1350" b="1" dirty="0">
                <a:solidFill>
                  <a:srgbClr val="22252A"/>
                </a:solidFill>
                <a:latin typeface="Calibri" pitchFamily="34" charset="0"/>
                <a:ea typeface="Calibri" pitchFamily="34" charset="-122"/>
                <a:cs typeface="Calibri" pitchFamily="34" charset="-120"/>
              </a:rPr>
              <a:t>Take the action that currently looks best.</a:t>
            </a:r>
            <a:endParaRPr lang="en-US" sz="1350" dirty="0"/>
          </a:p>
        </p:txBody>
      </p:sp>
      <p:sp>
        <p:nvSpPr>
          <p:cNvPr id="7" name="Text 5"/>
          <p:cNvSpPr/>
          <p:nvPr/>
        </p:nvSpPr>
        <p:spPr>
          <a:xfrm>
            <a:off x="841248" y="2761488"/>
            <a:ext cx="4791456" cy="969264"/>
          </a:xfrm>
          <a:prstGeom prst="rect">
            <a:avLst/>
          </a:prstGeom>
          <a:noFill/>
          <a:ln/>
        </p:spPr>
        <p:txBody>
          <a:bodyPr wrap="square" lIns="0" tIns="0" rIns="0" bIns="0" rtlCol="0" anchor="t"/>
          <a:lstStyle/>
          <a:p>
            <a:pPr indent="0" marL="0">
              <a:lnSpc>
                <a:spcPct val="110000"/>
              </a:lnSpc>
              <a:buNone/>
            </a:pPr>
            <a:r>
              <a:rPr lang="en-US" sz="1250" dirty="0">
                <a:solidFill>
                  <a:srgbClr val="3C4047"/>
                </a:solidFill>
                <a:latin typeface="Calibri" pitchFamily="34" charset="0"/>
                <a:ea typeface="Calibri" pitchFamily="34" charset="-122"/>
                <a:cs typeface="Calibri" pitchFamily="34" charset="-120"/>
              </a:rPr>
              <a:t>Collects reward now. Learns nothing new. Risks committing to an option that only looks good because the alternatives were never properly tried.</a:t>
            </a:r>
            <a:endParaRPr lang="en-US" sz="1250" dirty="0"/>
          </a:p>
        </p:txBody>
      </p:sp>
      <p:sp>
        <p:nvSpPr>
          <p:cNvPr id="8" name="Shape 6"/>
          <p:cNvSpPr/>
          <p:nvPr/>
        </p:nvSpPr>
        <p:spPr>
          <a:xfrm>
            <a:off x="6309360" y="1810512"/>
            <a:ext cx="5358384" cy="2084832"/>
          </a:xfrm>
          <a:prstGeom prst="roundRect">
            <a:avLst>
              <a:gd name="adj" fmla="val 3947"/>
            </a:avLst>
          </a:prstGeom>
          <a:solidFill>
            <a:srgbClr val="E7EEF6"/>
          </a:solidFill>
          <a:ln/>
        </p:spPr>
      </p:sp>
      <p:sp>
        <p:nvSpPr>
          <p:cNvPr id="9" name="Text 7"/>
          <p:cNvSpPr/>
          <p:nvPr/>
        </p:nvSpPr>
        <p:spPr>
          <a:xfrm>
            <a:off x="6583680" y="1938528"/>
            <a:ext cx="4809744" cy="402336"/>
          </a:xfrm>
          <a:prstGeom prst="rect">
            <a:avLst/>
          </a:prstGeom>
          <a:noFill/>
          <a:ln/>
        </p:spPr>
        <p:txBody>
          <a:bodyPr wrap="square" lIns="0" tIns="0" rIns="0" bIns="0" rtlCol="0" anchor="ctr"/>
          <a:lstStyle/>
          <a:p>
            <a:pPr indent="0" marL="0">
              <a:buNone/>
            </a:pPr>
            <a:r>
              <a:rPr lang="en-US" sz="2000" b="1" dirty="0">
                <a:solidFill>
                  <a:srgbClr val="1C5D99"/>
                </a:solidFill>
                <a:latin typeface="Cambria" pitchFamily="34" charset="0"/>
                <a:ea typeface="Cambria" pitchFamily="34" charset="-122"/>
                <a:cs typeface="Cambria" pitchFamily="34" charset="-120"/>
              </a:rPr>
              <a:t>Explore</a:t>
            </a:r>
            <a:endParaRPr lang="en-US" sz="2000" dirty="0"/>
          </a:p>
        </p:txBody>
      </p:sp>
      <p:sp>
        <p:nvSpPr>
          <p:cNvPr id="10" name="Text 8"/>
          <p:cNvSpPr/>
          <p:nvPr/>
        </p:nvSpPr>
        <p:spPr>
          <a:xfrm>
            <a:off x="6583680" y="2377440"/>
            <a:ext cx="4791456" cy="329184"/>
          </a:xfrm>
          <a:prstGeom prst="rect">
            <a:avLst/>
          </a:prstGeom>
          <a:noFill/>
          <a:ln/>
        </p:spPr>
        <p:txBody>
          <a:bodyPr wrap="square" lIns="0" tIns="0" rIns="0" bIns="0" rtlCol="0" anchor="ctr"/>
          <a:lstStyle/>
          <a:p>
            <a:pPr indent="0" marL="0">
              <a:buNone/>
            </a:pPr>
            <a:r>
              <a:rPr lang="en-US" sz="1350" b="1" dirty="0">
                <a:solidFill>
                  <a:srgbClr val="22252A"/>
                </a:solidFill>
                <a:latin typeface="Calibri" pitchFamily="34" charset="0"/>
                <a:ea typeface="Calibri" pitchFamily="34" charset="-122"/>
                <a:cs typeface="Calibri" pitchFamily="34" charset="-120"/>
              </a:rPr>
              <a:t>Take something you have poor data on.</a:t>
            </a:r>
            <a:endParaRPr lang="en-US" sz="1350" dirty="0"/>
          </a:p>
        </p:txBody>
      </p:sp>
      <p:sp>
        <p:nvSpPr>
          <p:cNvPr id="11" name="Text 9"/>
          <p:cNvSpPr/>
          <p:nvPr/>
        </p:nvSpPr>
        <p:spPr>
          <a:xfrm>
            <a:off x="6583680" y="2761488"/>
            <a:ext cx="4791456" cy="969264"/>
          </a:xfrm>
          <a:prstGeom prst="rect">
            <a:avLst/>
          </a:prstGeom>
          <a:noFill/>
          <a:ln/>
        </p:spPr>
        <p:txBody>
          <a:bodyPr wrap="square" lIns="0" tIns="0" rIns="0" bIns="0" rtlCol="0" anchor="t"/>
          <a:lstStyle/>
          <a:p>
            <a:pPr indent="0" marL="0">
              <a:lnSpc>
                <a:spcPct val="110000"/>
              </a:lnSpc>
              <a:buNone/>
            </a:pPr>
            <a:r>
              <a:rPr lang="en-US" sz="1250" dirty="0">
                <a:solidFill>
                  <a:srgbClr val="3C4047"/>
                </a:solidFill>
                <a:latin typeface="Calibri" pitchFamily="34" charset="0"/>
                <a:ea typeface="Calibri" pitchFamily="34" charset="-122"/>
                <a:cs typeface="Calibri" pitchFamily="34" charset="-120"/>
              </a:rPr>
              <a:t>Buys information. Costs reward now, and in a world with real consequences that cost can be a crashed drone rather than a lost point.</a:t>
            </a:r>
            <a:endParaRPr lang="en-US" sz="1250" dirty="0"/>
          </a:p>
        </p:txBody>
      </p:sp>
      <p:sp>
        <p:nvSpPr>
          <p:cNvPr id="12" name="Shape 10"/>
          <p:cNvSpPr/>
          <p:nvPr/>
        </p:nvSpPr>
        <p:spPr>
          <a:xfrm>
            <a:off x="566928" y="4059936"/>
            <a:ext cx="11057839" cy="1316736"/>
          </a:xfrm>
          <a:prstGeom prst="roundRect">
            <a:avLst>
              <a:gd name="adj" fmla="val 6250"/>
            </a:avLst>
          </a:prstGeom>
          <a:solidFill>
            <a:srgbClr val="F4F5F6"/>
          </a:solidFill>
          <a:ln/>
        </p:spPr>
      </p:sp>
      <p:sp>
        <p:nvSpPr>
          <p:cNvPr id="13" name="Text 11"/>
          <p:cNvSpPr/>
          <p:nvPr/>
        </p:nvSpPr>
        <p:spPr>
          <a:xfrm>
            <a:off x="859536" y="4169664"/>
            <a:ext cx="6035040" cy="347472"/>
          </a:xfrm>
          <a:prstGeom prst="rect">
            <a:avLst/>
          </a:prstGeom>
          <a:noFill/>
          <a:ln/>
        </p:spPr>
        <p:txBody>
          <a:bodyPr wrap="square" lIns="0" tIns="0" rIns="0" bIns="0" rtlCol="0" anchor="ctr"/>
          <a:lstStyle/>
          <a:p>
            <a:pPr indent="0" marL="0">
              <a:buNone/>
            </a:pPr>
            <a:r>
              <a:rPr lang="en-US" sz="1550" b="1" dirty="0">
                <a:solidFill>
                  <a:srgbClr val="C8102E"/>
                </a:solidFill>
                <a:latin typeface="Cambria" pitchFamily="34" charset="0"/>
                <a:ea typeface="Cambria" pitchFamily="34" charset="-122"/>
                <a:cs typeface="Cambria" pitchFamily="34" charset="-120"/>
              </a:rPr>
              <a:t>One imperfect but workable answer:  ε-greedy</a:t>
            </a:r>
            <a:endParaRPr lang="en-US" sz="1550" dirty="0"/>
          </a:p>
        </p:txBody>
      </p:sp>
      <p:sp>
        <p:nvSpPr>
          <p:cNvPr id="14" name="Text 12"/>
          <p:cNvSpPr/>
          <p:nvPr/>
        </p:nvSpPr>
        <p:spPr>
          <a:xfrm>
            <a:off x="859536" y="4535424"/>
            <a:ext cx="10472623" cy="731520"/>
          </a:xfrm>
          <a:prstGeom prst="rect">
            <a:avLst/>
          </a:prstGeom>
          <a:noFill/>
          <a:ln/>
        </p:spPr>
        <p:txBody>
          <a:bodyPr wrap="square" lIns="0" tIns="0" rIns="0" bIns="0" rtlCol="0" anchor="t"/>
          <a:lstStyle/>
          <a:p>
            <a:pPr indent="0" marL="0">
              <a:lnSpc>
                <a:spcPct val="112000"/>
              </a:lnSpc>
              <a:buNone/>
            </a:pPr>
            <a:r>
              <a:rPr lang="en-US" sz="1350" dirty="0">
                <a:solidFill>
                  <a:srgbClr val="3C4047"/>
                </a:solidFill>
                <a:latin typeface="Calibri" pitchFamily="34" charset="0"/>
                <a:ea typeface="Calibri" pitchFamily="34" charset="-122"/>
                <a:cs typeface="Calibri" pitchFamily="34" charset="-120"/>
              </a:rPr>
              <a:t>Take the best known action, except with probability ε, in which case act at random. It satisfies the exploration condition, it is one line of code, and it is crude: it explores just as hard in states it already understands perfectly as in states it has barely visited. Fixing that is next lecture.</a:t>
            </a:r>
            <a:endParaRPr lang="en-US" sz="1350" dirty="0"/>
          </a:p>
        </p:txBody>
      </p:sp>
      <p:sp>
        <p:nvSpPr>
          <p:cNvPr id="15" name="Shape 13"/>
          <p:cNvSpPr/>
          <p:nvPr/>
        </p:nvSpPr>
        <p:spPr>
          <a:xfrm>
            <a:off x="566928" y="5541264"/>
            <a:ext cx="11057839" cy="603504"/>
          </a:xfrm>
          <a:prstGeom prst="roundRect">
            <a:avLst>
              <a:gd name="adj" fmla="val 13636"/>
            </a:avLst>
          </a:prstGeom>
          <a:solidFill>
            <a:srgbClr val="FBEAED"/>
          </a:solidFill>
          <a:ln/>
        </p:spPr>
      </p:sp>
      <p:sp>
        <p:nvSpPr>
          <p:cNvPr id="16" name="Shape 14"/>
          <p:cNvSpPr/>
          <p:nvPr/>
        </p:nvSpPr>
        <p:spPr>
          <a:xfrm>
            <a:off x="786384" y="5751576"/>
            <a:ext cx="182880" cy="182880"/>
          </a:xfrm>
          <a:prstGeom prst="ellipse">
            <a:avLst/>
          </a:prstGeom>
          <a:solidFill>
            <a:srgbClr val="C8102E"/>
          </a:solidFill>
          <a:ln/>
        </p:spPr>
      </p:sp>
      <p:sp>
        <p:nvSpPr>
          <p:cNvPr id="17" name="Text 15"/>
          <p:cNvSpPr/>
          <p:nvPr/>
        </p:nvSpPr>
        <p:spPr>
          <a:xfrm>
            <a:off x="1115568" y="5541264"/>
            <a:ext cx="10289743" cy="603504"/>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This is the last thing the algorithms we built cannot decide for themselves.</a:t>
            </a:r>
            <a:endParaRPr lang="en-US" sz="1450" dirty="0"/>
          </a:p>
        </p:txBody>
      </p:sp>
      <p:sp>
        <p:nvSpPr>
          <p:cNvPr id="18" name="Text 16"/>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9" name="Text 17"/>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59</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Four methods, side by side</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If you learn one table for the exam, learn this one.</a:t>
            </a:r>
            <a:endParaRPr lang="en-US" sz="1400" dirty="0"/>
          </a:p>
        </p:txBody>
      </p:sp>
      <p:sp>
        <p:nvSpPr>
          <p:cNvPr id="4" name="Text 2"/>
          <p:cNvSpPr/>
          <p:nvPr/>
        </p:nvSpPr>
        <p:spPr>
          <a:xfrm>
            <a:off x="2615184" y="1481328"/>
            <a:ext cx="2176272" cy="384048"/>
          </a:xfrm>
          <a:prstGeom prst="rect">
            <a:avLst/>
          </a:prstGeom>
          <a:noFill/>
          <a:ln/>
        </p:spPr>
        <p:txBody>
          <a:bodyPr wrap="square" lIns="0" tIns="0" rIns="0" bIns="0" rtlCol="0" anchor="ctr"/>
          <a:lstStyle/>
          <a:p>
            <a:pPr algn="ctr" indent="0" marL="0">
              <a:buNone/>
            </a:pPr>
            <a:r>
              <a:rPr lang="en-US" sz="1350" b="1" dirty="0">
                <a:solidFill>
                  <a:srgbClr val="53565A"/>
                </a:solidFill>
                <a:latin typeface="Cambria" pitchFamily="34" charset="0"/>
                <a:ea typeface="Cambria" pitchFamily="34" charset="-122"/>
                <a:cs typeface="Cambria" pitchFamily="34" charset="-120"/>
              </a:rPr>
              <a:t>Model-based</a:t>
            </a:r>
            <a:endParaRPr lang="en-US" sz="1350" dirty="0"/>
          </a:p>
        </p:txBody>
      </p:sp>
      <p:sp>
        <p:nvSpPr>
          <p:cNvPr id="5" name="Text 3"/>
          <p:cNvSpPr/>
          <p:nvPr/>
        </p:nvSpPr>
        <p:spPr>
          <a:xfrm>
            <a:off x="4846320" y="1481328"/>
            <a:ext cx="2176272" cy="384048"/>
          </a:xfrm>
          <a:prstGeom prst="rect">
            <a:avLst/>
          </a:prstGeom>
          <a:noFill/>
          <a:ln/>
        </p:spPr>
        <p:txBody>
          <a:bodyPr wrap="square" lIns="0" tIns="0" rIns="0" bIns="0" rtlCol="0" anchor="ctr"/>
          <a:lstStyle/>
          <a:p>
            <a:pPr algn="ctr" indent="0" marL="0">
              <a:buNone/>
            </a:pPr>
            <a:r>
              <a:rPr lang="en-US" sz="1350" b="1" dirty="0">
                <a:solidFill>
                  <a:srgbClr val="53565A"/>
                </a:solidFill>
                <a:latin typeface="Cambria" pitchFamily="34" charset="0"/>
                <a:ea typeface="Cambria" pitchFamily="34" charset="-122"/>
                <a:cs typeface="Cambria" pitchFamily="34" charset="-120"/>
              </a:rPr>
              <a:t>Direct evaluation</a:t>
            </a:r>
            <a:endParaRPr lang="en-US" sz="1350" dirty="0"/>
          </a:p>
        </p:txBody>
      </p:sp>
      <p:sp>
        <p:nvSpPr>
          <p:cNvPr id="6" name="Text 4"/>
          <p:cNvSpPr/>
          <p:nvPr/>
        </p:nvSpPr>
        <p:spPr>
          <a:xfrm>
            <a:off x="7077456" y="1481328"/>
            <a:ext cx="2176272" cy="384048"/>
          </a:xfrm>
          <a:prstGeom prst="rect">
            <a:avLst/>
          </a:prstGeom>
          <a:noFill/>
          <a:ln/>
        </p:spPr>
        <p:txBody>
          <a:bodyPr wrap="square" lIns="0" tIns="0" rIns="0" bIns="0" rtlCol="0" anchor="ctr"/>
          <a:lstStyle/>
          <a:p>
            <a:pPr algn="ctr" indent="0" marL="0">
              <a:buNone/>
            </a:pPr>
            <a:r>
              <a:rPr lang="en-US" sz="1350" b="1" dirty="0">
                <a:solidFill>
                  <a:srgbClr val="53565A"/>
                </a:solidFill>
                <a:latin typeface="Cambria" pitchFamily="34" charset="0"/>
                <a:ea typeface="Cambria" pitchFamily="34" charset="-122"/>
                <a:cs typeface="Cambria" pitchFamily="34" charset="-120"/>
              </a:rPr>
              <a:t>TD learning</a:t>
            </a:r>
            <a:endParaRPr lang="en-US" sz="1350" dirty="0"/>
          </a:p>
        </p:txBody>
      </p:sp>
      <p:sp>
        <p:nvSpPr>
          <p:cNvPr id="7" name="Text 5"/>
          <p:cNvSpPr/>
          <p:nvPr/>
        </p:nvSpPr>
        <p:spPr>
          <a:xfrm>
            <a:off x="9308592" y="1481328"/>
            <a:ext cx="2322576" cy="384048"/>
          </a:xfrm>
          <a:prstGeom prst="rect">
            <a:avLst/>
          </a:prstGeom>
          <a:noFill/>
          <a:ln/>
        </p:spPr>
        <p:txBody>
          <a:bodyPr wrap="square" lIns="0" tIns="0" rIns="0" bIns="0" rtlCol="0" anchor="ctr"/>
          <a:lstStyle/>
          <a:p>
            <a:pPr algn="ctr" indent="0" marL="0">
              <a:buNone/>
            </a:pPr>
            <a:r>
              <a:rPr lang="en-US" sz="1350" b="1" dirty="0">
                <a:solidFill>
                  <a:srgbClr val="C8102E"/>
                </a:solidFill>
                <a:latin typeface="Cambria" pitchFamily="34" charset="0"/>
                <a:ea typeface="Cambria" pitchFamily="34" charset="-122"/>
                <a:cs typeface="Cambria" pitchFamily="34" charset="-120"/>
              </a:rPr>
              <a:t>Q-learning</a:t>
            </a:r>
            <a:endParaRPr lang="en-US" sz="1350" dirty="0"/>
          </a:p>
        </p:txBody>
      </p:sp>
      <p:sp>
        <p:nvSpPr>
          <p:cNvPr id="8" name="Text 6"/>
          <p:cNvSpPr/>
          <p:nvPr/>
        </p:nvSpPr>
        <p:spPr>
          <a:xfrm>
            <a:off x="621792" y="1883664"/>
            <a:ext cx="1956816" cy="457200"/>
          </a:xfrm>
          <a:prstGeom prst="rect">
            <a:avLst/>
          </a:prstGeom>
          <a:noFill/>
          <a:ln/>
        </p:spPr>
        <p:txBody>
          <a:bodyPr wrap="square" lIns="0" tIns="0" rIns="0" bIns="0" rtlCol="0" anchor="ctr"/>
          <a:lstStyle/>
          <a:p>
            <a:pPr algn="l" indent="0" marL="0">
              <a:buNone/>
            </a:pPr>
            <a:r>
              <a:rPr lang="en-US" sz="1200" b="1" dirty="0">
                <a:solidFill>
                  <a:srgbClr val="22252A"/>
                </a:solidFill>
                <a:latin typeface="Calibri" pitchFamily="34" charset="0"/>
                <a:ea typeface="Calibri" pitchFamily="34" charset="-122"/>
                <a:cs typeface="Calibri" pitchFamily="34" charset="-120"/>
              </a:rPr>
              <a:t>Learns</a:t>
            </a:r>
            <a:endParaRPr lang="en-US" sz="1200" dirty="0"/>
          </a:p>
        </p:txBody>
      </p:sp>
      <p:sp>
        <p:nvSpPr>
          <p:cNvPr id="9" name="Shape 7"/>
          <p:cNvSpPr/>
          <p:nvPr/>
        </p:nvSpPr>
        <p:spPr>
          <a:xfrm>
            <a:off x="2615184" y="1883664"/>
            <a:ext cx="2176272" cy="457200"/>
          </a:xfrm>
          <a:prstGeom prst="roundRect">
            <a:avLst>
              <a:gd name="adj" fmla="val 10000"/>
            </a:avLst>
          </a:prstGeom>
          <a:solidFill>
            <a:srgbClr val="F4F5F6"/>
          </a:solidFill>
          <a:ln/>
        </p:spPr>
      </p:sp>
      <p:sp>
        <p:nvSpPr>
          <p:cNvPr id="10" name="Text 8"/>
          <p:cNvSpPr/>
          <p:nvPr/>
        </p:nvSpPr>
        <p:spPr>
          <a:xfrm>
            <a:off x="2615184" y="1883664"/>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T̂ and R̂</a:t>
            </a:r>
            <a:endParaRPr lang="en-US" sz="1250" dirty="0"/>
          </a:p>
        </p:txBody>
      </p:sp>
      <p:sp>
        <p:nvSpPr>
          <p:cNvPr id="11" name="Shape 9"/>
          <p:cNvSpPr/>
          <p:nvPr/>
        </p:nvSpPr>
        <p:spPr>
          <a:xfrm>
            <a:off x="4846320" y="1883664"/>
            <a:ext cx="2176272" cy="457200"/>
          </a:xfrm>
          <a:prstGeom prst="roundRect">
            <a:avLst>
              <a:gd name="adj" fmla="val 10000"/>
            </a:avLst>
          </a:prstGeom>
          <a:solidFill>
            <a:srgbClr val="F4F5F6"/>
          </a:solidFill>
          <a:ln/>
        </p:spPr>
      </p:sp>
      <p:sp>
        <p:nvSpPr>
          <p:cNvPr id="12" name="Text 10"/>
          <p:cNvSpPr/>
          <p:nvPr/>
        </p:nvSpPr>
        <p:spPr>
          <a:xfrm>
            <a:off x="4846320" y="1883664"/>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Vπ(s)</a:t>
            </a:r>
            <a:endParaRPr lang="en-US" sz="1250" dirty="0"/>
          </a:p>
        </p:txBody>
      </p:sp>
      <p:sp>
        <p:nvSpPr>
          <p:cNvPr id="13" name="Shape 11"/>
          <p:cNvSpPr/>
          <p:nvPr/>
        </p:nvSpPr>
        <p:spPr>
          <a:xfrm>
            <a:off x="7077456" y="1883664"/>
            <a:ext cx="2176272" cy="457200"/>
          </a:xfrm>
          <a:prstGeom prst="roundRect">
            <a:avLst>
              <a:gd name="adj" fmla="val 10000"/>
            </a:avLst>
          </a:prstGeom>
          <a:solidFill>
            <a:srgbClr val="F4F5F6"/>
          </a:solidFill>
          <a:ln/>
        </p:spPr>
      </p:sp>
      <p:sp>
        <p:nvSpPr>
          <p:cNvPr id="14" name="Text 12"/>
          <p:cNvSpPr/>
          <p:nvPr/>
        </p:nvSpPr>
        <p:spPr>
          <a:xfrm>
            <a:off x="7077456" y="1883664"/>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Vπ(s)</a:t>
            </a:r>
            <a:endParaRPr lang="en-US" sz="1250" dirty="0"/>
          </a:p>
        </p:txBody>
      </p:sp>
      <p:sp>
        <p:nvSpPr>
          <p:cNvPr id="15" name="Shape 13"/>
          <p:cNvSpPr/>
          <p:nvPr/>
        </p:nvSpPr>
        <p:spPr>
          <a:xfrm>
            <a:off x="9308592" y="1883664"/>
            <a:ext cx="2322576" cy="457200"/>
          </a:xfrm>
          <a:prstGeom prst="roundRect">
            <a:avLst>
              <a:gd name="adj" fmla="val 10000"/>
            </a:avLst>
          </a:prstGeom>
          <a:solidFill>
            <a:srgbClr val="FBEAED"/>
          </a:solidFill>
          <a:ln/>
        </p:spPr>
      </p:sp>
      <p:sp>
        <p:nvSpPr>
          <p:cNvPr id="16" name="Text 14"/>
          <p:cNvSpPr/>
          <p:nvPr/>
        </p:nvSpPr>
        <p:spPr>
          <a:xfrm>
            <a:off x="9308592" y="1883664"/>
            <a:ext cx="2322576" cy="457200"/>
          </a:xfrm>
          <a:prstGeom prst="rect">
            <a:avLst/>
          </a:prstGeom>
          <a:noFill/>
          <a:ln/>
        </p:spPr>
        <p:txBody>
          <a:bodyPr wrap="square" lIns="0" tIns="0" rIns="0" bIns="0" rtlCol="0" anchor="ctr"/>
          <a:lstStyle/>
          <a:p>
            <a:pPr algn="ctr" indent="0" marL="0">
              <a:buNone/>
            </a:pPr>
            <a:r>
              <a:rPr lang="en-US" sz="1250" b="1" dirty="0">
                <a:solidFill>
                  <a:srgbClr val="8E0B20"/>
                </a:solidFill>
                <a:latin typeface="Calibri" pitchFamily="34" charset="0"/>
                <a:ea typeface="Calibri" pitchFamily="34" charset="-122"/>
                <a:cs typeface="Calibri" pitchFamily="34" charset="-120"/>
              </a:rPr>
              <a:t>Q(s, a)</a:t>
            </a:r>
            <a:endParaRPr lang="en-US" sz="1250" dirty="0"/>
          </a:p>
        </p:txBody>
      </p:sp>
      <p:sp>
        <p:nvSpPr>
          <p:cNvPr id="17" name="Text 15"/>
          <p:cNvSpPr/>
          <p:nvPr/>
        </p:nvSpPr>
        <p:spPr>
          <a:xfrm>
            <a:off x="621792" y="2359152"/>
            <a:ext cx="1956816" cy="457200"/>
          </a:xfrm>
          <a:prstGeom prst="rect">
            <a:avLst/>
          </a:prstGeom>
          <a:noFill/>
          <a:ln/>
        </p:spPr>
        <p:txBody>
          <a:bodyPr wrap="square" lIns="0" tIns="0" rIns="0" bIns="0" rtlCol="0" anchor="ctr"/>
          <a:lstStyle/>
          <a:p>
            <a:pPr algn="l" indent="0" marL="0">
              <a:buNone/>
            </a:pPr>
            <a:r>
              <a:rPr lang="en-US" sz="1200" b="1" dirty="0">
                <a:solidFill>
                  <a:srgbClr val="22252A"/>
                </a:solidFill>
                <a:latin typeface="Calibri" pitchFamily="34" charset="0"/>
                <a:ea typeface="Calibri" pitchFamily="34" charset="-122"/>
                <a:cs typeface="Calibri" pitchFamily="34" charset="-120"/>
              </a:rPr>
              <a:t>Needs a model</a:t>
            </a:r>
            <a:endParaRPr lang="en-US" sz="1200" dirty="0"/>
          </a:p>
        </p:txBody>
      </p:sp>
      <p:sp>
        <p:nvSpPr>
          <p:cNvPr id="18" name="Shape 16"/>
          <p:cNvSpPr/>
          <p:nvPr/>
        </p:nvSpPr>
        <p:spPr>
          <a:xfrm>
            <a:off x="2615184" y="2359152"/>
            <a:ext cx="2176272" cy="457200"/>
          </a:xfrm>
          <a:prstGeom prst="roundRect">
            <a:avLst>
              <a:gd name="adj" fmla="val 10000"/>
            </a:avLst>
          </a:prstGeom>
          <a:solidFill>
            <a:srgbClr val="FAFBFB"/>
          </a:solidFill>
          <a:ln/>
        </p:spPr>
      </p:sp>
      <p:sp>
        <p:nvSpPr>
          <p:cNvPr id="19" name="Text 17"/>
          <p:cNvSpPr/>
          <p:nvPr/>
        </p:nvSpPr>
        <p:spPr>
          <a:xfrm>
            <a:off x="2615184" y="2359152"/>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builds one</a:t>
            </a:r>
            <a:endParaRPr lang="en-US" sz="1250" dirty="0"/>
          </a:p>
        </p:txBody>
      </p:sp>
      <p:sp>
        <p:nvSpPr>
          <p:cNvPr id="20" name="Shape 18"/>
          <p:cNvSpPr/>
          <p:nvPr/>
        </p:nvSpPr>
        <p:spPr>
          <a:xfrm>
            <a:off x="4846320" y="2359152"/>
            <a:ext cx="2176272" cy="457200"/>
          </a:xfrm>
          <a:prstGeom prst="roundRect">
            <a:avLst>
              <a:gd name="adj" fmla="val 10000"/>
            </a:avLst>
          </a:prstGeom>
          <a:solidFill>
            <a:srgbClr val="FAFBFB"/>
          </a:solidFill>
          <a:ln/>
        </p:spPr>
      </p:sp>
      <p:sp>
        <p:nvSpPr>
          <p:cNvPr id="21" name="Text 19"/>
          <p:cNvSpPr/>
          <p:nvPr/>
        </p:nvSpPr>
        <p:spPr>
          <a:xfrm>
            <a:off x="4846320" y="2359152"/>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no</a:t>
            </a:r>
            <a:endParaRPr lang="en-US" sz="1250" dirty="0"/>
          </a:p>
        </p:txBody>
      </p:sp>
      <p:sp>
        <p:nvSpPr>
          <p:cNvPr id="22" name="Shape 20"/>
          <p:cNvSpPr/>
          <p:nvPr/>
        </p:nvSpPr>
        <p:spPr>
          <a:xfrm>
            <a:off x="7077456" y="2359152"/>
            <a:ext cx="2176272" cy="457200"/>
          </a:xfrm>
          <a:prstGeom prst="roundRect">
            <a:avLst>
              <a:gd name="adj" fmla="val 10000"/>
            </a:avLst>
          </a:prstGeom>
          <a:solidFill>
            <a:srgbClr val="FAFBFB"/>
          </a:solidFill>
          <a:ln/>
        </p:spPr>
      </p:sp>
      <p:sp>
        <p:nvSpPr>
          <p:cNvPr id="23" name="Text 21"/>
          <p:cNvSpPr/>
          <p:nvPr/>
        </p:nvSpPr>
        <p:spPr>
          <a:xfrm>
            <a:off x="7077456" y="2359152"/>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no</a:t>
            </a:r>
            <a:endParaRPr lang="en-US" sz="1250" dirty="0"/>
          </a:p>
        </p:txBody>
      </p:sp>
      <p:sp>
        <p:nvSpPr>
          <p:cNvPr id="24" name="Shape 22"/>
          <p:cNvSpPr/>
          <p:nvPr/>
        </p:nvSpPr>
        <p:spPr>
          <a:xfrm>
            <a:off x="9308592" y="2359152"/>
            <a:ext cx="2322576" cy="457200"/>
          </a:xfrm>
          <a:prstGeom prst="roundRect">
            <a:avLst>
              <a:gd name="adj" fmla="val 10000"/>
            </a:avLst>
          </a:prstGeom>
          <a:solidFill>
            <a:srgbClr val="FBEAED"/>
          </a:solidFill>
          <a:ln/>
        </p:spPr>
      </p:sp>
      <p:sp>
        <p:nvSpPr>
          <p:cNvPr id="25" name="Text 23"/>
          <p:cNvSpPr/>
          <p:nvPr/>
        </p:nvSpPr>
        <p:spPr>
          <a:xfrm>
            <a:off x="9308592" y="2359152"/>
            <a:ext cx="2322576" cy="457200"/>
          </a:xfrm>
          <a:prstGeom prst="rect">
            <a:avLst/>
          </a:prstGeom>
          <a:noFill/>
          <a:ln/>
        </p:spPr>
        <p:txBody>
          <a:bodyPr wrap="square" lIns="0" tIns="0" rIns="0" bIns="0" rtlCol="0" anchor="ctr"/>
          <a:lstStyle/>
          <a:p>
            <a:pPr algn="ctr" indent="0" marL="0">
              <a:buNone/>
            </a:pPr>
            <a:r>
              <a:rPr lang="en-US" sz="1250" b="1" dirty="0">
                <a:solidFill>
                  <a:srgbClr val="8E0B20"/>
                </a:solidFill>
                <a:latin typeface="Calibri" pitchFamily="34" charset="0"/>
                <a:ea typeface="Calibri" pitchFamily="34" charset="-122"/>
                <a:cs typeface="Calibri" pitchFamily="34" charset="-120"/>
              </a:rPr>
              <a:t>no</a:t>
            </a:r>
            <a:endParaRPr lang="en-US" sz="1250" dirty="0"/>
          </a:p>
        </p:txBody>
      </p:sp>
      <p:sp>
        <p:nvSpPr>
          <p:cNvPr id="26" name="Text 24"/>
          <p:cNvSpPr/>
          <p:nvPr/>
        </p:nvSpPr>
        <p:spPr>
          <a:xfrm>
            <a:off x="621792" y="2834640"/>
            <a:ext cx="1956816" cy="457200"/>
          </a:xfrm>
          <a:prstGeom prst="rect">
            <a:avLst/>
          </a:prstGeom>
          <a:noFill/>
          <a:ln/>
        </p:spPr>
        <p:txBody>
          <a:bodyPr wrap="square" lIns="0" tIns="0" rIns="0" bIns="0" rtlCol="0" anchor="ctr"/>
          <a:lstStyle/>
          <a:p>
            <a:pPr algn="l" indent="0" marL="0">
              <a:buNone/>
            </a:pPr>
            <a:r>
              <a:rPr lang="en-US" sz="1200" b="1" dirty="0">
                <a:solidFill>
                  <a:srgbClr val="22252A"/>
                </a:solidFill>
                <a:latin typeface="Calibri" pitchFamily="34" charset="0"/>
                <a:ea typeface="Calibri" pitchFamily="34" charset="-122"/>
                <a:cs typeface="Calibri" pitchFamily="34" charset="-120"/>
              </a:rPr>
              <a:t>Updates when</a:t>
            </a:r>
            <a:endParaRPr lang="en-US" sz="1200" dirty="0"/>
          </a:p>
        </p:txBody>
      </p:sp>
      <p:sp>
        <p:nvSpPr>
          <p:cNvPr id="27" name="Shape 25"/>
          <p:cNvSpPr/>
          <p:nvPr/>
        </p:nvSpPr>
        <p:spPr>
          <a:xfrm>
            <a:off x="2615184" y="2834640"/>
            <a:ext cx="2176272" cy="457200"/>
          </a:xfrm>
          <a:prstGeom prst="roundRect">
            <a:avLst>
              <a:gd name="adj" fmla="val 10000"/>
            </a:avLst>
          </a:prstGeom>
          <a:solidFill>
            <a:srgbClr val="F4F5F6"/>
          </a:solidFill>
          <a:ln/>
        </p:spPr>
      </p:sp>
      <p:sp>
        <p:nvSpPr>
          <p:cNvPr id="28" name="Text 26"/>
          <p:cNvSpPr/>
          <p:nvPr/>
        </p:nvSpPr>
        <p:spPr>
          <a:xfrm>
            <a:off x="2615184" y="2834640"/>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on solve</a:t>
            </a:r>
            <a:endParaRPr lang="en-US" sz="1250" dirty="0"/>
          </a:p>
        </p:txBody>
      </p:sp>
      <p:sp>
        <p:nvSpPr>
          <p:cNvPr id="29" name="Shape 27"/>
          <p:cNvSpPr/>
          <p:nvPr/>
        </p:nvSpPr>
        <p:spPr>
          <a:xfrm>
            <a:off x="4846320" y="2834640"/>
            <a:ext cx="2176272" cy="457200"/>
          </a:xfrm>
          <a:prstGeom prst="roundRect">
            <a:avLst>
              <a:gd name="adj" fmla="val 10000"/>
            </a:avLst>
          </a:prstGeom>
          <a:solidFill>
            <a:srgbClr val="F4F5F6"/>
          </a:solidFill>
          <a:ln/>
        </p:spPr>
      </p:sp>
      <p:sp>
        <p:nvSpPr>
          <p:cNvPr id="30" name="Text 28"/>
          <p:cNvSpPr/>
          <p:nvPr/>
        </p:nvSpPr>
        <p:spPr>
          <a:xfrm>
            <a:off x="4846320" y="2834640"/>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episode end</a:t>
            </a:r>
            <a:endParaRPr lang="en-US" sz="1250" dirty="0"/>
          </a:p>
        </p:txBody>
      </p:sp>
      <p:sp>
        <p:nvSpPr>
          <p:cNvPr id="31" name="Shape 29"/>
          <p:cNvSpPr/>
          <p:nvPr/>
        </p:nvSpPr>
        <p:spPr>
          <a:xfrm>
            <a:off x="7077456" y="2834640"/>
            <a:ext cx="2176272" cy="457200"/>
          </a:xfrm>
          <a:prstGeom prst="roundRect">
            <a:avLst>
              <a:gd name="adj" fmla="val 10000"/>
            </a:avLst>
          </a:prstGeom>
          <a:solidFill>
            <a:srgbClr val="F4F5F6"/>
          </a:solidFill>
          <a:ln/>
        </p:spPr>
      </p:sp>
      <p:sp>
        <p:nvSpPr>
          <p:cNvPr id="32" name="Text 30"/>
          <p:cNvSpPr/>
          <p:nvPr/>
        </p:nvSpPr>
        <p:spPr>
          <a:xfrm>
            <a:off x="7077456" y="2834640"/>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every step</a:t>
            </a:r>
            <a:endParaRPr lang="en-US" sz="1250" dirty="0"/>
          </a:p>
        </p:txBody>
      </p:sp>
      <p:sp>
        <p:nvSpPr>
          <p:cNvPr id="33" name="Shape 31"/>
          <p:cNvSpPr/>
          <p:nvPr/>
        </p:nvSpPr>
        <p:spPr>
          <a:xfrm>
            <a:off x="9308592" y="2834640"/>
            <a:ext cx="2322576" cy="457200"/>
          </a:xfrm>
          <a:prstGeom prst="roundRect">
            <a:avLst>
              <a:gd name="adj" fmla="val 10000"/>
            </a:avLst>
          </a:prstGeom>
          <a:solidFill>
            <a:srgbClr val="FBEAED"/>
          </a:solidFill>
          <a:ln/>
        </p:spPr>
      </p:sp>
      <p:sp>
        <p:nvSpPr>
          <p:cNvPr id="34" name="Text 32"/>
          <p:cNvSpPr/>
          <p:nvPr/>
        </p:nvSpPr>
        <p:spPr>
          <a:xfrm>
            <a:off x="9308592" y="2834640"/>
            <a:ext cx="2322576" cy="457200"/>
          </a:xfrm>
          <a:prstGeom prst="rect">
            <a:avLst/>
          </a:prstGeom>
          <a:noFill/>
          <a:ln/>
        </p:spPr>
        <p:txBody>
          <a:bodyPr wrap="square" lIns="0" tIns="0" rIns="0" bIns="0" rtlCol="0" anchor="ctr"/>
          <a:lstStyle/>
          <a:p>
            <a:pPr algn="ctr" indent="0" marL="0">
              <a:buNone/>
            </a:pPr>
            <a:r>
              <a:rPr lang="en-US" sz="1250" b="1" dirty="0">
                <a:solidFill>
                  <a:srgbClr val="8E0B20"/>
                </a:solidFill>
                <a:latin typeface="Calibri" pitchFamily="34" charset="0"/>
                <a:ea typeface="Calibri" pitchFamily="34" charset="-122"/>
                <a:cs typeface="Calibri" pitchFamily="34" charset="-120"/>
              </a:rPr>
              <a:t>every step</a:t>
            </a:r>
            <a:endParaRPr lang="en-US" sz="1250" dirty="0"/>
          </a:p>
        </p:txBody>
      </p:sp>
      <p:sp>
        <p:nvSpPr>
          <p:cNvPr id="35" name="Text 33"/>
          <p:cNvSpPr/>
          <p:nvPr/>
        </p:nvSpPr>
        <p:spPr>
          <a:xfrm>
            <a:off x="621792" y="3310128"/>
            <a:ext cx="1956816" cy="457200"/>
          </a:xfrm>
          <a:prstGeom prst="rect">
            <a:avLst/>
          </a:prstGeom>
          <a:noFill/>
          <a:ln/>
        </p:spPr>
        <p:txBody>
          <a:bodyPr wrap="square" lIns="0" tIns="0" rIns="0" bIns="0" rtlCol="0" anchor="ctr"/>
          <a:lstStyle/>
          <a:p>
            <a:pPr algn="l" indent="0" marL="0">
              <a:buNone/>
            </a:pPr>
            <a:r>
              <a:rPr lang="en-US" sz="1200" b="1" dirty="0">
                <a:solidFill>
                  <a:srgbClr val="22252A"/>
                </a:solidFill>
                <a:latin typeface="Calibri" pitchFamily="34" charset="0"/>
                <a:ea typeface="Calibri" pitchFamily="34" charset="-122"/>
                <a:cs typeface="Calibri" pitchFamily="34" charset="-120"/>
              </a:rPr>
              <a:t>Uses connectivity</a:t>
            </a:r>
            <a:endParaRPr lang="en-US" sz="1200" dirty="0"/>
          </a:p>
        </p:txBody>
      </p:sp>
      <p:sp>
        <p:nvSpPr>
          <p:cNvPr id="36" name="Shape 34"/>
          <p:cNvSpPr/>
          <p:nvPr/>
        </p:nvSpPr>
        <p:spPr>
          <a:xfrm>
            <a:off x="2615184" y="3310128"/>
            <a:ext cx="2176272" cy="457200"/>
          </a:xfrm>
          <a:prstGeom prst="roundRect">
            <a:avLst>
              <a:gd name="adj" fmla="val 10000"/>
            </a:avLst>
          </a:prstGeom>
          <a:solidFill>
            <a:srgbClr val="FAFBFB"/>
          </a:solidFill>
          <a:ln/>
        </p:spPr>
      </p:sp>
      <p:sp>
        <p:nvSpPr>
          <p:cNvPr id="37" name="Text 35"/>
          <p:cNvSpPr/>
          <p:nvPr/>
        </p:nvSpPr>
        <p:spPr>
          <a:xfrm>
            <a:off x="2615184" y="3310128"/>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yes</a:t>
            </a:r>
            <a:endParaRPr lang="en-US" sz="1250" dirty="0"/>
          </a:p>
        </p:txBody>
      </p:sp>
      <p:sp>
        <p:nvSpPr>
          <p:cNvPr id="38" name="Shape 36"/>
          <p:cNvSpPr/>
          <p:nvPr/>
        </p:nvSpPr>
        <p:spPr>
          <a:xfrm>
            <a:off x="4846320" y="3310128"/>
            <a:ext cx="2176272" cy="457200"/>
          </a:xfrm>
          <a:prstGeom prst="roundRect">
            <a:avLst>
              <a:gd name="adj" fmla="val 10000"/>
            </a:avLst>
          </a:prstGeom>
          <a:solidFill>
            <a:srgbClr val="FAFBFB"/>
          </a:solidFill>
          <a:ln/>
        </p:spPr>
      </p:sp>
      <p:sp>
        <p:nvSpPr>
          <p:cNvPr id="39" name="Text 37"/>
          <p:cNvSpPr/>
          <p:nvPr/>
        </p:nvSpPr>
        <p:spPr>
          <a:xfrm>
            <a:off x="4846320" y="3310128"/>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no</a:t>
            </a:r>
            <a:endParaRPr lang="en-US" sz="1250" dirty="0"/>
          </a:p>
        </p:txBody>
      </p:sp>
      <p:sp>
        <p:nvSpPr>
          <p:cNvPr id="40" name="Shape 38"/>
          <p:cNvSpPr/>
          <p:nvPr/>
        </p:nvSpPr>
        <p:spPr>
          <a:xfrm>
            <a:off x="7077456" y="3310128"/>
            <a:ext cx="2176272" cy="457200"/>
          </a:xfrm>
          <a:prstGeom prst="roundRect">
            <a:avLst>
              <a:gd name="adj" fmla="val 10000"/>
            </a:avLst>
          </a:prstGeom>
          <a:solidFill>
            <a:srgbClr val="FAFBFB"/>
          </a:solidFill>
          <a:ln/>
        </p:spPr>
      </p:sp>
      <p:sp>
        <p:nvSpPr>
          <p:cNvPr id="41" name="Text 39"/>
          <p:cNvSpPr/>
          <p:nvPr/>
        </p:nvSpPr>
        <p:spPr>
          <a:xfrm>
            <a:off x="7077456" y="3310128"/>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yes</a:t>
            </a:r>
            <a:endParaRPr lang="en-US" sz="1250" dirty="0"/>
          </a:p>
        </p:txBody>
      </p:sp>
      <p:sp>
        <p:nvSpPr>
          <p:cNvPr id="42" name="Shape 40"/>
          <p:cNvSpPr/>
          <p:nvPr/>
        </p:nvSpPr>
        <p:spPr>
          <a:xfrm>
            <a:off x="9308592" y="3310128"/>
            <a:ext cx="2322576" cy="457200"/>
          </a:xfrm>
          <a:prstGeom prst="roundRect">
            <a:avLst>
              <a:gd name="adj" fmla="val 10000"/>
            </a:avLst>
          </a:prstGeom>
          <a:solidFill>
            <a:srgbClr val="FBEAED"/>
          </a:solidFill>
          <a:ln/>
        </p:spPr>
      </p:sp>
      <p:sp>
        <p:nvSpPr>
          <p:cNvPr id="43" name="Text 41"/>
          <p:cNvSpPr/>
          <p:nvPr/>
        </p:nvSpPr>
        <p:spPr>
          <a:xfrm>
            <a:off x="9308592" y="3310128"/>
            <a:ext cx="2322576" cy="457200"/>
          </a:xfrm>
          <a:prstGeom prst="rect">
            <a:avLst/>
          </a:prstGeom>
          <a:noFill/>
          <a:ln/>
        </p:spPr>
        <p:txBody>
          <a:bodyPr wrap="square" lIns="0" tIns="0" rIns="0" bIns="0" rtlCol="0" anchor="ctr"/>
          <a:lstStyle/>
          <a:p>
            <a:pPr algn="ctr" indent="0" marL="0">
              <a:buNone/>
            </a:pPr>
            <a:r>
              <a:rPr lang="en-US" sz="1250" b="1" dirty="0">
                <a:solidFill>
                  <a:srgbClr val="8E0B20"/>
                </a:solidFill>
                <a:latin typeface="Calibri" pitchFamily="34" charset="0"/>
                <a:ea typeface="Calibri" pitchFamily="34" charset="-122"/>
                <a:cs typeface="Calibri" pitchFamily="34" charset="-120"/>
              </a:rPr>
              <a:t>yes</a:t>
            </a:r>
            <a:endParaRPr lang="en-US" sz="1250" dirty="0"/>
          </a:p>
        </p:txBody>
      </p:sp>
      <p:sp>
        <p:nvSpPr>
          <p:cNvPr id="44" name="Text 42"/>
          <p:cNvSpPr/>
          <p:nvPr/>
        </p:nvSpPr>
        <p:spPr>
          <a:xfrm>
            <a:off x="621792" y="3785616"/>
            <a:ext cx="1956816" cy="457200"/>
          </a:xfrm>
          <a:prstGeom prst="rect">
            <a:avLst/>
          </a:prstGeom>
          <a:noFill/>
          <a:ln/>
        </p:spPr>
        <p:txBody>
          <a:bodyPr wrap="square" lIns="0" tIns="0" rIns="0" bIns="0" rtlCol="0" anchor="ctr"/>
          <a:lstStyle/>
          <a:p>
            <a:pPr algn="l" indent="0" marL="0">
              <a:buNone/>
            </a:pPr>
            <a:r>
              <a:rPr lang="en-US" sz="1200" b="1" dirty="0">
                <a:solidFill>
                  <a:srgbClr val="22252A"/>
                </a:solidFill>
                <a:latin typeface="Calibri" pitchFamily="34" charset="0"/>
                <a:ea typeface="Calibri" pitchFamily="34" charset="-122"/>
                <a:cs typeface="Calibri" pitchFamily="34" charset="-120"/>
              </a:rPr>
              <a:t>Gives a policy</a:t>
            </a:r>
            <a:endParaRPr lang="en-US" sz="1200" dirty="0"/>
          </a:p>
        </p:txBody>
      </p:sp>
      <p:sp>
        <p:nvSpPr>
          <p:cNvPr id="45" name="Shape 43"/>
          <p:cNvSpPr/>
          <p:nvPr/>
        </p:nvSpPr>
        <p:spPr>
          <a:xfrm>
            <a:off x="2615184" y="3785616"/>
            <a:ext cx="2176272" cy="457200"/>
          </a:xfrm>
          <a:prstGeom prst="roundRect">
            <a:avLst>
              <a:gd name="adj" fmla="val 10000"/>
            </a:avLst>
          </a:prstGeom>
          <a:solidFill>
            <a:srgbClr val="F4F5F6"/>
          </a:solidFill>
          <a:ln/>
        </p:spPr>
      </p:sp>
      <p:sp>
        <p:nvSpPr>
          <p:cNvPr id="46" name="Text 44"/>
          <p:cNvSpPr/>
          <p:nvPr/>
        </p:nvSpPr>
        <p:spPr>
          <a:xfrm>
            <a:off x="2615184" y="3785616"/>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yes</a:t>
            </a:r>
            <a:endParaRPr lang="en-US" sz="1250" dirty="0"/>
          </a:p>
        </p:txBody>
      </p:sp>
      <p:sp>
        <p:nvSpPr>
          <p:cNvPr id="47" name="Shape 45"/>
          <p:cNvSpPr/>
          <p:nvPr/>
        </p:nvSpPr>
        <p:spPr>
          <a:xfrm>
            <a:off x="4846320" y="3785616"/>
            <a:ext cx="2176272" cy="457200"/>
          </a:xfrm>
          <a:prstGeom prst="roundRect">
            <a:avLst>
              <a:gd name="adj" fmla="val 10000"/>
            </a:avLst>
          </a:prstGeom>
          <a:solidFill>
            <a:srgbClr val="F4F5F6"/>
          </a:solidFill>
          <a:ln/>
        </p:spPr>
      </p:sp>
      <p:sp>
        <p:nvSpPr>
          <p:cNvPr id="48" name="Text 46"/>
          <p:cNvSpPr/>
          <p:nvPr/>
        </p:nvSpPr>
        <p:spPr>
          <a:xfrm>
            <a:off x="4846320" y="3785616"/>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no</a:t>
            </a:r>
            <a:endParaRPr lang="en-US" sz="1250" dirty="0"/>
          </a:p>
        </p:txBody>
      </p:sp>
      <p:sp>
        <p:nvSpPr>
          <p:cNvPr id="49" name="Shape 47"/>
          <p:cNvSpPr/>
          <p:nvPr/>
        </p:nvSpPr>
        <p:spPr>
          <a:xfrm>
            <a:off x="7077456" y="3785616"/>
            <a:ext cx="2176272" cy="457200"/>
          </a:xfrm>
          <a:prstGeom prst="roundRect">
            <a:avLst>
              <a:gd name="adj" fmla="val 10000"/>
            </a:avLst>
          </a:prstGeom>
          <a:solidFill>
            <a:srgbClr val="F4F5F6"/>
          </a:solidFill>
          <a:ln/>
        </p:spPr>
      </p:sp>
      <p:sp>
        <p:nvSpPr>
          <p:cNvPr id="50" name="Text 48"/>
          <p:cNvSpPr/>
          <p:nvPr/>
        </p:nvSpPr>
        <p:spPr>
          <a:xfrm>
            <a:off x="7077456" y="3785616"/>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no</a:t>
            </a:r>
            <a:endParaRPr lang="en-US" sz="1250" dirty="0"/>
          </a:p>
        </p:txBody>
      </p:sp>
      <p:sp>
        <p:nvSpPr>
          <p:cNvPr id="51" name="Shape 49"/>
          <p:cNvSpPr/>
          <p:nvPr/>
        </p:nvSpPr>
        <p:spPr>
          <a:xfrm>
            <a:off x="9308592" y="3785616"/>
            <a:ext cx="2322576" cy="457200"/>
          </a:xfrm>
          <a:prstGeom prst="roundRect">
            <a:avLst>
              <a:gd name="adj" fmla="val 10000"/>
            </a:avLst>
          </a:prstGeom>
          <a:solidFill>
            <a:srgbClr val="FBEAED"/>
          </a:solidFill>
          <a:ln/>
        </p:spPr>
      </p:sp>
      <p:sp>
        <p:nvSpPr>
          <p:cNvPr id="52" name="Text 50"/>
          <p:cNvSpPr/>
          <p:nvPr/>
        </p:nvSpPr>
        <p:spPr>
          <a:xfrm>
            <a:off x="9308592" y="3785616"/>
            <a:ext cx="2322576" cy="457200"/>
          </a:xfrm>
          <a:prstGeom prst="rect">
            <a:avLst/>
          </a:prstGeom>
          <a:noFill/>
          <a:ln/>
        </p:spPr>
        <p:txBody>
          <a:bodyPr wrap="square" lIns="0" tIns="0" rIns="0" bIns="0" rtlCol="0" anchor="ctr"/>
          <a:lstStyle/>
          <a:p>
            <a:pPr algn="ctr" indent="0" marL="0">
              <a:buNone/>
            </a:pPr>
            <a:r>
              <a:rPr lang="en-US" sz="1250" b="1" dirty="0">
                <a:solidFill>
                  <a:srgbClr val="8E0B20"/>
                </a:solidFill>
                <a:latin typeface="Calibri" pitchFamily="34" charset="0"/>
                <a:ea typeface="Calibri" pitchFamily="34" charset="-122"/>
                <a:cs typeface="Calibri" pitchFamily="34" charset="-120"/>
              </a:rPr>
              <a:t>yes</a:t>
            </a:r>
            <a:endParaRPr lang="en-US" sz="1250" dirty="0"/>
          </a:p>
        </p:txBody>
      </p:sp>
      <p:sp>
        <p:nvSpPr>
          <p:cNvPr id="53" name="Text 51"/>
          <p:cNvSpPr/>
          <p:nvPr/>
        </p:nvSpPr>
        <p:spPr>
          <a:xfrm>
            <a:off x="621792" y="4261104"/>
            <a:ext cx="1956816" cy="457200"/>
          </a:xfrm>
          <a:prstGeom prst="rect">
            <a:avLst/>
          </a:prstGeom>
          <a:noFill/>
          <a:ln/>
        </p:spPr>
        <p:txBody>
          <a:bodyPr wrap="square" lIns="0" tIns="0" rIns="0" bIns="0" rtlCol="0" anchor="ctr"/>
          <a:lstStyle/>
          <a:p>
            <a:pPr algn="l" indent="0" marL="0">
              <a:buNone/>
            </a:pPr>
            <a:r>
              <a:rPr lang="en-US" sz="1200" b="1" dirty="0">
                <a:solidFill>
                  <a:srgbClr val="22252A"/>
                </a:solidFill>
                <a:latin typeface="Calibri" pitchFamily="34" charset="0"/>
                <a:ea typeface="Calibri" pitchFamily="34" charset="-122"/>
                <a:cs typeface="Calibri" pitchFamily="34" charset="-120"/>
              </a:rPr>
              <a:t>Finds optimal π</a:t>
            </a:r>
            <a:endParaRPr lang="en-US" sz="1200" dirty="0"/>
          </a:p>
        </p:txBody>
      </p:sp>
      <p:sp>
        <p:nvSpPr>
          <p:cNvPr id="54" name="Shape 52"/>
          <p:cNvSpPr/>
          <p:nvPr/>
        </p:nvSpPr>
        <p:spPr>
          <a:xfrm>
            <a:off x="2615184" y="4261104"/>
            <a:ext cx="2176272" cy="457200"/>
          </a:xfrm>
          <a:prstGeom prst="roundRect">
            <a:avLst>
              <a:gd name="adj" fmla="val 10000"/>
            </a:avLst>
          </a:prstGeom>
          <a:solidFill>
            <a:srgbClr val="FAFBFB"/>
          </a:solidFill>
          <a:ln/>
        </p:spPr>
      </p:sp>
      <p:sp>
        <p:nvSpPr>
          <p:cNvPr id="55" name="Text 53"/>
          <p:cNvSpPr/>
          <p:nvPr/>
        </p:nvSpPr>
        <p:spPr>
          <a:xfrm>
            <a:off x="2615184" y="4261104"/>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yes</a:t>
            </a:r>
            <a:endParaRPr lang="en-US" sz="1250" dirty="0"/>
          </a:p>
        </p:txBody>
      </p:sp>
      <p:sp>
        <p:nvSpPr>
          <p:cNvPr id="56" name="Shape 54"/>
          <p:cNvSpPr/>
          <p:nvPr/>
        </p:nvSpPr>
        <p:spPr>
          <a:xfrm>
            <a:off x="4846320" y="4261104"/>
            <a:ext cx="2176272" cy="457200"/>
          </a:xfrm>
          <a:prstGeom prst="roundRect">
            <a:avLst>
              <a:gd name="adj" fmla="val 10000"/>
            </a:avLst>
          </a:prstGeom>
          <a:solidFill>
            <a:srgbClr val="FAFBFB"/>
          </a:solidFill>
          <a:ln/>
        </p:spPr>
      </p:sp>
      <p:sp>
        <p:nvSpPr>
          <p:cNvPr id="57" name="Text 55"/>
          <p:cNvSpPr/>
          <p:nvPr/>
        </p:nvSpPr>
        <p:spPr>
          <a:xfrm>
            <a:off x="4846320" y="4261104"/>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no</a:t>
            </a:r>
            <a:endParaRPr lang="en-US" sz="1250" dirty="0"/>
          </a:p>
        </p:txBody>
      </p:sp>
      <p:sp>
        <p:nvSpPr>
          <p:cNvPr id="58" name="Shape 56"/>
          <p:cNvSpPr/>
          <p:nvPr/>
        </p:nvSpPr>
        <p:spPr>
          <a:xfrm>
            <a:off x="7077456" y="4261104"/>
            <a:ext cx="2176272" cy="457200"/>
          </a:xfrm>
          <a:prstGeom prst="roundRect">
            <a:avLst>
              <a:gd name="adj" fmla="val 10000"/>
            </a:avLst>
          </a:prstGeom>
          <a:solidFill>
            <a:srgbClr val="FAFBFB"/>
          </a:solidFill>
          <a:ln/>
        </p:spPr>
      </p:sp>
      <p:sp>
        <p:nvSpPr>
          <p:cNvPr id="59" name="Text 57"/>
          <p:cNvSpPr/>
          <p:nvPr/>
        </p:nvSpPr>
        <p:spPr>
          <a:xfrm>
            <a:off x="7077456" y="4261104"/>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no</a:t>
            </a:r>
            <a:endParaRPr lang="en-US" sz="1250" dirty="0"/>
          </a:p>
        </p:txBody>
      </p:sp>
      <p:sp>
        <p:nvSpPr>
          <p:cNvPr id="60" name="Shape 58"/>
          <p:cNvSpPr/>
          <p:nvPr/>
        </p:nvSpPr>
        <p:spPr>
          <a:xfrm>
            <a:off x="9308592" y="4261104"/>
            <a:ext cx="2322576" cy="457200"/>
          </a:xfrm>
          <a:prstGeom prst="roundRect">
            <a:avLst>
              <a:gd name="adj" fmla="val 10000"/>
            </a:avLst>
          </a:prstGeom>
          <a:solidFill>
            <a:srgbClr val="FBEAED"/>
          </a:solidFill>
          <a:ln/>
        </p:spPr>
      </p:sp>
      <p:sp>
        <p:nvSpPr>
          <p:cNvPr id="61" name="Text 59"/>
          <p:cNvSpPr/>
          <p:nvPr/>
        </p:nvSpPr>
        <p:spPr>
          <a:xfrm>
            <a:off x="9308592" y="4261104"/>
            <a:ext cx="2322576" cy="457200"/>
          </a:xfrm>
          <a:prstGeom prst="rect">
            <a:avLst/>
          </a:prstGeom>
          <a:noFill/>
          <a:ln/>
        </p:spPr>
        <p:txBody>
          <a:bodyPr wrap="square" lIns="0" tIns="0" rIns="0" bIns="0" rtlCol="0" anchor="ctr"/>
          <a:lstStyle/>
          <a:p>
            <a:pPr algn="ctr" indent="0" marL="0">
              <a:buNone/>
            </a:pPr>
            <a:r>
              <a:rPr lang="en-US" sz="1250" b="1" dirty="0">
                <a:solidFill>
                  <a:srgbClr val="8E0B20"/>
                </a:solidFill>
                <a:latin typeface="Calibri" pitchFamily="34" charset="0"/>
                <a:ea typeface="Calibri" pitchFamily="34" charset="-122"/>
                <a:cs typeface="Calibri" pitchFamily="34" charset="-120"/>
              </a:rPr>
              <a:t>yes</a:t>
            </a:r>
            <a:endParaRPr lang="en-US" sz="1250" dirty="0"/>
          </a:p>
        </p:txBody>
      </p:sp>
      <p:sp>
        <p:nvSpPr>
          <p:cNvPr id="62" name="Text 60"/>
          <p:cNvSpPr/>
          <p:nvPr/>
        </p:nvSpPr>
        <p:spPr>
          <a:xfrm>
            <a:off x="621792" y="4736592"/>
            <a:ext cx="1956816" cy="457200"/>
          </a:xfrm>
          <a:prstGeom prst="rect">
            <a:avLst/>
          </a:prstGeom>
          <a:noFill/>
          <a:ln/>
        </p:spPr>
        <p:txBody>
          <a:bodyPr wrap="square" lIns="0" tIns="0" rIns="0" bIns="0" rtlCol="0" anchor="ctr"/>
          <a:lstStyle/>
          <a:p>
            <a:pPr algn="l" indent="0" marL="0">
              <a:buNone/>
            </a:pPr>
            <a:r>
              <a:rPr lang="en-US" sz="1200" b="1" dirty="0">
                <a:solidFill>
                  <a:srgbClr val="22252A"/>
                </a:solidFill>
                <a:latin typeface="Calibri" pitchFamily="34" charset="0"/>
                <a:ea typeface="Calibri" pitchFamily="34" charset="-122"/>
                <a:cs typeface="Calibri" pitchFamily="34" charset="-120"/>
              </a:rPr>
              <a:t>On/off policy</a:t>
            </a:r>
            <a:endParaRPr lang="en-US" sz="1200" dirty="0"/>
          </a:p>
        </p:txBody>
      </p:sp>
      <p:sp>
        <p:nvSpPr>
          <p:cNvPr id="63" name="Shape 61"/>
          <p:cNvSpPr/>
          <p:nvPr/>
        </p:nvSpPr>
        <p:spPr>
          <a:xfrm>
            <a:off x="2615184" y="4736592"/>
            <a:ext cx="2176272" cy="457200"/>
          </a:xfrm>
          <a:prstGeom prst="roundRect">
            <a:avLst>
              <a:gd name="adj" fmla="val 10000"/>
            </a:avLst>
          </a:prstGeom>
          <a:solidFill>
            <a:srgbClr val="F4F5F6"/>
          </a:solidFill>
          <a:ln/>
        </p:spPr>
      </p:sp>
      <p:sp>
        <p:nvSpPr>
          <p:cNvPr id="64" name="Text 62"/>
          <p:cNvSpPr/>
          <p:nvPr/>
        </p:nvSpPr>
        <p:spPr>
          <a:xfrm>
            <a:off x="2615184" y="4736592"/>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n/a</a:t>
            </a:r>
            <a:endParaRPr lang="en-US" sz="1250" dirty="0"/>
          </a:p>
        </p:txBody>
      </p:sp>
      <p:sp>
        <p:nvSpPr>
          <p:cNvPr id="65" name="Shape 63"/>
          <p:cNvSpPr/>
          <p:nvPr/>
        </p:nvSpPr>
        <p:spPr>
          <a:xfrm>
            <a:off x="4846320" y="4736592"/>
            <a:ext cx="2176272" cy="457200"/>
          </a:xfrm>
          <a:prstGeom prst="roundRect">
            <a:avLst>
              <a:gd name="adj" fmla="val 10000"/>
            </a:avLst>
          </a:prstGeom>
          <a:solidFill>
            <a:srgbClr val="F4F5F6"/>
          </a:solidFill>
          <a:ln/>
        </p:spPr>
      </p:sp>
      <p:sp>
        <p:nvSpPr>
          <p:cNvPr id="66" name="Text 64"/>
          <p:cNvSpPr/>
          <p:nvPr/>
        </p:nvSpPr>
        <p:spPr>
          <a:xfrm>
            <a:off x="4846320" y="4736592"/>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on</a:t>
            </a:r>
            <a:endParaRPr lang="en-US" sz="1250" dirty="0"/>
          </a:p>
        </p:txBody>
      </p:sp>
      <p:sp>
        <p:nvSpPr>
          <p:cNvPr id="67" name="Shape 65"/>
          <p:cNvSpPr/>
          <p:nvPr/>
        </p:nvSpPr>
        <p:spPr>
          <a:xfrm>
            <a:off x="7077456" y="4736592"/>
            <a:ext cx="2176272" cy="457200"/>
          </a:xfrm>
          <a:prstGeom prst="roundRect">
            <a:avLst>
              <a:gd name="adj" fmla="val 10000"/>
            </a:avLst>
          </a:prstGeom>
          <a:solidFill>
            <a:srgbClr val="F4F5F6"/>
          </a:solidFill>
          <a:ln/>
        </p:spPr>
      </p:sp>
      <p:sp>
        <p:nvSpPr>
          <p:cNvPr id="68" name="Text 66"/>
          <p:cNvSpPr/>
          <p:nvPr/>
        </p:nvSpPr>
        <p:spPr>
          <a:xfrm>
            <a:off x="7077456" y="4736592"/>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on</a:t>
            </a:r>
            <a:endParaRPr lang="en-US" sz="1250" dirty="0"/>
          </a:p>
        </p:txBody>
      </p:sp>
      <p:sp>
        <p:nvSpPr>
          <p:cNvPr id="69" name="Shape 67"/>
          <p:cNvSpPr/>
          <p:nvPr/>
        </p:nvSpPr>
        <p:spPr>
          <a:xfrm>
            <a:off x="9308592" y="4736592"/>
            <a:ext cx="2322576" cy="457200"/>
          </a:xfrm>
          <a:prstGeom prst="roundRect">
            <a:avLst>
              <a:gd name="adj" fmla="val 10000"/>
            </a:avLst>
          </a:prstGeom>
          <a:solidFill>
            <a:srgbClr val="FBEAED"/>
          </a:solidFill>
          <a:ln/>
        </p:spPr>
      </p:sp>
      <p:sp>
        <p:nvSpPr>
          <p:cNvPr id="70" name="Text 68"/>
          <p:cNvSpPr/>
          <p:nvPr/>
        </p:nvSpPr>
        <p:spPr>
          <a:xfrm>
            <a:off x="9308592" y="4736592"/>
            <a:ext cx="2322576" cy="457200"/>
          </a:xfrm>
          <a:prstGeom prst="rect">
            <a:avLst/>
          </a:prstGeom>
          <a:noFill/>
          <a:ln/>
        </p:spPr>
        <p:txBody>
          <a:bodyPr wrap="square" lIns="0" tIns="0" rIns="0" bIns="0" rtlCol="0" anchor="ctr"/>
          <a:lstStyle/>
          <a:p>
            <a:pPr algn="ctr" indent="0" marL="0">
              <a:buNone/>
            </a:pPr>
            <a:r>
              <a:rPr lang="en-US" sz="1250" b="1" dirty="0">
                <a:solidFill>
                  <a:srgbClr val="8E0B20"/>
                </a:solidFill>
                <a:latin typeface="Calibri" pitchFamily="34" charset="0"/>
                <a:ea typeface="Calibri" pitchFamily="34" charset="-122"/>
                <a:cs typeface="Calibri" pitchFamily="34" charset="-120"/>
              </a:rPr>
              <a:t>off</a:t>
            </a:r>
            <a:endParaRPr lang="en-US" sz="1250" dirty="0"/>
          </a:p>
        </p:txBody>
      </p:sp>
      <p:sp>
        <p:nvSpPr>
          <p:cNvPr id="71" name="Text 69"/>
          <p:cNvSpPr/>
          <p:nvPr/>
        </p:nvSpPr>
        <p:spPr>
          <a:xfrm>
            <a:off x="621792" y="5212080"/>
            <a:ext cx="1956816" cy="457200"/>
          </a:xfrm>
          <a:prstGeom prst="rect">
            <a:avLst/>
          </a:prstGeom>
          <a:noFill/>
          <a:ln/>
        </p:spPr>
        <p:txBody>
          <a:bodyPr wrap="square" lIns="0" tIns="0" rIns="0" bIns="0" rtlCol="0" anchor="ctr"/>
          <a:lstStyle/>
          <a:p>
            <a:pPr algn="l" indent="0" marL="0">
              <a:buNone/>
            </a:pPr>
            <a:r>
              <a:rPr lang="en-US" sz="1200" b="1" dirty="0">
                <a:solidFill>
                  <a:srgbClr val="22252A"/>
                </a:solidFill>
                <a:latin typeface="Calibri" pitchFamily="34" charset="0"/>
                <a:ea typeface="Calibri" pitchFamily="34" charset="-122"/>
                <a:cs typeface="Calibri" pitchFamily="34" charset="-120"/>
              </a:rPr>
              <a:t>AIMA section</a:t>
            </a:r>
            <a:endParaRPr lang="en-US" sz="1200" dirty="0"/>
          </a:p>
        </p:txBody>
      </p:sp>
      <p:sp>
        <p:nvSpPr>
          <p:cNvPr id="72" name="Shape 70"/>
          <p:cNvSpPr/>
          <p:nvPr/>
        </p:nvSpPr>
        <p:spPr>
          <a:xfrm>
            <a:off x="2615184" y="5212080"/>
            <a:ext cx="2176272" cy="457200"/>
          </a:xfrm>
          <a:prstGeom prst="roundRect">
            <a:avLst>
              <a:gd name="adj" fmla="val 10000"/>
            </a:avLst>
          </a:prstGeom>
          <a:solidFill>
            <a:srgbClr val="FAFBFB"/>
          </a:solidFill>
          <a:ln/>
        </p:spPr>
      </p:sp>
      <p:sp>
        <p:nvSpPr>
          <p:cNvPr id="73" name="Text 71"/>
          <p:cNvSpPr/>
          <p:nvPr/>
        </p:nvSpPr>
        <p:spPr>
          <a:xfrm>
            <a:off x="2615184" y="5212080"/>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22.2.2</a:t>
            </a:r>
            <a:endParaRPr lang="en-US" sz="1250" dirty="0"/>
          </a:p>
        </p:txBody>
      </p:sp>
      <p:sp>
        <p:nvSpPr>
          <p:cNvPr id="74" name="Shape 72"/>
          <p:cNvSpPr/>
          <p:nvPr/>
        </p:nvSpPr>
        <p:spPr>
          <a:xfrm>
            <a:off x="4846320" y="5212080"/>
            <a:ext cx="2176272" cy="457200"/>
          </a:xfrm>
          <a:prstGeom prst="roundRect">
            <a:avLst>
              <a:gd name="adj" fmla="val 10000"/>
            </a:avLst>
          </a:prstGeom>
          <a:solidFill>
            <a:srgbClr val="FAFBFB"/>
          </a:solidFill>
          <a:ln/>
        </p:spPr>
      </p:sp>
      <p:sp>
        <p:nvSpPr>
          <p:cNvPr id="75" name="Text 73"/>
          <p:cNvSpPr/>
          <p:nvPr/>
        </p:nvSpPr>
        <p:spPr>
          <a:xfrm>
            <a:off x="4846320" y="5212080"/>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22.2.1</a:t>
            </a:r>
            <a:endParaRPr lang="en-US" sz="1250" dirty="0"/>
          </a:p>
        </p:txBody>
      </p:sp>
      <p:sp>
        <p:nvSpPr>
          <p:cNvPr id="76" name="Shape 74"/>
          <p:cNvSpPr/>
          <p:nvPr/>
        </p:nvSpPr>
        <p:spPr>
          <a:xfrm>
            <a:off x="7077456" y="5212080"/>
            <a:ext cx="2176272" cy="457200"/>
          </a:xfrm>
          <a:prstGeom prst="roundRect">
            <a:avLst>
              <a:gd name="adj" fmla="val 10000"/>
            </a:avLst>
          </a:prstGeom>
          <a:solidFill>
            <a:srgbClr val="FAFBFB"/>
          </a:solidFill>
          <a:ln/>
        </p:spPr>
      </p:sp>
      <p:sp>
        <p:nvSpPr>
          <p:cNvPr id="77" name="Text 75"/>
          <p:cNvSpPr/>
          <p:nvPr/>
        </p:nvSpPr>
        <p:spPr>
          <a:xfrm>
            <a:off x="7077456" y="5212080"/>
            <a:ext cx="2176272" cy="457200"/>
          </a:xfrm>
          <a:prstGeom prst="rect">
            <a:avLst/>
          </a:prstGeom>
          <a:noFill/>
          <a:ln/>
        </p:spPr>
        <p:txBody>
          <a:bodyPr wrap="square" lIns="0" tIns="0" rIns="0" bIns="0" rtlCol="0" anchor="ctr"/>
          <a:lstStyle/>
          <a:p>
            <a:pPr algn="ctr" indent="0" marL="0">
              <a:buNone/>
            </a:pPr>
            <a:r>
              <a:rPr lang="en-US" sz="1250" dirty="0">
                <a:solidFill>
                  <a:srgbClr val="3C4047"/>
                </a:solidFill>
                <a:latin typeface="Calibri" pitchFamily="34" charset="0"/>
                <a:ea typeface="Calibri" pitchFamily="34" charset="-122"/>
                <a:cs typeface="Calibri" pitchFamily="34" charset="-120"/>
              </a:rPr>
              <a:t>22.2.3</a:t>
            </a:r>
            <a:endParaRPr lang="en-US" sz="1250" dirty="0"/>
          </a:p>
        </p:txBody>
      </p:sp>
      <p:sp>
        <p:nvSpPr>
          <p:cNvPr id="78" name="Shape 76"/>
          <p:cNvSpPr/>
          <p:nvPr/>
        </p:nvSpPr>
        <p:spPr>
          <a:xfrm>
            <a:off x="9308592" y="5212080"/>
            <a:ext cx="2322576" cy="457200"/>
          </a:xfrm>
          <a:prstGeom prst="roundRect">
            <a:avLst>
              <a:gd name="adj" fmla="val 10000"/>
            </a:avLst>
          </a:prstGeom>
          <a:solidFill>
            <a:srgbClr val="FBEAED"/>
          </a:solidFill>
          <a:ln/>
        </p:spPr>
      </p:sp>
      <p:sp>
        <p:nvSpPr>
          <p:cNvPr id="79" name="Text 77"/>
          <p:cNvSpPr/>
          <p:nvPr/>
        </p:nvSpPr>
        <p:spPr>
          <a:xfrm>
            <a:off x="9308592" y="5212080"/>
            <a:ext cx="2322576" cy="457200"/>
          </a:xfrm>
          <a:prstGeom prst="rect">
            <a:avLst/>
          </a:prstGeom>
          <a:noFill/>
          <a:ln/>
        </p:spPr>
        <p:txBody>
          <a:bodyPr wrap="square" lIns="0" tIns="0" rIns="0" bIns="0" rtlCol="0" anchor="ctr"/>
          <a:lstStyle/>
          <a:p>
            <a:pPr algn="ctr" indent="0" marL="0">
              <a:buNone/>
            </a:pPr>
            <a:r>
              <a:rPr lang="en-US" sz="1250" b="1" dirty="0">
                <a:solidFill>
                  <a:srgbClr val="8E0B20"/>
                </a:solidFill>
                <a:latin typeface="Calibri" pitchFamily="34" charset="0"/>
                <a:ea typeface="Calibri" pitchFamily="34" charset="-122"/>
                <a:cs typeface="Calibri" pitchFamily="34" charset="-120"/>
              </a:rPr>
              <a:t>22.3.3</a:t>
            </a:r>
            <a:endParaRPr lang="en-US" sz="1250" dirty="0"/>
          </a:p>
        </p:txBody>
      </p:sp>
      <p:sp>
        <p:nvSpPr>
          <p:cNvPr id="80" name="Shape 78"/>
          <p:cNvSpPr/>
          <p:nvPr/>
        </p:nvSpPr>
        <p:spPr>
          <a:xfrm>
            <a:off x="566928" y="5760720"/>
            <a:ext cx="11057839" cy="493776"/>
          </a:xfrm>
          <a:prstGeom prst="roundRect">
            <a:avLst>
              <a:gd name="adj" fmla="val 16667"/>
            </a:avLst>
          </a:prstGeom>
          <a:solidFill>
            <a:srgbClr val="FBEAED"/>
          </a:solidFill>
          <a:ln/>
        </p:spPr>
      </p:sp>
      <p:sp>
        <p:nvSpPr>
          <p:cNvPr id="81" name="Shape 79"/>
          <p:cNvSpPr/>
          <p:nvPr/>
        </p:nvSpPr>
        <p:spPr>
          <a:xfrm>
            <a:off x="786384" y="5916168"/>
            <a:ext cx="182880" cy="182880"/>
          </a:xfrm>
          <a:prstGeom prst="ellipse">
            <a:avLst/>
          </a:prstGeom>
          <a:solidFill>
            <a:srgbClr val="C8102E"/>
          </a:solidFill>
          <a:ln/>
        </p:spPr>
      </p:sp>
      <p:sp>
        <p:nvSpPr>
          <p:cNvPr id="82" name="Text 80"/>
          <p:cNvSpPr/>
          <p:nvPr/>
        </p:nvSpPr>
        <p:spPr>
          <a:xfrm>
            <a:off x="1115568" y="5760720"/>
            <a:ext cx="10289743" cy="493776"/>
          </a:xfrm>
          <a:prstGeom prst="rect">
            <a:avLst/>
          </a:prstGeom>
          <a:noFill/>
          <a:ln/>
        </p:spPr>
        <p:txBody>
          <a:bodyPr wrap="square" lIns="0" tIns="0" rIns="0" bIns="0" rtlCol="0" anchor="ctr"/>
          <a:lstStyle/>
          <a:p>
            <a:pPr indent="0" marL="0">
              <a:buNone/>
            </a:pPr>
            <a:r>
              <a:rPr lang="en-US" sz="1350" b="1" dirty="0">
                <a:solidFill>
                  <a:srgbClr val="8E0B20"/>
                </a:solidFill>
                <a:latin typeface="Calibri" pitchFamily="34" charset="0"/>
                <a:ea typeface="Calibri" pitchFamily="34" charset="-122"/>
                <a:cs typeface="Calibri" pitchFamily="34" charset="-120"/>
              </a:rPr>
              <a:t>Only two rows separate Q-learning from TD learning, and those two rows are the entire reason Q-learning exists.</a:t>
            </a:r>
            <a:endParaRPr lang="en-US" sz="1350" dirty="0"/>
          </a:p>
        </p:txBody>
      </p:sp>
      <p:sp>
        <p:nvSpPr>
          <p:cNvPr id="83" name="Text 81"/>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84" name="Text 82"/>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60</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22252A"/>
        </a:solidFill>
      </p:bgPr>
    </p:bg>
    <p:spTree>
      <p:nvGrpSpPr>
        <p:cNvPr id="1" name=""/>
        <p:cNvGrpSpPr/>
        <p:nvPr/>
      </p:nvGrpSpPr>
      <p:grpSpPr>
        <a:xfrm>
          <a:off x="0" y="0"/>
          <a:ext cx="0" cy="0"/>
          <a:chOff x="0" y="0"/>
          <a:chExt cx="0" cy="0"/>
        </a:xfrm>
      </p:grpSpPr>
      <p:sp>
        <p:nvSpPr>
          <p:cNvPr id="2" name="Text 0"/>
          <p:cNvSpPr/>
          <p:nvPr/>
        </p:nvSpPr>
        <p:spPr>
          <a:xfrm>
            <a:off x="566928" y="658368"/>
            <a:ext cx="1042416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Five things to carry out of this room</a:t>
            </a:r>
            <a:endParaRPr lang="en-US" sz="3000" dirty="0"/>
          </a:p>
        </p:txBody>
      </p:sp>
      <p:sp>
        <p:nvSpPr>
          <p:cNvPr id="3" name="Shape 1"/>
          <p:cNvSpPr/>
          <p:nvPr/>
        </p:nvSpPr>
        <p:spPr>
          <a:xfrm>
            <a:off x="566928" y="1591056"/>
            <a:ext cx="402336" cy="402336"/>
          </a:xfrm>
          <a:prstGeom prst="ellipse">
            <a:avLst/>
          </a:prstGeom>
          <a:solidFill>
            <a:srgbClr val="C8102E"/>
          </a:solidFill>
          <a:ln/>
        </p:spPr>
      </p:sp>
      <p:sp>
        <p:nvSpPr>
          <p:cNvPr id="4" name="Text 2"/>
          <p:cNvSpPr/>
          <p:nvPr/>
        </p:nvSpPr>
        <p:spPr>
          <a:xfrm>
            <a:off x="566928" y="159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225296" y="1536192"/>
            <a:ext cx="10058400" cy="402336"/>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RL is an MDP with T and R withheld.</a:t>
            </a:r>
            <a:endParaRPr lang="en-US" sz="1650" dirty="0"/>
          </a:p>
        </p:txBody>
      </p:sp>
      <p:sp>
        <p:nvSpPr>
          <p:cNvPr id="6" name="Text 4"/>
          <p:cNvSpPr/>
          <p:nvPr/>
        </p:nvSpPr>
        <p:spPr>
          <a:xfrm>
            <a:off x="1225296" y="1938528"/>
            <a:ext cx="10058400" cy="365760"/>
          </a:xfrm>
          <a:prstGeom prst="rect">
            <a:avLst/>
          </a:prstGeom>
          <a:noFill/>
          <a:ln/>
        </p:spPr>
        <p:txBody>
          <a:bodyPr wrap="square" lIns="0" tIns="0" rIns="0" bIns="0" rtlCol="0" anchor="ctr"/>
          <a:lstStyle/>
          <a:p>
            <a:pPr indent="0" marL="0">
              <a:buNone/>
            </a:pPr>
            <a:r>
              <a:rPr lang="en-US" sz="1300" dirty="0">
                <a:solidFill>
                  <a:srgbClr val="A9AFB6"/>
                </a:solidFill>
                <a:latin typeface="Calibri" pitchFamily="34" charset="0"/>
                <a:ea typeface="Calibri" pitchFamily="34" charset="-122"/>
                <a:cs typeface="Calibri" pitchFamily="34" charset="-120"/>
              </a:rPr>
              <a:t>The formalism is unchanged. Only the agent's access to it changed.</a:t>
            </a:r>
            <a:endParaRPr lang="en-US" sz="1300" dirty="0"/>
          </a:p>
        </p:txBody>
      </p:sp>
      <p:sp>
        <p:nvSpPr>
          <p:cNvPr id="7" name="Shape 5"/>
          <p:cNvSpPr/>
          <p:nvPr/>
        </p:nvSpPr>
        <p:spPr>
          <a:xfrm>
            <a:off x="566928" y="2505456"/>
            <a:ext cx="402336" cy="402336"/>
          </a:xfrm>
          <a:prstGeom prst="ellipse">
            <a:avLst/>
          </a:prstGeom>
          <a:solidFill>
            <a:srgbClr val="C8102E"/>
          </a:solidFill>
          <a:ln/>
        </p:spPr>
      </p:sp>
      <p:sp>
        <p:nvSpPr>
          <p:cNvPr id="8" name="Text 6"/>
          <p:cNvSpPr/>
          <p:nvPr/>
        </p:nvSpPr>
        <p:spPr>
          <a:xfrm>
            <a:off x="566928" y="25054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225296" y="2450592"/>
            <a:ext cx="10058400" cy="402336"/>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Any expectation can be replaced by a running average of samples.</a:t>
            </a:r>
            <a:endParaRPr lang="en-US" sz="1650" dirty="0"/>
          </a:p>
        </p:txBody>
      </p:sp>
      <p:sp>
        <p:nvSpPr>
          <p:cNvPr id="10" name="Text 8"/>
          <p:cNvSpPr/>
          <p:nvPr/>
        </p:nvSpPr>
        <p:spPr>
          <a:xfrm>
            <a:off x="1225296" y="2852928"/>
            <a:ext cx="10058400" cy="365760"/>
          </a:xfrm>
          <a:prstGeom prst="rect">
            <a:avLst/>
          </a:prstGeom>
          <a:noFill/>
          <a:ln/>
        </p:spPr>
        <p:txBody>
          <a:bodyPr wrap="square" lIns="0" tIns="0" rIns="0" bIns="0" rtlCol="0" anchor="ctr"/>
          <a:lstStyle/>
          <a:p>
            <a:pPr indent="0" marL="0">
              <a:buNone/>
            </a:pPr>
            <a:r>
              <a:rPr lang="en-US" sz="1300" dirty="0">
                <a:solidFill>
                  <a:srgbClr val="A9AFB6"/>
                </a:solidFill>
                <a:latin typeface="Calibri" pitchFamily="34" charset="0"/>
                <a:ea typeface="Calibri" pitchFamily="34" charset="-122"/>
                <a:cs typeface="Calibri" pitchFamily="34" charset="-120"/>
              </a:rPr>
              <a:t>This one substitution generates every model-free algorithm in the lecture.</a:t>
            </a:r>
            <a:endParaRPr lang="en-US" sz="1300" dirty="0"/>
          </a:p>
        </p:txBody>
      </p:sp>
      <p:sp>
        <p:nvSpPr>
          <p:cNvPr id="11" name="Shape 9"/>
          <p:cNvSpPr/>
          <p:nvPr/>
        </p:nvSpPr>
        <p:spPr>
          <a:xfrm>
            <a:off x="566928" y="3419856"/>
            <a:ext cx="402336" cy="402336"/>
          </a:xfrm>
          <a:prstGeom prst="ellipse">
            <a:avLst/>
          </a:prstGeom>
          <a:solidFill>
            <a:srgbClr val="C8102E"/>
          </a:solidFill>
          <a:ln/>
        </p:spPr>
      </p:sp>
      <p:sp>
        <p:nvSpPr>
          <p:cNvPr id="12" name="Text 10"/>
          <p:cNvSpPr/>
          <p:nvPr/>
        </p:nvSpPr>
        <p:spPr>
          <a:xfrm>
            <a:off x="566928" y="34198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25296" y="3364992"/>
            <a:ext cx="10058400" cy="402336"/>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TD learning exploits connectivity; direct evaluation throws it away.</a:t>
            </a:r>
            <a:endParaRPr lang="en-US" sz="1650" dirty="0"/>
          </a:p>
        </p:txBody>
      </p:sp>
      <p:sp>
        <p:nvSpPr>
          <p:cNvPr id="14" name="Text 12"/>
          <p:cNvSpPr/>
          <p:nvPr/>
        </p:nvSpPr>
        <p:spPr>
          <a:xfrm>
            <a:off x="1225296" y="3767328"/>
            <a:ext cx="10058400" cy="365760"/>
          </a:xfrm>
          <a:prstGeom prst="rect">
            <a:avLst/>
          </a:prstGeom>
          <a:noFill/>
          <a:ln/>
        </p:spPr>
        <p:txBody>
          <a:bodyPr wrap="square" lIns="0" tIns="0" rIns="0" bIns="0" rtlCol="0" anchor="ctr"/>
          <a:lstStyle/>
          <a:p>
            <a:pPr indent="0" marL="0">
              <a:buNone/>
            </a:pPr>
            <a:r>
              <a:rPr lang="en-US" sz="1300" dirty="0">
                <a:solidFill>
                  <a:srgbClr val="A9AFB6"/>
                </a:solidFill>
                <a:latin typeface="Calibri" pitchFamily="34" charset="0"/>
                <a:ea typeface="Calibri" pitchFamily="34" charset="-122"/>
                <a:cs typeface="Calibri" pitchFamily="34" charset="-120"/>
              </a:rPr>
              <a:t>That is why B and E came out at +8 and −2 when they had to be equal.</a:t>
            </a:r>
            <a:endParaRPr lang="en-US" sz="1300" dirty="0"/>
          </a:p>
        </p:txBody>
      </p:sp>
      <p:sp>
        <p:nvSpPr>
          <p:cNvPr id="15" name="Shape 13"/>
          <p:cNvSpPr/>
          <p:nvPr/>
        </p:nvSpPr>
        <p:spPr>
          <a:xfrm>
            <a:off x="566928" y="4334256"/>
            <a:ext cx="402336" cy="402336"/>
          </a:xfrm>
          <a:prstGeom prst="ellipse">
            <a:avLst/>
          </a:prstGeom>
          <a:solidFill>
            <a:srgbClr val="C8102E"/>
          </a:solidFill>
          <a:ln/>
        </p:spPr>
      </p:sp>
      <p:sp>
        <p:nvSpPr>
          <p:cNvPr id="16" name="Text 14"/>
          <p:cNvSpPr/>
          <p:nvPr/>
        </p:nvSpPr>
        <p:spPr>
          <a:xfrm>
            <a:off x="566928" y="43342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225296" y="4279392"/>
            <a:ext cx="10058400" cy="402336"/>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Learn Q-values, not state values, if you intend to act.</a:t>
            </a:r>
            <a:endParaRPr lang="en-US" sz="1650" dirty="0"/>
          </a:p>
        </p:txBody>
      </p:sp>
      <p:sp>
        <p:nvSpPr>
          <p:cNvPr id="18" name="Text 16"/>
          <p:cNvSpPr/>
          <p:nvPr/>
        </p:nvSpPr>
        <p:spPr>
          <a:xfrm>
            <a:off x="1225296" y="4681728"/>
            <a:ext cx="10058400" cy="365760"/>
          </a:xfrm>
          <a:prstGeom prst="rect">
            <a:avLst/>
          </a:prstGeom>
          <a:noFill/>
          <a:ln/>
        </p:spPr>
        <p:txBody>
          <a:bodyPr wrap="square" lIns="0" tIns="0" rIns="0" bIns="0" rtlCol="0" anchor="ctr"/>
          <a:lstStyle/>
          <a:p>
            <a:pPr indent="0" marL="0">
              <a:buNone/>
            </a:pPr>
            <a:r>
              <a:rPr lang="en-US" sz="1300" dirty="0">
                <a:solidFill>
                  <a:srgbClr val="A9AFB6"/>
                </a:solidFill>
                <a:latin typeface="Calibri" pitchFamily="34" charset="0"/>
                <a:ea typeface="Calibri" pitchFamily="34" charset="-122"/>
                <a:cs typeface="Calibri" pitchFamily="34" charset="-120"/>
              </a:rPr>
              <a:t>Q makes action selection model-free. V does not.</a:t>
            </a:r>
            <a:endParaRPr lang="en-US" sz="1300" dirty="0"/>
          </a:p>
        </p:txBody>
      </p:sp>
      <p:sp>
        <p:nvSpPr>
          <p:cNvPr id="19" name="Shape 17"/>
          <p:cNvSpPr/>
          <p:nvPr/>
        </p:nvSpPr>
        <p:spPr>
          <a:xfrm>
            <a:off x="566928" y="5248656"/>
            <a:ext cx="402336" cy="402336"/>
          </a:xfrm>
          <a:prstGeom prst="ellipse">
            <a:avLst/>
          </a:prstGeom>
          <a:solidFill>
            <a:srgbClr val="C8102E"/>
          </a:solidFill>
          <a:ln/>
        </p:spPr>
      </p:sp>
      <p:sp>
        <p:nvSpPr>
          <p:cNvPr id="20" name="Text 18"/>
          <p:cNvSpPr/>
          <p:nvPr/>
        </p:nvSpPr>
        <p:spPr>
          <a:xfrm>
            <a:off x="566928" y="52486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1225296" y="5193792"/>
            <a:ext cx="10058400" cy="402336"/>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The max inside the Q update is what makes learning off-policy.</a:t>
            </a:r>
            <a:endParaRPr lang="en-US" sz="1650" dirty="0"/>
          </a:p>
        </p:txBody>
      </p:sp>
      <p:sp>
        <p:nvSpPr>
          <p:cNvPr id="22" name="Text 20"/>
          <p:cNvSpPr/>
          <p:nvPr/>
        </p:nvSpPr>
        <p:spPr>
          <a:xfrm>
            <a:off x="1225296" y="5596128"/>
            <a:ext cx="10058400" cy="365760"/>
          </a:xfrm>
          <a:prstGeom prst="rect">
            <a:avLst/>
          </a:prstGeom>
          <a:noFill/>
          <a:ln/>
        </p:spPr>
        <p:txBody>
          <a:bodyPr wrap="square" lIns="0" tIns="0" rIns="0" bIns="0" rtlCol="0" anchor="ctr"/>
          <a:lstStyle/>
          <a:p>
            <a:pPr indent="0" marL="0">
              <a:buNone/>
            </a:pPr>
            <a:r>
              <a:rPr lang="en-US" sz="1300" dirty="0">
                <a:solidFill>
                  <a:srgbClr val="A9AFB6"/>
                </a:solidFill>
                <a:latin typeface="Calibri" pitchFamily="34" charset="0"/>
                <a:ea typeface="Calibri" pitchFamily="34" charset="-122"/>
                <a:cs typeface="Calibri" pitchFamily="34" charset="-120"/>
              </a:rPr>
              <a:t>You can behave terribly and still converge to optimal behaviour.</a:t>
            </a:r>
            <a:endParaRPr lang="en-US" sz="1300" dirty="0"/>
          </a:p>
        </p:txBody>
      </p:sp>
      <p:sp>
        <p:nvSpPr>
          <p:cNvPr id="23" name="Text 21"/>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8A8F96"/>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4" name="Text 22"/>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8A8F96"/>
                </a:solidFill>
                <a:latin typeface="Calibri" pitchFamily="34" charset="0"/>
                <a:ea typeface="Calibri" pitchFamily="34" charset="-122"/>
                <a:cs typeface="Calibri" pitchFamily="34" charset="-120"/>
              </a:rPr>
              <a:t>61</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Where marks get lost</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Every one of these has cost students points on a previous exam.</a:t>
            </a:r>
            <a:endParaRPr lang="en-US" sz="1400" dirty="0"/>
          </a:p>
        </p:txBody>
      </p:sp>
      <p:sp>
        <p:nvSpPr>
          <p:cNvPr id="4" name="Shape 2"/>
          <p:cNvSpPr/>
          <p:nvPr/>
        </p:nvSpPr>
        <p:spPr>
          <a:xfrm>
            <a:off x="566928" y="1517904"/>
            <a:ext cx="11057839" cy="694944"/>
          </a:xfrm>
          <a:prstGeom prst="roundRect">
            <a:avLst>
              <a:gd name="adj" fmla="val 11842"/>
            </a:avLst>
          </a:prstGeom>
          <a:solidFill>
            <a:srgbClr val="F4F5F6"/>
          </a:solidFill>
          <a:ln/>
        </p:spPr>
      </p:sp>
      <p:sp>
        <p:nvSpPr>
          <p:cNvPr id="5" name="Shape 3"/>
          <p:cNvSpPr/>
          <p:nvPr/>
        </p:nvSpPr>
        <p:spPr>
          <a:xfrm>
            <a:off x="822960" y="1783080"/>
            <a:ext cx="164592" cy="164592"/>
          </a:xfrm>
          <a:prstGeom prst="ellipse">
            <a:avLst/>
          </a:prstGeom>
          <a:solidFill>
            <a:srgbClr val="C8102E"/>
          </a:solidFill>
          <a:ln/>
        </p:spPr>
      </p:sp>
      <p:sp>
        <p:nvSpPr>
          <p:cNvPr id="6" name="Text 4"/>
          <p:cNvSpPr/>
          <p:nvPr/>
        </p:nvSpPr>
        <p:spPr>
          <a:xfrm>
            <a:off x="1152144" y="1517904"/>
            <a:ext cx="4114800" cy="694944"/>
          </a:xfrm>
          <a:prstGeom prst="rect">
            <a:avLst/>
          </a:prstGeom>
          <a:noFill/>
          <a:ln/>
        </p:spPr>
        <p:txBody>
          <a:bodyPr wrap="square" lIns="0" tIns="0" rIns="0" bIns="0" rtlCol="0" anchor="ctr"/>
          <a:lstStyle/>
          <a:p>
            <a:pPr indent="0" marL="0">
              <a:buNone/>
            </a:pPr>
            <a:r>
              <a:rPr lang="en-US" sz="1250" b="1" dirty="0">
                <a:solidFill>
                  <a:srgbClr val="22252A"/>
                </a:solidFill>
                <a:latin typeface="Calibri" pitchFamily="34" charset="0"/>
                <a:ea typeface="Calibri" pitchFamily="34" charset="-122"/>
                <a:cs typeface="Calibri" pitchFamily="34" charset="-120"/>
              </a:rPr>
              <a:t>Updating the state you arrived in</a:t>
            </a:r>
            <a:endParaRPr lang="en-US" sz="1250" dirty="0"/>
          </a:p>
        </p:txBody>
      </p:sp>
      <p:sp>
        <p:nvSpPr>
          <p:cNvPr id="7" name="Text 5"/>
          <p:cNvSpPr/>
          <p:nvPr/>
        </p:nvSpPr>
        <p:spPr>
          <a:xfrm>
            <a:off x="5413248" y="1517904"/>
            <a:ext cx="5943600" cy="694944"/>
          </a:xfrm>
          <a:prstGeom prst="rect">
            <a:avLst/>
          </a:prstGeom>
          <a:noFill/>
          <a:ln/>
        </p:spPr>
        <p:txBody>
          <a:bodyPr wrap="square" lIns="0" tIns="0" rIns="0" bIns="0" rtlCol="0" anchor="ctr"/>
          <a:lstStyle/>
          <a:p>
            <a:pPr indent="0" marL="0">
              <a:lnSpc>
                <a:spcPct val="106000"/>
              </a:lnSpc>
              <a:buNone/>
            </a:pPr>
            <a:r>
              <a:rPr lang="en-US" sz="1200" dirty="0">
                <a:solidFill>
                  <a:srgbClr val="3C4047"/>
                </a:solidFill>
                <a:latin typeface="Calibri" pitchFamily="34" charset="0"/>
                <a:ea typeface="Calibri" pitchFamily="34" charset="-122"/>
                <a:cs typeface="Calibri" pitchFamily="34" charset="-120"/>
              </a:rPr>
              <a:t>TD and Q-learning both update the state, or state-action pair, you just LEFT. The landing state is read only.</a:t>
            </a:r>
            <a:endParaRPr lang="en-US" sz="1200" dirty="0"/>
          </a:p>
        </p:txBody>
      </p:sp>
      <p:sp>
        <p:nvSpPr>
          <p:cNvPr id="8" name="Shape 6"/>
          <p:cNvSpPr/>
          <p:nvPr/>
        </p:nvSpPr>
        <p:spPr>
          <a:xfrm>
            <a:off x="566928" y="2286000"/>
            <a:ext cx="11057839" cy="694944"/>
          </a:xfrm>
          <a:prstGeom prst="roundRect">
            <a:avLst>
              <a:gd name="adj" fmla="val 11842"/>
            </a:avLst>
          </a:prstGeom>
          <a:solidFill>
            <a:srgbClr val="F4F5F6"/>
          </a:solidFill>
          <a:ln/>
        </p:spPr>
      </p:sp>
      <p:sp>
        <p:nvSpPr>
          <p:cNvPr id="9" name="Shape 7"/>
          <p:cNvSpPr/>
          <p:nvPr/>
        </p:nvSpPr>
        <p:spPr>
          <a:xfrm>
            <a:off x="822960" y="2551176"/>
            <a:ext cx="164592" cy="164592"/>
          </a:xfrm>
          <a:prstGeom prst="ellipse">
            <a:avLst/>
          </a:prstGeom>
          <a:solidFill>
            <a:srgbClr val="C8102E"/>
          </a:solidFill>
          <a:ln/>
        </p:spPr>
      </p:sp>
      <p:sp>
        <p:nvSpPr>
          <p:cNvPr id="10" name="Text 8"/>
          <p:cNvSpPr/>
          <p:nvPr/>
        </p:nvSpPr>
        <p:spPr>
          <a:xfrm>
            <a:off x="1152144" y="2286000"/>
            <a:ext cx="4114800" cy="694944"/>
          </a:xfrm>
          <a:prstGeom prst="rect">
            <a:avLst/>
          </a:prstGeom>
          <a:noFill/>
          <a:ln/>
        </p:spPr>
        <p:txBody>
          <a:bodyPr wrap="square" lIns="0" tIns="0" rIns="0" bIns="0" rtlCol="0" anchor="ctr"/>
          <a:lstStyle/>
          <a:p>
            <a:pPr indent="0" marL="0">
              <a:buNone/>
            </a:pPr>
            <a:r>
              <a:rPr lang="en-US" sz="1250" b="1" dirty="0">
                <a:solidFill>
                  <a:srgbClr val="22252A"/>
                </a:solidFill>
                <a:latin typeface="Calibri" pitchFamily="34" charset="0"/>
                <a:ea typeface="Calibri" pitchFamily="34" charset="-122"/>
                <a:cs typeface="Calibri" pitchFamily="34" charset="-120"/>
              </a:rPr>
              <a:t>Using the immediate reward as the return</a:t>
            </a:r>
            <a:endParaRPr lang="en-US" sz="1250" dirty="0"/>
          </a:p>
        </p:txBody>
      </p:sp>
      <p:sp>
        <p:nvSpPr>
          <p:cNvPr id="11" name="Text 9"/>
          <p:cNvSpPr/>
          <p:nvPr/>
        </p:nvSpPr>
        <p:spPr>
          <a:xfrm>
            <a:off x="5413248" y="2286000"/>
            <a:ext cx="5943600" cy="694944"/>
          </a:xfrm>
          <a:prstGeom prst="rect">
            <a:avLst/>
          </a:prstGeom>
          <a:noFill/>
          <a:ln/>
        </p:spPr>
        <p:txBody>
          <a:bodyPr wrap="square" lIns="0" tIns="0" rIns="0" bIns="0" rtlCol="0" anchor="ctr"/>
          <a:lstStyle/>
          <a:p>
            <a:pPr indent="0" marL="0">
              <a:lnSpc>
                <a:spcPct val="106000"/>
              </a:lnSpc>
              <a:buNone/>
            </a:pPr>
            <a:r>
              <a:rPr lang="en-US" sz="1200" dirty="0">
                <a:solidFill>
                  <a:srgbClr val="3C4047"/>
                </a:solidFill>
                <a:latin typeface="Calibri" pitchFamily="34" charset="0"/>
                <a:ea typeface="Calibri" pitchFamily="34" charset="-122"/>
                <a:cs typeface="Calibri" pitchFamily="34" charset="-120"/>
              </a:rPr>
              <a:t>A direct-evaluation sample is the sum of all rewards from that visit to the end of the episode, not the next one.</a:t>
            </a:r>
            <a:endParaRPr lang="en-US" sz="1200" dirty="0"/>
          </a:p>
        </p:txBody>
      </p:sp>
      <p:sp>
        <p:nvSpPr>
          <p:cNvPr id="12" name="Shape 10"/>
          <p:cNvSpPr/>
          <p:nvPr/>
        </p:nvSpPr>
        <p:spPr>
          <a:xfrm>
            <a:off x="566928" y="3054096"/>
            <a:ext cx="11057839" cy="694944"/>
          </a:xfrm>
          <a:prstGeom prst="roundRect">
            <a:avLst>
              <a:gd name="adj" fmla="val 11842"/>
            </a:avLst>
          </a:prstGeom>
          <a:solidFill>
            <a:srgbClr val="F4F5F6"/>
          </a:solidFill>
          <a:ln/>
        </p:spPr>
      </p:sp>
      <p:sp>
        <p:nvSpPr>
          <p:cNvPr id="13" name="Shape 11"/>
          <p:cNvSpPr/>
          <p:nvPr/>
        </p:nvSpPr>
        <p:spPr>
          <a:xfrm>
            <a:off x="822960" y="3319272"/>
            <a:ext cx="164592" cy="164592"/>
          </a:xfrm>
          <a:prstGeom prst="ellipse">
            <a:avLst/>
          </a:prstGeom>
          <a:solidFill>
            <a:srgbClr val="C8102E"/>
          </a:solidFill>
          <a:ln/>
        </p:spPr>
      </p:sp>
      <p:sp>
        <p:nvSpPr>
          <p:cNvPr id="14" name="Text 12"/>
          <p:cNvSpPr/>
          <p:nvPr/>
        </p:nvSpPr>
        <p:spPr>
          <a:xfrm>
            <a:off x="1152144" y="3054096"/>
            <a:ext cx="4114800" cy="694944"/>
          </a:xfrm>
          <a:prstGeom prst="rect">
            <a:avLst/>
          </a:prstGeom>
          <a:noFill/>
          <a:ln/>
        </p:spPr>
        <p:txBody>
          <a:bodyPr wrap="square" lIns="0" tIns="0" rIns="0" bIns="0" rtlCol="0" anchor="ctr"/>
          <a:lstStyle/>
          <a:p>
            <a:pPr indent="0" marL="0">
              <a:buNone/>
            </a:pPr>
            <a:r>
              <a:rPr lang="en-US" sz="1250" b="1" dirty="0">
                <a:solidFill>
                  <a:srgbClr val="22252A"/>
                </a:solidFill>
                <a:latin typeface="Calibri" pitchFamily="34" charset="0"/>
                <a:ea typeface="Calibri" pitchFamily="34" charset="-122"/>
                <a:cs typeface="Calibri" pitchFamily="34" charset="-120"/>
              </a:rPr>
              <a:t>Counting a reward you already paid</a:t>
            </a:r>
            <a:endParaRPr lang="en-US" sz="1250" dirty="0"/>
          </a:p>
        </p:txBody>
      </p:sp>
      <p:sp>
        <p:nvSpPr>
          <p:cNvPr id="15" name="Text 13"/>
          <p:cNvSpPr/>
          <p:nvPr/>
        </p:nvSpPr>
        <p:spPr>
          <a:xfrm>
            <a:off x="5413248" y="3054096"/>
            <a:ext cx="5943600" cy="694944"/>
          </a:xfrm>
          <a:prstGeom prst="rect">
            <a:avLst/>
          </a:prstGeom>
          <a:noFill/>
          <a:ln/>
        </p:spPr>
        <p:txBody>
          <a:bodyPr wrap="square" lIns="0" tIns="0" rIns="0" bIns="0" rtlCol="0" anchor="ctr"/>
          <a:lstStyle/>
          <a:p>
            <a:pPr indent="0" marL="0">
              <a:lnSpc>
                <a:spcPct val="106000"/>
              </a:lnSpc>
              <a:buNone/>
            </a:pPr>
            <a:r>
              <a:rPr lang="en-US" sz="1200" dirty="0">
                <a:solidFill>
                  <a:srgbClr val="3C4047"/>
                </a:solidFill>
                <a:latin typeface="Calibri" pitchFamily="34" charset="0"/>
                <a:ea typeface="Calibri" pitchFamily="34" charset="-122"/>
                <a:cs typeface="Calibri" pitchFamily="34" charset="-120"/>
              </a:rPr>
              <a:t>The step that carried you into s is not part of V(s). Values are about the future.</a:t>
            </a:r>
            <a:endParaRPr lang="en-US" sz="1200" dirty="0"/>
          </a:p>
        </p:txBody>
      </p:sp>
      <p:sp>
        <p:nvSpPr>
          <p:cNvPr id="16" name="Shape 14"/>
          <p:cNvSpPr/>
          <p:nvPr/>
        </p:nvSpPr>
        <p:spPr>
          <a:xfrm>
            <a:off x="566928" y="3822192"/>
            <a:ext cx="11057839" cy="694944"/>
          </a:xfrm>
          <a:prstGeom prst="roundRect">
            <a:avLst>
              <a:gd name="adj" fmla="val 11842"/>
            </a:avLst>
          </a:prstGeom>
          <a:solidFill>
            <a:srgbClr val="F4F5F6"/>
          </a:solidFill>
          <a:ln/>
        </p:spPr>
      </p:sp>
      <p:sp>
        <p:nvSpPr>
          <p:cNvPr id="17" name="Shape 15"/>
          <p:cNvSpPr/>
          <p:nvPr/>
        </p:nvSpPr>
        <p:spPr>
          <a:xfrm>
            <a:off x="822960" y="4087368"/>
            <a:ext cx="164592" cy="164592"/>
          </a:xfrm>
          <a:prstGeom prst="ellipse">
            <a:avLst/>
          </a:prstGeom>
          <a:solidFill>
            <a:srgbClr val="C8102E"/>
          </a:solidFill>
          <a:ln/>
        </p:spPr>
      </p:sp>
      <p:sp>
        <p:nvSpPr>
          <p:cNvPr id="18" name="Text 16"/>
          <p:cNvSpPr/>
          <p:nvPr/>
        </p:nvSpPr>
        <p:spPr>
          <a:xfrm>
            <a:off x="1152144" y="3822192"/>
            <a:ext cx="4114800" cy="694944"/>
          </a:xfrm>
          <a:prstGeom prst="rect">
            <a:avLst/>
          </a:prstGeom>
          <a:noFill/>
          <a:ln/>
        </p:spPr>
        <p:txBody>
          <a:bodyPr wrap="square" lIns="0" tIns="0" rIns="0" bIns="0" rtlCol="0" anchor="ctr"/>
          <a:lstStyle/>
          <a:p>
            <a:pPr indent="0" marL="0">
              <a:buNone/>
            </a:pPr>
            <a:r>
              <a:rPr lang="en-US" sz="1250" b="1" dirty="0">
                <a:solidFill>
                  <a:srgbClr val="22252A"/>
                </a:solidFill>
                <a:latin typeface="Calibri" pitchFamily="34" charset="0"/>
                <a:ea typeface="Calibri" pitchFamily="34" charset="-122"/>
                <a:cs typeface="Calibri" pitchFamily="34" charset="-120"/>
              </a:rPr>
              <a:t>Confusing maxₐ' with the action actually taken next</a:t>
            </a:r>
            <a:endParaRPr lang="en-US" sz="1250" dirty="0"/>
          </a:p>
        </p:txBody>
      </p:sp>
      <p:sp>
        <p:nvSpPr>
          <p:cNvPr id="19" name="Text 17"/>
          <p:cNvSpPr/>
          <p:nvPr/>
        </p:nvSpPr>
        <p:spPr>
          <a:xfrm>
            <a:off x="5413248" y="3822192"/>
            <a:ext cx="5943600" cy="694944"/>
          </a:xfrm>
          <a:prstGeom prst="rect">
            <a:avLst/>
          </a:prstGeom>
          <a:noFill/>
          <a:ln/>
        </p:spPr>
        <p:txBody>
          <a:bodyPr wrap="square" lIns="0" tIns="0" rIns="0" bIns="0" rtlCol="0" anchor="ctr"/>
          <a:lstStyle/>
          <a:p>
            <a:pPr indent="0" marL="0">
              <a:lnSpc>
                <a:spcPct val="106000"/>
              </a:lnSpc>
              <a:buNone/>
            </a:pPr>
            <a:r>
              <a:rPr lang="en-US" sz="1200" dirty="0">
                <a:solidFill>
                  <a:srgbClr val="3C4047"/>
                </a:solidFill>
                <a:latin typeface="Calibri" pitchFamily="34" charset="0"/>
                <a:ea typeface="Calibri" pitchFamily="34" charset="-122"/>
                <a:cs typeface="Calibri" pitchFamily="34" charset="-120"/>
              </a:rPr>
              <a:t>The Q bootstrap uses the best available action from s'. That is what makes it off-policy.</a:t>
            </a:r>
            <a:endParaRPr lang="en-US" sz="1200" dirty="0"/>
          </a:p>
        </p:txBody>
      </p:sp>
      <p:sp>
        <p:nvSpPr>
          <p:cNvPr id="20" name="Shape 18"/>
          <p:cNvSpPr/>
          <p:nvPr/>
        </p:nvSpPr>
        <p:spPr>
          <a:xfrm>
            <a:off x="566928" y="4590288"/>
            <a:ext cx="11057839" cy="694944"/>
          </a:xfrm>
          <a:prstGeom prst="roundRect">
            <a:avLst>
              <a:gd name="adj" fmla="val 11842"/>
            </a:avLst>
          </a:prstGeom>
          <a:solidFill>
            <a:srgbClr val="F4F5F6"/>
          </a:solidFill>
          <a:ln/>
        </p:spPr>
      </p:sp>
      <p:sp>
        <p:nvSpPr>
          <p:cNvPr id="21" name="Shape 19"/>
          <p:cNvSpPr/>
          <p:nvPr/>
        </p:nvSpPr>
        <p:spPr>
          <a:xfrm>
            <a:off x="822960" y="4855464"/>
            <a:ext cx="164592" cy="164592"/>
          </a:xfrm>
          <a:prstGeom prst="ellipse">
            <a:avLst/>
          </a:prstGeom>
          <a:solidFill>
            <a:srgbClr val="C8102E"/>
          </a:solidFill>
          <a:ln/>
        </p:spPr>
      </p:sp>
      <p:sp>
        <p:nvSpPr>
          <p:cNvPr id="22" name="Text 20"/>
          <p:cNvSpPr/>
          <p:nvPr/>
        </p:nvSpPr>
        <p:spPr>
          <a:xfrm>
            <a:off x="1152144" y="4590288"/>
            <a:ext cx="4114800" cy="694944"/>
          </a:xfrm>
          <a:prstGeom prst="rect">
            <a:avLst/>
          </a:prstGeom>
          <a:noFill/>
          <a:ln/>
        </p:spPr>
        <p:txBody>
          <a:bodyPr wrap="square" lIns="0" tIns="0" rIns="0" bIns="0" rtlCol="0" anchor="ctr"/>
          <a:lstStyle/>
          <a:p>
            <a:pPr indent="0" marL="0">
              <a:buNone/>
            </a:pPr>
            <a:r>
              <a:rPr lang="en-US" sz="1250" b="1" dirty="0">
                <a:solidFill>
                  <a:srgbClr val="22252A"/>
                </a:solidFill>
                <a:latin typeface="Calibri" pitchFamily="34" charset="0"/>
                <a:ea typeface="Calibri" pitchFamily="34" charset="-122"/>
                <a:cs typeface="Calibri" pitchFamily="34" charset="-120"/>
              </a:rPr>
              <a:t>Claiming TD learning finds the optimal policy</a:t>
            </a:r>
            <a:endParaRPr lang="en-US" sz="1250" dirty="0"/>
          </a:p>
        </p:txBody>
      </p:sp>
      <p:sp>
        <p:nvSpPr>
          <p:cNvPr id="23" name="Text 21"/>
          <p:cNvSpPr/>
          <p:nvPr/>
        </p:nvSpPr>
        <p:spPr>
          <a:xfrm>
            <a:off x="5413248" y="4590288"/>
            <a:ext cx="5943600" cy="694944"/>
          </a:xfrm>
          <a:prstGeom prst="rect">
            <a:avLst/>
          </a:prstGeom>
          <a:noFill/>
          <a:ln/>
        </p:spPr>
        <p:txBody>
          <a:bodyPr wrap="square" lIns="0" tIns="0" rIns="0" bIns="0" rtlCol="0" anchor="ctr"/>
          <a:lstStyle/>
          <a:p>
            <a:pPr indent="0" marL="0">
              <a:lnSpc>
                <a:spcPct val="106000"/>
              </a:lnSpc>
              <a:buNone/>
            </a:pPr>
            <a:r>
              <a:rPr lang="en-US" sz="1200" dirty="0">
                <a:solidFill>
                  <a:srgbClr val="3C4047"/>
                </a:solidFill>
                <a:latin typeface="Calibri" pitchFamily="34" charset="0"/>
                <a:ea typeface="Calibri" pitchFamily="34" charset="-122"/>
                <a:cs typeface="Calibri" pitchFamily="34" charset="-120"/>
              </a:rPr>
              <a:t>TD evaluates a fixed π. It computes Vπ, not V*, and yields no policy at all.</a:t>
            </a:r>
            <a:endParaRPr lang="en-US" sz="1200" dirty="0"/>
          </a:p>
        </p:txBody>
      </p:sp>
      <p:sp>
        <p:nvSpPr>
          <p:cNvPr id="24" name="Shape 22"/>
          <p:cNvSpPr/>
          <p:nvPr/>
        </p:nvSpPr>
        <p:spPr>
          <a:xfrm>
            <a:off x="566928" y="5358384"/>
            <a:ext cx="11057839" cy="694944"/>
          </a:xfrm>
          <a:prstGeom prst="roundRect">
            <a:avLst>
              <a:gd name="adj" fmla="val 11842"/>
            </a:avLst>
          </a:prstGeom>
          <a:solidFill>
            <a:srgbClr val="F4F5F6"/>
          </a:solidFill>
          <a:ln/>
        </p:spPr>
      </p:sp>
      <p:sp>
        <p:nvSpPr>
          <p:cNvPr id="25" name="Shape 23"/>
          <p:cNvSpPr/>
          <p:nvPr/>
        </p:nvSpPr>
        <p:spPr>
          <a:xfrm>
            <a:off x="822960" y="5623560"/>
            <a:ext cx="164592" cy="164592"/>
          </a:xfrm>
          <a:prstGeom prst="ellipse">
            <a:avLst/>
          </a:prstGeom>
          <a:solidFill>
            <a:srgbClr val="C8102E"/>
          </a:solidFill>
          <a:ln/>
        </p:spPr>
      </p:sp>
      <p:sp>
        <p:nvSpPr>
          <p:cNvPr id="26" name="Text 24"/>
          <p:cNvSpPr/>
          <p:nvPr/>
        </p:nvSpPr>
        <p:spPr>
          <a:xfrm>
            <a:off x="1152144" y="5358384"/>
            <a:ext cx="4114800" cy="694944"/>
          </a:xfrm>
          <a:prstGeom prst="rect">
            <a:avLst/>
          </a:prstGeom>
          <a:noFill/>
          <a:ln/>
        </p:spPr>
        <p:txBody>
          <a:bodyPr wrap="square" lIns="0" tIns="0" rIns="0" bIns="0" rtlCol="0" anchor="ctr"/>
          <a:lstStyle/>
          <a:p>
            <a:pPr indent="0" marL="0">
              <a:buNone/>
            </a:pPr>
            <a:r>
              <a:rPr lang="en-US" sz="1250" b="1" dirty="0">
                <a:solidFill>
                  <a:srgbClr val="22252A"/>
                </a:solidFill>
                <a:latin typeface="Calibri" pitchFamily="34" charset="0"/>
                <a:ea typeface="Calibri" pitchFamily="34" charset="-122"/>
                <a:cs typeface="Calibri" pitchFamily="34" charset="-120"/>
              </a:rPr>
              <a:t>Forgetting that γ applies to the bootstrap only</a:t>
            </a:r>
            <a:endParaRPr lang="en-US" sz="1250" dirty="0"/>
          </a:p>
        </p:txBody>
      </p:sp>
      <p:sp>
        <p:nvSpPr>
          <p:cNvPr id="27" name="Text 25"/>
          <p:cNvSpPr/>
          <p:nvPr/>
        </p:nvSpPr>
        <p:spPr>
          <a:xfrm>
            <a:off x="5413248" y="5358384"/>
            <a:ext cx="5943600" cy="694944"/>
          </a:xfrm>
          <a:prstGeom prst="rect">
            <a:avLst/>
          </a:prstGeom>
          <a:noFill/>
          <a:ln/>
        </p:spPr>
        <p:txBody>
          <a:bodyPr wrap="square" lIns="0" tIns="0" rIns="0" bIns="0" rtlCol="0" anchor="ctr"/>
          <a:lstStyle/>
          <a:p>
            <a:pPr indent="0" marL="0">
              <a:lnSpc>
                <a:spcPct val="106000"/>
              </a:lnSpc>
              <a:buNone/>
            </a:pPr>
            <a:r>
              <a:rPr lang="en-US" sz="1200" dirty="0">
                <a:solidFill>
                  <a:srgbClr val="3C4047"/>
                </a:solidFill>
                <a:latin typeface="Calibri" pitchFamily="34" charset="0"/>
                <a:ea typeface="Calibri" pitchFamily="34" charset="-122"/>
                <a:cs typeface="Calibri" pitchFamily="34" charset="-120"/>
              </a:rPr>
              <a:t>In sample = r + γ V(s'), the immediate reward r is never discounted.</a:t>
            </a:r>
            <a:endParaRPr lang="en-US" sz="1200" dirty="0"/>
          </a:p>
        </p:txBody>
      </p:sp>
      <p:sp>
        <p:nvSpPr>
          <p:cNvPr id="28" name="Text 26"/>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9" name="Text 27"/>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62</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Practice before next session</a:t>
            </a:r>
            <a:endParaRPr lang="en-US" sz="3000" dirty="0"/>
          </a:p>
        </p:txBody>
      </p:sp>
      <p:sp>
        <p:nvSpPr>
          <p:cNvPr id="3" name="Text 1"/>
          <p:cNvSpPr/>
          <p:nvPr/>
        </p:nvSpPr>
        <p:spPr>
          <a:xfrm>
            <a:off x="566928" y="1078992"/>
            <a:ext cx="11057839"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The first two are mechanical and should take fifteen minutes. The third is the one worth thinking about.</a:t>
            </a:r>
            <a:endParaRPr lang="en-US" sz="1400" dirty="0"/>
          </a:p>
        </p:txBody>
      </p:sp>
      <p:sp>
        <p:nvSpPr>
          <p:cNvPr id="4" name="Shape 2"/>
          <p:cNvSpPr/>
          <p:nvPr/>
        </p:nvSpPr>
        <p:spPr>
          <a:xfrm>
            <a:off x="566928" y="1572768"/>
            <a:ext cx="11057839" cy="1005840"/>
          </a:xfrm>
          <a:prstGeom prst="roundRect">
            <a:avLst>
              <a:gd name="adj" fmla="val 8182"/>
            </a:avLst>
          </a:prstGeom>
          <a:solidFill>
            <a:srgbClr val="F4F5F6"/>
          </a:solidFill>
          <a:ln/>
        </p:spPr>
      </p:sp>
      <p:sp>
        <p:nvSpPr>
          <p:cNvPr id="5" name="Shape 3"/>
          <p:cNvSpPr/>
          <p:nvPr/>
        </p:nvSpPr>
        <p:spPr>
          <a:xfrm>
            <a:off x="841248" y="1874520"/>
            <a:ext cx="402336" cy="402336"/>
          </a:xfrm>
          <a:prstGeom prst="ellipse">
            <a:avLst/>
          </a:prstGeom>
          <a:solidFill>
            <a:srgbClr val="1C5D99"/>
          </a:solidFill>
          <a:ln/>
        </p:spPr>
      </p:sp>
      <p:sp>
        <p:nvSpPr>
          <p:cNvPr id="6" name="Text 4"/>
          <p:cNvSpPr/>
          <p:nvPr/>
        </p:nvSpPr>
        <p:spPr>
          <a:xfrm>
            <a:off x="841248" y="18745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81328" y="1572768"/>
            <a:ext cx="1097280" cy="1005840"/>
          </a:xfrm>
          <a:prstGeom prst="rect">
            <a:avLst/>
          </a:prstGeom>
          <a:noFill/>
          <a:ln/>
        </p:spPr>
        <p:txBody>
          <a:bodyPr wrap="square" lIns="0" tIns="0" rIns="0" bIns="0" rtlCol="0" anchor="ctr"/>
          <a:lstStyle/>
          <a:p>
            <a:pPr indent="0" marL="0">
              <a:buNone/>
            </a:pPr>
            <a:r>
              <a:rPr lang="en-US" sz="1200" b="1" dirty="0">
                <a:solidFill>
                  <a:srgbClr val="1C5D99"/>
                </a:solidFill>
                <a:latin typeface="Calibri" pitchFamily="34" charset="0"/>
                <a:ea typeface="Calibri" pitchFamily="34" charset="-122"/>
                <a:cs typeface="Calibri" pitchFamily="34" charset="-120"/>
              </a:rPr>
              <a:t>By hand</a:t>
            </a:r>
            <a:endParaRPr lang="en-US" sz="1200" dirty="0"/>
          </a:p>
        </p:txBody>
      </p:sp>
      <p:sp>
        <p:nvSpPr>
          <p:cNvPr id="8" name="Text 6"/>
          <p:cNvSpPr/>
          <p:nvPr/>
        </p:nvSpPr>
        <p:spPr>
          <a:xfrm>
            <a:off x="2670048" y="1572768"/>
            <a:ext cx="8686800" cy="1005840"/>
          </a:xfrm>
          <a:prstGeom prst="rect">
            <a:avLst/>
          </a:prstGeom>
          <a:noFill/>
          <a:ln/>
        </p:spPr>
        <p:txBody>
          <a:bodyPr wrap="square" lIns="0" tIns="0" rIns="0" bIns="0" rtlCol="0" anchor="ctr"/>
          <a:lstStyle/>
          <a:p>
            <a:pPr indent="0" marL="0">
              <a:lnSpc>
                <a:spcPct val="112000"/>
              </a:lnSpc>
              <a:buNone/>
            </a:pPr>
            <a:r>
              <a:rPr lang="en-US" sz="1300" dirty="0">
                <a:solidFill>
                  <a:srgbClr val="3C4047"/>
                </a:solidFill>
                <a:latin typeface="Calibri" pitchFamily="34" charset="0"/>
                <a:ea typeface="Calibri" pitchFamily="34" charset="-122"/>
                <a:cs typeface="Calibri" pitchFamily="34" charset="-120"/>
              </a:rPr>
              <a:t>Using the four episodes from this lecture, compute V(A) through V(E) by direct evaluation without looking at the slides. Then explain in two sentences why your V(B) and V(E) differ when they should not.</a:t>
            </a:r>
            <a:endParaRPr lang="en-US" sz="1300" dirty="0"/>
          </a:p>
        </p:txBody>
      </p:sp>
      <p:sp>
        <p:nvSpPr>
          <p:cNvPr id="9" name="Shape 7"/>
          <p:cNvSpPr/>
          <p:nvPr/>
        </p:nvSpPr>
        <p:spPr>
          <a:xfrm>
            <a:off x="566928" y="2688336"/>
            <a:ext cx="11057839" cy="1005840"/>
          </a:xfrm>
          <a:prstGeom prst="roundRect">
            <a:avLst>
              <a:gd name="adj" fmla="val 8182"/>
            </a:avLst>
          </a:prstGeom>
          <a:solidFill>
            <a:srgbClr val="F4F5F6"/>
          </a:solidFill>
          <a:ln/>
        </p:spPr>
      </p:sp>
      <p:sp>
        <p:nvSpPr>
          <p:cNvPr id="10" name="Shape 8"/>
          <p:cNvSpPr/>
          <p:nvPr/>
        </p:nvSpPr>
        <p:spPr>
          <a:xfrm>
            <a:off x="841248" y="2990088"/>
            <a:ext cx="402336" cy="402336"/>
          </a:xfrm>
          <a:prstGeom prst="ellipse">
            <a:avLst/>
          </a:prstGeom>
          <a:solidFill>
            <a:srgbClr val="1C5D99"/>
          </a:solidFill>
          <a:ln/>
        </p:spPr>
      </p:sp>
      <p:sp>
        <p:nvSpPr>
          <p:cNvPr id="11" name="Text 9"/>
          <p:cNvSpPr/>
          <p:nvPr/>
        </p:nvSpPr>
        <p:spPr>
          <a:xfrm>
            <a:off x="841248" y="29900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81328" y="2688336"/>
            <a:ext cx="1097280" cy="1005840"/>
          </a:xfrm>
          <a:prstGeom prst="rect">
            <a:avLst/>
          </a:prstGeom>
          <a:noFill/>
          <a:ln/>
        </p:spPr>
        <p:txBody>
          <a:bodyPr wrap="square" lIns="0" tIns="0" rIns="0" bIns="0" rtlCol="0" anchor="ctr"/>
          <a:lstStyle/>
          <a:p>
            <a:pPr indent="0" marL="0">
              <a:buNone/>
            </a:pPr>
            <a:r>
              <a:rPr lang="en-US" sz="1200" b="1" dirty="0">
                <a:solidFill>
                  <a:srgbClr val="1C5D99"/>
                </a:solidFill>
                <a:latin typeface="Calibri" pitchFamily="34" charset="0"/>
                <a:ea typeface="Calibri" pitchFamily="34" charset="-122"/>
                <a:cs typeface="Calibri" pitchFamily="34" charset="-120"/>
              </a:rPr>
              <a:t>By hand</a:t>
            </a:r>
            <a:endParaRPr lang="en-US" sz="1200" dirty="0"/>
          </a:p>
        </p:txBody>
      </p:sp>
      <p:sp>
        <p:nvSpPr>
          <p:cNvPr id="13" name="Text 11"/>
          <p:cNvSpPr/>
          <p:nvPr/>
        </p:nvSpPr>
        <p:spPr>
          <a:xfrm>
            <a:off x="2670048" y="2688336"/>
            <a:ext cx="8686800" cy="1005840"/>
          </a:xfrm>
          <a:prstGeom prst="rect">
            <a:avLst/>
          </a:prstGeom>
          <a:noFill/>
          <a:ln/>
        </p:spPr>
        <p:txBody>
          <a:bodyPr wrap="square" lIns="0" tIns="0" rIns="0" bIns="0" rtlCol="0" anchor="ctr"/>
          <a:lstStyle/>
          <a:p>
            <a:pPr indent="0" marL="0">
              <a:lnSpc>
                <a:spcPct val="112000"/>
              </a:lnSpc>
              <a:buNone/>
            </a:pPr>
            <a:r>
              <a:rPr lang="en-US" sz="1300" dirty="0">
                <a:solidFill>
                  <a:srgbClr val="3C4047"/>
                </a:solidFill>
                <a:latin typeface="Calibri" pitchFamily="34" charset="0"/>
                <a:ea typeface="Calibri" pitchFamily="34" charset="-122"/>
                <a:cs typeface="Calibri" pitchFamily="34" charset="-120"/>
              </a:rPr>
              <a:t>Starting from all zeros with α = 0.5 and γ = 1, run TD learning through episode 1, then episode 3, in order. Report V(B), V(C), V(D), V(E) after each transition.</a:t>
            </a:r>
            <a:endParaRPr lang="en-US" sz="1300" dirty="0"/>
          </a:p>
        </p:txBody>
      </p:sp>
      <p:sp>
        <p:nvSpPr>
          <p:cNvPr id="14" name="Shape 12"/>
          <p:cNvSpPr/>
          <p:nvPr/>
        </p:nvSpPr>
        <p:spPr>
          <a:xfrm>
            <a:off x="566928" y="3803904"/>
            <a:ext cx="11057839" cy="1005840"/>
          </a:xfrm>
          <a:prstGeom prst="roundRect">
            <a:avLst>
              <a:gd name="adj" fmla="val 8182"/>
            </a:avLst>
          </a:prstGeom>
          <a:solidFill>
            <a:srgbClr val="F4F5F6"/>
          </a:solidFill>
          <a:ln/>
        </p:spPr>
      </p:sp>
      <p:sp>
        <p:nvSpPr>
          <p:cNvPr id="15" name="Shape 13"/>
          <p:cNvSpPr/>
          <p:nvPr/>
        </p:nvSpPr>
        <p:spPr>
          <a:xfrm>
            <a:off x="841248" y="4105656"/>
            <a:ext cx="402336" cy="402336"/>
          </a:xfrm>
          <a:prstGeom prst="ellipse">
            <a:avLst/>
          </a:prstGeom>
          <a:solidFill>
            <a:srgbClr val="C8102E"/>
          </a:solidFill>
          <a:ln/>
        </p:spPr>
      </p:sp>
      <p:sp>
        <p:nvSpPr>
          <p:cNvPr id="16" name="Text 14"/>
          <p:cNvSpPr/>
          <p:nvPr/>
        </p:nvSpPr>
        <p:spPr>
          <a:xfrm>
            <a:off x="841248" y="4105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81328" y="3803904"/>
            <a:ext cx="1097280" cy="1005840"/>
          </a:xfrm>
          <a:prstGeom prst="rect">
            <a:avLst/>
          </a:prstGeom>
          <a:noFill/>
          <a:ln/>
        </p:spPr>
        <p:txBody>
          <a:bodyPr wrap="square" lIns="0" tIns="0" rIns="0" bIns="0" rtlCol="0" anchor="ctr"/>
          <a:lstStyle/>
          <a:p>
            <a:pPr indent="0" marL="0">
              <a:buNone/>
            </a:pPr>
            <a:r>
              <a:rPr lang="en-US" sz="1200" b="1" dirty="0">
                <a:solidFill>
                  <a:srgbClr val="C8102E"/>
                </a:solidFill>
                <a:latin typeface="Calibri" pitchFamily="34" charset="0"/>
                <a:ea typeface="Calibri" pitchFamily="34" charset="-122"/>
                <a:cs typeface="Calibri" pitchFamily="34" charset="-120"/>
              </a:rPr>
              <a:t>Think</a:t>
            </a:r>
            <a:endParaRPr lang="en-US" sz="1200" dirty="0"/>
          </a:p>
        </p:txBody>
      </p:sp>
      <p:sp>
        <p:nvSpPr>
          <p:cNvPr id="18" name="Text 16"/>
          <p:cNvSpPr/>
          <p:nvPr/>
        </p:nvSpPr>
        <p:spPr>
          <a:xfrm>
            <a:off x="2670048" y="3803904"/>
            <a:ext cx="8686800" cy="1005840"/>
          </a:xfrm>
          <a:prstGeom prst="rect">
            <a:avLst/>
          </a:prstGeom>
          <a:noFill/>
          <a:ln/>
        </p:spPr>
        <p:txBody>
          <a:bodyPr wrap="square" lIns="0" tIns="0" rIns="0" bIns="0" rtlCol="0" anchor="ctr"/>
          <a:lstStyle/>
          <a:p>
            <a:pPr indent="0" marL="0">
              <a:lnSpc>
                <a:spcPct val="112000"/>
              </a:lnSpc>
              <a:buNone/>
            </a:pPr>
            <a:r>
              <a:rPr lang="en-US" sz="1300" dirty="0">
                <a:solidFill>
                  <a:srgbClr val="3C4047"/>
                </a:solidFill>
                <a:latin typeface="Calibri" pitchFamily="34" charset="0"/>
                <a:ea typeface="Calibri" pitchFamily="34" charset="-122"/>
                <a:cs typeface="Calibri" pitchFamily="34" charset="-120"/>
              </a:rPr>
              <a:t>Q-learning converges to optimal Q-values while following a random policy. So why would anyone bother with a good behaviour policy at all? Give two distinct reasons, one about cost and one about scale.</a:t>
            </a:r>
            <a:endParaRPr lang="en-US" sz="1300" dirty="0"/>
          </a:p>
        </p:txBody>
      </p:sp>
      <p:sp>
        <p:nvSpPr>
          <p:cNvPr id="19" name="Shape 17"/>
          <p:cNvSpPr/>
          <p:nvPr/>
        </p:nvSpPr>
        <p:spPr>
          <a:xfrm>
            <a:off x="566928" y="4919472"/>
            <a:ext cx="11057839" cy="1005840"/>
          </a:xfrm>
          <a:prstGeom prst="roundRect">
            <a:avLst>
              <a:gd name="adj" fmla="val 8182"/>
            </a:avLst>
          </a:prstGeom>
          <a:solidFill>
            <a:srgbClr val="F4F5F6"/>
          </a:solidFill>
          <a:ln/>
        </p:spPr>
      </p:sp>
      <p:sp>
        <p:nvSpPr>
          <p:cNvPr id="20" name="Shape 18"/>
          <p:cNvSpPr/>
          <p:nvPr/>
        </p:nvSpPr>
        <p:spPr>
          <a:xfrm>
            <a:off x="841248" y="5221224"/>
            <a:ext cx="402336" cy="402336"/>
          </a:xfrm>
          <a:prstGeom prst="ellipse">
            <a:avLst/>
          </a:prstGeom>
          <a:solidFill>
            <a:srgbClr val="53565A"/>
          </a:solidFill>
          <a:ln/>
        </p:spPr>
      </p:sp>
      <p:sp>
        <p:nvSpPr>
          <p:cNvPr id="21" name="Text 19"/>
          <p:cNvSpPr/>
          <p:nvPr/>
        </p:nvSpPr>
        <p:spPr>
          <a:xfrm>
            <a:off x="841248" y="52212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481328" y="4919472"/>
            <a:ext cx="1097280" cy="1005840"/>
          </a:xfrm>
          <a:prstGeom prst="rect">
            <a:avLst/>
          </a:prstGeom>
          <a:noFill/>
          <a:ln/>
        </p:spPr>
        <p:txBody>
          <a:bodyPr wrap="square" lIns="0" tIns="0" rIns="0" bIns="0" rtlCol="0" anchor="ctr"/>
          <a:lstStyle/>
          <a:p>
            <a:pPr indent="0" marL="0">
              <a:buNone/>
            </a:pPr>
            <a:r>
              <a:rPr lang="en-US" sz="1200" b="1" dirty="0">
                <a:solidFill>
                  <a:srgbClr val="53565A"/>
                </a:solidFill>
                <a:latin typeface="Calibri" pitchFamily="34" charset="0"/>
                <a:ea typeface="Calibri" pitchFamily="34" charset="-122"/>
                <a:cs typeface="Calibri" pitchFamily="34" charset="-120"/>
              </a:rPr>
              <a:t>Read</a:t>
            </a:r>
            <a:endParaRPr lang="en-US" sz="1200" dirty="0"/>
          </a:p>
        </p:txBody>
      </p:sp>
      <p:sp>
        <p:nvSpPr>
          <p:cNvPr id="23" name="Text 21"/>
          <p:cNvSpPr/>
          <p:nvPr/>
        </p:nvSpPr>
        <p:spPr>
          <a:xfrm>
            <a:off x="2670048" y="4919472"/>
            <a:ext cx="8686800" cy="1005840"/>
          </a:xfrm>
          <a:prstGeom prst="rect">
            <a:avLst/>
          </a:prstGeom>
          <a:noFill/>
          <a:ln/>
        </p:spPr>
        <p:txBody>
          <a:bodyPr wrap="square" lIns="0" tIns="0" rIns="0" bIns="0" rtlCol="0" anchor="ctr"/>
          <a:lstStyle/>
          <a:p>
            <a:pPr indent="0" marL="0">
              <a:lnSpc>
                <a:spcPct val="112000"/>
              </a:lnSpc>
              <a:buNone/>
            </a:pPr>
            <a:r>
              <a:rPr lang="en-US" sz="1300" dirty="0">
                <a:solidFill>
                  <a:srgbClr val="3C4047"/>
                </a:solidFill>
                <a:latin typeface="Calibri" pitchFamily="34" charset="0"/>
                <a:ea typeface="Calibri" pitchFamily="34" charset="-122"/>
                <a:cs typeface="Calibri" pitchFamily="34" charset="-120"/>
              </a:rPr>
              <a:t>AIMA 22.1 through 22.3.3. Skim 22.3.1 on exploration so next lecture is a second pass rather than a first.</a:t>
            </a:r>
            <a:endParaRPr lang="en-US" sz="1300" dirty="0"/>
          </a:p>
        </p:txBody>
      </p:sp>
      <p:sp>
        <p:nvSpPr>
          <p:cNvPr id="24" name="Shape 22"/>
          <p:cNvSpPr/>
          <p:nvPr/>
        </p:nvSpPr>
        <p:spPr>
          <a:xfrm>
            <a:off x="566928" y="5797296"/>
            <a:ext cx="11057839" cy="548640"/>
          </a:xfrm>
          <a:prstGeom prst="roundRect">
            <a:avLst>
              <a:gd name="adj" fmla="val 15000"/>
            </a:avLst>
          </a:prstGeom>
          <a:solidFill>
            <a:srgbClr val="FBEAED"/>
          </a:solidFill>
          <a:ln/>
        </p:spPr>
      </p:sp>
      <p:sp>
        <p:nvSpPr>
          <p:cNvPr id="25" name="Shape 23"/>
          <p:cNvSpPr/>
          <p:nvPr/>
        </p:nvSpPr>
        <p:spPr>
          <a:xfrm>
            <a:off x="786384" y="5980176"/>
            <a:ext cx="182880" cy="182880"/>
          </a:xfrm>
          <a:prstGeom prst="ellipse">
            <a:avLst/>
          </a:prstGeom>
          <a:solidFill>
            <a:srgbClr val="C8102E"/>
          </a:solidFill>
          <a:ln/>
        </p:spPr>
      </p:sp>
      <p:sp>
        <p:nvSpPr>
          <p:cNvPr id="26" name="Text 24"/>
          <p:cNvSpPr/>
          <p:nvPr/>
        </p:nvSpPr>
        <p:spPr>
          <a:xfrm>
            <a:off x="1115568" y="5797296"/>
            <a:ext cx="10289743" cy="548640"/>
          </a:xfrm>
          <a:prstGeom prst="rect">
            <a:avLst/>
          </a:prstGeom>
          <a:noFill/>
          <a:ln/>
        </p:spPr>
        <p:txBody>
          <a:bodyPr wrap="square" lIns="0" tIns="0" rIns="0" bIns="0" rtlCol="0" anchor="ctr"/>
          <a:lstStyle/>
          <a:p>
            <a:pPr indent="0" marL="0">
              <a:buNone/>
            </a:pPr>
            <a:r>
              <a:rPr lang="en-US" sz="1450" b="1" dirty="0">
                <a:solidFill>
                  <a:srgbClr val="8E0B20"/>
                </a:solidFill>
                <a:latin typeface="Calibri" pitchFamily="34" charset="0"/>
                <a:ea typeface="Calibri" pitchFamily="34" charset="-122"/>
                <a:cs typeface="Calibri" pitchFamily="34" charset="-120"/>
              </a:rPr>
              <a:t>Project 3 implements exactly the update on the Q-learning slide. Start it before the exploration lecture, not after.</a:t>
            </a:r>
            <a:endParaRPr lang="en-US" sz="1450" dirty="0"/>
          </a:p>
        </p:txBody>
      </p:sp>
      <p:sp>
        <p:nvSpPr>
          <p:cNvPr id="27" name="Text 25"/>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8" name="Text 26"/>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63</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Reinforcement Learning II</a:t>
            </a:r>
            <a:endParaRPr lang="en-US" sz="3000" dirty="0"/>
          </a:p>
        </p:txBody>
      </p:sp>
      <p:sp>
        <p:nvSpPr>
          <p:cNvPr id="3" name="Text 1"/>
          <p:cNvSpPr/>
          <p:nvPr/>
        </p:nvSpPr>
        <p:spPr>
          <a:xfrm>
            <a:off x="566928" y="91440"/>
            <a:ext cx="11057839" cy="237744"/>
          </a:xfrm>
          <a:prstGeom prst="rect">
            <a:avLst/>
          </a:prstGeom>
          <a:noFill/>
          <a:ln/>
        </p:spPr>
        <p:txBody>
          <a:bodyPr wrap="square" lIns="0" tIns="0" rIns="0" bIns="0" rtlCol="0" anchor="ctr"/>
          <a:lstStyle/>
          <a:p>
            <a:pPr indent="0" marL="0">
              <a:buNone/>
            </a:pPr>
            <a:r>
              <a:rPr lang="en-US" sz="1050" b="1" spc="160" kern="0" dirty="0">
                <a:solidFill>
                  <a:srgbClr val="C8102E"/>
                </a:solidFill>
                <a:latin typeface="Calibri" pitchFamily="34" charset="0"/>
                <a:ea typeface="Calibri" pitchFamily="34" charset="-122"/>
                <a:cs typeface="Calibri" pitchFamily="34" charset="-120"/>
              </a:rPr>
              <a:t>NEXT SESSION</a:t>
            </a:r>
            <a:endParaRPr lang="en-US" sz="1050" dirty="0"/>
          </a:p>
        </p:txBody>
      </p:sp>
      <p:sp>
        <p:nvSpPr>
          <p:cNvPr id="4" name="Shape 2"/>
          <p:cNvSpPr/>
          <p:nvPr/>
        </p:nvSpPr>
        <p:spPr>
          <a:xfrm>
            <a:off x="566928" y="1572768"/>
            <a:ext cx="11057839" cy="1207008"/>
          </a:xfrm>
          <a:prstGeom prst="roundRect">
            <a:avLst>
              <a:gd name="adj" fmla="val 6818"/>
            </a:avLst>
          </a:prstGeom>
          <a:solidFill>
            <a:srgbClr val="F4F5F6"/>
          </a:solidFill>
          <a:ln/>
        </p:spPr>
      </p:sp>
      <p:sp>
        <p:nvSpPr>
          <p:cNvPr id="5" name="Text 3"/>
          <p:cNvSpPr/>
          <p:nvPr/>
        </p:nvSpPr>
        <p:spPr>
          <a:xfrm>
            <a:off x="859536" y="1700784"/>
            <a:ext cx="4937760" cy="365760"/>
          </a:xfrm>
          <a:prstGeom prst="rect">
            <a:avLst/>
          </a:prstGeom>
          <a:noFill/>
          <a:ln/>
        </p:spPr>
        <p:txBody>
          <a:bodyPr wrap="square" lIns="0" tIns="0" rIns="0" bIns="0" rtlCol="0" anchor="ctr"/>
          <a:lstStyle/>
          <a:p>
            <a:pPr indent="0" marL="0">
              <a:buNone/>
            </a:pPr>
            <a:r>
              <a:rPr lang="en-US" sz="1600" b="1" dirty="0">
                <a:solidFill>
                  <a:srgbClr val="22252A"/>
                </a:solidFill>
                <a:latin typeface="Cambria" pitchFamily="34" charset="0"/>
                <a:ea typeface="Cambria" pitchFamily="34" charset="-122"/>
                <a:cs typeface="Cambria" pitchFamily="34" charset="-120"/>
              </a:rPr>
              <a:t>Exploration strategies</a:t>
            </a:r>
            <a:endParaRPr lang="en-US" sz="1600" dirty="0"/>
          </a:p>
        </p:txBody>
      </p:sp>
      <p:sp>
        <p:nvSpPr>
          <p:cNvPr id="6" name="Text 4"/>
          <p:cNvSpPr/>
          <p:nvPr/>
        </p:nvSpPr>
        <p:spPr>
          <a:xfrm>
            <a:off x="9795967" y="1700784"/>
            <a:ext cx="1554480" cy="365760"/>
          </a:xfrm>
          <a:prstGeom prst="rect">
            <a:avLst/>
          </a:prstGeom>
          <a:noFill/>
          <a:ln/>
        </p:spPr>
        <p:txBody>
          <a:bodyPr wrap="square" lIns="0" tIns="0" rIns="0" bIns="0" rtlCol="0" anchor="ctr"/>
          <a:lstStyle/>
          <a:p>
            <a:pPr algn="r" indent="0" marL="0">
              <a:buNone/>
            </a:pPr>
            <a:r>
              <a:rPr lang="en-US" sz="1150" dirty="0">
                <a:solidFill>
                  <a:srgbClr val="C8102E"/>
                </a:solidFill>
                <a:latin typeface="Courier New" pitchFamily="34" charset="0"/>
                <a:ea typeface="Courier New" pitchFamily="34" charset="-122"/>
                <a:cs typeface="Courier New" pitchFamily="34" charset="-120"/>
              </a:rPr>
              <a:t>AIMA 22.3.1</a:t>
            </a:r>
            <a:endParaRPr lang="en-US" sz="1150" dirty="0"/>
          </a:p>
        </p:txBody>
      </p:sp>
      <p:sp>
        <p:nvSpPr>
          <p:cNvPr id="7" name="Text 5"/>
          <p:cNvSpPr/>
          <p:nvPr/>
        </p:nvSpPr>
        <p:spPr>
          <a:xfrm>
            <a:off x="859536" y="2103120"/>
            <a:ext cx="10472623" cy="548640"/>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ε-greedy properly analysed, then exploration functions that direct effort toward genuine uncertainty rather than spreading it uniformly.</a:t>
            </a:r>
            <a:endParaRPr lang="en-US" sz="1300" dirty="0"/>
          </a:p>
        </p:txBody>
      </p:sp>
      <p:sp>
        <p:nvSpPr>
          <p:cNvPr id="8" name="Shape 6"/>
          <p:cNvSpPr/>
          <p:nvPr/>
        </p:nvSpPr>
        <p:spPr>
          <a:xfrm>
            <a:off x="566928" y="2889504"/>
            <a:ext cx="11057839" cy="1207008"/>
          </a:xfrm>
          <a:prstGeom prst="roundRect">
            <a:avLst>
              <a:gd name="adj" fmla="val 6818"/>
            </a:avLst>
          </a:prstGeom>
          <a:solidFill>
            <a:srgbClr val="F4F5F6"/>
          </a:solidFill>
          <a:ln/>
        </p:spPr>
      </p:sp>
      <p:sp>
        <p:nvSpPr>
          <p:cNvPr id="9" name="Text 7"/>
          <p:cNvSpPr/>
          <p:nvPr/>
        </p:nvSpPr>
        <p:spPr>
          <a:xfrm>
            <a:off x="859536" y="3017520"/>
            <a:ext cx="4937760" cy="365760"/>
          </a:xfrm>
          <a:prstGeom prst="rect">
            <a:avLst/>
          </a:prstGeom>
          <a:noFill/>
          <a:ln/>
        </p:spPr>
        <p:txBody>
          <a:bodyPr wrap="square" lIns="0" tIns="0" rIns="0" bIns="0" rtlCol="0" anchor="ctr"/>
          <a:lstStyle/>
          <a:p>
            <a:pPr indent="0" marL="0">
              <a:buNone/>
            </a:pPr>
            <a:r>
              <a:rPr lang="en-US" sz="1600" b="1" dirty="0">
                <a:solidFill>
                  <a:srgbClr val="22252A"/>
                </a:solidFill>
                <a:latin typeface="Cambria" pitchFamily="34" charset="0"/>
                <a:ea typeface="Cambria" pitchFamily="34" charset="-122"/>
                <a:cs typeface="Cambria" pitchFamily="34" charset="-120"/>
              </a:rPr>
              <a:t>Regret</a:t>
            </a:r>
            <a:endParaRPr lang="en-US" sz="1600" dirty="0"/>
          </a:p>
        </p:txBody>
      </p:sp>
      <p:sp>
        <p:nvSpPr>
          <p:cNvPr id="10" name="Text 8"/>
          <p:cNvSpPr/>
          <p:nvPr/>
        </p:nvSpPr>
        <p:spPr>
          <a:xfrm>
            <a:off x="9795967" y="3017520"/>
            <a:ext cx="1554480" cy="365760"/>
          </a:xfrm>
          <a:prstGeom prst="rect">
            <a:avLst/>
          </a:prstGeom>
          <a:noFill/>
          <a:ln/>
        </p:spPr>
        <p:txBody>
          <a:bodyPr wrap="square" lIns="0" tIns="0" rIns="0" bIns="0" rtlCol="0" anchor="ctr"/>
          <a:lstStyle/>
          <a:p>
            <a:pPr algn="r" indent="0" marL="0">
              <a:buNone/>
            </a:pPr>
            <a:r>
              <a:rPr lang="en-US" sz="1150" dirty="0">
                <a:solidFill>
                  <a:srgbClr val="C8102E"/>
                </a:solidFill>
                <a:latin typeface="Courier New" pitchFamily="34" charset="0"/>
                <a:ea typeface="Courier New" pitchFamily="34" charset="-122"/>
                <a:cs typeface="Courier New" pitchFamily="34" charset="-120"/>
              </a:rPr>
              <a:t>AIMA 22.3.1</a:t>
            </a:r>
            <a:endParaRPr lang="en-US" sz="1150" dirty="0"/>
          </a:p>
        </p:txBody>
      </p:sp>
      <p:sp>
        <p:nvSpPr>
          <p:cNvPr id="11" name="Text 9"/>
          <p:cNvSpPr/>
          <p:nvPr/>
        </p:nvSpPr>
        <p:spPr>
          <a:xfrm>
            <a:off x="859536" y="3419856"/>
            <a:ext cx="10472623" cy="548640"/>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A cleaner way to score a learner than final policy quality: how much reward did you give up on the way there?</a:t>
            </a:r>
            <a:endParaRPr lang="en-US" sz="1300" dirty="0"/>
          </a:p>
        </p:txBody>
      </p:sp>
      <p:sp>
        <p:nvSpPr>
          <p:cNvPr id="12" name="Shape 10"/>
          <p:cNvSpPr/>
          <p:nvPr/>
        </p:nvSpPr>
        <p:spPr>
          <a:xfrm>
            <a:off x="566928" y="4206240"/>
            <a:ext cx="11057839" cy="1207008"/>
          </a:xfrm>
          <a:prstGeom prst="roundRect">
            <a:avLst>
              <a:gd name="adj" fmla="val 6818"/>
            </a:avLst>
          </a:prstGeom>
          <a:solidFill>
            <a:srgbClr val="F4F5F6"/>
          </a:solidFill>
          <a:ln/>
        </p:spPr>
      </p:sp>
      <p:sp>
        <p:nvSpPr>
          <p:cNvPr id="13" name="Text 11"/>
          <p:cNvSpPr/>
          <p:nvPr/>
        </p:nvSpPr>
        <p:spPr>
          <a:xfrm>
            <a:off x="859536" y="4334256"/>
            <a:ext cx="4937760" cy="365760"/>
          </a:xfrm>
          <a:prstGeom prst="rect">
            <a:avLst/>
          </a:prstGeom>
          <a:noFill/>
          <a:ln/>
        </p:spPr>
        <p:txBody>
          <a:bodyPr wrap="square" lIns="0" tIns="0" rIns="0" bIns="0" rtlCol="0" anchor="ctr"/>
          <a:lstStyle/>
          <a:p>
            <a:pPr indent="0" marL="0">
              <a:buNone/>
            </a:pPr>
            <a:r>
              <a:rPr lang="en-US" sz="1600" b="1" dirty="0">
                <a:solidFill>
                  <a:srgbClr val="22252A"/>
                </a:solidFill>
                <a:latin typeface="Cambria" pitchFamily="34" charset="0"/>
                <a:ea typeface="Cambria" pitchFamily="34" charset="-122"/>
                <a:cs typeface="Cambria" pitchFamily="34" charset="-120"/>
              </a:rPr>
              <a:t>Approximate Q-learning</a:t>
            </a:r>
            <a:endParaRPr lang="en-US" sz="1600" dirty="0"/>
          </a:p>
        </p:txBody>
      </p:sp>
      <p:sp>
        <p:nvSpPr>
          <p:cNvPr id="14" name="Text 12"/>
          <p:cNvSpPr/>
          <p:nvPr/>
        </p:nvSpPr>
        <p:spPr>
          <a:xfrm>
            <a:off x="9795967" y="4334256"/>
            <a:ext cx="1554480" cy="365760"/>
          </a:xfrm>
          <a:prstGeom prst="rect">
            <a:avLst/>
          </a:prstGeom>
          <a:noFill/>
          <a:ln/>
        </p:spPr>
        <p:txBody>
          <a:bodyPr wrap="square" lIns="0" tIns="0" rIns="0" bIns="0" rtlCol="0" anchor="ctr"/>
          <a:lstStyle/>
          <a:p>
            <a:pPr algn="r" indent="0" marL="0">
              <a:buNone/>
            </a:pPr>
            <a:r>
              <a:rPr lang="en-US" sz="1150" dirty="0">
                <a:solidFill>
                  <a:srgbClr val="C8102E"/>
                </a:solidFill>
                <a:latin typeface="Courier New" pitchFamily="34" charset="0"/>
                <a:ea typeface="Courier New" pitchFamily="34" charset="-122"/>
                <a:cs typeface="Courier New" pitchFamily="34" charset="-120"/>
              </a:rPr>
              <a:t>AIMA 22.4</a:t>
            </a:r>
            <a:endParaRPr lang="en-US" sz="1150" dirty="0"/>
          </a:p>
        </p:txBody>
      </p:sp>
      <p:sp>
        <p:nvSpPr>
          <p:cNvPr id="15" name="Text 13"/>
          <p:cNvSpPr/>
          <p:nvPr/>
        </p:nvSpPr>
        <p:spPr>
          <a:xfrm>
            <a:off x="859536" y="4736592"/>
            <a:ext cx="10472623" cy="548640"/>
          </a:xfrm>
          <a:prstGeom prst="rect">
            <a:avLst/>
          </a:prstGeom>
          <a:noFill/>
          <a:ln/>
        </p:spPr>
        <p:txBody>
          <a:bodyPr wrap="square" lIns="0" tIns="0" rIns="0" bIns="0" rtlCol="0" anchor="t"/>
          <a:lstStyle/>
          <a:p>
            <a:pPr indent="0" marL="0">
              <a:lnSpc>
                <a:spcPct val="110000"/>
              </a:lnSpc>
              <a:buNone/>
            </a:pPr>
            <a:r>
              <a:rPr lang="en-US" sz="1300" dirty="0">
                <a:solidFill>
                  <a:srgbClr val="3C4047"/>
                </a:solidFill>
                <a:latin typeface="Calibri" pitchFamily="34" charset="0"/>
                <a:ea typeface="Calibri" pitchFamily="34" charset="-122"/>
                <a:cs typeface="Calibri" pitchFamily="34" charset="-120"/>
              </a:rPr>
              <a:t>Tabular Q dies at scale. Represent states by features and learn weights instead, which is what makes RL work on problems with more states than atoms.</a:t>
            </a:r>
            <a:endParaRPr lang="en-US" sz="1300" dirty="0"/>
          </a:p>
        </p:txBody>
      </p:sp>
      <p:sp>
        <p:nvSpPr>
          <p:cNvPr id="16" name="Shape 14"/>
          <p:cNvSpPr/>
          <p:nvPr/>
        </p:nvSpPr>
        <p:spPr>
          <a:xfrm>
            <a:off x="566928" y="5541264"/>
            <a:ext cx="11057839" cy="694944"/>
          </a:xfrm>
          <a:prstGeom prst="roundRect">
            <a:avLst>
              <a:gd name="adj" fmla="val 11842"/>
            </a:avLst>
          </a:prstGeom>
          <a:solidFill>
            <a:srgbClr val="22252A"/>
          </a:solidFill>
          <a:ln/>
        </p:spPr>
      </p:sp>
      <p:sp>
        <p:nvSpPr>
          <p:cNvPr id="17" name="Text 15"/>
          <p:cNvSpPr/>
          <p:nvPr/>
        </p:nvSpPr>
        <p:spPr>
          <a:xfrm>
            <a:off x="896112" y="5541264"/>
            <a:ext cx="10399471" cy="69494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gridworld has eleven states. Everything today was a table. Next lecture is about what happens when a table is no longer an option.</a:t>
            </a:r>
            <a:endParaRPr lang="en-US" sz="1400" dirty="0"/>
          </a:p>
        </p:txBody>
      </p:sp>
      <p:sp>
        <p:nvSpPr>
          <p:cNvPr id="18" name="Text 16"/>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19" name="Text 17"/>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64</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algn="l" indent="0" marL="0">
              <a:buNone/>
            </a:pPr>
            <a:r>
              <a:rPr lang="en-US" sz="3000" b="1" dirty="0">
                <a:solidFill>
                  <a:srgbClr val="22252A"/>
                </a:solidFill>
                <a:latin typeface="Cambria" pitchFamily="34" charset="0"/>
                <a:ea typeface="Cambria" pitchFamily="34" charset="-122"/>
                <a:cs typeface="Cambria" pitchFamily="34" charset="-120"/>
              </a:rPr>
              <a:t>Sources and attribution</a:t>
            </a:r>
            <a:endParaRPr lang="en-US" sz="3000" dirty="0"/>
          </a:p>
        </p:txBody>
      </p:sp>
      <p:sp>
        <p:nvSpPr>
          <p:cNvPr id="3" name="Shape 1"/>
          <p:cNvSpPr/>
          <p:nvPr/>
        </p:nvSpPr>
        <p:spPr>
          <a:xfrm>
            <a:off x="566928" y="1463040"/>
            <a:ext cx="11057839" cy="786384"/>
          </a:xfrm>
          <a:prstGeom prst="roundRect">
            <a:avLst>
              <a:gd name="adj" fmla="val 10465"/>
            </a:avLst>
          </a:prstGeom>
          <a:solidFill>
            <a:srgbClr val="F4F5F6"/>
          </a:solidFill>
          <a:ln/>
        </p:spPr>
      </p:sp>
      <p:sp>
        <p:nvSpPr>
          <p:cNvPr id="4" name="Text 2"/>
          <p:cNvSpPr/>
          <p:nvPr/>
        </p:nvSpPr>
        <p:spPr>
          <a:xfrm>
            <a:off x="841248" y="1463040"/>
            <a:ext cx="2926080" cy="786384"/>
          </a:xfrm>
          <a:prstGeom prst="rect">
            <a:avLst/>
          </a:prstGeom>
          <a:noFill/>
          <a:ln/>
        </p:spPr>
        <p:txBody>
          <a:bodyPr wrap="square" lIns="0" tIns="0" rIns="0" bIns="0" rtlCol="0" anchor="ctr"/>
          <a:lstStyle/>
          <a:p>
            <a:pPr indent="0" marL="0">
              <a:buNone/>
            </a:pPr>
            <a:r>
              <a:rPr lang="en-US" sz="1300" b="1" dirty="0">
                <a:solidFill>
                  <a:srgbClr val="22252A"/>
                </a:solidFill>
                <a:latin typeface="Calibri" pitchFamily="34" charset="0"/>
                <a:ea typeface="Calibri" pitchFamily="34" charset="-122"/>
                <a:cs typeface="Calibri" pitchFamily="34" charset="-120"/>
              </a:rPr>
              <a:t>Russell, S. and Norvig, P.</a:t>
            </a:r>
            <a:endParaRPr lang="en-US" sz="1300" dirty="0"/>
          </a:p>
        </p:txBody>
      </p:sp>
      <p:sp>
        <p:nvSpPr>
          <p:cNvPr id="5" name="Text 3"/>
          <p:cNvSpPr/>
          <p:nvPr/>
        </p:nvSpPr>
        <p:spPr>
          <a:xfrm>
            <a:off x="3858768" y="1463040"/>
            <a:ext cx="7498080" cy="786384"/>
          </a:xfrm>
          <a:prstGeom prst="rect">
            <a:avLst/>
          </a:prstGeom>
          <a:noFill/>
          <a:ln/>
        </p:spPr>
        <p:txBody>
          <a:bodyPr wrap="square" lIns="0" tIns="0" rIns="0" bIns="0" rtlCol="0" anchor="ctr"/>
          <a:lstStyle/>
          <a:p>
            <a:pPr indent="0" marL="0">
              <a:lnSpc>
                <a:spcPct val="108000"/>
              </a:lnSpc>
              <a:buNone/>
            </a:pPr>
            <a:r>
              <a:rPr lang="en-US" sz="1200" dirty="0">
                <a:solidFill>
                  <a:srgbClr val="3C4047"/>
                </a:solidFill>
                <a:latin typeface="Calibri" pitchFamily="34" charset="0"/>
                <a:ea typeface="Calibri" pitchFamily="34" charset="-122"/>
                <a:cs typeface="Calibri" pitchFamily="34" charset="-120"/>
              </a:rPr>
              <a:t>Artificial Intelligence: A Modern Approach, 4th edition. Chapter 22, Reinforcement Learning. Pearson, 2021.</a:t>
            </a:r>
            <a:endParaRPr lang="en-US" sz="1200" dirty="0"/>
          </a:p>
        </p:txBody>
      </p:sp>
      <p:sp>
        <p:nvSpPr>
          <p:cNvPr id="6" name="Shape 4"/>
          <p:cNvSpPr/>
          <p:nvPr/>
        </p:nvSpPr>
        <p:spPr>
          <a:xfrm>
            <a:off x="566928" y="2340864"/>
            <a:ext cx="11057839" cy="786384"/>
          </a:xfrm>
          <a:prstGeom prst="roundRect">
            <a:avLst>
              <a:gd name="adj" fmla="val 10465"/>
            </a:avLst>
          </a:prstGeom>
          <a:solidFill>
            <a:srgbClr val="F4F5F6"/>
          </a:solidFill>
          <a:ln/>
        </p:spPr>
      </p:sp>
      <p:sp>
        <p:nvSpPr>
          <p:cNvPr id="7" name="Text 5"/>
          <p:cNvSpPr/>
          <p:nvPr/>
        </p:nvSpPr>
        <p:spPr>
          <a:xfrm>
            <a:off x="841248" y="2340864"/>
            <a:ext cx="2926080" cy="786384"/>
          </a:xfrm>
          <a:prstGeom prst="rect">
            <a:avLst/>
          </a:prstGeom>
          <a:noFill/>
          <a:ln/>
        </p:spPr>
        <p:txBody>
          <a:bodyPr wrap="square" lIns="0" tIns="0" rIns="0" bIns="0" rtlCol="0" anchor="ctr"/>
          <a:lstStyle/>
          <a:p>
            <a:pPr indent="0" marL="0">
              <a:buNone/>
            </a:pPr>
            <a:r>
              <a:rPr lang="en-US" sz="1300" b="1" dirty="0">
                <a:solidFill>
                  <a:srgbClr val="22252A"/>
                </a:solidFill>
                <a:latin typeface="Calibri" pitchFamily="34" charset="0"/>
                <a:ea typeface="Calibri" pitchFamily="34" charset="-122"/>
                <a:cs typeface="Calibri" pitchFamily="34" charset="-120"/>
              </a:rPr>
              <a:t>Klein, D. and Abbeel, P.</a:t>
            </a:r>
            <a:endParaRPr lang="en-US" sz="1300" dirty="0"/>
          </a:p>
        </p:txBody>
      </p:sp>
      <p:sp>
        <p:nvSpPr>
          <p:cNvPr id="8" name="Text 6"/>
          <p:cNvSpPr/>
          <p:nvPr/>
        </p:nvSpPr>
        <p:spPr>
          <a:xfrm>
            <a:off x="3858768" y="2340864"/>
            <a:ext cx="7498080" cy="786384"/>
          </a:xfrm>
          <a:prstGeom prst="rect">
            <a:avLst/>
          </a:prstGeom>
          <a:noFill/>
          <a:ln/>
        </p:spPr>
        <p:txBody>
          <a:bodyPr wrap="square" lIns="0" tIns="0" rIns="0" bIns="0" rtlCol="0" anchor="ctr"/>
          <a:lstStyle/>
          <a:p>
            <a:pPr indent="0" marL="0">
              <a:lnSpc>
                <a:spcPct val="108000"/>
              </a:lnSpc>
              <a:buNone/>
            </a:pPr>
            <a:r>
              <a:rPr lang="en-US" sz="1200" dirty="0">
                <a:solidFill>
                  <a:srgbClr val="3C4047"/>
                </a:solidFill>
                <a:latin typeface="Calibri" pitchFamily="34" charset="0"/>
                <a:ea typeface="Calibri" pitchFamily="34" charset="-122"/>
                <a:cs typeface="Calibri" pitchFamily="34" charset="-120"/>
              </a:rPr>
              <a:t>CS 188 Introduction to Artificial Intelligence, University of California, Berkeley. Lecture 11, Reinforcement Learning. Materials at ai.berkeley.edu.</a:t>
            </a:r>
            <a:endParaRPr lang="en-US" sz="1200" dirty="0"/>
          </a:p>
        </p:txBody>
      </p:sp>
      <p:sp>
        <p:nvSpPr>
          <p:cNvPr id="9" name="Shape 7"/>
          <p:cNvSpPr/>
          <p:nvPr/>
        </p:nvSpPr>
        <p:spPr>
          <a:xfrm>
            <a:off x="566928" y="3218688"/>
            <a:ext cx="11057839" cy="786384"/>
          </a:xfrm>
          <a:prstGeom prst="roundRect">
            <a:avLst>
              <a:gd name="adj" fmla="val 10465"/>
            </a:avLst>
          </a:prstGeom>
          <a:solidFill>
            <a:srgbClr val="F4F5F6"/>
          </a:solidFill>
          <a:ln/>
        </p:spPr>
      </p:sp>
      <p:sp>
        <p:nvSpPr>
          <p:cNvPr id="10" name="Text 8"/>
          <p:cNvSpPr/>
          <p:nvPr/>
        </p:nvSpPr>
        <p:spPr>
          <a:xfrm>
            <a:off x="841248" y="3218688"/>
            <a:ext cx="2926080" cy="786384"/>
          </a:xfrm>
          <a:prstGeom prst="rect">
            <a:avLst/>
          </a:prstGeom>
          <a:noFill/>
          <a:ln/>
        </p:spPr>
        <p:txBody>
          <a:bodyPr wrap="square" lIns="0" tIns="0" rIns="0" bIns="0" rtlCol="0" anchor="ctr"/>
          <a:lstStyle/>
          <a:p>
            <a:pPr indent="0" marL="0">
              <a:buNone/>
            </a:pPr>
            <a:r>
              <a:rPr lang="en-US" sz="1300" b="1" dirty="0">
                <a:solidFill>
                  <a:srgbClr val="22252A"/>
                </a:solidFill>
                <a:latin typeface="Calibri" pitchFamily="34" charset="0"/>
                <a:ea typeface="Calibri" pitchFamily="34" charset="-122"/>
                <a:cs typeface="Calibri" pitchFamily="34" charset="-120"/>
              </a:rPr>
              <a:t>Sutton, R. and Barto, A.</a:t>
            </a:r>
            <a:endParaRPr lang="en-US" sz="1300" dirty="0"/>
          </a:p>
        </p:txBody>
      </p:sp>
      <p:sp>
        <p:nvSpPr>
          <p:cNvPr id="11" name="Text 9"/>
          <p:cNvSpPr/>
          <p:nvPr/>
        </p:nvSpPr>
        <p:spPr>
          <a:xfrm>
            <a:off x="3858768" y="3218688"/>
            <a:ext cx="7498080" cy="786384"/>
          </a:xfrm>
          <a:prstGeom prst="rect">
            <a:avLst/>
          </a:prstGeom>
          <a:noFill/>
          <a:ln/>
        </p:spPr>
        <p:txBody>
          <a:bodyPr wrap="square" lIns="0" tIns="0" rIns="0" bIns="0" rtlCol="0" anchor="ctr"/>
          <a:lstStyle/>
          <a:p>
            <a:pPr indent="0" marL="0">
              <a:lnSpc>
                <a:spcPct val="108000"/>
              </a:lnSpc>
              <a:buNone/>
            </a:pPr>
            <a:r>
              <a:rPr lang="en-US" sz="1200" dirty="0">
                <a:solidFill>
                  <a:srgbClr val="3C4047"/>
                </a:solidFill>
                <a:latin typeface="Calibri" pitchFamily="34" charset="0"/>
                <a:ea typeface="Calibri" pitchFamily="34" charset="-122"/>
                <a:cs typeface="Calibri" pitchFamily="34" charset="-120"/>
              </a:rPr>
              <a:t>Reinforcement Learning: An Introduction, 2nd edition. MIT Press, 2018. The standard reference for everything in this lecture and well beyond it.</a:t>
            </a:r>
            <a:endParaRPr lang="en-US" sz="1200" dirty="0"/>
          </a:p>
        </p:txBody>
      </p:sp>
      <p:sp>
        <p:nvSpPr>
          <p:cNvPr id="12" name="Shape 10"/>
          <p:cNvSpPr/>
          <p:nvPr/>
        </p:nvSpPr>
        <p:spPr>
          <a:xfrm>
            <a:off x="566928" y="4096512"/>
            <a:ext cx="11057839" cy="786384"/>
          </a:xfrm>
          <a:prstGeom prst="roundRect">
            <a:avLst>
              <a:gd name="adj" fmla="val 10465"/>
            </a:avLst>
          </a:prstGeom>
          <a:solidFill>
            <a:srgbClr val="F4F5F6"/>
          </a:solidFill>
          <a:ln/>
        </p:spPr>
      </p:sp>
      <p:sp>
        <p:nvSpPr>
          <p:cNvPr id="13" name="Text 11"/>
          <p:cNvSpPr/>
          <p:nvPr/>
        </p:nvSpPr>
        <p:spPr>
          <a:xfrm>
            <a:off x="841248" y="4096512"/>
            <a:ext cx="2926080" cy="786384"/>
          </a:xfrm>
          <a:prstGeom prst="rect">
            <a:avLst/>
          </a:prstGeom>
          <a:noFill/>
          <a:ln/>
        </p:spPr>
        <p:txBody>
          <a:bodyPr wrap="square" lIns="0" tIns="0" rIns="0" bIns="0" rtlCol="0" anchor="ctr"/>
          <a:lstStyle/>
          <a:p>
            <a:pPr indent="0" marL="0">
              <a:buNone/>
            </a:pPr>
            <a:r>
              <a:rPr lang="en-US" sz="1300" b="1" dirty="0">
                <a:solidFill>
                  <a:srgbClr val="22252A"/>
                </a:solidFill>
                <a:latin typeface="Calibri" pitchFamily="34" charset="0"/>
                <a:ea typeface="Calibri" pitchFamily="34" charset="-122"/>
                <a:cs typeface="Calibri" pitchFamily="34" charset="-120"/>
              </a:rPr>
              <a:t>Watkins, C. and Dayan, P.</a:t>
            </a:r>
            <a:endParaRPr lang="en-US" sz="1300" dirty="0"/>
          </a:p>
        </p:txBody>
      </p:sp>
      <p:sp>
        <p:nvSpPr>
          <p:cNvPr id="14" name="Text 12"/>
          <p:cNvSpPr/>
          <p:nvPr/>
        </p:nvSpPr>
        <p:spPr>
          <a:xfrm>
            <a:off x="3858768" y="4096512"/>
            <a:ext cx="7498080" cy="786384"/>
          </a:xfrm>
          <a:prstGeom prst="rect">
            <a:avLst/>
          </a:prstGeom>
          <a:noFill/>
          <a:ln/>
        </p:spPr>
        <p:txBody>
          <a:bodyPr wrap="square" lIns="0" tIns="0" rIns="0" bIns="0" rtlCol="0" anchor="ctr"/>
          <a:lstStyle/>
          <a:p>
            <a:pPr indent="0" marL="0">
              <a:lnSpc>
                <a:spcPct val="108000"/>
              </a:lnSpc>
              <a:buNone/>
            </a:pPr>
            <a:r>
              <a:rPr lang="en-US" sz="1200" dirty="0">
                <a:solidFill>
                  <a:srgbClr val="3C4047"/>
                </a:solidFill>
                <a:latin typeface="Calibri" pitchFamily="34" charset="0"/>
                <a:ea typeface="Calibri" pitchFamily="34" charset="-122"/>
                <a:cs typeface="Calibri" pitchFamily="34" charset="-120"/>
              </a:rPr>
              <a:t>Q-learning. Machine Learning, 8(3-4), 279-292, 1992. The convergence result behind the off-policy property.</a:t>
            </a:r>
            <a:endParaRPr lang="en-US" sz="1200" dirty="0"/>
          </a:p>
        </p:txBody>
      </p:sp>
      <p:sp>
        <p:nvSpPr>
          <p:cNvPr id="15" name="Shape 13"/>
          <p:cNvSpPr/>
          <p:nvPr/>
        </p:nvSpPr>
        <p:spPr>
          <a:xfrm>
            <a:off x="566928" y="4974336"/>
            <a:ext cx="11057839" cy="786384"/>
          </a:xfrm>
          <a:prstGeom prst="roundRect">
            <a:avLst>
              <a:gd name="adj" fmla="val 10465"/>
            </a:avLst>
          </a:prstGeom>
          <a:solidFill>
            <a:srgbClr val="F4F5F6"/>
          </a:solidFill>
          <a:ln/>
        </p:spPr>
      </p:sp>
      <p:sp>
        <p:nvSpPr>
          <p:cNvPr id="16" name="Text 14"/>
          <p:cNvSpPr/>
          <p:nvPr/>
        </p:nvSpPr>
        <p:spPr>
          <a:xfrm>
            <a:off x="841248" y="4974336"/>
            <a:ext cx="2926080" cy="786384"/>
          </a:xfrm>
          <a:prstGeom prst="rect">
            <a:avLst/>
          </a:prstGeom>
          <a:noFill/>
          <a:ln/>
        </p:spPr>
        <p:txBody>
          <a:bodyPr wrap="square" lIns="0" tIns="0" rIns="0" bIns="0" rtlCol="0" anchor="ctr"/>
          <a:lstStyle/>
          <a:p>
            <a:pPr indent="0" marL="0">
              <a:buNone/>
            </a:pPr>
            <a:r>
              <a:rPr lang="en-US" sz="1300" b="1" dirty="0">
                <a:solidFill>
                  <a:srgbClr val="22252A"/>
                </a:solidFill>
                <a:latin typeface="Calibri" pitchFamily="34" charset="0"/>
                <a:ea typeface="Calibri" pitchFamily="34" charset="-122"/>
                <a:cs typeface="Calibri" pitchFamily="34" charset="-120"/>
              </a:rPr>
              <a:t>Kohl, N. and Stone, P.</a:t>
            </a:r>
            <a:endParaRPr lang="en-US" sz="1300" dirty="0"/>
          </a:p>
        </p:txBody>
      </p:sp>
      <p:sp>
        <p:nvSpPr>
          <p:cNvPr id="17" name="Text 15"/>
          <p:cNvSpPr/>
          <p:nvPr/>
        </p:nvSpPr>
        <p:spPr>
          <a:xfrm>
            <a:off x="3858768" y="4974336"/>
            <a:ext cx="7498080" cy="786384"/>
          </a:xfrm>
          <a:prstGeom prst="rect">
            <a:avLst/>
          </a:prstGeom>
          <a:noFill/>
          <a:ln/>
        </p:spPr>
        <p:txBody>
          <a:bodyPr wrap="square" lIns="0" tIns="0" rIns="0" bIns="0" rtlCol="0" anchor="ctr"/>
          <a:lstStyle/>
          <a:p>
            <a:pPr indent="0" marL="0">
              <a:lnSpc>
                <a:spcPct val="108000"/>
              </a:lnSpc>
              <a:buNone/>
            </a:pPr>
            <a:r>
              <a:rPr lang="en-US" sz="1200" dirty="0">
                <a:solidFill>
                  <a:srgbClr val="3C4047"/>
                </a:solidFill>
                <a:latin typeface="Calibri" pitchFamily="34" charset="0"/>
                <a:ea typeface="Calibri" pitchFamily="34" charset="-122"/>
                <a:cs typeface="Calibri" pitchFamily="34" charset="-120"/>
              </a:rPr>
              <a:t>Policy gradient reinforcement learning for fast quadrupedal locomotion. ICRA, 2004. The AIBO gait example.</a:t>
            </a:r>
            <a:endParaRPr lang="en-US" sz="1200" dirty="0"/>
          </a:p>
        </p:txBody>
      </p:sp>
      <p:sp>
        <p:nvSpPr>
          <p:cNvPr id="18" name="Shape 16"/>
          <p:cNvSpPr/>
          <p:nvPr/>
        </p:nvSpPr>
        <p:spPr>
          <a:xfrm>
            <a:off x="566928" y="5541264"/>
            <a:ext cx="11057839" cy="713232"/>
          </a:xfrm>
          <a:prstGeom prst="roundRect">
            <a:avLst>
              <a:gd name="adj" fmla="val 11538"/>
            </a:avLst>
          </a:prstGeom>
          <a:solidFill>
            <a:srgbClr val="FAFBFB"/>
          </a:solidFill>
          <a:ln/>
        </p:spPr>
      </p:sp>
      <p:sp>
        <p:nvSpPr>
          <p:cNvPr id="19" name="Text 17"/>
          <p:cNvSpPr/>
          <p:nvPr/>
        </p:nvSpPr>
        <p:spPr>
          <a:xfrm>
            <a:off x="841248" y="5541264"/>
            <a:ext cx="10509199" cy="713232"/>
          </a:xfrm>
          <a:prstGeom prst="rect">
            <a:avLst/>
          </a:prstGeom>
          <a:noFill/>
          <a:ln/>
        </p:spPr>
        <p:txBody>
          <a:bodyPr wrap="square" lIns="0" tIns="0" rIns="0" bIns="0" rtlCol="0" anchor="ctr"/>
          <a:lstStyle/>
          <a:p>
            <a:pPr indent="0" marL="0">
              <a:lnSpc>
                <a:spcPct val="108000"/>
              </a:lnSpc>
              <a:buNone/>
            </a:pPr>
            <a:r>
              <a:rPr lang="en-US" sz="1150" dirty="0">
                <a:solidFill>
                  <a:srgbClr val="53565A"/>
                </a:solidFill>
                <a:latin typeface="Calibri" pitchFamily="34" charset="0"/>
                <a:ea typeface="Calibri" pitchFamily="34" charset="-122"/>
                <a:cs typeface="Calibri" pitchFamily="34" charset="-120"/>
              </a:rPr>
              <a:t>Figures in this deck were generated for COMP 469 from a verified tabular RL implementation. Every numeric result shown was computed, not reproduced. Slide structure follows CS 188 Lecture 11; all CS 188 materials are available at ai.berkeley.edu.</a:t>
            </a:r>
            <a:endParaRPr lang="en-US" sz="1150" dirty="0"/>
          </a:p>
        </p:txBody>
      </p:sp>
      <p:sp>
        <p:nvSpPr>
          <p:cNvPr id="20" name="Text 18"/>
          <p:cNvSpPr/>
          <p:nvPr/>
        </p:nvSpPr>
        <p:spPr>
          <a:xfrm>
            <a:off x="566928" y="6382512"/>
            <a:ext cx="7680960" cy="274320"/>
          </a:xfrm>
          <a:prstGeom prst="rect">
            <a:avLst/>
          </a:prstGeom>
          <a:noFill/>
          <a:ln/>
        </p:spPr>
        <p:txBody>
          <a:bodyPr wrap="square" lIns="0" tIns="0" rIns="0" bIns="0" rtlCol="0" anchor="ctr"/>
          <a:lstStyle/>
          <a:p>
            <a:pPr algn="l" indent="0" marL="0">
              <a:buNone/>
            </a:pPr>
            <a:r>
              <a:rPr lang="en-US" sz="950" dirty="0">
                <a:solidFill>
                  <a:srgbClr val="A7A8AA"/>
                </a:solidFill>
                <a:latin typeface="Calibri" pitchFamily="34" charset="0"/>
                <a:ea typeface="Calibri" pitchFamily="34" charset="-122"/>
                <a:cs typeface="Calibri" pitchFamily="34" charset="-120"/>
              </a:rPr>
              <a:t>COMP 469  ·  Reinforcement Learning I  ·  CSU Channel Islands</a:t>
            </a:r>
            <a:endParaRPr lang="en-US" sz="950" dirty="0"/>
          </a:p>
        </p:txBody>
      </p:sp>
      <p:sp>
        <p:nvSpPr>
          <p:cNvPr id="21" name="Text 19"/>
          <p:cNvSpPr/>
          <p:nvPr/>
        </p:nvSpPr>
        <p:spPr>
          <a:xfrm>
            <a:off x="10710367" y="6382512"/>
            <a:ext cx="914400" cy="274320"/>
          </a:xfrm>
          <a:prstGeom prst="rect">
            <a:avLst/>
          </a:prstGeom>
          <a:noFill/>
          <a:ln/>
        </p:spPr>
        <p:txBody>
          <a:bodyPr wrap="square" lIns="0" tIns="0" rIns="0" bIns="0" rtlCol="0" anchor="ctr"/>
          <a:lstStyle/>
          <a:p>
            <a:pPr algn="r" indent="0" marL="0">
              <a:buNone/>
            </a:pPr>
            <a:r>
              <a:rPr lang="en-US" sz="950" dirty="0">
                <a:solidFill>
                  <a:srgbClr val="A7A8AA"/>
                </a:solidFill>
                <a:latin typeface="Calibri" pitchFamily="34" charset="0"/>
                <a:ea typeface="Calibri" pitchFamily="34" charset="-122"/>
                <a:cs typeface="Calibri" pitchFamily="34" charset="-120"/>
              </a:rPr>
              <a:t>65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California State University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Reinforcement Learning I</dc:title>
  <dc:subject>Reinforcement Learning I</dc:subject>
  <dc:creator>COMP 469, CSU Channel Islands</dc:creator>
  <cp:lastModifiedBy>COMP 469, CSU Channel Islands</cp:lastModifiedBy>
  <cp:revision>1</cp:revision>
  <dcterms:created xsi:type="dcterms:W3CDTF">2026-08-11T03:08:42Z</dcterms:created>
  <dcterms:modified xsi:type="dcterms:W3CDTF">2026-08-11T03:08:42Z</dcterms:modified>
</cp:coreProperties>
</file>