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6.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5.svg" ContentType="image/svg"/>
  <Override PartName="/ppt/media/image7.svg" ContentType="image/svg"/>
  <Override PartName="/ppt/media/image10.svg" ContentType="image/svg"/>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36.xml" ContentType="application/vnd.openxmlformats-officedocument.presentationml.slide+xml"/>
  <Override PartName="/ppt/slides/slide8.xml" ContentType="application/vnd.openxmlformats-officedocument.presentationml.slide+xml"/>
  <Override PartName="/ppt/slides/slide46.xml" ContentType="application/vnd.openxmlformats-officedocument.presentationml.slide+xml"/>
  <Override PartName="/ppt/slides/slide27.xml" ContentType="application/vnd.openxmlformats-officedocument.presentationml.slide+xml"/>
  <Override PartName="/ppt/slides/slide7.xml" ContentType="application/vnd.openxmlformats-officedocument.presentationml.slide+xml"/>
  <Override PartName="/ppt/slides/slide65.xml" ContentType="application/vnd.openxmlformats-officedocument.presentationml.slide+xml"/>
  <Override PartName="/ppt/slides/slide61.xml" ContentType="application/vnd.openxmlformats-officedocument.presentationml.slide+xml"/>
  <Override PartName="/ppt/slides/slide12.xml" ContentType="application/vnd.openxmlformats-officedocument.presentationml.slide+xml"/>
  <Override PartName="/ppt/slides/slide29.xml" ContentType="application/vnd.openxmlformats-officedocument.presentationml.slide+xml"/>
  <Override PartName="/ppt/slides/slide62.xml" ContentType="application/vnd.openxmlformats-officedocument.presentationml.slide+xml"/>
  <Override PartName="/ppt/slides/slide48.xml" ContentType="application/vnd.openxmlformats-officedocument.presentationml.slide+xml"/>
  <Override PartName="/ppt/slides/slide31.xml" ContentType="application/vnd.openxmlformats-officedocument.presentationml.slide+xml"/>
  <Override PartName="/ppt/slides/slide63.xml" ContentType="application/vnd.openxmlformats-officedocument.presentationml.slide+xml"/>
  <Override PartName="/ppt/slides/slide67.xml" ContentType="application/vnd.openxmlformats-officedocument.presentationml.slide+xml"/>
  <Override PartName="/ppt/slides/slide37.xml" ContentType="application/vnd.openxmlformats-officedocument.presentationml.slide+xml"/>
  <Override PartName="/ppt/slides/slide69.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58.xml" ContentType="application/vnd.openxmlformats-officedocument.presentationml.slide+xml"/>
  <Override PartName="/ppt/slides/slide72.xml" ContentType="application/vnd.openxmlformats-officedocument.presentationml.slide+xml"/>
  <Override PartName="/ppt/slides/slide75.xml" ContentType="application/vnd.openxmlformats-officedocument.presentationml.slide+xml"/>
  <Override PartName="/ppt/slides/slide49.xml" ContentType="application/vnd.openxmlformats-officedocument.presentationml.slide+xml"/>
  <Override PartName="/ppt/slides/slide76.xml" ContentType="application/vnd.openxmlformats-officedocument.presentationml.slide+xml"/>
  <Override PartName="/ppt/slides/slide66.xml" ContentType="application/vnd.openxmlformats-officedocument.presentationml.slide+xml"/>
  <Override PartName="/ppt/slides/slide2.xml" ContentType="application/vnd.openxmlformats-officedocument.presentationml.slide+xml"/>
  <Override PartName="/ppt/slides/slide41.xml" ContentType="application/vnd.openxmlformats-officedocument.presentationml.slide+xml"/>
  <Override PartName="/ppt/slides/slide23.xml" ContentType="application/vnd.openxmlformats-officedocument.presentationml.slide+xml"/>
  <Override PartName="/ppt/slides/slide71.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4.xml" ContentType="application/vnd.openxmlformats-officedocument.presentationml.slide+xml"/>
  <Override PartName="/ppt/slides/slide35.xml" ContentType="application/vnd.openxmlformats-officedocument.presentationml.slide+xml"/>
  <Override PartName="/ppt/slides/slide60.xml" ContentType="application/vnd.openxmlformats-officedocument.presentationml.slide+xml"/>
  <Override PartName="/ppt/slides/slide14.xml" ContentType="application/vnd.openxmlformats-officedocument.presentationml.slide+xml"/>
  <Override PartName="/ppt/slides/slide73.xml" ContentType="application/vnd.openxmlformats-officedocument.presentationml.slide+xml"/>
  <Override PartName="/ppt/slides/slide52.xml" ContentType="application/vnd.openxmlformats-officedocument.presentationml.slide+xml"/>
  <Override PartName="/ppt/slides/slide30.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68.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74.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59.xml" ContentType="application/vnd.openxmlformats-officedocument.presentationml.slide+xml"/>
  <Override PartName="/ppt/slides/slide56.xml" ContentType="application/vnd.openxmlformats-officedocument.presentationml.slide+xml"/>
  <Override PartName="/ppt/slides/slide50.xml" ContentType="application/vnd.openxmlformats-officedocument.presentationml.slide+xml"/>
  <Override PartName="/ppt/slides/slide24.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notesSlides/notesSlide46.xml" ContentType="application/vnd.openxmlformats-officedocument.presentationml.notesSlide+xml"/>
  <Override PartName="/ppt/notesSlides/notesSlide43.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19.xml" ContentType="application/vnd.openxmlformats-officedocument.presentationml.notesSlide+xml"/>
  <Override PartName="/ppt/notesSlides/notesSlide55.xml" ContentType="application/vnd.openxmlformats-officedocument.presentationml.notesSlide+xml"/>
  <Override PartName="/ppt/notesSlides/notesSlide4.xml" ContentType="application/vnd.openxmlformats-officedocument.presentationml.notesSlide+xml"/>
  <Override PartName="/ppt/notesSlides/notesSlide76.xml" ContentType="application/vnd.openxmlformats-officedocument.presentationml.notesSlide+xml"/>
  <Override PartName="/ppt/notesSlides/notesSlide32.xml" ContentType="application/vnd.openxmlformats-officedocument.presentationml.notesSlide+xml"/>
  <Override PartName="/ppt/notesSlides/notesSlide22.xml" ContentType="application/vnd.openxmlformats-officedocument.presentationml.notesSlide+xml"/>
  <Override PartName="/ppt/notesSlides/notesSlide47.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56.xml" ContentType="application/vnd.openxmlformats-officedocument.presentationml.notesSlide+xml"/>
  <Override PartName="/ppt/notesSlides/notesSlide61.xml" ContentType="application/vnd.openxmlformats-officedocument.presentationml.notesSlide+xml"/>
  <Override PartName="/ppt/notesSlides/notesSlide59.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72.xml" ContentType="application/vnd.openxmlformats-officedocument.presentationml.notesSlide+xml"/>
  <Override PartName="/ppt/notesSlides/notesSlide68.xml" ContentType="application/vnd.openxmlformats-officedocument.presentationml.notesSlide+xml"/>
  <Override PartName="/ppt/notesSlides/notesSlide57.xml" ContentType="application/vnd.openxmlformats-officedocument.presentationml.notesSlide+xml"/>
  <Override PartName="/ppt/notesSlides/notesSlide17.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69.xml" ContentType="application/vnd.openxmlformats-officedocument.presentationml.notesSlide+xml"/>
  <Override PartName="/ppt/notesSlides/notesSlide66.xml" ContentType="application/vnd.openxmlformats-officedocument.presentationml.notesSlide+xml"/>
  <Override PartName="/ppt/notesSlides/notesSlide45.xml" ContentType="application/vnd.openxmlformats-officedocument.presentationml.notesSlide+xml"/>
  <Override PartName="/ppt/notesSlides/notesSlide65.xml" ContentType="application/vnd.openxmlformats-officedocument.presentationml.notesSlide+xml"/>
  <Override PartName="/ppt/notesSlides/notesSlide70.xml" ContentType="application/vnd.openxmlformats-officedocument.presentationml.notesSlide+xml"/>
  <Override PartName="/ppt/notesSlides/notesSlide50.xml" ContentType="application/vnd.openxmlformats-officedocument.presentationml.notesSlide+xml"/>
  <Override PartName="/ppt/notesSlides/notesSlide62.xml" ContentType="application/vnd.openxmlformats-officedocument.presentationml.notesSlide+xml"/>
  <Override PartName="/ppt/notesSlides/notesSlide8.xml" ContentType="application/vnd.openxmlformats-officedocument.presentationml.notesSlide+xml"/>
  <Override PartName="/ppt/notesSlides/notesSlide74.xml" ContentType="application/vnd.openxmlformats-officedocument.presentationml.notesSlide+xml"/>
  <Override PartName="/ppt/notesSlides/notesSlide29.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12.xml" ContentType="application/vnd.openxmlformats-officedocument.presentationml.notesSlide+xml"/>
  <Override PartName="/ppt/notesSlides/notesSlide75.xml" ContentType="application/vnd.openxmlformats-officedocument.presentationml.notesSlide+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notesSlides/notesSlide18.xml" ContentType="application/vnd.openxmlformats-officedocument.presentationml.notesSlide+xml"/>
  <Override PartName="/ppt/notesSlides/notesSlide42.xml" ContentType="application/vnd.openxmlformats-officedocument.presentationml.notesSlide+xml"/>
  <Override PartName="/ppt/notesSlides/notesSlide24.xml" ContentType="application/vnd.openxmlformats-officedocument.presentationml.notesSlide+xml"/>
  <Override PartName="/ppt/notesSlides/notesSlide16.xml" ContentType="application/vnd.openxmlformats-officedocument.presentationml.notesSlide+xml"/>
  <Override PartName="/ppt/notesSlides/notesSlide67.xml" ContentType="application/vnd.openxmlformats-officedocument.presentationml.notesSlide+xml"/>
  <Override PartName="/ppt/notesSlides/notesSlide15.xml" ContentType="application/vnd.openxmlformats-officedocument.presentationml.notesSlide+xml"/>
  <Override PartName="/ppt/notesSlides/notesSlide52.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44.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30.xml" ContentType="application/vnd.openxmlformats-officedocument.presentationml.notesSlide+xml"/>
  <Override PartName="/ppt/notesSlides/notesSlide73.xml" ContentType="application/vnd.openxmlformats-officedocument.presentationml.notesSlide+xml"/>
  <Override PartName="/ppt/notesSlides/notesSlide31.xml" ContentType="application/vnd.openxmlformats-officedocument.presentationml.notesSlide+xml"/>
  <Override PartName="/ppt/notesSlides/notesSlide3.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23.xml" ContentType="application/vnd.openxmlformats-officedocument.presentationml.notesSlide+xml"/>
  <Override PartName="/ppt/notesSlides/notesSlide3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defTabSz="914400">
              <a:lnSpc>
                <a:spcPct val="90000"/>
              </a:lnSpc>
              <a:tabLst>
                <a:tab pos="0" algn="l"/>
              </a:tabLst>
            </a:pPr>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2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2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24"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5"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44D02BA-AA31-4E6B-BD10-15B3272AA57F}"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2" name="PlaceHolder 1"/>
          <p:cNvSpPr>
            <a:spLocks noGrp="1"/>
          </p:cNvSpPr>
          <p:nvPr>
            <p:ph type="sldImg"/>
          </p:nvPr>
        </p:nvSpPr>
        <p:spPr>
          <a:xfrm>
            <a:off x="685800" y="1143000"/>
            <a:ext cx="5484960" cy="3084840"/>
          </a:xfrm>
          <a:prstGeom prst="rect">
            <a:avLst/>
          </a:prstGeom>
          <a:ln w="0">
            <a:noFill/>
          </a:ln>
        </p:spPr>
      </p:sp>
      <p:sp>
        <p:nvSpPr>
          <p:cNvPr id="205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material covers Chapter 3, Sections 3.1 through 3.4 only. The theme is that when the right next action is not obvious, an intelligent agent can look ahead. It formulates a goal, builds an abstract model of the problem, searches through possible action sequences, and executes a solution. Heuristics are not used yet; this material does not yet cover heuristics or A star. Those topics are covered in the next lecture.</a:t>
            </a:r>
            <a:endParaRPr lang="en-US" sz="2000" b="0" u="none" strike="noStrike">
              <a:solidFill>
                <a:srgbClr val="000000"/>
              </a:solidFill>
              <a:effectLst/>
              <a:uFillTx/>
              <a:latin typeface="Arial"/>
            </a:endParaRPr>
          </a:p>
        </p:txBody>
      </p:sp>
      <p:sp>
        <p:nvSpPr>
          <p:cNvPr id="2054" name="PlaceHolder 3"/>
          <p:cNvSpPr>
            <a:spLocks noGrp="1"/>
          </p:cNvSpPr>
          <p:nvPr>
            <p:ph type="sldNum" idx="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0DC88F8-CC6C-4D7A-BEC3-F22CE81E81CE}"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5" name="PlaceHolder 1"/>
          <p:cNvSpPr>
            <a:spLocks noGrp="1"/>
          </p:cNvSpPr>
          <p:nvPr>
            <p:ph type="sldImg"/>
          </p:nvPr>
        </p:nvSpPr>
        <p:spPr>
          <a:xfrm>
            <a:off x="685800" y="1143000"/>
            <a:ext cx="5485320" cy="3085200"/>
          </a:xfrm>
          <a:prstGeom prst="rect">
            <a:avLst/>
          </a:prstGeom>
          <a:ln w="0">
            <a:noFill/>
          </a:ln>
        </p:spPr>
      </p:sp>
      <p:sp>
        <p:nvSpPr>
          <p:cNvPr id="205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slide sets the boundaries. Section 3.1 gives the problem-solving agent process. Section 3.2 gives examples. Section 3.3 explains the search tree, frontier, and reached table. Section 3.4 compares uninformed strategies. A* and heuristic search are deliberately outside the scope of these sections.</a:t>
            </a:r>
            <a:endParaRPr lang="en-US" sz="2000" b="0" u="none" strike="noStrike">
              <a:solidFill>
                <a:srgbClr val="000000"/>
              </a:solidFill>
              <a:effectLst/>
              <a:uFillTx/>
              <a:latin typeface="Arial"/>
            </a:endParaRPr>
          </a:p>
        </p:txBody>
      </p:sp>
      <p:sp>
        <p:nvSpPr>
          <p:cNvPr id="2057" name="PlaceHolder 3"/>
          <p:cNvSpPr>
            <a:spLocks noGrp="1"/>
          </p:cNvSpPr>
          <p:nvPr>
            <p:ph type="sldNum" idx="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265BD53-B3BA-4016-B873-5E6E5DADC994}"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8" name="PlaceHolder 1"/>
          <p:cNvSpPr>
            <a:spLocks noGrp="1"/>
          </p:cNvSpPr>
          <p:nvPr>
            <p:ph type="sldImg"/>
          </p:nvPr>
        </p:nvSpPr>
        <p:spPr>
          <a:xfrm>
            <a:off x="685800" y="1143000"/>
            <a:ext cx="5485320" cy="3085200"/>
          </a:xfrm>
          <a:prstGeom prst="rect">
            <a:avLst/>
          </a:prstGeom>
          <a:ln w="0">
            <a:noFill/>
          </a:ln>
        </p:spPr>
      </p:sp>
      <p:sp>
        <p:nvSpPr>
          <p:cNvPr id="205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concept connects Chapter 2 and Chapter 3. A simple reflex agent reacts to the current percept. A problem-solving agent looks ahead. It simulates action sequences, checks whether they reach a goal, and returns a plan. Search is the computational process of exploring those possible action sequences.</a:t>
            </a:r>
            <a:endParaRPr lang="en-US" sz="2000" b="0" u="none" strike="noStrike">
              <a:solidFill>
                <a:srgbClr val="000000"/>
              </a:solidFill>
              <a:effectLst/>
              <a:uFillTx/>
              <a:latin typeface="Arial"/>
            </a:endParaRPr>
          </a:p>
        </p:txBody>
      </p:sp>
      <p:sp>
        <p:nvSpPr>
          <p:cNvPr id="2060" name="PlaceHolder 3"/>
          <p:cNvSpPr>
            <a:spLocks noGrp="1"/>
          </p:cNvSpPr>
          <p:nvPr>
            <p:ph type="sldNum" idx="7"/>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5AB05A2-45C5-4C59-A39E-C06BF61A2C03}"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1" name="PlaceHolder 1"/>
          <p:cNvSpPr>
            <a:spLocks noGrp="1"/>
          </p:cNvSpPr>
          <p:nvPr>
            <p:ph type="sldImg"/>
          </p:nvPr>
        </p:nvSpPr>
        <p:spPr>
          <a:xfrm>
            <a:off x="685800" y="1143000"/>
            <a:ext cx="5484960" cy="3084840"/>
          </a:xfrm>
          <a:prstGeom prst="rect">
            <a:avLst/>
          </a:prstGeom>
          <a:ln w="0">
            <a:noFill/>
          </a:ln>
        </p:spPr>
      </p:sp>
      <p:sp>
        <p:nvSpPr>
          <p:cNvPr id="206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slide bridges Chapter 2 and Chapter 3, using the CS188 reflex-versus-planning contrast. A reflex agent maps the current percept to an action. A planning agent simulates action sequences and evaluates their outcomes before acting. The central summary is: a reflex agent considers how the world IS; a planning agent considers how the world WOULD BE. Another important representation point is that Chapter 3 uses atomic states, so the algorithms never look inside a state. The discussion question highlights that a reflex agent can be rational when the environment is simple enough that the right action is a function of the current percept alone.</a:t>
            </a:r>
            <a:endParaRPr lang="en-US" sz="2000" b="0" u="none" strike="noStrike">
              <a:solidFill>
                <a:srgbClr val="000000"/>
              </a:solidFill>
              <a:effectLst/>
              <a:uFillTx/>
              <a:latin typeface="Arial"/>
            </a:endParaRPr>
          </a:p>
        </p:txBody>
      </p:sp>
      <p:sp>
        <p:nvSpPr>
          <p:cNvPr id="2063" name="PlaceHolder 3"/>
          <p:cNvSpPr>
            <a:spLocks noGrp="1"/>
          </p:cNvSpPr>
          <p:nvPr>
            <p:ph type="sldNum" idx="8"/>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29CB4A40-0D2C-41A9-95F8-2ED653B590B6}"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4" name="PlaceHolder 1"/>
          <p:cNvSpPr>
            <a:spLocks noGrp="1"/>
          </p:cNvSpPr>
          <p:nvPr>
            <p:ph type="sldImg"/>
          </p:nvPr>
        </p:nvSpPr>
        <p:spPr>
          <a:xfrm>
            <a:off x="685800" y="1143000"/>
            <a:ext cx="5485320" cy="3085200"/>
          </a:xfrm>
          <a:prstGeom prst="rect">
            <a:avLst/>
          </a:prstGeom>
          <a:ln w="0">
            <a:noFill/>
          </a:ln>
        </p:spPr>
      </p:sp>
      <p:sp>
        <p:nvSpPr>
          <p:cNvPr id="206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example extends the reflex-versus-planning contrast with a concrete Pac-Man case.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In the left panel, The reflex agent has one rule: move toward the nearest dot. In an open maze that is sufficient, and the agent is behaving rationally here. Rationality is about optimal behaviour, not about how the agent arrived at it. An immediate reflex, such as withdrawing a hand from a hot surface, can be rational when no lookahead is needed.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In the right panel, the reflex rule fails. When a wall separates Pac-Man from the nearest dot, the distance to that dot never changes, so the rule keeps pointing in the same blocked direction. The agent bumps the wall indefinitely and never finds the way around. Since Pac-Man loses a point per time step, this is unambiguously not optimal.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central takeaway is that a reflex agent can be rational, but only when the environment is simple enough that the right action is a function of the current percept alone. The moment the right action depends on consequences the percept does not reveal, lookahead is required. That is the whole motivation for Chapter 3.</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 useful self-check question is: what is the smallest change to this maze that would make the reflex agent succeed again?</a:t>
            </a:r>
            <a:endParaRPr lang="en-US" sz="2000" b="0" u="none" strike="noStrike">
              <a:solidFill>
                <a:srgbClr val="000000"/>
              </a:solidFill>
              <a:effectLst/>
              <a:uFillTx/>
              <a:latin typeface="Arial"/>
            </a:endParaRPr>
          </a:p>
        </p:txBody>
      </p:sp>
      <p:sp>
        <p:nvSpPr>
          <p:cNvPr id="2066" name="PlaceHolder 3"/>
          <p:cNvSpPr>
            <a:spLocks noGrp="1"/>
          </p:cNvSpPr>
          <p:nvPr>
            <p:ph type="sldNum" idx="9"/>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72130C1-3DC6-483B-B08A-F39FB8B31E99}"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7" name="PlaceHolder 1"/>
          <p:cNvSpPr>
            <a:spLocks noGrp="1"/>
          </p:cNvSpPr>
          <p:nvPr>
            <p:ph type="sldImg"/>
          </p:nvPr>
        </p:nvSpPr>
        <p:spPr>
          <a:xfrm>
            <a:off x="685800" y="1143000"/>
            <a:ext cx="5485320" cy="3085200"/>
          </a:xfrm>
          <a:prstGeom prst="rect">
            <a:avLst/>
          </a:prstGeom>
          <a:ln w="0">
            <a:noFill/>
          </a:ln>
        </p:spPr>
      </p:sp>
      <p:sp>
        <p:nvSpPr>
          <p:cNvPr id="206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second important contrast is the difference between full planning and replanning. Planning is not a single strategy.</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Full planning follows the formal definition in Section 3.1: search for a complete action sequence from the initial state to a goal, then execute that sequence open-loop. In the Pac-Man example, this can be optimal but slow because the agent must search a very large state space before acting. The eat-all-dots space is 120 × 2³⁰ states.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Replanning is the practical compromise. The agent plans only to the nearest dot, executes that plan, observes the resulting state, and searches again. This is the strategy used in the programming project.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tradeoff is that a sequence of locally optimal plans is not necessarily a globally optimal plan. A maze can be constructed in which always choosing the nearest dot creates an expensive detour later.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final distinction is that replanning can address two different problems: an inaccurate or changing model, or a model that is correct but too large to search completely in one pass.</a:t>
            </a:r>
            <a:endParaRPr lang="en-US" sz="2000" b="0" u="none" strike="noStrike">
              <a:solidFill>
                <a:srgbClr val="000000"/>
              </a:solidFill>
              <a:effectLst/>
              <a:uFillTx/>
              <a:latin typeface="Arial"/>
            </a:endParaRPr>
          </a:p>
        </p:txBody>
      </p:sp>
      <p:sp>
        <p:nvSpPr>
          <p:cNvPr id="2069" name="PlaceHolder 3"/>
          <p:cNvSpPr>
            <a:spLocks noGrp="1"/>
          </p:cNvSpPr>
          <p:nvPr>
            <p:ph type="sldNum" idx="10"/>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F74B110-2DEE-420C-A513-2A89DDD2B1B5}"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0" name="PlaceHolder 1"/>
          <p:cNvSpPr>
            <a:spLocks noGrp="1"/>
          </p:cNvSpPr>
          <p:nvPr>
            <p:ph type="sldImg"/>
          </p:nvPr>
        </p:nvSpPr>
        <p:spPr>
          <a:xfrm>
            <a:off x="685800" y="1143000"/>
            <a:ext cx="5485320" cy="3085200"/>
          </a:xfrm>
          <a:prstGeom prst="rect">
            <a:avLst/>
          </a:prstGeom>
          <a:ln w="0">
            <a:noFill/>
          </a:ln>
        </p:spPr>
      </p:sp>
      <p:sp>
        <p:nvSpPr>
          <p:cNvPr id="207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process has four phases. First, formulate a goal. Second, formulate a search problem by choosing the right abstraction. Third, search inside the model before acting in the real world. Fourth, execute the returned action sequence. The Romania route problem is the canonical example.</a:t>
            </a:r>
            <a:endParaRPr lang="en-US" sz="2000" b="0" u="none" strike="noStrike">
              <a:solidFill>
                <a:srgbClr val="000000"/>
              </a:solidFill>
              <a:effectLst/>
              <a:uFillTx/>
              <a:latin typeface="Arial"/>
            </a:endParaRPr>
          </a:p>
        </p:txBody>
      </p:sp>
      <p:sp>
        <p:nvSpPr>
          <p:cNvPr id="2072" name="PlaceHolder 3"/>
          <p:cNvSpPr>
            <a:spLocks noGrp="1"/>
          </p:cNvSpPr>
          <p:nvPr>
            <p:ph type="sldNum" idx="1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BE5D401-CD8D-4E17-BA8D-60B90A0812A8}"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3" name="PlaceHolder 1"/>
          <p:cNvSpPr>
            <a:spLocks noGrp="1"/>
          </p:cNvSpPr>
          <p:nvPr>
            <p:ph type="sldImg"/>
          </p:nvPr>
        </p:nvSpPr>
        <p:spPr>
          <a:xfrm>
            <a:off x="685800" y="1143000"/>
            <a:ext cx="5485320" cy="3085200"/>
          </a:xfrm>
          <a:prstGeom prst="rect">
            <a:avLst/>
          </a:prstGeom>
          <a:ln w="0">
            <a:noFill/>
          </a:ln>
        </p:spPr>
      </p:sp>
      <p:sp>
        <p:nvSpPr>
          <p:cNvPr id="207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For this part of the chapter, AIMA assumes relatively simple environments: fully observable, deterministic, known, static, discrete, and single-agent. Under these assumptions a solution is a fixed action sequence. This is an open-loop plan. If those assumptions fail, the agent should monitor percepts and replan or use a branching strategy.</a:t>
            </a:r>
            <a:endParaRPr lang="en-US" sz="2000" b="0" u="none" strike="noStrike">
              <a:solidFill>
                <a:srgbClr val="000000"/>
              </a:solidFill>
              <a:effectLst/>
              <a:uFillTx/>
              <a:latin typeface="Arial"/>
            </a:endParaRPr>
          </a:p>
        </p:txBody>
      </p:sp>
      <p:sp>
        <p:nvSpPr>
          <p:cNvPr id="2075" name="PlaceHolder 3"/>
          <p:cNvSpPr>
            <a:spLocks noGrp="1"/>
          </p:cNvSpPr>
          <p:nvPr>
            <p:ph type="sldNum" idx="12"/>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E54C81E-BD45-47DF-8C8F-EAC1D5935D87}"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6" name="PlaceHolder 1"/>
          <p:cNvSpPr>
            <a:spLocks noGrp="1"/>
          </p:cNvSpPr>
          <p:nvPr>
            <p:ph type="sldImg"/>
          </p:nvPr>
        </p:nvSpPr>
        <p:spPr>
          <a:xfrm>
            <a:off x="685800" y="1143000"/>
            <a:ext cx="5485320" cy="3085200"/>
          </a:xfrm>
          <a:prstGeom prst="rect">
            <a:avLst/>
          </a:prstGeom>
          <a:ln w="0">
            <a:noFill/>
          </a:ln>
        </p:spPr>
      </p:sp>
      <p:sp>
        <p:nvSpPr>
          <p:cNvPr id="207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search problem has six parts: state space, initial state, goal test, actions, transition model, and action cost. This six-part list serves as a checklist for every example. A problem is not fully formulated as a search problem until all six items can be identified.</a:t>
            </a:r>
            <a:endParaRPr lang="en-US" sz="2000" b="0" u="none" strike="noStrike">
              <a:solidFill>
                <a:srgbClr val="000000"/>
              </a:solidFill>
              <a:effectLst/>
              <a:uFillTx/>
              <a:latin typeface="Arial"/>
            </a:endParaRPr>
          </a:p>
        </p:txBody>
      </p:sp>
      <p:sp>
        <p:nvSpPr>
          <p:cNvPr id="2078" name="PlaceHolder 3"/>
          <p:cNvSpPr>
            <a:spLocks noGrp="1"/>
          </p:cNvSpPr>
          <p:nvPr>
            <p:ph type="sldNum" idx="13"/>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95E473C-2C43-4F78-BBE3-D5967C58479C}"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9" name="PlaceHolder 1"/>
          <p:cNvSpPr>
            <a:spLocks noGrp="1"/>
          </p:cNvSpPr>
          <p:nvPr>
            <p:ph type="sldImg"/>
          </p:nvPr>
        </p:nvSpPr>
        <p:spPr>
          <a:xfrm>
            <a:off x="685800" y="1143000"/>
            <a:ext cx="5485320" cy="3085200"/>
          </a:xfrm>
          <a:prstGeom prst="rect">
            <a:avLst/>
          </a:prstGeom>
          <a:ln w="0">
            <a:noFill/>
          </a:ln>
        </p:spPr>
      </p:sp>
      <p:sp>
        <p:nvSpPr>
          <p:cNvPr id="208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Romania route problem instantiates the formal definition. Cities are states. Roads are actions. The transition model follows roads to adjacent cities. The cost can be distance, time, fuel, or another performance measure.</a:t>
            </a:r>
            <a:endParaRPr lang="en-US" sz="2000" b="0" u="none" strike="noStrike">
              <a:solidFill>
                <a:srgbClr val="000000"/>
              </a:solidFill>
              <a:effectLst/>
              <a:uFillTx/>
              <a:latin typeface="Arial"/>
            </a:endParaRPr>
          </a:p>
        </p:txBody>
      </p:sp>
      <p:sp>
        <p:nvSpPr>
          <p:cNvPr id="2081" name="PlaceHolder 3"/>
          <p:cNvSpPr>
            <a:spLocks noGrp="1"/>
          </p:cNvSpPr>
          <p:nvPr>
            <p:ph type="sldNum" idx="14"/>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F692FDB-21F2-41A1-B388-8B817291A6F4}"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2" name="PlaceHolder 1"/>
          <p:cNvSpPr>
            <a:spLocks noGrp="1"/>
          </p:cNvSpPr>
          <p:nvPr>
            <p:ph type="sldImg"/>
          </p:nvPr>
        </p:nvSpPr>
        <p:spPr>
          <a:xfrm>
            <a:off x="685800" y="1143000"/>
            <a:ext cx="5485320" cy="3085200"/>
          </a:xfrm>
          <a:prstGeom prst="rect">
            <a:avLst/>
          </a:prstGeom>
          <a:ln w="0">
            <a:noFill/>
          </a:ln>
        </p:spPr>
      </p:sp>
      <p:sp>
        <p:nvSpPr>
          <p:cNvPr id="208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search problem is a model, not the real world. A good abstraction removes irrelevant details while preserving the ability to turn the abstract solution into a real action sequence. If the abstraction is too detailed, search is impossible. If it is too coarse, the plan may not be executable.</a:t>
            </a:r>
            <a:endParaRPr lang="en-US" sz="2000" b="0" u="none" strike="noStrike">
              <a:solidFill>
                <a:srgbClr val="000000"/>
              </a:solidFill>
              <a:effectLst/>
              <a:uFillTx/>
              <a:latin typeface="Arial"/>
            </a:endParaRPr>
          </a:p>
        </p:txBody>
      </p:sp>
      <p:sp>
        <p:nvSpPr>
          <p:cNvPr id="2084" name="PlaceHolder 3"/>
          <p:cNvSpPr>
            <a:spLocks noGrp="1"/>
          </p:cNvSpPr>
          <p:nvPr>
            <p:ph type="sldNum" idx="1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7877497-4CD4-4C08-AC13-F35C413FFDC7}"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5" name="PlaceHolder 1"/>
          <p:cNvSpPr>
            <a:spLocks noGrp="1"/>
          </p:cNvSpPr>
          <p:nvPr>
            <p:ph type="sldImg"/>
          </p:nvPr>
        </p:nvSpPr>
        <p:spPr>
          <a:xfrm>
            <a:off x="685800" y="1143000"/>
            <a:ext cx="5485320" cy="3085200"/>
          </a:xfrm>
          <a:prstGeom prst="rect">
            <a:avLst/>
          </a:prstGeom>
          <a:ln w="0">
            <a:noFill/>
          </a:ln>
        </p:spPr>
      </p:sp>
      <p:sp>
        <p:nvSpPr>
          <p:cNvPr id="208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slide is the CS188 idea expressed in CSUCI form: search operates over models. The agent does not actually drive every road or move every tile in the physical world. It simulates possible actions inside an abstraction. The usefulness of the search algorithm depends on whether the model captures the facts relevant to the goal and cost.</a:t>
            </a:r>
            <a:endParaRPr lang="en-US" sz="2000" b="0" u="none" strike="noStrike">
              <a:solidFill>
                <a:srgbClr val="000000"/>
              </a:solidFill>
              <a:effectLst/>
              <a:uFillTx/>
              <a:latin typeface="Arial"/>
            </a:endParaRPr>
          </a:p>
        </p:txBody>
      </p:sp>
      <p:sp>
        <p:nvSpPr>
          <p:cNvPr id="2087" name="PlaceHolder 3"/>
          <p:cNvSpPr>
            <a:spLocks noGrp="1"/>
          </p:cNvSpPr>
          <p:nvPr>
            <p:ph type="sldNum" idx="1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0A0FEB4-0FBE-46D8-8615-8A076B9AE24E}"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8" name="PlaceHolder 1"/>
          <p:cNvSpPr>
            <a:spLocks noGrp="1"/>
          </p:cNvSpPr>
          <p:nvPr>
            <p:ph type="sldImg"/>
          </p:nvPr>
        </p:nvSpPr>
        <p:spPr>
          <a:xfrm>
            <a:off x="685800" y="1143000"/>
            <a:ext cx="5485320" cy="3085200"/>
          </a:xfrm>
          <a:prstGeom prst="rect">
            <a:avLst/>
          </a:prstGeom>
          <a:ln w="0">
            <a:noFill/>
          </a:ln>
        </p:spPr>
      </p:sp>
      <p:sp>
        <p:nvSpPr>
          <p:cNvPr id="208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example shows why a bad search result may come from the model rather than the search algorithm.</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Both examples are real. In the first, a turn-by-turn route instructs a driver to make a turn that a car cannot physically execute. Nothing is wrong with the search: it found a genuine least-cost path through the graph it was given. The map data contained an edge that does not correspond to a legal, drivable manoeuvre. In the second, a route repeatedly directs a car onto a boat trip across water. Almost certainly the graph is missing an edge near the destination, so the successor function returns the only continuations that exist in the incomplete graph, and those happen to route over water.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three cards form a diagnostic checklist for classifying formulation defects. The turn is a successor-function defect: an edge exists that should not. The boat trip is also a successor-function defect, but the opposite one: an edge is missing. The symmetry is important: one defect adds an invalid edge, while the other omits a valid edge.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 third example occurs when the cost function minimizes distance even though the traveller actually cares about time; the returned route can then optimize the wrong objective.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concluding point is that everything in Sections 3.3 and 3.4 assumes the formulation is correct. All the completeness and optimality guarantees are guarantees about the model, not about the world.</a:t>
            </a:r>
            <a:endParaRPr lang="en-US" sz="2000" b="0" u="none" strike="noStrike">
              <a:solidFill>
                <a:srgbClr val="000000"/>
              </a:solidFill>
              <a:effectLst/>
              <a:uFillTx/>
              <a:latin typeface="Arial"/>
            </a:endParaRPr>
          </a:p>
        </p:txBody>
      </p:sp>
      <p:sp>
        <p:nvSpPr>
          <p:cNvPr id="2090" name="PlaceHolder 3"/>
          <p:cNvSpPr>
            <a:spLocks noGrp="1"/>
          </p:cNvSpPr>
          <p:nvPr>
            <p:ph type="sldNum" idx="17"/>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F719B71-6568-44C6-8FED-7E8AF0270F38}"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1" name="PlaceHolder 1"/>
          <p:cNvSpPr>
            <a:spLocks noGrp="1"/>
          </p:cNvSpPr>
          <p:nvPr>
            <p:ph type="sldImg"/>
          </p:nvPr>
        </p:nvSpPr>
        <p:spPr>
          <a:xfrm>
            <a:off x="685800" y="1143000"/>
            <a:ext cx="5485320" cy="3085200"/>
          </a:xfrm>
          <a:prstGeom prst="rect">
            <a:avLst/>
          </a:prstGeom>
          <a:ln w="0">
            <a:noFill/>
          </a:ln>
        </p:spPr>
      </p:sp>
      <p:sp>
        <p:nvSpPr>
          <p:cNvPr id="209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Section 3.2 shows that the same search vocabulary applies across many domains. Standardized problems are concise and useful for comparing algorithms. Real-world problems are more idiosyncratic because sensors, actuators, constraints, and costs vary.</a:t>
            </a:r>
            <a:endParaRPr lang="en-US" sz="2000" b="0" u="none" strike="noStrike">
              <a:solidFill>
                <a:srgbClr val="000000"/>
              </a:solidFill>
              <a:effectLst/>
              <a:uFillTx/>
              <a:latin typeface="Arial"/>
            </a:endParaRPr>
          </a:p>
        </p:txBody>
      </p:sp>
      <p:sp>
        <p:nvSpPr>
          <p:cNvPr id="2093" name="PlaceHolder 3"/>
          <p:cNvSpPr>
            <a:spLocks noGrp="1"/>
          </p:cNvSpPr>
          <p:nvPr>
            <p:ph type="sldNum" idx="18"/>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9863FD2-73B3-41F6-801E-CCB813545C16}"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4" name="PlaceHolder 1"/>
          <p:cNvSpPr>
            <a:spLocks noGrp="1"/>
          </p:cNvSpPr>
          <p:nvPr>
            <p:ph type="sldImg"/>
          </p:nvPr>
        </p:nvSpPr>
        <p:spPr>
          <a:xfrm>
            <a:off x="685800" y="1143000"/>
            <a:ext cx="5485320" cy="3085200"/>
          </a:xfrm>
          <a:prstGeom prst="rect">
            <a:avLst/>
          </a:prstGeom>
          <a:ln w="0">
            <a:noFill/>
          </a:ln>
        </p:spPr>
      </p:sp>
      <p:sp>
        <p:nvSpPr>
          <p:cNvPr id="209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Grid worlds are the workhorse of Section 3.2.1 and the family most of the programming assignments come from. A key design issue is the action vocabulary. Absolute actions keep the state small because orientation never enters it. Egocentric actions need a facing in the state, which multiplies the space by four, but they are what a real robot actually executes. That is a formulation decision, not a fact about the world, and it must be made deliberately. Sokoban then shows how fast the space grows once the state has to track movable objects rather than just the agent.</a:t>
            </a:r>
            <a:endParaRPr lang="en-US" sz="2000" b="0" u="none" strike="noStrike">
              <a:solidFill>
                <a:srgbClr val="000000"/>
              </a:solidFill>
              <a:effectLst/>
              <a:uFillTx/>
              <a:latin typeface="Arial"/>
            </a:endParaRPr>
          </a:p>
        </p:txBody>
      </p:sp>
      <p:sp>
        <p:nvSpPr>
          <p:cNvPr id="2096" name="PlaceHolder 3"/>
          <p:cNvSpPr>
            <a:spLocks noGrp="1"/>
          </p:cNvSpPr>
          <p:nvPr>
            <p:ph type="sldNum" idx="19"/>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41F1EA6D-C4F7-4ADD-9900-440109AACA45}"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7" name="PlaceHolder 1"/>
          <p:cNvSpPr>
            <a:spLocks noGrp="1"/>
          </p:cNvSpPr>
          <p:nvPr>
            <p:ph type="sldImg"/>
          </p:nvPr>
        </p:nvSpPr>
        <p:spPr>
          <a:xfrm>
            <a:off x="685800" y="1143000"/>
            <a:ext cx="5484960" cy="3084840"/>
          </a:xfrm>
          <a:prstGeom prst="rect">
            <a:avLst/>
          </a:prstGeom>
          <a:ln w="0">
            <a:noFill/>
          </a:ln>
        </p:spPr>
      </p:sp>
      <p:sp>
        <p:nvSpPr>
          <p:cNvPr id="209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Section 3.2 provides repeated practice with the six-part formulation. The 8-puzzle can be analyzed with the same checklist used for Romania. Two details are especially important. First, the action is described as moving the blank, not moving a tile, because that gives four actions instead of eight and is far simpler to implement. Second, the parity property: any given goal is reachable from exactly half of the possible initial states, which is why the count is 9!/2 rather than 9!. The abstraction point from Section 3.1.2 is that the formulation already threw away the physical sliding motion and every illegal physical manipulation. TEACHING MOMENT — two numbers in the book are wrong, and students can check both from the parity rule alone. AIMA prints the 8-puzzle count as 181,400; 9!/2 is 181,440. AIMA also prints the 15-puzzle as “around 1.3 trillion”; 16!/2 is 10,461,394,944,000, about 1.05 times ten to the thirteenth, or roughly eight times the printed figure. The 24-puzzle figure, 25!/2 at about 7.8 times ten to the twenty-fourth, is correctly reported as around ten to the twenty-fifth. Ask the class to recompute all three. Finding a published error is worth more than accepting three correct ones.</a:t>
            </a:r>
            <a:endParaRPr lang="en-US" sz="2000" b="0" u="none" strike="noStrike">
              <a:solidFill>
                <a:srgbClr val="000000"/>
              </a:solidFill>
              <a:effectLst/>
              <a:uFillTx/>
              <a:latin typeface="Arial"/>
            </a:endParaRPr>
          </a:p>
        </p:txBody>
      </p:sp>
      <p:sp>
        <p:nvSpPr>
          <p:cNvPr id="2099" name="PlaceHolder 3"/>
          <p:cNvSpPr>
            <a:spLocks noGrp="1"/>
          </p:cNvSpPr>
          <p:nvPr>
            <p:ph type="sldNum" idx="20"/>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B9D4B4E5-BF39-442F-8E7A-EAC8C71DE76D}"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0" name="PlaceHolder 1"/>
          <p:cNvSpPr>
            <a:spLocks noGrp="1"/>
          </p:cNvSpPr>
          <p:nvPr>
            <p:ph type="sldImg"/>
          </p:nvPr>
        </p:nvSpPr>
        <p:spPr>
          <a:xfrm>
            <a:off x="685800" y="1143000"/>
            <a:ext cx="5484960" cy="3084840"/>
          </a:xfrm>
          <a:prstGeom prst="rect">
            <a:avLst/>
          </a:prstGeom>
          <a:ln w="0">
            <a:noFill/>
          </a:ln>
        </p:spPr>
      </p:sp>
      <p:sp>
        <p:nvSpPr>
          <p:cNvPr id="210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standardized problem is especially important for the theory. It is the counterexample that shows a search can avoid every repeated state and still be incomplete. The shortest path from 4 to 5 goes through 4 factorial factorial, which is roughly six times ten to the twenty-third. It motivates the later discussion of systematic search and completeness.</a:t>
            </a:r>
            <a:endParaRPr lang="en-US" sz="2000" b="0" u="none" strike="noStrike">
              <a:solidFill>
                <a:srgbClr val="000000"/>
              </a:solidFill>
              <a:effectLst/>
              <a:uFillTx/>
              <a:latin typeface="Arial"/>
            </a:endParaRPr>
          </a:p>
        </p:txBody>
      </p:sp>
      <p:sp>
        <p:nvSpPr>
          <p:cNvPr id="2102" name="PlaceHolder 3"/>
          <p:cNvSpPr>
            <a:spLocks noGrp="1"/>
          </p:cNvSpPr>
          <p:nvPr>
            <p:ph type="sldNum" idx="2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03049A83-878B-4A7F-90C8-E0EB2627A97D}"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3" name="PlaceHolder 1"/>
          <p:cNvSpPr>
            <a:spLocks noGrp="1"/>
          </p:cNvSpPr>
          <p:nvPr>
            <p:ph type="sldImg"/>
          </p:nvPr>
        </p:nvSpPr>
        <p:spPr>
          <a:xfrm>
            <a:off x="685800" y="1143000"/>
            <a:ext cx="5485320" cy="3085200"/>
          </a:xfrm>
          <a:prstGeom prst="rect">
            <a:avLst/>
          </a:prstGeom>
          <a:ln w="0">
            <a:noFill/>
          </a:ln>
        </p:spPr>
      </p:sp>
      <p:sp>
        <p:nvSpPr>
          <p:cNvPr id="210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vacuum world makes combinatorial growth concrete. The two-cell world has eight states. In general, an n-cell vacuum world has n times two to the n states. The key lesson is that every additional state variable multiplies the search space.</a:t>
            </a:r>
            <a:endParaRPr lang="en-US" sz="2000" b="0" u="none" strike="noStrike">
              <a:solidFill>
                <a:srgbClr val="000000"/>
              </a:solidFill>
              <a:effectLst/>
              <a:uFillTx/>
              <a:latin typeface="Arial"/>
            </a:endParaRPr>
          </a:p>
        </p:txBody>
      </p:sp>
      <p:sp>
        <p:nvSpPr>
          <p:cNvPr id="2105" name="PlaceHolder 3"/>
          <p:cNvSpPr>
            <a:spLocks noGrp="1"/>
          </p:cNvSpPr>
          <p:nvPr>
            <p:ph type="sldNum" idx="22"/>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CAA2FD8-6602-4FED-947B-CD5B3683F9BA}"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6" name="PlaceHolder 1"/>
          <p:cNvSpPr>
            <a:spLocks noGrp="1"/>
          </p:cNvSpPr>
          <p:nvPr>
            <p:ph type="sldImg"/>
          </p:nvPr>
        </p:nvSpPr>
        <p:spPr>
          <a:xfrm>
            <a:off x="685800" y="1143000"/>
            <a:ext cx="5485320" cy="3085200"/>
          </a:xfrm>
          <a:prstGeom prst="rect">
            <a:avLst/>
          </a:prstGeom>
          <a:ln w="0">
            <a:noFill/>
          </a:ln>
        </p:spPr>
      </p:sp>
      <p:sp>
        <p:nvSpPr>
          <p:cNvPr id="210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world state contains everything. A search state keeps only what is needed for planning. The same physical game can require different search states depending on the task. Pathing needs position only. Eating all dots requires dot status. Safe passage requires timers and power-pellet status.</a:t>
            </a:r>
            <a:endParaRPr lang="en-US" sz="2000" b="0" u="none" strike="noStrike">
              <a:solidFill>
                <a:srgbClr val="000000"/>
              </a:solidFill>
              <a:effectLst/>
              <a:uFillTx/>
              <a:latin typeface="Arial"/>
            </a:endParaRPr>
          </a:p>
        </p:txBody>
      </p:sp>
      <p:sp>
        <p:nvSpPr>
          <p:cNvPr id="2108" name="PlaceHolder 3"/>
          <p:cNvSpPr>
            <a:spLocks noGrp="1"/>
          </p:cNvSpPr>
          <p:nvPr>
            <p:ph type="sldNum" idx="23"/>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C018B28-5D14-4373-94FC-512F8D253EB2}"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9" name="PlaceHolder 1"/>
          <p:cNvSpPr>
            <a:spLocks noGrp="1"/>
          </p:cNvSpPr>
          <p:nvPr>
            <p:ph type="sldImg"/>
          </p:nvPr>
        </p:nvSpPr>
        <p:spPr>
          <a:xfrm>
            <a:off x="0" y="763560"/>
            <a:ext cx="0" cy="0"/>
          </a:xfrm>
          <a:prstGeom prst="rect">
            <a:avLst/>
          </a:prstGeom>
          <a:ln w="0">
            <a:noFill/>
          </a:ln>
        </p:spPr>
      </p:sp>
      <p:sp>
        <p:nvSpPr>
          <p:cNvPr id="2110" name="PlaceHolder 2"/>
          <p:cNvSpPr>
            <a:spLocks noGrp="1"/>
          </p:cNvSpPr>
          <p:nvPr>
            <p:ph type="body"/>
          </p:nvPr>
        </p:nvSpPr>
        <p:spPr>
          <a:xfrm>
            <a:off x="777240" y="4777560"/>
            <a:ext cx="6216480" cy="452484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The Pac-Man state provides a useful way to identify which variables belong in a search state. The count is a product: position times food configurations times ghost configurations times facing. The distinction between world state and search state follows from this count.</a:t>
            </a:r>
            <a:endParaRPr lang="en-US" sz="2000" b="0" u="none" strike="noStrike">
              <a:solidFill>
                <a:srgbClr val="000000"/>
              </a:solidFill>
              <a:effectLst/>
              <a:uFillTx/>
              <a:latin typeface="Arial"/>
            </a:endParaRPr>
          </a:p>
        </p:txBody>
      </p:sp>
      <p:sp>
        <p:nvSpPr>
          <p:cNvPr id="2111" name="PlaceHolder 3"/>
          <p:cNvSpPr>
            <a:spLocks noGrp="1"/>
          </p:cNvSpPr>
          <p:nvPr>
            <p:ph type="sldNum" idx="24"/>
          </p:nvPr>
        </p:nvSpPr>
        <p:spPr>
          <a:xfrm>
            <a:off x="4399200" y="9555480"/>
            <a:ext cx="3371760" cy="501480"/>
          </a:xfrm>
          <a:prstGeom prst="rect">
            <a:avLst/>
          </a:prstGeom>
          <a:noFill/>
          <a:ln w="0">
            <a:noFill/>
          </a:ln>
        </p:spPr>
        <p:txBody>
          <a:bodyPr lIns="0" tIns="0" rIns="0" bIns="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25FE921D-C991-4D74-8E89-74D7E413A4A4}" type="slidenum">
              <a:rPr lang="en-US" sz="1400" b="0" u="none" strike="noStrike">
                <a:solidFill>
                  <a:srgbClr val="000000"/>
                </a:solidFill>
                <a:effectLst/>
                <a:uFillTx/>
                <a:latin typeface="Times New Roman"/>
                <a:ea typeface="+mn-ea"/>
              </a:rPr>
              <a:t>75</a:t>
            </a:fld>
            <a:endParaRPr lang="en-US" sz="14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2" name="PlaceHolder 1"/>
          <p:cNvSpPr>
            <a:spLocks noGrp="1"/>
          </p:cNvSpPr>
          <p:nvPr>
            <p:ph type="sldImg"/>
          </p:nvPr>
        </p:nvSpPr>
        <p:spPr>
          <a:xfrm>
            <a:off x="685800" y="1143000"/>
            <a:ext cx="5484960" cy="3084840"/>
          </a:xfrm>
          <a:prstGeom prst="rect">
            <a:avLst/>
          </a:prstGeom>
          <a:ln w="0">
            <a:noFill/>
          </a:ln>
        </p:spPr>
      </p:sp>
      <p:sp>
        <p:nvSpPr>
          <p:cNvPr id="211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Pac-Man example makes state-space growth concrete. The same maze produces very different search spaces depending on the problem being solved. Pathing needs only the agent position, giving 120 states. Eating all dots also needs the status of 30 food locations, giving 120 × 2³⁰ states. Safe passage adds power-pellet status and a scared timer.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general rule is that each independent state variable multiplies the state space. Variables that never affect the goal test, successor function, or cost model should be omitted.</a:t>
            </a:r>
            <a:endParaRPr lang="en-US" sz="2000" b="0" u="none" strike="noStrike">
              <a:solidFill>
                <a:srgbClr val="000000"/>
              </a:solidFill>
              <a:effectLst/>
              <a:uFillTx/>
              <a:latin typeface="Arial"/>
            </a:endParaRPr>
          </a:p>
        </p:txBody>
      </p:sp>
      <p:sp>
        <p:nvSpPr>
          <p:cNvPr id="2114" name="PlaceHolder 3"/>
          <p:cNvSpPr>
            <a:spLocks noGrp="1"/>
          </p:cNvSpPr>
          <p:nvPr>
            <p:ph type="sldNum" idx="2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0613A347-6621-4ACD-A781-2C6159128B4E}"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5" name="PlaceHolder 1"/>
          <p:cNvSpPr>
            <a:spLocks noGrp="1"/>
          </p:cNvSpPr>
          <p:nvPr>
            <p:ph type="sldImg"/>
          </p:nvPr>
        </p:nvSpPr>
        <p:spPr>
          <a:xfrm>
            <a:off x="685800" y="1143000"/>
            <a:ext cx="5485320" cy="3085200"/>
          </a:xfrm>
          <a:prstGeom prst="rect">
            <a:avLst/>
          </a:prstGeom>
          <a:ln w="0">
            <a:noFill/>
          </a:ln>
        </p:spPr>
      </p:sp>
      <p:sp>
        <p:nvSpPr>
          <p:cNvPr id="211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scenario is a state-design exercise. Each candidate variable can be tested with two questions: does the goal test read it, and does the successor function need it to generate the next state?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Dot locations are required because the goal depends on which dots remain and the successor function must determine whether a move consumes a dot. A simple dot count is insufficient. Power-pellet locations and the scared timer are required by the successor function because consuming a pellet resets the timer and timer expiration changes whether the task remains achievable.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Ghost locations are model-dependent. If an eaten ghost can respawn un-scared, ghost positions must be represented so that event can be detected. If the model assumes ghost position never changes the goal test or transition beyond the scared timer, ghost positions can be omitted.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broader lesson is that state design depends on the model. Over-simplification can be just as harmful as including unnecessary variables.</a:t>
            </a:r>
            <a:endParaRPr lang="en-US" sz="2000" b="0" u="none" strike="noStrike">
              <a:solidFill>
                <a:srgbClr val="000000"/>
              </a:solidFill>
              <a:effectLst/>
              <a:uFillTx/>
              <a:latin typeface="Arial"/>
            </a:endParaRPr>
          </a:p>
        </p:txBody>
      </p:sp>
      <p:sp>
        <p:nvSpPr>
          <p:cNvPr id="2117" name="PlaceHolder 3"/>
          <p:cNvSpPr>
            <a:spLocks noGrp="1"/>
          </p:cNvSpPr>
          <p:nvPr>
            <p:ph type="sldNum" idx="2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642CDCA-794E-457F-811A-A654E816148F}"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8" name="PlaceHolder 1"/>
          <p:cNvSpPr>
            <a:spLocks noGrp="1"/>
          </p:cNvSpPr>
          <p:nvPr>
            <p:ph type="sldImg"/>
          </p:nvPr>
        </p:nvSpPr>
        <p:spPr>
          <a:xfrm>
            <a:off x="685800" y="1143000"/>
            <a:ext cx="5484960" cy="3084840"/>
          </a:xfrm>
          <a:prstGeom prst="rect">
            <a:avLst/>
          </a:prstGeom>
          <a:ln w="0">
            <a:noFill/>
          </a:ln>
        </p:spPr>
      </p:sp>
      <p:sp>
        <p:nvSpPr>
          <p:cNvPr id="211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Airline planning shows that a state is not always just a snapshot of location. The fare for a segment may depend on earlier segments and their fare bases. A state containing only airport and time would therefore be insufficient for a cost function that depends on travel history.</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state must contain enough information to make the transition and cost functions well defined. This is the same design rule used in the Pac-Man examples: information belongs in the state when the goal test, successor function, or cost model depends on it.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 realistic travel system would also need contingency handling for delays and missed connections. That introduces closed-loop behavior beyond the fixed-plan assumptions of this chapter.</a:t>
            </a:r>
            <a:endParaRPr lang="en-US" sz="2000" b="0" u="none" strike="noStrike">
              <a:solidFill>
                <a:srgbClr val="000000"/>
              </a:solidFill>
              <a:effectLst/>
              <a:uFillTx/>
              <a:latin typeface="Arial"/>
            </a:endParaRPr>
          </a:p>
        </p:txBody>
      </p:sp>
      <p:sp>
        <p:nvSpPr>
          <p:cNvPr id="2120" name="PlaceHolder 3"/>
          <p:cNvSpPr>
            <a:spLocks noGrp="1"/>
          </p:cNvSpPr>
          <p:nvPr>
            <p:ph type="sldNum" idx="27"/>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01BA357C-DBE5-4060-826B-7E712A4FF585}"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1" name="PlaceHolder 1"/>
          <p:cNvSpPr>
            <a:spLocks noGrp="1"/>
          </p:cNvSpPr>
          <p:nvPr>
            <p:ph type="sldImg"/>
          </p:nvPr>
        </p:nvSpPr>
        <p:spPr>
          <a:xfrm>
            <a:off x="685800" y="1143000"/>
            <a:ext cx="5485320" cy="3085200"/>
          </a:xfrm>
          <a:prstGeom prst="rect">
            <a:avLst/>
          </a:prstGeom>
          <a:ln w="0">
            <a:noFill/>
          </a:ln>
        </p:spPr>
      </p:sp>
      <p:sp>
        <p:nvSpPr>
          <p:cNvPr id="212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five-minute paired exercise practices state design using the six-part formulation. The useful discipline is to complete all six parts before optimizing or debating individual choices. Two common formulation errors are placing the target value 4 in the state and tracking total water used or elapsed time. None of those variables are needed by the goal test or the unit-cost model.</a:t>
            </a:r>
            <a:endParaRPr lang="en-US" sz="2000" b="0" u="none" strike="noStrike">
              <a:solidFill>
                <a:srgbClr val="000000"/>
              </a:solidFill>
              <a:effectLst/>
              <a:uFillTx/>
              <a:latin typeface="Arial"/>
            </a:endParaRPr>
          </a:p>
        </p:txBody>
      </p:sp>
      <p:sp>
        <p:nvSpPr>
          <p:cNvPr id="2123" name="PlaceHolder 3"/>
          <p:cNvSpPr>
            <a:spLocks noGrp="1"/>
          </p:cNvSpPr>
          <p:nvPr>
            <p:ph type="sldNum" idx="28"/>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4E4B23D-D3FF-48E4-8024-DD2D2EE6FC62}"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4" name="PlaceHolder 1"/>
          <p:cNvSpPr>
            <a:spLocks noGrp="1"/>
          </p:cNvSpPr>
          <p:nvPr>
            <p:ph type="sldImg"/>
          </p:nvPr>
        </p:nvSpPr>
        <p:spPr>
          <a:xfrm>
            <a:off x="685800" y="1143000"/>
            <a:ext cx="5485320" cy="3085200"/>
          </a:xfrm>
          <a:prstGeom prst="rect">
            <a:avLst/>
          </a:prstGeom>
          <a:ln w="0">
            <a:noFill/>
          </a:ln>
        </p:spPr>
      </p:sp>
      <p:sp>
        <p:nvSpPr>
          <p:cNvPr id="212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formulation can be checked one row at a time. The state is just the ordered pair of jug contents, which gives four times six equals twenty-four states, though not all are reachable. There are six actions and the shortest solution takes six of them: fill the five, pour into the three, empty the three, pour the remaining two into the three, fill the five again, then top up the three, which leaves exactly four in the five-litre jug. Tracking total water poured or elapsed time enlarges the state space without adding information needed by the goal test or unit cost function. Another important point is that the target value 4 lives in the goal test, not in the state.</a:t>
            </a:r>
            <a:endParaRPr lang="en-US" sz="2000" b="0" u="none" strike="noStrike">
              <a:solidFill>
                <a:srgbClr val="000000"/>
              </a:solidFill>
              <a:effectLst/>
              <a:uFillTx/>
              <a:latin typeface="Arial"/>
            </a:endParaRPr>
          </a:p>
        </p:txBody>
      </p:sp>
      <p:sp>
        <p:nvSpPr>
          <p:cNvPr id="2126" name="PlaceHolder 3"/>
          <p:cNvSpPr>
            <a:spLocks noGrp="1"/>
          </p:cNvSpPr>
          <p:nvPr>
            <p:ph type="sldNum" idx="29"/>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E78D39FD-12D0-4EE4-BCBD-5C24173BEAF2}"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7" name="PlaceHolder 1"/>
          <p:cNvSpPr>
            <a:spLocks noGrp="1"/>
          </p:cNvSpPr>
          <p:nvPr>
            <p:ph type="sldImg"/>
          </p:nvPr>
        </p:nvSpPr>
        <p:spPr>
          <a:xfrm>
            <a:off x="0" y="763560"/>
            <a:ext cx="0" cy="0"/>
          </a:xfrm>
          <a:prstGeom prst="rect">
            <a:avLst/>
          </a:prstGeom>
          <a:ln w="0">
            <a:noFill/>
          </a:ln>
        </p:spPr>
      </p:sp>
      <p:sp>
        <p:nvSpPr>
          <p:cNvPr id="2128" name="PlaceHolder 2"/>
          <p:cNvSpPr>
            <a:spLocks noGrp="1"/>
          </p:cNvSpPr>
          <p:nvPr>
            <p:ph type="body"/>
          </p:nvPr>
        </p:nvSpPr>
        <p:spPr>
          <a:xfrm>
            <a:off x="777240" y="4777560"/>
            <a:ext cx="6216480" cy="452484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The jug formulation can be summarized mathematically as follows: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A state is the ordered pair (a,b), with a as the 3-litre jug amount and b as the 5-litre jug amount.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The 3-litre jug has 4 integer capacity states: 0, 1, 2, and 3. The 5-litre jug has 6: 0 through 5. Thus the complete mathematical state description has 4 x 6 = 24 possible pairs.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The transition model changes only a and b. The target amount, elapsed time, or total water used are not part of the state.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With the standard fill, empty, and pour actions, the goal is reached when b = 4.</a:t>
            </a:r>
            <a:endParaRPr lang="en-US" sz="2000" b="0" u="none" strike="noStrike">
              <a:solidFill>
                <a:srgbClr val="000000"/>
              </a:solidFill>
              <a:effectLst/>
              <a:uFillTx/>
              <a:latin typeface="Arial"/>
            </a:endParaRPr>
          </a:p>
        </p:txBody>
      </p:sp>
      <p:sp>
        <p:nvSpPr>
          <p:cNvPr id="2129" name="PlaceHolder 3"/>
          <p:cNvSpPr>
            <a:spLocks noGrp="1"/>
          </p:cNvSpPr>
          <p:nvPr>
            <p:ph type="sldNum" idx="30"/>
          </p:nvPr>
        </p:nvSpPr>
        <p:spPr>
          <a:xfrm>
            <a:off x="4399200" y="9555480"/>
            <a:ext cx="3371760" cy="501480"/>
          </a:xfrm>
          <a:prstGeom prst="rect">
            <a:avLst/>
          </a:prstGeom>
          <a:noFill/>
          <a:ln w="0">
            <a:noFill/>
          </a:ln>
        </p:spPr>
        <p:txBody>
          <a:bodyPr lIns="0" tIns="0" rIns="0" bIns="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44157687-12C6-49B2-AF7C-61FABFBE0B3D}" type="slidenum">
              <a:rPr lang="en-US" sz="1400" b="0" u="none" strike="noStrike">
                <a:solidFill>
                  <a:srgbClr val="000000"/>
                </a:solidFill>
                <a:effectLst/>
                <a:uFillTx/>
                <a:latin typeface="Times New Roman"/>
                <a:ea typeface="+mn-ea"/>
              </a:rPr>
              <a:t>75</a:t>
            </a:fld>
            <a:endParaRPr lang="en-US" sz="14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0" name="PlaceHolder 1"/>
          <p:cNvSpPr>
            <a:spLocks noGrp="1"/>
          </p:cNvSpPr>
          <p:nvPr>
            <p:ph type="sldImg"/>
          </p:nvPr>
        </p:nvSpPr>
        <p:spPr>
          <a:xfrm>
            <a:off x="685800" y="1143000"/>
            <a:ext cx="5485320" cy="3085200"/>
          </a:xfrm>
          <a:prstGeom prst="rect">
            <a:avLst/>
          </a:prstGeom>
          <a:ln w="0">
            <a:noFill/>
          </a:ln>
        </p:spPr>
      </p:sp>
      <p:sp>
        <p:nvSpPr>
          <p:cNvPr id="213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section moves from formulation to algorithms. The most important conceptual distinction is state-space graph versus search tree.</a:t>
            </a:r>
            <a:endParaRPr lang="en-US" sz="2000" b="0" u="none" strike="noStrike">
              <a:solidFill>
                <a:srgbClr val="000000"/>
              </a:solidFill>
              <a:effectLst/>
              <a:uFillTx/>
              <a:latin typeface="Arial"/>
            </a:endParaRPr>
          </a:p>
        </p:txBody>
      </p:sp>
      <p:sp>
        <p:nvSpPr>
          <p:cNvPr id="2132" name="PlaceHolder 3"/>
          <p:cNvSpPr>
            <a:spLocks noGrp="1"/>
          </p:cNvSpPr>
          <p:nvPr>
            <p:ph type="sldNum" idx="3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732353F-BC8F-4603-81B6-8D13DB69FF33}"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3" name="PlaceHolder 1"/>
          <p:cNvSpPr>
            <a:spLocks noGrp="1"/>
          </p:cNvSpPr>
          <p:nvPr>
            <p:ph type="sldImg"/>
          </p:nvPr>
        </p:nvSpPr>
        <p:spPr>
          <a:xfrm>
            <a:off x="685800" y="1143000"/>
            <a:ext cx="5485320" cy="3085200"/>
          </a:xfrm>
          <a:prstGeom prst="rect">
            <a:avLst/>
          </a:prstGeom>
          <a:ln w="0">
            <a:noFill/>
          </a:ln>
        </p:spPr>
      </p:sp>
      <p:sp>
        <p:nvSpPr>
          <p:cNvPr id="213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state-space graph describes the world. The search tree describes paths through that world. Each node in the search tree corresponds to an entire path in the state-space graph, even if the same state is reached multiple ways.</a:t>
            </a:r>
            <a:endParaRPr lang="en-US" sz="2000" b="0" u="none" strike="noStrike">
              <a:solidFill>
                <a:srgbClr val="000000"/>
              </a:solidFill>
              <a:effectLst/>
              <a:uFillTx/>
              <a:latin typeface="Arial"/>
            </a:endParaRPr>
          </a:p>
        </p:txBody>
      </p:sp>
      <p:sp>
        <p:nvSpPr>
          <p:cNvPr id="2135" name="PlaceHolder 3"/>
          <p:cNvSpPr>
            <a:spLocks noGrp="1"/>
          </p:cNvSpPr>
          <p:nvPr>
            <p:ph type="sldNum" idx="32"/>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6DD18E5-AD25-4E24-814B-C4C6D9763A8C}"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6" name="PlaceHolder 1"/>
          <p:cNvSpPr>
            <a:spLocks noGrp="1"/>
          </p:cNvSpPr>
          <p:nvPr>
            <p:ph type="sldImg"/>
          </p:nvPr>
        </p:nvSpPr>
        <p:spPr>
          <a:xfrm>
            <a:off x="685800" y="1143000"/>
            <a:ext cx="5485320" cy="3085200"/>
          </a:xfrm>
          <a:prstGeom prst="rect">
            <a:avLst/>
          </a:prstGeom>
          <a:ln w="0">
            <a:noFill/>
          </a:ln>
        </p:spPr>
      </p:sp>
      <p:sp>
        <p:nvSpPr>
          <p:cNvPr id="213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state-space graph contains one node per abstract state, so each state appears once. The graph is useful conceptually but often too large or implicit to construct.</a:t>
            </a:r>
            <a:endParaRPr lang="en-US" sz="2000" b="0" u="none" strike="noStrike">
              <a:solidFill>
                <a:srgbClr val="000000"/>
              </a:solidFill>
              <a:effectLst/>
              <a:uFillTx/>
              <a:latin typeface="Arial"/>
            </a:endParaRPr>
          </a:p>
        </p:txBody>
      </p:sp>
      <p:sp>
        <p:nvSpPr>
          <p:cNvPr id="2138" name="PlaceHolder 3"/>
          <p:cNvSpPr>
            <a:spLocks noGrp="1"/>
          </p:cNvSpPr>
          <p:nvPr>
            <p:ph type="sldNum" idx="33"/>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450480B-A2DD-4E7B-B71C-4BB4AB159380}"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9" name="PlaceHolder 1"/>
          <p:cNvSpPr>
            <a:spLocks noGrp="1"/>
          </p:cNvSpPr>
          <p:nvPr>
            <p:ph type="sldImg"/>
          </p:nvPr>
        </p:nvSpPr>
        <p:spPr>
          <a:xfrm>
            <a:off x="685800" y="1143000"/>
            <a:ext cx="5485320" cy="3085200"/>
          </a:xfrm>
          <a:prstGeom prst="rect">
            <a:avLst/>
          </a:prstGeom>
          <a:ln w="0">
            <a:noFill/>
          </a:ln>
        </p:spPr>
      </p:sp>
      <p:sp>
        <p:nvSpPr>
          <p:cNvPr id="214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search tree represents paths through that state space. The root is the initial state. Children are the outcomes of applicable actions. The frontier is the set of leaf nodes waiting to be explored.</a:t>
            </a:r>
            <a:endParaRPr lang="en-US" sz="2000" b="0" u="none" strike="noStrike">
              <a:solidFill>
                <a:srgbClr val="000000"/>
              </a:solidFill>
              <a:effectLst/>
              <a:uFillTx/>
              <a:latin typeface="Arial"/>
            </a:endParaRPr>
          </a:p>
        </p:txBody>
      </p:sp>
      <p:sp>
        <p:nvSpPr>
          <p:cNvPr id="2141" name="PlaceHolder 3"/>
          <p:cNvSpPr>
            <a:spLocks noGrp="1"/>
          </p:cNvSpPr>
          <p:nvPr>
            <p:ph type="sldNum" idx="34"/>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090F0A7-B8CD-4264-A7E5-200CAC7EB7D9}"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2" name="PlaceHolder 1"/>
          <p:cNvSpPr>
            <a:spLocks noGrp="1"/>
          </p:cNvSpPr>
          <p:nvPr>
            <p:ph type="sldImg"/>
          </p:nvPr>
        </p:nvSpPr>
        <p:spPr>
          <a:xfrm>
            <a:off x="685800" y="1143000"/>
            <a:ext cx="5485320" cy="3085200"/>
          </a:xfrm>
          <a:prstGeom prst="rect">
            <a:avLst/>
          </a:prstGeom>
          <a:ln w="0">
            <a:noFill/>
          </a:ln>
        </p:spPr>
      </p:sp>
      <p:sp>
        <p:nvSpPr>
          <p:cNvPr id="214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common point of confusion appears here. In the graph, a state exists once. In the search tree, the same state can appear multiple times when reached by different paths. This causes redundancy and motivates reached tables and cycle checks.</a:t>
            </a:r>
            <a:endParaRPr lang="en-US" sz="2000" b="0" u="none" strike="noStrike">
              <a:solidFill>
                <a:srgbClr val="000000"/>
              </a:solidFill>
              <a:effectLst/>
              <a:uFillTx/>
              <a:latin typeface="Arial"/>
            </a:endParaRPr>
          </a:p>
        </p:txBody>
      </p:sp>
      <p:sp>
        <p:nvSpPr>
          <p:cNvPr id="2144" name="PlaceHolder 3"/>
          <p:cNvSpPr>
            <a:spLocks noGrp="1"/>
          </p:cNvSpPr>
          <p:nvPr>
            <p:ph type="sldNum" idx="3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E878EDA-31F8-4377-96D8-606A7FB98421}"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5" name="PlaceHolder 1"/>
          <p:cNvSpPr>
            <a:spLocks noGrp="1"/>
          </p:cNvSpPr>
          <p:nvPr>
            <p:ph type="sldImg"/>
          </p:nvPr>
        </p:nvSpPr>
        <p:spPr>
          <a:xfrm>
            <a:off x="685800" y="1143000"/>
            <a:ext cx="5485320" cy="3085200"/>
          </a:xfrm>
          <a:prstGeom prst="rect">
            <a:avLst/>
          </a:prstGeom>
          <a:ln w="0">
            <a:noFill/>
          </a:ln>
        </p:spPr>
      </p:sp>
      <p:sp>
        <p:nvSpPr>
          <p:cNvPr id="214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a useful quiz because the finite four-state graph produces an infinite search tree. The answer is infinite, and the reason is the two-way edge between a and b. The explanation follows directly from the earlier distinction: the state space has four vertices, but the search tree has one node per path, and there are infinitely many paths. This provides a direct motivation for reached tables, cycle checking, and the redundant-paths discussion in Section 3.3.3.</a:t>
            </a:r>
            <a:endParaRPr lang="en-US" sz="2000" b="0" u="none" strike="noStrike">
              <a:solidFill>
                <a:srgbClr val="000000"/>
              </a:solidFill>
              <a:effectLst/>
              <a:uFillTx/>
              <a:latin typeface="Arial"/>
            </a:endParaRPr>
          </a:p>
        </p:txBody>
      </p:sp>
      <p:sp>
        <p:nvSpPr>
          <p:cNvPr id="2147" name="PlaceHolder 3"/>
          <p:cNvSpPr>
            <a:spLocks noGrp="1"/>
          </p:cNvSpPr>
          <p:nvPr>
            <p:ph type="sldNum" idx="3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1E31043D-A406-405A-A934-A2996B53B780}"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8" name="PlaceHolder 1"/>
          <p:cNvSpPr>
            <a:spLocks noGrp="1"/>
          </p:cNvSpPr>
          <p:nvPr>
            <p:ph type="sldImg"/>
          </p:nvPr>
        </p:nvSpPr>
        <p:spPr>
          <a:xfrm>
            <a:off x="685800" y="1143000"/>
            <a:ext cx="5485320" cy="3085200"/>
          </a:xfrm>
          <a:prstGeom prst="rect">
            <a:avLst/>
          </a:prstGeom>
          <a:ln w="0">
            <a:noFill/>
          </a:ln>
        </p:spPr>
      </p:sp>
      <p:sp>
        <p:nvSpPr>
          <p:cNvPr id="214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frontier is the boundary of the search tree: generated but unexpanded nodes. Expansion removes one frontier node, applies the actions, and creates successors. The reached table prevents repeated work by remembering states already generated.</a:t>
            </a:r>
            <a:endParaRPr lang="en-US" sz="2000" b="0" u="none" strike="noStrike">
              <a:solidFill>
                <a:srgbClr val="000000"/>
              </a:solidFill>
              <a:effectLst/>
              <a:uFillTx/>
              <a:latin typeface="Arial"/>
            </a:endParaRPr>
          </a:p>
        </p:txBody>
      </p:sp>
      <p:sp>
        <p:nvSpPr>
          <p:cNvPr id="2150" name="PlaceHolder 3"/>
          <p:cNvSpPr>
            <a:spLocks noGrp="1"/>
          </p:cNvSpPr>
          <p:nvPr>
            <p:ph type="sldNum" idx="37"/>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7E426DD-1371-4200-9E5A-F8282139790C}"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1" name="PlaceHolder 1"/>
          <p:cNvSpPr>
            <a:spLocks noGrp="1"/>
          </p:cNvSpPr>
          <p:nvPr>
            <p:ph type="sldImg"/>
          </p:nvPr>
        </p:nvSpPr>
        <p:spPr>
          <a:xfrm>
            <a:off x="685800" y="1143000"/>
            <a:ext cx="5485320" cy="3085200"/>
          </a:xfrm>
          <a:prstGeom prst="rect">
            <a:avLst/>
          </a:prstGeom>
          <a:ln w="0">
            <a:noFill/>
          </a:ln>
        </p:spPr>
      </p:sp>
      <p:sp>
        <p:nvSpPr>
          <p:cNvPr id="215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Figure 3.6 provides an important geometric interpretation of the frontier. The frontier is not just a queue; it is a separating boundary in the state-space graph. Interior states are expanded, exterior states are unreached, and nothing gets from one to the other without passing through the frontier. Two consequences follow directly. First, the size of the frontier is the space complexity of the algorithm, which is why BFS runs out of memory and DFS does not. Second, reached and frontier are different things: reached includes everything already expanded plus everything on the frontier.</a:t>
            </a:r>
            <a:endParaRPr lang="en-US" sz="2000" b="0" u="none" strike="noStrike">
              <a:solidFill>
                <a:srgbClr val="000000"/>
              </a:solidFill>
              <a:effectLst/>
              <a:uFillTx/>
              <a:latin typeface="Arial"/>
            </a:endParaRPr>
          </a:p>
        </p:txBody>
      </p:sp>
      <p:sp>
        <p:nvSpPr>
          <p:cNvPr id="2153" name="PlaceHolder 3"/>
          <p:cNvSpPr>
            <a:spLocks noGrp="1"/>
          </p:cNvSpPr>
          <p:nvPr>
            <p:ph type="sldNum" idx="38"/>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655D9A07-D2D3-4F0F-9C86-07D0DB2B3242}"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4" name="PlaceHolder 1"/>
          <p:cNvSpPr>
            <a:spLocks noGrp="1"/>
          </p:cNvSpPr>
          <p:nvPr>
            <p:ph type="sldImg"/>
          </p:nvPr>
        </p:nvSpPr>
        <p:spPr>
          <a:xfrm>
            <a:off x="685800" y="1143000"/>
            <a:ext cx="5485320" cy="3085200"/>
          </a:xfrm>
          <a:prstGeom prst="rect">
            <a:avLst/>
          </a:prstGeom>
          <a:ln w="0">
            <a:noFill/>
          </a:ln>
        </p:spPr>
      </p:sp>
      <p:sp>
        <p:nvSpPr>
          <p:cNvPr id="215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Section 3.3.1 presents best-first search as the general search framework (Figure 3.7). Each uninformed strategy can be understood as a different choice of evaluation function and frontier ordering.</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pseudocode can be interpreted by matching BFS, UCS, and DFS to their evaluation functions. The re-add condition is essential: when a cheaper path reaches a state already recorded in reached, the old entry is replaced and the cheaper node returns to the frontier. This rule is central to the optimality of uniform-cost search.</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next lecture extends the same framework by adding heuristic information to the evaluation function f.</a:t>
            </a:r>
            <a:endParaRPr lang="en-US" sz="2000" b="0" u="none" strike="noStrike">
              <a:solidFill>
                <a:srgbClr val="000000"/>
              </a:solidFill>
              <a:effectLst/>
              <a:uFillTx/>
              <a:latin typeface="Arial"/>
            </a:endParaRPr>
          </a:p>
        </p:txBody>
      </p:sp>
      <p:sp>
        <p:nvSpPr>
          <p:cNvPr id="2156" name="PlaceHolder 3"/>
          <p:cNvSpPr>
            <a:spLocks noGrp="1"/>
          </p:cNvSpPr>
          <p:nvPr>
            <p:ph type="sldNum" idx="39"/>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6A6D5E67-1717-4A6A-8AA6-AD050093A396}"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7" name="PlaceHolder 1"/>
          <p:cNvSpPr>
            <a:spLocks noGrp="1"/>
          </p:cNvSpPr>
          <p:nvPr>
            <p:ph type="sldImg"/>
          </p:nvPr>
        </p:nvSpPr>
        <p:spPr>
          <a:xfrm>
            <a:off x="685800" y="1143000"/>
            <a:ext cx="5485320" cy="3085200"/>
          </a:xfrm>
          <a:prstGeom prst="rect">
            <a:avLst/>
          </a:prstGeom>
          <a:ln w="0">
            <a:noFill/>
          </a:ln>
        </p:spPr>
      </p:sp>
      <p:sp>
        <p:nvSpPr>
          <p:cNvPr id="215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same frontier-management idea can implement several search strategies. The same loop can implement multiple algorithms. BFS, UCS, and DFS differ mostly in which frontier node is popped next.</a:t>
            </a:r>
            <a:endParaRPr lang="en-US" sz="2000" b="0" u="none" strike="noStrike">
              <a:solidFill>
                <a:srgbClr val="000000"/>
              </a:solidFill>
              <a:effectLst/>
              <a:uFillTx/>
              <a:latin typeface="Arial"/>
            </a:endParaRPr>
          </a:p>
        </p:txBody>
      </p:sp>
      <p:sp>
        <p:nvSpPr>
          <p:cNvPr id="2159" name="PlaceHolder 3"/>
          <p:cNvSpPr>
            <a:spLocks noGrp="1"/>
          </p:cNvSpPr>
          <p:nvPr>
            <p:ph type="sldNum" idx="40"/>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716AE3A-5E03-46EE-94BB-DFEAE90C334E}"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0" name="PlaceHolder 1"/>
          <p:cNvSpPr>
            <a:spLocks noGrp="1"/>
          </p:cNvSpPr>
          <p:nvPr>
            <p:ph type="sldImg"/>
          </p:nvPr>
        </p:nvSpPr>
        <p:spPr>
          <a:xfrm>
            <a:off x="685800" y="1143000"/>
            <a:ext cx="5485320" cy="3085200"/>
          </a:xfrm>
          <a:prstGeom prst="rect">
            <a:avLst/>
          </a:prstGeom>
          <a:ln w="0">
            <a:noFill/>
          </a:ln>
        </p:spPr>
      </p:sp>
      <p:sp>
        <p:nvSpPr>
          <p:cNvPr id="216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search node is not just a state. It includes the parent, the action that produced it, and the path cost. Parent pointers allow the algorithm to reconstruct the solution after reaching a goal.</a:t>
            </a:r>
            <a:endParaRPr lang="en-US" sz="2000" b="0" u="none" strike="noStrike">
              <a:solidFill>
                <a:srgbClr val="000000"/>
              </a:solidFill>
              <a:effectLst/>
              <a:uFillTx/>
              <a:latin typeface="Arial"/>
            </a:endParaRPr>
          </a:p>
        </p:txBody>
      </p:sp>
      <p:sp>
        <p:nvSpPr>
          <p:cNvPr id="2162" name="PlaceHolder 3"/>
          <p:cNvSpPr>
            <a:spLocks noGrp="1"/>
          </p:cNvSpPr>
          <p:nvPr>
            <p:ph type="sldNum" idx="4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C610872-A41E-4FB6-AF8D-DDCC78DE4C63}"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3" name="PlaceHolder 1"/>
          <p:cNvSpPr>
            <a:spLocks noGrp="1"/>
          </p:cNvSpPr>
          <p:nvPr>
            <p:ph type="sldImg"/>
          </p:nvPr>
        </p:nvSpPr>
        <p:spPr>
          <a:xfrm>
            <a:off x="685800" y="1143000"/>
            <a:ext cx="5485320" cy="3085200"/>
          </a:xfrm>
          <a:prstGeom prst="rect">
            <a:avLst/>
          </a:prstGeom>
          <a:ln w="0">
            <a:noFill/>
          </a:ln>
        </p:spPr>
      </p:sp>
      <p:sp>
        <p:nvSpPr>
          <p:cNvPr id="216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search tree can be much larger than the state space because of repeated states and cycles. A reached table can eliminate redundant paths if memory allows. Cycle checking is a cheaper compromise, especially for depth-first methods.</a:t>
            </a:r>
            <a:endParaRPr lang="en-US" sz="2000" b="0" u="none" strike="noStrike">
              <a:solidFill>
                <a:srgbClr val="000000"/>
              </a:solidFill>
              <a:effectLst/>
              <a:uFillTx/>
              <a:latin typeface="Arial"/>
            </a:endParaRPr>
          </a:p>
        </p:txBody>
      </p:sp>
      <p:sp>
        <p:nvSpPr>
          <p:cNvPr id="2165" name="PlaceHolder 3"/>
          <p:cNvSpPr>
            <a:spLocks noGrp="1"/>
          </p:cNvSpPr>
          <p:nvPr>
            <p:ph type="sldNum" idx="42"/>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BC36F7D-F815-4567-84EA-BBE3881B1CFA}"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6" name="PlaceHolder 1"/>
          <p:cNvSpPr>
            <a:spLocks noGrp="1"/>
          </p:cNvSpPr>
          <p:nvPr>
            <p:ph type="sldImg"/>
          </p:nvPr>
        </p:nvSpPr>
        <p:spPr>
          <a:xfrm>
            <a:off x="685800" y="1143000"/>
            <a:ext cx="5484960" cy="3084840"/>
          </a:xfrm>
          <a:prstGeom prst="rect">
            <a:avLst/>
          </a:prstGeom>
          <a:ln w="0">
            <a:noFill/>
          </a:ln>
        </p:spPr>
      </p:sp>
      <p:sp>
        <p:nvSpPr>
          <p:cNvPr id="216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terms graph search and tree-like search have precise meanings and are important for comparing algorithms. A graph search checks for redundant paths; a tree-like search does not. The best-first algorithm from the Figure 3.7 slide is a graph search, and deleting every reference to reached turns it into a tree-like search. The grid example quantifies the effect: 100 cells, all reachable in at most nine moves, but nearly eight to the ninth paths of length nine. That is over a million redundant paths per cell. A final caution about Figure 3.15 is that those complexity entries are for tree-like versions, and graph search changes several of them, most notably making DFS complete on finite state spaces.</a:t>
            </a:r>
            <a:endParaRPr lang="en-US" sz="2000" b="0" u="none" strike="noStrike">
              <a:solidFill>
                <a:srgbClr val="000000"/>
              </a:solidFill>
              <a:effectLst/>
              <a:uFillTx/>
              <a:latin typeface="Arial"/>
            </a:endParaRPr>
          </a:p>
        </p:txBody>
      </p:sp>
      <p:sp>
        <p:nvSpPr>
          <p:cNvPr id="2168" name="PlaceHolder 3"/>
          <p:cNvSpPr>
            <a:spLocks noGrp="1"/>
          </p:cNvSpPr>
          <p:nvPr>
            <p:ph type="sldNum" idx="43"/>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7EA3451B-71EC-48E4-86CA-21ABC027DD2D}"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9" name="PlaceHolder 1"/>
          <p:cNvSpPr>
            <a:spLocks noGrp="1"/>
          </p:cNvSpPr>
          <p:nvPr>
            <p:ph type="sldImg"/>
          </p:nvPr>
        </p:nvSpPr>
        <p:spPr>
          <a:xfrm>
            <a:off x="685800" y="1143000"/>
            <a:ext cx="5485320" cy="3085200"/>
          </a:xfrm>
          <a:prstGeom prst="rect">
            <a:avLst/>
          </a:prstGeom>
          <a:ln w="0">
            <a:noFill/>
          </a:ln>
        </p:spPr>
      </p:sp>
      <p:sp>
        <p:nvSpPr>
          <p:cNvPr id="217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Every search algorithm is evaluated by completeness, cost optimality, time complexity, and space complexity. AI analyses often use b, d, and m because the full graph is implicit rather than stored directly.</a:t>
            </a:r>
            <a:endParaRPr lang="en-US" sz="2000" b="0" u="none" strike="noStrike">
              <a:solidFill>
                <a:srgbClr val="000000"/>
              </a:solidFill>
              <a:effectLst/>
              <a:uFillTx/>
              <a:latin typeface="Arial"/>
            </a:endParaRPr>
          </a:p>
        </p:txBody>
      </p:sp>
      <p:sp>
        <p:nvSpPr>
          <p:cNvPr id="2171" name="PlaceHolder 3"/>
          <p:cNvSpPr>
            <a:spLocks noGrp="1"/>
          </p:cNvSpPr>
          <p:nvPr>
            <p:ph type="sldNum" idx="44"/>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5A7E6FF-105A-409A-BA29-09B6FB78E1FD}"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2" name="PlaceHolder 1"/>
          <p:cNvSpPr>
            <a:spLocks noGrp="1"/>
          </p:cNvSpPr>
          <p:nvPr>
            <p:ph type="sldImg"/>
          </p:nvPr>
        </p:nvSpPr>
        <p:spPr>
          <a:xfrm>
            <a:off x="685800" y="1143000"/>
            <a:ext cx="5484960" cy="3084840"/>
          </a:xfrm>
          <a:prstGeom prst="rect">
            <a:avLst/>
          </a:prstGeom>
          <a:ln w="0">
            <a:noFill/>
          </a:ln>
        </p:spPr>
      </p:sp>
      <p:sp>
        <p:nvSpPr>
          <p:cNvPr id="217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common misconception is that a reached table plus cycle checking automatically guarantees completeness. It does not, once the state space is infinite. Both examples on this slide generate a fresh state at every step and never revisit anything, and both are incomplete because they leave most of the space untouched. The property that is actually required is systematicity: the search order must guarantee that any connected state is eventually reached. Breadth-first search has this property, which is why the text calls it complete even on infinite state spaces, and depth-first search does not. A final corollary is that a sound search over an infinite space with no solution may never terminate.</a:t>
            </a:r>
            <a:endParaRPr lang="en-US" sz="2000" b="0" u="none" strike="noStrike">
              <a:solidFill>
                <a:srgbClr val="000000"/>
              </a:solidFill>
              <a:effectLst/>
              <a:uFillTx/>
              <a:latin typeface="Arial"/>
            </a:endParaRPr>
          </a:p>
        </p:txBody>
      </p:sp>
      <p:sp>
        <p:nvSpPr>
          <p:cNvPr id="2174" name="PlaceHolder 3"/>
          <p:cNvSpPr>
            <a:spLocks noGrp="1"/>
          </p:cNvSpPr>
          <p:nvPr>
            <p:ph type="sldNum" idx="4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37DC9D07-63C7-4D6D-A6A9-6C47FD44A33C}"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5" name="PlaceHolder 1"/>
          <p:cNvSpPr>
            <a:spLocks noGrp="1"/>
          </p:cNvSpPr>
          <p:nvPr>
            <p:ph type="sldImg"/>
          </p:nvPr>
        </p:nvSpPr>
        <p:spPr>
          <a:xfrm>
            <a:off x="685800" y="1143000"/>
            <a:ext cx="5485320" cy="3085200"/>
          </a:xfrm>
          <a:prstGeom prst="rect">
            <a:avLst/>
          </a:prstGeom>
          <a:ln w="0">
            <a:noFill/>
          </a:ln>
        </p:spPr>
      </p:sp>
      <p:sp>
        <p:nvSpPr>
          <p:cNvPr id="217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Uninformed search has no estimate of distance to the goal. It knows the problem definition but has no heuristic guidance. The algorithms differ in frontier strategy.</a:t>
            </a:r>
            <a:endParaRPr lang="en-US" sz="2000" b="0" u="none" strike="noStrike">
              <a:solidFill>
                <a:srgbClr val="000000"/>
              </a:solidFill>
              <a:effectLst/>
              <a:uFillTx/>
              <a:latin typeface="Arial"/>
            </a:endParaRPr>
          </a:p>
        </p:txBody>
      </p:sp>
      <p:sp>
        <p:nvSpPr>
          <p:cNvPr id="2177" name="PlaceHolder 3"/>
          <p:cNvSpPr>
            <a:spLocks noGrp="1"/>
          </p:cNvSpPr>
          <p:nvPr>
            <p:ph type="sldNum" idx="4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52A8682-451A-42BF-B84B-0F42FADE991C}"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8" name="PlaceHolder 1"/>
          <p:cNvSpPr>
            <a:spLocks noGrp="1"/>
          </p:cNvSpPr>
          <p:nvPr>
            <p:ph type="sldImg"/>
          </p:nvPr>
        </p:nvSpPr>
        <p:spPr>
          <a:xfrm>
            <a:off x="685800" y="1143000"/>
            <a:ext cx="5485320" cy="3085200"/>
          </a:xfrm>
          <a:prstGeom prst="rect">
            <a:avLst/>
          </a:prstGeom>
          <a:ln w="0">
            <a:noFill/>
          </a:ln>
        </p:spPr>
      </p:sp>
      <p:sp>
        <p:nvSpPr>
          <p:cNvPr id="217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BFS expands all depth 0 nodes, then all depth 1 nodes, then depth 2, and so on. A FIFO queue gives this behavior. BFS is complete and finds the fewest-action solution. It is cost-optimal only when action costs are equal.</a:t>
            </a:r>
            <a:endParaRPr lang="en-US" sz="2000" b="0" u="none" strike="noStrike">
              <a:solidFill>
                <a:srgbClr val="000000"/>
              </a:solidFill>
              <a:effectLst/>
              <a:uFillTx/>
              <a:latin typeface="Arial"/>
            </a:endParaRPr>
          </a:p>
        </p:txBody>
      </p:sp>
      <p:sp>
        <p:nvSpPr>
          <p:cNvPr id="2180" name="PlaceHolder 3"/>
          <p:cNvSpPr>
            <a:spLocks noGrp="1"/>
          </p:cNvSpPr>
          <p:nvPr>
            <p:ph type="sldNum" idx="47"/>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A2593D8-4B78-4E30-8523-B33EC73F6F6A}"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1" name="PlaceHolder 1"/>
          <p:cNvSpPr>
            <a:spLocks noGrp="1"/>
          </p:cNvSpPr>
          <p:nvPr>
            <p:ph type="sldImg"/>
          </p:nvPr>
        </p:nvSpPr>
        <p:spPr>
          <a:xfrm>
            <a:off x="685800" y="1143000"/>
            <a:ext cx="5485320" cy="3085200"/>
          </a:xfrm>
          <a:prstGeom prst="rect">
            <a:avLst/>
          </a:prstGeom>
          <a:ln w="0">
            <a:noFill/>
          </a:ln>
        </p:spPr>
      </p:sp>
      <p:sp>
        <p:nvSpPr>
          <p:cNvPr id="218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At the first step, the frontier initially contains only the start node. The next node to expand is determined by FIFO order.</a:t>
            </a:r>
            <a:endParaRPr lang="en-US" sz="2000" b="0" u="none" strike="noStrike">
              <a:solidFill>
                <a:srgbClr val="000000"/>
              </a:solidFill>
              <a:effectLst/>
              <a:uFillTx/>
              <a:latin typeface="Arial"/>
            </a:endParaRPr>
          </a:p>
        </p:txBody>
      </p:sp>
      <p:sp>
        <p:nvSpPr>
          <p:cNvPr id="2183" name="PlaceHolder 3"/>
          <p:cNvSpPr>
            <a:spLocks noGrp="1"/>
          </p:cNvSpPr>
          <p:nvPr>
            <p:ph type="sldNum" idx="48"/>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283FADF-D370-4F24-AF80-7BCD7254AD87}"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4" name="PlaceHolder 1"/>
          <p:cNvSpPr>
            <a:spLocks noGrp="1"/>
          </p:cNvSpPr>
          <p:nvPr>
            <p:ph type="sldImg"/>
          </p:nvPr>
        </p:nvSpPr>
        <p:spPr>
          <a:xfrm>
            <a:off x="685800" y="1143000"/>
            <a:ext cx="5485320" cy="3085200"/>
          </a:xfrm>
          <a:prstGeom prst="rect">
            <a:avLst/>
          </a:prstGeom>
          <a:ln w="0">
            <a:noFill/>
          </a:ln>
        </p:spPr>
      </p:sp>
      <p:sp>
        <p:nvSpPr>
          <p:cNvPr id="218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At the second step, after expanding S, the frontier contains d, e, and p. Because BFS uses FIFO, all depth-one nodes must be handled before depth-two nodes.</a:t>
            </a:r>
            <a:endParaRPr lang="en-US" sz="2000" b="0" u="none" strike="noStrike">
              <a:solidFill>
                <a:srgbClr val="000000"/>
              </a:solidFill>
              <a:effectLst/>
              <a:uFillTx/>
              <a:latin typeface="Arial"/>
            </a:endParaRPr>
          </a:p>
        </p:txBody>
      </p:sp>
      <p:sp>
        <p:nvSpPr>
          <p:cNvPr id="2186" name="PlaceHolder 3"/>
          <p:cNvSpPr>
            <a:spLocks noGrp="1"/>
          </p:cNvSpPr>
          <p:nvPr>
            <p:ph type="sldNum" idx="49"/>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72F330D-2B82-4A2B-8931-9CACFE69A09E}"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7" name="PlaceHolder 1"/>
          <p:cNvSpPr>
            <a:spLocks noGrp="1"/>
          </p:cNvSpPr>
          <p:nvPr>
            <p:ph type="sldImg"/>
          </p:nvPr>
        </p:nvSpPr>
        <p:spPr>
          <a:xfrm>
            <a:off x="685800" y="1143000"/>
            <a:ext cx="5485320" cy="3085200"/>
          </a:xfrm>
          <a:prstGeom prst="rect">
            <a:avLst/>
          </a:prstGeom>
          <a:ln w="0">
            <a:noFill/>
          </a:ln>
        </p:spPr>
      </p:sp>
      <p:sp>
        <p:nvSpPr>
          <p:cNvPr id="218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At the third step, BFS expands by tiers. This makes BFS systematic, but it stores an entire layer of frontier nodes. That is why memory usually fails before CPU time.</a:t>
            </a:r>
            <a:endParaRPr lang="en-US" sz="2000" b="0" u="none" strike="noStrike">
              <a:solidFill>
                <a:srgbClr val="000000"/>
              </a:solidFill>
              <a:effectLst/>
              <a:uFillTx/>
              <a:latin typeface="Arial"/>
            </a:endParaRPr>
          </a:p>
        </p:txBody>
      </p:sp>
      <p:sp>
        <p:nvSpPr>
          <p:cNvPr id="2189" name="PlaceHolder 3"/>
          <p:cNvSpPr>
            <a:spLocks noGrp="1"/>
          </p:cNvSpPr>
          <p:nvPr>
            <p:ph type="sldNum" idx="50"/>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30E9419-08E2-4C5E-BD83-4A3918FCF63B}"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0" name="PlaceHolder 1"/>
          <p:cNvSpPr>
            <a:spLocks noGrp="1"/>
          </p:cNvSpPr>
          <p:nvPr>
            <p:ph type="sldImg"/>
          </p:nvPr>
        </p:nvSpPr>
        <p:spPr>
          <a:xfrm>
            <a:off x="685800" y="1143000"/>
            <a:ext cx="5485320" cy="3085200"/>
          </a:xfrm>
          <a:prstGeom prst="rect">
            <a:avLst/>
          </a:prstGeom>
          <a:ln w="0">
            <a:noFill/>
          </a:ln>
        </p:spPr>
      </p:sp>
      <p:sp>
        <p:nvSpPr>
          <p:cNvPr id="219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visual summarizes the mechanics of BFS before the later complexity analysis.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diagram can be read as a checkpoint: the graph shows the BFS levels, and the queue strip shows which node leaves the frontier next at each stage.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most important feature is the queue contents printed under each step. The queue holds an entire level at once, which explains why BFS has exponential space complexity.</a:t>
            </a:r>
            <a:endParaRPr lang="en-US" sz="2000" b="0" u="none" strike="noStrike">
              <a:solidFill>
                <a:srgbClr val="000000"/>
              </a:solidFill>
              <a:effectLst/>
              <a:uFillTx/>
              <a:latin typeface="Arial"/>
            </a:endParaRPr>
          </a:p>
        </p:txBody>
      </p:sp>
      <p:sp>
        <p:nvSpPr>
          <p:cNvPr id="2192" name="PlaceHolder 3"/>
          <p:cNvSpPr>
            <a:spLocks noGrp="1"/>
          </p:cNvSpPr>
          <p:nvPr>
            <p:ph type="sldNum" idx="5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8813D49-54FA-467B-A9D8-B009A040B01B}"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3" name="PlaceHolder 1"/>
          <p:cNvSpPr>
            <a:spLocks noGrp="1"/>
          </p:cNvSpPr>
          <p:nvPr>
            <p:ph type="sldImg"/>
          </p:nvPr>
        </p:nvSpPr>
        <p:spPr>
          <a:xfrm>
            <a:off x="685800" y="1143000"/>
            <a:ext cx="5485320" cy="3085200"/>
          </a:xfrm>
          <a:prstGeom prst="rect">
            <a:avLst/>
          </a:prstGeom>
          <a:ln w="0">
            <a:noFill/>
          </a:ln>
        </p:spPr>
      </p:sp>
      <p:sp>
        <p:nvSpPr>
          <p:cNvPr id="219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Figure 3.9 gives the specialized breadth-first search algorithm rather than the general best-first template. The specialization is possible because BFS discovers states in nondecreasing depth order.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root is goal-tested before the loop. The frontier is a FIFO queue. Children are goal-tested when generated. The reached structure is only a set of states because a later path to an already reached state cannot have smaller depth.</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These shortcuts depend on equal action costs. With unequal costs, an early goal test can return an expensive path before a cheaper path is discovered. Uniform-cost search therefore uses a different ordering and a late goal test.</a:t>
            </a:r>
            <a:endParaRPr lang="en-US" sz="2000" b="0" u="none" strike="noStrik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5" name="PlaceHolder 1"/>
          <p:cNvSpPr>
            <a:spLocks noGrp="1"/>
          </p:cNvSpPr>
          <p:nvPr>
            <p:ph type="sldImg"/>
          </p:nvPr>
        </p:nvSpPr>
        <p:spPr>
          <a:xfrm>
            <a:off x="685800" y="1143000"/>
            <a:ext cx="5485320" cy="3085200"/>
          </a:xfrm>
          <a:prstGeom prst="rect">
            <a:avLst/>
          </a:prstGeom>
          <a:ln w="0">
            <a:noFill/>
          </a:ln>
        </p:spPr>
      </p:sp>
      <p:sp>
        <p:nvSpPr>
          <p:cNvPr id="219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slide provides a guided read-through of BFS. The two columns split the algorithm into the part that runs once and the part that repeats, which separates initialization from the repeated search loop.</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Line three is especially important. A FIFO queue is not a detail of implementation; it is the algorithm. Replacing the FIFO queue with a LIFO stack changes the search order to depth-first search without changing the rest of the control structure.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warning at the bottom highlights a common implementation bug. A Python deque supports both pop and popleft, and pop takes from the wrong end. The code runs, returns a path, and passes any test that only checks that the path is valid. It fails only on tests that check the path is shortest. In Python, using deque.pop() instead of deque.popleft() silently changes FIFO behavior to LIFO behavior and can return a longer path.</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Line eight is safe because BFS generates states in non-decreasing order of depth, so the stored path is never deeper. Uniform-cost search cannot make that argument, which is where the next slides go.</a:t>
            </a:r>
            <a:endParaRPr lang="en-US" sz="2000" b="0" u="none" strike="noStrik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7" name="PlaceHolder 1"/>
          <p:cNvSpPr>
            <a:spLocks noGrp="1"/>
          </p:cNvSpPr>
          <p:nvPr>
            <p:ph type="sldImg"/>
          </p:nvPr>
        </p:nvSpPr>
        <p:spPr>
          <a:xfrm>
            <a:off x="0" y="763560"/>
            <a:ext cx="0" cy="0"/>
          </a:xfrm>
          <a:prstGeom prst="rect">
            <a:avLst/>
          </a:prstGeom>
          <a:ln w="0">
            <a:noFill/>
          </a:ln>
        </p:spPr>
      </p:sp>
      <p:sp>
        <p:nvSpPr>
          <p:cNvPr id="2198" name="PlaceHolder 2"/>
          <p:cNvSpPr>
            <a:spLocks noGrp="1"/>
          </p:cNvSpPr>
          <p:nvPr>
            <p:ph type="body"/>
          </p:nvPr>
        </p:nvSpPr>
        <p:spPr>
          <a:xfrm>
            <a:off x="777240" y="4777560"/>
            <a:ext cx="6216480" cy="452484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BFS worst-case time and space are O(b^d) because BFS explores levels in increasing depth order and the number of nodes generated through depth d is the geometric sum 1 + b + b^2 +... + b^d. For b &gt; 1, the last term dominates.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No external sources used; formulas are standard algorithm-analysis derivations from the variables defined on the slide.</a:t>
            </a:r>
            <a:endParaRPr lang="en-US" sz="2000" b="0" u="none" strike="noStrike">
              <a:solidFill>
                <a:srgbClr val="000000"/>
              </a:solidFill>
              <a:effectLst/>
              <a:uFillTx/>
              <a:latin typeface="Arial"/>
            </a:endParaRPr>
          </a:p>
        </p:txBody>
      </p:sp>
      <p:sp>
        <p:nvSpPr>
          <p:cNvPr id="2199" name="PlaceHolder 3"/>
          <p:cNvSpPr>
            <a:spLocks noGrp="1"/>
          </p:cNvSpPr>
          <p:nvPr>
            <p:ph type="sldNum" idx="52"/>
          </p:nvPr>
        </p:nvSpPr>
        <p:spPr>
          <a:xfrm>
            <a:off x="4399200" y="9555480"/>
            <a:ext cx="3371760" cy="501480"/>
          </a:xfrm>
          <a:prstGeom prst="rect">
            <a:avLst/>
          </a:prstGeom>
          <a:noFill/>
          <a:ln w="0">
            <a:noFill/>
          </a:ln>
        </p:spPr>
        <p:txBody>
          <a:bodyPr lIns="0" tIns="0" rIns="0" bIns="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CE348B90-4FC2-4A5C-B5AC-354FA311D1E0}" type="slidenum">
              <a:rPr lang="en-US" sz="1400" b="0" u="none" strike="noStrike">
                <a:solidFill>
                  <a:srgbClr val="000000"/>
                </a:solidFill>
                <a:effectLst/>
                <a:uFillTx/>
                <a:latin typeface="Times New Roman"/>
                <a:ea typeface="+mn-ea"/>
              </a:rPr>
              <a:t>75</a:t>
            </a:fld>
            <a:endParaRPr lang="en-US" sz="14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0" name="PlaceHolder 1"/>
          <p:cNvSpPr>
            <a:spLocks noGrp="1"/>
          </p:cNvSpPr>
          <p:nvPr>
            <p:ph type="sldImg"/>
          </p:nvPr>
        </p:nvSpPr>
        <p:spPr>
          <a:xfrm>
            <a:off x="685800" y="1143000"/>
            <a:ext cx="5484960" cy="3084840"/>
          </a:xfrm>
          <a:prstGeom prst="rect">
            <a:avLst/>
          </a:prstGeom>
          <a:ln w="0">
            <a:noFill/>
          </a:ln>
        </p:spPr>
      </p:sp>
      <p:sp>
        <p:nvSpPr>
          <p:cNvPr id="220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early-versus-late goal-test distinction is small in code but fundamental to correctness. Breadth-first search is allowed the early goal test because depth is monotone along a path: once BFS reaches a state, no later path to it can be shorter in number of actions. Uniform-cost search has no such guarantee, because a cheap route can be discovered after an expensive one. The Sibiu-to-Bucharest example provides a concrete proof. The contrast with BFS leads directly into uniform-cost search.</a:t>
            </a:r>
            <a:endParaRPr lang="en-US" sz="2000" b="0" u="none" strike="noStrike">
              <a:solidFill>
                <a:srgbClr val="000000"/>
              </a:solidFill>
              <a:effectLst/>
              <a:uFillTx/>
              <a:latin typeface="Arial"/>
            </a:endParaRPr>
          </a:p>
        </p:txBody>
      </p:sp>
      <p:sp>
        <p:nvSpPr>
          <p:cNvPr id="2202" name="PlaceHolder 3"/>
          <p:cNvSpPr>
            <a:spLocks noGrp="1"/>
          </p:cNvSpPr>
          <p:nvPr>
            <p:ph type="sldNum" idx="53"/>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87D05F43-496C-43E4-92CE-192303314E14}"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3" name="PlaceHolder 1"/>
          <p:cNvSpPr>
            <a:spLocks noGrp="1"/>
          </p:cNvSpPr>
          <p:nvPr>
            <p:ph type="sldImg"/>
          </p:nvPr>
        </p:nvSpPr>
        <p:spPr>
          <a:xfrm>
            <a:off x="0" y="763560"/>
            <a:ext cx="0" cy="0"/>
          </a:xfrm>
          <a:prstGeom prst="rect">
            <a:avLst/>
          </a:prstGeom>
          <a:ln w="0">
            <a:noFill/>
          </a:ln>
        </p:spPr>
      </p:sp>
      <p:sp>
        <p:nvSpPr>
          <p:cNvPr id="2204" name="PlaceHolder 2"/>
          <p:cNvSpPr>
            <a:spLocks noGrp="1"/>
          </p:cNvSpPr>
          <p:nvPr>
            <p:ph type="body"/>
          </p:nvPr>
        </p:nvSpPr>
        <p:spPr>
          <a:xfrm>
            <a:off x="777240" y="4777560"/>
            <a:ext cx="6216480" cy="452484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Uniform-cost search expands the frontier node with the lowest cumulative path cost g(n). In best-first notation, its evaluation function is f(n) = g(n).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frontier is a priority queue keyed by path cost. The reached structure must retain the best known node for each state because a cheaper path can be discovered later. When that happens, the cheaper node replaces the previous entry and is added back to the frontier.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UCS is complete and cost-optimal when every step cost is bounded below by some positive ε. The positive lower bound prevents an infinite sequence of zero-cost or ever-smaller positive-cost steps from indefinitely delaying the optimal goal.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Its expansion pattern follows cost contours rather than depth levels. BFS spreads by depth; UCS spreads by cumulative cost.</a:t>
            </a:r>
            <a:endParaRPr lang="en-US" sz="2000" b="0" u="none" strike="noStrike">
              <a:solidFill>
                <a:srgbClr val="000000"/>
              </a:solidFill>
              <a:effectLst/>
              <a:uFillTx/>
              <a:latin typeface="Arial"/>
            </a:endParaRPr>
          </a:p>
        </p:txBody>
      </p:sp>
      <p:sp>
        <p:nvSpPr>
          <p:cNvPr id="2205" name="PlaceHolder 3"/>
          <p:cNvSpPr>
            <a:spLocks noGrp="1"/>
          </p:cNvSpPr>
          <p:nvPr>
            <p:ph type="sldNum" idx="54"/>
          </p:nvPr>
        </p:nvSpPr>
        <p:spPr>
          <a:xfrm>
            <a:off x="4399200" y="9555480"/>
            <a:ext cx="3371760" cy="501480"/>
          </a:xfrm>
          <a:prstGeom prst="rect">
            <a:avLst/>
          </a:prstGeom>
          <a:noFill/>
          <a:ln w="0">
            <a:noFill/>
          </a:ln>
        </p:spPr>
        <p:txBody>
          <a:bodyPr lIns="0" tIns="0" rIns="0" bIns="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03967753-D7D9-4979-9A94-15701E421B12}" type="slidenum">
              <a:rPr lang="en-US" sz="1400" b="0" u="none" strike="noStrike">
                <a:solidFill>
                  <a:srgbClr val="000000"/>
                </a:solidFill>
                <a:effectLst/>
                <a:uFillTx/>
                <a:latin typeface="Times New Roman"/>
                <a:ea typeface="+mn-ea"/>
              </a:rPr>
              <a:t>75</a:t>
            </a:fld>
            <a:endParaRPr lang="en-US" sz="14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6" name="PlaceHolder 1"/>
          <p:cNvSpPr>
            <a:spLocks noGrp="1"/>
          </p:cNvSpPr>
          <p:nvPr>
            <p:ph type="sldImg"/>
          </p:nvPr>
        </p:nvSpPr>
        <p:spPr>
          <a:xfrm>
            <a:off x="685800" y="1143000"/>
            <a:ext cx="5485320" cy="3085200"/>
          </a:xfrm>
          <a:prstGeom prst="rect">
            <a:avLst/>
          </a:prstGeom>
          <a:ln w="0">
            <a:noFill/>
          </a:ln>
        </p:spPr>
      </p:sp>
      <p:sp>
        <p:nvSpPr>
          <p:cNvPr id="220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Uniform-cost search is not a completely separate control structure. It is the general best-first search loop with the evaluation function set to path cost: f(n) = g(n).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Changing BFS from FIFO ordering to a priority queue is not sufficient by itself. Two other changes are required. The goal test must occur when a node is removed from the frontier, not when it is generated, and the reached structure must support replacing an existing state when a cheaper path is found.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When all action costs are equal, cumulative path cost is proportional to depth. In that special case, ordering by g(n) produces the same expansion order as breadth-first search. BFS is therefore a special case of UCS under equal step costs.</a:t>
            </a:r>
            <a:endParaRPr lang="en-US" sz="2000" b="0" u="none" strike="noStrike">
              <a:solidFill>
                <a:srgbClr val="000000"/>
              </a:solidFill>
              <a:effectLst/>
              <a:uFillTx/>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8" name="PlaceHolder 1"/>
          <p:cNvSpPr>
            <a:spLocks noGrp="1"/>
          </p:cNvSpPr>
          <p:nvPr>
            <p:ph type="sldImg"/>
          </p:nvPr>
        </p:nvSpPr>
        <p:spPr>
          <a:xfrm>
            <a:off x="685800" y="1143000"/>
            <a:ext cx="5485320" cy="3085200"/>
          </a:xfrm>
          <a:prstGeom prst="rect">
            <a:avLst/>
          </a:prstGeom>
          <a:ln w="0">
            <a:noFill/>
          </a:ln>
        </p:spPr>
      </p:sp>
      <p:sp>
        <p:nvSpPr>
          <p:cNvPr id="220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textbook example shows why uniform-cost search does not stop when a goal is first generated. Bucharest is first generated through Făgăraș with path cost 310. A later route through Rîmnicu Vîlcea and Pitești reaches Bucharest with cost 278.</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UCS returns a goal only when that goal is the lowest-cost node selected from the frontier. Testing on expansion rather than generation is what preserves cost optimality.</a:t>
            </a:r>
            <a:endParaRPr lang="en-US" sz="2000" b="0" u="none" strike="noStrike">
              <a:solidFill>
                <a:srgbClr val="000000"/>
              </a:solidFill>
              <a:effectLst/>
              <a:uFillTx/>
              <a:latin typeface="Arial"/>
            </a:endParaRPr>
          </a:p>
        </p:txBody>
      </p:sp>
      <p:sp>
        <p:nvSpPr>
          <p:cNvPr id="2210" name="PlaceHolder 3"/>
          <p:cNvSpPr>
            <a:spLocks noGrp="1"/>
          </p:cNvSpPr>
          <p:nvPr>
            <p:ph type="sldNum" idx="5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04AE37B-F0C2-478E-AAF2-B4BFC57BAE2A}"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1" name="PlaceHolder 1"/>
          <p:cNvSpPr>
            <a:spLocks noGrp="1"/>
          </p:cNvSpPr>
          <p:nvPr>
            <p:ph type="sldImg"/>
          </p:nvPr>
        </p:nvSpPr>
        <p:spPr>
          <a:xfrm>
            <a:off x="685800" y="1143000"/>
            <a:ext cx="5484960" cy="3084840"/>
          </a:xfrm>
          <a:prstGeom prst="rect">
            <a:avLst/>
          </a:prstGeom>
          <a:ln w="0">
            <a:noFill/>
          </a:ln>
        </p:spPr>
      </p:sp>
      <p:sp>
        <p:nvSpPr>
          <p:cNvPr id="221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trace is designed to expose two UCS rules. First, a goal that merely appears on the frontier is not returned immediately. Second, if a cheaper path reaches a state already recorded in reached, the cheaper entry replaces the more expensive one.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 complete trace records the entire frontier after each pop, including each node's g-value. The ordering should always reflect cumulative path cost rather than depth or generation time.</a:t>
            </a:r>
            <a:endParaRPr lang="en-US" sz="2000" b="0" u="none" strike="noStrike">
              <a:solidFill>
                <a:srgbClr val="000000"/>
              </a:solidFill>
              <a:effectLst/>
              <a:uFillTx/>
              <a:latin typeface="Arial"/>
            </a:endParaRPr>
          </a:p>
        </p:txBody>
      </p:sp>
      <p:sp>
        <p:nvSpPr>
          <p:cNvPr id="2213" name="PlaceHolder 3"/>
          <p:cNvSpPr>
            <a:spLocks noGrp="1"/>
          </p:cNvSpPr>
          <p:nvPr>
            <p:ph type="sldNum" idx="5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FE21100-0B14-438A-AE44-ADCBDA08130C}" type="slidenum">
              <a:rPr lang="en-US" sz="1200" b="0" u="none" strike="noStrike">
                <a:solidFill>
                  <a:srgbClr val="000000"/>
                </a:solidFill>
                <a:effectLst/>
                <a:uFillTx/>
                <a:latin typeface="Times New Roman"/>
                <a:ea typeface="+mn-ea"/>
              </a:rPr>
              <a:t>75</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4" name="PlaceHolder 1"/>
          <p:cNvSpPr>
            <a:spLocks noGrp="1"/>
          </p:cNvSpPr>
          <p:nvPr>
            <p:ph type="sldImg"/>
          </p:nvPr>
        </p:nvSpPr>
        <p:spPr>
          <a:xfrm>
            <a:off x="685800" y="1143000"/>
            <a:ext cx="5485320" cy="3085200"/>
          </a:xfrm>
          <a:prstGeom prst="rect">
            <a:avLst/>
          </a:prstGeom>
          <a:ln w="0">
            <a:noFill/>
          </a:ln>
        </p:spPr>
      </p:sp>
      <p:sp>
        <p:nvSpPr>
          <p:cNvPr id="221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worked trace contains two decisive moments. When A is expanded, G is generated with cost 9. Returning G at that point would be premature and would produce a path 50% more expensive than the optimum.</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Later, when C is expanded, G is generated again with cost 6. Because this is cheaper than the existing G entry, the reached entry is replaced and the new G node returns to the frontier.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reason the final answer is correct is the late goal test: UCS terminates when the cheapest frontier node is a goal, not when a goal is first generated.</a:t>
            </a:r>
            <a:endParaRPr lang="en-US" sz="2000" b="0" u="none" strike="noStrike">
              <a:solidFill>
                <a:srgbClr val="000000"/>
              </a:solidFill>
              <a:effectLst/>
              <a:uFillTx/>
              <a:latin typeface="Arial"/>
            </a:endParaRPr>
          </a:p>
        </p:txBody>
      </p:sp>
      <p:sp>
        <p:nvSpPr>
          <p:cNvPr id="2216" name="PlaceHolder 3"/>
          <p:cNvSpPr>
            <a:spLocks noGrp="1"/>
          </p:cNvSpPr>
          <p:nvPr>
            <p:ph type="sldNum" idx="57"/>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99AF968F-1D26-42B7-8387-935533BABEEA}" type="slidenum">
              <a:rPr lang="en-US" sz="1200" b="0" u="none" strike="noStrike">
                <a:solidFill>
                  <a:srgbClr val="000000"/>
                </a:solidFill>
                <a:effectLst/>
                <a:uFillTx/>
                <a:latin typeface="Times New Roman"/>
                <a:ea typeface="+mn-ea"/>
              </a:rPr>
              <a:t>&lt;number&gt;</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7" name="PlaceHolder 1"/>
          <p:cNvSpPr>
            <a:spLocks noGrp="1"/>
          </p:cNvSpPr>
          <p:nvPr>
            <p:ph type="sldImg"/>
          </p:nvPr>
        </p:nvSpPr>
        <p:spPr>
          <a:xfrm>
            <a:off x="685800" y="1143000"/>
            <a:ext cx="5485320" cy="3085200"/>
          </a:xfrm>
          <a:prstGeom prst="rect">
            <a:avLst/>
          </a:prstGeom>
          <a:ln w="0">
            <a:noFill/>
          </a:ln>
        </p:spPr>
      </p:sp>
      <p:sp>
        <p:nvSpPr>
          <p:cNvPr id="221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UCS complexity is controlled by the optimal path cost and the minimum positive step cost. The positive-cost assumption prevents infinite sequences of zero-cost or tiny-cost steps from dominating the search.</a:t>
            </a:r>
            <a:endParaRPr lang="en-US" sz="2000" b="0" u="none" strike="noStrike">
              <a:solidFill>
                <a:srgbClr val="000000"/>
              </a:solidFill>
              <a:effectLst/>
              <a:uFillTx/>
              <a:latin typeface="Arial"/>
            </a:endParaRPr>
          </a:p>
        </p:txBody>
      </p:sp>
      <p:sp>
        <p:nvSpPr>
          <p:cNvPr id="2219" name="PlaceHolder 3"/>
          <p:cNvSpPr>
            <a:spLocks noGrp="1"/>
          </p:cNvSpPr>
          <p:nvPr>
            <p:ph type="sldNum" idx="58"/>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4E73BA3-5800-4CB6-8810-1396CE528BF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0" name="PlaceHolder 1"/>
          <p:cNvSpPr>
            <a:spLocks noGrp="1"/>
          </p:cNvSpPr>
          <p:nvPr>
            <p:ph type="sldImg"/>
          </p:nvPr>
        </p:nvSpPr>
        <p:spPr>
          <a:xfrm>
            <a:off x="685800" y="1143000"/>
            <a:ext cx="5484960" cy="3084840"/>
          </a:xfrm>
          <a:prstGeom prst="rect">
            <a:avLst/>
          </a:prstGeom>
          <a:ln w="0">
            <a:noFill/>
          </a:ln>
        </p:spPr>
      </p:sp>
      <p:sp>
        <p:nvSpPr>
          <p:cNvPr id="222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contour picture shows the central limitation that motivates heuristic search. Uniform-cost search spreads in waves of uniform path cost, so the region it has expanded is roughly a ball around the start rather than a corridor toward the goal. The contrast with the previous slides is that UCS is complete and optimal, and those are real guarantees, but it buys them by looking everywhere. The next question is how to bias the search toward the goal without losing useful guarantees. The answer is a heuristic, and the price is that the guarantees now depend on admissibility.</a:t>
            </a:r>
            <a:endParaRPr lang="en-US" sz="2000" b="0" u="none" strike="noStrike">
              <a:solidFill>
                <a:srgbClr val="000000"/>
              </a:solidFill>
              <a:effectLst/>
              <a:uFillTx/>
              <a:latin typeface="Arial"/>
            </a:endParaRPr>
          </a:p>
        </p:txBody>
      </p:sp>
      <p:sp>
        <p:nvSpPr>
          <p:cNvPr id="2222" name="PlaceHolder 3"/>
          <p:cNvSpPr>
            <a:spLocks noGrp="1"/>
          </p:cNvSpPr>
          <p:nvPr>
            <p:ph type="sldNum" idx="59"/>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52632695-AF39-4AE5-A2AD-54A4D8C30D04}" type="slidenum">
              <a:rPr lang="en-US" sz="1200" b="0" u="none" strike="noStrike">
                <a:solidFill>
                  <a:srgbClr val="000000"/>
                </a:solidFill>
                <a:effectLst/>
                <a:uFillTx/>
                <a:latin typeface="Times New Roman"/>
                <a:ea typeface="+mn-ea"/>
              </a:rPr>
              <a:t>&lt;number&gt;</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3" name="PlaceHolder 1"/>
          <p:cNvSpPr>
            <a:spLocks noGrp="1"/>
          </p:cNvSpPr>
          <p:nvPr>
            <p:ph type="sldImg"/>
          </p:nvPr>
        </p:nvSpPr>
        <p:spPr>
          <a:xfrm>
            <a:off x="0" y="763560"/>
            <a:ext cx="0" cy="0"/>
          </a:xfrm>
          <a:prstGeom prst="rect">
            <a:avLst/>
          </a:prstGeom>
          <a:ln w="0">
            <a:noFill/>
          </a:ln>
        </p:spPr>
      </p:sp>
      <p:sp>
        <p:nvSpPr>
          <p:cNvPr id="2224" name="PlaceHolder 2"/>
          <p:cNvSpPr>
            <a:spLocks noGrp="1"/>
          </p:cNvSpPr>
          <p:nvPr>
            <p:ph type="body"/>
          </p:nvPr>
        </p:nvSpPr>
        <p:spPr>
          <a:xfrm>
            <a:off x="777240" y="4777560"/>
            <a:ext cx="6216480" cy="452484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Uniform-cost search expands nodes in increasing cumulative path cost. In this example the expansion order is A (g=0), D (g=1), H (g=3), B (g=4), F (g=6), M (g=7), and K (g=8).</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 is not expanded even though it is at depth 1 because g(C)=9 is more expensive than several deeper alternatives. Depth is irrelevant to UCS.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goal test occurs when a node is removed from the priority queue. K may be generated before all cheaper nodes have been expanded, but optimality is guaranteed only when the goal is popped as the minimum-cost frontier node.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UCS is complete and cost-optimal when step costs are bounded below by a positive ε.</a:t>
            </a:r>
            <a:endParaRPr lang="en-US" sz="2000" b="0" u="none" strike="noStrike">
              <a:solidFill>
                <a:srgbClr val="000000"/>
              </a:solidFill>
              <a:effectLst/>
              <a:uFillTx/>
              <a:latin typeface="Arial"/>
            </a:endParaRPr>
          </a:p>
        </p:txBody>
      </p:sp>
      <p:sp>
        <p:nvSpPr>
          <p:cNvPr id="2225" name="PlaceHolder 3"/>
          <p:cNvSpPr>
            <a:spLocks noGrp="1"/>
          </p:cNvSpPr>
          <p:nvPr>
            <p:ph type="sldNum" idx="60"/>
          </p:nvPr>
        </p:nvSpPr>
        <p:spPr>
          <a:xfrm>
            <a:off x="4399200" y="9555480"/>
            <a:ext cx="3371760" cy="501480"/>
          </a:xfrm>
          <a:prstGeom prst="rect">
            <a:avLst/>
          </a:prstGeom>
          <a:noFill/>
          <a:ln w="0">
            <a:noFill/>
          </a:ln>
        </p:spPr>
        <p:txBody>
          <a:bodyPr lIns="0" tIns="0" rIns="0" bIns="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E247B2BA-7174-4867-A64A-45B890A58244}" type="slidenum">
              <a:rPr lang="en-US" sz="1400" b="0" u="none" strike="noStrike">
                <a:solidFill>
                  <a:srgbClr val="000000"/>
                </a:solidFill>
                <a:effectLst/>
                <a:uFillTx/>
                <a:latin typeface="Times New Roman"/>
                <a:ea typeface="+mn-ea"/>
              </a:rPr>
              <a:t>&lt;number&gt;</a:t>
            </a:fld>
            <a:endParaRPr lang="en-US" sz="14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6" name="PlaceHolder 1"/>
          <p:cNvSpPr>
            <a:spLocks noGrp="1"/>
          </p:cNvSpPr>
          <p:nvPr>
            <p:ph type="sldImg"/>
          </p:nvPr>
        </p:nvSpPr>
        <p:spPr>
          <a:xfrm>
            <a:off x="685800" y="1143000"/>
            <a:ext cx="5485320" cy="3085200"/>
          </a:xfrm>
          <a:prstGeom prst="rect">
            <a:avLst/>
          </a:prstGeom>
          <a:ln w="0">
            <a:noFill/>
          </a:ln>
        </p:spPr>
      </p:sp>
      <p:sp>
        <p:nvSpPr>
          <p:cNvPr id="222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DFS goes deep immediately. Its main advantage is memory. It does not necessarily find the shallowest or cheapest solution. It is attractive when memory is the limiting resource and the search space behaves like a finite tree.</a:t>
            </a:r>
            <a:endParaRPr lang="en-US" sz="2000" b="0" u="none" strike="noStrike">
              <a:solidFill>
                <a:srgbClr val="000000"/>
              </a:solidFill>
              <a:effectLst/>
              <a:uFillTx/>
              <a:latin typeface="Arial"/>
            </a:endParaRPr>
          </a:p>
        </p:txBody>
      </p:sp>
      <p:sp>
        <p:nvSpPr>
          <p:cNvPr id="2228" name="PlaceHolder 3"/>
          <p:cNvSpPr>
            <a:spLocks noGrp="1"/>
          </p:cNvSpPr>
          <p:nvPr>
            <p:ph type="sldNum" idx="6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F1A3E91-31D2-4D5D-8100-94DAF9F2FD6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9" name="PlaceHolder 1"/>
          <p:cNvSpPr>
            <a:spLocks noGrp="1"/>
          </p:cNvSpPr>
          <p:nvPr>
            <p:ph type="sldImg"/>
          </p:nvPr>
        </p:nvSpPr>
        <p:spPr>
          <a:xfrm>
            <a:off x="685800" y="1143000"/>
            <a:ext cx="5485320" cy="3085200"/>
          </a:xfrm>
          <a:prstGeom prst="rect">
            <a:avLst/>
          </a:prstGeom>
          <a:ln w="0">
            <a:noFill/>
          </a:ln>
        </p:spPr>
      </p:sp>
      <p:sp>
        <p:nvSpPr>
          <p:cNvPr id="223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sequence illustrates DFS behavior. DFS follows one path downward. If that path fails, it backs up to the most recent node with unexpanded successors. This is why DFS is memory efficient but not complete in infinite or cyclic spaces.</a:t>
            </a:r>
            <a:endParaRPr lang="en-US" sz="2000" b="0" u="none" strike="noStrike">
              <a:solidFill>
                <a:srgbClr val="000000"/>
              </a:solidFill>
              <a:effectLst/>
              <a:uFillTx/>
              <a:latin typeface="Arial"/>
            </a:endParaRPr>
          </a:p>
        </p:txBody>
      </p:sp>
      <p:sp>
        <p:nvSpPr>
          <p:cNvPr id="2231" name="PlaceHolder 3"/>
          <p:cNvSpPr>
            <a:spLocks noGrp="1"/>
          </p:cNvSpPr>
          <p:nvPr>
            <p:ph type="sldNum" idx="62"/>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2E409DE-9F3D-49C7-8D2D-4410B3E605F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2" name="PlaceHolder 1"/>
          <p:cNvSpPr>
            <a:spLocks noGrp="1"/>
          </p:cNvSpPr>
          <p:nvPr>
            <p:ph type="sldImg"/>
          </p:nvPr>
        </p:nvSpPr>
        <p:spPr>
          <a:xfrm>
            <a:off x="685800" y="1143000"/>
            <a:ext cx="5485320" cy="3085200"/>
          </a:xfrm>
          <a:prstGeom prst="rect">
            <a:avLst/>
          </a:prstGeom>
          <a:ln w="0">
            <a:noFill/>
          </a:ln>
        </p:spPr>
      </p:sp>
      <p:sp>
        <p:nvSpPr>
          <p:cNvPr id="223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DFS can fail badly in cyclic or infinite spaces. Cycle checking helps. Backtracking is a memory-efficient variant that appears later in constraint satisfaction and other AI methods.</a:t>
            </a:r>
            <a:endParaRPr lang="en-US" sz="2000" b="0" u="none" strike="noStrike">
              <a:solidFill>
                <a:srgbClr val="000000"/>
              </a:solidFill>
              <a:effectLst/>
              <a:uFillTx/>
              <a:latin typeface="Arial"/>
            </a:endParaRPr>
          </a:p>
        </p:txBody>
      </p:sp>
      <p:sp>
        <p:nvSpPr>
          <p:cNvPr id="2234" name="PlaceHolder 3"/>
          <p:cNvSpPr>
            <a:spLocks noGrp="1"/>
          </p:cNvSpPr>
          <p:nvPr>
            <p:ph type="sldNum" idx="63"/>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60EC015-B623-404B-BB46-91ED6E1D729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5" name="PlaceHolder 1"/>
          <p:cNvSpPr>
            <a:spLocks noGrp="1"/>
          </p:cNvSpPr>
          <p:nvPr>
            <p:ph type="sldImg"/>
          </p:nvPr>
        </p:nvSpPr>
        <p:spPr>
          <a:xfrm>
            <a:off x="685800" y="1143000"/>
            <a:ext cx="5484960" cy="3084840"/>
          </a:xfrm>
          <a:prstGeom prst="rect">
            <a:avLst/>
          </a:prstGeom>
          <a:ln w="0">
            <a:noFill/>
          </a:ln>
        </p:spPr>
      </p:sp>
      <p:sp>
        <p:nvSpPr>
          <p:cNvPr id="223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comparison between BFS and DFS follows directly from their frontier rules. BFS removes the oldest frontier node, so it explores by tiers and may retain an entire level in memory. DFS removes the newest frontier node, so it follows one root-to-leaf path and stores far less information.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BFS is favored when solutions are shallow, when the search contains deep or infinite branches, or when the fewest-action solution is required. DFS can be attractive when memory is the limiting resource, solutions are deep and plentiful, the space behaves like a finite tree, and any solution is acceptable.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Cycles change the analysis. Without a reached table or adequate cycle checking, DFS can become trapped and BFS can perform redundant work.</a:t>
            </a:r>
            <a:endParaRPr lang="en-US" sz="2000" b="0" u="none" strike="noStrike">
              <a:solidFill>
                <a:srgbClr val="000000"/>
              </a:solidFill>
              <a:effectLst/>
              <a:uFillTx/>
              <a:latin typeface="Arial"/>
            </a:endParaRPr>
          </a:p>
        </p:txBody>
      </p:sp>
      <p:sp>
        <p:nvSpPr>
          <p:cNvPr id="2237" name="PlaceHolder 3"/>
          <p:cNvSpPr>
            <a:spLocks noGrp="1"/>
          </p:cNvSpPr>
          <p:nvPr>
            <p:ph type="sldNum" idx="64"/>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838E864D-3AB4-46A3-97C2-0120256C3A67}" type="slidenum">
              <a:rPr lang="en-US" sz="1200" b="0" u="none" strike="noStrike">
                <a:solidFill>
                  <a:srgbClr val="000000"/>
                </a:solidFill>
                <a:effectLst/>
                <a:uFillTx/>
                <a:latin typeface="Times New Roman"/>
                <a:ea typeface="+mn-ea"/>
              </a:rPr>
              <a:t>&lt;number&gt;</a:t>
            </a:fld>
            <a:endParaRPr lang="en-US" sz="12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8" name="PlaceHolder 1"/>
          <p:cNvSpPr>
            <a:spLocks noGrp="1"/>
          </p:cNvSpPr>
          <p:nvPr>
            <p:ph type="sldImg"/>
          </p:nvPr>
        </p:nvSpPr>
        <p:spPr>
          <a:xfrm>
            <a:off x="685800" y="1143000"/>
            <a:ext cx="5485320" cy="3085200"/>
          </a:xfrm>
          <a:prstGeom prst="rect">
            <a:avLst/>
          </a:prstGeom>
          <a:ln w="0">
            <a:noFill/>
          </a:ln>
        </p:spPr>
      </p:sp>
      <p:sp>
        <p:nvSpPr>
          <p:cNvPr id="223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Depth-limited search is depth-first search with a maximum depth ℓ. Its frontier is LIFO, and nodes at depth ℓ are treated as having no successors.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algorithm has three possible outcomes: a solution node, failure, or cutoff. The distinction between failure and cutoff is essential because failure means the reachable space within the search was exhausted without truncation, while cutoff means deeper states may still contain a solution.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No full reached table is required, which keeps the memory bound near O(bℓ), but the same state may be revisited on different paths. IS-CYCLE can be implemented by walking the parent chain. A partial parent-chain check saves work but can miss longer cycles.</a:t>
            </a:r>
            <a:endParaRPr lang="en-US" sz="2000" b="0" u="none" strike="noStrike">
              <a:solidFill>
                <a:srgbClr val="000000"/>
              </a:solidFill>
              <a:effectLst/>
              <a:uFillTx/>
              <a:latin typeface="Arial"/>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0" name="PlaceHolder 1"/>
          <p:cNvSpPr>
            <a:spLocks noGrp="1"/>
          </p:cNvSpPr>
          <p:nvPr>
            <p:ph type="sldImg"/>
          </p:nvPr>
        </p:nvSpPr>
        <p:spPr>
          <a:xfrm>
            <a:off x="685800" y="1143000"/>
            <a:ext cx="5485320" cy="3085200"/>
          </a:xfrm>
          <a:prstGeom prst="rect">
            <a:avLst/>
          </a:prstGeom>
          <a:ln w="0">
            <a:noFill/>
          </a:ln>
        </p:spPr>
      </p:sp>
      <p:sp>
        <p:nvSpPr>
          <p:cNvPr id="224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Depth-limited search distinguishes three outcomes. A solution node means a goal was found within the limit. Failure means the reachable search space was exhausted and no branch was truncated at depth ℓ. Cutoff means at least one branch reached the depth limit, so a deeper solution may still exist.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result variable begins as failure and is upgraded to cutoff if any branch is truncated. The function does not return cutoff immediately because another branch might still contain a solution within the current limit.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Romania example illustrates the difficulty of selecting ℓ. A very large limit may be safe but inefficient; a limit that is too small produces cutoff even on a solvable problem. Iterative deepening removes the need to choose a single limit in advance.</a:t>
            </a:r>
            <a:endParaRPr lang="en-US" sz="2000" b="0" u="none" strike="noStrike">
              <a:solidFill>
                <a:srgbClr val="000000"/>
              </a:solidFill>
              <a:effectLst/>
              <a:uFillTx/>
              <a:latin typeface="Arial"/>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2" name="PlaceHolder 1"/>
          <p:cNvSpPr>
            <a:spLocks noGrp="1"/>
          </p:cNvSpPr>
          <p:nvPr>
            <p:ph type="sldImg"/>
          </p:nvPr>
        </p:nvSpPr>
        <p:spPr>
          <a:xfrm>
            <a:off x="685800" y="1143000"/>
            <a:ext cx="5485320" cy="3085200"/>
          </a:xfrm>
          <a:prstGeom prst="rect">
            <a:avLst/>
          </a:prstGeom>
          <a:ln w="0">
            <a:noFill/>
          </a:ln>
        </p:spPr>
      </p:sp>
      <p:sp>
        <p:nvSpPr>
          <p:cNvPr id="224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Iterative deepening repeatedly calls depth-limited search with limits 0, 1, 2, and so on. The driver returns as soon as the result is anything other than cutoff.</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 solution node ends the search successfully. Failure also ends the search because it proves that no deeper limit can reach any new state. Cutoff is the only result that causes another iteration with a larger limit.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Each iteration is independent, so memory remains O(bd) rather than O(b^d). The repeated work adds relatively little asymptotic overhead because most generated nodes are on the deepest level.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In an infinite state space with no solution, every iteration can return cutoff forever. That non-termination is consistent with completeness: no finite amount of search can prove that no goal exists beyond the current limit.</a:t>
            </a:r>
            <a:endParaRPr lang="en-US" sz="2000" b="0" u="none" strike="noStrike">
              <a:solidFill>
                <a:srgbClr val="000000"/>
              </a:solidFill>
              <a:effectLst/>
              <a:uFillTx/>
              <a:latin typeface="Arial"/>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4" name="PlaceHolder 1"/>
          <p:cNvSpPr>
            <a:spLocks noGrp="1"/>
          </p:cNvSpPr>
          <p:nvPr>
            <p:ph type="sldImg"/>
          </p:nvPr>
        </p:nvSpPr>
        <p:spPr>
          <a:xfrm>
            <a:off x="685800" y="1143000"/>
            <a:ext cx="5484960" cy="3084840"/>
          </a:xfrm>
          <a:prstGeom prst="rect">
            <a:avLst/>
          </a:prstGeom>
          <a:ln w="0">
            <a:noFill/>
          </a:ln>
        </p:spPr>
      </p:sp>
      <p:sp>
        <p:nvSpPr>
          <p:cNvPr id="224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Iterative deepening repeats some work, but the overhead is usually modest because most nodes occur at the deepest level. For branching factor 10 and solution depth 5, IDS generates about 123,450 nodes compared with about 111,110 for BFS, roughly 11% more work, while reducing memory from exponential to linear in depth.</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remaining practical issue is the choice of a safe depth bound. The relevant graph property is the diameter, the maximum shortest-path distance between reachable states. In the Romania map, 19 is always safe while 9 is the useful diameter-based limit. In general, the exact diameter may not be known in advance, which is why iterative deepening is useful.</a:t>
            </a:r>
            <a:endParaRPr lang="en-US" sz="2000" b="0" u="none" strike="noStrike">
              <a:solidFill>
                <a:srgbClr val="000000"/>
              </a:solidFill>
              <a:effectLst/>
              <a:uFillTx/>
              <a:latin typeface="Arial"/>
            </a:endParaRPr>
          </a:p>
        </p:txBody>
      </p:sp>
      <p:sp>
        <p:nvSpPr>
          <p:cNvPr id="2246" name="PlaceHolder 3"/>
          <p:cNvSpPr>
            <a:spLocks noGrp="1"/>
          </p:cNvSpPr>
          <p:nvPr>
            <p:ph type="sldNum" idx="6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8A1E9B57-96C2-46F7-B1A1-3C1D23D8985A}" type="slidenum">
              <a:rPr lang="en-US" sz="1200" b="0" u="none" strike="noStrike">
                <a:solidFill>
                  <a:srgbClr val="000000"/>
                </a:solidFill>
                <a:effectLst/>
                <a:uFillTx/>
                <a:latin typeface="Times New Roman"/>
                <a:ea typeface="+mn-ea"/>
              </a:rPr>
              <a:t>&lt;number&gt;</a:t>
            </a:fld>
            <a:endParaRPr lang="en-US" sz="12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7" name="PlaceHolder 1"/>
          <p:cNvSpPr>
            <a:spLocks noGrp="1"/>
          </p:cNvSpPr>
          <p:nvPr>
            <p:ph type="sldImg"/>
          </p:nvPr>
        </p:nvSpPr>
        <p:spPr>
          <a:xfrm>
            <a:off x="685800" y="1143000"/>
            <a:ext cx="5485320" cy="3085200"/>
          </a:xfrm>
          <a:prstGeom prst="rect">
            <a:avLst/>
          </a:prstGeom>
          <a:ln w="0">
            <a:noFill/>
          </a:ln>
        </p:spPr>
      </p:sp>
      <p:sp>
        <p:nvSpPr>
          <p:cNvPr id="224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Bidirectional search runs one search forward from the initial state and another backward from the goal. The payoff can be large because two searches to half-depth are much smaller than one search to full depth. It requires backward reasoning and a way to detect frontier collisions.</a:t>
            </a:r>
            <a:endParaRPr lang="en-US" sz="2000" b="0" u="none" strike="noStrike">
              <a:solidFill>
                <a:srgbClr val="000000"/>
              </a:solidFill>
              <a:effectLst/>
              <a:uFillTx/>
              <a:latin typeface="Arial"/>
            </a:endParaRPr>
          </a:p>
        </p:txBody>
      </p:sp>
      <p:sp>
        <p:nvSpPr>
          <p:cNvPr id="2249" name="PlaceHolder 3"/>
          <p:cNvSpPr>
            <a:spLocks noGrp="1"/>
          </p:cNvSpPr>
          <p:nvPr>
            <p:ph type="sldNum" idx="6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DB346E9-2220-4A9D-9917-DAA8EDBEDAA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0" name="PlaceHolder 1"/>
          <p:cNvSpPr>
            <a:spLocks noGrp="1"/>
          </p:cNvSpPr>
          <p:nvPr>
            <p:ph type="sldImg"/>
          </p:nvPr>
        </p:nvSpPr>
        <p:spPr>
          <a:xfrm>
            <a:off x="685800" y="1143000"/>
            <a:ext cx="5485320" cy="3085200"/>
          </a:xfrm>
          <a:prstGeom prst="rect">
            <a:avLst/>
          </a:prstGeom>
          <a:ln w="0">
            <a:noFill/>
          </a:ln>
        </p:spPr>
      </p:sp>
      <p:sp>
        <p:nvSpPr>
          <p:cNvPr id="225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Bidirectional search can reduce the effective depth from d to roughly d/2 in each direction, producing a major reduction from O(b^d) toward O(b^(d/2)) work per side.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speedup requires important preconditions. Backward search must be possible, so the problem needs an explicit goal state that can serve as the backward initial state and an inverse transition model that generates valid predecessors.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first frontier collision is not automatically optimal for every evaluation function. A bidirectional best-first method therefore keeps the best complete solution found so far and uses a termination condition to prove that no cheaper connection remains. With path-cost ordering, neither side needs to expand nodes whose cost exceeds approximately C*/2.</a:t>
            </a:r>
            <a:endParaRPr lang="en-US" sz="2000" b="0" u="none" strike="noStrike">
              <a:solidFill>
                <a:srgbClr val="000000"/>
              </a:solidFill>
              <a:effectLst/>
              <a:uFillTx/>
              <a:latin typeface="Arial"/>
            </a:endParaRPr>
          </a:p>
        </p:txBody>
      </p:sp>
      <p:sp>
        <p:nvSpPr>
          <p:cNvPr id="2252" name="PlaceHolder 3"/>
          <p:cNvSpPr>
            <a:spLocks noGrp="1"/>
          </p:cNvSpPr>
          <p:nvPr>
            <p:ph type="sldNum" idx="67"/>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20D59D90-63A1-4478-8833-258531898792}" type="slidenum">
              <a:rPr lang="en-US" sz="1200" b="0" u="none" strike="noStrike">
                <a:solidFill>
                  <a:srgbClr val="000000"/>
                </a:solidFill>
                <a:effectLst/>
                <a:uFillTx/>
                <a:latin typeface="Times New Roman"/>
                <a:ea typeface="+mn-ea"/>
              </a:rPr>
              <a:t>&lt;number&gt;</a:t>
            </a:fld>
            <a:endParaRPr lang="en-US" sz="1200" b="0" u="none" strike="noStrik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3" name="PlaceHolder 1"/>
          <p:cNvSpPr>
            <a:spLocks noGrp="1"/>
          </p:cNvSpPr>
          <p:nvPr>
            <p:ph type="sldImg"/>
          </p:nvPr>
        </p:nvSpPr>
        <p:spPr>
          <a:xfrm>
            <a:off x="685800" y="1143000"/>
            <a:ext cx="5485320" cy="3085200"/>
          </a:xfrm>
          <a:prstGeom prst="rect">
            <a:avLst/>
          </a:prstGeom>
          <a:ln w="0">
            <a:noFill/>
          </a:ln>
        </p:spPr>
      </p:sp>
      <p:sp>
        <p:nvSpPr>
          <p:cNvPr id="225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Bidirectional best-first search maintains two search processes: one forward from the original initial state and one backward from an explicit goal state. Each direction has its own frontier, reached table, evaluation function, and problem definition.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algorithm does not have to alternate directions. It compares the best frontier node on each side and expands whichever side currently has the lower evaluation value. This can naturally favor the direction with the smaller or cheaper frontier.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Backward search requires an enumerable goal state and invertible transitions. The 8-puzzle satisfies these conditions because the goal is a specific configuration and every move has an inverse. A goal defined only as a large property set, such as any state in which all dots are eaten, may not provide a practical backward starting point.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Bidirectional search is therefore a family of methods parameterized by the two evaluation functions, not a single fixed algorithm.</a:t>
            </a:r>
            <a:endParaRPr lang="en-US" sz="2000" b="0" u="none" strike="noStrike">
              <a:solidFill>
                <a:srgbClr val="000000"/>
              </a:solidFill>
              <a:effectLst/>
              <a:uFillTx/>
              <a:latin typeface="Arial"/>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5" name="PlaceHolder 1"/>
          <p:cNvSpPr>
            <a:spLocks noGrp="1"/>
          </p:cNvSpPr>
          <p:nvPr>
            <p:ph type="sldImg"/>
          </p:nvPr>
        </p:nvSpPr>
        <p:spPr>
          <a:xfrm>
            <a:off x="685800" y="1143000"/>
            <a:ext cx="5485320" cy="3085200"/>
          </a:xfrm>
          <a:prstGeom prst="rect">
            <a:avLst/>
          </a:prstGeom>
          <a:ln w="0">
            <a:noFill/>
          </a:ln>
        </p:spPr>
      </p:sp>
      <p:sp>
        <p:nvSpPr>
          <p:cNvPr id="225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PROCEED performs one ordinary best-first expansion on the selected side. The usual re-add rule still applies: if a cheaper path reaches an already known state, the stored entry is replaced.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bidirectional logic appears when a newly reached state is found in the other search's reached table. At that point, the two half-paths can be joined. JOIN-NODES must reverse the backward half so that the final action sequence runs from the original start to the original goal.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 first collision produces a complete path but not necessarily the cheapest complete path. Other frontier nodes may still form a lower-cost connection. The algorithm therefore retains a best-so-far solution and relies on the termination condition to determine when no better join is possible.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Romania trace is a useful way to verify the collision, joining, and termination logic step by step.</a:t>
            </a:r>
            <a:endParaRPr lang="en-US" sz="2000" b="0" u="none" strike="noStrike">
              <a:solidFill>
                <a:srgbClr val="000000"/>
              </a:solidFill>
              <a:effectLst/>
              <a:uFillTx/>
              <a:latin typeface="Arial"/>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7" name="PlaceHolder 1"/>
          <p:cNvSpPr>
            <a:spLocks noGrp="1"/>
          </p:cNvSpPr>
          <p:nvPr>
            <p:ph type="sldImg"/>
          </p:nvPr>
        </p:nvSpPr>
        <p:spPr>
          <a:xfrm>
            <a:off x="685800" y="1143000"/>
            <a:ext cx="5485320" cy="3085200"/>
          </a:xfrm>
          <a:prstGeom prst="rect">
            <a:avLst/>
          </a:prstGeom>
          <a:ln w="0">
            <a:noFill/>
          </a:ln>
        </p:spPr>
      </p:sp>
      <p:sp>
        <p:nvSpPr>
          <p:cNvPr id="225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Figure 3.15 compares the standard tree-like versions of the uninformed search algorithms. The table is most useful when each entry is derived from the frontier rule rather than memorized.</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Breadth-first search buys completeness and unit-cost optimality at exponential memory cost. Depth-first search uses only O(bm) memory but gives up completeness and optimality in the general tree-like case. Iterative deepening recovers BFS-like completeness and unit-cost optimality with O(bd) memory. Uniform-cost search is expressed in terms of optimal solution cost C* and minimum step cost ε because unequal action costs make depth an inadequate measure.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superscript footnotes are conditions on the guarantees, not decoration. They identify cases such as equal step costs or positive lower bounds on action cost.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table's complexity claims assume no repeated-state checking. Adding a reached table changes the analysis and makes graph search depend more directly on the number of reachable states and edges.</a:t>
            </a:r>
            <a:endParaRPr lang="en-US" sz="2000" b="0" u="none" strike="noStrike">
              <a:solidFill>
                <a:srgbClr val="000000"/>
              </a:solidFill>
              <a:effectLst/>
              <a:uFillTx/>
              <a:latin typeface="Arial"/>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9" name="PlaceHolder 1"/>
          <p:cNvSpPr>
            <a:spLocks noGrp="1"/>
          </p:cNvSpPr>
          <p:nvPr>
            <p:ph type="sldImg"/>
          </p:nvPr>
        </p:nvSpPr>
        <p:spPr>
          <a:xfrm>
            <a:off x="685800" y="1143000"/>
            <a:ext cx="5485320" cy="3085200"/>
          </a:xfrm>
          <a:prstGeom prst="rect">
            <a:avLst/>
          </a:prstGeom>
          <a:ln w="0">
            <a:noFill/>
          </a:ln>
        </p:spPr>
      </p:sp>
      <p:sp>
        <p:nvSpPr>
          <p:cNvPr id="226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Every entry in Figure 3.15 follows from the frontier-selection rule. FIFO ordering produces breadth-first tiers and exponential memory. LIFO ordering produces one deep path with comparatively small memory. Repeating depth-limited LIFO searches with increasing limits gives iterative deepening its BFS-like guarantees and DFS-like space usage.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 common error is confusing O(bd) space for iterative deepening with O(b^d). The missing exponent is the main reason IDS can use dramatically less memory than BFS.</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footnotes should be read as conditions under which a guarantee holds. For example, BFS is cost-optimal only with equal action costs, while UCS requires step costs bounded below by a positive ε.</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Best-first search itself is not another column in the table because it is the general control framework. The next topic changes only the evaluation function by adding heuristic information.</a:t>
            </a:r>
            <a:endParaRPr lang="en-US" sz="2000" b="0" u="none" strike="noStrike">
              <a:solidFill>
                <a:srgbClr val="000000"/>
              </a:solidFill>
              <a:effectLst/>
              <a:uFillTx/>
              <a:latin typeface="Arial"/>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1" name="PlaceHolder 1"/>
          <p:cNvSpPr>
            <a:spLocks noGrp="1"/>
          </p:cNvSpPr>
          <p:nvPr>
            <p:ph type="sldImg"/>
          </p:nvPr>
        </p:nvSpPr>
        <p:spPr>
          <a:xfrm>
            <a:off x="685800" y="1143000"/>
            <a:ext cx="5485320" cy="3085200"/>
          </a:xfrm>
          <a:prstGeom prst="rect">
            <a:avLst/>
          </a:prstGeom>
          <a:ln w="0">
            <a:noFill/>
          </a:ln>
        </p:spPr>
      </p:sp>
      <p:sp>
        <p:nvSpPr>
          <p:cNvPr id="226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main logic of Sections 3.1 through 3.4 is sequential. First, formulate the problem using states, actions, transitions, goals, and costs. Second, distinguish the state-space graph from the search tree of possible paths. Third, select a frontier strategy that determines which node is expanded next.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Uninformed search can provide completeness and, under the right assumptions, optimality. Its main limitation is growth: without an estimate of remaining distance or cost, the algorithms may explore large regions that do not lead efficiently toward the goal.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next lecture introduces heuristics to add that forward-looking information.</a:t>
            </a:r>
            <a:endParaRPr lang="en-US" sz="2000" b="0" u="none" strike="noStrike">
              <a:solidFill>
                <a:srgbClr val="000000"/>
              </a:solidFill>
              <a:effectLst/>
              <a:uFillTx/>
              <a:latin typeface="Arial"/>
            </a:endParaRPr>
          </a:p>
        </p:txBody>
      </p:sp>
      <p:sp>
        <p:nvSpPr>
          <p:cNvPr id="2263" name="PlaceHolder 3"/>
          <p:cNvSpPr>
            <a:spLocks noGrp="1"/>
          </p:cNvSpPr>
          <p:nvPr>
            <p:ph type="sldNum" idx="68"/>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E494063-264A-47D5-B79D-2510EDF902F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4" name="PlaceHolder 1"/>
          <p:cNvSpPr>
            <a:spLocks noGrp="1"/>
          </p:cNvSpPr>
          <p:nvPr>
            <p:ph type="sldImg"/>
          </p:nvPr>
        </p:nvSpPr>
        <p:spPr>
          <a:xfrm>
            <a:off x="685800" y="1143000"/>
            <a:ext cx="5484960" cy="3084840"/>
          </a:xfrm>
          <a:prstGeom prst="rect">
            <a:avLst/>
          </a:prstGeom>
          <a:ln w="0">
            <a:noFill/>
          </a:ln>
        </p:spPr>
      </p:sp>
      <p:sp>
        <p:nvSpPr>
          <p:cNvPr id="226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central limitation of uninformed search is that its evaluation functions use only information already accumulated along the path. For example, g(n) measures the cost from the start to the current node but says nothing about the remaining cost to the goal.</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That limitation explains why uniform-cost search expands broad cost contours around the start rather than concentrating directly toward the goal. The resulting search can still require exponential work in the solution depth.</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general best-first loop does not need to change to address this limitation. Adding a heuristic term h(n), which estimates remaining cost, changes the evaluation function and leads to informed methods such as A*. The quality conditions on h(n), including admissibility and consistency, determine which guarantees are preserved.</a:t>
            </a:r>
            <a:endParaRPr lang="en-US" sz="2000" b="0" u="none" strike="noStrike">
              <a:solidFill>
                <a:srgbClr val="000000"/>
              </a:solidFill>
              <a:effectLst/>
              <a:uFillTx/>
              <a:latin typeface="Arial"/>
            </a:endParaRPr>
          </a:p>
        </p:txBody>
      </p:sp>
      <p:sp>
        <p:nvSpPr>
          <p:cNvPr id="2266" name="PlaceHolder 3"/>
          <p:cNvSpPr>
            <a:spLocks noGrp="1"/>
          </p:cNvSpPr>
          <p:nvPr>
            <p:ph type="sldNum" idx="69"/>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D4A42079-5BD2-4D0C-9CC2-3D6C996FCA14}" type="slidenum">
              <a:rPr lang="en-US" sz="1200" b="0" u="none" strike="noStrike">
                <a:solidFill>
                  <a:srgbClr val="000000"/>
                </a:solidFill>
                <a:effectLst/>
                <a:uFillTx/>
                <a:latin typeface="Times New Roman"/>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1000" cy="114372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1800" b="0" u="none" strike="noStrike">
                <a:solidFill>
                  <a:schemeClr val="dk1"/>
                </a:solidFill>
                <a:effectLst/>
                <a:uFillTx/>
                <a:latin typeface="Aptos"/>
              </a:defRPr>
            </a:lvl1pPr>
          </a:lstStyle>
          <a:p>
            <a:pPr indent="0" algn="l" defTabSz="914400">
              <a:lnSpc>
                <a:spcPct val="90000"/>
              </a:lnSpc>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3" name="PlaceHolder 2"/>
          <p:cNvSpPr>
            <a:spLocks noGrp="1"/>
          </p:cNvSpPr>
          <p:nvPr>
            <p:ph type="body"/>
          </p:nvPr>
        </p:nvSpPr>
        <p:spPr>
          <a:xfrm>
            <a:off x="609480" y="1604520"/>
            <a:ext cx="10971000" cy="397620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defTabSz="914400">
              <a:lnSpc>
                <a:spcPct val="90000"/>
              </a:lnSpc>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defTabSz="914400">
              <a:lnSpc>
                <a:spcPct val="90000"/>
              </a:lnSpc>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EEF5F8"/>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1000" cy="1143720"/>
          </a:xfrm>
          <a:prstGeom prst="rect">
            <a:avLst/>
          </a:prstGeom>
          <a:noFill/>
          <a:ln w="0">
            <a:noFill/>
          </a:ln>
        </p:spPr>
        <p:txBody>
          <a:bodyPr lIns="0" tIns="0" rIns="0" bIns="0" anchor="ctr">
            <a:noAutofit/>
          </a:bodyPr>
          <a:lstStyle>
            <a:lvl1pPr indent="0" algn="l" defTabSz="914400">
              <a:lnSpc>
                <a:spcPct val="90000"/>
              </a:lnSpc>
              <a:buNone/>
              <a:tabLst>
                <a:tab pos="0" algn="l"/>
              </a:tabLst>
              <a:defRPr lang="en-US" sz="1800" b="0" u="none" strike="noStrike">
                <a:solidFill>
                  <a:schemeClr val="dk1"/>
                </a:solidFill>
                <a:effectLst/>
                <a:uFillTx/>
                <a:latin typeface="Aptos"/>
              </a:defRPr>
            </a:lvl1pPr>
          </a:lstStyle>
          <a:p>
            <a:pPr indent="0" algn="l" defTabSz="914400">
              <a:lnSpc>
                <a:spcPct val="90000"/>
              </a:lnSpc>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5" name="PlaceHolder 2"/>
          <p:cNvSpPr>
            <a:spLocks noGrp="1"/>
          </p:cNvSpPr>
          <p:nvPr>
            <p:ph type="body"/>
          </p:nvPr>
        </p:nvSpPr>
        <p:spPr>
          <a:xfrm>
            <a:off x="609480" y="1604520"/>
            <a:ext cx="10971000" cy="397620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defTabSz="914400">
              <a:lnSpc>
                <a:spcPct val="90000"/>
              </a:lnSpc>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defTabSz="914400">
              <a:lnSpc>
                <a:spcPct val="90000"/>
              </a:lnSpc>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SUCI_STYLE">
    <p:bg>
      <p:bgPr>
        <a:solidFill>
          <a:srgbClr val="EAF2F6"/>
        </a:solidFill>
      </p:bgPr>
    </p:bg>
    <p:spTree>
      <p:nvGrpSpPr>
        <p:cNvPr id="1" name=""/>
        <p:cNvGrpSpPr/>
        <p:nvPr/>
      </p:nvGrpSpPr>
      <p:grpSpPr>
        <a:xfrm>
          <a:off x="0" y="0"/>
          <a:ext cx="0" cy="0"/>
          <a:chOff x="0" y="0"/>
          <a:chExt cx="0" cy="0"/>
        </a:xfrm>
      </p:grpSpPr>
      <p:sp>
        <p:nvSpPr>
          <p:cNvPr id="6" name="Shape 0"/>
          <p:cNvSpPr/>
          <p:nvPr/>
        </p:nvSpPr>
        <p:spPr>
          <a:xfrm>
            <a:off x="228600" y="219600"/>
            <a:ext cx="11730600" cy="748800"/>
          </a:xfrm>
          <a:prstGeom prst="rect">
            <a:avLst/>
          </a:prstGeom>
          <a:solidFill>
            <a:srgbClr val="153965"/>
          </a:solidFill>
          <a:ln w="12700">
            <a:solidFill>
              <a:srgbClr val="15396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7" name="Shape 1"/>
          <p:cNvSpPr/>
          <p:nvPr/>
        </p:nvSpPr>
        <p:spPr>
          <a:xfrm>
            <a:off x="228600" y="960120"/>
            <a:ext cx="11730600" cy="81360"/>
          </a:xfrm>
          <a:prstGeom prst="rect">
            <a:avLst/>
          </a:prstGeom>
          <a:solidFill>
            <a:srgbClr val="F6A21A"/>
          </a:solidFill>
          <a:ln w="12700">
            <a:solidFill>
              <a:srgbClr val="F6A21A"/>
            </a:solidFill>
            <a:round/>
          </a:ln>
        </p:spPr>
        <p:style>
          <a:lnRef idx="0"/>
          <a:fillRef idx="0"/>
          <a:effectRef idx="0"/>
          <a:fontRef idx="minor"/>
        </p:style>
        <p:txBody>
          <a:bodyPr lIns="90000" tIns="37440" rIns="90000" bIns="37440" anchor="t">
            <a:noAutofit/>
          </a:bodyPr>
          <a:p>
            <a:endParaRPr lang="en-US" sz="1800" b="0" u="none" strike="noStrike">
              <a:solidFill>
                <a:schemeClr val="dk1"/>
              </a:solidFill>
              <a:effectLst/>
              <a:uFillTx/>
              <a:latin typeface="Aptos"/>
            </a:endParaRPr>
          </a:p>
        </p:txBody>
      </p:sp>
      <p:sp>
        <p:nvSpPr>
          <p:cNvPr id="8" name="Text 2"/>
          <p:cNvSpPr/>
          <p:nvPr/>
        </p:nvSpPr>
        <p:spPr>
          <a:xfrm>
            <a:off x="502920" y="6583680"/>
            <a:ext cx="3839400" cy="14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06987"/>
                </a:solidFill>
                <a:effectLst/>
                <a:uFillTx/>
                <a:latin typeface="Aptos"/>
              </a:rPr>
              <a:t>CSU Channel Islands · Department of Computer Science</a:t>
            </a:r>
            <a:endParaRPr lang="en-US" sz="750" b="0" u="none" strike="noStrike">
              <a:solidFill>
                <a:srgbClr val="000000"/>
              </a:solidFill>
              <a:effectLst/>
              <a:uFillTx/>
              <a:latin typeface="Arial"/>
            </a:endParaRPr>
          </a:p>
        </p:txBody>
      </p:sp>
      <p:sp>
        <p:nvSpPr>
          <p:cNvPr id="9" name="Text 3"/>
          <p:cNvSpPr/>
          <p:nvPr/>
        </p:nvSpPr>
        <p:spPr>
          <a:xfrm>
            <a:off x="8732520" y="6583680"/>
            <a:ext cx="3062160" cy="145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506987"/>
                </a:solidFill>
                <a:effectLst/>
                <a:uFillTx/>
                <a:latin typeface="Aptos"/>
              </a:rPr>
              <a:t>COMP 469 · Chapter 3 · Sections 3.1-3.4</a:t>
            </a:r>
            <a:endParaRPr lang="en-US" sz="750" b="0" u="none" strike="noStrike">
              <a:solidFill>
                <a:srgbClr val="000000"/>
              </a:solidFill>
              <a:effectLst/>
              <a:uFillTx/>
              <a:latin typeface="Arial"/>
            </a:endParaRPr>
          </a:p>
        </p:txBody>
      </p:sp>
      <p:sp>
        <p:nvSpPr>
          <p:cNvPr id="10" name="PlaceHolder 1"/>
          <p:cNvSpPr>
            <a:spLocks noGrp="1"/>
          </p:cNvSpPr>
          <p:nvPr>
            <p:ph type="sldNum" idx="1"/>
          </p:nvPr>
        </p:nvSpPr>
        <p:spPr>
          <a:xfrm>
            <a:off x="11475720" y="6546960"/>
            <a:ext cx="798840" cy="2988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700" b="0" u="none" strike="noStrike">
                <a:solidFill>
                  <a:srgbClr val="506987"/>
                </a:solidFill>
                <a:effectLst/>
                <a:uFillTx/>
                <a:latin typeface="Aptos"/>
                <a:ea typeface="Aptos"/>
              </a:defRPr>
            </a:lvl1pPr>
          </a:lstStyle>
          <a:p>
            <a:pPr indent="0" algn="l" defTabSz="914400">
              <a:lnSpc>
                <a:spcPct val="100000"/>
              </a:lnSpc>
              <a:buNone/>
              <a:tabLst>
                <a:tab pos="0" algn="l"/>
              </a:tabLst>
            </a:pPr>
            <a:fld id="{30E9FD2D-2D9F-432F-A043-1ADB2D3E0A44}" type="slidenum">
              <a:rPr lang="en-US" sz="700" b="0" u="none" strike="noStrike">
                <a:solidFill>
                  <a:srgbClr val="506987"/>
                </a:solidFill>
                <a:effectLst/>
                <a:uFillTx/>
                <a:latin typeface="Aptos"/>
                <a:ea typeface="Aptos"/>
              </a:rPr>
              <a:t>&lt;number&gt;</a:t>
            </a:fld>
            <a:endParaRPr lang="en-US" sz="700" b="0" u="none" strike="noStrike">
              <a:solidFill>
                <a:srgbClr val="000000"/>
              </a:solidFill>
              <a:effectLst/>
              <a:uFillTx/>
              <a:latin typeface="Times New Roman"/>
            </a:endParaRPr>
          </a:p>
        </p:txBody>
      </p:sp>
      <p:sp>
        <p:nvSpPr>
          <p:cNvPr id="11" name="PlaceHolder 2"/>
          <p:cNvSpPr>
            <a:spLocks noGrp="1"/>
          </p:cNvSpPr>
          <p:nvPr>
            <p:ph type="title"/>
          </p:nvPr>
        </p:nvSpPr>
        <p:spPr>
          <a:xfrm>
            <a:off x="609480" y="273600"/>
            <a:ext cx="10971720" cy="114408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Aptos"/>
              </a:defRPr>
            </a:lvl1pPr>
          </a:lstStyle>
          <a:p>
            <a:pPr indent="0" algn="l">
              <a:lnSpc>
                <a:spcPct val="100000"/>
              </a:lnSpc>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12" name="PlaceHolder 3"/>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US" sz="2000" b="0" u="none" strike="noStrike">
              <a:solidFill>
                <a:schemeClr val="dk1"/>
              </a:solidFill>
              <a:effectLst/>
              <a:uFillTx/>
              <a:latin typeface="Aptos"/>
            </a:endParaRP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US" sz="1800" b="0" u="none" strike="noStrike">
              <a:solidFill>
                <a:schemeClr val="dk1"/>
              </a:solidFill>
              <a:effectLst/>
              <a:uFillTx/>
              <a:latin typeface="Aptos"/>
            </a:endParaRP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EFAULT">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1720" cy="114408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Aptos"/>
              </a:defRPr>
            </a:lvl1pPr>
          </a:lstStyle>
          <a:p>
            <a:pPr indent="0" algn="l">
              <a:lnSpc>
                <a:spcPct val="100000"/>
              </a:lnSpc>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14" name="PlaceHolder 2"/>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US" sz="2000" b="0" u="none" strike="noStrike">
              <a:solidFill>
                <a:schemeClr val="dk1"/>
              </a:solidFill>
              <a:effectLst/>
              <a:uFillTx/>
              <a:latin typeface="Aptos"/>
            </a:endParaRP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US" sz="1800" b="0" u="none" strike="noStrike">
              <a:solidFill>
                <a:schemeClr val="dk1"/>
              </a:solidFill>
              <a:effectLst/>
              <a:uFillTx/>
              <a:latin typeface="Aptos"/>
            </a:endParaRP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SUCI">
    <p:bg>
      <p:bgPr>
        <a:solidFill>
          <a:srgbClr val="EAF3F8"/>
        </a:solidFill>
      </p:bgPr>
    </p:bg>
    <p:spTree>
      <p:nvGrpSpPr>
        <p:cNvPr id="1" name=""/>
        <p:cNvGrpSpPr/>
        <p:nvPr/>
      </p:nvGrpSpPr>
      <p:grpSpPr>
        <a:xfrm>
          <a:off x="0" y="0"/>
          <a:ext cx="0" cy="0"/>
          <a:chOff x="0" y="0"/>
          <a:chExt cx="0" cy="0"/>
        </a:xfrm>
      </p:grpSpPr>
      <p:sp>
        <p:nvSpPr>
          <p:cNvPr id="15" name="Shape 0"/>
          <p:cNvSpPr/>
          <p:nvPr/>
        </p:nvSpPr>
        <p:spPr>
          <a:xfrm>
            <a:off x="228600" y="219600"/>
            <a:ext cx="11739960" cy="748800"/>
          </a:xfrm>
          <a:prstGeom prst="rect">
            <a:avLst/>
          </a:prstGeom>
          <a:solidFill>
            <a:srgbClr val="143764"/>
          </a:solidFill>
          <a:ln w="12700">
            <a:solidFill>
              <a:srgbClr val="14376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 name="Shape 1"/>
          <p:cNvSpPr/>
          <p:nvPr/>
        </p:nvSpPr>
        <p:spPr>
          <a:xfrm>
            <a:off x="228600" y="969120"/>
            <a:ext cx="11739960" cy="90360"/>
          </a:xfrm>
          <a:prstGeom prst="rect">
            <a:avLst/>
          </a:prstGeom>
          <a:solidFill>
            <a:srgbClr val="F59E0B"/>
          </a:solidFill>
          <a:ln w="12700">
            <a:solidFill>
              <a:srgbClr val="F59E0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7" name="Text 2"/>
          <p:cNvSpPr/>
          <p:nvPr/>
        </p:nvSpPr>
        <p:spPr>
          <a:xfrm>
            <a:off x="502920" y="6546960"/>
            <a:ext cx="3656520" cy="1360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750" b="0" u="none" strike="noStrike">
                <a:solidFill>
                  <a:srgbClr val="46627F"/>
                </a:solidFill>
                <a:effectLst/>
                <a:uFillTx/>
                <a:latin typeface="Aptos"/>
                <a:ea typeface="Aptos"/>
              </a:rPr>
              <a:t>CSU Channel Islands · Department of Computer Science</a:t>
            </a:r>
            <a:endParaRPr lang="en-US" sz="750" b="0" u="none" strike="noStrike">
              <a:solidFill>
                <a:srgbClr val="000000"/>
              </a:solidFill>
              <a:effectLst/>
              <a:uFillTx/>
              <a:latin typeface="Arial"/>
            </a:endParaRPr>
          </a:p>
        </p:txBody>
      </p:sp>
      <p:sp>
        <p:nvSpPr>
          <p:cNvPr id="18" name="Text 3"/>
          <p:cNvSpPr/>
          <p:nvPr/>
        </p:nvSpPr>
        <p:spPr>
          <a:xfrm>
            <a:off x="9509760" y="6546960"/>
            <a:ext cx="2376360" cy="1360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750" b="0" u="none" strike="noStrike">
                <a:solidFill>
                  <a:srgbClr val="46627F"/>
                </a:solidFill>
                <a:effectLst/>
                <a:uFillTx/>
                <a:latin typeface="Aptos"/>
                <a:ea typeface="Aptos"/>
              </a:rPr>
              <a:t>COMP 469 · Chapter 3 · Sections 3.1–3.4</a:t>
            </a:r>
            <a:endParaRPr lang="en-US" sz="750" b="0" u="none" strike="noStrike">
              <a:solidFill>
                <a:srgbClr val="000000"/>
              </a:solidFill>
              <a:effectLst/>
              <a:uFillTx/>
              <a:latin typeface="Arial"/>
            </a:endParaRPr>
          </a:p>
        </p:txBody>
      </p:sp>
      <p:sp>
        <p:nvSpPr>
          <p:cNvPr id="19" name="PlaceHolder 1"/>
          <p:cNvSpPr>
            <a:spLocks noGrp="1"/>
          </p:cNvSpPr>
          <p:nvPr>
            <p:ph type="title"/>
          </p:nvPr>
        </p:nvSpPr>
        <p:spPr>
          <a:xfrm>
            <a:off x="609480" y="273600"/>
            <a:ext cx="10971720" cy="114408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Aptos"/>
              </a:defRPr>
            </a:lvl1pPr>
          </a:lstStyle>
          <a:p>
            <a:pPr indent="0" algn="l">
              <a:lnSpc>
                <a:spcPct val="100000"/>
              </a:lnSpc>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20" name="PlaceHolder 2"/>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US" sz="2000" b="0" u="none" strike="noStrike">
              <a:solidFill>
                <a:schemeClr val="dk1"/>
              </a:solidFill>
              <a:effectLst/>
              <a:uFillTx/>
              <a:latin typeface="Aptos"/>
            </a:endParaRP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US" sz="1800" b="0" u="none" strike="noStrike">
              <a:solidFill>
                <a:schemeClr val="dk1"/>
              </a:solidFill>
              <a:effectLst/>
              <a:uFillTx/>
              <a:latin typeface="Aptos"/>
            </a:endParaRP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4.xml"/><Relationship Id="rId5"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hyperlink" Target="https://en.wikipedia.org/wiki/Cartesian_product" TargetMode="External"/><Relationship Id="rId2" Type="http://schemas.openxmlformats.org/officeDocument/2006/relationships/slideLayout" Target="../slideLayouts/slideLayout3.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1.xml"/><Relationship Id="rId4"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svg"/><Relationship Id="rId3" Type="http://schemas.openxmlformats.org/officeDocument/2006/relationships/slideLayout" Target="../slideLayouts/slideLayout2.xml"/><Relationship Id="rId4"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slideLayout" Target="../slideLayouts/slideLayout4.xml"/><Relationship Id="rId4"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4.xml"/><Relationship Id="rId4"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2E5C"/>
        </a:solidFill>
      </p:bgPr>
    </p:bg>
    <p:spTree>
      <p:nvGrpSpPr>
        <p:cNvPr id="1" name=""/>
        <p:cNvGrpSpPr/>
        <p:nvPr/>
      </p:nvGrpSpPr>
      <p:grpSpPr>
        <a:xfrm>
          <a:off x="0" y="0"/>
          <a:ext cx="0" cy="0"/>
          <a:chOff x="0" y="0"/>
          <a:chExt cx="0" cy="0"/>
        </a:xfrm>
      </p:grpSpPr>
      <p:sp>
        <p:nvSpPr>
          <p:cNvPr id="27" name="Shape 0"/>
          <p:cNvSpPr/>
          <p:nvPr/>
        </p:nvSpPr>
        <p:spPr>
          <a:xfrm>
            <a:off x="0" y="0"/>
            <a:ext cx="12190320" cy="685656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 name="Shape 1"/>
          <p:cNvSpPr/>
          <p:nvPr/>
        </p:nvSpPr>
        <p:spPr>
          <a:xfrm>
            <a:off x="0" y="5897880"/>
            <a:ext cx="12190320" cy="108360"/>
          </a:xfrm>
          <a:prstGeom prst="rect">
            <a:avLst/>
          </a:prstGeom>
          <a:solidFill>
            <a:srgbClr val="F6A01A"/>
          </a:solidFill>
          <a:ln w="1270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 name="Text 2"/>
          <p:cNvSpPr/>
          <p:nvPr/>
        </p:nvSpPr>
        <p:spPr>
          <a:xfrm>
            <a:off x="640080" y="777240"/>
            <a:ext cx="10971360" cy="3643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2000" b="1" u="none" strike="noStrike">
                <a:solidFill>
                  <a:srgbClr val="DCE8FF"/>
                </a:solidFill>
                <a:effectLst/>
                <a:uFillTx/>
                <a:latin typeface="Aptos"/>
              </a:rPr>
              <a:t>COMP 469</a:t>
            </a:r>
            <a:endParaRPr lang="en-US" sz="2000" b="0" u="none" strike="noStrike">
              <a:solidFill>
                <a:srgbClr val="FFFFFF"/>
              </a:solidFill>
              <a:effectLst/>
              <a:uFillTx/>
              <a:latin typeface="Arial"/>
            </a:endParaRPr>
          </a:p>
        </p:txBody>
      </p:sp>
      <p:sp>
        <p:nvSpPr>
          <p:cNvPr id="30" name="Text 3"/>
          <p:cNvSpPr/>
          <p:nvPr/>
        </p:nvSpPr>
        <p:spPr>
          <a:xfrm>
            <a:off x="640080" y="1417320"/>
            <a:ext cx="10971360" cy="5929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3400" b="1" u="none" strike="noStrike">
                <a:solidFill>
                  <a:srgbClr val="FFFFFF"/>
                </a:solidFill>
                <a:effectLst/>
                <a:uFillTx/>
                <a:latin typeface="Aptos"/>
              </a:rPr>
              <a:t>Chapter 3: Solving Problems by Searching</a:t>
            </a:r>
            <a:endParaRPr lang="en-US" sz="3400" b="0" u="none" strike="noStrike">
              <a:solidFill>
                <a:srgbClr val="FFFFFF"/>
              </a:solidFill>
              <a:effectLst/>
              <a:uFillTx/>
              <a:latin typeface="Arial"/>
            </a:endParaRPr>
          </a:p>
        </p:txBody>
      </p:sp>
      <p:sp>
        <p:nvSpPr>
          <p:cNvPr id="31" name="Text 4"/>
          <p:cNvSpPr/>
          <p:nvPr/>
        </p:nvSpPr>
        <p:spPr>
          <a:xfrm>
            <a:off x="1051560" y="2148840"/>
            <a:ext cx="10056960" cy="3826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DCE8FF"/>
                </a:solidFill>
                <a:effectLst/>
                <a:uFillTx/>
                <a:latin typeface="Aptos"/>
              </a:rPr>
              <a:t>Sections 3.1-3.4 · Problem-solving agents, search problems, search algorithms, and uninformed search</a:t>
            </a:r>
            <a:endParaRPr lang="en-US" sz="1600" b="0" u="none" strike="noStrike">
              <a:solidFill>
                <a:srgbClr val="FFFFFF"/>
              </a:solidFill>
              <a:effectLst/>
              <a:uFillTx/>
              <a:latin typeface="Arial"/>
            </a:endParaRPr>
          </a:p>
        </p:txBody>
      </p:sp>
      <p:sp>
        <p:nvSpPr>
          <p:cNvPr id="32" name="Text 5"/>
          <p:cNvSpPr/>
          <p:nvPr/>
        </p:nvSpPr>
        <p:spPr>
          <a:xfrm>
            <a:off x="1280160" y="3657600"/>
            <a:ext cx="1233000" cy="592920"/>
          </a:xfrm>
          <a:prstGeom prst="roundRect">
            <a:avLst>
              <a:gd name="adj" fmla="val 12308"/>
            </a:avLst>
          </a:prstGeom>
          <a:solidFill>
            <a:srgbClr val="D9E9FF"/>
          </a:solidFill>
          <a:ln w="15240">
            <a:solidFill>
              <a:srgbClr val="FFFFFF"/>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Goal</a:t>
            </a:r>
            <a:endParaRPr lang="en-US" sz="1500" b="0" u="none" strike="noStrike">
              <a:solidFill>
                <a:srgbClr val="000000"/>
              </a:solidFill>
              <a:effectLst/>
              <a:uFillTx/>
              <a:latin typeface="Arial"/>
            </a:endParaRPr>
          </a:p>
        </p:txBody>
      </p:sp>
      <p:sp>
        <p:nvSpPr>
          <p:cNvPr id="33" name="Shape 6"/>
          <p:cNvSpPr/>
          <p:nvPr/>
        </p:nvSpPr>
        <p:spPr>
          <a:xfrm>
            <a:off x="2514600" y="3949920"/>
            <a:ext cx="548640" cy="360"/>
          </a:xfrm>
          <a:prstGeom prst="line">
            <a:avLst/>
          </a:prstGeom>
          <a:ln w="3175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4" name="Text 7"/>
          <p:cNvSpPr/>
          <p:nvPr/>
        </p:nvSpPr>
        <p:spPr>
          <a:xfrm>
            <a:off x="3063240" y="3657600"/>
            <a:ext cx="1233000" cy="592920"/>
          </a:xfrm>
          <a:prstGeom prst="roundRect">
            <a:avLst>
              <a:gd name="adj" fmla="val 12308"/>
            </a:avLst>
          </a:prstGeom>
          <a:solidFill>
            <a:srgbClr val="D9E9FF"/>
          </a:solidFill>
          <a:ln w="15240">
            <a:solidFill>
              <a:srgbClr val="FFFFFF"/>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Problem</a:t>
            </a:r>
            <a:endParaRPr lang="en-US" sz="1500" b="0" u="none" strike="noStrike">
              <a:solidFill>
                <a:srgbClr val="000000"/>
              </a:solidFill>
              <a:effectLst/>
              <a:uFillTx/>
              <a:latin typeface="Arial"/>
            </a:endParaRPr>
          </a:p>
        </p:txBody>
      </p:sp>
      <p:sp>
        <p:nvSpPr>
          <p:cNvPr id="35" name="Shape 8"/>
          <p:cNvSpPr/>
          <p:nvPr/>
        </p:nvSpPr>
        <p:spPr>
          <a:xfrm>
            <a:off x="4297680" y="3949920"/>
            <a:ext cx="777240" cy="360"/>
          </a:xfrm>
          <a:prstGeom prst="line">
            <a:avLst/>
          </a:prstGeom>
          <a:ln w="3175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6" name="Text 9"/>
          <p:cNvSpPr/>
          <p:nvPr/>
        </p:nvSpPr>
        <p:spPr>
          <a:xfrm>
            <a:off x="5074920" y="3657600"/>
            <a:ext cx="1233000" cy="592920"/>
          </a:xfrm>
          <a:prstGeom prst="roundRect">
            <a:avLst>
              <a:gd name="adj" fmla="val 12308"/>
            </a:avLst>
          </a:prstGeom>
          <a:solidFill>
            <a:srgbClr val="D9E9FF"/>
          </a:solidFill>
          <a:ln w="15240">
            <a:solidFill>
              <a:srgbClr val="FFFFFF"/>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Search</a:t>
            </a:r>
            <a:endParaRPr lang="en-US" sz="1500" b="0" u="none" strike="noStrike">
              <a:solidFill>
                <a:srgbClr val="000000"/>
              </a:solidFill>
              <a:effectLst/>
              <a:uFillTx/>
              <a:latin typeface="Arial"/>
            </a:endParaRPr>
          </a:p>
        </p:txBody>
      </p:sp>
      <p:sp>
        <p:nvSpPr>
          <p:cNvPr id="37" name="Shape 10"/>
          <p:cNvSpPr/>
          <p:nvPr/>
        </p:nvSpPr>
        <p:spPr>
          <a:xfrm>
            <a:off x="6309360" y="3949920"/>
            <a:ext cx="777240" cy="360"/>
          </a:xfrm>
          <a:prstGeom prst="line">
            <a:avLst/>
          </a:prstGeom>
          <a:ln w="3175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 name="Text 11"/>
          <p:cNvSpPr/>
          <p:nvPr/>
        </p:nvSpPr>
        <p:spPr>
          <a:xfrm>
            <a:off x="7086600" y="3657600"/>
            <a:ext cx="1233000" cy="592920"/>
          </a:xfrm>
          <a:prstGeom prst="roundRect">
            <a:avLst>
              <a:gd name="adj" fmla="val 12308"/>
            </a:avLst>
          </a:prstGeom>
          <a:solidFill>
            <a:srgbClr val="D9E9FF"/>
          </a:solidFill>
          <a:ln w="15240">
            <a:solidFill>
              <a:srgbClr val="FFFFFF"/>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Solution</a:t>
            </a:r>
            <a:endParaRPr lang="en-US" sz="1500" b="0" u="none" strike="noStrike">
              <a:solidFill>
                <a:srgbClr val="000000"/>
              </a:solidFill>
              <a:effectLst/>
              <a:uFillTx/>
              <a:latin typeface="Arial"/>
            </a:endParaRPr>
          </a:p>
        </p:txBody>
      </p:sp>
      <p:sp>
        <p:nvSpPr>
          <p:cNvPr id="39" name="Shape 12"/>
          <p:cNvSpPr/>
          <p:nvPr/>
        </p:nvSpPr>
        <p:spPr>
          <a:xfrm>
            <a:off x="8321040" y="3949920"/>
            <a:ext cx="777240" cy="360"/>
          </a:xfrm>
          <a:prstGeom prst="line">
            <a:avLst/>
          </a:prstGeom>
          <a:ln w="3175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0" name="Text 13"/>
          <p:cNvSpPr/>
          <p:nvPr/>
        </p:nvSpPr>
        <p:spPr>
          <a:xfrm>
            <a:off x="9098280" y="3657600"/>
            <a:ext cx="1233000" cy="592920"/>
          </a:xfrm>
          <a:prstGeom prst="roundRect">
            <a:avLst>
              <a:gd name="adj" fmla="val 12308"/>
            </a:avLst>
          </a:prstGeom>
          <a:solidFill>
            <a:srgbClr val="D9E9FF"/>
          </a:solidFill>
          <a:ln w="15240">
            <a:solidFill>
              <a:srgbClr val="FFFFFF"/>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Execute</a:t>
            </a:r>
            <a:endParaRPr lang="en-US" sz="1500" b="0" u="none" strike="noStrike">
              <a:solidFill>
                <a:srgbClr val="000000"/>
              </a:solidFill>
              <a:effectLst/>
              <a:uFillTx/>
              <a:latin typeface="Arial"/>
            </a:endParaRPr>
          </a:p>
        </p:txBody>
      </p:sp>
      <p:sp>
        <p:nvSpPr>
          <p:cNvPr id="41" name="Text 14"/>
          <p:cNvSpPr/>
          <p:nvPr/>
        </p:nvSpPr>
        <p:spPr>
          <a:xfrm>
            <a:off x="640080" y="6263640"/>
            <a:ext cx="10971360" cy="2271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100" b="0" u="none" strike="noStrike">
                <a:solidFill>
                  <a:srgbClr val="DCE8FF"/>
                </a:solidFill>
                <a:effectLst/>
                <a:uFillTx/>
                <a:latin typeface="Aptos"/>
              </a:rPr>
              <a:t>CSU Channel Islands · Department of Computer Science</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42"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4"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Scope and Learning Targets</a:t>
            </a:r>
            <a:endParaRPr lang="en-US" sz="2600" b="0" u="none" strike="noStrike">
              <a:solidFill>
                <a:srgbClr val="000000"/>
              </a:solidFill>
              <a:effectLst/>
              <a:uFillTx/>
              <a:latin typeface="Arial"/>
            </a:endParaRPr>
          </a:p>
        </p:txBody>
      </p:sp>
      <p:sp>
        <p:nvSpPr>
          <p:cNvPr id="45"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6"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7" name="Text 5"/>
          <p:cNvSpPr/>
          <p:nvPr/>
        </p:nvSpPr>
        <p:spPr>
          <a:xfrm>
            <a:off x="777240" y="1417320"/>
            <a:ext cx="958680" cy="501480"/>
          </a:xfrm>
          <a:prstGeom prst="roundRect">
            <a:avLst>
              <a:gd name="adj" fmla="val 14545"/>
            </a:avLst>
          </a:prstGeom>
          <a:solidFill>
            <a:srgbClr val="2F7FD5"/>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FFFFFF"/>
                </a:solidFill>
                <a:effectLst/>
                <a:uFillTx/>
                <a:latin typeface="Aptos"/>
              </a:rPr>
              <a:t>3.1</a:t>
            </a:r>
            <a:endParaRPr lang="en-US" sz="1500" b="0" u="none" strike="noStrike">
              <a:solidFill>
                <a:srgbClr val="FFFFFF"/>
              </a:solidFill>
              <a:effectLst/>
              <a:uFillTx/>
              <a:latin typeface="Arial"/>
            </a:endParaRPr>
          </a:p>
        </p:txBody>
      </p:sp>
      <p:sp>
        <p:nvSpPr>
          <p:cNvPr id="48" name="Text 6"/>
          <p:cNvSpPr/>
          <p:nvPr/>
        </p:nvSpPr>
        <p:spPr>
          <a:xfrm>
            <a:off x="1965960" y="1398960"/>
            <a:ext cx="2741760" cy="25452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800" b="1" u="none" strike="noStrike">
                <a:solidFill>
                  <a:srgbClr val="102A4C"/>
                </a:solidFill>
                <a:effectLst/>
                <a:uFillTx/>
                <a:latin typeface="Aptos"/>
              </a:rPr>
              <a:t>Problem-solving agents</a:t>
            </a:r>
            <a:endParaRPr lang="en-US" sz="1800" b="0" u="none" strike="noStrike">
              <a:solidFill>
                <a:srgbClr val="000000"/>
              </a:solidFill>
              <a:effectLst/>
              <a:uFillTx/>
              <a:latin typeface="Arial"/>
            </a:endParaRPr>
          </a:p>
        </p:txBody>
      </p:sp>
      <p:sp>
        <p:nvSpPr>
          <p:cNvPr id="49" name="Text 7"/>
          <p:cNvSpPr/>
          <p:nvPr/>
        </p:nvSpPr>
        <p:spPr>
          <a:xfrm>
            <a:off x="1965960" y="1710000"/>
            <a:ext cx="8091000" cy="22716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5C6B80"/>
                </a:solidFill>
                <a:effectLst/>
                <a:uFillTx/>
                <a:latin typeface="Aptos"/>
              </a:rPr>
              <a:t>goal formulation, problem formulation, search, execution</a:t>
            </a:r>
            <a:endParaRPr lang="en-US" sz="1350" b="0" u="none" strike="noStrike">
              <a:solidFill>
                <a:srgbClr val="000000"/>
              </a:solidFill>
              <a:effectLst/>
              <a:uFillTx/>
              <a:latin typeface="Arial"/>
            </a:endParaRPr>
          </a:p>
        </p:txBody>
      </p:sp>
      <p:sp>
        <p:nvSpPr>
          <p:cNvPr id="50" name="Text 8"/>
          <p:cNvSpPr/>
          <p:nvPr/>
        </p:nvSpPr>
        <p:spPr>
          <a:xfrm>
            <a:off x="777240" y="2468880"/>
            <a:ext cx="958680" cy="501480"/>
          </a:xfrm>
          <a:prstGeom prst="roundRect">
            <a:avLst>
              <a:gd name="adj" fmla="val 14545"/>
            </a:avLst>
          </a:prstGeom>
          <a:solidFill>
            <a:srgbClr val="177245"/>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FFFFFF"/>
                </a:solidFill>
                <a:effectLst/>
                <a:uFillTx/>
                <a:latin typeface="Aptos"/>
              </a:rPr>
              <a:t>3.2</a:t>
            </a:r>
            <a:endParaRPr lang="en-US" sz="1500" b="0" u="none" strike="noStrike">
              <a:solidFill>
                <a:srgbClr val="FFFFFF"/>
              </a:solidFill>
              <a:effectLst/>
              <a:uFillTx/>
              <a:latin typeface="Arial"/>
            </a:endParaRPr>
          </a:p>
        </p:txBody>
      </p:sp>
      <p:sp>
        <p:nvSpPr>
          <p:cNvPr id="51" name="Text 9"/>
          <p:cNvSpPr/>
          <p:nvPr/>
        </p:nvSpPr>
        <p:spPr>
          <a:xfrm>
            <a:off x="1965960" y="2450520"/>
            <a:ext cx="2741760" cy="25452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800" b="1" u="none" strike="noStrike">
                <a:solidFill>
                  <a:srgbClr val="102A4C"/>
                </a:solidFill>
                <a:effectLst/>
                <a:uFillTx/>
                <a:latin typeface="Aptos"/>
              </a:rPr>
              <a:t>Example problems</a:t>
            </a:r>
            <a:endParaRPr lang="en-US" sz="1800" b="0" u="none" strike="noStrike">
              <a:solidFill>
                <a:srgbClr val="000000"/>
              </a:solidFill>
              <a:effectLst/>
              <a:uFillTx/>
              <a:latin typeface="Arial"/>
            </a:endParaRPr>
          </a:p>
        </p:txBody>
      </p:sp>
      <p:sp>
        <p:nvSpPr>
          <p:cNvPr id="52" name="Text 10"/>
          <p:cNvSpPr/>
          <p:nvPr/>
        </p:nvSpPr>
        <p:spPr>
          <a:xfrm>
            <a:off x="1965960" y="2761560"/>
            <a:ext cx="8091000" cy="22716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5C6B80"/>
                </a:solidFill>
                <a:effectLst/>
                <a:uFillTx/>
                <a:latin typeface="Aptos"/>
              </a:rPr>
              <a:t>grid worlds, puzzles, route-finding, TSP, VLSI, robot navigation</a:t>
            </a:r>
            <a:endParaRPr lang="en-US" sz="1350" b="0" u="none" strike="noStrike">
              <a:solidFill>
                <a:srgbClr val="000000"/>
              </a:solidFill>
              <a:effectLst/>
              <a:uFillTx/>
              <a:latin typeface="Arial"/>
            </a:endParaRPr>
          </a:p>
        </p:txBody>
      </p:sp>
      <p:sp>
        <p:nvSpPr>
          <p:cNvPr id="53" name="Text 11"/>
          <p:cNvSpPr/>
          <p:nvPr/>
        </p:nvSpPr>
        <p:spPr>
          <a:xfrm>
            <a:off x="777240" y="3520440"/>
            <a:ext cx="958680" cy="501480"/>
          </a:xfrm>
          <a:prstGeom prst="roundRect">
            <a:avLst>
              <a:gd name="adj" fmla="val 14545"/>
            </a:avLst>
          </a:prstGeom>
          <a:solidFill>
            <a:srgbClr val="743A6D"/>
          </a:solidFill>
          <a:ln w="15240">
            <a:solidFill>
              <a:srgbClr val="743A6D"/>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FFFFFF"/>
                </a:solidFill>
                <a:effectLst/>
                <a:uFillTx/>
                <a:latin typeface="Aptos"/>
              </a:rPr>
              <a:t>3.3</a:t>
            </a:r>
            <a:endParaRPr lang="en-US" sz="1500" b="0" u="none" strike="noStrike">
              <a:solidFill>
                <a:srgbClr val="FFFFFF"/>
              </a:solidFill>
              <a:effectLst/>
              <a:uFillTx/>
              <a:latin typeface="Arial"/>
            </a:endParaRPr>
          </a:p>
        </p:txBody>
      </p:sp>
      <p:sp>
        <p:nvSpPr>
          <p:cNvPr id="54" name="Text 12"/>
          <p:cNvSpPr/>
          <p:nvPr/>
        </p:nvSpPr>
        <p:spPr>
          <a:xfrm>
            <a:off x="1965960" y="3502080"/>
            <a:ext cx="2741760" cy="25452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800" b="1" u="none" strike="noStrike">
                <a:solidFill>
                  <a:srgbClr val="102A4C"/>
                </a:solidFill>
                <a:effectLst/>
                <a:uFillTx/>
                <a:latin typeface="Aptos"/>
              </a:rPr>
              <a:t>Search algorithms</a:t>
            </a:r>
            <a:endParaRPr lang="en-US" sz="1800" b="0" u="none" strike="noStrike">
              <a:solidFill>
                <a:srgbClr val="000000"/>
              </a:solidFill>
              <a:effectLst/>
              <a:uFillTx/>
              <a:latin typeface="Arial"/>
            </a:endParaRPr>
          </a:p>
        </p:txBody>
      </p:sp>
      <p:sp>
        <p:nvSpPr>
          <p:cNvPr id="55" name="Text 13"/>
          <p:cNvSpPr/>
          <p:nvPr/>
        </p:nvSpPr>
        <p:spPr>
          <a:xfrm>
            <a:off x="1965960" y="3813120"/>
            <a:ext cx="8091000" cy="22716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5C6B80"/>
                </a:solidFill>
                <a:effectLst/>
                <a:uFillTx/>
                <a:latin typeface="Aptos"/>
              </a:rPr>
              <a:t>state-space graph, search tree, frontier, reached table</a:t>
            </a:r>
            <a:endParaRPr lang="en-US" sz="1350" b="0" u="none" strike="noStrike">
              <a:solidFill>
                <a:srgbClr val="000000"/>
              </a:solidFill>
              <a:effectLst/>
              <a:uFillTx/>
              <a:latin typeface="Arial"/>
            </a:endParaRPr>
          </a:p>
        </p:txBody>
      </p:sp>
      <p:sp>
        <p:nvSpPr>
          <p:cNvPr id="56" name="Text 14"/>
          <p:cNvSpPr/>
          <p:nvPr/>
        </p:nvSpPr>
        <p:spPr>
          <a:xfrm>
            <a:off x="777240" y="4572000"/>
            <a:ext cx="958680" cy="501480"/>
          </a:xfrm>
          <a:prstGeom prst="roundRect">
            <a:avLst>
              <a:gd name="adj" fmla="val 14545"/>
            </a:avLst>
          </a:prstGeom>
          <a:solidFill>
            <a:srgbClr val="9B1C1C"/>
          </a:solidFill>
          <a:ln w="15240">
            <a:solidFill>
              <a:srgbClr val="9B1C1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FFFFFF"/>
                </a:solidFill>
                <a:effectLst/>
                <a:uFillTx/>
                <a:latin typeface="Aptos"/>
              </a:rPr>
              <a:t>3.4</a:t>
            </a:r>
            <a:endParaRPr lang="en-US" sz="1500" b="0" u="none" strike="noStrike">
              <a:solidFill>
                <a:srgbClr val="FFFFFF"/>
              </a:solidFill>
              <a:effectLst/>
              <a:uFillTx/>
              <a:latin typeface="Arial"/>
            </a:endParaRPr>
          </a:p>
        </p:txBody>
      </p:sp>
      <p:sp>
        <p:nvSpPr>
          <p:cNvPr id="57" name="Text 15"/>
          <p:cNvSpPr/>
          <p:nvPr/>
        </p:nvSpPr>
        <p:spPr>
          <a:xfrm>
            <a:off x="1965960" y="4553640"/>
            <a:ext cx="2741760" cy="25452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800" b="1" u="none" strike="noStrike">
                <a:solidFill>
                  <a:srgbClr val="102A4C"/>
                </a:solidFill>
                <a:effectLst/>
                <a:uFillTx/>
                <a:latin typeface="Aptos"/>
              </a:rPr>
              <a:t>Uninformed search</a:t>
            </a:r>
            <a:endParaRPr lang="en-US" sz="1800" b="0" u="none" strike="noStrike">
              <a:solidFill>
                <a:srgbClr val="000000"/>
              </a:solidFill>
              <a:effectLst/>
              <a:uFillTx/>
              <a:latin typeface="Arial"/>
            </a:endParaRPr>
          </a:p>
        </p:txBody>
      </p:sp>
      <p:sp>
        <p:nvSpPr>
          <p:cNvPr id="58" name="Text 16"/>
          <p:cNvSpPr/>
          <p:nvPr/>
        </p:nvSpPr>
        <p:spPr>
          <a:xfrm>
            <a:off x="1965960" y="4864680"/>
            <a:ext cx="8091000" cy="22716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5C6B80"/>
                </a:solidFill>
                <a:effectLst/>
                <a:uFillTx/>
                <a:latin typeface="Aptos"/>
              </a:rPr>
              <a:t>BFS, UCS, DFS, depth-limited, IDS, bidirectional search</a:t>
            </a:r>
            <a:endParaRPr lang="en-US" sz="1350" b="0" u="none" strike="noStrike">
              <a:solidFill>
                <a:srgbClr val="000000"/>
              </a:solidFill>
              <a:effectLst/>
              <a:uFillTx/>
              <a:latin typeface="Arial"/>
            </a:endParaRPr>
          </a:p>
        </p:txBody>
      </p:sp>
      <p:sp>
        <p:nvSpPr>
          <p:cNvPr id="59" name="Text 17"/>
          <p:cNvSpPr/>
          <p:nvPr/>
        </p:nvSpPr>
        <p:spPr>
          <a:xfrm>
            <a:off x="1005840" y="5623560"/>
            <a:ext cx="10056960" cy="3186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1" u="none" strike="noStrike">
                <a:solidFill>
                  <a:srgbClr val="9B1C1C"/>
                </a:solidFill>
                <a:effectLst/>
                <a:uFillTx/>
                <a:latin typeface="Aptos"/>
              </a:rPr>
              <a:t>Not today: heuristics, greedy best-first search, A*, consistency, admissibility.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60"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62"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Why Search? Agents That Look Ahead</a:t>
            </a:r>
            <a:endParaRPr lang="en-US" sz="2600" b="0" u="none" strike="noStrike">
              <a:solidFill>
                <a:srgbClr val="000000"/>
              </a:solidFill>
              <a:effectLst/>
              <a:uFillTx/>
              <a:latin typeface="Arial"/>
            </a:endParaRPr>
          </a:p>
        </p:txBody>
      </p:sp>
      <p:sp>
        <p:nvSpPr>
          <p:cNvPr id="63"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4"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5" name="Text 5"/>
          <p:cNvSpPr/>
          <p:nvPr/>
        </p:nvSpPr>
        <p:spPr>
          <a:xfrm>
            <a:off x="822960" y="1325880"/>
            <a:ext cx="10239840" cy="50148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2100" b="1" u="none" strike="noStrike">
                <a:solidFill>
                  <a:srgbClr val="102A4C"/>
                </a:solidFill>
                <a:effectLst/>
                <a:uFillTx/>
                <a:latin typeface="Aptos"/>
              </a:rPr>
              <a:t>A problem-solving agent is a goal-based agent that searches for a sequence of actions before acting.</a:t>
            </a:r>
            <a:endParaRPr lang="en-US" sz="2100" b="0" u="none" strike="noStrike">
              <a:solidFill>
                <a:srgbClr val="000000"/>
              </a:solidFill>
              <a:effectLst/>
              <a:uFillTx/>
              <a:latin typeface="Arial"/>
            </a:endParaRPr>
          </a:p>
        </p:txBody>
      </p:sp>
      <p:sp>
        <p:nvSpPr>
          <p:cNvPr id="66" name="Text 6"/>
          <p:cNvSpPr/>
          <p:nvPr/>
        </p:nvSpPr>
        <p:spPr>
          <a:xfrm>
            <a:off x="685800" y="2377440"/>
            <a:ext cx="1324440" cy="50148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Current state</a:t>
            </a:r>
            <a:endParaRPr lang="en-US" sz="1400" b="0" u="none" strike="noStrike">
              <a:solidFill>
                <a:srgbClr val="000000"/>
              </a:solidFill>
              <a:effectLst/>
              <a:uFillTx/>
              <a:latin typeface="Arial"/>
            </a:endParaRPr>
          </a:p>
        </p:txBody>
      </p:sp>
      <p:sp>
        <p:nvSpPr>
          <p:cNvPr id="67" name="Text 7"/>
          <p:cNvSpPr/>
          <p:nvPr/>
        </p:nvSpPr>
        <p:spPr>
          <a:xfrm>
            <a:off x="612720" y="2971800"/>
            <a:ext cx="1461600" cy="3186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120" b="0" u="none" strike="noStrike">
                <a:solidFill>
                  <a:srgbClr val="5C6B80"/>
                </a:solidFill>
                <a:effectLst/>
                <a:uFillTx/>
                <a:latin typeface="Aptos"/>
              </a:rPr>
              <a:t>What is true now?</a:t>
            </a:r>
            <a:endParaRPr lang="en-US" sz="1120" b="0" u="none" strike="noStrike">
              <a:solidFill>
                <a:srgbClr val="000000"/>
              </a:solidFill>
              <a:effectLst/>
              <a:uFillTx/>
              <a:latin typeface="Arial"/>
            </a:endParaRPr>
          </a:p>
        </p:txBody>
      </p:sp>
      <p:sp>
        <p:nvSpPr>
          <p:cNvPr id="68" name="Shape 8"/>
          <p:cNvSpPr/>
          <p:nvPr/>
        </p:nvSpPr>
        <p:spPr>
          <a:xfrm>
            <a:off x="2011680" y="2633400"/>
            <a:ext cx="941760" cy="360"/>
          </a:xfrm>
          <a:prstGeom prst="line">
            <a:avLst/>
          </a:prstGeom>
          <a:ln w="2794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9" name="Text 9"/>
          <p:cNvSpPr/>
          <p:nvPr/>
        </p:nvSpPr>
        <p:spPr>
          <a:xfrm>
            <a:off x="2953440" y="2377440"/>
            <a:ext cx="1324440" cy="501480"/>
          </a:xfrm>
          <a:prstGeom prst="roundRect">
            <a:avLst>
              <a:gd name="adj" fmla="val 1454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Actions</a:t>
            </a:r>
            <a:endParaRPr lang="en-US" sz="1400" b="0" u="none" strike="noStrike">
              <a:solidFill>
                <a:srgbClr val="000000"/>
              </a:solidFill>
              <a:effectLst/>
              <a:uFillTx/>
              <a:latin typeface="Arial"/>
            </a:endParaRPr>
          </a:p>
        </p:txBody>
      </p:sp>
      <p:sp>
        <p:nvSpPr>
          <p:cNvPr id="70" name="Text 10"/>
          <p:cNvSpPr/>
          <p:nvPr/>
        </p:nvSpPr>
        <p:spPr>
          <a:xfrm>
            <a:off x="2880360" y="2971800"/>
            <a:ext cx="1461600" cy="3186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120" b="0" u="none" strike="noStrike">
                <a:solidFill>
                  <a:srgbClr val="5C6B80"/>
                </a:solidFill>
                <a:effectLst/>
                <a:uFillTx/>
                <a:latin typeface="Aptos"/>
              </a:rPr>
              <a:t>What can I do?</a:t>
            </a:r>
            <a:endParaRPr lang="en-US" sz="1120" b="0" u="none" strike="noStrike">
              <a:solidFill>
                <a:srgbClr val="000000"/>
              </a:solidFill>
              <a:effectLst/>
              <a:uFillTx/>
              <a:latin typeface="Arial"/>
            </a:endParaRPr>
          </a:p>
        </p:txBody>
      </p:sp>
      <p:sp>
        <p:nvSpPr>
          <p:cNvPr id="71" name="Shape 11"/>
          <p:cNvSpPr/>
          <p:nvPr/>
        </p:nvSpPr>
        <p:spPr>
          <a:xfrm>
            <a:off x="4279320" y="2633400"/>
            <a:ext cx="941760" cy="360"/>
          </a:xfrm>
          <a:prstGeom prst="line">
            <a:avLst/>
          </a:prstGeom>
          <a:ln w="2794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2" name="Text 12"/>
          <p:cNvSpPr/>
          <p:nvPr/>
        </p:nvSpPr>
        <p:spPr>
          <a:xfrm>
            <a:off x="5221080" y="2377440"/>
            <a:ext cx="1324440" cy="501480"/>
          </a:xfrm>
          <a:prstGeom prst="roundRect">
            <a:avLst>
              <a:gd name="adj" fmla="val 1454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Futures</a:t>
            </a:r>
            <a:endParaRPr lang="en-US" sz="1400" b="0" u="none" strike="noStrike">
              <a:solidFill>
                <a:srgbClr val="000000"/>
              </a:solidFill>
              <a:effectLst/>
              <a:uFillTx/>
              <a:latin typeface="Arial"/>
            </a:endParaRPr>
          </a:p>
        </p:txBody>
      </p:sp>
      <p:sp>
        <p:nvSpPr>
          <p:cNvPr id="73" name="Text 13"/>
          <p:cNvSpPr/>
          <p:nvPr/>
        </p:nvSpPr>
        <p:spPr>
          <a:xfrm>
            <a:off x="5148000" y="2971800"/>
            <a:ext cx="1461600" cy="3186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120" b="0" u="none" strike="noStrike">
                <a:solidFill>
                  <a:srgbClr val="5C6B80"/>
                </a:solidFill>
                <a:effectLst/>
                <a:uFillTx/>
                <a:latin typeface="Aptos"/>
              </a:rPr>
              <a:t>What would happen?</a:t>
            </a:r>
            <a:endParaRPr lang="en-US" sz="1120" b="0" u="none" strike="noStrike">
              <a:solidFill>
                <a:srgbClr val="000000"/>
              </a:solidFill>
              <a:effectLst/>
              <a:uFillTx/>
              <a:latin typeface="Arial"/>
            </a:endParaRPr>
          </a:p>
        </p:txBody>
      </p:sp>
      <p:sp>
        <p:nvSpPr>
          <p:cNvPr id="74" name="Shape 14"/>
          <p:cNvSpPr/>
          <p:nvPr/>
        </p:nvSpPr>
        <p:spPr>
          <a:xfrm>
            <a:off x="6546960" y="2633400"/>
            <a:ext cx="941760" cy="360"/>
          </a:xfrm>
          <a:prstGeom prst="line">
            <a:avLst/>
          </a:prstGeom>
          <a:ln w="2794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5" name="Text 15"/>
          <p:cNvSpPr/>
          <p:nvPr/>
        </p:nvSpPr>
        <p:spPr>
          <a:xfrm>
            <a:off x="7489080" y="2377440"/>
            <a:ext cx="1324440" cy="501480"/>
          </a:xfrm>
          <a:prstGeom prst="roundRect">
            <a:avLst>
              <a:gd name="adj" fmla="val 14545"/>
            </a:avLst>
          </a:prstGeom>
          <a:solidFill>
            <a:srgbClr val="DBF1E3"/>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Goal</a:t>
            </a:r>
            <a:endParaRPr lang="en-US" sz="1400" b="0" u="none" strike="noStrike">
              <a:solidFill>
                <a:srgbClr val="000000"/>
              </a:solidFill>
              <a:effectLst/>
              <a:uFillTx/>
              <a:latin typeface="Arial"/>
            </a:endParaRPr>
          </a:p>
        </p:txBody>
      </p:sp>
      <p:sp>
        <p:nvSpPr>
          <p:cNvPr id="76" name="Text 16"/>
          <p:cNvSpPr/>
          <p:nvPr/>
        </p:nvSpPr>
        <p:spPr>
          <a:xfrm>
            <a:off x="7415640" y="2971800"/>
            <a:ext cx="1461600" cy="3186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120" b="0" u="none" strike="noStrike">
                <a:solidFill>
                  <a:srgbClr val="5C6B80"/>
                </a:solidFill>
                <a:effectLst/>
                <a:uFillTx/>
                <a:latin typeface="Aptos"/>
              </a:rPr>
              <a:t>Did I get there?</a:t>
            </a:r>
            <a:endParaRPr lang="en-US" sz="1120" b="0" u="none" strike="noStrike">
              <a:solidFill>
                <a:srgbClr val="000000"/>
              </a:solidFill>
              <a:effectLst/>
              <a:uFillTx/>
              <a:latin typeface="Arial"/>
            </a:endParaRPr>
          </a:p>
        </p:txBody>
      </p:sp>
      <p:sp>
        <p:nvSpPr>
          <p:cNvPr id="77" name="Shape 17"/>
          <p:cNvSpPr/>
          <p:nvPr/>
        </p:nvSpPr>
        <p:spPr>
          <a:xfrm>
            <a:off x="8814600" y="2633400"/>
            <a:ext cx="941760" cy="360"/>
          </a:xfrm>
          <a:prstGeom prst="line">
            <a:avLst/>
          </a:prstGeom>
          <a:ln w="2794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8" name="Text 18"/>
          <p:cNvSpPr/>
          <p:nvPr/>
        </p:nvSpPr>
        <p:spPr>
          <a:xfrm>
            <a:off x="9756720" y="2377440"/>
            <a:ext cx="1324440" cy="501480"/>
          </a:xfrm>
          <a:prstGeom prst="roundRect">
            <a:avLst>
              <a:gd name="adj" fmla="val 1454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Plan</a:t>
            </a:r>
            <a:endParaRPr lang="en-US" sz="1400" b="0" u="none" strike="noStrike">
              <a:solidFill>
                <a:srgbClr val="000000"/>
              </a:solidFill>
              <a:effectLst/>
              <a:uFillTx/>
              <a:latin typeface="Arial"/>
            </a:endParaRPr>
          </a:p>
        </p:txBody>
      </p:sp>
      <p:sp>
        <p:nvSpPr>
          <p:cNvPr id="79" name="Text 19"/>
          <p:cNvSpPr/>
          <p:nvPr/>
        </p:nvSpPr>
        <p:spPr>
          <a:xfrm>
            <a:off x="9683640" y="2971800"/>
            <a:ext cx="1461600" cy="318600"/>
          </a:xfrm>
          <a:prstGeom prst="rect">
            <a:avLst/>
          </a:prstGeom>
          <a:noFill/>
          <a:ln w="0">
            <a:noFill/>
          </a:ln>
        </p:spPr>
        <p:style>
          <a:lnRef idx="0"/>
          <a:fillRef idx="0"/>
          <a:effectRef idx="0"/>
          <a:fontRef idx="minor"/>
        </p:style>
        <p:txBody>
          <a:bodyPr lIns="720" tIns="720" rIns="720" bIns="720" anchor="ctr">
            <a:normAutofit lnSpcReduction="9999"/>
          </a:bodyPr>
          <a:p>
            <a:pPr algn="ctr" defTabSz="914400">
              <a:lnSpc>
                <a:spcPct val="100000"/>
              </a:lnSpc>
              <a:tabLst>
                <a:tab pos="0" algn="l"/>
              </a:tabLst>
            </a:pPr>
            <a:r>
              <a:rPr lang="en-US" sz="1120" b="0" u="none" strike="noStrike">
                <a:solidFill>
                  <a:srgbClr val="5C6B80"/>
                </a:solidFill>
                <a:effectLst/>
                <a:uFillTx/>
                <a:latin typeface="Aptos"/>
              </a:rPr>
              <a:t>What sequence works?</a:t>
            </a:r>
            <a:endParaRPr lang="en-US" sz="1120" b="0" u="none" strike="noStrike">
              <a:solidFill>
                <a:srgbClr val="000000"/>
              </a:solidFill>
              <a:effectLst/>
              <a:uFillTx/>
              <a:latin typeface="Arial"/>
            </a:endParaRPr>
          </a:p>
        </p:txBody>
      </p:sp>
      <p:sp>
        <p:nvSpPr>
          <p:cNvPr id="80" name="Text 20"/>
          <p:cNvSpPr/>
          <p:nvPr/>
        </p:nvSpPr>
        <p:spPr>
          <a:xfrm>
            <a:off x="1097280" y="4251960"/>
            <a:ext cx="9874080" cy="41004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900" b="1" u="none" strike="noStrike">
                <a:solidFill>
                  <a:srgbClr val="112E5C"/>
                </a:solidFill>
                <a:effectLst/>
                <a:uFillTx/>
                <a:latin typeface="Aptos"/>
              </a:rPr>
              <a:t>Search happens in the model, not by physically trying every action in the real world.</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81"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2"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3"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Reflex Agents vs. Planning Agents</a:t>
            </a:r>
            <a:endParaRPr lang="en-US" sz="2600" b="0" u="none" strike="noStrike">
              <a:solidFill>
                <a:srgbClr val="000000"/>
              </a:solidFill>
              <a:effectLst/>
              <a:uFillTx/>
              <a:latin typeface="Arial"/>
            </a:endParaRPr>
          </a:p>
        </p:txBody>
      </p:sp>
      <p:sp>
        <p:nvSpPr>
          <p:cNvPr id="84"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5"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6" name="Rounded Rectangle 6"/>
          <p:cNvSpPr/>
          <p:nvPr/>
        </p:nvSpPr>
        <p:spPr>
          <a:xfrm>
            <a:off x="777240" y="1417320"/>
            <a:ext cx="5027760" cy="474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00" b="1" u="none" strike="noStrike">
                <a:solidFill>
                  <a:srgbClr val="112E5C"/>
                </a:solidFill>
                <a:effectLst/>
                <a:uFillTx/>
                <a:latin typeface="Aptos"/>
              </a:rPr>
              <a:t>Reflex agent</a:t>
            </a:r>
            <a:endParaRPr lang="en-US" sz="1500" b="0" u="none" strike="noStrike">
              <a:solidFill>
                <a:srgbClr val="000000"/>
              </a:solidFill>
              <a:effectLst/>
              <a:uFillTx/>
              <a:latin typeface="Arial"/>
            </a:endParaRPr>
          </a:p>
        </p:txBody>
      </p:sp>
      <p:sp>
        <p:nvSpPr>
          <p:cNvPr id="87" name="Rounded Rectangle 7"/>
          <p:cNvSpPr/>
          <p:nvPr/>
        </p:nvSpPr>
        <p:spPr>
          <a:xfrm>
            <a:off x="6385680" y="1417320"/>
            <a:ext cx="5027760" cy="474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00" b="1" u="none" strike="noStrike">
                <a:solidFill>
                  <a:srgbClr val="112E5C"/>
                </a:solidFill>
                <a:effectLst/>
                <a:uFillTx/>
                <a:latin typeface="Aptos"/>
              </a:rPr>
              <a:t>Planning agent</a:t>
            </a:r>
            <a:endParaRPr lang="en-US" sz="1500" b="0" u="none" strike="noStrike">
              <a:solidFill>
                <a:srgbClr val="000000"/>
              </a:solidFill>
              <a:effectLst/>
              <a:uFillTx/>
              <a:latin typeface="Arial"/>
            </a:endParaRPr>
          </a:p>
        </p:txBody>
      </p:sp>
      <p:sp>
        <p:nvSpPr>
          <p:cNvPr id="88" name="Rounded Rectangle 8"/>
          <p:cNvSpPr/>
          <p:nvPr/>
        </p:nvSpPr>
        <p:spPr>
          <a:xfrm>
            <a:off x="777240" y="2011680"/>
            <a:ext cx="5027760" cy="18730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9" name="Rounded Rectangle 9"/>
          <p:cNvSpPr/>
          <p:nvPr/>
        </p:nvSpPr>
        <p:spPr>
          <a:xfrm>
            <a:off x="6385680" y="2011680"/>
            <a:ext cx="5027760" cy="18730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90" name="Rectangle 10"/>
          <p:cNvSpPr/>
          <p:nvPr/>
        </p:nvSpPr>
        <p:spPr>
          <a:xfrm>
            <a:off x="1005840" y="2194560"/>
            <a:ext cx="4570560" cy="1415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50" b="0" u="none" strike="noStrike">
                <a:solidFill>
                  <a:srgbClr val="102A4C"/>
                </a:solidFill>
                <a:effectLst/>
                <a:uFillTx/>
                <a:latin typeface="Aptos"/>
              </a:rPr>
              <a:t>•  Selects an action from the current percept, plus memory at most</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May hold a model of the world's current state</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Does not evaluate the consequences of its actions</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Fast, shallow, and easy to fool</a:t>
            </a:r>
            <a:endParaRPr lang="en-US" sz="1350" b="0" u="none" strike="noStrike">
              <a:solidFill>
                <a:srgbClr val="000000"/>
              </a:solidFill>
              <a:effectLst/>
              <a:uFillTx/>
              <a:latin typeface="Arial"/>
            </a:endParaRPr>
          </a:p>
        </p:txBody>
      </p:sp>
      <p:sp>
        <p:nvSpPr>
          <p:cNvPr id="91" name="Rectangle 11"/>
          <p:cNvSpPr/>
          <p:nvPr/>
        </p:nvSpPr>
        <p:spPr>
          <a:xfrm>
            <a:off x="6614280" y="2194560"/>
            <a:ext cx="4570560" cy="1415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50" b="0" u="none" strike="noStrike">
                <a:solidFill>
                  <a:srgbClr val="102A4C"/>
                </a:solidFill>
                <a:effectLst/>
                <a:uFillTx/>
                <a:latin typeface="Aptos"/>
              </a:rPr>
              <a:t>•  Asks “what if” before committing to anything</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Decides from the hypothesized consequences of action sequences</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Requires a transition model and an explicit goal test</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Slower, but can reason about futures it has never seen</a:t>
            </a:r>
            <a:endParaRPr lang="en-US" sz="1350" b="0" u="none" strike="noStrike">
              <a:solidFill>
                <a:srgbClr val="000000"/>
              </a:solidFill>
              <a:effectLst/>
              <a:uFillTx/>
              <a:latin typeface="Arial"/>
            </a:endParaRPr>
          </a:p>
        </p:txBody>
      </p:sp>
      <p:sp>
        <p:nvSpPr>
          <p:cNvPr id="92" name="Rectangle 12"/>
          <p:cNvSpPr/>
          <p:nvPr/>
        </p:nvSpPr>
        <p:spPr>
          <a:xfrm>
            <a:off x="777240" y="4023360"/>
            <a:ext cx="502776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600" b="1" u="none" strike="noStrike">
                <a:solidFill>
                  <a:srgbClr val="9B1C1C"/>
                </a:solidFill>
                <a:effectLst/>
                <a:uFillTx/>
                <a:latin typeface="Aptos"/>
              </a:rPr>
              <a:t>Considers how the world IS</a:t>
            </a:r>
            <a:endParaRPr lang="en-US" sz="1600" b="0" u="none" strike="noStrike">
              <a:solidFill>
                <a:srgbClr val="000000"/>
              </a:solidFill>
              <a:effectLst/>
              <a:uFillTx/>
              <a:latin typeface="Arial"/>
            </a:endParaRPr>
          </a:p>
        </p:txBody>
      </p:sp>
      <p:sp>
        <p:nvSpPr>
          <p:cNvPr id="93" name="Rectangle 13"/>
          <p:cNvSpPr/>
          <p:nvPr/>
        </p:nvSpPr>
        <p:spPr>
          <a:xfrm>
            <a:off x="6385680" y="4023360"/>
            <a:ext cx="502776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600" b="1" u="none" strike="noStrike">
                <a:solidFill>
                  <a:srgbClr val="9B1C1C"/>
                </a:solidFill>
                <a:effectLst/>
                <a:uFillTx/>
                <a:latin typeface="Aptos"/>
              </a:rPr>
              <a:t>Considers how the world WOULD BE</a:t>
            </a:r>
            <a:endParaRPr lang="en-US" sz="1600" b="0" u="none" strike="noStrike">
              <a:solidFill>
                <a:srgbClr val="000000"/>
              </a:solidFill>
              <a:effectLst/>
              <a:uFillTx/>
              <a:latin typeface="Arial"/>
            </a:endParaRPr>
          </a:p>
        </p:txBody>
      </p:sp>
      <p:sp>
        <p:nvSpPr>
          <p:cNvPr id="94" name="Rectangle 14"/>
          <p:cNvSpPr/>
          <p:nvPr/>
        </p:nvSpPr>
        <p:spPr>
          <a:xfrm>
            <a:off x="914400" y="45262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Chapter 3 agents use atomic state representations: a state is a whole, with no internal structure visible to the algorithm.</a:t>
            </a:r>
            <a:endParaRPr lang="en-US" sz="1700" b="0" u="none" strike="noStrike">
              <a:solidFill>
                <a:srgbClr val="000000"/>
              </a:solidFill>
              <a:effectLst/>
              <a:uFillTx/>
              <a:latin typeface="Arial"/>
            </a:endParaRPr>
          </a:p>
        </p:txBody>
      </p:sp>
      <p:sp>
        <p:nvSpPr>
          <p:cNvPr id="95" name="Rectangle 15"/>
          <p:cNvSpPr/>
          <p:nvPr/>
        </p:nvSpPr>
        <p:spPr>
          <a:xfrm>
            <a:off x="914400" y="493776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400" b="0" u="none" strike="noStrike">
                <a:solidFill>
                  <a:srgbClr val="5C6B80"/>
                </a:solidFill>
                <a:effectLst/>
                <a:uFillTx/>
                <a:latin typeface="Aptos"/>
              </a:rPr>
              <a:t>Agents that use factored or structured states are planning agents (Chapters 7 and 11).</a:t>
            </a:r>
            <a:endParaRPr lang="en-US" sz="1400" b="0" u="none" strike="noStrike">
              <a:solidFill>
                <a:srgbClr val="000000"/>
              </a:solidFill>
              <a:effectLst/>
              <a:uFillTx/>
              <a:latin typeface="Arial"/>
            </a:endParaRPr>
          </a:p>
        </p:txBody>
      </p:sp>
      <p:sp>
        <p:nvSpPr>
          <p:cNvPr id="96" name="Rounded Rectangle 16"/>
          <p:cNvSpPr/>
          <p:nvPr/>
        </p:nvSpPr>
        <p:spPr>
          <a:xfrm>
            <a:off x="914400" y="5486400"/>
            <a:ext cx="10422720" cy="501480"/>
          </a:xfrm>
          <a:prstGeom prst="roundRect">
            <a:avLst>
              <a:gd name="adj" fmla="val 11000"/>
            </a:avLst>
          </a:prstGeom>
          <a:solidFill>
            <a:srgbClr val="FFE5B6"/>
          </a:solidFill>
          <a:ln w="1524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00" b="1" u="none" strike="noStrike">
                <a:solidFill>
                  <a:srgbClr val="112E5C"/>
                </a:solidFill>
                <a:effectLst/>
                <a:uFillTx/>
                <a:latin typeface="Aptos"/>
              </a:rPr>
              <a:t>Discussion: can a reflex agent ever be rational? Under what conditions does looking ahead buy you nothing?</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7" name="Shape 401"/>
          <p:cNvSpPr/>
          <p:nvPr/>
        </p:nvSpPr>
        <p:spPr>
          <a:xfrm>
            <a:off x="228600" y="228600"/>
            <a:ext cx="11748600" cy="748440"/>
          </a:xfrm>
          <a:prstGeom prst="rect">
            <a:avLst/>
          </a:prstGeom>
          <a:solidFill>
            <a:srgbClr val="112E5C"/>
          </a:solidFill>
          <a:ln w="15240">
            <a:solidFill>
              <a:srgbClr val="112E5C"/>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98" name="Shape 402"/>
          <p:cNvSpPr/>
          <p:nvPr/>
        </p:nvSpPr>
        <p:spPr>
          <a:xfrm>
            <a:off x="228600" y="978480"/>
            <a:ext cx="11748600" cy="62640"/>
          </a:xfrm>
          <a:prstGeom prst="rect">
            <a:avLst/>
          </a:prstGeom>
          <a:solidFill>
            <a:srgbClr val="F6A01A"/>
          </a:solidFill>
          <a:ln w="15240">
            <a:solidFill>
              <a:srgbClr val="F6A01A"/>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99" name="Text 403"/>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Why Reflex Agents Fail: The Nearest-Dot Trap</a:t>
            </a:r>
            <a:endParaRPr lang="en-US" sz="2600" b="0" u="none" strike="noStrike">
              <a:solidFill>
                <a:srgbClr val="000000"/>
              </a:solidFill>
              <a:effectLst/>
              <a:uFillTx/>
              <a:latin typeface="Arial"/>
            </a:endParaRPr>
          </a:p>
        </p:txBody>
      </p:sp>
      <p:sp>
        <p:nvSpPr>
          <p:cNvPr id="100" name="Text 40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1" name="Text 405"/>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rm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02" name="Text 406"/>
          <p:cNvSpPr/>
          <p:nvPr/>
        </p:nvSpPr>
        <p:spPr>
          <a:xfrm>
            <a:off x="822960" y="1508760"/>
            <a:ext cx="5027760" cy="528840"/>
          </a:xfrm>
          <a:prstGeom prst="roundRect">
            <a:avLst>
              <a:gd name="adj" fmla="val 13793"/>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177245"/>
                </a:solidFill>
                <a:effectLst/>
                <a:uFillTx/>
                <a:latin typeface="Aptos"/>
              </a:rPr>
              <a:t>Open maze — the rule works</a:t>
            </a:r>
            <a:endParaRPr lang="en-US" sz="1700" b="0" u="none" strike="noStrike">
              <a:solidFill>
                <a:srgbClr val="000000"/>
              </a:solidFill>
              <a:effectLst/>
              <a:uFillTx/>
              <a:latin typeface="Arial"/>
            </a:endParaRPr>
          </a:p>
        </p:txBody>
      </p:sp>
      <p:sp>
        <p:nvSpPr>
          <p:cNvPr id="103" name="Text 407"/>
          <p:cNvSpPr/>
          <p:nvPr/>
        </p:nvSpPr>
        <p:spPr>
          <a:xfrm>
            <a:off x="6400800" y="1508760"/>
            <a:ext cx="5027760" cy="528840"/>
          </a:xfrm>
          <a:prstGeom prst="roundRect">
            <a:avLst>
              <a:gd name="adj" fmla="val 13793"/>
            </a:avLst>
          </a:prstGeom>
          <a:solidFill>
            <a:srgbClr val="F2A0A0"/>
          </a:solidFill>
          <a:ln w="15240">
            <a:solidFill>
              <a:srgbClr val="9B1C1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9B1C1C"/>
                </a:solidFill>
                <a:effectLst/>
                <a:uFillTx/>
                <a:latin typeface="Aptos"/>
              </a:rPr>
              <a:t>Wall in the way — the rule stalls</a:t>
            </a:r>
            <a:endParaRPr lang="en-US" sz="1700" b="0" u="none" strike="noStrike">
              <a:solidFill>
                <a:srgbClr val="000000"/>
              </a:solidFill>
              <a:effectLst/>
              <a:uFillTx/>
              <a:latin typeface="Arial"/>
            </a:endParaRPr>
          </a:p>
        </p:txBody>
      </p:sp>
      <p:sp>
        <p:nvSpPr>
          <p:cNvPr id="104" name="Shape 408"/>
          <p:cNvSpPr/>
          <p:nvPr/>
        </p:nvSpPr>
        <p:spPr>
          <a:xfrm>
            <a:off x="1051560" y="2160000"/>
            <a:ext cx="4570560" cy="1328760"/>
          </a:xfrm>
          <a:prstGeom prst="roundRect">
            <a:avLst>
              <a:gd name="adj" fmla="val 6000"/>
            </a:avLst>
          </a:prstGeom>
          <a:solidFill>
            <a:srgbClr val="FFFFFF"/>
          </a:solidFill>
          <a:ln w="15240">
            <a:solidFill>
              <a:srgbClr val="D8DEE8"/>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05" name="Text 409"/>
          <p:cNvSpPr/>
          <p:nvPr/>
        </p:nvSpPr>
        <p:spPr>
          <a:xfrm>
            <a:off x="1581840" y="2655000"/>
            <a:ext cx="338760" cy="338760"/>
          </a:xfrm>
          <a:prstGeom prst="ellipse">
            <a:avLst/>
          </a:prstGeom>
          <a:solidFill>
            <a:srgbClr val="F6A01A"/>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1400" b="1" u="none" strike="noStrike">
                <a:solidFill>
                  <a:srgbClr val="112E5C"/>
                </a:solidFill>
                <a:effectLst/>
                <a:uFillTx/>
                <a:latin typeface="Aptos"/>
              </a:rPr>
              <a:t>P</a:t>
            </a:r>
            <a:endParaRPr lang="en-US" sz="1400" b="0" u="none" strike="noStrike">
              <a:solidFill>
                <a:srgbClr val="000000"/>
              </a:solidFill>
              <a:effectLst/>
              <a:uFillTx/>
              <a:latin typeface="Arial"/>
            </a:endParaRPr>
          </a:p>
        </p:txBody>
      </p:sp>
      <p:sp>
        <p:nvSpPr>
          <p:cNvPr id="106" name="Shape 410"/>
          <p:cNvSpPr/>
          <p:nvPr/>
        </p:nvSpPr>
        <p:spPr>
          <a:xfrm>
            <a:off x="2031840" y="2724840"/>
            <a:ext cx="2598840" cy="199080"/>
          </a:xfrm>
          <a:prstGeom prst="rightArrow">
            <a:avLst>
              <a:gd name="adj1" fmla="val 50000"/>
              <a:gd name="adj2" fmla="val 45000"/>
            </a:avLst>
          </a:prstGeom>
          <a:solidFill>
            <a:srgbClr val="2F7FD5"/>
          </a:solidFill>
          <a:ln w="15240">
            <a:solidFill>
              <a:srgbClr val="2F7FD5"/>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07" name="Shape 411"/>
          <p:cNvSpPr/>
          <p:nvPr/>
        </p:nvSpPr>
        <p:spPr>
          <a:xfrm>
            <a:off x="4932000" y="2745000"/>
            <a:ext cx="158760" cy="158760"/>
          </a:xfrm>
          <a:prstGeom prst="ellipse">
            <a:avLst/>
          </a:prstGeom>
          <a:solidFill>
            <a:srgbClr val="F6A01A"/>
          </a:solidFill>
          <a:ln w="15240">
            <a:solidFill>
              <a:srgbClr val="112E5C"/>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08" name="Text 412"/>
          <p:cNvSpPr/>
          <p:nvPr/>
        </p:nvSpPr>
        <p:spPr>
          <a:xfrm>
            <a:off x="1051560" y="3150000"/>
            <a:ext cx="4570560" cy="2588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200" b="0" u="none" strike="noStrike">
                <a:solidFill>
                  <a:srgbClr val="5C6B80"/>
                </a:solidFill>
                <a:effectLst/>
                <a:uFillTx/>
                <a:latin typeface="Aptos"/>
              </a:rPr>
              <a:t>every step shortens the distance to the dot</a:t>
            </a:r>
            <a:endParaRPr lang="en-US" sz="1200" b="0" u="none" strike="noStrike">
              <a:solidFill>
                <a:srgbClr val="000000"/>
              </a:solidFill>
              <a:effectLst/>
              <a:uFillTx/>
              <a:latin typeface="Arial"/>
            </a:endParaRPr>
          </a:p>
        </p:txBody>
      </p:sp>
      <p:sp>
        <p:nvSpPr>
          <p:cNvPr id="109" name="Shape 413"/>
          <p:cNvSpPr/>
          <p:nvPr/>
        </p:nvSpPr>
        <p:spPr>
          <a:xfrm>
            <a:off x="6629400" y="2160000"/>
            <a:ext cx="4570560" cy="1328760"/>
          </a:xfrm>
          <a:prstGeom prst="roundRect">
            <a:avLst>
              <a:gd name="adj" fmla="val 6000"/>
            </a:avLst>
          </a:prstGeom>
          <a:solidFill>
            <a:srgbClr val="FFFFFF"/>
          </a:solidFill>
          <a:ln w="15240">
            <a:solidFill>
              <a:srgbClr val="D8DEE8"/>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10" name="Text 414"/>
          <p:cNvSpPr/>
          <p:nvPr/>
        </p:nvSpPr>
        <p:spPr>
          <a:xfrm>
            <a:off x="7684920" y="2655000"/>
            <a:ext cx="338760" cy="338760"/>
          </a:xfrm>
          <a:prstGeom prst="ellipse">
            <a:avLst/>
          </a:prstGeom>
          <a:solidFill>
            <a:srgbClr val="F6A01A"/>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1400" b="1" u="none" strike="noStrike">
                <a:solidFill>
                  <a:srgbClr val="112E5C"/>
                </a:solidFill>
                <a:effectLst/>
                <a:uFillTx/>
                <a:latin typeface="Aptos"/>
              </a:rPr>
              <a:t>P</a:t>
            </a:r>
            <a:endParaRPr lang="en-US" sz="1400" b="0" u="none" strike="noStrike">
              <a:solidFill>
                <a:srgbClr val="000000"/>
              </a:solidFill>
              <a:effectLst/>
              <a:uFillTx/>
              <a:latin typeface="Arial"/>
            </a:endParaRPr>
          </a:p>
        </p:txBody>
      </p:sp>
      <p:sp>
        <p:nvSpPr>
          <p:cNvPr id="111" name="Shape 415"/>
          <p:cNvSpPr/>
          <p:nvPr/>
        </p:nvSpPr>
        <p:spPr>
          <a:xfrm>
            <a:off x="8134920" y="2724840"/>
            <a:ext cx="599040" cy="199080"/>
          </a:xfrm>
          <a:prstGeom prst="rightArrow">
            <a:avLst>
              <a:gd name="adj1" fmla="val 50000"/>
              <a:gd name="adj2" fmla="val 40000"/>
            </a:avLst>
          </a:prstGeom>
          <a:solidFill>
            <a:srgbClr val="9B1C1C"/>
          </a:solidFill>
          <a:ln w="15240">
            <a:solidFill>
              <a:srgbClr val="9B1C1C"/>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12" name="Shape 416"/>
          <p:cNvSpPr/>
          <p:nvPr/>
        </p:nvSpPr>
        <p:spPr>
          <a:xfrm>
            <a:off x="8835120" y="2450160"/>
            <a:ext cx="149040" cy="658800"/>
          </a:xfrm>
          <a:prstGeom prst="rect">
            <a:avLst/>
          </a:prstGeom>
          <a:solidFill>
            <a:srgbClr val="5C6B80"/>
          </a:solidFill>
          <a:ln w="15240">
            <a:solidFill>
              <a:srgbClr val="112E5C"/>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13" name="Shape 417"/>
          <p:cNvSpPr/>
          <p:nvPr/>
        </p:nvSpPr>
        <p:spPr>
          <a:xfrm>
            <a:off x="9984960" y="2745000"/>
            <a:ext cx="158760" cy="158760"/>
          </a:xfrm>
          <a:prstGeom prst="ellipse">
            <a:avLst/>
          </a:prstGeom>
          <a:solidFill>
            <a:srgbClr val="F6A01A"/>
          </a:solidFill>
          <a:ln w="15240">
            <a:solidFill>
              <a:srgbClr val="112E5C"/>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14" name="Text 418"/>
          <p:cNvSpPr/>
          <p:nvPr/>
        </p:nvSpPr>
        <p:spPr>
          <a:xfrm>
            <a:off x="6629400" y="3200040"/>
            <a:ext cx="4570560" cy="2588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200" b="0" u="none" strike="noStrike">
                <a:solidFill>
                  <a:srgbClr val="5C6B80"/>
                </a:solidFill>
                <a:effectLst/>
                <a:uFillTx/>
                <a:latin typeface="Aptos"/>
              </a:rPr>
              <a:t>the distance never changes, so neither does the move</a:t>
            </a:r>
            <a:endParaRPr lang="en-US" sz="1200" b="0" u="none" strike="noStrike">
              <a:solidFill>
                <a:srgbClr val="000000"/>
              </a:solidFill>
              <a:effectLst/>
              <a:uFillTx/>
              <a:latin typeface="Arial"/>
            </a:endParaRPr>
          </a:p>
        </p:txBody>
      </p:sp>
      <p:sp>
        <p:nvSpPr>
          <p:cNvPr id="115" name="Text 419"/>
          <p:cNvSpPr/>
          <p:nvPr/>
        </p:nvSpPr>
        <p:spPr>
          <a:xfrm>
            <a:off x="1051560" y="3620160"/>
            <a:ext cx="4570560" cy="8589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00" b="0" u="none" strike="noStrike">
                <a:solidFill>
                  <a:srgbClr val="102A4C"/>
                </a:solidFill>
                <a:effectLst/>
                <a:uFillTx/>
                <a:latin typeface="Aptos"/>
              </a:rPr>
              <a:t>The reflex rule — always move toward the nearest dot — is enough. Nothing blocks the straight line, so the board clears.</a:t>
            </a:r>
            <a:endParaRPr lang="en-US" sz="1500" b="0" u="none" strike="noStrike">
              <a:solidFill>
                <a:srgbClr val="000000"/>
              </a:solidFill>
              <a:effectLst/>
              <a:uFillTx/>
              <a:latin typeface="Arial"/>
            </a:endParaRPr>
          </a:p>
        </p:txBody>
      </p:sp>
      <p:sp>
        <p:nvSpPr>
          <p:cNvPr id="116" name="Text 420"/>
          <p:cNvSpPr/>
          <p:nvPr/>
        </p:nvSpPr>
        <p:spPr>
          <a:xfrm>
            <a:off x="6629400" y="3620160"/>
            <a:ext cx="4570560" cy="8589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00" b="0" u="none" strike="noStrike">
                <a:solidFill>
                  <a:srgbClr val="102A4C"/>
                </a:solidFill>
                <a:effectLst/>
                <a:uFillTx/>
                <a:latin typeface="Aptos"/>
              </a:rPr>
              <a:t>The nearest dot sits behind a wall. The rule keeps issuing the same blocked move forever and never searches for a way around.</a:t>
            </a:r>
            <a:endParaRPr lang="en-US" sz="1500" b="0" u="none" strike="noStrike">
              <a:solidFill>
                <a:srgbClr val="000000"/>
              </a:solidFill>
              <a:effectLst/>
              <a:uFillTx/>
              <a:latin typeface="Arial"/>
            </a:endParaRPr>
          </a:p>
        </p:txBody>
      </p:sp>
      <p:sp>
        <p:nvSpPr>
          <p:cNvPr id="117" name="Text 421"/>
          <p:cNvSpPr/>
          <p:nvPr/>
        </p:nvSpPr>
        <p:spPr>
          <a:xfrm>
            <a:off x="1051560" y="4560120"/>
            <a:ext cx="4570560" cy="4590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300" b="0" u="none" strike="noStrike">
                <a:solidFill>
                  <a:srgbClr val="5C6B80"/>
                </a:solidFill>
                <a:effectLst/>
                <a:uFillTx/>
                <a:latin typeface="Aptos"/>
              </a:rPr>
              <a:t>Rational here: the optimal action really is a function of the current percept.</a:t>
            </a:r>
            <a:endParaRPr lang="en-US" sz="1300" b="0" u="none" strike="noStrike">
              <a:solidFill>
                <a:srgbClr val="000000"/>
              </a:solidFill>
              <a:effectLst/>
              <a:uFillTx/>
              <a:latin typeface="Arial"/>
            </a:endParaRPr>
          </a:p>
        </p:txBody>
      </p:sp>
      <p:sp>
        <p:nvSpPr>
          <p:cNvPr id="118" name="Text 422"/>
          <p:cNvSpPr/>
          <p:nvPr/>
        </p:nvSpPr>
        <p:spPr>
          <a:xfrm>
            <a:off x="6629400" y="4560120"/>
            <a:ext cx="4570560" cy="4590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300" b="0" u="none" strike="noStrike">
                <a:solidFill>
                  <a:srgbClr val="5C6B80"/>
                </a:solidFill>
                <a:effectLst/>
                <a:uFillTx/>
                <a:latin typeface="Aptos"/>
              </a:rPr>
              <a:t>Not rational: Pac-Man loses a point on every time step it stands there.</a:t>
            </a:r>
            <a:endParaRPr lang="en-US" sz="1300" b="0" u="none" strike="noStrike">
              <a:solidFill>
                <a:srgbClr val="000000"/>
              </a:solidFill>
              <a:effectLst/>
              <a:uFillTx/>
              <a:latin typeface="Arial"/>
            </a:endParaRPr>
          </a:p>
        </p:txBody>
      </p:sp>
      <p:sp>
        <p:nvSpPr>
          <p:cNvPr id="119" name="Text 423"/>
          <p:cNvSpPr/>
          <p:nvPr/>
        </p:nvSpPr>
        <p:spPr>
          <a:xfrm>
            <a:off x="914400" y="5180040"/>
            <a:ext cx="10331280" cy="428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1" u="none" strike="noStrike">
                <a:solidFill>
                  <a:srgbClr val="112E5C"/>
                </a:solidFill>
                <a:effectLst/>
                <a:uFillTx/>
                <a:latin typeface="Aptos"/>
              </a:rPr>
              <a:t>Rationality is a property of behaviour, not of the reasoning behind it.</a:t>
            </a:r>
            <a:endParaRPr lang="en-US" sz="1800" b="0" u="none" strike="noStrike">
              <a:solidFill>
                <a:srgbClr val="000000"/>
              </a:solidFill>
              <a:effectLst/>
              <a:uFillTx/>
              <a:latin typeface="Arial"/>
            </a:endParaRPr>
          </a:p>
        </p:txBody>
      </p:sp>
      <p:sp>
        <p:nvSpPr>
          <p:cNvPr id="120" name="Text 424"/>
          <p:cNvSpPr/>
          <p:nvPr/>
        </p:nvSpPr>
        <p:spPr>
          <a:xfrm>
            <a:off x="914400" y="5680080"/>
            <a:ext cx="10331280" cy="428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5C6B80"/>
                </a:solidFill>
                <a:effectLst/>
                <a:uFillTx/>
                <a:latin typeface="Aptos"/>
              </a:rPr>
              <a:t>Yanking your hand off a hot stove is optimal with no lookahead at all. The reflex fails only when the right action stops being a function of what you can currently see.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21" name="Shape 425"/>
          <p:cNvSpPr/>
          <p:nvPr/>
        </p:nvSpPr>
        <p:spPr>
          <a:xfrm>
            <a:off x="228600" y="228600"/>
            <a:ext cx="11748600" cy="748440"/>
          </a:xfrm>
          <a:prstGeom prst="rect">
            <a:avLst/>
          </a:prstGeom>
          <a:solidFill>
            <a:srgbClr val="112E5C"/>
          </a:solidFill>
          <a:ln w="15240">
            <a:solidFill>
              <a:srgbClr val="112E5C"/>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22" name="Shape 426"/>
          <p:cNvSpPr/>
          <p:nvPr/>
        </p:nvSpPr>
        <p:spPr>
          <a:xfrm>
            <a:off x="228600" y="978480"/>
            <a:ext cx="11748600" cy="62640"/>
          </a:xfrm>
          <a:prstGeom prst="rect">
            <a:avLst/>
          </a:prstGeom>
          <a:solidFill>
            <a:srgbClr val="F6A01A"/>
          </a:solidFill>
          <a:ln w="15240">
            <a:solidFill>
              <a:srgbClr val="F6A01A"/>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23" name="Text 427"/>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Full Planning vs. Re-planning</a:t>
            </a:r>
            <a:endParaRPr lang="en-US" sz="2600" b="0" u="none" strike="noStrike">
              <a:solidFill>
                <a:srgbClr val="000000"/>
              </a:solidFill>
              <a:effectLst/>
              <a:uFillTx/>
              <a:latin typeface="Arial"/>
            </a:endParaRPr>
          </a:p>
        </p:txBody>
      </p:sp>
      <p:sp>
        <p:nvSpPr>
          <p:cNvPr id="124" name="Text 428"/>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5" name="Text 429"/>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rm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6" name="Text 430"/>
          <p:cNvSpPr/>
          <p:nvPr/>
        </p:nvSpPr>
        <p:spPr>
          <a:xfrm>
            <a:off x="822960" y="1508760"/>
            <a:ext cx="5027760" cy="528840"/>
          </a:xfrm>
          <a:prstGeom prst="roundRect">
            <a:avLst>
              <a:gd name="adj" fmla="val 13793"/>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2F7FD5"/>
                </a:solidFill>
                <a:effectLst/>
                <a:uFillTx/>
                <a:latin typeface="Aptos"/>
              </a:rPr>
              <a:t>Full planning</a:t>
            </a:r>
            <a:endParaRPr lang="en-US" sz="1700" b="0" u="none" strike="noStrike">
              <a:solidFill>
                <a:srgbClr val="000000"/>
              </a:solidFill>
              <a:effectLst/>
              <a:uFillTx/>
              <a:latin typeface="Arial"/>
            </a:endParaRPr>
          </a:p>
        </p:txBody>
      </p:sp>
      <p:sp>
        <p:nvSpPr>
          <p:cNvPr id="127" name="Text 431"/>
          <p:cNvSpPr/>
          <p:nvPr/>
        </p:nvSpPr>
        <p:spPr>
          <a:xfrm>
            <a:off x="6400800" y="1508760"/>
            <a:ext cx="5027760" cy="528840"/>
          </a:xfrm>
          <a:prstGeom prst="roundRect">
            <a:avLst>
              <a:gd name="adj" fmla="val 13793"/>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177245"/>
                </a:solidFill>
                <a:effectLst/>
                <a:uFillTx/>
                <a:latin typeface="Aptos"/>
              </a:rPr>
              <a:t>Re-planning</a:t>
            </a:r>
            <a:endParaRPr lang="en-US" sz="1700" b="0" u="none" strike="noStrike">
              <a:solidFill>
                <a:srgbClr val="000000"/>
              </a:solidFill>
              <a:effectLst/>
              <a:uFillTx/>
              <a:latin typeface="Arial"/>
            </a:endParaRPr>
          </a:p>
        </p:txBody>
      </p:sp>
      <p:sp>
        <p:nvSpPr>
          <p:cNvPr id="128" name="Text 432"/>
          <p:cNvSpPr/>
          <p:nvPr/>
        </p:nvSpPr>
        <p:spPr>
          <a:xfrm>
            <a:off x="1051560" y="2199960"/>
            <a:ext cx="4570560" cy="8989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00" b="0" u="none" strike="noStrike">
                <a:solidFill>
                  <a:srgbClr val="102A4C"/>
                </a:solidFill>
                <a:effectLst/>
                <a:uFillTx/>
                <a:latin typeface="Aptos"/>
              </a:rPr>
              <a:t>Search once for the complete optimal action sequence that clears the whole board, then execute it without further search.</a:t>
            </a:r>
            <a:endParaRPr lang="en-US" sz="1500" b="0" u="none" strike="noStrike">
              <a:solidFill>
                <a:srgbClr val="000000"/>
              </a:solidFill>
              <a:effectLst/>
              <a:uFillTx/>
              <a:latin typeface="Arial"/>
            </a:endParaRPr>
          </a:p>
        </p:txBody>
      </p:sp>
      <p:sp>
        <p:nvSpPr>
          <p:cNvPr id="129" name="Text 433"/>
          <p:cNvSpPr/>
          <p:nvPr/>
        </p:nvSpPr>
        <p:spPr>
          <a:xfrm>
            <a:off x="6629400" y="2199960"/>
            <a:ext cx="4570560" cy="8989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00" b="0" u="none" strike="noStrike">
                <a:solidFill>
                  <a:srgbClr val="102A4C"/>
                </a:solidFill>
                <a:effectLst/>
                <a:uFillTx/>
                <a:latin typeface="Aptos"/>
              </a:rPr>
              <a:t>Search only for a path to the nearest dot, execute that, then search again from wherever you land. Repeat until the board is clear.</a:t>
            </a:r>
            <a:endParaRPr lang="en-US" sz="1500" b="0" u="none" strike="noStrike">
              <a:solidFill>
                <a:srgbClr val="000000"/>
              </a:solidFill>
              <a:effectLst/>
              <a:uFillTx/>
              <a:latin typeface="Arial"/>
            </a:endParaRPr>
          </a:p>
        </p:txBody>
      </p:sp>
      <p:sp>
        <p:nvSpPr>
          <p:cNvPr id="130" name="Text 434"/>
          <p:cNvSpPr/>
          <p:nvPr/>
        </p:nvSpPr>
        <p:spPr>
          <a:xfrm>
            <a:off x="1051560" y="3179880"/>
            <a:ext cx="4570560" cy="6188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300" b="0" u="none" strike="noStrike">
                <a:solidFill>
                  <a:srgbClr val="5C6B80"/>
                </a:solidFill>
                <a:effectLst/>
                <a:uFillTx/>
                <a:latin typeface="Aptos"/>
              </a:rPr>
              <a:t>Optimal, and you wait: the agent must rule out an enormous number of candidate sequences over a 120 × 2³⁰ state space before it can claim optimality.</a:t>
            </a:r>
            <a:endParaRPr lang="en-US" sz="1300" b="0" u="none" strike="noStrike">
              <a:solidFill>
                <a:srgbClr val="000000"/>
              </a:solidFill>
              <a:effectLst/>
              <a:uFillTx/>
              <a:latin typeface="Arial"/>
            </a:endParaRPr>
          </a:p>
        </p:txBody>
      </p:sp>
      <p:sp>
        <p:nvSpPr>
          <p:cNvPr id="131" name="Text 435"/>
          <p:cNvSpPr/>
          <p:nvPr/>
        </p:nvSpPr>
        <p:spPr>
          <a:xfrm>
            <a:off x="6629400" y="3179880"/>
            <a:ext cx="4570560" cy="6188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300" b="0" u="none" strike="noStrike">
                <a:solidFill>
                  <a:srgbClr val="5C6B80"/>
                </a:solidFill>
                <a:effectLst/>
                <a:uFillTx/>
                <a:latin typeface="Aptos"/>
              </a:rPr>
              <a:t>Starts acting almost immediately, but a chain of locally optimal paths is not a globally optimal plan.</a:t>
            </a:r>
            <a:endParaRPr lang="en-US" sz="1300" b="0" u="none" strike="noStrike">
              <a:solidFill>
                <a:srgbClr val="000000"/>
              </a:solidFill>
              <a:effectLst/>
              <a:uFillTx/>
              <a:latin typeface="Arial"/>
            </a:endParaRPr>
          </a:p>
        </p:txBody>
      </p:sp>
      <p:sp>
        <p:nvSpPr>
          <p:cNvPr id="132" name="Text 436"/>
          <p:cNvSpPr/>
          <p:nvPr/>
        </p:nvSpPr>
        <p:spPr>
          <a:xfrm>
            <a:off x="914400" y="3920040"/>
            <a:ext cx="10331280" cy="2790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300" b="0" u="none" strike="noStrike">
                <a:solidFill>
                  <a:srgbClr val="5C6B80"/>
                </a:solidFill>
                <a:effectLst/>
                <a:uFillTx/>
                <a:latin typeface="Aptos"/>
              </a:rPr>
              <a:t>The re-planning loop — the strategy Project 1 uses</a:t>
            </a:r>
            <a:endParaRPr lang="en-US" sz="1300" b="0" u="none" strike="noStrike">
              <a:solidFill>
                <a:srgbClr val="000000"/>
              </a:solidFill>
              <a:effectLst/>
              <a:uFillTx/>
              <a:latin typeface="Arial"/>
            </a:endParaRPr>
          </a:p>
        </p:txBody>
      </p:sp>
      <p:sp>
        <p:nvSpPr>
          <p:cNvPr id="133" name="Text 437"/>
          <p:cNvSpPr/>
          <p:nvPr/>
        </p:nvSpPr>
        <p:spPr>
          <a:xfrm>
            <a:off x="920520" y="4280040"/>
            <a:ext cx="2278800" cy="518760"/>
          </a:xfrm>
          <a:prstGeom prst="roundRect">
            <a:avLst>
              <a:gd name="adj" fmla="val 13793"/>
            </a:avLst>
          </a:prstGeom>
          <a:solidFill>
            <a:srgbClr val="EAF2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300" b="1" u="none" strike="noStrike">
                <a:solidFill>
                  <a:srgbClr val="112E5C"/>
                </a:solidFill>
                <a:effectLst/>
                <a:uFillTx/>
                <a:latin typeface="Aptos"/>
              </a:rPr>
              <a:t>Plan to the nearest dot</a:t>
            </a:r>
            <a:endParaRPr lang="en-US" sz="1300" b="0" u="none" strike="noStrike">
              <a:solidFill>
                <a:srgbClr val="000000"/>
              </a:solidFill>
              <a:effectLst/>
              <a:uFillTx/>
              <a:latin typeface="Arial"/>
            </a:endParaRPr>
          </a:p>
        </p:txBody>
      </p:sp>
      <p:sp>
        <p:nvSpPr>
          <p:cNvPr id="134" name="Shape 438"/>
          <p:cNvSpPr/>
          <p:nvPr/>
        </p:nvSpPr>
        <p:spPr>
          <a:xfrm>
            <a:off x="3240360" y="4449960"/>
            <a:ext cx="318960" cy="178920"/>
          </a:xfrm>
          <a:prstGeom prst="rightArrow">
            <a:avLst>
              <a:gd name="adj1" fmla="val 50000"/>
              <a:gd name="adj2" fmla="val 45000"/>
            </a:avLst>
          </a:prstGeom>
          <a:solidFill>
            <a:srgbClr val="2F7FD5"/>
          </a:solidFill>
          <a:ln w="15240">
            <a:solidFill>
              <a:srgbClr val="2F7FD5"/>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35" name="Text 439"/>
          <p:cNvSpPr/>
          <p:nvPr/>
        </p:nvSpPr>
        <p:spPr>
          <a:xfrm>
            <a:off x="3600360" y="4280040"/>
            <a:ext cx="2278800" cy="518760"/>
          </a:xfrm>
          <a:prstGeom prst="roundRect">
            <a:avLst>
              <a:gd name="adj" fmla="val 13793"/>
            </a:avLst>
          </a:prstGeom>
          <a:solidFill>
            <a:srgbClr val="EAF2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300" b="1" u="none" strike="noStrike">
                <a:solidFill>
                  <a:srgbClr val="112E5C"/>
                </a:solidFill>
                <a:effectLst/>
                <a:uFillTx/>
                <a:latin typeface="Aptos"/>
              </a:rPr>
              <a:t>Execute that plan</a:t>
            </a:r>
            <a:endParaRPr lang="en-US" sz="1300" b="0" u="none" strike="noStrike">
              <a:solidFill>
                <a:srgbClr val="000000"/>
              </a:solidFill>
              <a:effectLst/>
              <a:uFillTx/>
              <a:latin typeface="Arial"/>
            </a:endParaRPr>
          </a:p>
        </p:txBody>
      </p:sp>
      <p:sp>
        <p:nvSpPr>
          <p:cNvPr id="136" name="Shape 440"/>
          <p:cNvSpPr/>
          <p:nvPr/>
        </p:nvSpPr>
        <p:spPr>
          <a:xfrm>
            <a:off x="5920560" y="4449960"/>
            <a:ext cx="318960" cy="178920"/>
          </a:xfrm>
          <a:prstGeom prst="rightArrow">
            <a:avLst>
              <a:gd name="adj1" fmla="val 50000"/>
              <a:gd name="adj2" fmla="val 45000"/>
            </a:avLst>
          </a:prstGeom>
          <a:solidFill>
            <a:srgbClr val="2F7FD5"/>
          </a:solidFill>
          <a:ln w="15240">
            <a:solidFill>
              <a:srgbClr val="2F7FD5"/>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37" name="Text 441"/>
          <p:cNvSpPr/>
          <p:nvPr/>
        </p:nvSpPr>
        <p:spPr>
          <a:xfrm>
            <a:off x="6280560" y="4280040"/>
            <a:ext cx="2278800" cy="518760"/>
          </a:xfrm>
          <a:prstGeom prst="roundRect">
            <a:avLst>
              <a:gd name="adj" fmla="val 13793"/>
            </a:avLst>
          </a:prstGeom>
          <a:solidFill>
            <a:srgbClr val="EAF2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300" b="1" u="none" strike="noStrike">
                <a:solidFill>
                  <a:srgbClr val="112E5C"/>
                </a:solidFill>
                <a:effectLst/>
                <a:uFillTx/>
                <a:latin typeface="Aptos"/>
              </a:rPr>
              <a:t>Observe the new state</a:t>
            </a:r>
            <a:endParaRPr lang="en-US" sz="1300" b="0" u="none" strike="noStrike">
              <a:solidFill>
                <a:srgbClr val="000000"/>
              </a:solidFill>
              <a:effectLst/>
              <a:uFillTx/>
              <a:latin typeface="Arial"/>
            </a:endParaRPr>
          </a:p>
        </p:txBody>
      </p:sp>
      <p:sp>
        <p:nvSpPr>
          <p:cNvPr id="138" name="Shape 442"/>
          <p:cNvSpPr/>
          <p:nvPr/>
        </p:nvSpPr>
        <p:spPr>
          <a:xfrm>
            <a:off x="8600400" y="4449960"/>
            <a:ext cx="318960" cy="178920"/>
          </a:xfrm>
          <a:prstGeom prst="rightArrow">
            <a:avLst>
              <a:gd name="adj1" fmla="val 50000"/>
              <a:gd name="adj2" fmla="val 45000"/>
            </a:avLst>
          </a:prstGeom>
          <a:solidFill>
            <a:srgbClr val="2F7FD5"/>
          </a:solidFill>
          <a:ln w="15240">
            <a:solidFill>
              <a:srgbClr val="2F7FD5"/>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139" name="Text 443"/>
          <p:cNvSpPr/>
          <p:nvPr/>
        </p:nvSpPr>
        <p:spPr>
          <a:xfrm>
            <a:off x="8960400" y="4280040"/>
            <a:ext cx="2278800" cy="518760"/>
          </a:xfrm>
          <a:prstGeom prst="roundRect">
            <a:avLst>
              <a:gd name="adj" fmla="val 13793"/>
            </a:avLst>
          </a:prstGeom>
          <a:solidFill>
            <a:srgbClr val="EAF2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300" b="1" u="none" strike="noStrike">
                <a:solidFill>
                  <a:srgbClr val="112E5C"/>
                </a:solidFill>
                <a:effectLst/>
                <a:uFillTx/>
                <a:latin typeface="Aptos"/>
              </a:rPr>
              <a:t>Plan again</a:t>
            </a:r>
            <a:endParaRPr lang="en-US" sz="1300" b="0" u="none" strike="noStrike">
              <a:solidFill>
                <a:srgbClr val="000000"/>
              </a:solidFill>
              <a:effectLst/>
              <a:uFillTx/>
              <a:latin typeface="Arial"/>
            </a:endParaRPr>
          </a:p>
        </p:txBody>
      </p:sp>
      <p:sp>
        <p:nvSpPr>
          <p:cNvPr id="140" name="Text 444"/>
          <p:cNvSpPr/>
          <p:nvPr/>
        </p:nvSpPr>
        <p:spPr>
          <a:xfrm>
            <a:off x="914400" y="5040000"/>
            <a:ext cx="10331280" cy="428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700" b="1" u="none" strike="noStrike">
                <a:solidFill>
                  <a:srgbClr val="112E5C"/>
                </a:solidFill>
                <a:effectLst/>
                <a:uFillTx/>
                <a:latin typeface="Aptos"/>
              </a:rPr>
              <a:t>Same formulation, same algorithm — only how much you commit to before acting.</a:t>
            </a:r>
            <a:endParaRPr lang="en-US" sz="1700" b="0" u="none" strike="noStrike">
              <a:solidFill>
                <a:srgbClr val="000000"/>
              </a:solidFill>
              <a:effectLst/>
              <a:uFillTx/>
              <a:latin typeface="Arial"/>
            </a:endParaRPr>
          </a:p>
        </p:txBody>
      </p:sp>
      <p:sp>
        <p:nvSpPr>
          <p:cNvPr id="141" name="Text 445"/>
          <p:cNvSpPr/>
          <p:nvPr/>
        </p:nvSpPr>
        <p:spPr>
          <a:xfrm>
            <a:off x="914400" y="5519880"/>
            <a:ext cx="10331280" cy="428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5C6B80"/>
                </a:solidFill>
                <a:effectLst/>
                <a:uFillTx/>
                <a:latin typeface="Aptos"/>
              </a:rPr>
              <a:t>Distinguish this from the re-planning on the environment-assumptions slide: there the model may be wrong, here the model is right and the state space is simply too large to search all at once.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42"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3"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44"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The Four-Phase Problem-Solving Process</a:t>
            </a:r>
            <a:endParaRPr lang="en-US" sz="2600" b="0" u="none" strike="noStrike">
              <a:solidFill>
                <a:srgbClr val="000000"/>
              </a:solidFill>
              <a:effectLst/>
              <a:uFillTx/>
              <a:latin typeface="Arial"/>
            </a:endParaRPr>
          </a:p>
        </p:txBody>
      </p:sp>
      <p:sp>
        <p:nvSpPr>
          <p:cNvPr id="145"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6"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7" name="Text 5"/>
          <p:cNvSpPr/>
          <p:nvPr/>
        </p:nvSpPr>
        <p:spPr>
          <a:xfrm>
            <a:off x="685800" y="1417320"/>
            <a:ext cx="547200" cy="547200"/>
          </a:xfrm>
          <a:prstGeom prst="roundRect">
            <a:avLst>
              <a:gd name="adj" fmla="val 13333"/>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1</a:t>
            </a:r>
            <a:endParaRPr lang="en-US" sz="1800" b="0" u="none" strike="noStrike">
              <a:solidFill>
                <a:srgbClr val="000000"/>
              </a:solidFill>
              <a:effectLst/>
              <a:uFillTx/>
              <a:latin typeface="Arial"/>
            </a:endParaRPr>
          </a:p>
        </p:txBody>
      </p:sp>
      <p:sp>
        <p:nvSpPr>
          <p:cNvPr id="148" name="Text 6"/>
          <p:cNvSpPr/>
          <p:nvPr/>
        </p:nvSpPr>
        <p:spPr>
          <a:xfrm>
            <a:off x="1371600" y="1417320"/>
            <a:ext cx="1918800" cy="2545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1" u="none" strike="noStrike">
                <a:solidFill>
                  <a:srgbClr val="102A4C"/>
                </a:solidFill>
                <a:effectLst/>
                <a:uFillTx/>
                <a:latin typeface="Aptos"/>
              </a:rPr>
              <a:t>Goal formulation</a:t>
            </a:r>
            <a:endParaRPr lang="en-US" sz="1600" b="0" u="none" strike="noStrike">
              <a:solidFill>
                <a:srgbClr val="000000"/>
              </a:solidFill>
              <a:effectLst/>
              <a:uFillTx/>
              <a:latin typeface="Arial"/>
            </a:endParaRPr>
          </a:p>
        </p:txBody>
      </p:sp>
      <p:sp>
        <p:nvSpPr>
          <p:cNvPr id="149" name="Text 7"/>
          <p:cNvSpPr/>
          <p:nvPr/>
        </p:nvSpPr>
        <p:spPr>
          <a:xfrm>
            <a:off x="777240" y="1965960"/>
            <a:ext cx="2513160" cy="10044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102A4C"/>
                </a:solidFill>
                <a:effectLst/>
                <a:uFillTx/>
                <a:latin typeface="Aptos"/>
              </a:rPr>
              <a:t>Adopt a goal such as reaching Bucharest.</a:t>
            </a:r>
            <a:endParaRPr lang="en-US" sz="1350" b="0" u="none" strike="noStrike">
              <a:solidFill>
                <a:srgbClr val="000000"/>
              </a:solidFill>
              <a:effectLst/>
              <a:uFillTx/>
              <a:latin typeface="Arial"/>
            </a:endParaRPr>
          </a:p>
        </p:txBody>
      </p:sp>
      <p:sp>
        <p:nvSpPr>
          <p:cNvPr id="150" name="Shape 8"/>
          <p:cNvSpPr/>
          <p:nvPr/>
        </p:nvSpPr>
        <p:spPr>
          <a:xfrm>
            <a:off x="3291840" y="1700640"/>
            <a:ext cx="24660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51" name="Text 9"/>
          <p:cNvSpPr/>
          <p:nvPr/>
        </p:nvSpPr>
        <p:spPr>
          <a:xfrm>
            <a:off x="3566160" y="1417320"/>
            <a:ext cx="547200" cy="547200"/>
          </a:xfrm>
          <a:prstGeom prst="roundRect">
            <a:avLst>
              <a:gd name="adj" fmla="val 13333"/>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2</a:t>
            </a:r>
            <a:endParaRPr lang="en-US" sz="1800" b="0" u="none" strike="noStrike">
              <a:solidFill>
                <a:srgbClr val="000000"/>
              </a:solidFill>
              <a:effectLst/>
              <a:uFillTx/>
              <a:latin typeface="Arial"/>
            </a:endParaRPr>
          </a:p>
        </p:txBody>
      </p:sp>
      <p:sp>
        <p:nvSpPr>
          <p:cNvPr id="152" name="Text 10"/>
          <p:cNvSpPr/>
          <p:nvPr/>
        </p:nvSpPr>
        <p:spPr>
          <a:xfrm>
            <a:off x="4251960" y="1417320"/>
            <a:ext cx="1918800" cy="25452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600" b="1" u="none" strike="noStrike">
                <a:solidFill>
                  <a:srgbClr val="102A4C"/>
                </a:solidFill>
                <a:effectLst/>
                <a:uFillTx/>
                <a:latin typeface="Aptos"/>
              </a:rPr>
              <a:t>Problem formulation</a:t>
            </a:r>
            <a:endParaRPr lang="en-US" sz="1600" b="0" u="none" strike="noStrike">
              <a:solidFill>
                <a:srgbClr val="000000"/>
              </a:solidFill>
              <a:effectLst/>
              <a:uFillTx/>
              <a:latin typeface="Arial"/>
            </a:endParaRPr>
          </a:p>
        </p:txBody>
      </p:sp>
      <p:sp>
        <p:nvSpPr>
          <p:cNvPr id="153" name="Text 11"/>
          <p:cNvSpPr/>
          <p:nvPr/>
        </p:nvSpPr>
        <p:spPr>
          <a:xfrm>
            <a:off x="3657600" y="1965960"/>
            <a:ext cx="2513160" cy="10044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102A4C"/>
                </a:solidFill>
                <a:effectLst/>
                <a:uFillTx/>
                <a:latin typeface="Aptos"/>
              </a:rPr>
              <a:t>Build an abstract model of states, actions, transitions, goals, and costs.</a:t>
            </a:r>
            <a:endParaRPr lang="en-US" sz="1350" b="0" u="none" strike="noStrike">
              <a:solidFill>
                <a:srgbClr val="000000"/>
              </a:solidFill>
              <a:effectLst/>
              <a:uFillTx/>
              <a:latin typeface="Arial"/>
            </a:endParaRPr>
          </a:p>
        </p:txBody>
      </p:sp>
      <p:sp>
        <p:nvSpPr>
          <p:cNvPr id="154" name="Shape 12"/>
          <p:cNvSpPr/>
          <p:nvPr/>
        </p:nvSpPr>
        <p:spPr>
          <a:xfrm>
            <a:off x="6172200" y="1700640"/>
            <a:ext cx="24660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55" name="Text 13"/>
          <p:cNvSpPr/>
          <p:nvPr/>
        </p:nvSpPr>
        <p:spPr>
          <a:xfrm>
            <a:off x="6446520" y="1417320"/>
            <a:ext cx="547200" cy="547200"/>
          </a:xfrm>
          <a:prstGeom prst="roundRect">
            <a:avLst>
              <a:gd name="adj" fmla="val 13333"/>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3</a:t>
            </a:r>
            <a:endParaRPr lang="en-US" sz="1800" b="0" u="none" strike="noStrike">
              <a:solidFill>
                <a:srgbClr val="000000"/>
              </a:solidFill>
              <a:effectLst/>
              <a:uFillTx/>
              <a:latin typeface="Arial"/>
            </a:endParaRPr>
          </a:p>
        </p:txBody>
      </p:sp>
      <p:sp>
        <p:nvSpPr>
          <p:cNvPr id="156" name="Text 14"/>
          <p:cNvSpPr/>
          <p:nvPr/>
        </p:nvSpPr>
        <p:spPr>
          <a:xfrm>
            <a:off x="7132320" y="1417320"/>
            <a:ext cx="1918800" cy="2545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1" u="none" strike="noStrike">
                <a:solidFill>
                  <a:srgbClr val="102A4C"/>
                </a:solidFill>
                <a:effectLst/>
                <a:uFillTx/>
                <a:latin typeface="Aptos"/>
              </a:rPr>
              <a:t>Search</a:t>
            </a:r>
            <a:endParaRPr lang="en-US" sz="1600" b="0" u="none" strike="noStrike">
              <a:solidFill>
                <a:srgbClr val="000000"/>
              </a:solidFill>
              <a:effectLst/>
              <a:uFillTx/>
              <a:latin typeface="Arial"/>
            </a:endParaRPr>
          </a:p>
        </p:txBody>
      </p:sp>
      <p:sp>
        <p:nvSpPr>
          <p:cNvPr id="157" name="Text 15"/>
          <p:cNvSpPr/>
          <p:nvPr/>
        </p:nvSpPr>
        <p:spPr>
          <a:xfrm>
            <a:off x="6537960" y="1965960"/>
            <a:ext cx="2513160" cy="10044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102A4C"/>
                </a:solidFill>
                <a:effectLst/>
                <a:uFillTx/>
                <a:latin typeface="Aptos"/>
              </a:rPr>
              <a:t>Simulate action sequences until one reaches a goal or failure is proven.</a:t>
            </a:r>
            <a:endParaRPr lang="en-US" sz="1350" b="0" u="none" strike="noStrike">
              <a:solidFill>
                <a:srgbClr val="000000"/>
              </a:solidFill>
              <a:effectLst/>
              <a:uFillTx/>
              <a:latin typeface="Arial"/>
            </a:endParaRPr>
          </a:p>
        </p:txBody>
      </p:sp>
      <p:sp>
        <p:nvSpPr>
          <p:cNvPr id="158" name="Shape 16"/>
          <p:cNvSpPr/>
          <p:nvPr/>
        </p:nvSpPr>
        <p:spPr>
          <a:xfrm>
            <a:off x="9052560" y="1700640"/>
            <a:ext cx="24660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59" name="Text 17"/>
          <p:cNvSpPr/>
          <p:nvPr/>
        </p:nvSpPr>
        <p:spPr>
          <a:xfrm>
            <a:off x="9326880" y="1417320"/>
            <a:ext cx="547200" cy="547200"/>
          </a:xfrm>
          <a:prstGeom prst="roundRect">
            <a:avLst>
              <a:gd name="adj" fmla="val 13333"/>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4</a:t>
            </a:r>
            <a:endParaRPr lang="en-US" sz="1800" b="0" u="none" strike="noStrike">
              <a:solidFill>
                <a:srgbClr val="000000"/>
              </a:solidFill>
              <a:effectLst/>
              <a:uFillTx/>
              <a:latin typeface="Arial"/>
            </a:endParaRPr>
          </a:p>
        </p:txBody>
      </p:sp>
      <p:sp>
        <p:nvSpPr>
          <p:cNvPr id="160" name="Text 18"/>
          <p:cNvSpPr/>
          <p:nvPr/>
        </p:nvSpPr>
        <p:spPr>
          <a:xfrm>
            <a:off x="10012680" y="1417320"/>
            <a:ext cx="1918800" cy="2545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1" u="none" strike="noStrike">
                <a:solidFill>
                  <a:srgbClr val="102A4C"/>
                </a:solidFill>
                <a:effectLst/>
                <a:uFillTx/>
                <a:latin typeface="Aptos"/>
              </a:rPr>
              <a:t>Execution</a:t>
            </a:r>
            <a:endParaRPr lang="en-US" sz="1600" b="0" u="none" strike="noStrike">
              <a:solidFill>
                <a:srgbClr val="000000"/>
              </a:solidFill>
              <a:effectLst/>
              <a:uFillTx/>
              <a:latin typeface="Arial"/>
            </a:endParaRPr>
          </a:p>
        </p:txBody>
      </p:sp>
      <p:sp>
        <p:nvSpPr>
          <p:cNvPr id="161" name="Text 19"/>
          <p:cNvSpPr/>
          <p:nvPr/>
        </p:nvSpPr>
        <p:spPr>
          <a:xfrm>
            <a:off x="9418320" y="1965960"/>
            <a:ext cx="2513160" cy="10044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350" b="0" u="none" strike="noStrike">
                <a:solidFill>
                  <a:srgbClr val="102A4C"/>
                </a:solidFill>
                <a:effectLst/>
                <a:uFillTx/>
                <a:latin typeface="Aptos"/>
              </a:rPr>
              <a:t>Carry out the solution actions in the real environment.</a:t>
            </a:r>
            <a:endParaRPr lang="en-US" sz="1350" b="0" u="none" strike="noStrike">
              <a:solidFill>
                <a:srgbClr val="000000"/>
              </a:solidFill>
              <a:effectLst/>
              <a:uFillTx/>
              <a:latin typeface="Arial"/>
            </a:endParaRPr>
          </a:p>
        </p:txBody>
      </p:sp>
      <p:sp>
        <p:nvSpPr>
          <p:cNvPr id="162" name="Text 20"/>
          <p:cNvSpPr/>
          <p:nvPr/>
        </p:nvSpPr>
        <p:spPr>
          <a:xfrm>
            <a:off x="2194560" y="4343400"/>
            <a:ext cx="7770960" cy="592920"/>
          </a:xfrm>
          <a:prstGeom prst="roundRect">
            <a:avLst>
              <a:gd name="adj" fmla="val 12308"/>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Example path: Arad → Sibiu → Făgăraș → Bucharest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63"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4"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65"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Environment Assumptions: When a Fixed Plan Works</a:t>
            </a:r>
            <a:endParaRPr lang="en-US" sz="2600" b="0" u="none" strike="noStrike">
              <a:solidFill>
                <a:srgbClr val="000000"/>
              </a:solidFill>
              <a:effectLst/>
              <a:uFillTx/>
              <a:latin typeface="Arial"/>
            </a:endParaRPr>
          </a:p>
        </p:txBody>
      </p:sp>
      <p:sp>
        <p:nvSpPr>
          <p:cNvPr id="166"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67"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68" name="Text 5"/>
          <p:cNvSpPr/>
          <p:nvPr/>
        </p:nvSpPr>
        <p:spPr>
          <a:xfrm>
            <a:off x="777240" y="1417320"/>
            <a:ext cx="3061800" cy="474120"/>
          </a:xfrm>
          <a:prstGeom prst="roundRect">
            <a:avLst>
              <a:gd name="adj" fmla="val 1538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Fully observable</a:t>
            </a:r>
            <a:endParaRPr lang="en-US" sz="1500" b="0" u="none" strike="noStrike">
              <a:solidFill>
                <a:srgbClr val="000000"/>
              </a:solidFill>
              <a:effectLst/>
              <a:uFillTx/>
              <a:latin typeface="Arial"/>
            </a:endParaRPr>
          </a:p>
        </p:txBody>
      </p:sp>
      <p:sp>
        <p:nvSpPr>
          <p:cNvPr id="169" name="Text 6"/>
          <p:cNvSpPr/>
          <p:nvPr/>
        </p:nvSpPr>
        <p:spPr>
          <a:xfrm>
            <a:off x="941760" y="1984320"/>
            <a:ext cx="2741760" cy="2271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250" b="0" u="none" strike="noStrike">
                <a:solidFill>
                  <a:srgbClr val="5C6B80"/>
                </a:solidFill>
                <a:effectLst/>
                <a:uFillTx/>
                <a:latin typeface="Aptos"/>
              </a:rPr>
              <a:t>relevant state is known</a:t>
            </a:r>
            <a:endParaRPr lang="en-US" sz="1250" b="0" u="none" strike="noStrike">
              <a:solidFill>
                <a:srgbClr val="000000"/>
              </a:solidFill>
              <a:effectLst/>
              <a:uFillTx/>
              <a:latin typeface="Arial"/>
            </a:endParaRPr>
          </a:p>
        </p:txBody>
      </p:sp>
      <p:sp>
        <p:nvSpPr>
          <p:cNvPr id="170" name="Text 7"/>
          <p:cNvSpPr/>
          <p:nvPr/>
        </p:nvSpPr>
        <p:spPr>
          <a:xfrm>
            <a:off x="4434840" y="1417320"/>
            <a:ext cx="3061800" cy="474120"/>
          </a:xfrm>
          <a:prstGeom prst="roundRect">
            <a:avLst>
              <a:gd name="adj" fmla="val 1538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Deterministic</a:t>
            </a:r>
            <a:endParaRPr lang="en-US" sz="1500" b="0" u="none" strike="noStrike">
              <a:solidFill>
                <a:srgbClr val="000000"/>
              </a:solidFill>
              <a:effectLst/>
              <a:uFillTx/>
              <a:latin typeface="Arial"/>
            </a:endParaRPr>
          </a:p>
        </p:txBody>
      </p:sp>
      <p:sp>
        <p:nvSpPr>
          <p:cNvPr id="171" name="Text 8"/>
          <p:cNvSpPr/>
          <p:nvPr/>
        </p:nvSpPr>
        <p:spPr>
          <a:xfrm>
            <a:off x="4599360" y="1984320"/>
            <a:ext cx="2741760" cy="2271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250" b="0" u="none" strike="noStrike">
                <a:solidFill>
                  <a:srgbClr val="5C6B80"/>
                </a:solidFill>
                <a:effectLst/>
                <a:uFillTx/>
                <a:latin typeface="Aptos"/>
              </a:rPr>
              <a:t>actions have predictable results</a:t>
            </a:r>
            <a:endParaRPr lang="en-US" sz="1250" b="0" u="none" strike="noStrike">
              <a:solidFill>
                <a:srgbClr val="000000"/>
              </a:solidFill>
              <a:effectLst/>
              <a:uFillTx/>
              <a:latin typeface="Arial"/>
            </a:endParaRPr>
          </a:p>
        </p:txBody>
      </p:sp>
      <p:sp>
        <p:nvSpPr>
          <p:cNvPr id="172" name="Text 9"/>
          <p:cNvSpPr/>
          <p:nvPr/>
        </p:nvSpPr>
        <p:spPr>
          <a:xfrm>
            <a:off x="8092440" y="1417320"/>
            <a:ext cx="3061800" cy="474120"/>
          </a:xfrm>
          <a:prstGeom prst="roundRect">
            <a:avLst>
              <a:gd name="adj" fmla="val 1538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Known</a:t>
            </a:r>
            <a:endParaRPr lang="en-US" sz="1500" b="0" u="none" strike="noStrike">
              <a:solidFill>
                <a:srgbClr val="000000"/>
              </a:solidFill>
              <a:effectLst/>
              <a:uFillTx/>
              <a:latin typeface="Arial"/>
            </a:endParaRPr>
          </a:p>
        </p:txBody>
      </p:sp>
      <p:sp>
        <p:nvSpPr>
          <p:cNvPr id="173" name="Text 10"/>
          <p:cNvSpPr/>
          <p:nvPr/>
        </p:nvSpPr>
        <p:spPr>
          <a:xfrm>
            <a:off x="8256960" y="1984320"/>
            <a:ext cx="2741760" cy="2271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250" b="0" u="none" strike="noStrike">
                <a:solidFill>
                  <a:srgbClr val="5C6B80"/>
                </a:solidFill>
                <a:effectLst/>
                <a:uFillTx/>
                <a:latin typeface="Aptos"/>
              </a:rPr>
              <a:t>map/model is available</a:t>
            </a:r>
            <a:endParaRPr lang="en-US" sz="1250" b="0" u="none" strike="noStrike">
              <a:solidFill>
                <a:srgbClr val="000000"/>
              </a:solidFill>
              <a:effectLst/>
              <a:uFillTx/>
              <a:latin typeface="Arial"/>
            </a:endParaRPr>
          </a:p>
        </p:txBody>
      </p:sp>
      <p:sp>
        <p:nvSpPr>
          <p:cNvPr id="174" name="Text 11"/>
          <p:cNvSpPr/>
          <p:nvPr/>
        </p:nvSpPr>
        <p:spPr>
          <a:xfrm>
            <a:off x="777240" y="2651760"/>
            <a:ext cx="3061800" cy="474120"/>
          </a:xfrm>
          <a:prstGeom prst="roundRect">
            <a:avLst>
              <a:gd name="adj" fmla="val 1538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Static</a:t>
            </a:r>
            <a:endParaRPr lang="en-US" sz="1500" b="0" u="none" strike="noStrike">
              <a:solidFill>
                <a:srgbClr val="000000"/>
              </a:solidFill>
              <a:effectLst/>
              <a:uFillTx/>
              <a:latin typeface="Arial"/>
            </a:endParaRPr>
          </a:p>
        </p:txBody>
      </p:sp>
      <p:sp>
        <p:nvSpPr>
          <p:cNvPr id="175" name="Text 12"/>
          <p:cNvSpPr/>
          <p:nvPr/>
        </p:nvSpPr>
        <p:spPr>
          <a:xfrm>
            <a:off x="941760" y="3218760"/>
            <a:ext cx="2741760" cy="22716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250" b="0" u="none" strike="noStrike">
                <a:solidFill>
                  <a:srgbClr val="5C6B80"/>
                </a:solidFill>
                <a:effectLst/>
                <a:uFillTx/>
                <a:latin typeface="Aptos"/>
              </a:rPr>
              <a:t>world does not change during search</a:t>
            </a:r>
            <a:endParaRPr lang="en-US" sz="1250" b="0" u="none" strike="noStrike">
              <a:solidFill>
                <a:srgbClr val="000000"/>
              </a:solidFill>
              <a:effectLst/>
              <a:uFillTx/>
              <a:latin typeface="Arial"/>
            </a:endParaRPr>
          </a:p>
        </p:txBody>
      </p:sp>
      <p:sp>
        <p:nvSpPr>
          <p:cNvPr id="176" name="Text 13"/>
          <p:cNvSpPr/>
          <p:nvPr/>
        </p:nvSpPr>
        <p:spPr>
          <a:xfrm>
            <a:off x="4434840" y="2651760"/>
            <a:ext cx="3061800" cy="474120"/>
          </a:xfrm>
          <a:prstGeom prst="roundRect">
            <a:avLst>
              <a:gd name="adj" fmla="val 1538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Discrete</a:t>
            </a:r>
            <a:endParaRPr lang="en-US" sz="1500" b="0" u="none" strike="noStrike">
              <a:solidFill>
                <a:srgbClr val="000000"/>
              </a:solidFill>
              <a:effectLst/>
              <a:uFillTx/>
              <a:latin typeface="Arial"/>
            </a:endParaRPr>
          </a:p>
        </p:txBody>
      </p:sp>
      <p:sp>
        <p:nvSpPr>
          <p:cNvPr id="177" name="Text 14"/>
          <p:cNvSpPr/>
          <p:nvPr/>
        </p:nvSpPr>
        <p:spPr>
          <a:xfrm>
            <a:off x="4599360" y="3218760"/>
            <a:ext cx="2741760" cy="2271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250" b="0" u="none" strike="noStrike">
                <a:solidFill>
                  <a:srgbClr val="5C6B80"/>
                </a:solidFill>
                <a:effectLst/>
                <a:uFillTx/>
                <a:latin typeface="Aptos"/>
              </a:rPr>
              <a:t>states/actions can be enumerated</a:t>
            </a:r>
            <a:endParaRPr lang="en-US" sz="1250" b="0" u="none" strike="noStrike">
              <a:solidFill>
                <a:srgbClr val="000000"/>
              </a:solidFill>
              <a:effectLst/>
              <a:uFillTx/>
              <a:latin typeface="Arial"/>
            </a:endParaRPr>
          </a:p>
        </p:txBody>
      </p:sp>
      <p:sp>
        <p:nvSpPr>
          <p:cNvPr id="178" name="Text 15"/>
          <p:cNvSpPr/>
          <p:nvPr/>
        </p:nvSpPr>
        <p:spPr>
          <a:xfrm>
            <a:off x="8092440" y="2651760"/>
            <a:ext cx="3061800" cy="474120"/>
          </a:xfrm>
          <a:prstGeom prst="roundRect">
            <a:avLst>
              <a:gd name="adj" fmla="val 1538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Single-agent</a:t>
            </a:r>
            <a:endParaRPr lang="en-US" sz="1500" b="0" u="none" strike="noStrike">
              <a:solidFill>
                <a:srgbClr val="000000"/>
              </a:solidFill>
              <a:effectLst/>
              <a:uFillTx/>
              <a:latin typeface="Arial"/>
            </a:endParaRPr>
          </a:p>
        </p:txBody>
      </p:sp>
      <p:sp>
        <p:nvSpPr>
          <p:cNvPr id="179" name="Text 16"/>
          <p:cNvSpPr/>
          <p:nvPr/>
        </p:nvSpPr>
        <p:spPr>
          <a:xfrm>
            <a:off x="8256960" y="3218760"/>
            <a:ext cx="2741760" cy="2271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250" b="0" u="none" strike="noStrike">
                <a:solidFill>
                  <a:srgbClr val="5C6B80"/>
                </a:solidFill>
                <a:effectLst/>
                <a:uFillTx/>
                <a:latin typeface="Aptos"/>
              </a:rPr>
              <a:t>no adversary changes the state</a:t>
            </a:r>
            <a:endParaRPr lang="en-US" sz="1250" b="0" u="none" strike="noStrike">
              <a:solidFill>
                <a:srgbClr val="000000"/>
              </a:solidFill>
              <a:effectLst/>
              <a:uFillTx/>
              <a:latin typeface="Arial"/>
            </a:endParaRPr>
          </a:p>
        </p:txBody>
      </p:sp>
      <p:sp>
        <p:nvSpPr>
          <p:cNvPr id="180" name="Text 17"/>
          <p:cNvSpPr/>
          <p:nvPr/>
        </p:nvSpPr>
        <p:spPr>
          <a:xfrm>
            <a:off x="914400" y="4617720"/>
            <a:ext cx="10422720" cy="32760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700" b="1" u="none" strike="noStrike">
                <a:solidFill>
                  <a:srgbClr val="102A4C"/>
                </a:solidFill>
                <a:effectLst/>
                <a:uFillTx/>
                <a:latin typeface="Aptos"/>
              </a:rPr>
              <a:t>Open-loop execution: if the model is correct, execute the fixed sequence without checking percepts.</a:t>
            </a:r>
            <a:endParaRPr lang="en-US" sz="1700" b="0" u="none" strike="noStrike">
              <a:solidFill>
                <a:srgbClr val="000000"/>
              </a:solidFill>
              <a:effectLst/>
              <a:uFillTx/>
              <a:latin typeface="Arial"/>
            </a:endParaRPr>
          </a:p>
        </p:txBody>
      </p:sp>
      <p:sp>
        <p:nvSpPr>
          <p:cNvPr id="181" name="Text 18"/>
          <p:cNvSpPr/>
          <p:nvPr/>
        </p:nvSpPr>
        <p:spPr>
          <a:xfrm>
            <a:off x="914400" y="5166360"/>
            <a:ext cx="10422720" cy="3276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50" b="0" u="none" strike="noStrike">
                <a:solidFill>
                  <a:srgbClr val="9B1C1C"/>
                </a:solidFill>
                <a:effectLst/>
                <a:uFillTx/>
                <a:latin typeface="Aptos"/>
              </a:rPr>
              <a:t>If the model may be wrong or the world changes, use closed-loop monitoring, contingency plans, or replanning.</a:t>
            </a:r>
            <a:endParaRPr lang="en-US" sz="15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82"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3"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84"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Formal Definition of a Search Problem</a:t>
            </a:r>
            <a:endParaRPr lang="en-US" sz="2600" b="0" u="none" strike="noStrike">
              <a:solidFill>
                <a:srgbClr val="000000"/>
              </a:solidFill>
              <a:effectLst/>
              <a:uFillTx/>
              <a:latin typeface="Arial"/>
            </a:endParaRPr>
          </a:p>
        </p:txBody>
      </p:sp>
      <p:sp>
        <p:nvSpPr>
          <p:cNvPr id="185"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86"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87" name="Text 5"/>
          <p:cNvSpPr/>
          <p:nvPr/>
        </p:nvSpPr>
        <p:spPr>
          <a:xfrm>
            <a:off x="777240" y="1417320"/>
            <a:ext cx="2284560" cy="50148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State space</a:t>
            </a:r>
            <a:endParaRPr lang="en-US" sz="1400" b="0" u="none" strike="noStrike">
              <a:solidFill>
                <a:srgbClr val="000000"/>
              </a:solidFill>
              <a:effectLst/>
              <a:uFillTx/>
              <a:latin typeface="Arial"/>
            </a:endParaRPr>
          </a:p>
        </p:txBody>
      </p:sp>
      <p:sp>
        <p:nvSpPr>
          <p:cNvPr id="188" name="Text 6"/>
          <p:cNvSpPr/>
          <p:nvPr/>
        </p:nvSpPr>
        <p:spPr>
          <a:xfrm>
            <a:off x="3246120" y="1444680"/>
            <a:ext cx="2833200" cy="4100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400" b="0" u="none" strike="noStrike">
                <a:solidFill>
                  <a:srgbClr val="102A4C"/>
                </a:solidFill>
                <a:effectLst/>
                <a:uFillTx/>
                <a:latin typeface="Aptos"/>
              </a:rPr>
              <a:t>Set of possible states</a:t>
            </a:r>
            <a:endParaRPr lang="en-US" sz="1400" b="0" u="none" strike="noStrike">
              <a:solidFill>
                <a:srgbClr val="000000"/>
              </a:solidFill>
              <a:effectLst/>
              <a:uFillTx/>
              <a:latin typeface="Arial"/>
            </a:endParaRPr>
          </a:p>
        </p:txBody>
      </p:sp>
      <p:sp>
        <p:nvSpPr>
          <p:cNvPr id="189" name="Text 7"/>
          <p:cNvSpPr/>
          <p:nvPr/>
        </p:nvSpPr>
        <p:spPr>
          <a:xfrm>
            <a:off x="777240" y="2651760"/>
            <a:ext cx="2284560" cy="50148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Initial state</a:t>
            </a:r>
            <a:endParaRPr lang="en-US" sz="1400" b="0" u="none" strike="noStrike">
              <a:solidFill>
                <a:srgbClr val="000000"/>
              </a:solidFill>
              <a:effectLst/>
              <a:uFillTx/>
              <a:latin typeface="Arial"/>
            </a:endParaRPr>
          </a:p>
        </p:txBody>
      </p:sp>
      <p:sp>
        <p:nvSpPr>
          <p:cNvPr id="190" name="Text 8"/>
          <p:cNvSpPr/>
          <p:nvPr/>
        </p:nvSpPr>
        <p:spPr>
          <a:xfrm>
            <a:off x="3246120" y="2679120"/>
            <a:ext cx="2833200" cy="4100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400" b="0" u="none" strike="noStrike">
                <a:solidFill>
                  <a:srgbClr val="102A4C"/>
                </a:solidFill>
                <a:effectLst/>
                <a:uFillTx/>
                <a:latin typeface="Aptos"/>
              </a:rPr>
              <a:t>Where the agent starts</a:t>
            </a:r>
            <a:endParaRPr lang="en-US" sz="1400" b="0" u="none" strike="noStrike">
              <a:solidFill>
                <a:srgbClr val="000000"/>
              </a:solidFill>
              <a:effectLst/>
              <a:uFillTx/>
              <a:latin typeface="Arial"/>
            </a:endParaRPr>
          </a:p>
        </p:txBody>
      </p:sp>
      <p:sp>
        <p:nvSpPr>
          <p:cNvPr id="191" name="Text 9"/>
          <p:cNvSpPr/>
          <p:nvPr/>
        </p:nvSpPr>
        <p:spPr>
          <a:xfrm>
            <a:off x="777240" y="3886200"/>
            <a:ext cx="2284560" cy="50148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Goal test</a:t>
            </a:r>
            <a:endParaRPr lang="en-US" sz="1400" b="0" u="none" strike="noStrike">
              <a:solidFill>
                <a:srgbClr val="000000"/>
              </a:solidFill>
              <a:effectLst/>
              <a:uFillTx/>
              <a:latin typeface="Arial"/>
            </a:endParaRPr>
          </a:p>
        </p:txBody>
      </p:sp>
      <p:sp>
        <p:nvSpPr>
          <p:cNvPr id="192" name="Text 10"/>
          <p:cNvSpPr/>
          <p:nvPr/>
        </p:nvSpPr>
        <p:spPr>
          <a:xfrm>
            <a:off x="3246120" y="3913560"/>
            <a:ext cx="2833200" cy="41004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400" b="0" u="none" strike="noStrike">
                <a:solidFill>
                  <a:srgbClr val="102A4C"/>
                </a:solidFill>
                <a:effectLst/>
                <a:uFillTx/>
                <a:latin typeface="Aptos"/>
              </a:rPr>
              <a:t>Is-Goal(s): property or set of goal states</a:t>
            </a:r>
            <a:endParaRPr lang="en-US" sz="1400" b="0" u="none" strike="noStrike">
              <a:solidFill>
                <a:srgbClr val="000000"/>
              </a:solidFill>
              <a:effectLst/>
              <a:uFillTx/>
              <a:latin typeface="Arial"/>
            </a:endParaRPr>
          </a:p>
        </p:txBody>
      </p:sp>
      <p:sp>
        <p:nvSpPr>
          <p:cNvPr id="193" name="Text 11"/>
          <p:cNvSpPr/>
          <p:nvPr/>
        </p:nvSpPr>
        <p:spPr>
          <a:xfrm>
            <a:off x="6172200" y="1417320"/>
            <a:ext cx="2284560" cy="50148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Actions</a:t>
            </a:r>
            <a:endParaRPr lang="en-US" sz="1400" b="0" u="none" strike="noStrike">
              <a:solidFill>
                <a:srgbClr val="000000"/>
              </a:solidFill>
              <a:effectLst/>
              <a:uFillTx/>
              <a:latin typeface="Arial"/>
            </a:endParaRPr>
          </a:p>
        </p:txBody>
      </p:sp>
      <p:sp>
        <p:nvSpPr>
          <p:cNvPr id="194" name="Text 12"/>
          <p:cNvSpPr/>
          <p:nvPr/>
        </p:nvSpPr>
        <p:spPr>
          <a:xfrm>
            <a:off x="8641080" y="1444680"/>
            <a:ext cx="2833200" cy="41004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400" b="0" u="none" strike="noStrike">
                <a:solidFill>
                  <a:srgbClr val="102A4C"/>
                </a:solidFill>
                <a:effectLst/>
                <a:uFillTx/>
                <a:latin typeface="Aptos"/>
              </a:rPr>
              <a:t>ACTIONS(s): actions applicable in state s</a:t>
            </a:r>
            <a:endParaRPr lang="en-US" sz="1400" b="0" u="none" strike="noStrike">
              <a:solidFill>
                <a:srgbClr val="000000"/>
              </a:solidFill>
              <a:effectLst/>
              <a:uFillTx/>
              <a:latin typeface="Arial"/>
            </a:endParaRPr>
          </a:p>
        </p:txBody>
      </p:sp>
      <p:sp>
        <p:nvSpPr>
          <p:cNvPr id="195" name="Text 13"/>
          <p:cNvSpPr/>
          <p:nvPr/>
        </p:nvSpPr>
        <p:spPr>
          <a:xfrm>
            <a:off x="6172200" y="2651760"/>
            <a:ext cx="2284560" cy="50148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Transition model</a:t>
            </a:r>
            <a:endParaRPr lang="en-US" sz="1400" b="0" u="none" strike="noStrike">
              <a:solidFill>
                <a:srgbClr val="000000"/>
              </a:solidFill>
              <a:effectLst/>
              <a:uFillTx/>
              <a:latin typeface="Arial"/>
            </a:endParaRPr>
          </a:p>
        </p:txBody>
      </p:sp>
      <p:sp>
        <p:nvSpPr>
          <p:cNvPr id="196" name="Text 14"/>
          <p:cNvSpPr/>
          <p:nvPr/>
        </p:nvSpPr>
        <p:spPr>
          <a:xfrm>
            <a:off x="8641080" y="2679120"/>
            <a:ext cx="2833200" cy="41004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400" b="0" u="none" strike="noStrike">
                <a:solidFill>
                  <a:srgbClr val="102A4C"/>
                </a:solidFill>
                <a:effectLst/>
                <a:uFillTx/>
                <a:latin typeface="Aptos"/>
              </a:rPr>
              <a:t>RESULT(s,a): state reached after action a</a:t>
            </a:r>
            <a:endParaRPr lang="en-US" sz="1400" b="0" u="none" strike="noStrike">
              <a:solidFill>
                <a:srgbClr val="000000"/>
              </a:solidFill>
              <a:effectLst/>
              <a:uFillTx/>
              <a:latin typeface="Arial"/>
            </a:endParaRPr>
          </a:p>
        </p:txBody>
      </p:sp>
      <p:sp>
        <p:nvSpPr>
          <p:cNvPr id="197" name="Text 15"/>
          <p:cNvSpPr/>
          <p:nvPr/>
        </p:nvSpPr>
        <p:spPr>
          <a:xfrm>
            <a:off x="6172200" y="3886200"/>
            <a:ext cx="2284560" cy="50148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Action cost</a:t>
            </a:r>
            <a:endParaRPr lang="en-US" sz="1400" b="0" u="none" strike="noStrike">
              <a:solidFill>
                <a:srgbClr val="000000"/>
              </a:solidFill>
              <a:effectLst/>
              <a:uFillTx/>
              <a:latin typeface="Arial"/>
            </a:endParaRPr>
          </a:p>
        </p:txBody>
      </p:sp>
      <p:sp>
        <p:nvSpPr>
          <p:cNvPr id="198" name="Text 16"/>
          <p:cNvSpPr/>
          <p:nvPr/>
        </p:nvSpPr>
        <p:spPr>
          <a:xfrm>
            <a:off x="8641080" y="3913560"/>
            <a:ext cx="2833200" cy="41004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400" b="0" u="none" strike="noStrike">
                <a:solidFill>
                  <a:srgbClr val="102A4C"/>
                </a:solidFill>
                <a:effectLst/>
                <a:uFillTx/>
                <a:latin typeface="Aptos"/>
              </a:rPr>
              <a:t>c(s,a,s′): numeric cost of applying an action</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99"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0"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01"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Romania Route-Finding Example</a:t>
            </a:r>
            <a:endParaRPr lang="en-US" sz="2600" b="0" u="none" strike="noStrike">
              <a:solidFill>
                <a:srgbClr val="000000"/>
              </a:solidFill>
              <a:effectLst/>
              <a:uFillTx/>
              <a:latin typeface="Arial"/>
            </a:endParaRPr>
          </a:p>
        </p:txBody>
      </p:sp>
      <p:sp>
        <p:nvSpPr>
          <p:cNvPr id="202"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03"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04" name="Shape 5"/>
          <p:cNvSpPr/>
          <p:nvPr/>
        </p:nvSpPr>
        <p:spPr>
          <a:xfrm flipV="1">
            <a:off x="1005840" y="2103120"/>
            <a:ext cx="2011680" cy="91440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05" name="Text 6"/>
          <p:cNvSpPr/>
          <p:nvPr/>
        </p:nvSpPr>
        <p:spPr>
          <a:xfrm>
            <a:off x="1847160" y="2432160"/>
            <a:ext cx="327600" cy="163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140</a:t>
            </a:r>
            <a:endParaRPr lang="en-US" sz="850" b="0" u="none" strike="noStrike">
              <a:solidFill>
                <a:srgbClr val="000000"/>
              </a:solidFill>
              <a:effectLst/>
              <a:uFillTx/>
              <a:latin typeface="Arial"/>
            </a:endParaRPr>
          </a:p>
        </p:txBody>
      </p:sp>
      <p:sp>
        <p:nvSpPr>
          <p:cNvPr id="206" name="Shape 7"/>
          <p:cNvSpPr/>
          <p:nvPr/>
        </p:nvSpPr>
        <p:spPr>
          <a:xfrm>
            <a:off x="1005840" y="3017520"/>
            <a:ext cx="2011680" cy="360"/>
          </a:xfrm>
          <a:prstGeom prst="line">
            <a:avLst/>
          </a:prstGeom>
          <a:ln w="1651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07" name="Text 8"/>
          <p:cNvSpPr/>
          <p:nvPr/>
        </p:nvSpPr>
        <p:spPr>
          <a:xfrm>
            <a:off x="1847160" y="2889360"/>
            <a:ext cx="327600" cy="163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118</a:t>
            </a:r>
            <a:endParaRPr lang="en-US" sz="850" b="0" u="none" strike="noStrike">
              <a:solidFill>
                <a:srgbClr val="000000"/>
              </a:solidFill>
              <a:effectLst/>
              <a:uFillTx/>
              <a:latin typeface="Arial"/>
            </a:endParaRPr>
          </a:p>
        </p:txBody>
      </p:sp>
      <p:sp>
        <p:nvSpPr>
          <p:cNvPr id="208" name="Shape 9"/>
          <p:cNvSpPr/>
          <p:nvPr/>
        </p:nvSpPr>
        <p:spPr>
          <a:xfrm>
            <a:off x="1005840" y="3017520"/>
            <a:ext cx="2011680" cy="91440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09" name="Text 10"/>
          <p:cNvSpPr/>
          <p:nvPr/>
        </p:nvSpPr>
        <p:spPr>
          <a:xfrm>
            <a:off x="1847160" y="3346560"/>
            <a:ext cx="327600" cy="163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75</a:t>
            </a:r>
            <a:endParaRPr lang="en-US" sz="850" b="0" u="none" strike="noStrike">
              <a:solidFill>
                <a:srgbClr val="000000"/>
              </a:solidFill>
              <a:effectLst/>
              <a:uFillTx/>
              <a:latin typeface="Arial"/>
            </a:endParaRPr>
          </a:p>
        </p:txBody>
      </p:sp>
      <p:sp>
        <p:nvSpPr>
          <p:cNvPr id="210" name="Shape 11"/>
          <p:cNvSpPr/>
          <p:nvPr/>
        </p:nvSpPr>
        <p:spPr>
          <a:xfrm flipV="1">
            <a:off x="3017520" y="1828800"/>
            <a:ext cx="2057400" cy="27432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11" name="Text 12"/>
          <p:cNvSpPr/>
          <p:nvPr/>
        </p:nvSpPr>
        <p:spPr>
          <a:xfrm>
            <a:off x="3881520" y="1837800"/>
            <a:ext cx="327600" cy="163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99</a:t>
            </a:r>
            <a:endParaRPr lang="en-US" sz="850" b="0" u="none" strike="noStrike">
              <a:solidFill>
                <a:srgbClr val="000000"/>
              </a:solidFill>
              <a:effectLst/>
              <a:uFillTx/>
              <a:latin typeface="Arial"/>
            </a:endParaRPr>
          </a:p>
        </p:txBody>
      </p:sp>
      <p:sp>
        <p:nvSpPr>
          <p:cNvPr id="212" name="Shape 13"/>
          <p:cNvSpPr/>
          <p:nvPr/>
        </p:nvSpPr>
        <p:spPr>
          <a:xfrm>
            <a:off x="3017520" y="2103120"/>
            <a:ext cx="2057400" cy="64008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13" name="Text 14"/>
          <p:cNvSpPr/>
          <p:nvPr/>
        </p:nvSpPr>
        <p:spPr>
          <a:xfrm>
            <a:off x="3881520" y="2295000"/>
            <a:ext cx="327600" cy="163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80</a:t>
            </a:r>
            <a:endParaRPr lang="en-US" sz="850" b="0" u="none" strike="noStrike">
              <a:solidFill>
                <a:srgbClr val="000000"/>
              </a:solidFill>
              <a:effectLst/>
              <a:uFillTx/>
              <a:latin typeface="Arial"/>
            </a:endParaRPr>
          </a:p>
        </p:txBody>
      </p:sp>
      <p:sp>
        <p:nvSpPr>
          <p:cNvPr id="214" name="Shape 15"/>
          <p:cNvSpPr/>
          <p:nvPr/>
        </p:nvSpPr>
        <p:spPr>
          <a:xfrm>
            <a:off x="5074920" y="2743200"/>
            <a:ext cx="1920240" cy="360"/>
          </a:xfrm>
          <a:prstGeom prst="line">
            <a:avLst/>
          </a:prstGeom>
          <a:ln w="1651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15" name="Text 16"/>
          <p:cNvSpPr/>
          <p:nvPr/>
        </p:nvSpPr>
        <p:spPr>
          <a:xfrm>
            <a:off x="5870520" y="2615040"/>
            <a:ext cx="327600" cy="163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97</a:t>
            </a:r>
            <a:endParaRPr lang="en-US" sz="850" b="0" u="none" strike="noStrike">
              <a:solidFill>
                <a:srgbClr val="000000"/>
              </a:solidFill>
              <a:effectLst/>
              <a:uFillTx/>
              <a:latin typeface="Arial"/>
            </a:endParaRPr>
          </a:p>
        </p:txBody>
      </p:sp>
      <p:sp>
        <p:nvSpPr>
          <p:cNvPr id="216" name="Shape 17"/>
          <p:cNvSpPr/>
          <p:nvPr/>
        </p:nvSpPr>
        <p:spPr>
          <a:xfrm flipV="1">
            <a:off x="6995160" y="2240280"/>
            <a:ext cx="2011680" cy="50292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17" name="Text 18"/>
          <p:cNvSpPr/>
          <p:nvPr/>
        </p:nvSpPr>
        <p:spPr>
          <a:xfrm>
            <a:off x="7836480" y="2363760"/>
            <a:ext cx="327600" cy="163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101</a:t>
            </a:r>
            <a:endParaRPr lang="en-US" sz="850" b="0" u="none" strike="noStrike">
              <a:solidFill>
                <a:srgbClr val="000000"/>
              </a:solidFill>
              <a:effectLst/>
              <a:uFillTx/>
              <a:latin typeface="Arial"/>
            </a:endParaRPr>
          </a:p>
        </p:txBody>
      </p:sp>
      <p:sp>
        <p:nvSpPr>
          <p:cNvPr id="218" name="Shape 19"/>
          <p:cNvSpPr/>
          <p:nvPr/>
        </p:nvSpPr>
        <p:spPr>
          <a:xfrm>
            <a:off x="5074920" y="1828800"/>
            <a:ext cx="3931920" cy="411480"/>
          </a:xfrm>
          <a:prstGeom prst="line">
            <a:avLst/>
          </a:prstGeom>
          <a:ln w="1651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19" name="Text 20"/>
          <p:cNvSpPr/>
          <p:nvPr/>
        </p:nvSpPr>
        <p:spPr>
          <a:xfrm>
            <a:off x="6876360" y="1906560"/>
            <a:ext cx="327600" cy="163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5C6B80"/>
                </a:solidFill>
                <a:effectLst/>
                <a:uFillTx/>
                <a:latin typeface="Aptos"/>
              </a:rPr>
              <a:t>211</a:t>
            </a:r>
            <a:endParaRPr lang="en-US" sz="850" b="0" u="none" strike="noStrike">
              <a:solidFill>
                <a:srgbClr val="000000"/>
              </a:solidFill>
              <a:effectLst/>
              <a:uFillTx/>
              <a:latin typeface="Arial"/>
            </a:endParaRPr>
          </a:p>
        </p:txBody>
      </p:sp>
      <p:sp>
        <p:nvSpPr>
          <p:cNvPr id="220" name="Text 21"/>
          <p:cNvSpPr/>
          <p:nvPr/>
        </p:nvSpPr>
        <p:spPr>
          <a:xfrm>
            <a:off x="841320" y="2853000"/>
            <a:ext cx="327600" cy="327600"/>
          </a:xfrm>
          <a:prstGeom prst="ellipse">
            <a:avLst/>
          </a:prstGeom>
          <a:solidFill>
            <a:srgbClr val="FFE5B6"/>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221" name="Text 22"/>
          <p:cNvSpPr/>
          <p:nvPr/>
        </p:nvSpPr>
        <p:spPr>
          <a:xfrm>
            <a:off x="530280" y="3246120"/>
            <a:ext cx="9496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Arad</a:t>
            </a:r>
            <a:endParaRPr lang="en-US" sz="850" b="0" u="none" strike="noStrike">
              <a:solidFill>
                <a:srgbClr val="000000"/>
              </a:solidFill>
              <a:effectLst/>
              <a:uFillTx/>
              <a:latin typeface="Arial"/>
            </a:endParaRPr>
          </a:p>
        </p:txBody>
      </p:sp>
      <p:sp>
        <p:nvSpPr>
          <p:cNvPr id="222" name="Text 23"/>
          <p:cNvSpPr/>
          <p:nvPr/>
        </p:nvSpPr>
        <p:spPr>
          <a:xfrm>
            <a:off x="2853000" y="1938600"/>
            <a:ext cx="327600" cy="32760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223" name="Text 24"/>
          <p:cNvSpPr/>
          <p:nvPr/>
        </p:nvSpPr>
        <p:spPr>
          <a:xfrm>
            <a:off x="2541960" y="2331720"/>
            <a:ext cx="9496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Sibiu</a:t>
            </a:r>
            <a:endParaRPr lang="en-US" sz="850" b="0" u="none" strike="noStrike">
              <a:solidFill>
                <a:srgbClr val="000000"/>
              </a:solidFill>
              <a:effectLst/>
              <a:uFillTx/>
              <a:latin typeface="Arial"/>
            </a:endParaRPr>
          </a:p>
        </p:txBody>
      </p:sp>
      <p:sp>
        <p:nvSpPr>
          <p:cNvPr id="224" name="Text 25"/>
          <p:cNvSpPr/>
          <p:nvPr/>
        </p:nvSpPr>
        <p:spPr>
          <a:xfrm>
            <a:off x="2853000" y="2853000"/>
            <a:ext cx="327600" cy="32760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T</a:t>
            </a:r>
            <a:endParaRPr lang="en-US" sz="900" b="0" u="none" strike="noStrike">
              <a:solidFill>
                <a:srgbClr val="000000"/>
              </a:solidFill>
              <a:effectLst/>
              <a:uFillTx/>
              <a:latin typeface="Arial"/>
            </a:endParaRPr>
          </a:p>
        </p:txBody>
      </p:sp>
      <p:sp>
        <p:nvSpPr>
          <p:cNvPr id="225" name="Text 26"/>
          <p:cNvSpPr/>
          <p:nvPr/>
        </p:nvSpPr>
        <p:spPr>
          <a:xfrm>
            <a:off x="2541960" y="3246120"/>
            <a:ext cx="9496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Timisoara</a:t>
            </a:r>
            <a:endParaRPr lang="en-US" sz="850" b="0" u="none" strike="noStrike">
              <a:solidFill>
                <a:srgbClr val="000000"/>
              </a:solidFill>
              <a:effectLst/>
              <a:uFillTx/>
              <a:latin typeface="Arial"/>
            </a:endParaRPr>
          </a:p>
        </p:txBody>
      </p:sp>
      <p:sp>
        <p:nvSpPr>
          <p:cNvPr id="226" name="Text 27"/>
          <p:cNvSpPr/>
          <p:nvPr/>
        </p:nvSpPr>
        <p:spPr>
          <a:xfrm>
            <a:off x="2853000" y="3767400"/>
            <a:ext cx="327600" cy="32760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Z</a:t>
            </a:r>
            <a:endParaRPr lang="en-US" sz="900" b="0" u="none" strike="noStrike">
              <a:solidFill>
                <a:srgbClr val="000000"/>
              </a:solidFill>
              <a:effectLst/>
              <a:uFillTx/>
              <a:latin typeface="Arial"/>
            </a:endParaRPr>
          </a:p>
        </p:txBody>
      </p:sp>
      <p:sp>
        <p:nvSpPr>
          <p:cNvPr id="227" name="Text 28"/>
          <p:cNvSpPr/>
          <p:nvPr/>
        </p:nvSpPr>
        <p:spPr>
          <a:xfrm>
            <a:off x="2541960" y="4160520"/>
            <a:ext cx="9496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Zerind</a:t>
            </a:r>
            <a:endParaRPr lang="en-US" sz="850" b="0" u="none" strike="noStrike">
              <a:solidFill>
                <a:srgbClr val="000000"/>
              </a:solidFill>
              <a:effectLst/>
              <a:uFillTx/>
              <a:latin typeface="Arial"/>
            </a:endParaRPr>
          </a:p>
        </p:txBody>
      </p:sp>
      <p:sp>
        <p:nvSpPr>
          <p:cNvPr id="228" name="Text 29"/>
          <p:cNvSpPr/>
          <p:nvPr/>
        </p:nvSpPr>
        <p:spPr>
          <a:xfrm>
            <a:off x="4910400" y="1664280"/>
            <a:ext cx="327600" cy="32760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229" name="Text 30"/>
          <p:cNvSpPr/>
          <p:nvPr/>
        </p:nvSpPr>
        <p:spPr>
          <a:xfrm>
            <a:off x="4599360" y="2057400"/>
            <a:ext cx="9496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Fagaras</a:t>
            </a:r>
            <a:endParaRPr lang="en-US" sz="850" b="0" u="none" strike="noStrike">
              <a:solidFill>
                <a:srgbClr val="000000"/>
              </a:solidFill>
              <a:effectLst/>
              <a:uFillTx/>
              <a:latin typeface="Arial"/>
            </a:endParaRPr>
          </a:p>
        </p:txBody>
      </p:sp>
      <p:sp>
        <p:nvSpPr>
          <p:cNvPr id="230" name="Text 31"/>
          <p:cNvSpPr/>
          <p:nvPr/>
        </p:nvSpPr>
        <p:spPr>
          <a:xfrm>
            <a:off x="4910400" y="2578680"/>
            <a:ext cx="327600" cy="32760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231" name="Text 32"/>
          <p:cNvSpPr/>
          <p:nvPr/>
        </p:nvSpPr>
        <p:spPr>
          <a:xfrm>
            <a:off x="4599360" y="2971800"/>
            <a:ext cx="9496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Rimnicu</a:t>
            </a:r>
            <a:endParaRPr lang="en-US" sz="850" b="0" u="none" strike="noStrike">
              <a:solidFill>
                <a:srgbClr val="000000"/>
              </a:solidFill>
              <a:effectLst/>
              <a:uFillTx/>
              <a:latin typeface="Arial"/>
            </a:endParaRPr>
          </a:p>
        </p:txBody>
      </p:sp>
      <p:sp>
        <p:nvSpPr>
          <p:cNvPr id="232" name="Text 33"/>
          <p:cNvSpPr/>
          <p:nvPr/>
        </p:nvSpPr>
        <p:spPr>
          <a:xfrm>
            <a:off x="6830640" y="2578680"/>
            <a:ext cx="327600" cy="32760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233" name="Text 34"/>
          <p:cNvSpPr/>
          <p:nvPr/>
        </p:nvSpPr>
        <p:spPr>
          <a:xfrm>
            <a:off x="6519600" y="2971800"/>
            <a:ext cx="9496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Pitesti</a:t>
            </a:r>
            <a:endParaRPr lang="en-US" sz="850" b="0" u="none" strike="noStrike">
              <a:solidFill>
                <a:srgbClr val="000000"/>
              </a:solidFill>
              <a:effectLst/>
              <a:uFillTx/>
              <a:latin typeface="Arial"/>
            </a:endParaRPr>
          </a:p>
        </p:txBody>
      </p:sp>
      <p:sp>
        <p:nvSpPr>
          <p:cNvPr id="234" name="Text 35"/>
          <p:cNvSpPr/>
          <p:nvPr/>
        </p:nvSpPr>
        <p:spPr>
          <a:xfrm>
            <a:off x="8842320" y="2075760"/>
            <a:ext cx="327600" cy="32760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235" name="Text 36"/>
          <p:cNvSpPr/>
          <p:nvPr/>
        </p:nvSpPr>
        <p:spPr>
          <a:xfrm>
            <a:off x="8531280" y="2468880"/>
            <a:ext cx="9496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0" u="none" strike="noStrike">
                <a:solidFill>
                  <a:srgbClr val="102A4C"/>
                </a:solidFill>
                <a:effectLst/>
                <a:uFillTx/>
                <a:latin typeface="Aptos"/>
              </a:rPr>
              <a:t>Bucharest</a:t>
            </a:r>
            <a:endParaRPr lang="en-US" sz="850" b="0" u="none" strike="noStrike">
              <a:solidFill>
                <a:srgbClr val="000000"/>
              </a:solidFill>
              <a:effectLst/>
              <a:uFillTx/>
              <a:latin typeface="Arial"/>
            </a:endParaRPr>
          </a:p>
        </p:txBody>
      </p:sp>
      <p:sp>
        <p:nvSpPr>
          <p:cNvPr id="236" name="Text 37"/>
          <p:cNvSpPr/>
          <p:nvPr/>
        </p:nvSpPr>
        <p:spPr>
          <a:xfrm>
            <a:off x="822960" y="4709160"/>
            <a:ext cx="10331280" cy="912960"/>
          </a:xfrm>
          <a:prstGeom prst="rect">
            <a:avLst/>
          </a:prstGeom>
          <a:noFill/>
          <a:ln w="0">
            <a:noFill/>
          </a:ln>
        </p:spPr>
        <p:style>
          <a:lnRef idx="0"/>
          <a:fillRef idx="0"/>
          <a:effectRef idx="0"/>
          <a:fontRef idx="minor"/>
        </p:style>
        <p:txBody>
          <a:bodyPr lIns="720" tIns="720" rIns="720" bIns="720" anchor="ctr">
            <a:normAutofit fontScale="92500" lnSpcReduction="9999"/>
          </a:bodyPr>
          <a:p>
            <a:pPr defTabSz="914400">
              <a:lnSpc>
                <a:spcPct val="100000"/>
              </a:lnSpc>
            </a:pPr>
            <a:r>
              <a:rPr lang="en-US" sz="1350" b="0" u="none" strike="noStrike">
                <a:solidFill>
                  <a:srgbClr val="102A4C"/>
                </a:solidFill>
                <a:effectLst/>
                <a:uFillTx/>
                <a:latin typeface="Aptos"/>
              </a:rPr>
              <a:t>State space: cities</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Initial state: Arad</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Goal test: current city is Bucharest</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Actions: drive to adjacent city</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Cost: road distance, time, or fuel</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237"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8"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39"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Abstraction: Keep What Matters, Drop What Does Not</a:t>
            </a:r>
            <a:endParaRPr lang="en-US" sz="2600" b="0" u="none" strike="noStrike">
              <a:solidFill>
                <a:srgbClr val="000000"/>
              </a:solidFill>
              <a:effectLst/>
              <a:uFillTx/>
              <a:latin typeface="Arial"/>
            </a:endParaRPr>
          </a:p>
        </p:txBody>
      </p:sp>
      <p:sp>
        <p:nvSpPr>
          <p:cNvPr id="240"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41"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42" name="Text 5"/>
          <p:cNvSpPr/>
          <p:nvPr/>
        </p:nvSpPr>
        <p:spPr>
          <a:xfrm>
            <a:off x="868680" y="1417320"/>
            <a:ext cx="3016080" cy="501480"/>
          </a:xfrm>
          <a:prstGeom prst="roundRect">
            <a:avLst>
              <a:gd name="adj" fmla="val 14545"/>
            </a:avLst>
          </a:prstGeom>
          <a:solidFill>
            <a:srgbClr val="F7D7D7"/>
          </a:solidFill>
          <a:ln w="15240">
            <a:solidFill>
              <a:srgbClr val="9B1C1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9B1C1C"/>
                </a:solidFill>
                <a:effectLst/>
                <a:uFillTx/>
                <a:latin typeface="Aptos"/>
              </a:rPr>
              <a:t>Too detailed</a:t>
            </a:r>
            <a:endParaRPr lang="en-US" sz="1600" b="0" u="none" strike="noStrike">
              <a:solidFill>
                <a:srgbClr val="000000"/>
              </a:solidFill>
              <a:effectLst/>
              <a:uFillTx/>
              <a:latin typeface="Arial"/>
            </a:endParaRPr>
          </a:p>
        </p:txBody>
      </p:sp>
      <p:sp>
        <p:nvSpPr>
          <p:cNvPr id="243" name="Text 6"/>
          <p:cNvSpPr/>
          <p:nvPr/>
        </p:nvSpPr>
        <p:spPr>
          <a:xfrm>
            <a:off x="868680" y="2030040"/>
            <a:ext cx="3016080" cy="1095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400" b="0" u="none" strike="noStrike">
                <a:solidFill>
                  <a:srgbClr val="102A4C"/>
                </a:solidFill>
                <a:effectLst/>
                <a:uFillTx/>
                <a:latin typeface="Aptos"/>
              </a:rPr>
              <a:t>Move right foot forward one centimeter; turn steering wheel one degree; track radio station and scenery.</a:t>
            </a:r>
            <a:endParaRPr lang="en-US" sz="1400" b="0" u="none" strike="noStrike">
              <a:solidFill>
                <a:srgbClr val="000000"/>
              </a:solidFill>
              <a:effectLst/>
              <a:uFillTx/>
              <a:latin typeface="Arial"/>
            </a:endParaRPr>
          </a:p>
        </p:txBody>
      </p:sp>
      <p:sp>
        <p:nvSpPr>
          <p:cNvPr id="244" name="Text 7"/>
          <p:cNvSpPr/>
          <p:nvPr/>
        </p:nvSpPr>
        <p:spPr>
          <a:xfrm>
            <a:off x="4572000" y="1417320"/>
            <a:ext cx="3016080" cy="50148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Useful abstraction</a:t>
            </a:r>
            <a:endParaRPr lang="en-US" sz="1600" b="0" u="none" strike="noStrike">
              <a:solidFill>
                <a:srgbClr val="000000"/>
              </a:solidFill>
              <a:effectLst/>
              <a:uFillTx/>
              <a:latin typeface="Arial"/>
            </a:endParaRPr>
          </a:p>
        </p:txBody>
      </p:sp>
      <p:sp>
        <p:nvSpPr>
          <p:cNvPr id="245" name="Text 8"/>
          <p:cNvSpPr/>
          <p:nvPr/>
        </p:nvSpPr>
        <p:spPr>
          <a:xfrm>
            <a:off x="4572000" y="2030040"/>
            <a:ext cx="3016080" cy="1095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400" b="0" u="none" strike="noStrike">
                <a:solidFill>
                  <a:srgbClr val="102A4C"/>
                </a:solidFill>
                <a:effectLst/>
                <a:uFillTx/>
                <a:latin typeface="Aptos"/>
              </a:rPr>
              <a:t>Drive from Arad to Sibiu. The action is detailed enough to plan with and simple enough to execute.</a:t>
            </a:r>
            <a:endParaRPr lang="en-US" sz="1400" b="0" u="none" strike="noStrike">
              <a:solidFill>
                <a:srgbClr val="000000"/>
              </a:solidFill>
              <a:effectLst/>
              <a:uFillTx/>
              <a:latin typeface="Arial"/>
            </a:endParaRPr>
          </a:p>
        </p:txBody>
      </p:sp>
      <p:sp>
        <p:nvSpPr>
          <p:cNvPr id="246" name="Text 9"/>
          <p:cNvSpPr/>
          <p:nvPr/>
        </p:nvSpPr>
        <p:spPr>
          <a:xfrm>
            <a:off x="8275320" y="1417320"/>
            <a:ext cx="3016080" cy="50148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12E5C"/>
                </a:solidFill>
                <a:effectLst/>
                <a:uFillTx/>
                <a:latin typeface="Aptos"/>
              </a:rPr>
              <a:t>Good formulation</a:t>
            </a:r>
            <a:endParaRPr lang="en-US" sz="1600" b="0" u="none" strike="noStrike">
              <a:solidFill>
                <a:srgbClr val="000000"/>
              </a:solidFill>
              <a:effectLst/>
              <a:uFillTx/>
              <a:latin typeface="Arial"/>
            </a:endParaRPr>
          </a:p>
        </p:txBody>
      </p:sp>
      <p:sp>
        <p:nvSpPr>
          <p:cNvPr id="247" name="Text 10"/>
          <p:cNvSpPr/>
          <p:nvPr/>
        </p:nvSpPr>
        <p:spPr>
          <a:xfrm>
            <a:off x="8275320" y="1965960"/>
            <a:ext cx="3061800" cy="137016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350" b="0" u="none" strike="noStrike">
                <a:solidFill>
                  <a:srgbClr val="102A4C"/>
                </a:solidFill>
                <a:effectLst/>
                <a:uFillTx/>
                <a:latin typeface="Aptos"/>
              </a:rPr>
              <a:t>Valid: abstract solution can be elaborated into a real solution</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Useful: each abstract action is easier than solving the original problem</a:t>
            </a:r>
            <a:endParaRPr lang="en-US" sz="1350" b="0" u="none" strike="noStrike">
              <a:solidFill>
                <a:srgbClr val="000000"/>
              </a:solidFill>
              <a:effectLst/>
              <a:uFillTx/>
              <a:latin typeface="Arial"/>
            </a:endParaRPr>
          </a:p>
        </p:txBody>
      </p:sp>
      <p:sp>
        <p:nvSpPr>
          <p:cNvPr id="248" name="Text 11"/>
          <p:cNvSpPr/>
          <p:nvPr/>
        </p:nvSpPr>
        <p:spPr>
          <a:xfrm>
            <a:off x="1097280" y="4617720"/>
            <a:ext cx="9965520" cy="50148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2000" b="1" u="none" strike="noStrike">
                <a:solidFill>
                  <a:srgbClr val="112E5C"/>
                </a:solidFill>
                <a:effectLst/>
                <a:uFillTx/>
                <a:latin typeface="Aptos"/>
              </a:rPr>
              <a:t>Remove as much detail as possible while preserving validity and executable actions.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249"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0"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51"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Search Problems Are Models</a:t>
            </a:r>
            <a:endParaRPr lang="en-US" sz="2600" b="0" u="none" strike="noStrike">
              <a:solidFill>
                <a:srgbClr val="000000"/>
              </a:solidFill>
              <a:effectLst/>
              <a:uFillTx/>
              <a:latin typeface="Arial"/>
            </a:endParaRPr>
          </a:p>
        </p:txBody>
      </p:sp>
      <p:sp>
        <p:nvSpPr>
          <p:cNvPr id="252"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53"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54" name="Text 5"/>
          <p:cNvSpPr/>
          <p:nvPr/>
        </p:nvSpPr>
        <p:spPr>
          <a:xfrm>
            <a:off x="822960" y="1463040"/>
            <a:ext cx="5027760" cy="364320"/>
          </a:xfrm>
          <a:prstGeom prst="rect">
            <a:avLst/>
          </a:prstGeom>
          <a:noFill/>
          <a:ln w="0">
            <a:noFill/>
          </a:ln>
        </p:spPr>
        <p:style>
          <a:lnRef idx="0"/>
          <a:fillRef idx="0"/>
          <a:effectRef idx="0"/>
          <a:fontRef idx="minor"/>
        </p:style>
        <p:txBody>
          <a:bodyPr lIns="720" tIns="720" rIns="720" bIns="720" anchor="ctr">
            <a:normAutofit fontScale="70000" lnSpcReduction="19999"/>
          </a:bodyPr>
          <a:p>
            <a:pPr defTabSz="914400">
              <a:lnSpc>
                <a:spcPct val="100000"/>
              </a:lnSpc>
              <a:tabLst>
                <a:tab pos="0" algn="l"/>
              </a:tabLst>
            </a:pPr>
            <a:r>
              <a:rPr lang="en-US" sz="2100" b="1" u="none" strike="noStrike">
                <a:solidFill>
                  <a:srgbClr val="102A4C"/>
                </a:solidFill>
                <a:effectLst/>
                <a:uFillTx/>
                <a:latin typeface="Aptos"/>
              </a:rPr>
              <a:t>The agent does not try every plan in the real world.</a:t>
            </a:r>
            <a:endParaRPr lang="en-US" sz="2100" b="0" u="none" strike="noStrike">
              <a:solidFill>
                <a:srgbClr val="000000"/>
              </a:solidFill>
              <a:effectLst/>
              <a:uFillTx/>
              <a:latin typeface="Arial"/>
            </a:endParaRPr>
          </a:p>
        </p:txBody>
      </p:sp>
      <p:sp>
        <p:nvSpPr>
          <p:cNvPr id="255" name="Text 6"/>
          <p:cNvSpPr/>
          <p:nvPr/>
        </p:nvSpPr>
        <p:spPr>
          <a:xfrm>
            <a:off x="914400" y="2148840"/>
            <a:ext cx="5027760" cy="274176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600" b="0" u="none" strike="noStrike">
                <a:solidFill>
                  <a:srgbClr val="102A4C"/>
                </a:solidFill>
                <a:effectLst/>
                <a:uFillTx/>
                <a:latin typeface="Aptos"/>
              </a:rPr>
              <a:t>The search problem is an abstract model of the environment.</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Planning happens “in simulation.”</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Your search is only as good as your model.</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Bad state/action/cost choices can produce bad behavior.</a:t>
            </a:r>
            <a:endParaRPr lang="en-US" sz="1600" b="0" u="none" strike="noStrike">
              <a:solidFill>
                <a:srgbClr val="000000"/>
              </a:solidFill>
              <a:effectLst/>
              <a:uFillTx/>
              <a:latin typeface="Arial"/>
            </a:endParaRPr>
          </a:p>
        </p:txBody>
      </p:sp>
      <p:sp>
        <p:nvSpPr>
          <p:cNvPr id="256" name="Text 7"/>
          <p:cNvSpPr/>
          <p:nvPr/>
        </p:nvSpPr>
        <p:spPr>
          <a:xfrm>
            <a:off x="6629400" y="1645920"/>
            <a:ext cx="1918800" cy="501480"/>
          </a:xfrm>
          <a:prstGeom prst="roundRect">
            <a:avLst>
              <a:gd name="adj" fmla="val 14545"/>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Real world</a:t>
            </a:r>
            <a:endParaRPr lang="en-US" sz="1500" b="0" u="none" strike="noStrike">
              <a:solidFill>
                <a:srgbClr val="000000"/>
              </a:solidFill>
              <a:effectLst/>
              <a:uFillTx/>
              <a:latin typeface="Arial"/>
            </a:endParaRPr>
          </a:p>
        </p:txBody>
      </p:sp>
      <p:sp>
        <p:nvSpPr>
          <p:cNvPr id="257" name="Text 8"/>
          <p:cNvSpPr/>
          <p:nvPr/>
        </p:nvSpPr>
        <p:spPr>
          <a:xfrm>
            <a:off x="9326880" y="1645920"/>
            <a:ext cx="1918800" cy="50148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2F7FD5"/>
                </a:solidFill>
                <a:effectLst/>
                <a:uFillTx/>
                <a:latin typeface="Aptos"/>
              </a:rPr>
              <a:t>Search model</a:t>
            </a:r>
            <a:endParaRPr lang="en-US" sz="1500" b="0" u="none" strike="noStrike">
              <a:solidFill>
                <a:srgbClr val="000000"/>
              </a:solidFill>
              <a:effectLst/>
              <a:uFillTx/>
              <a:latin typeface="Arial"/>
            </a:endParaRPr>
          </a:p>
        </p:txBody>
      </p:sp>
      <p:sp>
        <p:nvSpPr>
          <p:cNvPr id="258" name="Shape 9"/>
          <p:cNvSpPr/>
          <p:nvPr/>
        </p:nvSpPr>
        <p:spPr>
          <a:xfrm>
            <a:off x="8549640" y="1892520"/>
            <a:ext cx="777240" cy="360"/>
          </a:xfrm>
          <a:prstGeom prst="line">
            <a:avLst/>
          </a:prstGeom>
          <a:ln w="2540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59" name="Text 10"/>
          <p:cNvSpPr/>
          <p:nvPr/>
        </p:nvSpPr>
        <p:spPr>
          <a:xfrm>
            <a:off x="6711840" y="2459880"/>
            <a:ext cx="291240" cy="29124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60" name="Text 11"/>
          <p:cNvSpPr/>
          <p:nvPr/>
        </p:nvSpPr>
        <p:spPr>
          <a:xfrm>
            <a:off x="7123320" y="2459880"/>
            <a:ext cx="291240" cy="29124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61" name="Text 12"/>
          <p:cNvSpPr/>
          <p:nvPr/>
        </p:nvSpPr>
        <p:spPr>
          <a:xfrm>
            <a:off x="7534800" y="2459880"/>
            <a:ext cx="291240" cy="29124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62" name="Text 13"/>
          <p:cNvSpPr/>
          <p:nvPr/>
        </p:nvSpPr>
        <p:spPr>
          <a:xfrm>
            <a:off x="7946280" y="2459880"/>
            <a:ext cx="291240" cy="29124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63" name="Text 14"/>
          <p:cNvSpPr/>
          <p:nvPr/>
        </p:nvSpPr>
        <p:spPr>
          <a:xfrm>
            <a:off x="6711840" y="2962800"/>
            <a:ext cx="291240" cy="29124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64" name="Text 15"/>
          <p:cNvSpPr/>
          <p:nvPr/>
        </p:nvSpPr>
        <p:spPr>
          <a:xfrm>
            <a:off x="7123320" y="2962800"/>
            <a:ext cx="291240" cy="29124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65" name="Text 16"/>
          <p:cNvSpPr/>
          <p:nvPr/>
        </p:nvSpPr>
        <p:spPr>
          <a:xfrm>
            <a:off x="7534800" y="2962800"/>
            <a:ext cx="291240" cy="29124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66" name="Text 17"/>
          <p:cNvSpPr/>
          <p:nvPr/>
        </p:nvSpPr>
        <p:spPr>
          <a:xfrm>
            <a:off x="7946280" y="2962800"/>
            <a:ext cx="291240" cy="291240"/>
          </a:xfrm>
          <a:prstGeom prst="ellipse">
            <a:avLst/>
          </a:prstGeom>
          <a:solidFill>
            <a:srgbClr val="FFFFFF"/>
          </a:solidFill>
          <a:ln w="15240">
            <a:solidFill>
              <a:srgbClr val="D8DEE8"/>
            </a:solidFill>
            <a:round/>
          </a:ln>
        </p:spPr>
        <p:style>
          <a:lnRef idx="0"/>
          <a:fillRef idx="0"/>
          <a:effectRef idx="0"/>
          <a:fontRef idx="minor"/>
        </p:style>
        <p:txBody>
          <a:bodyPr lIns="0" tIns="0" rIns="0" bIns="0" anchor="ctr">
            <a:normAutofit fontScale="77500" lnSpcReduction="19999"/>
          </a:bodyPr>
          <a:p>
            <a:endParaRPr lang="en-US" sz="900" b="0" u="none" strike="noStrike">
              <a:solidFill>
                <a:schemeClr val="dk1"/>
              </a:solidFill>
              <a:effectLst/>
              <a:uFillTx/>
              <a:latin typeface="Aptos"/>
            </a:endParaRPr>
          </a:p>
        </p:txBody>
      </p:sp>
      <p:sp>
        <p:nvSpPr>
          <p:cNvPr id="267" name="Text 18"/>
          <p:cNvSpPr/>
          <p:nvPr/>
        </p:nvSpPr>
        <p:spPr>
          <a:xfrm>
            <a:off x="9409320" y="2734200"/>
            <a:ext cx="291240" cy="29124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800" b="1" u="none" strike="noStrike">
                <a:solidFill>
                  <a:srgbClr val="102A4C"/>
                </a:solidFill>
                <a:effectLst/>
                <a:uFillTx/>
                <a:latin typeface="Aptos"/>
              </a:rPr>
              <a:t>A</a:t>
            </a:r>
            <a:endParaRPr lang="en-US" sz="800" b="0" u="none" strike="noStrike">
              <a:solidFill>
                <a:srgbClr val="000000"/>
              </a:solidFill>
              <a:effectLst/>
              <a:uFillTx/>
              <a:latin typeface="Arial"/>
            </a:endParaRPr>
          </a:p>
        </p:txBody>
      </p:sp>
      <p:sp>
        <p:nvSpPr>
          <p:cNvPr id="268" name="Shape 19"/>
          <p:cNvSpPr/>
          <p:nvPr/>
        </p:nvSpPr>
        <p:spPr>
          <a:xfrm>
            <a:off x="9555480" y="2880360"/>
            <a:ext cx="365760" cy="360"/>
          </a:xfrm>
          <a:prstGeom prst="line">
            <a:avLst/>
          </a:prstGeom>
          <a:ln w="15240">
            <a:solidFill>
              <a:srgbClr val="17724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69" name="Text 20"/>
          <p:cNvSpPr/>
          <p:nvPr/>
        </p:nvSpPr>
        <p:spPr>
          <a:xfrm>
            <a:off x="9775080" y="2734200"/>
            <a:ext cx="291240" cy="29124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800" b="1" u="none" strike="noStrike">
                <a:solidFill>
                  <a:srgbClr val="102A4C"/>
                </a:solidFill>
                <a:effectLst/>
                <a:uFillTx/>
                <a:latin typeface="Aptos"/>
              </a:rPr>
              <a:t>B</a:t>
            </a:r>
            <a:endParaRPr lang="en-US" sz="800" b="0" u="none" strike="noStrike">
              <a:solidFill>
                <a:srgbClr val="000000"/>
              </a:solidFill>
              <a:effectLst/>
              <a:uFillTx/>
              <a:latin typeface="Arial"/>
            </a:endParaRPr>
          </a:p>
        </p:txBody>
      </p:sp>
      <p:sp>
        <p:nvSpPr>
          <p:cNvPr id="270" name="Shape 21"/>
          <p:cNvSpPr/>
          <p:nvPr/>
        </p:nvSpPr>
        <p:spPr>
          <a:xfrm>
            <a:off x="9921240" y="2880360"/>
            <a:ext cx="365760" cy="360"/>
          </a:xfrm>
          <a:prstGeom prst="line">
            <a:avLst/>
          </a:prstGeom>
          <a:ln w="15240">
            <a:solidFill>
              <a:srgbClr val="17724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71" name="Text 22"/>
          <p:cNvSpPr/>
          <p:nvPr/>
        </p:nvSpPr>
        <p:spPr>
          <a:xfrm>
            <a:off x="10140840" y="2734200"/>
            <a:ext cx="291240" cy="29124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800" b="1" u="none" strike="noStrike">
                <a:solidFill>
                  <a:srgbClr val="102A4C"/>
                </a:solidFill>
                <a:effectLst/>
                <a:uFillTx/>
                <a:latin typeface="Aptos"/>
              </a:rPr>
              <a:t>C</a:t>
            </a:r>
            <a:endParaRPr lang="en-US" sz="800" b="0" u="none" strike="noStrike">
              <a:solidFill>
                <a:srgbClr val="000000"/>
              </a:solidFill>
              <a:effectLst/>
              <a:uFillTx/>
              <a:latin typeface="Arial"/>
            </a:endParaRPr>
          </a:p>
        </p:txBody>
      </p:sp>
      <p:sp>
        <p:nvSpPr>
          <p:cNvPr id="272" name="Shape 23"/>
          <p:cNvSpPr/>
          <p:nvPr/>
        </p:nvSpPr>
        <p:spPr>
          <a:xfrm>
            <a:off x="10287000" y="2880360"/>
            <a:ext cx="365760" cy="360"/>
          </a:xfrm>
          <a:prstGeom prst="line">
            <a:avLst/>
          </a:prstGeom>
          <a:ln w="15240">
            <a:solidFill>
              <a:srgbClr val="177245"/>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73" name="Text 24"/>
          <p:cNvSpPr/>
          <p:nvPr/>
        </p:nvSpPr>
        <p:spPr>
          <a:xfrm>
            <a:off x="10506600" y="2734200"/>
            <a:ext cx="291240" cy="29124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800" b="1" u="none" strike="noStrike">
                <a:solidFill>
                  <a:srgbClr val="102A4C"/>
                </a:solidFill>
                <a:effectLst/>
                <a:uFillTx/>
                <a:latin typeface="Aptos"/>
              </a:rPr>
              <a:t>D</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274" name="Shape 446"/>
          <p:cNvSpPr/>
          <p:nvPr/>
        </p:nvSpPr>
        <p:spPr>
          <a:xfrm>
            <a:off x="228600" y="228600"/>
            <a:ext cx="11748600" cy="748440"/>
          </a:xfrm>
          <a:prstGeom prst="rect">
            <a:avLst/>
          </a:prstGeom>
          <a:solidFill>
            <a:srgbClr val="112E5C"/>
          </a:solidFill>
          <a:ln w="15240">
            <a:solidFill>
              <a:srgbClr val="112E5C"/>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275" name="Shape 447"/>
          <p:cNvSpPr/>
          <p:nvPr/>
        </p:nvSpPr>
        <p:spPr>
          <a:xfrm>
            <a:off x="228600" y="978480"/>
            <a:ext cx="11748600" cy="62640"/>
          </a:xfrm>
          <a:prstGeom prst="rect">
            <a:avLst/>
          </a:prstGeom>
          <a:solidFill>
            <a:srgbClr val="F6A01A"/>
          </a:solidFill>
          <a:ln w="15240">
            <a:solidFill>
              <a:srgbClr val="F6A01A"/>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276" name="Text 448"/>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When Search Fails, Suspect the Model First</a:t>
            </a:r>
            <a:endParaRPr lang="en-US" sz="2600" b="0" u="none" strike="noStrike">
              <a:solidFill>
                <a:srgbClr val="000000"/>
              </a:solidFill>
              <a:effectLst/>
              <a:uFillTx/>
              <a:latin typeface="Arial"/>
            </a:endParaRPr>
          </a:p>
        </p:txBody>
      </p:sp>
      <p:sp>
        <p:nvSpPr>
          <p:cNvPr id="277" name="Text 449"/>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78" name="Text 450"/>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rm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79" name="Text 451"/>
          <p:cNvSpPr/>
          <p:nvPr/>
        </p:nvSpPr>
        <p:spPr>
          <a:xfrm>
            <a:off x="822960" y="1508760"/>
            <a:ext cx="5027760" cy="528840"/>
          </a:xfrm>
          <a:prstGeom prst="roundRect">
            <a:avLst>
              <a:gd name="adj" fmla="val 13793"/>
            </a:avLst>
          </a:prstGeom>
          <a:solidFill>
            <a:srgbClr val="F2A0A0"/>
          </a:solidFill>
          <a:ln w="15240">
            <a:solidFill>
              <a:srgbClr val="9B1C1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9B1C1C"/>
                </a:solidFill>
                <a:effectLst/>
                <a:uFillTx/>
                <a:latin typeface="Aptos"/>
              </a:rPr>
              <a:t>The turn that does not exist</a:t>
            </a:r>
            <a:endParaRPr lang="en-US" sz="1700" b="0" u="none" strike="noStrike">
              <a:solidFill>
                <a:srgbClr val="000000"/>
              </a:solidFill>
              <a:effectLst/>
              <a:uFillTx/>
              <a:latin typeface="Arial"/>
            </a:endParaRPr>
          </a:p>
        </p:txBody>
      </p:sp>
      <p:sp>
        <p:nvSpPr>
          <p:cNvPr id="280" name="Text 452"/>
          <p:cNvSpPr/>
          <p:nvPr/>
        </p:nvSpPr>
        <p:spPr>
          <a:xfrm>
            <a:off x="6400800" y="1508760"/>
            <a:ext cx="5027760" cy="528840"/>
          </a:xfrm>
          <a:prstGeom prst="roundRect">
            <a:avLst>
              <a:gd name="adj" fmla="val 13793"/>
            </a:avLst>
          </a:prstGeom>
          <a:solidFill>
            <a:srgbClr val="F2A0A0"/>
          </a:solidFill>
          <a:ln w="15240">
            <a:solidFill>
              <a:srgbClr val="9B1C1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9B1C1C"/>
                </a:solidFill>
                <a:effectLst/>
                <a:uFillTx/>
                <a:latin typeface="Aptos"/>
              </a:rPr>
              <a:t>The route across open water</a:t>
            </a:r>
            <a:endParaRPr lang="en-US" sz="1700" b="0" u="none" strike="noStrike">
              <a:solidFill>
                <a:srgbClr val="000000"/>
              </a:solidFill>
              <a:effectLst/>
              <a:uFillTx/>
              <a:latin typeface="Arial"/>
            </a:endParaRPr>
          </a:p>
        </p:txBody>
      </p:sp>
      <p:sp>
        <p:nvSpPr>
          <p:cNvPr id="281" name="Text 453"/>
          <p:cNvSpPr/>
          <p:nvPr/>
        </p:nvSpPr>
        <p:spPr>
          <a:xfrm>
            <a:off x="1051560" y="2199960"/>
            <a:ext cx="4570560" cy="1148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00" b="0" u="none" strike="noStrike">
                <a:solidFill>
                  <a:srgbClr val="102A4C"/>
                </a:solidFill>
                <a:effectLst/>
                <a:uFillTx/>
                <a:latin typeface="Aptos"/>
              </a:rPr>
              <a:t>A routing system directs the driver through a turn no car can actually make. The algorithm returned a least-cost path through the graph it was handed — and that graph contained an edge the road does not.</a:t>
            </a:r>
            <a:endParaRPr lang="en-US" sz="1500" b="0" u="none" strike="noStrike">
              <a:solidFill>
                <a:srgbClr val="000000"/>
              </a:solidFill>
              <a:effectLst/>
              <a:uFillTx/>
              <a:latin typeface="Arial"/>
            </a:endParaRPr>
          </a:p>
        </p:txBody>
      </p:sp>
      <p:sp>
        <p:nvSpPr>
          <p:cNvPr id="282" name="Text 454"/>
          <p:cNvSpPr/>
          <p:nvPr/>
        </p:nvSpPr>
        <p:spPr>
          <a:xfrm>
            <a:off x="6629400" y="2199960"/>
            <a:ext cx="4570560" cy="1148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00" b="0" u="none" strike="noStrike">
                <a:solidFill>
                  <a:srgbClr val="102A4C"/>
                </a:solidFill>
                <a:effectLst/>
                <a:uFillTx/>
                <a:latin typeface="Aptos"/>
              </a:rPr>
              <a:t>A route sends the car across water on a boat trip, repeatedly. Most likely an edge near the destination is simply missing, so the successor function keeps returning the only continuations the graph actually has.</a:t>
            </a:r>
            <a:endParaRPr lang="en-US" sz="1500" b="0" u="none" strike="noStrike">
              <a:solidFill>
                <a:srgbClr val="000000"/>
              </a:solidFill>
              <a:effectLst/>
              <a:uFillTx/>
              <a:latin typeface="Arial"/>
            </a:endParaRPr>
          </a:p>
        </p:txBody>
      </p:sp>
      <p:sp>
        <p:nvSpPr>
          <p:cNvPr id="283" name="Text 455"/>
          <p:cNvSpPr/>
          <p:nvPr/>
        </p:nvSpPr>
        <p:spPr>
          <a:xfrm>
            <a:off x="914400" y="3480120"/>
            <a:ext cx="10331280" cy="2790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300" b="0" u="none" strike="noStrike">
                <a:solidFill>
                  <a:srgbClr val="5C6B80"/>
                </a:solidFill>
                <a:effectLst/>
                <a:uFillTx/>
                <a:latin typeface="Aptos"/>
              </a:rPr>
              <a:t>Three places a formulation can be wrong</a:t>
            </a:r>
            <a:endParaRPr lang="en-US" sz="1300" b="0" u="none" strike="noStrike">
              <a:solidFill>
                <a:srgbClr val="000000"/>
              </a:solidFill>
              <a:effectLst/>
              <a:uFillTx/>
              <a:latin typeface="Arial"/>
            </a:endParaRPr>
          </a:p>
        </p:txBody>
      </p:sp>
      <p:sp>
        <p:nvSpPr>
          <p:cNvPr id="284" name="Text 456"/>
          <p:cNvSpPr/>
          <p:nvPr/>
        </p:nvSpPr>
        <p:spPr>
          <a:xfrm>
            <a:off x="914400" y="3819960"/>
            <a:ext cx="3299040" cy="878760"/>
          </a:xfrm>
          <a:prstGeom prst="roundRect">
            <a:avLst>
              <a:gd name="adj" fmla="val 13793"/>
            </a:avLst>
          </a:prstGeom>
          <a:solidFill>
            <a:srgbClr val="EAF2FF"/>
          </a:solidFill>
          <a:ln w="15240">
            <a:solidFill>
              <a:srgbClr val="D8DEE8"/>
            </a:solidFill>
            <a:round/>
          </a:ln>
        </p:spPr>
        <p:style>
          <a:lnRef idx="0"/>
          <a:fillRef idx="0"/>
          <a:effectRef idx="0"/>
          <a:fontRef idx="minor"/>
        </p:style>
        <p:txBody>
          <a:bodyPr lIns="90000" tIns="90000" rIns="90000" bIns="90000" anchor="ctr">
            <a:normAutofit/>
          </a:bodyPr>
          <a:p>
            <a:pPr algn="ctr" defTabSz="914400">
              <a:lnSpc>
                <a:spcPct val="100000"/>
              </a:lnSpc>
              <a:tabLst>
                <a:tab pos="0" algn="l"/>
              </a:tabLst>
            </a:pPr>
            <a:r>
              <a:rPr lang="en-US" sz="1500" b="1" u="none" strike="noStrike">
                <a:solidFill>
                  <a:srgbClr val="112E5C"/>
                </a:solidFill>
                <a:effectLst/>
                <a:uFillTx/>
                <a:latin typeface="Aptos"/>
              </a:rPr>
              <a:t>State space</a:t>
            </a:r>
            <a:endParaRPr lang="en-US" sz="1500" b="0" u="none" strike="noStrike">
              <a:solidFill>
                <a:srgbClr val="000000"/>
              </a:solidFill>
              <a:effectLst/>
              <a:uFillTx/>
              <a:latin typeface="Arial"/>
            </a:endParaRPr>
          </a:p>
          <a:p>
            <a:pPr algn="ctr" defTabSz="914400">
              <a:lnSpc>
                <a:spcPct val="100000"/>
              </a:lnSpc>
              <a:spcBef>
                <a:spcPts val="400"/>
              </a:spcBef>
              <a:tabLst>
                <a:tab pos="0" algn="l"/>
              </a:tabLst>
            </a:pPr>
            <a:r>
              <a:rPr lang="en-US" sz="1300" b="0" u="none" strike="noStrike">
                <a:solidFill>
                  <a:srgbClr val="102A4C"/>
                </a:solidFill>
                <a:effectLst/>
                <a:uFillTx/>
                <a:latin typeface="Aptos"/>
              </a:rPr>
              <a:t>Are you tracking the right things, at the right granularity?</a:t>
            </a:r>
            <a:endParaRPr lang="en-US" sz="1300" b="0" u="none" strike="noStrike">
              <a:solidFill>
                <a:srgbClr val="000000"/>
              </a:solidFill>
              <a:effectLst/>
              <a:uFillTx/>
              <a:latin typeface="Arial"/>
            </a:endParaRPr>
          </a:p>
        </p:txBody>
      </p:sp>
      <p:sp>
        <p:nvSpPr>
          <p:cNvPr id="285" name="Text 457"/>
          <p:cNvSpPr/>
          <p:nvPr/>
        </p:nvSpPr>
        <p:spPr>
          <a:xfrm>
            <a:off x="4430520" y="3819960"/>
            <a:ext cx="3299040" cy="878760"/>
          </a:xfrm>
          <a:prstGeom prst="roundRect">
            <a:avLst>
              <a:gd name="adj" fmla="val 13793"/>
            </a:avLst>
          </a:prstGeom>
          <a:solidFill>
            <a:srgbClr val="EAF2FF"/>
          </a:solidFill>
          <a:ln w="15240">
            <a:solidFill>
              <a:srgbClr val="D8DEE8"/>
            </a:solidFill>
            <a:round/>
          </a:ln>
        </p:spPr>
        <p:style>
          <a:lnRef idx="0"/>
          <a:fillRef idx="0"/>
          <a:effectRef idx="0"/>
          <a:fontRef idx="minor"/>
        </p:style>
        <p:txBody>
          <a:bodyPr lIns="90000" tIns="90000" rIns="90000" bIns="90000" anchor="ctr">
            <a:normAutofit/>
          </a:bodyPr>
          <a:p>
            <a:pPr algn="ctr" defTabSz="914400">
              <a:lnSpc>
                <a:spcPct val="100000"/>
              </a:lnSpc>
              <a:tabLst>
                <a:tab pos="0" algn="l"/>
              </a:tabLst>
            </a:pPr>
            <a:r>
              <a:rPr lang="en-US" sz="1500" b="1" u="none" strike="noStrike">
                <a:solidFill>
                  <a:srgbClr val="112E5C"/>
                </a:solidFill>
                <a:effectLst/>
                <a:uFillTx/>
                <a:latin typeface="Aptos"/>
              </a:rPr>
              <a:t>Successor function</a:t>
            </a:r>
            <a:endParaRPr lang="en-US" sz="1500" b="0" u="none" strike="noStrike">
              <a:solidFill>
                <a:srgbClr val="000000"/>
              </a:solidFill>
              <a:effectLst/>
              <a:uFillTx/>
              <a:latin typeface="Arial"/>
            </a:endParaRPr>
          </a:p>
          <a:p>
            <a:pPr algn="ctr" defTabSz="914400">
              <a:lnSpc>
                <a:spcPct val="100000"/>
              </a:lnSpc>
              <a:spcBef>
                <a:spcPts val="400"/>
              </a:spcBef>
              <a:tabLst>
                <a:tab pos="0" algn="l"/>
              </a:tabLst>
            </a:pPr>
            <a:r>
              <a:rPr lang="en-US" sz="1300" b="0" u="none" strike="noStrike">
                <a:solidFill>
                  <a:srgbClr val="102A4C"/>
                </a:solidFill>
                <a:effectLst/>
                <a:uFillTx/>
                <a:latin typeface="Aptos"/>
              </a:rPr>
              <a:t>Is every edge real, and is any real edge missing?</a:t>
            </a:r>
            <a:endParaRPr lang="en-US" sz="1300" b="0" u="none" strike="noStrike">
              <a:solidFill>
                <a:srgbClr val="000000"/>
              </a:solidFill>
              <a:effectLst/>
              <a:uFillTx/>
              <a:latin typeface="Arial"/>
            </a:endParaRPr>
          </a:p>
        </p:txBody>
      </p:sp>
      <p:sp>
        <p:nvSpPr>
          <p:cNvPr id="286" name="Text 458"/>
          <p:cNvSpPr/>
          <p:nvPr/>
        </p:nvSpPr>
        <p:spPr>
          <a:xfrm>
            <a:off x="7946640" y="3819960"/>
            <a:ext cx="3299040" cy="878760"/>
          </a:xfrm>
          <a:prstGeom prst="roundRect">
            <a:avLst>
              <a:gd name="adj" fmla="val 13793"/>
            </a:avLst>
          </a:prstGeom>
          <a:solidFill>
            <a:srgbClr val="EAF2FF"/>
          </a:solidFill>
          <a:ln w="15240">
            <a:solidFill>
              <a:srgbClr val="D8DEE8"/>
            </a:solidFill>
            <a:round/>
          </a:ln>
        </p:spPr>
        <p:style>
          <a:lnRef idx="0"/>
          <a:fillRef idx="0"/>
          <a:effectRef idx="0"/>
          <a:fontRef idx="minor"/>
        </p:style>
        <p:txBody>
          <a:bodyPr lIns="90000" tIns="90000" rIns="90000" bIns="90000" anchor="ctr">
            <a:normAutofit/>
          </a:bodyPr>
          <a:p>
            <a:pPr algn="ctr" defTabSz="914400">
              <a:lnSpc>
                <a:spcPct val="100000"/>
              </a:lnSpc>
              <a:tabLst>
                <a:tab pos="0" algn="l"/>
              </a:tabLst>
            </a:pPr>
            <a:r>
              <a:rPr lang="en-US" sz="1500" b="1" u="none" strike="noStrike">
                <a:solidFill>
                  <a:srgbClr val="112E5C"/>
                </a:solidFill>
                <a:effectLst/>
                <a:uFillTx/>
                <a:latin typeface="Aptos"/>
              </a:rPr>
              <a:t>Cost function</a:t>
            </a:r>
            <a:endParaRPr lang="en-US" sz="1500" b="0" u="none" strike="noStrike">
              <a:solidFill>
                <a:srgbClr val="000000"/>
              </a:solidFill>
              <a:effectLst/>
              <a:uFillTx/>
              <a:latin typeface="Arial"/>
            </a:endParaRPr>
          </a:p>
          <a:p>
            <a:pPr algn="ctr" defTabSz="914400">
              <a:lnSpc>
                <a:spcPct val="100000"/>
              </a:lnSpc>
              <a:spcBef>
                <a:spcPts val="400"/>
              </a:spcBef>
              <a:tabLst>
                <a:tab pos="0" algn="l"/>
              </a:tabLst>
            </a:pPr>
            <a:r>
              <a:rPr lang="en-US" sz="1300" b="0" u="none" strike="noStrike">
                <a:solidFill>
                  <a:srgbClr val="102A4C"/>
                </a:solidFill>
                <a:effectLst/>
                <a:uFillTx/>
                <a:latin typeface="Aptos"/>
              </a:rPr>
              <a:t>Does the number being minimised measure what you care about?</a:t>
            </a:r>
            <a:endParaRPr lang="en-US" sz="1300" b="0" u="none" strike="noStrike">
              <a:solidFill>
                <a:srgbClr val="000000"/>
              </a:solidFill>
              <a:effectLst/>
              <a:uFillTx/>
              <a:latin typeface="Arial"/>
            </a:endParaRPr>
          </a:p>
        </p:txBody>
      </p:sp>
      <p:sp>
        <p:nvSpPr>
          <p:cNvPr id="287" name="Text 459"/>
          <p:cNvSpPr/>
          <p:nvPr/>
        </p:nvSpPr>
        <p:spPr>
          <a:xfrm>
            <a:off x="914400" y="4979880"/>
            <a:ext cx="10331280" cy="428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1" u="none" strike="noStrike">
                <a:solidFill>
                  <a:srgbClr val="112E5C"/>
                </a:solidFill>
                <a:effectLst/>
                <a:uFillTx/>
                <a:latin typeface="Aptos"/>
              </a:rPr>
              <a:t>Neither is a bug in BFS, UCS, or A*. Both are formulation defects.</a:t>
            </a:r>
            <a:endParaRPr lang="en-US" sz="1800" b="0" u="none" strike="noStrike">
              <a:solidFill>
                <a:srgbClr val="000000"/>
              </a:solidFill>
              <a:effectLst/>
              <a:uFillTx/>
              <a:latin typeface="Arial"/>
            </a:endParaRPr>
          </a:p>
        </p:txBody>
      </p:sp>
      <p:sp>
        <p:nvSpPr>
          <p:cNvPr id="288" name="Text 460"/>
          <p:cNvSpPr/>
          <p:nvPr/>
        </p:nvSpPr>
        <p:spPr>
          <a:xfrm>
            <a:off x="914400" y="5479920"/>
            <a:ext cx="10331280" cy="428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5C6B80"/>
                </a:solidFill>
                <a:effectLst/>
                <a:uFillTx/>
                <a:latin typeface="Aptos"/>
              </a:rPr>
              <a:t>First question when a search returns nonsense on a real problem: does the model actually say what I think it says?</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289"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0"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91"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Section 3.2: Example Search Problems</a:t>
            </a:r>
            <a:endParaRPr lang="en-US" sz="2600" b="0" u="none" strike="noStrike">
              <a:solidFill>
                <a:srgbClr val="000000"/>
              </a:solidFill>
              <a:effectLst/>
              <a:uFillTx/>
              <a:latin typeface="Arial"/>
            </a:endParaRPr>
          </a:p>
        </p:txBody>
      </p:sp>
      <p:sp>
        <p:nvSpPr>
          <p:cNvPr id="292"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93"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94" name="Text 5"/>
          <p:cNvSpPr/>
          <p:nvPr/>
        </p:nvSpPr>
        <p:spPr>
          <a:xfrm>
            <a:off x="822960" y="1508760"/>
            <a:ext cx="5027760" cy="528840"/>
          </a:xfrm>
          <a:prstGeom prst="roundRect">
            <a:avLst>
              <a:gd name="adj" fmla="val 13793"/>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2F7FD5"/>
                </a:solidFill>
                <a:effectLst/>
                <a:uFillTx/>
                <a:latin typeface="Aptos"/>
              </a:rPr>
              <a:t>Standardized problems</a:t>
            </a:r>
            <a:endParaRPr lang="en-US" sz="1700" b="0" u="none" strike="noStrike">
              <a:solidFill>
                <a:srgbClr val="000000"/>
              </a:solidFill>
              <a:effectLst/>
              <a:uFillTx/>
              <a:latin typeface="Arial"/>
            </a:endParaRPr>
          </a:p>
        </p:txBody>
      </p:sp>
      <p:sp>
        <p:nvSpPr>
          <p:cNvPr id="295" name="Text 6"/>
          <p:cNvSpPr/>
          <p:nvPr/>
        </p:nvSpPr>
        <p:spPr>
          <a:xfrm>
            <a:off x="1051560" y="2331720"/>
            <a:ext cx="4570560" cy="9129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Grid worlds, vacuum world, Sokoban, sliding-tile puzzles, Knuth’s 4 problem</a:t>
            </a:r>
            <a:endParaRPr lang="en-US" sz="1600" b="0" u="none" strike="noStrike">
              <a:solidFill>
                <a:srgbClr val="000000"/>
              </a:solidFill>
              <a:effectLst/>
              <a:uFillTx/>
              <a:latin typeface="Arial"/>
            </a:endParaRPr>
          </a:p>
        </p:txBody>
      </p:sp>
      <p:sp>
        <p:nvSpPr>
          <p:cNvPr id="296" name="Text 7"/>
          <p:cNvSpPr/>
          <p:nvPr/>
        </p:nvSpPr>
        <p:spPr>
          <a:xfrm>
            <a:off x="1051560" y="3657600"/>
            <a:ext cx="4570560" cy="5929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5C6B80"/>
                </a:solidFill>
                <a:effectLst/>
                <a:uFillTx/>
                <a:latin typeface="Aptos"/>
              </a:rPr>
              <a:t>designed for precise algorithm comparison</a:t>
            </a:r>
            <a:endParaRPr lang="en-US" sz="1400" b="0" u="none" strike="noStrike">
              <a:solidFill>
                <a:srgbClr val="000000"/>
              </a:solidFill>
              <a:effectLst/>
              <a:uFillTx/>
              <a:latin typeface="Arial"/>
            </a:endParaRPr>
          </a:p>
        </p:txBody>
      </p:sp>
      <p:sp>
        <p:nvSpPr>
          <p:cNvPr id="297" name="Text 8"/>
          <p:cNvSpPr/>
          <p:nvPr/>
        </p:nvSpPr>
        <p:spPr>
          <a:xfrm>
            <a:off x="6400800" y="1508760"/>
            <a:ext cx="5027760" cy="528840"/>
          </a:xfrm>
          <a:prstGeom prst="roundRect">
            <a:avLst>
              <a:gd name="adj" fmla="val 13793"/>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177245"/>
                </a:solidFill>
                <a:effectLst/>
                <a:uFillTx/>
                <a:latin typeface="Aptos"/>
              </a:rPr>
              <a:t>Real-world problems</a:t>
            </a:r>
            <a:endParaRPr lang="en-US" sz="1700" b="0" u="none" strike="noStrike">
              <a:solidFill>
                <a:srgbClr val="000000"/>
              </a:solidFill>
              <a:effectLst/>
              <a:uFillTx/>
              <a:latin typeface="Arial"/>
            </a:endParaRPr>
          </a:p>
        </p:txBody>
      </p:sp>
      <p:sp>
        <p:nvSpPr>
          <p:cNvPr id="298" name="Text 9"/>
          <p:cNvSpPr/>
          <p:nvPr/>
        </p:nvSpPr>
        <p:spPr>
          <a:xfrm>
            <a:off x="6629400" y="2331720"/>
            <a:ext cx="4570560" cy="9129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Route finding, airline planning, TSP, VLSI layout, robot navigation, assembly sequencing</a:t>
            </a:r>
            <a:endParaRPr lang="en-US" sz="1600" b="0" u="none" strike="noStrike">
              <a:solidFill>
                <a:srgbClr val="000000"/>
              </a:solidFill>
              <a:effectLst/>
              <a:uFillTx/>
              <a:latin typeface="Arial"/>
            </a:endParaRPr>
          </a:p>
        </p:txBody>
      </p:sp>
      <p:sp>
        <p:nvSpPr>
          <p:cNvPr id="299" name="Text 10"/>
          <p:cNvSpPr/>
          <p:nvPr/>
        </p:nvSpPr>
        <p:spPr>
          <a:xfrm>
            <a:off x="6629400" y="3657600"/>
            <a:ext cx="4570560" cy="5929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5C6B80"/>
                </a:solidFill>
                <a:effectLst/>
                <a:uFillTx/>
                <a:latin typeface="Aptos"/>
              </a:rPr>
              <a:t>messy sensors, constraints, costs, and failure modes</a:t>
            </a:r>
            <a:endParaRPr lang="en-US" sz="1400" b="0" u="none" strike="noStrike">
              <a:solidFill>
                <a:srgbClr val="000000"/>
              </a:solidFill>
              <a:effectLst/>
              <a:uFillTx/>
              <a:latin typeface="Arial"/>
            </a:endParaRPr>
          </a:p>
        </p:txBody>
      </p:sp>
      <p:sp>
        <p:nvSpPr>
          <p:cNvPr id="300" name="Text 11"/>
          <p:cNvSpPr/>
          <p:nvPr/>
        </p:nvSpPr>
        <p:spPr>
          <a:xfrm>
            <a:off x="914400" y="5166360"/>
            <a:ext cx="10331280" cy="38268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1800" b="1" u="none" strike="noStrike">
                <a:solidFill>
                  <a:srgbClr val="112E5C"/>
                </a:solidFill>
                <a:effectLst/>
                <a:uFillTx/>
                <a:latin typeface="Aptos"/>
              </a:rPr>
              <a:t>Benchmarking teaches algorithms; formulation determines whether algorithms help in practice.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301"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02"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03"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Grid Worlds and Sokoban</a:t>
            </a:r>
            <a:endParaRPr lang="en-US" sz="2600" b="0" u="none" strike="noStrike">
              <a:solidFill>
                <a:srgbClr val="000000"/>
              </a:solidFill>
              <a:effectLst/>
              <a:uFillTx/>
              <a:latin typeface="Arial"/>
            </a:endParaRPr>
          </a:p>
        </p:txBody>
      </p:sp>
      <p:sp>
        <p:nvSpPr>
          <p:cNvPr id="304"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05"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06" name="Rounded Rectangle 6"/>
          <p:cNvSpPr/>
          <p:nvPr/>
        </p:nvSpPr>
        <p:spPr>
          <a:xfrm>
            <a:off x="777240" y="1417320"/>
            <a:ext cx="502776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Grid world: the general pattern</a:t>
            </a:r>
            <a:endParaRPr lang="en-US" sz="1400" b="0" u="none" strike="noStrike">
              <a:solidFill>
                <a:srgbClr val="000000"/>
              </a:solidFill>
              <a:effectLst/>
              <a:uFillTx/>
              <a:latin typeface="Arial"/>
            </a:endParaRPr>
          </a:p>
        </p:txBody>
      </p:sp>
      <p:sp>
        <p:nvSpPr>
          <p:cNvPr id="307" name="Rounded Rectangle 7"/>
          <p:cNvSpPr/>
          <p:nvPr/>
        </p:nvSpPr>
        <p:spPr>
          <a:xfrm>
            <a:off x="777240" y="1874520"/>
            <a:ext cx="5027760" cy="169020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08" name="Rectangle 8"/>
          <p:cNvSpPr/>
          <p:nvPr/>
        </p:nvSpPr>
        <p:spPr>
          <a:xfrm>
            <a:off x="1005840" y="2011680"/>
            <a:ext cx="4570560" cy="1415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00" b="0" u="none" strike="noStrike">
                <a:solidFill>
                  <a:srgbClr val="102A4C"/>
                </a:solidFill>
                <a:effectLst/>
                <a:uFillTx/>
                <a:latin typeface="Aptos"/>
              </a:rPr>
              <a:t>•  A rectangular array of cells; the agent moves between obstacle-free adjacent cells</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Cells may hold objects the agent can pick up or push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Walls and obstacles block movement entirely</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The vacuum world is a grid world: n cells gives n · 2ⁿ states</a:t>
            </a:r>
            <a:endParaRPr lang="en-US" sz="1300" b="0" u="none" strike="noStrike">
              <a:solidFill>
                <a:srgbClr val="000000"/>
              </a:solidFill>
              <a:effectLst/>
              <a:uFillTx/>
              <a:latin typeface="Arial"/>
            </a:endParaRPr>
          </a:p>
        </p:txBody>
      </p:sp>
      <p:sp>
        <p:nvSpPr>
          <p:cNvPr id="309" name="Rounded Rectangle 9"/>
          <p:cNvSpPr/>
          <p:nvPr/>
        </p:nvSpPr>
        <p:spPr>
          <a:xfrm>
            <a:off x="777240" y="3703320"/>
            <a:ext cx="5027760" cy="4100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50" b="1" u="none" strike="noStrike">
                <a:solidFill>
                  <a:srgbClr val="112E5C"/>
                </a:solidFill>
                <a:effectLst/>
                <a:uFillTx/>
                <a:latin typeface="Aptos"/>
              </a:rPr>
              <a:t>A real design choice: how to name the actions</a:t>
            </a:r>
            <a:endParaRPr lang="en-US" sz="1350" b="0" u="none" strike="noStrike">
              <a:solidFill>
                <a:srgbClr val="000000"/>
              </a:solidFill>
              <a:effectLst/>
              <a:uFillTx/>
              <a:latin typeface="Arial"/>
            </a:endParaRPr>
          </a:p>
        </p:txBody>
      </p:sp>
      <p:sp>
        <p:nvSpPr>
          <p:cNvPr id="310" name="Rounded Rectangle 10"/>
          <p:cNvSpPr/>
          <p:nvPr/>
        </p:nvSpPr>
        <p:spPr>
          <a:xfrm>
            <a:off x="777240" y="4160520"/>
            <a:ext cx="5027760" cy="8215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11" name="Rectangle 11"/>
          <p:cNvSpPr/>
          <p:nvPr/>
        </p:nvSpPr>
        <p:spPr>
          <a:xfrm>
            <a:off x="1005840" y="4251960"/>
            <a:ext cx="4570560" cy="6386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50" b="0" u="none" strike="noStrike">
                <a:solidFill>
                  <a:srgbClr val="102A4C"/>
                </a:solidFill>
                <a:effectLst/>
                <a:uFillTx/>
                <a:latin typeface="Aptos"/>
              </a:rPr>
              <a:t>Absolute: Up, Down, Left, Right — four actions, no orientation in the state.   Egocentric: Forward, Backward, TurnLeft, TurnRight — fewer move actions, but the state must now carry a facing.</a:t>
            </a:r>
            <a:endParaRPr lang="en-US" sz="1250" b="0" u="none" strike="noStrike">
              <a:solidFill>
                <a:srgbClr val="000000"/>
              </a:solidFill>
              <a:effectLst/>
              <a:uFillTx/>
              <a:latin typeface="Arial"/>
            </a:endParaRPr>
          </a:p>
        </p:txBody>
      </p:sp>
      <p:sp>
        <p:nvSpPr>
          <p:cNvPr id="312" name="Rounded Rectangle 12"/>
          <p:cNvSpPr/>
          <p:nvPr/>
        </p:nvSpPr>
        <p:spPr>
          <a:xfrm>
            <a:off x="6385680" y="1417320"/>
            <a:ext cx="502776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Sokoban</a:t>
            </a:r>
            <a:endParaRPr lang="en-US" sz="1400" b="0" u="none" strike="noStrike">
              <a:solidFill>
                <a:srgbClr val="000000"/>
              </a:solidFill>
              <a:effectLst/>
              <a:uFillTx/>
              <a:latin typeface="Arial"/>
            </a:endParaRPr>
          </a:p>
        </p:txBody>
      </p:sp>
      <p:sp>
        <p:nvSpPr>
          <p:cNvPr id="313" name="Rectangle 13"/>
          <p:cNvSpPr/>
          <p:nvPr/>
        </p:nvSpPr>
        <p:spPr>
          <a:xfrm>
            <a:off x="6705720" y="1965960"/>
            <a:ext cx="318600" cy="31860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14" name="Rectangle 14"/>
          <p:cNvSpPr/>
          <p:nvPr/>
        </p:nvSpPr>
        <p:spPr>
          <a:xfrm>
            <a:off x="7025760" y="196596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15" name="Rectangle 15"/>
          <p:cNvSpPr/>
          <p:nvPr/>
        </p:nvSpPr>
        <p:spPr>
          <a:xfrm>
            <a:off x="7345800" y="196596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16" name="Rectangle 16"/>
          <p:cNvSpPr/>
          <p:nvPr/>
        </p:nvSpPr>
        <p:spPr>
          <a:xfrm>
            <a:off x="7665840" y="196596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17" name="Rectangle 17"/>
          <p:cNvSpPr/>
          <p:nvPr/>
        </p:nvSpPr>
        <p:spPr>
          <a:xfrm>
            <a:off x="7985880" y="196596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18" name="Rectangle 18"/>
          <p:cNvSpPr/>
          <p:nvPr/>
        </p:nvSpPr>
        <p:spPr>
          <a:xfrm>
            <a:off x="8305920" y="1965960"/>
            <a:ext cx="318600" cy="31860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19" name="Rectangle 19"/>
          <p:cNvSpPr/>
          <p:nvPr/>
        </p:nvSpPr>
        <p:spPr>
          <a:xfrm>
            <a:off x="6705720" y="228600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20" name="Rectangle 20"/>
          <p:cNvSpPr/>
          <p:nvPr/>
        </p:nvSpPr>
        <p:spPr>
          <a:xfrm>
            <a:off x="7025760" y="228600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21" name="Rectangle 21"/>
          <p:cNvSpPr/>
          <p:nvPr/>
        </p:nvSpPr>
        <p:spPr>
          <a:xfrm>
            <a:off x="7345800" y="228600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22" name="Rectangle 22"/>
          <p:cNvSpPr/>
          <p:nvPr/>
        </p:nvSpPr>
        <p:spPr>
          <a:xfrm>
            <a:off x="7414200" y="2354760"/>
            <a:ext cx="181440" cy="181440"/>
          </a:xfrm>
          <a:prstGeom prst="rect">
            <a:avLst/>
          </a:prstGeom>
          <a:solidFill>
            <a:srgbClr val="112E5C"/>
          </a:solidFill>
          <a:ln w="9525">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23" name="Rectangle 23"/>
          <p:cNvSpPr/>
          <p:nvPr/>
        </p:nvSpPr>
        <p:spPr>
          <a:xfrm>
            <a:off x="7665840" y="228600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24" name="Rectangle 24"/>
          <p:cNvSpPr/>
          <p:nvPr/>
        </p:nvSpPr>
        <p:spPr>
          <a:xfrm>
            <a:off x="7985880" y="228600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25" name="Rectangle 25"/>
          <p:cNvSpPr/>
          <p:nvPr/>
        </p:nvSpPr>
        <p:spPr>
          <a:xfrm>
            <a:off x="8305920" y="228600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26" name="Rectangle 26"/>
          <p:cNvSpPr/>
          <p:nvPr/>
        </p:nvSpPr>
        <p:spPr>
          <a:xfrm>
            <a:off x="6705720" y="260604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27" name="Rectangle 27"/>
          <p:cNvSpPr/>
          <p:nvPr/>
        </p:nvSpPr>
        <p:spPr>
          <a:xfrm>
            <a:off x="7025760" y="260604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28" name="Oval 28"/>
          <p:cNvSpPr/>
          <p:nvPr/>
        </p:nvSpPr>
        <p:spPr>
          <a:xfrm>
            <a:off x="7082640" y="2663280"/>
            <a:ext cx="204480" cy="204480"/>
          </a:xfrm>
          <a:prstGeom prst="ellipse">
            <a:avLst/>
          </a:prstGeom>
          <a:solidFill>
            <a:srgbClr val="2F7FD5"/>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FFFFFF"/>
              </a:solidFill>
              <a:effectLst/>
              <a:uFillTx/>
              <a:latin typeface="Arial"/>
            </a:endParaRPr>
          </a:p>
        </p:txBody>
      </p:sp>
      <p:sp>
        <p:nvSpPr>
          <p:cNvPr id="329" name="Rectangle 29"/>
          <p:cNvSpPr/>
          <p:nvPr/>
        </p:nvSpPr>
        <p:spPr>
          <a:xfrm>
            <a:off x="7345800" y="260604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30" name="Rectangle 30"/>
          <p:cNvSpPr/>
          <p:nvPr/>
        </p:nvSpPr>
        <p:spPr>
          <a:xfrm>
            <a:off x="7665840" y="260604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31" name="Rectangle 31"/>
          <p:cNvSpPr/>
          <p:nvPr/>
        </p:nvSpPr>
        <p:spPr>
          <a:xfrm>
            <a:off x="7734240" y="2674800"/>
            <a:ext cx="181440" cy="181440"/>
          </a:xfrm>
          <a:prstGeom prst="rect">
            <a:avLst/>
          </a:prstGeom>
          <a:solidFill>
            <a:srgbClr val="112E5C"/>
          </a:solidFill>
          <a:ln w="9525">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32" name="Rectangle 32"/>
          <p:cNvSpPr/>
          <p:nvPr/>
        </p:nvSpPr>
        <p:spPr>
          <a:xfrm>
            <a:off x="7985880" y="260604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33" name="Rectangle 33"/>
          <p:cNvSpPr/>
          <p:nvPr/>
        </p:nvSpPr>
        <p:spPr>
          <a:xfrm>
            <a:off x="8305920" y="260604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34" name="Rectangle 34"/>
          <p:cNvSpPr/>
          <p:nvPr/>
        </p:nvSpPr>
        <p:spPr>
          <a:xfrm>
            <a:off x="6705720" y="292608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35" name="Rectangle 35"/>
          <p:cNvSpPr/>
          <p:nvPr/>
        </p:nvSpPr>
        <p:spPr>
          <a:xfrm>
            <a:off x="7025760" y="2926080"/>
            <a:ext cx="318600" cy="318600"/>
          </a:xfrm>
          <a:prstGeom prst="rect">
            <a:avLst/>
          </a:prstGeom>
          <a:solidFill>
            <a:srgbClr val="FFE5B6"/>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36" name="Rectangle 36"/>
          <p:cNvSpPr/>
          <p:nvPr/>
        </p:nvSpPr>
        <p:spPr>
          <a:xfrm>
            <a:off x="7345800" y="292608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37" name="Rectangle 37"/>
          <p:cNvSpPr/>
          <p:nvPr/>
        </p:nvSpPr>
        <p:spPr>
          <a:xfrm>
            <a:off x="7665840" y="292608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38" name="Rectangle 38"/>
          <p:cNvSpPr/>
          <p:nvPr/>
        </p:nvSpPr>
        <p:spPr>
          <a:xfrm>
            <a:off x="7985880" y="2926080"/>
            <a:ext cx="318600" cy="318600"/>
          </a:xfrm>
          <a:prstGeom prst="rect">
            <a:avLst/>
          </a:prstGeom>
          <a:solidFill>
            <a:srgbClr val="FFE5B6"/>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39" name="Rectangle 39"/>
          <p:cNvSpPr/>
          <p:nvPr/>
        </p:nvSpPr>
        <p:spPr>
          <a:xfrm>
            <a:off x="8305920" y="292608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40" name="Rectangle 40"/>
          <p:cNvSpPr/>
          <p:nvPr/>
        </p:nvSpPr>
        <p:spPr>
          <a:xfrm>
            <a:off x="6705720" y="3246120"/>
            <a:ext cx="318600" cy="31860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41" name="Rectangle 41"/>
          <p:cNvSpPr/>
          <p:nvPr/>
        </p:nvSpPr>
        <p:spPr>
          <a:xfrm>
            <a:off x="7025760" y="324612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42" name="Rectangle 42"/>
          <p:cNvSpPr/>
          <p:nvPr/>
        </p:nvSpPr>
        <p:spPr>
          <a:xfrm>
            <a:off x="7345800" y="324612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43" name="Rectangle 43"/>
          <p:cNvSpPr/>
          <p:nvPr/>
        </p:nvSpPr>
        <p:spPr>
          <a:xfrm>
            <a:off x="7665840" y="324612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44" name="Rectangle 44"/>
          <p:cNvSpPr/>
          <p:nvPr/>
        </p:nvSpPr>
        <p:spPr>
          <a:xfrm>
            <a:off x="7985880" y="3246120"/>
            <a:ext cx="318600" cy="31860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45" name="Rectangle 45"/>
          <p:cNvSpPr/>
          <p:nvPr/>
        </p:nvSpPr>
        <p:spPr>
          <a:xfrm>
            <a:off x="8305920" y="3246120"/>
            <a:ext cx="318600" cy="31860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46" name="Rectangle 46"/>
          <p:cNvSpPr/>
          <p:nvPr/>
        </p:nvSpPr>
        <p:spPr>
          <a:xfrm>
            <a:off x="6705720" y="3611880"/>
            <a:ext cx="118728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00" b="1" u="none" strike="noStrike">
                <a:solidFill>
                  <a:srgbClr val="2F7FD5"/>
                </a:solidFill>
                <a:effectLst/>
                <a:uFillTx/>
                <a:latin typeface="Aptos"/>
              </a:rPr>
              <a:t>agent</a:t>
            </a:r>
            <a:endParaRPr lang="en-US" sz="1100" b="0" u="none" strike="noStrike">
              <a:solidFill>
                <a:srgbClr val="000000"/>
              </a:solidFill>
              <a:effectLst/>
              <a:uFillTx/>
              <a:latin typeface="Arial"/>
            </a:endParaRPr>
          </a:p>
        </p:txBody>
      </p:sp>
      <p:sp>
        <p:nvSpPr>
          <p:cNvPr id="347" name="Rectangle 47"/>
          <p:cNvSpPr/>
          <p:nvPr/>
        </p:nvSpPr>
        <p:spPr>
          <a:xfrm>
            <a:off x="8123040" y="3611880"/>
            <a:ext cx="118728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00" b="1" u="none" strike="noStrike">
                <a:solidFill>
                  <a:srgbClr val="112E5C"/>
                </a:solidFill>
                <a:effectLst/>
                <a:uFillTx/>
                <a:latin typeface="Aptos"/>
              </a:rPr>
              <a:t>box</a:t>
            </a:r>
            <a:endParaRPr lang="en-US" sz="1100" b="0" u="none" strike="noStrike">
              <a:solidFill>
                <a:srgbClr val="000000"/>
              </a:solidFill>
              <a:effectLst/>
              <a:uFillTx/>
              <a:latin typeface="Arial"/>
            </a:endParaRPr>
          </a:p>
        </p:txBody>
      </p:sp>
      <p:sp>
        <p:nvSpPr>
          <p:cNvPr id="348" name="Rectangle 48"/>
          <p:cNvSpPr/>
          <p:nvPr/>
        </p:nvSpPr>
        <p:spPr>
          <a:xfrm>
            <a:off x="9586080" y="3611880"/>
            <a:ext cx="118728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00" b="1" u="none" strike="noStrike">
                <a:solidFill>
                  <a:srgbClr val="F6A01A"/>
                </a:solidFill>
                <a:effectLst/>
                <a:uFillTx/>
                <a:latin typeface="Aptos"/>
              </a:rPr>
              <a:t>storage</a:t>
            </a:r>
            <a:endParaRPr lang="en-US" sz="1100" b="0" u="none" strike="noStrike">
              <a:solidFill>
                <a:srgbClr val="000000"/>
              </a:solidFill>
              <a:effectLst/>
              <a:uFillTx/>
              <a:latin typeface="Arial"/>
            </a:endParaRPr>
          </a:p>
        </p:txBody>
      </p:sp>
      <p:sp>
        <p:nvSpPr>
          <p:cNvPr id="349" name="Rounded Rectangle 49"/>
          <p:cNvSpPr/>
          <p:nvPr/>
        </p:nvSpPr>
        <p:spPr>
          <a:xfrm>
            <a:off x="6385680" y="3931920"/>
            <a:ext cx="5027760" cy="10501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50" name="Rectangle 50"/>
          <p:cNvSpPr/>
          <p:nvPr/>
        </p:nvSpPr>
        <p:spPr>
          <a:xfrm>
            <a:off x="6614280" y="4023360"/>
            <a:ext cx="4570560" cy="8672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499"/>
              </a:spcAft>
            </a:pPr>
            <a:r>
              <a:rPr lang="en-US" sz="1250" b="0" u="none" strike="noStrike">
                <a:solidFill>
                  <a:srgbClr val="102A4C"/>
                </a:solidFill>
                <a:effectLst/>
                <a:uFillTx/>
                <a:latin typeface="Aptos"/>
              </a:rPr>
              <a:t>•  Push a box only if the cell beyond it is empty</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At most one box per cell; no pushing a box into a box or a wall</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An 8 × 8 grid with a dozen boxes: over 200 trillion states</a:t>
            </a:r>
            <a:endParaRPr lang="en-US" sz="1250" b="0" u="none" strike="noStrike">
              <a:solidFill>
                <a:srgbClr val="000000"/>
              </a:solidFill>
              <a:effectLst/>
              <a:uFillTx/>
              <a:latin typeface="Arial"/>
            </a:endParaRPr>
          </a:p>
        </p:txBody>
      </p:sp>
      <p:sp>
        <p:nvSpPr>
          <p:cNvPr id="351" name="Rectangle 51"/>
          <p:cNvSpPr/>
          <p:nvPr/>
        </p:nvSpPr>
        <p:spPr>
          <a:xfrm>
            <a:off x="914400" y="5166360"/>
            <a:ext cx="1042272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Same movement rules, wildly different state spaces because Sokoban's state must track where every box is.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352"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53"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54"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Worked Example: The 8-Puzzle</a:t>
            </a:r>
            <a:endParaRPr lang="en-US" sz="2600" b="0" u="none" strike="noStrike">
              <a:solidFill>
                <a:srgbClr val="000000"/>
              </a:solidFill>
              <a:effectLst/>
              <a:uFillTx/>
              <a:latin typeface="Arial"/>
            </a:endParaRPr>
          </a:p>
        </p:txBody>
      </p:sp>
      <p:sp>
        <p:nvSpPr>
          <p:cNvPr id="355"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56"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57" name="Rectangle 6"/>
          <p:cNvSpPr/>
          <p:nvPr/>
        </p:nvSpPr>
        <p:spPr>
          <a:xfrm>
            <a:off x="1005840" y="196596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7</a:t>
            </a:r>
            <a:endParaRPr lang="en-US" sz="1700" b="0" u="none" strike="noStrike">
              <a:solidFill>
                <a:srgbClr val="000000"/>
              </a:solidFill>
              <a:effectLst/>
              <a:uFillTx/>
              <a:latin typeface="Arial"/>
            </a:endParaRPr>
          </a:p>
        </p:txBody>
      </p:sp>
      <p:sp>
        <p:nvSpPr>
          <p:cNvPr id="358" name="Rectangle 7"/>
          <p:cNvSpPr/>
          <p:nvPr/>
        </p:nvSpPr>
        <p:spPr>
          <a:xfrm>
            <a:off x="1508760" y="196596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2</a:t>
            </a:r>
            <a:endParaRPr lang="en-US" sz="1700" b="0" u="none" strike="noStrike">
              <a:solidFill>
                <a:srgbClr val="000000"/>
              </a:solidFill>
              <a:effectLst/>
              <a:uFillTx/>
              <a:latin typeface="Arial"/>
            </a:endParaRPr>
          </a:p>
        </p:txBody>
      </p:sp>
      <p:sp>
        <p:nvSpPr>
          <p:cNvPr id="359" name="Rectangle 8"/>
          <p:cNvSpPr/>
          <p:nvPr/>
        </p:nvSpPr>
        <p:spPr>
          <a:xfrm>
            <a:off x="2011680" y="196596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4</a:t>
            </a:r>
            <a:endParaRPr lang="en-US" sz="1700" b="0" u="none" strike="noStrike">
              <a:solidFill>
                <a:srgbClr val="000000"/>
              </a:solidFill>
              <a:effectLst/>
              <a:uFillTx/>
              <a:latin typeface="Arial"/>
            </a:endParaRPr>
          </a:p>
        </p:txBody>
      </p:sp>
      <p:sp>
        <p:nvSpPr>
          <p:cNvPr id="360" name="Rectangle 9"/>
          <p:cNvSpPr/>
          <p:nvPr/>
        </p:nvSpPr>
        <p:spPr>
          <a:xfrm>
            <a:off x="1005840" y="246888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5</a:t>
            </a:r>
            <a:endParaRPr lang="en-US" sz="1700" b="0" u="none" strike="noStrike">
              <a:solidFill>
                <a:srgbClr val="000000"/>
              </a:solidFill>
              <a:effectLst/>
              <a:uFillTx/>
              <a:latin typeface="Arial"/>
            </a:endParaRPr>
          </a:p>
        </p:txBody>
      </p:sp>
      <p:sp>
        <p:nvSpPr>
          <p:cNvPr id="361" name="Rectangle 10"/>
          <p:cNvSpPr/>
          <p:nvPr/>
        </p:nvSpPr>
        <p:spPr>
          <a:xfrm>
            <a:off x="1508760" y="2468880"/>
            <a:ext cx="501480" cy="501480"/>
          </a:xfrm>
          <a:prstGeom prst="rect">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62" name="Rectangle 11"/>
          <p:cNvSpPr/>
          <p:nvPr/>
        </p:nvSpPr>
        <p:spPr>
          <a:xfrm>
            <a:off x="2011680" y="246888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6</a:t>
            </a:r>
            <a:endParaRPr lang="en-US" sz="1700" b="0" u="none" strike="noStrike">
              <a:solidFill>
                <a:srgbClr val="000000"/>
              </a:solidFill>
              <a:effectLst/>
              <a:uFillTx/>
              <a:latin typeface="Arial"/>
            </a:endParaRPr>
          </a:p>
        </p:txBody>
      </p:sp>
      <p:sp>
        <p:nvSpPr>
          <p:cNvPr id="363" name="Rectangle 12"/>
          <p:cNvSpPr/>
          <p:nvPr/>
        </p:nvSpPr>
        <p:spPr>
          <a:xfrm>
            <a:off x="1005840" y="297180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8</a:t>
            </a:r>
            <a:endParaRPr lang="en-US" sz="1700" b="0" u="none" strike="noStrike">
              <a:solidFill>
                <a:srgbClr val="000000"/>
              </a:solidFill>
              <a:effectLst/>
              <a:uFillTx/>
              <a:latin typeface="Arial"/>
            </a:endParaRPr>
          </a:p>
        </p:txBody>
      </p:sp>
      <p:sp>
        <p:nvSpPr>
          <p:cNvPr id="364" name="Rectangle 13"/>
          <p:cNvSpPr/>
          <p:nvPr/>
        </p:nvSpPr>
        <p:spPr>
          <a:xfrm>
            <a:off x="1508760" y="297180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3</a:t>
            </a:r>
            <a:endParaRPr lang="en-US" sz="1700" b="0" u="none" strike="noStrike">
              <a:solidFill>
                <a:srgbClr val="000000"/>
              </a:solidFill>
              <a:effectLst/>
              <a:uFillTx/>
              <a:latin typeface="Arial"/>
            </a:endParaRPr>
          </a:p>
        </p:txBody>
      </p:sp>
      <p:sp>
        <p:nvSpPr>
          <p:cNvPr id="365" name="Rectangle 14"/>
          <p:cNvSpPr/>
          <p:nvPr/>
        </p:nvSpPr>
        <p:spPr>
          <a:xfrm>
            <a:off x="2011680" y="297180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1</a:t>
            </a:r>
            <a:endParaRPr lang="en-US" sz="1700" b="0" u="none" strike="noStrike">
              <a:solidFill>
                <a:srgbClr val="000000"/>
              </a:solidFill>
              <a:effectLst/>
              <a:uFillTx/>
              <a:latin typeface="Arial"/>
            </a:endParaRPr>
          </a:p>
        </p:txBody>
      </p:sp>
      <p:sp>
        <p:nvSpPr>
          <p:cNvPr id="366" name="Rectangle 15"/>
          <p:cNvSpPr/>
          <p:nvPr/>
        </p:nvSpPr>
        <p:spPr>
          <a:xfrm>
            <a:off x="868680" y="3566160"/>
            <a:ext cx="178164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Start state</a:t>
            </a:r>
            <a:endParaRPr lang="en-US" sz="1150" b="0" u="none" strike="noStrike">
              <a:solidFill>
                <a:srgbClr val="000000"/>
              </a:solidFill>
              <a:effectLst/>
              <a:uFillTx/>
              <a:latin typeface="Arial"/>
            </a:endParaRPr>
          </a:p>
        </p:txBody>
      </p:sp>
      <p:sp>
        <p:nvSpPr>
          <p:cNvPr id="367" name="Rectangle 16"/>
          <p:cNvSpPr/>
          <p:nvPr/>
        </p:nvSpPr>
        <p:spPr>
          <a:xfrm>
            <a:off x="3154680" y="1965960"/>
            <a:ext cx="501480" cy="501480"/>
          </a:xfrm>
          <a:prstGeom prst="rect">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68" name="Rectangle 17"/>
          <p:cNvSpPr/>
          <p:nvPr/>
        </p:nvSpPr>
        <p:spPr>
          <a:xfrm>
            <a:off x="3657600" y="196596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1</a:t>
            </a:r>
            <a:endParaRPr lang="en-US" sz="1700" b="0" u="none" strike="noStrike">
              <a:solidFill>
                <a:srgbClr val="000000"/>
              </a:solidFill>
              <a:effectLst/>
              <a:uFillTx/>
              <a:latin typeface="Arial"/>
            </a:endParaRPr>
          </a:p>
        </p:txBody>
      </p:sp>
      <p:sp>
        <p:nvSpPr>
          <p:cNvPr id="369" name="Rectangle 18"/>
          <p:cNvSpPr/>
          <p:nvPr/>
        </p:nvSpPr>
        <p:spPr>
          <a:xfrm>
            <a:off x="4160520" y="196596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2</a:t>
            </a:r>
            <a:endParaRPr lang="en-US" sz="1700" b="0" u="none" strike="noStrike">
              <a:solidFill>
                <a:srgbClr val="000000"/>
              </a:solidFill>
              <a:effectLst/>
              <a:uFillTx/>
              <a:latin typeface="Arial"/>
            </a:endParaRPr>
          </a:p>
        </p:txBody>
      </p:sp>
      <p:sp>
        <p:nvSpPr>
          <p:cNvPr id="370" name="Rectangle 19"/>
          <p:cNvSpPr/>
          <p:nvPr/>
        </p:nvSpPr>
        <p:spPr>
          <a:xfrm>
            <a:off x="3154680" y="246888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3</a:t>
            </a:r>
            <a:endParaRPr lang="en-US" sz="1700" b="0" u="none" strike="noStrike">
              <a:solidFill>
                <a:srgbClr val="000000"/>
              </a:solidFill>
              <a:effectLst/>
              <a:uFillTx/>
              <a:latin typeface="Arial"/>
            </a:endParaRPr>
          </a:p>
        </p:txBody>
      </p:sp>
      <p:sp>
        <p:nvSpPr>
          <p:cNvPr id="371" name="Rectangle 20"/>
          <p:cNvSpPr/>
          <p:nvPr/>
        </p:nvSpPr>
        <p:spPr>
          <a:xfrm>
            <a:off x="3657600" y="246888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4</a:t>
            </a:r>
            <a:endParaRPr lang="en-US" sz="1700" b="0" u="none" strike="noStrike">
              <a:solidFill>
                <a:srgbClr val="000000"/>
              </a:solidFill>
              <a:effectLst/>
              <a:uFillTx/>
              <a:latin typeface="Arial"/>
            </a:endParaRPr>
          </a:p>
        </p:txBody>
      </p:sp>
      <p:sp>
        <p:nvSpPr>
          <p:cNvPr id="372" name="Rectangle 21"/>
          <p:cNvSpPr/>
          <p:nvPr/>
        </p:nvSpPr>
        <p:spPr>
          <a:xfrm>
            <a:off x="4160520" y="246888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5</a:t>
            </a:r>
            <a:endParaRPr lang="en-US" sz="1700" b="0" u="none" strike="noStrike">
              <a:solidFill>
                <a:srgbClr val="000000"/>
              </a:solidFill>
              <a:effectLst/>
              <a:uFillTx/>
              <a:latin typeface="Arial"/>
            </a:endParaRPr>
          </a:p>
        </p:txBody>
      </p:sp>
      <p:sp>
        <p:nvSpPr>
          <p:cNvPr id="373" name="Rectangle 22"/>
          <p:cNvSpPr/>
          <p:nvPr/>
        </p:nvSpPr>
        <p:spPr>
          <a:xfrm>
            <a:off x="3154680" y="297180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6</a:t>
            </a:r>
            <a:endParaRPr lang="en-US" sz="1700" b="0" u="none" strike="noStrike">
              <a:solidFill>
                <a:srgbClr val="000000"/>
              </a:solidFill>
              <a:effectLst/>
              <a:uFillTx/>
              <a:latin typeface="Arial"/>
            </a:endParaRPr>
          </a:p>
        </p:txBody>
      </p:sp>
      <p:sp>
        <p:nvSpPr>
          <p:cNvPr id="374" name="Rectangle 23"/>
          <p:cNvSpPr/>
          <p:nvPr/>
        </p:nvSpPr>
        <p:spPr>
          <a:xfrm>
            <a:off x="3657600" y="297180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7</a:t>
            </a:r>
            <a:endParaRPr lang="en-US" sz="1700" b="0" u="none" strike="noStrike">
              <a:solidFill>
                <a:srgbClr val="000000"/>
              </a:solidFill>
              <a:effectLst/>
              <a:uFillTx/>
              <a:latin typeface="Arial"/>
            </a:endParaRPr>
          </a:p>
        </p:txBody>
      </p:sp>
      <p:sp>
        <p:nvSpPr>
          <p:cNvPr id="375" name="Rectangle 24"/>
          <p:cNvSpPr/>
          <p:nvPr/>
        </p:nvSpPr>
        <p:spPr>
          <a:xfrm>
            <a:off x="4160520" y="2971800"/>
            <a:ext cx="501480" cy="50148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112E5C"/>
                </a:solidFill>
                <a:effectLst/>
                <a:uFillTx/>
                <a:latin typeface="Aptos"/>
              </a:rPr>
              <a:t>8</a:t>
            </a:r>
            <a:endParaRPr lang="en-US" sz="1700" b="0" u="none" strike="noStrike">
              <a:solidFill>
                <a:srgbClr val="000000"/>
              </a:solidFill>
              <a:effectLst/>
              <a:uFillTx/>
              <a:latin typeface="Arial"/>
            </a:endParaRPr>
          </a:p>
        </p:txBody>
      </p:sp>
      <p:sp>
        <p:nvSpPr>
          <p:cNvPr id="376" name="Rectangle 25"/>
          <p:cNvSpPr/>
          <p:nvPr/>
        </p:nvSpPr>
        <p:spPr>
          <a:xfrm>
            <a:off x="3017520" y="3566160"/>
            <a:ext cx="178164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Goal state</a:t>
            </a:r>
            <a:endParaRPr lang="en-US" sz="1150" b="0" u="none" strike="noStrike">
              <a:solidFill>
                <a:srgbClr val="000000"/>
              </a:solidFill>
              <a:effectLst/>
              <a:uFillTx/>
              <a:latin typeface="Arial"/>
            </a:endParaRPr>
          </a:p>
        </p:txBody>
      </p:sp>
      <p:sp>
        <p:nvSpPr>
          <p:cNvPr id="377" name="Right Arrow 26"/>
          <p:cNvSpPr/>
          <p:nvPr/>
        </p:nvSpPr>
        <p:spPr>
          <a:xfrm>
            <a:off x="2606040" y="3017520"/>
            <a:ext cx="455760" cy="227160"/>
          </a:xfrm>
          <a:prstGeom prst="rightArrow">
            <a:avLst>
              <a:gd name="adj1" fmla="val 50000"/>
              <a:gd name="adj2" fmla="val 50000"/>
            </a:avLst>
          </a:prstGeom>
          <a:solidFill>
            <a:srgbClr val="F6A01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378" name="Rounded Rectangle 27"/>
          <p:cNvSpPr/>
          <p:nvPr/>
        </p:nvSpPr>
        <p:spPr>
          <a:xfrm>
            <a:off x="5303520" y="141732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379" name="Rectangle 28"/>
          <p:cNvSpPr/>
          <p:nvPr/>
        </p:nvSpPr>
        <p:spPr>
          <a:xfrm>
            <a:off x="7223760" y="1417320"/>
            <a:ext cx="418968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Location of each tile and of the blank in the 3 × 3 grid</a:t>
            </a:r>
            <a:endParaRPr lang="en-US" sz="1300" b="0" u="none" strike="noStrike">
              <a:solidFill>
                <a:srgbClr val="000000"/>
              </a:solidFill>
              <a:effectLst/>
              <a:uFillTx/>
              <a:latin typeface="Arial"/>
            </a:endParaRPr>
          </a:p>
        </p:txBody>
      </p:sp>
      <p:sp>
        <p:nvSpPr>
          <p:cNvPr id="380" name="Rounded Rectangle 29"/>
          <p:cNvSpPr/>
          <p:nvPr/>
        </p:nvSpPr>
        <p:spPr>
          <a:xfrm>
            <a:off x="5303520" y="196596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381" name="Rectangle 30"/>
          <p:cNvSpPr/>
          <p:nvPr/>
        </p:nvSpPr>
        <p:spPr>
          <a:xfrm>
            <a:off x="7223760" y="1965960"/>
            <a:ext cx="418968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Any configuration; a parity property makes only half reachable</a:t>
            </a:r>
            <a:endParaRPr lang="en-US" sz="1300" b="0" u="none" strike="noStrike">
              <a:solidFill>
                <a:srgbClr val="000000"/>
              </a:solidFill>
              <a:effectLst/>
              <a:uFillTx/>
              <a:latin typeface="Arial"/>
            </a:endParaRPr>
          </a:p>
        </p:txBody>
      </p:sp>
      <p:sp>
        <p:nvSpPr>
          <p:cNvPr id="382" name="Rounded Rectangle 31"/>
          <p:cNvSpPr/>
          <p:nvPr/>
        </p:nvSpPr>
        <p:spPr>
          <a:xfrm>
            <a:off x="5303520" y="251460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383" name="Rectangle 32"/>
          <p:cNvSpPr/>
          <p:nvPr/>
        </p:nvSpPr>
        <p:spPr>
          <a:xfrm>
            <a:off x="7223760" y="2514600"/>
            <a:ext cx="418968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Move the blank Left, Right, Up, or Down</a:t>
            </a:r>
            <a:endParaRPr lang="en-US" sz="1300" b="0" u="none" strike="noStrike">
              <a:solidFill>
                <a:srgbClr val="000000"/>
              </a:solidFill>
              <a:effectLst/>
              <a:uFillTx/>
              <a:latin typeface="Arial"/>
            </a:endParaRPr>
          </a:p>
        </p:txBody>
      </p:sp>
      <p:sp>
        <p:nvSpPr>
          <p:cNvPr id="384" name="Rounded Rectangle 33"/>
          <p:cNvSpPr/>
          <p:nvPr/>
        </p:nvSpPr>
        <p:spPr>
          <a:xfrm>
            <a:off x="5303520" y="306324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385" name="Rectangle 34"/>
          <p:cNvSpPr/>
          <p:nvPr/>
        </p:nvSpPr>
        <p:spPr>
          <a:xfrm>
            <a:off x="7223760" y="3063240"/>
            <a:ext cx="418968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Applying Left to the start state swaps the 5 and the blank</a:t>
            </a:r>
            <a:endParaRPr lang="en-US" sz="1300" b="0" u="none" strike="noStrike">
              <a:solidFill>
                <a:srgbClr val="000000"/>
              </a:solidFill>
              <a:effectLst/>
              <a:uFillTx/>
              <a:latin typeface="Arial"/>
            </a:endParaRPr>
          </a:p>
        </p:txBody>
      </p:sp>
      <p:sp>
        <p:nvSpPr>
          <p:cNvPr id="386" name="Rounded Rectangle 35"/>
          <p:cNvSpPr/>
          <p:nvPr/>
        </p:nvSpPr>
        <p:spPr>
          <a:xfrm>
            <a:off x="5303520" y="361188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Goal state</a:t>
            </a:r>
            <a:endParaRPr lang="en-US" sz="1300" b="0" u="none" strike="noStrike">
              <a:solidFill>
                <a:srgbClr val="000000"/>
              </a:solidFill>
              <a:effectLst/>
              <a:uFillTx/>
              <a:latin typeface="Arial"/>
            </a:endParaRPr>
          </a:p>
        </p:txBody>
      </p:sp>
      <p:sp>
        <p:nvSpPr>
          <p:cNvPr id="387" name="Rectangle 36"/>
          <p:cNvSpPr/>
          <p:nvPr/>
        </p:nvSpPr>
        <p:spPr>
          <a:xfrm>
            <a:off x="7223760" y="3611880"/>
            <a:ext cx="418968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Tiles in the specified order, blank in the corner</a:t>
            </a:r>
            <a:endParaRPr lang="en-US" sz="1300" b="0" u="none" strike="noStrike">
              <a:solidFill>
                <a:srgbClr val="000000"/>
              </a:solidFill>
              <a:effectLst/>
              <a:uFillTx/>
              <a:latin typeface="Arial"/>
            </a:endParaRPr>
          </a:p>
        </p:txBody>
      </p:sp>
      <p:sp>
        <p:nvSpPr>
          <p:cNvPr id="388" name="Rounded Rectangle 37"/>
          <p:cNvSpPr/>
          <p:nvPr/>
        </p:nvSpPr>
        <p:spPr>
          <a:xfrm>
            <a:off x="5303520" y="416052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389" name="Rectangle 38"/>
          <p:cNvSpPr/>
          <p:nvPr/>
        </p:nvSpPr>
        <p:spPr>
          <a:xfrm>
            <a:off x="7223760" y="4160520"/>
            <a:ext cx="418968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1 per move, so path cost = number of moves</a:t>
            </a:r>
            <a:endParaRPr lang="en-US" sz="1300" b="0" u="none" strike="noStrike">
              <a:solidFill>
                <a:srgbClr val="000000"/>
              </a:solidFill>
              <a:effectLst/>
              <a:uFillTx/>
              <a:latin typeface="Arial"/>
            </a:endParaRPr>
          </a:p>
        </p:txBody>
      </p:sp>
      <p:sp>
        <p:nvSpPr>
          <p:cNvPr id="390" name="Rectangle 39"/>
          <p:cNvSpPr/>
          <p:nvPr/>
        </p:nvSpPr>
        <p:spPr>
          <a:xfrm>
            <a:off x="914400" y="47548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8-puzzle: 9!/2 = 181,440 reachable states.   15-puzzle: 16!/2 ≈ 1.05 × 10¹³.   24-puzzle: 25!/2 ≈ 10²⁵.</a:t>
            </a:r>
            <a:endParaRPr lang="en-US" sz="1700" b="0" u="none" strike="noStrike">
              <a:solidFill>
                <a:srgbClr val="000000"/>
              </a:solidFill>
              <a:effectLst/>
              <a:uFillTx/>
              <a:latin typeface="Arial"/>
            </a:endParaRPr>
          </a:p>
        </p:txBody>
      </p:sp>
      <p:sp>
        <p:nvSpPr>
          <p:cNvPr id="391" name="Rectangle 40"/>
          <p:cNvSpPr/>
          <p:nvPr/>
        </p:nvSpPr>
        <p:spPr>
          <a:xfrm>
            <a:off x="914400" y="525780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Even this is an abstraction: no sliding motion, no shaking the board, no prying tiles out with a knife.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392"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93"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94"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Infinite State Spaces: Knuth's “4” Problem</a:t>
            </a:r>
            <a:endParaRPr lang="en-US" sz="2600" b="0" u="none" strike="noStrike">
              <a:solidFill>
                <a:srgbClr val="000000"/>
              </a:solidFill>
              <a:effectLst/>
              <a:uFillTx/>
              <a:latin typeface="Arial"/>
            </a:endParaRPr>
          </a:p>
        </p:txBody>
      </p:sp>
      <p:sp>
        <p:nvSpPr>
          <p:cNvPr id="395"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96"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97" name="Rounded Rectangle 6"/>
          <p:cNvSpPr/>
          <p:nvPr/>
        </p:nvSpPr>
        <p:spPr>
          <a:xfrm>
            <a:off x="777240" y="1417320"/>
            <a:ext cx="5027760" cy="25588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398" name="Rounded Rectangle 7"/>
          <p:cNvSpPr/>
          <p:nvPr/>
        </p:nvSpPr>
        <p:spPr>
          <a:xfrm>
            <a:off x="1005840" y="1280160"/>
            <a:ext cx="201024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The formulation</a:t>
            </a:r>
            <a:endParaRPr lang="en-US" sz="1300" b="0" u="none" strike="noStrike">
              <a:solidFill>
                <a:srgbClr val="000000"/>
              </a:solidFill>
              <a:effectLst/>
              <a:uFillTx/>
              <a:latin typeface="Arial"/>
            </a:endParaRPr>
          </a:p>
        </p:txBody>
      </p:sp>
      <p:sp>
        <p:nvSpPr>
          <p:cNvPr id="399" name="Rectangle 8"/>
          <p:cNvSpPr/>
          <p:nvPr/>
        </p:nvSpPr>
        <p:spPr>
          <a:xfrm>
            <a:off x="1051560" y="1920240"/>
            <a:ext cx="4479120" cy="191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99"/>
              </a:spcAft>
            </a:pPr>
            <a:r>
              <a:rPr lang="en-US" sz="1350" b="1" u="none" strike="noStrike">
                <a:solidFill>
                  <a:srgbClr val="112E5C"/>
                </a:solidFill>
                <a:effectLst/>
                <a:uFillTx/>
                <a:latin typeface="Aptos"/>
              </a:rPr>
              <a:t>States:  </a:t>
            </a:r>
            <a:r>
              <a:rPr lang="en-US" sz="1350" b="0" u="none" strike="noStrike">
                <a:solidFill>
                  <a:srgbClr val="102A4C"/>
                </a:solidFill>
                <a:effectLst/>
                <a:uFillTx/>
                <a:latin typeface="Aptos"/>
              </a:rPr>
              <a:t>positive real numbers</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Initial state:  </a:t>
            </a:r>
            <a:r>
              <a:rPr lang="en-US" sz="1350" b="0" u="none" strike="noStrike">
                <a:solidFill>
                  <a:srgbClr val="102A4C"/>
                </a:solidFill>
                <a:effectLst/>
                <a:uFillTx/>
                <a:latin typeface="Aptos"/>
              </a:rPr>
              <a:t>4</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Actions:  </a:t>
            </a:r>
            <a:r>
              <a:rPr lang="en-US" sz="1350" b="0" u="none" strike="noStrike">
                <a:solidFill>
                  <a:srgbClr val="102A4C"/>
                </a:solidFill>
                <a:effectLst/>
                <a:uFillTx/>
                <a:latin typeface="Aptos"/>
              </a:rPr>
              <a:t>square root, floor, factorial (factorial on integers only)</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Transition:  </a:t>
            </a:r>
            <a:r>
              <a:rPr lang="en-US" sz="1350" b="0" u="none" strike="noStrike">
                <a:solidFill>
                  <a:srgbClr val="102A4C"/>
                </a:solidFill>
                <a:effectLst/>
                <a:uFillTx/>
                <a:latin typeface="Aptos"/>
              </a:rPr>
              <a:t>as given by the mathematical definitions</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Goal state:  </a:t>
            </a:r>
            <a:r>
              <a:rPr lang="en-US" sz="1350" b="0" u="none" strike="noStrike">
                <a:solidFill>
                  <a:srgbClr val="102A4C"/>
                </a:solidFill>
                <a:effectLst/>
                <a:uFillTx/>
                <a:latin typeface="Aptos"/>
              </a:rPr>
              <a:t>the desired positive integer</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Action cost:  </a:t>
            </a:r>
            <a:r>
              <a:rPr lang="en-US" sz="1350" b="0" u="none" strike="noStrike">
                <a:solidFill>
                  <a:srgbClr val="102A4C"/>
                </a:solidFill>
                <a:effectLst/>
                <a:uFillTx/>
                <a:latin typeface="Aptos"/>
              </a:rPr>
              <a:t>1 per operation</a:t>
            </a:r>
            <a:endParaRPr lang="en-US" sz="1350" b="0" u="none" strike="noStrike">
              <a:solidFill>
                <a:srgbClr val="000000"/>
              </a:solidFill>
              <a:effectLst/>
              <a:uFillTx/>
              <a:latin typeface="Arial"/>
            </a:endParaRPr>
          </a:p>
        </p:txBody>
      </p:sp>
      <p:sp>
        <p:nvSpPr>
          <p:cNvPr id="400" name="Rectangle 9"/>
          <p:cNvSpPr/>
          <p:nvPr/>
        </p:nvSpPr>
        <p:spPr>
          <a:xfrm>
            <a:off x="6385680" y="1554480"/>
            <a:ext cx="5027760" cy="5014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4000" b="1" u="none" strike="noStrike">
                <a:solidFill>
                  <a:srgbClr val="112E5C"/>
                </a:solidFill>
                <a:effectLst/>
                <a:uFillTx/>
                <a:latin typeface="Aptos"/>
              </a:rPr>
              <a:t>(4!)!</a:t>
            </a:r>
            <a:endParaRPr lang="en-US" sz="4000" b="0" u="none" strike="noStrike">
              <a:solidFill>
                <a:srgbClr val="000000"/>
              </a:solidFill>
              <a:effectLst/>
              <a:uFillTx/>
              <a:latin typeface="Arial"/>
            </a:endParaRPr>
          </a:p>
        </p:txBody>
      </p:sp>
      <p:sp>
        <p:nvSpPr>
          <p:cNvPr id="401" name="Rectangle 10"/>
          <p:cNvSpPr/>
          <p:nvPr/>
        </p:nvSpPr>
        <p:spPr>
          <a:xfrm>
            <a:off x="6385680" y="2057400"/>
            <a:ext cx="5027760" cy="24552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the second step on the way to 5</a:t>
            </a:r>
            <a:endParaRPr lang="en-US" sz="1200" b="0" u="none" strike="noStrike">
              <a:solidFill>
                <a:srgbClr val="000000"/>
              </a:solidFill>
              <a:effectLst/>
              <a:uFillTx/>
              <a:latin typeface="Arial"/>
            </a:endParaRPr>
          </a:p>
        </p:txBody>
      </p:sp>
      <p:sp>
        <p:nvSpPr>
          <p:cNvPr id="402" name="Rectangle 11"/>
          <p:cNvSpPr/>
          <p:nvPr/>
        </p:nvSpPr>
        <p:spPr>
          <a:xfrm>
            <a:off x="6385680" y="2423160"/>
            <a:ext cx="5027760" cy="410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700" b="1" u="none" strike="noStrike">
                <a:solidFill>
                  <a:srgbClr val="9B1C1C"/>
                </a:solidFill>
                <a:effectLst/>
                <a:uFillTx/>
                <a:latin typeface="Aptos"/>
              </a:rPr>
              <a:t>620,448,401,733,239,439,360,000</a:t>
            </a:r>
            <a:endParaRPr lang="en-US" sz="1700" b="0" u="none" strike="noStrike">
              <a:solidFill>
                <a:srgbClr val="000000"/>
              </a:solidFill>
              <a:effectLst/>
              <a:uFillTx/>
              <a:latin typeface="Arial"/>
            </a:endParaRPr>
          </a:p>
        </p:txBody>
      </p:sp>
      <p:sp>
        <p:nvSpPr>
          <p:cNvPr id="403" name="Rounded Rectangle 12"/>
          <p:cNvSpPr/>
          <p:nvPr/>
        </p:nvSpPr>
        <p:spPr>
          <a:xfrm>
            <a:off x="6385680" y="2971800"/>
            <a:ext cx="5027760" cy="100440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04" name="Rectangle 13"/>
          <p:cNvSpPr/>
          <p:nvPr/>
        </p:nvSpPr>
        <p:spPr>
          <a:xfrm>
            <a:off x="6614280" y="3063240"/>
            <a:ext cx="4570560" cy="821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350" b="0" u="none" strike="noStrike">
                <a:solidFill>
                  <a:srgbClr val="112E5C"/>
                </a:solidFill>
                <a:effectLst/>
                <a:uFillTx/>
                <a:latin typeface="Aptos"/>
              </a:rPr>
              <a:t>Knuth conjectured that starting from 4, some sequence of square root, floor, and factorial reaches any desired positive integer.</a:t>
            </a:r>
            <a:endParaRPr lang="en-US" sz="1350" b="0" u="none" strike="noStrike">
              <a:solidFill>
                <a:srgbClr val="000000"/>
              </a:solidFill>
              <a:effectLst/>
              <a:uFillTx/>
              <a:latin typeface="Arial"/>
            </a:endParaRPr>
          </a:p>
        </p:txBody>
      </p:sp>
      <p:sp>
        <p:nvSpPr>
          <p:cNvPr id="405" name="Rectangle 14"/>
          <p:cNvSpPr/>
          <p:nvPr/>
        </p:nvSpPr>
        <p:spPr>
          <a:xfrm>
            <a:off x="914400" y="438912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The state space is infinite: for any integer greater than 2, factorial always yields a larger integer.</a:t>
            </a:r>
            <a:endParaRPr lang="en-US" sz="1700" b="0" u="none" strike="noStrike">
              <a:solidFill>
                <a:srgbClr val="000000"/>
              </a:solidFill>
              <a:effectLst/>
              <a:uFillTx/>
              <a:latin typeface="Arial"/>
            </a:endParaRPr>
          </a:p>
        </p:txBody>
      </p:sp>
      <p:sp>
        <p:nvSpPr>
          <p:cNvPr id="406" name="Rectangle 15"/>
          <p:cNvSpPr/>
          <p:nvPr/>
        </p:nvSpPr>
        <p:spPr>
          <a:xfrm>
            <a:off x="914400" y="49834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So an algorithm can generate a new state on every single step and still never reach most of the space. That is the completeness problem in Section 3.3.4.</a:t>
            </a:r>
            <a:endParaRPr lang="en-US" sz="1500" b="0" u="none" strike="noStrike">
              <a:solidFill>
                <a:srgbClr val="000000"/>
              </a:solidFill>
              <a:effectLst/>
              <a:uFillTx/>
              <a:latin typeface="Arial"/>
            </a:endParaRPr>
          </a:p>
        </p:txBody>
      </p:sp>
      <p:sp>
        <p:nvSpPr>
          <p:cNvPr id="407" name="Rectangle 16"/>
          <p:cNvSpPr/>
          <p:nvPr/>
        </p:nvSpPr>
        <p:spPr>
          <a:xfrm>
            <a:off x="914400" y="548640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Infinite state spaces arise whenever the task generates mathematical expressions, circuits, proofs, programs, or other recursively defined objects.</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408"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9"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10"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State Space Size: Small Rules, Large Spaces</a:t>
            </a:r>
            <a:endParaRPr lang="en-US" sz="2600" b="0" u="none" strike="noStrike">
              <a:solidFill>
                <a:srgbClr val="000000"/>
              </a:solidFill>
              <a:effectLst/>
              <a:uFillTx/>
              <a:latin typeface="Arial"/>
            </a:endParaRPr>
          </a:p>
        </p:txBody>
      </p:sp>
      <p:sp>
        <p:nvSpPr>
          <p:cNvPr id="411"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12"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13" name="Text 5"/>
          <p:cNvSpPr/>
          <p:nvPr/>
        </p:nvSpPr>
        <p:spPr>
          <a:xfrm>
            <a:off x="868680" y="1417320"/>
            <a:ext cx="3290400" cy="501480"/>
          </a:xfrm>
          <a:prstGeom prst="roundRect">
            <a:avLst>
              <a:gd name="adj" fmla="val 14545"/>
            </a:avLst>
          </a:prstGeom>
          <a:solidFill>
            <a:srgbClr val="D9E9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12E5C"/>
                </a:solidFill>
                <a:effectLst/>
                <a:uFillTx/>
                <a:latin typeface="Aptos"/>
              </a:rPr>
              <a:t>Two-cell vacuum world</a:t>
            </a:r>
            <a:endParaRPr lang="en-US" sz="1600" b="0" u="none" strike="noStrike">
              <a:solidFill>
                <a:srgbClr val="000000"/>
              </a:solidFill>
              <a:effectLst/>
              <a:uFillTx/>
              <a:latin typeface="Arial"/>
            </a:endParaRPr>
          </a:p>
        </p:txBody>
      </p:sp>
      <p:sp>
        <p:nvSpPr>
          <p:cNvPr id="414" name="Text 6"/>
          <p:cNvSpPr/>
          <p:nvPr/>
        </p:nvSpPr>
        <p:spPr>
          <a:xfrm>
            <a:off x="868680" y="2011680"/>
            <a:ext cx="3290400" cy="7758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700" b="1" u="none" strike="noStrike">
                <a:solidFill>
                  <a:srgbClr val="102A4C"/>
                </a:solidFill>
                <a:effectLst/>
                <a:uFillTx/>
                <a:latin typeface="Aptos"/>
              </a:rPr>
              <a:t>2 locations × dirt in A × dirt in B = 2 × 2 × 2 = 8 states</a:t>
            </a:r>
            <a:endParaRPr lang="en-US" sz="1700" b="0" u="none" strike="noStrike">
              <a:solidFill>
                <a:srgbClr val="000000"/>
              </a:solidFill>
              <a:effectLst/>
              <a:uFillTx/>
              <a:latin typeface="Arial"/>
            </a:endParaRPr>
          </a:p>
        </p:txBody>
      </p:sp>
      <p:sp>
        <p:nvSpPr>
          <p:cNvPr id="415" name="Text 7"/>
          <p:cNvSpPr/>
          <p:nvPr/>
        </p:nvSpPr>
        <p:spPr>
          <a:xfrm>
            <a:off x="4480560" y="1417320"/>
            <a:ext cx="3290400" cy="50148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n-cell vacuum world</a:t>
            </a:r>
            <a:endParaRPr lang="en-US" sz="1600" b="0" u="none" strike="noStrike">
              <a:solidFill>
                <a:srgbClr val="000000"/>
              </a:solidFill>
              <a:effectLst/>
              <a:uFillTx/>
              <a:latin typeface="Arial"/>
            </a:endParaRPr>
          </a:p>
        </p:txBody>
      </p:sp>
      <p:sp>
        <p:nvSpPr>
          <p:cNvPr id="416" name="Text 8"/>
          <p:cNvSpPr/>
          <p:nvPr/>
        </p:nvSpPr>
        <p:spPr>
          <a:xfrm>
            <a:off x="4480560" y="2011680"/>
            <a:ext cx="3290400" cy="7758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700" b="1" u="none" strike="noStrike">
                <a:solidFill>
                  <a:srgbClr val="102A4C"/>
                </a:solidFill>
                <a:effectLst/>
                <a:uFillTx/>
                <a:latin typeface="Aptos"/>
              </a:rPr>
              <a:t>n possible locations × 2ⁿ dirt configurations = n·2ⁿ states</a:t>
            </a:r>
            <a:endParaRPr lang="en-US" sz="1700" b="0" u="none" strike="noStrike">
              <a:solidFill>
                <a:srgbClr val="000000"/>
              </a:solidFill>
              <a:effectLst/>
              <a:uFillTx/>
              <a:latin typeface="Arial"/>
            </a:endParaRPr>
          </a:p>
        </p:txBody>
      </p:sp>
      <p:sp>
        <p:nvSpPr>
          <p:cNvPr id="417" name="Text 9"/>
          <p:cNvSpPr/>
          <p:nvPr/>
        </p:nvSpPr>
        <p:spPr>
          <a:xfrm>
            <a:off x="8092440" y="1417320"/>
            <a:ext cx="3290400" cy="501480"/>
          </a:xfrm>
          <a:prstGeom prst="roundRect">
            <a:avLst>
              <a:gd name="adj" fmla="val 14545"/>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12E5C"/>
                </a:solidFill>
                <a:effectLst/>
                <a:uFillTx/>
                <a:latin typeface="Aptos"/>
              </a:rPr>
              <a:t>Search design lesson</a:t>
            </a:r>
            <a:endParaRPr lang="en-US" sz="1600" b="0" u="none" strike="noStrike">
              <a:solidFill>
                <a:srgbClr val="000000"/>
              </a:solidFill>
              <a:effectLst/>
              <a:uFillTx/>
              <a:latin typeface="Arial"/>
            </a:endParaRPr>
          </a:p>
        </p:txBody>
      </p:sp>
      <p:sp>
        <p:nvSpPr>
          <p:cNvPr id="418" name="Text 10"/>
          <p:cNvSpPr/>
          <p:nvPr/>
        </p:nvSpPr>
        <p:spPr>
          <a:xfrm>
            <a:off x="8092440" y="2011680"/>
            <a:ext cx="3290400" cy="77580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600" b="1" u="none" strike="noStrike">
                <a:solidFill>
                  <a:srgbClr val="102A4C"/>
                </a:solidFill>
                <a:effectLst/>
                <a:uFillTx/>
                <a:latin typeface="Aptos"/>
              </a:rPr>
              <a:t>Include only state variables needed for planning. Extra variables multiply the state space.</a:t>
            </a:r>
            <a:endParaRPr lang="en-US" sz="1600" b="0" u="none" strike="noStrike">
              <a:solidFill>
                <a:srgbClr val="000000"/>
              </a:solidFill>
              <a:effectLst/>
              <a:uFillTx/>
              <a:latin typeface="Arial"/>
            </a:endParaRPr>
          </a:p>
        </p:txBody>
      </p:sp>
      <p:sp>
        <p:nvSpPr>
          <p:cNvPr id="419" name="Text 11"/>
          <p:cNvSpPr/>
          <p:nvPr/>
        </p:nvSpPr>
        <p:spPr>
          <a:xfrm>
            <a:off x="914400" y="4343400"/>
            <a:ext cx="10239840" cy="45576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2000" b="1" u="none" strike="noStrike">
                <a:solidFill>
                  <a:srgbClr val="112E5C"/>
                </a:solidFill>
                <a:effectLst/>
                <a:uFillTx/>
                <a:latin typeface="Aptos"/>
              </a:rPr>
              <a:t>Even simple environments grow quickly once location and object configurations are included.</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420"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1"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22"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What Goes Into the Search State?</a:t>
            </a:r>
            <a:endParaRPr lang="en-US" sz="2600" b="0" u="none" strike="noStrike">
              <a:solidFill>
                <a:srgbClr val="000000"/>
              </a:solidFill>
              <a:effectLst/>
              <a:uFillTx/>
              <a:latin typeface="Arial"/>
            </a:endParaRPr>
          </a:p>
        </p:txBody>
      </p:sp>
      <p:sp>
        <p:nvSpPr>
          <p:cNvPr id="423"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24"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25" name="Text 5"/>
          <p:cNvSpPr/>
          <p:nvPr/>
        </p:nvSpPr>
        <p:spPr>
          <a:xfrm>
            <a:off x="868680" y="1417320"/>
            <a:ext cx="4387680" cy="528840"/>
          </a:xfrm>
          <a:prstGeom prst="roundRect">
            <a:avLst>
              <a:gd name="adj" fmla="val 13793"/>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2F7FD5"/>
                </a:solidFill>
                <a:effectLst/>
                <a:uFillTx/>
                <a:latin typeface="Aptos"/>
              </a:rPr>
              <a:t>World state</a:t>
            </a:r>
            <a:endParaRPr lang="en-US" sz="1800" b="0" u="none" strike="noStrike">
              <a:solidFill>
                <a:srgbClr val="000000"/>
              </a:solidFill>
              <a:effectLst/>
              <a:uFillTx/>
              <a:latin typeface="Arial"/>
            </a:endParaRPr>
          </a:p>
        </p:txBody>
      </p:sp>
      <p:sp>
        <p:nvSpPr>
          <p:cNvPr id="426" name="Text 6"/>
          <p:cNvSpPr/>
          <p:nvPr/>
        </p:nvSpPr>
        <p:spPr>
          <a:xfrm>
            <a:off x="1005840" y="2148840"/>
            <a:ext cx="4113360" cy="14158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Every last detail of the environment: agent location, dot status, ghost locations, orientation, timers, hidden variables, and irrelevant facts.</a:t>
            </a:r>
            <a:endParaRPr lang="en-US" sz="1600" b="0" u="none" strike="noStrike">
              <a:solidFill>
                <a:srgbClr val="000000"/>
              </a:solidFill>
              <a:effectLst/>
              <a:uFillTx/>
              <a:latin typeface="Arial"/>
            </a:endParaRPr>
          </a:p>
        </p:txBody>
      </p:sp>
      <p:sp>
        <p:nvSpPr>
          <p:cNvPr id="427" name="Text 7"/>
          <p:cNvSpPr/>
          <p:nvPr/>
        </p:nvSpPr>
        <p:spPr>
          <a:xfrm>
            <a:off x="6903720" y="1417320"/>
            <a:ext cx="4387680" cy="528840"/>
          </a:xfrm>
          <a:prstGeom prst="roundRect">
            <a:avLst>
              <a:gd name="adj" fmla="val 13793"/>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77245"/>
                </a:solidFill>
                <a:effectLst/>
                <a:uFillTx/>
                <a:latin typeface="Aptos"/>
              </a:rPr>
              <a:t>Search state</a:t>
            </a:r>
            <a:endParaRPr lang="en-US" sz="1800" b="0" u="none" strike="noStrike">
              <a:solidFill>
                <a:srgbClr val="000000"/>
              </a:solidFill>
              <a:effectLst/>
              <a:uFillTx/>
              <a:latin typeface="Arial"/>
            </a:endParaRPr>
          </a:p>
        </p:txBody>
      </p:sp>
      <p:sp>
        <p:nvSpPr>
          <p:cNvPr id="428" name="Text 8"/>
          <p:cNvSpPr/>
          <p:nvPr/>
        </p:nvSpPr>
        <p:spPr>
          <a:xfrm>
            <a:off x="7040880" y="2148840"/>
            <a:ext cx="4113360" cy="14158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Only the details needed for planning. Abstraction makes search possible by removing irrelevant detail.</a:t>
            </a:r>
            <a:endParaRPr lang="en-US" sz="1600" b="0" u="none" strike="noStrike">
              <a:solidFill>
                <a:srgbClr val="000000"/>
              </a:solidFill>
              <a:effectLst/>
              <a:uFillTx/>
              <a:latin typeface="Arial"/>
            </a:endParaRPr>
          </a:p>
        </p:txBody>
      </p:sp>
      <p:sp>
        <p:nvSpPr>
          <p:cNvPr id="429" name="Shape 9"/>
          <p:cNvSpPr/>
          <p:nvPr/>
        </p:nvSpPr>
        <p:spPr>
          <a:xfrm>
            <a:off x="5440680" y="2468880"/>
            <a:ext cx="1280160" cy="360"/>
          </a:xfrm>
          <a:prstGeom prst="line">
            <a:avLst/>
          </a:prstGeom>
          <a:ln w="31750">
            <a:solidFill>
              <a:srgbClr val="F6A01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30" name="Text 10"/>
          <p:cNvSpPr/>
          <p:nvPr/>
        </p:nvSpPr>
        <p:spPr>
          <a:xfrm>
            <a:off x="960120" y="4251960"/>
            <a:ext cx="2833200" cy="455760"/>
          </a:xfrm>
          <a:prstGeom prst="roundRect">
            <a:avLst>
              <a:gd name="adj" fmla="val 16000"/>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Pathing</a:t>
            </a:r>
            <a:endParaRPr lang="en-US" sz="1500" b="0" u="none" strike="noStrike">
              <a:solidFill>
                <a:srgbClr val="000000"/>
              </a:solidFill>
              <a:effectLst/>
              <a:uFillTx/>
              <a:latin typeface="Arial"/>
            </a:endParaRPr>
          </a:p>
        </p:txBody>
      </p:sp>
      <p:sp>
        <p:nvSpPr>
          <p:cNvPr id="431" name="Text 11"/>
          <p:cNvSpPr/>
          <p:nvPr/>
        </p:nvSpPr>
        <p:spPr>
          <a:xfrm>
            <a:off x="1143000" y="4800600"/>
            <a:ext cx="2467440" cy="410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350" b="0" u="none" strike="noStrike">
                <a:solidFill>
                  <a:srgbClr val="5C6B80"/>
                </a:solidFill>
                <a:effectLst/>
                <a:uFillTx/>
                <a:latin typeface="Aptos"/>
              </a:rPr>
              <a:t>position only</a:t>
            </a:r>
            <a:endParaRPr lang="en-US" sz="1350" b="0" u="none" strike="noStrike">
              <a:solidFill>
                <a:srgbClr val="000000"/>
              </a:solidFill>
              <a:effectLst/>
              <a:uFillTx/>
              <a:latin typeface="Arial"/>
            </a:endParaRPr>
          </a:p>
        </p:txBody>
      </p:sp>
      <p:sp>
        <p:nvSpPr>
          <p:cNvPr id="432" name="Text 12"/>
          <p:cNvSpPr/>
          <p:nvPr/>
        </p:nvSpPr>
        <p:spPr>
          <a:xfrm>
            <a:off x="4663440" y="4251960"/>
            <a:ext cx="2833200" cy="455760"/>
          </a:xfrm>
          <a:prstGeom prst="roundRect">
            <a:avLst>
              <a:gd name="adj" fmla="val 16000"/>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Eat-all-dots</a:t>
            </a:r>
            <a:endParaRPr lang="en-US" sz="1500" b="0" u="none" strike="noStrike">
              <a:solidFill>
                <a:srgbClr val="000000"/>
              </a:solidFill>
              <a:effectLst/>
              <a:uFillTx/>
              <a:latin typeface="Arial"/>
            </a:endParaRPr>
          </a:p>
        </p:txBody>
      </p:sp>
      <p:sp>
        <p:nvSpPr>
          <p:cNvPr id="433" name="Text 13"/>
          <p:cNvSpPr/>
          <p:nvPr/>
        </p:nvSpPr>
        <p:spPr>
          <a:xfrm>
            <a:off x="4846320" y="4800600"/>
            <a:ext cx="2467440" cy="410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350" b="0" u="none" strike="noStrike">
                <a:solidFill>
                  <a:srgbClr val="5C6B80"/>
                </a:solidFill>
                <a:effectLst/>
                <a:uFillTx/>
                <a:latin typeface="Aptos"/>
              </a:rPr>
              <a:t>position + dot booleans</a:t>
            </a:r>
            <a:endParaRPr lang="en-US" sz="1350" b="0" u="none" strike="noStrike">
              <a:solidFill>
                <a:srgbClr val="000000"/>
              </a:solidFill>
              <a:effectLst/>
              <a:uFillTx/>
              <a:latin typeface="Arial"/>
            </a:endParaRPr>
          </a:p>
        </p:txBody>
      </p:sp>
      <p:sp>
        <p:nvSpPr>
          <p:cNvPr id="434" name="Text 14"/>
          <p:cNvSpPr/>
          <p:nvPr/>
        </p:nvSpPr>
        <p:spPr>
          <a:xfrm>
            <a:off x="8366760" y="4251960"/>
            <a:ext cx="2833200" cy="455760"/>
          </a:xfrm>
          <a:prstGeom prst="roundRect">
            <a:avLst>
              <a:gd name="adj" fmla="val 16000"/>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Safe passage</a:t>
            </a:r>
            <a:endParaRPr lang="en-US" sz="1500" b="0" u="none" strike="noStrike">
              <a:solidFill>
                <a:srgbClr val="000000"/>
              </a:solidFill>
              <a:effectLst/>
              <a:uFillTx/>
              <a:latin typeface="Arial"/>
            </a:endParaRPr>
          </a:p>
        </p:txBody>
      </p:sp>
      <p:sp>
        <p:nvSpPr>
          <p:cNvPr id="435" name="Text 15"/>
          <p:cNvSpPr/>
          <p:nvPr/>
        </p:nvSpPr>
        <p:spPr>
          <a:xfrm>
            <a:off x="8549640" y="4800600"/>
            <a:ext cx="2467440" cy="410040"/>
          </a:xfrm>
          <a:prstGeom prst="rect">
            <a:avLst/>
          </a:prstGeom>
          <a:noFill/>
          <a:ln w="0">
            <a:noFill/>
          </a:ln>
        </p:spPr>
        <p:style>
          <a:lnRef idx="0"/>
          <a:fillRef idx="0"/>
          <a:effectRef idx="0"/>
          <a:fontRef idx="minor"/>
        </p:style>
        <p:txBody>
          <a:bodyPr lIns="720" tIns="720" rIns="720" bIns="720" anchor="ctr">
            <a:normAutofit lnSpcReduction="9999"/>
          </a:bodyPr>
          <a:p>
            <a:pPr algn="ctr" defTabSz="914400">
              <a:lnSpc>
                <a:spcPct val="100000"/>
              </a:lnSpc>
              <a:tabLst>
                <a:tab pos="0" algn="l"/>
              </a:tabLst>
            </a:pPr>
            <a:r>
              <a:rPr lang="en-US" sz="1350" b="0" u="none" strike="noStrike">
                <a:solidFill>
                  <a:srgbClr val="5C6B80"/>
                </a:solidFill>
                <a:effectLst/>
                <a:uFillTx/>
                <a:latin typeface="Aptos"/>
              </a:rPr>
              <a:t>position + dots + power pellets + scared timer</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Shape 0"/>
          <p:cNvSpPr/>
          <p:nvPr/>
        </p:nvSpPr>
        <p:spPr>
          <a:xfrm>
            <a:off x="219600" y="219600"/>
            <a:ext cx="11757960" cy="840240"/>
          </a:xfrm>
          <a:prstGeom prst="rect">
            <a:avLst/>
          </a:prstGeom>
          <a:solidFill>
            <a:srgbClr val="153761"/>
          </a:solidFill>
          <a:ln w="12700">
            <a:solidFill>
              <a:srgbClr val="15376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37" name="Shape 1"/>
          <p:cNvSpPr/>
          <p:nvPr/>
        </p:nvSpPr>
        <p:spPr>
          <a:xfrm>
            <a:off x="219600" y="1060560"/>
            <a:ext cx="11757960" cy="81360"/>
          </a:xfrm>
          <a:prstGeom prst="rect">
            <a:avLst/>
          </a:prstGeom>
          <a:solidFill>
            <a:srgbClr val="F5A623"/>
          </a:solidFill>
          <a:ln w="12700">
            <a:solidFill>
              <a:srgbClr val="F5A623"/>
            </a:solidFill>
            <a:round/>
          </a:ln>
        </p:spPr>
        <p:style>
          <a:lnRef idx="0"/>
          <a:fillRef idx="0"/>
          <a:effectRef idx="0"/>
          <a:fontRef idx="minor"/>
        </p:style>
        <p:txBody>
          <a:bodyPr lIns="90000" tIns="37440" rIns="90000" bIns="37440" anchor="t">
            <a:noAutofit/>
          </a:bodyPr>
          <a:p>
            <a:endParaRPr lang="en-US" sz="1800" b="0" u="none" strike="noStrike">
              <a:solidFill>
                <a:schemeClr val="dk1"/>
              </a:solidFill>
              <a:effectLst/>
              <a:uFillTx/>
              <a:latin typeface="Aptos"/>
            </a:endParaRPr>
          </a:p>
        </p:txBody>
      </p:sp>
      <p:sp>
        <p:nvSpPr>
          <p:cNvPr id="438" name="Text 2"/>
          <p:cNvSpPr/>
          <p:nvPr/>
        </p:nvSpPr>
        <p:spPr>
          <a:xfrm>
            <a:off x="502920" y="393120"/>
            <a:ext cx="11063160" cy="383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FFFFFF"/>
                </a:solidFill>
                <a:effectLst/>
                <a:uFillTx/>
                <a:latin typeface="Aptos Display"/>
                <a:ea typeface="Aptos Display"/>
              </a:rPr>
              <a:t>State Space Sizes? Count the Variables</a:t>
            </a:r>
            <a:endParaRPr lang="en-US" sz="2400" b="0" u="none" strike="noStrike">
              <a:solidFill>
                <a:srgbClr val="000000"/>
              </a:solidFill>
              <a:effectLst/>
              <a:uFillTx/>
              <a:latin typeface="Arial"/>
            </a:endParaRPr>
          </a:p>
        </p:txBody>
      </p:sp>
      <p:sp>
        <p:nvSpPr>
          <p:cNvPr id="439" name="Text 3"/>
          <p:cNvSpPr/>
          <p:nvPr/>
        </p:nvSpPr>
        <p:spPr>
          <a:xfrm>
            <a:off x="502920" y="6574680"/>
            <a:ext cx="3290760" cy="136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335577"/>
                </a:solidFill>
                <a:effectLst/>
                <a:uFillTx/>
                <a:latin typeface="Aptos"/>
              </a:rPr>
              <a:t>CSU Channel Islands · Department of Computer Science</a:t>
            </a:r>
            <a:endParaRPr lang="en-US" sz="750" b="0" u="none" strike="noStrike">
              <a:solidFill>
                <a:srgbClr val="000000"/>
              </a:solidFill>
              <a:effectLst/>
              <a:uFillTx/>
              <a:latin typeface="Arial"/>
            </a:endParaRPr>
          </a:p>
        </p:txBody>
      </p:sp>
      <p:sp>
        <p:nvSpPr>
          <p:cNvPr id="440" name="Text 4"/>
          <p:cNvSpPr/>
          <p:nvPr/>
        </p:nvSpPr>
        <p:spPr>
          <a:xfrm>
            <a:off x="9738360" y="6574680"/>
            <a:ext cx="2239200" cy="136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335577"/>
                </a:solidFill>
                <a:effectLst/>
                <a:uFillTx/>
                <a:latin typeface="Aptos"/>
              </a:rPr>
              <a:t>COMP 469 · Chapter 3 · Sections 3.1-3.4</a:t>
            </a:r>
            <a:endParaRPr lang="en-US" sz="750" b="0" u="none" strike="noStrike">
              <a:solidFill>
                <a:srgbClr val="000000"/>
              </a:solidFill>
              <a:effectLst/>
              <a:uFillTx/>
              <a:latin typeface="Arial"/>
            </a:endParaRPr>
          </a:p>
        </p:txBody>
      </p:sp>
      <p:sp>
        <p:nvSpPr>
          <p:cNvPr id="441" name="Text 5"/>
          <p:cNvSpPr/>
          <p:nvPr/>
        </p:nvSpPr>
        <p:spPr>
          <a:xfrm>
            <a:off x="777240" y="1536120"/>
            <a:ext cx="10651680" cy="383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50" b="1" u="none" strike="noStrike">
                <a:solidFill>
                  <a:srgbClr val="082B55"/>
                </a:solidFill>
                <a:effectLst/>
                <a:uFillTx/>
                <a:latin typeface="Aptos"/>
              </a:rPr>
              <a:t>State = the information the algorithm must remember at one point in the search.</a:t>
            </a:r>
            <a:endParaRPr lang="en-US" sz="1850" b="0" u="none" strike="noStrike">
              <a:solidFill>
                <a:srgbClr val="000000"/>
              </a:solidFill>
              <a:effectLst/>
              <a:uFillTx/>
              <a:latin typeface="Arial"/>
            </a:endParaRPr>
          </a:p>
        </p:txBody>
      </p:sp>
      <p:sp>
        <p:nvSpPr>
          <p:cNvPr id="442" name="Shape 6"/>
          <p:cNvSpPr/>
          <p:nvPr/>
        </p:nvSpPr>
        <p:spPr>
          <a:xfrm>
            <a:off x="804600" y="1993320"/>
            <a:ext cx="3382200" cy="2613960"/>
          </a:xfrm>
          <a:prstGeom prst="rect">
            <a:avLst/>
          </a:prstGeom>
          <a:solidFill>
            <a:srgbClr val="000000"/>
          </a:solidFill>
          <a:ln w="12700">
            <a:solidFill>
              <a:srgbClr val="00000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43" name="Shape 7"/>
          <p:cNvSpPr/>
          <p:nvPr/>
        </p:nvSpPr>
        <p:spPr>
          <a:xfrm>
            <a:off x="896040" y="2084760"/>
            <a:ext cx="3199320" cy="2431080"/>
          </a:xfrm>
          <a:prstGeom prst="rect">
            <a:avLst/>
          </a:prstGeom>
          <a:noFill/>
          <a:ln w="17780">
            <a:solidFill>
              <a:srgbClr val="0B5C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44" name="Shape 8"/>
          <p:cNvSpPr/>
          <p:nvPr/>
        </p:nvSpPr>
        <p:spPr>
          <a:xfrm>
            <a:off x="3579120" y="2130480"/>
            <a:ext cx="405000" cy="2339640"/>
          </a:xfrm>
          <a:prstGeom prst="rect">
            <a:avLst/>
          </a:prstGeom>
          <a:noFill/>
          <a:ln w="15240">
            <a:solidFill>
              <a:srgbClr val="0B5C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45" name="Shape 9"/>
          <p:cNvSpPr/>
          <p:nvPr/>
        </p:nvSpPr>
        <p:spPr>
          <a:xfrm>
            <a:off x="1010520" y="224496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46" name="Shape 10"/>
          <p:cNvSpPr/>
          <p:nvPr/>
        </p:nvSpPr>
        <p:spPr>
          <a:xfrm>
            <a:off x="1483920" y="224496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47" name="Shape 11"/>
          <p:cNvSpPr/>
          <p:nvPr/>
        </p:nvSpPr>
        <p:spPr>
          <a:xfrm>
            <a:off x="1957680" y="224496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48" name="Shape 12"/>
          <p:cNvSpPr/>
          <p:nvPr/>
        </p:nvSpPr>
        <p:spPr>
          <a:xfrm>
            <a:off x="2431440" y="224496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49" name="Shape 13"/>
          <p:cNvSpPr/>
          <p:nvPr/>
        </p:nvSpPr>
        <p:spPr>
          <a:xfrm>
            <a:off x="2905200" y="224496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50" name="Shape 14"/>
          <p:cNvSpPr/>
          <p:nvPr/>
        </p:nvSpPr>
        <p:spPr>
          <a:xfrm>
            <a:off x="1010520" y="261108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51" name="Shape 15"/>
          <p:cNvSpPr/>
          <p:nvPr/>
        </p:nvSpPr>
        <p:spPr>
          <a:xfrm>
            <a:off x="1483920" y="261108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52" name="Shape 16"/>
          <p:cNvSpPr/>
          <p:nvPr/>
        </p:nvSpPr>
        <p:spPr>
          <a:xfrm>
            <a:off x="1957680" y="261108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53" name="Shape 17"/>
          <p:cNvSpPr/>
          <p:nvPr/>
        </p:nvSpPr>
        <p:spPr>
          <a:xfrm>
            <a:off x="2431440" y="261108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54" name="Shape 18"/>
          <p:cNvSpPr/>
          <p:nvPr/>
        </p:nvSpPr>
        <p:spPr>
          <a:xfrm>
            <a:off x="2905200" y="261108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55" name="Shape 19"/>
          <p:cNvSpPr/>
          <p:nvPr/>
        </p:nvSpPr>
        <p:spPr>
          <a:xfrm>
            <a:off x="1010520" y="297720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56" name="Shape 20"/>
          <p:cNvSpPr/>
          <p:nvPr/>
        </p:nvSpPr>
        <p:spPr>
          <a:xfrm>
            <a:off x="1483920" y="297720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57" name="Shape 21"/>
          <p:cNvSpPr/>
          <p:nvPr/>
        </p:nvSpPr>
        <p:spPr>
          <a:xfrm>
            <a:off x="1957680" y="297720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58" name="Shape 22"/>
          <p:cNvSpPr/>
          <p:nvPr/>
        </p:nvSpPr>
        <p:spPr>
          <a:xfrm>
            <a:off x="2431440" y="297720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59" name="Shape 23"/>
          <p:cNvSpPr/>
          <p:nvPr/>
        </p:nvSpPr>
        <p:spPr>
          <a:xfrm>
            <a:off x="2905200" y="297720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60" name="Shape 24"/>
          <p:cNvSpPr/>
          <p:nvPr/>
        </p:nvSpPr>
        <p:spPr>
          <a:xfrm>
            <a:off x="1010520" y="334332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61" name="Shape 25"/>
          <p:cNvSpPr/>
          <p:nvPr/>
        </p:nvSpPr>
        <p:spPr>
          <a:xfrm>
            <a:off x="1483920" y="334332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62" name="Shape 26"/>
          <p:cNvSpPr/>
          <p:nvPr/>
        </p:nvSpPr>
        <p:spPr>
          <a:xfrm>
            <a:off x="1957680" y="334332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63" name="Shape 27"/>
          <p:cNvSpPr/>
          <p:nvPr/>
        </p:nvSpPr>
        <p:spPr>
          <a:xfrm>
            <a:off x="2431440" y="334332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64" name="Shape 28"/>
          <p:cNvSpPr/>
          <p:nvPr/>
        </p:nvSpPr>
        <p:spPr>
          <a:xfrm>
            <a:off x="2905200" y="334332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65" name="Shape 29"/>
          <p:cNvSpPr/>
          <p:nvPr/>
        </p:nvSpPr>
        <p:spPr>
          <a:xfrm>
            <a:off x="1010520" y="370944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66" name="Shape 30"/>
          <p:cNvSpPr/>
          <p:nvPr/>
        </p:nvSpPr>
        <p:spPr>
          <a:xfrm>
            <a:off x="1483920" y="370944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67" name="Shape 31"/>
          <p:cNvSpPr/>
          <p:nvPr/>
        </p:nvSpPr>
        <p:spPr>
          <a:xfrm>
            <a:off x="1957680" y="370944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68" name="Shape 32"/>
          <p:cNvSpPr/>
          <p:nvPr/>
        </p:nvSpPr>
        <p:spPr>
          <a:xfrm>
            <a:off x="2905200" y="370944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69" name="Shape 33"/>
          <p:cNvSpPr/>
          <p:nvPr/>
        </p:nvSpPr>
        <p:spPr>
          <a:xfrm>
            <a:off x="1010520" y="407556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70" name="Shape 34"/>
          <p:cNvSpPr/>
          <p:nvPr/>
        </p:nvSpPr>
        <p:spPr>
          <a:xfrm>
            <a:off x="1483920" y="407556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71" name="Shape 35"/>
          <p:cNvSpPr/>
          <p:nvPr/>
        </p:nvSpPr>
        <p:spPr>
          <a:xfrm>
            <a:off x="1957680" y="407556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72" name="Shape 36"/>
          <p:cNvSpPr/>
          <p:nvPr/>
        </p:nvSpPr>
        <p:spPr>
          <a:xfrm>
            <a:off x="2431440" y="407556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73" name="Shape 37"/>
          <p:cNvSpPr/>
          <p:nvPr/>
        </p:nvSpPr>
        <p:spPr>
          <a:xfrm>
            <a:off x="2905200" y="407556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sp>
        <p:nvSpPr>
          <p:cNvPr id="474" name="Text 39"/>
          <p:cNvSpPr/>
          <p:nvPr/>
        </p:nvSpPr>
        <p:spPr>
          <a:xfrm>
            <a:off x="2428560" y="3525120"/>
            <a:ext cx="227520" cy="78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000000"/>
                </a:solidFill>
                <a:effectLst/>
                <a:uFillTx/>
                <a:latin typeface="Aptos"/>
              </a:rPr>
              <a:t>P</a:t>
            </a:r>
            <a:endParaRPr lang="en-US" sz="800" b="0" u="none" strike="noStrike">
              <a:solidFill>
                <a:srgbClr val="000000"/>
              </a:solidFill>
              <a:effectLst/>
              <a:uFillTx/>
              <a:latin typeface="Arial"/>
            </a:endParaRPr>
          </a:p>
        </p:txBody>
      </p:sp>
      <p:sp>
        <p:nvSpPr>
          <p:cNvPr id="475" name="Text 44"/>
          <p:cNvSpPr/>
          <p:nvPr/>
        </p:nvSpPr>
        <p:spPr>
          <a:xfrm>
            <a:off x="758880" y="4681800"/>
            <a:ext cx="1141920" cy="163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06580"/>
                </a:solidFill>
                <a:effectLst/>
                <a:uFillTx/>
                <a:latin typeface="Aptos"/>
              </a:rPr>
              <a:t>grid positions: 120</a:t>
            </a:r>
            <a:endParaRPr lang="en-US" sz="800" b="0" u="none" strike="noStrike">
              <a:solidFill>
                <a:srgbClr val="000000"/>
              </a:solidFill>
              <a:effectLst/>
              <a:uFillTx/>
              <a:latin typeface="Arial"/>
            </a:endParaRPr>
          </a:p>
        </p:txBody>
      </p:sp>
      <p:sp>
        <p:nvSpPr>
          <p:cNvPr id="476" name="Text 45"/>
          <p:cNvSpPr/>
          <p:nvPr/>
        </p:nvSpPr>
        <p:spPr>
          <a:xfrm>
            <a:off x="2103120" y="4681800"/>
            <a:ext cx="1141920" cy="163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506580"/>
                </a:solidFill>
                <a:effectLst/>
                <a:uFillTx/>
                <a:latin typeface="Aptos"/>
              </a:rPr>
              <a:t>food booleans: 30</a:t>
            </a:r>
            <a:endParaRPr lang="en-US" sz="800" b="0" u="none" strike="noStrike">
              <a:solidFill>
                <a:srgbClr val="000000"/>
              </a:solidFill>
              <a:effectLst/>
              <a:uFillTx/>
              <a:latin typeface="Arial"/>
            </a:endParaRPr>
          </a:p>
        </p:txBody>
      </p:sp>
      <p:sp>
        <p:nvSpPr>
          <p:cNvPr id="477" name="Text 46"/>
          <p:cNvSpPr/>
          <p:nvPr/>
        </p:nvSpPr>
        <p:spPr>
          <a:xfrm>
            <a:off x="3346560" y="4681800"/>
            <a:ext cx="1004760" cy="163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06580"/>
                </a:solidFill>
                <a:effectLst/>
                <a:uFillTx/>
                <a:latin typeface="Aptos"/>
              </a:rPr>
              <a:t>ghost positions: 12 each</a:t>
            </a:r>
            <a:endParaRPr lang="en-US" sz="800" b="0" u="none" strike="noStrike">
              <a:solidFill>
                <a:srgbClr val="000000"/>
              </a:solidFill>
              <a:effectLst/>
              <a:uFillTx/>
              <a:latin typeface="Arial"/>
            </a:endParaRPr>
          </a:p>
        </p:txBody>
      </p:sp>
      <p:sp>
        <p:nvSpPr>
          <p:cNvPr id="478" name="Shape 47"/>
          <p:cNvSpPr/>
          <p:nvPr/>
        </p:nvSpPr>
        <p:spPr>
          <a:xfrm>
            <a:off x="4617720" y="1965960"/>
            <a:ext cx="2787840" cy="419400"/>
          </a:xfrm>
          <a:prstGeom prst="roundRect">
            <a:avLst>
              <a:gd name="adj" fmla="val 15217"/>
            </a:avLst>
          </a:prstGeom>
          <a:solidFill>
            <a:srgbClr val="FFE5B3"/>
          </a:solidFill>
          <a:ln w="15240">
            <a:solidFill>
              <a:srgbClr val="F5A62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79" name="Text 48"/>
          <p:cNvSpPr/>
          <p:nvPr/>
        </p:nvSpPr>
        <p:spPr>
          <a:xfrm>
            <a:off x="4617720" y="2052720"/>
            <a:ext cx="278784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082B55"/>
                </a:solidFill>
                <a:effectLst/>
                <a:uFillTx/>
                <a:latin typeface="Aptos"/>
              </a:rPr>
              <a:t>World variables</a:t>
            </a:r>
            <a:endParaRPr lang="en-US" sz="1350" b="0" u="none" strike="noStrike">
              <a:solidFill>
                <a:srgbClr val="000000"/>
              </a:solidFill>
              <a:effectLst/>
              <a:uFillTx/>
              <a:latin typeface="Arial"/>
            </a:endParaRPr>
          </a:p>
        </p:txBody>
      </p:sp>
      <p:sp>
        <p:nvSpPr>
          <p:cNvPr id="480" name="Text 49"/>
          <p:cNvSpPr/>
          <p:nvPr/>
        </p:nvSpPr>
        <p:spPr>
          <a:xfrm>
            <a:off x="4673520" y="2245680"/>
            <a:ext cx="2943360" cy="1507680"/>
          </a:xfrm>
          <a:prstGeom prst="rect">
            <a:avLst/>
          </a:prstGeom>
          <a:noFill/>
          <a:ln w="0">
            <a:noFill/>
          </a:ln>
        </p:spPr>
        <p:style>
          <a:lnRef idx="0"/>
          <a:fillRef idx="0"/>
          <a:effectRef idx="0"/>
          <a:fontRef idx="minor"/>
        </p:style>
        <p:txBody>
          <a:bodyPr lIns="360" tIns="360" rIns="360" bIns="360" anchor="ctr">
            <a:normAutofit/>
          </a:bodyPr>
          <a:p>
            <a:pPr>
              <a:lnSpc>
                <a:spcPct val="100000"/>
              </a:lnSpc>
            </a:pPr>
            <a:r>
              <a:rPr lang="en-US" sz="1320" b="1" u="none" strike="noStrike">
                <a:solidFill>
                  <a:srgbClr val="082B55"/>
                </a:solidFill>
                <a:effectLst/>
                <a:uFillTx/>
                <a:latin typeface="Aptos"/>
              </a:rPr>
              <a:t>agent position</a:t>
            </a:r>
            <a:r>
              <a:rPr lang="en-US" sz="1320" b="0" u="none" strike="noStrike">
                <a:solidFill>
                  <a:srgbClr val="082B55"/>
                </a:solidFill>
                <a:effectLst/>
                <a:uFillTx/>
                <a:latin typeface="Aptos"/>
              </a:rPr>
              <a:t>: 120</a:t>
            </a:r>
            <a:endParaRPr lang="en-US" sz="1320" b="0" u="none" strike="noStrike">
              <a:solidFill>
                <a:srgbClr val="000000"/>
              </a:solidFill>
              <a:effectLst/>
              <a:uFillTx/>
              <a:latin typeface="Arial"/>
            </a:endParaRPr>
          </a:p>
          <a:p>
            <a:pPr>
              <a:lnSpc>
                <a:spcPct val="100000"/>
              </a:lnSpc>
            </a:pPr>
            <a:r>
              <a:rPr lang="en-US" sz="1320" b="1" u="none" strike="noStrike">
                <a:solidFill>
                  <a:srgbClr val="082B55"/>
                </a:solidFill>
                <a:effectLst/>
                <a:uFillTx/>
                <a:latin typeface="Aptos"/>
              </a:rPr>
              <a:t>food status</a:t>
            </a:r>
            <a:r>
              <a:rPr lang="en-US" sz="1320" b="0" u="none" strike="noStrike">
                <a:solidFill>
                  <a:srgbClr val="082B55"/>
                </a:solidFill>
                <a:effectLst/>
                <a:uFillTx/>
                <a:latin typeface="Aptos"/>
              </a:rPr>
              <a:t>: 30 binary choices</a:t>
            </a:r>
            <a:endParaRPr lang="en-US" sz="1320" b="0" u="none" strike="noStrike">
              <a:solidFill>
                <a:srgbClr val="000000"/>
              </a:solidFill>
              <a:effectLst/>
              <a:uFillTx/>
              <a:latin typeface="Arial"/>
            </a:endParaRPr>
          </a:p>
          <a:p>
            <a:pPr>
              <a:lnSpc>
                <a:spcPct val="100000"/>
              </a:lnSpc>
            </a:pPr>
            <a:r>
              <a:rPr lang="en-US" sz="1320" b="1" u="none" strike="noStrike">
                <a:solidFill>
                  <a:srgbClr val="082B55"/>
                </a:solidFill>
                <a:effectLst/>
                <a:uFillTx/>
                <a:latin typeface="Aptos"/>
              </a:rPr>
              <a:t>ghost positions</a:t>
            </a:r>
            <a:r>
              <a:rPr lang="en-US" sz="1320" b="0" u="none" strike="noStrike">
                <a:solidFill>
                  <a:srgbClr val="082B55"/>
                </a:solidFill>
                <a:effectLst/>
                <a:uFillTx/>
                <a:latin typeface="Aptos"/>
              </a:rPr>
              <a:t>: two ghosts, 12 each</a:t>
            </a:r>
            <a:endParaRPr lang="en-US" sz="1320" b="0" u="none" strike="noStrike">
              <a:solidFill>
                <a:srgbClr val="000000"/>
              </a:solidFill>
              <a:effectLst/>
              <a:uFillTx/>
              <a:latin typeface="Arial"/>
            </a:endParaRPr>
          </a:p>
          <a:p>
            <a:pPr defTabSz="914400">
              <a:lnSpc>
                <a:spcPct val="100000"/>
              </a:lnSpc>
              <a:tabLst>
                <a:tab pos="0" algn="l"/>
              </a:tabLst>
            </a:pPr>
            <a:r>
              <a:rPr lang="en-US" sz="1320" b="1" u="none" strike="noStrike">
                <a:solidFill>
                  <a:srgbClr val="082B55"/>
                </a:solidFill>
                <a:effectLst/>
                <a:uFillTx/>
                <a:latin typeface="Aptos"/>
              </a:rPr>
              <a:t>facing direction</a:t>
            </a:r>
            <a:r>
              <a:rPr lang="en-US" sz="1320" b="0" u="none" strike="noStrike">
                <a:solidFill>
                  <a:srgbClr val="082B55"/>
                </a:solidFill>
                <a:effectLst/>
                <a:uFillTx/>
                <a:latin typeface="Aptos"/>
              </a:rPr>
              <a:t>: N, S, E, or W</a:t>
            </a:r>
            <a:endParaRPr lang="en-US" sz="1320" b="0" u="none" strike="noStrike">
              <a:solidFill>
                <a:srgbClr val="000000"/>
              </a:solidFill>
              <a:effectLst/>
              <a:uFillTx/>
              <a:latin typeface="Arial"/>
            </a:endParaRPr>
          </a:p>
        </p:txBody>
      </p:sp>
      <p:sp>
        <p:nvSpPr>
          <p:cNvPr id="481" name="Shape 50"/>
          <p:cNvSpPr/>
          <p:nvPr/>
        </p:nvSpPr>
        <p:spPr>
          <a:xfrm>
            <a:off x="7955280" y="1965960"/>
            <a:ext cx="3400560" cy="419400"/>
          </a:xfrm>
          <a:prstGeom prst="roundRect">
            <a:avLst>
              <a:gd name="adj" fmla="val 15217"/>
            </a:avLst>
          </a:prstGeom>
          <a:solidFill>
            <a:srgbClr val="D9E9FF"/>
          </a:solidFill>
          <a:ln w="15240">
            <a:solidFill>
              <a:srgbClr val="2F7DE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82" name="Text 51"/>
          <p:cNvSpPr/>
          <p:nvPr/>
        </p:nvSpPr>
        <p:spPr>
          <a:xfrm>
            <a:off x="7955280" y="2052720"/>
            <a:ext cx="340056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082B55"/>
                </a:solidFill>
                <a:effectLst/>
                <a:uFillTx/>
                <a:latin typeface="Aptos"/>
              </a:rPr>
              <a:t>Tuple formulation</a:t>
            </a:r>
            <a:endParaRPr lang="en-US" sz="1350" b="0" u="none" strike="noStrike">
              <a:solidFill>
                <a:srgbClr val="000000"/>
              </a:solidFill>
              <a:effectLst/>
              <a:uFillTx/>
              <a:latin typeface="Arial"/>
            </a:endParaRPr>
          </a:p>
        </p:txBody>
      </p:sp>
      <p:sp>
        <p:nvSpPr>
          <p:cNvPr id="483" name="Text 52"/>
          <p:cNvSpPr/>
          <p:nvPr/>
        </p:nvSpPr>
        <p:spPr>
          <a:xfrm>
            <a:off x="7900560" y="2633400"/>
            <a:ext cx="3546720" cy="5932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20" b="1" u="none" strike="noStrike">
                <a:solidFill>
                  <a:srgbClr val="082B55"/>
                </a:solidFill>
                <a:effectLst/>
                <a:uFillTx/>
                <a:latin typeface="Aptos"/>
              </a:rPr>
              <a:t>s = (agent position, food mask, ghost 1, ghost 2, facing)</a:t>
            </a:r>
            <a:endParaRPr lang="en-US" sz="1420" b="0" u="none" strike="noStrike">
              <a:solidFill>
                <a:srgbClr val="000000"/>
              </a:solidFill>
              <a:effectLst/>
              <a:uFillTx/>
              <a:latin typeface="Arial"/>
            </a:endParaRPr>
          </a:p>
        </p:txBody>
      </p:sp>
      <p:sp>
        <p:nvSpPr>
          <p:cNvPr id="484" name="Text 53"/>
          <p:cNvSpPr/>
          <p:nvPr/>
        </p:nvSpPr>
        <p:spPr>
          <a:xfrm>
            <a:off x="8010000" y="3456360"/>
            <a:ext cx="3327480" cy="593280"/>
          </a:xfrm>
          <a:prstGeom prst="rect">
            <a:avLst/>
          </a:prstGeom>
          <a:noFill/>
          <a:ln w="0">
            <a:no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240" b="0" u="none" strike="noStrike">
                <a:solidFill>
                  <a:srgbClr val="506580"/>
                </a:solidFill>
                <a:effectLst/>
                <a:uFillTx/>
                <a:latin typeface="Aptos"/>
              </a:rPr>
              <a:t>Each independent component multiplies the number of possible states.</a:t>
            </a:r>
            <a:endParaRPr lang="en-US" sz="1240" b="0" u="none" strike="noStrike">
              <a:solidFill>
                <a:srgbClr val="000000"/>
              </a:solidFill>
              <a:effectLst/>
              <a:uFillTx/>
              <a:latin typeface="Arial"/>
            </a:endParaRPr>
          </a:p>
        </p:txBody>
      </p:sp>
      <p:sp>
        <p:nvSpPr>
          <p:cNvPr id="485" name="Shape 54"/>
          <p:cNvSpPr/>
          <p:nvPr/>
        </p:nvSpPr>
        <p:spPr>
          <a:xfrm>
            <a:off x="4617720" y="4617720"/>
            <a:ext cx="6766560" cy="360"/>
          </a:xfrm>
          <a:prstGeom prst="line">
            <a:avLst/>
          </a:prstGeom>
          <a:ln w="15240">
            <a:solidFill>
              <a:srgbClr val="D2DCE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486" name="Text 55"/>
          <p:cNvSpPr/>
          <p:nvPr/>
        </p:nvSpPr>
        <p:spPr>
          <a:xfrm>
            <a:off x="1920240" y="4974480"/>
            <a:ext cx="8319960" cy="410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600" b="1" u="none" strike="noStrike">
                <a:solidFill>
                  <a:srgbClr val="A81919"/>
                </a:solidFill>
                <a:effectLst/>
                <a:uFillTx/>
                <a:latin typeface="Aptos"/>
              </a:rPr>
              <a:t>|S| = 120 × 2³⁰ × 12² × 4</a:t>
            </a:r>
            <a:endParaRPr lang="en-US" sz="2600" b="0" u="none" strike="noStrike">
              <a:solidFill>
                <a:srgbClr val="000000"/>
              </a:solidFill>
              <a:effectLst/>
              <a:uFillTx/>
              <a:latin typeface="Arial"/>
            </a:endParaRPr>
          </a:p>
        </p:txBody>
      </p:sp>
      <p:sp>
        <p:nvSpPr>
          <p:cNvPr id="487" name="Text 56"/>
          <p:cNvSpPr/>
          <p:nvPr/>
        </p:nvSpPr>
        <p:spPr>
          <a:xfrm>
            <a:off x="2057400" y="5596200"/>
            <a:ext cx="8045640" cy="273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20" b="1" u="none" strike="noStrike">
                <a:solidFill>
                  <a:srgbClr val="082B55"/>
                </a:solidFill>
                <a:effectLst/>
                <a:uFillTx/>
                <a:latin typeface="Aptos"/>
              </a:rPr>
              <a:t>Key transition to the next slide: not every problem needs every world variable.</a:t>
            </a:r>
            <a:endParaRPr lang="en-US" sz="1620" b="0" u="none" strike="noStrike">
              <a:solidFill>
                <a:srgbClr val="000000"/>
              </a:solidFill>
              <a:effectLst/>
              <a:uFillTx/>
              <a:latin typeface="Arial"/>
            </a:endParaRPr>
          </a:p>
        </p:txBody>
      </p:sp>
      <p:sp>
        <p:nvSpPr>
          <p:cNvPr id="488" name="Text 57"/>
          <p:cNvSpPr/>
          <p:nvPr/>
        </p:nvSpPr>
        <p:spPr>
          <a:xfrm>
            <a:off x="2926080" y="5961960"/>
            <a:ext cx="6308280" cy="236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20" b="0" u="none" strike="noStrike">
                <a:solidFill>
                  <a:srgbClr val="506580"/>
                </a:solidFill>
                <a:effectLst/>
                <a:uFillTx/>
                <a:latin typeface="Aptos"/>
              </a:rPr>
              <a:t>Drop variables the goal test and cost function never read.</a:t>
            </a:r>
            <a:endParaRPr lang="en-US" sz="1320" b="0" u="none" strike="noStrike">
              <a:solidFill>
                <a:srgbClr val="000000"/>
              </a:solidFill>
              <a:effectLst/>
              <a:uFillTx/>
              <a:latin typeface="Arial"/>
            </a:endParaRPr>
          </a:p>
        </p:txBody>
      </p:sp>
      <p:sp>
        <p:nvSpPr>
          <p:cNvPr id="489" name="Shape 27"/>
          <p:cNvSpPr/>
          <p:nvPr/>
        </p:nvSpPr>
        <p:spPr>
          <a:xfrm>
            <a:off x="2432520" y="3718800"/>
            <a:ext cx="44640" cy="44640"/>
          </a:xfrm>
          <a:prstGeom prst="ellipse">
            <a:avLst/>
          </a:prstGeom>
          <a:solidFill>
            <a:srgbClr val="FFFFFF"/>
          </a:solidFill>
          <a:ln w="12700">
            <a:solidFill>
              <a:srgbClr val="FFFFFF"/>
            </a:solidFill>
            <a:round/>
          </a:ln>
        </p:spPr>
        <p:style>
          <a:lnRef idx="0"/>
          <a:fillRef idx="0"/>
          <a:effectRef idx="0"/>
          <a:fontRef idx="minor"/>
        </p:style>
        <p:txBody>
          <a:bodyPr lIns="22320" tIns="-12600" rIns="22320" bIns="-12600" anchor="t">
            <a:noAutofit/>
          </a:bodyPr>
          <a:p>
            <a:endParaRPr lang="en-US" sz="1800" b="0" u="none" strike="noStrike">
              <a:solidFill>
                <a:schemeClr val="dk1"/>
              </a:solidFill>
              <a:effectLst/>
              <a:uFillTx/>
              <a:latin typeface="Aptos"/>
            </a:endParaRPr>
          </a:p>
        </p:txBody>
      </p:sp>
      <p:pic>
        <p:nvPicPr>
          <p:cNvPr id="490" name="Picture 62"/>
          <p:cNvPicPr/>
          <p:nvPr/>
        </p:nvPicPr>
        <p:blipFill>
          <a:blip r:embed="rId1"/>
          <a:stretch/>
        </p:blipFill>
        <p:spPr>
          <a:xfrm>
            <a:off x="2574000" y="3582360"/>
            <a:ext cx="200160" cy="204840"/>
          </a:xfrm>
          <a:prstGeom prst="rect">
            <a:avLst/>
          </a:prstGeom>
          <a:noFill/>
          <a:ln w="0">
            <a:noFill/>
          </a:ln>
        </p:spPr>
      </p:pic>
      <p:pic>
        <p:nvPicPr>
          <p:cNvPr id="491" name="Picture 64"/>
          <p:cNvPicPr/>
          <p:nvPr/>
        </p:nvPicPr>
        <p:blipFill>
          <a:blip r:embed="rId2"/>
          <a:stretch/>
        </p:blipFill>
        <p:spPr>
          <a:xfrm>
            <a:off x="3651840" y="2619360"/>
            <a:ext cx="251640" cy="224280"/>
          </a:xfrm>
          <a:prstGeom prst="rect">
            <a:avLst/>
          </a:prstGeom>
          <a:noFill/>
          <a:ln w="0">
            <a:noFill/>
          </a:ln>
        </p:spPr>
      </p:pic>
      <p:pic>
        <p:nvPicPr>
          <p:cNvPr id="492" name="Picture 66"/>
          <p:cNvPicPr/>
          <p:nvPr/>
        </p:nvPicPr>
        <p:blipFill>
          <a:blip r:embed="rId3"/>
          <a:stretch/>
        </p:blipFill>
        <p:spPr>
          <a:xfrm>
            <a:off x="3663360" y="3703680"/>
            <a:ext cx="262080" cy="19008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493"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94"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495"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Counting a State Space: Pac-Man</a:t>
            </a:r>
            <a:endParaRPr lang="en-US" sz="2600" b="0" u="none" strike="noStrike">
              <a:solidFill>
                <a:srgbClr val="000000"/>
              </a:solidFill>
              <a:effectLst/>
              <a:uFillTx/>
              <a:latin typeface="Arial"/>
            </a:endParaRPr>
          </a:p>
        </p:txBody>
      </p:sp>
      <p:sp>
        <p:nvSpPr>
          <p:cNvPr id="496"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97"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98" name="Rounded Rectangle 6"/>
          <p:cNvSpPr/>
          <p:nvPr/>
        </p:nvSpPr>
        <p:spPr>
          <a:xfrm>
            <a:off x="777240" y="1417320"/>
            <a:ext cx="5027760" cy="4100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World state: every last detail</a:t>
            </a:r>
            <a:endParaRPr lang="en-US" sz="1400" b="0" u="none" strike="noStrike">
              <a:solidFill>
                <a:srgbClr val="000000"/>
              </a:solidFill>
              <a:effectLst/>
              <a:uFillTx/>
              <a:latin typeface="Arial"/>
            </a:endParaRPr>
          </a:p>
        </p:txBody>
      </p:sp>
      <p:sp>
        <p:nvSpPr>
          <p:cNvPr id="499" name="Rounded Rectangle 7"/>
          <p:cNvSpPr/>
          <p:nvPr/>
        </p:nvSpPr>
        <p:spPr>
          <a:xfrm>
            <a:off x="777240" y="1965960"/>
            <a:ext cx="5027760" cy="5014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00" name="Rectangle 8"/>
          <p:cNvSpPr/>
          <p:nvPr/>
        </p:nvSpPr>
        <p:spPr>
          <a:xfrm>
            <a:off x="960120" y="1965960"/>
            <a:ext cx="191880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Agent position</a:t>
            </a:r>
            <a:endParaRPr lang="en-US" sz="1300" b="0" u="none" strike="noStrike">
              <a:solidFill>
                <a:srgbClr val="000000"/>
              </a:solidFill>
              <a:effectLst/>
              <a:uFillTx/>
              <a:latin typeface="Arial"/>
            </a:endParaRPr>
          </a:p>
        </p:txBody>
      </p:sp>
      <p:sp>
        <p:nvSpPr>
          <p:cNvPr id="501" name="Rectangle 9"/>
          <p:cNvSpPr/>
          <p:nvPr/>
        </p:nvSpPr>
        <p:spPr>
          <a:xfrm>
            <a:off x="2971800" y="1965960"/>
            <a:ext cx="191880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12 × 10 grid</a:t>
            </a:r>
            <a:endParaRPr lang="en-US" sz="1150" b="0" u="none" strike="noStrike">
              <a:solidFill>
                <a:srgbClr val="000000"/>
              </a:solidFill>
              <a:effectLst/>
              <a:uFillTx/>
              <a:latin typeface="Arial"/>
            </a:endParaRPr>
          </a:p>
        </p:txBody>
      </p:sp>
      <p:sp>
        <p:nvSpPr>
          <p:cNvPr id="502" name="Rectangle 10"/>
          <p:cNvSpPr/>
          <p:nvPr/>
        </p:nvSpPr>
        <p:spPr>
          <a:xfrm>
            <a:off x="4983480" y="1965960"/>
            <a:ext cx="63864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9B1C1C"/>
                </a:solidFill>
                <a:effectLst/>
                <a:uFillTx/>
                <a:latin typeface="Aptos"/>
              </a:rPr>
              <a:t>120</a:t>
            </a:r>
            <a:endParaRPr lang="en-US" sz="1500" b="0" u="none" strike="noStrike">
              <a:solidFill>
                <a:srgbClr val="000000"/>
              </a:solidFill>
              <a:effectLst/>
              <a:uFillTx/>
              <a:latin typeface="Arial"/>
            </a:endParaRPr>
          </a:p>
        </p:txBody>
      </p:sp>
      <p:sp>
        <p:nvSpPr>
          <p:cNvPr id="503" name="Rounded Rectangle 11"/>
          <p:cNvSpPr/>
          <p:nvPr/>
        </p:nvSpPr>
        <p:spPr>
          <a:xfrm>
            <a:off x="777240" y="2560320"/>
            <a:ext cx="5027760" cy="5014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04" name="Rectangle 12"/>
          <p:cNvSpPr/>
          <p:nvPr/>
        </p:nvSpPr>
        <p:spPr>
          <a:xfrm>
            <a:off x="960120" y="2560320"/>
            <a:ext cx="191880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Dot status</a:t>
            </a:r>
            <a:endParaRPr lang="en-US" sz="1300" b="0" u="none" strike="noStrike">
              <a:solidFill>
                <a:srgbClr val="000000"/>
              </a:solidFill>
              <a:effectLst/>
              <a:uFillTx/>
              <a:latin typeface="Arial"/>
            </a:endParaRPr>
          </a:p>
        </p:txBody>
      </p:sp>
      <p:sp>
        <p:nvSpPr>
          <p:cNvPr id="505" name="Rectangle 13"/>
          <p:cNvSpPr/>
          <p:nvPr/>
        </p:nvSpPr>
        <p:spPr>
          <a:xfrm>
            <a:off x="2971800" y="2560320"/>
            <a:ext cx="191880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30 dots, each eaten or not</a:t>
            </a:r>
            <a:endParaRPr lang="en-US" sz="1150" b="0" u="none" strike="noStrike">
              <a:solidFill>
                <a:srgbClr val="000000"/>
              </a:solidFill>
              <a:effectLst/>
              <a:uFillTx/>
              <a:latin typeface="Arial"/>
            </a:endParaRPr>
          </a:p>
        </p:txBody>
      </p:sp>
      <p:sp>
        <p:nvSpPr>
          <p:cNvPr id="506" name="Rectangle 14"/>
          <p:cNvSpPr/>
          <p:nvPr/>
        </p:nvSpPr>
        <p:spPr>
          <a:xfrm>
            <a:off x="4983480" y="2560320"/>
            <a:ext cx="63864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9B1C1C"/>
                </a:solidFill>
                <a:effectLst/>
                <a:uFillTx/>
                <a:latin typeface="Aptos"/>
              </a:rPr>
              <a:t>2³⁰</a:t>
            </a:r>
            <a:endParaRPr lang="en-US" sz="1500" b="0" u="none" strike="noStrike">
              <a:solidFill>
                <a:srgbClr val="000000"/>
              </a:solidFill>
              <a:effectLst/>
              <a:uFillTx/>
              <a:latin typeface="Arial"/>
            </a:endParaRPr>
          </a:p>
        </p:txBody>
      </p:sp>
      <p:sp>
        <p:nvSpPr>
          <p:cNvPr id="507" name="Rounded Rectangle 15"/>
          <p:cNvSpPr/>
          <p:nvPr/>
        </p:nvSpPr>
        <p:spPr>
          <a:xfrm>
            <a:off x="777240" y="3154680"/>
            <a:ext cx="5027760" cy="5014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08" name="Rectangle 16"/>
          <p:cNvSpPr/>
          <p:nvPr/>
        </p:nvSpPr>
        <p:spPr>
          <a:xfrm>
            <a:off x="960120" y="3154680"/>
            <a:ext cx="191880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Ghost positions</a:t>
            </a:r>
            <a:endParaRPr lang="en-US" sz="1300" b="0" u="none" strike="noStrike">
              <a:solidFill>
                <a:srgbClr val="000000"/>
              </a:solidFill>
              <a:effectLst/>
              <a:uFillTx/>
              <a:latin typeface="Arial"/>
            </a:endParaRPr>
          </a:p>
        </p:txBody>
      </p:sp>
      <p:sp>
        <p:nvSpPr>
          <p:cNvPr id="509" name="Rectangle 17"/>
          <p:cNvSpPr/>
          <p:nvPr/>
        </p:nvSpPr>
        <p:spPr>
          <a:xfrm>
            <a:off x="2971800" y="3154680"/>
            <a:ext cx="191880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two ghosts, 12 × 1 lane</a:t>
            </a:r>
            <a:endParaRPr lang="en-US" sz="1150" b="0" u="none" strike="noStrike">
              <a:solidFill>
                <a:srgbClr val="000000"/>
              </a:solidFill>
              <a:effectLst/>
              <a:uFillTx/>
              <a:latin typeface="Arial"/>
            </a:endParaRPr>
          </a:p>
        </p:txBody>
      </p:sp>
      <p:sp>
        <p:nvSpPr>
          <p:cNvPr id="510" name="Rectangle 18"/>
          <p:cNvSpPr/>
          <p:nvPr/>
        </p:nvSpPr>
        <p:spPr>
          <a:xfrm>
            <a:off x="4983480" y="3154680"/>
            <a:ext cx="63864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9B1C1C"/>
                </a:solidFill>
                <a:effectLst/>
                <a:uFillTx/>
                <a:latin typeface="Aptos"/>
              </a:rPr>
              <a:t>12²</a:t>
            </a:r>
            <a:endParaRPr lang="en-US" sz="1500" b="0" u="none" strike="noStrike">
              <a:solidFill>
                <a:srgbClr val="000000"/>
              </a:solidFill>
              <a:effectLst/>
              <a:uFillTx/>
              <a:latin typeface="Arial"/>
            </a:endParaRPr>
          </a:p>
        </p:txBody>
      </p:sp>
      <p:sp>
        <p:nvSpPr>
          <p:cNvPr id="511" name="Rounded Rectangle 19"/>
          <p:cNvSpPr/>
          <p:nvPr/>
        </p:nvSpPr>
        <p:spPr>
          <a:xfrm>
            <a:off x="777240" y="3749040"/>
            <a:ext cx="5027760" cy="5014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12" name="Rectangle 20"/>
          <p:cNvSpPr/>
          <p:nvPr/>
        </p:nvSpPr>
        <p:spPr>
          <a:xfrm>
            <a:off x="960120" y="3749040"/>
            <a:ext cx="191880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Agent facing</a:t>
            </a:r>
            <a:endParaRPr lang="en-US" sz="1300" b="0" u="none" strike="noStrike">
              <a:solidFill>
                <a:srgbClr val="000000"/>
              </a:solidFill>
              <a:effectLst/>
              <a:uFillTx/>
              <a:latin typeface="Arial"/>
            </a:endParaRPr>
          </a:p>
        </p:txBody>
      </p:sp>
      <p:sp>
        <p:nvSpPr>
          <p:cNvPr id="513" name="Rectangle 21"/>
          <p:cNvSpPr/>
          <p:nvPr/>
        </p:nvSpPr>
        <p:spPr>
          <a:xfrm>
            <a:off x="2971800" y="3749040"/>
            <a:ext cx="191880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N, S, E, or W</a:t>
            </a:r>
            <a:endParaRPr lang="en-US" sz="1150" b="0" u="none" strike="noStrike">
              <a:solidFill>
                <a:srgbClr val="000000"/>
              </a:solidFill>
              <a:effectLst/>
              <a:uFillTx/>
              <a:latin typeface="Arial"/>
            </a:endParaRPr>
          </a:p>
        </p:txBody>
      </p:sp>
      <p:sp>
        <p:nvSpPr>
          <p:cNvPr id="514" name="Rectangle 22"/>
          <p:cNvSpPr/>
          <p:nvPr/>
        </p:nvSpPr>
        <p:spPr>
          <a:xfrm>
            <a:off x="4983480" y="3749040"/>
            <a:ext cx="63864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9B1C1C"/>
                </a:solidFill>
                <a:effectLst/>
                <a:uFillTx/>
                <a:latin typeface="Aptos"/>
              </a:rPr>
              <a:t>4</a:t>
            </a:r>
            <a:endParaRPr lang="en-US" sz="1500" b="0" u="none" strike="noStrike">
              <a:solidFill>
                <a:srgbClr val="000000"/>
              </a:solidFill>
              <a:effectLst/>
              <a:uFillTx/>
              <a:latin typeface="Arial"/>
            </a:endParaRPr>
          </a:p>
        </p:txBody>
      </p:sp>
      <p:sp>
        <p:nvSpPr>
          <p:cNvPr id="515" name="Rounded Rectangle 23"/>
          <p:cNvSpPr/>
          <p:nvPr/>
        </p:nvSpPr>
        <p:spPr>
          <a:xfrm>
            <a:off x="6385680" y="1417320"/>
            <a:ext cx="502776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Search state: only what planning needs</a:t>
            </a:r>
            <a:endParaRPr lang="en-US" sz="1400" b="0" u="none" strike="noStrike">
              <a:solidFill>
                <a:srgbClr val="000000"/>
              </a:solidFill>
              <a:effectLst/>
              <a:uFillTx/>
              <a:latin typeface="Arial"/>
            </a:endParaRPr>
          </a:p>
        </p:txBody>
      </p:sp>
      <p:sp>
        <p:nvSpPr>
          <p:cNvPr id="516" name="Rounded Rectangle 24"/>
          <p:cNvSpPr/>
          <p:nvPr/>
        </p:nvSpPr>
        <p:spPr>
          <a:xfrm>
            <a:off x="6385680" y="1965960"/>
            <a:ext cx="5027760" cy="68436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17" name="Rectangle 25"/>
          <p:cNvSpPr/>
          <p:nvPr/>
        </p:nvSpPr>
        <p:spPr>
          <a:xfrm>
            <a:off x="6568560" y="2057400"/>
            <a:ext cx="2010240" cy="245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1" u="none" strike="noStrike">
                <a:solidFill>
                  <a:srgbClr val="112E5C"/>
                </a:solidFill>
                <a:effectLst/>
                <a:uFillTx/>
                <a:latin typeface="Aptos"/>
              </a:rPr>
              <a:t>Pathing</a:t>
            </a:r>
            <a:endParaRPr lang="en-US" sz="1350" b="0" u="none" strike="noStrike">
              <a:solidFill>
                <a:srgbClr val="000000"/>
              </a:solidFill>
              <a:effectLst/>
              <a:uFillTx/>
              <a:latin typeface="Arial"/>
            </a:endParaRPr>
          </a:p>
        </p:txBody>
      </p:sp>
      <p:sp>
        <p:nvSpPr>
          <p:cNvPr id="518" name="Rectangle 26"/>
          <p:cNvSpPr/>
          <p:nvPr/>
        </p:nvSpPr>
        <p:spPr>
          <a:xfrm>
            <a:off x="6568560" y="2316600"/>
            <a:ext cx="3198960" cy="245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position only</a:t>
            </a:r>
            <a:endParaRPr lang="en-US" sz="1150" b="0" u="none" strike="noStrike">
              <a:solidFill>
                <a:srgbClr val="000000"/>
              </a:solidFill>
              <a:effectLst/>
              <a:uFillTx/>
              <a:latin typeface="Arial"/>
            </a:endParaRPr>
          </a:p>
        </p:txBody>
      </p:sp>
      <p:sp>
        <p:nvSpPr>
          <p:cNvPr id="519" name="Rectangle 27"/>
          <p:cNvSpPr/>
          <p:nvPr/>
        </p:nvSpPr>
        <p:spPr>
          <a:xfrm>
            <a:off x="9768960" y="1965960"/>
            <a:ext cx="1461600" cy="6843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400" b="1" u="none" strike="noStrike">
                <a:solidFill>
                  <a:srgbClr val="177245"/>
                </a:solidFill>
                <a:effectLst/>
                <a:uFillTx/>
                <a:latin typeface="Aptos"/>
              </a:rPr>
              <a:t>120</a:t>
            </a:r>
            <a:endParaRPr lang="en-US" sz="1400" b="0" u="none" strike="noStrike">
              <a:solidFill>
                <a:srgbClr val="000000"/>
              </a:solidFill>
              <a:effectLst/>
              <a:uFillTx/>
              <a:latin typeface="Arial"/>
            </a:endParaRPr>
          </a:p>
        </p:txBody>
      </p:sp>
      <p:sp>
        <p:nvSpPr>
          <p:cNvPr id="520" name="Rounded Rectangle 28"/>
          <p:cNvSpPr/>
          <p:nvPr/>
        </p:nvSpPr>
        <p:spPr>
          <a:xfrm>
            <a:off x="6385680" y="2743200"/>
            <a:ext cx="5027760" cy="68436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21" name="Rectangle 29"/>
          <p:cNvSpPr/>
          <p:nvPr/>
        </p:nvSpPr>
        <p:spPr>
          <a:xfrm>
            <a:off x="6568560" y="2834640"/>
            <a:ext cx="2010240" cy="245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1" u="none" strike="noStrike">
                <a:solidFill>
                  <a:srgbClr val="112E5C"/>
                </a:solidFill>
                <a:effectLst/>
                <a:uFillTx/>
                <a:latin typeface="Aptos"/>
              </a:rPr>
              <a:t>Eat-all-dots</a:t>
            </a:r>
            <a:endParaRPr lang="en-US" sz="1350" b="0" u="none" strike="noStrike">
              <a:solidFill>
                <a:srgbClr val="000000"/>
              </a:solidFill>
              <a:effectLst/>
              <a:uFillTx/>
              <a:latin typeface="Arial"/>
            </a:endParaRPr>
          </a:p>
        </p:txBody>
      </p:sp>
      <p:sp>
        <p:nvSpPr>
          <p:cNvPr id="522" name="Rectangle 30"/>
          <p:cNvSpPr/>
          <p:nvPr/>
        </p:nvSpPr>
        <p:spPr>
          <a:xfrm>
            <a:off x="6568560" y="3093840"/>
            <a:ext cx="3198960" cy="245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position + dot booleans</a:t>
            </a:r>
            <a:endParaRPr lang="en-US" sz="1150" b="0" u="none" strike="noStrike">
              <a:solidFill>
                <a:srgbClr val="000000"/>
              </a:solidFill>
              <a:effectLst/>
              <a:uFillTx/>
              <a:latin typeface="Arial"/>
            </a:endParaRPr>
          </a:p>
        </p:txBody>
      </p:sp>
      <p:sp>
        <p:nvSpPr>
          <p:cNvPr id="523" name="Rectangle 31"/>
          <p:cNvSpPr/>
          <p:nvPr/>
        </p:nvSpPr>
        <p:spPr>
          <a:xfrm>
            <a:off x="9768960" y="2743200"/>
            <a:ext cx="1461600" cy="6843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400" b="1" u="none" strike="noStrike">
                <a:solidFill>
                  <a:srgbClr val="177245"/>
                </a:solidFill>
                <a:effectLst/>
                <a:uFillTx/>
                <a:latin typeface="Aptos"/>
              </a:rPr>
              <a:t>120 × 2³⁰</a:t>
            </a:r>
            <a:endParaRPr lang="en-US" sz="1400" b="0" u="none" strike="noStrike">
              <a:solidFill>
                <a:srgbClr val="000000"/>
              </a:solidFill>
              <a:effectLst/>
              <a:uFillTx/>
              <a:latin typeface="Arial"/>
            </a:endParaRPr>
          </a:p>
        </p:txBody>
      </p:sp>
      <p:sp>
        <p:nvSpPr>
          <p:cNvPr id="524" name="Rounded Rectangle 32"/>
          <p:cNvSpPr/>
          <p:nvPr/>
        </p:nvSpPr>
        <p:spPr>
          <a:xfrm>
            <a:off x="6385680" y="3520440"/>
            <a:ext cx="5027760" cy="68436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25" name="Rectangle 33"/>
          <p:cNvSpPr/>
          <p:nvPr/>
        </p:nvSpPr>
        <p:spPr>
          <a:xfrm>
            <a:off x="6568560" y="3611880"/>
            <a:ext cx="2010240" cy="245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1" u="none" strike="noStrike">
                <a:solidFill>
                  <a:srgbClr val="112E5C"/>
                </a:solidFill>
                <a:effectLst/>
                <a:uFillTx/>
                <a:latin typeface="Aptos"/>
              </a:rPr>
              <a:t>Safe passage</a:t>
            </a:r>
            <a:endParaRPr lang="en-US" sz="1350" b="0" u="none" strike="noStrike">
              <a:solidFill>
                <a:srgbClr val="000000"/>
              </a:solidFill>
              <a:effectLst/>
              <a:uFillTx/>
              <a:latin typeface="Arial"/>
            </a:endParaRPr>
          </a:p>
        </p:txBody>
      </p:sp>
      <p:sp>
        <p:nvSpPr>
          <p:cNvPr id="526" name="Rectangle 34"/>
          <p:cNvSpPr/>
          <p:nvPr/>
        </p:nvSpPr>
        <p:spPr>
          <a:xfrm>
            <a:off x="6568560" y="3871080"/>
            <a:ext cx="3198960" cy="245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position + dots + 4 power pellets + scared timer</a:t>
            </a:r>
            <a:endParaRPr lang="en-US" sz="1150" b="0" u="none" strike="noStrike">
              <a:solidFill>
                <a:srgbClr val="000000"/>
              </a:solidFill>
              <a:effectLst/>
              <a:uFillTx/>
              <a:latin typeface="Arial"/>
            </a:endParaRPr>
          </a:p>
        </p:txBody>
      </p:sp>
      <p:sp>
        <p:nvSpPr>
          <p:cNvPr id="527" name="Rectangle 35"/>
          <p:cNvSpPr/>
          <p:nvPr/>
        </p:nvSpPr>
        <p:spPr>
          <a:xfrm>
            <a:off x="9768960" y="3520440"/>
            <a:ext cx="1461600" cy="6843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400" b="1" u="none" strike="noStrike">
                <a:solidFill>
                  <a:srgbClr val="177245"/>
                </a:solidFill>
                <a:effectLst/>
                <a:uFillTx/>
                <a:latin typeface="Aptos"/>
              </a:rPr>
              <a:t>120 × 2³⁰ × 2⁴ × t</a:t>
            </a:r>
            <a:endParaRPr lang="en-US" sz="1400" b="0" u="none" strike="noStrike">
              <a:solidFill>
                <a:srgbClr val="000000"/>
              </a:solidFill>
              <a:effectLst/>
              <a:uFillTx/>
              <a:latin typeface="Arial"/>
            </a:endParaRPr>
          </a:p>
        </p:txBody>
      </p:sp>
      <p:sp>
        <p:nvSpPr>
          <p:cNvPr id="528" name="Rectangle 36"/>
          <p:cNvSpPr/>
          <p:nvPr/>
        </p:nvSpPr>
        <p:spPr>
          <a:xfrm>
            <a:off x="914400" y="4389120"/>
            <a:ext cx="10422720" cy="4557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800" b="1" u="none" strike="noStrike">
                <a:solidFill>
                  <a:srgbClr val="112E5C"/>
                </a:solidFill>
                <a:effectLst/>
                <a:uFillTx/>
                <a:latin typeface="Aptos"/>
              </a:rPr>
              <a:t>World states:  </a:t>
            </a:r>
            <a:r>
              <a:rPr lang="en-US" sz="2200" b="1" u="none" strike="noStrike">
                <a:solidFill>
                  <a:srgbClr val="9B1C1C"/>
                </a:solidFill>
                <a:effectLst/>
                <a:uFillTx/>
                <a:latin typeface="Aptos"/>
              </a:rPr>
              <a:t>120 × 2³⁰ × 12² × 4  ≈  7.4 × 10¹³</a:t>
            </a:r>
            <a:endParaRPr lang="en-US" sz="2200" b="0" u="none" strike="noStrike">
              <a:solidFill>
                <a:srgbClr val="000000"/>
              </a:solidFill>
              <a:effectLst/>
              <a:uFillTx/>
              <a:latin typeface="Arial"/>
            </a:endParaRPr>
          </a:p>
        </p:txBody>
      </p:sp>
      <p:sp>
        <p:nvSpPr>
          <p:cNvPr id="529" name="Rectangle 37"/>
          <p:cNvSpPr/>
          <p:nvPr/>
        </p:nvSpPr>
        <p:spPr>
          <a:xfrm>
            <a:off x="914400" y="49834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One maze, three different problems. The state space is a consequence of the question you are asking, not of the world.</a:t>
            </a:r>
            <a:endParaRPr lang="en-US" sz="1700" b="0" u="none" strike="noStrike">
              <a:solidFill>
                <a:srgbClr val="000000"/>
              </a:solidFill>
              <a:effectLst/>
              <a:uFillTx/>
              <a:latin typeface="Arial"/>
            </a:endParaRPr>
          </a:p>
        </p:txBody>
      </p:sp>
      <p:sp>
        <p:nvSpPr>
          <p:cNvPr id="530" name="Rectangle 38"/>
          <p:cNvSpPr/>
          <p:nvPr/>
        </p:nvSpPr>
        <p:spPr>
          <a:xfrm>
            <a:off x="914400" y="54406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400" b="0" u="none" strike="noStrike">
                <a:solidFill>
                  <a:srgbClr val="5C6B80"/>
                </a:solidFill>
                <a:effectLst/>
                <a:uFillTx/>
                <a:latin typeface="Aptos"/>
              </a:rPr>
              <a:t>Every extra state variable multiplies the space. Drop any variable the goal test and the cost function never read.</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531" name="Shape 461"/>
          <p:cNvSpPr/>
          <p:nvPr/>
        </p:nvSpPr>
        <p:spPr>
          <a:xfrm>
            <a:off x="228600" y="228600"/>
            <a:ext cx="11748600" cy="748440"/>
          </a:xfrm>
          <a:prstGeom prst="rect">
            <a:avLst/>
          </a:prstGeom>
          <a:solidFill>
            <a:srgbClr val="112E5C"/>
          </a:solidFill>
          <a:ln w="15240">
            <a:solidFill>
              <a:srgbClr val="112E5C"/>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532" name="Shape 462"/>
          <p:cNvSpPr/>
          <p:nvPr/>
        </p:nvSpPr>
        <p:spPr>
          <a:xfrm>
            <a:off x="228600" y="978480"/>
            <a:ext cx="11748600" cy="62640"/>
          </a:xfrm>
          <a:prstGeom prst="rect">
            <a:avLst/>
          </a:prstGeom>
          <a:solidFill>
            <a:srgbClr val="F6A01A"/>
          </a:solidFill>
          <a:ln w="15240">
            <a:solidFill>
              <a:srgbClr val="F6A01A"/>
            </a:solidFill>
            <a:round/>
          </a:ln>
        </p:spPr>
        <p:style>
          <a:lnRef idx="0"/>
          <a:fillRef idx="0"/>
          <a:effectRef idx="0"/>
          <a:fontRef idx="minor"/>
        </p:style>
        <p:txBody>
          <a:bodyPr lIns="0" tIns="0" rIns="0" bIns="0" anchor="ctr">
            <a:noAutofit/>
          </a:bodyPr>
          <a:p>
            <a:endParaRPr lang="en-US" sz="1200" b="0" u="none" strike="noStrike">
              <a:solidFill>
                <a:srgbClr val="000000"/>
              </a:solidFill>
              <a:effectLst/>
              <a:uFillTx/>
              <a:latin typeface="Aptos"/>
            </a:endParaRPr>
          </a:p>
        </p:txBody>
      </p:sp>
      <p:sp>
        <p:nvSpPr>
          <p:cNvPr id="533" name="Text 463"/>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Deriving a State: Eat Every Dot, Keep Every Ghost Scared</a:t>
            </a:r>
            <a:endParaRPr lang="en-US" sz="2600" b="0" u="none" strike="noStrike">
              <a:solidFill>
                <a:srgbClr val="000000"/>
              </a:solidFill>
              <a:effectLst/>
              <a:uFillTx/>
              <a:latin typeface="Arial"/>
            </a:endParaRPr>
          </a:p>
        </p:txBody>
      </p:sp>
      <p:sp>
        <p:nvSpPr>
          <p:cNvPr id="534" name="Text 46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35" name="Text 465"/>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rm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36" name="Text 466"/>
          <p:cNvSpPr/>
          <p:nvPr/>
        </p:nvSpPr>
        <p:spPr>
          <a:xfrm>
            <a:off x="914400" y="1379880"/>
            <a:ext cx="10331280" cy="4590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102A4C"/>
                </a:solidFill>
                <a:effectLst/>
                <a:uFillTx/>
                <a:latin typeface="Aptos"/>
              </a:rPr>
              <a:t>Pac-Man must eat all the dots, and the ghosts must stay scared the whole time. Eating a power pellet resets the scared timer; if it ever runs out, the goal is unachievable. Which variables must the state carry?</a:t>
            </a:r>
            <a:endParaRPr lang="en-US" sz="1400" b="0" u="none" strike="noStrike">
              <a:solidFill>
                <a:srgbClr val="000000"/>
              </a:solidFill>
              <a:effectLst/>
              <a:uFillTx/>
              <a:latin typeface="Arial"/>
            </a:endParaRPr>
          </a:p>
        </p:txBody>
      </p:sp>
      <p:sp>
        <p:nvSpPr>
          <p:cNvPr id="537" name="Text 467"/>
          <p:cNvSpPr/>
          <p:nvPr/>
        </p:nvSpPr>
        <p:spPr>
          <a:xfrm>
            <a:off x="914400" y="2000160"/>
            <a:ext cx="2748960" cy="618840"/>
          </a:xfrm>
          <a:prstGeom prst="roundRect">
            <a:avLst>
              <a:gd name="adj" fmla="val 13793"/>
            </a:avLst>
          </a:prstGeom>
          <a:solidFill>
            <a:srgbClr val="EAF2FF"/>
          </a:solidFill>
          <a:ln w="15240">
            <a:solidFill>
              <a:srgbClr val="D8DEE8"/>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Dot locations</a:t>
            </a:r>
            <a:endParaRPr lang="en-US" sz="1400" b="0" u="none" strike="noStrike">
              <a:solidFill>
                <a:srgbClr val="000000"/>
              </a:solidFill>
              <a:effectLst/>
              <a:uFillTx/>
              <a:latin typeface="Arial"/>
            </a:endParaRPr>
          </a:p>
        </p:txBody>
      </p:sp>
      <p:sp>
        <p:nvSpPr>
          <p:cNvPr id="538" name="Text 468"/>
          <p:cNvSpPr/>
          <p:nvPr/>
        </p:nvSpPr>
        <p:spPr>
          <a:xfrm>
            <a:off x="3780000" y="2000160"/>
            <a:ext cx="1999080" cy="618840"/>
          </a:xfrm>
          <a:prstGeom prst="roundRect">
            <a:avLst>
              <a:gd name="adj" fmla="val 13793"/>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300" b="1" u="none" strike="noStrike">
                <a:solidFill>
                  <a:srgbClr val="177245"/>
                </a:solidFill>
                <a:effectLst/>
                <a:uFillTx/>
                <a:latin typeface="Aptos"/>
              </a:rPr>
              <a:t>goal test</a:t>
            </a:r>
            <a:endParaRPr lang="en-US" sz="1300" b="0" u="none" strike="noStrike">
              <a:solidFill>
                <a:srgbClr val="000000"/>
              </a:solidFill>
              <a:effectLst/>
              <a:uFillTx/>
              <a:latin typeface="Arial"/>
            </a:endParaRPr>
          </a:p>
        </p:txBody>
      </p:sp>
      <p:sp>
        <p:nvSpPr>
          <p:cNvPr id="539" name="Text 469"/>
          <p:cNvSpPr/>
          <p:nvPr/>
        </p:nvSpPr>
        <p:spPr>
          <a:xfrm>
            <a:off x="5960160" y="2040120"/>
            <a:ext cx="5285520" cy="5389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0" u="none" strike="noStrike">
                <a:solidFill>
                  <a:srgbClr val="102A4C"/>
                </a:solidFill>
                <a:effectLst/>
                <a:uFillTx/>
                <a:latin typeface="Aptos"/>
              </a:rPr>
              <a:t>In. The goal test cannot fire without knowing which dots remain — a count is not enough.</a:t>
            </a:r>
            <a:endParaRPr lang="en-US" sz="1350" b="0" u="none" strike="noStrike">
              <a:solidFill>
                <a:srgbClr val="000000"/>
              </a:solidFill>
              <a:effectLst/>
              <a:uFillTx/>
              <a:latin typeface="Arial"/>
            </a:endParaRPr>
          </a:p>
        </p:txBody>
      </p:sp>
      <p:sp>
        <p:nvSpPr>
          <p:cNvPr id="540" name="Text 470"/>
          <p:cNvSpPr/>
          <p:nvPr/>
        </p:nvSpPr>
        <p:spPr>
          <a:xfrm>
            <a:off x="914400" y="2720160"/>
            <a:ext cx="2748960" cy="618840"/>
          </a:xfrm>
          <a:prstGeom prst="roundRect">
            <a:avLst>
              <a:gd name="adj" fmla="val 13793"/>
            </a:avLst>
          </a:prstGeom>
          <a:solidFill>
            <a:srgbClr val="EAF2FF"/>
          </a:solidFill>
          <a:ln w="15240">
            <a:solidFill>
              <a:srgbClr val="D8DEE8"/>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Power pellet locations</a:t>
            </a:r>
            <a:endParaRPr lang="en-US" sz="1400" b="0" u="none" strike="noStrike">
              <a:solidFill>
                <a:srgbClr val="000000"/>
              </a:solidFill>
              <a:effectLst/>
              <a:uFillTx/>
              <a:latin typeface="Arial"/>
            </a:endParaRPr>
          </a:p>
        </p:txBody>
      </p:sp>
      <p:sp>
        <p:nvSpPr>
          <p:cNvPr id="541" name="Text 471"/>
          <p:cNvSpPr/>
          <p:nvPr/>
        </p:nvSpPr>
        <p:spPr>
          <a:xfrm>
            <a:off x="3780000" y="2720160"/>
            <a:ext cx="1999080" cy="618840"/>
          </a:xfrm>
          <a:prstGeom prst="roundRect">
            <a:avLst>
              <a:gd name="adj" fmla="val 13793"/>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300" b="1" u="none" strike="noStrike">
                <a:solidFill>
                  <a:srgbClr val="177245"/>
                </a:solidFill>
                <a:effectLst/>
                <a:uFillTx/>
                <a:latin typeface="Aptos"/>
              </a:rPr>
              <a:t>successor function</a:t>
            </a:r>
            <a:endParaRPr lang="en-US" sz="1300" b="0" u="none" strike="noStrike">
              <a:solidFill>
                <a:srgbClr val="000000"/>
              </a:solidFill>
              <a:effectLst/>
              <a:uFillTx/>
              <a:latin typeface="Arial"/>
            </a:endParaRPr>
          </a:p>
        </p:txBody>
      </p:sp>
      <p:sp>
        <p:nvSpPr>
          <p:cNvPr id="542" name="Text 472"/>
          <p:cNvSpPr/>
          <p:nvPr/>
        </p:nvSpPr>
        <p:spPr>
          <a:xfrm>
            <a:off x="5960160" y="2760120"/>
            <a:ext cx="5285520" cy="5389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0" u="none" strike="noStrike">
                <a:solidFill>
                  <a:srgbClr val="102A4C"/>
                </a:solidFill>
                <a:effectLst/>
                <a:uFillTx/>
                <a:latin typeface="Aptos"/>
              </a:rPr>
              <a:t>In. The successor function has to know when Pac-Man eats one, so it can reset the timer.</a:t>
            </a:r>
            <a:endParaRPr lang="en-US" sz="1350" b="0" u="none" strike="noStrike">
              <a:solidFill>
                <a:srgbClr val="000000"/>
              </a:solidFill>
              <a:effectLst/>
              <a:uFillTx/>
              <a:latin typeface="Arial"/>
            </a:endParaRPr>
          </a:p>
        </p:txBody>
      </p:sp>
      <p:sp>
        <p:nvSpPr>
          <p:cNvPr id="543" name="Text 473"/>
          <p:cNvSpPr/>
          <p:nvPr/>
        </p:nvSpPr>
        <p:spPr>
          <a:xfrm>
            <a:off x="914400" y="3440160"/>
            <a:ext cx="2748960" cy="618840"/>
          </a:xfrm>
          <a:prstGeom prst="roundRect">
            <a:avLst>
              <a:gd name="adj" fmla="val 13793"/>
            </a:avLst>
          </a:prstGeom>
          <a:solidFill>
            <a:srgbClr val="EAF2FF"/>
          </a:solidFill>
          <a:ln w="15240">
            <a:solidFill>
              <a:srgbClr val="D8DEE8"/>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Scared timer</a:t>
            </a:r>
            <a:endParaRPr lang="en-US" sz="1400" b="0" u="none" strike="noStrike">
              <a:solidFill>
                <a:srgbClr val="000000"/>
              </a:solidFill>
              <a:effectLst/>
              <a:uFillTx/>
              <a:latin typeface="Arial"/>
            </a:endParaRPr>
          </a:p>
        </p:txBody>
      </p:sp>
      <p:sp>
        <p:nvSpPr>
          <p:cNvPr id="544" name="Text 474"/>
          <p:cNvSpPr/>
          <p:nvPr/>
        </p:nvSpPr>
        <p:spPr>
          <a:xfrm>
            <a:off x="3780000" y="3440160"/>
            <a:ext cx="1999080" cy="618840"/>
          </a:xfrm>
          <a:prstGeom prst="roundRect">
            <a:avLst>
              <a:gd name="adj" fmla="val 13793"/>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300" b="1" u="none" strike="noStrike">
                <a:solidFill>
                  <a:srgbClr val="177245"/>
                </a:solidFill>
                <a:effectLst/>
                <a:uFillTx/>
                <a:latin typeface="Aptos"/>
              </a:rPr>
              <a:t>successor function</a:t>
            </a:r>
            <a:endParaRPr lang="en-US" sz="1300" b="0" u="none" strike="noStrike">
              <a:solidFill>
                <a:srgbClr val="000000"/>
              </a:solidFill>
              <a:effectLst/>
              <a:uFillTx/>
              <a:latin typeface="Arial"/>
            </a:endParaRPr>
          </a:p>
        </p:txBody>
      </p:sp>
      <p:sp>
        <p:nvSpPr>
          <p:cNvPr id="545" name="Text 475"/>
          <p:cNvSpPr/>
          <p:nvPr/>
        </p:nvSpPr>
        <p:spPr>
          <a:xfrm>
            <a:off x="5960160" y="3480120"/>
            <a:ext cx="5285520" cy="5389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0" u="none" strike="noStrike">
                <a:solidFill>
                  <a:srgbClr val="102A4C"/>
                </a:solidFill>
                <a:effectLst/>
                <a:uFillTx/>
                <a:latin typeface="Aptos"/>
              </a:rPr>
              <a:t>In. It is the variable whose expiry ends the episode, so the transition cannot be simulated without it.</a:t>
            </a:r>
            <a:endParaRPr lang="en-US" sz="1350" b="0" u="none" strike="noStrike">
              <a:solidFill>
                <a:srgbClr val="000000"/>
              </a:solidFill>
              <a:effectLst/>
              <a:uFillTx/>
              <a:latin typeface="Arial"/>
            </a:endParaRPr>
          </a:p>
        </p:txBody>
      </p:sp>
      <p:sp>
        <p:nvSpPr>
          <p:cNvPr id="546" name="Text 476"/>
          <p:cNvSpPr/>
          <p:nvPr/>
        </p:nvSpPr>
        <p:spPr>
          <a:xfrm>
            <a:off x="914400" y="4160160"/>
            <a:ext cx="2748960" cy="618840"/>
          </a:xfrm>
          <a:prstGeom prst="roundRect">
            <a:avLst>
              <a:gd name="adj" fmla="val 13793"/>
            </a:avLst>
          </a:prstGeom>
          <a:solidFill>
            <a:srgbClr val="EAF2FF"/>
          </a:solidFill>
          <a:ln w="15240">
            <a:solidFill>
              <a:srgbClr val="D8DEE8"/>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400" b="1" u="none" strike="noStrike">
                <a:solidFill>
                  <a:srgbClr val="112E5C"/>
                </a:solidFill>
                <a:effectLst/>
                <a:uFillTx/>
                <a:latin typeface="Aptos"/>
              </a:rPr>
              <a:t>Ghost locations</a:t>
            </a:r>
            <a:endParaRPr lang="en-US" sz="1400" b="0" u="none" strike="noStrike">
              <a:solidFill>
                <a:srgbClr val="000000"/>
              </a:solidFill>
              <a:effectLst/>
              <a:uFillTx/>
              <a:latin typeface="Arial"/>
            </a:endParaRPr>
          </a:p>
        </p:txBody>
      </p:sp>
      <p:sp>
        <p:nvSpPr>
          <p:cNvPr id="547" name="Text 477"/>
          <p:cNvSpPr/>
          <p:nvPr/>
        </p:nvSpPr>
        <p:spPr>
          <a:xfrm>
            <a:off x="3780000" y="4160160"/>
            <a:ext cx="1999080" cy="618840"/>
          </a:xfrm>
          <a:prstGeom prst="roundRect">
            <a:avLst>
              <a:gd name="adj" fmla="val 13793"/>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300" b="1" u="none" strike="noStrike">
                <a:solidFill>
                  <a:srgbClr val="112E5C"/>
                </a:solidFill>
                <a:effectLst/>
                <a:uFillTx/>
                <a:latin typeface="Aptos"/>
              </a:rPr>
              <a:t>it depends</a:t>
            </a:r>
            <a:endParaRPr lang="en-US" sz="1300" b="0" u="none" strike="noStrike">
              <a:solidFill>
                <a:srgbClr val="000000"/>
              </a:solidFill>
              <a:effectLst/>
              <a:uFillTx/>
              <a:latin typeface="Arial"/>
            </a:endParaRPr>
          </a:p>
        </p:txBody>
      </p:sp>
      <p:sp>
        <p:nvSpPr>
          <p:cNvPr id="548" name="Text 478"/>
          <p:cNvSpPr/>
          <p:nvPr/>
        </p:nvSpPr>
        <p:spPr>
          <a:xfrm>
            <a:off x="5960160" y="4200120"/>
            <a:ext cx="5285520" cy="5389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0" u="none" strike="noStrike">
                <a:solidFill>
                  <a:srgbClr val="102A4C"/>
                </a:solidFill>
                <a:effectLst/>
                <a:uFillTx/>
                <a:latin typeface="Aptos"/>
              </a:rPr>
              <a:t>Only if your model lets an eaten ghost respawn un-scared. Trust the timer alone and you can drop them.</a:t>
            </a:r>
            <a:endParaRPr lang="en-US" sz="1350" b="0" u="none" strike="noStrike">
              <a:solidFill>
                <a:srgbClr val="000000"/>
              </a:solidFill>
              <a:effectLst/>
              <a:uFillTx/>
              <a:latin typeface="Arial"/>
            </a:endParaRPr>
          </a:p>
        </p:txBody>
      </p:sp>
      <p:sp>
        <p:nvSpPr>
          <p:cNvPr id="549" name="Text 479"/>
          <p:cNvSpPr/>
          <p:nvPr/>
        </p:nvSpPr>
        <p:spPr>
          <a:xfrm>
            <a:off x="914400" y="5000040"/>
            <a:ext cx="10331280" cy="42876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1800" b="1" u="none" strike="noStrike">
                <a:solidFill>
                  <a:srgbClr val="112E5C"/>
                </a:solidFill>
                <a:effectLst/>
                <a:uFillTx/>
                <a:latin typeface="Aptos"/>
              </a:rPr>
              <a:t>Ask two questions of every candidate variable: does the goal test read it, and does the successor function need it to produce the next state?</a:t>
            </a:r>
            <a:endParaRPr lang="en-US" sz="1800" b="0" u="none" strike="noStrike">
              <a:solidFill>
                <a:srgbClr val="000000"/>
              </a:solidFill>
              <a:effectLst/>
              <a:uFillTx/>
              <a:latin typeface="Arial"/>
            </a:endParaRPr>
          </a:p>
        </p:txBody>
      </p:sp>
      <p:sp>
        <p:nvSpPr>
          <p:cNvPr id="550" name="Text 480"/>
          <p:cNvSpPr/>
          <p:nvPr/>
        </p:nvSpPr>
        <p:spPr>
          <a:xfrm>
            <a:off x="914400" y="5500080"/>
            <a:ext cx="10331280" cy="4287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5C6B80"/>
                </a:solidFill>
                <a:effectLst/>
                <a:uFillTx/>
                <a:latin typeface="Aptos"/>
              </a:rPr>
              <a:t>The last row is the interesting one — its answer is fixed by your model of the world, not by the world. Two correct formulations of the same task can disagree about it.</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551"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52"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53"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Real-World Formulation: Airline Travel Planning</a:t>
            </a:r>
            <a:endParaRPr lang="en-US" sz="2600" b="0" u="none" strike="noStrike">
              <a:solidFill>
                <a:srgbClr val="000000"/>
              </a:solidFill>
              <a:effectLst/>
              <a:uFillTx/>
              <a:latin typeface="Arial"/>
            </a:endParaRPr>
          </a:p>
        </p:txBody>
      </p:sp>
      <p:sp>
        <p:nvSpPr>
          <p:cNvPr id="554"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55"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56" name="Rounded Rectangle 6"/>
          <p:cNvSpPr/>
          <p:nvPr/>
        </p:nvSpPr>
        <p:spPr>
          <a:xfrm>
            <a:off x="777240" y="141732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557" name="Rectangle 7"/>
          <p:cNvSpPr/>
          <p:nvPr/>
        </p:nvSpPr>
        <p:spPr>
          <a:xfrm>
            <a:off x="2697480" y="141732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Airport, current time, and historical information about earlier segments</a:t>
            </a:r>
            <a:endParaRPr lang="en-US" sz="1300" b="0" u="none" strike="noStrike">
              <a:solidFill>
                <a:srgbClr val="000000"/>
              </a:solidFill>
              <a:effectLst/>
              <a:uFillTx/>
              <a:latin typeface="Arial"/>
            </a:endParaRPr>
          </a:p>
        </p:txBody>
      </p:sp>
      <p:sp>
        <p:nvSpPr>
          <p:cNvPr id="558" name="Rounded Rectangle 8"/>
          <p:cNvSpPr/>
          <p:nvPr/>
        </p:nvSpPr>
        <p:spPr>
          <a:xfrm>
            <a:off x="777240" y="192024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559" name="Rectangle 9"/>
          <p:cNvSpPr/>
          <p:nvPr/>
        </p:nvSpPr>
        <p:spPr>
          <a:xfrm>
            <a:off x="2697480" y="192024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The traveller's home airport</a:t>
            </a:r>
            <a:endParaRPr lang="en-US" sz="1300" b="0" u="none" strike="noStrike">
              <a:solidFill>
                <a:srgbClr val="000000"/>
              </a:solidFill>
              <a:effectLst/>
              <a:uFillTx/>
              <a:latin typeface="Arial"/>
            </a:endParaRPr>
          </a:p>
        </p:txBody>
      </p:sp>
      <p:sp>
        <p:nvSpPr>
          <p:cNvPr id="560" name="Rounded Rectangle 10"/>
          <p:cNvSpPr/>
          <p:nvPr/>
        </p:nvSpPr>
        <p:spPr>
          <a:xfrm>
            <a:off x="777240" y="242316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561" name="Rectangle 11"/>
          <p:cNvSpPr/>
          <p:nvPr/>
        </p:nvSpPr>
        <p:spPr>
          <a:xfrm>
            <a:off x="2697480" y="242316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Any flight leaving after the current time, in any seat class, allowing transfer time</a:t>
            </a:r>
            <a:endParaRPr lang="en-US" sz="1300" b="0" u="none" strike="noStrike">
              <a:solidFill>
                <a:srgbClr val="000000"/>
              </a:solidFill>
              <a:effectLst/>
              <a:uFillTx/>
              <a:latin typeface="Arial"/>
            </a:endParaRPr>
          </a:p>
        </p:txBody>
      </p:sp>
      <p:sp>
        <p:nvSpPr>
          <p:cNvPr id="562" name="Rounded Rectangle 12"/>
          <p:cNvSpPr/>
          <p:nvPr/>
        </p:nvSpPr>
        <p:spPr>
          <a:xfrm>
            <a:off x="777240" y="292608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563" name="Rectangle 13"/>
          <p:cNvSpPr/>
          <p:nvPr/>
        </p:nvSpPr>
        <p:spPr>
          <a:xfrm>
            <a:off x="2697480" y="292608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New location is the destination; new time is the arrival time</a:t>
            </a:r>
            <a:endParaRPr lang="en-US" sz="1300" b="0" u="none" strike="noStrike">
              <a:solidFill>
                <a:srgbClr val="000000"/>
              </a:solidFill>
              <a:effectLst/>
              <a:uFillTx/>
              <a:latin typeface="Arial"/>
            </a:endParaRPr>
          </a:p>
        </p:txBody>
      </p:sp>
      <p:sp>
        <p:nvSpPr>
          <p:cNvPr id="564" name="Rounded Rectangle 14"/>
          <p:cNvSpPr/>
          <p:nvPr/>
        </p:nvSpPr>
        <p:spPr>
          <a:xfrm>
            <a:off x="777240" y="342900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Goal state</a:t>
            </a:r>
            <a:endParaRPr lang="en-US" sz="1300" b="0" u="none" strike="noStrike">
              <a:solidFill>
                <a:srgbClr val="000000"/>
              </a:solidFill>
              <a:effectLst/>
              <a:uFillTx/>
              <a:latin typeface="Arial"/>
            </a:endParaRPr>
          </a:p>
        </p:txBody>
      </p:sp>
      <p:sp>
        <p:nvSpPr>
          <p:cNvPr id="565" name="Rectangle 15"/>
          <p:cNvSpPr/>
          <p:nvPr/>
        </p:nvSpPr>
        <p:spPr>
          <a:xfrm>
            <a:off x="2697480" y="342900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 destination city — or something richer, like arriving on a nonstop flight</a:t>
            </a:r>
            <a:endParaRPr lang="en-US" sz="1300" b="0" u="none" strike="noStrike">
              <a:solidFill>
                <a:srgbClr val="000000"/>
              </a:solidFill>
              <a:effectLst/>
              <a:uFillTx/>
              <a:latin typeface="Arial"/>
            </a:endParaRPr>
          </a:p>
        </p:txBody>
      </p:sp>
      <p:sp>
        <p:nvSpPr>
          <p:cNvPr id="566" name="Rounded Rectangle 16"/>
          <p:cNvSpPr/>
          <p:nvPr/>
        </p:nvSpPr>
        <p:spPr>
          <a:xfrm>
            <a:off x="777240" y="393192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567" name="Rectangle 17"/>
          <p:cNvSpPr/>
          <p:nvPr/>
        </p:nvSpPr>
        <p:spPr>
          <a:xfrm>
            <a:off x="2697480" y="393192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Money, waiting time, flight time, customs, seat quality, aircraft type, reward points</a:t>
            </a:r>
            <a:endParaRPr lang="en-US" sz="1300" b="0" u="none" strike="noStrike">
              <a:solidFill>
                <a:srgbClr val="000000"/>
              </a:solidFill>
              <a:effectLst/>
              <a:uFillTx/>
              <a:latin typeface="Arial"/>
            </a:endParaRPr>
          </a:p>
        </p:txBody>
      </p:sp>
      <p:sp>
        <p:nvSpPr>
          <p:cNvPr id="568" name="Rounded Rectangle 18"/>
          <p:cNvSpPr/>
          <p:nvPr/>
        </p:nvSpPr>
        <p:spPr>
          <a:xfrm>
            <a:off x="8686800" y="1417320"/>
            <a:ext cx="2741760" cy="2010240"/>
          </a:xfrm>
          <a:prstGeom prst="roundRect">
            <a:avLst>
              <a:gd name="adj" fmla="val 45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69" name="Rectangle 19"/>
          <p:cNvSpPr/>
          <p:nvPr/>
        </p:nvSpPr>
        <p:spPr>
          <a:xfrm>
            <a:off x="8869680" y="1600200"/>
            <a:ext cx="2376000" cy="1644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pPr>
            <a:r>
              <a:rPr lang="en-US" sz="1300" b="0" u="none" strike="noStrike">
                <a:solidFill>
                  <a:srgbClr val="FFFFFF"/>
                </a:solidFill>
                <a:effectLst/>
                <a:uFillTx/>
                <a:latin typeface="Aptos"/>
              </a:rPr>
              <a:t>Why does the state carry history?</a:t>
            </a:r>
            <a:endParaRPr lang="en-US" sz="1300" b="0" u="none" strike="noStrike">
              <a:solidFill>
                <a:srgbClr val="000000"/>
              </a:solidFill>
              <a:effectLst/>
              <a:uFillTx/>
              <a:latin typeface="Arial"/>
            </a:endParaRPr>
          </a:p>
          <a:p>
            <a:pPr defTabSz="914400">
              <a:lnSpc>
                <a:spcPct val="100000"/>
              </a:lnSpc>
            </a:pPr>
            <a:endParaRPr lang="en-US" sz="1300" b="0" u="none" strike="noStrike">
              <a:solidFill>
                <a:srgbClr val="000000"/>
              </a:solidFill>
              <a:effectLst/>
              <a:uFillTx/>
              <a:latin typeface="Arial"/>
            </a:endParaRPr>
          </a:p>
          <a:p>
            <a:pPr defTabSz="914400">
              <a:lnSpc>
                <a:spcPct val="100000"/>
              </a:lnSpc>
              <a:spcAft>
                <a:spcPts val="400"/>
              </a:spcAft>
            </a:pPr>
            <a:r>
              <a:rPr lang="en-US" sz="1300" b="0" u="none" strike="noStrike">
                <a:solidFill>
                  <a:srgbClr val="FFFFFF"/>
                </a:solidFill>
                <a:effectLst/>
                <a:uFillTx/>
                <a:latin typeface="Aptos"/>
              </a:rPr>
              <a:t>Because the cost of a flight segment depends on the fare basis of the segments already taken.</a:t>
            </a:r>
            <a:endParaRPr lang="en-US" sz="1300" b="0" u="none" strike="noStrike">
              <a:solidFill>
                <a:srgbClr val="000000"/>
              </a:solidFill>
              <a:effectLst/>
              <a:uFillTx/>
              <a:latin typeface="Arial"/>
            </a:endParaRPr>
          </a:p>
        </p:txBody>
      </p:sp>
      <p:sp>
        <p:nvSpPr>
          <p:cNvPr id="570" name="Rectangle 20"/>
          <p:cNvSpPr/>
          <p:nvPr/>
        </p:nvSpPr>
        <p:spPr>
          <a:xfrm>
            <a:off x="8686800" y="3611880"/>
            <a:ext cx="2741760" cy="6386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250" b="1" u="none" strike="noStrike">
                <a:solidFill>
                  <a:srgbClr val="9B1C1C"/>
                </a:solidFill>
                <a:effectLst/>
                <a:uFillTx/>
                <a:latin typeface="Aptos"/>
              </a:rPr>
              <a:t>The cost function reads it, so it belongs in the state.</a:t>
            </a:r>
            <a:endParaRPr lang="en-US" sz="1250" b="0" u="none" strike="noStrike">
              <a:solidFill>
                <a:srgbClr val="000000"/>
              </a:solidFill>
              <a:effectLst/>
              <a:uFillTx/>
              <a:latin typeface="Arial"/>
            </a:endParaRPr>
          </a:p>
        </p:txBody>
      </p:sp>
      <p:sp>
        <p:nvSpPr>
          <p:cNvPr id="571" name="Rectangle 21"/>
          <p:cNvSpPr/>
          <p:nvPr/>
        </p:nvSpPr>
        <p:spPr>
          <a:xfrm>
            <a:off x="914400" y="45262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Compare with the Pac-Man rule: drop any variable the goal test and the cost function never read.</a:t>
            </a:r>
            <a:endParaRPr lang="en-US" sz="1700" b="0" u="none" strike="noStrike">
              <a:solidFill>
                <a:srgbClr val="000000"/>
              </a:solidFill>
              <a:effectLst/>
              <a:uFillTx/>
              <a:latin typeface="Arial"/>
            </a:endParaRPr>
          </a:p>
        </p:txBody>
      </p:sp>
      <p:sp>
        <p:nvSpPr>
          <p:cNvPr id="572" name="Rectangle 22"/>
          <p:cNvSpPr/>
          <p:nvPr/>
        </p:nvSpPr>
        <p:spPr>
          <a:xfrm>
            <a:off x="914400" y="493776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Here the cost function does read the past, so the past has to be part of the present state.</a:t>
            </a:r>
            <a:endParaRPr lang="en-US" sz="1500" b="0" u="none" strike="noStrike">
              <a:solidFill>
                <a:srgbClr val="000000"/>
              </a:solidFill>
              <a:effectLst/>
              <a:uFillTx/>
              <a:latin typeface="Arial"/>
            </a:endParaRPr>
          </a:p>
        </p:txBody>
      </p:sp>
      <p:sp>
        <p:nvSpPr>
          <p:cNvPr id="573" name="Rectangle 23"/>
          <p:cNvSpPr/>
          <p:nvPr/>
        </p:nvSpPr>
        <p:spPr>
          <a:xfrm>
            <a:off x="914400" y="54406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And any usable system needs contingency plans for delays and missed connections — which is Chapter 4, not this one.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574"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75"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76"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Your Turn: Formulate a Search Problem</a:t>
            </a:r>
            <a:endParaRPr lang="en-US" sz="2600" b="0" u="none" strike="noStrike">
              <a:solidFill>
                <a:srgbClr val="000000"/>
              </a:solidFill>
              <a:effectLst/>
              <a:uFillTx/>
              <a:latin typeface="Arial"/>
            </a:endParaRPr>
          </a:p>
        </p:txBody>
      </p:sp>
      <p:sp>
        <p:nvSpPr>
          <p:cNvPr id="577"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78"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79" name="Rounded Rectangle 6"/>
          <p:cNvSpPr/>
          <p:nvPr/>
        </p:nvSpPr>
        <p:spPr>
          <a:xfrm>
            <a:off x="777240" y="1417320"/>
            <a:ext cx="10636200" cy="68436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80" name="Rectangle 7"/>
          <p:cNvSpPr/>
          <p:nvPr/>
        </p:nvSpPr>
        <p:spPr>
          <a:xfrm>
            <a:off x="1051560" y="1508760"/>
            <a:ext cx="1008756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600" b="1" u="none" strike="noStrike">
                <a:solidFill>
                  <a:srgbClr val="112E5C"/>
                </a:solidFill>
                <a:effectLst/>
                <a:uFillTx/>
                <a:latin typeface="Aptos"/>
              </a:rPr>
              <a:t>You have a 3-litre jug and a 5-litre jug, neither with any markings, and an unlimited supply of water. Measure out exactly 4 litres.</a:t>
            </a:r>
            <a:endParaRPr lang="en-US" sz="1600" b="0" u="none" strike="noStrike">
              <a:solidFill>
                <a:srgbClr val="000000"/>
              </a:solidFill>
              <a:effectLst/>
              <a:uFillTx/>
              <a:latin typeface="Arial"/>
            </a:endParaRPr>
          </a:p>
        </p:txBody>
      </p:sp>
      <p:sp>
        <p:nvSpPr>
          <p:cNvPr id="581" name="Rounded Rectangle 8"/>
          <p:cNvSpPr/>
          <p:nvPr/>
        </p:nvSpPr>
        <p:spPr>
          <a:xfrm>
            <a:off x="777240" y="2286000"/>
            <a:ext cx="1781640" cy="45576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582" name="Rounded Rectangle 9"/>
          <p:cNvSpPr/>
          <p:nvPr/>
        </p:nvSpPr>
        <p:spPr>
          <a:xfrm>
            <a:off x="2697480" y="2286000"/>
            <a:ext cx="3228480" cy="45576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83" name="Rounded Rectangle 10"/>
          <p:cNvSpPr/>
          <p:nvPr/>
        </p:nvSpPr>
        <p:spPr>
          <a:xfrm>
            <a:off x="6263640" y="2286000"/>
            <a:ext cx="1781640" cy="45576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584" name="Rounded Rectangle 11"/>
          <p:cNvSpPr/>
          <p:nvPr/>
        </p:nvSpPr>
        <p:spPr>
          <a:xfrm>
            <a:off x="8183880" y="2286000"/>
            <a:ext cx="3228480" cy="45576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85" name="Rounded Rectangle 12"/>
          <p:cNvSpPr/>
          <p:nvPr/>
        </p:nvSpPr>
        <p:spPr>
          <a:xfrm>
            <a:off x="777240" y="2971800"/>
            <a:ext cx="1781640" cy="45576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586" name="Rounded Rectangle 13"/>
          <p:cNvSpPr/>
          <p:nvPr/>
        </p:nvSpPr>
        <p:spPr>
          <a:xfrm>
            <a:off x="2697480" y="2971800"/>
            <a:ext cx="3228480" cy="45576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87" name="Rounded Rectangle 14"/>
          <p:cNvSpPr/>
          <p:nvPr/>
        </p:nvSpPr>
        <p:spPr>
          <a:xfrm>
            <a:off x="6263640" y="2971800"/>
            <a:ext cx="1781640" cy="45576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Transition model</a:t>
            </a:r>
            <a:endParaRPr lang="en-US" sz="1300" b="0" u="none" strike="noStrike">
              <a:solidFill>
                <a:srgbClr val="000000"/>
              </a:solidFill>
              <a:effectLst/>
              <a:uFillTx/>
              <a:latin typeface="Arial"/>
            </a:endParaRPr>
          </a:p>
        </p:txBody>
      </p:sp>
      <p:sp>
        <p:nvSpPr>
          <p:cNvPr id="588" name="Rounded Rectangle 15"/>
          <p:cNvSpPr/>
          <p:nvPr/>
        </p:nvSpPr>
        <p:spPr>
          <a:xfrm>
            <a:off x="8183880" y="2971800"/>
            <a:ext cx="3228480" cy="45576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89" name="Rounded Rectangle 16"/>
          <p:cNvSpPr/>
          <p:nvPr/>
        </p:nvSpPr>
        <p:spPr>
          <a:xfrm>
            <a:off x="777240" y="3657600"/>
            <a:ext cx="1781640" cy="45576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Goal test</a:t>
            </a:r>
            <a:endParaRPr lang="en-US" sz="1300" b="0" u="none" strike="noStrike">
              <a:solidFill>
                <a:srgbClr val="000000"/>
              </a:solidFill>
              <a:effectLst/>
              <a:uFillTx/>
              <a:latin typeface="Arial"/>
            </a:endParaRPr>
          </a:p>
        </p:txBody>
      </p:sp>
      <p:sp>
        <p:nvSpPr>
          <p:cNvPr id="590" name="Rounded Rectangle 17"/>
          <p:cNvSpPr/>
          <p:nvPr/>
        </p:nvSpPr>
        <p:spPr>
          <a:xfrm>
            <a:off x="2697480" y="3657600"/>
            <a:ext cx="3228480" cy="45576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91" name="Rounded Rectangle 18"/>
          <p:cNvSpPr/>
          <p:nvPr/>
        </p:nvSpPr>
        <p:spPr>
          <a:xfrm>
            <a:off x="6263640" y="3657600"/>
            <a:ext cx="1781640" cy="45576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592" name="Rounded Rectangle 19"/>
          <p:cNvSpPr/>
          <p:nvPr/>
        </p:nvSpPr>
        <p:spPr>
          <a:xfrm>
            <a:off x="8183880" y="3657600"/>
            <a:ext cx="3228480" cy="45576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93" name="Rectangle 20"/>
          <p:cNvSpPr/>
          <p:nvPr/>
        </p:nvSpPr>
        <p:spPr>
          <a:xfrm>
            <a:off x="914400" y="45262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Work in pairs. Five minutes. Write all six parts before you argue about any of them.</a:t>
            </a:r>
            <a:endParaRPr lang="en-US" sz="1700" b="0" u="none" strike="noStrike">
              <a:solidFill>
                <a:srgbClr val="000000"/>
              </a:solidFill>
              <a:effectLst/>
              <a:uFillTx/>
              <a:latin typeface="Arial"/>
            </a:endParaRPr>
          </a:p>
        </p:txBody>
      </p:sp>
      <p:sp>
        <p:nvSpPr>
          <p:cNvPr id="594" name="Rounded Rectangle 21"/>
          <p:cNvSpPr/>
          <p:nvPr/>
        </p:nvSpPr>
        <p:spPr>
          <a:xfrm>
            <a:off x="914400" y="4983480"/>
            <a:ext cx="10422720" cy="6386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95" name="Rectangle 22"/>
          <p:cNvSpPr/>
          <p:nvPr/>
        </p:nvSpPr>
        <p:spPr>
          <a:xfrm>
            <a:off x="1097280" y="5074920"/>
            <a:ext cx="10056960" cy="4557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400" b="1" u="none" strike="noStrike">
                <a:solidFill>
                  <a:srgbClr val="9B1C1C"/>
                </a:solidFill>
                <a:effectLst/>
                <a:uFillTx/>
                <a:latin typeface="Aptos"/>
              </a:rPr>
              <a:t>Watch for the trap: at least one variable you are tempted to include is never read by the goal test or the cost function.</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596"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97"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598"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Your Turn: One Correct Formulation</a:t>
            </a:r>
            <a:endParaRPr lang="en-US" sz="2600" b="0" u="none" strike="noStrike">
              <a:solidFill>
                <a:srgbClr val="000000"/>
              </a:solidFill>
              <a:effectLst/>
              <a:uFillTx/>
              <a:latin typeface="Arial"/>
            </a:endParaRPr>
          </a:p>
        </p:txBody>
      </p:sp>
      <p:sp>
        <p:nvSpPr>
          <p:cNvPr id="599"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00"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01" name="Rounded Rectangle 6"/>
          <p:cNvSpPr/>
          <p:nvPr/>
        </p:nvSpPr>
        <p:spPr>
          <a:xfrm>
            <a:off x="777240" y="1417320"/>
            <a:ext cx="178164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602" name="Rectangle 7"/>
          <p:cNvSpPr/>
          <p:nvPr/>
        </p:nvSpPr>
        <p:spPr>
          <a:xfrm>
            <a:off x="2697480" y="141732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 b) where a is the content of the 3-litre jug and b of the 5-litre jug</a:t>
            </a:r>
            <a:endParaRPr lang="en-US" sz="1300" b="0" u="none" strike="noStrike">
              <a:solidFill>
                <a:srgbClr val="000000"/>
              </a:solidFill>
              <a:effectLst/>
              <a:uFillTx/>
              <a:latin typeface="Arial"/>
            </a:endParaRPr>
          </a:p>
        </p:txBody>
      </p:sp>
      <p:sp>
        <p:nvSpPr>
          <p:cNvPr id="603" name="Rounded Rectangle 8"/>
          <p:cNvSpPr/>
          <p:nvPr/>
        </p:nvSpPr>
        <p:spPr>
          <a:xfrm>
            <a:off x="777240" y="1920240"/>
            <a:ext cx="178164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604" name="Rectangle 9"/>
          <p:cNvSpPr/>
          <p:nvPr/>
        </p:nvSpPr>
        <p:spPr>
          <a:xfrm>
            <a:off x="2697480" y="192024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(0, 0)</a:t>
            </a:r>
            <a:endParaRPr lang="en-US" sz="1300" b="0" u="none" strike="noStrike">
              <a:solidFill>
                <a:srgbClr val="000000"/>
              </a:solidFill>
              <a:effectLst/>
              <a:uFillTx/>
              <a:latin typeface="Arial"/>
            </a:endParaRPr>
          </a:p>
        </p:txBody>
      </p:sp>
      <p:sp>
        <p:nvSpPr>
          <p:cNvPr id="605" name="Rounded Rectangle 10"/>
          <p:cNvSpPr/>
          <p:nvPr/>
        </p:nvSpPr>
        <p:spPr>
          <a:xfrm>
            <a:off x="777240" y="2423160"/>
            <a:ext cx="178164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606" name="Rectangle 11"/>
          <p:cNvSpPr/>
          <p:nvPr/>
        </p:nvSpPr>
        <p:spPr>
          <a:xfrm>
            <a:off x="2697480" y="242316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Fill A, Fill B, Empty A, Empty B, Pour A→B, Pour B→A</a:t>
            </a:r>
            <a:endParaRPr lang="en-US" sz="1300" b="0" u="none" strike="noStrike">
              <a:solidFill>
                <a:srgbClr val="000000"/>
              </a:solidFill>
              <a:effectLst/>
              <a:uFillTx/>
              <a:latin typeface="Arial"/>
            </a:endParaRPr>
          </a:p>
        </p:txBody>
      </p:sp>
      <p:sp>
        <p:nvSpPr>
          <p:cNvPr id="607" name="Rounded Rectangle 12"/>
          <p:cNvSpPr/>
          <p:nvPr/>
        </p:nvSpPr>
        <p:spPr>
          <a:xfrm>
            <a:off x="777240" y="2926080"/>
            <a:ext cx="178164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608" name="Rectangle 13"/>
          <p:cNvSpPr/>
          <p:nvPr/>
        </p:nvSpPr>
        <p:spPr>
          <a:xfrm>
            <a:off x="2697480" y="292608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A pour transfers min(source, capacity of destination − destination)</a:t>
            </a:r>
            <a:endParaRPr lang="en-US" sz="1300" b="0" u="none" strike="noStrike">
              <a:solidFill>
                <a:srgbClr val="000000"/>
              </a:solidFill>
              <a:effectLst/>
              <a:uFillTx/>
              <a:latin typeface="Arial"/>
            </a:endParaRPr>
          </a:p>
        </p:txBody>
      </p:sp>
      <p:sp>
        <p:nvSpPr>
          <p:cNvPr id="609" name="Rounded Rectangle 14"/>
          <p:cNvSpPr/>
          <p:nvPr/>
        </p:nvSpPr>
        <p:spPr>
          <a:xfrm>
            <a:off x="777240" y="3429000"/>
            <a:ext cx="178164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Goal test</a:t>
            </a:r>
            <a:endParaRPr lang="en-US" sz="1300" b="0" u="none" strike="noStrike">
              <a:solidFill>
                <a:srgbClr val="000000"/>
              </a:solidFill>
              <a:effectLst/>
              <a:uFillTx/>
              <a:latin typeface="Arial"/>
            </a:endParaRPr>
          </a:p>
        </p:txBody>
      </p:sp>
      <p:sp>
        <p:nvSpPr>
          <p:cNvPr id="610" name="Rectangle 15"/>
          <p:cNvSpPr/>
          <p:nvPr/>
        </p:nvSpPr>
        <p:spPr>
          <a:xfrm>
            <a:off x="2697480" y="342900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b = 4</a:t>
            </a:r>
            <a:endParaRPr lang="en-US" sz="1300" b="0" u="none" strike="noStrike">
              <a:solidFill>
                <a:srgbClr val="000000"/>
              </a:solidFill>
              <a:effectLst/>
              <a:uFillTx/>
              <a:latin typeface="Arial"/>
            </a:endParaRPr>
          </a:p>
        </p:txBody>
      </p:sp>
      <p:sp>
        <p:nvSpPr>
          <p:cNvPr id="611" name="Rounded Rectangle 16"/>
          <p:cNvSpPr/>
          <p:nvPr/>
        </p:nvSpPr>
        <p:spPr>
          <a:xfrm>
            <a:off x="777240" y="3931920"/>
            <a:ext cx="178164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612" name="Rectangle 17"/>
          <p:cNvSpPr/>
          <p:nvPr/>
        </p:nvSpPr>
        <p:spPr>
          <a:xfrm>
            <a:off x="2697480" y="3931920"/>
            <a:ext cx="59421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1 per action, so path cost is the number of actions</a:t>
            </a:r>
            <a:endParaRPr lang="en-US" sz="1300" b="0" u="none" strike="noStrike">
              <a:solidFill>
                <a:srgbClr val="000000"/>
              </a:solidFill>
              <a:effectLst/>
              <a:uFillTx/>
              <a:latin typeface="Arial"/>
            </a:endParaRPr>
          </a:p>
        </p:txBody>
      </p:sp>
      <p:sp>
        <p:nvSpPr>
          <p:cNvPr id="613" name="Rectangle 18"/>
          <p:cNvSpPr/>
          <p:nvPr/>
        </p:nvSpPr>
        <p:spPr>
          <a:xfrm>
            <a:off x="9339120" y="1352160"/>
            <a:ext cx="2741760" cy="5014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2600" b="1" u="none" strike="noStrike">
                <a:solidFill>
                  <a:srgbClr val="112E5C"/>
                </a:solidFill>
                <a:effectLst/>
                <a:uFillTx/>
                <a:latin typeface="Aptos"/>
              </a:rPr>
              <a:t>24</a:t>
            </a:r>
            <a:endParaRPr lang="en-US" sz="2600" b="0" u="none" strike="noStrike">
              <a:solidFill>
                <a:srgbClr val="000000"/>
              </a:solidFill>
              <a:effectLst/>
              <a:uFillTx/>
              <a:latin typeface="Arial"/>
            </a:endParaRPr>
          </a:p>
        </p:txBody>
      </p:sp>
      <p:sp>
        <p:nvSpPr>
          <p:cNvPr id="614" name="Rectangle 19"/>
          <p:cNvSpPr/>
          <p:nvPr/>
        </p:nvSpPr>
        <p:spPr>
          <a:xfrm>
            <a:off x="9339120" y="1855080"/>
            <a:ext cx="2741760" cy="24552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states: 4 × 6</a:t>
            </a:r>
            <a:endParaRPr lang="en-US" sz="1200" b="0" u="none" strike="noStrike">
              <a:solidFill>
                <a:srgbClr val="000000"/>
              </a:solidFill>
              <a:effectLst/>
              <a:uFillTx/>
              <a:latin typeface="Arial"/>
            </a:endParaRPr>
          </a:p>
        </p:txBody>
      </p:sp>
      <p:sp>
        <p:nvSpPr>
          <p:cNvPr id="615" name="Rectangle 20"/>
          <p:cNvSpPr/>
          <p:nvPr/>
        </p:nvSpPr>
        <p:spPr>
          <a:xfrm>
            <a:off x="9339120" y="2175120"/>
            <a:ext cx="2741760" cy="5014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2600" b="1" u="none" strike="noStrike">
                <a:solidFill>
                  <a:srgbClr val="112E5C"/>
                </a:solidFill>
                <a:effectLst/>
                <a:uFillTx/>
                <a:latin typeface="Aptos"/>
              </a:rPr>
              <a:t>6</a:t>
            </a:r>
            <a:endParaRPr lang="en-US" sz="2600" b="0" u="none" strike="noStrike">
              <a:solidFill>
                <a:srgbClr val="000000"/>
              </a:solidFill>
              <a:effectLst/>
              <a:uFillTx/>
              <a:latin typeface="Arial"/>
            </a:endParaRPr>
          </a:p>
        </p:txBody>
      </p:sp>
      <p:sp>
        <p:nvSpPr>
          <p:cNvPr id="616" name="Rectangle 21"/>
          <p:cNvSpPr/>
          <p:nvPr/>
        </p:nvSpPr>
        <p:spPr>
          <a:xfrm>
            <a:off x="9339120" y="2678040"/>
            <a:ext cx="2741760" cy="24552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actions</a:t>
            </a:r>
            <a:endParaRPr lang="en-US" sz="1200" b="0" u="none" strike="noStrike">
              <a:solidFill>
                <a:srgbClr val="000000"/>
              </a:solidFill>
              <a:effectLst/>
              <a:uFillTx/>
              <a:latin typeface="Arial"/>
            </a:endParaRPr>
          </a:p>
        </p:txBody>
      </p:sp>
      <p:sp>
        <p:nvSpPr>
          <p:cNvPr id="617" name="Rectangle 22"/>
          <p:cNvSpPr/>
          <p:nvPr/>
        </p:nvSpPr>
        <p:spPr>
          <a:xfrm>
            <a:off x="9339120" y="2998080"/>
            <a:ext cx="2741760" cy="5014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2600" b="1" u="none" strike="noStrike">
                <a:solidFill>
                  <a:srgbClr val="112E5C"/>
                </a:solidFill>
                <a:effectLst/>
                <a:uFillTx/>
                <a:latin typeface="Aptos"/>
              </a:rPr>
              <a:t>6</a:t>
            </a:r>
            <a:endParaRPr lang="en-US" sz="2600" b="0" u="none" strike="noStrike">
              <a:solidFill>
                <a:srgbClr val="000000"/>
              </a:solidFill>
              <a:effectLst/>
              <a:uFillTx/>
              <a:latin typeface="Arial"/>
            </a:endParaRPr>
          </a:p>
        </p:txBody>
      </p:sp>
      <p:sp>
        <p:nvSpPr>
          <p:cNvPr id="618" name="Rectangle 23"/>
          <p:cNvSpPr/>
          <p:nvPr/>
        </p:nvSpPr>
        <p:spPr>
          <a:xfrm>
            <a:off x="9339120" y="3501000"/>
            <a:ext cx="2741760" cy="24552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actions in the shortest solution</a:t>
            </a:r>
            <a:endParaRPr lang="en-US" sz="1200" b="0" u="none" strike="noStrike">
              <a:solidFill>
                <a:srgbClr val="000000"/>
              </a:solidFill>
              <a:effectLst/>
              <a:uFillTx/>
              <a:latin typeface="Arial"/>
            </a:endParaRPr>
          </a:p>
        </p:txBody>
      </p:sp>
      <p:sp>
        <p:nvSpPr>
          <p:cNvPr id="619" name="Rectangle 24"/>
          <p:cNvSpPr/>
          <p:nvPr/>
        </p:nvSpPr>
        <p:spPr>
          <a:xfrm>
            <a:off x="914400" y="45262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The state is exactly the pair of jug contents. Nothing else is ever consulted.</a:t>
            </a:r>
            <a:endParaRPr lang="en-US" sz="1700" b="0" u="none" strike="noStrike">
              <a:solidFill>
                <a:srgbClr val="000000"/>
              </a:solidFill>
              <a:effectLst/>
              <a:uFillTx/>
              <a:latin typeface="Arial"/>
            </a:endParaRPr>
          </a:p>
        </p:txBody>
      </p:sp>
      <p:sp>
        <p:nvSpPr>
          <p:cNvPr id="620" name="Rectangle 25"/>
          <p:cNvSpPr/>
          <p:nvPr/>
        </p:nvSpPr>
        <p:spPr>
          <a:xfrm>
            <a:off x="914400" y="493776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Not in the state: how much water you have poured in total, how long it took, or the number 4 itself.</a:t>
            </a:r>
            <a:endParaRPr lang="en-US" sz="1500" b="0" u="none" strike="noStrike">
              <a:solidFill>
                <a:srgbClr val="000000"/>
              </a:solidFill>
              <a:effectLst/>
              <a:uFillTx/>
              <a:latin typeface="Arial"/>
            </a:endParaRPr>
          </a:p>
        </p:txBody>
      </p:sp>
      <p:sp>
        <p:nvSpPr>
          <p:cNvPr id="621" name="Rectangle 26"/>
          <p:cNvSpPr/>
          <p:nvPr/>
        </p:nvSpPr>
        <p:spPr>
          <a:xfrm>
            <a:off x="914400" y="54406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The goal is a property of a state, not a state you have to name in advance.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Text 0"/>
          <p:cNvSpPr/>
          <p:nvPr/>
        </p:nvSpPr>
        <p:spPr>
          <a:xfrm>
            <a:off x="502920" y="438840"/>
            <a:ext cx="9874440" cy="309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300" b="1" u="none" strike="noStrike">
                <a:solidFill>
                  <a:srgbClr val="FFFFFF"/>
                </a:solidFill>
                <a:effectLst/>
                <a:uFillTx/>
                <a:latin typeface="Aptos Display"/>
                <a:ea typeface="Aptos Display"/>
              </a:rPr>
              <a:t>The Math Behind the Jug State Space</a:t>
            </a:r>
            <a:endParaRPr lang="en-US" sz="2300" b="0" u="none" strike="noStrike">
              <a:solidFill>
                <a:srgbClr val="000000"/>
              </a:solidFill>
              <a:effectLst/>
              <a:uFillTx/>
              <a:latin typeface="Arial"/>
            </a:endParaRPr>
          </a:p>
        </p:txBody>
      </p:sp>
      <p:sp>
        <p:nvSpPr>
          <p:cNvPr id="623" name="Shape 1"/>
          <p:cNvSpPr/>
          <p:nvPr/>
        </p:nvSpPr>
        <p:spPr>
          <a:xfrm>
            <a:off x="567000" y="1344240"/>
            <a:ext cx="1873440" cy="437760"/>
          </a:xfrm>
          <a:prstGeom prst="roundRect">
            <a:avLst>
              <a:gd name="adj" fmla="val 16667"/>
            </a:avLst>
          </a:prstGeom>
          <a:solidFill>
            <a:srgbClr val="DDEFE5"/>
          </a:solidFill>
          <a:ln w="15240">
            <a:solidFill>
              <a:srgbClr val="15396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24" name="Text 2"/>
          <p:cNvSpPr/>
          <p:nvPr/>
        </p:nvSpPr>
        <p:spPr>
          <a:xfrm>
            <a:off x="567000" y="1389960"/>
            <a:ext cx="1873440" cy="3463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0D2F5F"/>
                </a:solidFill>
                <a:effectLst/>
                <a:uFillTx/>
                <a:latin typeface="Aptos"/>
                <a:ea typeface="Aptos"/>
              </a:rPr>
              <a:t>State variables</a:t>
            </a:r>
            <a:endParaRPr lang="en-US" sz="1500" b="0" u="none" strike="noStrike">
              <a:solidFill>
                <a:srgbClr val="000000"/>
              </a:solidFill>
              <a:effectLst/>
              <a:uFillTx/>
              <a:latin typeface="Arial"/>
            </a:endParaRPr>
          </a:p>
        </p:txBody>
      </p:sp>
      <p:sp>
        <p:nvSpPr>
          <p:cNvPr id="625" name="Text 3"/>
          <p:cNvSpPr/>
          <p:nvPr/>
        </p:nvSpPr>
        <p:spPr>
          <a:xfrm>
            <a:off x="2633400" y="1298520"/>
            <a:ext cx="2147760" cy="309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50" b="1" u="none" strike="noStrike">
                <a:solidFill>
                  <a:srgbClr val="0D2F5F"/>
                </a:solidFill>
                <a:effectLst/>
                <a:uFillTx/>
                <a:latin typeface="Aptos"/>
              </a:rPr>
              <a:t>State = (a, b)</a:t>
            </a:r>
            <a:endParaRPr lang="en-US" sz="1850" b="0" u="none" strike="noStrike">
              <a:solidFill>
                <a:srgbClr val="000000"/>
              </a:solidFill>
              <a:effectLst/>
              <a:uFillTx/>
              <a:latin typeface="Arial"/>
            </a:endParaRPr>
          </a:p>
        </p:txBody>
      </p:sp>
      <p:sp>
        <p:nvSpPr>
          <p:cNvPr id="626" name="Text 4"/>
          <p:cNvSpPr/>
          <p:nvPr/>
        </p:nvSpPr>
        <p:spPr>
          <a:xfrm>
            <a:off x="2633400" y="1627560"/>
            <a:ext cx="3427920" cy="419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10" b="0" u="none" strike="noStrike">
                <a:solidFill>
                  <a:srgbClr val="102B4C"/>
                </a:solidFill>
                <a:effectLst/>
                <a:uFillTx/>
                <a:latin typeface="Aptos"/>
              </a:rPr>
              <a:t>a = amount in the 3-litre jug</a:t>
            </a:r>
            <a:endParaRPr lang="en-US" sz="1210" b="0" u="none" strike="noStrike">
              <a:solidFill>
                <a:srgbClr val="000000"/>
              </a:solidFill>
              <a:effectLst/>
              <a:uFillTx/>
              <a:latin typeface="Arial"/>
            </a:endParaRPr>
          </a:p>
          <a:p>
            <a:pPr defTabSz="914400">
              <a:lnSpc>
                <a:spcPct val="100000"/>
              </a:lnSpc>
              <a:tabLst>
                <a:tab pos="0" algn="l"/>
              </a:tabLst>
            </a:pPr>
            <a:r>
              <a:rPr lang="en-US" sz="1210" b="0" u="none" strike="noStrike">
                <a:solidFill>
                  <a:srgbClr val="102B4C"/>
                </a:solidFill>
                <a:effectLst/>
                <a:uFillTx/>
                <a:latin typeface="Aptos"/>
              </a:rPr>
              <a:t>b = amount in the 5-litre jug</a:t>
            </a:r>
            <a:endParaRPr lang="en-US" sz="1210" b="0" u="none" strike="noStrike">
              <a:solidFill>
                <a:srgbClr val="000000"/>
              </a:solidFill>
              <a:effectLst/>
              <a:uFillTx/>
              <a:latin typeface="Arial"/>
            </a:endParaRPr>
          </a:p>
        </p:txBody>
      </p:sp>
      <p:sp>
        <p:nvSpPr>
          <p:cNvPr id="627" name="Shape 5"/>
          <p:cNvSpPr/>
          <p:nvPr/>
        </p:nvSpPr>
        <p:spPr>
          <a:xfrm>
            <a:off x="567000" y="2157840"/>
            <a:ext cx="1873440" cy="437760"/>
          </a:xfrm>
          <a:prstGeom prst="roundRect">
            <a:avLst>
              <a:gd name="adj" fmla="val 16667"/>
            </a:avLst>
          </a:prstGeom>
          <a:solidFill>
            <a:srgbClr val="DDEFE5"/>
          </a:solidFill>
          <a:ln w="15240">
            <a:solidFill>
              <a:srgbClr val="15396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28" name="Text 6"/>
          <p:cNvSpPr/>
          <p:nvPr/>
        </p:nvSpPr>
        <p:spPr>
          <a:xfrm>
            <a:off x="567000" y="2203560"/>
            <a:ext cx="1873440" cy="3463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0D2F5F"/>
                </a:solidFill>
                <a:effectLst/>
                <a:uFillTx/>
                <a:latin typeface="Aptos"/>
                <a:ea typeface="Aptos"/>
              </a:rPr>
              <a:t>Domains</a:t>
            </a:r>
            <a:endParaRPr lang="en-US" sz="1500" b="0" u="none" strike="noStrike">
              <a:solidFill>
                <a:srgbClr val="000000"/>
              </a:solidFill>
              <a:effectLst/>
              <a:uFillTx/>
              <a:latin typeface="Arial"/>
            </a:endParaRPr>
          </a:p>
        </p:txBody>
      </p:sp>
      <p:sp>
        <p:nvSpPr>
          <p:cNvPr id="629" name="Text 7"/>
          <p:cNvSpPr/>
          <p:nvPr/>
        </p:nvSpPr>
        <p:spPr>
          <a:xfrm>
            <a:off x="2633400" y="2139840"/>
            <a:ext cx="3747960" cy="547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80" b="0" u="none" strike="noStrike">
                <a:solidFill>
                  <a:srgbClr val="102B4C"/>
                </a:solidFill>
                <a:effectLst/>
                <a:uFillTx/>
                <a:latin typeface="Aptos"/>
              </a:rPr>
              <a:t>a ∈ {0,1,2,3}  ⇒  4 values</a:t>
            </a:r>
            <a:endParaRPr lang="en-US" sz="1380" b="0" u="none" strike="noStrike">
              <a:solidFill>
                <a:srgbClr val="000000"/>
              </a:solidFill>
              <a:effectLst/>
              <a:uFillTx/>
              <a:latin typeface="Arial"/>
            </a:endParaRPr>
          </a:p>
          <a:p>
            <a:pPr defTabSz="914400">
              <a:lnSpc>
                <a:spcPct val="100000"/>
              </a:lnSpc>
              <a:tabLst>
                <a:tab pos="0" algn="l"/>
              </a:tabLst>
            </a:pPr>
            <a:r>
              <a:rPr lang="en-US" sz="1380" b="0" u="none" strike="noStrike">
                <a:solidFill>
                  <a:srgbClr val="102B4C"/>
                </a:solidFill>
                <a:effectLst/>
                <a:uFillTx/>
                <a:latin typeface="Aptos"/>
              </a:rPr>
              <a:t>b ∈ {0,1,2,3,4,5}  ⇒  6 values</a:t>
            </a:r>
            <a:endParaRPr lang="en-US" sz="1380" b="0" u="none" strike="noStrike">
              <a:solidFill>
                <a:srgbClr val="000000"/>
              </a:solidFill>
              <a:effectLst/>
              <a:uFillTx/>
              <a:latin typeface="Arial"/>
            </a:endParaRPr>
          </a:p>
        </p:txBody>
      </p:sp>
      <p:sp>
        <p:nvSpPr>
          <p:cNvPr id="630" name="Shape 8"/>
          <p:cNvSpPr/>
          <p:nvPr/>
        </p:nvSpPr>
        <p:spPr>
          <a:xfrm>
            <a:off x="567000" y="2999160"/>
            <a:ext cx="5457960" cy="950040"/>
          </a:xfrm>
          <a:prstGeom prst="roundRect">
            <a:avLst>
              <a:gd name="adj" fmla="val 7692"/>
            </a:avLst>
          </a:prstGeom>
          <a:solidFill>
            <a:srgbClr val="DCEBFF"/>
          </a:solidFill>
          <a:ln w="13970">
            <a:solidFill>
              <a:srgbClr val="2B73D2"/>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31" name="Text 9"/>
          <p:cNvSpPr/>
          <p:nvPr/>
        </p:nvSpPr>
        <p:spPr>
          <a:xfrm>
            <a:off x="713160" y="3173040"/>
            <a:ext cx="5146920" cy="383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0D2F5F"/>
                </a:solidFill>
                <a:effectLst/>
                <a:uFillTx/>
                <a:latin typeface="Aptos"/>
              </a:rPr>
              <a:t>|S| = |A| × |B| = 4 × 6 = 24</a:t>
            </a:r>
            <a:endParaRPr lang="en-US" sz="2200" b="0" u="none" strike="noStrike">
              <a:solidFill>
                <a:srgbClr val="000000"/>
              </a:solidFill>
              <a:effectLst/>
              <a:uFillTx/>
              <a:latin typeface="Arial"/>
            </a:endParaRPr>
          </a:p>
        </p:txBody>
      </p:sp>
      <p:sp>
        <p:nvSpPr>
          <p:cNvPr id="632" name="Text 10"/>
          <p:cNvSpPr/>
          <p:nvPr/>
        </p:nvSpPr>
        <p:spPr>
          <a:xfrm>
            <a:off x="822960" y="3602880"/>
            <a:ext cx="491832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80" b="0" u="none" strike="noStrike">
                <a:solidFill>
                  <a:srgbClr val="506987"/>
                </a:solidFill>
                <a:effectLst/>
                <a:uFillTx/>
                <a:latin typeface="Aptos"/>
              </a:rPr>
              <a:t>This is a </a:t>
            </a:r>
            <a:r>
              <a:rPr lang="en-US" sz="980" b="0" u="sng" strike="noStrike">
                <a:solidFill>
                  <a:srgbClr val="0563C1"/>
                </a:solidFill>
                <a:effectLst/>
                <a:uFillTx/>
                <a:latin typeface="Aptos"/>
                <a:hlinkClick r:id="rId1"/>
              </a:rPr>
              <a:t>Cartesian product</a:t>
            </a:r>
            <a:r>
              <a:rPr lang="en-US" sz="980" b="0" u="none" strike="noStrike">
                <a:solidFill>
                  <a:srgbClr val="506987"/>
                </a:solidFill>
                <a:effectLst/>
                <a:uFillTx/>
                <a:latin typeface="Aptos"/>
              </a:rPr>
              <a:t>: every possible a-value paired with every possible b-value.</a:t>
            </a:r>
            <a:endParaRPr lang="en-US" sz="980" b="0" u="none" strike="noStrike">
              <a:solidFill>
                <a:srgbClr val="000000"/>
              </a:solidFill>
              <a:effectLst/>
              <a:uFillTx/>
              <a:latin typeface="Arial"/>
            </a:endParaRPr>
          </a:p>
        </p:txBody>
      </p:sp>
      <p:sp>
        <p:nvSpPr>
          <p:cNvPr id="633" name="Text 11"/>
          <p:cNvSpPr/>
          <p:nvPr/>
        </p:nvSpPr>
        <p:spPr>
          <a:xfrm>
            <a:off x="6446520" y="1298520"/>
            <a:ext cx="2925000" cy="254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D2F5F"/>
                </a:solidFill>
                <a:effectLst/>
                <a:uFillTx/>
                <a:latin typeface="Aptos"/>
              </a:rPr>
              <a:t>All valid capacity pairs</a:t>
            </a:r>
            <a:endParaRPr lang="en-US" sz="1500" b="0" u="none" strike="noStrike">
              <a:solidFill>
                <a:srgbClr val="000000"/>
              </a:solidFill>
              <a:effectLst/>
              <a:uFillTx/>
              <a:latin typeface="Arial"/>
            </a:endParaRPr>
          </a:p>
        </p:txBody>
      </p:sp>
      <p:sp>
        <p:nvSpPr>
          <p:cNvPr id="634" name="Text 12"/>
          <p:cNvSpPr/>
          <p:nvPr/>
        </p:nvSpPr>
        <p:spPr>
          <a:xfrm>
            <a:off x="6446520" y="1581840"/>
            <a:ext cx="3839400" cy="163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 b="0" u="none" strike="noStrike">
                <a:solidFill>
                  <a:srgbClr val="506987"/>
                </a:solidFill>
                <a:effectLst/>
                <a:uFillTx/>
                <a:latin typeface="Aptos"/>
              </a:rPr>
              <a:t>columns = 5-litre jug b; rows = 3-litre jug a</a:t>
            </a:r>
            <a:endParaRPr lang="en-US" sz="960" b="0" u="none" strike="noStrike">
              <a:solidFill>
                <a:srgbClr val="000000"/>
              </a:solidFill>
              <a:effectLst/>
              <a:uFillTx/>
              <a:latin typeface="Arial"/>
            </a:endParaRPr>
          </a:p>
        </p:txBody>
      </p:sp>
      <p:sp>
        <p:nvSpPr>
          <p:cNvPr id="635" name="Text 13"/>
          <p:cNvSpPr/>
          <p:nvPr/>
        </p:nvSpPr>
        <p:spPr>
          <a:xfrm>
            <a:off x="6958440" y="1938600"/>
            <a:ext cx="712080" cy="163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D2F5F"/>
                </a:solidFill>
                <a:effectLst/>
                <a:uFillTx/>
                <a:latin typeface="Aptos"/>
              </a:rPr>
              <a:t>0</a:t>
            </a:r>
            <a:endParaRPr lang="en-US" sz="950" b="0" u="none" strike="noStrike">
              <a:solidFill>
                <a:srgbClr val="000000"/>
              </a:solidFill>
              <a:effectLst/>
              <a:uFillTx/>
              <a:latin typeface="Arial"/>
            </a:endParaRPr>
          </a:p>
        </p:txBody>
      </p:sp>
      <p:sp>
        <p:nvSpPr>
          <p:cNvPr id="636" name="Text 14"/>
          <p:cNvSpPr/>
          <p:nvPr/>
        </p:nvSpPr>
        <p:spPr>
          <a:xfrm>
            <a:off x="7671960" y="1938600"/>
            <a:ext cx="712080" cy="163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D2F5F"/>
                </a:solidFill>
                <a:effectLst/>
                <a:uFillTx/>
                <a:latin typeface="Aptos"/>
              </a:rPr>
              <a:t>1</a:t>
            </a:r>
            <a:endParaRPr lang="en-US" sz="950" b="0" u="none" strike="noStrike">
              <a:solidFill>
                <a:srgbClr val="000000"/>
              </a:solidFill>
              <a:effectLst/>
              <a:uFillTx/>
              <a:latin typeface="Arial"/>
            </a:endParaRPr>
          </a:p>
        </p:txBody>
      </p:sp>
      <p:sp>
        <p:nvSpPr>
          <p:cNvPr id="637" name="Text 15"/>
          <p:cNvSpPr/>
          <p:nvPr/>
        </p:nvSpPr>
        <p:spPr>
          <a:xfrm>
            <a:off x="8385120" y="1938600"/>
            <a:ext cx="712080" cy="163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D2F5F"/>
                </a:solidFill>
                <a:effectLst/>
                <a:uFillTx/>
                <a:latin typeface="Aptos"/>
              </a:rPr>
              <a:t>2</a:t>
            </a:r>
            <a:endParaRPr lang="en-US" sz="950" b="0" u="none" strike="noStrike">
              <a:solidFill>
                <a:srgbClr val="000000"/>
              </a:solidFill>
              <a:effectLst/>
              <a:uFillTx/>
              <a:latin typeface="Arial"/>
            </a:endParaRPr>
          </a:p>
        </p:txBody>
      </p:sp>
      <p:sp>
        <p:nvSpPr>
          <p:cNvPr id="638" name="Text 16"/>
          <p:cNvSpPr/>
          <p:nvPr/>
        </p:nvSpPr>
        <p:spPr>
          <a:xfrm>
            <a:off x="9098280" y="1938600"/>
            <a:ext cx="712080" cy="163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D2F5F"/>
                </a:solidFill>
                <a:effectLst/>
                <a:uFillTx/>
                <a:latin typeface="Aptos"/>
              </a:rPr>
              <a:t>3</a:t>
            </a:r>
            <a:endParaRPr lang="en-US" sz="950" b="0" u="none" strike="noStrike">
              <a:solidFill>
                <a:srgbClr val="000000"/>
              </a:solidFill>
              <a:effectLst/>
              <a:uFillTx/>
              <a:latin typeface="Arial"/>
            </a:endParaRPr>
          </a:p>
        </p:txBody>
      </p:sp>
      <p:sp>
        <p:nvSpPr>
          <p:cNvPr id="639" name="Text 17"/>
          <p:cNvSpPr/>
          <p:nvPr/>
        </p:nvSpPr>
        <p:spPr>
          <a:xfrm>
            <a:off x="9811440" y="1938600"/>
            <a:ext cx="712080" cy="163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D2F5F"/>
                </a:solidFill>
                <a:effectLst/>
                <a:uFillTx/>
                <a:latin typeface="Aptos"/>
              </a:rPr>
              <a:t>4</a:t>
            </a:r>
            <a:endParaRPr lang="en-US" sz="950" b="0" u="none" strike="noStrike">
              <a:solidFill>
                <a:srgbClr val="000000"/>
              </a:solidFill>
              <a:effectLst/>
              <a:uFillTx/>
              <a:latin typeface="Arial"/>
            </a:endParaRPr>
          </a:p>
        </p:txBody>
      </p:sp>
      <p:sp>
        <p:nvSpPr>
          <p:cNvPr id="640" name="Text 18"/>
          <p:cNvSpPr/>
          <p:nvPr/>
        </p:nvSpPr>
        <p:spPr>
          <a:xfrm>
            <a:off x="10524600" y="1938600"/>
            <a:ext cx="712080" cy="163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D2F5F"/>
                </a:solidFill>
                <a:effectLst/>
                <a:uFillTx/>
                <a:latin typeface="Aptos"/>
              </a:rPr>
              <a:t>5</a:t>
            </a:r>
            <a:endParaRPr lang="en-US" sz="950" b="0" u="none" strike="noStrike">
              <a:solidFill>
                <a:srgbClr val="000000"/>
              </a:solidFill>
              <a:effectLst/>
              <a:uFillTx/>
              <a:latin typeface="Arial"/>
            </a:endParaRPr>
          </a:p>
        </p:txBody>
      </p:sp>
      <p:sp>
        <p:nvSpPr>
          <p:cNvPr id="641" name="Text 19"/>
          <p:cNvSpPr/>
          <p:nvPr/>
        </p:nvSpPr>
        <p:spPr>
          <a:xfrm>
            <a:off x="11329560" y="1929240"/>
            <a:ext cx="218520" cy="163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0D2F5F"/>
                </a:solidFill>
                <a:effectLst/>
                <a:uFillTx/>
                <a:latin typeface="Aptos"/>
              </a:rPr>
              <a:t>b</a:t>
            </a:r>
            <a:endParaRPr lang="en-US" sz="950" b="0" u="none" strike="noStrike">
              <a:solidFill>
                <a:srgbClr val="000000"/>
              </a:solidFill>
              <a:effectLst/>
              <a:uFillTx/>
              <a:latin typeface="Arial"/>
            </a:endParaRPr>
          </a:p>
        </p:txBody>
      </p:sp>
      <p:sp>
        <p:nvSpPr>
          <p:cNvPr id="642" name="Text 20"/>
          <p:cNvSpPr/>
          <p:nvPr/>
        </p:nvSpPr>
        <p:spPr>
          <a:xfrm>
            <a:off x="6583680" y="2331720"/>
            <a:ext cx="227520" cy="145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D2F5F"/>
                </a:solidFill>
                <a:effectLst/>
                <a:uFillTx/>
                <a:latin typeface="Aptos"/>
              </a:rPr>
              <a:t>0</a:t>
            </a:r>
            <a:endParaRPr lang="en-US" sz="950" b="0" u="none" strike="noStrike">
              <a:solidFill>
                <a:srgbClr val="000000"/>
              </a:solidFill>
              <a:effectLst/>
              <a:uFillTx/>
              <a:latin typeface="Arial"/>
            </a:endParaRPr>
          </a:p>
        </p:txBody>
      </p:sp>
      <p:sp>
        <p:nvSpPr>
          <p:cNvPr id="643" name="Shape 21"/>
          <p:cNvSpPr/>
          <p:nvPr/>
        </p:nvSpPr>
        <p:spPr>
          <a:xfrm>
            <a:off x="6958440" y="2212920"/>
            <a:ext cx="712080" cy="419400"/>
          </a:xfrm>
          <a:prstGeom prst="rect">
            <a:avLst/>
          </a:prstGeom>
          <a:solidFill>
            <a:srgbClr val="E4F2E8"/>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44" name="Text 22"/>
          <p:cNvSpPr/>
          <p:nvPr/>
        </p:nvSpPr>
        <p:spPr>
          <a:xfrm>
            <a:off x="6958440" y="23454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1" u="none" strike="noStrike">
                <a:solidFill>
                  <a:srgbClr val="102B4C"/>
                </a:solidFill>
                <a:effectLst/>
                <a:uFillTx/>
                <a:latin typeface="Aptos"/>
              </a:rPr>
              <a:t>(0,0)</a:t>
            </a:r>
            <a:endParaRPr lang="en-US" sz="860" b="0" u="none" strike="noStrike">
              <a:solidFill>
                <a:srgbClr val="000000"/>
              </a:solidFill>
              <a:effectLst/>
              <a:uFillTx/>
              <a:latin typeface="Arial"/>
            </a:endParaRPr>
          </a:p>
        </p:txBody>
      </p:sp>
      <p:sp>
        <p:nvSpPr>
          <p:cNvPr id="645" name="Shape 23"/>
          <p:cNvSpPr/>
          <p:nvPr/>
        </p:nvSpPr>
        <p:spPr>
          <a:xfrm>
            <a:off x="7671960" y="221292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46" name="Text 24"/>
          <p:cNvSpPr/>
          <p:nvPr/>
        </p:nvSpPr>
        <p:spPr>
          <a:xfrm>
            <a:off x="7671960" y="23454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(0,1)</a:t>
            </a:r>
            <a:endParaRPr lang="en-US" sz="860" b="0" u="none" strike="noStrike">
              <a:solidFill>
                <a:srgbClr val="000000"/>
              </a:solidFill>
              <a:effectLst/>
              <a:uFillTx/>
              <a:latin typeface="Arial"/>
            </a:endParaRPr>
          </a:p>
        </p:txBody>
      </p:sp>
      <p:sp>
        <p:nvSpPr>
          <p:cNvPr id="647" name="Shape 25"/>
          <p:cNvSpPr/>
          <p:nvPr/>
        </p:nvSpPr>
        <p:spPr>
          <a:xfrm>
            <a:off x="8385120" y="221292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48" name="Text 26"/>
          <p:cNvSpPr/>
          <p:nvPr/>
        </p:nvSpPr>
        <p:spPr>
          <a:xfrm>
            <a:off x="8385120" y="23454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(0,2)</a:t>
            </a:r>
            <a:endParaRPr lang="en-US" sz="860" b="0" u="none" strike="noStrike">
              <a:solidFill>
                <a:srgbClr val="000000"/>
              </a:solidFill>
              <a:effectLst/>
              <a:uFillTx/>
              <a:latin typeface="Arial"/>
            </a:endParaRPr>
          </a:p>
        </p:txBody>
      </p:sp>
      <p:sp>
        <p:nvSpPr>
          <p:cNvPr id="649" name="Shape 27"/>
          <p:cNvSpPr/>
          <p:nvPr/>
        </p:nvSpPr>
        <p:spPr>
          <a:xfrm>
            <a:off x="9098280" y="221292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50" name="Text 28"/>
          <p:cNvSpPr/>
          <p:nvPr/>
        </p:nvSpPr>
        <p:spPr>
          <a:xfrm>
            <a:off x="9098280" y="23454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(0,3)</a:t>
            </a:r>
            <a:endParaRPr lang="en-US" sz="860" b="0" u="none" strike="noStrike">
              <a:solidFill>
                <a:srgbClr val="000000"/>
              </a:solidFill>
              <a:effectLst/>
              <a:uFillTx/>
              <a:latin typeface="Arial"/>
            </a:endParaRPr>
          </a:p>
        </p:txBody>
      </p:sp>
      <p:sp>
        <p:nvSpPr>
          <p:cNvPr id="651" name="Shape 29"/>
          <p:cNvSpPr/>
          <p:nvPr/>
        </p:nvSpPr>
        <p:spPr>
          <a:xfrm>
            <a:off x="9811440" y="2212920"/>
            <a:ext cx="712080" cy="419400"/>
          </a:xfrm>
          <a:prstGeom prst="rect">
            <a:avLst/>
          </a:prstGeom>
          <a:solidFill>
            <a:srgbClr val="FFE8E8"/>
          </a:solidFill>
          <a:ln w="15240">
            <a:solidFill>
              <a:srgbClr val="A61B1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52" name="Text 30"/>
          <p:cNvSpPr/>
          <p:nvPr/>
        </p:nvSpPr>
        <p:spPr>
          <a:xfrm>
            <a:off x="9811440" y="23454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1" u="none" strike="noStrike">
                <a:solidFill>
                  <a:srgbClr val="A61B1B"/>
                </a:solidFill>
                <a:effectLst/>
                <a:uFillTx/>
                <a:latin typeface="Aptos"/>
              </a:rPr>
              <a:t>(0,4)</a:t>
            </a:r>
            <a:endParaRPr lang="en-US" sz="860" b="0" u="none" strike="noStrike">
              <a:solidFill>
                <a:srgbClr val="000000"/>
              </a:solidFill>
              <a:effectLst/>
              <a:uFillTx/>
              <a:latin typeface="Arial"/>
            </a:endParaRPr>
          </a:p>
        </p:txBody>
      </p:sp>
      <p:sp>
        <p:nvSpPr>
          <p:cNvPr id="653" name="Shape 31"/>
          <p:cNvSpPr/>
          <p:nvPr/>
        </p:nvSpPr>
        <p:spPr>
          <a:xfrm>
            <a:off x="10524600" y="221292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54" name="Text 32"/>
          <p:cNvSpPr/>
          <p:nvPr/>
        </p:nvSpPr>
        <p:spPr>
          <a:xfrm>
            <a:off x="10524600" y="23454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(0,5)</a:t>
            </a:r>
            <a:endParaRPr lang="en-US" sz="860" b="0" u="none" strike="noStrike">
              <a:solidFill>
                <a:srgbClr val="000000"/>
              </a:solidFill>
              <a:effectLst/>
              <a:uFillTx/>
              <a:latin typeface="Arial"/>
            </a:endParaRPr>
          </a:p>
        </p:txBody>
      </p:sp>
      <p:sp>
        <p:nvSpPr>
          <p:cNvPr id="655" name="Text 33"/>
          <p:cNvSpPr/>
          <p:nvPr/>
        </p:nvSpPr>
        <p:spPr>
          <a:xfrm>
            <a:off x="6583680" y="2752200"/>
            <a:ext cx="227520" cy="145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D2F5F"/>
                </a:solidFill>
                <a:effectLst/>
                <a:uFillTx/>
                <a:latin typeface="Aptos"/>
              </a:rPr>
              <a:t>1</a:t>
            </a:r>
            <a:endParaRPr lang="en-US" sz="950" b="0" u="none" strike="noStrike">
              <a:solidFill>
                <a:srgbClr val="000000"/>
              </a:solidFill>
              <a:effectLst/>
              <a:uFillTx/>
              <a:latin typeface="Arial"/>
            </a:endParaRPr>
          </a:p>
        </p:txBody>
      </p:sp>
      <p:sp>
        <p:nvSpPr>
          <p:cNvPr id="656" name="Shape 34"/>
          <p:cNvSpPr/>
          <p:nvPr/>
        </p:nvSpPr>
        <p:spPr>
          <a:xfrm>
            <a:off x="6958440" y="263340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57" name="Text 35"/>
          <p:cNvSpPr/>
          <p:nvPr/>
        </p:nvSpPr>
        <p:spPr>
          <a:xfrm>
            <a:off x="6958440" y="276624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(1,0)</a:t>
            </a:r>
            <a:endParaRPr lang="en-US" sz="860" b="0" u="none" strike="noStrike">
              <a:solidFill>
                <a:srgbClr val="000000"/>
              </a:solidFill>
              <a:effectLst/>
              <a:uFillTx/>
              <a:latin typeface="Arial"/>
            </a:endParaRPr>
          </a:p>
        </p:txBody>
      </p:sp>
      <p:sp>
        <p:nvSpPr>
          <p:cNvPr id="658" name="Shape 36"/>
          <p:cNvSpPr/>
          <p:nvPr/>
        </p:nvSpPr>
        <p:spPr>
          <a:xfrm>
            <a:off x="7671960" y="263340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59" name="Text 37"/>
          <p:cNvSpPr/>
          <p:nvPr/>
        </p:nvSpPr>
        <p:spPr>
          <a:xfrm>
            <a:off x="7671960" y="276624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(1,1)</a:t>
            </a:r>
            <a:endParaRPr lang="en-US" sz="860" b="0" u="none" strike="noStrike">
              <a:solidFill>
                <a:srgbClr val="000000"/>
              </a:solidFill>
              <a:effectLst/>
              <a:uFillTx/>
              <a:latin typeface="Arial"/>
            </a:endParaRPr>
          </a:p>
        </p:txBody>
      </p:sp>
      <p:sp>
        <p:nvSpPr>
          <p:cNvPr id="660" name="Shape 38"/>
          <p:cNvSpPr/>
          <p:nvPr/>
        </p:nvSpPr>
        <p:spPr>
          <a:xfrm>
            <a:off x="8385120" y="263340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61" name="Text 39"/>
          <p:cNvSpPr/>
          <p:nvPr/>
        </p:nvSpPr>
        <p:spPr>
          <a:xfrm>
            <a:off x="8385120" y="276624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(1,2)</a:t>
            </a:r>
            <a:endParaRPr lang="en-US" sz="860" b="0" u="none" strike="noStrike">
              <a:solidFill>
                <a:srgbClr val="000000"/>
              </a:solidFill>
              <a:effectLst/>
              <a:uFillTx/>
              <a:latin typeface="Arial"/>
            </a:endParaRPr>
          </a:p>
        </p:txBody>
      </p:sp>
      <p:sp>
        <p:nvSpPr>
          <p:cNvPr id="662" name="Shape 40"/>
          <p:cNvSpPr/>
          <p:nvPr/>
        </p:nvSpPr>
        <p:spPr>
          <a:xfrm>
            <a:off x="9098280" y="263340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63" name="Text 41"/>
          <p:cNvSpPr/>
          <p:nvPr/>
        </p:nvSpPr>
        <p:spPr>
          <a:xfrm>
            <a:off x="9098280" y="276624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(1,3)</a:t>
            </a:r>
            <a:endParaRPr lang="en-US" sz="860" b="0" u="none" strike="noStrike">
              <a:solidFill>
                <a:srgbClr val="000000"/>
              </a:solidFill>
              <a:effectLst/>
              <a:uFillTx/>
              <a:latin typeface="Arial"/>
            </a:endParaRPr>
          </a:p>
        </p:txBody>
      </p:sp>
      <p:sp>
        <p:nvSpPr>
          <p:cNvPr id="664" name="Shape 42"/>
          <p:cNvSpPr/>
          <p:nvPr/>
        </p:nvSpPr>
        <p:spPr>
          <a:xfrm>
            <a:off x="9811440" y="2633400"/>
            <a:ext cx="712080" cy="419400"/>
          </a:xfrm>
          <a:prstGeom prst="rect">
            <a:avLst/>
          </a:prstGeom>
          <a:solidFill>
            <a:srgbClr val="FFE8E8"/>
          </a:solidFill>
          <a:ln w="15240">
            <a:solidFill>
              <a:srgbClr val="A61B1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65" name="Text 43"/>
          <p:cNvSpPr/>
          <p:nvPr/>
        </p:nvSpPr>
        <p:spPr>
          <a:xfrm>
            <a:off x="9811440" y="276624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1" u="none" strike="noStrike">
                <a:solidFill>
                  <a:srgbClr val="A61B1B"/>
                </a:solidFill>
                <a:effectLst/>
                <a:uFillTx/>
                <a:latin typeface="Aptos"/>
              </a:rPr>
              <a:t>(1,4)</a:t>
            </a:r>
            <a:endParaRPr lang="en-US" sz="860" b="0" u="none" strike="noStrike">
              <a:solidFill>
                <a:srgbClr val="000000"/>
              </a:solidFill>
              <a:effectLst/>
              <a:uFillTx/>
              <a:latin typeface="Arial"/>
            </a:endParaRPr>
          </a:p>
        </p:txBody>
      </p:sp>
      <p:sp>
        <p:nvSpPr>
          <p:cNvPr id="666" name="Shape 44"/>
          <p:cNvSpPr/>
          <p:nvPr/>
        </p:nvSpPr>
        <p:spPr>
          <a:xfrm>
            <a:off x="10524600" y="263340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67" name="Text 45"/>
          <p:cNvSpPr/>
          <p:nvPr/>
        </p:nvSpPr>
        <p:spPr>
          <a:xfrm>
            <a:off x="10524600" y="276624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(1,5)</a:t>
            </a:r>
            <a:endParaRPr lang="en-US" sz="860" b="0" u="none" strike="noStrike">
              <a:solidFill>
                <a:srgbClr val="000000"/>
              </a:solidFill>
              <a:effectLst/>
              <a:uFillTx/>
              <a:latin typeface="Arial"/>
            </a:endParaRPr>
          </a:p>
        </p:txBody>
      </p:sp>
      <p:sp>
        <p:nvSpPr>
          <p:cNvPr id="668" name="Text 46"/>
          <p:cNvSpPr/>
          <p:nvPr/>
        </p:nvSpPr>
        <p:spPr>
          <a:xfrm>
            <a:off x="6583680" y="3173040"/>
            <a:ext cx="227520" cy="145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D2F5F"/>
                </a:solidFill>
                <a:effectLst/>
                <a:uFillTx/>
                <a:latin typeface="Aptos"/>
              </a:rPr>
              <a:t>2</a:t>
            </a:r>
            <a:endParaRPr lang="en-US" sz="950" b="0" u="none" strike="noStrike">
              <a:solidFill>
                <a:srgbClr val="000000"/>
              </a:solidFill>
              <a:effectLst/>
              <a:uFillTx/>
              <a:latin typeface="Arial"/>
            </a:endParaRPr>
          </a:p>
        </p:txBody>
      </p:sp>
      <p:sp>
        <p:nvSpPr>
          <p:cNvPr id="669" name="Shape 47"/>
          <p:cNvSpPr/>
          <p:nvPr/>
        </p:nvSpPr>
        <p:spPr>
          <a:xfrm>
            <a:off x="6958440" y="305424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70" name="Text 48"/>
          <p:cNvSpPr/>
          <p:nvPr/>
        </p:nvSpPr>
        <p:spPr>
          <a:xfrm>
            <a:off x="6958440" y="318672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(2,0)</a:t>
            </a:r>
            <a:endParaRPr lang="en-US" sz="860" b="0" u="none" strike="noStrike">
              <a:solidFill>
                <a:srgbClr val="000000"/>
              </a:solidFill>
              <a:effectLst/>
              <a:uFillTx/>
              <a:latin typeface="Arial"/>
            </a:endParaRPr>
          </a:p>
        </p:txBody>
      </p:sp>
      <p:sp>
        <p:nvSpPr>
          <p:cNvPr id="671" name="Shape 49"/>
          <p:cNvSpPr/>
          <p:nvPr/>
        </p:nvSpPr>
        <p:spPr>
          <a:xfrm>
            <a:off x="7671960" y="305424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72" name="Text 50"/>
          <p:cNvSpPr/>
          <p:nvPr/>
        </p:nvSpPr>
        <p:spPr>
          <a:xfrm>
            <a:off x="7671960" y="318672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(2,1)</a:t>
            </a:r>
            <a:endParaRPr lang="en-US" sz="860" b="0" u="none" strike="noStrike">
              <a:solidFill>
                <a:srgbClr val="000000"/>
              </a:solidFill>
              <a:effectLst/>
              <a:uFillTx/>
              <a:latin typeface="Arial"/>
            </a:endParaRPr>
          </a:p>
        </p:txBody>
      </p:sp>
      <p:sp>
        <p:nvSpPr>
          <p:cNvPr id="673" name="Shape 51"/>
          <p:cNvSpPr/>
          <p:nvPr/>
        </p:nvSpPr>
        <p:spPr>
          <a:xfrm>
            <a:off x="8385120" y="305424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74" name="Text 52"/>
          <p:cNvSpPr/>
          <p:nvPr/>
        </p:nvSpPr>
        <p:spPr>
          <a:xfrm>
            <a:off x="8385120" y="318672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(2,2)</a:t>
            </a:r>
            <a:endParaRPr lang="en-US" sz="860" b="0" u="none" strike="noStrike">
              <a:solidFill>
                <a:srgbClr val="000000"/>
              </a:solidFill>
              <a:effectLst/>
              <a:uFillTx/>
              <a:latin typeface="Arial"/>
            </a:endParaRPr>
          </a:p>
        </p:txBody>
      </p:sp>
      <p:sp>
        <p:nvSpPr>
          <p:cNvPr id="675" name="Shape 53"/>
          <p:cNvSpPr/>
          <p:nvPr/>
        </p:nvSpPr>
        <p:spPr>
          <a:xfrm>
            <a:off x="9098280" y="305424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76" name="Text 54"/>
          <p:cNvSpPr/>
          <p:nvPr/>
        </p:nvSpPr>
        <p:spPr>
          <a:xfrm>
            <a:off x="9098280" y="318672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(2,3)</a:t>
            </a:r>
            <a:endParaRPr lang="en-US" sz="860" b="0" u="none" strike="noStrike">
              <a:solidFill>
                <a:srgbClr val="000000"/>
              </a:solidFill>
              <a:effectLst/>
              <a:uFillTx/>
              <a:latin typeface="Arial"/>
            </a:endParaRPr>
          </a:p>
        </p:txBody>
      </p:sp>
      <p:sp>
        <p:nvSpPr>
          <p:cNvPr id="677" name="Shape 55"/>
          <p:cNvSpPr/>
          <p:nvPr/>
        </p:nvSpPr>
        <p:spPr>
          <a:xfrm>
            <a:off x="9811440" y="3054240"/>
            <a:ext cx="712080" cy="419400"/>
          </a:xfrm>
          <a:prstGeom prst="rect">
            <a:avLst/>
          </a:prstGeom>
          <a:solidFill>
            <a:srgbClr val="FFE8E8"/>
          </a:solidFill>
          <a:ln w="15240">
            <a:solidFill>
              <a:srgbClr val="A61B1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78" name="Text 56"/>
          <p:cNvSpPr/>
          <p:nvPr/>
        </p:nvSpPr>
        <p:spPr>
          <a:xfrm>
            <a:off x="9811440" y="318672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1" u="none" strike="noStrike">
                <a:solidFill>
                  <a:srgbClr val="A61B1B"/>
                </a:solidFill>
                <a:effectLst/>
                <a:uFillTx/>
                <a:latin typeface="Aptos"/>
              </a:rPr>
              <a:t>(2,4)</a:t>
            </a:r>
            <a:endParaRPr lang="en-US" sz="860" b="0" u="none" strike="noStrike">
              <a:solidFill>
                <a:srgbClr val="000000"/>
              </a:solidFill>
              <a:effectLst/>
              <a:uFillTx/>
              <a:latin typeface="Arial"/>
            </a:endParaRPr>
          </a:p>
        </p:txBody>
      </p:sp>
      <p:sp>
        <p:nvSpPr>
          <p:cNvPr id="679" name="Shape 57"/>
          <p:cNvSpPr/>
          <p:nvPr/>
        </p:nvSpPr>
        <p:spPr>
          <a:xfrm>
            <a:off x="10524600" y="305424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80" name="Text 58"/>
          <p:cNvSpPr/>
          <p:nvPr/>
        </p:nvSpPr>
        <p:spPr>
          <a:xfrm>
            <a:off x="10524600" y="318672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(2,5)</a:t>
            </a:r>
            <a:endParaRPr lang="en-US" sz="860" b="0" u="none" strike="noStrike">
              <a:solidFill>
                <a:srgbClr val="000000"/>
              </a:solidFill>
              <a:effectLst/>
              <a:uFillTx/>
              <a:latin typeface="Arial"/>
            </a:endParaRPr>
          </a:p>
        </p:txBody>
      </p:sp>
      <p:sp>
        <p:nvSpPr>
          <p:cNvPr id="681" name="Text 59"/>
          <p:cNvSpPr/>
          <p:nvPr/>
        </p:nvSpPr>
        <p:spPr>
          <a:xfrm>
            <a:off x="6583680" y="3593520"/>
            <a:ext cx="227520" cy="145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1" u="none" strike="noStrike">
                <a:solidFill>
                  <a:srgbClr val="0D2F5F"/>
                </a:solidFill>
                <a:effectLst/>
                <a:uFillTx/>
                <a:latin typeface="Aptos"/>
              </a:rPr>
              <a:t>3</a:t>
            </a:r>
            <a:endParaRPr lang="en-US" sz="950" b="0" u="none" strike="noStrike">
              <a:solidFill>
                <a:srgbClr val="000000"/>
              </a:solidFill>
              <a:effectLst/>
              <a:uFillTx/>
              <a:latin typeface="Arial"/>
            </a:endParaRPr>
          </a:p>
        </p:txBody>
      </p:sp>
      <p:sp>
        <p:nvSpPr>
          <p:cNvPr id="682" name="Shape 60"/>
          <p:cNvSpPr/>
          <p:nvPr/>
        </p:nvSpPr>
        <p:spPr>
          <a:xfrm>
            <a:off x="6958440" y="347472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83" name="Text 61"/>
          <p:cNvSpPr/>
          <p:nvPr/>
        </p:nvSpPr>
        <p:spPr>
          <a:xfrm>
            <a:off x="6958440" y="36072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(3,0)</a:t>
            </a:r>
            <a:endParaRPr lang="en-US" sz="860" b="0" u="none" strike="noStrike">
              <a:solidFill>
                <a:srgbClr val="000000"/>
              </a:solidFill>
              <a:effectLst/>
              <a:uFillTx/>
              <a:latin typeface="Arial"/>
            </a:endParaRPr>
          </a:p>
        </p:txBody>
      </p:sp>
      <p:sp>
        <p:nvSpPr>
          <p:cNvPr id="684" name="Shape 62"/>
          <p:cNvSpPr/>
          <p:nvPr/>
        </p:nvSpPr>
        <p:spPr>
          <a:xfrm>
            <a:off x="7671960" y="347472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85" name="Text 63"/>
          <p:cNvSpPr/>
          <p:nvPr/>
        </p:nvSpPr>
        <p:spPr>
          <a:xfrm>
            <a:off x="7671960" y="36072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(3,1)</a:t>
            </a:r>
            <a:endParaRPr lang="en-US" sz="860" b="0" u="none" strike="noStrike">
              <a:solidFill>
                <a:srgbClr val="000000"/>
              </a:solidFill>
              <a:effectLst/>
              <a:uFillTx/>
              <a:latin typeface="Arial"/>
            </a:endParaRPr>
          </a:p>
        </p:txBody>
      </p:sp>
      <p:sp>
        <p:nvSpPr>
          <p:cNvPr id="686" name="Shape 64"/>
          <p:cNvSpPr/>
          <p:nvPr/>
        </p:nvSpPr>
        <p:spPr>
          <a:xfrm>
            <a:off x="8385120" y="347472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87" name="Text 65"/>
          <p:cNvSpPr/>
          <p:nvPr/>
        </p:nvSpPr>
        <p:spPr>
          <a:xfrm>
            <a:off x="8385120" y="36072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(3,2)</a:t>
            </a:r>
            <a:endParaRPr lang="en-US" sz="860" b="0" u="none" strike="noStrike">
              <a:solidFill>
                <a:srgbClr val="000000"/>
              </a:solidFill>
              <a:effectLst/>
              <a:uFillTx/>
              <a:latin typeface="Arial"/>
            </a:endParaRPr>
          </a:p>
        </p:txBody>
      </p:sp>
      <p:sp>
        <p:nvSpPr>
          <p:cNvPr id="688" name="Shape 66"/>
          <p:cNvSpPr/>
          <p:nvPr/>
        </p:nvSpPr>
        <p:spPr>
          <a:xfrm>
            <a:off x="9098280" y="347472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89" name="Text 67"/>
          <p:cNvSpPr/>
          <p:nvPr/>
        </p:nvSpPr>
        <p:spPr>
          <a:xfrm>
            <a:off x="9098280" y="36072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(3,3)</a:t>
            </a:r>
            <a:endParaRPr lang="en-US" sz="860" b="0" u="none" strike="noStrike">
              <a:solidFill>
                <a:srgbClr val="000000"/>
              </a:solidFill>
              <a:effectLst/>
              <a:uFillTx/>
              <a:latin typeface="Arial"/>
            </a:endParaRPr>
          </a:p>
        </p:txBody>
      </p:sp>
      <p:sp>
        <p:nvSpPr>
          <p:cNvPr id="690" name="Shape 68"/>
          <p:cNvSpPr/>
          <p:nvPr/>
        </p:nvSpPr>
        <p:spPr>
          <a:xfrm>
            <a:off x="9811440" y="3474720"/>
            <a:ext cx="712080" cy="419400"/>
          </a:xfrm>
          <a:prstGeom prst="rect">
            <a:avLst/>
          </a:prstGeom>
          <a:solidFill>
            <a:srgbClr val="FFE8E8"/>
          </a:solidFill>
          <a:ln w="15240">
            <a:solidFill>
              <a:srgbClr val="A61B1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91" name="Text 69"/>
          <p:cNvSpPr/>
          <p:nvPr/>
        </p:nvSpPr>
        <p:spPr>
          <a:xfrm>
            <a:off x="9811440" y="36072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1" u="none" strike="noStrike">
                <a:solidFill>
                  <a:srgbClr val="A61B1B"/>
                </a:solidFill>
                <a:effectLst/>
                <a:uFillTx/>
                <a:latin typeface="Aptos"/>
              </a:rPr>
              <a:t>(3,4)</a:t>
            </a:r>
            <a:endParaRPr lang="en-US" sz="860" b="0" u="none" strike="noStrike">
              <a:solidFill>
                <a:srgbClr val="000000"/>
              </a:solidFill>
              <a:effectLst/>
              <a:uFillTx/>
              <a:latin typeface="Arial"/>
            </a:endParaRPr>
          </a:p>
        </p:txBody>
      </p:sp>
      <p:sp>
        <p:nvSpPr>
          <p:cNvPr id="692" name="Shape 70"/>
          <p:cNvSpPr/>
          <p:nvPr/>
        </p:nvSpPr>
        <p:spPr>
          <a:xfrm>
            <a:off x="10524600" y="3474720"/>
            <a:ext cx="712080" cy="419400"/>
          </a:xfrm>
          <a:prstGeom prst="rect">
            <a:avLst/>
          </a:prstGeom>
          <a:solidFill>
            <a:srgbClr val="FFFFFF"/>
          </a:solidFill>
          <a:ln w="8255">
            <a:solidFill>
              <a:srgbClr val="B9C8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93" name="Text 71"/>
          <p:cNvSpPr/>
          <p:nvPr/>
        </p:nvSpPr>
        <p:spPr>
          <a:xfrm>
            <a:off x="10524600" y="3607200"/>
            <a:ext cx="712080" cy="136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60" b="0" u="none" strike="noStrike">
                <a:solidFill>
                  <a:srgbClr val="102B4C"/>
                </a:solidFill>
                <a:effectLst/>
                <a:uFillTx/>
                <a:latin typeface="Aptos"/>
              </a:rPr>
              <a:t>(3,5)</a:t>
            </a:r>
            <a:endParaRPr lang="en-US" sz="860" b="0" u="none" strike="noStrike">
              <a:solidFill>
                <a:srgbClr val="000000"/>
              </a:solidFill>
              <a:effectLst/>
              <a:uFillTx/>
              <a:latin typeface="Arial"/>
            </a:endParaRPr>
          </a:p>
        </p:txBody>
      </p:sp>
      <p:sp>
        <p:nvSpPr>
          <p:cNvPr id="694" name="Text 72"/>
          <p:cNvSpPr/>
          <p:nvPr/>
        </p:nvSpPr>
        <p:spPr>
          <a:xfrm>
            <a:off x="6446520" y="4078080"/>
            <a:ext cx="2102040" cy="181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20" b="1" u="none" strike="noStrike">
                <a:solidFill>
                  <a:srgbClr val="A61B1B"/>
                </a:solidFill>
                <a:effectLst/>
                <a:uFillTx/>
                <a:latin typeface="Aptos"/>
              </a:rPr>
              <a:t>Goal column: b = 4</a:t>
            </a:r>
            <a:endParaRPr lang="en-US" sz="1020" b="0" u="none" strike="noStrike">
              <a:solidFill>
                <a:srgbClr val="000000"/>
              </a:solidFill>
              <a:effectLst/>
              <a:uFillTx/>
              <a:latin typeface="Arial"/>
            </a:endParaRPr>
          </a:p>
        </p:txBody>
      </p:sp>
      <p:sp>
        <p:nvSpPr>
          <p:cNvPr id="695" name="Text 73"/>
          <p:cNvSpPr/>
          <p:nvPr/>
        </p:nvSpPr>
        <p:spPr>
          <a:xfrm>
            <a:off x="8915400" y="4078080"/>
            <a:ext cx="2193480" cy="181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20" b="1" u="none" strike="noStrike">
                <a:solidFill>
                  <a:srgbClr val="1C6A3E"/>
                </a:solidFill>
                <a:effectLst/>
                <a:uFillTx/>
                <a:latin typeface="Aptos"/>
              </a:rPr>
              <a:t>Initial state: (0,0)</a:t>
            </a:r>
            <a:endParaRPr lang="en-US" sz="1020" b="0" u="none" strike="noStrike">
              <a:solidFill>
                <a:srgbClr val="000000"/>
              </a:solidFill>
              <a:effectLst/>
              <a:uFillTx/>
              <a:latin typeface="Arial"/>
            </a:endParaRPr>
          </a:p>
        </p:txBody>
      </p:sp>
      <p:sp>
        <p:nvSpPr>
          <p:cNvPr id="696" name="Shape 74"/>
          <p:cNvSpPr/>
          <p:nvPr/>
        </p:nvSpPr>
        <p:spPr>
          <a:xfrm>
            <a:off x="567000" y="4407480"/>
            <a:ext cx="3546720" cy="1023120"/>
          </a:xfrm>
          <a:prstGeom prst="roundRect">
            <a:avLst>
              <a:gd name="adj" fmla="val 7143"/>
            </a:avLst>
          </a:prstGeom>
          <a:solidFill>
            <a:srgbClr val="FFFFFF"/>
          </a:solidFill>
          <a:ln w="12700">
            <a:solidFill>
              <a:srgbClr val="CFD9E6"/>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97" name="Text 75"/>
          <p:cNvSpPr/>
          <p:nvPr/>
        </p:nvSpPr>
        <p:spPr>
          <a:xfrm>
            <a:off x="713160" y="4517280"/>
            <a:ext cx="3254040" cy="227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D2F5F"/>
                </a:solidFill>
                <a:effectLst/>
                <a:uFillTx/>
                <a:latin typeface="Aptos"/>
                <a:ea typeface="Aptos"/>
              </a:rPr>
              <a:t>Transition model</a:t>
            </a:r>
            <a:endParaRPr lang="en-US" sz="1250" b="0" u="none" strike="noStrike">
              <a:solidFill>
                <a:srgbClr val="000000"/>
              </a:solidFill>
              <a:effectLst/>
              <a:uFillTx/>
              <a:latin typeface="Arial"/>
            </a:endParaRPr>
          </a:p>
        </p:txBody>
      </p:sp>
      <p:sp>
        <p:nvSpPr>
          <p:cNvPr id="698" name="Text 76"/>
          <p:cNvSpPr/>
          <p:nvPr/>
        </p:nvSpPr>
        <p:spPr>
          <a:xfrm>
            <a:off x="713160" y="4837320"/>
            <a:ext cx="3254040" cy="49284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1070" b="0" u="none" strike="noStrike">
                <a:solidFill>
                  <a:srgbClr val="102B4C"/>
                </a:solidFill>
                <a:effectLst/>
                <a:uFillTx/>
                <a:latin typeface="Aptos"/>
                <a:ea typeface="Aptos"/>
              </a:rPr>
              <a:t>Fill: set one jug to capacity</a:t>
            </a:r>
            <a:endParaRPr lang="en-US" sz="1070" b="0" u="none" strike="noStrike">
              <a:solidFill>
                <a:srgbClr val="000000"/>
              </a:solidFill>
              <a:effectLst/>
              <a:uFillTx/>
              <a:latin typeface="Arial"/>
            </a:endParaRPr>
          </a:p>
          <a:p>
            <a:pPr defTabSz="914400">
              <a:lnSpc>
                <a:spcPct val="100000"/>
              </a:lnSpc>
              <a:tabLst>
                <a:tab pos="0" algn="l"/>
              </a:tabLst>
            </a:pPr>
            <a:r>
              <a:rPr lang="en-US" sz="1070" b="0" u="none" strike="noStrike">
                <a:solidFill>
                  <a:srgbClr val="102B4C"/>
                </a:solidFill>
                <a:effectLst/>
                <a:uFillTx/>
                <a:latin typeface="Aptos"/>
                <a:ea typeface="Aptos"/>
              </a:rPr>
              <a:t>Empty: set one jug to 0</a:t>
            </a:r>
            <a:endParaRPr lang="en-US" sz="1070" b="0" u="none" strike="noStrike">
              <a:solidFill>
                <a:srgbClr val="000000"/>
              </a:solidFill>
              <a:effectLst/>
              <a:uFillTx/>
              <a:latin typeface="Arial"/>
            </a:endParaRPr>
          </a:p>
          <a:p>
            <a:pPr defTabSz="914400">
              <a:lnSpc>
                <a:spcPct val="100000"/>
              </a:lnSpc>
              <a:tabLst>
                <a:tab pos="0" algn="l"/>
              </a:tabLst>
            </a:pPr>
            <a:r>
              <a:rPr lang="en-US" sz="1070" b="0" u="none" strike="noStrike">
                <a:solidFill>
                  <a:srgbClr val="102B4C"/>
                </a:solidFill>
                <a:effectLst/>
                <a:uFillTx/>
                <a:latin typeface="Aptos"/>
                <a:ea typeface="Aptos"/>
              </a:rPr>
              <a:t>Pour: move water until source is empty or destination is full</a:t>
            </a:r>
            <a:endParaRPr lang="en-US" sz="1070" b="0" u="none" strike="noStrike">
              <a:solidFill>
                <a:srgbClr val="000000"/>
              </a:solidFill>
              <a:effectLst/>
              <a:uFillTx/>
              <a:latin typeface="Arial"/>
            </a:endParaRPr>
          </a:p>
        </p:txBody>
      </p:sp>
      <p:sp>
        <p:nvSpPr>
          <p:cNvPr id="699" name="Shape 77"/>
          <p:cNvSpPr/>
          <p:nvPr/>
        </p:nvSpPr>
        <p:spPr>
          <a:xfrm>
            <a:off x="4352400" y="4407480"/>
            <a:ext cx="3702240" cy="1023120"/>
          </a:xfrm>
          <a:prstGeom prst="roundRect">
            <a:avLst>
              <a:gd name="adj" fmla="val 7143"/>
            </a:avLst>
          </a:prstGeom>
          <a:solidFill>
            <a:srgbClr val="FFFFFF"/>
          </a:solidFill>
          <a:ln w="12700">
            <a:solidFill>
              <a:srgbClr val="CFD9E6"/>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700" name="Text 78"/>
          <p:cNvSpPr/>
          <p:nvPr/>
        </p:nvSpPr>
        <p:spPr>
          <a:xfrm>
            <a:off x="4498920" y="4517280"/>
            <a:ext cx="3409560" cy="227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D2F5F"/>
                </a:solidFill>
                <a:effectLst/>
                <a:uFillTx/>
                <a:latin typeface="Aptos"/>
                <a:ea typeface="Aptos"/>
              </a:rPr>
              <a:t>Pour equations</a:t>
            </a:r>
            <a:endParaRPr lang="en-US" sz="1250" b="0" u="none" strike="noStrike">
              <a:solidFill>
                <a:srgbClr val="000000"/>
              </a:solidFill>
              <a:effectLst/>
              <a:uFillTx/>
              <a:latin typeface="Arial"/>
            </a:endParaRPr>
          </a:p>
        </p:txBody>
      </p:sp>
      <p:sp>
        <p:nvSpPr>
          <p:cNvPr id="701" name="Text 79"/>
          <p:cNvSpPr/>
          <p:nvPr/>
        </p:nvSpPr>
        <p:spPr>
          <a:xfrm>
            <a:off x="4498920" y="4837320"/>
            <a:ext cx="3409560" cy="4928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50" b="0" u="none" strike="noStrike">
                <a:solidFill>
                  <a:srgbClr val="102B4C"/>
                </a:solidFill>
                <a:effectLst/>
                <a:uFillTx/>
                <a:latin typeface="Aptos"/>
                <a:ea typeface="Aptos"/>
              </a:rPr>
              <a:t>A→B: t = min(a, 5 − b), next = (a − t, b + t)</a:t>
            </a:r>
            <a:endParaRPr lang="en-US"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102B4C"/>
                </a:solidFill>
                <a:effectLst/>
                <a:uFillTx/>
                <a:latin typeface="Aptos"/>
                <a:ea typeface="Aptos"/>
              </a:rPr>
              <a:t>B→A: t = min(b, 3 − a), next = (a + t, b − t)</a:t>
            </a:r>
            <a:endParaRPr lang="en-US" sz="1050" b="0" u="none" strike="noStrike">
              <a:solidFill>
                <a:srgbClr val="000000"/>
              </a:solidFill>
              <a:effectLst/>
              <a:uFillTx/>
              <a:latin typeface="Arial"/>
            </a:endParaRPr>
          </a:p>
        </p:txBody>
      </p:sp>
      <p:sp>
        <p:nvSpPr>
          <p:cNvPr id="702" name="Shape 80"/>
          <p:cNvSpPr/>
          <p:nvPr/>
        </p:nvSpPr>
        <p:spPr>
          <a:xfrm>
            <a:off x="8302680" y="4407480"/>
            <a:ext cx="3309120" cy="1023120"/>
          </a:xfrm>
          <a:prstGeom prst="roundRect">
            <a:avLst>
              <a:gd name="adj" fmla="val 7143"/>
            </a:avLst>
          </a:prstGeom>
          <a:solidFill>
            <a:srgbClr val="FFFFFF"/>
          </a:solidFill>
          <a:ln w="12700">
            <a:solidFill>
              <a:srgbClr val="CFD9E6"/>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703" name="Text 81"/>
          <p:cNvSpPr/>
          <p:nvPr/>
        </p:nvSpPr>
        <p:spPr>
          <a:xfrm>
            <a:off x="8449200" y="4517280"/>
            <a:ext cx="3016440" cy="227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D2F5F"/>
                </a:solidFill>
                <a:effectLst/>
                <a:uFillTx/>
                <a:latin typeface="Aptos"/>
                <a:ea typeface="Aptos"/>
              </a:rPr>
              <a:t>Goal and cost</a:t>
            </a:r>
            <a:endParaRPr lang="en-US" sz="1250" b="0" u="none" strike="noStrike">
              <a:solidFill>
                <a:srgbClr val="000000"/>
              </a:solidFill>
              <a:effectLst/>
              <a:uFillTx/>
              <a:latin typeface="Arial"/>
            </a:endParaRPr>
          </a:p>
        </p:txBody>
      </p:sp>
      <p:sp>
        <p:nvSpPr>
          <p:cNvPr id="704" name="Text 82"/>
          <p:cNvSpPr/>
          <p:nvPr/>
        </p:nvSpPr>
        <p:spPr>
          <a:xfrm>
            <a:off x="8449200" y="4837320"/>
            <a:ext cx="3016440" cy="49284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1100" b="0" u="none" strike="noStrike">
                <a:solidFill>
                  <a:srgbClr val="102B4C"/>
                </a:solidFill>
                <a:effectLst/>
                <a:uFillTx/>
                <a:latin typeface="Aptos"/>
                <a:ea typeface="Aptos"/>
              </a:rPr>
              <a:t>Goal test: b = 4</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102B4C"/>
                </a:solidFill>
                <a:effectLst/>
                <a:uFillTx/>
                <a:latin typeface="Aptos"/>
                <a:ea typeface="Aptos"/>
              </a:rPr>
              <a:t>Cost: 1 per action</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102B4C"/>
                </a:solidFill>
                <a:effectLst/>
                <a:uFillTx/>
                <a:latin typeface="Aptos"/>
                <a:ea typeface="Aptos"/>
              </a:rPr>
              <a:t>Path cost = number of actions</a:t>
            </a:r>
            <a:endParaRPr lang="en-US" sz="1100" b="0" u="none" strike="noStrike">
              <a:solidFill>
                <a:srgbClr val="000000"/>
              </a:solidFill>
              <a:effectLst/>
              <a:uFillTx/>
              <a:latin typeface="Arial"/>
            </a:endParaRPr>
          </a:p>
        </p:txBody>
      </p:sp>
      <p:sp>
        <p:nvSpPr>
          <p:cNvPr id="705" name="Shape 83"/>
          <p:cNvSpPr/>
          <p:nvPr/>
        </p:nvSpPr>
        <p:spPr>
          <a:xfrm>
            <a:off x="567000" y="5650920"/>
            <a:ext cx="11044800" cy="675720"/>
          </a:xfrm>
          <a:prstGeom prst="roundRect">
            <a:avLst>
              <a:gd name="adj" fmla="val 10811"/>
            </a:avLst>
          </a:prstGeom>
          <a:solidFill>
            <a:srgbClr val="FFF5E0"/>
          </a:solidFill>
          <a:ln w="12700">
            <a:solidFill>
              <a:srgbClr val="F6A21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706" name="Text 84"/>
          <p:cNvSpPr/>
          <p:nvPr/>
        </p:nvSpPr>
        <p:spPr>
          <a:xfrm>
            <a:off x="786240" y="5797440"/>
            <a:ext cx="1644840" cy="163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80" b="1" u="none" strike="noStrike">
                <a:solidFill>
                  <a:srgbClr val="0D2F5F"/>
                </a:solidFill>
                <a:effectLst/>
                <a:uFillTx/>
                <a:latin typeface="Aptos"/>
              </a:rPr>
              <a:t>Shortest 6-action path:</a:t>
            </a:r>
            <a:endParaRPr lang="en-US" sz="1080" b="0" u="none" strike="noStrike">
              <a:solidFill>
                <a:srgbClr val="000000"/>
              </a:solidFill>
              <a:effectLst/>
              <a:uFillTx/>
              <a:latin typeface="Arial"/>
            </a:endParaRPr>
          </a:p>
        </p:txBody>
      </p:sp>
      <p:sp>
        <p:nvSpPr>
          <p:cNvPr id="707" name="Text 85"/>
          <p:cNvSpPr/>
          <p:nvPr/>
        </p:nvSpPr>
        <p:spPr>
          <a:xfrm>
            <a:off x="2651760" y="5760720"/>
            <a:ext cx="7817040" cy="209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102B4C"/>
                </a:solidFill>
                <a:effectLst/>
                <a:uFillTx/>
                <a:latin typeface="Aptos"/>
              </a:rPr>
              <a:t>(0,0) → (0,5) → (3,2) → (0,2) → (2,0) → (2,5) → (3,4)</a:t>
            </a:r>
            <a:endParaRPr lang="en-US" sz="1200" b="0" u="none" strike="noStrike">
              <a:solidFill>
                <a:srgbClr val="000000"/>
              </a:solidFill>
              <a:effectLst/>
              <a:uFillTx/>
              <a:latin typeface="Arial"/>
            </a:endParaRPr>
          </a:p>
        </p:txBody>
      </p:sp>
      <p:sp>
        <p:nvSpPr>
          <p:cNvPr id="708" name="Text 86"/>
          <p:cNvSpPr/>
          <p:nvPr/>
        </p:nvSpPr>
        <p:spPr>
          <a:xfrm>
            <a:off x="786240" y="6044040"/>
            <a:ext cx="5302440" cy="15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39" b="0" u="none" strike="noStrike">
                <a:solidFill>
                  <a:srgbClr val="506987"/>
                </a:solidFill>
                <a:effectLst/>
                <a:uFillTx/>
                <a:latin typeface="Aptos"/>
              </a:rPr>
              <a:t>At (3,4), the 5-litre jug contains exactly 4 litres.</a:t>
            </a:r>
            <a:endParaRPr lang="en-US" sz="939" b="0" u="none" strike="noStrike">
              <a:solidFill>
                <a:srgbClr val="000000"/>
              </a:solidFill>
              <a:effectLst/>
              <a:uFillTx/>
              <a:latin typeface="Arial"/>
            </a:endParaRPr>
          </a:p>
        </p:txBody>
      </p:sp>
      <p:sp>
        <p:nvSpPr>
          <p:cNvPr id="709" name="Text 87"/>
          <p:cNvSpPr/>
          <p:nvPr/>
        </p:nvSpPr>
        <p:spPr>
          <a:xfrm>
            <a:off x="6263640" y="6044040"/>
            <a:ext cx="5028120" cy="154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39" b="1" u="none" strike="noStrike">
                <a:solidFill>
                  <a:srgbClr val="A61B1B"/>
                </a:solidFill>
                <a:effectLst/>
                <a:uFillTx/>
                <a:latin typeface="Aptos"/>
              </a:rPr>
              <a:t>The target value 4 is not stored separately; it is checked by the goal test.</a:t>
            </a:r>
            <a:endParaRPr lang="en-US" sz="93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2E5C"/>
        </a:solidFill>
      </p:bgPr>
    </p:bg>
    <p:spTree>
      <p:nvGrpSpPr>
        <p:cNvPr id="1" name=""/>
        <p:cNvGrpSpPr/>
        <p:nvPr/>
      </p:nvGrpSpPr>
      <p:grpSpPr>
        <a:xfrm>
          <a:off x="0" y="0"/>
          <a:ext cx="0" cy="0"/>
          <a:chOff x="0" y="0"/>
          <a:chExt cx="0" cy="0"/>
        </a:xfrm>
      </p:grpSpPr>
      <p:sp>
        <p:nvSpPr>
          <p:cNvPr id="710" name="Shape 0"/>
          <p:cNvSpPr/>
          <p:nvPr/>
        </p:nvSpPr>
        <p:spPr>
          <a:xfrm>
            <a:off x="0" y="0"/>
            <a:ext cx="12190320" cy="685656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11" name="Shape 1"/>
          <p:cNvSpPr/>
          <p:nvPr/>
        </p:nvSpPr>
        <p:spPr>
          <a:xfrm>
            <a:off x="0" y="5440680"/>
            <a:ext cx="12190320" cy="108360"/>
          </a:xfrm>
          <a:prstGeom prst="rect">
            <a:avLst/>
          </a:prstGeom>
          <a:solidFill>
            <a:srgbClr val="F6A01A"/>
          </a:solidFill>
          <a:ln w="1270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2" name="Text 2"/>
          <p:cNvSpPr/>
          <p:nvPr/>
        </p:nvSpPr>
        <p:spPr>
          <a:xfrm>
            <a:off x="914400" y="2240280"/>
            <a:ext cx="10331280" cy="501480"/>
          </a:xfrm>
          <a:prstGeom prst="rect">
            <a:avLst/>
          </a:prstGeom>
          <a:noFill/>
          <a:ln w="0">
            <a:noFill/>
          </a:ln>
        </p:spPr>
        <p:style>
          <a:lnRef idx="0"/>
          <a:fillRef idx="0"/>
          <a:effectRef idx="0"/>
          <a:fontRef idx="minor"/>
        </p:style>
        <p:txBody>
          <a:bodyPr lIns="720" tIns="720" rIns="720" bIns="720" anchor="ctr">
            <a:normAutofit lnSpcReduction="9999"/>
          </a:bodyPr>
          <a:p>
            <a:pPr algn="ctr" defTabSz="914400">
              <a:lnSpc>
                <a:spcPct val="100000"/>
              </a:lnSpc>
              <a:tabLst>
                <a:tab pos="0" algn="l"/>
              </a:tabLst>
            </a:pPr>
            <a:r>
              <a:rPr lang="en-US" sz="3600" b="1" u="none" strike="noStrike">
                <a:solidFill>
                  <a:srgbClr val="FFFFFF"/>
                </a:solidFill>
                <a:effectLst/>
                <a:uFillTx/>
                <a:latin typeface="Aptos"/>
              </a:rPr>
              <a:t>Section 3.3</a:t>
            </a:r>
            <a:endParaRPr lang="en-US" sz="3600" b="0" u="none" strike="noStrike">
              <a:solidFill>
                <a:srgbClr val="FFFFFF"/>
              </a:solidFill>
              <a:effectLst/>
              <a:uFillTx/>
              <a:latin typeface="Arial"/>
            </a:endParaRPr>
          </a:p>
        </p:txBody>
      </p:sp>
      <p:sp>
        <p:nvSpPr>
          <p:cNvPr id="713" name="Text 3"/>
          <p:cNvSpPr/>
          <p:nvPr/>
        </p:nvSpPr>
        <p:spPr>
          <a:xfrm>
            <a:off x="914400" y="2971800"/>
            <a:ext cx="10331280" cy="3643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700" b="0" u="none" strike="noStrike">
                <a:solidFill>
                  <a:srgbClr val="DCE8FF"/>
                </a:solidFill>
                <a:effectLst/>
                <a:uFillTx/>
                <a:latin typeface="Aptos"/>
              </a:rPr>
              <a:t>Search Algorithms: state space, search tree, frontier, reached table</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714"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15"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716"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State Space Graph vs. Search Tree</a:t>
            </a:r>
            <a:endParaRPr lang="en-US" sz="2600" b="0" u="none" strike="noStrike">
              <a:solidFill>
                <a:srgbClr val="000000"/>
              </a:solidFill>
              <a:effectLst/>
              <a:uFillTx/>
              <a:latin typeface="Arial"/>
            </a:endParaRPr>
          </a:p>
        </p:txBody>
      </p:sp>
      <p:sp>
        <p:nvSpPr>
          <p:cNvPr id="717"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18"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19" name="Text 5"/>
          <p:cNvSpPr/>
          <p:nvPr/>
        </p:nvSpPr>
        <p:spPr>
          <a:xfrm>
            <a:off x="777240" y="1325880"/>
            <a:ext cx="4021920" cy="50148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2F7FD5"/>
                </a:solidFill>
                <a:effectLst/>
                <a:uFillTx/>
                <a:latin typeface="Aptos"/>
              </a:rPr>
              <a:t>State space graph</a:t>
            </a:r>
            <a:endParaRPr lang="en-US" sz="1700" b="0" u="none" strike="noStrike">
              <a:solidFill>
                <a:srgbClr val="000000"/>
              </a:solidFill>
              <a:effectLst/>
              <a:uFillTx/>
              <a:latin typeface="Arial"/>
            </a:endParaRPr>
          </a:p>
        </p:txBody>
      </p:sp>
      <p:sp>
        <p:nvSpPr>
          <p:cNvPr id="720" name="Text 6"/>
          <p:cNvSpPr/>
          <p:nvPr/>
        </p:nvSpPr>
        <p:spPr>
          <a:xfrm>
            <a:off x="914400" y="1965960"/>
            <a:ext cx="3747600" cy="23760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500" b="0" u="none" strike="noStrike">
                <a:solidFill>
                  <a:srgbClr val="102A4C"/>
                </a:solidFill>
                <a:effectLst/>
                <a:uFillTx/>
                <a:latin typeface="Aptos"/>
              </a:rPr>
              <a:t>States are vertices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Actions are directed edges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Each state appears once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Usually too large to build fully</a:t>
            </a:r>
            <a:endParaRPr lang="en-US" sz="1500" b="0" u="none" strike="noStrike">
              <a:solidFill>
                <a:srgbClr val="000000"/>
              </a:solidFill>
              <a:effectLst/>
              <a:uFillTx/>
              <a:latin typeface="Arial"/>
            </a:endParaRPr>
          </a:p>
        </p:txBody>
      </p:sp>
      <p:sp>
        <p:nvSpPr>
          <p:cNvPr id="721" name="Text 7"/>
          <p:cNvSpPr/>
          <p:nvPr/>
        </p:nvSpPr>
        <p:spPr>
          <a:xfrm>
            <a:off x="7406640" y="1325880"/>
            <a:ext cx="4021920" cy="501480"/>
          </a:xfrm>
          <a:prstGeom prst="roundRect">
            <a:avLst>
              <a:gd name="adj" fmla="val 14545"/>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112E5C"/>
                </a:solidFill>
                <a:effectLst/>
                <a:uFillTx/>
                <a:latin typeface="Aptos"/>
              </a:rPr>
              <a:t>Search tree</a:t>
            </a:r>
            <a:endParaRPr lang="en-US" sz="1700" b="0" u="none" strike="noStrike">
              <a:solidFill>
                <a:srgbClr val="000000"/>
              </a:solidFill>
              <a:effectLst/>
              <a:uFillTx/>
              <a:latin typeface="Arial"/>
            </a:endParaRPr>
          </a:p>
        </p:txBody>
      </p:sp>
      <p:sp>
        <p:nvSpPr>
          <p:cNvPr id="722" name="Text 8"/>
          <p:cNvSpPr/>
          <p:nvPr/>
        </p:nvSpPr>
        <p:spPr>
          <a:xfrm>
            <a:off x="7543800" y="1965960"/>
            <a:ext cx="3747600" cy="23760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500" b="0" u="none" strike="noStrike">
                <a:solidFill>
                  <a:srgbClr val="102A4C"/>
                </a:solidFill>
                <a:effectLst/>
                <a:uFillTx/>
                <a:latin typeface="Aptos"/>
              </a:rPr>
              <a:t>Nodes represent paths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Root is the initial state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Children are successors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Same state can appear many times</a:t>
            </a:r>
            <a:endParaRPr lang="en-US" sz="1500" b="0" u="none" strike="noStrike">
              <a:solidFill>
                <a:srgbClr val="000000"/>
              </a:solidFill>
              <a:effectLst/>
              <a:uFillTx/>
              <a:latin typeface="Arial"/>
            </a:endParaRPr>
          </a:p>
        </p:txBody>
      </p:sp>
      <p:sp>
        <p:nvSpPr>
          <p:cNvPr id="723" name="Shape 9"/>
          <p:cNvSpPr/>
          <p:nvPr/>
        </p:nvSpPr>
        <p:spPr>
          <a:xfrm>
            <a:off x="3995640" y="3154320"/>
            <a:ext cx="2816280" cy="360"/>
          </a:xfrm>
          <a:prstGeom prst="line">
            <a:avLst/>
          </a:prstGeom>
          <a:ln w="2540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24" name="Text 10"/>
          <p:cNvSpPr/>
          <p:nvPr/>
        </p:nvSpPr>
        <p:spPr>
          <a:xfrm>
            <a:off x="2743200" y="4846320"/>
            <a:ext cx="6765120" cy="50148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900" b="1" u="none" strike="noStrike">
                <a:solidFill>
                  <a:srgbClr val="112E5C"/>
                </a:solidFill>
                <a:effectLst/>
                <a:uFillTx/>
                <a:latin typeface="Aptos"/>
              </a:rPr>
              <a:t>Search overlays a tree of possible plans on top of the state-space graph.</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725" name="Shape 7"/>
          <p:cNvSpPr/>
          <p:nvPr/>
        </p:nvSpPr>
        <p:spPr>
          <a:xfrm>
            <a:off x="2457720" y="2327040"/>
            <a:ext cx="223560" cy="6904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26" name="Shape 10"/>
          <p:cNvSpPr/>
          <p:nvPr/>
        </p:nvSpPr>
        <p:spPr>
          <a:xfrm flipV="1">
            <a:off x="2933280" y="1869840"/>
            <a:ext cx="481680" cy="1548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27" name="Shape 7"/>
          <p:cNvSpPr/>
          <p:nvPr/>
        </p:nvSpPr>
        <p:spPr>
          <a:xfrm flipV="1">
            <a:off x="1913040" y="2327040"/>
            <a:ext cx="462240" cy="2174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28"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29"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730"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Build: State Space Graph</a:t>
            </a:r>
            <a:endParaRPr lang="en-US" sz="2600" b="0" u="none" strike="noStrike">
              <a:solidFill>
                <a:srgbClr val="000000"/>
              </a:solidFill>
              <a:effectLst/>
              <a:uFillTx/>
              <a:latin typeface="Arial"/>
            </a:endParaRPr>
          </a:p>
        </p:txBody>
      </p:sp>
      <p:sp>
        <p:nvSpPr>
          <p:cNvPr id="731"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32"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33" name="Text 34"/>
          <p:cNvSpPr/>
          <p:nvPr/>
        </p:nvSpPr>
        <p:spPr>
          <a:xfrm>
            <a:off x="6858000" y="1828800"/>
            <a:ext cx="4387680" cy="82152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2000" b="1" u="none" strike="noStrike">
                <a:solidFill>
                  <a:srgbClr val="102A4C"/>
                </a:solidFill>
                <a:effectLst/>
                <a:uFillTx/>
                <a:latin typeface="Aptos"/>
              </a:rPr>
              <a:t>Graph view: one node per abstract state, arcs represent action results.</a:t>
            </a:r>
            <a:endParaRPr lang="en-US" sz="2000" b="0" u="none" strike="noStrike">
              <a:solidFill>
                <a:srgbClr val="000000"/>
              </a:solidFill>
              <a:effectLst/>
              <a:uFillTx/>
              <a:latin typeface="Arial"/>
            </a:endParaRPr>
          </a:p>
        </p:txBody>
      </p:sp>
      <p:sp>
        <p:nvSpPr>
          <p:cNvPr id="734" name="Text 35"/>
          <p:cNvSpPr/>
          <p:nvPr/>
        </p:nvSpPr>
        <p:spPr>
          <a:xfrm>
            <a:off x="6903720" y="3017520"/>
            <a:ext cx="4296240" cy="10958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5C6B80"/>
                </a:solidFill>
                <a:effectLst/>
                <a:uFillTx/>
                <a:latin typeface="Aptos"/>
              </a:rPr>
              <a:t>This graph is a mathematical representation of the problem. We rarely store the whole thing in memory.</a:t>
            </a:r>
            <a:endParaRPr lang="en-US" sz="1600" b="0" u="none" strike="noStrike">
              <a:solidFill>
                <a:srgbClr val="000000"/>
              </a:solidFill>
              <a:effectLst/>
              <a:uFillTx/>
              <a:latin typeface="Arial"/>
            </a:endParaRPr>
          </a:p>
        </p:txBody>
      </p:sp>
      <p:sp>
        <p:nvSpPr>
          <p:cNvPr id="735" name="Shape 21"/>
          <p:cNvSpPr/>
          <p:nvPr/>
        </p:nvSpPr>
        <p:spPr>
          <a:xfrm flipH="1" flipV="1">
            <a:off x="4096080" y="1998000"/>
            <a:ext cx="525600" cy="7196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36" name="Shape 8"/>
          <p:cNvSpPr/>
          <p:nvPr/>
        </p:nvSpPr>
        <p:spPr>
          <a:xfrm>
            <a:off x="3889440" y="2493360"/>
            <a:ext cx="670320" cy="2458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37" name="Shape 8"/>
          <p:cNvSpPr/>
          <p:nvPr/>
        </p:nvSpPr>
        <p:spPr>
          <a:xfrm flipH="1">
            <a:off x="3034080" y="3124080"/>
            <a:ext cx="374760" cy="1043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38" name="Shape 8"/>
          <p:cNvSpPr/>
          <p:nvPr/>
        </p:nvSpPr>
        <p:spPr>
          <a:xfrm>
            <a:off x="3420720" y="3107520"/>
            <a:ext cx="42840" cy="1441080"/>
          </a:xfrm>
          <a:prstGeom prst="line">
            <a:avLst/>
          </a:prstGeom>
          <a:ln w="13970">
            <a:solidFill>
              <a:srgbClr val="5C6B80"/>
            </a:solidFill>
            <a:round/>
            <a:tailEnd len="med" type="triangle" w="med"/>
          </a:ln>
        </p:spPr>
        <p:style>
          <a:lnRef idx="0"/>
          <a:fillRef idx="0"/>
          <a:effectRef idx="0"/>
          <a:fontRef idx="minor"/>
        </p:style>
        <p:txBody>
          <a:bodyPr lIns="21240" tIns="45000" rIns="21240" bIns="45000" anchor="t" anchorCtr="1">
            <a:noAutofit/>
          </a:bodyPr>
          <a:p>
            <a:endParaRPr lang="en-US" sz="1800" b="0" u="none" strike="noStrike">
              <a:solidFill>
                <a:srgbClr val="000000"/>
              </a:solidFill>
              <a:effectLst/>
              <a:uFillTx/>
              <a:latin typeface="Arial"/>
            </a:endParaRPr>
          </a:p>
        </p:txBody>
      </p:sp>
      <p:sp>
        <p:nvSpPr>
          <p:cNvPr id="739" name="Shape 8"/>
          <p:cNvSpPr/>
          <p:nvPr/>
        </p:nvSpPr>
        <p:spPr>
          <a:xfrm>
            <a:off x="1981080" y="2691720"/>
            <a:ext cx="636120" cy="3679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0" name="Shape 8"/>
          <p:cNvSpPr/>
          <p:nvPr/>
        </p:nvSpPr>
        <p:spPr>
          <a:xfrm flipH="1">
            <a:off x="2650680" y="2024640"/>
            <a:ext cx="1358640" cy="10036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1" name="Shape 14"/>
          <p:cNvSpPr/>
          <p:nvPr/>
        </p:nvSpPr>
        <p:spPr>
          <a:xfrm flipV="1">
            <a:off x="2724120" y="2469600"/>
            <a:ext cx="1018800" cy="611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2" name="Shape 14"/>
          <p:cNvSpPr/>
          <p:nvPr/>
        </p:nvSpPr>
        <p:spPr>
          <a:xfrm flipV="1">
            <a:off x="2725200" y="3028320"/>
            <a:ext cx="695160" cy="79200"/>
          </a:xfrm>
          <a:prstGeom prst="line">
            <a:avLst/>
          </a:prstGeom>
          <a:ln w="13970">
            <a:solidFill>
              <a:srgbClr val="5C6B80"/>
            </a:solidFill>
            <a:round/>
            <a:tailEnd len="med" type="triangle" w="med"/>
          </a:ln>
        </p:spPr>
        <p:style>
          <a:lnRef idx="0"/>
          <a:fillRef idx="0"/>
          <a:effectRef idx="0"/>
          <a:fontRef idx="minor"/>
        </p:style>
        <p:txBody>
          <a:bodyPr lIns="90000" tIns="39600" rIns="90000" bIns="39600" anchor="t" anchorCtr="1">
            <a:noAutofit/>
          </a:bodyPr>
          <a:p>
            <a:endParaRPr lang="en-US" sz="1800" b="0" u="none" strike="noStrike">
              <a:solidFill>
                <a:srgbClr val="000000"/>
              </a:solidFill>
              <a:effectLst/>
              <a:uFillTx/>
              <a:latin typeface="Arial"/>
            </a:endParaRPr>
          </a:p>
        </p:txBody>
      </p:sp>
      <p:sp>
        <p:nvSpPr>
          <p:cNvPr id="743" name="Shape 6"/>
          <p:cNvSpPr/>
          <p:nvPr/>
        </p:nvSpPr>
        <p:spPr>
          <a:xfrm>
            <a:off x="1857240" y="2622600"/>
            <a:ext cx="975240" cy="15822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4" name="Shape 7"/>
          <p:cNvSpPr/>
          <p:nvPr/>
        </p:nvSpPr>
        <p:spPr>
          <a:xfrm flipV="1">
            <a:off x="2427840" y="2072160"/>
            <a:ext cx="462600" cy="2174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5" name="Shape 8"/>
          <p:cNvSpPr/>
          <p:nvPr/>
        </p:nvSpPr>
        <p:spPr>
          <a:xfrm flipV="1">
            <a:off x="2427840" y="2024640"/>
            <a:ext cx="1668960" cy="2649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6" name="Shape 10"/>
          <p:cNvSpPr/>
          <p:nvPr/>
        </p:nvSpPr>
        <p:spPr>
          <a:xfrm flipV="1">
            <a:off x="2927160" y="1873440"/>
            <a:ext cx="481680" cy="1548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7" name="Shape 16"/>
          <p:cNvSpPr/>
          <p:nvPr/>
        </p:nvSpPr>
        <p:spPr>
          <a:xfrm>
            <a:off x="2960640" y="4290480"/>
            <a:ext cx="523080" cy="404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8" name="Shape 21"/>
          <p:cNvSpPr/>
          <p:nvPr/>
        </p:nvSpPr>
        <p:spPr>
          <a:xfrm flipV="1">
            <a:off x="4615560" y="2235960"/>
            <a:ext cx="392400" cy="4816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49" name="Text 24"/>
          <p:cNvSpPr/>
          <p:nvPr/>
        </p:nvSpPr>
        <p:spPr>
          <a:xfrm>
            <a:off x="2814480" y="41446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750" name="Text 25"/>
          <p:cNvSpPr/>
          <p:nvPr/>
        </p:nvSpPr>
        <p:spPr>
          <a:xfrm>
            <a:off x="2781360" y="18824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751" name="Text 26"/>
          <p:cNvSpPr/>
          <p:nvPr/>
        </p:nvSpPr>
        <p:spPr>
          <a:xfrm>
            <a:off x="3967200" y="18684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752" name="Text 28"/>
          <p:cNvSpPr/>
          <p:nvPr/>
        </p:nvSpPr>
        <p:spPr>
          <a:xfrm>
            <a:off x="3280680" y="28810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753" name="Text 29"/>
          <p:cNvSpPr/>
          <p:nvPr/>
        </p:nvSpPr>
        <p:spPr>
          <a:xfrm>
            <a:off x="3337560" y="45489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754" name="Text 31"/>
          <p:cNvSpPr/>
          <p:nvPr/>
        </p:nvSpPr>
        <p:spPr>
          <a:xfrm>
            <a:off x="3602880" y="2327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755" name="Text 32"/>
          <p:cNvSpPr/>
          <p:nvPr/>
        </p:nvSpPr>
        <p:spPr>
          <a:xfrm>
            <a:off x="4469400" y="25718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756" name="Text 33"/>
          <p:cNvSpPr/>
          <p:nvPr/>
        </p:nvSpPr>
        <p:spPr>
          <a:xfrm>
            <a:off x="4873680" y="20725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757" name="Text 28"/>
          <p:cNvSpPr/>
          <p:nvPr/>
        </p:nvSpPr>
        <p:spPr>
          <a:xfrm>
            <a:off x="1697760" y="24465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758" name="Text 30"/>
          <p:cNvSpPr/>
          <p:nvPr/>
        </p:nvSpPr>
        <p:spPr>
          <a:xfrm>
            <a:off x="3310560" y="17125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759" name="Text 28"/>
          <p:cNvSpPr/>
          <p:nvPr/>
        </p:nvSpPr>
        <p:spPr>
          <a:xfrm>
            <a:off x="2282040" y="21481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760" name="Text 28"/>
          <p:cNvSpPr/>
          <p:nvPr/>
        </p:nvSpPr>
        <p:spPr>
          <a:xfrm>
            <a:off x="2503080" y="2885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761"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62"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763"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Build: Search Tree Root and First Frontier</a:t>
            </a:r>
            <a:endParaRPr lang="en-US" sz="2600" b="0" u="none" strike="noStrike">
              <a:solidFill>
                <a:srgbClr val="000000"/>
              </a:solidFill>
              <a:effectLst/>
              <a:uFillTx/>
              <a:latin typeface="Arial"/>
            </a:endParaRPr>
          </a:p>
        </p:txBody>
      </p:sp>
      <p:sp>
        <p:nvSpPr>
          <p:cNvPr id="764"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65"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66" name="Shape 34"/>
          <p:cNvSpPr/>
          <p:nvPr/>
        </p:nvSpPr>
        <p:spPr>
          <a:xfrm flipH="1">
            <a:off x="8112240" y="1881720"/>
            <a:ext cx="135540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67" name="Shape 35"/>
          <p:cNvSpPr/>
          <p:nvPr/>
        </p:nvSpPr>
        <p:spPr>
          <a:xfrm>
            <a:off x="9467640" y="1881720"/>
            <a:ext cx="360" cy="64188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68" name="Shape 36"/>
          <p:cNvSpPr/>
          <p:nvPr/>
        </p:nvSpPr>
        <p:spPr>
          <a:xfrm>
            <a:off x="9467640" y="188172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69" name="Text 37"/>
          <p:cNvSpPr/>
          <p:nvPr/>
        </p:nvSpPr>
        <p:spPr>
          <a:xfrm>
            <a:off x="9321480" y="17355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770" name="Text 38"/>
          <p:cNvSpPr/>
          <p:nvPr/>
        </p:nvSpPr>
        <p:spPr>
          <a:xfrm>
            <a:off x="7966080" y="237744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771" name="Text 39"/>
          <p:cNvSpPr/>
          <p:nvPr/>
        </p:nvSpPr>
        <p:spPr>
          <a:xfrm>
            <a:off x="9321480" y="237744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772" name="Text 40"/>
          <p:cNvSpPr/>
          <p:nvPr/>
        </p:nvSpPr>
        <p:spPr>
          <a:xfrm>
            <a:off x="10676520" y="237744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773" name="Text 41"/>
          <p:cNvSpPr/>
          <p:nvPr/>
        </p:nvSpPr>
        <p:spPr>
          <a:xfrm>
            <a:off x="960120" y="5166360"/>
            <a:ext cx="10056960" cy="41004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800" b="1" u="none" strike="noStrike">
                <a:solidFill>
                  <a:srgbClr val="112E5C"/>
                </a:solidFill>
                <a:effectLst/>
                <a:uFillTx/>
                <a:latin typeface="Aptos"/>
              </a:rPr>
              <a:t>The root node is the initial state. Expanding it generates children and creates the frontier.</a:t>
            </a:r>
            <a:endParaRPr lang="en-US" sz="1800" b="0" u="none" strike="noStrike">
              <a:solidFill>
                <a:srgbClr val="000000"/>
              </a:solidFill>
              <a:effectLst/>
              <a:uFillTx/>
              <a:latin typeface="Arial"/>
            </a:endParaRPr>
          </a:p>
        </p:txBody>
      </p:sp>
      <p:sp>
        <p:nvSpPr>
          <p:cNvPr id="774" name="Shape 7"/>
          <p:cNvSpPr/>
          <p:nvPr/>
        </p:nvSpPr>
        <p:spPr>
          <a:xfrm>
            <a:off x="2457720" y="2327040"/>
            <a:ext cx="223560" cy="6904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5" name="Shape 10"/>
          <p:cNvSpPr/>
          <p:nvPr/>
        </p:nvSpPr>
        <p:spPr>
          <a:xfrm flipV="1">
            <a:off x="2933280" y="1869840"/>
            <a:ext cx="481680" cy="1548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6" name="Shape 7"/>
          <p:cNvSpPr/>
          <p:nvPr/>
        </p:nvSpPr>
        <p:spPr>
          <a:xfrm flipV="1">
            <a:off x="1913040" y="2327040"/>
            <a:ext cx="462240" cy="2174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7" name="Shape 21"/>
          <p:cNvSpPr/>
          <p:nvPr/>
        </p:nvSpPr>
        <p:spPr>
          <a:xfrm flipH="1" flipV="1">
            <a:off x="4096080" y="1998000"/>
            <a:ext cx="525600" cy="7196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8" name="Shape 8"/>
          <p:cNvSpPr/>
          <p:nvPr/>
        </p:nvSpPr>
        <p:spPr>
          <a:xfrm>
            <a:off x="3889440" y="2493360"/>
            <a:ext cx="670320" cy="2458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79" name="Shape 8"/>
          <p:cNvSpPr/>
          <p:nvPr/>
        </p:nvSpPr>
        <p:spPr>
          <a:xfrm flipH="1">
            <a:off x="3034080" y="3124080"/>
            <a:ext cx="374760" cy="1043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0" name="Shape 8"/>
          <p:cNvSpPr/>
          <p:nvPr/>
        </p:nvSpPr>
        <p:spPr>
          <a:xfrm>
            <a:off x="3420720" y="3107520"/>
            <a:ext cx="42840" cy="1441080"/>
          </a:xfrm>
          <a:prstGeom prst="line">
            <a:avLst/>
          </a:prstGeom>
          <a:ln w="13970">
            <a:solidFill>
              <a:srgbClr val="5C6B80"/>
            </a:solidFill>
            <a:round/>
            <a:tailEnd len="med" type="triangle" w="med"/>
          </a:ln>
        </p:spPr>
        <p:style>
          <a:lnRef idx="0"/>
          <a:fillRef idx="0"/>
          <a:effectRef idx="0"/>
          <a:fontRef idx="minor"/>
        </p:style>
        <p:txBody>
          <a:bodyPr lIns="21240" tIns="45000" rIns="21240" bIns="45000" anchor="t" anchorCtr="1">
            <a:noAutofit/>
          </a:bodyPr>
          <a:p>
            <a:endParaRPr lang="en-US" sz="1800" b="0" u="none" strike="noStrike">
              <a:solidFill>
                <a:srgbClr val="000000"/>
              </a:solidFill>
              <a:effectLst/>
              <a:uFillTx/>
              <a:latin typeface="Arial"/>
            </a:endParaRPr>
          </a:p>
        </p:txBody>
      </p:sp>
      <p:sp>
        <p:nvSpPr>
          <p:cNvPr id="781" name="Shape 8"/>
          <p:cNvSpPr/>
          <p:nvPr/>
        </p:nvSpPr>
        <p:spPr>
          <a:xfrm>
            <a:off x="1981080" y="2691720"/>
            <a:ext cx="636120" cy="3679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2" name="Shape 8"/>
          <p:cNvSpPr/>
          <p:nvPr/>
        </p:nvSpPr>
        <p:spPr>
          <a:xfrm flipH="1">
            <a:off x="2650680" y="2024640"/>
            <a:ext cx="1358640" cy="10036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3" name="Shape 14"/>
          <p:cNvSpPr/>
          <p:nvPr/>
        </p:nvSpPr>
        <p:spPr>
          <a:xfrm flipV="1">
            <a:off x="2724120" y="2469600"/>
            <a:ext cx="1018800" cy="611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4" name="Shape 14"/>
          <p:cNvSpPr/>
          <p:nvPr/>
        </p:nvSpPr>
        <p:spPr>
          <a:xfrm flipV="1">
            <a:off x="2725200" y="3028320"/>
            <a:ext cx="695160" cy="79200"/>
          </a:xfrm>
          <a:prstGeom prst="line">
            <a:avLst/>
          </a:prstGeom>
          <a:ln w="13970">
            <a:solidFill>
              <a:srgbClr val="5C6B80"/>
            </a:solidFill>
            <a:round/>
            <a:tailEnd len="med" type="triangle" w="med"/>
          </a:ln>
        </p:spPr>
        <p:style>
          <a:lnRef idx="0"/>
          <a:fillRef idx="0"/>
          <a:effectRef idx="0"/>
          <a:fontRef idx="minor"/>
        </p:style>
        <p:txBody>
          <a:bodyPr lIns="90000" tIns="39600" rIns="90000" bIns="39600" anchor="t" anchorCtr="1">
            <a:noAutofit/>
          </a:bodyPr>
          <a:p>
            <a:endParaRPr lang="en-US" sz="1800" b="0" u="none" strike="noStrike">
              <a:solidFill>
                <a:srgbClr val="000000"/>
              </a:solidFill>
              <a:effectLst/>
              <a:uFillTx/>
              <a:latin typeface="Arial"/>
            </a:endParaRPr>
          </a:p>
        </p:txBody>
      </p:sp>
      <p:sp>
        <p:nvSpPr>
          <p:cNvPr id="785" name="Shape 6"/>
          <p:cNvSpPr/>
          <p:nvPr/>
        </p:nvSpPr>
        <p:spPr>
          <a:xfrm>
            <a:off x="1857240" y="2622600"/>
            <a:ext cx="975240" cy="15822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6" name="Shape 7"/>
          <p:cNvSpPr/>
          <p:nvPr/>
        </p:nvSpPr>
        <p:spPr>
          <a:xfrm flipV="1">
            <a:off x="2427840" y="2072160"/>
            <a:ext cx="462600" cy="2174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7" name="Shape 8"/>
          <p:cNvSpPr/>
          <p:nvPr/>
        </p:nvSpPr>
        <p:spPr>
          <a:xfrm flipV="1">
            <a:off x="2427840" y="2024640"/>
            <a:ext cx="1668960" cy="2649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8" name="Shape 10"/>
          <p:cNvSpPr/>
          <p:nvPr/>
        </p:nvSpPr>
        <p:spPr>
          <a:xfrm flipV="1">
            <a:off x="2927160" y="1873440"/>
            <a:ext cx="481680" cy="1548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89" name="Shape 16"/>
          <p:cNvSpPr/>
          <p:nvPr/>
        </p:nvSpPr>
        <p:spPr>
          <a:xfrm>
            <a:off x="2960640" y="4290480"/>
            <a:ext cx="523080" cy="404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90" name="Shape 21"/>
          <p:cNvSpPr/>
          <p:nvPr/>
        </p:nvSpPr>
        <p:spPr>
          <a:xfrm flipV="1">
            <a:off x="4615560" y="2235960"/>
            <a:ext cx="392400" cy="4816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91" name="Text 24"/>
          <p:cNvSpPr/>
          <p:nvPr/>
        </p:nvSpPr>
        <p:spPr>
          <a:xfrm>
            <a:off x="2814480" y="41446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792" name="Text 25"/>
          <p:cNvSpPr/>
          <p:nvPr/>
        </p:nvSpPr>
        <p:spPr>
          <a:xfrm>
            <a:off x="2781360" y="18824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793" name="Text 26"/>
          <p:cNvSpPr/>
          <p:nvPr/>
        </p:nvSpPr>
        <p:spPr>
          <a:xfrm>
            <a:off x="3967200" y="18684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794" name="Text 28"/>
          <p:cNvSpPr/>
          <p:nvPr/>
        </p:nvSpPr>
        <p:spPr>
          <a:xfrm>
            <a:off x="3280680" y="28810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795" name="Text 29"/>
          <p:cNvSpPr/>
          <p:nvPr/>
        </p:nvSpPr>
        <p:spPr>
          <a:xfrm>
            <a:off x="3337560" y="45489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796" name="Text 31"/>
          <p:cNvSpPr/>
          <p:nvPr/>
        </p:nvSpPr>
        <p:spPr>
          <a:xfrm>
            <a:off x="3602880" y="2327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797" name="Text 32"/>
          <p:cNvSpPr/>
          <p:nvPr/>
        </p:nvSpPr>
        <p:spPr>
          <a:xfrm>
            <a:off x="4469400" y="25718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798" name="Text 33"/>
          <p:cNvSpPr/>
          <p:nvPr/>
        </p:nvSpPr>
        <p:spPr>
          <a:xfrm>
            <a:off x="4873680" y="20725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799" name="Text 30"/>
          <p:cNvSpPr/>
          <p:nvPr/>
        </p:nvSpPr>
        <p:spPr>
          <a:xfrm>
            <a:off x="3310560" y="17125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800" name="Text 28"/>
          <p:cNvSpPr/>
          <p:nvPr/>
        </p:nvSpPr>
        <p:spPr>
          <a:xfrm>
            <a:off x="2282040" y="21481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801" name="Text 28"/>
          <p:cNvSpPr/>
          <p:nvPr/>
        </p:nvSpPr>
        <p:spPr>
          <a:xfrm>
            <a:off x="2503080" y="2885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02" name="Text 37"/>
          <p:cNvSpPr/>
          <p:nvPr/>
        </p:nvSpPr>
        <p:spPr>
          <a:xfrm>
            <a:off x="1699200" y="244728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803" name="Shape 21"/>
          <p:cNvSpPr/>
          <p:nvPr/>
        </p:nvSpPr>
        <p:spPr>
          <a:xfrm flipH="1" flipV="1">
            <a:off x="3304440" y="1666800"/>
            <a:ext cx="525600" cy="7196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04" name="Shape 8"/>
          <p:cNvSpPr/>
          <p:nvPr/>
        </p:nvSpPr>
        <p:spPr>
          <a:xfrm>
            <a:off x="3097800" y="2161800"/>
            <a:ext cx="670320" cy="2462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05" name="Shape 8"/>
          <p:cNvSpPr/>
          <p:nvPr/>
        </p:nvSpPr>
        <p:spPr>
          <a:xfrm flipH="1">
            <a:off x="2242440" y="2792880"/>
            <a:ext cx="374760" cy="1043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06" name="Shape 8"/>
          <p:cNvSpPr/>
          <p:nvPr/>
        </p:nvSpPr>
        <p:spPr>
          <a:xfrm>
            <a:off x="2629080" y="2776320"/>
            <a:ext cx="42840" cy="1441080"/>
          </a:xfrm>
          <a:prstGeom prst="line">
            <a:avLst/>
          </a:prstGeom>
          <a:ln w="13970">
            <a:solidFill>
              <a:srgbClr val="5C6B80"/>
            </a:solidFill>
            <a:round/>
            <a:tailEnd len="med" type="triangle" w="med"/>
          </a:ln>
        </p:spPr>
        <p:style>
          <a:lnRef idx="0"/>
          <a:fillRef idx="0"/>
          <a:effectRef idx="0"/>
          <a:fontRef idx="minor"/>
        </p:style>
        <p:txBody>
          <a:bodyPr lIns="21240" tIns="45000" rIns="21240" bIns="45000" anchor="t" anchorCtr="1">
            <a:noAutofit/>
          </a:bodyPr>
          <a:p>
            <a:endParaRPr lang="en-US" sz="1800" b="0" u="none" strike="noStrike">
              <a:solidFill>
                <a:srgbClr val="000000"/>
              </a:solidFill>
              <a:effectLst/>
              <a:uFillTx/>
              <a:latin typeface="Arial"/>
            </a:endParaRPr>
          </a:p>
        </p:txBody>
      </p:sp>
      <p:sp>
        <p:nvSpPr>
          <p:cNvPr id="807" name="Shape 8"/>
          <p:cNvSpPr/>
          <p:nvPr/>
        </p:nvSpPr>
        <p:spPr>
          <a:xfrm>
            <a:off x="1189440" y="2360520"/>
            <a:ext cx="636120" cy="3679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08" name="Shape 8"/>
          <p:cNvSpPr/>
          <p:nvPr/>
        </p:nvSpPr>
        <p:spPr>
          <a:xfrm flipH="1">
            <a:off x="1859040" y="1693440"/>
            <a:ext cx="1358640" cy="10036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09" name="Shape 14"/>
          <p:cNvSpPr/>
          <p:nvPr/>
        </p:nvSpPr>
        <p:spPr>
          <a:xfrm flipV="1">
            <a:off x="1932480" y="2138400"/>
            <a:ext cx="1018800" cy="611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10" name="Shape 14"/>
          <p:cNvSpPr/>
          <p:nvPr/>
        </p:nvSpPr>
        <p:spPr>
          <a:xfrm flipV="1">
            <a:off x="1933560" y="2697120"/>
            <a:ext cx="695160" cy="79200"/>
          </a:xfrm>
          <a:prstGeom prst="line">
            <a:avLst/>
          </a:prstGeom>
          <a:ln w="13970">
            <a:solidFill>
              <a:srgbClr val="5C6B80"/>
            </a:solidFill>
            <a:round/>
            <a:tailEnd len="med" type="triangle" w="med"/>
          </a:ln>
        </p:spPr>
        <p:style>
          <a:lnRef idx="0"/>
          <a:fillRef idx="0"/>
          <a:effectRef idx="0"/>
          <a:fontRef idx="minor"/>
        </p:style>
        <p:txBody>
          <a:bodyPr lIns="90000" tIns="39600" rIns="90000" bIns="39600" anchor="t" anchorCtr="1">
            <a:noAutofit/>
          </a:bodyPr>
          <a:p>
            <a:endParaRPr lang="en-US" sz="1800" b="0" u="none" strike="noStrike">
              <a:solidFill>
                <a:srgbClr val="000000"/>
              </a:solidFill>
              <a:effectLst/>
              <a:uFillTx/>
              <a:latin typeface="Arial"/>
            </a:endParaRPr>
          </a:p>
        </p:txBody>
      </p:sp>
      <p:sp>
        <p:nvSpPr>
          <p:cNvPr id="811"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12"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813"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Build: Repeated States in the Search Tree</a:t>
            </a:r>
            <a:endParaRPr lang="en-US" sz="2600" b="0" u="none" strike="noStrike">
              <a:solidFill>
                <a:srgbClr val="000000"/>
              </a:solidFill>
              <a:effectLst/>
              <a:uFillTx/>
              <a:latin typeface="Arial"/>
            </a:endParaRPr>
          </a:p>
        </p:txBody>
      </p:sp>
      <p:sp>
        <p:nvSpPr>
          <p:cNvPr id="814"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15"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16" name="Shape 5"/>
          <p:cNvSpPr/>
          <p:nvPr/>
        </p:nvSpPr>
        <p:spPr>
          <a:xfrm flipV="1">
            <a:off x="1065960" y="1996200"/>
            <a:ext cx="536760" cy="295200"/>
          </a:xfrm>
          <a:prstGeom prst="line">
            <a:avLst/>
          </a:prstGeom>
          <a:ln w="34290">
            <a:solidFill>
              <a:srgbClr val="9B1C1C"/>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17" name="Shape 6"/>
          <p:cNvSpPr/>
          <p:nvPr/>
        </p:nvSpPr>
        <p:spPr>
          <a:xfrm>
            <a:off x="1065600" y="2291400"/>
            <a:ext cx="975240" cy="15822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18" name="Shape 7"/>
          <p:cNvSpPr/>
          <p:nvPr/>
        </p:nvSpPr>
        <p:spPr>
          <a:xfrm flipV="1">
            <a:off x="1636200" y="1740960"/>
            <a:ext cx="462600" cy="2174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19" name="Shape 8"/>
          <p:cNvSpPr/>
          <p:nvPr/>
        </p:nvSpPr>
        <p:spPr>
          <a:xfrm flipV="1">
            <a:off x="1636200" y="1693440"/>
            <a:ext cx="1668960" cy="2649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20" name="Shape 9"/>
          <p:cNvSpPr/>
          <p:nvPr/>
        </p:nvSpPr>
        <p:spPr>
          <a:xfrm>
            <a:off x="1636200" y="1958400"/>
            <a:ext cx="208440" cy="770040"/>
          </a:xfrm>
          <a:prstGeom prst="line">
            <a:avLst/>
          </a:prstGeom>
          <a:ln w="34290">
            <a:solidFill>
              <a:srgbClr val="9B1C1C"/>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21" name="Shape 10"/>
          <p:cNvSpPr/>
          <p:nvPr/>
        </p:nvSpPr>
        <p:spPr>
          <a:xfrm flipV="1">
            <a:off x="2135520" y="1542240"/>
            <a:ext cx="481680" cy="1548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22" name="Shape 16"/>
          <p:cNvSpPr/>
          <p:nvPr/>
        </p:nvSpPr>
        <p:spPr>
          <a:xfrm>
            <a:off x="2169000" y="3959280"/>
            <a:ext cx="523080" cy="4042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23" name="Shape 21"/>
          <p:cNvSpPr/>
          <p:nvPr/>
        </p:nvSpPr>
        <p:spPr>
          <a:xfrm flipV="1">
            <a:off x="3823920" y="1904760"/>
            <a:ext cx="392400" cy="4816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24" name="Text 22"/>
          <p:cNvSpPr/>
          <p:nvPr/>
        </p:nvSpPr>
        <p:spPr>
          <a:xfrm>
            <a:off x="919800" y="214524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825" name="Text 23"/>
          <p:cNvSpPr/>
          <p:nvPr/>
        </p:nvSpPr>
        <p:spPr>
          <a:xfrm>
            <a:off x="1490400" y="181224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826" name="Text 24"/>
          <p:cNvSpPr/>
          <p:nvPr/>
        </p:nvSpPr>
        <p:spPr>
          <a:xfrm>
            <a:off x="2022840" y="38131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827" name="Text 25"/>
          <p:cNvSpPr/>
          <p:nvPr/>
        </p:nvSpPr>
        <p:spPr>
          <a:xfrm>
            <a:off x="1989720" y="15508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828" name="Text 26"/>
          <p:cNvSpPr/>
          <p:nvPr/>
        </p:nvSpPr>
        <p:spPr>
          <a:xfrm>
            <a:off x="3175560" y="15368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829" name="Text 27"/>
          <p:cNvSpPr/>
          <p:nvPr/>
        </p:nvSpPr>
        <p:spPr>
          <a:xfrm>
            <a:off x="1704960" y="261864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30" name="Text 28"/>
          <p:cNvSpPr/>
          <p:nvPr/>
        </p:nvSpPr>
        <p:spPr>
          <a:xfrm>
            <a:off x="2489040" y="25495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831" name="Text 29"/>
          <p:cNvSpPr/>
          <p:nvPr/>
        </p:nvSpPr>
        <p:spPr>
          <a:xfrm>
            <a:off x="2545920" y="42174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832" name="Text 30"/>
          <p:cNvSpPr/>
          <p:nvPr/>
        </p:nvSpPr>
        <p:spPr>
          <a:xfrm>
            <a:off x="2512800" y="13845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833" name="Text 31"/>
          <p:cNvSpPr/>
          <p:nvPr/>
        </p:nvSpPr>
        <p:spPr>
          <a:xfrm>
            <a:off x="2811240" y="19962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834" name="Text 32"/>
          <p:cNvSpPr/>
          <p:nvPr/>
        </p:nvSpPr>
        <p:spPr>
          <a:xfrm>
            <a:off x="3677760" y="22402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835" name="Text 33"/>
          <p:cNvSpPr/>
          <p:nvPr/>
        </p:nvSpPr>
        <p:spPr>
          <a:xfrm>
            <a:off x="4082040" y="17409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836" name="Shape 34"/>
          <p:cNvSpPr/>
          <p:nvPr/>
        </p:nvSpPr>
        <p:spPr>
          <a:xfrm flipH="1">
            <a:off x="8112240" y="1698840"/>
            <a:ext cx="1355400" cy="64188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37" name="Shape 35"/>
          <p:cNvSpPr/>
          <p:nvPr/>
        </p:nvSpPr>
        <p:spPr>
          <a:xfrm>
            <a:off x="9467640" y="1698840"/>
            <a:ext cx="360" cy="64188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838" name="Shape 36"/>
          <p:cNvSpPr/>
          <p:nvPr/>
        </p:nvSpPr>
        <p:spPr>
          <a:xfrm>
            <a:off x="9467640" y="169884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39" name="Shape 37"/>
          <p:cNvSpPr/>
          <p:nvPr/>
        </p:nvSpPr>
        <p:spPr>
          <a:xfrm flipH="1">
            <a:off x="7506000" y="234072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40" name="Shape 38"/>
          <p:cNvSpPr/>
          <p:nvPr/>
        </p:nvSpPr>
        <p:spPr>
          <a:xfrm>
            <a:off x="8112240" y="2340720"/>
            <a:ext cx="360" cy="67752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841" name="Shape 39"/>
          <p:cNvSpPr/>
          <p:nvPr/>
        </p:nvSpPr>
        <p:spPr>
          <a:xfrm>
            <a:off x="8112240" y="2340720"/>
            <a:ext cx="606240" cy="67752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42" name="Shape 40"/>
          <p:cNvSpPr/>
          <p:nvPr/>
        </p:nvSpPr>
        <p:spPr>
          <a:xfrm flipH="1">
            <a:off x="9075240" y="2340720"/>
            <a:ext cx="39240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43" name="Shape 41"/>
          <p:cNvSpPr/>
          <p:nvPr/>
        </p:nvSpPr>
        <p:spPr>
          <a:xfrm>
            <a:off x="9467640" y="2340720"/>
            <a:ext cx="3920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44" name="Shape 42"/>
          <p:cNvSpPr/>
          <p:nvPr/>
        </p:nvSpPr>
        <p:spPr>
          <a:xfrm>
            <a:off x="10822680" y="2340720"/>
            <a:ext cx="360" cy="67752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845" name="Shape 43"/>
          <p:cNvSpPr/>
          <p:nvPr/>
        </p:nvSpPr>
        <p:spPr>
          <a:xfrm flipH="1">
            <a:off x="7292160" y="301824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46" name="Shape 44"/>
          <p:cNvSpPr/>
          <p:nvPr/>
        </p:nvSpPr>
        <p:spPr>
          <a:xfrm flipH="1">
            <a:off x="7898400" y="301824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47" name="Shape 45"/>
          <p:cNvSpPr/>
          <p:nvPr/>
        </p:nvSpPr>
        <p:spPr>
          <a:xfrm flipH="1">
            <a:off x="8504640" y="301824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48" name="Shape 46"/>
          <p:cNvSpPr/>
          <p:nvPr/>
        </p:nvSpPr>
        <p:spPr>
          <a:xfrm>
            <a:off x="8718480" y="3018240"/>
            <a:ext cx="3924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49" name="Shape 47"/>
          <p:cNvSpPr/>
          <p:nvPr/>
        </p:nvSpPr>
        <p:spPr>
          <a:xfrm>
            <a:off x="9075240" y="3018240"/>
            <a:ext cx="49932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50" name="Shape 48"/>
          <p:cNvSpPr/>
          <p:nvPr/>
        </p:nvSpPr>
        <p:spPr>
          <a:xfrm>
            <a:off x="9075240" y="3018240"/>
            <a:ext cx="92736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51" name="Shape 49"/>
          <p:cNvSpPr/>
          <p:nvPr/>
        </p:nvSpPr>
        <p:spPr>
          <a:xfrm>
            <a:off x="9859680" y="3018240"/>
            <a:ext cx="5706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52" name="Shape 50"/>
          <p:cNvSpPr/>
          <p:nvPr/>
        </p:nvSpPr>
        <p:spPr>
          <a:xfrm flipH="1">
            <a:off x="10216440" y="362448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53" name="Shape 51"/>
          <p:cNvSpPr/>
          <p:nvPr/>
        </p:nvSpPr>
        <p:spPr>
          <a:xfrm>
            <a:off x="10430280" y="3624480"/>
            <a:ext cx="28548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854" name="Text 52"/>
          <p:cNvSpPr/>
          <p:nvPr/>
        </p:nvSpPr>
        <p:spPr>
          <a:xfrm>
            <a:off x="9321480" y="15526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855" name="Text 53"/>
          <p:cNvSpPr/>
          <p:nvPr/>
        </p:nvSpPr>
        <p:spPr>
          <a:xfrm>
            <a:off x="7966080" y="21945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856" name="Text 54"/>
          <p:cNvSpPr/>
          <p:nvPr/>
        </p:nvSpPr>
        <p:spPr>
          <a:xfrm>
            <a:off x="9321480" y="21945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57" name="Text 55"/>
          <p:cNvSpPr/>
          <p:nvPr/>
        </p:nvSpPr>
        <p:spPr>
          <a:xfrm>
            <a:off x="10676520" y="21945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858" name="Text 56"/>
          <p:cNvSpPr/>
          <p:nvPr/>
        </p:nvSpPr>
        <p:spPr>
          <a:xfrm>
            <a:off x="7359840" y="28720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859" name="Text 57"/>
          <p:cNvSpPr/>
          <p:nvPr/>
        </p:nvSpPr>
        <p:spPr>
          <a:xfrm>
            <a:off x="7966080" y="28720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860" name="Text 58"/>
          <p:cNvSpPr/>
          <p:nvPr/>
        </p:nvSpPr>
        <p:spPr>
          <a:xfrm>
            <a:off x="8572680" y="287208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61" name="Text 59"/>
          <p:cNvSpPr/>
          <p:nvPr/>
        </p:nvSpPr>
        <p:spPr>
          <a:xfrm>
            <a:off x="8929080" y="28720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862" name="Text 60"/>
          <p:cNvSpPr/>
          <p:nvPr/>
        </p:nvSpPr>
        <p:spPr>
          <a:xfrm>
            <a:off x="9713520" y="28720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863" name="Text 61"/>
          <p:cNvSpPr/>
          <p:nvPr/>
        </p:nvSpPr>
        <p:spPr>
          <a:xfrm>
            <a:off x="10676520" y="28720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864" name="Text 62"/>
          <p:cNvSpPr/>
          <p:nvPr/>
        </p:nvSpPr>
        <p:spPr>
          <a:xfrm>
            <a:off x="7146000" y="34783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865" name="Text 63"/>
          <p:cNvSpPr/>
          <p:nvPr/>
        </p:nvSpPr>
        <p:spPr>
          <a:xfrm>
            <a:off x="7752240" y="34783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866" name="Text 64"/>
          <p:cNvSpPr/>
          <p:nvPr/>
        </p:nvSpPr>
        <p:spPr>
          <a:xfrm>
            <a:off x="8358480" y="34783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867" name="Text 65"/>
          <p:cNvSpPr/>
          <p:nvPr/>
        </p:nvSpPr>
        <p:spPr>
          <a:xfrm>
            <a:off x="8964720" y="34783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868" name="Text 66"/>
          <p:cNvSpPr/>
          <p:nvPr/>
        </p:nvSpPr>
        <p:spPr>
          <a:xfrm>
            <a:off x="9428400" y="34783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869" name="Text 67"/>
          <p:cNvSpPr/>
          <p:nvPr/>
        </p:nvSpPr>
        <p:spPr>
          <a:xfrm>
            <a:off x="9856440" y="34783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870" name="Text 68"/>
          <p:cNvSpPr/>
          <p:nvPr/>
        </p:nvSpPr>
        <p:spPr>
          <a:xfrm>
            <a:off x="10284120" y="34783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871" name="Text 69"/>
          <p:cNvSpPr/>
          <p:nvPr/>
        </p:nvSpPr>
        <p:spPr>
          <a:xfrm>
            <a:off x="10070280" y="40845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872" name="Text 70"/>
          <p:cNvSpPr/>
          <p:nvPr/>
        </p:nvSpPr>
        <p:spPr>
          <a:xfrm>
            <a:off x="10569600" y="40845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873" name="Text 71"/>
          <p:cNvSpPr/>
          <p:nvPr/>
        </p:nvSpPr>
        <p:spPr>
          <a:xfrm>
            <a:off x="868680" y="5303520"/>
            <a:ext cx="10422720" cy="45576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1800" b="1" u="none" strike="noStrike">
                <a:solidFill>
                  <a:srgbClr val="9B1C1C"/>
                </a:solidFill>
                <a:effectLst/>
                <a:uFillTx/>
                <a:latin typeface="Aptos"/>
              </a:rPr>
              <a:t>Same state can appear in multiple search-tree nodes because each tree node is a different path.</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874"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75"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876"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Quiz: How Big Is the Search Tree?</a:t>
            </a:r>
            <a:endParaRPr lang="en-US" sz="2600" b="0" u="none" strike="noStrike">
              <a:solidFill>
                <a:srgbClr val="000000"/>
              </a:solidFill>
              <a:effectLst/>
              <a:uFillTx/>
              <a:latin typeface="Arial"/>
            </a:endParaRPr>
          </a:p>
        </p:txBody>
      </p:sp>
      <p:sp>
        <p:nvSpPr>
          <p:cNvPr id="877"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78"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79" name="Rectangle 6"/>
          <p:cNvSpPr/>
          <p:nvPr/>
        </p:nvSpPr>
        <p:spPr>
          <a:xfrm>
            <a:off x="777240" y="1417320"/>
            <a:ext cx="411336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400" b="1" u="none" strike="noStrike">
                <a:solidFill>
                  <a:srgbClr val="112E5C"/>
                </a:solidFill>
                <a:effectLst/>
                <a:uFillTx/>
                <a:latin typeface="Aptos"/>
              </a:rPr>
              <a:t>Consider this four-state graph</a:t>
            </a:r>
            <a:endParaRPr lang="en-US" sz="1400" b="0" u="none" strike="noStrike">
              <a:solidFill>
                <a:srgbClr val="000000"/>
              </a:solidFill>
              <a:effectLst/>
              <a:uFillTx/>
              <a:latin typeface="Arial"/>
            </a:endParaRPr>
          </a:p>
        </p:txBody>
      </p:sp>
      <p:sp>
        <p:nvSpPr>
          <p:cNvPr id="880" name="Oval 12"/>
          <p:cNvSpPr/>
          <p:nvPr/>
        </p:nvSpPr>
        <p:spPr>
          <a:xfrm>
            <a:off x="1074600" y="3086280"/>
            <a:ext cx="592920" cy="59292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881" name="Oval 13"/>
          <p:cNvSpPr/>
          <p:nvPr/>
        </p:nvSpPr>
        <p:spPr>
          <a:xfrm>
            <a:off x="2446200" y="2171880"/>
            <a:ext cx="592920" cy="59292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882" name="Oval 14"/>
          <p:cNvSpPr/>
          <p:nvPr/>
        </p:nvSpPr>
        <p:spPr>
          <a:xfrm>
            <a:off x="2446200" y="4000680"/>
            <a:ext cx="592920" cy="59292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883" name="Oval 15"/>
          <p:cNvSpPr/>
          <p:nvPr/>
        </p:nvSpPr>
        <p:spPr>
          <a:xfrm>
            <a:off x="3817800" y="3086280"/>
            <a:ext cx="592920" cy="59292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884" name="Rectangle 16"/>
          <p:cNvSpPr/>
          <p:nvPr/>
        </p:nvSpPr>
        <p:spPr>
          <a:xfrm>
            <a:off x="777240" y="4663440"/>
            <a:ext cx="411336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200" b="0" u="none" strike="noStrike">
                <a:solidFill>
                  <a:srgbClr val="5C6B80"/>
                </a:solidFill>
                <a:effectLst/>
                <a:uFillTx/>
                <a:latin typeface="Aptos"/>
              </a:rPr>
              <a:t>a and b are connected in both directions</a:t>
            </a:r>
            <a:endParaRPr lang="en-US" sz="1200" b="0" u="none" strike="noStrike">
              <a:solidFill>
                <a:srgbClr val="000000"/>
              </a:solidFill>
              <a:effectLst/>
              <a:uFillTx/>
              <a:latin typeface="Arial"/>
            </a:endParaRPr>
          </a:p>
        </p:txBody>
      </p:sp>
      <p:sp>
        <p:nvSpPr>
          <p:cNvPr id="885" name="Rectangle 17"/>
          <p:cNvSpPr/>
          <p:nvPr/>
        </p:nvSpPr>
        <p:spPr>
          <a:xfrm>
            <a:off x="6385680" y="1417320"/>
            <a:ext cx="502776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400" b="1" u="none" strike="noStrike">
                <a:solidFill>
                  <a:srgbClr val="112E5C"/>
                </a:solidFill>
                <a:effectLst/>
                <a:uFillTx/>
                <a:latin typeface="Aptos"/>
              </a:rPr>
              <a:t>How big is its search tree, rooted at S?</a:t>
            </a:r>
            <a:endParaRPr lang="en-US" sz="1400" b="0" u="none" strike="noStrike">
              <a:solidFill>
                <a:srgbClr val="000000"/>
              </a:solidFill>
              <a:effectLst/>
              <a:uFillTx/>
              <a:latin typeface="Arial"/>
            </a:endParaRPr>
          </a:p>
        </p:txBody>
      </p:sp>
      <p:cxnSp>
        <p:nvCxnSpPr>
          <p:cNvPr id="886" name="Connector 18"/>
          <p:cNvCxnSpPr/>
          <p:nvPr/>
        </p:nvCxnSpPr>
        <p:spPr>
          <a:xfrm flipH="1">
            <a:off x="7315200" y="1965960"/>
            <a:ext cx="1068120" cy="778680"/>
          </a:xfrm>
          <a:prstGeom prst="straightConnector1">
            <a:avLst/>
          </a:prstGeom>
          <a:ln w="15240">
            <a:solidFill>
              <a:srgbClr val="5C6B80"/>
            </a:solidFill>
            <a:round/>
          </a:ln>
        </p:spPr>
      </p:cxnSp>
      <p:cxnSp>
        <p:nvCxnSpPr>
          <p:cNvPr id="887" name="Connector 19"/>
          <p:cNvCxnSpPr/>
          <p:nvPr/>
        </p:nvCxnSpPr>
        <p:spPr>
          <a:xfrm>
            <a:off x="8381880" y="1965960"/>
            <a:ext cx="1068120" cy="778680"/>
          </a:xfrm>
          <a:prstGeom prst="straightConnector1">
            <a:avLst/>
          </a:prstGeom>
          <a:ln w="15240">
            <a:solidFill>
              <a:srgbClr val="5C6B80"/>
            </a:solidFill>
            <a:round/>
          </a:ln>
        </p:spPr>
      </p:cxnSp>
      <p:cxnSp>
        <p:nvCxnSpPr>
          <p:cNvPr id="888" name="Connector 20"/>
          <p:cNvCxnSpPr/>
          <p:nvPr/>
        </p:nvCxnSpPr>
        <p:spPr>
          <a:xfrm flipH="1">
            <a:off x="6629400" y="2743200"/>
            <a:ext cx="687240" cy="778680"/>
          </a:xfrm>
          <a:prstGeom prst="straightConnector1">
            <a:avLst/>
          </a:prstGeom>
          <a:ln w="15240">
            <a:solidFill>
              <a:srgbClr val="5C6B80"/>
            </a:solidFill>
            <a:round/>
          </a:ln>
        </p:spPr>
      </p:cxnSp>
      <p:cxnSp>
        <p:nvCxnSpPr>
          <p:cNvPr id="889" name="Connector 21"/>
          <p:cNvCxnSpPr/>
          <p:nvPr/>
        </p:nvCxnSpPr>
        <p:spPr>
          <a:xfrm>
            <a:off x="7315200" y="2743200"/>
            <a:ext cx="687240" cy="778680"/>
          </a:xfrm>
          <a:prstGeom prst="straightConnector1">
            <a:avLst/>
          </a:prstGeom>
          <a:ln w="15240">
            <a:solidFill>
              <a:srgbClr val="5C6B80"/>
            </a:solidFill>
            <a:round/>
          </a:ln>
        </p:spPr>
      </p:cxnSp>
      <p:cxnSp>
        <p:nvCxnSpPr>
          <p:cNvPr id="890" name="Connector 22"/>
          <p:cNvCxnSpPr/>
          <p:nvPr/>
        </p:nvCxnSpPr>
        <p:spPr>
          <a:xfrm flipH="1">
            <a:off x="8762760" y="2743200"/>
            <a:ext cx="687240" cy="778680"/>
          </a:xfrm>
          <a:prstGeom prst="straightConnector1">
            <a:avLst/>
          </a:prstGeom>
          <a:ln w="15240">
            <a:solidFill>
              <a:srgbClr val="5C6B80"/>
            </a:solidFill>
            <a:round/>
          </a:ln>
        </p:spPr>
      </p:cxnSp>
      <p:cxnSp>
        <p:nvCxnSpPr>
          <p:cNvPr id="891" name="Connector 23"/>
          <p:cNvCxnSpPr/>
          <p:nvPr/>
        </p:nvCxnSpPr>
        <p:spPr>
          <a:xfrm>
            <a:off x="9448560" y="2743200"/>
            <a:ext cx="687240" cy="778680"/>
          </a:xfrm>
          <a:prstGeom prst="straightConnector1">
            <a:avLst/>
          </a:prstGeom>
          <a:ln w="15240">
            <a:solidFill>
              <a:srgbClr val="5C6B80"/>
            </a:solidFill>
            <a:round/>
          </a:ln>
        </p:spPr>
      </p:cxnSp>
      <p:cxnSp>
        <p:nvCxnSpPr>
          <p:cNvPr id="892" name="Connector 24"/>
          <p:cNvCxnSpPr/>
          <p:nvPr/>
        </p:nvCxnSpPr>
        <p:spPr>
          <a:xfrm flipH="1">
            <a:off x="6263640" y="3520440"/>
            <a:ext cx="367200" cy="641520"/>
          </a:xfrm>
          <a:prstGeom prst="straightConnector1">
            <a:avLst/>
          </a:prstGeom>
          <a:ln w="15240">
            <a:solidFill>
              <a:srgbClr val="5C6B80"/>
            </a:solidFill>
            <a:prstDash val="sysDash"/>
            <a:round/>
          </a:ln>
        </p:spPr>
      </p:cxnSp>
      <p:cxnSp>
        <p:nvCxnSpPr>
          <p:cNvPr id="893" name="Connector 25"/>
          <p:cNvCxnSpPr/>
          <p:nvPr/>
        </p:nvCxnSpPr>
        <p:spPr>
          <a:xfrm>
            <a:off x="6629400" y="3520440"/>
            <a:ext cx="367200" cy="641520"/>
          </a:xfrm>
          <a:prstGeom prst="straightConnector1">
            <a:avLst/>
          </a:prstGeom>
          <a:ln w="15240">
            <a:solidFill>
              <a:srgbClr val="5C6B80"/>
            </a:solidFill>
            <a:prstDash val="sysDash"/>
            <a:round/>
          </a:ln>
        </p:spPr>
      </p:cxnSp>
      <p:cxnSp>
        <p:nvCxnSpPr>
          <p:cNvPr id="894" name="Connector 26"/>
          <p:cNvCxnSpPr/>
          <p:nvPr/>
        </p:nvCxnSpPr>
        <p:spPr>
          <a:xfrm flipH="1">
            <a:off x="8397000" y="3520440"/>
            <a:ext cx="367200" cy="641520"/>
          </a:xfrm>
          <a:prstGeom prst="straightConnector1">
            <a:avLst/>
          </a:prstGeom>
          <a:ln w="15240">
            <a:solidFill>
              <a:srgbClr val="5C6B80"/>
            </a:solidFill>
            <a:prstDash val="sysDash"/>
            <a:round/>
          </a:ln>
        </p:spPr>
      </p:cxnSp>
      <p:cxnSp>
        <p:nvCxnSpPr>
          <p:cNvPr id="895" name="Connector 27"/>
          <p:cNvCxnSpPr/>
          <p:nvPr/>
        </p:nvCxnSpPr>
        <p:spPr>
          <a:xfrm>
            <a:off x="8762760" y="3520440"/>
            <a:ext cx="367200" cy="641520"/>
          </a:xfrm>
          <a:prstGeom prst="straightConnector1">
            <a:avLst/>
          </a:prstGeom>
          <a:ln w="15240">
            <a:solidFill>
              <a:srgbClr val="5C6B80"/>
            </a:solidFill>
            <a:prstDash val="sysDash"/>
            <a:round/>
          </a:ln>
        </p:spPr>
      </p:cxnSp>
      <p:sp>
        <p:nvSpPr>
          <p:cNvPr id="896" name="Oval 28"/>
          <p:cNvSpPr/>
          <p:nvPr/>
        </p:nvSpPr>
        <p:spPr>
          <a:xfrm>
            <a:off x="8153280" y="1737360"/>
            <a:ext cx="455760" cy="45576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s</a:t>
            </a:r>
            <a:endParaRPr lang="en-US" sz="1200" b="0" u="none" strike="noStrike">
              <a:solidFill>
                <a:srgbClr val="000000"/>
              </a:solidFill>
              <a:effectLst/>
              <a:uFillTx/>
              <a:latin typeface="Arial"/>
            </a:endParaRPr>
          </a:p>
        </p:txBody>
      </p:sp>
      <p:sp>
        <p:nvSpPr>
          <p:cNvPr id="897" name="Oval 29"/>
          <p:cNvSpPr/>
          <p:nvPr/>
        </p:nvSpPr>
        <p:spPr>
          <a:xfrm>
            <a:off x="7086600" y="2514600"/>
            <a:ext cx="455760" cy="45576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a</a:t>
            </a:r>
            <a:endParaRPr lang="en-US" sz="1200" b="0" u="none" strike="noStrike">
              <a:solidFill>
                <a:srgbClr val="000000"/>
              </a:solidFill>
              <a:effectLst/>
              <a:uFillTx/>
              <a:latin typeface="Arial"/>
            </a:endParaRPr>
          </a:p>
        </p:txBody>
      </p:sp>
      <p:sp>
        <p:nvSpPr>
          <p:cNvPr id="898" name="Oval 30"/>
          <p:cNvSpPr/>
          <p:nvPr/>
        </p:nvSpPr>
        <p:spPr>
          <a:xfrm>
            <a:off x="9220320" y="2514600"/>
            <a:ext cx="455760" cy="45576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b</a:t>
            </a:r>
            <a:endParaRPr lang="en-US" sz="1200" b="0" u="none" strike="noStrike">
              <a:solidFill>
                <a:srgbClr val="000000"/>
              </a:solidFill>
              <a:effectLst/>
              <a:uFillTx/>
              <a:latin typeface="Arial"/>
            </a:endParaRPr>
          </a:p>
        </p:txBody>
      </p:sp>
      <p:sp>
        <p:nvSpPr>
          <p:cNvPr id="899" name="Oval 31"/>
          <p:cNvSpPr/>
          <p:nvPr/>
        </p:nvSpPr>
        <p:spPr>
          <a:xfrm>
            <a:off x="6400800" y="3291840"/>
            <a:ext cx="455760" cy="45576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b</a:t>
            </a:r>
            <a:endParaRPr lang="en-US" sz="1200" b="0" u="none" strike="noStrike">
              <a:solidFill>
                <a:srgbClr val="000000"/>
              </a:solidFill>
              <a:effectLst/>
              <a:uFillTx/>
              <a:latin typeface="Arial"/>
            </a:endParaRPr>
          </a:p>
        </p:txBody>
      </p:sp>
      <p:sp>
        <p:nvSpPr>
          <p:cNvPr id="900" name="Oval 32"/>
          <p:cNvSpPr/>
          <p:nvPr/>
        </p:nvSpPr>
        <p:spPr>
          <a:xfrm>
            <a:off x="7772400" y="3291840"/>
            <a:ext cx="455760" cy="45576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G</a:t>
            </a:r>
            <a:endParaRPr lang="en-US" sz="1200" b="0" u="none" strike="noStrike">
              <a:solidFill>
                <a:srgbClr val="000000"/>
              </a:solidFill>
              <a:effectLst/>
              <a:uFillTx/>
              <a:latin typeface="Arial"/>
            </a:endParaRPr>
          </a:p>
        </p:txBody>
      </p:sp>
      <p:sp>
        <p:nvSpPr>
          <p:cNvPr id="901" name="Oval 33"/>
          <p:cNvSpPr/>
          <p:nvPr/>
        </p:nvSpPr>
        <p:spPr>
          <a:xfrm>
            <a:off x="8534520" y="3291840"/>
            <a:ext cx="455760" cy="45576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a</a:t>
            </a:r>
            <a:endParaRPr lang="en-US" sz="1200" b="0" u="none" strike="noStrike">
              <a:solidFill>
                <a:srgbClr val="000000"/>
              </a:solidFill>
              <a:effectLst/>
              <a:uFillTx/>
              <a:latin typeface="Arial"/>
            </a:endParaRPr>
          </a:p>
        </p:txBody>
      </p:sp>
      <p:sp>
        <p:nvSpPr>
          <p:cNvPr id="902" name="Oval 34"/>
          <p:cNvSpPr/>
          <p:nvPr/>
        </p:nvSpPr>
        <p:spPr>
          <a:xfrm>
            <a:off x="9906120" y="3291840"/>
            <a:ext cx="455760" cy="45576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200" b="1" u="none" strike="noStrike">
                <a:solidFill>
                  <a:srgbClr val="112E5C"/>
                </a:solidFill>
                <a:effectLst/>
                <a:uFillTx/>
                <a:latin typeface="Aptos"/>
              </a:rPr>
              <a:t>G</a:t>
            </a:r>
            <a:endParaRPr lang="en-US" sz="1200" b="0" u="none" strike="noStrike">
              <a:solidFill>
                <a:srgbClr val="000000"/>
              </a:solidFill>
              <a:effectLst/>
              <a:uFillTx/>
              <a:latin typeface="Arial"/>
            </a:endParaRPr>
          </a:p>
        </p:txBody>
      </p:sp>
      <p:sp>
        <p:nvSpPr>
          <p:cNvPr id="903" name="Rectangle 35"/>
          <p:cNvSpPr/>
          <p:nvPr/>
        </p:nvSpPr>
        <p:spPr>
          <a:xfrm>
            <a:off x="6080760" y="4297680"/>
            <a:ext cx="109584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800" b="0" u="none" strike="noStrike">
                <a:solidFill>
                  <a:srgbClr val="5C6B80"/>
                </a:solidFill>
                <a:effectLst/>
                <a:uFillTx/>
                <a:latin typeface="Aptos"/>
              </a:rPr>
              <a:t>…</a:t>
            </a:r>
            <a:endParaRPr lang="en-US" sz="1800" b="0" u="none" strike="noStrike">
              <a:solidFill>
                <a:srgbClr val="000000"/>
              </a:solidFill>
              <a:effectLst/>
              <a:uFillTx/>
              <a:latin typeface="Arial"/>
            </a:endParaRPr>
          </a:p>
        </p:txBody>
      </p:sp>
      <p:sp>
        <p:nvSpPr>
          <p:cNvPr id="904" name="Rectangle 36"/>
          <p:cNvSpPr/>
          <p:nvPr/>
        </p:nvSpPr>
        <p:spPr>
          <a:xfrm>
            <a:off x="8214480" y="4297680"/>
            <a:ext cx="109584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800" b="0" u="none" strike="noStrike">
                <a:solidFill>
                  <a:srgbClr val="5C6B80"/>
                </a:solidFill>
                <a:effectLst/>
                <a:uFillTx/>
                <a:latin typeface="Aptos"/>
              </a:rPr>
              <a:t>…</a:t>
            </a:r>
            <a:endParaRPr lang="en-US" sz="1800" b="0" u="none" strike="noStrike">
              <a:solidFill>
                <a:srgbClr val="000000"/>
              </a:solidFill>
              <a:effectLst/>
              <a:uFillTx/>
              <a:latin typeface="Arial"/>
            </a:endParaRPr>
          </a:p>
        </p:txBody>
      </p:sp>
      <p:sp>
        <p:nvSpPr>
          <p:cNvPr id="905" name="Rectangle 37"/>
          <p:cNvSpPr/>
          <p:nvPr/>
        </p:nvSpPr>
        <p:spPr>
          <a:xfrm>
            <a:off x="10515600" y="4114800"/>
            <a:ext cx="897840" cy="59292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4400" b="1" u="none" strike="noStrike">
                <a:solidFill>
                  <a:srgbClr val="9B1C1C"/>
                </a:solidFill>
                <a:effectLst/>
                <a:uFillTx/>
                <a:latin typeface="Aptos"/>
              </a:rPr>
              <a:t>∞</a:t>
            </a:r>
            <a:endParaRPr lang="en-US" sz="4400" b="0" u="none" strike="noStrike">
              <a:solidFill>
                <a:srgbClr val="000000"/>
              </a:solidFill>
              <a:effectLst/>
              <a:uFillTx/>
              <a:latin typeface="Arial"/>
            </a:endParaRPr>
          </a:p>
        </p:txBody>
      </p:sp>
      <p:sp>
        <p:nvSpPr>
          <p:cNvPr id="906" name="Rectangle 38"/>
          <p:cNvSpPr/>
          <p:nvPr/>
        </p:nvSpPr>
        <p:spPr>
          <a:xfrm>
            <a:off x="914400" y="502920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Four states. An infinite search tree, because a ↔ b can be traversed forever.</a:t>
            </a:r>
            <a:endParaRPr lang="en-US" sz="1700" b="0" u="none" strike="noStrike">
              <a:solidFill>
                <a:srgbClr val="000000"/>
              </a:solidFill>
              <a:effectLst/>
              <a:uFillTx/>
              <a:latin typeface="Arial"/>
            </a:endParaRPr>
          </a:p>
        </p:txBody>
      </p:sp>
      <p:sp>
        <p:nvSpPr>
          <p:cNvPr id="907" name="Rectangle 39"/>
          <p:cNvSpPr/>
          <p:nvPr/>
        </p:nvSpPr>
        <p:spPr>
          <a:xfrm>
            <a:off x="914400" y="54406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The repeated structure in the tree is the entire motivation for the reached table and for cycle checking.</a:t>
            </a:r>
            <a:endParaRPr lang="en-US" sz="1500" b="0" u="none" strike="noStrike">
              <a:solidFill>
                <a:srgbClr val="000000"/>
              </a:solidFill>
              <a:effectLst/>
              <a:uFillTx/>
              <a:latin typeface="Arial"/>
            </a:endParaRPr>
          </a:p>
        </p:txBody>
      </p:sp>
      <p:sp>
        <p:nvSpPr>
          <p:cNvPr id="908" name="Straight Connector 668"/>
          <p:cNvSpPr/>
          <p:nvPr/>
        </p:nvSpPr>
        <p:spPr>
          <a:xfrm flipH="1">
            <a:off x="1542600" y="2514600"/>
            <a:ext cx="903600" cy="607680"/>
          </a:xfrm>
          <a:prstGeom prst="line">
            <a:avLst/>
          </a:prstGeom>
          <a:ln w="18360">
            <a:solidFill>
              <a:srgbClr val="3465A4"/>
            </a:solidFill>
            <a:round/>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909" name="Straight Connector 669"/>
          <p:cNvSpPr/>
          <p:nvPr/>
        </p:nvSpPr>
        <p:spPr>
          <a:xfrm flipH="1" flipV="1">
            <a:off x="3040200" y="2514600"/>
            <a:ext cx="846000" cy="685800"/>
          </a:xfrm>
          <a:prstGeom prst="line">
            <a:avLst/>
          </a:prstGeom>
          <a:ln w="18360">
            <a:solidFill>
              <a:srgbClr val="3465A4"/>
            </a:solidFill>
            <a:round/>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910" name="Straight Connector 670"/>
          <p:cNvSpPr/>
          <p:nvPr/>
        </p:nvSpPr>
        <p:spPr>
          <a:xfrm flipH="1" flipV="1">
            <a:off x="1611360" y="3549960"/>
            <a:ext cx="834120" cy="640440"/>
          </a:xfrm>
          <a:prstGeom prst="line">
            <a:avLst/>
          </a:prstGeom>
          <a:ln w="18360">
            <a:solidFill>
              <a:srgbClr val="3465A4"/>
            </a:solidFill>
            <a:round/>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
        <p:nvSpPr>
          <p:cNvPr id="911" name="Straight Connector 2"/>
          <p:cNvSpPr/>
          <p:nvPr/>
        </p:nvSpPr>
        <p:spPr>
          <a:xfrm>
            <a:off x="2811240" y="2765880"/>
            <a:ext cx="1440" cy="1247400"/>
          </a:xfrm>
          <a:prstGeom prst="line">
            <a:avLst/>
          </a:prstGeom>
          <a:ln w="18360">
            <a:solidFill>
              <a:srgbClr val="3465A4"/>
            </a:solidFill>
            <a:round/>
            <a:headEnd len="med" type="triangle" w="med"/>
          </a:ln>
        </p:spPr>
        <p:style>
          <a:lnRef idx="0"/>
          <a:fillRef idx="0"/>
          <a:effectRef idx="0"/>
          <a:fontRef idx="minor"/>
        </p:style>
        <p:txBody>
          <a:bodyPr lIns="720" tIns="45000" rIns="720" bIns="45000" anchor="ctr">
            <a:noAutofit/>
          </a:bodyPr>
          <a:p>
            <a:endParaRPr lang="en-US" sz="1800" b="0" u="none" strike="noStrike">
              <a:solidFill>
                <a:srgbClr val="000000"/>
              </a:solidFill>
              <a:effectLst/>
              <a:uFillTx/>
              <a:latin typeface="Arial"/>
            </a:endParaRPr>
          </a:p>
        </p:txBody>
      </p:sp>
      <p:sp>
        <p:nvSpPr>
          <p:cNvPr id="912" name="Straight Connector 4"/>
          <p:cNvSpPr/>
          <p:nvPr/>
        </p:nvSpPr>
        <p:spPr>
          <a:xfrm flipH="1" flipV="1">
            <a:off x="2628720" y="2742840"/>
            <a:ext cx="19080" cy="1270440"/>
          </a:xfrm>
          <a:prstGeom prst="line">
            <a:avLst/>
          </a:prstGeom>
          <a:ln w="18360">
            <a:solidFill>
              <a:srgbClr val="3465A4"/>
            </a:solidFill>
            <a:round/>
            <a:headEnd len="med" type="triangle" w="med"/>
          </a:ln>
        </p:spPr>
        <p:style>
          <a:lnRef idx="0"/>
          <a:fillRef idx="0"/>
          <a:effectRef idx="0"/>
          <a:fontRef idx="minor"/>
        </p:style>
        <p:txBody>
          <a:bodyPr lIns="9360" tIns="45000" rIns="9360" bIns="45000" anchor="ctr">
            <a:noAutofit/>
          </a:bodyPr>
          <a:p>
            <a:endParaRPr lang="en-US" sz="1800" b="0" u="none" strike="noStrike">
              <a:solidFill>
                <a:srgbClr val="000000"/>
              </a:solidFill>
              <a:effectLst/>
              <a:uFillTx/>
              <a:latin typeface="Arial"/>
            </a:endParaRPr>
          </a:p>
        </p:txBody>
      </p:sp>
      <p:sp>
        <p:nvSpPr>
          <p:cNvPr id="913" name="Straight Connector 6"/>
          <p:cNvSpPr/>
          <p:nvPr/>
        </p:nvSpPr>
        <p:spPr>
          <a:xfrm flipH="1">
            <a:off x="3013560" y="3600360"/>
            <a:ext cx="890640" cy="552960"/>
          </a:xfrm>
          <a:prstGeom prst="line">
            <a:avLst/>
          </a:prstGeom>
          <a:ln w="18360">
            <a:solidFill>
              <a:srgbClr val="3465A4"/>
            </a:solidFill>
            <a:round/>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886"/>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887"/>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888"/>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889"/>
                                        </p:tgtEl>
                                        <p:attrNameLst>
                                          <p:attrName>style.visibility</p:attrName>
                                        </p:attrNameLst>
                                      </p:cBhvr>
                                      <p:to>
                                        <p:strVal val="visible"/>
                                      </p:to>
                                    </p:set>
                                  </p:childTnLst>
                                </p:cTn>
                              </p:par>
                              <p:par>
                                <p:cTn id="13" presetID="1" presetClass="entr" fill="hold" nodeType="withEffect">
                                  <p:stCondLst>
                                    <p:cond delay="0"/>
                                  </p:stCondLst>
                                  <p:childTnLst>
                                    <p:set>
                                      <p:cBhvr>
                                        <p:cTn id="14" dur="1" fill="hold">
                                          <p:stCondLst>
                                            <p:cond delay="0"/>
                                          </p:stCondLst>
                                        </p:cTn>
                                        <p:tgtEl>
                                          <p:spTgt spid="890"/>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891"/>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892"/>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893"/>
                                        </p:tgtEl>
                                        <p:attrNameLst>
                                          <p:attrName>style.visibility</p:attrName>
                                        </p:attrNameLst>
                                      </p:cBhvr>
                                      <p:to>
                                        <p:strVal val="visible"/>
                                      </p:to>
                                    </p:set>
                                  </p:childTnLst>
                                </p:cTn>
                              </p:par>
                              <p:par>
                                <p:cTn id="21" presetID="1" presetClass="entr" fill="hold" nodeType="withEffect">
                                  <p:stCondLst>
                                    <p:cond delay="0"/>
                                  </p:stCondLst>
                                  <p:childTnLst>
                                    <p:set>
                                      <p:cBhvr>
                                        <p:cTn id="22" dur="1" fill="hold">
                                          <p:stCondLst>
                                            <p:cond delay="0"/>
                                          </p:stCondLst>
                                        </p:cTn>
                                        <p:tgtEl>
                                          <p:spTgt spid="894"/>
                                        </p:tgtEl>
                                        <p:attrNameLst>
                                          <p:attrName>style.visibility</p:attrName>
                                        </p:attrNameLst>
                                      </p:cBhvr>
                                      <p:to>
                                        <p:strVal val="visible"/>
                                      </p:to>
                                    </p:set>
                                  </p:childTnLst>
                                </p:cTn>
                              </p:par>
                              <p:par>
                                <p:cTn id="23" presetID="1" presetClass="entr" fill="hold" nodeType="withEffect">
                                  <p:stCondLst>
                                    <p:cond delay="0"/>
                                  </p:stCondLst>
                                  <p:childTnLst>
                                    <p:set>
                                      <p:cBhvr>
                                        <p:cTn id="24" dur="1" fill="hold">
                                          <p:stCondLst>
                                            <p:cond delay="0"/>
                                          </p:stCondLst>
                                        </p:cTn>
                                        <p:tgtEl>
                                          <p:spTgt spid="895"/>
                                        </p:tgtEl>
                                        <p:attrNameLst>
                                          <p:attrName>style.visibility</p:attrName>
                                        </p:attrNameLst>
                                      </p:cBhvr>
                                      <p:to>
                                        <p:strVal val="visible"/>
                                      </p:to>
                                    </p:set>
                                  </p:childTnLst>
                                </p:cTn>
                              </p:par>
                              <p:par>
                                <p:cTn id="25" presetID="1" presetClass="entr" fill="hold" nodeType="withEffect">
                                  <p:stCondLst>
                                    <p:cond delay="0"/>
                                  </p:stCondLst>
                                  <p:childTnLst>
                                    <p:set>
                                      <p:cBhvr>
                                        <p:cTn id="26" dur="1" fill="hold">
                                          <p:stCondLst>
                                            <p:cond delay="0"/>
                                          </p:stCondLst>
                                        </p:cTn>
                                        <p:tgtEl>
                                          <p:spTgt spid="897"/>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898"/>
                                        </p:tgtEl>
                                        <p:attrNameLst>
                                          <p:attrName>style.visibility</p:attrName>
                                        </p:attrNameLst>
                                      </p:cBhvr>
                                      <p:to>
                                        <p:strVal val="visible"/>
                                      </p:to>
                                    </p:set>
                                  </p:childTnLst>
                                </p:cTn>
                              </p:par>
                              <p:par>
                                <p:cTn id="29" presetID="1" presetClass="entr" fill="hold" nodeType="withEffect">
                                  <p:stCondLst>
                                    <p:cond delay="0"/>
                                  </p:stCondLst>
                                  <p:childTnLst>
                                    <p:set>
                                      <p:cBhvr>
                                        <p:cTn id="30" dur="1" fill="hold">
                                          <p:stCondLst>
                                            <p:cond delay="0"/>
                                          </p:stCondLst>
                                        </p:cTn>
                                        <p:tgtEl>
                                          <p:spTgt spid="899"/>
                                        </p:tgtEl>
                                        <p:attrNameLst>
                                          <p:attrName>style.visibility</p:attrName>
                                        </p:attrNameLst>
                                      </p:cBhvr>
                                      <p:to>
                                        <p:strVal val="visible"/>
                                      </p:to>
                                    </p:set>
                                  </p:childTnLst>
                                </p:cTn>
                              </p:par>
                              <p:par>
                                <p:cTn id="31" presetID="1" presetClass="entr" fill="hold" nodeType="withEffect">
                                  <p:stCondLst>
                                    <p:cond delay="0"/>
                                  </p:stCondLst>
                                  <p:childTnLst>
                                    <p:set>
                                      <p:cBhvr>
                                        <p:cTn id="32" dur="1" fill="hold">
                                          <p:stCondLst>
                                            <p:cond delay="0"/>
                                          </p:stCondLst>
                                        </p:cTn>
                                        <p:tgtEl>
                                          <p:spTgt spid="900"/>
                                        </p:tgtEl>
                                        <p:attrNameLst>
                                          <p:attrName>style.visibility</p:attrName>
                                        </p:attrNameLst>
                                      </p:cBhvr>
                                      <p:to>
                                        <p:strVal val="visible"/>
                                      </p:to>
                                    </p:set>
                                  </p:childTnLst>
                                </p:cTn>
                              </p:par>
                              <p:par>
                                <p:cTn id="33" presetID="1" presetClass="entr" fill="hold" nodeType="withEffect">
                                  <p:stCondLst>
                                    <p:cond delay="0"/>
                                  </p:stCondLst>
                                  <p:childTnLst>
                                    <p:set>
                                      <p:cBhvr>
                                        <p:cTn id="34" dur="1" fill="hold">
                                          <p:stCondLst>
                                            <p:cond delay="0"/>
                                          </p:stCondLst>
                                        </p:cTn>
                                        <p:tgtEl>
                                          <p:spTgt spid="901"/>
                                        </p:tgtEl>
                                        <p:attrNameLst>
                                          <p:attrName>style.visibility</p:attrName>
                                        </p:attrNameLst>
                                      </p:cBhvr>
                                      <p:to>
                                        <p:strVal val="visible"/>
                                      </p:to>
                                    </p:set>
                                  </p:childTnLst>
                                </p:cTn>
                              </p:par>
                              <p:par>
                                <p:cTn id="35" presetID="1" presetClass="entr" fill="hold" nodeType="withEffect">
                                  <p:stCondLst>
                                    <p:cond delay="0"/>
                                  </p:stCondLst>
                                  <p:childTnLst>
                                    <p:set>
                                      <p:cBhvr>
                                        <p:cTn id="36" dur="1" fill="hold">
                                          <p:stCondLst>
                                            <p:cond delay="0"/>
                                          </p:stCondLst>
                                        </p:cTn>
                                        <p:tgtEl>
                                          <p:spTgt spid="902"/>
                                        </p:tgtEl>
                                        <p:attrNameLst>
                                          <p:attrName>style.visibility</p:attrName>
                                        </p:attrNameLst>
                                      </p:cBhvr>
                                      <p:to>
                                        <p:strVal val="visible"/>
                                      </p:to>
                                    </p:set>
                                  </p:childTnLst>
                                </p:cTn>
                              </p:par>
                              <p:par>
                                <p:cTn id="37" presetID="1" presetClass="entr" fill="hold" nodeType="withEffect">
                                  <p:stCondLst>
                                    <p:cond delay="0"/>
                                  </p:stCondLst>
                                  <p:childTnLst>
                                    <p:set>
                                      <p:cBhvr>
                                        <p:cTn id="38" dur="1" fill="hold">
                                          <p:stCondLst>
                                            <p:cond delay="0"/>
                                          </p:stCondLst>
                                        </p:cTn>
                                        <p:tgtEl>
                                          <p:spTgt spid="903"/>
                                        </p:tgtEl>
                                        <p:attrNameLst>
                                          <p:attrName>style.visibility</p:attrName>
                                        </p:attrNameLst>
                                      </p:cBhvr>
                                      <p:to>
                                        <p:strVal val="visible"/>
                                      </p:to>
                                    </p:set>
                                  </p:childTnLst>
                                </p:cTn>
                              </p:par>
                              <p:par>
                                <p:cTn id="39" presetID="1" presetClass="entr" fill="hold" nodeType="withEffect">
                                  <p:stCondLst>
                                    <p:cond delay="0"/>
                                  </p:stCondLst>
                                  <p:childTnLst>
                                    <p:set>
                                      <p:cBhvr>
                                        <p:cTn id="40" dur="1" fill="hold">
                                          <p:stCondLst>
                                            <p:cond delay="0"/>
                                          </p:stCondLst>
                                        </p:cTn>
                                        <p:tgtEl>
                                          <p:spTgt spid="904"/>
                                        </p:tgtEl>
                                        <p:attrNameLst>
                                          <p:attrName>style.visibility</p:attrName>
                                        </p:attrNameLst>
                                      </p:cBhvr>
                                      <p:to>
                                        <p:strVal val="visible"/>
                                      </p:to>
                                    </p:set>
                                  </p:childTnLst>
                                </p:cTn>
                              </p:par>
                              <p:par>
                                <p:cTn id="41" presetID="1" presetClass="entr" fill="hold" nodeType="withEffect">
                                  <p:stCondLst>
                                    <p:cond delay="0"/>
                                  </p:stCondLst>
                                  <p:childTnLst>
                                    <p:set>
                                      <p:cBhvr>
                                        <p:cTn id="42" dur="1" fill="hold">
                                          <p:stCondLst>
                                            <p:cond delay="0"/>
                                          </p:stCondLst>
                                        </p:cTn>
                                        <p:tgtEl>
                                          <p:spTgt spid="905"/>
                                        </p:tgtEl>
                                        <p:attrNameLst>
                                          <p:attrName>style.visibility</p:attrName>
                                        </p:attrNameLst>
                                      </p:cBhvr>
                                      <p:to>
                                        <p:strVal val="visible"/>
                                      </p:to>
                                    </p:set>
                                  </p:childTnLst>
                                </p:cTn>
                              </p:par>
                              <p:par>
                                <p:cTn id="43" presetID="1" presetClass="entr" fill="hold" nodeType="withEffect">
                                  <p:stCondLst>
                                    <p:cond delay="0"/>
                                  </p:stCondLst>
                                  <p:childTnLst>
                                    <p:set>
                                      <p:cBhvr>
                                        <p:cTn id="44" dur="1" fill="hold">
                                          <p:stCondLst>
                                            <p:cond delay="0"/>
                                          </p:stCondLst>
                                        </p:cTn>
                                        <p:tgtEl>
                                          <p:spTgt spid="906"/>
                                        </p:tgtEl>
                                        <p:attrNameLst>
                                          <p:attrName>style.visibility</p:attrName>
                                        </p:attrNameLst>
                                      </p:cBhvr>
                                      <p:to>
                                        <p:strVal val="visible"/>
                                      </p:to>
                                    </p:set>
                                  </p:childTnLst>
                                </p:cTn>
                              </p:par>
                              <p:par>
                                <p:cTn id="45" presetID="1" presetClass="entr" fill="hold" nodeType="withEffect">
                                  <p:stCondLst>
                                    <p:cond delay="0"/>
                                  </p:stCondLst>
                                  <p:childTnLst>
                                    <p:set>
                                      <p:cBhvr>
                                        <p:cTn id="46" dur="1" fill="hold">
                                          <p:stCondLst>
                                            <p:cond delay="0"/>
                                          </p:stCondLst>
                                        </p:cTn>
                                        <p:tgtEl>
                                          <p:spTgt spid="9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14"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5"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916"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Frontier, Reached, and Expansion</a:t>
            </a:r>
            <a:endParaRPr lang="en-US" sz="2600" b="0" u="none" strike="noStrike">
              <a:solidFill>
                <a:srgbClr val="000000"/>
              </a:solidFill>
              <a:effectLst/>
              <a:uFillTx/>
              <a:latin typeface="Arial"/>
            </a:endParaRPr>
          </a:p>
        </p:txBody>
      </p:sp>
      <p:sp>
        <p:nvSpPr>
          <p:cNvPr id="917"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18"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19" name="Text 5"/>
          <p:cNvSpPr/>
          <p:nvPr/>
        </p:nvSpPr>
        <p:spPr>
          <a:xfrm>
            <a:off x="777240" y="1463040"/>
            <a:ext cx="501480" cy="501480"/>
          </a:xfrm>
          <a:prstGeom prst="roundRect">
            <a:avLst>
              <a:gd name="adj" fmla="val 14545"/>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1</a:t>
            </a:r>
            <a:endParaRPr lang="en-US" sz="1800" b="0" u="none" strike="noStrike">
              <a:solidFill>
                <a:srgbClr val="000000"/>
              </a:solidFill>
              <a:effectLst/>
              <a:uFillTx/>
              <a:latin typeface="Arial"/>
            </a:endParaRPr>
          </a:p>
        </p:txBody>
      </p:sp>
      <p:sp>
        <p:nvSpPr>
          <p:cNvPr id="920" name="Text 6"/>
          <p:cNvSpPr/>
          <p:nvPr/>
        </p:nvSpPr>
        <p:spPr>
          <a:xfrm>
            <a:off x="1417320" y="1508760"/>
            <a:ext cx="1918800" cy="318600"/>
          </a:xfrm>
          <a:prstGeom prst="rect">
            <a:avLst/>
          </a:prstGeom>
          <a:noFill/>
          <a:ln w="0">
            <a:noFill/>
          </a:ln>
        </p:spPr>
        <p:style>
          <a:lnRef idx="0"/>
          <a:fillRef idx="0"/>
          <a:effectRef idx="0"/>
          <a:fontRef idx="minor"/>
        </p:style>
        <p:txBody>
          <a:bodyPr lIns="720" tIns="720" rIns="720" bIns="720" anchor="ctr">
            <a:normAutofit fontScale="92500" lnSpcReduction="9999"/>
          </a:bodyPr>
          <a:p>
            <a:pPr defTabSz="914400">
              <a:lnSpc>
                <a:spcPct val="100000"/>
              </a:lnSpc>
              <a:tabLst>
                <a:tab pos="0" algn="l"/>
              </a:tabLst>
            </a:pPr>
            <a:r>
              <a:rPr lang="en-US" sz="1550" b="1" u="none" strike="noStrike">
                <a:solidFill>
                  <a:srgbClr val="102A4C"/>
                </a:solidFill>
                <a:effectLst/>
                <a:uFillTx/>
                <a:latin typeface="Aptos"/>
              </a:rPr>
              <a:t>POP a frontier node</a:t>
            </a:r>
            <a:endParaRPr lang="en-US" sz="1550" b="0" u="none" strike="noStrike">
              <a:solidFill>
                <a:srgbClr val="000000"/>
              </a:solidFill>
              <a:effectLst/>
              <a:uFillTx/>
              <a:latin typeface="Arial"/>
            </a:endParaRPr>
          </a:p>
        </p:txBody>
      </p:sp>
      <p:sp>
        <p:nvSpPr>
          <p:cNvPr id="921" name="Shape 7"/>
          <p:cNvSpPr/>
          <p:nvPr/>
        </p:nvSpPr>
        <p:spPr>
          <a:xfrm>
            <a:off x="3291840" y="1719000"/>
            <a:ext cx="27432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22" name="Text 8"/>
          <p:cNvSpPr/>
          <p:nvPr/>
        </p:nvSpPr>
        <p:spPr>
          <a:xfrm>
            <a:off x="3611880" y="1463040"/>
            <a:ext cx="501480" cy="501480"/>
          </a:xfrm>
          <a:prstGeom prst="roundRect">
            <a:avLst>
              <a:gd name="adj" fmla="val 14545"/>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2</a:t>
            </a:r>
            <a:endParaRPr lang="en-US" sz="1800" b="0" u="none" strike="noStrike">
              <a:solidFill>
                <a:srgbClr val="000000"/>
              </a:solidFill>
              <a:effectLst/>
              <a:uFillTx/>
              <a:latin typeface="Arial"/>
            </a:endParaRPr>
          </a:p>
        </p:txBody>
      </p:sp>
      <p:sp>
        <p:nvSpPr>
          <p:cNvPr id="923" name="Text 9"/>
          <p:cNvSpPr/>
          <p:nvPr/>
        </p:nvSpPr>
        <p:spPr>
          <a:xfrm>
            <a:off x="4251960" y="1508760"/>
            <a:ext cx="1918800" cy="3186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550" b="1" u="none" strike="noStrike">
                <a:solidFill>
                  <a:srgbClr val="102A4C"/>
                </a:solidFill>
                <a:effectLst/>
                <a:uFillTx/>
                <a:latin typeface="Aptos"/>
              </a:rPr>
              <a:t>Goal-test the node</a:t>
            </a:r>
            <a:endParaRPr lang="en-US" sz="1550" b="0" u="none" strike="noStrike">
              <a:solidFill>
                <a:srgbClr val="000000"/>
              </a:solidFill>
              <a:effectLst/>
              <a:uFillTx/>
              <a:latin typeface="Arial"/>
            </a:endParaRPr>
          </a:p>
        </p:txBody>
      </p:sp>
      <p:sp>
        <p:nvSpPr>
          <p:cNvPr id="924" name="Shape 10"/>
          <p:cNvSpPr/>
          <p:nvPr/>
        </p:nvSpPr>
        <p:spPr>
          <a:xfrm>
            <a:off x="6126480" y="1719000"/>
            <a:ext cx="27432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25" name="Text 11"/>
          <p:cNvSpPr/>
          <p:nvPr/>
        </p:nvSpPr>
        <p:spPr>
          <a:xfrm>
            <a:off x="6446520" y="1463040"/>
            <a:ext cx="501480" cy="501480"/>
          </a:xfrm>
          <a:prstGeom prst="roundRect">
            <a:avLst>
              <a:gd name="adj" fmla="val 14545"/>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3</a:t>
            </a:r>
            <a:endParaRPr lang="en-US" sz="1800" b="0" u="none" strike="noStrike">
              <a:solidFill>
                <a:srgbClr val="000000"/>
              </a:solidFill>
              <a:effectLst/>
              <a:uFillTx/>
              <a:latin typeface="Arial"/>
            </a:endParaRPr>
          </a:p>
        </p:txBody>
      </p:sp>
      <p:sp>
        <p:nvSpPr>
          <p:cNvPr id="926" name="Text 12"/>
          <p:cNvSpPr/>
          <p:nvPr/>
        </p:nvSpPr>
        <p:spPr>
          <a:xfrm>
            <a:off x="7086600" y="1508760"/>
            <a:ext cx="1918800" cy="3186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550" b="1" u="none" strike="noStrike">
                <a:solidFill>
                  <a:srgbClr val="102A4C"/>
                </a:solidFill>
                <a:effectLst/>
                <a:uFillTx/>
                <a:latin typeface="Aptos"/>
              </a:rPr>
              <a:t>EXPAND successors</a:t>
            </a:r>
            <a:endParaRPr lang="en-US" sz="1550" b="0" u="none" strike="noStrike">
              <a:solidFill>
                <a:srgbClr val="000000"/>
              </a:solidFill>
              <a:effectLst/>
              <a:uFillTx/>
              <a:latin typeface="Arial"/>
            </a:endParaRPr>
          </a:p>
        </p:txBody>
      </p:sp>
      <p:sp>
        <p:nvSpPr>
          <p:cNvPr id="927" name="Shape 13"/>
          <p:cNvSpPr/>
          <p:nvPr/>
        </p:nvSpPr>
        <p:spPr>
          <a:xfrm>
            <a:off x="8961120" y="1719000"/>
            <a:ext cx="274320" cy="360"/>
          </a:xfrm>
          <a:prstGeom prst="line">
            <a:avLst/>
          </a:prstGeom>
          <a:ln w="2286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28" name="Text 14"/>
          <p:cNvSpPr/>
          <p:nvPr/>
        </p:nvSpPr>
        <p:spPr>
          <a:xfrm>
            <a:off x="9281160" y="1463040"/>
            <a:ext cx="501480" cy="501480"/>
          </a:xfrm>
          <a:prstGeom prst="roundRect">
            <a:avLst>
              <a:gd name="adj" fmla="val 14545"/>
            </a:avLst>
          </a:prstGeom>
          <a:solidFill>
            <a:srgbClr val="F6A01A"/>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112E5C"/>
                </a:solidFill>
                <a:effectLst/>
                <a:uFillTx/>
                <a:latin typeface="Aptos"/>
              </a:rPr>
              <a:t>4</a:t>
            </a:r>
            <a:endParaRPr lang="en-US" sz="1800" b="0" u="none" strike="noStrike">
              <a:solidFill>
                <a:srgbClr val="000000"/>
              </a:solidFill>
              <a:effectLst/>
              <a:uFillTx/>
              <a:latin typeface="Arial"/>
            </a:endParaRPr>
          </a:p>
        </p:txBody>
      </p:sp>
      <p:sp>
        <p:nvSpPr>
          <p:cNvPr id="929" name="Text 15"/>
          <p:cNvSpPr/>
          <p:nvPr/>
        </p:nvSpPr>
        <p:spPr>
          <a:xfrm>
            <a:off x="9921240" y="1508760"/>
            <a:ext cx="1918800" cy="318600"/>
          </a:xfrm>
          <a:prstGeom prst="rect">
            <a:avLst/>
          </a:prstGeom>
          <a:noFill/>
          <a:ln w="0">
            <a:noFill/>
          </a:ln>
        </p:spPr>
        <p:style>
          <a:lnRef idx="0"/>
          <a:fillRef idx="0"/>
          <a:effectRef idx="0"/>
          <a:fontRef idx="minor"/>
        </p:style>
        <p:txBody>
          <a:bodyPr lIns="720" tIns="720" rIns="720" bIns="720" anchor="ctr">
            <a:normAutofit fontScale="85000" lnSpcReduction="19999"/>
          </a:bodyPr>
          <a:p>
            <a:pPr defTabSz="914400">
              <a:lnSpc>
                <a:spcPct val="100000"/>
              </a:lnSpc>
              <a:tabLst>
                <a:tab pos="0" algn="l"/>
              </a:tabLst>
            </a:pPr>
            <a:r>
              <a:rPr lang="en-US" sz="1550" b="1" u="none" strike="noStrike">
                <a:solidFill>
                  <a:srgbClr val="102A4C"/>
                </a:solidFill>
                <a:effectLst/>
                <a:uFillTx/>
                <a:latin typeface="Aptos"/>
              </a:rPr>
              <a:t>Update frontier and reached</a:t>
            </a:r>
            <a:endParaRPr lang="en-US" sz="1550" b="0" u="none" strike="noStrike">
              <a:solidFill>
                <a:srgbClr val="000000"/>
              </a:solidFill>
              <a:effectLst/>
              <a:uFillTx/>
              <a:latin typeface="Arial"/>
            </a:endParaRPr>
          </a:p>
        </p:txBody>
      </p:sp>
      <p:sp>
        <p:nvSpPr>
          <p:cNvPr id="930" name="Text 16"/>
          <p:cNvSpPr/>
          <p:nvPr/>
        </p:nvSpPr>
        <p:spPr>
          <a:xfrm>
            <a:off x="1188720" y="2971800"/>
            <a:ext cx="2193120" cy="50148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2F7FD5"/>
                </a:solidFill>
                <a:effectLst/>
                <a:uFillTx/>
                <a:latin typeface="Aptos"/>
              </a:rPr>
              <a:t>Frontier</a:t>
            </a:r>
            <a:endParaRPr lang="en-US" sz="1700" b="0" u="none" strike="noStrike">
              <a:solidFill>
                <a:srgbClr val="000000"/>
              </a:solidFill>
              <a:effectLst/>
              <a:uFillTx/>
              <a:latin typeface="Arial"/>
            </a:endParaRPr>
          </a:p>
        </p:txBody>
      </p:sp>
      <p:sp>
        <p:nvSpPr>
          <p:cNvPr id="931" name="Text 17"/>
          <p:cNvSpPr/>
          <p:nvPr/>
        </p:nvSpPr>
        <p:spPr>
          <a:xfrm>
            <a:off x="960120" y="3611880"/>
            <a:ext cx="2650320" cy="5472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102A4C"/>
                </a:solidFill>
                <a:effectLst/>
                <a:uFillTx/>
                <a:latin typeface="Aptos"/>
              </a:rPr>
              <a:t>Generated but unexpanded leaf nodes.</a:t>
            </a:r>
            <a:endParaRPr lang="en-US" sz="1400" b="0" u="none" strike="noStrike">
              <a:solidFill>
                <a:srgbClr val="000000"/>
              </a:solidFill>
              <a:effectLst/>
              <a:uFillTx/>
              <a:latin typeface="Arial"/>
            </a:endParaRPr>
          </a:p>
        </p:txBody>
      </p:sp>
      <p:sp>
        <p:nvSpPr>
          <p:cNvPr id="932" name="Text 18"/>
          <p:cNvSpPr/>
          <p:nvPr/>
        </p:nvSpPr>
        <p:spPr>
          <a:xfrm>
            <a:off x="5029200" y="2971800"/>
            <a:ext cx="2193120" cy="50148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177245"/>
                </a:solidFill>
                <a:effectLst/>
                <a:uFillTx/>
                <a:latin typeface="Aptos"/>
              </a:rPr>
              <a:t>Reached table</a:t>
            </a:r>
            <a:endParaRPr lang="en-US" sz="1700" b="0" u="none" strike="noStrike">
              <a:solidFill>
                <a:srgbClr val="000000"/>
              </a:solidFill>
              <a:effectLst/>
              <a:uFillTx/>
              <a:latin typeface="Arial"/>
            </a:endParaRPr>
          </a:p>
        </p:txBody>
      </p:sp>
      <p:sp>
        <p:nvSpPr>
          <p:cNvPr id="933" name="Text 19"/>
          <p:cNvSpPr/>
          <p:nvPr/>
        </p:nvSpPr>
        <p:spPr>
          <a:xfrm>
            <a:off x="4572000" y="3611880"/>
            <a:ext cx="3107520" cy="6843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102A4C"/>
                </a:solidFill>
                <a:effectLst/>
                <a:uFillTx/>
                <a:latin typeface="Aptos"/>
              </a:rPr>
              <a:t>States already generated; often stores best node so far.</a:t>
            </a:r>
            <a:endParaRPr lang="en-US" sz="1400" b="0" u="none" strike="noStrike">
              <a:solidFill>
                <a:srgbClr val="000000"/>
              </a:solidFill>
              <a:effectLst/>
              <a:uFillTx/>
              <a:latin typeface="Arial"/>
            </a:endParaRPr>
          </a:p>
        </p:txBody>
      </p:sp>
      <p:sp>
        <p:nvSpPr>
          <p:cNvPr id="934" name="Text 20"/>
          <p:cNvSpPr/>
          <p:nvPr/>
        </p:nvSpPr>
        <p:spPr>
          <a:xfrm>
            <a:off x="8869680" y="2971800"/>
            <a:ext cx="2193120" cy="501480"/>
          </a:xfrm>
          <a:prstGeom prst="roundRect">
            <a:avLst>
              <a:gd name="adj" fmla="val 14545"/>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112E5C"/>
                </a:solidFill>
                <a:effectLst/>
                <a:uFillTx/>
                <a:latin typeface="Aptos"/>
              </a:rPr>
              <a:t>Strategy</a:t>
            </a:r>
            <a:endParaRPr lang="en-US" sz="1700" b="0" u="none" strike="noStrike">
              <a:solidFill>
                <a:srgbClr val="000000"/>
              </a:solidFill>
              <a:effectLst/>
              <a:uFillTx/>
              <a:latin typeface="Arial"/>
            </a:endParaRPr>
          </a:p>
        </p:txBody>
      </p:sp>
      <p:sp>
        <p:nvSpPr>
          <p:cNvPr id="935" name="Text 21"/>
          <p:cNvSpPr/>
          <p:nvPr/>
        </p:nvSpPr>
        <p:spPr>
          <a:xfrm>
            <a:off x="8458200" y="3611880"/>
            <a:ext cx="3016080" cy="6843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400" b="0" u="none" strike="noStrike">
                <a:solidFill>
                  <a:srgbClr val="102A4C"/>
                </a:solidFill>
                <a:effectLst/>
                <a:uFillTx/>
                <a:latin typeface="Aptos"/>
              </a:rPr>
              <a:t>Rule for choosing which frontier node to expand next.</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36"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937"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938"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The Frontier Separates Two Regions</a:t>
            </a:r>
            <a:endParaRPr lang="en-US" sz="2600" b="0" u="none" strike="noStrike">
              <a:solidFill>
                <a:srgbClr val="000000"/>
              </a:solidFill>
              <a:effectLst/>
              <a:uFillTx/>
              <a:latin typeface="Arial"/>
            </a:endParaRPr>
          </a:p>
        </p:txBody>
      </p:sp>
      <p:sp>
        <p:nvSpPr>
          <p:cNvPr id="939"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40"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41" name="Oval 6"/>
          <p:cNvSpPr/>
          <p:nvPr/>
        </p:nvSpPr>
        <p:spPr>
          <a:xfrm>
            <a:off x="7025760" y="1463040"/>
            <a:ext cx="3473280" cy="3473280"/>
          </a:xfrm>
          <a:prstGeom prst="ellipse">
            <a:avLst/>
          </a:prstGeom>
          <a:solidFill>
            <a:srgbClr val="FFFFFF"/>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942" name="Oval 7"/>
          <p:cNvSpPr/>
          <p:nvPr/>
        </p:nvSpPr>
        <p:spPr>
          <a:xfrm>
            <a:off x="7574400" y="2011680"/>
            <a:ext cx="2376000" cy="2376000"/>
          </a:xfrm>
          <a:prstGeom prst="ellipse">
            <a:avLst/>
          </a:prstGeom>
          <a:solidFill>
            <a:srgbClr val="FFE5B6"/>
          </a:solidFill>
          <a:ln w="15240">
            <a:solidFill>
              <a:srgbClr val="F6A01A"/>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943" name="Oval 8"/>
          <p:cNvSpPr/>
          <p:nvPr/>
        </p:nvSpPr>
        <p:spPr>
          <a:xfrm>
            <a:off x="8077320" y="2514600"/>
            <a:ext cx="1370160" cy="1370160"/>
          </a:xfrm>
          <a:prstGeom prst="ellipse">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944" name="Rectangle 9"/>
          <p:cNvSpPr/>
          <p:nvPr/>
        </p:nvSpPr>
        <p:spPr>
          <a:xfrm>
            <a:off x="8077320" y="3063240"/>
            <a:ext cx="137016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1" u="none" strike="noStrike">
                <a:solidFill>
                  <a:srgbClr val="112E5C"/>
                </a:solidFill>
                <a:effectLst/>
                <a:uFillTx/>
                <a:latin typeface="Aptos"/>
              </a:rPr>
              <a:t>expanded</a:t>
            </a:r>
            <a:endParaRPr lang="en-US" sz="1150" b="0" u="none" strike="noStrike">
              <a:solidFill>
                <a:srgbClr val="000000"/>
              </a:solidFill>
              <a:effectLst/>
              <a:uFillTx/>
              <a:latin typeface="Arial"/>
            </a:endParaRPr>
          </a:p>
        </p:txBody>
      </p:sp>
      <p:sp>
        <p:nvSpPr>
          <p:cNvPr id="945" name="Rectangle 10"/>
          <p:cNvSpPr/>
          <p:nvPr/>
        </p:nvSpPr>
        <p:spPr>
          <a:xfrm>
            <a:off x="8039160" y="2149200"/>
            <a:ext cx="1370160" cy="245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1" u="none" strike="noStrike">
                <a:solidFill>
                  <a:srgbClr val="112E5C"/>
                </a:solidFill>
                <a:effectLst/>
                <a:uFillTx/>
                <a:latin typeface="Aptos"/>
              </a:rPr>
              <a:t>frontier</a:t>
            </a:r>
            <a:endParaRPr lang="en-US" sz="1150" b="0" u="none" strike="noStrike">
              <a:solidFill>
                <a:srgbClr val="000000"/>
              </a:solidFill>
              <a:effectLst/>
              <a:uFillTx/>
              <a:latin typeface="Arial"/>
            </a:endParaRPr>
          </a:p>
        </p:txBody>
      </p:sp>
      <p:sp>
        <p:nvSpPr>
          <p:cNvPr id="946" name="Rectangle 11"/>
          <p:cNvSpPr/>
          <p:nvPr/>
        </p:nvSpPr>
        <p:spPr>
          <a:xfrm>
            <a:off x="7574400" y="1614240"/>
            <a:ext cx="2376000" cy="245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not yet reached</a:t>
            </a:r>
            <a:endParaRPr lang="en-US" sz="1150" b="0" u="none" strike="noStrike">
              <a:solidFill>
                <a:srgbClr val="000000"/>
              </a:solidFill>
              <a:effectLst/>
              <a:uFillTx/>
              <a:latin typeface="Arial"/>
            </a:endParaRPr>
          </a:p>
        </p:txBody>
      </p:sp>
      <p:sp>
        <p:nvSpPr>
          <p:cNvPr id="947" name="Rounded Rectangle 12"/>
          <p:cNvSpPr/>
          <p:nvPr/>
        </p:nvSpPr>
        <p:spPr>
          <a:xfrm>
            <a:off x="777240" y="1554480"/>
            <a:ext cx="17816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50" b="1" u="none" strike="noStrike">
                <a:solidFill>
                  <a:srgbClr val="112E5C"/>
                </a:solidFill>
                <a:effectLst/>
                <a:uFillTx/>
                <a:latin typeface="Aptos"/>
              </a:rPr>
              <a:t>Interior</a:t>
            </a:r>
            <a:endParaRPr lang="en-US" sz="1350" b="0" u="none" strike="noStrike">
              <a:solidFill>
                <a:srgbClr val="000000"/>
              </a:solidFill>
              <a:effectLst/>
              <a:uFillTx/>
              <a:latin typeface="Arial"/>
            </a:endParaRPr>
          </a:p>
        </p:txBody>
      </p:sp>
      <p:sp>
        <p:nvSpPr>
          <p:cNvPr id="948" name="Rectangle 13"/>
          <p:cNvSpPr/>
          <p:nvPr/>
        </p:nvSpPr>
        <p:spPr>
          <a:xfrm>
            <a:off x="2697480" y="1554480"/>
            <a:ext cx="31989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Every state here has already been expanded.</a:t>
            </a:r>
            <a:endParaRPr lang="en-US" sz="1300" b="0" u="none" strike="noStrike">
              <a:solidFill>
                <a:srgbClr val="000000"/>
              </a:solidFill>
              <a:effectLst/>
              <a:uFillTx/>
              <a:latin typeface="Arial"/>
            </a:endParaRPr>
          </a:p>
        </p:txBody>
      </p:sp>
      <p:sp>
        <p:nvSpPr>
          <p:cNvPr id="949" name="Rounded Rectangle 14"/>
          <p:cNvSpPr/>
          <p:nvPr/>
        </p:nvSpPr>
        <p:spPr>
          <a:xfrm>
            <a:off x="777240" y="2286000"/>
            <a:ext cx="1781640" cy="4100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50" b="1" u="none" strike="noStrike">
                <a:solidFill>
                  <a:srgbClr val="112E5C"/>
                </a:solidFill>
                <a:effectLst/>
                <a:uFillTx/>
                <a:latin typeface="Aptos"/>
              </a:rPr>
              <a:t>Frontier</a:t>
            </a:r>
            <a:endParaRPr lang="en-US" sz="1350" b="0" u="none" strike="noStrike">
              <a:solidFill>
                <a:srgbClr val="000000"/>
              </a:solidFill>
              <a:effectLst/>
              <a:uFillTx/>
              <a:latin typeface="Arial"/>
            </a:endParaRPr>
          </a:p>
        </p:txBody>
      </p:sp>
      <p:sp>
        <p:nvSpPr>
          <p:cNvPr id="950" name="Rectangle 15"/>
          <p:cNvSpPr/>
          <p:nvPr/>
        </p:nvSpPr>
        <p:spPr>
          <a:xfrm>
            <a:off x="2697480" y="2286000"/>
            <a:ext cx="31989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Generated but not yet expanded. The boundary itself.</a:t>
            </a:r>
            <a:endParaRPr lang="en-US" sz="1300" b="0" u="none" strike="noStrike">
              <a:solidFill>
                <a:srgbClr val="000000"/>
              </a:solidFill>
              <a:effectLst/>
              <a:uFillTx/>
              <a:latin typeface="Arial"/>
            </a:endParaRPr>
          </a:p>
        </p:txBody>
      </p:sp>
      <p:sp>
        <p:nvSpPr>
          <p:cNvPr id="951" name="Rounded Rectangle 16"/>
          <p:cNvSpPr/>
          <p:nvPr/>
        </p:nvSpPr>
        <p:spPr>
          <a:xfrm>
            <a:off x="777240" y="3017520"/>
            <a:ext cx="1781640" cy="410040"/>
          </a:xfrm>
          <a:prstGeom prst="roundRect">
            <a:avLst>
              <a:gd name="adj" fmla="val 15384"/>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50" b="1" u="none" strike="noStrike">
                <a:solidFill>
                  <a:srgbClr val="112E5C"/>
                </a:solidFill>
                <a:effectLst/>
                <a:uFillTx/>
                <a:latin typeface="Aptos"/>
              </a:rPr>
              <a:t>Exterior</a:t>
            </a:r>
            <a:endParaRPr lang="en-US" sz="1350" b="0" u="none" strike="noStrike">
              <a:solidFill>
                <a:srgbClr val="000000"/>
              </a:solidFill>
              <a:effectLst/>
              <a:uFillTx/>
              <a:latin typeface="Arial"/>
            </a:endParaRPr>
          </a:p>
        </p:txBody>
      </p:sp>
      <p:sp>
        <p:nvSpPr>
          <p:cNvPr id="952" name="Rectangle 17"/>
          <p:cNvSpPr/>
          <p:nvPr/>
        </p:nvSpPr>
        <p:spPr>
          <a:xfrm>
            <a:off x="2697480" y="3017520"/>
            <a:ext cx="31989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Not yet reached. No node has been generated for it.</a:t>
            </a:r>
            <a:endParaRPr lang="en-US" sz="1300" b="0" u="none" strike="noStrike">
              <a:solidFill>
                <a:srgbClr val="000000"/>
              </a:solidFill>
              <a:effectLst/>
              <a:uFillTx/>
              <a:latin typeface="Arial"/>
            </a:endParaRPr>
          </a:p>
        </p:txBody>
      </p:sp>
      <p:sp>
        <p:nvSpPr>
          <p:cNvPr id="953" name="Rectangle 18"/>
          <p:cNvSpPr/>
          <p:nvPr/>
        </p:nvSpPr>
        <p:spPr>
          <a:xfrm>
            <a:off x="993600" y="511164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Every path from an expanded state to an unreached state must cross the frontier.</a:t>
            </a:r>
            <a:endParaRPr lang="en-US" sz="1700" b="0" u="none" strike="noStrike">
              <a:solidFill>
                <a:srgbClr val="000000"/>
              </a:solidFill>
              <a:effectLst/>
              <a:uFillTx/>
              <a:latin typeface="Arial"/>
            </a:endParaRPr>
          </a:p>
        </p:txBody>
      </p:sp>
      <p:sp>
        <p:nvSpPr>
          <p:cNvPr id="954" name="Rectangle 19"/>
          <p:cNvSpPr/>
          <p:nvPr/>
        </p:nvSpPr>
        <p:spPr>
          <a:xfrm>
            <a:off x="633600" y="5592240"/>
            <a:ext cx="112741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That is why the frontier is the only thing the algorithm has to hold on to and why its size is the space complexity of the search.</a:t>
            </a:r>
            <a:endParaRPr lang="en-US" sz="1500" b="0" u="none" strike="noStrike">
              <a:solidFill>
                <a:srgbClr val="000000"/>
              </a:solidFill>
              <a:effectLst/>
              <a:uFillTx/>
              <a:latin typeface="Arial"/>
            </a:endParaRPr>
          </a:p>
        </p:txBody>
      </p:sp>
      <p:sp>
        <p:nvSpPr>
          <p:cNvPr id="955" name="Rectangle 20"/>
          <p:cNvSpPr/>
          <p:nvPr/>
        </p:nvSpPr>
        <p:spPr>
          <a:xfrm>
            <a:off x="868680" y="599436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Reached is a separate structure: the set of states any node has been generated for, whether or not that node has been expanded.</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56"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957"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958"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Best-First Search: One Algorithm, Many Instances</a:t>
            </a:r>
            <a:endParaRPr lang="en-US" sz="2600" b="0" u="none" strike="noStrike">
              <a:solidFill>
                <a:srgbClr val="000000"/>
              </a:solidFill>
              <a:effectLst/>
              <a:uFillTx/>
              <a:latin typeface="Arial"/>
            </a:endParaRPr>
          </a:p>
        </p:txBody>
      </p:sp>
      <p:sp>
        <p:nvSpPr>
          <p:cNvPr id="959"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60"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61" name="Rounded Rectangle 8"/>
          <p:cNvSpPr/>
          <p:nvPr/>
        </p:nvSpPr>
        <p:spPr>
          <a:xfrm>
            <a:off x="6660000" y="1417320"/>
            <a:ext cx="4753440" cy="501480"/>
          </a:xfrm>
          <a:prstGeom prst="roundRect">
            <a:avLst>
              <a:gd name="adj" fmla="val 110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0" u="none" strike="noStrike">
                <a:solidFill>
                  <a:srgbClr val="FFFFFF"/>
                </a:solidFill>
                <a:effectLst/>
                <a:uFillTx/>
                <a:latin typeface="Aptos"/>
              </a:rPr>
              <a:t>Pop the frontier node with minimum  </a:t>
            </a:r>
            <a:r>
              <a:rPr lang="en-US" sz="1700" b="1" u="none" strike="noStrike">
                <a:solidFill>
                  <a:srgbClr val="FFFFFF"/>
                </a:solidFill>
                <a:effectLst/>
                <a:uFillTx/>
                <a:latin typeface="Aptos"/>
              </a:rPr>
              <a:t>f(n)</a:t>
            </a:r>
            <a:endParaRPr lang="en-US" sz="1700" b="0" u="none" strike="noStrike">
              <a:solidFill>
                <a:srgbClr val="FFFFFF"/>
              </a:solidFill>
              <a:effectLst/>
              <a:uFillTx/>
              <a:latin typeface="Arial"/>
            </a:endParaRPr>
          </a:p>
        </p:txBody>
      </p:sp>
      <p:sp>
        <p:nvSpPr>
          <p:cNvPr id="962" name="Rounded Rectangle 9"/>
          <p:cNvSpPr/>
          <p:nvPr/>
        </p:nvSpPr>
        <p:spPr>
          <a:xfrm>
            <a:off x="6660000" y="2103120"/>
            <a:ext cx="10958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BFS</a:t>
            </a:r>
            <a:endParaRPr lang="en-US" sz="1400" b="0" u="none" strike="noStrike">
              <a:solidFill>
                <a:srgbClr val="000000"/>
              </a:solidFill>
              <a:effectLst/>
              <a:uFillTx/>
              <a:latin typeface="Arial"/>
            </a:endParaRPr>
          </a:p>
        </p:txBody>
      </p:sp>
      <p:sp>
        <p:nvSpPr>
          <p:cNvPr id="963" name="Rectangle 10"/>
          <p:cNvSpPr/>
          <p:nvPr/>
        </p:nvSpPr>
        <p:spPr>
          <a:xfrm>
            <a:off x="7894440" y="2103120"/>
            <a:ext cx="351900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400" b="1" u="none" strike="noStrike">
                <a:solidFill>
                  <a:srgbClr val="102A4C"/>
                </a:solidFill>
                <a:effectLst/>
                <a:uFillTx/>
                <a:latin typeface="Aptos"/>
              </a:rPr>
              <a:t>f(n) = depth(n)</a:t>
            </a:r>
            <a:endParaRPr lang="en-US" sz="1400" b="0" u="none" strike="noStrike">
              <a:solidFill>
                <a:srgbClr val="000000"/>
              </a:solidFill>
              <a:effectLst/>
              <a:uFillTx/>
              <a:latin typeface="Arial"/>
            </a:endParaRPr>
          </a:p>
        </p:txBody>
      </p:sp>
      <p:sp>
        <p:nvSpPr>
          <p:cNvPr id="964" name="Rounded Rectangle 11"/>
          <p:cNvSpPr/>
          <p:nvPr/>
        </p:nvSpPr>
        <p:spPr>
          <a:xfrm>
            <a:off x="6660000" y="2697480"/>
            <a:ext cx="109584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UCS</a:t>
            </a:r>
            <a:endParaRPr lang="en-US" sz="1400" b="0" u="none" strike="noStrike">
              <a:solidFill>
                <a:srgbClr val="000000"/>
              </a:solidFill>
              <a:effectLst/>
              <a:uFillTx/>
              <a:latin typeface="Arial"/>
            </a:endParaRPr>
          </a:p>
        </p:txBody>
      </p:sp>
      <p:sp>
        <p:nvSpPr>
          <p:cNvPr id="965" name="Rectangle 12"/>
          <p:cNvSpPr/>
          <p:nvPr/>
        </p:nvSpPr>
        <p:spPr>
          <a:xfrm>
            <a:off x="7894440" y="2697480"/>
            <a:ext cx="351900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400" b="1" u="none" strike="noStrike">
                <a:solidFill>
                  <a:srgbClr val="102A4C"/>
                </a:solidFill>
                <a:effectLst/>
                <a:uFillTx/>
                <a:latin typeface="Aptos"/>
              </a:rPr>
              <a:t>f(n) = g(n), the path cost</a:t>
            </a:r>
            <a:endParaRPr lang="en-US" sz="1400" b="0" u="none" strike="noStrike">
              <a:solidFill>
                <a:srgbClr val="000000"/>
              </a:solidFill>
              <a:effectLst/>
              <a:uFillTx/>
              <a:latin typeface="Arial"/>
            </a:endParaRPr>
          </a:p>
        </p:txBody>
      </p:sp>
      <p:sp>
        <p:nvSpPr>
          <p:cNvPr id="966" name="Rounded Rectangle 13"/>
          <p:cNvSpPr/>
          <p:nvPr/>
        </p:nvSpPr>
        <p:spPr>
          <a:xfrm>
            <a:off x="6660000" y="3291840"/>
            <a:ext cx="1095840" cy="4100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DFS</a:t>
            </a:r>
            <a:endParaRPr lang="en-US" sz="1400" b="0" u="none" strike="noStrike">
              <a:solidFill>
                <a:srgbClr val="000000"/>
              </a:solidFill>
              <a:effectLst/>
              <a:uFillTx/>
              <a:latin typeface="Arial"/>
            </a:endParaRPr>
          </a:p>
        </p:txBody>
      </p:sp>
      <p:sp>
        <p:nvSpPr>
          <p:cNvPr id="967" name="Rectangle 14"/>
          <p:cNvSpPr/>
          <p:nvPr/>
        </p:nvSpPr>
        <p:spPr>
          <a:xfrm>
            <a:off x="7894440" y="3291840"/>
            <a:ext cx="351900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400" b="1" u="none" strike="noStrike">
                <a:solidFill>
                  <a:srgbClr val="102A4C"/>
                </a:solidFill>
                <a:effectLst/>
                <a:uFillTx/>
                <a:latin typeface="Aptos"/>
              </a:rPr>
              <a:t>f(n) = −depth(n)</a:t>
            </a:r>
            <a:endParaRPr lang="en-US" sz="1400" b="0" u="none" strike="noStrike">
              <a:solidFill>
                <a:srgbClr val="000000"/>
              </a:solidFill>
              <a:effectLst/>
              <a:uFillTx/>
              <a:latin typeface="Arial"/>
            </a:endParaRPr>
          </a:p>
        </p:txBody>
      </p:sp>
      <p:sp>
        <p:nvSpPr>
          <p:cNvPr id="968" name="Rounded Rectangle 15"/>
          <p:cNvSpPr/>
          <p:nvPr/>
        </p:nvSpPr>
        <p:spPr>
          <a:xfrm>
            <a:off x="6660000" y="3977640"/>
            <a:ext cx="4753440" cy="8215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969" name="Rectangle 16"/>
          <p:cNvSpPr/>
          <p:nvPr/>
        </p:nvSpPr>
        <p:spPr>
          <a:xfrm>
            <a:off x="6842880" y="4069080"/>
            <a:ext cx="4387680" cy="6386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0" u="none" strike="noStrike">
                <a:solidFill>
                  <a:srgbClr val="112E5C"/>
                </a:solidFill>
                <a:effectLst/>
                <a:uFillTx/>
                <a:latin typeface="Aptos"/>
              </a:rPr>
              <a:t>Next lecture adds: </a:t>
            </a:r>
            <a:r>
              <a:rPr lang="en-US" sz="1350" b="0" u="none" strike="noStrike">
                <a:solidFill>
                  <a:schemeClr val="accent6"/>
                </a:solidFill>
                <a:effectLst/>
                <a:uFillTx/>
                <a:latin typeface="Aptos"/>
              </a:rPr>
              <a:t>f(n) = h(n) </a:t>
            </a:r>
            <a:r>
              <a:rPr lang="en-US" sz="1350" b="0" u="none" strike="noStrike">
                <a:solidFill>
                  <a:schemeClr val="accent5">
                    <a:lumMod val="75000"/>
                  </a:schemeClr>
                </a:solidFill>
                <a:effectLst/>
                <a:uFillTx/>
                <a:latin typeface="Aptos"/>
              </a:rPr>
              <a:t>for</a:t>
            </a:r>
            <a:r>
              <a:rPr lang="en-US" sz="1350" b="0" u="none" strike="noStrike">
                <a:solidFill>
                  <a:schemeClr val="accent6"/>
                </a:solidFill>
                <a:effectLst/>
                <a:uFillTx/>
                <a:latin typeface="Aptos"/>
              </a:rPr>
              <a:t> greedy best-first</a:t>
            </a:r>
            <a:r>
              <a:rPr lang="en-US" sz="1350" b="0" u="none" strike="noStrike">
                <a:solidFill>
                  <a:srgbClr val="112E5C"/>
                </a:solidFill>
                <a:effectLst/>
                <a:uFillTx/>
                <a:latin typeface="Aptos"/>
              </a:rPr>
              <a:t>, and </a:t>
            </a:r>
            <a:r>
              <a:rPr lang="en-US" sz="1350" b="0" u="none" strike="noStrike">
                <a:solidFill>
                  <a:schemeClr val="accent1"/>
                </a:solidFill>
                <a:effectLst/>
                <a:uFillTx/>
                <a:latin typeface="Aptos"/>
              </a:rPr>
              <a:t>f(n) = g(n) + h(n)</a:t>
            </a:r>
            <a:r>
              <a:rPr lang="en-US" sz="1350" b="0" u="none" strike="noStrike">
                <a:solidFill>
                  <a:srgbClr val="112E5C"/>
                </a:solidFill>
                <a:effectLst/>
                <a:uFillTx/>
                <a:latin typeface="Aptos"/>
              </a:rPr>
              <a:t> for </a:t>
            </a:r>
            <a:r>
              <a:rPr lang="en-US" sz="1350" b="0" u="none" strike="noStrike">
                <a:solidFill>
                  <a:schemeClr val="accent1"/>
                </a:solidFill>
                <a:effectLst/>
                <a:uFillTx/>
                <a:latin typeface="Aptos"/>
              </a:rPr>
              <a:t>A*</a:t>
            </a:r>
            <a:r>
              <a:rPr lang="en-US" sz="1350" b="0" u="none" strike="noStrike">
                <a:solidFill>
                  <a:srgbClr val="112E5C"/>
                </a:solidFill>
                <a:effectLst/>
                <a:uFillTx/>
                <a:latin typeface="Aptos"/>
              </a:rPr>
              <a:t>. Same loop, different f.</a:t>
            </a:r>
            <a:endParaRPr lang="en-US" sz="1350" b="0" u="none" strike="noStrike">
              <a:solidFill>
                <a:srgbClr val="000000"/>
              </a:solidFill>
              <a:effectLst/>
              <a:uFillTx/>
              <a:latin typeface="Arial"/>
            </a:endParaRPr>
          </a:p>
        </p:txBody>
      </p:sp>
      <p:sp>
        <p:nvSpPr>
          <p:cNvPr id="970" name="Rectangle 17"/>
          <p:cNvSpPr/>
          <p:nvPr/>
        </p:nvSpPr>
        <p:spPr>
          <a:xfrm>
            <a:off x="914400" y="493776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Change f and you change the algorithm. Everything in Section 3.4 is this loop with a different priority.</a:t>
            </a:r>
            <a:endParaRPr lang="en-US" sz="1700" b="0" u="none" strike="noStrike">
              <a:solidFill>
                <a:srgbClr val="000000"/>
              </a:solidFill>
              <a:effectLst/>
              <a:uFillTx/>
              <a:latin typeface="Arial"/>
            </a:endParaRPr>
          </a:p>
        </p:txBody>
      </p:sp>
      <p:sp>
        <p:nvSpPr>
          <p:cNvPr id="971" name="Rectangle 18"/>
          <p:cNvSpPr/>
          <p:nvPr/>
        </p:nvSpPr>
        <p:spPr>
          <a:xfrm>
            <a:off x="914400" y="553212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400" b="1" u="none" strike="noStrike">
                <a:solidFill>
                  <a:srgbClr val="9B1C1C"/>
                </a:solidFill>
                <a:effectLst/>
                <a:uFillTx/>
                <a:latin typeface="Aptos"/>
              </a:rPr>
              <a:t>Note the re-add rule: a node already in reached is replaced when a cheaper path to the same state turns up.</a:t>
            </a:r>
            <a:endParaRPr lang="en-US" sz="1400" b="0" u="none" strike="noStrike">
              <a:solidFill>
                <a:srgbClr val="000000"/>
              </a:solidFill>
              <a:effectLst/>
              <a:uFillTx/>
              <a:latin typeface="Arial"/>
            </a:endParaRPr>
          </a:p>
        </p:txBody>
      </p:sp>
      <p:pic>
        <p:nvPicPr>
          <p:cNvPr id="972" name="Image 0" descr="preencoded.png"/>
          <p:cNvPicPr/>
          <p:nvPr/>
        </p:nvPicPr>
        <p:blipFill>
          <a:blip r:embed="rId1">
            <a:extLst>
              <a:ext uri="{96DAC541-7B7A-43D3-8B79-37D633B846F1}">
                <asvg:svgBlip xmlns:asvg="http://schemas.microsoft.com/office/drawing/2016/SVG/main" r:embed="rId2"/>
              </a:ext>
            </a:extLst>
          </a:blip>
          <a:stretch/>
        </p:blipFill>
        <p:spPr>
          <a:xfrm>
            <a:off x="356400" y="1347840"/>
            <a:ext cx="5768640" cy="3109320"/>
          </a:xfrm>
          <a:prstGeom prst="rect">
            <a:avLst/>
          </a:prstGeom>
          <a:noFill/>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73"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74"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975"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One Search Engine, Different Frontier Rules</a:t>
            </a:r>
            <a:endParaRPr lang="en-US" sz="2600" b="0" u="none" strike="noStrike">
              <a:solidFill>
                <a:srgbClr val="000000"/>
              </a:solidFill>
              <a:effectLst/>
              <a:uFillTx/>
              <a:latin typeface="Arial"/>
            </a:endParaRPr>
          </a:p>
        </p:txBody>
      </p:sp>
      <p:sp>
        <p:nvSpPr>
          <p:cNvPr id="976"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77"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78" name="Text 7"/>
          <p:cNvSpPr/>
          <p:nvPr/>
        </p:nvSpPr>
        <p:spPr>
          <a:xfrm>
            <a:off x="6720840" y="1691640"/>
            <a:ext cx="1141560" cy="455760"/>
          </a:xfrm>
          <a:prstGeom prst="roundRect">
            <a:avLst>
              <a:gd name="adj" fmla="val 16000"/>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2F7FD5"/>
                </a:solidFill>
                <a:effectLst/>
                <a:uFillTx/>
                <a:latin typeface="Aptos"/>
              </a:rPr>
              <a:t>BFS</a:t>
            </a:r>
            <a:endParaRPr lang="en-US" sz="1500" b="0" u="none" strike="noStrike">
              <a:solidFill>
                <a:srgbClr val="000000"/>
              </a:solidFill>
              <a:effectLst/>
              <a:uFillTx/>
              <a:latin typeface="Arial"/>
            </a:endParaRPr>
          </a:p>
        </p:txBody>
      </p:sp>
      <p:sp>
        <p:nvSpPr>
          <p:cNvPr id="979" name="Text 8"/>
          <p:cNvSpPr/>
          <p:nvPr/>
        </p:nvSpPr>
        <p:spPr>
          <a:xfrm>
            <a:off x="8092440" y="1691640"/>
            <a:ext cx="2010240" cy="21816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500" b="1" u="none" strike="noStrike">
                <a:solidFill>
                  <a:srgbClr val="102A4C"/>
                </a:solidFill>
                <a:effectLst/>
                <a:uFillTx/>
                <a:latin typeface="Aptos"/>
              </a:rPr>
              <a:t>FIFO queue</a:t>
            </a:r>
            <a:endParaRPr lang="en-US" sz="1500" b="0" u="none" strike="noStrike">
              <a:solidFill>
                <a:srgbClr val="000000"/>
              </a:solidFill>
              <a:effectLst/>
              <a:uFillTx/>
              <a:latin typeface="Arial"/>
            </a:endParaRPr>
          </a:p>
        </p:txBody>
      </p:sp>
      <p:sp>
        <p:nvSpPr>
          <p:cNvPr id="980" name="Text 9"/>
          <p:cNvSpPr/>
          <p:nvPr/>
        </p:nvSpPr>
        <p:spPr>
          <a:xfrm>
            <a:off x="8092440" y="1984320"/>
            <a:ext cx="2833200" cy="1998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250" b="0" u="none" strike="noStrike">
                <a:solidFill>
                  <a:srgbClr val="5C6B80"/>
                </a:solidFill>
                <a:effectLst/>
                <a:uFillTx/>
                <a:latin typeface="Aptos"/>
              </a:rPr>
              <a:t>shallowest first</a:t>
            </a:r>
            <a:endParaRPr lang="en-US" sz="1250" b="0" u="none" strike="noStrike">
              <a:solidFill>
                <a:srgbClr val="000000"/>
              </a:solidFill>
              <a:effectLst/>
              <a:uFillTx/>
              <a:latin typeface="Arial"/>
            </a:endParaRPr>
          </a:p>
        </p:txBody>
      </p:sp>
      <p:sp>
        <p:nvSpPr>
          <p:cNvPr id="981" name="Text 10"/>
          <p:cNvSpPr/>
          <p:nvPr/>
        </p:nvSpPr>
        <p:spPr>
          <a:xfrm>
            <a:off x="6720840" y="2862000"/>
            <a:ext cx="1141560" cy="455760"/>
          </a:xfrm>
          <a:prstGeom prst="roundRect">
            <a:avLst>
              <a:gd name="adj" fmla="val 16000"/>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77245"/>
                </a:solidFill>
                <a:effectLst/>
                <a:uFillTx/>
                <a:latin typeface="Aptos"/>
              </a:rPr>
              <a:t>UCS</a:t>
            </a:r>
            <a:endParaRPr lang="en-US" sz="1500" b="0" u="none" strike="noStrike">
              <a:solidFill>
                <a:srgbClr val="000000"/>
              </a:solidFill>
              <a:effectLst/>
              <a:uFillTx/>
              <a:latin typeface="Arial"/>
            </a:endParaRPr>
          </a:p>
        </p:txBody>
      </p:sp>
      <p:sp>
        <p:nvSpPr>
          <p:cNvPr id="982" name="Text 11"/>
          <p:cNvSpPr/>
          <p:nvPr/>
        </p:nvSpPr>
        <p:spPr>
          <a:xfrm>
            <a:off x="8092440" y="2862000"/>
            <a:ext cx="2010240" cy="21816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500" b="1" u="none" strike="noStrike">
                <a:solidFill>
                  <a:srgbClr val="102A4C"/>
                </a:solidFill>
                <a:effectLst/>
                <a:uFillTx/>
                <a:latin typeface="Aptos"/>
              </a:rPr>
              <a:t>priority by g(n)</a:t>
            </a:r>
            <a:endParaRPr lang="en-US" sz="1500" b="0" u="none" strike="noStrike">
              <a:solidFill>
                <a:srgbClr val="000000"/>
              </a:solidFill>
              <a:effectLst/>
              <a:uFillTx/>
              <a:latin typeface="Arial"/>
            </a:endParaRPr>
          </a:p>
        </p:txBody>
      </p:sp>
      <p:sp>
        <p:nvSpPr>
          <p:cNvPr id="983" name="Text 12"/>
          <p:cNvSpPr/>
          <p:nvPr/>
        </p:nvSpPr>
        <p:spPr>
          <a:xfrm>
            <a:off x="8092440" y="3154680"/>
            <a:ext cx="2833200" cy="1998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250" b="0" u="none" strike="noStrike">
                <a:solidFill>
                  <a:srgbClr val="5C6B80"/>
                </a:solidFill>
                <a:effectLst/>
                <a:uFillTx/>
                <a:latin typeface="Aptos"/>
              </a:rPr>
              <a:t>cheapest path first</a:t>
            </a:r>
            <a:endParaRPr lang="en-US" sz="1250" b="0" u="none" strike="noStrike">
              <a:solidFill>
                <a:srgbClr val="000000"/>
              </a:solidFill>
              <a:effectLst/>
              <a:uFillTx/>
              <a:latin typeface="Arial"/>
            </a:endParaRPr>
          </a:p>
        </p:txBody>
      </p:sp>
      <p:sp>
        <p:nvSpPr>
          <p:cNvPr id="984" name="Text 13"/>
          <p:cNvSpPr/>
          <p:nvPr/>
        </p:nvSpPr>
        <p:spPr>
          <a:xfrm>
            <a:off x="6720840" y="4032360"/>
            <a:ext cx="1141560" cy="455760"/>
          </a:xfrm>
          <a:prstGeom prst="roundRect">
            <a:avLst>
              <a:gd name="adj" fmla="val 16000"/>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112E5C"/>
                </a:solidFill>
                <a:effectLst/>
                <a:uFillTx/>
                <a:latin typeface="Aptos"/>
              </a:rPr>
              <a:t>DFS</a:t>
            </a:r>
            <a:endParaRPr lang="en-US" sz="1500" b="0" u="none" strike="noStrike">
              <a:solidFill>
                <a:srgbClr val="000000"/>
              </a:solidFill>
              <a:effectLst/>
              <a:uFillTx/>
              <a:latin typeface="Arial"/>
            </a:endParaRPr>
          </a:p>
        </p:txBody>
      </p:sp>
      <p:sp>
        <p:nvSpPr>
          <p:cNvPr id="985" name="Text 14"/>
          <p:cNvSpPr/>
          <p:nvPr/>
        </p:nvSpPr>
        <p:spPr>
          <a:xfrm>
            <a:off x="8092440" y="4032360"/>
            <a:ext cx="2010240" cy="218160"/>
          </a:xfrm>
          <a:prstGeom prst="rect">
            <a:avLst/>
          </a:prstGeom>
          <a:noFill/>
          <a:ln w="0">
            <a:noFill/>
          </a:ln>
        </p:spPr>
        <p:style>
          <a:lnRef idx="0"/>
          <a:fillRef idx="0"/>
          <a:effectRef idx="0"/>
          <a:fontRef idx="minor"/>
        </p:style>
        <p:txBody>
          <a:bodyPr lIns="720" tIns="720" rIns="720" bIns="720" anchor="ctr">
            <a:normAutofit lnSpcReduction="9999"/>
          </a:bodyPr>
          <a:p>
            <a:pPr defTabSz="914400">
              <a:lnSpc>
                <a:spcPct val="100000"/>
              </a:lnSpc>
              <a:tabLst>
                <a:tab pos="0" algn="l"/>
              </a:tabLst>
            </a:pPr>
            <a:r>
              <a:rPr lang="en-US" sz="1500" b="1" u="none" strike="noStrike">
                <a:solidFill>
                  <a:srgbClr val="102A4C"/>
                </a:solidFill>
                <a:effectLst/>
                <a:uFillTx/>
                <a:latin typeface="Aptos"/>
              </a:rPr>
              <a:t>LIFO stack</a:t>
            </a:r>
            <a:endParaRPr lang="en-US" sz="1500" b="0" u="none" strike="noStrike">
              <a:solidFill>
                <a:srgbClr val="000000"/>
              </a:solidFill>
              <a:effectLst/>
              <a:uFillTx/>
              <a:latin typeface="Arial"/>
            </a:endParaRPr>
          </a:p>
        </p:txBody>
      </p:sp>
      <p:sp>
        <p:nvSpPr>
          <p:cNvPr id="986" name="Text 15"/>
          <p:cNvSpPr/>
          <p:nvPr/>
        </p:nvSpPr>
        <p:spPr>
          <a:xfrm>
            <a:off x="8092440" y="4325040"/>
            <a:ext cx="2833200" cy="1998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250" b="0" u="none" strike="noStrike">
                <a:solidFill>
                  <a:srgbClr val="5C6B80"/>
                </a:solidFill>
                <a:effectLst/>
                <a:uFillTx/>
                <a:latin typeface="Aptos"/>
              </a:rPr>
              <a:t>deepest first</a:t>
            </a:r>
            <a:endParaRPr lang="en-US" sz="1250" b="0" u="none" strike="noStrike">
              <a:solidFill>
                <a:srgbClr val="000000"/>
              </a:solidFill>
              <a:effectLst/>
              <a:uFillTx/>
              <a:latin typeface="Arial"/>
            </a:endParaRPr>
          </a:p>
        </p:txBody>
      </p:sp>
      <p:sp>
        <p:nvSpPr>
          <p:cNvPr id="987" name="Text 16"/>
          <p:cNvSpPr/>
          <p:nvPr/>
        </p:nvSpPr>
        <p:spPr>
          <a:xfrm>
            <a:off x="6583680" y="5257800"/>
            <a:ext cx="4707720" cy="41004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1700" b="1" u="none" strike="noStrike">
                <a:solidFill>
                  <a:srgbClr val="112E5C"/>
                </a:solidFill>
                <a:effectLst/>
                <a:uFillTx/>
                <a:latin typeface="Aptos"/>
              </a:rPr>
              <a:t>The algorithm changes mainly by changing how the frontier/fringe is ordered.</a:t>
            </a:r>
            <a:endParaRPr lang="en-US" sz="1700" b="0" u="none" strike="noStrike">
              <a:solidFill>
                <a:srgbClr val="000000"/>
              </a:solidFill>
              <a:effectLst/>
              <a:uFillTx/>
              <a:latin typeface="Arial"/>
            </a:endParaRPr>
          </a:p>
        </p:txBody>
      </p:sp>
      <p:pic>
        <p:nvPicPr>
          <p:cNvPr id="988" name="Image 0" descr="preencoded.png"/>
          <p:cNvPicPr/>
          <p:nvPr/>
        </p:nvPicPr>
        <p:blipFill>
          <a:blip r:embed="rId1">
            <a:extLst>
              <a:ext uri="{96DAC541-7B7A-43D3-8B79-37D633B846F1}">
                <asvg:svgBlip xmlns:asvg="http://schemas.microsoft.com/office/drawing/2016/SVG/main" r:embed="rId2"/>
              </a:ext>
            </a:extLst>
          </a:blip>
          <a:stretch/>
        </p:blipFill>
        <p:spPr>
          <a:xfrm>
            <a:off x="228600" y="1728000"/>
            <a:ext cx="6296760" cy="2486160"/>
          </a:xfrm>
          <a:prstGeom prst="rect">
            <a:avLst/>
          </a:prstGeom>
          <a:noFill/>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989"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90"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991"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Search Data Structures</a:t>
            </a:r>
            <a:endParaRPr lang="en-US" sz="2600" b="0" u="none" strike="noStrike">
              <a:solidFill>
                <a:srgbClr val="000000"/>
              </a:solidFill>
              <a:effectLst/>
              <a:uFillTx/>
              <a:latin typeface="Arial"/>
            </a:endParaRPr>
          </a:p>
        </p:txBody>
      </p:sp>
      <p:sp>
        <p:nvSpPr>
          <p:cNvPr id="992"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93"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94" name="Text 5"/>
          <p:cNvSpPr/>
          <p:nvPr/>
        </p:nvSpPr>
        <p:spPr>
          <a:xfrm>
            <a:off x="702360" y="1486080"/>
            <a:ext cx="5759280" cy="340956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500" b="1" u="none" strike="noStrike">
                <a:solidFill>
                  <a:srgbClr val="112E5C"/>
                </a:solidFill>
                <a:effectLst/>
                <a:uFillTx/>
                <a:latin typeface="Aptos"/>
              </a:rPr>
              <a:t>Search node fields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node.STATE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node.PARENT</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node.ACTION</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node.PATH-COST, also written g(node)</a:t>
            </a: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177245"/>
                </a:solidFill>
                <a:effectLst/>
                <a:uFillTx/>
                <a:latin typeface="Aptos"/>
              </a:rPr>
              <a:t>Frontier operations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IS-EMPTY(frontier), POP(frontier), TOP(frontier), ADD(node, frontier)</a:t>
            </a: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743A6D"/>
                </a:solidFill>
                <a:effectLst/>
                <a:uFillTx/>
                <a:latin typeface="Aptos"/>
              </a:rPr>
              <a:t>Queues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Priority queue for best-first/UCS; FIFO for BFS; LIFO stack for DFS</a:t>
            </a:r>
            <a:endParaRPr lang="en-US" sz="1500" b="0" u="none" strike="noStrike">
              <a:solidFill>
                <a:srgbClr val="000000"/>
              </a:solidFill>
              <a:effectLst/>
              <a:uFillTx/>
              <a:latin typeface="Arial"/>
            </a:endParaRPr>
          </a:p>
        </p:txBody>
      </p:sp>
      <p:sp>
        <p:nvSpPr>
          <p:cNvPr id="995" name="Text 6"/>
          <p:cNvSpPr/>
          <p:nvPr/>
        </p:nvSpPr>
        <p:spPr>
          <a:xfrm>
            <a:off x="7406640" y="1508760"/>
            <a:ext cx="2924640" cy="50148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700" b="1" u="none" strike="noStrike">
                <a:solidFill>
                  <a:srgbClr val="2F7FD5"/>
                </a:solidFill>
                <a:effectLst/>
                <a:uFillTx/>
                <a:latin typeface="Aptos"/>
              </a:rPr>
              <a:t>Node</a:t>
            </a:r>
            <a:endParaRPr lang="en-US" sz="1700" b="0" u="none" strike="noStrike">
              <a:solidFill>
                <a:srgbClr val="000000"/>
              </a:solidFill>
              <a:effectLst/>
              <a:uFillTx/>
              <a:latin typeface="Arial"/>
            </a:endParaRPr>
          </a:p>
        </p:txBody>
      </p:sp>
      <p:sp>
        <p:nvSpPr>
          <p:cNvPr id="996" name="Text 7"/>
          <p:cNvSpPr/>
          <p:nvPr/>
        </p:nvSpPr>
        <p:spPr>
          <a:xfrm>
            <a:off x="7726680" y="2286000"/>
            <a:ext cx="2284560" cy="382680"/>
          </a:xfrm>
          <a:prstGeom prst="roundRect">
            <a:avLst>
              <a:gd name="adj" fmla="val 19048"/>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00" b="1" u="none" strike="noStrike">
                <a:solidFill>
                  <a:srgbClr val="112E5C"/>
                </a:solidFill>
                <a:effectLst/>
                <a:uFillTx/>
                <a:latin typeface="Aptos"/>
              </a:rPr>
              <a:t>STATE</a:t>
            </a:r>
            <a:endParaRPr lang="en-US" sz="1200" b="0" u="none" strike="noStrike">
              <a:solidFill>
                <a:srgbClr val="000000"/>
              </a:solidFill>
              <a:effectLst/>
              <a:uFillTx/>
              <a:latin typeface="Arial"/>
            </a:endParaRPr>
          </a:p>
        </p:txBody>
      </p:sp>
      <p:sp>
        <p:nvSpPr>
          <p:cNvPr id="997" name="Text 8"/>
          <p:cNvSpPr/>
          <p:nvPr/>
        </p:nvSpPr>
        <p:spPr>
          <a:xfrm>
            <a:off x="7726680" y="2853000"/>
            <a:ext cx="2284560" cy="382680"/>
          </a:xfrm>
          <a:prstGeom prst="roundRect">
            <a:avLst>
              <a:gd name="adj" fmla="val 19048"/>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00" b="1" u="none" strike="noStrike">
                <a:solidFill>
                  <a:srgbClr val="112E5C"/>
                </a:solidFill>
                <a:effectLst/>
                <a:uFillTx/>
                <a:latin typeface="Aptos"/>
              </a:rPr>
              <a:t>PARENT</a:t>
            </a:r>
            <a:endParaRPr lang="en-US" sz="1200" b="0" u="none" strike="noStrike">
              <a:solidFill>
                <a:srgbClr val="000000"/>
              </a:solidFill>
              <a:effectLst/>
              <a:uFillTx/>
              <a:latin typeface="Arial"/>
            </a:endParaRPr>
          </a:p>
        </p:txBody>
      </p:sp>
      <p:sp>
        <p:nvSpPr>
          <p:cNvPr id="998" name="Text 9"/>
          <p:cNvSpPr/>
          <p:nvPr/>
        </p:nvSpPr>
        <p:spPr>
          <a:xfrm>
            <a:off x="7726680" y="3420000"/>
            <a:ext cx="2284560" cy="382680"/>
          </a:xfrm>
          <a:prstGeom prst="roundRect">
            <a:avLst>
              <a:gd name="adj" fmla="val 19048"/>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00" b="1" u="none" strike="noStrike">
                <a:solidFill>
                  <a:srgbClr val="112E5C"/>
                </a:solidFill>
                <a:effectLst/>
                <a:uFillTx/>
                <a:latin typeface="Aptos"/>
              </a:rPr>
              <a:t>ACTION</a:t>
            </a:r>
            <a:endParaRPr lang="en-US" sz="1200" b="0" u="none" strike="noStrike">
              <a:solidFill>
                <a:srgbClr val="000000"/>
              </a:solidFill>
              <a:effectLst/>
              <a:uFillTx/>
              <a:latin typeface="Arial"/>
            </a:endParaRPr>
          </a:p>
        </p:txBody>
      </p:sp>
      <p:sp>
        <p:nvSpPr>
          <p:cNvPr id="999" name="Text 10"/>
          <p:cNvSpPr/>
          <p:nvPr/>
        </p:nvSpPr>
        <p:spPr>
          <a:xfrm>
            <a:off x="7726680" y="3986640"/>
            <a:ext cx="2284560" cy="382680"/>
          </a:xfrm>
          <a:prstGeom prst="roundRect">
            <a:avLst>
              <a:gd name="adj" fmla="val 19048"/>
            </a:avLst>
          </a:prstGeom>
          <a:solidFill>
            <a:srgbClr val="FFFFFF"/>
          </a:solidFill>
          <a:ln w="15240">
            <a:solidFill>
              <a:srgbClr val="112E5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00" b="1" u="none" strike="noStrike">
                <a:solidFill>
                  <a:srgbClr val="112E5C"/>
                </a:solidFill>
                <a:effectLst/>
                <a:uFillTx/>
                <a:latin typeface="Aptos"/>
              </a:rPr>
              <a:t>PATH-COST</a:t>
            </a:r>
            <a:endParaRPr lang="en-US" sz="1200" b="0" u="none" strike="noStrike">
              <a:solidFill>
                <a:srgbClr val="000000"/>
              </a:solidFill>
              <a:effectLst/>
              <a:uFillTx/>
              <a:latin typeface="Arial"/>
            </a:endParaRPr>
          </a:p>
        </p:txBody>
      </p:sp>
      <p:sp>
        <p:nvSpPr>
          <p:cNvPr id="1000" name="Text 11"/>
          <p:cNvSpPr/>
          <p:nvPr/>
        </p:nvSpPr>
        <p:spPr>
          <a:xfrm>
            <a:off x="6903720" y="4892040"/>
            <a:ext cx="4021920" cy="41004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1600" b="1" u="none" strike="noStrike">
                <a:solidFill>
                  <a:srgbClr val="112E5C"/>
                </a:solidFill>
                <a:effectLst/>
                <a:uFillTx/>
                <a:latin typeface="Aptos"/>
              </a:rPr>
              <a:t>Parent pointers recover the final solution path.</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001"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2"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003"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Redundant Paths and Cycles</a:t>
            </a:r>
            <a:endParaRPr lang="en-US" sz="2600" b="0" u="none" strike="noStrike">
              <a:solidFill>
                <a:srgbClr val="000000"/>
              </a:solidFill>
              <a:effectLst/>
              <a:uFillTx/>
              <a:latin typeface="Arial"/>
            </a:endParaRPr>
          </a:p>
        </p:txBody>
      </p:sp>
      <p:sp>
        <p:nvSpPr>
          <p:cNvPr id="1004"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005"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06" name="Shape 5"/>
          <p:cNvSpPr/>
          <p:nvPr/>
        </p:nvSpPr>
        <p:spPr>
          <a:xfrm flipV="1">
            <a:off x="1064160" y="2119320"/>
            <a:ext cx="636480" cy="3711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07" name="Shape 6"/>
          <p:cNvSpPr/>
          <p:nvPr/>
        </p:nvSpPr>
        <p:spPr>
          <a:xfrm>
            <a:off x="1064160" y="2490480"/>
            <a:ext cx="636480" cy="4244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08" name="Shape 7"/>
          <p:cNvSpPr/>
          <p:nvPr/>
        </p:nvSpPr>
        <p:spPr>
          <a:xfrm flipV="1">
            <a:off x="1700640" y="1827720"/>
            <a:ext cx="556920" cy="2916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09" name="Shape 8"/>
          <p:cNvSpPr/>
          <p:nvPr/>
        </p:nvSpPr>
        <p:spPr>
          <a:xfrm>
            <a:off x="1700640" y="2119320"/>
            <a:ext cx="689400" cy="3448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10" name="Shape 9"/>
          <p:cNvSpPr/>
          <p:nvPr/>
        </p:nvSpPr>
        <p:spPr>
          <a:xfrm>
            <a:off x="1700640" y="2119320"/>
            <a:ext cx="1352520" cy="2386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11" name="Shape 10"/>
          <p:cNvSpPr/>
          <p:nvPr/>
        </p:nvSpPr>
        <p:spPr>
          <a:xfrm flipV="1">
            <a:off x="2257560" y="1641960"/>
            <a:ext cx="583200" cy="1857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12" name="Shape 11"/>
          <p:cNvSpPr/>
          <p:nvPr/>
        </p:nvSpPr>
        <p:spPr>
          <a:xfrm flipH="1">
            <a:off x="2390040" y="1641960"/>
            <a:ext cx="450720" cy="8222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13" name="Shape 12"/>
          <p:cNvSpPr/>
          <p:nvPr/>
        </p:nvSpPr>
        <p:spPr>
          <a:xfrm flipV="1">
            <a:off x="2390040" y="1641960"/>
            <a:ext cx="450720" cy="8222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14" name="Shape 13"/>
          <p:cNvSpPr/>
          <p:nvPr/>
        </p:nvSpPr>
        <p:spPr>
          <a:xfrm flipV="1">
            <a:off x="2390040" y="2358000"/>
            <a:ext cx="663120" cy="10620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15" name="Shape 14"/>
          <p:cNvSpPr/>
          <p:nvPr/>
        </p:nvSpPr>
        <p:spPr>
          <a:xfrm flipH="1">
            <a:off x="2814480" y="2358000"/>
            <a:ext cx="238680" cy="5835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16" name="Shape 15"/>
          <p:cNvSpPr/>
          <p:nvPr/>
        </p:nvSpPr>
        <p:spPr>
          <a:xfrm flipH="1" flipV="1">
            <a:off x="1700640" y="2914920"/>
            <a:ext cx="1113840" cy="26640"/>
          </a:xfrm>
          <a:prstGeom prst="line">
            <a:avLst/>
          </a:prstGeom>
          <a:ln w="13970">
            <a:solidFill>
              <a:srgbClr val="5C6B80"/>
            </a:solidFill>
            <a:round/>
            <a:tailEnd len="med" type="triangle" w="med"/>
          </a:ln>
        </p:spPr>
        <p:style>
          <a:lnRef idx="0"/>
          <a:fillRef idx="0"/>
          <a:effectRef idx="0"/>
          <a:fontRef idx="minor"/>
        </p:style>
        <p:txBody>
          <a:bodyPr lIns="90000" tIns="-18360" rIns="90000" bIns="-18360" anchor="t" anchorCtr="1">
            <a:noAutofit/>
          </a:bodyPr>
          <a:p>
            <a:endParaRPr lang="en-US" sz="1800" b="0" u="none" strike="noStrike">
              <a:solidFill>
                <a:srgbClr val="000000"/>
              </a:solidFill>
              <a:effectLst/>
              <a:uFillTx/>
              <a:latin typeface="Arial"/>
            </a:endParaRPr>
          </a:p>
        </p:txBody>
      </p:sp>
      <p:sp>
        <p:nvSpPr>
          <p:cNvPr id="1017" name="Shape 16"/>
          <p:cNvSpPr/>
          <p:nvPr/>
        </p:nvSpPr>
        <p:spPr>
          <a:xfrm>
            <a:off x="1700640" y="2914920"/>
            <a:ext cx="583200" cy="4507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18" name="Shape 17"/>
          <p:cNvSpPr/>
          <p:nvPr/>
        </p:nvSpPr>
        <p:spPr>
          <a:xfrm flipV="1">
            <a:off x="2283840" y="2941560"/>
            <a:ext cx="530640" cy="4240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19" name="Shape 18"/>
          <p:cNvSpPr/>
          <p:nvPr/>
        </p:nvSpPr>
        <p:spPr>
          <a:xfrm>
            <a:off x="3053160" y="2358000"/>
            <a:ext cx="583200" cy="60984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20" name="Shape 19"/>
          <p:cNvSpPr/>
          <p:nvPr/>
        </p:nvSpPr>
        <p:spPr>
          <a:xfrm flipV="1">
            <a:off x="3636360" y="2596680"/>
            <a:ext cx="504000" cy="37116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21" name="Shape 20"/>
          <p:cNvSpPr/>
          <p:nvPr/>
        </p:nvSpPr>
        <p:spPr>
          <a:xfrm flipH="1" flipV="1">
            <a:off x="2390040" y="2464200"/>
            <a:ext cx="1750320" cy="13248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22" name="Shape 21"/>
          <p:cNvSpPr/>
          <p:nvPr/>
        </p:nvSpPr>
        <p:spPr>
          <a:xfrm flipV="1">
            <a:off x="4140360" y="2039760"/>
            <a:ext cx="450720" cy="556920"/>
          </a:xfrm>
          <a:prstGeom prst="line">
            <a:avLst/>
          </a:prstGeom>
          <a:ln w="1397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023" name="Text 22"/>
          <p:cNvSpPr/>
          <p:nvPr/>
        </p:nvSpPr>
        <p:spPr>
          <a:xfrm>
            <a:off x="918000" y="23446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024" name="Text 23"/>
          <p:cNvSpPr/>
          <p:nvPr/>
        </p:nvSpPr>
        <p:spPr>
          <a:xfrm>
            <a:off x="1554480" y="19731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025" name="Text 24"/>
          <p:cNvSpPr/>
          <p:nvPr/>
        </p:nvSpPr>
        <p:spPr>
          <a:xfrm>
            <a:off x="1554480" y="2768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026" name="Text 25"/>
          <p:cNvSpPr/>
          <p:nvPr/>
        </p:nvSpPr>
        <p:spPr>
          <a:xfrm>
            <a:off x="2111400" y="16815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027" name="Text 26"/>
          <p:cNvSpPr/>
          <p:nvPr/>
        </p:nvSpPr>
        <p:spPr>
          <a:xfrm>
            <a:off x="2243880" y="23180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028" name="Text 27"/>
          <p:cNvSpPr/>
          <p:nvPr/>
        </p:nvSpPr>
        <p:spPr>
          <a:xfrm>
            <a:off x="2907000" y="22118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029" name="Text 28"/>
          <p:cNvSpPr/>
          <p:nvPr/>
        </p:nvSpPr>
        <p:spPr>
          <a:xfrm>
            <a:off x="2668320" y="27954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030" name="Text 29"/>
          <p:cNvSpPr/>
          <p:nvPr/>
        </p:nvSpPr>
        <p:spPr>
          <a:xfrm>
            <a:off x="2138040" y="32194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031" name="Text 30"/>
          <p:cNvSpPr/>
          <p:nvPr/>
        </p:nvSpPr>
        <p:spPr>
          <a:xfrm>
            <a:off x="2694600" y="14958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032" name="Text 31"/>
          <p:cNvSpPr/>
          <p:nvPr/>
        </p:nvSpPr>
        <p:spPr>
          <a:xfrm>
            <a:off x="3490200" y="28216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033" name="Text 32"/>
          <p:cNvSpPr/>
          <p:nvPr/>
        </p:nvSpPr>
        <p:spPr>
          <a:xfrm>
            <a:off x="3994200" y="24505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034" name="Text 33"/>
          <p:cNvSpPr/>
          <p:nvPr/>
        </p:nvSpPr>
        <p:spPr>
          <a:xfrm>
            <a:off x="4444920" y="18936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035" name="Text 34"/>
          <p:cNvSpPr/>
          <p:nvPr/>
        </p:nvSpPr>
        <p:spPr>
          <a:xfrm>
            <a:off x="6675120" y="1417320"/>
            <a:ext cx="4662000" cy="40219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500" b="1" u="none" strike="noStrike">
                <a:solidFill>
                  <a:srgbClr val="112E5C"/>
                </a:solidFill>
                <a:effectLst/>
                <a:uFillTx/>
                <a:latin typeface="Aptos"/>
              </a:rPr>
              <a:t>Repeated state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same state reached by different paths</a:t>
            </a: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9B1C1C"/>
                </a:solidFill>
                <a:effectLst/>
                <a:uFillTx/>
                <a:latin typeface="Aptos"/>
              </a:rPr>
              <a:t>Cycle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path returns to a state already on the same path</a:t>
            </a: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177245"/>
                </a:solidFill>
                <a:effectLst/>
                <a:uFillTx/>
                <a:latin typeface="Aptos"/>
              </a:rPr>
              <a:t>Options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remember all reached states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ignore repeats to save memory</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check only cycles as a compromise</a:t>
            </a:r>
            <a:endParaRPr lang="en-US" sz="1500" b="0" u="none" strike="noStrike">
              <a:solidFill>
                <a:srgbClr val="000000"/>
              </a:solidFill>
              <a:effectLst/>
              <a:uFillTx/>
              <a:latin typeface="Arial"/>
            </a:endParaRPr>
          </a:p>
        </p:txBody>
      </p:sp>
      <p:sp>
        <p:nvSpPr>
          <p:cNvPr id="1036" name="Text 35"/>
          <p:cNvSpPr/>
          <p:nvPr/>
        </p:nvSpPr>
        <p:spPr>
          <a:xfrm>
            <a:off x="1005840" y="5669280"/>
            <a:ext cx="10239840" cy="3643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1" u="none" strike="noStrike">
                <a:solidFill>
                  <a:srgbClr val="9B1C1C"/>
                </a:solidFill>
                <a:effectLst/>
                <a:uFillTx/>
                <a:latin typeface="Aptos"/>
              </a:rPr>
              <a:t>Without memory, search may repeat itself indefinitely or waste massive work.</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037"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38"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39"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Graph Search vs. Tree-Like Search</a:t>
            </a:r>
            <a:endParaRPr lang="en-US" sz="2600" b="0" u="none" strike="noStrike">
              <a:solidFill>
                <a:srgbClr val="000000"/>
              </a:solidFill>
              <a:effectLst/>
              <a:uFillTx/>
              <a:latin typeface="Arial"/>
            </a:endParaRPr>
          </a:p>
        </p:txBody>
      </p:sp>
      <p:sp>
        <p:nvSpPr>
          <p:cNvPr id="1040"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41"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042" name="Rounded Rectangle 6"/>
          <p:cNvSpPr/>
          <p:nvPr/>
        </p:nvSpPr>
        <p:spPr>
          <a:xfrm>
            <a:off x="777240" y="1417320"/>
            <a:ext cx="3381840" cy="41004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Graph search</a:t>
            </a:r>
            <a:endParaRPr lang="en-US" sz="1450" b="0" u="none" strike="noStrike">
              <a:solidFill>
                <a:srgbClr val="000000"/>
              </a:solidFill>
              <a:effectLst/>
              <a:uFillTx/>
              <a:latin typeface="Arial"/>
            </a:endParaRPr>
          </a:p>
        </p:txBody>
      </p:sp>
      <p:sp>
        <p:nvSpPr>
          <p:cNvPr id="1043" name="Rectangle 7"/>
          <p:cNvSpPr/>
          <p:nvPr/>
        </p:nvSpPr>
        <p:spPr>
          <a:xfrm>
            <a:off x="777240" y="1874520"/>
            <a:ext cx="338184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Remembers every reached state</a:t>
            </a:r>
            <a:endParaRPr lang="en-US" sz="1150" b="0" u="none" strike="noStrike">
              <a:solidFill>
                <a:srgbClr val="000000"/>
              </a:solidFill>
              <a:effectLst/>
              <a:uFillTx/>
              <a:latin typeface="Arial"/>
            </a:endParaRPr>
          </a:p>
        </p:txBody>
      </p:sp>
      <p:sp>
        <p:nvSpPr>
          <p:cNvPr id="1044" name="Rounded Rectangle 8"/>
          <p:cNvSpPr/>
          <p:nvPr/>
        </p:nvSpPr>
        <p:spPr>
          <a:xfrm>
            <a:off x="777240" y="2194560"/>
            <a:ext cx="3381840" cy="169020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45" name="Rectangle 9"/>
          <p:cNvSpPr/>
          <p:nvPr/>
        </p:nvSpPr>
        <p:spPr>
          <a:xfrm>
            <a:off x="960120" y="2331720"/>
            <a:ext cx="3016080" cy="1415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Keeps the full reached table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Detects all redundant paths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Keeps only the best path to each state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Preferred whenever the table fits in memory</a:t>
            </a:r>
            <a:endParaRPr lang="en-US" sz="1250" b="0" u="none" strike="noStrike">
              <a:solidFill>
                <a:srgbClr val="000000"/>
              </a:solidFill>
              <a:effectLst/>
              <a:uFillTx/>
              <a:latin typeface="Arial"/>
            </a:endParaRPr>
          </a:p>
        </p:txBody>
      </p:sp>
      <p:sp>
        <p:nvSpPr>
          <p:cNvPr id="1046" name="Rounded Rectangle 10"/>
          <p:cNvSpPr/>
          <p:nvPr/>
        </p:nvSpPr>
        <p:spPr>
          <a:xfrm>
            <a:off x="4404240" y="1417320"/>
            <a:ext cx="3381840" cy="4100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Cycle checking</a:t>
            </a:r>
            <a:endParaRPr lang="en-US" sz="1450" b="0" u="none" strike="noStrike">
              <a:solidFill>
                <a:srgbClr val="000000"/>
              </a:solidFill>
              <a:effectLst/>
              <a:uFillTx/>
              <a:latin typeface="Arial"/>
            </a:endParaRPr>
          </a:p>
        </p:txBody>
      </p:sp>
      <p:sp>
        <p:nvSpPr>
          <p:cNvPr id="1047" name="Rectangle 11"/>
          <p:cNvSpPr/>
          <p:nvPr/>
        </p:nvSpPr>
        <p:spPr>
          <a:xfrm>
            <a:off x="4404240" y="1874520"/>
            <a:ext cx="338184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The middle option</a:t>
            </a:r>
            <a:endParaRPr lang="en-US" sz="1150" b="0" u="none" strike="noStrike">
              <a:solidFill>
                <a:srgbClr val="000000"/>
              </a:solidFill>
              <a:effectLst/>
              <a:uFillTx/>
              <a:latin typeface="Arial"/>
            </a:endParaRPr>
          </a:p>
        </p:txBody>
      </p:sp>
      <p:sp>
        <p:nvSpPr>
          <p:cNvPr id="1048" name="Rounded Rectangle 12"/>
          <p:cNvSpPr/>
          <p:nvPr/>
        </p:nvSpPr>
        <p:spPr>
          <a:xfrm>
            <a:off x="4404240" y="2194560"/>
            <a:ext cx="3381840" cy="169020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49" name="Rectangle 13"/>
          <p:cNvSpPr/>
          <p:nvPr/>
        </p:nvSpPr>
        <p:spPr>
          <a:xfrm>
            <a:off x="4587120" y="2331720"/>
            <a:ext cx="3016080" cy="1415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Walks up the parent chain from a node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Needs no additional memory at all</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Check all the way up, or only a few links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Catches loops, misses general redundancy</a:t>
            </a:r>
            <a:endParaRPr lang="en-US" sz="1250" b="0" u="none" strike="noStrike">
              <a:solidFill>
                <a:srgbClr val="000000"/>
              </a:solidFill>
              <a:effectLst/>
              <a:uFillTx/>
              <a:latin typeface="Arial"/>
            </a:endParaRPr>
          </a:p>
        </p:txBody>
      </p:sp>
      <p:sp>
        <p:nvSpPr>
          <p:cNvPr id="1050" name="Rounded Rectangle 14"/>
          <p:cNvSpPr/>
          <p:nvPr/>
        </p:nvSpPr>
        <p:spPr>
          <a:xfrm>
            <a:off x="8031600" y="1417320"/>
            <a:ext cx="338184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Tree-like search</a:t>
            </a:r>
            <a:endParaRPr lang="en-US" sz="1450" b="0" u="none" strike="noStrike">
              <a:solidFill>
                <a:srgbClr val="000000"/>
              </a:solidFill>
              <a:effectLst/>
              <a:uFillTx/>
              <a:latin typeface="Arial"/>
            </a:endParaRPr>
          </a:p>
        </p:txBody>
      </p:sp>
      <p:sp>
        <p:nvSpPr>
          <p:cNvPr id="1051" name="Rectangle 15"/>
          <p:cNvSpPr/>
          <p:nvPr/>
        </p:nvSpPr>
        <p:spPr>
          <a:xfrm>
            <a:off x="8031600" y="1874520"/>
            <a:ext cx="338184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0" u="none" strike="noStrike">
                <a:solidFill>
                  <a:srgbClr val="5C6B80"/>
                </a:solidFill>
                <a:effectLst/>
                <a:uFillTx/>
                <a:latin typeface="Aptos"/>
              </a:rPr>
              <a:t>Does not check at all</a:t>
            </a:r>
            <a:endParaRPr lang="en-US" sz="1150" b="0" u="none" strike="noStrike">
              <a:solidFill>
                <a:srgbClr val="000000"/>
              </a:solidFill>
              <a:effectLst/>
              <a:uFillTx/>
              <a:latin typeface="Arial"/>
            </a:endParaRPr>
          </a:p>
        </p:txBody>
      </p:sp>
      <p:sp>
        <p:nvSpPr>
          <p:cNvPr id="1052" name="Rounded Rectangle 16"/>
          <p:cNvSpPr/>
          <p:nvPr/>
        </p:nvSpPr>
        <p:spPr>
          <a:xfrm>
            <a:off x="8031600" y="2194560"/>
            <a:ext cx="3381840" cy="169020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53" name="Rectangle 17"/>
          <p:cNvSpPr/>
          <p:nvPr/>
        </p:nvSpPr>
        <p:spPr>
          <a:xfrm>
            <a:off x="8214480" y="2331720"/>
            <a:ext cx="3016080" cy="1415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No reached table is kept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Much smaller memory footprint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Re-examines the same state via many paths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Fine when two paths rarely meet</a:t>
            </a:r>
            <a:endParaRPr lang="en-US" sz="1250" b="0" u="none" strike="noStrike">
              <a:solidFill>
                <a:srgbClr val="000000"/>
              </a:solidFill>
              <a:effectLst/>
              <a:uFillTx/>
              <a:latin typeface="Arial"/>
            </a:endParaRPr>
          </a:p>
        </p:txBody>
      </p:sp>
      <p:sp>
        <p:nvSpPr>
          <p:cNvPr id="1054" name="Rounded Rectangle 18"/>
          <p:cNvSpPr/>
          <p:nvPr/>
        </p:nvSpPr>
        <p:spPr>
          <a:xfrm>
            <a:off x="914400" y="4114800"/>
            <a:ext cx="10422720" cy="5929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55" name="Rectangle 19"/>
          <p:cNvSpPr/>
          <p:nvPr/>
        </p:nvSpPr>
        <p:spPr>
          <a:xfrm>
            <a:off x="1097280" y="4160520"/>
            <a:ext cx="1187280" cy="5014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2400" b="1" u="none" strike="noStrike">
                <a:solidFill>
                  <a:srgbClr val="9B1C1C"/>
                </a:solidFill>
                <a:effectLst/>
                <a:uFillTx/>
                <a:latin typeface="Aptos"/>
              </a:rPr>
              <a:t>100</a:t>
            </a:r>
            <a:endParaRPr lang="en-US" sz="2400" b="0" u="none" strike="noStrike">
              <a:solidFill>
                <a:srgbClr val="000000"/>
              </a:solidFill>
              <a:effectLst/>
              <a:uFillTx/>
              <a:latin typeface="Arial"/>
            </a:endParaRPr>
          </a:p>
        </p:txBody>
      </p:sp>
      <p:sp>
        <p:nvSpPr>
          <p:cNvPr id="1056" name="Rectangle 20"/>
          <p:cNvSpPr/>
          <p:nvPr/>
        </p:nvSpPr>
        <p:spPr>
          <a:xfrm>
            <a:off x="2377440" y="4160520"/>
            <a:ext cx="191880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00" b="0" u="none" strike="noStrike">
                <a:solidFill>
                  <a:srgbClr val="5C6B80"/>
                </a:solidFill>
                <a:effectLst/>
                <a:uFillTx/>
                <a:latin typeface="Aptos"/>
              </a:rPr>
              <a:t>cells in a 10 × 10 grid world</a:t>
            </a:r>
            <a:endParaRPr lang="en-US" sz="1200" b="0" u="none" strike="noStrike">
              <a:solidFill>
                <a:srgbClr val="000000"/>
              </a:solidFill>
              <a:effectLst/>
              <a:uFillTx/>
              <a:latin typeface="Arial"/>
            </a:endParaRPr>
          </a:p>
        </p:txBody>
      </p:sp>
      <p:sp>
        <p:nvSpPr>
          <p:cNvPr id="1057" name="Rectangle 21"/>
          <p:cNvSpPr/>
          <p:nvPr/>
        </p:nvSpPr>
        <p:spPr>
          <a:xfrm>
            <a:off x="4480560" y="4160520"/>
            <a:ext cx="1187280" cy="5014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2400" b="1" u="none" strike="noStrike">
                <a:solidFill>
                  <a:srgbClr val="9B1C1C"/>
                </a:solidFill>
                <a:effectLst/>
                <a:uFillTx/>
                <a:latin typeface="Aptos"/>
              </a:rPr>
              <a:t>≤ 9</a:t>
            </a:r>
            <a:endParaRPr lang="en-US" sz="2400" b="0" u="none" strike="noStrike">
              <a:solidFill>
                <a:srgbClr val="000000"/>
              </a:solidFill>
              <a:effectLst/>
              <a:uFillTx/>
              <a:latin typeface="Arial"/>
            </a:endParaRPr>
          </a:p>
        </p:txBody>
      </p:sp>
      <p:sp>
        <p:nvSpPr>
          <p:cNvPr id="1058" name="Rectangle 22"/>
          <p:cNvSpPr/>
          <p:nvPr/>
        </p:nvSpPr>
        <p:spPr>
          <a:xfrm>
            <a:off x="5760720" y="4160520"/>
            <a:ext cx="191880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00" b="0" u="none" strike="noStrike">
                <a:solidFill>
                  <a:srgbClr val="5C6B80"/>
                </a:solidFill>
                <a:effectLst/>
                <a:uFillTx/>
                <a:latin typeface="Aptos"/>
              </a:rPr>
              <a:t>moves to reach any of them</a:t>
            </a:r>
            <a:endParaRPr lang="en-US" sz="1200" b="0" u="none" strike="noStrike">
              <a:solidFill>
                <a:srgbClr val="000000"/>
              </a:solidFill>
              <a:effectLst/>
              <a:uFillTx/>
              <a:latin typeface="Arial"/>
            </a:endParaRPr>
          </a:p>
        </p:txBody>
      </p:sp>
      <p:sp>
        <p:nvSpPr>
          <p:cNvPr id="1059" name="Rectangle 23"/>
          <p:cNvSpPr/>
          <p:nvPr/>
        </p:nvSpPr>
        <p:spPr>
          <a:xfrm>
            <a:off x="7863840" y="4160520"/>
            <a:ext cx="1187280" cy="5014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2400" b="1" u="none" strike="noStrike">
                <a:solidFill>
                  <a:srgbClr val="9B1C1C"/>
                </a:solidFill>
                <a:effectLst/>
                <a:uFillTx/>
                <a:latin typeface="Aptos"/>
              </a:rPr>
              <a:t>≈ 8⁹</a:t>
            </a:r>
            <a:endParaRPr lang="en-US" sz="2400" b="0" u="none" strike="noStrike">
              <a:solidFill>
                <a:srgbClr val="000000"/>
              </a:solidFill>
              <a:effectLst/>
              <a:uFillTx/>
              <a:latin typeface="Arial"/>
            </a:endParaRPr>
          </a:p>
        </p:txBody>
      </p:sp>
      <p:sp>
        <p:nvSpPr>
          <p:cNvPr id="1060" name="Rectangle 24"/>
          <p:cNvSpPr/>
          <p:nvPr/>
        </p:nvSpPr>
        <p:spPr>
          <a:xfrm>
            <a:off x="9144000" y="4160520"/>
            <a:ext cx="191880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00" b="0" u="none" strike="noStrike">
                <a:solidFill>
                  <a:srgbClr val="5C6B80"/>
                </a:solidFill>
                <a:effectLst/>
                <a:uFillTx/>
                <a:latin typeface="Aptos"/>
              </a:rPr>
              <a:t>paths of length 9 — over 100 million</a:t>
            </a:r>
            <a:endParaRPr lang="en-US" sz="1200" b="0" u="none" strike="noStrike">
              <a:solidFill>
                <a:srgbClr val="000000"/>
              </a:solidFill>
              <a:effectLst/>
              <a:uFillTx/>
              <a:latin typeface="Arial"/>
            </a:endParaRPr>
          </a:p>
        </p:txBody>
      </p:sp>
      <p:sp>
        <p:nvSpPr>
          <p:cNvPr id="1061" name="Rectangle 25"/>
          <p:cNvSpPr/>
          <p:nvPr/>
        </p:nvSpPr>
        <p:spPr>
          <a:xfrm>
            <a:off x="914400" y="493776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Eliminate redundant paths and this search finishes roughly a million times faster.</a:t>
            </a:r>
            <a:endParaRPr lang="en-US" sz="1700" b="0" u="none" strike="noStrike">
              <a:solidFill>
                <a:srgbClr val="000000"/>
              </a:solidFill>
              <a:effectLst/>
              <a:uFillTx/>
              <a:latin typeface="Arial"/>
            </a:endParaRPr>
          </a:p>
        </p:txBody>
      </p:sp>
      <p:sp>
        <p:nvSpPr>
          <p:cNvPr id="1062" name="Rectangle 26"/>
          <p:cNvSpPr/>
          <p:nvPr/>
        </p:nvSpPr>
        <p:spPr>
          <a:xfrm>
            <a:off x="914400" y="534924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Algorithms that cannot remember the past are doomed to repeat it. Caution: the Figure 3.15 comparison table assumes the tree-like versions.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063"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4"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065"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How We Evaluate Search Algorithms</a:t>
            </a:r>
            <a:endParaRPr lang="en-US" sz="2600" b="0" u="none" strike="noStrike">
              <a:solidFill>
                <a:srgbClr val="000000"/>
              </a:solidFill>
              <a:effectLst/>
              <a:uFillTx/>
              <a:latin typeface="Arial"/>
            </a:endParaRPr>
          </a:p>
        </p:txBody>
      </p:sp>
      <p:sp>
        <p:nvSpPr>
          <p:cNvPr id="1066"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067"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68" name="Text 5"/>
          <p:cNvSpPr/>
          <p:nvPr/>
        </p:nvSpPr>
        <p:spPr>
          <a:xfrm>
            <a:off x="868680" y="1508760"/>
            <a:ext cx="2193120" cy="50148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2F7FD5"/>
                </a:solidFill>
                <a:effectLst/>
                <a:uFillTx/>
                <a:latin typeface="Aptos"/>
              </a:rPr>
              <a:t>Complete?</a:t>
            </a:r>
            <a:endParaRPr lang="en-US" sz="1600" b="0" u="none" strike="noStrike">
              <a:solidFill>
                <a:srgbClr val="000000"/>
              </a:solidFill>
              <a:effectLst/>
              <a:uFillTx/>
              <a:latin typeface="Arial"/>
            </a:endParaRPr>
          </a:p>
        </p:txBody>
      </p:sp>
      <p:sp>
        <p:nvSpPr>
          <p:cNvPr id="1069" name="Text 6"/>
          <p:cNvSpPr/>
          <p:nvPr/>
        </p:nvSpPr>
        <p:spPr>
          <a:xfrm>
            <a:off x="3291840" y="1563480"/>
            <a:ext cx="2650320" cy="38268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450" b="0" u="none" strike="noStrike">
                <a:solidFill>
                  <a:srgbClr val="102A4C"/>
                </a:solidFill>
                <a:effectLst/>
                <a:uFillTx/>
                <a:latin typeface="Aptos"/>
              </a:rPr>
              <a:t>Guaranteed to find a solution if one exists.</a:t>
            </a:r>
            <a:endParaRPr lang="en-US" sz="1450" b="0" u="none" strike="noStrike">
              <a:solidFill>
                <a:srgbClr val="000000"/>
              </a:solidFill>
              <a:effectLst/>
              <a:uFillTx/>
              <a:latin typeface="Arial"/>
            </a:endParaRPr>
          </a:p>
        </p:txBody>
      </p:sp>
      <p:sp>
        <p:nvSpPr>
          <p:cNvPr id="1070" name="Text 7"/>
          <p:cNvSpPr/>
          <p:nvPr/>
        </p:nvSpPr>
        <p:spPr>
          <a:xfrm>
            <a:off x="6355080" y="1508760"/>
            <a:ext cx="2193120" cy="50148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2F7FD5"/>
                </a:solidFill>
                <a:effectLst/>
                <a:uFillTx/>
                <a:latin typeface="Aptos"/>
              </a:rPr>
              <a:t>Cost-optimal?</a:t>
            </a:r>
            <a:endParaRPr lang="en-US" sz="1600" b="0" u="none" strike="noStrike">
              <a:solidFill>
                <a:srgbClr val="000000"/>
              </a:solidFill>
              <a:effectLst/>
              <a:uFillTx/>
              <a:latin typeface="Arial"/>
            </a:endParaRPr>
          </a:p>
        </p:txBody>
      </p:sp>
      <p:sp>
        <p:nvSpPr>
          <p:cNvPr id="1071" name="Text 8"/>
          <p:cNvSpPr/>
          <p:nvPr/>
        </p:nvSpPr>
        <p:spPr>
          <a:xfrm>
            <a:off x="8778240" y="1563480"/>
            <a:ext cx="2650320" cy="38268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450" b="0" u="none" strike="noStrike">
                <a:solidFill>
                  <a:srgbClr val="102A4C"/>
                </a:solidFill>
                <a:effectLst/>
                <a:uFillTx/>
                <a:latin typeface="Aptos"/>
              </a:rPr>
              <a:t>Guaranteed to find the least-cost solution.</a:t>
            </a:r>
            <a:endParaRPr lang="en-US" sz="1450" b="0" u="none" strike="noStrike">
              <a:solidFill>
                <a:srgbClr val="000000"/>
              </a:solidFill>
              <a:effectLst/>
              <a:uFillTx/>
              <a:latin typeface="Arial"/>
            </a:endParaRPr>
          </a:p>
        </p:txBody>
      </p:sp>
      <p:sp>
        <p:nvSpPr>
          <p:cNvPr id="1072" name="Text 9"/>
          <p:cNvSpPr/>
          <p:nvPr/>
        </p:nvSpPr>
        <p:spPr>
          <a:xfrm>
            <a:off x="868680" y="3063240"/>
            <a:ext cx="2193120" cy="50148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Time complexity</a:t>
            </a:r>
            <a:endParaRPr lang="en-US" sz="1600" b="0" u="none" strike="noStrike">
              <a:solidFill>
                <a:srgbClr val="000000"/>
              </a:solidFill>
              <a:effectLst/>
              <a:uFillTx/>
              <a:latin typeface="Arial"/>
            </a:endParaRPr>
          </a:p>
        </p:txBody>
      </p:sp>
      <p:sp>
        <p:nvSpPr>
          <p:cNvPr id="1073" name="Text 10"/>
          <p:cNvSpPr/>
          <p:nvPr/>
        </p:nvSpPr>
        <p:spPr>
          <a:xfrm>
            <a:off x="3291840" y="3117960"/>
            <a:ext cx="2650320" cy="38268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450" b="0" u="none" strike="noStrike">
                <a:solidFill>
                  <a:srgbClr val="102A4C"/>
                </a:solidFill>
                <a:effectLst/>
                <a:uFillTx/>
                <a:latin typeface="Aptos"/>
              </a:rPr>
              <a:t>How many states/actions are considered.</a:t>
            </a:r>
            <a:endParaRPr lang="en-US" sz="1450" b="0" u="none" strike="noStrike">
              <a:solidFill>
                <a:srgbClr val="000000"/>
              </a:solidFill>
              <a:effectLst/>
              <a:uFillTx/>
              <a:latin typeface="Arial"/>
            </a:endParaRPr>
          </a:p>
        </p:txBody>
      </p:sp>
      <p:sp>
        <p:nvSpPr>
          <p:cNvPr id="1074" name="Text 11"/>
          <p:cNvSpPr/>
          <p:nvPr/>
        </p:nvSpPr>
        <p:spPr>
          <a:xfrm>
            <a:off x="6355080" y="3063240"/>
            <a:ext cx="2193120" cy="50148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Space complexity</a:t>
            </a:r>
            <a:endParaRPr lang="en-US" sz="1600" b="0" u="none" strike="noStrike">
              <a:solidFill>
                <a:srgbClr val="000000"/>
              </a:solidFill>
              <a:effectLst/>
              <a:uFillTx/>
              <a:latin typeface="Arial"/>
            </a:endParaRPr>
          </a:p>
        </p:txBody>
      </p:sp>
      <p:sp>
        <p:nvSpPr>
          <p:cNvPr id="1075" name="Text 12"/>
          <p:cNvSpPr/>
          <p:nvPr/>
        </p:nvSpPr>
        <p:spPr>
          <a:xfrm>
            <a:off x="8778240" y="3117960"/>
            <a:ext cx="2650320" cy="382680"/>
          </a:xfrm>
          <a:prstGeom prst="rect">
            <a:avLst/>
          </a:prstGeom>
          <a:noFill/>
          <a:ln w="0">
            <a:noFill/>
          </a:ln>
        </p:spPr>
        <p:style>
          <a:lnRef idx="0"/>
          <a:fillRef idx="0"/>
          <a:effectRef idx="0"/>
          <a:fontRef idx="minor"/>
        </p:style>
        <p:txBody>
          <a:bodyPr lIns="720" tIns="720" rIns="720" bIns="720" anchor="ctr">
            <a:normAutofit fontScale="92500" lnSpcReduction="9999"/>
          </a:bodyPr>
          <a:p>
            <a:pPr defTabSz="914400">
              <a:lnSpc>
                <a:spcPct val="100000"/>
              </a:lnSpc>
              <a:tabLst>
                <a:tab pos="0" algn="l"/>
              </a:tabLst>
            </a:pPr>
            <a:r>
              <a:rPr lang="en-US" sz="1450" b="0" u="none" strike="noStrike">
                <a:solidFill>
                  <a:srgbClr val="102A4C"/>
                </a:solidFill>
                <a:effectLst/>
                <a:uFillTx/>
                <a:latin typeface="Aptos"/>
              </a:rPr>
              <a:t>How much memory is required.</a:t>
            </a:r>
            <a:endParaRPr lang="en-US" sz="1450" b="0" u="none" strike="noStrike">
              <a:solidFill>
                <a:srgbClr val="000000"/>
              </a:solidFill>
              <a:effectLst/>
              <a:uFillTx/>
              <a:latin typeface="Arial"/>
            </a:endParaRPr>
          </a:p>
        </p:txBody>
      </p:sp>
      <p:sp>
        <p:nvSpPr>
          <p:cNvPr id="1076" name="Text 13"/>
          <p:cNvSpPr/>
          <p:nvPr/>
        </p:nvSpPr>
        <p:spPr>
          <a:xfrm>
            <a:off x="914400" y="5074920"/>
            <a:ext cx="10239840" cy="410040"/>
          </a:xfrm>
          <a:prstGeom prst="rect">
            <a:avLst/>
          </a:prstGeom>
          <a:noFill/>
          <a:ln w="0">
            <a:noFill/>
          </a:ln>
        </p:spPr>
        <p:style>
          <a:lnRef idx="0"/>
          <a:fillRef idx="0"/>
          <a:effectRef idx="0"/>
          <a:fontRef idx="minor"/>
        </p:style>
        <p:txBody>
          <a:bodyPr lIns="720" tIns="720" rIns="720" bIns="720" anchor="ctr">
            <a:normAutofit fontScale="85000" lnSpcReduction="9999"/>
          </a:bodyPr>
          <a:p>
            <a:pPr algn="ctr" defTabSz="914400">
              <a:lnSpc>
                <a:spcPct val="100000"/>
              </a:lnSpc>
              <a:tabLst>
                <a:tab pos="0" algn="l"/>
              </a:tabLst>
            </a:pPr>
            <a:r>
              <a:rPr lang="en-US" sz="1700" b="1" u="none" strike="noStrike">
                <a:solidFill>
                  <a:srgbClr val="112E5C"/>
                </a:solidFill>
                <a:effectLst/>
                <a:uFillTx/>
                <a:latin typeface="Aptos"/>
              </a:rPr>
              <a:t>Implicit problem parameters: b = branching factor, d = shallowest solution depth, m = maximum path depth.</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077"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78"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79"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Completeness Is Harder Than “Never Repeat a State”</a:t>
            </a:r>
            <a:endParaRPr lang="en-US" sz="2600" b="0" u="none" strike="noStrike">
              <a:solidFill>
                <a:srgbClr val="000000"/>
              </a:solidFill>
              <a:effectLst/>
              <a:uFillTx/>
              <a:latin typeface="Arial"/>
            </a:endParaRPr>
          </a:p>
        </p:txBody>
      </p:sp>
      <p:sp>
        <p:nvSpPr>
          <p:cNvPr id="1080"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81"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082" name="Rounded Rectangle 6"/>
          <p:cNvSpPr/>
          <p:nvPr/>
        </p:nvSpPr>
        <p:spPr>
          <a:xfrm>
            <a:off x="777240" y="1417320"/>
            <a:ext cx="502776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Finite state spaces</a:t>
            </a:r>
            <a:endParaRPr lang="en-US" sz="1450" b="0" u="none" strike="noStrike">
              <a:solidFill>
                <a:srgbClr val="000000"/>
              </a:solidFill>
              <a:effectLst/>
              <a:uFillTx/>
              <a:latin typeface="Arial"/>
            </a:endParaRPr>
          </a:p>
        </p:txBody>
      </p:sp>
      <p:sp>
        <p:nvSpPr>
          <p:cNvPr id="1083" name="Rounded Rectangle 7"/>
          <p:cNvSpPr/>
          <p:nvPr/>
        </p:nvSpPr>
        <p:spPr>
          <a:xfrm>
            <a:off x="777240" y="1874520"/>
            <a:ext cx="5027760" cy="10044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84" name="Rectangle 8"/>
          <p:cNvSpPr/>
          <p:nvPr/>
        </p:nvSpPr>
        <p:spPr>
          <a:xfrm>
            <a:off x="1005840" y="1965960"/>
            <a:ext cx="4570560" cy="821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0" u="none" strike="noStrike">
                <a:solidFill>
                  <a:srgbClr val="102A4C"/>
                </a:solidFill>
                <a:effectLst/>
                <a:uFillTx/>
                <a:latin typeface="Aptos"/>
              </a:rPr>
              <a:t>Track paths, cut off cycles, and you will eventually reach every state reachable from the initial state. Completeness is straightforward.</a:t>
            </a:r>
            <a:endParaRPr lang="en-US" sz="1350" b="0" u="none" strike="noStrike">
              <a:solidFill>
                <a:srgbClr val="000000"/>
              </a:solidFill>
              <a:effectLst/>
              <a:uFillTx/>
              <a:latin typeface="Arial"/>
            </a:endParaRPr>
          </a:p>
        </p:txBody>
      </p:sp>
      <p:sp>
        <p:nvSpPr>
          <p:cNvPr id="1085" name="Rounded Rectangle 9"/>
          <p:cNvSpPr/>
          <p:nvPr/>
        </p:nvSpPr>
        <p:spPr>
          <a:xfrm>
            <a:off x="6385680" y="1417320"/>
            <a:ext cx="5027760" cy="4100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Infinite state spaces</a:t>
            </a:r>
            <a:endParaRPr lang="en-US" sz="1450" b="0" u="none" strike="noStrike">
              <a:solidFill>
                <a:srgbClr val="000000"/>
              </a:solidFill>
              <a:effectLst/>
              <a:uFillTx/>
              <a:latin typeface="Arial"/>
            </a:endParaRPr>
          </a:p>
        </p:txBody>
      </p:sp>
      <p:sp>
        <p:nvSpPr>
          <p:cNvPr id="1086" name="Rounded Rectangle 10"/>
          <p:cNvSpPr/>
          <p:nvPr/>
        </p:nvSpPr>
        <p:spPr>
          <a:xfrm>
            <a:off x="6385680" y="1874520"/>
            <a:ext cx="5027760" cy="10044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87" name="Rectangle 11"/>
          <p:cNvSpPr/>
          <p:nvPr/>
        </p:nvSpPr>
        <p:spPr>
          <a:xfrm>
            <a:off x="6614280" y="1965960"/>
            <a:ext cx="4570560" cy="821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0" u="none" strike="noStrike">
                <a:solidFill>
                  <a:srgbClr val="102A4C"/>
                </a:solidFill>
                <a:effectLst/>
                <a:uFillTx/>
                <a:latin typeface="Aptos"/>
              </a:rPr>
              <a:t>An algorithm can generate a brand-new state on every step and still be incomplete, because whole regions are never reached.</a:t>
            </a:r>
            <a:endParaRPr lang="en-US" sz="1350" b="0" u="none" strike="noStrike">
              <a:solidFill>
                <a:srgbClr val="000000"/>
              </a:solidFill>
              <a:effectLst/>
              <a:uFillTx/>
              <a:latin typeface="Arial"/>
            </a:endParaRPr>
          </a:p>
        </p:txBody>
      </p:sp>
      <p:sp>
        <p:nvSpPr>
          <p:cNvPr id="1088" name="Rounded Rectangle 12"/>
          <p:cNvSpPr/>
          <p:nvPr/>
        </p:nvSpPr>
        <p:spPr>
          <a:xfrm>
            <a:off x="777240" y="3063240"/>
            <a:ext cx="10636200" cy="4557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89" name="Rectangle 13"/>
          <p:cNvSpPr/>
          <p:nvPr/>
        </p:nvSpPr>
        <p:spPr>
          <a:xfrm>
            <a:off x="960120" y="3063240"/>
            <a:ext cx="2010240" cy="4557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9B1C1C"/>
                </a:solidFill>
                <a:effectLst/>
                <a:uFillTx/>
                <a:latin typeface="Aptos"/>
              </a:rPr>
              <a:t>Knuth's “4”</a:t>
            </a:r>
            <a:endParaRPr lang="en-US" sz="1300" b="0" u="none" strike="noStrike">
              <a:solidFill>
                <a:srgbClr val="000000"/>
              </a:solidFill>
              <a:effectLst/>
              <a:uFillTx/>
              <a:latin typeface="Arial"/>
            </a:endParaRPr>
          </a:p>
        </p:txBody>
      </p:sp>
      <p:sp>
        <p:nvSpPr>
          <p:cNvPr id="1090" name="Rectangle 14"/>
          <p:cNvSpPr/>
          <p:nvPr/>
        </p:nvSpPr>
        <p:spPr>
          <a:xfrm>
            <a:off x="3063240" y="3063240"/>
            <a:ext cx="8136720" cy="4557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4 → 4! → (4!)! → … every state is new, and almost nothing is ever reached</a:t>
            </a:r>
            <a:endParaRPr lang="en-US" sz="1300" b="0" u="none" strike="noStrike">
              <a:solidFill>
                <a:srgbClr val="000000"/>
              </a:solidFill>
              <a:effectLst/>
              <a:uFillTx/>
              <a:latin typeface="Arial"/>
            </a:endParaRPr>
          </a:p>
        </p:txBody>
      </p:sp>
      <p:sp>
        <p:nvSpPr>
          <p:cNvPr id="1091" name="Rounded Rectangle 15"/>
          <p:cNvSpPr/>
          <p:nvPr/>
        </p:nvSpPr>
        <p:spPr>
          <a:xfrm>
            <a:off x="777240" y="3611880"/>
            <a:ext cx="10636200" cy="4557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092" name="Rectangle 16"/>
          <p:cNvSpPr/>
          <p:nvPr/>
        </p:nvSpPr>
        <p:spPr>
          <a:xfrm>
            <a:off x="960120" y="3611880"/>
            <a:ext cx="2010240" cy="4557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9B1C1C"/>
                </a:solidFill>
                <a:effectLst/>
                <a:uFillTx/>
                <a:latin typeface="Aptos"/>
              </a:rPr>
              <a:t>Infinite grid</a:t>
            </a:r>
            <a:endParaRPr lang="en-US" sz="1300" b="0" u="none" strike="noStrike">
              <a:solidFill>
                <a:srgbClr val="000000"/>
              </a:solidFill>
              <a:effectLst/>
              <a:uFillTx/>
              <a:latin typeface="Arial"/>
            </a:endParaRPr>
          </a:p>
        </p:txBody>
      </p:sp>
      <p:sp>
        <p:nvSpPr>
          <p:cNvPr id="1093" name="Rectangle 17"/>
          <p:cNvSpPr/>
          <p:nvPr/>
        </p:nvSpPr>
        <p:spPr>
          <a:xfrm>
            <a:off x="3063240" y="3611880"/>
            <a:ext cx="8136720" cy="4557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0" u="none" strike="noStrike">
                <a:solidFill>
                  <a:srgbClr val="102A4C"/>
                </a:solidFill>
                <a:effectLst/>
                <a:uFillTx/>
                <a:latin typeface="Aptos"/>
              </a:rPr>
              <a:t>walk north forever: no repeats, no cycles, no coverage</a:t>
            </a:r>
            <a:endParaRPr lang="en-US" sz="1300" b="0" u="none" strike="noStrike">
              <a:solidFill>
                <a:srgbClr val="000000"/>
              </a:solidFill>
              <a:effectLst/>
              <a:uFillTx/>
              <a:latin typeface="Arial"/>
            </a:endParaRPr>
          </a:p>
        </p:txBody>
      </p:sp>
      <p:sp>
        <p:nvSpPr>
          <p:cNvPr id="1094" name="Rectangle 18"/>
          <p:cNvSpPr/>
          <p:nvPr/>
        </p:nvSpPr>
        <p:spPr>
          <a:xfrm>
            <a:off x="914400" y="42976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To be complete, a search must be systematic: it must eventually reach any state connected to the initial state.</a:t>
            </a:r>
            <a:endParaRPr lang="en-US" sz="1700" b="0" u="none" strike="noStrike">
              <a:solidFill>
                <a:srgbClr val="000000"/>
              </a:solidFill>
              <a:effectLst/>
              <a:uFillTx/>
              <a:latin typeface="Arial"/>
            </a:endParaRPr>
          </a:p>
        </p:txBody>
      </p:sp>
      <p:sp>
        <p:nvSpPr>
          <p:cNvPr id="1095" name="Rectangle 19"/>
          <p:cNvSpPr/>
          <p:nvPr/>
        </p:nvSpPr>
        <p:spPr>
          <a:xfrm>
            <a:off x="914400" y="489204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450" b="0" u="none" strike="noStrike">
                <a:solidFill>
                  <a:srgbClr val="5C6B80"/>
                </a:solidFill>
                <a:effectLst/>
                <a:uFillTx/>
                <a:latin typeface="Aptos"/>
              </a:rPr>
              <a:t>On an infinite grid, one systematic order is an outward spiral — cover every cell s steps away before moving to s + 1.</a:t>
            </a:r>
            <a:endParaRPr lang="en-US" sz="1450" b="0" u="none" strike="noStrike">
              <a:solidFill>
                <a:srgbClr val="000000"/>
              </a:solidFill>
              <a:effectLst/>
              <a:uFillTx/>
              <a:latin typeface="Arial"/>
            </a:endParaRPr>
          </a:p>
        </p:txBody>
      </p:sp>
      <p:sp>
        <p:nvSpPr>
          <p:cNvPr id="1096" name="Rectangle 20"/>
          <p:cNvSpPr/>
          <p:nvPr/>
        </p:nvSpPr>
        <p:spPr>
          <a:xfrm>
            <a:off x="914400" y="54406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And in an infinite space with no solution, a sound algorithm can never terminate: it cannot rule out that the next state is a goal.</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2E5C"/>
        </a:solidFill>
      </p:bgPr>
    </p:bg>
    <p:spTree>
      <p:nvGrpSpPr>
        <p:cNvPr id="1" name=""/>
        <p:cNvGrpSpPr/>
        <p:nvPr/>
      </p:nvGrpSpPr>
      <p:grpSpPr>
        <a:xfrm>
          <a:off x="0" y="0"/>
          <a:ext cx="0" cy="0"/>
          <a:chOff x="0" y="0"/>
          <a:chExt cx="0" cy="0"/>
        </a:xfrm>
      </p:grpSpPr>
      <p:sp>
        <p:nvSpPr>
          <p:cNvPr id="1097" name="Shape 0"/>
          <p:cNvSpPr/>
          <p:nvPr/>
        </p:nvSpPr>
        <p:spPr>
          <a:xfrm>
            <a:off x="0" y="0"/>
            <a:ext cx="12190320" cy="685656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98" name="Shape 1"/>
          <p:cNvSpPr/>
          <p:nvPr/>
        </p:nvSpPr>
        <p:spPr>
          <a:xfrm>
            <a:off x="0" y="5440680"/>
            <a:ext cx="12190320" cy="108360"/>
          </a:xfrm>
          <a:prstGeom prst="rect">
            <a:avLst/>
          </a:prstGeom>
          <a:solidFill>
            <a:srgbClr val="F6A01A"/>
          </a:solidFill>
          <a:ln w="1270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99" name="Text 2"/>
          <p:cNvSpPr/>
          <p:nvPr/>
        </p:nvSpPr>
        <p:spPr>
          <a:xfrm>
            <a:off x="914400" y="2240280"/>
            <a:ext cx="10331280" cy="501480"/>
          </a:xfrm>
          <a:prstGeom prst="rect">
            <a:avLst/>
          </a:prstGeom>
          <a:noFill/>
          <a:ln w="0">
            <a:noFill/>
          </a:ln>
        </p:spPr>
        <p:style>
          <a:lnRef idx="0"/>
          <a:fillRef idx="0"/>
          <a:effectRef idx="0"/>
          <a:fontRef idx="minor"/>
        </p:style>
        <p:txBody>
          <a:bodyPr lIns="720" tIns="720" rIns="720" bIns="720" anchor="ctr">
            <a:normAutofit lnSpcReduction="9999"/>
          </a:bodyPr>
          <a:p>
            <a:pPr algn="ctr" defTabSz="914400">
              <a:lnSpc>
                <a:spcPct val="100000"/>
              </a:lnSpc>
              <a:tabLst>
                <a:tab pos="0" algn="l"/>
              </a:tabLst>
            </a:pPr>
            <a:r>
              <a:rPr lang="en-US" sz="3600" b="1" u="none" strike="noStrike">
                <a:solidFill>
                  <a:srgbClr val="FFFFFF"/>
                </a:solidFill>
                <a:effectLst/>
                <a:uFillTx/>
                <a:latin typeface="Aptos"/>
              </a:rPr>
              <a:t>Section 3.4</a:t>
            </a:r>
            <a:endParaRPr lang="en-US" sz="3600" b="0" u="none" strike="noStrike">
              <a:solidFill>
                <a:srgbClr val="FFFFFF"/>
              </a:solidFill>
              <a:effectLst/>
              <a:uFillTx/>
              <a:latin typeface="Arial"/>
            </a:endParaRPr>
          </a:p>
        </p:txBody>
      </p:sp>
      <p:sp>
        <p:nvSpPr>
          <p:cNvPr id="1100" name="Text 3"/>
          <p:cNvSpPr/>
          <p:nvPr/>
        </p:nvSpPr>
        <p:spPr>
          <a:xfrm>
            <a:off x="914400" y="2971800"/>
            <a:ext cx="10331280" cy="36432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900" b="0" u="none" strike="noStrike">
                <a:solidFill>
                  <a:srgbClr val="DCE8FF"/>
                </a:solidFill>
                <a:effectLst/>
                <a:uFillTx/>
                <a:latin typeface="Aptos"/>
              </a:rPr>
              <a:t>Uninformed Search Strategies</a:t>
            </a:r>
            <a:endParaRPr lang="en-US" sz="1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101"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02"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103"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Breadth-First Search (BFS)</a:t>
            </a:r>
            <a:endParaRPr lang="en-US" sz="2600" b="0" u="none" strike="noStrike">
              <a:solidFill>
                <a:srgbClr val="000000"/>
              </a:solidFill>
              <a:effectLst/>
              <a:uFillTx/>
              <a:latin typeface="Arial"/>
            </a:endParaRPr>
          </a:p>
        </p:txBody>
      </p:sp>
      <p:sp>
        <p:nvSpPr>
          <p:cNvPr id="1104"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05"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06" name="Text 5"/>
          <p:cNvSpPr/>
          <p:nvPr/>
        </p:nvSpPr>
        <p:spPr>
          <a:xfrm>
            <a:off x="492840" y="1906200"/>
            <a:ext cx="2102760" cy="50148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1107" name="Text 6"/>
          <p:cNvSpPr/>
          <p:nvPr/>
        </p:nvSpPr>
        <p:spPr>
          <a:xfrm>
            <a:off x="2743200" y="1951920"/>
            <a:ext cx="4204800" cy="3186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700" b="1" u="none" strike="noStrike">
                <a:solidFill>
                  <a:srgbClr val="102A4C"/>
                </a:solidFill>
                <a:effectLst/>
                <a:uFillTx/>
                <a:latin typeface="Aptos"/>
              </a:rPr>
              <a:t>Expand the shallowest node first.</a:t>
            </a:r>
            <a:endParaRPr lang="en-US" sz="1700" b="0" u="none" strike="noStrike">
              <a:solidFill>
                <a:srgbClr val="000000"/>
              </a:solidFill>
              <a:effectLst/>
              <a:uFillTx/>
              <a:latin typeface="Arial"/>
            </a:endParaRPr>
          </a:p>
        </p:txBody>
      </p:sp>
      <p:sp>
        <p:nvSpPr>
          <p:cNvPr id="1108" name="Text 7"/>
          <p:cNvSpPr/>
          <p:nvPr/>
        </p:nvSpPr>
        <p:spPr>
          <a:xfrm>
            <a:off x="492840" y="2729160"/>
            <a:ext cx="2102760" cy="50148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1109" name="Text 8"/>
          <p:cNvSpPr/>
          <p:nvPr/>
        </p:nvSpPr>
        <p:spPr>
          <a:xfrm>
            <a:off x="2743200" y="2774880"/>
            <a:ext cx="4387680" cy="31860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600" b="0" u="none" strike="noStrike">
                <a:solidFill>
                  <a:srgbClr val="102A4C"/>
                </a:solidFill>
                <a:effectLst/>
                <a:uFillTx/>
                <a:latin typeface="Aptos"/>
              </a:rPr>
              <a:t>FIFO queue: oldest generated nodes expand first.</a:t>
            </a:r>
            <a:endParaRPr lang="en-US" sz="1600" b="0" u="none" strike="noStrike">
              <a:solidFill>
                <a:srgbClr val="000000"/>
              </a:solidFill>
              <a:effectLst/>
              <a:uFillTx/>
              <a:latin typeface="Arial"/>
            </a:endParaRPr>
          </a:p>
        </p:txBody>
      </p:sp>
      <p:sp>
        <p:nvSpPr>
          <p:cNvPr id="1110" name="Text 9"/>
          <p:cNvSpPr/>
          <p:nvPr/>
        </p:nvSpPr>
        <p:spPr>
          <a:xfrm>
            <a:off x="492840" y="3552120"/>
            <a:ext cx="2102760" cy="501480"/>
          </a:xfrm>
          <a:prstGeom prst="roundRect">
            <a:avLst>
              <a:gd name="adj" fmla="val 14545"/>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12E5C"/>
                </a:solidFill>
                <a:effectLst/>
                <a:uFillTx/>
                <a:latin typeface="Aptos"/>
              </a:rPr>
              <a:t>Guarantees</a:t>
            </a:r>
            <a:endParaRPr lang="en-US" sz="1600" b="0" u="none" strike="noStrike">
              <a:solidFill>
                <a:srgbClr val="000000"/>
              </a:solidFill>
              <a:effectLst/>
              <a:uFillTx/>
              <a:latin typeface="Arial"/>
            </a:endParaRPr>
          </a:p>
        </p:txBody>
      </p:sp>
      <p:sp>
        <p:nvSpPr>
          <p:cNvPr id="1111" name="Text 10"/>
          <p:cNvSpPr/>
          <p:nvPr/>
        </p:nvSpPr>
        <p:spPr>
          <a:xfrm>
            <a:off x="2743200" y="3597840"/>
            <a:ext cx="5027760" cy="318600"/>
          </a:xfrm>
          <a:prstGeom prst="rect">
            <a:avLst/>
          </a:prstGeom>
          <a:noFill/>
          <a:ln w="0">
            <a:noFill/>
          </a:ln>
        </p:spPr>
        <p:style>
          <a:lnRef idx="0"/>
          <a:fillRef idx="0"/>
          <a:effectRef idx="0"/>
          <a:fontRef idx="minor"/>
        </p:style>
        <p:txBody>
          <a:bodyPr lIns="720" tIns="720" rIns="720" bIns="720" anchor="ctr">
            <a:normAutofit fontScale="77500" lnSpcReduction="19999"/>
          </a:bodyPr>
          <a:p>
            <a:pPr defTabSz="914400">
              <a:lnSpc>
                <a:spcPct val="100000"/>
              </a:lnSpc>
              <a:tabLst>
                <a:tab pos="0" algn="l"/>
              </a:tabLst>
            </a:pPr>
            <a:r>
              <a:rPr lang="en-US" sz="1600" b="0" u="none" strike="noStrike">
                <a:solidFill>
                  <a:srgbClr val="102A4C"/>
                </a:solidFill>
                <a:effectLst/>
                <a:uFillTx/>
                <a:latin typeface="Aptos"/>
              </a:rPr>
              <a:t>Complete; cost-optimal only when all actions have equal cost.</a:t>
            </a:r>
            <a:endParaRPr lang="en-US" sz="1600" b="0" u="none" strike="noStrike">
              <a:solidFill>
                <a:srgbClr val="000000"/>
              </a:solidFill>
              <a:effectLst/>
              <a:uFillTx/>
              <a:latin typeface="Arial"/>
            </a:endParaRPr>
          </a:p>
        </p:txBody>
      </p:sp>
      <p:sp>
        <p:nvSpPr>
          <p:cNvPr id="1112" name="Shape 11"/>
          <p:cNvSpPr/>
          <p:nvPr/>
        </p:nvSpPr>
        <p:spPr>
          <a:xfrm flipH="1">
            <a:off x="8529840" y="1881720"/>
            <a:ext cx="135540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13" name="Shape 12"/>
          <p:cNvSpPr/>
          <p:nvPr/>
        </p:nvSpPr>
        <p:spPr>
          <a:xfrm>
            <a:off x="9885240" y="1881720"/>
            <a:ext cx="360" cy="64188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114" name="Shape 13"/>
          <p:cNvSpPr/>
          <p:nvPr/>
        </p:nvSpPr>
        <p:spPr>
          <a:xfrm>
            <a:off x="9885240" y="188172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15" name="Shape 14"/>
          <p:cNvSpPr/>
          <p:nvPr/>
        </p:nvSpPr>
        <p:spPr>
          <a:xfrm flipH="1">
            <a:off x="7923600" y="252360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16" name="Shape 15"/>
          <p:cNvSpPr/>
          <p:nvPr/>
        </p:nvSpPr>
        <p:spPr>
          <a:xfrm>
            <a:off x="8529840" y="2523600"/>
            <a:ext cx="360" cy="67752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117" name="Shape 16"/>
          <p:cNvSpPr/>
          <p:nvPr/>
        </p:nvSpPr>
        <p:spPr>
          <a:xfrm>
            <a:off x="8529840" y="252360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18" name="Shape 17"/>
          <p:cNvSpPr/>
          <p:nvPr/>
        </p:nvSpPr>
        <p:spPr>
          <a:xfrm flipH="1">
            <a:off x="9492840" y="2523600"/>
            <a:ext cx="39240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19" name="Shape 18"/>
          <p:cNvSpPr/>
          <p:nvPr/>
        </p:nvSpPr>
        <p:spPr>
          <a:xfrm>
            <a:off x="9885240" y="2523600"/>
            <a:ext cx="3920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20" name="Shape 19"/>
          <p:cNvSpPr/>
          <p:nvPr/>
        </p:nvSpPr>
        <p:spPr>
          <a:xfrm>
            <a:off x="11240280" y="2523600"/>
            <a:ext cx="360" cy="67752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121" name="Shape 20"/>
          <p:cNvSpPr/>
          <p:nvPr/>
        </p:nvSpPr>
        <p:spPr>
          <a:xfrm flipH="1">
            <a:off x="7709760" y="320112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22" name="Shape 21"/>
          <p:cNvSpPr/>
          <p:nvPr/>
        </p:nvSpPr>
        <p:spPr>
          <a:xfrm flipH="1">
            <a:off x="8316000" y="320112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23" name="Shape 22"/>
          <p:cNvSpPr/>
          <p:nvPr/>
        </p:nvSpPr>
        <p:spPr>
          <a:xfrm flipH="1">
            <a:off x="8922240" y="320112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24" name="Shape 23"/>
          <p:cNvSpPr/>
          <p:nvPr/>
        </p:nvSpPr>
        <p:spPr>
          <a:xfrm>
            <a:off x="9136080" y="3201120"/>
            <a:ext cx="3924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25" name="Shape 24"/>
          <p:cNvSpPr/>
          <p:nvPr/>
        </p:nvSpPr>
        <p:spPr>
          <a:xfrm>
            <a:off x="9492840" y="3201120"/>
            <a:ext cx="49932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26" name="Shape 25"/>
          <p:cNvSpPr/>
          <p:nvPr/>
        </p:nvSpPr>
        <p:spPr>
          <a:xfrm>
            <a:off x="9492840" y="3201120"/>
            <a:ext cx="92736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27" name="Shape 26"/>
          <p:cNvSpPr/>
          <p:nvPr/>
        </p:nvSpPr>
        <p:spPr>
          <a:xfrm>
            <a:off x="10277280" y="3201120"/>
            <a:ext cx="5706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28" name="Shape 27"/>
          <p:cNvSpPr/>
          <p:nvPr/>
        </p:nvSpPr>
        <p:spPr>
          <a:xfrm flipH="1">
            <a:off x="10634040" y="380736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29" name="Shape 28"/>
          <p:cNvSpPr/>
          <p:nvPr/>
        </p:nvSpPr>
        <p:spPr>
          <a:xfrm>
            <a:off x="10847880" y="3807360"/>
            <a:ext cx="28548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30" name="Text 29"/>
          <p:cNvSpPr/>
          <p:nvPr/>
        </p:nvSpPr>
        <p:spPr>
          <a:xfrm>
            <a:off x="9739440" y="17355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131" name="Text 30"/>
          <p:cNvSpPr/>
          <p:nvPr/>
        </p:nvSpPr>
        <p:spPr>
          <a:xfrm>
            <a:off x="8384040" y="23774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132" name="Text 31"/>
          <p:cNvSpPr/>
          <p:nvPr/>
        </p:nvSpPr>
        <p:spPr>
          <a:xfrm>
            <a:off x="9739440" y="23774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33" name="Text 32"/>
          <p:cNvSpPr/>
          <p:nvPr/>
        </p:nvSpPr>
        <p:spPr>
          <a:xfrm>
            <a:off x="11094480" y="23774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34" name="Text 33"/>
          <p:cNvSpPr/>
          <p:nvPr/>
        </p:nvSpPr>
        <p:spPr>
          <a:xfrm>
            <a:off x="7777800" y="30549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135" name="Text 34"/>
          <p:cNvSpPr/>
          <p:nvPr/>
        </p:nvSpPr>
        <p:spPr>
          <a:xfrm>
            <a:off x="8384040" y="30549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136" name="Text 35"/>
          <p:cNvSpPr/>
          <p:nvPr/>
        </p:nvSpPr>
        <p:spPr>
          <a:xfrm>
            <a:off x="8990640" y="30549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37" name="Text 36"/>
          <p:cNvSpPr/>
          <p:nvPr/>
        </p:nvSpPr>
        <p:spPr>
          <a:xfrm>
            <a:off x="9347040" y="30549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138" name="Text 37"/>
          <p:cNvSpPr/>
          <p:nvPr/>
        </p:nvSpPr>
        <p:spPr>
          <a:xfrm>
            <a:off x="10131480" y="30549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139" name="Text 38"/>
          <p:cNvSpPr/>
          <p:nvPr/>
        </p:nvSpPr>
        <p:spPr>
          <a:xfrm>
            <a:off x="11094480" y="30549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140" name="Text 39"/>
          <p:cNvSpPr/>
          <p:nvPr/>
        </p:nvSpPr>
        <p:spPr>
          <a:xfrm>
            <a:off x="7563960" y="36612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141" name="Text 40"/>
          <p:cNvSpPr/>
          <p:nvPr/>
        </p:nvSpPr>
        <p:spPr>
          <a:xfrm>
            <a:off x="8170200" y="36612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142" name="Text 41"/>
          <p:cNvSpPr/>
          <p:nvPr/>
        </p:nvSpPr>
        <p:spPr>
          <a:xfrm>
            <a:off x="8776440" y="36612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143" name="Text 42"/>
          <p:cNvSpPr/>
          <p:nvPr/>
        </p:nvSpPr>
        <p:spPr>
          <a:xfrm>
            <a:off x="9382680" y="36612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144" name="Text 43"/>
          <p:cNvSpPr/>
          <p:nvPr/>
        </p:nvSpPr>
        <p:spPr>
          <a:xfrm>
            <a:off x="9846360" y="36612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45" name="Text 44"/>
          <p:cNvSpPr/>
          <p:nvPr/>
        </p:nvSpPr>
        <p:spPr>
          <a:xfrm>
            <a:off x="10274400" y="36612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146" name="Text 45"/>
          <p:cNvSpPr/>
          <p:nvPr/>
        </p:nvSpPr>
        <p:spPr>
          <a:xfrm>
            <a:off x="10702080" y="36612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147" name="Text 46"/>
          <p:cNvSpPr/>
          <p:nvPr/>
        </p:nvSpPr>
        <p:spPr>
          <a:xfrm>
            <a:off x="10488240" y="42674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148" name="Text 47"/>
          <p:cNvSpPr/>
          <p:nvPr/>
        </p:nvSpPr>
        <p:spPr>
          <a:xfrm>
            <a:off x="10987560" y="42674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149" name="Text 48"/>
          <p:cNvSpPr/>
          <p:nvPr/>
        </p:nvSpPr>
        <p:spPr>
          <a:xfrm>
            <a:off x="7909560" y="5074920"/>
            <a:ext cx="2741760" cy="31860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1" u="none" strike="noStrike">
                <a:solidFill>
                  <a:srgbClr val="112E5C"/>
                </a:solidFill>
                <a:effectLst/>
                <a:uFillTx/>
                <a:latin typeface="Aptos"/>
              </a:rPr>
              <a:t>Layer by layer</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150"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51"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152"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BFS Build 1: Start at Depth 0</a:t>
            </a:r>
            <a:endParaRPr lang="en-US" sz="2600" b="0" u="none" strike="noStrike">
              <a:solidFill>
                <a:srgbClr val="000000"/>
              </a:solidFill>
              <a:effectLst/>
              <a:uFillTx/>
              <a:latin typeface="Arial"/>
            </a:endParaRPr>
          </a:p>
        </p:txBody>
      </p:sp>
      <p:sp>
        <p:nvSpPr>
          <p:cNvPr id="1153"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54"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55" name="Text 5"/>
          <p:cNvSpPr/>
          <p:nvPr/>
        </p:nvSpPr>
        <p:spPr>
          <a:xfrm>
            <a:off x="4749480" y="155268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156" name="Text 6"/>
          <p:cNvSpPr/>
          <p:nvPr/>
        </p:nvSpPr>
        <p:spPr>
          <a:xfrm>
            <a:off x="7315200" y="2057400"/>
            <a:ext cx="3290400" cy="547200"/>
          </a:xfrm>
          <a:prstGeom prst="roundRect">
            <a:avLst>
              <a:gd name="adj" fmla="val 13333"/>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2F7FD5"/>
                </a:solidFill>
                <a:effectLst/>
                <a:uFillTx/>
                <a:latin typeface="Aptos"/>
              </a:rPr>
              <a:t>Frontier = [S]</a:t>
            </a:r>
            <a:endParaRPr lang="en-US" sz="1800" b="0" u="none" strike="noStrike">
              <a:solidFill>
                <a:srgbClr val="000000"/>
              </a:solidFill>
              <a:effectLst/>
              <a:uFillTx/>
              <a:latin typeface="Arial"/>
            </a:endParaRPr>
          </a:p>
        </p:txBody>
      </p:sp>
      <p:sp>
        <p:nvSpPr>
          <p:cNvPr id="1157" name="Text 7"/>
          <p:cNvSpPr/>
          <p:nvPr/>
        </p:nvSpPr>
        <p:spPr>
          <a:xfrm>
            <a:off x="7315200" y="2971800"/>
            <a:ext cx="3290400" cy="410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BFS starts with the root node.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158"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59"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160"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BFS Build 2: Expand Depth 1</a:t>
            </a:r>
            <a:endParaRPr lang="en-US" sz="2600" b="0" u="none" strike="noStrike">
              <a:solidFill>
                <a:srgbClr val="000000"/>
              </a:solidFill>
              <a:effectLst/>
              <a:uFillTx/>
              <a:latin typeface="Arial"/>
            </a:endParaRPr>
          </a:p>
        </p:txBody>
      </p:sp>
      <p:sp>
        <p:nvSpPr>
          <p:cNvPr id="1161"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62"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63" name="Shape 5"/>
          <p:cNvSpPr/>
          <p:nvPr/>
        </p:nvSpPr>
        <p:spPr>
          <a:xfrm flipH="1">
            <a:off x="3540240" y="1698840"/>
            <a:ext cx="135540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64" name="Shape 6"/>
          <p:cNvSpPr/>
          <p:nvPr/>
        </p:nvSpPr>
        <p:spPr>
          <a:xfrm>
            <a:off x="4895640" y="1698840"/>
            <a:ext cx="360" cy="64188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165" name="Shape 7"/>
          <p:cNvSpPr/>
          <p:nvPr/>
        </p:nvSpPr>
        <p:spPr>
          <a:xfrm>
            <a:off x="4895640" y="169884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66" name="Text 8"/>
          <p:cNvSpPr/>
          <p:nvPr/>
        </p:nvSpPr>
        <p:spPr>
          <a:xfrm>
            <a:off x="4749480" y="155268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167" name="Text 9"/>
          <p:cNvSpPr/>
          <p:nvPr/>
        </p:nvSpPr>
        <p:spPr>
          <a:xfrm>
            <a:off x="3394080" y="21945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168" name="Text 10"/>
          <p:cNvSpPr/>
          <p:nvPr/>
        </p:nvSpPr>
        <p:spPr>
          <a:xfrm>
            <a:off x="4749480" y="21945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69" name="Text 11"/>
          <p:cNvSpPr/>
          <p:nvPr/>
        </p:nvSpPr>
        <p:spPr>
          <a:xfrm>
            <a:off x="6104520" y="21945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70" name="Text 12"/>
          <p:cNvSpPr/>
          <p:nvPr/>
        </p:nvSpPr>
        <p:spPr>
          <a:xfrm>
            <a:off x="7132320" y="1920240"/>
            <a:ext cx="3656160" cy="547200"/>
          </a:xfrm>
          <a:prstGeom prst="roundRect">
            <a:avLst>
              <a:gd name="adj" fmla="val 13333"/>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800" b="1" u="none" strike="noStrike">
                <a:solidFill>
                  <a:srgbClr val="2F7FD5"/>
                </a:solidFill>
                <a:effectLst/>
                <a:uFillTx/>
                <a:latin typeface="Aptos"/>
              </a:rPr>
              <a:t>Frontier = [d, e, p]</a:t>
            </a:r>
            <a:endParaRPr lang="en-US" sz="1800" b="0" u="none" strike="noStrike">
              <a:solidFill>
                <a:srgbClr val="000000"/>
              </a:solidFill>
              <a:effectLst/>
              <a:uFillTx/>
              <a:latin typeface="Arial"/>
            </a:endParaRPr>
          </a:p>
        </p:txBody>
      </p:sp>
      <p:sp>
        <p:nvSpPr>
          <p:cNvPr id="1171" name="Text 13"/>
          <p:cNvSpPr/>
          <p:nvPr/>
        </p:nvSpPr>
        <p:spPr>
          <a:xfrm>
            <a:off x="7086600" y="2880360"/>
            <a:ext cx="3747600" cy="7300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The children of S are added to the back of the FIFO queue.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172"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73"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174"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BFS Build 3: Expand by Tiers</a:t>
            </a:r>
            <a:endParaRPr lang="en-US" sz="2600" b="0" u="none" strike="noStrike">
              <a:solidFill>
                <a:srgbClr val="000000"/>
              </a:solidFill>
              <a:effectLst/>
              <a:uFillTx/>
              <a:latin typeface="Arial"/>
            </a:endParaRPr>
          </a:p>
        </p:txBody>
      </p:sp>
      <p:sp>
        <p:nvSpPr>
          <p:cNvPr id="1175"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76"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77" name="Shape 5"/>
          <p:cNvSpPr/>
          <p:nvPr/>
        </p:nvSpPr>
        <p:spPr>
          <a:xfrm flipH="1">
            <a:off x="3540240" y="1653120"/>
            <a:ext cx="135540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78" name="Shape 6"/>
          <p:cNvSpPr/>
          <p:nvPr/>
        </p:nvSpPr>
        <p:spPr>
          <a:xfrm>
            <a:off x="4895640" y="1653120"/>
            <a:ext cx="360" cy="64188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179" name="Shape 7"/>
          <p:cNvSpPr/>
          <p:nvPr/>
        </p:nvSpPr>
        <p:spPr>
          <a:xfrm>
            <a:off x="4895640" y="165312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80" name="Shape 8"/>
          <p:cNvSpPr/>
          <p:nvPr/>
        </p:nvSpPr>
        <p:spPr>
          <a:xfrm flipH="1">
            <a:off x="2934000" y="229500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81" name="Shape 9"/>
          <p:cNvSpPr/>
          <p:nvPr/>
        </p:nvSpPr>
        <p:spPr>
          <a:xfrm>
            <a:off x="3540240" y="2295000"/>
            <a:ext cx="360" cy="67752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182" name="Shape 10"/>
          <p:cNvSpPr/>
          <p:nvPr/>
        </p:nvSpPr>
        <p:spPr>
          <a:xfrm>
            <a:off x="3540240" y="229500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83" name="Shape 11"/>
          <p:cNvSpPr/>
          <p:nvPr/>
        </p:nvSpPr>
        <p:spPr>
          <a:xfrm flipH="1">
            <a:off x="4503240" y="2295000"/>
            <a:ext cx="39240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84" name="Shape 12"/>
          <p:cNvSpPr/>
          <p:nvPr/>
        </p:nvSpPr>
        <p:spPr>
          <a:xfrm>
            <a:off x="4895640" y="2295000"/>
            <a:ext cx="3920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185" name="Shape 13"/>
          <p:cNvSpPr/>
          <p:nvPr/>
        </p:nvSpPr>
        <p:spPr>
          <a:xfrm>
            <a:off x="6250680" y="2295000"/>
            <a:ext cx="360" cy="67752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186" name="Text 14"/>
          <p:cNvSpPr/>
          <p:nvPr/>
        </p:nvSpPr>
        <p:spPr>
          <a:xfrm>
            <a:off x="4749480" y="15069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187" name="Text 15"/>
          <p:cNvSpPr/>
          <p:nvPr/>
        </p:nvSpPr>
        <p:spPr>
          <a:xfrm>
            <a:off x="3394080" y="21488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188" name="Text 16"/>
          <p:cNvSpPr/>
          <p:nvPr/>
        </p:nvSpPr>
        <p:spPr>
          <a:xfrm>
            <a:off x="4749480" y="21488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89" name="Text 17"/>
          <p:cNvSpPr/>
          <p:nvPr/>
        </p:nvSpPr>
        <p:spPr>
          <a:xfrm>
            <a:off x="6104520" y="21488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90" name="Text 18"/>
          <p:cNvSpPr/>
          <p:nvPr/>
        </p:nvSpPr>
        <p:spPr>
          <a:xfrm>
            <a:off x="2787840" y="28263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191" name="Text 19"/>
          <p:cNvSpPr/>
          <p:nvPr/>
        </p:nvSpPr>
        <p:spPr>
          <a:xfrm>
            <a:off x="3394080" y="28263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192" name="Text 20"/>
          <p:cNvSpPr/>
          <p:nvPr/>
        </p:nvSpPr>
        <p:spPr>
          <a:xfrm>
            <a:off x="4000680" y="28263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93" name="Text 21"/>
          <p:cNvSpPr/>
          <p:nvPr/>
        </p:nvSpPr>
        <p:spPr>
          <a:xfrm>
            <a:off x="4357080" y="28263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194" name="Text 22"/>
          <p:cNvSpPr/>
          <p:nvPr/>
        </p:nvSpPr>
        <p:spPr>
          <a:xfrm>
            <a:off x="5141520" y="28263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195" name="Text 23"/>
          <p:cNvSpPr/>
          <p:nvPr/>
        </p:nvSpPr>
        <p:spPr>
          <a:xfrm>
            <a:off x="6104520" y="28263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196" name="Text 24"/>
          <p:cNvSpPr/>
          <p:nvPr/>
        </p:nvSpPr>
        <p:spPr>
          <a:xfrm>
            <a:off x="7040880" y="2011680"/>
            <a:ext cx="3839040" cy="592920"/>
          </a:xfrm>
          <a:prstGeom prst="rect">
            <a:avLst/>
          </a:prstGeom>
          <a:noFill/>
          <a:ln w="0">
            <a:noFill/>
          </a:ln>
        </p:spPr>
        <p:style>
          <a:lnRef idx="0"/>
          <a:fillRef idx="0"/>
          <a:effectRef idx="0"/>
          <a:fontRef idx="minor"/>
        </p:style>
        <p:txBody>
          <a:bodyPr lIns="720" tIns="720" rIns="720" bIns="720" anchor="ctr">
            <a:normAutofit lnSpcReduction="9999"/>
          </a:bodyPr>
          <a:p>
            <a:pPr algn="ctr" defTabSz="914400">
              <a:lnSpc>
                <a:spcPct val="100000"/>
              </a:lnSpc>
              <a:tabLst>
                <a:tab pos="0" algn="l"/>
              </a:tabLst>
            </a:pPr>
            <a:r>
              <a:rPr lang="en-US" sz="2000" b="1" u="none" strike="noStrike">
                <a:solidFill>
                  <a:srgbClr val="112E5C"/>
                </a:solidFill>
                <a:effectLst/>
                <a:uFillTx/>
                <a:latin typeface="Aptos"/>
              </a:rPr>
              <a:t>BFS finishes one entire tier before moving deeper.</a:t>
            </a:r>
            <a:endParaRPr lang="en-US" sz="2000" b="0" u="none" strike="noStrike">
              <a:solidFill>
                <a:srgbClr val="000000"/>
              </a:solidFill>
              <a:effectLst/>
              <a:uFillTx/>
              <a:latin typeface="Arial"/>
            </a:endParaRPr>
          </a:p>
        </p:txBody>
      </p:sp>
      <p:sp>
        <p:nvSpPr>
          <p:cNvPr id="1197" name="Text 25"/>
          <p:cNvSpPr/>
          <p:nvPr/>
        </p:nvSpPr>
        <p:spPr>
          <a:xfrm>
            <a:off x="7040880" y="2971800"/>
            <a:ext cx="3884760" cy="9129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This gives completeness and fewest-action optimality, but the frontier can become extremely large.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198"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99"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200"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Breadth-First Search at a Glance</a:t>
            </a:r>
            <a:endParaRPr lang="en-US" sz="2600" b="0" u="none" strike="noStrike">
              <a:solidFill>
                <a:srgbClr val="000000"/>
              </a:solidFill>
              <a:effectLst/>
              <a:uFillTx/>
              <a:latin typeface="Arial"/>
            </a:endParaRPr>
          </a:p>
        </p:txBody>
      </p:sp>
      <p:sp>
        <p:nvSpPr>
          <p:cNvPr id="1201"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02"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pic>
        <p:nvPicPr>
          <p:cNvPr id="1203" name="Picture 2"/>
          <p:cNvPicPr/>
          <p:nvPr/>
        </p:nvPicPr>
        <p:blipFill>
          <a:blip r:embed="rId1"/>
          <a:stretch/>
        </p:blipFill>
        <p:spPr>
          <a:xfrm>
            <a:off x="1997640" y="1064520"/>
            <a:ext cx="7942680" cy="5294880"/>
          </a:xfrm>
          <a:prstGeom prst="rect">
            <a:avLst/>
          </a:prstGeom>
          <a:noFill/>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204" name="HeaderBar 200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05" name="AccentBar 200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06" name="Title 200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2600" b="1" u="none" strike="noStrike">
                <a:solidFill>
                  <a:srgbClr val="FFFFFF"/>
                </a:solidFill>
                <a:effectLst/>
                <a:uFillTx/>
                <a:latin typeface="Aptos"/>
              </a:rPr>
              <a:t>Breadth-First Search: The Algorithm</a:t>
            </a:r>
            <a:endParaRPr lang="en-US" sz="2600" b="0" u="none" strike="noStrike">
              <a:solidFill>
                <a:srgbClr val="000000"/>
              </a:solidFill>
              <a:effectLst/>
              <a:uFillTx/>
              <a:latin typeface="Arial"/>
            </a:endParaRPr>
          </a:p>
        </p:txBody>
      </p:sp>
      <p:sp>
        <p:nvSpPr>
          <p:cNvPr id="1207" name="FooterL 200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08" name="FooterR 200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09" name="CodeCard 2006"/>
          <p:cNvSpPr/>
          <p:nvPr/>
        </p:nvSpPr>
        <p:spPr>
          <a:xfrm>
            <a:off x="502920" y="1239840"/>
            <a:ext cx="6298920" cy="324612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10" name="CodeCap 2007"/>
          <p:cNvSpPr/>
          <p:nvPr/>
        </p:nvSpPr>
        <p:spPr>
          <a:xfrm>
            <a:off x="777240" y="1468440"/>
            <a:ext cx="575028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00" b="1" u="none" strike="noStrike">
                <a:solidFill>
                  <a:srgbClr val="F6A01A"/>
                </a:solidFill>
                <a:effectLst/>
                <a:uFillTx/>
                <a:latin typeface="Aptos"/>
              </a:rPr>
              <a:t>AIMA 4th ed., Figure 3.9</a:t>
            </a:r>
            <a:endParaRPr lang="en-US" sz="900" b="0" u="none" strike="noStrike">
              <a:solidFill>
                <a:srgbClr val="000000"/>
              </a:solidFill>
              <a:effectLst/>
              <a:uFillTx/>
              <a:latin typeface="Arial"/>
            </a:endParaRPr>
          </a:p>
        </p:txBody>
      </p:sp>
      <p:sp>
        <p:nvSpPr>
          <p:cNvPr id="1211" name="CodeBody 2008"/>
          <p:cNvSpPr/>
          <p:nvPr/>
        </p:nvSpPr>
        <p:spPr>
          <a:xfrm>
            <a:off x="777240" y="1768680"/>
            <a:ext cx="5750280" cy="2191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119"/>
              </a:spcAft>
            </a:pPr>
            <a:r>
              <a:rPr lang="en-US" sz="1000" b="1" u="none" strike="noStrike">
                <a:solidFill>
                  <a:srgbClr val="F6A01A"/>
                </a:solidFill>
                <a:effectLst/>
                <a:uFillTx/>
                <a:latin typeface="Consolas"/>
              </a:rPr>
              <a:t>function</a:t>
            </a:r>
            <a:r>
              <a:rPr lang="en-US" sz="1000" b="0" u="none" strike="noStrike">
                <a:solidFill>
                  <a:srgbClr val="EAF2FF"/>
                </a:solidFill>
                <a:effectLst/>
                <a:uFillTx/>
                <a:latin typeface="Consolas"/>
              </a:rPr>
              <a:t> BREADTH-FIRST-SEARCH(problem) </a:t>
            </a:r>
            <a:r>
              <a:rPr lang="en-US" sz="1000" b="1" u="none" strike="noStrike">
                <a:solidFill>
                  <a:srgbClr val="F6A01A"/>
                </a:solidFill>
                <a:effectLst/>
                <a:uFillTx/>
                <a:latin typeface="Consolas"/>
              </a:rPr>
              <a:t>returns</a:t>
            </a:r>
            <a:r>
              <a:rPr lang="en-US" sz="1000" b="0" u="none" strike="noStrike">
                <a:solidFill>
                  <a:srgbClr val="EAF2FF"/>
                </a:solidFill>
                <a:effectLst/>
                <a:uFillTx/>
                <a:latin typeface="Consolas"/>
              </a:rPr>
              <a:t> a solution node </a:t>
            </a:r>
            <a:r>
              <a:rPr lang="en-US" sz="1000" b="1" u="none" strike="noStrike">
                <a:solidFill>
                  <a:srgbClr val="F6A01A"/>
                </a:solidFill>
                <a:effectLst/>
                <a:uFillTx/>
                <a:latin typeface="Consolas"/>
              </a:rPr>
              <a:t>or</a:t>
            </a:r>
            <a:r>
              <a:rPr lang="en-US" sz="1000" b="0" u="none" strike="noStrike">
                <a:solidFill>
                  <a:srgbClr val="EAF2FF"/>
                </a:solidFill>
                <a:effectLst/>
                <a:uFillTx/>
                <a:latin typeface="Consolas"/>
              </a:rPr>
              <a:t> </a:t>
            </a:r>
            <a:r>
              <a:rPr lang="en-US" sz="1000" b="1" u="none" strike="noStrike">
                <a:solidFill>
                  <a:srgbClr val="F2A0A0"/>
                </a:solidFill>
                <a:effectLst/>
                <a:uFillTx/>
                <a:latin typeface="Consolas"/>
              </a:rPr>
              <a:t>failure</a:t>
            </a:r>
            <a:endParaRPr lang="en-US" sz="1000" b="0" u="none" strike="noStrike">
              <a:solidFill>
                <a:srgbClr val="000000"/>
              </a:solidFill>
              <a:effectLst/>
              <a:uFillTx/>
              <a:latin typeface="Arial"/>
            </a:endParaRPr>
          </a:p>
          <a:p>
            <a:pPr defTabSz="914400">
              <a:lnSpc>
                <a:spcPct val="100000"/>
              </a:lnSpc>
              <a:spcAft>
                <a:spcPts val="119"/>
              </a:spcAft>
            </a:pP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node ← NODE(problem.INITIAL)</a:t>
            </a: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a:t>
            </a:r>
            <a:r>
              <a:rPr lang="en-US" sz="1000" b="1" u="none" strike="noStrike">
                <a:solidFill>
                  <a:srgbClr val="F6A01A"/>
                </a:solidFill>
                <a:effectLst/>
                <a:uFillTx/>
                <a:latin typeface="Consolas"/>
              </a:rPr>
              <a:t>if</a:t>
            </a:r>
            <a:r>
              <a:rPr lang="en-US" sz="1000" b="0" u="none" strike="noStrike">
                <a:solidFill>
                  <a:srgbClr val="EAF2FF"/>
                </a:solidFill>
                <a:effectLst/>
                <a:uFillTx/>
                <a:latin typeface="Consolas"/>
              </a:rPr>
              <a:t> problem.IS-GOAL(node.STATE) </a:t>
            </a:r>
            <a:r>
              <a:rPr lang="en-US" sz="1000" b="1" u="none" strike="noStrike">
                <a:solidFill>
                  <a:srgbClr val="F6A01A"/>
                </a:solidFill>
                <a:effectLst/>
                <a:uFillTx/>
                <a:latin typeface="Consolas"/>
              </a:rPr>
              <a:t>then</a:t>
            </a:r>
            <a:r>
              <a:rPr lang="en-US" sz="1000" b="0" u="none" strike="noStrike">
                <a:solidFill>
                  <a:srgbClr val="EAF2FF"/>
                </a:solidFill>
                <a:effectLst/>
                <a:uFillTx/>
                <a:latin typeface="Consolas"/>
              </a:rPr>
              <a:t> </a:t>
            </a:r>
            <a:r>
              <a:rPr lang="en-US" sz="1000" b="1" u="none" strike="noStrike">
                <a:solidFill>
                  <a:srgbClr val="F6A01A"/>
                </a:solidFill>
                <a:effectLst/>
                <a:uFillTx/>
                <a:latin typeface="Consolas"/>
              </a:rPr>
              <a:t>return</a:t>
            </a:r>
            <a:r>
              <a:rPr lang="en-US" sz="1000" b="0" u="none" strike="noStrike">
                <a:solidFill>
                  <a:srgbClr val="EAF2FF"/>
                </a:solidFill>
                <a:effectLst/>
                <a:uFillTx/>
                <a:latin typeface="Consolas"/>
              </a:rPr>
              <a:t> node</a:t>
            </a: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frontier ← a FIFO queue, with node as an element</a:t>
            </a: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reached ← {problem.INITIAL}</a:t>
            </a:r>
            <a:endParaRPr lang="en-US" sz="1000" b="0" u="none" strike="noStrike">
              <a:solidFill>
                <a:srgbClr val="000000"/>
              </a:solidFill>
              <a:effectLst/>
              <a:uFillTx/>
              <a:latin typeface="Arial"/>
            </a:endParaRPr>
          </a:p>
          <a:p>
            <a:pPr defTabSz="914400">
              <a:lnSpc>
                <a:spcPct val="100000"/>
              </a:lnSpc>
              <a:spcAft>
                <a:spcPts val="119"/>
              </a:spcAft>
            </a:pP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a:t>
            </a:r>
            <a:r>
              <a:rPr lang="en-US" sz="1000" b="1" u="none" strike="noStrike">
                <a:solidFill>
                  <a:srgbClr val="F6A01A"/>
                </a:solidFill>
                <a:effectLst/>
                <a:uFillTx/>
                <a:latin typeface="Consolas"/>
              </a:rPr>
              <a:t>while</a:t>
            </a:r>
            <a:r>
              <a:rPr lang="en-US" sz="1000" b="0" u="none" strike="noStrike">
                <a:solidFill>
                  <a:srgbClr val="EAF2FF"/>
                </a:solidFill>
                <a:effectLst/>
                <a:uFillTx/>
                <a:latin typeface="Consolas"/>
              </a:rPr>
              <a:t> </a:t>
            </a:r>
            <a:r>
              <a:rPr lang="en-US" sz="1000" b="1" u="none" strike="noStrike">
                <a:solidFill>
                  <a:srgbClr val="F6A01A"/>
                </a:solidFill>
                <a:effectLst/>
                <a:uFillTx/>
                <a:latin typeface="Consolas"/>
              </a:rPr>
              <a:t>not</a:t>
            </a:r>
            <a:r>
              <a:rPr lang="en-US" sz="1000" b="0" u="none" strike="noStrike">
                <a:solidFill>
                  <a:srgbClr val="EAF2FF"/>
                </a:solidFill>
                <a:effectLst/>
                <a:uFillTx/>
                <a:latin typeface="Consolas"/>
              </a:rPr>
              <a:t> IS-EMPTY(frontier) </a:t>
            </a:r>
            <a:r>
              <a:rPr lang="en-US" sz="1000" b="1" u="none" strike="noStrike">
                <a:solidFill>
                  <a:srgbClr val="F6A01A"/>
                </a:solidFill>
                <a:effectLst/>
                <a:uFillTx/>
                <a:latin typeface="Consolas"/>
              </a:rPr>
              <a:t>do</a:t>
            </a: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node ← POP(frontier)</a:t>
            </a: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a:t>
            </a:r>
            <a:r>
              <a:rPr lang="en-US" sz="1000" b="1" u="none" strike="noStrike">
                <a:solidFill>
                  <a:srgbClr val="F6A01A"/>
                </a:solidFill>
                <a:effectLst/>
                <a:uFillTx/>
                <a:latin typeface="Consolas"/>
              </a:rPr>
              <a:t>for</a:t>
            </a:r>
            <a:r>
              <a:rPr lang="en-US" sz="1000" b="0" u="none" strike="noStrike">
                <a:solidFill>
                  <a:srgbClr val="EAF2FF"/>
                </a:solidFill>
                <a:effectLst/>
                <a:uFillTx/>
                <a:latin typeface="Consolas"/>
              </a:rPr>
              <a:t> </a:t>
            </a:r>
            <a:r>
              <a:rPr lang="en-US" sz="1000" b="1" u="none" strike="noStrike">
                <a:solidFill>
                  <a:srgbClr val="F6A01A"/>
                </a:solidFill>
                <a:effectLst/>
                <a:uFillTx/>
                <a:latin typeface="Consolas"/>
              </a:rPr>
              <a:t>each</a:t>
            </a:r>
            <a:r>
              <a:rPr lang="en-US" sz="1000" b="0" u="none" strike="noStrike">
                <a:solidFill>
                  <a:srgbClr val="EAF2FF"/>
                </a:solidFill>
                <a:effectLst/>
                <a:uFillTx/>
                <a:latin typeface="Consolas"/>
              </a:rPr>
              <a:t> child in EXPAND(problem, node) </a:t>
            </a:r>
            <a:r>
              <a:rPr lang="en-US" sz="1000" b="1" u="none" strike="noStrike">
                <a:solidFill>
                  <a:srgbClr val="F6A01A"/>
                </a:solidFill>
                <a:effectLst/>
                <a:uFillTx/>
                <a:latin typeface="Consolas"/>
              </a:rPr>
              <a:t>do</a:t>
            </a: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s ← child.STATE</a:t>
            </a: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a:t>
            </a:r>
            <a:r>
              <a:rPr lang="en-US" sz="1000" b="1" u="none" strike="noStrike">
                <a:solidFill>
                  <a:srgbClr val="F6A01A"/>
                </a:solidFill>
                <a:effectLst/>
                <a:uFillTx/>
                <a:latin typeface="Consolas"/>
              </a:rPr>
              <a:t>if</a:t>
            </a:r>
            <a:r>
              <a:rPr lang="en-US" sz="1000" b="0" u="none" strike="noStrike">
                <a:solidFill>
                  <a:srgbClr val="EAF2FF"/>
                </a:solidFill>
                <a:effectLst/>
                <a:uFillTx/>
                <a:latin typeface="Consolas"/>
              </a:rPr>
              <a:t> problem.IS-GOAL(s) </a:t>
            </a:r>
            <a:r>
              <a:rPr lang="en-US" sz="1000" b="1" u="none" strike="noStrike">
                <a:solidFill>
                  <a:srgbClr val="F6A01A"/>
                </a:solidFill>
                <a:effectLst/>
                <a:uFillTx/>
                <a:latin typeface="Consolas"/>
              </a:rPr>
              <a:t>then</a:t>
            </a:r>
            <a:r>
              <a:rPr lang="en-US" sz="1000" b="0" u="none" strike="noStrike">
                <a:solidFill>
                  <a:srgbClr val="EAF2FF"/>
                </a:solidFill>
                <a:effectLst/>
                <a:uFillTx/>
                <a:latin typeface="Consolas"/>
              </a:rPr>
              <a:t> </a:t>
            </a:r>
            <a:r>
              <a:rPr lang="en-US" sz="1000" b="1" u="none" strike="noStrike">
                <a:solidFill>
                  <a:srgbClr val="F6A01A"/>
                </a:solidFill>
                <a:effectLst/>
                <a:uFillTx/>
                <a:latin typeface="Consolas"/>
              </a:rPr>
              <a:t>return</a:t>
            </a:r>
            <a:r>
              <a:rPr lang="en-US" sz="1000" b="0" u="none" strike="noStrike">
                <a:solidFill>
                  <a:srgbClr val="EAF2FF"/>
                </a:solidFill>
                <a:effectLst/>
                <a:uFillTx/>
                <a:latin typeface="Consolas"/>
              </a:rPr>
              <a:t> child</a:t>
            </a: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a:t>
            </a:r>
            <a:r>
              <a:rPr lang="en-US" sz="1000" b="1" u="none" strike="noStrike">
                <a:solidFill>
                  <a:srgbClr val="F6A01A"/>
                </a:solidFill>
                <a:effectLst/>
                <a:uFillTx/>
                <a:latin typeface="Consolas"/>
              </a:rPr>
              <a:t>if</a:t>
            </a:r>
            <a:r>
              <a:rPr lang="en-US" sz="1000" b="0" u="none" strike="noStrike">
                <a:solidFill>
                  <a:srgbClr val="EAF2FF"/>
                </a:solidFill>
                <a:effectLst/>
                <a:uFillTx/>
                <a:latin typeface="Consolas"/>
              </a:rPr>
              <a:t> s is </a:t>
            </a:r>
            <a:r>
              <a:rPr lang="en-US" sz="1000" b="1" u="none" strike="noStrike">
                <a:solidFill>
                  <a:srgbClr val="F6A01A"/>
                </a:solidFill>
                <a:effectLst/>
                <a:uFillTx/>
                <a:latin typeface="Consolas"/>
              </a:rPr>
              <a:t>not</a:t>
            </a:r>
            <a:r>
              <a:rPr lang="en-US" sz="1000" b="0" u="none" strike="noStrike">
                <a:solidFill>
                  <a:srgbClr val="EAF2FF"/>
                </a:solidFill>
                <a:effectLst/>
                <a:uFillTx/>
                <a:latin typeface="Consolas"/>
              </a:rPr>
              <a:t> in reached </a:t>
            </a:r>
            <a:r>
              <a:rPr lang="en-US" sz="1000" b="1" u="none" strike="noStrike">
                <a:solidFill>
                  <a:srgbClr val="F6A01A"/>
                </a:solidFill>
                <a:effectLst/>
                <a:uFillTx/>
                <a:latin typeface="Consolas"/>
              </a:rPr>
              <a:t>then</a:t>
            </a: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add s </a:t>
            </a:r>
            <a:r>
              <a:rPr lang="en-US" sz="1000" b="1" u="none" strike="noStrike">
                <a:solidFill>
                  <a:srgbClr val="F6A01A"/>
                </a:solidFill>
                <a:effectLst/>
                <a:uFillTx/>
                <a:latin typeface="Consolas"/>
              </a:rPr>
              <a:t>to</a:t>
            </a:r>
            <a:r>
              <a:rPr lang="en-US" sz="1000" b="0" u="none" strike="noStrike">
                <a:solidFill>
                  <a:srgbClr val="EAF2FF"/>
                </a:solidFill>
                <a:effectLst/>
                <a:uFillTx/>
                <a:latin typeface="Consolas"/>
              </a:rPr>
              <a:t> reached</a:t>
            </a: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add child </a:t>
            </a:r>
            <a:r>
              <a:rPr lang="en-US" sz="1000" b="1" u="none" strike="noStrike">
                <a:solidFill>
                  <a:srgbClr val="F6A01A"/>
                </a:solidFill>
                <a:effectLst/>
                <a:uFillTx/>
                <a:latin typeface="Consolas"/>
              </a:rPr>
              <a:t>to</a:t>
            </a:r>
            <a:r>
              <a:rPr lang="en-US" sz="1000" b="0" u="none" strike="noStrike">
                <a:solidFill>
                  <a:srgbClr val="EAF2FF"/>
                </a:solidFill>
                <a:effectLst/>
                <a:uFillTx/>
                <a:latin typeface="Consolas"/>
              </a:rPr>
              <a:t> frontier</a:t>
            </a:r>
            <a:endParaRPr lang="en-US" sz="1000" b="0" u="none" strike="noStrike">
              <a:solidFill>
                <a:srgbClr val="000000"/>
              </a:solidFill>
              <a:effectLst/>
              <a:uFillTx/>
              <a:latin typeface="Arial"/>
            </a:endParaRPr>
          </a:p>
          <a:p>
            <a:pPr defTabSz="914400">
              <a:lnSpc>
                <a:spcPct val="100000"/>
              </a:lnSpc>
              <a:spcAft>
                <a:spcPts val="119"/>
              </a:spcAft>
            </a:pPr>
            <a:r>
              <a:rPr lang="en-US" sz="1000" b="0" u="none" strike="noStrike">
                <a:solidFill>
                  <a:srgbClr val="EAF2FF"/>
                </a:solidFill>
                <a:effectLst/>
                <a:uFillTx/>
                <a:latin typeface="Consolas"/>
              </a:rPr>
              <a:t>    </a:t>
            </a:r>
            <a:r>
              <a:rPr lang="en-US" sz="1000" b="1" u="none" strike="noStrike">
                <a:solidFill>
                  <a:srgbClr val="F6A01A"/>
                </a:solidFill>
                <a:effectLst/>
                <a:uFillTx/>
                <a:latin typeface="Consolas"/>
              </a:rPr>
              <a:t>return</a:t>
            </a:r>
            <a:r>
              <a:rPr lang="en-US" sz="1000" b="0" u="none" strike="noStrike">
                <a:solidFill>
                  <a:srgbClr val="EAF2FF"/>
                </a:solidFill>
                <a:effectLst/>
                <a:uFillTx/>
                <a:latin typeface="Consolas"/>
              </a:rPr>
              <a:t> </a:t>
            </a:r>
            <a:r>
              <a:rPr lang="en-US" sz="1000" b="1" u="none" strike="noStrike">
                <a:solidFill>
                  <a:srgbClr val="F2A0A0"/>
                </a:solidFill>
                <a:effectLst/>
                <a:uFillTx/>
                <a:latin typeface="Consolas"/>
              </a:rPr>
              <a:t>failure</a:t>
            </a:r>
            <a:endParaRPr lang="en-US" sz="1000" b="0" u="none" strike="noStrike">
              <a:solidFill>
                <a:srgbClr val="000000"/>
              </a:solidFill>
              <a:effectLst/>
              <a:uFillTx/>
              <a:latin typeface="Arial"/>
            </a:endParaRPr>
          </a:p>
        </p:txBody>
      </p:sp>
      <p:sp>
        <p:nvSpPr>
          <p:cNvPr id="1212" name="NoteCard 2012"/>
          <p:cNvSpPr/>
          <p:nvPr/>
        </p:nvSpPr>
        <p:spPr>
          <a:xfrm>
            <a:off x="7077240" y="1239840"/>
            <a:ext cx="4610880" cy="85392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13" name="CardHead 2013"/>
          <p:cNvSpPr/>
          <p:nvPr/>
        </p:nvSpPr>
        <p:spPr>
          <a:xfrm>
            <a:off x="7283160" y="1377000"/>
            <a:ext cx="419940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112E5C"/>
                </a:solidFill>
                <a:effectLst/>
                <a:uFillTx/>
                <a:latin typeface="Aptos"/>
              </a:rPr>
              <a:t>Line 3 · the early goal test</a:t>
            </a:r>
            <a:endParaRPr lang="en-US" sz="1050" b="0" u="none" strike="noStrike">
              <a:solidFill>
                <a:srgbClr val="000000"/>
              </a:solidFill>
              <a:effectLst/>
              <a:uFillTx/>
              <a:latin typeface="Arial"/>
            </a:endParaRPr>
          </a:p>
        </p:txBody>
      </p:sp>
      <p:sp>
        <p:nvSpPr>
          <p:cNvPr id="1214" name="CardBody 2014"/>
          <p:cNvSpPr/>
          <p:nvPr/>
        </p:nvSpPr>
        <p:spPr>
          <a:xfrm>
            <a:off x="7283160" y="1605600"/>
            <a:ext cx="4199400" cy="351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The root is tested before the loop begins, so a start state that is already a goal returns at once.</a:t>
            </a:r>
            <a:endParaRPr lang="en-US" sz="950" b="0" u="none" strike="noStrike">
              <a:solidFill>
                <a:srgbClr val="000000"/>
              </a:solidFill>
              <a:effectLst/>
              <a:uFillTx/>
              <a:latin typeface="Arial"/>
            </a:endParaRPr>
          </a:p>
        </p:txBody>
      </p:sp>
      <p:sp>
        <p:nvSpPr>
          <p:cNvPr id="1215" name="NoteCard 2015"/>
          <p:cNvSpPr/>
          <p:nvPr/>
        </p:nvSpPr>
        <p:spPr>
          <a:xfrm>
            <a:off x="7077240" y="2255040"/>
            <a:ext cx="4610880" cy="85392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16" name="CardHead 2016"/>
          <p:cNvSpPr/>
          <p:nvPr/>
        </p:nvSpPr>
        <p:spPr>
          <a:xfrm>
            <a:off x="7283160" y="2392200"/>
            <a:ext cx="419940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112E5C"/>
                </a:solidFill>
                <a:effectLst/>
                <a:uFillTx/>
                <a:latin typeface="Aptos"/>
              </a:rPr>
              <a:t>Line 4 · a FIFO queue, not a heap</a:t>
            </a:r>
            <a:endParaRPr lang="en-US" sz="1050" b="0" u="none" strike="noStrike">
              <a:solidFill>
                <a:srgbClr val="000000"/>
              </a:solidFill>
              <a:effectLst/>
              <a:uFillTx/>
              <a:latin typeface="Arial"/>
            </a:endParaRPr>
          </a:p>
        </p:txBody>
      </p:sp>
      <p:sp>
        <p:nvSpPr>
          <p:cNvPr id="1217" name="CardBody 2017"/>
          <p:cNvSpPr/>
          <p:nvPr/>
        </p:nvSpPr>
        <p:spPr>
          <a:xfrm>
            <a:off x="7283160" y="2620800"/>
            <a:ext cx="4199400" cy="351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POP returns the oldest node. Every node at depth k is expanded before any node at depth k+1. That is all BFS is.</a:t>
            </a:r>
            <a:endParaRPr lang="en-US" sz="950" b="0" u="none" strike="noStrike">
              <a:solidFill>
                <a:srgbClr val="000000"/>
              </a:solidFill>
              <a:effectLst/>
              <a:uFillTx/>
              <a:latin typeface="Arial"/>
            </a:endParaRPr>
          </a:p>
        </p:txBody>
      </p:sp>
      <p:sp>
        <p:nvSpPr>
          <p:cNvPr id="1218" name="NoteCard 2018"/>
          <p:cNvSpPr/>
          <p:nvPr/>
        </p:nvSpPr>
        <p:spPr>
          <a:xfrm>
            <a:off x="7077240" y="3269880"/>
            <a:ext cx="4610880" cy="85392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19" name="CardHead 2019"/>
          <p:cNvSpPr/>
          <p:nvPr/>
        </p:nvSpPr>
        <p:spPr>
          <a:xfrm>
            <a:off x="7283160" y="3407040"/>
            <a:ext cx="419940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112E5C"/>
                </a:solidFill>
                <a:effectLst/>
                <a:uFillTx/>
                <a:latin typeface="Aptos"/>
              </a:rPr>
              <a:t>Line 10 · test on generation</a:t>
            </a:r>
            <a:endParaRPr lang="en-US" sz="1050" b="0" u="none" strike="noStrike">
              <a:solidFill>
                <a:srgbClr val="000000"/>
              </a:solidFill>
              <a:effectLst/>
              <a:uFillTx/>
              <a:latin typeface="Arial"/>
            </a:endParaRPr>
          </a:p>
        </p:txBody>
      </p:sp>
      <p:sp>
        <p:nvSpPr>
          <p:cNvPr id="1220" name="CardBody 2020"/>
          <p:cNvSpPr/>
          <p:nvPr/>
        </p:nvSpPr>
        <p:spPr>
          <a:xfrm>
            <a:off x="7283160" y="3635640"/>
            <a:ext cx="4199400" cy="351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The goal is returned the moment a child is created, which saves expanding an entire final tier of nodes.</a:t>
            </a:r>
            <a:endParaRPr lang="en-US" sz="950" b="0" u="none" strike="noStrike">
              <a:solidFill>
                <a:srgbClr val="000000"/>
              </a:solidFill>
              <a:effectLst/>
              <a:uFillTx/>
              <a:latin typeface="Arial"/>
            </a:endParaRPr>
          </a:p>
        </p:txBody>
      </p:sp>
      <p:sp>
        <p:nvSpPr>
          <p:cNvPr id="1221" name="NoteCard 2021"/>
          <p:cNvSpPr/>
          <p:nvPr/>
        </p:nvSpPr>
        <p:spPr>
          <a:xfrm>
            <a:off x="7077240" y="4285080"/>
            <a:ext cx="4610880" cy="85392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22" name="CardHead 2022"/>
          <p:cNvSpPr/>
          <p:nvPr/>
        </p:nvSpPr>
        <p:spPr>
          <a:xfrm>
            <a:off x="7283160" y="4422240"/>
            <a:ext cx="419940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112E5C"/>
                </a:solidFill>
                <a:effectLst/>
                <a:uFillTx/>
                <a:latin typeface="Aptos"/>
              </a:rPr>
              <a:t>Line 5 · reached is a set of states</a:t>
            </a:r>
            <a:endParaRPr lang="en-US" sz="1050" b="0" u="none" strike="noStrike">
              <a:solidFill>
                <a:srgbClr val="000000"/>
              </a:solidFill>
              <a:effectLst/>
              <a:uFillTx/>
              <a:latin typeface="Arial"/>
            </a:endParaRPr>
          </a:p>
        </p:txBody>
      </p:sp>
      <p:sp>
        <p:nvSpPr>
          <p:cNvPr id="1223" name="CardBody 2023"/>
          <p:cNvSpPr/>
          <p:nvPr/>
        </p:nvSpPr>
        <p:spPr>
          <a:xfrm>
            <a:off x="7283160" y="4650840"/>
            <a:ext cx="4199400" cy="351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Not a state-to-node map. BFS never replaces an entry: the first path it finds to a state is already the shallowest.</a:t>
            </a:r>
            <a:endParaRPr lang="en-US" sz="950" b="0" u="none" strike="noStrike">
              <a:solidFill>
                <a:srgbClr val="000000"/>
              </a:solidFill>
              <a:effectLst/>
              <a:uFillTx/>
              <a:latin typeface="Arial"/>
            </a:endParaRPr>
          </a:p>
        </p:txBody>
      </p:sp>
      <p:sp>
        <p:nvSpPr>
          <p:cNvPr id="1224" name="Banner 2024"/>
          <p:cNvSpPr/>
          <p:nvPr/>
        </p:nvSpPr>
        <p:spPr>
          <a:xfrm>
            <a:off x="502920" y="5320080"/>
            <a:ext cx="11185200" cy="89892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p>
            <a:pPr defTabSz="914400">
              <a:lnSpc>
                <a:spcPct val="100000"/>
              </a:lnSpc>
              <a:spcAft>
                <a:spcPts val="201"/>
              </a:spcAft>
            </a:pPr>
            <a:r>
              <a:rPr lang="en-US" sz="1100" b="1" u="none" strike="noStrike">
                <a:solidFill>
                  <a:srgbClr val="102A4C"/>
                </a:solidFill>
                <a:effectLst/>
                <a:uFillTx/>
                <a:latin typeface="Aptos"/>
              </a:rPr>
              <a:t>This is not best-first search with f(n) = depth. Figure 3.9 is a specialised rewrite that exploits three facts only BFS can rely on.</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5C6B80"/>
                </a:solidFill>
                <a:effectLst/>
                <a:uFillTx/>
                <a:latin typeface="Aptos"/>
              </a:rPr>
              <a:t>Because depth can never improve on a second visit, BFS is allowed to test on generation, store bare states instead of nodes, and use a plain queue instead of a priority queue.</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225" name="HeaderBar 200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26" name="AccentBar 200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27" name="Title 200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2600" b="1" u="none" strike="noStrike">
                <a:solidFill>
                  <a:srgbClr val="FFFFFF"/>
                </a:solidFill>
                <a:effectLst/>
                <a:uFillTx/>
                <a:latin typeface="Aptos"/>
              </a:rPr>
              <a:t>Breadth-First Search, Line by Line</a:t>
            </a:r>
            <a:endParaRPr lang="en-US" sz="2600" b="0" u="none" strike="noStrike">
              <a:solidFill>
                <a:srgbClr val="000000"/>
              </a:solidFill>
              <a:effectLst/>
              <a:uFillTx/>
              <a:latin typeface="Arial"/>
            </a:endParaRPr>
          </a:p>
        </p:txBody>
      </p:sp>
      <p:sp>
        <p:nvSpPr>
          <p:cNvPr id="1228" name="FooterL 200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29" name="FooterR 200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30" name="Text 2006"/>
          <p:cNvSpPr/>
          <p:nvPr/>
        </p:nvSpPr>
        <p:spPr>
          <a:xfrm>
            <a:off x="502920" y="1180080"/>
            <a:ext cx="5448960" cy="2588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100" b="1" u="none" strike="noStrike">
                <a:solidFill>
                  <a:srgbClr val="F6A01A"/>
                </a:solidFill>
                <a:effectLst/>
                <a:uFillTx/>
                <a:latin typeface="Aptos"/>
              </a:rPr>
              <a:t>SETUP · before the loop</a:t>
            </a:r>
            <a:endParaRPr lang="en-US" sz="1100" b="0" u="none" strike="noStrike">
              <a:solidFill>
                <a:srgbClr val="000000"/>
              </a:solidFill>
              <a:effectLst/>
              <a:uFillTx/>
              <a:latin typeface="Arial"/>
            </a:endParaRPr>
          </a:p>
        </p:txBody>
      </p:sp>
      <p:sp>
        <p:nvSpPr>
          <p:cNvPr id="1231" name="Text 2007"/>
          <p:cNvSpPr/>
          <p:nvPr/>
        </p:nvSpPr>
        <p:spPr>
          <a:xfrm>
            <a:off x="6239160" y="1180080"/>
            <a:ext cx="5448960" cy="2588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100" b="1" u="none" strike="noStrike">
                <a:solidFill>
                  <a:srgbClr val="F6A01A"/>
                </a:solidFill>
                <a:effectLst/>
                <a:uFillTx/>
                <a:latin typeface="Aptos"/>
              </a:rPr>
              <a:t>THE LOOP · until the frontier empties</a:t>
            </a:r>
            <a:endParaRPr lang="en-US" sz="1100" b="0" u="none" strike="noStrike">
              <a:solidFill>
                <a:srgbClr val="000000"/>
              </a:solidFill>
              <a:effectLst/>
              <a:uFillTx/>
              <a:latin typeface="Arial"/>
            </a:endParaRPr>
          </a:p>
        </p:txBody>
      </p:sp>
      <p:sp>
        <p:nvSpPr>
          <p:cNvPr id="1232" name="Row 2008"/>
          <p:cNvSpPr/>
          <p:nvPr/>
        </p:nvSpPr>
        <p:spPr>
          <a:xfrm>
            <a:off x="502920" y="1519920"/>
            <a:ext cx="5448960" cy="8136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33" name="Text 2009"/>
          <p:cNvSpPr/>
          <p:nvPr/>
        </p:nvSpPr>
        <p:spPr>
          <a:xfrm>
            <a:off x="685800" y="1641960"/>
            <a:ext cx="508320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50" b="1" u="none" strike="noStrike">
                <a:solidFill>
                  <a:srgbClr val="F6A01A"/>
                </a:solidFill>
                <a:effectLst/>
                <a:uFillTx/>
                <a:latin typeface="Aptos"/>
              </a:rPr>
              <a:t>2  </a:t>
            </a:r>
            <a:r>
              <a:rPr lang="en-US" sz="950" b="1" u="none" strike="noStrike">
                <a:solidFill>
                  <a:srgbClr val="112E5C"/>
                </a:solidFill>
                <a:effectLst/>
                <a:uFillTx/>
                <a:latin typeface="Consolas"/>
              </a:rPr>
              <a:t>node ← NODE(problem.INITIAL)</a:t>
            </a:r>
            <a:endParaRPr lang="en-US" sz="950" b="0" u="none" strike="noStrike">
              <a:solidFill>
                <a:srgbClr val="000000"/>
              </a:solidFill>
              <a:effectLst/>
              <a:uFillTx/>
              <a:latin typeface="Arial"/>
            </a:endParaRPr>
          </a:p>
        </p:txBody>
      </p:sp>
      <p:sp>
        <p:nvSpPr>
          <p:cNvPr id="1234" name="Text 2010"/>
          <p:cNvSpPr/>
          <p:nvPr/>
        </p:nvSpPr>
        <p:spPr>
          <a:xfrm>
            <a:off x="685800" y="1870560"/>
            <a:ext cx="5083200" cy="3412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5C6B80"/>
                </a:solidFill>
                <a:effectLst/>
                <a:uFillTx/>
                <a:latin typeface="Aptos"/>
              </a:rPr>
              <a:t>Wrap the start state in a search node: state, parent = none, action = none, path-cost = 0.</a:t>
            </a:r>
            <a:endParaRPr lang="en-US" sz="900" b="0" u="none" strike="noStrike">
              <a:solidFill>
                <a:srgbClr val="000000"/>
              </a:solidFill>
              <a:effectLst/>
              <a:uFillTx/>
              <a:latin typeface="Arial"/>
            </a:endParaRPr>
          </a:p>
        </p:txBody>
      </p:sp>
      <p:sp>
        <p:nvSpPr>
          <p:cNvPr id="1235" name="Row 2011"/>
          <p:cNvSpPr/>
          <p:nvPr/>
        </p:nvSpPr>
        <p:spPr>
          <a:xfrm>
            <a:off x="502920" y="2471760"/>
            <a:ext cx="5448960" cy="8136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36" name="Text 2012"/>
          <p:cNvSpPr/>
          <p:nvPr/>
        </p:nvSpPr>
        <p:spPr>
          <a:xfrm>
            <a:off x="685800" y="2593800"/>
            <a:ext cx="508320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50" b="1" u="none" strike="noStrike">
                <a:solidFill>
                  <a:srgbClr val="F6A01A"/>
                </a:solidFill>
                <a:effectLst/>
                <a:uFillTx/>
                <a:latin typeface="Aptos"/>
              </a:rPr>
              <a:t>3  </a:t>
            </a:r>
            <a:r>
              <a:rPr lang="en-US" sz="950" b="1" u="none" strike="noStrike">
                <a:solidFill>
                  <a:srgbClr val="112E5C"/>
                </a:solidFill>
                <a:effectLst/>
                <a:uFillTx/>
                <a:latin typeface="Consolas"/>
              </a:rPr>
              <a:t>if IS-GOAL(node.STATE) then return node</a:t>
            </a:r>
            <a:endParaRPr lang="en-US" sz="950" b="0" u="none" strike="noStrike">
              <a:solidFill>
                <a:srgbClr val="000000"/>
              </a:solidFill>
              <a:effectLst/>
              <a:uFillTx/>
              <a:latin typeface="Arial"/>
            </a:endParaRPr>
          </a:p>
        </p:txBody>
      </p:sp>
      <p:sp>
        <p:nvSpPr>
          <p:cNvPr id="1237" name="Text 2013"/>
          <p:cNvSpPr/>
          <p:nvPr/>
        </p:nvSpPr>
        <p:spPr>
          <a:xfrm>
            <a:off x="685800" y="2822400"/>
            <a:ext cx="5083200" cy="3412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5C6B80"/>
                </a:solidFill>
                <a:effectLst/>
                <a:uFillTx/>
                <a:latin typeface="Aptos"/>
              </a:rPr>
              <a:t>Covers the degenerate case where the agent already stands on a goal state.</a:t>
            </a:r>
            <a:endParaRPr lang="en-US" sz="900" b="0" u="none" strike="noStrike">
              <a:solidFill>
                <a:srgbClr val="000000"/>
              </a:solidFill>
              <a:effectLst/>
              <a:uFillTx/>
              <a:latin typeface="Arial"/>
            </a:endParaRPr>
          </a:p>
        </p:txBody>
      </p:sp>
      <p:sp>
        <p:nvSpPr>
          <p:cNvPr id="1238" name="Row 2014"/>
          <p:cNvSpPr/>
          <p:nvPr/>
        </p:nvSpPr>
        <p:spPr>
          <a:xfrm>
            <a:off x="502920" y="3423600"/>
            <a:ext cx="5448960" cy="8136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39" name="Text 2015"/>
          <p:cNvSpPr/>
          <p:nvPr/>
        </p:nvSpPr>
        <p:spPr>
          <a:xfrm>
            <a:off x="685800" y="3545640"/>
            <a:ext cx="508320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50" b="1" u="none" strike="noStrike">
                <a:solidFill>
                  <a:srgbClr val="F6A01A"/>
                </a:solidFill>
                <a:effectLst/>
                <a:uFillTx/>
                <a:latin typeface="Aptos"/>
              </a:rPr>
              <a:t>4  </a:t>
            </a:r>
            <a:r>
              <a:rPr lang="en-US" sz="950" b="1" u="none" strike="noStrike">
                <a:solidFill>
                  <a:srgbClr val="112E5C"/>
                </a:solidFill>
                <a:effectLst/>
                <a:uFillTx/>
                <a:latin typeface="Consolas"/>
              </a:rPr>
              <a:t>frontier ← a FIFO queue</a:t>
            </a:r>
            <a:endParaRPr lang="en-US" sz="950" b="0" u="none" strike="noStrike">
              <a:solidFill>
                <a:srgbClr val="000000"/>
              </a:solidFill>
              <a:effectLst/>
              <a:uFillTx/>
              <a:latin typeface="Arial"/>
            </a:endParaRPr>
          </a:p>
        </p:txBody>
      </p:sp>
      <p:sp>
        <p:nvSpPr>
          <p:cNvPr id="1240" name="Text 2016"/>
          <p:cNvSpPr/>
          <p:nvPr/>
        </p:nvSpPr>
        <p:spPr>
          <a:xfrm>
            <a:off x="685800" y="3774240"/>
            <a:ext cx="5083200" cy="3412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5C6B80"/>
                </a:solidFill>
                <a:effectLst/>
                <a:uFillTx/>
                <a:latin typeface="Aptos"/>
              </a:rPr>
              <a:t>Oldest in, first out. This single choice is the entire difference between BFS and DFS.</a:t>
            </a:r>
            <a:endParaRPr lang="en-US" sz="900" b="0" u="none" strike="noStrike">
              <a:solidFill>
                <a:srgbClr val="000000"/>
              </a:solidFill>
              <a:effectLst/>
              <a:uFillTx/>
              <a:latin typeface="Arial"/>
            </a:endParaRPr>
          </a:p>
        </p:txBody>
      </p:sp>
      <p:sp>
        <p:nvSpPr>
          <p:cNvPr id="1241" name="Row 2017"/>
          <p:cNvSpPr/>
          <p:nvPr/>
        </p:nvSpPr>
        <p:spPr>
          <a:xfrm>
            <a:off x="502920" y="4375440"/>
            <a:ext cx="5448960" cy="8136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42" name="Text 2018"/>
          <p:cNvSpPr/>
          <p:nvPr/>
        </p:nvSpPr>
        <p:spPr>
          <a:xfrm>
            <a:off x="685800" y="4497120"/>
            <a:ext cx="508320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50" b="1" u="none" strike="noStrike">
                <a:solidFill>
                  <a:srgbClr val="F6A01A"/>
                </a:solidFill>
                <a:effectLst/>
                <a:uFillTx/>
                <a:latin typeface="Aptos"/>
              </a:rPr>
              <a:t>5  </a:t>
            </a:r>
            <a:r>
              <a:rPr lang="en-US" sz="950" b="1" u="none" strike="noStrike">
                <a:solidFill>
                  <a:srgbClr val="112E5C"/>
                </a:solidFill>
                <a:effectLst/>
                <a:uFillTx/>
                <a:latin typeface="Consolas"/>
              </a:rPr>
              <a:t>reached ← {problem.INITIAL}</a:t>
            </a:r>
            <a:endParaRPr lang="en-US" sz="950" b="0" u="none" strike="noStrike">
              <a:solidFill>
                <a:srgbClr val="000000"/>
              </a:solidFill>
              <a:effectLst/>
              <a:uFillTx/>
              <a:latin typeface="Arial"/>
            </a:endParaRPr>
          </a:p>
        </p:txBody>
      </p:sp>
      <p:sp>
        <p:nvSpPr>
          <p:cNvPr id="1243" name="Text 2019"/>
          <p:cNvSpPr/>
          <p:nvPr/>
        </p:nvSpPr>
        <p:spPr>
          <a:xfrm>
            <a:off x="685800" y="4725720"/>
            <a:ext cx="5083200" cy="3412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5C6B80"/>
                </a:solidFill>
                <a:effectLst/>
                <a:uFillTx/>
                <a:latin typeface="Aptos"/>
              </a:rPr>
              <a:t>A set of states. Nothing else about the start node ever needs remembering.</a:t>
            </a:r>
            <a:endParaRPr lang="en-US" sz="900" b="0" u="none" strike="noStrike">
              <a:solidFill>
                <a:srgbClr val="000000"/>
              </a:solidFill>
              <a:effectLst/>
              <a:uFillTx/>
              <a:latin typeface="Arial"/>
            </a:endParaRPr>
          </a:p>
        </p:txBody>
      </p:sp>
      <p:sp>
        <p:nvSpPr>
          <p:cNvPr id="1244" name="Row 2020"/>
          <p:cNvSpPr/>
          <p:nvPr/>
        </p:nvSpPr>
        <p:spPr>
          <a:xfrm>
            <a:off x="6239160" y="1519920"/>
            <a:ext cx="5448960" cy="6231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45" name="Text 2021"/>
          <p:cNvSpPr/>
          <p:nvPr/>
        </p:nvSpPr>
        <p:spPr>
          <a:xfrm>
            <a:off x="6422040" y="1641960"/>
            <a:ext cx="508320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50" b="1" u="none" strike="noStrike">
                <a:solidFill>
                  <a:srgbClr val="F6A01A"/>
                </a:solidFill>
                <a:effectLst/>
                <a:uFillTx/>
                <a:latin typeface="Aptos"/>
              </a:rPr>
              <a:t>7  </a:t>
            </a:r>
            <a:r>
              <a:rPr lang="en-US" sz="950" b="1" u="none" strike="noStrike">
                <a:solidFill>
                  <a:srgbClr val="112E5C"/>
                </a:solidFill>
                <a:effectLst/>
                <a:uFillTx/>
                <a:latin typeface="Consolas"/>
              </a:rPr>
              <a:t>node ← POP(frontier)</a:t>
            </a:r>
            <a:endParaRPr lang="en-US" sz="950" b="0" u="none" strike="noStrike">
              <a:solidFill>
                <a:srgbClr val="000000"/>
              </a:solidFill>
              <a:effectLst/>
              <a:uFillTx/>
              <a:latin typeface="Arial"/>
            </a:endParaRPr>
          </a:p>
        </p:txBody>
      </p:sp>
      <p:sp>
        <p:nvSpPr>
          <p:cNvPr id="1246" name="Text 2022"/>
          <p:cNvSpPr/>
          <p:nvPr/>
        </p:nvSpPr>
        <p:spPr>
          <a:xfrm>
            <a:off x="6422040" y="1870560"/>
            <a:ext cx="5083200" cy="1508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5C6B80"/>
                </a:solidFill>
                <a:effectLst/>
                <a:uFillTx/>
                <a:latin typeface="Aptos"/>
              </a:rPr>
              <a:t>Removes the shallowest unexpanded node — the front of the queue.</a:t>
            </a:r>
            <a:endParaRPr lang="en-US" sz="900" b="0" u="none" strike="noStrike">
              <a:solidFill>
                <a:srgbClr val="000000"/>
              </a:solidFill>
              <a:effectLst/>
              <a:uFillTx/>
              <a:latin typeface="Arial"/>
            </a:endParaRPr>
          </a:p>
        </p:txBody>
      </p:sp>
      <p:sp>
        <p:nvSpPr>
          <p:cNvPr id="1247" name="Row 2023"/>
          <p:cNvSpPr/>
          <p:nvPr/>
        </p:nvSpPr>
        <p:spPr>
          <a:xfrm>
            <a:off x="6239160" y="2281320"/>
            <a:ext cx="5448960" cy="6231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48" name="Text 2024"/>
          <p:cNvSpPr/>
          <p:nvPr/>
        </p:nvSpPr>
        <p:spPr>
          <a:xfrm>
            <a:off x="6422040" y="2403360"/>
            <a:ext cx="508320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50" b="1" u="none" strike="noStrike">
                <a:solidFill>
                  <a:srgbClr val="F6A01A"/>
                </a:solidFill>
                <a:effectLst/>
                <a:uFillTx/>
                <a:latin typeface="Aptos"/>
              </a:rPr>
              <a:t>8  </a:t>
            </a:r>
            <a:r>
              <a:rPr lang="en-US" sz="950" b="1" u="none" strike="noStrike">
                <a:solidFill>
                  <a:srgbClr val="112E5C"/>
                </a:solidFill>
                <a:effectLst/>
                <a:uFillTx/>
                <a:latin typeface="Consolas"/>
              </a:rPr>
              <a:t>for each child in EXPAND(problem, node)</a:t>
            </a:r>
            <a:endParaRPr lang="en-US" sz="950" b="0" u="none" strike="noStrike">
              <a:solidFill>
                <a:srgbClr val="000000"/>
              </a:solidFill>
              <a:effectLst/>
              <a:uFillTx/>
              <a:latin typeface="Arial"/>
            </a:endParaRPr>
          </a:p>
        </p:txBody>
      </p:sp>
      <p:sp>
        <p:nvSpPr>
          <p:cNvPr id="1249" name="Text 2025"/>
          <p:cNvSpPr/>
          <p:nvPr/>
        </p:nvSpPr>
        <p:spPr>
          <a:xfrm>
            <a:off x="6422040" y="2631960"/>
            <a:ext cx="5083200" cy="1508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5C6B80"/>
                </a:solidFill>
                <a:effectLst/>
                <a:uFillTx/>
                <a:latin typeface="Aptos"/>
              </a:rPr>
              <a:t>Every applicable action fires; each result becomes a child with a parent pointer.</a:t>
            </a:r>
            <a:endParaRPr lang="en-US" sz="900" b="0" u="none" strike="noStrike">
              <a:solidFill>
                <a:srgbClr val="000000"/>
              </a:solidFill>
              <a:effectLst/>
              <a:uFillTx/>
              <a:latin typeface="Arial"/>
            </a:endParaRPr>
          </a:p>
        </p:txBody>
      </p:sp>
      <p:sp>
        <p:nvSpPr>
          <p:cNvPr id="1250" name="Row 2026"/>
          <p:cNvSpPr/>
          <p:nvPr/>
        </p:nvSpPr>
        <p:spPr>
          <a:xfrm>
            <a:off x="6239160" y="3042720"/>
            <a:ext cx="5448960" cy="6231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51" name="Text 2027"/>
          <p:cNvSpPr/>
          <p:nvPr/>
        </p:nvSpPr>
        <p:spPr>
          <a:xfrm>
            <a:off x="6422040" y="3164760"/>
            <a:ext cx="508320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50" b="1" u="none" strike="noStrike">
                <a:solidFill>
                  <a:srgbClr val="F6A01A"/>
                </a:solidFill>
                <a:effectLst/>
                <a:uFillTx/>
                <a:latin typeface="Aptos"/>
              </a:rPr>
              <a:t>10 </a:t>
            </a:r>
            <a:r>
              <a:rPr lang="en-US" sz="950" b="1" u="none" strike="noStrike">
                <a:solidFill>
                  <a:srgbClr val="112E5C"/>
                </a:solidFill>
                <a:effectLst/>
                <a:uFillTx/>
                <a:latin typeface="Consolas"/>
              </a:rPr>
              <a:t>if IS-GOAL(s) then return child</a:t>
            </a:r>
            <a:endParaRPr lang="en-US" sz="950" b="0" u="none" strike="noStrike">
              <a:solidFill>
                <a:srgbClr val="000000"/>
              </a:solidFill>
              <a:effectLst/>
              <a:uFillTx/>
              <a:latin typeface="Arial"/>
            </a:endParaRPr>
          </a:p>
        </p:txBody>
      </p:sp>
      <p:sp>
        <p:nvSpPr>
          <p:cNvPr id="1252" name="Text 2028"/>
          <p:cNvSpPr/>
          <p:nvPr/>
        </p:nvSpPr>
        <p:spPr>
          <a:xfrm>
            <a:off x="6422040" y="3393360"/>
            <a:ext cx="5083200" cy="1508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5C6B80"/>
                </a:solidFill>
                <a:effectLst/>
                <a:uFillTx/>
                <a:latin typeface="Aptos"/>
              </a:rPr>
              <a:t>Early goal test. Recover the path by walking parent pointers back to the root.</a:t>
            </a:r>
            <a:endParaRPr lang="en-US" sz="900" b="0" u="none" strike="noStrike">
              <a:solidFill>
                <a:srgbClr val="000000"/>
              </a:solidFill>
              <a:effectLst/>
              <a:uFillTx/>
              <a:latin typeface="Arial"/>
            </a:endParaRPr>
          </a:p>
        </p:txBody>
      </p:sp>
      <p:sp>
        <p:nvSpPr>
          <p:cNvPr id="1253" name="Row 2029"/>
          <p:cNvSpPr/>
          <p:nvPr/>
        </p:nvSpPr>
        <p:spPr>
          <a:xfrm>
            <a:off x="6239160" y="3804120"/>
            <a:ext cx="5448960" cy="6231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54" name="Text 2030"/>
          <p:cNvSpPr/>
          <p:nvPr/>
        </p:nvSpPr>
        <p:spPr>
          <a:xfrm>
            <a:off x="6422040" y="3926160"/>
            <a:ext cx="508320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50" b="1" u="none" strike="noStrike">
                <a:solidFill>
                  <a:srgbClr val="F6A01A"/>
                </a:solidFill>
                <a:effectLst/>
                <a:uFillTx/>
                <a:latin typeface="Aptos"/>
              </a:rPr>
              <a:t>11 </a:t>
            </a:r>
            <a:r>
              <a:rPr lang="en-US" sz="950" b="1" u="none" strike="noStrike">
                <a:solidFill>
                  <a:srgbClr val="112E5C"/>
                </a:solidFill>
                <a:effectLst/>
                <a:uFillTx/>
                <a:latin typeface="Consolas"/>
              </a:rPr>
              <a:t>if s is not in reached then</a:t>
            </a:r>
            <a:endParaRPr lang="en-US" sz="950" b="0" u="none" strike="noStrike">
              <a:solidFill>
                <a:srgbClr val="000000"/>
              </a:solidFill>
              <a:effectLst/>
              <a:uFillTx/>
              <a:latin typeface="Arial"/>
            </a:endParaRPr>
          </a:p>
        </p:txBody>
      </p:sp>
      <p:sp>
        <p:nvSpPr>
          <p:cNvPr id="1255" name="Text 2031"/>
          <p:cNvSpPr/>
          <p:nvPr/>
        </p:nvSpPr>
        <p:spPr>
          <a:xfrm>
            <a:off x="6422040" y="4154760"/>
            <a:ext cx="5083200" cy="1508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5C6B80"/>
                </a:solidFill>
                <a:effectLst/>
                <a:uFillTx/>
                <a:latin typeface="Aptos"/>
              </a:rPr>
              <a:t>Discard any state already generated — its first path was no deeper than this one.</a:t>
            </a:r>
            <a:endParaRPr lang="en-US" sz="900" b="0" u="none" strike="noStrike">
              <a:solidFill>
                <a:srgbClr val="000000"/>
              </a:solidFill>
              <a:effectLst/>
              <a:uFillTx/>
              <a:latin typeface="Arial"/>
            </a:endParaRPr>
          </a:p>
        </p:txBody>
      </p:sp>
      <p:sp>
        <p:nvSpPr>
          <p:cNvPr id="1256" name="Row 2032"/>
          <p:cNvSpPr/>
          <p:nvPr/>
        </p:nvSpPr>
        <p:spPr>
          <a:xfrm>
            <a:off x="6239160" y="4565880"/>
            <a:ext cx="5448960" cy="6231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257" name="Text 2033"/>
          <p:cNvSpPr/>
          <p:nvPr/>
        </p:nvSpPr>
        <p:spPr>
          <a:xfrm>
            <a:off x="6422040" y="4687560"/>
            <a:ext cx="508320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50" b="1" u="none" strike="noStrike">
                <a:solidFill>
                  <a:srgbClr val="F6A01A"/>
                </a:solidFill>
                <a:effectLst/>
                <a:uFillTx/>
                <a:latin typeface="Aptos"/>
              </a:rPr>
              <a:t>14 </a:t>
            </a:r>
            <a:r>
              <a:rPr lang="en-US" sz="950" b="1" u="none" strike="noStrike">
                <a:solidFill>
                  <a:srgbClr val="112E5C"/>
                </a:solidFill>
                <a:effectLst/>
                <a:uFillTx/>
                <a:latin typeface="Consolas"/>
              </a:rPr>
              <a:t>return failure</a:t>
            </a:r>
            <a:endParaRPr lang="en-US" sz="950" b="0" u="none" strike="noStrike">
              <a:solidFill>
                <a:srgbClr val="000000"/>
              </a:solidFill>
              <a:effectLst/>
              <a:uFillTx/>
              <a:latin typeface="Arial"/>
            </a:endParaRPr>
          </a:p>
        </p:txBody>
      </p:sp>
      <p:sp>
        <p:nvSpPr>
          <p:cNvPr id="1258" name="Text 2034"/>
          <p:cNvSpPr/>
          <p:nvPr/>
        </p:nvSpPr>
        <p:spPr>
          <a:xfrm>
            <a:off x="6422040" y="4916160"/>
            <a:ext cx="5083200" cy="1508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5C6B80"/>
                </a:solidFill>
                <a:effectLst/>
                <a:uFillTx/>
                <a:latin typeface="Aptos"/>
              </a:rPr>
              <a:t>The frontier emptied with no goal, so no goal is reachable from the start.</a:t>
            </a:r>
            <a:endParaRPr lang="en-US" sz="900" b="0" u="none" strike="noStrike">
              <a:solidFill>
                <a:srgbClr val="000000"/>
              </a:solidFill>
              <a:effectLst/>
              <a:uFillTx/>
              <a:latin typeface="Arial"/>
            </a:endParaRPr>
          </a:p>
        </p:txBody>
      </p:sp>
      <p:sp>
        <p:nvSpPr>
          <p:cNvPr id="1259" name="Banner 2035"/>
          <p:cNvSpPr/>
          <p:nvPr/>
        </p:nvSpPr>
        <p:spPr>
          <a:xfrm>
            <a:off x="502920" y="5420160"/>
            <a:ext cx="11185200" cy="798840"/>
          </a:xfrm>
          <a:prstGeom prst="roundRect">
            <a:avLst>
              <a:gd name="adj" fmla="val 3000"/>
            </a:avLst>
          </a:prstGeom>
          <a:solidFill>
            <a:srgbClr val="F7D7D7"/>
          </a:solidFill>
          <a:ln w="12700">
            <a:solidFill>
              <a:srgbClr val="F7D7D7"/>
            </a:solidFill>
          </a:ln>
        </p:spPr>
        <p:style>
          <a:lnRef idx="1">
            <a:schemeClr val="accent1"/>
          </a:lnRef>
          <a:fillRef idx="3">
            <a:schemeClr val="accent1"/>
          </a:fillRef>
          <a:effectRef idx="2">
            <a:schemeClr val="accent1"/>
          </a:effectRef>
          <a:fontRef idx="minor"/>
        </p:style>
        <p:txBody>
          <a:bodyPr lIns="182880" tIns="182880" rIns="182880" bIns="182880" anchor="ctr">
            <a:noAutofit/>
          </a:bodyPr>
          <a:p>
            <a:pPr defTabSz="914400">
              <a:lnSpc>
                <a:spcPct val="100000"/>
              </a:lnSpc>
              <a:spcAft>
                <a:spcPts val="181"/>
              </a:spcAft>
            </a:pPr>
            <a:r>
              <a:rPr lang="en-US" sz="1050" b="1" u="none" strike="noStrike">
                <a:solidFill>
                  <a:srgbClr val="9B1C1C"/>
                </a:solidFill>
                <a:effectLst/>
                <a:uFillTx/>
                <a:latin typeface="Aptos"/>
              </a:rPr>
              <a:t>Silent bug worth demonstrating in lab:  </a:t>
            </a:r>
            <a:r>
              <a:rPr lang="en-US" sz="1050" b="0" u="none" strike="noStrike">
                <a:solidFill>
                  <a:srgbClr val="102A4C"/>
                </a:solidFill>
                <a:effectLst/>
                <a:uFillTx/>
                <a:latin typeface="Aptos"/>
              </a:rPr>
              <a:t>a Python deque with .pop() instead of .popleft() turns this exact code into depth-first search.</a:t>
            </a:r>
            <a:endParaRPr lang="en-US" sz="1050" b="0" u="none" strike="noStrike">
              <a:solidFill>
                <a:srgbClr val="000000"/>
              </a:solidFill>
              <a:effectLst/>
              <a:uFillTx/>
              <a:latin typeface="Arial"/>
            </a:endParaRPr>
          </a:p>
          <a:p>
            <a:pPr defTabSz="914400">
              <a:lnSpc>
                <a:spcPct val="100000"/>
              </a:lnSpc>
            </a:pPr>
            <a:r>
              <a:rPr lang="en-US" sz="1000" b="0" u="none" strike="noStrike">
                <a:solidFill>
                  <a:srgbClr val="5C6B80"/>
                </a:solidFill>
                <a:effectLst/>
                <a:uFillTx/>
                <a:latin typeface="Aptos"/>
              </a:rPr>
              <a:t>Nothing crashes and nothing raises. The function still returns a valid path — just not the shallowest one, and not the one the test expects.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0" name="Text 0"/>
          <p:cNvSpPr/>
          <p:nvPr/>
        </p:nvSpPr>
        <p:spPr>
          <a:xfrm>
            <a:off x="502920" y="411480"/>
            <a:ext cx="11063160" cy="31896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2350" b="1" u="none" strike="noStrike">
                <a:solidFill>
                  <a:srgbClr val="FFFFFF"/>
                </a:solidFill>
                <a:effectLst/>
                <a:uFillTx/>
                <a:latin typeface="Aptos Display"/>
                <a:ea typeface="Aptos Display"/>
              </a:rPr>
              <a:t>BFS Complexity: The Frontier Becomes the Bottleneck</a:t>
            </a:r>
            <a:endParaRPr lang="en-US" sz="2350" b="0" u="none" strike="noStrike">
              <a:solidFill>
                <a:srgbClr val="000000"/>
              </a:solidFill>
              <a:effectLst/>
              <a:uFillTx/>
              <a:latin typeface="Arial"/>
            </a:endParaRPr>
          </a:p>
        </p:txBody>
      </p:sp>
      <p:sp>
        <p:nvSpPr>
          <p:cNvPr id="1261" name="Shape 1"/>
          <p:cNvSpPr/>
          <p:nvPr/>
        </p:nvSpPr>
        <p:spPr>
          <a:xfrm>
            <a:off x="502920" y="1261800"/>
            <a:ext cx="2330640" cy="959040"/>
          </a:xfrm>
          <a:prstGeom prst="roundRect">
            <a:avLst>
              <a:gd name="adj" fmla="val 7619"/>
            </a:avLst>
          </a:prstGeom>
          <a:solidFill>
            <a:srgbClr val="F3F8FD"/>
          </a:solidFill>
          <a:ln w="12700">
            <a:solidFill>
              <a:srgbClr val="B8CEE8"/>
            </a:solidFill>
            <a:round/>
          </a:ln>
          <a:effectLst>
            <a:outerShdw algn="bl" blurRad="12600" dir="2700000" dist="6109" rotWithShape="0">
              <a:srgbClr val="000000">
                <a:alpha val="11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62" name="Text 2"/>
          <p:cNvSpPr/>
          <p:nvPr/>
        </p:nvSpPr>
        <p:spPr>
          <a:xfrm>
            <a:off x="713160" y="1389960"/>
            <a:ext cx="1873440" cy="16344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1120" b="1" u="none" strike="noStrike">
                <a:solidFill>
                  <a:srgbClr val="082A55"/>
                </a:solidFill>
                <a:effectLst/>
                <a:uFillTx/>
                <a:latin typeface="Aptos"/>
                <a:ea typeface="Aptos"/>
              </a:rPr>
              <a:t>Definitions</a:t>
            </a:r>
            <a:endParaRPr lang="en-US" sz="1120" b="0" u="none" strike="noStrike">
              <a:solidFill>
                <a:srgbClr val="000000"/>
              </a:solidFill>
              <a:effectLst/>
              <a:uFillTx/>
              <a:latin typeface="Arial"/>
            </a:endParaRPr>
          </a:p>
        </p:txBody>
      </p:sp>
      <p:sp>
        <p:nvSpPr>
          <p:cNvPr id="1263" name="Text 3"/>
          <p:cNvSpPr/>
          <p:nvPr/>
        </p:nvSpPr>
        <p:spPr>
          <a:xfrm>
            <a:off x="713160" y="1627560"/>
            <a:ext cx="1873440" cy="309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80" b="0" u="none" strike="noStrike">
                <a:solidFill>
                  <a:srgbClr val="213B5A"/>
                </a:solidFill>
                <a:effectLst/>
                <a:uFillTx/>
                <a:latin typeface="Aptos"/>
                <a:ea typeface="Aptos"/>
              </a:rPr>
              <a:t>b = branching factor</a:t>
            </a:r>
            <a:endParaRPr lang="en-US" sz="980" b="0" u="none" strike="noStrike">
              <a:solidFill>
                <a:srgbClr val="000000"/>
              </a:solidFill>
              <a:effectLst/>
              <a:uFillTx/>
              <a:latin typeface="Arial"/>
            </a:endParaRPr>
          </a:p>
          <a:p>
            <a:pPr defTabSz="914400">
              <a:lnSpc>
                <a:spcPct val="100000"/>
              </a:lnSpc>
              <a:tabLst>
                <a:tab pos="0" algn="l"/>
              </a:tabLst>
            </a:pPr>
            <a:r>
              <a:rPr lang="en-US" sz="980" b="0" u="none" strike="noStrike">
                <a:solidFill>
                  <a:srgbClr val="213B5A"/>
                </a:solidFill>
                <a:effectLst/>
                <a:uFillTx/>
                <a:latin typeface="Aptos"/>
                <a:ea typeface="Aptos"/>
              </a:rPr>
              <a:t>d = depth of shallowest goal</a:t>
            </a:r>
            <a:endParaRPr lang="en-US" sz="980" b="0" u="none" strike="noStrike">
              <a:solidFill>
                <a:srgbClr val="000000"/>
              </a:solidFill>
              <a:effectLst/>
              <a:uFillTx/>
              <a:latin typeface="Arial"/>
            </a:endParaRPr>
          </a:p>
        </p:txBody>
      </p:sp>
      <p:sp>
        <p:nvSpPr>
          <p:cNvPr id="1264" name="Shape 4"/>
          <p:cNvSpPr/>
          <p:nvPr/>
        </p:nvSpPr>
        <p:spPr>
          <a:xfrm>
            <a:off x="3063240" y="1261800"/>
            <a:ext cx="2010600" cy="959040"/>
          </a:xfrm>
          <a:prstGeom prst="roundRect">
            <a:avLst>
              <a:gd name="adj" fmla="val 7619"/>
            </a:avLst>
          </a:prstGeom>
          <a:solidFill>
            <a:srgbClr val="FFFFFF"/>
          </a:solidFill>
          <a:ln w="16510">
            <a:solidFill>
              <a:srgbClr val="143764"/>
            </a:solidFill>
            <a:round/>
          </a:ln>
          <a:effectLst>
            <a:outerShdw algn="bl" blurRad="12600" dir="2700000" dist="6109" rotWithShape="0">
              <a:srgbClr val="000000">
                <a:alpha val="11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65" name="Text 5"/>
          <p:cNvSpPr/>
          <p:nvPr/>
        </p:nvSpPr>
        <p:spPr>
          <a:xfrm>
            <a:off x="3209400" y="1371600"/>
            <a:ext cx="1717920" cy="1818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60" b="1" u="none" strike="noStrike">
                <a:solidFill>
                  <a:srgbClr val="143764"/>
                </a:solidFill>
                <a:effectLst/>
                <a:uFillTx/>
                <a:latin typeface="Aptos"/>
                <a:ea typeface="Aptos"/>
              </a:rPr>
              <a:t>Time</a:t>
            </a:r>
            <a:endParaRPr lang="en-US" sz="1060" b="0" u="none" strike="noStrike">
              <a:solidFill>
                <a:srgbClr val="000000"/>
              </a:solidFill>
              <a:effectLst/>
              <a:uFillTx/>
              <a:latin typeface="Arial"/>
            </a:endParaRPr>
          </a:p>
        </p:txBody>
      </p:sp>
      <p:sp>
        <p:nvSpPr>
          <p:cNvPr id="1266" name="Text 6"/>
          <p:cNvSpPr/>
          <p:nvPr/>
        </p:nvSpPr>
        <p:spPr>
          <a:xfrm>
            <a:off x="3200400" y="1609200"/>
            <a:ext cx="1736280" cy="291600"/>
          </a:xfrm>
          <a:prstGeom prst="rect">
            <a:avLst/>
          </a:prstGeom>
          <a:noFill/>
          <a:ln w="0">
            <a:noFill/>
          </a:ln>
        </p:spPr>
        <p:style>
          <a:lnRef idx="0"/>
          <a:fillRef idx="0"/>
          <a:effectRef idx="0"/>
          <a:fontRef idx="minor"/>
        </p:style>
        <p:txBody>
          <a:bodyPr lIns="360" tIns="360" rIns="360" bIns="360" anchor="ctr">
            <a:normAutofit fontScale="92500" lnSpcReduction="9999"/>
          </a:bodyPr>
          <a:p>
            <a:pPr algn="ctr" defTabSz="914400">
              <a:lnSpc>
                <a:spcPct val="100000"/>
              </a:lnSpc>
              <a:tabLst>
                <a:tab pos="0" algn="l"/>
              </a:tabLst>
            </a:pPr>
            <a:r>
              <a:rPr lang="en-US" sz="2300" b="1" u="none" strike="noStrike">
                <a:solidFill>
                  <a:srgbClr val="143764"/>
                </a:solidFill>
                <a:effectLst/>
                <a:uFillTx/>
                <a:latin typeface="Aptos"/>
                <a:ea typeface="Aptos"/>
              </a:rPr>
              <a:t>O(bᵈ)</a:t>
            </a:r>
            <a:endParaRPr lang="en-US" sz="2300" b="0" u="none" strike="noStrike">
              <a:solidFill>
                <a:srgbClr val="000000"/>
              </a:solidFill>
              <a:effectLst/>
              <a:uFillTx/>
              <a:latin typeface="Arial"/>
            </a:endParaRPr>
          </a:p>
        </p:txBody>
      </p:sp>
      <p:sp>
        <p:nvSpPr>
          <p:cNvPr id="1267" name="Text 7"/>
          <p:cNvSpPr/>
          <p:nvPr/>
        </p:nvSpPr>
        <p:spPr>
          <a:xfrm>
            <a:off x="3200400" y="1974960"/>
            <a:ext cx="1736280" cy="1818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870" b="0" u="none" strike="noStrike">
                <a:solidFill>
                  <a:srgbClr val="52677F"/>
                </a:solidFill>
                <a:effectLst/>
                <a:uFillTx/>
                <a:latin typeface="Aptos"/>
                <a:ea typeface="Aptos"/>
              </a:rPr>
              <a:t>generate nodes through depth d</a:t>
            </a:r>
            <a:endParaRPr lang="en-US" sz="870" b="0" u="none" strike="noStrike">
              <a:solidFill>
                <a:srgbClr val="000000"/>
              </a:solidFill>
              <a:effectLst/>
              <a:uFillTx/>
              <a:latin typeface="Arial"/>
            </a:endParaRPr>
          </a:p>
        </p:txBody>
      </p:sp>
      <p:sp>
        <p:nvSpPr>
          <p:cNvPr id="1268" name="Shape 8"/>
          <p:cNvSpPr/>
          <p:nvPr/>
        </p:nvSpPr>
        <p:spPr>
          <a:xfrm>
            <a:off x="5394960" y="1261800"/>
            <a:ext cx="2056320" cy="959040"/>
          </a:xfrm>
          <a:prstGeom prst="roundRect">
            <a:avLst>
              <a:gd name="adj" fmla="val 7619"/>
            </a:avLst>
          </a:prstGeom>
          <a:solidFill>
            <a:srgbClr val="FFFFFF"/>
          </a:solidFill>
          <a:ln w="16510">
            <a:solidFill>
              <a:srgbClr val="A6191D"/>
            </a:solidFill>
            <a:round/>
          </a:ln>
          <a:effectLst>
            <a:outerShdw algn="bl" blurRad="12600" dir="2700000" dist="6109" rotWithShape="0">
              <a:srgbClr val="000000">
                <a:alpha val="11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69" name="Text 9"/>
          <p:cNvSpPr/>
          <p:nvPr/>
        </p:nvSpPr>
        <p:spPr>
          <a:xfrm>
            <a:off x="5541120" y="1371600"/>
            <a:ext cx="1763640" cy="1818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60" b="1" u="none" strike="noStrike">
                <a:solidFill>
                  <a:srgbClr val="A6191D"/>
                </a:solidFill>
                <a:effectLst/>
                <a:uFillTx/>
                <a:latin typeface="Aptos"/>
                <a:ea typeface="Aptos"/>
              </a:rPr>
              <a:t>Space</a:t>
            </a:r>
            <a:endParaRPr lang="en-US" sz="1060" b="0" u="none" strike="noStrike">
              <a:solidFill>
                <a:srgbClr val="000000"/>
              </a:solidFill>
              <a:effectLst/>
              <a:uFillTx/>
              <a:latin typeface="Arial"/>
            </a:endParaRPr>
          </a:p>
        </p:txBody>
      </p:sp>
      <p:sp>
        <p:nvSpPr>
          <p:cNvPr id="1270" name="Text 10"/>
          <p:cNvSpPr/>
          <p:nvPr/>
        </p:nvSpPr>
        <p:spPr>
          <a:xfrm>
            <a:off x="5532120" y="1609200"/>
            <a:ext cx="1782000" cy="291600"/>
          </a:xfrm>
          <a:prstGeom prst="rect">
            <a:avLst/>
          </a:prstGeom>
          <a:noFill/>
          <a:ln w="0">
            <a:noFill/>
          </a:ln>
        </p:spPr>
        <p:style>
          <a:lnRef idx="0"/>
          <a:fillRef idx="0"/>
          <a:effectRef idx="0"/>
          <a:fontRef idx="minor"/>
        </p:style>
        <p:txBody>
          <a:bodyPr lIns="360" tIns="360" rIns="360" bIns="360" anchor="ctr">
            <a:normAutofit fontScale="92500" lnSpcReduction="9999"/>
          </a:bodyPr>
          <a:p>
            <a:pPr algn="ctr" defTabSz="914400">
              <a:lnSpc>
                <a:spcPct val="100000"/>
              </a:lnSpc>
              <a:tabLst>
                <a:tab pos="0" algn="l"/>
              </a:tabLst>
            </a:pPr>
            <a:r>
              <a:rPr lang="en-US" sz="2300" b="1" u="none" strike="noStrike">
                <a:solidFill>
                  <a:srgbClr val="A6191D"/>
                </a:solidFill>
                <a:effectLst/>
                <a:uFillTx/>
                <a:latin typeface="Aptos"/>
                <a:ea typeface="Aptos"/>
              </a:rPr>
              <a:t>O(bᵈ)</a:t>
            </a:r>
            <a:endParaRPr lang="en-US" sz="2300" b="0" u="none" strike="noStrike">
              <a:solidFill>
                <a:srgbClr val="000000"/>
              </a:solidFill>
              <a:effectLst/>
              <a:uFillTx/>
              <a:latin typeface="Arial"/>
            </a:endParaRPr>
          </a:p>
        </p:txBody>
      </p:sp>
      <p:sp>
        <p:nvSpPr>
          <p:cNvPr id="1271" name="Text 11"/>
          <p:cNvSpPr/>
          <p:nvPr/>
        </p:nvSpPr>
        <p:spPr>
          <a:xfrm>
            <a:off x="5532120" y="1974960"/>
            <a:ext cx="1782000" cy="1818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870" b="0" u="none" strike="noStrike">
                <a:solidFill>
                  <a:srgbClr val="52677F"/>
                </a:solidFill>
                <a:effectLst/>
                <a:uFillTx/>
                <a:latin typeface="Aptos"/>
                <a:ea typeface="Aptos"/>
              </a:rPr>
              <a:t>retain frontier and reached table</a:t>
            </a:r>
            <a:endParaRPr lang="en-US" sz="870" b="0" u="none" strike="noStrike">
              <a:solidFill>
                <a:srgbClr val="000000"/>
              </a:solidFill>
              <a:effectLst/>
              <a:uFillTx/>
              <a:latin typeface="Arial"/>
            </a:endParaRPr>
          </a:p>
        </p:txBody>
      </p:sp>
      <p:sp>
        <p:nvSpPr>
          <p:cNvPr id="1272" name="Shape 12"/>
          <p:cNvSpPr/>
          <p:nvPr/>
        </p:nvSpPr>
        <p:spPr>
          <a:xfrm>
            <a:off x="7772400" y="1261800"/>
            <a:ext cx="3885120" cy="959040"/>
          </a:xfrm>
          <a:prstGeom prst="roundRect">
            <a:avLst>
              <a:gd name="adj" fmla="val 7619"/>
            </a:avLst>
          </a:prstGeom>
          <a:solidFill>
            <a:srgbClr val="FFFFFF"/>
          </a:solidFill>
          <a:ln w="12700">
            <a:solidFill>
              <a:srgbClr val="D6DEE8"/>
            </a:solidFill>
            <a:round/>
          </a:ln>
          <a:effectLst>
            <a:outerShdw algn="bl" blurRad="12600" dir="2700000" dist="6109" rotWithShape="0">
              <a:srgbClr val="000000">
                <a:alpha val="11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73" name="Text 13"/>
          <p:cNvSpPr/>
          <p:nvPr/>
        </p:nvSpPr>
        <p:spPr>
          <a:xfrm>
            <a:off x="8001000" y="1408320"/>
            <a:ext cx="3427920" cy="1818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80" b="1" u="none" strike="noStrike">
                <a:solidFill>
                  <a:srgbClr val="082A55"/>
                </a:solidFill>
                <a:effectLst/>
                <a:uFillTx/>
                <a:latin typeface="Aptos"/>
                <a:ea typeface="Aptos"/>
              </a:rPr>
              <a:t>Generated nodes through depth d</a:t>
            </a:r>
            <a:endParaRPr lang="en-US" sz="1080" b="0" u="none" strike="noStrike">
              <a:solidFill>
                <a:srgbClr val="000000"/>
              </a:solidFill>
              <a:effectLst/>
              <a:uFillTx/>
              <a:latin typeface="Arial"/>
            </a:endParaRPr>
          </a:p>
        </p:txBody>
      </p:sp>
      <p:sp>
        <p:nvSpPr>
          <p:cNvPr id="1274" name="Text 14"/>
          <p:cNvSpPr/>
          <p:nvPr/>
        </p:nvSpPr>
        <p:spPr>
          <a:xfrm>
            <a:off x="7973640" y="1755720"/>
            <a:ext cx="3492000" cy="1818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120" b="1" u="none" strike="noStrike">
                <a:solidFill>
                  <a:srgbClr val="082A55"/>
                </a:solidFill>
                <a:effectLst/>
                <a:uFillTx/>
                <a:latin typeface="Aptos"/>
                <a:ea typeface="Aptos"/>
              </a:rPr>
              <a:t>1 + b + b² + … + bᵈ = (bᵈ⁺¹ − 1)/(b − 1) = O(bᵈ)</a:t>
            </a:r>
            <a:endParaRPr lang="en-US" sz="1120" b="0" u="none" strike="noStrike">
              <a:solidFill>
                <a:srgbClr val="000000"/>
              </a:solidFill>
              <a:effectLst/>
              <a:uFillTx/>
              <a:latin typeface="Arial"/>
            </a:endParaRPr>
          </a:p>
        </p:txBody>
      </p:sp>
      <p:sp>
        <p:nvSpPr>
          <p:cNvPr id="1275" name="Shape 15"/>
          <p:cNvSpPr/>
          <p:nvPr/>
        </p:nvSpPr>
        <p:spPr>
          <a:xfrm>
            <a:off x="502920" y="2612520"/>
            <a:ext cx="6445440" cy="2696400"/>
          </a:xfrm>
          <a:prstGeom prst="roundRect">
            <a:avLst>
              <a:gd name="adj" fmla="val 2712"/>
            </a:avLst>
          </a:prstGeom>
          <a:solidFill>
            <a:srgbClr val="FFFFFF"/>
          </a:solidFill>
          <a:ln w="12700">
            <a:solidFill>
              <a:srgbClr val="D6DEE8"/>
            </a:solidFill>
            <a:round/>
          </a:ln>
          <a:effectLst>
            <a:outerShdw algn="bl" blurRad="12600" dir="2700000" dist="6109" rotWithShape="0">
              <a:srgbClr val="000000">
                <a:alpha val="11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76" name="Text 16"/>
          <p:cNvSpPr/>
          <p:nvPr/>
        </p:nvSpPr>
        <p:spPr>
          <a:xfrm>
            <a:off x="749880" y="2743200"/>
            <a:ext cx="2559240" cy="2001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300" b="1" u="none" strike="noStrike">
                <a:solidFill>
                  <a:srgbClr val="082A55"/>
                </a:solidFill>
                <a:effectLst/>
                <a:uFillTx/>
                <a:latin typeface="Aptos"/>
                <a:ea typeface="Aptos"/>
              </a:rPr>
              <a:t>Level-by-level growth</a:t>
            </a:r>
            <a:endParaRPr lang="en-US" sz="1300" b="0" u="none" strike="noStrike">
              <a:solidFill>
                <a:srgbClr val="000000"/>
              </a:solidFill>
              <a:effectLst/>
              <a:uFillTx/>
              <a:latin typeface="Arial"/>
            </a:endParaRPr>
          </a:p>
        </p:txBody>
      </p:sp>
      <p:sp>
        <p:nvSpPr>
          <p:cNvPr id="1277" name="Text 17"/>
          <p:cNvSpPr/>
          <p:nvPr/>
        </p:nvSpPr>
        <p:spPr>
          <a:xfrm>
            <a:off x="749880" y="3063240"/>
            <a:ext cx="5622480" cy="25488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020" b="0" u="none" strike="noStrike">
                <a:solidFill>
                  <a:srgbClr val="213B5A"/>
                </a:solidFill>
                <a:effectLst/>
                <a:uFillTx/>
                <a:latin typeface="Aptos"/>
                <a:ea typeface="Aptos"/>
              </a:rPr>
              <a:t>For b = 10, each level is ten times larger than the previous level. The last level dominates the total.</a:t>
            </a:r>
            <a:endParaRPr lang="en-US" sz="1020" b="0" u="none" strike="noStrike">
              <a:solidFill>
                <a:srgbClr val="000000"/>
              </a:solidFill>
              <a:effectLst/>
              <a:uFillTx/>
              <a:latin typeface="Arial"/>
            </a:endParaRPr>
          </a:p>
        </p:txBody>
      </p:sp>
      <p:sp>
        <p:nvSpPr>
          <p:cNvPr id="1278" name="Text 18"/>
          <p:cNvSpPr/>
          <p:nvPr/>
        </p:nvSpPr>
        <p:spPr>
          <a:xfrm>
            <a:off x="777240" y="3584520"/>
            <a:ext cx="959040" cy="163440"/>
          </a:xfrm>
          <a:prstGeom prst="rect">
            <a:avLst/>
          </a:prstGeom>
          <a:noFill/>
          <a:ln w="0">
            <a:noFill/>
          </a:ln>
        </p:spPr>
        <p:style>
          <a:lnRef idx="0"/>
          <a:fillRef idx="0"/>
          <a:effectRef idx="0"/>
          <a:fontRef idx="minor"/>
        </p:style>
        <p:txBody>
          <a:bodyPr lIns="360" tIns="360" rIns="360" bIns="360" anchor="ctr">
            <a:normAutofit/>
          </a:bodyPr>
          <a:p>
            <a:pPr algn="r" defTabSz="914400">
              <a:lnSpc>
                <a:spcPct val="100000"/>
              </a:lnSpc>
              <a:tabLst>
                <a:tab pos="0" algn="l"/>
              </a:tabLst>
            </a:pPr>
            <a:r>
              <a:rPr lang="en-US" sz="1000" b="1" u="none" strike="noStrike">
                <a:solidFill>
                  <a:srgbClr val="082A55"/>
                </a:solidFill>
                <a:effectLst/>
                <a:uFillTx/>
                <a:latin typeface="Aptos"/>
                <a:ea typeface="Aptos"/>
              </a:rPr>
              <a:t>depth 0</a:t>
            </a:r>
            <a:endParaRPr lang="en-US" sz="1000" b="0" u="none" strike="noStrike">
              <a:solidFill>
                <a:srgbClr val="000000"/>
              </a:solidFill>
              <a:effectLst/>
              <a:uFillTx/>
              <a:latin typeface="Arial"/>
            </a:endParaRPr>
          </a:p>
        </p:txBody>
      </p:sp>
      <p:sp>
        <p:nvSpPr>
          <p:cNvPr id="1279" name="Shape 19"/>
          <p:cNvSpPr/>
          <p:nvPr/>
        </p:nvSpPr>
        <p:spPr>
          <a:xfrm>
            <a:off x="1920240" y="3602880"/>
            <a:ext cx="221760" cy="145080"/>
          </a:xfrm>
          <a:prstGeom prst="rect">
            <a:avLst/>
          </a:prstGeom>
          <a:solidFill>
            <a:srgbClr val="143764"/>
          </a:solidFill>
          <a:ln w="12700">
            <a:solidFill>
              <a:srgbClr val="14376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80" name="Text 20"/>
          <p:cNvSpPr/>
          <p:nvPr/>
        </p:nvSpPr>
        <p:spPr>
          <a:xfrm>
            <a:off x="5779080" y="3575160"/>
            <a:ext cx="913320" cy="1634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50" b="0" u="none" strike="noStrike">
                <a:solidFill>
                  <a:srgbClr val="213B5A"/>
                </a:solidFill>
                <a:effectLst/>
                <a:uFillTx/>
                <a:latin typeface="Aptos"/>
                <a:ea typeface="Aptos"/>
              </a:rPr>
              <a:t>1 node</a:t>
            </a:r>
            <a:endParaRPr lang="en-US" sz="850" b="0" u="none" strike="noStrike">
              <a:solidFill>
                <a:srgbClr val="000000"/>
              </a:solidFill>
              <a:effectLst/>
              <a:uFillTx/>
              <a:latin typeface="Arial"/>
            </a:endParaRPr>
          </a:p>
        </p:txBody>
      </p:sp>
      <p:sp>
        <p:nvSpPr>
          <p:cNvPr id="1281" name="Text 21"/>
          <p:cNvSpPr/>
          <p:nvPr/>
        </p:nvSpPr>
        <p:spPr>
          <a:xfrm>
            <a:off x="777240" y="3877200"/>
            <a:ext cx="959040" cy="163440"/>
          </a:xfrm>
          <a:prstGeom prst="rect">
            <a:avLst/>
          </a:prstGeom>
          <a:noFill/>
          <a:ln w="0">
            <a:noFill/>
          </a:ln>
        </p:spPr>
        <p:style>
          <a:lnRef idx="0"/>
          <a:fillRef idx="0"/>
          <a:effectRef idx="0"/>
          <a:fontRef idx="minor"/>
        </p:style>
        <p:txBody>
          <a:bodyPr lIns="360" tIns="360" rIns="360" bIns="360" anchor="ctr">
            <a:normAutofit/>
          </a:bodyPr>
          <a:p>
            <a:pPr algn="r" defTabSz="914400">
              <a:lnSpc>
                <a:spcPct val="100000"/>
              </a:lnSpc>
              <a:tabLst>
                <a:tab pos="0" algn="l"/>
              </a:tabLst>
            </a:pPr>
            <a:r>
              <a:rPr lang="en-US" sz="1000" b="1" u="none" strike="noStrike">
                <a:solidFill>
                  <a:srgbClr val="082A55"/>
                </a:solidFill>
                <a:effectLst/>
                <a:uFillTx/>
                <a:latin typeface="Aptos"/>
                <a:ea typeface="Aptos"/>
              </a:rPr>
              <a:t>depth 1</a:t>
            </a:r>
            <a:endParaRPr lang="en-US" sz="1000" b="0" u="none" strike="noStrike">
              <a:solidFill>
                <a:srgbClr val="000000"/>
              </a:solidFill>
              <a:effectLst/>
              <a:uFillTx/>
              <a:latin typeface="Arial"/>
            </a:endParaRPr>
          </a:p>
        </p:txBody>
      </p:sp>
      <p:sp>
        <p:nvSpPr>
          <p:cNvPr id="1282" name="Shape 22"/>
          <p:cNvSpPr/>
          <p:nvPr/>
        </p:nvSpPr>
        <p:spPr>
          <a:xfrm>
            <a:off x="1920240" y="3895200"/>
            <a:ext cx="770400" cy="145080"/>
          </a:xfrm>
          <a:prstGeom prst="rect">
            <a:avLst/>
          </a:prstGeom>
          <a:solidFill>
            <a:srgbClr val="143764"/>
          </a:solidFill>
          <a:ln w="12700">
            <a:solidFill>
              <a:srgbClr val="14376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83" name="Text 23"/>
          <p:cNvSpPr/>
          <p:nvPr/>
        </p:nvSpPr>
        <p:spPr>
          <a:xfrm>
            <a:off x="5779080" y="3867840"/>
            <a:ext cx="913320" cy="1634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50" b="0" u="none" strike="noStrike">
                <a:solidFill>
                  <a:srgbClr val="213B5A"/>
                </a:solidFill>
                <a:effectLst/>
                <a:uFillTx/>
                <a:latin typeface="Aptos"/>
                <a:ea typeface="Aptos"/>
              </a:rPr>
              <a:t>10 nodes</a:t>
            </a:r>
            <a:endParaRPr lang="en-US" sz="850" b="0" u="none" strike="noStrike">
              <a:solidFill>
                <a:srgbClr val="000000"/>
              </a:solidFill>
              <a:effectLst/>
              <a:uFillTx/>
              <a:latin typeface="Arial"/>
            </a:endParaRPr>
          </a:p>
        </p:txBody>
      </p:sp>
      <p:sp>
        <p:nvSpPr>
          <p:cNvPr id="1284" name="Text 24"/>
          <p:cNvSpPr/>
          <p:nvPr/>
        </p:nvSpPr>
        <p:spPr>
          <a:xfrm>
            <a:off x="777240" y="4169520"/>
            <a:ext cx="959040" cy="163440"/>
          </a:xfrm>
          <a:prstGeom prst="rect">
            <a:avLst/>
          </a:prstGeom>
          <a:noFill/>
          <a:ln w="0">
            <a:noFill/>
          </a:ln>
        </p:spPr>
        <p:style>
          <a:lnRef idx="0"/>
          <a:fillRef idx="0"/>
          <a:effectRef idx="0"/>
          <a:fontRef idx="minor"/>
        </p:style>
        <p:txBody>
          <a:bodyPr lIns="360" tIns="360" rIns="360" bIns="360" anchor="ctr">
            <a:normAutofit/>
          </a:bodyPr>
          <a:p>
            <a:pPr algn="r" defTabSz="914400">
              <a:lnSpc>
                <a:spcPct val="100000"/>
              </a:lnSpc>
              <a:tabLst>
                <a:tab pos="0" algn="l"/>
              </a:tabLst>
            </a:pPr>
            <a:r>
              <a:rPr lang="en-US" sz="1000" b="1" u="none" strike="noStrike">
                <a:solidFill>
                  <a:srgbClr val="082A55"/>
                </a:solidFill>
                <a:effectLst/>
                <a:uFillTx/>
                <a:latin typeface="Aptos"/>
                <a:ea typeface="Aptos"/>
              </a:rPr>
              <a:t>depth 2</a:t>
            </a:r>
            <a:endParaRPr lang="en-US" sz="1000" b="0" u="none" strike="noStrike">
              <a:solidFill>
                <a:srgbClr val="000000"/>
              </a:solidFill>
              <a:effectLst/>
              <a:uFillTx/>
              <a:latin typeface="Arial"/>
            </a:endParaRPr>
          </a:p>
        </p:txBody>
      </p:sp>
      <p:sp>
        <p:nvSpPr>
          <p:cNvPr id="1285" name="Shape 25"/>
          <p:cNvSpPr/>
          <p:nvPr/>
        </p:nvSpPr>
        <p:spPr>
          <a:xfrm>
            <a:off x="1920240" y="4187880"/>
            <a:ext cx="1483560" cy="145080"/>
          </a:xfrm>
          <a:prstGeom prst="rect">
            <a:avLst/>
          </a:prstGeom>
          <a:solidFill>
            <a:srgbClr val="143764"/>
          </a:solidFill>
          <a:ln w="12700">
            <a:solidFill>
              <a:srgbClr val="14376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86" name="Text 26"/>
          <p:cNvSpPr/>
          <p:nvPr/>
        </p:nvSpPr>
        <p:spPr>
          <a:xfrm>
            <a:off x="5779080" y="4160520"/>
            <a:ext cx="913320" cy="1634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50" b="0" u="none" strike="noStrike">
                <a:solidFill>
                  <a:srgbClr val="213B5A"/>
                </a:solidFill>
                <a:effectLst/>
                <a:uFillTx/>
                <a:latin typeface="Aptos"/>
                <a:ea typeface="Aptos"/>
              </a:rPr>
              <a:t>100 nodes</a:t>
            </a:r>
            <a:endParaRPr lang="en-US" sz="850" b="0" u="none" strike="noStrike">
              <a:solidFill>
                <a:srgbClr val="000000"/>
              </a:solidFill>
              <a:effectLst/>
              <a:uFillTx/>
              <a:latin typeface="Arial"/>
            </a:endParaRPr>
          </a:p>
        </p:txBody>
      </p:sp>
      <p:sp>
        <p:nvSpPr>
          <p:cNvPr id="1287" name="Text 27"/>
          <p:cNvSpPr/>
          <p:nvPr/>
        </p:nvSpPr>
        <p:spPr>
          <a:xfrm>
            <a:off x="777240" y="4462200"/>
            <a:ext cx="959040" cy="163440"/>
          </a:xfrm>
          <a:prstGeom prst="rect">
            <a:avLst/>
          </a:prstGeom>
          <a:noFill/>
          <a:ln w="0">
            <a:noFill/>
          </a:ln>
        </p:spPr>
        <p:style>
          <a:lnRef idx="0"/>
          <a:fillRef idx="0"/>
          <a:effectRef idx="0"/>
          <a:fontRef idx="minor"/>
        </p:style>
        <p:txBody>
          <a:bodyPr lIns="360" tIns="360" rIns="360" bIns="360" anchor="ctr">
            <a:normAutofit/>
          </a:bodyPr>
          <a:p>
            <a:pPr algn="r" defTabSz="914400">
              <a:lnSpc>
                <a:spcPct val="100000"/>
              </a:lnSpc>
              <a:tabLst>
                <a:tab pos="0" algn="l"/>
              </a:tabLst>
            </a:pPr>
            <a:r>
              <a:rPr lang="en-US" sz="1000" b="1" u="none" strike="noStrike">
                <a:solidFill>
                  <a:srgbClr val="082A55"/>
                </a:solidFill>
                <a:effectLst/>
                <a:uFillTx/>
                <a:latin typeface="Aptos"/>
                <a:ea typeface="Aptos"/>
              </a:rPr>
              <a:t>depth 3</a:t>
            </a:r>
            <a:endParaRPr lang="en-US" sz="1000" b="0" u="none" strike="noStrike">
              <a:solidFill>
                <a:srgbClr val="000000"/>
              </a:solidFill>
              <a:effectLst/>
              <a:uFillTx/>
              <a:latin typeface="Arial"/>
            </a:endParaRPr>
          </a:p>
        </p:txBody>
      </p:sp>
      <p:sp>
        <p:nvSpPr>
          <p:cNvPr id="1288" name="Shape 28"/>
          <p:cNvSpPr/>
          <p:nvPr/>
        </p:nvSpPr>
        <p:spPr>
          <a:xfrm>
            <a:off x="1920240" y="4480560"/>
            <a:ext cx="2221200" cy="145080"/>
          </a:xfrm>
          <a:prstGeom prst="rect">
            <a:avLst/>
          </a:prstGeom>
          <a:solidFill>
            <a:srgbClr val="143764"/>
          </a:solidFill>
          <a:ln w="12700">
            <a:solidFill>
              <a:srgbClr val="14376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89" name="Text 29"/>
          <p:cNvSpPr/>
          <p:nvPr/>
        </p:nvSpPr>
        <p:spPr>
          <a:xfrm>
            <a:off x="5779080" y="4453200"/>
            <a:ext cx="913320" cy="1634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50" b="0" u="none" strike="noStrike">
                <a:solidFill>
                  <a:srgbClr val="213B5A"/>
                </a:solidFill>
                <a:effectLst/>
                <a:uFillTx/>
                <a:latin typeface="Aptos"/>
                <a:ea typeface="Aptos"/>
              </a:rPr>
              <a:t>1,000 nodes</a:t>
            </a:r>
            <a:endParaRPr lang="en-US" sz="850" b="0" u="none" strike="noStrike">
              <a:solidFill>
                <a:srgbClr val="000000"/>
              </a:solidFill>
              <a:effectLst/>
              <a:uFillTx/>
              <a:latin typeface="Arial"/>
            </a:endParaRPr>
          </a:p>
        </p:txBody>
      </p:sp>
      <p:sp>
        <p:nvSpPr>
          <p:cNvPr id="1290" name="Text 30"/>
          <p:cNvSpPr/>
          <p:nvPr/>
        </p:nvSpPr>
        <p:spPr>
          <a:xfrm>
            <a:off x="777240" y="4754880"/>
            <a:ext cx="959040" cy="163440"/>
          </a:xfrm>
          <a:prstGeom prst="rect">
            <a:avLst/>
          </a:prstGeom>
          <a:noFill/>
          <a:ln w="0">
            <a:noFill/>
          </a:ln>
        </p:spPr>
        <p:style>
          <a:lnRef idx="0"/>
          <a:fillRef idx="0"/>
          <a:effectRef idx="0"/>
          <a:fontRef idx="minor"/>
        </p:style>
        <p:txBody>
          <a:bodyPr lIns="360" tIns="360" rIns="360" bIns="360" anchor="ctr">
            <a:normAutofit/>
          </a:bodyPr>
          <a:p>
            <a:pPr algn="r" defTabSz="914400">
              <a:lnSpc>
                <a:spcPct val="100000"/>
              </a:lnSpc>
              <a:tabLst>
                <a:tab pos="0" algn="l"/>
              </a:tabLst>
            </a:pPr>
            <a:r>
              <a:rPr lang="en-US" sz="1000" b="1" u="none" strike="noStrike">
                <a:solidFill>
                  <a:srgbClr val="082A55"/>
                </a:solidFill>
                <a:effectLst/>
                <a:uFillTx/>
                <a:latin typeface="Aptos"/>
                <a:ea typeface="Aptos"/>
              </a:rPr>
              <a:t>depth 4</a:t>
            </a:r>
            <a:endParaRPr lang="en-US" sz="1000" b="0" u="none" strike="noStrike">
              <a:solidFill>
                <a:srgbClr val="000000"/>
              </a:solidFill>
              <a:effectLst/>
              <a:uFillTx/>
              <a:latin typeface="Arial"/>
            </a:endParaRPr>
          </a:p>
        </p:txBody>
      </p:sp>
      <p:sp>
        <p:nvSpPr>
          <p:cNvPr id="1291" name="Shape 31"/>
          <p:cNvSpPr/>
          <p:nvPr/>
        </p:nvSpPr>
        <p:spPr>
          <a:xfrm>
            <a:off x="1920240" y="4773240"/>
            <a:ext cx="2961720" cy="145080"/>
          </a:xfrm>
          <a:prstGeom prst="rect">
            <a:avLst/>
          </a:prstGeom>
          <a:solidFill>
            <a:srgbClr val="143764"/>
          </a:solidFill>
          <a:ln w="12700">
            <a:solidFill>
              <a:srgbClr val="14376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92" name="Text 32"/>
          <p:cNvSpPr/>
          <p:nvPr/>
        </p:nvSpPr>
        <p:spPr>
          <a:xfrm>
            <a:off x="5779080" y="4745880"/>
            <a:ext cx="913320" cy="1634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50" b="0" u="none" strike="noStrike">
                <a:solidFill>
                  <a:srgbClr val="213B5A"/>
                </a:solidFill>
                <a:effectLst/>
                <a:uFillTx/>
                <a:latin typeface="Aptos"/>
                <a:ea typeface="Aptos"/>
              </a:rPr>
              <a:t>10,000 nodes</a:t>
            </a:r>
            <a:endParaRPr lang="en-US" sz="850" b="0" u="none" strike="noStrike">
              <a:solidFill>
                <a:srgbClr val="000000"/>
              </a:solidFill>
              <a:effectLst/>
              <a:uFillTx/>
              <a:latin typeface="Arial"/>
            </a:endParaRPr>
          </a:p>
        </p:txBody>
      </p:sp>
      <p:sp>
        <p:nvSpPr>
          <p:cNvPr id="1293" name="Text 33"/>
          <p:cNvSpPr/>
          <p:nvPr/>
        </p:nvSpPr>
        <p:spPr>
          <a:xfrm>
            <a:off x="777240" y="5047560"/>
            <a:ext cx="959040" cy="163440"/>
          </a:xfrm>
          <a:prstGeom prst="rect">
            <a:avLst/>
          </a:prstGeom>
          <a:noFill/>
          <a:ln w="0">
            <a:noFill/>
          </a:ln>
        </p:spPr>
        <p:style>
          <a:lnRef idx="0"/>
          <a:fillRef idx="0"/>
          <a:effectRef idx="0"/>
          <a:fontRef idx="minor"/>
        </p:style>
        <p:txBody>
          <a:bodyPr lIns="360" tIns="360" rIns="360" bIns="360" anchor="ctr">
            <a:normAutofit/>
          </a:bodyPr>
          <a:p>
            <a:pPr algn="r" defTabSz="914400">
              <a:lnSpc>
                <a:spcPct val="100000"/>
              </a:lnSpc>
              <a:tabLst>
                <a:tab pos="0" algn="l"/>
              </a:tabLst>
            </a:pPr>
            <a:r>
              <a:rPr lang="en-US" sz="1000" b="1" u="none" strike="noStrike">
                <a:solidFill>
                  <a:srgbClr val="082A55"/>
                </a:solidFill>
                <a:effectLst/>
                <a:uFillTx/>
                <a:latin typeface="Aptos"/>
                <a:ea typeface="Aptos"/>
              </a:rPr>
              <a:t>depth 5</a:t>
            </a:r>
            <a:endParaRPr lang="en-US" sz="1000" b="0" u="none" strike="noStrike">
              <a:solidFill>
                <a:srgbClr val="000000"/>
              </a:solidFill>
              <a:effectLst/>
              <a:uFillTx/>
              <a:latin typeface="Arial"/>
            </a:endParaRPr>
          </a:p>
        </p:txBody>
      </p:sp>
      <p:sp>
        <p:nvSpPr>
          <p:cNvPr id="1294" name="Shape 34"/>
          <p:cNvSpPr/>
          <p:nvPr/>
        </p:nvSpPr>
        <p:spPr>
          <a:xfrm>
            <a:off x="1920240" y="5065920"/>
            <a:ext cx="3702240" cy="145080"/>
          </a:xfrm>
          <a:prstGeom prst="rect">
            <a:avLst/>
          </a:prstGeom>
          <a:solidFill>
            <a:srgbClr val="A6191D"/>
          </a:solidFill>
          <a:ln w="12700">
            <a:solidFill>
              <a:srgbClr val="A6191D"/>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95" name="Text 35"/>
          <p:cNvSpPr/>
          <p:nvPr/>
        </p:nvSpPr>
        <p:spPr>
          <a:xfrm>
            <a:off x="5779080" y="5038200"/>
            <a:ext cx="913320" cy="1634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50" b="1" u="none" strike="noStrike">
                <a:solidFill>
                  <a:srgbClr val="A6191D"/>
                </a:solidFill>
                <a:effectLst/>
                <a:uFillTx/>
                <a:latin typeface="Aptos"/>
                <a:ea typeface="Aptos"/>
              </a:rPr>
              <a:t>100,000 nodes</a:t>
            </a:r>
            <a:endParaRPr lang="en-US" sz="850" b="0" u="none" strike="noStrike">
              <a:solidFill>
                <a:srgbClr val="000000"/>
              </a:solidFill>
              <a:effectLst/>
              <a:uFillTx/>
              <a:latin typeface="Arial"/>
            </a:endParaRPr>
          </a:p>
        </p:txBody>
      </p:sp>
      <p:sp>
        <p:nvSpPr>
          <p:cNvPr id="1296" name="Shape 36"/>
          <p:cNvSpPr/>
          <p:nvPr/>
        </p:nvSpPr>
        <p:spPr>
          <a:xfrm>
            <a:off x="7360920" y="2619720"/>
            <a:ext cx="4296600" cy="2696400"/>
          </a:xfrm>
          <a:prstGeom prst="roundRect">
            <a:avLst>
              <a:gd name="adj" fmla="val 2712"/>
            </a:avLst>
          </a:prstGeom>
          <a:solidFill>
            <a:srgbClr val="FFF7ED"/>
          </a:solidFill>
          <a:ln w="15240">
            <a:solidFill>
              <a:srgbClr val="F59E0B"/>
            </a:solidFill>
            <a:round/>
          </a:ln>
          <a:effectLst>
            <a:outerShdw algn="bl" blurRad="12600" dir="2700000" dist="6109" rotWithShape="0">
              <a:srgbClr val="000000">
                <a:alpha val="11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97" name="Text 37"/>
          <p:cNvSpPr/>
          <p:nvPr/>
        </p:nvSpPr>
        <p:spPr>
          <a:xfrm>
            <a:off x="7635240" y="2743200"/>
            <a:ext cx="3729600" cy="2001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300" b="1" u="none" strike="noStrike">
                <a:solidFill>
                  <a:srgbClr val="A6191D"/>
                </a:solidFill>
                <a:effectLst/>
                <a:uFillTx/>
                <a:latin typeface="Aptos"/>
                <a:ea typeface="Aptos"/>
              </a:rPr>
              <a:t>Worked example</a:t>
            </a:r>
            <a:endParaRPr lang="en-US" sz="1300" b="0" u="none" strike="noStrike">
              <a:solidFill>
                <a:srgbClr val="000000"/>
              </a:solidFill>
              <a:effectLst/>
              <a:uFillTx/>
              <a:latin typeface="Arial"/>
            </a:endParaRPr>
          </a:p>
        </p:txBody>
      </p:sp>
      <p:sp>
        <p:nvSpPr>
          <p:cNvPr id="1298" name="Text 38"/>
          <p:cNvSpPr/>
          <p:nvPr/>
        </p:nvSpPr>
        <p:spPr>
          <a:xfrm>
            <a:off x="7708320" y="3072240"/>
            <a:ext cx="3583440" cy="2548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20" b="0" u="none" strike="noStrike">
                <a:solidFill>
                  <a:srgbClr val="213B5A"/>
                </a:solidFill>
                <a:effectLst/>
                <a:uFillTx/>
                <a:latin typeface="Aptos"/>
                <a:ea typeface="Aptos"/>
              </a:rPr>
              <a:t>Let b = 10, d = 10, and store about 1 KB per node.</a:t>
            </a:r>
            <a:endParaRPr lang="en-US" sz="1020" b="0" u="none" strike="noStrike">
              <a:solidFill>
                <a:srgbClr val="000000"/>
              </a:solidFill>
              <a:effectLst/>
              <a:uFillTx/>
              <a:latin typeface="Arial"/>
            </a:endParaRPr>
          </a:p>
        </p:txBody>
      </p:sp>
      <p:sp>
        <p:nvSpPr>
          <p:cNvPr id="1299" name="Text 39"/>
          <p:cNvSpPr/>
          <p:nvPr/>
        </p:nvSpPr>
        <p:spPr>
          <a:xfrm>
            <a:off x="7708320" y="3675960"/>
            <a:ext cx="3583440" cy="23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300" b="1" u="none" strike="noStrike">
                <a:solidFill>
                  <a:srgbClr val="A6191D"/>
                </a:solidFill>
                <a:effectLst/>
                <a:uFillTx/>
                <a:latin typeface="Aptos"/>
                <a:ea typeface="Aptos"/>
              </a:rPr>
              <a:t>(10¹¹ − 1) / 9 ≈ 11.1 billion nodes</a:t>
            </a:r>
            <a:endParaRPr lang="en-US" sz="1300" b="0" u="none" strike="noStrike">
              <a:solidFill>
                <a:srgbClr val="000000"/>
              </a:solidFill>
              <a:effectLst/>
              <a:uFillTx/>
              <a:latin typeface="Arial"/>
            </a:endParaRPr>
          </a:p>
        </p:txBody>
      </p:sp>
      <p:sp>
        <p:nvSpPr>
          <p:cNvPr id="1300" name="Text 40"/>
          <p:cNvSpPr/>
          <p:nvPr/>
        </p:nvSpPr>
        <p:spPr>
          <a:xfrm>
            <a:off x="7708320" y="4169520"/>
            <a:ext cx="3583440" cy="2732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500" b="1" u="none" strike="noStrike">
                <a:solidFill>
                  <a:srgbClr val="A6191D"/>
                </a:solidFill>
                <a:effectLst/>
                <a:uFillTx/>
                <a:latin typeface="Aptos"/>
                <a:ea typeface="Aptos"/>
              </a:rPr>
              <a:t>11.1 billion × 1 KB ≈ 11 TB</a:t>
            </a:r>
            <a:endParaRPr lang="en-US" sz="1500" b="0" u="none" strike="noStrike">
              <a:solidFill>
                <a:srgbClr val="000000"/>
              </a:solidFill>
              <a:effectLst/>
              <a:uFillTx/>
              <a:latin typeface="Arial"/>
            </a:endParaRPr>
          </a:p>
        </p:txBody>
      </p:sp>
      <p:sp>
        <p:nvSpPr>
          <p:cNvPr id="1301" name="Text 41"/>
          <p:cNvSpPr/>
          <p:nvPr/>
        </p:nvSpPr>
        <p:spPr>
          <a:xfrm>
            <a:off x="7708320" y="4727520"/>
            <a:ext cx="3583440" cy="273240"/>
          </a:xfrm>
          <a:prstGeom prst="rect">
            <a:avLst/>
          </a:prstGeom>
          <a:noFill/>
          <a:ln w="0">
            <a:noFill/>
          </a:ln>
        </p:spPr>
        <p:style>
          <a:lnRef idx="0"/>
          <a:fillRef idx="0"/>
          <a:effectRef idx="0"/>
          <a:fontRef idx="minor"/>
        </p:style>
        <p:txBody>
          <a:bodyPr lIns="360" tIns="360" rIns="360" bIns="360" anchor="ctr">
            <a:normAutofit lnSpcReduction="9999"/>
          </a:bodyPr>
          <a:p>
            <a:pPr algn="ctr" defTabSz="914400">
              <a:lnSpc>
                <a:spcPct val="100000"/>
              </a:lnSpc>
              <a:tabLst>
                <a:tab pos="0" algn="l"/>
              </a:tabLst>
            </a:pPr>
            <a:r>
              <a:rPr lang="en-US" sz="950" b="0" u="none" strike="noStrike">
                <a:solidFill>
                  <a:srgbClr val="52677F"/>
                </a:solidFill>
                <a:effectLst/>
                <a:uFillTx/>
                <a:latin typeface="Aptos"/>
                <a:ea typeface="Aptos"/>
              </a:rPr>
              <a:t>The practical limit is usually memory, not the simplicity of the algorithm.</a:t>
            </a:r>
            <a:endParaRPr lang="en-US" sz="950" b="0" u="none" strike="noStrike">
              <a:solidFill>
                <a:srgbClr val="000000"/>
              </a:solidFill>
              <a:effectLst/>
              <a:uFillTx/>
              <a:latin typeface="Arial"/>
            </a:endParaRPr>
          </a:p>
        </p:txBody>
      </p:sp>
      <p:sp>
        <p:nvSpPr>
          <p:cNvPr id="1302" name="Shape 42"/>
          <p:cNvSpPr/>
          <p:nvPr/>
        </p:nvSpPr>
        <p:spPr>
          <a:xfrm>
            <a:off x="685800" y="5559480"/>
            <a:ext cx="10834560" cy="639000"/>
          </a:xfrm>
          <a:prstGeom prst="roundRect">
            <a:avLst>
              <a:gd name="adj" fmla="val 11429"/>
            </a:avLst>
          </a:prstGeom>
          <a:solidFill>
            <a:srgbClr val="EFF6FF"/>
          </a:solidFill>
          <a:ln w="12700">
            <a:solidFill>
              <a:srgbClr val="C4D7F2"/>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03" name="Text 43"/>
          <p:cNvSpPr/>
          <p:nvPr/>
        </p:nvSpPr>
        <p:spPr>
          <a:xfrm>
            <a:off x="960120" y="5715000"/>
            <a:ext cx="1370520" cy="16344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1150" b="1" u="none" strike="noStrike">
                <a:solidFill>
                  <a:srgbClr val="082A55"/>
                </a:solidFill>
                <a:effectLst/>
                <a:uFillTx/>
                <a:latin typeface="Aptos"/>
                <a:ea typeface="Aptos"/>
              </a:rPr>
              <a:t>Key takeaway</a:t>
            </a:r>
            <a:endParaRPr lang="en-US" sz="1150" b="0" u="none" strike="noStrike">
              <a:solidFill>
                <a:srgbClr val="000000"/>
              </a:solidFill>
              <a:effectLst/>
              <a:uFillTx/>
              <a:latin typeface="Arial"/>
            </a:endParaRPr>
          </a:p>
        </p:txBody>
      </p:sp>
      <p:sp>
        <p:nvSpPr>
          <p:cNvPr id="1304" name="Text 44"/>
          <p:cNvSpPr/>
          <p:nvPr/>
        </p:nvSpPr>
        <p:spPr>
          <a:xfrm>
            <a:off x="2331720" y="5687640"/>
            <a:ext cx="8850240" cy="218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300" b="1" u="none" strike="noStrike">
                <a:solidFill>
                  <a:srgbClr val="082A55"/>
                </a:solidFill>
                <a:effectLst/>
                <a:uFillTx/>
                <a:latin typeface="Aptos"/>
                <a:ea typeface="Aptos"/>
              </a:rPr>
              <a:t>BFS is complete and optimal when every action has equal cost, but its frontier grows exponentially.</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305"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306"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307"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Early Goal Test vs. Late Goal Test</a:t>
            </a:r>
            <a:endParaRPr lang="en-US" sz="2600" b="0" u="none" strike="noStrike">
              <a:solidFill>
                <a:srgbClr val="000000"/>
              </a:solidFill>
              <a:effectLst/>
              <a:uFillTx/>
              <a:latin typeface="Arial"/>
            </a:endParaRPr>
          </a:p>
        </p:txBody>
      </p:sp>
      <p:sp>
        <p:nvSpPr>
          <p:cNvPr id="1308"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09"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310" name="Rounded Rectangle 6"/>
          <p:cNvSpPr/>
          <p:nvPr/>
        </p:nvSpPr>
        <p:spPr>
          <a:xfrm>
            <a:off x="777240" y="1417320"/>
            <a:ext cx="5027760" cy="474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Early: test when a node is generated</a:t>
            </a:r>
            <a:endParaRPr lang="en-US" sz="1400" b="0" u="none" strike="noStrike">
              <a:solidFill>
                <a:srgbClr val="000000"/>
              </a:solidFill>
              <a:effectLst/>
              <a:uFillTx/>
              <a:latin typeface="Arial"/>
            </a:endParaRPr>
          </a:p>
        </p:txBody>
      </p:sp>
      <p:sp>
        <p:nvSpPr>
          <p:cNvPr id="1311" name="Rounded Rectangle 7"/>
          <p:cNvSpPr/>
          <p:nvPr/>
        </p:nvSpPr>
        <p:spPr>
          <a:xfrm>
            <a:off x="777240" y="2011680"/>
            <a:ext cx="5027760" cy="169020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312" name="Rectangle 8"/>
          <p:cNvSpPr/>
          <p:nvPr/>
        </p:nvSpPr>
        <p:spPr>
          <a:xfrm>
            <a:off x="1005840" y="2148840"/>
            <a:ext cx="4570560" cy="1415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00" b="0" u="none" strike="noStrike">
                <a:solidFill>
                  <a:srgbClr val="102A4C"/>
                </a:solidFill>
                <a:effectLst/>
                <a:uFillTx/>
                <a:latin typeface="Aptos"/>
              </a:rPr>
              <a:t>•  Used by breadth-first search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Safe there, because BFS can never later find a better path to a state it has already reached</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Saves expanding an entire final tier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Lets reached be a plain set of states, not a state → node map</a:t>
            </a:r>
            <a:endParaRPr lang="en-US" sz="1300" b="0" u="none" strike="noStrike">
              <a:solidFill>
                <a:srgbClr val="000000"/>
              </a:solidFill>
              <a:effectLst/>
              <a:uFillTx/>
              <a:latin typeface="Arial"/>
            </a:endParaRPr>
          </a:p>
        </p:txBody>
      </p:sp>
      <p:sp>
        <p:nvSpPr>
          <p:cNvPr id="1313" name="Rounded Rectangle 9"/>
          <p:cNvSpPr/>
          <p:nvPr/>
        </p:nvSpPr>
        <p:spPr>
          <a:xfrm>
            <a:off x="6385680" y="1417320"/>
            <a:ext cx="5027760" cy="474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Late: test when a node is popped</a:t>
            </a:r>
            <a:endParaRPr lang="en-US" sz="1400" b="0" u="none" strike="noStrike">
              <a:solidFill>
                <a:srgbClr val="000000"/>
              </a:solidFill>
              <a:effectLst/>
              <a:uFillTx/>
              <a:latin typeface="Arial"/>
            </a:endParaRPr>
          </a:p>
        </p:txBody>
      </p:sp>
      <p:sp>
        <p:nvSpPr>
          <p:cNvPr id="1314" name="Rounded Rectangle 10"/>
          <p:cNvSpPr/>
          <p:nvPr/>
        </p:nvSpPr>
        <p:spPr>
          <a:xfrm>
            <a:off x="6385680" y="2011680"/>
            <a:ext cx="5027760" cy="169020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315" name="Rectangle 11"/>
          <p:cNvSpPr/>
          <p:nvPr/>
        </p:nvSpPr>
        <p:spPr>
          <a:xfrm>
            <a:off x="6614280" y="2148840"/>
            <a:ext cx="4570560" cy="1415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00" b="0" u="none" strike="noStrike">
                <a:solidFill>
                  <a:srgbClr val="102A4C"/>
                </a:solidFill>
                <a:effectLst/>
                <a:uFillTx/>
                <a:latin typeface="Aptos"/>
              </a:rPr>
              <a:t>•  Used by best-first search and uniform-cost search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Required, not optional: a goal can be generated on an expensive path before a cheaper path to it is found</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The goal is returned only when it is the cheapest thing on the frontier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This is exactly what makes UCS cost-optimal</a:t>
            </a:r>
            <a:endParaRPr lang="en-US" sz="1300" b="0" u="none" strike="noStrike">
              <a:solidFill>
                <a:srgbClr val="000000"/>
              </a:solidFill>
              <a:effectLst/>
              <a:uFillTx/>
              <a:latin typeface="Arial"/>
            </a:endParaRPr>
          </a:p>
        </p:txBody>
      </p:sp>
      <p:sp>
        <p:nvSpPr>
          <p:cNvPr id="1316" name="Rounded Rectangle 12"/>
          <p:cNvSpPr/>
          <p:nvPr/>
        </p:nvSpPr>
        <p:spPr>
          <a:xfrm>
            <a:off x="914400" y="3931920"/>
            <a:ext cx="10422720" cy="68436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317" name="Rectangle 13"/>
          <p:cNvSpPr/>
          <p:nvPr/>
        </p:nvSpPr>
        <p:spPr>
          <a:xfrm>
            <a:off x="1097280" y="4023360"/>
            <a:ext cx="10056960" cy="5014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500" b="1" u="none" strike="noStrike">
                <a:solidFill>
                  <a:srgbClr val="112E5C"/>
                </a:solidFill>
                <a:effectLst/>
                <a:uFillTx/>
                <a:latin typeface="Aptos"/>
              </a:rPr>
              <a:t>Sibiu → Bucharest:  Fagaras generates Bucharest at 310.  Pitesti later generates Bucharest at 278.</a:t>
            </a:r>
            <a:endParaRPr lang="en-US" sz="1500" b="0" u="none" strike="noStrike">
              <a:solidFill>
                <a:srgbClr val="000000"/>
              </a:solidFill>
              <a:effectLst/>
              <a:uFillTx/>
              <a:latin typeface="Arial"/>
            </a:endParaRPr>
          </a:p>
        </p:txBody>
      </p:sp>
      <p:sp>
        <p:nvSpPr>
          <p:cNvPr id="1318" name="Rectangle 14"/>
          <p:cNvSpPr/>
          <p:nvPr/>
        </p:nvSpPr>
        <p:spPr>
          <a:xfrm>
            <a:off x="914400" y="484632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Test on generation here and UCS returns 310. Test on expansion and it returns 278.</a:t>
            </a:r>
            <a:endParaRPr lang="en-US" sz="1700" b="0" u="none" strike="noStrike">
              <a:solidFill>
                <a:srgbClr val="000000"/>
              </a:solidFill>
              <a:effectLst/>
              <a:uFillTx/>
              <a:latin typeface="Arial"/>
            </a:endParaRPr>
          </a:p>
        </p:txBody>
      </p:sp>
      <p:sp>
        <p:nvSpPr>
          <p:cNvPr id="1319" name="Rectangle 15"/>
          <p:cNvSpPr/>
          <p:nvPr/>
        </p:nvSpPr>
        <p:spPr>
          <a:xfrm>
            <a:off x="914400" y="530352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One line of the algorithm, and the difference between correct and merely plausible.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0" name="Shape 0"/>
          <p:cNvSpPr/>
          <p:nvPr/>
        </p:nvSpPr>
        <p:spPr>
          <a:xfrm>
            <a:off x="228600" y="228600"/>
            <a:ext cx="11748960" cy="748800"/>
          </a:xfrm>
          <a:prstGeom prst="rect">
            <a:avLst/>
          </a:prstGeom>
          <a:solidFill>
            <a:srgbClr val="143763"/>
          </a:solidFill>
          <a:ln w="12700">
            <a:solidFill>
              <a:srgbClr val="14376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21" name="Shape 1"/>
          <p:cNvSpPr/>
          <p:nvPr/>
        </p:nvSpPr>
        <p:spPr>
          <a:xfrm>
            <a:off x="228600" y="978480"/>
            <a:ext cx="11748960" cy="81360"/>
          </a:xfrm>
          <a:prstGeom prst="rect">
            <a:avLst/>
          </a:prstGeom>
          <a:solidFill>
            <a:srgbClr val="F5A623"/>
          </a:solidFill>
          <a:ln w="12700">
            <a:solidFill>
              <a:srgbClr val="F5A623"/>
            </a:solidFill>
            <a:round/>
          </a:ln>
        </p:spPr>
        <p:style>
          <a:lnRef idx="0"/>
          <a:fillRef idx="0"/>
          <a:effectRef idx="0"/>
          <a:fontRef idx="minor"/>
        </p:style>
        <p:txBody>
          <a:bodyPr lIns="90000" tIns="37440" rIns="90000" bIns="37440" anchor="t">
            <a:noAutofit/>
          </a:bodyPr>
          <a:p>
            <a:endParaRPr lang="en-US" sz="1800" b="0" u="none" strike="noStrike">
              <a:solidFill>
                <a:schemeClr val="dk1"/>
              </a:solidFill>
              <a:effectLst/>
              <a:uFillTx/>
              <a:latin typeface="Aptos"/>
            </a:endParaRPr>
          </a:p>
        </p:txBody>
      </p:sp>
      <p:sp>
        <p:nvSpPr>
          <p:cNvPr id="1322" name="Text 2"/>
          <p:cNvSpPr/>
          <p:nvPr/>
        </p:nvSpPr>
        <p:spPr>
          <a:xfrm>
            <a:off x="521280" y="384120"/>
            <a:ext cx="10788840" cy="346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FFFFFF"/>
                </a:solidFill>
                <a:effectLst/>
                <a:uFillTx/>
                <a:latin typeface="Aptos Display"/>
                <a:ea typeface="Aptos Display"/>
              </a:rPr>
              <a:t>Uniform-Cost Search (UCS) / Dijkstra — “Dye-kstra”</a:t>
            </a:r>
            <a:endParaRPr lang="en-US" sz="2000" b="0" u="none" strike="noStrike">
              <a:solidFill>
                <a:srgbClr val="000000"/>
              </a:solidFill>
              <a:effectLst/>
              <a:uFillTx/>
              <a:latin typeface="Arial"/>
            </a:endParaRPr>
          </a:p>
        </p:txBody>
      </p:sp>
      <p:sp>
        <p:nvSpPr>
          <p:cNvPr id="1323" name="Text 3"/>
          <p:cNvSpPr/>
          <p:nvPr/>
        </p:nvSpPr>
        <p:spPr>
          <a:xfrm>
            <a:off x="502920" y="6565320"/>
            <a:ext cx="3107880" cy="11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00" b="0" u="none" strike="noStrike">
                <a:solidFill>
                  <a:srgbClr val="143763"/>
                </a:solidFill>
                <a:effectLst/>
                <a:uFillTx/>
                <a:latin typeface="Aptos"/>
              </a:rPr>
              <a:t>CSU Channel Islands · Department of Computer Science</a:t>
            </a:r>
            <a:endParaRPr lang="en-US" sz="700" b="0" u="none" strike="noStrike">
              <a:solidFill>
                <a:srgbClr val="000000"/>
              </a:solidFill>
              <a:effectLst/>
              <a:uFillTx/>
              <a:latin typeface="Arial"/>
            </a:endParaRPr>
          </a:p>
        </p:txBody>
      </p:sp>
      <p:sp>
        <p:nvSpPr>
          <p:cNvPr id="1324" name="Text 4"/>
          <p:cNvSpPr/>
          <p:nvPr/>
        </p:nvSpPr>
        <p:spPr>
          <a:xfrm>
            <a:off x="9784080" y="6565320"/>
            <a:ext cx="2010600" cy="1177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00" b="0" u="none" strike="noStrike">
                <a:solidFill>
                  <a:srgbClr val="143763"/>
                </a:solidFill>
                <a:effectLst/>
                <a:uFillTx/>
                <a:latin typeface="Aptos"/>
              </a:rPr>
              <a:t>COMP 469 · Chapter 3 · Sections 3.1-3.4</a:t>
            </a:r>
            <a:endParaRPr lang="en-US" sz="700" b="0" u="none" strike="noStrike">
              <a:solidFill>
                <a:srgbClr val="000000"/>
              </a:solidFill>
              <a:effectLst/>
              <a:uFillTx/>
              <a:latin typeface="Arial"/>
            </a:endParaRPr>
          </a:p>
        </p:txBody>
      </p:sp>
      <p:sp>
        <p:nvSpPr>
          <p:cNvPr id="1325" name="Text 5"/>
          <p:cNvSpPr/>
          <p:nvPr/>
        </p:nvSpPr>
        <p:spPr>
          <a:xfrm>
            <a:off x="822960" y="1417320"/>
            <a:ext cx="1846080" cy="383040"/>
          </a:xfrm>
          <a:prstGeom prst="roundRect">
            <a:avLst>
              <a:gd name="adj" fmla="val 11905"/>
            </a:avLst>
          </a:prstGeom>
          <a:solidFill>
            <a:srgbClr val="D8E8FF"/>
          </a:solidFill>
          <a:ln w="15875">
            <a:solidFill>
              <a:srgbClr val="2B7DE9"/>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2B7DE9"/>
                </a:solidFill>
                <a:effectLst/>
                <a:uFillTx/>
                <a:latin typeface="Aptos Display"/>
                <a:ea typeface="Aptos Display"/>
              </a:rPr>
              <a:t>Strategy</a:t>
            </a:r>
            <a:endParaRPr lang="en-US" sz="1300" b="0" u="none" strike="noStrike">
              <a:solidFill>
                <a:srgbClr val="000000"/>
              </a:solidFill>
              <a:effectLst/>
              <a:uFillTx/>
              <a:latin typeface="Arial"/>
            </a:endParaRPr>
          </a:p>
        </p:txBody>
      </p:sp>
      <p:sp>
        <p:nvSpPr>
          <p:cNvPr id="1326" name="Text 6"/>
          <p:cNvSpPr/>
          <p:nvPr/>
        </p:nvSpPr>
        <p:spPr>
          <a:xfrm>
            <a:off x="2880360" y="1481400"/>
            <a:ext cx="4342320" cy="29160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1250" b="1" u="none" strike="noStrike">
                <a:solidFill>
                  <a:srgbClr val="002D5B"/>
                </a:solidFill>
                <a:effectLst/>
                <a:uFillTx/>
                <a:latin typeface="Aptos"/>
              </a:rPr>
              <a:t>Expand the frontier node with the lowest cumulative path cost g(n).</a:t>
            </a:r>
            <a:endParaRPr lang="en-US" sz="1250" b="0" u="none" strike="noStrike">
              <a:solidFill>
                <a:srgbClr val="000000"/>
              </a:solidFill>
              <a:effectLst/>
              <a:uFillTx/>
              <a:latin typeface="Arial"/>
            </a:endParaRPr>
          </a:p>
        </p:txBody>
      </p:sp>
      <p:sp>
        <p:nvSpPr>
          <p:cNvPr id="1327" name="Text 7"/>
          <p:cNvSpPr/>
          <p:nvPr/>
        </p:nvSpPr>
        <p:spPr>
          <a:xfrm>
            <a:off x="822960" y="2103120"/>
            <a:ext cx="1846080" cy="383040"/>
          </a:xfrm>
          <a:prstGeom prst="roundRect">
            <a:avLst>
              <a:gd name="adj" fmla="val 11905"/>
            </a:avLst>
          </a:prstGeom>
          <a:solidFill>
            <a:srgbClr val="DDF4E7"/>
          </a:solidFill>
          <a:ln w="15875">
            <a:solidFill>
              <a:srgbClr val="0F7A44"/>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0F7A44"/>
                </a:solidFill>
                <a:effectLst/>
                <a:uFillTx/>
                <a:latin typeface="Aptos Display"/>
                <a:ea typeface="Aptos Display"/>
              </a:rPr>
              <a:t>Implementation</a:t>
            </a:r>
            <a:endParaRPr lang="en-US" sz="1300" b="0" u="none" strike="noStrike">
              <a:solidFill>
                <a:srgbClr val="000000"/>
              </a:solidFill>
              <a:effectLst/>
              <a:uFillTx/>
              <a:latin typeface="Arial"/>
            </a:endParaRPr>
          </a:p>
        </p:txBody>
      </p:sp>
      <p:sp>
        <p:nvSpPr>
          <p:cNvPr id="1328" name="Text 8"/>
          <p:cNvSpPr/>
          <p:nvPr/>
        </p:nvSpPr>
        <p:spPr>
          <a:xfrm>
            <a:off x="2880360" y="2094120"/>
            <a:ext cx="4342320" cy="437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20" b="0" u="none" strike="noStrike">
                <a:solidFill>
                  <a:srgbClr val="002D5B"/>
                </a:solidFill>
                <a:effectLst/>
                <a:uFillTx/>
                <a:latin typeface="Aptos"/>
              </a:rPr>
              <a:t>Priority queue ordered by path cost from the start; re-prioritize when a cheaper path is discovered.</a:t>
            </a:r>
            <a:endParaRPr lang="en-US" sz="1220" b="0" u="none" strike="noStrike">
              <a:solidFill>
                <a:srgbClr val="000000"/>
              </a:solidFill>
              <a:effectLst/>
              <a:uFillTx/>
              <a:latin typeface="Arial"/>
            </a:endParaRPr>
          </a:p>
        </p:txBody>
      </p:sp>
      <p:sp>
        <p:nvSpPr>
          <p:cNvPr id="1329" name="Text 9"/>
          <p:cNvSpPr/>
          <p:nvPr/>
        </p:nvSpPr>
        <p:spPr>
          <a:xfrm>
            <a:off x="822960" y="2816280"/>
            <a:ext cx="1846080" cy="383040"/>
          </a:xfrm>
          <a:prstGeom prst="roundRect">
            <a:avLst>
              <a:gd name="adj" fmla="val 11905"/>
            </a:avLst>
          </a:prstGeom>
          <a:solidFill>
            <a:srgbClr val="FFE4AE"/>
          </a:solidFill>
          <a:ln w="15875">
            <a:solidFill>
              <a:srgbClr val="F5A623"/>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763"/>
                </a:solidFill>
                <a:effectLst/>
                <a:uFillTx/>
                <a:latin typeface="Aptos Display"/>
                <a:ea typeface="Aptos Display"/>
              </a:rPr>
              <a:t>Guarantee</a:t>
            </a:r>
            <a:endParaRPr lang="en-US" sz="1300" b="0" u="none" strike="noStrike">
              <a:solidFill>
                <a:srgbClr val="000000"/>
              </a:solidFill>
              <a:effectLst/>
              <a:uFillTx/>
              <a:latin typeface="Arial"/>
            </a:endParaRPr>
          </a:p>
        </p:txBody>
      </p:sp>
      <p:sp>
        <p:nvSpPr>
          <p:cNvPr id="1330" name="Text 10"/>
          <p:cNvSpPr/>
          <p:nvPr/>
        </p:nvSpPr>
        <p:spPr>
          <a:xfrm>
            <a:off x="2880360" y="2871360"/>
            <a:ext cx="4342320" cy="309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220" b="0" u="none" strike="noStrike">
                <a:solidFill>
                  <a:srgbClr val="002D5B"/>
                </a:solidFill>
                <a:effectLst/>
                <a:uFillTx/>
                <a:latin typeface="Aptos"/>
              </a:rPr>
              <a:t>Complete and cost-optimal when every action cost is at least ε &gt; 0.</a:t>
            </a:r>
            <a:endParaRPr lang="en-US" sz="1220" b="0" u="none" strike="noStrike">
              <a:solidFill>
                <a:srgbClr val="000000"/>
              </a:solidFill>
              <a:effectLst/>
              <a:uFillTx/>
              <a:latin typeface="Arial"/>
            </a:endParaRPr>
          </a:p>
        </p:txBody>
      </p:sp>
      <p:sp>
        <p:nvSpPr>
          <p:cNvPr id="1331" name="Shape 11"/>
          <p:cNvSpPr/>
          <p:nvPr/>
        </p:nvSpPr>
        <p:spPr>
          <a:xfrm>
            <a:off x="822960" y="3675960"/>
            <a:ext cx="6216840" cy="1260720"/>
          </a:xfrm>
          <a:prstGeom prst="roundRect">
            <a:avLst>
              <a:gd name="adj" fmla="val 3623"/>
            </a:avLst>
          </a:prstGeom>
          <a:solidFill>
            <a:srgbClr val="FFFFFF">
              <a:alpha val="98000"/>
            </a:srgbClr>
          </a:solidFill>
          <a:ln w="10160">
            <a:solidFill>
              <a:srgbClr val="B6C7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32" name="Text 12"/>
          <p:cNvSpPr/>
          <p:nvPr/>
        </p:nvSpPr>
        <p:spPr>
          <a:xfrm>
            <a:off x="1042560" y="3822120"/>
            <a:ext cx="1644840" cy="200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43763"/>
                </a:solidFill>
                <a:effectLst/>
                <a:uFillTx/>
                <a:latin typeface="Aptos"/>
              </a:rPr>
              <a:t>UCS properties</a:t>
            </a:r>
            <a:endParaRPr lang="en-US" sz="1250" b="0" u="none" strike="noStrike">
              <a:solidFill>
                <a:srgbClr val="000000"/>
              </a:solidFill>
              <a:effectLst/>
              <a:uFillTx/>
              <a:latin typeface="Arial"/>
            </a:endParaRPr>
          </a:p>
        </p:txBody>
      </p:sp>
      <p:sp>
        <p:nvSpPr>
          <p:cNvPr id="1333" name="Text 13"/>
          <p:cNvSpPr/>
          <p:nvPr/>
        </p:nvSpPr>
        <p:spPr>
          <a:xfrm>
            <a:off x="1078920" y="4096440"/>
            <a:ext cx="5531040" cy="6022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080" b="0" u="none" strike="noStrike">
                <a:solidFill>
                  <a:srgbClr val="143763"/>
                </a:solidFill>
                <a:effectLst/>
                <a:uFillTx/>
                <a:latin typeface="Aptos"/>
              </a:rPr>
              <a:t>• Expands all nodes with cost &lt; C* before the cheapest solution.</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143763"/>
                </a:solidFill>
                <a:effectLst/>
                <a:uFillTx/>
                <a:latin typeface="Aptos"/>
              </a:rPr>
              <a:t>• Effective depth is approximately C*/ε; worst-case nodes are O(b^(1 + ⌊C*/ε⌋)).</a:t>
            </a:r>
            <a:endParaRPr lang="en-US" sz="1080" b="0" u="none" strike="noStrike">
              <a:solidFill>
                <a:srgbClr val="000000"/>
              </a:solidFill>
              <a:effectLst/>
              <a:uFillTx/>
              <a:latin typeface="Arial"/>
            </a:endParaRPr>
          </a:p>
          <a:p>
            <a:pPr defTabSz="914400">
              <a:lnSpc>
                <a:spcPct val="100000"/>
              </a:lnSpc>
              <a:tabLst>
                <a:tab pos="0" algn="l"/>
              </a:tabLst>
            </a:pPr>
            <a:r>
              <a:rPr lang="en-US" sz="1080" b="0" u="none" strike="noStrike">
                <a:solidFill>
                  <a:srgbClr val="143763"/>
                </a:solidFill>
                <a:effectLst/>
                <a:uFillTx/>
                <a:latin typeface="Aptos"/>
              </a:rPr>
              <a:t>• Frontier storage is roughly the last cost tier.</a:t>
            </a:r>
            <a:endParaRPr lang="en-US" sz="1080" b="0" u="none" strike="noStrike">
              <a:solidFill>
                <a:srgbClr val="000000"/>
              </a:solidFill>
              <a:effectLst/>
              <a:uFillTx/>
              <a:latin typeface="Arial"/>
            </a:endParaRPr>
          </a:p>
        </p:txBody>
      </p:sp>
      <p:sp>
        <p:nvSpPr>
          <p:cNvPr id="1334" name="Shape 14"/>
          <p:cNvSpPr/>
          <p:nvPr/>
        </p:nvSpPr>
        <p:spPr>
          <a:xfrm>
            <a:off x="2670120" y="5504760"/>
            <a:ext cx="6948360" cy="510840"/>
          </a:xfrm>
          <a:prstGeom prst="roundRect">
            <a:avLst>
              <a:gd name="adj" fmla="val 7143"/>
            </a:avLst>
          </a:prstGeom>
          <a:solidFill>
            <a:srgbClr val="143763"/>
          </a:solidFill>
          <a:ln w="12700">
            <a:solidFill>
              <a:srgbClr val="14376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35" name="Text 15"/>
          <p:cNvSpPr/>
          <p:nvPr/>
        </p:nvSpPr>
        <p:spPr>
          <a:xfrm>
            <a:off x="2853000" y="5650920"/>
            <a:ext cx="6582600" cy="200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Aptos"/>
              </a:rPr>
              <a:t>BFS spreads by depth. UCS spreads by cost contours.</a:t>
            </a:r>
            <a:endParaRPr lang="en-US" sz="1600" b="0" u="none" strike="noStrike">
              <a:solidFill>
                <a:srgbClr val="000000"/>
              </a:solidFill>
              <a:effectLst/>
              <a:uFillTx/>
              <a:latin typeface="Arial"/>
            </a:endParaRPr>
          </a:p>
        </p:txBody>
      </p:sp>
      <p:pic>
        <p:nvPicPr>
          <p:cNvPr id="1336" name="Image 0" descr="preencoded.png"/>
          <p:cNvPicPr/>
          <p:nvPr/>
        </p:nvPicPr>
        <p:blipFill>
          <a:blip r:embed="rId1">
            <a:extLst>
              <a:ext uri="{96DAC541-7B7A-43D3-8B79-37D633B846F1}">
                <asvg:svgBlip xmlns:asvg="http://schemas.microsoft.com/office/drawing/2016/SVG/main" r:embed="rId2"/>
              </a:ext>
            </a:extLst>
          </a:blip>
          <a:stretch/>
        </p:blipFill>
        <p:spPr>
          <a:xfrm>
            <a:off x="7452360" y="1426320"/>
            <a:ext cx="3976560" cy="3976560"/>
          </a:xfrm>
          <a:prstGeom prst="rect">
            <a:avLst/>
          </a:prstGeom>
          <a:noFill/>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337" name="HeaderBar 200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338" name="AccentBar 200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339" name="Title 200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2600" b="1" u="none" strike="noStrike">
                <a:solidFill>
                  <a:srgbClr val="FFFFFF"/>
                </a:solidFill>
                <a:effectLst/>
                <a:uFillTx/>
                <a:latin typeface="Aptos"/>
              </a:rPr>
              <a:t>Uniform-Cost Search Is One Line</a:t>
            </a:r>
            <a:endParaRPr lang="en-US" sz="2600" b="0" u="none" strike="noStrike">
              <a:solidFill>
                <a:srgbClr val="000000"/>
              </a:solidFill>
              <a:effectLst/>
              <a:uFillTx/>
              <a:latin typeface="Arial"/>
            </a:endParaRPr>
          </a:p>
        </p:txBody>
      </p:sp>
      <p:sp>
        <p:nvSpPr>
          <p:cNvPr id="1340" name="FooterL 200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41" name="FooterR 200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342" name="CodeCard 2006"/>
          <p:cNvSpPr/>
          <p:nvPr/>
        </p:nvSpPr>
        <p:spPr>
          <a:xfrm>
            <a:off x="502920" y="1239840"/>
            <a:ext cx="11185200" cy="111888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343" name="CodeCap 2007"/>
          <p:cNvSpPr/>
          <p:nvPr/>
        </p:nvSpPr>
        <p:spPr>
          <a:xfrm>
            <a:off x="777240" y="1468440"/>
            <a:ext cx="1063656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00" b="1" u="none" strike="noStrike">
                <a:solidFill>
                  <a:srgbClr val="F6A01A"/>
                </a:solidFill>
                <a:effectLst/>
                <a:uFillTx/>
                <a:latin typeface="Aptos"/>
              </a:rPr>
              <a:t>AIMA 4th ed., Figure 3.9 (lower half)</a:t>
            </a:r>
            <a:endParaRPr lang="en-US" sz="900" b="0" u="none" strike="noStrike">
              <a:solidFill>
                <a:srgbClr val="000000"/>
              </a:solidFill>
              <a:effectLst/>
              <a:uFillTx/>
              <a:latin typeface="Arial"/>
            </a:endParaRPr>
          </a:p>
        </p:txBody>
      </p:sp>
      <p:sp>
        <p:nvSpPr>
          <p:cNvPr id="1344" name="CodeBody 2008"/>
          <p:cNvSpPr/>
          <p:nvPr/>
        </p:nvSpPr>
        <p:spPr>
          <a:xfrm>
            <a:off x="777240" y="1768680"/>
            <a:ext cx="10636560" cy="361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119"/>
              </a:spcAft>
            </a:pPr>
            <a:r>
              <a:rPr lang="en-US" sz="1100" b="1" u="none" strike="noStrike">
                <a:solidFill>
                  <a:srgbClr val="F6A01A"/>
                </a:solidFill>
                <a:effectLst/>
                <a:uFillTx/>
                <a:latin typeface="Consolas"/>
              </a:rPr>
              <a:t>function</a:t>
            </a:r>
            <a:r>
              <a:rPr lang="en-US" sz="1100" b="0" u="none" strike="noStrike">
                <a:solidFill>
                  <a:srgbClr val="EAF2FF"/>
                </a:solidFill>
                <a:effectLst/>
                <a:uFillTx/>
                <a:latin typeface="Consolas"/>
              </a:rPr>
              <a:t> UNIFORM-COST-SEARCH(problem) </a:t>
            </a:r>
            <a:r>
              <a:rPr lang="en-US" sz="1100" b="1" u="none" strike="noStrike">
                <a:solidFill>
                  <a:srgbClr val="F6A01A"/>
                </a:solidFill>
                <a:effectLst/>
                <a:uFillTx/>
                <a:latin typeface="Consolas"/>
              </a:rPr>
              <a:t>returns</a:t>
            </a:r>
            <a:r>
              <a:rPr lang="en-US" sz="1100" b="0" u="none" strike="noStrike">
                <a:solidFill>
                  <a:srgbClr val="EAF2FF"/>
                </a:solidFill>
                <a:effectLst/>
                <a:uFillTx/>
                <a:latin typeface="Consolas"/>
              </a:rPr>
              <a:t> a solution node, </a:t>
            </a:r>
            <a:r>
              <a:rPr lang="en-US" sz="1100" b="1" u="none" strike="noStrike">
                <a:solidFill>
                  <a:srgbClr val="F6A01A"/>
                </a:solidFill>
                <a:effectLst/>
                <a:uFillTx/>
                <a:latin typeface="Consolas"/>
              </a:rPr>
              <a:t>or</a:t>
            </a:r>
            <a:r>
              <a:rPr lang="en-US" sz="1100" b="0" u="none" strike="noStrike">
                <a:solidFill>
                  <a:srgbClr val="EAF2FF"/>
                </a:solidFill>
                <a:effectLst/>
                <a:uFillTx/>
                <a:latin typeface="Consolas"/>
              </a:rPr>
              <a:t> </a:t>
            </a:r>
            <a:r>
              <a:rPr lang="en-US" sz="1100" b="1" u="none" strike="noStrike">
                <a:solidFill>
                  <a:srgbClr val="F2A0A0"/>
                </a:solidFill>
                <a:effectLst/>
                <a:uFillTx/>
                <a:latin typeface="Consolas"/>
              </a:rPr>
              <a:t>failure</a:t>
            </a:r>
            <a:endParaRPr lang="en-US" sz="1100" b="0" u="none" strike="noStrike">
              <a:solidFill>
                <a:srgbClr val="000000"/>
              </a:solidFill>
              <a:effectLst/>
              <a:uFillTx/>
              <a:latin typeface="Arial"/>
            </a:endParaRPr>
          </a:p>
          <a:p>
            <a:pPr defTabSz="914400">
              <a:lnSpc>
                <a:spcPct val="100000"/>
              </a:lnSpc>
              <a:spcAft>
                <a:spcPts val="119"/>
              </a:spcAft>
            </a:pPr>
            <a:r>
              <a:rPr lang="en-US" sz="1100" b="0" u="none" strike="noStrike">
                <a:solidFill>
                  <a:srgbClr val="EAF2FF"/>
                </a:solidFill>
                <a:effectLst/>
                <a:uFillTx/>
                <a:latin typeface="Consolas"/>
              </a:rPr>
              <a:t>    </a:t>
            </a:r>
            <a:r>
              <a:rPr lang="en-US" sz="1100" b="1" u="none" strike="noStrike">
                <a:solidFill>
                  <a:srgbClr val="F6A01A"/>
                </a:solidFill>
                <a:effectLst/>
                <a:uFillTx/>
                <a:latin typeface="Consolas"/>
              </a:rPr>
              <a:t>return</a:t>
            </a:r>
            <a:r>
              <a:rPr lang="en-US" sz="1100" b="0" u="none" strike="noStrike">
                <a:solidFill>
                  <a:srgbClr val="EAF2FF"/>
                </a:solidFill>
                <a:effectLst/>
                <a:uFillTx/>
                <a:latin typeface="Consolas"/>
              </a:rPr>
              <a:t> BEST-FIRST-SEARCH(problem, PATH-COST)</a:t>
            </a:r>
            <a:endParaRPr lang="en-US" sz="1100" b="0" u="none" strike="noStrike">
              <a:solidFill>
                <a:srgbClr val="000000"/>
              </a:solidFill>
              <a:effectLst/>
              <a:uFillTx/>
              <a:latin typeface="Arial"/>
            </a:endParaRPr>
          </a:p>
        </p:txBody>
      </p:sp>
      <p:sp>
        <p:nvSpPr>
          <p:cNvPr id="1345" name="Text 2009"/>
          <p:cNvSpPr/>
          <p:nvPr/>
        </p:nvSpPr>
        <p:spPr>
          <a:xfrm>
            <a:off x="502920" y="2559960"/>
            <a:ext cx="11185200" cy="2588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200" b="1" u="none" strike="noStrike">
                <a:solidFill>
                  <a:srgbClr val="112E5C"/>
                </a:solidFill>
                <a:effectLst/>
                <a:uFillTx/>
                <a:latin typeface="Aptos"/>
              </a:rPr>
              <a:t>So what did BFS change, and why can uniform-cost search not copy it?</a:t>
            </a:r>
            <a:endParaRPr lang="en-US" sz="1200" b="0" u="none" strike="noStrike">
              <a:solidFill>
                <a:srgbClr val="000000"/>
              </a:solidFill>
              <a:effectLst/>
              <a:uFillTx/>
              <a:latin typeface="Arial"/>
            </a:endParaRPr>
          </a:p>
        </p:txBody>
      </p:sp>
      <p:sp>
        <p:nvSpPr>
          <p:cNvPr id="1346" name="Cmp 2010"/>
          <p:cNvSpPr/>
          <p:nvPr/>
        </p:nvSpPr>
        <p:spPr>
          <a:xfrm>
            <a:off x="502920" y="2900160"/>
            <a:ext cx="3544920" cy="197892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347" name="Text 2011"/>
          <p:cNvSpPr/>
          <p:nvPr/>
        </p:nvSpPr>
        <p:spPr>
          <a:xfrm>
            <a:off x="708840" y="3060000"/>
            <a:ext cx="3133440" cy="239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150" b="1" u="none" strike="noStrike">
                <a:solidFill>
                  <a:srgbClr val="112E5C"/>
                </a:solidFill>
                <a:effectLst/>
                <a:uFillTx/>
                <a:latin typeface="Aptos"/>
              </a:rPr>
              <a:t>The frontier</a:t>
            </a:r>
            <a:endParaRPr lang="en-US" sz="1150" b="0" u="none" strike="noStrike">
              <a:solidFill>
                <a:srgbClr val="000000"/>
              </a:solidFill>
              <a:effectLst/>
              <a:uFillTx/>
              <a:latin typeface="Arial"/>
            </a:endParaRPr>
          </a:p>
        </p:txBody>
      </p:sp>
      <p:sp>
        <p:nvSpPr>
          <p:cNvPr id="1348" name="Text 2012"/>
          <p:cNvSpPr/>
          <p:nvPr/>
        </p:nvSpPr>
        <p:spPr>
          <a:xfrm>
            <a:off x="708840" y="3359880"/>
            <a:ext cx="3133440" cy="1359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spcAft>
                <a:spcPts val="281"/>
              </a:spcAft>
            </a:pPr>
            <a:r>
              <a:rPr lang="en-US" sz="900" b="1" u="none" strike="noStrike">
                <a:solidFill>
                  <a:srgbClr val="5C6B80"/>
                </a:solidFill>
                <a:effectLst/>
                <a:uFillTx/>
                <a:latin typeface="Aptos"/>
              </a:rPr>
              <a:t>BFS   </a:t>
            </a:r>
            <a:r>
              <a:rPr lang="en-US" sz="950" b="0" u="none" strike="noStrike">
                <a:solidFill>
                  <a:srgbClr val="102A4C"/>
                </a:solidFill>
                <a:effectLst/>
                <a:uFillTx/>
                <a:latin typeface="Aptos"/>
              </a:rPr>
              <a:t>a FIFO queue — depth order</a:t>
            </a:r>
            <a:endParaRPr lang="en-US" sz="950" b="0" u="none" strike="noStrike">
              <a:solidFill>
                <a:srgbClr val="000000"/>
              </a:solidFill>
              <a:effectLst/>
              <a:uFillTx/>
              <a:latin typeface="Arial"/>
            </a:endParaRPr>
          </a:p>
          <a:p>
            <a:pPr defTabSz="914400">
              <a:lnSpc>
                <a:spcPct val="104000"/>
              </a:lnSpc>
              <a:spcAft>
                <a:spcPts val="340"/>
              </a:spcAft>
            </a:pPr>
            <a:r>
              <a:rPr lang="en-US" sz="900" b="1" u="none" strike="noStrike">
                <a:solidFill>
                  <a:srgbClr val="F6A01A"/>
                </a:solidFill>
                <a:effectLst/>
                <a:uFillTx/>
                <a:latin typeface="Aptos"/>
              </a:rPr>
              <a:t>UCS   </a:t>
            </a:r>
            <a:r>
              <a:rPr lang="en-US" sz="950" b="0" u="none" strike="noStrike">
                <a:solidFill>
                  <a:srgbClr val="102A4C"/>
                </a:solidFill>
                <a:effectLst/>
                <a:uFillTx/>
                <a:latin typeface="Aptos"/>
              </a:rPr>
              <a:t>a priority queue on g(n) — cost order</a:t>
            </a:r>
            <a:endParaRPr lang="en-US" sz="950" b="0" u="none" strike="noStrike">
              <a:solidFill>
                <a:srgbClr val="000000"/>
              </a:solidFill>
              <a:effectLst/>
              <a:uFillTx/>
              <a:latin typeface="Arial"/>
            </a:endParaRPr>
          </a:p>
          <a:p>
            <a:pPr defTabSz="914400">
              <a:lnSpc>
                <a:spcPct val="104000"/>
              </a:lnSpc>
            </a:pPr>
            <a:r>
              <a:rPr lang="en-US" sz="900" b="1" u="none" strike="noStrike">
                <a:solidFill>
                  <a:srgbClr val="9B1C1C"/>
                </a:solidFill>
                <a:effectLst/>
                <a:uFillTx/>
                <a:latin typeface="Aptos"/>
              </a:rPr>
              <a:t>Why  </a:t>
            </a:r>
            <a:r>
              <a:rPr lang="en-US" sz="900" b="0" u="none" strike="noStrike">
                <a:solidFill>
                  <a:srgbClr val="5C6B80"/>
                </a:solidFill>
                <a:effectLst/>
                <a:uFillTx/>
                <a:latin typeface="Aptos"/>
              </a:rPr>
              <a:t>With unequal action costs, the shallowest path is no longer the cheapest one.</a:t>
            </a:r>
            <a:endParaRPr lang="en-US" sz="900" b="0" u="none" strike="noStrike">
              <a:solidFill>
                <a:srgbClr val="000000"/>
              </a:solidFill>
              <a:effectLst/>
              <a:uFillTx/>
              <a:latin typeface="Arial"/>
            </a:endParaRPr>
          </a:p>
        </p:txBody>
      </p:sp>
      <p:sp>
        <p:nvSpPr>
          <p:cNvPr id="1349" name="Cmp 2013"/>
          <p:cNvSpPr/>
          <p:nvPr/>
        </p:nvSpPr>
        <p:spPr>
          <a:xfrm>
            <a:off x="4323240" y="2900160"/>
            <a:ext cx="3544920" cy="197892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350" name="Text 2014"/>
          <p:cNvSpPr/>
          <p:nvPr/>
        </p:nvSpPr>
        <p:spPr>
          <a:xfrm>
            <a:off x="4528800" y="3060000"/>
            <a:ext cx="3133440" cy="239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150" b="1" u="none" strike="noStrike">
                <a:solidFill>
                  <a:srgbClr val="112E5C"/>
                </a:solidFill>
                <a:effectLst/>
                <a:uFillTx/>
                <a:latin typeface="Aptos"/>
              </a:rPr>
              <a:t>The goal test</a:t>
            </a:r>
            <a:endParaRPr lang="en-US" sz="1150" b="0" u="none" strike="noStrike">
              <a:solidFill>
                <a:srgbClr val="000000"/>
              </a:solidFill>
              <a:effectLst/>
              <a:uFillTx/>
              <a:latin typeface="Arial"/>
            </a:endParaRPr>
          </a:p>
        </p:txBody>
      </p:sp>
      <p:sp>
        <p:nvSpPr>
          <p:cNvPr id="1351" name="Text 2015"/>
          <p:cNvSpPr/>
          <p:nvPr/>
        </p:nvSpPr>
        <p:spPr>
          <a:xfrm>
            <a:off x="4528800" y="3359880"/>
            <a:ext cx="3133440" cy="1359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spcAft>
                <a:spcPts val="281"/>
              </a:spcAft>
            </a:pPr>
            <a:r>
              <a:rPr lang="en-US" sz="900" b="1" u="none" strike="noStrike">
                <a:solidFill>
                  <a:srgbClr val="5C6B80"/>
                </a:solidFill>
                <a:effectLst/>
                <a:uFillTx/>
                <a:latin typeface="Aptos"/>
              </a:rPr>
              <a:t>BFS   </a:t>
            </a:r>
            <a:r>
              <a:rPr lang="en-US" sz="950" b="0" u="none" strike="noStrike">
                <a:solidFill>
                  <a:srgbClr val="102A4C"/>
                </a:solidFill>
                <a:effectLst/>
                <a:uFillTx/>
                <a:latin typeface="Aptos"/>
              </a:rPr>
              <a:t>on generation</a:t>
            </a:r>
            <a:endParaRPr lang="en-US" sz="950" b="0" u="none" strike="noStrike">
              <a:solidFill>
                <a:srgbClr val="000000"/>
              </a:solidFill>
              <a:effectLst/>
              <a:uFillTx/>
              <a:latin typeface="Arial"/>
            </a:endParaRPr>
          </a:p>
          <a:p>
            <a:pPr defTabSz="914400">
              <a:lnSpc>
                <a:spcPct val="104000"/>
              </a:lnSpc>
              <a:spcAft>
                <a:spcPts val="340"/>
              </a:spcAft>
            </a:pPr>
            <a:r>
              <a:rPr lang="en-US" sz="900" b="1" u="none" strike="noStrike">
                <a:solidFill>
                  <a:srgbClr val="F6A01A"/>
                </a:solidFill>
                <a:effectLst/>
                <a:uFillTx/>
                <a:latin typeface="Aptos"/>
              </a:rPr>
              <a:t>UCS   </a:t>
            </a:r>
            <a:r>
              <a:rPr lang="en-US" sz="950" b="0" u="none" strike="noStrike">
                <a:solidFill>
                  <a:srgbClr val="102A4C"/>
                </a:solidFill>
                <a:effectLst/>
                <a:uFillTx/>
                <a:latin typeface="Aptos"/>
              </a:rPr>
              <a:t>on expansion, when the node is popped</a:t>
            </a:r>
            <a:endParaRPr lang="en-US" sz="950" b="0" u="none" strike="noStrike">
              <a:solidFill>
                <a:srgbClr val="000000"/>
              </a:solidFill>
              <a:effectLst/>
              <a:uFillTx/>
              <a:latin typeface="Arial"/>
            </a:endParaRPr>
          </a:p>
          <a:p>
            <a:pPr defTabSz="914400">
              <a:lnSpc>
                <a:spcPct val="104000"/>
              </a:lnSpc>
            </a:pPr>
            <a:r>
              <a:rPr lang="en-US" sz="900" b="1" u="none" strike="noStrike">
                <a:solidFill>
                  <a:srgbClr val="9B1C1C"/>
                </a:solidFill>
                <a:effectLst/>
                <a:uFillTx/>
                <a:latin typeface="Aptos"/>
              </a:rPr>
              <a:t>Why  </a:t>
            </a:r>
            <a:r>
              <a:rPr lang="en-US" sz="900" b="0" u="none" strike="noStrike">
                <a:solidFill>
                  <a:srgbClr val="5C6B80"/>
                </a:solidFill>
                <a:effectLst/>
                <a:uFillTx/>
                <a:latin typeface="Aptos"/>
              </a:rPr>
              <a:t>A goal can be generated on an expensive path long before a cheaper path to it is found.</a:t>
            </a:r>
            <a:endParaRPr lang="en-US" sz="900" b="0" u="none" strike="noStrike">
              <a:solidFill>
                <a:srgbClr val="000000"/>
              </a:solidFill>
              <a:effectLst/>
              <a:uFillTx/>
              <a:latin typeface="Arial"/>
            </a:endParaRPr>
          </a:p>
        </p:txBody>
      </p:sp>
      <p:sp>
        <p:nvSpPr>
          <p:cNvPr id="1352" name="Cmp 2016"/>
          <p:cNvSpPr/>
          <p:nvPr/>
        </p:nvSpPr>
        <p:spPr>
          <a:xfrm>
            <a:off x="8143200" y="2900160"/>
            <a:ext cx="3544920" cy="197892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353" name="Text 2017"/>
          <p:cNvSpPr/>
          <p:nvPr/>
        </p:nvSpPr>
        <p:spPr>
          <a:xfrm>
            <a:off x="8349120" y="3060000"/>
            <a:ext cx="3133440" cy="239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150" b="1" u="none" strike="noStrike">
                <a:solidFill>
                  <a:srgbClr val="112E5C"/>
                </a:solidFill>
                <a:effectLst/>
                <a:uFillTx/>
                <a:latin typeface="Aptos"/>
              </a:rPr>
              <a:t>The reached table</a:t>
            </a:r>
            <a:endParaRPr lang="en-US" sz="1150" b="0" u="none" strike="noStrike">
              <a:solidFill>
                <a:srgbClr val="000000"/>
              </a:solidFill>
              <a:effectLst/>
              <a:uFillTx/>
              <a:latin typeface="Arial"/>
            </a:endParaRPr>
          </a:p>
        </p:txBody>
      </p:sp>
      <p:sp>
        <p:nvSpPr>
          <p:cNvPr id="1354" name="Text 2018"/>
          <p:cNvSpPr/>
          <p:nvPr/>
        </p:nvSpPr>
        <p:spPr>
          <a:xfrm>
            <a:off x="8349120" y="3359880"/>
            <a:ext cx="3133440" cy="1359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spcAft>
                <a:spcPts val="281"/>
              </a:spcAft>
            </a:pPr>
            <a:r>
              <a:rPr lang="en-US" sz="900" b="1" u="none" strike="noStrike">
                <a:solidFill>
                  <a:srgbClr val="5C6B80"/>
                </a:solidFill>
                <a:effectLst/>
                <a:uFillTx/>
                <a:latin typeface="Aptos"/>
              </a:rPr>
              <a:t>BFS   </a:t>
            </a:r>
            <a:r>
              <a:rPr lang="en-US" sz="950" b="0" u="none" strike="noStrike">
                <a:solidFill>
                  <a:srgbClr val="102A4C"/>
                </a:solidFill>
                <a:effectLst/>
                <a:uFillTx/>
                <a:latin typeface="Aptos"/>
              </a:rPr>
              <a:t>a set of states</a:t>
            </a:r>
            <a:endParaRPr lang="en-US" sz="950" b="0" u="none" strike="noStrike">
              <a:solidFill>
                <a:srgbClr val="000000"/>
              </a:solidFill>
              <a:effectLst/>
              <a:uFillTx/>
              <a:latin typeface="Arial"/>
            </a:endParaRPr>
          </a:p>
          <a:p>
            <a:pPr defTabSz="914400">
              <a:lnSpc>
                <a:spcPct val="104000"/>
              </a:lnSpc>
              <a:spcAft>
                <a:spcPts val="340"/>
              </a:spcAft>
            </a:pPr>
            <a:r>
              <a:rPr lang="en-US" sz="900" b="1" u="none" strike="noStrike">
                <a:solidFill>
                  <a:srgbClr val="F6A01A"/>
                </a:solidFill>
                <a:effectLst/>
                <a:uFillTx/>
                <a:latin typeface="Aptos"/>
              </a:rPr>
              <a:t>UCS   </a:t>
            </a:r>
            <a:r>
              <a:rPr lang="en-US" sz="950" b="0" u="none" strike="noStrike">
                <a:solidFill>
                  <a:srgbClr val="102A4C"/>
                </a:solidFill>
                <a:effectLst/>
                <a:uFillTx/>
                <a:latin typeface="Aptos"/>
              </a:rPr>
              <a:t>a state-to-node map, plus the re-add rule</a:t>
            </a:r>
            <a:endParaRPr lang="en-US" sz="950" b="0" u="none" strike="noStrike">
              <a:solidFill>
                <a:srgbClr val="000000"/>
              </a:solidFill>
              <a:effectLst/>
              <a:uFillTx/>
              <a:latin typeface="Arial"/>
            </a:endParaRPr>
          </a:p>
          <a:p>
            <a:pPr defTabSz="914400">
              <a:lnSpc>
                <a:spcPct val="104000"/>
              </a:lnSpc>
            </a:pPr>
            <a:r>
              <a:rPr lang="en-US" sz="900" b="1" u="none" strike="noStrike">
                <a:solidFill>
                  <a:srgbClr val="9B1C1C"/>
                </a:solidFill>
                <a:effectLst/>
                <a:uFillTx/>
                <a:latin typeface="Aptos"/>
              </a:rPr>
              <a:t>Why  </a:t>
            </a:r>
            <a:r>
              <a:rPr lang="en-US" sz="900" b="0" u="none" strike="noStrike">
                <a:solidFill>
                  <a:srgbClr val="5C6B80"/>
                </a:solidFill>
                <a:effectLst/>
                <a:uFillTx/>
                <a:latin typeface="Aptos"/>
              </a:rPr>
              <a:t>A cheaper path to an already-reached state has to be able to replace the entry.</a:t>
            </a:r>
            <a:endParaRPr lang="en-US" sz="900" b="0" u="none" strike="noStrike">
              <a:solidFill>
                <a:srgbClr val="000000"/>
              </a:solidFill>
              <a:effectLst/>
              <a:uFillTx/>
              <a:latin typeface="Arial"/>
            </a:endParaRPr>
          </a:p>
        </p:txBody>
      </p:sp>
      <p:sp>
        <p:nvSpPr>
          <p:cNvPr id="1355" name="Banner 2019"/>
          <p:cNvSpPr/>
          <p:nvPr/>
        </p:nvSpPr>
        <p:spPr>
          <a:xfrm>
            <a:off x="502920" y="5090040"/>
            <a:ext cx="11185200" cy="999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p>
            <a:pPr defTabSz="914400">
              <a:lnSpc>
                <a:spcPct val="100000"/>
              </a:lnSpc>
              <a:spcAft>
                <a:spcPts val="201"/>
              </a:spcAft>
            </a:pPr>
            <a:r>
              <a:rPr lang="en-US" sz="1100" b="1" u="none" strike="noStrike">
                <a:solidFill>
                  <a:srgbClr val="102A4C"/>
                </a:solidFill>
                <a:effectLst/>
                <a:uFillTx/>
                <a:latin typeface="Aptos"/>
              </a:rPr>
              <a:t>Set every action cost to 1 and uniform-cost search expands nodes in exactly BFS's order.</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5C6B80"/>
                </a:solidFill>
                <a:effectLst/>
                <a:uFillTx/>
                <a:latin typeface="Aptos"/>
              </a:rPr>
              <a:t>Breadth-first search is the special case, not a different algorithm. That is why Figure 3.9 prints them together — and why the whole of Section 3.4 is one loop with a different priority.</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356"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57"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358"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UCS Build: Do Not Stop When a Goal Is Generated</a:t>
            </a:r>
            <a:endParaRPr lang="en-US" sz="2600" b="0" u="none" strike="noStrike">
              <a:solidFill>
                <a:srgbClr val="000000"/>
              </a:solidFill>
              <a:effectLst/>
              <a:uFillTx/>
              <a:latin typeface="Arial"/>
            </a:endParaRPr>
          </a:p>
        </p:txBody>
      </p:sp>
      <p:sp>
        <p:nvSpPr>
          <p:cNvPr id="1359"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360"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61" name="Shape 5"/>
          <p:cNvSpPr/>
          <p:nvPr/>
        </p:nvSpPr>
        <p:spPr>
          <a:xfrm>
            <a:off x="1078200" y="2213280"/>
            <a:ext cx="1828800" cy="914400"/>
          </a:xfrm>
          <a:prstGeom prst="line">
            <a:avLst/>
          </a:prstGeom>
          <a:ln w="2032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362" name="Text 6"/>
          <p:cNvSpPr/>
          <p:nvPr/>
        </p:nvSpPr>
        <p:spPr>
          <a:xfrm>
            <a:off x="1946880" y="2519280"/>
            <a:ext cx="2728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5C6B80"/>
                </a:solidFill>
                <a:effectLst/>
                <a:uFillTx/>
                <a:latin typeface="Aptos"/>
              </a:rPr>
              <a:t>80</a:t>
            </a:r>
            <a:endParaRPr lang="en-US" sz="900" b="0" u="none" strike="noStrike">
              <a:solidFill>
                <a:srgbClr val="000000"/>
              </a:solidFill>
              <a:effectLst/>
              <a:uFillTx/>
              <a:latin typeface="Arial"/>
            </a:endParaRPr>
          </a:p>
        </p:txBody>
      </p:sp>
      <p:sp>
        <p:nvSpPr>
          <p:cNvPr id="1363" name="Shape 7"/>
          <p:cNvSpPr/>
          <p:nvPr/>
        </p:nvSpPr>
        <p:spPr>
          <a:xfrm flipV="1">
            <a:off x="1078200" y="1481760"/>
            <a:ext cx="1828800" cy="731520"/>
          </a:xfrm>
          <a:prstGeom prst="line">
            <a:avLst/>
          </a:prstGeom>
          <a:ln w="2032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364" name="Text 8"/>
          <p:cNvSpPr/>
          <p:nvPr/>
        </p:nvSpPr>
        <p:spPr>
          <a:xfrm>
            <a:off x="1838880" y="1699560"/>
            <a:ext cx="2728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5C6B80"/>
                </a:solidFill>
                <a:effectLst/>
                <a:uFillTx/>
                <a:latin typeface="Aptos"/>
              </a:rPr>
              <a:t>99</a:t>
            </a:r>
            <a:endParaRPr lang="en-US" sz="900" b="0" u="none" strike="noStrike">
              <a:solidFill>
                <a:srgbClr val="000000"/>
              </a:solidFill>
              <a:effectLst/>
              <a:uFillTx/>
              <a:latin typeface="Arial"/>
            </a:endParaRPr>
          </a:p>
        </p:txBody>
      </p:sp>
      <p:sp>
        <p:nvSpPr>
          <p:cNvPr id="1365" name="Shape 9"/>
          <p:cNvSpPr/>
          <p:nvPr/>
        </p:nvSpPr>
        <p:spPr>
          <a:xfrm>
            <a:off x="2907000" y="3127680"/>
            <a:ext cx="1965960" cy="360"/>
          </a:xfrm>
          <a:prstGeom prst="line">
            <a:avLst/>
          </a:prstGeom>
          <a:ln w="20320">
            <a:solidFill>
              <a:srgbClr val="5C6B8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366" name="Text 10"/>
          <p:cNvSpPr/>
          <p:nvPr/>
        </p:nvSpPr>
        <p:spPr>
          <a:xfrm>
            <a:off x="3753000" y="2990880"/>
            <a:ext cx="2728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5C6B80"/>
                </a:solidFill>
                <a:effectLst/>
                <a:uFillTx/>
                <a:latin typeface="Aptos"/>
              </a:rPr>
              <a:t>97</a:t>
            </a:r>
            <a:endParaRPr lang="en-US" sz="900" b="0" u="none" strike="noStrike">
              <a:solidFill>
                <a:srgbClr val="000000"/>
              </a:solidFill>
              <a:effectLst/>
              <a:uFillTx/>
              <a:latin typeface="Arial"/>
            </a:endParaRPr>
          </a:p>
        </p:txBody>
      </p:sp>
      <p:sp>
        <p:nvSpPr>
          <p:cNvPr id="1367" name="Shape 11"/>
          <p:cNvSpPr/>
          <p:nvPr/>
        </p:nvSpPr>
        <p:spPr>
          <a:xfrm flipV="1">
            <a:off x="4872960" y="2213280"/>
            <a:ext cx="1874520" cy="914400"/>
          </a:xfrm>
          <a:prstGeom prst="line">
            <a:avLst/>
          </a:prstGeom>
          <a:ln w="2032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368" name="Text 12"/>
          <p:cNvSpPr/>
          <p:nvPr/>
        </p:nvSpPr>
        <p:spPr>
          <a:xfrm>
            <a:off x="5628600" y="2533680"/>
            <a:ext cx="2728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5C6B80"/>
                </a:solidFill>
                <a:effectLst/>
                <a:uFillTx/>
                <a:latin typeface="Aptos"/>
              </a:rPr>
              <a:t>101</a:t>
            </a:r>
            <a:endParaRPr lang="en-US" sz="900" b="0" u="none" strike="noStrike">
              <a:solidFill>
                <a:srgbClr val="000000"/>
              </a:solidFill>
              <a:effectLst/>
              <a:uFillTx/>
              <a:latin typeface="Arial"/>
            </a:endParaRPr>
          </a:p>
        </p:txBody>
      </p:sp>
      <p:sp>
        <p:nvSpPr>
          <p:cNvPr id="1369" name="Shape 13"/>
          <p:cNvSpPr/>
          <p:nvPr/>
        </p:nvSpPr>
        <p:spPr>
          <a:xfrm>
            <a:off x="2907000" y="1481760"/>
            <a:ext cx="3840480" cy="731520"/>
          </a:xfrm>
          <a:prstGeom prst="line">
            <a:avLst/>
          </a:prstGeom>
          <a:ln w="2032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370" name="Text 14"/>
          <p:cNvSpPr/>
          <p:nvPr/>
        </p:nvSpPr>
        <p:spPr>
          <a:xfrm>
            <a:off x="4709160" y="1691640"/>
            <a:ext cx="27288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5C6B80"/>
                </a:solidFill>
                <a:effectLst/>
                <a:uFillTx/>
                <a:latin typeface="Aptos"/>
              </a:rPr>
              <a:t>211</a:t>
            </a:r>
            <a:endParaRPr lang="en-US" sz="900" b="0" u="none" strike="noStrike">
              <a:solidFill>
                <a:srgbClr val="000000"/>
              </a:solidFill>
              <a:effectLst/>
              <a:uFillTx/>
              <a:latin typeface="Arial"/>
            </a:endParaRPr>
          </a:p>
        </p:txBody>
      </p:sp>
      <p:sp>
        <p:nvSpPr>
          <p:cNvPr id="1371" name="Text 15"/>
          <p:cNvSpPr/>
          <p:nvPr/>
        </p:nvSpPr>
        <p:spPr>
          <a:xfrm>
            <a:off x="932040" y="2067480"/>
            <a:ext cx="291240" cy="291240"/>
          </a:xfrm>
          <a:prstGeom prst="ellipse">
            <a:avLst/>
          </a:prstGeom>
          <a:solidFill>
            <a:srgbClr val="FFE5B6"/>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372" name="Text 16"/>
          <p:cNvSpPr/>
          <p:nvPr/>
        </p:nvSpPr>
        <p:spPr>
          <a:xfrm>
            <a:off x="556200" y="2450520"/>
            <a:ext cx="100440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02A4C"/>
                </a:solidFill>
                <a:effectLst/>
                <a:uFillTx/>
                <a:latin typeface="Aptos"/>
              </a:rPr>
              <a:t>Sibiu</a:t>
            </a:r>
            <a:endParaRPr lang="en-US" sz="900" b="0" u="none" strike="noStrike">
              <a:solidFill>
                <a:srgbClr val="000000"/>
              </a:solidFill>
              <a:effectLst/>
              <a:uFillTx/>
              <a:latin typeface="Arial"/>
            </a:endParaRPr>
          </a:p>
        </p:txBody>
      </p:sp>
      <p:sp>
        <p:nvSpPr>
          <p:cNvPr id="1373" name="Text 17"/>
          <p:cNvSpPr/>
          <p:nvPr/>
        </p:nvSpPr>
        <p:spPr>
          <a:xfrm>
            <a:off x="2760840" y="29818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374" name="Text 18"/>
          <p:cNvSpPr/>
          <p:nvPr/>
        </p:nvSpPr>
        <p:spPr>
          <a:xfrm>
            <a:off x="2404080" y="3384000"/>
            <a:ext cx="100440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02A4C"/>
                </a:solidFill>
                <a:effectLst/>
                <a:uFillTx/>
                <a:latin typeface="Aptos"/>
              </a:rPr>
              <a:t>Rimnicu</a:t>
            </a:r>
            <a:endParaRPr lang="en-US" sz="900" b="0" u="none" strike="noStrike">
              <a:solidFill>
                <a:srgbClr val="000000"/>
              </a:solidFill>
              <a:effectLst/>
              <a:uFillTx/>
              <a:latin typeface="Arial"/>
            </a:endParaRPr>
          </a:p>
        </p:txBody>
      </p:sp>
      <p:sp>
        <p:nvSpPr>
          <p:cNvPr id="1375" name="Text 19"/>
          <p:cNvSpPr/>
          <p:nvPr/>
        </p:nvSpPr>
        <p:spPr>
          <a:xfrm>
            <a:off x="2779920" y="13168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376" name="Text 20"/>
          <p:cNvSpPr/>
          <p:nvPr/>
        </p:nvSpPr>
        <p:spPr>
          <a:xfrm>
            <a:off x="2423520" y="1647000"/>
            <a:ext cx="100440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02A4C"/>
                </a:solidFill>
                <a:effectLst/>
                <a:uFillTx/>
                <a:latin typeface="Aptos"/>
              </a:rPr>
              <a:t>Fagaras</a:t>
            </a:r>
            <a:endParaRPr lang="en-US" sz="900" b="0" u="none" strike="noStrike">
              <a:solidFill>
                <a:srgbClr val="000000"/>
              </a:solidFill>
              <a:effectLst/>
              <a:uFillTx/>
              <a:latin typeface="Arial"/>
            </a:endParaRPr>
          </a:p>
        </p:txBody>
      </p:sp>
      <p:sp>
        <p:nvSpPr>
          <p:cNvPr id="1377" name="Text 21"/>
          <p:cNvSpPr/>
          <p:nvPr/>
        </p:nvSpPr>
        <p:spPr>
          <a:xfrm>
            <a:off x="4726800" y="298188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378" name="Text 22"/>
          <p:cNvSpPr/>
          <p:nvPr/>
        </p:nvSpPr>
        <p:spPr>
          <a:xfrm>
            <a:off x="4370040" y="3384000"/>
            <a:ext cx="100440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02A4C"/>
                </a:solidFill>
                <a:effectLst/>
                <a:uFillTx/>
                <a:latin typeface="Aptos"/>
              </a:rPr>
              <a:t>Pitesti</a:t>
            </a:r>
            <a:endParaRPr lang="en-US" sz="900" b="0" u="none" strike="noStrike">
              <a:solidFill>
                <a:srgbClr val="000000"/>
              </a:solidFill>
              <a:effectLst/>
              <a:uFillTx/>
              <a:latin typeface="Arial"/>
            </a:endParaRPr>
          </a:p>
        </p:txBody>
      </p:sp>
      <p:sp>
        <p:nvSpPr>
          <p:cNvPr id="1379" name="Text 23"/>
          <p:cNvSpPr/>
          <p:nvPr/>
        </p:nvSpPr>
        <p:spPr>
          <a:xfrm>
            <a:off x="6620400" y="2048400"/>
            <a:ext cx="291240" cy="29124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380" name="Text 24"/>
          <p:cNvSpPr/>
          <p:nvPr/>
        </p:nvSpPr>
        <p:spPr>
          <a:xfrm>
            <a:off x="6263640" y="2450520"/>
            <a:ext cx="1004400" cy="1814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0" u="none" strike="noStrike">
                <a:solidFill>
                  <a:srgbClr val="102A4C"/>
                </a:solidFill>
                <a:effectLst/>
                <a:uFillTx/>
                <a:latin typeface="Aptos"/>
              </a:rPr>
              <a:t>Bucharest</a:t>
            </a:r>
            <a:endParaRPr lang="en-US" sz="900" b="0" u="none" strike="noStrike">
              <a:solidFill>
                <a:srgbClr val="000000"/>
              </a:solidFill>
              <a:effectLst/>
              <a:uFillTx/>
              <a:latin typeface="Arial"/>
            </a:endParaRPr>
          </a:p>
        </p:txBody>
      </p:sp>
      <p:sp>
        <p:nvSpPr>
          <p:cNvPr id="1381" name="Text 25"/>
          <p:cNvSpPr/>
          <p:nvPr/>
        </p:nvSpPr>
        <p:spPr>
          <a:xfrm>
            <a:off x="7635240" y="1417320"/>
            <a:ext cx="3747600" cy="40219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450" b="0" u="none" strike="noStrike">
                <a:solidFill>
                  <a:srgbClr val="102A4C"/>
                </a:solidFill>
                <a:effectLst/>
                <a:uFillTx/>
                <a:latin typeface="Aptos"/>
              </a:rPr>
              <a:t>From Sibiu: Rimnicu = 80; Fagaras = 99</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Expand Rimnicu first, then Fagaras</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Fagaras generates Bucharest with cost 310</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But Pitesti later generates Bucharest with cost 278</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Stop only when the lowest-cost selected node is a goal</a:t>
            </a:r>
            <a:endParaRPr lang="en-US" sz="1450" b="0" u="none" strike="noStrike">
              <a:solidFill>
                <a:srgbClr val="000000"/>
              </a:solidFill>
              <a:effectLst/>
              <a:uFillTx/>
              <a:latin typeface="Arial"/>
            </a:endParaRPr>
          </a:p>
        </p:txBody>
      </p:sp>
      <p:pic>
        <p:nvPicPr>
          <p:cNvPr id="1382" name="Picture 2"/>
          <p:cNvPicPr/>
          <p:nvPr/>
        </p:nvPicPr>
        <p:blipFill>
          <a:blip r:embed="rId1"/>
          <a:stretch/>
        </p:blipFill>
        <p:spPr>
          <a:xfrm>
            <a:off x="0" y="226440"/>
            <a:ext cx="12191040" cy="6404040"/>
          </a:xfrm>
          <a:prstGeom prst="rect">
            <a:avLst/>
          </a:prstGeom>
          <a:noFill/>
          <a:ln w="0">
            <a:noFill/>
          </a:ln>
        </p:spPr>
      </p:pic>
      <p:pic>
        <p:nvPicPr>
          <p:cNvPr id="1383" name="Picture 4"/>
          <p:cNvPicPr/>
          <p:nvPr/>
        </p:nvPicPr>
        <p:blipFill>
          <a:blip r:embed="rId2"/>
          <a:stretch/>
        </p:blipFill>
        <p:spPr>
          <a:xfrm>
            <a:off x="0" y="226440"/>
            <a:ext cx="12191040" cy="6404040"/>
          </a:xfrm>
          <a:prstGeom prst="rect">
            <a:avLst/>
          </a:prstGeom>
          <a:noFill/>
          <a:ln w="0">
            <a:noFill/>
          </a:ln>
        </p:spPr>
      </p:pic>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384"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385"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386"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Your Turn: Trace Uniform-Cost Search</a:t>
            </a:r>
            <a:endParaRPr lang="en-US" sz="2600" b="0" u="none" strike="noStrike">
              <a:solidFill>
                <a:srgbClr val="000000"/>
              </a:solidFill>
              <a:effectLst/>
              <a:uFillTx/>
              <a:latin typeface="Arial"/>
            </a:endParaRPr>
          </a:p>
        </p:txBody>
      </p:sp>
      <p:sp>
        <p:nvSpPr>
          <p:cNvPr id="1387"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88"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cxnSp>
        <p:nvCxnSpPr>
          <p:cNvPr id="1389" name="Connector 6"/>
          <p:cNvCxnSpPr/>
          <p:nvPr/>
        </p:nvCxnSpPr>
        <p:spPr>
          <a:xfrm flipV="1">
            <a:off x="1371600" y="2286000"/>
            <a:ext cx="1601640" cy="915840"/>
          </a:xfrm>
          <a:prstGeom prst="straightConnector1">
            <a:avLst/>
          </a:prstGeom>
          <a:ln w="19050">
            <a:solidFill>
              <a:srgbClr val="5C6B80"/>
            </a:solidFill>
            <a:round/>
          </a:ln>
        </p:spPr>
      </p:cxnSp>
      <p:sp>
        <p:nvSpPr>
          <p:cNvPr id="1390" name="Rectangle 7"/>
          <p:cNvSpPr/>
          <p:nvPr/>
        </p:nvSpPr>
        <p:spPr>
          <a:xfrm>
            <a:off x="1943280" y="2537640"/>
            <a:ext cx="455760" cy="27288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391" name="Connector 8"/>
          <p:cNvCxnSpPr/>
          <p:nvPr/>
        </p:nvCxnSpPr>
        <p:spPr>
          <a:xfrm>
            <a:off x="1371600" y="3200400"/>
            <a:ext cx="1601640" cy="915840"/>
          </a:xfrm>
          <a:prstGeom prst="straightConnector1">
            <a:avLst/>
          </a:prstGeom>
          <a:ln w="19050">
            <a:solidFill>
              <a:srgbClr val="5C6B80"/>
            </a:solidFill>
            <a:round/>
          </a:ln>
        </p:spPr>
      </p:cxnSp>
      <p:sp>
        <p:nvSpPr>
          <p:cNvPr id="1392" name="Rectangle 9"/>
          <p:cNvSpPr/>
          <p:nvPr/>
        </p:nvSpPr>
        <p:spPr>
          <a:xfrm>
            <a:off x="1943280" y="3452040"/>
            <a:ext cx="455760" cy="27288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2</a:t>
            </a:r>
            <a:endParaRPr lang="en-US" sz="1300" b="0" u="none" strike="noStrike">
              <a:solidFill>
                <a:srgbClr val="000000"/>
              </a:solidFill>
              <a:effectLst/>
              <a:uFillTx/>
              <a:latin typeface="Arial"/>
            </a:endParaRPr>
          </a:p>
        </p:txBody>
      </p:sp>
      <p:cxnSp>
        <p:nvCxnSpPr>
          <p:cNvPr id="1393" name="Connector 10"/>
          <p:cNvCxnSpPr/>
          <p:nvPr/>
        </p:nvCxnSpPr>
        <p:spPr>
          <a:xfrm>
            <a:off x="2971800" y="2286000"/>
            <a:ext cx="2516040" cy="915840"/>
          </a:xfrm>
          <a:prstGeom prst="straightConnector1">
            <a:avLst/>
          </a:prstGeom>
          <a:ln w="19050">
            <a:solidFill>
              <a:srgbClr val="5C6B80"/>
            </a:solidFill>
            <a:round/>
          </a:ln>
        </p:spPr>
      </p:cxnSp>
      <p:sp>
        <p:nvSpPr>
          <p:cNvPr id="1394" name="Rectangle 11"/>
          <p:cNvSpPr/>
          <p:nvPr/>
        </p:nvSpPr>
        <p:spPr>
          <a:xfrm>
            <a:off x="4000680" y="2537640"/>
            <a:ext cx="455760" cy="27288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8</a:t>
            </a:r>
            <a:endParaRPr lang="en-US" sz="1300" b="0" u="none" strike="noStrike">
              <a:solidFill>
                <a:srgbClr val="000000"/>
              </a:solidFill>
              <a:effectLst/>
              <a:uFillTx/>
              <a:latin typeface="Arial"/>
            </a:endParaRPr>
          </a:p>
        </p:txBody>
      </p:sp>
      <p:cxnSp>
        <p:nvCxnSpPr>
          <p:cNvPr id="1395" name="Connector 12"/>
          <p:cNvCxnSpPr/>
          <p:nvPr/>
        </p:nvCxnSpPr>
        <p:spPr>
          <a:xfrm>
            <a:off x="2971800" y="4114800"/>
            <a:ext cx="1373040" cy="1440"/>
          </a:xfrm>
          <a:prstGeom prst="straightConnector1">
            <a:avLst/>
          </a:prstGeom>
          <a:ln w="19050">
            <a:solidFill>
              <a:srgbClr val="5C6B80"/>
            </a:solidFill>
            <a:round/>
          </a:ln>
        </p:spPr>
      </p:cxnSp>
      <p:sp>
        <p:nvSpPr>
          <p:cNvPr id="1396" name="Rectangle 13"/>
          <p:cNvSpPr/>
          <p:nvPr/>
        </p:nvSpPr>
        <p:spPr>
          <a:xfrm>
            <a:off x="3429000" y="3909240"/>
            <a:ext cx="455760" cy="27288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397" name="Connector 14"/>
          <p:cNvCxnSpPr/>
          <p:nvPr/>
        </p:nvCxnSpPr>
        <p:spPr>
          <a:xfrm flipV="1">
            <a:off x="4343400" y="3200400"/>
            <a:ext cx="1144440" cy="915840"/>
          </a:xfrm>
          <a:prstGeom prst="straightConnector1">
            <a:avLst/>
          </a:prstGeom>
          <a:ln w="19050">
            <a:solidFill>
              <a:srgbClr val="5C6B80"/>
            </a:solidFill>
            <a:round/>
          </a:ln>
        </p:spPr>
      </p:cxnSp>
      <p:sp>
        <p:nvSpPr>
          <p:cNvPr id="1398" name="Rectangle 15"/>
          <p:cNvSpPr/>
          <p:nvPr/>
        </p:nvSpPr>
        <p:spPr>
          <a:xfrm>
            <a:off x="4686480" y="3452040"/>
            <a:ext cx="455760" cy="27288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3</a:t>
            </a:r>
            <a:endParaRPr lang="en-US" sz="1300" b="0" u="none" strike="noStrike">
              <a:solidFill>
                <a:srgbClr val="000000"/>
              </a:solidFill>
              <a:effectLst/>
              <a:uFillTx/>
              <a:latin typeface="Arial"/>
            </a:endParaRPr>
          </a:p>
        </p:txBody>
      </p:sp>
      <p:sp>
        <p:nvSpPr>
          <p:cNvPr id="1399" name="Oval 16"/>
          <p:cNvSpPr/>
          <p:nvPr/>
        </p:nvSpPr>
        <p:spPr>
          <a:xfrm>
            <a:off x="1074600" y="2903400"/>
            <a:ext cx="592920" cy="59292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1400" name="Oval 17"/>
          <p:cNvSpPr/>
          <p:nvPr/>
        </p:nvSpPr>
        <p:spPr>
          <a:xfrm>
            <a:off x="2674800" y="1989000"/>
            <a:ext cx="592920" cy="59292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1401" name="Oval 18"/>
          <p:cNvSpPr/>
          <p:nvPr/>
        </p:nvSpPr>
        <p:spPr>
          <a:xfrm>
            <a:off x="2674800" y="3817800"/>
            <a:ext cx="592920" cy="59292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1402" name="Oval 19"/>
          <p:cNvSpPr/>
          <p:nvPr/>
        </p:nvSpPr>
        <p:spPr>
          <a:xfrm>
            <a:off x="4046400" y="3817800"/>
            <a:ext cx="592920" cy="59292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C</a:t>
            </a:r>
            <a:endParaRPr lang="en-US" sz="1500" b="0" u="none" strike="noStrike">
              <a:solidFill>
                <a:srgbClr val="000000"/>
              </a:solidFill>
              <a:effectLst/>
              <a:uFillTx/>
              <a:latin typeface="Arial"/>
            </a:endParaRPr>
          </a:p>
        </p:txBody>
      </p:sp>
      <p:sp>
        <p:nvSpPr>
          <p:cNvPr id="1403" name="Oval 20"/>
          <p:cNvSpPr/>
          <p:nvPr/>
        </p:nvSpPr>
        <p:spPr>
          <a:xfrm>
            <a:off x="5189400" y="2903400"/>
            <a:ext cx="592920" cy="59292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1404" name="Rectangle 21"/>
          <p:cNvSpPr/>
          <p:nvPr/>
        </p:nvSpPr>
        <p:spPr>
          <a:xfrm>
            <a:off x="777240" y="4846320"/>
            <a:ext cx="479916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200" b="0" u="none" strike="noStrike">
                <a:solidFill>
                  <a:srgbClr val="5C6B80"/>
                </a:solidFill>
                <a:effectLst/>
                <a:uFillTx/>
                <a:latin typeface="Aptos"/>
              </a:rPr>
              <a:t>Edge labels are action costs. Start at S, goal is G.</a:t>
            </a:r>
            <a:endParaRPr lang="en-US" sz="1200" b="0" u="none" strike="noStrike">
              <a:solidFill>
                <a:srgbClr val="000000"/>
              </a:solidFill>
              <a:effectLst/>
              <a:uFillTx/>
              <a:latin typeface="Arial"/>
            </a:endParaRPr>
          </a:p>
        </p:txBody>
      </p:sp>
      <p:sp>
        <p:nvSpPr>
          <p:cNvPr id="1405" name="Rectangle 22"/>
          <p:cNvSpPr/>
          <p:nvPr/>
        </p:nvSpPr>
        <p:spPr>
          <a:xfrm>
            <a:off x="6385680" y="1417320"/>
            <a:ext cx="638640" cy="3643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Pop #</a:t>
            </a:r>
            <a:endParaRPr lang="en-US" sz="1200" b="0" u="none" strike="noStrike">
              <a:solidFill>
                <a:srgbClr val="FFFFFF"/>
              </a:solidFill>
              <a:effectLst/>
              <a:uFillTx/>
              <a:latin typeface="Arial"/>
            </a:endParaRPr>
          </a:p>
        </p:txBody>
      </p:sp>
      <p:sp>
        <p:nvSpPr>
          <p:cNvPr id="1406" name="Rectangle 23"/>
          <p:cNvSpPr/>
          <p:nvPr/>
        </p:nvSpPr>
        <p:spPr>
          <a:xfrm>
            <a:off x="7025760" y="1417320"/>
            <a:ext cx="1553040" cy="3643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Node popped (g)</a:t>
            </a:r>
            <a:endParaRPr lang="en-US" sz="1200" b="0" u="none" strike="noStrike">
              <a:solidFill>
                <a:srgbClr val="FFFFFF"/>
              </a:solidFill>
              <a:effectLst/>
              <a:uFillTx/>
              <a:latin typeface="Arial"/>
            </a:endParaRPr>
          </a:p>
        </p:txBody>
      </p:sp>
      <p:sp>
        <p:nvSpPr>
          <p:cNvPr id="1407" name="Rectangle 24"/>
          <p:cNvSpPr/>
          <p:nvPr/>
        </p:nvSpPr>
        <p:spPr>
          <a:xfrm>
            <a:off x="8580240" y="1417320"/>
            <a:ext cx="2833200" cy="3643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Frontier afterwards</a:t>
            </a:r>
            <a:endParaRPr lang="en-US" sz="1200" b="0" u="none" strike="noStrike">
              <a:solidFill>
                <a:srgbClr val="FFFFFF"/>
              </a:solidFill>
              <a:effectLst/>
              <a:uFillTx/>
              <a:latin typeface="Arial"/>
            </a:endParaRPr>
          </a:p>
        </p:txBody>
      </p:sp>
      <p:sp>
        <p:nvSpPr>
          <p:cNvPr id="1408" name="Rectangle 25"/>
          <p:cNvSpPr/>
          <p:nvPr/>
        </p:nvSpPr>
        <p:spPr>
          <a:xfrm>
            <a:off x="6385680" y="1783080"/>
            <a:ext cx="6386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1</a:t>
            </a:r>
            <a:endParaRPr lang="en-US" sz="1200" b="0" u="none" strike="noStrike">
              <a:solidFill>
                <a:srgbClr val="000000"/>
              </a:solidFill>
              <a:effectLst/>
              <a:uFillTx/>
              <a:latin typeface="Arial"/>
            </a:endParaRPr>
          </a:p>
        </p:txBody>
      </p:sp>
      <p:sp>
        <p:nvSpPr>
          <p:cNvPr id="1409" name="Rectangle 26"/>
          <p:cNvSpPr/>
          <p:nvPr/>
        </p:nvSpPr>
        <p:spPr>
          <a:xfrm>
            <a:off x="7025760" y="1783080"/>
            <a:ext cx="15530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10" name="Rectangle 27"/>
          <p:cNvSpPr/>
          <p:nvPr/>
        </p:nvSpPr>
        <p:spPr>
          <a:xfrm>
            <a:off x="8580240" y="1783080"/>
            <a:ext cx="283320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11" name="Rectangle 28"/>
          <p:cNvSpPr/>
          <p:nvPr/>
        </p:nvSpPr>
        <p:spPr>
          <a:xfrm>
            <a:off x="6385680" y="2194560"/>
            <a:ext cx="6386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2</a:t>
            </a:r>
            <a:endParaRPr lang="en-US" sz="1200" b="0" u="none" strike="noStrike">
              <a:solidFill>
                <a:srgbClr val="000000"/>
              </a:solidFill>
              <a:effectLst/>
              <a:uFillTx/>
              <a:latin typeface="Arial"/>
            </a:endParaRPr>
          </a:p>
        </p:txBody>
      </p:sp>
      <p:sp>
        <p:nvSpPr>
          <p:cNvPr id="1412" name="Rectangle 29"/>
          <p:cNvSpPr/>
          <p:nvPr/>
        </p:nvSpPr>
        <p:spPr>
          <a:xfrm>
            <a:off x="7025760" y="2194560"/>
            <a:ext cx="15530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13" name="Rectangle 30"/>
          <p:cNvSpPr/>
          <p:nvPr/>
        </p:nvSpPr>
        <p:spPr>
          <a:xfrm>
            <a:off x="8580240" y="2194560"/>
            <a:ext cx="283320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14" name="Rectangle 31"/>
          <p:cNvSpPr/>
          <p:nvPr/>
        </p:nvSpPr>
        <p:spPr>
          <a:xfrm>
            <a:off x="6385680" y="2606040"/>
            <a:ext cx="6386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3</a:t>
            </a:r>
            <a:endParaRPr lang="en-US" sz="1200" b="0" u="none" strike="noStrike">
              <a:solidFill>
                <a:srgbClr val="000000"/>
              </a:solidFill>
              <a:effectLst/>
              <a:uFillTx/>
              <a:latin typeface="Arial"/>
            </a:endParaRPr>
          </a:p>
        </p:txBody>
      </p:sp>
      <p:sp>
        <p:nvSpPr>
          <p:cNvPr id="1415" name="Rectangle 32"/>
          <p:cNvSpPr/>
          <p:nvPr/>
        </p:nvSpPr>
        <p:spPr>
          <a:xfrm>
            <a:off x="7025760" y="2606040"/>
            <a:ext cx="15530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16" name="Rectangle 33"/>
          <p:cNvSpPr/>
          <p:nvPr/>
        </p:nvSpPr>
        <p:spPr>
          <a:xfrm>
            <a:off x="8580240" y="2606040"/>
            <a:ext cx="283320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17" name="Rectangle 34"/>
          <p:cNvSpPr/>
          <p:nvPr/>
        </p:nvSpPr>
        <p:spPr>
          <a:xfrm>
            <a:off x="6385680" y="3017520"/>
            <a:ext cx="6386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4</a:t>
            </a:r>
            <a:endParaRPr lang="en-US" sz="1200" b="0" u="none" strike="noStrike">
              <a:solidFill>
                <a:srgbClr val="000000"/>
              </a:solidFill>
              <a:effectLst/>
              <a:uFillTx/>
              <a:latin typeface="Arial"/>
            </a:endParaRPr>
          </a:p>
        </p:txBody>
      </p:sp>
      <p:sp>
        <p:nvSpPr>
          <p:cNvPr id="1418" name="Rectangle 35"/>
          <p:cNvSpPr/>
          <p:nvPr/>
        </p:nvSpPr>
        <p:spPr>
          <a:xfrm>
            <a:off x="7025760" y="3017520"/>
            <a:ext cx="15530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19" name="Rectangle 36"/>
          <p:cNvSpPr/>
          <p:nvPr/>
        </p:nvSpPr>
        <p:spPr>
          <a:xfrm>
            <a:off x="8580240" y="3017520"/>
            <a:ext cx="283320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20" name="Rectangle 37"/>
          <p:cNvSpPr/>
          <p:nvPr/>
        </p:nvSpPr>
        <p:spPr>
          <a:xfrm>
            <a:off x="6385680" y="3429000"/>
            <a:ext cx="6386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5C6B80"/>
                </a:solidFill>
                <a:effectLst/>
                <a:uFillTx/>
                <a:latin typeface="Aptos"/>
              </a:rPr>
              <a:t>5</a:t>
            </a:r>
            <a:endParaRPr lang="en-US" sz="1200" b="0" u="none" strike="noStrike">
              <a:solidFill>
                <a:srgbClr val="000000"/>
              </a:solidFill>
              <a:effectLst/>
              <a:uFillTx/>
              <a:latin typeface="Arial"/>
            </a:endParaRPr>
          </a:p>
        </p:txBody>
      </p:sp>
      <p:sp>
        <p:nvSpPr>
          <p:cNvPr id="1421" name="Rectangle 38"/>
          <p:cNvSpPr/>
          <p:nvPr/>
        </p:nvSpPr>
        <p:spPr>
          <a:xfrm>
            <a:off x="7025760" y="3429000"/>
            <a:ext cx="15530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22" name="Rectangle 39"/>
          <p:cNvSpPr/>
          <p:nvPr/>
        </p:nvSpPr>
        <p:spPr>
          <a:xfrm>
            <a:off x="8580240" y="3429000"/>
            <a:ext cx="283320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23" name="Rectangle 40"/>
          <p:cNvSpPr/>
          <p:nvPr/>
        </p:nvSpPr>
        <p:spPr>
          <a:xfrm>
            <a:off x="6385680" y="4160520"/>
            <a:ext cx="50277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350" b="1" u="none" strike="noStrike">
                <a:solidFill>
                  <a:srgbClr val="112E5C"/>
                </a:solidFill>
                <a:effectLst/>
                <a:uFillTx/>
                <a:latin typeface="Aptos"/>
              </a:rPr>
              <a:t>Which node is returned, at what cost, and on which pop?</a:t>
            </a:r>
            <a:endParaRPr lang="en-US" sz="1350" b="0" u="none" strike="noStrike">
              <a:solidFill>
                <a:srgbClr val="000000"/>
              </a:solidFill>
              <a:effectLst/>
              <a:uFillTx/>
              <a:latin typeface="Arial"/>
            </a:endParaRPr>
          </a:p>
        </p:txBody>
      </p:sp>
      <p:sp>
        <p:nvSpPr>
          <p:cNvPr id="1424" name="Rectangle 41"/>
          <p:cNvSpPr/>
          <p:nvPr/>
        </p:nvSpPr>
        <p:spPr>
          <a:xfrm>
            <a:off x="914400" y="525780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Remember: the goal test happens when a node is popped, not when it is generated.</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425"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26"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27"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Your Turn: The Trace, Worked</a:t>
            </a:r>
            <a:endParaRPr lang="en-US" sz="2600" b="0" u="none" strike="noStrike">
              <a:solidFill>
                <a:srgbClr val="000000"/>
              </a:solidFill>
              <a:effectLst/>
              <a:uFillTx/>
              <a:latin typeface="Arial"/>
            </a:endParaRPr>
          </a:p>
        </p:txBody>
      </p:sp>
      <p:sp>
        <p:nvSpPr>
          <p:cNvPr id="1428"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29"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cxnSp>
        <p:nvCxnSpPr>
          <p:cNvPr id="1430" name="Connector 6"/>
          <p:cNvCxnSpPr/>
          <p:nvPr/>
        </p:nvCxnSpPr>
        <p:spPr>
          <a:xfrm flipV="1">
            <a:off x="1371600" y="2286000"/>
            <a:ext cx="1601640" cy="915840"/>
          </a:xfrm>
          <a:prstGeom prst="straightConnector1">
            <a:avLst/>
          </a:prstGeom>
          <a:ln w="19050">
            <a:solidFill>
              <a:srgbClr val="5C6B80"/>
            </a:solidFill>
            <a:round/>
          </a:ln>
        </p:spPr>
      </p:cxnSp>
      <p:sp>
        <p:nvSpPr>
          <p:cNvPr id="1431" name="Rectangle 7"/>
          <p:cNvSpPr/>
          <p:nvPr/>
        </p:nvSpPr>
        <p:spPr>
          <a:xfrm>
            <a:off x="1943280" y="2537640"/>
            <a:ext cx="455760" cy="27288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432" name="Connector 8"/>
          <p:cNvCxnSpPr/>
          <p:nvPr/>
        </p:nvCxnSpPr>
        <p:spPr>
          <a:xfrm>
            <a:off x="1371600" y="3200400"/>
            <a:ext cx="1601640" cy="915840"/>
          </a:xfrm>
          <a:prstGeom prst="straightConnector1">
            <a:avLst/>
          </a:prstGeom>
          <a:ln w="19050">
            <a:solidFill>
              <a:srgbClr val="5C6B80"/>
            </a:solidFill>
            <a:round/>
          </a:ln>
        </p:spPr>
      </p:cxnSp>
      <p:sp>
        <p:nvSpPr>
          <p:cNvPr id="1433" name="Rectangle 9"/>
          <p:cNvSpPr/>
          <p:nvPr/>
        </p:nvSpPr>
        <p:spPr>
          <a:xfrm>
            <a:off x="1943280" y="3452040"/>
            <a:ext cx="455760" cy="27288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2</a:t>
            </a:r>
            <a:endParaRPr lang="en-US" sz="1300" b="0" u="none" strike="noStrike">
              <a:solidFill>
                <a:srgbClr val="000000"/>
              </a:solidFill>
              <a:effectLst/>
              <a:uFillTx/>
              <a:latin typeface="Arial"/>
            </a:endParaRPr>
          </a:p>
        </p:txBody>
      </p:sp>
      <p:cxnSp>
        <p:nvCxnSpPr>
          <p:cNvPr id="1434" name="Connector 10"/>
          <p:cNvCxnSpPr/>
          <p:nvPr/>
        </p:nvCxnSpPr>
        <p:spPr>
          <a:xfrm>
            <a:off x="2971800" y="2286000"/>
            <a:ext cx="2516040" cy="915840"/>
          </a:xfrm>
          <a:prstGeom prst="straightConnector1">
            <a:avLst/>
          </a:prstGeom>
          <a:ln w="19050">
            <a:solidFill>
              <a:srgbClr val="5C6B80"/>
            </a:solidFill>
            <a:round/>
          </a:ln>
        </p:spPr>
      </p:cxnSp>
      <p:sp>
        <p:nvSpPr>
          <p:cNvPr id="1435" name="Rectangle 11"/>
          <p:cNvSpPr/>
          <p:nvPr/>
        </p:nvSpPr>
        <p:spPr>
          <a:xfrm>
            <a:off x="4000680" y="2537640"/>
            <a:ext cx="455760" cy="27288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8</a:t>
            </a:r>
            <a:endParaRPr lang="en-US" sz="1300" b="0" u="none" strike="noStrike">
              <a:solidFill>
                <a:srgbClr val="000000"/>
              </a:solidFill>
              <a:effectLst/>
              <a:uFillTx/>
              <a:latin typeface="Arial"/>
            </a:endParaRPr>
          </a:p>
        </p:txBody>
      </p:sp>
      <p:cxnSp>
        <p:nvCxnSpPr>
          <p:cNvPr id="1436" name="Connector 12"/>
          <p:cNvCxnSpPr/>
          <p:nvPr/>
        </p:nvCxnSpPr>
        <p:spPr>
          <a:xfrm>
            <a:off x="2971800" y="4114800"/>
            <a:ext cx="1373040" cy="1440"/>
          </a:xfrm>
          <a:prstGeom prst="straightConnector1">
            <a:avLst/>
          </a:prstGeom>
          <a:ln w="19050">
            <a:solidFill>
              <a:srgbClr val="5C6B80"/>
            </a:solidFill>
            <a:round/>
          </a:ln>
        </p:spPr>
      </p:cxnSp>
      <p:sp>
        <p:nvSpPr>
          <p:cNvPr id="1437" name="Rectangle 13"/>
          <p:cNvSpPr/>
          <p:nvPr/>
        </p:nvSpPr>
        <p:spPr>
          <a:xfrm>
            <a:off x="3429000" y="3909240"/>
            <a:ext cx="455760" cy="27288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438" name="Connector 14"/>
          <p:cNvCxnSpPr/>
          <p:nvPr/>
        </p:nvCxnSpPr>
        <p:spPr>
          <a:xfrm flipV="1">
            <a:off x="4343400" y="3200400"/>
            <a:ext cx="1144440" cy="915840"/>
          </a:xfrm>
          <a:prstGeom prst="straightConnector1">
            <a:avLst/>
          </a:prstGeom>
          <a:ln w="19050">
            <a:solidFill>
              <a:srgbClr val="5C6B80"/>
            </a:solidFill>
            <a:round/>
          </a:ln>
        </p:spPr>
      </p:cxnSp>
      <p:sp>
        <p:nvSpPr>
          <p:cNvPr id="1439" name="Rectangle 15"/>
          <p:cNvSpPr/>
          <p:nvPr/>
        </p:nvSpPr>
        <p:spPr>
          <a:xfrm>
            <a:off x="4686480" y="3452040"/>
            <a:ext cx="455760" cy="27288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300" b="1" u="none" strike="noStrike">
                <a:solidFill>
                  <a:srgbClr val="9B1C1C"/>
                </a:solidFill>
                <a:effectLst/>
                <a:uFillTx/>
                <a:latin typeface="Aptos"/>
              </a:rPr>
              <a:t>3</a:t>
            </a:r>
            <a:endParaRPr lang="en-US" sz="1300" b="0" u="none" strike="noStrike">
              <a:solidFill>
                <a:srgbClr val="000000"/>
              </a:solidFill>
              <a:effectLst/>
              <a:uFillTx/>
              <a:latin typeface="Arial"/>
            </a:endParaRPr>
          </a:p>
        </p:txBody>
      </p:sp>
      <p:sp>
        <p:nvSpPr>
          <p:cNvPr id="1440" name="Oval 16"/>
          <p:cNvSpPr/>
          <p:nvPr/>
        </p:nvSpPr>
        <p:spPr>
          <a:xfrm>
            <a:off x="1074600" y="2903400"/>
            <a:ext cx="592920" cy="59292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1441" name="Oval 17"/>
          <p:cNvSpPr/>
          <p:nvPr/>
        </p:nvSpPr>
        <p:spPr>
          <a:xfrm>
            <a:off x="2674800" y="1989000"/>
            <a:ext cx="592920" cy="59292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1442" name="Oval 18"/>
          <p:cNvSpPr/>
          <p:nvPr/>
        </p:nvSpPr>
        <p:spPr>
          <a:xfrm>
            <a:off x="2674800" y="3817800"/>
            <a:ext cx="592920" cy="59292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1443" name="Oval 19"/>
          <p:cNvSpPr/>
          <p:nvPr/>
        </p:nvSpPr>
        <p:spPr>
          <a:xfrm>
            <a:off x="4046400" y="3817800"/>
            <a:ext cx="592920" cy="59292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C</a:t>
            </a:r>
            <a:endParaRPr lang="en-US" sz="1500" b="0" u="none" strike="noStrike">
              <a:solidFill>
                <a:srgbClr val="000000"/>
              </a:solidFill>
              <a:effectLst/>
              <a:uFillTx/>
              <a:latin typeface="Arial"/>
            </a:endParaRPr>
          </a:p>
        </p:txBody>
      </p:sp>
      <p:sp>
        <p:nvSpPr>
          <p:cNvPr id="1444" name="Oval 20"/>
          <p:cNvSpPr/>
          <p:nvPr/>
        </p:nvSpPr>
        <p:spPr>
          <a:xfrm>
            <a:off x="5189400" y="2903400"/>
            <a:ext cx="592920" cy="59292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1445" name="Rectangle 21"/>
          <p:cNvSpPr/>
          <p:nvPr/>
        </p:nvSpPr>
        <p:spPr>
          <a:xfrm>
            <a:off x="6385680" y="1417320"/>
            <a:ext cx="638640" cy="3643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Pop #</a:t>
            </a:r>
            <a:endParaRPr lang="en-US" sz="1200" b="0" u="none" strike="noStrike">
              <a:solidFill>
                <a:srgbClr val="FFFFFF"/>
              </a:solidFill>
              <a:effectLst/>
              <a:uFillTx/>
              <a:latin typeface="Arial"/>
            </a:endParaRPr>
          </a:p>
        </p:txBody>
      </p:sp>
      <p:sp>
        <p:nvSpPr>
          <p:cNvPr id="1446" name="Rectangle 22"/>
          <p:cNvSpPr/>
          <p:nvPr/>
        </p:nvSpPr>
        <p:spPr>
          <a:xfrm>
            <a:off x="7025760" y="1417320"/>
            <a:ext cx="1553040" cy="3643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Node popped (g)</a:t>
            </a:r>
            <a:endParaRPr lang="en-US" sz="1200" b="0" u="none" strike="noStrike">
              <a:solidFill>
                <a:srgbClr val="FFFFFF"/>
              </a:solidFill>
              <a:effectLst/>
              <a:uFillTx/>
              <a:latin typeface="Arial"/>
            </a:endParaRPr>
          </a:p>
        </p:txBody>
      </p:sp>
      <p:sp>
        <p:nvSpPr>
          <p:cNvPr id="1447" name="Rectangle 23"/>
          <p:cNvSpPr/>
          <p:nvPr/>
        </p:nvSpPr>
        <p:spPr>
          <a:xfrm>
            <a:off x="8580240" y="1417320"/>
            <a:ext cx="2833200" cy="3643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FFFFFF"/>
                </a:solidFill>
                <a:effectLst/>
                <a:uFillTx/>
                <a:latin typeface="Aptos"/>
              </a:rPr>
              <a:t>Frontier afterwards</a:t>
            </a:r>
            <a:endParaRPr lang="en-US" sz="1200" b="0" u="none" strike="noStrike">
              <a:solidFill>
                <a:srgbClr val="FFFFFF"/>
              </a:solidFill>
              <a:effectLst/>
              <a:uFillTx/>
              <a:latin typeface="Arial"/>
            </a:endParaRPr>
          </a:p>
        </p:txBody>
      </p:sp>
      <p:sp>
        <p:nvSpPr>
          <p:cNvPr id="1448" name="Rectangle 24"/>
          <p:cNvSpPr/>
          <p:nvPr/>
        </p:nvSpPr>
        <p:spPr>
          <a:xfrm>
            <a:off x="6385680" y="1783080"/>
            <a:ext cx="6386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102A4C"/>
                </a:solidFill>
                <a:effectLst/>
                <a:uFillTx/>
                <a:latin typeface="Aptos"/>
              </a:rPr>
              <a:t>1</a:t>
            </a:r>
            <a:endParaRPr lang="en-US" sz="1200" b="0" u="none" strike="noStrike">
              <a:solidFill>
                <a:srgbClr val="000000"/>
              </a:solidFill>
              <a:effectLst/>
              <a:uFillTx/>
              <a:latin typeface="Arial"/>
            </a:endParaRPr>
          </a:p>
        </p:txBody>
      </p:sp>
      <p:sp>
        <p:nvSpPr>
          <p:cNvPr id="1449" name="Rectangle 25"/>
          <p:cNvSpPr/>
          <p:nvPr/>
        </p:nvSpPr>
        <p:spPr>
          <a:xfrm>
            <a:off x="7025760" y="1783080"/>
            <a:ext cx="15530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S (0)</a:t>
            </a:r>
            <a:endParaRPr lang="en-US" sz="1200" b="0" u="none" strike="noStrike">
              <a:solidFill>
                <a:srgbClr val="000000"/>
              </a:solidFill>
              <a:effectLst/>
              <a:uFillTx/>
              <a:latin typeface="Arial"/>
            </a:endParaRPr>
          </a:p>
        </p:txBody>
      </p:sp>
      <p:sp>
        <p:nvSpPr>
          <p:cNvPr id="1450" name="Rectangle 26"/>
          <p:cNvSpPr/>
          <p:nvPr/>
        </p:nvSpPr>
        <p:spPr>
          <a:xfrm>
            <a:off x="8580240" y="1783080"/>
            <a:ext cx="283320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A(1), B(2)</a:t>
            </a:r>
            <a:endParaRPr lang="en-US" sz="1200" b="0" u="none" strike="noStrike">
              <a:solidFill>
                <a:srgbClr val="000000"/>
              </a:solidFill>
              <a:effectLst/>
              <a:uFillTx/>
              <a:latin typeface="Arial"/>
            </a:endParaRPr>
          </a:p>
        </p:txBody>
      </p:sp>
      <p:sp>
        <p:nvSpPr>
          <p:cNvPr id="1451" name="Rectangle 27"/>
          <p:cNvSpPr/>
          <p:nvPr/>
        </p:nvSpPr>
        <p:spPr>
          <a:xfrm>
            <a:off x="6385680" y="2194560"/>
            <a:ext cx="6386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102A4C"/>
                </a:solidFill>
                <a:effectLst/>
                <a:uFillTx/>
                <a:latin typeface="Aptos"/>
              </a:rPr>
              <a:t>2</a:t>
            </a:r>
            <a:endParaRPr lang="en-US" sz="1200" b="0" u="none" strike="noStrike">
              <a:solidFill>
                <a:srgbClr val="000000"/>
              </a:solidFill>
              <a:effectLst/>
              <a:uFillTx/>
              <a:latin typeface="Arial"/>
            </a:endParaRPr>
          </a:p>
        </p:txBody>
      </p:sp>
      <p:sp>
        <p:nvSpPr>
          <p:cNvPr id="1452" name="Rectangle 28"/>
          <p:cNvSpPr/>
          <p:nvPr/>
        </p:nvSpPr>
        <p:spPr>
          <a:xfrm>
            <a:off x="7025760" y="2194560"/>
            <a:ext cx="15530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A (1)</a:t>
            </a:r>
            <a:endParaRPr lang="en-US" sz="1200" b="0" u="none" strike="noStrike">
              <a:solidFill>
                <a:srgbClr val="000000"/>
              </a:solidFill>
              <a:effectLst/>
              <a:uFillTx/>
              <a:latin typeface="Arial"/>
            </a:endParaRPr>
          </a:p>
        </p:txBody>
      </p:sp>
      <p:sp>
        <p:nvSpPr>
          <p:cNvPr id="1453" name="Rectangle 29"/>
          <p:cNvSpPr/>
          <p:nvPr/>
        </p:nvSpPr>
        <p:spPr>
          <a:xfrm>
            <a:off x="8580240" y="2194560"/>
            <a:ext cx="283320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B(2), G(9)</a:t>
            </a:r>
            <a:endParaRPr lang="en-US" sz="1200" b="0" u="none" strike="noStrike">
              <a:solidFill>
                <a:srgbClr val="000000"/>
              </a:solidFill>
              <a:effectLst/>
              <a:uFillTx/>
              <a:latin typeface="Arial"/>
            </a:endParaRPr>
          </a:p>
        </p:txBody>
      </p:sp>
      <p:sp>
        <p:nvSpPr>
          <p:cNvPr id="1454" name="Rectangle 30"/>
          <p:cNvSpPr/>
          <p:nvPr/>
        </p:nvSpPr>
        <p:spPr>
          <a:xfrm>
            <a:off x="6385680" y="2606040"/>
            <a:ext cx="6386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102A4C"/>
                </a:solidFill>
                <a:effectLst/>
                <a:uFillTx/>
                <a:latin typeface="Aptos"/>
              </a:rPr>
              <a:t>3</a:t>
            </a:r>
            <a:endParaRPr lang="en-US" sz="1200" b="0" u="none" strike="noStrike">
              <a:solidFill>
                <a:srgbClr val="000000"/>
              </a:solidFill>
              <a:effectLst/>
              <a:uFillTx/>
              <a:latin typeface="Arial"/>
            </a:endParaRPr>
          </a:p>
        </p:txBody>
      </p:sp>
      <p:sp>
        <p:nvSpPr>
          <p:cNvPr id="1455" name="Rectangle 31"/>
          <p:cNvSpPr/>
          <p:nvPr/>
        </p:nvSpPr>
        <p:spPr>
          <a:xfrm>
            <a:off x="7025760" y="2606040"/>
            <a:ext cx="15530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B (2)</a:t>
            </a:r>
            <a:endParaRPr lang="en-US" sz="1200" b="0" u="none" strike="noStrike">
              <a:solidFill>
                <a:srgbClr val="000000"/>
              </a:solidFill>
              <a:effectLst/>
              <a:uFillTx/>
              <a:latin typeface="Arial"/>
            </a:endParaRPr>
          </a:p>
        </p:txBody>
      </p:sp>
      <p:sp>
        <p:nvSpPr>
          <p:cNvPr id="1456" name="Rectangle 32"/>
          <p:cNvSpPr/>
          <p:nvPr/>
        </p:nvSpPr>
        <p:spPr>
          <a:xfrm>
            <a:off x="8580240" y="2606040"/>
            <a:ext cx="283320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C(3), G(9)</a:t>
            </a:r>
            <a:endParaRPr lang="en-US" sz="1200" b="0" u="none" strike="noStrike">
              <a:solidFill>
                <a:srgbClr val="000000"/>
              </a:solidFill>
              <a:effectLst/>
              <a:uFillTx/>
              <a:latin typeface="Arial"/>
            </a:endParaRPr>
          </a:p>
        </p:txBody>
      </p:sp>
      <p:sp>
        <p:nvSpPr>
          <p:cNvPr id="1457" name="Rectangle 33"/>
          <p:cNvSpPr/>
          <p:nvPr/>
        </p:nvSpPr>
        <p:spPr>
          <a:xfrm>
            <a:off x="6385680" y="3017520"/>
            <a:ext cx="6386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0" u="none" strike="noStrike">
                <a:solidFill>
                  <a:srgbClr val="102A4C"/>
                </a:solidFill>
                <a:effectLst/>
                <a:uFillTx/>
                <a:latin typeface="Aptos"/>
              </a:rPr>
              <a:t>4</a:t>
            </a:r>
            <a:endParaRPr lang="en-US" sz="1200" b="0" u="none" strike="noStrike">
              <a:solidFill>
                <a:srgbClr val="000000"/>
              </a:solidFill>
              <a:effectLst/>
              <a:uFillTx/>
              <a:latin typeface="Arial"/>
            </a:endParaRPr>
          </a:p>
        </p:txBody>
      </p:sp>
      <p:sp>
        <p:nvSpPr>
          <p:cNvPr id="1458" name="Rectangle 34"/>
          <p:cNvSpPr/>
          <p:nvPr/>
        </p:nvSpPr>
        <p:spPr>
          <a:xfrm>
            <a:off x="7025760" y="3017520"/>
            <a:ext cx="155304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C (3)</a:t>
            </a:r>
            <a:endParaRPr lang="en-US" sz="1200" b="0" u="none" strike="noStrike">
              <a:solidFill>
                <a:srgbClr val="000000"/>
              </a:solidFill>
              <a:effectLst/>
              <a:uFillTx/>
              <a:latin typeface="Arial"/>
            </a:endParaRPr>
          </a:p>
        </p:txBody>
      </p:sp>
      <p:sp>
        <p:nvSpPr>
          <p:cNvPr id="1459" name="Rectangle 35"/>
          <p:cNvSpPr/>
          <p:nvPr/>
        </p:nvSpPr>
        <p:spPr>
          <a:xfrm>
            <a:off x="8580240" y="3017520"/>
            <a:ext cx="2833200" cy="41004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0" u="none" strike="noStrike">
                <a:solidFill>
                  <a:srgbClr val="102A4C"/>
                </a:solidFill>
                <a:effectLst/>
                <a:uFillTx/>
                <a:latin typeface="Aptos"/>
              </a:rPr>
              <a:t>G(6)</a:t>
            </a:r>
            <a:endParaRPr lang="en-US" sz="1200" b="0" u="none" strike="noStrike">
              <a:solidFill>
                <a:srgbClr val="000000"/>
              </a:solidFill>
              <a:effectLst/>
              <a:uFillTx/>
              <a:latin typeface="Arial"/>
            </a:endParaRPr>
          </a:p>
        </p:txBody>
      </p:sp>
      <p:sp>
        <p:nvSpPr>
          <p:cNvPr id="1460" name="Rectangle 36"/>
          <p:cNvSpPr/>
          <p:nvPr/>
        </p:nvSpPr>
        <p:spPr>
          <a:xfrm>
            <a:off x="6385680" y="3429000"/>
            <a:ext cx="638640" cy="41004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200" b="1" u="none" strike="noStrike">
                <a:solidFill>
                  <a:srgbClr val="177245"/>
                </a:solidFill>
                <a:effectLst/>
                <a:uFillTx/>
                <a:latin typeface="Aptos"/>
              </a:rPr>
              <a:t>5</a:t>
            </a:r>
            <a:endParaRPr lang="en-US" sz="1200" b="0" u="none" strike="noStrike">
              <a:solidFill>
                <a:srgbClr val="000000"/>
              </a:solidFill>
              <a:effectLst/>
              <a:uFillTx/>
              <a:latin typeface="Arial"/>
            </a:endParaRPr>
          </a:p>
        </p:txBody>
      </p:sp>
      <p:sp>
        <p:nvSpPr>
          <p:cNvPr id="1461" name="Rectangle 37"/>
          <p:cNvSpPr/>
          <p:nvPr/>
        </p:nvSpPr>
        <p:spPr>
          <a:xfrm>
            <a:off x="7025760" y="3429000"/>
            <a:ext cx="1553040" cy="41004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1" u="none" strike="noStrike">
                <a:solidFill>
                  <a:srgbClr val="177245"/>
                </a:solidFill>
                <a:effectLst/>
                <a:uFillTx/>
                <a:latin typeface="Aptos"/>
              </a:rPr>
              <a:t>G (6)</a:t>
            </a:r>
            <a:endParaRPr lang="en-US" sz="1200" b="0" u="none" strike="noStrike">
              <a:solidFill>
                <a:srgbClr val="000000"/>
              </a:solidFill>
              <a:effectLst/>
              <a:uFillTx/>
              <a:latin typeface="Arial"/>
            </a:endParaRPr>
          </a:p>
        </p:txBody>
      </p:sp>
      <p:sp>
        <p:nvSpPr>
          <p:cNvPr id="1462" name="Rectangle 38"/>
          <p:cNvSpPr/>
          <p:nvPr/>
        </p:nvSpPr>
        <p:spPr>
          <a:xfrm>
            <a:off x="8580240" y="3429000"/>
            <a:ext cx="2833200" cy="41004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1200" b="1" u="none" strike="noStrike">
                <a:solidFill>
                  <a:srgbClr val="177245"/>
                </a:solidFill>
                <a:effectLst/>
                <a:uFillTx/>
                <a:latin typeface="Aptos"/>
              </a:rPr>
              <a:t>goal test passes — return</a:t>
            </a:r>
            <a:endParaRPr lang="en-US" sz="1200" b="0" u="none" strike="noStrike">
              <a:solidFill>
                <a:srgbClr val="000000"/>
              </a:solidFill>
              <a:effectLst/>
              <a:uFillTx/>
              <a:latin typeface="Arial"/>
            </a:endParaRPr>
          </a:p>
        </p:txBody>
      </p:sp>
      <p:sp>
        <p:nvSpPr>
          <p:cNvPr id="1463" name="Rectangle 39"/>
          <p:cNvSpPr/>
          <p:nvPr/>
        </p:nvSpPr>
        <p:spPr>
          <a:xfrm>
            <a:off x="6309360" y="3808800"/>
            <a:ext cx="502776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400" b="1" u="none" strike="noStrike">
                <a:solidFill>
                  <a:srgbClr val="112E5C"/>
                </a:solidFill>
                <a:effectLst/>
                <a:uFillTx/>
                <a:latin typeface="Aptos"/>
              </a:rPr>
              <a:t>Returned: S → B → C → G, cost 6, on the fifth pop.</a:t>
            </a:r>
            <a:endParaRPr lang="en-US" sz="1400" b="0" u="none" strike="noStrike">
              <a:solidFill>
                <a:srgbClr val="000000"/>
              </a:solidFill>
              <a:effectLst/>
              <a:uFillTx/>
              <a:latin typeface="Arial"/>
            </a:endParaRPr>
          </a:p>
        </p:txBody>
      </p:sp>
      <p:sp>
        <p:nvSpPr>
          <p:cNvPr id="1464" name="Rectangle 40"/>
          <p:cNvSpPr/>
          <p:nvPr/>
        </p:nvSpPr>
        <p:spPr>
          <a:xfrm>
            <a:off x="914400" y="47548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G was generated on pop 2 at cost 9. Returning it there would have cost you 50 percent more than the optimum.</a:t>
            </a:r>
            <a:endParaRPr lang="en-US" sz="1700" b="0" u="none" strike="noStrike">
              <a:solidFill>
                <a:srgbClr val="000000"/>
              </a:solidFill>
              <a:effectLst/>
              <a:uFillTx/>
              <a:latin typeface="Arial"/>
            </a:endParaRPr>
          </a:p>
        </p:txBody>
      </p:sp>
      <p:sp>
        <p:nvSpPr>
          <p:cNvPr id="1465" name="Rectangle 41"/>
          <p:cNvSpPr/>
          <p:nvPr/>
        </p:nvSpPr>
        <p:spPr>
          <a:xfrm>
            <a:off x="914400" y="530352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On pop 4 the cheaper G(6) replaced G(9) in reached — the re-add rule from the best-first slide, doing real work.</a:t>
            </a:r>
            <a:endParaRPr lang="en-US" sz="1500" b="0" u="none" strike="noStrike">
              <a:solidFill>
                <a:srgbClr val="000000"/>
              </a:solidFill>
              <a:effectLst/>
              <a:uFillTx/>
              <a:latin typeface="Arial"/>
            </a:endParaRPr>
          </a:p>
        </p:txBody>
      </p:sp>
      <p:sp>
        <p:nvSpPr>
          <p:cNvPr id="1466" name="Rectangle 42"/>
          <p:cNvSpPr/>
          <p:nvPr/>
        </p:nvSpPr>
        <p:spPr>
          <a:xfrm>
            <a:off x="914400" y="580644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Both behaviours come from a single design decision: test on expansion, not on generation.</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467"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68"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469"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UCS Complexity and the Positive-Cost Assumption</a:t>
            </a:r>
            <a:endParaRPr lang="en-US" sz="2600" b="0" u="none" strike="noStrike">
              <a:solidFill>
                <a:srgbClr val="000000"/>
              </a:solidFill>
              <a:effectLst/>
              <a:uFillTx/>
              <a:latin typeface="Arial"/>
            </a:endParaRPr>
          </a:p>
        </p:txBody>
      </p:sp>
      <p:sp>
        <p:nvSpPr>
          <p:cNvPr id="1470"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71"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72" name="Text 5"/>
          <p:cNvSpPr/>
          <p:nvPr/>
        </p:nvSpPr>
        <p:spPr>
          <a:xfrm>
            <a:off x="868680" y="1417320"/>
            <a:ext cx="3656160" cy="34596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1" u="none" strike="noStrike">
                <a:solidFill>
                  <a:srgbClr val="112E5C"/>
                </a:solidFill>
                <a:effectLst/>
                <a:uFillTx/>
                <a:latin typeface="Aptos"/>
              </a:rPr>
              <a:t>C* = optimal solution cost</a:t>
            </a:r>
            <a:endParaRPr lang="en-US" sz="1800" b="0" u="none" strike="noStrike">
              <a:solidFill>
                <a:srgbClr val="000000"/>
              </a:solidFill>
              <a:effectLst/>
              <a:uFillTx/>
              <a:latin typeface="Arial"/>
            </a:endParaRPr>
          </a:p>
        </p:txBody>
      </p:sp>
      <p:sp>
        <p:nvSpPr>
          <p:cNvPr id="1473" name="Text 6"/>
          <p:cNvSpPr/>
          <p:nvPr/>
        </p:nvSpPr>
        <p:spPr>
          <a:xfrm>
            <a:off x="868680" y="1874520"/>
            <a:ext cx="4113360" cy="34596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800" b="1" u="none" strike="noStrike">
                <a:solidFill>
                  <a:srgbClr val="112E5C"/>
                </a:solidFill>
                <a:effectLst/>
                <a:uFillTx/>
                <a:latin typeface="Aptos"/>
              </a:rPr>
              <a:t>ε = positive lower bound on action costs</a:t>
            </a:r>
            <a:endParaRPr lang="en-US" sz="1800" b="0" u="none" strike="noStrike">
              <a:solidFill>
                <a:srgbClr val="000000"/>
              </a:solidFill>
              <a:effectLst/>
              <a:uFillTx/>
              <a:latin typeface="Arial"/>
            </a:endParaRPr>
          </a:p>
        </p:txBody>
      </p:sp>
      <p:sp>
        <p:nvSpPr>
          <p:cNvPr id="1474" name="Text 7"/>
          <p:cNvSpPr/>
          <p:nvPr/>
        </p:nvSpPr>
        <p:spPr>
          <a:xfrm>
            <a:off x="914400" y="2880360"/>
            <a:ext cx="10056960" cy="5014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2600" b="1" u="none" strike="noStrike">
                <a:solidFill>
                  <a:srgbClr val="9B1C1C"/>
                </a:solidFill>
                <a:effectLst/>
                <a:uFillTx/>
                <a:latin typeface="Aptos"/>
              </a:rPr>
              <a:t>Time and space: O(b^(1 + ⌊C*/ε⌋))</a:t>
            </a:r>
            <a:endParaRPr lang="en-US" sz="2600" b="0" u="none" strike="noStrike">
              <a:solidFill>
                <a:srgbClr val="000000"/>
              </a:solidFill>
              <a:effectLst/>
              <a:uFillTx/>
              <a:latin typeface="Arial"/>
            </a:endParaRPr>
          </a:p>
        </p:txBody>
      </p:sp>
      <p:sp>
        <p:nvSpPr>
          <p:cNvPr id="1475" name="Text 8"/>
          <p:cNvSpPr/>
          <p:nvPr/>
        </p:nvSpPr>
        <p:spPr>
          <a:xfrm>
            <a:off x="1097280" y="4069080"/>
            <a:ext cx="9874080" cy="410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0" u="none" strike="noStrike">
                <a:solidFill>
                  <a:srgbClr val="102A4C"/>
                </a:solidFill>
                <a:effectLst/>
                <a:uFillTx/>
                <a:latin typeface="Aptos"/>
              </a:rPr>
              <a:t>UCS may explore many cheap but unhelpful actions before taking a costly useful action.</a:t>
            </a:r>
            <a:endParaRPr lang="en-US" sz="1800" b="0" u="none" strike="noStrike">
              <a:solidFill>
                <a:srgbClr val="000000"/>
              </a:solidFill>
              <a:effectLst/>
              <a:uFillTx/>
              <a:latin typeface="Arial"/>
            </a:endParaRPr>
          </a:p>
        </p:txBody>
      </p:sp>
      <p:sp>
        <p:nvSpPr>
          <p:cNvPr id="1476" name="Text 9"/>
          <p:cNvSpPr/>
          <p:nvPr/>
        </p:nvSpPr>
        <p:spPr>
          <a:xfrm>
            <a:off x="1097280" y="4800600"/>
            <a:ext cx="9874080" cy="41004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1" u="none" strike="noStrike">
                <a:solidFill>
                  <a:srgbClr val="177245"/>
                </a:solidFill>
                <a:effectLst/>
                <a:uFillTx/>
                <a:latin typeface="Aptos"/>
              </a:rPr>
              <a:t>Complete and optimal if costs are positive and the best solution has finite cost.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477"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78"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79"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UCS Explores Cost Contours — In Every Direction</a:t>
            </a:r>
            <a:endParaRPr lang="en-US" sz="2600" b="0" u="none" strike="noStrike">
              <a:solidFill>
                <a:srgbClr val="000000"/>
              </a:solidFill>
              <a:effectLst/>
              <a:uFillTx/>
              <a:latin typeface="Arial"/>
            </a:endParaRPr>
          </a:p>
        </p:txBody>
      </p:sp>
      <p:sp>
        <p:nvSpPr>
          <p:cNvPr id="1480"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81"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82" name="Oval 6"/>
          <p:cNvSpPr/>
          <p:nvPr/>
        </p:nvSpPr>
        <p:spPr>
          <a:xfrm>
            <a:off x="6705720" y="1371600"/>
            <a:ext cx="3656160" cy="3656160"/>
          </a:xfrm>
          <a:prstGeom prst="ellipse">
            <a:avLst/>
          </a:prstGeom>
          <a:solidFill>
            <a:srgbClr val="FFFFFF"/>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483" name="Rectangle 7"/>
          <p:cNvSpPr/>
          <p:nvPr/>
        </p:nvSpPr>
        <p:spPr>
          <a:xfrm>
            <a:off x="8077320" y="1486080"/>
            <a:ext cx="91296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050" b="0" u="none" strike="noStrike">
                <a:solidFill>
                  <a:srgbClr val="5C6B80"/>
                </a:solidFill>
                <a:effectLst/>
                <a:uFillTx/>
                <a:latin typeface="Aptos"/>
              </a:rPr>
              <a:t>c ≤ 3</a:t>
            </a:r>
            <a:endParaRPr lang="en-US" sz="1050" b="0" u="none" strike="noStrike">
              <a:solidFill>
                <a:srgbClr val="000000"/>
              </a:solidFill>
              <a:effectLst/>
              <a:uFillTx/>
              <a:latin typeface="Arial"/>
            </a:endParaRPr>
          </a:p>
        </p:txBody>
      </p:sp>
      <p:sp>
        <p:nvSpPr>
          <p:cNvPr id="1484" name="Oval 8"/>
          <p:cNvSpPr/>
          <p:nvPr/>
        </p:nvSpPr>
        <p:spPr>
          <a:xfrm>
            <a:off x="7254360" y="1920240"/>
            <a:ext cx="2558880" cy="2558880"/>
          </a:xfrm>
          <a:prstGeom prst="ellipse">
            <a:avLst/>
          </a:prstGeom>
          <a:solidFill>
            <a:srgbClr val="F7F9FC"/>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485" name="Rectangle 9"/>
          <p:cNvSpPr/>
          <p:nvPr/>
        </p:nvSpPr>
        <p:spPr>
          <a:xfrm>
            <a:off x="8077320" y="2034720"/>
            <a:ext cx="91296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050" b="0" u="none" strike="noStrike">
                <a:solidFill>
                  <a:srgbClr val="5C6B80"/>
                </a:solidFill>
                <a:effectLst/>
                <a:uFillTx/>
                <a:latin typeface="Aptos"/>
              </a:rPr>
              <a:t>c ≤ 2</a:t>
            </a:r>
            <a:endParaRPr lang="en-US" sz="1050" b="0" u="none" strike="noStrike">
              <a:solidFill>
                <a:srgbClr val="000000"/>
              </a:solidFill>
              <a:effectLst/>
              <a:uFillTx/>
              <a:latin typeface="Arial"/>
            </a:endParaRPr>
          </a:p>
        </p:txBody>
      </p:sp>
      <p:sp>
        <p:nvSpPr>
          <p:cNvPr id="1486" name="Oval 10"/>
          <p:cNvSpPr/>
          <p:nvPr/>
        </p:nvSpPr>
        <p:spPr>
          <a:xfrm>
            <a:off x="7803000" y="2468880"/>
            <a:ext cx="1461600" cy="1461600"/>
          </a:xfrm>
          <a:prstGeom prst="ellipse">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487" name="Rectangle 11"/>
          <p:cNvSpPr/>
          <p:nvPr/>
        </p:nvSpPr>
        <p:spPr>
          <a:xfrm>
            <a:off x="8077320" y="2583360"/>
            <a:ext cx="91296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050" b="0" u="none" strike="noStrike">
                <a:solidFill>
                  <a:srgbClr val="5C6B80"/>
                </a:solidFill>
                <a:effectLst/>
                <a:uFillTx/>
                <a:latin typeface="Aptos"/>
              </a:rPr>
              <a:t>c ≤ 1</a:t>
            </a:r>
            <a:endParaRPr lang="en-US" sz="1050" b="0" u="none" strike="noStrike">
              <a:solidFill>
                <a:srgbClr val="000000"/>
              </a:solidFill>
              <a:effectLst/>
              <a:uFillTx/>
              <a:latin typeface="Arial"/>
            </a:endParaRPr>
          </a:p>
        </p:txBody>
      </p:sp>
      <p:sp>
        <p:nvSpPr>
          <p:cNvPr id="1488" name="Oval 12"/>
          <p:cNvSpPr/>
          <p:nvPr/>
        </p:nvSpPr>
        <p:spPr>
          <a:xfrm>
            <a:off x="8351640" y="3017520"/>
            <a:ext cx="364320" cy="364320"/>
          </a:xfrm>
          <a:prstGeom prst="ellipse">
            <a:avLst/>
          </a:prstGeom>
          <a:solidFill>
            <a:srgbClr val="112E5C"/>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FFFFFF"/>
              </a:solidFill>
              <a:effectLst/>
              <a:uFillTx/>
              <a:latin typeface="Arial"/>
            </a:endParaRPr>
          </a:p>
        </p:txBody>
      </p:sp>
      <p:sp>
        <p:nvSpPr>
          <p:cNvPr id="1489" name="Rectangle 13"/>
          <p:cNvSpPr/>
          <p:nvPr/>
        </p:nvSpPr>
        <p:spPr>
          <a:xfrm>
            <a:off x="7848720" y="3429000"/>
            <a:ext cx="137016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00" b="1" u="none" strike="noStrike">
                <a:solidFill>
                  <a:srgbClr val="112E5C"/>
                </a:solidFill>
                <a:effectLst/>
                <a:uFillTx/>
                <a:latin typeface="Aptos"/>
              </a:rPr>
              <a:t>start</a:t>
            </a:r>
            <a:endParaRPr lang="en-US" sz="1100" b="0" u="none" strike="noStrike">
              <a:solidFill>
                <a:srgbClr val="000000"/>
              </a:solidFill>
              <a:effectLst/>
              <a:uFillTx/>
              <a:latin typeface="Arial"/>
            </a:endParaRPr>
          </a:p>
        </p:txBody>
      </p:sp>
      <p:sp>
        <p:nvSpPr>
          <p:cNvPr id="1490" name="Rectangle 14"/>
          <p:cNvSpPr/>
          <p:nvPr/>
        </p:nvSpPr>
        <p:spPr>
          <a:xfrm>
            <a:off x="10927080" y="3063240"/>
            <a:ext cx="410040" cy="272880"/>
          </a:xfrm>
          <a:prstGeom prst="rect">
            <a:avLst/>
          </a:prstGeom>
          <a:solidFill>
            <a:srgbClr val="9B1C1C"/>
          </a:solidFill>
          <a:ln w="12700">
            <a:solidFill>
              <a:srgbClr val="9B1C1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91" name="Rectangle 15"/>
          <p:cNvSpPr/>
          <p:nvPr/>
        </p:nvSpPr>
        <p:spPr>
          <a:xfrm>
            <a:off x="10607040" y="3383280"/>
            <a:ext cx="105012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00" b="1" u="none" strike="noStrike">
                <a:solidFill>
                  <a:srgbClr val="9B1C1C"/>
                </a:solidFill>
                <a:effectLst/>
                <a:uFillTx/>
                <a:latin typeface="Aptos"/>
              </a:rPr>
              <a:t>goal</a:t>
            </a:r>
            <a:endParaRPr lang="en-US" sz="1100" b="0" u="none" strike="noStrike">
              <a:solidFill>
                <a:srgbClr val="000000"/>
              </a:solidFill>
              <a:effectLst/>
              <a:uFillTx/>
              <a:latin typeface="Arial"/>
            </a:endParaRPr>
          </a:p>
        </p:txBody>
      </p:sp>
      <p:sp>
        <p:nvSpPr>
          <p:cNvPr id="1492" name="Rounded Rectangle 16"/>
          <p:cNvSpPr/>
          <p:nvPr/>
        </p:nvSpPr>
        <p:spPr>
          <a:xfrm>
            <a:off x="777240" y="1417320"/>
            <a:ext cx="457056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The good</a:t>
            </a:r>
            <a:endParaRPr lang="en-US" sz="1400" b="0" u="none" strike="noStrike">
              <a:solidFill>
                <a:srgbClr val="000000"/>
              </a:solidFill>
              <a:effectLst/>
              <a:uFillTx/>
              <a:latin typeface="Arial"/>
            </a:endParaRPr>
          </a:p>
        </p:txBody>
      </p:sp>
      <p:sp>
        <p:nvSpPr>
          <p:cNvPr id="1493" name="Rounded Rectangle 17"/>
          <p:cNvSpPr/>
          <p:nvPr/>
        </p:nvSpPr>
        <p:spPr>
          <a:xfrm>
            <a:off x="777240" y="1874520"/>
            <a:ext cx="4570560" cy="91296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94" name="Rectangle 18"/>
          <p:cNvSpPr/>
          <p:nvPr/>
        </p:nvSpPr>
        <p:spPr>
          <a:xfrm>
            <a:off x="960120" y="1965960"/>
            <a:ext cx="4204800" cy="7300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0" u="none" strike="noStrike">
                <a:solidFill>
                  <a:srgbClr val="102A4C"/>
                </a:solidFill>
                <a:effectLst/>
                <a:uFillTx/>
                <a:latin typeface="Aptos"/>
              </a:rPr>
              <a:t>Complete and cost-optimal whenever every action costs at least ε &gt; 0.</a:t>
            </a:r>
            <a:endParaRPr lang="en-US" sz="1350" b="0" u="none" strike="noStrike">
              <a:solidFill>
                <a:srgbClr val="000000"/>
              </a:solidFill>
              <a:effectLst/>
              <a:uFillTx/>
              <a:latin typeface="Arial"/>
            </a:endParaRPr>
          </a:p>
        </p:txBody>
      </p:sp>
      <p:sp>
        <p:nvSpPr>
          <p:cNvPr id="1495" name="Rounded Rectangle 19"/>
          <p:cNvSpPr/>
          <p:nvPr/>
        </p:nvSpPr>
        <p:spPr>
          <a:xfrm>
            <a:off x="777240" y="2971800"/>
            <a:ext cx="4570560" cy="4100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The bad</a:t>
            </a:r>
            <a:endParaRPr lang="en-US" sz="1400" b="0" u="none" strike="noStrike">
              <a:solidFill>
                <a:srgbClr val="000000"/>
              </a:solidFill>
              <a:effectLst/>
              <a:uFillTx/>
              <a:latin typeface="Arial"/>
            </a:endParaRPr>
          </a:p>
        </p:txBody>
      </p:sp>
      <p:sp>
        <p:nvSpPr>
          <p:cNvPr id="1496" name="Rounded Rectangle 20"/>
          <p:cNvSpPr/>
          <p:nvPr/>
        </p:nvSpPr>
        <p:spPr>
          <a:xfrm>
            <a:off x="777240" y="3429000"/>
            <a:ext cx="4570560" cy="118728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497" name="Rectangle 21"/>
          <p:cNvSpPr/>
          <p:nvPr/>
        </p:nvSpPr>
        <p:spPr>
          <a:xfrm>
            <a:off x="960120" y="3520440"/>
            <a:ext cx="4204800" cy="1004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499"/>
              </a:spcAft>
            </a:pPr>
            <a:r>
              <a:rPr lang="en-US" sz="1250" b="0" u="none" strike="noStrike">
                <a:solidFill>
                  <a:srgbClr val="102A4C"/>
                </a:solidFill>
                <a:effectLst/>
                <a:uFillTx/>
                <a:latin typeface="Aptos"/>
              </a:rPr>
              <a:t>•  Expands outward in every direction equally</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Has no information about where the goal is</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Spends effort behind it as readily as in front</a:t>
            </a:r>
            <a:endParaRPr lang="en-US" sz="1250" b="0" u="none" strike="noStrike">
              <a:solidFill>
                <a:srgbClr val="000000"/>
              </a:solidFill>
              <a:effectLst/>
              <a:uFillTx/>
              <a:latin typeface="Arial"/>
            </a:endParaRPr>
          </a:p>
        </p:txBody>
      </p:sp>
      <p:sp>
        <p:nvSpPr>
          <p:cNvPr id="1498" name="Rectangle 22"/>
          <p:cNvSpPr/>
          <p:nvPr/>
        </p:nvSpPr>
        <p:spPr>
          <a:xfrm>
            <a:off x="914400" y="484632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Uniform-cost search is blind. It knows the cost of the past and nothing about the future.</a:t>
            </a:r>
            <a:endParaRPr lang="en-US" sz="1700" b="0" u="none" strike="noStrike">
              <a:solidFill>
                <a:srgbClr val="000000"/>
              </a:solidFill>
              <a:effectLst/>
              <a:uFillTx/>
              <a:latin typeface="Arial"/>
            </a:endParaRPr>
          </a:p>
        </p:txBody>
      </p:sp>
      <p:sp>
        <p:nvSpPr>
          <p:cNvPr id="1499" name="Rectangle 23"/>
          <p:cNvSpPr/>
          <p:nvPr/>
        </p:nvSpPr>
        <p:spPr>
          <a:xfrm>
            <a:off x="914400" y="54406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Section 3.5 adds a heuristic h(n), and the contours stretch toward the goal instead of surrounding the start.</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00" name="Picture 155"/>
          <p:cNvPicPr/>
          <p:nvPr/>
        </p:nvPicPr>
        <p:blipFill>
          <a:blip r:embed="rId1"/>
          <a:stretch/>
        </p:blipFill>
        <p:spPr>
          <a:xfrm>
            <a:off x="22320" y="1387440"/>
            <a:ext cx="8206200" cy="5461560"/>
          </a:xfrm>
          <a:prstGeom prst="rect">
            <a:avLst/>
          </a:prstGeom>
          <a:noFill/>
          <a:ln w="0">
            <a:noFill/>
          </a:ln>
        </p:spPr>
      </p:pic>
      <p:sp>
        <p:nvSpPr>
          <p:cNvPr id="1501" name="Shape 0"/>
          <p:cNvSpPr/>
          <p:nvPr/>
        </p:nvSpPr>
        <p:spPr>
          <a:xfrm>
            <a:off x="23040" y="15840"/>
            <a:ext cx="12190680" cy="1370520"/>
          </a:xfrm>
          <a:prstGeom prst="rect">
            <a:avLst/>
          </a:prstGeom>
          <a:solidFill>
            <a:srgbClr val="123B63"/>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02" name="Text 1"/>
          <p:cNvSpPr/>
          <p:nvPr/>
        </p:nvSpPr>
        <p:spPr>
          <a:xfrm>
            <a:off x="548640" y="237600"/>
            <a:ext cx="7862760" cy="565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FFFFFF"/>
                </a:solidFill>
                <a:effectLst/>
                <a:uFillTx/>
                <a:latin typeface="Cambria"/>
                <a:ea typeface="Cambria"/>
              </a:rPr>
              <a:t>Uniform-Cost Search</a:t>
            </a:r>
            <a:endParaRPr lang="en-US" sz="3400" b="0" u="none" strike="noStrike">
              <a:solidFill>
                <a:srgbClr val="000000"/>
              </a:solidFill>
              <a:effectLst/>
              <a:uFillTx/>
              <a:latin typeface="Arial"/>
            </a:endParaRPr>
          </a:p>
        </p:txBody>
      </p:sp>
      <p:sp>
        <p:nvSpPr>
          <p:cNvPr id="1503" name="Text 2"/>
          <p:cNvSpPr/>
          <p:nvPr/>
        </p:nvSpPr>
        <p:spPr>
          <a:xfrm>
            <a:off x="567000" y="841320"/>
            <a:ext cx="7862760" cy="309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AFC7DB"/>
                </a:solidFill>
                <a:effectLst/>
                <a:uFillTx/>
                <a:latin typeface="Calibri"/>
                <a:ea typeface="Calibri"/>
              </a:rPr>
              <a:t>Expand the cheapest path first — the frontier is ordered by g(n)</a:t>
            </a:r>
            <a:endParaRPr lang="en-US" sz="1450" b="0" u="none" strike="noStrike">
              <a:solidFill>
                <a:srgbClr val="000000"/>
              </a:solidFill>
              <a:effectLst/>
              <a:uFillTx/>
              <a:latin typeface="Arial"/>
            </a:endParaRPr>
          </a:p>
        </p:txBody>
      </p:sp>
      <p:sp>
        <p:nvSpPr>
          <p:cNvPr id="1504" name="Text 3"/>
          <p:cNvSpPr/>
          <p:nvPr/>
        </p:nvSpPr>
        <p:spPr>
          <a:xfrm>
            <a:off x="8595360" y="420480"/>
            <a:ext cx="3135240" cy="236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pc="159" strike="noStrike">
                <a:solidFill>
                  <a:srgbClr val="FFFFFF"/>
                </a:solidFill>
                <a:effectLst/>
                <a:uFillTx/>
                <a:latin typeface="Calibri"/>
                <a:ea typeface="Calibri"/>
              </a:rPr>
              <a:t>CSU CHANNEL ISLANDS</a:t>
            </a:r>
            <a:endParaRPr lang="en-US" sz="1100" b="0" u="none" strike="noStrike">
              <a:solidFill>
                <a:srgbClr val="000000"/>
              </a:solidFill>
              <a:effectLst/>
              <a:uFillTx/>
              <a:latin typeface="Arial"/>
            </a:endParaRPr>
          </a:p>
        </p:txBody>
      </p:sp>
      <p:sp>
        <p:nvSpPr>
          <p:cNvPr id="1505" name="Text 4"/>
          <p:cNvSpPr/>
          <p:nvPr/>
        </p:nvSpPr>
        <p:spPr>
          <a:xfrm>
            <a:off x="8229600" y="676800"/>
            <a:ext cx="3501000" cy="236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50" b="0" u="none" strike="noStrike">
                <a:solidFill>
                  <a:srgbClr val="89A9C6"/>
                </a:solidFill>
                <a:effectLst/>
                <a:uFillTx/>
                <a:latin typeface="Calibri"/>
                <a:ea typeface="Calibri"/>
              </a:rPr>
              <a:t>COMP 469  ·  Chapter 3  ·  Sections 3.1–3.4</a:t>
            </a:r>
            <a:endParaRPr lang="en-US" sz="1050" b="0" u="none" strike="noStrike">
              <a:solidFill>
                <a:srgbClr val="000000"/>
              </a:solidFill>
              <a:effectLst/>
              <a:uFillTx/>
              <a:latin typeface="Arial"/>
            </a:endParaRPr>
          </a:p>
        </p:txBody>
      </p:sp>
      <p:sp>
        <p:nvSpPr>
          <p:cNvPr id="1506" name="Shape 5"/>
          <p:cNvSpPr/>
          <p:nvPr/>
        </p:nvSpPr>
        <p:spPr>
          <a:xfrm>
            <a:off x="2880360" y="1600200"/>
            <a:ext cx="5211000" cy="3930840"/>
          </a:xfrm>
          <a:prstGeom prst="roundRect">
            <a:avLst>
              <a:gd name="adj" fmla="val 1395"/>
            </a:avLst>
          </a:prstGeom>
          <a:solidFill>
            <a:srgbClr val="FFFFFF"/>
          </a:solidFill>
          <a:ln w="12700">
            <a:solidFill>
              <a:srgbClr val="DCE4EC"/>
            </a:solidFill>
            <a:round/>
          </a:ln>
          <a:effectLst>
            <a:outerShdw algn="bl" blurRad="114480" dir="5400000" dist="12600" rotWithShape="0">
              <a:srgbClr val="8FA3B5">
                <a:alpha val="18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07" name="Text 6"/>
          <p:cNvSpPr/>
          <p:nvPr/>
        </p:nvSpPr>
        <p:spPr>
          <a:xfrm>
            <a:off x="3090600" y="1700640"/>
            <a:ext cx="237636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23B63"/>
                </a:solidFill>
                <a:effectLst/>
                <a:uFillTx/>
                <a:latin typeface="Cambria"/>
                <a:ea typeface="Cambria"/>
              </a:rPr>
              <a:t>Weighted search tree</a:t>
            </a:r>
            <a:endParaRPr lang="en-US" sz="1250" b="0" u="none" strike="noStrike">
              <a:solidFill>
                <a:srgbClr val="000000"/>
              </a:solidFill>
              <a:effectLst/>
              <a:uFillTx/>
              <a:latin typeface="Arial"/>
            </a:endParaRPr>
          </a:p>
        </p:txBody>
      </p:sp>
      <p:sp>
        <p:nvSpPr>
          <p:cNvPr id="1508" name="Shape 7"/>
          <p:cNvSpPr/>
          <p:nvPr/>
        </p:nvSpPr>
        <p:spPr>
          <a:xfrm>
            <a:off x="5426280" y="1787760"/>
            <a:ext cx="108720" cy="108720"/>
          </a:xfrm>
          <a:prstGeom prst="ellipse">
            <a:avLst/>
          </a:prstGeom>
          <a:solidFill>
            <a:srgbClr val="DAEAE3"/>
          </a:solidFill>
          <a:ln w="12700">
            <a:solidFill>
              <a:srgbClr val="2E7D6B"/>
            </a:solidFill>
            <a:round/>
          </a:ln>
        </p:spPr>
        <p:style>
          <a:lnRef idx="0"/>
          <a:fillRef idx="0"/>
          <a:effectRef idx="0"/>
          <a:fontRef idx="minor"/>
        </p:style>
        <p:txBody>
          <a:bodyPr lIns="54360" tIns="32760" rIns="54360" bIns="32760" anchor="t">
            <a:noAutofit/>
          </a:bodyPr>
          <a:p>
            <a:endParaRPr lang="en-US" sz="1800" b="0" u="none" strike="noStrike">
              <a:solidFill>
                <a:schemeClr val="dk1"/>
              </a:solidFill>
              <a:effectLst/>
              <a:uFillTx/>
              <a:latin typeface="Aptos"/>
            </a:endParaRPr>
          </a:p>
        </p:txBody>
      </p:sp>
      <p:sp>
        <p:nvSpPr>
          <p:cNvPr id="1509" name="Text 8"/>
          <p:cNvSpPr/>
          <p:nvPr/>
        </p:nvSpPr>
        <p:spPr>
          <a:xfrm>
            <a:off x="5559480" y="1719000"/>
            <a:ext cx="657360" cy="245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8B97A4"/>
                </a:solidFill>
                <a:effectLst/>
                <a:uFillTx/>
                <a:latin typeface="Calibri"/>
                <a:ea typeface="Calibri"/>
              </a:rPr>
              <a:t>expanded</a:t>
            </a:r>
            <a:endParaRPr lang="en-US" sz="850" b="0" u="none" strike="noStrike">
              <a:solidFill>
                <a:srgbClr val="000000"/>
              </a:solidFill>
              <a:effectLst/>
              <a:uFillTx/>
              <a:latin typeface="Arial"/>
            </a:endParaRPr>
          </a:p>
        </p:txBody>
      </p:sp>
      <p:sp>
        <p:nvSpPr>
          <p:cNvPr id="1510" name="Shape 9"/>
          <p:cNvSpPr/>
          <p:nvPr/>
        </p:nvSpPr>
        <p:spPr>
          <a:xfrm>
            <a:off x="6258240" y="1787760"/>
            <a:ext cx="108720" cy="108720"/>
          </a:xfrm>
          <a:prstGeom prst="ellipse">
            <a:avLst/>
          </a:prstGeom>
          <a:solidFill>
            <a:srgbClr val="FFFFFF"/>
          </a:solidFill>
          <a:ln w="12700">
            <a:solidFill>
              <a:srgbClr val="C8D2DC"/>
            </a:solidFill>
            <a:round/>
          </a:ln>
        </p:spPr>
        <p:style>
          <a:lnRef idx="0"/>
          <a:fillRef idx="0"/>
          <a:effectRef idx="0"/>
          <a:fontRef idx="minor"/>
        </p:style>
        <p:txBody>
          <a:bodyPr lIns="54360" tIns="32760" rIns="54360" bIns="32760" anchor="t">
            <a:noAutofit/>
          </a:bodyPr>
          <a:p>
            <a:endParaRPr lang="en-US" sz="1800" b="0" u="none" strike="noStrike">
              <a:solidFill>
                <a:schemeClr val="dk1"/>
              </a:solidFill>
              <a:effectLst/>
              <a:uFillTx/>
              <a:latin typeface="Aptos"/>
            </a:endParaRPr>
          </a:p>
        </p:txBody>
      </p:sp>
      <p:sp>
        <p:nvSpPr>
          <p:cNvPr id="1511" name="Text 10"/>
          <p:cNvSpPr/>
          <p:nvPr/>
        </p:nvSpPr>
        <p:spPr>
          <a:xfrm>
            <a:off x="6391800" y="1719000"/>
            <a:ext cx="867600" cy="245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8B97A4"/>
                </a:solidFill>
                <a:effectLst/>
                <a:uFillTx/>
                <a:latin typeface="Calibri"/>
                <a:ea typeface="Calibri"/>
              </a:rPr>
              <a:t>not expanded</a:t>
            </a:r>
            <a:endParaRPr lang="en-US" sz="850" b="0" u="none" strike="noStrike">
              <a:solidFill>
                <a:srgbClr val="000000"/>
              </a:solidFill>
              <a:effectLst/>
              <a:uFillTx/>
              <a:latin typeface="Arial"/>
            </a:endParaRPr>
          </a:p>
        </p:txBody>
      </p:sp>
      <p:sp>
        <p:nvSpPr>
          <p:cNvPr id="1512" name="Shape 11"/>
          <p:cNvSpPr/>
          <p:nvPr/>
        </p:nvSpPr>
        <p:spPr>
          <a:xfrm>
            <a:off x="7319160" y="1787760"/>
            <a:ext cx="108720" cy="108720"/>
          </a:xfrm>
          <a:prstGeom prst="ellipse">
            <a:avLst/>
          </a:prstGeom>
          <a:solidFill>
            <a:srgbClr val="B23A2B"/>
          </a:solidFill>
          <a:ln w="12700">
            <a:solidFill>
              <a:srgbClr val="B23A2B"/>
            </a:solidFill>
            <a:round/>
          </a:ln>
        </p:spPr>
        <p:style>
          <a:lnRef idx="0"/>
          <a:fillRef idx="0"/>
          <a:effectRef idx="0"/>
          <a:fontRef idx="minor"/>
        </p:style>
        <p:txBody>
          <a:bodyPr lIns="54360" tIns="32760" rIns="54360" bIns="32760" anchor="t">
            <a:noAutofit/>
          </a:bodyPr>
          <a:p>
            <a:endParaRPr lang="en-US" sz="1800" b="0" u="none" strike="noStrike">
              <a:solidFill>
                <a:schemeClr val="dk1"/>
              </a:solidFill>
              <a:effectLst/>
              <a:uFillTx/>
              <a:latin typeface="Aptos"/>
            </a:endParaRPr>
          </a:p>
        </p:txBody>
      </p:sp>
      <p:sp>
        <p:nvSpPr>
          <p:cNvPr id="1513" name="Text 12"/>
          <p:cNvSpPr/>
          <p:nvPr/>
        </p:nvSpPr>
        <p:spPr>
          <a:xfrm>
            <a:off x="7452360" y="1719000"/>
            <a:ext cx="383040" cy="245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8B97A4"/>
                </a:solidFill>
                <a:effectLst/>
                <a:uFillTx/>
                <a:latin typeface="Calibri"/>
                <a:ea typeface="Calibri"/>
              </a:rPr>
              <a:t>goal</a:t>
            </a:r>
            <a:endParaRPr lang="en-US" sz="850" b="0" u="none" strike="noStrike">
              <a:solidFill>
                <a:srgbClr val="000000"/>
              </a:solidFill>
              <a:effectLst/>
              <a:uFillTx/>
              <a:latin typeface="Arial"/>
            </a:endParaRPr>
          </a:p>
        </p:txBody>
      </p:sp>
      <p:sp>
        <p:nvSpPr>
          <p:cNvPr id="1514" name="Shape 13"/>
          <p:cNvSpPr/>
          <p:nvPr/>
        </p:nvSpPr>
        <p:spPr>
          <a:xfrm flipH="1">
            <a:off x="3774600" y="2249280"/>
            <a:ext cx="1355040" cy="829080"/>
          </a:xfrm>
          <a:prstGeom prst="line">
            <a:avLst/>
          </a:prstGeom>
          <a:ln w="28575">
            <a:solidFill>
              <a:srgbClr val="B23A2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15" name="Shape 14"/>
          <p:cNvSpPr/>
          <p:nvPr/>
        </p:nvSpPr>
        <p:spPr>
          <a:xfrm flipH="1">
            <a:off x="5058360" y="2249280"/>
            <a:ext cx="71280" cy="829080"/>
          </a:xfrm>
          <a:prstGeom prst="line">
            <a:avLst/>
          </a:prstGeom>
          <a:ln w="15875">
            <a:solidFill>
              <a:srgbClr val="C9D4DE"/>
            </a:solidFill>
            <a:round/>
          </a:ln>
        </p:spPr>
        <p:style>
          <a:lnRef idx="0"/>
          <a:fillRef idx="0"/>
          <a:effectRef idx="0"/>
          <a:fontRef idx="minor"/>
        </p:style>
        <p:txBody>
          <a:bodyPr lIns="35640" tIns="45000" rIns="35640" bIns="45000" anchor="t">
            <a:noAutofit/>
          </a:bodyPr>
          <a:p>
            <a:endParaRPr lang="en-US" sz="1800" b="0" u="none" strike="noStrike">
              <a:solidFill>
                <a:schemeClr val="dk1"/>
              </a:solidFill>
              <a:effectLst/>
              <a:uFillTx/>
              <a:latin typeface="Aptos"/>
            </a:endParaRPr>
          </a:p>
        </p:txBody>
      </p:sp>
      <p:sp>
        <p:nvSpPr>
          <p:cNvPr id="1516" name="Shape 15"/>
          <p:cNvSpPr/>
          <p:nvPr/>
        </p:nvSpPr>
        <p:spPr>
          <a:xfrm>
            <a:off x="5129640" y="2249280"/>
            <a:ext cx="1426320" cy="829080"/>
          </a:xfrm>
          <a:prstGeom prst="line">
            <a:avLst/>
          </a:prstGeom>
          <a:ln w="15875">
            <a:solidFill>
              <a:srgbClr val="C9D4D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17" name="Shape 16"/>
          <p:cNvSpPr/>
          <p:nvPr/>
        </p:nvSpPr>
        <p:spPr>
          <a:xfrm flipH="1">
            <a:off x="3346560" y="3078360"/>
            <a:ext cx="428040" cy="829080"/>
          </a:xfrm>
          <a:prstGeom prst="line">
            <a:avLst/>
          </a:prstGeom>
          <a:ln w="15875">
            <a:solidFill>
              <a:srgbClr val="C9D4D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18" name="Shape 17"/>
          <p:cNvSpPr/>
          <p:nvPr/>
        </p:nvSpPr>
        <p:spPr>
          <a:xfrm>
            <a:off x="3774600" y="3078360"/>
            <a:ext cx="427680" cy="829080"/>
          </a:xfrm>
          <a:prstGeom prst="line">
            <a:avLst/>
          </a:prstGeom>
          <a:ln w="28575">
            <a:solidFill>
              <a:srgbClr val="B23A2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19" name="Shape 18"/>
          <p:cNvSpPr/>
          <p:nvPr/>
        </p:nvSpPr>
        <p:spPr>
          <a:xfrm>
            <a:off x="5058360" y="3078360"/>
            <a:ext cx="360" cy="829080"/>
          </a:xfrm>
          <a:prstGeom prst="line">
            <a:avLst/>
          </a:prstGeom>
          <a:ln w="15875">
            <a:solidFill>
              <a:srgbClr val="C9D4DE"/>
            </a:solidFill>
            <a:round/>
          </a:ln>
        </p:spPr>
        <p:style>
          <a:lnRef idx="0"/>
          <a:fillRef idx="0"/>
          <a:effectRef idx="0"/>
          <a:fontRef idx="minor"/>
        </p:style>
        <p:txBody>
          <a:bodyPr lIns="0" tIns="45000" rIns="0" bIns="45000" anchor="t">
            <a:noAutofit/>
          </a:bodyPr>
          <a:p>
            <a:endParaRPr lang="en-US" sz="1800" b="0" u="none" strike="noStrike">
              <a:solidFill>
                <a:schemeClr val="dk1"/>
              </a:solidFill>
              <a:effectLst/>
              <a:uFillTx/>
              <a:latin typeface="Aptos"/>
            </a:endParaRPr>
          </a:p>
        </p:txBody>
      </p:sp>
      <p:sp>
        <p:nvSpPr>
          <p:cNvPr id="1520" name="Shape 19"/>
          <p:cNvSpPr/>
          <p:nvPr/>
        </p:nvSpPr>
        <p:spPr>
          <a:xfrm flipH="1">
            <a:off x="5914080" y="3078360"/>
            <a:ext cx="641880" cy="829080"/>
          </a:xfrm>
          <a:prstGeom prst="line">
            <a:avLst/>
          </a:prstGeom>
          <a:ln w="15875">
            <a:solidFill>
              <a:srgbClr val="C9D4D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21" name="Shape 20"/>
          <p:cNvSpPr/>
          <p:nvPr/>
        </p:nvSpPr>
        <p:spPr>
          <a:xfrm>
            <a:off x="6555960" y="3078360"/>
            <a:ext cx="641880" cy="829080"/>
          </a:xfrm>
          <a:prstGeom prst="line">
            <a:avLst/>
          </a:prstGeom>
          <a:ln w="15875">
            <a:solidFill>
              <a:srgbClr val="C9D4D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22" name="Shape 21"/>
          <p:cNvSpPr/>
          <p:nvPr/>
        </p:nvSpPr>
        <p:spPr>
          <a:xfrm>
            <a:off x="3346560" y="3907440"/>
            <a:ext cx="360" cy="829080"/>
          </a:xfrm>
          <a:prstGeom prst="line">
            <a:avLst/>
          </a:prstGeom>
          <a:ln w="15875">
            <a:solidFill>
              <a:srgbClr val="C9D4DE"/>
            </a:solidFill>
            <a:round/>
          </a:ln>
        </p:spPr>
        <p:style>
          <a:lnRef idx="0"/>
          <a:fillRef idx="0"/>
          <a:effectRef idx="0"/>
          <a:fontRef idx="minor"/>
        </p:style>
        <p:txBody>
          <a:bodyPr lIns="0" tIns="45000" rIns="0" bIns="45000" anchor="t">
            <a:noAutofit/>
          </a:bodyPr>
          <a:p>
            <a:endParaRPr lang="en-US" sz="1800" b="0" u="none" strike="noStrike">
              <a:solidFill>
                <a:schemeClr val="dk1"/>
              </a:solidFill>
              <a:effectLst/>
              <a:uFillTx/>
              <a:latin typeface="Aptos"/>
            </a:endParaRPr>
          </a:p>
        </p:txBody>
      </p:sp>
      <p:sp>
        <p:nvSpPr>
          <p:cNvPr id="1523" name="Shape 22"/>
          <p:cNvSpPr/>
          <p:nvPr/>
        </p:nvSpPr>
        <p:spPr>
          <a:xfrm>
            <a:off x="4202280" y="3907440"/>
            <a:ext cx="360" cy="829080"/>
          </a:xfrm>
          <a:prstGeom prst="line">
            <a:avLst/>
          </a:prstGeom>
          <a:ln w="28575">
            <a:solidFill>
              <a:srgbClr val="B23A2B"/>
            </a:solidFill>
            <a:round/>
          </a:ln>
        </p:spPr>
        <p:style>
          <a:lnRef idx="0"/>
          <a:fillRef idx="0"/>
          <a:effectRef idx="0"/>
          <a:fontRef idx="minor"/>
        </p:style>
        <p:txBody>
          <a:bodyPr lIns="0" tIns="45000" rIns="0" bIns="45000" anchor="t">
            <a:noAutofit/>
          </a:bodyPr>
          <a:p>
            <a:endParaRPr lang="en-US" sz="1800" b="0" u="none" strike="noStrike">
              <a:solidFill>
                <a:schemeClr val="dk1"/>
              </a:solidFill>
              <a:effectLst/>
              <a:uFillTx/>
              <a:latin typeface="Aptos"/>
            </a:endParaRPr>
          </a:p>
        </p:txBody>
      </p:sp>
      <p:sp>
        <p:nvSpPr>
          <p:cNvPr id="1524" name="Shape 23"/>
          <p:cNvSpPr/>
          <p:nvPr/>
        </p:nvSpPr>
        <p:spPr>
          <a:xfrm>
            <a:off x="5058360" y="3907440"/>
            <a:ext cx="360" cy="829080"/>
          </a:xfrm>
          <a:prstGeom prst="line">
            <a:avLst/>
          </a:prstGeom>
          <a:ln w="15875">
            <a:solidFill>
              <a:srgbClr val="C9D4DE"/>
            </a:solidFill>
            <a:round/>
          </a:ln>
        </p:spPr>
        <p:style>
          <a:lnRef idx="0"/>
          <a:fillRef idx="0"/>
          <a:effectRef idx="0"/>
          <a:fontRef idx="minor"/>
        </p:style>
        <p:txBody>
          <a:bodyPr lIns="0" tIns="45000" rIns="0" bIns="45000" anchor="t">
            <a:noAutofit/>
          </a:bodyPr>
          <a:p>
            <a:endParaRPr lang="en-US" sz="1800" b="0" u="none" strike="noStrike">
              <a:solidFill>
                <a:schemeClr val="dk1"/>
              </a:solidFill>
              <a:effectLst/>
              <a:uFillTx/>
              <a:latin typeface="Aptos"/>
            </a:endParaRPr>
          </a:p>
        </p:txBody>
      </p:sp>
      <p:sp>
        <p:nvSpPr>
          <p:cNvPr id="1525" name="Shape 24"/>
          <p:cNvSpPr/>
          <p:nvPr/>
        </p:nvSpPr>
        <p:spPr>
          <a:xfrm>
            <a:off x="5914080" y="3907440"/>
            <a:ext cx="360" cy="829080"/>
          </a:xfrm>
          <a:prstGeom prst="line">
            <a:avLst/>
          </a:prstGeom>
          <a:ln w="15875">
            <a:solidFill>
              <a:srgbClr val="C9D4DE"/>
            </a:solidFill>
            <a:round/>
          </a:ln>
        </p:spPr>
        <p:style>
          <a:lnRef idx="0"/>
          <a:fillRef idx="0"/>
          <a:effectRef idx="0"/>
          <a:fontRef idx="minor"/>
        </p:style>
        <p:txBody>
          <a:bodyPr lIns="0" tIns="45000" rIns="0" bIns="45000" anchor="t">
            <a:noAutofit/>
          </a:bodyPr>
          <a:p>
            <a:endParaRPr lang="en-US" sz="1800" b="0" u="none" strike="noStrike">
              <a:solidFill>
                <a:schemeClr val="dk1"/>
              </a:solidFill>
              <a:effectLst/>
              <a:uFillTx/>
              <a:latin typeface="Aptos"/>
            </a:endParaRPr>
          </a:p>
        </p:txBody>
      </p:sp>
      <p:sp>
        <p:nvSpPr>
          <p:cNvPr id="1526" name="Shape 25"/>
          <p:cNvSpPr/>
          <p:nvPr/>
        </p:nvSpPr>
        <p:spPr>
          <a:xfrm flipH="1">
            <a:off x="6770160" y="3907440"/>
            <a:ext cx="427680" cy="829080"/>
          </a:xfrm>
          <a:prstGeom prst="line">
            <a:avLst/>
          </a:prstGeom>
          <a:ln w="15875">
            <a:solidFill>
              <a:srgbClr val="C9D4D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27" name="Shape 26"/>
          <p:cNvSpPr/>
          <p:nvPr/>
        </p:nvSpPr>
        <p:spPr>
          <a:xfrm>
            <a:off x="7197840" y="3907440"/>
            <a:ext cx="428040" cy="829080"/>
          </a:xfrm>
          <a:prstGeom prst="line">
            <a:avLst/>
          </a:prstGeom>
          <a:ln w="15875">
            <a:solidFill>
              <a:srgbClr val="C9D4D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28" name="Shape 27"/>
          <p:cNvSpPr/>
          <p:nvPr/>
        </p:nvSpPr>
        <p:spPr>
          <a:xfrm>
            <a:off x="4262040" y="2610720"/>
            <a:ext cx="254880" cy="181800"/>
          </a:xfrm>
          <a:prstGeom prst="roundRect">
            <a:avLst>
              <a:gd name="adj" fmla="val 45000"/>
            </a:avLst>
          </a:prstGeom>
          <a:solidFill>
            <a:srgbClr val="B23A2B"/>
          </a:solidFill>
          <a:ln w="12700">
            <a:solidFill>
              <a:srgbClr val="B23A2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29" name="Text 28"/>
          <p:cNvSpPr/>
          <p:nvPr/>
        </p:nvSpPr>
        <p:spPr>
          <a:xfrm>
            <a:off x="4243680" y="261072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FFFFFF"/>
                </a:solidFill>
                <a:effectLst/>
                <a:uFillTx/>
                <a:latin typeface="Calibri"/>
                <a:ea typeface="Calibri"/>
              </a:rPr>
              <a:t>4</a:t>
            </a:r>
            <a:endParaRPr lang="en-US" sz="850" b="0" u="none" strike="noStrike">
              <a:solidFill>
                <a:srgbClr val="000000"/>
              </a:solidFill>
              <a:effectLst/>
              <a:uFillTx/>
              <a:latin typeface="Arial"/>
            </a:endParaRPr>
          </a:p>
        </p:txBody>
      </p:sp>
      <p:sp>
        <p:nvSpPr>
          <p:cNvPr id="1530" name="Shape 29"/>
          <p:cNvSpPr/>
          <p:nvPr/>
        </p:nvSpPr>
        <p:spPr>
          <a:xfrm>
            <a:off x="4962960" y="2610720"/>
            <a:ext cx="254880" cy="181800"/>
          </a:xfrm>
          <a:prstGeom prst="roundRect">
            <a:avLst>
              <a:gd name="adj" fmla="val 45000"/>
            </a:avLst>
          </a:prstGeom>
          <a:solidFill>
            <a:srgbClr val="FFFFFF"/>
          </a:solidFill>
          <a:ln w="12700">
            <a:solidFill>
              <a:srgbClr val="DFE6E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31" name="Text 30"/>
          <p:cNvSpPr/>
          <p:nvPr/>
        </p:nvSpPr>
        <p:spPr>
          <a:xfrm>
            <a:off x="4944600" y="261072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5C6B7A"/>
                </a:solidFill>
                <a:effectLst/>
                <a:uFillTx/>
                <a:latin typeface="Calibri"/>
                <a:ea typeface="Calibri"/>
              </a:rPr>
              <a:t>9</a:t>
            </a:r>
            <a:endParaRPr lang="en-US" sz="850" b="0" u="none" strike="noStrike">
              <a:solidFill>
                <a:srgbClr val="000000"/>
              </a:solidFill>
              <a:effectLst/>
              <a:uFillTx/>
              <a:latin typeface="Arial"/>
            </a:endParaRPr>
          </a:p>
        </p:txBody>
      </p:sp>
      <p:sp>
        <p:nvSpPr>
          <p:cNvPr id="1532" name="Shape 31"/>
          <p:cNvSpPr/>
          <p:nvPr/>
        </p:nvSpPr>
        <p:spPr>
          <a:xfrm>
            <a:off x="5780520" y="2610720"/>
            <a:ext cx="254880" cy="181800"/>
          </a:xfrm>
          <a:prstGeom prst="roundRect">
            <a:avLst>
              <a:gd name="adj" fmla="val 45000"/>
            </a:avLst>
          </a:prstGeom>
          <a:solidFill>
            <a:srgbClr val="FFFFFF"/>
          </a:solidFill>
          <a:ln w="12700">
            <a:solidFill>
              <a:srgbClr val="DFE6E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33" name="Text 32"/>
          <p:cNvSpPr/>
          <p:nvPr/>
        </p:nvSpPr>
        <p:spPr>
          <a:xfrm>
            <a:off x="5762160" y="261072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5C6B7A"/>
                </a:solidFill>
                <a:effectLst/>
                <a:uFillTx/>
                <a:latin typeface="Calibri"/>
                <a:ea typeface="Calibri"/>
              </a:rPr>
              <a:t>1</a:t>
            </a:r>
            <a:endParaRPr lang="en-US" sz="850" b="0" u="none" strike="noStrike">
              <a:solidFill>
                <a:srgbClr val="000000"/>
              </a:solidFill>
              <a:effectLst/>
              <a:uFillTx/>
              <a:latin typeface="Arial"/>
            </a:endParaRPr>
          </a:p>
        </p:txBody>
      </p:sp>
      <p:sp>
        <p:nvSpPr>
          <p:cNvPr id="1534" name="Shape 33"/>
          <p:cNvSpPr/>
          <p:nvPr/>
        </p:nvSpPr>
        <p:spPr>
          <a:xfrm>
            <a:off x="3412800" y="3439800"/>
            <a:ext cx="254880" cy="181800"/>
          </a:xfrm>
          <a:prstGeom prst="roundRect">
            <a:avLst>
              <a:gd name="adj" fmla="val 45000"/>
            </a:avLst>
          </a:prstGeom>
          <a:solidFill>
            <a:srgbClr val="FFFFFF"/>
          </a:solidFill>
          <a:ln w="12700">
            <a:solidFill>
              <a:srgbClr val="DFE6E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35" name="Text 34"/>
          <p:cNvSpPr/>
          <p:nvPr/>
        </p:nvSpPr>
        <p:spPr>
          <a:xfrm>
            <a:off x="3394800" y="343980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5C6B7A"/>
                </a:solidFill>
                <a:effectLst/>
                <a:uFillTx/>
                <a:latin typeface="Calibri"/>
                <a:ea typeface="Calibri"/>
              </a:rPr>
              <a:t>5</a:t>
            </a:r>
            <a:endParaRPr lang="en-US" sz="850" b="0" u="none" strike="noStrike">
              <a:solidFill>
                <a:srgbClr val="000000"/>
              </a:solidFill>
              <a:effectLst/>
              <a:uFillTx/>
              <a:latin typeface="Arial"/>
            </a:endParaRPr>
          </a:p>
        </p:txBody>
      </p:sp>
      <p:sp>
        <p:nvSpPr>
          <p:cNvPr id="1536" name="Shape 35"/>
          <p:cNvSpPr/>
          <p:nvPr/>
        </p:nvSpPr>
        <p:spPr>
          <a:xfrm>
            <a:off x="3880440" y="3439800"/>
            <a:ext cx="254880" cy="181800"/>
          </a:xfrm>
          <a:prstGeom prst="roundRect">
            <a:avLst>
              <a:gd name="adj" fmla="val 45000"/>
            </a:avLst>
          </a:prstGeom>
          <a:solidFill>
            <a:srgbClr val="B23A2B"/>
          </a:solidFill>
          <a:ln w="12700">
            <a:solidFill>
              <a:srgbClr val="B23A2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37" name="Text 36"/>
          <p:cNvSpPr/>
          <p:nvPr/>
        </p:nvSpPr>
        <p:spPr>
          <a:xfrm>
            <a:off x="3862080" y="343980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FFFFFF"/>
                </a:solidFill>
                <a:effectLst/>
                <a:uFillTx/>
                <a:latin typeface="Calibri"/>
                <a:ea typeface="Calibri"/>
              </a:rPr>
              <a:t>2</a:t>
            </a:r>
            <a:endParaRPr lang="en-US" sz="850" b="0" u="none" strike="noStrike">
              <a:solidFill>
                <a:srgbClr val="000000"/>
              </a:solidFill>
              <a:effectLst/>
              <a:uFillTx/>
              <a:latin typeface="Arial"/>
            </a:endParaRPr>
          </a:p>
        </p:txBody>
      </p:sp>
      <p:sp>
        <p:nvSpPr>
          <p:cNvPr id="1538" name="Shape 37"/>
          <p:cNvSpPr/>
          <p:nvPr/>
        </p:nvSpPr>
        <p:spPr>
          <a:xfrm>
            <a:off x="4930560" y="3439800"/>
            <a:ext cx="254880" cy="181800"/>
          </a:xfrm>
          <a:prstGeom prst="roundRect">
            <a:avLst>
              <a:gd name="adj" fmla="val 45000"/>
            </a:avLst>
          </a:prstGeom>
          <a:solidFill>
            <a:srgbClr val="FFFFFF"/>
          </a:solidFill>
          <a:ln w="12700">
            <a:solidFill>
              <a:srgbClr val="DFE6E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39" name="Text 38"/>
          <p:cNvSpPr/>
          <p:nvPr/>
        </p:nvSpPr>
        <p:spPr>
          <a:xfrm>
            <a:off x="4912200" y="343980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5C6B7A"/>
                </a:solidFill>
                <a:effectLst/>
                <a:uFillTx/>
                <a:latin typeface="Calibri"/>
                <a:ea typeface="Calibri"/>
              </a:rPr>
              <a:t>1</a:t>
            </a:r>
            <a:endParaRPr lang="en-US" sz="850" b="0" u="none" strike="noStrike">
              <a:solidFill>
                <a:srgbClr val="000000"/>
              </a:solidFill>
              <a:effectLst/>
              <a:uFillTx/>
              <a:latin typeface="Arial"/>
            </a:endParaRPr>
          </a:p>
        </p:txBody>
      </p:sp>
      <p:sp>
        <p:nvSpPr>
          <p:cNvPr id="1540" name="Shape 39"/>
          <p:cNvSpPr/>
          <p:nvPr/>
        </p:nvSpPr>
        <p:spPr>
          <a:xfrm>
            <a:off x="6077880" y="3439800"/>
            <a:ext cx="254880" cy="181800"/>
          </a:xfrm>
          <a:prstGeom prst="roundRect">
            <a:avLst>
              <a:gd name="adj" fmla="val 45000"/>
            </a:avLst>
          </a:prstGeom>
          <a:solidFill>
            <a:srgbClr val="FFFFFF"/>
          </a:solidFill>
          <a:ln w="12700">
            <a:solidFill>
              <a:srgbClr val="DFE6E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41" name="Text 40"/>
          <p:cNvSpPr/>
          <p:nvPr/>
        </p:nvSpPr>
        <p:spPr>
          <a:xfrm>
            <a:off x="6059520" y="343980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5C6B7A"/>
                </a:solidFill>
                <a:effectLst/>
                <a:uFillTx/>
                <a:latin typeface="Calibri"/>
                <a:ea typeface="Calibri"/>
              </a:rPr>
              <a:t>2</a:t>
            </a:r>
            <a:endParaRPr lang="en-US" sz="850" b="0" u="none" strike="noStrike">
              <a:solidFill>
                <a:srgbClr val="000000"/>
              </a:solidFill>
              <a:effectLst/>
              <a:uFillTx/>
              <a:latin typeface="Arial"/>
            </a:endParaRPr>
          </a:p>
        </p:txBody>
      </p:sp>
      <p:sp>
        <p:nvSpPr>
          <p:cNvPr id="1542" name="Shape 41"/>
          <p:cNvSpPr/>
          <p:nvPr/>
        </p:nvSpPr>
        <p:spPr>
          <a:xfrm>
            <a:off x="6778800" y="3439800"/>
            <a:ext cx="254880" cy="181800"/>
          </a:xfrm>
          <a:prstGeom prst="roundRect">
            <a:avLst>
              <a:gd name="adj" fmla="val 45000"/>
            </a:avLst>
          </a:prstGeom>
          <a:solidFill>
            <a:srgbClr val="FFFFFF"/>
          </a:solidFill>
          <a:ln w="12700">
            <a:solidFill>
              <a:srgbClr val="DFE6E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43" name="Text 42"/>
          <p:cNvSpPr/>
          <p:nvPr/>
        </p:nvSpPr>
        <p:spPr>
          <a:xfrm>
            <a:off x="6760440" y="343980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5C6B7A"/>
                </a:solidFill>
                <a:effectLst/>
                <a:uFillTx/>
                <a:latin typeface="Calibri"/>
                <a:ea typeface="Calibri"/>
              </a:rPr>
              <a:t>9</a:t>
            </a:r>
            <a:endParaRPr lang="en-US" sz="850" b="0" u="none" strike="noStrike">
              <a:solidFill>
                <a:srgbClr val="000000"/>
              </a:solidFill>
              <a:effectLst/>
              <a:uFillTx/>
              <a:latin typeface="Arial"/>
            </a:endParaRPr>
          </a:p>
        </p:txBody>
      </p:sp>
      <p:sp>
        <p:nvSpPr>
          <p:cNvPr id="1544" name="Shape 43"/>
          <p:cNvSpPr/>
          <p:nvPr/>
        </p:nvSpPr>
        <p:spPr>
          <a:xfrm>
            <a:off x="3218760" y="4268520"/>
            <a:ext cx="254880" cy="181800"/>
          </a:xfrm>
          <a:prstGeom prst="roundRect">
            <a:avLst>
              <a:gd name="adj" fmla="val 45000"/>
            </a:avLst>
          </a:prstGeom>
          <a:solidFill>
            <a:srgbClr val="FFFFFF"/>
          </a:solidFill>
          <a:ln w="12700">
            <a:solidFill>
              <a:srgbClr val="DFE6E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45" name="Text 44"/>
          <p:cNvSpPr/>
          <p:nvPr/>
        </p:nvSpPr>
        <p:spPr>
          <a:xfrm>
            <a:off x="3200400" y="426852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5C6B7A"/>
                </a:solidFill>
                <a:effectLst/>
                <a:uFillTx/>
                <a:latin typeface="Calibri"/>
                <a:ea typeface="Calibri"/>
              </a:rPr>
              <a:t>3</a:t>
            </a:r>
            <a:endParaRPr lang="en-US" sz="850" b="0" u="none" strike="noStrike">
              <a:solidFill>
                <a:srgbClr val="000000"/>
              </a:solidFill>
              <a:effectLst/>
              <a:uFillTx/>
              <a:latin typeface="Arial"/>
            </a:endParaRPr>
          </a:p>
        </p:txBody>
      </p:sp>
      <p:sp>
        <p:nvSpPr>
          <p:cNvPr id="1546" name="Shape 45"/>
          <p:cNvSpPr/>
          <p:nvPr/>
        </p:nvSpPr>
        <p:spPr>
          <a:xfrm>
            <a:off x="4074480" y="4268520"/>
            <a:ext cx="254880" cy="181800"/>
          </a:xfrm>
          <a:prstGeom prst="roundRect">
            <a:avLst>
              <a:gd name="adj" fmla="val 45000"/>
            </a:avLst>
          </a:prstGeom>
          <a:solidFill>
            <a:srgbClr val="B23A2B"/>
          </a:solidFill>
          <a:ln w="12700">
            <a:solidFill>
              <a:srgbClr val="B23A2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47" name="Text 46"/>
          <p:cNvSpPr/>
          <p:nvPr/>
        </p:nvSpPr>
        <p:spPr>
          <a:xfrm>
            <a:off x="4056120" y="426852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FFFFFF"/>
                </a:solidFill>
                <a:effectLst/>
                <a:uFillTx/>
                <a:latin typeface="Calibri"/>
                <a:ea typeface="Calibri"/>
              </a:rPr>
              <a:t>2</a:t>
            </a:r>
            <a:endParaRPr lang="en-US" sz="850" b="0" u="none" strike="noStrike">
              <a:solidFill>
                <a:srgbClr val="000000"/>
              </a:solidFill>
              <a:effectLst/>
              <a:uFillTx/>
              <a:latin typeface="Arial"/>
            </a:endParaRPr>
          </a:p>
        </p:txBody>
      </p:sp>
      <p:sp>
        <p:nvSpPr>
          <p:cNvPr id="1548" name="Shape 47"/>
          <p:cNvSpPr/>
          <p:nvPr/>
        </p:nvSpPr>
        <p:spPr>
          <a:xfrm>
            <a:off x="4930560" y="4268520"/>
            <a:ext cx="254880" cy="181800"/>
          </a:xfrm>
          <a:prstGeom prst="roundRect">
            <a:avLst>
              <a:gd name="adj" fmla="val 45000"/>
            </a:avLst>
          </a:prstGeom>
          <a:solidFill>
            <a:srgbClr val="FFFFFF"/>
          </a:solidFill>
          <a:ln w="12700">
            <a:solidFill>
              <a:srgbClr val="DFE6E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49" name="Text 48"/>
          <p:cNvSpPr/>
          <p:nvPr/>
        </p:nvSpPr>
        <p:spPr>
          <a:xfrm>
            <a:off x="4912200" y="426852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5C6B7A"/>
                </a:solidFill>
                <a:effectLst/>
                <a:uFillTx/>
                <a:latin typeface="Calibri"/>
                <a:ea typeface="Calibri"/>
              </a:rPr>
              <a:t>3</a:t>
            </a:r>
            <a:endParaRPr lang="en-US" sz="850" b="0" u="none" strike="noStrike">
              <a:solidFill>
                <a:srgbClr val="000000"/>
              </a:solidFill>
              <a:effectLst/>
              <a:uFillTx/>
              <a:latin typeface="Arial"/>
            </a:endParaRPr>
          </a:p>
        </p:txBody>
      </p:sp>
      <p:sp>
        <p:nvSpPr>
          <p:cNvPr id="1550" name="Shape 49"/>
          <p:cNvSpPr/>
          <p:nvPr/>
        </p:nvSpPr>
        <p:spPr>
          <a:xfrm>
            <a:off x="5786280" y="4268520"/>
            <a:ext cx="254880" cy="181800"/>
          </a:xfrm>
          <a:prstGeom prst="roundRect">
            <a:avLst>
              <a:gd name="adj" fmla="val 45000"/>
            </a:avLst>
          </a:prstGeom>
          <a:solidFill>
            <a:srgbClr val="FFFFFF"/>
          </a:solidFill>
          <a:ln w="12700">
            <a:solidFill>
              <a:srgbClr val="DFE6E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51" name="Text 50"/>
          <p:cNvSpPr/>
          <p:nvPr/>
        </p:nvSpPr>
        <p:spPr>
          <a:xfrm>
            <a:off x="5767920" y="426852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5C6B7A"/>
                </a:solidFill>
                <a:effectLst/>
                <a:uFillTx/>
                <a:latin typeface="Calibri"/>
                <a:ea typeface="Calibri"/>
              </a:rPr>
              <a:t>4</a:t>
            </a:r>
            <a:endParaRPr lang="en-US" sz="850" b="0" u="none" strike="noStrike">
              <a:solidFill>
                <a:srgbClr val="000000"/>
              </a:solidFill>
              <a:effectLst/>
              <a:uFillTx/>
              <a:latin typeface="Arial"/>
            </a:endParaRPr>
          </a:p>
        </p:txBody>
      </p:sp>
      <p:sp>
        <p:nvSpPr>
          <p:cNvPr id="1552" name="Shape 51"/>
          <p:cNvSpPr/>
          <p:nvPr/>
        </p:nvSpPr>
        <p:spPr>
          <a:xfrm>
            <a:off x="6836400" y="4268520"/>
            <a:ext cx="254880" cy="181800"/>
          </a:xfrm>
          <a:prstGeom prst="roundRect">
            <a:avLst>
              <a:gd name="adj" fmla="val 45000"/>
            </a:avLst>
          </a:prstGeom>
          <a:solidFill>
            <a:srgbClr val="FFFFFF"/>
          </a:solidFill>
          <a:ln w="12700">
            <a:solidFill>
              <a:srgbClr val="DFE6E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53" name="Text 52"/>
          <p:cNvSpPr/>
          <p:nvPr/>
        </p:nvSpPr>
        <p:spPr>
          <a:xfrm>
            <a:off x="6818400" y="426852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5C6B7A"/>
                </a:solidFill>
                <a:effectLst/>
                <a:uFillTx/>
                <a:latin typeface="Calibri"/>
                <a:ea typeface="Calibri"/>
              </a:rPr>
              <a:t>2</a:t>
            </a:r>
            <a:endParaRPr lang="en-US" sz="850" b="0" u="none" strike="noStrike">
              <a:solidFill>
                <a:srgbClr val="000000"/>
              </a:solidFill>
              <a:effectLst/>
              <a:uFillTx/>
              <a:latin typeface="Arial"/>
            </a:endParaRPr>
          </a:p>
        </p:txBody>
      </p:sp>
      <p:sp>
        <p:nvSpPr>
          <p:cNvPr id="1554" name="Shape 53"/>
          <p:cNvSpPr/>
          <p:nvPr/>
        </p:nvSpPr>
        <p:spPr>
          <a:xfrm>
            <a:off x="7303680" y="4268520"/>
            <a:ext cx="254880" cy="181800"/>
          </a:xfrm>
          <a:prstGeom prst="roundRect">
            <a:avLst>
              <a:gd name="adj" fmla="val 45000"/>
            </a:avLst>
          </a:prstGeom>
          <a:solidFill>
            <a:srgbClr val="FFFFFF"/>
          </a:solidFill>
          <a:ln w="12700">
            <a:solidFill>
              <a:srgbClr val="DFE6E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55" name="Text 54"/>
          <p:cNvSpPr/>
          <p:nvPr/>
        </p:nvSpPr>
        <p:spPr>
          <a:xfrm>
            <a:off x="7285320" y="4268520"/>
            <a:ext cx="291600" cy="181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trike="noStrike">
                <a:solidFill>
                  <a:srgbClr val="5C6B7A"/>
                </a:solidFill>
                <a:effectLst/>
                <a:uFillTx/>
                <a:latin typeface="Calibri"/>
                <a:ea typeface="Calibri"/>
              </a:rPr>
              <a:t>4</a:t>
            </a:r>
            <a:endParaRPr lang="en-US" sz="850" b="0" u="none" strike="noStrike">
              <a:solidFill>
                <a:srgbClr val="000000"/>
              </a:solidFill>
              <a:effectLst/>
              <a:uFillTx/>
              <a:latin typeface="Arial"/>
            </a:endParaRPr>
          </a:p>
        </p:txBody>
      </p:sp>
      <p:sp>
        <p:nvSpPr>
          <p:cNvPr id="1556" name="Shape 55"/>
          <p:cNvSpPr/>
          <p:nvPr/>
        </p:nvSpPr>
        <p:spPr>
          <a:xfrm>
            <a:off x="4946760" y="2066400"/>
            <a:ext cx="364680" cy="364680"/>
          </a:xfrm>
          <a:prstGeom prst="ellipse">
            <a:avLst/>
          </a:prstGeom>
          <a:solidFill>
            <a:srgbClr val="123B63"/>
          </a:solidFill>
          <a:ln w="19050">
            <a:solidFill>
              <a:srgbClr val="123B6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57" name="Text 56"/>
          <p:cNvSpPr/>
          <p:nvPr/>
        </p:nvSpPr>
        <p:spPr>
          <a:xfrm>
            <a:off x="4946760" y="206640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A</a:t>
            </a:r>
            <a:endParaRPr lang="en-US" sz="1200" b="0" u="none" strike="noStrike">
              <a:solidFill>
                <a:srgbClr val="000000"/>
              </a:solidFill>
              <a:effectLst/>
              <a:uFillTx/>
              <a:latin typeface="Arial"/>
            </a:endParaRPr>
          </a:p>
        </p:txBody>
      </p:sp>
      <p:sp>
        <p:nvSpPr>
          <p:cNvPr id="1558" name="Text 57"/>
          <p:cNvSpPr/>
          <p:nvPr/>
        </p:nvSpPr>
        <p:spPr>
          <a:xfrm>
            <a:off x="4837320" y="2436840"/>
            <a:ext cx="584280" cy="127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5C6B7A"/>
                </a:solidFill>
                <a:effectLst/>
                <a:uFillTx/>
                <a:latin typeface="Calibri"/>
                <a:ea typeface="Calibri"/>
              </a:rPr>
              <a:t>g=0</a:t>
            </a:r>
            <a:endParaRPr lang="en-US" sz="800" b="0" u="none" strike="noStrike">
              <a:solidFill>
                <a:srgbClr val="000000"/>
              </a:solidFill>
              <a:effectLst/>
              <a:uFillTx/>
              <a:latin typeface="Arial"/>
            </a:endParaRPr>
          </a:p>
        </p:txBody>
      </p:sp>
      <p:sp>
        <p:nvSpPr>
          <p:cNvPr id="1559" name="Shape 58"/>
          <p:cNvSpPr/>
          <p:nvPr/>
        </p:nvSpPr>
        <p:spPr>
          <a:xfrm>
            <a:off x="3591720" y="2895480"/>
            <a:ext cx="364680" cy="364680"/>
          </a:xfrm>
          <a:prstGeom prst="ellipse">
            <a:avLst/>
          </a:prstGeom>
          <a:solidFill>
            <a:srgbClr val="DAEAE3"/>
          </a:solidFill>
          <a:ln w="15875">
            <a:solidFill>
              <a:srgbClr val="2E7D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60" name="Text 59"/>
          <p:cNvSpPr/>
          <p:nvPr/>
        </p:nvSpPr>
        <p:spPr>
          <a:xfrm>
            <a:off x="3591720" y="289548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D5A4B"/>
                </a:solidFill>
                <a:effectLst/>
                <a:uFillTx/>
                <a:latin typeface="Calibri"/>
                <a:ea typeface="Calibri"/>
              </a:rPr>
              <a:t>B</a:t>
            </a:r>
            <a:endParaRPr lang="en-US" sz="1200" b="0" u="none" strike="noStrike">
              <a:solidFill>
                <a:srgbClr val="000000"/>
              </a:solidFill>
              <a:effectLst/>
              <a:uFillTx/>
              <a:latin typeface="Arial"/>
            </a:endParaRPr>
          </a:p>
        </p:txBody>
      </p:sp>
      <p:sp>
        <p:nvSpPr>
          <p:cNvPr id="1561" name="Text 60"/>
          <p:cNvSpPr/>
          <p:nvPr/>
        </p:nvSpPr>
        <p:spPr>
          <a:xfrm>
            <a:off x="3481920" y="326592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5C6B7A"/>
                </a:solidFill>
                <a:effectLst/>
                <a:uFillTx/>
                <a:latin typeface="Calibri"/>
                <a:ea typeface="Calibri"/>
              </a:rPr>
              <a:t>g=4</a:t>
            </a:r>
            <a:endParaRPr lang="en-US" sz="800" b="0" u="none" strike="noStrike">
              <a:solidFill>
                <a:srgbClr val="000000"/>
              </a:solidFill>
              <a:effectLst/>
              <a:uFillTx/>
              <a:latin typeface="Arial"/>
            </a:endParaRPr>
          </a:p>
        </p:txBody>
      </p:sp>
      <p:sp>
        <p:nvSpPr>
          <p:cNvPr id="1562" name="Shape 61"/>
          <p:cNvSpPr/>
          <p:nvPr/>
        </p:nvSpPr>
        <p:spPr>
          <a:xfrm>
            <a:off x="4875480" y="2895480"/>
            <a:ext cx="364680" cy="364680"/>
          </a:xfrm>
          <a:prstGeom prst="ellipse">
            <a:avLst/>
          </a:prstGeom>
          <a:solidFill>
            <a:srgbClr val="FFFFFF"/>
          </a:solidFill>
          <a:ln w="15875">
            <a:solidFill>
              <a:srgbClr val="C0CC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63" name="Text 62"/>
          <p:cNvSpPr/>
          <p:nvPr/>
        </p:nvSpPr>
        <p:spPr>
          <a:xfrm>
            <a:off x="4875480" y="289548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6E7C8A"/>
                </a:solidFill>
                <a:effectLst/>
                <a:uFillTx/>
                <a:latin typeface="Calibri"/>
                <a:ea typeface="Calibri"/>
              </a:rPr>
              <a:t>C</a:t>
            </a:r>
            <a:endParaRPr lang="en-US" sz="1200" b="0" u="none" strike="noStrike">
              <a:solidFill>
                <a:srgbClr val="000000"/>
              </a:solidFill>
              <a:effectLst/>
              <a:uFillTx/>
              <a:latin typeface="Arial"/>
            </a:endParaRPr>
          </a:p>
        </p:txBody>
      </p:sp>
      <p:sp>
        <p:nvSpPr>
          <p:cNvPr id="1564" name="Text 63"/>
          <p:cNvSpPr/>
          <p:nvPr/>
        </p:nvSpPr>
        <p:spPr>
          <a:xfrm>
            <a:off x="4765680" y="326592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98A5B2"/>
                </a:solidFill>
                <a:effectLst/>
                <a:uFillTx/>
                <a:latin typeface="Calibri"/>
                <a:ea typeface="Calibri"/>
              </a:rPr>
              <a:t>g=9</a:t>
            </a:r>
            <a:endParaRPr lang="en-US" sz="800" b="0" u="none" strike="noStrike">
              <a:solidFill>
                <a:srgbClr val="000000"/>
              </a:solidFill>
              <a:effectLst/>
              <a:uFillTx/>
              <a:latin typeface="Arial"/>
            </a:endParaRPr>
          </a:p>
        </p:txBody>
      </p:sp>
      <p:sp>
        <p:nvSpPr>
          <p:cNvPr id="1565" name="Shape 64"/>
          <p:cNvSpPr/>
          <p:nvPr/>
        </p:nvSpPr>
        <p:spPr>
          <a:xfrm>
            <a:off x="6373440" y="2895480"/>
            <a:ext cx="364680" cy="364680"/>
          </a:xfrm>
          <a:prstGeom prst="ellipse">
            <a:avLst/>
          </a:prstGeom>
          <a:solidFill>
            <a:srgbClr val="DAEAE3"/>
          </a:solidFill>
          <a:ln w="15875">
            <a:solidFill>
              <a:srgbClr val="2E7D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66" name="Text 65"/>
          <p:cNvSpPr/>
          <p:nvPr/>
        </p:nvSpPr>
        <p:spPr>
          <a:xfrm>
            <a:off x="6373440" y="289548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D5A4B"/>
                </a:solidFill>
                <a:effectLst/>
                <a:uFillTx/>
                <a:latin typeface="Calibri"/>
                <a:ea typeface="Calibri"/>
              </a:rPr>
              <a:t>D</a:t>
            </a:r>
            <a:endParaRPr lang="en-US" sz="1200" b="0" u="none" strike="noStrike">
              <a:solidFill>
                <a:srgbClr val="000000"/>
              </a:solidFill>
              <a:effectLst/>
              <a:uFillTx/>
              <a:latin typeface="Arial"/>
            </a:endParaRPr>
          </a:p>
        </p:txBody>
      </p:sp>
      <p:sp>
        <p:nvSpPr>
          <p:cNvPr id="1567" name="Text 66"/>
          <p:cNvSpPr/>
          <p:nvPr/>
        </p:nvSpPr>
        <p:spPr>
          <a:xfrm>
            <a:off x="6263640" y="326592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5C6B7A"/>
                </a:solidFill>
                <a:effectLst/>
                <a:uFillTx/>
                <a:latin typeface="Calibri"/>
                <a:ea typeface="Calibri"/>
              </a:rPr>
              <a:t>g=1</a:t>
            </a:r>
            <a:endParaRPr lang="en-US" sz="800" b="0" u="none" strike="noStrike">
              <a:solidFill>
                <a:srgbClr val="000000"/>
              </a:solidFill>
              <a:effectLst/>
              <a:uFillTx/>
              <a:latin typeface="Arial"/>
            </a:endParaRPr>
          </a:p>
        </p:txBody>
      </p:sp>
      <p:sp>
        <p:nvSpPr>
          <p:cNvPr id="1568" name="Shape 67"/>
          <p:cNvSpPr/>
          <p:nvPr/>
        </p:nvSpPr>
        <p:spPr>
          <a:xfrm>
            <a:off x="3163680" y="3724560"/>
            <a:ext cx="364680" cy="364680"/>
          </a:xfrm>
          <a:prstGeom prst="ellipse">
            <a:avLst/>
          </a:prstGeom>
          <a:solidFill>
            <a:srgbClr val="FFFFFF"/>
          </a:solidFill>
          <a:ln w="15875">
            <a:solidFill>
              <a:srgbClr val="C0CC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69" name="Text 68"/>
          <p:cNvSpPr/>
          <p:nvPr/>
        </p:nvSpPr>
        <p:spPr>
          <a:xfrm>
            <a:off x="3163680" y="372456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6E7C8A"/>
                </a:solidFill>
                <a:effectLst/>
                <a:uFillTx/>
                <a:latin typeface="Calibri"/>
                <a:ea typeface="Calibri"/>
              </a:rPr>
              <a:t>E</a:t>
            </a:r>
            <a:endParaRPr lang="en-US" sz="1200" b="0" u="none" strike="noStrike">
              <a:solidFill>
                <a:srgbClr val="000000"/>
              </a:solidFill>
              <a:effectLst/>
              <a:uFillTx/>
              <a:latin typeface="Arial"/>
            </a:endParaRPr>
          </a:p>
        </p:txBody>
      </p:sp>
      <p:sp>
        <p:nvSpPr>
          <p:cNvPr id="1570" name="Text 69"/>
          <p:cNvSpPr/>
          <p:nvPr/>
        </p:nvSpPr>
        <p:spPr>
          <a:xfrm>
            <a:off x="3054240" y="409500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98A5B2"/>
                </a:solidFill>
                <a:effectLst/>
                <a:uFillTx/>
                <a:latin typeface="Calibri"/>
                <a:ea typeface="Calibri"/>
              </a:rPr>
              <a:t>g=9</a:t>
            </a:r>
            <a:endParaRPr lang="en-US" sz="800" b="0" u="none" strike="noStrike">
              <a:solidFill>
                <a:srgbClr val="000000"/>
              </a:solidFill>
              <a:effectLst/>
              <a:uFillTx/>
              <a:latin typeface="Arial"/>
            </a:endParaRPr>
          </a:p>
        </p:txBody>
      </p:sp>
      <p:sp>
        <p:nvSpPr>
          <p:cNvPr id="1571" name="Shape 70"/>
          <p:cNvSpPr/>
          <p:nvPr/>
        </p:nvSpPr>
        <p:spPr>
          <a:xfrm>
            <a:off x="4019760" y="3724560"/>
            <a:ext cx="364680" cy="364680"/>
          </a:xfrm>
          <a:prstGeom prst="ellipse">
            <a:avLst/>
          </a:prstGeom>
          <a:solidFill>
            <a:srgbClr val="DAEAE3"/>
          </a:solidFill>
          <a:ln w="15875">
            <a:solidFill>
              <a:srgbClr val="2E7D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72" name="Text 71"/>
          <p:cNvSpPr/>
          <p:nvPr/>
        </p:nvSpPr>
        <p:spPr>
          <a:xfrm>
            <a:off x="4019760" y="372456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D5A4B"/>
                </a:solidFill>
                <a:effectLst/>
                <a:uFillTx/>
                <a:latin typeface="Calibri"/>
                <a:ea typeface="Calibri"/>
              </a:rPr>
              <a:t>F</a:t>
            </a:r>
            <a:endParaRPr lang="en-US" sz="1200" b="0" u="none" strike="noStrike">
              <a:solidFill>
                <a:srgbClr val="000000"/>
              </a:solidFill>
              <a:effectLst/>
              <a:uFillTx/>
              <a:latin typeface="Arial"/>
            </a:endParaRPr>
          </a:p>
        </p:txBody>
      </p:sp>
      <p:sp>
        <p:nvSpPr>
          <p:cNvPr id="1573" name="Text 72"/>
          <p:cNvSpPr/>
          <p:nvPr/>
        </p:nvSpPr>
        <p:spPr>
          <a:xfrm>
            <a:off x="3909960" y="409500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5C6B7A"/>
                </a:solidFill>
                <a:effectLst/>
                <a:uFillTx/>
                <a:latin typeface="Calibri"/>
                <a:ea typeface="Calibri"/>
              </a:rPr>
              <a:t>g=6</a:t>
            </a:r>
            <a:endParaRPr lang="en-US" sz="800" b="0" u="none" strike="noStrike">
              <a:solidFill>
                <a:srgbClr val="000000"/>
              </a:solidFill>
              <a:effectLst/>
              <a:uFillTx/>
              <a:latin typeface="Arial"/>
            </a:endParaRPr>
          </a:p>
        </p:txBody>
      </p:sp>
      <p:sp>
        <p:nvSpPr>
          <p:cNvPr id="1574" name="Shape 73"/>
          <p:cNvSpPr/>
          <p:nvPr/>
        </p:nvSpPr>
        <p:spPr>
          <a:xfrm>
            <a:off x="4875480" y="3724560"/>
            <a:ext cx="364680" cy="364680"/>
          </a:xfrm>
          <a:prstGeom prst="ellipse">
            <a:avLst/>
          </a:prstGeom>
          <a:solidFill>
            <a:srgbClr val="FFFFFF"/>
          </a:solidFill>
          <a:ln w="15875">
            <a:solidFill>
              <a:srgbClr val="C0CC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75" name="Text 74"/>
          <p:cNvSpPr/>
          <p:nvPr/>
        </p:nvSpPr>
        <p:spPr>
          <a:xfrm>
            <a:off x="4875480" y="372456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6E7C8A"/>
                </a:solidFill>
                <a:effectLst/>
                <a:uFillTx/>
                <a:latin typeface="Calibri"/>
                <a:ea typeface="Calibri"/>
              </a:rPr>
              <a:t>G</a:t>
            </a:r>
            <a:endParaRPr lang="en-US" sz="1200" b="0" u="none" strike="noStrike">
              <a:solidFill>
                <a:srgbClr val="000000"/>
              </a:solidFill>
              <a:effectLst/>
              <a:uFillTx/>
              <a:latin typeface="Arial"/>
            </a:endParaRPr>
          </a:p>
        </p:txBody>
      </p:sp>
      <p:sp>
        <p:nvSpPr>
          <p:cNvPr id="1576" name="Text 75"/>
          <p:cNvSpPr/>
          <p:nvPr/>
        </p:nvSpPr>
        <p:spPr>
          <a:xfrm>
            <a:off x="4765680" y="409500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98A5B2"/>
                </a:solidFill>
                <a:effectLst/>
                <a:uFillTx/>
                <a:latin typeface="Calibri"/>
                <a:ea typeface="Calibri"/>
              </a:rPr>
              <a:t>g=10</a:t>
            </a:r>
            <a:endParaRPr lang="en-US" sz="800" b="0" u="none" strike="noStrike">
              <a:solidFill>
                <a:srgbClr val="000000"/>
              </a:solidFill>
              <a:effectLst/>
              <a:uFillTx/>
              <a:latin typeface="Arial"/>
            </a:endParaRPr>
          </a:p>
        </p:txBody>
      </p:sp>
      <p:sp>
        <p:nvSpPr>
          <p:cNvPr id="1577" name="Shape 76"/>
          <p:cNvSpPr/>
          <p:nvPr/>
        </p:nvSpPr>
        <p:spPr>
          <a:xfrm>
            <a:off x="5731560" y="3724560"/>
            <a:ext cx="364680" cy="364680"/>
          </a:xfrm>
          <a:prstGeom prst="ellipse">
            <a:avLst/>
          </a:prstGeom>
          <a:solidFill>
            <a:srgbClr val="DAEAE3"/>
          </a:solidFill>
          <a:ln w="15875">
            <a:solidFill>
              <a:srgbClr val="2E7D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78" name="Text 77"/>
          <p:cNvSpPr/>
          <p:nvPr/>
        </p:nvSpPr>
        <p:spPr>
          <a:xfrm>
            <a:off x="5731560" y="372456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D5A4B"/>
                </a:solidFill>
                <a:effectLst/>
                <a:uFillTx/>
                <a:latin typeface="Calibri"/>
                <a:ea typeface="Calibri"/>
              </a:rPr>
              <a:t>H</a:t>
            </a:r>
            <a:endParaRPr lang="en-US" sz="1200" b="0" u="none" strike="noStrike">
              <a:solidFill>
                <a:srgbClr val="000000"/>
              </a:solidFill>
              <a:effectLst/>
              <a:uFillTx/>
              <a:latin typeface="Arial"/>
            </a:endParaRPr>
          </a:p>
        </p:txBody>
      </p:sp>
      <p:sp>
        <p:nvSpPr>
          <p:cNvPr id="1579" name="Text 78"/>
          <p:cNvSpPr/>
          <p:nvPr/>
        </p:nvSpPr>
        <p:spPr>
          <a:xfrm>
            <a:off x="5621760" y="409500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5C6B7A"/>
                </a:solidFill>
                <a:effectLst/>
                <a:uFillTx/>
                <a:latin typeface="Calibri"/>
                <a:ea typeface="Calibri"/>
              </a:rPr>
              <a:t>g=3</a:t>
            </a:r>
            <a:endParaRPr lang="en-US" sz="800" b="0" u="none" strike="noStrike">
              <a:solidFill>
                <a:srgbClr val="000000"/>
              </a:solidFill>
              <a:effectLst/>
              <a:uFillTx/>
              <a:latin typeface="Arial"/>
            </a:endParaRPr>
          </a:p>
        </p:txBody>
      </p:sp>
      <p:sp>
        <p:nvSpPr>
          <p:cNvPr id="1580" name="Shape 79"/>
          <p:cNvSpPr/>
          <p:nvPr/>
        </p:nvSpPr>
        <p:spPr>
          <a:xfrm>
            <a:off x="7015320" y="3724560"/>
            <a:ext cx="364680" cy="364680"/>
          </a:xfrm>
          <a:prstGeom prst="ellipse">
            <a:avLst/>
          </a:prstGeom>
          <a:solidFill>
            <a:srgbClr val="FFFFFF"/>
          </a:solidFill>
          <a:ln w="15875">
            <a:solidFill>
              <a:srgbClr val="C0CC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81" name="Text 80"/>
          <p:cNvSpPr/>
          <p:nvPr/>
        </p:nvSpPr>
        <p:spPr>
          <a:xfrm>
            <a:off x="7015320" y="372456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6E7C8A"/>
                </a:solidFill>
                <a:effectLst/>
                <a:uFillTx/>
                <a:latin typeface="Calibri"/>
                <a:ea typeface="Calibri"/>
              </a:rPr>
              <a:t>I</a:t>
            </a:r>
            <a:endParaRPr lang="en-US" sz="1200" b="0" u="none" strike="noStrike">
              <a:solidFill>
                <a:srgbClr val="000000"/>
              </a:solidFill>
              <a:effectLst/>
              <a:uFillTx/>
              <a:latin typeface="Arial"/>
            </a:endParaRPr>
          </a:p>
        </p:txBody>
      </p:sp>
      <p:sp>
        <p:nvSpPr>
          <p:cNvPr id="1582" name="Text 81"/>
          <p:cNvSpPr/>
          <p:nvPr/>
        </p:nvSpPr>
        <p:spPr>
          <a:xfrm>
            <a:off x="6905520" y="409500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98A5B2"/>
                </a:solidFill>
                <a:effectLst/>
                <a:uFillTx/>
                <a:latin typeface="Calibri"/>
                <a:ea typeface="Calibri"/>
              </a:rPr>
              <a:t>g=10</a:t>
            </a:r>
            <a:endParaRPr lang="en-US" sz="800" b="0" u="none" strike="noStrike">
              <a:solidFill>
                <a:srgbClr val="000000"/>
              </a:solidFill>
              <a:effectLst/>
              <a:uFillTx/>
              <a:latin typeface="Arial"/>
            </a:endParaRPr>
          </a:p>
        </p:txBody>
      </p:sp>
      <p:sp>
        <p:nvSpPr>
          <p:cNvPr id="1583" name="Shape 82"/>
          <p:cNvSpPr/>
          <p:nvPr/>
        </p:nvSpPr>
        <p:spPr>
          <a:xfrm>
            <a:off x="3163680" y="4553640"/>
            <a:ext cx="364680" cy="364680"/>
          </a:xfrm>
          <a:prstGeom prst="ellipse">
            <a:avLst/>
          </a:prstGeom>
          <a:solidFill>
            <a:srgbClr val="FFFFFF"/>
          </a:solidFill>
          <a:ln w="15875">
            <a:solidFill>
              <a:srgbClr val="C0CC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84" name="Text 83"/>
          <p:cNvSpPr/>
          <p:nvPr/>
        </p:nvSpPr>
        <p:spPr>
          <a:xfrm>
            <a:off x="3163680" y="455364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6E7C8A"/>
                </a:solidFill>
                <a:effectLst/>
                <a:uFillTx/>
                <a:latin typeface="Calibri"/>
                <a:ea typeface="Calibri"/>
              </a:rPr>
              <a:t>J</a:t>
            </a:r>
            <a:endParaRPr lang="en-US" sz="1200" b="0" u="none" strike="noStrike">
              <a:solidFill>
                <a:srgbClr val="000000"/>
              </a:solidFill>
              <a:effectLst/>
              <a:uFillTx/>
              <a:latin typeface="Arial"/>
            </a:endParaRPr>
          </a:p>
        </p:txBody>
      </p:sp>
      <p:sp>
        <p:nvSpPr>
          <p:cNvPr id="1585" name="Text 84"/>
          <p:cNvSpPr/>
          <p:nvPr/>
        </p:nvSpPr>
        <p:spPr>
          <a:xfrm>
            <a:off x="3054240" y="492408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98A5B2"/>
                </a:solidFill>
                <a:effectLst/>
                <a:uFillTx/>
                <a:latin typeface="Calibri"/>
                <a:ea typeface="Calibri"/>
              </a:rPr>
              <a:t>g=12</a:t>
            </a:r>
            <a:endParaRPr lang="en-US" sz="800" b="0" u="none" strike="noStrike">
              <a:solidFill>
                <a:srgbClr val="000000"/>
              </a:solidFill>
              <a:effectLst/>
              <a:uFillTx/>
              <a:latin typeface="Arial"/>
            </a:endParaRPr>
          </a:p>
        </p:txBody>
      </p:sp>
      <p:sp>
        <p:nvSpPr>
          <p:cNvPr id="1586" name="Shape 85"/>
          <p:cNvSpPr/>
          <p:nvPr/>
        </p:nvSpPr>
        <p:spPr>
          <a:xfrm>
            <a:off x="4019760" y="4553640"/>
            <a:ext cx="364680" cy="364680"/>
          </a:xfrm>
          <a:prstGeom prst="ellipse">
            <a:avLst/>
          </a:prstGeom>
          <a:solidFill>
            <a:srgbClr val="B23A2B"/>
          </a:solidFill>
          <a:ln w="19050">
            <a:solidFill>
              <a:srgbClr val="B23A2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87" name="Text 86"/>
          <p:cNvSpPr/>
          <p:nvPr/>
        </p:nvSpPr>
        <p:spPr>
          <a:xfrm>
            <a:off x="4019760" y="455364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K</a:t>
            </a:r>
            <a:endParaRPr lang="en-US" sz="1200" b="0" u="none" strike="noStrike">
              <a:solidFill>
                <a:srgbClr val="000000"/>
              </a:solidFill>
              <a:effectLst/>
              <a:uFillTx/>
              <a:latin typeface="Arial"/>
            </a:endParaRPr>
          </a:p>
        </p:txBody>
      </p:sp>
      <p:sp>
        <p:nvSpPr>
          <p:cNvPr id="1588" name="Text 87"/>
          <p:cNvSpPr/>
          <p:nvPr/>
        </p:nvSpPr>
        <p:spPr>
          <a:xfrm>
            <a:off x="3909960" y="492408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B23A2B"/>
                </a:solidFill>
                <a:effectLst/>
                <a:uFillTx/>
                <a:latin typeface="Calibri"/>
                <a:ea typeface="Calibri"/>
              </a:rPr>
              <a:t>g=8</a:t>
            </a:r>
            <a:endParaRPr lang="en-US" sz="800" b="0" u="none" strike="noStrike">
              <a:solidFill>
                <a:srgbClr val="000000"/>
              </a:solidFill>
              <a:effectLst/>
              <a:uFillTx/>
              <a:latin typeface="Arial"/>
            </a:endParaRPr>
          </a:p>
        </p:txBody>
      </p:sp>
      <p:sp>
        <p:nvSpPr>
          <p:cNvPr id="1589" name="Shape 88"/>
          <p:cNvSpPr/>
          <p:nvPr/>
        </p:nvSpPr>
        <p:spPr>
          <a:xfrm>
            <a:off x="4875480" y="4553640"/>
            <a:ext cx="364680" cy="364680"/>
          </a:xfrm>
          <a:prstGeom prst="ellipse">
            <a:avLst/>
          </a:prstGeom>
          <a:solidFill>
            <a:srgbClr val="FFFFFF"/>
          </a:solidFill>
          <a:ln w="15875">
            <a:solidFill>
              <a:srgbClr val="C0CC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90" name="Text 89"/>
          <p:cNvSpPr/>
          <p:nvPr/>
        </p:nvSpPr>
        <p:spPr>
          <a:xfrm>
            <a:off x="4875480" y="455364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6E7C8A"/>
                </a:solidFill>
                <a:effectLst/>
                <a:uFillTx/>
                <a:latin typeface="Calibri"/>
                <a:ea typeface="Calibri"/>
              </a:rPr>
              <a:t>L</a:t>
            </a:r>
            <a:endParaRPr lang="en-US" sz="1200" b="0" u="none" strike="noStrike">
              <a:solidFill>
                <a:srgbClr val="000000"/>
              </a:solidFill>
              <a:effectLst/>
              <a:uFillTx/>
              <a:latin typeface="Arial"/>
            </a:endParaRPr>
          </a:p>
        </p:txBody>
      </p:sp>
      <p:sp>
        <p:nvSpPr>
          <p:cNvPr id="1591" name="Text 90"/>
          <p:cNvSpPr/>
          <p:nvPr/>
        </p:nvSpPr>
        <p:spPr>
          <a:xfrm>
            <a:off x="4765680" y="492408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98A5B2"/>
                </a:solidFill>
                <a:effectLst/>
                <a:uFillTx/>
                <a:latin typeface="Calibri"/>
                <a:ea typeface="Calibri"/>
              </a:rPr>
              <a:t>g=13</a:t>
            </a:r>
            <a:endParaRPr lang="en-US" sz="800" b="0" u="none" strike="noStrike">
              <a:solidFill>
                <a:srgbClr val="000000"/>
              </a:solidFill>
              <a:effectLst/>
              <a:uFillTx/>
              <a:latin typeface="Arial"/>
            </a:endParaRPr>
          </a:p>
        </p:txBody>
      </p:sp>
      <p:sp>
        <p:nvSpPr>
          <p:cNvPr id="1592" name="Shape 91"/>
          <p:cNvSpPr/>
          <p:nvPr/>
        </p:nvSpPr>
        <p:spPr>
          <a:xfrm>
            <a:off x="5731560" y="4553640"/>
            <a:ext cx="364680" cy="364680"/>
          </a:xfrm>
          <a:prstGeom prst="ellipse">
            <a:avLst/>
          </a:prstGeom>
          <a:solidFill>
            <a:srgbClr val="DAEAE3"/>
          </a:solidFill>
          <a:ln w="15875">
            <a:solidFill>
              <a:srgbClr val="2E7D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93" name="Text 92"/>
          <p:cNvSpPr/>
          <p:nvPr/>
        </p:nvSpPr>
        <p:spPr>
          <a:xfrm>
            <a:off x="5731560" y="455364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D5A4B"/>
                </a:solidFill>
                <a:effectLst/>
                <a:uFillTx/>
                <a:latin typeface="Calibri"/>
                <a:ea typeface="Calibri"/>
              </a:rPr>
              <a:t>M</a:t>
            </a:r>
            <a:endParaRPr lang="en-US" sz="1200" b="0" u="none" strike="noStrike">
              <a:solidFill>
                <a:srgbClr val="000000"/>
              </a:solidFill>
              <a:effectLst/>
              <a:uFillTx/>
              <a:latin typeface="Arial"/>
            </a:endParaRPr>
          </a:p>
        </p:txBody>
      </p:sp>
      <p:sp>
        <p:nvSpPr>
          <p:cNvPr id="1594" name="Text 93"/>
          <p:cNvSpPr/>
          <p:nvPr/>
        </p:nvSpPr>
        <p:spPr>
          <a:xfrm>
            <a:off x="5621760" y="492408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5C6B7A"/>
                </a:solidFill>
                <a:effectLst/>
                <a:uFillTx/>
                <a:latin typeface="Calibri"/>
                <a:ea typeface="Calibri"/>
              </a:rPr>
              <a:t>g=7</a:t>
            </a:r>
            <a:endParaRPr lang="en-US" sz="800" b="0" u="none" strike="noStrike">
              <a:solidFill>
                <a:srgbClr val="000000"/>
              </a:solidFill>
              <a:effectLst/>
              <a:uFillTx/>
              <a:latin typeface="Arial"/>
            </a:endParaRPr>
          </a:p>
        </p:txBody>
      </p:sp>
      <p:sp>
        <p:nvSpPr>
          <p:cNvPr id="1595" name="Shape 94"/>
          <p:cNvSpPr/>
          <p:nvPr/>
        </p:nvSpPr>
        <p:spPr>
          <a:xfrm>
            <a:off x="6587280" y="4553640"/>
            <a:ext cx="364680" cy="364680"/>
          </a:xfrm>
          <a:prstGeom prst="ellipse">
            <a:avLst/>
          </a:prstGeom>
          <a:solidFill>
            <a:srgbClr val="FFFFFF"/>
          </a:solidFill>
          <a:ln w="15875">
            <a:solidFill>
              <a:srgbClr val="C0CC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96" name="Text 95"/>
          <p:cNvSpPr/>
          <p:nvPr/>
        </p:nvSpPr>
        <p:spPr>
          <a:xfrm>
            <a:off x="6587280" y="455364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6E7C8A"/>
                </a:solidFill>
                <a:effectLst/>
                <a:uFillTx/>
                <a:latin typeface="Calibri"/>
                <a:ea typeface="Calibri"/>
              </a:rPr>
              <a:t>N</a:t>
            </a:r>
            <a:endParaRPr lang="en-US" sz="1200" b="0" u="none" strike="noStrike">
              <a:solidFill>
                <a:srgbClr val="000000"/>
              </a:solidFill>
              <a:effectLst/>
              <a:uFillTx/>
              <a:latin typeface="Arial"/>
            </a:endParaRPr>
          </a:p>
        </p:txBody>
      </p:sp>
      <p:sp>
        <p:nvSpPr>
          <p:cNvPr id="1597" name="Text 96"/>
          <p:cNvSpPr/>
          <p:nvPr/>
        </p:nvSpPr>
        <p:spPr>
          <a:xfrm>
            <a:off x="6477480" y="492408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98A5B2"/>
                </a:solidFill>
                <a:effectLst/>
                <a:uFillTx/>
                <a:latin typeface="Calibri"/>
                <a:ea typeface="Calibri"/>
              </a:rPr>
              <a:t>g=12</a:t>
            </a:r>
            <a:endParaRPr lang="en-US" sz="800" b="0" u="none" strike="noStrike">
              <a:solidFill>
                <a:srgbClr val="000000"/>
              </a:solidFill>
              <a:effectLst/>
              <a:uFillTx/>
              <a:latin typeface="Arial"/>
            </a:endParaRPr>
          </a:p>
        </p:txBody>
      </p:sp>
      <p:sp>
        <p:nvSpPr>
          <p:cNvPr id="1598" name="Shape 97"/>
          <p:cNvSpPr/>
          <p:nvPr/>
        </p:nvSpPr>
        <p:spPr>
          <a:xfrm>
            <a:off x="7443360" y="4553640"/>
            <a:ext cx="364680" cy="364680"/>
          </a:xfrm>
          <a:prstGeom prst="ellipse">
            <a:avLst/>
          </a:prstGeom>
          <a:solidFill>
            <a:srgbClr val="FFFFFF"/>
          </a:solidFill>
          <a:ln w="15875">
            <a:solidFill>
              <a:srgbClr val="C0CCD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99" name="Text 98"/>
          <p:cNvSpPr/>
          <p:nvPr/>
        </p:nvSpPr>
        <p:spPr>
          <a:xfrm>
            <a:off x="7443360" y="4553640"/>
            <a:ext cx="364680" cy="364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6E7C8A"/>
                </a:solidFill>
                <a:effectLst/>
                <a:uFillTx/>
                <a:latin typeface="Calibri"/>
                <a:ea typeface="Calibri"/>
              </a:rPr>
              <a:t>O</a:t>
            </a:r>
            <a:endParaRPr lang="en-US" sz="1200" b="0" u="none" strike="noStrike">
              <a:solidFill>
                <a:srgbClr val="000000"/>
              </a:solidFill>
              <a:effectLst/>
              <a:uFillTx/>
              <a:latin typeface="Arial"/>
            </a:endParaRPr>
          </a:p>
        </p:txBody>
      </p:sp>
      <p:sp>
        <p:nvSpPr>
          <p:cNvPr id="1600" name="Text 99"/>
          <p:cNvSpPr/>
          <p:nvPr/>
        </p:nvSpPr>
        <p:spPr>
          <a:xfrm>
            <a:off x="7333560" y="4924080"/>
            <a:ext cx="584280" cy="127080"/>
          </a:xfrm>
          <a:prstGeom prst="rect">
            <a:avLst/>
          </a:prstGeom>
          <a:solidFill>
            <a:srgbClr val="FFFFFF"/>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98A5B2"/>
                </a:solidFill>
                <a:effectLst/>
                <a:uFillTx/>
                <a:latin typeface="Calibri"/>
                <a:ea typeface="Calibri"/>
              </a:rPr>
              <a:t>g=14</a:t>
            </a:r>
            <a:endParaRPr lang="en-US" sz="800" b="0" u="none" strike="noStrike">
              <a:solidFill>
                <a:srgbClr val="000000"/>
              </a:solidFill>
              <a:effectLst/>
              <a:uFillTx/>
              <a:latin typeface="Arial"/>
            </a:endParaRPr>
          </a:p>
        </p:txBody>
      </p:sp>
      <p:sp>
        <p:nvSpPr>
          <p:cNvPr id="1601" name="Text 100"/>
          <p:cNvSpPr/>
          <p:nvPr/>
        </p:nvSpPr>
        <p:spPr>
          <a:xfrm>
            <a:off x="5349240" y="2167200"/>
            <a:ext cx="456120" cy="163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1" u="none" strike="noStrike">
                <a:solidFill>
                  <a:srgbClr val="123B63"/>
                </a:solidFill>
                <a:effectLst/>
                <a:uFillTx/>
                <a:latin typeface="Calibri"/>
                <a:ea typeface="Calibri"/>
              </a:rPr>
              <a:t>start</a:t>
            </a:r>
            <a:endParaRPr lang="en-US" sz="800" b="0" u="none" strike="noStrike">
              <a:solidFill>
                <a:srgbClr val="000000"/>
              </a:solidFill>
              <a:effectLst/>
              <a:uFillTx/>
              <a:latin typeface="Arial"/>
            </a:endParaRPr>
          </a:p>
        </p:txBody>
      </p:sp>
      <p:sp>
        <p:nvSpPr>
          <p:cNvPr id="1602" name="Text 101"/>
          <p:cNvSpPr/>
          <p:nvPr/>
        </p:nvSpPr>
        <p:spPr>
          <a:xfrm>
            <a:off x="3090600" y="5139000"/>
            <a:ext cx="4790520" cy="291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5C6B7A"/>
                </a:solidFill>
                <a:effectLst/>
                <a:uFillTx/>
                <a:latin typeface="Calibri"/>
                <a:ea typeface="Calibri"/>
              </a:rPr>
              <a:t>Cheapest path  </a:t>
            </a:r>
            <a:r>
              <a:rPr lang="en-US" sz="1200" b="1" u="none" strike="noStrike">
                <a:solidFill>
                  <a:srgbClr val="B23A2B"/>
                </a:solidFill>
                <a:effectLst/>
                <a:uFillTx/>
                <a:latin typeface="Calibri"/>
                <a:ea typeface="Calibri"/>
              </a:rPr>
              <a:t>A → B → F → K</a:t>
            </a:r>
            <a:r>
              <a:rPr lang="en-US" sz="1200" b="1" u="none" strike="noStrike">
                <a:solidFill>
                  <a:srgbClr val="123B63"/>
                </a:solidFill>
                <a:effectLst/>
                <a:uFillTx/>
                <a:latin typeface="Calibri"/>
                <a:ea typeface="Calibri"/>
              </a:rPr>
              <a:t>   ·   total cost g = 8</a:t>
            </a:r>
            <a:endParaRPr lang="en-US" sz="1200" b="0" u="none" strike="noStrike">
              <a:solidFill>
                <a:srgbClr val="000000"/>
              </a:solidFill>
              <a:effectLst/>
              <a:uFillTx/>
              <a:latin typeface="Arial"/>
            </a:endParaRPr>
          </a:p>
        </p:txBody>
      </p:sp>
      <p:sp>
        <p:nvSpPr>
          <p:cNvPr id="1603" name="Shape 102"/>
          <p:cNvSpPr/>
          <p:nvPr/>
        </p:nvSpPr>
        <p:spPr>
          <a:xfrm>
            <a:off x="8321040" y="1600200"/>
            <a:ext cx="3409560" cy="2284920"/>
          </a:xfrm>
          <a:prstGeom prst="roundRect">
            <a:avLst>
              <a:gd name="adj" fmla="val 2400"/>
            </a:avLst>
          </a:prstGeom>
          <a:solidFill>
            <a:srgbClr val="FFFFFF"/>
          </a:solidFill>
          <a:ln w="12700">
            <a:solidFill>
              <a:srgbClr val="DCE4EC"/>
            </a:solidFill>
            <a:round/>
          </a:ln>
          <a:effectLst>
            <a:outerShdw algn="bl" blurRad="114480" dir="5400000" dist="12600" rotWithShape="0">
              <a:srgbClr val="8FA3B5">
                <a:alpha val="18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04" name="Text 103"/>
          <p:cNvSpPr/>
          <p:nvPr/>
        </p:nvSpPr>
        <p:spPr>
          <a:xfrm>
            <a:off x="8522280" y="1700640"/>
            <a:ext cx="237636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23B63"/>
                </a:solidFill>
                <a:effectLst/>
                <a:uFillTx/>
                <a:latin typeface="Cambria"/>
                <a:ea typeface="Cambria"/>
              </a:rPr>
              <a:t>How UCS works</a:t>
            </a:r>
            <a:endParaRPr lang="en-US" sz="1250" b="0" u="none" strike="noStrike">
              <a:solidFill>
                <a:srgbClr val="000000"/>
              </a:solidFill>
              <a:effectLst/>
              <a:uFillTx/>
              <a:latin typeface="Arial"/>
            </a:endParaRPr>
          </a:p>
        </p:txBody>
      </p:sp>
      <p:sp>
        <p:nvSpPr>
          <p:cNvPr id="1605" name="Shape 104"/>
          <p:cNvSpPr/>
          <p:nvPr/>
        </p:nvSpPr>
        <p:spPr>
          <a:xfrm>
            <a:off x="8522280" y="2084760"/>
            <a:ext cx="218520" cy="218520"/>
          </a:xfrm>
          <a:prstGeom prst="ellipse">
            <a:avLst/>
          </a:prstGeom>
          <a:solidFill>
            <a:srgbClr val="123B63"/>
          </a:solidFill>
          <a:ln w="12700">
            <a:solidFill>
              <a:srgbClr val="123B6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06" name="Text 105"/>
          <p:cNvSpPr/>
          <p:nvPr/>
        </p:nvSpPr>
        <p:spPr>
          <a:xfrm>
            <a:off x="8522280" y="2084760"/>
            <a:ext cx="218520" cy="218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Calibri"/>
                <a:ea typeface="Calibri"/>
              </a:rPr>
              <a:t>1</a:t>
            </a:r>
            <a:endParaRPr lang="en-US" sz="900" b="0" u="none" strike="noStrike">
              <a:solidFill>
                <a:srgbClr val="000000"/>
              </a:solidFill>
              <a:effectLst/>
              <a:uFillTx/>
              <a:latin typeface="Arial"/>
            </a:endParaRPr>
          </a:p>
        </p:txBody>
      </p:sp>
      <p:sp>
        <p:nvSpPr>
          <p:cNvPr id="1607" name="Text 106"/>
          <p:cNvSpPr/>
          <p:nvPr/>
        </p:nvSpPr>
        <p:spPr>
          <a:xfrm>
            <a:off x="8832960" y="2066400"/>
            <a:ext cx="2696400" cy="383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3F4B58"/>
                </a:solidFill>
                <a:effectLst/>
                <a:uFillTx/>
                <a:latin typeface="Calibri"/>
                <a:ea typeface="Calibri"/>
              </a:rPr>
              <a:t>Frontier is a priority queue keyed on g(n). Start with A at g = 0.</a:t>
            </a:r>
            <a:endParaRPr lang="en-US" sz="1000" b="0" u="none" strike="noStrike">
              <a:solidFill>
                <a:srgbClr val="000000"/>
              </a:solidFill>
              <a:effectLst/>
              <a:uFillTx/>
              <a:latin typeface="Arial"/>
            </a:endParaRPr>
          </a:p>
        </p:txBody>
      </p:sp>
      <p:sp>
        <p:nvSpPr>
          <p:cNvPr id="1608" name="Shape 107"/>
          <p:cNvSpPr/>
          <p:nvPr/>
        </p:nvSpPr>
        <p:spPr>
          <a:xfrm>
            <a:off x="8522280" y="2532960"/>
            <a:ext cx="218520" cy="218520"/>
          </a:xfrm>
          <a:prstGeom prst="ellipse">
            <a:avLst/>
          </a:prstGeom>
          <a:solidFill>
            <a:srgbClr val="123B63"/>
          </a:solidFill>
          <a:ln w="12700">
            <a:solidFill>
              <a:srgbClr val="123B6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09" name="Text 108"/>
          <p:cNvSpPr/>
          <p:nvPr/>
        </p:nvSpPr>
        <p:spPr>
          <a:xfrm>
            <a:off x="8522280" y="2532960"/>
            <a:ext cx="218520" cy="218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Calibri"/>
                <a:ea typeface="Calibri"/>
              </a:rPr>
              <a:t>2</a:t>
            </a:r>
            <a:endParaRPr lang="en-US" sz="900" b="0" u="none" strike="noStrike">
              <a:solidFill>
                <a:srgbClr val="000000"/>
              </a:solidFill>
              <a:effectLst/>
              <a:uFillTx/>
              <a:latin typeface="Arial"/>
            </a:endParaRPr>
          </a:p>
        </p:txBody>
      </p:sp>
      <p:sp>
        <p:nvSpPr>
          <p:cNvPr id="1610" name="Text 109"/>
          <p:cNvSpPr/>
          <p:nvPr/>
        </p:nvSpPr>
        <p:spPr>
          <a:xfrm>
            <a:off x="8832960" y="2514600"/>
            <a:ext cx="2696400" cy="383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3F4B58"/>
                </a:solidFill>
                <a:effectLst/>
                <a:uFillTx/>
                <a:latin typeface="Calibri"/>
                <a:ea typeface="Calibri"/>
              </a:rPr>
              <a:t>Pop the node with the smallest g(n).</a:t>
            </a:r>
            <a:endParaRPr lang="en-US" sz="1000" b="0" u="none" strike="noStrike">
              <a:solidFill>
                <a:srgbClr val="000000"/>
              </a:solidFill>
              <a:effectLst/>
              <a:uFillTx/>
              <a:latin typeface="Arial"/>
            </a:endParaRPr>
          </a:p>
        </p:txBody>
      </p:sp>
      <p:sp>
        <p:nvSpPr>
          <p:cNvPr id="1611" name="Shape 110"/>
          <p:cNvSpPr/>
          <p:nvPr/>
        </p:nvSpPr>
        <p:spPr>
          <a:xfrm>
            <a:off x="8522280" y="2980800"/>
            <a:ext cx="218520" cy="218520"/>
          </a:xfrm>
          <a:prstGeom prst="ellipse">
            <a:avLst/>
          </a:prstGeom>
          <a:solidFill>
            <a:srgbClr val="123B63"/>
          </a:solidFill>
          <a:ln w="12700">
            <a:solidFill>
              <a:srgbClr val="123B6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12" name="Text 111"/>
          <p:cNvSpPr/>
          <p:nvPr/>
        </p:nvSpPr>
        <p:spPr>
          <a:xfrm>
            <a:off x="8522280" y="2980800"/>
            <a:ext cx="218520" cy="218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Calibri"/>
                <a:ea typeface="Calibri"/>
              </a:rPr>
              <a:t>3</a:t>
            </a:r>
            <a:endParaRPr lang="en-US" sz="900" b="0" u="none" strike="noStrike">
              <a:solidFill>
                <a:srgbClr val="000000"/>
              </a:solidFill>
              <a:effectLst/>
              <a:uFillTx/>
              <a:latin typeface="Arial"/>
            </a:endParaRPr>
          </a:p>
        </p:txBody>
      </p:sp>
      <p:sp>
        <p:nvSpPr>
          <p:cNvPr id="1613" name="Text 112"/>
          <p:cNvSpPr/>
          <p:nvPr/>
        </p:nvSpPr>
        <p:spPr>
          <a:xfrm>
            <a:off x="8832960" y="2962800"/>
            <a:ext cx="2696400" cy="383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3F4B58"/>
                </a:solidFill>
                <a:effectLst/>
                <a:uFillTx/>
                <a:latin typeface="Calibri"/>
                <a:ea typeface="Calibri"/>
              </a:rPr>
              <a:t>Push each successor with its updated path cost.</a:t>
            </a:r>
            <a:endParaRPr lang="en-US" sz="1000" b="0" u="none" strike="noStrike">
              <a:solidFill>
                <a:srgbClr val="000000"/>
              </a:solidFill>
              <a:effectLst/>
              <a:uFillTx/>
              <a:latin typeface="Arial"/>
            </a:endParaRPr>
          </a:p>
        </p:txBody>
      </p:sp>
      <p:sp>
        <p:nvSpPr>
          <p:cNvPr id="1614" name="Shape 113"/>
          <p:cNvSpPr/>
          <p:nvPr/>
        </p:nvSpPr>
        <p:spPr>
          <a:xfrm>
            <a:off x="8522280" y="3429000"/>
            <a:ext cx="218520" cy="218520"/>
          </a:xfrm>
          <a:prstGeom prst="ellipse">
            <a:avLst/>
          </a:prstGeom>
          <a:solidFill>
            <a:srgbClr val="123B63"/>
          </a:solidFill>
          <a:ln w="12700">
            <a:solidFill>
              <a:srgbClr val="123B6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15" name="Text 114"/>
          <p:cNvSpPr/>
          <p:nvPr/>
        </p:nvSpPr>
        <p:spPr>
          <a:xfrm>
            <a:off x="8522280" y="3429000"/>
            <a:ext cx="218520" cy="218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Calibri"/>
                <a:ea typeface="Calibri"/>
              </a:rPr>
              <a:t>4</a:t>
            </a:r>
            <a:endParaRPr lang="en-US" sz="900" b="0" u="none" strike="noStrike">
              <a:solidFill>
                <a:srgbClr val="000000"/>
              </a:solidFill>
              <a:effectLst/>
              <a:uFillTx/>
              <a:latin typeface="Arial"/>
            </a:endParaRPr>
          </a:p>
        </p:txBody>
      </p:sp>
      <p:sp>
        <p:nvSpPr>
          <p:cNvPr id="1616" name="Text 115"/>
          <p:cNvSpPr/>
          <p:nvPr/>
        </p:nvSpPr>
        <p:spPr>
          <a:xfrm>
            <a:off x="8832960" y="3410640"/>
            <a:ext cx="2696400" cy="383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3F4B58"/>
                </a:solidFill>
                <a:effectLst/>
                <a:uFillTx/>
                <a:latin typeface="Calibri"/>
                <a:ea typeface="Calibri"/>
              </a:rPr>
              <a:t>Stop when the goal is popped — not when it is generated.</a:t>
            </a:r>
            <a:endParaRPr lang="en-US" sz="1000" b="0" u="none" strike="noStrike">
              <a:solidFill>
                <a:srgbClr val="000000"/>
              </a:solidFill>
              <a:effectLst/>
              <a:uFillTx/>
              <a:latin typeface="Arial"/>
            </a:endParaRPr>
          </a:p>
        </p:txBody>
      </p:sp>
      <p:sp>
        <p:nvSpPr>
          <p:cNvPr id="1617" name="Shape 116"/>
          <p:cNvSpPr/>
          <p:nvPr/>
        </p:nvSpPr>
        <p:spPr>
          <a:xfrm>
            <a:off x="8321040" y="4069080"/>
            <a:ext cx="3409560" cy="1461960"/>
          </a:xfrm>
          <a:prstGeom prst="roundRect">
            <a:avLst>
              <a:gd name="adj" fmla="val 3750"/>
            </a:avLst>
          </a:prstGeom>
          <a:solidFill>
            <a:srgbClr val="FCF6E8"/>
          </a:solidFill>
          <a:ln w="12700">
            <a:solidFill>
              <a:srgbClr val="E8D4A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18" name="Text 117"/>
          <p:cNvSpPr/>
          <p:nvPr/>
        </p:nvSpPr>
        <p:spPr>
          <a:xfrm>
            <a:off x="8522280" y="4160520"/>
            <a:ext cx="2010600" cy="254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6A5325"/>
                </a:solidFill>
                <a:effectLst/>
                <a:uFillTx/>
                <a:latin typeface="Cambria"/>
                <a:ea typeface="Cambria"/>
              </a:rPr>
              <a:t>Key idea</a:t>
            </a:r>
            <a:endParaRPr lang="en-US" sz="1250" b="0" u="none" strike="noStrike">
              <a:solidFill>
                <a:srgbClr val="000000"/>
              </a:solidFill>
              <a:effectLst/>
              <a:uFillTx/>
              <a:latin typeface="Arial"/>
            </a:endParaRPr>
          </a:p>
        </p:txBody>
      </p:sp>
      <p:sp>
        <p:nvSpPr>
          <p:cNvPr id="1619" name="Text 118"/>
          <p:cNvSpPr/>
          <p:nvPr/>
        </p:nvSpPr>
        <p:spPr>
          <a:xfrm>
            <a:off x="8522280" y="4453200"/>
            <a:ext cx="3016440" cy="565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4A4230"/>
                </a:solidFill>
                <a:effectLst/>
                <a:uFillTx/>
                <a:latin typeface="Calibri"/>
                <a:ea typeface="Calibri"/>
              </a:rPr>
              <a:t>UCS follows cost, not depth. A long cheap branch is expanded before a short expensive one: A → D → H is reached before C.</a:t>
            </a:r>
            <a:endParaRPr lang="en-US" sz="1000" b="0" u="none" strike="noStrike">
              <a:solidFill>
                <a:srgbClr val="000000"/>
              </a:solidFill>
              <a:effectLst/>
              <a:uFillTx/>
              <a:latin typeface="Arial"/>
            </a:endParaRPr>
          </a:p>
        </p:txBody>
      </p:sp>
      <p:sp>
        <p:nvSpPr>
          <p:cNvPr id="1620" name="Text 119"/>
          <p:cNvSpPr/>
          <p:nvPr/>
        </p:nvSpPr>
        <p:spPr>
          <a:xfrm>
            <a:off x="8522280" y="5139000"/>
            <a:ext cx="3016440" cy="346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1" u="none" strike="noStrike">
                <a:solidFill>
                  <a:srgbClr val="B23A2B"/>
                </a:solidFill>
                <a:effectLst/>
                <a:uFillTx/>
                <a:latin typeface="Calibri"/>
                <a:ea typeface="Calibri"/>
              </a:rPr>
              <a:t>Complete and optimal when every step cost ≥ ε &gt; 0.</a:t>
            </a:r>
            <a:endParaRPr lang="en-US" sz="1000" b="0" u="none" strike="noStrike">
              <a:solidFill>
                <a:srgbClr val="000000"/>
              </a:solidFill>
              <a:effectLst/>
              <a:uFillTx/>
              <a:latin typeface="Arial"/>
            </a:endParaRPr>
          </a:p>
        </p:txBody>
      </p:sp>
      <p:sp>
        <p:nvSpPr>
          <p:cNvPr id="1621" name="Shape 120"/>
          <p:cNvSpPr/>
          <p:nvPr/>
        </p:nvSpPr>
        <p:spPr>
          <a:xfrm>
            <a:off x="2880360" y="5715000"/>
            <a:ext cx="8850240" cy="620640"/>
          </a:xfrm>
          <a:prstGeom prst="roundRect">
            <a:avLst>
              <a:gd name="adj" fmla="val 8824"/>
            </a:avLst>
          </a:prstGeom>
          <a:solidFill>
            <a:srgbClr val="FFFFFF"/>
          </a:solidFill>
          <a:ln w="12700">
            <a:solidFill>
              <a:srgbClr val="DCE4EC"/>
            </a:solidFill>
            <a:round/>
          </a:ln>
          <a:effectLst>
            <a:outerShdw algn="bl" blurRad="114480" dir="5400000" dist="12600" rotWithShape="0">
              <a:srgbClr val="8FA3B5">
                <a:alpha val="18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22" name="Text 121"/>
          <p:cNvSpPr/>
          <p:nvPr/>
        </p:nvSpPr>
        <p:spPr>
          <a:xfrm>
            <a:off x="3090600" y="5788080"/>
            <a:ext cx="1873440" cy="200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23B63"/>
                </a:solidFill>
                <a:effectLst/>
                <a:uFillTx/>
                <a:latin typeface="Cambria"/>
                <a:ea typeface="Cambria"/>
              </a:rPr>
              <a:t>Expansion order</a:t>
            </a:r>
            <a:endParaRPr lang="en-US" sz="1100" b="0" u="none" strike="noStrike">
              <a:solidFill>
                <a:srgbClr val="000000"/>
              </a:solidFill>
              <a:effectLst/>
              <a:uFillTx/>
              <a:latin typeface="Arial"/>
            </a:endParaRPr>
          </a:p>
        </p:txBody>
      </p:sp>
      <p:sp>
        <p:nvSpPr>
          <p:cNvPr id="1623" name="Text 122"/>
          <p:cNvSpPr/>
          <p:nvPr/>
        </p:nvSpPr>
        <p:spPr>
          <a:xfrm>
            <a:off x="3090600" y="5989320"/>
            <a:ext cx="1873440" cy="273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850" b="0" u="none" strike="noStrike">
                <a:solidFill>
                  <a:srgbClr val="8B97A4"/>
                </a:solidFill>
                <a:effectLst/>
                <a:uFillTx/>
                <a:latin typeface="Calibri"/>
                <a:ea typeface="Calibri"/>
              </a:rPr>
              <a:t>by cumulative cost g(n), not by depth</a:t>
            </a:r>
            <a:endParaRPr lang="en-US" sz="850" b="0" u="none" strike="noStrike">
              <a:solidFill>
                <a:srgbClr val="000000"/>
              </a:solidFill>
              <a:effectLst/>
              <a:uFillTx/>
              <a:latin typeface="Arial"/>
            </a:endParaRPr>
          </a:p>
        </p:txBody>
      </p:sp>
      <p:sp>
        <p:nvSpPr>
          <p:cNvPr id="1624" name="Shape 123"/>
          <p:cNvSpPr/>
          <p:nvPr/>
        </p:nvSpPr>
        <p:spPr>
          <a:xfrm>
            <a:off x="5440680" y="5961600"/>
            <a:ext cx="576000" cy="360"/>
          </a:xfrm>
          <a:prstGeom prst="line">
            <a:avLst/>
          </a:prstGeom>
          <a:ln w="15875">
            <a:solidFill>
              <a:srgbClr val="B9C6D2"/>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1625" name="Shape 124"/>
          <p:cNvSpPr/>
          <p:nvPr/>
        </p:nvSpPr>
        <p:spPr>
          <a:xfrm>
            <a:off x="5074920" y="5806440"/>
            <a:ext cx="309960" cy="309960"/>
          </a:xfrm>
          <a:prstGeom prst="ellipse">
            <a:avLst/>
          </a:prstGeom>
          <a:solidFill>
            <a:srgbClr val="123B63"/>
          </a:solidFill>
          <a:ln w="15875">
            <a:solidFill>
              <a:srgbClr val="123B63"/>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26" name="Text 125"/>
          <p:cNvSpPr/>
          <p:nvPr/>
        </p:nvSpPr>
        <p:spPr>
          <a:xfrm>
            <a:off x="5074920" y="5806440"/>
            <a:ext cx="309960" cy="309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a:t>
            </a:r>
            <a:endParaRPr lang="en-US" sz="1100" b="0" u="none" strike="noStrike">
              <a:solidFill>
                <a:srgbClr val="000000"/>
              </a:solidFill>
              <a:effectLst/>
              <a:uFillTx/>
              <a:latin typeface="Arial"/>
            </a:endParaRPr>
          </a:p>
        </p:txBody>
      </p:sp>
      <p:sp>
        <p:nvSpPr>
          <p:cNvPr id="1627" name="Text 126"/>
          <p:cNvSpPr/>
          <p:nvPr/>
        </p:nvSpPr>
        <p:spPr>
          <a:xfrm>
            <a:off x="4956120" y="6135480"/>
            <a:ext cx="547560" cy="145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5C6B7A"/>
                </a:solidFill>
                <a:effectLst/>
                <a:uFillTx/>
                <a:latin typeface="Calibri"/>
                <a:ea typeface="Calibri"/>
              </a:rPr>
              <a:t>g=0</a:t>
            </a:r>
            <a:endParaRPr lang="en-US" sz="800" b="0" u="none" strike="noStrike">
              <a:solidFill>
                <a:srgbClr val="000000"/>
              </a:solidFill>
              <a:effectLst/>
              <a:uFillTx/>
              <a:latin typeface="Arial"/>
            </a:endParaRPr>
          </a:p>
        </p:txBody>
      </p:sp>
      <p:sp>
        <p:nvSpPr>
          <p:cNvPr id="1628" name="Shape 127"/>
          <p:cNvSpPr/>
          <p:nvPr/>
        </p:nvSpPr>
        <p:spPr>
          <a:xfrm>
            <a:off x="6455520" y="5961600"/>
            <a:ext cx="576000" cy="360"/>
          </a:xfrm>
          <a:prstGeom prst="line">
            <a:avLst/>
          </a:prstGeom>
          <a:ln w="15875">
            <a:solidFill>
              <a:srgbClr val="B9C6D2"/>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1629" name="Shape 128"/>
          <p:cNvSpPr/>
          <p:nvPr/>
        </p:nvSpPr>
        <p:spPr>
          <a:xfrm>
            <a:off x="6089760" y="5806440"/>
            <a:ext cx="309960" cy="309960"/>
          </a:xfrm>
          <a:prstGeom prst="ellipse">
            <a:avLst/>
          </a:prstGeom>
          <a:solidFill>
            <a:srgbClr val="DAEAE3"/>
          </a:solidFill>
          <a:ln w="15875">
            <a:solidFill>
              <a:srgbClr val="2E7D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30" name="Text 129"/>
          <p:cNvSpPr/>
          <p:nvPr/>
        </p:nvSpPr>
        <p:spPr>
          <a:xfrm>
            <a:off x="6089760" y="5806440"/>
            <a:ext cx="309960" cy="309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D5A4B"/>
                </a:solidFill>
                <a:effectLst/>
                <a:uFillTx/>
                <a:latin typeface="Calibri"/>
                <a:ea typeface="Calibri"/>
              </a:rPr>
              <a:t>D</a:t>
            </a:r>
            <a:endParaRPr lang="en-US" sz="1100" b="0" u="none" strike="noStrike">
              <a:solidFill>
                <a:srgbClr val="000000"/>
              </a:solidFill>
              <a:effectLst/>
              <a:uFillTx/>
              <a:latin typeface="Arial"/>
            </a:endParaRPr>
          </a:p>
        </p:txBody>
      </p:sp>
      <p:sp>
        <p:nvSpPr>
          <p:cNvPr id="1631" name="Text 130"/>
          <p:cNvSpPr/>
          <p:nvPr/>
        </p:nvSpPr>
        <p:spPr>
          <a:xfrm>
            <a:off x="5970960" y="6135480"/>
            <a:ext cx="547560" cy="145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5C6B7A"/>
                </a:solidFill>
                <a:effectLst/>
                <a:uFillTx/>
                <a:latin typeface="Calibri"/>
                <a:ea typeface="Calibri"/>
              </a:rPr>
              <a:t>g=1</a:t>
            </a:r>
            <a:endParaRPr lang="en-US" sz="800" b="0" u="none" strike="noStrike">
              <a:solidFill>
                <a:srgbClr val="000000"/>
              </a:solidFill>
              <a:effectLst/>
              <a:uFillTx/>
              <a:latin typeface="Arial"/>
            </a:endParaRPr>
          </a:p>
        </p:txBody>
      </p:sp>
      <p:sp>
        <p:nvSpPr>
          <p:cNvPr id="1632" name="Shape 131"/>
          <p:cNvSpPr/>
          <p:nvPr/>
        </p:nvSpPr>
        <p:spPr>
          <a:xfrm>
            <a:off x="7470360" y="5961600"/>
            <a:ext cx="576360" cy="360"/>
          </a:xfrm>
          <a:prstGeom prst="line">
            <a:avLst/>
          </a:prstGeom>
          <a:ln w="15875">
            <a:solidFill>
              <a:srgbClr val="B9C6D2"/>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1633" name="Shape 132"/>
          <p:cNvSpPr/>
          <p:nvPr/>
        </p:nvSpPr>
        <p:spPr>
          <a:xfrm>
            <a:off x="7104960" y="5806440"/>
            <a:ext cx="309960" cy="309960"/>
          </a:xfrm>
          <a:prstGeom prst="ellipse">
            <a:avLst/>
          </a:prstGeom>
          <a:solidFill>
            <a:srgbClr val="DAEAE3"/>
          </a:solidFill>
          <a:ln w="15875">
            <a:solidFill>
              <a:srgbClr val="2E7D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34" name="Text 133"/>
          <p:cNvSpPr/>
          <p:nvPr/>
        </p:nvSpPr>
        <p:spPr>
          <a:xfrm>
            <a:off x="7104960" y="5806440"/>
            <a:ext cx="309960" cy="309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D5A4B"/>
                </a:solidFill>
                <a:effectLst/>
                <a:uFillTx/>
                <a:latin typeface="Calibri"/>
                <a:ea typeface="Calibri"/>
              </a:rPr>
              <a:t>H</a:t>
            </a:r>
            <a:endParaRPr lang="en-US" sz="1100" b="0" u="none" strike="noStrike">
              <a:solidFill>
                <a:srgbClr val="000000"/>
              </a:solidFill>
              <a:effectLst/>
              <a:uFillTx/>
              <a:latin typeface="Arial"/>
            </a:endParaRPr>
          </a:p>
        </p:txBody>
      </p:sp>
      <p:sp>
        <p:nvSpPr>
          <p:cNvPr id="1635" name="Text 134"/>
          <p:cNvSpPr/>
          <p:nvPr/>
        </p:nvSpPr>
        <p:spPr>
          <a:xfrm>
            <a:off x="6986160" y="6135480"/>
            <a:ext cx="547560" cy="145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5C6B7A"/>
                </a:solidFill>
                <a:effectLst/>
                <a:uFillTx/>
                <a:latin typeface="Calibri"/>
                <a:ea typeface="Calibri"/>
              </a:rPr>
              <a:t>g=3</a:t>
            </a:r>
            <a:endParaRPr lang="en-US" sz="800" b="0" u="none" strike="noStrike">
              <a:solidFill>
                <a:srgbClr val="000000"/>
              </a:solidFill>
              <a:effectLst/>
              <a:uFillTx/>
              <a:latin typeface="Arial"/>
            </a:endParaRPr>
          </a:p>
        </p:txBody>
      </p:sp>
      <p:sp>
        <p:nvSpPr>
          <p:cNvPr id="1636" name="Shape 135"/>
          <p:cNvSpPr/>
          <p:nvPr/>
        </p:nvSpPr>
        <p:spPr>
          <a:xfrm>
            <a:off x="8485560" y="5961600"/>
            <a:ext cx="576000" cy="360"/>
          </a:xfrm>
          <a:prstGeom prst="line">
            <a:avLst/>
          </a:prstGeom>
          <a:ln w="15875">
            <a:solidFill>
              <a:srgbClr val="B9C6D2"/>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1637" name="Shape 136"/>
          <p:cNvSpPr/>
          <p:nvPr/>
        </p:nvSpPr>
        <p:spPr>
          <a:xfrm>
            <a:off x="8119800" y="5806440"/>
            <a:ext cx="309960" cy="309960"/>
          </a:xfrm>
          <a:prstGeom prst="ellipse">
            <a:avLst/>
          </a:prstGeom>
          <a:solidFill>
            <a:srgbClr val="DAEAE3"/>
          </a:solidFill>
          <a:ln w="15875">
            <a:solidFill>
              <a:srgbClr val="2E7D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38" name="Text 137"/>
          <p:cNvSpPr/>
          <p:nvPr/>
        </p:nvSpPr>
        <p:spPr>
          <a:xfrm>
            <a:off x="8119800" y="5806440"/>
            <a:ext cx="309960" cy="309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D5A4B"/>
                </a:solidFill>
                <a:effectLst/>
                <a:uFillTx/>
                <a:latin typeface="Calibri"/>
                <a:ea typeface="Calibri"/>
              </a:rPr>
              <a:t>B</a:t>
            </a:r>
            <a:endParaRPr lang="en-US" sz="1100" b="0" u="none" strike="noStrike">
              <a:solidFill>
                <a:srgbClr val="000000"/>
              </a:solidFill>
              <a:effectLst/>
              <a:uFillTx/>
              <a:latin typeface="Arial"/>
            </a:endParaRPr>
          </a:p>
        </p:txBody>
      </p:sp>
      <p:sp>
        <p:nvSpPr>
          <p:cNvPr id="1639" name="Text 138"/>
          <p:cNvSpPr/>
          <p:nvPr/>
        </p:nvSpPr>
        <p:spPr>
          <a:xfrm>
            <a:off x="8001000" y="6135480"/>
            <a:ext cx="547560" cy="145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5C6B7A"/>
                </a:solidFill>
                <a:effectLst/>
                <a:uFillTx/>
                <a:latin typeface="Calibri"/>
                <a:ea typeface="Calibri"/>
              </a:rPr>
              <a:t>g=4</a:t>
            </a:r>
            <a:endParaRPr lang="en-US" sz="800" b="0" u="none" strike="noStrike">
              <a:solidFill>
                <a:srgbClr val="000000"/>
              </a:solidFill>
              <a:effectLst/>
              <a:uFillTx/>
              <a:latin typeface="Arial"/>
            </a:endParaRPr>
          </a:p>
        </p:txBody>
      </p:sp>
      <p:sp>
        <p:nvSpPr>
          <p:cNvPr id="1640" name="Shape 139"/>
          <p:cNvSpPr/>
          <p:nvPr/>
        </p:nvSpPr>
        <p:spPr>
          <a:xfrm>
            <a:off x="9500400" y="5961600"/>
            <a:ext cx="576000" cy="360"/>
          </a:xfrm>
          <a:prstGeom prst="line">
            <a:avLst/>
          </a:prstGeom>
          <a:ln w="15875">
            <a:solidFill>
              <a:srgbClr val="B9C6D2"/>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1641" name="Shape 140"/>
          <p:cNvSpPr/>
          <p:nvPr/>
        </p:nvSpPr>
        <p:spPr>
          <a:xfrm>
            <a:off x="9135000" y="5806440"/>
            <a:ext cx="309960" cy="309960"/>
          </a:xfrm>
          <a:prstGeom prst="ellipse">
            <a:avLst/>
          </a:prstGeom>
          <a:solidFill>
            <a:srgbClr val="DAEAE3"/>
          </a:solidFill>
          <a:ln w="15875">
            <a:solidFill>
              <a:srgbClr val="2E7D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42" name="Text 141"/>
          <p:cNvSpPr/>
          <p:nvPr/>
        </p:nvSpPr>
        <p:spPr>
          <a:xfrm>
            <a:off x="9135000" y="5806440"/>
            <a:ext cx="309960" cy="309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D5A4B"/>
                </a:solidFill>
                <a:effectLst/>
                <a:uFillTx/>
                <a:latin typeface="Calibri"/>
                <a:ea typeface="Calibri"/>
              </a:rPr>
              <a:t>F</a:t>
            </a:r>
            <a:endParaRPr lang="en-US" sz="1100" b="0" u="none" strike="noStrike">
              <a:solidFill>
                <a:srgbClr val="000000"/>
              </a:solidFill>
              <a:effectLst/>
              <a:uFillTx/>
              <a:latin typeface="Arial"/>
            </a:endParaRPr>
          </a:p>
        </p:txBody>
      </p:sp>
      <p:sp>
        <p:nvSpPr>
          <p:cNvPr id="1643" name="Text 142"/>
          <p:cNvSpPr/>
          <p:nvPr/>
        </p:nvSpPr>
        <p:spPr>
          <a:xfrm>
            <a:off x="9015840" y="6135480"/>
            <a:ext cx="547560" cy="145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5C6B7A"/>
                </a:solidFill>
                <a:effectLst/>
                <a:uFillTx/>
                <a:latin typeface="Calibri"/>
                <a:ea typeface="Calibri"/>
              </a:rPr>
              <a:t>g=6</a:t>
            </a:r>
            <a:endParaRPr lang="en-US" sz="800" b="0" u="none" strike="noStrike">
              <a:solidFill>
                <a:srgbClr val="000000"/>
              </a:solidFill>
              <a:effectLst/>
              <a:uFillTx/>
              <a:latin typeface="Arial"/>
            </a:endParaRPr>
          </a:p>
        </p:txBody>
      </p:sp>
      <p:sp>
        <p:nvSpPr>
          <p:cNvPr id="1644" name="Shape 143"/>
          <p:cNvSpPr/>
          <p:nvPr/>
        </p:nvSpPr>
        <p:spPr>
          <a:xfrm>
            <a:off x="10515600" y="5961600"/>
            <a:ext cx="576000" cy="360"/>
          </a:xfrm>
          <a:prstGeom prst="line">
            <a:avLst/>
          </a:prstGeom>
          <a:ln w="15875">
            <a:solidFill>
              <a:srgbClr val="B9C6D2"/>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1645" name="Shape 144"/>
          <p:cNvSpPr/>
          <p:nvPr/>
        </p:nvSpPr>
        <p:spPr>
          <a:xfrm>
            <a:off x="10149840" y="5806440"/>
            <a:ext cx="309960" cy="309960"/>
          </a:xfrm>
          <a:prstGeom prst="ellipse">
            <a:avLst/>
          </a:prstGeom>
          <a:solidFill>
            <a:srgbClr val="DAEAE3"/>
          </a:solidFill>
          <a:ln w="15875">
            <a:solidFill>
              <a:srgbClr val="2E7D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46" name="Text 145"/>
          <p:cNvSpPr/>
          <p:nvPr/>
        </p:nvSpPr>
        <p:spPr>
          <a:xfrm>
            <a:off x="10149840" y="5806440"/>
            <a:ext cx="309960" cy="309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D5A4B"/>
                </a:solidFill>
                <a:effectLst/>
                <a:uFillTx/>
                <a:latin typeface="Calibri"/>
                <a:ea typeface="Calibri"/>
              </a:rPr>
              <a:t>M</a:t>
            </a:r>
            <a:endParaRPr lang="en-US" sz="1100" b="0" u="none" strike="noStrike">
              <a:solidFill>
                <a:srgbClr val="000000"/>
              </a:solidFill>
              <a:effectLst/>
              <a:uFillTx/>
              <a:latin typeface="Arial"/>
            </a:endParaRPr>
          </a:p>
        </p:txBody>
      </p:sp>
      <p:sp>
        <p:nvSpPr>
          <p:cNvPr id="1647" name="Text 146"/>
          <p:cNvSpPr/>
          <p:nvPr/>
        </p:nvSpPr>
        <p:spPr>
          <a:xfrm>
            <a:off x="10031040" y="6135480"/>
            <a:ext cx="547560" cy="145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5C6B7A"/>
                </a:solidFill>
                <a:effectLst/>
                <a:uFillTx/>
                <a:latin typeface="Calibri"/>
                <a:ea typeface="Calibri"/>
              </a:rPr>
              <a:t>g=7</a:t>
            </a:r>
            <a:endParaRPr lang="en-US" sz="800" b="0" u="none" strike="noStrike">
              <a:solidFill>
                <a:srgbClr val="000000"/>
              </a:solidFill>
              <a:effectLst/>
              <a:uFillTx/>
              <a:latin typeface="Arial"/>
            </a:endParaRPr>
          </a:p>
        </p:txBody>
      </p:sp>
      <p:sp>
        <p:nvSpPr>
          <p:cNvPr id="1648" name="Shape 147"/>
          <p:cNvSpPr/>
          <p:nvPr/>
        </p:nvSpPr>
        <p:spPr>
          <a:xfrm>
            <a:off x="11164680" y="5806440"/>
            <a:ext cx="309960" cy="309960"/>
          </a:xfrm>
          <a:prstGeom prst="ellipse">
            <a:avLst/>
          </a:prstGeom>
          <a:solidFill>
            <a:srgbClr val="B23A2B"/>
          </a:solidFill>
          <a:ln w="15875">
            <a:solidFill>
              <a:srgbClr val="B23A2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49" name="Text 148"/>
          <p:cNvSpPr/>
          <p:nvPr/>
        </p:nvSpPr>
        <p:spPr>
          <a:xfrm>
            <a:off x="11164680" y="5806440"/>
            <a:ext cx="309960" cy="309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K</a:t>
            </a:r>
            <a:endParaRPr lang="en-US" sz="1100" b="0" u="none" strike="noStrike">
              <a:solidFill>
                <a:srgbClr val="000000"/>
              </a:solidFill>
              <a:effectLst/>
              <a:uFillTx/>
              <a:latin typeface="Arial"/>
            </a:endParaRPr>
          </a:p>
        </p:txBody>
      </p:sp>
      <p:sp>
        <p:nvSpPr>
          <p:cNvPr id="1650" name="Text 149"/>
          <p:cNvSpPr/>
          <p:nvPr/>
        </p:nvSpPr>
        <p:spPr>
          <a:xfrm>
            <a:off x="11045880" y="6135480"/>
            <a:ext cx="547560" cy="145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5C6B7A"/>
                </a:solidFill>
                <a:effectLst/>
                <a:uFillTx/>
                <a:latin typeface="Calibri"/>
                <a:ea typeface="Calibri"/>
              </a:rPr>
              <a:t>g=8</a:t>
            </a:r>
            <a:endParaRPr lang="en-US" sz="800" b="0" u="none" strike="noStrike">
              <a:solidFill>
                <a:srgbClr val="000000"/>
              </a:solidFill>
              <a:effectLst/>
              <a:uFillTx/>
              <a:latin typeface="Arial"/>
            </a:endParaRPr>
          </a:p>
        </p:txBody>
      </p:sp>
      <p:sp>
        <p:nvSpPr>
          <p:cNvPr id="1651" name="Text 150"/>
          <p:cNvSpPr/>
          <p:nvPr/>
        </p:nvSpPr>
        <p:spPr>
          <a:xfrm>
            <a:off x="2880360" y="6428160"/>
            <a:ext cx="4753800" cy="218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8B97A4"/>
                </a:solidFill>
                <a:effectLst/>
                <a:uFillTx/>
                <a:latin typeface="Calibri"/>
                <a:ea typeface="Calibri"/>
              </a:rPr>
              <a:t>CSU Channel Islands  ·  Department of Computer Science</a:t>
            </a:r>
            <a:endParaRPr lang="en-US" sz="850" b="0" u="none" strike="noStrike">
              <a:solidFill>
                <a:srgbClr val="000000"/>
              </a:solidFill>
              <a:effectLst/>
              <a:uFillTx/>
              <a:latin typeface="Arial"/>
            </a:endParaRPr>
          </a:p>
        </p:txBody>
      </p:sp>
      <p:sp>
        <p:nvSpPr>
          <p:cNvPr id="1652" name="Text 151"/>
          <p:cNvSpPr/>
          <p:nvPr/>
        </p:nvSpPr>
        <p:spPr>
          <a:xfrm>
            <a:off x="7315200" y="6428160"/>
            <a:ext cx="4415400" cy="218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8B97A4"/>
                </a:solidFill>
                <a:effectLst/>
                <a:uFillTx/>
                <a:latin typeface="Calibri"/>
                <a:ea typeface="Calibri"/>
              </a:rPr>
              <a:t>Russell &amp; Norvig, AIMA 4e  ·  Section 3.4.2</a:t>
            </a:r>
            <a:endParaRPr lang="en-US" sz="850" b="0" u="none" strike="noStrike">
              <a:solidFill>
                <a:srgbClr val="000000"/>
              </a:solidFill>
              <a:effectLst/>
              <a:uFillTx/>
              <a:latin typeface="Arial"/>
            </a:endParaRPr>
          </a:p>
        </p:txBody>
      </p:sp>
      <p:pic>
        <p:nvPicPr>
          <p:cNvPr id="1653" name="Picture 157"/>
          <p:cNvPicPr/>
          <p:nvPr/>
        </p:nvPicPr>
        <p:blipFill>
          <a:blip r:embed="rId2"/>
          <a:stretch/>
        </p:blipFill>
        <p:spPr>
          <a:xfrm>
            <a:off x="-147960" y="1600200"/>
            <a:ext cx="3754080" cy="5631480"/>
          </a:xfrm>
          <a:prstGeom prst="rect">
            <a:avLst/>
          </a:prstGeom>
          <a:noFill/>
          <a:ln w="0">
            <a:noFill/>
          </a:ln>
        </p:spPr>
      </p:pic>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54" name=""/>
          <p:cNvPicPr/>
          <p:nvPr/>
        </p:nvPicPr>
        <p:blipFill>
          <a:blip r:embed="rId1"/>
          <a:stretch/>
        </p:blipFill>
        <p:spPr>
          <a:xfrm>
            <a:off x="2696760" y="1042560"/>
            <a:ext cx="6798240" cy="5440320"/>
          </a:xfrm>
          <a:prstGeom prst="rect">
            <a:avLst/>
          </a:prstGeom>
          <a:noFill/>
          <a:ln w="0">
            <a:noFill/>
          </a:ln>
        </p:spPr>
      </p:pic>
      <p:sp>
        <p:nvSpPr>
          <p:cNvPr id="1655"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56"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657"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Depth-First Search at a Glance</a:t>
            </a:r>
            <a:endParaRPr lang="en-US" sz="2600" b="0" u="none" strike="noStrike">
              <a:solidFill>
                <a:srgbClr val="000000"/>
              </a:solidFill>
              <a:effectLst/>
              <a:uFillTx/>
              <a:latin typeface="Arial"/>
            </a:endParaRPr>
          </a:p>
        </p:txBody>
      </p:sp>
      <p:sp>
        <p:nvSpPr>
          <p:cNvPr id="1658"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659"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660"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61"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662"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Depth-First Search (DFS)</a:t>
            </a:r>
            <a:endParaRPr lang="en-US" sz="2600" b="0" u="none" strike="noStrike">
              <a:solidFill>
                <a:srgbClr val="000000"/>
              </a:solidFill>
              <a:effectLst/>
              <a:uFillTx/>
              <a:latin typeface="Arial"/>
            </a:endParaRPr>
          </a:p>
        </p:txBody>
      </p:sp>
      <p:sp>
        <p:nvSpPr>
          <p:cNvPr id="1663"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664"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665" name="Text 5"/>
          <p:cNvSpPr/>
          <p:nvPr/>
        </p:nvSpPr>
        <p:spPr>
          <a:xfrm>
            <a:off x="498960" y="2096640"/>
            <a:ext cx="2102760" cy="501480"/>
          </a:xfrm>
          <a:prstGeom prst="roundRect">
            <a:avLst>
              <a:gd name="adj" fmla="val 14545"/>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1666" name="Text 6"/>
          <p:cNvSpPr/>
          <p:nvPr/>
        </p:nvSpPr>
        <p:spPr>
          <a:xfrm>
            <a:off x="2743200" y="2142360"/>
            <a:ext cx="4753440" cy="318600"/>
          </a:xfrm>
          <a:prstGeom prst="rect">
            <a:avLst/>
          </a:prstGeom>
          <a:noFill/>
          <a:ln w="0">
            <a:noFill/>
          </a:ln>
        </p:spPr>
        <p:style>
          <a:lnRef idx="0"/>
          <a:fillRef idx="0"/>
          <a:effectRef idx="0"/>
          <a:fontRef idx="minor"/>
        </p:style>
        <p:txBody>
          <a:bodyPr lIns="720" tIns="720" rIns="720" bIns="720" anchor="ctr">
            <a:normAutofit fontScale="92500" lnSpcReduction="9999"/>
          </a:bodyPr>
          <a:p>
            <a:pPr defTabSz="914400">
              <a:lnSpc>
                <a:spcPct val="100000"/>
              </a:lnSpc>
              <a:tabLst>
                <a:tab pos="0" algn="l"/>
              </a:tabLst>
            </a:pPr>
            <a:r>
              <a:rPr lang="en-US" sz="1700" b="1" u="none" strike="noStrike">
                <a:solidFill>
                  <a:srgbClr val="102A4C"/>
                </a:solidFill>
                <a:effectLst/>
                <a:uFillTx/>
                <a:latin typeface="Aptos"/>
              </a:rPr>
              <a:t>Expand the deepest node in the frontier first.</a:t>
            </a:r>
            <a:endParaRPr lang="en-US" sz="1700" b="0" u="none" strike="noStrike">
              <a:solidFill>
                <a:srgbClr val="000000"/>
              </a:solidFill>
              <a:effectLst/>
              <a:uFillTx/>
              <a:latin typeface="Arial"/>
            </a:endParaRPr>
          </a:p>
        </p:txBody>
      </p:sp>
      <p:sp>
        <p:nvSpPr>
          <p:cNvPr id="1667" name="Text 7"/>
          <p:cNvSpPr/>
          <p:nvPr/>
        </p:nvSpPr>
        <p:spPr>
          <a:xfrm>
            <a:off x="498960" y="2919600"/>
            <a:ext cx="2102760" cy="501480"/>
          </a:xfrm>
          <a:prstGeom prst="roundRect">
            <a:avLst>
              <a:gd name="adj" fmla="val 14545"/>
            </a:avLst>
          </a:prstGeom>
          <a:solidFill>
            <a:srgbClr val="DBF1E3"/>
          </a:solidFill>
          <a:ln w="15240">
            <a:solidFill>
              <a:srgbClr val="17724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1668" name="Text 8"/>
          <p:cNvSpPr/>
          <p:nvPr/>
        </p:nvSpPr>
        <p:spPr>
          <a:xfrm>
            <a:off x="2743200" y="2965320"/>
            <a:ext cx="4113360" cy="3186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02A4C"/>
                </a:solidFill>
                <a:effectLst/>
                <a:uFillTx/>
                <a:latin typeface="Aptos"/>
              </a:rPr>
              <a:t>LIFO stack or recursive tree-like search.</a:t>
            </a:r>
            <a:endParaRPr lang="en-US" sz="1600" b="0" u="none" strike="noStrike">
              <a:solidFill>
                <a:srgbClr val="000000"/>
              </a:solidFill>
              <a:effectLst/>
              <a:uFillTx/>
              <a:latin typeface="Arial"/>
            </a:endParaRPr>
          </a:p>
        </p:txBody>
      </p:sp>
      <p:sp>
        <p:nvSpPr>
          <p:cNvPr id="1669" name="Text 9"/>
          <p:cNvSpPr/>
          <p:nvPr/>
        </p:nvSpPr>
        <p:spPr>
          <a:xfrm>
            <a:off x="498960" y="3742560"/>
            <a:ext cx="2102760" cy="501480"/>
          </a:xfrm>
          <a:prstGeom prst="roundRect">
            <a:avLst>
              <a:gd name="adj" fmla="val 14545"/>
            </a:avLst>
          </a:prstGeom>
          <a:solidFill>
            <a:srgbClr val="FFE5B6"/>
          </a:solidFill>
          <a:ln w="15240">
            <a:solidFill>
              <a:srgbClr val="F6A01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112E5C"/>
                </a:solidFill>
                <a:effectLst/>
                <a:uFillTx/>
                <a:latin typeface="Aptos"/>
              </a:rPr>
              <a:t>Main appeal</a:t>
            </a:r>
            <a:endParaRPr lang="en-US" sz="1600" b="0" u="none" strike="noStrike">
              <a:solidFill>
                <a:srgbClr val="000000"/>
              </a:solidFill>
              <a:effectLst/>
              <a:uFillTx/>
              <a:latin typeface="Arial"/>
            </a:endParaRPr>
          </a:p>
        </p:txBody>
      </p:sp>
      <p:sp>
        <p:nvSpPr>
          <p:cNvPr id="1670" name="Text 10"/>
          <p:cNvSpPr/>
          <p:nvPr/>
        </p:nvSpPr>
        <p:spPr>
          <a:xfrm>
            <a:off x="2743200" y="3788280"/>
            <a:ext cx="4844880" cy="318600"/>
          </a:xfrm>
          <a:prstGeom prst="rect">
            <a:avLst/>
          </a:prstGeom>
          <a:noFill/>
          <a:ln w="0">
            <a:noFill/>
          </a:ln>
        </p:spPr>
        <p:style>
          <a:lnRef idx="0"/>
          <a:fillRef idx="0"/>
          <a:effectRef idx="0"/>
          <a:fontRef idx="minor"/>
        </p:style>
        <p:txBody>
          <a:bodyPr lIns="720" tIns="720" rIns="720" bIns="720" anchor="ctr">
            <a:normAutofit fontScale="85000" lnSpcReduction="9999"/>
          </a:bodyPr>
          <a:p>
            <a:pPr defTabSz="914400">
              <a:lnSpc>
                <a:spcPct val="100000"/>
              </a:lnSpc>
              <a:tabLst>
                <a:tab pos="0" algn="l"/>
              </a:tabLst>
            </a:pPr>
            <a:r>
              <a:rPr lang="en-US" sz="1600" b="0" u="none" strike="noStrike">
                <a:solidFill>
                  <a:srgbClr val="102A4C"/>
                </a:solidFill>
                <a:effectLst/>
                <a:uFillTx/>
                <a:latin typeface="Aptos"/>
              </a:rPr>
              <a:t>Low memory: stores a path and siblings, not entire layers.</a:t>
            </a:r>
            <a:endParaRPr lang="en-US" sz="1600" b="0" u="none" strike="noStrike">
              <a:solidFill>
                <a:srgbClr val="000000"/>
              </a:solidFill>
              <a:effectLst/>
              <a:uFillTx/>
              <a:latin typeface="Arial"/>
            </a:endParaRPr>
          </a:p>
        </p:txBody>
      </p:sp>
      <p:sp>
        <p:nvSpPr>
          <p:cNvPr id="1671" name="Shape 11"/>
          <p:cNvSpPr/>
          <p:nvPr/>
        </p:nvSpPr>
        <p:spPr>
          <a:xfrm flipH="1">
            <a:off x="8879040" y="1790280"/>
            <a:ext cx="1355400" cy="64188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72" name="Shape 12"/>
          <p:cNvSpPr/>
          <p:nvPr/>
        </p:nvSpPr>
        <p:spPr>
          <a:xfrm>
            <a:off x="10234440" y="1790280"/>
            <a:ext cx="360" cy="64188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673" name="Shape 13"/>
          <p:cNvSpPr/>
          <p:nvPr/>
        </p:nvSpPr>
        <p:spPr>
          <a:xfrm>
            <a:off x="10234440" y="179028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74" name="Shape 14"/>
          <p:cNvSpPr/>
          <p:nvPr/>
        </p:nvSpPr>
        <p:spPr>
          <a:xfrm flipH="1">
            <a:off x="8272800" y="2432160"/>
            <a:ext cx="606240" cy="67752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75" name="Shape 15"/>
          <p:cNvSpPr/>
          <p:nvPr/>
        </p:nvSpPr>
        <p:spPr>
          <a:xfrm>
            <a:off x="8879040" y="2432160"/>
            <a:ext cx="360" cy="67752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676" name="Shape 16"/>
          <p:cNvSpPr/>
          <p:nvPr/>
        </p:nvSpPr>
        <p:spPr>
          <a:xfrm>
            <a:off x="8879040" y="243216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77" name="Shape 17"/>
          <p:cNvSpPr/>
          <p:nvPr/>
        </p:nvSpPr>
        <p:spPr>
          <a:xfrm flipH="1">
            <a:off x="9842040" y="2432160"/>
            <a:ext cx="39240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78" name="Shape 18"/>
          <p:cNvSpPr/>
          <p:nvPr/>
        </p:nvSpPr>
        <p:spPr>
          <a:xfrm>
            <a:off x="10234440" y="2432160"/>
            <a:ext cx="3920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79" name="Shape 19"/>
          <p:cNvSpPr/>
          <p:nvPr/>
        </p:nvSpPr>
        <p:spPr>
          <a:xfrm>
            <a:off x="11589480" y="2432160"/>
            <a:ext cx="360" cy="67752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680" name="Shape 20"/>
          <p:cNvSpPr/>
          <p:nvPr/>
        </p:nvSpPr>
        <p:spPr>
          <a:xfrm flipH="1">
            <a:off x="8058960" y="3109680"/>
            <a:ext cx="213840" cy="60624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81" name="Shape 21"/>
          <p:cNvSpPr/>
          <p:nvPr/>
        </p:nvSpPr>
        <p:spPr>
          <a:xfrm flipH="1">
            <a:off x="8665200" y="310968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82" name="Shape 22"/>
          <p:cNvSpPr/>
          <p:nvPr/>
        </p:nvSpPr>
        <p:spPr>
          <a:xfrm flipH="1">
            <a:off x="9271440" y="310968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83" name="Shape 23"/>
          <p:cNvSpPr/>
          <p:nvPr/>
        </p:nvSpPr>
        <p:spPr>
          <a:xfrm>
            <a:off x="9485280" y="3109680"/>
            <a:ext cx="3924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84" name="Shape 24"/>
          <p:cNvSpPr/>
          <p:nvPr/>
        </p:nvSpPr>
        <p:spPr>
          <a:xfrm>
            <a:off x="9842040" y="3109680"/>
            <a:ext cx="49932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85" name="Shape 25"/>
          <p:cNvSpPr/>
          <p:nvPr/>
        </p:nvSpPr>
        <p:spPr>
          <a:xfrm>
            <a:off x="9842040" y="3109680"/>
            <a:ext cx="92736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86" name="Shape 26"/>
          <p:cNvSpPr/>
          <p:nvPr/>
        </p:nvSpPr>
        <p:spPr>
          <a:xfrm>
            <a:off x="10626480" y="3109680"/>
            <a:ext cx="5706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87" name="Shape 27"/>
          <p:cNvSpPr/>
          <p:nvPr/>
        </p:nvSpPr>
        <p:spPr>
          <a:xfrm flipH="1">
            <a:off x="10983240" y="371592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88" name="Shape 28"/>
          <p:cNvSpPr/>
          <p:nvPr/>
        </p:nvSpPr>
        <p:spPr>
          <a:xfrm>
            <a:off x="11197080" y="3715920"/>
            <a:ext cx="28548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89" name="Text 29"/>
          <p:cNvSpPr/>
          <p:nvPr/>
        </p:nvSpPr>
        <p:spPr>
          <a:xfrm>
            <a:off x="10088640" y="164412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690" name="Text 30"/>
          <p:cNvSpPr/>
          <p:nvPr/>
        </p:nvSpPr>
        <p:spPr>
          <a:xfrm>
            <a:off x="8733240" y="228600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691" name="Text 31"/>
          <p:cNvSpPr/>
          <p:nvPr/>
        </p:nvSpPr>
        <p:spPr>
          <a:xfrm>
            <a:off x="10088640" y="22860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692" name="Text 32"/>
          <p:cNvSpPr/>
          <p:nvPr/>
        </p:nvSpPr>
        <p:spPr>
          <a:xfrm>
            <a:off x="11443680" y="22860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693" name="Text 33"/>
          <p:cNvSpPr/>
          <p:nvPr/>
        </p:nvSpPr>
        <p:spPr>
          <a:xfrm>
            <a:off x="8127000" y="296352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694" name="Text 34"/>
          <p:cNvSpPr/>
          <p:nvPr/>
        </p:nvSpPr>
        <p:spPr>
          <a:xfrm>
            <a:off x="8733240" y="29635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695" name="Text 35"/>
          <p:cNvSpPr/>
          <p:nvPr/>
        </p:nvSpPr>
        <p:spPr>
          <a:xfrm>
            <a:off x="9339840" y="29635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696" name="Text 36"/>
          <p:cNvSpPr/>
          <p:nvPr/>
        </p:nvSpPr>
        <p:spPr>
          <a:xfrm>
            <a:off x="9696240" y="29635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697" name="Text 37"/>
          <p:cNvSpPr/>
          <p:nvPr/>
        </p:nvSpPr>
        <p:spPr>
          <a:xfrm>
            <a:off x="10480680" y="29635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698" name="Text 38"/>
          <p:cNvSpPr/>
          <p:nvPr/>
        </p:nvSpPr>
        <p:spPr>
          <a:xfrm>
            <a:off x="11443680" y="296352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699" name="Text 39"/>
          <p:cNvSpPr/>
          <p:nvPr/>
        </p:nvSpPr>
        <p:spPr>
          <a:xfrm>
            <a:off x="7913160" y="35697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700" name="Text 40"/>
          <p:cNvSpPr/>
          <p:nvPr/>
        </p:nvSpPr>
        <p:spPr>
          <a:xfrm>
            <a:off x="8519400" y="3569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701" name="Text 41"/>
          <p:cNvSpPr/>
          <p:nvPr/>
        </p:nvSpPr>
        <p:spPr>
          <a:xfrm>
            <a:off x="9125640" y="3569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702" name="Text 42"/>
          <p:cNvSpPr/>
          <p:nvPr/>
        </p:nvSpPr>
        <p:spPr>
          <a:xfrm>
            <a:off x="9731880" y="3569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703" name="Text 43"/>
          <p:cNvSpPr/>
          <p:nvPr/>
        </p:nvSpPr>
        <p:spPr>
          <a:xfrm>
            <a:off x="10195560" y="3569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704" name="Text 44"/>
          <p:cNvSpPr/>
          <p:nvPr/>
        </p:nvSpPr>
        <p:spPr>
          <a:xfrm>
            <a:off x="10623600" y="3569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705" name="Text 45"/>
          <p:cNvSpPr/>
          <p:nvPr/>
        </p:nvSpPr>
        <p:spPr>
          <a:xfrm>
            <a:off x="11051280" y="3569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706" name="Text 46"/>
          <p:cNvSpPr/>
          <p:nvPr/>
        </p:nvSpPr>
        <p:spPr>
          <a:xfrm>
            <a:off x="10837440" y="41760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707" name="Text 47"/>
          <p:cNvSpPr/>
          <p:nvPr/>
        </p:nvSpPr>
        <p:spPr>
          <a:xfrm>
            <a:off x="11336760" y="41760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708"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09"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710"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DFS Build: Follow One Branch Deep</a:t>
            </a:r>
            <a:endParaRPr lang="en-US" sz="2600" b="0" u="none" strike="noStrike">
              <a:solidFill>
                <a:srgbClr val="000000"/>
              </a:solidFill>
              <a:effectLst/>
              <a:uFillTx/>
              <a:latin typeface="Arial"/>
            </a:endParaRPr>
          </a:p>
        </p:txBody>
      </p:sp>
      <p:sp>
        <p:nvSpPr>
          <p:cNvPr id="1711"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712"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713" name="Shape 5"/>
          <p:cNvSpPr/>
          <p:nvPr/>
        </p:nvSpPr>
        <p:spPr>
          <a:xfrm flipH="1">
            <a:off x="2393280" y="1658160"/>
            <a:ext cx="1355400" cy="64188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14" name="Shape 6"/>
          <p:cNvSpPr/>
          <p:nvPr/>
        </p:nvSpPr>
        <p:spPr>
          <a:xfrm>
            <a:off x="3748680" y="1658160"/>
            <a:ext cx="360" cy="64188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715" name="Shape 7"/>
          <p:cNvSpPr/>
          <p:nvPr/>
        </p:nvSpPr>
        <p:spPr>
          <a:xfrm>
            <a:off x="3748680" y="1658160"/>
            <a:ext cx="1355040" cy="64188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16" name="Shape 8"/>
          <p:cNvSpPr/>
          <p:nvPr/>
        </p:nvSpPr>
        <p:spPr>
          <a:xfrm flipH="1">
            <a:off x="1787040" y="2300040"/>
            <a:ext cx="606240" cy="67752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17" name="Shape 9"/>
          <p:cNvSpPr/>
          <p:nvPr/>
        </p:nvSpPr>
        <p:spPr>
          <a:xfrm>
            <a:off x="2393280" y="2300040"/>
            <a:ext cx="360" cy="67752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718" name="Shape 10"/>
          <p:cNvSpPr/>
          <p:nvPr/>
        </p:nvSpPr>
        <p:spPr>
          <a:xfrm>
            <a:off x="2393280" y="2300040"/>
            <a:ext cx="6062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19" name="Shape 11"/>
          <p:cNvSpPr/>
          <p:nvPr/>
        </p:nvSpPr>
        <p:spPr>
          <a:xfrm flipH="1">
            <a:off x="3356280" y="2300040"/>
            <a:ext cx="39240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20" name="Shape 12"/>
          <p:cNvSpPr/>
          <p:nvPr/>
        </p:nvSpPr>
        <p:spPr>
          <a:xfrm>
            <a:off x="3748680" y="2300040"/>
            <a:ext cx="392040" cy="67752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21" name="Shape 13"/>
          <p:cNvSpPr/>
          <p:nvPr/>
        </p:nvSpPr>
        <p:spPr>
          <a:xfrm>
            <a:off x="5103720" y="2300040"/>
            <a:ext cx="360" cy="677520"/>
          </a:xfrm>
          <a:prstGeom prst="line">
            <a:avLst/>
          </a:prstGeom>
          <a:ln w="13970">
            <a:solidFill>
              <a:srgbClr val="D8DEE8"/>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722" name="Shape 14"/>
          <p:cNvSpPr/>
          <p:nvPr/>
        </p:nvSpPr>
        <p:spPr>
          <a:xfrm flipH="1">
            <a:off x="1573200" y="2977560"/>
            <a:ext cx="213840" cy="606240"/>
          </a:xfrm>
          <a:prstGeom prst="line">
            <a:avLst/>
          </a:prstGeom>
          <a:ln w="31750">
            <a:solidFill>
              <a:srgbClr val="9B1C1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23" name="Shape 15"/>
          <p:cNvSpPr/>
          <p:nvPr/>
        </p:nvSpPr>
        <p:spPr>
          <a:xfrm flipH="1">
            <a:off x="2179440" y="297756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24" name="Shape 16"/>
          <p:cNvSpPr/>
          <p:nvPr/>
        </p:nvSpPr>
        <p:spPr>
          <a:xfrm flipH="1">
            <a:off x="2785680" y="297756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25" name="Shape 17"/>
          <p:cNvSpPr/>
          <p:nvPr/>
        </p:nvSpPr>
        <p:spPr>
          <a:xfrm>
            <a:off x="2999520" y="2977560"/>
            <a:ext cx="3924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26" name="Shape 18"/>
          <p:cNvSpPr/>
          <p:nvPr/>
        </p:nvSpPr>
        <p:spPr>
          <a:xfrm>
            <a:off x="3356280" y="2977560"/>
            <a:ext cx="49932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27" name="Shape 19"/>
          <p:cNvSpPr/>
          <p:nvPr/>
        </p:nvSpPr>
        <p:spPr>
          <a:xfrm>
            <a:off x="3356280" y="2977560"/>
            <a:ext cx="92736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28" name="Shape 20"/>
          <p:cNvSpPr/>
          <p:nvPr/>
        </p:nvSpPr>
        <p:spPr>
          <a:xfrm>
            <a:off x="4140720" y="2977560"/>
            <a:ext cx="57060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29" name="Shape 21"/>
          <p:cNvSpPr/>
          <p:nvPr/>
        </p:nvSpPr>
        <p:spPr>
          <a:xfrm flipH="1">
            <a:off x="4497480" y="3583800"/>
            <a:ext cx="21384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30" name="Shape 22"/>
          <p:cNvSpPr/>
          <p:nvPr/>
        </p:nvSpPr>
        <p:spPr>
          <a:xfrm>
            <a:off x="4711320" y="3583800"/>
            <a:ext cx="285480" cy="606240"/>
          </a:xfrm>
          <a:prstGeom prst="line">
            <a:avLst/>
          </a:prstGeom>
          <a:ln w="13970">
            <a:solidFill>
              <a:srgbClr val="D8DEE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31" name="Text 23"/>
          <p:cNvSpPr/>
          <p:nvPr/>
        </p:nvSpPr>
        <p:spPr>
          <a:xfrm>
            <a:off x="3602520" y="15123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732" name="Text 24"/>
          <p:cNvSpPr/>
          <p:nvPr/>
        </p:nvSpPr>
        <p:spPr>
          <a:xfrm>
            <a:off x="2247120" y="215424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733" name="Text 25"/>
          <p:cNvSpPr/>
          <p:nvPr/>
        </p:nvSpPr>
        <p:spPr>
          <a:xfrm>
            <a:off x="3602520" y="21542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734" name="Text 26"/>
          <p:cNvSpPr/>
          <p:nvPr/>
        </p:nvSpPr>
        <p:spPr>
          <a:xfrm>
            <a:off x="4957560" y="21542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735" name="Text 27"/>
          <p:cNvSpPr/>
          <p:nvPr/>
        </p:nvSpPr>
        <p:spPr>
          <a:xfrm>
            <a:off x="1640880" y="283176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736" name="Text 28"/>
          <p:cNvSpPr/>
          <p:nvPr/>
        </p:nvSpPr>
        <p:spPr>
          <a:xfrm>
            <a:off x="2247120" y="2831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737" name="Text 29"/>
          <p:cNvSpPr/>
          <p:nvPr/>
        </p:nvSpPr>
        <p:spPr>
          <a:xfrm>
            <a:off x="2853720" y="2831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738" name="Text 30"/>
          <p:cNvSpPr/>
          <p:nvPr/>
        </p:nvSpPr>
        <p:spPr>
          <a:xfrm>
            <a:off x="3210120" y="2831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739" name="Text 31"/>
          <p:cNvSpPr/>
          <p:nvPr/>
        </p:nvSpPr>
        <p:spPr>
          <a:xfrm>
            <a:off x="3994560" y="2831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740" name="Text 32"/>
          <p:cNvSpPr/>
          <p:nvPr/>
        </p:nvSpPr>
        <p:spPr>
          <a:xfrm>
            <a:off x="4957560" y="28317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741" name="Text 33"/>
          <p:cNvSpPr/>
          <p:nvPr/>
        </p:nvSpPr>
        <p:spPr>
          <a:xfrm>
            <a:off x="1427040" y="3438000"/>
            <a:ext cx="291240" cy="291240"/>
          </a:xfrm>
          <a:prstGeom prst="ellipse">
            <a:avLst/>
          </a:prstGeom>
          <a:solidFill>
            <a:srgbClr val="FFE5B6"/>
          </a:solidFill>
          <a:ln w="15240">
            <a:solidFill>
              <a:srgbClr val="9B1C1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742" name="Text 34"/>
          <p:cNvSpPr/>
          <p:nvPr/>
        </p:nvSpPr>
        <p:spPr>
          <a:xfrm>
            <a:off x="2033280" y="34380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743" name="Text 35"/>
          <p:cNvSpPr/>
          <p:nvPr/>
        </p:nvSpPr>
        <p:spPr>
          <a:xfrm>
            <a:off x="2639520" y="34380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744" name="Text 36"/>
          <p:cNvSpPr/>
          <p:nvPr/>
        </p:nvSpPr>
        <p:spPr>
          <a:xfrm>
            <a:off x="3245760" y="34380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745" name="Text 37"/>
          <p:cNvSpPr/>
          <p:nvPr/>
        </p:nvSpPr>
        <p:spPr>
          <a:xfrm>
            <a:off x="3709440" y="34380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746" name="Text 38"/>
          <p:cNvSpPr/>
          <p:nvPr/>
        </p:nvSpPr>
        <p:spPr>
          <a:xfrm>
            <a:off x="4137480" y="34380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747" name="Text 39"/>
          <p:cNvSpPr/>
          <p:nvPr/>
        </p:nvSpPr>
        <p:spPr>
          <a:xfrm>
            <a:off x="4565160" y="343800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748" name="Text 40"/>
          <p:cNvSpPr/>
          <p:nvPr/>
        </p:nvSpPr>
        <p:spPr>
          <a:xfrm>
            <a:off x="4351320" y="40442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749" name="Text 41"/>
          <p:cNvSpPr/>
          <p:nvPr/>
        </p:nvSpPr>
        <p:spPr>
          <a:xfrm>
            <a:off x="4850640" y="40442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750" name="Text 42"/>
          <p:cNvSpPr/>
          <p:nvPr/>
        </p:nvSpPr>
        <p:spPr>
          <a:xfrm>
            <a:off x="7040880" y="1828800"/>
            <a:ext cx="3839040" cy="684360"/>
          </a:xfrm>
          <a:prstGeom prst="rect">
            <a:avLst/>
          </a:prstGeom>
          <a:noFill/>
          <a:ln w="0">
            <a:noFill/>
          </a:ln>
        </p:spPr>
        <p:style>
          <a:lnRef idx="0"/>
          <a:fillRef idx="0"/>
          <a:effectRef idx="0"/>
          <a:fontRef idx="minor"/>
        </p:style>
        <p:txBody>
          <a:bodyPr lIns="720" tIns="720" rIns="720" bIns="720" anchor="ctr">
            <a:normAutofit fontScale="92500" lnSpcReduction="9999"/>
          </a:bodyPr>
          <a:p>
            <a:pPr algn="ctr" defTabSz="914400">
              <a:lnSpc>
                <a:spcPct val="100000"/>
              </a:lnSpc>
              <a:tabLst>
                <a:tab pos="0" algn="l"/>
              </a:tabLst>
            </a:pPr>
            <a:r>
              <a:rPr lang="en-US" sz="2100" b="1" u="none" strike="noStrike">
                <a:solidFill>
                  <a:srgbClr val="112E5C"/>
                </a:solidFill>
                <a:effectLst/>
                <a:uFillTx/>
                <a:latin typeface="Aptos"/>
              </a:rPr>
              <a:t>DFS follows one branch as far as possible, then backtracks.</a:t>
            </a:r>
            <a:endParaRPr lang="en-US" sz="2100" b="0" u="none" strike="noStrike">
              <a:solidFill>
                <a:srgbClr val="000000"/>
              </a:solidFill>
              <a:effectLst/>
              <a:uFillTx/>
              <a:latin typeface="Arial"/>
            </a:endParaRPr>
          </a:p>
        </p:txBody>
      </p:sp>
      <p:sp>
        <p:nvSpPr>
          <p:cNvPr id="1751" name="Text 43"/>
          <p:cNvSpPr/>
          <p:nvPr/>
        </p:nvSpPr>
        <p:spPr>
          <a:xfrm>
            <a:off x="7040880" y="2971800"/>
            <a:ext cx="3839040" cy="9129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102A4C"/>
                </a:solidFill>
                <a:effectLst/>
                <a:uFillTx/>
                <a:latin typeface="Aptos"/>
              </a:rPr>
              <a:t>Good: small fringe. Bad: may miss a shallow solution while exploring a deep branch.</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752"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53"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754"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DFS Failure Modes and Backtracking</a:t>
            </a:r>
            <a:endParaRPr lang="en-US" sz="2600" b="0" u="none" strike="noStrike">
              <a:solidFill>
                <a:srgbClr val="000000"/>
              </a:solidFill>
              <a:effectLst/>
              <a:uFillTx/>
              <a:latin typeface="Arial"/>
            </a:endParaRPr>
          </a:p>
        </p:txBody>
      </p:sp>
      <p:sp>
        <p:nvSpPr>
          <p:cNvPr id="1755"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756"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757" name="Text 5"/>
          <p:cNvSpPr/>
          <p:nvPr/>
        </p:nvSpPr>
        <p:spPr>
          <a:xfrm>
            <a:off x="822960" y="1417320"/>
            <a:ext cx="5667840" cy="42048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1550" b="1" u="none" strike="noStrike">
                <a:solidFill>
                  <a:srgbClr val="9B1C1C"/>
                </a:solidFill>
                <a:effectLst/>
                <a:uFillTx/>
                <a:latin typeface="Aptos"/>
              </a:rPr>
              <a:t>Cyclic spaces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loop forever without cycle checks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9B1C1C"/>
                </a:solidFill>
                <a:effectLst/>
                <a:uFillTx/>
                <a:latin typeface="Aptos"/>
              </a:rPr>
              <a:t>Infinite spaces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follow one infinite path and never return</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9B1C1C"/>
                </a:solidFill>
                <a:effectLst/>
                <a:uFillTx/>
                <a:latin typeface="Aptos"/>
              </a:rPr>
              <a:t>Repeated states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revisit the same state many times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177245"/>
                </a:solidFill>
                <a:effectLst/>
                <a:uFillTx/>
                <a:latin typeface="Aptos"/>
              </a:rPr>
              <a:t>Backtracking search</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generates one successor at a time and undoes actions to reduce memory</a:t>
            </a:r>
            <a:endParaRPr lang="en-US" sz="1550" b="0" u="none" strike="noStrike">
              <a:solidFill>
                <a:srgbClr val="000000"/>
              </a:solidFill>
              <a:effectLst/>
              <a:uFillTx/>
              <a:latin typeface="Arial"/>
            </a:endParaRPr>
          </a:p>
        </p:txBody>
      </p:sp>
      <p:sp>
        <p:nvSpPr>
          <p:cNvPr id="1758" name="Text 6"/>
          <p:cNvSpPr/>
          <p:nvPr/>
        </p:nvSpPr>
        <p:spPr>
          <a:xfrm>
            <a:off x="7169040" y="1408320"/>
            <a:ext cx="291240" cy="291240"/>
          </a:xfrm>
          <a:prstGeom prst="ellipse">
            <a:avLst/>
          </a:prstGeom>
          <a:solidFill>
            <a:srgbClr val="FFE5B6"/>
          </a:solidFill>
          <a:ln w="15240">
            <a:solidFill>
              <a:srgbClr val="F6A01A"/>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759" name="Text 7"/>
          <p:cNvSpPr/>
          <p:nvPr/>
        </p:nvSpPr>
        <p:spPr>
          <a:xfrm>
            <a:off x="8357760" y="213984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760" name="Text 8"/>
          <p:cNvSpPr/>
          <p:nvPr/>
        </p:nvSpPr>
        <p:spPr>
          <a:xfrm>
            <a:off x="7169040" y="2871360"/>
            <a:ext cx="291240" cy="291240"/>
          </a:xfrm>
          <a:prstGeom prst="ellipse">
            <a:avLst/>
          </a:prstGeom>
          <a:solidFill>
            <a:srgbClr val="FFFFFF"/>
          </a:solidFill>
          <a:ln w="15240">
            <a:solidFill>
              <a:srgbClr val="112E5C"/>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761" name="Shape 9"/>
          <p:cNvSpPr/>
          <p:nvPr/>
        </p:nvSpPr>
        <p:spPr>
          <a:xfrm>
            <a:off x="7315200" y="1554480"/>
            <a:ext cx="1188720" cy="731520"/>
          </a:xfrm>
          <a:prstGeom prst="line">
            <a:avLst/>
          </a:prstGeom>
          <a:ln w="1905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62" name="Shape 10"/>
          <p:cNvSpPr/>
          <p:nvPr/>
        </p:nvSpPr>
        <p:spPr>
          <a:xfrm flipH="1">
            <a:off x="7315200" y="2286000"/>
            <a:ext cx="1188720" cy="731520"/>
          </a:xfrm>
          <a:prstGeom prst="line">
            <a:avLst/>
          </a:prstGeom>
          <a:ln w="19050">
            <a:solidFill>
              <a:srgbClr val="5C6B80"/>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763" name="Shape 11"/>
          <p:cNvSpPr/>
          <p:nvPr/>
        </p:nvSpPr>
        <p:spPr>
          <a:xfrm flipV="1">
            <a:off x="7315200" y="1554480"/>
            <a:ext cx="360" cy="1463040"/>
          </a:xfrm>
          <a:prstGeom prst="line">
            <a:avLst/>
          </a:prstGeom>
          <a:ln w="25400">
            <a:solidFill>
              <a:srgbClr val="9B1C1C"/>
            </a:solidFill>
            <a:round/>
            <a:tailEnd len="med" type="triangle" w="me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764" name="Text 12"/>
          <p:cNvSpPr/>
          <p:nvPr/>
        </p:nvSpPr>
        <p:spPr>
          <a:xfrm>
            <a:off x="7726680" y="2514600"/>
            <a:ext cx="1095840" cy="2728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500" b="1" u="none" strike="noStrike">
                <a:solidFill>
                  <a:srgbClr val="9B1C1C"/>
                </a:solidFill>
                <a:effectLst/>
                <a:uFillTx/>
                <a:latin typeface="Aptos"/>
              </a:rPr>
              <a:t>Cycle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765"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766"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767"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Quiz: When Does Each Strategy Win?</a:t>
            </a:r>
            <a:endParaRPr lang="en-US" sz="2600" b="0" u="none" strike="noStrike">
              <a:solidFill>
                <a:srgbClr val="000000"/>
              </a:solidFill>
              <a:effectLst/>
              <a:uFillTx/>
              <a:latin typeface="Arial"/>
            </a:endParaRPr>
          </a:p>
        </p:txBody>
      </p:sp>
      <p:sp>
        <p:nvSpPr>
          <p:cNvPr id="1768"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769"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770" name="Rounded Rectangle 6"/>
          <p:cNvSpPr/>
          <p:nvPr/>
        </p:nvSpPr>
        <p:spPr>
          <a:xfrm>
            <a:off x="777240" y="1417320"/>
            <a:ext cx="5027760" cy="50148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50" b="1" u="none" strike="noStrike">
                <a:solidFill>
                  <a:srgbClr val="112E5C"/>
                </a:solidFill>
                <a:effectLst/>
                <a:uFillTx/>
                <a:latin typeface="Aptos"/>
              </a:rPr>
              <a:t>When will BFS outperform DFS?</a:t>
            </a:r>
            <a:endParaRPr lang="en-US" sz="1550" b="0" u="none" strike="noStrike">
              <a:solidFill>
                <a:srgbClr val="000000"/>
              </a:solidFill>
              <a:effectLst/>
              <a:uFillTx/>
              <a:latin typeface="Arial"/>
            </a:endParaRPr>
          </a:p>
        </p:txBody>
      </p:sp>
      <p:sp>
        <p:nvSpPr>
          <p:cNvPr id="1771" name="Rounded Rectangle 7"/>
          <p:cNvSpPr/>
          <p:nvPr/>
        </p:nvSpPr>
        <p:spPr>
          <a:xfrm>
            <a:off x="777240" y="2103120"/>
            <a:ext cx="5027760" cy="201024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772" name="Rectangle 8"/>
          <p:cNvSpPr/>
          <p:nvPr/>
        </p:nvSpPr>
        <p:spPr>
          <a:xfrm>
            <a:off x="1005840" y="2194560"/>
            <a:ext cx="4570560" cy="245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00" b="1" u="none" strike="noStrike">
                <a:solidFill>
                  <a:srgbClr val="5C6B80"/>
                </a:solidFill>
                <a:effectLst/>
                <a:uFillTx/>
                <a:latin typeface="Aptos"/>
              </a:rPr>
              <a:t>Look for:</a:t>
            </a:r>
            <a:endParaRPr lang="en-US" sz="1200" b="0" u="none" strike="noStrike">
              <a:solidFill>
                <a:srgbClr val="000000"/>
              </a:solidFill>
              <a:effectLst/>
              <a:uFillTx/>
              <a:latin typeface="Arial"/>
            </a:endParaRPr>
          </a:p>
        </p:txBody>
      </p:sp>
      <p:sp>
        <p:nvSpPr>
          <p:cNvPr id="1773" name="Rectangle 9"/>
          <p:cNvSpPr/>
          <p:nvPr/>
        </p:nvSpPr>
        <p:spPr>
          <a:xfrm>
            <a:off x="1005840" y="2514600"/>
            <a:ext cx="4570560" cy="150732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99"/>
              </a:spcAft>
            </a:pPr>
            <a:r>
              <a:rPr lang="en-US" sz="1350" b="0" u="none" strike="noStrike">
                <a:solidFill>
                  <a:srgbClr val="102A4C"/>
                </a:solidFill>
                <a:effectLst/>
                <a:uFillTx/>
                <a:latin typeface="Aptos"/>
              </a:rPr>
              <a:t>•  The solution is shallow relative to the tree</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Branches are deep, cyclic, or infinite</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You need the fewest-action solution</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Memory is available and the tier fits</a:t>
            </a:r>
            <a:endParaRPr lang="en-US" sz="1350" b="0" u="none" strike="noStrike">
              <a:solidFill>
                <a:srgbClr val="000000"/>
              </a:solidFill>
              <a:effectLst/>
              <a:uFillTx/>
              <a:latin typeface="Arial"/>
            </a:endParaRPr>
          </a:p>
        </p:txBody>
      </p:sp>
      <p:sp>
        <p:nvSpPr>
          <p:cNvPr id="1774" name="Rounded Rectangle 10"/>
          <p:cNvSpPr/>
          <p:nvPr/>
        </p:nvSpPr>
        <p:spPr>
          <a:xfrm>
            <a:off x="6385680" y="1417320"/>
            <a:ext cx="5027760" cy="50148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50" b="1" u="none" strike="noStrike">
                <a:solidFill>
                  <a:srgbClr val="112E5C"/>
                </a:solidFill>
                <a:effectLst/>
                <a:uFillTx/>
                <a:latin typeface="Aptos"/>
              </a:rPr>
              <a:t>When will DFS outperform BFS?</a:t>
            </a:r>
            <a:endParaRPr lang="en-US" sz="1550" b="0" u="none" strike="noStrike">
              <a:solidFill>
                <a:srgbClr val="000000"/>
              </a:solidFill>
              <a:effectLst/>
              <a:uFillTx/>
              <a:latin typeface="Arial"/>
            </a:endParaRPr>
          </a:p>
        </p:txBody>
      </p:sp>
      <p:sp>
        <p:nvSpPr>
          <p:cNvPr id="1775" name="Rounded Rectangle 11"/>
          <p:cNvSpPr/>
          <p:nvPr/>
        </p:nvSpPr>
        <p:spPr>
          <a:xfrm>
            <a:off x="6385680" y="2103120"/>
            <a:ext cx="5027760" cy="201024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776" name="Rectangle 12"/>
          <p:cNvSpPr/>
          <p:nvPr/>
        </p:nvSpPr>
        <p:spPr>
          <a:xfrm>
            <a:off x="6614280" y="2194560"/>
            <a:ext cx="4570560" cy="2455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200" b="1" u="none" strike="noStrike">
                <a:solidFill>
                  <a:srgbClr val="5C6B80"/>
                </a:solidFill>
                <a:effectLst/>
                <a:uFillTx/>
                <a:latin typeface="Aptos"/>
              </a:rPr>
              <a:t>Look for:</a:t>
            </a:r>
            <a:endParaRPr lang="en-US" sz="1200" b="0" u="none" strike="noStrike">
              <a:solidFill>
                <a:srgbClr val="000000"/>
              </a:solidFill>
              <a:effectLst/>
              <a:uFillTx/>
              <a:latin typeface="Arial"/>
            </a:endParaRPr>
          </a:p>
        </p:txBody>
      </p:sp>
      <p:sp>
        <p:nvSpPr>
          <p:cNvPr id="1777" name="Rectangle 13"/>
          <p:cNvSpPr/>
          <p:nvPr/>
        </p:nvSpPr>
        <p:spPr>
          <a:xfrm>
            <a:off x="6614280" y="2514600"/>
            <a:ext cx="4570560" cy="150732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99"/>
              </a:spcAft>
            </a:pPr>
            <a:r>
              <a:rPr lang="en-US" sz="1350" b="0" u="none" strike="noStrike">
                <a:solidFill>
                  <a:srgbClr val="102A4C"/>
                </a:solidFill>
                <a:effectLst/>
                <a:uFillTx/>
                <a:latin typeface="Aptos"/>
              </a:rPr>
              <a:t>•  Solutions are dense and lie deep</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The space is a finite tree with no cycles</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Memory is the binding constraint</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Any solution will do; cost is not the point</a:t>
            </a:r>
            <a:endParaRPr lang="en-US" sz="1350" b="0" u="none" strike="noStrike">
              <a:solidFill>
                <a:srgbClr val="000000"/>
              </a:solidFill>
              <a:effectLst/>
              <a:uFillTx/>
              <a:latin typeface="Arial"/>
            </a:endParaRPr>
          </a:p>
        </p:txBody>
      </p:sp>
      <p:sp>
        <p:nvSpPr>
          <p:cNvPr id="1778" name="Rectangle 14"/>
          <p:cNvSpPr/>
          <p:nvPr/>
        </p:nvSpPr>
        <p:spPr>
          <a:xfrm>
            <a:off x="914400" y="438912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Reason from the frontier, do not memorise the table.</a:t>
            </a:r>
            <a:endParaRPr lang="en-US" sz="1700" b="0" u="none" strike="noStrike">
              <a:solidFill>
                <a:srgbClr val="000000"/>
              </a:solidFill>
              <a:effectLst/>
              <a:uFillTx/>
              <a:latin typeface="Arial"/>
            </a:endParaRPr>
          </a:p>
        </p:txBody>
      </p:sp>
      <p:sp>
        <p:nvSpPr>
          <p:cNvPr id="1779" name="Rounded Rectangle 15"/>
          <p:cNvSpPr/>
          <p:nvPr/>
        </p:nvSpPr>
        <p:spPr>
          <a:xfrm>
            <a:off x="914400" y="4754880"/>
            <a:ext cx="10422720" cy="5929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780" name="Rectangle 16"/>
          <p:cNvSpPr/>
          <p:nvPr/>
        </p:nvSpPr>
        <p:spPr>
          <a:xfrm>
            <a:off x="1097280" y="4800600"/>
            <a:ext cx="10056960" cy="5014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00" b="1" u="none" strike="noStrike">
                <a:solidFill>
                  <a:srgbClr val="112E5C"/>
                </a:solidFill>
                <a:effectLst/>
                <a:uFillTx/>
                <a:latin typeface="Aptos"/>
              </a:rPr>
              <a:t>BFS holds an entire tier: </a:t>
            </a:r>
            <a:r>
              <a:rPr lang="en-US" sz="1800" b="1" u="none" strike="noStrike">
                <a:solidFill>
                  <a:srgbClr val="9B1C1C"/>
                </a:solidFill>
                <a:effectLst/>
                <a:uFillTx/>
                <a:latin typeface="Aptos"/>
              </a:rPr>
              <a:t>O(bᵈ)</a:t>
            </a:r>
            <a:r>
              <a:rPr lang="en-US" sz="1500" b="1" u="none" strike="noStrike">
                <a:solidFill>
                  <a:srgbClr val="112E5C"/>
                </a:solidFill>
                <a:effectLst/>
                <a:uFillTx/>
                <a:latin typeface="Aptos"/>
              </a:rPr>
              <a:t>     DFS holds one path and its siblings: </a:t>
            </a:r>
            <a:r>
              <a:rPr lang="en-US" sz="1800" b="1" u="none" strike="noStrike">
                <a:solidFill>
                  <a:srgbClr val="177245"/>
                </a:solidFill>
                <a:effectLst/>
                <a:uFillTx/>
                <a:latin typeface="Aptos"/>
              </a:rPr>
              <a:t>O(bm)</a:t>
            </a:r>
            <a:endParaRPr lang="en-US" sz="1800" b="0" u="none" strike="noStrike">
              <a:solidFill>
                <a:srgbClr val="000000"/>
              </a:solidFill>
              <a:effectLst/>
              <a:uFillTx/>
              <a:latin typeface="Arial"/>
            </a:endParaRPr>
          </a:p>
        </p:txBody>
      </p:sp>
      <p:sp>
        <p:nvSpPr>
          <p:cNvPr id="1781" name="Rectangle 17"/>
          <p:cNvSpPr/>
          <p:nvPr/>
        </p:nvSpPr>
        <p:spPr>
          <a:xfrm>
            <a:off x="914400" y="548640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Every property on the comparison table falls out of which node the frontier hands back next.</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782" name="HeaderBar 200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783" name="AccentBar 200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784" name="Title 200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2600" b="1" u="none" strike="noStrike">
                <a:solidFill>
                  <a:srgbClr val="FFFFFF"/>
                </a:solidFill>
                <a:effectLst/>
                <a:uFillTx/>
                <a:latin typeface="Aptos"/>
              </a:rPr>
              <a:t>Depth-Limited Search: The Algorithm</a:t>
            </a:r>
            <a:endParaRPr lang="en-US" sz="2600" b="0" u="none" strike="noStrike">
              <a:solidFill>
                <a:srgbClr val="000000"/>
              </a:solidFill>
              <a:effectLst/>
              <a:uFillTx/>
              <a:latin typeface="Arial"/>
            </a:endParaRPr>
          </a:p>
        </p:txBody>
      </p:sp>
      <p:sp>
        <p:nvSpPr>
          <p:cNvPr id="1785" name="FooterL 200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786" name="FooterR 200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787" name="CodeCard 2006"/>
          <p:cNvSpPr/>
          <p:nvPr/>
        </p:nvSpPr>
        <p:spPr>
          <a:xfrm>
            <a:off x="502920" y="1239840"/>
            <a:ext cx="6298920" cy="294876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788" name="CodeCap 2007"/>
          <p:cNvSpPr/>
          <p:nvPr/>
        </p:nvSpPr>
        <p:spPr>
          <a:xfrm>
            <a:off x="777240" y="1468440"/>
            <a:ext cx="575028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00" b="1" u="none" strike="noStrike">
                <a:solidFill>
                  <a:srgbClr val="F6A01A"/>
                </a:solidFill>
                <a:effectLst/>
                <a:uFillTx/>
                <a:latin typeface="Aptos"/>
              </a:rPr>
              <a:t>AIMA 4th ed., Figure 3.12 (lower half)</a:t>
            </a:r>
            <a:endParaRPr lang="en-US" sz="900" b="0" u="none" strike="noStrike">
              <a:solidFill>
                <a:srgbClr val="000000"/>
              </a:solidFill>
              <a:effectLst/>
              <a:uFillTx/>
              <a:latin typeface="Arial"/>
            </a:endParaRPr>
          </a:p>
        </p:txBody>
      </p:sp>
      <p:sp>
        <p:nvSpPr>
          <p:cNvPr id="1789" name="CodeBody 2008"/>
          <p:cNvSpPr/>
          <p:nvPr/>
        </p:nvSpPr>
        <p:spPr>
          <a:xfrm>
            <a:off x="777240" y="1768680"/>
            <a:ext cx="5750280" cy="2191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119"/>
              </a:spcAft>
            </a:pPr>
            <a:r>
              <a:rPr lang="en-US" sz="950" b="1" u="none" strike="noStrike">
                <a:solidFill>
                  <a:srgbClr val="F6A01A"/>
                </a:solidFill>
                <a:effectLst/>
                <a:uFillTx/>
                <a:latin typeface="Consolas"/>
              </a:rPr>
              <a:t>function</a:t>
            </a:r>
            <a:r>
              <a:rPr lang="en-US" sz="950" b="0" u="none" strike="noStrike">
                <a:solidFill>
                  <a:srgbClr val="EAF2FF"/>
                </a:solidFill>
                <a:effectLst/>
                <a:uFillTx/>
                <a:latin typeface="Consolas"/>
              </a:rPr>
              <a:t> DEPTH-LIMITED-SEARCH(problem, ℓ) </a:t>
            </a:r>
            <a:r>
              <a:rPr lang="en-US" sz="950" b="1" u="none" strike="noStrike">
                <a:solidFill>
                  <a:srgbClr val="F6A01A"/>
                </a:solidFill>
                <a:effectLst/>
                <a:uFillTx/>
                <a:latin typeface="Consolas"/>
              </a:rPr>
              <a:t>returns</a:t>
            </a:r>
            <a:r>
              <a:rPr lang="en-US" sz="950" b="0" u="none" strike="noStrike">
                <a:solidFill>
                  <a:srgbClr val="EAF2FF"/>
                </a:solidFill>
                <a:effectLst/>
                <a:uFillTx/>
                <a:latin typeface="Consolas"/>
              </a:rPr>
              <a:t> a node, </a:t>
            </a:r>
            <a:r>
              <a:rPr lang="en-US" sz="950" b="1" u="none" strike="noStrike">
                <a:solidFill>
                  <a:srgbClr val="F6A01A"/>
                </a:solidFill>
                <a:effectLst/>
                <a:uFillTx/>
                <a:latin typeface="Consolas"/>
              </a:rPr>
              <a:t>or</a:t>
            </a:r>
            <a:r>
              <a:rPr lang="en-US" sz="950" b="0" u="none" strike="noStrike">
                <a:solidFill>
                  <a:srgbClr val="EAF2FF"/>
                </a:solidFill>
                <a:effectLst/>
                <a:uFillTx/>
                <a:latin typeface="Consolas"/>
              </a:rPr>
              <a:t> </a:t>
            </a:r>
            <a:r>
              <a:rPr lang="en-US" sz="950" b="1" u="none" strike="noStrike">
                <a:solidFill>
                  <a:srgbClr val="F2A0A0"/>
                </a:solidFill>
                <a:effectLst/>
                <a:uFillTx/>
                <a:latin typeface="Consolas"/>
              </a:rPr>
              <a:t>failure</a:t>
            </a: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or</a:t>
            </a:r>
            <a:r>
              <a:rPr lang="en-US" sz="950" b="0" u="none" strike="noStrike">
                <a:solidFill>
                  <a:srgbClr val="EAF2FF"/>
                </a:solidFill>
                <a:effectLst/>
                <a:uFillTx/>
                <a:latin typeface="Consolas"/>
              </a:rPr>
              <a:t> </a:t>
            </a:r>
            <a:r>
              <a:rPr lang="en-US" sz="950" b="1" u="none" strike="noStrike">
                <a:solidFill>
                  <a:srgbClr val="FFD27A"/>
                </a:solidFill>
                <a:effectLst/>
                <a:uFillTx/>
                <a:latin typeface="Consolas"/>
              </a:rPr>
              <a:t>cutoff</a:t>
            </a:r>
            <a:endParaRPr lang="en-US" sz="950" b="0" u="none" strike="noStrike">
              <a:solidFill>
                <a:srgbClr val="000000"/>
              </a:solidFill>
              <a:effectLst/>
              <a:uFillTx/>
              <a:latin typeface="Arial"/>
            </a:endParaRPr>
          </a:p>
          <a:p>
            <a:pPr defTabSz="914400">
              <a:lnSpc>
                <a:spcPct val="100000"/>
              </a:lnSpc>
              <a:spcAft>
                <a:spcPts val="119"/>
              </a:spcAft>
            </a:pP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frontier ← a LIFO queue (stack) with NODE(problem.INITIAL) as an element</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result ← </a:t>
            </a:r>
            <a:r>
              <a:rPr lang="en-US" sz="950" b="1" u="none" strike="noStrike">
                <a:solidFill>
                  <a:srgbClr val="F2A0A0"/>
                </a:solidFill>
                <a:effectLst/>
                <a:uFillTx/>
                <a:latin typeface="Consolas"/>
              </a:rPr>
              <a:t>failure</a:t>
            </a:r>
            <a:endParaRPr lang="en-US" sz="950" b="0" u="none" strike="noStrike">
              <a:solidFill>
                <a:srgbClr val="000000"/>
              </a:solidFill>
              <a:effectLst/>
              <a:uFillTx/>
              <a:latin typeface="Arial"/>
            </a:endParaRPr>
          </a:p>
          <a:p>
            <a:pPr defTabSz="914400">
              <a:lnSpc>
                <a:spcPct val="100000"/>
              </a:lnSpc>
              <a:spcAft>
                <a:spcPts val="119"/>
              </a:spcAft>
            </a:pP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while</a:t>
            </a: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not</a:t>
            </a:r>
            <a:r>
              <a:rPr lang="en-US" sz="950" b="0" u="none" strike="noStrike">
                <a:solidFill>
                  <a:srgbClr val="EAF2FF"/>
                </a:solidFill>
                <a:effectLst/>
                <a:uFillTx/>
                <a:latin typeface="Consolas"/>
              </a:rPr>
              <a:t> IS-EMPTY(frontier) </a:t>
            </a:r>
            <a:r>
              <a:rPr lang="en-US" sz="950" b="1" u="none" strike="noStrike">
                <a:solidFill>
                  <a:srgbClr val="F6A01A"/>
                </a:solidFill>
                <a:effectLst/>
                <a:uFillTx/>
                <a:latin typeface="Consolas"/>
              </a:rPr>
              <a:t>do</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node ← POP(frontier)</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if</a:t>
            </a:r>
            <a:r>
              <a:rPr lang="en-US" sz="950" b="0" u="none" strike="noStrike">
                <a:solidFill>
                  <a:srgbClr val="EAF2FF"/>
                </a:solidFill>
                <a:effectLst/>
                <a:uFillTx/>
                <a:latin typeface="Consolas"/>
              </a:rPr>
              <a:t> problem.IS-GOAL(node.STATE) </a:t>
            </a:r>
            <a:r>
              <a:rPr lang="en-US" sz="950" b="1" u="none" strike="noStrike">
                <a:solidFill>
                  <a:srgbClr val="F6A01A"/>
                </a:solidFill>
                <a:effectLst/>
                <a:uFillTx/>
                <a:latin typeface="Consolas"/>
              </a:rPr>
              <a:t>then</a:t>
            </a: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return</a:t>
            </a:r>
            <a:r>
              <a:rPr lang="en-US" sz="950" b="0" u="none" strike="noStrike">
                <a:solidFill>
                  <a:srgbClr val="EAF2FF"/>
                </a:solidFill>
                <a:effectLst/>
                <a:uFillTx/>
                <a:latin typeface="Consolas"/>
              </a:rPr>
              <a:t> node</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if</a:t>
            </a:r>
            <a:r>
              <a:rPr lang="en-US" sz="950" b="0" u="none" strike="noStrike">
                <a:solidFill>
                  <a:srgbClr val="EAF2FF"/>
                </a:solidFill>
                <a:effectLst/>
                <a:uFillTx/>
                <a:latin typeface="Consolas"/>
              </a:rPr>
              <a:t> DEPTH(node) &gt; ℓ </a:t>
            </a:r>
            <a:r>
              <a:rPr lang="en-US" sz="950" b="1" u="none" strike="noStrike">
                <a:solidFill>
                  <a:srgbClr val="F6A01A"/>
                </a:solidFill>
                <a:effectLst/>
                <a:uFillTx/>
                <a:latin typeface="Consolas"/>
              </a:rPr>
              <a:t>then</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result ← </a:t>
            </a:r>
            <a:r>
              <a:rPr lang="en-US" sz="950" b="1" u="none" strike="noStrike">
                <a:solidFill>
                  <a:srgbClr val="FFD27A"/>
                </a:solidFill>
                <a:effectLst/>
                <a:uFillTx/>
                <a:latin typeface="Consolas"/>
              </a:rPr>
              <a:t>cutoff</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else</a:t>
            </a: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if</a:t>
            </a: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not</a:t>
            </a:r>
            <a:r>
              <a:rPr lang="en-US" sz="950" b="0" u="none" strike="noStrike">
                <a:solidFill>
                  <a:srgbClr val="EAF2FF"/>
                </a:solidFill>
                <a:effectLst/>
                <a:uFillTx/>
                <a:latin typeface="Consolas"/>
              </a:rPr>
              <a:t> IS-CYCLE(node) </a:t>
            </a:r>
            <a:r>
              <a:rPr lang="en-US" sz="950" b="1" u="none" strike="noStrike">
                <a:solidFill>
                  <a:srgbClr val="F6A01A"/>
                </a:solidFill>
                <a:effectLst/>
                <a:uFillTx/>
                <a:latin typeface="Consolas"/>
              </a:rPr>
              <a:t>do</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for</a:t>
            </a: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each</a:t>
            </a:r>
            <a:r>
              <a:rPr lang="en-US" sz="950" b="0" u="none" strike="noStrike">
                <a:solidFill>
                  <a:srgbClr val="EAF2FF"/>
                </a:solidFill>
                <a:effectLst/>
                <a:uFillTx/>
                <a:latin typeface="Consolas"/>
              </a:rPr>
              <a:t> child in EXPAND(problem, node) </a:t>
            </a:r>
            <a:r>
              <a:rPr lang="en-US" sz="950" b="1" u="none" strike="noStrike">
                <a:solidFill>
                  <a:srgbClr val="F6A01A"/>
                </a:solidFill>
                <a:effectLst/>
                <a:uFillTx/>
                <a:latin typeface="Consolas"/>
              </a:rPr>
              <a:t>do</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add child </a:t>
            </a:r>
            <a:r>
              <a:rPr lang="en-US" sz="950" b="1" u="none" strike="noStrike">
                <a:solidFill>
                  <a:srgbClr val="F6A01A"/>
                </a:solidFill>
                <a:effectLst/>
                <a:uFillTx/>
                <a:latin typeface="Consolas"/>
              </a:rPr>
              <a:t>to</a:t>
            </a:r>
            <a:r>
              <a:rPr lang="en-US" sz="950" b="0" u="none" strike="noStrike">
                <a:solidFill>
                  <a:srgbClr val="EAF2FF"/>
                </a:solidFill>
                <a:effectLst/>
                <a:uFillTx/>
                <a:latin typeface="Consolas"/>
              </a:rPr>
              <a:t> frontier</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return</a:t>
            </a:r>
            <a:r>
              <a:rPr lang="en-US" sz="950" b="0" u="none" strike="noStrike">
                <a:solidFill>
                  <a:srgbClr val="EAF2FF"/>
                </a:solidFill>
                <a:effectLst/>
                <a:uFillTx/>
                <a:latin typeface="Consolas"/>
              </a:rPr>
              <a:t> result</a:t>
            </a:r>
            <a:endParaRPr lang="en-US" sz="950" b="0" u="none" strike="noStrike">
              <a:solidFill>
                <a:srgbClr val="000000"/>
              </a:solidFill>
              <a:effectLst/>
              <a:uFillTx/>
              <a:latin typeface="Arial"/>
            </a:endParaRPr>
          </a:p>
        </p:txBody>
      </p:sp>
      <p:sp>
        <p:nvSpPr>
          <p:cNvPr id="1790" name="NoteCard 2009"/>
          <p:cNvSpPr/>
          <p:nvPr/>
        </p:nvSpPr>
        <p:spPr>
          <a:xfrm>
            <a:off x="502920" y="4349880"/>
            <a:ext cx="6298920" cy="7887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791" name="CardHead 2010"/>
          <p:cNvSpPr/>
          <p:nvPr/>
        </p:nvSpPr>
        <p:spPr>
          <a:xfrm>
            <a:off x="708840" y="4487040"/>
            <a:ext cx="58874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F6A01A"/>
                </a:solidFill>
                <a:effectLst/>
                <a:uFillTx/>
                <a:latin typeface="Aptos"/>
              </a:rPr>
              <a:t>Notice what is not here</a:t>
            </a:r>
            <a:endParaRPr lang="en-US" sz="1050" b="0" u="none" strike="noStrike">
              <a:solidFill>
                <a:srgbClr val="000000"/>
              </a:solidFill>
              <a:effectLst/>
              <a:uFillTx/>
              <a:latin typeface="Arial"/>
            </a:endParaRPr>
          </a:p>
        </p:txBody>
      </p:sp>
      <p:sp>
        <p:nvSpPr>
          <p:cNvPr id="1792" name="CardBody 2011"/>
          <p:cNvSpPr/>
          <p:nvPr/>
        </p:nvSpPr>
        <p:spPr>
          <a:xfrm>
            <a:off x="708840" y="4715640"/>
            <a:ext cx="5887440" cy="2858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Set ℓ = ∞ and delete the DEPTH test and this is plain depth-first search. The textbook never gives DFS its own figure, because this is it.</a:t>
            </a:r>
            <a:endParaRPr lang="en-US" sz="950" b="0" u="none" strike="noStrike">
              <a:solidFill>
                <a:srgbClr val="000000"/>
              </a:solidFill>
              <a:effectLst/>
              <a:uFillTx/>
              <a:latin typeface="Arial"/>
            </a:endParaRPr>
          </a:p>
        </p:txBody>
      </p:sp>
      <p:sp>
        <p:nvSpPr>
          <p:cNvPr id="1793" name="NoteCard 2012"/>
          <p:cNvSpPr/>
          <p:nvPr/>
        </p:nvSpPr>
        <p:spPr>
          <a:xfrm>
            <a:off x="7077240" y="1239840"/>
            <a:ext cx="4610880" cy="85392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794" name="CardHead 2013"/>
          <p:cNvSpPr/>
          <p:nvPr/>
        </p:nvSpPr>
        <p:spPr>
          <a:xfrm>
            <a:off x="7283160" y="1377000"/>
            <a:ext cx="419940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112E5C"/>
                </a:solidFill>
                <a:effectLst/>
                <a:uFillTx/>
                <a:latin typeface="Aptos"/>
              </a:rPr>
              <a:t>A LIFO stack</a:t>
            </a:r>
            <a:endParaRPr lang="en-US" sz="1050" b="0" u="none" strike="noStrike">
              <a:solidFill>
                <a:srgbClr val="000000"/>
              </a:solidFill>
              <a:effectLst/>
              <a:uFillTx/>
              <a:latin typeface="Arial"/>
            </a:endParaRPr>
          </a:p>
        </p:txBody>
      </p:sp>
      <p:sp>
        <p:nvSpPr>
          <p:cNvPr id="1795" name="CardBody 2014"/>
          <p:cNvSpPr/>
          <p:nvPr/>
        </p:nvSpPr>
        <p:spPr>
          <a:xfrm>
            <a:off x="7283160" y="1605600"/>
            <a:ext cx="4199400" cy="351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POP returns the newest node, so the search drives down one branch before touching any sibling.</a:t>
            </a:r>
            <a:endParaRPr lang="en-US" sz="950" b="0" u="none" strike="noStrike">
              <a:solidFill>
                <a:srgbClr val="000000"/>
              </a:solidFill>
              <a:effectLst/>
              <a:uFillTx/>
              <a:latin typeface="Arial"/>
            </a:endParaRPr>
          </a:p>
        </p:txBody>
      </p:sp>
      <p:sp>
        <p:nvSpPr>
          <p:cNvPr id="1796" name="NoteCard 2015"/>
          <p:cNvSpPr/>
          <p:nvPr/>
        </p:nvSpPr>
        <p:spPr>
          <a:xfrm>
            <a:off x="7077240" y="2255040"/>
            <a:ext cx="4610880" cy="85392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797" name="CardHead 2016"/>
          <p:cNvSpPr/>
          <p:nvPr/>
        </p:nvSpPr>
        <p:spPr>
          <a:xfrm>
            <a:off x="7283160" y="2392200"/>
            <a:ext cx="419940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112E5C"/>
                </a:solidFill>
                <a:effectLst/>
                <a:uFillTx/>
                <a:latin typeface="Aptos"/>
              </a:rPr>
              <a:t>Three possible answers</a:t>
            </a:r>
            <a:endParaRPr lang="en-US" sz="1050" b="0" u="none" strike="noStrike">
              <a:solidFill>
                <a:srgbClr val="000000"/>
              </a:solidFill>
              <a:effectLst/>
              <a:uFillTx/>
              <a:latin typeface="Arial"/>
            </a:endParaRPr>
          </a:p>
        </p:txBody>
      </p:sp>
      <p:sp>
        <p:nvSpPr>
          <p:cNvPr id="1798" name="CardBody 2017"/>
          <p:cNvSpPr/>
          <p:nvPr/>
        </p:nvSpPr>
        <p:spPr>
          <a:xfrm>
            <a:off x="7283160" y="2620800"/>
            <a:ext cx="4199400" cy="351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A solution node, failure, or cutoff. The last two are not the same thing, and confusing them is the classic exam error.</a:t>
            </a:r>
            <a:endParaRPr lang="en-US" sz="950" b="0" u="none" strike="noStrike">
              <a:solidFill>
                <a:srgbClr val="000000"/>
              </a:solidFill>
              <a:effectLst/>
              <a:uFillTx/>
              <a:latin typeface="Arial"/>
            </a:endParaRPr>
          </a:p>
        </p:txBody>
      </p:sp>
      <p:sp>
        <p:nvSpPr>
          <p:cNvPr id="1799" name="NoteCard 2018"/>
          <p:cNvSpPr/>
          <p:nvPr/>
        </p:nvSpPr>
        <p:spPr>
          <a:xfrm>
            <a:off x="7077240" y="3269880"/>
            <a:ext cx="4610880" cy="85392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00" name="CardHead 2019"/>
          <p:cNvSpPr/>
          <p:nvPr/>
        </p:nvSpPr>
        <p:spPr>
          <a:xfrm>
            <a:off x="7283160" y="3407040"/>
            <a:ext cx="419940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112E5C"/>
                </a:solidFill>
                <a:effectLst/>
                <a:uFillTx/>
                <a:latin typeface="Aptos"/>
              </a:rPr>
              <a:t>No reached table at all</a:t>
            </a:r>
            <a:endParaRPr lang="en-US" sz="1050" b="0" u="none" strike="noStrike">
              <a:solidFill>
                <a:srgbClr val="000000"/>
              </a:solidFill>
              <a:effectLst/>
              <a:uFillTx/>
              <a:latin typeface="Arial"/>
            </a:endParaRPr>
          </a:p>
        </p:txBody>
      </p:sp>
      <p:sp>
        <p:nvSpPr>
          <p:cNvPr id="1801" name="CardBody 2020"/>
          <p:cNvSpPr/>
          <p:nvPr/>
        </p:nvSpPr>
        <p:spPr>
          <a:xfrm>
            <a:off x="7283160" y="3635640"/>
            <a:ext cx="4199400" cy="351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This is tree-like search. Memory is O(bℓ): one path plus the siblings along it, never a stored tier.</a:t>
            </a:r>
            <a:endParaRPr lang="en-US" sz="950" b="0" u="none" strike="noStrike">
              <a:solidFill>
                <a:srgbClr val="000000"/>
              </a:solidFill>
              <a:effectLst/>
              <a:uFillTx/>
              <a:latin typeface="Arial"/>
            </a:endParaRPr>
          </a:p>
        </p:txBody>
      </p:sp>
      <p:sp>
        <p:nvSpPr>
          <p:cNvPr id="1802" name="NoteCard 2021"/>
          <p:cNvSpPr/>
          <p:nvPr/>
        </p:nvSpPr>
        <p:spPr>
          <a:xfrm>
            <a:off x="7077240" y="4285080"/>
            <a:ext cx="4610880" cy="85392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03" name="CardHead 2022"/>
          <p:cNvSpPr/>
          <p:nvPr/>
        </p:nvSpPr>
        <p:spPr>
          <a:xfrm>
            <a:off x="7283160" y="4422240"/>
            <a:ext cx="419940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112E5C"/>
                </a:solidFill>
                <a:effectLst/>
                <a:uFillTx/>
                <a:latin typeface="Aptos"/>
              </a:rPr>
              <a:t>IS-CYCLE(node)</a:t>
            </a:r>
            <a:endParaRPr lang="en-US" sz="1050" b="0" u="none" strike="noStrike">
              <a:solidFill>
                <a:srgbClr val="000000"/>
              </a:solidFill>
              <a:effectLst/>
              <a:uFillTx/>
              <a:latin typeface="Arial"/>
            </a:endParaRPr>
          </a:p>
        </p:txBody>
      </p:sp>
      <p:sp>
        <p:nvSpPr>
          <p:cNvPr id="1804" name="CardBody 2023"/>
          <p:cNvSpPr/>
          <p:nvPr/>
        </p:nvSpPr>
        <p:spPr>
          <a:xfrm>
            <a:off x="7283160" y="4650840"/>
            <a:ext cx="4199400" cy="351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Walks the parent chain looking for a repeated state. Check a few links for cheap safety, or all the way up for full safety.</a:t>
            </a:r>
            <a:endParaRPr lang="en-US" sz="950" b="0" u="none" strike="noStrike">
              <a:solidFill>
                <a:srgbClr val="000000"/>
              </a:solidFill>
              <a:effectLst/>
              <a:uFillTx/>
              <a:latin typeface="Arial"/>
            </a:endParaRPr>
          </a:p>
        </p:txBody>
      </p:sp>
      <p:sp>
        <p:nvSpPr>
          <p:cNvPr id="1805" name="Banner 2024"/>
          <p:cNvSpPr/>
          <p:nvPr/>
        </p:nvSpPr>
        <p:spPr>
          <a:xfrm>
            <a:off x="502920" y="5320080"/>
            <a:ext cx="11185200" cy="89892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p>
            <a:pPr defTabSz="914400">
              <a:lnSpc>
                <a:spcPct val="100000"/>
              </a:lnSpc>
              <a:spcAft>
                <a:spcPts val="201"/>
              </a:spcAft>
            </a:pPr>
            <a:r>
              <a:rPr lang="en-US" sz="1100" b="1" u="none" strike="noStrike">
                <a:solidFill>
                  <a:srgbClr val="102A4C"/>
                </a:solidFill>
                <a:effectLst/>
                <a:uFillTx/>
                <a:latin typeface="Aptos"/>
              </a:rPr>
              <a:t>Depth-limited search is depth-first search with a governor bolted on: nodes at depth ℓ are treated as if they had no successors. The limit ℓ makes the search terminate; it does not make the search correct.</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5C6B80"/>
                </a:solidFill>
                <a:effectLst/>
                <a:uFillTx/>
                <a:latin typeface="Aptos"/>
              </a:rPr>
              <a:t>If ℓ is smaller than the shallowest solution, the answer comes back as cutoff — the algorithm's way of telling you not to read the result as “there is no solution”.</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806" name="HeaderBar 200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07" name="AccentBar 200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08" name="Title 200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2600" b="1" u="none" strike="noStrike">
                <a:solidFill>
                  <a:srgbClr val="FFFFFF"/>
                </a:solidFill>
                <a:effectLst/>
                <a:uFillTx/>
                <a:latin typeface="Aptos"/>
              </a:rPr>
              <a:t>Failure Is Not Cutoff</a:t>
            </a:r>
            <a:endParaRPr lang="en-US" sz="2600" b="0" u="none" strike="noStrike">
              <a:solidFill>
                <a:srgbClr val="000000"/>
              </a:solidFill>
              <a:effectLst/>
              <a:uFillTx/>
              <a:latin typeface="Arial"/>
            </a:endParaRPr>
          </a:p>
        </p:txBody>
      </p:sp>
      <p:sp>
        <p:nvSpPr>
          <p:cNvPr id="1809" name="FooterL 200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810" name="FooterR 200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811" name="Outcome 2006"/>
          <p:cNvSpPr/>
          <p:nvPr/>
        </p:nvSpPr>
        <p:spPr>
          <a:xfrm>
            <a:off x="502920" y="1239840"/>
            <a:ext cx="3544920" cy="2098800"/>
          </a:xfrm>
          <a:prstGeom prst="roundRect">
            <a:avLst>
              <a:gd name="adj" fmla="val 3000"/>
            </a:avLst>
          </a:prstGeom>
          <a:solidFill>
            <a:srgbClr val="DBF1E3"/>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12" name="Text 2007"/>
          <p:cNvSpPr/>
          <p:nvPr/>
        </p:nvSpPr>
        <p:spPr>
          <a:xfrm>
            <a:off x="708840" y="1445760"/>
            <a:ext cx="3133440" cy="29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500" b="1" u="none" strike="noStrike">
                <a:solidFill>
                  <a:srgbClr val="177245"/>
                </a:solidFill>
                <a:effectLst/>
                <a:uFillTx/>
                <a:latin typeface="Consolas"/>
              </a:rPr>
              <a:t>solution node</a:t>
            </a:r>
            <a:endParaRPr lang="en-US" sz="1500" b="0" u="none" strike="noStrike">
              <a:solidFill>
                <a:srgbClr val="000000"/>
              </a:solidFill>
              <a:effectLst/>
              <a:uFillTx/>
              <a:latin typeface="Arial"/>
            </a:endParaRPr>
          </a:p>
        </p:txBody>
      </p:sp>
      <p:sp>
        <p:nvSpPr>
          <p:cNvPr id="1813" name="Text 2008"/>
          <p:cNvSpPr/>
          <p:nvPr/>
        </p:nvSpPr>
        <p:spPr>
          <a:xfrm>
            <a:off x="708840" y="1860120"/>
            <a:ext cx="3133440" cy="1269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spcAft>
                <a:spcPts val="340"/>
              </a:spcAft>
            </a:pPr>
            <a:r>
              <a:rPr lang="en-US" sz="1000" b="1" u="none" strike="noStrike">
                <a:solidFill>
                  <a:srgbClr val="102A4C"/>
                </a:solidFill>
                <a:effectLst/>
                <a:uFillTx/>
                <a:latin typeface="Aptos"/>
              </a:rPr>
              <a:t>A goal state was popped at depth ≤ ℓ.</a:t>
            </a:r>
            <a:endParaRPr lang="en-US" sz="1000" b="0" u="none" strike="noStrike">
              <a:solidFill>
                <a:srgbClr val="000000"/>
              </a:solidFill>
              <a:effectLst/>
              <a:uFillTx/>
              <a:latin typeface="Arial"/>
            </a:endParaRPr>
          </a:p>
          <a:p>
            <a:pPr defTabSz="914400">
              <a:lnSpc>
                <a:spcPct val="104000"/>
              </a:lnSpc>
            </a:pPr>
            <a:r>
              <a:rPr lang="en-US" sz="950" b="0" u="none" strike="noStrike">
                <a:solidFill>
                  <a:srgbClr val="5C6B80"/>
                </a:solidFill>
                <a:effectLst/>
                <a:uFillTx/>
                <a:latin typeface="Aptos"/>
              </a:rPr>
              <a:t>Means: done. The path is real, and it lies inside the limit you set.</a:t>
            </a:r>
            <a:endParaRPr lang="en-US" sz="950" b="0" u="none" strike="noStrike">
              <a:solidFill>
                <a:srgbClr val="000000"/>
              </a:solidFill>
              <a:effectLst/>
              <a:uFillTx/>
              <a:latin typeface="Arial"/>
            </a:endParaRPr>
          </a:p>
        </p:txBody>
      </p:sp>
      <p:sp>
        <p:nvSpPr>
          <p:cNvPr id="1814" name="Outcome 2009"/>
          <p:cNvSpPr/>
          <p:nvPr/>
        </p:nvSpPr>
        <p:spPr>
          <a:xfrm>
            <a:off x="4323240" y="1239840"/>
            <a:ext cx="3544920" cy="2098800"/>
          </a:xfrm>
          <a:prstGeom prst="roundRect">
            <a:avLst>
              <a:gd name="adj" fmla="val 3000"/>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15" name="Text 2010"/>
          <p:cNvSpPr/>
          <p:nvPr/>
        </p:nvSpPr>
        <p:spPr>
          <a:xfrm>
            <a:off x="4528800" y="1445760"/>
            <a:ext cx="3133440" cy="29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500" b="1" u="none" strike="noStrike">
                <a:solidFill>
                  <a:srgbClr val="9B1C1C"/>
                </a:solidFill>
                <a:effectLst/>
                <a:uFillTx/>
                <a:latin typeface="Consolas"/>
              </a:rPr>
              <a:t>failure</a:t>
            </a:r>
            <a:endParaRPr lang="en-US" sz="1500" b="0" u="none" strike="noStrike">
              <a:solidFill>
                <a:srgbClr val="000000"/>
              </a:solidFill>
              <a:effectLst/>
              <a:uFillTx/>
              <a:latin typeface="Arial"/>
            </a:endParaRPr>
          </a:p>
        </p:txBody>
      </p:sp>
      <p:sp>
        <p:nvSpPr>
          <p:cNvPr id="1816" name="Text 2011"/>
          <p:cNvSpPr/>
          <p:nvPr/>
        </p:nvSpPr>
        <p:spPr>
          <a:xfrm>
            <a:off x="4528800" y="1860120"/>
            <a:ext cx="3133440" cy="1269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spcAft>
                <a:spcPts val="340"/>
              </a:spcAft>
            </a:pPr>
            <a:r>
              <a:rPr lang="en-US" sz="1000" b="1" u="none" strike="noStrike">
                <a:solidFill>
                  <a:srgbClr val="102A4C"/>
                </a:solidFill>
                <a:effectLst/>
                <a:uFillTx/>
                <a:latin typeface="Aptos"/>
              </a:rPr>
              <a:t>The stack emptied and no node was ever truncated at ℓ.</a:t>
            </a:r>
            <a:endParaRPr lang="en-US" sz="1000" b="0" u="none" strike="noStrike">
              <a:solidFill>
                <a:srgbClr val="000000"/>
              </a:solidFill>
              <a:effectLst/>
              <a:uFillTx/>
              <a:latin typeface="Arial"/>
            </a:endParaRPr>
          </a:p>
          <a:p>
            <a:pPr defTabSz="914400">
              <a:lnSpc>
                <a:spcPct val="104000"/>
              </a:lnSpc>
            </a:pPr>
            <a:r>
              <a:rPr lang="en-US" sz="950" b="0" u="none" strike="noStrike">
                <a:solidFill>
                  <a:srgbClr val="5C6B80"/>
                </a:solidFill>
                <a:effectLst/>
                <a:uFillTx/>
                <a:latin typeface="Aptos"/>
              </a:rPr>
              <a:t>Means: the reachable space was exhausted. There is no solution — full stop.</a:t>
            </a:r>
            <a:endParaRPr lang="en-US" sz="950" b="0" u="none" strike="noStrike">
              <a:solidFill>
                <a:srgbClr val="000000"/>
              </a:solidFill>
              <a:effectLst/>
              <a:uFillTx/>
              <a:latin typeface="Arial"/>
            </a:endParaRPr>
          </a:p>
        </p:txBody>
      </p:sp>
      <p:sp>
        <p:nvSpPr>
          <p:cNvPr id="1817" name="Outcome 2012"/>
          <p:cNvSpPr/>
          <p:nvPr/>
        </p:nvSpPr>
        <p:spPr>
          <a:xfrm>
            <a:off x="8143200" y="1239840"/>
            <a:ext cx="3544920" cy="2098800"/>
          </a:xfrm>
          <a:prstGeom prst="roundRect">
            <a:avLst>
              <a:gd name="adj" fmla="val 3000"/>
            </a:avLst>
          </a:prstGeom>
          <a:solidFill>
            <a:srgbClr val="FFE5B6"/>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18" name="Text 2013"/>
          <p:cNvSpPr/>
          <p:nvPr/>
        </p:nvSpPr>
        <p:spPr>
          <a:xfrm>
            <a:off x="8349120" y="1445760"/>
            <a:ext cx="3133440" cy="29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500" b="1" u="none" strike="noStrike">
                <a:solidFill>
                  <a:srgbClr val="8A5A00"/>
                </a:solidFill>
                <a:effectLst/>
                <a:uFillTx/>
                <a:latin typeface="Consolas"/>
              </a:rPr>
              <a:t>cutoff</a:t>
            </a:r>
            <a:endParaRPr lang="en-US" sz="1500" b="0" u="none" strike="noStrike">
              <a:solidFill>
                <a:srgbClr val="000000"/>
              </a:solidFill>
              <a:effectLst/>
              <a:uFillTx/>
              <a:latin typeface="Arial"/>
            </a:endParaRPr>
          </a:p>
        </p:txBody>
      </p:sp>
      <p:sp>
        <p:nvSpPr>
          <p:cNvPr id="1819" name="Text 2014"/>
          <p:cNvSpPr/>
          <p:nvPr/>
        </p:nvSpPr>
        <p:spPr>
          <a:xfrm>
            <a:off x="8349120" y="1860120"/>
            <a:ext cx="3133440" cy="1269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spcAft>
                <a:spcPts val="340"/>
              </a:spcAft>
            </a:pPr>
            <a:r>
              <a:rPr lang="en-US" sz="1000" b="1" u="none" strike="noStrike">
                <a:solidFill>
                  <a:srgbClr val="102A4C"/>
                </a:solidFill>
                <a:effectLst/>
                <a:uFillTx/>
                <a:latin typeface="Aptos"/>
              </a:rPr>
              <a:t>The stack emptied, but at least one node was cut off at depth ℓ.</a:t>
            </a:r>
            <a:endParaRPr lang="en-US" sz="1000" b="0" u="none" strike="noStrike">
              <a:solidFill>
                <a:srgbClr val="000000"/>
              </a:solidFill>
              <a:effectLst/>
              <a:uFillTx/>
              <a:latin typeface="Arial"/>
            </a:endParaRPr>
          </a:p>
          <a:p>
            <a:pPr defTabSz="914400">
              <a:lnSpc>
                <a:spcPct val="104000"/>
              </a:lnSpc>
            </a:pPr>
            <a:r>
              <a:rPr lang="en-US" sz="950" b="0" u="none" strike="noStrike">
                <a:solidFill>
                  <a:srgbClr val="5C6B80"/>
                </a:solidFill>
                <a:effectLst/>
                <a:uFillTx/>
                <a:latin typeface="Aptos"/>
              </a:rPr>
              <a:t>Means: unknown. There may be a solution deeper down; you simply did not look.</a:t>
            </a:r>
            <a:endParaRPr lang="en-US" sz="950" b="0" u="none" strike="noStrike">
              <a:solidFill>
                <a:srgbClr val="000000"/>
              </a:solidFill>
              <a:effectLst/>
              <a:uFillTx/>
              <a:latin typeface="Arial"/>
            </a:endParaRPr>
          </a:p>
        </p:txBody>
      </p:sp>
      <p:sp>
        <p:nvSpPr>
          <p:cNvPr id="1820" name="NoteCard 2015"/>
          <p:cNvSpPr/>
          <p:nvPr/>
        </p:nvSpPr>
        <p:spPr>
          <a:xfrm>
            <a:off x="502920" y="3520080"/>
            <a:ext cx="5454720" cy="169884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21" name="CardHead 2016"/>
          <p:cNvSpPr/>
          <p:nvPr/>
        </p:nvSpPr>
        <p:spPr>
          <a:xfrm>
            <a:off x="708840" y="3657240"/>
            <a:ext cx="50432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200" b="1" u="none" strike="noStrike">
                <a:solidFill>
                  <a:srgbClr val="112E5C"/>
                </a:solidFill>
                <a:effectLst/>
                <a:uFillTx/>
                <a:latin typeface="Aptos"/>
              </a:rPr>
              <a:t>Why result is a variable, not a return</a:t>
            </a:r>
            <a:endParaRPr lang="en-US" sz="1200" b="0" u="none" strike="noStrike">
              <a:solidFill>
                <a:srgbClr val="000000"/>
              </a:solidFill>
              <a:effectLst/>
              <a:uFillTx/>
              <a:latin typeface="Arial"/>
            </a:endParaRPr>
          </a:p>
        </p:txBody>
      </p:sp>
      <p:sp>
        <p:nvSpPr>
          <p:cNvPr id="1822" name="CardBody 2017"/>
          <p:cNvSpPr/>
          <p:nvPr/>
        </p:nvSpPr>
        <p:spPr>
          <a:xfrm>
            <a:off x="708840" y="3885840"/>
            <a:ext cx="5043240" cy="119592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spcAft>
                <a:spcPts val="281"/>
              </a:spcAft>
            </a:pPr>
            <a:r>
              <a:rPr lang="en-US" sz="1000" b="0" u="none" strike="noStrike">
                <a:solidFill>
                  <a:srgbClr val="102A4C"/>
                </a:solidFill>
                <a:effectLst/>
                <a:uFillTx/>
                <a:latin typeface="Aptos"/>
              </a:rPr>
              <a:t>result starts at failure and is upgraded to cutoff the first time a node is truncated. The function returns only after the stack empties, so the answer describes the whole search rather than the first branch that ran out of room.</a:t>
            </a:r>
            <a:endParaRPr lang="en-US" sz="1000" b="0" u="none" strike="noStrike">
              <a:solidFill>
                <a:srgbClr val="000000"/>
              </a:solidFill>
              <a:effectLst/>
              <a:uFillTx/>
              <a:latin typeface="Arial"/>
            </a:endParaRPr>
          </a:p>
          <a:p>
            <a:pPr defTabSz="914400">
              <a:lnSpc>
                <a:spcPct val="104000"/>
              </a:lnSpc>
            </a:pPr>
            <a:r>
              <a:rPr lang="en-US" sz="1000" b="1" u="none" strike="noStrike">
                <a:solidFill>
                  <a:srgbClr val="9B1C1C"/>
                </a:solidFill>
                <a:effectLst/>
                <a:uFillTx/>
                <a:latin typeface="Aptos"/>
              </a:rPr>
              <a:t>One truncated branch anywhere is enough to void a failure.</a:t>
            </a:r>
            <a:endParaRPr lang="en-US" sz="1000" b="0" u="none" strike="noStrike">
              <a:solidFill>
                <a:srgbClr val="000000"/>
              </a:solidFill>
              <a:effectLst/>
              <a:uFillTx/>
              <a:latin typeface="Arial"/>
            </a:endParaRPr>
          </a:p>
        </p:txBody>
      </p:sp>
      <p:sp>
        <p:nvSpPr>
          <p:cNvPr id="1823" name="NoteCard 2018"/>
          <p:cNvSpPr/>
          <p:nvPr/>
        </p:nvSpPr>
        <p:spPr>
          <a:xfrm>
            <a:off x="6233040" y="3520080"/>
            <a:ext cx="5454720" cy="169884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24" name="CardHead 2019"/>
          <p:cNvSpPr/>
          <p:nvPr/>
        </p:nvSpPr>
        <p:spPr>
          <a:xfrm>
            <a:off x="6438960" y="3657240"/>
            <a:ext cx="50432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200" b="1" u="none" strike="noStrike">
                <a:solidFill>
                  <a:srgbClr val="112E5C"/>
                </a:solidFill>
                <a:effectLst/>
                <a:uFillTx/>
                <a:latin typeface="Aptos"/>
              </a:rPr>
              <a:t>Choosing ℓ, using the Romania map</a:t>
            </a:r>
            <a:endParaRPr lang="en-US" sz="1200" b="0" u="none" strike="noStrike">
              <a:solidFill>
                <a:srgbClr val="000000"/>
              </a:solidFill>
              <a:effectLst/>
              <a:uFillTx/>
              <a:latin typeface="Arial"/>
            </a:endParaRPr>
          </a:p>
        </p:txBody>
      </p:sp>
      <p:sp>
        <p:nvSpPr>
          <p:cNvPr id="1825" name="CardBody 2020"/>
          <p:cNvSpPr/>
          <p:nvPr/>
        </p:nvSpPr>
        <p:spPr>
          <a:xfrm>
            <a:off x="6438960" y="3885840"/>
            <a:ext cx="5043240" cy="119592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marL="137160" indent="-137160" defTabSz="914400">
              <a:lnSpc>
                <a:spcPct val="104000"/>
              </a:lnSpc>
              <a:spcAft>
                <a:spcPts val="261"/>
              </a:spcAft>
              <a:tabLst>
                <a:tab pos="0" algn="l"/>
              </a:tabLst>
            </a:pPr>
            <a:r>
              <a:rPr lang="en-US" sz="950" b="1" u="none" strike="noStrike">
                <a:solidFill>
                  <a:srgbClr val="F6A01A"/>
                </a:solidFill>
                <a:effectLst/>
                <a:uFillTx/>
                <a:latin typeface="Aptos"/>
              </a:rPr>
              <a:t>• </a:t>
            </a:r>
            <a:r>
              <a:rPr lang="en-US" sz="950" b="1" u="none" strike="noStrike">
                <a:solidFill>
                  <a:srgbClr val="102A4C"/>
                </a:solidFill>
                <a:effectLst/>
                <a:uFillTx/>
                <a:latin typeface="Aptos"/>
              </a:rPr>
              <a:t>ℓ = 19 is always safe. </a:t>
            </a:r>
            <a:r>
              <a:rPr lang="en-US" sz="950" b="0" u="none" strike="noStrike">
                <a:solidFill>
                  <a:srgbClr val="102A4C"/>
                </a:solidFill>
                <a:effectLst/>
                <a:uFillTx/>
                <a:latin typeface="Aptos"/>
              </a:rPr>
              <a:t>20 cities, so no solution path needs more than 19 actions.</a:t>
            </a:r>
            <a:endParaRPr lang="en-US" sz="950" b="0" u="none" strike="noStrike">
              <a:solidFill>
                <a:srgbClr val="000000"/>
              </a:solidFill>
              <a:effectLst/>
              <a:uFillTx/>
              <a:latin typeface="Arial"/>
            </a:endParaRPr>
          </a:p>
          <a:p>
            <a:pPr marL="137160" indent="-137160" defTabSz="914400">
              <a:lnSpc>
                <a:spcPct val="104000"/>
              </a:lnSpc>
              <a:spcAft>
                <a:spcPts val="261"/>
              </a:spcAft>
              <a:tabLst>
                <a:tab pos="0" algn="l"/>
              </a:tabLst>
            </a:pPr>
            <a:r>
              <a:rPr lang="en-US" sz="950" b="1" u="none" strike="noStrike">
                <a:solidFill>
                  <a:srgbClr val="F6A01A"/>
                </a:solidFill>
                <a:effectLst/>
                <a:uFillTx/>
                <a:latin typeface="Aptos"/>
              </a:rPr>
              <a:t>• </a:t>
            </a:r>
            <a:r>
              <a:rPr lang="en-US" sz="950" b="1" u="none" strike="noStrike">
                <a:solidFill>
                  <a:srgbClr val="102A4C"/>
                </a:solidFill>
                <a:effectLst/>
                <a:uFillTx/>
                <a:latin typeface="Aptos"/>
              </a:rPr>
              <a:t>ℓ = 9 is the good limit. </a:t>
            </a:r>
            <a:r>
              <a:rPr lang="en-US" sz="950" b="0" u="none" strike="noStrike">
                <a:solidFill>
                  <a:srgbClr val="102A4C"/>
                </a:solidFill>
                <a:effectLst/>
                <a:uFillTx/>
                <a:latin typeface="Aptos"/>
              </a:rPr>
              <a:t>That is the diameter of the graph — any city reaches any other in 9.</a:t>
            </a:r>
            <a:endParaRPr lang="en-US" sz="950" b="0" u="none" strike="noStrike">
              <a:solidFill>
                <a:srgbClr val="000000"/>
              </a:solidFill>
              <a:effectLst/>
              <a:uFillTx/>
              <a:latin typeface="Arial"/>
            </a:endParaRPr>
          </a:p>
          <a:p>
            <a:pPr marL="137160" indent="-137160" defTabSz="914400">
              <a:lnSpc>
                <a:spcPct val="104000"/>
              </a:lnSpc>
              <a:spcAft>
                <a:spcPts val="261"/>
              </a:spcAft>
              <a:tabLst>
                <a:tab pos="0" algn="l"/>
              </a:tabLst>
            </a:pPr>
            <a:r>
              <a:rPr lang="en-US" sz="950" b="1" u="none" strike="noStrike">
                <a:solidFill>
                  <a:srgbClr val="F6A01A"/>
                </a:solidFill>
                <a:effectLst/>
                <a:uFillTx/>
                <a:latin typeface="Aptos"/>
              </a:rPr>
              <a:t>• </a:t>
            </a:r>
            <a:r>
              <a:rPr lang="en-US" sz="950" b="1" u="none" strike="noStrike">
                <a:solidFill>
                  <a:srgbClr val="102A4C"/>
                </a:solidFill>
                <a:effectLst/>
                <a:uFillTx/>
                <a:latin typeface="Aptos"/>
              </a:rPr>
              <a:t>ℓ = 8 returns cutoff on Neamt → Lugoj </a:t>
            </a:r>
            <a:r>
              <a:rPr lang="en-US" sz="950" b="0" u="none" strike="noStrike">
                <a:solidFill>
                  <a:srgbClr val="102A4C"/>
                </a:solidFill>
                <a:effectLst/>
                <a:uFillTx/>
                <a:latin typeface="Aptos"/>
              </a:rPr>
              <a:t>even though a 9-action solution exists, and that word is the only warning you get.</a:t>
            </a:r>
            <a:endParaRPr lang="en-US" sz="950" b="0" u="none" strike="noStrike">
              <a:solidFill>
                <a:srgbClr val="000000"/>
              </a:solidFill>
              <a:effectLst/>
              <a:uFillTx/>
              <a:latin typeface="Arial"/>
            </a:endParaRPr>
          </a:p>
        </p:txBody>
      </p:sp>
      <p:sp>
        <p:nvSpPr>
          <p:cNvPr id="1826" name="Banner 2021"/>
          <p:cNvSpPr/>
          <p:nvPr/>
        </p:nvSpPr>
        <p:spPr>
          <a:xfrm>
            <a:off x="502920" y="5429880"/>
            <a:ext cx="11185200" cy="78876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p>
            <a:pPr defTabSz="914400">
              <a:lnSpc>
                <a:spcPct val="100000"/>
              </a:lnSpc>
              <a:spcAft>
                <a:spcPts val="170"/>
              </a:spcAft>
            </a:pPr>
            <a:r>
              <a:rPr lang="en-US" sz="1100" b="1" u="none" strike="noStrike">
                <a:solidFill>
                  <a:srgbClr val="102A4C"/>
                </a:solidFill>
                <a:effectLst/>
                <a:uFillTx/>
                <a:latin typeface="Aptos"/>
              </a:rPr>
              <a:t>In general the diameter is not known until the problem is solved — which is precisely why iterative deepening exists.</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5C6B80"/>
                </a:solidFill>
                <a:effectLst/>
                <a:uFillTx/>
                <a:latin typeface="Aptos"/>
              </a:rPr>
              <a:t>It removes the one parameter depth-limited search cannot choose for you, by trying every value in order.</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827" name="HeaderBar 200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28" name="AccentBar 200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29" name="Title 200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2600" b="1" u="none" strike="noStrike">
                <a:solidFill>
                  <a:srgbClr val="FFFFFF"/>
                </a:solidFill>
                <a:effectLst/>
                <a:uFillTx/>
                <a:latin typeface="Aptos"/>
              </a:rPr>
              <a:t>Iterative Deepening: The Driver Loop</a:t>
            </a:r>
            <a:endParaRPr lang="en-US" sz="2600" b="0" u="none" strike="noStrike">
              <a:solidFill>
                <a:srgbClr val="000000"/>
              </a:solidFill>
              <a:effectLst/>
              <a:uFillTx/>
              <a:latin typeface="Arial"/>
            </a:endParaRPr>
          </a:p>
        </p:txBody>
      </p:sp>
      <p:sp>
        <p:nvSpPr>
          <p:cNvPr id="1830" name="FooterL 200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831" name="FooterR 200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832" name="CodeCard 2006"/>
          <p:cNvSpPr/>
          <p:nvPr/>
        </p:nvSpPr>
        <p:spPr>
          <a:xfrm>
            <a:off x="502920" y="1239840"/>
            <a:ext cx="6298920" cy="141876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33" name="CodeCap 2007"/>
          <p:cNvSpPr/>
          <p:nvPr/>
        </p:nvSpPr>
        <p:spPr>
          <a:xfrm>
            <a:off x="777240" y="1468440"/>
            <a:ext cx="575028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00" b="1" u="none" strike="noStrike">
                <a:solidFill>
                  <a:srgbClr val="F6A01A"/>
                </a:solidFill>
                <a:effectLst/>
                <a:uFillTx/>
                <a:latin typeface="Aptos"/>
              </a:rPr>
              <a:t>AIMA 4th ed., Figure 3.12 (upper half)</a:t>
            </a:r>
            <a:endParaRPr lang="en-US" sz="900" b="0" u="none" strike="noStrike">
              <a:solidFill>
                <a:srgbClr val="000000"/>
              </a:solidFill>
              <a:effectLst/>
              <a:uFillTx/>
              <a:latin typeface="Arial"/>
            </a:endParaRPr>
          </a:p>
        </p:txBody>
      </p:sp>
      <p:sp>
        <p:nvSpPr>
          <p:cNvPr id="1834" name="CodeBody 2008"/>
          <p:cNvSpPr/>
          <p:nvPr/>
        </p:nvSpPr>
        <p:spPr>
          <a:xfrm>
            <a:off x="777240" y="1768680"/>
            <a:ext cx="5750280" cy="661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119"/>
              </a:spcAft>
            </a:pPr>
            <a:r>
              <a:rPr lang="en-US" sz="950" b="1" u="none" strike="noStrike">
                <a:solidFill>
                  <a:srgbClr val="F6A01A"/>
                </a:solidFill>
                <a:effectLst/>
                <a:uFillTx/>
                <a:latin typeface="Consolas"/>
              </a:rPr>
              <a:t>function</a:t>
            </a:r>
            <a:r>
              <a:rPr lang="en-US" sz="950" b="0" u="none" strike="noStrike">
                <a:solidFill>
                  <a:srgbClr val="EAF2FF"/>
                </a:solidFill>
                <a:effectLst/>
                <a:uFillTx/>
                <a:latin typeface="Consolas"/>
              </a:rPr>
              <a:t> ITERATIVE-DEEPENING-SEARCH(problem) </a:t>
            </a:r>
            <a:r>
              <a:rPr lang="en-US" sz="950" b="1" u="none" strike="noStrike">
                <a:solidFill>
                  <a:srgbClr val="F6A01A"/>
                </a:solidFill>
                <a:effectLst/>
                <a:uFillTx/>
                <a:latin typeface="Consolas"/>
              </a:rPr>
              <a:t>returns</a:t>
            </a:r>
            <a:r>
              <a:rPr lang="en-US" sz="950" b="0" u="none" strike="noStrike">
                <a:solidFill>
                  <a:srgbClr val="EAF2FF"/>
                </a:solidFill>
                <a:effectLst/>
                <a:uFillTx/>
                <a:latin typeface="Consolas"/>
              </a:rPr>
              <a:t> a solution node </a:t>
            </a:r>
            <a:r>
              <a:rPr lang="en-US" sz="950" b="1" u="none" strike="noStrike">
                <a:solidFill>
                  <a:srgbClr val="F6A01A"/>
                </a:solidFill>
                <a:effectLst/>
                <a:uFillTx/>
                <a:latin typeface="Consolas"/>
              </a:rPr>
              <a:t>or</a:t>
            </a:r>
            <a:r>
              <a:rPr lang="en-US" sz="950" b="0" u="none" strike="noStrike">
                <a:solidFill>
                  <a:srgbClr val="EAF2FF"/>
                </a:solidFill>
                <a:effectLst/>
                <a:uFillTx/>
                <a:latin typeface="Consolas"/>
              </a:rPr>
              <a:t> </a:t>
            </a:r>
            <a:r>
              <a:rPr lang="en-US" sz="950" b="1" u="none" strike="noStrike">
                <a:solidFill>
                  <a:srgbClr val="F2A0A0"/>
                </a:solidFill>
                <a:effectLst/>
                <a:uFillTx/>
                <a:latin typeface="Consolas"/>
              </a:rPr>
              <a:t>failure</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for</a:t>
            </a:r>
            <a:r>
              <a:rPr lang="en-US" sz="950" b="0" u="none" strike="noStrike">
                <a:solidFill>
                  <a:srgbClr val="EAF2FF"/>
                </a:solidFill>
                <a:effectLst/>
                <a:uFillTx/>
                <a:latin typeface="Consolas"/>
              </a:rPr>
              <a:t> depth = 0 </a:t>
            </a:r>
            <a:r>
              <a:rPr lang="en-US" sz="950" b="1" u="none" strike="noStrike">
                <a:solidFill>
                  <a:srgbClr val="F6A01A"/>
                </a:solidFill>
                <a:effectLst/>
                <a:uFillTx/>
                <a:latin typeface="Consolas"/>
              </a:rPr>
              <a:t>to</a:t>
            </a:r>
            <a:r>
              <a:rPr lang="en-US" sz="950" b="0" u="none" strike="noStrike">
                <a:solidFill>
                  <a:srgbClr val="EAF2FF"/>
                </a:solidFill>
                <a:effectLst/>
                <a:uFillTx/>
                <a:latin typeface="Consolas"/>
              </a:rPr>
              <a:t> ∞ </a:t>
            </a:r>
            <a:r>
              <a:rPr lang="en-US" sz="950" b="1" u="none" strike="noStrike">
                <a:solidFill>
                  <a:srgbClr val="F6A01A"/>
                </a:solidFill>
                <a:effectLst/>
                <a:uFillTx/>
                <a:latin typeface="Consolas"/>
              </a:rPr>
              <a:t>do</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result ← DEPTH-LIMITED-SEARCH(problem, depth)</a:t>
            </a:r>
            <a:endParaRPr lang="en-US" sz="950" b="0" u="none" strike="noStrike">
              <a:solidFill>
                <a:srgbClr val="000000"/>
              </a:solidFill>
              <a:effectLst/>
              <a:uFillTx/>
              <a:latin typeface="Arial"/>
            </a:endParaRPr>
          </a:p>
          <a:p>
            <a:pPr defTabSz="914400">
              <a:lnSpc>
                <a:spcPct val="100000"/>
              </a:lnSpc>
              <a:spcAft>
                <a:spcPts val="119"/>
              </a:spcAft>
            </a:pP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if</a:t>
            </a:r>
            <a:r>
              <a:rPr lang="en-US" sz="950" b="0" u="none" strike="noStrike">
                <a:solidFill>
                  <a:srgbClr val="EAF2FF"/>
                </a:solidFill>
                <a:effectLst/>
                <a:uFillTx/>
                <a:latin typeface="Consolas"/>
              </a:rPr>
              <a:t> result ≠ </a:t>
            </a:r>
            <a:r>
              <a:rPr lang="en-US" sz="950" b="1" u="none" strike="noStrike">
                <a:solidFill>
                  <a:srgbClr val="FFD27A"/>
                </a:solidFill>
                <a:effectLst/>
                <a:uFillTx/>
                <a:latin typeface="Consolas"/>
              </a:rPr>
              <a:t>cutoff</a:t>
            </a: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then</a:t>
            </a:r>
            <a:r>
              <a:rPr lang="en-US" sz="950" b="0" u="none" strike="noStrike">
                <a:solidFill>
                  <a:srgbClr val="EAF2FF"/>
                </a:solidFill>
                <a:effectLst/>
                <a:uFillTx/>
                <a:latin typeface="Consolas"/>
              </a:rPr>
              <a:t> </a:t>
            </a:r>
            <a:r>
              <a:rPr lang="en-US" sz="950" b="1" u="none" strike="noStrike">
                <a:solidFill>
                  <a:srgbClr val="F6A01A"/>
                </a:solidFill>
                <a:effectLst/>
                <a:uFillTx/>
                <a:latin typeface="Consolas"/>
              </a:rPr>
              <a:t>return</a:t>
            </a:r>
            <a:r>
              <a:rPr lang="en-US" sz="950" b="0" u="none" strike="noStrike">
                <a:solidFill>
                  <a:srgbClr val="EAF2FF"/>
                </a:solidFill>
                <a:effectLst/>
                <a:uFillTx/>
                <a:latin typeface="Consolas"/>
              </a:rPr>
              <a:t> result</a:t>
            </a:r>
            <a:endParaRPr lang="en-US" sz="950" b="0" u="none" strike="noStrike">
              <a:solidFill>
                <a:srgbClr val="000000"/>
              </a:solidFill>
              <a:effectLst/>
              <a:uFillTx/>
              <a:latin typeface="Arial"/>
            </a:endParaRPr>
          </a:p>
        </p:txBody>
      </p:sp>
      <p:sp>
        <p:nvSpPr>
          <p:cNvPr id="1835" name="TT 2009"/>
          <p:cNvSpPr/>
          <p:nvPr/>
        </p:nvSpPr>
        <p:spPr>
          <a:xfrm>
            <a:off x="502920" y="2859840"/>
            <a:ext cx="1499040" cy="41904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1" u="none" strike="noStrike">
                <a:solidFill>
                  <a:srgbClr val="FFFFFF"/>
                </a:solidFill>
                <a:effectLst/>
                <a:uFillTx/>
                <a:latin typeface="Aptos"/>
              </a:rPr>
              <a:t>limit ℓ</a:t>
            </a:r>
            <a:endParaRPr lang="en-US" sz="950" b="0" u="none" strike="noStrike">
              <a:solidFill>
                <a:srgbClr val="FFFFFF"/>
              </a:solidFill>
              <a:effectLst/>
              <a:uFillTx/>
              <a:latin typeface="Arial"/>
            </a:endParaRPr>
          </a:p>
        </p:txBody>
      </p:sp>
      <p:sp>
        <p:nvSpPr>
          <p:cNvPr id="1836" name="TT 2010"/>
          <p:cNvSpPr/>
          <p:nvPr/>
        </p:nvSpPr>
        <p:spPr>
          <a:xfrm>
            <a:off x="2003040" y="2859840"/>
            <a:ext cx="2298960" cy="41904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1" u="none" strike="noStrike">
                <a:solidFill>
                  <a:srgbClr val="FFFFFF"/>
                </a:solidFill>
                <a:effectLst/>
                <a:uFillTx/>
                <a:latin typeface="Aptos"/>
              </a:rPr>
              <a:t>DEPTH-LIMITED-SEARCH returns</a:t>
            </a:r>
            <a:endParaRPr lang="en-US" sz="950" b="0" u="none" strike="noStrike">
              <a:solidFill>
                <a:srgbClr val="FFFFFF"/>
              </a:solidFill>
              <a:effectLst/>
              <a:uFillTx/>
              <a:latin typeface="Arial"/>
            </a:endParaRPr>
          </a:p>
        </p:txBody>
      </p:sp>
      <p:sp>
        <p:nvSpPr>
          <p:cNvPr id="1837" name="TT 2011"/>
          <p:cNvSpPr/>
          <p:nvPr/>
        </p:nvSpPr>
        <p:spPr>
          <a:xfrm>
            <a:off x="4303080" y="2859840"/>
            <a:ext cx="2498760" cy="41904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1" u="none" strike="noStrike">
                <a:solidFill>
                  <a:srgbClr val="FFFFFF"/>
                </a:solidFill>
                <a:effectLst/>
                <a:uFillTx/>
                <a:latin typeface="Aptos"/>
              </a:rPr>
              <a:t>so IDS…</a:t>
            </a:r>
            <a:endParaRPr lang="en-US" sz="950" b="0" u="none" strike="noStrike">
              <a:solidFill>
                <a:srgbClr val="FFFFFF"/>
              </a:solidFill>
              <a:effectLst/>
              <a:uFillTx/>
              <a:latin typeface="Arial"/>
            </a:endParaRPr>
          </a:p>
        </p:txBody>
      </p:sp>
      <p:sp>
        <p:nvSpPr>
          <p:cNvPr id="1838" name="TT 2012"/>
          <p:cNvSpPr/>
          <p:nvPr/>
        </p:nvSpPr>
        <p:spPr>
          <a:xfrm>
            <a:off x="502920" y="3279960"/>
            <a:ext cx="1499040" cy="37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Consolas"/>
              </a:rPr>
              <a:t>0</a:t>
            </a:r>
            <a:endParaRPr lang="en-US" sz="950" b="0" u="none" strike="noStrike">
              <a:solidFill>
                <a:srgbClr val="000000"/>
              </a:solidFill>
              <a:effectLst/>
              <a:uFillTx/>
              <a:latin typeface="Arial"/>
            </a:endParaRPr>
          </a:p>
        </p:txBody>
      </p:sp>
      <p:sp>
        <p:nvSpPr>
          <p:cNvPr id="1839" name="TT 2013"/>
          <p:cNvSpPr/>
          <p:nvPr/>
        </p:nvSpPr>
        <p:spPr>
          <a:xfrm>
            <a:off x="2003040" y="3279960"/>
            <a:ext cx="2298960" cy="37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Consolas"/>
              </a:rPr>
              <a:t>cutoff</a:t>
            </a:r>
            <a:endParaRPr lang="en-US" sz="950" b="0" u="none" strike="noStrike">
              <a:solidFill>
                <a:srgbClr val="000000"/>
              </a:solidFill>
              <a:effectLst/>
              <a:uFillTx/>
              <a:latin typeface="Arial"/>
            </a:endParaRPr>
          </a:p>
        </p:txBody>
      </p:sp>
      <p:sp>
        <p:nvSpPr>
          <p:cNvPr id="1840" name="TT 2014"/>
          <p:cNvSpPr/>
          <p:nvPr/>
        </p:nvSpPr>
        <p:spPr>
          <a:xfrm>
            <a:off x="4303080" y="3279960"/>
            <a:ext cx="2498760" cy="37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Aptos"/>
              </a:rPr>
              <a:t>go one level deeper</a:t>
            </a:r>
            <a:endParaRPr lang="en-US" sz="950" b="0" u="none" strike="noStrike">
              <a:solidFill>
                <a:srgbClr val="000000"/>
              </a:solidFill>
              <a:effectLst/>
              <a:uFillTx/>
              <a:latin typeface="Arial"/>
            </a:endParaRPr>
          </a:p>
        </p:txBody>
      </p:sp>
      <p:sp>
        <p:nvSpPr>
          <p:cNvPr id="1841" name="TT 2015"/>
          <p:cNvSpPr/>
          <p:nvPr/>
        </p:nvSpPr>
        <p:spPr>
          <a:xfrm>
            <a:off x="502920" y="3660120"/>
            <a:ext cx="1499040" cy="37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Consolas"/>
              </a:rPr>
              <a:t>1</a:t>
            </a:r>
            <a:endParaRPr lang="en-US" sz="950" b="0" u="none" strike="noStrike">
              <a:solidFill>
                <a:srgbClr val="000000"/>
              </a:solidFill>
              <a:effectLst/>
              <a:uFillTx/>
              <a:latin typeface="Arial"/>
            </a:endParaRPr>
          </a:p>
        </p:txBody>
      </p:sp>
      <p:sp>
        <p:nvSpPr>
          <p:cNvPr id="1842" name="TT 2016"/>
          <p:cNvSpPr/>
          <p:nvPr/>
        </p:nvSpPr>
        <p:spPr>
          <a:xfrm>
            <a:off x="2003040" y="3660120"/>
            <a:ext cx="2298960" cy="37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Consolas"/>
              </a:rPr>
              <a:t>cutoff</a:t>
            </a:r>
            <a:endParaRPr lang="en-US" sz="950" b="0" u="none" strike="noStrike">
              <a:solidFill>
                <a:srgbClr val="000000"/>
              </a:solidFill>
              <a:effectLst/>
              <a:uFillTx/>
              <a:latin typeface="Arial"/>
            </a:endParaRPr>
          </a:p>
        </p:txBody>
      </p:sp>
      <p:sp>
        <p:nvSpPr>
          <p:cNvPr id="1843" name="TT 2017"/>
          <p:cNvSpPr/>
          <p:nvPr/>
        </p:nvSpPr>
        <p:spPr>
          <a:xfrm>
            <a:off x="4303080" y="3660120"/>
            <a:ext cx="2498760" cy="37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Aptos"/>
              </a:rPr>
              <a:t>go one level deeper</a:t>
            </a:r>
            <a:endParaRPr lang="en-US" sz="950" b="0" u="none" strike="noStrike">
              <a:solidFill>
                <a:srgbClr val="000000"/>
              </a:solidFill>
              <a:effectLst/>
              <a:uFillTx/>
              <a:latin typeface="Arial"/>
            </a:endParaRPr>
          </a:p>
        </p:txBody>
      </p:sp>
      <p:sp>
        <p:nvSpPr>
          <p:cNvPr id="1844" name="TT 2018"/>
          <p:cNvSpPr/>
          <p:nvPr/>
        </p:nvSpPr>
        <p:spPr>
          <a:xfrm>
            <a:off x="502920" y="4039920"/>
            <a:ext cx="1499040" cy="37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Consolas"/>
              </a:rPr>
              <a:t>2</a:t>
            </a:r>
            <a:endParaRPr lang="en-US" sz="950" b="0" u="none" strike="noStrike">
              <a:solidFill>
                <a:srgbClr val="000000"/>
              </a:solidFill>
              <a:effectLst/>
              <a:uFillTx/>
              <a:latin typeface="Arial"/>
            </a:endParaRPr>
          </a:p>
        </p:txBody>
      </p:sp>
      <p:sp>
        <p:nvSpPr>
          <p:cNvPr id="1845" name="TT 2019"/>
          <p:cNvSpPr/>
          <p:nvPr/>
        </p:nvSpPr>
        <p:spPr>
          <a:xfrm>
            <a:off x="2003040" y="4039920"/>
            <a:ext cx="2298960" cy="37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Consolas"/>
              </a:rPr>
              <a:t>cutoff</a:t>
            </a:r>
            <a:endParaRPr lang="en-US" sz="950" b="0" u="none" strike="noStrike">
              <a:solidFill>
                <a:srgbClr val="000000"/>
              </a:solidFill>
              <a:effectLst/>
              <a:uFillTx/>
              <a:latin typeface="Arial"/>
            </a:endParaRPr>
          </a:p>
        </p:txBody>
      </p:sp>
      <p:sp>
        <p:nvSpPr>
          <p:cNvPr id="1846" name="TT 2020"/>
          <p:cNvSpPr/>
          <p:nvPr/>
        </p:nvSpPr>
        <p:spPr>
          <a:xfrm>
            <a:off x="4303080" y="4039920"/>
            <a:ext cx="2498760" cy="37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Aptos"/>
              </a:rPr>
              <a:t>go one level deeper</a:t>
            </a:r>
            <a:endParaRPr lang="en-US" sz="950" b="0" u="none" strike="noStrike">
              <a:solidFill>
                <a:srgbClr val="000000"/>
              </a:solidFill>
              <a:effectLst/>
              <a:uFillTx/>
              <a:latin typeface="Arial"/>
            </a:endParaRPr>
          </a:p>
        </p:txBody>
      </p:sp>
      <p:sp>
        <p:nvSpPr>
          <p:cNvPr id="1847" name="TT 2021"/>
          <p:cNvSpPr/>
          <p:nvPr/>
        </p:nvSpPr>
        <p:spPr>
          <a:xfrm>
            <a:off x="502920" y="4420080"/>
            <a:ext cx="1499040" cy="37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Consolas"/>
              </a:rPr>
              <a:t>3</a:t>
            </a:r>
            <a:endParaRPr lang="en-US" sz="950" b="0" u="none" strike="noStrike">
              <a:solidFill>
                <a:srgbClr val="000000"/>
              </a:solidFill>
              <a:effectLst/>
              <a:uFillTx/>
              <a:latin typeface="Arial"/>
            </a:endParaRPr>
          </a:p>
        </p:txBody>
      </p:sp>
      <p:sp>
        <p:nvSpPr>
          <p:cNvPr id="1848" name="TT 2022"/>
          <p:cNvSpPr/>
          <p:nvPr/>
        </p:nvSpPr>
        <p:spPr>
          <a:xfrm>
            <a:off x="2003040" y="4420080"/>
            <a:ext cx="2298960" cy="37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Consolas"/>
              </a:rPr>
              <a:t>solution node</a:t>
            </a:r>
            <a:endParaRPr lang="en-US" sz="950" b="0" u="none" strike="noStrike">
              <a:solidFill>
                <a:srgbClr val="000000"/>
              </a:solidFill>
              <a:effectLst/>
              <a:uFillTx/>
              <a:latin typeface="Arial"/>
            </a:endParaRPr>
          </a:p>
        </p:txBody>
      </p:sp>
      <p:sp>
        <p:nvSpPr>
          <p:cNvPr id="1849" name="TT 2023"/>
          <p:cNvSpPr/>
          <p:nvPr/>
        </p:nvSpPr>
        <p:spPr>
          <a:xfrm>
            <a:off x="4303080" y="4420080"/>
            <a:ext cx="2498760" cy="37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Aptos"/>
              </a:rPr>
              <a:t>return it — and it is shallowest</a:t>
            </a:r>
            <a:endParaRPr lang="en-US" sz="950" b="0" u="none" strike="noStrike">
              <a:solidFill>
                <a:srgbClr val="000000"/>
              </a:solidFill>
              <a:effectLst/>
              <a:uFillTx/>
              <a:latin typeface="Arial"/>
            </a:endParaRPr>
          </a:p>
        </p:txBody>
      </p:sp>
      <p:sp>
        <p:nvSpPr>
          <p:cNvPr id="1850" name="TT 2024"/>
          <p:cNvSpPr/>
          <p:nvPr/>
        </p:nvSpPr>
        <p:spPr>
          <a:xfrm>
            <a:off x="502920" y="4799880"/>
            <a:ext cx="1499040" cy="37908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Consolas"/>
              </a:rPr>
              <a:t>any</a:t>
            </a:r>
            <a:endParaRPr lang="en-US" sz="950" b="0" u="none" strike="noStrike">
              <a:solidFill>
                <a:srgbClr val="000000"/>
              </a:solidFill>
              <a:effectLst/>
              <a:uFillTx/>
              <a:latin typeface="Arial"/>
            </a:endParaRPr>
          </a:p>
        </p:txBody>
      </p:sp>
      <p:sp>
        <p:nvSpPr>
          <p:cNvPr id="1851" name="TT 2025"/>
          <p:cNvSpPr/>
          <p:nvPr/>
        </p:nvSpPr>
        <p:spPr>
          <a:xfrm>
            <a:off x="2003040" y="4799880"/>
            <a:ext cx="2298960" cy="37908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Consolas"/>
              </a:rPr>
              <a:t>failure</a:t>
            </a:r>
            <a:endParaRPr lang="en-US" sz="950" b="0" u="none" strike="noStrike">
              <a:solidFill>
                <a:srgbClr val="000000"/>
              </a:solidFill>
              <a:effectLst/>
              <a:uFillTx/>
              <a:latin typeface="Arial"/>
            </a:endParaRPr>
          </a:p>
        </p:txBody>
      </p:sp>
      <p:sp>
        <p:nvSpPr>
          <p:cNvPr id="1852" name="TT 2026"/>
          <p:cNvSpPr/>
          <p:nvPr/>
        </p:nvSpPr>
        <p:spPr>
          <a:xfrm>
            <a:off x="4303080" y="4799880"/>
            <a:ext cx="2498760" cy="37908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760" tIns="68760" rIns="68760" bIns="68760" anchor="ctr">
            <a:noAutofit/>
          </a:bodyPr>
          <a:p>
            <a:pPr algn="ctr" defTabSz="914400">
              <a:lnSpc>
                <a:spcPct val="100000"/>
              </a:lnSpc>
            </a:pPr>
            <a:r>
              <a:rPr lang="en-US" sz="950" b="0" u="none" strike="noStrike">
                <a:solidFill>
                  <a:srgbClr val="102A4C"/>
                </a:solidFill>
                <a:effectLst/>
                <a:uFillTx/>
                <a:latin typeface="Aptos"/>
              </a:rPr>
              <a:t>return failure — space exhausted</a:t>
            </a:r>
            <a:endParaRPr lang="en-US" sz="950" b="0" u="none" strike="noStrike">
              <a:solidFill>
                <a:srgbClr val="000000"/>
              </a:solidFill>
              <a:effectLst/>
              <a:uFillTx/>
              <a:latin typeface="Arial"/>
            </a:endParaRPr>
          </a:p>
        </p:txBody>
      </p:sp>
      <p:sp>
        <p:nvSpPr>
          <p:cNvPr id="1853" name="NoteCard 2027"/>
          <p:cNvSpPr/>
          <p:nvPr/>
        </p:nvSpPr>
        <p:spPr>
          <a:xfrm>
            <a:off x="7077240" y="1239840"/>
            <a:ext cx="4610880" cy="11901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54" name="CardHead 2028"/>
          <p:cNvSpPr/>
          <p:nvPr/>
        </p:nvSpPr>
        <p:spPr>
          <a:xfrm>
            <a:off x="7283160" y="1377000"/>
            <a:ext cx="419940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112E5C"/>
                </a:solidFill>
                <a:effectLst/>
                <a:uFillTx/>
                <a:latin typeface="Aptos"/>
              </a:rPr>
              <a:t>Four lines, because it delegates</a:t>
            </a:r>
            <a:endParaRPr lang="en-US" sz="1050" b="0" u="none" strike="noStrike">
              <a:solidFill>
                <a:srgbClr val="000000"/>
              </a:solidFill>
              <a:effectLst/>
              <a:uFillTx/>
              <a:latin typeface="Arial"/>
            </a:endParaRPr>
          </a:p>
        </p:txBody>
      </p:sp>
      <p:sp>
        <p:nvSpPr>
          <p:cNvPr id="1855" name="CardBody 2029"/>
          <p:cNvSpPr/>
          <p:nvPr/>
        </p:nvSpPr>
        <p:spPr>
          <a:xfrm>
            <a:off x="7283160" y="1605600"/>
            <a:ext cx="4199400" cy="6872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Every iteration is an independent depth-limited search that starts from scratch. Nothing carries over but the limit.</a:t>
            </a:r>
            <a:endParaRPr lang="en-US" sz="950" b="0" u="none" strike="noStrike">
              <a:solidFill>
                <a:srgbClr val="000000"/>
              </a:solidFill>
              <a:effectLst/>
              <a:uFillTx/>
              <a:latin typeface="Arial"/>
            </a:endParaRPr>
          </a:p>
        </p:txBody>
      </p:sp>
      <p:sp>
        <p:nvSpPr>
          <p:cNvPr id="1856" name="NoteCard 2030"/>
          <p:cNvSpPr/>
          <p:nvPr/>
        </p:nvSpPr>
        <p:spPr>
          <a:xfrm>
            <a:off x="7077240" y="2614320"/>
            <a:ext cx="4610880" cy="11901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57" name="CardHead 2031"/>
          <p:cNvSpPr/>
          <p:nvPr/>
        </p:nvSpPr>
        <p:spPr>
          <a:xfrm>
            <a:off x="7283160" y="2751480"/>
            <a:ext cx="419940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112E5C"/>
                </a:solidFill>
                <a:effectLst/>
                <a:uFillTx/>
                <a:latin typeface="Aptos"/>
              </a:rPr>
              <a:t>≠ cutoff returns two things</a:t>
            </a:r>
            <a:endParaRPr lang="en-US" sz="1050" b="0" u="none" strike="noStrike">
              <a:solidFill>
                <a:srgbClr val="000000"/>
              </a:solidFill>
              <a:effectLst/>
              <a:uFillTx/>
              <a:latin typeface="Arial"/>
            </a:endParaRPr>
          </a:p>
        </p:txBody>
      </p:sp>
      <p:sp>
        <p:nvSpPr>
          <p:cNvPr id="1858" name="CardBody 2032"/>
          <p:cNvSpPr/>
          <p:nvPr/>
        </p:nvSpPr>
        <p:spPr>
          <a:xfrm>
            <a:off x="7283160" y="2980080"/>
            <a:ext cx="4199400" cy="6872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A solution node, obviously. But also failure — because failure means nothing was truncated, so no deeper limit could help.</a:t>
            </a:r>
            <a:endParaRPr lang="en-US" sz="950" b="0" u="none" strike="noStrike">
              <a:solidFill>
                <a:srgbClr val="000000"/>
              </a:solidFill>
              <a:effectLst/>
              <a:uFillTx/>
              <a:latin typeface="Arial"/>
            </a:endParaRPr>
          </a:p>
        </p:txBody>
      </p:sp>
      <p:sp>
        <p:nvSpPr>
          <p:cNvPr id="1859" name="NoteCard 2033"/>
          <p:cNvSpPr/>
          <p:nvPr/>
        </p:nvSpPr>
        <p:spPr>
          <a:xfrm>
            <a:off x="7077240" y="3988440"/>
            <a:ext cx="4610880" cy="11901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860" name="CardHead 2034"/>
          <p:cNvSpPr/>
          <p:nvPr/>
        </p:nvSpPr>
        <p:spPr>
          <a:xfrm>
            <a:off x="7283160" y="4125600"/>
            <a:ext cx="419940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50" b="1" u="none" strike="noStrike">
                <a:solidFill>
                  <a:srgbClr val="112E5C"/>
                </a:solidFill>
                <a:effectLst/>
                <a:uFillTx/>
                <a:latin typeface="Aptos"/>
              </a:rPr>
              <a:t>DFS memory, BFS behaviour</a:t>
            </a:r>
            <a:endParaRPr lang="en-US" sz="1050" b="0" u="none" strike="noStrike">
              <a:solidFill>
                <a:srgbClr val="000000"/>
              </a:solidFill>
              <a:effectLst/>
              <a:uFillTx/>
              <a:latin typeface="Arial"/>
            </a:endParaRPr>
          </a:p>
        </p:txBody>
      </p:sp>
      <p:sp>
        <p:nvSpPr>
          <p:cNvPr id="1861" name="CardBody 2035"/>
          <p:cNvSpPr/>
          <p:nvPr/>
        </p:nvSpPr>
        <p:spPr>
          <a:xfrm>
            <a:off x="7283160" y="4354200"/>
            <a:ext cx="4199400" cy="6872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50" b="0" u="none" strike="noStrike">
                <a:solidFill>
                  <a:srgbClr val="102A4C"/>
                </a:solidFill>
                <a:effectLst/>
                <a:uFillTx/>
                <a:latin typeface="Aptos"/>
              </a:rPr>
              <a:t>Each call holds one path plus its siblings: O(bd) memory, O(bᵈ) time. IDS never stores a tier, which is what the extra node generations buy.</a:t>
            </a:r>
            <a:endParaRPr lang="en-US" sz="950" b="0" u="none" strike="noStrike">
              <a:solidFill>
                <a:srgbClr val="000000"/>
              </a:solidFill>
              <a:effectLst/>
              <a:uFillTx/>
              <a:latin typeface="Arial"/>
            </a:endParaRPr>
          </a:p>
        </p:txBody>
      </p:sp>
      <p:sp>
        <p:nvSpPr>
          <p:cNvPr id="1862" name="Banner 2036"/>
          <p:cNvSpPr/>
          <p:nvPr/>
        </p:nvSpPr>
        <p:spPr>
          <a:xfrm>
            <a:off x="502920" y="5320080"/>
            <a:ext cx="11185200" cy="89892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p>
            <a:pPr defTabSz="914400">
              <a:lnSpc>
                <a:spcPct val="100000"/>
              </a:lnSpc>
              <a:spcAft>
                <a:spcPts val="201"/>
              </a:spcAft>
            </a:pPr>
            <a:r>
              <a:rPr lang="en-US" sz="1100" b="1" u="none" strike="noStrike">
                <a:solidFill>
                  <a:srgbClr val="102A4C"/>
                </a:solidFill>
                <a:effectLst/>
                <a:uFillTx/>
                <a:latin typeface="Aptos"/>
              </a:rPr>
              <a:t>On an infinite space with no solution, every call returns cutoff and the loop never ends.</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5C6B80"/>
                </a:solidFill>
                <a:effectLst/>
                <a:uFillTx/>
                <a:latin typeface="Aptos"/>
              </a:rPr>
              <a:t>That is not a defect in the pseudocode. It is the non-termination result from the completeness slide, showing up in code you can actually run.</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863"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864"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865"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Is Iterative Deepening Wasteful?</a:t>
            </a:r>
            <a:endParaRPr lang="en-US" sz="2600" b="0" u="none" strike="noStrike">
              <a:solidFill>
                <a:srgbClr val="000000"/>
              </a:solidFill>
              <a:effectLst/>
              <a:uFillTx/>
              <a:latin typeface="Arial"/>
            </a:endParaRPr>
          </a:p>
        </p:txBody>
      </p:sp>
      <p:sp>
        <p:nvSpPr>
          <p:cNvPr id="1866"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867"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868" name="Rectangle 6"/>
          <p:cNvSpPr/>
          <p:nvPr/>
        </p:nvSpPr>
        <p:spPr>
          <a:xfrm>
            <a:off x="777240" y="1417320"/>
            <a:ext cx="502776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1" u="none" strike="noStrike">
                <a:solidFill>
                  <a:srgbClr val="112E5C"/>
                </a:solidFill>
                <a:effectLst/>
                <a:uFillTx/>
                <a:latin typeface="Aptos"/>
              </a:rPr>
              <a:t>Nodes generated for b = 10, d = 5</a:t>
            </a:r>
            <a:endParaRPr lang="en-US" sz="1350" b="0" u="none" strike="noStrike">
              <a:solidFill>
                <a:srgbClr val="000000"/>
              </a:solidFill>
              <a:effectLst/>
              <a:uFillTx/>
              <a:latin typeface="Arial"/>
            </a:endParaRPr>
          </a:p>
        </p:txBody>
      </p:sp>
      <p:sp>
        <p:nvSpPr>
          <p:cNvPr id="1869" name="Rounded Rectangle 7"/>
          <p:cNvSpPr/>
          <p:nvPr/>
        </p:nvSpPr>
        <p:spPr>
          <a:xfrm>
            <a:off x="777240" y="1783080"/>
            <a:ext cx="5027760" cy="17359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870" name="Rectangle 8"/>
          <p:cNvSpPr/>
          <p:nvPr/>
        </p:nvSpPr>
        <p:spPr>
          <a:xfrm>
            <a:off x="960120" y="1920240"/>
            <a:ext cx="91296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N(IDS)</a:t>
            </a:r>
            <a:endParaRPr lang="en-US" sz="1300" b="0" u="none" strike="noStrike">
              <a:solidFill>
                <a:srgbClr val="000000"/>
              </a:solidFill>
              <a:effectLst/>
              <a:uFillTx/>
              <a:latin typeface="Arial"/>
            </a:endParaRPr>
          </a:p>
        </p:txBody>
      </p:sp>
      <p:sp>
        <p:nvSpPr>
          <p:cNvPr id="1871" name="Rectangle 9"/>
          <p:cNvSpPr/>
          <p:nvPr/>
        </p:nvSpPr>
        <p:spPr>
          <a:xfrm>
            <a:off x="1965960" y="1920240"/>
            <a:ext cx="237600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50 + 400 + 3,000 + 20,000 + 100,000</a:t>
            </a:r>
            <a:endParaRPr lang="en-US" sz="1150" b="0" u="none" strike="noStrike">
              <a:solidFill>
                <a:srgbClr val="000000"/>
              </a:solidFill>
              <a:effectLst/>
              <a:uFillTx/>
              <a:latin typeface="Arial"/>
            </a:endParaRPr>
          </a:p>
        </p:txBody>
      </p:sp>
      <p:sp>
        <p:nvSpPr>
          <p:cNvPr id="1872" name="Rectangle 10"/>
          <p:cNvSpPr/>
          <p:nvPr/>
        </p:nvSpPr>
        <p:spPr>
          <a:xfrm>
            <a:off x="4434840" y="1920240"/>
            <a:ext cx="118728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9B1C1C"/>
                </a:solidFill>
                <a:effectLst/>
                <a:uFillTx/>
                <a:latin typeface="Aptos"/>
              </a:rPr>
              <a:t>123,450</a:t>
            </a:r>
            <a:endParaRPr lang="en-US" sz="1500" b="0" u="none" strike="noStrike">
              <a:solidFill>
                <a:srgbClr val="000000"/>
              </a:solidFill>
              <a:effectLst/>
              <a:uFillTx/>
              <a:latin typeface="Arial"/>
            </a:endParaRPr>
          </a:p>
        </p:txBody>
      </p:sp>
      <p:sp>
        <p:nvSpPr>
          <p:cNvPr id="1873" name="Rectangle 11"/>
          <p:cNvSpPr/>
          <p:nvPr/>
        </p:nvSpPr>
        <p:spPr>
          <a:xfrm>
            <a:off x="960120" y="2377440"/>
            <a:ext cx="91296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00" b="1" u="none" strike="noStrike">
                <a:solidFill>
                  <a:srgbClr val="112E5C"/>
                </a:solidFill>
                <a:effectLst/>
                <a:uFillTx/>
                <a:latin typeface="Aptos"/>
              </a:rPr>
              <a:t>N(BFS)</a:t>
            </a:r>
            <a:endParaRPr lang="en-US" sz="1300" b="0" u="none" strike="noStrike">
              <a:solidFill>
                <a:srgbClr val="000000"/>
              </a:solidFill>
              <a:effectLst/>
              <a:uFillTx/>
              <a:latin typeface="Arial"/>
            </a:endParaRPr>
          </a:p>
        </p:txBody>
      </p:sp>
      <p:sp>
        <p:nvSpPr>
          <p:cNvPr id="1874" name="Rectangle 12"/>
          <p:cNvSpPr/>
          <p:nvPr/>
        </p:nvSpPr>
        <p:spPr>
          <a:xfrm>
            <a:off x="1965960" y="2377440"/>
            <a:ext cx="237600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150" b="0" u="none" strike="noStrike">
                <a:solidFill>
                  <a:srgbClr val="5C6B80"/>
                </a:solidFill>
                <a:effectLst/>
                <a:uFillTx/>
                <a:latin typeface="Aptos"/>
              </a:rPr>
              <a:t>10 + 100 + 1,000 + 10,000 + 100,000</a:t>
            </a:r>
            <a:endParaRPr lang="en-US" sz="1150" b="0" u="none" strike="noStrike">
              <a:solidFill>
                <a:srgbClr val="000000"/>
              </a:solidFill>
              <a:effectLst/>
              <a:uFillTx/>
              <a:latin typeface="Arial"/>
            </a:endParaRPr>
          </a:p>
        </p:txBody>
      </p:sp>
      <p:sp>
        <p:nvSpPr>
          <p:cNvPr id="1875" name="Rectangle 13"/>
          <p:cNvSpPr/>
          <p:nvPr/>
        </p:nvSpPr>
        <p:spPr>
          <a:xfrm>
            <a:off x="4434840" y="2377440"/>
            <a:ext cx="118728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r" defTabSz="914400">
              <a:lnSpc>
                <a:spcPct val="100000"/>
              </a:lnSpc>
              <a:spcAft>
                <a:spcPts val="400"/>
              </a:spcAft>
            </a:pPr>
            <a:r>
              <a:rPr lang="en-US" sz="1500" b="1" u="none" strike="noStrike">
                <a:solidFill>
                  <a:srgbClr val="177245"/>
                </a:solidFill>
                <a:effectLst/>
                <a:uFillTx/>
                <a:latin typeface="Aptos"/>
              </a:rPr>
              <a:t>111,110</a:t>
            </a:r>
            <a:endParaRPr lang="en-US" sz="1500" b="0" u="none" strike="noStrike">
              <a:solidFill>
                <a:srgbClr val="000000"/>
              </a:solidFill>
              <a:effectLst/>
              <a:uFillTx/>
              <a:latin typeface="Arial"/>
            </a:endParaRPr>
          </a:p>
        </p:txBody>
      </p:sp>
      <p:cxnSp>
        <p:nvCxnSpPr>
          <p:cNvPr id="1876" name="Connector 14"/>
          <p:cNvCxnSpPr/>
          <p:nvPr/>
        </p:nvCxnSpPr>
        <p:spPr>
          <a:xfrm>
            <a:off x="960120" y="2880360"/>
            <a:ext cx="4664880" cy="1440"/>
          </a:xfrm>
          <a:prstGeom prst="straightConnector1">
            <a:avLst/>
          </a:prstGeom>
          <a:ln w="0">
            <a:solidFill>
              <a:srgbClr val="D8DEE8"/>
            </a:solidFill>
          </a:ln>
        </p:spPr>
      </p:cxnSp>
      <p:sp>
        <p:nvSpPr>
          <p:cNvPr id="1877" name="Rectangle 15"/>
          <p:cNvSpPr/>
          <p:nvPr/>
        </p:nvSpPr>
        <p:spPr>
          <a:xfrm>
            <a:off x="960120" y="2971800"/>
            <a:ext cx="4662000" cy="4100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400" b="1" u="none" strike="noStrike">
                <a:solidFill>
                  <a:srgbClr val="112E5C"/>
                </a:solidFill>
                <a:effectLst/>
                <a:uFillTx/>
                <a:latin typeface="Aptos"/>
              </a:rPr>
              <a:t>Overhead: about 11 percent, and asymptotically O(bᵈ) either way.</a:t>
            </a:r>
            <a:endParaRPr lang="en-US" sz="1400" b="0" u="none" strike="noStrike">
              <a:solidFill>
                <a:srgbClr val="000000"/>
              </a:solidFill>
              <a:effectLst/>
              <a:uFillTx/>
              <a:latin typeface="Arial"/>
            </a:endParaRPr>
          </a:p>
        </p:txBody>
      </p:sp>
      <p:sp>
        <p:nvSpPr>
          <p:cNvPr id="1878" name="Rectangle 16"/>
          <p:cNvSpPr/>
          <p:nvPr/>
        </p:nvSpPr>
        <p:spPr>
          <a:xfrm>
            <a:off x="6385680" y="1417320"/>
            <a:ext cx="5027760" cy="2728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defTabSz="914400">
              <a:lnSpc>
                <a:spcPct val="100000"/>
              </a:lnSpc>
              <a:spcAft>
                <a:spcPts val="400"/>
              </a:spcAft>
            </a:pPr>
            <a:r>
              <a:rPr lang="en-US" sz="1350" b="1" u="none" strike="noStrike">
                <a:solidFill>
                  <a:srgbClr val="112E5C"/>
                </a:solidFill>
                <a:effectLst/>
                <a:uFillTx/>
                <a:latin typeface="Aptos"/>
              </a:rPr>
              <a:t>Choosing the depth limit ℓ</a:t>
            </a:r>
            <a:endParaRPr lang="en-US" sz="1350" b="0" u="none" strike="noStrike">
              <a:solidFill>
                <a:srgbClr val="000000"/>
              </a:solidFill>
              <a:effectLst/>
              <a:uFillTx/>
              <a:latin typeface="Arial"/>
            </a:endParaRPr>
          </a:p>
        </p:txBody>
      </p:sp>
      <p:sp>
        <p:nvSpPr>
          <p:cNvPr id="1879" name="Rounded Rectangle 17"/>
          <p:cNvSpPr/>
          <p:nvPr/>
        </p:nvSpPr>
        <p:spPr>
          <a:xfrm>
            <a:off x="6385680" y="1783080"/>
            <a:ext cx="5027760" cy="17359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880" name="Rectangle 18"/>
          <p:cNvSpPr/>
          <p:nvPr/>
        </p:nvSpPr>
        <p:spPr>
          <a:xfrm>
            <a:off x="6568560" y="1920240"/>
            <a:ext cx="4662000" cy="150732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Romania has 20 cities, so ℓ = 19 is always valid</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But any city is reachable from any other in at most 9 actions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That number is the diameter of the state-space graph, and it gives a far better limit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For most problems the diameter is unknown until the problem is solved</a:t>
            </a:r>
            <a:endParaRPr lang="en-US" sz="1250" b="0" u="none" strike="noStrike">
              <a:solidFill>
                <a:srgbClr val="000000"/>
              </a:solidFill>
              <a:effectLst/>
              <a:uFillTx/>
              <a:latin typeface="Arial"/>
            </a:endParaRPr>
          </a:p>
        </p:txBody>
      </p:sp>
      <p:sp>
        <p:nvSpPr>
          <p:cNvPr id="1881" name="Rectangle 19"/>
          <p:cNvSpPr/>
          <p:nvPr/>
        </p:nvSpPr>
        <p:spPr>
          <a:xfrm>
            <a:off x="914400" y="374904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Most of the nodes are in the bottom tier, so re-generating the upper tiers costs almost nothing.</a:t>
            </a:r>
            <a:endParaRPr lang="en-US" sz="1700" b="0" u="none" strike="noStrike">
              <a:solidFill>
                <a:srgbClr val="000000"/>
              </a:solidFill>
              <a:effectLst/>
              <a:uFillTx/>
              <a:latin typeface="Arial"/>
            </a:endParaRPr>
          </a:p>
        </p:txBody>
      </p:sp>
      <p:sp>
        <p:nvSpPr>
          <p:cNvPr id="1882" name="Rectangle 20"/>
          <p:cNvSpPr/>
          <p:nvPr/>
        </p:nvSpPr>
        <p:spPr>
          <a:xfrm>
            <a:off x="914400" y="425196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400" b="0" u="none" strike="noStrike">
                <a:solidFill>
                  <a:srgbClr val="5C6B80"/>
                </a:solidFill>
                <a:effectLst/>
                <a:uFillTx/>
                <a:latin typeface="Aptos"/>
              </a:rPr>
              <a:t>The children of the root are generated d times; the bottom level exactly once.</a:t>
            </a:r>
            <a:endParaRPr lang="en-US" sz="1400" b="0" u="none" strike="noStrike">
              <a:solidFill>
                <a:srgbClr val="000000"/>
              </a:solidFill>
              <a:effectLst/>
              <a:uFillTx/>
              <a:latin typeface="Arial"/>
            </a:endParaRPr>
          </a:p>
        </p:txBody>
      </p:sp>
      <p:sp>
        <p:nvSpPr>
          <p:cNvPr id="1883" name="Rounded Rectangle 21"/>
          <p:cNvSpPr/>
          <p:nvPr/>
        </p:nvSpPr>
        <p:spPr>
          <a:xfrm>
            <a:off x="914400" y="4617720"/>
            <a:ext cx="10422720" cy="73008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884" name="Rectangle 22"/>
          <p:cNvSpPr/>
          <p:nvPr/>
        </p:nvSpPr>
        <p:spPr>
          <a:xfrm>
            <a:off x="1097280" y="4709160"/>
            <a:ext cx="10056960" cy="5472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400" b="1" u="none" strike="noStrike">
                <a:solidFill>
                  <a:srgbClr val="112E5C"/>
                </a:solidFill>
                <a:effectLst/>
                <a:uFillTx/>
                <a:latin typeface="Aptos"/>
              </a:rPr>
              <a:t>Hybrid worth mentioning: run BFS until memory is nearly exhausted, then run iterative deepening from every node left on the frontier.</a:t>
            </a:r>
            <a:endParaRPr lang="en-US" sz="1400" b="0" u="none" strike="noStrike">
              <a:solidFill>
                <a:srgbClr val="000000"/>
              </a:solidFill>
              <a:effectLst/>
              <a:uFillTx/>
              <a:latin typeface="Arial"/>
            </a:endParaRPr>
          </a:p>
        </p:txBody>
      </p:sp>
      <p:sp>
        <p:nvSpPr>
          <p:cNvPr id="1885" name="Rectangle 23"/>
          <p:cNvSpPr/>
          <p:nvPr/>
        </p:nvSpPr>
        <p:spPr>
          <a:xfrm>
            <a:off x="914400" y="553212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IDS is the preferred uninformed method when the state space exceeds memory and the solution depth is unknown.</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886"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87"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888"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Bidirectional Search</a:t>
            </a:r>
            <a:endParaRPr lang="en-US" sz="2600" b="0" u="none" strike="noStrike">
              <a:solidFill>
                <a:srgbClr val="000000"/>
              </a:solidFill>
              <a:effectLst/>
              <a:uFillTx/>
              <a:latin typeface="Arial"/>
            </a:endParaRPr>
          </a:p>
        </p:txBody>
      </p:sp>
      <p:sp>
        <p:nvSpPr>
          <p:cNvPr id="1889"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890"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891" name="Text 5"/>
          <p:cNvSpPr/>
          <p:nvPr/>
        </p:nvSpPr>
        <p:spPr>
          <a:xfrm>
            <a:off x="1179720" y="2779920"/>
            <a:ext cx="291240" cy="291240"/>
          </a:xfrm>
          <a:prstGeom prst="ellipse">
            <a:avLst/>
          </a:prstGeom>
          <a:solidFill>
            <a:srgbClr val="FFE5B6"/>
          </a:solidFill>
          <a:ln w="15240">
            <a:solidFill>
              <a:srgbClr val="F6A01A"/>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892" name="Text 6"/>
          <p:cNvSpPr/>
          <p:nvPr/>
        </p:nvSpPr>
        <p:spPr>
          <a:xfrm>
            <a:off x="10506600" y="2779920"/>
            <a:ext cx="291240" cy="291240"/>
          </a:xfrm>
          <a:prstGeom prst="ellipse">
            <a:avLst/>
          </a:prstGeom>
          <a:solidFill>
            <a:srgbClr val="DBF1E3"/>
          </a:solidFill>
          <a:ln w="15240">
            <a:solidFill>
              <a:srgbClr val="177245"/>
            </a:solidFill>
            <a:round/>
          </a:ln>
        </p:spPr>
        <p:style>
          <a:lnRef idx="0"/>
          <a:fillRef idx="0"/>
          <a:effectRef idx="0"/>
          <a:fontRef idx="minor"/>
        </p:style>
        <p:txBody>
          <a:bodyPr lIns="0" tIns="0" rIns="0" bIns="0" anchor="ctr">
            <a:normAutofit/>
          </a:bodyPr>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893" name="Shape 7"/>
          <p:cNvSpPr/>
          <p:nvPr/>
        </p:nvSpPr>
        <p:spPr>
          <a:xfrm>
            <a:off x="896040" y="2578680"/>
            <a:ext cx="858240" cy="693360"/>
          </a:xfrm>
          <a:prstGeom prst="ellipse">
            <a:avLst/>
          </a:prstGeom>
          <a:noFill/>
          <a:ln w="1524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94" name="Shape 8"/>
          <p:cNvSpPr/>
          <p:nvPr/>
        </p:nvSpPr>
        <p:spPr>
          <a:xfrm>
            <a:off x="10222920" y="2578680"/>
            <a:ext cx="858240" cy="693360"/>
          </a:xfrm>
          <a:prstGeom prst="ellipse">
            <a:avLst/>
          </a:prstGeom>
          <a:noFill/>
          <a:ln w="15240">
            <a:solidFill>
              <a:srgbClr val="17724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95" name="Shape 9"/>
          <p:cNvSpPr/>
          <p:nvPr/>
        </p:nvSpPr>
        <p:spPr>
          <a:xfrm>
            <a:off x="466200" y="2231280"/>
            <a:ext cx="1717560" cy="1388520"/>
          </a:xfrm>
          <a:prstGeom prst="ellipse">
            <a:avLst/>
          </a:prstGeom>
          <a:noFill/>
          <a:ln w="1524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96" name="Shape 10"/>
          <p:cNvSpPr/>
          <p:nvPr/>
        </p:nvSpPr>
        <p:spPr>
          <a:xfrm>
            <a:off x="9793080" y="2231280"/>
            <a:ext cx="1717560" cy="1388520"/>
          </a:xfrm>
          <a:prstGeom prst="ellipse">
            <a:avLst/>
          </a:prstGeom>
          <a:noFill/>
          <a:ln w="15240">
            <a:solidFill>
              <a:srgbClr val="17724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97" name="Shape 11"/>
          <p:cNvSpPr/>
          <p:nvPr/>
        </p:nvSpPr>
        <p:spPr>
          <a:xfrm>
            <a:off x="36720" y="1883520"/>
            <a:ext cx="2577240" cy="2083320"/>
          </a:xfrm>
          <a:prstGeom prst="ellipse">
            <a:avLst/>
          </a:prstGeom>
          <a:noFill/>
          <a:ln w="15240">
            <a:solidFill>
              <a:srgbClr val="F6A01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98" name="Shape 12"/>
          <p:cNvSpPr/>
          <p:nvPr/>
        </p:nvSpPr>
        <p:spPr>
          <a:xfrm>
            <a:off x="9363600" y="1883520"/>
            <a:ext cx="2577240" cy="2083320"/>
          </a:xfrm>
          <a:prstGeom prst="ellipse">
            <a:avLst/>
          </a:prstGeom>
          <a:noFill/>
          <a:ln w="15240">
            <a:solidFill>
              <a:srgbClr val="17724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99" name="Shape 13"/>
          <p:cNvSpPr/>
          <p:nvPr/>
        </p:nvSpPr>
        <p:spPr>
          <a:xfrm>
            <a:off x="2651760" y="2926080"/>
            <a:ext cx="6675120" cy="360"/>
          </a:xfrm>
          <a:prstGeom prst="line">
            <a:avLst/>
          </a:prstGeom>
          <a:ln w="19050">
            <a:solidFill>
              <a:srgbClr val="5C6B8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900" name="Text 14"/>
          <p:cNvSpPr/>
          <p:nvPr/>
        </p:nvSpPr>
        <p:spPr>
          <a:xfrm>
            <a:off x="4983480" y="2606040"/>
            <a:ext cx="2147400" cy="547200"/>
          </a:xfrm>
          <a:prstGeom prst="roundRect">
            <a:avLst>
              <a:gd name="adj" fmla="val 13333"/>
            </a:avLst>
          </a:prstGeom>
          <a:solidFill>
            <a:srgbClr val="D9E9FF"/>
          </a:solidFill>
          <a:ln w="15240">
            <a:solidFill>
              <a:srgbClr val="2F7FD5"/>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2F7FD5"/>
                </a:solidFill>
                <a:effectLst/>
                <a:uFillTx/>
                <a:latin typeface="Aptos"/>
              </a:rPr>
              <a:t>frontiers meet</a:t>
            </a:r>
            <a:endParaRPr lang="en-US" sz="1600" b="0" u="none" strike="noStrike">
              <a:solidFill>
                <a:srgbClr val="000000"/>
              </a:solidFill>
              <a:effectLst/>
              <a:uFillTx/>
              <a:latin typeface="Arial"/>
            </a:endParaRPr>
          </a:p>
        </p:txBody>
      </p:sp>
      <p:sp>
        <p:nvSpPr>
          <p:cNvPr id="1901" name="Text 15"/>
          <p:cNvSpPr/>
          <p:nvPr/>
        </p:nvSpPr>
        <p:spPr>
          <a:xfrm>
            <a:off x="1097280" y="4663440"/>
            <a:ext cx="9874080" cy="3826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800" b="1" u="none" strike="noStrike">
                <a:solidFill>
                  <a:srgbClr val="112E5C"/>
                </a:solidFill>
                <a:effectLst/>
                <a:uFillTx/>
                <a:latin typeface="Aptos"/>
              </a:rPr>
              <a:t>Motivation: b^(d/2) + b^(d/2) is much smaller than b^d.</a:t>
            </a:r>
            <a:endParaRPr lang="en-US" sz="1800" b="0" u="none" strike="noStrike">
              <a:solidFill>
                <a:srgbClr val="000000"/>
              </a:solidFill>
              <a:effectLst/>
              <a:uFillTx/>
              <a:latin typeface="Arial"/>
            </a:endParaRPr>
          </a:p>
        </p:txBody>
      </p:sp>
      <p:sp>
        <p:nvSpPr>
          <p:cNvPr id="1902" name="Text 16"/>
          <p:cNvSpPr/>
          <p:nvPr/>
        </p:nvSpPr>
        <p:spPr>
          <a:xfrm>
            <a:off x="1097280" y="5257800"/>
            <a:ext cx="9874080" cy="34596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600" b="0" u="none" strike="noStrike">
                <a:solidFill>
                  <a:srgbClr val="9B1C1C"/>
                </a:solidFill>
                <a:effectLst/>
                <a:uFillTx/>
                <a:latin typeface="Aptos"/>
              </a:rPr>
              <a:t>Challenge: backward actions and specific goal descriptions must be available.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903"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904"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905"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Bidirectional Search: Mechanics and Cautions</a:t>
            </a:r>
            <a:endParaRPr lang="en-US" sz="2600" b="0" u="none" strike="noStrike">
              <a:solidFill>
                <a:srgbClr val="000000"/>
              </a:solidFill>
              <a:effectLst/>
              <a:uFillTx/>
              <a:latin typeface="Arial"/>
            </a:endParaRPr>
          </a:p>
        </p:txBody>
      </p:sp>
      <p:sp>
        <p:nvSpPr>
          <p:cNvPr id="1906"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907"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908" name="Oval 6"/>
          <p:cNvSpPr/>
          <p:nvPr/>
        </p:nvSpPr>
        <p:spPr>
          <a:xfrm>
            <a:off x="2057400" y="2148840"/>
            <a:ext cx="455760" cy="45576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300" b="1" u="none" strike="noStrike">
                <a:solidFill>
                  <a:srgbClr val="112E5C"/>
                </a:solidFill>
                <a:effectLst/>
                <a:uFillTx/>
                <a:latin typeface="Aptos"/>
              </a:rPr>
              <a:t>S</a:t>
            </a:r>
            <a:endParaRPr lang="en-US" sz="1300" b="0" u="none" strike="noStrike">
              <a:solidFill>
                <a:srgbClr val="000000"/>
              </a:solidFill>
              <a:effectLst/>
              <a:uFillTx/>
              <a:latin typeface="Arial"/>
            </a:endParaRPr>
          </a:p>
        </p:txBody>
      </p:sp>
      <p:sp>
        <p:nvSpPr>
          <p:cNvPr id="1909" name="Oval 7"/>
          <p:cNvSpPr/>
          <p:nvPr/>
        </p:nvSpPr>
        <p:spPr>
          <a:xfrm>
            <a:off x="9677520" y="2148840"/>
            <a:ext cx="455760" cy="45576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1300" b="1" u="none" strike="noStrike">
                <a:solidFill>
                  <a:srgbClr val="112E5C"/>
                </a:solidFill>
                <a:effectLst/>
                <a:uFillTx/>
                <a:latin typeface="Aptos"/>
              </a:rPr>
              <a:t>G</a:t>
            </a:r>
            <a:endParaRPr lang="en-US" sz="1300" b="0" u="none" strike="noStrike">
              <a:solidFill>
                <a:srgbClr val="000000"/>
              </a:solidFill>
              <a:effectLst/>
              <a:uFillTx/>
              <a:latin typeface="Arial"/>
            </a:endParaRPr>
          </a:p>
        </p:txBody>
      </p:sp>
      <p:sp>
        <p:nvSpPr>
          <p:cNvPr id="1910" name="Oval 8"/>
          <p:cNvSpPr/>
          <p:nvPr/>
        </p:nvSpPr>
        <p:spPr>
          <a:xfrm>
            <a:off x="3017520" y="2194560"/>
            <a:ext cx="364320" cy="36432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911" name="Oval 9"/>
          <p:cNvSpPr/>
          <p:nvPr/>
        </p:nvSpPr>
        <p:spPr>
          <a:xfrm>
            <a:off x="3886200" y="2148840"/>
            <a:ext cx="455760" cy="45576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912" name="Oval 10"/>
          <p:cNvSpPr/>
          <p:nvPr/>
        </p:nvSpPr>
        <p:spPr>
          <a:xfrm>
            <a:off x="4754880" y="2103120"/>
            <a:ext cx="547200" cy="54720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913" name="Oval 11"/>
          <p:cNvSpPr/>
          <p:nvPr/>
        </p:nvSpPr>
        <p:spPr>
          <a:xfrm>
            <a:off x="5394960" y="2057400"/>
            <a:ext cx="638640" cy="63864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914" name="Oval 12"/>
          <p:cNvSpPr/>
          <p:nvPr/>
        </p:nvSpPr>
        <p:spPr>
          <a:xfrm>
            <a:off x="8808840" y="2194560"/>
            <a:ext cx="364320" cy="36432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915" name="Oval 13"/>
          <p:cNvSpPr/>
          <p:nvPr/>
        </p:nvSpPr>
        <p:spPr>
          <a:xfrm>
            <a:off x="7848720" y="2148840"/>
            <a:ext cx="455760" cy="45576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916" name="Oval 14"/>
          <p:cNvSpPr/>
          <p:nvPr/>
        </p:nvSpPr>
        <p:spPr>
          <a:xfrm>
            <a:off x="6888600" y="2103120"/>
            <a:ext cx="547200" cy="54720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sp>
        <p:nvSpPr>
          <p:cNvPr id="1917" name="Oval 15"/>
          <p:cNvSpPr/>
          <p:nvPr/>
        </p:nvSpPr>
        <p:spPr>
          <a:xfrm>
            <a:off x="6157080" y="2057400"/>
            <a:ext cx="638640" cy="63864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rgbClr val="000000"/>
              </a:solidFill>
              <a:effectLst/>
              <a:uFillTx/>
              <a:latin typeface="Arial"/>
            </a:endParaRPr>
          </a:p>
        </p:txBody>
      </p:sp>
      <p:cxnSp>
        <p:nvCxnSpPr>
          <p:cNvPr id="1918" name="Connector 16"/>
          <p:cNvCxnSpPr/>
          <p:nvPr/>
        </p:nvCxnSpPr>
        <p:spPr>
          <a:xfrm>
            <a:off x="6095520" y="1691640"/>
            <a:ext cx="1440" cy="1373040"/>
          </a:xfrm>
          <a:prstGeom prst="straightConnector1">
            <a:avLst/>
          </a:prstGeom>
          <a:ln w="28575">
            <a:solidFill>
              <a:srgbClr val="F6A01A"/>
            </a:solidFill>
            <a:prstDash val="sysDash"/>
            <a:round/>
          </a:ln>
        </p:spPr>
      </p:cxnSp>
      <p:sp>
        <p:nvSpPr>
          <p:cNvPr id="1919" name="Rectangle 17"/>
          <p:cNvSpPr/>
          <p:nvPr/>
        </p:nvSpPr>
        <p:spPr>
          <a:xfrm>
            <a:off x="5181480" y="2992680"/>
            <a:ext cx="182736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50" b="1" u="none" strike="noStrike">
                <a:solidFill>
                  <a:srgbClr val="112E5C"/>
                </a:solidFill>
                <a:effectLst/>
                <a:uFillTx/>
                <a:latin typeface="Aptos"/>
              </a:rPr>
              <a:t>frontiers collide</a:t>
            </a:r>
            <a:endParaRPr lang="en-US" sz="1150" b="0" u="none" strike="noStrike">
              <a:solidFill>
                <a:srgbClr val="000000"/>
              </a:solidFill>
              <a:effectLst/>
              <a:uFillTx/>
              <a:latin typeface="Arial"/>
            </a:endParaRPr>
          </a:p>
        </p:txBody>
      </p:sp>
      <p:sp>
        <p:nvSpPr>
          <p:cNvPr id="1920" name="Rectangle 18"/>
          <p:cNvSpPr/>
          <p:nvPr/>
        </p:nvSpPr>
        <p:spPr>
          <a:xfrm>
            <a:off x="2286000" y="1554480"/>
            <a:ext cx="137016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00" b="1" u="none" strike="noStrike">
                <a:solidFill>
                  <a:srgbClr val="2F7FD5"/>
                </a:solidFill>
                <a:effectLst/>
                <a:uFillTx/>
                <a:latin typeface="Aptos"/>
              </a:rPr>
              <a:t>forward</a:t>
            </a:r>
            <a:endParaRPr lang="en-US" sz="1100" b="0" u="none" strike="noStrike">
              <a:solidFill>
                <a:srgbClr val="000000"/>
              </a:solidFill>
              <a:effectLst/>
              <a:uFillTx/>
              <a:latin typeface="Arial"/>
            </a:endParaRPr>
          </a:p>
        </p:txBody>
      </p:sp>
      <p:sp>
        <p:nvSpPr>
          <p:cNvPr id="1921" name="Rectangle 19"/>
          <p:cNvSpPr/>
          <p:nvPr/>
        </p:nvSpPr>
        <p:spPr>
          <a:xfrm>
            <a:off x="9220320" y="1554480"/>
            <a:ext cx="1370160" cy="218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spcAft>
                <a:spcPts val="400"/>
              </a:spcAft>
            </a:pPr>
            <a:r>
              <a:rPr lang="en-US" sz="1100" b="1" u="none" strike="noStrike">
                <a:solidFill>
                  <a:srgbClr val="9B1C1C"/>
                </a:solidFill>
                <a:effectLst/>
                <a:uFillTx/>
                <a:latin typeface="Aptos"/>
              </a:rPr>
              <a:t>backward</a:t>
            </a:r>
            <a:endParaRPr lang="en-US" sz="1100" b="0" u="none" strike="noStrike">
              <a:solidFill>
                <a:srgbClr val="000000"/>
              </a:solidFill>
              <a:effectLst/>
              <a:uFillTx/>
              <a:latin typeface="Arial"/>
            </a:endParaRPr>
          </a:p>
        </p:txBody>
      </p:sp>
      <p:sp>
        <p:nvSpPr>
          <p:cNvPr id="1922" name="Rounded Rectangle 20"/>
          <p:cNvSpPr/>
          <p:nvPr/>
        </p:nvSpPr>
        <p:spPr>
          <a:xfrm>
            <a:off x="777240" y="3200400"/>
            <a:ext cx="5027760" cy="4100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What it requires</a:t>
            </a:r>
            <a:endParaRPr lang="en-US" sz="1400" b="0" u="none" strike="noStrike">
              <a:solidFill>
                <a:srgbClr val="000000"/>
              </a:solidFill>
              <a:effectLst/>
              <a:uFillTx/>
              <a:latin typeface="Arial"/>
            </a:endParaRPr>
          </a:p>
        </p:txBody>
      </p:sp>
      <p:sp>
        <p:nvSpPr>
          <p:cNvPr id="1923" name="Rounded Rectangle 21"/>
          <p:cNvSpPr/>
          <p:nvPr/>
        </p:nvSpPr>
        <p:spPr>
          <a:xfrm>
            <a:off x="777240" y="3657600"/>
            <a:ext cx="5027760" cy="15530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924" name="Rectangle 22"/>
          <p:cNvSpPr/>
          <p:nvPr/>
        </p:nvSpPr>
        <p:spPr>
          <a:xfrm>
            <a:off x="960120" y="3749040"/>
            <a:ext cx="4662000" cy="13701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Two frontiers and two reached tables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Reversible reasoning: if s′ follows s forward, s must follow s′ backward</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An explicit goal state, not merely a goal property</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A collision test, plus a best-solution-so-far until Terminated proves nothing better remains</a:t>
            </a:r>
            <a:endParaRPr lang="en-US" sz="1250" b="0" u="none" strike="noStrike">
              <a:solidFill>
                <a:srgbClr val="000000"/>
              </a:solidFill>
              <a:effectLst/>
              <a:uFillTx/>
              <a:latin typeface="Arial"/>
            </a:endParaRPr>
          </a:p>
        </p:txBody>
      </p:sp>
      <p:sp>
        <p:nvSpPr>
          <p:cNvPr id="1925" name="Rounded Rectangle 23"/>
          <p:cNvSpPr/>
          <p:nvPr/>
        </p:nvSpPr>
        <p:spPr>
          <a:xfrm>
            <a:off x="6385680" y="3200400"/>
            <a:ext cx="5027760" cy="41004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00" b="1" u="none" strike="noStrike">
                <a:solidFill>
                  <a:srgbClr val="112E5C"/>
                </a:solidFill>
                <a:effectLst/>
                <a:uFillTx/>
                <a:latin typeface="Aptos"/>
              </a:rPr>
              <a:t>What it buys</a:t>
            </a:r>
            <a:endParaRPr lang="en-US" sz="1400" b="0" u="none" strike="noStrike">
              <a:solidFill>
                <a:srgbClr val="000000"/>
              </a:solidFill>
              <a:effectLst/>
              <a:uFillTx/>
              <a:latin typeface="Arial"/>
            </a:endParaRPr>
          </a:p>
        </p:txBody>
      </p:sp>
      <p:sp>
        <p:nvSpPr>
          <p:cNvPr id="1926" name="Rounded Rectangle 24"/>
          <p:cNvSpPr/>
          <p:nvPr/>
        </p:nvSpPr>
        <p:spPr>
          <a:xfrm>
            <a:off x="6385680" y="3657600"/>
            <a:ext cx="5027760" cy="15530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1927" name="Rectangle 25"/>
          <p:cNvSpPr/>
          <p:nvPr/>
        </p:nvSpPr>
        <p:spPr>
          <a:xfrm>
            <a:off x="6568560" y="3749040"/>
            <a:ext cx="4662000" cy="5014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2400" b="1" u="none" strike="noStrike">
                <a:solidFill>
                  <a:srgbClr val="112E5C"/>
                </a:solidFill>
                <a:effectLst/>
                <a:uFillTx/>
                <a:latin typeface="Aptos"/>
              </a:rPr>
              <a:t>b</a:t>
            </a:r>
            <a:r>
              <a:rPr lang="en-US" sz="1400" b="1" u="none" strike="noStrike" baseline="30000">
                <a:solidFill>
                  <a:srgbClr val="112E5C"/>
                </a:solidFill>
                <a:effectLst/>
                <a:uFillTx/>
                <a:latin typeface="Aptos"/>
              </a:rPr>
              <a:t>d/2</a:t>
            </a:r>
            <a:r>
              <a:rPr lang="en-US" sz="2000" b="1" u="none" strike="noStrike">
                <a:solidFill>
                  <a:srgbClr val="5C6B80"/>
                </a:solidFill>
                <a:effectLst/>
                <a:uFillTx/>
                <a:latin typeface="Aptos"/>
              </a:rPr>
              <a:t>  +  </a:t>
            </a:r>
            <a:r>
              <a:rPr lang="en-US" sz="2400" b="1" u="none" strike="noStrike">
                <a:solidFill>
                  <a:srgbClr val="112E5C"/>
                </a:solidFill>
                <a:effectLst/>
                <a:uFillTx/>
                <a:latin typeface="Aptos"/>
              </a:rPr>
              <a:t>b</a:t>
            </a:r>
            <a:r>
              <a:rPr lang="en-US" sz="1400" b="1" u="none" strike="noStrike" baseline="30000">
                <a:solidFill>
                  <a:srgbClr val="112E5C"/>
                </a:solidFill>
                <a:effectLst/>
                <a:uFillTx/>
                <a:latin typeface="Aptos"/>
              </a:rPr>
              <a:t>d/2</a:t>
            </a:r>
            <a:r>
              <a:rPr lang="en-US" sz="2000" b="1" u="none" strike="noStrike">
                <a:solidFill>
                  <a:srgbClr val="5C6B80"/>
                </a:solidFill>
                <a:effectLst/>
                <a:uFillTx/>
                <a:latin typeface="Aptos"/>
              </a:rPr>
              <a:t>   ≪   </a:t>
            </a:r>
            <a:r>
              <a:rPr lang="en-US" sz="2400" b="1" u="none" strike="noStrike">
                <a:solidFill>
                  <a:srgbClr val="9B1C1C"/>
                </a:solidFill>
                <a:effectLst/>
                <a:uFillTx/>
                <a:latin typeface="Aptos"/>
              </a:rPr>
              <a:t>b</a:t>
            </a:r>
            <a:r>
              <a:rPr lang="en-US" sz="1400" b="1" u="none" strike="noStrike" baseline="30000">
                <a:solidFill>
                  <a:srgbClr val="9B1C1C"/>
                </a:solidFill>
                <a:effectLst/>
                <a:uFillTx/>
                <a:latin typeface="Aptos"/>
              </a:rPr>
              <a:t>d</a:t>
            </a:r>
            <a:endParaRPr lang="en-US" sz="1400" b="0" u="none" strike="noStrike">
              <a:solidFill>
                <a:srgbClr val="000000"/>
              </a:solidFill>
              <a:effectLst/>
              <a:uFillTx/>
              <a:latin typeface="Arial"/>
            </a:endParaRPr>
          </a:p>
        </p:txBody>
      </p:sp>
      <p:sp>
        <p:nvSpPr>
          <p:cNvPr id="1928" name="Rectangle 26"/>
          <p:cNvSpPr/>
          <p:nvPr/>
        </p:nvSpPr>
        <p:spPr>
          <a:xfrm>
            <a:off x="6568560" y="4297680"/>
            <a:ext cx="4662000" cy="82152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601"/>
              </a:spcAft>
            </a:pPr>
            <a:r>
              <a:rPr lang="en-US" sz="1250" b="0" u="none" strike="noStrike">
                <a:solidFill>
                  <a:srgbClr val="102A4C"/>
                </a:solidFill>
                <a:effectLst/>
                <a:uFillTx/>
                <a:latin typeface="Aptos"/>
              </a:rPr>
              <a:t>•  About 50,000 times fewer nodes when b = d = 10</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With f = path cost, no node above C* / 2 is ever expanded</a:t>
            </a:r>
            <a:endParaRPr lang="en-US" sz="1250" b="0" u="none" strike="noStrike">
              <a:solidFill>
                <a:srgbClr val="000000"/>
              </a:solidFill>
              <a:effectLst/>
              <a:uFillTx/>
              <a:latin typeface="Arial"/>
            </a:endParaRPr>
          </a:p>
        </p:txBody>
      </p:sp>
      <p:sp>
        <p:nvSpPr>
          <p:cNvPr id="1929" name="Rectangle 27"/>
          <p:cNvSpPr/>
          <p:nvPr/>
        </p:nvSpPr>
        <p:spPr>
          <a:xfrm>
            <a:off x="914400" y="534924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The expansion rule is global: expand the minimum-f node across either frontier, not one from each in turn.</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930" name="HeaderBar 200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31" name="AccentBar 200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32" name="Title 200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2600" b="1" u="none" strike="noStrike">
                <a:solidFill>
                  <a:srgbClr val="FFFFFF"/>
                </a:solidFill>
                <a:effectLst/>
                <a:uFillTx/>
                <a:latin typeface="Aptos"/>
              </a:rPr>
              <a:t>Bidirectional Best-First Search: The Algorithm</a:t>
            </a:r>
            <a:endParaRPr lang="en-US" sz="2600" b="0" u="none" strike="noStrike">
              <a:solidFill>
                <a:srgbClr val="000000"/>
              </a:solidFill>
              <a:effectLst/>
              <a:uFillTx/>
              <a:latin typeface="Arial"/>
            </a:endParaRPr>
          </a:p>
        </p:txBody>
      </p:sp>
      <p:sp>
        <p:nvSpPr>
          <p:cNvPr id="1933" name="FooterL 200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934" name="FooterR 200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935" name="CodeCard 2006"/>
          <p:cNvSpPr/>
          <p:nvPr/>
        </p:nvSpPr>
        <p:spPr>
          <a:xfrm>
            <a:off x="502920" y="1239840"/>
            <a:ext cx="7399080" cy="2799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36" name="CodeCap 2007"/>
          <p:cNvSpPr/>
          <p:nvPr/>
        </p:nvSpPr>
        <p:spPr>
          <a:xfrm>
            <a:off x="777240" y="1468440"/>
            <a:ext cx="685044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00" b="1" u="none" strike="noStrike">
                <a:solidFill>
                  <a:srgbClr val="F6A01A"/>
                </a:solidFill>
                <a:effectLst/>
                <a:uFillTx/>
                <a:latin typeface="Aptos"/>
              </a:rPr>
              <a:t>AIMA 4th ed., Figure 3.14 (upper half)</a:t>
            </a:r>
            <a:endParaRPr lang="en-US" sz="900" b="0" u="none" strike="noStrike">
              <a:solidFill>
                <a:srgbClr val="000000"/>
              </a:solidFill>
              <a:effectLst/>
              <a:uFillTx/>
              <a:latin typeface="Arial"/>
            </a:endParaRPr>
          </a:p>
        </p:txBody>
      </p:sp>
      <p:sp>
        <p:nvSpPr>
          <p:cNvPr id="1937" name="CodeBody 2008"/>
          <p:cNvSpPr/>
          <p:nvPr/>
        </p:nvSpPr>
        <p:spPr>
          <a:xfrm>
            <a:off x="777240" y="1768680"/>
            <a:ext cx="6850440" cy="20415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119"/>
              </a:spcAft>
            </a:pPr>
            <a:r>
              <a:rPr lang="en-US" sz="900" b="1" u="none" strike="noStrike">
                <a:solidFill>
                  <a:srgbClr val="F6A01A"/>
                </a:solidFill>
                <a:effectLst/>
                <a:uFillTx/>
                <a:latin typeface="Consolas"/>
              </a:rPr>
              <a:t>function</a:t>
            </a:r>
            <a:r>
              <a:rPr lang="en-US" sz="900" b="0" u="none" strike="noStrike">
                <a:solidFill>
                  <a:srgbClr val="EAF2FF"/>
                </a:solidFill>
                <a:effectLst/>
                <a:uFillTx/>
                <a:latin typeface="Consolas"/>
              </a:rPr>
              <a:t> BiBF-SEARCH(problemF, fF, problemB, fB) </a:t>
            </a:r>
            <a:r>
              <a:rPr lang="en-US" sz="900" b="1" u="none" strike="noStrike">
                <a:solidFill>
                  <a:srgbClr val="F6A01A"/>
                </a:solidFill>
                <a:effectLst/>
                <a:uFillTx/>
                <a:latin typeface="Consolas"/>
              </a:rPr>
              <a:t>returns</a:t>
            </a:r>
            <a:r>
              <a:rPr lang="en-US" sz="900" b="0" u="none" strike="noStrike">
                <a:solidFill>
                  <a:srgbClr val="EAF2FF"/>
                </a:solidFill>
                <a:effectLst/>
                <a:uFillTx/>
                <a:latin typeface="Consolas"/>
              </a:rPr>
              <a:t> a solution node, </a:t>
            </a:r>
            <a:r>
              <a:rPr lang="en-US" sz="900" b="1" u="none" strike="noStrike">
                <a:solidFill>
                  <a:srgbClr val="F6A01A"/>
                </a:solidFill>
                <a:effectLst/>
                <a:uFillTx/>
                <a:latin typeface="Consolas"/>
              </a:rPr>
              <a:t>or</a:t>
            </a:r>
            <a:r>
              <a:rPr lang="en-US" sz="900" b="0" u="none" strike="noStrike">
                <a:solidFill>
                  <a:srgbClr val="EAF2FF"/>
                </a:solidFill>
                <a:effectLst/>
                <a:uFillTx/>
                <a:latin typeface="Consolas"/>
              </a:rPr>
              <a:t> </a:t>
            </a:r>
            <a:r>
              <a:rPr lang="en-US" sz="900" b="1" u="none" strike="noStrike">
                <a:solidFill>
                  <a:srgbClr val="F2A0A0"/>
                </a:solidFill>
                <a:effectLst/>
                <a:uFillTx/>
                <a:latin typeface="Consolas"/>
              </a:rPr>
              <a:t>failure</a:t>
            </a:r>
            <a:endParaRPr lang="en-US" sz="900" b="0" u="none" strike="noStrike">
              <a:solidFill>
                <a:srgbClr val="000000"/>
              </a:solidFill>
              <a:effectLst/>
              <a:uFillTx/>
              <a:latin typeface="Arial"/>
            </a:endParaRPr>
          </a:p>
          <a:p>
            <a:pPr defTabSz="914400">
              <a:lnSpc>
                <a:spcPct val="100000"/>
              </a:lnSpc>
              <a:spcAft>
                <a:spcPts val="119"/>
              </a:spcAft>
            </a:pP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nodeF ← NODE(problemF.INITIAL)      </a:t>
            </a:r>
            <a:r>
              <a:rPr lang="en-US" sz="900" b="0" i="1" u="none" strike="noStrike">
                <a:solidFill>
                  <a:srgbClr val="7E8CA0"/>
                </a:solidFill>
                <a:effectLst/>
                <a:uFillTx/>
                <a:latin typeface="Consolas"/>
              </a:rPr>
              <a:t>// node for a start state</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nodeB ← NODE(problemB.INITIAL)      </a:t>
            </a:r>
            <a:r>
              <a:rPr lang="en-US" sz="900" b="0" i="1" u="none" strike="noStrike">
                <a:solidFill>
                  <a:srgbClr val="7E8CA0"/>
                </a:solidFill>
                <a:effectLst/>
                <a:uFillTx/>
                <a:latin typeface="Consolas"/>
              </a:rPr>
              <a:t>// node for a goal state</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frontierF ← a priority queue ordered by fF, with nodeF as an element</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frontierB ← a priority queue ordered by fB, with nodeB as an element</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reachedF ← a lookup table, key nodeF.STATE </a:t>
            </a:r>
            <a:r>
              <a:rPr lang="en-US" sz="900" b="1" u="none" strike="noStrike">
                <a:solidFill>
                  <a:srgbClr val="F6A01A"/>
                </a:solidFill>
                <a:effectLst/>
                <a:uFillTx/>
                <a:latin typeface="Consolas"/>
              </a:rPr>
              <a:t>and</a:t>
            </a:r>
            <a:r>
              <a:rPr lang="en-US" sz="900" b="0" u="none" strike="noStrike">
                <a:solidFill>
                  <a:srgbClr val="EAF2FF"/>
                </a:solidFill>
                <a:effectLst/>
                <a:uFillTx/>
                <a:latin typeface="Consolas"/>
              </a:rPr>
              <a:t> value nodeF</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reachedB ← a lookup table, key nodeB.STATE </a:t>
            </a:r>
            <a:r>
              <a:rPr lang="en-US" sz="900" b="1" u="none" strike="noStrike">
                <a:solidFill>
                  <a:srgbClr val="F6A01A"/>
                </a:solidFill>
                <a:effectLst/>
                <a:uFillTx/>
                <a:latin typeface="Consolas"/>
              </a:rPr>
              <a:t>and</a:t>
            </a:r>
            <a:r>
              <a:rPr lang="en-US" sz="900" b="0" u="none" strike="noStrike">
                <a:solidFill>
                  <a:srgbClr val="EAF2FF"/>
                </a:solidFill>
                <a:effectLst/>
                <a:uFillTx/>
                <a:latin typeface="Consolas"/>
              </a:rPr>
              <a:t> value nodeB</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solution ← </a:t>
            </a:r>
            <a:r>
              <a:rPr lang="en-US" sz="900" b="1" u="none" strike="noStrike">
                <a:solidFill>
                  <a:srgbClr val="F2A0A0"/>
                </a:solidFill>
                <a:effectLst/>
                <a:uFillTx/>
                <a:latin typeface="Consolas"/>
              </a:rPr>
              <a:t>failure</a:t>
            </a:r>
            <a:endParaRPr lang="en-US" sz="900" b="0" u="none" strike="noStrike">
              <a:solidFill>
                <a:srgbClr val="000000"/>
              </a:solidFill>
              <a:effectLst/>
              <a:uFillTx/>
              <a:latin typeface="Arial"/>
            </a:endParaRPr>
          </a:p>
          <a:p>
            <a:pPr defTabSz="914400">
              <a:lnSpc>
                <a:spcPct val="100000"/>
              </a:lnSpc>
              <a:spcAft>
                <a:spcPts val="119"/>
              </a:spcAft>
            </a:pP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a:t>
            </a:r>
            <a:r>
              <a:rPr lang="en-US" sz="900" b="1" u="none" strike="noStrike">
                <a:solidFill>
                  <a:srgbClr val="F6A01A"/>
                </a:solidFill>
                <a:effectLst/>
                <a:uFillTx/>
                <a:latin typeface="Consolas"/>
              </a:rPr>
              <a:t>while</a:t>
            </a:r>
            <a:r>
              <a:rPr lang="en-US" sz="900" b="0" u="none" strike="noStrike">
                <a:solidFill>
                  <a:srgbClr val="EAF2FF"/>
                </a:solidFill>
                <a:effectLst/>
                <a:uFillTx/>
                <a:latin typeface="Consolas"/>
              </a:rPr>
              <a:t> </a:t>
            </a:r>
            <a:r>
              <a:rPr lang="en-US" sz="900" b="1" u="none" strike="noStrike">
                <a:solidFill>
                  <a:srgbClr val="F6A01A"/>
                </a:solidFill>
                <a:effectLst/>
                <a:uFillTx/>
                <a:latin typeface="Consolas"/>
              </a:rPr>
              <a:t>not</a:t>
            </a:r>
            <a:r>
              <a:rPr lang="en-US" sz="900" b="0" u="none" strike="noStrike">
                <a:solidFill>
                  <a:srgbClr val="EAF2FF"/>
                </a:solidFill>
                <a:effectLst/>
                <a:uFillTx/>
                <a:latin typeface="Consolas"/>
              </a:rPr>
              <a:t> TERMINATED(solution, frontierF, frontierB) </a:t>
            </a:r>
            <a:r>
              <a:rPr lang="en-US" sz="900" b="1" u="none" strike="noStrike">
                <a:solidFill>
                  <a:srgbClr val="F6A01A"/>
                </a:solidFill>
                <a:effectLst/>
                <a:uFillTx/>
                <a:latin typeface="Consolas"/>
              </a:rPr>
              <a:t>do</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a:t>
            </a:r>
            <a:r>
              <a:rPr lang="en-US" sz="900" b="1" u="none" strike="noStrike">
                <a:solidFill>
                  <a:srgbClr val="F6A01A"/>
                </a:solidFill>
                <a:effectLst/>
                <a:uFillTx/>
                <a:latin typeface="Consolas"/>
              </a:rPr>
              <a:t>if</a:t>
            </a:r>
            <a:r>
              <a:rPr lang="en-US" sz="900" b="0" u="none" strike="noStrike">
                <a:solidFill>
                  <a:srgbClr val="EAF2FF"/>
                </a:solidFill>
                <a:effectLst/>
                <a:uFillTx/>
                <a:latin typeface="Consolas"/>
              </a:rPr>
              <a:t> fF(TOP(frontierF)) &lt; fB(TOP(frontierB)) </a:t>
            </a:r>
            <a:r>
              <a:rPr lang="en-US" sz="900" b="1" u="none" strike="noStrike">
                <a:solidFill>
                  <a:srgbClr val="F6A01A"/>
                </a:solidFill>
                <a:effectLst/>
                <a:uFillTx/>
                <a:latin typeface="Consolas"/>
              </a:rPr>
              <a:t>then</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solution ← PROCEED(F, problemF, frontierF, reachedF, reachedB, solution)</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a:t>
            </a:r>
            <a:r>
              <a:rPr lang="en-US" sz="900" b="1" u="none" strike="noStrike">
                <a:solidFill>
                  <a:srgbClr val="F6A01A"/>
                </a:solidFill>
                <a:effectLst/>
                <a:uFillTx/>
                <a:latin typeface="Consolas"/>
              </a:rPr>
              <a:t>else</a:t>
            </a:r>
            <a:r>
              <a:rPr lang="en-US" sz="900" b="0" u="none" strike="noStrike">
                <a:solidFill>
                  <a:srgbClr val="EAF2FF"/>
                </a:solidFill>
                <a:effectLst/>
                <a:uFillTx/>
                <a:latin typeface="Consolas"/>
              </a:rPr>
              <a:t> solution ← PROCEED(B, problemB, frontierB, reachedB, reachedF, solution)</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a:t>
            </a:r>
            <a:r>
              <a:rPr lang="en-US" sz="900" b="1" u="none" strike="noStrike">
                <a:solidFill>
                  <a:srgbClr val="F6A01A"/>
                </a:solidFill>
                <a:effectLst/>
                <a:uFillTx/>
                <a:latin typeface="Consolas"/>
              </a:rPr>
              <a:t>return</a:t>
            </a:r>
            <a:r>
              <a:rPr lang="en-US" sz="900" b="0" u="none" strike="noStrike">
                <a:solidFill>
                  <a:srgbClr val="EAF2FF"/>
                </a:solidFill>
                <a:effectLst/>
                <a:uFillTx/>
                <a:latin typeface="Consolas"/>
              </a:rPr>
              <a:t> solution</a:t>
            </a:r>
            <a:endParaRPr lang="en-US" sz="900" b="0" u="none" strike="noStrike">
              <a:solidFill>
                <a:srgbClr val="000000"/>
              </a:solidFill>
              <a:effectLst/>
              <a:uFillTx/>
              <a:latin typeface="Arial"/>
            </a:endParaRPr>
          </a:p>
        </p:txBody>
      </p:sp>
      <p:sp>
        <p:nvSpPr>
          <p:cNvPr id="1938" name="NoteCard 2009"/>
          <p:cNvSpPr/>
          <p:nvPr/>
        </p:nvSpPr>
        <p:spPr>
          <a:xfrm>
            <a:off x="8177400" y="1239840"/>
            <a:ext cx="3510720" cy="8409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39" name="CardHead 2010"/>
          <p:cNvSpPr/>
          <p:nvPr/>
        </p:nvSpPr>
        <p:spPr>
          <a:xfrm>
            <a:off x="8382960" y="1377000"/>
            <a:ext cx="30992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00" b="1" u="none" strike="noStrike">
                <a:solidFill>
                  <a:srgbClr val="112E5C"/>
                </a:solidFill>
                <a:effectLst/>
                <a:uFillTx/>
                <a:latin typeface="Aptos"/>
              </a:rPr>
              <a:t>Everything is doubled</a:t>
            </a:r>
            <a:endParaRPr lang="en-US" sz="1000" b="0" u="none" strike="noStrike">
              <a:solidFill>
                <a:srgbClr val="000000"/>
              </a:solidFill>
              <a:effectLst/>
              <a:uFillTx/>
              <a:latin typeface="Arial"/>
            </a:endParaRPr>
          </a:p>
        </p:txBody>
      </p:sp>
      <p:sp>
        <p:nvSpPr>
          <p:cNvPr id="1940" name="CardBody 2011"/>
          <p:cNvSpPr/>
          <p:nvPr/>
        </p:nvSpPr>
        <p:spPr>
          <a:xfrm>
            <a:off x="8382960" y="1605600"/>
            <a:ext cx="3099240" cy="338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102A4C"/>
                </a:solidFill>
                <a:effectLst/>
                <a:uFillTx/>
                <a:latin typeface="Aptos"/>
              </a:rPr>
              <a:t>Two frontiers, two reached tables, two evaluation functions — one set growing from the start, one from the goal.</a:t>
            </a:r>
            <a:endParaRPr lang="en-US" sz="900" b="0" u="none" strike="noStrike">
              <a:solidFill>
                <a:srgbClr val="000000"/>
              </a:solidFill>
              <a:effectLst/>
              <a:uFillTx/>
              <a:latin typeface="Arial"/>
            </a:endParaRPr>
          </a:p>
        </p:txBody>
      </p:sp>
      <p:sp>
        <p:nvSpPr>
          <p:cNvPr id="1941" name="NoteCard 2012"/>
          <p:cNvSpPr/>
          <p:nvPr/>
        </p:nvSpPr>
        <p:spPr>
          <a:xfrm>
            <a:off x="8177400" y="2219040"/>
            <a:ext cx="3510720" cy="8409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42" name="CardHead 2013"/>
          <p:cNvSpPr/>
          <p:nvPr/>
        </p:nvSpPr>
        <p:spPr>
          <a:xfrm>
            <a:off x="8382960" y="2356200"/>
            <a:ext cx="30992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00" b="1" u="none" strike="noStrike">
                <a:solidFill>
                  <a:srgbClr val="112E5C"/>
                </a:solidFill>
                <a:effectLst/>
                <a:uFillTx/>
                <a:latin typeface="Aptos"/>
              </a:rPr>
              <a:t>One comparison picks the side</a:t>
            </a:r>
            <a:endParaRPr lang="en-US" sz="1000" b="0" u="none" strike="noStrike">
              <a:solidFill>
                <a:srgbClr val="000000"/>
              </a:solidFill>
              <a:effectLst/>
              <a:uFillTx/>
              <a:latin typeface="Arial"/>
            </a:endParaRPr>
          </a:p>
        </p:txBody>
      </p:sp>
      <p:sp>
        <p:nvSpPr>
          <p:cNvPr id="1943" name="CardBody 2014"/>
          <p:cNvSpPr/>
          <p:nvPr/>
        </p:nvSpPr>
        <p:spPr>
          <a:xfrm>
            <a:off x="8382960" y="2584800"/>
            <a:ext cx="3099240" cy="338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102A4C"/>
                </a:solidFill>
                <a:effectLst/>
                <a:uFillTx/>
                <a:latin typeface="Aptos"/>
              </a:rPr>
              <a:t>Expand whichever frontier has the smaller f at the top of its queue. The two halves do not take turns.</a:t>
            </a:r>
            <a:endParaRPr lang="en-US" sz="900" b="0" u="none" strike="noStrike">
              <a:solidFill>
                <a:srgbClr val="000000"/>
              </a:solidFill>
              <a:effectLst/>
              <a:uFillTx/>
              <a:latin typeface="Arial"/>
            </a:endParaRPr>
          </a:p>
        </p:txBody>
      </p:sp>
      <p:sp>
        <p:nvSpPr>
          <p:cNvPr id="1944" name="NoteCard 2015"/>
          <p:cNvSpPr/>
          <p:nvPr/>
        </p:nvSpPr>
        <p:spPr>
          <a:xfrm>
            <a:off x="8177400" y="3198240"/>
            <a:ext cx="3510720" cy="8409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45" name="CardHead 2016"/>
          <p:cNvSpPr/>
          <p:nvPr/>
        </p:nvSpPr>
        <p:spPr>
          <a:xfrm>
            <a:off x="8382960" y="3335400"/>
            <a:ext cx="30992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00" b="1" u="none" strike="noStrike">
                <a:solidFill>
                  <a:srgbClr val="112E5C"/>
                </a:solidFill>
                <a:effectLst/>
                <a:uFillTx/>
                <a:latin typeface="Aptos"/>
              </a:rPr>
              <a:t>solution starts at failure</a:t>
            </a:r>
            <a:endParaRPr lang="en-US" sz="1000" b="0" u="none" strike="noStrike">
              <a:solidFill>
                <a:srgbClr val="000000"/>
              </a:solidFill>
              <a:effectLst/>
              <a:uFillTx/>
              <a:latin typeface="Arial"/>
            </a:endParaRPr>
          </a:p>
        </p:txBody>
      </p:sp>
      <p:sp>
        <p:nvSpPr>
          <p:cNvPr id="1946" name="CardBody 2017"/>
          <p:cNvSpPr/>
          <p:nvPr/>
        </p:nvSpPr>
        <p:spPr>
          <a:xfrm>
            <a:off x="8382960" y="3564000"/>
            <a:ext cx="3099240" cy="338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102A4C"/>
                </a:solidFill>
                <a:effectLst/>
                <a:uFillTx/>
                <a:latin typeface="Aptos"/>
              </a:rPr>
              <a:t>And the loop keeps running. The first collision need not be the best, so TERMINATED decides when to stop.</a:t>
            </a:r>
            <a:endParaRPr lang="en-US" sz="900" b="0" u="none" strike="noStrike">
              <a:solidFill>
                <a:srgbClr val="000000"/>
              </a:solidFill>
              <a:effectLst/>
              <a:uFillTx/>
              <a:latin typeface="Arial"/>
            </a:endParaRPr>
          </a:p>
        </p:txBody>
      </p:sp>
      <p:sp>
        <p:nvSpPr>
          <p:cNvPr id="1947" name="NoteCard 2018"/>
          <p:cNvSpPr/>
          <p:nvPr/>
        </p:nvSpPr>
        <p:spPr>
          <a:xfrm>
            <a:off x="502920" y="4268520"/>
            <a:ext cx="11185200" cy="109908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48" name="CardHead 2019"/>
          <p:cNvSpPr/>
          <p:nvPr/>
        </p:nvSpPr>
        <p:spPr>
          <a:xfrm>
            <a:off x="708840" y="4405680"/>
            <a:ext cx="1077372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200" b="1" u="none" strike="noStrike">
                <a:solidFill>
                  <a:srgbClr val="9B1C1C"/>
                </a:solidFill>
                <a:effectLst/>
                <a:uFillTx/>
                <a:latin typeface="Aptos"/>
              </a:rPr>
              <a:t>The precondition students skip: what problemB actually is</a:t>
            </a:r>
            <a:endParaRPr lang="en-US" sz="1200" b="0" u="none" strike="noStrike">
              <a:solidFill>
                <a:srgbClr val="000000"/>
              </a:solidFill>
              <a:effectLst/>
              <a:uFillTx/>
              <a:latin typeface="Arial"/>
            </a:endParaRPr>
          </a:p>
        </p:txBody>
      </p:sp>
      <p:sp>
        <p:nvSpPr>
          <p:cNvPr id="1949" name="CardBody 2020"/>
          <p:cNvSpPr/>
          <p:nvPr/>
        </p:nvSpPr>
        <p:spPr>
          <a:xfrm>
            <a:off x="708840" y="4634280"/>
            <a:ext cx="10773720" cy="5961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1000" b="0" u="none" strike="noStrike">
                <a:solidFill>
                  <a:srgbClr val="102A4C"/>
                </a:solidFill>
                <a:effectLst/>
                <a:uFillTx/>
                <a:latin typeface="Aptos"/>
              </a:rPr>
              <a:t>problemB.INITIAL is the goal state, and problemB's actions are the reverses of the forward ones — if s′ follows s going forward, then s must follow s′ going backward. So bidirectional search needs an explicit goal state, not merely a goal test, and it needs an invertible transition model. Neither is available when the goal is stated as a property (“any configuration with the tiles in order”) or when actions destroy information.</a:t>
            </a:r>
            <a:endParaRPr lang="en-US" sz="1000" b="0" u="none" strike="noStrike">
              <a:solidFill>
                <a:srgbClr val="000000"/>
              </a:solidFill>
              <a:effectLst/>
              <a:uFillTx/>
              <a:latin typeface="Arial"/>
            </a:endParaRPr>
          </a:p>
        </p:txBody>
      </p:sp>
      <p:sp>
        <p:nvSpPr>
          <p:cNvPr id="1950" name="Banner 2021"/>
          <p:cNvSpPr/>
          <p:nvPr/>
        </p:nvSpPr>
        <p:spPr>
          <a:xfrm>
            <a:off x="502920" y="5469840"/>
            <a:ext cx="11185200" cy="7488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p>
            <a:pPr defTabSz="914400">
              <a:lnSpc>
                <a:spcPct val="100000"/>
              </a:lnSpc>
              <a:spcAft>
                <a:spcPts val="150"/>
              </a:spcAft>
            </a:pPr>
            <a:r>
              <a:rPr lang="en-US" sz="1050" b="1" u="none" strike="noStrike">
                <a:solidFill>
                  <a:srgbClr val="102A4C"/>
                </a:solidFill>
                <a:effectLst/>
                <a:uFillTx/>
                <a:latin typeface="Aptos"/>
              </a:rPr>
              <a:t>Figure 3.14 is bidirectional best-first search. Pass path cost as both fF and fB and you have bidirectional uniform-cost search — the version that carries the guarantees.</a:t>
            </a:r>
            <a:endParaRPr lang="en-US" sz="1050" b="0" u="none" strike="noStrike">
              <a:solidFill>
                <a:srgbClr val="000000"/>
              </a:solidFill>
              <a:effectLst/>
              <a:uFillTx/>
              <a:latin typeface="Arial"/>
            </a:endParaRPr>
          </a:p>
          <a:p>
            <a:pPr defTabSz="914400">
              <a:lnSpc>
                <a:spcPct val="100000"/>
              </a:lnSpc>
            </a:pPr>
            <a:r>
              <a:rPr lang="en-US" sz="950" b="0" u="none" strike="noStrike">
                <a:solidFill>
                  <a:srgbClr val="5C6B80"/>
                </a:solidFill>
                <a:effectLst/>
                <a:uFillTx/>
                <a:latin typeface="Aptos"/>
              </a:rPr>
              <a:t>Pass depth as both and you have the bidirectional BFS most textbooks draw as two circles growing toward each other.</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951" name="HeaderBar 200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52" name="AccentBar 200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53" name="Title 200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2600" b="1" u="none" strike="noStrike">
                <a:solidFill>
                  <a:srgbClr val="FFFFFF"/>
                </a:solidFill>
                <a:effectLst/>
                <a:uFillTx/>
                <a:latin typeface="Aptos"/>
              </a:rPr>
              <a:t>Inside PROCEED: Where the Two Searches Meet</a:t>
            </a:r>
            <a:endParaRPr lang="en-US" sz="2600" b="0" u="none" strike="noStrike">
              <a:solidFill>
                <a:srgbClr val="000000"/>
              </a:solidFill>
              <a:effectLst/>
              <a:uFillTx/>
              <a:latin typeface="Arial"/>
            </a:endParaRPr>
          </a:p>
        </p:txBody>
      </p:sp>
      <p:sp>
        <p:nvSpPr>
          <p:cNvPr id="1954" name="FooterL 200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955" name="FooterR 200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956" name="CodeCard 2006"/>
          <p:cNvSpPr/>
          <p:nvPr/>
        </p:nvSpPr>
        <p:spPr>
          <a:xfrm>
            <a:off x="502920" y="1239840"/>
            <a:ext cx="7399080" cy="259884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57" name="CodeCap 2007"/>
          <p:cNvSpPr/>
          <p:nvPr/>
        </p:nvSpPr>
        <p:spPr>
          <a:xfrm>
            <a:off x="777240" y="1468440"/>
            <a:ext cx="6850440" cy="19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900" b="1" u="none" strike="noStrike">
                <a:solidFill>
                  <a:srgbClr val="F6A01A"/>
                </a:solidFill>
                <a:effectLst/>
                <a:uFillTx/>
                <a:latin typeface="Aptos"/>
              </a:rPr>
              <a:t>AIMA 4th ed., Figure 3.14 (lower half)</a:t>
            </a:r>
            <a:endParaRPr lang="en-US" sz="900" b="0" u="none" strike="noStrike">
              <a:solidFill>
                <a:srgbClr val="000000"/>
              </a:solidFill>
              <a:effectLst/>
              <a:uFillTx/>
              <a:latin typeface="Arial"/>
            </a:endParaRPr>
          </a:p>
        </p:txBody>
      </p:sp>
      <p:sp>
        <p:nvSpPr>
          <p:cNvPr id="1958" name="CodeBody 2008"/>
          <p:cNvSpPr/>
          <p:nvPr/>
        </p:nvSpPr>
        <p:spPr>
          <a:xfrm>
            <a:off x="777240" y="1768680"/>
            <a:ext cx="6850440" cy="18417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119"/>
              </a:spcAft>
            </a:pPr>
            <a:r>
              <a:rPr lang="en-US" sz="900" b="1" u="none" strike="noStrike">
                <a:solidFill>
                  <a:srgbClr val="F6A01A"/>
                </a:solidFill>
                <a:effectLst/>
                <a:uFillTx/>
                <a:latin typeface="Consolas"/>
              </a:rPr>
              <a:t>function</a:t>
            </a:r>
            <a:r>
              <a:rPr lang="en-US" sz="900" b="0" u="none" strike="noStrike">
                <a:solidFill>
                  <a:srgbClr val="EAF2FF"/>
                </a:solidFill>
                <a:effectLst/>
                <a:uFillTx/>
                <a:latin typeface="Consolas"/>
              </a:rPr>
              <a:t> PROCEED(dir, problem, frontier, reached, reached2, solution) </a:t>
            </a:r>
            <a:r>
              <a:rPr lang="en-US" sz="900" b="1" u="none" strike="noStrike">
                <a:solidFill>
                  <a:srgbClr val="F6A01A"/>
                </a:solidFill>
                <a:effectLst/>
                <a:uFillTx/>
                <a:latin typeface="Consolas"/>
              </a:rPr>
              <a:t>returns</a:t>
            </a:r>
            <a:r>
              <a:rPr lang="en-US" sz="900" b="0" u="none" strike="noStrike">
                <a:solidFill>
                  <a:srgbClr val="EAF2FF"/>
                </a:solidFill>
                <a:effectLst/>
                <a:uFillTx/>
                <a:latin typeface="Consolas"/>
              </a:rPr>
              <a:t> a solution</a:t>
            </a:r>
            <a:endParaRPr lang="en-US" sz="900" b="0" u="none" strike="noStrike">
              <a:solidFill>
                <a:srgbClr val="000000"/>
              </a:solidFill>
              <a:effectLst/>
              <a:uFillTx/>
              <a:latin typeface="Arial"/>
            </a:endParaRPr>
          </a:p>
          <a:p>
            <a:pPr defTabSz="914400">
              <a:lnSpc>
                <a:spcPct val="100000"/>
              </a:lnSpc>
              <a:spcAft>
                <a:spcPts val="119"/>
              </a:spcAft>
            </a:pP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node ← POP(frontier)</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a:t>
            </a:r>
            <a:r>
              <a:rPr lang="en-US" sz="900" b="1" u="none" strike="noStrike">
                <a:solidFill>
                  <a:srgbClr val="F6A01A"/>
                </a:solidFill>
                <a:effectLst/>
                <a:uFillTx/>
                <a:latin typeface="Consolas"/>
              </a:rPr>
              <a:t>for</a:t>
            </a:r>
            <a:r>
              <a:rPr lang="en-US" sz="900" b="0" u="none" strike="noStrike">
                <a:solidFill>
                  <a:srgbClr val="EAF2FF"/>
                </a:solidFill>
                <a:effectLst/>
                <a:uFillTx/>
                <a:latin typeface="Consolas"/>
              </a:rPr>
              <a:t> </a:t>
            </a:r>
            <a:r>
              <a:rPr lang="en-US" sz="900" b="1" u="none" strike="noStrike">
                <a:solidFill>
                  <a:srgbClr val="F6A01A"/>
                </a:solidFill>
                <a:effectLst/>
                <a:uFillTx/>
                <a:latin typeface="Consolas"/>
              </a:rPr>
              <a:t>each</a:t>
            </a:r>
            <a:r>
              <a:rPr lang="en-US" sz="900" b="0" u="none" strike="noStrike">
                <a:solidFill>
                  <a:srgbClr val="EAF2FF"/>
                </a:solidFill>
                <a:effectLst/>
                <a:uFillTx/>
                <a:latin typeface="Consolas"/>
              </a:rPr>
              <a:t> child in EXPAND(problem, node) </a:t>
            </a:r>
            <a:r>
              <a:rPr lang="en-US" sz="900" b="1" u="none" strike="noStrike">
                <a:solidFill>
                  <a:srgbClr val="F6A01A"/>
                </a:solidFill>
                <a:effectLst/>
                <a:uFillTx/>
                <a:latin typeface="Consolas"/>
              </a:rPr>
              <a:t>do</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s ← child.STATE</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a:t>
            </a:r>
            <a:r>
              <a:rPr lang="en-US" sz="900" b="1" u="none" strike="noStrike">
                <a:solidFill>
                  <a:srgbClr val="F6A01A"/>
                </a:solidFill>
                <a:effectLst/>
                <a:uFillTx/>
                <a:latin typeface="Consolas"/>
              </a:rPr>
              <a:t>if</a:t>
            </a:r>
            <a:r>
              <a:rPr lang="en-US" sz="900" b="0" u="none" strike="noStrike">
                <a:solidFill>
                  <a:srgbClr val="EAF2FF"/>
                </a:solidFill>
                <a:effectLst/>
                <a:uFillTx/>
                <a:latin typeface="Consolas"/>
              </a:rPr>
              <a:t> s </a:t>
            </a:r>
            <a:r>
              <a:rPr lang="en-US" sz="900" b="1" u="none" strike="noStrike">
                <a:solidFill>
                  <a:srgbClr val="F6A01A"/>
                </a:solidFill>
                <a:effectLst/>
                <a:uFillTx/>
                <a:latin typeface="Consolas"/>
              </a:rPr>
              <a:t>not</a:t>
            </a:r>
            <a:r>
              <a:rPr lang="en-US" sz="900" b="0" u="none" strike="noStrike">
                <a:solidFill>
                  <a:srgbClr val="EAF2FF"/>
                </a:solidFill>
                <a:effectLst/>
                <a:uFillTx/>
                <a:latin typeface="Consolas"/>
              </a:rPr>
              <a:t> in reached </a:t>
            </a:r>
            <a:r>
              <a:rPr lang="en-US" sz="900" b="1" u="none" strike="noStrike">
                <a:solidFill>
                  <a:srgbClr val="F6A01A"/>
                </a:solidFill>
                <a:effectLst/>
                <a:uFillTx/>
                <a:latin typeface="Consolas"/>
              </a:rPr>
              <a:t>or</a:t>
            </a:r>
            <a:r>
              <a:rPr lang="en-US" sz="900" b="0" u="none" strike="noStrike">
                <a:solidFill>
                  <a:srgbClr val="EAF2FF"/>
                </a:solidFill>
                <a:effectLst/>
                <a:uFillTx/>
                <a:latin typeface="Consolas"/>
              </a:rPr>
              <a:t> PATH-COST(child) &lt; PATH-COST(reached[s]) </a:t>
            </a:r>
            <a:r>
              <a:rPr lang="en-US" sz="900" b="1" u="none" strike="noStrike">
                <a:solidFill>
                  <a:srgbClr val="F6A01A"/>
                </a:solidFill>
                <a:effectLst/>
                <a:uFillTx/>
                <a:latin typeface="Consolas"/>
              </a:rPr>
              <a:t>then</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reached[s] ← child</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add child </a:t>
            </a:r>
            <a:r>
              <a:rPr lang="en-US" sz="900" b="1" u="none" strike="noStrike">
                <a:solidFill>
                  <a:srgbClr val="F6A01A"/>
                </a:solidFill>
                <a:effectLst/>
                <a:uFillTx/>
                <a:latin typeface="Consolas"/>
              </a:rPr>
              <a:t>to</a:t>
            </a:r>
            <a:r>
              <a:rPr lang="en-US" sz="900" b="0" u="none" strike="noStrike">
                <a:solidFill>
                  <a:srgbClr val="EAF2FF"/>
                </a:solidFill>
                <a:effectLst/>
                <a:uFillTx/>
                <a:latin typeface="Consolas"/>
              </a:rPr>
              <a:t> frontier</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a:t>
            </a:r>
            <a:r>
              <a:rPr lang="en-US" sz="900" b="1" u="none" strike="noStrike">
                <a:solidFill>
                  <a:srgbClr val="F6A01A"/>
                </a:solidFill>
                <a:effectLst/>
                <a:uFillTx/>
                <a:latin typeface="Consolas"/>
              </a:rPr>
              <a:t>if</a:t>
            </a:r>
            <a:r>
              <a:rPr lang="en-US" sz="900" b="0" u="none" strike="noStrike">
                <a:solidFill>
                  <a:srgbClr val="EAF2FF"/>
                </a:solidFill>
                <a:effectLst/>
                <a:uFillTx/>
                <a:latin typeface="Consolas"/>
              </a:rPr>
              <a:t> s is in reached2 </a:t>
            </a:r>
            <a:r>
              <a:rPr lang="en-US" sz="900" b="1" u="none" strike="noStrike">
                <a:solidFill>
                  <a:srgbClr val="F6A01A"/>
                </a:solidFill>
                <a:effectLst/>
                <a:uFillTx/>
                <a:latin typeface="Consolas"/>
              </a:rPr>
              <a:t>then</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solution2 ← JOIN-NODES(dir, child, reached2[s])</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a:t>
            </a:r>
            <a:r>
              <a:rPr lang="en-US" sz="900" b="1" u="none" strike="noStrike">
                <a:solidFill>
                  <a:srgbClr val="F6A01A"/>
                </a:solidFill>
                <a:effectLst/>
                <a:uFillTx/>
                <a:latin typeface="Consolas"/>
              </a:rPr>
              <a:t>if</a:t>
            </a:r>
            <a:r>
              <a:rPr lang="en-US" sz="900" b="0" u="none" strike="noStrike">
                <a:solidFill>
                  <a:srgbClr val="EAF2FF"/>
                </a:solidFill>
                <a:effectLst/>
                <a:uFillTx/>
                <a:latin typeface="Consolas"/>
              </a:rPr>
              <a:t> PATH-COST(solution2) &lt; PATH-COST(solution) </a:t>
            </a:r>
            <a:r>
              <a:rPr lang="en-US" sz="900" b="1" u="none" strike="noStrike">
                <a:solidFill>
                  <a:srgbClr val="F6A01A"/>
                </a:solidFill>
                <a:effectLst/>
                <a:uFillTx/>
                <a:latin typeface="Consolas"/>
              </a:rPr>
              <a:t>then</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solution ← solution2</a:t>
            </a:r>
            <a:endParaRPr lang="en-US" sz="900" b="0" u="none" strike="noStrike">
              <a:solidFill>
                <a:srgbClr val="000000"/>
              </a:solidFill>
              <a:effectLst/>
              <a:uFillTx/>
              <a:latin typeface="Arial"/>
            </a:endParaRPr>
          </a:p>
          <a:p>
            <a:pPr defTabSz="914400">
              <a:lnSpc>
                <a:spcPct val="100000"/>
              </a:lnSpc>
              <a:spcAft>
                <a:spcPts val="119"/>
              </a:spcAft>
            </a:pPr>
            <a:r>
              <a:rPr lang="en-US" sz="900" b="0" u="none" strike="noStrike">
                <a:solidFill>
                  <a:srgbClr val="EAF2FF"/>
                </a:solidFill>
                <a:effectLst/>
                <a:uFillTx/>
                <a:latin typeface="Consolas"/>
              </a:rPr>
              <a:t>    </a:t>
            </a:r>
            <a:r>
              <a:rPr lang="en-US" sz="900" b="1" u="none" strike="noStrike">
                <a:solidFill>
                  <a:srgbClr val="F6A01A"/>
                </a:solidFill>
                <a:effectLst/>
                <a:uFillTx/>
                <a:latin typeface="Consolas"/>
              </a:rPr>
              <a:t>return</a:t>
            </a:r>
            <a:r>
              <a:rPr lang="en-US" sz="900" b="0" u="none" strike="noStrike">
                <a:solidFill>
                  <a:srgbClr val="EAF2FF"/>
                </a:solidFill>
                <a:effectLst/>
                <a:uFillTx/>
                <a:latin typeface="Consolas"/>
              </a:rPr>
              <a:t> solution</a:t>
            </a:r>
            <a:endParaRPr lang="en-US" sz="900" b="0" u="none" strike="noStrike">
              <a:solidFill>
                <a:srgbClr val="000000"/>
              </a:solidFill>
              <a:effectLst/>
              <a:uFillTx/>
              <a:latin typeface="Arial"/>
            </a:endParaRPr>
          </a:p>
        </p:txBody>
      </p:sp>
      <p:sp>
        <p:nvSpPr>
          <p:cNvPr id="1959" name="NoteCard 2009"/>
          <p:cNvSpPr/>
          <p:nvPr/>
        </p:nvSpPr>
        <p:spPr>
          <a:xfrm>
            <a:off x="8177400" y="1239840"/>
            <a:ext cx="3510720" cy="774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60" name="CardHead 2010"/>
          <p:cNvSpPr/>
          <p:nvPr/>
        </p:nvSpPr>
        <p:spPr>
          <a:xfrm>
            <a:off x="8382960" y="1377000"/>
            <a:ext cx="30992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00" b="1" u="none" strike="noStrike">
                <a:solidFill>
                  <a:srgbClr val="112E5C"/>
                </a:solidFill>
                <a:effectLst/>
                <a:uFillTx/>
                <a:latin typeface="Aptos"/>
              </a:rPr>
              <a:t>①  An ordinary expansion</a:t>
            </a:r>
            <a:endParaRPr lang="en-US" sz="1000" b="0" u="none" strike="noStrike">
              <a:solidFill>
                <a:srgbClr val="000000"/>
              </a:solidFill>
              <a:effectLst/>
              <a:uFillTx/>
              <a:latin typeface="Arial"/>
            </a:endParaRPr>
          </a:p>
        </p:txBody>
      </p:sp>
      <p:sp>
        <p:nvSpPr>
          <p:cNvPr id="1961" name="CardBody 2011"/>
          <p:cNvSpPr/>
          <p:nvPr/>
        </p:nvSpPr>
        <p:spPr>
          <a:xfrm>
            <a:off x="8382960" y="1605600"/>
            <a:ext cx="3099240" cy="271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102A4C"/>
                </a:solidFill>
                <a:effectLst/>
                <a:uFillTx/>
                <a:latin typeface="Aptos"/>
              </a:rPr>
              <a:t>Pop, expand, and apply the same re-add rule you already met in best-first search.</a:t>
            </a:r>
            <a:endParaRPr lang="en-US" sz="900" b="0" u="none" strike="noStrike">
              <a:solidFill>
                <a:srgbClr val="000000"/>
              </a:solidFill>
              <a:effectLst/>
              <a:uFillTx/>
              <a:latin typeface="Arial"/>
            </a:endParaRPr>
          </a:p>
        </p:txBody>
      </p:sp>
      <p:sp>
        <p:nvSpPr>
          <p:cNvPr id="1962" name="NoteCard 2012"/>
          <p:cNvSpPr/>
          <p:nvPr/>
        </p:nvSpPr>
        <p:spPr>
          <a:xfrm>
            <a:off x="8177400" y="2152440"/>
            <a:ext cx="3510720" cy="774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63" name="CardHead 2013"/>
          <p:cNvSpPr/>
          <p:nvPr/>
        </p:nvSpPr>
        <p:spPr>
          <a:xfrm>
            <a:off x="8382960" y="2289600"/>
            <a:ext cx="30992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00" b="1" u="none" strike="noStrike">
                <a:solidFill>
                  <a:srgbClr val="112E5C"/>
                </a:solidFill>
                <a:effectLst/>
                <a:uFillTx/>
                <a:latin typeface="Aptos"/>
              </a:rPr>
              <a:t>②  The collision test</a:t>
            </a:r>
            <a:endParaRPr lang="en-US" sz="1000" b="0" u="none" strike="noStrike">
              <a:solidFill>
                <a:srgbClr val="000000"/>
              </a:solidFill>
              <a:effectLst/>
              <a:uFillTx/>
              <a:latin typeface="Arial"/>
            </a:endParaRPr>
          </a:p>
        </p:txBody>
      </p:sp>
      <p:sp>
        <p:nvSpPr>
          <p:cNvPr id="1964" name="CardBody 2014"/>
          <p:cNvSpPr/>
          <p:nvPr/>
        </p:nvSpPr>
        <p:spPr>
          <a:xfrm>
            <a:off x="8382960" y="2518200"/>
            <a:ext cx="3099240" cy="271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102A4C"/>
                </a:solidFill>
                <a:effectLst/>
                <a:uFillTx/>
                <a:latin typeface="Aptos"/>
              </a:rPr>
              <a:t>if s is in reached2 — the state this half just reached was already reached by the other half.</a:t>
            </a:r>
            <a:endParaRPr lang="en-US" sz="900" b="0" u="none" strike="noStrike">
              <a:solidFill>
                <a:srgbClr val="000000"/>
              </a:solidFill>
              <a:effectLst/>
              <a:uFillTx/>
              <a:latin typeface="Arial"/>
            </a:endParaRPr>
          </a:p>
        </p:txBody>
      </p:sp>
      <p:sp>
        <p:nvSpPr>
          <p:cNvPr id="1965" name="NoteCard 2015"/>
          <p:cNvSpPr/>
          <p:nvPr/>
        </p:nvSpPr>
        <p:spPr>
          <a:xfrm>
            <a:off x="8177400" y="3064680"/>
            <a:ext cx="3510720" cy="774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66" name="CardHead 2016"/>
          <p:cNvSpPr/>
          <p:nvPr/>
        </p:nvSpPr>
        <p:spPr>
          <a:xfrm>
            <a:off x="8382960" y="3201840"/>
            <a:ext cx="30992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000" b="1" u="none" strike="noStrike">
                <a:solidFill>
                  <a:srgbClr val="112E5C"/>
                </a:solidFill>
                <a:effectLst/>
                <a:uFillTx/>
                <a:latin typeface="Aptos"/>
              </a:rPr>
              <a:t>③  Join, then compare</a:t>
            </a:r>
            <a:endParaRPr lang="en-US" sz="1000" b="0" u="none" strike="noStrike">
              <a:solidFill>
                <a:srgbClr val="000000"/>
              </a:solidFill>
              <a:effectLst/>
              <a:uFillTx/>
              <a:latin typeface="Arial"/>
            </a:endParaRPr>
          </a:p>
        </p:txBody>
      </p:sp>
      <p:sp>
        <p:nvSpPr>
          <p:cNvPr id="1967" name="CardBody 2017"/>
          <p:cNvSpPr/>
          <p:nvPr/>
        </p:nvSpPr>
        <p:spPr>
          <a:xfrm>
            <a:off x="8382960" y="3430440"/>
            <a:ext cx="3099240" cy="271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900" b="0" u="none" strike="noStrike">
                <a:solidFill>
                  <a:srgbClr val="102A4C"/>
                </a:solidFill>
                <a:effectLst/>
                <a:uFillTx/>
                <a:latin typeface="Aptos"/>
              </a:rPr>
              <a:t>JOIN-NODES glues the two half-paths, reversing the backward one — and keeps it only if it beats the best so far.</a:t>
            </a:r>
            <a:endParaRPr lang="en-US" sz="900" b="0" u="none" strike="noStrike">
              <a:solidFill>
                <a:srgbClr val="000000"/>
              </a:solidFill>
              <a:effectLst/>
              <a:uFillTx/>
              <a:latin typeface="Arial"/>
            </a:endParaRPr>
          </a:p>
        </p:txBody>
      </p:sp>
      <p:sp>
        <p:nvSpPr>
          <p:cNvPr id="1968" name="NoteCard 2018"/>
          <p:cNvSpPr/>
          <p:nvPr/>
        </p:nvSpPr>
        <p:spPr>
          <a:xfrm>
            <a:off x="502920" y="4068720"/>
            <a:ext cx="11185200" cy="11487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69" name="CardHead 2019"/>
          <p:cNvSpPr/>
          <p:nvPr/>
        </p:nvSpPr>
        <p:spPr>
          <a:xfrm>
            <a:off x="708840" y="4205880"/>
            <a:ext cx="1077372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200" b="1" u="none" strike="noStrike">
                <a:solidFill>
                  <a:srgbClr val="112E5C"/>
                </a:solidFill>
                <a:effectLst/>
                <a:uFillTx/>
                <a:latin typeface="Aptos"/>
              </a:rPr>
              <a:t>Why the first meeting is not the answer</a:t>
            </a:r>
            <a:endParaRPr lang="en-US" sz="1200" b="0" u="none" strike="noStrike">
              <a:solidFill>
                <a:srgbClr val="000000"/>
              </a:solidFill>
              <a:effectLst/>
              <a:uFillTx/>
              <a:latin typeface="Arial"/>
            </a:endParaRPr>
          </a:p>
        </p:txBody>
      </p:sp>
      <p:sp>
        <p:nvSpPr>
          <p:cNvPr id="1970" name="CardBody 2020"/>
          <p:cNvSpPr/>
          <p:nvPr/>
        </p:nvSpPr>
        <p:spPr>
          <a:xfrm>
            <a:off x="708840" y="4434480"/>
            <a:ext cx="10773720" cy="6458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4000"/>
              </a:lnSpc>
            </a:pPr>
            <a:r>
              <a:rPr lang="en-US" sz="1000" b="0" u="none" strike="noStrike">
                <a:solidFill>
                  <a:srgbClr val="102A4C"/>
                </a:solidFill>
                <a:effectLst/>
                <a:uFillTx/>
                <a:latin typeface="Aptos"/>
              </a:rPr>
              <a:t>When the frontiers first touch you have a complete start-to-goal path, but not necessarily the cheapest one: a shorter joint may still be assembled from nodes already sitting on both frontiers. So PROCEED records the best joint found so far and lets TERMINATED decide when no better one can remain. With path cost as both evaluation functions the bound is sharp — no node with g(n) greater than C*/2 is ever expanded, and that is exactly where the O(b</a:t>
            </a:r>
            <a:r>
              <a:rPr lang="en-US" sz="1000" b="0" u="none" strike="noStrike" baseline="30000">
                <a:solidFill>
                  <a:srgbClr val="102A4C"/>
                </a:solidFill>
                <a:effectLst/>
                <a:uFillTx/>
                <a:latin typeface="Aptos"/>
              </a:rPr>
              <a:t>d/2</a:t>
            </a:r>
            <a:r>
              <a:rPr lang="en-US" sz="1000" b="0" u="none" strike="noStrike">
                <a:solidFill>
                  <a:srgbClr val="102A4C"/>
                </a:solidFill>
                <a:effectLst/>
                <a:uFillTx/>
                <a:latin typeface="Aptos"/>
              </a:rPr>
              <a:t>) saving comes from.</a:t>
            </a:r>
            <a:endParaRPr lang="en-US" sz="1000" b="0" u="none" strike="noStrike">
              <a:solidFill>
                <a:srgbClr val="000000"/>
              </a:solidFill>
              <a:effectLst/>
              <a:uFillTx/>
              <a:latin typeface="Arial"/>
            </a:endParaRPr>
          </a:p>
        </p:txBody>
      </p:sp>
      <p:sp>
        <p:nvSpPr>
          <p:cNvPr id="1971" name="Banner 2021"/>
          <p:cNvSpPr/>
          <p:nvPr/>
        </p:nvSpPr>
        <p:spPr>
          <a:xfrm>
            <a:off x="502920" y="5339880"/>
            <a:ext cx="11185200" cy="87876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p>
            <a:pPr defTabSz="914400">
              <a:lnSpc>
                <a:spcPct val="100000"/>
              </a:lnSpc>
              <a:spcAft>
                <a:spcPts val="181"/>
              </a:spcAft>
            </a:pPr>
            <a:r>
              <a:rPr lang="en-US" sz="1100" b="1" u="none" strike="noStrike">
                <a:solidFill>
                  <a:srgbClr val="102A4C"/>
                </a:solidFill>
                <a:effectLst/>
                <a:uFillTx/>
                <a:latin typeface="Aptos"/>
              </a:rPr>
              <a:t>Trace it on the Romania map: run forward from Arad and backward from Bucharest.</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5C6B80"/>
                </a:solidFill>
                <a:effectLst/>
                <a:uFillTx/>
                <a:latin typeface="Aptos"/>
              </a:rPr>
              <a:t>The first city to appear in both reached tables is the collision, and the returned solution is the concatenation of two paths you already had in hand — one of them read backwards.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1972" name="HeaderBar 200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73" name="AccentBar 200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1974" name="Title 200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2600" b="1" u="none" strike="noStrike">
                <a:solidFill>
                  <a:srgbClr val="FFFFFF"/>
                </a:solidFill>
                <a:effectLst/>
                <a:uFillTx/>
                <a:latin typeface="Aptos"/>
              </a:rPr>
              <a:t>Figure 3.15: Comparing Uninformed Search Algorithms</a:t>
            </a:r>
            <a:endParaRPr lang="en-US" sz="2600" b="0" u="none" strike="noStrike">
              <a:solidFill>
                <a:srgbClr val="000000"/>
              </a:solidFill>
              <a:effectLst/>
              <a:uFillTx/>
              <a:latin typeface="Arial"/>
            </a:endParaRPr>
          </a:p>
        </p:txBody>
      </p:sp>
      <p:sp>
        <p:nvSpPr>
          <p:cNvPr id="1975" name="FooterL 200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976" name="FooterR 200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977" name="H 2006"/>
          <p:cNvSpPr/>
          <p:nvPr/>
        </p:nvSpPr>
        <p:spPr>
          <a:xfrm>
            <a:off x="502920" y="1299960"/>
            <a:ext cx="1698840" cy="6188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90000" tIns="91440" rIns="90000" bIns="91440" anchor="ctr">
            <a:noAutofit/>
          </a:bodyPr>
          <a:p>
            <a:pPr defTabSz="914400">
              <a:lnSpc>
                <a:spcPct val="100000"/>
              </a:lnSpc>
            </a:pPr>
            <a:r>
              <a:rPr lang="en-US" sz="1000" b="1" u="none" strike="noStrike">
                <a:solidFill>
                  <a:srgbClr val="FFFFFF"/>
                </a:solidFill>
                <a:effectLst/>
                <a:uFillTx/>
                <a:latin typeface="Aptos"/>
              </a:rPr>
              <a:t>Criterion</a:t>
            </a:r>
            <a:endParaRPr lang="en-US" sz="1000" b="0" u="none" strike="noStrike">
              <a:solidFill>
                <a:srgbClr val="FFFFFF"/>
              </a:solidFill>
              <a:effectLst/>
              <a:uFillTx/>
              <a:latin typeface="Arial"/>
            </a:endParaRPr>
          </a:p>
        </p:txBody>
      </p:sp>
      <p:sp>
        <p:nvSpPr>
          <p:cNvPr id="1978" name="H 2007"/>
          <p:cNvSpPr/>
          <p:nvPr/>
        </p:nvSpPr>
        <p:spPr>
          <a:xfrm>
            <a:off x="2202840" y="1299960"/>
            <a:ext cx="1580040" cy="6188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spcAft>
                <a:spcPts val="60"/>
              </a:spcAft>
            </a:pPr>
            <a:r>
              <a:rPr lang="en-US" sz="950" b="1" u="none" strike="noStrike">
                <a:solidFill>
                  <a:srgbClr val="FFFFFF"/>
                </a:solidFill>
                <a:effectLst/>
                <a:uFillTx/>
                <a:latin typeface="Aptos"/>
              </a:rPr>
              <a:t>Breadth-</a:t>
            </a:r>
            <a:endParaRPr lang="en-US" sz="950" b="0" u="none" strike="noStrike">
              <a:solidFill>
                <a:srgbClr val="FFFFFF"/>
              </a:solidFill>
              <a:effectLst/>
              <a:uFillTx/>
              <a:latin typeface="Arial"/>
            </a:endParaRPr>
          </a:p>
          <a:p>
            <a:pPr algn="ctr" defTabSz="914400">
              <a:lnSpc>
                <a:spcPct val="100000"/>
              </a:lnSpc>
            </a:pPr>
            <a:r>
              <a:rPr lang="en-US" sz="950" b="1" u="none" strike="noStrike">
                <a:solidFill>
                  <a:srgbClr val="FFFFFF"/>
                </a:solidFill>
                <a:effectLst/>
                <a:uFillTx/>
                <a:latin typeface="Aptos"/>
              </a:rPr>
              <a:t>First</a:t>
            </a:r>
            <a:endParaRPr lang="en-US" sz="950" b="0" u="none" strike="noStrike">
              <a:solidFill>
                <a:srgbClr val="FFFFFF"/>
              </a:solidFill>
              <a:effectLst/>
              <a:uFillTx/>
              <a:latin typeface="Arial"/>
            </a:endParaRPr>
          </a:p>
        </p:txBody>
      </p:sp>
      <p:sp>
        <p:nvSpPr>
          <p:cNvPr id="1979" name="H 2008"/>
          <p:cNvSpPr/>
          <p:nvPr/>
        </p:nvSpPr>
        <p:spPr>
          <a:xfrm>
            <a:off x="3783960" y="1299960"/>
            <a:ext cx="1580040" cy="6188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spcAft>
                <a:spcPts val="60"/>
              </a:spcAft>
            </a:pPr>
            <a:r>
              <a:rPr lang="en-US" sz="950" b="1" u="none" strike="noStrike">
                <a:solidFill>
                  <a:srgbClr val="FFFFFF"/>
                </a:solidFill>
                <a:effectLst/>
                <a:uFillTx/>
                <a:latin typeface="Aptos"/>
              </a:rPr>
              <a:t>Uniform-</a:t>
            </a:r>
            <a:endParaRPr lang="en-US" sz="950" b="0" u="none" strike="noStrike">
              <a:solidFill>
                <a:srgbClr val="FFFFFF"/>
              </a:solidFill>
              <a:effectLst/>
              <a:uFillTx/>
              <a:latin typeface="Arial"/>
            </a:endParaRPr>
          </a:p>
          <a:p>
            <a:pPr algn="ctr" defTabSz="914400">
              <a:lnSpc>
                <a:spcPct val="100000"/>
              </a:lnSpc>
            </a:pPr>
            <a:r>
              <a:rPr lang="en-US" sz="950" b="1" u="none" strike="noStrike">
                <a:solidFill>
                  <a:srgbClr val="FFFFFF"/>
                </a:solidFill>
                <a:effectLst/>
                <a:uFillTx/>
                <a:latin typeface="Aptos"/>
              </a:rPr>
              <a:t>Cost</a:t>
            </a:r>
            <a:endParaRPr lang="en-US" sz="950" b="0" u="none" strike="noStrike">
              <a:solidFill>
                <a:srgbClr val="FFFFFF"/>
              </a:solidFill>
              <a:effectLst/>
              <a:uFillTx/>
              <a:latin typeface="Arial"/>
            </a:endParaRPr>
          </a:p>
        </p:txBody>
      </p:sp>
      <p:sp>
        <p:nvSpPr>
          <p:cNvPr id="1980" name="H 2009"/>
          <p:cNvSpPr/>
          <p:nvPr/>
        </p:nvSpPr>
        <p:spPr>
          <a:xfrm>
            <a:off x="5365080" y="1299960"/>
            <a:ext cx="1580040" cy="6188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spcAft>
                <a:spcPts val="60"/>
              </a:spcAft>
            </a:pPr>
            <a:r>
              <a:rPr lang="en-US" sz="950" b="1" u="none" strike="noStrike">
                <a:solidFill>
                  <a:srgbClr val="FFFFFF"/>
                </a:solidFill>
                <a:effectLst/>
                <a:uFillTx/>
                <a:latin typeface="Aptos"/>
              </a:rPr>
              <a:t>Depth-</a:t>
            </a:r>
            <a:endParaRPr lang="en-US" sz="950" b="0" u="none" strike="noStrike">
              <a:solidFill>
                <a:srgbClr val="FFFFFF"/>
              </a:solidFill>
              <a:effectLst/>
              <a:uFillTx/>
              <a:latin typeface="Arial"/>
            </a:endParaRPr>
          </a:p>
          <a:p>
            <a:pPr algn="ctr" defTabSz="914400">
              <a:lnSpc>
                <a:spcPct val="100000"/>
              </a:lnSpc>
            </a:pPr>
            <a:r>
              <a:rPr lang="en-US" sz="950" b="1" u="none" strike="noStrike">
                <a:solidFill>
                  <a:srgbClr val="FFFFFF"/>
                </a:solidFill>
                <a:effectLst/>
                <a:uFillTx/>
                <a:latin typeface="Aptos"/>
              </a:rPr>
              <a:t>First</a:t>
            </a:r>
            <a:endParaRPr lang="en-US" sz="950" b="0" u="none" strike="noStrike">
              <a:solidFill>
                <a:srgbClr val="FFFFFF"/>
              </a:solidFill>
              <a:effectLst/>
              <a:uFillTx/>
              <a:latin typeface="Arial"/>
            </a:endParaRPr>
          </a:p>
        </p:txBody>
      </p:sp>
      <p:sp>
        <p:nvSpPr>
          <p:cNvPr id="1981" name="H 2010"/>
          <p:cNvSpPr/>
          <p:nvPr/>
        </p:nvSpPr>
        <p:spPr>
          <a:xfrm>
            <a:off x="6945840" y="1299960"/>
            <a:ext cx="1580040" cy="6188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spcAft>
                <a:spcPts val="60"/>
              </a:spcAft>
            </a:pPr>
            <a:r>
              <a:rPr lang="en-US" sz="950" b="1" u="none" strike="noStrike">
                <a:solidFill>
                  <a:srgbClr val="FFFFFF"/>
                </a:solidFill>
                <a:effectLst/>
                <a:uFillTx/>
                <a:latin typeface="Aptos"/>
              </a:rPr>
              <a:t>Depth-</a:t>
            </a:r>
            <a:endParaRPr lang="en-US" sz="950" b="0" u="none" strike="noStrike">
              <a:solidFill>
                <a:srgbClr val="FFFFFF"/>
              </a:solidFill>
              <a:effectLst/>
              <a:uFillTx/>
              <a:latin typeface="Arial"/>
            </a:endParaRPr>
          </a:p>
          <a:p>
            <a:pPr algn="ctr" defTabSz="914400">
              <a:lnSpc>
                <a:spcPct val="100000"/>
              </a:lnSpc>
            </a:pPr>
            <a:r>
              <a:rPr lang="en-US" sz="950" b="1" u="none" strike="noStrike">
                <a:solidFill>
                  <a:srgbClr val="FFFFFF"/>
                </a:solidFill>
                <a:effectLst/>
                <a:uFillTx/>
                <a:latin typeface="Aptos"/>
              </a:rPr>
              <a:t>Limited</a:t>
            </a:r>
            <a:endParaRPr lang="en-US" sz="950" b="0" u="none" strike="noStrike">
              <a:solidFill>
                <a:srgbClr val="FFFFFF"/>
              </a:solidFill>
              <a:effectLst/>
              <a:uFillTx/>
              <a:latin typeface="Arial"/>
            </a:endParaRPr>
          </a:p>
        </p:txBody>
      </p:sp>
      <p:sp>
        <p:nvSpPr>
          <p:cNvPr id="1982" name="H 2011"/>
          <p:cNvSpPr/>
          <p:nvPr/>
        </p:nvSpPr>
        <p:spPr>
          <a:xfrm>
            <a:off x="8526960" y="1299960"/>
            <a:ext cx="1580040" cy="6188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spcAft>
                <a:spcPts val="60"/>
              </a:spcAft>
            </a:pPr>
            <a:r>
              <a:rPr lang="en-US" sz="950" b="1" u="none" strike="noStrike">
                <a:solidFill>
                  <a:srgbClr val="FFFFFF"/>
                </a:solidFill>
                <a:effectLst/>
                <a:uFillTx/>
                <a:latin typeface="Aptos"/>
              </a:rPr>
              <a:t>Iterative</a:t>
            </a:r>
            <a:endParaRPr lang="en-US" sz="950" b="0" u="none" strike="noStrike">
              <a:solidFill>
                <a:srgbClr val="FFFFFF"/>
              </a:solidFill>
              <a:effectLst/>
              <a:uFillTx/>
              <a:latin typeface="Arial"/>
            </a:endParaRPr>
          </a:p>
          <a:p>
            <a:pPr algn="ctr" defTabSz="914400">
              <a:lnSpc>
                <a:spcPct val="100000"/>
              </a:lnSpc>
            </a:pPr>
            <a:r>
              <a:rPr lang="en-US" sz="950" b="1" u="none" strike="noStrike">
                <a:solidFill>
                  <a:srgbClr val="FFFFFF"/>
                </a:solidFill>
                <a:effectLst/>
                <a:uFillTx/>
                <a:latin typeface="Aptos"/>
              </a:rPr>
              <a:t>Deepening</a:t>
            </a:r>
            <a:endParaRPr lang="en-US" sz="950" b="0" u="none" strike="noStrike">
              <a:solidFill>
                <a:srgbClr val="FFFFFF"/>
              </a:solidFill>
              <a:effectLst/>
              <a:uFillTx/>
              <a:latin typeface="Arial"/>
            </a:endParaRPr>
          </a:p>
        </p:txBody>
      </p:sp>
      <p:sp>
        <p:nvSpPr>
          <p:cNvPr id="1983" name="H 2012"/>
          <p:cNvSpPr/>
          <p:nvPr/>
        </p:nvSpPr>
        <p:spPr>
          <a:xfrm>
            <a:off x="10108080" y="1299960"/>
            <a:ext cx="1580040" cy="6188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spcAft>
                <a:spcPts val="60"/>
              </a:spcAft>
            </a:pPr>
            <a:r>
              <a:rPr lang="en-US" sz="950" b="1" u="none" strike="noStrike">
                <a:solidFill>
                  <a:srgbClr val="FFFFFF"/>
                </a:solidFill>
                <a:effectLst/>
                <a:uFillTx/>
                <a:latin typeface="Aptos"/>
              </a:rPr>
              <a:t>Bidirectional</a:t>
            </a:r>
            <a:endParaRPr lang="en-US" sz="950" b="0" u="none" strike="noStrike">
              <a:solidFill>
                <a:srgbClr val="FFFFFF"/>
              </a:solidFill>
              <a:effectLst/>
              <a:uFillTx/>
              <a:latin typeface="Arial"/>
            </a:endParaRPr>
          </a:p>
          <a:p>
            <a:pPr algn="ctr" defTabSz="914400">
              <a:lnSpc>
                <a:spcPct val="100000"/>
              </a:lnSpc>
            </a:pPr>
            <a:r>
              <a:rPr lang="en-US" sz="950" b="1" u="none" strike="noStrike">
                <a:solidFill>
                  <a:srgbClr val="FFFFFF"/>
                </a:solidFill>
                <a:effectLst/>
                <a:uFillTx/>
                <a:latin typeface="Aptos"/>
              </a:rPr>
              <a:t>(if applicable)</a:t>
            </a:r>
            <a:endParaRPr lang="en-US" sz="950" b="0" u="none" strike="noStrike">
              <a:solidFill>
                <a:srgbClr val="FFFFFF"/>
              </a:solidFill>
              <a:effectLst/>
              <a:uFillTx/>
              <a:latin typeface="Arial"/>
            </a:endParaRPr>
          </a:p>
        </p:txBody>
      </p:sp>
      <p:sp>
        <p:nvSpPr>
          <p:cNvPr id="1984" name="C 2013"/>
          <p:cNvSpPr/>
          <p:nvPr/>
        </p:nvSpPr>
        <p:spPr>
          <a:xfrm>
            <a:off x="502920" y="1919880"/>
            <a:ext cx="16988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90000" tIns="91440" rIns="90000" bIns="91440" anchor="ctr">
            <a:noAutofit/>
          </a:bodyPr>
          <a:p>
            <a:pPr defTabSz="914400">
              <a:lnSpc>
                <a:spcPct val="100000"/>
              </a:lnSpc>
            </a:pPr>
            <a:r>
              <a:rPr lang="en-US" sz="1000" b="1" u="none" strike="noStrike">
                <a:solidFill>
                  <a:srgbClr val="112E5C"/>
                </a:solidFill>
                <a:effectLst/>
                <a:uFillTx/>
                <a:latin typeface="Aptos"/>
              </a:rPr>
              <a:t>Complete?</a:t>
            </a:r>
            <a:endParaRPr lang="en-US" sz="1000" b="0" u="none" strike="noStrike">
              <a:solidFill>
                <a:srgbClr val="000000"/>
              </a:solidFill>
              <a:effectLst/>
              <a:uFillTx/>
              <a:latin typeface="Arial"/>
            </a:endParaRPr>
          </a:p>
        </p:txBody>
      </p:sp>
      <p:sp>
        <p:nvSpPr>
          <p:cNvPr id="1985" name="C 2014"/>
          <p:cNvSpPr/>
          <p:nvPr/>
        </p:nvSpPr>
        <p:spPr>
          <a:xfrm>
            <a:off x="2202840" y="191988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Yes</a:t>
            </a:r>
            <a:r>
              <a:rPr lang="en-US" sz="950" b="0" u="none" strike="noStrike" baseline="30000">
                <a:solidFill>
                  <a:srgbClr val="102A4C"/>
                </a:solidFill>
                <a:effectLst/>
                <a:uFillTx/>
                <a:latin typeface="Aptos"/>
              </a:rPr>
              <a:t>1</a:t>
            </a:r>
            <a:endParaRPr lang="en-US" sz="950" b="0" u="none" strike="noStrike">
              <a:solidFill>
                <a:srgbClr val="000000"/>
              </a:solidFill>
              <a:effectLst/>
              <a:uFillTx/>
              <a:latin typeface="Arial"/>
            </a:endParaRPr>
          </a:p>
        </p:txBody>
      </p:sp>
      <p:sp>
        <p:nvSpPr>
          <p:cNvPr id="1986" name="C 2015"/>
          <p:cNvSpPr/>
          <p:nvPr/>
        </p:nvSpPr>
        <p:spPr>
          <a:xfrm>
            <a:off x="3783960" y="191988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Yes</a:t>
            </a:r>
            <a:r>
              <a:rPr lang="en-US" sz="950" b="0" u="none" strike="noStrike" baseline="30000">
                <a:solidFill>
                  <a:srgbClr val="102A4C"/>
                </a:solidFill>
                <a:effectLst/>
                <a:uFillTx/>
                <a:latin typeface="Aptos"/>
              </a:rPr>
              <a:t>1,2</a:t>
            </a:r>
            <a:endParaRPr lang="en-US" sz="950" b="0" u="none" strike="noStrike">
              <a:solidFill>
                <a:srgbClr val="000000"/>
              </a:solidFill>
              <a:effectLst/>
              <a:uFillTx/>
              <a:latin typeface="Arial"/>
            </a:endParaRPr>
          </a:p>
        </p:txBody>
      </p:sp>
      <p:sp>
        <p:nvSpPr>
          <p:cNvPr id="1987" name="C 2016"/>
          <p:cNvSpPr/>
          <p:nvPr/>
        </p:nvSpPr>
        <p:spPr>
          <a:xfrm>
            <a:off x="5365080" y="191988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No</a:t>
            </a:r>
            <a:endParaRPr lang="en-US" sz="950" b="0" u="none" strike="noStrike">
              <a:solidFill>
                <a:srgbClr val="000000"/>
              </a:solidFill>
              <a:effectLst/>
              <a:uFillTx/>
              <a:latin typeface="Arial"/>
            </a:endParaRPr>
          </a:p>
        </p:txBody>
      </p:sp>
      <p:sp>
        <p:nvSpPr>
          <p:cNvPr id="1988" name="C 2017"/>
          <p:cNvSpPr/>
          <p:nvPr/>
        </p:nvSpPr>
        <p:spPr>
          <a:xfrm>
            <a:off x="6945840" y="191988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No</a:t>
            </a:r>
            <a:endParaRPr lang="en-US" sz="950" b="0" u="none" strike="noStrike">
              <a:solidFill>
                <a:srgbClr val="000000"/>
              </a:solidFill>
              <a:effectLst/>
              <a:uFillTx/>
              <a:latin typeface="Arial"/>
            </a:endParaRPr>
          </a:p>
        </p:txBody>
      </p:sp>
      <p:sp>
        <p:nvSpPr>
          <p:cNvPr id="1989" name="C 2018"/>
          <p:cNvSpPr/>
          <p:nvPr/>
        </p:nvSpPr>
        <p:spPr>
          <a:xfrm>
            <a:off x="8526960" y="191988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Yes</a:t>
            </a:r>
            <a:r>
              <a:rPr lang="en-US" sz="950" b="0" u="none" strike="noStrike" baseline="30000">
                <a:solidFill>
                  <a:srgbClr val="102A4C"/>
                </a:solidFill>
                <a:effectLst/>
                <a:uFillTx/>
                <a:latin typeface="Aptos"/>
              </a:rPr>
              <a:t>1</a:t>
            </a:r>
            <a:endParaRPr lang="en-US" sz="950" b="0" u="none" strike="noStrike">
              <a:solidFill>
                <a:srgbClr val="000000"/>
              </a:solidFill>
              <a:effectLst/>
              <a:uFillTx/>
              <a:latin typeface="Arial"/>
            </a:endParaRPr>
          </a:p>
        </p:txBody>
      </p:sp>
      <p:sp>
        <p:nvSpPr>
          <p:cNvPr id="1990" name="C 2019"/>
          <p:cNvSpPr/>
          <p:nvPr/>
        </p:nvSpPr>
        <p:spPr>
          <a:xfrm>
            <a:off x="10108080" y="191988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Yes</a:t>
            </a:r>
            <a:r>
              <a:rPr lang="en-US" sz="950" b="0" u="none" strike="noStrike" baseline="30000">
                <a:solidFill>
                  <a:srgbClr val="102A4C"/>
                </a:solidFill>
                <a:effectLst/>
                <a:uFillTx/>
                <a:latin typeface="Aptos"/>
              </a:rPr>
              <a:t>1,4</a:t>
            </a:r>
            <a:endParaRPr lang="en-US" sz="950" b="0" u="none" strike="noStrike">
              <a:solidFill>
                <a:srgbClr val="000000"/>
              </a:solidFill>
              <a:effectLst/>
              <a:uFillTx/>
              <a:latin typeface="Arial"/>
            </a:endParaRPr>
          </a:p>
        </p:txBody>
      </p:sp>
      <p:sp>
        <p:nvSpPr>
          <p:cNvPr id="1991" name="C 2020"/>
          <p:cNvSpPr/>
          <p:nvPr/>
        </p:nvSpPr>
        <p:spPr>
          <a:xfrm>
            <a:off x="502920" y="2390040"/>
            <a:ext cx="16988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90000" tIns="91440" rIns="90000" bIns="91440" anchor="ctr">
            <a:noAutofit/>
          </a:bodyPr>
          <a:p>
            <a:pPr defTabSz="914400">
              <a:lnSpc>
                <a:spcPct val="100000"/>
              </a:lnSpc>
            </a:pPr>
            <a:r>
              <a:rPr lang="en-US" sz="1000" b="1" u="none" strike="noStrike">
                <a:solidFill>
                  <a:srgbClr val="112E5C"/>
                </a:solidFill>
                <a:effectLst/>
                <a:uFillTx/>
                <a:latin typeface="Aptos"/>
              </a:rPr>
              <a:t>Optimal cost?</a:t>
            </a:r>
            <a:endParaRPr lang="en-US" sz="1000" b="0" u="none" strike="noStrike">
              <a:solidFill>
                <a:srgbClr val="000000"/>
              </a:solidFill>
              <a:effectLst/>
              <a:uFillTx/>
              <a:latin typeface="Arial"/>
            </a:endParaRPr>
          </a:p>
        </p:txBody>
      </p:sp>
      <p:sp>
        <p:nvSpPr>
          <p:cNvPr id="1992" name="C 2021"/>
          <p:cNvSpPr/>
          <p:nvPr/>
        </p:nvSpPr>
        <p:spPr>
          <a:xfrm>
            <a:off x="2202840" y="239004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Yes</a:t>
            </a:r>
            <a:r>
              <a:rPr lang="en-US" sz="950" b="0" u="none" strike="noStrike" baseline="30000">
                <a:solidFill>
                  <a:srgbClr val="102A4C"/>
                </a:solidFill>
                <a:effectLst/>
                <a:uFillTx/>
                <a:latin typeface="Aptos"/>
              </a:rPr>
              <a:t>3</a:t>
            </a:r>
            <a:endParaRPr lang="en-US" sz="950" b="0" u="none" strike="noStrike">
              <a:solidFill>
                <a:srgbClr val="000000"/>
              </a:solidFill>
              <a:effectLst/>
              <a:uFillTx/>
              <a:latin typeface="Arial"/>
            </a:endParaRPr>
          </a:p>
        </p:txBody>
      </p:sp>
      <p:sp>
        <p:nvSpPr>
          <p:cNvPr id="1993" name="C 2022"/>
          <p:cNvSpPr/>
          <p:nvPr/>
        </p:nvSpPr>
        <p:spPr>
          <a:xfrm>
            <a:off x="3783960" y="239004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Yes</a:t>
            </a:r>
            <a:endParaRPr lang="en-US" sz="950" b="0" u="none" strike="noStrike">
              <a:solidFill>
                <a:srgbClr val="000000"/>
              </a:solidFill>
              <a:effectLst/>
              <a:uFillTx/>
              <a:latin typeface="Arial"/>
            </a:endParaRPr>
          </a:p>
        </p:txBody>
      </p:sp>
      <p:sp>
        <p:nvSpPr>
          <p:cNvPr id="1994" name="C 2023"/>
          <p:cNvSpPr/>
          <p:nvPr/>
        </p:nvSpPr>
        <p:spPr>
          <a:xfrm>
            <a:off x="5365080" y="239004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No</a:t>
            </a:r>
            <a:endParaRPr lang="en-US" sz="950" b="0" u="none" strike="noStrike">
              <a:solidFill>
                <a:srgbClr val="000000"/>
              </a:solidFill>
              <a:effectLst/>
              <a:uFillTx/>
              <a:latin typeface="Arial"/>
            </a:endParaRPr>
          </a:p>
        </p:txBody>
      </p:sp>
      <p:sp>
        <p:nvSpPr>
          <p:cNvPr id="1995" name="C 2024"/>
          <p:cNvSpPr/>
          <p:nvPr/>
        </p:nvSpPr>
        <p:spPr>
          <a:xfrm>
            <a:off x="6945840" y="239004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No</a:t>
            </a:r>
            <a:endParaRPr lang="en-US" sz="950" b="0" u="none" strike="noStrike">
              <a:solidFill>
                <a:srgbClr val="000000"/>
              </a:solidFill>
              <a:effectLst/>
              <a:uFillTx/>
              <a:latin typeface="Arial"/>
            </a:endParaRPr>
          </a:p>
        </p:txBody>
      </p:sp>
      <p:sp>
        <p:nvSpPr>
          <p:cNvPr id="1996" name="C 2025"/>
          <p:cNvSpPr/>
          <p:nvPr/>
        </p:nvSpPr>
        <p:spPr>
          <a:xfrm>
            <a:off x="8526960" y="239004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Yes</a:t>
            </a:r>
            <a:r>
              <a:rPr lang="en-US" sz="950" b="0" u="none" strike="noStrike" baseline="30000">
                <a:solidFill>
                  <a:srgbClr val="102A4C"/>
                </a:solidFill>
                <a:effectLst/>
                <a:uFillTx/>
                <a:latin typeface="Aptos"/>
              </a:rPr>
              <a:t>3</a:t>
            </a:r>
            <a:endParaRPr lang="en-US" sz="950" b="0" u="none" strike="noStrike">
              <a:solidFill>
                <a:srgbClr val="000000"/>
              </a:solidFill>
              <a:effectLst/>
              <a:uFillTx/>
              <a:latin typeface="Arial"/>
            </a:endParaRPr>
          </a:p>
        </p:txBody>
      </p:sp>
      <p:sp>
        <p:nvSpPr>
          <p:cNvPr id="1997" name="C 2026"/>
          <p:cNvSpPr/>
          <p:nvPr/>
        </p:nvSpPr>
        <p:spPr>
          <a:xfrm>
            <a:off x="10108080" y="239004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Yes</a:t>
            </a:r>
            <a:r>
              <a:rPr lang="en-US" sz="950" b="0" u="none" strike="noStrike" baseline="30000">
                <a:solidFill>
                  <a:srgbClr val="102A4C"/>
                </a:solidFill>
                <a:effectLst/>
                <a:uFillTx/>
                <a:latin typeface="Aptos"/>
              </a:rPr>
              <a:t>3,4</a:t>
            </a:r>
            <a:endParaRPr lang="en-US" sz="950" b="0" u="none" strike="noStrike">
              <a:solidFill>
                <a:srgbClr val="000000"/>
              </a:solidFill>
              <a:effectLst/>
              <a:uFillTx/>
              <a:latin typeface="Arial"/>
            </a:endParaRPr>
          </a:p>
        </p:txBody>
      </p:sp>
      <p:sp>
        <p:nvSpPr>
          <p:cNvPr id="1998" name="C 2027"/>
          <p:cNvSpPr/>
          <p:nvPr/>
        </p:nvSpPr>
        <p:spPr>
          <a:xfrm>
            <a:off x="502920" y="2859840"/>
            <a:ext cx="16988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90000" tIns="91440" rIns="90000" bIns="91440" anchor="ctr">
            <a:noAutofit/>
          </a:bodyPr>
          <a:p>
            <a:pPr defTabSz="914400">
              <a:lnSpc>
                <a:spcPct val="100000"/>
              </a:lnSpc>
            </a:pPr>
            <a:r>
              <a:rPr lang="en-US" sz="1000" b="1" u="none" strike="noStrike">
                <a:solidFill>
                  <a:srgbClr val="112E5C"/>
                </a:solidFill>
                <a:effectLst/>
                <a:uFillTx/>
                <a:latin typeface="Aptos"/>
              </a:rPr>
              <a:t>Time</a:t>
            </a:r>
            <a:endParaRPr lang="en-US" sz="1000" b="0" u="none" strike="noStrike">
              <a:solidFill>
                <a:srgbClr val="000000"/>
              </a:solidFill>
              <a:effectLst/>
              <a:uFillTx/>
              <a:latin typeface="Arial"/>
            </a:endParaRPr>
          </a:p>
        </p:txBody>
      </p:sp>
      <p:sp>
        <p:nvSpPr>
          <p:cNvPr id="1999" name="C 2028"/>
          <p:cNvSpPr/>
          <p:nvPr/>
        </p:nvSpPr>
        <p:spPr>
          <a:xfrm>
            <a:off x="2202840" y="285984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a:t>
            </a:r>
            <a:r>
              <a:rPr lang="en-US" sz="950" b="0" u="none" strike="noStrike" baseline="30000">
                <a:solidFill>
                  <a:srgbClr val="102A4C"/>
                </a:solidFill>
                <a:effectLst/>
                <a:uFillTx/>
                <a:latin typeface="Aptos"/>
              </a:rPr>
              <a:t>d</a:t>
            </a:r>
            <a:r>
              <a:rPr lang="en-US" sz="950" b="0" u="none" strike="noStrike">
                <a:solidFill>
                  <a:srgbClr val="102A4C"/>
                </a:solidFill>
                <a:effectLst/>
                <a:uFillTx/>
                <a:latin typeface="Aptos"/>
              </a:rPr>
              <a:t>)</a:t>
            </a:r>
            <a:endParaRPr lang="en-US" sz="950" b="0" u="none" strike="noStrike">
              <a:solidFill>
                <a:srgbClr val="000000"/>
              </a:solidFill>
              <a:effectLst/>
              <a:uFillTx/>
              <a:latin typeface="Arial"/>
            </a:endParaRPr>
          </a:p>
        </p:txBody>
      </p:sp>
      <p:sp>
        <p:nvSpPr>
          <p:cNvPr id="2000" name="C 2029"/>
          <p:cNvSpPr/>
          <p:nvPr/>
        </p:nvSpPr>
        <p:spPr>
          <a:xfrm>
            <a:off x="3783960" y="285984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a:t>
            </a:r>
            <a:r>
              <a:rPr lang="en-US" sz="950" b="0" u="none" strike="noStrike" baseline="30000">
                <a:solidFill>
                  <a:srgbClr val="102A4C"/>
                </a:solidFill>
                <a:effectLst/>
                <a:uFillTx/>
                <a:latin typeface="Aptos"/>
              </a:rPr>
              <a:t>1+⌊C*/ε⌋</a:t>
            </a:r>
            <a:r>
              <a:rPr lang="en-US" sz="950" b="0" u="none" strike="noStrike">
                <a:solidFill>
                  <a:srgbClr val="102A4C"/>
                </a:solidFill>
                <a:effectLst/>
                <a:uFillTx/>
                <a:latin typeface="Aptos"/>
              </a:rPr>
              <a:t>)</a:t>
            </a:r>
            <a:endParaRPr lang="en-US" sz="950" b="0" u="none" strike="noStrike">
              <a:solidFill>
                <a:srgbClr val="000000"/>
              </a:solidFill>
              <a:effectLst/>
              <a:uFillTx/>
              <a:latin typeface="Arial"/>
            </a:endParaRPr>
          </a:p>
        </p:txBody>
      </p:sp>
      <p:sp>
        <p:nvSpPr>
          <p:cNvPr id="2001" name="C 2030"/>
          <p:cNvSpPr/>
          <p:nvPr/>
        </p:nvSpPr>
        <p:spPr>
          <a:xfrm>
            <a:off x="5365080" y="285984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a:t>
            </a:r>
            <a:r>
              <a:rPr lang="en-US" sz="950" b="0" u="none" strike="noStrike" baseline="30000">
                <a:solidFill>
                  <a:srgbClr val="102A4C"/>
                </a:solidFill>
                <a:effectLst/>
                <a:uFillTx/>
                <a:latin typeface="Aptos"/>
              </a:rPr>
              <a:t>m</a:t>
            </a:r>
            <a:r>
              <a:rPr lang="en-US" sz="950" b="0" u="none" strike="noStrike">
                <a:solidFill>
                  <a:srgbClr val="102A4C"/>
                </a:solidFill>
                <a:effectLst/>
                <a:uFillTx/>
                <a:latin typeface="Aptos"/>
              </a:rPr>
              <a:t>)</a:t>
            </a:r>
            <a:endParaRPr lang="en-US" sz="950" b="0" u="none" strike="noStrike">
              <a:solidFill>
                <a:srgbClr val="000000"/>
              </a:solidFill>
              <a:effectLst/>
              <a:uFillTx/>
              <a:latin typeface="Arial"/>
            </a:endParaRPr>
          </a:p>
        </p:txBody>
      </p:sp>
      <p:sp>
        <p:nvSpPr>
          <p:cNvPr id="2002" name="C 2031"/>
          <p:cNvSpPr/>
          <p:nvPr/>
        </p:nvSpPr>
        <p:spPr>
          <a:xfrm>
            <a:off x="6945840" y="285984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a:t>
            </a:r>
            <a:r>
              <a:rPr lang="en-US" sz="950" b="0" u="none" strike="noStrike" baseline="30000">
                <a:solidFill>
                  <a:srgbClr val="102A4C"/>
                </a:solidFill>
                <a:effectLst/>
                <a:uFillTx/>
                <a:latin typeface="Aptos"/>
              </a:rPr>
              <a:t>ℓ</a:t>
            </a:r>
            <a:r>
              <a:rPr lang="en-US" sz="950" b="0" u="none" strike="noStrike">
                <a:solidFill>
                  <a:srgbClr val="102A4C"/>
                </a:solidFill>
                <a:effectLst/>
                <a:uFillTx/>
                <a:latin typeface="Aptos"/>
              </a:rPr>
              <a:t>)</a:t>
            </a:r>
            <a:endParaRPr lang="en-US" sz="950" b="0" u="none" strike="noStrike">
              <a:solidFill>
                <a:srgbClr val="000000"/>
              </a:solidFill>
              <a:effectLst/>
              <a:uFillTx/>
              <a:latin typeface="Arial"/>
            </a:endParaRPr>
          </a:p>
        </p:txBody>
      </p:sp>
      <p:sp>
        <p:nvSpPr>
          <p:cNvPr id="2003" name="C 2032"/>
          <p:cNvSpPr/>
          <p:nvPr/>
        </p:nvSpPr>
        <p:spPr>
          <a:xfrm>
            <a:off x="8526960" y="285984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a:t>
            </a:r>
            <a:r>
              <a:rPr lang="en-US" sz="950" b="0" u="none" strike="noStrike" baseline="30000">
                <a:solidFill>
                  <a:srgbClr val="102A4C"/>
                </a:solidFill>
                <a:effectLst/>
                <a:uFillTx/>
                <a:latin typeface="Aptos"/>
              </a:rPr>
              <a:t>d</a:t>
            </a:r>
            <a:r>
              <a:rPr lang="en-US" sz="950" b="0" u="none" strike="noStrike">
                <a:solidFill>
                  <a:srgbClr val="102A4C"/>
                </a:solidFill>
                <a:effectLst/>
                <a:uFillTx/>
                <a:latin typeface="Aptos"/>
              </a:rPr>
              <a:t>)</a:t>
            </a:r>
            <a:endParaRPr lang="en-US" sz="950" b="0" u="none" strike="noStrike">
              <a:solidFill>
                <a:srgbClr val="000000"/>
              </a:solidFill>
              <a:effectLst/>
              <a:uFillTx/>
              <a:latin typeface="Arial"/>
            </a:endParaRPr>
          </a:p>
        </p:txBody>
      </p:sp>
      <p:sp>
        <p:nvSpPr>
          <p:cNvPr id="2004" name="C 2033"/>
          <p:cNvSpPr/>
          <p:nvPr/>
        </p:nvSpPr>
        <p:spPr>
          <a:xfrm>
            <a:off x="10108080" y="2859840"/>
            <a:ext cx="1580040" cy="46908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a:t>
            </a:r>
            <a:r>
              <a:rPr lang="en-US" sz="950" b="0" u="none" strike="noStrike" baseline="30000">
                <a:solidFill>
                  <a:srgbClr val="102A4C"/>
                </a:solidFill>
                <a:effectLst/>
                <a:uFillTx/>
                <a:latin typeface="Aptos"/>
              </a:rPr>
              <a:t>d/2</a:t>
            </a:r>
            <a:r>
              <a:rPr lang="en-US" sz="950" b="0" u="none" strike="noStrike">
                <a:solidFill>
                  <a:srgbClr val="102A4C"/>
                </a:solidFill>
                <a:effectLst/>
                <a:uFillTx/>
                <a:latin typeface="Aptos"/>
              </a:rPr>
              <a:t>)</a:t>
            </a:r>
            <a:endParaRPr lang="en-US" sz="950" b="0" u="none" strike="noStrike">
              <a:solidFill>
                <a:srgbClr val="000000"/>
              </a:solidFill>
              <a:effectLst/>
              <a:uFillTx/>
              <a:latin typeface="Arial"/>
            </a:endParaRPr>
          </a:p>
        </p:txBody>
      </p:sp>
      <p:sp>
        <p:nvSpPr>
          <p:cNvPr id="2005" name="C 2034"/>
          <p:cNvSpPr/>
          <p:nvPr/>
        </p:nvSpPr>
        <p:spPr>
          <a:xfrm>
            <a:off x="502920" y="3330000"/>
            <a:ext cx="16988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90000" tIns="91440" rIns="90000" bIns="91440" anchor="ctr">
            <a:noAutofit/>
          </a:bodyPr>
          <a:p>
            <a:pPr defTabSz="914400">
              <a:lnSpc>
                <a:spcPct val="100000"/>
              </a:lnSpc>
            </a:pPr>
            <a:r>
              <a:rPr lang="en-US" sz="1000" b="1" u="none" strike="noStrike">
                <a:solidFill>
                  <a:srgbClr val="112E5C"/>
                </a:solidFill>
                <a:effectLst/>
                <a:uFillTx/>
                <a:latin typeface="Aptos"/>
              </a:rPr>
              <a:t>Space</a:t>
            </a:r>
            <a:endParaRPr lang="en-US" sz="1000" b="0" u="none" strike="noStrike">
              <a:solidFill>
                <a:srgbClr val="000000"/>
              </a:solidFill>
              <a:effectLst/>
              <a:uFillTx/>
              <a:latin typeface="Arial"/>
            </a:endParaRPr>
          </a:p>
        </p:txBody>
      </p:sp>
      <p:sp>
        <p:nvSpPr>
          <p:cNvPr id="2006" name="C 2035"/>
          <p:cNvSpPr/>
          <p:nvPr/>
        </p:nvSpPr>
        <p:spPr>
          <a:xfrm>
            <a:off x="2202840" y="333000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a:t>
            </a:r>
            <a:r>
              <a:rPr lang="en-US" sz="950" b="0" u="none" strike="noStrike" baseline="30000">
                <a:solidFill>
                  <a:srgbClr val="102A4C"/>
                </a:solidFill>
                <a:effectLst/>
                <a:uFillTx/>
                <a:latin typeface="Aptos"/>
              </a:rPr>
              <a:t>d</a:t>
            </a:r>
            <a:r>
              <a:rPr lang="en-US" sz="950" b="0" u="none" strike="noStrike">
                <a:solidFill>
                  <a:srgbClr val="102A4C"/>
                </a:solidFill>
                <a:effectLst/>
                <a:uFillTx/>
                <a:latin typeface="Aptos"/>
              </a:rPr>
              <a:t>)</a:t>
            </a:r>
            <a:endParaRPr lang="en-US" sz="950" b="0" u="none" strike="noStrike">
              <a:solidFill>
                <a:srgbClr val="000000"/>
              </a:solidFill>
              <a:effectLst/>
              <a:uFillTx/>
              <a:latin typeface="Arial"/>
            </a:endParaRPr>
          </a:p>
        </p:txBody>
      </p:sp>
      <p:sp>
        <p:nvSpPr>
          <p:cNvPr id="2007" name="C 2036"/>
          <p:cNvSpPr/>
          <p:nvPr/>
        </p:nvSpPr>
        <p:spPr>
          <a:xfrm>
            <a:off x="3783960" y="333000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a:t>
            </a:r>
            <a:r>
              <a:rPr lang="en-US" sz="950" b="0" u="none" strike="noStrike" baseline="30000">
                <a:solidFill>
                  <a:srgbClr val="102A4C"/>
                </a:solidFill>
                <a:effectLst/>
                <a:uFillTx/>
                <a:latin typeface="Aptos"/>
              </a:rPr>
              <a:t>1+⌊C*/ε⌋</a:t>
            </a:r>
            <a:r>
              <a:rPr lang="en-US" sz="950" b="0" u="none" strike="noStrike">
                <a:solidFill>
                  <a:srgbClr val="102A4C"/>
                </a:solidFill>
                <a:effectLst/>
                <a:uFillTx/>
                <a:latin typeface="Aptos"/>
              </a:rPr>
              <a:t>)</a:t>
            </a:r>
            <a:endParaRPr lang="en-US" sz="950" b="0" u="none" strike="noStrike">
              <a:solidFill>
                <a:srgbClr val="000000"/>
              </a:solidFill>
              <a:effectLst/>
              <a:uFillTx/>
              <a:latin typeface="Arial"/>
            </a:endParaRPr>
          </a:p>
        </p:txBody>
      </p:sp>
      <p:sp>
        <p:nvSpPr>
          <p:cNvPr id="2008" name="C 2037"/>
          <p:cNvSpPr/>
          <p:nvPr/>
        </p:nvSpPr>
        <p:spPr>
          <a:xfrm>
            <a:off x="5365080" y="333000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O(bm)</a:t>
            </a:r>
            <a:endParaRPr lang="en-US" sz="950" b="0" u="none" strike="noStrike">
              <a:solidFill>
                <a:srgbClr val="000000"/>
              </a:solidFill>
              <a:effectLst/>
              <a:uFillTx/>
              <a:latin typeface="Arial"/>
            </a:endParaRPr>
          </a:p>
        </p:txBody>
      </p:sp>
      <p:sp>
        <p:nvSpPr>
          <p:cNvPr id="2009" name="C 2038"/>
          <p:cNvSpPr/>
          <p:nvPr/>
        </p:nvSpPr>
        <p:spPr>
          <a:xfrm>
            <a:off x="6945840" y="333000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O(bℓ)</a:t>
            </a:r>
            <a:endParaRPr lang="en-US" sz="950" b="0" u="none" strike="noStrike">
              <a:solidFill>
                <a:srgbClr val="000000"/>
              </a:solidFill>
              <a:effectLst/>
              <a:uFillTx/>
              <a:latin typeface="Arial"/>
            </a:endParaRPr>
          </a:p>
        </p:txBody>
      </p:sp>
      <p:sp>
        <p:nvSpPr>
          <p:cNvPr id="2010" name="C 2039"/>
          <p:cNvSpPr/>
          <p:nvPr/>
        </p:nvSpPr>
        <p:spPr>
          <a:xfrm>
            <a:off x="8526960" y="333000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O(bd)</a:t>
            </a:r>
            <a:endParaRPr lang="en-US" sz="950" b="0" u="none" strike="noStrike">
              <a:solidFill>
                <a:srgbClr val="000000"/>
              </a:solidFill>
              <a:effectLst/>
              <a:uFillTx/>
              <a:latin typeface="Arial"/>
            </a:endParaRPr>
          </a:p>
        </p:txBody>
      </p:sp>
      <p:sp>
        <p:nvSpPr>
          <p:cNvPr id="2011" name="C 2040"/>
          <p:cNvSpPr/>
          <p:nvPr/>
        </p:nvSpPr>
        <p:spPr>
          <a:xfrm>
            <a:off x="10108080" y="3330000"/>
            <a:ext cx="1580040" cy="46908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000" rIns="45720" bIns="45000" anchor="ctr">
            <a:noAutofit/>
          </a:bodyPr>
          <a:p>
            <a:pPr algn="ctr" defTabSz="914400">
              <a:lnSpc>
                <a:spcPct val="100000"/>
              </a:lnSpc>
            </a:pPr>
            <a:r>
              <a:rPr lang="en-US" sz="950" b="0" u="none" strike="noStrike">
                <a:solidFill>
                  <a:srgbClr val="102A4C"/>
                </a:solidFill>
                <a:effectLst/>
                <a:uFillTx/>
                <a:latin typeface="Aptos"/>
              </a:rPr>
              <a:t>O(b</a:t>
            </a:r>
            <a:r>
              <a:rPr lang="en-US" sz="950" b="0" u="none" strike="noStrike" baseline="30000">
                <a:solidFill>
                  <a:srgbClr val="102A4C"/>
                </a:solidFill>
                <a:effectLst/>
                <a:uFillTx/>
                <a:latin typeface="Aptos"/>
              </a:rPr>
              <a:t>d/2</a:t>
            </a:r>
            <a:r>
              <a:rPr lang="en-US" sz="950" b="0" u="none" strike="noStrike">
                <a:solidFill>
                  <a:srgbClr val="102A4C"/>
                </a:solidFill>
                <a:effectLst/>
                <a:uFillTx/>
                <a:latin typeface="Aptos"/>
              </a:rPr>
              <a:t>)</a:t>
            </a:r>
            <a:endParaRPr lang="en-US" sz="950" b="0" u="none" strike="noStrike">
              <a:solidFill>
                <a:srgbClr val="000000"/>
              </a:solidFill>
              <a:effectLst/>
              <a:uFillTx/>
              <a:latin typeface="Arial"/>
            </a:endParaRPr>
          </a:p>
        </p:txBody>
      </p:sp>
      <p:sp>
        <p:nvSpPr>
          <p:cNvPr id="2012" name="FN 2041"/>
          <p:cNvSpPr/>
          <p:nvPr/>
        </p:nvSpPr>
        <p:spPr>
          <a:xfrm>
            <a:off x="502920" y="3999960"/>
            <a:ext cx="11185200" cy="112896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2013" name="Text 2042"/>
          <p:cNvSpPr/>
          <p:nvPr/>
        </p:nvSpPr>
        <p:spPr>
          <a:xfrm>
            <a:off x="708840" y="4150080"/>
            <a:ext cx="10773720" cy="829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281"/>
              </a:spcAft>
            </a:pPr>
            <a:r>
              <a:rPr lang="en-US" sz="950" b="1" u="none" strike="noStrike">
                <a:solidFill>
                  <a:srgbClr val="112E5C"/>
                </a:solidFill>
                <a:effectLst/>
                <a:uFillTx/>
                <a:latin typeface="Aptos"/>
              </a:rPr>
              <a:t>b</a:t>
            </a:r>
            <a:r>
              <a:rPr lang="en-US" sz="950" b="0" u="none" strike="noStrike">
                <a:solidFill>
                  <a:srgbClr val="5C6B80"/>
                </a:solidFill>
                <a:effectLst/>
                <a:uFillTx/>
                <a:latin typeface="Aptos"/>
              </a:rPr>
              <a:t> = branching factor    </a:t>
            </a:r>
            <a:r>
              <a:rPr lang="en-US" sz="950" b="1" u="none" strike="noStrike">
                <a:solidFill>
                  <a:srgbClr val="112E5C"/>
                </a:solidFill>
                <a:effectLst/>
                <a:uFillTx/>
                <a:latin typeface="Aptos"/>
              </a:rPr>
              <a:t>d</a:t>
            </a:r>
            <a:r>
              <a:rPr lang="en-US" sz="950" b="0" u="none" strike="noStrike">
                <a:solidFill>
                  <a:srgbClr val="5C6B80"/>
                </a:solidFill>
                <a:effectLst/>
                <a:uFillTx/>
                <a:latin typeface="Aptos"/>
              </a:rPr>
              <a:t> = depth of the shallowest solution    </a:t>
            </a:r>
            <a:r>
              <a:rPr lang="en-US" sz="950" b="1" u="none" strike="noStrike">
                <a:solidFill>
                  <a:srgbClr val="112E5C"/>
                </a:solidFill>
                <a:effectLst/>
                <a:uFillTx/>
                <a:latin typeface="Aptos"/>
              </a:rPr>
              <a:t>m</a:t>
            </a:r>
            <a:r>
              <a:rPr lang="en-US" sz="950" b="0" u="none" strike="noStrike">
                <a:solidFill>
                  <a:srgbClr val="5C6B80"/>
                </a:solidFill>
                <a:effectLst/>
                <a:uFillTx/>
                <a:latin typeface="Aptos"/>
              </a:rPr>
              <a:t> = maximum depth of the search tree    </a:t>
            </a:r>
            <a:r>
              <a:rPr lang="en-US" sz="950" b="1" u="none" strike="noStrike">
                <a:solidFill>
                  <a:srgbClr val="112E5C"/>
                </a:solidFill>
                <a:effectLst/>
                <a:uFillTx/>
                <a:latin typeface="Aptos"/>
              </a:rPr>
              <a:t>ℓ</a:t>
            </a:r>
            <a:r>
              <a:rPr lang="en-US" sz="950" b="0" u="none" strike="noStrike">
                <a:solidFill>
                  <a:srgbClr val="5C6B80"/>
                </a:solidFill>
                <a:effectLst/>
                <a:uFillTx/>
                <a:latin typeface="Aptos"/>
              </a:rPr>
              <a:t> = the depth limit</a:t>
            </a:r>
            <a:endParaRPr lang="en-US" sz="950" b="0" u="none" strike="noStrike">
              <a:solidFill>
                <a:srgbClr val="000000"/>
              </a:solidFill>
              <a:effectLst/>
              <a:uFillTx/>
              <a:latin typeface="Arial"/>
            </a:endParaRPr>
          </a:p>
          <a:p>
            <a:pPr defTabSz="914400">
              <a:lnSpc>
                <a:spcPct val="100000"/>
              </a:lnSpc>
              <a:spcAft>
                <a:spcPts val="201"/>
              </a:spcAft>
            </a:pPr>
            <a:r>
              <a:rPr lang="en-US" sz="900" b="1" u="none" strike="noStrike" baseline="30000">
                <a:solidFill>
                  <a:srgbClr val="9B1C1C"/>
                </a:solidFill>
                <a:effectLst/>
                <a:uFillTx/>
                <a:latin typeface="Aptos"/>
              </a:rPr>
              <a:t>1</a:t>
            </a:r>
            <a:r>
              <a:rPr lang="en-US" sz="900" b="0" u="none" strike="noStrike">
                <a:solidFill>
                  <a:srgbClr val="102A4C"/>
                </a:solidFill>
                <a:effectLst/>
                <a:uFillTx/>
                <a:latin typeface="Aptos"/>
              </a:rPr>
              <a:t> complete if b is finite, and the state space either has a solution or is finite        </a:t>
            </a:r>
            <a:r>
              <a:rPr lang="en-US" sz="900" b="1" u="none" strike="noStrike" baseline="30000">
                <a:solidFill>
                  <a:srgbClr val="9B1C1C"/>
                </a:solidFill>
                <a:effectLst/>
                <a:uFillTx/>
                <a:latin typeface="Aptos"/>
              </a:rPr>
              <a:t>2</a:t>
            </a:r>
            <a:r>
              <a:rPr lang="en-US" sz="900" b="0" u="none" strike="noStrike">
                <a:solidFill>
                  <a:srgbClr val="102A4C"/>
                </a:solidFill>
                <a:effectLst/>
                <a:uFillTx/>
                <a:latin typeface="Aptos"/>
              </a:rPr>
              <a:t> complete if all action costs are ≥ ε &gt; 0</a:t>
            </a:r>
            <a:endParaRPr lang="en-US" sz="900" b="0" u="none" strike="noStrike">
              <a:solidFill>
                <a:srgbClr val="000000"/>
              </a:solidFill>
              <a:effectLst/>
              <a:uFillTx/>
              <a:latin typeface="Arial"/>
            </a:endParaRPr>
          </a:p>
          <a:p>
            <a:pPr defTabSz="914400">
              <a:lnSpc>
                <a:spcPct val="100000"/>
              </a:lnSpc>
            </a:pPr>
            <a:r>
              <a:rPr lang="en-US" sz="900" b="1" u="none" strike="noStrike" baseline="30000">
                <a:solidFill>
                  <a:srgbClr val="9B1C1C"/>
                </a:solidFill>
                <a:effectLst/>
                <a:uFillTx/>
                <a:latin typeface="Aptos"/>
              </a:rPr>
              <a:t>3</a:t>
            </a:r>
            <a:r>
              <a:rPr lang="en-US" sz="900" b="0" u="none" strike="noStrike">
                <a:solidFill>
                  <a:srgbClr val="102A4C"/>
                </a:solidFill>
                <a:effectLst/>
                <a:uFillTx/>
                <a:latin typeface="Aptos"/>
              </a:rPr>
              <a:t> cost-optimal if action costs are all identical        </a:t>
            </a:r>
            <a:r>
              <a:rPr lang="en-US" sz="900" b="1" u="none" strike="noStrike" baseline="30000">
                <a:solidFill>
                  <a:srgbClr val="9B1C1C"/>
                </a:solidFill>
                <a:effectLst/>
                <a:uFillTx/>
                <a:latin typeface="Aptos"/>
              </a:rPr>
              <a:t>4</a:t>
            </a:r>
            <a:r>
              <a:rPr lang="en-US" sz="900" b="0" u="none" strike="noStrike">
                <a:solidFill>
                  <a:srgbClr val="102A4C"/>
                </a:solidFill>
                <a:effectLst/>
                <a:uFillTx/>
                <a:latin typeface="Aptos"/>
              </a:rPr>
              <a:t> if both directions are breadth-first or uniform-cost</a:t>
            </a:r>
            <a:endParaRPr lang="en-US" sz="900" b="0" u="none" strike="noStrike">
              <a:solidFill>
                <a:srgbClr val="000000"/>
              </a:solidFill>
              <a:effectLst/>
              <a:uFillTx/>
              <a:latin typeface="Arial"/>
            </a:endParaRPr>
          </a:p>
        </p:txBody>
      </p:sp>
      <p:sp>
        <p:nvSpPr>
          <p:cNvPr id="2014" name="Banner 2043"/>
          <p:cNvSpPr/>
          <p:nvPr/>
        </p:nvSpPr>
        <p:spPr>
          <a:xfrm>
            <a:off x="502920" y="5240160"/>
            <a:ext cx="11185200" cy="97884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p>
            <a:pPr defTabSz="914400">
              <a:lnSpc>
                <a:spcPct val="100000"/>
              </a:lnSpc>
              <a:spcAft>
                <a:spcPts val="201"/>
              </a:spcAft>
            </a:pPr>
            <a:r>
              <a:rPr lang="en-US" sz="1100" b="1" u="none" strike="noStrike">
                <a:solidFill>
                  <a:srgbClr val="102A4C"/>
                </a:solidFill>
                <a:effectLst/>
                <a:uFillTx/>
                <a:latin typeface="Aptos"/>
              </a:rPr>
              <a:t>These entries are for the tree-like versions, which do not check for repeated states.</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5C6B80"/>
                </a:solidFill>
                <a:effectLst/>
                <a:uFillTx/>
                <a:latin typeface="Aptos"/>
              </a:rPr>
              <a:t>Add a reached table and the table changes: depth-first search becomes complete on finite state spaces, and time and space are bounded by the size of the state space, |V| + |E|, rather than by b and m.</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2015" name="HeaderBar 200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2016" name="AccentBar 200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2017" name="Title 200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2600" b="1" u="none" strike="noStrike">
                <a:solidFill>
                  <a:srgbClr val="FFFFFF"/>
                </a:solidFill>
                <a:effectLst/>
                <a:uFillTx/>
                <a:latin typeface="Aptos"/>
              </a:rPr>
              <a:t>Reading Figure 3.15: Where Each Entry Comes From</a:t>
            </a:r>
            <a:endParaRPr lang="en-US" sz="2600" b="0" u="none" strike="noStrike">
              <a:solidFill>
                <a:srgbClr val="000000"/>
              </a:solidFill>
              <a:effectLst/>
              <a:uFillTx/>
              <a:latin typeface="Arial"/>
            </a:endParaRPr>
          </a:p>
        </p:txBody>
      </p:sp>
      <p:sp>
        <p:nvSpPr>
          <p:cNvPr id="2018" name="FooterL 200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019" name="FooterR 200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020" name="NoteCard 2006"/>
          <p:cNvSpPr/>
          <p:nvPr/>
        </p:nvSpPr>
        <p:spPr>
          <a:xfrm>
            <a:off x="502920" y="1239840"/>
            <a:ext cx="3544920" cy="331884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2021" name="CardHead 2007"/>
          <p:cNvSpPr/>
          <p:nvPr/>
        </p:nvSpPr>
        <p:spPr>
          <a:xfrm>
            <a:off x="708840" y="1377000"/>
            <a:ext cx="31334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150" b="1" u="none" strike="noStrike">
                <a:solidFill>
                  <a:srgbClr val="112E5C"/>
                </a:solidFill>
                <a:effectLst/>
                <a:uFillTx/>
                <a:latin typeface="Aptos"/>
              </a:rPr>
              <a:t>Every entry falls out of the frontier rule</a:t>
            </a:r>
            <a:endParaRPr lang="en-US" sz="1150" b="0" u="none" strike="noStrike">
              <a:solidFill>
                <a:srgbClr val="000000"/>
              </a:solidFill>
              <a:effectLst/>
              <a:uFillTx/>
              <a:latin typeface="Arial"/>
            </a:endParaRPr>
          </a:p>
        </p:txBody>
      </p:sp>
      <p:sp>
        <p:nvSpPr>
          <p:cNvPr id="2022" name="CardBody 2008"/>
          <p:cNvSpPr/>
          <p:nvPr/>
        </p:nvSpPr>
        <p:spPr>
          <a:xfrm>
            <a:off x="708840" y="1707120"/>
            <a:ext cx="3133440" cy="27147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0" u="none" strike="noStrike">
                <a:solidFill>
                  <a:srgbClr val="102A4C"/>
                </a:solidFill>
                <a:effectLst/>
                <a:uFillTx/>
                <a:latin typeface="Aptos"/>
              </a:rPr>
              <a:t>BFS pops the </a:t>
            </a:r>
            <a:r>
              <a:rPr lang="en-US" sz="950" b="1" u="none" strike="noStrike">
                <a:solidFill>
                  <a:srgbClr val="102A4C"/>
                </a:solidFill>
                <a:effectLst/>
                <a:uFillTx/>
                <a:latin typeface="Aptos"/>
              </a:rPr>
              <a:t>oldest</a:t>
            </a:r>
            <a:r>
              <a:rPr lang="en-US" sz="950" b="0" u="none" strike="noStrike">
                <a:solidFill>
                  <a:srgbClr val="102A4C"/>
                </a:solidFill>
                <a:effectLst/>
                <a:uFillTx/>
                <a:latin typeface="Aptos"/>
              </a:rPr>
              <a:t> node, so it holds a whole tier — O(b</a:t>
            </a:r>
            <a:r>
              <a:rPr lang="en-US" sz="950" b="0" u="none" strike="noStrike" baseline="30000">
                <a:solidFill>
                  <a:srgbClr val="102A4C"/>
                </a:solidFill>
                <a:effectLst/>
                <a:uFillTx/>
                <a:latin typeface="Aptos"/>
              </a:rPr>
              <a:t>d</a:t>
            </a:r>
            <a:r>
              <a:rPr lang="en-US" sz="950" b="0" u="none" strike="noStrike">
                <a:solidFill>
                  <a:srgbClr val="102A4C"/>
                </a:solidFill>
                <a:effectLst/>
                <a:uFillTx/>
                <a:latin typeface="Aptos"/>
              </a:rPr>
              <a:t>) space.</a:t>
            </a:r>
            <a:endParaRPr lang="en-US" sz="950" b="0" u="none" strike="noStrike">
              <a:solidFill>
                <a:srgbClr val="000000"/>
              </a:solidFill>
              <a:effectLst/>
              <a:uFillTx/>
              <a:latin typeface="Arial"/>
            </a:endParaRPr>
          </a:p>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0" u="none" strike="noStrike">
                <a:solidFill>
                  <a:srgbClr val="102A4C"/>
                </a:solidFill>
                <a:effectLst/>
                <a:uFillTx/>
                <a:latin typeface="Aptos"/>
              </a:rPr>
              <a:t>DFS pops the </a:t>
            </a:r>
            <a:r>
              <a:rPr lang="en-US" sz="950" b="1" u="none" strike="noStrike">
                <a:solidFill>
                  <a:srgbClr val="102A4C"/>
                </a:solidFill>
                <a:effectLst/>
                <a:uFillTx/>
                <a:latin typeface="Aptos"/>
              </a:rPr>
              <a:t>newest</a:t>
            </a:r>
            <a:r>
              <a:rPr lang="en-US" sz="950" b="0" u="none" strike="noStrike">
                <a:solidFill>
                  <a:srgbClr val="102A4C"/>
                </a:solidFill>
                <a:effectLst/>
                <a:uFillTx/>
                <a:latin typeface="Aptos"/>
              </a:rPr>
              <a:t>, so it holds one path and its siblings — O(bm).</a:t>
            </a:r>
            <a:endParaRPr lang="en-US" sz="950" b="0" u="none" strike="noStrike">
              <a:solidFill>
                <a:srgbClr val="000000"/>
              </a:solidFill>
              <a:effectLst/>
              <a:uFillTx/>
              <a:latin typeface="Arial"/>
            </a:endParaRPr>
          </a:p>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0" u="none" strike="noStrike">
                <a:solidFill>
                  <a:srgbClr val="102A4C"/>
                </a:solidFill>
                <a:effectLst/>
                <a:uFillTx/>
                <a:latin typeface="Aptos"/>
              </a:rPr>
              <a:t>IDS reruns DFS with growing limits, buying BFS's order at DFS's memory.</a:t>
            </a:r>
            <a:endParaRPr lang="en-US" sz="950" b="0" u="none" strike="noStrike">
              <a:solidFill>
                <a:srgbClr val="000000"/>
              </a:solidFill>
              <a:effectLst/>
              <a:uFillTx/>
              <a:latin typeface="Arial"/>
            </a:endParaRPr>
          </a:p>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0" u="none" strike="noStrike">
                <a:solidFill>
                  <a:srgbClr val="102A4C"/>
                </a:solidFill>
                <a:effectLst/>
                <a:uFillTx/>
                <a:latin typeface="Aptos"/>
              </a:rPr>
              <a:t>Nothing here needs memorising if you can say which node the frontier hands back next.</a:t>
            </a:r>
            <a:endParaRPr lang="en-US" sz="950" b="0" u="none" strike="noStrike">
              <a:solidFill>
                <a:srgbClr val="000000"/>
              </a:solidFill>
              <a:effectLst/>
              <a:uFillTx/>
              <a:latin typeface="Arial"/>
            </a:endParaRPr>
          </a:p>
        </p:txBody>
      </p:sp>
      <p:sp>
        <p:nvSpPr>
          <p:cNvPr id="2023" name="NoteCard 2009"/>
          <p:cNvSpPr/>
          <p:nvPr/>
        </p:nvSpPr>
        <p:spPr>
          <a:xfrm>
            <a:off x="4323240" y="1239840"/>
            <a:ext cx="3544920" cy="331884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2024" name="CardHead 2010"/>
          <p:cNvSpPr/>
          <p:nvPr/>
        </p:nvSpPr>
        <p:spPr>
          <a:xfrm>
            <a:off x="4528800" y="1377000"/>
            <a:ext cx="31334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150" b="1" u="none" strike="noStrike">
                <a:solidFill>
                  <a:srgbClr val="112E5C"/>
                </a:solidFill>
                <a:effectLst/>
                <a:uFillTx/>
                <a:latin typeface="Aptos"/>
              </a:rPr>
              <a:t>Two pairs that look alike and are not</a:t>
            </a:r>
            <a:endParaRPr lang="en-US" sz="1150" b="0" u="none" strike="noStrike">
              <a:solidFill>
                <a:srgbClr val="000000"/>
              </a:solidFill>
              <a:effectLst/>
              <a:uFillTx/>
              <a:latin typeface="Arial"/>
            </a:endParaRPr>
          </a:p>
        </p:txBody>
      </p:sp>
      <p:sp>
        <p:nvSpPr>
          <p:cNvPr id="2025" name="CardBody 2011"/>
          <p:cNvSpPr/>
          <p:nvPr/>
        </p:nvSpPr>
        <p:spPr>
          <a:xfrm>
            <a:off x="4528800" y="1707120"/>
            <a:ext cx="3133440" cy="27147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0" u="none" strike="noStrike">
                <a:solidFill>
                  <a:srgbClr val="102A4C"/>
                </a:solidFill>
                <a:effectLst/>
                <a:uFillTx/>
                <a:latin typeface="Aptos"/>
              </a:rPr>
              <a:t>DFS time O(b</a:t>
            </a:r>
            <a:r>
              <a:rPr lang="en-US" sz="950" b="0" u="none" strike="noStrike" baseline="30000">
                <a:solidFill>
                  <a:srgbClr val="102A4C"/>
                </a:solidFill>
                <a:effectLst/>
                <a:uFillTx/>
                <a:latin typeface="Aptos"/>
              </a:rPr>
              <a:t>m</a:t>
            </a:r>
            <a:r>
              <a:rPr lang="en-US" sz="950" b="0" u="none" strike="noStrike">
                <a:solidFill>
                  <a:srgbClr val="102A4C"/>
                </a:solidFill>
                <a:effectLst/>
                <a:uFillTx/>
                <a:latin typeface="Aptos"/>
              </a:rPr>
              <a:t>): m is the deepest path in the tree, and may be infinite.</a:t>
            </a:r>
            <a:endParaRPr lang="en-US" sz="950" b="0" u="none" strike="noStrike">
              <a:solidFill>
                <a:srgbClr val="000000"/>
              </a:solidFill>
              <a:effectLst/>
              <a:uFillTx/>
              <a:latin typeface="Arial"/>
            </a:endParaRPr>
          </a:p>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0" u="none" strike="noStrike">
                <a:solidFill>
                  <a:srgbClr val="102A4C"/>
                </a:solidFill>
                <a:effectLst/>
                <a:uFillTx/>
                <a:latin typeface="Aptos"/>
              </a:rPr>
              <a:t>DLS time O(b</a:t>
            </a:r>
            <a:r>
              <a:rPr lang="en-US" sz="950" b="0" u="none" strike="noStrike" baseline="30000">
                <a:solidFill>
                  <a:srgbClr val="102A4C"/>
                </a:solidFill>
                <a:effectLst/>
                <a:uFillTx/>
                <a:latin typeface="Aptos"/>
              </a:rPr>
              <a:t>ℓ</a:t>
            </a:r>
            <a:r>
              <a:rPr lang="en-US" sz="950" b="0" u="none" strike="noStrike">
                <a:solidFill>
                  <a:srgbClr val="102A4C"/>
                </a:solidFill>
                <a:effectLst/>
                <a:uFillTx/>
                <a:latin typeface="Aptos"/>
              </a:rPr>
              <a:t>): ℓ is the limit </a:t>
            </a:r>
            <a:r>
              <a:rPr lang="en-US" sz="950" b="1" u="none" strike="noStrike">
                <a:solidFill>
                  <a:srgbClr val="102A4C"/>
                </a:solidFill>
                <a:effectLst/>
                <a:uFillTx/>
                <a:latin typeface="Aptos"/>
              </a:rPr>
              <a:t>you</a:t>
            </a:r>
            <a:r>
              <a:rPr lang="en-US" sz="950" b="0" u="none" strike="noStrike">
                <a:solidFill>
                  <a:srgbClr val="102A4C"/>
                </a:solidFill>
                <a:effectLst/>
                <a:uFillTx/>
                <a:latin typeface="Aptos"/>
              </a:rPr>
              <a:t> chose — a bound you bought, possibly with a cutoff attached.</a:t>
            </a:r>
            <a:endParaRPr lang="en-US" sz="950" b="0" u="none" strike="noStrike">
              <a:solidFill>
                <a:srgbClr val="000000"/>
              </a:solidFill>
              <a:effectLst/>
              <a:uFillTx/>
              <a:latin typeface="Arial"/>
            </a:endParaRPr>
          </a:p>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1" u="none" strike="noStrike">
                <a:solidFill>
                  <a:srgbClr val="9B1C1C"/>
                </a:solidFill>
                <a:effectLst/>
                <a:uFillTx/>
                <a:latin typeface="Aptos"/>
              </a:rPr>
              <a:t>IDS space is O(bd), not O(b</a:t>
            </a:r>
            <a:r>
              <a:rPr lang="en-US" sz="950" b="1" u="none" strike="noStrike" baseline="30000">
                <a:solidFill>
                  <a:srgbClr val="9B1C1C"/>
                </a:solidFill>
                <a:effectLst/>
                <a:uFillTx/>
                <a:latin typeface="Aptos"/>
              </a:rPr>
              <a:t>d</a:t>
            </a:r>
            <a:r>
              <a:rPr lang="en-US" sz="950" b="0" u="none" strike="noStrike">
                <a:solidFill>
                  <a:srgbClr val="102A4C"/>
                </a:solidFill>
                <a:effectLst/>
                <a:uFillTx/>
                <a:latin typeface="Aptos"/>
              </a:rPr>
              <a:t>). Linear, not exponential — the whole reason IDS exists.</a:t>
            </a:r>
            <a:endParaRPr lang="en-US" sz="950" b="0" u="none" strike="noStrike">
              <a:solidFill>
                <a:srgbClr val="000000"/>
              </a:solidFill>
              <a:effectLst/>
              <a:uFillTx/>
              <a:latin typeface="Arial"/>
            </a:endParaRPr>
          </a:p>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0" u="none" strike="noStrike">
                <a:solidFill>
                  <a:srgbClr val="102A4C"/>
                </a:solidFill>
                <a:effectLst/>
                <a:uFillTx/>
                <a:latin typeface="Aptos"/>
              </a:rPr>
              <a:t>UCS is written in C* and ε, not d, because with unequal costs depth measures nothing.</a:t>
            </a:r>
            <a:endParaRPr lang="en-US" sz="950" b="0" u="none" strike="noStrike">
              <a:solidFill>
                <a:srgbClr val="000000"/>
              </a:solidFill>
              <a:effectLst/>
              <a:uFillTx/>
              <a:latin typeface="Arial"/>
            </a:endParaRPr>
          </a:p>
        </p:txBody>
      </p:sp>
      <p:sp>
        <p:nvSpPr>
          <p:cNvPr id="2026" name="NoteCard 2012"/>
          <p:cNvSpPr/>
          <p:nvPr/>
        </p:nvSpPr>
        <p:spPr>
          <a:xfrm>
            <a:off x="8143200" y="1239840"/>
            <a:ext cx="3544920" cy="331884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p>
            <a:endParaRPr lang="en-US" sz="1200" b="0" u="none" strike="noStrike">
              <a:solidFill>
                <a:srgbClr val="000000"/>
              </a:solidFill>
              <a:effectLst/>
              <a:uFillTx/>
              <a:latin typeface="Aptos"/>
            </a:endParaRPr>
          </a:p>
        </p:txBody>
      </p:sp>
      <p:sp>
        <p:nvSpPr>
          <p:cNvPr id="2027" name="CardHead 2013"/>
          <p:cNvSpPr/>
          <p:nvPr/>
        </p:nvSpPr>
        <p:spPr>
          <a:xfrm>
            <a:off x="8349120" y="1377000"/>
            <a:ext cx="3133440" cy="228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pPr>
            <a:r>
              <a:rPr lang="en-US" sz="1150" b="1" u="none" strike="noStrike">
                <a:solidFill>
                  <a:srgbClr val="112E5C"/>
                </a:solidFill>
                <a:effectLst/>
                <a:uFillTx/>
                <a:latin typeface="Aptos"/>
              </a:rPr>
              <a:t>The superscripts are the exam questions</a:t>
            </a:r>
            <a:endParaRPr lang="en-US" sz="1150" b="0" u="none" strike="noStrike">
              <a:solidFill>
                <a:srgbClr val="000000"/>
              </a:solidFill>
              <a:effectLst/>
              <a:uFillTx/>
              <a:latin typeface="Arial"/>
            </a:endParaRPr>
          </a:p>
        </p:txBody>
      </p:sp>
      <p:sp>
        <p:nvSpPr>
          <p:cNvPr id="2028" name="CardBody 2014"/>
          <p:cNvSpPr/>
          <p:nvPr/>
        </p:nvSpPr>
        <p:spPr>
          <a:xfrm>
            <a:off x="8349120" y="1707120"/>
            <a:ext cx="3133440" cy="27147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0" u="none" strike="noStrike" baseline="30000">
                <a:solidFill>
                  <a:srgbClr val="102A4C"/>
                </a:solidFill>
                <a:effectLst/>
                <a:uFillTx/>
                <a:latin typeface="Aptos"/>
              </a:rPr>
              <a:t>1</a:t>
            </a:r>
            <a:r>
              <a:rPr lang="en-US" sz="950" b="0" u="none" strike="noStrike">
                <a:solidFill>
                  <a:srgbClr val="102A4C"/>
                </a:solidFill>
                <a:effectLst/>
                <a:uFillTx/>
                <a:latin typeface="Aptos"/>
              </a:rPr>
              <a:t>  Nothing is complete when the branching factor is infinite.</a:t>
            </a:r>
            <a:endParaRPr lang="en-US" sz="950" b="0" u="none" strike="noStrike">
              <a:solidFill>
                <a:srgbClr val="000000"/>
              </a:solidFill>
              <a:effectLst/>
              <a:uFillTx/>
              <a:latin typeface="Arial"/>
            </a:endParaRPr>
          </a:p>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0" u="none" strike="noStrike" baseline="30000">
                <a:solidFill>
                  <a:srgbClr val="102A4C"/>
                </a:solidFill>
                <a:effectLst/>
                <a:uFillTx/>
                <a:latin typeface="Aptos"/>
              </a:rPr>
              <a:t>2</a:t>
            </a:r>
            <a:r>
              <a:rPr lang="en-US" sz="950" b="0" u="none" strike="noStrike">
                <a:solidFill>
                  <a:srgbClr val="102A4C"/>
                </a:solidFill>
                <a:effectLst/>
                <a:uFillTx/>
                <a:latin typeface="Aptos"/>
              </a:rPr>
              <a:t>  UCS needs a positive floor ε on action costs, or near-zero steps defeat it.</a:t>
            </a:r>
            <a:endParaRPr lang="en-US" sz="950" b="0" u="none" strike="noStrike">
              <a:solidFill>
                <a:srgbClr val="000000"/>
              </a:solidFill>
              <a:effectLst/>
              <a:uFillTx/>
              <a:latin typeface="Arial"/>
            </a:endParaRPr>
          </a:p>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0" u="none" strike="noStrike" baseline="30000">
                <a:solidFill>
                  <a:srgbClr val="102A4C"/>
                </a:solidFill>
                <a:effectLst/>
                <a:uFillTx/>
                <a:latin typeface="Aptos"/>
              </a:rPr>
              <a:t>3</a:t>
            </a:r>
            <a:r>
              <a:rPr lang="en-US" sz="950" b="0" u="none" strike="noStrike">
                <a:solidFill>
                  <a:srgbClr val="102A4C"/>
                </a:solidFill>
                <a:effectLst/>
                <a:uFillTx/>
                <a:latin typeface="Aptos"/>
              </a:rPr>
              <a:t>  BFS and IDS are cost-optimal only for unit costs. UCS carries no such footnote.</a:t>
            </a:r>
            <a:endParaRPr lang="en-US" sz="950" b="0" u="none" strike="noStrike">
              <a:solidFill>
                <a:srgbClr val="000000"/>
              </a:solidFill>
              <a:effectLst/>
              <a:uFillTx/>
              <a:latin typeface="Arial"/>
            </a:endParaRPr>
          </a:p>
          <a:p>
            <a:pPr marL="137160" indent="-137160" defTabSz="914400">
              <a:lnSpc>
                <a:spcPct val="104000"/>
              </a:lnSpc>
              <a:spcAft>
                <a:spcPts val="380"/>
              </a:spcAft>
              <a:tabLst>
                <a:tab pos="0" algn="l"/>
              </a:tabLst>
            </a:pPr>
            <a:r>
              <a:rPr lang="en-US" sz="950" b="1" u="none" strike="noStrike">
                <a:solidFill>
                  <a:srgbClr val="F6A01A"/>
                </a:solidFill>
                <a:effectLst/>
                <a:uFillTx/>
                <a:latin typeface="Aptos"/>
              </a:rPr>
              <a:t>• </a:t>
            </a:r>
            <a:r>
              <a:rPr lang="en-US" sz="950" b="0" u="none" strike="noStrike" baseline="30000">
                <a:solidFill>
                  <a:srgbClr val="102A4C"/>
                </a:solidFill>
                <a:effectLst/>
                <a:uFillTx/>
                <a:latin typeface="Aptos"/>
              </a:rPr>
              <a:t>4</a:t>
            </a:r>
            <a:r>
              <a:rPr lang="en-US" sz="950" b="0" u="none" strike="noStrike">
                <a:solidFill>
                  <a:srgbClr val="102A4C"/>
                </a:solidFill>
                <a:effectLst/>
                <a:uFillTx/>
                <a:latin typeface="Aptos"/>
              </a:rPr>
              <a:t>  Bidirectional inherits its guarantees only if both halves are BFS or UCS.</a:t>
            </a:r>
            <a:endParaRPr lang="en-US" sz="950" b="0" u="none" strike="noStrike">
              <a:solidFill>
                <a:srgbClr val="000000"/>
              </a:solidFill>
              <a:effectLst/>
              <a:uFillTx/>
              <a:latin typeface="Arial"/>
            </a:endParaRPr>
          </a:p>
        </p:txBody>
      </p:sp>
      <p:sp>
        <p:nvSpPr>
          <p:cNvPr id="2029" name="Banner 2015"/>
          <p:cNvSpPr/>
          <p:nvPr/>
        </p:nvSpPr>
        <p:spPr>
          <a:xfrm>
            <a:off x="502920" y="4700160"/>
            <a:ext cx="11185200" cy="73908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182880" tIns="182880" rIns="182880" bIns="182880" anchor="ctr">
            <a:noAutofit/>
          </a:bodyPr>
          <a:p>
            <a:pPr defTabSz="914400">
              <a:lnSpc>
                <a:spcPct val="100000"/>
              </a:lnSpc>
            </a:pPr>
            <a:r>
              <a:rPr lang="en-US" sz="1050" b="1" u="none" strike="noStrike">
                <a:solidFill>
                  <a:srgbClr val="102A4C"/>
                </a:solidFill>
                <a:effectLst/>
                <a:uFillTx/>
                <a:latin typeface="Aptos"/>
              </a:rPr>
              <a:t>The one algorithm missing from Figure 3.15 is best-first search itself — because it is not a strategy, it is the loop the other six fill in. Change f(n) and you move across the columns.</a:t>
            </a:r>
            <a:endParaRPr lang="en-US" sz="1050" b="0" u="none" strike="noStrike">
              <a:solidFill>
                <a:srgbClr val="000000"/>
              </a:solidFill>
              <a:effectLst/>
              <a:uFillTx/>
              <a:latin typeface="Arial"/>
            </a:endParaRPr>
          </a:p>
        </p:txBody>
      </p:sp>
      <p:sp>
        <p:nvSpPr>
          <p:cNvPr id="2030" name="Banner 2016"/>
          <p:cNvSpPr/>
          <p:nvPr/>
        </p:nvSpPr>
        <p:spPr>
          <a:xfrm>
            <a:off x="502920" y="5559840"/>
            <a:ext cx="11185200" cy="658800"/>
          </a:xfrm>
          <a:prstGeom prst="roundRect">
            <a:avLst>
              <a:gd name="adj" fmla="val 3000"/>
            </a:avLst>
          </a:prstGeom>
          <a:solidFill>
            <a:srgbClr val="D9E9FF"/>
          </a:solidFill>
          <a:ln w="12700">
            <a:solidFill>
              <a:srgbClr val="D9E9FF"/>
            </a:solidFill>
          </a:ln>
        </p:spPr>
        <p:style>
          <a:lnRef idx="1">
            <a:schemeClr val="accent1"/>
          </a:lnRef>
          <a:fillRef idx="3">
            <a:schemeClr val="accent1"/>
          </a:fillRef>
          <a:effectRef idx="2">
            <a:schemeClr val="accent1"/>
          </a:effectRef>
          <a:fontRef idx="minor"/>
        </p:style>
        <p:txBody>
          <a:bodyPr lIns="182880" tIns="182880" rIns="182880" bIns="182880" anchor="ctr">
            <a:noAutofit/>
          </a:bodyPr>
          <a:p>
            <a:pPr defTabSz="914400">
              <a:lnSpc>
                <a:spcPct val="100000"/>
              </a:lnSpc>
            </a:pPr>
            <a:r>
              <a:rPr lang="en-US" sz="1050" b="1" u="none" strike="noStrike">
                <a:solidFill>
                  <a:srgbClr val="112E5C"/>
                </a:solidFill>
                <a:effectLst/>
                <a:uFillTx/>
                <a:latin typeface="Aptos"/>
              </a:rPr>
              <a:t>Next lecture adds f(n) = g(n) + h(n) — and this table gains a column that dominates almost every entry in it.</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2031" name="Shape 0"/>
          <p:cNvSpPr/>
          <p:nvPr/>
        </p:nvSpPr>
        <p:spPr>
          <a:xfrm>
            <a:off x="228600" y="228600"/>
            <a:ext cx="11748600" cy="748440"/>
          </a:xfrm>
          <a:prstGeom prst="rect">
            <a:avLst/>
          </a:prstGeom>
          <a:solidFill>
            <a:srgbClr val="112E5C"/>
          </a:solidFill>
          <a:ln w="12700">
            <a:solidFill>
              <a:srgbClr val="112E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32" name="Shape 1"/>
          <p:cNvSpPr/>
          <p:nvPr/>
        </p:nvSpPr>
        <p:spPr>
          <a:xfrm>
            <a:off x="228600" y="978480"/>
            <a:ext cx="11748600" cy="62640"/>
          </a:xfrm>
          <a:prstGeom prst="rect">
            <a:avLst/>
          </a:prstGeom>
          <a:solidFill>
            <a:srgbClr val="F6A01A"/>
          </a:solidFill>
          <a:ln w="12700">
            <a:solidFill>
              <a:srgbClr val="F6A01A"/>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033" name="Text 2"/>
          <p:cNvSpPr/>
          <p:nvPr/>
        </p:nvSpPr>
        <p:spPr>
          <a:xfrm>
            <a:off x="502920" y="393120"/>
            <a:ext cx="10788480" cy="3459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600" b="1" u="none" strike="noStrike">
                <a:solidFill>
                  <a:srgbClr val="FFFFFF"/>
                </a:solidFill>
                <a:effectLst/>
                <a:uFillTx/>
                <a:latin typeface="Aptos"/>
              </a:rPr>
              <a:t>Chapter 3.1-3.4 Takeaways</a:t>
            </a:r>
            <a:endParaRPr lang="en-US" sz="2600" b="0" u="none" strike="noStrike">
              <a:solidFill>
                <a:srgbClr val="000000"/>
              </a:solidFill>
              <a:effectLst/>
              <a:uFillTx/>
              <a:latin typeface="Arial"/>
            </a:endParaRPr>
          </a:p>
        </p:txBody>
      </p:sp>
      <p:sp>
        <p:nvSpPr>
          <p:cNvPr id="2034" name="Text 3"/>
          <p:cNvSpPr/>
          <p:nvPr/>
        </p:nvSpPr>
        <p:spPr>
          <a:xfrm>
            <a:off x="8869680" y="6510600"/>
            <a:ext cx="2787480" cy="208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035" name="Text 4"/>
          <p:cNvSpPr/>
          <p:nvPr/>
        </p:nvSpPr>
        <p:spPr>
          <a:xfrm>
            <a:off x="502920" y="6510600"/>
            <a:ext cx="4662000" cy="208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036" name="Text 5"/>
          <p:cNvSpPr/>
          <p:nvPr/>
        </p:nvSpPr>
        <p:spPr>
          <a:xfrm>
            <a:off x="914400" y="1325880"/>
            <a:ext cx="9965520" cy="484488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pPr>
            <a:r>
              <a:rPr lang="en-US" sz="2400" b="1" u="none" strike="noStrike">
                <a:solidFill>
                  <a:srgbClr val="112E5C"/>
                </a:solidFill>
                <a:effectLst/>
                <a:uFillTx/>
                <a:latin typeface="Aptos"/>
              </a:rPr>
              <a:t>Formulation comes first</a:t>
            </a:r>
            <a:endParaRPr lang="en-US" sz="2400" b="0" u="none" strike="noStrike">
              <a:solidFill>
                <a:srgbClr val="000000"/>
              </a:solidFill>
              <a:effectLst/>
              <a:uFillTx/>
              <a:latin typeface="Arial"/>
            </a:endParaRPr>
          </a:p>
          <a:p>
            <a:pPr defTabSz="914400">
              <a:lnSpc>
                <a:spcPct val="100000"/>
              </a:lnSpc>
            </a:pPr>
            <a:r>
              <a:rPr lang="en-US" sz="2400" b="0" u="none" strike="noStrike">
                <a:solidFill>
                  <a:srgbClr val="102A4C"/>
                </a:solidFill>
                <a:effectLst/>
                <a:uFillTx/>
                <a:latin typeface="Aptos"/>
              </a:rPr>
              <a:t>define states, initial state, actions, result, goal test, and costs</a:t>
            </a:r>
            <a:endParaRPr lang="en-US" sz="2400" b="0" u="none" strike="noStrike">
              <a:solidFill>
                <a:srgbClr val="000000"/>
              </a:solidFill>
              <a:effectLst/>
              <a:uFillTx/>
              <a:latin typeface="Arial"/>
            </a:endParaRPr>
          </a:p>
          <a:p>
            <a:pPr defTabSz="914400">
              <a:lnSpc>
                <a:spcPct val="100000"/>
              </a:lnSpc>
            </a:pPr>
            <a:r>
              <a:rPr lang="en-US" sz="2400" b="1" u="none" strike="noStrike">
                <a:solidFill>
                  <a:srgbClr val="112E5C"/>
                </a:solidFill>
                <a:effectLst/>
                <a:uFillTx/>
                <a:latin typeface="Aptos"/>
              </a:rPr>
              <a:t>Search trees are paths</a:t>
            </a:r>
            <a:endParaRPr lang="en-US" sz="2400" b="0" u="none" strike="noStrike">
              <a:solidFill>
                <a:srgbClr val="000000"/>
              </a:solidFill>
              <a:effectLst/>
              <a:uFillTx/>
              <a:latin typeface="Arial"/>
            </a:endParaRPr>
          </a:p>
          <a:p>
            <a:pPr defTabSz="914400">
              <a:lnSpc>
                <a:spcPct val="100000"/>
              </a:lnSpc>
            </a:pPr>
            <a:r>
              <a:rPr lang="en-US" sz="2400" b="0" u="none" strike="noStrike">
                <a:solidFill>
                  <a:srgbClr val="102A4C"/>
                </a:solidFill>
                <a:effectLst/>
                <a:uFillTx/>
                <a:latin typeface="Aptos"/>
              </a:rPr>
              <a:t>the same state can appear many times through different paths</a:t>
            </a:r>
            <a:endParaRPr lang="en-US" sz="2400" b="0" u="none" strike="noStrike">
              <a:solidFill>
                <a:srgbClr val="000000"/>
              </a:solidFill>
              <a:effectLst/>
              <a:uFillTx/>
              <a:latin typeface="Arial"/>
            </a:endParaRPr>
          </a:p>
          <a:p>
            <a:pPr defTabSz="914400">
              <a:lnSpc>
                <a:spcPct val="100000"/>
              </a:lnSpc>
            </a:pPr>
            <a:r>
              <a:rPr lang="en-US" sz="2400" b="1" u="none" strike="noStrike">
                <a:solidFill>
                  <a:srgbClr val="112E5C"/>
                </a:solidFill>
                <a:effectLst/>
                <a:uFillTx/>
                <a:latin typeface="Aptos"/>
              </a:rPr>
              <a:t>Frontier strategy matters</a:t>
            </a:r>
            <a:endParaRPr lang="en-US" sz="2400" b="0" u="none" strike="noStrike">
              <a:solidFill>
                <a:srgbClr val="000000"/>
              </a:solidFill>
              <a:effectLst/>
              <a:uFillTx/>
              <a:latin typeface="Arial"/>
            </a:endParaRPr>
          </a:p>
          <a:p>
            <a:pPr defTabSz="914400">
              <a:lnSpc>
                <a:spcPct val="100000"/>
              </a:lnSpc>
            </a:pPr>
            <a:r>
              <a:rPr lang="en-US" sz="2400" b="0" u="none" strike="noStrike">
                <a:solidFill>
                  <a:srgbClr val="102A4C"/>
                </a:solidFill>
                <a:effectLst/>
                <a:uFillTx/>
                <a:latin typeface="Aptos"/>
              </a:rPr>
              <a:t>BFS, UCS, and DFS mainly differ in which node is expanded next</a:t>
            </a:r>
            <a:endParaRPr lang="en-US" sz="2400" b="0" u="none" strike="noStrike">
              <a:solidFill>
                <a:srgbClr val="000000"/>
              </a:solidFill>
              <a:effectLst/>
              <a:uFillTx/>
              <a:latin typeface="Arial"/>
            </a:endParaRPr>
          </a:p>
          <a:p>
            <a:pPr defTabSz="914400">
              <a:lnSpc>
                <a:spcPct val="100000"/>
              </a:lnSpc>
            </a:pPr>
            <a:r>
              <a:rPr lang="en-US" sz="2400" b="1" u="none" strike="noStrike">
                <a:solidFill>
                  <a:srgbClr val="9B1C1C"/>
                </a:solidFill>
                <a:effectLst/>
                <a:uFillTx/>
                <a:latin typeface="Aptos"/>
              </a:rPr>
              <a:t>Uninformed search is expensive</a:t>
            </a:r>
            <a:endParaRPr lang="en-US" sz="2400" b="0" u="none" strike="noStrike">
              <a:solidFill>
                <a:srgbClr val="000000"/>
              </a:solidFill>
              <a:effectLst/>
              <a:uFillTx/>
              <a:latin typeface="Arial"/>
            </a:endParaRPr>
          </a:p>
          <a:p>
            <a:pPr defTabSz="914400">
              <a:lnSpc>
                <a:spcPct val="100000"/>
              </a:lnSpc>
            </a:pPr>
            <a:r>
              <a:rPr lang="en-US" sz="2400" b="0" u="none" strike="noStrike">
                <a:solidFill>
                  <a:srgbClr val="102A4C"/>
                </a:solidFill>
                <a:effectLst/>
                <a:uFillTx/>
                <a:latin typeface="Aptos"/>
              </a:rPr>
              <a:t>without a goal-distance estimate, exponential growth dominates</a:t>
            </a:r>
            <a:endParaRPr lang="en-US" sz="2400" b="0" u="none" strike="noStrike">
              <a:solidFill>
                <a:srgbClr val="000000"/>
              </a:solidFill>
              <a:effectLst/>
              <a:uFillTx/>
              <a:latin typeface="Arial"/>
            </a:endParaRPr>
          </a:p>
          <a:p>
            <a:pPr defTabSz="914400">
              <a:lnSpc>
                <a:spcPct val="100000"/>
              </a:lnSpc>
            </a:pPr>
            <a:r>
              <a:rPr lang="en-US" sz="2400" b="1" u="none" strike="noStrike">
                <a:solidFill>
                  <a:srgbClr val="177245"/>
                </a:solidFill>
                <a:effectLst/>
                <a:uFillTx/>
                <a:latin typeface="Aptos"/>
              </a:rPr>
              <a:t>Tradeoffs are unavoidable</a:t>
            </a:r>
            <a:endParaRPr lang="en-US" sz="2400" b="0" u="none" strike="noStrike">
              <a:solidFill>
                <a:srgbClr val="000000"/>
              </a:solidFill>
              <a:effectLst/>
              <a:uFillTx/>
              <a:latin typeface="Arial"/>
            </a:endParaRPr>
          </a:p>
          <a:p>
            <a:pPr defTabSz="914400">
              <a:lnSpc>
                <a:spcPct val="100000"/>
              </a:lnSpc>
            </a:pPr>
            <a:r>
              <a:rPr lang="en-US" sz="2400" b="0" u="none" strike="noStrike">
                <a:solidFill>
                  <a:srgbClr val="102A4C"/>
                </a:solidFill>
                <a:effectLst/>
                <a:uFillTx/>
                <a:latin typeface="Aptos"/>
              </a:rPr>
              <a:t>completeness, optimality, time, and memory determine the right strategy</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5F8"/>
        </a:solidFill>
      </p:bgPr>
    </p:bg>
    <p:spTree>
      <p:nvGrpSpPr>
        <p:cNvPr id="1" name=""/>
        <p:cNvGrpSpPr/>
        <p:nvPr/>
      </p:nvGrpSpPr>
      <p:grpSpPr>
        <a:xfrm>
          <a:off x="0" y="0"/>
          <a:ext cx="0" cy="0"/>
          <a:chOff x="0" y="0"/>
          <a:chExt cx="0" cy="0"/>
        </a:xfrm>
      </p:grpSpPr>
      <p:sp>
        <p:nvSpPr>
          <p:cNvPr id="2037" name="Rectangle 1"/>
          <p:cNvSpPr/>
          <p:nvPr/>
        </p:nvSpPr>
        <p:spPr>
          <a:xfrm>
            <a:off x="228600" y="228600"/>
            <a:ext cx="11748600" cy="74844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038" name="Rectangle 2"/>
          <p:cNvSpPr/>
          <p:nvPr/>
        </p:nvSpPr>
        <p:spPr>
          <a:xfrm>
            <a:off x="228600" y="978480"/>
            <a:ext cx="11748600" cy="6264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039" name="Rectangle 3"/>
          <p:cNvSpPr/>
          <p:nvPr/>
        </p:nvSpPr>
        <p:spPr>
          <a:xfrm>
            <a:off x="502920" y="393120"/>
            <a:ext cx="10788480" cy="3459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2600" b="1" u="none" strike="noStrike">
                <a:solidFill>
                  <a:srgbClr val="FFFFFF"/>
                </a:solidFill>
                <a:effectLst/>
                <a:uFillTx/>
                <a:latin typeface="Aptos"/>
              </a:rPr>
              <a:t>What Uninformed Search Cannot Do</a:t>
            </a:r>
            <a:endParaRPr lang="en-US" sz="2600" b="0" u="none" strike="noStrike">
              <a:solidFill>
                <a:srgbClr val="000000"/>
              </a:solidFill>
              <a:effectLst/>
              <a:uFillTx/>
              <a:latin typeface="Arial"/>
            </a:endParaRPr>
          </a:p>
        </p:txBody>
      </p:sp>
      <p:sp>
        <p:nvSpPr>
          <p:cNvPr id="2040" name="Rectangle 4"/>
          <p:cNvSpPr/>
          <p:nvPr/>
        </p:nvSpPr>
        <p:spPr>
          <a:xfrm>
            <a:off x="502920" y="6510600"/>
            <a:ext cx="466200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041" name="Rectangle 5"/>
          <p:cNvSpPr/>
          <p:nvPr/>
        </p:nvSpPr>
        <p:spPr>
          <a:xfrm>
            <a:off x="8869680" y="6510600"/>
            <a:ext cx="2787480" cy="2088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042" name="Rounded Rectangle 6"/>
          <p:cNvSpPr/>
          <p:nvPr/>
        </p:nvSpPr>
        <p:spPr>
          <a:xfrm>
            <a:off x="777240" y="1417320"/>
            <a:ext cx="5027760" cy="474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What we have after 3.1-3.4</a:t>
            </a:r>
            <a:endParaRPr lang="en-US" sz="1450" b="0" u="none" strike="noStrike">
              <a:solidFill>
                <a:srgbClr val="000000"/>
              </a:solidFill>
              <a:effectLst/>
              <a:uFillTx/>
              <a:latin typeface="Arial"/>
            </a:endParaRPr>
          </a:p>
        </p:txBody>
      </p:sp>
      <p:sp>
        <p:nvSpPr>
          <p:cNvPr id="2043" name="Rounded Rectangle 7"/>
          <p:cNvSpPr/>
          <p:nvPr/>
        </p:nvSpPr>
        <p:spPr>
          <a:xfrm>
            <a:off x="777240" y="2011680"/>
            <a:ext cx="5027760" cy="169020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044" name="Rectangle 8"/>
          <p:cNvSpPr/>
          <p:nvPr/>
        </p:nvSpPr>
        <p:spPr>
          <a:xfrm>
            <a:off x="1005840" y="2148840"/>
            <a:ext cx="4570560" cy="1415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00" b="0" u="none" strike="noStrike">
                <a:solidFill>
                  <a:srgbClr val="102A4C"/>
                </a:solidFill>
                <a:effectLst/>
                <a:uFillTx/>
                <a:latin typeface="Aptos"/>
              </a:rPr>
              <a:t>•  A formulation discipline: six parts, every time</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One algorithm, best-first search, with a swappable f(n)</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Completeness and cost-optimality we can actually argue for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And an exponential bill we cannot pay</a:t>
            </a:r>
            <a:endParaRPr lang="en-US" sz="1300" b="0" u="none" strike="noStrike">
              <a:solidFill>
                <a:srgbClr val="000000"/>
              </a:solidFill>
              <a:effectLst/>
              <a:uFillTx/>
              <a:latin typeface="Arial"/>
            </a:endParaRPr>
          </a:p>
        </p:txBody>
      </p:sp>
      <p:sp>
        <p:nvSpPr>
          <p:cNvPr id="2045" name="Rounded Rectangle 9"/>
          <p:cNvSpPr/>
          <p:nvPr/>
        </p:nvSpPr>
        <p:spPr>
          <a:xfrm>
            <a:off x="6385680" y="1417320"/>
            <a:ext cx="5027760" cy="474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450" b="1" u="none" strike="noStrike">
                <a:solidFill>
                  <a:srgbClr val="112E5C"/>
                </a:solidFill>
                <a:effectLst/>
                <a:uFillTx/>
                <a:latin typeface="Aptos"/>
              </a:rPr>
              <a:t>What is still missing</a:t>
            </a:r>
            <a:endParaRPr lang="en-US" sz="1450" b="0" u="none" strike="noStrike">
              <a:solidFill>
                <a:srgbClr val="000000"/>
              </a:solidFill>
              <a:effectLst/>
              <a:uFillTx/>
              <a:latin typeface="Arial"/>
            </a:endParaRPr>
          </a:p>
        </p:txBody>
      </p:sp>
      <p:sp>
        <p:nvSpPr>
          <p:cNvPr id="2046" name="Rounded Rectangle 10"/>
          <p:cNvSpPr/>
          <p:nvPr/>
        </p:nvSpPr>
        <p:spPr>
          <a:xfrm>
            <a:off x="6385680" y="2011680"/>
            <a:ext cx="5027760" cy="169020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p>
            <a:endParaRPr lang="en-US" sz="1800" b="0" u="none" strike="noStrike">
              <a:solidFill>
                <a:schemeClr val="lt1"/>
              </a:solidFill>
              <a:effectLst/>
              <a:uFillTx/>
              <a:latin typeface="Aptos"/>
            </a:endParaRPr>
          </a:p>
        </p:txBody>
      </p:sp>
      <p:sp>
        <p:nvSpPr>
          <p:cNvPr id="2047" name="Rectangle 11"/>
          <p:cNvSpPr/>
          <p:nvPr/>
        </p:nvSpPr>
        <p:spPr>
          <a:xfrm>
            <a:off x="6614280" y="2148840"/>
            <a:ext cx="4570560" cy="1415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p>
            <a:pPr defTabSz="914400">
              <a:lnSpc>
                <a:spcPct val="100000"/>
              </a:lnSpc>
              <a:spcAft>
                <a:spcPts val="700"/>
              </a:spcAft>
            </a:pPr>
            <a:r>
              <a:rPr lang="en-US" sz="1300" b="0" u="none" strike="noStrike">
                <a:solidFill>
                  <a:srgbClr val="102A4C"/>
                </a:solidFill>
                <a:effectLst/>
                <a:uFillTx/>
                <a:latin typeface="Aptos"/>
              </a:rPr>
              <a:t>•  Every strategy so far knows only where it has been</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None of them has any estimate of how far the goal still is</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So the search spreads in all directions equally</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b = 10, d = 14: three and a half years, with infinite memory</a:t>
            </a:r>
            <a:endParaRPr lang="en-US" sz="1300" b="0" u="none" strike="noStrike">
              <a:solidFill>
                <a:srgbClr val="000000"/>
              </a:solidFill>
              <a:effectLst/>
              <a:uFillTx/>
              <a:latin typeface="Arial"/>
            </a:endParaRPr>
          </a:p>
        </p:txBody>
      </p:sp>
      <p:sp>
        <p:nvSpPr>
          <p:cNvPr id="2048" name="Rounded Rectangle 12"/>
          <p:cNvSpPr/>
          <p:nvPr/>
        </p:nvSpPr>
        <p:spPr>
          <a:xfrm>
            <a:off x="914400" y="3977640"/>
            <a:ext cx="10422720" cy="592920"/>
          </a:xfrm>
          <a:prstGeom prst="roundRect">
            <a:avLst>
              <a:gd name="adj" fmla="val 110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p>
            <a:pPr algn="ctr" defTabSz="914400">
              <a:lnSpc>
                <a:spcPct val="100000"/>
              </a:lnSpc>
            </a:pPr>
            <a:r>
              <a:rPr lang="en-US" sz="1500" b="0" u="none" strike="noStrike">
                <a:solidFill>
                  <a:srgbClr val="FFFFFF"/>
                </a:solidFill>
                <a:effectLst/>
                <a:uFillTx/>
                <a:latin typeface="Aptos"/>
              </a:rPr>
              <a:t>Next lecture, one change:  </a:t>
            </a:r>
            <a:r>
              <a:rPr lang="en-US" sz="2200" b="1" u="none" strike="noStrike">
                <a:solidFill>
                  <a:srgbClr val="FFFFFF"/>
                </a:solidFill>
                <a:effectLst/>
                <a:uFillTx/>
                <a:latin typeface="Aptos"/>
              </a:rPr>
              <a:t>f(n) = g(n) + h(n)</a:t>
            </a:r>
            <a:endParaRPr lang="en-US" sz="2200" b="0" u="none" strike="noStrike">
              <a:solidFill>
                <a:srgbClr val="FFFFFF"/>
              </a:solidFill>
              <a:effectLst/>
              <a:uFillTx/>
              <a:latin typeface="Arial"/>
            </a:endParaRPr>
          </a:p>
        </p:txBody>
      </p:sp>
      <p:sp>
        <p:nvSpPr>
          <p:cNvPr id="2049" name="Rectangle 13"/>
          <p:cNvSpPr/>
          <p:nvPr/>
        </p:nvSpPr>
        <p:spPr>
          <a:xfrm>
            <a:off x="914400" y="47548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700" b="1" u="none" strike="noStrike">
                <a:solidFill>
                  <a:srgbClr val="102A4C"/>
                </a:solidFill>
                <a:effectLst/>
                <a:uFillTx/>
                <a:latin typeface="Aptos"/>
              </a:rPr>
              <a:t>g(n) is the cost already paid. h(n) is an estimate of the cost still to come.</a:t>
            </a:r>
            <a:endParaRPr lang="en-US" sz="1700" b="0" u="none" strike="noStrike">
              <a:solidFill>
                <a:srgbClr val="000000"/>
              </a:solidFill>
              <a:effectLst/>
              <a:uFillTx/>
              <a:latin typeface="Arial"/>
            </a:endParaRPr>
          </a:p>
        </p:txBody>
      </p:sp>
      <p:sp>
        <p:nvSpPr>
          <p:cNvPr id="2050" name="Rectangle 14"/>
          <p:cNvSpPr/>
          <p:nvPr/>
        </p:nvSpPr>
        <p:spPr>
          <a:xfrm>
            <a:off x="914400" y="516636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500" b="1" u="none" strike="noStrike">
                <a:solidFill>
                  <a:srgbClr val="9B1C1C"/>
                </a:solidFill>
                <a:effectLst/>
                <a:uFillTx/>
                <a:latin typeface="Aptos"/>
              </a:rPr>
              <a:t>Same loop, same frontier — the contours stop surrounding the start and reach for the goal.</a:t>
            </a:r>
            <a:endParaRPr lang="en-US" sz="1500" b="0" u="none" strike="noStrike">
              <a:solidFill>
                <a:srgbClr val="000000"/>
              </a:solidFill>
              <a:effectLst/>
              <a:uFillTx/>
              <a:latin typeface="Arial"/>
            </a:endParaRPr>
          </a:p>
        </p:txBody>
      </p:sp>
      <p:sp>
        <p:nvSpPr>
          <p:cNvPr id="2051" name="Rectangle 15"/>
          <p:cNvSpPr/>
          <p:nvPr/>
        </p:nvSpPr>
        <p:spPr>
          <a:xfrm>
            <a:off x="914400" y="5669280"/>
            <a:ext cx="10422720" cy="327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p>
            <a:pPr algn="ctr" defTabSz="914400">
              <a:lnSpc>
                <a:spcPct val="100000"/>
              </a:lnSpc>
            </a:pPr>
            <a:r>
              <a:rPr lang="en-US" sz="1350" b="0" u="none" strike="noStrike">
                <a:solidFill>
                  <a:srgbClr val="5C6B80"/>
                </a:solidFill>
                <a:effectLst/>
                <a:uFillTx/>
                <a:latin typeface="Aptos"/>
              </a:rPr>
              <a:t>Section 3.5: greedy best-first search, A*, admissibility, and consistency.</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361</TotalTime>
  <Application>LibreOffice/26.2.4.2$Linux_X86_64 LibreOffice_project/620$Build-2</Application>
  <AppVersion>15.0000</AppVersion>
  <Words>17612</Words>
  <Paragraphs>1673</Paragraphs>
  <Company>CSU Channel Islands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2026-08-01T09:17:29Z</dcterms:created>
  <dc:creator>COMP 469</dc:creator>
  <dc:description/>
  <dc:language>en-US</dc:language>
  <cp:lastModifiedBy/>
  <dcterms:modified xsi:type="dcterms:W3CDTF">2026-08-12T22:23:13Z</dcterms:modified>
  <cp:revision>36</cp:revision>
  <dc:subject>AIMA Chapter 3 Sections 3.1-3.4</dc:subject>
  <dc:title>COMP 469 Chapter 3 Solving Problems by Searching - CSUCI Clean Enhanced</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73</vt:i4>
  </property>
  <property fmtid="{D5CDD505-2E9C-101B-9397-08002B2CF9AE}" pid="3" name="PresentationFormat">
    <vt:lpwstr>Widescreen</vt:lpwstr>
  </property>
  <property fmtid="{D5CDD505-2E9C-101B-9397-08002B2CF9AE}" pid="4" name="Slides">
    <vt:i4>73</vt:i4>
  </property>
</Properties>
</file>