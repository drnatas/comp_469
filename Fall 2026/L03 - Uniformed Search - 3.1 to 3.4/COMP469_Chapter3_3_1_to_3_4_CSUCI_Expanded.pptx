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316" r:id="rId43"/>
    <p:sldId id="317" r:id="rId44"/>
    <p:sldId id="315" r:id="rId45"/>
    <p:sldId id="297" r:id="rId46"/>
    <p:sldId id="298" r:id="rId47"/>
    <p:sldId id="318" r:id="rId48"/>
    <p:sldId id="299" r:id="rId49"/>
    <p:sldId id="300" r:id="rId50"/>
    <p:sldId id="301" r:id="rId51"/>
    <p:sldId id="302" r:id="rId52"/>
    <p:sldId id="303" r:id="rId53"/>
    <p:sldId id="304" r:id="rId54"/>
    <p:sldId id="305" r:id="rId55"/>
    <p:sldId id="306" r:id="rId56"/>
    <p:sldId id="307" r:id="rId57"/>
    <p:sldId id="308" r:id="rId58"/>
    <p:sldId id="319" r:id="rId59"/>
    <p:sldId id="320" r:id="rId60"/>
    <p:sldId id="321" r:id="rId61"/>
    <p:sldId id="309" r:id="rId62"/>
    <p:sldId id="310" r:id="rId63"/>
    <p:sldId id="311" r:id="rId64"/>
    <p:sldId id="322" r:id="rId65"/>
    <p:sldId id="323" r:id="rId66"/>
    <p:sldId id="312" r:id="rId67"/>
    <p:sldId id="324" r:id="rId68"/>
    <p:sldId id="325" r:id="rId69"/>
    <p:sldId id="313" r:id="rId70"/>
    <p:sldId id="314" r:id="rId7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42" autoAdjust="0"/>
  </p:normalViewPr>
  <p:slideViewPr>
    <p:cSldViewPr snapToGrid="0">
      <p:cViewPr varScale="1">
        <p:scale>
          <a:sx n="133" d="100"/>
          <a:sy n="133" d="100"/>
        </p:scale>
        <p:origin x="286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9"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0"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1"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6B03665-A6A4-4501-ACA4-2DDDAE94154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 name="PlaceHolder 1"/>
          <p:cNvSpPr>
            <a:spLocks noGrp="1" noRot="1" noChangeAspect="1"/>
          </p:cNvSpPr>
          <p:nvPr>
            <p:ph type="sldImg"/>
          </p:nvPr>
        </p:nvSpPr>
        <p:spPr>
          <a:xfrm>
            <a:off x="685800" y="1143000"/>
            <a:ext cx="5486040" cy="3085920"/>
          </a:xfrm>
          <a:prstGeom prst="rect">
            <a:avLst/>
          </a:prstGeom>
          <a:ln w="0">
            <a:noFill/>
          </a:ln>
        </p:spPr>
      </p:sp>
      <p:sp>
        <p:nvSpPr>
          <p:cNvPr id="14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Opening script: Today we are covering Chapter 3, Sections 3.1 through 3.4 only. The theme is that when the right next action is not obvious, an intelligent agent can look ahead. It formulates a goal, builds an abstract model of the problem, searches through possible action sequences, and executes a solution. We are not yet using heuristics or A star. Those belong to the next lecture.</a:t>
            </a:r>
          </a:p>
        </p:txBody>
      </p:sp>
      <p:sp>
        <p:nvSpPr>
          <p:cNvPr id="142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A35A65-B105-4101-8170-887C26B4909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 name="PlaceHolder 1"/>
          <p:cNvSpPr>
            <a:spLocks noGrp="1" noRot="1" noChangeAspect="1"/>
          </p:cNvSpPr>
          <p:nvPr>
            <p:ph type="sldImg"/>
          </p:nvPr>
        </p:nvSpPr>
        <p:spPr>
          <a:xfrm>
            <a:off x="685800" y="1143000"/>
            <a:ext cx="5486400" cy="3086100"/>
          </a:xfrm>
          <a:prstGeom prst="rect">
            <a:avLst/>
          </a:prstGeom>
          <a:ln w="0">
            <a:noFill/>
          </a:ln>
        </p:spPr>
      </p:sp>
      <p:sp>
        <p:nvSpPr>
          <p:cNvPr id="14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sets the boundaries. Section 3.1 gives the problem-solving agent process. Section 3.2 gives examples. Section 3.3 explains the search tree, frontier, and reached table. Section 3.4 compares uninformed strategies. Keep students from jumping to A star; that is deliberately outside today’s scope.</a:t>
            </a:r>
          </a:p>
        </p:txBody>
      </p:sp>
      <p:sp>
        <p:nvSpPr>
          <p:cNvPr id="142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DADCC93-DE3E-4926-8122-D19CD63B4051}"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 name="PlaceHolder 1"/>
          <p:cNvSpPr>
            <a:spLocks noGrp="1" noRot="1" noChangeAspect="1"/>
          </p:cNvSpPr>
          <p:nvPr>
            <p:ph type="sldImg"/>
          </p:nvPr>
        </p:nvSpPr>
        <p:spPr>
          <a:xfrm>
            <a:off x="685800" y="1143000"/>
            <a:ext cx="5486400" cy="3086100"/>
          </a:xfrm>
          <a:prstGeom prst="rect">
            <a:avLst/>
          </a:prstGeom>
          <a:ln w="0">
            <a:noFill/>
          </a:ln>
        </p:spPr>
      </p:sp>
      <p:sp>
        <p:nvSpPr>
          <p:cNvPr id="14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this slide to connect Chapter 2 and Chapter 3. A simple reflex agent reacts to the current percept. A problem-solving agent looks ahead. It simulates action sequences, checks whether they reach a goal, and returns a plan. Search is the computational process of exploring those possible action sequences.</a:t>
            </a:r>
          </a:p>
        </p:txBody>
      </p:sp>
      <p:sp>
        <p:nvSpPr>
          <p:cNvPr id="142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5E873E-4A4D-46FE-816A-5BDC717646F8}"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 name="PlaceHolder 1"/>
          <p:cNvSpPr>
            <a:spLocks noGrp="1" noRot="1" noChangeAspect="1"/>
          </p:cNvSpPr>
          <p:nvPr>
            <p:ph type="sldImg"/>
          </p:nvPr>
        </p:nvSpPr>
        <p:spPr>
          <a:xfrm>
            <a:off x="685800" y="1143000"/>
            <a:ext cx="5486040" cy="3085920"/>
          </a:xfrm>
          <a:prstGeom prst="rect">
            <a:avLst/>
          </a:prstGeom>
          <a:ln w="0">
            <a:noFill/>
          </a:ln>
        </p:spPr>
      </p:sp>
      <p:sp>
        <p:nvSpPr>
          <p:cNvPr id="14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bridges Chapter 2 and Chapter 3, using the CS188 reflex-versus-planning contrast. A reflex agent maps the current percept to an action. A planning agent simulates action sequences and evaluates their outcomes before acting. The one-line summary students should remember: a reflex agent considers how the world IS; a planning agent considers how the world WOULD BE. Also flag the representation point from the chapter opener: Chapter 3 uses atomic states, so the algorithms never look inside a state. Use the discussion question to draw out that a reflex agent can be rational when the environment is simple enough that the right action is a function of the current percept alone.</a:t>
            </a:r>
          </a:p>
        </p:txBody>
      </p:sp>
      <p:sp>
        <p:nvSpPr>
          <p:cNvPr id="143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2CEE9E3-1F68-492D-B1D6-F22C36A6D6FC}"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 name="PlaceHolder 1"/>
          <p:cNvSpPr>
            <a:spLocks noGrp="1" noRot="1" noChangeAspect="1"/>
          </p:cNvSpPr>
          <p:nvPr>
            <p:ph type="sldImg"/>
          </p:nvPr>
        </p:nvSpPr>
        <p:spPr>
          <a:xfrm>
            <a:off x="685800" y="1143000"/>
            <a:ext cx="5486400" cy="3086100"/>
          </a:xfrm>
          <a:prstGeom prst="rect">
            <a:avLst/>
          </a:prstGeom>
          <a:ln w="0">
            <a:noFill/>
          </a:ln>
        </p:spPr>
      </p:sp>
      <p:sp>
        <p:nvSpPr>
          <p:cNvPr id="14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Read this process slowly. First, formulate a goal. Second, formulate a search problem by choosing the right abstraction. Third, search inside the model before acting in the real world. Fourth, execute the returned action sequence. The Romania route problem is the canonical example.</a:t>
            </a:r>
          </a:p>
        </p:txBody>
      </p:sp>
      <p:sp>
        <p:nvSpPr>
          <p:cNvPr id="143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95F574-FFDF-4165-A94D-DBE121DA1F91}"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 name="PlaceHolder 1"/>
          <p:cNvSpPr>
            <a:spLocks noGrp="1" noRot="1" noChangeAspect="1"/>
          </p:cNvSpPr>
          <p:nvPr>
            <p:ph type="sldImg"/>
          </p:nvPr>
        </p:nvSpPr>
        <p:spPr>
          <a:xfrm>
            <a:off x="685800" y="1143000"/>
            <a:ext cx="5486400" cy="3086100"/>
          </a:xfrm>
          <a:prstGeom prst="rect">
            <a:avLst/>
          </a:prstGeom>
          <a:ln w="0">
            <a:noFill/>
          </a:ln>
        </p:spPr>
      </p:sp>
      <p:sp>
        <p:nvSpPr>
          <p:cNvPr id="14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For this part of the chapter, AIMA assumes relatively simple environments: fully observable, deterministic, known, static, discrete, and single-agent. Under these assumptions a solution is a fixed action sequence. This is an open-loop plan. If those assumptions fail, the agent should monitor percepts and replan or use a branching strategy.</a:t>
            </a:r>
          </a:p>
        </p:txBody>
      </p:sp>
      <p:sp>
        <p:nvSpPr>
          <p:cNvPr id="143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734D9B-F353-4FDB-8FB9-4C8241408DAD}"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8" name="PlaceHolder 1"/>
          <p:cNvSpPr>
            <a:spLocks noGrp="1" noRot="1" noChangeAspect="1"/>
          </p:cNvSpPr>
          <p:nvPr>
            <p:ph type="sldImg"/>
          </p:nvPr>
        </p:nvSpPr>
        <p:spPr>
          <a:xfrm>
            <a:off x="685800" y="1143000"/>
            <a:ext cx="5486400" cy="3086100"/>
          </a:xfrm>
          <a:prstGeom prst="rect">
            <a:avLst/>
          </a:prstGeom>
          <a:ln w="0">
            <a:noFill/>
          </a:ln>
        </p:spPr>
      </p:sp>
      <p:sp>
        <p:nvSpPr>
          <p:cNvPr id="14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search problem has six parts: state space, initial state, goal test, actions, transition model, and action cost. Keep this as the checklist for every example. If a student cannot identify these six items, the problem is not yet formulated as a search problem.</a:t>
            </a:r>
          </a:p>
        </p:txBody>
      </p:sp>
      <p:sp>
        <p:nvSpPr>
          <p:cNvPr id="144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E602FE-491E-49C4-8560-959229DCCCA0}"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1" name="PlaceHolder 1"/>
          <p:cNvSpPr>
            <a:spLocks noGrp="1" noRot="1" noChangeAspect="1"/>
          </p:cNvSpPr>
          <p:nvPr>
            <p:ph type="sldImg"/>
          </p:nvPr>
        </p:nvSpPr>
        <p:spPr>
          <a:xfrm>
            <a:off x="685800" y="1143000"/>
            <a:ext cx="5486400" cy="3086100"/>
          </a:xfrm>
          <a:prstGeom prst="rect">
            <a:avLst/>
          </a:prstGeom>
          <a:ln w="0">
            <a:noFill/>
          </a:ln>
        </p:spPr>
      </p:sp>
      <p:sp>
        <p:nvSpPr>
          <p:cNvPr id="1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the Romania route problem to instantiate the formal definition. Cities are states. Roads are actions. The transition model follows roads to adjacent cities. The cost can be distance, time, fuel, or another performance measure.</a:t>
            </a:r>
          </a:p>
        </p:txBody>
      </p:sp>
      <p:sp>
        <p:nvSpPr>
          <p:cNvPr id="144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D3A22D-F8F8-42A3-9B08-CCBEA607746D}"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4" name="PlaceHolder 1"/>
          <p:cNvSpPr>
            <a:spLocks noGrp="1" noRot="1" noChangeAspect="1"/>
          </p:cNvSpPr>
          <p:nvPr>
            <p:ph type="sldImg"/>
          </p:nvPr>
        </p:nvSpPr>
        <p:spPr>
          <a:xfrm>
            <a:off x="685800" y="1143000"/>
            <a:ext cx="5486400" cy="3086100"/>
          </a:xfrm>
          <a:prstGeom prst="rect">
            <a:avLst/>
          </a:prstGeom>
          <a:ln w="0">
            <a:noFill/>
          </a:ln>
        </p:spPr>
      </p:sp>
      <p:sp>
        <p:nvSpPr>
          <p:cNvPr id="14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search problem is a model, not the real world. A good abstraction removes irrelevant details while preserving the ability to turn the abstract solution into a real action sequence. If the abstraction is too detailed, search is impossible. If it is too coarse, the plan may not be executable.</a:t>
            </a:r>
          </a:p>
        </p:txBody>
      </p:sp>
      <p:sp>
        <p:nvSpPr>
          <p:cNvPr id="144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E9EB0-8C41-47A7-82E6-4C96EA6D2509}"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 name="PlaceHolder 1"/>
          <p:cNvSpPr>
            <a:spLocks noGrp="1" noRot="1" noChangeAspect="1"/>
          </p:cNvSpPr>
          <p:nvPr>
            <p:ph type="sldImg"/>
          </p:nvPr>
        </p:nvSpPr>
        <p:spPr>
          <a:xfrm>
            <a:off x="685800" y="1143000"/>
            <a:ext cx="5486400" cy="3086100"/>
          </a:xfrm>
          <a:prstGeom prst="rect">
            <a:avLst/>
          </a:prstGeom>
          <a:ln w="0">
            <a:noFill/>
          </a:ln>
        </p:spPr>
      </p:sp>
      <p:sp>
        <p:nvSpPr>
          <p:cNvPr id="1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is the CS188 idea expressed in CSUCI form: search operates over models. The agent does not actually drive every road or move every tile in the physical world. It simulates possible actions inside an abstraction. The usefulness of the search algorithm depends on whether the model captures the facts relevant to the goal and cost.</a:t>
            </a:r>
          </a:p>
        </p:txBody>
      </p:sp>
      <p:sp>
        <p:nvSpPr>
          <p:cNvPr id="144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3361DC-9148-4712-8C38-5DEF73BEE56B}"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400" cy="3086100"/>
          </a:xfrm>
          <a:prstGeom prst="rect">
            <a:avLst/>
          </a:prstGeom>
          <a:ln w="0">
            <a:noFill/>
          </a:ln>
        </p:spPr>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Section 3.2 shows that the same search vocabulary applies across many domains. Standardized problems are concise and useful for comparing algorithms. Real-world problems are more idiosyncratic because sensors, actuators, constraints, and costs vary.</a:t>
            </a:r>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 name="PlaceHolder 1"/>
          <p:cNvSpPr>
            <a:spLocks noGrp="1" noRot="1" noChangeAspect="1"/>
          </p:cNvSpPr>
          <p:nvPr>
            <p:ph type="sldImg"/>
          </p:nvPr>
        </p:nvSpPr>
        <p:spPr>
          <a:xfrm>
            <a:off x="685800" y="1143000"/>
            <a:ext cx="5486040" cy="3085920"/>
          </a:xfrm>
          <a:prstGeom prst="rect">
            <a:avLst/>
          </a:prstGeom>
          <a:ln w="0">
            <a:noFill/>
          </a:ln>
        </p:spPr>
      </p:sp>
      <p:sp>
        <p:nvSpPr>
          <p:cNvPr id="1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Grid worlds are the workhorse of Section 3.2.1 and the family most of the programming assignments come from. The point worth slowing down for is the action vocabulary. Absolute actions keep the state small because orientation never enters it. Egocentric actions need a facing in the state, which multiplies the space by four, but they are what a real robot actually executes. That is a formulation decision, not a fact about the world, and it is exactly the kind of choice students have to start making deliberately. Sokoban then shows how fast the space grows once the state has to track movable objects rather than just the agent.</a:t>
            </a:r>
          </a:p>
        </p:txBody>
      </p:sp>
      <p:sp>
        <p:nvSpPr>
          <p:cNvPr id="145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EFA286-C579-49C3-AA8B-194178FA45D3}"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 name="PlaceHolder 1"/>
          <p:cNvSpPr>
            <a:spLocks noGrp="1" noRot="1" noChangeAspect="1"/>
          </p:cNvSpPr>
          <p:nvPr>
            <p:ph type="sldImg"/>
          </p:nvPr>
        </p:nvSpPr>
        <p:spPr>
          <a:xfrm>
            <a:off x="685800" y="1143000"/>
            <a:ext cx="5486040" cy="3085920"/>
          </a:xfrm>
          <a:prstGeom prst="rect">
            <a:avLst/>
          </a:prstGeom>
          <a:ln w="0">
            <a:noFill/>
          </a:ln>
        </p:spPr>
      </p:sp>
      <p:sp>
        <p:nvSpPr>
          <p:cNvPr id="14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Section 3.2 is where students should practice the six-part formulation until it is automatic. Walk the 8-puzzle down the same checklist used for Romania. Two points worth dwelling on. First, the action is described as moving the blank, not moving a tile, because that gives four actions instead of eight and is far simpler to implement. Second, the parity property: any given goal is reachable from exactly half of the possible initial states, which is why the count is 9!/2 rather than 9!. Close on the abstraction point from 3.1.2 - the formulation already threw away the physical sliding motion and every illegal physical manipulation.</a:t>
            </a:r>
          </a:p>
        </p:txBody>
      </p:sp>
      <p:sp>
        <p:nvSpPr>
          <p:cNvPr id="145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89774D-8E55-4A5B-844F-F090B1F3A50A}"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9" name="PlaceHolder 1"/>
          <p:cNvSpPr>
            <a:spLocks noGrp="1" noRot="1" noChangeAspect="1"/>
          </p:cNvSpPr>
          <p:nvPr>
            <p:ph type="sldImg"/>
          </p:nvPr>
        </p:nvSpPr>
        <p:spPr>
          <a:xfrm>
            <a:off x="685800" y="1143000"/>
            <a:ext cx="5486040" cy="3085920"/>
          </a:xfrm>
          <a:prstGeom prst="rect">
            <a:avLst/>
          </a:prstGeom>
          <a:ln w="0">
            <a:noFill/>
          </a:ln>
        </p:spPr>
      </p:sp>
      <p:sp>
        <p:nvSpPr>
          <p:cNvPr id="14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standardized problem students most often skip, and it is the one that matters most for the theory. It is the counterexample that shows a search can avoid every repeated state and still be incomplete. The shortest path from 4 to 5 goes through 4 factorial factorial, which is roughly six times ten to the twenty-third. Set this slide up as the motivation for the systematic-search discussion later in the lecture.</a:t>
            </a:r>
          </a:p>
        </p:txBody>
      </p:sp>
      <p:sp>
        <p:nvSpPr>
          <p:cNvPr id="146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1082E4-95E0-46DB-A81D-A2A76AB564DB}" type="slidenum">
              <a:rPr lang="en-US"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2" name="PlaceHolder 1"/>
          <p:cNvSpPr>
            <a:spLocks noGrp="1" noRot="1" noChangeAspect="1"/>
          </p:cNvSpPr>
          <p:nvPr>
            <p:ph type="sldImg"/>
          </p:nvPr>
        </p:nvSpPr>
        <p:spPr>
          <a:xfrm>
            <a:off x="685800" y="1143000"/>
            <a:ext cx="5486400" cy="3086100"/>
          </a:xfrm>
          <a:prstGeom prst="rect">
            <a:avLst/>
          </a:prstGeom>
          <a:ln w="0">
            <a:noFill/>
          </a:ln>
        </p:spPr>
      </p:sp>
      <p:sp>
        <p:nvSpPr>
          <p:cNvPr id="14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the vacuum world to make combinatorial growth concrete. The two-cell world has eight states. In general, an n-cell vacuum world has n times two to the n states. The key lesson is that every additional state variable multiplies the search space.</a:t>
            </a:r>
          </a:p>
        </p:txBody>
      </p:sp>
      <p:sp>
        <p:nvSpPr>
          <p:cNvPr id="146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017E52-DF6D-497F-AD2F-D6A72FEC35A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 name="PlaceHolder 1"/>
          <p:cNvSpPr>
            <a:spLocks noGrp="1" noRot="1" noChangeAspect="1"/>
          </p:cNvSpPr>
          <p:nvPr>
            <p:ph type="sldImg"/>
          </p:nvPr>
        </p:nvSpPr>
        <p:spPr>
          <a:xfrm>
            <a:off x="685800" y="1143000"/>
            <a:ext cx="5486400" cy="3086100"/>
          </a:xfrm>
          <a:prstGeom prst="rect">
            <a:avLst/>
          </a:prstGeom>
          <a:ln w="0">
            <a:noFill/>
          </a:ln>
        </p:spPr>
      </p:sp>
      <p:sp>
        <p:nvSpPr>
          <p:cNvPr id="1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The world state contains everything. A search state keeps only what is needed for planning. The same physical game can require different search states depending on the task. Pathing needs position only. Eating all dots requires dot status. Safe passage requires timers and power-pellet status.</a:t>
            </a:r>
          </a:p>
        </p:txBody>
      </p:sp>
      <p:sp>
        <p:nvSpPr>
          <p:cNvPr id="146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30EAB-717F-4B33-8FC5-299D400047CE}"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8" name="PlaceHolder 1"/>
          <p:cNvSpPr>
            <a:spLocks noGrp="1" noRot="1" noChangeAspect="1"/>
          </p:cNvSpPr>
          <p:nvPr>
            <p:ph type="sldImg"/>
          </p:nvPr>
        </p:nvSpPr>
        <p:spPr>
          <a:xfrm>
            <a:off x="685800" y="1143000"/>
            <a:ext cx="5486040" cy="3085920"/>
          </a:xfrm>
          <a:prstGeom prst="rect">
            <a:avLst/>
          </a:prstGeom>
          <a:ln w="0">
            <a:noFill/>
          </a:ln>
        </p:spPr>
      </p:sp>
      <p:sp>
        <p:nvSpPr>
          <p:cNvPr id="1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CS188 state-space-sizing exercise, and it is the fastest way to make the earlier vacuum-world arithmetic concrete. Work the multiplication out loud. Then make the key move: the same maze gives three completely different state spaces depending on which problem you are solving. Pathing needs 120 states. Eat-all-dots needs 120 times two to the thirtieth. Safe passage adds power-pellet booleans and a scared timer. Ask the class which variables they could drop for each task, and why the answer depends entirely on what the goal test reads.</a:t>
            </a:r>
          </a:p>
        </p:txBody>
      </p:sp>
      <p:sp>
        <p:nvSpPr>
          <p:cNvPr id="147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2AF48E-86BA-470B-B5FF-8AD6A6B3434A}" type="slidenum">
              <a:rPr lang="en-US" sz="1200" b="0" u="none" strike="noStrike">
                <a:solidFill>
                  <a:srgbClr val="000000"/>
                </a:solidFill>
                <a:effectLst/>
                <a:uFillTx/>
                <a:latin typeface="Times New Roman"/>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 name="PlaceHolder 1"/>
          <p:cNvSpPr>
            <a:spLocks noGrp="1" noRot="1" noChangeAspect="1"/>
          </p:cNvSpPr>
          <p:nvPr>
            <p:ph type="sldImg"/>
          </p:nvPr>
        </p:nvSpPr>
        <p:spPr>
          <a:xfrm>
            <a:off x="685800" y="1143000"/>
            <a:ext cx="5486040" cy="3085920"/>
          </a:xfrm>
          <a:prstGeom prst="rect">
            <a:avLst/>
          </a:prstGeom>
          <a:ln w="0">
            <a:noFill/>
          </a:ln>
        </p:spPr>
      </p:sp>
      <p:sp>
        <p:nvSpPr>
          <p:cNvPr id="1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best real-world example in Section 3.2.2 because it breaks a assumption students have quietly been making, namely that a state is just a snapshot of where you are. In airline planning the fare for a segment depends on which segments you already flew and on their fare bases, so a state that records only the airport and the time is not Markovian with respect to the cost function. The state has to absorb enough history to make the cost well defined. State this as a general test and connect it back to the Pac-Man slide: a variable belongs in the state exactly when the goal test or the cost function reads it. Close by noting that a genuinely good travel system also needs contingency plans, which is closed-loop behaviour and belongs to Chapter 4.</a:t>
            </a:r>
          </a:p>
        </p:txBody>
      </p:sp>
      <p:sp>
        <p:nvSpPr>
          <p:cNvPr id="147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9B6935-4D90-4530-B587-09D4AF80DEA0}"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 name="PlaceHolder 1"/>
          <p:cNvSpPr>
            <a:spLocks noGrp="1" noRot="1" noChangeAspect="1"/>
          </p:cNvSpPr>
          <p:nvPr>
            <p:ph type="sldImg"/>
          </p:nvPr>
        </p:nvSpPr>
        <p:spPr>
          <a:xfrm>
            <a:off x="685800" y="1143000"/>
            <a:ext cx="5486040" cy="3085920"/>
          </a:xfrm>
          <a:prstGeom prst="rect">
            <a:avLst/>
          </a:prstGeom>
          <a:ln w="0">
            <a:noFill/>
          </a:ln>
        </p:spPr>
      </p:sp>
      <p:sp>
        <p:nvSpPr>
          <p:cNvPr id="14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Run this as a five-minute paired exercise, ideally right after the airline slide while the state-design lesson is fresh. Do not let pairs debate the action set before they have written something in all six boxes; the discipline of filling the whole checklist is the skill being practised. Circulate and look for two failure modes. The first is students who put the target amount, 4, into the state. The second is students who track how much water has been poured in total, or elapsed time, neither of which the goal test or the unit cost function ever reads. Both are productive mistakes to surface out loud before you reveal the answer.</a:t>
            </a:r>
          </a:p>
        </p:txBody>
      </p:sp>
      <p:sp>
        <p:nvSpPr>
          <p:cNvPr id="147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F011A7-B5ED-4884-9DF3-A095AE4FBFCE}"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7" name="PlaceHolder 1"/>
          <p:cNvSpPr>
            <a:spLocks noGrp="1" noRot="1" noChangeAspect="1"/>
          </p:cNvSpPr>
          <p:nvPr>
            <p:ph type="sldImg"/>
          </p:nvPr>
        </p:nvSpPr>
        <p:spPr>
          <a:xfrm>
            <a:off x="685800" y="1143000"/>
            <a:ext cx="5486040" cy="3085920"/>
          </a:xfrm>
          <a:prstGeom prst="rect">
            <a:avLst/>
          </a:prstGeom>
          <a:ln w="0">
            <a:noFill/>
          </a:ln>
        </p:spPr>
      </p:sp>
      <p:sp>
        <p:nvSpPr>
          <p:cNvPr id="14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Reveal one row at a time if you can, and take answers before each. The state is just the ordered pair of jug contents, which gives four times six equals twenty-four states, though not all are reachable. There are six actions and the shortest solution takes six of them: fill the five, pour into the three, empty the three, pour the remaining two into the three, fill the five again, then top up the three, which leaves exactly four in the five-litre jug. The teaching point is the second band. Students who tracked total water poured or elapsed time built a larger state space for no benefit, because neither the goal test nor the unit cost function ever reads those variables. Also note that the target value 4 lives in the goal test, not in the state.</a:t>
            </a:r>
          </a:p>
        </p:txBody>
      </p:sp>
      <p:sp>
        <p:nvSpPr>
          <p:cNvPr id="147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C0DF06-12F5-4262-954E-3EF0C5336019}"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 name="PlaceHolder 1"/>
          <p:cNvSpPr>
            <a:spLocks noGrp="1" noRot="1" noChangeAspect="1"/>
          </p:cNvSpPr>
          <p:nvPr>
            <p:ph type="sldImg"/>
          </p:nvPr>
        </p:nvSpPr>
        <p:spPr>
          <a:xfrm>
            <a:off x="685800" y="1143000"/>
            <a:ext cx="5486400" cy="3086100"/>
          </a:xfrm>
          <a:prstGeom prst="rect">
            <a:avLst/>
          </a:prstGeom>
          <a:ln w="0">
            <a:noFill/>
          </a:ln>
        </p:spPr>
      </p:sp>
      <p:sp>
        <p:nvSpPr>
          <p:cNvPr id="14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section moves from formulation to algorithms. The most important conceptual distinction is state-space graph versus search tree.</a:t>
            </a:r>
          </a:p>
        </p:txBody>
      </p:sp>
      <p:sp>
        <p:nvSpPr>
          <p:cNvPr id="148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9E04C1B-5EF3-425B-B384-D6E3778A1CDB}"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3" name="PlaceHolder 1"/>
          <p:cNvSpPr>
            <a:spLocks noGrp="1" noRot="1" noChangeAspect="1"/>
          </p:cNvSpPr>
          <p:nvPr>
            <p:ph type="sldImg"/>
          </p:nvPr>
        </p:nvSpPr>
        <p:spPr>
          <a:xfrm>
            <a:off x="685800" y="1143000"/>
            <a:ext cx="5486400" cy="3086100"/>
          </a:xfrm>
          <a:prstGeom prst="rect">
            <a:avLst/>
          </a:prstGeom>
          <a:ln w="0">
            <a:noFill/>
          </a:ln>
        </p:spPr>
      </p:sp>
      <p:sp>
        <p:nvSpPr>
          <p:cNvPr id="1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The state-space graph describes the world. The search tree describes paths through that world. Each node in the search tree corresponds to an entire path in the state-space graph, even if the same state is reached multiple ways.</a:t>
            </a:r>
          </a:p>
        </p:txBody>
      </p:sp>
      <p:sp>
        <p:nvSpPr>
          <p:cNvPr id="148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355C1C-E12B-41D1-9735-9B74D4EF7558}"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6" name="PlaceHolder 1"/>
          <p:cNvSpPr>
            <a:spLocks noGrp="1" noRot="1" noChangeAspect="1"/>
          </p:cNvSpPr>
          <p:nvPr>
            <p:ph type="sldImg"/>
          </p:nvPr>
        </p:nvSpPr>
        <p:spPr>
          <a:xfrm>
            <a:off x="685800" y="1143000"/>
            <a:ext cx="5486400" cy="3086100"/>
          </a:xfrm>
          <a:prstGeom prst="rect">
            <a:avLst/>
          </a:prstGeom>
          <a:ln w="0">
            <a:noFill/>
          </a:ln>
        </p:spPr>
      </p:sp>
      <p:sp>
        <p:nvSpPr>
          <p:cNvPr id="1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Click-through build slide. Start with the state-space graph. Emphasize that each state appears once. The graph is useful conceptually but often too large or implicit to construct.</a:t>
            </a:r>
          </a:p>
        </p:txBody>
      </p:sp>
      <p:sp>
        <p:nvSpPr>
          <p:cNvPr id="148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189F13-0FCA-4A6C-9AC2-9A6B93703B7F}"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9" name="PlaceHolder 1"/>
          <p:cNvSpPr>
            <a:spLocks noGrp="1" noRot="1" noChangeAspect="1"/>
          </p:cNvSpPr>
          <p:nvPr>
            <p:ph type="sldImg"/>
          </p:nvPr>
        </p:nvSpPr>
        <p:spPr>
          <a:xfrm>
            <a:off x="685800" y="1143000"/>
            <a:ext cx="5486400" cy="3086100"/>
          </a:xfrm>
          <a:prstGeom prst="rect">
            <a:avLst/>
          </a:prstGeom>
          <a:ln w="0">
            <a:noFill/>
          </a:ln>
        </p:spPr>
      </p:sp>
      <p:sp>
        <p:nvSpPr>
          <p:cNvPr id="1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Now show the search tree. The root is the initial state. Children are the outcomes of applicable actions. The frontier is the set of leaf nodes waiting to be explored.</a:t>
            </a:r>
          </a:p>
        </p:txBody>
      </p:sp>
      <p:sp>
        <p:nvSpPr>
          <p:cNvPr id="149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1D7C86-A8B5-456C-B2AF-9FDF3A41C58F}"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 name="PlaceHolder 1"/>
          <p:cNvSpPr>
            <a:spLocks noGrp="1" noRot="1" noChangeAspect="1"/>
          </p:cNvSpPr>
          <p:nvPr>
            <p:ph type="sldImg"/>
          </p:nvPr>
        </p:nvSpPr>
        <p:spPr>
          <a:xfrm>
            <a:off x="685800" y="1143000"/>
            <a:ext cx="5486400" cy="3086100"/>
          </a:xfrm>
          <a:prstGeom prst="rect">
            <a:avLst/>
          </a:prstGeom>
          <a:ln w="0">
            <a:noFill/>
          </a:ln>
        </p:spPr>
      </p:sp>
      <p:sp>
        <p:nvSpPr>
          <p:cNvPr id="1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where students often get confused. In the graph, a state exists once. In the search tree, the same state can appear multiple times when reached by different paths. This causes redundancy and motivates reached tables and cycle checks.</a:t>
            </a:r>
          </a:p>
        </p:txBody>
      </p:sp>
      <p:sp>
        <p:nvSpPr>
          <p:cNvPr id="149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FC114C-FAA2-4A59-8A11-E1A15D4FE767}"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 name="PlaceHolder 1"/>
          <p:cNvSpPr>
            <a:spLocks noGrp="1" noRot="1" noChangeAspect="1"/>
          </p:cNvSpPr>
          <p:nvPr>
            <p:ph type="sldImg"/>
          </p:nvPr>
        </p:nvSpPr>
        <p:spPr>
          <a:xfrm>
            <a:off x="685800" y="1143000"/>
            <a:ext cx="5486400" cy="3086100"/>
          </a:xfrm>
          <a:prstGeom prst="rect">
            <a:avLst/>
          </a:prstGeom>
          <a:ln w="0">
            <a:noFill/>
          </a:ln>
        </p:spPr>
      </p:sp>
      <p:sp>
        <p:nvSpPr>
          <p:cNvPr id="1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Run this as a cold-call quiz before revealing the right half. Most students guess a number in the low dozens. The answer is infinite, and the reason is the two-way edge between a and b. Tie it directly back to the previous slides: the state space has four vertices, but the search tree has one node per path, and there are infinitely many paths. This is the cleanest possible motivation for the reached table, and it sets up the redundant-paths discussion in Section 3.3.3.</a:t>
            </a:r>
          </a:p>
        </p:txBody>
      </p:sp>
      <p:sp>
        <p:nvSpPr>
          <p:cNvPr id="149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6CB5F2C-5D56-44DC-8FAD-7CE3BBE61BEE}" type="slidenum">
              <a:rPr lang="en-US" sz="1200" b="0" u="none" strike="noStrike">
                <a:solidFill>
                  <a:srgbClr val="000000"/>
                </a:solidFill>
                <a:effectLst/>
                <a:uFillTx/>
                <a:latin typeface="Times New Roman"/>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400" cy="3086100"/>
          </a:xfrm>
          <a:prstGeom prst="rect">
            <a:avLst/>
          </a:prstGeom>
          <a:ln w="0">
            <a:noFill/>
          </a:ln>
        </p:spPr>
      </p:sp>
      <p:sp>
        <p:nvSpPr>
          <p:cNvPr id="1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The frontier is the boundary of the search tree: generated but unexpanded nodes. Expansion removes one frontier node, applies the actions, and creates successors. The reached table prevents repeated work by remembering states already generated.</a:t>
            </a:r>
          </a:p>
        </p:txBody>
      </p:sp>
      <p:sp>
        <p:nvSpPr>
          <p:cNvPr id="150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1FB58A-5D90-4A0B-99F8-88D1F4617C35}"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1" name="PlaceHolder 1"/>
          <p:cNvSpPr>
            <a:spLocks noGrp="1" noRot="1" noChangeAspect="1"/>
          </p:cNvSpPr>
          <p:nvPr>
            <p:ph type="sldImg"/>
          </p:nvPr>
        </p:nvSpPr>
        <p:spPr>
          <a:xfrm>
            <a:off x="685800" y="1143000"/>
            <a:ext cx="5486040" cy="3085920"/>
          </a:xfrm>
          <a:prstGeom prst="rect">
            <a:avLst/>
          </a:prstGeom>
          <a:ln w="0">
            <a:noFill/>
          </a:ln>
        </p:spPr>
      </p:sp>
      <p:sp>
        <p:nvSpPr>
          <p:cNvPr id="1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Figure 3.6 in the text and it is worth a full minute. The frontier is not just a queue; it is a separating boundary in the state-space graph. Interior states are expanded, exterior states are unreached, and nothing gets from one to the other without passing through the frontier. Two consequences to state explicitly. First, the size of the frontier is the space complexity of the algorithm, which is why BFS runs out of memory and DFS does not. Second, reached and frontier are different things: reached includes everything already expanded plus everything on the frontier.</a:t>
            </a:r>
          </a:p>
        </p:txBody>
      </p:sp>
      <p:sp>
        <p:nvSpPr>
          <p:cNvPr id="150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FB66B15-AEC1-402D-8D12-D04A68579ED6}" type="slidenum">
              <a:rPr lang="en-US" sz="1200" b="0" u="none" strike="noStrike">
                <a:solidFill>
                  <a:srgbClr val="000000"/>
                </a:solidFill>
                <a:effectLst/>
                <a:uFillTx/>
                <a:latin typeface="Times New Roman"/>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 name="PlaceHolder 1"/>
          <p:cNvSpPr>
            <a:spLocks noGrp="1" noRot="1" noChangeAspect="1"/>
          </p:cNvSpPr>
          <p:nvPr>
            <p:ph type="sldImg"/>
          </p:nvPr>
        </p:nvSpPr>
        <p:spPr>
          <a:xfrm>
            <a:off x="685800" y="1143000"/>
            <a:ext cx="5486400" cy="3086100"/>
          </a:xfrm>
          <a:prstGeom prst="rect">
            <a:avLst/>
          </a:prstGeom>
          <a:ln w="0">
            <a:noFill/>
          </a:ln>
        </p:spPr>
      </p:sp>
      <p:sp>
        <p:nvSpPr>
          <p:cNvPr id="1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is Section 3.3.1 and it is the organizing idea of the whole chapter in the fourth edition. Present best-first search as the general algorithm and every uninformed strategy as a choice of evaluation function. Walk the pseudocode line by line, then point at the three mappings on the right. </a:t>
            </a:r>
            <a:r>
              <a:rPr lang="en-US" sz="2000" b="0" u="none" strike="noStrike" dirty="0" err="1">
                <a:solidFill>
                  <a:srgbClr val="000000"/>
                </a:solidFill>
                <a:effectLst/>
                <a:uFillTx/>
                <a:latin typeface="Arial"/>
              </a:rPr>
              <a:t>Emphasise</a:t>
            </a:r>
            <a:r>
              <a:rPr lang="en-US" sz="2000" b="0" u="none" strike="noStrike" dirty="0">
                <a:solidFill>
                  <a:srgbClr val="000000"/>
                </a:solidFill>
                <a:effectLst/>
                <a:uFillTx/>
                <a:latin typeface="Arial"/>
              </a:rPr>
              <a:t> the re-add condition: if a child reaches a state already in reached but with a lower path cost, the old entry is replaced and the child goes back on the frontier. That single line is what makes uniform-cost search optimal. Tell students the next lecture only changes f.</a:t>
            </a:r>
          </a:p>
        </p:txBody>
      </p:sp>
      <p:sp>
        <p:nvSpPr>
          <p:cNvPr id="150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83995C-FF51-40E2-97C1-2F0A08EF3449}" type="slidenum">
              <a:rPr lang="en-US" sz="1200" b="0" u="none" strike="noStrike">
                <a:solidFill>
                  <a:srgbClr val="000000"/>
                </a:solidFill>
                <a:effectLst/>
                <a:uFillTx/>
                <a:latin typeface="Times New Roman"/>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7" name="PlaceHolder 1"/>
          <p:cNvSpPr>
            <a:spLocks noGrp="1" noRot="1" noChangeAspect="1"/>
          </p:cNvSpPr>
          <p:nvPr>
            <p:ph type="sldImg"/>
          </p:nvPr>
        </p:nvSpPr>
        <p:spPr>
          <a:xfrm>
            <a:off x="685800" y="1143000"/>
            <a:ext cx="5486400" cy="3086100"/>
          </a:xfrm>
          <a:prstGeom prst="rect">
            <a:avLst/>
          </a:prstGeom>
          <a:ln w="0">
            <a:noFill/>
          </a:ln>
        </p:spPr>
      </p:sp>
      <p:sp>
        <p:nvSpPr>
          <p:cNvPr id="1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slide borrows the one-queue teaching idea but presents it in CSUCI form. The same loop can implement multiple algorithms. BFS, UCS, and DFS differ mostly in which frontier node is popped next.</a:t>
            </a:r>
          </a:p>
        </p:txBody>
      </p:sp>
      <p:sp>
        <p:nvSpPr>
          <p:cNvPr id="150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EA5DD0E-C292-4C50-BA4C-9BE2E345F8F2}"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0" name="PlaceHolder 1"/>
          <p:cNvSpPr>
            <a:spLocks noGrp="1" noRot="1" noChangeAspect="1"/>
          </p:cNvSpPr>
          <p:nvPr>
            <p:ph type="sldImg"/>
          </p:nvPr>
        </p:nvSpPr>
        <p:spPr>
          <a:xfrm>
            <a:off x="685800" y="1143000"/>
            <a:ext cx="5486400" cy="3086100"/>
          </a:xfrm>
          <a:prstGeom prst="rect">
            <a:avLst/>
          </a:prstGeom>
          <a:ln w="0">
            <a:noFill/>
          </a:ln>
        </p:spPr>
      </p:sp>
      <p:sp>
        <p:nvSpPr>
          <p:cNvPr id="1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search node is not just a state. It includes the parent, the action that produced it, and the path cost. Parent pointers are how the algorithm reconstructs the solution after reaching a goal.</a:t>
            </a:r>
          </a:p>
        </p:txBody>
      </p:sp>
      <p:sp>
        <p:nvSpPr>
          <p:cNvPr id="151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AC1FD6-8525-4F1A-8B6E-9B24EDB253FB}"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 name="PlaceHolder 1"/>
          <p:cNvSpPr>
            <a:spLocks noGrp="1" noRot="1" noChangeAspect="1"/>
          </p:cNvSpPr>
          <p:nvPr>
            <p:ph type="sldImg"/>
          </p:nvPr>
        </p:nvSpPr>
        <p:spPr>
          <a:xfrm>
            <a:off x="685800" y="1143000"/>
            <a:ext cx="5486400" cy="3086100"/>
          </a:xfrm>
          <a:prstGeom prst="rect">
            <a:avLst/>
          </a:prstGeom>
          <a:ln w="0">
            <a:noFill/>
          </a:ln>
        </p:spPr>
      </p:sp>
      <p:sp>
        <p:nvSpPr>
          <p:cNvPr id="1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The search tree can be much larger than the state space because of repeated states and cycles. A reached table can eliminate redundant paths if memory allows. Cycle checking is a cheaper compromise, especially for depth-first methods.</a:t>
            </a:r>
          </a:p>
        </p:txBody>
      </p:sp>
      <p:sp>
        <p:nvSpPr>
          <p:cNvPr id="151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0D2B37-8279-46B9-BDF3-5AAAA71C9AC0}"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PlaceHolder 1"/>
          <p:cNvSpPr>
            <a:spLocks noGrp="1" noRot="1" noChangeAspect="1"/>
          </p:cNvSpPr>
          <p:nvPr>
            <p:ph type="sldImg"/>
          </p:nvPr>
        </p:nvSpPr>
        <p:spPr>
          <a:xfrm>
            <a:off x="685800" y="1143000"/>
            <a:ext cx="5486040" cy="3085920"/>
          </a:xfrm>
          <a:prstGeom prst="rect">
            <a:avLst/>
          </a:prstGeom>
          <a:ln w="0">
            <a:noFill/>
          </a:ln>
        </p:spPr>
      </p:sp>
      <p:sp>
        <p:nvSpPr>
          <p:cNvPr id="1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Name the two terms explicitly, because the textbook uses them precisely and exam questions depend on the distinction. A graph search checks for redundant paths; a tree-like search does not. The best-first algorithm on the previous slide is a graph search, and deleting every reference to reached turns it into a tree-like search. The grid numbers are the persuasive part: 100 cells, all reachable in at most nine moves, but nearly eight to the ninth paths of length nine. That is over a million redundant paths per cell. Finish with the warning about Figure 3.15: those complexity entries are for tree-like versions, and graph search changes several of them, most notably making DFS complete on finite state spaces.</a:t>
            </a:r>
          </a:p>
        </p:txBody>
      </p:sp>
      <p:sp>
        <p:nvSpPr>
          <p:cNvPr id="151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2F0836-5B6E-46AE-B623-0C5C102A2941}" type="slidenum">
              <a:rPr lang="en-US" sz="1200" b="0" u="none" strike="noStrike">
                <a:solidFill>
                  <a:srgbClr val="000000"/>
                </a:solidFill>
                <a:effectLst/>
                <a:uFillTx/>
                <a:latin typeface="Times New Roman"/>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9" name="PlaceHolder 1"/>
          <p:cNvSpPr>
            <a:spLocks noGrp="1" noRot="1" noChangeAspect="1"/>
          </p:cNvSpPr>
          <p:nvPr>
            <p:ph type="sldImg"/>
          </p:nvPr>
        </p:nvSpPr>
        <p:spPr>
          <a:xfrm>
            <a:off x="685800" y="1143000"/>
            <a:ext cx="5486400" cy="3086100"/>
          </a:xfrm>
          <a:prstGeom prst="rect">
            <a:avLst/>
          </a:prstGeom>
          <a:ln w="0">
            <a:noFill/>
          </a:ln>
        </p:spPr>
      </p:sp>
      <p:sp>
        <p:nvSpPr>
          <p:cNvPr id="1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Every search algorithm should be evaluated by completeness, cost optimality, time complexity, and space complexity. In AI we often use b, d, and m because the full graph is implicit rather than stored directly.</a:t>
            </a:r>
          </a:p>
        </p:txBody>
      </p:sp>
      <p:sp>
        <p:nvSpPr>
          <p:cNvPr id="152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AF7E45-D133-44A5-8A4E-A0AC975DC914}"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2" name="PlaceHolder 1"/>
          <p:cNvSpPr>
            <a:spLocks noGrp="1" noRot="1" noChangeAspect="1"/>
          </p:cNvSpPr>
          <p:nvPr>
            <p:ph type="sldImg"/>
          </p:nvPr>
        </p:nvSpPr>
        <p:spPr>
          <a:xfrm>
            <a:off x="685800" y="1143000"/>
            <a:ext cx="5486040" cy="3085920"/>
          </a:xfrm>
          <a:prstGeom prst="rect">
            <a:avLst/>
          </a:prstGeom>
          <a:ln w="0">
            <a:noFill/>
          </a:ln>
        </p:spPr>
      </p:sp>
      <p:sp>
        <p:nvSpPr>
          <p:cNvPr id="1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Students routinely assume that a reached table plus cycle checking equals completeness. It does not, once the state space is infinite. Both examples on this slide generate a fresh state at every step and never revisit anything, and both are incomplete because they leave most of the space untouched. The property that is actually required is systematicity: the search order must guarantee that any connected state is eventually reached. Breadth-first search has this property, which is why the text calls it complete even on infinite state spaces, and depth-first search does not. Close on the uncomfortable corollary about non-termination.</a:t>
            </a:r>
          </a:p>
        </p:txBody>
      </p:sp>
      <p:sp>
        <p:nvSpPr>
          <p:cNvPr id="152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DCC2AE-3BBB-491E-9838-D17CC8632CB2}"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 name="PlaceHolder 1"/>
          <p:cNvSpPr>
            <a:spLocks noGrp="1" noRot="1" noChangeAspect="1"/>
          </p:cNvSpPr>
          <p:nvPr>
            <p:ph type="sldImg"/>
          </p:nvPr>
        </p:nvSpPr>
        <p:spPr>
          <a:xfrm>
            <a:off x="685800" y="1143000"/>
            <a:ext cx="5486400" cy="3086100"/>
          </a:xfrm>
          <a:prstGeom prst="rect">
            <a:avLst/>
          </a:prstGeom>
          <a:ln w="0">
            <a:noFill/>
          </a:ln>
        </p:spPr>
      </p:sp>
      <p:sp>
        <p:nvSpPr>
          <p:cNvPr id="1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Uninformed search has no estimate of distance to the goal. It knows the problem definition but has no heuristic guidance. The algorithms differ in frontier strategy.</a:t>
            </a:r>
          </a:p>
        </p:txBody>
      </p:sp>
      <p:sp>
        <p:nvSpPr>
          <p:cNvPr id="1527"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9314A1-9E3C-4868-9756-3D6805360BF1}"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8" name="PlaceHolder 1"/>
          <p:cNvSpPr>
            <a:spLocks noGrp="1" noRot="1" noChangeAspect="1"/>
          </p:cNvSpPr>
          <p:nvPr>
            <p:ph type="sldImg"/>
          </p:nvPr>
        </p:nvSpPr>
        <p:spPr>
          <a:xfrm>
            <a:off x="685800" y="1143000"/>
            <a:ext cx="5486400" cy="3086100"/>
          </a:xfrm>
          <a:prstGeom prst="rect">
            <a:avLst/>
          </a:prstGeom>
          <a:ln w="0">
            <a:noFill/>
          </a:ln>
        </p:spPr>
      </p:sp>
      <p:sp>
        <p:nvSpPr>
          <p:cNvPr id="1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BFS expands all depth 0 nodes, then all depth 1 nodes, then depth 2, and so on. A FIFO queue gives this behavior. BFS is complete and finds the fewest-action solution. It is cost-optimal only when action costs are equal.</a:t>
            </a:r>
          </a:p>
        </p:txBody>
      </p:sp>
      <p:sp>
        <p:nvSpPr>
          <p:cNvPr id="153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1B6505-A44C-46B9-9AFC-5287DCE5B79E}"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1" name="PlaceHolder 1"/>
          <p:cNvSpPr>
            <a:spLocks noGrp="1" noRot="1" noChangeAspect="1"/>
          </p:cNvSpPr>
          <p:nvPr>
            <p:ph type="sldImg"/>
          </p:nvPr>
        </p:nvSpPr>
        <p:spPr>
          <a:xfrm>
            <a:off x="685800" y="1143000"/>
            <a:ext cx="5486400" cy="3086100"/>
          </a:xfrm>
          <a:prstGeom prst="rect">
            <a:avLst/>
          </a:prstGeom>
          <a:ln w="0">
            <a:noFill/>
          </a:ln>
        </p:spPr>
      </p:sp>
      <p:sp>
        <p:nvSpPr>
          <p:cNvPr id="1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Build slide one: the frontier initially contains only the start node. Ask students which node expands next.</a:t>
            </a:r>
          </a:p>
        </p:txBody>
      </p:sp>
      <p:sp>
        <p:nvSpPr>
          <p:cNvPr id="153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B7AB6D-9A5D-4C96-B739-FCEE058EC926}"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 name="PlaceHolder 1"/>
          <p:cNvSpPr>
            <a:spLocks noGrp="1" noRot="1" noChangeAspect="1"/>
          </p:cNvSpPr>
          <p:nvPr>
            <p:ph type="sldImg"/>
          </p:nvPr>
        </p:nvSpPr>
        <p:spPr>
          <a:xfrm>
            <a:off x="685800" y="1143000"/>
            <a:ext cx="5486400" cy="3086100"/>
          </a:xfrm>
          <a:prstGeom prst="rect">
            <a:avLst/>
          </a:prstGeom>
          <a:ln w="0">
            <a:noFill/>
          </a:ln>
        </p:spPr>
      </p:sp>
      <p:sp>
        <p:nvSpPr>
          <p:cNvPr id="1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Build slide two: after expanding S, the frontier contains d, e, and p. Because BFS uses FIFO, all depth-one nodes must be handled before depth-two nodes.</a:t>
            </a:r>
          </a:p>
        </p:txBody>
      </p:sp>
      <p:sp>
        <p:nvSpPr>
          <p:cNvPr id="153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310FAA-5C23-41F1-9C00-069CDA43EF97}"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 name="PlaceHolder 1"/>
          <p:cNvSpPr>
            <a:spLocks noGrp="1" noRot="1" noChangeAspect="1"/>
          </p:cNvSpPr>
          <p:nvPr>
            <p:ph type="sldImg"/>
          </p:nvPr>
        </p:nvSpPr>
        <p:spPr>
          <a:xfrm>
            <a:off x="685800" y="1143000"/>
            <a:ext cx="5486400" cy="3086100"/>
          </a:xfrm>
          <a:prstGeom prst="rect">
            <a:avLst/>
          </a:prstGeom>
          <a:ln w="0">
            <a:noFill/>
          </a:ln>
        </p:spPr>
      </p:sp>
      <p:sp>
        <p:nvSpPr>
          <p:cNvPr id="1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Build slide three: BFS expands by tiers. This makes BFS systematic, but it stores an entire layer of frontier nodes. That is why memory usually fails before CPU time.</a:t>
            </a:r>
          </a:p>
        </p:txBody>
      </p:sp>
      <p:sp>
        <p:nvSpPr>
          <p:cNvPr id="153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45E215-33AB-4B6F-A9E2-7672391F0B8B}"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 name="PlaceHolder 1"/>
          <p:cNvSpPr>
            <a:spLocks noGrp="1" noRot="1" noChangeAspect="1"/>
          </p:cNvSpPr>
          <p:nvPr>
            <p:ph type="sldImg"/>
          </p:nvPr>
        </p:nvSpPr>
        <p:spPr>
          <a:xfrm>
            <a:off x="685800" y="1143000"/>
            <a:ext cx="5486400" cy="3086100"/>
          </a:xfrm>
          <a:prstGeom prst="rect">
            <a:avLst/>
          </a:prstGeom>
          <a:ln w="0">
            <a:noFill/>
          </a:ln>
        </p:spPr>
      </p:sp>
      <p:sp>
        <p:nvSpPr>
          <p:cNvPr id="1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BFS generates exponentially many nodes. With branching factor b and shallowest solution depth d, time and space are both O(b to the d). The important practical point from the text is that memory is often the bigger bottleneck.</a:t>
            </a:r>
          </a:p>
        </p:txBody>
      </p:sp>
      <p:sp>
        <p:nvSpPr>
          <p:cNvPr id="154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64A61A-8669-4B8E-B4B0-431B3230FCB2}"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gives students the actual pseudocode from Figure 3.9 rather than asking them to reconstruct it from the best-first template. Put the two side by side on the board if you can.</a:t>
            </a:r>
          </a:p>
          <a:p>
            <a:pPr indent="0" algn="l">
              <a:lnSpc>
                <a:spcPct val="100000"/>
              </a:lnSpc>
              <a:buNone/>
            </a:pPr>
            <a:r>
              <a:rPr lang="en-US" sz="2000" b="0" u="none" strike="noStrike" dirty="0">
                <a:solidFill>
                  <a:srgbClr val="000000"/>
                </a:solidFill>
                <a:effectLst/>
                <a:uFillTx/>
                <a:latin typeface="Arial"/>
              </a:rPr>
              <a:t>The single most useful thing to say here is that Figure 3.9 is not the general best-first loop with f equal to depth. It is a specialised rewrite, and every difference is a shortcut that BFS earns because depth along a path never improves when you find a second route to the same state. That one fact licenses all three optimisations: the early goal test on line ten, reached being a plain set of states rather than a state to node map, and a FIFO queue standing in for a priority queue.</a:t>
            </a:r>
          </a:p>
          <a:p>
            <a:pPr indent="0" algn="l">
              <a:lnSpc>
                <a:spcPct val="100000"/>
              </a:lnSpc>
              <a:buNone/>
            </a:pPr>
            <a:r>
              <a:rPr lang="en-US" sz="2000" b="0" u="none" strike="noStrike" dirty="0">
                <a:solidFill>
                  <a:srgbClr val="000000"/>
                </a:solidFill>
                <a:effectLst/>
                <a:uFillTx/>
                <a:latin typeface="Arial"/>
              </a:rPr>
              <a:t>Walk the four callouts in the order they appear in the code, not in the order of importance. Students should be able to point at a line and say which shortcut it is.</a:t>
            </a:r>
          </a:p>
          <a:p>
            <a:pPr indent="0" algn="l">
              <a:lnSpc>
                <a:spcPct val="100000"/>
              </a:lnSpc>
              <a:buNone/>
            </a:pPr>
            <a:r>
              <a:rPr lang="en-US" sz="2000" b="0" u="none" strike="noStrike" dirty="0">
                <a:solidFill>
                  <a:srgbClr val="000000"/>
                </a:solidFill>
                <a:effectLst/>
                <a:uFillTx/>
                <a:latin typeface="Arial"/>
              </a:rPr>
              <a:t>Ask the class what breaks if action costs are not all equal. The answer they should reach is that line ten becomes wrong, because a goal generated on an expensive path could be returned before a cheaper path to it is found. That is exactly the transition into uniform-cost search.</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Use this slide as the guided read-through. The two columns split the algorithm into the part that runs once and the part that repeats, which is the division students most often blur when they try to write BFS from memory.</a:t>
            </a:r>
          </a:p>
          <a:p>
            <a:pPr indent="0" algn="l">
              <a:lnSpc>
                <a:spcPct val="100000"/>
              </a:lnSpc>
              <a:buNone/>
            </a:pPr>
            <a:r>
              <a:rPr lang="en-US" sz="2000" b="0" u="none" strike="noStrike" dirty="0">
                <a:solidFill>
                  <a:srgbClr val="000000"/>
                </a:solidFill>
                <a:effectLst/>
                <a:uFillTx/>
                <a:latin typeface="Arial"/>
              </a:rPr>
              <a:t>Line three is the one to slow down on. A FIFO queue is not a detail of implementation; it is the algorithm. Ask the class what happens to every other line if you swap it for a LIFO stack, and let them discover that nothing else in the pseudocode needs to change at all — you have written depth-first search.</a:t>
            </a:r>
          </a:p>
          <a:p>
            <a:pPr indent="0" algn="l">
              <a:lnSpc>
                <a:spcPct val="100000"/>
              </a:lnSpc>
              <a:buNone/>
            </a:pPr>
            <a:r>
              <a:rPr lang="en-US" sz="2000" b="0" u="none" strike="noStrike" dirty="0">
                <a:solidFill>
                  <a:srgbClr val="000000"/>
                </a:solidFill>
                <a:effectLst/>
                <a:uFillTx/>
                <a:latin typeface="Arial"/>
              </a:rPr>
              <a:t>That leads directly to the warning at the bottom, which is the single most common bug in student submissions. A Python deque supports both pop and popleft, and pop takes from the wrong end. The code runs, returns a path, and passes any test that only checks that the path is valid. It fails only on tests that check the path is shortest. Demonstrate it live if you have a notebook open: run BFS on a small grid with popleft, then change one word and rerun, and let them see the path get longer.</a:t>
            </a:r>
          </a:p>
          <a:p>
            <a:pPr indent="0" algn="l">
              <a:lnSpc>
                <a:spcPct val="100000"/>
              </a:lnSpc>
              <a:buNone/>
            </a:pPr>
            <a:r>
              <a:rPr lang="en-US" sz="2000" b="0" u="none" strike="noStrike" dirty="0">
                <a:solidFill>
                  <a:srgbClr val="000000"/>
                </a:solidFill>
                <a:effectLst/>
                <a:uFillTx/>
                <a:latin typeface="Arial"/>
              </a:rPr>
              <a:t>Line eight is worth a question as well. Ask why it is safe to discard a state already in reached without comparing anything. The answer is that BFS generates states in non-decreasing order of depth, so the stored path is never deeper. Uniform-cost search cannot make that argument, which is where the next slides go.</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55CC-F126-88F6-5C63-AB7544F58160}"/>
            </a:ext>
          </a:extLst>
        </p:cNvPr>
        <p:cNvGrpSpPr/>
        <p:nvPr/>
      </p:nvGrpSpPr>
      <p:grpSpPr>
        <a:xfrm>
          <a:off x="0" y="0"/>
          <a:ext cx="0" cy="0"/>
          <a:chOff x="0" y="0"/>
          <a:chExt cx="0" cy="0"/>
        </a:xfrm>
      </p:grpSpPr>
      <p:sp>
        <p:nvSpPr>
          <p:cNvPr id="1540" name="PlaceHolder 1">
            <a:extLst>
              <a:ext uri="{FF2B5EF4-FFF2-40B4-BE49-F238E27FC236}">
                <a16:creationId xmlns:a16="http://schemas.microsoft.com/office/drawing/2014/main" id="{8711A97F-8120-9D1A-1DA5-84C8A37FF78B}"/>
              </a:ext>
            </a:extLst>
          </p:cNvPr>
          <p:cNvSpPr>
            <a:spLocks noGrp="1" noRot="1" noChangeAspect="1"/>
          </p:cNvSpPr>
          <p:nvPr>
            <p:ph type="sldImg"/>
          </p:nvPr>
        </p:nvSpPr>
        <p:spPr>
          <a:xfrm>
            <a:off x="685800" y="1143000"/>
            <a:ext cx="5486400" cy="3086100"/>
          </a:xfrm>
          <a:prstGeom prst="rect">
            <a:avLst/>
          </a:prstGeom>
          <a:ln w="0">
            <a:noFill/>
          </a:ln>
        </p:spPr>
      </p:sp>
      <p:sp>
        <p:nvSpPr>
          <p:cNvPr id="1541" name="PlaceHolder 2">
            <a:extLst>
              <a:ext uri="{FF2B5EF4-FFF2-40B4-BE49-F238E27FC236}">
                <a16:creationId xmlns:a16="http://schemas.microsoft.com/office/drawing/2014/main" id="{40D9F40B-C022-94C6-D506-67994242842A}"/>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BFS generates exponentially many nodes. With branching factor b and shallowest solution depth d, time and space are both O(b to the d). The important practical point from the text is that memory is often the bigger bottleneck.</a:t>
            </a:r>
          </a:p>
        </p:txBody>
      </p:sp>
      <p:sp>
        <p:nvSpPr>
          <p:cNvPr id="1542" name="PlaceHolder 3">
            <a:extLst>
              <a:ext uri="{FF2B5EF4-FFF2-40B4-BE49-F238E27FC236}">
                <a16:creationId xmlns:a16="http://schemas.microsoft.com/office/drawing/2014/main" id="{0503F978-BD82-7228-A5FA-B91C0F4D07B5}"/>
              </a:ext>
            </a:extLst>
          </p:cNvPr>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64A61A-8669-4B8E-B4B0-431B3230FCB2}" type="slidenum">
              <a:rPr lang="en-US" sz="1200" b="0" u="none" strike="noStrike">
                <a:solidFill>
                  <a:schemeClr val="dk1"/>
                </a:solidFill>
                <a:effectLst/>
                <a:uFillTx/>
                <a:latin typeface="+mn-lt"/>
                <a:ea typeface="+mn-ea"/>
              </a:rPr>
              <a:t>44</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953212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 name="PlaceHolder 1"/>
          <p:cNvSpPr>
            <a:spLocks noGrp="1" noRot="1" noChangeAspect="1"/>
          </p:cNvSpPr>
          <p:nvPr>
            <p:ph type="sldImg"/>
          </p:nvPr>
        </p:nvSpPr>
        <p:spPr>
          <a:xfrm>
            <a:off x="685800" y="1143000"/>
            <a:ext cx="5486040" cy="3085920"/>
          </a:xfrm>
          <a:prstGeom prst="rect">
            <a:avLst/>
          </a:prstGeom>
          <a:ln w="0">
            <a:noFill/>
          </a:ln>
        </p:spPr>
      </p:sp>
      <p:sp>
        <p:nvSpPr>
          <p:cNvPr id="1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distinction is easy to state and easy to get wrong on an exam. Breadth-first search is allowed the early goal test because depth is monotone along a path: once BFS reaches a state, no later path to it can be shorter in number of actions. Uniform-cost search has no such guarantee, because a cheap route can be discovered after an expensive one. Use the Sibiu to Bucharest numbers as the concrete proof. This slide is best delivered right after the BFS complexity slide and just before uniform-cost search, so the contrast is fresh when the UCS walkthrough begins.</a:t>
            </a:r>
          </a:p>
        </p:txBody>
      </p:sp>
      <p:sp>
        <p:nvSpPr>
          <p:cNvPr id="154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F009C7-3FAA-4B98-9676-E5064DA3E70F}" type="slidenum">
              <a:rPr lang="en-US" sz="1200" b="0" u="none" strike="noStrike">
                <a:solidFill>
                  <a:srgbClr val="000000"/>
                </a:solidFill>
                <a:effectLst/>
                <a:uFillTx/>
                <a:latin typeface="Times New Roman"/>
              </a:rPr>
              <a:t>45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 name="PlaceHolder 1"/>
          <p:cNvSpPr>
            <a:spLocks noGrp="1" noRot="1" noChangeAspect="1"/>
          </p:cNvSpPr>
          <p:nvPr>
            <p:ph type="sldImg"/>
          </p:nvPr>
        </p:nvSpPr>
        <p:spPr>
          <a:xfrm>
            <a:off x="685800" y="1143000"/>
            <a:ext cx="5486400" cy="3086100"/>
          </a:xfrm>
          <a:prstGeom prst="rect">
            <a:avLst/>
          </a:prstGeom>
          <a:ln w="0">
            <a:noFill/>
          </a:ln>
        </p:spPr>
      </p:sp>
      <p:sp>
        <p:nvSpPr>
          <p:cNvPr id="15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Uniform-cost search is best-first search where f(n) equals g(n), the path cost. It is the correct uninformed method when action costs differ. It expands outward in increasing path-cost contours, not depth tiers.</a:t>
            </a:r>
          </a:p>
        </p:txBody>
      </p:sp>
      <p:sp>
        <p:nvSpPr>
          <p:cNvPr id="1548"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E1F18B-2ADD-4F2F-87BB-0B9CA3D62567}" type="slidenum">
              <a:rPr lang="en-US" sz="1200" b="0" u="none" strike="noStrike">
                <a:solidFill>
                  <a:schemeClr val="dk1"/>
                </a:solidFill>
                <a:effectLst/>
                <a:uFillTx/>
                <a:latin typeface="+mn-lt"/>
                <a:ea typeface="+mn-ea"/>
              </a:rPr>
              <a:t>46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is deliberately anticlimactic, and the anticlimax is the teaching point. Students expect uniform-cost search to have its own page of pseudocode. It has one line, because it is best-first search with the evaluation function set to path cost.</a:t>
            </a:r>
          </a:p>
          <a:p>
            <a:pPr indent="0" algn="l">
              <a:lnSpc>
                <a:spcPct val="100000"/>
              </a:lnSpc>
              <a:buNone/>
            </a:pPr>
            <a:r>
              <a:rPr lang="en-US" sz="2000" b="0" u="none" strike="noStrike" dirty="0">
                <a:solidFill>
                  <a:srgbClr val="000000"/>
                </a:solidFill>
                <a:effectLst/>
                <a:uFillTx/>
                <a:latin typeface="Arial"/>
              </a:rPr>
              <a:t>Present the three-column comparison as a set of questions rather than a set of facts. Point at the previous slide's BFS code, ask what would go wrong if you simply changed the queue to a priority queue and left everything else alone, and let the class find the two remaining bugs: the early goal test on line ten becomes unsound, and reached as a bare set of states leaves no way to replace an entry when a cheaper path turns up.</a:t>
            </a:r>
          </a:p>
          <a:p>
            <a:pPr indent="0" algn="l">
              <a:lnSpc>
                <a:spcPct val="100000"/>
              </a:lnSpc>
              <a:buNone/>
            </a:pPr>
            <a:r>
              <a:rPr lang="en-US" sz="2000" b="0" u="none" strike="noStrike" dirty="0">
                <a:solidFill>
                  <a:srgbClr val="000000"/>
                </a:solidFill>
                <a:effectLst/>
                <a:uFillTx/>
                <a:latin typeface="Arial"/>
              </a:rPr>
              <a:t>The Why row in each card is the part worth writing on the board. Each one is a single sentence and each one is an exam answer.</a:t>
            </a:r>
          </a:p>
          <a:p>
            <a:pPr indent="0" algn="l">
              <a:lnSpc>
                <a:spcPct val="100000"/>
              </a:lnSpc>
              <a:buNone/>
            </a:pPr>
            <a:r>
              <a:rPr lang="en-US" sz="2000" b="0" u="none" strike="noStrike" dirty="0">
                <a:solidFill>
                  <a:srgbClr val="000000"/>
                </a:solidFill>
                <a:effectLst/>
                <a:uFillTx/>
                <a:latin typeface="Arial"/>
              </a:rPr>
              <a:t>Close on the bottom band. When all action costs are equal, g of n is a strictly increasing function of depth, so ordering by cost and ordering by depth produce the same expansion order. Breadth-first search is a special case of uniform-cost search. Students who see that stop treating the four uninformed algorithms as four unrelated things to memorise.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 name="PlaceHolder 1"/>
          <p:cNvSpPr>
            <a:spLocks noGrp="1" noRot="1" noChangeAspect="1"/>
          </p:cNvSpPr>
          <p:nvPr>
            <p:ph type="sldImg"/>
          </p:nvPr>
        </p:nvSpPr>
        <p:spPr>
          <a:xfrm>
            <a:off x="685800" y="1143000"/>
            <a:ext cx="5486400" cy="3086100"/>
          </a:xfrm>
          <a:prstGeom prst="rect">
            <a:avLst/>
          </a:prstGeom>
          <a:ln w="0">
            <a:noFill/>
          </a:ln>
        </p:spPr>
      </p:sp>
      <p:sp>
        <p:nvSpPr>
          <p:cNvPr id="1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Walk through the textbook example. Bucharest is generated through Fagaras with cost 310. Do not stop there. A cheaper route through Rimnicu Vilcea and Pitesti reaches Bucharest with cost 278. UCS performs the goal test when the lowest-cost node is selected for expansion.</a:t>
            </a:r>
          </a:p>
        </p:txBody>
      </p:sp>
      <p:sp>
        <p:nvSpPr>
          <p:cNvPr id="155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5EF84E-2BE9-49D4-9EA1-349142770B6E}" type="slidenum">
              <a:rPr lang="en-US" sz="1200" b="0" u="none" strike="noStrike">
                <a:solidFill>
                  <a:schemeClr val="dk1"/>
                </a:solidFill>
                <a:effectLst/>
                <a:uFillTx/>
                <a:latin typeface="+mn-lt"/>
                <a:ea typeface="+mn-ea"/>
              </a:rPr>
              <a:t>48</a:t>
            </a:fld>
            <a:endParaRPr lang="en-US"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2" name="PlaceHolder 1"/>
          <p:cNvSpPr>
            <a:spLocks noGrp="1" noRot="1" noChangeAspect="1"/>
          </p:cNvSpPr>
          <p:nvPr>
            <p:ph type="sldImg"/>
          </p:nvPr>
        </p:nvSpPr>
        <p:spPr>
          <a:xfrm>
            <a:off x="685800" y="1143000"/>
            <a:ext cx="5486040" cy="3085920"/>
          </a:xfrm>
          <a:prstGeom prst="rect">
            <a:avLst/>
          </a:prstGeom>
          <a:ln w="0">
            <a:noFill/>
          </a:ln>
        </p:spPr>
      </p:sp>
      <p:sp>
        <p:nvSpPr>
          <p:cNvPr id="15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Give students four or five minutes on this in pairs. The graph is deliberately built so that the goal is generated early on an expensive path and again later on a cheap one, which is the same shape as the Sibiu to Bucharest example but small enough to trace exhaustively. Ask them to write the whole frontier after each pop, including path costs, not just the node they popped. The two things you are testing are whether they resist returning G the moment it appears on the frontier, and whether they replace the expensive G entry when the cheaper path turns up. Both were stated on earlier slides; this is where you find out whether it stuck.</a:t>
            </a:r>
          </a:p>
        </p:txBody>
      </p:sp>
      <p:sp>
        <p:nvSpPr>
          <p:cNvPr id="155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58DA26-7E4A-4825-B2DF-0617C0462136}" type="slidenum">
              <a:rPr lang="en-US" sz="1200" b="0" u="none" strike="noStrike">
                <a:solidFill>
                  <a:srgbClr val="000000"/>
                </a:solidFill>
                <a:effectLst/>
                <a:uFillTx/>
                <a:latin typeface="Times New Roman"/>
              </a:rPr>
              <a:t>49</a:t>
            </a:fld>
            <a:endParaRPr lang="en-US" sz="12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5" name="PlaceHolder 1"/>
          <p:cNvSpPr>
            <a:spLocks noGrp="1" noRot="1" noChangeAspect="1"/>
          </p:cNvSpPr>
          <p:nvPr>
            <p:ph type="sldImg"/>
          </p:nvPr>
        </p:nvSpPr>
        <p:spPr>
          <a:xfrm>
            <a:off x="685800" y="1143000"/>
            <a:ext cx="5486400" cy="3086100"/>
          </a:xfrm>
          <a:prstGeom prst="rect">
            <a:avLst/>
          </a:prstGeom>
          <a:ln w="0">
            <a:noFill/>
          </a:ln>
        </p:spPr>
      </p:sp>
      <p:sp>
        <p:nvSpPr>
          <p:cNvPr id="15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Walk the table row by row rather than showing it all at once. The two moments that matter are pop two and pop four. On pop two, expanding A generates G at cost nine, and a student running breadth-first instincts stops there and returns a path fifty percent worse than optimal. On pop four, expanding C generates G at cost six, which is cheaper than the G already in reached, so the entry is replaced and the node goes back on the frontier. That is precisely the re-add condition from the best-first search pseudocode, and this is the first time in the lecture students see it change an answer. Finish by naming the single cause: the goal test happens on expansion.</a:t>
            </a:r>
          </a:p>
        </p:txBody>
      </p:sp>
      <p:sp>
        <p:nvSpPr>
          <p:cNvPr id="1557"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BD254F8-94D9-4234-A8A1-9FB2A90A1F83}" type="slidenum">
              <a:rPr lang="en-US" sz="1200" b="0" u="none" strike="noStrike">
                <a:solidFill>
                  <a:srgbClr val="000000"/>
                </a:solidFill>
                <a:effectLst/>
                <a:uFillTx/>
                <a:latin typeface="Times New Roman"/>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8" name="PlaceHolder 1"/>
          <p:cNvSpPr>
            <a:spLocks noGrp="1" noRot="1" noChangeAspect="1"/>
          </p:cNvSpPr>
          <p:nvPr>
            <p:ph type="sldImg"/>
          </p:nvPr>
        </p:nvSpPr>
        <p:spPr>
          <a:xfrm>
            <a:off x="685800" y="1143000"/>
            <a:ext cx="5486400" cy="3086100"/>
          </a:xfrm>
          <a:prstGeom prst="rect">
            <a:avLst/>
          </a:prstGeom>
          <a:ln w="0">
            <a:noFill/>
          </a:ln>
        </p:spPr>
      </p:sp>
      <p:sp>
        <p:nvSpPr>
          <p:cNvPr id="15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UCS complexity is controlled by the optimal path cost and the minimum positive step cost. The positive-cost assumption prevents infinite sequences of zero-cost or tiny-cost steps from dominating the search.</a:t>
            </a:r>
          </a:p>
        </p:txBody>
      </p:sp>
      <p:sp>
        <p:nvSpPr>
          <p:cNvPr id="1560"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809D26-44CB-4967-9345-351E3C42A9EA}" type="slidenum">
              <a:rPr lang="en-US" sz="1200" b="0" u="none" strike="noStrike">
                <a:solidFill>
                  <a:schemeClr val="dk1"/>
                </a:solidFill>
                <a:effectLst/>
                <a:uFillTx/>
                <a:latin typeface="+mn-lt"/>
                <a:ea typeface="+mn-ea"/>
              </a:rPr>
              <a:t>51</a:t>
            </a:fld>
            <a:endParaRPr lang="en-US"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PlaceHolder 1"/>
          <p:cNvSpPr>
            <a:spLocks noGrp="1" noRot="1" noChangeAspect="1"/>
          </p:cNvSpPr>
          <p:nvPr>
            <p:ph type="sldImg"/>
          </p:nvPr>
        </p:nvSpPr>
        <p:spPr>
          <a:xfrm>
            <a:off x="685800" y="1143000"/>
            <a:ext cx="5486040" cy="3085920"/>
          </a:xfrm>
          <a:prstGeom prst="rect">
            <a:avLst/>
          </a:prstGeom>
          <a:ln w="0">
            <a:noFill/>
          </a:ln>
        </p:spPr>
      </p:sp>
      <p:sp>
        <p:nvSpPr>
          <p:cNvPr id="15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CS188 contour picture and it is the single best setup for the next lecture. Uniform-cost search spreads in waves of uniform path cost, so the region it has expanded is roughly a ball around the start rather than a corridor toward the goal. Draw the contrast with the previous slides: UCS is complete and optimal, and those are real guarantees, but it buys them by looking everywhere. Then pose the question the next lecture answers: what would it take to make the search lean toward the goal, and what would we have to give up to get it? The answer is a heuristic, and the price is that the guarantees now depend on admissibility.</a:t>
            </a:r>
          </a:p>
        </p:txBody>
      </p:sp>
      <p:sp>
        <p:nvSpPr>
          <p:cNvPr id="1563"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DF59040-3FC9-4E9B-B2F2-90D6490A0584}" type="slidenum">
              <a:rPr lang="en-US" sz="1200" b="0" u="none" strike="noStrike">
                <a:solidFill>
                  <a:srgbClr val="000000"/>
                </a:solidFill>
                <a:effectLst/>
                <a:uFillTx/>
                <a:latin typeface="Times New Roman"/>
              </a:rPr>
              <a:t>52</a:t>
            </a:fld>
            <a:endParaRPr lang="en-US" sz="1200" b="0" u="none" strike="noStrike">
              <a:solidFill>
                <a:srgbClr val="000000"/>
              </a:solidFill>
              <a:effectLst/>
              <a:uFillTx/>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 name="PlaceHolder 1"/>
          <p:cNvSpPr>
            <a:spLocks noGrp="1" noRot="1" noChangeAspect="1"/>
          </p:cNvSpPr>
          <p:nvPr>
            <p:ph type="sldImg"/>
          </p:nvPr>
        </p:nvSpPr>
        <p:spPr>
          <a:xfrm>
            <a:off x="685800" y="1143000"/>
            <a:ext cx="5486400" cy="3086100"/>
          </a:xfrm>
          <a:prstGeom prst="rect">
            <a:avLst/>
          </a:prstGeom>
          <a:ln w="0">
            <a:noFill/>
          </a:ln>
        </p:spPr>
      </p:sp>
      <p:sp>
        <p:nvSpPr>
          <p:cNvPr id="15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DFS goes deep immediately. Its main advantage is memory. It does not necessarily find the shallowest or cheapest solution. It is attractive when memory is the limiting resource and the search space behaves like a finite tree.</a:t>
            </a:r>
          </a:p>
        </p:txBody>
      </p:sp>
      <p:sp>
        <p:nvSpPr>
          <p:cNvPr id="1566"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382714-EB0F-438A-896A-B55C54116B94}" type="slidenum">
              <a:rPr lang="en-US" sz="1200" b="0" u="none" strike="noStrike">
                <a:solidFill>
                  <a:schemeClr val="dk1"/>
                </a:solidFill>
                <a:effectLst/>
                <a:uFillTx/>
                <a:latin typeface="+mn-lt"/>
                <a:ea typeface="+mn-ea"/>
              </a:rPr>
              <a:t>53</a:t>
            </a:fld>
            <a:endParaRPr lang="en-US" sz="1200" b="0" u="none" strike="noStrike">
              <a:solidFill>
                <a:srgbClr val="000000"/>
              </a:solidFill>
              <a:effectLst/>
              <a:uFillTx/>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 name="PlaceHolder 1"/>
          <p:cNvSpPr>
            <a:spLocks noGrp="1" noRot="1" noChangeAspect="1"/>
          </p:cNvSpPr>
          <p:nvPr>
            <p:ph type="sldImg"/>
          </p:nvPr>
        </p:nvSpPr>
        <p:spPr>
          <a:xfrm>
            <a:off x="685800" y="1143000"/>
            <a:ext cx="5486400" cy="3086100"/>
          </a:xfrm>
          <a:prstGeom prst="rect">
            <a:avLst/>
          </a:prstGeom>
          <a:ln w="0">
            <a:noFill/>
          </a:ln>
        </p:spPr>
      </p:sp>
      <p:sp>
        <p:nvSpPr>
          <p:cNvPr id="15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a click-through explanation slide. DFS follows one path downward. If that path fails, it backs up to the most recent node with unexpanded successors. This is why DFS is memory efficient but not complete in infinite or cyclic spaces.</a:t>
            </a:r>
          </a:p>
        </p:txBody>
      </p:sp>
      <p:sp>
        <p:nvSpPr>
          <p:cNvPr id="1569"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E7CF0D-2DA7-4D63-9F67-2076A7218F55}" type="slidenum">
              <a:rPr lang="en-US" sz="1200" b="0" u="none" strike="noStrike">
                <a:solidFill>
                  <a:schemeClr val="dk1"/>
                </a:solidFill>
                <a:effectLst/>
                <a:uFillTx/>
                <a:latin typeface="+mn-lt"/>
                <a:ea typeface="+mn-ea"/>
              </a:rPr>
              <a:t>54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0" name="PlaceHolder 1"/>
          <p:cNvSpPr>
            <a:spLocks noGrp="1" noRot="1" noChangeAspect="1"/>
          </p:cNvSpPr>
          <p:nvPr>
            <p:ph type="sldImg"/>
          </p:nvPr>
        </p:nvSpPr>
        <p:spPr>
          <a:xfrm>
            <a:off x="685800" y="1143000"/>
            <a:ext cx="5486400" cy="3086100"/>
          </a:xfrm>
          <a:prstGeom prst="rect">
            <a:avLst/>
          </a:prstGeom>
          <a:ln w="0">
            <a:noFill/>
          </a:ln>
        </p:spPr>
      </p:sp>
      <p:sp>
        <p:nvSpPr>
          <p:cNvPr id="15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DFS can fail badly in cyclic or infinite spaces. Cycle checking helps. Backtracking is a memory-efficient variant that appears later in constraint satisfaction and other AI methods.</a:t>
            </a:r>
          </a:p>
        </p:txBody>
      </p:sp>
      <p:sp>
        <p:nvSpPr>
          <p:cNvPr id="1572"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48A000-F176-47A2-B1C0-6F52F4D3D38E}" type="slidenum">
              <a:rPr lang="en-US" sz="1200" b="0" u="none" strike="noStrike">
                <a:solidFill>
                  <a:schemeClr val="dk1"/>
                </a:solidFill>
                <a:effectLst/>
                <a:uFillTx/>
                <a:latin typeface="+mn-lt"/>
                <a:ea typeface="+mn-ea"/>
              </a:rPr>
              <a:t>55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 name="PlaceHolder 1"/>
          <p:cNvSpPr>
            <a:spLocks noGrp="1" noRot="1" noChangeAspect="1"/>
          </p:cNvSpPr>
          <p:nvPr>
            <p:ph type="sldImg"/>
          </p:nvPr>
        </p:nvSpPr>
        <p:spPr>
          <a:xfrm>
            <a:off x="685800" y="1143000"/>
            <a:ext cx="5486040" cy="3085920"/>
          </a:xfrm>
          <a:prstGeom prst="rect">
            <a:avLst/>
          </a:prstGeom>
          <a:ln w="0">
            <a:noFill/>
          </a:ln>
        </p:spPr>
      </p:sp>
      <p:sp>
        <p:nvSpPr>
          <p:cNvPr id="15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Run this as a two-minute think-pair-share before the comparison table. The goal is not for students to recall the table but to derive it. Push them toward the frontier as the explanation for every entry: BFS pops the oldest node, so it holds a whole tier and pays exponential memory; DFS pops the newest, so it holds one root-to-leaf path plus siblings and pays only b times m. Completeness, optimality, and both complexities all follow from that one design choice. Good follow-up question: what happens to each answer if the state space contains a cycle and you are not keeping a reached table?</a:t>
            </a:r>
          </a:p>
        </p:txBody>
      </p:sp>
      <p:sp>
        <p:nvSpPr>
          <p:cNvPr id="1575"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08E898-AA62-4663-9EFB-CAE6154171CB}" type="slidenum">
              <a:rPr lang="en-US" sz="1200" b="0" u="none" strike="noStrike">
                <a:solidFill>
                  <a:srgbClr val="000000"/>
                </a:solidFill>
                <a:effectLst/>
                <a:uFillTx/>
                <a:latin typeface="Times New Roman"/>
              </a:rPr>
              <a:t>56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 name="PlaceHolder 1"/>
          <p:cNvSpPr>
            <a:spLocks noGrp="1" noRot="1" noChangeAspect="1"/>
          </p:cNvSpPr>
          <p:nvPr>
            <p:ph type="sldImg"/>
          </p:nvPr>
        </p:nvSpPr>
        <p:spPr>
          <a:xfrm>
            <a:off x="685800" y="1143000"/>
            <a:ext cx="5486400" cy="3086100"/>
          </a:xfrm>
          <a:prstGeom prst="rect">
            <a:avLst/>
          </a:prstGeom>
          <a:ln w="0">
            <a:noFill/>
          </a:ln>
        </p:spPr>
      </p:sp>
      <p:sp>
        <p:nvSpPr>
          <p:cNvPr id="15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Depth-limited search prevents DFS from going infinitely deep by imposing a limit. Iterative deepening solves the problem of choosing the limit by trying 0, 1, 2, and so on. Most work is at the deepest level, so the repetition is not usually a major asymptotic penalty.</a:t>
            </a:r>
          </a:p>
        </p:txBody>
      </p:sp>
      <p:sp>
        <p:nvSpPr>
          <p:cNvPr id="1578"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6E175D-0455-495A-9487-38BEAF70F1E3}" type="slidenum">
              <a:rPr lang="en-US" sz="1200" b="0" u="none" strike="noStrike">
                <a:solidFill>
                  <a:schemeClr val="dk1"/>
                </a:solidFill>
                <a:effectLst/>
                <a:uFillTx/>
                <a:latin typeface="+mn-lt"/>
                <a:ea typeface="+mn-ea"/>
              </a:rPr>
              <a:t>57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Depth-limited search usually gets one bullet in a lecture and then reappears on the exam, so this slide gives it the pseudocode it deserves. It is also the function iterative deepening calls, which means students cannot really understand IDS without it.</a:t>
            </a:r>
          </a:p>
          <a:p>
            <a:pPr indent="0" algn="l">
              <a:lnSpc>
                <a:spcPct val="100000"/>
              </a:lnSpc>
              <a:buNone/>
            </a:pPr>
            <a:r>
              <a:rPr lang="en-US" sz="2000" b="0" u="none" strike="noStrike" dirty="0">
                <a:solidFill>
                  <a:srgbClr val="000000"/>
                </a:solidFill>
                <a:effectLst/>
                <a:uFillTx/>
                <a:latin typeface="Arial"/>
              </a:rPr>
              <a:t>Start by comparing the frontier line with the BFS frontier line from earlier in the deck. LIFO instead of FIFO. That is the whole of depth-first search, and it is worth saying out loud that the textbook does not give depth-first search its own figure precisely because it is this function with the limit set to infinity.</a:t>
            </a:r>
          </a:p>
          <a:p>
            <a:pPr indent="0" algn="l">
              <a:lnSpc>
                <a:spcPct val="100000"/>
              </a:lnSpc>
              <a:buNone/>
            </a:pPr>
            <a:r>
              <a:rPr lang="en-US" sz="2000" b="0" u="none" strike="noStrike" dirty="0">
                <a:solidFill>
                  <a:srgbClr val="000000"/>
                </a:solidFill>
                <a:effectLst/>
                <a:uFillTx/>
                <a:latin typeface="Arial"/>
              </a:rPr>
              <a:t>Spend most of the time on the three return values. The distinction between failure and cutoff is the reason the function exists in this form, and the next slide is devoted to it, so here just plant the flag: three answers, not two.</a:t>
            </a:r>
          </a:p>
          <a:p>
            <a:pPr indent="0" algn="l">
              <a:lnSpc>
                <a:spcPct val="100000"/>
              </a:lnSpc>
              <a:buNone/>
            </a:pPr>
            <a:r>
              <a:rPr lang="en-US" sz="2000" b="0" u="none" strike="noStrike" dirty="0">
                <a:solidFill>
                  <a:srgbClr val="000000"/>
                </a:solidFill>
                <a:effectLst/>
                <a:uFillTx/>
                <a:latin typeface="Arial"/>
              </a:rPr>
              <a:t>Two smaller points that students miss. First, there is no reached table anywhere in this code, which is what makes the memory bound b times ell rather than exponential, and also what allows the same state to be visited many times on different paths. Second, IS-CYCLE is a parent-chain walk, and the text explicitly allows a partial check of a few links as a cheap compromise. Ask the class what a partial check can miss.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is the slide that earns depth-limited search its place in the lecture. Everything else about the algorithm is depth-first search with an if-statement.</a:t>
            </a:r>
          </a:p>
          <a:p>
            <a:pPr indent="0" algn="l">
              <a:lnSpc>
                <a:spcPct val="100000"/>
              </a:lnSpc>
              <a:buNone/>
            </a:pPr>
            <a:r>
              <a:rPr lang="en-US" sz="2000" b="0" u="none" strike="noStrike" dirty="0">
                <a:solidFill>
                  <a:srgbClr val="000000"/>
                </a:solidFill>
                <a:effectLst/>
                <a:uFillTx/>
                <a:latin typeface="Arial"/>
              </a:rPr>
              <a:t>Take the three outcomes one at a time and force students to state the difference in their own words before you show the Means line. The formulation that tends to stick is that failure is a claim about the problem and cutoff is a claim about the search. Failure says there is no solution. Cutoff says I did not look far enough to know.</a:t>
            </a:r>
          </a:p>
          <a:p>
            <a:pPr indent="0" algn="l">
              <a:lnSpc>
                <a:spcPct val="100000"/>
              </a:lnSpc>
              <a:buNone/>
            </a:pPr>
            <a:r>
              <a:rPr lang="en-US" sz="2000" b="0" u="none" strike="noStrike" dirty="0">
                <a:solidFill>
                  <a:srgbClr val="000000"/>
                </a:solidFill>
                <a:effectLst/>
                <a:uFillTx/>
                <a:latin typeface="Arial"/>
              </a:rPr>
              <a:t>The middle card explains a piece of the pseudocode that looks like a stylistic choice and is not. Result is initialised to failure and only ever upgraded to cutoff, and the function does not return until the stack is empty. Ask why the algorithm cannot simply return cutoff the moment it truncates a node. The answer is that a solution might still be found on some other branch within the limit, and depth-limited search should return it if so.</a:t>
            </a:r>
          </a:p>
          <a:p>
            <a:pPr indent="0" algn="l">
              <a:lnSpc>
                <a:spcPct val="100000"/>
              </a:lnSpc>
              <a:buNone/>
            </a:pPr>
            <a:r>
              <a:rPr lang="en-US" sz="2000" b="0" u="none" strike="noStrike" dirty="0">
                <a:solidFill>
                  <a:srgbClr val="000000"/>
                </a:solidFill>
                <a:effectLst/>
                <a:uFillTx/>
                <a:latin typeface="Arial"/>
              </a:rPr>
              <a:t>The Romania column is where students see the practical problem. Nineteen is safe and useless, nine is right and unknowable in advance, eight is silently wrong except for the one word that gives it away. If you have time, ask what the diameter of the 8-puzzle state space is, and let them sit with the fact that answering it requires solving every instance.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Show this immediately after the depth-limited slides, while the three return values are still fresh, because the entire driver loop turns on them.</a:t>
            </a:r>
          </a:p>
          <a:p>
            <a:pPr indent="0" algn="l">
              <a:lnSpc>
                <a:spcPct val="100000"/>
              </a:lnSpc>
              <a:buNone/>
            </a:pPr>
            <a:r>
              <a:rPr lang="en-US" sz="2000" b="0" u="none" strike="noStrike" dirty="0">
                <a:solidFill>
                  <a:srgbClr val="000000"/>
                </a:solidFill>
                <a:effectLst/>
                <a:uFillTx/>
                <a:latin typeface="Arial"/>
              </a:rPr>
              <a:t>The line to dwell on is the test: if result is not cutoff, return it. Ask students what values that test lets through, and make sure both come out. A solution node is the obvious one. Failure is the one they miss, and it is the more interesting case: failure from depth-limited search means the space within the limit was exhausted and nothing was ever truncated, so no larger limit can reach anything new. Returning failure there is not giving up early — it is a proof.</a:t>
            </a:r>
          </a:p>
          <a:p>
            <a:pPr indent="0" algn="l">
              <a:lnSpc>
                <a:spcPct val="100000"/>
              </a:lnSpc>
              <a:buNone/>
            </a:pPr>
            <a:r>
              <a:rPr lang="en-US" sz="2000" b="0" u="none" strike="noStrike" dirty="0">
                <a:solidFill>
                  <a:srgbClr val="000000"/>
                </a:solidFill>
                <a:effectLst/>
                <a:uFillTx/>
                <a:latin typeface="Arial"/>
              </a:rPr>
              <a:t>Read the trace table aloud in order. Cutoff, cutoff, cutoff, solution. Then point at the last row and note it can appear at any limit, and when it does the loop stops.</a:t>
            </a:r>
          </a:p>
          <a:p>
            <a:pPr indent="0" algn="l">
              <a:lnSpc>
                <a:spcPct val="100000"/>
              </a:lnSpc>
              <a:buNone/>
            </a:pPr>
            <a:r>
              <a:rPr lang="en-US" sz="2000" b="0" u="none" strike="noStrike" dirty="0">
                <a:solidFill>
                  <a:srgbClr val="000000"/>
                </a:solidFill>
                <a:effectLst/>
                <a:uFillTx/>
                <a:latin typeface="Arial"/>
              </a:rPr>
              <a:t>The right-hand column has the argument students actually need for the exam. Each iteration is independent and stores nothing, so the memory bound is b times d rather than b to the d. The previous slide in the deck already showed the eleven percent overhead arithmetic; this is the payoff that overhead purchases.</a:t>
            </a:r>
          </a:p>
          <a:p>
            <a:pPr indent="0" algn="l">
              <a:lnSpc>
                <a:spcPct val="100000"/>
              </a:lnSpc>
              <a:buNone/>
            </a:pPr>
            <a:r>
              <a:rPr lang="en-US" sz="2000" b="0" u="none" strike="noStrike" dirty="0">
                <a:solidFill>
                  <a:srgbClr val="000000"/>
                </a:solidFill>
                <a:effectLst/>
                <a:uFillTx/>
                <a:latin typeface="Arial"/>
              </a:rPr>
              <a:t>Finish on the bottom band and connect it back to the earlier completeness discussion. In an infinite space with no solution, every call returns cutoff forever. Students often read that as a bug. It is the theorem.</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 name="PlaceHolder 1"/>
          <p:cNvSpPr>
            <a:spLocks noGrp="1" noRot="1" noChangeAspect="1"/>
          </p:cNvSpPr>
          <p:nvPr>
            <p:ph type="sldImg"/>
          </p:nvPr>
        </p:nvSpPr>
        <p:spPr>
          <a:xfrm>
            <a:off x="685800" y="1143000"/>
            <a:ext cx="5486040" cy="3085920"/>
          </a:xfrm>
          <a:prstGeom prst="rect">
            <a:avLst/>
          </a:prstGeom>
          <a:ln w="0">
            <a:noFill/>
          </a:ln>
        </p:spPr>
      </p:sp>
      <p:sp>
        <p:nvSpPr>
          <p:cNvPr id="15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Students almost always object that iterative deepening throws away work, so meet the objection with the arithmetic. For branching factor ten and depth five, IDS generates 123,450 nodes against 111,110 for BFS: about eleven percent more, for a memory reduction from exponential to linear. The reason is that the node count is dominated by the bottom tier, which IDS generates exactly once. The right-hand column answers the other natural question, which is how to pick the limit in the first place. Introduce the diameter of the state-space graph here, using Romania: nineteen is a safe limit, nine is the good one, and in general you do not know the diameter until you have solved the problem.</a:t>
            </a:r>
          </a:p>
        </p:txBody>
      </p:sp>
      <p:sp>
        <p:nvSpPr>
          <p:cNvPr id="1581"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83E677-DAFF-4A1B-9750-A6AC49E4888C}" type="slidenum">
              <a:rPr lang="en-US" sz="1200" b="0" u="none" strike="noStrike">
                <a:solidFill>
                  <a:srgbClr val="000000"/>
                </a:solidFill>
                <a:effectLst/>
                <a:uFillTx/>
                <a:latin typeface="Times New Roman"/>
              </a:rPr>
              <a:t>61</a:t>
            </a:fld>
            <a:endParaRPr lang="en-US" sz="1200" b="0" u="none" strike="noStrike">
              <a:solidFill>
                <a:srgbClr val="000000"/>
              </a:solidFill>
              <a:effectLst/>
              <a:uFillTx/>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2" name="PlaceHolder 1"/>
          <p:cNvSpPr>
            <a:spLocks noGrp="1" noRot="1" noChangeAspect="1"/>
          </p:cNvSpPr>
          <p:nvPr>
            <p:ph type="sldImg"/>
          </p:nvPr>
        </p:nvSpPr>
        <p:spPr>
          <a:xfrm>
            <a:off x="685800" y="1143000"/>
            <a:ext cx="5486400" cy="3086100"/>
          </a:xfrm>
          <a:prstGeom prst="rect">
            <a:avLst/>
          </a:prstGeom>
          <a:ln w="0">
            <a:noFill/>
          </a:ln>
        </p:spPr>
      </p:sp>
      <p:sp>
        <p:nvSpPr>
          <p:cNvPr id="15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Bidirectional search runs one search forward from the initial state and another backward from the goal. The payoff can be large because two searches to half-depth are much smaller than one search to full depth. It requires backward reasoning and a way to detect frontier collisions.</a:t>
            </a:r>
          </a:p>
        </p:txBody>
      </p:sp>
      <p:sp>
        <p:nvSpPr>
          <p:cNvPr id="1584"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B74AF9-5424-4DB0-9C1F-82968C9F0874}" type="slidenum">
              <a:rPr lang="en-US" sz="1200" b="0" u="none" strike="noStrike">
                <a:solidFill>
                  <a:schemeClr val="dk1"/>
                </a:solidFill>
                <a:effectLst/>
                <a:uFillTx/>
                <a:latin typeface="+mn-lt"/>
                <a:ea typeface="+mn-ea"/>
              </a:rPr>
              <a:t>62</a:t>
            </a:fld>
            <a:endParaRPr lang="en-US" sz="1200" b="0" u="none" strike="noStrike">
              <a:solidFill>
                <a:srgbClr val="000000"/>
              </a:solidFill>
              <a:effectLst/>
              <a:uFillTx/>
              <a:latin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 name="PlaceHolder 1"/>
          <p:cNvSpPr>
            <a:spLocks noGrp="1" noRot="1" noChangeAspect="1"/>
          </p:cNvSpPr>
          <p:nvPr>
            <p:ph type="sldImg"/>
          </p:nvPr>
        </p:nvSpPr>
        <p:spPr>
          <a:xfrm>
            <a:off x="685800" y="1143000"/>
            <a:ext cx="5486040" cy="3085920"/>
          </a:xfrm>
          <a:prstGeom prst="rect">
            <a:avLst/>
          </a:prstGeom>
          <a:ln w="0">
            <a:noFill/>
          </a:ln>
        </p:spPr>
      </p:sp>
      <p:sp>
        <p:nvSpPr>
          <p:cNvPr id="15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Bidirectional search is the last uninformed strategy and the one with the biggest gap between its headline number and its practicality. Lead with the payoff, because b to the d over two, twice, really is dramatically smaller than b to the d. Then spend most of the time on the preconditions, because that is where the method breaks down: you need to reason backward from the goal, which means you need an explicit goal state rather than a goal property, and you need the inverse of the transition model. Note the subtlety in the termination test: the first collision is not necessarily optimal for a general evaluation function, so the algorithm keeps a best solution so far. When f is the path cost, no node costing more than C star over two is expanded.</a:t>
            </a:r>
          </a:p>
        </p:txBody>
      </p:sp>
      <p:sp>
        <p:nvSpPr>
          <p:cNvPr id="1587"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1B4AD9-0E2C-472B-963C-5DAD7198333E}" type="slidenum">
              <a:rPr lang="en-US" sz="1200" b="0" u="none" strike="noStrike">
                <a:solidFill>
                  <a:srgbClr val="000000"/>
                </a:solidFill>
                <a:effectLst/>
                <a:uFillTx/>
                <a:latin typeface="Times New Roman"/>
              </a:rPr>
              <a:t>63</a:t>
            </a:fld>
            <a:endParaRPr lang="en-US" sz="1200" b="0" u="none" strike="noStrike">
              <a:solidFill>
                <a:srgbClr val="000000"/>
              </a:solidFill>
              <a:effectLst/>
              <a:uFillTx/>
              <a:latin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The deck already has two conceptual slides on bidirectional search, so this one exists to show that the idea has a real algorithm behind it, and that the algorithm is mostly bookkeeping.</a:t>
            </a:r>
          </a:p>
          <a:p>
            <a:pPr indent="0" algn="l">
              <a:lnSpc>
                <a:spcPct val="100000"/>
              </a:lnSpc>
              <a:buNone/>
            </a:pPr>
            <a:r>
              <a:rPr lang="en-US" sz="2000" b="0" u="none" strike="noStrike" dirty="0">
                <a:solidFill>
                  <a:srgbClr val="000000"/>
                </a:solidFill>
                <a:effectLst/>
                <a:uFillTx/>
                <a:latin typeface="Arial"/>
              </a:rPr>
              <a:t>Read the declarations block first and let the doubling speak for itself. Two frontiers, two reached tables, two evaluation functions, two problems. Point out that nodeB is built from problemB.INITIAL, and then ask what problemB.INITIAL is. The answer, that it is the goal state, is the moment the preconditions become concrete rather than a caveat.</a:t>
            </a:r>
          </a:p>
          <a:p>
            <a:pPr indent="0" algn="l">
              <a:lnSpc>
                <a:spcPct val="100000"/>
              </a:lnSpc>
              <a:buNone/>
            </a:pPr>
            <a:r>
              <a:rPr lang="en-US" sz="2000" b="0" u="none" strike="noStrike" dirty="0">
                <a:solidFill>
                  <a:srgbClr val="000000"/>
                </a:solidFill>
                <a:effectLst/>
                <a:uFillTx/>
                <a:latin typeface="Arial"/>
              </a:rPr>
              <a:t>The loop is three lines. The comparison of the two queue tops is worth flagging because students assume the halves alternate. They do not. The algorithm expands whichever side currently has the cheapest node, so if one direction has a much larger branching factor the search will lean the other way, which is usually what you want.</a:t>
            </a:r>
          </a:p>
          <a:p>
            <a:pPr indent="0" algn="l">
              <a:lnSpc>
                <a:spcPct val="100000"/>
              </a:lnSpc>
              <a:buNone/>
            </a:pPr>
            <a:r>
              <a:rPr lang="en-US" sz="2000" b="0" u="none" strike="noStrike" dirty="0">
                <a:solidFill>
                  <a:srgbClr val="000000"/>
                </a:solidFill>
                <a:effectLst/>
                <a:uFillTx/>
                <a:latin typeface="Arial"/>
              </a:rPr>
              <a:t>The red card is the part to slow down on. Backward search requires an explicit goal state and an invertible transition model. Ask the class whether the 8-puzzle qualifies — it does, since the goal is a specific configuration and every slide can be undone. Then ask about a goal stated as a property, like any state where all the dots are eaten, and let them work out why you cannot start a backward search from a set you cannot enumerate.</a:t>
            </a:r>
          </a:p>
          <a:p>
            <a:pPr indent="0" algn="l">
              <a:lnSpc>
                <a:spcPct val="100000"/>
              </a:lnSpc>
              <a:buNone/>
            </a:pPr>
            <a:r>
              <a:rPr lang="en-US" sz="2000" b="0" u="none" strike="noStrike" dirty="0">
                <a:solidFill>
                  <a:srgbClr val="000000"/>
                </a:solidFill>
                <a:effectLst/>
                <a:uFillTx/>
                <a:latin typeface="Arial"/>
              </a:rPr>
              <a:t>Close on the bottom band so nobody leaves thinking bidirectional search is one algorithm. It is a family, parameterised by the two evaluation functions, exactly like best-first search.</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PROCEED is where the interesting behaviour lives, and it is short enough to read completely in class.</a:t>
            </a:r>
          </a:p>
          <a:p>
            <a:pPr indent="0" algn="l">
              <a:lnSpc>
                <a:spcPct val="100000"/>
              </a:lnSpc>
              <a:buNone/>
            </a:pPr>
            <a:r>
              <a:rPr lang="en-US" sz="2000" b="0" u="none" strike="noStrike" dirty="0">
                <a:solidFill>
                  <a:srgbClr val="000000"/>
                </a:solidFill>
                <a:effectLst/>
                <a:uFillTx/>
                <a:latin typeface="Arial"/>
              </a:rPr>
              <a:t>Point out first how much of it students have already seen. Lines three through eight are an ordinary best-first expansion, including the re-add condition from the best-first slide earlier in the deck. Nothing about bidirectional search changes how a single frontier grows.</a:t>
            </a:r>
          </a:p>
          <a:p>
            <a:pPr indent="0" algn="l">
              <a:lnSpc>
                <a:spcPct val="100000"/>
              </a:lnSpc>
              <a:buNone/>
            </a:pPr>
            <a:r>
              <a:rPr lang="en-US" sz="2000" b="0" u="none" strike="noStrike" dirty="0">
                <a:solidFill>
                  <a:srgbClr val="000000"/>
                </a:solidFill>
                <a:effectLst/>
                <a:uFillTx/>
                <a:latin typeface="Arial"/>
              </a:rPr>
              <a:t>Then isolate the two new lines. The collision test asks whether the state this half just reached is already in the other half's reached table. If it is, two half-paths exist and JOIN-NODES splices them, reversing the backward half so the actions run in the right order. Ask the class why the direction argument dir is needed at all, and let them realise it tells JOIN-NODES which half to reverse.</a:t>
            </a:r>
          </a:p>
          <a:p>
            <a:pPr indent="0" algn="l">
              <a:lnSpc>
                <a:spcPct val="100000"/>
              </a:lnSpc>
              <a:buNone/>
            </a:pPr>
            <a:r>
              <a:rPr lang="en-US" sz="2000" b="0" u="none" strike="noStrike" dirty="0">
                <a:solidFill>
                  <a:srgbClr val="000000"/>
                </a:solidFill>
                <a:effectLst/>
                <a:uFillTx/>
                <a:latin typeface="Arial"/>
              </a:rPr>
              <a:t>The comparison on the next line is the subtle one, and the card below the code is devoted to it. The first collision gives you a complete path but not necessarily the best one, because both frontiers still hold nodes that might join more cheaply. So the algorithm keeps a best-so-far and defers to TERMINATED. Students who have only ever seen the two-circles-meeting picture usually believe the search stops at first contact, so state plainly that it does not.</a:t>
            </a:r>
          </a:p>
          <a:p>
            <a:pPr indent="0" algn="l">
              <a:lnSpc>
                <a:spcPct val="100000"/>
              </a:lnSpc>
              <a:buNone/>
            </a:pPr>
            <a:r>
              <a:rPr lang="en-US" sz="2000" b="0" u="none" strike="noStrike" dirty="0">
                <a:solidFill>
                  <a:srgbClr val="000000"/>
                </a:solidFill>
                <a:effectLst/>
                <a:uFillTx/>
                <a:latin typeface="Arial"/>
              </a:rPr>
              <a:t>The Romania trace at the bottom makes a good five-minute exercise if you have the time, and a good homework problem if you do not.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 name="PlaceHolder 1"/>
          <p:cNvSpPr>
            <a:spLocks noGrp="1" noRot="1" noChangeAspect="1"/>
          </p:cNvSpPr>
          <p:nvPr>
            <p:ph type="sldImg"/>
          </p:nvPr>
        </p:nvSpPr>
        <p:spPr>
          <a:xfrm>
            <a:off x="685800" y="1143000"/>
            <a:ext cx="5486400" cy="3086100"/>
          </a:xfrm>
          <a:prstGeom prst="rect">
            <a:avLst/>
          </a:prstGeom>
          <a:ln w="0">
            <a:noFill/>
          </a:ln>
        </p:spPr>
      </p:sp>
      <p:sp>
        <p:nvSpPr>
          <p:cNvPr id="15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this as the decision aid. BFS is complete and unit-cost optimal but memory heavy. UCS is cost-optimal for positive costs. DFS uses little memory but is unreliable in infinite or cyclic spaces. IDS is often the preferred uninformed method when solution depth is unknown and memory is limited.</a:t>
            </a:r>
          </a:p>
        </p:txBody>
      </p:sp>
      <p:sp>
        <p:nvSpPr>
          <p:cNvPr id="1590"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BF8638-A7A3-4615-9A96-5E9C22A1F1D8}" type="slidenum">
              <a:rPr lang="en-US" sz="1200" b="0" u="none" strike="noStrike">
                <a:solidFill>
                  <a:schemeClr val="dk1"/>
                </a:solidFill>
                <a:effectLst/>
                <a:uFillTx/>
                <a:latin typeface="+mn-lt"/>
                <a:ea typeface="+mn-ea"/>
              </a:rPr>
              <a:t>66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is Figure 3.15 reproduced faithfully, superscripts and all, and it should go on the exam in something close to this form.</a:t>
            </a:r>
          </a:p>
          <a:p>
            <a:pPr indent="0" algn="l">
              <a:lnSpc>
                <a:spcPct val="100000"/>
              </a:lnSpc>
              <a:buNone/>
            </a:pPr>
            <a:r>
              <a:rPr lang="en-US" sz="2000" b="0" u="none" strike="noStrike" dirty="0">
                <a:solidFill>
                  <a:srgbClr val="000000"/>
                </a:solidFill>
                <a:effectLst/>
                <a:uFillTx/>
                <a:latin typeface="Arial"/>
              </a:rPr>
              <a:t>Do not read it left to right. Read it down the columns and ask what each algorithm is buying and paying. Breadth-first buys completeness and unit-cost optimality and pays exponential memory. Depth-first gives up both guarantees and pays only b times m. Iterative deepening keeps breadth-first's guarantees at depth-first's memory cost. Uniform-cost is the only column written in C star and epsilon rather than d, and that is worth a question on its own: with unequal action costs, depth stops measuring anything the algorithm cares about.</a:t>
            </a:r>
          </a:p>
          <a:p>
            <a:pPr indent="0" algn="l">
              <a:lnSpc>
                <a:spcPct val="100000"/>
              </a:lnSpc>
              <a:buNone/>
            </a:pPr>
            <a:r>
              <a:rPr lang="en-US" sz="2000" b="0" u="none" strike="noStrike" dirty="0">
                <a:solidFill>
                  <a:srgbClr val="000000"/>
                </a:solidFill>
                <a:effectLst/>
                <a:uFillTx/>
                <a:latin typeface="Arial"/>
              </a:rPr>
              <a:t>Make sure students read the superscripts as part of the entry rather than as decoration. Yes with a one attached is a conditional yes. The four footnotes are four separate exam answers.</a:t>
            </a:r>
          </a:p>
          <a:p>
            <a:pPr indent="0" algn="l">
              <a:lnSpc>
                <a:spcPct val="100000"/>
              </a:lnSpc>
              <a:buNone/>
            </a:pPr>
            <a:r>
              <a:rPr lang="en-US" sz="2000" b="0" u="none" strike="noStrike" dirty="0">
                <a:solidFill>
                  <a:srgbClr val="000000"/>
                </a:solidFill>
                <a:effectLst/>
                <a:uFillTx/>
                <a:latin typeface="Arial"/>
              </a:rPr>
              <a:t>The band at the bottom is the caveat the textbook states directly under the figure and that students routinely miss. Every entry here is for the tree-like version with no repeated-state checking. Add the reached table and depth-first search becomes complete on any finite state space, and the complexity bounds are governed by the size of the graph rather than by b and m. If you have already shown the earlier slide contrasting graph search with tree-like search, point back at it here.</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is the antidote to students photographing Figure 3.15 and trying to memorise twenty-four cells.</a:t>
            </a:r>
          </a:p>
          <a:p>
            <a:pPr indent="0" algn="l">
              <a:lnSpc>
                <a:spcPct val="100000"/>
              </a:lnSpc>
              <a:buNone/>
            </a:pPr>
            <a:r>
              <a:rPr lang="en-US" sz="2000" b="0" u="none" strike="noStrike" dirty="0">
                <a:solidFill>
                  <a:srgbClr val="000000"/>
                </a:solidFill>
                <a:effectLst/>
                <a:uFillTx/>
                <a:latin typeface="Arial"/>
              </a:rPr>
              <a:t>The first column is the argument you want them to internalise. Every entry in that table is a consequence of one design decision: which node the frontier hands back next. Oldest gives you tiers and exponential memory. Newest gives you one path and linear memory. Repeated newest with a growing limit gives you the first algorithm's guarantees at the second one's cost. Ask a student to derive the depth-first space bound out loud from that sentence alone.</a:t>
            </a:r>
          </a:p>
          <a:p>
            <a:pPr indent="0" algn="l">
              <a:lnSpc>
                <a:spcPct val="100000"/>
              </a:lnSpc>
              <a:buNone/>
            </a:pPr>
            <a:r>
              <a:rPr lang="en-US" sz="2000" b="0" u="none" strike="noStrike" dirty="0">
                <a:solidFill>
                  <a:srgbClr val="000000"/>
                </a:solidFill>
                <a:effectLst/>
                <a:uFillTx/>
                <a:latin typeface="Arial"/>
              </a:rPr>
              <a:t>The middle column collects the four confusions that actually cost marks. The one to hammer is that iterative deepening's space bound is b times d, not b to the d. Write both on the board. They differ by an exponent and by several orders of magnitude, and a student who copies the wrong one has claimed IDS has no advantage over breadth-first search at all, which is the entire point of the algorithm.</a:t>
            </a:r>
          </a:p>
          <a:p>
            <a:pPr indent="0" algn="l">
              <a:lnSpc>
                <a:spcPct val="100000"/>
              </a:lnSpc>
              <a:buNone/>
            </a:pPr>
            <a:r>
              <a:rPr lang="en-US" sz="2000" b="0" u="none" strike="noStrike" dirty="0">
                <a:solidFill>
                  <a:srgbClr val="000000"/>
                </a:solidFill>
                <a:effectLst/>
                <a:uFillTx/>
                <a:latin typeface="Arial"/>
              </a:rPr>
              <a:t>The third column turns the footnotes into questions. Each superscript is a condition under which the guarantee evaporates, and each one has appeared as an exam question in some form.</a:t>
            </a:r>
          </a:p>
          <a:p>
            <a:pPr indent="0" algn="l">
              <a:lnSpc>
                <a:spcPct val="100000"/>
              </a:lnSpc>
              <a:buNone/>
            </a:pPr>
            <a:r>
              <a:rPr lang="en-US" sz="2000" b="0" u="none" strike="noStrike" dirty="0">
                <a:solidFill>
                  <a:srgbClr val="000000"/>
                </a:solidFill>
                <a:effectLst/>
                <a:uFillTx/>
                <a:latin typeface="Arial"/>
              </a:rPr>
              <a:t>End on the two bands. Best-first search is absent from the table because it is not a competitor; it is the loop. And the whole table is about to be outclassed by adding one term to f, which is exactly where the next lecture starts.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 name="PlaceHolder 1"/>
          <p:cNvSpPr>
            <a:spLocks noGrp="1" noRot="1" noChangeAspect="1"/>
          </p:cNvSpPr>
          <p:nvPr>
            <p:ph type="sldImg"/>
          </p:nvPr>
        </p:nvSpPr>
        <p:spPr>
          <a:xfrm>
            <a:off x="685800" y="1143000"/>
            <a:ext cx="5486400" cy="3086100"/>
          </a:xfrm>
          <a:prstGeom prst="rect">
            <a:avLst/>
          </a:prstGeom>
          <a:ln w="0">
            <a:noFill/>
          </a:ln>
        </p:spPr>
      </p:sp>
      <p:sp>
        <p:nvSpPr>
          <p:cNvPr id="15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Close with the main logic. First formulate the problem. Then understand that the search tree is a tree of paths, not merely the state graph. Then choose the frontier strategy. Uninformed search can be complete and sometimes optimal, but it grows quickly because it has no heuristic estimate. The next lecture improves this by adding heuristics.</a:t>
            </a:r>
          </a:p>
        </p:txBody>
      </p:sp>
      <p:sp>
        <p:nvSpPr>
          <p:cNvPr id="1593"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D251AF-FB34-4229-B018-B6090D528600}" type="slidenum">
              <a:rPr lang="en-US" sz="1200" b="0" u="none" strike="noStrike">
                <a:solidFill>
                  <a:schemeClr val="dk1"/>
                </a:solidFill>
                <a:effectLst/>
                <a:uFillTx/>
                <a:latin typeface="+mn-lt"/>
                <a:ea typeface="+mn-ea"/>
              </a:rPr>
              <a:t>69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 name="PlaceHolder 1"/>
          <p:cNvSpPr>
            <a:spLocks noGrp="1" noRot="1" noChangeAspect="1"/>
          </p:cNvSpPr>
          <p:nvPr>
            <p:ph type="sldImg"/>
          </p:nvPr>
        </p:nvSpPr>
        <p:spPr>
          <a:xfrm>
            <a:off x="685800" y="1143000"/>
            <a:ext cx="5486040" cy="3085920"/>
          </a:xfrm>
          <a:prstGeom prst="rect">
            <a:avLst/>
          </a:prstGeom>
          <a:ln w="0">
            <a:noFill/>
          </a:ln>
        </p:spPr>
      </p:sp>
      <p:sp>
        <p:nvSpPr>
          <p:cNvPr id="15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Use this as the closing slide and keep it short. The point is to leave students with a precise sense of what is broken rather than a summary they have already heard. Everything in Sections 3.1 through 3.4 reasons backward: g(n) measures the path already travelled. Nothing so far looks forward. That is exactly why uniform-cost search expands a ball around the start instead of a corridor toward the goal, and why the b to the d bill is unavoidable. Then make the promise concrete: the algorithm does not change next lecture, only the evaluation function does. Add a second term h(n) that estimates the remaining cost and the same loop becomes A*. The cost of that is a new question, which is what admissibility and consistency are for.</a:t>
            </a:r>
          </a:p>
        </p:txBody>
      </p:sp>
      <p:sp>
        <p:nvSpPr>
          <p:cNvPr id="1596"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C7E1C2-64BB-4EF7-AF08-56D348B879CB}" type="slidenum">
              <a:rPr lang="en-US" sz="1200" b="0" u="none" strike="noStrike">
                <a:solidFill>
                  <a:srgbClr val="000000"/>
                </a:solidFill>
                <a:effectLst/>
                <a:uFillTx/>
                <a:latin typeface="Times New Roman"/>
              </a:rPr>
              <a:t>70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EEF5F8"/>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5"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12"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 name="Shape 1"/>
          <p:cNvSpPr/>
          <p:nvPr/>
        </p:nvSpPr>
        <p:spPr>
          <a:xfrm>
            <a:off x="0" y="58978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 name="Text 2"/>
          <p:cNvSpPr/>
          <p:nvPr/>
        </p:nvSpPr>
        <p:spPr>
          <a:xfrm>
            <a:off x="640080" y="77724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DCE8FF"/>
                </a:solidFill>
                <a:effectLst/>
                <a:uFillTx/>
                <a:latin typeface="Aptos"/>
              </a:rPr>
              <a:t>COMP 469</a:t>
            </a:r>
            <a:endParaRPr lang="en-US" sz="2000" b="0" u="none" strike="noStrike">
              <a:solidFill>
                <a:srgbClr val="FFFFFF"/>
              </a:solidFill>
              <a:effectLst/>
              <a:uFillTx/>
              <a:latin typeface="Arial"/>
            </a:endParaRPr>
          </a:p>
        </p:txBody>
      </p:sp>
      <p:sp>
        <p:nvSpPr>
          <p:cNvPr id="15" name="Text 3"/>
          <p:cNvSpPr/>
          <p:nvPr/>
        </p:nvSpPr>
        <p:spPr>
          <a:xfrm>
            <a:off x="640080" y="1417320"/>
            <a:ext cx="109724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3400" b="1" u="none" strike="noStrike">
                <a:solidFill>
                  <a:srgbClr val="FFFFFF"/>
                </a:solidFill>
                <a:effectLst/>
                <a:uFillTx/>
                <a:latin typeface="Aptos"/>
              </a:rPr>
              <a:t>Chapter 3: Solving Problems by Searching</a:t>
            </a:r>
            <a:endParaRPr lang="en-US" sz="3400" b="0" u="none" strike="noStrike">
              <a:solidFill>
                <a:srgbClr val="FFFFFF"/>
              </a:solidFill>
              <a:effectLst/>
              <a:uFillTx/>
              <a:latin typeface="Arial"/>
            </a:endParaRPr>
          </a:p>
        </p:txBody>
      </p:sp>
      <p:sp>
        <p:nvSpPr>
          <p:cNvPr id="16" name="Text 4"/>
          <p:cNvSpPr/>
          <p:nvPr/>
        </p:nvSpPr>
        <p:spPr>
          <a:xfrm>
            <a:off x="1051560" y="2148840"/>
            <a:ext cx="1005804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dirty="0">
                <a:solidFill>
                  <a:srgbClr val="DCE8FF"/>
                </a:solidFill>
                <a:effectLst/>
                <a:uFillTx/>
                <a:latin typeface="Aptos"/>
              </a:rPr>
              <a:t>Sections 3.1-3.4 · Problem-solving agents, search problems, search algorithms, and uninformed search</a:t>
            </a:r>
            <a:endParaRPr lang="en-US" sz="1600" b="0" u="none" strike="noStrike" dirty="0">
              <a:solidFill>
                <a:srgbClr val="FFFFFF"/>
              </a:solidFill>
              <a:effectLst/>
              <a:uFillTx/>
              <a:latin typeface="Arial"/>
            </a:endParaRPr>
          </a:p>
        </p:txBody>
      </p:sp>
      <p:sp>
        <p:nvSpPr>
          <p:cNvPr id="17" name="Text 5"/>
          <p:cNvSpPr/>
          <p:nvPr/>
        </p:nvSpPr>
        <p:spPr>
          <a:xfrm>
            <a:off x="128016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Goal</a:t>
            </a:r>
            <a:endParaRPr lang="en-US" sz="1500" b="0" u="none" strike="noStrike">
              <a:solidFill>
                <a:srgbClr val="000000"/>
              </a:solidFill>
              <a:effectLst/>
              <a:uFillTx/>
              <a:latin typeface="Arial"/>
            </a:endParaRPr>
          </a:p>
        </p:txBody>
      </p:sp>
      <p:sp>
        <p:nvSpPr>
          <p:cNvPr id="18" name="Shape 6"/>
          <p:cNvSpPr/>
          <p:nvPr/>
        </p:nvSpPr>
        <p:spPr>
          <a:xfrm>
            <a:off x="2514600" y="3949920"/>
            <a:ext cx="5486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 name="Text 7"/>
          <p:cNvSpPr/>
          <p:nvPr/>
        </p:nvSpPr>
        <p:spPr>
          <a:xfrm>
            <a:off x="306324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Problem</a:t>
            </a:r>
            <a:endParaRPr lang="en-US" sz="1500" b="0" u="none" strike="noStrike">
              <a:solidFill>
                <a:srgbClr val="000000"/>
              </a:solidFill>
              <a:effectLst/>
              <a:uFillTx/>
              <a:latin typeface="Arial"/>
            </a:endParaRPr>
          </a:p>
        </p:txBody>
      </p:sp>
      <p:sp>
        <p:nvSpPr>
          <p:cNvPr id="20" name="Shape 8"/>
          <p:cNvSpPr/>
          <p:nvPr/>
        </p:nvSpPr>
        <p:spPr>
          <a:xfrm>
            <a:off x="429768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 name="Text 9"/>
          <p:cNvSpPr/>
          <p:nvPr/>
        </p:nvSpPr>
        <p:spPr>
          <a:xfrm>
            <a:off x="507492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Search</a:t>
            </a:r>
            <a:endParaRPr lang="en-US" sz="1500" b="0" u="none" strike="noStrike">
              <a:solidFill>
                <a:srgbClr val="000000"/>
              </a:solidFill>
              <a:effectLst/>
              <a:uFillTx/>
              <a:latin typeface="Arial"/>
            </a:endParaRPr>
          </a:p>
        </p:txBody>
      </p:sp>
      <p:sp>
        <p:nvSpPr>
          <p:cNvPr id="22" name="Shape 10"/>
          <p:cNvSpPr/>
          <p:nvPr/>
        </p:nvSpPr>
        <p:spPr>
          <a:xfrm>
            <a:off x="630936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 name="Text 11"/>
          <p:cNvSpPr/>
          <p:nvPr/>
        </p:nvSpPr>
        <p:spPr>
          <a:xfrm>
            <a:off x="708660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Solution</a:t>
            </a:r>
            <a:endParaRPr lang="en-US" sz="1500" b="0" u="none" strike="noStrike">
              <a:solidFill>
                <a:srgbClr val="000000"/>
              </a:solidFill>
              <a:effectLst/>
              <a:uFillTx/>
              <a:latin typeface="Arial"/>
            </a:endParaRPr>
          </a:p>
        </p:txBody>
      </p:sp>
      <p:sp>
        <p:nvSpPr>
          <p:cNvPr id="24" name="Shape 12"/>
          <p:cNvSpPr/>
          <p:nvPr/>
        </p:nvSpPr>
        <p:spPr>
          <a:xfrm>
            <a:off x="832104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5" name="Text 13"/>
          <p:cNvSpPr/>
          <p:nvPr/>
        </p:nvSpPr>
        <p:spPr>
          <a:xfrm>
            <a:off x="909828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Execute</a:t>
            </a:r>
            <a:endParaRPr lang="en-US" sz="1500" b="0" u="none" strike="noStrike">
              <a:solidFill>
                <a:srgbClr val="000000"/>
              </a:solidFill>
              <a:effectLst/>
              <a:uFillTx/>
              <a:latin typeface="Arial"/>
            </a:endParaRPr>
          </a:p>
        </p:txBody>
      </p:sp>
      <p:sp>
        <p:nvSpPr>
          <p:cNvPr id="26" name="Text 14"/>
          <p:cNvSpPr/>
          <p:nvPr/>
        </p:nvSpPr>
        <p:spPr>
          <a:xfrm>
            <a:off x="640080" y="6263640"/>
            <a:ext cx="109724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00" b="0" u="none" strike="noStrike" dirty="0">
                <a:solidFill>
                  <a:srgbClr val="DCE8FF"/>
                </a:solidFill>
                <a:effectLst/>
                <a:uFillTx/>
                <a:latin typeface="Aptos"/>
              </a:rPr>
              <a:t>CSU Channel Islands · Department of Computer Science</a:t>
            </a:r>
            <a:endParaRPr lang="en-US" sz="1100" b="0" u="none" strike="noStrike" dirty="0">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Scope and Learning Targets</a:t>
            </a:r>
            <a:endParaRPr lang="en-US" sz="2600" b="0" u="none" strike="noStrike" dirty="0">
              <a:solidFill>
                <a:srgbClr val="000000"/>
              </a:solidFill>
              <a:effectLst/>
              <a:uFillTx/>
              <a:latin typeface="Arial"/>
            </a:endParaRPr>
          </a:p>
        </p:txBody>
      </p:sp>
      <p:sp>
        <p:nvSpPr>
          <p:cNvPr id="3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 name="Text 5"/>
          <p:cNvSpPr/>
          <p:nvPr/>
        </p:nvSpPr>
        <p:spPr>
          <a:xfrm>
            <a:off x="777240" y="1417320"/>
            <a:ext cx="959760" cy="502560"/>
          </a:xfrm>
          <a:prstGeom prst="roundRect">
            <a:avLst>
              <a:gd name="adj" fmla="val 14545"/>
            </a:avLst>
          </a:prstGeom>
          <a:solidFill>
            <a:srgbClr val="2F7FD5"/>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3.1</a:t>
            </a:r>
            <a:endParaRPr lang="en-US" sz="1500" b="0" u="none" strike="noStrike">
              <a:solidFill>
                <a:srgbClr val="FFFFFF"/>
              </a:solidFill>
              <a:effectLst/>
              <a:uFillTx/>
              <a:latin typeface="Arial"/>
            </a:endParaRPr>
          </a:p>
        </p:txBody>
      </p:sp>
      <p:sp>
        <p:nvSpPr>
          <p:cNvPr id="33" name="Text 6"/>
          <p:cNvSpPr/>
          <p:nvPr/>
        </p:nvSpPr>
        <p:spPr>
          <a:xfrm>
            <a:off x="1965960" y="139896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Problem-solving agents</a:t>
            </a:r>
            <a:endParaRPr lang="en-US" sz="1800" b="0" u="none" strike="noStrike">
              <a:solidFill>
                <a:srgbClr val="000000"/>
              </a:solidFill>
              <a:effectLst/>
              <a:uFillTx/>
              <a:latin typeface="Arial"/>
            </a:endParaRPr>
          </a:p>
        </p:txBody>
      </p:sp>
      <p:sp>
        <p:nvSpPr>
          <p:cNvPr id="34" name="Text 7"/>
          <p:cNvSpPr/>
          <p:nvPr/>
        </p:nvSpPr>
        <p:spPr>
          <a:xfrm>
            <a:off x="1965960" y="171000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5C6B80"/>
                </a:solidFill>
                <a:effectLst/>
                <a:uFillTx/>
                <a:latin typeface="Aptos"/>
              </a:rPr>
              <a:t>goal formulation, problem formulation, search, execution</a:t>
            </a:r>
            <a:endParaRPr lang="en-US" sz="1350" b="0" u="none" strike="noStrike">
              <a:solidFill>
                <a:srgbClr val="000000"/>
              </a:solidFill>
              <a:effectLst/>
              <a:uFillTx/>
              <a:latin typeface="Arial"/>
            </a:endParaRPr>
          </a:p>
        </p:txBody>
      </p:sp>
      <p:sp>
        <p:nvSpPr>
          <p:cNvPr id="35" name="Text 8"/>
          <p:cNvSpPr/>
          <p:nvPr/>
        </p:nvSpPr>
        <p:spPr>
          <a:xfrm>
            <a:off x="777240" y="2468880"/>
            <a:ext cx="959760" cy="502560"/>
          </a:xfrm>
          <a:prstGeom prst="roundRect">
            <a:avLst>
              <a:gd name="adj" fmla="val 14545"/>
            </a:avLst>
          </a:prstGeom>
          <a:solidFill>
            <a:srgbClr val="177245"/>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3.2</a:t>
            </a:r>
            <a:endParaRPr lang="en-US" sz="1500" b="0" u="none" strike="noStrike">
              <a:solidFill>
                <a:srgbClr val="FFFFFF"/>
              </a:solidFill>
              <a:effectLst/>
              <a:uFillTx/>
              <a:latin typeface="Arial"/>
            </a:endParaRPr>
          </a:p>
        </p:txBody>
      </p:sp>
      <p:sp>
        <p:nvSpPr>
          <p:cNvPr id="36" name="Text 9"/>
          <p:cNvSpPr/>
          <p:nvPr/>
        </p:nvSpPr>
        <p:spPr>
          <a:xfrm>
            <a:off x="1965960" y="245052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Example problems</a:t>
            </a:r>
            <a:endParaRPr lang="en-US" sz="1800" b="0" u="none" strike="noStrike">
              <a:solidFill>
                <a:srgbClr val="000000"/>
              </a:solidFill>
              <a:effectLst/>
              <a:uFillTx/>
              <a:latin typeface="Arial"/>
            </a:endParaRPr>
          </a:p>
        </p:txBody>
      </p:sp>
      <p:sp>
        <p:nvSpPr>
          <p:cNvPr id="37" name="Text 10"/>
          <p:cNvSpPr/>
          <p:nvPr/>
        </p:nvSpPr>
        <p:spPr>
          <a:xfrm>
            <a:off x="1965960" y="276156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grid worlds, puzzles, route-finding, TSP, VLSI, robot navigation</a:t>
            </a:r>
            <a:endParaRPr lang="en-US" sz="1350" b="0" u="none" strike="noStrike" dirty="0">
              <a:solidFill>
                <a:srgbClr val="000000"/>
              </a:solidFill>
              <a:effectLst/>
              <a:uFillTx/>
              <a:latin typeface="Arial"/>
            </a:endParaRPr>
          </a:p>
        </p:txBody>
      </p:sp>
      <p:sp>
        <p:nvSpPr>
          <p:cNvPr id="38" name="Text 11"/>
          <p:cNvSpPr/>
          <p:nvPr/>
        </p:nvSpPr>
        <p:spPr>
          <a:xfrm>
            <a:off x="777240" y="3520440"/>
            <a:ext cx="959760" cy="502560"/>
          </a:xfrm>
          <a:prstGeom prst="roundRect">
            <a:avLst>
              <a:gd name="adj" fmla="val 14545"/>
            </a:avLst>
          </a:prstGeom>
          <a:solidFill>
            <a:srgbClr val="743A6D"/>
          </a:solidFill>
          <a:ln w="15240">
            <a:solidFill>
              <a:srgbClr val="743A6D"/>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3.3</a:t>
            </a:r>
            <a:endParaRPr lang="en-US" sz="1500" b="0" u="none" strike="noStrike">
              <a:solidFill>
                <a:srgbClr val="FFFFFF"/>
              </a:solidFill>
              <a:effectLst/>
              <a:uFillTx/>
              <a:latin typeface="Arial"/>
            </a:endParaRPr>
          </a:p>
        </p:txBody>
      </p:sp>
      <p:sp>
        <p:nvSpPr>
          <p:cNvPr id="39" name="Text 12"/>
          <p:cNvSpPr/>
          <p:nvPr/>
        </p:nvSpPr>
        <p:spPr>
          <a:xfrm>
            <a:off x="1965960" y="350208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Search algorithms</a:t>
            </a:r>
            <a:endParaRPr lang="en-US" sz="1800" b="0" u="none" strike="noStrike">
              <a:solidFill>
                <a:srgbClr val="000000"/>
              </a:solidFill>
              <a:effectLst/>
              <a:uFillTx/>
              <a:latin typeface="Arial"/>
            </a:endParaRPr>
          </a:p>
        </p:txBody>
      </p:sp>
      <p:sp>
        <p:nvSpPr>
          <p:cNvPr id="40" name="Text 13"/>
          <p:cNvSpPr/>
          <p:nvPr/>
        </p:nvSpPr>
        <p:spPr>
          <a:xfrm>
            <a:off x="1965960" y="381312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state-space graph, search tree, frontier, reached table</a:t>
            </a:r>
            <a:endParaRPr lang="en-US" sz="1350" b="0" u="none" strike="noStrike" dirty="0">
              <a:solidFill>
                <a:srgbClr val="000000"/>
              </a:solidFill>
              <a:effectLst/>
              <a:uFillTx/>
              <a:latin typeface="Arial"/>
            </a:endParaRPr>
          </a:p>
        </p:txBody>
      </p:sp>
      <p:sp>
        <p:nvSpPr>
          <p:cNvPr id="41" name="Text 14"/>
          <p:cNvSpPr/>
          <p:nvPr/>
        </p:nvSpPr>
        <p:spPr>
          <a:xfrm>
            <a:off x="777240" y="4572000"/>
            <a:ext cx="959760" cy="502560"/>
          </a:xfrm>
          <a:prstGeom prst="roundRect">
            <a:avLst>
              <a:gd name="adj" fmla="val 14545"/>
            </a:avLst>
          </a:prstGeom>
          <a:solidFill>
            <a:srgbClr val="9B1C1C"/>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3.4</a:t>
            </a:r>
            <a:endParaRPr lang="en-US" sz="1500" b="0" u="none" strike="noStrike">
              <a:solidFill>
                <a:srgbClr val="FFFFFF"/>
              </a:solidFill>
              <a:effectLst/>
              <a:uFillTx/>
              <a:latin typeface="Arial"/>
            </a:endParaRPr>
          </a:p>
        </p:txBody>
      </p:sp>
      <p:sp>
        <p:nvSpPr>
          <p:cNvPr id="42" name="Text 15"/>
          <p:cNvSpPr/>
          <p:nvPr/>
        </p:nvSpPr>
        <p:spPr>
          <a:xfrm>
            <a:off x="1965960" y="455364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Uninformed search</a:t>
            </a:r>
            <a:endParaRPr lang="en-US" sz="1800" b="0" u="none" strike="noStrike">
              <a:solidFill>
                <a:srgbClr val="000000"/>
              </a:solidFill>
              <a:effectLst/>
              <a:uFillTx/>
              <a:latin typeface="Arial"/>
            </a:endParaRPr>
          </a:p>
        </p:txBody>
      </p:sp>
      <p:sp>
        <p:nvSpPr>
          <p:cNvPr id="43" name="Text 16"/>
          <p:cNvSpPr/>
          <p:nvPr/>
        </p:nvSpPr>
        <p:spPr>
          <a:xfrm>
            <a:off x="1965960" y="486468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BFS, UCS, DFS, depth-limited, IDS, bidirectional search</a:t>
            </a:r>
            <a:endParaRPr lang="en-US" sz="1350" b="0" u="none" strike="noStrike" dirty="0">
              <a:solidFill>
                <a:srgbClr val="000000"/>
              </a:solidFill>
              <a:effectLst/>
              <a:uFillTx/>
              <a:latin typeface="Arial"/>
            </a:endParaRPr>
          </a:p>
        </p:txBody>
      </p:sp>
      <p:sp>
        <p:nvSpPr>
          <p:cNvPr id="44" name="Text 17"/>
          <p:cNvSpPr/>
          <p:nvPr/>
        </p:nvSpPr>
        <p:spPr>
          <a:xfrm>
            <a:off x="1005840" y="5623560"/>
            <a:ext cx="100580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dirty="0">
                <a:solidFill>
                  <a:srgbClr val="9B1C1C"/>
                </a:solidFill>
                <a:effectLst/>
                <a:uFillTx/>
                <a:latin typeface="Aptos"/>
              </a:rPr>
              <a:t>Not today: heuristics, greedy best-first search, A*, consistency, admissibility.</a:t>
            </a:r>
            <a:endParaRPr lang="en-US" sz="16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Why Search? Agents That Look Ahead</a:t>
            </a:r>
            <a:endParaRPr lang="en-US" sz="2600" b="0" u="none" strike="noStrike">
              <a:solidFill>
                <a:srgbClr val="000000"/>
              </a:solidFill>
              <a:effectLst/>
              <a:uFillTx/>
              <a:latin typeface="Arial"/>
            </a:endParaRPr>
          </a:p>
        </p:txBody>
      </p:sp>
      <p:sp>
        <p:nvSpPr>
          <p:cNvPr id="4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0" name="Text 5"/>
          <p:cNvSpPr/>
          <p:nvPr/>
        </p:nvSpPr>
        <p:spPr>
          <a:xfrm>
            <a:off x="822960" y="1325880"/>
            <a:ext cx="1024092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9999"/>
          </a:bodyPr>
          <a:lstStyle/>
          <a:p>
            <a:pPr algn="ctr" defTabSz="914400">
              <a:lnSpc>
                <a:spcPct val="100000"/>
              </a:lnSpc>
              <a:tabLst>
                <a:tab pos="0" algn="l"/>
              </a:tabLst>
            </a:pPr>
            <a:r>
              <a:rPr lang="en-US" sz="2100" b="1" u="none" strike="noStrike">
                <a:solidFill>
                  <a:srgbClr val="102A4C"/>
                </a:solidFill>
                <a:effectLst/>
                <a:uFillTx/>
                <a:latin typeface="Aptos"/>
              </a:rPr>
              <a:t>A problem-solving agent is a goal-based agent that searches for a sequence of actions before acting.</a:t>
            </a:r>
            <a:endParaRPr lang="en-US" sz="2100" b="0" u="none" strike="noStrike">
              <a:solidFill>
                <a:srgbClr val="000000"/>
              </a:solidFill>
              <a:effectLst/>
              <a:uFillTx/>
              <a:latin typeface="Arial"/>
            </a:endParaRPr>
          </a:p>
        </p:txBody>
      </p:sp>
      <p:sp>
        <p:nvSpPr>
          <p:cNvPr id="51" name="Text 6"/>
          <p:cNvSpPr/>
          <p:nvPr/>
        </p:nvSpPr>
        <p:spPr>
          <a:xfrm>
            <a:off x="685800" y="2377440"/>
            <a:ext cx="132552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Current state</a:t>
            </a:r>
            <a:endParaRPr lang="en-US" sz="1400" b="0" u="none" strike="noStrike">
              <a:solidFill>
                <a:srgbClr val="000000"/>
              </a:solidFill>
              <a:effectLst/>
              <a:uFillTx/>
              <a:latin typeface="Arial"/>
            </a:endParaRPr>
          </a:p>
        </p:txBody>
      </p:sp>
      <p:sp>
        <p:nvSpPr>
          <p:cNvPr id="52" name="Text 7"/>
          <p:cNvSpPr/>
          <p:nvPr/>
        </p:nvSpPr>
        <p:spPr>
          <a:xfrm>
            <a:off x="61272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is true now?</a:t>
            </a:r>
            <a:endParaRPr lang="en-US" sz="1120" b="0" u="none" strike="noStrike">
              <a:solidFill>
                <a:srgbClr val="000000"/>
              </a:solidFill>
              <a:effectLst/>
              <a:uFillTx/>
              <a:latin typeface="Arial"/>
            </a:endParaRPr>
          </a:p>
        </p:txBody>
      </p:sp>
      <p:sp>
        <p:nvSpPr>
          <p:cNvPr id="53" name="Shape 8"/>
          <p:cNvSpPr/>
          <p:nvPr/>
        </p:nvSpPr>
        <p:spPr>
          <a:xfrm>
            <a:off x="201168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4" name="Text 9"/>
          <p:cNvSpPr/>
          <p:nvPr/>
        </p:nvSpPr>
        <p:spPr>
          <a:xfrm>
            <a:off x="295344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55" name="Text 10"/>
          <p:cNvSpPr/>
          <p:nvPr/>
        </p:nvSpPr>
        <p:spPr>
          <a:xfrm>
            <a:off x="288036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can I do?</a:t>
            </a:r>
            <a:endParaRPr lang="en-US" sz="1120" b="0" u="none" strike="noStrike">
              <a:solidFill>
                <a:srgbClr val="000000"/>
              </a:solidFill>
              <a:effectLst/>
              <a:uFillTx/>
              <a:latin typeface="Arial"/>
            </a:endParaRPr>
          </a:p>
        </p:txBody>
      </p:sp>
      <p:sp>
        <p:nvSpPr>
          <p:cNvPr id="56" name="Shape 11"/>
          <p:cNvSpPr/>
          <p:nvPr/>
        </p:nvSpPr>
        <p:spPr>
          <a:xfrm>
            <a:off x="427932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7" name="Text 12"/>
          <p:cNvSpPr/>
          <p:nvPr/>
        </p:nvSpPr>
        <p:spPr>
          <a:xfrm>
            <a:off x="522108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Futures</a:t>
            </a:r>
            <a:endParaRPr lang="en-US" sz="1400" b="0" u="none" strike="noStrike">
              <a:solidFill>
                <a:srgbClr val="000000"/>
              </a:solidFill>
              <a:effectLst/>
              <a:uFillTx/>
              <a:latin typeface="Arial"/>
            </a:endParaRPr>
          </a:p>
        </p:txBody>
      </p:sp>
      <p:sp>
        <p:nvSpPr>
          <p:cNvPr id="58" name="Text 13"/>
          <p:cNvSpPr/>
          <p:nvPr/>
        </p:nvSpPr>
        <p:spPr>
          <a:xfrm>
            <a:off x="514800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would happen?</a:t>
            </a:r>
            <a:endParaRPr lang="en-US" sz="1120" b="0" u="none" strike="noStrike">
              <a:solidFill>
                <a:srgbClr val="000000"/>
              </a:solidFill>
              <a:effectLst/>
              <a:uFillTx/>
              <a:latin typeface="Arial"/>
            </a:endParaRPr>
          </a:p>
        </p:txBody>
      </p:sp>
      <p:sp>
        <p:nvSpPr>
          <p:cNvPr id="59" name="Shape 14"/>
          <p:cNvSpPr/>
          <p:nvPr/>
        </p:nvSpPr>
        <p:spPr>
          <a:xfrm>
            <a:off x="654696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0" name="Text 15"/>
          <p:cNvSpPr/>
          <p:nvPr/>
        </p:nvSpPr>
        <p:spPr>
          <a:xfrm>
            <a:off x="7489080" y="2377440"/>
            <a:ext cx="1325520" cy="502560"/>
          </a:xfrm>
          <a:prstGeom prst="roundRect">
            <a:avLst>
              <a:gd name="adj" fmla="val 14545"/>
            </a:avLst>
          </a:prstGeom>
          <a:solidFill>
            <a:srgbClr val="DBF1E3"/>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Goal</a:t>
            </a:r>
            <a:endParaRPr lang="en-US" sz="1400" b="0" u="none" strike="noStrike">
              <a:solidFill>
                <a:srgbClr val="000000"/>
              </a:solidFill>
              <a:effectLst/>
              <a:uFillTx/>
              <a:latin typeface="Arial"/>
            </a:endParaRPr>
          </a:p>
        </p:txBody>
      </p:sp>
      <p:sp>
        <p:nvSpPr>
          <p:cNvPr id="61" name="Text 16"/>
          <p:cNvSpPr/>
          <p:nvPr/>
        </p:nvSpPr>
        <p:spPr>
          <a:xfrm>
            <a:off x="741564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Did I get there?</a:t>
            </a:r>
            <a:endParaRPr lang="en-US" sz="1120" b="0" u="none" strike="noStrike">
              <a:solidFill>
                <a:srgbClr val="000000"/>
              </a:solidFill>
              <a:effectLst/>
              <a:uFillTx/>
              <a:latin typeface="Arial"/>
            </a:endParaRPr>
          </a:p>
        </p:txBody>
      </p:sp>
      <p:sp>
        <p:nvSpPr>
          <p:cNvPr id="62" name="Shape 17"/>
          <p:cNvSpPr/>
          <p:nvPr/>
        </p:nvSpPr>
        <p:spPr>
          <a:xfrm>
            <a:off x="881460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3" name="Text 18"/>
          <p:cNvSpPr/>
          <p:nvPr/>
        </p:nvSpPr>
        <p:spPr>
          <a:xfrm>
            <a:off x="975672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Plan</a:t>
            </a:r>
            <a:endParaRPr lang="en-US" sz="1400" b="0" u="none" strike="noStrike">
              <a:solidFill>
                <a:srgbClr val="000000"/>
              </a:solidFill>
              <a:effectLst/>
              <a:uFillTx/>
              <a:latin typeface="Arial"/>
            </a:endParaRPr>
          </a:p>
        </p:txBody>
      </p:sp>
      <p:sp>
        <p:nvSpPr>
          <p:cNvPr id="64" name="Text 19"/>
          <p:cNvSpPr/>
          <p:nvPr/>
        </p:nvSpPr>
        <p:spPr>
          <a:xfrm>
            <a:off x="968364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sequence works?</a:t>
            </a:r>
            <a:endParaRPr lang="en-US" sz="1120" b="0" u="none" strike="noStrike">
              <a:solidFill>
                <a:srgbClr val="000000"/>
              </a:solidFill>
              <a:effectLst/>
              <a:uFillTx/>
              <a:latin typeface="Arial"/>
            </a:endParaRPr>
          </a:p>
        </p:txBody>
      </p:sp>
      <p:sp>
        <p:nvSpPr>
          <p:cNvPr id="65" name="Text 20"/>
          <p:cNvSpPr/>
          <p:nvPr/>
        </p:nvSpPr>
        <p:spPr>
          <a:xfrm>
            <a:off x="1097280" y="425196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900" b="1" u="none" strike="noStrike">
                <a:solidFill>
                  <a:srgbClr val="112E5C"/>
                </a:solidFill>
                <a:effectLst/>
                <a:uFillTx/>
                <a:latin typeface="Aptos"/>
              </a:rPr>
              <a:t>Search happens in the model, not by physically trying every action in the real world.</a:t>
            </a:r>
            <a:endParaRPr lang="en-US" sz="19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Reflex Agents vs. Planning Agents</a:t>
            </a:r>
            <a:endParaRPr lang="en-US" sz="2600" b="0" u="none" strike="noStrike">
              <a:solidFill>
                <a:srgbClr val="000000"/>
              </a:solidFill>
              <a:effectLst/>
              <a:uFillTx/>
              <a:latin typeface="Arial"/>
            </a:endParaRPr>
          </a:p>
        </p:txBody>
      </p:sp>
      <p:sp>
        <p:nvSpPr>
          <p:cNvPr id="6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1" name="Rounded Rectangle 6"/>
          <p:cNvSpPr/>
          <p:nvPr/>
        </p:nvSpPr>
        <p:spPr>
          <a:xfrm>
            <a:off x="77724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Reflex agent</a:t>
            </a:r>
            <a:endParaRPr lang="en-US" sz="1500" b="0" u="none" strike="noStrike">
              <a:solidFill>
                <a:srgbClr val="000000"/>
              </a:solidFill>
              <a:effectLst/>
              <a:uFillTx/>
              <a:latin typeface="Arial"/>
            </a:endParaRPr>
          </a:p>
        </p:txBody>
      </p:sp>
      <p:sp>
        <p:nvSpPr>
          <p:cNvPr id="72" name="Rounded Rectangle 7"/>
          <p:cNvSpPr/>
          <p:nvPr/>
        </p:nvSpPr>
        <p:spPr>
          <a:xfrm>
            <a:off x="6385680" y="1417320"/>
            <a:ext cx="5028840" cy="47520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Planning agent</a:t>
            </a:r>
            <a:endParaRPr lang="en-US" sz="1500" b="0" u="none" strike="noStrike">
              <a:solidFill>
                <a:srgbClr val="000000"/>
              </a:solidFill>
              <a:effectLst/>
              <a:uFillTx/>
              <a:latin typeface="Arial"/>
            </a:endParaRPr>
          </a:p>
        </p:txBody>
      </p:sp>
      <p:sp>
        <p:nvSpPr>
          <p:cNvPr id="73" name="Rounded Rectangle 8"/>
          <p:cNvSpPr/>
          <p:nvPr/>
        </p:nvSpPr>
        <p:spPr>
          <a:xfrm>
            <a:off x="77724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4" name="Rounded Rectangle 9"/>
          <p:cNvSpPr/>
          <p:nvPr/>
        </p:nvSpPr>
        <p:spPr>
          <a:xfrm>
            <a:off x="638568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5" name="Rectangle 10"/>
          <p:cNvSpPr/>
          <p:nvPr/>
        </p:nvSpPr>
        <p:spPr>
          <a:xfrm>
            <a:off x="100584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50" b="0" u="none" strike="noStrike">
                <a:solidFill>
                  <a:srgbClr val="102A4C"/>
                </a:solidFill>
                <a:effectLst/>
                <a:uFillTx/>
                <a:latin typeface="Aptos"/>
              </a:rPr>
              <a:t>•  Selects an action from the current percept, plus memory at most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May hold a model of the world's current state</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Does not evaluate the consequences of its actions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Fast, shallow, and easy to fool</a:t>
            </a:r>
            <a:endParaRPr lang="en-US" sz="1350" b="0" u="none" strike="noStrike">
              <a:solidFill>
                <a:srgbClr val="000000"/>
              </a:solidFill>
              <a:effectLst/>
              <a:uFillTx/>
              <a:latin typeface="Arial"/>
            </a:endParaRPr>
          </a:p>
        </p:txBody>
      </p:sp>
      <p:sp>
        <p:nvSpPr>
          <p:cNvPr id="76" name="Rectangle 11"/>
          <p:cNvSpPr/>
          <p:nvPr/>
        </p:nvSpPr>
        <p:spPr>
          <a:xfrm>
            <a:off x="661428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50" b="0" u="none" strike="noStrike">
                <a:solidFill>
                  <a:srgbClr val="102A4C"/>
                </a:solidFill>
                <a:effectLst/>
                <a:uFillTx/>
                <a:latin typeface="Aptos"/>
              </a:rPr>
              <a:t>•  Asks “what if” before committing to anything</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Decides from the hypothesized consequences of action sequences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Requires a transition model and an explicit goal test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Slower, but can reason about futures it has never seen</a:t>
            </a:r>
            <a:endParaRPr lang="en-US" sz="1350" b="0" u="none" strike="noStrike">
              <a:solidFill>
                <a:srgbClr val="000000"/>
              </a:solidFill>
              <a:effectLst/>
              <a:uFillTx/>
              <a:latin typeface="Arial"/>
            </a:endParaRPr>
          </a:p>
        </p:txBody>
      </p:sp>
      <p:sp>
        <p:nvSpPr>
          <p:cNvPr id="77" name="Rectangle 12"/>
          <p:cNvSpPr/>
          <p:nvPr/>
        </p:nvSpPr>
        <p:spPr>
          <a:xfrm>
            <a:off x="77724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a:solidFill>
                  <a:srgbClr val="9B1C1C"/>
                </a:solidFill>
                <a:effectLst/>
                <a:uFillTx/>
                <a:latin typeface="Aptos"/>
              </a:rPr>
              <a:t>Considers how the world IS</a:t>
            </a:r>
            <a:endParaRPr lang="en-US" sz="1600" b="0" u="none" strike="noStrike">
              <a:solidFill>
                <a:srgbClr val="000000"/>
              </a:solidFill>
              <a:effectLst/>
              <a:uFillTx/>
              <a:latin typeface="Arial"/>
            </a:endParaRPr>
          </a:p>
        </p:txBody>
      </p:sp>
      <p:sp>
        <p:nvSpPr>
          <p:cNvPr id="78" name="Rectangle 13"/>
          <p:cNvSpPr/>
          <p:nvPr/>
        </p:nvSpPr>
        <p:spPr>
          <a:xfrm>
            <a:off x="638568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a:solidFill>
                  <a:srgbClr val="9B1C1C"/>
                </a:solidFill>
                <a:effectLst/>
                <a:uFillTx/>
                <a:latin typeface="Aptos"/>
              </a:rPr>
              <a:t>Considers how the world WOULD BE</a:t>
            </a:r>
            <a:endParaRPr lang="en-US" sz="1600" b="0" u="none" strike="noStrike">
              <a:solidFill>
                <a:srgbClr val="000000"/>
              </a:solidFill>
              <a:effectLst/>
              <a:uFillTx/>
              <a:latin typeface="Arial"/>
            </a:endParaRPr>
          </a:p>
        </p:txBody>
      </p:sp>
      <p:sp>
        <p:nvSpPr>
          <p:cNvPr id="79" name="Rectangle 1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Chapter 3 agents use atomic state representations: a state is a whole, with no internal structure visible to the algorithm.</a:t>
            </a:r>
            <a:endParaRPr lang="en-US" sz="1700" b="0" u="none" strike="noStrike">
              <a:solidFill>
                <a:srgbClr val="000000"/>
              </a:solidFill>
              <a:effectLst/>
              <a:uFillTx/>
              <a:latin typeface="Arial"/>
            </a:endParaRPr>
          </a:p>
        </p:txBody>
      </p:sp>
      <p:sp>
        <p:nvSpPr>
          <p:cNvPr id="80" name="Rectangle 1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Agents that use factored or structured states are planning agents (Chapters 7 and 11).</a:t>
            </a:r>
            <a:endParaRPr lang="en-US" sz="1400" b="0" u="none" strike="noStrike">
              <a:solidFill>
                <a:srgbClr val="000000"/>
              </a:solidFill>
              <a:effectLst/>
              <a:uFillTx/>
              <a:latin typeface="Arial"/>
            </a:endParaRPr>
          </a:p>
        </p:txBody>
      </p:sp>
      <p:sp>
        <p:nvSpPr>
          <p:cNvPr id="81" name="Rounded Rectangle 16"/>
          <p:cNvSpPr/>
          <p:nvPr/>
        </p:nvSpPr>
        <p:spPr>
          <a:xfrm>
            <a:off x="914400" y="5486400"/>
            <a:ext cx="10423800" cy="502560"/>
          </a:xfrm>
          <a:prstGeom prst="roundRect">
            <a:avLst>
              <a:gd name="adj" fmla="val 11000"/>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Discussion: can a reflex agent ever be rational? Under what conditions does looking ahead buy you nothing?</a:t>
            </a:r>
            <a:endParaRPr lang="en-US" sz="15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The Four-Phase Problem-Solving Process</a:t>
            </a:r>
            <a:endParaRPr lang="en-US" sz="2600" b="0" u="none" strike="noStrike">
              <a:solidFill>
                <a:srgbClr val="000000"/>
              </a:solidFill>
              <a:effectLst/>
              <a:uFillTx/>
              <a:latin typeface="Arial"/>
            </a:endParaRPr>
          </a:p>
        </p:txBody>
      </p:sp>
      <p:sp>
        <p:nvSpPr>
          <p:cNvPr id="8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7" name="Text 5"/>
          <p:cNvSpPr/>
          <p:nvPr/>
        </p:nvSpPr>
        <p:spPr>
          <a:xfrm>
            <a:off x="68580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88" name="Text 6"/>
          <p:cNvSpPr/>
          <p:nvPr/>
        </p:nvSpPr>
        <p:spPr>
          <a:xfrm>
            <a:off x="137160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Goal formulation</a:t>
            </a:r>
            <a:endParaRPr lang="en-US" sz="1600" b="0" u="none" strike="noStrike">
              <a:solidFill>
                <a:srgbClr val="000000"/>
              </a:solidFill>
              <a:effectLst/>
              <a:uFillTx/>
              <a:latin typeface="Arial"/>
            </a:endParaRPr>
          </a:p>
        </p:txBody>
      </p:sp>
      <p:sp>
        <p:nvSpPr>
          <p:cNvPr id="89" name="Text 7"/>
          <p:cNvSpPr/>
          <p:nvPr/>
        </p:nvSpPr>
        <p:spPr>
          <a:xfrm>
            <a:off x="77724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Adopt a goal such as reaching Bucharest.</a:t>
            </a:r>
            <a:endParaRPr lang="en-US" sz="1350" b="0" u="none" strike="noStrike">
              <a:solidFill>
                <a:srgbClr val="000000"/>
              </a:solidFill>
              <a:effectLst/>
              <a:uFillTx/>
              <a:latin typeface="Arial"/>
            </a:endParaRPr>
          </a:p>
        </p:txBody>
      </p:sp>
      <p:sp>
        <p:nvSpPr>
          <p:cNvPr id="90" name="Shape 8"/>
          <p:cNvSpPr/>
          <p:nvPr/>
        </p:nvSpPr>
        <p:spPr>
          <a:xfrm>
            <a:off x="329184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1" name="Text 9"/>
          <p:cNvSpPr/>
          <p:nvPr/>
        </p:nvSpPr>
        <p:spPr>
          <a:xfrm>
            <a:off x="356616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92" name="Text 10"/>
          <p:cNvSpPr/>
          <p:nvPr/>
        </p:nvSpPr>
        <p:spPr>
          <a:xfrm>
            <a:off x="425196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Problem formulation</a:t>
            </a:r>
            <a:endParaRPr lang="en-US" sz="1600" b="0" u="none" strike="noStrike">
              <a:solidFill>
                <a:srgbClr val="000000"/>
              </a:solidFill>
              <a:effectLst/>
              <a:uFillTx/>
              <a:latin typeface="Arial"/>
            </a:endParaRPr>
          </a:p>
        </p:txBody>
      </p:sp>
      <p:sp>
        <p:nvSpPr>
          <p:cNvPr id="93" name="Text 11"/>
          <p:cNvSpPr/>
          <p:nvPr/>
        </p:nvSpPr>
        <p:spPr>
          <a:xfrm>
            <a:off x="365760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Build an abstract model of states, actions, transitions, goals, and costs.</a:t>
            </a:r>
            <a:endParaRPr lang="en-US" sz="1350" b="0" u="none" strike="noStrike">
              <a:solidFill>
                <a:srgbClr val="000000"/>
              </a:solidFill>
              <a:effectLst/>
              <a:uFillTx/>
              <a:latin typeface="Arial"/>
            </a:endParaRPr>
          </a:p>
        </p:txBody>
      </p:sp>
      <p:sp>
        <p:nvSpPr>
          <p:cNvPr id="94" name="Shape 12"/>
          <p:cNvSpPr/>
          <p:nvPr/>
        </p:nvSpPr>
        <p:spPr>
          <a:xfrm>
            <a:off x="617220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5" name="Text 13"/>
          <p:cNvSpPr/>
          <p:nvPr/>
        </p:nvSpPr>
        <p:spPr>
          <a:xfrm>
            <a:off x="644652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96" name="Text 14"/>
          <p:cNvSpPr/>
          <p:nvPr/>
        </p:nvSpPr>
        <p:spPr>
          <a:xfrm>
            <a:off x="713232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Search</a:t>
            </a:r>
            <a:endParaRPr lang="en-US" sz="1600" b="0" u="none" strike="noStrike">
              <a:solidFill>
                <a:srgbClr val="000000"/>
              </a:solidFill>
              <a:effectLst/>
              <a:uFillTx/>
              <a:latin typeface="Arial"/>
            </a:endParaRPr>
          </a:p>
        </p:txBody>
      </p:sp>
      <p:sp>
        <p:nvSpPr>
          <p:cNvPr id="97" name="Text 15"/>
          <p:cNvSpPr/>
          <p:nvPr/>
        </p:nvSpPr>
        <p:spPr>
          <a:xfrm>
            <a:off x="653796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Simulate action sequences until one reaches a goal or failure is proven.</a:t>
            </a:r>
            <a:endParaRPr lang="en-US" sz="1350" b="0" u="none" strike="noStrike">
              <a:solidFill>
                <a:srgbClr val="000000"/>
              </a:solidFill>
              <a:effectLst/>
              <a:uFillTx/>
              <a:latin typeface="Arial"/>
            </a:endParaRPr>
          </a:p>
        </p:txBody>
      </p:sp>
      <p:sp>
        <p:nvSpPr>
          <p:cNvPr id="98" name="Shape 16"/>
          <p:cNvSpPr/>
          <p:nvPr/>
        </p:nvSpPr>
        <p:spPr>
          <a:xfrm>
            <a:off x="905256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9" name="Text 17"/>
          <p:cNvSpPr/>
          <p:nvPr/>
        </p:nvSpPr>
        <p:spPr>
          <a:xfrm>
            <a:off x="932688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100" name="Text 18"/>
          <p:cNvSpPr/>
          <p:nvPr/>
        </p:nvSpPr>
        <p:spPr>
          <a:xfrm>
            <a:off x="1001268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Execution</a:t>
            </a:r>
            <a:endParaRPr lang="en-US" sz="1600" b="0" u="none" strike="noStrike">
              <a:solidFill>
                <a:srgbClr val="000000"/>
              </a:solidFill>
              <a:effectLst/>
              <a:uFillTx/>
              <a:latin typeface="Arial"/>
            </a:endParaRPr>
          </a:p>
        </p:txBody>
      </p:sp>
      <p:sp>
        <p:nvSpPr>
          <p:cNvPr id="101" name="Text 19"/>
          <p:cNvSpPr/>
          <p:nvPr/>
        </p:nvSpPr>
        <p:spPr>
          <a:xfrm>
            <a:off x="941832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Carry out the solution actions in the real environment.</a:t>
            </a:r>
            <a:endParaRPr lang="en-US" sz="1350" b="0" u="none" strike="noStrike">
              <a:solidFill>
                <a:srgbClr val="000000"/>
              </a:solidFill>
              <a:effectLst/>
              <a:uFillTx/>
              <a:latin typeface="Arial"/>
            </a:endParaRPr>
          </a:p>
        </p:txBody>
      </p:sp>
      <p:sp>
        <p:nvSpPr>
          <p:cNvPr id="102" name="Text 20"/>
          <p:cNvSpPr/>
          <p:nvPr/>
        </p:nvSpPr>
        <p:spPr>
          <a:xfrm>
            <a:off x="2194560" y="4343400"/>
            <a:ext cx="7772040" cy="594000"/>
          </a:xfrm>
          <a:prstGeom prst="roundRect">
            <a:avLst>
              <a:gd name="adj" fmla="val 12308"/>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Example path: Arad → Sibiu → Făgăraș → Bucharest</a:t>
            </a:r>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0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Environment Assumptions: When a Fixed Plan Works</a:t>
            </a:r>
            <a:endParaRPr lang="en-US" sz="2600" b="0" u="none" strike="noStrike">
              <a:solidFill>
                <a:srgbClr val="000000"/>
              </a:solidFill>
              <a:effectLst/>
              <a:uFillTx/>
              <a:latin typeface="Arial"/>
            </a:endParaRPr>
          </a:p>
        </p:txBody>
      </p:sp>
      <p:sp>
        <p:nvSpPr>
          <p:cNvPr id="10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8" name="Text 5"/>
          <p:cNvSpPr/>
          <p:nvPr/>
        </p:nvSpPr>
        <p:spPr>
          <a:xfrm>
            <a:off x="777240" y="141732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Fully observable</a:t>
            </a:r>
            <a:endParaRPr lang="en-US" sz="1500" b="0" u="none" strike="noStrike">
              <a:solidFill>
                <a:srgbClr val="000000"/>
              </a:solidFill>
              <a:effectLst/>
              <a:uFillTx/>
              <a:latin typeface="Arial"/>
            </a:endParaRPr>
          </a:p>
        </p:txBody>
      </p:sp>
      <p:sp>
        <p:nvSpPr>
          <p:cNvPr id="109" name="Text 6"/>
          <p:cNvSpPr/>
          <p:nvPr/>
        </p:nvSpPr>
        <p:spPr>
          <a:xfrm>
            <a:off x="9417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relevant state is known</a:t>
            </a:r>
            <a:endParaRPr lang="en-US" sz="1250" b="0" u="none" strike="noStrike">
              <a:solidFill>
                <a:srgbClr val="000000"/>
              </a:solidFill>
              <a:effectLst/>
              <a:uFillTx/>
              <a:latin typeface="Arial"/>
            </a:endParaRPr>
          </a:p>
        </p:txBody>
      </p:sp>
      <p:sp>
        <p:nvSpPr>
          <p:cNvPr id="110" name="Text 7"/>
          <p:cNvSpPr/>
          <p:nvPr/>
        </p:nvSpPr>
        <p:spPr>
          <a:xfrm>
            <a:off x="4434840" y="141732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Deterministic</a:t>
            </a:r>
            <a:endParaRPr lang="en-US" sz="1500" b="0" u="none" strike="noStrike">
              <a:solidFill>
                <a:srgbClr val="000000"/>
              </a:solidFill>
              <a:effectLst/>
              <a:uFillTx/>
              <a:latin typeface="Arial"/>
            </a:endParaRPr>
          </a:p>
        </p:txBody>
      </p:sp>
      <p:sp>
        <p:nvSpPr>
          <p:cNvPr id="111" name="Text 8"/>
          <p:cNvSpPr/>
          <p:nvPr/>
        </p:nvSpPr>
        <p:spPr>
          <a:xfrm>
            <a:off x="45993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actions have predictable results</a:t>
            </a:r>
            <a:endParaRPr lang="en-US" sz="1250" b="0" u="none" strike="noStrike">
              <a:solidFill>
                <a:srgbClr val="000000"/>
              </a:solidFill>
              <a:effectLst/>
              <a:uFillTx/>
              <a:latin typeface="Arial"/>
            </a:endParaRPr>
          </a:p>
        </p:txBody>
      </p:sp>
      <p:sp>
        <p:nvSpPr>
          <p:cNvPr id="112" name="Text 9"/>
          <p:cNvSpPr/>
          <p:nvPr/>
        </p:nvSpPr>
        <p:spPr>
          <a:xfrm>
            <a:off x="8092440" y="141732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Known</a:t>
            </a:r>
            <a:endParaRPr lang="en-US" sz="1500" b="0" u="none" strike="noStrike">
              <a:solidFill>
                <a:srgbClr val="000000"/>
              </a:solidFill>
              <a:effectLst/>
              <a:uFillTx/>
              <a:latin typeface="Arial"/>
            </a:endParaRPr>
          </a:p>
        </p:txBody>
      </p:sp>
      <p:sp>
        <p:nvSpPr>
          <p:cNvPr id="113" name="Text 10"/>
          <p:cNvSpPr/>
          <p:nvPr/>
        </p:nvSpPr>
        <p:spPr>
          <a:xfrm>
            <a:off x="82569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map/model is available</a:t>
            </a:r>
            <a:endParaRPr lang="en-US" sz="1250" b="0" u="none" strike="noStrike">
              <a:solidFill>
                <a:srgbClr val="000000"/>
              </a:solidFill>
              <a:effectLst/>
              <a:uFillTx/>
              <a:latin typeface="Arial"/>
            </a:endParaRPr>
          </a:p>
        </p:txBody>
      </p:sp>
      <p:sp>
        <p:nvSpPr>
          <p:cNvPr id="114" name="Text 11"/>
          <p:cNvSpPr/>
          <p:nvPr/>
        </p:nvSpPr>
        <p:spPr>
          <a:xfrm>
            <a:off x="777240" y="265176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Static</a:t>
            </a:r>
            <a:endParaRPr lang="en-US" sz="1500" b="0" u="none" strike="noStrike">
              <a:solidFill>
                <a:srgbClr val="000000"/>
              </a:solidFill>
              <a:effectLst/>
              <a:uFillTx/>
              <a:latin typeface="Arial"/>
            </a:endParaRPr>
          </a:p>
        </p:txBody>
      </p:sp>
      <p:sp>
        <p:nvSpPr>
          <p:cNvPr id="115" name="Text 12"/>
          <p:cNvSpPr/>
          <p:nvPr/>
        </p:nvSpPr>
        <p:spPr>
          <a:xfrm>
            <a:off x="9417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world does not change during search</a:t>
            </a:r>
            <a:endParaRPr lang="en-US" sz="1250" b="0" u="none" strike="noStrike">
              <a:solidFill>
                <a:srgbClr val="000000"/>
              </a:solidFill>
              <a:effectLst/>
              <a:uFillTx/>
              <a:latin typeface="Arial"/>
            </a:endParaRPr>
          </a:p>
        </p:txBody>
      </p:sp>
      <p:sp>
        <p:nvSpPr>
          <p:cNvPr id="116" name="Text 13"/>
          <p:cNvSpPr/>
          <p:nvPr/>
        </p:nvSpPr>
        <p:spPr>
          <a:xfrm>
            <a:off x="4434840" y="265176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Discrete</a:t>
            </a:r>
            <a:endParaRPr lang="en-US" sz="1500" b="0" u="none" strike="noStrike">
              <a:solidFill>
                <a:srgbClr val="000000"/>
              </a:solidFill>
              <a:effectLst/>
              <a:uFillTx/>
              <a:latin typeface="Arial"/>
            </a:endParaRPr>
          </a:p>
        </p:txBody>
      </p:sp>
      <p:sp>
        <p:nvSpPr>
          <p:cNvPr id="117" name="Text 14"/>
          <p:cNvSpPr/>
          <p:nvPr/>
        </p:nvSpPr>
        <p:spPr>
          <a:xfrm>
            <a:off x="45993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states/actions can be enumerated</a:t>
            </a:r>
            <a:endParaRPr lang="en-US" sz="1250" b="0" u="none" strike="noStrike">
              <a:solidFill>
                <a:srgbClr val="000000"/>
              </a:solidFill>
              <a:effectLst/>
              <a:uFillTx/>
              <a:latin typeface="Arial"/>
            </a:endParaRPr>
          </a:p>
        </p:txBody>
      </p:sp>
      <p:sp>
        <p:nvSpPr>
          <p:cNvPr id="118" name="Text 15"/>
          <p:cNvSpPr/>
          <p:nvPr/>
        </p:nvSpPr>
        <p:spPr>
          <a:xfrm>
            <a:off x="8092440" y="265176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Single-agent</a:t>
            </a:r>
            <a:endParaRPr lang="en-US" sz="1500" b="0" u="none" strike="noStrike">
              <a:solidFill>
                <a:srgbClr val="000000"/>
              </a:solidFill>
              <a:effectLst/>
              <a:uFillTx/>
              <a:latin typeface="Arial"/>
            </a:endParaRPr>
          </a:p>
        </p:txBody>
      </p:sp>
      <p:sp>
        <p:nvSpPr>
          <p:cNvPr id="119" name="Text 16"/>
          <p:cNvSpPr/>
          <p:nvPr/>
        </p:nvSpPr>
        <p:spPr>
          <a:xfrm>
            <a:off x="82569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no adversary changes the state</a:t>
            </a:r>
            <a:endParaRPr lang="en-US" sz="1250" b="0" u="none" strike="noStrike">
              <a:solidFill>
                <a:srgbClr val="000000"/>
              </a:solidFill>
              <a:effectLst/>
              <a:uFillTx/>
              <a:latin typeface="Arial"/>
            </a:endParaRPr>
          </a:p>
        </p:txBody>
      </p:sp>
      <p:sp>
        <p:nvSpPr>
          <p:cNvPr id="120" name="Text 17"/>
          <p:cNvSpPr/>
          <p:nvPr/>
        </p:nvSpPr>
        <p:spPr>
          <a:xfrm>
            <a:off x="914400" y="4617720"/>
            <a:ext cx="10423800" cy="328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Open-loop execution: if the model is correct, execute the fixed sequence without checking percepts.</a:t>
            </a:r>
            <a:endParaRPr lang="en-US" sz="1700" b="0" u="none" strike="noStrike">
              <a:solidFill>
                <a:srgbClr val="000000"/>
              </a:solidFill>
              <a:effectLst/>
              <a:uFillTx/>
              <a:latin typeface="Arial"/>
            </a:endParaRPr>
          </a:p>
        </p:txBody>
      </p:sp>
      <p:sp>
        <p:nvSpPr>
          <p:cNvPr id="121" name="Text 18"/>
          <p:cNvSpPr/>
          <p:nvPr/>
        </p:nvSpPr>
        <p:spPr>
          <a:xfrm>
            <a:off x="914400" y="5166360"/>
            <a:ext cx="10423800" cy="328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50" b="0" u="none" strike="noStrike">
                <a:solidFill>
                  <a:srgbClr val="9B1C1C"/>
                </a:solidFill>
                <a:effectLst/>
                <a:uFillTx/>
                <a:latin typeface="Aptos"/>
              </a:rPr>
              <a:t>If the model may be wrong or the world changes, use closed-loop monitoring, contingency plans, or replanning.</a:t>
            </a:r>
            <a:endParaRPr lang="en-US" sz="15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Formal Definition of a Search Problem</a:t>
            </a:r>
            <a:endParaRPr lang="en-US" sz="2600" b="0" u="none" strike="noStrike">
              <a:solidFill>
                <a:srgbClr val="000000"/>
              </a:solidFill>
              <a:effectLst/>
              <a:uFillTx/>
              <a:latin typeface="Arial"/>
            </a:endParaRPr>
          </a:p>
        </p:txBody>
      </p:sp>
      <p:sp>
        <p:nvSpPr>
          <p:cNvPr id="12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 name="Text 5"/>
          <p:cNvSpPr/>
          <p:nvPr/>
        </p:nvSpPr>
        <p:spPr>
          <a:xfrm>
            <a:off x="777240" y="141732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State space</a:t>
            </a:r>
            <a:endParaRPr lang="en-US" sz="1400" b="0" u="none" strike="noStrike">
              <a:solidFill>
                <a:srgbClr val="000000"/>
              </a:solidFill>
              <a:effectLst/>
              <a:uFillTx/>
              <a:latin typeface="Arial"/>
            </a:endParaRPr>
          </a:p>
        </p:txBody>
      </p:sp>
      <p:sp>
        <p:nvSpPr>
          <p:cNvPr id="128" name="Text 6"/>
          <p:cNvSpPr/>
          <p:nvPr/>
        </p:nvSpPr>
        <p:spPr>
          <a:xfrm>
            <a:off x="3246120" y="144468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Set of possible states</a:t>
            </a:r>
            <a:endParaRPr lang="en-US" sz="1400" b="0" u="none" strike="noStrike">
              <a:solidFill>
                <a:srgbClr val="000000"/>
              </a:solidFill>
              <a:effectLst/>
              <a:uFillTx/>
              <a:latin typeface="Arial"/>
            </a:endParaRPr>
          </a:p>
        </p:txBody>
      </p:sp>
      <p:sp>
        <p:nvSpPr>
          <p:cNvPr id="129" name="Text 7"/>
          <p:cNvSpPr/>
          <p:nvPr/>
        </p:nvSpPr>
        <p:spPr>
          <a:xfrm>
            <a:off x="777240" y="265176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Initial state</a:t>
            </a:r>
            <a:endParaRPr lang="en-US" sz="1400" b="0" u="none" strike="noStrike">
              <a:solidFill>
                <a:srgbClr val="000000"/>
              </a:solidFill>
              <a:effectLst/>
              <a:uFillTx/>
              <a:latin typeface="Arial"/>
            </a:endParaRPr>
          </a:p>
        </p:txBody>
      </p:sp>
      <p:sp>
        <p:nvSpPr>
          <p:cNvPr id="130" name="Text 8"/>
          <p:cNvSpPr/>
          <p:nvPr/>
        </p:nvSpPr>
        <p:spPr>
          <a:xfrm>
            <a:off x="3246120" y="267912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Where the agent starts</a:t>
            </a:r>
            <a:endParaRPr lang="en-US" sz="1400" b="0" u="none" strike="noStrike">
              <a:solidFill>
                <a:srgbClr val="000000"/>
              </a:solidFill>
              <a:effectLst/>
              <a:uFillTx/>
              <a:latin typeface="Arial"/>
            </a:endParaRPr>
          </a:p>
        </p:txBody>
      </p:sp>
      <p:sp>
        <p:nvSpPr>
          <p:cNvPr id="131" name="Text 9"/>
          <p:cNvSpPr/>
          <p:nvPr/>
        </p:nvSpPr>
        <p:spPr>
          <a:xfrm>
            <a:off x="777240" y="388620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Goal test</a:t>
            </a:r>
            <a:endParaRPr lang="en-US" sz="1400" b="0" u="none" strike="noStrike">
              <a:solidFill>
                <a:srgbClr val="000000"/>
              </a:solidFill>
              <a:effectLst/>
              <a:uFillTx/>
              <a:latin typeface="Arial"/>
            </a:endParaRPr>
          </a:p>
        </p:txBody>
      </p:sp>
      <p:sp>
        <p:nvSpPr>
          <p:cNvPr id="132" name="Text 10"/>
          <p:cNvSpPr/>
          <p:nvPr/>
        </p:nvSpPr>
        <p:spPr>
          <a:xfrm>
            <a:off x="3246120" y="391356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Is-Goal(s): property or set of goal states</a:t>
            </a:r>
            <a:endParaRPr lang="en-US" sz="1400" b="0" u="none" strike="noStrike">
              <a:solidFill>
                <a:srgbClr val="000000"/>
              </a:solidFill>
              <a:effectLst/>
              <a:uFillTx/>
              <a:latin typeface="Arial"/>
            </a:endParaRPr>
          </a:p>
        </p:txBody>
      </p:sp>
      <p:sp>
        <p:nvSpPr>
          <p:cNvPr id="133" name="Text 11"/>
          <p:cNvSpPr/>
          <p:nvPr/>
        </p:nvSpPr>
        <p:spPr>
          <a:xfrm>
            <a:off x="6172200" y="141732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134" name="Text 12"/>
          <p:cNvSpPr/>
          <p:nvPr/>
        </p:nvSpPr>
        <p:spPr>
          <a:xfrm>
            <a:off x="8641080" y="144468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ACTIONS(s): actions applicable in state s</a:t>
            </a:r>
            <a:endParaRPr lang="en-US" sz="1400" b="0" u="none" strike="noStrike">
              <a:solidFill>
                <a:srgbClr val="000000"/>
              </a:solidFill>
              <a:effectLst/>
              <a:uFillTx/>
              <a:latin typeface="Arial"/>
            </a:endParaRPr>
          </a:p>
        </p:txBody>
      </p:sp>
      <p:sp>
        <p:nvSpPr>
          <p:cNvPr id="135" name="Text 13"/>
          <p:cNvSpPr/>
          <p:nvPr/>
        </p:nvSpPr>
        <p:spPr>
          <a:xfrm>
            <a:off x="6172200" y="265176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Transition model</a:t>
            </a:r>
            <a:endParaRPr lang="en-US" sz="1400" b="0" u="none" strike="noStrike">
              <a:solidFill>
                <a:srgbClr val="000000"/>
              </a:solidFill>
              <a:effectLst/>
              <a:uFillTx/>
              <a:latin typeface="Arial"/>
            </a:endParaRPr>
          </a:p>
        </p:txBody>
      </p:sp>
      <p:sp>
        <p:nvSpPr>
          <p:cNvPr id="136" name="Text 14"/>
          <p:cNvSpPr/>
          <p:nvPr/>
        </p:nvSpPr>
        <p:spPr>
          <a:xfrm>
            <a:off x="8641080" y="267912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RESULT(s,a): state reached after action a</a:t>
            </a:r>
            <a:endParaRPr lang="en-US" sz="1400" b="0" u="none" strike="noStrike">
              <a:solidFill>
                <a:srgbClr val="000000"/>
              </a:solidFill>
              <a:effectLst/>
              <a:uFillTx/>
              <a:latin typeface="Arial"/>
            </a:endParaRPr>
          </a:p>
        </p:txBody>
      </p:sp>
      <p:sp>
        <p:nvSpPr>
          <p:cNvPr id="137" name="Text 15"/>
          <p:cNvSpPr/>
          <p:nvPr/>
        </p:nvSpPr>
        <p:spPr>
          <a:xfrm>
            <a:off x="6172200" y="388620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 cost</a:t>
            </a:r>
            <a:endParaRPr lang="en-US" sz="1400" b="0" u="none" strike="noStrike">
              <a:solidFill>
                <a:srgbClr val="000000"/>
              </a:solidFill>
              <a:effectLst/>
              <a:uFillTx/>
              <a:latin typeface="Arial"/>
            </a:endParaRPr>
          </a:p>
        </p:txBody>
      </p:sp>
      <p:sp>
        <p:nvSpPr>
          <p:cNvPr id="138" name="Text 16"/>
          <p:cNvSpPr/>
          <p:nvPr/>
        </p:nvSpPr>
        <p:spPr>
          <a:xfrm>
            <a:off x="8641080" y="391356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c(s,a,s′): numeric cost of applying an action</a:t>
            </a:r>
            <a:endParaRPr lang="en-US" sz="14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Romania Route-Finding Example</a:t>
            </a:r>
            <a:endParaRPr lang="en-US" sz="2600" b="0" u="none" strike="noStrike">
              <a:solidFill>
                <a:srgbClr val="000000"/>
              </a:solidFill>
              <a:effectLst/>
              <a:uFillTx/>
              <a:latin typeface="Arial"/>
            </a:endParaRPr>
          </a:p>
        </p:txBody>
      </p:sp>
      <p:sp>
        <p:nvSpPr>
          <p:cNvPr id="14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4" name="Shape 5"/>
          <p:cNvSpPr/>
          <p:nvPr/>
        </p:nvSpPr>
        <p:spPr>
          <a:xfrm flipV="1">
            <a:off x="1005840" y="2103120"/>
            <a:ext cx="2011680" cy="91440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45" name="Text 6"/>
          <p:cNvSpPr/>
          <p:nvPr/>
        </p:nvSpPr>
        <p:spPr>
          <a:xfrm>
            <a:off x="1847160" y="24321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140</a:t>
            </a:r>
            <a:endParaRPr lang="en-US" sz="850" b="0" u="none" strike="noStrike">
              <a:solidFill>
                <a:srgbClr val="000000"/>
              </a:solidFill>
              <a:effectLst/>
              <a:uFillTx/>
              <a:latin typeface="Arial"/>
            </a:endParaRPr>
          </a:p>
        </p:txBody>
      </p:sp>
      <p:sp>
        <p:nvSpPr>
          <p:cNvPr id="146" name="Shape 7"/>
          <p:cNvSpPr/>
          <p:nvPr/>
        </p:nvSpPr>
        <p:spPr>
          <a:xfrm>
            <a:off x="1005840" y="3017520"/>
            <a:ext cx="2011680" cy="36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7" name="Text 8"/>
          <p:cNvSpPr/>
          <p:nvPr/>
        </p:nvSpPr>
        <p:spPr>
          <a:xfrm>
            <a:off x="1847160" y="28893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118</a:t>
            </a:r>
            <a:endParaRPr lang="en-US" sz="850" b="0" u="none" strike="noStrike">
              <a:solidFill>
                <a:srgbClr val="000000"/>
              </a:solidFill>
              <a:effectLst/>
              <a:uFillTx/>
              <a:latin typeface="Arial"/>
            </a:endParaRPr>
          </a:p>
        </p:txBody>
      </p:sp>
      <p:sp>
        <p:nvSpPr>
          <p:cNvPr id="148" name="Shape 9"/>
          <p:cNvSpPr/>
          <p:nvPr/>
        </p:nvSpPr>
        <p:spPr>
          <a:xfrm>
            <a:off x="1005840" y="3017520"/>
            <a:ext cx="2011680" cy="91440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49" name="Text 10"/>
          <p:cNvSpPr/>
          <p:nvPr/>
        </p:nvSpPr>
        <p:spPr>
          <a:xfrm>
            <a:off x="1847160" y="33465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75</a:t>
            </a:r>
            <a:endParaRPr lang="en-US" sz="850" b="0" u="none" strike="noStrike">
              <a:solidFill>
                <a:srgbClr val="000000"/>
              </a:solidFill>
              <a:effectLst/>
              <a:uFillTx/>
              <a:latin typeface="Arial"/>
            </a:endParaRPr>
          </a:p>
        </p:txBody>
      </p:sp>
      <p:sp>
        <p:nvSpPr>
          <p:cNvPr id="150" name="Shape 11"/>
          <p:cNvSpPr/>
          <p:nvPr/>
        </p:nvSpPr>
        <p:spPr>
          <a:xfrm flipV="1">
            <a:off x="3017520" y="1828800"/>
            <a:ext cx="2057400" cy="27432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1" name="Text 12"/>
          <p:cNvSpPr/>
          <p:nvPr/>
        </p:nvSpPr>
        <p:spPr>
          <a:xfrm>
            <a:off x="3881520" y="183780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99</a:t>
            </a:r>
            <a:endParaRPr lang="en-US" sz="850" b="0" u="none" strike="noStrike">
              <a:solidFill>
                <a:srgbClr val="000000"/>
              </a:solidFill>
              <a:effectLst/>
              <a:uFillTx/>
              <a:latin typeface="Arial"/>
            </a:endParaRPr>
          </a:p>
        </p:txBody>
      </p:sp>
      <p:sp>
        <p:nvSpPr>
          <p:cNvPr id="152" name="Shape 13"/>
          <p:cNvSpPr/>
          <p:nvPr/>
        </p:nvSpPr>
        <p:spPr>
          <a:xfrm>
            <a:off x="3017520" y="2103120"/>
            <a:ext cx="2057400" cy="64008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3" name="Text 14"/>
          <p:cNvSpPr/>
          <p:nvPr/>
        </p:nvSpPr>
        <p:spPr>
          <a:xfrm>
            <a:off x="3881520" y="229500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80</a:t>
            </a:r>
            <a:endParaRPr lang="en-US" sz="850" b="0" u="none" strike="noStrike">
              <a:solidFill>
                <a:srgbClr val="000000"/>
              </a:solidFill>
              <a:effectLst/>
              <a:uFillTx/>
              <a:latin typeface="Arial"/>
            </a:endParaRPr>
          </a:p>
        </p:txBody>
      </p:sp>
      <p:sp>
        <p:nvSpPr>
          <p:cNvPr id="154" name="Shape 15"/>
          <p:cNvSpPr/>
          <p:nvPr/>
        </p:nvSpPr>
        <p:spPr>
          <a:xfrm>
            <a:off x="5074920" y="2743200"/>
            <a:ext cx="1920240" cy="36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5" name="Text 16"/>
          <p:cNvSpPr/>
          <p:nvPr/>
        </p:nvSpPr>
        <p:spPr>
          <a:xfrm>
            <a:off x="5870520" y="261504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97</a:t>
            </a:r>
            <a:endParaRPr lang="en-US" sz="850" b="0" u="none" strike="noStrike">
              <a:solidFill>
                <a:srgbClr val="000000"/>
              </a:solidFill>
              <a:effectLst/>
              <a:uFillTx/>
              <a:latin typeface="Arial"/>
            </a:endParaRPr>
          </a:p>
        </p:txBody>
      </p:sp>
      <p:sp>
        <p:nvSpPr>
          <p:cNvPr id="156" name="Shape 17"/>
          <p:cNvSpPr/>
          <p:nvPr/>
        </p:nvSpPr>
        <p:spPr>
          <a:xfrm flipV="1">
            <a:off x="6995160" y="2240280"/>
            <a:ext cx="2011680" cy="50292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7" name="Text 18"/>
          <p:cNvSpPr/>
          <p:nvPr/>
        </p:nvSpPr>
        <p:spPr>
          <a:xfrm>
            <a:off x="7836480" y="23637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101</a:t>
            </a:r>
            <a:endParaRPr lang="en-US" sz="850" b="0" u="none" strike="noStrike">
              <a:solidFill>
                <a:srgbClr val="000000"/>
              </a:solidFill>
              <a:effectLst/>
              <a:uFillTx/>
              <a:latin typeface="Arial"/>
            </a:endParaRPr>
          </a:p>
        </p:txBody>
      </p:sp>
      <p:sp>
        <p:nvSpPr>
          <p:cNvPr id="158" name="Shape 19"/>
          <p:cNvSpPr/>
          <p:nvPr/>
        </p:nvSpPr>
        <p:spPr>
          <a:xfrm>
            <a:off x="5074920" y="1828800"/>
            <a:ext cx="3931920" cy="41148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9" name="Text 20"/>
          <p:cNvSpPr/>
          <p:nvPr/>
        </p:nvSpPr>
        <p:spPr>
          <a:xfrm>
            <a:off x="6876360" y="19065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211</a:t>
            </a:r>
            <a:endParaRPr lang="en-US" sz="850" b="0" u="none" strike="noStrike">
              <a:solidFill>
                <a:srgbClr val="000000"/>
              </a:solidFill>
              <a:effectLst/>
              <a:uFillTx/>
              <a:latin typeface="Arial"/>
            </a:endParaRPr>
          </a:p>
        </p:txBody>
      </p:sp>
      <p:sp>
        <p:nvSpPr>
          <p:cNvPr id="160" name="Text 21"/>
          <p:cNvSpPr/>
          <p:nvPr/>
        </p:nvSpPr>
        <p:spPr>
          <a:xfrm>
            <a:off x="841320" y="2853000"/>
            <a:ext cx="328680" cy="328680"/>
          </a:xfrm>
          <a:prstGeom prst="ellipse">
            <a:avLst/>
          </a:prstGeom>
          <a:solidFill>
            <a:srgbClr val="FFE5B6"/>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61" name="Text 22"/>
          <p:cNvSpPr/>
          <p:nvPr/>
        </p:nvSpPr>
        <p:spPr>
          <a:xfrm>
            <a:off x="530280" y="32461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Arad</a:t>
            </a:r>
            <a:endParaRPr lang="en-US" sz="850" b="0" u="none" strike="noStrike">
              <a:solidFill>
                <a:srgbClr val="000000"/>
              </a:solidFill>
              <a:effectLst/>
              <a:uFillTx/>
              <a:latin typeface="Arial"/>
            </a:endParaRPr>
          </a:p>
        </p:txBody>
      </p:sp>
      <p:sp>
        <p:nvSpPr>
          <p:cNvPr id="162" name="Text 23"/>
          <p:cNvSpPr/>
          <p:nvPr/>
        </p:nvSpPr>
        <p:spPr>
          <a:xfrm>
            <a:off x="2853000" y="19386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63" name="Text 24"/>
          <p:cNvSpPr/>
          <p:nvPr/>
        </p:nvSpPr>
        <p:spPr>
          <a:xfrm>
            <a:off x="2541960" y="23317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Sibiu</a:t>
            </a:r>
            <a:endParaRPr lang="en-US" sz="850" b="0" u="none" strike="noStrike">
              <a:solidFill>
                <a:srgbClr val="000000"/>
              </a:solidFill>
              <a:effectLst/>
              <a:uFillTx/>
              <a:latin typeface="Arial"/>
            </a:endParaRPr>
          </a:p>
        </p:txBody>
      </p:sp>
      <p:sp>
        <p:nvSpPr>
          <p:cNvPr id="164" name="Text 25"/>
          <p:cNvSpPr/>
          <p:nvPr/>
        </p:nvSpPr>
        <p:spPr>
          <a:xfrm>
            <a:off x="2853000" y="28530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T</a:t>
            </a:r>
            <a:endParaRPr lang="en-US" sz="900" b="0" u="none" strike="noStrike">
              <a:solidFill>
                <a:srgbClr val="000000"/>
              </a:solidFill>
              <a:effectLst/>
              <a:uFillTx/>
              <a:latin typeface="Arial"/>
            </a:endParaRPr>
          </a:p>
        </p:txBody>
      </p:sp>
      <p:sp>
        <p:nvSpPr>
          <p:cNvPr id="165" name="Text 26"/>
          <p:cNvSpPr/>
          <p:nvPr/>
        </p:nvSpPr>
        <p:spPr>
          <a:xfrm>
            <a:off x="2541960" y="32461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Timisoara</a:t>
            </a:r>
            <a:endParaRPr lang="en-US" sz="850" b="0" u="none" strike="noStrike">
              <a:solidFill>
                <a:srgbClr val="000000"/>
              </a:solidFill>
              <a:effectLst/>
              <a:uFillTx/>
              <a:latin typeface="Arial"/>
            </a:endParaRPr>
          </a:p>
        </p:txBody>
      </p:sp>
      <p:sp>
        <p:nvSpPr>
          <p:cNvPr id="166" name="Text 27"/>
          <p:cNvSpPr/>
          <p:nvPr/>
        </p:nvSpPr>
        <p:spPr>
          <a:xfrm>
            <a:off x="2853000" y="37674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Z</a:t>
            </a:r>
            <a:endParaRPr lang="en-US" sz="900" b="0" u="none" strike="noStrike">
              <a:solidFill>
                <a:srgbClr val="000000"/>
              </a:solidFill>
              <a:effectLst/>
              <a:uFillTx/>
              <a:latin typeface="Arial"/>
            </a:endParaRPr>
          </a:p>
        </p:txBody>
      </p:sp>
      <p:sp>
        <p:nvSpPr>
          <p:cNvPr id="167" name="Text 28"/>
          <p:cNvSpPr/>
          <p:nvPr/>
        </p:nvSpPr>
        <p:spPr>
          <a:xfrm>
            <a:off x="2541960" y="41605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Zerind</a:t>
            </a:r>
            <a:endParaRPr lang="en-US" sz="850" b="0" u="none" strike="noStrike">
              <a:solidFill>
                <a:srgbClr val="000000"/>
              </a:solidFill>
              <a:effectLst/>
              <a:uFillTx/>
              <a:latin typeface="Arial"/>
            </a:endParaRPr>
          </a:p>
        </p:txBody>
      </p:sp>
      <p:sp>
        <p:nvSpPr>
          <p:cNvPr id="168" name="Text 29"/>
          <p:cNvSpPr/>
          <p:nvPr/>
        </p:nvSpPr>
        <p:spPr>
          <a:xfrm>
            <a:off x="4910400" y="16642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69" name="Text 30"/>
          <p:cNvSpPr/>
          <p:nvPr/>
        </p:nvSpPr>
        <p:spPr>
          <a:xfrm>
            <a:off x="4599360" y="20574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Fagaras</a:t>
            </a:r>
            <a:endParaRPr lang="en-US" sz="850" b="0" u="none" strike="noStrike">
              <a:solidFill>
                <a:srgbClr val="000000"/>
              </a:solidFill>
              <a:effectLst/>
              <a:uFillTx/>
              <a:latin typeface="Arial"/>
            </a:endParaRPr>
          </a:p>
        </p:txBody>
      </p:sp>
      <p:sp>
        <p:nvSpPr>
          <p:cNvPr id="170" name="Text 31"/>
          <p:cNvSpPr/>
          <p:nvPr/>
        </p:nvSpPr>
        <p:spPr>
          <a:xfrm>
            <a:off x="4910400" y="25786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71" name="Text 32"/>
          <p:cNvSpPr/>
          <p:nvPr/>
        </p:nvSpPr>
        <p:spPr>
          <a:xfrm>
            <a:off x="4599360" y="29718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Rimnicu</a:t>
            </a:r>
            <a:endParaRPr lang="en-US" sz="850" b="0" u="none" strike="noStrike">
              <a:solidFill>
                <a:srgbClr val="000000"/>
              </a:solidFill>
              <a:effectLst/>
              <a:uFillTx/>
              <a:latin typeface="Arial"/>
            </a:endParaRPr>
          </a:p>
        </p:txBody>
      </p:sp>
      <p:sp>
        <p:nvSpPr>
          <p:cNvPr id="172" name="Text 33"/>
          <p:cNvSpPr/>
          <p:nvPr/>
        </p:nvSpPr>
        <p:spPr>
          <a:xfrm>
            <a:off x="6830640" y="25786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73" name="Text 34"/>
          <p:cNvSpPr/>
          <p:nvPr/>
        </p:nvSpPr>
        <p:spPr>
          <a:xfrm>
            <a:off x="6519600" y="29718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Pitesti</a:t>
            </a:r>
            <a:endParaRPr lang="en-US" sz="850" b="0" u="none" strike="noStrike">
              <a:solidFill>
                <a:srgbClr val="000000"/>
              </a:solidFill>
              <a:effectLst/>
              <a:uFillTx/>
              <a:latin typeface="Arial"/>
            </a:endParaRPr>
          </a:p>
        </p:txBody>
      </p:sp>
      <p:sp>
        <p:nvSpPr>
          <p:cNvPr id="174" name="Text 35"/>
          <p:cNvSpPr/>
          <p:nvPr/>
        </p:nvSpPr>
        <p:spPr>
          <a:xfrm>
            <a:off x="8842320" y="2075760"/>
            <a:ext cx="328680" cy="32868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75" name="Text 36"/>
          <p:cNvSpPr/>
          <p:nvPr/>
        </p:nvSpPr>
        <p:spPr>
          <a:xfrm>
            <a:off x="8531280" y="246888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Bucharest</a:t>
            </a:r>
            <a:endParaRPr lang="en-US" sz="850" b="0" u="none" strike="noStrike">
              <a:solidFill>
                <a:srgbClr val="000000"/>
              </a:solidFill>
              <a:effectLst/>
              <a:uFillTx/>
              <a:latin typeface="Arial"/>
            </a:endParaRPr>
          </a:p>
        </p:txBody>
      </p:sp>
      <p:sp>
        <p:nvSpPr>
          <p:cNvPr id="176" name="Text 37"/>
          <p:cNvSpPr/>
          <p:nvPr/>
        </p:nvSpPr>
        <p:spPr>
          <a:xfrm>
            <a:off x="822960" y="4709160"/>
            <a:ext cx="1033236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pPr>
            <a:r>
              <a:rPr lang="en-US" sz="1350" b="0" u="none" strike="noStrike">
                <a:solidFill>
                  <a:srgbClr val="102A4C"/>
                </a:solidFill>
                <a:effectLst/>
                <a:uFillTx/>
                <a:latin typeface="Aptos"/>
              </a:rPr>
              <a:t>State space: cities</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Initial state: Arad</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Goal test: current city is Bucharest</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Actions: drive to adjacent city</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Cost: road distance, time, or fuel</a:t>
            </a:r>
            <a:endParaRPr lang="en-US" sz="13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7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7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Abstraction: Keep What Matters, Drop What Does Not</a:t>
            </a:r>
            <a:endParaRPr lang="en-US" sz="2600" b="0" u="none" strike="noStrike">
              <a:solidFill>
                <a:srgbClr val="000000"/>
              </a:solidFill>
              <a:effectLst/>
              <a:uFillTx/>
              <a:latin typeface="Arial"/>
            </a:endParaRPr>
          </a:p>
        </p:txBody>
      </p:sp>
      <p:sp>
        <p:nvSpPr>
          <p:cNvPr id="18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2" name="Text 5"/>
          <p:cNvSpPr/>
          <p:nvPr/>
        </p:nvSpPr>
        <p:spPr>
          <a:xfrm>
            <a:off x="868680" y="1417320"/>
            <a:ext cx="3017160" cy="502560"/>
          </a:xfrm>
          <a:prstGeom prst="roundRect">
            <a:avLst>
              <a:gd name="adj" fmla="val 14545"/>
            </a:avLst>
          </a:prstGeom>
          <a:solidFill>
            <a:srgbClr val="F7D7D7"/>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9B1C1C"/>
                </a:solidFill>
                <a:effectLst/>
                <a:uFillTx/>
                <a:latin typeface="Aptos"/>
              </a:rPr>
              <a:t>Too detailed</a:t>
            </a:r>
            <a:endParaRPr lang="en-US" sz="1600" b="0" u="none" strike="noStrike">
              <a:solidFill>
                <a:srgbClr val="000000"/>
              </a:solidFill>
              <a:effectLst/>
              <a:uFillTx/>
              <a:latin typeface="Arial"/>
            </a:endParaRPr>
          </a:p>
        </p:txBody>
      </p:sp>
      <p:sp>
        <p:nvSpPr>
          <p:cNvPr id="183" name="Text 6"/>
          <p:cNvSpPr/>
          <p:nvPr/>
        </p:nvSpPr>
        <p:spPr>
          <a:xfrm>
            <a:off x="868680" y="2030040"/>
            <a:ext cx="301716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Move right foot forward one centimeter; turn steering wheel one degree; track radio station and scenery.</a:t>
            </a:r>
            <a:endParaRPr lang="en-US" sz="1400" b="0" u="none" strike="noStrike">
              <a:solidFill>
                <a:srgbClr val="000000"/>
              </a:solidFill>
              <a:effectLst/>
              <a:uFillTx/>
              <a:latin typeface="Arial"/>
            </a:endParaRPr>
          </a:p>
        </p:txBody>
      </p:sp>
      <p:sp>
        <p:nvSpPr>
          <p:cNvPr id="184" name="Text 7"/>
          <p:cNvSpPr/>
          <p:nvPr/>
        </p:nvSpPr>
        <p:spPr>
          <a:xfrm>
            <a:off x="4572000" y="1417320"/>
            <a:ext cx="301716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Useful abstraction</a:t>
            </a:r>
            <a:endParaRPr lang="en-US" sz="1600" b="0" u="none" strike="noStrike">
              <a:solidFill>
                <a:srgbClr val="000000"/>
              </a:solidFill>
              <a:effectLst/>
              <a:uFillTx/>
              <a:latin typeface="Arial"/>
            </a:endParaRPr>
          </a:p>
        </p:txBody>
      </p:sp>
      <p:sp>
        <p:nvSpPr>
          <p:cNvPr id="185" name="Text 8"/>
          <p:cNvSpPr/>
          <p:nvPr/>
        </p:nvSpPr>
        <p:spPr>
          <a:xfrm>
            <a:off x="4572000" y="2030040"/>
            <a:ext cx="301716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Drive from Arad to Sibiu. The action is detailed enough to plan with and simple enough to execute.</a:t>
            </a:r>
            <a:endParaRPr lang="en-US" sz="1400" b="0" u="none" strike="noStrike">
              <a:solidFill>
                <a:srgbClr val="000000"/>
              </a:solidFill>
              <a:effectLst/>
              <a:uFillTx/>
              <a:latin typeface="Arial"/>
            </a:endParaRPr>
          </a:p>
        </p:txBody>
      </p:sp>
      <p:sp>
        <p:nvSpPr>
          <p:cNvPr id="186" name="Text 9"/>
          <p:cNvSpPr/>
          <p:nvPr/>
        </p:nvSpPr>
        <p:spPr>
          <a:xfrm>
            <a:off x="8275320" y="1417320"/>
            <a:ext cx="301716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Good formulation</a:t>
            </a:r>
            <a:endParaRPr lang="en-US" sz="1600" b="0" u="none" strike="noStrike">
              <a:solidFill>
                <a:srgbClr val="000000"/>
              </a:solidFill>
              <a:effectLst/>
              <a:uFillTx/>
              <a:latin typeface="Arial"/>
            </a:endParaRPr>
          </a:p>
        </p:txBody>
      </p:sp>
      <p:sp>
        <p:nvSpPr>
          <p:cNvPr id="187" name="Text 10"/>
          <p:cNvSpPr/>
          <p:nvPr/>
        </p:nvSpPr>
        <p:spPr>
          <a:xfrm>
            <a:off x="8275320" y="1965960"/>
            <a:ext cx="3062880" cy="1371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350" b="0" u="none" strike="noStrike">
                <a:solidFill>
                  <a:srgbClr val="102A4C"/>
                </a:solidFill>
                <a:effectLst/>
                <a:uFillTx/>
                <a:latin typeface="Aptos"/>
              </a:rPr>
              <a:t>Valid: abstract solution can be elaborated into a real solution</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Useful: each abstract action is easier than solving the original problem</a:t>
            </a:r>
            <a:endParaRPr lang="en-US" sz="1350" b="0" u="none" strike="noStrike">
              <a:solidFill>
                <a:srgbClr val="000000"/>
              </a:solidFill>
              <a:effectLst/>
              <a:uFillTx/>
              <a:latin typeface="Arial"/>
            </a:endParaRPr>
          </a:p>
        </p:txBody>
      </p:sp>
      <p:sp>
        <p:nvSpPr>
          <p:cNvPr id="188" name="Text 11"/>
          <p:cNvSpPr/>
          <p:nvPr/>
        </p:nvSpPr>
        <p:spPr>
          <a:xfrm>
            <a:off x="1097280" y="4617720"/>
            <a:ext cx="996660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12E5C"/>
                </a:solidFill>
                <a:effectLst/>
                <a:uFillTx/>
                <a:latin typeface="Aptos"/>
              </a:rPr>
              <a:t>Remove as much detail as possible while preserving validity and executable actions.</a:t>
            </a:r>
            <a:endParaRPr lang="en-US" sz="2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8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9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Search Problems Are Models</a:t>
            </a:r>
            <a:endParaRPr lang="en-US" sz="2600" b="0" u="none" strike="noStrike">
              <a:solidFill>
                <a:srgbClr val="000000"/>
              </a:solidFill>
              <a:effectLst/>
              <a:uFillTx/>
              <a:latin typeface="Arial"/>
            </a:endParaRPr>
          </a:p>
        </p:txBody>
      </p:sp>
      <p:sp>
        <p:nvSpPr>
          <p:cNvPr id="19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4" name="Text 5"/>
          <p:cNvSpPr/>
          <p:nvPr/>
        </p:nvSpPr>
        <p:spPr>
          <a:xfrm>
            <a:off x="822960" y="1463040"/>
            <a:ext cx="502884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5000" lnSpcReduction="20000"/>
          </a:bodyPr>
          <a:lstStyle/>
          <a:p>
            <a:pPr defTabSz="914400">
              <a:lnSpc>
                <a:spcPct val="100000"/>
              </a:lnSpc>
              <a:tabLst>
                <a:tab pos="0" algn="l"/>
              </a:tabLst>
            </a:pPr>
            <a:r>
              <a:rPr lang="en-US" sz="2100" b="1" u="none" strike="noStrike">
                <a:solidFill>
                  <a:srgbClr val="102A4C"/>
                </a:solidFill>
                <a:effectLst/>
                <a:uFillTx/>
                <a:latin typeface="Aptos"/>
              </a:rPr>
              <a:t>The agent does not try every plan in the real world.</a:t>
            </a:r>
            <a:endParaRPr lang="en-US" sz="2100" b="0" u="none" strike="noStrike">
              <a:solidFill>
                <a:srgbClr val="000000"/>
              </a:solidFill>
              <a:effectLst/>
              <a:uFillTx/>
              <a:latin typeface="Arial"/>
            </a:endParaRPr>
          </a:p>
        </p:txBody>
      </p:sp>
      <p:sp>
        <p:nvSpPr>
          <p:cNvPr id="195" name="Text 6"/>
          <p:cNvSpPr/>
          <p:nvPr/>
        </p:nvSpPr>
        <p:spPr>
          <a:xfrm>
            <a:off x="914400" y="2148840"/>
            <a:ext cx="5028840" cy="2742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600" b="0" u="none" strike="noStrike">
                <a:solidFill>
                  <a:srgbClr val="102A4C"/>
                </a:solidFill>
                <a:effectLst/>
                <a:uFillTx/>
                <a:latin typeface="Aptos"/>
              </a:rPr>
              <a:t>The search problem is an abstract model of the environment.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Planning happens “in simulation.”</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Your search is only as good as your model.</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Bad state/action/cost choices can produce bad behavior.</a:t>
            </a:r>
            <a:endParaRPr lang="en-US" sz="1600" b="0" u="none" strike="noStrike">
              <a:solidFill>
                <a:srgbClr val="000000"/>
              </a:solidFill>
              <a:effectLst/>
              <a:uFillTx/>
              <a:latin typeface="Arial"/>
            </a:endParaRPr>
          </a:p>
        </p:txBody>
      </p:sp>
      <p:sp>
        <p:nvSpPr>
          <p:cNvPr id="196" name="Text 7"/>
          <p:cNvSpPr/>
          <p:nvPr/>
        </p:nvSpPr>
        <p:spPr>
          <a:xfrm>
            <a:off x="6629400" y="1645920"/>
            <a:ext cx="191988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Real world</a:t>
            </a:r>
            <a:endParaRPr lang="en-US" sz="1500" b="0" u="none" strike="noStrike">
              <a:solidFill>
                <a:srgbClr val="000000"/>
              </a:solidFill>
              <a:effectLst/>
              <a:uFillTx/>
              <a:latin typeface="Arial"/>
            </a:endParaRPr>
          </a:p>
        </p:txBody>
      </p:sp>
      <p:sp>
        <p:nvSpPr>
          <p:cNvPr id="197" name="Text 8"/>
          <p:cNvSpPr/>
          <p:nvPr/>
        </p:nvSpPr>
        <p:spPr>
          <a:xfrm>
            <a:off x="9326880" y="1645920"/>
            <a:ext cx="191988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2F7FD5"/>
                </a:solidFill>
                <a:effectLst/>
                <a:uFillTx/>
                <a:latin typeface="Aptos"/>
              </a:rPr>
              <a:t>Search model</a:t>
            </a:r>
            <a:endParaRPr lang="en-US" sz="1500" b="0" u="none" strike="noStrike">
              <a:solidFill>
                <a:srgbClr val="000000"/>
              </a:solidFill>
              <a:effectLst/>
              <a:uFillTx/>
              <a:latin typeface="Arial"/>
            </a:endParaRPr>
          </a:p>
        </p:txBody>
      </p:sp>
      <p:sp>
        <p:nvSpPr>
          <p:cNvPr id="198" name="Shape 9"/>
          <p:cNvSpPr/>
          <p:nvPr/>
        </p:nvSpPr>
        <p:spPr>
          <a:xfrm>
            <a:off x="8549640" y="1892520"/>
            <a:ext cx="777240" cy="360"/>
          </a:xfrm>
          <a:prstGeom prst="line">
            <a:avLst/>
          </a:prstGeom>
          <a:ln w="2540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9" name="Text 10"/>
          <p:cNvSpPr/>
          <p:nvPr/>
        </p:nvSpPr>
        <p:spPr>
          <a:xfrm>
            <a:off x="671184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0" name="Text 11"/>
          <p:cNvSpPr/>
          <p:nvPr/>
        </p:nvSpPr>
        <p:spPr>
          <a:xfrm>
            <a:off x="712332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1" name="Text 12"/>
          <p:cNvSpPr/>
          <p:nvPr/>
        </p:nvSpPr>
        <p:spPr>
          <a:xfrm>
            <a:off x="753480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2" name="Text 13"/>
          <p:cNvSpPr/>
          <p:nvPr/>
        </p:nvSpPr>
        <p:spPr>
          <a:xfrm>
            <a:off x="794628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3" name="Text 14"/>
          <p:cNvSpPr/>
          <p:nvPr/>
        </p:nvSpPr>
        <p:spPr>
          <a:xfrm>
            <a:off x="671184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4" name="Text 15"/>
          <p:cNvSpPr/>
          <p:nvPr/>
        </p:nvSpPr>
        <p:spPr>
          <a:xfrm>
            <a:off x="712332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5" name="Text 16"/>
          <p:cNvSpPr/>
          <p:nvPr/>
        </p:nvSpPr>
        <p:spPr>
          <a:xfrm>
            <a:off x="753480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6" name="Text 17"/>
          <p:cNvSpPr/>
          <p:nvPr/>
        </p:nvSpPr>
        <p:spPr>
          <a:xfrm>
            <a:off x="794628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7" name="Text 18"/>
          <p:cNvSpPr/>
          <p:nvPr/>
        </p:nvSpPr>
        <p:spPr>
          <a:xfrm>
            <a:off x="940932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A</a:t>
            </a:r>
            <a:endParaRPr lang="en-US" sz="800" b="0" u="none" strike="noStrike">
              <a:solidFill>
                <a:srgbClr val="000000"/>
              </a:solidFill>
              <a:effectLst/>
              <a:uFillTx/>
              <a:latin typeface="Arial"/>
            </a:endParaRPr>
          </a:p>
        </p:txBody>
      </p:sp>
      <p:sp>
        <p:nvSpPr>
          <p:cNvPr id="208" name="Shape 19"/>
          <p:cNvSpPr/>
          <p:nvPr/>
        </p:nvSpPr>
        <p:spPr>
          <a:xfrm>
            <a:off x="955548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9" name="Text 20"/>
          <p:cNvSpPr/>
          <p:nvPr/>
        </p:nvSpPr>
        <p:spPr>
          <a:xfrm>
            <a:off x="977508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B</a:t>
            </a:r>
            <a:endParaRPr lang="en-US" sz="800" b="0" u="none" strike="noStrike">
              <a:solidFill>
                <a:srgbClr val="000000"/>
              </a:solidFill>
              <a:effectLst/>
              <a:uFillTx/>
              <a:latin typeface="Arial"/>
            </a:endParaRPr>
          </a:p>
        </p:txBody>
      </p:sp>
      <p:sp>
        <p:nvSpPr>
          <p:cNvPr id="210" name="Shape 21"/>
          <p:cNvSpPr/>
          <p:nvPr/>
        </p:nvSpPr>
        <p:spPr>
          <a:xfrm>
            <a:off x="992124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1" name="Text 22"/>
          <p:cNvSpPr/>
          <p:nvPr/>
        </p:nvSpPr>
        <p:spPr>
          <a:xfrm>
            <a:off x="1014084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C</a:t>
            </a:r>
            <a:endParaRPr lang="en-US" sz="800" b="0" u="none" strike="noStrike">
              <a:solidFill>
                <a:srgbClr val="000000"/>
              </a:solidFill>
              <a:effectLst/>
              <a:uFillTx/>
              <a:latin typeface="Arial"/>
            </a:endParaRPr>
          </a:p>
        </p:txBody>
      </p:sp>
      <p:sp>
        <p:nvSpPr>
          <p:cNvPr id="212" name="Shape 23"/>
          <p:cNvSpPr/>
          <p:nvPr/>
        </p:nvSpPr>
        <p:spPr>
          <a:xfrm>
            <a:off x="1028700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3" name="Text 24"/>
          <p:cNvSpPr/>
          <p:nvPr/>
        </p:nvSpPr>
        <p:spPr>
          <a:xfrm>
            <a:off x="1050660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D</a:t>
            </a:r>
            <a:endParaRPr lang="en-US" sz="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1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1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Section 3.2: Example Search Problems</a:t>
            </a:r>
            <a:endParaRPr lang="en-US" sz="2600" b="0" u="none" strike="noStrike">
              <a:solidFill>
                <a:srgbClr val="000000"/>
              </a:solidFill>
              <a:effectLst/>
              <a:uFillTx/>
              <a:latin typeface="Arial"/>
            </a:endParaRPr>
          </a:p>
        </p:txBody>
      </p:sp>
      <p:sp>
        <p:nvSpPr>
          <p:cNvPr id="21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1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19" name="Text 5"/>
          <p:cNvSpPr/>
          <p:nvPr/>
        </p:nvSpPr>
        <p:spPr>
          <a:xfrm>
            <a:off x="822960" y="1508760"/>
            <a:ext cx="5028840" cy="529920"/>
          </a:xfrm>
          <a:prstGeom prst="roundRect">
            <a:avLst>
              <a:gd name="adj" fmla="val 1379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Standardized problems</a:t>
            </a:r>
            <a:endParaRPr lang="en-US" sz="1700" b="0" u="none" strike="noStrike">
              <a:solidFill>
                <a:srgbClr val="000000"/>
              </a:solidFill>
              <a:effectLst/>
              <a:uFillTx/>
              <a:latin typeface="Arial"/>
            </a:endParaRPr>
          </a:p>
        </p:txBody>
      </p:sp>
      <p:sp>
        <p:nvSpPr>
          <p:cNvPr id="220" name="Text 6"/>
          <p:cNvSpPr/>
          <p:nvPr/>
        </p:nvSpPr>
        <p:spPr>
          <a:xfrm>
            <a:off x="1051560" y="2331720"/>
            <a:ext cx="45716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Grid worlds, vacuum world, Sokoban, sliding-tile puzzles, Knuth’s 4 problem</a:t>
            </a:r>
            <a:endParaRPr lang="en-US" sz="1600" b="0" u="none" strike="noStrike">
              <a:solidFill>
                <a:srgbClr val="000000"/>
              </a:solidFill>
              <a:effectLst/>
              <a:uFillTx/>
              <a:latin typeface="Arial"/>
            </a:endParaRPr>
          </a:p>
        </p:txBody>
      </p:sp>
      <p:sp>
        <p:nvSpPr>
          <p:cNvPr id="221" name="Text 7"/>
          <p:cNvSpPr/>
          <p:nvPr/>
        </p:nvSpPr>
        <p:spPr>
          <a:xfrm>
            <a:off x="1051560" y="3657600"/>
            <a:ext cx="45716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designed for precise algorithm comparison</a:t>
            </a:r>
            <a:endParaRPr lang="en-US" sz="1400" b="0" u="none" strike="noStrike">
              <a:solidFill>
                <a:srgbClr val="000000"/>
              </a:solidFill>
              <a:effectLst/>
              <a:uFillTx/>
              <a:latin typeface="Arial"/>
            </a:endParaRPr>
          </a:p>
        </p:txBody>
      </p:sp>
      <p:sp>
        <p:nvSpPr>
          <p:cNvPr id="222" name="Text 8"/>
          <p:cNvSpPr/>
          <p:nvPr/>
        </p:nvSpPr>
        <p:spPr>
          <a:xfrm>
            <a:off x="6400800" y="1508760"/>
            <a:ext cx="502884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Real-world problems</a:t>
            </a:r>
            <a:endParaRPr lang="en-US" sz="1700" b="0" u="none" strike="noStrike">
              <a:solidFill>
                <a:srgbClr val="000000"/>
              </a:solidFill>
              <a:effectLst/>
              <a:uFillTx/>
              <a:latin typeface="Arial"/>
            </a:endParaRPr>
          </a:p>
        </p:txBody>
      </p:sp>
      <p:sp>
        <p:nvSpPr>
          <p:cNvPr id="223" name="Text 9"/>
          <p:cNvSpPr/>
          <p:nvPr/>
        </p:nvSpPr>
        <p:spPr>
          <a:xfrm>
            <a:off x="6629400" y="2331720"/>
            <a:ext cx="45716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Route finding, airline planning, TSP, VLSI layout, robot navigation, assembly sequencing</a:t>
            </a:r>
            <a:endParaRPr lang="en-US" sz="1600" b="0" u="none" strike="noStrike">
              <a:solidFill>
                <a:srgbClr val="000000"/>
              </a:solidFill>
              <a:effectLst/>
              <a:uFillTx/>
              <a:latin typeface="Arial"/>
            </a:endParaRPr>
          </a:p>
        </p:txBody>
      </p:sp>
      <p:sp>
        <p:nvSpPr>
          <p:cNvPr id="224" name="Text 10"/>
          <p:cNvSpPr/>
          <p:nvPr/>
        </p:nvSpPr>
        <p:spPr>
          <a:xfrm>
            <a:off x="6629400" y="3657600"/>
            <a:ext cx="45716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messy sensors, constraints, costs, and failure modes</a:t>
            </a:r>
            <a:endParaRPr lang="en-US" sz="1400" b="0" u="none" strike="noStrike">
              <a:solidFill>
                <a:srgbClr val="000000"/>
              </a:solidFill>
              <a:effectLst/>
              <a:uFillTx/>
              <a:latin typeface="Arial"/>
            </a:endParaRPr>
          </a:p>
        </p:txBody>
      </p:sp>
      <p:sp>
        <p:nvSpPr>
          <p:cNvPr id="225" name="Text 11"/>
          <p:cNvSpPr/>
          <p:nvPr/>
        </p:nvSpPr>
        <p:spPr>
          <a:xfrm>
            <a:off x="914400" y="5166360"/>
            <a:ext cx="1033236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Benchmarking teaches algorithms; formulation determines whether algorithms help in practice.</a:t>
            </a:r>
            <a:endParaRPr lang="en-US" sz="1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2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2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2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Grid Worlds and Sokoban</a:t>
            </a:r>
            <a:endParaRPr lang="en-US" sz="2600" b="0" u="none" strike="noStrike">
              <a:solidFill>
                <a:srgbClr val="000000"/>
              </a:solidFill>
              <a:effectLst/>
              <a:uFillTx/>
              <a:latin typeface="Arial"/>
            </a:endParaRPr>
          </a:p>
        </p:txBody>
      </p:sp>
      <p:sp>
        <p:nvSpPr>
          <p:cNvPr id="22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3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31" name="Rounded Rectangle 6"/>
          <p:cNvSpPr/>
          <p:nvPr/>
        </p:nvSpPr>
        <p:spPr>
          <a:xfrm>
            <a:off x="77724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Grid world: the general pattern</a:t>
            </a:r>
            <a:endParaRPr lang="en-US" sz="1400" b="0" u="none" strike="noStrike">
              <a:solidFill>
                <a:srgbClr val="000000"/>
              </a:solidFill>
              <a:effectLst/>
              <a:uFillTx/>
              <a:latin typeface="Arial"/>
            </a:endParaRPr>
          </a:p>
        </p:txBody>
      </p:sp>
      <p:sp>
        <p:nvSpPr>
          <p:cNvPr id="232" name="Rounded Rectangle 7"/>
          <p:cNvSpPr/>
          <p:nvPr/>
        </p:nvSpPr>
        <p:spPr>
          <a:xfrm>
            <a:off x="777240" y="187452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3" name="Rectangle 8"/>
          <p:cNvSpPr/>
          <p:nvPr/>
        </p:nvSpPr>
        <p:spPr>
          <a:xfrm>
            <a:off x="1005840" y="201168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A rectangular array of cells; the agent moves between obstacle-free adjacent cells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Cells may hold objects the agent can pick up or push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Walls and obstacles block movement entirely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vacuum world is a grid world: n cells gives n · 2ⁿ states</a:t>
            </a:r>
            <a:endParaRPr lang="en-US" sz="1300" b="0" u="none" strike="noStrike">
              <a:solidFill>
                <a:srgbClr val="000000"/>
              </a:solidFill>
              <a:effectLst/>
              <a:uFillTx/>
              <a:latin typeface="Arial"/>
            </a:endParaRPr>
          </a:p>
        </p:txBody>
      </p:sp>
      <p:sp>
        <p:nvSpPr>
          <p:cNvPr id="234" name="Rounded Rectangle 9"/>
          <p:cNvSpPr/>
          <p:nvPr/>
        </p:nvSpPr>
        <p:spPr>
          <a:xfrm>
            <a:off x="777240" y="3703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A real design choice: how to name the actions</a:t>
            </a:r>
            <a:endParaRPr lang="en-US" sz="1350" b="0" u="none" strike="noStrike">
              <a:solidFill>
                <a:srgbClr val="000000"/>
              </a:solidFill>
              <a:effectLst/>
              <a:uFillTx/>
              <a:latin typeface="Arial"/>
            </a:endParaRPr>
          </a:p>
        </p:txBody>
      </p:sp>
      <p:sp>
        <p:nvSpPr>
          <p:cNvPr id="235" name="Rounded Rectangle 10"/>
          <p:cNvSpPr/>
          <p:nvPr/>
        </p:nvSpPr>
        <p:spPr>
          <a:xfrm>
            <a:off x="777240" y="4160520"/>
            <a:ext cx="502884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6" name="Rectangle 11"/>
          <p:cNvSpPr/>
          <p:nvPr/>
        </p:nvSpPr>
        <p:spPr>
          <a:xfrm>
            <a:off x="1005840" y="4251960"/>
            <a:ext cx="45716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50" b="0" u="none" strike="noStrike">
                <a:solidFill>
                  <a:srgbClr val="102A4C"/>
                </a:solidFill>
                <a:effectLst/>
                <a:uFillTx/>
                <a:latin typeface="Aptos"/>
              </a:rPr>
              <a:t>Absolute: Up, Down, Left, Right — four actions, no orientation in the state.   Egocentric: Forward, Backward, TurnLeft, TurnRight — fewer move actions, but the state must now carry a facing.</a:t>
            </a:r>
            <a:endParaRPr lang="en-US" sz="1250" b="0" u="none" strike="noStrike">
              <a:solidFill>
                <a:srgbClr val="000000"/>
              </a:solidFill>
              <a:effectLst/>
              <a:uFillTx/>
              <a:latin typeface="Arial"/>
            </a:endParaRPr>
          </a:p>
        </p:txBody>
      </p:sp>
      <p:sp>
        <p:nvSpPr>
          <p:cNvPr id="237" name="Rounded Rectangle 12"/>
          <p:cNvSpPr/>
          <p:nvPr/>
        </p:nvSpPr>
        <p:spPr>
          <a:xfrm>
            <a:off x="638568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Sokoban</a:t>
            </a:r>
            <a:endParaRPr lang="en-US" sz="1400" b="0" u="none" strike="noStrike">
              <a:solidFill>
                <a:srgbClr val="000000"/>
              </a:solidFill>
              <a:effectLst/>
              <a:uFillTx/>
              <a:latin typeface="Arial"/>
            </a:endParaRPr>
          </a:p>
        </p:txBody>
      </p:sp>
      <p:sp>
        <p:nvSpPr>
          <p:cNvPr id="238" name="Rectangle 13"/>
          <p:cNvSpPr/>
          <p:nvPr/>
        </p:nvSpPr>
        <p:spPr>
          <a:xfrm>
            <a:off x="67057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9" name="Rectangle 14"/>
          <p:cNvSpPr/>
          <p:nvPr/>
        </p:nvSpPr>
        <p:spPr>
          <a:xfrm>
            <a:off x="702576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0" name="Rectangle 15"/>
          <p:cNvSpPr/>
          <p:nvPr/>
        </p:nvSpPr>
        <p:spPr>
          <a:xfrm>
            <a:off x="734580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1" name="Rectangle 16"/>
          <p:cNvSpPr/>
          <p:nvPr/>
        </p:nvSpPr>
        <p:spPr>
          <a:xfrm>
            <a:off x="766584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2" name="Rectangle 17"/>
          <p:cNvSpPr/>
          <p:nvPr/>
        </p:nvSpPr>
        <p:spPr>
          <a:xfrm>
            <a:off x="798588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3" name="Rectangle 18"/>
          <p:cNvSpPr/>
          <p:nvPr/>
        </p:nvSpPr>
        <p:spPr>
          <a:xfrm>
            <a:off x="83059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4" name="Rectangle 19"/>
          <p:cNvSpPr/>
          <p:nvPr/>
        </p:nvSpPr>
        <p:spPr>
          <a:xfrm>
            <a:off x="67057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5" name="Rectangle 20"/>
          <p:cNvSpPr/>
          <p:nvPr/>
        </p:nvSpPr>
        <p:spPr>
          <a:xfrm>
            <a:off x="702576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6" name="Rectangle 21"/>
          <p:cNvSpPr/>
          <p:nvPr/>
        </p:nvSpPr>
        <p:spPr>
          <a:xfrm>
            <a:off x="734580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7" name="Rectangle 22"/>
          <p:cNvSpPr/>
          <p:nvPr/>
        </p:nvSpPr>
        <p:spPr>
          <a:xfrm>
            <a:off x="7414200" y="235476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8" name="Rectangle 23"/>
          <p:cNvSpPr/>
          <p:nvPr/>
        </p:nvSpPr>
        <p:spPr>
          <a:xfrm>
            <a:off x="766584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9" name="Rectangle 24"/>
          <p:cNvSpPr/>
          <p:nvPr/>
        </p:nvSpPr>
        <p:spPr>
          <a:xfrm>
            <a:off x="798588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0" name="Rectangle 25"/>
          <p:cNvSpPr/>
          <p:nvPr/>
        </p:nvSpPr>
        <p:spPr>
          <a:xfrm>
            <a:off x="83059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1" name="Rectangle 26"/>
          <p:cNvSpPr/>
          <p:nvPr/>
        </p:nvSpPr>
        <p:spPr>
          <a:xfrm>
            <a:off x="67057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2" name="Rectangle 27"/>
          <p:cNvSpPr/>
          <p:nvPr/>
        </p:nvSpPr>
        <p:spPr>
          <a:xfrm>
            <a:off x="702576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3" name="Oval 28"/>
          <p:cNvSpPr/>
          <p:nvPr/>
        </p:nvSpPr>
        <p:spPr>
          <a:xfrm>
            <a:off x="7082640" y="2663280"/>
            <a:ext cx="205560" cy="205560"/>
          </a:xfrm>
          <a:prstGeom prst="ellipse">
            <a:avLst/>
          </a:prstGeom>
          <a:solidFill>
            <a:srgbClr val="2F7FD5"/>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FFFFFF"/>
              </a:solidFill>
              <a:effectLst/>
              <a:uFillTx/>
              <a:latin typeface="Arial"/>
            </a:endParaRPr>
          </a:p>
        </p:txBody>
      </p:sp>
      <p:sp>
        <p:nvSpPr>
          <p:cNvPr id="254" name="Rectangle 29"/>
          <p:cNvSpPr/>
          <p:nvPr/>
        </p:nvSpPr>
        <p:spPr>
          <a:xfrm>
            <a:off x="734580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5" name="Rectangle 30"/>
          <p:cNvSpPr/>
          <p:nvPr/>
        </p:nvSpPr>
        <p:spPr>
          <a:xfrm>
            <a:off x="766584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6" name="Rectangle 31"/>
          <p:cNvSpPr/>
          <p:nvPr/>
        </p:nvSpPr>
        <p:spPr>
          <a:xfrm>
            <a:off x="7734240" y="267480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7" name="Rectangle 32"/>
          <p:cNvSpPr/>
          <p:nvPr/>
        </p:nvSpPr>
        <p:spPr>
          <a:xfrm>
            <a:off x="798588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8" name="Rectangle 33"/>
          <p:cNvSpPr/>
          <p:nvPr/>
        </p:nvSpPr>
        <p:spPr>
          <a:xfrm>
            <a:off x="83059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9" name="Rectangle 34"/>
          <p:cNvSpPr/>
          <p:nvPr/>
        </p:nvSpPr>
        <p:spPr>
          <a:xfrm>
            <a:off x="67057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0" name="Rectangle 35"/>
          <p:cNvSpPr/>
          <p:nvPr/>
        </p:nvSpPr>
        <p:spPr>
          <a:xfrm>
            <a:off x="702576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1" name="Rectangle 36"/>
          <p:cNvSpPr/>
          <p:nvPr/>
        </p:nvSpPr>
        <p:spPr>
          <a:xfrm>
            <a:off x="734580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2" name="Rectangle 37"/>
          <p:cNvSpPr/>
          <p:nvPr/>
        </p:nvSpPr>
        <p:spPr>
          <a:xfrm>
            <a:off x="766584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3" name="Rectangle 38"/>
          <p:cNvSpPr/>
          <p:nvPr/>
        </p:nvSpPr>
        <p:spPr>
          <a:xfrm>
            <a:off x="798588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4" name="Rectangle 39"/>
          <p:cNvSpPr/>
          <p:nvPr/>
        </p:nvSpPr>
        <p:spPr>
          <a:xfrm>
            <a:off x="83059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5" name="Rectangle 40"/>
          <p:cNvSpPr/>
          <p:nvPr/>
        </p:nvSpPr>
        <p:spPr>
          <a:xfrm>
            <a:off x="67057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6" name="Rectangle 41"/>
          <p:cNvSpPr/>
          <p:nvPr/>
        </p:nvSpPr>
        <p:spPr>
          <a:xfrm>
            <a:off x="702576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7" name="Rectangle 42"/>
          <p:cNvSpPr/>
          <p:nvPr/>
        </p:nvSpPr>
        <p:spPr>
          <a:xfrm>
            <a:off x="734580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8" name="Rectangle 43"/>
          <p:cNvSpPr/>
          <p:nvPr/>
        </p:nvSpPr>
        <p:spPr>
          <a:xfrm>
            <a:off x="766584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9" name="Rectangle 44"/>
          <p:cNvSpPr/>
          <p:nvPr/>
        </p:nvSpPr>
        <p:spPr>
          <a:xfrm>
            <a:off x="798588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0" name="Rectangle 45"/>
          <p:cNvSpPr/>
          <p:nvPr/>
        </p:nvSpPr>
        <p:spPr>
          <a:xfrm>
            <a:off x="83059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1" name="Rectangle 46"/>
          <p:cNvSpPr/>
          <p:nvPr/>
        </p:nvSpPr>
        <p:spPr>
          <a:xfrm>
            <a:off x="670572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2F7FD5"/>
                </a:solidFill>
                <a:effectLst/>
                <a:uFillTx/>
                <a:latin typeface="Aptos"/>
              </a:rPr>
              <a:t>agent</a:t>
            </a:r>
            <a:endParaRPr lang="en-US" sz="1100" b="0" u="none" strike="noStrike">
              <a:solidFill>
                <a:srgbClr val="000000"/>
              </a:solidFill>
              <a:effectLst/>
              <a:uFillTx/>
              <a:latin typeface="Arial"/>
            </a:endParaRPr>
          </a:p>
        </p:txBody>
      </p:sp>
      <p:sp>
        <p:nvSpPr>
          <p:cNvPr id="272" name="Rectangle 47"/>
          <p:cNvSpPr/>
          <p:nvPr/>
        </p:nvSpPr>
        <p:spPr>
          <a:xfrm>
            <a:off x="812304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112E5C"/>
                </a:solidFill>
                <a:effectLst/>
                <a:uFillTx/>
                <a:latin typeface="Aptos"/>
              </a:rPr>
              <a:t>box</a:t>
            </a:r>
            <a:endParaRPr lang="en-US" sz="1100" b="0" u="none" strike="noStrike">
              <a:solidFill>
                <a:srgbClr val="000000"/>
              </a:solidFill>
              <a:effectLst/>
              <a:uFillTx/>
              <a:latin typeface="Arial"/>
            </a:endParaRPr>
          </a:p>
        </p:txBody>
      </p:sp>
      <p:sp>
        <p:nvSpPr>
          <p:cNvPr id="273" name="Rectangle 48"/>
          <p:cNvSpPr/>
          <p:nvPr/>
        </p:nvSpPr>
        <p:spPr>
          <a:xfrm>
            <a:off x="958608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F6A01A"/>
                </a:solidFill>
                <a:effectLst/>
                <a:uFillTx/>
                <a:latin typeface="Aptos"/>
              </a:rPr>
              <a:t>storage</a:t>
            </a:r>
            <a:endParaRPr lang="en-US" sz="1100" b="0" u="none" strike="noStrike">
              <a:solidFill>
                <a:srgbClr val="000000"/>
              </a:solidFill>
              <a:effectLst/>
              <a:uFillTx/>
              <a:latin typeface="Arial"/>
            </a:endParaRPr>
          </a:p>
        </p:txBody>
      </p:sp>
      <p:sp>
        <p:nvSpPr>
          <p:cNvPr id="274" name="Rounded Rectangle 49"/>
          <p:cNvSpPr/>
          <p:nvPr/>
        </p:nvSpPr>
        <p:spPr>
          <a:xfrm>
            <a:off x="6385680" y="3931920"/>
            <a:ext cx="5028840" cy="10512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5" name="Rectangle 50"/>
          <p:cNvSpPr/>
          <p:nvPr/>
        </p:nvSpPr>
        <p:spPr>
          <a:xfrm>
            <a:off x="6614280" y="4023360"/>
            <a:ext cx="4571640" cy="8683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499"/>
              </a:spcAft>
            </a:pPr>
            <a:r>
              <a:rPr lang="en-US" sz="1250" b="0" u="none" strike="noStrike">
                <a:solidFill>
                  <a:srgbClr val="102A4C"/>
                </a:solidFill>
                <a:effectLst/>
                <a:uFillTx/>
                <a:latin typeface="Aptos"/>
              </a:rPr>
              <a:t>•  Push a box only if the cell beyond it is empty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At most one box per cell; no pushing a box into a box or a wall</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An 8 × 8 grid with a dozen boxes: over 200 trillion states</a:t>
            </a:r>
            <a:endParaRPr lang="en-US" sz="1250" b="0" u="none" strike="noStrike">
              <a:solidFill>
                <a:srgbClr val="000000"/>
              </a:solidFill>
              <a:effectLst/>
              <a:uFillTx/>
              <a:latin typeface="Arial"/>
            </a:endParaRPr>
          </a:p>
        </p:txBody>
      </p:sp>
      <p:sp>
        <p:nvSpPr>
          <p:cNvPr id="276" name="Rectangle 51"/>
          <p:cNvSpPr/>
          <p:nvPr/>
        </p:nvSpPr>
        <p:spPr>
          <a:xfrm>
            <a:off x="914400" y="51663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Same movement rules, wildly different state spaces — because Sokoban's state must track where every box is.</a:t>
            </a:r>
            <a:endParaRPr lang="en-US" sz="17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7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Worked Example: The 8-Puzzle</a:t>
            </a:r>
            <a:endParaRPr lang="en-US" sz="2600" b="0" u="none" strike="noStrike">
              <a:solidFill>
                <a:srgbClr val="000000"/>
              </a:solidFill>
              <a:effectLst/>
              <a:uFillTx/>
              <a:latin typeface="Arial"/>
            </a:endParaRPr>
          </a:p>
        </p:txBody>
      </p:sp>
      <p:sp>
        <p:nvSpPr>
          <p:cNvPr id="28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8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82" name="Rectangle 6"/>
          <p:cNvSpPr/>
          <p:nvPr/>
        </p:nvSpPr>
        <p:spPr>
          <a:xfrm>
            <a:off x="100584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283" name="Rectangle 7"/>
          <p:cNvSpPr/>
          <p:nvPr/>
        </p:nvSpPr>
        <p:spPr>
          <a:xfrm>
            <a:off x="150876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84" name="Rectangle 8"/>
          <p:cNvSpPr/>
          <p:nvPr/>
        </p:nvSpPr>
        <p:spPr>
          <a:xfrm>
            <a:off x="201168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85" name="Rectangle 9"/>
          <p:cNvSpPr/>
          <p:nvPr/>
        </p:nvSpPr>
        <p:spPr>
          <a:xfrm>
            <a:off x="100584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86" name="Rectangle 10"/>
          <p:cNvSpPr/>
          <p:nvPr/>
        </p:nvSpPr>
        <p:spPr>
          <a:xfrm>
            <a:off x="1508760" y="246888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87" name="Rectangle 11"/>
          <p:cNvSpPr/>
          <p:nvPr/>
        </p:nvSpPr>
        <p:spPr>
          <a:xfrm>
            <a:off x="2011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88" name="Rectangle 12"/>
          <p:cNvSpPr/>
          <p:nvPr/>
        </p:nvSpPr>
        <p:spPr>
          <a:xfrm>
            <a:off x="100584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289" name="Rectangle 13"/>
          <p:cNvSpPr/>
          <p:nvPr/>
        </p:nvSpPr>
        <p:spPr>
          <a:xfrm>
            <a:off x="150876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0" name="Rectangle 14"/>
          <p:cNvSpPr/>
          <p:nvPr/>
        </p:nvSpPr>
        <p:spPr>
          <a:xfrm>
            <a:off x="2011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1" name="Rectangle 15"/>
          <p:cNvSpPr/>
          <p:nvPr/>
        </p:nvSpPr>
        <p:spPr>
          <a:xfrm>
            <a:off x="86868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Start state</a:t>
            </a:r>
            <a:endParaRPr lang="en-US" sz="1150" b="0" u="none" strike="noStrike">
              <a:solidFill>
                <a:srgbClr val="000000"/>
              </a:solidFill>
              <a:effectLst/>
              <a:uFillTx/>
              <a:latin typeface="Arial"/>
            </a:endParaRPr>
          </a:p>
        </p:txBody>
      </p:sp>
      <p:sp>
        <p:nvSpPr>
          <p:cNvPr id="292" name="Rectangle 16"/>
          <p:cNvSpPr/>
          <p:nvPr/>
        </p:nvSpPr>
        <p:spPr>
          <a:xfrm>
            <a:off x="3154680" y="196596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93" name="Rectangle 17"/>
          <p:cNvSpPr/>
          <p:nvPr/>
        </p:nvSpPr>
        <p:spPr>
          <a:xfrm>
            <a:off x="365760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4" name="Rectangle 18"/>
          <p:cNvSpPr/>
          <p:nvPr/>
        </p:nvSpPr>
        <p:spPr>
          <a:xfrm>
            <a:off x="416052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95" name="Rectangle 19"/>
          <p:cNvSpPr/>
          <p:nvPr/>
        </p:nvSpPr>
        <p:spPr>
          <a:xfrm>
            <a:off x="3154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6" name="Rectangle 20"/>
          <p:cNvSpPr/>
          <p:nvPr/>
        </p:nvSpPr>
        <p:spPr>
          <a:xfrm>
            <a:off x="365760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97" name="Rectangle 21"/>
          <p:cNvSpPr/>
          <p:nvPr/>
        </p:nvSpPr>
        <p:spPr>
          <a:xfrm>
            <a:off x="416052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98" name="Rectangle 22"/>
          <p:cNvSpPr/>
          <p:nvPr/>
        </p:nvSpPr>
        <p:spPr>
          <a:xfrm>
            <a:off x="3154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99" name="Rectangle 23"/>
          <p:cNvSpPr/>
          <p:nvPr/>
        </p:nvSpPr>
        <p:spPr>
          <a:xfrm>
            <a:off x="365760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300" name="Rectangle 24"/>
          <p:cNvSpPr/>
          <p:nvPr/>
        </p:nvSpPr>
        <p:spPr>
          <a:xfrm>
            <a:off x="416052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301" name="Rectangle 25"/>
          <p:cNvSpPr/>
          <p:nvPr/>
        </p:nvSpPr>
        <p:spPr>
          <a:xfrm>
            <a:off x="301752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Goal state</a:t>
            </a:r>
            <a:endParaRPr lang="en-US" sz="1150" b="0" u="none" strike="noStrike">
              <a:solidFill>
                <a:srgbClr val="000000"/>
              </a:solidFill>
              <a:effectLst/>
              <a:uFillTx/>
              <a:latin typeface="Arial"/>
            </a:endParaRPr>
          </a:p>
        </p:txBody>
      </p:sp>
      <p:sp>
        <p:nvSpPr>
          <p:cNvPr id="302" name="Right Arrow 26"/>
          <p:cNvSpPr/>
          <p:nvPr/>
        </p:nvSpPr>
        <p:spPr>
          <a:xfrm>
            <a:off x="2606040" y="3017520"/>
            <a:ext cx="456840" cy="228240"/>
          </a:xfrm>
          <a:prstGeom prst="rightArrow">
            <a:avLst>
              <a:gd name="adj1" fmla="val 50000"/>
              <a:gd name="adj2" fmla="val 50000"/>
            </a:avLst>
          </a:prstGeom>
          <a:solidFill>
            <a:srgbClr val="F6A01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303" name="Rounded Rectangle 27"/>
          <p:cNvSpPr/>
          <p:nvPr/>
        </p:nvSpPr>
        <p:spPr>
          <a:xfrm>
            <a:off x="530352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304" name="Rectangle 28"/>
          <p:cNvSpPr/>
          <p:nvPr/>
        </p:nvSpPr>
        <p:spPr>
          <a:xfrm>
            <a:off x="7223760" y="14173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Location of each tile and of the blank in the 3 × 3 grid</a:t>
            </a:r>
            <a:endParaRPr lang="en-US" sz="1300" b="0" u="none" strike="noStrike">
              <a:solidFill>
                <a:srgbClr val="000000"/>
              </a:solidFill>
              <a:effectLst/>
              <a:uFillTx/>
              <a:latin typeface="Arial"/>
            </a:endParaRPr>
          </a:p>
        </p:txBody>
      </p:sp>
      <p:sp>
        <p:nvSpPr>
          <p:cNvPr id="305" name="Rounded Rectangle 29"/>
          <p:cNvSpPr/>
          <p:nvPr/>
        </p:nvSpPr>
        <p:spPr>
          <a:xfrm>
            <a:off x="5303520" y="19659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306" name="Rectangle 30"/>
          <p:cNvSpPr/>
          <p:nvPr/>
        </p:nvSpPr>
        <p:spPr>
          <a:xfrm>
            <a:off x="7223760" y="196596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Any configuration; a parity property makes only half reachable</a:t>
            </a:r>
            <a:endParaRPr lang="en-US" sz="1300" b="0" u="none" strike="noStrike">
              <a:solidFill>
                <a:srgbClr val="000000"/>
              </a:solidFill>
              <a:effectLst/>
              <a:uFillTx/>
              <a:latin typeface="Arial"/>
            </a:endParaRPr>
          </a:p>
        </p:txBody>
      </p:sp>
      <p:sp>
        <p:nvSpPr>
          <p:cNvPr id="307" name="Rounded Rectangle 31"/>
          <p:cNvSpPr/>
          <p:nvPr/>
        </p:nvSpPr>
        <p:spPr>
          <a:xfrm>
            <a:off x="5303520" y="25146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308" name="Rectangle 32"/>
          <p:cNvSpPr/>
          <p:nvPr/>
        </p:nvSpPr>
        <p:spPr>
          <a:xfrm>
            <a:off x="7223760" y="251460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Move the blank Left, Right, Up, or Down</a:t>
            </a:r>
            <a:endParaRPr lang="en-US" sz="1300" b="0" u="none" strike="noStrike">
              <a:solidFill>
                <a:srgbClr val="000000"/>
              </a:solidFill>
              <a:effectLst/>
              <a:uFillTx/>
              <a:latin typeface="Arial"/>
            </a:endParaRPr>
          </a:p>
        </p:txBody>
      </p:sp>
      <p:sp>
        <p:nvSpPr>
          <p:cNvPr id="309" name="Rounded Rectangle 33"/>
          <p:cNvSpPr/>
          <p:nvPr/>
        </p:nvSpPr>
        <p:spPr>
          <a:xfrm>
            <a:off x="5303520" y="3063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310" name="Rectangle 34"/>
          <p:cNvSpPr/>
          <p:nvPr/>
        </p:nvSpPr>
        <p:spPr>
          <a:xfrm>
            <a:off x="7223760" y="306324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Applying Left to the start state swaps the 5 and the blank</a:t>
            </a:r>
            <a:endParaRPr lang="en-US" sz="1300" b="0" u="none" strike="noStrike">
              <a:solidFill>
                <a:srgbClr val="000000"/>
              </a:solidFill>
              <a:effectLst/>
              <a:uFillTx/>
              <a:latin typeface="Arial"/>
            </a:endParaRPr>
          </a:p>
        </p:txBody>
      </p:sp>
      <p:sp>
        <p:nvSpPr>
          <p:cNvPr id="311" name="Rounded Rectangle 35"/>
          <p:cNvSpPr/>
          <p:nvPr/>
        </p:nvSpPr>
        <p:spPr>
          <a:xfrm>
            <a:off x="5303520" y="36118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312" name="Rectangle 36"/>
          <p:cNvSpPr/>
          <p:nvPr/>
        </p:nvSpPr>
        <p:spPr>
          <a:xfrm>
            <a:off x="7223760" y="361188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Tiles in the specified order, blank in the corner</a:t>
            </a:r>
            <a:endParaRPr lang="en-US" sz="1300" b="0" u="none" strike="noStrike">
              <a:solidFill>
                <a:srgbClr val="000000"/>
              </a:solidFill>
              <a:effectLst/>
              <a:uFillTx/>
              <a:latin typeface="Arial"/>
            </a:endParaRPr>
          </a:p>
        </p:txBody>
      </p:sp>
      <p:sp>
        <p:nvSpPr>
          <p:cNvPr id="313" name="Rounded Rectangle 37"/>
          <p:cNvSpPr/>
          <p:nvPr/>
        </p:nvSpPr>
        <p:spPr>
          <a:xfrm>
            <a:off x="5303520" y="41605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314" name="Rectangle 38"/>
          <p:cNvSpPr/>
          <p:nvPr/>
        </p:nvSpPr>
        <p:spPr>
          <a:xfrm>
            <a:off x="7223760" y="41605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1 per move, so path cost = number of moves</a:t>
            </a:r>
            <a:endParaRPr lang="en-US" sz="1300" b="0" u="none" strike="noStrike">
              <a:solidFill>
                <a:srgbClr val="000000"/>
              </a:solidFill>
              <a:effectLst/>
              <a:uFillTx/>
              <a:latin typeface="Arial"/>
            </a:endParaRPr>
          </a:p>
        </p:txBody>
      </p:sp>
      <p:sp>
        <p:nvSpPr>
          <p:cNvPr id="315" name="Rectangle 39"/>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8-puzzle: 9!/2 = 181,440 reachable states.   15-puzzle: about 1.3 trillion.   24-puzzle: about 10²⁵.</a:t>
            </a:r>
            <a:endParaRPr lang="en-US" sz="1700" b="0" u="none" strike="noStrike">
              <a:solidFill>
                <a:srgbClr val="000000"/>
              </a:solidFill>
              <a:effectLst/>
              <a:uFillTx/>
              <a:latin typeface="Arial"/>
            </a:endParaRPr>
          </a:p>
        </p:txBody>
      </p:sp>
      <p:sp>
        <p:nvSpPr>
          <p:cNvPr id="316" name="Rectangle 40"/>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Even this is an abstraction: no sliding motion, no shaking the board, no prying tiles out with a knife.</a:t>
            </a:r>
            <a:endParaRPr lang="en-US" sz="15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1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1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1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Infinite State Spaces: Knuth's “4” Problem</a:t>
            </a:r>
            <a:endParaRPr lang="en-US" sz="2600" b="0" u="none" strike="noStrike">
              <a:solidFill>
                <a:srgbClr val="000000"/>
              </a:solidFill>
              <a:effectLst/>
              <a:uFillTx/>
              <a:latin typeface="Arial"/>
            </a:endParaRPr>
          </a:p>
        </p:txBody>
      </p:sp>
      <p:sp>
        <p:nvSpPr>
          <p:cNvPr id="32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22" name="Rounded Rectangle 6"/>
          <p:cNvSpPr/>
          <p:nvPr/>
        </p:nvSpPr>
        <p:spPr>
          <a:xfrm>
            <a:off x="777240" y="1417320"/>
            <a:ext cx="5028840" cy="25599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23" name="Rounded Rectangle 7"/>
          <p:cNvSpPr/>
          <p:nvPr/>
        </p:nvSpPr>
        <p:spPr>
          <a:xfrm>
            <a:off x="1005840" y="1280160"/>
            <a:ext cx="20113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The formulation</a:t>
            </a:r>
            <a:endParaRPr lang="en-US" sz="1300" b="0" u="none" strike="noStrike">
              <a:solidFill>
                <a:srgbClr val="000000"/>
              </a:solidFill>
              <a:effectLst/>
              <a:uFillTx/>
              <a:latin typeface="Arial"/>
            </a:endParaRPr>
          </a:p>
        </p:txBody>
      </p:sp>
      <p:sp>
        <p:nvSpPr>
          <p:cNvPr id="324" name="Rectangle 8"/>
          <p:cNvSpPr/>
          <p:nvPr/>
        </p:nvSpPr>
        <p:spPr>
          <a:xfrm>
            <a:off x="1051560" y="1920240"/>
            <a:ext cx="4480200" cy="191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1" u="none" strike="noStrike">
                <a:solidFill>
                  <a:srgbClr val="112E5C"/>
                </a:solidFill>
                <a:effectLst/>
                <a:uFillTx/>
                <a:latin typeface="Aptos"/>
              </a:rPr>
              <a:t>States:  </a:t>
            </a:r>
            <a:r>
              <a:rPr lang="en-US" sz="1350" b="0" u="none" strike="noStrike">
                <a:solidFill>
                  <a:srgbClr val="102A4C"/>
                </a:solidFill>
                <a:effectLst/>
                <a:uFillTx/>
                <a:latin typeface="Aptos"/>
              </a:rPr>
              <a:t>positive real numbers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Initial state:  </a:t>
            </a:r>
            <a:r>
              <a:rPr lang="en-US" sz="1350" b="0" u="none" strike="noStrike">
                <a:solidFill>
                  <a:srgbClr val="102A4C"/>
                </a:solidFill>
                <a:effectLst/>
                <a:uFillTx/>
                <a:latin typeface="Aptos"/>
              </a:rPr>
              <a:t>4</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Actions:  </a:t>
            </a:r>
            <a:r>
              <a:rPr lang="en-US" sz="1350" b="0" u="none" strike="noStrike">
                <a:solidFill>
                  <a:srgbClr val="102A4C"/>
                </a:solidFill>
                <a:effectLst/>
                <a:uFillTx/>
                <a:latin typeface="Aptos"/>
              </a:rPr>
              <a:t>square root, floor, factorial (factorial on integers only)</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Transition:  </a:t>
            </a:r>
            <a:r>
              <a:rPr lang="en-US" sz="1350" b="0" u="none" strike="noStrike">
                <a:solidFill>
                  <a:srgbClr val="102A4C"/>
                </a:solidFill>
                <a:effectLst/>
                <a:uFillTx/>
                <a:latin typeface="Aptos"/>
              </a:rPr>
              <a:t>as given by the mathematical definitions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Goal state:  </a:t>
            </a:r>
            <a:r>
              <a:rPr lang="en-US" sz="1350" b="0" u="none" strike="noStrike">
                <a:solidFill>
                  <a:srgbClr val="102A4C"/>
                </a:solidFill>
                <a:effectLst/>
                <a:uFillTx/>
                <a:latin typeface="Aptos"/>
              </a:rPr>
              <a:t>the desired positive integer</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 cost:  </a:t>
            </a:r>
            <a:r>
              <a:rPr lang="en-US" sz="1350" b="0" u="none" strike="noStrike">
                <a:solidFill>
                  <a:srgbClr val="102A4C"/>
                </a:solidFill>
                <a:effectLst/>
                <a:uFillTx/>
                <a:latin typeface="Aptos"/>
              </a:rPr>
              <a:t>1 per operation</a:t>
            </a:r>
            <a:endParaRPr lang="en-US" sz="1350" b="0" u="none" strike="noStrike">
              <a:solidFill>
                <a:srgbClr val="000000"/>
              </a:solidFill>
              <a:effectLst/>
              <a:uFillTx/>
              <a:latin typeface="Arial"/>
            </a:endParaRPr>
          </a:p>
        </p:txBody>
      </p:sp>
      <p:sp>
        <p:nvSpPr>
          <p:cNvPr id="325" name="Rectangle 9"/>
          <p:cNvSpPr/>
          <p:nvPr/>
        </p:nvSpPr>
        <p:spPr>
          <a:xfrm>
            <a:off x="6385680" y="1554480"/>
            <a:ext cx="5028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4000" b="1" u="none" strike="noStrike">
                <a:solidFill>
                  <a:srgbClr val="112E5C"/>
                </a:solidFill>
                <a:effectLst/>
                <a:uFillTx/>
                <a:latin typeface="Aptos"/>
              </a:rPr>
              <a:t>(4!)!</a:t>
            </a:r>
            <a:endParaRPr lang="en-US" sz="4000" b="0" u="none" strike="noStrike">
              <a:solidFill>
                <a:srgbClr val="000000"/>
              </a:solidFill>
              <a:effectLst/>
              <a:uFillTx/>
              <a:latin typeface="Arial"/>
            </a:endParaRPr>
          </a:p>
        </p:txBody>
      </p:sp>
      <p:sp>
        <p:nvSpPr>
          <p:cNvPr id="326" name="Rectangle 10"/>
          <p:cNvSpPr/>
          <p:nvPr/>
        </p:nvSpPr>
        <p:spPr>
          <a:xfrm>
            <a:off x="6385680" y="2057400"/>
            <a:ext cx="5028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the second step on the way to 5</a:t>
            </a:r>
            <a:endParaRPr lang="en-US" sz="1200" b="0" u="none" strike="noStrike">
              <a:solidFill>
                <a:srgbClr val="000000"/>
              </a:solidFill>
              <a:effectLst/>
              <a:uFillTx/>
              <a:latin typeface="Arial"/>
            </a:endParaRPr>
          </a:p>
        </p:txBody>
      </p:sp>
      <p:sp>
        <p:nvSpPr>
          <p:cNvPr id="327" name="Rectangle 11"/>
          <p:cNvSpPr/>
          <p:nvPr/>
        </p:nvSpPr>
        <p:spPr>
          <a:xfrm>
            <a:off x="6385680" y="242316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9B1C1C"/>
                </a:solidFill>
                <a:effectLst/>
                <a:uFillTx/>
                <a:latin typeface="Aptos"/>
              </a:rPr>
              <a:t>620,448,401,733,239,439,360,000</a:t>
            </a:r>
            <a:endParaRPr lang="en-US" sz="1700" b="0" u="none" strike="noStrike">
              <a:solidFill>
                <a:srgbClr val="000000"/>
              </a:solidFill>
              <a:effectLst/>
              <a:uFillTx/>
              <a:latin typeface="Arial"/>
            </a:endParaRPr>
          </a:p>
        </p:txBody>
      </p:sp>
      <p:sp>
        <p:nvSpPr>
          <p:cNvPr id="328" name="Rounded Rectangle 12"/>
          <p:cNvSpPr/>
          <p:nvPr/>
        </p:nvSpPr>
        <p:spPr>
          <a:xfrm>
            <a:off x="6385680" y="2971800"/>
            <a:ext cx="5028840" cy="100548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29" name="Rectangle 13"/>
          <p:cNvSpPr/>
          <p:nvPr/>
        </p:nvSpPr>
        <p:spPr>
          <a:xfrm>
            <a:off x="6614280" y="306324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350" b="0" u="none" strike="noStrike">
                <a:solidFill>
                  <a:srgbClr val="112E5C"/>
                </a:solidFill>
                <a:effectLst/>
                <a:uFillTx/>
                <a:latin typeface="Aptos"/>
              </a:rPr>
              <a:t>Knuth conjectured that starting from 4, some sequence of square root, floor, and factorial reaches any desired positive integer.</a:t>
            </a:r>
            <a:endParaRPr lang="en-US" sz="1350" b="0" u="none" strike="noStrike">
              <a:solidFill>
                <a:srgbClr val="000000"/>
              </a:solidFill>
              <a:effectLst/>
              <a:uFillTx/>
              <a:latin typeface="Arial"/>
            </a:endParaRPr>
          </a:p>
        </p:txBody>
      </p:sp>
      <p:sp>
        <p:nvSpPr>
          <p:cNvPr id="330"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state space is infinite: for any integer greater than 2, factorial always yields a larger integer.</a:t>
            </a:r>
            <a:endParaRPr lang="en-US" sz="1700" b="0" u="none" strike="noStrike">
              <a:solidFill>
                <a:srgbClr val="000000"/>
              </a:solidFill>
              <a:effectLst/>
              <a:uFillTx/>
              <a:latin typeface="Arial"/>
            </a:endParaRPr>
          </a:p>
        </p:txBody>
      </p:sp>
      <p:sp>
        <p:nvSpPr>
          <p:cNvPr id="331" name="Rectangle 15"/>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So an algorithm can generate a new state on every single step and still never reach most of the space. That is the completeness problem in Section 3.3.4.</a:t>
            </a:r>
            <a:endParaRPr lang="en-US" sz="1500" b="0" u="none" strike="noStrike">
              <a:solidFill>
                <a:srgbClr val="000000"/>
              </a:solidFill>
              <a:effectLst/>
              <a:uFillTx/>
              <a:latin typeface="Arial"/>
            </a:endParaRPr>
          </a:p>
        </p:txBody>
      </p:sp>
      <p:sp>
        <p:nvSpPr>
          <p:cNvPr id="332" name="Rectangle 16"/>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Infinite state spaces arise whenever the task generates mathematical expressions, circuits, proofs, programs, or other recursively defined objects.</a:t>
            </a:r>
            <a:endParaRPr lang="en-US" sz="13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3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3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State Space Size: Small Rules, Large Spaces</a:t>
            </a:r>
            <a:endParaRPr lang="en-US" sz="2600" b="0" u="none" strike="noStrike">
              <a:solidFill>
                <a:srgbClr val="000000"/>
              </a:solidFill>
              <a:effectLst/>
              <a:uFillTx/>
              <a:latin typeface="Arial"/>
            </a:endParaRPr>
          </a:p>
        </p:txBody>
      </p:sp>
      <p:sp>
        <p:nvSpPr>
          <p:cNvPr id="33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3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38" name="Text 5"/>
          <p:cNvSpPr/>
          <p:nvPr/>
        </p:nvSpPr>
        <p:spPr>
          <a:xfrm>
            <a:off x="868680" y="1417320"/>
            <a:ext cx="329148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Two-cell vacuum world</a:t>
            </a:r>
            <a:endParaRPr lang="en-US" sz="1600" b="0" u="none" strike="noStrike">
              <a:solidFill>
                <a:srgbClr val="000000"/>
              </a:solidFill>
              <a:effectLst/>
              <a:uFillTx/>
              <a:latin typeface="Arial"/>
            </a:endParaRPr>
          </a:p>
        </p:txBody>
      </p:sp>
      <p:sp>
        <p:nvSpPr>
          <p:cNvPr id="339" name="Text 6"/>
          <p:cNvSpPr/>
          <p:nvPr/>
        </p:nvSpPr>
        <p:spPr>
          <a:xfrm>
            <a:off x="86868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2 locations × dirt in A × dirt in B = 2 × 2 × 2 = 8 states</a:t>
            </a:r>
            <a:endParaRPr lang="en-US" sz="1700" b="0" u="none" strike="noStrike">
              <a:solidFill>
                <a:srgbClr val="000000"/>
              </a:solidFill>
              <a:effectLst/>
              <a:uFillTx/>
              <a:latin typeface="Arial"/>
            </a:endParaRPr>
          </a:p>
        </p:txBody>
      </p:sp>
      <p:sp>
        <p:nvSpPr>
          <p:cNvPr id="340" name="Text 7"/>
          <p:cNvSpPr/>
          <p:nvPr/>
        </p:nvSpPr>
        <p:spPr>
          <a:xfrm>
            <a:off x="4480560" y="1417320"/>
            <a:ext cx="329148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n-cell vacuum world</a:t>
            </a:r>
            <a:endParaRPr lang="en-US" sz="1600" b="0" u="none" strike="noStrike">
              <a:solidFill>
                <a:srgbClr val="000000"/>
              </a:solidFill>
              <a:effectLst/>
              <a:uFillTx/>
              <a:latin typeface="Arial"/>
            </a:endParaRPr>
          </a:p>
        </p:txBody>
      </p:sp>
      <p:sp>
        <p:nvSpPr>
          <p:cNvPr id="341" name="Text 8"/>
          <p:cNvSpPr/>
          <p:nvPr/>
        </p:nvSpPr>
        <p:spPr>
          <a:xfrm>
            <a:off x="448056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n possible locations × 2ⁿ dirt configurations = n·2ⁿ states</a:t>
            </a:r>
            <a:endParaRPr lang="en-US" sz="1700" b="0" u="none" strike="noStrike">
              <a:solidFill>
                <a:srgbClr val="000000"/>
              </a:solidFill>
              <a:effectLst/>
              <a:uFillTx/>
              <a:latin typeface="Arial"/>
            </a:endParaRPr>
          </a:p>
        </p:txBody>
      </p:sp>
      <p:sp>
        <p:nvSpPr>
          <p:cNvPr id="342" name="Text 9"/>
          <p:cNvSpPr/>
          <p:nvPr/>
        </p:nvSpPr>
        <p:spPr>
          <a:xfrm>
            <a:off x="8092440" y="1417320"/>
            <a:ext cx="329148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Search design lesson</a:t>
            </a:r>
            <a:endParaRPr lang="en-US" sz="1600" b="0" u="none" strike="noStrike">
              <a:solidFill>
                <a:srgbClr val="000000"/>
              </a:solidFill>
              <a:effectLst/>
              <a:uFillTx/>
              <a:latin typeface="Arial"/>
            </a:endParaRPr>
          </a:p>
        </p:txBody>
      </p:sp>
      <p:sp>
        <p:nvSpPr>
          <p:cNvPr id="343" name="Text 10"/>
          <p:cNvSpPr/>
          <p:nvPr/>
        </p:nvSpPr>
        <p:spPr>
          <a:xfrm>
            <a:off x="809244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a:solidFill>
                  <a:srgbClr val="102A4C"/>
                </a:solidFill>
                <a:effectLst/>
                <a:uFillTx/>
                <a:latin typeface="Aptos"/>
              </a:rPr>
              <a:t>Include only state variables needed for planning. Extra variables multiply the state space.</a:t>
            </a:r>
            <a:endParaRPr lang="en-US" sz="1600" b="0" u="none" strike="noStrike">
              <a:solidFill>
                <a:srgbClr val="000000"/>
              </a:solidFill>
              <a:effectLst/>
              <a:uFillTx/>
              <a:latin typeface="Arial"/>
            </a:endParaRPr>
          </a:p>
        </p:txBody>
      </p:sp>
      <p:sp>
        <p:nvSpPr>
          <p:cNvPr id="344" name="Text 11"/>
          <p:cNvSpPr/>
          <p:nvPr/>
        </p:nvSpPr>
        <p:spPr>
          <a:xfrm>
            <a:off x="914400" y="4343400"/>
            <a:ext cx="1024092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2000" b="1" u="none" strike="noStrike">
                <a:solidFill>
                  <a:srgbClr val="112E5C"/>
                </a:solidFill>
                <a:effectLst/>
                <a:uFillTx/>
                <a:latin typeface="Aptos"/>
              </a:rPr>
              <a:t>Even simple environments grow quickly once location and object configurations are included.</a:t>
            </a:r>
            <a:endParaRPr lang="en-US" sz="20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4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4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What Goes Into the Search State?</a:t>
            </a:r>
            <a:endParaRPr lang="en-US" sz="2600" b="0" u="none" strike="noStrike">
              <a:solidFill>
                <a:srgbClr val="000000"/>
              </a:solidFill>
              <a:effectLst/>
              <a:uFillTx/>
              <a:latin typeface="Arial"/>
            </a:endParaRPr>
          </a:p>
        </p:txBody>
      </p:sp>
      <p:sp>
        <p:nvSpPr>
          <p:cNvPr id="34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4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50" name="Text 5"/>
          <p:cNvSpPr/>
          <p:nvPr/>
        </p:nvSpPr>
        <p:spPr>
          <a:xfrm>
            <a:off x="868680" y="1417320"/>
            <a:ext cx="4388760" cy="529920"/>
          </a:xfrm>
          <a:prstGeom prst="roundRect">
            <a:avLst>
              <a:gd name="adj" fmla="val 1379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World state</a:t>
            </a:r>
            <a:endParaRPr lang="en-US" sz="1800" b="0" u="none" strike="noStrike">
              <a:solidFill>
                <a:srgbClr val="000000"/>
              </a:solidFill>
              <a:effectLst/>
              <a:uFillTx/>
              <a:latin typeface="Arial"/>
            </a:endParaRPr>
          </a:p>
        </p:txBody>
      </p:sp>
      <p:sp>
        <p:nvSpPr>
          <p:cNvPr id="351" name="Text 6"/>
          <p:cNvSpPr/>
          <p:nvPr/>
        </p:nvSpPr>
        <p:spPr>
          <a:xfrm>
            <a:off x="1005840" y="2148840"/>
            <a:ext cx="4114440" cy="1416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Every last detail of the environment: agent location, dot status, ghost locations, orientation, timers, hidden variables, and irrelevant facts.</a:t>
            </a:r>
            <a:endParaRPr lang="en-US" sz="1600" b="0" u="none" strike="noStrike">
              <a:solidFill>
                <a:srgbClr val="000000"/>
              </a:solidFill>
              <a:effectLst/>
              <a:uFillTx/>
              <a:latin typeface="Arial"/>
            </a:endParaRPr>
          </a:p>
        </p:txBody>
      </p:sp>
      <p:sp>
        <p:nvSpPr>
          <p:cNvPr id="352" name="Text 7"/>
          <p:cNvSpPr/>
          <p:nvPr/>
        </p:nvSpPr>
        <p:spPr>
          <a:xfrm>
            <a:off x="6903720" y="1417320"/>
            <a:ext cx="438876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77245"/>
                </a:solidFill>
                <a:effectLst/>
                <a:uFillTx/>
                <a:latin typeface="Aptos"/>
              </a:rPr>
              <a:t>Search state</a:t>
            </a:r>
            <a:endParaRPr lang="en-US" sz="1800" b="0" u="none" strike="noStrike">
              <a:solidFill>
                <a:srgbClr val="000000"/>
              </a:solidFill>
              <a:effectLst/>
              <a:uFillTx/>
              <a:latin typeface="Arial"/>
            </a:endParaRPr>
          </a:p>
        </p:txBody>
      </p:sp>
      <p:sp>
        <p:nvSpPr>
          <p:cNvPr id="353" name="Text 8"/>
          <p:cNvSpPr/>
          <p:nvPr/>
        </p:nvSpPr>
        <p:spPr>
          <a:xfrm>
            <a:off x="7040880" y="2148840"/>
            <a:ext cx="4114440" cy="1416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Only the details needed for planning. Abstraction makes search possible by removing irrelevant detail.</a:t>
            </a:r>
            <a:endParaRPr lang="en-US" sz="1600" b="0" u="none" strike="noStrike">
              <a:solidFill>
                <a:srgbClr val="000000"/>
              </a:solidFill>
              <a:effectLst/>
              <a:uFillTx/>
              <a:latin typeface="Arial"/>
            </a:endParaRPr>
          </a:p>
        </p:txBody>
      </p:sp>
      <p:sp>
        <p:nvSpPr>
          <p:cNvPr id="354" name="Shape 9"/>
          <p:cNvSpPr/>
          <p:nvPr/>
        </p:nvSpPr>
        <p:spPr>
          <a:xfrm>
            <a:off x="5440680" y="2468880"/>
            <a:ext cx="128016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55" name="Text 10"/>
          <p:cNvSpPr/>
          <p:nvPr/>
        </p:nvSpPr>
        <p:spPr>
          <a:xfrm>
            <a:off x="96012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Pathing</a:t>
            </a:r>
            <a:endParaRPr lang="en-US" sz="1500" b="0" u="none" strike="noStrike">
              <a:solidFill>
                <a:srgbClr val="000000"/>
              </a:solidFill>
              <a:effectLst/>
              <a:uFillTx/>
              <a:latin typeface="Arial"/>
            </a:endParaRPr>
          </a:p>
        </p:txBody>
      </p:sp>
      <p:sp>
        <p:nvSpPr>
          <p:cNvPr id="356" name="Text 11"/>
          <p:cNvSpPr/>
          <p:nvPr/>
        </p:nvSpPr>
        <p:spPr>
          <a:xfrm>
            <a:off x="114300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50" b="0" u="none" strike="noStrike">
                <a:solidFill>
                  <a:srgbClr val="5C6B80"/>
                </a:solidFill>
                <a:effectLst/>
                <a:uFillTx/>
                <a:latin typeface="Aptos"/>
              </a:rPr>
              <a:t>position only</a:t>
            </a:r>
            <a:endParaRPr lang="en-US" sz="1350" b="0" u="none" strike="noStrike">
              <a:solidFill>
                <a:srgbClr val="000000"/>
              </a:solidFill>
              <a:effectLst/>
              <a:uFillTx/>
              <a:latin typeface="Arial"/>
            </a:endParaRPr>
          </a:p>
        </p:txBody>
      </p:sp>
      <p:sp>
        <p:nvSpPr>
          <p:cNvPr id="357" name="Text 12"/>
          <p:cNvSpPr/>
          <p:nvPr/>
        </p:nvSpPr>
        <p:spPr>
          <a:xfrm>
            <a:off x="466344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Eat-all-dots</a:t>
            </a:r>
            <a:endParaRPr lang="en-US" sz="1500" b="0" u="none" strike="noStrike">
              <a:solidFill>
                <a:srgbClr val="000000"/>
              </a:solidFill>
              <a:effectLst/>
              <a:uFillTx/>
              <a:latin typeface="Arial"/>
            </a:endParaRPr>
          </a:p>
        </p:txBody>
      </p:sp>
      <p:sp>
        <p:nvSpPr>
          <p:cNvPr id="358" name="Text 13"/>
          <p:cNvSpPr/>
          <p:nvPr/>
        </p:nvSpPr>
        <p:spPr>
          <a:xfrm>
            <a:off x="484632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50" b="0" u="none" strike="noStrike">
                <a:solidFill>
                  <a:srgbClr val="5C6B80"/>
                </a:solidFill>
                <a:effectLst/>
                <a:uFillTx/>
                <a:latin typeface="Aptos"/>
              </a:rPr>
              <a:t>position + dot booleans</a:t>
            </a:r>
            <a:endParaRPr lang="en-US" sz="1350" b="0" u="none" strike="noStrike">
              <a:solidFill>
                <a:srgbClr val="000000"/>
              </a:solidFill>
              <a:effectLst/>
              <a:uFillTx/>
              <a:latin typeface="Arial"/>
            </a:endParaRPr>
          </a:p>
        </p:txBody>
      </p:sp>
      <p:sp>
        <p:nvSpPr>
          <p:cNvPr id="359" name="Text 14"/>
          <p:cNvSpPr/>
          <p:nvPr/>
        </p:nvSpPr>
        <p:spPr>
          <a:xfrm>
            <a:off x="836676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Safe passage</a:t>
            </a:r>
            <a:endParaRPr lang="en-US" sz="1500" b="0" u="none" strike="noStrike">
              <a:solidFill>
                <a:srgbClr val="000000"/>
              </a:solidFill>
              <a:effectLst/>
              <a:uFillTx/>
              <a:latin typeface="Arial"/>
            </a:endParaRPr>
          </a:p>
        </p:txBody>
      </p:sp>
      <p:sp>
        <p:nvSpPr>
          <p:cNvPr id="360" name="Text 15"/>
          <p:cNvSpPr/>
          <p:nvPr/>
        </p:nvSpPr>
        <p:spPr>
          <a:xfrm>
            <a:off x="854964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1350" b="0" u="none" strike="noStrike">
                <a:solidFill>
                  <a:srgbClr val="5C6B80"/>
                </a:solidFill>
                <a:effectLst/>
                <a:uFillTx/>
                <a:latin typeface="Aptos"/>
              </a:rPr>
              <a:t>position + dots + power pellets + scared timer</a:t>
            </a:r>
            <a:endParaRPr lang="en-US" sz="13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6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Counting a State Space: Pac-Man</a:t>
            </a:r>
            <a:endParaRPr lang="en-US" sz="2600" b="0" u="none" strike="noStrike">
              <a:solidFill>
                <a:srgbClr val="000000"/>
              </a:solidFill>
              <a:effectLst/>
              <a:uFillTx/>
              <a:latin typeface="Arial"/>
            </a:endParaRPr>
          </a:p>
        </p:txBody>
      </p:sp>
      <p:sp>
        <p:nvSpPr>
          <p:cNvPr id="36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6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66" name="Rounded Rectangle 6"/>
          <p:cNvSpPr/>
          <p:nvPr/>
        </p:nvSpPr>
        <p:spPr>
          <a:xfrm>
            <a:off x="77724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World state: every last detail</a:t>
            </a:r>
            <a:endParaRPr lang="en-US" sz="1400" b="0" u="none" strike="noStrike">
              <a:solidFill>
                <a:srgbClr val="000000"/>
              </a:solidFill>
              <a:effectLst/>
              <a:uFillTx/>
              <a:latin typeface="Arial"/>
            </a:endParaRPr>
          </a:p>
        </p:txBody>
      </p:sp>
      <p:sp>
        <p:nvSpPr>
          <p:cNvPr id="367" name="Rounded Rectangle 7"/>
          <p:cNvSpPr/>
          <p:nvPr/>
        </p:nvSpPr>
        <p:spPr>
          <a:xfrm>
            <a:off x="777240" y="196596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8" name="Rectangle 8"/>
          <p:cNvSpPr/>
          <p:nvPr/>
        </p:nvSpPr>
        <p:spPr>
          <a:xfrm>
            <a:off x="96012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Agent position</a:t>
            </a:r>
            <a:endParaRPr lang="en-US" sz="1300" b="0" u="none" strike="noStrike">
              <a:solidFill>
                <a:srgbClr val="000000"/>
              </a:solidFill>
              <a:effectLst/>
              <a:uFillTx/>
              <a:latin typeface="Arial"/>
            </a:endParaRPr>
          </a:p>
        </p:txBody>
      </p:sp>
      <p:sp>
        <p:nvSpPr>
          <p:cNvPr id="369" name="Rectangle 9"/>
          <p:cNvSpPr/>
          <p:nvPr/>
        </p:nvSpPr>
        <p:spPr>
          <a:xfrm>
            <a:off x="297180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12 × 10 grid</a:t>
            </a:r>
            <a:endParaRPr lang="en-US" sz="1150" b="0" u="none" strike="noStrike">
              <a:solidFill>
                <a:srgbClr val="000000"/>
              </a:solidFill>
              <a:effectLst/>
              <a:uFillTx/>
              <a:latin typeface="Arial"/>
            </a:endParaRPr>
          </a:p>
        </p:txBody>
      </p:sp>
      <p:sp>
        <p:nvSpPr>
          <p:cNvPr id="370" name="Rectangle 10"/>
          <p:cNvSpPr/>
          <p:nvPr/>
        </p:nvSpPr>
        <p:spPr>
          <a:xfrm>
            <a:off x="4983480" y="196596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120</a:t>
            </a:r>
            <a:endParaRPr lang="en-US" sz="1500" b="0" u="none" strike="noStrike">
              <a:solidFill>
                <a:srgbClr val="000000"/>
              </a:solidFill>
              <a:effectLst/>
              <a:uFillTx/>
              <a:latin typeface="Arial"/>
            </a:endParaRPr>
          </a:p>
        </p:txBody>
      </p:sp>
      <p:sp>
        <p:nvSpPr>
          <p:cNvPr id="371" name="Rounded Rectangle 11"/>
          <p:cNvSpPr/>
          <p:nvPr/>
        </p:nvSpPr>
        <p:spPr>
          <a:xfrm>
            <a:off x="777240" y="256032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72" name="Rectangle 12"/>
          <p:cNvSpPr/>
          <p:nvPr/>
        </p:nvSpPr>
        <p:spPr>
          <a:xfrm>
            <a:off x="96012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Dot status</a:t>
            </a:r>
            <a:endParaRPr lang="en-US" sz="1300" b="0" u="none" strike="noStrike">
              <a:solidFill>
                <a:srgbClr val="000000"/>
              </a:solidFill>
              <a:effectLst/>
              <a:uFillTx/>
              <a:latin typeface="Arial"/>
            </a:endParaRPr>
          </a:p>
        </p:txBody>
      </p:sp>
      <p:sp>
        <p:nvSpPr>
          <p:cNvPr id="373" name="Rectangle 13"/>
          <p:cNvSpPr/>
          <p:nvPr/>
        </p:nvSpPr>
        <p:spPr>
          <a:xfrm>
            <a:off x="297180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30 dots, each eaten or not</a:t>
            </a:r>
            <a:endParaRPr lang="en-US" sz="1150" b="0" u="none" strike="noStrike">
              <a:solidFill>
                <a:srgbClr val="000000"/>
              </a:solidFill>
              <a:effectLst/>
              <a:uFillTx/>
              <a:latin typeface="Arial"/>
            </a:endParaRPr>
          </a:p>
        </p:txBody>
      </p:sp>
      <p:sp>
        <p:nvSpPr>
          <p:cNvPr id="374" name="Rectangle 14"/>
          <p:cNvSpPr/>
          <p:nvPr/>
        </p:nvSpPr>
        <p:spPr>
          <a:xfrm>
            <a:off x="4983480" y="256032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2³⁰</a:t>
            </a:r>
            <a:endParaRPr lang="en-US" sz="1500" b="0" u="none" strike="noStrike">
              <a:solidFill>
                <a:srgbClr val="000000"/>
              </a:solidFill>
              <a:effectLst/>
              <a:uFillTx/>
              <a:latin typeface="Arial"/>
            </a:endParaRPr>
          </a:p>
        </p:txBody>
      </p:sp>
      <p:sp>
        <p:nvSpPr>
          <p:cNvPr id="375" name="Rounded Rectangle 15"/>
          <p:cNvSpPr/>
          <p:nvPr/>
        </p:nvSpPr>
        <p:spPr>
          <a:xfrm>
            <a:off x="777240" y="315468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76" name="Rectangle 16"/>
          <p:cNvSpPr/>
          <p:nvPr/>
        </p:nvSpPr>
        <p:spPr>
          <a:xfrm>
            <a:off x="96012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Ghost positions</a:t>
            </a:r>
            <a:endParaRPr lang="en-US" sz="1300" b="0" u="none" strike="noStrike">
              <a:solidFill>
                <a:srgbClr val="000000"/>
              </a:solidFill>
              <a:effectLst/>
              <a:uFillTx/>
              <a:latin typeface="Arial"/>
            </a:endParaRPr>
          </a:p>
        </p:txBody>
      </p:sp>
      <p:sp>
        <p:nvSpPr>
          <p:cNvPr id="377" name="Rectangle 17"/>
          <p:cNvSpPr/>
          <p:nvPr/>
        </p:nvSpPr>
        <p:spPr>
          <a:xfrm>
            <a:off x="297180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two ghosts, 12 × 1 lane</a:t>
            </a:r>
            <a:endParaRPr lang="en-US" sz="1150" b="0" u="none" strike="noStrike">
              <a:solidFill>
                <a:srgbClr val="000000"/>
              </a:solidFill>
              <a:effectLst/>
              <a:uFillTx/>
              <a:latin typeface="Arial"/>
            </a:endParaRPr>
          </a:p>
        </p:txBody>
      </p:sp>
      <p:sp>
        <p:nvSpPr>
          <p:cNvPr id="378" name="Rectangle 18"/>
          <p:cNvSpPr/>
          <p:nvPr/>
        </p:nvSpPr>
        <p:spPr>
          <a:xfrm>
            <a:off x="4983480" y="315468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12²</a:t>
            </a:r>
            <a:endParaRPr lang="en-US" sz="1500" b="0" u="none" strike="noStrike">
              <a:solidFill>
                <a:srgbClr val="000000"/>
              </a:solidFill>
              <a:effectLst/>
              <a:uFillTx/>
              <a:latin typeface="Arial"/>
            </a:endParaRPr>
          </a:p>
        </p:txBody>
      </p:sp>
      <p:sp>
        <p:nvSpPr>
          <p:cNvPr id="379" name="Rounded Rectangle 19"/>
          <p:cNvSpPr/>
          <p:nvPr/>
        </p:nvSpPr>
        <p:spPr>
          <a:xfrm>
            <a:off x="777240" y="374904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0" name="Rectangle 20"/>
          <p:cNvSpPr/>
          <p:nvPr/>
        </p:nvSpPr>
        <p:spPr>
          <a:xfrm>
            <a:off x="96012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Agent facing</a:t>
            </a:r>
            <a:endParaRPr lang="en-US" sz="1300" b="0" u="none" strike="noStrike">
              <a:solidFill>
                <a:srgbClr val="000000"/>
              </a:solidFill>
              <a:effectLst/>
              <a:uFillTx/>
              <a:latin typeface="Arial"/>
            </a:endParaRPr>
          </a:p>
        </p:txBody>
      </p:sp>
      <p:sp>
        <p:nvSpPr>
          <p:cNvPr id="381" name="Rectangle 21"/>
          <p:cNvSpPr/>
          <p:nvPr/>
        </p:nvSpPr>
        <p:spPr>
          <a:xfrm>
            <a:off x="297180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N, S, E, or W</a:t>
            </a:r>
            <a:endParaRPr lang="en-US" sz="1150" b="0" u="none" strike="noStrike">
              <a:solidFill>
                <a:srgbClr val="000000"/>
              </a:solidFill>
              <a:effectLst/>
              <a:uFillTx/>
              <a:latin typeface="Arial"/>
            </a:endParaRPr>
          </a:p>
        </p:txBody>
      </p:sp>
      <p:sp>
        <p:nvSpPr>
          <p:cNvPr id="382" name="Rectangle 22"/>
          <p:cNvSpPr/>
          <p:nvPr/>
        </p:nvSpPr>
        <p:spPr>
          <a:xfrm>
            <a:off x="4983480" y="374904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4</a:t>
            </a:r>
            <a:endParaRPr lang="en-US" sz="1500" b="0" u="none" strike="noStrike">
              <a:solidFill>
                <a:srgbClr val="000000"/>
              </a:solidFill>
              <a:effectLst/>
              <a:uFillTx/>
              <a:latin typeface="Arial"/>
            </a:endParaRPr>
          </a:p>
        </p:txBody>
      </p:sp>
      <p:sp>
        <p:nvSpPr>
          <p:cNvPr id="383" name="Rounded Rectangle 23"/>
          <p:cNvSpPr/>
          <p:nvPr/>
        </p:nvSpPr>
        <p:spPr>
          <a:xfrm>
            <a:off x="638568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Search state: only what planning needs</a:t>
            </a:r>
            <a:endParaRPr lang="en-US" sz="1400" b="0" u="none" strike="noStrike">
              <a:solidFill>
                <a:srgbClr val="000000"/>
              </a:solidFill>
              <a:effectLst/>
              <a:uFillTx/>
              <a:latin typeface="Arial"/>
            </a:endParaRPr>
          </a:p>
        </p:txBody>
      </p:sp>
      <p:sp>
        <p:nvSpPr>
          <p:cNvPr id="384" name="Rounded Rectangle 24"/>
          <p:cNvSpPr/>
          <p:nvPr/>
        </p:nvSpPr>
        <p:spPr>
          <a:xfrm>
            <a:off x="6385680" y="196596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5" name="Rectangle 25"/>
          <p:cNvSpPr/>
          <p:nvPr/>
        </p:nvSpPr>
        <p:spPr>
          <a:xfrm>
            <a:off x="6568560" y="205740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Pathing</a:t>
            </a:r>
            <a:endParaRPr lang="en-US" sz="1350" b="0" u="none" strike="noStrike">
              <a:solidFill>
                <a:srgbClr val="000000"/>
              </a:solidFill>
              <a:effectLst/>
              <a:uFillTx/>
              <a:latin typeface="Arial"/>
            </a:endParaRPr>
          </a:p>
        </p:txBody>
      </p:sp>
      <p:sp>
        <p:nvSpPr>
          <p:cNvPr id="386" name="Rectangle 26"/>
          <p:cNvSpPr/>
          <p:nvPr/>
        </p:nvSpPr>
        <p:spPr>
          <a:xfrm>
            <a:off x="6568560" y="231660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only</a:t>
            </a:r>
            <a:endParaRPr lang="en-US" sz="1150" b="0" u="none" strike="noStrike">
              <a:solidFill>
                <a:srgbClr val="000000"/>
              </a:solidFill>
              <a:effectLst/>
              <a:uFillTx/>
              <a:latin typeface="Arial"/>
            </a:endParaRPr>
          </a:p>
        </p:txBody>
      </p:sp>
      <p:sp>
        <p:nvSpPr>
          <p:cNvPr id="387" name="Rectangle 27"/>
          <p:cNvSpPr/>
          <p:nvPr/>
        </p:nvSpPr>
        <p:spPr>
          <a:xfrm>
            <a:off x="9768960" y="196596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a:t>
            </a:r>
            <a:endParaRPr lang="en-US" sz="1400" b="0" u="none" strike="noStrike">
              <a:solidFill>
                <a:srgbClr val="000000"/>
              </a:solidFill>
              <a:effectLst/>
              <a:uFillTx/>
              <a:latin typeface="Arial"/>
            </a:endParaRPr>
          </a:p>
        </p:txBody>
      </p:sp>
      <p:sp>
        <p:nvSpPr>
          <p:cNvPr id="388" name="Rounded Rectangle 28"/>
          <p:cNvSpPr/>
          <p:nvPr/>
        </p:nvSpPr>
        <p:spPr>
          <a:xfrm>
            <a:off x="6385680" y="274320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9" name="Rectangle 29"/>
          <p:cNvSpPr/>
          <p:nvPr/>
        </p:nvSpPr>
        <p:spPr>
          <a:xfrm>
            <a:off x="6568560" y="283464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Eat-all-dots</a:t>
            </a:r>
            <a:endParaRPr lang="en-US" sz="1350" b="0" u="none" strike="noStrike">
              <a:solidFill>
                <a:srgbClr val="000000"/>
              </a:solidFill>
              <a:effectLst/>
              <a:uFillTx/>
              <a:latin typeface="Arial"/>
            </a:endParaRPr>
          </a:p>
        </p:txBody>
      </p:sp>
      <p:sp>
        <p:nvSpPr>
          <p:cNvPr id="390" name="Rectangle 30"/>
          <p:cNvSpPr/>
          <p:nvPr/>
        </p:nvSpPr>
        <p:spPr>
          <a:xfrm>
            <a:off x="6568560" y="309384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 dot booleans</a:t>
            </a:r>
            <a:endParaRPr lang="en-US" sz="1150" b="0" u="none" strike="noStrike">
              <a:solidFill>
                <a:srgbClr val="000000"/>
              </a:solidFill>
              <a:effectLst/>
              <a:uFillTx/>
              <a:latin typeface="Arial"/>
            </a:endParaRPr>
          </a:p>
        </p:txBody>
      </p:sp>
      <p:sp>
        <p:nvSpPr>
          <p:cNvPr id="391" name="Rectangle 31"/>
          <p:cNvSpPr/>
          <p:nvPr/>
        </p:nvSpPr>
        <p:spPr>
          <a:xfrm>
            <a:off x="9768960" y="274320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 × 2³⁰</a:t>
            </a:r>
            <a:endParaRPr lang="en-US" sz="1400" b="0" u="none" strike="noStrike">
              <a:solidFill>
                <a:srgbClr val="000000"/>
              </a:solidFill>
              <a:effectLst/>
              <a:uFillTx/>
              <a:latin typeface="Arial"/>
            </a:endParaRPr>
          </a:p>
        </p:txBody>
      </p:sp>
      <p:sp>
        <p:nvSpPr>
          <p:cNvPr id="392" name="Rounded Rectangle 32"/>
          <p:cNvSpPr/>
          <p:nvPr/>
        </p:nvSpPr>
        <p:spPr>
          <a:xfrm>
            <a:off x="6385680" y="352044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93" name="Rectangle 33"/>
          <p:cNvSpPr/>
          <p:nvPr/>
        </p:nvSpPr>
        <p:spPr>
          <a:xfrm>
            <a:off x="6568560" y="361188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Safe passage</a:t>
            </a:r>
            <a:endParaRPr lang="en-US" sz="1350" b="0" u="none" strike="noStrike">
              <a:solidFill>
                <a:srgbClr val="000000"/>
              </a:solidFill>
              <a:effectLst/>
              <a:uFillTx/>
              <a:latin typeface="Arial"/>
            </a:endParaRPr>
          </a:p>
        </p:txBody>
      </p:sp>
      <p:sp>
        <p:nvSpPr>
          <p:cNvPr id="394" name="Rectangle 34"/>
          <p:cNvSpPr/>
          <p:nvPr/>
        </p:nvSpPr>
        <p:spPr>
          <a:xfrm>
            <a:off x="6568560" y="387108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 dots + power pellets + scared timer</a:t>
            </a:r>
            <a:endParaRPr lang="en-US" sz="1150" b="0" u="none" strike="noStrike">
              <a:solidFill>
                <a:srgbClr val="000000"/>
              </a:solidFill>
              <a:effectLst/>
              <a:uFillTx/>
              <a:latin typeface="Arial"/>
            </a:endParaRPr>
          </a:p>
        </p:txBody>
      </p:sp>
      <p:sp>
        <p:nvSpPr>
          <p:cNvPr id="395" name="Rectangle 35"/>
          <p:cNvSpPr/>
          <p:nvPr/>
        </p:nvSpPr>
        <p:spPr>
          <a:xfrm>
            <a:off x="9768960" y="352044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 × 2³⁰ × 2⁴ × t</a:t>
            </a:r>
            <a:endParaRPr lang="en-US" sz="1400" b="0" u="none" strike="noStrike">
              <a:solidFill>
                <a:srgbClr val="000000"/>
              </a:solidFill>
              <a:effectLst/>
              <a:uFillTx/>
              <a:latin typeface="Arial"/>
            </a:endParaRPr>
          </a:p>
        </p:txBody>
      </p:sp>
      <p:sp>
        <p:nvSpPr>
          <p:cNvPr id="396" name="Rectangle 36"/>
          <p:cNvSpPr/>
          <p:nvPr/>
        </p:nvSpPr>
        <p:spPr>
          <a:xfrm>
            <a:off x="914400" y="4389120"/>
            <a:ext cx="10423800" cy="4568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800" b="1" u="none" strike="noStrike">
                <a:solidFill>
                  <a:srgbClr val="112E5C"/>
                </a:solidFill>
                <a:effectLst/>
                <a:uFillTx/>
                <a:latin typeface="Aptos"/>
              </a:rPr>
              <a:t>World states:  </a:t>
            </a:r>
            <a:r>
              <a:rPr lang="en-US" sz="2200" b="1" u="none" strike="noStrike">
                <a:solidFill>
                  <a:srgbClr val="9B1C1C"/>
                </a:solidFill>
                <a:effectLst/>
                <a:uFillTx/>
                <a:latin typeface="Aptos"/>
              </a:rPr>
              <a:t>120 × 2³⁰ × 12² × 4  ≈  1.9 × 10¹³</a:t>
            </a:r>
            <a:endParaRPr lang="en-US" sz="2200" b="0" u="none" strike="noStrike">
              <a:solidFill>
                <a:srgbClr val="000000"/>
              </a:solidFill>
              <a:effectLst/>
              <a:uFillTx/>
              <a:latin typeface="Arial"/>
            </a:endParaRPr>
          </a:p>
        </p:txBody>
      </p:sp>
      <p:sp>
        <p:nvSpPr>
          <p:cNvPr id="397" name="Rectangle 37"/>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One maze, three different problems. The state space is a consequence of the question you are asking, not of the world.</a:t>
            </a:r>
            <a:endParaRPr lang="en-US" sz="1700" b="0" u="none" strike="noStrike">
              <a:solidFill>
                <a:srgbClr val="000000"/>
              </a:solidFill>
              <a:effectLst/>
              <a:uFillTx/>
              <a:latin typeface="Arial"/>
            </a:endParaRPr>
          </a:p>
        </p:txBody>
      </p:sp>
      <p:sp>
        <p:nvSpPr>
          <p:cNvPr id="398" name="Rectangle 38"/>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Every extra state variable multiplies the space. Drop any variable the goal test and the cost function never read.</a:t>
            </a:r>
            <a:endParaRPr lang="en-US" sz="14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99"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00"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01"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Real-World Formulation: Airline Travel Planning</a:t>
            </a:r>
            <a:endParaRPr lang="en-US" sz="2600" b="0" u="none" strike="noStrike">
              <a:solidFill>
                <a:srgbClr val="000000"/>
              </a:solidFill>
              <a:effectLst/>
              <a:uFillTx/>
              <a:latin typeface="Arial"/>
            </a:endParaRPr>
          </a:p>
        </p:txBody>
      </p:sp>
      <p:sp>
        <p:nvSpPr>
          <p:cNvPr id="402"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03"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04" name="Rounded Rectangle 6"/>
          <p:cNvSpPr/>
          <p:nvPr/>
        </p:nvSpPr>
        <p:spPr>
          <a:xfrm>
            <a:off x="77724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05"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Airport, current time, and historical information about earlier segments</a:t>
            </a:r>
            <a:endParaRPr lang="en-US" sz="1300" b="0" u="none" strike="noStrike">
              <a:solidFill>
                <a:srgbClr val="000000"/>
              </a:solidFill>
              <a:effectLst/>
              <a:uFillTx/>
              <a:latin typeface="Arial"/>
            </a:endParaRPr>
          </a:p>
        </p:txBody>
      </p:sp>
      <p:sp>
        <p:nvSpPr>
          <p:cNvPr id="406" name="Rounded Rectangle 8"/>
          <p:cNvSpPr/>
          <p:nvPr/>
        </p:nvSpPr>
        <p:spPr>
          <a:xfrm>
            <a:off x="777240" y="1920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07"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The traveller's home airport</a:t>
            </a:r>
            <a:endParaRPr lang="en-US" sz="1300" b="0" u="none" strike="noStrike">
              <a:solidFill>
                <a:srgbClr val="000000"/>
              </a:solidFill>
              <a:effectLst/>
              <a:uFillTx/>
              <a:latin typeface="Arial"/>
            </a:endParaRPr>
          </a:p>
        </p:txBody>
      </p:sp>
      <p:sp>
        <p:nvSpPr>
          <p:cNvPr id="408" name="Rounded Rectangle 10"/>
          <p:cNvSpPr/>
          <p:nvPr/>
        </p:nvSpPr>
        <p:spPr>
          <a:xfrm>
            <a:off x="777240" y="24231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09"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Any flight leaving after the current time, in any seat class, allowing transfer time</a:t>
            </a:r>
            <a:endParaRPr lang="en-US" sz="1300" b="0" u="none" strike="noStrike">
              <a:solidFill>
                <a:srgbClr val="000000"/>
              </a:solidFill>
              <a:effectLst/>
              <a:uFillTx/>
              <a:latin typeface="Arial"/>
            </a:endParaRPr>
          </a:p>
        </p:txBody>
      </p:sp>
      <p:sp>
        <p:nvSpPr>
          <p:cNvPr id="410" name="Rounded Rectangle 12"/>
          <p:cNvSpPr/>
          <p:nvPr/>
        </p:nvSpPr>
        <p:spPr>
          <a:xfrm>
            <a:off x="777240" y="29260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11"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New location is the destination; new time is the arrival time</a:t>
            </a:r>
            <a:endParaRPr lang="en-US" sz="1300" b="0" u="none" strike="noStrike">
              <a:solidFill>
                <a:srgbClr val="000000"/>
              </a:solidFill>
              <a:effectLst/>
              <a:uFillTx/>
              <a:latin typeface="Arial"/>
            </a:endParaRPr>
          </a:p>
        </p:txBody>
      </p:sp>
      <p:sp>
        <p:nvSpPr>
          <p:cNvPr id="412" name="Rounded Rectangle 14"/>
          <p:cNvSpPr/>
          <p:nvPr/>
        </p:nvSpPr>
        <p:spPr>
          <a:xfrm>
            <a:off x="777240" y="34290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413"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destination city — or something richer, like arriving on a nonstop flight</a:t>
            </a:r>
            <a:endParaRPr lang="en-US" sz="1300" b="0" u="none" strike="noStrike">
              <a:solidFill>
                <a:srgbClr val="000000"/>
              </a:solidFill>
              <a:effectLst/>
              <a:uFillTx/>
              <a:latin typeface="Arial"/>
            </a:endParaRPr>
          </a:p>
        </p:txBody>
      </p:sp>
      <p:sp>
        <p:nvSpPr>
          <p:cNvPr id="414" name="Rounded Rectangle 16"/>
          <p:cNvSpPr/>
          <p:nvPr/>
        </p:nvSpPr>
        <p:spPr>
          <a:xfrm>
            <a:off x="777240" y="39319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15"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Money, waiting time, flight time, customs, seat quality, aircraft type, reward points</a:t>
            </a:r>
            <a:endParaRPr lang="en-US" sz="1300" b="0" u="none" strike="noStrike">
              <a:solidFill>
                <a:srgbClr val="000000"/>
              </a:solidFill>
              <a:effectLst/>
              <a:uFillTx/>
              <a:latin typeface="Arial"/>
            </a:endParaRPr>
          </a:p>
        </p:txBody>
      </p:sp>
      <p:sp>
        <p:nvSpPr>
          <p:cNvPr id="416" name="Rounded Rectangle 18"/>
          <p:cNvSpPr/>
          <p:nvPr/>
        </p:nvSpPr>
        <p:spPr>
          <a:xfrm>
            <a:off x="8686800" y="1417320"/>
            <a:ext cx="2742840" cy="2011320"/>
          </a:xfrm>
          <a:prstGeom prst="roundRect">
            <a:avLst>
              <a:gd name="adj" fmla="val 45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17" name="Rectangle 19"/>
          <p:cNvSpPr/>
          <p:nvPr/>
        </p:nvSpPr>
        <p:spPr>
          <a:xfrm>
            <a:off x="8869680" y="1600200"/>
            <a:ext cx="2377080" cy="1645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r>
              <a:rPr lang="en-US" sz="1300" b="0" u="none" strike="noStrike">
                <a:solidFill>
                  <a:srgbClr val="FFFFFF"/>
                </a:solidFill>
                <a:effectLst/>
                <a:uFillTx/>
                <a:latin typeface="Aptos"/>
              </a:rPr>
              <a:t>Why does the state carry history?</a:t>
            </a:r>
            <a:endParaRPr lang="en-US" sz="1300" b="0" u="none" strike="noStrike">
              <a:solidFill>
                <a:srgbClr val="000000"/>
              </a:solidFill>
              <a:effectLst/>
              <a:uFillTx/>
              <a:latin typeface="Arial"/>
            </a:endParaRPr>
          </a:p>
          <a:p>
            <a:endParaRPr lang="en-US" sz="1300" b="0" u="none" strike="noStrike">
              <a:solidFill>
                <a:srgbClr val="000000"/>
              </a:solidFill>
              <a:effectLst/>
              <a:uFillTx/>
              <a:latin typeface="Arial"/>
            </a:endParaRPr>
          </a:p>
          <a:p>
            <a:pPr defTabSz="914400">
              <a:lnSpc>
                <a:spcPct val="100000"/>
              </a:lnSpc>
              <a:spcAft>
                <a:spcPts val="400"/>
              </a:spcAft>
            </a:pPr>
            <a:r>
              <a:rPr lang="en-US" sz="1300" b="0" u="none" strike="noStrike">
                <a:solidFill>
                  <a:srgbClr val="FFFFFF"/>
                </a:solidFill>
                <a:effectLst/>
                <a:uFillTx/>
                <a:latin typeface="Aptos"/>
              </a:rPr>
              <a:t>Because the cost of a flight segment depends on the fare basis of the segments already taken.</a:t>
            </a:r>
            <a:endParaRPr lang="en-US" sz="1300" b="0" u="none" strike="noStrike">
              <a:solidFill>
                <a:srgbClr val="000000"/>
              </a:solidFill>
              <a:effectLst/>
              <a:uFillTx/>
              <a:latin typeface="Arial"/>
            </a:endParaRPr>
          </a:p>
        </p:txBody>
      </p:sp>
      <p:sp>
        <p:nvSpPr>
          <p:cNvPr id="418" name="Rectangle 20"/>
          <p:cNvSpPr/>
          <p:nvPr/>
        </p:nvSpPr>
        <p:spPr>
          <a:xfrm>
            <a:off x="8686800" y="3611880"/>
            <a:ext cx="27428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50" b="1" u="none" strike="noStrike">
                <a:solidFill>
                  <a:srgbClr val="9B1C1C"/>
                </a:solidFill>
                <a:effectLst/>
                <a:uFillTx/>
                <a:latin typeface="Aptos"/>
              </a:rPr>
              <a:t>The cost function reads it, so it belongs in the state.</a:t>
            </a:r>
            <a:endParaRPr lang="en-US" sz="1250" b="0" u="none" strike="noStrike">
              <a:solidFill>
                <a:srgbClr val="000000"/>
              </a:solidFill>
              <a:effectLst/>
              <a:uFillTx/>
              <a:latin typeface="Arial"/>
            </a:endParaRPr>
          </a:p>
        </p:txBody>
      </p:sp>
      <p:sp>
        <p:nvSpPr>
          <p:cNvPr id="419" name="Rectangle 21"/>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Compare with the Pac-Man rule: drop any variable the goal test and the cost function never read.</a:t>
            </a:r>
            <a:endParaRPr lang="en-US" sz="1700" b="0" u="none" strike="noStrike">
              <a:solidFill>
                <a:srgbClr val="000000"/>
              </a:solidFill>
              <a:effectLst/>
              <a:uFillTx/>
              <a:latin typeface="Arial"/>
            </a:endParaRPr>
          </a:p>
        </p:txBody>
      </p:sp>
      <p:sp>
        <p:nvSpPr>
          <p:cNvPr id="420" name="Rectangle 22"/>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Here the cost function does read the past, so the past has to be part of the present state.</a:t>
            </a:r>
            <a:endParaRPr lang="en-US" sz="1500" b="0" u="none" strike="noStrike">
              <a:solidFill>
                <a:srgbClr val="000000"/>
              </a:solidFill>
              <a:effectLst/>
              <a:uFillTx/>
              <a:latin typeface="Arial"/>
            </a:endParaRPr>
          </a:p>
        </p:txBody>
      </p:sp>
      <p:sp>
        <p:nvSpPr>
          <p:cNvPr id="421"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And any usable system needs contingency plans for delays and missed connections — which is Chapter 4, not this one.</a:t>
            </a:r>
            <a:endParaRPr lang="en-US" sz="13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2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Formulate a Search Problem</a:t>
            </a:r>
            <a:endParaRPr lang="en-US" sz="2600" b="0" u="none" strike="noStrike">
              <a:solidFill>
                <a:srgbClr val="000000"/>
              </a:solidFill>
              <a:effectLst/>
              <a:uFillTx/>
              <a:latin typeface="Arial"/>
            </a:endParaRPr>
          </a:p>
        </p:txBody>
      </p:sp>
      <p:sp>
        <p:nvSpPr>
          <p:cNvPr id="42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2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27" name="Rounded Rectangle 6"/>
          <p:cNvSpPr/>
          <p:nvPr/>
        </p:nvSpPr>
        <p:spPr>
          <a:xfrm>
            <a:off x="777240" y="1417320"/>
            <a:ext cx="10637280" cy="68544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8" name="Rectangle 7"/>
          <p:cNvSpPr/>
          <p:nvPr/>
        </p:nvSpPr>
        <p:spPr>
          <a:xfrm>
            <a:off x="1051560" y="1508760"/>
            <a:ext cx="100886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a:solidFill>
                  <a:srgbClr val="112E5C"/>
                </a:solidFill>
                <a:effectLst/>
                <a:uFillTx/>
                <a:latin typeface="Aptos"/>
              </a:rPr>
              <a:t>You have a 3-litre jug and a 5-litre jug, neither with any markings, and an unlimited supply of water. Measure out exactly 4 litres.</a:t>
            </a:r>
            <a:endParaRPr lang="en-US" sz="1600" b="0" u="none" strike="noStrike">
              <a:solidFill>
                <a:srgbClr val="000000"/>
              </a:solidFill>
              <a:effectLst/>
              <a:uFillTx/>
              <a:latin typeface="Arial"/>
            </a:endParaRPr>
          </a:p>
        </p:txBody>
      </p:sp>
      <p:sp>
        <p:nvSpPr>
          <p:cNvPr id="429" name="Rounded Rectangle 8"/>
          <p:cNvSpPr/>
          <p:nvPr/>
        </p:nvSpPr>
        <p:spPr>
          <a:xfrm>
            <a:off x="7772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30" name="Rounded Rectangle 9"/>
          <p:cNvSpPr/>
          <p:nvPr/>
        </p:nvSpPr>
        <p:spPr>
          <a:xfrm>
            <a:off x="26974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1" name="Rounded Rectangle 10"/>
          <p:cNvSpPr/>
          <p:nvPr/>
        </p:nvSpPr>
        <p:spPr>
          <a:xfrm>
            <a:off x="62636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32" name="Rounded Rectangle 11"/>
          <p:cNvSpPr/>
          <p:nvPr/>
        </p:nvSpPr>
        <p:spPr>
          <a:xfrm>
            <a:off x="81838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3" name="Rounded Rectangle 12"/>
          <p:cNvSpPr/>
          <p:nvPr/>
        </p:nvSpPr>
        <p:spPr>
          <a:xfrm>
            <a:off x="7772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34" name="Rounded Rectangle 13"/>
          <p:cNvSpPr/>
          <p:nvPr/>
        </p:nvSpPr>
        <p:spPr>
          <a:xfrm>
            <a:off x="26974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5" name="Rounded Rectangle 14"/>
          <p:cNvSpPr/>
          <p:nvPr/>
        </p:nvSpPr>
        <p:spPr>
          <a:xfrm>
            <a:off x="62636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 model</a:t>
            </a:r>
            <a:endParaRPr lang="en-US" sz="1300" b="0" u="none" strike="noStrike">
              <a:solidFill>
                <a:srgbClr val="000000"/>
              </a:solidFill>
              <a:effectLst/>
              <a:uFillTx/>
              <a:latin typeface="Arial"/>
            </a:endParaRPr>
          </a:p>
        </p:txBody>
      </p:sp>
      <p:sp>
        <p:nvSpPr>
          <p:cNvPr id="436" name="Rounded Rectangle 15"/>
          <p:cNvSpPr/>
          <p:nvPr/>
        </p:nvSpPr>
        <p:spPr>
          <a:xfrm>
            <a:off x="81838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7" name="Rounded Rectangle 16"/>
          <p:cNvSpPr/>
          <p:nvPr/>
        </p:nvSpPr>
        <p:spPr>
          <a:xfrm>
            <a:off x="7772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38" name="Rounded Rectangle 17"/>
          <p:cNvSpPr/>
          <p:nvPr/>
        </p:nvSpPr>
        <p:spPr>
          <a:xfrm>
            <a:off x="26974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9" name="Rounded Rectangle 18"/>
          <p:cNvSpPr/>
          <p:nvPr/>
        </p:nvSpPr>
        <p:spPr>
          <a:xfrm>
            <a:off x="62636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40" name="Rounded Rectangle 19"/>
          <p:cNvSpPr/>
          <p:nvPr/>
        </p:nvSpPr>
        <p:spPr>
          <a:xfrm>
            <a:off x="81838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1" name="Rectangle 20"/>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Work in pairs. Five minutes. Write all six parts before you argue about any of them.</a:t>
            </a:r>
            <a:endParaRPr lang="en-US" sz="1700" b="0" u="none" strike="noStrike">
              <a:solidFill>
                <a:srgbClr val="000000"/>
              </a:solidFill>
              <a:effectLst/>
              <a:uFillTx/>
              <a:latin typeface="Arial"/>
            </a:endParaRPr>
          </a:p>
        </p:txBody>
      </p:sp>
      <p:sp>
        <p:nvSpPr>
          <p:cNvPr id="442" name="Rounded Rectangle 21"/>
          <p:cNvSpPr/>
          <p:nvPr/>
        </p:nvSpPr>
        <p:spPr>
          <a:xfrm>
            <a:off x="914400" y="4983480"/>
            <a:ext cx="10423800" cy="6397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3" name="Rectangle 22"/>
          <p:cNvSpPr/>
          <p:nvPr/>
        </p:nvSpPr>
        <p:spPr>
          <a:xfrm>
            <a:off x="1097280" y="5074920"/>
            <a:ext cx="1005804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9B1C1C"/>
                </a:solidFill>
                <a:effectLst/>
                <a:uFillTx/>
                <a:latin typeface="Aptos"/>
              </a:rPr>
              <a:t>Watch for the trap: at least one variable you are tempted to include is never read by the goal test or the cost function.</a:t>
            </a:r>
            <a:endParaRPr lang="en-US" sz="14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4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One Correct Formulation</a:t>
            </a:r>
            <a:endParaRPr lang="en-US" sz="2600" b="0" u="none" strike="noStrike">
              <a:solidFill>
                <a:srgbClr val="000000"/>
              </a:solidFill>
              <a:effectLst/>
              <a:uFillTx/>
              <a:latin typeface="Arial"/>
            </a:endParaRPr>
          </a:p>
        </p:txBody>
      </p:sp>
      <p:sp>
        <p:nvSpPr>
          <p:cNvPr id="44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4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49" name="Rounded Rectangle 6"/>
          <p:cNvSpPr/>
          <p:nvPr/>
        </p:nvSpPr>
        <p:spPr>
          <a:xfrm>
            <a:off x="777240" y="14173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50"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b) where a is the content of the 3-litre jug and b of the 5-litre jug</a:t>
            </a:r>
            <a:endParaRPr lang="en-US" sz="1300" b="0" u="none" strike="noStrike">
              <a:solidFill>
                <a:srgbClr val="000000"/>
              </a:solidFill>
              <a:effectLst/>
              <a:uFillTx/>
              <a:latin typeface="Arial"/>
            </a:endParaRPr>
          </a:p>
        </p:txBody>
      </p:sp>
      <p:sp>
        <p:nvSpPr>
          <p:cNvPr id="451" name="Rounded Rectangle 8"/>
          <p:cNvSpPr/>
          <p:nvPr/>
        </p:nvSpPr>
        <p:spPr>
          <a:xfrm>
            <a:off x="777240" y="192024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52"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(0, 0)</a:t>
            </a:r>
            <a:endParaRPr lang="en-US" sz="1300" b="0" u="none" strike="noStrike">
              <a:solidFill>
                <a:srgbClr val="000000"/>
              </a:solidFill>
              <a:effectLst/>
              <a:uFillTx/>
              <a:latin typeface="Arial"/>
            </a:endParaRPr>
          </a:p>
        </p:txBody>
      </p:sp>
      <p:sp>
        <p:nvSpPr>
          <p:cNvPr id="453" name="Rounded Rectangle 10"/>
          <p:cNvSpPr/>
          <p:nvPr/>
        </p:nvSpPr>
        <p:spPr>
          <a:xfrm>
            <a:off x="777240" y="242316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54"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Fill A, Fill B, Empty A, Empty B, Pour A→B, Pour B→A</a:t>
            </a:r>
            <a:endParaRPr lang="en-US" sz="1300" b="0" u="none" strike="noStrike">
              <a:solidFill>
                <a:srgbClr val="000000"/>
              </a:solidFill>
              <a:effectLst/>
              <a:uFillTx/>
              <a:latin typeface="Arial"/>
            </a:endParaRPr>
          </a:p>
        </p:txBody>
      </p:sp>
      <p:sp>
        <p:nvSpPr>
          <p:cNvPr id="455" name="Rounded Rectangle 12"/>
          <p:cNvSpPr/>
          <p:nvPr/>
        </p:nvSpPr>
        <p:spPr>
          <a:xfrm>
            <a:off x="777240" y="292608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56"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pour transfers min(source, capacity of destination − destination)</a:t>
            </a:r>
            <a:endParaRPr lang="en-US" sz="1300" b="0" u="none" strike="noStrike">
              <a:solidFill>
                <a:srgbClr val="000000"/>
              </a:solidFill>
              <a:effectLst/>
              <a:uFillTx/>
              <a:latin typeface="Arial"/>
            </a:endParaRPr>
          </a:p>
        </p:txBody>
      </p:sp>
      <p:sp>
        <p:nvSpPr>
          <p:cNvPr id="457" name="Rounded Rectangle 14"/>
          <p:cNvSpPr/>
          <p:nvPr/>
        </p:nvSpPr>
        <p:spPr>
          <a:xfrm>
            <a:off x="777240" y="342900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58"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 4 or b = 4</a:t>
            </a:r>
            <a:endParaRPr lang="en-US" sz="1300" b="0" u="none" strike="noStrike">
              <a:solidFill>
                <a:srgbClr val="000000"/>
              </a:solidFill>
              <a:effectLst/>
              <a:uFillTx/>
              <a:latin typeface="Arial"/>
            </a:endParaRPr>
          </a:p>
        </p:txBody>
      </p:sp>
      <p:sp>
        <p:nvSpPr>
          <p:cNvPr id="459" name="Rounded Rectangle 16"/>
          <p:cNvSpPr/>
          <p:nvPr/>
        </p:nvSpPr>
        <p:spPr>
          <a:xfrm>
            <a:off x="777240" y="39319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60"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1 per action, so path cost is the number of actions</a:t>
            </a:r>
            <a:endParaRPr lang="en-US" sz="1300" b="0" u="none" strike="noStrike">
              <a:solidFill>
                <a:srgbClr val="000000"/>
              </a:solidFill>
              <a:effectLst/>
              <a:uFillTx/>
              <a:latin typeface="Arial"/>
            </a:endParaRPr>
          </a:p>
        </p:txBody>
      </p:sp>
      <p:sp>
        <p:nvSpPr>
          <p:cNvPr id="461" name="Rectangle 18"/>
          <p:cNvSpPr/>
          <p:nvPr/>
        </p:nvSpPr>
        <p:spPr>
          <a:xfrm>
            <a:off x="8686800" y="141732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a:solidFill>
                  <a:srgbClr val="112E5C"/>
                </a:solidFill>
                <a:effectLst/>
                <a:uFillTx/>
                <a:latin typeface="Aptos"/>
              </a:rPr>
              <a:t>24</a:t>
            </a:r>
            <a:endParaRPr lang="en-US" sz="2600" b="0" u="none" strike="noStrike">
              <a:solidFill>
                <a:srgbClr val="000000"/>
              </a:solidFill>
              <a:effectLst/>
              <a:uFillTx/>
              <a:latin typeface="Arial"/>
            </a:endParaRPr>
          </a:p>
        </p:txBody>
      </p:sp>
      <p:sp>
        <p:nvSpPr>
          <p:cNvPr id="462" name="Rectangle 19"/>
          <p:cNvSpPr/>
          <p:nvPr/>
        </p:nvSpPr>
        <p:spPr>
          <a:xfrm>
            <a:off x="8686800" y="192024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states: 4 × 6</a:t>
            </a:r>
            <a:endParaRPr lang="en-US" sz="1200" b="0" u="none" strike="noStrike">
              <a:solidFill>
                <a:srgbClr val="000000"/>
              </a:solidFill>
              <a:effectLst/>
              <a:uFillTx/>
              <a:latin typeface="Arial"/>
            </a:endParaRPr>
          </a:p>
        </p:txBody>
      </p:sp>
      <p:sp>
        <p:nvSpPr>
          <p:cNvPr id="463" name="Rectangle 20"/>
          <p:cNvSpPr/>
          <p:nvPr/>
        </p:nvSpPr>
        <p:spPr>
          <a:xfrm>
            <a:off x="8686800" y="224028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4" name="Rectangle 21"/>
          <p:cNvSpPr/>
          <p:nvPr/>
        </p:nvSpPr>
        <p:spPr>
          <a:xfrm>
            <a:off x="8686800" y="274320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actions</a:t>
            </a:r>
            <a:endParaRPr lang="en-US" sz="1200" b="0" u="none" strike="noStrike">
              <a:solidFill>
                <a:srgbClr val="000000"/>
              </a:solidFill>
              <a:effectLst/>
              <a:uFillTx/>
              <a:latin typeface="Arial"/>
            </a:endParaRPr>
          </a:p>
        </p:txBody>
      </p:sp>
      <p:sp>
        <p:nvSpPr>
          <p:cNvPr id="465" name="Rectangle 22"/>
          <p:cNvSpPr/>
          <p:nvPr/>
        </p:nvSpPr>
        <p:spPr>
          <a:xfrm>
            <a:off x="8686800" y="306324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6" name="Rectangle 23"/>
          <p:cNvSpPr/>
          <p:nvPr/>
        </p:nvSpPr>
        <p:spPr>
          <a:xfrm>
            <a:off x="8686800" y="356616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actions in the shortest solution</a:t>
            </a:r>
            <a:endParaRPr lang="en-US" sz="1200" b="0" u="none" strike="noStrike">
              <a:solidFill>
                <a:srgbClr val="000000"/>
              </a:solidFill>
              <a:effectLst/>
              <a:uFillTx/>
              <a:latin typeface="Arial"/>
            </a:endParaRPr>
          </a:p>
        </p:txBody>
      </p:sp>
      <p:sp>
        <p:nvSpPr>
          <p:cNvPr id="467" name="Rectangle 2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state is exactly the pair of jug contents. Nothing else is ever consulted.</a:t>
            </a:r>
            <a:endParaRPr lang="en-US" sz="1700" b="0" u="none" strike="noStrike">
              <a:solidFill>
                <a:srgbClr val="000000"/>
              </a:solidFill>
              <a:effectLst/>
              <a:uFillTx/>
              <a:latin typeface="Arial"/>
            </a:endParaRPr>
          </a:p>
        </p:txBody>
      </p:sp>
      <p:sp>
        <p:nvSpPr>
          <p:cNvPr id="468"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Not in the state: how much water you have poured in total, how long it took, or the number 4 itself.</a:t>
            </a:r>
            <a:endParaRPr lang="en-US" sz="1500" b="0" u="none" strike="noStrike">
              <a:solidFill>
                <a:srgbClr val="000000"/>
              </a:solidFill>
              <a:effectLst/>
              <a:uFillTx/>
              <a:latin typeface="Arial"/>
            </a:endParaRPr>
          </a:p>
        </p:txBody>
      </p:sp>
      <p:sp>
        <p:nvSpPr>
          <p:cNvPr id="469" name="Rectangle 26"/>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The goal is a property of a state, not a state you have to name in advance.</a:t>
            </a:r>
            <a:endParaRPr lang="en-US" sz="135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470"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1" name="Shape 1"/>
          <p:cNvSpPr/>
          <p:nvPr/>
        </p:nvSpPr>
        <p:spPr>
          <a:xfrm>
            <a:off x="0" y="54406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2" name="Text 2"/>
          <p:cNvSpPr/>
          <p:nvPr/>
        </p:nvSpPr>
        <p:spPr>
          <a:xfrm>
            <a:off x="914400" y="2240280"/>
            <a:ext cx="1033236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3600" b="1" u="none" strike="noStrike">
                <a:solidFill>
                  <a:srgbClr val="FFFFFF"/>
                </a:solidFill>
                <a:effectLst/>
                <a:uFillTx/>
                <a:latin typeface="Aptos"/>
              </a:rPr>
              <a:t>Section 3.3</a:t>
            </a:r>
            <a:endParaRPr lang="en-US" sz="3600" b="0" u="none" strike="noStrike">
              <a:solidFill>
                <a:srgbClr val="FFFFFF"/>
              </a:solidFill>
              <a:effectLst/>
              <a:uFillTx/>
              <a:latin typeface="Arial"/>
            </a:endParaRPr>
          </a:p>
        </p:txBody>
      </p:sp>
      <p:sp>
        <p:nvSpPr>
          <p:cNvPr id="473" name="Text 3"/>
          <p:cNvSpPr/>
          <p:nvPr/>
        </p:nvSpPr>
        <p:spPr>
          <a:xfrm>
            <a:off x="914400" y="2971800"/>
            <a:ext cx="103323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0" u="none" strike="noStrike" dirty="0">
                <a:solidFill>
                  <a:srgbClr val="DCE8FF"/>
                </a:solidFill>
                <a:effectLst/>
                <a:uFillTx/>
                <a:latin typeface="Aptos"/>
              </a:rPr>
              <a:t>Search Algorithms: state space, search tree, frontier, reached table</a:t>
            </a:r>
            <a:endParaRPr lang="en-US" sz="1700" b="0" u="none" strike="noStrike" dirty="0">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7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7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State Space Graph vs. Search Tree</a:t>
            </a:r>
            <a:endParaRPr lang="en-US" sz="2600" b="0" u="none" strike="noStrike" dirty="0">
              <a:solidFill>
                <a:srgbClr val="000000"/>
              </a:solidFill>
              <a:effectLst/>
              <a:uFillTx/>
              <a:latin typeface="Arial"/>
            </a:endParaRPr>
          </a:p>
        </p:txBody>
      </p:sp>
      <p:sp>
        <p:nvSpPr>
          <p:cNvPr id="47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7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79" name="Text 5"/>
          <p:cNvSpPr/>
          <p:nvPr/>
        </p:nvSpPr>
        <p:spPr>
          <a:xfrm>
            <a:off x="777240" y="1325880"/>
            <a:ext cx="40230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State space graph</a:t>
            </a:r>
            <a:endParaRPr lang="en-US" sz="1700" b="0" u="none" strike="noStrike">
              <a:solidFill>
                <a:srgbClr val="000000"/>
              </a:solidFill>
              <a:effectLst/>
              <a:uFillTx/>
              <a:latin typeface="Arial"/>
            </a:endParaRPr>
          </a:p>
        </p:txBody>
      </p:sp>
      <p:sp>
        <p:nvSpPr>
          <p:cNvPr id="480" name="Text 6"/>
          <p:cNvSpPr/>
          <p:nvPr/>
        </p:nvSpPr>
        <p:spPr>
          <a:xfrm>
            <a:off x="914400" y="1965960"/>
            <a:ext cx="3748680" cy="23770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0" u="none" strike="noStrike">
                <a:solidFill>
                  <a:srgbClr val="102A4C"/>
                </a:solidFill>
                <a:effectLst/>
                <a:uFillTx/>
                <a:latin typeface="Aptos"/>
              </a:rPr>
              <a:t>States are vertices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Actions are directed edges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Each state appears once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Usually too large to build fully</a:t>
            </a:r>
            <a:endParaRPr lang="en-US" sz="1500" b="0" u="none" strike="noStrike">
              <a:solidFill>
                <a:srgbClr val="000000"/>
              </a:solidFill>
              <a:effectLst/>
              <a:uFillTx/>
              <a:latin typeface="Arial"/>
            </a:endParaRPr>
          </a:p>
        </p:txBody>
      </p:sp>
      <p:sp>
        <p:nvSpPr>
          <p:cNvPr id="481" name="Text 7"/>
          <p:cNvSpPr/>
          <p:nvPr/>
        </p:nvSpPr>
        <p:spPr>
          <a:xfrm>
            <a:off x="7406640" y="1325880"/>
            <a:ext cx="402300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dirty="0">
                <a:solidFill>
                  <a:srgbClr val="112E5C"/>
                </a:solidFill>
                <a:effectLst/>
                <a:uFillTx/>
                <a:latin typeface="Aptos"/>
              </a:rPr>
              <a:t>Search tree</a:t>
            </a:r>
            <a:endParaRPr lang="en-US" sz="1700" b="0" u="none" strike="noStrike" dirty="0">
              <a:solidFill>
                <a:srgbClr val="000000"/>
              </a:solidFill>
              <a:effectLst/>
              <a:uFillTx/>
              <a:latin typeface="Arial"/>
            </a:endParaRPr>
          </a:p>
        </p:txBody>
      </p:sp>
      <p:sp>
        <p:nvSpPr>
          <p:cNvPr id="482" name="Text 8"/>
          <p:cNvSpPr/>
          <p:nvPr/>
        </p:nvSpPr>
        <p:spPr>
          <a:xfrm>
            <a:off x="7543800" y="1965960"/>
            <a:ext cx="3748680" cy="23770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0" u="none" strike="noStrike">
                <a:solidFill>
                  <a:srgbClr val="102A4C"/>
                </a:solidFill>
                <a:effectLst/>
                <a:uFillTx/>
                <a:latin typeface="Aptos"/>
              </a:rPr>
              <a:t>Nodes represent paths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Root is the initial state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Children are successors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Same state can appear many times</a:t>
            </a:r>
            <a:endParaRPr lang="en-US" sz="1500" b="0" u="none" strike="noStrike">
              <a:solidFill>
                <a:srgbClr val="000000"/>
              </a:solidFill>
              <a:effectLst/>
              <a:uFillTx/>
              <a:latin typeface="Arial"/>
            </a:endParaRPr>
          </a:p>
        </p:txBody>
      </p:sp>
      <p:sp>
        <p:nvSpPr>
          <p:cNvPr id="483" name="Shape 9"/>
          <p:cNvSpPr/>
          <p:nvPr/>
        </p:nvSpPr>
        <p:spPr>
          <a:xfrm>
            <a:off x="5074920" y="2743200"/>
            <a:ext cx="2011680" cy="360"/>
          </a:xfrm>
          <a:prstGeom prst="line">
            <a:avLst/>
          </a:prstGeom>
          <a:ln w="2540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84" name="Text 10"/>
          <p:cNvSpPr/>
          <p:nvPr/>
        </p:nvSpPr>
        <p:spPr>
          <a:xfrm>
            <a:off x="2743200" y="4846320"/>
            <a:ext cx="676620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algn="ctr" defTabSz="914400">
              <a:lnSpc>
                <a:spcPct val="100000"/>
              </a:lnSpc>
              <a:tabLst>
                <a:tab pos="0" algn="l"/>
              </a:tabLst>
            </a:pPr>
            <a:r>
              <a:rPr lang="en-US" sz="1900" b="1" u="none" strike="noStrike" dirty="0">
                <a:solidFill>
                  <a:srgbClr val="112E5C"/>
                </a:solidFill>
                <a:effectLst/>
                <a:uFillTx/>
                <a:latin typeface="Aptos"/>
              </a:rPr>
              <a:t>Search overlays a tree of possible plans on top of the state-space graph.</a:t>
            </a:r>
            <a:endParaRPr lang="en-US" sz="1900" b="0" u="none" strike="noStrike" dirty="0">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8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8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State Space Graph</a:t>
            </a:r>
            <a:endParaRPr lang="en-US" sz="2600" b="0" u="none" strike="noStrike">
              <a:solidFill>
                <a:srgbClr val="000000"/>
              </a:solidFill>
              <a:effectLst/>
              <a:uFillTx/>
              <a:latin typeface="Arial"/>
            </a:endParaRPr>
          </a:p>
        </p:txBody>
      </p:sp>
      <p:sp>
        <p:nvSpPr>
          <p:cNvPr id="48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8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90" name="Shape 5"/>
          <p:cNvSpPr/>
          <p:nvPr/>
        </p:nvSpPr>
        <p:spPr>
          <a:xfrm flipV="1">
            <a:off x="1411560" y="2311560"/>
            <a:ext cx="746280" cy="435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1" name="Shape 6"/>
          <p:cNvSpPr/>
          <p:nvPr/>
        </p:nvSpPr>
        <p:spPr>
          <a:xfrm>
            <a:off x="1411560" y="2746800"/>
            <a:ext cx="746280" cy="497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2" name="Shape 7"/>
          <p:cNvSpPr/>
          <p:nvPr/>
        </p:nvSpPr>
        <p:spPr>
          <a:xfrm flipV="1">
            <a:off x="2157840" y="1969560"/>
            <a:ext cx="652680" cy="3420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3" name="Shape 8"/>
          <p:cNvSpPr/>
          <p:nvPr/>
        </p:nvSpPr>
        <p:spPr>
          <a:xfrm>
            <a:off x="2157840" y="2311560"/>
            <a:ext cx="808200" cy="403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4" name="Shape 9"/>
          <p:cNvSpPr/>
          <p:nvPr/>
        </p:nvSpPr>
        <p:spPr>
          <a:xfrm>
            <a:off x="2157840" y="2311560"/>
            <a:ext cx="1585440" cy="279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5" name="Shape 10"/>
          <p:cNvSpPr/>
          <p:nvPr/>
        </p:nvSpPr>
        <p:spPr>
          <a:xfrm flipV="1">
            <a:off x="2810520" y="1751760"/>
            <a:ext cx="684000" cy="217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6" name="Shape 11"/>
          <p:cNvSpPr/>
          <p:nvPr/>
        </p:nvSpPr>
        <p:spPr>
          <a:xfrm flipH="1">
            <a:off x="2966040" y="1751760"/>
            <a:ext cx="528480" cy="963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7" name="Shape 12"/>
          <p:cNvSpPr/>
          <p:nvPr/>
        </p:nvSpPr>
        <p:spPr>
          <a:xfrm flipV="1">
            <a:off x="2966040" y="1751760"/>
            <a:ext cx="528480" cy="963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8" name="Shape 13"/>
          <p:cNvSpPr/>
          <p:nvPr/>
        </p:nvSpPr>
        <p:spPr>
          <a:xfrm flipV="1">
            <a:off x="2966040" y="2591280"/>
            <a:ext cx="777240" cy="124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99" name="Shape 14"/>
          <p:cNvSpPr/>
          <p:nvPr/>
        </p:nvSpPr>
        <p:spPr>
          <a:xfrm flipH="1">
            <a:off x="3463560" y="2591280"/>
            <a:ext cx="279720" cy="6840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00" name="Shape 15"/>
          <p:cNvSpPr/>
          <p:nvPr/>
        </p:nvSpPr>
        <p:spPr>
          <a:xfrm flipH="1" flipV="1">
            <a:off x="2157840" y="3243960"/>
            <a:ext cx="1305720" cy="313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13680" rIns="90000" bIns="-13680" anchor="t" anchorCtr="1">
            <a:noAutofit/>
          </a:bodyPr>
          <a:lstStyle/>
          <a:p>
            <a:endParaRPr lang="en-US" sz="1800" b="0" u="none" strike="noStrike">
              <a:solidFill>
                <a:srgbClr val="000000"/>
              </a:solidFill>
              <a:effectLst/>
              <a:uFillTx/>
              <a:latin typeface="Arial"/>
            </a:endParaRPr>
          </a:p>
        </p:txBody>
      </p:sp>
      <p:sp>
        <p:nvSpPr>
          <p:cNvPr id="501" name="Shape 16"/>
          <p:cNvSpPr/>
          <p:nvPr/>
        </p:nvSpPr>
        <p:spPr>
          <a:xfrm>
            <a:off x="2157840" y="3243960"/>
            <a:ext cx="684000" cy="5288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02" name="Shape 17"/>
          <p:cNvSpPr/>
          <p:nvPr/>
        </p:nvSpPr>
        <p:spPr>
          <a:xfrm flipV="1">
            <a:off x="2841840" y="3275280"/>
            <a:ext cx="621720" cy="4975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03" name="Shape 18"/>
          <p:cNvSpPr/>
          <p:nvPr/>
        </p:nvSpPr>
        <p:spPr>
          <a:xfrm>
            <a:off x="3743280" y="2591280"/>
            <a:ext cx="684000" cy="7149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04" name="Shape 19"/>
          <p:cNvSpPr/>
          <p:nvPr/>
        </p:nvSpPr>
        <p:spPr>
          <a:xfrm flipV="1">
            <a:off x="4427280" y="2871000"/>
            <a:ext cx="590760" cy="435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05" name="Shape 20"/>
          <p:cNvSpPr/>
          <p:nvPr/>
        </p:nvSpPr>
        <p:spPr>
          <a:xfrm flipH="1" flipV="1">
            <a:off x="2966040" y="2715480"/>
            <a:ext cx="2052000" cy="1555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06" name="Shape 21"/>
          <p:cNvSpPr/>
          <p:nvPr/>
        </p:nvSpPr>
        <p:spPr>
          <a:xfrm flipV="1">
            <a:off x="5018040" y="2218320"/>
            <a:ext cx="528480" cy="652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07" name="Text 22"/>
          <p:cNvSpPr/>
          <p:nvPr/>
        </p:nvSpPr>
        <p:spPr>
          <a:xfrm>
            <a:off x="1265400" y="26006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08" name="Text 23"/>
          <p:cNvSpPr/>
          <p:nvPr/>
        </p:nvSpPr>
        <p:spPr>
          <a:xfrm>
            <a:off x="2011680" y="2165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09" name="Text 24"/>
          <p:cNvSpPr/>
          <p:nvPr/>
        </p:nvSpPr>
        <p:spPr>
          <a:xfrm>
            <a:off x="2011680" y="30981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10" name="Text 25"/>
          <p:cNvSpPr/>
          <p:nvPr/>
        </p:nvSpPr>
        <p:spPr>
          <a:xfrm>
            <a:off x="2664720" y="1823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11" name="Text 26"/>
          <p:cNvSpPr/>
          <p:nvPr/>
        </p:nvSpPr>
        <p:spPr>
          <a:xfrm>
            <a:off x="2819880" y="2569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12" name="Text 27"/>
          <p:cNvSpPr/>
          <p:nvPr/>
        </p:nvSpPr>
        <p:spPr>
          <a:xfrm>
            <a:off x="3597120" y="24451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13" name="Text 28"/>
          <p:cNvSpPr/>
          <p:nvPr/>
        </p:nvSpPr>
        <p:spPr>
          <a:xfrm>
            <a:off x="3317400" y="31291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14" name="Text 29"/>
          <p:cNvSpPr/>
          <p:nvPr/>
        </p:nvSpPr>
        <p:spPr>
          <a:xfrm>
            <a:off x="2695680" y="36266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15" name="Text 30"/>
          <p:cNvSpPr/>
          <p:nvPr/>
        </p:nvSpPr>
        <p:spPr>
          <a:xfrm>
            <a:off x="3348360" y="16056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16" name="Text 31"/>
          <p:cNvSpPr/>
          <p:nvPr/>
        </p:nvSpPr>
        <p:spPr>
          <a:xfrm>
            <a:off x="4281120" y="3160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517" name="Text 32"/>
          <p:cNvSpPr/>
          <p:nvPr/>
        </p:nvSpPr>
        <p:spPr>
          <a:xfrm>
            <a:off x="4871880" y="2724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18" name="Text 33"/>
          <p:cNvSpPr/>
          <p:nvPr/>
        </p:nvSpPr>
        <p:spPr>
          <a:xfrm>
            <a:off x="5400360" y="20721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19" name="Text 34"/>
          <p:cNvSpPr/>
          <p:nvPr/>
        </p:nvSpPr>
        <p:spPr>
          <a:xfrm>
            <a:off x="6858000" y="1828800"/>
            <a:ext cx="4388760" cy="822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02A4C"/>
                </a:solidFill>
                <a:effectLst/>
                <a:uFillTx/>
                <a:latin typeface="Aptos"/>
              </a:rPr>
              <a:t>Graph view: one node per abstract state, arcs represent action results.</a:t>
            </a:r>
            <a:endParaRPr lang="en-US" sz="2000" b="0" u="none" strike="noStrike">
              <a:solidFill>
                <a:srgbClr val="000000"/>
              </a:solidFill>
              <a:effectLst/>
              <a:uFillTx/>
              <a:latin typeface="Arial"/>
            </a:endParaRPr>
          </a:p>
        </p:txBody>
      </p:sp>
      <p:sp>
        <p:nvSpPr>
          <p:cNvPr id="520" name="Text 35"/>
          <p:cNvSpPr/>
          <p:nvPr/>
        </p:nvSpPr>
        <p:spPr>
          <a:xfrm>
            <a:off x="6903720" y="3017520"/>
            <a:ext cx="429732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5C6B80"/>
                </a:solidFill>
                <a:effectLst/>
                <a:uFillTx/>
                <a:latin typeface="Aptos"/>
              </a:rPr>
              <a:t>This graph is a mathematical representation of the problem. We rarely store the whole thing in memory.</a:t>
            </a:r>
            <a:endParaRPr lang="en-US" sz="16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52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2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Search Tree Root and First Frontier</a:t>
            </a:r>
            <a:endParaRPr lang="en-US" sz="2600" b="0" u="none" strike="noStrike">
              <a:solidFill>
                <a:srgbClr val="000000"/>
              </a:solidFill>
              <a:effectLst/>
              <a:uFillTx/>
              <a:latin typeface="Arial"/>
            </a:endParaRPr>
          </a:p>
        </p:txBody>
      </p:sp>
      <p:sp>
        <p:nvSpPr>
          <p:cNvPr id="52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2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26" name="Shape 5"/>
          <p:cNvSpPr/>
          <p:nvPr/>
        </p:nvSpPr>
        <p:spPr>
          <a:xfrm flipV="1">
            <a:off x="1080720" y="2042640"/>
            <a:ext cx="592560" cy="3456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27" name="Shape 6"/>
          <p:cNvSpPr/>
          <p:nvPr/>
        </p:nvSpPr>
        <p:spPr>
          <a:xfrm>
            <a:off x="1080720" y="2388240"/>
            <a:ext cx="592560" cy="394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28" name="Shape 7"/>
          <p:cNvSpPr/>
          <p:nvPr/>
        </p:nvSpPr>
        <p:spPr>
          <a:xfrm flipV="1">
            <a:off x="1673280" y="1770840"/>
            <a:ext cx="518400" cy="271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29" name="Shape 8"/>
          <p:cNvSpPr/>
          <p:nvPr/>
        </p:nvSpPr>
        <p:spPr>
          <a:xfrm>
            <a:off x="1673280" y="2042640"/>
            <a:ext cx="641880" cy="3207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0" name="Shape 9"/>
          <p:cNvSpPr/>
          <p:nvPr/>
        </p:nvSpPr>
        <p:spPr>
          <a:xfrm>
            <a:off x="1673280" y="2042640"/>
            <a:ext cx="1258920" cy="2221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1" name="Shape 10"/>
          <p:cNvSpPr/>
          <p:nvPr/>
        </p:nvSpPr>
        <p:spPr>
          <a:xfrm flipV="1">
            <a:off x="2191680" y="1598040"/>
            <a:ext cx="543240" cy="172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2" name="Shape 11"/>
          <p:cNvSpPr/>
          <p:nvPr/>
        </p:nvSpPr>
        <p:spPr>
          <a:xfrm flipH="1">
            <a:off x="2315160" y="1598040"/>
            <a:ext cx="419760" cy="7653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3" name="Shape 12"/>
          <p:cNvSpPr/>
          <p:nvPr/>
        </p:nvSpPr>
        <p:spPr>
          <a:xfrm flipV="1">
            <a:off x="2315160" y="1598040"/>
            <a:ext cx="419760" cy="7653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4" name="Shape 13"/>
          <p:cNvSpPr/>
          <p:nvPr/>
        </p:nvSpPr>
        <p:spPr>
          <a:xfrm flipV="1">
            <a:off x="2315160" y="2264760"/>
            <a:ext cx="617040" cy="98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5" name="Shape 14"/>
          <p:cNvSpPr/>
          <p:nvPr/>
        </p:nvSpPr>
        <p:spPr>
          <a:xfrm flipH="1">
            <a:off x="2710080" y="2264760"/>
            <a:ext cx="222120" cy="543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6" name="Shape 15"/>
          <p:cNvSpPr/>
          <p:nvPr/>
        </p:nvSpPr>
        <p:spPr>
          <a:xfrm flipH="1" flipV="1">
            <a:off x="1673280" y="2783160"/>
            <a:ext cx="1036800" cy="248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20160" rIns="90000" bIns="-20160" anchor="t" anchorCtr="1">
            <a:noAutofit/>
          </a:bodyPr>
          <a:lstStyle/>
          <a:p>
            <a:endParaRPr lang="en-US" sz="1800" b="0" u="none" strike="noStrike">
              <a:solidFill>
                <a:srgbClr val="000000"/>
              </a:solidFill>
              <a:effectLst/>
              <a:uFillTx/>
              <a:latin typeface="Arial"/>
            </a:endParaRPr>
          </a:p>
        </p:txBody>
      </p:sp>
      <p:sp>
        <p:nvSpPr>
          <p:cNvPr id="537" name="Shape 16"/>
          <p:cNvSpPr/>
          <p:nvPr/>
        </p:nvSpPr>
        <p:spPr>
          <a:xfrm>
            <a:off x="1673280" y="2783160"/>
            <a:ext cx="542880" cy="4197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8" name="Shape 17"/>
          <p:cNvSpPr/>
          <p:nvPr/>
        </p:nvSpPr>
        <p:spPr>
          <a:xfrm flipV="1">
            <a:off x="2216160" y="2808000"/>
            <a:ext cx="493920" cy="394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9" name="Shape 18"/>
          <p:cNvSpPr/>
          <p:nvPr/>
        </p:nvSpPr>
        <p:spPr>
          <a:xfrm>
            <a:off x="2932200" y="2264760"/>
            <a:ext cx="543240" cy="567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40" name="Shape 19"/>
          <p:cNvSpPr/>
          <p:nvPr/>
        </p:nvSpPr>
        <p:spPr>
          <a:xfrm flipV="1">
            <a:off x="3475440" y="2486880"/>
            <a:ext cx="469080" cy="3456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41" name="Shape 20"/>
          <p:cNvSpPr/>
          <p:nvPr/>
        </p:nvSpPr>
        <p:spPr>
          <a:xfrm flipH="1" flipV="1">
            <a:off x="2315160" y="2363400"/>
            <a:ext cx="1629360" cy="1234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42" name="Shape 21"/>
          <p:cNvSpPr/>
          <p:nvPr/>
        </p:nvSpPr>
        <p:spPr>
          <a:xfrm flipV="1">
            <a:off x="3944520" y="1968480"/>
            <a:ext cx="419760" cy="5184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43" name="Text 22"/>
          <p:cNvSpPr/>
          <p:nvPr/>
        </p:nvSpPr>
        <p:spPr>
          <a:xfrm>
            <a:off x="934560" y="22420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44" name="Text 23"/>
          <p:cNvSpPr/>
          <p:nvPr/>
        </p:nvSpPr>
        <p:spPr>
          <a:xfrm>
            <a:off x="1527120" y="18964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45" name="Text 24"/>
          <p:cNvSpPr/>
          <p:nvPr/>
        </p:nvSpPr>
        <p:spPr>
          <a:xfrm>
            <a:off x="1527120" y="2637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46" name="Text 25"/>
          <p:cNvSpPr/>
          <p:nvPr/>
        </p:nvSpPr>
        <p:spPr>
          <a:xfrm>
            <a:off x="2045520" y="16250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47" name="Text 26"/>
          <p:cNvSpPr/>
          <p:nvPr/>
        </p:nvSpPr>
        <p:spPr>
          <a:xfrm>
            <a:off x="2169000" y="22176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48" name="Text 27"/>
          <p:cNvSpPr/>
          <p:nvPr/>
        </p:nvSpPr>
        <p:spPr>
          <a:xfrm>
            <a:off x="2786040" y="21186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49" name="Text 28"/>
          <p:cNvSpPr/>
          <p:nvPr/>
        </p:nvSpPr>
        <p:spPr>
          <a:xfrm>
            <a:off x="2563920" y="2661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50" name="Text 29"/>
          <p:cNvSpPr/>
          <p:nvPr/>
        </p:nvSpPr>
        <p:spPr>
          <a:xfrm>
            <a:off x="2070360" y="3056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51" name="Text 30"/>
          <p:cNvSpPr/>
          <p:nvPr/>
        </p:nvSpPr>
        <p:spPr>
          <a:xfrm>
            <a:off x="2588760" y="14522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52" name="Text 31"/>
          <p:cNvSpPr/>
          <p:nvPr/>
        </p:nvSpPr>
        <p:spPr>
          <a:xfrm>
            <a:off x="3329280" y="2686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553" name="Text 32"/>
          <p:cNvSpPr/>
          <p:nvPr/>
        </p:nvSpPr>
        <p:spPr>
          <a:xfrm>
            <a:off x="3798360" y="23407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54" name="Text 33"/>
          <p:cNvSpPr/>
          <p:nvPr/>
        </p:nvSpPr>
        <p:spPr>
          <a:xfrm>
            <a:off x="4218120" y="1822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55" name="Shape 34"/>
          <p:cNvSpPr/>
          <p:nvPr/>
        </p:nvSpPr>
        <p:spPr>
          <a:xfrm flipH="1">
            <a:off x="8112240" y="18817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6" name="Shape 35"/>
          <p:cNvSpPr/>
          <p:nvPr/>
        </p:nvSpPr>
        <p:spPr>
          <a:xfrm>
            <a:off x="9467640" y="18817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7" name="Shape 36"/>
          <p:cNvSpPr/>
          <p:nvPr/>
        </p:nvSpPr>
        <p:spPr>
          <a:xfrm>
            <a:off x="9467640" y="18817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8" name="Text 37"/>
          <p:cNvSpPr/>
          <p:nvPr/>
        </p:nvSpPr>
        <p:spPr>
          <a:xfrm>
            <a:off x="9321480" y="1735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59" name="Text 38"/>
          <p:cNvSpPr/>
          <p:nvPr/>
        </p:nvSpPr>
        <p:spPr>
          <a:xfrm>
            <a:off x="796608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60" name="Text 39"/>
          <p:cNvSpPr/>
          <p:nvPr/>
        </p:nvSpPr>
        <p:spPr>
          <a:xfrm>
            <a:off x="932148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61" name="Text 40"/>
          <p:cNvSpPr/>
          <p:nvPr/>
        </p:nvSpPr>
        <p:spPr>
          <a:xfrm>
            <a:off x="1067652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62" name="Text 41"/>
          <p:cNvSpPr/>
          <p:nvPr/>
        </p:nvSpPr>
        <p:spPr>
          <a:xfrm>
            <a:off x="960120" y="5166360"/>
            <a:ext cx="1005804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The root node is the initial state. Expanding it generates children and creates the frontier.</a:t>
            </a:r>
            <a:endParaRPr lang="en-US"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56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6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Repeated States in the Search Tree</a:t>
            </a:r>
            <a:endParaRPr lang="en-US" sz="2600" b="0" u="none" strike="noStrike">
              <a:solidFill>
                <a:srgbClr val="000000"/>
              </a:solidFill>
              <a:effectLst/>
              <a:uFillTx/>
              <a:latin typeface="Arial"/>
            </a:endParaRPr>
          </a:p>
        </p:txBody>
      </p:sp>
      <p:sp>
        <p:nvSpPr>
          <p:cNvPr id="56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6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68" name="Shape 5"/>
          <p:cNvSpPr/>
          <p:nvPr/>
        </p:nvSpPr>
        <p:spPr>
          <a:xfrm flipV="1">
            <a:off x="1065960" y="1958400"/>
            <a:ext cx="570600" cy="333000"/>
          </a:xfrm>
          <a:prstGeom prst="line">
            <a:avLst/>
          </a:prstGeom>
          <a:ln w="3429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69" name="Shape 6"/>
          <p:cNvSpPr/>
          <p:nvPr/>
        </p:nvSpPr>
        <p:spPr>
          <a:xfrm>
            <a:off x="1065960" y="2291400"/>
            <a:ext cx="570600" cy="380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0" name="Shape 7"/>
          <p:cNvSpPr/>
          <p:nvPr/>
        </p:nvSpPr>
        <p:spPr>
          <a:xfrm flipV="1">
            <a:off x="1636560" y="1697040"/>
            <a:ext cx="499320" cy="2613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1" name="Shape 8"/>
          <p:cNvSpPr/>
          <p:nvPr/>
        </p:nvSpPr>
        <p:spPr>
          <a:xfrm>
            <a:off x="1636560" y="1958400"/>
            <a:ext cx="618120" cy="309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2" name="Shape 9"/>
          <p:cNvSpPr/>
          <p:nvPr/>
        </p:nvSpPr>
        <p:spPr>
          <a:xfrm>
            <a:off x="1636560" y="1958400"/>
            <a:ext cx="1212480" cy="214200"/>
          </a:xfrm>
          <a:prstGeom prst="line">
            <a:avLst/>
          </a:prstGeom>
          <a:ln w="3429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3" name="Shape 10"/>
          <p:cNvSpPr/>
          <p:nvPr/>
        </p:nvSpPr>
        <p:spPr>
          <a:xfrm flipV="1">
            <a:off x="2135880" y="1530360"/>
            <a:ext cx="523080" cy="166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4" name="Shape 11"/>
          <p:cNvSpPr/>
          <p:nvPr/>
        </p:nvSpPr>
        <p:spPr>
          <a:xfrm flipH="1">
            <a:off x="2254680" y="1530360"/>
            <a:ext cx="404280" cy="737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5" name="Shape 12"/>
          <p:cNvSpPr/>
          <p:nvPr/>
        </p:nvSpPr>
        <p:spPr>
          <a:xfrm flipV="1">
            <a:off x="2254680" y="1530360"/>
            <a:ext cx="404280" cy="737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6" name="Shape 13"/>
          <p:cNvSpPr/>
          <p:nvPr/>
        </p:nvSpPr>
        <p:spPr>
          <a:xfrm flipV="1">
            <a:off x="2254680" y="2172600"/>
            <a:ext cx="594360" cy="950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7" name="Shape 14"/>
          <p:cNvSpPr/>
          <p:nvPr/>
        </p:nvSpPr>
        <p:spPr>
          <a:xfrm flipH="1">
            <a:off x="2635200" y="2172600"/>
            <a:ext cx="213840" cy="522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8" name="Shape 15"/>
          <p:cNvSpPr/>
          <p:nvPr/>
        </p:nvSpPr>
        <p:spPr>
          <a:xfrm flipH="1" flipV="1">
            <a:off x="1636560" y="2671560"/>
            <a:ext cx="998640" cy="237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21240" rIns="90000" bIns="-21240" anchor="t" anchorCtr="1">
            <a:noAutofit/>
          </a:bodyPr>
          <a:lstStyle/>
          <a:p>
            <a:endParaRPr lang="en-US" sz="1800" b="0" u="none" strike="noStrike">
              <a:solidFill>
                <a:srgbClr val="000000"/>
              </a:solidFill>
              <a:effectLst/>
              <a:uFillTx/>
              <a:latin typeface="Arial"/>
            </a:endParaRPr>
          </a:p>
        </p:txBody>
      </p:sp>
      <p:sp>
        <p:nvSpPr>
          <p:cNvPr id="579" name="Shape 16"/>
          <p:cNvSpPr/>
          <p:nvPr/>
        </p:nvSpPr>
        <p:spPr>
          <a:xfrm>
            <a:off x="1636560" y="2671560"/>
            <a:ext cx="523080" cy="404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0" name="Shape 17"/>
          <p:cNvSpPr/>
          <p:nvPr/>
        </p:nvSpPr>
        <p:spPr>
          <a:xfrm flipV="1">
            <a:off x="2159640" y="2695320"/>
            <a:ext cx="475560" cy="3805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1" name="Shape 18"/>
          <p:cNvSpPr/>
          <p:nvPr/>
        </p:nvSpPr>
        <p:spPr>
          <a:xfrm>
            <a:off x="2849040" y="2172600"/>
            <a:ext cx="523080" cy="5464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2" name="Shape 19"/>
          <p:cNvSpPr/>
          <p:nvPr/>
        </p:nvSpPr>
        <p:spPr>
          <a:xfrm flipV="1">
            <a:off x="3372120" y="2386440"/>
            <a:ext cx="451800" cy="332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3" name="Shape 20"/>
          <p:cNvSpPr/>
          <p:nvPr/>
        </p:nvSpPr>
        <p:spPr>
          <a:xfrm flipH="1" flipV="1">
            <a:off x="2254680" y="2267640"/>
            <a:ext cx="1569240" cy="118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4" name="Shape 21"/>
          <p:cNvSpPr/>
          <p:nvPr/>
        </p:nvSpPr>
        <p:spPr>
          <a:xfrm flipV="1">
            <a:off x="3823920" y="1887120"/>
            <a:ext cx="403920" cy="4993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5" name="Text 22"/>
          <p:cNvSpPr/>
          <p:nvPr/>
        </p:nvSpPr>
        <p:spPr>
          <a:xfrm>
            <a:off x="919800" y="21452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86" name="Text 23"/>
          <p:cNvSpPr/>
          <p:nvPr/>
        </p:nvSpPr>
        <p:spPr>
          <a:xfrm>
            <a:off x="1490400" y="18122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87" name="Text 24"/>
          <p:cNvSpPr/>
          <p:nvPr/>
        </p:nvSpPr>
        <p:spPr>
          <a:xfrm>
            <a:off x="1490400" y="2525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88" name="Text 25"/>
          <p:cNvSpPr/>
          <p:nvPr/>
        </p:nvSpPr>
        <p:spPr>
          <a:xfrm>
            <a:off x="1989720" y="15508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89" name="Text 26"/>
          <p:cNvSpPr/>
          <p:nvPr/>
        </p:nvSpPr>
        <p:spPr>
          <a:xfrm>
            <a:off x="2108520" y="21214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90" name="Text 27"/>
          <p:cNvSpPr/>
          <p:nvPr/>
        </p:nvSpPr>
        <p:spPr>
          <a:xfrm>
            <a:off x="2702880" y="2026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91" name="Text 28"/>
          <p:cNvSpPr/>
          <p:nvPr/>
        </p:nvSpPr>
        <p:spPr>
          <a:xfrm>
            <a:off x="2489040" y="2549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92" name="Text 29"/>
          <p:cNvSpPr/>
          <p:nvPr/>
        </p:nvSpPr>
        <p:spPr>
          <a:xfrm>
            <a:off x="2013480" y="2929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93" name="Text 30"/>
          <p:cNvSpPr/>
          <p:nvPr/>
        </p:nvSpPr>
        <p:spPr>
          <a:xfrm>
            <a:off x="2512800" y="13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94" name="Text 31"/>
          <p:cNvSpPr/>
          <p:nvPr/>
        </p:nvSpPr>
        <p:spPr>
          <a:xfrm>
            <a:off x="3225960" y="25732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595" name="Text 32"/>
          <p:cNvSpPr/>
          <p:nvPr/>
        </p:nvSpPr>
        <p:spPr>
          <a:xfrm>
            <a:off x="3677760" y="22402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96" name="Text 33"/>
          <p:cNvSpPr/>
          <p:nvPr/>
        </p:nvSpPr>
        <p:spPr>
          <a:xfrm>
            <a:off x="4082040" y="1740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97" name="Shape 34"/>
          <p:cNvSpPr/>
          <p:nvPr/>
        </p:nvSpPr>
        <p:spPr>
          <a:xfrm flipH="1">
            <a:off x="8112240" y="169884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8" name="Shape 35"/>
          <p:cNvSpPr/>
          <p:nvPr/>
        </p:nvSpPr>
        <p:spPr>
          <a:xfrm>
            <a:off x="9467640" y="16988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9" name="Shape 36"/>
          <p:cNvSpPr/>
          <p:nvPr/>
        </p:nvSpPr>
        <p:spPr>
          <a:xfrm>
            <a:off x="9467640" y="16988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0" name="Shape 37"/>
          <p:cNvSpPr/>
          <p:nvPr/>
        </p:nvSpPr>
        <p:spPr>
          <a:xfrm flipH="1">
            <a:off x="7506000" y="234072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1" name="Shape 38"/>
          <p:cNvSpPr/>
          <p:nvPr/>
        </p:nvSpPr>
        <p:spPr>
          <a:xfrm>
            <a:off x="8112240" y="23407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2" name="Shape 39"/>
          <p:cNvSpPr/>
          <p:nvPr/>
        </p:nvSpPr>
        <p:spPr>
          <a:xfrm>
            <a:off x="8112240" y="234072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3" name="Shape 40"/>
          <p:cNvSpPr/>
          <p:nvPr/>
        </p:nvSpPr>
        <p:spPr>
          <a:xfrm flipH="1">
            <a:off x="9075240" y="234072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4" name="Shape 41"/>
          <p:cNvSpPr/>
          <p:nvPr/>
        </p:nvSpPr>
        <p:spPr>
          <a:xfrm>
            <a:off x="9467640" y="234072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5" name="Shape 42"/>
          <p:cNvSpPr/>
          <p:nvPr/>
        </p:nvSpPr>
        <p:spPr>
          <a:xfrm>
            <a:off x="10822680" y="23407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6" name="Shape 43"/>
          <p:cNvSpPr/>
          <p:nvPr/>
        </p:nvSpPr>
        <p:spPr>
          <a:xfrm flipH="1">
            <a:off x="729216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7" name="Shape 44"/>
          <p:cNvSpPr/>
          <p:nvPr/>
        </p:nvSpPr>
        <p:spPr>
          <a:xfrm flipH="1">
            <a:off x="789840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8" name="Shape 45"/>
          <p:cNvSpPr/>
          <p:nvPr/>
        </p:nvSpPr>
        <p:spPr>
          <a:xfrm flipH="1">
            <a:off x="850464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9" name="Shape 46"/>
          <p:cNvSpPr/>
          <p:nvPr/>
        </p:nvSpPr>
        <p:spPr>
          <a:xfrm>
            <a:off x="8718480" y="301824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0" name="Shape 47"/>
          <p:cNvSpPr/>
          <p:nvPr/>
        </p:nvSpPr>
        <p:spPr>
          <a:xfrm>
            <a:off x="9075240" y="301824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1" name="Shape 48"/>
          <p:cNvSpPr/>
          <p:nvPr/>
        </p:nvSpPr>
        <p:spPr>
          <a:xfrm>
            <a:off x="9075240" y="301824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2" name="Shape 49"/>
          <p:cNvSpPr/>
          <p:nvPr/>
        </p:nvSpPr>
        <p:spPr>
          <a:xfrm>
            <a:off x="9859680" y="301824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3" name="Shape 50"/>
          <p:cNvSpPr/>
          <p:nvPr/>
        </p:nvSpPr>
        <p:spPr>
          <a:xfrm flipH="1">
            <a:off x="10216440" y="36244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4" name="Shape 51"/>
          <p:cNvSpPr/>
          <p:nvPr/>
        </p:nvSpPr>
        <p:spPr>
          <a:xfrm>
            <a:off x="10430280" y="362448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5" name="Text 52"/>
          <p:cNvSpPr/>
          <p:nvPr/>
        </p:nvSpPr>
        <p:spPr>
          <a:xfrm>
            <a:off x="9321480" y="1552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616" name="Text 53"/>
          <p:cNvSpPr/>
          <p:nvPr/>
        </p:nvSpPr>
        <p:spPr>
          <a:xfrm>
            <a:off x="7966080" y="219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617" name="Text 54"/>
          <p:cNvSpPr/>
          <p:nvPr/>
        </p:nvSpPr>
        <p:spPr>
          <a:xfrm>
            <a:off x="93214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18" name="Text 55"/>
          <p:cNvSpPr/>
          <p:nvPr/>
        </p:nvSpPr>
        <p:spPr>
          <a:xfrm>
            <a:off x="10676520" y="219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19" name="Text 56"/>
          <p:cNvSpPr/>
          <p:nvPr/>
        </p:nvSpPr>
        <p:spPr>
          <a:xfrm>
            <a:off x="735984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620" name="Text 57"/>
          <p:cNvSpPr/>
          <p:nvPr/>
        </p:nvSpPr>
        <p:spPr>
          <a:xfrm>
            <a:off x="796608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21" name="Text 58"/>
          <p:cNvSpPr/>
          <p:nvPr/>
        </p:nvSpPr>
        <p:spPr>
          <a:xfrm>
            <a:off x="8572680" y="28720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22" name="Text 59"/>
          <p:cNvSpPr/>
          <p:nvPr/>
        </p:nvSpPr>
        <p:spPr>
          <a:xfrm>
            <a:off x="892908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3" name="Text 60"/>
          <p:cNvSpPr/>
          <p:nvPr/>
        </p:nvSpPr>
        <p:spPr>
          <a:xfrm>
            <a:off x="971352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4" name="Text 61"/>
          <p:cNvSpPr/>
          <p:nvPr/>
        </p:nvSpPr>
        <p:spPr>
          <a:xfrm>
            <a:off x="1067652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25" name="Text 62"/>
          <p:cNvSpPr/>
          <p:nvPr/>
        </p:nvSpPr>
        <p:spPr>
          <a:xfrm>
            <a:off x="714600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6" name="Text 63"/>
          <p:cNvSpPr/>
          <p:nvPr/>
        </p:nvSpPr>
        <p:spPr>
          <a:xfrm>
            <a:off x="775224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7" name="Text 64"/>
          <p:cNvSpPr/>
          <p:nvPr/>
        </p:nvSpPr>
        <p:spPr>
          <a:xfrm>
            <a:off x="835848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8" name="Text 65"/>
          <p:cNvSpPr/>
          <p:nvPr/>
        </p:nvSpPr>
        <p:spPr>
          <a:xfrm>
            <a:off x="896472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9" name="Text 66"/>
          <p:cNvSpPr/>
          <p:nvPr/>
        </p:nvSpPr>
        <p:spPr>
          <a:xfrm>
            <a:off x="942840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30" name="Text 67"/>
          <p:cNvSpPr/>
          <p:nvPr/>
        </p:nvSpPr>
        <p:spPr>
          <a:xfrm>
            <a:off x="985644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31" name="Text 68"/>
          <p:cNvSpPr/>
          <p:nvPr/>
        </p:nvSpPr>
        <p:spPr>
          <a:xfrm>
            <a:off x="1028412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632" name="Text 69"/>
          <p:cNvSpPr/>
          <p:nvPr/>
        </p:nvSpPr>
        <p:spPr>
          <a:xfrm>
            <a:off x="10070280" y="40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33" name="Text 70"/>
          <p:cNvSpPr/>
          <p:nvPr/>
        </p:nvSpPr>
        <p:spPr>
          <a:xfrm>
            <a:off x="10569600" y="40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634" name="Text 71"/>
          <p:cNvSpPr/>
          <p:nvPr/>
        </p:nvSpPr>
        <p:spPr>
          <a:xfrm>
            <a:off x="868680" y="5303520"/>
            <a:ext cx="1042380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9B1C1C"/>
                </a:solidFill>
                <a:effectLst/>
                <a:uFillTx/>
                <a:latin typeface="Aptos"/>
              </a:rPr>
              <a:t>Same state can appear in multiple search-tree nodes because each tree node is a different path.</a:t>
            </a:r>
            <a:endParaRPr lang="en-US" sz="18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3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3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3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dirty="0">
                <a:solidFill>
                  <a:srgbClr val="FFFFFF"/>
                </a:solidFill>
                <a:effectLst/>
                <a:uFillTx/>
                <a:latin typeface="Aptos"/>
              </a:rPr>
              <a:t>Quiz: How Big Is the Search Tree?</a:t>
            </a:r>
            <a:endParaRPr lang="en-US" sz="2600" b="0" u="none" strike="noStrike" dirty="0">
              <a:solidFill>
                <a:srgbClr val="000000"/>
              </a:solidFill>
              <a:effectLst/>
              <a:uFillTx/>
              <a:latin typeface="Arial"/>
            </a:endParaRPr>
          </a:p>
        </p:txBody>
      </p:sp>
      <p:sp>
        <p:nvSpPr>
          <p:cNvPr id="63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3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40" name="Rectangle 6"/>
          <p:cNvSpPr/>
          <p:nvPr/>
        </p:nvSpPr>
        <p:spPr>
          <a:xfrm>
            <a:off x="777240" y="141732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12E5C"/>
                </a:solidFill>
                <a:effectLst/>
                <a:uFillTx/>
                <a:latin typeface="Aptos"/>
              </a:rPr>
              <a:t>Consider this four-state graph</a:t>
            </a:r>
            <a:endParaRPr lang="en-US" sz="1400" b="0" u="none" strike="noStrike" dirty="0">
              <a:solidFill>
                <a:srgbClr val="000000"/>
              </a:solidFill>
              <a:effectLst/>
              <a:uFillTx/>
              <a:latin typeface="Arial"/>
            </a:endParaRPr>
          </a:p>
        </p:txBody>
      </p:sp>
      <p:sp>
        <p:nvSpPr>
          <p:cNvPr id="641" name="Oval 12"/>
          <p:cNvSpPr/>
          <p:nvPr/>
        </p:nvSpPr>
        <p:spPr>
          <a:xfrm>
            <a:off x="1074600" y="308628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642" name="Oval 13"/>
          <p:cNvSpPr/>
          <p:nvPr/>
        </p:nvSpPr>
        <p:spPr>
          <a:xfrm>
            <a:off x="2446200" y="21718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643" name="Oval 14"/>
          <p:cNvSpPr/>
          <p:nvPr/>
        </p:nvSpPr>
        <p:spPr>
          <a:xfrm>
            <a:off x="2446200" y="40006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644" name="Oval 15"/>
          <p:cNvSpPr/>
          <p:nvPr/>
        </p:nvSpPr>
        <p:spPr>
          <a:xfrm>
            <a:off x="3817800" y="308628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645" name="Rectangle 16"/>
          <p:cNvSpPr/>
          <p:nvPr/>
        </p:nvSpPr>
        <p:spPr>
          <a:xfrm>
            <a:off x="777240" y="466344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00" b="0" u="none" strike="noStrike">
                <a:solidFill>
                  <a:srgbClr val="5C6B80"/>
                </a:solidFill>
                <a:effectLst/>
                <a:uFillTx/>
                <a:latin typeface="Aptos"/>
              </a:rPr>
              <a:t>a and b are connected in both directions</a:t>
            </a:r>
            <a:endParaRPr lang="en-US" sz="1200" b="0" u="none" strike="noStrike">
              <a:solidFill>
                <a:srgbClr val="000000"/>
              </a:solidFill>
              <a:effectLst/>
              <a:uFillTx/>
              <a:latin typeface="Arial"/>
            </a:endParaRPr>
          </a:p>
        </p:txBody>
      </p:sp>
      <p:sp>
        <p:nvSpPr>
          <p:cNvPr id="646" name="Rectangle 17"/>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12E5C"/>
                </a:solidFill>
                <a:effectLst/>
                <a:uFillTx/>
                <a:latin typeface="Aptos"/>
              </a:rPr>
              <a:t>How big is its search tree, rooted at S?</a:t>
            </a:r>
            <a:endParaRPr lang="en-US" sz="1400" b="0" u="none" strike="noStrike" dirty="0">
              <a:solidFill>
                <a:srgbClr val="000000"/>
              </a:solidFill>
              <a:effectLst/>
              <a:uFillTx/>
              <a:latin typeface="Arial"/>
            </a:endParaRPr>
          </a:p>
        </p:txBody>
      </p:sp>
      <p:cxnSp>
        <p:nvCxnSpPr>
          <p:cNvPr id="647" name="Connector 18"/>
          <p:cNvCxnSpPr/>
          <p:nvPr/>
        </p:nvCxnSpPr>
        <p:spPr>
          <a:xfrm flipH="1">
            <a:off x="7315200" y="1965960"/>
            <a:ext cx="1067040" cy="777600"/>
          </a:xfrm>
          <a:prstGeom prst="straightConnector1">
            <a:avLst/>
          </a:prstGeom>
          <a:ln w="15240">
            <a:solidFill>
              <a:srgbClr val="5C6B80"/>
            </a:solidFill>
          </a:ln>
        </p:spPr>
      </p:cxnSp>
      <p:cxnSp>
        <p:nvCxnSpPr>
          <p:cNvPr id="648" name="Connector 19"/>
          <p:cNvCxnSpPr/>
          <p:nvPr/>
        </p:nvCxnSpPr>
        <p:spPr>
          <a:xfrm>
            <a:off x="8381880" y="1965960"/>
            <a:ext cx="1067040" cy="777600"/>
          </a:xfrm>
          <a:prstGeom prst="straightConnector1">
            <a:avLst/>
          </a:prstGeom>
          <a:ln w="15240">
            <a:solidFill>
              <a:srgbClr val="5C6B80"/>
            </a:solidFill>
          </a:ln>
        </p:spPr>
      </p:cxnSp>
      <p:cxnSp>
        <p:nvCxnSpPr>
          <p:cNvPr id="649" name="Connector 20"/>
          <p:cNvCxnSpPr/>
          <p:nvPr/>
        </p:nvCxnSpPr>
        <p:spPr>
          <a:xfrm flipH="1">
            <a:off x="6629400" y="2743200"/>
            <a:ext cx="686160" cy="777600"/>
          </a:xfrm>
          <a:prstGeom prst="straightConnector1">
            <a:avLst/>
          </a:prstGeom>
          <a:ln w="15240">
            <a:solidFill>
              <a:srgbClr val="5C6B80"/>
            </a:solidFill>
          </a:ln>
        </p:spPr>
      </p:cxnSp>
      <p:cxnSp>
        <p:nvCxnSpPr>
          <p:cNvPr id="650" name="Connector 21"/>
          <p:cNvCxnSpPr/>
          <p:nvPr/>
        </p:nvCxnSpPr>
        <p:spPr>
          <a:xfrm>
            <a:off x="7315200" y="2743200"/>
            <a:ext cx="686160" cy="777600"/>
          </a:xfrm>
          <a:prstGeom prst="straightConnector1">
            <a:avLst/>
          </a:prstGeom>
          <a:ln w="15240">
            <a:solidFill>
              <a:srgbClr val="5C6B80"/>
            </a:solidFill>
          </a:ln>
        </p:spPr>
      </p:cxnSp>
      <p:cxnSp>
        <p:nvCxnSpPr>
          <p:cNvPr id="651" name="Connector 22"/>
          <p:cNvCxnSpPr/>
          <p:nvPr/>
        </p:nvCxnSpPr>
        <p:spPr>
          <a:xfrm flipH="1">
            <a:off x="8762760" y="2743200"/>
            <a:ext cx="686160" cy="777600"/>
          </a:xfrm>
          <a:prstGeom prst="straightConnector1">
            <a:avLst/>
          </a:prstGeom>
          <a:ln w="15240">
            <a:solidFill>
              <a:srgbClr val="5C6B80"/>
            </a:solidFill>
          </a:ln>
        </p:spPr>
      </p:cxnSp>
      <p:cxnSp>
        <p:nvCxnSpPr>
          <p:cNvPr id="652" name="Connector 23"/>
          <p:cNvCxnSpPr/>
          <p:nvPr/>
        </p:nvCxnSpPr>
        <p:spPr>
          <a:xfrm>
            <a:off x="9448560" y="2743200"/>
            <a:ext cx="686160" cy="777600"/>
          </a:xfrm>
          <a:prstGeom prst="straightConnector1">
            <a:avLst/>
          </a:prstGeom>
          <a:ln w="15240">
            <a:solidFill>
              <a:srgbClr val="5C6B80"/>
            </a:solidFill>
          </a:ln>
        </p:spPr>
      </p:cxnSp>
      <p:cxnSp>
        <p:nvCxnSpPr>
          <p:cNvPr id="653" name="Connector 24"/>
          <p:cNvCxnSpPr/>
          <p:nvPr/>
        </p:nvCxnSpPr>
        <p:spPr>
          <a:xfrm flipH="1">
            <a:off x="6263640" y="3520440"/>
            <a:ext cx="366120" cy="640440"/>
          </a:xfrm>
          <a:prstGeom prst="straightConnector1">
            <a:avLst/>
          </a:prstGeom>
          <a:ln w="15240">
            <a:solidFill>
              <a:srgbClr val="5C6B80"/>
            </a:solidFill>
            <a:prstDash val="sysDash"/>
          </a:ln>
        </p:spPr>
      </p:cxnSp>
      <p:cxnSp>
        <p:nvCxnSpPr>
          <p:cNvPr id="654" name="Connector 25"/>
          <p:cNvCxnSpPr/>
          <p:nvPr/>
        </p:nvCxnSpPr>
        <p:spPr>
          <a:xfrm>
            <a:off x="6629400" y="3520440"/>
            <a:ext cx="366120" cy="640440"/>
          </a:xfrm>
          <a:prstGeom prst="straightConnector1">
            <a:avLst/>
          </a:prstGeom>
          <a:ln w="15240">
            <a:solidFill>
              <a:srgbClr val="5C6B80"/>
            </a:solidFill>
            <a:prstDash val="sysDash"/>
          </a:ln>
        </p:spPr>
      </p:cxnSp>
      <p:cxnSp>
        <p:nvCxnSpPr>
          <p:cNvPr id="655" name="Connector 26"/>
          <p:cNvCxnSpPr/>
          <p:nvPr/>
        </p:nvCxnSpPr>
        <p:spPr>
          <a:xfrm flipH="1">
            <a:off x="8397000" y="3520440"/>
            <a:ext cx="366120" cy="640440"/>
          </a:xfrm>
          <a:prstGeom prst="straightConnector1">
            <a:avLst/>
          </a:prstGeom>
          <a:ln w="15240">
            <a:solidFill>
              <a:srgbClr val="5C6B80"/>
            </a:solidFill>
            <a:prstDash val="sysDash"/>
          </a:ln>
        </p:spPr>
      </p:cxnSp>
      <p:cxnSp>
        <p:nvCxnSpPr>
          <p:cNvPr id="656" name="Connector 27"/>
          <p:cNvCxnSpPr/>
          <p:nvPr/>
        </p:nvCxnSpPr>
        <p:spPr>
          <a:xfrm>
            <a:off x="8762760" y="3520440"/>
            <a:ext cx="366120" cy="640440"/>
          </a:xfrm>
          <a:prstGeom prst="straightConnector1">
            <a:avLst/>
          </a:prstGeom>
          <a:ln w="15240">
            <a:solidFill>
              <a:srgbClr val="5C6B80"/>
            </a:solidFill>
            <a:prstDash val="sysDash"/>
          </a:ln>
        </p:spPr>
      </p:cxnSp>
      <p:sp>
        <p:nvSpPr>
          <p:cNvPr id="657" name="Oval 28"/>
          <p:cNvSpPr/>
          <p:nvPr/>
        </p:nvSpPr>
        <p:spPr>
          <a:xfrm>
            <a:off x="8153280" y="173736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s</a:t>
            </a:r>
            <a:endParaRPr lang="en-US" sz="1200" b="0" u="none" strike="noStrike">
              <a:solidFill>
                <a:srgbClr val="000000"/>
              </a:solidFill>
              <a:effectLst/>
              <a:uFillTx/>
              <a:latin typeface="Arial"/>
            </a:endParaRPr>
          </a:p>
        </p:txBody>
      </p:sp>
      <p:sp>
        <p:nvSpPr>
          <p:cNvPr id="658" name="Oval 29"/>
          <p:cNvSpPr/>
          <p:nvPr/>
        </p:nvSpPr>
        <p:spPr>
          <a:xfrm>
            <a:off x="708660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59" name="Oval 30"/>
          <p:cNvSpPr/>
          <p:nvPr/>
        </p:nvSpPr>
        <p:spPr>
          <a:xfrm>
            <a:off x="922032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0" name="Oval 31"/>
          <p:cNvSpPr/>
          <p:nvPr/>
        </p:nvSpPr>
        <p:spPr>
          <a:xfrm>
            <a:off x="64008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1" name="Oval 32"/>
          <p:cNvSpPr/>
          <p:nvPr/>
        </p:nvSpPr>
        <p:spPr>
          <a:xfrm>
            <a:off x="77724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2" name="Oval 33"/>
          <p:cNvSpPr/>
          <p:nvPr/>
        </p:nvSpPr>
        <p:spPr>
          <a:xfrm>
            <a:off x="85345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63" name="Oval 34"/>
          <p:cNvSpPr/>
          <p:nvPr/>
        </p:nvSpPr>
        <p:spPr>
          <a:xfrm>
            <a:off x="99061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4" name="Rectangle 35"/>
          <p:cNvSpPr/>
          <p:nvPr/>
        </p:nvSpPr>
        <p:spPr>
          <a:xfrm>
            <a:off x="608076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5" name="Rectangle 36"/>
          <p:cNvSpPr/>
          <p:nvPr/>
        </p:nvSpPr>
        <p:spPr>
          <a:xfrm>
            <a:off x="821448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6" name="Rectangle 37"/>
          <p:cNvSpPr/>
          <p:nvPr/>
        </p:nvSpPr>
        <p:spPr>
          <a:xfrm>
            <a:off x="10515600" y="4114800"/>
            <a:ext cx="898920" cy="5940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4400" b="1" u="none" strike="noStrike">
                <a:solidFill>
                  <a:srgbClr val="9B1C1C"/>
                </a:solidFill>
                <a:effectLst/>
                <a:uFillTx/>
                <a:latin typeface="Aptos"/>
              </a:rPr>
              <a:t>∞</a:t>
            </a:r>
            <a:endParaRPr lang="en-US" sz="4400" b="0" u="none" strike="noStrike">
              <a:solidFill>
                <a:srgbClr val="000000"/>
              </a:solidFill>
              <a:effectLst/>
              <a:uFillTx/>
              <a:latin typeface="Arial"/>
            </a:endParaRPr>
          </a:p>
        </p:txBody>
      </p:sp>
      <p:sp>
        <p:nvSpPr>
          <p:cNvPr id="667" name="Rectangle 38"/>
          <p:cNvSpPr/>
          <p:nvPr/>
        </p:nvSpPr>
        <p:spPr>
          <a:xfrm>
            <a:off x="914400" y="50292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Four states. An infinite search tree, because a ↔ b can be traversed forever.</a:t>
            </a:r>
            <a:endParaRPr lang="en-US" sz="1700" b="0" u="none" strike="noStrike" dirty="0">
              <a:solidFill>
                <a:srgbClr val="000000"/>
              </a:solidFill>
              <a:effectLst/>
              <a:uFillTx/>
              <a:latin typeface="Arial"/>
            </a:endParaRPr>
          </a:p>
        </p:txBody>
      </p:sp>
      <p:sp>
        <p:nvSpPr>
          <p:cNvPr id="668" name="Rectangle 39"/>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The repeated structure in the tree is the entire motivation for the reached table and for cycle checking.</a:t>
            </a:r>
            <a:endParaRPr lang="en-US" sz="1500" b="0" u="none" strike="noStrike" dirty="0">
              <a:solidFill>
                <a:srgbClr val="000000"/>
              </a:solidFill>
              <a:effectLst/>
              <a:uFillTx/>
              <a:latin typeface="Arial"/>
            </a:endParaRPr>
          </a:p>
        </p:txBody>
      </p:sp>
      <p:sp>
        <p:nvSpPr>
          <p:cNvPr id="669" name="Straight Connector 668"/>
          <p:cNvSpPr/>
          <p:nvPr/>
        </p:nvSpPr>
        <p:spPr>
          <a:xfrm flipH="1">
            <a:off x="1542600" y="2514600"/>
            <a:ext cx="903600" cy="60768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670" name="Straight Connector 669"/>
          <p:cNvSpPr/>
          <p:nvPr/>
        </p:nvSpPr>
        <p:spPr>
          <a:xfrm flipH="1" flipV="1">
            <a:off x="3040200" y="2514600"/>
            <a:ext cx="846000" cy="68580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671" name="Straight Connector 670"/>
          <p:cNvSpPr/>
          <p:nvPr/>
        </p:nvSpPr>
        <p:spPr>
          <a:xfrm flipH="1" flipV="1">
            <a:off x="1611360" y="3549960"/>
            <a:ext cx="834120" cy="64044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3" name="Straight Connector 2">
            <a:extLst>
              <a:ext uri="{FF2B5EF4-FFF2-40B4-BE49-F238E27FC236}">
                <a16:creationId xmlns:a16="http://schemas.microsoft.com/office/drawing/2014/main" id="{1A8DE0DA-666E-42A8-D7BF-147518B5DC73}"/>
              </a:ext>
            </a:extLst>
          </p:cNvPr>
          <p:cNvSpPr/>
          <p:nvPr/>
        </p:nvSpPr>
        <p:spPr>
          <a:xfrm>
            <a:off x="2811240" y="2765880"/>
            <a:ext cx="1690" cy="124750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5" name="Straight Connector 4">
            <a:extLst>
              <a:ext uri="{FF2B5EF4-FFF2-40B4-BE49-F238E27FC236}">
                <a16:creationId xmlns:a16="http://schemas.microsoft.com/office/drawing/2014/main" id="{D71CE6C5-155A-9D62-F226-BD6084A4B5CD}"/>
              </a:ext>
            </a:extLst>
          </p:cNvPr>
          <p:cNvSpPr/>
          <p:nvPr/>
        </p:nvSpPr>
        <p:spPr>
          <a:xfrm flipH="1" flipV="1">
            <a:off x="2628900" y="2743020"/>
            <a:ext cx="19050" cy="127036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7" name="Straight Connector 6">
            <a:extLst>
              <a:ext uri="{FF2B5EF4-FFF2-40B4-BE49-F238E27FC236}">
                <a16:creationId xmlns:a16="http://schemas.microsoft.com/office/drawing/2014/main" id="{1E4DB1BC-9086-0E8D-F18F-074053023FB7}"/>
              </a:ext>
            </a:extLst>
          </p:cNvPr>
          <p:cNvSpPr/>
          <p:nvPr/>
        </p:nvSpPr>
        <p:spPr>
          <a:xfrm flipH="1">
            <a:off x="3013710" y="3600540"/>
            <a:ext cx="890490" cy="55278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6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 grpId="0" animBg="1"/>
      <p:bldP spid="659" grpId="0" animBg="1"/>
      <p:bldP spid="660" grpId="0" animBg="1"/>
      <p:bldP spid="661" grpId="0" animBg="1"/>
      <p:bldP spid="662" grpId="0" animBg="1"/>
      <p:bldP spid="663" grpId="0" animBg="1"/>
      <p:bldP spid="664" grpId="0"/>
      <p:bldP spid="665" grpId="0"/>
      <p:bldP spid="666" grpId="0"/>
      <p:bldP spid="667" grpId="0"/>
      <p:bldP spid="668"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7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67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Frontier, Reached, and Expansion</a:t>
            </a:r>
            <a:endParaRPr lang="en-US" sz="2600" b="0" u="none" strike="noStrike">
              <a:solidFill>
                <a:srgbClr val="000000"/>
              </a:solidFill>
              <a:effectLst/>
              <a:uFillTx/>
              <a:latin typeface="Arial"/>
            </a:endParaRPr>
          </a:p>
        </p:txBody>
      </p:sp>
      <p:sp>
        <p:nvSpPr>
          <p:cNvPr id="67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7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77" name="Text 5"/>
          <p:cNvSpPr/>
          <p:nvPr/>
        </p:nvSpPr>
        <p:spPr>
          <a:xfrm>
            <a:off x="77724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678" name="Text 6"/>
          <p:cNvSpPr/>
          <p:nvPr/>
        </p:nvSpPr>
        <p:spPr>
          <a:xfrm>
            <a:off x="141732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POP a frontier node</a:t>
            </a:r>
            <a:endParaRPr lang="en-US" sz="1550" b="0" u="none" strike="noStrike">
              <a:solidFill>
                <a:srgbClr val="000000"/>
              </a:solidFill>
              <a:effectLst/>
              <a:uFillTx/>
              <a:latin typeface="Arial"/>
            </a:endParaRPr>
          </a:p>
        </p:txBody>
      </p:sp>
      <p:sp>
        <p:nvSpPr>
          <p:cNvPr id="679" name="Shape 7"/>
          <p:cNvSpPr/>
          <p:nvPr/>
        </p:nvSpPr>
        <p:spPr>
          <a:xfrm>
            <a:off x="329184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0" name="Text 8"/>
          <p:cNvSpPr/>
          <p:nvPr/>
        </p:nvSpPr>
        <p:spPr>
          <a:xfrm>
            <a:off x="361188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681" name="Text 9"/>
          <p:cNvSpPr/>
          <p:nvPr/>
        </p:nvSpPr>
        <p:spPr>
          <a:xfrm>
            <a:off x="425196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Goal-test the node</a:t>
            </a:r>
            <a:endParaRPr lang="en-US" sz="1550" b="0" u="none" strike="noStrike">
              <a:solidFill>
                <a:srgbClr val="000000"/>
              </a:solidFill>
              <a:effectLst/>
              <a:uFillTx/>
              <a:latin typeface="Arial"/>
            </a:endParaRPr>
          </a:p>
        </p:txBody>
      </p:sp>
      <p:sp>
        <p:nvSpPr>
          <p:cNvPr id="682" name="Shape 10"/>
          <p:cNvSpPr/>
          <p:nvPr/>
        </p:nvSpPr>
        <p:spPr>
          <a:xfrm>
            <a:off x="612648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3" name="Text 11"/>
          <p:cNvSpPr/>
          <p:nvPr/>
        </p:nvSpPr>
        <p:spPr>
          <a:xfrm>
            <a:off x="644652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684" name="Text 12"/>
          <p:cNvSpPr/>
          <p:nvPr/>
        </p:nvSpPr>
        <p:spPr>
          <a:xfrm>
            <a:off x="708660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EXPAND successors</a:t>
            </a:r>
            <a:endParaRPr lang="en-US" sz="1550" b="0" u="none" strike="noStrike">
              <a:solidFill>
                <a:srgbClr val="000000"/>
              </a:solidFill>
              <a:effectLst/>
              <a:uFillTx/>
              <a:latin typeface="Arial"/>
            </a:endParaRPr>
          </a:p>
        </p:txBody>
      </p:sp>
      <p:sp>
        <p:nvSpPr>
          <p:cNvPr id="685" name="Shape 13"/>
          <p:cNvSpPr/>
          <p:nvPr/>
        </p:nvSpPr>
        <p:spPr>
          <a:xfrm>
            <a:off x="896112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6" name="Text 14"/>
          <p:cNvSpPr/>
          <p:nvPr/>
        </p:nvSpPr>
        <p:spPr>
          <a:xfrm>
            <a:off x="928116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687" name="Text 15"/>
          <p:cNvSpPr/>
          <p:nvPr/>
        </p:nvSpPr>
        <p:spPr>
          <a:xfrm>
            <a:off x="992124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20000"/>
          </a:bodyPr>
          <a:lstStyle/>
          <a:p>
            <a:pPr defTabSz="914400">
              <a:lnSpc>
                <a:spcPct val="100000"/>
              </a:lnSpc>
              <a:tabLst>
                <a:tab pos="0" algn="l"/>
              </a:tabLst>
            </a:pPr>
            <a:r>
              <a:rPr lang="en-US" sz="1550" b="1" u="none" strike="noStrike">
                <a:solidFill>
                  <a:srgbClr val="102A4C"/>
                </a:solidFill>
                <a:effectLst/>
                <a:uFillTx/>
                <a:latin typeface="Aptos"/>
              </a:rPr>
              <a:t>Update frontier and reached</a:t>
            </a:r>
            <a:endParaRPr lang="en-US" sz="1550" b="0" u="none" strike="noStrike">
              <a:solidFill>
                <a:srgbClr val="000000"/>
              </a:solidFill>
              <a:effectLst/>
              <a:uFillTx/>
              <a:latin typeface="Arial"/>
            </a:endParaRPr>
          </a:p>
        </p:txBody>
      </p:sp>
      <p:sp>
        <p:nvSpPr>
          <p:cNvPr id="688" name="Text 16"/>
          <p:cNvSpPr/>
          <p:nvPr/>
        </p:nvSpPr>
        <p:spPr>
          <a:xfrm>
            <a:off x="1188720" y="297180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Frontier</a:t>
            </a:r>
            <a:endParaRPr lang="en-US" sz="1700" b="0" u="none" strike="noStrike">
              <a:solidFill>
                <a:srgbClr val="000000"/>
              </a:solidFill>
              <a:effectLst/>
              <a:uFillTx/>
              <a:latin typeface="Arial"/>
            </a:endParaRPr>
          </a:p>
        </p:txBody>
      </p:sp>
      <p:sp>
        <p:nvSpPr>
          <p:cNvPr id="689" name="Text 17"/>
          <p:cNvSpPr/>
          <p:nvPr/>
        </p:nvSpPr>
        <p:spPr>
          <a:xfrm>
            <a:off x="960120" y="3611880"/>
            <a:ext cx="2651400" cy="5482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Generated but unexpanded leaf nodes.</a:t>
            </a:r>
            <a:endParaRPr lang="en-US" sz="1400" b="0" u="none" strike="noStrike">
              <a:solidFill>
                <a:srgbClr val="000000"/>
              </a:solidFill>
              <a:effectLst/>
              <a:uFillTx/>
              <a:latin typeface="Arial"/>
            </a:endParaRPr>
          </a:p>
        </p:txBody>
      </p:sp>
      <p:sp>
        <p:nvSpPr>
          <p:cNvPr id="690" name="Text 18"/>
          <p:cNvSpPr/>
          <p:nvPr/>
        </p:nvSpPr>
        <p:spPr>
          <a:xfrm>
            <a:off x="5029200" y="297180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Reached table</a:t>
            </a:r>
            <a:endParaRPr lang="en-US" sz="1700" b="0" u="none" strike="noStrike">
              <a:solidFill>
                <a:srgbClr val="000000"/>
              </a:solidFill>
              <a:effectLst/>
              <a:uFillTx/>
              <a:latin typeface="Arial"/>
            </a:endParaRPr>
          </a:p>
        </p:txBody>
      </p:sp>
      <p:sp>
        <p:nvSpPr>
          <p:cNvPr id="691" name="Text 19"/>
          <p:cNvSpPr/>
          <p:nvPr/>
        </p:nvSpPr>
        <p:spPr>
          <a:xfrm>
            <a:off x="4572000" y="3611880"/>
            <a:ext cx="310860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States already generated; often stores best node so far.</a:t>
            </a:r>
            <a:endParaRPr lang="en-US" sz="1400" b="0" u="none" strike="noStrike">
              <a:solidFill>
                <a:srgbClr val="000000"/>
              </a:solidFill>
              <a:effectLst/>
              <a:uFillTx/>
              <a:latin typeface="Arial"/>
            </a:endParaRPr>
          </a:p>
        </p:txBody>
      </p:sp>
      <p:sp>
        <p:nvSpPr>
          <p:cNvPr id="692" name="Text 20"/>
          <p:cNvSpPr/>
          <p:nvPr/>
        </p:nvSpPr>
        <p:spPr>
          <a:xfrm>
            <a:off x="8869680" y="2971800"/>
            <a:ext cx="219420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12E5C"/>
                </a:solidFill>
                <a:effectLst/>
                <a:uFillTx/>
                <a:latin typeface="Aptos"/>
              </a:rPr>
              <a:t>Strategy</a:t>
            </a:r>
            <a:endParaRPr lang="en-US" sz="1700" b="0" u="none" strike="noStrike">
              <a:solidFill>
                <a:srgbClr val="000000"/>
              </a:solidFill>
              <a:effectLst/>
              <a:uFillTx/>
              <a:latin typeface="Arial"/>
            </a:endParaRPr>
          </a:p>
        </p:txBody>
      </p:sp>
      <p:sp>
        <p:nvSpPr>
          <p:cNvPr id="693" name="Text 21"/>
          <p:cNvSpPr/>
          <p:nvPr/>
        </p:nvSpPr>
        <p:spPr>
          <a:xfrm>
            <a:off x="8458200" y="3611880"/>
            <a:ext cx="301716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Rule for choosing which frontier node to expand next.</a:t>
            </a:r>
            <a:endParaRPr lang="en-US" sz="14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9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9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9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The Frontier Separates Two Regions</a:t>
            </a:r>
            <a:endParaRPr lang="en-US" sz="2600" b="0" u="none" strike="noStrike">
              <a:solidFill>
                <a:srgbClr val="000000"/>
              </a:solidFill>
              <a:effectLst/>
              <a:uFillTx/>
              <a:latin typeface="Arial"/>
            </a:endParaRPr>
          </a:p>
        </p:txBody>
      </p:sp>
      <p:sp>
        <p:nvSpPr>
          <p:cNvPr id="69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9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99" name="Oval 6"/>
          <p:cNvSpPr/>
          <p:nvPr/>
        </p:nvSpPr>
        <p:spPr>
          <a:xfrm>
            <a:off x="7025760" y="1463040"/>
            <a:ext cx="3474360" cy="347436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0" name="Oval 7"/>
          <p:cNvSpPr/>
          <p:nvPr/>
        </p:nvSpPr>
        <p:spPr>
          <a:xfrm>
            <a:off x="7574400" y="2011680"/>
            <a:ext cx="2377080" cy="2377080"/>
          </a:xfrm>
          <a:prstGeom prst="ellipse">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1" name="Oval 8"/>
          <p:cNvSpPr/>
          <p:nvPr/>
        </p:nvSpPr>
        <p:spPr>
          <a:xfrm>
            <a:off x="8077320" y="2514600"/>
            <a:ext cx="1371240" cy="137124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2" name="Rectangle 9"/>
          <p:cNvSpPr/>
          <p:nvPr/>
        </p:nvSpPr>
        <p:spPr>
          <a:xfrm>
            <a:off x="8077320" y="3063240"/>
            <a:ext cx="1371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a:solidFill>
                  <a:srgbClr val="112E5C"/>
                </a:solidFill>
                <a:effectLst/>
                <a:uFillTx/>
                <a:latin typeface="Aptos"/>
              </a:rPr>
              <a:t>expanded</a:t>
            </a:r>
            <a:endParaRPr lang="en-US" sz="1150" b="0" u="none" strike="noStrike">
              <a:solidFill>
                <a:srgbClr val="000000"/>
              </a:solidFill>
              <a:effectLst/>
              <a:uFillTx/>
              <a:latin typeface="Arial"/>
            </a:endParaRPr>
          </a:p>
        </p:txBody>
      </p:sp>
      <p:sp>
        <p:nvSpPr>
          <p:cNvPr id="703" name="Rectangle 10"/>
          <p:cNvSpPr/>
          <p:nvPr/>
        </p:nvSpPr>
        <p:spPr>
          <a:xfrm>
            <a:off x="8077320" y="1965960"/>
            <a:ext cx="13712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a:solidFill>
                  <a:srgbClr val="112E5C"/>
                </a:solidFill>
                <a:effectLst/>
                <a:uFillTx/>
                <a:latin typeface="Aptos"/>
              </a:rPr>
              <a:t>frontier</a:t>
            </a:r>
            <a:endParaRPr lang="en-US" sz="1150" b="0" u="none" strike="noStrike">
              <a:solidFill>
                <a:srgbClr val="000000"/>
              </a:solidFill>
              <a:effectLst/>
              <a:uFillTx/>
              <a:latin typeface="Arial"/>
            </a:endParaRPr>
          </a:p>
        </p:txBody>
      </p:sp>
      <p:sp>
        <p:nvSpPr>
          <p:cNvPr id="704" name="Rectangle 11"/>
          <p:cNvSpPr/>
          <p:nvPr/>
        </p:nvSpPr>
        <p:spPr>
          <a:xfrm>
            <a:off x="7574400" y="1417320"/>
            <a:ext cx="237708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not yet reached</a:t>
            </a:r>
            <a:endParaRPr lang="en-US" sz="1150" b="0" u="none" strike="noStrike">
              <a:solidFill>
                <a:srgbClr val="000000"/>
              </a:solidFill>
              <a:effectLst/>
              <a:uFillTx/>
              <a:latin typeface="Arial"/>
            </a:endParaRPr>
          </a:p>
        </p:txBody>
      </p:sp>
      <p:sp>
        <p:nvSpPr>
          <p:cNvPr id="705" name="Rounded Rectangle 12"/>
          <p:cNvSpPr/>
          <p:nvPr/>
        </p:nvSpPr>
        <p:spPr>
          <a:xfrm>
            <a:off x="777240" y="15544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Interior</a:t>
            </a:r>
            <a:endParaRPr lang="en-US" sz="1350" b="0" u="none" strike="noStrike">
              <a:solidFill>
                <a:srgbClr val="000000"/>
              </a:solidFill>
              <a:effectLst/>
              <a:uFillTx/>
              <a:latin typeface="Arial"/>
            </a:endParaRPr>
          </a:p>
        </p:txBody>
      </p:sp>
      <p:sp>
        <p:nvSpPr>
          <p:cNvPr id="706" name="Rectangle 13"/>
          <p:cNvSpPr/>
          <p:nvPr/>
        </p:nvSpPr>
        <p:spPr>
          <a:xfrm>
            <a:off x="2697480" y="155448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Every state here has already been expanded.</a:t>
            </a:r>
            <a:endParaRPr lang="en-US" sz="1300" b="0" u="none" strike="noStrike">
              <a:solidFill>
                <a:srgbClr val="000000"/>
              </a:solidFill>
              <a:effectLst/>
              <a:uFillTx/>
              <a:latin typeface="Arial"/>
            </a:endParaRPr>
          </a:p>
        </p:txBody>
      </p:sp>
      <p:sp>
        <p:nvSpPr>
          <p:cNvPr id="707" name="Rounded Rectangle 14"/>
          <p:cNvSpPr/>
          <p:nvPr/>
        </p:nvSpPr>
        <p:spPr>
          <a:xfrm>
            <a:off x="777240" y="2286000"/>
            <a:ext cx="17827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Frontier</a:t>
            </a:r>
            <a:endParaRPr lang="en-US" sz="1350" b="0" u="none" strike="noStrike">
              <a:solidFill>
                <a:srgbClr val="000000"/>
              </a:solidFill>
              <a:effectLst/>
              <a:uFillTx/>
              <a:latin typeface="Arial"/>
            </a:endParaRPr>
          </a:p>
        </p:txBody>
      </p:sp>
      <p:sp>
        <p:nvSpPr>
          <p:cNvPr id="708" name="Rectangle 15"/>
          <p:cNvSpPr/>
          <p:nvPr/>
        </p:nvSpPr>
        <p:spPr>
          <a:xfrm>
            <a:off x="2697480" y="228600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Generated but not yet expanded. The boundary itself.</a:t>
            </a:r>
            <a:endParaRPr lang="en-US" sz="1300" b="0" u="none" strike="noStrike">
              <a:solidFill>
                <a:srgbClr val="000000"/>
              </a:solidFill>
              <a:effectLst/>
              <a:uFillTx/>
              <a:latin typeface="Arial"/>
            </a:endParaRPr>
          </a:p>
        </p:txBody>
      </p:sp>
      <p:sp>
        <p:nvSpPr>
          <p:cNvPr id="709" name="Rounded Rectangle 16"/>
          <p:cNvSpPr/>
          <p:nvPr/>
        </p:nvSpPr>
        <p:spPr>
          <a:xfrm>
            <a:off x="777240" y="3017520"/>
            <a:ext cx="1782720" cy="411120"/>
          </a:xfrm>
          <a:prstGeom prst="roundRect">
            <a:avLst>
              <a:gd name="adj" fmla="val 15384"/>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Exterior</a:t>
            </a:r>
            <a:endParaRPr lang="en-US" sz="1350" b="0" u="none" strike="noStrike">
              <a:solidFill>
                <a:srgbClr val="000000"/>
              </a:solidFill>
              <a:effectLst/>
              <a:uFillTx/>
              <a:latin typeface="Arial"/>
            </a:endParaRPr>
          </a:p>
        </p:txBody>
      </p:sp>
      <p:sp>
        <p:nvSpPr>
          <p:cNvPr id="710" name="Rectangle 17"/>
          <p:cNvSpPr/>
          <p:nvPr/>
        </p:nvSpPr>
        <p:spPr>
          <a:xfrm>
            <a:off x="2697480" y="301752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Not yet reached. No node has been generated for it.</a:t>
            </a:r>
            <a:endParaRPr lang="en-US" sz="1300" b="0" u="none" strike="noStrike">
              <a:solidFill>
                <a:srgbClr val="000000"/>
              </a:solidFill>
              <a:effectLst/>
              <a:uFillTx/>
              <a:latin typeface="Arial"/>
            </a:endParaRPr>
          </a:p>
        </p:txBody>
      </p:sp>
      <p:sp>
        <p:nvSpPr>
          <p:cNvPr id="711" name="Rectangle 18"/>
          <p:cNvSpPr/>
          <p:nvPr/>
        </p:nvSpPr>
        <p:spPr>
          <a:xfrm>
            <a:off x="914400" y="4297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Every path from an expanded state to an unreached state must cross the frontier.</a:t>
            </a:r>
            <a:endParaRPr lang="en-US" sz="1700" b="0" u="none" strike="noStrike">
              <a:solidFill>
                <a:srgbClr val="000000"/>
              </a:solidFill>
              <a:effectLst/>
              <a:uFillTx/>
              <a:latin typeface="Arial"/>
            </a:endParaRPr>
          </a:p>
        </p:txBody>
      </p:sp>
      <p:sp>
        <p:nvSpPr>
          <p:cNvPr id="712" name="Rectangle 19"/>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That is why the frontier is the only thing the algorithm has to hold on to — and why its size is the space complexity of the search.</a:t>
            </a:r>
            <a:endParaRPr lang="en-US" sz="1500" b="0" u="none" strike="noStrike">
              <a:solidFill>
                <a:srgbClr val="000000"/>
              </a:solidFill>
              <a:effectLst/>
              <a:uFillTx/>
              <a:latin typeface="Arial"/>
            </a:endParaRPr>
          </a:p>
        </p:txBody>
      </p:sp>
      <p:sp>
        <p:nvSpPr>
          <p:cNvPr id="713" name="Rectangle 20"/>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Reached is a separate structure: the set of states any node has been generated for, whether or not that node has been expanded.</a:t>
            </a:r>
            <a:endParaRPr lang="en-US" sz="13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Best-First Search: One Algorithm, Many Instances</a:t>
            </a:r>
            <a:endParaRPr lang="en-US" sz="2600" b="0" u="none" strike="noStrike">
              <a:solidFill>
                <a:srgbClr val="000000"/>
              </a:solidFill>
              <a:effectLst/>
              <a:uFillTx/>
              <a:latin typeface="Arial"/>
            </a:endParaRPr>
          </a:p>
        </p:txBody>
      </p:sp>
      <p:sp>
        <p:nvSpPr>
          <p:cNvPr id="7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21" name="Rounded Rectangle 8"/>
          <p:cNvSpPr/>
          <p:nvPr/>
        </p:nvSpPr>
        <p:spPr>
          <a:xfrm>
            <a:off x="6660000" y="1417320"/>
            <a:ext cx="4754520" cy="50256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0" u="none" strike="noStrike">
                <a:solidFill>
                  <a:srgbClr val="FFFFFF"/>
                </a:solidFill>
                <a:effectLst/>
                <a:uFillTx/>
                <a:latin typeface="Aptos"/>
              </a:rPr>
              <a:t>Pop the frontier node with minimum  </a:t>
            </a:r>
            <a:r>
              <a:rPr lang="en-US" sz="1700" b="1" u="none" strike="noStrike">
                <a:solidFill>
                  <a:srgbClr val="FFFFFF"/>
                </a:solidFill>
                <a:effectLst/>
                <a:uFillTx/>
                <a:latin typeface="Aptos"/>
              </a:rPr>
              <a:t>f(n)</a:t>
            </a:r>
            <a:endParaRPr lang="en-US" sz="1700" b="0" u="none" strike="noStrike">
              <a:solidFill>
                <a:srgbClr val="FFFFFF"/>
              </a:solidFill>
              <a:effectLst/>
              <a:uFillTx/>
              <a:latin typeface="Arial"/>
            </a:endParaRPr>
          </a:p>
        </p:txBody>
      </p:sp>
      <p:sp>
        <p:nvSpPr>
          <p:cNvPr id="722" name="Rounded Rectangle 9"/>
          <p:cNvSpPr/>
          <p:nvPr/>
        </p:nvSpPr>
        <p:spPr>
          <a:xfrm>
            <a:off x="6660000" y="2103120"/>
            <a:ext cx="1096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BFS</a:t>
            </a:r>
            <a:endParaRPr lang="en-US" sz="1400" b="0" u="none" strike="noStrike">
              <a:solidFill>
                <a:srgbClr val="000000"/>
              </a:solidFill>
              <a:effectLst/>
              <a:uFillTx/>
              <a:latin typeface="Arial"/>
            </a:endParaRPr>
          </a:p>
        </p:txBody>
      </p:sp>
      <p:sp>
        <p:nvSpPr>
          <p:cNvPr id="723" name="Rectangle 10"/>
          <p:cNvSpPr/>
          <p:nvPr/>
        </p:nvSpPr>
        <p:spPr>
          <a:xfrm>
            <a:off x="7894440" y="210312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02A4C"/>
                </a:solidFill>
                <a:effectLst/>
                <a:uFillTx/>
                <a:latin typeface="Aptos"/>
              </a:rPr>
              <a:t>f(n) = depth(n)</a:t>
            </a:r>
            <a:endParaRPr lang="en-US" sz="1400" b="0" u="none" strike="noStrike" dirty="0">
              <a:solidFill>
                <a:srgbClr val="000000"/>
              </a:solidFill>
              <a:effectLst/>
              <a:uFillTx/>
              <a:latin typeface="Arial"/>
            </a:endParaRPr>
          </a:p>
        </p:txBody>
      </p:sp>
      <p:sp>
        <p:nvSpPr>
          <p:cNvPr id="724" name="Rounded Rectangle 11"/>
          <p:cNvSpPr/>
          <p:nvPr/>
        </p:nvSpPr>
        <p:spPr>
          <a:xfrm>
            <a:off x="6660000" y="2697480"/>
            <a:ext cx="1096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UCS</a:t>
            </a:r>
            <a:endParaRPr lang="en-US" sz="1400" b="0" u="none" strike="noStrike">
              <a:solidFill>
                <a:srgbClr val="000000"/>
              </a:solidFill>
              <a:effectLst/>
              <a:uFillTx/>
              <a:latin typeface="Arial"/>
            </a:endParaRPr>
          </a:p>
        </p:txBody>
      </p:sp>
      <p:sp>
        <p:nvSpPr>
          <p:cNvPr id="725" name="Rectangle 12"/>
          <p:cNvSpPr/>
          <p:nvPr/>
        </p:nvSpPr>
        <p:spPr>
          <a:xfrm>
            <a:off x="7894440" y="269748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a:solidFill>
                  <a:srgbClr val="102A4C"/>
                </a:solidFill>
                <a:effectLst/>
                <a:uFillTx/>
                <a:latin typeface="Aptos"/>
              </a:rPr>
              <a:t>f(n) = g(n), the path cost</a:t>
            </a:r>
            <a:endParaRPr lang="en-US" sz="1400" b="0" u="none" strike="noStrike">
              <a:solidFill>
                <a:srgbClr val="000000"/>
              </a:solidFill>
              <a:effectLst/>
              <a:uFillTx/>
              <a:latin typeface="Arial"/>
            </a:endParaRPr>
          </a:p>
        </p:txBody>
      </p:sp>
      <p:sp>
        <p:nvSpPr>
          <p:cNvPr id="726" name="Rounded Rectangle 13"/>
          <p:cNvSpPr/>
          <p:nvPr/>
        </p:nvSpPr>
        <p:spPr>
          <a:xfrm>
            <a:off x="6660000" y="3291840"/>
            <a:ext cx="1096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DFS</a:t>
            </a:r>
            <a:endParaRPr lang="en-US" sz="1400" b="0" u="none" strike="noStrike">
              <a:solidFill>
                <a:srgbClr val="000000"/>
              </a:solidFill>
              <a:effectLst/>
              <a:uFillTx/>
              <a:latin typeface="Arial"/>
            </a:endParaRPr>
          </a:p>
        </p:txBody>
      </p:sp>
      <p:sp>
        <p:nvSpPr>
          <p:cNvPr id="727" name="Rectangle 14"/>
          <p:cNvSpPr/>
          <p:nvPr/>
        </p:nvSpPr>
        <p:spPr>
          <a:xfrm>
            <a:off x="7894440" y="329184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02A4C"/>
                </a:solidFill>
                <a:effectLst/>
                <a:uFillTx/>
                <a:latin typeface="Aptos"/>
              </a:rPr>
              <a:t>f(n) = −depth(n)</a:t>
            </a:r>
            <a:endParaRPr lang="en-US" sz="1400" b="0" u="none" strike="noStrike" dirty="0">
              <a:solidFill>
                <a:srgbClr val="000000"/>
              </a:solidFill>
              <a:effectLst/>
              <a:uFillTx/>
              <a:latin typeface="Arial"/>
            </a:endParaRPr>
          </a:p>
        </p:txBody>
      </p:sp>
      <p:sp>
        <p:nvSpPr>
          <p:cNvPr id="728" name="Rounded Rectangle 15"/>
          <p:cNvSpPr/>
          <p:nvPr/>
        </p:nvSpPr>
        <p:spPr>
          <a:xfrm>
            <a:off x="6660000" y="3977640"/>
            <a:ext cx="475452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29" name="Rectangle 16"/>
          <p:cNvSpPr/>
          <p:nvPr/>
        </p:nvSpPr>
        <p:spPr>
          <a:xfrm>
            <a:off x="6842880" y="4069080"/>
            <a:ext cx="438876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dirty="0">
                <a:solidFill>
                  <a:srgbClr val="112E5C"/>
                </a:solidFill>
                <a:effectLst/>
                <a:uFillTx/>
                <a:latin typeface="Aptos"/>
              </a:rPr>
              <a:t>Next lecture adds: </a:t>
            </a:r>
            <a:r>
              <a:rPr lang="en-US" sz="1350" b="0" u="none" strike="noStrike" dirty="0">
                <a:solidFill>
                  <a:schemeClr val="accent6"/>
                </a:solidFill>
                <a:effectLst/>
                <a:uFillTx/>
                <a:latin typeface="Aptos"/>
              </a:rPr>
              <a:t>f(n) = h(n) </a:t>
            </a:r>
            <a:r>
              <a:rPr lang="en-US" sz="1350" b="0" u="none" strike="noStrike" dirty="0">
                <a:solidFill>
                  <a:schemeClr val="accent5">
                    <a:lumMod val="75000"/>
                  </a:schemeClr>
                </a:solidFill>
                <a:effectLst/>
                <a:uFillTx/>
                <a:latin typeface="Aptos"/>
              </a:rPr>
              <a:t>for</a:t>
            </a:r>
            <a:r>
              <a:rPr lang="en-US" sz="1350" b="0" u="none" strike="noStrike" dirty="0">
                <a:solidFill>
                  <a:schemeClr val="accent6"/>
                </a:solidFill>
                <a:effectLst/>
                <a:uFillTx/>
                <a:latin typeface="Aptos"/>
              </a:rPr>
              <a:t> greedy best-first</a:t>
            </a:r>
            <a:r>
              <a:rPr lang="en-US" sz="1350" b="0" u="none" strike="noStrike" dirty="0">
                <a:solidFill>
                  <a:srgbClr val="112E5C"/>
                </a:solidFill>
                <a:effectLst/>
                <a:uFillTx/>
                <a:latin typeface="Aptos"/>
              </a:rPr>
              <a:t>, and </a:t>
            </a:r>
            <a:r>
              <a:rPr lang="en-US" sz="1350" b="0" u="none" strike="noStrike" dirty="0">
                <a:solidFill>
                  <a:schemeClr val="accent1"/>
                </a:solidFill>
                <a:effectLst/>
                <a:uFillTx/>
                <a:latin typeface="Aptos"/>
              </a:rPr>
              <a:t>f(n) = g(n) + h(n)</a:t>
            </a:r>
            <a:r>
              <a:rPr lang="en-US" sz="1350" b="0" u="none" strike="noStrike" dirty="0">
                <a:solidFill>
                  <a:srgbClr val="112E5C"/>
                </a:solidFill>
                <a:effectLst/>
                <a:uFillTx/>
                <a:latin typeface="Aptos"/>
              </a:rPr>
              <a:t> for </a:t>
            </a:r>
            <a:r>
              <a:rPr lang="en-US" sz="1350" b="0" u="none" strike="noStrike" dirty="0">
                <a:solidFill>
                  <a:schemeClr val="accent1"/>
                </a:solidFill>
                <a:effectLst/>
                <a:uFillTx/>
                <a:latin typeface="Aptos"/>
              </a:rPr>
              <a:t>A*</a:t>
            </a:r>
            <a:r>
              <a:rPr lang="en-US" sz="1350" b="0" u="none" strike="noStrike" dirty="0">
                <a:solidFill>
                  <a:srgbClr val="112E5C"/>
                </a:solidFill>
                <a:effectLst/>
                <a:uFillTx/>
                <a:latin typeface="Aptos"/>
              </a:rPr>
              <a:t>. Same loop, different f.</a:t>
            </a:r>
            <a:endParaRPr lang="en-US" sz="1350" b="0" u="none" strike="noStrike" dirty="0">
              <a:solidFill>
                <a:srgbClr val="000000"/>
              </a:solidFill>
              <a:effectLst/>
              <a:uFillTx/>
              <a:latin typeface="Arial"/>
            </a:endParaRPr>
          </a:p>
        </p:txBody>
      </p:sp>
      <p:sp>
        <p:nvSpPr>
          <p:cNvPr id="730" name="Rectangle 17"/>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Change f and you change the algorithm. Everything in Section 3.4 is this loop with a different priority.</a:t>
            </a:r>
            <a:endParaRPr lang="en-US" sz="1700" b="0" u="none" strike="noStrike" dirty="0">
              <a:solidFill>
                <a:srgbClr val="000000"/>
              </a:solidFill>
              <a:effectLst/>
              <a:uFillTx/>
              <a:latin typeface="Arial"/>
            </a:endParaRPr>
          </a:p>
        </p:txBody>
      </p:sp>
      <p:sp>
        <p:nvSpPr>
          <p:cNvPr id="731" name="Rectangle 18"/>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1" u="none" strike="noStrike">
                <a:solidFill>
                  <a:srgbClr val="9B1C1C"/>
                </a:solidFill>
                <a:effectLst/>
                <a:uFillTx/>
                <a:latin typeface="Aptos"/>
              </a:rPr>
              <a:t>Note the re-add rule: a node already in reached is replaced when a cheaper path to the same state turns up.</a:t>
            </a:r>
            <a:endParaRPr lang="en-US" sz="1400" b="0" u="none" strike="noStrike">
              <a:solidFill>
                <a:srgbClr val="000000"/>
              </a:solidFill>
              <a:effectLst/>
              <a:uFillTx/>
              <a:latin typeface="Arial"/>
            </a:endParaRPr>
          </a:p>
        </p:txBody>
      </p:sp>
      <p:pic>
        <p:nvPicPr>
          <p:cNvPr id="3" name="Image 0" descr="preencoded.png">
            <a:extLst>
              <a:ext uri="{FF2B5EF4-FFF2-40B4-BE49-F238E27FC236}">
                <a16:creationId xmlns:a16="http://schemas.microsoft.com/office/drawing/2014/main" id="{C8AA0570-C3EB-B524-A009-6E406FAA2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6520" y="1347925"/>
            <a:ext cx="5769780" cy="311022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3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3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One Search Engine, Different Frontier Rules</a:t>
            </a:r>
            <a:endParaRPr lang="en-US" sz="2600" b="0" u="none" strike="noStrike">
              <a:solidFill>
                <a:srgbClr val="000000"/>
              </a:solidFill>
              <a:effectLst/>
              <a:uFillTx/>
              <a:latin typeface="Arial"/>
            </a:endParaRPr>
          </a:p>
        </p:txBody>
      </p:sp>
      <p:sp>
        <p:nvSpPr>
          <p:cNvPr id="73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3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39" name="Text 7"/>
          <p:cNvSpPr/>
          <p:nvPr/>
        </p:nvSpPr>
        <p:spPr>
          <a:xfrm>
            <a:off x="6720840" y="1691640"/>
            <a:ext cx="1142640" cy="456840"/>
          </a:xfrm>
          <a:prstGeom prst="roundRect">
            <a:avLst>
              <a:gd name="adj" fmla="val 16000"/>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2F7FD5"/>
                </a:solidFill>
                <a:effectLst/>
                <a:uFillTx/>
                <a:latin typeface="Aptos"/>
              </a:rPr>
              <a:t>BFS</a:t>
            </a:r>
            <a:endParaRPr lang="en-US" sz="1500" b="0" u="none" strike="noStrike">
              <a:solidFill>
                <a:srgbClr val="000000"/>
              </a:solidFill>
              <a:effectLst/>
              <a:uFillTx/>
              <a:latin typeface="Arial"/>
            </a:endParaRPr>
          </a:p>
        </p:txBody>
      </p:sp>
      <p:sp>
        <p:nvSpPr>
          <p:cNvPr id="740" name="Text 8"/>
          <p:cNvSpPr/>
          <p:nvPr/>
        </p:nvSpPr>
        <p:spPr>
          <a:xfrm>
            <a:off x="8092440" y="169164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FIFO queue</a:t>
            </a:r>
            <a:endParaRPr lang="en-US" sz="1500" b="0" u="none" strike="noStrike">
              <a:solidFill>
                <a:srgbClr val="000000"/>
              </a:solidFill>
              <a:effectLst/>
              <a:uFillTx/>
              <a:latin typeface="Arial"/>
            </a:endParaRPr>
          </a:p>
        </p:txBody>
      </p:sp>
      <p:sp>
        <p:nvSpPr>
          <p:cNvPr id="741" name="Text 9"/>
          <p:cNvSpPr/>
          <p:nvPr/>
        </p:nvSpPr>
        <p:spPr>
          <a:xfrm>
            <a:off x="8092440" y="198432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a:solidFill>
                  <a:srgbClr val="5C6B80"/>
                </a:solidFill>
                <a:effectLst/>
                <a:uFillTx/>
                <a:latin typeface="Aptos"/>
              </a:rPr>
              <a:t>shallowest first</a:t>
            </a:r>
            <a:endParaRPr lang="en-US" sz="1250" b="0" u="none" strike="noStrike">
              <a:solidFill>
                <a:srgbClr val="000000"/>
              </a:solidFill>
              <a:effectLst/>
              <a:uFillTx/>
              <a:latin typeface="Arial"/>
            </a:endParaRPr>
          </a:p>
        </p:txBody>
      </p:sp>
      <p:sp>
        <p:nvSpPr>
          <p:cNvPr id="742" name="Text 10"/>
          <p:cNvSpPr/>
          <p:nvPr/>
        </p:nvSpPr>
        <p:spPr>
          <a:xfrm>
            <a:off x="6720840" y="2862000"/>
            <a:ext cx="1142640" cy="456840"/>
          </a:xfrm>
          <a:prstGeom prst="roundRect">
            <a:avLst>
              <a:gd name="adj" fmla="val 16000"/>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77245"/>
                </a:solidFill>
                <a:effectLst/>
                <a:uFillTx/>
                <a:latin typeface="Aptos"/>
              </a:rPr>
              <a:t>UCS</a:t>
            </a:r>
            <a:endParaRPr lang="en-US" sz="1500" b="0" u="none" strike="noStrike">
              <a:solidFill>
                <a:srgbClr val="000000"/>
              </a:solidFill>
              <a:effectLst/>
              <a:uFillTx/>
              <a:latin typeface="Arial"/>
            </a:endParaRPr>
          </a:p>
        </p:txBody>
      </p:sp>
      <p:sp>
        <p:nvSpPr>
          <p:cNvPr id="743" name="Text 11"/>
          <p:cNvSpPr/>
          <p:nvPr/>
        </p:nvSpPr>
        <p:spPr>
          <a:xfrm>
            <a:off x="8092440" y="286200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priority by g(n)</a:t>
            </a:r>
            <a:endParaRPr lang="en-US" sz="1500" b="0" u="none" strike="noStrike">
              <a:solidFill>
                <a:srgbClr val="000000"/>
              </a:solidFill>
              <a:effectLst/>
              <a:uFillTx/>
              <a:latin typeface="Arial"/>
            </a:endParaRPr>
          </a:p>
        </p:txBody>
      </p:sp>
      <p:sp>
        <p:nvSpPr>
          <p:cNvPr id="744" name="Text 12"/>
          <p:cNvSpPr/>
          <p:nvPr/>
        </p:nvSpPr>
        <p:spPr>
          <a:xfrm>
            <a:off x="8092440" y="315468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a:solidFill>
                  <a:srgbClr val="5C6B80"/>
                </a:solidFill>
                <a:effectLst/>
                <a:uFillTx/>
                <a:latin typeface="Aptos"/>
              </a:rPr>
              <a:t>cheapest path first</a:t>
            </a:r>
            <a:endParaRPr lang="en-US" sz="1250" b="0" u="none" strike="noStrike">
              <a:solidFill>
                <a:srgbClr val="000000"/>
              </a:solidFill>
              <a:effectLst/>
              <a:uFillTx/>
              <a:latin typeface="Arial"/>
            </a:endParaRPr>
          </a:p>
        </p:txBody>
      </p:sp>
      <p:sp>
        <p:nvSpPr>
          <p:cNvPr id="745" name="Text 13"/>
          <p:cNvSpPr/>
          <p:nvPr/>
        </p:nvSpPr>
        <p:spPr>
          <a:xfrm>
            <a:off x="6720840" y="4032360"/>
            <a:ext cx="1142640" cy="456840"/>
          </a:xfrm>
          <a:prstGeom prst="roundRect">
            <a:avLst>
              <a:gd name="adj" fmla="val 16000"/>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DFS</a:t>
            </a:r>
            <a:endParaRPr lang="en-US" sz="1500" b="0" u="none" strike="noStrike">
              <a:solidFill>
                <a:srgbClr val="000000"/>
              </a:solidFill>
              <a:effectLst/>
              <a:uFillTx/>
              <a:latin typeface="Arial"/>
            </a:endParaRPr>
          </a:p>
        </p:txBody>
      </p:sp>
      <p:sp>
        <p:nvSpPr>
          <p:cNvPr id="746" name="Text 14"/>
          <p:cNvSpPr/>
          <p:nvPr/>
        </p:nvSpPr>
        <p:spPr>
          <a:xfrm>
            <a:off x="8092440" y="403236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LIFO stack</a:t>
            </a:r>
            <a:endParaRPr lang="en-US" sz="1500" b="0" u="none" strike="noStrike">
              <a:solidFill>
                <a:srgbClr val="000000"/>
              </a:solidFill>
              <a:effectLst/>
              <a:uFillTx/>
              <a:latin typeface="Arial"/>
            </a:endParaRPr>
          </a:p>
        </p:txBody>
      </p:sp>
      <p:sp>
        <p:nvSpPr>
          <p:cNvPr id="747" name="Text 15"/>
          <p:cNvSpPr/>
          <p:nvPr/>
        </p:nvSpPr>
        <p:spPr>
          <a:xfrm>
            <a:off x="8092440" y="432504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dirty="0">
                <a:solidFill>
                  <a:srgbClr val="5C6B80"/>
                </a:solidFill>
                <a:effectLst/>
                <a:uFillTx/>
                <a:latin typeface="Aptos"/>
              </a:rPr>
              <a:t>deepest first</a:t>
            </a:r>
            <a:endParaRPr lang="en-US" sz="1250" b="0" u="none" strike="noStrike" dirty="0">
              <a:solidFill>
                <a:srgbClr val="000000"/>
              </a:solidFill>
              <a:effectLst/>
              <a:uFillTx/>
              <a:latin typeface="Arial"/>
            </a:endParaRPr>
          </a:p>
        </p:txBody>
      </p:sp>
      <p:sp>
        <p:nvSpPr>
          <p:cNvPr id="748" name="Text 16"/>
          <p:cNvSpPr/>
          <p:nvPr/>
        </p:nvSpPr>
        <p:spPr>
          <a:xfrm>
            <a:off x="6583680" y="5257800"/>
            <a:ext cx="470880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9999"/>
          </a:bodyPr>
          <a:lstStyle/>
          <a:p>
            <a:pPr algn="ctr" defTabSz="914400">
              <a:lnSpc>
                <a:spcPct val="100000"/>
              </a:lnSpc>
              <a:tabLst>
                <a:tab pos="0" algn="l"/>
              </a:tabLst>
            </a:pPr>
            <a:r>
              <a:rPr lang="en-US" sz="1700" b="1" u="none" strike="noStrike" dirty="0">
                <a:solidFill>
                  <a:srgbClr val="112E5C"/>
                </a:solidFill>
                <a:effectLst/>
                <a:uFillTx/>
                <a:latin typeface="Aptos"/>
              </a:rPr>
              <a:t>The algorithm changes mainly by changing how the frontier/</a:t>
            </a:r>
            <a:r>
              <a:rPr lang="en-US" sz="1700" b="1" u="none" strike="noStrike" dirty="0" err="1">
                <a:solidFill>
                  <a:srgbClr val="112E5C"/>
                </a:solidFill>
                <a:effectLst/>
                <a:uFillTx/>
                <a:latin typeface="Aptos"/>
              </a:rPr>
              <a:t>frindge</a:t>
            </a:r>
            <a:r>
              <a:rPr lang="en-US" sz="1700" b="1" u="none" strike="noStrike" dirty="0">
                <a:solidFill>
                  <a:srgbClr val="112E5C"/>
                </a:solidFill>
                <a:effectLst/>
                <a:uFillTx/>
                <a:latin typeface="Aptos"/>
              </a:rPr>
              <a:t> is ordered.</a:t>
            </a:r>
            <a:endParaRPr lang="en-US" sz="1700" b="0" u="none" strike="noStrike" dirty="0">
              <a:solidFill>
                <a:srgbClr val="000000"/>
              </a:solidFill>
              <a:effectLst/>
              <a:uFillTx/>
              <a:latin typeface="Arial"/>
            </a:endParaRPr>
          </a:p>
        </p:txBody>
      </p:sp>
      <p:pic>
        <p:nvPicPr>
          <p:cNvPr id="3" name="Image 0" descr="preencoded.png">
            <a:extLst>
              <a:ext uri="{FF2B5EF4-FFF2-40B4-BE49-F238E27FC236}">
                <a16:creationId xmlns:a16="http://schemas.microsoft.com/office/drawing/2014/main" id="{E3670071-1405-191E-90AC-D2B153B9A3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727964"/>
            <a:ext cx="6297662" cy="248731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4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5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Search Data Structures</a:t>
            </a:r>
            <a:endParaRPr lang="en-US" sz="2600" b="0" u="none" strike="noStrike">
              <a:solidFill>
                <a:srgbClr val="000000"/>
              </a:solidFill>
              <a:effectLst/>
              <a:uFillTx/>
              <a:latin typeface="Arial"/>
            </a:endParaRPr>
          </a:p>
        </p:txBody>
      </p:sp>
      <p:sp>
        <p:nvSpPr>
          <p:cNvPr id="75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5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54" name="Text 5"/>
          <p:cNvSpPr/>
          <p:nvPr/>
        </p:nvSpPr>
        <p:spPr>
          <a:xfrm>
            <a:off x="702310" y="1486120"/>
            <a:ext cx="5760360" cy="34106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1" u="none" strike="noStrike" dirty="0">
                <a:solidFill>
                  <a:srgbClr val="112E5C"/>
                </a:solidFill>
                <a:effectLst/>
                <a:uFillTx/>
                <a:latin typeface="Aptos"/>
              </a:rPr>
              <a:t>Search node fields</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node.PARENT</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node.ACTION</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node.PATH</a:t>
            </a:r>
            <a:r>
              <a:rPr lang="en-US" sz="1500" b="0" u="none" strike="noStrike" dirty="0">
                <a:solidFill>
                  <a:srgbClr val="102A4C"/>
                </a:solidFill>
                <a:effectLst/>
                <a:uFillTx/>
                <a:latin typeface="Aptos"/>
              </a:rPr>
              <a:t>-COST, also written g(node)</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177245"/>
                </a:solidFill>
                <a:effectLst/>
                <a:uFillTx/>
                <a:latin typeface="Aptos"/>
              </a:rPr>
              <a:t>Frontier operations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IS-EMPTY(frontier), POP(frontier), TOP(frontier), ADD(node, frontier)</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743A6D"/>
                </a:solidFill>
                <a:effectLst/>
                <a:uFillTx/>
                <a:latin typeface="Aptos"/>
              </a:rPr>
              <a:t>Queues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Priority queue for best-first/UCS; FIFO for BFS; LIFO stack for DFS</a:t>
            </a:r>
            <a:endParaRPr lang="en-US" sz="1500" b="0" u="none" strike="noStrike" dirty="0">
              <a:solidFill>
                <a:srgbClr val="000000"/>
              </a:solidFill>
              <a:effectLst/>
              <a:uFillTx/>
              <a:latin typeface="Arial"/>
            </a:endParaRPr>
          </a:p>
        </p:txBody>
      </p:sp>
      <p:sp>
        <p:nvSpPr>
          <p:cNvPr id="755" name="Text 6"/>
          <p:cNvSpPr/>
          <p:nvPr/>
        </p:nvSpPr>
        <p:spPr>
          <a:xfrm>
            <a:off x="7406640" y="1508760"/>
            <a:ext cx="292572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Node</a:t>
            </a:r>
            <a:endParaRPr lang="en-US" sz="1700" b="0" u="none" strike="noStrike">
              <a:solidFill>
                <a:srgbClr val="000000"/>
              </a:solidFill>
              <a:effectLst/>
              <a:uFillTx/>
              <a:latin typeface="Arial"/>
            </a:endParaRPr>
          </a:p>
        </p:txBody>
      </p:sp>
      <p:sp>
        <p:nvSpPr>
          <p:cNvPr id="756" name="Text 7"/>
          <p:cNvSpPr/>
          <p:nvPr/>
        </p:nvSpPr>
        <p:spPr>
          <a:xfrm>
            <a:off x="7726680" y="2286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STATE</a:t>
            </a:r>
            <a:endParaRPr lang="en-US" sz="1200" b="0" u="none" strike="noStrike">
              <a:solidFill>
                <a:srgbClr val="000000"/>
              </a:solidFill>
              <a:effectLst/>
              <a:uFillTx/>
              <a:latin typeface="Arial"/>
            </a:endParaRPr>
          </a:p>
        </p:txBody>
      </p:sp>
      <p:sp>
        <p:nvSpPr>
          <p:cNvPr id="757" name="Text 8"/>
          <p:cNvSpPr/>
          <p:nvPr/>
        </p:nvSpPr>
        <p:spPr>
          <a:xfrm>
            <a:off x="7726680" y="2853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PARENT</a:t>
            </a:r>
            <a:endParaRPr lang="en-US" sz="1200" b="0" u="none" strike="noStrike">
              <a:solidFill>
                <a:srgbClr val="000000"/>
              </a:solidFill>
              <a:effectLst/>
              <a:uFillTx/>
              <a:latin typeface="Arial"/>
            </a:endParaRPr>
          </a:p>
        </p:txBody>
      </p:sp>
      <p:sp>
        <p:nvSpPr>
          <p:cNvPr id="758" name="Text 9"/>
          <p:cNvSpPr/>
          <p:nvPr/>
        </p:nvSpPr>
        <p:spPr>
          <a:xfrm>
            <a:off x="7726680" y="3420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ACTION</a:t>
            </a:r>
            <a:endParaRPr lang="en-US" sz="1200" b="0" u="none" strike="noStrike">
              <a:solidFill>
                <a:srgbClr val="000000"/>
              </a:solidFill>
              <a:effectLst/>
              <a:uFillTx/>
              <a:latin typeface="Arial"/>
            </a:endParaRPr>
          </a:p>
        </p:txBody>
      </p:sp>
      <p:sp>
        <p:nvSpPr>
          <p:cNvPr id="759" name="Text 10"/>
          <p:cNvSpPr/>
          <p:nvPr/>
        </p:nvSpPr>
        <p:spPr>
          <a:xfrm>
            <a:off x="7726680" y="398664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PATH-COST</a:t>
            </a:r>
            <a:endParaRPr lang="en-US" sz="1200" b="0" u="none" strike="noStrike">
              <a:solidFill>
                <a:srgbClr val="000000"/>
              </a:solidFill>
              <a:effectLst/>
              <a:uFillTx/>
              <a:latin typeface="Arial"/>
            </a:endParaRPr>
          </a:p>
        </p:txBody>
      </p:sp>
      <p:sp>
        <p:nvSpPr>
          <p:cNvPr id="760" name="Text 11"/>
          <p:cNvSpPr/>
          <p:nvPr/>
        </p:nvSpPr>
        <p:spPr>
          <a:xfrm>
            <a:off x="6903720" y="4892040"/>
            <a:ext cx="402300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1600" b="1" u="none" strike="noStrike">
                <a:solidFill>
                  <a:srgbClr val="112E5C"/>
                </a:solidFill>
                <a:effectLst/>
                <a:uFillTx/>
                <a:latin typeface="Aptos"/>
              </a:rPr>
              <a:t>Parent pointers recover the final solution path.</a:t>
            </a:r>
            <a:endParaRPr lang="en-US" sz="16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6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6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Redundant Paths and Cycles</a:t>
            </a:r>
            <a:endParaRPr lang="en-US" sz="2600" b="0" u="none" strike="noStrike">
              <a:solidFill>
                <a:srgbClr val="000000"/>
              </a:solidFill>
              <a:effectLst/>
              <a:uFillTx/>
              <a:latin typeface="Arial"/>
            </a:endParaRPr>
          </a:p>
        </p:txBody>
      </p:sp>
      <p:sp>
        <p:nvSpPr>
          <p:cNvPr id="76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6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66" name="Shape 5"/>
          <p:cNvSpPr/>
          <p:nvPr/>
        </p:nvSpPr>
        <p:spPr>
          <a:xfrm flipV="1">
            <a:off x="1064160" y="2119320"/>
            <a:ext cx="636480" cy="371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7" name="Shape 6"/>
          <p:cNvSpPr/>
          <p:nvPr/>
        </p:nvSpPr>
        <p:spPr>
          <a:xfrm>
            <a:off x="1064160" y="2490480"/>
            <a:ext cx="636480" cy="424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8" name="Shape 7"/>
          <p:cNvSpPr/>
          <p:nvPr/>
        </p:nvSpPr>
        <p:spPr>
          <a:xfrm flipV="1">
            <a:off x="1700640" y="1827720"/>
            <a:ext cx="556920" cy="2916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9" name="Shape 8"/>
          <p:cNvSpPr/>
          <p:nvPr/>
        </p:nvSpPr>
        <p:spPr>
          <a:xfrm>
            <a:off x="1700640" y="2119320"/>
            <a:ext cx="689400" cy="3448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0" name="Shape 9"/>
          <p:cNvSpPr/>
          <p:nvPr/>
        </p:nvSpPr>
        <p:spPr>
          <a:xfrm>
            <a:off x="1700640" y="2119320"/>
            <a:ext cx="1352520" cy="238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1" name="Shape 10"/>
          <p:cNvSpPr/>
          <p:nvPr/>
        </p:nvSpPr>
        <p:spPr>
          <a:xfrm flipV="1">
            <a:off x="2257560" y="1641960"/>
            <a:ext cx="583200" cy="1857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2" name="Shape 11"/>
          <p:cNvSpPr/>
          <p:nvPr/>
        </p:nvSpPr>
        <p:spPr>
          <a:xfrm flipH="1">
            <a:off x="2390040" y="1641960"/>
            <a:ext cx="450720" cy="822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3" name="Shape 12"/>
          <p:cNvSpPr/>
          <p:nvPr/>
        </p:nvSpPr>
        <p:spPr>
          <a:xfrm flipV="1">
            <a:off x="2390040" y="1641960"/>
            <a:ext cx="450720" cy="822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4" name="Shape 13"/>
          <p:cNvSpPr/>
          <p:nvPr/>
        </p:nvSpPr>
        <p:spPr>
          <a:xfrm flipV="1">
            <a:off x="2390040" y="2358000"/>
            <a:ext cx="663120" cy="106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5" name="Shape 14"/>
          <p:cNvSpPr/>
          <p:nvPr/>
        </p:nvSpPr>
        <p:spPr>
          <a:xfrm flipH="1">
            <a:off x="2814480" y="2358000"/>
            <a:ext cx="238680" cy="5835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6" name="Shape 15"/>
          <p:cNvSpPr/>
          <p:nvPr/>
        </p:nvSpPr>
        <p:spPr>
          <a:xfrm flipH="1" flipV="1">
            <a:off x="1700640" y="2914920"/>
            <a:ext cx="1113840" cy="26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18360" rIns="90000" bIns="-18360" anchor="t" anchorCtr="1">
            <a:noAutofit/>
          </a:bodyPr>
          <a:lstStyle/>
          <a:p>
            <a:endParaRPr lang="en-US" sz="1800" b="0" u="none" strike="noStrike">
              <a:solidFill>
                <a:srgbClr val="000000"/>
              </a:solidFill>
              <a:effectLst/>
              <a:uFillTx/>
              <a:latin typeface="Arial"/>
            </a:endParaRPr>
          </a:p>
        </p:txBody>
      </p:sp>
      <p:sp>
        <p:nvSpPr>
          <p:cNvPr id="777" name="Shape 16"/>
          <p:cNvSpPr/>
          <p:nvPr/>
        </p:nvSpPr>
        <p:spPr>
          <a:xfrm>
            <a:off x="1700640" y="2914920"/>
            <a:ext cx="583200" cy="450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8" name="Shape 17"/>
          <p:cNvSpPr/>
          <p:nvPr/>
        </p:nvSpPr>
        <p:spPr>
          <a:xfrm flipV="1">
            <a:off x="2283840" y="2941560"/>
            <a:ext cx="530640" cy="424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9" name="Shape 18"/>
          <p:cNvSpPr/>
          <p:nvPr/>
        </p:nvSpPr>
        <p:spPr>
          <a:xfrm>
            <a:off x="3053160" y="2358000"/>
            <a:ext cx="583200" cy="6098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0" name="Shape 19"/>
          <p:cNvSpPr/>
          <p:nvPr/>
        </p:nvSpPr>
        <p:spPr>
          <a:xfrm flipV="1">
            <a:off x="3636360" y="2596680"/>
            <a:ext cx="504000" cy="371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1" name="Shape 20"/>
          <p:cNvSpPr/>
          <p:nvPr/>
        </p:nvSpPr>
        <p:spPr>
          <a:xfrm flipH="1" flipV="1">
            <a:off x="2390040" y="2464200"/>
            <a:ext cx="1750320" cy="1324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2" name="Shape 21"/>
          <p:cNvSpPr/>
          <p:nvPr/>
        </p:nvSpPr>
        <p:spPr>
          <a:xfrm flipV="1">
            <a:off x="4140360" y="2039760"/>
            <a:ext cx="450720" cy="556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3" name="Text 22"/>
          <p:cNvSpPr/>
          <p:nvPr/>
        </p:nvSpPr>
        <p:spPr>
          <a:xfrm>
            <a:off x="918000" y="2344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784" name="Text 23"/>
          <p:cNvSpPr/>
          <p:nvPr/>
        </p:nvSpPr>
        <p:spPr>
          <a:xfrm>
            <a:off x="1554480" y="19731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785" name="Text 24"/>
          <p:cNvSpPr/>
          <p:nvPr/>
        </p:nvSpPr>
        <p:spPr>
          <a:xfrm>
            <a:off x="1554480" y="2768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786" name="Text 25"/>
          <p:cNvSpPr/>
          <p:nvPr/>
        </p:nvSpPr>
        <p:spPr>
          <a:xfrm>
            <a:off x="2111400" y="1681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787" name="Text 26"/>
          <p:cNvSpPr/>
          <p:nvPr/>
        </p:nvSpPr>
        <p:spPr>
          <a:xfrm>
            <a:off x="2243880" y="23180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788" name="Text 27"/>
          <p:cNvSpPr/>
          <p:nvPr/>
        </p:nvSpPr>
        <p:spPr>
          <a:xfrm>
            <a:off x="2907000" y="2211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789" name="Text 28"/>
          <p:cNvSpPr/>
          <p:nvPr/>
        </p:nvSpPr>
        <p:spPr>
          <a:xfrm>
            <a:off x="2668320" y="2795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790" name="Text 29"/>
          <p:cNvSpPr/>
          <p:nvPr/>
        </p:nvSpPr>
        <p:spPr>
          <a:xfrm>
            <a:off x="2138040" y="32194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791" name="Text 30"/>
          <p:cNvSpPr/>
          <p:nvPr/>
        </p:nvSpPr>
        <p:spPr>
          <a:xfrm>
            <a:off x="2694600" y="14958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792" name="Text 31"/>
          <p:cNvSpPr/>
          <p:nvPr/>
        </p:nvSpPr>
        <p:spPr>
          <a:xfrm>
            <a:off x="3490200" y="2821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793" name="Text 32"/>
          <p:cNvSpPr/>
          <p:nvPr/>
        </p:nvSpPr>
        <p:spPr>
          <a:xfrm>
            <a:off x="3994200" y="2450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794" name="Text 33"/>
          <p:cNvSpPr/>
          <p:nvPr/>
        </p:nvSpPr>
        <p:spPr>
          <a:xfrm>
            <a:off x="4444920" y="18936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795" name="Text 34"/>
          <p:cNvSpPr/>
          <p:nvPr/>
        </p:nvSpPr>
        <p:spPr>
          <a:xfrm>
            <a:off x="6675120" y="1417320"/>
            <a:ext cx="4663080" cy="4023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1" u="none" strike="noStrike" dirty="0">
                <a:solidFill>
                  <a:srgbClr val="112E5C"/>
                </a:solidFill>
                <a:effectLst/>
                <a:uFillTx/>
                <a:latin typeface="Aptos"/>
              </a:rPr>
              <a:t>Repeated 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same state reached by different paths</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9B1C1C"/>
                </a:solidFill>
                <a:effectLst/>
                <a:uFillTx/>
                <a:latin typeface="Aptos"/>
              </a:rPr>
              <a:t>Cycle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path returns to a state already on the same path</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177245"/>
                </a:solidFill>
                <a:effectLst/>
                <a:uFillTx/>
                <a:latin typeface="Aptos"/>
              </a:rPr>
              <a:t>Options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remember all reached states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ignore repeats to save memory</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check only cycles as a compromise</a:t>
            </a:r>
            <a:endParaRPr lang="en-US" sz="1500" b="0" u="none" strike="noStrike" dirty="0">
              <a:solidFill>
                <a:srgbClr val="000000"/>
              </a:solidFill>
              <a:effectLst/>
              <a:uFillTx/>
              <a:latin typeface="Arial"/>
            </a:endParaRPr>
          </a:p>
        </p:txBody>
      </p:sp>
      <p:sp>
        <p:nvSpPr>
          <p:cNvPr id="796" name="Text 35"/>
          <p:cNvSpPr/>
          <p:nvPr/>
        </p:nvSpPr>
        <p:spPr>
          <a:xfrm>
            <a:off x="1005840" y="5669280"/>
            <a:ext cx="1024092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9B1C1C"/>
                </a:solidFill>
                <a:effectLst/>
                <a:uFillTx/>
                <a:latin typeface="Aptos"/>
              </a:rPr>
              <a:t>Without memory, search may repeat itself indefinitely or waste massive work.</a:t>
            </a:r>
            <a:endParaRPr lang="en-US" sz="18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9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9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9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dirty="0">
                <a:solidFill>
                  <a:srgbClr val="FFFFFF"/>
                </a:solidFill>
                <a:effectLst/>
                <a:uFillTx/>
                <a:latin typeface="Aptos"/>
              </a:rPr>
              <a:t>Graph Search vs. Tree-Like Search</a:t>
            </a:r>
            <a:endParaRPr lang="en-US" sz="2600" b="0" u="none" strike="noStrike" dirty="0">
              <a:solidFill>
                <a:srgbClr val="000000"/>
              </a:solidFill>
              <a:effectLst/>
              <a:uFillTx/>
              <a:latin typeface="Arial"/>
            </a:endParaRPr>
          </a:p>
        </p:txBody>
      </p:sp>
      <p:sp>
        <p:nvSpPr>
          <p:cNvPr id="80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dirty="0">
                <a:solidFill>
                  <a:srgbClr val="5C6B80"/>
                </a:solidFill>
                <a:effectLst/>
                <a:uFillTx/>
                <a:latin typeface="Aptos"/>
              </a:rPr>
              <a:t>CSU Channel Islands · Department of Computer Science</a:t>
            </a:r>
            <a:endParaRPr lang="en-US" sz="850" b="0" u="none" strike="noStrike" dirty="0">
              <a:solidFill>
                <a:srgbClr val="000000"/>
              </a:solidFill>
              <a:effectLst/>
              <a:uFillTx/>
              <a:latin typeface="Arial"/>
            </a:endParaRPr>
          </a:p>
        </p:txBody>
      </p:sp>
      <p:sp>
        <p:nvSpPr>
          <p:cNvPr id="80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02" name="Rounded Rectangle 6"/>
          <p:cNvSpPr/>
          <p:nvPr/>
        </p:nvSpPr>
        <p:spPr>
          <a:xfrm>
            <a:off x="777240" y="1417320"/>
            <a:ext cx="3382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Graph search</a:t>
            </a:r>
            <a:endParaRPr lang="en-US" sz="1450" b="0" u="none" strike="noStrike">
              <a:solidFill>
                <a:srgbClr val="000000"/>
              </a:solidFill>
              <a:effectLst/>
              <a:uFillTx/>
              <a:latin typeface="Arial"/>
            </a:endParaRPr>
          </a:p>
        </p:txBody>
      </p:sp>
      <p:sp>
        <p:nvSpPr>
          <p:cNvPr id="803" name="Rectangle 7"/>
          <p:cNvSpPr/>
          <p:nvPr/>
        </p:nvSpPr>
        <p:spPr>
          <a:xfrm>
            <a:off x="777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Remembers every reached state</a:t>
            </a:r>
            <a:endParaRPr lang="en-US" sz="1150" b="0" u="none" strike="noStrike">
              <a:solidFill>
                <a:srgbClr val="000000"/>
              </a:solidFill>
              <a:effectLst/>
              <a:uFillTx/>
              <a:latin typeface="Arial"/>
            </a:endParaRPr>
          </a:p>
        </p:txBody>
      </p:sp>
      <p:sp>
        <p:nvSpPr>
          <p:cNvPr id="804" name="Rounded Rectangle 8"/>
          <p:cNvSpPr/>
          <p:nvPr/>
        </p:nvSpPr>
        <p:spPr>
          <a:xfrm>
            <a:off x="777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05" name="Rectangle 9"/>
          <p:cNvSpPr/>
          <p:nvPr/>
        </p:nvSpPr>
        <p:spPr>
          <a:xfrm>
            <a:off x="960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Keeps the full reached table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Detects all redundant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Keeps only the best path to each state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Preferred whenever the table fits in memory</a:t>
            </a:r>
            <a:endParaRPr lang="en-US" sz="1250" b="0" u="none" strike="noStrike">
              <a:solidFill>
                <a:srgbClr val="000000"/>
              </a:solidFill>
              <a:effectLst/>
              <a:uFillTx/>
              <a:latin typeface="Arial"/>
            </a:endParaRPr>
          </a:p>
        </p:txBody>
      </p:sp>
      <p:sp>
        <p:nvSpPr>
          <p:cNvPr id="806" name="Rounded Rectangle 10"/>
          <p:cNvSpPr/>
          <p:nvPr/>
        </p:nvSpPr>
        <p:spPr>
          <a:xfrm>
            <a:off x="4404240" y="1417320"/>
            <a:ext cx="3382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Cycle checking</a:t>
            </a:r>
            <a:endParaRPr lang="en-US" sz="1450" b="0" u="none" strike="noStrike">
              <a:solidFill>
                <a:srgbClr val="000000"/>
              </a:solidFill>
              <a:effectLst/>
              <a:uFillTx/>
              <a:latin typeface="Arial"/>
            </a:endParaRPr>
          </a:p>
        </p:txBody>
      </p:sp>
      <p:sp>
        <p:nvSpPr>
          <p:cNvPr id="807" name="Rectangle 11"/>
          <p:cNvSpPr/>
          <p:nvPr/>
        </p:nvSpPr>
        <p:spPr>
          <a:xfrm>
            <a:off x="4404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The middle option</a:t>
            </a:r>
            <a:endParaRPr lang="en-US" sz="1150" b="0" u="none" strike="noStrike">
              <a:solidFill>
                <a:srgbClr val="000000"/>
              </a:solidFill>
              <a:effectLst/>
              <a:uFillTx/>
              <a:latin typeface="Arial"/>
            </a:endParaRPr>
          </a:p>
        </p:txBody>
      </p:sp>
      <p:sp>
        <p:nvSpPr>
          <p:cNvPr id="808" name="Rounded Rectangle 12"/>
          <p:cNvSpPr/>
          <p:nvPr/>
        </p:nvSpPr>
        <p:spPr>
          <a:xfrm>
            <a:off x="4404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09" name="Rectangle 13"/>
          <p:cNvSpPr/>
          <p:nvPr/>
        </p:nvSpPr>
        <p:spPr>
          <a:xfrm>
            <a:off x="4587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Walks up the parent chain from a node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Needs no additional memory at all</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Check all the way up, or only a few links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Catches loops, misses general redundancy</a:t>
            </a:r>
            <a:endParaRPr lang="en-US" sz="1250" b="0" u="none" strike="noStrike">
              <a:solidFill>
                <a:srgbClr val="000000"/>
              </a:solidFill>
              <a:effectLst/>
              <a:uFillTx/>
              <a:latin typeface="Arial"/>
            </a:endParaRPr>
          </a:p>
        </p:txBody>
      </p:sp>
      <p:sp>
        <p:nvSpPr>
          <p:cNvPr id="810" name="Rounded Rectangle 14"/>
          <p:cNvSpPr/>
          <p:nvPr/>
        </p:nvSpPr>
        <p:spPr>
          <a:xfrm>
            <a:off x="8031600" y="1417320"/>
            <a:ext cx="3382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Tree-like search</a:t>
            </a:r>
            <a:endParaRPr lang="en-US" sz="1450" b="0" u="none" strike="noStrike">
              <a:solidFill>
                <a:srgbClr val="000000"/>
              </a:solidFill>
              <a:effectLst/>
              <a:uFillTx/>
              <a:latin typeface="Arial"/>
            </a:endParaRPr>
          </a:p>
        </p:txBody>
      </p:sp>
      <p:sp>
        <p:nvSpPr>
          <p:cNvPr id="811" name="Rectangle 15"/>
          <p:cNvSpPr/>
          <p:nvPr/>
        </p:nvSpPr>
        <p:spPr>
          <a:xfrm>
            <a:off x="803160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Does not check at all</a:t>
            </a:r>
            <a:endParaRPr lang="en-US" sz="1150" b="0" u="none" strike="noStrike">
              <a:solidFill>
                <a:srgbClr val="000000"/>
              </a:solidFill>
              <a:effectLst/>
              <a:uFillTx/>
              <a:latin typeface="Arial"/>
            </a:endParaRPr>
          </a:p>
        </p:txBody>
      </p:sp>
      <p:sp>
        <p:nvSpPr>
          <p:cNvPr id="812" name="Rounded Rectangle 16"/>
          <p:cNvSpPr/>
          <p:nvPr/>
        </p:nvSpPr>
        <p:spPr>
          <a:xfrm>
            <a:off x="803160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13" name="Rectangle 17"/>
          <p:cNvSpPr/>
          <p:nvPr/>
        </p:nvSpPr>
        <p:spPr>
          <a:xfrm>
            <a:off x="821448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No reached table is kept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Much smaller memory footprint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Re-examines the same state via many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Fine when two paths rarely meet</a:t>
            </a:r>
            <a:endParaRPr lang="en-US" sz="1250" b="0" u="none" strike="noStrike">
              <a:solidFill>
                <a:srgbClr val="000000"/>
              </a:solidFill>
              <a:effectLst/>
              <a:uFillTx/>
              <a:latin typeface="Arial"/>
            </a:endParaRPr>
          </a:p>
        </p:txBody>
      </p:sp>
      <p:sp>
        <p:nvSpPr>
          <p:cNvPr id="814" name="Rounded Rectangle 18"/>
          <p:cNvSpPr/>
          <p:nvPr/>
        </p:nvSpPr>
        <p:spPr>
          <a:xfrm>
            <a:off x="914400" y="411480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15" name="Rectangle 19"/>
          <p:cNvSpPr/>
          <p:nvPr/>
        </p:nvSpPr>
        <p:spPr>
          <a:xfrm>
            <a:off x="109728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100</a:t>
            </a:r>
            <a:endParaRPr lang="en-US" sz="2400" b="0" u="none" strike="noStrike">
              <a:solidFill>
                <a:srgbClr val="000000"/>
              </a:solidFill>
              <a:effectLst/>
              <a:uFillTx/>
              <a:latin typeface="Arial"/>
            </a:endParaRPr>
          </a:p>
        </p:txBody>
      </p:sp>
      <p:sp>
        <p:nvSpPr>
          <p:cNvPr id="816" name="Rectangle 20"/>
          <p:cNvSpPr/>
          <p:nvPr/>
        </p:nvSpPr>
        <p:spPr>
          <a:xfrm>
            <a:off x="237744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cells in a 10 × 10 grid world</a:t>
            </a:r>
            <a:endParaRPr lang="en-US" sz="1200" b="0" u="none" strike="noStrike">
              <a:solidFill>
                <a:srgbClr val="000000"/>
              </a:solidFill>
              <a:effectLst/>
              <a:uFillTx/>
              <a:latin typeface="Arial"/>
            </a:endParaRPr>
          </a:p>
        </p:txBody>
      </p:sp>
      <p:sp>
        <p:nvSpPr>
          <p:cNvPr id="817" name="Rectangle 21"/>
          <p:cNvSpPr/>
          <p:nvPr/>
        </p:nvSpPr>
        <p:spPr>
          <a:xfrm>
            <a:off x="448056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 9</a:t>
            </a:r>
            <a:endParaRPr lang="en-US" sz="2400" b="0" u="none" strike="noStrike">
              <a:solidFill>
                <a:srgbClr val="000000"/>
              </a:solidFill>
              <a:effectLst/>
              <a:uFillTx/>
              <a:latin typeface="Arial"/>
            </a:endParaRPr>
          </a:p>
        </p:txBody>
      </p:sp>
      <p:sp>
        <p:nvSpPr>
          <p:cNvPr id="818" name="Rectangle 22"/>
          <p:cNvSpPr/>
          <p:nvPr/>
        </p:nvSpPr>
        <p:spPr>
          <a:xfrm>
            <a:off x="576072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moves to reach any of them</a:t>
            </a:r>
            <a:endParaRPr lang="en-US" sz="1200" b="0" u="none" strike="noStrike">
              <a:solidFill>
                <a:srgbClr val="000000"/>
              </a:solidFill>
              <a:effectLst/>
              <a:uFillTx/>
              <a:latin typeface="Arial"/>
            </a:endParaRPr>
          </a:p>
        </p:txBody>
      </p:sp>
      <p:sp>
        <p:nvSpPr>
          <p:cNvPr id="819" name="Rectangle 23"/>
          <p:cNvSpPr/>
          <p:nvPr/>
        </p:nvSpPr>
        <p:spPr>
          <a:xfrm>
            <a:off x="786384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 8⁹</a:t>
            </a:r>
            <a:endParaRPr lang="en-US" sz="2400" b="0" u="none" strike="noStrike">
              <a:solidFill>
                <a:srgbClr val="000000"/>
              </a:solidFill>
              <a:effectLst/>
              <a:uFillTx/>
              <a:latin typeface="Arial"/>
            </a:endParaRPr>
          </a:p>
        </p:txBody>
      </p:sp>
      <p:sp>
        <p:nvSpPr>
          <p:cNvPr id="820" name="Rectangle 24"/>
          <p:cNvSpPr/>
          <p:nvPr/>
        </p:nvSpPr>
        <p:spPr>
          <a:xfrm>
            <a:off x="914400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paths of length 9 — over 100 million</a:t>
            </a:r>
            <a:endParaRPr lang="en-US" sz="1200" b="0" u="none" strike="noStrike">
              <a:solidFill>
                <a:srgbClr val="000000"/>
              </a:solidFill>
              <a:effectLst/>
              <a:uFillTx/>
              <a:latin typeface="Arial"/>
            </a:endParaRPr>
          </a:p>
        </p:txBody>
      </p:sp>
      <p:sp>
        <p:nvSpPr>
          <p:cNvPr id="821"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Eliminate redundant paths and this search finishes roughly a million times faster.</a:t>
            </a:r>
            <a:endParaRPr lang="en-US" sz="1700" b="0" u="none" strike="noStrike">
              <a:solidFill>
                <a:srgbClr val="000000"/>
              </a:solidFill>
              <a:effectLst/>
              <a:uFillTx/>
              <a:latin typeface="Arial"/>
            </a:endParaRPr>
          </a:p>
        </p:txBody>
      </p:sp>
      <p:sp>
        <p:nvSpPr>
          <p:cNvPr id="822" name="Rectangle 26"/>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Algorithms that cannot remember the past are doomed to repeat it. Caution: the Figure 3.15 comparison table assumes the tree-like versions.</a:t>
            </a:r>
            <a:endParaRPr lang="en-US" sz="15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2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2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How We Evaluate Search Algorithms</a:t>
            </a:r>
            <a:endParaRPr lang="en-US" sz="2600" b="0" u="none" strike="noStrike">
              <a:solidFill>
                <a:srgbClr val="000000"/>
              </a:solidFill>
              <a:effectLst/>
              <a:uFillTx/>
              <a:latin typeface="Arial"/>
            </a:endParaRPr>
          </a:p>
        </p:txBody>
      </p:sp>
      <p:sp>
        <p:nvSpPr>
          <p:cNvPr id="82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2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28" name="Text 5"/>
          <p:cNvSpPr/>
          <p:nvPr/>
        </p:nvSpPr>
        <p:spPr>
          <a:xfrm>
            <a:off x="868680" y="150876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Complete?</a:t>
            </a:r>
            <a:endParaRPr lang="en-US" sz="1600" b="0" u="none" strike="noStrike">
              <a:solidFill>
                <a:srgbClr val="000000"/>
              </a:solidFill>
              <a:effectLst/>
              <a:uFillTx/>
              <a:latin typeface="Arial"/>
            </a:endParaRPr>
          </a:p>
        </p:txBody>
      </p:sp>
      <p:sp>
        <p:nvSpPr>
          <p:cNvPr id="829" name="Text 6"/>
          <p:cNvSpPr/>
          <p:nvPr/>
        </p:nvSpPr>
        <p:spPr>
          <a:xfrm>
            <a:off x="3291840" y="156348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Guaranteed to find a solution if one exists.</a:t>
            </a:r>
            <a:endParaRPr lang="en-US" sz="1450" b="0" u="none" strike="noStrike">
              <a:solidFill>
                <a:srgbClr val="000000"/>
              </a:solidFill>
              <a:effectLst/>
              <a:uFillTx/>
              <a:latin typeface="Arial"/>
            </a:endParaRPr>
          </a:p>
        </p:txBody>
      </p:sp>
      <p:sp>
        <p:nvSpPr>
          <p:cNvPr id="830" name="Text 7"/>
          <p:cNvSpPr/>
          <p:nvPr/>
        </p:nvSpPr>
        <p:spPr>
          <a:xfrm>
            <a:off x="6355080" y="150876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Cost-optimal?</a:t>
            </a:r>
            <a:endParaRPr lang="en-US" sz="1600" b="0" u="none" strike="noStrike">
              <a:solidFill>
                <a:srgbClr val="000000"/>
              </a:solidFill>
              <a:effectLst/>
              <a:uFillTx/>
              <a:latin typeface="Arial"/>
            </a:endParaRPr>
          </a:p>
        </p:txBody>
      </p:sp>
      <p:sp>
        <p:nvSpPr>
          <p:cNvPr id="831" name="Text 8"/>
          <p:cNvSpPr/>
          <p:nvPr/>
        </p:nvSpPr>
        <p:spPr>
          <a:xfrm>
            <a:off x="8778240" y="156348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Guaranteed to find the least-cost solution.</a:t>
            </a:r>
            <a:endParaRPr lang="en-US" sz="1450" b="0" u="none" strike="noStrike">
              <a:solidFill>
                <a:srgbClr val="000000"/>
              </a:solidFill>
              <a:effectLst/>
              <a:uFillTx/>
              <a:latin typeface="Arial"/>
            </a:endParaRPr>
          </a:p>
        </p:txBody>
      </p:sp>
      <p:sp>
        <p:nvSpPr>
          <p:cNvPr id="832" name="Text 9"/>
          <p:cNvSpPr/>
          <p:nvPr/>
        </p:nvSpPr>
        <p:spPr>
          <a:xfrm>
            <a:off x="868680" y="306324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Time complexity</a:t>
            </a:r>
            <a:endParaRPr lang="en-US" sz="1600" b="0" u="none" strike="noStrike">
              <a:solidFill>
                <a:srgbClr val="000000"/>
              </a:solidFill>
              <a:effectLst/>
              <a:uFillTx/>
              <a:latin typeface="Arial"/>
            </a:endParaRPr>
          </a:p>
        </p:txBody>
      </p:sp>
      <p:sp>
        <p:nvSpPr>
          <p:cNvPr id="833" name="Text 10"/>
          <p:cNvSpPr/>
          <p:nvPr/>
        </p:nvSpPr>
        <p:spPr>
          <a:xfrm>
            <a:off x="3291840" y="311796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How many states/actions are considered.</a:t>
            </a:r>
            <a:endParaRPr lang="en-US" sz="1450" b="0" u="none" strike="noStrike">
              <a:solidFill>
                <a:srgbClr val="000000"/>
              </a:solidFill>
              <a:effectLst/>
              <a:uFillTx/>
              <a:latin typeface="Arial"/>
            </a:endParaRPr>
          </a:p>
        </p:txBody>
      </p:sp>
      <p:sp>
        <p:nvSpPr>
          <p:cNvPr id="834" name="Text 11"/>
          <p:cNvSpPr/>
          <p:nvPr/>
        </p:nvSpPr>
        <p:spPr>
          <a:xfrm>
            <a:off x="6355080" y="306324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Space complexity</a:t>
            </a:r>
            <a:endParaRPr lang="en-US" sz="1600" b="0" u="none" strike="noStrike">
              <a:solidFill>
                <a:srgbClr val="000000"/>
              </a:solidFill>
              <a:effectLst/>
              <a:uFillTx/>
              <a:latin typeface="Arial"/>
            </a:endParaRPr>
          </a:p>
        </p:txBody>
      </p:sp>
      <p:sp>
        <p:nvSpPr>
          <p:cNvPr id="835" name="Text 12"/>
          <p:cNvSpPr/>
          <p:nvPr/>
        </p:nvSpPr>
        <p:spPr>
          <a:xfrm>
            <a:off x="8778240" y="311796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50" b="0" u="none" strike="noStrike">
                <a:solidFill>
                  <a:srgbClr val="102A4C"/>
                </a:solidFill>
                <a:effectLst/>
                <a:uFillTx/>
                <a:latin typeface="Aptos"/>
              </a:rPr>
              <a:t>How much memory is required.</a:t>
            </a:r>
            <a:endParaRPr lang="en-US" sz="1450" b="0" u="none" strike="noStrike">
              <a:solidFill>
                <a:srgbClr val="000000"/>
              </a:solidFill>
              <a:effectLst/>
              <a:uFillTx/>
              <a:latin typeface="Arial"/>
            </a:endParaRPr>
          </a:p>
        </p:txBody>
      </p:sp>
      <p:sp>
        <p:nvSpPr>
          <p:cNvPr id="836" name="Text 13"/>
          <p:cNvSpPr/>
          <p:nvPr/>
        </p:nvSpPr>
        <p:spPr>
          <a:xfrm>
            <a:off x="914400" y="5074920"/>
            <a:ext cx="102409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1700" b="1" u="none" strike="noStrike" dirty="0">
                <a:solidFill>
                  <a:srgbClr val="112E5C"/>
                </a:solidFill>
                <a:effectLst/>
                <a:uFillTx/>
                <a:latin typeface="Aptos"/>
              </a:rPr>
              <a:t>Implicit problem parameters: b = branching factor, d = shallowest solution depth, m = maximum path depth.</a:t>
            </a:r>
            <a:endParaRPr lang="en-US" sz="1700" b="0" u="none" strike="noStrike" dirty="0">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3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3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3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Completeness Is Harder Than “Never Repeat a State”</a:t>
            </a:r>
            <a:endParaRPr lang="en-US" sz="2600" b="0" u="none" strike="noStrike">
              <a:solidFill>
                <a:srgbClr val="000000"/>
              </a:solidFill>
              <a:effectLst/>
              <a:uFillTx/>
              <a:latin typeface="Arial"/>
            </a:endParaRPr>
          </a:p>
        </p:txBody>
      </p:sp>
      <p:sp>
        <p:nvSpPr>
          <p:cNvPr id="84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4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42" name="Rounded Rectangle 6"/>
          <p:cNvSpPr/>
          <p:nvPr/>
        </p:nvSpPr>
        <p:spPr>
          <a:xfrm>
            <a:off x="77724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Finite state spaces</a:t>
            </a:r>
            <a:endParaRPr lang="en-US" sz="1450" b="0" u="none" strike="noStrike">
              <a:solidFill>
                <a:srgbClr val="000000"/>
              </a:solidFill>
              <a:effectLst/>
              <a:uFillTx/>
              <a:latin typeface="Arial"/>
            </a:endParaRPr>
          </a:p>
        </p:txBody>
      </p:sp>
      <p:sp>
        <p:nvSpPr>
          <p:cNvPr id="843" name="Rounded Rectangle 7"/>
          <p:cNvSpPr/>
          <p:nvPr/>
        </p:nvSpPr>
        <p:spPr>
          <a:xfrm>
            <a:off x="77724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4" name="Rectangle 8"/>
          <p:cNvSpPr/>
          <p:nvPr/>
        </p:nvSpPr>
        <p:spPr>
          <a:xfrm>
            <a:off x="100584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Track paths, cut off cycles, and you will eventually reach every state reachable from the initial state. Completeness is straightforward.</a:t>
            </a:r>
            <a:endParaRPr lang="en-US" sz="1350" b="0" u="none" strike="noStrike">
              <a:solidFill>
                <a:srgbClr val="000000"/>
              </a:solidFill>
              <a:effectLst/>
              <a:uFillTx/>
              <a:latin typeface="Arial"/>
            </a:endParaRPr>
          </a:p>
        </p:txBody>
      </p:sp>
      <p:sp>
        <p:nvSpPr>
          <p:cNvPr id="845" name="Rounded Rectangle 9"/>
          <p:cNvSpPr/>
          <p:nvPr/>
        </p:nvSpPr>
        <p:spPr>
          <a:xfrm>
            <a:off x="638568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Infinite state spaces</a:t>
            </a:r>
            <a:endParaRPr lang="en-US" sz="1450" b="0" u="none" strike="noStrike">
              <a:solidFill>
                <a:srgbClr val="000000"/>
              </a:solidFill>
              <a:effectLst/>
              <a:uFillTx/>
              <a:latin typeface="Arial"/>
            </a:endParaRPr>
          </a:p>
        </p:txBody>
      </p:sp>
      <p:sp>
        <p:nvSpPr>
          <p:cNvPr id="846" name="Rounded Rectangle 10"/>
          <p:cNvSpPr/>
          <p:nvPr/>
        </p:nvSpPr>
        <p:spPr>
          <a:xfrm>
            <a:off x="638568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7" name="Rectangle 11"/>
          <p:cNvSpPr/>
          <p:nvPr/>
        </p:nvSpPr>
        <p:spPr>
          <a:xfrm>
            <a:off x="661428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An algorithm can generate a brand-new state on every step and still be incomplete, because whole regions are never reached.</a:t>
            </a:r>
            <a:endParaRPr lang="en-US" sz="1350" b="0" u="none" strike="noStrike">
              <a:solidFill>
                <a:srgbClr val="000000"/>
              </a:solidFill>
              <a:effectLst/>
              <a:uFillTx/>
              <a:latin typeface="Arial"/>
            </a:endParaRPr>
          </a:p>
        </p:txBody>
      </p:sp>
      <p:sp>
        <p:nvSpPr>
          <p:cNvPr id="848" name="Rounded Rectangle 12"/>
          <p:cNvSpPr/>
          <p:nvPr/>
        </p:nvSpPr>
        <p:spPr>
          <a:xfrm>
            <a:off x="777240" y="306324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9" name="Rectangle 13"/>
          <p:cNvSpPr/>
          <p:nvPr/>
        </p:nvSpPr>
        <p:spPr>
          <a:xfrm>
            <a:off x="960120" y="306324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9B1C1C"/>
                </a:solidFill>
                <a:effectLst/>
                <a:uFillTx/>
                <a:latin typeface="Aptos"/>
              </a:rPr>
              <a:t>Knuth's “4”</a:t>
            </a:r>
            <a:endParaRPr lang="en-US" sz="1300" b="0" u="none" strike="noStrike">
              <a:solidFill>
                <a:srgbClr val="000000"/>
              </a:solidFill>
              <a:effectLst/>
              <a:uFillTx/>
              <a:latin typeface="Arial"/>
            </a:endParaRPr>
          </a:p>
        </p:txBody>
      </p:sp>
      <p:sp>
        <p:nvSpPr>
          <p:cNvPr id="850" name="Rectangle 14"/>
          <p:cNvSpPr/>
          <p:nvPr/>
        </p:nvSpPr>
        <p:spPr>
          <a:xfrm>
            <a:off x="3063240" y="306324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4 → 4! → (4!)! → … every state is new, and almost nothing is ever reached</a:t>
            </a:r>
            <a:endParaRPr lang="en-US" sz="1300" b="0" u="none" strike="noStrike">
              <a:solidFill>
                <a:srgbClr val="000000"/>
              </a:solidFill>
              <a:effectLst/>
              <a:uFillTx/>
              <a:latin typeface="Arial"/>
            </a:endParaRPr>
          </a:p>
        </p:txBody>
      </p:sp>
      <p:sp>
        <p:nvSpPr>
          <p:cNvPr id="851" name="Rounded Rectangle 15"/>
          <p:cNvSpPr/>
          <p:nvPr/>
        </p:nvSpPr>
        <p:spPr>
          <a:xfrm>
            <a:off x="777240" y="361188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52" name="Rectangle 16"/>
          <p:cNvSpPr/>
          <p:nvPr/>
        </p:nvSpPr>
        <p:spPr>
          <a:xfrm>
            <a:off x="960120" y="361188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9B1C1C"/>
                </a:solidFill>
                <a:effectLst/>
                <a:uFillTx/>
                <a:latin typeface="Aptos"/>
              </a:rPr>
              <a:t>Infinite grid</a:t>
            </a:r>
            <a:endParaRPr lang="en-US" sz="1300" b="0" u="none" strike="noStrike">
              <a:solidFill>
                <a:srgbClr val="000000"/>
              </a:solidFill>
              <a:effectLst/>
              <a:uFillTx/>
              <a:latin typeface="Arial"/>
            </a:endParaRPr>
          </a:p>
        </p:txBody>
      </p:sp>
      <p:sp>
        <p:nvSpPr>
          <p:cNvPr id="853" name="Rectangle 17"/>
          <p:cNvSpPr/>
          <p:nvPr/>
        </p:nvSpPr>
        <p:spPr>
          <a:xfrm>
            <a:off x="3063240" y="361188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walk north forever: no repeats, no cycles, no coverage</a:t>
            </a:r>
            <a:endParaRPr lang="en-US" sz="1300" b="0" u="none" strike="noStrike">
              <a:solidFill>
                <a:srgbClr val="000000"/>
              </a:solidFill>
              <a:effectLst/>
              <a:uFillTx/>
              <a:latin typeface="Arial"/>
            </a:endParaRPr>
          </a:p>
        </p:txBody>
      </p:sp>
      <p:sp>
        <p:nvSpPr>
          <p:cNvPr id="854" name="Rectangle 18"/>
          <p:cNvSpPr/>
          <p:nvPr/>
        </p:nvSpPr>
        <p:spPr>
          <a:xfrm>
            <a:off x="914400" y="4297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To be complete, a search must be systematic: it must eventually reach any state connected to the initial state.</a:t>
            </a:r>
            <a:endParaRPr lang="en-US" sz="1700" b="0" u="none" strike="noStrike">
              <a:solidFill>
                <a:srgbClr val="000000"/>
              </a:solidFill>
              <a:effectLst/>
              <a:uFillTx/>
              <a:latin typeface="Arial"/>
            </a:endParaRPr>
          </a:p>
        </p:txBody>
      </p:sp>
      <p:sp>
        <p:nvSpPr>
          <p:cNvPr id="855" name="Rectangle 19"/>
          <p:cNvSpPr/>
          <p:nvPr/>
        </p:nvSpPr>
        <p:spPr>
          <a:xfrm>
            <a:off x="914400" y="4892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50" b="0" u="none" strike="noStrike">
                <a:solidFill>
                  <a:srgbClr val="5C6B80"/>
                </a:solidFill>
                <a:effectLst/>
                <a:uFillTx/>
                <a:latin typeface="Aptos"/>
              </a:rPr>
              <a:t>On an infinite grid, one systematic order is an outward spiral — cover every cell s steps away before moving to s + 1.</a:t>
            </a:r>
            <a:endParaRPr lang="en-US" sz="1450" b="0" u="none" strike="noStrike">
              <a:solidFill>
                <a:srgbClr val="000000"/>
              </a:solidFill>
              <a:effectLst/>
              <a:uFillTx/>
              <a:latin typeface="Arial"/>
            </a:endParaRPr>
          </a:p>
        </p:txBody>
      </p:sp>
      <p:sp>
        <p:nvSpPr>
          <p:cNvPr id="856" name="Rectangle 20"/>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And in an infinite space with no solution, a sound algorithm can never terminate: it cannot rule out that the next state is a goal.</a:t>
            </a:r>
            <a:endParaRPr lang="en-US" sz="15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857"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8" name="Shape 1"/>
          <p:cNvSpPr/>
          <p:nvPr/>
        </p:nvSpPr>
        <p:spPr>
          <a:xfrm>
            <a:off x="0" y="54406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9" name="Text 2"/>
          <p:cNvSpPr/>
          <p:nvPr/>
        </p:nvSpPr>
        <p:spPr>
          <a:xfrm>
            <a:off x="914400" y="2240280"/>
            <a:ext cx="1033236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3600" b="1" u="none" strike="noStrike">
                <a:solidFill>
                  <a:srgbClr val="FFFFFF"/>
                </a:solidFill>
                <a:effectLst/>
                <a:uFillTx/>
                <a:latin typeface="Aptos"/>
              </a:rPr>
              <a:t>Section 3.4</a:t>
            </a:r>
            <a:endParaRPr lang="en-US" sz="3600" b="0" u="none" strike="noStrike">
              <a:solidFill>
                <a:srgbClr val="FFFFFF"/>
              </a:solidFill>
              <a:effectLst/>
              <a:uFillTx/>
              <a:latin typeface="Arial"/>
            </a:endParaRPr>
          </a:p>
        </p:txBody>
      </p:sp>
      <p:sp>
        <p:nvSpPr>
          <p:cNvPr id="860" name="Text 3"/>
          <p:cNvSpPr/>
          <p:nvPr/>
        </p:nvSpPr>
        <p:spPr>
          <a:xfrm>
            <a:off x="914400" y="2971800"/>
            <a:ext cx="103323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900" b="0" u="none" strike="noStrike">
                <a:solidFill>
                  <a:srgbClr val="DCE8FF"/>
                </a:solidFill>
                <a:effectLst/>
                <a:uFillTx/>
                <a:latin typeface="Aptos"/>
              </a:rPr>
              <a:t>Uninformed Search Strategies</a:t>
            </a:r>
            <a:endParaRPr lang="en-US" sz="1900" b="0" u="none" strike="noStrike">
              <a:solidFill>
                <a:srgbClr val="FFFFFF"/>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6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6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6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Breadth-First Search (BFS)</a:t>
            </a:r>
            <a:endParaRPr lang="en-US" sz="2600" b="0" u="none" strike="noStrike">
              <a:solidFill>
                <a:srgbClr val="000000"/>
              </a:solidFill>
              <a:effectLst/>
              <a:uFillTx/>
              <a:latin typeface="Arial"/>
            </a:endParaRPr>
          </a:p>
        </p:txBody>
      </p:sp>
      <p:sp>
        <p:nvSpPr>
          <p:cNvPr id="86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66" name="Text 5"/>
          <p:cNvSpPr/>
          <p:nvPr/>
        </p:nvSpPr>
        <p:spPr>
          <a:xfrm>
            <a:off x="492760" y="1906270"/>
            <a:ext cx="1828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867" name="Text 6"/>
          <p:cNvSpPr/>
          <p:nvPr/>
        </p:nvSpPr>
        <p:spPr>
          <a:xfrm>
            <a:off x="2550160" y="1951990"/>
            <a:ext cx="4205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700" b="1" u="none" strike="noStrike">
                <a:solidFill>
                  <a:srgbClr val="102A4C"/>
                </a:solidFill>
                <a:effectLst/>
                <a:uFillTx/>
                <a:latin typeface="Aptos"/>
              </a:rPr>
              <a:t>Expand the shallowest node first.</a:t>
            </a:r>
            <a:endParaRPr lang="en-US" sz="1700" b="0" u="none" strike="noStrike">
              <a:solidFill>
                <a:srgbClr val="000000"/>
              </a:solidFill>
              <a:effectLst/>
              <a:uFillTx/>
              <a:latin typeface="Arial"/>
            </a:endParaRPr>
          </a:p>
        </p:txBody>
      </p:sp>
      <p:sp>
        <p:nvSpPr>
          <p:cNvPr id="868" name="Text 7"/>
          <p:cNvSpPr/>
          <p:nvPr/>
        </p:nvSpPr>
        <p:spPr>
          <a:xfrm>
            <a:off x="492760" y="2729230"/>
            <a:ext cx="182844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869" name="Text 8"/>
          <p:cNvSpPr/>
          <p:nvPr/>
        </p:nvSpPr>
        <p:spPr>
          <a:xfrm>
            <a:off x="2550160" y="2774950"/>
            <a:ext cx="438876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0" u="none" strike="noStrike">
                <a:solidFill>
                  <a:srgbClr val="102A4C"/>
                </a:solidFill>
                <a:effectLst/>
                <a:uFillTx/>
                <a:latin typeface="Aptos"/>
              </a:rPr>
              <a:t>FIFO queue: oldest generated nodes expand first.</a:t>
            </a:r>
            <a:endParaRPr lang="en-US" sz="1600" b="0" u="none" strike="noStrike">
              <a:solidFill>
                <a:srgbClr val="000000"/>
              </a:solidFill>
              <a:effectLst/>
              <a:uFillTx/>
              <a:latin typeface="Arial"/>
            </a:endParaRPr>
          </a:p>
        </p:txBody>
      </p:sp>
      <p:sp>
        <p:nvSpPr>
          <p:cNvPr id="870" name="Text 9"/>
          <p:cNvSpPr/>
          <p:nvPr/>
        </p:nvSpPr>
        <p:spPr>
          <a:xfrm>
            <a:off x="492760" y="3552190"/>
            <a:ext cx="182844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Guarantees</a:t>
            </a:r>
            <a:endParaRPr lang="en-US" sz="1600" b="0" u="none" strike="noStrike">
              <a:solidFill>
                <a:srgbClr val="000000"/>
              </a:solidFill>
              <a:effectLst/>
              <a:uFillTx/>
              <a:latin typeface="Arial"/>
            </a:endParaRPr>
          </a:p>
        </p:txBody>
      </p:sp>
      <p:sp>
        <p:nvSpPr>
          <p:cNvPr id="871" name="Text 10"/>
          <p:cNvSpPr/>
          <p:nvPr/>
        </p:nvSpPr>
        <p:spPr>
          <a:xfrm>
            <a:off x="2550160" y="3597910"/>
            <a:ext cx="50288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5000" lnSpcReduction="9999"/>
          </a:bodyPr>
          <a:lstStyle/>
          <a:p>
            <a:pPr defTabSz="914400">
              <a:lnSpc>
                <a:spcPct val="100000"/>
              </a:lnSpc>
              <a:tabLst>
                <a:tab pos="0" algn="l"/>
              </a:tabLst>
            </a:pPr>
            <a:r>
              <a:rPr lang="en-US" sz="1600" b="0" u="none" strike="noStrike">
                <a:solidFill>
                  <a:srgbClr val="102A4C"/>
                </a:solidFill>
                <a:effectLst/>
                <a:uFillTx/>
                <a:latin typeface="Aptos"/>
              </a:rPr>
              <a:t>Complete; cost-optimal only when all actions have equal cost.</a:t>
            </a:r>
            <a:endParaRPr lang="en-US" sz="1600" b="0" u="none" strike="noStrike">
              <a:solidFill>
                <a:srgbClr val="000000"/>
              </a:solidFill>
              <a:effectLst/>
              <a:uFillTx/>
              <a:latin typeface="Arial"/>
            </a:endParaRPr>
          </a:p>
        </p:txBody>
      </p:sp>
      <p:sp>
        <p:nvSpPr>
          <p:cNvPr id="872" name="Shape 11"/>
          <p:cNvSpPr/>
          <p:nvPr/>
        </p:nvSpPr>
        <p:spPr>
          <a:xfrm flipH="1">
            <a:off x="8530070" y="18817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3" name="Shape 12"/>
          <p:cNvSpPr/>
          <p:nvPr/>
        </p:nvSpPr>
        <p:spPr>
          <a:xfrm>
            <a:off x="9885470" y="18817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4" name="Shape 13"/>
          <p:cNvSpPr/>
          <p:nvPr/>
        </p:nvSpPr>
        <p:spPr>
          <a:xfrm>
            <a:off x="9885470" y="18817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5" name="Shape 14"/>
          <p:cNvSpPr/>
          <p:nvPr/>
        </p:nvSpPr>
        <p:spPr>
          <a:xfrm flipH="1">
            <a:off x="7923830" y="25236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6" name="Shape 15"/>
          <p:cNvSpPr/>
          <p:nvPr/>
        </p:nvSpPr>
        <p:spPr>
          <a:xfrm>
            <a:off x="8530070" y="25236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7" name="Shape 16"/>
          <p:cNvSpPr/>
          <p:nvPr/>
        </p:nvSpPr>
        <p:spPr>
          <a:xfrm>
            <a:off x="8530070" y="25236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8" name="Shape 17"/>
          <p:cNvSpPr/>
          <p:nvPr/>
        </p:nvSpPr>
        <p:spPr>
          <a:xfrm flipH="1">
            <a:off x="9493070" y="252360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9" name="Shape 18"/>
          <p:cNvSpPr/>
          <p:nvPr/>
        </p:nvSpPr>
        <p:spPr>
          <a:xfrm>
            <a:off x="9885470" y="252360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0" name="Shape 19"/>
          <p:cNvSpPr/>
          <p:nvPr/>
        </p:nvSpPr>
        <p:spPr>
          <a:xfrm>
            <a:off x="11240510" y="25236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1" name="Shape 20"/>
          <p:cNvSpPr/>
          <p:nvPr/>
        </p:nvSpPr>
        <p:spPr>
          <a:xfrm flipH="1">
            <a:off x="770999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2" name="Shape 21"/>
          <p:cNvSpPr/>
          <p:nvPr/>
        </p:nvSpPr>
        <p:spPr>
          <a:xfrm flipH="1">
            <a:off x="831623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3" name="Shape 22"/>
          <p:cNvSpPr/>
          <p:nvPr/>
        </p:nvSpPr>
        <p:spPr>
          <a:xfrm flipH="1">
            <a:off x="892247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4" name="Shape 23"/>
          <p:cNvSpPr/>
          <p:nvPr/>
        </p:nvSpPr>
        <p:spPr>
          <a:xfrm>
            <a:off x="9136310" y="320112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5" name="Shape 24"/>
          <p:cNvSpPr/>
          <p:nvPr/>
        </p:nvSpPr>
        <p:spPr>
          <a:xfrm>
            <a:off x="9493070" y="320112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6" name="Shape 25"/>
          <p:cNvSpPr/>
          <p:nvPr/>
        </p:nvSpPr>
        <p:spPr>
          <a:xfrm>
            <a:off x="9493070" y="320112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7" name="Shape 26"/>
          <p:cNvSpPr/>
          <p:nvPr/>
        </p:nvSpPr>
        <p:spPr>
          <a:xfrm>
            <a:off x="10277510" y="320112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8" name="Shape 27"/>
          <p:cNvSpPr/>
          <p:nvPr/>
        </p:nvSpPr>
        <p:spPr>
          <a:xfrm flipH="1">
            <a:off x="10634270" y="380736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9" name="Shape 28"/>
          <p:cNvSpPr/>
          <p:nvPr/>
        </p:nvSpPr>
        <p:spPr>
          <a:xfrm>
            <a:off x="10848110" y="380736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90" name="Text 29"/>
          <p:cNvSpPr/>
          <p:nvPr/>
        </p:nvSpPr>
        <p:spPr>
          <a:xfrm>
            <a:off x="9739310" y="1735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891" name="Text 30"/>
          <p:cNvSpPr/>
          <p:nvPr/>
        </p:nvSpPr>
        <p:spPr>
          <a:xfrm>
            <a:off x="838391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892" name="Text 31"/>
          <p:cNvSpPr/>
          <p:nvPr/>
        </p:nvSpPr>
        <p:spPr>
          <a:xfrm>
            <a:off x="973931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3" name="Text 32"/>
          <p:cNvSpPr/>
          <p:nvPr/>
        </p:nvSpPr>
        <p:spPr>
          <a:xfrm>
            <a:off x="1109435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894" name="Text 33"/>
          <p:cNvSpPr/>
          <p:nvPr/>
        </p:nvSpPr>
        <p:spPr>
          <a:xfrm>
            <a:off x="777767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895" name="Text 34"/>
          <p:cNvSpPr/>
          <p:nvPr/>
        </p:nvSpPr>
        <p:spPr>
          <a:xfrm>
            <a:off x="83839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896" name="Text 35"/>
          <p:cNvSpPr/>
          <p:nvPr/>
        </p:nvSpPr>
        <p:spPr>
          <a:xfrm>
            <a:off x="89905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7" name="Text 36"/>
          <p:cNvSpPr/>
          <p:nvPr/>
        </p:nvSpPr>
        <p:spPr>
          <a:xfrm>
            <a:off x="93469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898" name="Text 37"/>
          <p:cNvSpPr/>
          <p:nvPr/>
        </p:nvSpPr>
        <p:spPr>
          <a:xfrm>
            <a:off x="1013135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899" name="Text 38"/>
          <p:cNvSpPr/>
          <p:nvPr/>
        </p:nvSpPr>
        <p:spPr>
          <a:xfrm>
            <a:off x="1109435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0" name="Text 39"/>
          <p:cNvSpPr/>
          <p:nvPr/>
        </p:nvSpPr>
        <p:spPr>
          <a:xfrm>
            <a:off x="756383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1" name="Text 40"/>
          <p:cNvSpPr/>
          <p:nvPr/>
        </p:nvSpPr>
        <p:spPr>
          <a:xfrm>
            <a:off x="817007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2" name="Text 41"/>
          <p:cNvSpPr/>
          <p:nvPr/>
        </p:nvSpPr>
        <p:spPr>
          <a:xfrm>
            <a:off x="877631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03" name="Text 42"/>
          <p:cNvSpPr/>
          <p:nvPr/>
        </p:nvSpPr>
        <p:spPr>
          <a:xfrm>
            <a:off x="938255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04" name="Text 43"/>
          <p:cNvSpPr/>
          <p:nvPr/>
        </p:nvSpPr>
        <p:spPr>
          <a:xfrm>
            <a:off x="984623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05" name="Text 44"/>
          <p:cNvSpPr/>
          <p:nvPr/>
        </p:nvSpPr>
        <p:spPr>
          <a:xfrm>
            <a:off x="1027427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6" name="Text 45"/>
          <p:cNvSpPr/>
          <p:nvPr/>
        </p:nvSpPr>
        <p:spPr>
          <a:xfrm>
            <a:off x="1070195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907" name="Text 46"/>
          <p:cNvSpPr/>
          <p:nvPr/>
        </p:nvSpPr>
        <p:spPr>
          <a:xfrm>
            <a:off x="10488110" y="426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08" name="Text 47"/>
          <p:cNvSpPr/>
          <p:nvPr/>
        </p:nvSpPr>
        <p:spPr>
          <a:xfrm>
            <a:off x="10987430" y="426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909" name="Text 48"/>
          <p:cNvSpPr/>
          <p:nvPr/>
        </p:nvSpPr>
        <p:spPr>
          <a:xfrm>
            <a:off x="7909560" y="5074920"/>
            <a:ext cx="27428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Layer by layer</a:t>
            </a:r>
            <a:endParaRPr lang="en-US" sz="16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10"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1"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12"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1: Start at Depth 0</a:t>
            </a:r>
            <a:endParaRPr lang="en-US" sz="2600" b="0" u="none" strike="noStrike">
              <a:solidFill>
                <a:srgbClr val="000000"/>
              </a:solidFill>
              <a:effectLst/>
              <a:uFillTx/>
              <a:latin typeface="Arial"/>
            </a:endParaRPr>
          </a:p>
        </p:txBody>
      </p:sp>
      <p:sp>
        <p:nvSpPr>
          <p:cNvPr id="913"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14"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15" name="Text 5"/>
          <p:cNvSpPr/>
          <p:nvPr/>
        </p:nvSpPr>
        <p:spPr>
          <a:xfrm>
            <a:off x="4749480" y="15526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16" name="Text 6"/>
          <p:cNvSpPr/>
          <p:nvPr/>
        </p:nvSpPr>
        <p:spPr>
          <a:xfrm>
            <a:off x="7315200" y="2057400"/>
            <a:ext cx="329148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Frontier = [S]</a:t>
            </a:r>
            <a:endParaRPr lang="en-US" sz="1800" b="0" u="none" strike="noStrike">
              <a:solidFill>
                <a:srgbClr val="000000"/>
              </a:solidFill>
              <a:effectLst/>
              <a:uFillTx/>
              <a:latin typeface="Arial"/>
            </a:endParaRPr>
          </a:p>
        </p:txBody>
      </p:sp>
      <p:sp>
        <p:nvSpPr>
          <p:cNvPr id="917" name="Text 7"/>
          <p:cNvSpPr/>
          <p:nvPr/>
        </p:nvSpPr>
        <p:spPr>
          <a:xfrm>
            <a:off x="7315200" y="2971800"/>
            <a:ext cx="32914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BFS starts with the root node.</a:t>
            </a:r>
            <a:endParaRPr lang="en-US" sz="16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18"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9"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20"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2: Expand Depth 1</a:t>
            </a:r>
            <a:endParaRPr lang="en-US" sz="2600" b="0" u="none" strike="noStrike">
              <a:solidFill>
                <a:srgbClr val="000000"/>
              </a:solidFill>
              <a:effectLst/>
              <a:uFillTx/>
              <a:latin typeface="Arial"/>
            </a:endParaRPr>
          </a:p>
        </p:txBody>
      </p:sp>
      <p:sp>
        <p:nvSpPr>
          <p:cNvPr id="921"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22"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23" name="Shape 5"/>
          <p:cNvSpPr/>
          <p:nvPr/>
        </p:nvSpPr>
        <p:spPr>
          <a:xfrm flipH="1">
            <a:off x="3540240" y="169884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4" name="Shape 6"/>
          <p:cNvSpPr/>
          <p:nvPr/>
        </p:nvSpPr>
        <p:spPr>
          <a:xfrm>
            <a:off x="4895640" y="16988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5" name="Shape 7"/>
          <p:cNvSpPr/>
          <p:nvPr/>
        </p:nvSpPr>
        <p:spPr>
          <a:xfrm>
            <a:off x="4895640" y="16988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6" name="Text 8"/>
          <p:cNvSpPr/>
          <p:nvPr/>
        </p:nvSpPr>
        <p:spPr>
          <a:xfrm>
            <a:off x="4749480" y="15526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27" name="Text 9"/>
          <p:cNvSpPr/>
          <p:nvPr/>
        </p:nvSpPr>
        <p:spPr>
          <a:xfrm>
            <a:off x="33940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28" name="Text 10"/>
          <p:cNvSpPr/>
          <p:nvPr/>
        </p:nvSpPr>
        <p:spPr>
          <a:xfrm>
            <a:off x="47494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29" name="Text 11"/>
          <p:cNvSpPr/>
          <p:nvPr/>
        </p:nvSpPr>
        <p:spPr>
          <a:xfrm>
            <a:off x="610452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30" name="Text 12"/>
          <p:cNvSpPr/>
          <p:nvPr/>
        </p:nvSpPr>
        <p:spPr>
          <a:xfrm>
            <a:off x="7132320" y="1920240"/>
            <a:ext cx="365724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Frontier = [d, e, p]</a:t>
            </a:r>
            <a:endParaRPr lang="en-US" sz="1800" b="0" u="none" strike="noStrike">
              <a:solidFill>
                <a:srgbClr val="000000"/>
              </a:solidFill>
              <a:effectLst/>
              <a:uFillTx/>
              <a:latin typeface="Arial"/>
            </a:endParaRPr>
          </a:p>
        </p:txBody>
      </p:sp>
      <p:sp>
        <p:nvSpPr>
          <p:cNvPr id="931" name="Text 13"/>
          <p:cNvSpPr/>
          <p:nvPr/>
        </p:nvSpPr>
        <p:spPr>
          <a:xfrm>
            <a:off x="7086600" y="2880360"/>
            <a:ext cx="3748680" cy="7311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The children of S are added to the back of the FIFO queue.</a:t>
            </a:r>
            <a:endParaRPr lang="en-US" sz="16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3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3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3: Expand by Tiers</a:t>
            </a:r>
            <a:endParaRPr lang="en-US" sz="2600" b="0" u="none" strike="noStrike">
              <a:solidFill>
                <a:srgbClr val="000000"/>
              </a:solidFill>
              <a:effectLst/>
              <a:uFillTx/>
              <a:latin typeface="Arial"/>
            </a:endParaRPr>
          </a:p>
        </p:txBody>
      </p:sp>
      <p:sp>
        <p:nvSpPr>
          <p:cNvPr id="93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3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37" name="Shape 5"/>
          <p:cNvSpPr/>
          <p:nvPr/>
        </p:nvSpPr>
        <p:spPr>
          <a:xfrm flipH="1">
            <a:off x="3540240" y="16531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38" name="Shape 6"/>
          <p:cNvSpPr/>
          <p:nvPr/>
        </p:nvSpPr>
        <p:spPr>
          <a:xfrm>
            <a:off x="4895640" y="16531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39" name="Shape 7"/>
          <p:cNvSpPr/>
          <p:nvPr/>
        </p:nvSpPr>
        <p:spPr>
          <a:xfrm>
            <a:off x="4895640" y="16531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0" name="Shape 8"/>
          <p:cNvSpPr/>
          <p:nvPr/>
        </p:nvSpPr>
        <p:spPr>
          <a:xfrm flipH="1">
            <a:off x="2934000" y="22950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1" name="Shape 9"/>
          <p:cNvSpPr/>
          <p:nvPr/>
        </p:nvSpPr>
        <p:spPr>
          <a:xfrm>
            <a:off x="3540240" y="22950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2" name="Shape 10"/>
          <p:cNvSpPr/>
          <p:nvPr/>
        </p:nvSpPr>
        <p:spPr>
          <a:xfrm>
            <a:off x="3540240" y="22950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3" name="Shape 11"/>
          <p:cNvSpPr/>
          <p:nvPr/>
        </p:nvSpPr>
        <p:spPr>
          <a:xfrm flipH="1">
            <a:off x="4503240" y="229500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4" name="Shape 12"/>
          <p:cNvSpPr/>
          <p:nvPr/>
        </p:nvSpPr>
        <p:spPr>
          <a:xfrm>
            <a:off x="4895640" y="229500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5" name="Shape 13"/>
          <p:cNvSpPr/>
          <p:nvPr/>
        </p:nvSpPr>
        <p:spPr>
          <a:xfrm>
            <a:off x="6250680" y="22950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6" name="Text 14"/>
          <p:cNvSpPr/>
          <p:nvPr/>
        </p:nvSpPr>
        <p:spPr>
          <a:xfrm>
            <a:off x="4749480" y="1506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47" name="Text 15"/>
          <p:cNvSpPr/>
          <p:nvPr/>
        </p:nvSpPr>
        <p:spPr>
          <a:xfrm>
            <a:off x="339408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48" name="Text 16"/>
          <p:cNvSpPr/>
          <p:nvPr/>
        </p:nvSpPr>
        <p:spPr>
          <a:xfrm>
            <a:off x="474948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49" name="Text 17"/>
          <p:cNvSpPr/>
          <p:nvPr/>
        </p:nvSpPr>
        <p:spPr>
          <a:xfrm>
            <a:off x="610452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50" name="Text 18"/>
          <p:cNvSpPr/>
          <p:nvPr/>
        </p:nvSpPr>
        <p:spPr>
          <a:xfrm>
            <a:off x="278784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951" name="Text 19"/>
          <p:cNvSpPr/>
          <p:nvPr/>
        </p:nvSpPr>
        <p:spPr>
          <a:xfrm>
            <a:off x="33940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52" name="Text 20"/>
          <p:cNvSpPr/>
          <p:nvPr/>
        </p:nvSpPr>
        <p:spPr>
          <a:xfrm>
            <a:off x="40006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53" name="Text 21"/>
          <p:cNvSpPr/>
          <p:nvPr/>
        </p:nvSpPr>
        <p:spPr>
          <a:xfrm>
            <a:off x="43570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54" name="Text 22"/>
          <p:cNvSpPr/>
          <p:nvPr/>
        </p:nvSpPr>
        <p:spPr>
          <a:xfrm>
            <a:off x="514152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55" name="Text 23"/>
          <p:cNvSpPr/>
          <p:nvPr/>
        </p:nvSpPr>
        <p:spPr>
          <a:xfrm>
            <a:off x="610452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56" name="Text 24"/>
          <p:cNvSpPr/>
          <p:nvPr/>
        </p:nvSpPr>
        <p:spPr>
          <a:xfrm>
            <a:off x="7040880" y="2011680"/>
            <a:ext cx="384012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2000" b="1" u="none" strike="noStrike">
                <a:solidFill>
                  <a:srgbClr val="112E5C"/>
                </a:solidFill>
                <a:effectLst/>
                <a:uFillTx/>
                <a:latin typeface="Aptos"/>
              </a:rPr>
              <a:t>BFS finishes one entire tier before moving deeper.</a:t>
            </a:r>
            <a:endParaRPr lang="en-US" sz="2000" b="0" u="none" strike="noStrike">
              <a:solidFill>
                <a:srgbClr val="000000"/>
              </a:solidFill>
              <a:effectLst/>
              <a:uFillTx/>
              <a:latin typeface="Arial"/>
            </a:endParaRPr>
          </a:p>
        </p:txBody>
      </p:sp>
      <p:sp>
        <p:nvSpPr>
          <p:cNvPr id="957" name="Text 25"/>
          <p:cNvSpPr/>
          <p:nvPr/>
        </p:nvSpPr>
        <p:spPr>
          <a:xfrm>
            <a:off x="7040880" y="2971800"/>
            <a:ext cx="38858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This gives completeness and fewest-action optimality, but the frontier can become extremely large.</a:t>
            </a:r>
            <a:endParaRPr lang="en-US" sz="16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58"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9"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60"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Breath-Frist Search</a:t>
            </a:r>
            <a:endParaRPr lang="en-US" sz="2600" b="0" u="none" strike="noStrike" dirty="0">
              <a:solidFill>
                <a:srgbClr val="000000"/>
              </a:solidFill>
              <a:effectLst/>
              <a:uFillTx/>
              <a:latin typeface="Arial"/>
            </a:endParaRPr>
          </a:p>
        </p:txBody>
      </p:sp>
      <p:sp>
        <p:nvSpPr>
          <p:cNvPr id="961"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62"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4A884947-E876-7015-FD6C-9F4A660705BB}"/>
              </a:ext>
            </a:extLst>
          </p:cNvPr>
          <p:cNvPicPr>
            <a:picLocks noChangeAspect="1"/>
          </p:cNvPicPr>
          <p:nvPr/>
        </p:nvPicPr>
        <p:blipFill>
          <a:blip r:embed="rId3"/>
          <a:stretch>
            <a:fillRect/>
          </a:stretch>
        </p:blipFill>
        <p:spPr>
          <a:xfrm>
            <a:off x="2019300" y="1128450"/>
            <a:ext cx="7943850" cy="52959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Breadth-First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324718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3.9</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219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1000" b="1" u="none" strike="noStrike" dirty="0">
                <a:solidFill>
                  <a:srgbClr val="F6A01A"/>
                </a:solidFill>
                <a:effectLst/>
                <a:uFillTx/>
                <a:latin typeface="Consolas"/>
              </a:rPr>
              <a:t>function</a:t>
            </a:r>
            <a:r>
              <a:rPr lang="en-US" sz="1000" b="0" u="none" strike="noStrike" dirty="0">
                <a:solidFill>
                  <a:srgbClr val="EAF2FF"/>
                </a:solidFill>
                <a:effectLst/>
                <a:uFillTx/>
                <a:latin typeface="Consolas"/>
              </a:rPr>
              <a:t> BREADTH-FIRST-SEARCH(problem) </a:t>
            </a:r>
            <a:r>
              <a:rPr lang="en-US" sz="1000" b="1" u="none" strike="noStrike" dirty="0">
                <a:solidFill>
                  <a:srgbClr val="F6A01A"/>
                </a:solidFill>
                <a:effectLst/>
                <a:uFillTx/>
                <a:latin typeface="Consolas"/>
              </a:rPr>
              <a:t>returns</a:t>
            </a:r>
            <a:r>
              <a:rPr lang="en-US" sz="1000" b="0" u="none" strike="noStrike" dirty="0">
                <a:solidFill>
                  <a:srgbClr val="EAF2FF"/>
                </a:solidFill>
                <a:effectLst/>
                <a:uFillTx/>
                <a:latin typeface="Consolas"/>
              </a:rPr>
              <a:t> a solution node </a:t>
            </a:r>
            <a:r>
              <a:rPr lang="en-US" sz="1000" b="1" u="none" strike="noStrike" dirty="0">
                <a:solidFill>
                  <a:srgbClr val="F6A01A"/>
                </a:solidFill>
                <a:effectLst/>
                <a:uFillTx/>
                <a:latin typeface="Consolas"/>
              </a:rPr>
              <a:t>or</a:t>
            </a:r>
            <a:r>
              <a:rPr lang="en-US" sz="1000" b="0" u="none" strike="noStrike" dirty="0">
                <a:solidFill>
                  <a:srgbClr val="EAF2FF"/>
                </a:solidFill>
                <a:effectLst/>
                <a:uFillTx/>
                <a:latin typeface="Consolas"/>
              </a:rPr>
              <a:t> </a:t>
            </a:r>
            <a:r>
              <a:rPr lang="en-US" sz="1000" b="1" u="none" strike="noStrike" dirty="0">
                <a:solidFill>
                  <a:srgbClr val="F2A0A0"/>
                </a:solidFill>
                <a:effectLst/>
                <a:uFillTx/>
                <a:latin typeface="Consolas"/>
              </a:rPr>
              <a:t>failure</a:t>
            </a:r>
            <a:endParaRPr lang="en-US" sz="1000" b="0" u="none" strike="noStrike" dirty="0">
              <a:solidFill>
                <a:srgbClr val="000000"/>
              </a:solidFill>
              <a:effectLst/>
              <a:uFillTx/>
              <a:latin typeface="Arial"/>
            </a:endParaRPr>
          </a:p>
          <a:p>
            <a:pPr algn="l" defTabSz="914400">
              <a:lnSpc>
                <a:spcPct val="100000"/>
              </a:lnSpc>
              <a:spcAft>
                <a:spcPts val="120"/>
              </a:spcAft>
              <a:buNone/>
            </a:pP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node ← NODE(problem.INITIAL)</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problem.IS-GOAL(node.STATE) </a:t>
            </a:r>
            <a:r>
              <a:rPr lang="en-US" sz="1000" b="1" u="none" strike="noStrike" dirty="0">
                <a:solidFill>
                  <a:srgbClr val="F6A01A"/>
                </a:solidFill>
                <a:effectLst/>
                <a:uFillTx/>
                <a:latin typeface="Consolas"/>
              </a:rPr>
              <a:t>then</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node</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frontier ← a FIFO queue, with node as an element</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reached ← {problem.INITIAL}</a:t>
            </a:r>
            <a:endParaRPr lang="en-US" sz="1000" b="0" u="none" strike="noStrike" dirty="0">
              <a:solidFill>
                <a:srgbClr val="000000"/>
              </a:solidFill>
              <a:effectLst/>
              <a:uFillTx/>
              <a:latin typeface="Arial"/>
            </a:endParaRPr>
          </a:p>
          <a:p>
            <a:pPr algn="l" defTabSz="914400">
              <a:lnSpc>
                <a:spcPct val="100000"/>
              </a:lnSpc>
              <a:spcAft>
                <a:spcPts val="120"/>
              </a:spcAft>
              <a:buNone/>
            </a:pP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while</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not</a:t>
            </a:r>
            <a:r>
              <a:rPr lang="en-US" sz="1000" b="0" u="none" strike="noStrike" dirty="0">
                <a:solidFill>
                  <a:srgbClr val="EAF2FF"/>
                </a:solidFill>
                <a:effectLst/>
                <a:uFillTx/>
                <a:latin typeface="Consolas"/>
              </a:rPr>
              <a:t> IS-EMPTY(frontier) </a:t>
            </a:r>
            <a:r>
              <a:rPr lang="en-US" sz="1000" b="1" u="none" strike="noStrike" dirty="0">
                <a:solidFill>
                  <a:srgbClr val="F6A01A"/>
                </a:solidFill>
                <a:effectLst/>
                <a:uFillTx/>
                <a:latin typeface="Consolas"/>
              </a:rPr>
              <a:t>do</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node ← POP(frontier)</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for</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each</a:t>
            </a:r>
            <a:r>
              <a:rPr lang="en-US" sz="1000" b="0" u="none" strike="noStrike" dirty="0">
                <a:solidFill>
                  <a:srgbClr val="EAF2FF"/>
                </a:solidFill>
                <a:effectLst/>
                <a:uFillTx/>
                <a:latin typeface="Consolas"/>
              </a:rPr>
              <a:t> child in EXPAND(problem, node) </a:t>
            </a:r>
            <a:r>
              <a:rPr lang="en-US" sz="1000" b="1" u="none" strike="noStrike" dirty="0">
                <a:solidFill>
                  <a:srgbClr val="F6A01A"/>
                </a:solidFill>
                <a:effectLst/>
                <a:uFillTx/>
                <a:latin typeface="Consolas"/>
              </a:rPr>
              <a:t>do</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s ← child.STATE</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problem.IS-GOAL(s) </a:t>
            </a:r>
            <a:r>
              <a:rPr lang="en-US" sz="1000" b="1" u="none" strike="noStrike" dirty="0">
                <a:solidFill>
                  <a:srgbClr val="F6A01A"/>
                </a:solidFill>
                <a:effectLst/>
                <a:uFillTx/>
                <a:latin typeface="Consolas"/>
              </a:rPr>
              <a:t>then</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child</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s is </a:t>
            </a:r>
            <a:r>
              <a:rPr lang="en-US" sz="1000" b="1" u="none" strike="noStrike" dirty="0">
                <a:solidFill>
                  <a:srgbClr val="F6A01A"/>
                </a:solidFill>
                <a:effectLst/>
                <a:uFillTx/>
                <a:latin typeface="Consolas"/>
              </a:rPr>
              <a:t>not</a:t>
            </a:r>
            <a:r>
              <a:rPr lang="en-US" sz="1000" b="0" u="none" strike="noStrike" dirty="0">
                <a:solidFill>
                  <a:srgbClr val="EAF2FF"/>
                </a:solidFill>
                <a:effectLst/>
                <a:uFillTx/>
                <a:latin typeface="Consolas"/>
              </a:rPr>
              <a:t> in reached </a:t>
            </a:r>
            <a:r>
              <a:rPr lang="en-US" sz="1000" b="1" u="none" strike="noStrike" dirty="0">
                <a:solidFill>
                  <a:srgbClr val="F6A01A"/>
                </a:solidFill>
                <a:effectLst/>
                <a:uFillTx/>
                <a:latin typeface="Consolas"/>
              </a:rPr>
              <a:t>then</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add s </a:t>
            </a:r>
            <a:r>
              <a:rPr lang="en-US" sz="1000" b="1" u="none" strike="noStrike" dirty="0">
                <a:solidFill>
                  <a:srgbClr val="F6A01A"/>
                </a:solidFill>
                <a:effectLst/>
                <a:uFillTx/>
                <a:latin typeface="Consolas"/>
              </a:rPr>
              <a:t>to</a:t>
            </a:r>
            <a:r>
              <a:rPr lang="en-US" sz="1000" b="0" u="none" strike="noStrike" dirty="0">
                <a:solidFill>
                  <a:srgbClr val="EAF2FF"/>
                </a:solidFill>
                <a:effectLst/>
                <a:uFillTx/>
                <a:latin typeface="Consolas"/>
              </a:rPr>
              <a:t> reached</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add child </a:t>
            </a:r>
            <a:r>
              <a:rPr lang="en-US" sz="1000" b="1" u="none" strike="noStrike" dirty="0">
                <a:solidFill>
                  <a:srgbClr val="F6A01A"/>
                </a:solidFill>
                <a:effectLst/>
                <a:uFillTx/>
                <a:latin typeface="Consolas"/>
              </a:rPr>
              <a:t>to</a:t>
            </a:r>
            <a:r>
              <a:rPr lang="en-US" sz="1000" b="0" u="none" strike="noStrike" dirty="0">
                <a:solidFill>
                  <a:srgbClr val="EAF2FF"/>
                </a:solidFill>
                <a:effectLst/>
                <a:uFillTx/>
                <a:latin typeface="Consolas"/>
              </a:rPr>
              <a:t> frontier</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a:t>
            </a:r>
            <a:r>
              <a:rPr lang="en-US" sz="1000" b="1" u="none" strike="noStrike" dirty="0">
                <a:solidFill>
                  <a:srgbClr val="F2A0A0"/>
                </a:solidFill>
                <a:effectLst/>
                <a:uFillTx/>
                <a:latin typeface="Consolas"/>
              </a:rPr>
              <a:t>failure</a:t>
            </a:r>
            <a:endParaRPr lang="en-US" sz="1000" b="0" u="none" strike="noStrike" dirty="0">
              <a:solidFill>
                <a:srgbClr val="000000"/>
              </a:solidFill>
              <a:effectLst/>
              <a:uFillTx/>
              <a:latin typeface="Arial"/>
            </a:endParaRPr>
          </a:p>
        </p:txBody>
      </p:sp>
      <p:sp>
        <p:nvSpPr>
          <p:cNvPr id="2012" name="NoteCard 2012"/>
          <p:cNvSpPr/>
          <p:nvPr/>
        </p:nvSpPr>
        <p:spPr>
          <a:xfrm>
            <a:off x="7077240" y="124000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2 · the early goal test</a:t>
            </a:r>
            <a:endParaRPr lang="en-US" sz="1100" b="0" u="none" strike="noStrike">
              <a:solidFill>
                <a:srgbClr val="000000"/>
              </a:solidFill>
              <a:effectLst/>
              <a:uFillTx/>
              <a:latin typeface="Arial"/>
            </a:endParaRPr>
          </a:p>
        </p:txBody>
      </p:sp>
      <p:sp>
        <p:nvSpPr>
          <p:cNvPr id="2014" name="CardBody 2014"/>
          <p:cNvSpPr/>
          <p:nvPr/>
        </p:nvSpPr>
        <p:spPr>
          <a:xfrm>
            <a:off x="7282980" y="160576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The root is tested before the loop begins, so a start state that is already a goal returns at once.</a:t>
            </a:r>
            <a:endParaRPr lang="en-US" sz="1100" b="0" u="none" strike="noStrike">
              <a:solidFill>
                <a:srgbClr val="000000"/>
              </a:solidFill>
              <a:effectLst/>
              <a:uFillTx/>
              <a:latin typeface="Arial"/>
            </a:endParaRPr>
          </a:p>
        </p:txBody>
      </p:sp>
      <p:sp>
        <p:nvSpPr>
          <p:cNvPr id="2015" name="NoteCard 2015"/>
          <p:cNvSpPr/>
          <p:nvPr/>
        </p:nvSpPr>
        <p:spPr>
          <a:xfrm>
            <a:off x="7077240" y="225500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282980" y="239216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4 · a FIFO queue, not a heap</a:t>
            </a:r>
            <a:endParaRPr lang="en-US" sz="1100" b="0" u="none" strike="noStrike">
              <a:solidFill>
                <a:srgbClr val="000000"/>
              </a:solidFill>
              <a:effectLst/>
              <a:uFillTx/>
              <a:latin typeface="Arial"/>
            </a:endParaRPr>
          </a:p>
        </p:txBody>
      </p:sp>
      <p:sp>
        <p:nvSpPr>
          <p:cNvPr id="2017" name="CardBody 2017"/>
          <p:cNvSpPr/>
          <p:nvPr/>
        </p:nvSpPr>
        <p:spPr>
          <a:xfrm>
            <a:off x="7282980" y="262076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POP returns the oldest node. Every node at depth k is expanded before any node at depth k+1. That is all BFS is.</a:t>
            </a:r>
            <a:endParaRPr lang="en-US" sz="1100" b="0" u="none" strike="noStrike">
              <a:solidFill>
                <a:srgbClr val="000000"/>
              </a:solidFill>
              <a:effectLst/>
              <a:uFillTx/>
              <a:latin typeface="Arial"/>
            </a:endParaRPr>
          </a:p>
        </p:txBody>
      </p:sp>
      <p:sp>
        <p:nvSpPr>
          <p:cNvPr id="2018" name="NoteCard 2018"/>
          <p:cNvSpPr/>
          <p:nvPr/>
        </p:nvSpPr>
        <p:spPr>
          <a:xfrm>
            <a:off x="7077240" y="327001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282980" y="340717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10 · test on generation</a:t>
            </a:r>
            <a:endParaRPr lang="en-US" sz="1100" b="0" u="none" strike="noStrike">
              <a:solidFill>
                <a:srgbClr val="000000"/>
              </a:solidFill>
              <a:effectLst/>
              <a:uFillTx/>
              <a:latin typeface="Arial"/>
            </a:endParaRPr>
          </a:p>
        </p:txBody>
      </p:sp>
      <p:sp>
        <p:nvSpPr>
          <p:cNvPr id="2020" name="CardBody 2020"/>
          <p:cNvSpPr/>
          <p:nvPr/>
        </p:nvSpPr>
        <p:spPr>
          <a:xfrm>
            <a:off x="7282980" y="363577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The goal is returned the moment a child is created, which saves expanding an entire final tier of nodes.</a:t>
            </a:r>
            <a:endParaRPr lang="en-US" sz="1100" b="0" u="none" strike="noStrike" dirty="0">
              <a:solidFill>
                <a:srgbClr val="000000"/>
              </a:solidFill>
              <a:effectLst/>
              <a:uFillTx/>
              <a:latin typeface="Arial"/>
            </a:endParaRPr>
          </a:p>
        </p:txBody>
      </p:sp>
      <p:sp>
        <p:nvSpPr>
          <p:cNvPr id="2021" name="NoteCard 2021"/>
          <p:cNvSpPr/>
          <p:nvPr/>
        </p:nvSpPr>
        <p:spPr>
          <a:xfrm>
            <a:off x="7077240" y="428501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2" name="CardHead 2022"/>
          <p:cNvSpPr/>
          <p:nvPr/>
        </p:nvSpPr>
        <p:spPr>
          <a:xfrm>
            <a:off x="7282980" y="442217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5 · reached is a set of states</a:t>
            </a:r>
            <a:endParaRPr lang="en-US" sz="1100" b="0" u="none" strike="noStrike">
              <a:solidFill>
                <a:srgbClr val="000000"/>
              </a:solidFill>
              <a:effectLst/>
              <a:uFillTx/>
              <a:latin typeface="Arial"/>
            </a:endParaRPr>
          </a:p>
        </p:txBody>
      </p:sp>
      <p:sp>
        <p:nvSpPr>
          <p:cNvPr id="2023" name="CardBody 2023"/>
          <p:cNvSpPr/>
          <p:nvPr/>
        </p:nvSpPr>
        <p:spPr>
          <a:xfrm>
            <a:off x="7282980" y="465077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Not a state-to-node map. BFS never replaces an entry: the first path it finds to a state is already the shallowest.</a:t>
            </a:r>
            <a:endParaRPr lang="en-US" sz="1100" b="0" u="none" strike="noStrike">
              <a:solidFill>
                <a:srgbClr val="000000"/>
              </a:solidFill>
              <a:effectLst/>
              <a:uFillTx/>
              <a:latin typeface="Arial"/>
            </a:endParaRPr>
          </a:p>
        </p:txBody>
      </p:sp>
      <p:sp>
        <p:nvSpPr>
          <p:cNvPr id="2024" name="Banner 2024"/>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This is not best-first search with f(n) = depth. Figure 3.9 is a specialised rewrite that exploits three facts only BFS can rely on.</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Because depth can never improve on a second visit, BFS is allowed to test on generation, store bare states instead of nodes, and use a plain queue instead of a priority queue.</a:t>
            </a:r>
            <a:endParaRPr lang="en-US" sz="11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Breadth-First Search, Line by Line</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Text 2006"/>
          <p:cNvSpPr/>
          <p:nvPr/>
        </p:nvSpPr>
        <p:spPr>
          <a:xfrm>
            <a:off x="502920" y="1180000"/>
            <a:ext cx="545000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00" b="1" u="none" strike="noStrike" dirty="0">
                <a:solidFill>
                  <a:srgbClr val="F6A01A"/>
                </a:solidFill>
                <a:effectLst/>
                <a:uFillTx/>
                <a:latin typeface="Aptos"/>
              </a:rPr>
              <a:t>SETUP · before the loop</a:t>
            </a:r>
            <a:endParaRPr lang="en-US" sz="1100" b="0" u="none" strike="noStrike">
              <a:solidFill>
                <a:srgbClr val="000000"/>
              </a:solidFill>
              <a:effectLst/>
              <a:uFillTx/>
              <a:latin typeface="Arial"/>
            </a:endParaRPr>
          </a:p>
        </p:txBody>
      </p:sp>
      <p:sp>
        <p:nvSpPr>
          <p:cNvPr id="2007" name="Text 2007"/>
          <p:cNvSpPr/>
          <p:nvPr/>
        </p:nvSpPr>
        <p:spPr>
          <a:xfrm>
            <a:off x="6239080" y="1180000"/>
            <a:ext cx="545000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00" b="1" u="none" strike="noStrike" dirty="0">
                <a:solidFill>
                  <a:srgbClr val="F6A01A"/>
                </a:solidFill>
                <a:effectLst/>
                <a:uFillTx/>
                <a:latin typeface="Aptos"/>
              </a:rPr>
              <a:t>THE LOOP · until the frontier empties</a:t>
            </a:r>
            <a:endParaRPr lang="en-US" sz="1100" b="0" u="none" strike="noStrike">
              <a:solidFill>
                <a:srgbClr val="000000"/>
              </a:solidFill>
              <a:effectLst/>
              <a:uFillTx/>
              <a:latin typeface="Arial"/>
            </a:endParaRPr>
          </a:p>
        </p:txBody>
      </p:sp>
      <p:sp>
        <p:nvSpPr>
          <p:cNvPr id="2008" name="Row 2008"/>
          <p:cNvSpPr/>
          <p:nvPr/>
        </p:nvSpPr>
        <p:spPr>
          <a:xfrm>
            <a:off x="502920" y="152000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9" name="Text 2009"/>
          <p:cNvSpPr/>
          <p:nvPr/>
        </p:nvSpPr>
        <p:spPr>
          <a:xfrm>
            <a:off x="685800" y="164192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1  </a:t>
            </a:r>
            <a:r>
              <a:rPr lang="en-US" sz="950" b="1" u="none" strike="noStrike" dirty="0">
                <a:solidFill>
                  <a:srgbClr val="112E5C"/>
                </a:solidFill>
                <a:effectLst/>
                <a:uFillTx/>
                <a:latin typeface="Consolas"/>
              </a:rPr>
              <a:t>node ← NODE(problem.INITIAL)</a:t>
            </a:r>
            <a:endParaRPr lang="en-US" sz="1100" b="0" u="none" strike="noStrike">
              <a:solidFill>
                <a:srgbClr val="000000"/>
              </a:solidFill>
              <a:effectLst/>
              <a:uFillTx/>
              <a:latin typeface="Arial"/>
            </a:endParaRPr>
          </a:p>
        </p:txBody>
      </p:sp>
      <p:sp>
        <p:nvSpPr>
          <p:cNvPr id="2010" name="Text 2010"/>
          <p:cNvSpPr/>
          <p:nvPr/>
        </p:nvSpPr>
        <p:spPr>
          <a:xfrm>
            <a:off x="685800" y="187052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Wrap the start state in a search node: state, parent = none, action = none, path-cost = 0.</a:t>
            </a:r>
            <a:endParaRPr lang="en-US" sz="1100" b="0" u="none" strike="noStrike">
              <a:solidFill>
                <a:srgbClr val="000000"/>
              </a:solidFill>
              <a:effectLst/>
              <a:uFillTx/>
              <a:latin typeface="Arial"/>
            </a:endParaRPr>
          </a:p>
        </p:txBody>
      </p:sp>
      <p:sp>
        <p:nvSpPr>
          <p:cNvPr id="2011" name="Row 2011"/>
          <p:cNvSpPr/>
          <p:nvPr/>
        </p:nvSpPr>
        <p:spPr>
          <a:xfrm>
            <a:off x="502920" y="247179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2" name="Text 2012"/>
          <p:cNvSpPr/>
          <p:nvPr/>
        </p:nvSpPr>
        <p:spPr>
          <a:xfrm>
            <a:off x="685800" y="259371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2  </a:t>
            </a:r>
            <a:r>
              <a:rPr lang="en-US" sz="950" b="1" u="none" strike="noStrike" dirty="0">
                <a:solidFill>
                  <a:srgbClr val="112E5C"/>
                </a:solidFill>
                <a:effectLst/>
                <a:uFillTx/>
                <a:latin typeface="Consolas"/>
              </a:rPr>
              <a:t>if IS-GOAL(node.STATE) then return node</a:t>
            </a:r>
            <a:endParaRPr lang="en-US" sz="1100" b="0" u="none" strike="noStrike">
              <a:solidFill>
                <a:srgbClr val="000000"/>
              </a:solidFill>
              <a:effectLst/>
              <a:uFillTx/>
              <a:latin typeface="Arial"/>
            </a:endParaRPr>
          </a:p>
        </p:txBody>
      </p:sp>
      <p:sp>
        <p:nvSpPr>
          <p:cNvPr id="2013" name="Text 2013"/>
          <p:cNvSpPr/>
          <p:nvPr/>
        </p:nvSpPr>
        <p:spPr>
          <a:xfrm>
            <a:off x="685800" y="282231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Covers the degenerate case where the agent already stands on a goal state.</a:t>
            </a:r>
            <a:endParaRPr lang="en-US" sz="1100" b="0" u="none" strike="noStrike">
              <a:solidFill>
                <a:srgbClr val="000000"/>
              </a:solidFill>
              <a:effectLst/>
              <a:uFillTx/>
              <a:latin typeface="Arial"/>
            </a:endParaRPr>
          </a:p>
        </p:txBody>
      </p:sp>
      <p:sp>
        <p:nvSpPr>
          <p:cNvPr id="2014" name="Row 2014"/>
          <p:cNvSpPr/>
          <p:nvPr/>
        </p:nvSpPr>
        <p:spPr>
          <a:xfrm>
            <a:off x="502920" y="342358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5" name="Text 2015"/>
          <p:cNvSpPr/>
          <p:nvPr/>
        </p:nvSpPr>
        <p:spPr>
          <a:xfrm>
            <a:off x="685800" y="354550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3  </a:t>
            </a:r>
            <a:r>
              <a:rPr lang="en-US" sz="950" b="1" u="none" strike="noStrike" dirty="0">
                <a:solidFill>
                  <a:srgbClr val="112E5C"/>
                </a:solidFill>
                <a:effectLst/>
                <a:uFillTx/>
                <a:latin typeface="Consolas"/>
              </a:rPr>
              <a:t>frontier ← a FIFO queue</a:t>
            </a:r>
            <a:endParaRPr lang="en-US" sz="1100" b="0" u="none" strike="noStrike">
              <a:solidFill>
                <a:srgbClr val="000000"/>
              </a:solidFill>
              <a:effectLst/>
              <a:uFillTx/>
              <a:latin typeface="Arial"/>
            </a:endParaRPr>
          </a:p>
        </p:txBody>
      </p:sp>
      <p:sp>
        <p:nvSpPr>
          <p:cNvPr id="2016" name="Text 2016"/>
          <p:cNvSpPr/>
          <p:nvPr/>
        </p:nvSpPr>
        <p:spPr>
          <a:xfrm>
            <a:off x="685800" y="377410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Oldest in, first out. This single choice is the entire difference between BFS and DFS.</a:t>
            </a:r>
            <a:endParaRPr lang="en-US" sz="1100" b="0" u="none" strike="noStrike">
              <a:solidFill>
                <a:srgbClr val="000000"/>
              </a:solidFill>
              <a:effectLst/>
              <a:uFillTx/>
              <a:latin typeface="Arial"/>
            </a:endParaRPr>
          </a:p>
        </p:txBody>
      </p:sp>
      <p:sp>
        <p:nvSpPr>
          <p:cNvPr id="2017" name="Row 2017"/>
          <p:cNvSpPr/>
          <p:nvPr/>
        </p:nvSpPr>
        <p:spPr>
          <a:xfrm>
            <a:off x="502920" y="437537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8" name="Text 2018"/>
          <p:cNvSpPr/>
          <p:nvPr/>
        </p:nvSpPr>
        <p:spPr>
          <a:xfrm>
            <a:off x="685800" y="449729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4  </a:t>
            </a:r>
            <a:r>
              <a:rPr lang="en-US" sz="950" b="1" u="none" strike="noStrike" dirty="0">
                <a:solidFill>
                  <a:srgbClr val="112E5C"/>
                </a:solidFill>
                <a:effectLst/>
                <a:uFillTx/>
                <a:latin typeface="Consolas"/>
              </a:rPr>
              <a:t>reached ← {problem.INITIAL}</a:t>
            </a:r>
            <a:endParaRPr lang="en-US" sz="1100" b="0" u="none" strike="noStrike">
              <a:solidFill>
                <a:srgbClr val="000000"/>
              </a:solidFill>
              <a:effectLst/>
              <a:uFillTx/>
              <a:latin typeface="Arial"/>
            </a:endParaRPr>
          </a:p>
        </p:txBody>
      </p:sp>
      <p:sp>
        <p:nvSpPr>
          <p:cNvPr id="2019" name="Text 2019"/>
          <p:cNvSpPr/>
          <p:nvPr/>
        </p:nvSpPr>
        <p:spPr>
          <a:xfrm>
            <a:off x="685800" y="472589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A set of states. Nothing else about the start node ever needs remembering.</a:t>
            </a:r>
            <a:endParaRPr lang="en-US" sz="1100" b="0" u="none" strike="noStrike">
              <a:solidFill>
                <a:srgbClr val="000000"/>
              </a:solidFill>
              <a:effectLst/>
              <a:uFillTx/>
              <a:latin typeface="Arial"/>
            </a:endParaRPr>
          </a:p>
        </p:txBody>
      </p:sp>
      <p:sp>
        <p:nvSpPr>
          <p:cNvPr id="2020" name="Row 2020"/>
          <p:cNvSpPr/>
          <p:nvPr/>
        </p:nvSpPr>
        <p:spPr>
          <a:xfrm>
            <a:off x="6239080" y="1520000"/>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1" name="Text 2021"/>
          <p:cNvSpPr/>
          <p:nvPr/>
        </p:nvSpPr>
        <p:spPr>
          <a:xfrm>
            <a:off x="6421960" y="164192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5  </a:t>
            </a:r>
            <a:r>
              <a:rPr lang="en-US" sz="950" b="1" u="none" strike="noStrike" dirty="0">
                <a:solidFill>
                  <a:srgbClr val="112E5C"/>
                </a:solidFill>
                <a:effectLst/>
                <a:uFillTx/>
                <a:latin typeface="Consolas"/>
              </a:rPr>
              <a:t>node ← POP(frontier)</a:t>
            </a:r>
            <a:endParaRPr lang="en-US" sz="1100" b="0" u="none" strike="noStrike">
              <a:solidFill>
                <a:srgbClr val="000000"/>
              </a:solidFill>
              <a:effectLst/>
              <a:uFillTx/>
              <a:latin typeface="Arial"/>
            </a:endParaRPr>
          </a:p>
        </p:txBody>
      </p:sp>
      <p:sp>
        <p:nvSpPr>
          <p:cNvPr id="2022" name="Text 2022"/>
          <p:cNvSpPr/>
          <p:nvPr/>
        </p:nvSpPr>
        <p:spPr>
          <a:xfrm>
            <a:off x="6421960" y="1870520"/>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Removes the shallowest unexpanded node — the front of the queue.</a:t>
            </a:r>
            <a:endParaRPr lang="en-US" sz="1100" b="0" u="none" strike="noStrike">
              <a:solidFill>
                <a:srgbClr val="000000"/>
              </a:solidFill>
              <a:effectLst/>
              <a:uFillTx/>
              <a:latin typeface="Arial"/>
            </a:endParaRPr>
          </a:p>
        </p:txBody>
      </p:sp>
      <p:sp>
        <p:nvSpPr>
          <p:cNvPr id="2023" name="Row 2023"/>
          <p:cNvSpPr/>
          <p:nvPr/>
        </p:nvSpPr>
        <p:spPr>
          <a:xfrm>
            <a:off x="6239080" y="2281432"/>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4" name="Text 2024"/>
          <p:cNvSpPr/>
          <p:nvPr/>
        </p:nvSpPr>
        <p:spPr>
          <a:xfrm>
            <a:off x="6421960" y="2403352"/>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6  </a:t>
            </a:r>
            <a:r>
              <a:rPr lang="en-US" sz="950" b="1" u="none" strike="noStrike" dirty="0">
                <a:solidFill>
                  <a:srgbClr val="112E5C"/>
                </a:solidFill>
                <a:effectLst/>
                <a:uFillTx/>
                <a:latin typeface="Consolas"/>
              </a:rPr>
              <a:t>for each child in EXPAND(problem, node)</a:t>
            </a:r>
            <a:endParaRPr lang="en-US" sz="1100" b="0" u="none" strike="noStrike">
              <a:solidFill>
                <a:srgbClr val="000000"/>
              </a:solidFill>
              <a:effectLst/>
              <a:uFillTx/>
              <a:latin typeface="Arial"/>
            </a:endParaRPr>
          </a:p>
        </p:txBody>
      </p:sp>
      <p:sp>
        <p:nvSpPr>
          <p:cNvPr id="2025" name="Text 2025"/>
          <p:cNvSpPr/>
          <p:nvPr/>
        </p:nvSpPr>
        <p:spPr>
          <a:xfrm>
            <a:off x="6421960" y="2631952"/>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Every applicable action fires; each result becomes a child with a parent pointer.</a:t>
            </a:r>
            <a:endParaRPr lang="en-US" sz="1100" b="0" u="none" strike="noStrike">
              <a:solidFill>
                <a:srgbClr val="000000"/>
              </a:solidFill>
              <a:effectLst/>
              <a:uFillTx/>
              <a:latin typeface="Arial"/>
            </a:endParaRPr>
          </a:p>
        </p:txBody>
      </p:sp>
      <p:sp>
        <p:nvSpPr>
          <p:cNvPr id="2026" name="Row 2026"/>
          <p:cNvSpPr/>
          <p:nvPr/>
        </p:nvSpPr>
        <p:spPr>
          <a:xfrm>
            <a:off x="6239080" y="3042864"/>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7" name="Text 2027"/>
          <p:cNvSpPr/>
          <p:nvPr/>
        </p:nvSpPr>
        <p:spPr>
          <a:xfrm>
            <a:off x="6421960" y="3164784"/>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7  </a:t>
            </a:r>
            <a:r>
              <a:rPr lang="en-US" sz="950" b="1" u="none" strike="noStrike" dirty="0">
                <a:solidFill>
                  <a:srgbClr val="112E5C"/>
                </a:solidFill>
                <a:effectLst/>
                <a:uFillTx/>
                <a:latin typeface="Consolas"/>
              </a:rPr>
              <a:t>if IS-GOAL(s) then return child</a:t>
            </a:r>
            <a:endParaRPr lang="en-US" sz="1100" b="0" u="none" strike="noStrike">
              <a:solidFill>
                <a:srgbClr val="000000"/>
              </a:solidFill>
              <a:effectLst/>
              <a:uFillTx/>
              <a:latin typeface="Arial"/>
            </a:endParaRPr>
          </a:p>
        </p:txBody>
      </p:sp>
      <p:sp>
        <p:nvSpPr>
          <p:cNvPr id="2028" name="Text 2028"/>
          <p:cNvSpPr/>
          <p:nvPr/>
        </p:nvSpPr>
        <p:spPr>
          <a:xfrm>
            <a:off x="6421960" y="3393384"/>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Early goal test. Recover the path by walking parent pointers back to the root.</a:t>
            </a:r>
            <a:endParaRPr lang="en-US" sz="1100" b="0" u="none" strike="noStrike">
              <a:solidFill>
                <a:srgbClr val="000000"/>
              </a:solidFill>
              <a:effectLst/>
              <a:uFillTx/>
              <a:latin typeface="Arial"/>
            </a:endParaRPr>
          </a:p>
        </p:txBody>
      </p:sp>
      <p:sp>
        <p:nvSpPr>
          <p:cNvPr id="2029" name="Row 2029"/>
          <p:cNvSpPr/>
          <p:nvPr/>
        </p:nvSpPr>
        <p:spPr>
          <a:xfrm>
            <a:off x="6239080" y="3804296"/>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0" name="Text 2030"/>
          <p:cNvSpPr/>
          <p:nvPr/>
        </p:nvSpPr>
        <p:spPr>
          <a:xfrm>
            <a:off x="6421960" y="3926216"/>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8  </a:t>
            </a:r>
            <a:r>
              <a:rPr lang="en-US" sz="950" b="1" u="none" strike="noStrike" dirty="0">
                <a:solidFill>
                  <a:srgbClr val="112E5C"/>
                </a:solidFill>
                <a:effectLst/>
                <a:uFillTx/>
                <a:latin typeface="Consolas"/>
              </a:rPr>
              <a:t>if s is not in reached then</a:t>
            </a:r>
            <a:endParaRPr lang="en-US" sz="1100" b="0" u="none" strike="noStrike">
              <a:solidFill>
                <a:srgbClr val="000000"/>
              </a:solidFill>
              <a:effectLst/>
              <a:uFillTx/>
              <a:latin typeface="Arial"/>
            </a:endParaRPr>
          </a:p>
        </p:txBody>
      </p:sp>
      <p:sp>
        <p:nvSpPr>
          <p:cNvPr id="2031" name="Text 2031"/>
          <p:cNvSpPr/>
          <p:nvPr/>
        </p:nvSpPr>
        <p:spPr>
          <a:xfrm>
            <a:off x="6421960" y="4154816"/>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Discard any state already generated — its first path was no deeper than this one.</a:t>
            </a:r>
            <a:endParaRPr lang="en-US" sz="1100" b="0" u="none" strike="noStrike">
              <a:solidFill>
                <a:srgbClr val="000000"/>
              </a:solidFill>
              <a:effectLst/>
              <a:uFillTx/>
              <a:latin typeface="Arial"/>
            </a:endParaRPr>
          </a:p>
        </p:txBody>
      </p:sp>
      <p:sp>
        <p:nvSpPr>
          <p:cNvPr id="2032" name="Row 2032"/>
          <p:cNvSpPr/>
          <p:nvPr/>
        </p:nvSpPr>
        <p:spPr>
          <a:xfrm>
            <a:off x="6239080" y="4565728"/>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3" name="Text 2033"/>
          <p:cNvSpPr/>
          <p:nvPr/>
        </p:nvSpPr>
        <p:spPr>
          <a:xfrm>
            <a:off x="6421960" y="4687648"/>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9  </a:t>
            </a:r>
            <a:r>
              <a:rPr lang="en-US" sz="950" b="1" u="none" strike="noStrike" dirty="0">
                <a:solidFill>
                  <a:srgbClr val="112E5C"/>
                </a:solidFill>
                <a:effectLst/>
                <a:uFillTx/>
                <a:latin typeface="Consolas"/>
              </a:rPr>
              <a:t>return failure</a:t>
            </a:r>
            <a:endParaRPr lang="en-US" sz="1100" b="0" u="none" strike="noStrike">
              <a:solidFill>
                <a:srgbClr val="000000"/>
              </a:solidFill>
              <a:effectLst/>
              <a:uFillTx/>
              <a:latin typeface="Arial"/>
            </a:endParaRPr>
          </a:p>
        </p:txBody>
      </p:sp>
      <p:sp>
        <p:nvSpPr>
          <p:cNvPr id="2034" name="Text 2034"/>
          <p:cNvSpPr/>
          <p:nvPr/>
        </p:nvSpPr>
        <p:spPr>
          <a:xfrm>
            <a:off x="6421960" y="4916248"/>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The frontier emptied with no goal, so no goal is reachable from the start.</a:t>
            </a:r>
            <a:endParaRPr lang="en-US" sz="1100" b="0" u="none" strike="noStrike">
              <a:solidFill>
                <a:srgbClr val="000000"/>
              </a:solidFill>
              <a:effectLst/>
              <a:uFillTx/>
              <a:latin typeface="Arial"/>
            </a:endParaRPr>
          </a:p>
        </p:txBody>
      </p:sp>
      <p:sp>
        <p:nvSpPr>
          <p:cNvPr id="2035" name="Banner 2035"/>
          <p:cNvSpPr/>
          <p:nvPr/>
        </p:nvSpPr>
        <p:spPr>
          <a:xfrm>
            <a:off x="502920" y="5420000"/>
            <a:ext cx="11186160" cy="800000"/>
          </a:xfrm>
          <a:prstGeom prst="roundRect">
            <a:avLst>
              <a:gd name="adj" fmla="val 3000"/>
            </a:avLst>
          </a:prstGeom>
          <a:solidFill>
            <a:srgbClr val="F7D7D7"/>
          </a:solidFill>
          <a:ln w="12700">
            <a:solidFill>
              <a:srgbClr val="F7D7D7"/>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80"/>
              </a:spcAft>
              <a:buNone/>
            </a:pPr>
            <a:r>
              <a:rPr lang="en-US" sz="1050" b="1" u="none" strike="noStrike" dirty="0">
                <a:solidFill>
                  <a:srgbClr val="9B1C1C"/>
                </a:solidFill>
                <a:effectLst/>
                <a:uFillTx/>
                <a:latin typeface="Aptos"/>
              </a:rPr>
              <a:t>Silent bug worth demonstrating in lab:  </a:t>
            </a:r>
            <a:r>
              <a:rPr lang="en-US" sz="1050" b="0" u="none" strike="noStrike" dirty="0">
                <a:solidFill>
                  <a:srgbClr val="102A4C"/>
                </a:solidFill>
                <a:effectLst/>
                <a:uFillTx/>
                <a:latin typeface="Aptos"/>
              </a:rPr>
              <a:t>a Python deque with .pop() instead of .popleft() turns this exact code into depth-first search.</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Nothing crashes and nothing raises. The function still returns a valid path — just not the shallowest one, and not the one the test expects.</a:t>
            </a:r>
            <a:endParaRPr lang="en-US" sz="110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a:extLst>
            <a:ext uri="{FF2B5EF4-FFF2-40B4-BE49-F238E27FC236}">
              <a16:creationId xmlns:a16="http://schemas.microsoft.com/office/drawing/2014/main" id="{28A9617E-002B-A2EA-9E19-4D48D5ED5D5A}"/>
            </a:ext>
          </a:extLst>
        </p:cNvPr>
        <p:cNvGrpSpPr/>
        <p:nvPr/>
      </p:nvGrpSpPr>
      <p:grpSpPr>
        <a:xfrm>
          <a:off x="0" y="0"/>
          <a:ext cx="0" cy="0"/>
          <a:chOff x="0" y="0"/>
          <a:chExt cx="0" cy="0"/>
        </a:xfrm>
      </p:grpSpPr>
      <p:sp>
        <p:nvSpPr>
          <p:cNvPr id="958" name="Shape 0">
            <a:extLst>
              <a:ext uri="{FF2B5EF4-FFF2-40B4-BE49-F238E27FC236}">
                <a16:creationId xmlns:a16="http://schemas.microsoft.com/office/drawing/2014/main" id="{C29A7502-8038-ECBB-7720-16C5DD7BDA35}"/>
              </a:ext>
            </a:extLst>
          </p:cNvPr>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9" name="Shape 1">
            <a:extLst>
              <a:ext uri="{FF2B5EF4-FFF2-40B4-BE49-F238E27FC236}">
                <a16:creationId xmlns:a16="http://schemas.microsoft.com/office/drawing/2014/main" id="{B72D5CCF-FCCE-1A91-60A8-358B169A993D}"/>
              </a:ext>
            </a:extLst>
          </p:cNvPr>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60" name="Text 2">
            <a:extLst>
              <a:ext uri="{FF2B5EF4-FFF2-40B4-BE49-F238E27FC236}">
                <a16:creationId xmlns:a16="http://schemas.microsoft.com/office/drawing/2014/main" id="{09488F47-D824-2458-E422-F7B2A8FD932B}"/>
              </a:ext>
            </a:extLst>
          </p:cNvPr>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Complexity: Exponential Memory Growth</a:t>
            </a:r>
            <a:endParaRPr lang="en-US" sz="2600" b="0" u="none" strike="noStrike">
              <a:solidFill>
                <a:srgbClr val="000000"/>
              </a:solidFill>
              <a:effectLst/>
              <a:uFillTx/>
              <a:latin typeface="Arial"/>
            </a:endParaRPr>
          </a:p>
        </p:txBody>
      </p:sp>
      <p:sp>
        <p:nvSpPr>
          <p:cNvPr id="961" name="Text 3">
            <a:extLst>
              <a:ext uri="{FF2B5EF4-FFF2-40B4-BE49-F238E27FC236}">
                <a16:creationId xmlns:a16="http://schemas.microsoft.com/office/drawing/2014/main" id="{3457352A-0674-B9B2-FD5B-D46BDF8EE1BD}"/>
              </a:ext>
            </a:extLst>
          </p:cNvPr>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62" name="Text 4">
            <a:extLst>
              <a:ext uri="{FF2B5EF4-FFF2-40B4-BE49-F238E27FC236}">
                <a16:creationId xmlns:a16="http://schemas.microsoft.com/office/drawing/2014/main" id="{9451DC2F-9E53-B716-B6F5-D70C5D5638A4}"/>
              </a:ext>
            </a:extLst>
          </p:cNvPr>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63" name="Text 5">
            <a:extLst>
              <a:ext uri="{FF2B5EF4-FFF2-40B4-BE49-F238E27FC236}">
                <a16:creationId xmlns:a16="http://schemas.microsoft.com/office/drawing/2014/main" id="{1E945E06-2A0B-B4E8-77A4-ADD2C55458EC}"/>
              </a:ext>
            </a:extLst>
          </p:cNvPr>
          <p:cNvSpPr/>
          <p:nvPr/>
        </p:nvSpPr>
        <p:spPr>
          <a:xfrm>
            <a:off x="868680" y="1508760"/>
            <a:ext cx="310860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400" b="1" u="none" strike="noStrike" dirty="0">
                <a:solidFill>
                  <a:srgbClr val="112E5C"/>
                </a:solidFill>
                <a:effectLst/>
                <a:uFillTx/>
                <a:latin typeface="Aptos"/>
              </a:rPr>
              <a:t>Time: O(</a:t>
            </a:r>
            <a:r>
              <a:rPr lang="en-US" sz="2400" b="1" u="none" strike="noStrike" dirty="0" err="1">
                <a:solidFill>
                  <a:srgbClr val="112E5C"/>
                </a:solidFill>
                <a:effectLst/>
                <a:uFillTx/>
                <a:latin typeface="Aptos"/>
              </a:rPr>
              <a:t>b^d</a:t>
            </a:r>
            <a:r>
              <a:rPr lang="en-US" sz="2400" b="1" u="none" strike="noStrike" dirty="0">
                <a:solidFill>
                  <a:srgbClr val="112E5C"/>
                </a:solidFill>
                <a:effectLst/>
                <a:uFillTx/>
                <a:latin typeface="Aptos"/>
              </a:rPr>
              <a:t>)</a:t>
            </a:r>
            <a:endParaRPr lang="en-US" sz="2400" b="0" u="none" strike="noStrike" dirty="0">
              <a:solidFill>
                <a:srgbClr val="000000"/>
              </a:solidFill>
              <a:effectLst/>
              <a:uFillTx/>
              <a:latin typeface="Arial"/>
            </a:endParaRPr>
          </a:p>
        </p:txBody>
      </p:sp>
      <p:sp>
        <p:nvSpPr>
          <p:cNvPr id="964" name="Text 6">
            <a:extLst>
              <a:ext uri="{FF2B5EF4-FFF2-40B4-BE49-F238E27FC236}">
                <a16:creationId xmlns:a16="http://schemas.microsoft.com/office/drawing/2014/main" id="{5A064CBA-FF43-2D7F-6FB0-CDDA4BE45B8C}"/>
              </a:ext>
            </a:extLst>
          </p:cNvPr>
          <p:cNvSpPr/>
          <p:nvPr/>
        </p:nvSpPr>
        <p:spPr>
          <a:xfrm>
            <a:off x="4526280" y="1508760"/>
            <a:ext cx="310860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400" b="1" u="none" strike="noStrike">
                <a:solidFill>
                  <a:srgbClr val="9B1C1C"/>
                </a:solidFill>
                <a:effectLst/>
                <a:uFillTx/>
                <a:latin typeface="Aptos"/>
              </a:rPr>
              <a:t>Space: O(b^d)</a:t>
            </a:r>
            <a:endParaRPr lang="en-US" sz="2400" b="0" u="none" strike="noStrike">
              <a:solidFill>
                <a:srgbClr val="000000"/>
              </a:solidFill>
              <a:effectLst/>
              <a:uFillTx/>
              <a:latin typeface="Arial"/>
            </a:endParaRPr>
          </a:p>
        </p:txBody>
      </p:sp>
      <p:sp>
        <p:nvSpPr>
          <p:cNvPr id="965" name="Text 7">
            <a:extLst>
              <a:ext uri="{FF2B5EF4-FFF2-40B4-BE49-F238E27FC236}">
                <a16:creationId xmlns:a16="http://schemas.microsoft.com/office/drawing/2014/main" id="{C46A84C9-CB0F-D756-DD54-01DAC05FF996}"/>
              </a:ext>
            </a:extLst>
          </p:cNvPr>
          <p:cNvSpPr/>
          <p:nvPr/>
        </p:nvSpPr>
        <p:spPr>
          <a:xfrm>
            <a:off x="1005840" y="2514600"/>
            <a:ext cx="1005804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02A4C"/>
                </a:solidFill>
                <a:effectLst/>
                <a:uFillTx/>
                <a:latin typeface="Aptos"/>
              </a:rPr>
              <a:t>Nodes up to depth d: 1 + b + b² + … + bᵈ = O(bᵈ)</a:t>
            </a:r>
            <a:endParaRPr lang="en-US" sz="2000" b="0" u="none" strike="noStrike">
              <a:solidFill>
                <a:srgbClr val="000000"/>
              </a:solidFill>
              <a:effectLst/>
              <a:uFillTx/>
              <a:latin typeface="Arial"/>
            </a:endParaRPr>
          </a:p>
        </p:txBody>
      </p:sp>
      <p:sp>
        <p:nvSpPr>
          <p:cNvPr id="966" name="Text 8">
            <a:extLst>
              <a:ext uri="{FF2B5EF4-FFF2-40B4-BE49-F238E27FC236}">
                <a16:creationId xmlns:a16="http://schemas.microsoft.com/office/drawing/2014/main" id="{01489FF9-10A6-1B30-2E91-F4C5185F7976}"/>
              </a:ext>
            </a:extLst>
          </p:cNvPr>
          <p:cNvSpPr/>
          <p:nvPr/>
        </p:nvSpPr>
        <p:spPr>
          <a:xfrm>
            <a:off x="1005840" y="3794760"/>
            <a:ext cx="1005804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9B1C1C"/>
                </a:solidFill>
                <a:effectLst/>
                <a:uFillTx/>
                <a:latin typeface="Aptos"/>
              </a:rPr>
              <a:t>Example: b = 10, d = 10, 1 KB/node → roughly 10 TB of memory.</a:t>
            </a:r>
            <a:endParaRPr lang="en-US" sz="1800" b="0" u="none" strike="noStrike">
              <a:solidFill>
                <a:srgbClr val="000000"/>
              </a:solidFill>
              <a:effectLst/>
              <a:uFillTx/>
              <a:latin typeface="Arial"/>
            </a:endParaRPr>
          </a:p>
        </p:txBody>
      </p:sp>
      <p:sp>
        <p:nvSpPr>
          <p:cNvPr id="967" name="Text 9">
            <a:extLst>
              <a:ext uri="{FF2B5EF4-FFF2-40B4-BE49-F238E27FC236}">
                <a16:creationId xmlns:a16="http://schemas.microsoft.com/office/drawing/2014/main" id="{DBB70E8A-B313-9557-F1FD-740E527A7EC4}"/>
              </a:ext>
            </a:extLst>
          </p:cNvPr>
          <p:cNvSpPr/>
          <p:nvPr/>
        </p:nvSpPr>
        <p:spPr>
          <a:xfrm>
            <a:off x="1005840" y="4709160"/>
            <a:ext cx="1005804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0" u="none" strike="noStrike">
                <a:solidFill>
                  <a:srgbClr val="112E5C"/>
                </a:solidFill>
                <a:effectLst/>
                <a:uFillTx/>
                <a:latin typeface="Aptos"/>
              </a:rPr>
              <a:t>BFS is simple and reliable, but not scalable for large uninformed search spaces.</a:t>
            </a: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796090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68"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69"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0"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Early Goal Test vs. Late Goal Test</a:t>
            </a:r>
            <a:endParaRPr lang="en-US" sz="2600" b="0" u="none" strike="noStrike">
              <a:solidFill>
                <a:srgbClr val="000000"/>
              </a:solidFill>
              <a:effectLst/>
              <a:uFillTx/>
              <a:latin typeface="Arial"/>
            </a:endParaRPr>
          </a:p>
        </p:txBody>
      </p:sp>
      <p:sp>
        <p:nvSpPr>
          <p:cNvPr id="971"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72"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73"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Early: test when a node is generated</a:t>
            </a:r>
            <a:endParaRPr lang="en-US" sz="1400" b="0" u="none" strike="noStrike">
              <a:solidFill>
                <a:srgbClr val="000000"/>
              </a:solidFill>
              <a:effectLst/>
              <a:uFillTx/>
              <a:latin typeface="Arial"/>
            </a:endParaRPr>
          </a:p>
        </p:txBody>
      </p:sp>
      <p:sp>
        <p:nvSpPr>
          <p:cNvPr id="974"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5"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Used by breadth-first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Safe there, because BFS can never later find a better path to a state it has already reached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Saves expanding an entire final 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Lets reached be a plain set of states, not a state → node map</a:t>
            </a:r>
            <a:endParaRPr lang="en-US" sz="1300" b="0" u="none" strike="noStrike">
              <a:solidFill>
                <a:srgbClr val="000000"/>
              </a:solidFill>
              <a:effectLst/>
              <a:uFillTx/>
              <a:latin typeface="Arial"/>
            </a:endParaRPr>
          </a:p>
        </p:txBody>
      </p:sp>
      <p:sp>
        <p:nvSpPr>
          <p:cNvPr id="976"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Late: test when a node is popped</a:t>
            </a:r>
            <a:endParaRPr lang="en-US" sz="1400" b="0" u="none" strike="noStrike">
              <a:solidFill>
                <a:srgbClr val="000000"/>
              </a:solidFill>
              <a:effectLst/>
              <a:uFillTx/>
              <a:latin typeface="Arial"/>
            </a:endParaRPr>
          </a:p>
        </p:txBody>
      </p:sp>
      <p:sp>
        <p:nvSpPr>
          <p:cNvPr id="977"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8"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Used by best-first search and uniform-cost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Required, not optional: a goal can be generated on an expensive path before a cheaper path to it is found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goal is returned only when it is the cheapest thing on the frontier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This is exactly what makes UCS cost-optimal</a:t>
            </a:r>
            <a:endParaRPr lang="en-US" sz="1300" b="0" u="none" strike="noStrike">
              <a:solidFill>
                <a:srgbClr val="000000"/>
              </a:solidFill>
              <a:effectLst/>
              <a:uFillTx/>
              <a:latin typeface="Arial"/>
            </a:endParaRPr>
          </a:p>
        </p:txBody>
      </p:sp>
      <p:sp>
        <p:nvSpPr>
          <p:cNvPr id="979" name="Rounded Rectangle 12"/>
          <p:cNvSpPr/>
          <p:nvPr/>
        </p:nvSpPr>
        <p:spPr>
          <a:xfrm>
            <a:off x="914400" y="3931920"/>
            <a:ext cx="1042380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80" name="Rectangle 13"/>
          <p:cNvSpPr/>
          <p:nvPr/>
        </p:nvSpPr>
        <p:spPr>
          <a:xfrm>
            <a:off x="1097280" y="402336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500" b="1" u="none" strike="noStrike">
                <a:solidFill>
                  <a:srgbClr val="112E5C"/>
                </a:solidFill>
                <a:effectLst/>
                <a:uFillTx/>
                <a:latin typeface="Aptos"/>
              </a:rPr>
              <a:t>Sibiu → Bucharest:  Fagaras generates Bucharest at 310.  Pitesti later generates Bucharest at 278.</a:t>
            </a:r>
            <a:endParaRPr lang="en-US" sz="1500" b="0" u="none" strike="noStrike">
              <a:solidFill>
                <a:srgbClr val="000000"/>
              </a:solidFill>
              <a:effectLst/>
              <a:uFillTx/>
              <a:latin typeface="Arial"/>
            </a:endParaRPr>
          </a:p>
        </p:txBody>
      </p:sp>
      <p:sp>
        <p:nvSpPr>
          <p:cNvPr id="981" name="Rectangle 14"/>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Test on generation here and UCS returns 310. Test on expansion and it returns 278.</a:t>
            </a:r>
            <a:endParaRPr lang="en-US" sz="1700" b="0" u="none" strike="noStrike">
              <a:solidFill>
                <a:srgbClr val="000000"/>
              </a:solidFill>
              <a:effectLst/>
              <a:uFillTx/>
              <a:latin typeface="Arial"/>
            </a:endParaRPr>
          </a:p>
        </p:txBody>
      </p:sp>
      <p:sp>
        <p:nvSpPr>
          <p:cNvPr id="982" name="Rectangle 15"/>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One line of the algorithm, and the difference between correct and merely plausible.</a:t>
            </a:r>
            <a:endParaRPr lang="en-US" sz="1500" b="0" u="none" strike="noStrike" dirty="0">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8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8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20000"/>
          </a:bodyPr>
          <a:lstStyle/>
          <a:p>
            <a:pPr>
              <a:tabLst>
                <a:tab pos="0" algn="l"/>
              </a:tabLst>
            </a:pPr>
            <a:r>
              <a:rPr lang="en-US" sz="2600" b="1" u="none" strike="noStrike" dirty="0">
                <a:solidFill>
                  <a:srgbClr val="FFFFFF"/>
                </a:solidFill>
                <a:effectLst/>
                <a:uFillTx/>
                <a:latin typeface="Aptos"/>
              </a:rPr>
              <a:t>Uniform-Cost Search (UCS) / Dijkstra - </a:t>
            </a:r>
            <a:r>
              <a:rPr lang="en-US" sz="2800" b="1" dirty="0">
                <a:solidFill>
                  <a:schemeClr val="bg1"/>
                </a:solidFill>
              </a:rPr>
              <a:t>"Dye-</a:t>
            </a:r>
            <a:r>
              <a:rPr lang="en-US" sz="2800" b="1" dirty="0" err="1">
                <a:solidFill>
                  <a:schemeClr val="bg1"/>
                </a:solidFill>
              </a:rPr>
              <a:t>kstra</a:t>
            </a:r>
            <a:r>
              <a:rPr lang="en-US" sz="2800" b="1" dirty="0">
                <a:solidFill>
                  <a:schemeClr val="bg1"/>
                </a:solidFill>
              </a:rPr>
              <a:t>"</a:t>
            </a:r>
            <a:endParaRPr lang="en-US" sz="2600" b="1" u="none" strike="noStrike" dirty="0">
              <a:solidFill>
                <a:schemeClr val="bg1"/>
              </a:solidFill>
              <a:effectLst/>
              <a:uFillTx/>
              <a:latin typeface="Arial"/>
            </a:endParaRPr>
          </a:p>
        </p:txBody>
      </p:sp>
      <p:sp>
        <p:nvSpPr>
          <p:cNvPr id="98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8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88" name="Text 5"/>
          <p:cNvSpPr/>
          <p:nvPr/>
        </p:nvSpPr>
        <p:spPr>
          <a:xfrm>
            <a:off x="822960" y="1417320"/>
            <a:ext cx="1828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989" name="Text 6"/>
          <p:cNvSpPr/>
          <p:nvPr/>
        </p:nvSpPr>
        <p:spPr>
          <a:xfrm>
            <a:off x="2880360" y="1463040"/>
            <a:ext cx="566892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5000" lnSpcReduction="9999"/>
          </a:bodyPr>
          <a:lstStyle/>
          <a:p>
            <a:pPr defTabSz="914400">
              <a:lnSpc>
                <a:spcPct val="100000"/>
              </a:lnSpc>
              <a:tabLst>
                <a:tab pos="0" algn="l"/>
              </a:tabLst>
            </a:pPr>
            <a:r>
              <a:rPr lang="en-US" sz="1650" b="1" u="none" strike="noStrike">
                <a:solidFill>
                  <a:srgbClr val="102A4C"/>
                </a:solidFill>
                <a:effectLst/>
                <a:uFillTx/>
                <a:latin typeface="Aptos"/>
              </a:rPr>
              <a:t>Expand the frontier node with the lowest cumulative path cost g(n).</a:t>
            </a:r>
            <a:endParaRPr lang="en-US" sz="1650" b="0" u="none" strike="noStrike">
              <a:solidFill>
                <a:srgbClr val="000000"/>
              </a:solidFill>
              <a:effectLst/>
              <a:uFillTx/>
              <a:latin typeface="Arial"/>
            </a:endParaRPr>
          </a:p>
        </p:txBody>
      </p:sp>
      <p:sp>
        <p:nvSpPr>
          <p:cNvPr id="990" name="Text 7"/>
          <p:cNvSpPr/>
          <p:nvPr/>
        </p:nvSpPr>
        <p:spPr>
          <a:xfrm>
            <a:off x="822960" y="2240280"/>
            <a:ext cx="182844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991" name="Text 8"/>
          <p:cNvSpPr/>
          <p:nvPr/>
        </p:nvSpPr>
        <p:spPr>
          <a:xfrm>
            <a:off x="2880360" y="2286000"/>
            <a:ext cx="50288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0" u="none" strike="noStrike">
                <a:solidFill>
                  <a:srgbClr val="102A4C"/>
                </a:solidFill>
                <a:effectLst/>
                <a:uFillTx/>
                <a:latin typeface="Aptos"/>
              </a:rPr>
              <a:t>Priority queue ordered by path cost from the start.</a:t>
            </a:r>
            <a:endParaRPr lang="en-US" sz="1600" b="0" u="none" strike="noStrike">
              <a:solidFill>
                <a:srgbClr val="000000"/>
              </a:solidFill>
              <a:effectLst/>
              <a:uFillTx/>
              <a:latin typeface="Arial"/>
            </a:endParaRPr>
          </a:p>
        </p:txBody>
      </p:sp>
      <p:sp>
        <p:nvSpPr>
          <p:cNvPr id="992" name="Text 9"/>
          <p:cNvSpPr/>
          <p:nvPr/>
        </p:nvSpPr>
        <p:spPr>
          <a:xfrm>
            <a:off x="822960" y="3063240"/>
            <a:ext cx="182844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Guarantee</a:t>
            </a:r>
            <a:endParaRPr lang="en-US" sz="1600" b="0" u="none" strike="noStrike">
              <a:solidFill>
                <a:srgbClr val="000000"/>
              </a:solidFill>
              <a:effectLst/>
              <a:uFillTx/>
              <a:latin typeface="Arial"/>
            </a:endParaRPr>
          </a:p>
        </p:txBody>
      </p:sp>
      <p:sp>
        <p:nvSpPr>
          <p:cNvPr id="993" name="Text 10"/>
          <p:cNvSpPr/>
          <p:nvPr/>
        </p:nvSpPr>
        <p:spPr>
          <a:xfrm>
            <a:off x="2880360" y="3108960"/>
            <a:ext cx="55774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defTabSz="914400">
              <a:lnSpc>
                <a:spcPct val="100000"/>
              </a:lnSpc>
              <a:tabLst>
                <a:tab pos="0" algn="l"/>
              </a:tabLst>
            </a:pPr>
            <a:r>
              <a:rPr lang="en-US" sz="1600" b="0" u="none" strike="noStrike">
                <a:solidFill>
                  <a:srgbClr val="102A4C"/>
                </a:solidFill>
                <a:effectLst/>
                <a:uFillTx/>
                <a:latin typeface="Aptos"/>
              </a:rPr>
              <a:t>Complete and cost-optimal when every action cost is at least ε &gt; 0.</a:t>
            </a:r>
            <a:endParaRPr lang="en-US" sz="1600" b="0" u="none" strike="noStrike">
              <a:solidFill>
                <a:srgbClr val="000000"/>
              </a:solidFill>
              <a:effectLst/>
              <a:uFillTx/>
              <a:latin typeface="Arial"/>
            </a:endParaRPr>
          </a:p>
        </p:txBody>
      </p:sp>
      <p:sp>
        <p:nvSpPr>
          <p:cNvPr id="994" name="Text 11"/>
          <p:cNvSpPr/>
          <p:nvPr/>
        </p:nvSpPr>
        <p:spPr>
          <a:xfrm>
            <a:off x="1005840" y="4800600"/>
            <a:ext cx="987516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12E5C"/>
                </a:solidFill>
                <a:effectLst/>
                <a:uFillTx/>
                <a:latin typeface="Aptos"/>
              </a:rPr>
              <a:t>BFS spreads by depth. UCS spreads by cost contours.</a:t>
            </a:r>
            <a:endParaRPr lang="en-US" sz="20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Uniform-Cost Search Is One Line</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11186160" cy="112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1063752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3.9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10637520" cy="36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1100" b="1" u="none" strike="noStrike" dirty="0">
                <a:solidFill>
                  <a:srgbClr val="F6A01A"/>
                </a:solidFill>
                <a:effectLst/>
                <a:uFillTx/>
                <a:latin typeface="Consolas"/>
              </a:rPr>
              <a:t>function</a:t>
            </a:r>
            <a:r>
              <a:rPr lang="en-US" sz="1100" b="0" u="none" strike="noStrike" dirty="0">
                <a:solidFill>
                  <a:srgbClr val="EAF2FF"/>
                </a:solidFill>
                <a:effectLst/>
                <a:uFillTx/>
                <a:latin typeface="Consolas"/>
              </a:rPr>
              <a:t> UNIFORM-COST-SEARCH(problem) </a:t>
            </a:r>
            <a:r>
              <a:rPr lang="en-US" sz="1100" b="1" u="none" strike="noStrike" dirty="0">
                <a:solidFill>
                  <a:srgbClr val="F6A01A"/>
                </a:solidFill>
                <a:effectLst/>
                <a:uFillTx/>
                <a:latin typeface="Consolas"/>
              </a:rPr>
              <a:t>returns</a:t>
            </a:r>
            <a:r>
              <a:rPr lang="en-US" sz="1100" b="0" u="none" strike="noStrike" dirty="0">
                <a:solidFill>
                  <a:srgbClr val="EAF2FF"/>
                </a:solidFill>
                <a:effectLst/>
                <a:uFillTx/>
                <a:latin typeface="Consolas"/>
              </a:rPr>
              <a:t> a solution node, </a:t>
            </a:r>
            <a:r>
              <a:rPr lang="en-US" sz="1100" b="1" u="none" strike="noStrike" dirty="0">
                <a:solidFill>
                  <a:srgbClr val="F6A01A"/>
                </a:solidFill>
                <a:effectLst/>
                <a:uFillTx/>
                <a:latin typeface="Consolas"/>
              </a:rPr>
              <a:t>or</a:t>
            </a:r>
            <a:r>
              <a:rPr lang="en-US" sz="1100" b="0" u="none" strike="noStrike" dirty="0">
                <a:solidFill>
                  <a:srgbClr val="EAF2FF"/>
                </a:solidFill>
                <a:effectLst/>
                <a:uFillTx/>
                <a:latin typeface="Consolas"/>
              </a:rPr>
              <a:t> </a:t>
            </a:r>
            <a:r>
              <a:rPr lang="en-US" sz="1100" b="1" u="none" strike="noStrike" dirty="0">
                <a:solidFill>
                  <a:srgbClr val="F2A0A0"/>
                </a:solidFill>
                <a:effectLst/>
                <a:uFillTx/>
                <a:latin typeface="Consolas"/>
              </a:rPr>
              <a:t>failure</a:t>
            </a:r>
            <a:endParaRPr lang="en-US" sz="1100" b="0" u="none" strike="noStrike">
              <a:solidFill>
                <a:srgbClr val="000000"/>
              </a:solidFill>
              <a:effectLst/>
              <a:uFillTx/>
              <a:latin typeface="Arial"/>
            </a:endParaRPr>
          </a:p>
          <a:p>
            <a:pPr algn="l" defTabSz="914400">
              <a:lnSpc>
                <a:spcPct val="100000"/>
              </a:lnSpc>
              <a:spcAft>
                <a:spcPts val="120"/>
              </a:spcAft>
              <a:buNone/>
            </a:pPr>
            <a:r>
              <a:rPr lang="en-US" sz="1100" b="0" u="none" strike="noStrike" dirty="0">
                <a:solidFill>
                  <a:srgbClr val="EAF2FF"/>
                </a:solidFill>
                <a:effectLst/>
                <a:uFillTx/>
                <a:latin typeface="Consolas"/>
              </a:rPr>
              <a:t>    </a:t>
            </a:r>
            <a:r>
              <a:rPr lang="en-US" sz="1100" b="1" u="none" strike="noStrike" dirty="0">
                <a:solidFill>
                  <a:srgbClr val="F6A01A"/>
                </a:solidFill>
                <a:effectLst/>
                <a:uFillTx/>
                <a:latin typeface="Consolas"/>
              </a:rPr>
              <a:t>return</a:t>
            </a:r>
            <a:r>
              <a:rPr lang="en-US" sz="1100" b="0" u="none" strike="noStrike" dirty="0">
                <a:solidFill>
                  <a:srgbClr val="EAF2FF"/>
                </a:solidFill>
                <a:effectLst/>
                <a:uFillTx/>
                <a:latin typeface="Consolas"/>
              </a:rPr>
              <a:t> BEST-FIRST-SEARCH(problem, PATH-COST)</a:t>
            </a:r>
            <a:endParaRPr lang="en-US" sz="1100" b="0" u="none" strike="noStrike">
              <a:solidFill>
                <a:srgbClr val="000000"/>
              </a:solidFill>
              <a:effectLst/>
              <a:uFillTx/>
              <a:latin typeface="Arial"/>
            </a:endParaRPr>
          </a:p>
        </p:txBody>
      </p:sp>
      <p:sp>
        <p:nvSpPr>
          <p:cNvPr id="2009" name="Text 2009"/>
          <p:cNvSpPr/>
          <p:nvPr/>
        </p:nvSpPr>
        <p:spPr>
          <a:xfrm>
            <a:off x="502920" y="2560000"/>
            <a:ext cx="1118616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So what did BFS change, and why can uniform-cost search not copy it?</a:t>
            </a:r>
            <a:endParaRPr lang="en-US" sz="1100" b="0" u="none" strike="noStrike">
              <a:solidFill>
                <a:srgbClr val="000000"/>
              </a:solidFill>
              <a:effectLst/>
              <a:uFillTx/>
              <a:latin typeface="Arial"/>
            </a:endParaRPr>
          </a:p>
        </p:txBody>
      </p:sp>
      <p:sp>
        <p:nvSpPr>
          <p:cNvPr id="2010" name="Cmp 2010"/>
          <p:cNvSpPr/>
          <p:nvPr/>
        </p:nvSpPr>
        <p:spPr>
          <a:xfrm>
            <a:off x="50292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1" name="Text 2011"/>
          <p:cNvSpPr/>
          <p:nvPr/>
        </p:nvSpPr>
        <p:spPr>
          <a:xfrm>
            <a:off x="70866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frontier</a:t>
            </a:r>
            <a:endParaRPr lang="en-US" sz="1100" b="0" u="none" strike="noStrike">
              <a:solidFill>
                <a:srgbClr val="000000"/>
              </a:solidFill>
              <a:effectLst/>
              <a:uFillTx/>
              <a:latin typeface="Arial"/>
            </a:endParaRPr>
          </a:p>
        </p:txBody>
      </p:sp>
      <p:sp>
        <p:nvSpPr>
          <p:cNvPr id="2012" name="Text 2012"/>
          <p:cNvSpPr/>
          <p:nvPr/>
        </p:nvSpPr>
        <p:spPr>
          <a:xfrm>
            <a:off x="70866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a FIFO queue — depth order</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a priority queue on g(n) — cost order</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With unequal action costs, the shallowest path is no longer the cheapest one.</a:t>
            </a:r>
            <a:endParaRPr lang="en-US" sz="1100" b="0" u="none" strike="noStrike">
              <a:solidFill>
                <a:srgbClr val="000000"/>
              </a:solidFill>
              <a:effectLst/>
              <a:uFillTx/>
              <a:latin typeface="Arial"/>
            </a:endParaRPr>
          </a:p>
        </p:txBody>
      </p:sp>
      <p:sp>
        <p:nvSpPr>
          <p:cNvPr id="2013" name="Cmp 2013"/>
          <p:cNvSpPr/>
          <p:nvPr/>
        </p:nvSpPr>
        <p:spPr>
          <a:xfrm>
            <a:off x="432308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4" name="Text 2014"/>
          <p:cNvSpPr/>
          <p:nvPr/>
        </p:nvSpPr>
        <p:spPr>
          <a:xfrm>
            <a:off x="452882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goal test</a:t>
            </a:r>
            <a:endParaRPr lang="en-US" sz="1100" b="0" u="none" strike="noStrike">
              <a:solidFill>
                <a:srgbClr val="000000"/>
              </a:solidFill>
              <a:effectLst/>
              <a:uFillTx/>
              <a:latin typeface="Arial"/>
            </a:endParaRPr>
          </a:p>
        </p:txBody>
      </p:sp>
      <p:sp>
        <p:nvSpPr>
          <p:cNvPr id="2015" name="Text 2015"/>
          <p:cNvSpPr/>
          <p:nvPr/>
        </p:nvSpPr>
        <p:spPr>
          <a:xfrm>
            <a:off x="452882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on generation</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on expansion, when the node is popped</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A goal can be generated on an expensive path long before a cheaper path to it is found.</a:t>
            </a:r>
            <a:endParaRPr lang="en-US" sz="1100" b="0" u="none" strike="noStrike">
              <a:solidFill>
                <a:srgbClr val="000000"/>
              </a:solidFill>
              <a:effectLst/>
              <a:uFillTx/>
              <a:latin typeface="Arial"/>
            </a:endParaRPr>
          </a:p>
        </p:txBody>
      </p:sp>
      <p:sp>
        <p:nvSpPr>
          <p:cNvPr id="2016" name="Cmp 2016"/>
          <p:cNvSpPr/>
          <p:nvPr/>
        </p:nvSpPr>
        <p:spPr>
          <a:xfrm>
            <a:off x="814324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7" name="Text 2017"/>
          <p:cNvSpPr/>
          <p:nvPr/>
        </p:nvSpPr>
        <p:spPr>
          <a:xfrm>
            <a:off x="834898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reached table</a:t>
            </a:r>
            <a:endParaRPr lang="en-US" sz="1100" b="0" u="none" strike="noStrike">
              <a:solidFill>
                <a:srgbClr val="000000"/>
              </a:solidFill>
              <a:effectLst/>
              <a:uFillTx/>
              <a:latin typeface="Arial"/>
            </a:endParaRPr>
          </a:p>
        </p:txBody>
      </p:sp>
      <p:sp>
        <p:nvSpPr>
          <p:cNvPr id="2018" name="Text 2018"/>
          <p:cNvSpPr/>
          <p:nvPr/>
        </p:nvSpPr>
        <p:spPr>
          <a:xfrm>
            <a:off x="834898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a set of states</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a state-to-node map, plus the re-add rule</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A cheaper path to an already-reached state has to be able to replace the entry.</a:t>
            </a:r>
            <a:endParaRPr lang="en-US" sz="1100" b="0" u="none" strike="noStrike">
              <a:solidFill>
                <a:srgbClr val="000000"/>
              </a:solidFill>
              <a:effectLst/>
              <a:uFillTx/>
              <a:latin typeface="Arial"/>
            </a:endParaRPr>
          </a:p>
        </p:txBody>
      </p:sp>
      <p:sp>
        <p:nvSpPr>
          <p:cNvPr id="2019" name="Banner 2019"/>
          <p:cNvSpPr/>
          <p:nvPr/>
        </p:nvSpPr>
        <p:spPr>
          <a:xfrm>
            <a:off x="502920" y="5090000"/>
            <a:ext cx="11186160" cy="10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Set every action cost to 1 and uniform-cost search expands nodes in exactly BFS's order.</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Breadth-first search is the special case, not a different algorithm. That is why Figure 3.9 prints them together — and why the whole of Section 3.4 is one loop with a different priority.</a:t>
            </a:r>
            <a:endParaRPr lang="en-US" sz="1100" b="0" u="none" strike="noStrike">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9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9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9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UCS Build: Do Not Stop When a Goal Is Generated</a:t>
            </a:r>
            <a:endParaRPr lang="en-US" sz="2600" b="0" u="none" strike="noStrike">
              <a:solidFill>
                <a:srgbClr val="000000"/>
              </a:solidFill>
              <a:effectLst/>
              <a:uFillTx/>
              <a:latin typeface="Arial"/>
            </a:endParaRPr>
          </a:p>
        </p:txBody>
      </p:sp>
      <p:sp>
        <p:nvSpPr>
          <p:cNvPr id="99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9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00" name="Shape 5"/>
          <p:cNvSpPr/>
          <p:nvPr/>
        </p:nvSpPr>
        <p:spPr>
          <a:xfrm>
            <a:off x="1078230" y="2213610"/>
            <a:ext cx="1828800" cy="91440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1" name="Text 6"/>
          <p:cNvSpPr/>
          <p:nvPr/>
        </p:nvSpPr>
        <p:spPr>
          <a:xfrm>
            <a:off x="1946730" y="251917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80</a:t>
            </a:r>
            <a:endParaRPr lang="en-US" sz="900" b="0" u="none" strike="noStrike" dirty="0">
              <a:solidFill>
                <a:srgbClr val="000000"/>
              </a:solidFill>
              <a:effectLst/>
              <a:uFillTx/>
              <a:latin typeface="Arial"/>
            </a:endParaRPr>
          </a:p>
        </p:txBody>
      </p:sp>
      <p:sp>
        <p:nvSpPr>
          <p:cNvPr id="1002" name="Shape 7"/>
          <p:cNvSpPr/>
          <p:nvPr/>
        </p:nvSpPr>
        <p:spPr>
          <a:xfrm flipV="1">
            <a:off x="1078230" y="1482090"/>
            <a:ext cx="1828800" cy="73152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3" name="Text 8"/>
          <p:cNvSpPr/>
          <p:nvPr/>
        </p:nvSpPr>
        <p:spPr>
          <a:xfrm>
            <a:off x="1838780" y="169948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99</a:t>
            </a:r>
            <a:endParaRPr lang="en-US" sz="900" b="0" u="none" strike="noStrike" dirty="0">
              <a:solidFill>
                <a:srgbClr val="000000"/>
              </a:solidFill>
              <a:effectLst/>
              <a:uFillTx/>
              <a:latin typeface="Arial"/>
            </a:endParaRPr>
          </a:p>
        </p:txBody>
      </p:sp>
      <p:sp>
        <p:nvSpPr>
          <p:cNvPr id="1004" name="Shape 9"/>
          <p:cNvSpPr/>
          <p:nvPr/>
        </p:nvSpPr>
        <p:spPr>
          <a:xfrm>
            <a:off x="2907030" y="3128010"/>
            <a:ext cx="1965960" cy="36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005" name="Text 10"/>
          <p:cNvSpPr/>
          <p:nvPr/>
        </p:nvSpPr>
        <p:spPr>
          <a:xfrm>
            <a:off x="3753030" y="299085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5C6B80"/>
                </a:solidFill>
                <a:effectLst/>
                <a:uFillTx/>
                <a:latin typeface="Aptos"/>
              </a:rPr>
              <a:t>97</a:t>
            </a:r>
            <a:endParaRPr lang="en-US" sz="900" b="0" u="none" strike="noStrike">
              <a:solidFill>
                <a:srgbClr val="000000"/>
              </a:solidFill>
              <a:effectLst/>
              <a:uFillTx/>
              <a:latin typeface="Arial"/>
            </a:endParaRPr>
          </a:p>
        </p:txBody>
      </p:sp>
      <p:sp>
        <p:nvSpPr>
          <p:cNvPr id="1006" name="Shape 11"/>
          <p:cNvSpPr/>
          <p:nvPr/>
        </p:nvSpPr>
        <p:spPr>
          <a:xfrm flipV="1">
            <a:off x="4872990" y="2213610"/>
            <a:ext cx="1874520" cy="91440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7" name="Text 12"/>
          <p:cNvSpPr/>
          <p:nvPr/>
        </p:nvSpPr>
        <p:spPr>
          <a:xfrm>
            <a:off x="5628420" y="253365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101</a:t>
            </a:r>
            <a:endParaRPr lang="en-US" sz="900" b="0" u="none" strike="noStrike" dirty="0">
              <a:solidFill>
                <a:srgbClr val="000000"/>
              </a:solidFill>
              <a:effectLst/>
              <a:uFillTx/>
              <a:latin typeface="Arial"/>
            </a:endParaRPr>
          </a:p>
        </p:txBody>
      </p:sp>
      <p:sp>
        <p:nvSpPr>
          <p:cNvPr id="1008" name="Shape 13"/>
          <p:cNvSpPr/>
          <p:nvPr/>
        </p:nvSpPr>
        <p:spPr>
          <a:xfrm>
            <a:off x="2907030" y="1482090"/>
            <a:ext cx="3840480" cy="73152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9" name="Text 14"/>
          <p:cNvSpPr/>
          <p:nvPr/>
        </p:nvSpPr>
        <p:spPr>
          <a:xfrm>
            <a:off x="4709160" y="169164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5C6B80"/>
                </a:solidFill>
                <a:effectLst/>
                <a:uFillTx/>
                <a:latin typeface="Aptos"/>
              </a:rPr>
              <a:t>211</a:t>
            </a:r>
            <a:endParaRPr lang="en-US" sz="900" b="0" u="none" strike="noStrike">
              <a:solidFill>
                <a:srgbClr val="000000"/>
              </a:solidFill>
              <a:effectLst/>
              <a:uFillTx/>
              <a:latin typeface="Arial"/>
            </a:endParaRPr>
          </a:p>
        </p:txBody>
      </p:sp>
      <p:sp>
        <p:nvSpPr>
          <p:cNvPr id="1010" name="Text 15"/>
          <p:cNvSpPr/>
          <p:nvPr/>
        </p:nvSpPr>
        <p:spPr>
          <a:xfrm>
            <a:off x="932070" y="2067450"/>
            <a:ext cx="292320" cy="292320"/>
          </a:xfrm>
          <a:prstGeom prst="ellipse">
            <a:avLst/>
          </a:prstGeom>
          <a:solidFill>
            <a:srgbClr val="FFE5B6"/>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011" name="Text 16"/>
          <p:cNvSpPr/>
          <p:nvPr/>
        </p:nvSpPr>
        <p:spPr>
          <a:xfrm>
            <a:off x="556260" y="245052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102A4C"/>
                </a:solidFill>
                <a:effectLst/>
                <a:uFillTx/>
                <a:latin typeface="Aptos"/>
              </a:rPr>
              <a:t>Sibiu</a:t>
            </a:r>
            <a:endParaRPr lang="en-US" sz="900" b="0" u="none" strike="noStrike" dirty="0">
              <a:solidFill>
                <a:srgbClr val="000000"/>
              </a:solidFill>
              <a:effectLst/>
              <a:uFillTx/>
              <a:latin typeface="Arial"/>
            </a:endParaRPr>
          </a:p>
        </p:txBody>
      </p:sp>
      <p:sp>
        <p:nvSpPr>
          <p:cNvPr id="1012" name="Text 17"/>
          <p:cNvSpPr/>
          <p:nvPr/>
        </p:nvSpPr>
        <p:spPr>
          <a:xfrm>
            <a:off x="2760870" y="298185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013" name="Text 18"/>
          <p:cNvSpPr/>
          <p:nvPr/>
        </p:nvSpPr>
        <p:spPr>
          <a:xfrm>
            <a:off x="2404110" y="3383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Rimnicu</a:t>
            </a:r>
            <a:endParaRPr lang="en-US" sz="900" b="0" u="none" strike="noStrike">
              <a:solidFill>
                <a:srgbClr val="000000"/>
              </a:solidFill>
              <a:effectLst/>
              <a:uFillTx/>
              <a:latin typeface="Arial"/>
            </a:endParaRPr>
          </a:p>
        </p:txBody>
      </p:sp>
      <p:sp>
        <p:nvSpPr>
          <p:cNvPr id="1014" name="Text 19"/>
          <p:cNvSpPr/>
          <p:nvPr/>
        </p:nvSpPr>
        <p:spPr>
          <a:xfrm>
            <a:off x="2779920" y="13168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015" name="Text 20"/>
          <p:cNvSpPr/>
          <p:nvPr/>
        </p:nvSpPr>
        <p:spPr>
          <a:xfrm>
            <a:off x="2423340" y="1646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err="1">
                <a:solidFill>
                  <a:srgbClr val="102A4C"/>
                </a:solidFill>
                <a:effectLst/>
                <a:uFillTx/>
                <a:latin typeface="Aptos"/>
              </a:rPr>
              <a:t>Fagaras</a:t>
            </a:r>
            <a:endParaRPr lang="en-US" sz="900" b="0" u="none" strike="noStrike" dirty="0">
              <a:solidFill>
                <a:srgbClr val="000000"/>
              </a:solidFill>
              <a:effectLst/>
              <a:uFillTx/>
              <a:latin typeface="Arial"/>
            </a:endParaRPr>
          </a:p>
        </p:txBody>
      </p:sp>
      <p:sp>
        <p:nvSpPr>
          <p:cNvPr id="1016" name="Text 21"/>
          <p:cNvSpPr/>
          <p:nvPr/>
        </p:nvSpPr>
        <p:spPr>
          <a:xfrm>
            <a:off x="4726830" y="298185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017" name="Text 22"/>
          <p:cNvSpPr/>
          <p:nvPr/>
        </p:nvSpPr>
        <p:spPr>
          <a:xfrm>
            <a:off x="4370070" y="3383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Pitesti</a:t>
            </a:r>
            <a:endParaRPr lang="en-US" sz="900" b="0" u="none" strike="noStrike">
              <a:solidFill>
                <a:srgbClr val="000000"/>
              </a:solidFill>
              <a:effectLst/>
              <a:uFillTx/>
              <a:latin typeface="Arial"/>
            </a:endParaRPr>
          </a:p>
        </p:txBody>
      </p:sp>
      <p:sp>
        <p:nvSpPr>
          <p:cNvPr id="1018" name="Text 23"/>
          <p:cNvSpPr/>
          <p:nvPr/>
        </p:nvSpPr>
        <p:spPr>
          <a:xfrm>
            <a:off x="6620400" y="20484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019" name="Text 24"/>
          <p:cNvSpPr/>
          <p:nvPr/>
        </p:nvSpPr>
        <p:spPr>
          <a:xfrm>
            <a:off x="6263640" y="245052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Bucharest</a:t>
            </a:r>
            <a:endParaRPr lang="en-US" sz="900" b="0" u="none" strike="noStrike">
              <a:solidFill>
                <a:srgbClr val="000000"/>
              </a:solidFill>
              <a:effectLst/>
              <a:uFillTx/>
              <a:latin typeface="Arial"/>
            </a:endParaRPr>
          </a:p>
        </p:txBody>
      </p:sp>
      <p:sp>
        <p:nvSpPr>
          <p:cNvPr id="1020" name="Text 25"/>
          <p:cNvSpPr/>
          <p:nvPr/>
        </p:nvSpPr>
        <p:spPr>
          <a:xfrm>
            <a:off x="7635240" y="1417320"/>
            <a:ext cx="3748680" cy="4023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450" b="0" u="none" strike="noStrike">
                <a:solidFill>
                  <a:srgbClr val="102A4C"/>
                </a:solidFill>
                <a:effectLst/>
                <a:uFillTx/>
                <a:latin typeface="Aptos"/>
              </a:rPr>
              <a:t>From Sibiu: Rimnicu = 80; Fagaras = 99</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Expand Rimnicu first, then Fagaras</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Fagaras generates Bucharest with cost 310</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But Pitesti later generates Bucharest with cost 278</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Stop only when the lowest-cost selected node is a goal</a:t>
            </a:r>
            <a:endParaRPr lang="en-US" sz="1450" b="0" u="none" strike="noStrike">
              <a:solidFill>
                <a:srgbClr val="000000"/>
              </a:solidFill>
              <a:effectLst/>
              <a:uFillTx/>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2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2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2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Trace Uniform-Cost Search</a:t>
            </a:r>
            <a:endParaRPr lang="en-US" sz="2600" b="0" u="none" strike="noStrike">
              <a:solidFill>
                <a:srgbClr val="000000"/>
              </a:solidFill>
              <a:effectLst/>
              <a:uFillTx/>
              <a:latin typeface="Arial"/>
            </a:endParaRPr>
          </a:p>
        </p:txBody>
      </p:sp>
      <p:sp>
        <p:nvSpPr>
          <p:cNvPr id="102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2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26" name="Connector 6"/>
          <p:cNvCxnSpPr/>
          <p:nvPr/>
        </p:nvCxnSpPr>
        <p:spPr>
          <a:xfrm flipV="1">
            <a:off x="1371600" y="2286000"/>
            <a:ext cx="1600560" cy="914760"/>
          </a:xfrm>
          <a:prstGeom prst="straightConnector1">
            <a:avLst/>
          </a:prstGeom>
          <a:ln w="19050">
            <a:solidFill>
              <a:srgbClr val="5C6B80"/>
            </a:solidFill>
          </a:ln>
        </p:spPr>
      </p:cxnSp>
      <p:sp>
        <p:nvSpPr>
          <p:cNvPr id="1027"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28" name="Connector 8"/>
          <p:cNvCxnSpPr/>
          <p:nvPr/>
        </p:nvCxnSpPr>
        <p:spPr>
          <a:xfrm>
            <a:off x="1371600" y="3200400"/>
            <a:ext cx="1600560" cy="914760"/>
          </a:xfrm>
          <a:prstGeom prst="straightConnector1">
            <a:avLst/>
          </a:prstGeom>
          <a:ln w="19050">
            <a:solidFill>
              <a:srgbClr val="5C6B80"/>
            </a:solidFill>
          </a:ln>
        </p:spPr>
      </p:cxnSp>
      <p:sp>
        <p:nvSpPr>
          <p:cNvPr id="1029"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30" name="Connector 10"/>
          <p:cNvCxnSpPr/>
          <p:nvPr/>
        </p:nvCxnSpPr>
        <p:spPr>
          <a:xfrm>
            <a:off x="2971800" y="2286000"/>
            <a:ext cx="2514960" cy="914760"/>
          </a:xfrm>
          <a:prstGeom prst="straightConnector1">
            <a:avLst/>
          </a:prstGeom>
          <a:ln w="19050">
            <a:solidFill>
              <a:srgbClr val="5C6B80"/>
            </a:solidFill>
          </a:ln>
        </p:spPr>
      </p:cxnSp>
      <p:sp>
        <p:nvSpPr>
          <p:cNvPr id="1031"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32" name="Connector 12"/>
          <p:cNvCxnSpPr/>
          <p:nvPr/>
        </p:nvCxnSpPr>
        <p:spPr>
          <a:xfrm>
            <a:off x="2971800" y="4114800"/>
            <a:ext cx="1371960" cy="360"/>
          </a:xfrm>
          <a:prstGeom prst="straightConnector1">
            <a:avLst/>
          </a:prstGeom>
          <a:ln w="19050">
            <a:solidFill>
              <a:srgbClr val="5C6B80"/>
            </a:solidFill>
          </a:ln>
        </p:spPr>
      </p:cxnSp>
      <p:sp>
        <p:nvSpPr>
          <p:cNvPr id="1033"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34" name="Connector 14"/>
          <p:cNvCxnSpPr/>
          <p:nvPr/>
        </p:nvCxnSpPr>
        <p:spPr>
          <a:xfrm flipV="1">
            <a:off x="4343400" y="3200400"/>
            <a:ext cx="1143360" cy="914760"/>
          </a:xfrm>
          <a:prstGeom prst="straightConnector1">
            <a:avLst/>
          </a:prstGeom>
          <a:ln w="19050">
            <a:solidFill>
              <a:srgbClr val="5C6B80"/>
            </a:solidFill>
          </a:ln>
        </p:spPr>
      </p:cxnSp>
      <p:sp>
        <p:nvSpPr>
          <p:cNvPr id="1035"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36"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37"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38"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39"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40"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41" name="Rectangle 21"/>
          <p:cNvSpPr/>
          <p:nvPr/>
        </p:nvSpPr>
        <p:spPr>
          <a:xfrm>
            <a:off x="777240" y="4846320"/>
            <a:ext cx="4800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00" b="0" u="none" strike="noStrike">
                <a:solidFill>
                  <a:srgbClr val="5C6B80"/>
                </a:solidFill>
                <a:effectLst/>
                <a:uFillTx/>
                <a:latin typeface="Aptos"/>
              </a:rPr>
              <a:t>Edge labels are action costs. Start at S, goal is G.</a:t>
            </a:r>
            <a:endParaRPr lang="en-US" sz="1200" b="0" u="none" strike="noStrike">
              <a:solidFill>
                <a:srgbClr val="000000"/>
              </a:solidFill>
              <a:effectLst/>
              <a:uFillTx/>
              <a:latin typeface="Arial"/>
            </a:endParaRPr>
          </a:p>
        </p:txBody>
      </p:sp>
      <p:sp>
        <p:nvSpPr>
          <p:cNvPr id="1042" name="Rectangle 22"/>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43" name="Rectangle 23"/>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44" name="Rectangle 24"/>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45" name="Rectangle 25"/>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1</a:t>
            </a:r>
            <a:endParaRPr lang="en-US" sz="1200" b="0" u="none" strike="noStrike">
              <a:solidFill>
                <a:srgbClr val="000000"/>
              </a:solidFill>
              <a:effectLst/>
              <a:uFillTx/>
              <a:latin typeface="Arial"/>
            </a:endParaRPr>
          </a:p>
        </p:txBody>
      </p:sp>
      <p:sp>
        <p:nvSpPr>
          <p:cNvPr id="1046" name="Rectangle 26"/>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47" name="Rectangle 27"/>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48" name="Rectangle 28"/>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2</a:t>
            </a:r>
            <a:endParaRPr lang="en-US" sz="1200" b="0" u="none" strike="noStrike">
              <a:solidFill>
                <a:srgbClr val="000000"/>
              </a:solidFill>
              <a:effectLst/>
              <a:uFillTx/>
              <a:latin typeface="Arial"/>
            </a:endParaRPr>
          </a:p>
        </p:txBody>
      </p:sp>
      <p:sp>
        <p:nvSpPr>
          <p:cNvPr id="1049" name="Rectangle 29"/>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0" name="Rectangle 30"/>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1" name="Rectangle 31"/>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3</a:t>
            </a:r>
            <a:endParaRPr lang="en-US" sz="1200" b="0" u="none" strike="noStrike">
              <a:solidFill>
                <a:srgbClr val="000000"/>
              </a:solidFill>
              <a:effectLst/>
              <a:uFillTx/>
              <a:latin typeface="Arial"/>
            </a:endParaRPr>
          </a:p>
        </p:txBody>
      </p:sp>
      <p:sp>
        <p:nvSpPr>
          <p:cNvPr id="1052" name="Rectangle 32"/>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3" name="Rectangle 33"/>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4" name="Rectangle 34"/>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4</a:t>
            </a:r>
            <a:endParaRPr lang="en-US" sz="1200" b="0" u="none" strike="noStrike">
              <a:solidFill>
                <a:srgbClr val="000000"/>
              </a:solidFill>
              <a:effectLst/>
              <a:uFillTx/>
              <a:latin typeface="Arial"/>
            </a:endParaRPr>
          </a:p>
        </p:txBody>
      </p:sp>
      <p:sp>
        <p:nvSpPr>
          <p:cNvPr id="1055" name="Rectangle 35"/>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6" name="Rectangle 36"/>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7" name="Rectangle 37"/>
          <p:cNvSpPr/>
          <p:nvPr/>
        </p:nvSpPr>
        <p:spPr>
          <a:xfrm>
            <a:off x="6385680" y="342900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5</a:t>
            </a:r>
            <a:endParaRPr lang="en-US" sz="1200" b="0" u="none" strike="noStrike">
              <a:solidFill>
                <a:srgbClr val="000000"/>
              </a:solidFill>
              <a:effectLst/>
              <a:uFillTx/>
              <a:latin typeface="Arial"/>
            </a:endParaRPr>
          </a:p>
        </p:txBody>
      </p:sp>
      <p:sp>
        <p:nvSpPr>
          <p:cNvPr id="1058" name="Rectangle 38"/>
          <p:cNvSpPr/>
          <p:nvPr/>
        </p:nvSpPr>
        <p:spPr>
          <a:xfrm>
            <a:off x="7025760" y="342900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9" name="Rectangle 39"/>
          <p:cNvSpPr/>
          <p:nvPr/>
        </p:nvSpPr>
        <p:spPr>
          <a:xfrm>
            <a:off x="8580240" y="342900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0" name="Rectangle 40"/>
          <p:cNvSpPr/>
          <p:nvPr/>
        </p:nvSpPr>
        <p:spPr>
          <a:xfrm>
            <a:off x="6385680" y="370332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350" b="1" u="none" strike="noStrike">
                <a:solidFill>
                  <a:srgbClr val="112E5C"/>
                </a:solidFill>
                <a:effectLst/>
                <a:uFillTx/>
                <a:latin typeface="Aptos"/>
              </a:rPr>
              <a:t>Which node is returned, at what cost, and on which pop?</a:t>
            </a:r>
            <a:endParaRPr lang="en-US" sz="1350" b="0" u="none" strike="noStrike">
              <a:solidFill>
                <a:srgbClr val="000000"/>
              </a:solidFill>
              <a:effectLst/>
              <a:uFillTx/>
              <a:latin typeface="Arial"/>
            </a:endParaRPr>
          </a:p>
        </p:txBody>
      </p:sp>
      <p:sp>
        <p:nvSpPr>
          <p:cNvPr id="1061" name="Rectangle 41"/>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Remember: the goal test happens when a node is popped, not when it is generated.</a:t>
            </a:r>
            <a:endParaRPr lang="en-US" sz="170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6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The Trace, Worked</a:t>
            </a:r>
            <a:endParaRPr lang="en-US" sz="2600" b="0" u="none" strike="noStrike">
              <a:solidFill>
                <a:srgbClr val="000000"/>
              </a:solidFill>
              <a:effectLst/>
              <a:uFillTx/>
              <a:latin typeface="Arial"/>
            </a:endParaRPr>
          </a:p>
        </p:txBody>
      </p:sp>
      <p:sp>
        <p:nvSpPr>
          <p:cNvPr id="106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6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67" name="Connector 6"/>
          <p:cNvCxnSpPr/>
          <p:nvPr/>
        </p:nvCxnSpPr>
        <p:spPr>
          <a:xfrm flipV="1">
            <a:off x="1371600" y="2286000"/>
            <a:ext cx="1600560" cy="914760"/>
          </a:xfrm>
          <a:prstGeom prst="straightConnector1">
            <a:avLst/>
          </a:prstGeom>
          <a:ln w="19050">
            <a:solidFill>
              <a:srgbClr val="5C6B80"/>
            </a:solidFill>
          </a:ln>
        </p:spPr>
      </p:cxnSp>
      <p:sp>
        <p:nvSpPr>
          <p:cNvPr id="1068"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69" name="Connector 8"/>
          <p:cNvCxnSpPr/>
          <p:nvPr/>
        </p:nvCxnSpPr>
        <p:spPr>
          <a:xfrm>
            <a:off x="1371600" y="3200400"/>
            <a:ext cx="1600560" cy="914760"/>
          </a:xfrm>
          <a:prstGeom prst="straightConnector1">
            <a:avLst/>
          </a:prstGeom>
          <a:ln w="19050">
            <a:solidFill>
              <a:srgbClr val="5C6B80"/>
            </a:solidFill>
          </a:ln>
        </p:spPr>
      </p:cxnSp>
      <p:sp>
        <p:nvSpPr>
          <p:cNvPr id="1070"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71" name="Connector 10"/>
          <p:cNvCxnSpPr/>
          <p:nvPr/>
        </p:nvCxnSpPr>
        <p:spPr>
          <a:xfrm>
            <a:off x="2971800" y="2286000"/>
            <a:ext cx="2514960" cy="914760"/>
          </a:xfrm>
          <a:prstGeom prst="straightConnector1">
            <a:avLst/>
          </a:prstGeom>
          <a:ln w="19050">
            <a:solidFill>
              <a:srgbClr val="5C6B80"/>
            </a:solidFill>
          </a:ln>
        </p:spPr>
      </p:cxnSp>
      <p:sp>
        <p:nvSpPr>
          <p:cNvPr id="1072"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73" name="Connector 12"/>
          <p:cNvCxnSpPr/>
          <p:nvPr/>
        </p:nvCxnSpPr>
        <p:spPr>
          <a:xfrm>
            <a:off x="2971800" y="4114800"/>
            <a:ext cx="1371960" cy="360"/>
          </a:xfrm>
          <a:prstGeom prst="straightConnector1">
            <a:avLst/>
          </a:prstGeom>
          <a:ln w="19050">
            <a:solidFill>
              <a:srgbClr val="5C6B80"/>
            </a:solidFill>
          </a:ln>
        </p:spPr>
      </p:cxnSp>
      <p:sp>
        <p:nvSpPr>
          <p:cNvPr id="1074"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75" name="Connector 14"/>
          <p:cNvCxnSpPr/>
          <p:nvPr/>
        </p:nvCxnSpPr>
        <p:spPr>
          <a:xfrm flipV="1">
            <a:off x="4343400" y="3200400"/>
            <a:ext cx="1143360" cy="914760"/>
          </a:xfrm>
          <a:prstGeom prst="straightConnector1">
            <a:avLst/>
          </a:prstGeom>
          <a:ln w="19050">
            <a:solidFill>
              <a:srgbClr val="5C6B80"/>
            </a:solidFill>
          </a:ln>
        </p:spPr>
      </p:cxnSp>
      <p:sp>
        <p:nvSpPr>
          <p:cNvPr id="1076"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77"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78"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79"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80"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81"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82" name="Rectangle 21"/>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83" name="Rectangle 22"/>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84" name="Rectangle 23"/>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85" name="Rectangle 24"/>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1</a:t>
            </a:r>
            <a:endParaRPr lang="en-US" sz="1200" b="0" u="none" strike="noStrike">
              <a:solidFill>
                <a:srgbClr val="000000"/>
              </a:solidFill>
              <a:effectLst/>
              <a:uFillTx/>
              <a:latin typeface="Arial"/>
            </a:endParaRPr>
          </a:p>
        </p:txBody>
      </p:sp>
      <p:sp>
        <p:nvSpPr>
          <p:cNvPr id="1086" name="Rectangle 25"/>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S (0)</a:t>
            </a:r>
            <a:endParaRPr lang="en-US" sz="1200" b="0" u="none" strike="noStrike">
              <a:solidFill>
                <a:srgbClr val="000000"/>
              </a:solidFill>
              <a:effectLst/>
              <a:uFillTx/>
              <a:latin typeface="Arial"/>
            </a:endParaRPr>
          </a:p>
        </p:txBody>
      </p:sp>
      <p:sp>
        <p:nvSpPr>
          <p:cNvPr id="1087" name="Rectangle 26"/>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A(1), B(2)</a:t>
            </a:r>
            <a:endParaRPr lang="en-US" sz="1200" b="0" u="none" strike="noStrike">
              <a:solidFill>
                <a:srgbClr val="000000"/>
              </a:solidFill>
              <a:effectLst/>
              <a:uFillTx/>
              <a:latin typeface="Arial"/>
            </a:endParaRPr>
          </a:p>
        </p:txBody>
      </p:sp>
      <p:sp>
        <p:nvSpPr>
          <p:cNvPr id="1088" name="Rectangle 27"/>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2</a:t>
            </a:r>
            <a:endParaRPr lang="en-US" sz="1200" b="0" u="none" strike="noStrike">
              <a:solidFill>
                <a:srgbClr val="000000"/>
              </a:solidFill>
              <a:effectLst/>
              <a:uFillTx/>
              <a:latin typeface="Arial"/>
            </a:endParaRPr>
          </a:p>
        </p:txBody>
      </p:sp>
      <p:sp>
        <p:nvSpPr>
          <p:cNvPr id="1089" name="Rectangle 28"/>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A (1)</a:t>
            </a:r>
            <a:endParaRPr lang="en-US" sz="1200" b="0" u="none" strike="noStrike">
              <a:solidFill>
                <a:srgbClr val="000000"/>
              </a:solidFill>
              <a:effectLst/>
              <a:uFillTx/>
              <a:latin typeface="Arial"/>
            </a:endParaRPr>
          </a:p>
        </p:txBody>
      </p:sp>
      <p:sp>
        <p:nvSpPr>
          <p:cNvPr id="1090" name="Rectangle 29"/>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B(2), G(9)</a:t>
            </a:r>
            <a:endParaRPr lang="en-US" sz="1200" b="0" u="none" strike="noStrike">
              <a:solidFill>
                <a:srgbClr val="000000"/>
              </a:solidFill>
              <a:effectLst/>
              <a:uFillTx/>
              <a:latin typeface="Arial"/>
            </a:endParaRPr>
          </a:p>
        </p:txBody>
      </p:sp>
      <p:sp>
        <p:nvSpPr>
          <p:cNvPr id="1091" name="Rectangle 30"/>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3</a:t>
            </a:r>
            <a:endParaRPr lang="en-US" sz="1200" b="0" u="none" strike="noStrike">
              <a:solidFill>
                <a:srgbClr val="000000"/>
              </a:solidFill>
              <a:effectLst/>
              <a:uFillTx/>
              <a:latin typeface="Arial"/>
            </a:endParaRPr>
          </a:p>
        </p:txBody>
      </p:sp>
      <p:sp>
        <p:nvSpPr>
          <p:cNvPr id="1092" name="Rectangle 31"/>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B (2)</a:t>
            </a:r>
            <a:endParaRPr lang="en-US" sz="1200" b="0" u="none" strike="noStrike">
              <a:solidFill>
                <a:srgbClr val="000000"/>
              </a:solidFill>
              <a:effectLst/>
              <a:uFillTx/>
              <a:latin typeface="Arial"/>
            </a:endParaRPr>
          </a:p>
        </p:txBody>
      </p:sp>
      <p:sp>
        <p:nvSpPr>
          <p:cNvPr id="1093" name="Rectangle 32"/>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C(3), G(9)</a:t>
            </a:r>
            <a:endParaRPr lang="en-US" sz="1200" b="0" u="none" strike="noStrike">
              <a:solidFill>
                <a:srgbClr val="000000"/>
              </a:solidFill>
              <a:effectLst/>
              <a:uFillTx/>
              <a:latin typeface="Arial"/>
            </a:endParaRPr>
          </a:p>
        </p:txBody>
      </p:sp>
      <p:sp>
        <p:nvSpPr>
          <p:cNvPr id="1094" name="Rectangle 33"/>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4</a:t>
            </a:r>
            <a:endParaRPr lang="en-US" sz="1200" b="0" u="none" strike="noStrike">
              <a:solidFill>
                <a:srgbClr val="000000"/>
              </a:solidFill>
              <a:effectLst/>
              <a:uFillTx/>
              <a:latin typeface="Arial"/>
            </a:endParaRPr>
          </a:p>
        </p:txBody>
      </p:sp>
      <p:sp>
        <p:nvSpPr>
          <p:cNvPr id="1095" name="Rectangle 34"/>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C (3)</a:t>
            </a:r>
            <a:endParaRPr lang="en-US" sz="1200" b="0" u="none" strike="noStrike">
              <a:solidFill>
                <a:srgbClr val="000000"/>
              </a:solidFill>
              <a:effectLst/>
              <a:uFillTx/>
              <a:latin typeface="Arial"/>
            </a:endParaRPr>
          </a:p>
        </p:txBody>
      </p:sp>
      <p:sp>
        <p:nvSpPr>
          <p:cNvPr id="1096" name="Rectangle 35"/>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G(6)</a:t>
            </a:r>
            <a:endParaRPr lang="en-US" sz="1200" b="0" u="none" strike="noStrike">
              <a:solidFill>
                <a:srgbClr val="000000"/>
              </a:solidFill>
              <a:effectLst/>
              <a:uFillTx/>
              <a:latin typeface="Arial"/>
            </a:endParaRPr>
          </a:p>
        </p:txBody>
      </p:sp>
      <p:sp>
        <p:nvSpPr>
          <p:cNvPr id="1097" name="Rectangle 36"/>
          <p:cNvSpPr/>
          <p:nvPr/>
        </p:nvSpPr>
        <p:spPr>
          <a:xfrm>
            <a:off x="6385680" y="3429000"/>
            <a:ext cx="6397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177245"/>
                </a:solidFill>
                <a:effectLst/>
                <a:uFillTx/>
                <a:latin typeface="Aptos"/>
              </a:rPr>
              <a:t>5</a:t>
            </a:r>
            <a:endParaRPr lang="en-US" sz="1200" b="0" u="none" strike="noStrike">
              <a:solidFill>
                <a:srgbClr val="000000"/>
              </a:solidFill>
              <a:effectLst/>
              <a:uFillTx/>
              <a:latin typeface="Arial"/>
            </a:endParaRPr>
          </a:p>
        </p:txBody>
      </p:sp>
      <p:sp>
        <p:nvSpPr>
          <p:cNvPr id="1098" name="Rectangle 37"/>
          <p:cNvSpPr/>
          <p:nvPr/>
        </p:nvSpPr>
        <p:spPr>
          <a:xfrm>
            <a:off x="7025760" y="3429000"/>
            <a:ext cx="15541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1" u="none" strike="noStrike">
                <a:solidFill>
                  <a:srgbClr val="177245"/>
                </a:solidFill>
                <a:effectLst/>
                <a:uFillTx/>
                <a:latin typeface="Aptos"/>
              </a:rPr>
              <a:t>G (6)</a:t>
            </a:r>
            <a:endParaRPr lang="en-US" sz="1200" b="0" u="none" strike="noStrike">
              <a:solidFill>
                <a:srgbClr val="000000"/>
              </a:solidFill>
              <a:effectLst/>
              <a:uFillTx/>
              <a:latin typeface="Arial"/>
            </a:endParaRPr>
          </a:p>
        </p:txBody>
      </p:sp>
      <p:sp>
        <p:nvSpPr>
          <p:cNvPr id="1099" name="Rectangle 38"/>
          <p:cNvSpPr/>
          <p:nvPr/>
        </p:nvSpPr>
        <p:spPr>
          <a:xfrm>
            <a:off x="8580240" y="3429000"/>
            <a:ext cx="283428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1" u="none" strike="noStrike">
                <a:solidFill>
                  <a:srgbClr val="177245"/>
                </a:solidFill>
                <a:effectLst/>
                <a:uFillTx/>
                <a:latin typeface="Aptos"/>
              </a:rPr>
              <a:t>goal test passes — return</a:t>
            </a:r>
            <a:endParaRPr lang="en-US" sz="1200" b="0" u="none" strike="noStrike">
              <a:solidFill>
                <a:srgbClr val="000000"/>
              </a:solidFill>
              <a:effectLst/>
              <a:uFillTx/>
              <a:latin typeface="Arial"/>
            </a:endParaRPr>
          </a:p>
        </p:txBody>
      </p:sp>
      <p:sp>
        <p:nvSpPr>
          <p:cNvPr id="1100" name="Rectangle 39"/>
          <p:cNvSpPr/>
          <p:nvPr/>
        </p:nvSpPr>
        <p:spPr>
          <a:xfrm>
            <a:off x="6309360" y="380880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dirty="0">
                <a:solidFill>
                  <a:srgbClr val="112E5C"/>
                </a:solidFill>
                <a:effectLst/>
                <a:uFillTx/>
                <a:latin typeface="Aptos"/>
              </a:rPr>
              <a:t>Returned: S → B → C → G, cost 6, on the fifth pop.</a:t>
            </a:r>
            <a:endParaRPr lang="en-US" sz="1400" b="0" u="none" strike="noStrike" dirty="0">
              <a:solidFill>
                <a:srgbClr val="000000"/>
              </a:solidFill>
              <a:effectLst/>
              <a:uFillTx/>
              <a:latin typeface="Arial"/>
            </a:endParaRPr>
          </a:p>
        </p:txBody>
      </p:sp>
      <p:sp>
        <p:nvSpPr>
          <p:cNvPr id="1101" name="Rectangle 40"/>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G was generated on pop 2 at cost 9. Returning it there would have cost you 50 percent more than the optimum.</a:t>
            </a:r>
            <a:endParaRPr lang="en-US" sz="1700" b="0" u="none" strike="noStrike">
              <a:solidFill>
                <a:srgbClr val="000000"/>
              </a:solidFill>
              <a:effectLst/>
              <a:uFillTx/>
              <a:latin typeface="Arial"/>
            </a:endParaRPr>
          </a:p>
        </p:txBody>
      </p:sp>
      <p:sp>
        <p:nvSpPr>
          <p:cNvPr id="1102" name="Rectangle 41"/>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On pop 4 the cheaper G(6) replaced G(9) in reached — the re-add rule from the best-first slide, doing real work.</a:t>
            </a:r>
            <a:endParaRPr lang="en-US" sz="1500" b="0" u="none" strike="noStrike">
              <a:solidFill>
                <a:srgbClr val="000000"/>
              </a:solidFill>
              <a:effectLst/>
              <a:uFillTx/>
              <a:latin typeface="Arial"/>
            </a:endParaRPr>
          </a:p>
        </p:txBody>
      </p:sp>
      <p:sp>
        <p:nvSpPr>
          <p:cNvPr id="1103" name="Rectangle 42"/>
          <p:cNvSpPr/>
          <p:nvPr/>
        </p:nvSpPr>
        <p:spPr>
          <a:xfrm>
            <a:off x="914400" y="58064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Both behaviours come from a single design decision: test on expansion, not on generation.</a:t>
            </a:r>
            <a:endParaRPr lang="en-US" sz="1350" b="0" u="none" strike="noStrike">
              <a:solidFill>
                <a:srgbClr val="000000"/>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0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0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UCS Complexity and the Positive-Cost Assumption</a:t>
            </a:r>
            <a:endParaRPr lang="en-US" sz="2600" b="0" u="none" strike="noStrike">
              <a:solidFill>
                <a:srgbClr val="000000"/>
              </a:solidFill>
              <a:effectLst/>
              <a:uFillTx/>
              <a:latin typeface="Arial"/>
            </a:endParaRPr>
          </a:p>
        </p:txBody>
      </p:sp>
      <p:sp>
        <p:nvSpPr>
          <p:cNvPr id="110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0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09" name="Text 5"/>
          <p:cNvSpPr/>
          <p:nvPr/>
        </p:nvSpPr>
        <p:spPr>
          <a:xfrm>
            <a:off x="868680" y="1417320"/>
            <a:ext cx="36572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800" b="1" u="none" strike="noStrike">
                <a:solidFill>
                  <a:srgbClr val="112E5C"/>
                </a:solidFill>
                <a:effectLst/>
                <a:uFillTx/>
                <a:latin typeface="Aptos"/>
              </a:rPr>
              <a:t>C* = optimal solution cost</a:t>
            </a:r>
            <a:endParaRPr lang="en-US" sz="1800" b="0" u="none" strike="noStrike">
              <a:solidFill>
                <a:srgbClr val="000000"/>
              </a:solidFill>
              <a:effectLst/>
              <a:uFillTx/>
              <a:latin typeface="Arial"/>
            </a:endParaRPr>
          </a:p>
        </p:txBody>
      </p:sp>
      <p:sp>
        <p:nvSpPr>
          <p:cNvPr id="1110" name="Text 6"/>
          <p:cNvSpPr/>
          <p:nvPr/>
        </p:nvSpPr>
        <p:spPr>
          <a:xfrm>
            <a:off x="868680" y="1874520"/>
            <a:ext cx="41144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defTabSz="914400">
              <a:lnSpc>
                <a:spcPct val="100000"/>
              </a:lnSpc>
              <a:tabLst>
                <a:tab pos="0" algn="l"/>
              </a:tabLst>
            </a:pPr>
            <a:r>
              <a:rPr lang="en-US" sz="1800" b="1" u="none" strike="noStrike">
                <a:solidFill>
                  <a:srgbClr val="112E5C"/>
                </a:solidFill>
                <a:effectLst/>
                <a:uFillTx/>
                <a:latin typeface="Aptos"/>
              </a:rPr>
              <a:t>ε = positive lower bound on action costs</a:t>
            </a:r>
            <a:endParaRPr lang="en-US" sz="1800" b="0" u="none" strike="noStrike">
              <a:solidFill>
                <a:srgbClr val="000000"/>
              </a:solidFill>
              <a:effectLst/>
              <a:uFillTx/>
              <a:latin typeface="Arial"/>
            </a:endParaRPr>
          </a:p>
        </p:txBody>
      </p:sp>
      <p:sp>
        <p:nvSpPr>
          <p:cNvPr id="1111" name="Text 7"/>
          <p:cNvSpPr/>
          <p:nvPr/>
        </p:nvSpPr>
        <p:spPr>
          <a:xfrm>
            <a:off x="914400" y="2880360"/>
            <a:ext cx="1005804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600" b="1" u="none" strike="noStrike">
                <a:solidFill>
                  <a:srgbClr val="9B1C1C"/>
                </a:solidFill>
                <a:effectLst/>
                <a:uFillTx/>
                <a:latin typeface="Aptos"/>
              </a:rPr>
              <a:t>Time and space: O(b^(1 + ⌊C*/ε⌋))</a:t>
            </a:r>
            <a:endParaRPr lang="en-US" sz="2600" b="0" u="none" strike="noStrike">
              <a:solidFill>
                <a:srgbClr val="000000"/>
              </a:solidFill>
              <a:effectLst/>
              <a:uFillTx/>
              <a:latin typeface="Arial"/>
            </a:endParaRPr>
          </a:p>
        </p:txBody>
      </p:sp>
      <p:sp>
        <p:nvSpPr>
          <p:cNvPr id="1112" name="Text 8"/>
          <p:cNvSpPr/>
          <p:nvPr/>
        </p:nvSpPr>
        <p:spPr>
          <a:xfrm>
            <a:off x="1097280" y="406908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0" u="none" strike="noStrike">
                <a:solidFill>
                  <a:srgbClr val="102A4C"/>
                </a:solidFill>
                <a:effectLst/>
                <a:uFillTx/>
                <a:latin typeface="Aptos"/>
              </a:rPr>
              <a:t>UCS may explore many cheap but unhelpful actions before taking a costly useful action.</a:t>
            </a:r>
            <a:endParaRPr lang="en-US" sz="1800" b="0" u="none" strike="noStrike">
              <a:solidFill>
                <a:srgbClr val="000000"/>
              </a:solidFill>
              <a:effectLst/>
              <a:uFillTx/>
              <a:latin typeface="Arial"/>
            </a:endParaRPr>
          </a:p>
        </p:txBody>
      </p:sp>
      <p:sp>
        <p:nvSpPr>
          <p:cNvPr id="1113" name="Text 9"/>
          <p:cNvSpPr/>
          <p:nvPr/>
        </p:nvSpPr>
        <p:spPr>
          <a:xfrm>
            <a:off x="1097280" y="480060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77245"/>
                </a:solidFill>
                <a:effectLst/>
                <a:uFillTx/>
                <a:latin typeface="Aptos"/>
              </a:rPr>
              <a:t>Complete and optimal if costs are positive and the best solution has finite cost.</a:t>
            </a:r>
            <a:endParaRPr lang="en-US" sz="180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UCS Explores Cost Contours — In Every Direction</a:t>
            </a:r>
            <a:endParaRPr lang="en-US" sz="2600" b="0" u="none" strike="noStrike">
              <a:solidFill>
                <a:srgbClr val="000000"/>
              </a:solidFill>
              <a:effectLst/>
              <a:uFillTx/>
              <a:latin typeface="Arial"/>
            </a:endParaRPr>
          </a:p>
        </p:txBody>
      </p:sp>
      <p:sp>
        <p:nvSpPr>
          <p:cNvPr id="11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19" name="Oval 6"/>
          <p:cNvSpPr/>
          <p:nvPr/>
        </p:nvSpPr>
        <p:spPr>
          <a:xfrm>
            <a:off x="6705720" y="1371600"/>
            <a:ext cx="3657240" cy="365724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0" name="Rectangle 7"/>
          <p:cNvSpPr/>
          <p:nvPr/>
        </p:nvSpPr>
        <p:spPr>
          <a:xfrm>
            <a:off x="8077320" y="148608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3</a:t>
            </a:r>
            <a:endParaRPr lang="en-US" sz="1050" b="0" u="none" strike="noStrike">
              <a:solidFill>
                <a:srgbClr val="000000"/>
              </a:solidFill>
              <a:effectLst/>
              <a:uFillTx/>
              <a:latin typeface="Arial"/>
            </a:endParaRPr>
          </a:p>
        </p:txBody>
      </p:sp>
      <p:sp>
        <p:nvSpPr>
          <p:cNvPr id="1121" name="Oval 8"/>
          <p:cNvSpPr/>
          <p:nvPr/>
        </p:nvSpPr>
        <p:spPr>
          <a:xfrm>
            <a:off x="7254360" y="1920240"/>
            <a:ext cx="2559960" cy="2559960"/>
          </a:xfrm>
          <a:prstGeom prst="ellipse">
            <a:avLst/>
          </a:prstGeom>
          <a:solidFill>
            <a:srgbClr val="F7F9FC"/>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2" name="Rectangle 9"/>
          <p:cNvSpPr/>
          <p:nvPr/>
        </p:nvSpPr>
        <p:spPr>
          <a:xfrm>
            <a:off x="8077320" y="203472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2</a:t>
            </a:r>
            <a:endParaRPr lang="en-US" sz="1050" b="0" u="none" strike="noStrike">
              <a:solidFill>
                <a:srgbClr val="000000"/>
              </a:solidFill>
              <a:effectLst/>
              <a:uFillTx/>
              <a:latin typeface="Arial"/>
            </a:endParaRPr>
          </a:p>
        </p:txBody>
      </p:sp>
      <p:sp>
        <p:nvSpPr>
          <p:cNvPr id="1123" name="Oval 10"/>
          <p:cNvSpPr/>
          <p:nvPr/>
        </p:nvSpPr>
        <p:spPr>
          <a:xfrm>
            <a:off x="7803000" y="2468880"/>
            <a:ext cx="1462680" cy="146268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4" name="Rectangle 11"/>
          <p:cNvSpPr/>
          <p:nvPr/>
        </p:nvSpPr>
        <p:spPr>
          <a:xfrm>
            <a:off x="8077320" y="258336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1</a:t>
            </a:r>
            <a:endParaRPr lang="en-US" sz="1050" b="0" u="none" strike="noStrike">
              <a:solidFill>
                <a:srgbClr val="000000"/>
              </a:solidFill>
              <a:effectLst/>
              <a:uFillTx/>
              <a:latin typeface="Arial"/>
            </a:endParaRPr>
          </a:p>
        </p:txBody>
      </p:sp>
      <p:sp>
        <p:nvSpPr>
          <p:cNvPr id="1125" name="Oval 12"/>
          <p:cNvSpPr/>
          <p:nvPr/>
        </p:nvSpPr>
        <p:spPr>
          <a:xfrm>
            <a:off x="8351640" y="3017520"/>
            <a:ext cx="365400" cy="365400"/>
          </a:xfrm>
          <a:prstGeom prst="ellipse">
            <a:avLst/>
          </a:prstGeom>
          <a:solidFill>
            <a:srgbClr val="112E5C"/>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FFFFFF"/>
              </a:solidFill>
              <a:effectLst/>
              <a:uFillTx/>
              <a:latin typeface="Arial"/>
            </a:endParaRPr>
          </a:p>
        </p:txBody>
      </p:sp>
      <p:sp>
        <p:nvSpPr>
          <p:cNvPr id="1126" name="Rectangle 13"/>
          <p:cNvSpPr/>
          <p:nvPr/>
        </p:nvSpPr>
        <p:spPr>
          <a:xfrm>
            <a:off x="7848720" y="342900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112E5C"/>
                </a:solidFill>
                <a:effectLst/>
                <a:uFillTx/>
                <a:latin typeface="Aptos"/>
              </a:rPr>
              <a:t>start</a:t>
            </a:r>
            <a:endParaRPr lang="en-US" sz="1100" b="0" u="none" strike="noStrike">
              <a:solidFill>
                <a:srgbClr val="000000"/>
              </a:solidFill>
              <a:effectLst/>
              <a:uFillTx/>
              <a:latin typeface="Arial"/>
            </a:endParaRPr>
          </a:p>
        </p:txBody>
      </p:sp>
      <p:sp>
        <p:nvSpPr>
          <p:cNvPr id="1127" name="Rectangle 14"/>
          <p:cNvSpPr/>
          <p:nvPr/>
        </p:nvSpPr>
        <p:spPr>
          <a:xfrm>
            <a:off x="10927080" y="3063240"/>
            <a:ext cx="411120" cy="273960"/>
          </a:xfrm>
          <a:prstGeom prst="rect">
            <a:avLst/>
          </a:prstGeom>
          <a:solidFill>
            <a:srgbClr val="9B1C1C"/>
          </a:solidFill>
          <a:ln w="12700">
            <a:solidFill>
              <a:srgbClr val="9B1C1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28" name="Rectangle 15"/>
          <p:cNvSpPr/>
          <p:nvPr/>
        </p:nvSpPr>
        <p:spPr>
          <a:xfrm>
            <a:off x="10607040" y="3383280"/>
            <a:ext cx="105120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9B1C1C"/>
                </a:solidFill>
                <a:effectLst/>
                <a:uFillTx/>
                <a:latin typeface="Aptos"/>
              </a:rPr>
              <a:t>goal</a:t>
            </a:r>
            <a:endParaRPr lang="en-US" sz="1100" b="0" u="none" strike="noStrike">
              <a:solidFill>
                <a:srgbClr val="000000"/>
              </a:solidFill>
              <a:effectLst/>
              <a:uFillTx/>
              <a:latin typeface="Arial"/>
            </a:endParaRPr>
          </a:p>
        </p:txBody>
      </p:sp>
      <p:sp>
        <p:nvSpPr>
          <p:cNvPr id="1129" name="Rounded Rectangle 16"/>
          <p:cNvSpPr/>
          <p:nvPr/>
        </p:nvSpPr>
        <p:spPr>
          <a:xfrm>
            <a:off x="777240" y="1417320"/>
            <a:ext cx="45716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The good</a:t>
            </a:r>
            <a:endParaRPr lang="en-US" sz="1400" b="0" u="none" strike="noStrike">
              <a:solidFill>
                <a:srgbClr val="000000"/>
              </a:solidFill>
              <a:effectLst/>
              <a:uFillTx/>
              <a:latin typeface="Arial"/>
            </a:endParaRPr>
          </a:p>
        </p:txBody>
      </p:sp>
      <p:sp>
        <p:nvSpPr>
          <p:cNvPr id="1130" name="Rounded Rectangle 17"/>
          <p:cNvSpPr/>
          <p:nvPr/>
        </p:nvSpPr>
        <p:spPr>
          <a:xfrm>
            <a:off x="777240" y="1874520"/>
            <a:ext cx="4571640" cy="9140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31" name="Rectangle 18"/>
          <p:cNvSpPr/>
          <p:nvPr/>
        </p:nvSpPr>
        <p:spPr>
          <a:xfrm>
            <a:off x="960120" y="1965960"/>
            <a:ext cx="4205880" cy="731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Complete and cost-optimal whenever every action costs at least ε &gt; 0.</a:t>
            </a:r>
            <a:endParaRPr lang="en-US" sz="1350" b="0" u="none" strike="noStrike">
              <a:solidFill>
                <a:srgbClr val="000000"/>
              </a:solidFill>
              <a:effectLst/>
              <a:uFillTx/>
              <a:latin typeface="Arial"/>
            </a:endParaRPr>
          </a:p>
        </p:txBody>
      </p:sp>
      <p:sp>
        <p:nvSpPr>
          <p:cNvPr id="1132" name="Rounded Rectangle 19"/>
          <p:cNvSpPr/>
          <p:nvPr/>
        </p:nvSpPr>
        <p:spPr>
          <a:xfrm>
            <a:off x="777240" y="2971800"/>
            <a:ext cx="45716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The bad</a:t>
            </a:r>
            <a:endParaRPr lang="en-US" sz="1400" b="0" u="none" strike="noStrike">
              <a:solidFill>
                <a:srgbClr val="000000"/>
              </a:solidFill>
              <a:effectLst/>
              <a:uFillTx/>
              <a:latin typeface="Arial"/>
            </a:endParaRPr>
          </a:p>
        </p:txBody>
      </p:sp>
      <p:sp>
        <p:nvSpPr>
          <p:cNvPr id="1133" name="Rounded Rectangle 20"/>
          <p:cNvSpPr/>
          <p:nvPr/>
        </p:nvSpPr>
        <p:spPr>
          <a:xfrm>
            <a:off x="777240" y="3429000"/>
            <a:ext cx="4571640" cy="1188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34" name="Rectangle 21"/>
          <p:cNvSpPr/>
          <p:nvPr/>
        </p:nvSpPr>
        <p:spPr>
          <a:xfrm>
            <a:off x="960120" y="3520440"/>
            <a:ext cx="4205880" cy="10054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499"/>
              </a:spcAft>
            </a:pPr>
            <a:r>
              <a:rPr lang="en-US" sz="1250" b="0" u="none" strike="noStrike">
                <a:solidFill>
                  <a:srgbClr val="102A4C"/>
                </a:solidFill>
                <a:effectLst/>
                <a:uFillTx/>
                <a:latin typeface="Aptos"/>
              </a:rPr>
              <a:t>•  Expands outward in every direction equally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Has no information about where the goal is</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Spends effort behind it as readily as in front</a:t>
            </a:r>
            <a:endParaRPr lang="en-US" sz="1250" b="0" u="none" strike="noStrike">
              <a:solidFill>
                <a:srgbClr val="000000"/>
              </a:solidFill>
              <a:effectLst/>
              <a:uFillTx/>
              <a:latin typeface="Arial"/>
            </a:endParaRPr>
          </a:p>
        </p:txBody>
      </p:sp>
      <p:sp>
        <p:nvSpPr>
          <p:cNvPr id="1135" name="Rectangle 22"/>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Uniform-cost search is blind. It knows the cost of the past and nothing about the future.</a:t>
            </a:r>
            <a:endParaRPr lang="en-US" sz="1700" b="0" u="none" strike="noStrike">
              <a:solidFill>
                <a:srgbClr val="000000"/>
              </a:solidFill>
              <a:effectLst/>
              <a:uFillTx/>
              <a:latin typeface="Arial"/>
            </a:endParaRPr>
          </a:p>
        </p:txBody>
      </p:sp>
      <p:sp>
        <p:nvSpPr>
          <p:cNvPr id="1136"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Section 3.5 adds a heuristic h(n), and the contours stretch toward the goal instead of surrounding the start.</a:t>
            </a:r>
            <a:endParaRPr lang="en-US" sz="1500" b="0" u="none" strike="noStrike">
              <a:solidFill>
                <a:srgbClr val="000000"/>
              </a:solidFill>
              <a:effectLst/>
              <a:uFillTx/>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3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3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Depth-First Search (DFS)</a:t>
            </a:r>
            <a:endParaRPr lang="en-US" sz="2600" b="0" u="none" strike="noStrike">
              <a:solidFill>
                <a:srgbClr val="000000"/>
              </a:solidFill>
              <a:effectLst/>
              <a:uFillTx/>
              <a:latin typeface="Arial"/>
            </a:endParaRPr>
          </a:p>
        </p:txBody>
      </p:sp>
      <p:sp>
        <p:nvSpPr>
          <p:cNvPr id="114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4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42" name="Text 5"/>
          <p:cNvSpPr/>
          <p:nvPr/>
        </p:nvSpPr>
        <p:spPr>
          <a:xfrm>
            <a:off x="499110" y="2096770"/>
            <a:ext cx="1828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1143" name="Text 6"/>
          <p:cNvSpPr/>
          <p:nvPr/>
        </p:nvSpPr>
        <p:spPr>
          <a:xfrm>
            <a:off x="2556510" y="2142490"/>
            <a:ext cx="475452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700" b="1" u="none" strike="noStrike">
                <a:solidFill>
                  <a:srgbClr val="102A4C"/>
                </a:solidFill>
                <a:effectLst/>
                <a:uFillTx/>
                <a:latin typeface="Aptos"/>
              </a:rPr>
              <a:t>Expand the deepest node in the frontier first.</a:t>
            </a:r>
            <a:endParaRPr lang="en-US" sz="1700" b="0" u="none" strike="noStrike">
              <a:solidFill>
                <a:srgbClr val="000000"/>
              </a:solidFill>
              <a:effectLst/>
              <a:uFillTx/>
              <a:latin typeface="Arial"/>
            </a:endParaRPr>
          </a:p>
        </p:txBody>
      </p:sp>
      <p:sp>
        <p:nvSpPr>
          <p:cNvPr id="1144" name="Text 7"/>
          <p:cNvSpPr/>
          <p:nvPr/>
        </p:nvSpPr>
        <p:spPr>
          <a:xfrm>
            <a:off x="499110" y="2919730"/>
            <a:ext cx="182844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1145" name="Text 8"/>
          <p:cNvSpPr/>
          <p:nvPr/>
        </p:nvSpPr>
        <p:spPr>
          <a:xfrm>
            <a:off x="2556510" y="296545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0" u="none" strike="noStrike">
                <a:solidFill>
                  <a:srgbClr val="102A4C"/>
                </a:solidFill>
                <a:effectLst/>
                <a:uFillTx/>
                <a:latin typeface="Aptos"/>
              </a:rPr>
              <a:t>LIFO stack or recursive tree-like search.</a:t>
            </a:r>
            <a:endParaRPr lang="en-US" sz="1600" b="0" u="none" strike="noStrike">
              <a:solidFill>
                <a:srgbClr val="000000"/>
              </a:solidFill>
              <a:effectLst/>
              <a:uFillTx/>
              <a:latin typeface="Arial"/>
            </a:endParaRPr>
          </a:p>
        </p:txBody>
      </p:sp>
      <p:sp>
        <p:nvSpPr>
          <p:cNvPr id="1146" name="Text 9"/>
          <p:cNvSpPr/>
          <p:nvPr/>
        </p:nvSpPr>
        <p:spPr>
          <a:xfrm>
            <a:off x="499110" y="3742690"/>
            <a:ext cx="182844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Main appeal</a:t>
            </a:r>
            <a:endParaRPr lang="en-US" sz="1600" b="0" u="none" strike="noStrike">
              <a:solidFill>
                <a:srgbClr val="000000"/>
              </a:solidFill>
              <a:effectLst/>
              <a:uFillTx/>
              <a:latin typeface="Arial"/>
            </a:endParaRPr>
          </a:p>
        </p:txBody>
      </p:sp>
      <p:sp>
        <p:nvSpPr>
          <p:cNvPr id="1147" name="Text 10"/>
          <p:cNvSpPr/>
          <p:nvPr/>
        </p:nvSpPr>
        <p:spPr>
          <a:xfrm>
            <a:off x="2556510" y="3788410"/>
            <a:ext cx="484596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defTabSz="914400">
              <a:lnSpc>
                <a:spcPct val="100000"/>
              </a:lnSpc>
              <a:tabLst>
                <a:tab pos="0" algn="l"/>
              </a:tabLst>
            </a:pPr>
            <a:r>
              <a:rPr lang="en-US" sz="1600" b="0" u="none" strike="noStrike">
                <a:solidFill>
                  <a:srgbClr val="102A4C"/>
                </a:solidFill>
                <a:effectLst/>
                <a:uFillTx/>
                <a:latin typeface="Aptos"/>
              </a:rPr>
              <a:t>Low memory: stores a path and siblings, not entire layers.</a:t>
            </a:r>
            <a:endParaRPr lang="en-US" sz="1600" b="0" u="none" strike="noStrike">
              <a:solidFill>
                <a:srgbClr val="000000"/>
              </a:solidFill>
              <a:effectLst/>
              <a:uFillTx/>
              <a:latin typeface="Arial"/>
            </a:endParaRPr>
          </a:p>
        </p:txBody>
      </p:sp>
      <p:sp>
        <p:nvSpPr>
          <p:cNvPr id="1148" name="Shape 11"/>
          <p:cNvSpPr/>
          <p:nvPr/>
        </p:nvSpPr>
        <p:spPr>
          <a:xfrm flipH="1">
            <a:off x="8879320" y="179028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49" name="Shape 12"/>
          <p:cNvSpPr/>
          <p:nvPr/>
        </p:nvSpPr>
        <p:spPr>
          <a:xfrm>
            <a:off x="10234720" y="179028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0" name="Shape 13"/>
          <p:cNvSpPr/>
          <p:nvPr/>
        </p:nvSpPr>
        <p:spPr>
          <a:xfrm>
            <a:off x="10234720" y="179028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1" name="Shape 14"/>
          <p:cNvSpPr/>
          <p:nvPr/>
        </p:nvSpPr>
        <p:spPr>
          <a:xfrm flipH="1">
            <a:off x="8273080" y="243216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2" name="Shape 15"/>
          <p:cNvSpPr/>
          <p:nvPr/>
        </p:nvSpPr>
        <p:spPr>
          <a:xfrm>
            <a:off x="8879320" y="243216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3" name="Shape 16"/>
          <p:cNvSpPr/>
          <p:nvPr/>
        </p:nvSpPr>
        <p:spPr>
          <a:xfrm>
            <a:off x="8879320" y="243216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4" name="Shape 17"/>
          <p:cNvSpPr/>
          <p:nvPr/>
        </p:nvSpPr>
        <p:spPr>
          <a:xfrm flipH="1">
            <a:off x="9842320" y="243216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5" name="Shape 18"/>
          <p:cNvSpPr/>
          <p:nvPr/>
        </p:nvSpPr>
        <p:spPr>
          <a:xfrm>
            <a:off x="10234720" y="243216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6" name="Shape 19"/>
          <p:cNvSpPr/>
          <p:nvPr/>
        </p:nvSpPr>
        <p:spPr>
          <a:xfrm>
            <a:off x="11589760" y="243216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7" name="Shape 20"/>
          <p:cNvSpPr/>
          <p:nvPr/>
        </p:nvSpPr>
        <p:spPr>
          <a:xfrm flipH="1">
            <a:off x="8059240" y="3109680"/>
            <a:ext cx="213840" cy="60624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8" name="Shape 21"/>
          <p:cNvSpPr/>
          <p:nvPr/>
        </p:nvSpPr>
        <p:spPr>
          <a:xfrm flipH="1">
            <a:off x="8665480" y="31096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9" name="Shape 22"/>
          <p:cNvSpPr/>
          <p:nvPr/>
        </p:nvSpPr>
        <p:spPr>
          <a:xfrm flipH="1">
            <a:off x="9271720" y="31096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0" name="Shape 23"/>
          <p:cNvSpPr/>
          <p:nvPr/>
        </p:nvSpPr>
        <p:spPr>
          <a:xfrm>
            <a:off x="9485560" y="310968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1" name="Shape 24"/>
          <p:cNvSpPr/>
          <p:nvPr/>
        </p:nvSpPr>
        <p:spPr>
          <a:xfrm>
            <a:off x="9842320" y="310968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2" name="Shape 25"/>
          <p:cNvSpPr/>
          <p:nvPr/>
        </p:nvSpPr>
        <p:spPr>
          <a:xfrm>
            <a:off x="9842320" y="310968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3" name="Shape 26"/>
          <p:cNvSpPr/>
          <p:nvPr/>
        </p:nvSpPr>
        <p:spPr>
          <a:xfrm>
            <a:off x="10626760" y="310968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4" name="Shape 27"/>
          <p:cNvSpPr/>
          <p:nvPr/>
        </p:nvSpPr>
        <p:spPr>
          <a:xfrm flipH="1">
            <a:off x="10983520" y="37159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5" name="Shape 28"/>
          <p:cNvSpPr/>
          <p:nvPr/>
        </p:nvSpPr>
        <p:spPr>
          <a:xfrm>
            <a:off x="11197360" y="371592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6" name="Text 29"/>
          <p:cNvSpPr/>
          <p:nvPr/>
        </p:nvSpPr>
        <p:spPr>
          <a:xfrm>
            <a:off x="10088560" y="16441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67" name="Text 30"/>
          <p:cNvSpPr/>
          <p:nvPr/>
        </p:nvSpPr>
        <p:spPr>
          <a:xfrm>
            <a:off x="8733160" y="228600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168" name="Text 31"/>
          <p:cNvSpPr/>
          <p:nvPr/>
        </p:nvSpPr>
        <p:spPr>
          <a:xfrm>
            <a:off x="10088560" y="228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69" name="Text 32"/>
          <p:cNvSpPr/>
          <p:nvPr/>
        </p:nvSpPr>
        <p:spPr>
          <a:xfrm>
            <a:off x="11443600" y="228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70" name="Text 33"/>
          <p:cNvSpPr/>
          <p:nvPr/>
        </p:nvSpPr>
        <p:spPr>
          <a:xfrm>
            <a:off x="8126920" y="29635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171" name="Text 34"/>
          <p:cNvSpPr/>
          <p:nvPr/>
        </p:nvSpPr>
        <p:spPr>
          <a:xfrm>
            <a:off x="87331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72" name="Text 35"/>
          <p:cNvSpPr/>
          <p:nvPr/>
        </p:nvSpPr>
        <p:spPr>
          <a:xfrm>
            <a:off x="93397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73" name="Text 36"/>
          <p:cNvSpPr/>
          <p:nvPr/>
        </p:nvSpPr>
        <p:spPr>
          <a:xfrm>
            <a:off x="96961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4" name="Text 37"/>
          <p:cNvSpPr/>
          <p:nvPr/>
        </p:nvSpPr>
        <p:spPr>
          <a:xfrm>
            <a:off x="1048060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75" name="Text 38"/>
          <p:cNvSpPr/>
          <p:nvPr/>
        </p:nvSpPr>
        <p:spPr>
          <a:xfrm>
            <a:off x="1144360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76" name="Text 39"/>
          <p:cNvSpPr/>
          <p:nvPr/>
        </p:nvSpPr>
        <p:spPr>
          <a:xfrm>
            <a:off x="7913080" y="35697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7" name="Text 40"/>
          <p:cNvSpPr/>
          <p:nvPr/>
        </p:nvSpPr>
        <p:spPr>
          <a:xfrm>
            <a:off x="851932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8" name="Text 41"/>
          <p:cNvSpPr/>
          <p:nvPr/>
        </p:nvSpPr>
        <p:spPr>
          <a:xfrm>
            <a:off x="912556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9" name="Text 42"/>
          <p:cNvSpPr/>
          <p:nvPr/>
        </p:nvSpPr>
        <p:spPr>
          <a:xfrm>
            <a:off x="973180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80" name="Text 43"/>
          <p:cNvSpPr/>
          <p:nvPr/>
        </p:nvSpPr>
        <p:spPr>
          <a:xfrm>
            <a:off x="1019548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81" name="Text 44"/>
          <p:cNvSpPr/>
          <p:nvPr/>
        </p:nvSpPr>
        <p:spPr>
          <a:xfrm>
            <a:off x="1062352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82" name="Text 45"/>
          <p:cNvSpPr/>
          <p:nvPr/>
        </p:nvSpPr>
        <p:spPr>
          <a:xfrm>
            <a:off x="1105120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183" name="Text 46"/>
          <p:cNvSpPr/>
          <p:nvPr/>
        </p:nvSpPr>
        <p:spPr>
          <a:xfrm>
            <a:off x="10837360" y="417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84" name="Text 47"/>
          <p:cNvSpPr/>
          <p:nvPr/>
        </p:nvSpPr>
        <p:spPr>
          <a:xfrm>
            <a:off x="11336680" y="417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8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8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8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DFS Build: Follow One Branch Deep</a:t>
            </a:r>
            <a:endParaRPr lang="en-US" sz="2600" b="0" u="none" strike="noStrike">
              <a:solidFill>
                <a:srgbClr val="000000"/>
              </a:solidFill>
              <a:effectLst/>
              <a:uFillTx/>
              <a:latin typeface="Arial"/>
            </a:endParaRPr>
          </a:p>
        </p:txBody>
      </p:sp>
      <p:sp>
        <p:nvSpPr>
          <p:cNvPr id="118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8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90" name="Shape 5"/>
          <p:cNvSpPr/>
          <p:nvPr/>
        </p:nvSpPr>
        <p:spPr>
          <a:xfrm flipH="1">
            <a:off x="2393430" y="165834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1" name="Shape 6"/>
          <p:cNvSpPr/>
          <p:nvPr/>
        </p:nvSpPr>
        <p:spPr>
          <a:xfrm>
            <a:off x="3748830" y="16583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2" name="Shape 7"/>
          <p:cNvSpPr/>
          <p:nvPr/>
        </p:nvSpPr>
        <p:spPr>
          <a:xfrm>
            <a:off x="3748830" y="16583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3" name="Shape 8"/>
          <p:cNvSpPr/>
          <p:nvPr/>
        </p:nvSpPr>
        <p:spPr>
          <a:xfrm flipH="1">
            <a:off x="1787190" y="230022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4" name="Shape 9"/>
          <p:cNvSpPr/>
          <p:nvPr/>
        </p:nvSpPr>
        <p:spPr>
          <a:xfrm>
            <a:off x="2393430" y="23002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5" name="Shape 10"/>
          <p:cNvSpPr/>
          <p:nvPr/>
        </p:nvSpPr>
        <p:spPr>
          <a:xfrm>
            <a:off x="2393430" y="230022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6" name="Shape 11"/>
          <p:cNvSpPr/>
          <p:nvPr/>
        </p:nvSpPr>
        <p:spPr>
          <a:xfrm flipH="1">
            <a:off x="3356430" y="230022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7" name="Shape 12"/>
          <p:cNvSpPr/>
          <p:nvPr/>
        </p:nvSpPr>
        <p:spPr>
          <a:xfrm>
            <a:off x="3748830" y="230022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8" name="Shape 13"/>
          <p:cNvSpPr/>
          <p:nvPr/>
        </p:nvSpPr>
        <p:spPr>
          <a:xfrm>
            <a:off x="5103870" y="23002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9" name="Shape 14"/>
          <p:cNvSpPr/>
          <p:nvPr/>
        </p:nvSpPr>
        <p:spPr>
          <a:xfrm flipH="1">
            <a:off x="1573350" y="2977740"/>
            <a:ext cx="213840" cy="60624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0" name="Shape 15"/>
          <p:cNvSpPr/>
          <p:nvPr/>
        </p:nvSpPr>
        <p:spPr>
          <a:xfrm flipH="1">
            <a:off x="2179590" y="29777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1" name="Shape 16"/>
          <p:cNvSpPr/>
          <p:nvPr/>
        </p:nvSpPr>
        <p:spPr>
          <a:xfrm flipH="1">
            <a:off x="2785830" y="29777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2" name="Shape 17"/>
          <p:cNvSpPr/>
          <p:nvPr/>
        </p:nvSpPr>
        <p:spPr>
          <a:xfrm>
            <a:off x="2999670" y="297774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3" name="Shape 18"/>
          <p:cNvSpPr/>
          <p:nvPr/>
        </p:nvSpPr>
        <p:spPr>
          <a:xfrm>
            <a:off x="3356430" y="297774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4" name="Shape 19"/>
          <p:cNvSpPr/>
          <p:nvPr/>
        </p:nvSpPr>
        <p:spPr>
          <a:xfrm>
            <a:off x="3356430" y="297774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5" name="Shape 20"/>
          <p:cNvSpPr/>
          <p:nvPr/>
        </p:nvSpPr>
        <p:spPr>
          <a:xfrm>
            <a:off x="4140870" y="297774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6" name="Shape 21"/>
          <p:cNvSpPr/>
          <p:nvPr/>
        </p:nvSpPr>
        <p:spPr>
          <a:xfrm flipH="1">
            <a:off x="4497630" y="35839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7" name="Shape 22"/>
          <p:cNvSpPr/>
          <p:nvPr/>
        </p:nvSpPr>
        <p:spPr>
          <a:xfrm>
            <a:off x="4711470" y="358398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8" name="Text 23"/>
          <p:cNvSpPr/>
          <p:nvPr/>
        </p:nvSpPr>
        <p:spPr>
          <a:xfrm>
            <a:off x="3602670" y="15121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09" name="Text 24"/>
          <p:cNvSpPr/>
          <p:nvPr/>
        </p:nvSpPr>
        <p:spPr>
          <a:xfrm>
            <a:off x="2247270" y="21540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210" name="Text 25"/>
          <p:cNvSpPr/>
          <p:nvPr/>
        </p:nvSpPr>
        <p:spPr>
          <a:xfrm>
            <a:off x="3602670" y="215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1" name="Text 26"/>
          <p:cNvSpPr/>
          <p:nvPr/>
        </p:nvSpPr>
        <p:spPr>
          <a:xfrm>
            <a:off x="4957710" y="215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12" name="Text 27"/>
          <p:cNvSpPr/>
          <p:nvPr/>
        </p:nvSpPr>
        <p:spPr>
          <a:xfrm>
            <a:off x="1641030" y="28315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13" name="Text 28"/>
          <p:cNvSpPr/>
          <p:nvPr/>
        </p:nvSpPr>
        <p:spPr>
          <a:xfrm>
            <a:off x="22472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14" name="Text 29"/>
          <p:cNvSpPr/>
          <p:nvPr/>
        </p:nvSpPr>
        <p:spPr>
          <a:xfrm>
            <a:off x="28538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5" name="Text 30"/>
          <p:cNvSpPr/>
          <p:nvPr/>
        </p:nvSpPr>
        <p:spPr>
          <a:xfrm>
            <a:off x="32102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16" name="Text 31"/>
          <p:cNvSpPr/>
          <p:nvPr/>
        </p:nvSpPr>
        <p:spPr>
          <a:xfrm>
            <a:off x="399471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17" name="Text 32"/>
          <p:cNvSpPr/>
          <p:nvPr/>
        </p:nvSpPr>
        <p:spPr>
          <a:xfrm>
            <a:off x="495771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18" name="Text 33"/>
          <p:cNvSpPr/>
          <p:nvPr/>
        </p:nvSpPr>
        <p:spPr>
          <a:xfrm>
            <a:off x="1427190" y="34378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19" name="Text 34"/>
          <p:cNvSpPr/>
          <p:nvPr/>
        </p:nvSpPr>
        <p:spPr>
          <a:xfrm>
            <a:off x="203343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20" name="Text 35"/>
          <p:cNvSpPr/>
          <p:nvPr/>
        </p:nvSpPr>
        <p:spPr>
          <a:xfrm>
            <a:off x="263967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21" name="Text 36"/>
          <p:cNvSpPr/>
          <p:nvPr/>
        </p:nvSpPr>
        <p:spPr>
          <a:xfrm>
            <a:off x="324591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22" name="Text 37"/>
          <p:cNvSpPr/>
          <p:nvPr/>
        </p:nvSpPr>
        <p:spPr>
          <a:xfrm>
            <a:off x="370959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23" name="Text 38"/>
          <p:cNvSpPr/>
          <p:nvPr/>
        </p:nvSpPr>
        <p:spPr>
          <a:xfrm>
            <a:off x="413763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24" name="Text 39"/>
          <p:cNvSpPr/>
          <p:nvPr/>
        </p:nvSpPr>
        <p:spPr>
          <a:xfrm>
            <a:off x="456531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225" name="Text 40"/>
          <p:cNvSpPr/>
          <p:nvPr/>
        </p:nvSpPr>
        <p:spPr>
          <a:xfrm>
            <a:off x="4351470" y="404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26" name="Text 41"/>
          <p:cNvSpPr/>
          <p:nvPr/>
        </p:nvSpPr>
        <p:spPr>
          <a:xfrm>
            <a:off x="4850790" y="404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227" name="Text 42"/>
          <p:cNvSpPr/>
          <p:nvPr/>
        </p:nvSpPr>
        <p:spPr>
          <a:xfrm>
            <a:off x="7040880" y="1828800"/>
            <a:ext cx="384012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100" b="1" u="none" strike="noStrike">
                <a:solidFill>
                  <a:srgbClr val="112E5C"/>
                </a:solidFill>
                <a:effectLst/>
                <a:uFillTx/>
                <a:latin typeface="Aptos"/>
              </a:rPr>
              <a:t>DFS follows one branch as far as possible, then backtracks.</a:t>
            </a:r>
            <a:endParaRPr lang="en-US" sz="2100" b="0" u="none" strike="noStrike">
              <a:solidFill>
                <a:srgbClr val="000000"/>
              </a:solidFill>
              <a:effectLst/>
              <a:uFillTx/>
              <a:latin typeface="Arial"/>
            </a:endParaRPr>
          </a:p>
        </p:txBody>
      </p:sp>
      <p:sp>
        <p:nvSpPr>
          <p:cNvPr id="1228" name="Text 43"/>
          <p:cNvSpPr/>
          <p:nvPr/>
        </p:nvSpPr>
        <p:spPr>
          <a:xfrm>
            <a:off x="7040880" y="2971800"/>
            <a:ext cx="384012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Good: small fringe. Bad: may miss a shallow solution while exploring a deep branch.</a:t>
            </a:r>
            <a:endParaRPr lang="en-US" sz="1600" b="0" u="none" strike="noStrike">
              <a:solidFill>
                <a:srgbClr val="000000"/>
              </a:solidFill>
              <a:effectLst/>
              <a:uFillTx/>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2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3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DFS Failure Modes and Backtracking</a:t>
            </a:r>
            <a:endParaRPr lang="en-US" sz="2600" b="0" u="none" strike="noStrike">
              <a:solidFill>
                <a:srgbClr val="000000"/>
              </a:solidFill>
              <a:effectLst/>
              <a:uFillTx/>
              <a:latin typeface="Arial"/>
            </a:endParaRPr>
          </a:p>
        </p:txBody>
      </p:sp>
      <p:sp>
        <p:nvSpPr>
          <p:cNvPr id="123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3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34" name="Text 5"/>
          <p:cNvSpPr/>
          <p:nvPr/>
        </p:nvSpPr>
        <p:spPr>
          <a:xfrm>
            <a:off x="822960" y="1417320"/>
            <a:ext cx="5668920" cy="4205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50" b="1" u="none" strike="noStrike">
                <a:solidFill>
                  <a:srgbClr val="9B1C1C"/>
                </a:solidFill>
                <a:effectLst/>
                <a:uFillTx/>
                <a:latin typeface="Aptos"/>
              </a:rPr>
              <a:t>Cyclic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loop forever without cycle checks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Infinite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follow one infinite path and never return</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Repeated states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revisit the same state many times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77245"/>
                </a:solidFill>
                <a:effectLst/>
                <a:uFillTx/>
                <a:latin typeface="Aptos"/>
              </a:rPr>
              <a:t>Backtracking search</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generates one successor at a time and undoes actions to reduce memory</a:t>
            </a:r>
            <a:endParaRPr lang="en-US" sz="1550" b="0" u="none" strike="noStrike">
              <a:solidFill>
                <a:srgbClr val="000000"/>
              </a:solidFill>
              <a:effectLst/>
              <a:uFillTx/>
              <a:latin typeface="Arial"/>
            </a:endParaRPr>
          </a:p>
        </p:txBody>
      </p:sp>
      <p:sp>
        <p:nvSpPr>
          <p:cNvPr id="1235" name="Text 6"/>
          <p:cNvSpPr/>
          <p:nvPr/>
        </p:nvSpPr>
        <p:spPr>
          <a:xfrm>
            <a:off x="7169040" y="1408320"/>
            <a:ext cx="292320" cy="292320"/>
          </a:xfrm>
          <a:prstGeom prst="ellipse">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36" name="Text 7"/>
          <p:cNvSpPr/>
          <p:nvPr/>
        </p:nvSpPr>
        <p:spPr>
          <a:xfrm>
            <a:off x="8357760" y="2139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37" name="Text 8"/>
          <p:cNvSpPr/>
          <p:nvPr/>
        </p:nvSpPr>
        <p:spPr>
          <a:xfrm>
            <a:off x="7169040" y="28713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38" name="Shape 9"/>
          <p:cNvSpPr/>
          <p:nvPr/>
        </p:nvSpPr>
        <p:spPr>
          <a:xfrm>
            <a:off x="7315200" y="1554480"/>
            <a:ext cx="1188720" cy="731520"/>
          </a:xfrm>
          <a:prstGeom prst="line">
            <a:avLst/>
          </a:prstGeom>
          <a:ln w="1905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39" name="Shape 10"/>
          <p:cNvSpPr/>
          <p:nvPr/>
        </p:nvSpPr>
        <p:spPr>
          <a:xfrm flipH="1">
            <a:off x="7315200" y="2286000"/>
            <a:ext cx="1188720" cy="731520"/>
          </a:xfrm>
          <a:prstGeom prst="line">
            <a:avLst/>
          </a:prstGeom>
          <a:ln w="1905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40" name="Shape 11"/>
          <p:cNvSpPr/>
          <p:nvPr/>
        </p:nvSpPr>
        <p:spPr>
          <a:xfrm flipV="1">
            <a:off x="7315200" y="1554480"/>
            <a:ext cx="360" cy="1463040"/>
          </a:xfrm>
          <a:prstGeom prst="line">
            <a:avLst/>
          </a:prstGeom>
          <a:ln w="2540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41" name="Text 12"/>
          <p:cNvSpPr/>
          <p:nvPr/>
        </p:nvSpPr>
        <p:spPr>
          <a:xfrm>
            <a:off x="7726680" y="2514600"/>
            <a:ext cx="1096920" cy="273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1" u="none" strike="noStrike">
                <a:solidFill>
                  <a:srgbClr val="9B1C1C"/>
                </a:solidFill>
                <a:effectLst/>
                <a:uFillTx/>
                <a:latin typeface="Aptos"/>
              </a:rPr>
              <a:t>Cycle</a:t>
            </a:r>
            <a:endParaRPr lang="en-US" sz="1500" b="0" u="none" strike="noStrike">
              <a:solidFill>
                <a:srgbClr val="000000"/>
              </a:solidFill>
              <a:effectLst/>
              <a:uFillTx/>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4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Quiz: When Does Each Strategy Win?</a:t>
            </a:r>
            <a:endParaRPr lang="en-US" sz="2600" b="0" u="none" strike="noStrike">
              <a:solidFill>
                <a:srgbClr val="000000"/>
              </a:solidFill>
              <a:effectLst/>
              <a:uFillTx/>
              <a:latin typeface="Arial"/>
            </a:endParaRPr>
          </a:p>
        </p:txBody>
      </p:sp>
      <p:sp>
        <p:nvSpPr>
          <p:cNvPr id="124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4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47" name="Rounded Rectangle 6"/>
          <p:cNvSpPr/>
          <p:nvPr/>
        </p:nvSpPr>
        <p:spPr>
          <a:xfrm>
            <a:off x="777240" y="1417320"/>
            <a:ext cx="5028840" cy="50256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50" b="1" u="none" strike="noStrike">
                <a:solidFill>
                  <a:srgbClr val="112E5C"/>
                </a:solidFill>
                <a:effectLst/>
                <a:uFillTx/>
                <a:latin typeface="Aptos"/>
              </a:rPr>
              <a:t>When will BFS outperform DFS?</a:t>
            </a:r>
            <a:endParaRPr lang="en-US" sz="1550" b="0" u="none" strike="noStrike">
              <a:solidFill>
                <a:srgbClr val="000000"/>
              </a:solidFill>
              <a:effectLst/>
              <a:uFillTx/>
              <a:latin typeface="Arial"/>
            </a:endParaRPr>
          </a:p>
        </p:txBody>
      </p:sp>
      <p:sp>
        <p:nvSpPr>
          <p:cNvPr id="1248" name="Rounded Rectangle 7"/>
          <p:cNvSpPr/>
          <p:nvPr/>
        </p:nvSpPr>
        <p:spPr>
          <a:xfrm>
            <a:off x="77724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9" name="Rectangle 8"/>
          <p:cNvSpPr/>
          <p:nvPr/>
        </p:nvSpPr>
        <p:spPr>
          <a:xfrm>
            <a:off x="100584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0" name="Rectangle 9"/>
          <p:cNvSpPr/>
          <p:nvPr/>
        </p:nvSpPr>
        <p:spPr>
          <a:xfrm>
            <a:off x="100584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0" u="none" strike="noStrike">
                <a:solidFill>
                  <a:srgbClr val="102A4C"/>
                </a:solidFill>
                <a:effectLst/>
                <a:uFillTx/>
                <a:latin typeface="Aptos"/>
              </a:rPr>
              <a:t>•  The solution is shallow relative to the tree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Branches are deep, cyclic, or infinite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You need the fewest-action solution</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Memory is available and the tier fits</a:t>
            </a:r>
            <a:endParaRPr lang="en-US" sz="1350" b="0" u="none" strike="noStrike">
              <a:solidFill>
                <a:srgbClr val="000000"/>
              </a:solidFill>
              <a:effectLst/>
              <a:uFillTx/>
              <a:latin typeface="Arial"/>
            </a:endParaRPr>
          </a:p>
        </p:txBody>
      </p:sp>
      <p:sp>
        <p:nvSpPr>
          <p:cNvPr id="1251" name="Rounded Rectangle 10"/>
          <p:cNvSpPr/>
          <p:nvPr/>
        </p:nvSpPr>
        <p:spPr>
          <a:xfrm>
            <a:off x="6385680" y="1417320"/>
            <a:ext cx="5028840" cy="5025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50" b="1" u="none" strike="noStrike">
                <a:solidFill>
                  <a:srgbClr val="112E5C"/>
                </a:solidFill>
                <a:effectLst/>
                <a:uFillTx/>
                <a:latin typeface="Aptos"/>
              </a:rPr>
              <a:t>When will DFS outperform BFS?</a:t>
            </a:r>
            <a:endParaRPr lang="en-US" sz="1550" b="0" u="none" strike="noStrike">
              <a:solidFill>
                <a:srgbClr val="000000"/>
              </a:solidFill>
              <a:effectLst/>
              <a:uFillTx/>
              <a:latin typeface="Arial"/>
            </a:endParaRPr>
          </a:p>
        </p:txBody>
      </p:sp>
      <p:sp>
        <p:nvSpPr>
          <p:cNvPr id="1252" name="Rounded Rectangle 11"/>
          <p:cNvSpPr/>
          <p:nvPr/>
        </p:nvSpPr>
        <p:spPr>
          <a:xfrm>
            <a:off x="638568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53" name="Rectangle 12"/>
          <p:cNvSpPr/>
          <p:nvPr/>
        </p:nvSpPr>
        <p:spPr>
          <a:xfrm>
            <a:off x="661428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4" name="Rectangle 13"/>
          <p:cNvSpPr/>
          <p:nvPr/>
        </p:nvSpPr>
        <p:spPr>
          <a:xfrm>
            <a:off x="661428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0" u="none" strike="noStrike" dirty="0">
                <a:solidFill>
                  <a:srgbClr val="102A4C"/>
                </a:solidFill>
                <a:effectLst/>
                <a:uFillTx/>
                <a:latin typeface="Aptos"/>
              </a:rPr>
              <a:t>•  Solutions are dense and lie deep</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The space is a finite tree with no cycles</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Memory is the binding constraint</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Any solution will do; cost is not the point</a:t>
            </a:r>
            <a:endParaRPr lang="en-US" sz="1350" b="0" u="none" strike="noStrike" dirty="0">
              <a:solidFill>
                <a:srgbClr val="000000"/>
              </a:solidFill>
              <a:effectLst/>
              <a:uFillTx/>
              <a:latin typeface="Arial"/>
            </a:endParaRPr>
          </a:p>
        </p:txBody>
      </p:sp>
      <p:sp>
        <p:nvSpPr>
          <p:cNvPr id="1255"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Reason from the frontier, do not memorise the table.</a:t>
            </a:r>
            <a:endParaRPr lang="en-US" sz="1700" b="0" u="none" strike="noStrike">
              <a:solidFill>
                <a:srgbClr val="000000"/>
              </a:solidFill>
              <a:effectLst/>
              <a:uFillTx/>
              <a:latin typeface="Arial"/>
            </a:endParaRPr>
          </a:p>
        </p:txBody>
      </p:sp>
      <p:sp>
        <p:nvSpPr>
          <p:cNvPr id="1256" name="Rounded Rectangle 15"/>
          <p:cNvSpPr/>
          <p:nvPr/>
        </p:nvSpPr>
        <p:spPr>
          <a:xfrm>
            <a:off x="914400" y="475488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57" name="Rectangle 16"/>
          <p:cNvSpPr/>
          <p:nvPr/>
        </p:nvSpPr>
        <p:spPr>
          <a:xfrm>
            <a:off x="1097280" y="480060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BFS holds an entire tier: </a:t>
            </a:r>
            <a:r>
              <a:rPr lang="en-US" sz="1800" b="1" u="none" strike="noStrike">
                <a:solidFill>
                  <a:srgbClr val="9B1C1C"/>
                </a:solidFill>
                <a:effectLst/>
                <a:uFillTx/>
                <a:latin typeface="Aptos"/>
              </a:rPr>
              <a:t>O(bᵈ)</a:t>
            </a:r>
            <a:r>
              <a:rPr lang="en-US" sz="1500" b="1" u="none" strike="noStrike">
                <a:solidFill>
                  <a:srgbClr val="112E5C"/>
                </a:solidFill>
                <a:effectLst/>
                <a:uFillTx/>
                <a:latin typeface="Aptos"/>
              </a:rPr>
              <a:t>     DFS holds one path and its siblings: </a:t>
            </a:r>
            <a:r>
              <a:rPr lang="en-US" sz="1800" b="1" u="none" strike="noStrike">
                <a:solidFill>
                  <a:srgbClr val="177245"/>
                </a:solidFill>
                <a:effectLst/>
                <a:uFillTx/>
                <a:latin typeface="Aptos"/>
              </a:rPr>
              <a:t>O(bm)</a:t>
            </a:r>
            <a:endParaRPr lang="en-US" sz="1800" b="0" u="none" strike="noStrike">
              <a:solidFill>
                <a:srgbClr val="000000"/>
              </a:solidFill>
              <a:effectLst/>
              <a:uFillTx/>
              <a:latin typeface="Arial"/>
            </a:endParaRPr>
          </a:p>
        </p:txBody>
      </p:sp>
      <p:sp>
        <p:nvSpPr>
          <p:cNvPr id="1258" name="Rectangle 17"/>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Every property on the comparison table falls out of which node the frontier hands back next.</a:t>
            </a:r>
            <a:endParaRPr lang="en-US" sz="1350" b="0" u="none" strike="noStrike">
              <a:solidFill>
                <a:srgbClr val="000000"/>
              </a:solidFill>
              <a:effectLst/>
              <a:uFillTx/>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5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6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Depth-Limited and Iterative Deepening Search</a:t>
            </a:r>
            <a:endParaRPr lang="en-US" sz="2600" b="0" u="none" strike="noStrike">
              <a:solidFill>
                <a:srgbClr val="000000"/>
              </a:solidFill>
              <a:effectLst/>
              <a:uFillTx/>
              <a:latin typeface="Arial"/>
            </a:endParaRPr>
          </a:p>
        </p:txBody>
      </p:sp>
      <p:sp>
        <p:nvSpPr>
          <p:cNvPr id="126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64" name="Text 5"/>
          <p:cNvSpPr/>
          <p:nvPr/>
        </p:nvSpPr>
        <p:spPr>
          <a:xfrm>
            <a:off x="822960" y="1417320"/>
            <a:ext cx="4114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Depth-limited search</a:t>
            </a:r>
            <a:endParaRPr lang="en-US" sz="1700" b="0" u="none" strike="noStrike">
              <a:solidFill>
                <a:srgbClr val="000000"/>
              </a:solidFill>
              <a:effectLst/>
              <a:uFillTx/>
              <a:latin typeface="Arial"/>
            </a:endParaRPr>
          </a:p>
        </p:txBody>
      </p:sp>
      <p:sp>
        <p:nvSpPr>
          <p:cNvPr id="1265" name="Text 6"/>
          <p:cNvSpPr/>
          <p:nvPr/>
        </p:nvSpPr>
        <p:spPr>
          <a:xfrm>
            <a:off x="914400" y="2057400"/>
            <a:ext cx="402300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Set a depth limit ℓ. Nodes at depth ℓ are treated as if they have no successors.</a:t>
            </a:r>
            <a:endParaRPr lang="en-US" sz="1500" b="0" u="none" strike="noStrike">
              <a:solidFill>
                <a:srgbClr val="000000"/>
              </a:solidFill>
              <a:effectLst/>
              <a:uFillTx/>
              <a:latin typeface="Arial"/>
            </a:endParaRPr>
          </a:p>
        </p:txBody>
      </p:sp>
      <p:sp>
        <p:nvSpPr>
          <p:cNvPr id="1266" name="Text 7"/>
          <p:cNvSpPr/>
          <p:nvPr/>
        </p:nvSpPr>
        <p:spPr>
          <a:xfrm>
            <a:off x="6400800" y="1417320"/>
            <a:ext cx="429732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Iterative deepening search</a:t>
            </a:r>
            <a:endParaRPr lang="en-US" sz="1700" b="0" u="none" strike="noStrike">
              <a:solidFill>
                <a:srgbClr val="000000"/>
              </a:solidFill>
              <a:effectLst/>
              <a:uFillTx/>
              <a:latin typeface="Arial"/>
            </a:endParaRPr>
          </a:p>
        </p:txBody>
      </p:sp>
      <p:sp>
        <p:nvSpPr>
          <p:cNvPr id="1267" name="Text 8"/>
          <p:cNvSpPr/>
          <p:nvPr/>
        </p:nvSpPr>
        <p:spPr>
          <a:xfrm>
            <a:off x="6492240" y="2057400"/>
            <a:ext cx="41144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Run depth-limited search with limits 0, 1, 2, … until a solution is found.</a:t>
            </a:r>
            <a:endParaRPr lang="en-US" sz="1500" b="0" u="none" strike="noStrike">
              <a:solidFill>
                <a:srgbClr val="000000"/>
              </a:solidFill>
              <a:effectLst/>
              <a:uFillTx/>
              <a:latin typeface="Arial"/>
            </a:endParaRPr>
          </a:p>
        </p:txBody>
      </p:sp>
      <p:sp>
        <p:nvSpPr>
          <p:cNvPr id="1268" name="Text 9"/>
          <p:cNvSpPr/>
          <p:nvPr/>
        </p:nvSpPr>
        <p:spPr>
          <a:xfrm>
            <a:off x="1097280" y="4069080"/>
            <a:ext cx="987516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12E5C"/>
                </a:solidFill>
                <a:effectLst/>
                <a:uFillTx/>
                <a:latin typeface="Aptos"/>
              </a:rPr>
              <a:t>IDS combines DFS-like memory with BFS-like shallow-solution behavior.</a:t>
            </a:r>
            <a:endParaRPr lang="en-US" sz="2000" b="0" u="none" strike="noStrike">
              <a:solidFill>
                <a:srgbClr val="000000"/>
              </a:solidFill>
              <a:effectLst/>
              <a:uFillTx/>
              <a:latin typeface="Arial"/>
            </a:endParaRPr>
          </a:p>
        </p:txBody>
      </p:sp>
      <p:sp>
        <p:nvSpPr>
          <p:cNvPr id="1269" name="Text 10"/>
          <p:cNvSpPr/>
          <p:nvPr/>
        </p:nvSpPr>
        <p:spPr>
          <a:xfrm>
            <a:off x="1097280" y="480060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0" u="none" strike="noStrike">
                <a:solidFill>
                  <a:srgbClr val="102A4C"/>
                </a:solidFill>
                <a:effectLst/>
                <a:uFillTx/>
                <a:latin typeface="Aptos"/>
              </a:rPr>
              <a:t>IDS time: O(b^d). IDS memory: O(bd). Preferred when depth is unknown and memory is limited.</a:t>
            </a:r>
            <a:endParaRPr lang="en-US" sz="1700" b="0" u="none" strike="noStrike">
              <a:solidFill>
                <a:srgbClr val="000000"/>
              </a:solidFill>
              <a:effectLst/>
              <a:uFillTx/>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Depth-Limited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295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3.12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219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50" b="1" u="none" strike="noStrike" dirty="0">
                <a:solidFill>
                  <a:srgbClr val="F6A01A"/>
                </a:solidFill>
                <a:effectLst/>
                <a:uFillTx/>
                <a:latin typeface="Consolas"/>
              </a:rPr>
              <a:t>function</a:t>
            </a:r>
            <a:r>
              <a:rPr lang="en-US" sz="950" b="0" u="none" strike="noStrike" dirty="0">
                <a:solidFill>
                  <a:srgbClr val="EAF2FF"/>
                </a:solidFill>
                <a:effectLst/>
                <a:uFillTx/>
                <a:latin typeface="Consolas"/>
              </a:rPr>
              <a:t> DEPTH-LIMITED-SEARCH(problem, ℓ) </a:t>
            </a:r>
            <a:r>
              <a:rPr lang="en-US" sz="950" b="1" u="none" strike="noStrike" dirty="0">
                <a:solidFill>
                  <a:srgbClr val="F6A01A"/>
                </a:solidFill>
                <a:effectLst/>
                <a:uFillTx/>
                <a:latin typeface="Consolas"/>
              </a:rPr>
              <a:t>returns</a:t>
            </a:r>
            <a:r>
              <a:rPr lang="en-US" sz="950" b="0" u="none" strike="noStrike" dirty="0">
                <a:solidFill>
                  <a:srgbClr val="EAF2FF"/>
                </a:solidFill>
                <a:effectLst/>
                <a:uFillTx/>
                <a:latin typeface="Consolas"/>
              </a:rPr>
              <a:t> a node,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2A0A0"/>
                </a:solidFill>
                <a:effectLst/>
                <a:uFillTx/>
                <a:latin typeface="Consolas"/>
              </a:rPr>
              <a:t>failure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FD27A"/>
                </a:solidFill>
                <a:effectLst/>
                <a:uFillTx/>
                <a:latin typeface="Consolas"/>
              </a:rPr>
              <a:t>cutoff</a:t>
            </a:r>
            <a:endParaRPr lang="en-US" sz="950" b="0" u="none" strike="noStrike">
              <a:solidFill>
                <a:srgbClr val="000000"/>
              </a:solidFill>
              <a:effectLst/>
              <a:uFillTx/>
              <a:latin typeface="Arial"/>
            </a:endParaRPr>
          </a:p>
          <a:p>
            <a:pPr algn="l" defTabSz="914400">
              <a:lnSpc>
                <a:spcPct val="100000"/>
              </a:lnSpc>
              <a:spcAft>
                <a:spcPts val="120"/>
              </a:spcAft>
              <a:buNone/>
            </a:pP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frontier ← a LIFO queue (stack) with NODE(problem.INITIAL) as an element</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a:t>
            </a:r>
            <a:r>
              <a:rPr lang="en-US" sz="950" b="1" u="none" strike="noStrike" dirty="0">
                <a:solidFill>
                  <a:srgbClr val="F2A0A0"/>
                </a:solidFill>
                <a:effectLst/>
                <a:uFillTx/>
                <a:latin typeface="Consolas"/>
              </a:rPr>
              <a:t>failure</a:t>
            </a:r>
            <a:endParaRPr lang="en-US" sz="950" b="0" u="none" strike="noStrike">
              <a:solidFill>
                <a:srgbClr val="000000"/>
              </a:solidFill>
              <a:effectLst/>
              <a:uFillTx/>
              <a:latin typeface="Arial"/>
            </a:endParaRPr>
          </a:p>
          <a:p>
            <a:pPr algn="l" defTabSz="914400">
              <a:lnSpc>
                <a:spcPct val="100000"/>
              </a:lnSpc>
              <a:spcAft>
                <a:spcPts val="120"/>
              </a:spcAft>
              <a:buNone/>
            </a:pP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while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not</a:t>
            </a:r>
            <a:r>
              <a:rPr lang="en-US" sz="950" b="0" u="none" strike="noStrike" dirty="0">
                <a:solidFill>
                  <a:srgbClr val="EAF2FF"/>
                </a:solidFill>
                <a:effectLst/>
                <a:uFillTx/>
                <a:latin typeface="Consolas"/>
              </a:rPr>
              <a:t> IS-EMPTY(frontier)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node ← POP(frontier)</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problem.IS-GOAL(node.STATE) </a:t>
            </a:r>
            <a:r>
              <a:rPr lang="en-US" sz="950" b="1" u="none" strike="noStrike" dirty="0">
                <a:solidFill>
                  <a:srgbClr val="F6A01A"/>
                </a:solidFill>
                <a:effectLst/>
                <a:uFillTx/>
                <a:latin typeface="Consolas"/>
              </a:rPr>
              <a:t>then</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node</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DEPTH(node) &gt; ℓ </a:t>
            </a:r>
            <a:r>
              <a:rPr lang="en-US" sz="950" b="1" u="none" strike="noStrike" dirty="0">
                <a:solidFill>
                  <a:srgbClr val="F6A01A"/>
                </a:solidFill>
                <a:effectLst/>
                <a:uFillTx/>
                <a:latin typeface="Consolas"/>
              </a:rPr>
              <a:t>then</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a:t>
            </a:r>
            <a:r>
              <a:rPr lang="en-US" sz="950" b="1" u="none" strike="noStrike" dirty="0">
                <a:solidFill>
                  <a:srgbClr val="FFD27A"/>
                </a:solidFill>
                <a:effectLst/>
                <a:uFillTx/>
                <a:latin typeface="Consolas"/>
              </a:rPr>
              <a:t>cutoff</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else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not</a:t>
            </a:r>
            <a:r>
              <a:rPr lang="en-US" sz="950" b="0" u="none" strike="noStrike" dirty="0">
                <a:solidFill>
                  <a:srgbClr val="EAF2FF"/>
                </a:solidFill>
                <a:effectLst/>
                <a:uFillTx/>
                <a:latin typeface="Consolas"/>
              </a:rPr>
              <a:t> IS-CYCLE(node)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for</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each</a:t>
            </a:r>
            <a:r>
              <a:rPr lang="en-US" sz="950" b="0" u="none" strike="noStrike" dirty="0">
                <a:solidFill>
                  <a:srgbClr val="EAF2FF"/>
                </a:solidFill>
                <a:effectLst/>
                <a:uFillTx/>
                <a:latin typeface="Consolas"/>
              </a:rPr>
              <a:t> child in EXPAND(problem, node)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add child </a:t>
            </a:r>
            <a:r>
              <a:rPr lang="en-US" sz="950" b="1" u="none" strike="noStrike" dirty="0">
                <a:solidFill>
                  <a:srgbClr val="F6A01A"/>
                </a:solidFill>
                <a:effectLst/>
                <a:uFillTx/>
                <a:latin typeface="Consolas"/>
              </a:rPr>
              <a:t>to</a:t>
            </a:r>
            <a:r>
              <a:rPr lang="en-US" sz="950" b="0" u="none" strike="noStrike" dirty="0">
                <a:solidFill>
                  <a:srgbClr val="EAF2FF"/>
                </a:solidFill>
                <a:effectLst/>
                <a:uFillTx/>
                <a:latin typeface="Consolas"/>
              </a:rPr>
              <a:t> frontier</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2009" name="NoteCard 2009"/>
          <p:cNvSpPr/>
          <p:nvPr/>
        </p:nvSpPr>
        <p:spPr>
          <a:xfrm>
            <a:off x="502920" y="4350020"/>
            <a:ext cx="6300000" cy="78998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708660" y="4487180"/>
            <a:ext cx="588852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F6A01A"/>
                </a:solidFill>
                <a:effectLst/>
                <a:uFillTx/>
                <a:latin typeface="Aptos"/>
              </a:rPr>
              <a:t>Notice what is not here</a:t>
            </a:r>
            <a:endParaRPr lang="en-US" sz="1100" b="0" u="none" strike="noStrike">
              <a:solidFill>
                <a:srgbClr val="000000"/>
              </a:solidFill>
              <a:effectLst/>
              <a:uFillTx/>
              <a:latin typeface="Arial"/>
            </a:endParaRPr>
          </a:p>
        </p:txBody>
      </p:sp>
      <p:sp>
        <p:nvSpPr>
          <p:cNvPr id="2011" name="CardBody 2011"/>
          <p:cNvSpPr/>
          <p:nvPr/>
        </p:nvSpPr>
        <p:spPr>
          <a:xfrm>
            <a:off x="708660" y="4715780"/>
            <a:ext cx="5888520" cy="2870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Set ℓ = ∞ and delete the DEPTH test and this is plain depth-first search. The textbook never gives DFS its own figure, because this is it.</a:t>
            </a:r>
            <a:endParaRPr lang="en-US" sz="1100" b="0" u="none" strike="noStrike">
              <a:solidFill>
                <a:srgbClr val="000000"/>
              </a:solidFill>
              <a:effectLst/>
              <a:uFillTx/>
              <a:latin typeface="Arial"/>
            </a:endParaRPr>
          </a:p>
        </p:txBody>
      </p:sp>
      <p:sp>
        <p:nvSpPr>
          <p:cNvPr id="2012" name="NoteCard 2012"/>
          <p:cNvSpPr/>
          <p:nvPr/>
        </p:nvSpPr>
        <p:spPr>
          <a:xfrm>
            <a:off x="7077240" y="124000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A LIFO stack</a:t>
            </a:r>
            <a:endParaRPr lang="en-US" sz="1100" b="0" u="none" strike="noStrike">
              <a:solidFill>
                <a:srgbClr val="000000"/>
              </a:solidFill>
              <a:effectLst/>
              <a:uFillTx/>
              <a:latin typeface="Arial"/>
            </a:endParaRPr>
          </a:p>
        </p:txBody>
      </p:sp>
      <p:sp>
        <p:nvSpPr>
          <p:cNvPr id="2014" name="CardBody 2014"/>
          <p:cNvSpPr/>
          <p:nvPr/>
        </p:nvSpPr>
        <p:spPr>
          <a:xfrm>
            <a:off x="7282980" y="160576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POP returns the newest node, so the search drives down one branch before touching any sibling.</a:t>
            </a:r>
            <a:endParaRPr lang="en-US" sz="1100" b="0" u="none" strike="noStrike">
              <a:solidFill>
                <a:srgbClr val="000000"/>
              </a:solidFill>
              <a:effectLst/>
              <a:uFillTx/>
              <a:latin typeface="Arial"/>
            </a:endParaRPr>
          </a:p>
        </p:txBody>
      </p:sp>
      <p:sp>
        <p:nvSpPr>
          <p:cNvPr id="2015" name="NoteCard 2015"/>
          <p:cNvSpPr/>
          <p:nvPr/>
        </p:nvSpPr>
        <p:spPr>
          <a:xfrm>
            <a:off x="7077240" y="225500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282980" y="239216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Three possible answers</a:t>
            </a:r>
            <a:endParaRPr lang="en-US" sz="1100" b="0" u="none" strike="noStrike">
              <a:solidFill>
                <a:srgbClr val="000000"/>
              </a:solidFill>
              <a:effectLst/>
              <a:uFillTx/>
              <a:latin typeface="Arial"/>
            </a:endParaRPr>
          </a:p>
        </p:txBody>
      </p:sp>
      <p:sp>
        <p:nvSpPr>
          <p:cNvPr id="2017" name="CardBody 2017"/>
          <p:cNvSpPr/>
          <p:nvPr/>
        </p:nvSpPr>
        <p:spPr>
          <a:xfrm>
            <a:off x="7282980" y="262076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A solution node, failure, or cutoff. The last two are not the same thing, and confusing them is the classic exam error.</a:t>
            </a:r>
            <a:endParaRPr lang="en-US" sz="1100" b="0" u="none" strike="noStrike">
              <a:solidFill>
                <a:srgbClr val="000000"/>
              </a:solidFill>
              <a:effectLst/>
              <a:uFillTx/>
              <a:latin typeface="Arial"/>
            </a:endParaRPr>
          </a:p>
        </p:txBody>
      </p:sp>
      <p:sp>
        <p:nvSpPr>
          <p:cNvPr id="2018" name="NoteCard 2018"/>
          <p:cNvSpPr/>
          <p:nvPr/>
        </p:nvSpPr>
        <p:spPr>
          <a:xfrm>
            <a:off x="7077240" y="327001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282980" y="340717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No reached table at all</a:t>
            </a:r>
            <a:endParaRPr lang="en-US" sz="1100" b="0" u="none" strike="noStrike">
              <a:solidFill>
                <a:srgbClr val="000000"/>
              </a:solidFill>
              <a:effectLst/>
              <a:uFillTx/>
              <a:latin typeface="Arial"/>
            </a:endParaRPr>
          </a:p>
        </p:txBody>
      </p:sp>
      <p:sp>
        <p:nvSpPr>
          <p:cNvPr id="2020" name="CardBody 2020"/>
          <p:cNvSpPr/>
          <p:nvPr/>
        </p:nvSpPr>
        <p:spPr>
          <a:xfrm>
            <a:off x="7282980" y="363577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This is tree-like search. Memory is O(bℓ): one path plus the siblings along it, never a stored tier.</a:t>
            </a:r>
            <a:endParaRPr lang="en-US" sz="1100" b="0" u="none" strike="noStrike">
              <a:solidFill>
                <a:srgbClr val="000000"/>
              </a:solidFill>
              <a:effectLst/>
              <a:uFillTx/>
              <a:latin typeface="Arial"/>
            </a:endParaRPr>
          </a:p>
        </p:txBody>
      </p:sp>
      <p:sp>
        <p:nvSpPr>
          <p:cNvPr id="2021" name="NoteCard 2021"/>
          <p:cNvSpPr/>
          <p:nvPr/>
        </p:nvSpPr>
        <p:spPr>
          <a:xfrm>
            <a:off x="7077240" y="428501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2" name="CardHead 2022"/>
          <p:cNvSpPr/>
          <p:nvPr/>
        </p:nvSpPr>
        <p:spPr>
          <a:xfrm>
            <a:off x="7282980" y="442217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IS-CYCLE(node)</a:t>
            </a:r>
            <a:endParaRPr lang="en-US" sz="1100" b="0" u="none" strike="noStrike">
              <a:solidFill>
                <a:srgbClr val="000000"/>
              </a:solidFill>
              <a:effectLst/>
              <a:uFillTx/>
              <a:latin typeface="Arial"/>
            </a:endParaRPr>
          </a:p>
        </p:txBody>
      </p:sp>
      <p:sp>
        <p:nvSpPr>
          <p:cNvPr id="2023" name="CardBody 2023"/>
          <p:cNvSpPr/>
          <p:nvPr/>
        </p:nvSpPr>
        <p:spPr>
          <a:xfrm>
            <a:off x="7282980" y="465077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Walks the parent chain looking for a repeated state. Check a few links for cheap safety, or all the way up for full safety.</a:t>
            </a:r>
            <a:endParaRPr lang="en-US" sz="1100" b="0" u="none" strike="noStrike">
              <a:solidFill>
                <a:srgbClr val="000000"/>
              </a:solidFill>
              <a:effectLst/>
              <a:uFillTx/>
              <a:latin typeface="Arial"/>
            </a:endParaRPr>
          </a:p>
        </p:txBody>
      </p:sp>
      <p:sp>
        <p:nvSpPr>
          <p:cNvPr id="2024" name="Banner 2024"/>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Depth-limited search is depth-first search with a governor bolted on. The limit ℓ makes the search terminate; it does not make the search correct.</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If ℓ is smaller than the shallowest solution, the answer comes back as cutoff — the algorithm's way of telling you not to read the result as “there is no solution”.</a:t>
            </a:r>
            <a:endParaRPr lang="en-US" sz="1100" b="0" u="none" strike="noStrike">
              <a:solidFill>
                <a:srgbClr val="000000"/>
              </a:solidFill>
              <a:effectLst/>
              <a:uFillTx/>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Failure Is Not Cutoff</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Outcome 2006"/>
          <p:cNvSpPr/>
          <p:nvPr/>
        </p:nvSpPr>
        <p:spPr>
          <a:xfrm>
            <a:off x="502920" y="1240000"/>
            <a:ext cx="3545840" cy="2100000"/>
          </a:xfrm>
          <a:prstGeom prst="roundRect">
            <a:avLst>
              <a:gd name="adj" fmla="val 3000"/>
            </a:avLst>
          </a:prstGeom>
          <a:solidFill>
            <a:srgbClr val="DBF1E3"/>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Text 2007"/>
          <p:cNvSpPr/>
          <p:nvPr/>
        </p:nvSpPr>
        <p:spPr>
          <a:xfrm>
            <a:off x="70866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177245"/>
                </a:solidFill>
                <a:effectLst/>
                <a:uFillTx/>
                <a:latin typeface="Consolas"/>
              </a:rPr>
              <a:t>solution node</a:t>
            </a:r>
            <a:endParaRPr lang="en-US" sz="1100" b="0" u="none" strike="noStrike">
              <a:solidFill>
                <a:srgbClr val="000000"/>
              </a:solidFill>
              <a:effectLst/>
              <a:uFillTx/>
              <a:latin typeface="Arial"/>
            </a:endParaRPr>
          </a:p>
        </p:txBody>
      </p:sp>
      <p:sp>
        <p:nvSpPr>
          <p:cNvPr id="2008" name="Text 2008"/>
          <p:cNvSpPr/>
          <p:nvPr/>
        </p:nvSpPr>
        <p:spPr>
          <a:xfrm>
            <a:off x="70866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A goal state was popped at depth ≤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done. The path is real, and it lies inside the limit you set.</a:t>
            </a:r>
            <a:endParaRPr lang="en-US" sz="1100" b="0" u="none" strike="noStrike">
              <a:solidFill>
                <a:srgbClr val="000000"/>
              </a:solidFill>
              <a:effectLst/>
              <a:uFillTx/>
              <a:latin typeface="Arial"/>
            </a:endParaRPr>
          </a:p>
        </p:txBody>
      </p:sp>
      <p:sp>
        <p:nvSpPr>
          <p:cNvPr id="2009" name="Outcome 2009"/>
          <p:cNvSpPr/>
          <p:nvPr/>
        </p:nvSpPr>
        <p:spPr>
          <a:xfrm>
            <a:off x="4323080" y="1240000"/>
            <a:ext cx="3545840" cy="2100000"/>
          </a:xfrm>
          <a:prstGeom prst="roundRect">
            <a:avLst>
              <a:gd name="adj" fmla="val 3000"/>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Text 2010"/>
          <p:cNvSpPr/>
          <p:nvPr/>
        </p:nvSpPr>
        <p:spPr>
          <a:xfrm>
            <a:off x="452882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9B1C1C"/>
                </a:solidFill>
                <a:effectLst/>
                <a:uFillTx/>
                <a:latin typeface="Consolas"/>
              </a:rPr>
              <a:t>failure</a:t>
            </a:r>
            <a:endParaRPr lang="en-US" sz="1100" b="0" u="none" strike="noStrike">
              <a:solidFill>
                <a:srgbClr val="000000"/>
              </a:solidFill>
              <a:effectLst/>
              <a:uFillTx/>
              <a:latin typeface="Arial"/>
            </a:endParaRPr>
          </a:p>
        </p:txBody>
      </p:sp>
      <p:sp>
        <p:nvSpPr>
          <p:cNvPr id="2011" name="Text 2011"/>
          <p:cNvSpPr/>
          <p:nvPr/>
        </p:nvSpPr>
        <p:spPr>
          <a:xfrm>
            <a:off x="452882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The stack emptied and no node was ever truncated at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the reachable space was exhausted. There is no solution — full stop.</a:t>
            </a:r>
            <a:endParaRPr lang="en-US" sz="1100" b="0" u="none" strike="noStrike">
              <a:solidFill>
                <a:srgbClr val="000000"/>
              </a:solidFill>
              <a:effectLst/>
              <a:uFillTx/>
              <a:latin typeface="Arial"/>
            </a:endParaRPr>
          </a:p>
        </p:txBody>
      </p:sp>
      <p:sp>
        <p:nvSpPr>
          <p:cNvPr id="2012" name="Outcome 2012"/>
          <p:cNvSpPr/>
          <p:nvPr/>
        </p:nvSpPr>
        <p:spPr>
          <a:xfrm>
            <a:off x="8143240" y="1240000"/>
            <a:ext cx="3545840" cy="2100000"/>
          </a:xfrm>
          <a:prstGeom prst="roundRect">
            <a:avLst>
              <a:gd name="adj" fmla="val 3000"/>
            </a:avLst>
          </a:prstGeom>
          <a:solidFill>
            <a:srgbClr val="FFE5B6"/>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Text 2013"/>
          <p:cNvSpPr/>
          <p:nvPr/>
        </p:nvSpPr>
        <p:spPr>
          <a:xfrm>
            <a:off x="834898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8A5A00"/>
                </a:solidFill>
                <a:effectLst/>
                <a:uFillTx/>
                <a:latin typeface="Consolas"/>
              </a:rPr>
              <a:t>cutoff</a:t>
            </a:r>
            <a:endParaRPr lang="en-US" sz="1100" b="0" u="none" strike="noStrike">
              <a:solidFill>
                <a:srgbClr val="000000"/>
              </a:solidFill>
              <a:effectLst/>
              <a:uFillTx/>
              <a:latin typeface="Arial"/>
            </a:endParaRPr>
          </a:p>
        </p:txBody>
      </p:sp>
      <p:sp>
        <p:nvSpPr>
          <p:cNvPr id="2014" name="Text 2014"/>
          <p:cNvSpPr/>
          <p:nvPr/>
        </p:nvSpPr>
        <p:spPr>
          <a:xfrm>
            <a:off x="834898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The stack emptied, but at least one node was cut off at depth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unknown. There may be a solution deeper down; you simply did not look.</a:t>
            </a:r>
            <a:endParaRPr lang="en-US" sz="1100" b="0" u="none" strike="noStrike">
              <a:solidFill>
                <a:srgbClr val="000000"/>
              </a:solidFill>
              <a:effectLst/>
              <a:uFillTx/>
              <a:latin typeface="Arial"/>
            </a:endParaRPr>
          </a:p>
        </p:txBody>
      </p:sp>
      <p:sp>
        <p:nvSpPr>
          <p:cNvPr id="2015" name="NoteCard 2015"/>
          <p:cNvSpPr/>
          <p:nvPr/>
        </p:nvSpPr>
        <p:spPr>
          <a:xfrm>
            <a:off x="502920" y="3520000"/>
            <a:ext cx="5455920" cy="17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08660" y="3657160"/>
            <a:ext cx="504444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Why result is a variable, not a return</a:t>
            </a:r>
            <a:endParaRPr lang="en-US" sz="1100" b="0" u="none" strike="noStrike">
              <a:solidFill>
                <a:srgbClr val="000000"/>
              </a:solidFill>
              <a:effectLst/>
              <a:uFillTx/>
              <a:latin typeface="Arial"/>
            </a:endParaRPr>
          </a:p>
        </p:txBody>
      </p:sp>
      <p:sp>
        <p:nvSpPr>
          <p:cNvPr id="2017" name="CardBody 2017"/>
          <p:cNvSpPr/>
          <p:nvPr/>
        </p:nvSpPr>
        <p:spPr>
          <a:xfrm>
            <a:off x="708660" y="3885760"/>
            <a:ext cx="5044440" cy="11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1000" b="0" u="none" strike="noStrike" dirty="0">
                <a:solidFill>
                  <a:srgbClr val="102A4C"/>
                </a:solidFill>
                <a:effectLst/>
                <a:uFillTx/>
                <a:latin typeface="Aptos"/>
              </a:rPr>
              <a:t>result starts at failure and is upgraded to cutoff the first time a node is truncated. The function returns only after the stack empties, so the answer describes the whole search rather than the first branch that ran out of room.</a:t>
            </a:r>
            <a:endParaRPr lang="en-US" sz="1100" b="0" u="none" strike="noStrike">
              <a:solidFill>
                <a:srgbClr val="000000"/>
              </a:solidFill>
              <a:effectLst/>
              <a:uFillTx/>
              <a:latin typeface="Arial"/>
            </a:endParaRPr>
          </a:p>
          <a:p>
            <a:pPr algn="l" defTabSz="914400">
              <a:lnSpc>
                <a:spcPct val="104000"/>
              </a:lnSpc>
              <a:buNone/>
            </a:pPr>
            <a:r>
              <a:rPr lang="en-US" sz="1000" b="1" u="none" strike="noStrike" dirty="0">
                <a:solidFill>
                  <a:srgbClr val="9B1C1C"/>
                </a:solidFill>
                <a:effectLst/>
                <a:uFillTx/>
                <a:latin typeface="Aptos"/>
              </a:rPr>
              <a:t>One truncated branch anywhere is enough to void a failure.</a:t>
            </a:r>
            <a:endParaRPr lang="en-US" sz="1100" b="0" u="none" strike="noStrike">
              <a:solidFill>
                <a:srgbClr val="000000"/>
              </a:solidFill>
              <a:effectLst/>
              <a:uFillTx/>
              <a:latin typeface="Arial"/>
            </a:endParaRPr>
          </a:p>
        </p:txBody>
      </p:sp>
      <p:sp>
        <p:nvSpPr>
          <p:cNvPr id="2018" name="NoteCard 2018"/>
          <p:cNvSpPr/>
          <p:nvPr/>
        </p:nvSpPr>
        <p:spPr>
          <a:xfrm>
            <a:off x="6233160" y="3520000"/>
            <a:ext cx="5455920" cy="17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6438900" y="3657160"/>
            <a:ext cx="504444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Choosing ℓ, using the Romania map</a:t>
            </a:r>
            <a:endParaRPr lang="en-US" sz="1100" b="0" u="none" strike="noStrike">
              <a:solidFill>
                <a:srgbClr val="000000"/>
              </a:solidFill>
              <a:effectLst/>
              <a:uFillTx/>
              <a:latin typeface="Arial"/>
            </a:endParaRPr>
          </a:p>
        </p:txBody>
      </p:sp>
      <p:sp>
        <p:nvSpPr>
          <p:cNvPr id="2020" name="CardBody 2020"/>
          <p:cNvSpPr/>
          <p:nvPr/>
        </p:nvSpPr>
        <p:spPr>
          <a:xfrm>
            <a:off x="6438900" y="3885760"/>
            <a:ext cx="5044440" cy="11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19 is always safe. </a:t>
            </a:r>
            <a:r>
              <a:rPr lang="en-US" sz="950" b="0" u="none" strike="noStrike" dirty="0">
                <a:solidFill>
                  <a:srgbClr val="102A4C"/>
                </a:solidFill>
                <a:effectLst/>
                <a:uFillTx/>
                <a:latin typeface="Aptos"/>
              </a:rPr>
              <a:t>20 cities, so no solution path needs more than 19 actions.</a:t>
            </a:r>
            <a:endParaRPr lang="en-US" sz="950" b="0" u="none" strike="noStrike">
              <a:solidFill>
                <a:srgbClr val="000000"/>
              </a:solidFill>
              <a:effectLst/>
              <a:uFillTx/>
              <a:latin typeface="Arial"/>
            </a:endParaRPr>
          </a:p>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9 is the good limit. </a:t>
            </a:r>
            <a:r>
              <a:rPr lang="en-US" sz="950" b="0" u="none" strike="noStrike" dirty="0">
                <a:solidFill>
                  <a:srgbClr val="102A4C"/>
                </a:solidFill>
                <a:effectLst/>
                <a:uFillTx/>
                <a:latin typeface="Aptos"/>
              </a:rPr>
              <a:t>That is the diameter of the graph — any city reaches any other in 9.</a:t>
            </a:r>
            <a:endParaRPr lang="en-US" sz="950" b="0" u="none" strike="noStrike">
              <a:solidFill>
                <a:srgbClr val="000000"/>
              </a:solidFill>
              <a:effectLst/>
              <a:uFillTx/>
              <a:latin typeface="Arial"/>
            </a:endParaRPr>
          </a:p>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8 returns cutoff </a:t>
            </a:r>
            <a:r>
              <a:rPr lang="en-US" sz="950" b="0" u="none" strike="noStrike" dirty="0">
                <a:solidFill>
                  <a:srgbClr val="102A4C"/>
                </a:solidFill>
                <a:effectLst/>
                <a:uFillTx/>
                <a:latin typeface="Aptos"/>
              </a:rPr>
              <a:t>on a solvable problem, and that word is the only warning you get.</a:t>
            </a:r>
            <a:endParaRPr lang="en-US" sz="950" b="0" u="none" strike="noStrike">
              <a:solidFill>
                <a:srgbClr val="000000"/>
              </a:solidFill>
              <a:effectLst/>
              <a:uFillTx/>
              <a:latin typeface="Arial"/>
            </a:endParaRPr>
          </a:p>
        </p:txBody>
      </p:sp>
      <p:sp>
        <p:nvSpPr>
          <p:cNvPr id="2021" name="Banner 2021"/>
          <p:cNvSpPr/>
          <p:nvPr/>
        </p:nvSpPr>
        <p:spPr>
          <a:xfrm>
            <a:off x="502920" y="5430000"/>
            <a:ext cx="11186160" cy="79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70"/>
              </a:spcAft>
              <a:buNone/>
            </a:pPr>
            <a:r>
              <a:rPr lang="en-US" sz="1100" b="1" u="none" strike="noStrike" dirty="0">
                <a:solidFill>
                  <a:srgbClr val="102A4C"/>
                </a:solidFill>
                <a:effectLst/>
                <a:uFillTx/>
                <a:latin typeface="Aptos"/>
              </a:rPr>
              <a:t>In general the diameter is not known until the problem is solved — which is precisely why iterative deepening exists.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It removes the one parameter depth-limited search cannot choose for you, by trying every value in order.</a:t>
            </a:r>
            <a:endParaRPr lang="en-US" sz="1100" b="0" u="none" strike="noStrike">
              <a:solidFill>
                <a:srgbClr val="000000"/>
              </a:solidFill>
              <a:effectLst/>
              <a:uFillTx/>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Iterative Deepening: The Driver Loop</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142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3.12 (upper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66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50" b="1" u="none" strike="noStrike" dirty="0">
                <a:solidFill>
                  <a:srgbClr val="F6A01A"/>
                </a:solidFill>
                <a:effectLst/>
                <a:uFillTx/>
                <a:latin typeface="Consolas"/>
              </a:rPr>
              <a:t>function</a:t>
            </a:r>
            <a:r>
              <a:rPr lang="en-US" sz="950" b="0" u="none" strike="noStrike" dirty="0">
                <a:solidFill>
                  <a:srgbClr val="EAF2FF"/>
                </a:solidFill>
                <a:effectLst/>
                <a:uFillTx/>
                <a:latin typeface="Consolas"/>
              </a:rPr>
              <a:t> ITERATIVE-DEEPENING-SEARCH(problem) </a:t>
            </a:r>
            <a:r>
              <a:rPr lang="en-US" sz="950" b="1" u="none" strike="noStrike" dirty="0">
                <a:solidFill>
                  <a:srgbClr val="F6A01A"/>
                </a:solidFill>
                <a:effectLst/>
                <a:uFillTx/>
                <a:latin typeface="Consolas"/>
              </a:rPr>
              <a:t>returns</a:t>
            </a:r>
            <a:r>
              <a:rPr lang="en-US" sz="950" b="0" u="none" strike="noStrike" dirty="0">
                <a:solidFill>
                  <a:srgbClr val="EAF2FF"/>
                </a:solidFill>
                <a:effectLst/>
                <a:uFillTx/>
                <a:latin typeface="Consolas"/>
              </a:rPr>
              <a:t> a solution node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2A0A0"/>
                </a:solidFill>
                <a:effectLst/>
                <a:uFillTx/>
                <a:latin typeface="Consolas"/>
              </a:rPr>
              <a:t>failure</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for</a:t>
            </a:r>
            <a:r>
              <a:rPr lang="en-US" sz="950" b="0" u="none" strike="noStrike" dirty="0">
                <a:solidFill>
                  <a:srgbClr val="EAF2FF"/>
                </a:solidFill>
                <a:effectLst/>
                <a:uFillTx/>
                <a:latin typeface="Consolas"/>
              </a:rPr>
              <a:t> depth = 0 </a:t>
            </a:r>
            <a:r>
              <a:rPr lang="en-US" sz="950" b="1" u="none" strike="noStrike" dirty="0">
                <a:solidFill>
                  <a:srgbClr val="F6A01A"/>
                </a:solidFill>
                <a:effectLst/>
                <a:uFillTx/>
                <a:latin typeface="Consolas"/>
              </a:rPr>
              <a:t>to</a:t>
            </a:r>
            <a:r>
              <a:rPr lang="en-US" sz="950" b="0" u="none" strike="noStrike" dirty="0">
                <a:solidFill>
                  <a:srgbClr val="EAF2FF"/>
                </a:solidFill>
                <a:effectLst/>
                <a:uFillTx/>
                <a:latin typeface="Consolas"/>
              </a:rPr>
              <a:t> ∞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DEPTH-LIMITED-SEARCH(problem, depth)</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result ≠ </a:t>
            </a:r>
            <a:r>
              <a:rPr lang="en-US" sz="950" b="1" u="none" strike="noStrike" dirty="0">
                <a:solidFill>
                  <a:srgbClr val="FFD27A"/>
                </a:solidFill>
                <a:effectLst/>
                <a:uFillTx/>
                <a:latin typeface="Consolas"/>
              </a:rPr>
              <a:t>cutoff</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then</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2009" name="TT 2009"/>
          <p:cNvSpPr/>
          <p:nvPr/>
        </p:nvSpPr>
        <p:spPr>
          <a:xfrm>
            <a:off x="502920" y="2860000"/>
            <a:ext cx="15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limit ℓ</a:t>
            </a:r>
            <a:endParaRPr lang="en-US" sz="1100" b="0" u="none" strike="noStrike">
              <a:solidFill>
                <a:srgbClr val="000000"/>
              </a:solidFill>
              <a:effectLst/>
              <a:uFillTx/>
              <a:latin typeface="Arial"/>
            </a:endParaRPr>
          </a:p>
        </p:txBody>
      </p:sp>
      <p:sp>
        <p:nvSpPr>
          <p:cNvPr id="2010" name="TT 2010"/>
          <p:cNvSpPr/>
          <p:nvPr/>
        </p:nvSpPr>
        <p:spPr>
          <a:xfrm>
            <a:off x="2002920" y="2860000"/>
            <a:ext cx="23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DEPTH-LIMITED-SEARCH returns</a:t>
            </a:r>
            <a:endParaRPr lang="en-US" sz="1100" b="0" u="none" strike="noStrike">
              <a:solidFill>
                <a:srgbClr val="000000"/>
              </a:solidFill>
              <a:effectLst/>
              <a:uFillTx/>
              <a:latin typeface="Arial"/>
            </a:endParaRPr>
          </a:p>
        </p:txBody>
      </p:sp>
      <p:sp>
        <p:nvSpPr>
          <p:cNvPr id="2011" name="TT 2011"/>
          <p:cNvSpPr/>
          <p:nvPr/>
        </p:nvSpPr>
        <p:spPr>
          <a:xfrm>
            <a:off x="4302920" y="2860000"/>
            <a:ext cx="25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so IDS…</a:t>
            </a:r>
            <a:endParaRPr lang="en-US" sz="1100" b="0" u="none" strike="noStrike">
              <a:solidFill>
                <a:srgbClr val="000000"/>
              </a:solidFill>
              <a:effectLst/>
              <a:uFillTx/>
              <a:latin typeface="Arial"/>
            </a:endParaRPr>
          </a:p>
        </p:txBody>
      </p:sp>
      <p:sp>
        <p:nvSpPr>
          <p:cNvPr id="2012" name="TT 2012"/>
          <p:cNvSpPr/>
          <p:nvPr/>
        </p:nvSpPr>
        <p:spPr>
          <a:xfrm>
            <a:off x="502920" y="3280000"/>
            <a:ext cx="1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0</a:t>
            </a:r>
            <a:endParaRPr lang="en-US" sz="1100" b="0" u="none" strike="noStrike">
              <a:solidFill>
                <a:srgbClr val="000000"/>
              </a:solidFill>
              <a:effectLst/>
              <a:uFillTx/>
              <a:latin typeface="Arial"/>
            </a:endParaRPr>
          </a:p>
        </p:txBody>
      </p:sp>
      <p:sp>
        <p:nvSpPr>
          <p:cNvPr id="2013" name="TT 2013"/>
          <p:cNvSpPr/>
          <p:nvPr/>
        </p:nvSpPr>
        <p:spPr>
          <a:xfrm>
            <a:off x="2002920" y="3280000"/>
            <a:ext cx="23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14" name="TT 2014"/>
          <p:cNvSpPr/>
          <p:nvPr/>
        </p:nvSpPr>
        <p:spPr>
          <a:xfrm>
            <a:off x="4302920" y="3280000"/>
            <a:ext cx="2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15" name="TT 2015"/>
          <p:cNvSpPr/>
          <p:nvPr/>
        </p:nvSpPr>
        <p:spPr>
          <a:xfrm>
            <a:off x="502920" y="3660000"/>
            <a:ext cx="1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1</a:t>
            </a:r>
            <a:endParaRPr lang="en-US" sz="1100" b="0" u="none" strike="noStrike">
              <a:solidFill>
                <a:srgbClr val="000000"/>
              </a:solidFill>
              <a:effectLst/>
              <a:uFillTx/>
              <a:latin typeface="Arial"/>
            </a:endParaRPr>
          </a:p>
        </p:txBody>
      </p:sp>
      <p:sp>
        <p:nvSpPr>
          <p:cNvPr id="2016" name="TT 2016"/>
          <p:cNvSpPr/>
          <p:nvPr/>
        </p:nvSpPr>
        <p:spPr>
          <a:xfrm>
            <a:off x="2002920" y="3660000"/>
            <a:ext cx="23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17" name="TT 2017"/>
          <p:cNvSpPr/>
          <p:nvPr/>
        </p:nvSpPr>
        <p:spPr>
          <a:xfrm>
            <a:off x="4302920" y="3660000"/>
            <a:ext cx="2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18" name="TT 2018"/>
          <p:cNvSpPr/>
          <p:nvPr/>
        </p:nvSpPr>
        <p:spPr>
          <a:xfrm>
            <a:off x="502920" y="4040000"/>
            <a:ext cx="1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2</a:t>
            </a:r>
            <a:endParaRPr lang="en-US" sz="1100" b="0" u="none" strike="noStrike">
              <a:solidFill>
                <a:srgbClr val="000000"/>
              </a:solidFill>
              <a:effectLst/>
              <a:uFillTx/>
              <a:latin typeface="Arial"/>
            </a:endParaRPr>
          </a:p>
        </p:txBody>
      </p:sp>
      <p:sp>
        <p:nvSpPr>
          <p:cNvPr id="2019" name="TT 2019"/>
          <p:cNvSpPr/>
          <p:nvPr/>
        </p:nvSpPr>
        <p:spPr>
          <a:xfrm>
            <a:off x="2002920" y="4040000"/>
            <a:ext cx="23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20" name="TT 2020"/>
          <p:cNvSpPr/>
          <p:nvPr/>
        </p:nvSpPr>
        <p:spPr>
          <a:xfrm>
            <a:off x="4302920" y="4040000"/>
            <a:ext cx="2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21" name="TT 2021"/>
          <p:cNvSpPr/>
          <p:nvPr/>
        </p:nvSpPr>
        <p:spPr>
          <a:xfrm>
            <a:off x="502920" y="4420000"/>
            <a:ext cx="1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3</a:t>
            </a:r>
            <a:endParaRPr lang="en-US" sz="1100" b="0" u="none" strike="noStrike">
              <a:solidFill>
                <a:srgbClr val="000000"/>
              </a:solidFill>
              <a:effectLst/>
              <a:uFillTx/>
              <a:latin typeface="Arial"/>
            </a:endParaRPr>
          </a:p>
        </p:txBody>
      </p:sp>
      <p:sp>
        <p:nvSpPr>
          <p:cNvPr id="2022" name="TT 2022"/>
          <p:cNvSpPr/>
          <p:nvPr/>
        </p:nvSpPr>
        <p:spPr>
          <a:xfrm>
            <a:off x="2002920" y="4420000"/>
            <a:ext cx="23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solution node</a:t>
            </a:r>
            <a:endParaRPr lang="en-US" sz="1100" b="0" u="none" strike="noStrike">
              <a:solidFill>
                <a:srgbClr val="000000"/>
              </a:solidFill>
              <a:effectLst/>
              <a:uFillTx/>
              <a:latin typeface="Arial"/>
            </a:endParaRPr>
          </a:p>
        </p:txBody>
      </p:sp>
      <p:sp>
        <p:nvSpPr>
          <p:cNvPr id="2023" name="TT 2023"/>
          <p:cNvSpPr/>
          <p:nvPr/>
        </p:nvSpPr>
        <p:spPr>
          <a:xfrm>
            <a:off x="4302920" y="4420000"/>
            <a:ext cx="2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return it — and it is shallowest</a:t>
            </a:r>
            <a:endParaRPr lang="en-US" sz="1100" b="0" u="none" strike="noStrike">
              <a:solidFill>
                <a:srgbClr val="000000"/>
              </a:solidFill>
              <a:effectLst/>
              <a:uFillTx/>
              <a:latin typeface="Arial"/>
            </a:endParaRPr>
          </a:p>
        </p:txBody>
      </p:sp>
      <p:sp>
        <p:nvSpPr>
          <p:cNvPr id="2024" name="TT 2024"/>
          <p:cNvSpPr/>
          <p:nvPr/>
        </p:nvSpPr>
        <p:spPr>
          <a:xfrm>
            <a:off x="502920" y="4800000"/>
            <a:ext cx="15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any</a:t>
            </a:r>
            <a:endParaRPr lang="en-US" sz="1100" b="0" u="none" strike="noStrike">
              <a:solidFill>
                <a:srgbClr val="000000"/>
              </a:solidFill>
              <a:effectLst/>
              <a:uFillTx/>
              <a:latin typeface="Arial"/>
            </a:endParaRPr>
          </a:p>
        </p:txBody>
      </p:sp>
      <p:sp>
        <p:nvSpPr>
          <p:cNvPr id="2025" name="TT 2025"/>
          <p:cNvSpPr/>
          <p:nvPr/>
        </p:nvSpPr>
        <p:spPr>
          <a:xfrm>
            <a:off x="2002920" y="4800000"/>
            <a:ext cx="23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failure</a:t>
            </a:r>
            <a:endParaRPr lang="en-US" sz="1100" b="0" u="none" strike="noStrike">
              <a:solidFill>
                <a:srgbClr val="000000"/>
              </a:solidFill>
              <a:effectLst/>
              <a:uFillTx/>
              <a:latin typeface="Arial"/>
            </a:endParaRPr>
          </a:p>
        </p:txBody>
      </p:sp>
      <p:sp>
        <p:nvSpPr>
          <p:cNvPr id="2026" name="TT 2026"/>
          <p:cNvSpPr/>
          <p:nvPr/>
        </p:nvSpPr>
        <p:spPr>
          <a:xfrm>
            <a:off x="4302920" y="4800000"/>
            <a:ext cx="25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return failure — space exhausted</a:t>
            </a:r>
            <a:endParaRPr lang="en-US" sz="1100" b="0" u="none" strike="noStrike">
              <a:solidFill>
                <a:srgbClr val="000000"/>
              </a:solidFill>
              <a:effectLst/>
              <a:uFillTx/>
              <a:latin typeface="Arial"/>
            </a:endParaRPr>
          </a:p>
        </p:txBody>
      </p:sp>
      <p:sp>
        <p:nvSpPr>
          <p:cNvPr id="2027" name="NoteCard 2027"/>
          <p:cNvSpPr/>
          <p:nvPr/>
        </p:nvSpPr>
        <p:spPr>
          <a:xfrm>
            <a:off x="7077240" y="1240000"/>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8" name="CardHead 2028"/>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Four lines, because it delegates</a:t>
            </a:r>
            <a:endParaRPr lang="en-US" sz="1100" b="0" u="none" strike="noStrike">
              <a:solidFill>
                <a:srgbClr val="000000"/>
              </a:solidFill>
              <a:effectLst/>
              <a:uFillTx/>
              <a:latin typeface="Arial"/>
            </a:endParaRPr>
          </a:p>
        </p:txBody>
      </p:sp>
      <p:sp>
        <p:nvSpPr>
          <p:cNvPr id="2029" name="CardBody 2029"/>
          <p:cNvSpPr/>
          <p:nvPr/>
        </p:nvSpPr>
        <p:spPr>
          <a:xfrm>
            <a:off x="7282980" y="1605760"/>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Every iteration is an independent depth-limited search that starts from scratch. Nothing carries over but the limit.</a:t>
            </a:r>
            <a:endParaRPr lang="en-US" sz="1100" b="0" u="none" strike="noStrike">
              <a:solidFill>
                <a:srgbClr val="000000"/>
              </a:solidFill>
              <a:effectLst/>
              <a:uFillTx/>
              <a:latin typeface="Arial"/>
            </a:endParaRPr>
          </a:p>
        </p:txBody>
      </p:sp>
      <p:sp>
        <p:nvSpPr>
          <p:cNvPr id="2030" name="NoteCard 2030"/>
          <p:cNvSpPr/>
          <p:nvPr/>
        </p:nvSpPr>
        <p:spPr>
          <a:xfrm>
            <a:off x="7077240" y="2614293"/>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1" name="CardHead 2031"/>
          <p:cNvSpPr/>
          <p:nvPr/>
        </p:nvSpPr>
        <p:spPr>
          <a:xfrm>
            <a:off x="7282980" y="2751453"/>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 cutoff returns two things</a:t>
            </a:r>
            <a:endParaRPr lang="en-US" sz="1100" b="0" u="none" strike="noStrike">
              <a:solidFill>
                <a:srgbClr val="000000"/>
              </a:solidFill>
              <a:effectLst/>
              <a:uFillTx/>
              <a:latin typeface="Arial"/>
            </a:endParaRPr>
          </a:p>
        </p:txBody>
      </p:sp>
      <p:sp>
        <p:nvSpPr>
          <p:cNvPr id="2032" name="CardBody 2032"/>
          <p:cNvSpPr/>
          <p:nvPr/>
        </p:nvSpPr>
        <p:spPr>
          <a:xfrm>
            <a:off x="7282980" y="2980053"/>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A solution node, obviously. But also failure — because failure means nothing was truncated, so no deeper limit could help.</a:t>
            </a:r>
            <a:endParaRPr lang="en-US" sz="1100" b="0" u="none" strike="noStrike">
              <a:solidFill>
                <a:srgbClr val="000000"/>
              </a:solidFill>
              <a:effectLst/>
              <a:uFillTx/>
              <a:latin typeface="Arial"/>
            </a:endParaRPr>
          </a:p>
        </p:txBody>
      </p:sp>
      <p:sp>
        <p:nvSpPr>
          <p:cNvPr id="2033" name="NoteCard 2033"/>
          <p:cNvSpPr/>
          <p:nvPr/>
        </p:nvSpPr>
        <p:spPr>
          <a:xfrm>
            <a:off x="7077240" y="3988586"/>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4" name="CardHead 2034"/>
          <p:cNvSpPr/>
          <p:nvPr/>
        </p:nvSpPr>
        <p:spPr>
          <a:xfrm>
            <a:off x="7282980" y="4125746"/>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Memory stays linear</a:t>
            </a:r>
            <a:endParaRPr lang="en-US" sz="1100" b="0" u="none" strike="noStrike">
              <a:solidFill>
                <a:srgbClr val="000000"/>
              </a:solidFill>
              <a:effectLst/>
              <a:uFillTx/>
              <a:latin typeface="Arial"/>
            </a:endParaRPr>
          </a:p>
        </p:txBody>
      </p:sp>
      <p:sp>
        <p:nvSpPr>
          <p:cNvPr id="2035" name="CardBody 2035"/>
          <p:cNvSpPr/>
          <p:nvPr/>
        </p:nvSpPr>
        <p:spPr>
          <a:xfrm>
            <a:off x="7282980" y="4354346"/>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Each call holds one path plus its siblings: O(bd). IDS never stores a tier, which is what the extra node generations buy.</a:t>
            </a:r>
            <a:endParaRPr lang="en-US" sz="1100" b="0" u="none" strike="noStrike">
              <a:solidFill>
                <a:srgbClr val="000000"/>
              </a:solidFill>
              <a:effectLst/>
              <a:uFillTx/>
              <a:latin typeface="Arial"/>
            </a:endParaRPr>
          </a:p>
        </p:txBody>
      </p:sp>
      <p:sp>
        <p:nvSpPr>
          <p:cNvPr id="2036" name="Banner 2036"/>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On an infinite space with no solution, every call returns cutoff and the loop never ends.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That is not a defect in the pseudocode. It is the non-termination result from the completeness slide, showing up in code you can actually run.</a:t>
            </a:r>
            <a:endParaRPr lang="en-US" sz="1100" b="0" u="none" strike="noStrike">
              <a:solidFill>
                <a:srgbClr val="000000"/>
              </a:solidFill>
              <a:effectLst/>
              <a:uFillTx/>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7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Is Iterative Deepening Wasteful?</a:t>
            </a:r>
            <a:endParaRPr lang="en-US" sz="2600" b="0" u="none" strike="noStrike">
              <a:solidFill>
                <a:srgbClr val="000000"/>
              </a:solidFill>
              <a:effectLst/>
              <a:uFillTx/>
              <a:latin typeface="Arial"/>
            </a:endParaRPr>
          </a:p>
        </p:txBody>
      </p:sp>
      <p:sp>
        <p:nvSpPr>
          <p:cNvPr id="127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75" name="Rectangle 6"/>
          <p:cNvSpPr/>
          <p:nvPr/>
        </p:nvSpPr>
        <p:spPr>
          <a:xfrm>
            <a:off x="77724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Nodes generated for b = 10, d = 5</a:t>
            </a:r>
            <a:endParaRPr lang="en-US" sz="1350" b="0" u="none" strike="noStrike">
              <a:solidFill>
                <a:srgbClr val="000000"/>
              </a:solidFill>
              <a:effectLst/>
              <a:uFillTx/>
              <a:latin typeface="Arial"/>
            </a:endParaRPr>
          </a:p>
        </p:txBody>
      </p:sp>
      <p:sp>
        <p:nvSpPr>
          <p:cNvPr id="1276" name="Rounded Rectangle 7"/>
          <p:cNvSpPr/>
          <p:nvPr/>
        </p:nvSpPr>
        <p:spPr>
          <a:xfrm>
            <a:off x="77724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7" name="Rectangle 8"/>
          <p:cNvSpPr/>
          <p:nvPr/>
        </p:nvSpPr>
        <p:spPr>
          <a:xfrm>
            <a:off x="960120" y="19202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N(IDS)</a:t>
            </a:r>
            <a:endParaRPr lang="en-US" sz="1300" b="0" u="none" strike="noStrike">
              <a:solidFill>
                <a:srgbClr val="000000"/>
              </a:solidFill>
              <a:effectLst/>
              <a:uFillTx/>
              <a:latin typeface="Arial"/>
            </a:endParaRPr>
          </a:p>
        </p:txBody>
      </p:sp>
      <p:sp>
        <p:nvSpPr>
          <p:cNvPr id="1278" name="Rectangle 9"/>
          <p:cNvSpPr/>
          <p:nvPr/>
        </p:nvSpPr>
        <p:spPr>
          <a:xfrm>
            <a:off x="1965960" y="19202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50 + 400 + 3,000 + 20,000 + 100,000</a:t>
            </a:r>
            <a:endParaRPr lang="en-US" sz="1150" b="0" u="none" strike="noStrike">
              <a:solidFill>
                <a:srgbClr val="000000"/>
              </a:solidFill>
              <a:effectLst/>
              <a:uFillTx/>
              <a:latin typeface="Arial"/>
            </a:endParaRPr>
          </a:p>
        </p:txBody>
      </p:sp>
      <p:sp>
        <p:nvSpPr>
          <p:cNvPr id="1279" name="Rectangle 10"/>
          <p:cNvSpPr/>
          <p:nvPr/>
        </p:nvSpPr>
        <p:spPr>
          <a:xfrm>
            <a:off x="4434840" y="19202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123,450</a:t>
            </a:r>
            <a:endParaRPr lang="en-US" sz="1500" b="0" u="none" strike="noStrike">
              <a:solidFill>
                <a:srgbClr val="000000"/>
              </a:solidFill>
              <a:effectLst/>
              <a:uFillTx/>
              <a:latin typeface="Arial"/>
            </a:endParaRPr>
          </a:p>
        </p:txBody>
      </p:sp>
      <p:sp>
        <p:nvSpPr>
          <p:cNvPr id="1280" name="Rectangle 11"/>
          <p:cNvSpPr/>
          <p:nvPr/>
        </p:nvSpPr>
        <p:spPr>
          <a:xfrm>
            <a:off x="960120" y="23774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N(BFS)</a:t>
            </a:r>
            <a:endParaRPr lang="en-US" sz="1300" b="0" u="none" strike="noStrike">
              <a:solidFill>
                <a:srgbClr val="000000"/>
              </a:solidFill>
              <a:effectLst/>
              <a:uFillTx/>
              <a:latin typeface="Arial"/>
            </a:endParaRPr>
          </a:p>
        </p:txBody>
      </p:sp>
      <p:sp>
        <p:nvSpPr>
          <p:cNvPr id="1281" name="Rectangle 12"/>
          <p:cNvSpPr/>
          <p:nvPr/>
        </p:nvSpPr>
        <p:spPr>
          <a:xfrm>
            <a:off x="1965960" y="23774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10 + 100 + 1,000 + 10,000 + 100,000</a:t>
            </a:r>
            <a:endParaRPr lang="en-US" sz="1150" b="0" u="none" strike="noStrike">
              <a:solidFill>
                <a:srgbClr val="000000"/>
              </a:solidFill>
              <a:effectLst/>
              <a:uFillTx/>
              <a:latin typeface="Arial"/>
            </a:endParaRPr>
          </a:p>
        </p:txBody>
      </p:sp>
      <p:sp>
        <p:nvSpPr>
          <p:cNvPr id="1282" name="Rectangle 13"/>
          <p:cNvSpPr/>
          <p:nvPr/>
        </p:nvSpPr>
        <p:spPr>
          <a:xfrm>
            <a:off x="4434840" y="23774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177245"/>
                </a:solidFill>
                <a:effectLst/>
                <a:uFillTx/>
                <a:latin typeface="Aptos"/>
              </a:rPr>
              <a:t>111,110</a:t>
            </a:r>
            <a:endParaRPr lang="en-US" sz="1500" b="0" u="none" strike="noStrike">
              <a:solidFill>
                <a:srgbClr val="000000"/>
              </a:solidFill>
              <a:effectLst/>
              <a:uFillTx/>
              <a:latin typeface="Arial"/>
            </a:endParaRPr>
          </a:p>
        </p:txBody>
      </p:sp>
      <p:cxnSp>
        <p:nvCxnSpPr>
          <p:cNvPr id="1283" name="Connector 14"/>
          <p:cNvCxnSpPr/>
          <p:nvPr/>
        </p:nvCxnSpPr>
        <p:spPr>
          <a:xfrm>
            <a:off x="960120" y="2880360"/>
            <a:ext cx="4663800" cy="360"/>
          </a:xfrm>
          <a:prstGeom prst="straightConnector1">
            <a:avLst/>
          </a:prstGeom>
          <a:ln>
            <a:solidFill>
              <a:srgbClr val="D8DEE8"/>
            </a:solidFill>
          </a:ln>
        </p:spPr>
      </p:cxnSp>
      <p:sp>
        <p:nvSpPr>
          <p:cNvPr id="1284" name="Rectangle 15"/>
          <p:cNvSpPr/>
          <p:nvPr/>
        </p:nvSpPr>
        <p:spPr>
          <a:xfrm>
            <a:off x="960120" y="2971800"/>
            <a:ext cx="4663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112E5C"/>
                </a:solidFill>
                <a:effectLst/>
                <a:uFillTx/>
                <a:latin typeface="Aptos"/>
              </a:rPr>
              <a:t>Overhead: about 11 percent, and asymptotically O(bᵈ) either way.</a:t>
            </a:r>
            <a:endParaRPr lang="en-US" sz="1400" b="0" u="none" strike="noStrike">
              <a:solidFill>
                <a:srgbClr val="000000"/>
              </a:solidFill>
              <a:effectLst/>
              <a:uFillTx/>
              <a:latin typeface="Arial"/>
            </a:endParaRPr>
          </a:p>
        </p:txBody>
      </p:sp>
      <p:sp>
        <p:nvSpPr>
          <p:cNvPr id="1285" name="Rectangle 16"/>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Choosing the depth limit ℓ</a:t>
            </a:r>
            <a:endParaRPr lang="en-US" sz="1350" b="0" u="none" strike="noStrike">
              <a:solidFill>
                <a:srgbClr val="000000"/>
              </a:solidFill>
              <a:effectLst/>
              <a:uFillTx/>
              <a:latin typeface="Arial"/>
            </a:endParaRPr>
          </a:p>
        </p:txBody>
      </p:sp>
      <p:sp>
        <p:nvSpPr>
          <p:cNvPr id="1286" name="Rounded Rectangle 17"/>
          <p:cNvSpPr/>
          <p:nvPr/>
        </p:nvSpPr>
        <p:spPr>
          <a:xfrm>
            <a:off x="638568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87" name="Rectangle 18"/>
          <p:cNvSpPr/>
          <p:nvPr/>
        </p:nvSpPr>
        <p:spPr>
          <a:xfrm>
            <a:off x="6568560" y="1920240"/>
            <a:ext cx="466308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Romania has 20 cities, so ℓ = 19 is always valid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But any city is reachable from any other in at most 9 actions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That number is the diameter of the state-space graph, and it gives a far better limit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For most problems the diameter is unknown until the problem is solved</a:t>
            </a:r>
            <a:endParaRPr lang="en-US" sz="1250" b="0" u="none" strike="noStrike">
              <a:solidFill>
                <a:srgbClr val="000000"/>
              </a:solidFill>
              <a:effectLst/>
              <a:uFillTx/>
              <a:latin typeface="Arial"/>
            </a:endParaRPr>
          </a:p>
        </p:txBody>
      </p:sp>
      <p:sp>
        <p:nvSpPr>
          <p:cNvPr id="1288" name="Rectangle 19"/>
          <p:cNvSpPr/>
          <p:nvPr/>
        </p:nvSpPr>
        <p:spPr>
          <a:xfrm>
            <a:off x="914400" y="3749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Most of the nodes are in the bottom tier, so re-generating the upper tiers costs almost nothing.</a:t>
            </a:r>
            <a:endParaRPr lang="en-US" sz="1700" b="0" u="none" strike="noStrike">
              <a:solidFill>
                <a:srgbClr val="000000"/>
              </a:solidFill>
              <a:effectLst/>
              <a:uFillTx/>
              <a:latin typeface="Arial"/>
            </a:endParaRPr>
          </a:p>
        </p:txBody>
      </p:sp>
      <p:sp>
        <p:nvSpPr>
          <p:cNvPr id="1289" name="Rectangle 20"/>
          <p:cNvSpPr/>
          <p:nvPr/>
        </p:nvSpPr>
        <p:spPr>
          <a:xfrm>
            <a:off x="914400" y="42519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The children of the root are generated d times; the bottom level exactly once.</a:t>
            </a:r>
            <a:endParaRPr lang="en-US" sz="1400" b="0" u="none" strike="noStrike">
              <a:solidFill>
                <a:srgbClr val="000000"/>
              </a:solidFill>
              <a:effectLst/>
              <a:uFillTx/>
              <a:latin typeface="Arial"/>
            </a:endParaRPr>
          </a:p>
        </p:txBody>
      </p:sp>
      <p:sp>
        <p:nvSpPr>
          <p:cNvPr id="1290" name="Rounded Rectangle 21"/>
          <p:cNvSpPr/>
          <p:nvPr/>
        </p:nvSpPr>
        <p:spPr>
          <a:xfrm>
            <a:off x="914400" y="4617720"/>
            <a:ext cx="10423800" cy="73116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91" name="Rectangle 22"/>
          <p:cNvSpPr/>
          <p:nvPr/>
        </p:nvSpPr>
        <p:spPr>
          <a:xfrm>
            <a:off x="1097280" y="4709160"/>
            <a:ext cx="10058040" cy="5482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112E5C"/>
                </a:solidFill>
                <a:effectLst/>
                <a:uFillTx/>
                <a:latin typeface="Aptos"/>
              </a:rPr>
              <a:t>Hybrid worth mentioning: run BFS until memory is nearly exhausted, then run iterative deepening from every node left on the frontier.</a:t>
            </a:r>
            <a:endParaRPr lang="en-US" sz="1400" b="0" u="none" strike="noStrike">
              <a:solidFill>
                <a:srgbClr val="000000"/>
              </a:solidFill>
              <a:effectLst/>
              <a:uFillTx/>
              <a:latin typeface="Arial"/>
            </a:endParaRPr>
          </a:p>
        </p:txBody>
      </p:sp>
      <p:sp>
        <p:nvSpPr>
          <p:cNvPr id="1292" name="Rectangle 23"/>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IDS is the preferred uninformed method when the state space exceeds memory and the solution depth is unknown.</a:t>
            </a:r>
            <a:endParaRPr lang="en-US" sz="1500" b="0" u="none" strike="noStrike">
              <a:solidFill>
                <a:srgbClr val="000000"/>
              </a:solidFill>
              <a:effectLst/>
              <a:uFillTx/>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9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9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Bidirectional Search</a:t>
            </a:r>
            <a:endParaRPr lang="en-US" sz="2600" b="0" u="none" strike="noStrike">
              <a:solidFill>
                <a:srgbClr val="000000"/>
              </a:solidFill>
              <a:effectLst/>
              <a:uFillTx/>
              <a:latin typeface="Arial"/>
            </a:endParaRPr>
          </a:p>
        </p:txBody>
      </p:sp>
      <p:sp>
        <p:nvSpPr>
          <p:cNvPr id="129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9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98" name="Text 5"/>
          <p:cNvSpPr/>
          <p:nvPr/>
        </p:nvSpPr>
        <p:spPr>
          <a:xfrm>
            <a:off x="1179720" y="2779920"/>
            <a:ext cx="292320" cy="292320"/>
          </a:xfrm>
          <a:prstGeom prst="ellipse">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99" name="Text 6"/>
          <p:cNvSpPr/>
          <p:nvPr/>
        </p:nvSpPr>
        <p:spPr>
          <a:xfrm>
            <a:off x="10506600" y="277992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300" name="Shape 7"/>
          <p:cNvSpPr/>
          <p:nvPr/>
        </p:nvSpPr>
        <p:spPr>
          <a:xfrm>
            <a:off x="896040" y="2578680"/>
            <a:ext cx="859320" cy="69444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1" name="Shape 8"/>
          <p:cNvSpPr/>
          <p:nvPr/>
        </p:nvSpPr>
        <p:spPr>
          <a:xfrm>
            <a:off x="10222920" y="2578680"/>
            <a:ext cx="859320" cy="69444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2" name="Shape 9"/>
          <p:cNvSpPr/>
          <p:nvPr/>
        </p:nvSpPr>
        <p:spPr>
          <a:xfrm>
            <a:off x="466200" y="2231280"/>
            <a:ext cx="1718640" cy="138960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3" name="Shape 10"/>
          <p:cNvSpPr/>
          <p:nvPr/>
        </p:nvSpPr>
        <p:spPr>
          <a:xfrm>
            <a:off x="9793080" y="2231280"/>
            <a:ext cx="1718640" cy="138960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4" name="Shape 11"/>
          <p:cNvSpPr/>
          <p:nvPr/>
        </p:nvSpPr>
        <p:spPr>
          <a:xfrm>
            <a:off x="36720" y="1883520"/>
            <a:ext cx="2578320" cy="208440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5" name="Shape 12"/>
          <p:cNvSpPr/>
          <p:nvPr/>
        </p:nvSpPr>
        <p:spPr>
          <a:xfrm>
            <a:off x="9363600" y="1883520"/>
            <a:ext cx="2578320" cy="208440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6" name="Shape 13"/>
          <p:cNvSpPr/>
          <p:nvPr/>
        </p:nvSpPr>
        <p:spPr>
          <a:xfrm>
            <a:off x="2651760" y="2926080"/>
            <a:ext cx="6675120" cy="360"/>
          </a:xfrm>
          <a:prstGeom prst="line">
            <a:avLst/>
          </a:prstGeom>
          <a:ln w="19050">
            <a:solidFill>
              <a:srgbClr val="5C6B8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307" name="Text 14"/>
          <p:cNvSpPr/>
          <p:nvPr/>
        </p:nvSpPr>
        <p:spPr>
          <a:xfrm>
            <a:off x="4983480" y="2606040"/>
            <a:ext cx="214848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frontiers meet</a:t>
            </a:r>
            <a:endParaRPr lang="en-US" sz="1600" b="0" u="none" strike="noStrike">
              <a:solidFill>
                <a:srgbClr val="000000"/>
              </a:solidFill>
              <a:effectLst/>
              <a:uFillTx/>
              <a:latin typeface="Arial"/>
            </a:endParaRPr>
          </a:p>
        </p:txBody>
      </p:sp>
      <p:sp>
        <p:nvSpPr>
          <p:cNvPr id="1308" name="Text 15"/>
          <p:cNvSpPr/>
          <p:nvPr/>
        </p:nvSpPr>
        <p:spPr>
          <a:xfrm>
            <a:off x="1097280" y="4663440"/>
            <a:ext cx="987516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Motivation: b^(d/2) + b^(d/2) is much smaller than b^d.</a:t>
            </a:r>
            <a:endParaRPr lang="en-US" sz="1800" b="0" u="none" strike="noStrike">
              <a:solidFill>
                <a:srgbClr val="000000"/>
              </a:solidFill>
              <a:effectLst/>
              <a:uFillTx/>
              <a:latin typeface="Arial"/>
            </a:endParaRPr>
          </a:p>
        </p:txBody>
      </p:sp>
      <p:sp>
        <p:nvSpPr>
          <p:cNvPr id="1309" name="Text 16"/>
          <p:cNvSpPr/>
          <p:nvPr/>
        </p:nvSpPr>
        <p:spPr>
          <a:xfrm>
            <a:off x="1097280" y="5257800"/>
            <a:ext cx="987516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9B1C1C"/>
                </a:solidFill>
                <a:effectLst/>
                <a:uFillTx/>
                <a:latin typeface="Aptos"/>
              </a:rPr>
              <a:t>Challenge: backward actions and specific goal descriptions must be available.</a:t>
            </a:r>
            <a:endParaRPr lang="en-US" sz="1600" b="0" u="none" strike="noStrike">
              <a:solidFill>
                <a:srgbClr val="000000"/>
              </a:solidFill>
              <a:effectLst/>
              <a:uFillTx/>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1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1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1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Bidirectional Search: Mechanics and Cautions</a:t>
            </a:r>
            <a:endParaRPr lang="en-US" sz="2600" b="0" u="none" strike="noStrike">
              <a:solidFill>
                <a:srgbClr val="000000"/>
              </a:solidFill>
              <a:effectLst/>
              <a:uFillTx/>
              <a:latin typeface="Arial"/>
            </a:endParaRPr>
          </a:p>
        </p:txBody>
      </p:sp>
      <p:sp>
        <p:nvSpPr>
          <p:cNvPr id="131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1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15" name="Oval 6"/>
          <p:cNvSpPr/>
          <p:nvPr/>
        </p:nvSpPr>
        <p:spPr>
          <a:xfrm>
            <a:off x="2057400" y="2148840"/>
            <a:ext cx="456840" cy="45684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300" b="1" u="none" strike="noStrike">
                <a:solidFill>
                  <a:srgbClr val="112E5C"/>
                </a:solidFill>
                <a:effectLst/>
                <a:uFillTx/>
                <a:latin typeface="Aptos"/>
              </a:rPr>
              <a:t>S</a:t>
            </a:r>
            <a:endParaRPr lang="en-US" sz="1300" b="0" u="none" strike="noStrike">
              <a:solidFill>
                <a:srgbClr val="000000"/>
              </a:solidFill>
              <a:effectLst/>
              <a:uFillTx/>
              <a:latin typeface="Arial"/>
            </a:endParaRPr>
          </a:p>
        </p:txBody>
      </p:sp>
      <p:sp>
        <p:nvSpPr>
          <p:cNvPr id="1316" name="Oval 7"/>
          <p:cNvSpPr/>
          <p:nvPr/>
        </p:nvSpPr>
        <p:spPr>
          <a:xfrm>
            <a:off x="9677520" y="2148840"/>
            <a:ext cx="456840" cy="45684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300" b="1" u="none" strike="noStrike">
                <a:solidFill>
                  <a:srgbClr val="112E5C"/>
                </a:solidFill>
                <a:effectLst/>
                <a:uFillTx/>
                <a:latin typeface="Aptos"/>
              </a:rPr>
              <a:t>G</a:t>
            </a:r>
            <a:endParaRPr lang="en-US" sz="1300" b="0" u="none" strike="noStrike">
              <a:solidFill>
                <a:srgbClr val="000000"/>
              </a:solidFill>
              <a:effectLst/>
              <a:uFillTx/>
              <a:latin typeface="Arial"/>
            </a:endParaRPr>
          </a:p>
        </p:txBody>
      </p:sp>
      <p:sp>
        <p:nvSpPr>
          <p:cNvPr id="1317" name="Oval 8"/>
          <p:cNvSpPr/>
          <p:nvPr/>
        </p:nvSpPr>
        <p:spPr>
          <a:xfrm>
            <a:off x="3017520" y="2194560"/>
            <a:ext cx="365400" cy="36540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18" name="Oval 9"/>
          <p:cNvSpPr/>
          <p:nvPr/>
        </p:nvSpPr>
        <p:spPr>
          <a:xfrm>
            <a:off x="3886200" y="2148840"/>
            <a:ext cx="456840" cy="45684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19" name="Oval 10"/>
          <p:cNvSpPr/>
          <p:nvPr/>
        </p:nvSpPr>
        <p:spPr>
          <a:xfrm>
            <a:off x="4754880" y="2103120"/>
            <a:ext cx="548280" cy="54828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0" name="Oval 11"/>
          <p:cNvSpPr/>
          <p:nvPr/>
        </p:nvSpPr>
        <p:spPr>
          <a:xfrm>
            <a:off x="5394960" y="2057400"/>
            <a:ext cx="639720" cy="63972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1" name="Oval 12"/>
          <p:cNvSpPr/>
          <p:nvPr/>
        </p:nvSpPr>
        <p:spPr>
          <a:xfrm>
            <a:off x="8808840" y="2194560"/>
            <a:ext cx="365400" cy="36540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2" name="Oval 13"/>
          <p:cNvSpPr/>
          <p:nvPr/>
        </p:nvSpPr>
        <p:spPr>
          <a:xfrm>
            <a:off x="7848720" y="2148840"/>
            <a:ext cx="456840" cy="45684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3" name="Oval 14"/>
          <p:cNvSpPr/>
          <p:nvPr/>
        </p:nvSpPr>
        <p:spPr>
          <a:xfrm>
            <a:off x="6888600" y="2103120"/>
            <a:ext cx="548280" cy="54828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4" name="Oval 15"/>
          <p:cNvSpPr/>
          <p:nvPr/>
        </p:nvSpPr>
        <p:spPr>
          <a:xfrm>
            <a:off x="6157080" y="2057400"/>
            <a:ext cx="639720" cy="63972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cxnSp>
        <p:nvCxnSpPr>
          <p:cNvPr id="1325" name="Connector 16"/>
          <p:cNvCxnSpPr/>
          <p:nvPr/>
        </p:nvCxnSpPr>
        <p:spPr>
          <a:xfrm>
            <a:off x="6095520" y="1691640"/>
            <a:ext cx="360" cy="1371960"/>
          </a:xfrm>
          <a:prstGeom prst="straightConnector1">
            <a:avLst/>
          </a:prstGeom>
          <a:ln w="28575">
            <a:solidFill>
              <a:srgbClr val="F6A01A"/>
            </a:solidFill>
            <a:prstDash val="sysDash"/>
          </a:ln>
        </p:spPr>
      </p:cxnSp>
      <p:sp>
        <p:nvSpPr>
          <p:cNvPr id="1326" name="Rectangle 17"/>
          <p:cNvSpPr/>
          <p:nvPr/>
        </p:nvSpPr>
        <p:spPr>
          <a:xfrm>
            <a:off x="5181480" y="3108960"/>
            <a:ext cx="18284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a:solidFill>
                  <a:srgbClr val="112E5C"/>
                </a:solidFill>
                <a:effectLst/>
                <a:uFillTx/>
                <a:latin typeface="Aptos"/>
              </a:rPr>
              <a:t>frontiers collide</a:t>
            </a:r>
            <a:endParaRPr lang="en-US" sz="1150" b="0" u="none" strike="noStrike">
              <a:solidFill>
                <a:srgbClr val="000000"/>
              </a:solidFill>
              <a:effectLst/>
              <a:uFillTx/>
              <a:latin typeface="Arial"/>
            </a:endParaRPr>
          </a:p>
        </p:txBody>
      </p:sp>
      <p:sp>
        <p:nvSpPr>
          <p:cNvPr id="1327" name="Rectangle 18"/>
          <p:cNvSpPr/>
          <p:nvPr/>
        </p:nvSpPr>
        <p:spPr>
          <a:xfrm>
            <a:off x="228600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2F7FD5"/>
                </a:solidFill>
                <a:effectLst/>
                <a:uFillTx/>
                <a:latin typeface="Aptos"/>
              </a:rPr>
              <a:t>forward</a:t>
            </a:r>
            <a:endParaRPr lang="en-US" sz="1100" b="0" u="none" strike="noStrike">
              <a:solidFill>
                <a:srgbClr val="000000"/>
              </a:solidFill>
              <a:effectLst/>
              <a:uFillTx/>
              <a:latin typeface="Arial"/>
            </a:endParaRPr>
          </a:p>
        </p:txBody>
      </p:sp>
      <p:sp>
        <p:nvSpPr>
          <p:cNvPr id="1328" name="Rectangle 19"/>
          <p:cNvSpPr/>
          <p:nvPr/>
        </p:nvSpPr>
        <p:spPr>
          <a:xfrm>
            <a:off x="922032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9B1C1C"/>
                </a:solidFill>
                <a:effectLst/>
                <a:uFillTx/>
                <a:latin typeface="Aptos"/>
              </a:rPr>
              <a:t>backward</a:t>
            </a:r>
            <a:endParaRPr lang="en-US" sz="1100" b="0" u="none" strike="noStrike">
              <a:solidFill>
                <a:srgbClr val="000000"/>
              </a:solidFill>
              <a:effectLst/>
              <a:uFillTx/>
              <a:latin typeface="Arial"/>
            </a:endParaRPr>
          </a:p>
        </p:txBody>
      </p:sp>
      <p:sp>
        <p:nvSpPr>
          <p:cNvPr id="1329" name="Rounded Rectangle 20"/>
          <p:cNvSpPr/>
          <p:nvPr/>
        </p:nvSpPr>
        <p:spPr>
          <a:xfrm>
            <a:off x="777240" y="320040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What it requires</a:t>
            </a:r>
            <a:endParaRPr lang="en-US" sz="1400" b="0" u="none" strike="noStrike">
              <a:solidFill>
                <a:srgbClr val="000000"/>
              </a:solidFill>
              <a:effectLst/>
              <a:uFillTx/>
              <a:latin typeface="Arial"/>
            </a:endParaRPr>
          </a:p>
        </p:txBody>
      </p:sp>
      <p:sp>
        <p:nvSpPr>
          <p:cNvPr id="1330" name="Rounded Rectangle 21"/>
          <p:cNvSpPr/>
          <p:nvPr/>
        </p:nvSpPr>
        <p:spPr>
          <a:xfrm>
            <a:off x="77724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31" name="Rectangle 22"/>
          <p:cNvSpPr/>
          <p:nvPr/>
        </p:nvSpPr>
        <p:spPr>
          <a:xfrm>
            <a:off x="960120" y="3749040"/>
            <a:ext cx="4663080" cy="1371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Two frontiers and two reached tables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Reversible reasoning: if s′ follows s forward, s must follow s′ backward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An explicit goal state, not merely a goal property</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 collision test, plus a best-solution-so-far until Terminated proves nothing better remains</a:t>
            </a:r>
            <a:endParaRPr lang="en-US" sz="1250" b="0" u="none" strike="noStrike">
              <a:solidFill>
                <a:srgbClr val="000000"/>
              </a:solidFill>
              <a:effectLst/>
              <a:uFillTx/>
              <a:latin typeface="Arial"/>
            </a:endParaRPr>
          </a:p>
        </p:txBody>
      </p:sp>
      <p:sp>
        <p:nvSpPr>
          <p:cNvPr id="1332" name="Rounded Rectangle 23"/>
          <p:cNvSpPr/>
          <p:nvPr/>
        </p:nvSpPr>
        <p:spPr>
          <a:xfrm>
            <a:off x="6385680" y="320040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What it buys</a:t>
            </a:r>
            <a:endParaRPr lang="en-US" sz="1400" b="0" u="none" strike="noStrike">
              <a:solidFill>
                <a:srgbClr val="000000"/>
              </a:solidFill>
              <a:effectLst/>
              <a:uFillTx/>
              <a:latin typeface="Arial"/>
            </a:endParaRPr>
          </a:p>
        </p:txBody>
      </p:sp>
      <p:sp>
        <p:nvSpPr>
          <p:cNvPr id="1333" name="Rounded Rectangle 24"/>
          <p:cNvSpPr/>
          <p:nvPr/>
        </p:nvSpPr>
        <p:spPr>
          <a:xfrm>
            <a:off x="638568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34" name="Rectangle 25"/>
          <p:cNvSpPr/>
          <p:nvPr/>
        </p:nvSpPr>
        <p:spPr>
          <a:xfrm>
            <a:off x="6568560" y="3749040"/>
            <a:ext cx="466308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9B1C1C"/>
                </a:solidFill>
                <a:effectLst/>
                <a:uFillTx/>
                <a:latin typeface="Aptos"/>
              </a:rPr>
              <a:t>b</a:t>
            </a:r>
            <a:r>
              <a:rPr lang="en-US" sz="1400" b="1" u="none" strike="noStrike">
                <a:solidFill>
                  <a:srgbClr val="9B1C1C"/>
                </a:solidFill>
                <a:effectLst/>
                <a:uFillTx/>
                <a:latin typeface="Aptos"/>
              </a:rPr>
              <a:t>d</a:t>
            </a:r>
            <a:endParaRPr lang="en-US" sz="1400" b="0" u="none" strike="noStrike">
              <a:solidFill>
                <a:srgbClr val="000000"/>
              </a:solidFill>
              <a:effectLst/>
              <a:uFillTx/>
              <a:latin typeface="Arial"/>
            </a:endParaRPr>
          </a:p>
        </p:txBody>
      </p:sp>
      <p:sp>
        <p:nvSpPr>
          <p:cNvPr id="1335" name="Rectangle 26"/>
          <p:cNvSpPr/>
          <p:nvPr/>
        </p:nvSpPr>
        <p:spPr>
          <a:xfrm>
            <a:off x="6568560" y="4297680"/>
            <a:ext cx="4663080" cy="8226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About 50,000 times fewer nodes when b = d = 10</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With f = path cost, no node above C* / 2 is ever expanded</a:t>
            </a:r>
            <a:endParaRPr lang="en-US" sz="1250" b="0" u="none" strike="noStrike">
              <a:solidFill>
                <a:srgbClr val="000000"/>
              </a:solidFill>
              <a:effectLst/>
              <a:uFillTx/>
              <a:latin typeface="Arial"/>
            </a:endParaRPr>
          </a:p>
        </p:txBody>
      </p:sp>
      <p:sp>
        <p:nvSpPr>
          <p:cNvPr id="1336" name="Rectangle 27"/>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expansion rule is global: expand the minimum-f node across either frontier, not one from each in turn.</a:t>
            </a:r>
            <a:endParaRPr lang="en-US" sz="1700" b="0" u="none" strike="noStrike">
              <a:solidFill>
                <a:srgbClr val="000000"/>
              </a:solidFill>
              <a:effectLst/>
              <a:uFillTx/>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Bidirectional Best-First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7400000" cy="280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68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3.14 (upper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6851360" cy="204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00" b="1" u="none" strike="noStrike" dirty="0">
                <a:solidFill>
                  <a:srgbClr val="F6A01A"/>
                </a:solidFill>
                <a:effectLst/>
                <a:uFillTx/>
                <a:latin typeface="Consolas"/>
              </a:rPr>
              <a:t>function</a:t>
            </a:r>
            <a:r>
              <a:rPr lang="en-US" sz="900" b="0" u="none" strike="noStrike" dirty="0">
                <a:solidFill>
                  <a:srgbClr val="EAF2FF"/>
                </a:solidFill>
                <a:effectLst/>
                <a:uFillTx/>
                <a:latin typeface="Consolas"/>
              </a:rPr>
              <a:t> BiBF-SEARCH(problemF, fF, problemB, fB) </a:t>
            </a:r>
            <a:r>
              <a:rPr lang="en-US" sz="900" b="1" u="none" strike="noStrike" dirty="0">
                <a:solidFill>
                  <a:srgbClr val="F6A01A"/>
                </a:solidFill>
                <a:effectLst/>
                <a:uFillTx/>
                <a:latin typeface="Consolas"/>
              </a:rPr>
              <a:t>returns</a:t>
            </a:r>
            <a:r>
              <a:rPr lang="en-US" sz="900" b="0" u="none" strike="noStrike" dirty="0">
                <a:solidFill>
                  <a:srgbClr val="EAF2FF"/>
                </a:solidFill>
                <a:effectLst/>
                <a:uFillTx/>
                <a:latin typeface="Consolas"/>
              </a:rPr>
              <a:t> a solution node, </a:t>
            </a:r>
            <a:r>
              <a:rPr lang="en-US" sz="900" b="1" u="none" strike="noStrike" dirty="0">
                <a:solidFill>
                  <a:srgbClr val="F6A01A"/>
                </a:solidFill>
                <a:effectLst/>
                <a:uFillTx/>
                <a:latin typeface="Consolas"/>
              </a:rPr>
              <a:t>or</a:t>
            </a:r>
            <a:r>
              <a:rPr lang="en-US" sz="900" b="0" u="none" strike="noStrike" dirty="0">
                <a:solidFill>
                  <a:srgbClr val="EAF2FF"/>
                </a:solidFill>
                <a:effectLst/>
                <a:uFillTx/>
                <a:latin typeface="Consolas"/>
              </a:rPr>
              <a:t> </a:t>
            </a:r>
            <a:r>
              <a:rPr lang="en-US" sz="900" b="1" u="none" strike="noStrike" dirty="0">
                <a:solidFill>
                  <a:srgbClr val="F2A0A0"/>
                </a:solidFill>
                <a:effectLst/>
                <a:uFillTx/>
                <a:latin typeface="Consolas"/>
              </a:rPr>
              <a:t>failure</a:t>
            </a:r>
            <a:endParaRPr lang="en-US" sz="900" b="0" u="none" strike="noStrike" dirty="0">
              <a:solidFill>
                <a:srgbClr val="000000"/>
              </a:solidFill>
              <a:effectLst/>
              <a:uFillTx/>
              <a:latin typeface="Arial"/>
            </a:endParaRPr>
          </a:p>
          <a:p>
            <a:pPr algn="l" defTabSz="914400">
              <a:lnSpc>
                <a:spcPct val="100000"/>
              </a:lnSpc>
              <a:spcAft>
                <a:spcPts val="120"/>
              </a:spcAft>
              <a:buNone/>
            </a:pP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nodeF ← NODE(problemF.INITIAL)      </a:t>
            </a:r>
            <a:r>
              <a:rPr lang="en-US" sz="900" b="0" i="1" u="none" strike="noStrike" dirty="0">
                <a:solidFill>
                  <a:srgbClr val="7E8CA0"/>
                </a:solidFill>
                <a:effectLst/>
                <a:uFillTx/>
                <a:latin typeface="Consolas"/>
              </a:rPr>
              <a:t>// node for a start state</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nodeB ← NODE(problemB.INITIAL)      </a:t>
            </a:r>
            <a:r>
              <a:rPr lang="en-US" sz="900" b="0" i="1" u="none" strike="noStrike" dirty="0">
                <a:solidFill>
                  <a:srgbClr val="7E8CA0"/>
                </a:solidFill>
                <a:effectLst/>
                <a:uFillTx/>
                <a:latin typeface="Consolas"/>
              </a:rPr>
              <a:t>// node for a goal state</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frontierF ← a priority queue ordered by fF, with nodeF as an element</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frontierB ← a priority queue ordered by fB, with nodeB as an element</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reachedF ← a lookup table, key nodeF.STATE </a:t>
            </a:r>
            <a:r>
              <a:rPr lang="en-US" sz="900" b="1" u="none" strike="noStrike" dirty="0">
                <a:solidFill>
                  <a:srgbClr val="F6A01A"/>
                </a:solidFill>
                <a:effectLst/>
                <a:uFillTx/>
                <a:latin typeface="Consolas"/>
              </a:rPr>
              <a:t>and</a:t>
            </a:r>
            <a:r>
              <a:rPr lang="en-US" sz="900" b="0" u="none" strike="noStrike" dirty="0">
                <a:solidFill>
                  <a:srgbClr val="EAF2FF"/>
                </a:solidFill>
                <a:effectLst/>
                <a:uFillTx/>
                <a:latin typeface="Consolas"/>
              </a:rPr>
              <a:t> value nodeF</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reachedB ← a lookup table, key nodeB.STATE </a:t>
            </a:r>
            <a:r>
              <a:rPr lang="en-US" sz="900" b="1" u="none" strike="noStrike" dirty="0">
                <a:solidFill>
                  <a:srgbClr val="F6A01A"/>
                </a:solidFill>
                <a:effectLst/>
                <a:uFillTx/>
                <a:latin typeface="Consolas"/>
              </a:rPr>
              <a:t>and</a:t>
            </a:r>
            <a:r>
              <a:rPr lang="en-US" sz="900" b="0" u="none" strike="noStrike" dirty="0">
                <a:solidFill>
                  <a:srgbClr val="EAF2FF"/>
                </a:solidFill>
                <a:effectLst/>
                <a:uFillTx/>
                <a:latin typeface="Consolas"/>
              </a:rPr>
              <a:t> value nodeB</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a:t>
            </a:r>
            <a:r>
              <a:rPr lang="en-US" sz="900" b="1" u="none" strike="noStrike" dirty="0">
                <a:solidFill>
                  <a:srgbClr val="F2A0A0"/>
                </a:solidFill>
                <a:effectLst/>
                <a:uFillTx/>
                <a:latin typeface="Consolas"/>
              </a:rPr>
              <a:t>failure</a:t>
            </a:r>
            <a:endParaRPr lang="en-US" sz="900" b="0" u="none" strike="noStrike" dirty="0">
              <a:solidFill>
                <a:srgbClr val="000000"/>
              </a:solidFill>
              <a:effectLst/>
              <a:uFillTx/>
              <a:latin typeface="Arial"/>
            </a:endParaRPr>
          </a:p>
          <a:p>
            <a:pPr algn="l" defTabSz="914400">
              <a:lnSpc>
                <a:spcPct val="100000"/>
              </a:lnSpc>
              <a:spcAft>
                <a:spcPts val="120"/>
              </a:spcAft>
              <a:buNone/>
            </a:pP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while</a:t>
            </a: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not</a:t>
            </a:r>
            <a:r>
              <a:rPr lang="en-US" sz="900" b="0" u="none" strike="noStrike" dirty="0">
                <a:solidFill>
                  <a:srgbClr val="EAF2FF"/>
                </a:solidFill>
                <a:effectLst/>
                <a:uFillTx/>
                <a:latin typeface="Consolas"/>
              </a:rPr>
              <a:t> TERMINATED(solution, frontierF, frontierB) </a:t>
            </a:r>
            <a:r>
              <a:rPr lang="en-US" sz="900" b="1" u="none" strike="noStrike" dirty="0">
                <a:solidFill>
                  <a:srgbClr val="F6A01A"/>
                </a:solidFill>
                <a:effectLst/>
                <a:uFillTx/>
                <a:latin typeface="Consolas"/>
              </a:rPr>
              <a:t>do</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fF(TOP(frontierF)) &lt; fB(TOP(frontierB)) </a:t>
            </a:r>
            <a:r>
              <a:rPr lang="en-US" sz="900" b="1" u="none" strike="noStrike" dirty="0">
                <a:solidFill>
                  <a:srgbClr val="F6A01A"/>
                </a:solidFill>
                <a:effectLst/>
                <a:uFillTx/>
                <a:latin typeface="Consolas"/>
              </a:rPr>
              <a:t>then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PROCEED(F, problemF, frontierF, reachedF, reachedB, solution)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else</a:t>
            </a:r>
            <a:r>
              <a:rPr lang="en-US" sz="900" b="0" u="none" strike="noStrike" dirty="0">
                <a:solidFill>
                  <a:srgbClr val="EAF2FF"/>
                </a:solidFill>
                <a:effectLst/>
                <a:uFillTx/>
                <a:latin typeface="Consolas"/>
              </a:rPr>
              <a:t> solution ← PROCEED(B, problemB, frontierB, reachedB, reachedF, solution)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return</a:t>
            </a:r>
            <a:r>
              <a:rPr lang="en-US" sz="900" b="0" u="none" strike="noStrike" dirty="0">
                <a:solidFill>
                  <a:srgbClr val="EAF2FF"/>
                </a:solidFill>
                <a:effectLst/>
                <a:uFillTx/>
                <a:latin typeface="Consolas"/>
              </a:rPr>
              <a:t> solution</a:t>
            </a:r>
            <a:endParaRPr lang="en-US" sz="900" b="0" u="none" strike="noStrike" dirty="0">
              <a:solidFill>
                <a:srgbClr val="000000"/>
              </a:solidFill>
              <a:effectLst/>
              <a:uFillTx/>
              <a:latin typeface="Arial"/>
            </a:endParaRPr>
          </a:p>
        </p:txBody>
      </p:sp>
      <p:sp>
        <p:nvSpPr>
          <p:cNvPr id="2009" name="NoteCard 2009"/>
          <p:cNvSpPr/>
          <p:nvPr/>
        </p:nvSpPr>
        <p:spPr>
          <a:xfrm>
            <a:off x="8177240" y="1240000"/>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8382980" y="1377160"/>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Everything is doubled</a:t>
            </a:r>
            <a:endParaRPr lang="en-US" sz="1100" b="0" u="none" strike="noStrike">
              <a:solidFill>
                <a:srgbClr val="000000"/>
              </a:solidFill>
              <a:effectLst/>
              <a:uFillTx/>
              <a:latin typeface="Arial"/>
            </a:endParaRPr>
          </a:p>
        </p:txBody>
      </p:sp>
      <p:sp>
        <p:nvSpPr>
          <p:cNvPr id="2011" name="CardBody 2011"/>
          <p:cNvSpPr/>
          <p:nvPr/>
        </p:nvSpPr>
        <p:spPr>
          <a:xfrm>
            <a:off x="8382980" y="1605760"/>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Two frontiers, two reached tables, two evaluation functions — one set growing from the start, one from the goal.</a:t>
            </a:r>
            <a:endParaRPr lang="en-US" sz="1100" b="0" u="none" strike="noStrike">
              <a:solidFill>
                <a:srgbClr val="000000"/>
              </a:solidFill>
              <a:effectLst/>
              <a:uFillTx/>
              <a:latin typeface="Arial"/>
            </a:endParaRPr>
          </a:p>
        </p:txBody>
      </p:sp>
      <p:sp>
        <p:nvSpPr>
          <p:cNvPr id="2012" name="NoteCard 2012"/>
          <p:cNvSpPr/>
          <p:nvPr/>
        </p:nvSpPr>
        <p:spPr>
          <a:xfrm>
            <a:off x="8177240" y="2219053"/>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82980" y="2356213"/>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One comparison picks the side</a:t>
            </a:r>
            <a:endParaRPr lang="en-US" sz="1100" b="0" u="none" strike="noStrike">
              <a:solidFill>
                <a:srgbClr val="000000"/>
              </a:solidFill>
              <a:effectLst/>
              <a:uFillTx/>
              <a:latin typeface="Arial"/>
            </a:endParaRPr>
          </a:p>
        </p:txBody>
      </p:sp>
      <p:sp>
        <p:nvSpPr>
          <p:cNvPr id="2014" name="CardBody 2014"/>
          <p:cNvSpPr/>
          <p:nvPr/>
        </p:nvSpPr>
        <p:spPr>
          <a:xfrm>
            <a:off x="8382980" y="2584813"/>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Expand whichever frontier has the smaller f at the top of its queue. The two halves do not take turns.</a:t>
            </a:r>
            <a:endParaRPr lang="en-US" sz="1100" b="0" u="none" strike="noStrike">
              <a:solidFill>
                <a:srgbClr val="000000"/>
              </a:solidFill>
              <a:effectLst/>
              <a:uFillTx/>
              <a:latin typeface="Arial"/>
            </a:endParaRPr>
          </a:p>
        </p:txBody>
      </p:sp>
      <p:sp>
        <p:nvSpPr>
          <p:cNvPr id="2015" name="NoteCard 2015"/>
          <p:cNvSpPr/>
          <p:nvPr/>
        </p:nvSpPr>
        <p:spPr>
          <a:xfrm>
            <a:off x="8177240" y="3198106"/>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8382980" y="3335266"/>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solution starts at failure</a:t>
            </a:r>
            <a:endParaRPr lang="en-US" sz="1100" b="0" u="none" strike="noStrike">
              <a:solidFill>
                <a:srgbClr val="000000"/>
              </a:solidFill>
              <a:effectLst/>
              <a:uFillTx/>
              <a:latin typeface="Arial"/>
            </a:endParaRPr>
          </a:p>
        </p:txBody>
      </p:sp>
      <p:sp>
        <p:nvSpPr>
          <p:cNvPr id="2017" name="CardBody 2017"/>
          <p:cNvSpPr/>
          <p:nvPr/>
        </p:nvSpPr>
        <p:spPr>
          <a:xfrm>
            <a:off x="8382980" y="3563866"/>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And the loop keeps running. The first collision need not be the best, so TERMINATED decides when to stop.</a:t>
            </a:r>
            <a:endParaRPr lang="en-US" sz="1100" b="0" u="none" strike="noStrike">
              <a:solidFill>
                <a:srgbClr val="000000"/>
              </a:solidFill>
              <a:effectLst/>
              <a:uFillTx/>
              <a:latin typeface="Arial"/>
            </a:endParaRPr>
          </a:p>
        </p:txBody>
      </p:sp>
      <p:sp>
        <p:nvSpPr>
          <p:cNvPr id="2018" name="NoteCard 2018"/>
          <p:cNvSpPr/>
          <p:nvPr/>
        </p:nvSpPr>
        <p:spPr>
          <a:xfrm>
            <a:off x="502920" y="4268600"/>
            <a:ext cx="11186160" cy="11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08660" y="4405760"/>
            <a:ext cx="1077468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9B1C1C"/>
                </a:solidFill>
                <a:effectLst/>
                <a:uFillTx/>
                <a:latin typeface="Aptos"/>
              </a:rPr>
              <a:t>The precondition students skip: what problemB actually is</a:t>
            </a:r>
            <a:endParaRPr lang="en-US" sz="1100" b="0" u="none" strike="noStrike" dirty="0">
              <a:solidFill>
                <a:srgbClr val="000000"/>
              </a:solidFill>
              <a:effectLst/>
              <a:uFillTx/>
              <a:latin typeface="Arial"/>
            </a:endParaRPr>
          </a:p>
        </p:txBody>
      </p:sp>
      <p:sp>
        <p:nvSpPr>
          <p:cNvPr id="2020" name="CardBody 2020"/>
          <p:cNvSpPr/>
          <p:nvPr/>
        </p:nvSpPr>
        <p:spPr>
          <a:xfrm>
            <a:off x="708660" y="4634360"/>
            <a:ext cx="10774680" cy="5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1000" b="0" u="none" strike="noStrike" dirty="0">
                <a:solidFill>
                  <a:srgbClr val="102A4C"/>
                </a:solidFill>
                <a:effectLst/>
                <a:uFillTx/>
                <a:latin typeface="Aptos"/>
              </a:rPr>
              <a:t>problemB.INITIAL is the goal state, and problemB's actions are the reverses of the forward ones — if s′ follows s going forward, then s must follow s′ going backward. So bidirectional search needs an explicit goal state, not merely a goal test, and it needs an invertible transition model. Neither is available when the goal is stated as a property (“any configuration with the tiles in order”) or when actions destroy information.</a:t>
            </a:r>
            <a:endParaRPr lang="en-US" sz="1100" b="0" u="none" strike="noStrike">
              <a:solidFill>
                <a:srgbClr val="000000"/>
              </a:solidFill>
              <a:effectLst/>
              <a:uFillTx/>
              <a:latin typeface="Arial"/>
            </a:endParaRPr>
          </a:p>
        </p:txBody>
      </p:sp>
      <p:sp>
        <p:nvSpPr>
          <p:cNvPr id="2021" name="Banner 2021"/>
          <p:cNvSpPr/>
          <p:nvPr/>
        </p:nvSpPr>
        <p:spPr>
          <a:xfrm>
            <a:off x="502920" y="5470000"/>
            <a:ext cx="11186160" cy="75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50"/>
              </a:spcAft>
              <a:buNone/>
            </a:pPr>
            <a:r>
              <a:rPr lang="en-US" sz="1050" b="1" u="none" strike="noStrike" dirty="0">
                <a:solidFill>
                  <a:srgbClr val="102A4C"/>
                </a:solidFill>
                <a:effectLst/>
                <a:uFillTx/>
                <a:latin typeface="Aptos"/>
              </a:rPr>
              <a:t>Figure 3.14 is bidirectional best-first search. Pass path cost as both fF and fB and you have bidirectional uniform-cost search — the version that carries the guarantees.</a:t>
            </a:r>
            <a:endParaRPr lang="en-US" sz="1100" b="0" u="none" strike="noStrike">
              <a:solidFill>
                <a:srgbClr val="000000"/>
              </a:solidFill>
              <a:effectLst/>
              <a:uFillTx/>
              <a:latin typeface="Arial"/>
            </a:endParaRPr>
          </a:p>
          <a:p>
            <a:pPr algn="l" defTabSz="914400">
              <a:lnSpc>
                <a:spcPct val="100000"/>
              </a:lnSpc>
              <a:buNone/>
            </a:pPr>
            <a:r>
              <a:rPr lang="en-US" sz="950" b="0" u="none" strike="noStrike" dirty="0">
                <a:solidFill>
                  <a:srgbClr val="5C6B80"/>
                </a:solidFill>
                <a:effectLst/>
                <a:uFillTx/>
                <a:latin typeface="Aptos"/>
              </a:rPr>
              <a:t>Pass depth as both and you have the bidirectional BFS most textbooks draw as two circles growing toward each other.</a:t>
            </a:r>
            <a:endParaRPr lang="en-US" sz="1100" b="0" u="none" strike="noStrike">
              <a:solidFill>
                <a:srgbClr val="000000"/>
              </a:solidFill>
              <a:effectLst/>
              <a:uFillTx/>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Inside PROCEED: Where the Two Searches Meet</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7400000" cy="260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68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3.14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6851360" cy="184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00" b="1" u="none" strike="noStrike" dirty="0">
                <a:solidFill>
                  <a:srgbClr val="F6A01A"/>
                </a:solidFill>
                <a:effectLst/>
                <a:uFillTx/>
                <a:latin typeface="Consolas"/>
              </a:rPr>
              <a:t>function</a:t>
            </a:r>
            <a:r>
              <a:rPr lang="en-US" sz="900" b="0" u="none" strike="noStrike" dirty="0">
                <a:solidFill>
                  <a:srgbClr val="EAF2FF"/>
                </a:solidFill>
                <a:effectLst/>
                <a:uFillTx/>
                <a:latin typeface="Consolas"/>
              </a:rPr>
              <a:t> PROCEED(dir, problem, frontier, reached, reached2, solution) </a:t>
            </a:r>
            <a:r>
              <a:rPr lang="en-US" sz="900" b="1" u="none" strike="noStrike" dirty="0">
                <a:solidFill>
                  <a:srgbClr val="F6A01A"/>
                </a:solidFill>
                <a:effectLst/>
                <a:uFillTx/>
                <a:latin typeface="Consolas"/>
              </a:rPr>
              <a:t>returns</a:t>
            </a:r>
            <a:r>
              <a:rPr lang="en-US" sz="900" b="0" u="none" strike="noStrike" dirty="0">
                <a:solidFill>
                  <a:srgbClr val="EAF2FF"/>
                </a:solidFill>
                <a:effectLst/>
                <a:uFillTx/>
                <a:latin typeface="Consolas"/>
              </a:rPr>
              <a:t> a solution</a:t>
            </a:r>
            <a:endParaRPr lang="en-US" sz="900" b="0" u="none" strike="noStrike">
              <a:solidFill>
                <a:srgbClr val="000000"/>
              </a:solidFill>
              <a:effectLst/>
              <a:uFillTx/>
              <a:latin typeface="Arial"/>
            </a:endParaRPr>
          </a:p>
          <a:p>
            <a:pPr algn="l" defTabSz="914400">
              <a:lnSpc>
                <a:spcPct val="100000"/>
              </a:lnSpc>
              <a:spcAft>
                <a:spcPts val="120"/>
              </a:spcAft>
              <a:buNone/>
            </a:pP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 ← POP(frontier)</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for</a:t>
            </a: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each</a:t>
            </a:r>
            <a:r>
              <a:rPr lang="en-US" sz="900" b="0" u="none" strike="noStrike" dirty="0">
                <a:solidFill>
                  <a:srgbClr val="EAF2FF"/>
                </a:solidFill>
                <a:effectLst/>
                <a:uFillTx/>
                <a:latin typeface="Consolas"/>
              </a:rPr>
              <a:t> child in EXPAND(problem, node) </a:t>
            </a:r>
            <a:r>
              <a:rPr lang="en-US" sz="900" b="1" u="none" strike="noStrike" dirty="0">
                <a:solidFill>
                  <a:srgbClr val="F6A01A"/>
                </a:solidFill>
                <a:effectLst/>
                <a:uFillTx/>
                <a:latin typeface="Consolas"/>
              </a:rPr>
              <a:t>do</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 ← child.STATE</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s </a:t>
            </a:r>
            <a:r>
              <a:rPr lang="en-US" sz="900" b="1" u="none" strike="noStrike" dirty="0">
                <a:solidFill>
                  <a:srgbClr val="F6A01A"/>
                </a:solidFill>
                <a:effectLst/>
                <a:uFillTx/>
                <a:latin typeface="Consolas"/>
              </a:rPr>
              <a:t>not</a:t>
            </a:r>
            <a:r>
              <a:rPr lang="en-US" sz="900" b="0" u="none" strike="noStrike" dirty="0">
                <a:solidFill>
                  <a:srgbClr val="EAF2FF"/>
                </a:solidFill>
                <a:effectLst/>
                <a:uFillTx/>
                <a:latin typeface="Consolas"/>
              </a:rPr>
              <a:t> in reached </a:t>
            </a:r>
            <a:r>
              <a:rPr lang="en-US" sz="900" b="1" u="none" strike="noStrike" dirty="0">
                <a:solidFill>
                  <a:srgbClr val="F6A01A"/>
                </a:solidFill>
                <a:effectLst/>
                <a:uFillTx/>
                <a:latin typeface="Consolas"/>
              </a:rPr>
              <a:t>or</a:t>
            </a:r>
            <a:r>
              <a:rPr lang="en-US" sz="900" b="0" u="none" strike="noStrike" dirty="0">
                <a:solidFill>
                  <a:srgbClr val="EAF2FF"/>
                </a:solidFill>
                <a:effectLst/>
                <a:uFillTx/>
                <a:latin typeface="Consolas"/>
              </a:rPr>
              <a:t> PATH-COST(child) &lt; PATH-COST(reached[s])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reached[s] ← child</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add child </a:t>
            </a:r>
            <a:r>
              <a:rPr lang="en-US" sz="900" b="1" u="none" strike="noStrike" dirty="0">
                <a:solidFill>
                  <a:srgbClr val="F6A01A"/>
                </a:solidFill>
                <a:effectLst/>
                <a:uFillTx/>
                <a:latin typeface="Consolas"/>
              </a:rPr>
              <a:t>to</a:t>
            </a:r>
            <a:r>
              <a:rPr lang="en-US" sz="900" b="0" u="none" strike="noStrike" dirty="0">
                <a:solidFill>
                  <a:srgbClr val="EAF2FF"/>
                </a:solidFill>
                <a:effectLst/>
                <a:uFillTx/>
                <a:latin typeface="Consolas"/>
              </a:rPr>
              <a:t> frontier</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s is in reached2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solution2 ← JOIN-NODES(dir, child, reached2[s])</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PATH-COST(solution2) &lt; PATH-COST(solution)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solution2</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return</a:t>
            </a:r>
            <a:r>
              <a:rPr lang="en-US" sz="900" b="0" u="none" strike="noStrike" dirty="0">
                <a:solidFill>
                  <a:srgbClr val="EAF2FF"/>
                </a:solidFill>
                <a:effectLst/>
                <a:uFillTx/>
                <a:latin typeface="Consolas"/>
              </a:rPr>
              <a:t> solution</a:t>
            </a:r>
            <a:endParaRPr lang="en-US" sz="900" b="0" u="none" strike="noStrike">
              <a:solidFill>
                <a:srgbClr val="000000"/>
              </a:solidFill>
              <a:effectLst/>
              <a:uFillTx/>
              <a:latin typeface="Arial"/>
            </a:endParaRPr>
          </a:p>
        </p:txBody>
      </p:sp>
      <p:sp>
        <p:nvSpPr>
          <p:cNvPr id="2009" name="NoteCard 2009"/>
          <p:cNvSpPr/>
          <p:nvPr/>
        </p:nvSpPr>
        <p:spPr>
          <a:xfrm>
            <a:off x="8177240" y="1240000"/>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8382980" y="1377160"/>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①  An ordinary expansion</a:t>
            </a:r>
            <a:endParaRPr lang="en-US" sz="1100" b="0" u="none" strike="noStrike">
              <a:solidFill>
                <a:srgbClr val="000000"/>
              </a:solidFill>
              <a:effectLst/>
              <a:uFillTx/>
              <a:latin typeface="Arial"/>
            </a:endParaRPr>
          </a:p>
        </p:txBody>
      </p:sp>
      <p:sp>
        <p:nvSpPr>
          <p:cNvPr id="2011" name="CardBody 2011"/>
          <p:cNvSpPr/>
          <p:nvPr/>
        </p:nvSpPr>
        <p:spPr>
          <a:xfrm>
            <a:off x="8382980" y="1605760"/>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Pop, expand, and apply the same re-add rule you already met in best-first search.</a:t>
            </a:r>
            <a:endParaRPr lang="en-US" sz="1100" b="0" u="none" strike="noStrike">
              <a:solidFill>
                <a:srgbClr val="000000"/>
              </a:solidFill>
              <a:effectLst/>
              <a:uFillTx/>
              <a:latin typeface="Arial"/>
            </a:endParaRPr>
          </a:p>
        </p:txBody>
      </p:sp>
      <p:sp>
        <p:nvSpPr>
          <p:cNvPr id="2012" name="NoteCard 2012"/>
          <p:cNvSpPr/>
          <p:nvPr/>
        </p:nvSpPr>
        <p:spPr>
          <a:xfrm>
            <a:off x="8177240" y="2152386"/>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82980" y="2289546"/>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②  The collision test</a:t>
            </a:r>
            <a:endParaRPr lang="en-US" sz="1100" b="0" u="none" strike="noStrike">
              <a:solidFill>
                <a:srgbClr val="000000"/>
              </a:solidFill>
              <a:effectLst/>
              <a:uFillTx/>
              <a:latin typeface="Arial"/>
            </a:endParaRPr>
          </a:p>
        </p:txBody>
      </p:sp>
      <p:sp>
        <p:nvSpPr>
          <p:cNvPr id="2014" name="CardBody 2014"/>
          <p:cNvSpPr/>
          <p:nvPr/>
        </p:nvSpPr>
        <p:spPr>
          <a:xfrm>
            <a:off x="8382980" y="2518146"/>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if s is in reached2 — the state this half just reached was already reached by the other half.</a:t>
            </a:r>
            <a:endParaRPr lang="en-US" sz="1100" b="0" u="none" strike="noStrike">
              <a:solidFill>
                <a:srgbClr val="000000"/>
              </a:solidFill>
              <a:effectLst/>
              <a:uFillTx/>
              <a:latin typeface="Arial"/>
            </a:endParaRPr>
          </a:p>
        </p:txBody>
      </p:sp>
      <p:sp>
        <p:nvSpPr>
          <p:cNvPr id="2015" name="NoteCard 2015"/>
          <p:cNvSpPr/>
          <p:nvPr/>
        </p:nvSpPr>
        <p:spPr>
          <a:xfrm>
            <a:off x="8177240" y="3064772"/>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8382980" y="3201932"/>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③  Join, then compare</a:t>
            </a:r>
            <a:endParaRPr lang="en-US" sz="1100" b="0" u="none" strike="noStrike">
              <a:solidFill>
                <a:srgbClr val="000000"/>
              </a:solidFill>
              <a:effectLst/>
              <a:uFillTx/>
              <a:latin typeface="Arial"/>
            </a:endParaRPr>
          </a:p>
        </p:txBody>
      </p:sp>
      <p:sp>
        <p:nvSpPr>
          <p:cNvPr id="2017" name="CardBody 2017"/>
          <p:cNvSpPr/>
          <p:nvPr/>
        </p:nvSpPr>
        <p:spPr>
          <a:xfrm>
            <a:off x="8382980" y="3430532"/>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JOIN-NODES glues the two half-paths, reversing the backward one — and keeps it only if it beats the best so far.</a:t>
            </a:r>
            <a:endParaRPr lang="en-US" sz="1100" b="0" u="none" strike="noStrike">
              <a:solidFill>
                <a:srgbClr val="000000"/>
              </a:solidFill>
              <a:effectLst/>
              <a:uFillTx/>
              <a:latin typeface="Arial"/>
            </a:endParaRPr>
          </a:p>
        </p:txBody>
      </p:sp>
      <p:sp>
        <p:nvSpPr>
          <p:cNvPr id="2018" name="NoteCard 2018"/>
          <p:cNvSpPr/>
          <p:nvPr/>
        </p:nvSpPr>
        <p:spPr>
          <a:xfrm>
            <a:off x="502920" y="4068600"/>
            <a:ext cx="11186160" cy="115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08660" y="4205760"/>
            <a:ext cx="1077468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Why the first meeting is not the answer</a:t>
            </a:r>
            <a:endParaRPr lang="en-US" sz="1100" b="0" u="none" strike="noStrike">
              <a:solidFill>
                <a:srgbClr val="000000"/>
              </a:solidFill>
              <a:effectLst/>
              <a:uFillTx/>
              <a:latin typeface="Arial"/>
            </a:endParaRPr>
          </a:p>
        </p:txBody>
      </p:sp>
      <p:sp>
        <p:nvSpPr>
          <p:cNvPr id="2020" name="CardBody 2020"/>
          <p:cNvSpPr/>
          <p:nvPr/>
        </p:nvSpPr>
        <p:spPr>
          <a:xfrm>
            <a:off x="708660" y="4434360"/>
            <a:ext cx="10774680" cy="64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1000" b="0" u="none" strike="noStrike" dirty="0">
                <a:solidFill>
                  <a:srgbClr val="102A4C"/>
                </a:solidFill>
                <a:effectLst/>
                <a:uFillTx/>
                <a:latin typeface="Aptos"/>
              </a:rPr>
              <a:t>When the frontiers first touch you have a complete start-to-goal path, but not necessarily the cheapest one: a shorter joint may still be assembled from nodes already sitting on both frontiers. So PROCEED records the best joint found so far and lets TERMINATED decide when no better one can remain. With path cost as both evaluation functions the bound is sharp — no node with g(n) greater than C*/2 is ever expanded, and that is exactly where the O(b</a:t>
            </a:r>
            <a:r>
              <a:rPr lang="en-US" sz="1000" b="0" u="none" strike="noStrike" baseline="30000" dirty="0">
                <a:solidFill>
                  <a:srgbClr val="102A4C"/>
                </a:solidFill>
                <a:effectLst/>
                <a:uFillTx/>
                <a:latin typeface="Aptos"/>
              </a:rPr>
              <a:t>d/2</a:t>
            </a:r>
            <a:r>
              <a:rPr lang="en-US" sz="1000" b="0" u="none" strike="noStrike" dirty="0">
                <a:solidFill>
                  <a:srgbClr val="102A4C"/>
                </a:solidFill>
                <a:effectLst/>
                <a:uFillTx/>
                <a:latin typeface="Aptos"/>
              </a:rPr>
              <a:t>) saving comes from.</a:t>
            </a:r>
            <a:endParaRPr lang="en-US" sz="1100" b="0" u="none" strike="noStrike">
              <a:solidFill>
                <a:srgbClr val="000000"/>
              </a:solidFill>
              <a:effectLst/>
              <a:uFillTx/>
              <a:latin typeface="Arial"/>
            </a:endParaRPr>
          </a:p>
        </p:txBody>
      </p:sp>
      <p:sp>
        <p:nvSpPr>
          <p:cNvPr id="2021" name="Banner 2021"/>
          <p:cNvSpPr/>
          <p:nvPr/>
        </p:nvSpPr>
        <p:spPr>
          <a:xfrm>
            <a:off x="502920" y="5340000"/>
            <a:ext cx="11186160" cy="88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80"/>
              </a:spcAft>
              <a:buNone/>
            </a:pPr>
            <a:r>
              <a:rPr lang="en-US" sz="1100" b="1" u="none" strike="noStrike" dirty="0">
                <a:solidFill>
                  <a:srgbClr val="102A4C"/>
                </a:solidFill>
                <a:effectLst/>
                <a:uFillTx/>
                <a:latin typeface="Aptos"/>
              </a:rPr>
              <a:t>Trace it on the Romania map: run forward from Arad and backward from Bucharest.</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The first city to appear in both reached tables is the collision, and the returned solution is the concatenation of two paths you already had in hand — one of them read backwards.</a:t>
            </a:r>
            <a:endParaRPr lang="en-US" sz="1100" b="0" u="none" strike="noStrike">
              <a:solidFill>
                <a:srgbClr val="000000"/>
              </a:solidFill>
              <a:effectLst/>
              <a:uFillTx/>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3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3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33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Comparing Uninformed Search Algorithms</a:t>
            </a:r>
            <a:endParaRPr lang="en-US" sz="2600" b="0" u="none" strike="noStrike">
              <a:solidFill>
                <a:srgbClr val="000000"/>
              </a:solidFill>
              <a:effectLst/>
              <a:uFillTx/>
              <a:latin typeface="Arial"/>
            </a:endParaRPr>
          </a:p>
        </p:txBody>
      </p:sp>
      <p:sp>
        <p:nvSpPr>
          <p:cNvPr id="134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4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42" name="Shape 5"/>
          <p:cNvSpPr/>
          <p:nvPr/>
        </p:nvSpPr>
        <p:spPr>
          <a:xfrm>
            <a:off x="685800" y="1325880"/>
            <a:ext cx="201132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3" name="Text 6"/>
          <p:cNvSpPr/>
          <p:nvPr/>
        </p:nvSpPr>
        <p:spPr>
          <a:xfrm>
            <a:off x="731520" y="143568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Algorithm</a:t>
            </a:r>
            <a:endParaRPr lang="en-US" sz="1300" b="0" u="none" strike="noStrike">
              <a:solidFill>
                <a:srgbClr val="000000"/>
              </a:solidFill>
              <a:effectLst/>
              <a:uFillTx/>
              <a:latin typeface="Arial"/>
            </a:endParaRPr>
          </a:p>
        </p:txBody>
      </p:sp>
      <p:sp>
        <p:nvSpPr>
          <p:cNvPr id="1344" name="Shape 7"/>
          <p:cNvSpPr/>
          <p:nvPr/>
        </p:nvSpPr>
        <p:spPr>
          <a:xfrm>
            <a:off x="2697480" y="1325880"/>
            <a:ext cx="292572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5" name="Text 8"/>
          <p:cNvSpPr/>
          <p:nvPr/>
        </p:nvSpPr>
        <p:spPr>
          <a:xfrm>
            <a:off x="2743200" y="1435680"/>
            <a:ext cx="2834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Complete?</a:t>
            </a:r>
            <a:endParaRPr lang="en-US" sz="1300" b="0" u="none" strike="noStrike">
              <a:solidFill>
                <a:srgbClr val="000000"/>
              </a:solidFill>
              <a:effectLst/>
              <a:uFillTx/>
              <a:latin typeface="Arial"/>
            </a:endParaRPr>
          </a:p>
        </p:txBody>
      </p:sp>
      <p:sp>
        <p:nvSpPr>
          <p:cNvPr id="1346" name="Shape 9"/>
          <p:cNvSpPr/>
          <p:nvPr/>
        </p:nvSpPr>
        <p:spPr>
          <a:xfrm>
            <a:off x="5623560" y="1325880"/>
            <a:ext cx="255996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7" name="Text 10"/>
          <p:cNvSpPr/>
          <p:nvPr/>
        </p:nvSpPr>
        <p:spPr>
          <a:xfrm>
            <a:off x="5669280" y="1435680"/>
            <a:ext cx="2468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Optimal?</a:t>
            </a:r>
            <a:endParaRPr lang="en-US" sz="1300" b="0" u="none" strike="noStrike">
              <a:solidFill>
                <a:srgbClr val="000000"/>
              </a:solidFill>
              <a:effectLst/>
              <a:uFillTx/>
              <a:latin typeface="Arial"/>
            </a:endParaRPr>
          </a:p>
        </p:txBody>
      </p:sp>
      <p:sp>
        <p:nvSpPr>
          <p:cNvPr id="1348" name="Shape 11"/>
          <p:cNvSpPr/>
          <p:nvPr/>
        </p:nvSpPr>
        <p:spPr>
          <a:xfrm>
            <a:off x="8183880" y="1325880"/>
            <a:ext cx="283428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9" name="Text 12"/>
          <p:cNvSpPr/>
          <p:nvPr/>
        </p:nvSpPr>
        <p:spPr>
          <a:xfrm>
            <a:off x="8229600" y="143568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Memory</a:t>
            </a:r>
            <a:endParaRPr lang="en-US" sz="1300" b="0" u="none" strike="noStrike">
              <a:solidFill>
                <a:srgbClr val="000000"/>
              </a:solidFill>
              <a:effectLst/>
              <a:uFillTx/>
              <a:latin typeface="Arial"/>
            </a:endParaRPr>
          </a:p>
        </p:txBody>
      </p:sp>
      <p:sp>
        <p:nvSpPr>
          <p:cNvPr id="1350" name="Shape 13"/>
          <p:cNvSpPr/>
          <p:nvPr/>
        </p:nvSpPr>
        <p:spPr>
          <a:xfrm>
            <a:off x="685800" y="185616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1" name="Text 14"/>
          <p:cNvSpPr/>
          <p:nvPr/>
        </p:nvSpPr>
        <p:spPr>
          <a:xfrm>
            <a:off x="731520" y="19749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BFS</a:t>
            </a:r>
            <a:endParaRPr lang="en-US" sz="1150" b="0" u="none" strike="noStrike">
              <a:solidFill>
                <a:srgbClr val="000000"/>
              </a:solidFill>
              <a:effectLst/>
              <a:uFillTx/>
              <a:latin typeface="Arial"/>
            </a:endParaRPr>
          </a:p>
        </p:txBody>
      </p:sp>
      <p:sp>
        <p:nvSpPr>
          <p:cNvPr id="1352" name="Shape 15"/>
          <p:cNvSpPr/>
          <p:nvPr/>
        </p:nvSpPr>
        <p:spPr>
          <a:xfrm>
            <a:off x="2697480" y="185616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3" name="Text 16"/>
          <p:cNvSpPr/>
          <p:nvPr/>
        </p:nvSpPr>
        <p:spPr>
          <a:xfrm>
            <a:off x="2743200" y="197496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54" name="Shape 17"/>
          <p:cNvSpPr/>
          <p:nvPr/>
        </p:nvSpPr>
        <p:spPr>
          <a:xfrm>
            <a:off x="5623560" y="185616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5" name="Text 18"/>
          <p:cNvSpPr/>
          <p:nvPr/>
        </p:nvSpPr>
        <p:spPr>
          <a:xfrm>
            <a:off x="5669280" y="197496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56" name="Shape 19"/>
          <p:cNvSpPr/>
          <p:nvPr/>
        </p:nvSpPr>
        <p:spPr>
          <a:xfrm>
            <a:off x="8183880" y="185616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7" name="Text 20"/>
          <p:cNvSpPr/>
          <p:nvPr/>
        </p:nvSpPr>
        <p:spPr>
          <a:xfrm>
            <a:off x="8229600" y="19749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58" name="Shape 21"/>
          <p:cNvSpPr/>
          <p:nvPr/>
        </p:nvSpPr>
        <p:spPr>
          <a:xfrm>
            <a:off x="685800" y="238644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9" name="Text 22"/>
          <p:cNvSpPr/>
          <p:nvPr/>
        </p:nvSpPr>
        <p:spPr>
          <a:xfrm>
            <a:off x="731520" y="250560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UCS</a:t>
            </a:r>
            <a:endParaRPr lang="en-US" sz="1150" b="0" u="none" strike="noStrike">
              <a:solidFill>
                <a:srgbClr val="000000"/>
              </a:solidFill>
              <a:effectLst/>
              <a:uFillTx/>
              <a:latin typeface="Arial"/>
            </a:endParaRPr>
          </a:p>
        </p:txBody>
      </p:sp>
      <p:sp>
        <p:nvSpPr>
          <p:cNvPr id="1360" name="Shape 23"/>
          <p:cNvSpPr/>
          <p:nvPr/>
        </p:nvSpPr>
        <p:spPr>
          <a:xfrm>
            <a:off x="2697480" y="238644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1" name="Text 24"/>
          <p:cNvSpPr/>
          <p:nvPr/>
        </p:nvSpPr>
        <p:spPr>
          <a:xfrm>
            <a:off x="2743200" y="250560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 ε&gt;0</a:t>
            </a:r>
            <a:endParaRPr lang="en-US" sz="1150" b="0" u="none" strike="noStrike">
              <a:solidFill>
                <a:srgbClr val="000000"/>
              </a:solidFill>
              <a:effectLst/>
              <a:uFillTx/>
              <a:latin typeface="Arial"/>
            </a:endParaRPr>
          </a:p>
        </p:txBody>
      </p:sp>
      <p:sp>
        <p:nvSpPr>
          <p:cNvPr id="1362" name="Shape 25"/>
          <p:cNvSpPr/>
          <p:nvPr/>
        </p:nvSpPr>
        <p:spPr>
          <a:xfrm>
            <a:off x="5623560" y="238644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3" name="Text 26"/>
          <p:cNvSpPr/>
          <p:nvPr/>
        </p:nvSpPr>
        <p:spPr>
          <a:xfrm>
            <a:off x="5669280" y="250560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64" name="Shape 27"/>
          <p:cNvSpPr/>
          <p:nvPr/>
        </p:nvSpPr>
        <p:spPr>
          <a:xfrm>
            <a:off x="8183880" y="238644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5" name="Text 28"/>
          <p:cNvSpPr/>
          <p:nvPr/>
        </p:nvSpPr>
        <p:spPr>
          <a:xfrm>
            <a:off x="8229600" y="250560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O(b^(1+C*/ε))</a:t>
            </a:r>
            <a:endParaRPr lang="en-US" sz="1150" b="0" u="none" strike="noStrike">
              <a:solidFill>
                <a:srgbClr val="000000"/>
              </a:solidFill>
              <a:effectLst/>
              <a:uFillTx/>
              <a:latin typeface="Arial"/>
            </a:endParaRPr>
          </a:p>
        </p:txBody>
      </p:sp>
      <p:sp>
        <p:nvSpPr>
          <p:cNvPr id="1366" name="Shape 29"/>
          <p:cNvSpPr/>
          <p:nvPr/>
        </p:nvSpPr>
        <p:spPr>
          <a:xfrm>
            <a:off x="685800" y="291708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7" name="Text 30"/>
          <p:cNvSpPr/>
          <p:nvPr/>
        </p:nvSpPr>
        <p:spPr>
          <a:xfrm>
            <a:off x="731520" y="303588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DFS</a:t>
            </a:r>
            <a:endParaRPr lang="en-US" sz="1150" b="0" u="none" strike="noStrike">
              <a:solidFill>
                <a:srgbClr val="000000"/>
              </a:solidFill>
              <a:effectLst/>
              <a:uFillTx/>
              <a:latin typeface="Arial"/>
            </a:endParaRPr>
          </a:p>
        </p:txBody>
      </p:sp>
      <p:sp>
        <p:nvSpPr>
          <p:cNvPr id="1368" name="Shape 31"/>
          <p:cNvSpPr/>
          <p:nvPr/>
        </p:nvSpPr>
        <p:spPr>
          <a:xfrm>
            <a:off x="2697480" y="291708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9" name="Text 32"/>
          <p:cNvSpPr/>
          <p:nvPr/>
        </p:nvSpPr>
        <p:spPr>
          <a:xfrm>
            <a:off x="2743200" y="303588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 in infinite/cyclic</a:t>
            </a:r>
            <a:endParaRPr lang="en-US" sz="1150" b="0" u="none" strike="noStrike">
              <a:solidFill>
                <a:srgbClr val="000000"/>
              </a:solidFill>
              <a:effectLst/>
              <a:uFillTx/>
              <a:latin typeface="Arial"/>
            </a:endParaRPr>
          </a:p>
        </p:txBody>
      </p:sp>
      <p:sp>
        <p:nvSpPr>
          <p:cNvPr id="1370" name="Shape 33"/>
          <p:cNvSpPr/>
          <p:nvPr/>
        </p:nvSpPr>
        <p:spPr>
          <a:xfrm>
            <a:off x="5623560" y="291708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1" name="Text 34"/>
          <p:cNvSpPr/>
          <p:nvPr/>
        </p:nvSpPr>
        <p:spPr>
          <a:xfrm>
            <a:off x="5669280" y="303588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72" name="Shape 35"/>
          <p:cNvSpPr/>
          <p:nvPr/>
        </p:nvSpPr>
        <p:spPr>
          <a:xfrm>
            <a:off x="8183880" y="291708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3" name="Text 36"/>
          <p:cNvSpPr/>
          <p:nvPr/>
        </p:nvSpPr>
        <p:spPr>
          <a:xfrm>
            <a:off x="8229600" y="303588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O(bm)</a:t>
            </a:r>
            <a:endParaRPr lang="en-US" sz="1150" b="0" u="none" strike="noStrike">
              <a:solidFill>
                <a:srgbClr val="000000"/>
              </a:solidFill>
              <a:effectLst/>
              <a:uFillTx/>
              <a:latin typeface="Arial"/>
            </a:endParaRPr>
          </a:p>
        </p:txBody>
      </p:sp>
      <p:sp>
        <p:nvSpPr>
          <p:cNvPr id="1374" name="Shape 37"/>
          <p:cNvSpPr/>
          <p:nvPr/>
        </p:nvSpPr>
        <p:spPr>
          <a:xfrm>
            <a:off x="685800" y="344736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5" name="Text 38"/>
          <p:cNvSpPr/>
          <p:nvPr/>
        </p:nvSpPr>
        <p:spPr>
          <a:xfrm>
            <a:off x="731520" y="3566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DLS</a:t>
            </a:r>
            <a:endParaRPr lang="en-US" sz="1150" b="0" u="none" strike="noStrike">
              <a:solidFill>
                <a:srgbClr val="000000"/>
              </a:solidFill>
              <a:effectLst/>
              <a:uFillTx/>
              <a:latin typeface="Arial"/>
            </a:endParaRPr>
          </a:p>
        </p:txBody>
      </p:sp>
      <p:sp>
        <p:nvSpPr>
          <p:cNvPr id="1376" name="Shape 39"/>
          <p:cNvSpPr/>
          <p:nvPr/>
        </p:nvSpPr>
        <p:spPr>
          <a:xfrm>
            <a:off x="2697480" y="344736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7" name="Text 40"/>
          <p:cNvSpPr/>
          <p:nvPr/>
        </p:nvSpPr>
        <p:spPr>
          <a:xfrm>
            <a:off x="2743200" y="356616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If limit adequate</a:t>
            </a:r>
            <a:endParaRPr lang="en-US" sz="1150" b="0" u="none" strike="noStrike">
              <a:solidFill>
                <a:srgbClr val="000000"/>
              </a:solidFill>
              <a:effectLst/>
              <a:uFillTx/>
              <a:latin typeface="Arial"/>
            </a:endParaRPr>
          </a:p>
        </p:txBody>
      </p:sp>
      <p:sp>
        <p:nvSpPr>
          <p:cNvPr id="1378" name="Shape 41"/>
          <p:cNvSpPr/>
          <p:nvPr/>
        </p:nvSpPr>
        <p:spPr>
          <a:xfrm>
            <a:off x="5623560" y="344736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9" name="Text 42"/>
          <p:cNvSpPr/>
          <p:nvPr/>
        </p:nvSpPr>
        <p:spPr>
          <a:xfrm>
            <a:off x="5669280" y="356616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80" name="Shape 43"/>
          <p:cNvSpPr/>
          <p:nvPr/>
        </p:nvSpPr>
        <p:spPr>
          <a:xfrm>
            <a:off x="8183880" y="344736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1" name="Text 44"/>
          <p:cNvSpPr/>
          <p:nvPr/>
        </p:nvSpPr>
        <p:spPr>
          <a:xfrm>
            <a:off x="8229600" y="35661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O(bℓ)</a:t>
            </a:r>
            <a:endParaRPr lang="en-US" sz="1150" b="0" u="none" strike="noStrike">
              <a:solidFill>
                <a:srgbClr val="000000"/>
              </a:solidFill>
              <a:effectLst/>
              <a:uFillTx/>
              <a:latin typeface="Arial"/>
            </a:endParaRPr>
          </a:p>
        </p:txBody>
      </p:sp>
      <p:sp>
        <p:nvSpPr>
          <p:cNvPr id="1382" name="Shape 45"/>
          <p:cNvSpPr/>
          <p:nvPr/>
        </p:nvSpPr>
        <p:spPr>
          <a:xfrm>
            <a:off x="685800" y="397764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3" name="Text 46"/>
          <p:cNvSpPr/>
          <p:nvPr/>
        </p:nvSpPr>
        <p:spPr>
          <a:xfrm>
            <a:off x="731520" y="409644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IDS</a:t>
            </a:r>
            <a:endParaRPr lang="en-US" sz="1150" b="0" u="none" strike="noStrike">
              <a:solidFill>
                <a:srgbClr val="000000"/>
              </a:solidFill>
              <a:effectLst/>
              <a:uFillTx/>
              <a:latin typeface="Arial"/>
            </a:endParaRPr>
          </a:p>
        </p:txBody>
      </p:sp>
      <p:sp>
        <p:nvSpPr>
          <p:cNvPr id="1384" name="Shape 47"/>
          <p:cNvSpPr/>
          <p:nvPr/>
        </p:nvSpPr>
        <p:spPr>
          <a:xfrm>
            <a:off x="2697480" y="397764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5" name="Text 48"/>
          <p:cNvSpPr/>
          <p:nvPr/>
        </p:nvSpPr>
        <p:spPr>
          <a:xfrm>
            <a:off x="2743200" y="409644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 in many finite cases</a:t>
            </a:r>
            <a:endParaRPr lang="en-US" sz="1150" b="0" u="none" strike="noStrike">
              <a:solidFill>
                <a:srgbClr val="000000"/>
              </a:solidFill>
              <a:effectLst/>
              <a:uFillTx/>
              <a:latin typeface="Arial"/>
            </a:endParaRPr>
          </a:p>
        </p:txBody>
      </p:sp>
      <p:sp>
        <p:nvSpPr>
          <p:cNvPr id="1386" name="Shape 49"/>
          <p:cNvSpPr/>
          <p:nvPr/>
        </p:nvSpPr>
        <p:spPr>
          <a:xfrm>
            <a:off x="5623560" y="397764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7" name="Text 50"/>
          <p:cNvSpPr/>
          <p:nvPr/>
        </p:nvSpPr>
        <p:spPr>
          <a:xfrm>
            <a:off x="5669280" y="409644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88" name="Shape 51"/>
          <p:cNvSpPr/>
          <p:nvPr/>
        </p:nvSpPr>
        <p:spPr>
          <a:xfrm>
            <a:off x="8183880" y="397764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9" name="Text 52"/>
          <p:cNvSpPr/>
          <p:nvPr/>
        </p:nvSpPr>
        <p:spPr>
          <a:xfrm>
            <a:off x="8229600" y="409644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90" name="Shape 53"/>
          <p:cNvSpPr/>
          <p:nvPr/>
        </p:nvSpPr>
        <p:spPr>
          <a:xfrm>
            <a:off x="685800" y="450792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1" name="Text 54"/>
          <p:cNvSpPr/>
          <p:nvPr/>
        </p:nvSpPr>
        <p:spPr>
          <a:xfrm>
            <a:off x="731520" y="462672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Bidirectional</a:t>
            </a:r>
            <a:endParaRPr lang="en-US" sz="1150" b="0" u="none" strike="noStrike">
              <a:solidFill>
                <a:srgbClr val="000000"/>
              </a:solidFill>
              <a:effectLst/>
              <a:uFillTx/>
              <a:latin typeface="Arial"/>
            </a:endParaRPr>
          </a:p>
        </p:txBody>
      </p:sp>
      <p:sp>
        <p:nvSpPr>
          <p:cNvPr id="1392" name="Shape 55"/>
          <p:cNvSpPr/>
          <p:nvPr/>
        </p:nvSpPr>
        <p:spPr>
          <a:xfrm>
            <a:off x="2697480" y="450792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3" name="Text 56"/>
          <p:cNvSpPr/>
          <p:nvPr/>
        </p:nvSpPr>
        <p:spPr>
          <a:xfrm>
            <a:off x="2743200" y="462672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4" name="Shape 57"/>
          <p:cNvSpPr/>
          <p:nvPr/>
        </p:nvSpPr>
        <p:spPr>
          <a:xfrm>
            <a:off x="5623560" y="450792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5" name="Text 58"/>
          <p:cNvSpPr/>
          <p:nvPr/>
        </p:nvSpPr>
        <p:spPr>
          <a:xfrm>
            <a:off x="5669280" y="462672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6" name="Shape 59"/>
          <p:cNvSpPr/>
          <p:nvPr/>
        </p:nvSpPr>
        <p:spPr>
          <a:xfrm>
            <a:off x="8183880" y="450792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7" name="Text 60"/>
          <p:cNvSpPr/>
          <p:nvPr/>
        </p:nvSpPr>
        <p:spPr>
          <a:xfrm>
            <a:off x="8229600" y="462672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often lower</a:t>
            </a:r>
            <a:endParaRPr lang="en-US" sz="1150" b="0" u="none" strike="noStrike">
              <a:solidFill>
                <a:srgbClr val="000000"/>
              </a:solidFill>
              <a:effectLst/>
              <a:uFillTx/>
              <a:latin typeface="Arial"/>
            </a:endParaRPr>
          </a:p>
        </p:txBody>
      </p:sp>
      <p:sp>
        <p:nvSpPr>
          <p:cNvPr id="1398" name="Text 61"/>
          <p:cNvSpPr/>
          <p:nvPr/>
        </p:nvSpPr>
        <p:spPr>
          <a:xfrm>
            <a:off x="914400" y="5715000"/>
            <a:ext cx="100580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12E5C"/>
                </a:solidFill>
                <a:effectLst/>
                <a:uFillTx/>
                <a:latin typeface="Aptos"/>
              </a:rPr>
              <a:t>Reason from the frontier rule; do not memorize without understanding.</a:t>
            </a:r>
            <a:endParaRPr lang="en-US" sz="1700" b="0" u="none" strike="noStrike">
              <a:solidFill>
                <a:srgbClr val="000000"/>
              </a:solidFill>
              <a:effectLst/>
              <a:uFillTx/>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Figure 3.15: Comparing Uninformed Search Algorithms</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H 2006"/>
          <p:cNvSpPr/>
          <p:nvPr/>
        </p:nvSpPr>
        <p:spPr>
          <a:xfrm>
            <a:off x="502920" y="1300000"/>
            <a:ext cx="1700000"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FFFFFF"/>
                </a:solidFill>
                <a:effectLst/>
                <a:uFillTx/>
                <a:latin typeface="Aptos"/>
              </a:rPr>
              <a:t>Criterion</a:t>
            </a:r>
            <a:endParaRPr lang="en-US" sz="1100" b="0" u="none" strike="noStrike">
              <a:solidFill>
                <a:srgbClr val="000000"/>
              </a:solidFill>
              <a:effectLst/>
              <a:uFillTx/>
              <a:latin typeface="Arial"/>
            </a:endParaRPr>
          </a:p>
        </p:txBody>
      </p:sp>
      <p:sp>
        <p:nvSpPr>
          <p:cNvPr id="2007" name="H 2007"/>
          <p:cNvSpPr/>
          <p:nvPr/>
        </p:nvSpPr>
        <p:spPr>
          <a:xfrm>
            <a:off x="2202920"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Breadth-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First</a:t>
            </a:r>
            <a:endParaRPr lang="en-US" sz="1100" b="0" u="none" strike="noStrike">
              <a:solidFill>
                <a:srgbClr val="000000"/>
              </a:solidFill>
              <a:effectLst/>
              <a:uFillTx/>
              <a:latin typeface="Arial"/>
            </a:endParaRPr>
          </a:p>
        </p:txBody>
      </p:sp>
      <p:sp>
        <p:nvSpPr>
          <p:cNvPr id="2008" name="H 2008"/>
          <p:cNvSpPr/>
          <p:nvPr/>
        </p:nvSpPr>
        <p:spPr>
          <a:xfrm>
            <a:off x="3783946"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Uniform-</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Cost</a:t>
            </a:r>
            <a:endParaRPr lang="en-US" sz="1100" b="0" u="none" strike="noStrike">
              <a:solidFill>
                <a:srgbClr val="000000"/>
              </a:solidFill>
              <a:effectLst/>
              <a:uFillTx/>
              <a:latin typeface="Arial"/>
            </a:endParaRPr>
          </a:p>
        </p:txBody>
      </p:sp>
      <p:sp>
        <p:nvSpPr>
          <p:cNvPr id="2009" name="H 2009"/>
          <p:cNvSpPr/>
          <p:nvPr/>
        </p:nvSpPr>
        <p:spPr>
          <a:xfrm>
            <a:off x="5364972"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Depth-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First</a:t>
            </a:r>
            <a:endParaRPr lang="en-US" sz="1100" b="0" u="none" strike="noStrike">
              <a:solidFill>
                <a:srgbClr val="000000"/>
              </a:solidFill>
              <a:effectLst/>
              <a:uFillTx/>
              <a:latin typeface="Arial"/>
            </a:endParaRPr>
          </a:p>
        </p:txBody>
      </p:sp>
      <p:sp>
        <p:nvSpPr>
          <p:cNvPr id="2010" name="H 2010"/>
          <p:cNvSpPr/>
          <p:nvPr/>
        </p:nvSpPr>
        <p:spPr>
          <a:xfrm>
            <a:off x="6945998"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Depth-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Limited</a:t>
            </a:r>
            <a:endParaRPr lang="en-US" sz="1100" b="0" u="none" strike="noStrike">
              <a:solidFill>
                <a:srgbClr val="000000"/>
              </a:solidFill>
              <a:effectLst/>
              <a:uFillTx/>
              <a:latin typeface="Arial"/>
            </a:endParaRPr>
          </a:p>
        </p:txBody>
      </p:sp>
      <p:sp>
        <p:nvSpPr>
          <p:cNvPr id="2011" name="H 2011"/>
          <p:cNvSpPr/>
          <p:nvPr/>
        </p:nvSpPr>
        <p:spPr>
          <a:xfrm>
            <a:off x="8527024"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Iterative</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Deepening</a:t>
            </a:r>
            <a:endParaRPr lang="en-US" sz="1100" b="0" u="none" strike="noStrike">
              <a:solidFill>
                <a:srgbClr val="000000"/>
              </a:solidFill>
              <a:effectLst/>
              <a:uFillTx/>
              <a:latin typeface="Arial"/>
            </a:endParaRPr>
          </a:p>
        </p:txBody>
      </p:sp>
      <p:sp>
        <p:nvSpPr>
          <p:cNvPr id="2012" name="H 2012"/>
          <p:cNvSpPr/>
          <p:nvPr/>
        </p:nvSpPr>
        <p:spPr>
          <a:xfrm>
            <a:off x="10108050"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Bidirectional</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(if applicable)</a:t>
            </a:r>
            <a:endParaRPr lang="en-US" sz="1100" b="0" u="none" strike="noStrike">
              <a:solidFill>
                <a:srgbClr val="000000"/>
              </a:solidFill>
              <a:effectLst/>
              <a:uFillTx/>
              <a:latin typeface="Arial"/>
            </a:endParaRPr>
          </a:p>
        </p:txBody>
      </p:sp>
      <p:sp>
        <p:nvSpPr>
          <p:cNvPr id="2013" name="C 2013"/>
          <p:cNvSpPr/>
          <p:nvPr/>
        </p:nvSpPr>
        <p:spPr>
          <a:xfrm>
            <a:off x="502920" y="1920000"/>
            <a:ext cx="1700000"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Complete?</a:t>
            </a:r>
            <a:endParaRPr lang="en-US" sz="1100" b="0" u="none" strike="noStrike">
              <a:solidFill>
                <a:srgbClr val="000000"/>
              </a:solidFill>
              <a:effectLst/>
              <a:uFillTx/>
              <a:latin typeface="Arial"/>
            </a:endParaRPr>
          </a:p>
        </p:txBody>
      </p:sp>
      <p:sp>
        <p:nvSpPr>
          <p:cNvPr id="2014" name="C 2014"/>
          <p:cNvSpPr/>
          <p:nvPr/>
        </p:nvSpPr>
        <p:spPr>
          <a:xfrm>
            <a:off x="2202920"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a:t>
            </a:r>
            <a:endParaRPr lang="en-US" sz="1100" b="0" u="none" strike="noStrike">
              <a:solidFill>
                <a:srgbClr val="000000"/>
              </a:solidFill>
              <a:effectLst/>
              <a:uFillTx/>
              <a:latin typeface="Arial"/>
            </a:endParaRPr>
          </a:p>
        </p:txBody>
      </p:sp>
      <p:sp>
        <p:nvSpPr>
          <p:cNvPr id="2015" name="C 2015"/>
          <p:cNvSpPr/>
          <p:nvPr/>
        </p:nvSpPr>
        <p:spPr>
          <a:xfrm>
            <a:off x="3783946"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1,2</a:t>
            </a:r>
            <a:endParaRPr lang="en-US" sz="1100" b="0" u="none" strike="noStrike">
              <a:solidFill>
                <a:srgbClr val="000000"/>
              </a:solidFill>
              <a:effectLst/>
              <a:uFillTx/>
              <a:latin typeface="Arial"/>
            </a:endParaRPr>
          </a:p>
        </p:txBody>
      </p:sp>
      <p:sp>
        <p:nvSpPr>
          <p:cNvPr id="2016" name="C 2016"/>
          <p:cNvSpPr/>
          <p:nvPr/>
        </p:nvSpPr>
        <p:spPr>
          <a:xfrm>
            <a:off x="5364972"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17" name="C 2017"/>
          <p:cNvSpPr/>
          <p:nvPr/>
        </p:nvSpPr>
        <p:spPr>
          <a:xfrm>
            <a:off x="6945998"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18" name="C 2018"/>
          <p:cNvSpPr/>
          <p:nvPr/>
        </p:nvSpPr>
        <p:spPr>
          <a:xfrm>
            <a:off x="8527024"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a:t>
            </a:r>
            <a:endParaRPr lang="en-US" sz="1100" b="0" u="none" strike="noStrike">
              <a:solidFill>
                <a:srgbClr val="000000"/>
              </a:solidFill>
              <a:effectLst/>
              <a:uFillTx/>
              <a:latin typeface="Arial"/>
            </a:endParaRPr>
          </a:p>
        </p:txBody>
      </p:sp>
      <p:sp>
        <p:nvSpPr>
          <p:cNvPr id="2019" name="C 2019"/>
          <p:cNvSpPr/>
          <p:nvPr/>
        </p:nvSpPr>
        <p:spPr>
          <a:xfrm>
            <a:off x="10108050"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1,4</a:t>
            </a:r>
            <a:endParaRPr lang="en-US" sz="1100" b="0" u="none" strike="noStrike">
              <a:solidFill>
                <a:srgbClr val="000000"/>
              </a:solidFill>
              <a:effectLst/>
              <a:uFillTx/>
              <a:latin typeface="Arial"/>
            </a:endParaRPr>
          </a:p>
        </p:txBody>
      </p:sp>
      <p:sp>
        <p:nvSpPr>
          <p:cNvPr id="2020" name="C 2020"/>
          <p:cNvSpPr/>
          <p:nvPr/>
        </p:nvSpPr>
        <p:spPr>
          <a:xfrm>
            <a:off x="502920" y="2390000"/>
            <a:ext cx="1700000"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Optimal cost?</a:t>
            </a:r>
            <a:endParaRPr lang="en-US" sz="1100" b="0" u="none" strike="noStrike">
              <a:solidFill>
                <a:srgbClr val="000000"/>
              </a:solidFill>
              <a:effectLst/>
              <a:uFillTx/>
              <a:latin typeface="Arial"/>
            </a:endParaRPr>
          </a:p>
        </p:txBody>
      </p:sp>
      <p:sp>
        <p:nvSpPr>
          <p:cNvPr id="2021" name="C 2021"/>
          <p:cNvSpPr/>
          <p:nvPr/>
        </p:nvSpPr>
        <p:spPr>
          <a:xfrm>
            <a:off x="2202920"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a:t>
            </a:r>
            <a:endParaRPr lang="en-US" sz="1100" b="0" u="none" strike="noStrike">
              <a:solidFill>
                <a:srgbClr val="000000"/>
              </a:solidFill>
              <a:effectLst/>
              <a:uFillTx/>
              <a:latin typeface="Arial"/>
            </a:endParaRPr>
          </a:p>
        </p:txBody>
      </p:sp>
      <p:sp>
        <p:nvSpPr>
          <p:cNvPr id="2022" name="C 2022"/>
          <p:cNvSpPr/>
          <p:nvPr/>
        </p:nvSpPr>
        <p:spPr>
          <a:xfrm>
            <a:off x="3783946"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endParaRPr lang="en-US" sz="1100" b="0" u="none" strike="noStrike">
              <a:solidFill>
                <a:srgbClr val="000000"/>
              </a:solidFill>
              <a:effectLst/>
              <a:uFillTx/>
              <a:latin typeface="Arial"/>
            </a:endParaRPr>
          </a:p>
        </p:txBody>
      </p:sp>
      <p:sp>
        <p:nvSpPr>
          <p:cNvPr id="2023" name="C 2023"/>
          <p:cNvSpPr/>
          <p:nvPr/>
        </p:nvSpPr>
        <p:spPr>
          <a:xfrm>
            <a:off x="5364972"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24" name="C 2024"/>
          <p:cNvSpPr/>
          <p:nvPr/>
        </p:nvSpPr>
        <p:spPr>
          <a:xfrm>
            <a:off x="6945998"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25" name="C 2025"/>
          <p:cNvSpPr/>
          <p:nvPr/>
        </p:nvSpPr>
        <p:spPr>
          <a:xfrm>
            <a:off x="8527024"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a:t>
            </a:r>
            <a:endParaRPr lang="en-US" sz="1100" b="0" u="none" strike="noStrike">
              <a:solidFill>
                <a:srgbClr val="000000"/>
              </a:solidFill>
              <a:effectLst/>
              <a:uFillTx/>
              <a:latin typeface="Arial"/>
            </a:endParaRPr>
          </a:p>
        </p:txBody>
      </p:sp>
      <p:sp>
        <p:nvSpPr>
          <p:cNvPr id="2026" name="C 2026"/>
          <p:cNvSpPr/>
          <p:nvPr/>
        </p:nvSpPr>
        <p:spPr>
          <a:xfrm>
            <a:off x="10108050"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3,4</a:t>
            </a:r>
            <a:endParaRPr lang="en-US" sz="1100" b="0" u="none" strike="noStrike">
              <a:solidFill>
                <a:srgbClr val="000000"/>
              </a:solidFill>
              <a:effectLst/>
              <a:uFillTx/>
              <a:latin typeface="Arial"/>
            </a:endParaRPr>
          </a:p>
        </p:txBody>
      </p:sp>
      <p:sp>
        <p:nvSpPr>
          <p:cNvPr id="2027" name="C 2027"/>
          <p:cNvSpPr/>
          <p:nvPr/>
        </p:nvSpPr>
        <p:spPr>
          <a:xfrm>
            <a:off x="502920" y="2860000"/>
            <a:ext cx="1700000"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Time</a:t>
            </a:r>
            <a:endParaRPr lang="en-US" sz="1100" b="0" u="none" strike="noStrike">
              <a:solidFill>
                <a:srgbClr val="000000"/>
              </a:solidFill>
              <a:effectLst/>
              <a:uFillTx/>
              <a:latin typeface="Arial"/>
            </a:endParaRPr>
          </a:p>
        </p:txBody>
      </p:sp>
      <p:sp>
        <p:nvSpPr>
          <p:cNvPr id="2028" name="C 2028"/>
          <p:cNvSpPr/>
          <p:nvPr/>
        </p:nvSpPr>
        <p:spPr>
          <a:xfrm>
            <a:off x="2202920"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29" name="C 2029"/>
          <p:cNvSpPr/>
          <p:nvPr/>
        </p:nvSpPr>
        <p:spPr>
          <a:xfrm>
            <a:off x="3783946"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1+⌊C*/ε⌋</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0" name="C 2030"/>
          <p:cNvSpPr/>
          <p:nvPr/>
        </p:nvSpPr>
        <p:spPr>
          <a:xfrm>
            <a:off x="5364972"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m</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1" name="C 2031"/>
          <p:cNvSpPr/>
          <p:nvPr/>
        </p:nvSpPr>
        <p:spPr>
          <a:xfrm>
            <a:off x="6945998"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ℓ</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2" name="C 2032"/>
          <p:cNvSpPr/>
          <p:nvPr/>
        </p:nvSpPr>
        <p:spPr>
          <a:xfrm>
            <a:off x="8527024"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3" name="C 2033"/>
          <p:cNvSpPr/>
          <p:nvPr/>
        </p:nvSpPr>
        <p:spPr>
          <a:xfrm>
            <a:off x="10108050"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d/2</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4" name="C 2034"/>
          <p:cNvSpPr/>
          <p:nvPr/>
        </p:nvSpPr>
        <p:spPr>
          <a:xfrm>
            <a:off x="502920" y="3330000"/>
            <a:ext cx="1700000"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Space</a:t>
            </a:r>
            <a:endParaRPr lang="en-US" sz="1100" b="0" u="none" strike="noStrike">
              <a:solidFill>
                <a:srgbClr val="000000"/>
              </a:solidFill>
              <a:effectLst/>
              <a:uFillTx/>
              <a:latin typeface="Arial"/>
            </a:endParaRPr>
          </a:p>
        </p:txBody>
      </p:sp>
      <p:sp>
        <p:nvSpPr>
          <p:cNvPr id="2035" name="C 2035"/>
          <p:cNvSpPr/>
          <p:nvPr/>
        </p:nvSpPr>
        <p:spPr>
          <a:xfrm>
            <a:off x="2202920"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6" name="C 2036"/>
          <p:cNvSpPr/>
          <p:nvPr/>
        </p:nvSpPr>
        <p:spPr>
          <a:xfrm>
            <a:off x="3783946"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1+⌊C*/ε⌋</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7" name="C 2037"/>
          <p:cNvSpPr/>
          <p:nvPr/>
        </p:nvSpPr>
        <p:spPr>
          <a:xfrm>
            <a:off x="5364972"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O(bm)</a:t>
            </a:r>
            <a:endParaRPr lang="en-US" sz="1100" b="0" u="none" strike="noStrike">
              <a:solidFill>
                <a:srgbClr val="000000"/>
              </a:solidFill>
              <a:effectLst/>
              <a:uFillTx/>
              <a:latin typeface="Arial"/>
            </a:endParaRPr>
          </a:p>
        </p:txBody>
      </p:sp>
      <p:sp>
        <p:nvSpPr>
          <p:cNvPr id="2038" name="C 2038"/>
          <p:cNvSpPr/>
          <p:nvPr/>
        </p:nvSpPr>
        <p:spPr>
          <a:xfrm>
            <a:off x="6945998"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O(bℓ)</a:t>
            </a:r>
            <a:endParaRPr lang="en-US" sz="1100" b="0" u="none" strike="noStrike">
              <a:solidFill>
                <a:srgbClr val="000000"/>
              </a:solidFill>
              <a:effectLst/>
              <a:uFillTx/>
              <a:latin typeface="Arial"/>
            </a:endParaRPr>
          </a:p>
        </p:txBody>
      </p:sp>
      <p:sp>
        <p:nvSpPr>
          <p:cNvPr id="2039" name="C 2039"/>
          <p:cNvSpPr/>
          <p:nvPr/>
        </p:nvSpPr>
        <p:spPr>
          <a:xfrm>
            <a:off x="8527024"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O(bd)</a:t>
            </a:r>
            <a:endParaRPr lang="en-US" sz="1100" b="0" u="none" strike="noStrike">
              <a:solidFill>
                <a:srgbClr val="000000"/>
              </a:solidFill>
              <a:effectLst/>
              <a:uFillTx/>
              <a:latin typeface="Arial"/>
            </a:endParaRPr>
          </a:p>
        </p:txBody>
      </p:sp>
      <p:sp>
        <p:nvSpPr>
          <p:cNvPr id="2040" name="C 2040"/>
          <p:cNvSpPr/>
          <p:nvPr/>
        </p:nvSpPr>
        <p:spPr>
          <a:xfrm>
            <a:off x="10108050"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d/2</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41" name="FN 2041"/>
          <p:cNvSpPr/>
          <p:nvPr/>
        </p:nvSpPr>
        <p:spPr>
          <a:xfrm>
            <a:off x="502920" y="4000000"/>
            <a:ext cx="11186160" cy="113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42" name="Text 2042"/>
          <p:cNvSpPr/>
          <p:nvPr/>
        </p:nvSpPr>
        <p:spPr>
          <a:xfrm>
            <a:off x="708660" y="4150000"/>
            <a:ext cx="10774680" cy="8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280"/>
              </a:spcAft>
              <a:buNone/>
            </a:pPr>
            <a:r>
              <a:rPr lang="en-US" sz="950" b="1" u="none" strike="noStrike" dirty="0">
                <a:solidFill>
                  <a:srgbClr val="112E5C"/>
                </a:solidFill>
                <a:effectLst/>
                <a:uFillTx/>
                <a:latin typeface="Aptos"/>
              </a:rPr>
              <a:t>b</a:t>
            </a:r>
            <a:r>
              <a:rPr lang="en-US" sz="950" b="0" u="none" strike="noStrike" dirty="0">
                <a:solidFill>
                  <a:srgbClr val="5C6B80"/>
                </a:solidFill>
                <a:effectLst/>
                <a:uFillTx/>
                <a:latin typeface="Aptos"/>
              </a:rPr>
              <a:t> = branching factor    </a:t>
            </a:r>
            <a:r>
              <a:rPr lang="en-US" sz="950" b="1" u="none" strike="noStrike" dirty="0">
                <a:solidFill>
                  <a:srgbClr val="112E5C"/>
                </a:solidFill>
                <a:effectLst/>
                <a:uFillTx/>
                <a:latin typeface="Aptos"/>
              </a:rPr>
              <a:t>d</a:t>
            </a:r>
            <a:r>
              <a:rPr lang="en-US" sz="950" b="0" u="none" strike="noStrike" dirty="0">
                <a:solidFill>
                  <a:srgbClr val="5C6B80"/>
                </a:solidFill>
                <a:effectLst/>
                <a:uFillTx/>
                <a:latin typeface="Aptos"/>
              </a:rPr>
              <a:t> = depth of the shallowest solution    </a:t>
            </a:r>
            <a:r>
              <a:rPr lang="en-US" sz="950" b="1" u="none" strike="noStrike" dirty="0">
                <a:solidFill>
                  <a:srgbClr val="112E5C"/>
                </a:solidFill>
                <a:effectLst/>
                <a:uFillTx/>
                <a:latin typeface="Aptos"/>
              </a:rPr>
              <a:t>m</a:t>
            </a:r>
            <a:r>
              <a:rPr lang="en-US" sz="950" b="0" u="none" strike="noStrike" dirty="0">
                <a:solidFill>
                  <a:srgbClr val="5C6B80"/>
                </a:solidFill>
                <a:effectLst/>
                <a:uFillTx/>
                <a:latin typeface="Aptos"/>
              </a:rPr>
              <a:t> = maximum depth of the search tree    </a:t>
            </a:r>
            <a:r>
              <a:rPr lang="en-US" sz="950" b="1" u="none" strike="noStrike" dirty="0">
                <a:solidFill>
                  <a:srgbClr val="112E5C"/>
                </a:solidFill>
                <a:effectLst/>
                <a:uFillTx/>
                <a:latin typeface="Aptos"/>
              </a:rPr>
              <a:t>ℓ</a:t>
            </a:r>
            <a:r>
              <a:rPr lang="en-US" sz="950" b="0" u="none" strike="noStrike" dirty="0">
                <a:solidFill>
                  <a:srgbClr val="5C6B80"/>
                </a:solidFill>
                <a:effectLst/>
                <a:uFillTx/>
                <a:latin typeface="Aptos"/>
              </a:rPr>
              <a:t> = the depth limit</a:t>
            </a:r>
            <a:endParaRPr lang="en-US" sz="1100" b="0" u="none" strike="noStrike">
              <a:solidFill>
                <a:srgbClr val="000000"/>
              </a:solidFill>
              <a:effectLst/>
              <a:uFillTx/>
              <a:latin typeface="Arial"/>
            </a:endParaRPr>
          </a:p>
          <a:p>
            <a:pPr algn="l" defTabSz="914400">
              <a:lnSpc>
                <a:spcPct val="100000"/>
              </a:lnSpc>
              <a:spcAft>
                <a:spcPts val="200"/>
              </a:spcAft>
              <a:buNone/>
            </a:pPr>
            <a:r>
              <a:rPr lang="en-US" sz="900" b="1" u="none" strike="noStrike" baseline="30000" dirty="0">
                <a:solidFill>
                  <a:srgbClr val="9B1C1C"/>
                </a:solidFill>
                <a:effectLst/>
                <a:uFillTx/>
                <a:latin typeface="Aptos"/>
              </a:rPr>
              <a:t>1</a:t>
            </a:r>
            <a:r>
              <a:rPr lang="en-US" sz="900" b="0" u="none" strike="noStrike" dirty="0">
                <a:solidFill>
                  <a:srgbClr val="102A4C"/>
                </a:solidFill>
                <a:effectLst/>
                <a:uFillTx/>
                <a:latin typeface="Aptos"/>
              </a:rPr>
              <a:t> complete if b is finite, and the state space either has a solution or is finite        </a:t>
            </a:r>
            <a:r>
              <a:rPr lang="en-US" sz="900" b="1" u="none" strike="noStrike" baseline="30000" dirty="0">
                <a:solidFill>
                  <a:srgbClr val="9B1C1C"/>
                </a:solidFill>
                <a:effectLst/>
                <a:uFillTx/>
                <a:latin typeface="Aptos"/>
              </a:rPr>
              <a:t>2</a:t>
            </a:r>
            <a:r>
              <a:rPr lang="en-US" sz="900" b="0" u="none" strike="noStrike" dirty="0">
                <a:solidFill>
                  <a:srgbClr val="102A4C"/>
                </a:solidFill>
                <a:effectLst/>
                <a:uFillTx/>
                <a:latin typeface="Aptos"/>
              </a:rPr>
              <a:t> complete if all action costs are ≥ ε &gt; 0</a:t>
            </a:r>
            <a:endParaRPr lang="en-US" sz="1100" b="0" u="none" strike="noStrike">
              <a:solidFill>
                <a:srgbClr val="000000"/>
              </a:solidFill>
              <a:effectLst/>
              <a:uFillTx/>
              <a:latin typeface="Arial"/>
            </a:endParaRPr>
          </a:p>
          <a:p>
            <a:pPr algn="l" defTabSz="914400">
              <a:lnSpc>
                <a:spcPct val="100000"/>
              </a:lnSpc>
              <a:buNone/>
            </a:pPr>
            <a:r>
              <a:rPr lang="en-US" sz="900" b="1" u="none" strike="noStrike" baseline="30000" dirty="0">
                <a:solidFill>
                  <a:srgbClr val="9B1C1C"/>
                </a:solidFill>
                <a:effectLst/>
                <a:uFillTx/>
                <a:latin typeface="Aptos"/>
              </a:rPr>
              <a:t>3</a:t>
            </a:r>
            <a:r>
              <a:rPr lang="en-US" sz="900" b="0" u="none" strike="noStrike" dirty="0">
                <a:solidFill>
                  <a:srgbClr val="102A4C"/>
                </a:solidFill>
                <a:effectLst/>
                <a:uFillTx/>
                <a:latin typeface="Aptos"/>
              </a:rPr>
              <a:t> cost-optimal if action costs are all identical        </a:t>
            </a:r>
            <a:r>
              <a:rPr lang="en-US" sz="900" b="1" u="none" strike="noStrike" baseline="30000" dirty="0">
                <a:solidFill>
                  <a:srgbClr val="9B1C1C"/>
                </a:solidFill>
                <a:effectLst/>
                <a:uFillTx/>
                <a:latin typeface="Aptos"/>
              </a:rPr>
              <a:t>4</a:t>
            </a:r>
            <a:r>
              <a:rPr lang="en-US" sz="900" b="0" u="none" strike="noStrike" dirty="0">
                <a:solidFill>
                  <a:srgbClr val="102A4C"/>
                </a:solidFill>
                <a:effectLst/>
                <a:uFillTx/>
                <a:latin typeface="Aptos"/>
              </a:rPr>
              <a:t> if both directions are breadth-first or uniform-cost</a:t>
            </a:r>
            <a:endParaRPr lang="en-US" sz="1100" b="0" u="none" strike="noStrike">
              <a:solidFill>
                <a:srgbClr val="000000"/>
              </a:solidFill>
              <a:effectLst/>
              <a:uFillTx/>
              <a:latin typeface="Arial"/>
            </a:endParaRPr>
          </a:p>
        </p:txBody>
      </p:sp>
      <p:sp>
        <p:nvSpPr>
          <p:cNvPr id="2043" name="Banner 2043"/>
          <p:cNvSpPr/>
          <p:nvPr/>
        </p:nvSpPr>
        <p:spPr>
          <a:xfrm>
            <a:off x="502920" y="5240000"/>
            <a:ext cx="11186160" cy="98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These entries are for the tree-like versions, which do not check for repeated states.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Add a reached table and the table changes: depth-first search becomes complete on finite state spaces, and time and space are bounded by the size of the state space, |V| + |E|, rather than by b and m.</a:t>
            </a:r>
            <a:endParaRPr lang="en-US" sz="1100" b="0" u="none" strike="noStrike">
              <a:solidFill>
                <a:srgbClr val="000000"/>
              </a:solidFill>
              <a:effectLst/>
              <a:uFillTx/>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Reading Figure 3.15: Where Each Entry Comes From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NoteCard 2006"/>
          <p:cNvSpPr/>
          <p:nvPr/>
        </p:nvSpPr>
        <p:spPr>
          <a:xfrm>
            <a:off x="50292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ardHead 2007"/>
          <p:cNvSpPr/>
          <p:nvPr/>
        </p:nvSpPr>
        <p:spPr>
          <a:xfrm>
            <a:off x="70866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Every entry falls out of the frontier rule</a:t>
            </a:r>
            <a:endParaRPr lang="en-US" sz="1100" b="0" u="none" strike="noStrike">
              <a:solidFill>
                <a:srgbClr val="000000"/>
              </a:solidFill>
              <a:effectLst/>
              <a:uFillTx/>
              <a:latin typeface="Arial"/>
            </a:endParaRPr>
          </a:p>
        </p:txBody>
      </p:sp>
      <p:sp>
        <p:nvSpPr>
          <p:cNvPr id="2008" name="CardBody 2008"/>
          <p:cNvSpPr/>
          <p:nvPr/>
        </p:nvSpPr>
        <p:spPr>
          <a:xfrm>
            <a:off x="70866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BFS pops the </a:t>
            </a:r>
            <a:r>
              <a:rPr lang="en-US" sz="950" b="1" u="none" strike="noStrike" dirty="0">
                <a:solidFill>
                  <a:srgbClr val="102A4C"/>
                </a:solidFill>
                <a:effectLst/>
                <a:uFillTx/>
                <a:latin typeface="Aptos"/>
              </a:rPr>
              <a:t>oldest</a:t>
            </a:r>
            <a:r>
              <a:rPr lang="en-US" sz="950" b="0" u="none" strike="noStrike" dirty="0">
                <a:solidFill>
                  <a:srgbClr val="102A4C"/>
                </a:solidFill>
                <a:effectLst/>
                <a:uFillTx/>
                <a:latin typeface="Aptos"/>
              </a:rPr>
              <a:t> node, so it holds a whole tier — 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 space.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DFS pops the </a:t>
            </a:r>
            <a:r>
              <a:rPr lang="en-US" sz="950" b="1" u="none" strike="noStrike" dirty="0">
                <a:solidFill>
                  <a:srgbClr val="102A4C"/>
                </a:solidFill>
                <a:effectLst/>
                <a:uFillTx/>
                <a:latin typeface="Aptos"/>
              </a:rPr>
              <a:t>newest</a:t>
            </a:r>
            <a:r>
              <a:rPr lang="en-US" sz="950" b="0" u="none" strike="noStrike" dirty="0">
                <a:solidFill>
                  <a:srgbClr val="102A4C"/>
                </a:solidFill>
                <a:effectLst/>
                <a:uFillTx/>
                <a:latin typeface="Aptos"/>
              </a:rPr>
              <a:t>, so it holds one path and its siblings — O(bm).</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IDS reruns DFS with growing limits, buying BFS's order at DFS's memory.</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Nothing here needs memorising if you can say which node the frontier hands back next.</a:t>
            </a:r>
            <a:endParaRPr lang="en-US" sz="950" b="0" u="none" strike="noStrike">
              <a:solidFill>
                <a:srgbClr val="000000"/>
              </a:solidFill>
              <a:effectLst/>
              <a:uFillTx/>
              <a:latin typeface="Arial"/>
            </a:endParaRPr>
          </a:p>
        </p:txBody>
      </p:sp>
      <p:sp>
        <p:nvSpPr>
          <p:cNvPr id="2009" name="NoteCard 2009"/>
          <p:cNvSpPr/>
          <p:nvPr/>
        </p:nvSpPr>
        <p:spPr>
          <a:xfrm>
            <a:off x="432308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452882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Two pairs that look alike and are not</a:t>
            </a:r>
            <a:endParaRPr lang="en-US" sz="1100" b="0" u="none" strike="noStrike">
              <a:solidFill>
                <a:srgbClr val="000000"/>
              </a:solidFill>
              <a:effectLst/>
              <a:uFillTx/>
              <a:latin typeface="Arial"/>
            </a:endParaRPr>
          </a:p>
        </p:txBody>
      </p:sp>
      <p:sp>
        <p:nvSpPr>
          <p:cNvPr id="2011" name="CardBody 2011"/>
          <p:cNvSpPr/>
          <p:nvPr/>
        </p:nvSpPr>
        <p:spPr>
          <a:xfrm>
            <a:off x="452882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DFS time O(b</a:t>
            </a:r>
            <a:r>
              <a:rPr lang="en-US" sz="950" b="0" u="none" strike="noStrike" baseline="30000" dirty="0">
                <a:solidFill>
                  <a:srgbClr val="102A4C"/>
                </a:solidFill>
                <a:effectLst/>
                <a:uFillTx/>
                <a:latin typeface="Aptos"/>
              </a:rPr>
              <a:t>m</a:t>
            </a:r>
            <a:r>
              <a:rPr lang="en-US" sz="950" b="0" u="none" strike="noStrike" dirty="0">
                <a:solidFill>
                  <a:srgbClr val="102A4C"/>
                </a:solidFill>
                <a:effectLst/>
                <a:uFillTx/>
                <a:latin typeface="Aptos"/>
              </a:rPr>
              <a:t>): m is the deepest path in the tree, and may be infinite.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DLS time O(b</a:t>
            </a:r>
            <a:r>
              <a:rPr lang="en-US" sz="950" b="0" u="none" strike="noStrike" baseline="30000" dirty="0">
                <a:solidFill>
                  <a:srgbClr val="102A4C"/>
                </a:solidFill>
                <a:effectLst/>
                <a:uFillTx/>
                <a:latin typeface="Aptos"/>
              </a:rPr>
              <a:t>ℓ</a:t>
            </a:r>
            <a:r>
              <a:rPr lang="en-US" sz="950" b="0" u="none" strike="noStrike" dirty="0">
                <a:solidFill>
                  <a:srgbClr val="102A4C"/>
                </a:solidFill>
                <a:effectLst/>
                <a:uFillTx/>
                <a:latin typeface="Aptos"/>
              </a:rPr>
              <a:t>): ℓ is the limit </a:t>
            </a:r>
            <a:r>
              <a:rPr lang="en-US" sz="950" b="1" u="none" strike="noStrike" dirty="0">
                <a:solidFill>
                  <a:srgbClr val="102A4C"/>
                </a:solidFill>
                <a:effectLst/>
                <a:uFillTx/>
                <a:latin typeface="Aptos"/>
              </a:rPr>
              <a:t>you</a:t>
            </a:r>
            <a:r>
              <a:rPr lang="en-US" sz="950" b="0" u="none" strike="noStrike" dirty="0">
                <a:solidFill>
                  <a:srgbClr val="102A4C"/>
                </a:solidFill>
                <a:effectLst/>
                <a:uFillTx/>
                <a:latin typeface="Aptos"/>
              </a:rPr>
              <a:t> chose — a bound you bought, possibly with a cutoff attached.</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1" u="none" strike="noStrike" dirty="0">
                <a:solidFill>
                  <a:srgbClr val="9B1C1C"/>
                </a:solidFill>
                <a:effectLst/>
                <a:uFillTx/>
                <a:latin typeface="Aptos"/>
              </a:rPr>
              <a:t>IDS space is O(bd), not O(b</a:t>
            </a:r>
            <a:r>
              <a:rPr lang="en-US" sz="950" b="1" u="none" strike="noStrike" baseline="30000" dirty="0">
                <a:solidFill>
                  <a:srgbClr val="9B1C1C"/>
                </a:solidFill>
                <a:effectLst/>
                <a:uFillTx/>
                <a:latin typeface="Aptos"/>
              </a:rPr>
              <a:t>d</a:t>
            </a:r>
            <a:r>
              <a:rPr lang="en-US" sz="950" b="0" u="none" strike="noStrike" dirty="0">
                <a:solidFill>
                  <a:srgbClr val="102A4C"/>
                </a:solidFill>
                <a:effectLst/>
                <a:uFillTx/>
                <a:latin typeface="Aptos"/>
              </a:rPr>
              <a:t>). Linear, not exponential — the whole reason IDS exists.</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UCS is written in C* and ε, not d, because with unequal costs depth measures nothing.</a:t>
            </a:r>
            <a:endParaRPr lang="en-US" sz="950" b="0" u="none" strike="noStrike">
              <a:solidFill>
                <a:srgbClr val="000000"/>
              </a:solidFill>
              <a:effectLst/>
              <a:uFillTx/>
              <a:latin typeface="Arial"/>
            </a:endParaRPr>
          </a:p>
        </p:txBody>
      </p:sp>
      <p:sp>
        <p:nvSpPr>
          <p:cNvPr id="2012" name="NoteCard 2012"/>
          <p:cNvSpPr/>
          <p:nvPr/>
        </p:nvSpPr>
        <p:spPr>
          <a:xfrm>
            <a:off x="814324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4898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superscripts are the exam questions</a:t>
            </a:r>
            <a:endParaRPr lang="en-US" sz="1100" b="0" u="none" strike="noStrike">
              <a:solidFill>
                <a:srgbClr val="000000"/>
              </a:solidFill>
              <a:effectLst/>
              <a:uFillTx/>
              <a:latin typeface="Arial"/>
            </a:endParaRPr>
          </a:p>
        </p:txBody>
      </p:sp>
      <p:sp>
        <p:nvSpPr>
          <p:cNvPr id="2014" name="CardBody 2014"/>
          <p:cNvSpPr/>
          <p:nvPr/>
        </p:nvSpPr>
        <p:spPr>
          <a:xfrm>
            <a:off x="834898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1</a:t>
            </a:r>
            <a:r>
              <a:rPr lang="en-US" sz="950" b="0" u="none" strike="noStrike" dirty="0">
                <a:solidFill>
                  <a:srgbClr val="102A4C"/>
                </a:solidFill>
                <a:effectLst/>
                <a:uFillTx/>
                <a:latin typeface="Aptos"/>
              </a:rPr>
              <a:t>  Nothing is complete when the branching factor is infinite.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2</a:t>
            </a:r>
            <a:r>
              <a:rPr lang="en-US" sz="950" b="0" u="none" strike="noStrike" dirty="0">
                <a:solidFill>
                  <a:srgbClr val="102A4C"/>
                </a:solidFill>
                <a:effectLst/>
                <a:uFillTx/>
                <a:latin typeface="Aptos"/>
              </a:rPr>
              <a:t>  UCS needs a positive floor ε on action costs, or near-zero steps defeat it.</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3</a:t>
            </a:r>
            <a:r>
              <a:rPr lang="en-US" sz="950" b="0" u="none" strike="noStrike" dirty="0">
                <a:solidFill>
                  <a:srgbClr val="102A4C"/>
                </a:solidFill>
                <a:effectLst/>
                <a:uFillTx/>
                <a:latin typeface="Aptos"/>
              </a:rPr>
              <a:t>  BFS and IDS are cost-optimal only for unit costs. UCS carries no such footnote.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4</a:t>
            </a:r>
            <a:r>
              <a:rPr lang="en-US" sz="950" b="0" u="none" strike="noStrike" dirty="0">
                <a:solidFill>
                  <a:srgbClr val="102A4C"/>
                </a:solidFill>
                <a:effectLst/>
                <a:uFillTx/>
                <a:latin typeface="Aptos"/>
              </a:rPr>
              <a:t>  Bidirectional inherits its guarantees only if both halves are BFS or UCS.</a:t>
            </a:r>
            <a:endParaRPr lang="en-US" sz="950" b="0" u="none" strike="noStrike">
              <a:solidFill>
                <a:srgbClr val="000000"/>
              </a:solidFill>
              <a:effectLst/>
              <a:uFillTx/>
              <a:latin typeface="Arial"/>
            </a:endParaRPr>
          </a:p>
        </p:txBody>
      </p:sp>
      <p:sp>
        <p:nvSpPr>
          <p:cNvPr id="2015" name="Banner 2015"/>
          <p:cNvSpPr/>
          <p:nvPr/>
        </p:nvSpPr>
        <p:spPr>
          <a:xfrm>
            <a:off x="502920" y="4700000"/>
            <a:ext cx="11186160" cy="74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buNone/>
            </a:pPr>
            <a:r>
              <a:rPr lang="en-US" sz="1050" b="1" u="none" strike="noStrike" dirty="0">
                <a:solidFill>
                  <a:srgbClr val="102A4C"/>
                </a:solidFill>
                <a:effectLst/>
                <a:uFillTx/>
                <a:latin typeface="Aptos"/>
              </a:rPr>
              <a:t>The one algorithm missing from Figure 3.15 is best-first search itself — because it is not a strategy, it is the loop the other six fill in. Change f(n) and you move across the columns.</a:t>
            </a:r>
            <a:endParaRPr lang="en-US" sz="1100" b="0" u="none" strike="noStrike">
              <a:solidFill>
                <a:srgbClr val="000000"/>
              </a:solidFill>
              <a:effectLst/>
              <a:uFillTx/>
              <a:latin typeface="Arial"/>
            </a:endParaRPr>
          </a:p>
        </p:txBody>
      </p:sp>
      <p:sp>
        <p:nvSpPr>
          <p:cNvPr id="2016" name="Banner 2016"/>
          <p:cNvSpPr/>
          <p:nvPr/>
        </p:nvSpPr>
        <p:spPr>
          <a:xfrm>
            <a:off x="502920" y="5560000"/>
            <a:ext cx="11186160" cy="660000"/>
          </a:xfrm>
          <a:prstGeom prst="roundRect">
            <a:avLst>
              <a:gd name="adj" fmla="val 3000"/>
            </a:avLst>
          </a:prstGeom>
          <a:solidFill>
            <a:srgbClr val="D9E9FF"/>
          </a:solidFill>
          <a:ln w="12700">
            <a:solidFill>
              <a:srgbClr val="D9E9FF"/>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buNone/>
            </a:pPr>
            <a:r>
              <a:rPr lang="en-US" sz="1050" b="1" u="none" strike="noStrike" dirty="0">
                <a:solidFill>
                  <a:srgbClr val="112E5C"/>
                </a:solidFill>
                <a:effectLst/>
                <a:uFillTx/>
                <a:latin typeface="Aptos"/>
              </a:rPr>
              <a:t>Next lecture adds f(n) = g(n) + h(n) — and this table gains a column that dominates almost every entry in it.</a:t>
            </a:r>
            <a:endParaRPr lang="en-US" sz="1100" b="0" u="none" strike="noStrike">
              <a:solidFill>
                <a:srgbClr val="000000"/>
              </a:solidFill>
              <a:effectLst/>
              <a:uFillTx/>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9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0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Chapter 3.1-3.4 Takeaways</a:t>
            </a:r>
            <a:endParaRPr lang="en-US" sz="2600" b="0" u="none" strike="noStrike">
              <a:solidFill>
                <a:srgbClr val="000000"/>
              </a:solidFill>
              <a:effectLst/>
              <a:uFillTx/>
              <a:latin typeface="Arial"/>
            </a:endParaRPr>
          </a:p>
        </p:txBody>
      </p:sp>
      <p:sp>
        <p:nvSpPr>
          <p:cNvPr id="140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0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4" name="Text 5"/>
          <p:cNvSpPr/>
          <p:nvPr/>
        </p:nvSpPr>
        <p:spPr>
          <a:xfrm>
            <a:off x="914400" y="1325880"/>
            <a:ext cx="9966600" cy="4845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2000" b="1" u="none" strike="noStrike" dirty="0">
                <a:solidFill>
                  <a:srgbClr val="112E5C"/>
                </a:solidFill>
                <a:effectLst/>
                <a:uFillTx/>
                <a:latin typeface="Aptos"/>
              </a:rPr>
              <a:t>Formulation comes first</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define states, initial state, actions, result, goal test, and costs</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112E5C"/>
                </a:solidFill>
                <a:effectLst/>
                <a:uFillTx/>
                <a:latin typeface="Aptos"/>
              </a:rPr>
              <a:t>Search trees are paths</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the same state can appear many times through different paths</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112E5C"/>
                </a:solidFill>
                <a:effectLst/>
                <a:uFillTx/>
                <a:latin typeface="Aptos"/>
              </a:rPr>
              <a:t>Frontier strategy matters</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BFS, UCS, and DFS mainly differ in which node is expanded next</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9B1C1C"/>
                </a:solidFill>
                <a:effectLst/>
                <a:uFillTx/>
                <a:latin typeface="Aptos"/>
              </a:rPr>
              <a:t>Uninformed search is expensive</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without a goal-distance estimate, exponential growth dominates</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177245"/>
                </a:solidFill>
                <a:effectLst/>
                <a:uFillTx/>
                <a:latin typeface="Aptos"/>
              </a:rPr>
              <a:t>Tradeoffs are unavoidable</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completeness, optimality, time, and memory determine the right strategy</a:t>
            </a:r>
            <a:endParaRPr lang="en-US" sz="2000" b="0" u="none" strike="noStrike" dirty="0">
              <a:solidFill>
                <a:srgbClr val="000000"/>
              </a:solidFill>
              <a:effectLst/>
              <a:uFillTx/>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40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0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0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What Uninformed Search Cannot Do</a:t>
            </a:r>
            <a:endParaRPr lang="en-US" sz="2600" b="0" u="none" strike="noStrike">
              <a:solidFill>
                <a:srgbClr val="000000"/>
              </a:solidFill>
              <a:effectLst/>
              <a:uFillTx/>
              <a:latin typeface="Arial"/>
            </a:endParaRPr>
          </a:p>
        </p:txBody>
      </p:sp>
      <p:sp>
        <p:nvSpPr>
          <p:cNvPr id="140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10"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What we have after 3.1-3.4</a:t>
            </a:r>
            <a:endParaRPr lang="en-US" sz="1450" b="0" u="none" strike="noStrike">
              <a:solidFill>
                <a:srgbClr val="000000"/>
              </a:solidFill>
              <a:effectLst/>
              <a:uFillTx/>
              <a:latin typeface="Arial"/>
            </a:endParaRPr>
          </a:p>
        </p:txBody>
      </p:sp>
      <p:sp>
        <p:nvSpPr>
          <p:cNvPr id="1411"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12"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A formulation discipline: six parts, every time</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One algorithm, best-first search, with a swappable f(n)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Completeness and cost-optimality we can actually argue for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And an exponential bill we cannot pay</a:t>
            </a:r>
            <a:endParaRPr lang="en-US" sz="1300" b="0" u="none" strike="noStrike">
              <a:solidFill>
                <a:srgbClr val="000000"/>
              </a:solidFill>
              <a:effectLst/>
              <a:uFillTx/>
              <a:latin typeface="Arial"/>
            </a:endParaRPr>
          </a:p>
        </p:txBody>
      </p:sp>
      <p:sp>
        <p:nvSpPr>
          <p:cNvPr id="1413"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What is still missing</a:t>
            </a:r>
            <a:endParaRPr lang="en-US" sz="1450" b="0" u="none" strike="noStrike">
              <a:solidFill>
                <a:srgbClr val="000000"/>
              </a:solidFill>
              <a:effectLst/>
              <a:uFillTx/>
              <a:latin typeface="Arial"/>
            </a:endParaRPr>
          </a:p>
        </p:txBody>
      </p:sp>
      <p:sp>
        <p:nvSpPr>
          <p:cNvPr id="1414"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15"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Every strategy so far knows only where it has been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None of them has any estimate of how far the goal still is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So the search spreads in all directions equally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b = 10, d = 14: three and a half years, with infinite memory</a:t>
            </a:r>
            <a:endParaRPr lang="en-US" sz="1300" b="0" u="none" strike="noStrike">
              <a:solidFill>
                <a:srgbClr val="000000"/>
              </a:solidFill>
              <a:effectLst/>
              <a:uFillTx/>
              <a:latin typeface="Arial"/>
            </a:endParaRPr>
          </a:p>
        </p:txBody>
      </p:sp>
      <p:sp>
        <p:nvSpPr>
          <p:cNvPr id="1416" name="Rounded Rectangle 12"/>
          <p:cNvSpPr/>
          <p:nvPr/>
        </p:nvSpPr>
        <p:spPr>
          <a:xfrm>
            <a:off x="914400" y="3977640"/>
            <a:ext cx="10423800" cy="59400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0" u="none" strike="noStrike">
                <a:solidFill>
                  <a:srgbClr val="FFFFFF"/>
                </a:solidFill>
                <a:effectLst/>
                <a:uFillTx/>
                <a:latin typeface="Aptos"/>
              </a:rPr>
              <a:t>Next lecture, one change:  </a:t>
            </a:r>
            <a:r>
              <a:rPr lang="en-US" sz="2200" b="1" u="none" strike="noStrike">
                <a:solidFill>
                  <a:srgbClr val="FFFFFF"/>
                </a:solidFill>
                <a:effectLst/>
                <a:uFillTx/>
                <a:latin typeface="Aptos"/>
              </a:rPr>
              <a:t>f(n) = g(n) + h(n)</a:t>
            </a:r>
            <a:endParaRPr lang="en-US" sz="2200" b="0" u="none" strike="noStrike">
              <a:solidFill>
                <a:srgbClr val="FFFFFF"/>
              </a:solidFill>
              <a:effectLst/>
              <a:uFillTx/>
              <a:latin typeface="Arial"/>
            </a:endParaRPr>
          </a:p>
        </p:txBody>
      </p:sp>
      <p:sp>
        <p:nvSpPr>
          <p:cNvPr id="1417" name="Rectangle 13"/>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g(n) is the cost already paid. h(n) is an estimate of the cost still to come.</a:t>
            </a:r>
            <a:endParaRPr lang="en-US" sz="1700" b="0" u="none" strike="noStrike">
              <a:solidFill>
                <a:srgbClr val="000000"/>
              </a:solidFill>
              <a:effectLst/>
              <a:uFillTx/>
              <a:latin typeface="Arial"/>
            </a:endParaRPr>
          </a:p>
        </p:txBody>
      </p:sp>
      <p:sp>
        <p:nvSpPr>
          <p:cNvPr id="1418" name="Rectangle 14"/>
          <p:cNvSpPr/>
          <p:nvPr/>
        </p:nvSpPr>
        <p:spPr>
          <a:xfrm>
            <a:off x="914400" y="51663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Same loop, same frontier — the contours stop surrounding the start and reach for the goal.</a:t>
            </a:r>
            <a:endParaRPr lang="en-US" sz="1500" b="0" u="none" strike="noStrike">
              <a:solidFill>
                <a:srgbClr val="000000"/>
              </a:solidFill>
              <a:effectLst/>
              <a:uFillTx/>
              <a:latin typeface="Arial"/>
            </a:endParaRPr>
          </a:p>
        </p:txBody>
      </p:sp>
      <p:sp>
        <p:nvSpPr>
          <p:cNvPr id="1419" name="Rectangle 15"/>
          <p:cNvSpPr/>
          <p:nvPr/>
        </p:nvSpPr>
        <p:spPr>
          <a:xfrm>
            <a:off x="914400" y="5669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dirty="0">
                <a:solidFill>
                  <a:srgbClr val="5C6B80"/>
                </a:solidFill>
                <a:effectLst/>
                <a:uFillTx/>
                <a:latin typeface="Aptos"/>
              </a:rPr>
              <a:t>Section 3.5: greedy best-first search, A*, admissibility, and consistency.</a:t>
            </a:r>
            <a:endParaRPr lang="en-US" sz="1350" b="0" u="none" strike="noStrike" dirty="0">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140</TotalTime>
  <Words>16296</Words>
  <Application>Microsoft Office PowerPoint</Application>
  <PresentationFormat>Widescreen</PresentationFormat>
  <Paragraphs>1474</Paragraphs>
  <Slides>70</Slides>
  <Notes>70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Aptos</vt:lpstr>
      <vt:lpstr>Arial</vt:lpstr>
      <vt:lpstr>Consolas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3 Solving Problems by Searching - CSUCI Clean Enhanced</dc:title>
  <dc:subject>AIMA Chapter 3 Sections 3.1-3.4</dc:subject>
  <dc:creator>COMP 469</dc:creator>
  <dc:description/>
  <cp:lastModifiedBy>Rios, Juan</cp:lastModifiedBy>
  <cp:revision>10</cp:revision>
  <dcterms:created xsi:type="dcterms:W3CDTF">2026-08-01T09:17:29Z</dcterms:created>
  <dcterms:modified xsi:type="dcterms:W3CDTF">2026-08-02T06:43:34Z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38</vt:i4>
  </property>
  <property fmtid="{D5CDD505-2E9C-101B-9397-08002B2CF9AE}" pid="3" name="PresentationFormat">
    <vt:lpwstr>On-screen Show (16:9)</vt:lpwstr>
  </property>
  <property fmtid="{D5CDD505-2E9C-101B-9397-08002B2CF9AE}" pid="4" name="Slides">
    <vt:i4>38</vt:i4>
  </property>
</Properties>
</file>