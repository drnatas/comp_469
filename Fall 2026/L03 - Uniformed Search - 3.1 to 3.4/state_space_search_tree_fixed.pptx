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Created from user-provided screenshots and prompt; no external sources 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Created from user-provided screenshots and prompt; no external sources 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Created from user-provided screenshots and prompt; no external sources 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Created from user-provided code/screenshot context and canonical Romania graph values included in the uploaded Python source.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Created from user-provided screenshots and prompt; no external sources 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AF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19456" y="219456"/>
            <a:ext cx="11759184" cy="749808"/>
          </a:xfrm>
          <a:prstGeom prst="rect">
            <a:avLst/>
          </a:prstGeom>
          <a:solidFill>
            <a:srgbClr val="143764"/>
          </a:solidFill>
          <a:ln w="12700">
            <a:solidFill>
              <a:srgbClr val="1437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38404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State Space Graph vs. Search Tree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19456" y="969264"/>
            <a:ext cx="11759184" cy="91440"/>
          </a:xfrm>
          <a:prstGeom prst="rect">
            <a:avLst/>
          </a:prstGeom>
          <a:solidFill>
            <a:srgbClr val="F6A21A"/>
          </a:solidFill>
          <a:ln w="12700">
            <a:solidFill>
              <a:srgbClr val="F6A2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5624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6482"/>
                </a:solidFill>
              </a:rPr>
              <a:t>CSU Channel Islands · Department of Computer Science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802368" y="6556248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D6482"/>
                </a:solidFill>
              </a:rPr>
              <a:t>COMP 469 · Chapter 3 · Sections 3.1-3.4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77240" y="1325880"/>
            <a:ext cx="4023360" cy="502920"/>
          </a:xfrm>
          <a:prstGeom prst="roundRect">
            <a:avLst>
              <a:gd name="adj" fmla="val 7273"/>
            </a:avLst>
          </a:prstGeom>
          <a:solidFill>
            <a:srgbClr val="D8E8FF"/>
          </a:solidFill>
          <a:ln w="15240">
            <a:solidFill>
              <a:srgbClr val="2F80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344168"/>
            <a:ext cx="40233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80ED"/>
                </a:solidFill>
              </a:rPr>
              <a:t>State space graph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406640" y="1325880"/>
            <a:ext cx="4023360" cy="502920"/>
          </a:xfrm>
          <a:prstGeom prst="roundRect">
            <a:avLst>
              <a:gd name="adj" fmla="val 7273"/>
            </a:avLst>
          </a:prstGeom>
          <a:solidFill>
            <a:srgbClr val="FFE7B8"/>
          </a:solidFill>
          <a:ln w="15240">
            <a:solidFill>
              <a:srgbClr val="F6A2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06640" y="1344168"/>
            <a:ext cx="40233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265A"/>
                </a:solidFill>
              </a:rPr>
              <a:t>Search tree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274320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6265A"/>
                </a:solidFill>
              </a:rPr>
              <a:t>States are vertices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06265A"/>
                </a:solidFill>
              </a:rPr>
              <a:t>Actions are directed edges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06265A"/>
                </a:solidFill>
              </a:rPr>
              <a:t>Each state appears once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06265A"/>
                </a:solidFill>
              </a:rPr>
              <a:t>Usually too large to build fully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221224" y="2788920"/>
            <a:ext cx="1746504" cy="0"/>
          </a:xfrm>
          <a:prstGeom prst="line">
            <a:avLst/>
          </a:prstGeom>
          <a:noFill/>
          <a:ln w="17780">
            <a:solidFill>
              <a:srgbClr val="4D6482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7543800" y="274320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6265A"/>
                </a:solidFill>
              </a:rPr>
              <a:t>Nodes represent paths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06265A"/>
                </a:solidFill>
              </a:rPr>
              <a:t>Root is the initial state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06265A"/>
                </a:solidFill>
              </a:rPr>
              <a:t>Children are successors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06265A"/>
                </a:solidFill>
              </a:rPr>
              <a:t>Same state can appear many times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88920" y="4892040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6265A"/>
                </a:solidFill>
              </a:rPr>
              <a:t>Search overlays a tree of possible plans on top of the state-space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06265A"/>
                </a:solidFill>
              </a:rPr>
              <a:t>graph.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F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19456" y="219456"/>
            <a:ext cx="11759184" cy="749808"/>
          </a:xfrm>
          <a:prstGeom prst="rect">
            <a:avLst/>
          </a:prstGeom>
          <a:solidFill>
            <a:srgbClr val="143764"/>
          </a:solidFill>
          <a:ln w="12700">
            <a:solidFill>
              <a:srgbClr val="1437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38404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Build: State Space Graph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19456" y="969264"/>
            <a:ext cx="11759184" cy="91440"/>
          </a:xfrm>
          <a:prstGeom prst="rect">
            <a:avLst/>
          </a:prstGeom>
          <a:solidFill>
            <a:srgbClr val="F6A21A"/>
          </a:solidFill>
          <a:ln w="12700">
            <a:solidFill>
              <a:srgbClr val="F6A2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5624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6482"/>
                </a:solidFill>
              </a:rPr>
              <a:t>CSU Channel Islands · Department of Computer Science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802368" y="6556248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D6482"/>
                </a:solidFill>
              </a:rPr>
              <a:t>COMP 469 · Chapter 3 · Sections 3.1-3.4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541386" y="2665659"/>
            <a:ext cx="483389" cy="-302118"/>
          </a:xfrm>
          <a:prstGeom prst="line">
            <a:avLst/>
          </a:prstGeom>
          <a:noFill/>
          <a:ln w="15240">
            <a:solidFill>
              <a:srgbClr val="4D6482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1537881" y="2826085"/>
            <a:ext cx="490399" cy="337149"/>
          </a:xfrm>
          <a:prstGeom prst="line">
            <a:avLst/>
          </a:prstGeom>
          <a:noFill/>
          <a:ln w="15240">
            <a:solidFill>
              <a:srgbClr val="4D6482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2277145" y="2215696"/>
            <a:ext cx="410902" cy="-225152"/>
          </a:xfrm>
          <a:prstGeom prst="line">
            <a:avLst/>
          </a:prstGeom>
          <a:noFill/>
          <a:ln w="15240">
            <a:solidFill>
              <a:srgbClr val="4D6482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2280851" y="2349072"/>
            <a:ext cx="558939" cy="267048"/>
          </a:xfrm>
          <a:prstGeom prst="line">
            <a:avLst/>
          </a:prstGeom>
          <a:noFill/>
          <a:ln w="15240">
            <a:solidFill>
              <a:srgbClr val="4D6482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2293307" y="2309115"/>
            <a:ext cx="1311267" cy="209803"/>
          </a:xfrm>
          <a:prstGeom prst="line">
            <a:avLst/>
          </a:prstGeom>
          <a:noFill/>
          <a:ln w="15240">
            <a:solidFill>
              <a:srgbClr val="4D6482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2955520" y="1875105"/>
            <a:ext cx="398321" cy="-129185"/>
          </a:xfrm>
          <a:prstGeom prst="line">
            <a:avLst/>
          </a:prstGeom>
          <a:noFill/>
          <a:ln w="15240">
            <a:solidFill>
              <a:srgbClr val="4D6482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3424222" y="1829909"/>
            <a:ext cx="-383635" cy="720158"/>
          </a:xfrm>
          <a:prstGeom prst="line">
            <a:avLst/>
          </a:prstGeom>
          <a:noFill/>
          <a:ln w="15240">
            <a:solidFill>
              <a:srgbClr val="4D6482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3115878" y="2653767"/>
            <a:ext cx="489084" cy="-86309"/>
          </a:xfrm>
          <a:prstGeom prst="line">
            <a:avLst/>
          </a:prstGeom>
          <a:noFill/>
          <a:ln w="15240">
            <a:solidFill>
              <a:srgbClr val="4D6482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3117688" y="2690215"/>
            <a:ext cx="1765624" cy="133403"/>
          </a:xfrm>
          <a:prstGeom prst="line">
            <a:avLst/>
          </a:prstGeom>
          <a:noFill/>
          <a:ln w="15240">
            <a:solidFill>
              <a:srgbClr val="4D6482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3695852" y="2678326"/>
            <a:ext cx="-186233" cy="477221"/>
          </a:xfrm>
          <a:prstGeom prst="line">
            <a:avLst/>
          </a:prstGeom>
          <a:noFill/>
          <a:ln w="15240">
            <a:solidFill>
              <a:srgbClr val="4D6482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3861803" y="2635249"/>
            <a:ext cx="460275" cy="380494"/>
          </a:xfrm>
          <a:prstGeom prst="line">
            <a:avLst/>
          </a:prstGeom>
          <a:noFill/>
          <a:ln w="15240">
            <a:solidFill>
              <a:srgbClr val="4D6482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4567678" y="3047650"/>
            <a:ext cx="328684" cy="-151700"/>
          </a:xfrm>
          <a:prstGeom prst="line">
            <a:avLst/>
          </a:prstGeom>
          <a:noFill/>
          <a:ln w="15240">
            <a:solidFill>
              <a:srgbClr val="4D6482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5120595" y="2720396"/>
            <a:ext cx="365849" cy="-457312"/>
          </a:xfrm>
          <a:prstGeom prst="line">
            <a:avLst/>
          </a:prstGeom>
          <a:noFill/>
          <a:ln w="15240">
            <a:solidFill>
              <a:srgbClr val="4D6482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2295055" y="3251232"/>
            <a:ext cx="1015163" cy="35495"/>
          </a:xfrm>
          <a:prstGeom prst="line">
            <a:avLst/>
          </a:prstGeom>
          <a:noFill/>
          <a:ln w="15240">
            <a:solidFill>
              <a:srgbClr val="4D6482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2265322" y="3334646"/>
            <a:ext cx="452837" cy="344156"/>
          </a:xfrm>
          <a:prstGeom prst="line">
            <a:avLst/>
          </a:prstGeom>
          <a:noFill/>
          <a:ln w="15240">
            <a:solidFill>
              <a:srgbClr val="4D6482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2950858" y="3678456"/>
            <a:ext cx="389357" cy="-297743"/>
          </a:xfrm>
          <a:prstGeom prst="line">
            <a:avLst/>
          </a:prstGeom>
          <a:noFill/>
          <a:ln w="15240">
            <a:solidFill>
              <a:srgbClr val="4D6482"/>
            </a:solidFill>
            <a:prstDash val="solid"/>
            <a:headEnd type="none"/>
            <a:tailEnd type="none"/>
          </a:ln>
        </p:spPr>
      </p:sp>
      <p:sp>
        <p:nvSpPr>
          <p:cNvPr id="23" name="Text 21"/>
          <p:cNvSpPr/>
          <p:nvPr/>
        </p:nvSpPr>
        <p:spPr>
          <a:xfrm>
            <a:off x="1261872" y="2587752"/>
            <a:ext cx="310896" cy="310896"/>
          </a:xfrm>
          <a:prstGeom prst="ellipse">
            <a:avLst/>
          </a:prstGeom>
          <a:solidFill>
            <a:srgbClr val="FFF2D6"/>
          </a:solidFill>
          <a:ln w="15240">
            <a:solidFill>
              <a:srgbClr val="A9131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1317"/>
                </a:solidFill>
              </a:rPr>
              <a:t>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002536" y="2139696"/>
            <a:ext cx="292608" cy="29260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6265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265A"/>
                </a:solidFill>
              </a:rPr>
              <a:t>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670048" y="1773936"/>
            <a:ext cx="292608" cy="29260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6265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265A"/>
                </a:solidFill>
              </a:rPr>
              <a:t>b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346704" y="1554480"/>
            <a:ext cx="292608" cy="29260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6265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265A"/>
                </a:solidFill>
              </a:rPr>
              <a:t>a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825496" y="2532888"/>
            <a:ext cx="292608" cy="29260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6265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265A"/>
                </a:solidFill>
              </a:rPr>
              <a:t>c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602736" y="2395728"/>
            <a:ext cx="292608" cy="29260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6265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265A"/>
                </a:solidFill>
              </a:rPr>
              <a:t>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002536" y="3099816"/>
            <a:ext cx="292608" cy="29260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6265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265A"/>
                </a:solidFill>
              </a:rPr>
              <a:t>p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688336" y="3621024"/>
            <a:ext cx="292608" cy="29260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6265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265A"/>
                </a:solidFill>
              </a:rPr>
              <a:t>q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310128" y="3145536"/>
            <a:ext cx="292608" cy="29260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6265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265A"/>
                </a:solidFill>
              </a:rPr>
              <a:t>h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288536" y="2962656"/>
            <a:ext cx="292608" cy="29260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6265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265A"/>
                </a:solidFill>
              </a:rPr>
              <a:t>r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82896" y="2688336"/>
            <a:ext cx="292608" cy="29260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6265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265A"/>
                </a:solidFill>
              </a:rPr>
              <a:t>f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422392" y="1993392"/>
            <a:ext cx="310896" cy="310896"/>
          </a:xfrm>
          <a:prstGeom prst="ellipse">
            <a:avLst/>
          </a:prstGeom>
          <a:solidFill>
            <a:srgbClr val="FFF2D6"/>
          </a:solidFill>
          <a:ln w="15240">
            <a:solidFill>
              <a:srgbClr val="A9131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1317"/>
                </a:solidFill>
              </a:rPr>
              <a:t>G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040880" y="199339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265A"/>
                </a:solidFill>
              </a:rPr>
              <a:t>Graph view: one node per abstract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6265A"/>
                </a:solidFill>
              </a:rPr>
              <a:t>state, arcs represent action results.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7040880" y="3246120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4D6482"/>
                </a:solidFill>
              </a:rPr>
              <a:t>This graph is a mathematical representation of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4D6482"/>
                </a:solidFill>
              </a:rPr>
              <a:t>the problem. We rarely store the whole thing in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4D6482"/>
                </a:solidFill>
              </a:rPr>
              <a:t>memory.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19456" y="219456"/>
            <a:ext cx="11759184" cy="749808"/>
          </a:xfrm>
          <a:prstGeom prst="rect">
            <a:avLst/>
          </a:prstGeom>
          <a:solidFill>
            <a:srgbClr val="143764"/>
          </a:solidFill>
          <a:ln w="12700">
            <a:solidFill>
              <a:srgbClr val="1437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38404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Build: Repeated States in the Search Tree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19456" y="969264"/>
            <a:ext cx="11759184" cy="91440"/>
          </a:xfrm>
          <a:prstGeom prst="rect">
            <a:avLst/>
          </a:prstGeom>
          <a:solidFill>
            <a:srgbClr val="F6A21A"/>
          </a:solidFill>
          <a:ln w="12700">
            <a:solidFill>
              <a:srgbClr val="F6A2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5624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6482"/>
                </a:solidFill>
              </a:rPr>
              <a:t>CSU Channel Islands · Department of Computer Science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802368" y="6556248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D6482"/>
                </a:solidFill>
              </a:rPr>
              <a:t>COMP 469 · Chapter 3 · Sections 3.1-3.4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205366" y="2258002"/>
            <a:ext cx="295891" cy="-172603"/>
          </a:xfrm>
          <a:prstGeom prst="line">
            <a:avLst/>
          </a:prstGeom>
          <a:noFill/>
          <a:ln w="12700">
            <a:solidFill>
              <a:srgbClr val="4D6482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1178360" y="2439102"/>
            <a:ext cx="368192" cy="397885"/>
          </a:xfrm>
          <a:prstGeom prst="line">
            <a:avLst/>
          </a:prstGeom>
          <a:noFill/>
          <a:ln w="12700">
            <a:solidFill>
              <a:srgbClr val="4D6482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1751439" y="1933727"/>
            <a:ext cx="246162" cy="-154991"/>
          </a:xfrm>
          <a:prstGeom prst="line">
            <a:avLst/>
          </a:prstGeom>
          <a:noFill/>
          <a:ln w="12700">
            <a:solidFill>
              <a:srgbClr val="4D6482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758490" y="2077109"/>
            <a:ext cx="506379" cy="253190"/>
          </a:xfrm>
          <a:prstGeom prst="line">
            <a:avLst/>
          </a:prstGeom>
          <a:noFill/>
          <a:ln w="12700">
            <a:solidFill>
              <a:srgbClr val="4D6482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1772834" y="2029606"/>
            <a:ext cx="1190925" cy="147028"/>
          </a:xfrm>
          <a:prstGeom prst="line">
            <a:avLst/>
          </a:prstGeom>
          <a:noFill/>
          <a:ln w="12700">
            <a:solidFill>
              <a:srgbClr val="4D6482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2261138" y="1657420"/>
            <a:ext cx="250893" cy="-77863"/>
          </a:xfrm>
          <a:prstGeom prst="line">
            <a:avLst/>
          </a:prstGeom>
          <a:noFill/>
          <a:ln w="12700">
            <a:solidFill>
              <a:srgbClr val="4D6482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2609994" y="1676408"/>
            <a:ext cx="-172499" cy="579105"/>
          </a:xfrm>
          <a:prstGeom prst="line">
            <a:avLst/>
          </a:prstGeom>
          <a:noFill/>
          <a:ln w="12700">
            <a:solidFill>
              <a:srgbClr val="4D6482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2536538" y="2356012"/>
            <a:ext cx="431612" cy="-121737"/>
          </a:xfrm>
          <a:prstGeom prst="line">
            <a:avLst/>
          </a:prstGeom>
          <a:noFill/>
          <a:ln w="12700">
            <a:solidFill>
              <a:srgbClr val="4D6482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2541557" y="2407512"/>
            <a:ext cx="1518855" cy="122736"/>
          </a:xfrm>
          <a:prstGeom prst="line">
            <a:avLst/>
          </a:prstGeom>
          <a:noFill/>
          <a:ln w="12700">
            <a:solidFill>
              <a:srgbClr val="4D6482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3074292" y="2336697"/>
            <a:ext cx="-113545" cy="465533"/>
          </a:xfrm>
          <a:prstGeom prst="line">
            <a:avLst/>
          </a:prstGeom>
          <a:noFill/>
          <a:ln w="12700">
            <a:solidFill>
              <a:srgbClr val="4D6482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3177346" y="2323898"/>
            <a:ext cx="283853" cy="536852"/>
          </a:xfrm>
          <a:prstGeom prst="line">
            <a:avLst/>
          </a:prstGeom>
          <a:noFill/>
          <a:ln w="12700">
            <a:solidFill>
              <a:srgbClr val="4D6482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3651569" y="2909314"/>
            <a:ext cx="432685" cy="-286508"/>
          </a:xfrm>
          <a:prstGeom prst="line">
            <a:avLst/>
          </a:prstGeom>
          <a:noFill/>
          <a:ln w="12700">
            <a:solidFill>
              <a:srgbClr val="4D6482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4283013" y="2417490"/>
            <a:ext cx="257935" cy="-418427"/>
          </a:xfrm>
          <a:prstGeom prst="line">
            <a:avLst/>
          </a:prstGeom>
          <a:noFill/>
          <a:ln w="12700">
            <a:solidFill>
              <a:srgbClr val="4D6482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1792224" y="2944368"/>
            <a:ext cx="987552" cy="0"/>
          </a:xfrm>
          <a:prstGeom prst="line">
            <a:avLst/>
          </a:prstGeom>
          <a:noFill/>
          <a:ln w="12700">
            <a:solidFill>
              <a:srgbClr val="4D6482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1767652" y="3025523"/>
            <a:ext cx="442335" cy="294890"/>
          </a:xfrm>
          <a:prstGeom prst="line">
            <a:avLst/>
          </a:prstGeom>
          <a:noFill/>
          <a:ln w="12700">
            <a:solidFill>
              <a:srgbClr val="4D6482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2447684" y="3312365"/>
            <a:ext cx="362432" cy="-278794"/>
          </a:xfrm>
          <a:prstGeom prst="line">
            <a:avLst/>
          </a:prstGeom>
          <a:noFill/>
          <a:ln w="12700">
            <a:solidFill>
              <a:srgbClr val="4D6482"/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1205366" y="2258002"/>
            <a:ext cx="295891" cy="-172603"/>
          </a:xfrm>
          <a:prstGeom prst="line">
            <a:avLst/>
          </a:prstGeom>
          <a:noFill/>
          <a:ln w="31750">
            <a:solidFill>
              <a:srgbClr val="A91317"/>
            </a:solidFill>
            <a:prstDash val="solid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1772834" y="2029606"/>
            <a:ext cx="1190925" cy="147028"/>
          </a:xfrm>
          <a:prstGeom prst="line">
            <a:avLst/>
          </a:prstGeom>
          <a:noFill/>
          <a:ln w="31750">
            <a:solidFill>
              <a:srgbClr val="A91317"/>
            </a:solidFill>
            <a:prstDash val="solid"/>
            <a:headEnd type="none"/>
            <a:tailEnd type="none"/>
          </a:ln>
        </p:spPr>
      </p:sp>
      <p:sp>
        <p:nvSpPr>
          <p:cNvPr id="25" name="Text 23"/>
          <p:cNvSpPr/>
          <p:nvPr/>
        </p:nvSpPr>
        <p:spPr>
          <a:xfrm>
            <a:off x="941832" y="2194560"/>
            <a:ext cx="274320" cy="274320"/>
          </a:xfrm>
          <a:prstGeom prst="ellipse">
            <a:avLst/>
          </a:prstGeom>
          <a:solidFill>
            <a:srgbClr val="FFF2D6"/>
          </a:solidFill>
          <a:ln w="15240">
            <a:solidFill>
              <a:srgbClr val="A9131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1317"/>
                </a:solidFill>
              </a:rPr>
              <a:t>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490472" y="1874520"/>
            <a:ext cx="274320" cy="274320"/>
          </a:xfrm>
          <a:prstGeom prst="ellipse">
            <a:avLst/>
          </a:prstGeom>
          <a:solidFill>
            <a:srgbClr val="FFF2D6"/>
          </a:solidFill>
          <a:ln w="15240">
            <a:solidFill>
              <a:srgbClr val="A9131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1317"/>
                </a:solidFill>
              </a:rPr>
              <a:t>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984248" y="1563624"/>
            <a:ext cx="274320" cy="27432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6265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265A"/>
                </a:solidFill>
              </a:rPr>
              <a:t>b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514600" y="1399032"/>
            <a:ext cx="274320" cy="27432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6265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265A"/>
                </a:solidFill>
              </a:rPr>
              <a:t>a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258568" y="2258568"/>
            <a:ext cx="274320" cy="27432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6265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265A"/>
                </a:solidFill>
              </a:rPr>
              <a:t>c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971800" y="2057400"/>
            <a:ext cx="274320" cy="274320"/>
          </a:xfrm>
          <a:prstGeom prst="ellipse">
            <a:avLst/>
          </a:prstGeom>
          <a:solidFill>
            <a:srgbClr val="FFF2D6"/>
          </a:solidFill>
          <a:ln w="15240">
            <a:solidFill>
              <a:srgbClr val="A9131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1317"/>
                </a:solidFill>
              </a:rPr>
              <a:t>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508760" y="2807208"/>
            <a:ext cx="274320" cy="27432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6265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265A"/>
                </a:solidFill>
              </a:rPr>
              <a:t>p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194560" y="3264408"/>
            <a:ext cx="274320" cy="27432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6265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265A"/>
                </a:solidFill>
              </a:rPr>
              <a:t>q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788920" y="2807208"/>
            <a:ext cx="274320" cy="27432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6265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265A"/>
                </a:solidFill>
              </a:rPr>
              <a:t>h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392424" y="2852928"/>
            <a:ext cx="274320" cy="27432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6265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265A"/>
                </a:solidFill>
              </a:rPr>
              <a:t>r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069080" y="2404872"/>
            <a:ext cx="274320" cy="27432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6265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265A"/>
                </a:solidFill>
              </a:rPr>
              <a:t>f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480560" y="1737360"/>
            <a:ext cx="274320" cy="27432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6265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265A"/>
                </a:solidFill>
              </a:rPr>
              <a:t>G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914400" y="425196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91317"/>
                </a:solidFill>
              </a:rPr>
              <a:t>State-space path selected: S → d → 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9340972" y="1770755"/>
            <a:ext cx="-1034024" cy="664730"/>
          </a:xfrm>
          <a:prstGeom prst="line">
            <a:avLst/>
          </a:prstGeom>
          <a:noFill/>
          <a:ln w="12700">
            <a:solidFill>
              <a:srgbClr val="CBD6E2"/>
            </a:solidFill>
            <a:prstDash val="solid"/>
            <a:headEnd type="none"/>
            <a:tailEnd type="none"/>
          </a:ln>
        </p:spPr>
      </p:sp>
      <p:sp>
        <p:nvSpPr>
          <p:cNvPr id="39" name="Shape 37"/>
          <p:cNvSpPr/>
          <p:nvPr/>
        </p:nvSpPr>
        <p:spPr>
          <a:xfrm>
            <a:off x="9464040" y="1837944"/>
            <a:ext cx="0" cy="530352"/>
          </a:xfrm>
          <a:prstGeom prst="line">
            <a:avLst/>
          </a:prstGeom>
          <a:noFill/>
          <a:ln w="12700">
            <a:solidFill>
              <a:srgbClr val="CBD6E2"/>
            </a:solidFill>
            <a:prstDash val="solid"/>
            <a:headEnd type="none"/>
            <a:tailEnd type="none"/>
          </a:ln>
        </p:spPr>
      </p:sp>
      <p:sp>
        <p:nvSpPr>
          <p:cNvPr id="40" name="Shape 38"/>
          <p:cNvSpPr/>
          <p:nvPr/>
        </p:nvSpPr>
        <p:spPr>
          <a:xfrm>
            <a:off x="9587108" y="1770755"/>
            <a:ext cx="1034024" cy="664730"/>
          </a:xfrm>
          <a:prstGeom prst="line">
            <a:avLst/>
          </a:prstGeom>
          <a:noFill/>
          <a:ln w="12700">
            <a:solidFill>
              <a:srgbClr val="CBD6E2"/>
            </a:solidFill>
            <a:prstDash val="solid"/>
            <a:headEnd type="none"/>
            <a:tailEnd type="none"/>
          </a:ln>
        </p:spPr>
      </p:sp>
      <p:sp>
        <p:nvSpPr>
          <p:cNvPr id="41" name="Shape 39"/>
          <p:cNvSpPr/>
          <p:nvPr/>
        </p:nvSpPr>
        <p:spPr>
          <a:xfrm>
            <a:off x="8089557" y="2626440"/>
            <a:ext cx="-451435" cy="535273"/>
          </a:xfrm>
          <a:prstGeom prst="line">
            <a:avLst/>
          </a:prstGeom>
          <a:noFill/>
          <a:ln w="12700">
            <a:solidFill>
              <a:srgbClr val="CBD6E2"/>
            </a:solidFill>
            <a:prstDash val="solid"/>
            <a:headEnd type="none"/>
            <a:tailEnd type="none"/>
          </a:ln>
        </p:spPr>
      </p:sp>
      <p:sp>
        <p:nvSpPr>
          <p:cNvPr id="42" name="Shape 40"/>
          <p:cNvSpPr/>
          <p:nvPr/>
        </p:nvSpPr>
        <p:spPr>
          <a:xfrm>
            <a:off x="8183880" y="2660904"/>
            <a:ext cx="0" cy="466344"/>
          </a:xfrm>
          <a:prstGeom prst="line">
            <a:avLst/>
          </a:prstGeom>
          <a:noFill/>
          <a:ln w="12700">
            <a:solidFill>
              <a:srgbClr val="CBD6E2"/>
            </a:solidFill>
            <a:prstDash val="solid"/>
            <a:headEnd type="none"/>
            <a:tailEnd type="none"/>
          </a:ln>
        </p:spPr>
      </p:sp>
      <p:sp>
        <p:nvSpPr>
          <p:cNvPr id="43" name="Shape 41"/>
          <p:cNvSpPr/>
          <p:nvPr/>
        </p:nvSpPr>
        <p:spPr>
          <a:xfrm>
            <a:off x="8278203" y="2626440"/>
            <a:ext cx="451435" cy="535273"/>
          </a:xfrm>
          <a:prstGeom prst="line">
            <a:avLst/>
          </a:prstGeom>
          <a:noFill/>
          <a:ln w="12700">
            <a:solidFill>
              <a:srgbClr val="CBD6E2"/>
            </a:solidFill>
            <a:prstDash val="solid"/>
            <a:headEnd type="none"/>
            <a:tailEnd type="none"/>
          </a:ln>
        </p:spPr>
      </p:sp>
      <p:sp>
        <p:nvSpPr>
          <p:cNvPr id="44" name="Shape 42"/>
          <p:cNvSpPr/>
          <p:nvPr/>
        </p:nvSpPr>
        <p:spPr>
          <a:xfrm>
            <a:off x="9429767" y="2656833"/>
            <a:ext cx="-114334" cy="474486"/>
          </a:xfrm>
          <a:prstGeom prst="line">
            <a:avLst/>
          </a:prstGeom>
          <a:noFill/>
          <a:ln w="12700">
            <a:solidFill>
              <a:srgbClr val="CBD6E2"/>
            </a:solidFill>
            <a:prstDash val="solid"/>
            <a:headEnd type="none"/>
            <a:tailEnd type="none"/>
          </a:ln>
        </p:spPr>
      </p:sp>
      <p:sp>
        <p:nvSpPr>
          <p:cNvPr id="45" name="Shape 43"/>
          <p:cNvSpPr/>
          <p:nvPr/>
        </p:nvSpPr>
        <p:spPr>
          <a:xfrm>
            <a:off x="9539535" y="2639921"/>
            <a:ext cx="306211" cy="508310"/>
          </a:xfrm>
          <a:prstGeom prst="line">
            <a:avLst/>
          </a:prstGeom>
          <a:noFill/>
          <a:ln w="12700">
            <a:solidFill>
              <a:srgbClr val="CBD6E2"/>
            </a:solidFill>
            <a:prstDash val="solid"/>
            <a:headEnd type="none"/>
            <a:tailEnd type="none"/>
          </a:ln>
        </p:spPr>
      </p:sp>
      <p:sp>
        <p:nvSpPr>
          <p:cNvPr id="46" name="Shape 44"/>
          <p:cNvSpPr/>
          <p:nvPr/>
        </p:nvSpPr>
        <p:spPr>
          <a:xfrm>
            <a:off x="10744200" y="2660904"/>
            <a:ext cx="0" cy="466344"/>
          </a:xfrm>
          <a:prstGeom prst="line">
            <a:avLst/>
          </a:prstGeom>
          <a:noFill/>
          <a:ln w="12700">
            <a:solidFill>
              <a:srgbClr val="CBD6E2"/>
            </a:solidFill>
            <a:prstDash val="solid"/>
            <a:headEnd type="none"/>
            <a:tailEnd type="none"/>
          </a:ln>
        </p:spPr>
      </p:sp>
      <p:sp>
        <p:nvSpPr>
          <p:cNvPr id="47" name="Shape 45"/>
          <p:cNvSpPr/>
          <p:nvPr/>
        </p:nvSpPr>
        <p:spPr>
          <a:xfrm>
            <a:off x="7496297" y="3411930"/>
            <a:ext cx="-115307" cy="335893"/>
          </a:xfrm>
          <a:prstGeom prst="line">
            <a:avLst/>
          </a:prstGeom>
          <a:noFill/>
          <a:ln w="12700">
            <a:solidFill>
              <a:srgbClr val="CBD6E2"/>
            </a:solidFill>
            <a:prstDash val="solid"/>
            <a:headEnd type="none"/>
            <a:tailEnd type="none"/>
          </a:ln>
        </p:spPr>
      </p:sp>
      <p:sp>
        <p:nvSpPr>
          <p:cNvPr id="48" name="Shape 46"/>
          <p:cNvSpPr/>
          <p:nvPr/>
        </p:nvSpPr>
        <p:spPr>
          <a:xfrm>
            <a:off x="8136377" y="3411930"/>
            <a:ext cx="-115307" cy="335893"/>
          </a:xfrm>
          <a:prstGeom prst="line">
            <a:avLst/>
          </a:prstGeom>
          <a:noFill/>
          <a:ln w="12700">
            <a:solidFill>
              <a:srgbClr val="CBD6E2"/>
            </a:solidFill>
            <a:prstDash val="solid"/>
            <a:headEnd type="none"/>
            <a:tailEnd type="none"/>
          </a:ln>
        </p:spPr>
      </p:sp>
      <p:sp>
        <p:nvSpPr>
          <p:cNvPr id="49" name="Shape 47"/>
          <p:cNvSpPr/>
          <p:nvPr/>
        </p:nvSpPr>
        <p:spPr>
          <a:xfrm>
            <a:off x="8782112" y="3413743"/>
            <a:ext cx="-99184" cy="332265"/>
          </a:xfrm>
          <a:prstGeom prst="line">
            <a:avLst/>
          </a:prstGeom>
          <a:noFill/>
          <a:ln w="12700">
            <a:solidFill>
              <a:srgbClr val="CBD6E2"/>
            </a:solidFill>
            <a:prstDash val="solid"/>
            <a:headEnd type="none"/>
            <a:tailEnd type="none"/>
          </a:ln>
        </p:spPr>
      </p:sp>
      <p:sp>
        <p:nvSpPr>
          <p:cNvPr id="50" name="Shape 48"/>
          <p:cNvSpPr/>
          <p:nvPr/>
        </p:nvSpPr>
        <p:spPr>
          <a:xfrm>
            <a:off x="8905533" y="3395005"/>
            <a:ext cx="248335" cy="369743"/>
          </a:xfrm>
          <a:prstGeom prst="line">
            <a:avLst/>
          </a:prstGeom>
          <a:noFill/>
          <a:ln w="12700">
            <a:solidFill>
              <a:srgbClr val="CBD6E2"/>
            </a:solidFill>
            <a:prstDash val="solid"/>
            <a:headEnd type="none"/>
            <a:tailEnd type="none"/>
          </a:ln>
        </p:spPr>
      </p:sp>
      <p:sp>
        <p:nvSpPr>
          <p:cNvPr id="51" name="Shape 49"/>
          <p:cNvSpPr/>
          <p:nvPr/>
        </p:nvSpPr>
        <p:spPr>
          <a:xfrm>
            <a:off x="9378762" y="3382541"/>
            <a:ext cx="353435" cy="394670"/>
          </a:xfrm>
          <a:prstGeom prst="line">
            <a:avLst/>
          </a:prstGeom>
          <a:noFill/>
          <a:ln w="12700">
            <a:solidFill>
              <a:srgbClr val="CBD6E2"/>
            </a:solidFill>
            <a:prstDash val="solid"/>
            <a:headEnd type="none"/>
            <a:tailEnd type="none"/>
          </a:ln>
        </p:spPr>
      </p:sp>
      <p:sp>
        <p:nvSpPr>
          <p:cNvPr id="52" name="Shape 50"/>
          <p:cNvSpPr/>
          <p:nvPr/>
        </p:nvSpPr>
        <p:spPr>
          <a:xfrm>
            <a:off x="9408902" y="3344874"/>
            <a:ext cx="841796" cy="470003"/>
          </a:xfrm>
          <a:prstGeom prst="line">
            <a:avLst/>
          </a:prstGeom>
          <a:noFill/>
          <a:ln w="12700">
            <a:solidFill>
              <a:srgbClr val="CBD6E2"/>
            </a:solidFill>
            <a:prstDash val="solid"/>
            <a:headEnd type="none"/>
            <a:tailEnd type="none"/>
          </a:ln>
        </p:spPr>
      </p:sp>
      <p:sp>
        <p:nvSpPr>
          <p:cNvPr id="53" name="Shape 51"/>
          <p:cNvSpPr/>
          <p:nvPr/>
        </p:nvSpPr>
        <p:spPr>
          <a:xfrm>
            <a:off x="10046191" y="3349658"/>
            <a:ext cx="755939" cy="460435"/>
          </a:xfrm>
          <a:prstGeom prst="line">
            <a:avLst/>
          </a:prstGeom>
          <a:noFill/>
          <a:ln w="12700">
            <a:solidFill>
              <a:srgbClr val="CBD6E2"/>
            </a:solidFill>
            <a:prstDash val="solid"/>
            <a:headEnd type="none"/>
            <a:tailEnd type="none"/>
          </a:ln>
        </p:spPr>
      </p:sp>
      <p:sp>
        <p:nvSpPr>
          <p:cNvPr id="54" name="Shape 52"/>
          <p:cNvSpPr/>
          <p:nvPr/>
        </p:nvSpPr>
        <p:spPr>
          <a:xfrm>
            <a:off x="10881411" y="4025193"/>
            <a:ext cx="-118973" cy="362093"/>
          </a:xfrm>
          <a:prstGeom prst="line">
            <a:avLst/>
          </a:prstGeom>
          <a:noFill/>
          <a:ln w="12700">
            <a:solidFill>
              <a:srgbClr val="CBD6E2"/>
            </a:solidFill>
            <a:prstDash val="solid"/>
            <a:headEnd type="none"/>
            <a:tailEnd type="none"/>
          </a:ln>
        </p:spPr>
      </p:sp>
      <p:sp>
        <p:nvSpPr>
          <p:cNvPr id="55" name="Shape 53"/>
          <p:cNvSpPr/>
          <p:nvPr/>
        </p:nvSpPr>
        <p:spPr>
          <a:xfrm>
            <a:off x="10999667" y="4013227"/>
            <a:ext cx="220586" cy="386025"/>
          </a:xfrm>
          <a:prstGeom prst="line">
            <a:avLst/>
          </a:prstGeom>
          <a:noFill/>
          <a:ln w="12700">
            <a:solidFill>
              <a:srgbClr val="CBD6E2"/>
            </a:solidFill>
            <a:prstDash val="solid"/>
            <a:headEnd type="none"/>
            <a:tailEnd type="none"/>
          </a:ln>
        </p:spPr>
      </p:sp>
      <p:sp>
        <p:nvSpPr>
          <p:cNvPr id="56" name="Shape 54"/>
          <p:cNvSpPr/>
          <p:nvPr/>
        </p:nvSpPr>
        <p:spPr>
          <a:xfrm>
            <a:off x="9340972" y="1770755"/>
            <a:ext cx="-1034024" cy="664730"/>
          </a:xfrm>
          <a:prstGeom prst="line">
            <a:avLst/>
          </a:prstGeom>
          <a:noFill/>
          <a:ln w="31750">
            <a:solidFill>
              <a:srgbClr val="A91317"/>
            </a:solidFill>
            <a:prstDash val="solid"/>
            <a:headEnd type="none"/>
            <a:tailEnd type="none"/>
          </a:ln>
        </p:spPr>
      </p:sp>
      <p:sp>
        <p:nvSpPr>
          <p:cNvPr id="57" name="Shape 55"/>
          <p:cNvSpPr/>
          <p:nvPr/>
        </p:nvSpPr>
        <p:spPr>
          <a:xfrm>
            <a:off x="8278203" y="2626440"/>
            <a:ext cx="451435" cy="535273"/>
          </a:xfrm>
          <a:prstGeom prst="line">
            <a:avLst/>
          </a:prstGeom>
          <a:noFill/>
          <a:ln w="31750">
            <a:solidFill>
              <a:srgbClr val="A91317"/>
            </a:solidFill>
            <a:prstDash val="solid"/>
            <a:headEnd type="none"/>
            <a:tailEnd type="none"/>
          </a:ln>
        </p:spPr>
      </p:sp>
      <p:sp>
        <p:nvSpPr>
          <p:cNvPr id="58" name="Text 56"/>
          <p:cNvSpPr/>
          <p:nvPr/>
        </p:nvSpPr>
        <p:spPr>
          <a:xfrm>
            <a:off x="9326880" y="1554480"/>
            <a:ext cx="274320" cy="274320"/>
          </a:xfrm>
          <a:prstGeom prst="ellipse">
            <a:avLst/>
          </a:prstGeom>
          <a:solidFill>
            <a:srgbClr val="FFF2D6"/>
          </a:solidFill>
          <a:ln w="15240">
            <a:solidFill>
              <a:srgbClr val="A9131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1317"/>
                </a:solidFill>
              </a:rPr>
              <a:t>S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8046720" y="2377440"/>
            <a:ext cx="274320" cy="274320"/>
          </a:xfrm>
          <a:prstGeom prst="ellipse">
            <a:avLst/>
          </a:prstGeom>
          <a:solidFill>
            <a:srgbClr val="FFF2D6"/>
          </a:solidFill>
          <a:ln w="15240">
            <a:solidFill>
              <a:srgbClr val="A9131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1317"/>
                </a:solidFill>
              </a:rPr>
              <a:t>d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9326880" y="2377440"/>
            <a:ext cx="274320" cy="27432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6265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265A"/>
                </a:solidFill>
              </a:rPr>
              <a:t>e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10607040" y="2377440"/>
            <a:ext cx="274320" cy="27432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6265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265A"/>
                </a:solidFill>
              </a:rPr>
              <a:t>p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7406640" y="3136392"/>
            <a:ext cx="274320" cy="27432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6265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265A"/>
                </a:solidFill>
              </a:rPr>
              <a:t>b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8046720" y="3136392"/>
            <a:ext cx="274320" cy="27432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6265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265A"/>
                </a:solidFill>
              </a:rPr>
              <a:t>c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8686800" y="3136392"/>
            <a:ext cx="274320" cy="274320"/>
          </a:xfrm>
          <a:prstGeom prst="ellipse">
            <a:avLst/>
          </a:prstGeom>
          <a:solidFill>
            <a:srgbClr val="FFF2D6"/>
          </a:solidFill>
          <a:ln w="15240">
            <a:solidFill>
              <a:srgbClr val="A9131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1317"/>
                </a:solidFill>
              </a:rPr>
              <a:t>e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9144000" y="3136392"/>
            <a:ext cx="274320" cy="27432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6265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265A"/>
                </a:solidFill>
              </a:rPr>
              <a:t>h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9784080" y="3136392"/>
            <a:ext cx="274320" cy="27432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6265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265A"/>
                </a:solidFill>
              </a:rPr>
              <a:t>r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10607040" y="3136392"/>
            <a:ext cx="274320" cy="27432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6265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265A"/>
                </a:solidFill>
              </a:rPr>
              <a:t>q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7196328" y="3749040"/>
            <a:ext cx="274320" cy="27432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6265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265A"/>
                </a:solidFill>
              </a:rPr>
              <a:t>a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7836408" y="3749040"/>
            <a:ext cx="274320" cy="27432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6265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265A"/>
                </a:solidFill>
              </a:rPr>
              <a:t>a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8503920" y="3749040"/>
            <a:ext cx="274320" cy="27432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6265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265A"/>
                </a:solidFill>
              </a:rPr>
              <a:t>h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9098280" y="3749040"/>
            <a:ext cx="274320" cy="27432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6265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265A"/>
                </a:solidFill>
              </a:rPr>
              <a:t>r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9692640" y="3749040"/>
            <a:ext cx="274320" cy="27432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6265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265A"/>
                </a:solidFill>
              </a:rPr>
              <a:t>p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10241280" y="3749040"/>
            <a:ext cx="274320" cy="27432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6265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265A"/>
                </a:solidFill>
              </a:rPr>
              <a:t>q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10789920" y="3749040"/>
            <a:ext cx="274320" cy="27432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6265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265A"/>
                </a:solidFill>
              </a:rPr>
              <a:t>f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10579608" y="4389120"/>
            <a:ext cx="274320" cy="27432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6265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265A"/>
                </a:solidFill>
              </a:rPr>
              <a:t>c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11155680" y="4389120"/>
            <a:ext cx="274320" cy="274320"/>
          </a:xfrm>
          <a:prstGeom prst="ellipse">
            <a:avLst/>
          </a:prstGeom>
          <a:solidFill>
            <a:srgbClr val="FFF2D6"/>
          </a:solidFill>
          <a:ln w="15240">
            <a:solidFill>
              <a:srgbClr val="A9131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1317"/>
                </a:solidFill>
              </a:rPr>
              <a:t>G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7315200" y="507492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265A"/>
                </a:solidFill>
              </a:rPr>
              <a:t>Search-tree node represents a path, not just a state.</a:t>
            </a:r>
            <a:endParaRPr lang="en-US" sz="1200" dirty="0"/>
          </a:p>
        </p:txBody>
      </p:sp>
      <p:sp>
        <p:nvSpPr>
          <p:cNvPr id="78" name="Text 76"/>
          <p:cNvSpPr/>
          <p:nvPr/>
        </p:nvSpPr>
        <p:spPr>
          <a:xfrm>
            <a:off x="1115568" y="5532120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91317"/>
                </a:solidFill>
              </a:rPr>
              <a:t>Same state can appear in multiple search-tree nodes because each tree node is a different path.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F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19456" y="219456"/>
            <a:ext cx="11759184" cy="749808"/>
          </a:xfrm>
          <a:prstGeom prst="rect">
            <a:avLst/>
          </a:prstGeom>
          <a:solidFill>
            <a:srgbClr val="143764"/>
          </a:solidFill>
          <a:ln w="12700">
            <a:solidFill>
              <a:srgbClr val="1437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38404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Romania Search Visual: State Space and Algorithms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19456" y="969264"/>
            <a:ext cx="11759184" cy="91440"/>
          </a:xfrm>
          <a:prstGeom prst="rect">
            <a:avLst/>
          </a:prstGeom>
          <a:solidFill>
            <a:srgbClr val="F6A21A"/>
          </a:solidFill>
          <a:ln w="12700">
            <a:solidFill>
              <a:srgbClr val="F6A2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5624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6482"/>
                </a:solidFill>
              </a:rPr>
              <a:t>CSU Channel Islands · Department of Computer Science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802368" y="6556248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D6482"/>
                </a:solidFill>
              </a:rPr>
              <a:t>COMP 469 · Chapter 3 · Sections 3.1-3.4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285811" y="2377611"/>
            <a:ext cx="171578" cy="-457543"/>
          </a:xfrm>
          <a:prstGeom prst="line">
            <a:avLst/>
          </a:prstGeom>
          <a:noFill/>
          <a:ln w="12700">
            <a:solidFill>
              <a:srgbClr val="CBD6E2"/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1280160" y="2093976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4D6482"/>
                </a:solidFill>
              </a:rPr>
              <a:t>75</a:t>
            </a:r>
            <a:endParaRPr lang="en-US" sz="600" dirty="0"/>
          </a:p>
        </p:txBody>
      </p:sp>
      <p:sp>
        <p:nvSpPr>
          <p:cNvPr id="9" name="Shape 7"/>
          <p:cNvSpPr/>
          <p:nvPr/>
        </p:nvSpPr>
        <p:spPr>
          <a:xfrm>
            <a:off x="1581347" y="1656053"/>
            <a:ext cx="220586" cy="-386025"/>
          </a:xfrm>
          <a:prstGeom prst="line">
            <a:avLst/>
          </a:prstGeom>
          <a:noFill/>
          <a:ln w="12700">
            <a:solidFill>
              <a:srgbClr val="CBD6E2"/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1600200" y="1408176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4D6482"/>
                </a:solidFill>
              </a:rPr>
              <a:t>71</a:t>
            </a:r>
            <a:endParaRPr lang="en-US" sz="600" dirty="0"/>
          </a:p>
        </p:txBody>
      </p:sp>
      <p:sp>
        <p:nvSpPr>
          <p:cNvPr id="11" name="Shape 9"/>
          <p:cNvSpPr/>
          <p:nvPr/>
        </p:nvSpPr>
        <p:spPr>
          <a:xfrm>
            <a:off x="1961463" y="1260668"/>
            <a:ext cx="1042265" cy="1410584"/>
          </a:xfrm>
          <a:prstGeom prst="line">
            <a:avLst/>
          </a:prstGeom>
          <a:noFill/>
          <a:ln w="12700">
            <a:solidFill>
              <a:srgbClr val="CBD6E2"/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2391156" y="1911096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4D6482"/>
                </a:solidFill>
              </a:rPr>
              <a:t>151</a:t>
            </a:r>
            <a:endParaRPr lang="en-US" sz="600" dirty="0"/>
          </a:p>
        </p:txBody>
      </p:sp>
      <p:sp>
        <p:nvSpPr>
          <p:cNvPr id="13" name="Shape 11"/>
          <p:cNvSpPr/>
          <p:nvPr/>
        </p:nvSpPr>
        <p:spPr>
          <a:xfrm>
            <a:off x="1379172" y="2535989"/>
            <a:ext cx="1566768" cy="231542"/>
          </a:xfrm>
          <a:prstGeom prst="line">
            <a:avLst/>
          </a:prstGeom>
          <a:noFill/>
          <a:ln w="12700">
            <a:solidFill>
              <a:srgbClr val="CBD6E2"/>
            </a:solidFill>
            <a:prstDash val="solid"/>
            <a:headEnd type="none"/>
            <a:tailEnd type="none"/>
          </a:ln>
        </p:spPr>
      </p:sp>
      <p:sp>
        <p:nvSpPr>
          <p:cNvPr id="14" name="Text 12"/>
          <p:cNvSpPr/>
          <p:nvPr/>
        </p:nvSpPr>
        <p:spPr>
          <a:xfrm>
            <a:off x="2071116" y="2596896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4D6482"/>
                </a:solidFill>
              </a:rPr>
              <a:t>140</a:t>
            </a:r>
            <a:endParaRPr lang="en-US" sz="600" dirty="0"/>
          </a:p>
        </p:txBody>
      </p:sp>
      <p:sp>
        <p:nvSpPr>
          <p:cNvPr id="15" name="Shape 13"/>
          <p:cNvSpPr/>
          <p:nvPr/>
        </p:nvSpPr>
        <p:spPr>
          <a:xfrm>
            <a:off x="1241083" y="2660753"/>
            <a:ext cx="32433" cy="713534"/>
          </a:xfrm>
          <a:prstGeom prst="line">
            <a:avLst/>
          </a:prstGeom>
          <a:noFill/>
          <a:ln w="12700">
            <a:solidFill>
              <a:srgbClr val="CBD6E2"/>
            </a:solidFill>
            <a:prstDash val="solid"/>
            <a:headEnd type="none"/>
            <a:tailEnd type="none"/>
          </a:ln>
        </p:spPr>
      </p:sp>
      <p:sp>
        <p:nvSpPr>
          <p:cNvPr id="16" name="Text 14"/>
          <p:cNvSpPr/>
          <p:nvPr/>
        </p:nvSpPr>
        <p:spPr>
          <a:xfrm>
            <a:off x="1165860" y="2962656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4D6482"/>
                </a:solidFill>
              </a:rPr>
              <a:t>118</a:t>
            </a:r>
            <a:endParaRPr lang="en-US" sz="600" dirty="0"/>
          </a:p>
        </p:txBody>
      </p:sp>
      <p:sp>
        <p:nvSpPr>
          <p:cNvPr id="17" name="Shape 15"/>
          <p:cNvSpPr/>
          <p:nvPr/>
        </p:nvSpPr>
        <p:spPr>
          <a:xfrm>
            <a:off x="1412252" y="3583341"/>
            <a:ext cx="695936" cy="331398"/>
          </a:xfrm>
          <a:prstGeom prst="line">
            <a:avLst/>
          </a:prstGeom>
          <a:noFill/>
          <a:ln w="12700">
            <a:solidFill>
              <a:srgbClr val="CBD6E2"/>
            </a:solidFill>
            <a:prstDash val="solid"/>
            <a:headEnd type="none"/>
            <a:tailEnd type="none"/>
          </a:ln>
        </p:spPr>
      </p:sp>
      <p:sp>
        <p:nvSpPr>
          <p:cNvPr id="18" name="Text 16"/>
          <p:cNvSpPr/>
          <p:nvPr/>
        </p:nvSpPr>
        <p:spPr>
          <a:xfrm>
            <a:off x="1668780" y="3694176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4D6482"/>
                </a:solidFill>
              </a:rPr>
              <a:t>111</a:t>
            </a:r>
            <a:endParaRPr lang="en-US" sz="600" dirty="0"/>
          </a:p>
        </p:txBody>
      </p:sp>
      <p:sp>
        <p:nvSpPr>
          <p:cNvPr id="19" name="Shape 17"/>
          <p:cNvSpPr/>
          <p:nvPr/>
        </p:nvSpPr>
        <p:spPr>
          <a:xfrm>
            <a:off x="2260971" y="4122474"/>
            <a:ext cx="50059" cy="350413"/>
          </a:xfrm>
          <a:prstGeom prst="line">
            <a:avLst/>
          </a:prstGeom>
          <a:noFill/>
          <a:ln w="12700">
            <a:solidFill>
              <a:srgbClr val="CBD6E2"/>
            </a:solidFill>
            <a:prstDash val="solid"/>
            <a:headEnd type="none"/>
            <a:tailEnd type="none"/>
          </a:ln>
        </p:spPr>
      </p:sp>
      <p:sp>
        <p:nvSpPr>
          <p:cNvPr id="20" name="Text 18"/>
          <p:cNvSpPr/>
          <p:nvPr/>
        </p:nvSpPr>
        <p:spPr>
          <a:xfrm>
            <a:off x="2194560" y="4242816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4D6482"/>
                </a:solidFill>
              </a:rPr>
              <a:t>70</a:t>
            </a:r>
            <a:endParaRPr lang="en-US" sz="600" dirty="0"/>
          </a:p>
        </p:txBody>
      </p:sp>
      <p:sp>
        <p:nvSpPr>
          <p:cNvPr id="21" name="Shape 19"/>
          <p:cNvSpPr/>
          <p:nvPr/>
        </p:nvSpPr>
        <p:spPr>
          <a:xfrm>
            <a:off x="2316055" y="4763183"/>
            <a:ext cx="-32678" cy="303434"/>
          </a:xfrm>
          <a:prstGeom prst="line">
            <a:avLst/>
          </a:prstGeom>
          <a:noFill/>
          <a:ln w="12700">
            <a:solidFill>
              <a:srgbClr val="CBD6E2"/>
            </a:solidFill>
            <a:prstDash val="solid"/>
            <a:headEnd type="none"/>
            <a:tailEnd type="none"/>
          </a:ln>
        </p:spPr>
      </p:sp>
      <p:sp>
        <p:nvSpPr>
          <p:cNvPr id="22" name="Text 20"/>
          <p:cNvSpPr/>
          <p:nvPr/>
        </p:nvSpPr>
        <p:spPr>
          <a:xfrm>
            <a:off x="2208276" y="4860036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4D6482"/>
                </a:solidFill>
              </a:rPr>
              <a:t>75</a:t>
            </a:r>
            <a:endParaRPr lang="en-US" sz="600" dirty="0"/>
          </a:p>
        </p:txBody>
      </p:sp>
      <p:sp>
        <p:nvSpPr>
          <p:cNvPr id="23" name="Shape 21"/>
          <p:cNvSpPr/>
          <p:nvPr/>
        </p:nvSpPr>
        <p:spPr>
          <a:xfrm>
            <a:off x="2413572" y="5223475"/>
            <a:ext cx="1463929" cy="114369"/>
          </a:xfrm>
          <a:prstGeom prst="line">
            <a:avLst/>
          </a:prstGeom>
          <a:noFill/>
          <a:ln w="12700">
            <a:solidFill>
              <a:srgbClr val="CBD6E2"/>
            </a:solidFill>
            <a:prstDash val="solid"/>
            <a:headEnd type="none"/>
            <a:tailEnd type="none"/>
          </a:ln>
        </p:spPr>
      </p:sp>
      <p:sp>
        <p:nvSpPr>
          <p:cNvPr id="24" name="Text 22"/>
          <p:cNvSpPr/>
          <p:nvPr/>
        </p:nvSpPr>
        <p:spPr>
          <a:xfrm>
            <a:off x="3054096" y="5225796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4D6482"/>
                </a:solidFill>
              </a:rPr>
              <a:t>120</a:t>
            </a:r>
            <a:endParaRPr lang="en-US" sz="600" dirty="0"/>
          </a:p>
        </p:txBody>
      </p:sp>
      <p:sp>
        <p:nvSpPr>
          <p:cNvPr id="25" name="Shape 23"/>
          <p:cNvSpPr/>
          <p:nvPr/>
        </p:nvSpPr>
        <p:spPr>
          <a:xfrm>
            <a:off x="4119702" y="5239135"/>
            <a:ext cx="767436" cy="-877070"/>
          </a:xfrm>
          <a:prstGeom prst="line">
            <a:avLst/>
          </a:prstGeom>
          <a:noFill/>
          <a:ln w="12700">
            <a:solidFill>
              <a:srgbClr val="CBD6E2"/>
            </a:solidFill>
            <a:prstDash val="solid"/>
            <a:headEnd type="none"/>
            <a:tailEnd type="none"/>
          </a:ln>
        </p:spPr>
      </p:sp>
      <p:sp>
        <p:nvSpPr>
          <p:cNvPr id="26" name="Text 24"/>
          <p:cNvSpPr/>
          <p:nvPr/>
        </p:nvSpPr>
        <p:spPr>
          <a:xfrm>
            <a:off x="4411980" y="4745736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4D6482"/>
                </a:solidFill>
              </a:rPr>
              <a:t>138</a:t>
            </a:r>
            <a:endParaRPr lang="en-US" sz="600" dirty="0"/>
          </a:p>
        </p:txBody>
      </p:sp>
      <p:sp>
        <p:nvSpPr>
          <p:cNvPr id="27" name="Shape 25"/>
          <p:cNvSpPr/>
          <p:nvPr/>
        </p:nvSpPr>
        <p:spPr>
          <a:xfrm>
            <a:off x="3988781" y="5207081"/>
            <a:ext cx="-342322" cy="-1407322"/>
          </a:xfrm>
          <a:prstGeom prst="line">
            <a:avLst/>
          </a:prstGeom>
          <a:noFill/>
          <a:ln w="12700">
            <a:solidFill>
              <a:srgbClr val="CBD6E2"/>
            </a:solidFill>
            <a:prstDash val="solid"/>
            <a:headEnd type="none"/>
            <a:tailEnd type="none"/>
          </a:ln>
        </p:spPr>
      </p:sp>
      <p:sp>
        <p:nvSpPr>
          <p:cNvPr id="28" name="Text 26"/>
          <p:cNvSpPr/>
          <p:nvPr/>
        </p:nvSpPr>
        <p:spPr>
          <a:xfrm>
            <a:off x="3726180" y="4448556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4D6482"/>
                </a:solidFill>
              </a:rPr>
              <a:t>146</a:t>
            </a:r>
            <a:endParaRPr lang="en-US" sz="600" dirty="0"/>
          </a:p>
        </p:txBody>
      </p:sp>
      <p:sp>
        <p:nvSpPr>
          <p:cNvPr id="29" name="Shape 27"/>
          <p:cNvSpPr/>
          <p:nvPr/>
        </p:nvSpPr>
        <p:spPr>
          <a:xfrm>
            <a:off x="3536607" y="3532145"/>
            <a:ext cx="-370662" cy="-617771"/>
          </a:xfrm>
          <a:prstGeom prst="line">
            <a:avLst/>
          </a:prstGeom>
          <a:noFill/>
          <a:ln w="12700">
            <a:solidFill>
              <a:srgbClr val="CBD6E2"/>
            </a:solidFill>
            <a:prstDash val="solid"/>
            <a:headEnd type="none"/>
            <a:tailEnd type="none"/>
          </a:ln>
        </p:spPr>
      </p:sp>
      <p:sp>
        <p:nvSpPr>
          <p:cNvPr id="30" name="Text 28"/>
          <p:cNvSpPr/>
          <p:nvPr/>
        </p:nvSpPr>
        <p:spPr>
          <a:xfrm>
            <a:off x="3259836" y="3168396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4D6482"/>
                </a:solidFill>
              </a:rPr>
              <a:t>80</a:t>
            </a:r>
            <a:endParaRPr lang="en-US" sz="600" dirty="0"/>
          </a:p>
        </p:txBody>
      </p:sp>
      <p:sp>
        <p:nvSpPr>
          <p:cNvPr id="31" name="Shape 29"/>
          <p:cNvSpPr/>
          <p:nvPr/>
        </p:nvSpPr>
        <p:spPr>
          <a:xfrm>
            <a:off x="3746122" y="3715772"/>
            <a:ext cx="1103116" cy="478017"/>
          </a:xfrm>
          <a:prstGeom prst="line">
            <a:avLst/>
          </a:prstGeom>
          <a:noFill/>
          <a:ln w="12700">
            <a:solidFill>
              <a:srgbClr val="CBD6E2"/>
            </a:solidFill>
            <a:prstDash val="solid"/>
            <a:headEnd type="none"/>
            <a:tailEnd type="none"/>
          </a:ln>
        </p:spPr>
      </p:sp>
      <p:sp>
        <p:nvSpPr>
          <p:cNvPr id="32" name="Text 30"/>
          <p:cNvSpPr/>
          <p:nvPr/>
        </p:nvSpPr>
        <p:spPr>
          <a:xfrm>
            <a:off x="4206240" y="3899916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4D6482"/>
                </a:solidFill>
              </a:rPr>
              <a:t>97</a:t>
            </a:r>
            <a:endParaRPr lang="en-US" sz="600" dirty="0"/>
          </a:p>
        </p:txBody>
      </p:sp>
      <p:sp>
        <p:nvSpPr>
          <p:cNvPr id="33" name="Shape 31"/>
          <p:cNvSpPr/>
          <p:nvPr/>
        </p:nvSpPr>
        <p:spPr>
          <a:xfrm>
            <a:off x="3235997" y="2805818"/>
            <a:ext cx="1282118" cy="149084"/>
          </a:xfrm>
          <a:prstGeom prst="line">
            <a:avLst/>
          </a:prstGeom>
          <a:noFill/>
          <a:ln w="12700">
            <a:solidFill>
              <a:srgbClr val="CBD6E2"/>
            </a:solidFill>
            <a:prstDash val="solid"/>
            <a:headEnd type="none"/>
            <a:tailEnd type="none"/>
          </a:ln>
        </p:spPr>
      </p:sp>
      <p:sp>
        <p:nvSpPr>
          <p:cNvPr id="34" name="Text 32"/>
          <p:cNvSpPr/>
          <p:nvPr/>
        </p:nvSpPr>
        <p:spPr>
          <a:xfrm>
            <a:off x="3785616" y="2825496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4D6482"/>
                </a:solidFill>
              </a:rPr>
              <a:t>99</a:t>
            </a:r>
            <a:endParaRPr lang="en-US" sz="600" dirty="0"/>
          </a:p>
        </p:txBody>
      </p:sp>
      <p:sp>
        <p:nvSpPr>
          <p:cNvPr id="35" name="Shape 33"/>
          <p:cNvSpPr/>
          <p:nvPr/>
        </p:nvSpPr>
        <p:spPr>
          <a:xfrm>
            <a:off x="4760822" y="3080986"/>
            <a:ext cx="1313996" cy="1473268"/>
          </a:xfrm>
          <a:prstGeom prst="line">
            <a:avLst/>
          </a:prstGeom>
          <a:noFill/>
          <a:ln w="12700">
            <a:solidFill>
              <a:srgbClr val="CBD6E2"/>
            </a:solidFill>
            <a:prstDash val="solid"/>
            <a:headEnd type="none"/>
            <a:tailEnd type="none"/>
          </a:ln>
        </p:spPr>
      </p:sp>
      <p:sp>
        <p:nvSpPr>
          <p:cNvPr id="36" name="Text 34"/>
          <p:cNvSpPr/>
          <p:nvPr/>
        </p:nvSpPr>
        <p:spPr>
          <a:xfrm>
            <a:off x="5326380" y="3762756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4D6482"/>
                </a:solidFill>
              </a:rPr>
              <a:t>211</a:t>
            </a:r>
            <a:endParaRPr lang="en-US" sz="600" dirty="0"/>
          </a:p>
        </p:txBody>
      </p:sp>
      <p:sp>
        <p:nvSpPr>
          <p:cNvPr id="37" name="Shape 35"/>
          <p:cNvSpPr/>
          <p:nvPr/>
        </p:nvSpPr>
        <p:spPr>
          <a:xfrm>
            <a:off x="5121735" y="4299818"/>
            <a:ext cx="912210" cy="315765"/>
          </a:xfrm>
          <a:prstGeom prst="line">
            <a:avLst/>
          </a:prstGeom>
          <a:noFill/>
          <a:ln w="12700">
            <a:solidFill>
              <a:srgbClr val="CBD6E2"/>
            </a:solidFill>
            <a:prstDash val="solid"/>
            <a:headEnd type="none"/>
            <a:tailEnd type="none"/>
          </a:ln>
        </p:spPr>
      </p:sp>
      <p:sp>
        <p:nvSpPr>
          <p:cNvPr id="38" name="Text 36"/>
          <p:cNvSpPr/>
          <p:nvPr/>
        </p:nvSpPr>
        <p:spPr>
          <a:xfrm>
            <a:off x="5486400" y="4402836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4D6482"/>
                </a:solidFill>
              </a:rPr>
              <a:t>101</a:t>
            </a:r>
            <a:endParaRPr lang="en-US" sz="600" dirty="0"/>
          </a:p>
        </p:txBody>
      </p:sp>
      <p:sp>
        <p:nvSpPr>
          <p:cNvPr id="39" name="Shape 37"/>
          <p:cNvSpPr/>
          <p:nvPr/>
        </p:nvSpPr>
        <p:spPr>
          <a:xfrm>
            <a:off x="6123868" y="4801530"/>
            <a:ext cx="-223377" cy="638219"/>
          </a:xfrm>
          <a:prstGeom prst="line">
            <a:avLst/>
          </a:prstGeom>
          <a:noFill/>
          <a:ln w="12700">
            <a:solidFill>
              <a:srgbClr val="CBD6E2"/>
            </a:solidFill>
            <a:prstDash val="solid"/>
            <a:headEnd type="none"/>
            <a:tailEnd type="none"/>
          </a:ln>
        </p:spPr>
      </p:sp>
      <p:sp>
        <p:nvSpPr>
          <p:cNvPr id="40" name="Text 38"/>
          <p:cNvSpPr/>
          <p:nvPr/>
        </p:nvSpPr>
        <p:spPr>
          <a:xfrm>
            <a:off x="5920740" y="5065776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4D6482"/>
                </a:solidFill>
              </a:rPr>
              <a:t>90</a:t>
            </a:r>
            <a:endParaRPr lang="en-US" sz="600" dirty="0"/>
          </a:p>
        </p:txBody>
      </p:sp>
      <p:sp>
        <p:nvSpPr>
          <p:cNvPr id="41" name="Shape 39"/>
          <p:cNvSpPr/>
          <p:nvPr/>
        </p:nvSpPr>
        <p:spPr>
          <a:xfrm>
            <a:off x="6314866" y="4631016"/>
            <a:ext cx="720508" cy="-163752"/>
          </a:xfrm>
          <a:prstGeom prst="line">
            <a:avLst/>
          </a:prstGeom>
          <a:noFill/>
          <a:ln w="12700">
            <a:solidFill>
              <a:srgbClr val="CBD6E2"/>
            </a:solidFill>
            <a:prstDash val="solid"/>
            <a:headEnd type="none"/>
            <a:tailEnd type="none"/>
          </a:ln>
        </p:spPr>
      </p:sp>
      <p:sp>
        <p:nvSpPr>
          <p:cNvPr id="42" name="Text 40"/>
          <p:cNvSpPr/>
          <p:nvPr/>
        </p:nvSpPr>
        <p:spPr>
          <a:xfrm>
            <a:off x="6583680" y="4494276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4D6482"/>
                </a:solidFill>
              </a:rPr>
              <a:t>85</a:t>
            </a:r>
            <a:endParaRPr lang="en-US" sz="600" dirty="0"/>
          </a:p>
        </p:txBody>
      </p:sp>
      <p:sp>
        <p:nvSpPr>
          <p:cNvPr id="43" name="Shape 41"/>
          <p:cNvSpPr/>
          <p:nvPr/>
        </p:nvSpPr>
        <p:spPr>
          <a:xfrm>
            <a:off x="7324227" y="4440687"/>
            <a:ext cx="850626" cy="34025"/>
          </a:xfrm>
          <a:prstGeom prst="line">
            <a:avLst/>
          </a:prstGeom>
          <a:noFill/>
          <a:ln w="12700">
            <a:solidFill>
              <a:srgbClr val="CBD6E2"/>
            </a:solidFill>
            <a:prstDash val="solid"/>
            <a:headEnd type="none"/>
            <a:tailEnd type="none"/>
          </a:ln>
        </p:spPr>
      </p:sp>
      <p:sp>
        <p:nvSpPr>
          <p:cNvPr id="44" name="Text 42"/>
          <p:cNvSpPr/>
          <p:nvPr/>
        </p:nvSpPr>
        <p:spPr>
          <a:xfrm>
            <a:off x="7658100" y="4402836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4D6482"/>
                </a:solidFill>
              </a:rPr>
              <a:t>98</a:t>
            </a:r>
            <a:endParaRPr lang="en-US" sz="600" dirty="0"/>
          </a:p>
        </p:txBody>
      </p:sp>
      <p:sp>
        <p:nvSpPr>
          <p:cNvPr id="45" name="Shape 43"/>
          <p:cNvSpPr/>
          <p:nvPr/>
        </p:nvSpPr>
        <p:spPr>
          <a:xfrm>
            <a:off x="8398581" y="4604626"/>
            <a:ext cx="347838" cy="556541"/>
          </a:xfrm>
          <a:prstGeom prst="line">
            <a:avLst/>
          </a:prstGeom>
          <a:noFill/>
          <a:ln w="12700">
            <a:solidFill>
              <a:srgbClr val="CBD6E2"/>
            </a:solidFill>
            <a:prstDash val="solid"/>
            <a:headEnd type="none"/>
            <a:tailEnd type="none"/>
          </a:ln>
        </p:spPr>
      </p:sp>
      <p:sp>
        <p:nvSpPr>
          <p:cNvPr id="46" name="Text 44"/>
          <p:cNvSpPr/>
          <p:nvPr/>
        </p:nvSpPr>
        <p:spPr>
          <a:xfrm>
            <a:off x="8481060" y="4828032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4D6482"/>
                </a:solidFill>
              </a:rPr>
              <a:t>86</a:t>
            </a:r>
            <a:endParaRPr lang="en-US" sz="600" dirty="0"/>
          </a:p>
        </p:txBody>
      </p:sp>
      <p:sp>
        <p:nvSpPr>
          <p:cNvPr id="47" name="Shape 45"/>
          <p:cNvSpPr/>
          <p:nvPr/>
        </p:nvSpPr>
        <p:spPr>
          <a:xfrm>
            <a:off x="7247722" y="4306196"/>
            <a:ext cx="454996" cy="-839992"/>
          </a:xfrm>
          <a:prstGeom prst="line">
            <a:avLst/>
          </a:prstGeom>
          <a:noFill/>
          <a:ln w="12700">
            <a:solidFill>
              <a:srgbClr val="CBD6E2"/>
            </a:solidFill>
            <a:prstDash val="solid"/>
            <a:headEnd type="none"/>
            <a:tailEnd type="none"/>
          </a:ln>
        </p:spPr>
      </p:sp>
      <p:sp>
        <p:nvSpPr>
          <p:cNvPr id="48" name="Text 46"/>
          <p:cNvSpPr/>
          <p:nvPr/>
        </p:nvSpPr>
        <p:spPr>
          <a:xfrm>
            <a:off x="7383780" y="3831336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4D6482"/>
                </a:solidFill>
              </a:rPr>
              <a:t>142</a:t>
            </a:r>
            <a:endParaRPr lang="en-US" sz="600" dirty="0"/>
          </a:p>
        </p:txBody>
      </p:sp>
      <p:sp>
        <p:nvSpPr>
          <p:cNvPr id="49" name="Shape 47"/>
          <p:cNvSpPr/>
          <p:nvPr/>
        </p:nvSpPr>
        <p:spPr>
          <a:xfrm>
            <a:off x="7692666" y="3214892"/>
            <a:ext cx="-434892" cy="-669065"/>
          </a:xfrm>
          <a:prstGeom prst="line">
            <a:avLst/>
          </a:prstGeom>
          <a:noFill/>
          <a:ln w="12700">
            <a:solidFill>
              <a:srgbClr val="CBD6E2"/>
            </a:solidFill>
            <a:prstDash val="solid"/>
            <a:headEnd type="none"/>
            <a:tailEnd type="none"/>
          </a:ln>
        </p:spPr>
      </p:sp>
      <p:sp>
        <p:nvSpPr>
          <p:cNvPr id="50" name="Text 48"/>
          <p:cNvSpPr/>
          <p:nvPr/>
        </p:nvSpPr>
        <p:spPr>
          <a:xfrm>
            <a:off x="7383780" y="2825496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4D6482"/>
                </a:solidFill>
              </a:rPr>
              <a:t>92</a:t>
            </a:r>
            <a:endParaRPr lang="en-US" sz="600" dirty="0"/>
          </a:p>
        </p:txBody>
      </p:sp>
      <p:sp>
        <p:nvSpPr>
          <p:cNvPr id="51" name="Shape 49"/>
          <p:cNvSpPr/>
          <p:nvPr/>
        </p:nvSpPr>
        <p:spPr>
          <a:xfrm>
            <a:off x="7052110" y="2348685"/>
            <a:ext cx="-598532" cy="-353971"/>
          </a:xfrm>
          <a:prstGeom prst="line">
            <a:avLst/>
          </a:prstGeom>
          <a:noFill/>
          <a:ln w="12700">
            <a:solidFill>
              <a:srgbClr val="CBD6E2"/>
            </a:solidFill>
            <a:prstDash val="solid"/>
            <a:headEnd type="none"/>
            <a:tailEnd type="none"/>
          </a:ln>
        </p:spPr>
      </p:sp>
      <p:sp>
        <p:nvSpPr>
          <p:cNvPr id="52" name="Text 50"/>
          <p:cNvSpPr/>
          <p:nvPr/>
        </p:nvSpPr>
        <p:spPr>
          <a:xfrm>
            <a:off x="6661404" y="2116836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4D6482"/>
                </a:solidFill>
              </a:rPr>
              <a:t>87</a:t>
            </a:r>
            <a:endParaRPr lang="en-US" sz="600" dirty="0"/>
          </a:p>
        </p:txBody>
      </p:sp>
      <p:sp>
        <p:nvSpPr>
          <p:cNvPr id="53" name="Shape 51"/>
          <p:cNvSpPr/>
          <p:nvPr/>
        </p:nvSpPr>
        <p:spPr>
          <a:xfrm>
            <a:off x="1379172" y="2535989"/>
            <a:ext cx="1566768" cy="231542"/>
          </a:xfrm>
          <a:prstGeom prst="line">
            <a:avLst/>
          </a:prstGeom>
          <a:noFill/>
          <a:ln w="29210">
            <a:solidFill>
              <a:srgbClr val="A91317"/>
            </a:solidFill>
            <a:prstDash val="solid"/>
            <a:headEnd type="none"/>
            <a:tailEnd type="none"/>
          </a:ln>
        </p:spPr>
      </p:sp>
      <p:sp>
        <p:nvSpPr>
          <p:cNvPr id="54" name="Shape 52"/>
          <p:cNvSpPr/>
          <p:nvPr/>
        </p:nvSpPr>
        <p:spPr>
          <a:xfrm>
            <a:off x="3235997" y="2805818"/>
            <a:ext cx="1282118" cy="149084"/>
          </a:xfrm>
          <a:prstGeom prst="line">
            <a:avLst/>
          </a:prstGeom>
          <a:noFill/>
          <a:ln w="29210">
            <a:solidFill>
              <a:srgbClr val="A91317"/>
            </a:solidFill>
            <a:prstDash val="solid"/>
            <a:headEnd type="none"/>
            <a:tailEnd type="none"/>
          </a:ln>
        </p:spPr>
      </p:sp>
      <p:sp>
        <p:nvSpPr>
          <p:cNvPr id="55" name="Shape 53"/>
          <p:cNvSpPr/>
          <p:nvPr/>
        </p:nvSpPr>
        <p:spPr>
          <a:xfrm>
            <a:off x="4760822" y="3080986"/>
            <a:ext cx="1313996" cy="1473268"/>
          </a:xfrm>
          <a:prstGeom prst="line">
            <a:avLst/>
          </a:prstGeom>
          <a:noFill/>
          <a:ln w="29210">
            <a:solidFill>
              <a:srgbClr val="A91317"/>
            </a:solidFill>
            <a:prstDash val="solid"/>
            <a:headEnd type="none"/>
            <a:tailEnd type="none"/>
          </a:ln>
        </p:spPr>
      </p:sp>
      <p:sp>
        <p:nvSpPr>
          <p:cNvPr id="56" name="Text 54"/>
          <p:cNvSpPr/>
          <p:nvPr/>
        </p:nvSpPr>
        <p:spPr>
          <a:xfrm>
            <a:off x="1124712" y="2404872"/>
            <a:ext cx="219456" cy="219456"/>
          </a:xfrm>
          <a:prstGeom prst="ellipse">
            <a:avLst/>
          </a:prstGeom>
          <a:solidFill>
            <a:srgbClr val="FFF2D6"/>
          </a:solidFill>
          <a:ln w="15240">
            <a:solidFill>
              <a:srgbClr val="A9131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A91317"/>
                </a:solidFill>
              </a:rPr>
              <a:t>A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978408" y="2231136"/>
            <a:ext cx="594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70" dirty="0">
                <a:solidFill>
                  <a:srgbClr val="06265A"/>
                </a:solidFill>
              </a:rPr>
              <a:t>Arad</a:t>
            </a:r>
            <a:endParaRPr lang="en-US" sz="570" dirty="0"/>
          </a:p>
        </p:txBody>
      </p:sp>
      <p:sp>
        <p:nvSpPr>
          <p:cNvPr id="58" name="Text 56"/>
          <p:cNvSpPr/>
          <p:nvPr/>
        </p:nvSpPr>
        <p:spPr>
          <a:xfrm>
            <a:off x="1399032" y="1673352"/>
            <a:ext cx="219456" cy="21945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6265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6265A"/>
                </a:solidFill>
              </a:rPr>
              <a:t>Z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1252728" y="1499616"/>
            <a:ext cx="594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70" dirty="0">
                <a:solidFill>
                  <a:srgbClr val="06265A"/>
                </a:solidFill>
              </a:rPr>
              <a:t>Zerind</a:t>
            </a:r>
            <a:endParaRPr lang="en-US" sz="570" dirty="0"/>
          </a:p>
        </p:txBody>
      </p:sp>
      <p:sp>
        <p:nvSpPr>
          <p:cNvPr id="60" name="Text 58"/>
          <p:cNvSpPr/>
          <p:nvPr/>
        </p:nvSpPr>
        <p:spPr>
          <a:xfrm>
            <a:off x="1764792" y="1033272"/>
            <a:ext cx="219456" cy="21945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6265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6265A"/>
                </a:solidFill>
              </a:rPr>
              <a:t>O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1618488" y="859536"/>
            <a:ext cx="594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70" dirty="0">
                <a:solidFill>
                  <a:srgbClr val="06265A"/>
                </a:solidFill>
              </a:rPr>
              <a:t>Oradea</a:t>
            </a:r>
            <a:endParaRPr lang="en-US" sz="570" dirty="0"/>
          </a:p>
        </p:txBody>
      </p:sp>
      <p:sp>
        <p:nvSpPr>
          <p:cNvPr id="62" name="Text 60"/>
          <p:cNvSpPr/>
          <p:nvPr/>
        </p:nvSpPr>
        <p:spPr>
          <a:xfrm>
            <a:off x="1170432" y="3410712"/>
            <a:ext cx="219456" cy="21945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6265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6265A"/>
                </a:solidFill>
              </a:rPr>
              <a:t>T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1024128" y="3236976"/>
            <a:ext cx="594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70" dirty="0">
                <a:solidFill>
                  <a:srgbClr val="06265A"/>
                </a:solidFill>
              </a:rPr>
              <a:t>Timisoara</a:t>
            </a:r>
            <a:endParaRPr lang="en-US" sz="570" dirty="0"/>
          </a:p>
        </p:txBody>
      </p:sp>
      <p:sp>
        <p:nvSpPr>
          <p:cNvPr id="64" name="Text 62"/>
          <p:cNvSpPr/>
          <p:nvPr/>
        </p:nvSpPr>
        <p:spPr>
          <a:xfrm>
            <a:off x="2130552" y="3867912"/>
            <a:ext cx="219456" cy="21945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6265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6265A"/>
                </a:solidFill>
              </a:rPr>
              <a:t>L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1984248" y="3694176"/>
            <a:ext cx="594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70" dirty="0">
                <a:solidFill>
                  <a:srgbClr val="06265A"/>
                </a:solidFill>
              </a:rPr>
              <a:t>Lugoj</a:t>
            </a:r>
            <a:endParaRPr lang="en-US" sz="570" dirty="0"/>
          </a:p>
        </p:txBody>
      </p:sp>
      <p:sp>
        <p:nvSpPr>
          <p:cNvPr id="66" name="Text 64"/>
          <p:cNvSpPr/>
          <p:nvPr/>
        </p:nvSpPr>
        <p:spPr>
          <a:xfrm>
            <a:off x="2221992" y="4507992"/>
            <a:ext cx="219456" cy="21945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6265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6265A"/>
                </a:solidFill>
              </a:rPr>
              <a:t>M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2075688" y="4334256"/>
            <a:ext cx="594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70" dirty="0">
                <a:solidFill>
                  <a:srgbClr val="06265A"/>
                </a:solidFill>
              </a:rPr>
              <a:t>Mehadia</a:t>
            </a:r>
            <a:endParaRPr lang="en-US" sz="570" dirty="0"/>
          </a:p>
        </p:txBody>
      </p:sp>
      <p:sp>
        <p:nvSpPr>
          <p:cNvPr id="68" name="Text 66"/>
          <p:cNvSpPr/>
          <p:nvPr/>
        </p:nvSpPr>
        <p:spPr>
          <a:xfrm>
            <a:off x="2157984" y="5102352"/>
            <a:ext cx="219456" cy="21945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6265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6265A"/>
                </a:solidFill>
              </a:rPr>
              <a:t>D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2011680" y="4928616"/>
            <a:ext cx="594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70" dirty="0">
                <a:solidFill>
                  <a:srgbClr val="06265A"/>
                </a:solidFill>
              </a:rPr>
              <a:t>Drobeta</a:t>
            </a:r>
            <a:endParaRPr lang="en-US" sz="570" dirty="0"/>
          </a:p>
        </p:txBody>
      </p:sp>
      <p:sp>
        <p:nvSpPr>
          <p:cNvPr id="70" name="Text 68"/>
          <p:cNvSpPr/>
          <p:nvPr/>
        </p:nvSpPr>
        <p:spPr>
          <a:xfrm>
            <a:off x="2980944" y="2679192"/>
            <a:ext cx="219456" cy="21945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6265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6265A"/>
                </a:solidFill>
              </a:rPr>
              <a:t>S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2834640" y="2505456"/>
            <a:ext cx="594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70" dirty="0">
                <a:solidFill>
                  <a:srgbClr val="06265A"/>
                </a:solidFill>
              </a:rPr>
              <a:t>Sibiu</a:t>
            </a:r>
            <a:endParaRPr lang="en-US" sz="570" dirty="0"/>
          </a:p>
        </p:txBody>
      </p:sp>
      <p:sp>
        <p:nvSpPr>
          <p:cNvPr id="72" name="Text 70"/>
          <p:cNvSpPr/>
          <p:nvPr/>
        </p:nvSpPr>
        <p:spPr>
          <a:xfrm>
            <a:off x="4553712" y="2862072"/>
            <a:ext cx="219456" cy="21945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6265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6265A"/>
                </a:solidFill>
              </a:rPr>
              <a:t>F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4407408" y="2688336"/>
            <a:ext cx="594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70" dirty="0">
                <a:solidFill>
                  <a:srgbClr val="06265A"/>
                </a:solidFill>
              </a:rPr>
              <a:t>Fagaras</a:t>
            </a:r>
            <a:endParaRPr lang="en-US" sz="570" dirty="0"/>
          </a:p>
        </p:txBody>
      </p:sp>
      <p:sp>
        <p:nvSpPr>
          <p:cNvPr id="74" name="Text 72"/>
          <p:cNvSpPr/>
          <p:nvPr/>
        </p:nvSpPr>
        <p:spPr>
          <a:xfrm>
            <a:off x="3502152" y="3547872"/>
            <a:ext cx="219456" cy="21945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6265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6265A"/>
                </a:solidFill>
              </a:rPr>
              <a:t>R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3355848" y="3374136"/>
            <a:ext cx="594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70" dirty="0">
                <a:solidFill>
                  <a:srgbClr val="06265A"/>
                </a:solidFill>
              </a:rPr>
              <a:t>Rimnicu</a:t>
            </a:r>
            <a:endParaRPr lang="en-US" sz="570" dirty="0"/>
          </a:p>
        </p:txBody>
      </p:sp>
      <p:sp>
        <p:nvSpPr>
          <p:cNvPr id="76" name="Text 74"/>
          <p:cNvSpPr/>
          <p:nvPr/>
        </p:nvSpPr>
        <p:spPr>
          <a:xfrm>
            <a:off x="4873752" y="4142232"/>
            <a:ext cx="219456" cy="21945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6265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6265A"/>
                </a:solidFill>
              </a:rPr>
              <a:t>P</a:t>
            </a:r>
            <a:endParaRPr lang="en-US" sz="700" dirty="0"/>
          </a:p>
        </p:txBody>
      </p:sp>
      <p:sp>
        <p:nvSpPr>
          <p:cNvPr id="77" name="Text 75"/>
          <p:cNvSpPr/>
          <p:nvPr/>
        </p:nvSpPr>
        <p:spPr>
          <a:xfrm>
            <a:off x="4727448" y="3968496"/>
            <a:ext cx="594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70" dirty="0">
                <a:solidFill>
                  <a:srgbClr val="06265A"/>
                </a:solidFill>
              </a:rPr>
              <a:t>Pitesti</a:t>
            </a:r>
            <a:endParaRPr lang="en-US" sz="570" dirty="0"/>
          </a:p>
        </p:txBody>
      </p:sp>
      <p:sp>
        <p:nvSpPr>
          <p:cNvPr id="78" name="Text 76"/>
          <p:cNvSpPr/>
          <p:nvPr/>
        </p:nvSpPr>
        <p:spPr>
          <a:xfrm>
            <a:off x="3913632" y="5239512"/>
            <a:ext cx="219456" cy="21945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6265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6265A"/>
                </a:solidFill>
              </a:rPr>
              <a:t>C</a:t>
            </a:r>
            <a:endParaRPr lang="en-US" sz="700" dirty="0"/>
          </a:p>
        </p:txBody>
      </p:sp>
      <p:sp>
        <p:nvSpPr>
          <p:cNvPr id="79" name="Text 77"/>
          <p:cNvSpPr/>
          <p:nvPr/>
        </p:nvSpPr>
        <p:spPr>
          <a:xfrm>
            <a:off x="3767328" y="5065776"/>
            <a:ext cx="594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70" dirty="0">
                <a:solidFill>
                  <a:srgbClr val="06265A"/>
                </a:solidFill>
              </a:rPr>
              <a:t>Craiova</a:t>
            </a:r>
            <a:endParaRPr lang="en-US" sz="570" dirty="0"/>
          </a:p>
        </p:txBody>
      </p:sp>
      <p:sp>
        <p:nvSpPr>
          <p:cNvPr id="80" name="Text 78"/>
          <p:cNvSpPr/>
          <p:nvPr/>
        </p:nvSpPr>
        <p:spPr>
          <a:xfrm>
            <a:off x="6062472" y="4553712"/>
            <a:ext cx="219456" cy="219456"/>
          </a:xfrm>
          <a:prstGeom prst="ellipse">
            <a:avLst/>
          </a:prstGeom>
          <a:solidFill>
            <a:srgbClr val="FFF2D6"/>
          </a:solidFill>
          <a:ln w="15240">
            <a:solidFill>
              <a:srgbClr val="A9131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A91317"/>
                </a:solidFill>
              </a:rPr>
              <a:t>B</a:t>
            </a:r>
            <a:endParaRPr lang="en-US" sz="700" dirty="0"/>
          </a:p>
        </p:txBody>
      </p:sp>
      <p:sp>
        <p:nvSpPr>
          <p:cNvPr id="81" name="Text 79"/>
          <p:cNvSpPr/>
          <p:nvPr/>
        </p:nvSpPr>
        <p:spPr>
          <a:xfrm>
            <a:off x="5916168" y="4379976"/>
            <a:ext cx="594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70" dirty="0">
                <a:solidFill>
                  <a:srgbClr val="06265A"/>
                </a:solidFill>
              </a:rPr>
              <a:t>Bucharest</a:t>
            </a:r>
            <a:endParaRPr lang="en-US" sz="570" dirty="0"/>
          </a:p>
        </p:txBody>
      </p:sp>
      <p:sp>
        <p:nvSpPr>
          <p:cNvPr id="82" name="Text 80"/>
          <p:cNvSpPr/>
          <p:nvPr/>
        </p:nvSpPr>
        <p:spPr>
          <a:xfrm>
            <a:off x="5742432" y="5468112"/>
            <a:ext cx="219456" cy="21945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6265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6265A"/>
                </a:solidFill>
              </a:rPr>
              <a:t>G</a:t>
            </a:r>
            <a:endParaRPr lang="en-US" sz="700" dirty="0"/>
          </a:p>
        </p:txBody>
      </p:sp>
      <p:sp>
        <p:nvSpPr>
          <p:cNvPr id="83" name="Text 81"/>
          <p:cNvSpPr/>
          <p:nvPr/>
        </p:nvSpPr>
        <p:spPr>
          <a:xfrm>
            <a:off x="5596128" y="5294376"/>
            <a:ext cx="594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70" dirty="0">
                <a:solidFill>
                  <a:srgbClr val="06265A"/>
                </a:solidFill>
              </a:rPr>
              <a:t>Giurgiu</a:t>
            </a:r>
            <a:endParaRPr lang="en-US" sz="570" dirty="0"/>
          </a:p>
        </p:txBody>
      </p:sp>
      <p:sp>
        <p:nvSpPr>
          <p:cNvPr id="84" name="Text 82"/>
          <p:cNvSpPr/>
          <p:nvPr/>
        </p:nvSpPr>
        <p:spPr>
          <a:xfrm>
            <a:off x="7068312" y="4325112"/>
            <a:ext cx="219456" cy="21945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6265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6265A"/>
                </a:solidFill>
              </a:rPr>
              <a:t>U</a:t>
            </a:r>
            <a:endParaRPr lang="en-US" sz="700" dirty="0"/>
          </a:p>
        </p:txBody>
      </p:sp>
      <p:sp>
        <p:nvSpPr>
          <p:cNvPr id="85" name="Text 83"/>
          <p:cNvSpPr/>
          <p:nvPr/>
        </p:nvSpPr>
        <p:spPr>
          <a:xfrm>
            <a:off x="6922008" y="4151376"/>
            <a:ext cx="594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70" dirty="0">
                <a:solidFill>
                  <a:srgbClr val="06265A"/>
                </a:solidFill>
              </a:rPr>
              <a:t>Urziceni</a:t>
            </a:r>
            <a:endParaRPr lang="en-US" sz="570" dirty="0"/>
          </a:p>
        </p:txBody>
      </p:sp>
      <p:sp>
        <p:nvSpPr>
          <p:cNvPr id="86" name="Text 84"/>
          <p:cNvSpPr/>
          <p:nvPr/>
        </p:nvSpPr>
        <p:spPr>
          <a:xfrm>
            <a:off x="8211312" y="4370832"/>
            <a:ext cx="219456" cy="21945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6265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6265A"/>
                </a:solidFill>
              </a:rPr>
              <a:t>H</a:t>
            </a:r>
            <a:endParaRPr lang="en-US" sz="700" dirty="0"/>
          </a:p>
        </p:txBody>
      </p:sp>
      <p:sp>
        <p:nvSpPr>
          <p:cNvPr id="87" name="Text 85"/>
          <p:cNvSpPr/>
          <p:nvPr/>
        </p:nvSpPr>
        <p:spPr>
          <a:xfrm>
            <a:off x="8065008" y="4197096"/>
            <a:ext cx="594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70" dirty="0">
                <a:solidFill>
                  <a:srgbClr val="06265A"/>
                </a:solidFill>
              </a:rPr>
              <a:t>Hirsova</a:t>
            </a:r>
            <a:endParaRPr lang="en-US" sz="570" dirty="0"/>
          </a:p>
        </p:txBody>
      </p:sp>
      <p:sp>
        <p:nvSpPr>
          <p:cNvPr id="88" name="Text 86"/>
          <p:cNvSpPr/>
          <p:nvPr/>
        </p:nvSpPr>
        <p:spPr>
          <a:xfrm>
            <a:off x="8714232" y="5175504"/>
            <a:ext cx="219456" cy="21945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6265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6265A"/>
                </a:solidFill>
              </a:rPr>
              <a:t>E</a:t>
            </a:r>
            <a:endParaRPr lang="en-US" sz="700" dirty="0"/>
          </a:p>
        </p:txBody>
      </p:sp>
      <p:sp>
        <p:nvSpPr>
          <p:cNvPr id="89" name="Text 87"/>
          <p:cNvSpPr/>
          <p:nvPr/>
        </p:nvSpPr>
        <p:spPr>
          <a:xfrm>
            <a:off x="8567928" y="5001768"/>
            <a:ext cx="594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70" dirty="0">
                <a:solidFill>
                  <a:srgbClr val="06265A"/>
                </a:solidFill>
              </a:rPr>
              <a:t>Eforie</a:t>
            </a:r>
            <a:endParaRPr lang="en-US" sz="570" dirty="0"/>
          </a:p>
        </p:txBody>
      </p:sp>
      <p:sp>
        <p:nvSpPr>
          <p:cNvPr id="90" name="Text 88"/>
          <p:cNvSpPr/>
          <p:nvPr/>
        </p:nvSpPr>
        <p:spPr>
          <a:xfrm>
            <a:off x="7662672" y="3227832"/>
            <a:ext cx="219456" cy="21945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6265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6265A"/>
                </a:solidFill>
              </a:rPr>
              <a:t>V</a:t>
            </a:r>
            <a:endParaRPr lang="en-US" sz="700" dirty="0"/>
          </a:p>
        </p:txBody>
      </p:sp>
      <p:sp>
        <p:nvSpPr>
          <p:cNvPr id="91" name="Text 89"/>
          <p:cNvSpPr/>
          <p:nvPr/>
        </p:nvSpPr>
        <p:spPr>
          <a:xfrm>
            <a:off x="7516368" y="3054096"/>
            <a:ext cx="594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70" dirty="0">
                <a:solidFill>
                  <a:srgbClr val="06265A"/>
                </a:solidFill>
              </a:rPr>
              <a:t>Vaslui</a:t>
            </a:r>
            <a:endParaRPr lang="en-US" sz="570" dirty="0"/>
          </a:p>
        </p:txBody>
      </p:sp>
      <p:sp>
        <p:nvSpPr>
          <p:cNvPr id="92" name="Text 90"/>
          <p:cNvSpPr/>
          <p:nvPr/>
        </p:nvSpPr>
        <p:spPr>
          <a:xfrm>
            <a:off x="7068312" y="2313432"/>
            <a:ext cx="219456" cy="21945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6265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6265A"/>
                </a:solidFill>
              </a:rPr>
              <a:t>I</a:t>
            </a:r>
            <a:endParaRPr lang="en-US" sz="700" dirty="0"/>
          </a:p>
        </p:txBody>
      </p:sp>
      <p:sp>
        <p:nvSpPr>
          <p:cNvPr id="93" name="Text 91"/>
          <p:cNvSpPr/>
          <p:nvPr/>
        </p:nvSpPr>
        <p:spPr>
          <a:xfrm>
            <a:off x="6922008" y="2139696"/>
            <a:ext cx="594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70" dirty="0">
                <a:solidFill>
                  <a:srgbClr val="06265A"/>
                </a:solidFill>
              </a:rPr>
              <a:t>Iasi</a:t>
            </a:r>
            <a:endParaRPr lang="en-US" sz="570" dirty="0"/>
          </a:p>
        </p:txBody>
      </p:sp>
      <p:sp>
        <p:nvSpPr>
          <p:cNvPr id="94" name="Text 92"/>
          <p:cNvSpPr/>
          <p:nvPr/>
        </p:nvSpPr>
        <p:spPr>
          <a:xfrm>
            <a:off x="6217920" y="1810512"/>
            <a:ext cx="219456" cy="21945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6265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6265A"/>
                </a:solidFill>
              </a:rPr>
              <a:t>N</a:t>
            </a:r>
            <a:endParaRPr lang="en-US" sz="700" dirty="0"/>
          </a:p>
        </p:txBody>
      </p:sp>
      <p:sp>
        <p:nvSpPr>
          <p:cNvPr id="95" name="Text 93"/>
          <p:cNvSpPr/>
          <p:nvPr/>
        </p:nvSpPr>
        <p:spPr>
          <a:xfrm>
            <a:off x="6071616" y="1636776"/>
            <a:ext cx="594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70" dirty="0">
                <a:solidFill>
                  <a:srgbClr val="06265A"/>
                </a:solidFill>
              </a:rPr>
              <a:t>Neamt</a:t>
            </a:r>
            <a:endParaRPr lang="en-US" sz="570" dirty="0"/>
          </a:p>
        </p:txBody>
      </p:sp>
      <p:sp>
        <p:nvSpPr>
          <p:cNvPr id="96" name="Text 94"/>
          <p:cNvSpPr/>
          <p:nvPr/>
        </p:nvSpPr>
        <p:spPr>
          <a:xfrm>
            <a:off x="914400" y="5806440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1317"/>
                </a:solidFill>
              </a:rPr>
              <a:t>Example highlighted path: Arad → Sibiu → Fagaras → Bucharest</a:t>
            </a:r>
            <a:endParaRPr lang="en-US" sz="1000" dirty="0"/>
          </a:p>
        </p:txBody>
      </p:sp>
      <p:sp>
        <p:nvSpPr>
          <p:cNvPr id="97" name="Shape 95"/>
          <p:cNvSpPr/>
          <p:nvPr/>
        </p:nvSpPr>
        <p:spPr>
          <a:xfrm>
            <a:off x="8961120" y="1417320"/>
            <a:ext cx="2697480" cy="4343400"/>
          </a:xfrm>
          <a:prstGeom prst="roundRect">
            <a:avLst/>
          </a:prstGeom>
          <a:solidFill>
            <a:srgbClr val="FFFFFF">
              <a:alpha val="95000"/>
            </a:srgbClr>
          </a:solidFill>
          <a:ln w="15240">
            <a:solidFill>
              <a:srgbClr val="143764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98" name="Text 96"/>
          <p:cNvSpPr/>
          <p:nvPr/>
        </p:nvSpPr>
        <p:spPr>
          <a:xfrm>
            <a:off x="9189720" y="16276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265A"/>
                </a:solidFill>
              </a:rPr>
              <a:t>Uninformed / heuristic strategies</a:t>
            </a:r>
            <a:endParaRPr lang="en-US" sz="1300" dirty="0"/>
          </a:p>
        </p:txBody>
      </p:sp>
      <p:sp>
        <p:nvSpPr>
          <p:cNvPr id="99" name="Shape 97"/>
          <p:cNvSpPr/>
          <p:nvPr/>
        </p:nvSpPr>
        <p:spPr>
          <a:xfrm>
            <a:off x="9189720" y="2057400"/>
            <a:ext cx="2240280" cy="475488"/>
          </a:xfrm>
          <a:prstGeom prst="roundRect">
            <a:avLst/>
          </a:prstGeom>
          <a:solidFill>
            <a:srgbClr val="EAF2FF"/>
          </a:solidFill>
          <a:ln w="10160">
            <a:solidFill>
              <a:srgbClr val="2F80ED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9299448" y="2103120"/>
            <a:ext cx="868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06265A"/>
                </a:solidFill>
              </a:rPr>
              <a:t>Breadth-first</a:t>
            </a:r>
            <a:endParaRPr lang="en-US" sz="870" dirty="0"/>
          </a:p>
        </p:txBody>
      </p:sp>
      <p:sp>
        <p:nvSpPr>
          <p:cNvPr id="101" name="Text 99"/>
          <p:cNvSpPr/>
          <p:nvPr/>
        </p:nvSpPr>
        <p:spPr>
          <a:xfrm>
            <a:off x="10113264" y="2103120"/>
            <a:ext cx="1051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0000FF"/>
                </a:solidFill>
              </a:rPr>
              <a:t>f(n)=depth(n)</a:t>
            </a:r>
            <a:endParaRPr lang="en-US" sz="820" dirty="0"/>
          </a:p>
        </p:txBody>
      </p:sp>
      <p:sp>
        <p:nvSpPr>
          <p:cNvPr id="102" name="Text 100"/>
          <p:cNvSpPr/>
          <p:nvPr/>
        </p:nvSpPr>
        <p:spPr>
          <a:xfrm>
            <a:off x="9299448" y="2304288"/>
            <a:ext cx="1965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4D6482"/>
                </a:solidFill>
              </a:rPr>
              <a:t>shallowest first</a:t>
            </a:r>
            <a:endParaRPr lang="en-US" sz="740" dirty="0"/>
          </a:p>
        </p:txBody>
      </p:sp>
      <p:sp>
        <p:nvSpPr>
          <p:cNvPr id="103" name="Shape 101"/>
          <p:cNvSpPr/>
          <p:nvPr/>
        </p:nvSpPr>
        <p:spPr>
          <a:xfrm>
            <a:off x="9189720" y="2770632"/>
            <a:ext cx="2240280" cy="475488"/>
          </a:xfrm>
          <a:prstGeom prst="roundRect">
            <a:avLst/>
          </a:prstGeom>
          <a:solidFill>
            <a:srgbClr val="FFF5DF"/>
          </a:solidFill>
          <a:ln w="10160">
            <a:solidFill>
              <a:srgbClr val="F6A21A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9299448" y="2816352"/>
            <a:ext cx="868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06265A"/>
                </a:solidFill>
              </a:rPr>
              <a:t>Uniform-cost</a:t>
            </a:r>
            <a:endParaRPr lang="en-US" sz="870" dirty="0"/>
          </a:p>
        </p:txBody>
      </p:sp>
      <p:sp>
        <p:nvSpPr>
          <p:cNvPr id="105" name="Text 103"/>
          <p:cNvSpPr/>
          <p:nvPr/>
        </p:nvSpPr>
        <p:spPr>
          <a:xfrm>
            <a:off x="10113264" y="2816352"/>
            <a:ext cx="1051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0000FF"/>
                </a:solidFill>
              </a:rPr>
              <a:t>f(n)=g(n)</a:t>
            </a:r>
            <a:endParaRPr lang="en-US" sz="820" dirty="0"/>
          </a:p>
        </p:txBody>
      </p:sp>
      <p:sp>
        <p:nvSpPr>
          <p:cNvPr id="106" name="Text 104"/>
          <p:cNvSpPr/>
          <p:nvPr/>
        </p:nvSpPr>
        <p:spPr>
          <a:xfrm>
            <a:off x="9299448" y="3017520"/>
            <a:ext cx="1965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4D6482"/>
                </a:solidFill>
              </a:rPr>
              <a:t>lowest path cost</a:t>
            </a:r>
            <a:endParaRPr lang="en-US" sz="740" dirty="0"/>
          </a:p>
        </p:txBody>
      </p:sp>
      <p:sp>
        <p:nvSpPr>
          <p:cNvPr id="107" name="Shape 105"/>
          <p:cNvSpPr/>
          <p:nvPr/>
        </p:nvSpPr>
        <p:spPr>
          <a:xfrm>
            <a:off x="9189720" y="3483864"/>
            <a:ext cx="2240280" cy="475488"/>
          </a:xfrm>
          <a:prstGeom prst="roundRect">
            <a:avLst/>
          </a:prstGeom>
          <a:solidFill>
            <a:srgbClr val="EAF2FF"/>
          </a:solidFill>
          <a:ln w="10160">
            <a:solidFill>
              <a:srgbClr val="2F80ED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9299448" y="3529584"/>
            <a:ext cx="868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06265A"/>
                </a:solidFill>
              </a:rPr>
              <a:t>Depth-first</a:t>
            </a:r>
            <a:endParaRPr lang="en-US" sz="870" dirty="0"/>
          </a:p>
        </p:txBody>
      </p:sp>
      <p:sp>
        <p:nvSpPr>
          <p:cNvPr id="109" name="Text 107"/>
          <p:cNvSpPr/>
          <p:nvPr/>
        </p:nvSpPr>
        <p:spPr>
          <a:xfrm>
            <a:off x="10113264" y="3529584"/>
            <a:ext cx="1051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0000FF"/>
                </a:solidFill>
              </a:rPr>
              <a:t>f(n)=-depth(n)</a:t>
            </a:r>
            <a:endParaRPr lang="en-US" sz="820" dirty="0"/>
          </a:p>
        </p:txBody>
      </p:sp>
      <p:sp>
        <p:nvSpPr>
          <p:cNvPr id="110" name="Text 108"/>
          <p:cNvSpPr/>
          <p:nvPr/>
        </p:nvSpPr>
        <p:spPr>
          <a:xfrm>
            <a:off x="9299448" y="3730752"/>
            <a:ext cx="1965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4D6482"/>
                </a:solidFill>
              </a:rPr>
              <a:t>deepest first</a:t>
            </a:r>
            <a:endParaRPr lang="en-US" sz="740" dirty="0"/>
          </a:p>
        </p:txBody>
      </p:sp>
      <p:sp>
        <p:nvSpPr>
          <p:cNvPr id="111" name="Shape 109"/>
          <p:cNvSpPr/>
          <p:nvPr/>
        </p:nvSpPr>
        <p:spPr>
          <a:xfrm>
            <a:off x="9189720" y="4197096"/>
            <a:ext cx="2240280" cy="475488"/>
          </a:xfrm>
          <a:prstGeom prst="roundRect">
            <a:avLst/>
          </a:prstGeom>
          <a:solidFill>
            <a:srgbClr val="FFF5DF"/>
          </a:solidFill>
          <a:ln w="10160">
            <a:solidFill>
              <a:srgbClr val="F6A21A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9299448" y="4242816"/>
            <a:ext cx="868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06265A"/>
                </a:solidFill>
              </a:rPr>
              <a:t>Greedy</a:t>
            </a:r>
            <a:endParaRPr lang="en-US" sz="870" dirty="0"/>
          </a:p>
        </p:txBody>
      </p:sp>
      <p:sp>
        <p:nvSpPr>
          <p:cNvPr id="113" name="Text 111"/>
          <p:cNvSpPr/>
          <p:nvPr/>
        </p:nvSpPr>
        <p:spPr>
          <a:xfrm>
            <a:off x="10113264" y="4242816"/>
            <a:ext cx="1051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0000FF"/>
                </a:solidFill>
              </a:rPr>
              <a:t>f(n)=h(n)</a:t>
            </a:r>
            <a:endParaRPr lang="en-US" sz="820" dirty="0"/>
          </a:p>
        </p:txBody>
      </p:sp>
      <p:sp>
        <p:nvSpPr>
          <p:cNvPr id="114" name="Text 112"/>
          <p:cNvSpPr/>
          <p:nvPr/>
        </p:nvSpPr>
        <p:spPr>
          <a:xfrm>
            <a:off x="9299448" y="4443984"/>
            <a:ext cx="1965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4D6482"/>
                </a:solidFill>
              </a:rPr>
              <a:t>lowest estimate</a:t>
            </a:r>
            <a:endParaRPr lang="en-US" sz="740" dirty="0"/>
          </a:p>
        </p:txBody>
      </p:sp>
      <p:sp>
        <p:nvSpPr>
          <p:cNvPr id="115" name="Text 113"/>
          <p:cNvSpPr/>
          <p:nvPr/>
        </p:nvSpPr>
        <p:spPr>
          <a:xfrm>
            <a:off x="9125712" y="5230368"/>
            <a:ext cx="2395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265A"/>
                </a:solidFill>
              </a:rPr>
              <a:t>The search tree changes by algorithm; the Romania state-space graph stays the same.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F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19456" y="219456"/>
            <a:ext cx="11759184" cy="749808"/>
          </a:xfrm>
          <a:prstGeom prst="rect">
            <a:avLst/>
          </a:prstGeom>
          <a:solidFill>
            <a:srgbClr val="143764"/>
          </a:solidFill>
          <a:ln w="12700">
            <a:solidFill>
              <a:srgbClr val="1437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38404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Correction: Search-Tree Path Labels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19456" y="969264"/>
            <a:ext cx="11759184" cy="91440"/>
          </a:xfrm>
          <a:prstGeom prst="rect">
            <a:avLst/>
          </a:prstGeom>
          <a:solidFill>
            <a:srgbClr val="F6A21A"/>
          </a:solidFill>
          <a:ln w="12700">
            <a:solidFill>
              <a:srgbClr val="F6A2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5624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6482"/>
                </a:solidFill>
              </a:rPr>
              <a:t>CSU Channel Islands · Department of Computer Science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802368" y="6556248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D6482"/>
                </a:solidFill>
              </a:rPr>
              <a:t>COMP 469 · Chapter 3 · Sections 3.1-3.4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" y="1417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A91317"/>
                </a:solidFill>
              </a:rPr>
              <a:t>Bug fixed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18745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6265A"/>
                </a:solidFill>
              </a:rPr>
              <a:t>The highlighted search-tree branch now matches the highlighted state-space path: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2331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A91317"/>
                </a:solidFill>
              </a:rPr>
              <a:t>S → d → e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822960" y="32461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6265A"/>
                </a:solidFill>
              </a:rPr>
              <a:t>Why this matters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3639312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6265A"/>
                </a:solidFill>
              </a:rPr>
              <a:t>A search-tree node is a path. If the selected graph path is S → d → e, then the second highlighted search-tree node under d must be e, not an unrelated successor. Repeated state labels are allowed elsewhere, but the highlighted branch must be internally consistent.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728298" y="2172885"/>
            <a:ext cx="-460436" cy="591989"/>
          </a:xfrm>
          <a:prstGeom prst="line">
            <a:avLst/>
          </a:prstGeom>
          <a:noFill/>
          <a:ln w="31750">
            <a:solidFill>
              <a:srgbClr val="A91317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7275239" y="2989709"/>
            <a:ext cx="537122" cy="604262"/>
          </a:xfrm>
          <a:prstGeom prst="line">
            <a:avLst/>
          </a:prstGeom>
          <a:noFill/>
          <a:ln w="31750">
            <a:solidFill>
              <a:srgbClr val="A91317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7915319" y="2166749"/>
            <a:ext cx="537122" cy="604262"/>
          </a:xfrm>
          <a:prstGeom prst="line">
            <a:avLst/>
          </a:prstGeom>
          <a:noFill/>
          <a:ln w="13970">
            <a:solidFill>
              <a:srgbClr val="CBD6E2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7092380" y="2998966"/>
            <a:ext cx="-423041" cy="585749"/>
          </a:xfrm>
          <a:prstGeom prst="line">
            <a:avLst/>
          </a:prstGeom>
          <a:noFill/>
          <a:ln w="13970">
            <a:solidFill>
              <a:srgbClr val="CBD6E2"/>
            </a:solidFill>
            <a:prstDash val="solid"/>
            <a:headEnd type="none"/>
            <a:tailEnd type="none"/>
          </a:ln>
        </p:spPr>
      </p:sp>
      <p:sp>
        <p:nvSpPr>
          <p:cNvPr id="16" name="Text 14"/>
          <p:cNvSpPr/>
          <p:nvPr/>
        </p:nvSpPr>
        <p:spPr>
          <a:xfrm>
            <a:off x="7653528" y="1892808"/>
            <a:ext cx="329184" cy="329184"/>
          </a:xfrm>
          <a:prstGeom prst="ellipse">
            <a:avLst/>
          </a:prstGeom>
          <a:solidFill>
            <a:srgbClr val="FFF2D6"/>
          </a:solidFill>
          <a:ln w="15240">
            <a:solidFill>
              <a:srgbClr val="A9131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91317"/>
                </a:solidFill>
              </a:rPr>
              <a:t>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013448" y="2715768"/>
            <a:ext cx="329184" cy="329184"/>
          </a:xfrm>
          <a:prstGeom prst="ellipse">
            <a:avLst/>
          </a:prstGeom>
          <a:solidFill>
            <a:srgbClr val="FFF2D6"/>
          </a:solidFill>
          <a:ln w="15240">
            <a:solidFill>
              <a:srgbClr val="A9131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91317"/>
                </a:solidFill>
              </a:rPr>
              <a:t>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44968" y="3538728"/>
            <a:ext cx="329184" cy="329184"/>
          </a:xfrm>
          <a:prstGeom prst="ellipse">
            <a:avLst/>
          </a:prstGeom>
          <a:solidFill>
            <a:srgbClr val="FFF2D6"/>
          </a:solidFill>
          <a:ln w="15240">
            <a:solidFill>
              <a:srgbClr val="A9131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91317"/>
                </a:solidFill>
              </a:rPr>
              <a:t>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385048" y="2715768"/>
            <a:ext cx="329184" cy="329184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6265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265A"/>
                </a:solidFill>
              </a:rPr>
              <a:t>p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19088" y="3538728"/>
            <a:ext cx="329184" cy="329184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6265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265A"/>
                </a:solidFill>
              </a:rPr>
              <a:t>b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92240" y="45720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91317"/>
                </a:solidFill>
              </a:rPr>
              <a:t>Highlighted branch is now coherent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CSU Channel Islands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State Space Search Visuals</dc:title>
  <dc:subject>State-space graph vs search tree and Romania search algorithm visuals</dc:subject>
  <dc:creator>OpenAI</dc:creator>
  <cp:lastModifiedBy>OpenAI</cp:lastModifiedBy>
  <cp:revision>1</cp:revision>
  <dcterms:created xsi:type="dcterms:W3CDTF">2026-08-02T07:43:11Z</dcterms:created>
  <dcterms:modified xsi:type="dcterms:W3CDTF">2026-08-02T07:43:11Z</dcterms:modified>
</cp:coreProperties>
</file>