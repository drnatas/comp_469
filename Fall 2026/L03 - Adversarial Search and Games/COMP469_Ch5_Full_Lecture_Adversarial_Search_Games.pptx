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</p:sldIdLst>
  <p:notesMasterIdLst>
    <p:notesMasterId r:id="rId8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move: Open by asking students to name a game where they can plan without worrying about an opponent, then one where the opponent actively adapts. This contrast is the heart of Chapter 5.
Analogy: In Chapter 3, search was like using GPS on a map. In Chapter 5, the map can fight back. Every path you choose gives the other side a chance to redirect the outcome.
Gotcha to flag early: A random event is not the same as an adversary. Rain does not try to beat you; a chess opponent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pacing map. Students can feel lost because Chapter 5 contains many algorithms. Keep returning to one simple question: if another agent can choose outcomes against me, how do I decide?
Teaching note: Tell students the chapter is not only about games. Games are clean laboratories for multi-agent decision making, negotiation, security, auctions, robot teams, and adversarial ML.
Gotcha: Do not let students think minimax is only for tic-tac-toe. Tic-tac-toe is the microscope; the concepts scale to much harder domains.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students that this chapter has three levels of mastery. First, vocabulary: MAX, MIN, utility, terminal, alpha, beta. Second, tracing: can they compute the numbers on a tree? Third, engineering judgment: can they choose minimax, alpha-beta, heuristic search, MCTS, or belief-state reasoning for a given game?
Analogy: Vocabulary is knowing the pieces on a chess board. Tracing is playing a legal game. Engineering judgment is choosing a strategy under a clock.
Gotcha: Students often memorize the pseudocode without understanding what the numbers mean. Emphasize that every backed-up value is a promise about what optimal play will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familiar games: tic-tac-toe, Connect Four, chess, Go, poker. Ask: Which are fully observable? Which include chance? Which require bluffing?
Analogy: Games are like wind tunnels for AI. Airplane engineers do not begin by flying into a hurricane; they test principles in controlled conditions. Game AI does the same for decision making.
Gotcha: A game can be easy for humans but hard computationally. Students should not equate familiarity with algorithmic simplicity.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to show the chapter's progression. First we assume deterministic, two-player, zero-sum, turn-taking, perfect-information games. Then the chapter broadens: multiple players, time limits, chance events, hidden information, and algorithmic limits.
Teaching note: Keep writing the assumptions on the board. Students understand the algorithms better when they see which assumption each one depends on.
Gotcha: Minimax is not wrong when assumptions fail; it is just solving a different problem than the one you actually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students: Is a slot machine adversarial? Is poker adversarial? Is traffic adversarial? This opens discussion about modeling choices. Traffic may contain many agents, but sometimes we model it statistically; other times we model strategic drivers explicitly.
Analogy: Rain is uncertainty. An opponent is uncertainty with goals.
Gotcha: Students may say 'MIN is random.' In minimax, MIN is not random; MIN is assumed to choose the move that is worst for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modeling is a design choice, not a law of nature. In some contexts, another person is best modeled statistically; in others, strategically.
Teaching activity: Put five examples on the board and ask students to classify them. Then challenge classifications. Example: traffic can be aggregate flow, nondeterministic noise, or multi-agent strategy depending on the goal.
Gotcha: The agent's model does not have to represent every real-world detail. It only needs enough structure to choose actions effectively.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names the assumptions students should memorize. Write them as a checklist. For any game, students can ask: deterministic? two-player? turn-taking? perfect information? zero-sum?
Analogy: These assumptions are like lab conditions. We start in a clean lab before moving to the messy field.
Gotcha: Perfect information does not mean the future is known. It means the current state is fully observable.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this directly to students' Python labs. A Game class usually has methods actions(state), result(state, action), terminal(state), utility(state, player), and to_move(state).
Analogy: This API is the contract between the game rules and the search algorithm. The search algorithm does not need to know what a rook or a checker is; it only asks for legal actions and resulting states.
Gotcha: UTILITY is for terminal states. A heuristic EVAL is for non-terminal states when we cut off search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often confuse these. The game rules define a graph of states. The algorithm builds a tree of possible futures from where we are now.
Analogy: The city road map is a graph. Your GPS route exploration from home is a tree of possible trips. The same intersection can appear in many planned routes.
Gotcha: A search node is not necessarily a unique state. It is a path plus a state. This matters for repeated states and transposition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slowly. Point to the root, then one child, then one grandchild. Ask students: whose turn is it on each level? What does a leaf utility mean?
Analogy: The tree is a script of all possible conversations between two players. MAX says one move, MIN replies, MAX replies, and so on.
Gotcha: The utility is from MAX's perspective unless otherwise stated. A value of -1 is not 'bad for both'; it is bad for MAX and good for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 quick calculation: if each position has 10 legal moves and you look ahead 6 ply, that is roughly one million leaves. Then raise branching factor to chess-like values.
Analogy: Searching a game tree is like asking 'what if?' repeatedly. A few 'what ifs' are easy; millions are not.
Gotcha: Students may think faster computers solve the whole problem. Exponential growth usually outruns hardware improvements.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Clarify that MAX and MIN are roles, not moral labels. MAX is the player whose utility scale we are using. MIN's utility is the negative or opposite.
Analogy: In a debate tournament, your opponent is not 'evil' for refuting your argument. Their objective conflicts with yours.
Gotcha: Some students think MIN chooses the smallest number for itself. In zero-sum form, the numbers shown are for MAX, so MIN chooses the smallest MAX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prevents later confusion about evaluation functions. Terminal utility is exact. Heuristic evaluation is an estimate.
Analogy: Utility is the scoreboard after the game ends. A heuristic is the commentator saying who looks ahead before the game is over.
Gotcha: Students often treat all values as probabilities. In minimax, any ordered utility scale can work. In expectiminimax, the scale matters because averages are computed.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chess opening example. A move like e4 is not just a move; it opens a family of responses depending on what Black does.
Analogy: It is like planning a conversation with a difficult interviewer. You prepare branches: if they ask about project A, I answer this; if they challenge method B, I answer that.
Gotcha: Do not say minimax 'predicts' the exact opponent move. It assumes the opponent will choose the reply that leads to the lowest MAX utility.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note: Students now have the formal game setup. This section answers how to choose an optimal move.
Teaching analogy: Think of minimax as a debate tree where each side picks the strongest response available to them.
Gotcha: The word optimal always assumes a model of the opponent. Here the model is: the opponent plays optimally to minimize MAX's utility.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students should remember. The definition is recursive and simple.
Analogy: Imagine each node asking its children, 'What score will happen from you?' MAX picks the loudest good news; MIN picks the worst news for MAX.
Gotcha: Emphasize that values are backed up from the leaves. We do not know the root value until enough descendant values have been evaluated.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figure exactly. Ask: Why is B worth 3 instead of 12? Because MIN gets to choose among B's children. Why is A worth 3? Because MAX chooses among B, C, and D.
Analogy: Each parent lets the player to move pick the child that best serves that player's goal.
Gotcha: Students may incorrectly average the leaves. Minimax does not average; it assumes strategic choice, not random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rush to the root. Force the class to start at the leaves. This develops the right mental model for recursive algorithms.
Analogy: You cannot grade a tournament bracket until the games at the bottom have scores.
Gotcha: Students often try to choose root action immediately by looking at the largest leaf, e.g., 14. That is wrong because MIN may prevent that leaf.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perspective. The number at a MIN node is not what MIN 'gets' if they have a separate utility scale. It is the resulting MAX value after MIN chooses.
Analogy: MIN is the gatekeeper who sends MAX down the least favorable hallway.
Gotcha: Students may select 12 under B because it is the largest leaf. Ask: who moves at B? MIN, not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why action a3 is not selected despite having a leaf value of 14. The answer is that MIN can reply to force value 2.
Analogy: A tempting path with a hidden trap is not a guaranteed win. Minimax values guarantees under adversarial response.
Gotcha: The chosen move is not necessarily the move with the best possible outcome; it is the move with the best worst-case outcome against optimal opposition.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as a quick retrieval practice. Have students work individually first, then compare with a neighbor.
Suggested answer: left MIN = -2, middle MIN = 1, right MIN = 0, root MAX = 1, choose the middle branch.
Gotcha: If a student picks 9 because it is the largest leaf, ask them which player controls the parent of that leaf.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image for algorithmic structure, not for line-by-line memorization. Students should identify base case, recursive call, comparison, and returned move.
Analogy: A recursive search is like sending scouts down every path. Each scout reports a score back to the parent. The parent chooses according to whose turn it is.
Gotcha: A frequent bug is using max at every level. That makes the opponent cooperate, which is not adversarial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key reality check. Even if each node is cheap, the number of nodes explodes quickly.
Analogy: If every decision gives three new roads, six decisions later you have 729 possible paths if you count all complete paths. That explosion is why we need pruning and heuristics.
Gotcha: Students may focus on depth only. Branching factor matters just as much. Go is hard not because games are long only, but because there are many legal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great discussion slide. Ask students whether they should play the same way against a grandmaster and a beginner.
Analogy: In tennis, a safe strategy against a pro may not exploit a beginner's weak backhand.
Gotcha: Do not present minimax as a model of human psychology. It is a worst-case strategic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with a simple vector. If C chooses between &lt;1,2,6&gt; and &lt;4,2,3&gt;, C chooses the first because 6 &gt; 3, even though A would prefer the second.
Analogy: In a group project negotiation, every person has their own scoreboard. A move that helps one player may be neutral or harmful to others.
Gotcha: Do not collapse multiplayer games into simple MAX/MIN unless there is a true zero-sum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figure to show that the generalization is technically simple but conceptually richer.
Teaching move: Pick one internal node and ask which component students should compare.
Gotcha: Students may compare the sum of utilities. That is not the default. Each player chooses according to their own utility component unless the game explicitly defines a social welfare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helps students connect game search to game theory. Alliances are not magic; they can fall out of utility structures.
Analogy: In a board game, two losing players may both target the leader. They are not being altruistic; they are preventing the leader from running away with the game.
Gotcha: A coalition is not guaranteed to be stable. The algorithmic model needs a way to represent agreements or repeated-game effects if those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bridge to AI safety and multi-agent systems. If the utility structure permits win-win outcomes, rational agents may cooperate.
Analogy: Two students sharing notes for a quiz can both benefit; this is not zero-sum. But two candidates competing for one job may be closer to zero-sum.
Gotcha: Do not assume 'adversarial' means every interaction is pure conflict. The utility model defines conflict or cooperation.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note: After students see minimax's exponential cost, alpha-beta feels like relief. Emphasize that it is exact pruning, not a heuristic shortcut.
Analogy: Alpha-beta is like refusing to investigate options that have already failed a necessary condition.
Gotcha: Pruning savings are highly dependent on move ordering.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intuition for alpha-beta. It does not guess. It skips only branches that cannot affect the optimal minimax decision.
Analogy: Shopping for the cheapest flight: once you find a flight for $300, you do not need to fully examine an itinerary that already costs $500 before adding taxes.
Gotcha: Alpha-beta pruning does not change the minimax value. If it does, the implementation has a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alpha and beta out loud several times: alpha means MAX's current best lower bound. Beta means MIN's current best upper bound.
Analogy: Alpha is MAX's reservation value. Beta is MIN's ceiling. When the floor meets or exceeds the ceiling, there is no useful negotiation left.
Gotcha: Students sometimes update alpha at MIN nodes or beta at MAX nodes. In the classic algorithm, MAX updates alpha, MIN updates beta.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figure as a story. First MAX learns it has an option worth 3. Then it begins evaluating C. Because C is a MIN node and the first child gives 2, C cannot possibly rise above 2 for MAX. So MAX will never choose C.
Analogy: If you already have a guaranteed B grade, and a path can at best give you a C, stop investigating that path.
Gotcha: We are not pruning because C is bad in absolute terms; we prune because C is worse than an already available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isolates the reasoning from the larger figure. Ask students to complete the inequality: if alpha = 3 and C can be at most 2, then C cannot improve MAX's choice.
Analogy: If a restaurant has already failed the health inspection at the entrance, you do not need to inspect the dessert menu.
Gotcha: Students sometimes ask, 'But what if a pruned leaf is 100?' Under C, MIN would still choose the already seen 2, so the high leaf cannot help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gives a mathematical explanation after the intuition. Keep it short. The key is that z cannot exceed 2 because min(2,x,y) is never greater than 2.
Analogy: If the minimum of a set includes 2, adding bigger numbers to the set cannot make the minimum bigger.
Gotcha: Make sure students understand the word 'min' here. It is why x and y do not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this to minimax. The recursive structure is the same; the bounds are the new ingredient.
Teaching move: Ask students to annotate the pseudocode with one color for MAX updates and another color for MIN updates.
Gotcha: In Python labs, the most common bug is not propagating updated alpha/beta into recursive calls or returning after a cutoff without preserving the best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may think alpha-beta alone is enough. Explain that alpha-beta needs useful early bounds. Move ordering is how we get them.
Analogy: If you are looking for the best restaurant, visiting the most likely good restaurants first helps you eliminate weak candidates quickly.
Gotcha: Move ordering affects runtime, not the final result, assuming full alpha-beta search to the same depth.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that the numbers are illustrative. The direction is the lesson: move ordering can dramatically reduce nodes.
Analogy: Search is like interviewing candidates. If you interview the strongest candidates first, you can reject weaker ones sooner.
Gotcha: Perfect ordering sounds circular because knowing the best move would already solve the problem. In practice, we use cheap approximations and previous searches.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transposition as repeated states through different move orders. This is common in games where actions in distant regions are independent.
Analogy: If two routes lead to the same airport gate, you do not need to re-evaluate every flight option after reaching the gate.
Gotcha: A transposition table is not just a visited set. It often stores value, depth, bounds, and best move, because the usefulness depends on search depth and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Chapter 3 iterative deepening, then show why it is extra useful in games: it returns a usable move if time expires, and it produces move ordering data.
Analogy: Skim the exam first to find easy questions, then go deeper. The skim helps you allocate time and identify promising paths.
Gotcha: Iterative deepening is not wasted work in practice because the deepest level dominates the node count, and the improved ordering can more than repay the repeated shallow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note: Alpha-beta still cannot solve large games fully. This section makes search practical by adding heuristics.
Analogy: A commentator evaluates a game before it ends. They may be right often, but not always.
Gotcha: A fast, wrong evaluation can make the agent confidently choose losing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section is the bridge from exact theory to practical engines. Exact minimax is elegant but often impossible.
Analogy: Watching a basketball game at halftime, you cannot know the final score, but you can estimate who is likely to win based on score, fouls, momentum, and injuries.
Gotcha: Heuristic evaluation is not utility. It estimates utility at cutoff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compare this to minimax. The recursion is the same, but the base case expands from terminal states to cutoff states.
Analogy: If you cannot read the whole novel before class, you stop at a chapter and make an educated prediction about the ending.
Gotcha: A fixed depth cutoff can be dangerous if the position at that depth is unstable.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evaluation function concrete. Ask students what features they would use for tic-tac-toe, Connect Four, or chess.
Analogy: A sports commentator uses features: score, time remaining, injuries, possession. The commentator is not simulating every future, but estimating strength.
Gotcha: More features do not automatically improve evaluation. Bad or slow features can hurt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figure to introduce tactical instability. A naive material count might say Black is ahead, but a nearby capture can change everything.
Analogy: Judging a game at halftime based only on the score misses that the star player just got injured. A single upcoming event can dominate the evaluation.
Gotcha: Heuristic values are only as good as the features they see and the horizon they can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direct bridge to machine learning. Features can be hand-crafted or learned.
Analogy: A course grade is often a weighted sum: exams, labs, participation, final project. But in games, features can interact in nonlinear ways.
Gotcha: A linear score can prefer a position with many small advantages while missing one decisive tactical weakness.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very practical. Students can see that an evaluation function is not magic; it is a score over features.
Analogy: Connect Four evaluation is like scanning the board for 'almost wins' and 'almost losses.'
Gotcha: If the heuristic ignores opponent threats, the agent may happily build its own line while allowing the opponent to win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best analogies in the chapter. Students immediately understand that evaluating during a forced capture sequence is unreliable.
Analogy: Do not judge traffic speed while cars are braking for an accident. Wait until traffic stabilizes.
Gotcha: Quiescence search is not unlimited full search. It is usually restricted to forcing or volatile moves, such as captures or checks in chess.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phrase 'pushed over the horizon.' Students know the horizon as the line beyond which you cannot see.
Analogy: A student with a deadline keeps doing tiny tasks to avoid starting the project. The problem has not disappeared; it has moved beyond today's view.
Gotcha: Increasing depth helps but does not eliminate the horizon effect. The agent may find longer delaying tactics.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not all nodes get extended. The point is to extend lines where a move is unusually forcing or clearly superior.
Analogy: If a medical test shows a major anomaly, the doctor orders a deeper follow-up. They do not order every possible test for every patient.
Gotcha: Extensions increase depth, so they must be selective. Otherwise the search can blow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difference between safe and risky pruning. Alpha-beta is exact. Forward pruning is approximate.
Analogy: Alpha-beta is skipping a route proven slower. Forward pruning is ignoring a road because it looks ugly on the map; it might still be the shortcut.
Gotcha: Students may call every cutoff alpha-beta pruning. Use the word 'safe' as the distinction.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helps students see how theoretical algorithms become practical engines.
Analogy: A physician may use a quick screening test before ordering expensive imaging. If the screen is worrying, they escalate.
Gotcha: These techniques are not always correct in the mathematical minimax sense. They are engineering choices with empirical performance tradeoffs.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note: MCTS gives a different way to ask “who is winning?” Instead of hand-coding EVAL, it gathers evidence from playouts.
Analogy: Alpha-beta is like expert analysis; MCTS is like repeated experimentation.
Gotcha: MCTS is not pure random play. The tree policy focuses simulations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MCTS as simulation-based evaluation. It is not random guessing; it builds a tree biased toward promising moves.
Analogy: If you cannot judge a recipe from ingredients alone, cook it many times with variations and see which version wins taste tests.
Gotcha: Pure random rollouts can be noisy. Strong MCTS systems improve simulation, selection, or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students chant the four stages. The loop is the heart of MCTS.
Analogy: Explore a building by repeatedly choosing a hallway, opening a new door, walking randomly to see what happens, then updating your mental map.
Gotcha: Backpropagation in MCTS updates statistics, not neural-network gradients in this chapter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figure to distinguish MCTS from minimax. Minimax backs up exact values from a complete search. MCTS backs up sample results from simulations.
Analogy: A restaurant review app updates ratings after each customer visit. MCTS updates move ratings after each simulated game.
Gotcha: Visit count matters. A high win rate from one rollout may be less reliable than a slightly lower win rate from hundreds of rollouts.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overdo the math. Students need the intuition: one term rewards success; the other rewards uncertainty.
Analogy: Choosing restaurants: revisit places you know are good, but occasionally try new places because your current favorite may not be best.
Gotcha: Students may think MCTS always chooses the highest win rate. It often chooses a less-visited node to gather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one rollout is not enough. Randomness creates variance. MCTS gains power from many samples.
Analogy: Polling one voter tells you little; polling many voters gives an estimate.
Gotcha: Bad rollouts can bias MCTS. Pure randomness can miss strategic patterns in games where random play is unrealistic.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clarifies what backpropagation means in MCTS. The result travels back up the path, changing future selection.
Analogy: After exploring a trail, you update every signpost along the route with what you learned.
Gotcha: Do not confuse MCTS backpropagation with neural-network training. Here it is just updating counts and rewards in tree nodes.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the MCTS pseudocode to alpha-beta. Alpha-beta is depth-first deterministic backup. MCTS is repeated sampling and statistical backup.
Analogy: Alpha-beta is solving a proof tree; MCTS is running experiments.
Gotcha: MCTS still builds a tree. It is not just flat random simulation from the root.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an algorithm selection slide. This helps students synthesize instead of memorizing algorithms independently.
Analogy: Alpha-beta is like an expert judge scoring positions. MCTS is like a scientist running many trials.
Gotcha: Modern systems often combine both ideas with learned evaluations and simulation/search hybrids.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historical arc: Deep Blue showed the power of engineered chess search; AlphaGo showed the power of combining search with learning.
Analogy: Early systems used a strong calculator and expert rules. Later systems added experience from self-play and learned intuition.
Gotcha: Do not tell students AlphaGo was 'just neural networks.' Search remained central through MCTS.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note: Now the environment includes randomness, such as dice or shuffled cards. The opponent still matters, but so does probability.
Analogy: Some branches are chosen by players; some are rolled by dice.
Gotcha: Do not treat chance nodes as MIN nodes. Bad luck is not an adversary.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chance nodes as a third kind of node. They do not optimize; they average by probability.
Analogy: If MAX and MIN are decision-makers, chance is the dice roller. It does not prefer a side.
Gotcha: At chance nodes, do not take max or min. Use expected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Backgammon is a useful example because chance is explicit and unavoidable. Students can see why minimax alone is not sufficient.
Analogy: You choose a route knowing traffic probabilities, not exact traffic. The best route may not be best in every possible traffic condition, but it has the best expected result.
Gotcha: Chance does not make the opponent random. A stochastic game can have both chance nodes and adversarial MIN/MAX nodes.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a chance node and ask what operation it performs. Students should answer: weighted average.
Analogy: Decision nodes are choices; chance nodes are lotteries.
Gotcha: Alpha-beta pruning depends on bounds and deterministic choices. Chance nodes make pruning harder because unexamined outcomes can change averages.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example is deliberately simple and memorable. It shows why expectation can prefer a risky move.
Analogy: A lottery-like investment may have a higher expected value but also more variance.
Gotcha: Expected value is not the same as most likely outcome. Action B most likely gives 3, yet expected value is 6.7.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subtle but important. In minimax, the exact spacing between values often does not matter. In expected value calculations, spacing matters because numbers are averaged.
Analogy: Letter grades preserve order, but you cannot average A, B, and C meaningfully unless you map them to a calibrated numerical scale.
Gotcha: A heuristic that is fine for alpha-beta may be inappropriate for expectiminimax if it is not calibrated.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note: Hidden information changes the nature of planning. You do not choose based on one state; you choose based on a belief about possible states.
Analogy: Playing poker is not chess with more rules. It is a different reasoning problem because you must model what others know and believe.
Gotcha: Guessing one hidden state and solving it as a perfect-information game can be deeply misleading.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poker as the intuitive example. You know your own cards and the public cards, but not the opponent's hidden cards.
Analogy: Driving in fog: you do not know exactly where every car is, but you maintain a set of plausible possibilities.
Gotcha: Partial observability is not the same as stochasticity. Hidden information may already be fixed, just unknown to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broadens students' intuition. A move in an imperfect-information game can attack, defend, reveal, hide, or bluff.
Analogy: Asking a question in a negotiation may be useful because of the answer it elicits, even if it does not directly change the deal.
Gotcha: Standard minimax on a guessed state ignores information-gathering and bluffing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Kriegspiel as chess without seeing the opponent's pieces. The referee tells legality and captures, which updates beliefs.
Analogy: Playing chess in a dark room while an umpire tells you whether a move is legal. You learn by attempting moves.
Gotcha: Students may try to pick a single most likely board. But the agent must consider all plausible boards, especially if errors are costly.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advanced but important lesson. Many beginner agents for card games make this mistake.
Analogy: If you guess your exam questions and study only those, you may perform well if your guess is right but fail across the full uncertainty set.
Gotcha: Randomly sampling hidden states can help as an approximation, but it is not a complete solution to strategic hidden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connects game search to game theory. In hidden-information games, optimal strategies may randomize.
Analogy: Rock-paper-scissors. A deterministic strategy is easy to exploit once discovered. Randomization can be rational.
Gotcha: Random does not mean irrational. A carefully chosen probability distribution can be optimal.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note: This final section helps students become engineers, not just algorithm memorizers. They need to know when an algorithm might fail.
Analogy: Every search algorithm is a flashlight. It illuminates part of the future, but not all of it.
Gotcha: More compute helps, but bad modeling assumptions can still produce bad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a synthesis. It prevents students from treating algorithms as magic. Every method has a context.
Analogy: A map can be accurate, fast to read, or detailed, but rarely all three at once. Search algorithms choose a compromise.
Gotcha: The best algorithm in a toy game may not be best in a real game with time limits, hidden information, or stochastic dynamics.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mathematical reality check. Even low branching factors become enormous quickly.
Analogy: A family tree branching by 10 at each generation becomes enormous in just a few generations.
Gotcha: Depth is measured in ply, not full moves. In chess, one move by White and one move by Black is two 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game search to modern AI concerns. If a model has blind spots, adversaries can exploit them.
Analogy: If a basketball defense always overprotects the paint, an opponent shoots threes. They exploit the evaluation function.
Gotcha: A good average win rate may hide rare but catastrophic weaknesses.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connect the lecture to the labs the students will run. Show a notebook briefly after each major lecture section.
Teaching sequence: Do not start with code. First trace the tree by hand. Then show that the code automates the same process.
Gotcha: Students may think visualization is separate from algorithm. Make them map each colored node or edge to a variable in the code: value, alpha, beta, visit count, belief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for you as the instructor. You can hide it from students or keep it as a pacing slide.
Suggestion: For students new to recursion, spend more time on minimax and alpha-beta traces and defer MCTS details to the lab.
Gotcha: Do not try to cover every advanced variant deeply in one session. Emphasize algorithm selection and conceptual differences.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before the lab. It will save many debugging questions.
Teaching move: Ask students to predict which gotcha they are most likely to make. Then tell them to check for that when debugging.
Gotcha for instructor: If a student's algorithm seems too good, it may be because MIN is choosing max or because terminal tests are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= 2. Q2 = no, assuming correct alpha-beta with same depth. Q3 = UTILITY is exact terminal payoff; EVAL estimates non-terminal cutoff states. Q4 = probability-weighted average. Q5 = it ignores belief states, information gathering, and bluffing. Q6 = fixed depth cutoff hiding an inevitable event beyond the horizon.
Teaching move: Have students answer individually first. Then ask them to justify answers with one sentence.
Gotcha: A correct numeric answer without explanation may hide weak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strong review slide. Ask students to give an example game for each row.
Teaching move: Cover the middle column and ask students to fill it in.
Gotcha: Real systems may combine methods. This table is a teaching guide, not a rigid taxonomy.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URLs are useful for students who want examples, pseudocode, or historical context. The AIMA Python repository is especially helpful because it contains executable reference implementations.
Teaching note: Encourage students to read code after they understand the tree traces. Code is easier to understand once the visual process is clear.
Gotcha: Online implementations may use different utility conventions, such as win=1/draw=0/loss=-1 or win=1/draw=0.5/loss=0. Always check the convention.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big idea: Chapter 5 is not merely about games; it is about rational action when other agents have conflicting goals.
Ask students to complete this sentence on paper: 'The main difference between Chapter 3 search and Chapter 5 search is...'
Good answer: Chapter 3 searched for a path in a passive environment; Chapter 5 searches through choices made by multiple agents, including adversarial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0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31520"/>
            <a:ext cx="10652760" cy="0"/>
          </a:xfrm>
          <a:prstGeom prst="line">
            <a:avLst/>
          </a:prstGeom>
          <a:noFill/>
          <a:ln w="25400">
            <a:solidFill>
              <a:srgbClr val="F2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914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Adversarial Search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and Games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68680" y="36576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agents plan when another agent is trying to stop them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4206240"/>
            <a:ext cx="6629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Includes minimax, alpha-beta pruning, heuristic game search, MCTS, stochastic games, partial observability, limitations, and teaching gotchas.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47888" y="1207008"/>
            <a:ext cx="2843784" cy="2843784"/>
          </a:xfrm>
          <a:prstGeom prst="roundRect">
            <a:avLst>
              <a:gd name="adj" fmla="val 1286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9" name="Image 0" descr="/mnt/data/ch5_assets/fig_5_1_tictactoe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583055"/>
            <a:ext cx="2788920" cy="209169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596188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lecture deck with speaker notes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064240" y="59618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Roadmap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Lecture Roadmap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full teaching path from game definitions to modern game-search limits.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5166360" cy="576072"/>
          </a:xfrm>
          <a:prstGeom prst="roundRect">
            <a:avLst>
              <a:gd name="adj" fmla="val 952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1417320"/>
            <a:ext cx="73152" cy="576072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1545336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Game setup</a:t>
            </a:r>
            <a:endParaRPr lang="en-US" sz="1270" dirty="0"/>
          </a:p>
        </p:txBody>
      </p:sp>
      <p:sp>
        <p:nvSpPr>
          <p:cNvPr id="12" name="Text 10"/>
          <p:cNvSpPr/>
          <p:nvPr/>
        </p:nvSpPr>
        <p:spPr>
          <a:xfrm>
            <a:off x="941832" y="1892808"/>
            <a:ext cx="4873752" cy="9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Games as formal search problems: states, actions, result, terminal test, utility.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2478024"/>
            <a:ext cx="5166360" cy="576072"/>
          </a:xfrm>
          <a:prstGeom prst="roundRect">
            <a:avLst>
              <a:gd name="adj" fmla="val 952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478024"/>
            <a:ext cx="73152" cy="576072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1832" y="260604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Minimax</a:t>
            </a:r>
            <a:endParaRPr lang="en-US" sz="1270" dirty="0"/>
          </a:p>
        </p:txBody>
      </p:sp>
      <p:sp>
        <p:nvSpPr>
          <p:cNvPr id="16" name="Text 14"/>
          <p:cNvSpPr/>
          <p:nvPr/>
        </p:nvSpPr>
        <p:spPr>
          <a:xfrm>
            <a:off x="941832" y="2953512"/>
            <a:ext cx="4873752" cy="9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Optimal decisions when MAX and MIN both reason perfectly.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538728"/>
            <a:ext cx="5166360" cy="576072"/>
          </a:xfrm>
          <a:prstGeom prst="roundRect">
            <a:avLst>
              <a:gd name="adj" fmla="val 952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538728"/>
            <a:ext cx="73152" cy="576072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366674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Alpha-beta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941832" y="4014216"/>
            <a:ext cx="4873752" cy="9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the same answer while skipping irrelevant branches.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4599432"/>
            <a:ext cx="5166360" cy="576072"/>
          </a:xfrm>
          <a:prstGeom prst="roundRect">
            <a:avLst>
              <a:gd name="adj" fmla="val 952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4599432"/>
            <a:ext cx="73152" cy="576072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" y="4727448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Heuristics</a:t>
            </a:r>
            <a:endParaRPr lang="en-US" sz="1270" dirty="0"/>
          </a:p>
        </p:txBody>
      </p:sp>
      <p:sp>
        <p:nvSpPr>
          <p:cNvPr id="24" name="Text 22"/>
          <p:cNvSpPr/>
          <p:nvPr/>
        </p:nvSpPr>
        <p:spPr>
          <a:xfrm>
            <a:off x="941832" y="5074920"/>
            <a:ext cx="4873752" cy="9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 off deep search and estimate who is winning.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1417320"/>
            <a:ext cx="5166360" cy="576072"/>
          </a:xfrm>
          <a:prstGeom prst="roundRect">
            <a:avLst>
              <a:gd name="adj" fmla="val 952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1417320"/>
            <a:ext cx="73152" cy="576072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8232" y="1545336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MCTS</a:t>
            </a:r>
            <a:endParaRPr lang="en-US" sz="1270" dirty="0"/>
          </a:p>
        </p:txBody>
      </p:sp>
      <p:sp>
        <p:nvSpPr>
          <p:cNvPr id="28" name="Text 26"/>
          <p:cNvSpPr/>
          <p:nvPr/>
        </p:nvSpPr>
        <p:spPr>
          <a:xfrm>
            <a:off x="6428232" y="1892808"/>
            <a:ext cx="4873752" cy="9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expert evaluation with repeated simulations.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2478024"/>
            <a:ext cx="5166360" cy="576072"/>
          </a:xfrm>
          <a:prstGeom prst="roundRect">
            <a:avLst>
              <a:gd name="adj" fmla="val 952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2478024"/>
            <a:ext cx="73152" cy="576072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260604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Chance and hidden info</a:t>
            </a:r>
            <a:endParaRPr lang="en-US" sz="1270" dirty="0"/>
          </a:p>
        </p:txBody>
      </p:sp>
      <p:sp>
        <p:nvSpPr>
          <p:cNvPr id="32" name="Text 30"/>
          <p:cNvSpPr/>
          <p:nvPr/>
        </p:nvSpPr>
        <p:spPr>
          <a:xfrm>
            <a:off x="6428232" y="2953512"/>
            <a:ext cx="4873752" cy="9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Expectiminimax, belief states, poker-like uncertainty.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3538728"/>
            <a:ext cx="5166360" cy="576072"/>
          </a:xfrm>
          <a:prstGeom prst="roundRect">
            <a:avLst>
              <a:gd name="adj" fmla="val 952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63640" y="3538728"/>
            <a:ext cx="73152" cy="576072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66674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Limits and labs</a:t>
            </a:r>
            <a:endParaRPr lang="en-US" sz="1270" dirty="0"/>
          </a:p>
        </p:txBody>
      </p:sp>
      <p:sp>
        <p:nvSpPr>
          <p:cNvPr id="36" name="Text 34"/>
          <p:cNvSpPr/>
          <p:nvPr/>
        </p:nvSpPr>
        <p:spPr>
          <a:xfrm>
            <a:off x="6428232" y="4014216"/>
            <a:ext cx="4873752" cy="9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Horizon effect, forward pruning, exploitability, class demos.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68680" y="5532120"/>
            <a:ext cx="10424160" cy="594360"/>
          </a:xfrm>
          <a:prstGeom prst="roundRect">
            <a:avLst>
              <a:gd name="adj" fmla="val 9231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43000" y="5760720"/>
            <a:ext cx="9875520" cy="-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core question: What should I do when someone else is choosing what happens next?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188720" y="571500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Anchor every algorithm to this question.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Outcomes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Students Should Be Able To Do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end, students should be able to explain the algorithm, trace it, and choose when to use it.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137160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1371600"/>
            <a:ext cx="73152" cy="19202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149961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Define the game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41832" y="1847088"/>
            <a:ext cx="322783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the formal game components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Distinguish state space graph vs. search tree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Explain zero-sum and perfect-information assumptions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37160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371600"/>
            <a:ext cx="73152" cy="19202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49961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Trace the search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47088"/>
            <a:ext cx="322783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Back up minimax values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Identify MAX and MIN levels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Explain why alpha-beta prunes safely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275320" y="1371600"/>
            <a:ext cx="315468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371600"/>
            <a:ext cx="73152" cy="19202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39912" y="1499616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Handle real limits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39912" y="1847088"/>
            <a:ext cx="286207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cutoff search and EVAL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Explain quiescence and horizon effects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Compare alpha-beta and MCTS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965960" y="3840480"/>
            <a:ext cx="3703320" cy="1691640"/>
          </a:xfrm>
          <a:prstGeom prst="roundRect">
            <a:avLst>
              <a:gd name="adj" fmla="val 324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65960" y="3840480"/>
            <a:ext cx="73152" cy="169164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30552" y="3968496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Generalize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2130552" y="4315968"/>
            <a:ext cx="3410712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Extend to multiplayer utilities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Model chance with expectiminimax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Reason over belief states in partially observable games</a:t>
            </a:r>
            <a:endParaRPr lang="en-US" sz="1210" dirty="0"/>
          </a:p>
        </p:txBody>
      </p:sp>
      <p:sp>
        <p:nvSpPr>
          <p:cNvPr id="25" name="Shape 23"/>
          <p:cNvSpPr/>
          <p:nvPr/>
        </p:nvSpPr>
        <p:spPr>
          <a:xfrm>
            <a:off x="6400800" y="3840480"/>
            <a:ext cx="3703320" cy="1691640"/>
          </a:xfrm>
          <a:prstGeom prst="roundRect">
            <a:avLst>
              <a:gd name="adj" fmla="val 3243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3840480"/>
            <a:ext cx="73152" cy="16916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65392" y="3968496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Teach-back target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565392" y="4315968"/>
            <a:ext cx="3410712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student should be able to draw a small game tree and explain every number that appears on it.</a:t>
            </a:r>
            <a:endParaRPr lang="en-US" sz="12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Motivation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Games Are a Perfect AI Laboratory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Games strip away messy physics while keeping strategic difficulty.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Precise rules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41832" y="1892808"/>
            <a:ext cx="29535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legal actions and consequences are usually well-defined, so we can focus on reasoning rather than perception.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343400" y="1417320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141732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0799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Conflicting goals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07992" y="1892808"/>
            <a:ext cx="29535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Another agent is not random noise: it actively tries to choose outcomes that hurt our utility.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7909560" y="1417320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0956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7415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Huge search spaces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074152" y="1892808"/>
            <a:ext cx="29535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simple rules produce enormous trees. This forces us to confront pruning, heuristics, and approximation.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841248" y="3675888"/>
            <a:ext cx="3895344" cy="2386584"/>
          </a:xfrm>
          <a:prstGeom prst="roundRect">
            <a:avLst>
              <a:gd name="adj" fmla="val 1533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22" name="Image 0" descr="/mnt/data/ch5_assets/fig_5_1_tictactoe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3703320"/>
            <a:ext cx="3108960" cy="233172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68680" y="60899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Tic-tac-toe: small rules, large tree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166360" y="3886200"/>
            <a:ext cx="5715000" cy="1508760"/>
          </a:xfrm>
          <a:prstGeom prst="roundRect">
            <a:avLst>
              <a:gd name="adj" fmla="val 3636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40680" y="411480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Games let us study intelligence under pressure.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5486400" y="49834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rules + opponent + limited time = AI design stress test.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Map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Chapter 5 Concept Map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section relaxes one simplifying assumption.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325880"/>
            <a:ext cx="73152" cy="7772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4538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5.1 Game theory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33272" y="1801368"/>
            <a:ext cx="4645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adversarial environments and game components.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6309360" y="132588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325880"/>
            <a:ext cx="73152" cy="7772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4538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5.2 Optimal decisions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73952" y="1801368"/>
            <a:ext cx="4645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and multiplayer utility vectors.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868680" y="246888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2468880"/>
            <a:ext cx="73152" cy="7772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3272" y="25968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5.2.3-5.2.4 Pruning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33272" y="2944368"/>
            <a:ext cx="4645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and move ordering.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6309360" y="246888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09360" y="2468880"/>
            <a:ext cx="73152" cy="77724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25968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5.3 Heuristic search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73952" y="2944368"/>
            <a:ext cx="4645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Cutoff tests, evaluation functions, horizon effect.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868680" y="361188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3611880"/>
            <a:ext cx="73152" cy="7772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3272" y="37398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5.4 MCTS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33272" y="4087368"/>
            <a:ext cx="4645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Selection, expansion, simulation, backpropagation.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6309360" y="361188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3611880"/>
            <a:ext cx="73152" cy="7772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37398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5.5 Stochastic games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73952" y="4087368"/>
            <a:ext cx="4645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Chance nodes and expectiminimax.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868680" y="475488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8680" y="4754880"/>
            <a:ext cx="73152" cy="7772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48828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5.6-5.7 Hidden info and limits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033272" y="5230368"/>
            <a:ext cx="4645152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Belief states, approximation traps, forward pruning.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6080760" y="1600200"/>
            <a:ext cx="0" cy="429768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Theory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Rain Is Not an Opponent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Nondeterminism is not the same as adversarial behavior.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383280" cy="2011680"/>
          </a:xfrm>
          <a:prstGeom prst="roundRect">
            <a:avLst>
              <a:gd name="adj" fmla="val 272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20116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Random environment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09067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Rain may fall or not fall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Dice may land on any face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intention to defeat you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383280" cy="2011680"/>
          </a:xfrm>
          <a:prstGeom prst="roundRect">
            <a:avLst>
              <a:gd name="adj" fmla="val 2727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20116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Adversarial agent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09067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Opponent observes or infers your choices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Opponent selects actions to reduce your outcome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Your plan must anticipate counter-moves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2011680"/>
          </a:xfrm>
          <a:prstGeom prst="roundRect">
            <a:avLst>
              <a:gd name="adj" fmla="val 272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201168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Teaching analogy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a picnic vs. playing chess. Weather can ruin your picnic, but it is not studying your strategy. A chess opponent is.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371600" y="4206240"/>
            <a:ext cx="9418320" cy="1097280"/>
          </a:xfrm>
          <a:prstGeom prst="roundRect">
            <a:avLst>
              <a:gd name="adj" fmla="val 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game tree alternates decisions because control alternates between agents.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91640" y="48920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chooses, then MIN chooses, and the value flows backward.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Theory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Stances Toward Multi-Agent Environments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chooses the third stance: model the adversary explicitly.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3383280" cy="2377440"/>
          </a:xfrm>
          <a:prstGeom prst="roundRect">
            <a:avLst>
              <a:gd name="adj" fmla="val 230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417320"/>
            <a:ext cx="73152" cy="237744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54533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Aggregate economy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87552" y="1892808"/>
            <a:ext cx="309067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there are many agents, we may model them statistically: supply, demand, market flow, congestion.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383280" cy="2377440"/>
          </a:xfrm>
          <a:prstGeom prst="roundRect">
            <a:avLst>
              <a:gd name="adj" fmla="val 230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2377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Nondeterministic environment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309067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other agents as unpredictable parts of the world. Useful, but it hides their strategic intent.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46720" y="1417320"/>
            <a:ext cx="3383280" cy="2377440"/>
          </a:xfrm>
          <a:prstGeom prst="roundRect">
            <a:avLst>
              <a:gd name="adj" fmla="val 230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17320"/>
            <a:ext cx="73152" cy="23774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11312" y="154533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Adversarial search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11312" y="1892808"/>
            <a:ext cx="309067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opponents as agents making choices that oppose our objective. This produces game trees.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1097280" y="4343400"/>
            <a:ext cx="9875520" cy="685800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905" tIns="1905" rIns="1905" bIns="190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prompt: For each example, choose a stance: stock market, self-driving car traffic, chess, poker, auction bidding.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Two-Player Zero-Sum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Classic Game Class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Chapter 5 algorithms begin with a restricted but important class of games.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1371600"/>
            <a:ext cx="274320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71600"/>
            <a:ext cx="73152" cy="132588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4996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Deterministic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50392" y="1847088"/>
            <a:ext cx="245059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dice or random transitions once an action is chosen.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3611880" y="1371600"/>
            <a:ext cx="274320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11880" y="1371600"/>
            <a:ext cx="73152" cy="132588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6472" y="14996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Two-player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776472" y="1847088"/>
            <a:ext cx="245059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Exactly MAX and MIN take turns.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6537960" y="1371600"/>
            <a:ext cx="274320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37960" y="1371600"/>
            <a:ext cx="73152" cy="132588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996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Turn-taking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702552" y="1847088"/>
            <a:ext cx="245059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one player chooses at a time.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9464040" y="137160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64040" y="1371600"/>
            <a:ext cx="73152" cy="13258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28632" y="149961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Perfect information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628632" y="1847088"/>
            <a:ext cx="240487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full state is visible to both players.</a:t>
            </a:r>
            <a:endParaRPr lang="en-US" sz="1210" dirty="0"/>
          </a:p>
        </p:txBody>
      </p:sp>
      <p:sp>
        <p:nvSpPr>
          <p:cNvPr id="25" name="Shape 23"/>
          <p:cNvSpPr/>
          <p:nvPr/>
        </p:nvSpPr>
        <p:spPr>
          <a:xfrm>
            <a:off x="1463040" y="3154680"/>
            <a:ext cx="4297680" cy="1417320"/>
          </a:xfrm>
          <a:prstGeom prst="roundRect">
            <a:avLst>
              <a:gd name="adj" fmla="val 3871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63040" y="3154680"/>
            <a:ext cx="73152" cy="14173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27632" y="32826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Zero-sum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627632" y="3630168"/>
            <a:ext cx="400507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helps MAX hurts MIN by the same amount.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6400800" y="315468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3154680"/>
            <a:ext cx="73152" cy="14173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328269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Examples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565392" y="3630168"/>
            <a:ext cx="318211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Tic-tac-toe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Chess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Checkers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</a:t>
            </a:r>
            <a:endParaRPr lang="en-US" sz="1210" dirty="0"/>
          </a:p>
        </p:txBody>
      </p:sp>
      <p:sp>
        <p:nvSpPr>
          <p:cNvPr id="33" name="Shape 31"/>
          <p:cNvSpPr/>
          <p:nvPr/>
        </p:nvSpPr>
        <p:spPr>
          <a:xfrm>
            <a:off x="1463040" y="5074920"/>
            <a:ext cx="8412480" cy="731520"/>
          </a:xfrm>
          <a:prstGeom prst="roundRect">
            <a:avLst>
              <a:gd name="adj" fmla="val 75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37360" y="5303520"/>
            <a:ext cx="786384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simple, then add realism.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1783080" y="5394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slides add multiplayer utility, chance, and hidden information.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Definition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Formal Game Definition: The API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adversarial search algorithm needs these functions.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246120" cy="1005840"/>
          </a:xfrm>
          <a:prstGeom prst="roundRect">
            <a:avLst>
              <a:gd name="adj" fmla="val 5455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0058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S0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9535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state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246120" cy="1005840"/>
          </a:xfrm>
          <a:prstGeom prst="roundRect">
            <a:avLst>
              <a:gd name="adj" fmla="val 5455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1417320"/>
            <a:ext cx="73152" cy="10058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659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TO-MOVE(s)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36592" y="1892808"/>
            <a:ext cx="29535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Whose turn?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75320" y="1417320"/>
            <a:ext cx="3246120" cy="1005840"/>
          </a:xfrm>
          <a:prstGeom prst="roundRect">
            <a:avLst>
              <a:gd name="adj" fmla="val 5455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417320"/>
            <a:ext cx="73152" cy="10058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3991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ACTIONS(s)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39912" y="1892808"/>
            <a:ext cx="29535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 moves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68680" y="3063240"/>
            <a:ext cx="3246120" cy="1005840"/>
          </a:xfrm>
          <a:prstGeom prst="roundRect">
            <a:avLst>
              <a:gd name="adj" fmla="val 5455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3063240"/>
            <a:ext cx="73152" cy="100584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" y="319125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RESULT(s,a)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538728"/>
            <a:ext cx="29535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state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0" y="3063240"/>
            <a:ext cx="3246120" cy="1005840"/>
          </a:xfrm>
          <a:prstGeom prst="roundRect">
            <a:avLst>
              <a:gd name="adj" fmla="val 5455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063240"/>
            <a:ext cx="73152" cy="10058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319125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IS-TERMINAL(s)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736592" y="3538728"/>
            <a:ext cx="29535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over?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275320" y="3063240"/>
            <a:ext cx="3246120" cy="1005840"/>
          </a:xfrm>
          <a:prstGeom prst="roundRect">
            <a:avLst>
              <a:gd name="adj" fmla="val 5455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3063240"/>
            <a:ext cx="73152" cy="100584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39912" y="319125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UTILITY(s,p)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439912" y="3538728"/>
            <a:ext cx="29535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value for player 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43000" y="4983480"/>
            <a:ext cx="9921240" cy="685800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905" tIns="1905" rIns="1905" bIns="1905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like a programmer: if you can implement these six functions, you can plug a game into minimax or alpha-beta.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Definition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State-Space Graph vs. Game Tree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graph is the world; the tree is our lookahead from the current state.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417320"/>
            <a:ext cx="73152" cy="22860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State-space graph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87552" y="1892808"/>
            <a:ext cx="3456432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Nodes are unique game states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Edges are legal moves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state can be reached by multiple paths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800600" y="1417320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1417320"/>
            <a:ext cx="73152" cy="22860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65192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Search tree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965192" y="1892808"/>
            <a:ext cx="3456432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Root is current state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path is a move sequence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Same state may appear many times as different tree nodes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778240" y="1417320"/>
            <a:ext cx="2606040" cy="2286000"/>
          </a:xfrm>
          <a:prstGeom prst="roundRect">
            <a:avLst>
              <a:gd name="adj" fmla="val 24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0" y="1417320"/>
            <a:ext cx="73152" cy="22860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2832" y="154533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Transposition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942832" y="1892808"/>
            <a:ext cx="2313432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move orders can produce the same state. Caching such states prevents duplicate work.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645920" y="434340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45920" y="444398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0" y="434340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44398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645920" y="507492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45920" y="517550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60320" y="507492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0" y="517550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856232" y="4553712"/>
            <a:ext cx="89611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56232" y="4553712"/>
            <a:ext cx="0" cy="7315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70632" y="4553712"/>
            <a:ext cx="-896112" cy="7315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5623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Graph: shared states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818120" y="4343400"/>
            <a:ext cx="-777240" cy="7315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18120" y="4343400"/>
            <a:ext cx="777240" cy="7315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40880" y="5074920"/>
            <a:ext cx="-404165" cy="7315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40880" y="5074920"/>
            <a:ext cx="404165" cy="7315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0" y="5074920"/>
            <a:ext cx="-404165" cy="7315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95360" y="5074920"/>
            <a:ext cx="404165" cy="7315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80960" y="4206240"/>
            <a:ext cx="274320" cy="274320"/>
          </a:xfrm>
          <a:prstGeom prst="ellipse">
            <a:avLst/>
          </a:prstGeom>
          <a:solidFill>
            <a:srgbClr val="F2B84B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20" y="493776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58200" y="493776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99555" y="566928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07885" y="566928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54035" y="566928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862365" y="566928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9360" y="5989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Tree: repeated paths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Trees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Tic-Tac-Toe: A Complete Game Tree in Miniature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tree alternates MAX placing X and MIN placing O until terminal utilities.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298448"/>
            <a:ext cx="5541264" cy="4306824"/>
          </a:xfrm>
          <a:prstGeom prst="roundRect">
            <a:avLst>
              <a:gd name="adj" fmla="val 849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1_tictactoe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94460"/>
            <a:ext cx="5486400" cy="4114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5632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5.1: partial tic-tac-toe game tree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629400" y="1463040"/>
            <a:ext cx="425196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29400" y="1463040"/>
            <a:ext cx="73152" cy="19202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93992" y="159105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read it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93992" y="1938528"/>
            <a:ext cx="395935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Root = empty board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layer = one ply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Leaves = terminal states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Numbers = utility for MAX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6629400" y="3703320"/>
            <a:ext cx="4251960" cy="1417320"/>
          </a:xfrm>
          <a:prstGeom prst="roundRect">
            <a:avLst>
              <a:gd name="adj" fmla="val 3871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29400" y="3703320"/>
            <a:ext cx="73152" cy="141732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93992" y="383133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Teaching move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793992" y="4178808"/>
            <a:ext cx="39593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students follow one path from the root to a terminal board and label who moved at each layer.</a:t>
            </a:r>
            <a:endParaRPr lang="en-US" sz="12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Small Rules, Huge Trees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enemy is the exponent.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31520" y="1417320"/>
            <a:ext cx="4892040" cy="1097280"/>
          </a:xfrm>
          <a:prstGeom prst="roundRect">
            <a:avLst>
              <a:gd name="adj" fmla="val 5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17320"/>
            <a:ext cx="73152" cy="109728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54533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Tic-tac-toe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1892808"/>
            <a:ext cx="459943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 9! terminal paths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enough to teach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417320"/>
            <a:ext cx="4892040" cy="1097280"/>
          </a:xfrm>
          <a:prstGeom prst="roundRect">
            <a:avLst>
              <a:gd name="adj" fmla="val 5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17320"/>
            <a:ext cx="73152" cy="109728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54533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3952" y="1892808"/>
            <a:ext cx="459943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branching ~35, depth ~80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 beyond full minimax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063240"/>
            <a:ext cx="4892040" cy="1097280"/>
          </a:xfrm>
          <a:prstGeom prst="roundRect">
            <a:avLst>
              <a:gd name="adj" fmla="val 5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063240"/>
            <a:ext cx="73152" cy="109728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319125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538728"/>
            <a:ext cx="459943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branching can be hundreds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is very 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09360" y="3063240"/>
            <a:ext cx="4892040" cy="1097280"/>
          </a:xfrm>
          <a:prstGeom prst="roundRect">
            <a:avLst>
              <a:gd name="adj" fmla="val 5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09360" y="3063240"/>
            <a:ext cx="73152" cy="10972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19125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Poker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73952" y="3538728"/>
            <a:ext cx="459943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information + chance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is uncertain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60120" y="5029200"/>
            <a:ext cx="10149840" cy="822960"/>
          </a:xfrm>
          <a:prstGeom prst="roundRect">
            <a:avLst>
              <a:gd name="adj" fmla="val 6667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34440" y="5257800"/>
            <a:ext cx="9601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Full-width search is a theoretical ideal, not a practical plan.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280160" y="544068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game AI survives by pruning, estimating, sampling, or learning.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MAX and MIN: Two Roles, One Utility Scale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wants high values; MIN wants low values.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703320" cy="2194560"/>
          </a:xfrm>
          <a:prstGeom prst="roundRect">
            <a:avLst>
              <a:gd name="adj" fmla="val 25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21945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MAX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410712" cy="1627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player we are choosing a move for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Prefers larger utility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At MAX nodes: take max of successors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703320" cy="2194560"/>
          </a:xfrm>
          <a:prstGeom prst="roundRect">
            <a:avLst>
              <a:gd name="adj" fmla="val 25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1417320"/>
            <a:ext cx="73152" cy="219456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73752" y="1545336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873752" y="1892808"/>
            <a:ext cx="3410712" cy="1627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opponent in a zero-sum game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Prefers smaller utility for MAX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At MIN nodes: take min of successors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549640" y="1417320"/>
            <a:ext cx="2743200" cy="2194560"/>
          </a:xfrm>
          <a:prstGeom prst="roundRect">
            <a:avLst>
              <a:gd name="adj" fmla="val 25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49640" y="1417320"/>
            <a:ext cx="73152" cy="219456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423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Analogy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714232" y="1892808"/>
            <a:ext cx="2450592" cy="1627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is choosing a route. MIN is a hostile road manager who gets to close one road after seeing your direction.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97280" y="4434840"/>
            <a:ext cx="9966960" cy="960120"/>
          </a:xfrm>
          <a:prstGeom prst="roundRect">
            <a:avLst>
              <a:gd name="adj" fmla="val 5714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4663440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 is not evil in general. MIN is just optimizing the opposite objective.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17320" y="49834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zero-sum games, one utility scale is enough.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Utility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Utility Values: What the Leaves Mean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Utilities are final payoffs, not feelings and not probabilities unless defined that way.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Terminal utility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27355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number assigned when the game is over. Examples: win = +1, draw = 0, loss = -1 from MAX perspective.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Zero-sum shortcut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27355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two values, one value is enough because MIN wants the opposite of MAX.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Important distinction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63347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high score means good for MAX. It does not mean high confidence unless the score has been calibrated to probabilities.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1005840" y="3931920"/>
            <a:ext cx="10058400" cy="502920"/>
          </a:xfrm>
          <a:prstGeom prst="rect">
            <a:avLst/>
          </a:prstGeom>
          <a:solidFill>
            <a:srgbClr val="F8FBFB"/>
          </a:solidFill>
          <a:ln w="12700">
            <a:solidFill>
              <a:srgbClr val="B6D1D8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Win/loss utility example: MAX win = +1, draw = 0, MAX loss = -1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05840" y="4754880"/>
            <a:ext cx="10058400" cy="50292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Chess-style heuristic example: +3 means roughly a knight advantage, not a guaranteed win.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Strategy Is More Than One Move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adversarial search, a plan must respond to opponent choices.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63040"/>
            <a:ext cx="3383280" cy="2011680"/>
          </a:xfrm>
          <a:prstGeom prst="roundRect">
            <a:avLst>
              <a:gd name="adj" fmla="val 272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63040"/>
            <a:ext cx="73152" cy="201168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910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Move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938528"/>
            <a:ext cx="309067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action chosen now: place X in the center, move knight to f3, bet, fold.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63040"/>
            <a:ext cx="3383280" cy="2011680"/>
          </a:xfrm>
          <a:prstGeom prst="roundRect">
            <a:avLst>
              <a:gd name="adj" fmla="val 272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63040"/>
            <a:ext cx="73152" cy="201168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910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938528"/>
            <a:ext cx="309067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conditional plan: if MIN replies this way, do A; if MIN replies that way, do B.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63040"/>
            <a:ext cx="2743200" cy="2011680"/>
          </a:xfrm>
          <a:prstGeom prst="roundRect">
            <a:avLst>
              <a:gd name="adj" fmla="val 272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63040"/>
            <a:ext cx="73152" cy="20116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910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938528"/>
            <a:ext cx="245059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cannot pick the whole future alone. The future is co-authored by MAX and MIN.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188720" y="4343400"/>
            <a:ext cx="969264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63040" y="45720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chooses a move by imagining the best complete strategy after that move.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08760" y="484632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move now is evaluated through all possible replies.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50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5.2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Optimal Decisions in Games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search: reason from terminal utilities back to the current move.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object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85039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game tree with alternating MAX and MIN layers.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37388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880" y="3657600"/>
            <a:ext cx="73152" cy="14173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847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operation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453847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 up values using max and min.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06196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196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655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question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22655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value can MAX guarantee?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CSU Channel Islands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01400" y="632764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Minimax Question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both players play optimally from here, what value can MAX force?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63040"/>
            <a:ext cx="10378440" cy="1280160"/>
          </a:xfrm>
          <a:prstGeom prst="roundRect">
            <a:avLst>
              <a:gd name="adj" fmla="val 4286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1691640"/>
            <a:ext cx="9829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MINIMAX(s) = utility of state s under optimal play by both sides.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88720" y="2331720"/>
            <a:ext cx="9738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from terminal leaves back to the root.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30175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246120"/>
            <a:ext cx="73152" cy="12344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33741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Terminal state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70432" y="3721608"/>
            <a:ext cx="27249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UTILITY(s, MAX).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0" y="3246120"/>
            <a:ext cx="3017520" cy="1234440"/>
          </a:xfrm>
          <a:prstGeom prst="roundRect">
            <a:avLst>
              <a:gd name="adj" fmla="val 4444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3246120"/>
            <a:ext cx="73152" cy="1234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6592" y="33741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MAX to move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36592" y="3721608"/>
            <a:ext cx="27249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the maximum minimax value among successors.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3246120"/>
            <a:ext cx="3017520" cy="1234440"/>
          </a:xfrm>
          <a:prstGeom prst="roundRect">
            <a:avLst>
              <a:gd name="adj" fmla="val 4444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3246120"/>
            <a:ext cx="73152" cy="12344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2752" y="33741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 to move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02752" y="3721608"/>
            <a:ext cx="27249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the minimum minimax value among successors.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34440" y="5166360"/>
            <a:ext cx="9738360" cy="548640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Teaching phrase: “At MAX levels, lift the highest child. At MIN levels, sink to the lowest child.”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Example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Two-Ply Minimax Example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chooses an action, then MIN chooses a reply.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95528" y="1298448"/>
            <a:ext cx="6455664" cy="3392424"/>
          </a:xfrm>
          <a:prstGeom prst="roundRect">
            <a:avLst>
              <a:gd name="adj" fmla="val 1078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2_two_ply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41803"/>
            <a:ext cx="6400800" cy="310571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471830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5.2: two-ply game tree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543800" y="150876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43800" y="1508760"/>
            <a:ext cx="73152" cy="21031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08392" y="16367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 the tree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708392" y="1984248"/>
            <a:ext cx="3182112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Root A is MAX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B, C, D are MIN nodes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Leaves are utilities for MAX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Back up values: B=3, C=2, D=2, A=3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7543800" y="38862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543800" y="3886200"/>
            <a:ext cx="73152" cy="11430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08392" y="4014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708392" y="4361688"/>
            <a:ext cx="318211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chooses a1 because it leads to B, whose minimax value is 3. MIN would then choose b1.</a:t>
            </a:r>
            <a:endParaRPr lang="en-US" sz="12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Trace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1: Evaluate the Leaves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recursion hits terminal states first.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11880" y="1645920"/>
            <a:ext cx="-192024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1645920"/>
            <a:ext cx="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1645920"/>
            <a:ext cx="192024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88036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91640" y="288036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91640" y="288036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1880" y="288036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11880" y="288036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11880" y="288036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2120" y="288036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288036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32120" y="288036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1417320"/>
            <a:ext cx="603504" cy="53035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554480" y="2651760"/>
            <a:ext cx="603504" cy="53035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74720" y="2651760"/>
            <a:ext cx="603504" cy="53035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94960" y="2651760"/>
            <a:ext cx="603504" cy="53035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" y="4160520"/>
            <a:ext cx="402336" cy="384048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1554480" y="4160520"/>
            <a:ext cx="402336" cy="384048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2057400" y="4160520"/>
            <a:ext cx="402336" cy="384048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2971800" y="4160520"/>
            <a:ext cx="402336" cy="384048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474720" y="4160520"/>
            <a:ext cx="402336" cy="384048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3977640" y="4160520"/>
            <a:ext cx="402336" cy="384048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4892040" y="4160520"/>
            <a:ext cx="402336" cy="384048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5394960" y="4160520"/>
            <a:ext cx="402336" cy="384048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5897880" y="4160520"/>
            <a:ext cx="402336" cy="384048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188720" y="47548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utilities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0" y="1508760"/>
            <a:ext cx="365760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0" y="150876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79792" y="16367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happens first?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7479792" y="1984248"/>
            <a:ext cx="33649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Search descends depth-first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At a terminal node, call UTILITY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Return each leaf value upward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7315200" y="370332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15200" y="3703320"/>
            <a:ext cx="73152" cy="1234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79792" y="38313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Instructor prompt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7479792" y="4178808"/>
            <a:ext cx="336499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circle only the terminal utilities before calculating any parent values.</a:t>
            </a:r>
            <a:endParaRPr lang="en-US" sz="12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Trace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2: MIN Nodes Choose the Worst for MAX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MIN node takes the minimum of its children.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11880" y="1645920"/>
            <a:ext cx="-192024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1645920"/>
            <a:ext cx="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1645920"/>
            <a:ext cx="192024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88036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91640" y="288036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91640" y="288036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1880" y="288036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11880" y="288036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11880" y="288036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2120" y="288036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288036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32120" y="288036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1417320"/>
            <a:ext cx="603504" cy="53035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554480" y="2651760"/>
            <a:ext cx="603504" cy="530352"/>
          </a:xfrm>
          <a:prstGeom prst="rect">
            <a:avLst/>
          </a:prstGeom>
          <a:solidFill>
            <a:srgbClr val="F8E4E0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74720" y="2651760"/>
            <a:ext cx="603504" cy="530352"/>
          </a:xfrm>
          <a:prstGeom prst="rect">
            <a:avLst/>
          </a:prstGeom>
          <a:solidFill>
            <a:srgbClr val="F8E4E0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94960" y="2651760"/>
            <a:ext cx="603504" cy="530352"/>
          </a:xfrm>
          <a:prstGeom prst="rect">
            <a:avLst/>
          </a:prstGeom>
          <a:solidFill>
            <a:srgbClr val="F8E4E0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155448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205740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297180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47472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397764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489204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539496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589788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188720" y="47548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utilities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0" y="1508760"/>
            <a:ext cx="3657600" cy="1828800"/>
          </a:xfrm>
          <a:prstGeom prst="roundRect">
            <a:avLst>
              <a:gd name="adj" fmla="val 30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0" y="150876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79792" y="16367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 backups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7479792" y="1984248"/>
            <a:ext cx="33649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 = min(3,12,8) = 3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 = min(2,4,6) = 2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 = min(14,5,2) = 2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7315200" y="370332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15200" y="3703320"/>
            <a:ext cx="73152" cy="12344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79792" y="38313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Why?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7479792" y="4178808"/>
            <a:ext cx="336499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Because the values are for MAX, and MIN wants MAX to get as little as possible.</a:t>
            </a:r>
            <a:endParaRPr lang="en-US" sz="121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Trace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3: MAX Chooses the Best Guaranteed Outcome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the root, MAX takes the maximum of backed-up child values.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11880" y="1645920"/>
            <a:ext cx="-192024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1645920"/>
            <a:ext cx="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1645920"/>
            <a:ext cx="192024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88036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91640" y="288036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91640" y="288036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1880" y="288036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11880" y="288036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11880" y="288036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2120" y="288036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288036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32120" y="288036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1417320"/>
            <a:ext cx="603504" cy="530352"/>
          </a:xfrm>
          <a:prstGeom prst="rect">
            <a:avLst/>
          </a:prstGeom>
          <a:solidFill>
            <a:srgbClr val="F2B84B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554480" y="2651760"/>
            <a:ext cx="603504" cy="53035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74720" y="2651760"/>
            <a:ext cx="603504" cy="53035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94960" y="2651760"/>
            <a:ext cx="603504" cy="53035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155448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205740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297180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47472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397764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489204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539496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5897880" y="416052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188720" y="47548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utilities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0" y="1508760"/>
            <a:ext cx="3657600" cy="1325880"/>
          </a:xfrm>
          <a:prstGeom prst="roundRect">
            <a:avLst>
              <a:gd name="adj" fmla="val 4138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0" y="1508760"/>
            <a:ext cx="73152" cy="13258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79792" y="16367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Root backup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7479792" y="1984248"/>
            <a:ext cx="336499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= max(B, C, D) = max(3, 2, 2) = 3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7315200" y="3246120"/>
            <a:ext cx="3657600" cy="1554480"/>
          </a:xfrm>
          <a:prstGeom prst="roundRect">
            <a:avLst>
              <a:gd name="adj" fmla="val 352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15200" y="3246120"/>
            <a:ext cx="73152" cy="155448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79792" y="33741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7479792" y="3721608"/>
            <a:ext cx="336499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action a1. It is not the branch with the largest leaf, but it has the best value after MIN replies optimally.</a:t>
            </a:r>
            <a:endParaRPr lang="en-US" sz="121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Activity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Mini-Exercise: Back Up This Tree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solve before you reveal.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-192024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1737360"/>
            <a:ext cx="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1737360"/>
            <a:ext cx="192024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97180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91640" y="297180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91640" y="297180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1880" y="297180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11880" y="297180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11880" y="297180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2120" y="297180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297180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32120" y="297180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1508760"/>
            <a:ext cx="603504" cy="530352"/>
          </a:xfrm>
          <a:prstGeom prst="rect">
            <a:avLst/>
          </a:prstGeom>
          <a:solidFill>
            <a:srgbClr val="F2B84B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554480" y="2743200"/>
            <a:ext cx="603504" cy="530352"/>
          </a:xfrm>
          <a:prstGeom prst="rect">
            <a:avLst/>
          </a:prstGeom>
          <a:solidFill>
            <a:srgbClr val="F8E4E0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74720" y="2743200"/>
            <a:ext cx="603504" cy="530352"/>
          </a:xfrm>
          <a:prstGeom prst="rect">
            <a:avLst/>
          </a:prstGeom>
          <a:solidFill>
            <a:srgbClr val="F8E4E0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94960" y="2743200"/>
            <a:ext cx="603504" cy="530352"/>
          </a:xfrm>
          <a:prstGeom prst="rect">
            <a:avLst/>
          </a:prstGeom>
          <a:solidFill>
            <a:srgbClr val="F8E4E0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155448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205740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297180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47472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397764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489204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539496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589788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7543800" y="141732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43800" y="1417320"/>
            <a:ext cx="73152" cy="21031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0839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Student task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7708392" y="1892808"/>
            <a:ext cx="3182112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Compute each MIN node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Compute the MAX root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 the optimal root move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Explain why the biggest leaf is not enough</a:t>
            </a:r>
            <a:endParaRPr lang="en-US" sz="1210" dirty="0"/>
          </a:p>
        </p:txBody>
      </p:sp>
      <p:sp>
        <p:nvSpPr>
          <p:cNvPr id="38" name="Shape 36"/>
          <p:cNvSpPr/>
          <p:nvPr/>
        </p:nvSpPr>
        <p:spPr>
          <a:xfrm>
            <a:off x="7543800" y="3794760"/>
            <a:ext cx="3474720" cy="1234440"/>
          </a:xfrm>
          <a:prstGeom prst="roundRect">
            <a:avLst>
              <a:gd name="adj" fmla="val 4444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43800" y="3794760"/>
            <a:ext cx="73152" cy="1234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08392" y="39227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Instructor note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7708392" y="4270248"/>
            <a:ext cx="31821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2 minutes. Then ask a student to narrate the backup process from leaves upward.</a:t>
            </a:r>
            <a:endParaRPr lang="en-US" sz="12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Search Pseudocode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implementation is just recursive backup with alternating roles.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207008"/>
            <a:ext cx="4626864" cy="4946904"/>
          </a:xfrm>
          <a:prstGeom prst="roundRect">
            <a:avLst>
              <a:gd name="adj" fmla="val 791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3_minimax_pseudo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67892"/>
            <a:ext cx="4572000" cy="36251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61813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5.3: minimax search algorithm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715000" y="1417320"/>
            <a:ext cx="2743200" cy="2240280"/>
          </a:xfrm>
          <a:prstGeom prst="roundRect">
            <a:avLst>
              <a:gd name="adj" fmla="val 244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15000" y="1417320"/>
            <a:ext cx="73152" cy="224028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7959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 reading checklist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5879592" y="1892808"/>
            <a:ext cx="2450592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Base case: terminal state returns utility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MAX loop keeps highest value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MIN loop keeps lowest value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Return both value and move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8732520" y="1417320"/>
            <a:ext cx="2514600" cy="2240280"/>
          </a:xfrm>
          <a:prstGeom prst="roundRect">
            <a:avLst>
              <a:gd name="adj" fmla="val 2449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32520" y="1417320"/>
            <a:ext cx="73152" cy="22402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97112" y="154533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lab connection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8897112" y="1892808"/>
            <a:ext cx="2221992" cy="1673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will see this as recursive functions or as a method that passes player, depth, and state.</a:t>
            </a:r>
            <a:endParaRPr lang="en-US" sz="1210" dirty="0"/>
          </a:p>
        </p:txBody>
      </p:sp>
      <p:sp>
        <p:nvSpPr>
          <p:cNvPr id="20" name="Shape 17"/>
          <p:cNvSpPr/>
          <p:nvPr/>
        </p:nvSpPr>
        <p:spPr>
          <a:xfrm>
            <a:off x="5715000" y="4069080"/>
            <a:ext cx="5532120" cy="1143000"/>
          </a:xfrm>
          <a:prstGeom prst="roundRect">
            <a:avLst>
              <a:gd name="adj" fmla="val 48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715000" y="4069080"/>
            <a:ext cx="73152" cy="11430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79592" y="4197096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Teaching gotcha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5879592" y="4544568"/>
            <a:ext cx="523951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recursion returns values up the tree. The move returned at the root is the action associated with the best backed-up value.</a:t>
            </a:r>
            <a:endParaRPr lang="en-US" sz="12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Complexity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search is exact but exponential.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9535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O(b^m)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legal moves per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 = maximum depth in ply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Space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29535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O(m) if actions are generated one at a time; O(bm) if all actions are stored.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01000" y="1417320"/>
            <a:ext cx="30175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5453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165592" y="1892808"/>
            <a:ext cx="27249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tree grows by multiplying the branching factor at every ply.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828800" y="5433154"/>
            <a:ext cx="777240" cy="7526"/>
          </a:xfrm>
          <a:prstGeom prst="rect">
            <a:avLst/>
          </a:prstGeom>
          <a:solidFill>
            <a:srgbClr val="168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37360" y="550468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737360" y="574243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5418102"/>
            <a:ext cx="777240" cy="22578"/>
          </a:xfrm>
          <a:prstGeom prst="rect">
            <a:avLst/>
          </a:prstGeom>
          <a:solidFill>
            <a:srgbClr val="168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54680" y="550468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154680" y="574243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5372947"/>
            <a:ext cx="777240" cy="67733"/>
          </a:xfrm>
          <a:prstGeom prst="rect">
            <a:avLst/>
          </a:prstGeom>
          <a:solidFill>
            <a:srgbClr val="168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550468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0" y="574243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80760" y="5237480"/>
            <a:ext cx="777240" cy="203200"/>
          </a:xfrm>
          <a:prstGeom prst="rect">
            <a:avLst/>
          </a:prstGeom>
          <a:solidFill>
            <a:srgbClr val="E76F5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89320" y="550468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89320" y="574243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d=3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498080" y="4831080"/>
            <a:ext cx="777240" cy="609600"/>
          </a:xfrm>
          <a:prstGeom prst="rect">
            <a:avLst/>
          </a:prstGeom>
          <a:solidFill>
            <a:srgbClr val="E76F5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06640" y="550468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06640" y="574243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915400" y="3611880"/>
            <a:ext cx="777240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23960" y="550468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823960" y="574243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554480" y="39776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growth with b = 3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Optimal Against Whom?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assumes an optimal opponent, but real opponents may be imperfect.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291840" cy="1463040"/>
          </a:xfrm>
          <a:prstGeom prst="roundRect">
            <a:avLst>
              <a:gd name="adj" fmla="val 375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4630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guarantee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99923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Against perfect MIN, MAX can guarantee the minimax value.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91840" cy="1463040"/>
          </a:xfrm>
          <a:prstGeom prst="roundRect">
            <a:avLst>
              <a:gd name="adj" fmla="val 375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14630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opponent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299923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MIN makes mistakes, MAX may do better than the minimax guarantee.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01000" y="1417320"/>
            <a:ext cx="3017520" cy="1463040"/>
          </a:xfrm>
          <a:prstGeom prst="roundRect">
            <a:avLst>
              <a:gd name="adj" fmla="val 375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417320"/>
            <a:ext cx="73152" cy="14630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5453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Risky play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65592" y="1892808"/>
            <a:ext cx="272491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Sometimes a risky move wins often against weak players but loses against a perfect one.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914400" y="3657600"/>
            <a:ext cx="10241280" cy="64008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Teaching example: A move that guarantees a draw may be objectively safe; a trap move may have a higher expected payoff against a beginner.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828800" y="480060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28800" y="4800600"/>
            <a:ext cx="73152" cy="82296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93392" y="4928616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993392" y="5276088"/>
            <a:ext cx="7936992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is conservative: it optimizes the guaranteed value, not necessarily the best exploitative strategy against a known weak opponent.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Multiplayer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Optimal Decisions in Multiplayer Games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single utility value becomes a vector of utilities.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Two-player zero-sum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27355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number is enough: if MAX gets +3, MIN is worse by the corresponding amount.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617720" y="14173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1417320"/>
            <a:ext cx="73152" cy="182880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154533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Three-player game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782312" y="1892808"/>
            <a:ext cx="327355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state returns a vector: &lt;vA, vB, vC&gt;. Each player chooses the successor best for itself.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366760" y="1417320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6676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135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behavior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531352" y="1892808"/>
            <a:ext cx="24505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Alliances and cooperation can emerge from selfish utility maximization.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1051560" y="4160520"/>
            <a:ext cx="9784080" cy="658368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a C node, choose the child with the highest C component, not the highest A component.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Multiplayer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Utility Vectors: Reading the Multiplayer Tree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backed-up value is the vector chosen by the player to move.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95528" y="1298448"/>
            <a:ext cx="6638544" cy="3026664"/>
          </a:xfrm>
          <a:prstGeom prst="roundRect">
            <a:avLst>
              <a:gd name="adj" fmla="val 1208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4_multiplayer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37520"/>
            <a:ext cx="6583680" cy="2948519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435254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5.4: three-player game tree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680960" y="1417320"/>
            <a:ext cx="3291840" cy="2103120"/>
          </a:xfrm>
          <a:prstGeom prst="roundRect">
            <a:avLst>
              <a:gd name="adj" fmla="val 260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417320"/>
            <a:ext cx="73152" cy="21031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4555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narrate it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845552" y="1892808"/>
            <a:ext cx="2999232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Identify player to move at the current level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Compare only that player’s component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Back up the entire utility vector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7680960" y="3794760"/>
            <a:ext cx="3291840" cy="1234440"/>
          </a:xfrm>
          <a:prstGeom prst="roundRect">
            <a:avLst>
              <a:gd name="adj" fmla="val 4444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0" y="3794760"/>
            <a:ext cx="73152" cy="1234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45552" y="39227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845552" y="4270248"/>
            <a:ext cx="299923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C chooses between &lt;1,2,6&gt; and &lt;4,2,3&gt;, C chooses &lt;1,2,6&gt;. The entire vector backs up.</a:t>
            </a:r>
            <a:endParaRPr lang="en-US" sz="121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Multiplayer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Alliances Can Emerge from Selfish Play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Multiplayer games are not just larger minimax games.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2900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Weak players align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363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 and B are weak while C is strong, both may attack C because it improves their own survival chances.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2900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Alliance instability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363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C weakens, A and B may no longer have the same incentive to cooperate.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Social layer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963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Promises, reputation, and trust can change optimal behavior in repeated human settings.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143000" y="4251960"/>
            <a:ext cx="987552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448056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Collaboration can be a consequence of individual optimization.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75488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 alliances may dissolve when utilities change.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Multiplayer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Non-Zero-Sum: Not Every Game Has One Winner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actions can help multiple players at once.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291840" cy="1920240"/>
          </a:xfrm>
          <a:prstGeom prst="roundRect">
            <a:avLst>
              <a:gd name="adj" fmla="val 2857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9202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Zero-sum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99923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gain is exactly my loss. Chess and tic-tac-toe are modeled this way.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91840" cy="1920240"/>
          </a:xfrm>
          <a:prstGeom prst="roundRect">
            <a:avLst>
              <a:gd name="adj" fmla="val 285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19202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Non-zero-sum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299923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players can prefer the same outcome, or both can be harmed by conflict.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01000" y="1417320"/>
            <a:ext cx="310896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417320"/>
            <a:ext cx="73152" cy="19202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lesson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65592" y="1892808"/>
            <a:ext cx="281635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utility function defines what “rational” means. Change utilities, change behavior.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1371600" y="4343400"/>
            <a:ext cx="9144000" cy="68580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&lt;1000,1000&gt; can make cooperation rational even with two players.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5.2.3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Alpha-Beta Pruning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the same minimax decision while proving that some branches are irrelevant.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85039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lower bound MAX has found.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37388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880" y="3657600"/>
            <a:ext cx="73152" cy="14173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847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beta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453847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upper bound MIN has found.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06196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196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655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prune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22655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when a branch cannot change the root choice.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CSU Channel Islands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01400" y="632764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Pruning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Alpha-Beta Pruning: Same Answer, Less Search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Prune branches that cannot change the root decision.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problem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09067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search examines every relevant node down to the depth limit.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Alpha-beta idea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09067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While searching, maintain bounds on what MAX and MIN can already guarantee.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8288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 pruning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 branch is already worse than a known alternative, stop exploring it.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097280" y="4297680"/>
            <a:ext cx="996696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4526280"/>
            <a:ext cx="941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 not search a branch after you know nobody rational will choose it.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17320" y="480060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is the entire intuition.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Pruning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 and Beta Are Bounds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Think: alpha = at least; beta = at most.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6012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463040"/>
            <a:ext cx="73152" cy="21945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24712" y="159105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24712" y="1938528"/>
            <a:ext cx="4370832" cy="1627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value MAX can guarantee so far along the current path.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Think: “MAX has an option worth at least alpha.”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796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7960" y="1463040"/>
            <a:ext cx="73152" cy="219456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2552" y="159105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beta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702552" y="1938528"/>
            <a:ext cx="4370832" cy="1627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value MIN can guarantee so far along the current path.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Think: “MIN can hold MAX to at most beta.”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43000" y="4434840"/>
            <a:ext cx="9921240" cy="68580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Prune when alpha &gt;= beta: the current branch cannot improve the final choice.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Pruning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 Trace: Alpha-Beta on the Two-Ply Tree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search can identify the same root decision without evaluating every leaf.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" y="1115568"/>
            <a:ext cx="5221224" cy="5129784"/>
          </a:xfrm>
          <a:prstGeom prst="roundRect">
            <a:avLst>
              <a:gd name="adj" fmla="val 713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5_alpha_beta_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1143000"/>
            <a:ext cx="4229100" cy="5074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6272784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5.5: alpha-beta trace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263640" y="1325880"/>
            <a:ext cx="4572000" cy="2606040"/>
          </a:xfrm>
          <a:prstGeom prst="roundRect">
            <a:avLst>
              <a:gd name="adj" fmla="val 2105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63640" y="1325880"/>
            <a:ext cx="73152" cy="26060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28232" y="145389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trace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28232" y="1801368"/>
            <a:ext cx="4279392" cy="2039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Evaluate B fully: B=3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At C, first leaf is 2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 can be at most 2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MAX already has B=3, so C cannot win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Prune remaining leaves under C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6263640" y="4251960"/>
            <a:ext cx="4572000" cy="1051560"/>
          </a:xfrm>
          <a:prstGeom prst="roundRect">
            <a:avLst>
              <a:gd name="adj" fmla="val 521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63640" y="4251960"/>
            <a:ext cx="73152" cy="10515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28232" y="437997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Teaching phrase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28232" y="4727448"/>
            <a:ext cx="427939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a child cannot beat the current best alternative, stop paying tuition for that branch.</a:t>
            </a:r>
            <a:endParaRPr lang="en-US" sz="121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Pruning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Worked Pruning Moment: Why C Disappears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gives MAX 3. C is already at most 2.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-173736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1737360"/>
            <a:ext cx="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1737360"/>
            <a:ext cx="1737360" cy="1234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508760"/>
            <a:ext cx="603504" cy="530352"/>
          </a:xfrm>
          <a:prstGeom prst="rect">
            <a:avLst/>
          </a:prstGeom>
          <a:solidFill>
            <a:srgbClr val="F2B84B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alpha=3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2743200"/>
            <a:ext cx="603504" cy="530352"/>
          </a:xfrm>
          <a:prstGeom prst="rect">
            <a:avLst/>
          </a:prstGeom>
          <a:solidFill>
            <a:srgbClr val="E2F4ED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474720" y="2743200"/>
            <a:ext cx="603504" cy="530352"/>
          </a:xfrm>
          <a:prstGeom prst="rect">
            <a:avLst/>
          </a:prstGeom>
          <a:solidFill>
            <a:srgbClr val="F8E4E0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&lt;=2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212080" y="2743200"/>
            <a:ext cx="603504" cy="53035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874520" y="297180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444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1874520" y="2971800"/>
            <a:ext cx="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3736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1874520" y="2971800"/>
            <a:ext cx="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4028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3611880" y="2971800"/>
            <a:ext cx="-502920" cy="1508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71800" y="4251960"/>
            <a:ext cx="402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611880" y="2971800"/>
            <a:ext cx="0" cy="150876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0" y="4251960"/>
            <a:ext cx="402336" cy="384048"/>
          </a:xfrm>
          <a:prstGeom prst="rect">
            <a:avLst/>
          </a:prstGeom>
          <a:solidFill>
            <a:srgbClr val="F8E4E0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611880" y="2971800"/>
            <a:ext cx="502920" cy="150876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77640" y="4251960"/>
            <a:ext cx="402336" cy="384048"/>
          </a:xfrm>
          <a:prstGeom prst="rect">
            <a:avLst/>
          </a:prstGeom>
          <a:solidFill>
            <a:srgbClr val="F8E4E0"/>
          </a:solidFill>
          <a:ln w="12700">
            <a:solidFill>
              <a:srgbClr val="00508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32461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6F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pruned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0" y="1417320"/>
            <a:ext cx="3657600" cy="2560320"/>
          </a:xfrm>
          <a:prstGeom prst="roundRect">
            <a:avLst>
              <a:gd name="adj" fmla="val 214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0" y="1417320"/>
            <a:ext cx="73152" cy="25603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9792" y="15453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Reasoning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79792" y="1892808"/>
            <a:ext cx="3364992" cy="1993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 has exact value 3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MAX root now has alpha = 3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 is a MIN node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C child has value 2, so C &lt;= 2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Since C &lt;= 2 &lt; alpha, C cannot be chosen</a:t>
            </a:r>
            <a:endParaRPr lang="en-US" sz="1210" dirty="0"/>
          </a:p>
        </p:txBody>
      </p:sp>
      <p:sp>
        <p:nvSpPr>
          <p:cNvPr id="33" name="Shape 31"/>
          <p:cNvSpPr/>
          <p:nvPr/>
        </p:nvSpPr>
        <p:spPr>
          <a:xfrm>
            <a:off x="7315200" y="434340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0" y="4343400"/>
            <a:ext cx="73152" cy="9144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9792" y="44714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pruned?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479792" y="4818888"/>
            <a:ext cx="33649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other children under C may be 4 and 6, but MIN would choose 2 anyway.</a:t>
            </a:r>
            <a:endParaRPr lang="en-US" sz="121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Pruning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Alpha-Beta Is Correct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pruned values are irrelevant to the root decision.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417320"/>
            <a:ext cx="1042416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B6D1D8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08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max( min(3,12,8), min(2,x,y), min(14,5,2) 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2423160"/>
            <a:ext cx="1042416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B6D1D8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508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= max( 3, z, 2 )   where z = min(2,x,y) &lt;= 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26280" y="3429000"/>
            <a:ext cx="3108960" cy="685800"/>
          </a:xfrm>
          <a:prstGeom prst="rect">
            <a:avLst/>
          </a:prstGeom>
          <a:solidFill>
            <a:srgbClr val="E2F4ED"/>
          </a:solidFill>
          <a:ln w="12700">
            <a:solidFill>
              <a:srgbClr val="2F855A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855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= 3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1005840" y="4617720"/>
            <a:ext cx="484632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4617720"/>
            <a:ext cx="73152" cy="9144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47457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Meaning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70432" y="5093208"/>
            <a:ext cx="455371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unknown values x and y cannot change the answer because the MIN node already has an option worth 2 for MAX.</a:t>
            </a:r>
            <a:endParaRPr lang="en-US" sz="1210" dirty="0"/>
          </a:p>
        </p:txBody>
      </p:sp>
      <p:sp>
        <p:nvSpPr>
          <p:cNvPr id="16" name="Shape 14"/>
          <p:cNvSpPr/>
          <p:nvPr/>
        </p:nvSpPr>
        <p:spPr>
          <a:xfrm>
            <a:off x="6309360" y="4617720"/>
            <a:ext cx="4846320" cy="914400"/>
          </a:xfrm>
          <a:prstGeom prst="roundRect">
            <a:avLst>
              <a:gd name="adj" fmla="val 6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4617720"/>
            <a:ext cx="73152" cy="9144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47457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Student gotcha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73952" y="5093208"/>
            <a:ext cx="455371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Pruning is not approximation. Alpha-beta with the same depth and ordering returns the exact minimax move.</a:t>
            </a:r>
            <a:endParaRPr lang="en-US" sz="121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Alpha-Beta Search Pseudocode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plus two bounds: alpha and beta.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115568"/>
            <a:ext cx="4946904" cy="5129784"/>
          </a:xfrm>
          <a:prstGeom prst="roundRect">
            <a:avLst>
              <a:gd name="adj" fmla="val 739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7_alpha_beta_pseudo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10878"/>
            <a:ext cx="4892040" cy="473916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627278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5.7: alpha-beta algorithm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89320" y="1417320"/>
            <a:ext cx="4663440" cy="2057400"/>
          </a:xfrm>
          <a:prstGeom prst="roundRect">
            <a:avLst>
              <a:gd name="adj" fmla="val 266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989320" y="1417320"/>
            <a:ext cx="73152" cy="20574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53912" y="154533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changed from minimax?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153912" y="1892808"/>
            <a:ext cx="4370832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Pass alpha and beta recursively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MAX updates alpha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MIN updates beta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Return early when bound is crossed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5989320" y="3749040"/>
            <a:ext cx="4663440" cy="1783080"/>
          </a:xfrm>
          <a:prstGeom prst="roundRect">
            <a:avLst>
              <a:gd name="adj" fmla="val 3077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89320" y="3749040"/>
            <a:ext cx="73152" cy="17830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53912" y="387705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gotchas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153912" y="4224528"/>
            <a:ext cx="4370832" cy="1216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Initialize alpha = -infinity, beta = +infinity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 not swap players incorrectly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Return value and move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Pruning condition differs at MAX/MIN nodes</a:t>
            </a:r>
            <a:endParaRPr lang="en-US" sz="121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Ordering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Move Ordering Determines How Much You Prune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is correct regardless of order, but speed depends heavily on order.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Bad ordering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9535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weak moves first. Bounds stay loose. Little pruning occurs.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80560" y="1417320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0560" y="1417320"/>
            <a:ext cx="73152" cy="18288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5152" y="154533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Good ordering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45152" y="1892808"/>
            <a:ext cx="29535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likely best moves first. Bounds tighten early. More branches vanish.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92440" y="1417320"/>
            <a:ext cx="306324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244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7032" y="154533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Perfect ordering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57032" y="1892808"/>
            <a:ext cx="277063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reduce effective work toward O(b^(m/2)), allowing roughly twice the search depth.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914400" y="4160520"/>
            <a:ext cx="10058400" cy="731520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Heuristics: captures first, threats first, killer moves, iterative deepening ranks, transposition table values.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Ordering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Search Cost: Same Algorithm, Different Order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ordering turns pruning into a force multiplier.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280160" y="1920240"/>
            <a:ext cx="1417320" cy="3200400"/>
          </a:xfrm>
          <a:prstGeom prst="rect">
            <a:avLst/>
          </a:prstGeom>
          <a:solidFill>
            <a:srgbClr val="E76F5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80160" y="16002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53492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40480" y="3360420"/>
            <a:ext cx="1417320" cy="1760220"/>
          </a:xfrm>
          <a:prstGeom prst="rect">
            <a:avLst/>
          </a:prstGeom>
          <a:solidFill>
            <a:srgbClr val="F2B84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304038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53492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order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4224528"/>
            <a:ext cx="1417320" cy="896112"/>
          </a:xfrm>
          <a:prstGeom prst="rect">
            <a:avLst/>
          </a:prstGeom>
          <a:solidFill>
            <a:srgbClr val="168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9044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28%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0" y="53492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order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4736592"/>
            <a:ext cx="1417320" cy="384048"/>
          </a:xfrm>
          <a:prstGeom prst="rect">
            <a:avLst/>
          </a:prstGeom>
          <a:solidFill>
            <a:srgbClr val="2F85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0" y="44165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12%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0" y="53492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near-perfect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1417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Illustrative relative nodes examined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920240" y="205740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20240" y="2057400"/>
            <a:ext cx="73152" cy="9144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84832" y="2185416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Teaching point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084832" y="2532888"/>
            <a:ext cx="80284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does not promise the same speed every time. The order of actions can be the difference between a small search and a huge one.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Ordering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Transposition Tables: Remember Reached Positions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move orders can lead to the same state. Cache the result.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371600" y="1828800"/>
            <a:ext cx="1828800" cy="-3657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00400" y="1463040"/>
            <a:ext cx="18288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9200" y="1463040"/>
            <a:ext cx="1828800" cy="7315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371600" y="1828800"/>
            <a:ext cx="1828800" cy="1645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0" y="3474720"/>
            <a:ext cx="18288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29200" y="3474720"/>
            <a:ext cx="1828800" cy="-12801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097280" y="1645920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8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26080" y="1280160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8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1280160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8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0" y="2011680"/>
            <a:ext cx="566928" cy="566928"/>
          </a:xfrm>
          <a:prstGeom prst="rect">
            <a:avLst/>
          </a:prstGeom>
          <a:solidFill>
            <a:srgbClr val="F2B84B"/>
          </a:solidFill>
          <a:ln w="15240">
            <a:solidFill>
              <a:srgbClr val="00508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26080" y="3291840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8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291840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8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680960" y="1417320"/>
            <a:ext cx="3200400" cy="164592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0" y="1417320"/>
            <a:ext cx="73152" cy="16459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45552" y="1545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gets cached?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845552" y="1892808"/>
            <a:ext cx="290779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key or hash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Depth searched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Backed-up value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Best move found</a:t>
            </a:r>
            <a:endParaRPr lang="en-US" sz="1210" dirty="0"/>
          </a:p>
        </p:txBody>
      </p:sp>
      <p:sp>
        <p:nvSpPr>
          <p:cNvPr id="25" name="Shape 23"/>
          <p:cNvSpPr/>
          <p:nvPr/>
        </p:nvSpPr>
        <p:spPr>
          <a:xfrm>
            <a:off x="7680960" y="3474720"/>
            <a:ext cx="3200400" cy="1097280"/>
          </a:xfrm>
          <a:prstGeom prst="roundRect">
            <a:avLst>
              <a:gd name="adj" fmla="val 5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3474720"/>
            <a:ext cx="73152" cy="10972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45552" y="36027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it helps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845552" y="3950208"/>
            <a:ext cx="290779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repeated state can reuse the previous search result instead of exploring the same subtree again.</a:t>
            </a:r>
            <a:endParaRPr lang="en-US" sz="1210" dirty="0"/>
          </a:p>
        </p:txBody>
      </p:sp>
      <p:sp>
        <p:nvSpPr>
          <p:cNvPr id="29" name="Text 27"/>
          <p:cNvSpPr/>
          <p:nvPr/>
        </p:nvSpPr>
        <p:spPr>
          <a:xfrm>
            <a:off x="1005840" y="5394960"/>
            <a:ext cx="9784080" cy="41148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Chess engines rely heavily on transposition tables.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Ordering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Iterative Deepening and Killer Moves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shallow searches to guide deeper searches.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840480" cy="2377440"/>
          </a:xfrm>
          <a:prstGeom prst="roundRect">
            <a:avLst>
              <a:gd name="adj" fmla="val 230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23774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Iterative deepening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54787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Search depth 1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Record best move ordering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Search depth 2 using that order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Repeat until time runs out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983480" y="1417320"/>
            <a:ext cx="3017520" cy="2377440"/>
          </a:xfrm>
          <a:prstGeom prst="roundRect">
            <a:avLst>
              <a:gd name="adj" fmla="val 2308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83480" y="1417320"/>
            <a:ext cx="73152" cy="2377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8072" y="15453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Killer move heuristic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148072" y="1892808"/>
            <a:ext cx="272491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that caused cutoffs before are tried early in similar positions, because they may prune again.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275320" y="1417320"/>
            <a:ext cx="2834640" cy="2377440"/>
          </a:xfrm>
          <a:prstGeom prst="roundRect">
            <a:avLst>
              <a:gd name="adj" fmla="val 230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417320"/>
            <a:ext cx="73152" cy="23774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39912" y="154533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Practical value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39912" y="1892808"/>
            <a:ext cx="254203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how game engines make good decisions under a clock: always have the last completed depth available.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143000" y="4572000"/>
            <a:ext cx="9784080" cy="822960"/>
          </a:xfrm>
          <a:prstGeom prst="roundRect">
            <a:avLst>
              <a:gd name="adj" fmla="val 6667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4800600"/>
            <a:ext cx="9235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Search shallow first, then search deeper smarter.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983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management and move ordering reinforce each other.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50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5.3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Heuristic Alpha-Beta Tree Search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 off deep search and estimate utility at non-terminal states.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cutoff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85039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by depth, time, or stability.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37388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880" y="3657600"/>
            <a:ext cx="73152" cy="14173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847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453847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 who is winning.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06196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196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655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22655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can be fooled by tactics.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CSU Channel Islands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01400" y="632764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Heuristic Alpha-Beta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Cut Off Search?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helps, but real games are still too large.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20116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with pruning, chess and Go have far too many states to search to terminal outcomes in available time.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201168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at a depth limit or time limit, then evaluate the non-terminal state with a heuristic function.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2011680"/>
          </a:xfrm>
          <a:prstGeom prst="roundRect">
            <a:avLst>
              <a:gd name="adj" fmla="val 272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201168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Tradeoff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becomes faster but may make errors if the heuristic misunderstands the position.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143000" y="4297680"/>
            <a:ext cx="987552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45262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Heuristic search asks: “Who seems to be winning from here?”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80060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exact, but useful under time pressure.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Heuristic Alpha-Beta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Heuristic Minimax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terminal-only utility with a cutoff test and EVAL.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97280" y="1417320"/>
            <a:ext cx="996696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B6D1D8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08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if IS-CUTOFF(s, d): return EVAL(s, MAX)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68680" y="2743200"/>
            <a:ext cx="347472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743200"/>
            <a:ext cx="73152" cy="19202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2871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Cutoff test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033272" y="3218688"/>
            <a:ext cx="318211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True at terminal states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True at depth limit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extend volatile states with quiescence search</a:t>
            </a:r>
            <a:endParaRPr lang="en-US" sz="1210" dirty="0"/>
          </a:p>
        </p:txBody>
      </p:sp>
      <p:sp>
        <p:nvSpPr>
          <p:cNvPr id="14" name="Shape 12"/>
          <p:cNvSpPr/>
          <p:nvPr/>
        </p:nvSpPr>
        <p:spPr>
          <a:xfrm>
            <a:off x="4526280" y="2743200"/>
            <a:ext cx="3474720" cy="1920240"/>
          </a:xfrm>
          <a:prstGeom prst="roundRect">
            <a:avLst>
              <a:gd name="adj" fmla="val 285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26280" y="2743200"/>
            <a:ext cx="73152" cy="19202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90872" y="2871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EVAL(s,p)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690872" y="3218688"/>
            <a:ext cx="318211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Fast to compute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Correlated with actual chance of winning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Equal to UTILITY at terminal states</a:t>
            </a:r>
            <a:endParaRPr lang="en-US" sz="1210" dirty="0"/>
          </a:p>
        </p:txBody>
      </p:sp>
      <p:sp>
        <p:nvSpPr>
          <p:cNvPr id="18" name="Shape 16"/>
          <p:cNvSpPr/>
          <p:nvPr/>
        </p:nvSpPr>
        <p:spPr>
          <a:xfrm>
            <a:off x="8183880" y="2743200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3880" y="2743200"/>
            <a:ext cx="73152" cy="19202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8472" y="28712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Search behavior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48472" y="3218688"/>
            <a:ext cx="245059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Non-terminal cutoff states are treated as if they were leaves with estimated values.</a:t>
            </a:r>
            <a:endParaRPr lang="en-US" sz="121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Functions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Makes a Good Evaluation Function?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Fast, bounded, and correlated with winning.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337560" cy="164592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6459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04495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must be cheap enough to run at thousands or millions of cutoff nodes.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337560" cy="1645920"/>
          </a:xfrm>
          <a:prstGeom prst="roundRect">
            <a:avLst>
              <a:gd name="adj" fmla="val 3333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164592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Correct at terminal states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304495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terminal states, EVAL(s,p) must equal UTILITY(s,p).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01000" y="1417320"/>
            <a:ext cx="3108960" cy="164592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417320"/>
            <a:ext cx="73152" cy="16459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Correlated with outcome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65592" y="1892808"/>
            <a:ext cx="281635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EVAL should generally mean better chances for the evaluated player.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828800" y="379476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3794760"/>
            <a:ext cx="73152" cy="132588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93392" y="39227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Uses features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993392" y="4270248"/>
            <a:ext cx="354787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 and weight features such as material, mobility, threats, central control, king safety, or connect-four windows.</a:t>
            </a:r>
            <a:endParaRPr lang="en-US" sz="1210" dirty="0"/>
          </a:p>
        </p:txBody>
      </p:sp>
      <p:sp>
        <p:nvSpPr>
          <p:cNvPr id="25" name="Shape 23"/>
          <p:cNvSpPr/>
          <p:nvPr/>
        </p:nvSpPr>
        <p:spPr>
          <a:xfrm>
            <a:off x="6400800" y="379476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3794760"/>
            <a:ext cx="73152" cy="13258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65392" y="39227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Beware interactions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565392" y="4270248"/>
            <a:ext cx="354787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contributions are not always independent. Modern agents often use nonlinear learned evaluation functions.</a:t>
            </a:r>
            <a:endParaRPr lang="en-US" sz="121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Functions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Chess Example: Material Is Useful but Incomplete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count can miss tactical swings.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298448"/>
            <a:ext cx="6181344" cy="3026664"/>
          </a:xfrm>
          <a:prstGeom prst="roundRect">
            <a:avLst>
              <a:gd name="adj" fmla="val 1208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8_chess_e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30653"/>
            <a:ext cx="6126480" cy="296225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435254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5.8: two chess positions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315200" y="1417320"/>
            <a:ext cx="3474720" cy="164592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0" y="1417320"/>
            <a:ext cx="73152" cy="16459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7979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Material evaluation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79792" y="1892808"/>
            <a:ext cx="318211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Pawn ≈ 1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Knight or bishop ≈ 3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Rook ≈ 5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Queen ≈ 9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7315200" y="3429000"/>
            <a:ext cx="3474720" cy="1234440"/>
          </a:xfrm>
          <a:prstGeom prst="roundRect">
            <a:avLst>
              <a:gd name="adj" fmla="val 4444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0" y="3429000"/>
            <a:ext cx="73152" cy="12344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79792" y="35570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Teaching point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479792" y="3904488"/>
            <a:ext cx="31821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advantage may be misleading if an immediate tactic changes the board after the cutoff.</a:t>
            </a:r>
            <a:endParaRPr lang="en-US" sz="1210" dirty="0"/>
          </a:p>
        </p:txBody>
      </p:sp>
      <p:sp>
        <p:nvSpPr>
          <p:cNvPr id="20" name="Shape 17"/>
          <p:cNvSpPr/>
          <p:nvPr/>
        </p:nvSpPr>
        <p:spPr>
          <a:xfrm>
            <a:off x="1874520" y="4892040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874520" y="4892040"/>
            <a:ext cx="73152" cy="73152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039112" y="502005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 for students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2039112" y="5367528"/>
            <a:ext cx="784555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might a position that looks good by material count actually be losing?</a:t>
            </a:r>
            <a:endParaRPr lang="en-US" sz="121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Functions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Weighted Linear Evaluation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classic approach: add up weighted features.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424160" cy="777240"/>
          </a:xfrm>
          <a:prstGeom prst="rect">
            <a:avLst/>
          </a:prstGeom>
          <a:solidFill>
            <a:srgbClr val="FFFDF7"/>
          </a:solidFill>
          <a:ln w="12700">
            <a:solidFill>
              <a:srgbClr val="B6D1D8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508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EVAL(s) = w1 f1(s) + w2 f2(s) + ... + wn fn(s)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68680" y="2743200"/>
            <a:ext cx="338328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743200"/>
            <a:ext cx="73152" cy="19202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28712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Features f_i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033272" y="3218688"/>
            <a:ext cx="309067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Material count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Mobility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Threats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Center control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King safety</a:t>
            </a:r>
            <a:endParaRPr lang="en-US" sz="1210" dirty="0"/>
          </a:p>
        </p:txBody>
      </p:sp>
      <p:sp>
        <p:nvSpPr>
          <p:cNvPr id="14" name="Shape 12"/>
          <p:cNvSpPr/>
          <p:nvPr/>
        </p:nvSpPr>
        <p:spPr>
          <a:xfrm>
            <a:off x="4480560" y="2743200"/>
            <a:ext cx="3383280" cy="1920240"/>
          </a:xfrm>
          <a:prstGeom prst="roundRect">
            <a:avLst>
              <a:gd name="adj" fmla="val 285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80560" y="2743200"/>
            <a:ext cx="73152" cy="19202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5152" y="28712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Weights w_i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645152" y="3218688"/>
            <a:ext cx="309067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How important each feature is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be hand-designed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be learned from data</a:t>
            </a:r>
            <a:endParaRPr lang="en-US" sz="1210" dirty="0"/>
          </a:p>
        </p:txBody>
      </p:sp>
      <p:sp>
        <p:nvSpPr>
          <p:cNvPr id="18" name="Shape 16"/>
          <p:cNvSpPr/>
          <p:nvPr/>
        </p:nvSpPr>
        <p:spPr>
          <a:xfrm>
            <a:off x="8092440" y="2743200"/>
            <a:ext cx="3108960" cy="1920240"/>
          </a:xfrm>
          <a:prstGeom prst="roundRect">
            <a:avLst>
              <a:gd name="adj" fmla="val 2857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92440" y="2743200"/>
            <a:ext cx="73152" cy="19202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57032" y="2871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57032" y="3218688"/>
            <a:ext cx="281635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addition assumes features combine independently, which is often false.</a:t>
            </a:r>
            <a:endParaRPr lang="en-US" sz="121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Functions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Connect Four Heuristic Example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can implement this in the Chapter 5 lab.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371600"/>
            <a:ext cx="4389120" cy="3017520"/>
          </a:xfrm>
          <a:prstGeom prst="roundRect">
            <a:avLst>
              <a:gd name="adj" fmla="val 2121"/>
            </a:avLst>
          </a:prstGeom>
          <a:solidFill>
            <a:srgbClr val="2B6CB0"/>
          </a:solidFill>
          <a:ln w="12700">
            <a:solidFill>
              <a:srgbClr val="0050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143560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9705" y="143560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86722" y="143560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13739" y="143560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0757" y="143560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67774" y="143560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94791" y="143560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193852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9705" y="193852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86722" y="193852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13739" y="193852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40757" y="193852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774" y="193852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94791" y="193852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2688" y="244144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59705" y="244144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86722" y="244144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13739" y="244144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40757" y="244144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774" y="244144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94791" y="244144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2688" y="294436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59705" y="2944368"/>
            <a:ext cx="499001" cy="374904"/>
          </a:xfrm>
          <a:prstGeom prst="ellipse">
            <a:avLst/>
          </a:prstGeom>
          <a:solidFill>
            <a:srgbClr val="F2B84B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86722" y="294436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13739" y="2944368"/>
            <a:ext cx="499001" cy="374904"/>
          </a:xfrm>
          <a:prstGeom prst="ellipse">
            <a:avLst/>
          </a:prstGeom>
          <a:solidFill>
            <a:srgbClr val="E76F51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40757" y="294436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774" y="294436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94791" y="294436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2688" y="344728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59705" y="3447288"/>
            <a:ext cx="499001" cy="374904"/>
          </a:xfrm>
          <a:prstGeom prst="ellipse">
            <a:avLst/>
          </a:prstGeom>
          <a:solidFill>
            <a:srgbClr val="F2B84B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86722" y="344728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13739" y="3447288"/>
            <a:ext cx="499001" cy="374904"/>
          </a:xfrm>
          <a:prstGeom prst="ellipse">
            <a:avLst/>
          </a:prstGeom>
          <a:solidFill>
            <a:srgbClr val="E76F51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40757" y="3447288"/>
            <a:ext cx="499001" cy="374904"/>
          </a:xfrm>
          <a:prstGeom prst="ellipse">
            <a:avLst/>
          </a:prstGeom>
          <a:solidFill>
            <a:srgbClr val="F2B84B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67774" y="344728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94791" y="344728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32688" y="395020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59705" y="3950208"/>
            <a:ext cx="499001" cy="374904"/>
          </a:xfrm>
          <a:prstGeom prst="ellipse">
            <a:avLst/>
          </a:prstGeom>
          <a:solidFill>
            <a:srgbClr val="F2B84B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186722" y="3950208"/>
            <a:ext cx="499001" cy="374904"/>
          </a:xfrm>
          <a:prstGeom prst="ellipse">
            <a:avLst/>
          </a:prstGeom>
          <a:solidFill>
            <a:srgbClr val="F2B84B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13739" y="3950208"/>
            <a:ext cx="499001" cy="374904"/>
          </a:xfrm>
          <a:prstGeom prst="ellipse">
            <a:avLst/>
          </a:prstGeom>
          <a:solidFill>
            <a:srgbClr val="E76F51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40757" y="3950208"/>
            <a:ext cx="499001" cy="374904"/>
          </a:xfrm>
          <a:prstGeom prst="ellipse">
            <a:avLst/>
          </a:prstGeom>
          <a:solidFill>
            <a:srgbClr val="F2B84B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67774" y="3950208"/>
            <a:ext cx="499001" cy="374904"/>
          </a:xfrm>
          <a:prstGeom prst="ellipse">
            <a:avLst/>
          </a:prstGeom>
          <a:solidFill>
            <a:srgbClr val="E76F51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94791" y="3950208"/>
            <a:ext cx="499001" cy="374904"/>
          </a:xfrm>
          <a:prstGeom prst="ellipse">
            <a:avLst/>
          </a:prstGeom>
          <a:solidFill>
            <a:srgbClr val="F4F1DE"/>
          </a:solidFill>
          <a:ln w="6350">
            <a:solidFill>
              <a:srgbClr val="0050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6868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Feature: center column + diagonal threat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486400" y="1417320"/>
            <a:ext cx="5212080" cy="2148840"/>
          </a:xfrm>
          <a:prstGeom prst="roundRect">
            <a:avLst>
              <a:gd name="adj" fmla="val 255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0" y="1417320"/>
            <a:ext cx="73152" cy="21488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50992" y="1545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Possible features</a:t>
            </a:r>
            <a:endParaRPr lang="en-US" sz="1450" dirty="0"/>
          </a:p>
        </p:txBody>
      </p:sp>
      <p:sp>
        <p:nvSpPr>
          <p:cNvPr id="56" name="Text 54"/>
          <p:cNvSpPr/>
          <p:nvPr/>
        </p:nvSpPr>
        <p:spPr>
          <a:xfrm>
            <a:off x="5650992" y="1892808"/>
            <a:ext cx="4919472" cy="1581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+100 for four in a row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+10 for three plus empty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+3 for two plus two empty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+3 for center column control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-80 for opponent immediate win</a:t>
            </a:r>
            <a:endParaRPr lang="en-US" sz="1210" dirty="0"/>
          </a:p>
        </p:txBody>
      </p:sp>
      <p:sp>
        <p:nvSpPr>
          <p:cNvPr id="57" name="Shape 55"/>
          <p:cNvSpPr/>
          <p:nvPr/>
        </p:nvSpPr>
        <p:spPr>
          <a:xfrm>
            <a:off x="5486400" y="3931920"/>
            <a:ext cx="5212080" cy="1097280"/>
          </a:xfrm>
          <a:prstGeom prst="roundRect">
            <a:avLst>
              <a:gd name="adj" fmla="val 5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0" y="3931920"/>
            <a:ext cx="73152" cy="10972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50992" y="4059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it works</a:t>
            </a:r>
            <a:endParaRPr lang="en-US" sz="1450" dirty="0"/>
          </a:p>
        </p:txBody>
      </p:sp>
      <p:sp>
        <p:nvSpPr>
          <p:cNvPr id="60" name="Text 58"/>
          <p:cNvSpPr/>
          <p:nvPr/>
        </p:nvSpPr>
        <p:spPr>
          <a:xfrm>
            <a:off x="5650992" y="4407408"/>
            <a:ext cx="491947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heuristic scores local patterns that are likely to become wins before the full game is searched.</a:t>
            </a:r>
            <a:endParaRPr lang="en-US" sz="121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Functions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Quiescence Search: Do Not Evaluate During a Storm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 off only when the position is stable enough to estimate.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Non-quiescent state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volatile position where a capture, forced win, or tactical swing is pending.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8288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Quiescent state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stable position where immediate tactics are not likely to wildly change the evaluation.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Search extension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cutoff position is volatile, search only relevant tactical moves until stability.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188720" y="4343400"/>
            <a:ext cx="960120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63040" y="4572000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Never ask the scoreboard during the explosion.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08760" y="48463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 until the tactical smoke clears.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Functions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Horizon Effect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fixed search depth can hide inevitable damage just beyond the cutoff.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207008"/>
            <a:ext cx="499262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9_horizon_eff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2573"/>
            <a:ext cx="4937760" cy="374709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53126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5.9: horizon effect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080760" y="1417320"/>
            <a:ext cx="4389120" cy="1463040"/>
          </a:xfrm>
          <a:prstGeom prst="roundRect">
            <a:avLst>
              <a:gd name="adj" fmla="val 375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80760" y="1417320"/>
            <a:ext cx="73152" cy="14630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45352" y="154533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245352" y="1892808"/>
            <a:ext cx="409651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finds delaying moves that push a loss beyond the search horizon, making bad moves look good.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6080760" y="3246120"/>
            <a:ext cx="4389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080760" y="3246120"/>
            <a:ext cx="73152" cy="12344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45352" y="337413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Chess example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245352" y="3721608"/>
            <a:ext cx="4096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doomed bishop may be temporarily protected by pawn checks, but the loss is only postponed.</a:t>
            </a:r>
            <a:endParaRPr lang="en-US" sz="1210" dirty="0"/>
          </a:p>
        </p:txBody>
      </p:sp>
      <p:sp>
        <p:nvSpPr>
          <p:cNvPr id="20" name="Shape 17"/>
          <p:cNvSpPr/>
          <p:nvPr/>
        </p:nvSpPr>
        <p:spPr>
          <a:xfrm>
            <a:off x="6080760" y="4800600"/>
            <a:ext cx="4389120" cy="914400"/>
          </a:xfrm>
          <a:prstGeom prst="roundRect">
            <a:avLst>
              <a:gd name="adj" fmla="val 6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080760" y="4800600"/>
            <a:ext cx="73152" cy="9144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45352" y="49286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Mitigation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245352" y="5276088"/>
            <a:ext cx="409651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quiescence search, singular extensions, and better evaluation of threats.</a:t>
            </a:r>
            <a:endParaRPr lang="en-US" sz="121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Functions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Singular Extensions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deeper when one move is clearly forcing.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200400" cy="164592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6459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Normal cutoff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90779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at depth d and call EVAL.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00400" cy="1645920"/>
          </a:xfrm>
          <a:prstGeom prst="roundRect">
            <a:avLst>
              <a:gd name="adj" fmla="val 3333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164592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Singular situation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290779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move is clearly better or forced, so the line deserves extra depth.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01000" y="1417320"/>
            <a:ext cx="3108960" cy="164592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417320"/>
            <a:ext cx="73152" cy="16459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Purpose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65592" y="1892808"/>
            <a:ext cx="281635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tactics that would otherwise be hidden just beyond the horizon.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1143000" y="4069080"/>
            <a:ext cx="9875520" cy="731520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 of thumb: spend extra search only where the position screams “look deeper here.”</a:t>
            </a:r>
            <a:endParaRPr lang="en-US" sz="2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Forward Pruning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Forward Pruning: Fast but Risky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Unlike alpha-beta, forward pruning can remove the best move by mistake.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1920240"/>
          </a:xfrm>
          <a:prstGeom prst="roundRect">
            <a:avLst>
              <a:gd name="adj" fmla="val 285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9202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Alpha-beta pruning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Safe: removes branches that cannot affect the minimax value.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1920240"/>
          </a:xfrm>
          <a:prstGeom prst="roundRect">
            <a:avLst>
              <a:gd name="adj" fmla="val 2857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9202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Forward pruning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Risky: removes moves that look poor before proving they are irrelevant.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9202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Beam search example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search the top n moves by evaluation at each ply. Efficient, but may prune a hidden tactic.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143000" y="4389120"/>
            <a:ext cx="987552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461772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Forward pruning buys speed with a possibility of error.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89204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Shannon Type B search.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Forward Pruning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PROBCUT and Late Move Reduction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engines balance risk and speed.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22860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PROBCUT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273552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a shallow search and use past statistics to estimate whether deeper search is unlikely to matter.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617720" y="1417320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1417320"/>
            <a:ext cx="73152" cy="22860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154533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Late Move Reduction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782312" y="1892808"/>
            <a:ext cx="3273552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move ordering is good, later moves are less likely to be best. Search them to reduced depth first.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366760" y="1417320"/>
            <a:ext cx="2743200" cy="2286000"/>
          </a:xfrm>
          <a:prstGeom prst="roundRect">
            <a:avLst>
              <a:gd name="adj" fmla="val 24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66760" y="1417320"/>
            <a:ext cx="73152" cy="22860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135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Recovery mechanism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531352" y="1892808"/>
            <a:ext cx="2450592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 reduced-depth search looks promising, rerun it with full depth.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1143000" y="4480560"/>
            <a:ext cx="9921240" cy="73152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search engines are not pure textbook minimax; they are engineered systems full of safe and risky accelerations.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5.4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Monte Carlo Tree Search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 move quality by building a partial tree through repeated simulated play.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selection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85039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Walk toward promising or underexplored nodes.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37388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880" y="3657600"/>
            <a:ext cx="73152" cy="14173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847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453847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 to the end to sample an outcome.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06196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196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655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backpropagation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22655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statistics along the path.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CSU Channel Islands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01400" y="632764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Tree Search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MCTS Motivation: When Evaluation Is Hard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 values by playing many fast games to the end.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9202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with Go-like games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Huge branching factor and subtle board influence make hand-crafted evaluation difficult.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9202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MCTS idea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expert scoring, simulate many playouts and use observed win rates.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9202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Anytime behavior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longer it runs, the better its statistics become; it can return a move when time expires.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097280" y="4389120"/>
            <a:ext cx="996696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4617720"/>
            <a:ext cx="941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you cannot evaluate the position, try living many possible futures.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17320" y="489204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MCTS learns from simulated experience.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Tree Search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Four-Step MCTS Loop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Selection, expansion, simulation, backpropagation.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08960" y="2103120"/>
            <a:ext cx="3566160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321040" y="2103120"/>
            <a:ext cx="-1645920" cy="242316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321040" y="4526280"/>
            <a:ext cx="-6858000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08960" y="4526280"/>
            <a:ext cx="-1645920" cy="-242316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188720" y="16002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1600200"/>
            <a:ext cx="73152" cy="11430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53312" y="17282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Selection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53312" y="2075688"/>
            <a:ext cx="327355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tree using a rule like UCB/UCT.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600200"/>
            <a:ext cx="73152" cy="11430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65392" y="17282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Expansion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65392" y="2075688"/>
            <a:ext cx="327355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one or more new child nodes.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0" y="402336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4023360"/>
            <a:ext cx="73152" cy="11430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65392" y="41513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Simulation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65392" y="4498848"/>
            <a:ext cx="327355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a playout to a terminal result.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188720" y="402336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4023360"/>
            <a:ext cx="73152" cy="11430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1513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Backpropagation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53312" y="4498848"/>
            <a:ext cx="327355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win/visit counts along the path.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280160" y="5669280"/>
            <a:ext cx="9692640" cy="502920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until time runs out; choose the move with the best visit/win statistics.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Tree Search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MCTS Visual: One Iteration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simulated game result updates the path back to the root.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2648" y="1115568"/>
            <a:ext cx="6547104" cy="4306824"/>
          </a:xfrm>
          <a:prstGeom prst="roundRect">
            <a:avLst>
              <a:gd name="adj" fmla="val 849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10_mcts_it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31890"/>
            <a:ext cx="6492240" cy="36741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4498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5.10: MCTS selection, simulation, backpropagation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452360" y="1417320"/>
            <a:ext cx="3520440" cy="1280160"/>
          </a:xfrm>
          <a:prstGeom prst="roundRect">
            <a:avLst>
              <a:gd name="adj" fmla="val 4286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52360" y="1417320"/>
            <a:ext cx="73152" cy="128016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16952" y="154533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 the counts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16952" y="1892808"/>
            <a:ext cx="322783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node labeled 27/35 means 27 wins from 35 playouts. Counts guide future selection.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7452360" y="3063240"/>
            <a:ext cx="3520440" cy="1097280"/>
          </a:xfrm>
          <a:prstGeom prst="roundRect">
            <a:avLst>
              <a:gd name="adj" fmla="val 5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52360" y="3063240"/>
            <a:ext cx="73152" cy="10972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16952" y="319125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Backpropagation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16952" y="3538728"/>
            <a:ext cx="322783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a rollout ends, every node on the selected path gets updated.</a:t>
            </a:r>
            <a:endParaRPr lang="en-US" sz="1210" dirty="0"/>
          </a:p>
        </p:txBody>
      </p:sp>
      <p:sp>
        <p:nvSpPr>
          <p:cNvPr id="20" name="Shape 17"/>
          <p:cNvSpPr/>
          <p:nvPr/>
        </p:nvSpPr>
        <p:spPr>
          <a:xfrm>
            <a:off x="7452360" y="4526280"/>
            <a:ext cx="3520440" cy="822960"/>
          </a:xfrm>
          <a:prstGeom prst="roundRect">
            <a:avLst>
              <a:gd name="adj" fmla="val 666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52360" y="4526280"/>
            <a:ext cx="73152" cy="82296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16952" y="465429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 prompt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16952" y="5001768"/>
            <a:ext cx="3227832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node becomes more attractive after the black win is backed up?</a:t>
            </a:r>
            <a:endParaRPr lang="en-US" sz="121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Tree Search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Selection: Exploration vs. Exploitation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UCT balances moves that look good with moves that need more evidence.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417320"/>
            <a:ext cx="105156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B6D1D8"/>
            </a:solidFill>
          </a:ln>
        </p:spPr>
        <p:txBody>
          <a:bodyPr wrap="square" lIns="1016" tIns="1016" rIns="1016" bIns="1016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08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UCT(node) = win_rate + C * sqrt( ln(parent_visits) / node_visits 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68680" y="274320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743200"/>
            <a:ext cx="73152" cy="16002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2871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Exploitation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033272" y="3218688"/>
            <a:ext cx="3182112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nodes with high observed win rates.</a:t>
            </a:r>
            <a:endParaRPr lang="en-US" sz="1210" dirty="0"/>
          </a:p>
        </p:txBody>
      </p:sp>
      <p:sp>
        <p:nvSpPr>
          <p:cNvPr id="14" name="Shape 12"/>
          <p:cNvSpPr/>
          <p:nvPr/>
        </p:nvSpPr>
        <p:spPr>
          <a:xfrm>
            <a:off x="4526280" y="274320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26280" y="2743200"/>
            <a:ext cx="73152" cy="16002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90872" y="2871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Exploration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690872" y="3218688"/>
            <a:ext cx="3182112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nodes with low visit counts because they might be underestimated.</a:t>
            </a:r>
            <a:endParaRPr lang="en-US" sz="1210" dirty="0"/>
          </a:p>
        </p:txBody>
      </p:sp>
      <p:sp>
        <p:nvSpPr>
          <p:cNvPr id="18" name="Shape 16"/>
          <p:cNvSpPr/>
          <p:nvPr/>
        </p:nvSpPr>
        <p:spPr>
          <a:xfrm>
            <a:off x="8183880" y="2743200"/>
            <a:ext cx="2743200" cy="1600200"/>
          </a:xfrm>
          <a:prstGeom prst="roundRect">
            <a:avLst>
              <a:gd name="adj" fmla="val 342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3880" y="2743200"/>
            <a:ext cx="73152" cy="16002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8472" y="28712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Tuning C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48472" y="3218688"/>
            <a:ext cx="2450592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C explores more; lower C exploits known good branches more aggressively.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143000" y="5074920"/>
            <a:ext cx="9829800" cy="502920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Teaching phrase: “Trust the scoreboard, but keep scouting unvisited territory.”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Tree Search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Simulation/Rollout: Playing to the End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Rollouts convert an unknown state into a sampled outcome.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29184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Random rollout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99923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legal moves randomly until terminal state. Easy, but noisy.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91840" cy="1828800"/>
          </a:xfrm>
          <a:prstGeom prst="roundRect">
            <a:avLst>
              <a:gd name="adj" fmla="val 3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18288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Heuristic rollout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299923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simple domain rules to make simulations more realistic.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01000" y="1417320"/>
            <a:ext cx="310896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Learned rollout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65592" y="1892808"/>
            <a:ext cx="281635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model or policy network to guide moves, as in advanced systems.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143000" y="4297680"/>
            <a:ext cx="987552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45262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rollout is a cheap imagined future.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80060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value estimate is the average of many futures, not one story.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Tree Search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Backpropagation: Updating the Tree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simulation teaches every node on the selected path.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17320" y="1691640"/>
            <a:ext cx="1828800" cy="8229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46120" y="2514600"/>
            <a:ext cx="1828800" cy="7315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74920" y="3246120"/>
            <a:ext cx="1828800" cy="8229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097280" y="1463040"/>
            <a:ext cx="713232" cy="713232"/>
          </a:xfrm>
          <a:prstGeom prst="rect">
            <a:avLst/>
          </a:prstGeom>
          <a:solidFill>
            <a:srgbClr val="E9E4F6"/>
          </a:solidFill>
          <a:ln w="12700">
            <a:solidFill>
              <a:srgbClr val="005088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37/101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926080" y="2286000"/>
            <a:ext cx="7132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61/80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754880" y="3017520"/>
            <a:ext cx="7132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88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16/54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583680" y="3840480"/>
            <a:ext cx="713232" cy="713232"/>
          </a:xfrm>
          <a:prstGeom prst="rect">
            <a:avLst/>
          </a:prstGeom>
          <a:solidFill>
            <a:srgbClr val="F2B84B"/>
          </a:solidFill>
          <a:ln w="12700">
            <a:solidFill>
              <a:srgbClr val="005088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0/1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35240" y="141732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35240" y="1417320"/>
            <a:ext cx="73152" cy="109728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983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rollout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799832" y="1892808"/>
            <a:ext cx="281635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Counts summarize previous simulations.</a:t>
            </a:r>
            <a:endParaRPr lang="en-US" sz="1210" dirty="0"/>
          </a:p>
        </p:txBody>
      </p:sp>
      <p:sp>
        <p:nvSpPr>
          <p:cNvPr id="20" name="Shape 18"/>
          <p:cNvSpPr/>
          <p:nvPr/>
        </p:nvSpPr>
        <p:spPr>
          <a:xfrm>
            <a:off x="7635240" y="2788920"/>
            <a:ext cx="3108960" cy="1463040"/>
          </a:xfrm>
          <a:prstGeom prst="roundRect">
            <a:avLst>
              <a:gd name="adj" fmla="val 375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35240" y="2788920"/>
            <a:ext cx="73152" cy="14630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99832" y="29169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After rollout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799832" y="3264408"/>
            <a:ext cx="281635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simulated winner is MAX, increment wins and visits for MAX-favorable nodes on the path.</a:t>
            </a:r>
            <a:endParaRPr lang="en-US" sz="1210" dirty="0"/>
          </a:p>
        </p:txBody>
      </p:sp>
      <p:sp>
        <p:nvSpPr>
          <p:cNvPr id="24" name="Shape 22"/>
          <p:cNvSpPr/>
          <p:nvPr/>
        </p:nvSpPr>
        <p:spPr>
          <a:xfrm>
            <a:off x="7635240" y="46177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35240" y="4617720"/>
            <a:ext cx="73152" cy="9144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9832" y="47457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decision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799832" y="5093208"/>
            <a:ext cx="281635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choose the root child with the most visits, not necessarily the highest raw win rate.</a:t>
            </a:r>
            <a:endParaRPr lang="en-US" sz="121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MCTS Pseudocode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the four-stage loop until time runs out.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207008"/>
            <a:ext cx="5907024" cy="2980944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11_mcts_pseudo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36856"/>
            <a:ext cx="5852160" cy="23212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421538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5.11: Monte Carlo tree search algorithm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995160" y="141732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95160" y="1417320"/>
            <a:ext cx="73152" cy="14630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59752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return most playouts?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9752" y="1892808"/>
            <a:ext cx="3456432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Visit count is a robust signal: it reflects both value and confidence accumulated during selection.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6995160" y="324612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95160" y="3246120"/>
            <a:ext cx="73152" cy="12801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59752" y="33741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Anytime property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159752" y="3721608"/>
            <a:ext cx="345643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algorithm can run for 1 second or 1 hour; more time usually improves the move recommendation.</a:t>
            </a:r>
            <a:endParaRPr lang="en-US" sz="1210" dirty="0"/>
          </a:p>
        </p:txBody>
      </p:sp>
      <p:sp>
        <p:nvSpPr>
          <p:cNvPr id="20" name="Shape 17"/>
          <p:cNvSpPr/>
          <p:nvPr/>
        </p:nvSpPr>
        <p:spPr>
          <a:xfrm>
            <a:off x="1828800" y="484632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828800" y="4846320"/>
            <a:ext cx="73152" cy="7315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993392" y="4974336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connection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1993392" y="5321808"/>
            <a:ext cx="7936992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can inspect how visit counts and win rates change as simulations increase.</a:t>
            </a:r>
            <a:endParaRPr lang="en-US" sz="121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 Choice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Alpha-Beta vs. MCTS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different answers to limited computation time.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4572000" cy="2743200"/>
          </a:xfrm>
          <a:prstGeom prst="roundRect">
            <a:avLst>
              <a:gd name="adj" fmla="val 2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27432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Alpha-beta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4279392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Needs a useful evaluation function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Works well with moderate branching factor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Pruning is exact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Classic for chess-like games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6446520" y="1417320"/>
            <a:ext cx="4572000" cy="2743200"/>
          </a:xfrm>
          <a:prstGeom prst="roundRect">
            <a:avLst>
              <a:gd name="adj" fmla="val 2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46520" y="1417320"/>
            <a:ext cx="73152" cy="27432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11112" y="15453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MCTS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611112" y="1892808"/>
            <a:ext cx="4279392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Uses simulations to estimate values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Good when evaluation is hard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Statistical and anytime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Classic for Go-like games and many planning settings</a:t>
            </a:r>
            <a:endParaRPr lang="en-US" sz="1210" dirty="0"/>
          </a:p>
        </p:txBody>
      </p:sp>
      <p:sp>
        <p:nvSpPr>
          <p:cNvPr id="17" name="Text 15"/>
          <p:cNvSpPr/>
          <p:nvPr/>
        </p:nvSpPr>
        <p:spPr>
          <a:xfrm>
            <a:off x="1051560" y="4892040"/>
            <a:ext cx="10058400" cy="68580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 of thumb: If you can evaluate states well, alpha-beta is powerful. If you can simulate outcomes well, MCTS is powerful.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Case Study: From Deep Blue to AlphaGo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AI moved from brute-force alpha-beta to search guided by learned models.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201168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Deep Blue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Chess. Specialized hardware plus highly optimized search defeated Garry Kasparov in 1997.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20116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AlphaGo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Go. MCTS combined with policy/value neural networks defeated Lee Sedol 4-1 in 2016.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2011680"/>
          </a:xfrm>
          <a:prstGeom prst="roundRect">
            <a:avLst>
              <a:gd name="adj" fmla="val 272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201168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Lesson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did not disappear. It became integrated with learning.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10149840" cy="502920"/>
          </a:xfrm>
          <a:prstGeom prst="rect">
            <a:avLst/>
          </a:prstGeom>
          <a:solidFill>
            <a:srgbClr val="FFFDF7"/>
          </a:solidFill>
          <a:ln w="12700">
            <a:solidFill>
              <a:srgbClr val="B6D1D8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References: ibm.com/history/deep-blue   |   deepmind.google/research/alphago/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050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5.5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Stochastic Games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Chance events add probability-weighted averaging to game-tree search.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nodes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85039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and MIN still choose.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37388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880" y="3657600"/>
            <a:ext cx="73152" cy="14173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847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chance nodes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453847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events average.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06196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196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655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scale issue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22655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Heuristic values must be calibrated.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CSU Channel Islands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01400" y="632764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Stochastic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Stochastic Games Add Chance Nodes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Dice, cards, and random events require expected values.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1554480"/>
          </a:xfrm>
          <a:prstGeom prst="roundRect">
            <a:avLst>
              <a:gd name="adj" fmla="val 3529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5544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MAX node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81635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child with maximum value.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108960" cy="1554480"/>
          </a:xfrm>
          <a:prstGeom prst="roundRect">
            <a:avLst>
              <a:gd name="adj" fmla="val 3529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15544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 node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281635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child with minimum MAX value.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01000" y="1417320"/>
            <a:ext cx="3108960" cy="1554480"/>
          </a:xfrm>
          <a:prstGeom prst="roundRect">
            <a:avLst>
              <a:gd name="adj" fmla="val 352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417320"/>
            <a:ext cx="73152" cy="155448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CHANCE node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65592" y="1892808"/>
            <a:ext cx="281635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a probability-weighted average of child values.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868680" y="3794760"/>
            <a:ext cx="1042416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B6D1D8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EXPECTIMINIMAX(chance) = sum over outcomes r of P(r) * value(result after r)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Stochastic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Backgammon: A Classic Stochastic Game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Players choose moves after dice rolls create possible actions.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95528" y="1207008"/>
            <a:ext cx="5541264" cy="4443984"/>
          </a:xfrm>
          <a:prstGeom prst="roundRect">
            <a:avLst>
              <a:gd name="adj" fmla="val 823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12_backgamm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51429"/>
            <a:ext cx="5486400" cy="415514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56784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5.12: typical backgammon position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720840" y="14173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720840" y="1417320"/>
            <a:ext cx="73152" cy="21031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85432" y="15453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chance matters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885432" y="1892808"/>
            <a:ext cx="3547872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Dice determine available moves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Same board can lead to many chance outcomes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move is judged by expected utility over dice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6720840" y="3886200"/>
            <a:ext cx="3840480" cy="1143000"/>
          </a:xfrm>
          <a:prstGeom prst="roundRect">
            <a:avLst>
              <a:gd name="adj" fmla="val 48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720840" y="3886200"/>
            <a:ext cx="73152" cy="11430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85432" y="40142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Teaching analogy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885432" y="4361688"/>
            <a:ext cx="354787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Choosing a backgammon move is like making a plan before knowing tomorrow’s weather probabilities.</a:t>
            </a:r>
            <a:endParaRPr lang="en-US" sz="121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Stochastic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Expectiminimax Tree Structure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tree alternates decisions and random outcomes.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207008"/>
            <a:ext cx="6089904" cy="3895344"/>
          </a:xfrm>
          <a:prstGeom prst="roundRect">
            <a:avLst>
              <a:gd name="adj" fmla="val 939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13_stochastic_backgammon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71" y="1234440"/>
            <a:ext cx="5948979" cy="3840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512978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5.13: stochastic game tree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132320" y="1417320"/>
            <a:ext cx="3749040" cy="2377440"/>
          </a:xfrm>
          <a:prstGeom prst="roundRect">
            <a:avLst>
              <a:gd name="adj" fmla="val 230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32320" y="1417320"/>
            <a:ext cx="73152" cy="23774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96912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Node types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296912" y="1892808"/>
            <a:ext cx="345643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Triangles: MAX or MIN choices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Circles: chance outcomes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Probabilities label chance edges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Values back up by max, min, or average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7132320" y="4160520"/>
            <a:ext cx="3749040" cy="1097280"/>
          </a:xfrm>
          <a:prstGeom prst="roundRect">
            <a:avLst>
              <a:gd name="adj" fmla="val 50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132320" y="4160520"/>
            <a:ext cx="73152" cy="10972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296912" y="4288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Complexity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296912" y="4636008"/>
            <a:ext cx="345643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Chance multiplies the branching factor. Alpha-beta is less effective because averages require more information.</a:t>
            </a:r>
            <a:endParaRPr lang="en-US" sz="121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Stochastic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Worked Example: Expected Value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risky action can beat a safe action depending on probabilities.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291840" cy="1965960"/>
          </a:xfrm>
          <a:prstGeom prst="roundRect">
            <a:avLst>
              <a:gd name="adj" fmla="val 2791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9659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Action A: safe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999232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50% chance of 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50% chance of 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value = 6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91840" cy="1965960"/>
          </a:xfrm>
          <a:prstGeom prst="roundRect">
            <a:avLst>
              <a:gd name="adj" fmla="val 2791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196596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Action B: risky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2999232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90% chance of 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 chance of 40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value = 6.7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001000" y="1417320"/>
            <a:ext cx="3108960" cy="1965960"/>
          </a:xfrm>
          <a:prstGeom prst="roundRect">
            <a:avLst>
              <a:gd name="adj" fmla="val 2791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417320"/>
            <a:ext cx="73152" cy="196596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MAX chooses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165592" y="1892808"/>
            <a:ext cx="2816352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 B by expected value, even though most individual outcomes are worse.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" y="4343400"/>
            <a:ext cx="10058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B6D1D8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08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B = 0.9 × 3 + 0.1 × 40 = 2.7 + 4 = 6.7</a:t>
            </a:r>
            <a:endParaRPr lang="en-US" sz="2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Stochastic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Heuristic Scale Matters in Stochastic Games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Averages are sensitive to the numerical scale.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4572000" cy="2011680"/>
          </a:xfrm>
          <a:prstGeom prst="roundRect">
            <a:avLst>
              <a:gd name="adj" fmla="val 272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20116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427939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 order-preserving transformation usually keeps choices the same because only comparisons matter.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6446520" y="1417320"/>
            <a:ext cx="4572000" cy="2011680"/>
          </a:xfrm>
          <a:prstGeom prst="roundRect">
            <a:avLst>
              <a:gd name="adj" fmla="val 2727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46520" y="1417320"/>
            <a:ext cx="73152" cy="20116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11112" y="15453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Expectiminimax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611112" y="1892808"/>
            <a:ext cx="4279392" cy="1444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Changing scores changes averages, so decisions can change.</a:t>
            </a:r>
            <a:endParaRPr lang="en-US" sz="1210" dirty="0"/>
          </a:p>
        </p:txBody>
      </p:sp>
      <p:sp>
        <p:nvSpPr>
          <p:cNvPr id="17" name="Text 15"/>
          <p:cNvSpPr/>
          <p:nvPr/>
        </p:nvSpPr>
        <p:spPr>
          <a:xfrm>
            <a:off x="1143000" y="4251960"/>
            <a:ext cx="9829800" cy="68580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Rule: EVAL should be linearly related to the actual expected utility or win probability.</a:t>
            </a:r>
            <a:endParaRPr lang="en-US" sz="2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5.6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Partially Observable Games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the full state is hidden, rational play must reason over beliefs and information.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hidden state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85039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Cards, pieces, or intentions may be unknown.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37388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880" y="3657600"/>
            <a:ext cx="73152" cy="14173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847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belief state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453847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set or distribution of possible worlds.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06196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196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655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information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22655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can reveal, hide, or mislead.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CSU Channel Islands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01400" y="632764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Partially Observable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Partially Observable Games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you cannot see the full state, the node is a belief state.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Perfect information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players see the complete state: chess, checkers, Go.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Imperfect information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state variables are hidden: poker hands, Battleship ships, Kriegspiel pieces.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Belief state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set or distribution of actual states consistent with what the agent has observed.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051560" y="4251960"/>
            <a:ext cx="10058400" cy="960120"/>
          </a:xfrm>
          <a:prstGeom prst="roundRect">
            <a:avLst>
              <a:gd name="adj" fmla="val 5714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25880" y="448056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 do not plan from one board; you plan from a cloud of possible boards.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0" y="4800600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cloud changes after every observation and action.</a:t>
            </a:r>
            <a:endParaRPr lang="en-US" sz="11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Partially Observable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Analogies for Hidden Information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 is reasoning under strategic uncertainty.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9202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Poker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cards + betting actions. Moves communicate information and may deceive.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9202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Battleship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ship locations. Shots are both attacks and information-gathering actions.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9202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Security games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Defender and attacker may hide capabilities, targets, and intentions.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1051560" y="4434840"/>
            <a:ext cx="10058400" cy="731520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hidden-information games, an action can be valuable because of what it reveals, not only because of immediate reward.</a:t>
            </a:r>
            <a:endParaRPr lang="en-US" sz="2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Partially Observable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Kriegspiel: A Belief-State Search Tree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reasons over possible boards instead of one visible board.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" y="1115568"/>
            <a:ext cx="5724144" cy="4718304"/>
          </a:xfrm>
          <a:prstGeom prst="roundRect">
            <a:avLst>
              <a:gd name="adj" fmla="val 775"/>
            </a:avLst>
          </a:prstGeom>
          <a:solidFill>
            <a:srgbClr val="FFFFFF"/>
          </a:solidFill>
          <a:ln w="12700">
            <a:solidFill>
              <a:srgbClr val="B6D1D8"/>
            </a:solidFill>
            <a:prstDash val="solid"/>
          </a:ln>
        </p:spPr>
      </p:sp>
      <p:pic>
        <p:nvPicPr>
          <p:cNvPr id="10" name="Image 0" descr="/mnt/data/ch5_assets/fig_5_15_kreigspiel_belief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686" y="1143000"/>
            <a:ext cx="5529507" cy="4663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586130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Figure 5.15: belief-state search in Kriegspiel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720840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720840" y="1417320"/>
            <a:ext cx="73152" cy="23774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85432" y="1545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tree shows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885432" y="1892808"/>
            <a:ext cx="363931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Agent proposes a move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Referee reports whether it is legal or not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Belief state narrows after observations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Probing moves gather information</a:t>
            </a:r>
            <a:endParaRPr lang="en-US" sz="1210" dirty="0"/>
          </a:p>
        </p:txBody>
      </p:sp>
      <p:sp>
        <p:nvSpPr>
          <p:cNvPr id="16" name="Shape 13"/>
          <p:cNvSpPr/>
          <p:nvPr/>
        </p:nvSpPr>
        <p:spPr>
          <a:xfrm>
            <a:off x="6720840" y="4206240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720840" y="4206240"/>
            <a:ext cx="73152" cy="9144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85432" y="43342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Teaching point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885432" y="4681728"/>
            <a:ext cx="363931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right action may be a question disguised as a move.</a:t>
            </a:r>
            <a:endParaRPr lang="en-US" sz="121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Partially Observable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Determinization Trap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Solving a guessed perfect-information game can be misleading.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Determinization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or guess hidden information, then run ordinary minimax on that fully specified state.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8288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tempting?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reuses existing search code and is simple to implement.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dangerous?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ignores information value, bluffing, and strategies that work across many possible hidden states.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143000" y="4297680"/>
            <a:ext cx="987552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45262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Averaging perfect-information answers is not the same as solving an imperfect-information game.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80060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information changes the kind of strategy you need.</a:t>
            </a:r>
            <a:endParaRPr lang="en-US" sz="11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Partially Observable Games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Mixed Strategies and Bluffing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Sometimes being predictable is exploitable.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164592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6459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Pure strategy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choose the same action in the same information state.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1645920"/>
          </a:xfrm>
          <a:prstGeom prst="roundRect">
            <a:avLst>
              <a:gd name="adj" fmla="val 3333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6459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Mixed strategy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among actions probabilistically to avoid exploitation.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1645920"/>
          </a:xfrm>
          <a:prstGeom prst="roundRect">
            <a:avLst>
              <a:gd name="adj" fmla="val 3333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6459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Bluffing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078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action can manipulate the opponent’s beliefs, not just the physical game state.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1005840" y="4023360"/>
            <a:ext cx="10149840" cy="82296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Poker lesson: If you only bet with strong hands, opponents learn to fold. If you always bluff, opponents learn to call.</a:t>
            </a:r>
            <a:endParaRPr lang="en-US" sz="2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050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5.7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 of Game Search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search method escapes modeling assumptions, computational limits, and approximation risk.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complexity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85039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tree can be too large.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37388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880" y="3657600"/>
            <a:ext cx="73152" cy="141732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847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approximation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453847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Heuristics and samples can be wrong.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061960" y="3657600"/>
            <a:ext cx="3413760" cy="1417320"/>
          </a:xfrm>
          <a:prstGeom prst="roundRect">
            <a:avLst>
              <a:gd name="adj" fmla="val 3871"/>
            </a:avLst>
          </a:prstGeom>
          <a:solidFill>
            <a:srgbClr val="F8FBFB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1960" y="3657600"/>
            <a:ext cx="73152" cy="141732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6552" y="3785616"/>
            <a:ext cx="313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adaptation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226552" y="4133088"/>
            <a:ext cx="312115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Opponents exploit weaknesses.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CSU Channel Islands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01400" y="632764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 of Game Search Algorithms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search method makes assumptions or tradeoffs.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325880"/>
            <a:ext cx="73152" cy="12344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4538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Exponential growth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33272" y="18013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trees explode with branching factor and depth.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13258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1325880"/>
            <a:ext cx="73152" cy="12344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6592" y="14538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Heuristic error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736592" y="18013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Cutoff evaluation can misjudge unstable positions.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75320" y="13258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325880"/>
            <a:ext cx="73152" cy="12344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39912" y="14538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Horizon effect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439912" y="18013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Delayed losses can hide beyond depth limits.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68680" y="31546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3154680"/>
            <a:ext cx="73152" cy="123444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" y="32826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Sampling error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33272" y="36301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MCTS estimates can be noisy with too few rollouts.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0" y="31546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154680"/>
            <a:ext cx="73152" cy="1234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32826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Hidden information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736592" y="36301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Belief states and bluffing are hard to model.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275320" y="31546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3154680"/>
            <a:ext cx="73152" cy="123444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39912" y="32826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Exploitability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439912" y="36301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strategy optimized for one model may fail against adaptive opponents.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234440" y="5257800"/>
            <a:ext cx="9601200" cy="685800"/>
          </a:xfrm>
          <a:prstGeom prst="roundRect">
            <a:avLst>
              <a:gd name="adj" fmla="val 8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08760" y="5486400"/>
            <a:ext cx="90525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algn="l"/>
          </a:lstStyle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art is choosing the right approximation for the game you actually have.</a:t>
            </a:r>
            <a:endParaRPr lang="en-US" sz="2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Complexity: The Branching Factor Tax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ply multiplies the number of possible futures.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17320" y="4599432"/>
            <a:ext cx="960120" cy="658368"/>
          </a:xfrm>
          <a:prstGeom prst="rect">
            <a:avLst/>
          </a:prstGeom>
          <a:solidFill>
            <a:srgbClr val="168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25880" y="535838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10^1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25880" y="560527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941064"/>
            <a:ext cx="960120" cy="1316736"/>
          </a:xfrm>
          <a:prstGeom prst="rect">
            <a:avLst/>
          </a:prstGeom>
          <a:solidFill>
            <a:srgbClr val="168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535838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10^2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560527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74920" y="3282696"/>
            <a:ext cx="960120" cy="1975104"/>
          </a:xfrm>
          <a:prstGeom prst="rect">
            <a:avLst/>
          </a:prstGeom>
          <a:solidFill>
            <a:srgbClr val="F2B84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535838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10^3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560527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903720" y="2624328"/>
            <a:ext cx="960120" cy="2633472"/>
          </a:xfrm>
          <a:prstGeom prst="rect">
            <a:avLst/>
          </a:prstGeom>
          <a:solidFill>
            <a:srgbClr val="F2B84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535838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10^4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12280" y="560527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732520" y="1965960"/>
            <a:ext cx="960120" cy="3291840"/>
          </a:xfrm>
          <a:prstGeom prst="rect">
            <a:avLst/>
          </a:prstGeom>
          <a:solidFill>
            <a:srgbClr val="E76F5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41080" y="535838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10^5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41080" y="560527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d=5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" y="1325880"/>
            <a:ext cx="1005840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" y="1325880"/>
            <a:ext cx="73152" cy="9144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0432" y="1453896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70432" y="1801368"/>
            <a:ext cx="97657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branching factor b = 10, five ply gives about 100,000 leaf-level possibilities. Increase b or d, and search explodes.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2560320"/>
            <a:ext cx="10058400" cy="45720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why engines combine pruning, move ordering, cutoff tests, caching, and sampling.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Errors and Exploitability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flawed evaluation function creates predictable weaknesses.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8288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Blind spot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31821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EVAL ignores a feature, the agent may repeatedly choose states that are secretly bad.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526280" y="141732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417320"/>
            <a:ext cx="73152" cy="18288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Overfitting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90872" y="1892808"/>
            <a:ext cx="318211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agent tuned for one opponent or style may fail against another.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417320"/>
            <a:ext cx="73152" cy="18288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545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Adversarial adaptation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8472" y="1892808"/>
            <a:ext cx="2450592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Opponents can steer the game toward positions your search evaluates poorly.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1143000" y="4343400"/>
            <a:ext cx="9875520" cy="914400"/>
          </a:xfrm>
          <a:prstGeom prst="roundRect">
            <a:avLst>
              <a:gd name="adj" fmla="val 6000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45720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heuristic is a theory of what matters. Opponents can test that theory.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84632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why evaluation is both technical and strategic.</a:t>
            </a:r>
            <a:endParaRPr lang="en-US" sz="11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Bridge to Chapter 5 Visual Labs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notebooks to turn lecture ideas into executable search traces.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480060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325880"/>
            <a:ext cx="73152" cy="9144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45389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5A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01368"/>
            <a:ext cx="45079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Tic-Tac-Toe game trees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325880"/>
            <a:ext cx="480060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325880"/>
            <a:ext cx="73152" cy="9144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145389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5B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28232" y="1801368"/>
            <a:ext cx="45079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pruning and move ordering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2743200"/>
            <a:ext cx="480060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2743200"/>
            <a:ext cx="73152" cy="9144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3272" y="287121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5C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033272" y="3218688"/>
            <a:ext cx="45079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Heuristic alpha-beta in Connect Four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2743200"/>
            <a:ext cx="480060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2743200"/>
            <a:ext cx="73152" cy="9144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287121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5D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28232" y="3218688"/>
            <a:ext cx="45079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MCTS and stochastic games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68680" y="4160520"/>
            <a:ext cx="480060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4160520"/>
            <a:ext cx="73152" cy="91440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3272" y="428853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5E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033272" y="4636008"/>
            <a:ext cx="45079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Partially observable games and limitations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05840" y="5577840"/>
            <a:ext cx="10149840" cy="457200"/>
          </a:xfrm>
          <a:prstGeom prst="rect">
            <a:avLst/>
          </a:prstGeom>
          <a:solidFill>
            <a:srgbClr val="E7F6F5"/>
          </a:solidFill>
          <a:ln w="12700">
            <a:solidFill>
              <a:srgbClr val="168A8A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Suggested class flow: lecture concept -&gt; visual trace -&gt; notebook demo -&gt; student modification.</a:t>
            </a:r>
            <a:endParaRPr lang="en-US" sz="1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Instructor Plan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Suggested 110-Minute Class Plan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teaching cadence for a full class meeting.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3291840" cy="1051560"/>
          </a:xfrm>
          <a:prstGeom prst="roundRect">
            <a:avLst>
              <a:gd name="adj" fmla="val 521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325880"/>
            <a:ext cx="73152" cy="105156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45389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0-15 min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01368"/>
            <a:ext cx="299923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Motivation, game assumptions, formal API.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34840" y="1325880"/>
            <a:ext cx="3291840" cy="1051560"/>
          </a:xfrm>
          <a:prstGeom prst="roundRect">
            <a:avLst>
              <a:gd name="adj" fmla="val 5217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325880"/>
            <a:ext cx="73152" cy="10515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45389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15-35 min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9432" y="1801368"/>
            <a:ext cx="299923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trace + student mini-exercise.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01000" y="1325880"/>
            <a:ext cx="3108960" cy="1051560"/>
          </a:xfrm>
          <a:prstGeom prst="roundRect">
            <a:avLst>
              <a:gd name="adj" fmla="val 521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325880"/>
            <a:ext cx="73152" cy="105156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4538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35-55 min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65592" y="1801368"/>
            <a:ext cx="281635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pruning trace + move ordering.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868680" y="2971800"/>
            <a:ext cx="3291840" cy="1051560"/>
          </a:xfrm>
          <a:prstGeom prst="roundRect">
            <a:avLst>
              <a:gd name="adj" fmla="val 5217"/>
            </a:avLst>
          </a:prstGeom>
          <a:solidFill>
            <a:srgbClr val="F8E4E0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2971800"/>
            <a:ext cx="73152" cy="105156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" y="309981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55-75 min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99923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Heuristic alpha-beta, EVAL, horizon effect.</a:t>
            </a:r>
            <a:endParaRPr lang="en-US" sz="1210" dirty="0"/>
          </a:p>
        </p:txBody>
      </p:sp>
      <p:sp>
        <p:nvSpPr>
          <p:cNvPr id="25" name="Shape 23"/>
          <p:cNvSpPr/>
          <p:nvPr/>
        </p:nvSpPr>
        <p:spPr>
          <a:xfrm>
            <a:off x="4434840" y="2971800"/>
            <a:ext cx="3291840" cy="1051560"/>
          </a:xfrm>
          <a:prstGeom prst="roundRect">
            <a:avLst>
              <a:gd name="adj" fmla="val 521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971800"/>
            <a:ext cx="73152" cy="105156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309981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75-95 min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99432" y="3447288"/>
            <a:ext cx="299923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MCTS + stochastic games.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8001000" y="2971800"/>
            <a:ext cx="3108960" cy="1051560"/>
          </a:xfrm>
          <a:prstGeom prst="roundRect">
            <a:avLst>
              <a:gd name="adj" fmla="val 5217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01000" y="2971800"/>
            <a:ext cx="73152" cy="105156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65592" y="30998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95-110 min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165592" y="3447288"/>
            <a:ext cx="281635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 observability, limitations, quiz, lab bridge.</a:t>
            </a:r>
            <a:endParaRPr lang="en-US" sz="1210" dirty="0"/>
          </a:p>
        </p:txBody>
      </p:sp>
      <p:sp>
        <p:nvSpPr>
          <p:cNvPr id="33" name="Text 31"/>
          <p:cNvSpPr/>
          <p:nvPr/>
        </p:nvSpPr>
        <p:spPr>
          <a:xfrm>
            <a:off x="1097280" y="5120640"/>
            <a:ext cx="9875520" cy="548640"/>
          </a:xfrm>
          <a:prstGeom prst="rect">
            <a:avLst/>
          </a:prstGeom>
          <a:solidFill>
            <a:srgbClr val="FFF9E8"/>
          </a:solidFill>
          <a:ln w="12700">
            <a:solidFill>
              <a:srgbClr val="F2B84B"/>
            </a:solidFill>
          </a:ln>
        </p:spPr>
        <p:txBody>
          <a:bodyPr wrap="square" lIns="1270" tIns="1270" rIns="1270" bIns="127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adjustment: split after alpha-beta if you want a slower, code-heavy lab day.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Gotchas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Common Student Gotchas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Address these explicitly before students code.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325880"/>
            <a:ext cx="73152" cy="12344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4538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MAX at every level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1033272" y="18013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Forgetting MIN makes the opponent cooperate.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13258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1325880"/>
            <a:ext cx="73152" cy="123444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6592" y="14538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Using average in minimax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4736592" y="18013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uses choice, not probability.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75320" y="13258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325880"/>
            <a:ext cx="73152" cy="123444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39912" y="14538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Confusing utility and EVAL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8439912" y="18013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Utility is terminal; EVAL estimates non-terminal states.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68680" y="31546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3154680"/>
            <a:ext cx="73152" cy="1234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" y="32826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Pruning changes answer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1033272" y="36301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should return same minimax answer.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0" y="31546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154680"/>
            <a:ext cx="73152" cy="123444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32826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Ignoring move ordering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4736592" y="36301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but slow alpha-beta can look broken.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275320" y="3154680"/>
            <a:ext cx="3246120" cy="123444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3154680"/>
            <a:ext cx="73152" cy="123444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39912" y="32826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Single hidden-state guess</a:t>
            </a:r>
            <a:endParaRPr lang="en-US" sz="1320" dirty="0"/>
          </a:p>
        </p:txBody>
      </p:sp>
      <p:sp>
        <p:nvSpPr>
          <p:cNvPr id="32" name="Text 30"/>
          <p:cNvSpPr/>
          <p:nvPr/>
        </p:nvSpPr>
        <p:spPr>
          <a:xfrm>
            <a:off x="8439912" y="3630168"/>
            <a:ext cx="2953512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 observability requires belief reasoning.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280160" y="5257800"/>
            <a:ext cx="9509760" cy="640080"/>
          </a:xfrm>
          <a:prstGeom prst="roundRect">
            <a:avLst>
              <a:gd name="adj" fmla="val 8571"/>
            </a:avLst>
          </a:prstGeom>
          <a:solidFill>
            <a:srgbClr val="005088"/>
          </a:solidFill>
          <a:ln w="12700">
            <a:solidFill>
              <a:srgbClr val="005088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5486400"/>
            <a:ext cx="8961120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students can explain these mistakes, they understand the chapter.</a:t>
            </a:r>
            <a:endParaRPr lang="en-US" sz="2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 Practice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Quick Quiz: Check for Understanding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as exit ticket, group discussion, or exam practice.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29184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73152" cy="132588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1892808"/>
            <a:ext cx="299923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a MIN node with children 7, 2, 5, what value backs up?</a:t>
            </a:r>
            <a:endParaRPr lang="en-US" sz="121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9184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417320"/>
            <a:ext cx="73152" cy="132588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5453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Q2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9432" y="1892808"/>
            <a:ext cx="299923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alpha-beta pruning change the minimax value?</a:t>
            </a:r>
            <a:endParaRPr lang="en-US" sz="1210" dirty="0"/>
          </a:p>
        </p:txBody>
      </p:sp>
      <p:sp>
        <p:nvSpPr>
          <p:cNvPr id="17" name="Shape 15"/>
          <p:cNvSpPr/>
          <p:nvPr/>
        </p:nvSpPr>
        <p:spPr>
          <a:xfrm>
            <a:off x="8001000" y="1417320"/>
            <a:ext cx="310896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417320"/>
            <a:ext cx="73152" cy="132588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545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65592" y="1892808"/>
            <a:ext cx="281635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the difference between UTILITY and EVAL?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868680" y="3429000"/>
            <a:ext cx="329184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3429000"/>
            <a:ext cx="73152" cy="13258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" y="355701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Q4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33272" y="3904488"/>
            <a:ext cx="299923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a chance node, do we choose max, min, or average?</a:t>
            </a:r>
            <a:endParaRPr lang="en-US" sz="1210" dirty="0"/>
          </a:p>
        </p:txBody>
      </p:sp>
      <p:sp>
        <p:nvSpPr>
          <p:cNvPr id="25" name="Shape 23"/>
          <p:cNvSpPr/>
          <p:nvPr/>
        </p:nvSpPr>
        <p:spPr>
          <a:xfrm>
            <a:off x="4434840" y="3429000"/>
            <a:ext cx="3291840" cy="1325880"/>
          </a:xfrm>
          <a:prstGeom prst="roundRect">
            <a:avLst>
              <a:gd name="adj" fmla="val 4138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3429000"/>
            <a:ext cx="73152" cy="132588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355701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Q5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99432" y="3904488"/>
            <a:ext cx="299923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can a single guessed poker hand be a bad model?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8001000" y="3429000"/>
            <a:ext cx="3108960" cy="1325880"/>
          </a:xfrm>
          <a:prstGeom prst="roundRect">
            <a:avLst>
              <a:gd name="adj" fmla="val 4138"/>
            </a:avLst>
          </a:prstGeom>
          <a:solidFill>
            <a:srgbClr val="E2F4ED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01000" y="3429000"/>
            <a:ext cx="73152" cy="13258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65592" y="35570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Q6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165592" y="3904488"/>
            <a:ext cx="2816352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one cause of the horizon effect.</a:t>
            </a:r>
            <a:endParaRPr lang="en-US" sz="121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Synthesis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Algorithm Selection Cheat Sheet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 the algorithm to the game structure and resource constraints.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10972800" cy="530352"/>
          </a:xfrm>
          <a:prstGeom prst="roundRect">
            <a:avLst>
              <a:gd name="adj" fmla="val 6897"/>
            </a:avLst>
          </a:prstGeom>
          <a:solidFill>
            <a:srgbClr val="FFFDF7"/>
          </a:solidFill>
          <a:ln w="6350">
            <a:solidFill>
              <a:srgbClr val="B6D1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35331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deterministic perfect-info game</a:t>
            </a:r>
            <a:endParaRPr lang="en-US" sz="1120" dirty="0"/>
          </a:p>
        </p:txBody>
      </p:sp>
      <p:sp>
        <p:nvSpPr>
          <p:cNvPr id="11" name="Text 9"/>
          <p:cNvSpPr/>
          <p:nvPr/>
        </p:nvSpPr>
        <p:spPr>
          <a:xfrm>
            <a:off x="5074920" y="13533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7863840" y="13533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if tree is small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731520" y="1984248"/>
            <a:ext cx="10972800" cy="530352"/>
          </a:xfrm>
          <a:prstGeom prst="roundRect">
            <a:avLst>
              <a:gd name="adj" fmla="val 6897"/>
            </a:avLst>
          </a:prstGeom>
          <a:solidFill>
            <a:srgbClr val="E7F6F5"/>
          </a:solidFill>
          <a:ln w="6350">
            <a:solidFill>
              <a:srgbClr val="B6D1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1031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Larger deterministic perfect-info game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5074920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Alpha-beta + ordering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786384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answer, fewer nodes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731520" y="2734056"/>
            <a:ext cx="10972800" cy="530352"/>
          </a:xfrm>
          <a:prstGeom prst="roundRect">
            <a:avLst>
              <a:gd name="adj" fmla="val 6897"/>
            </a:avLst>
          </a:prstGeom>
          <a:solidFill>
            <a:srgbClr val="FFFDF7"/>
          </a:solidFill>
          <a:ln w="6350">
            <a:solidFill>
              <a:srgbClr val="B6D1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28529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Huge game with useful features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5074920" y="28529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Heuristic alpha-beta</a:t>
            </a:r>
            <a:endParaRPr lang="en-US" sz="1120" dirty="0"/>
          </a:p>
        </p:txBody>
      </p:sp>
      <p:sp>
        <p:nvSpPr>
          <p:cNvPr id="20" name="Text 18"/>
          <p:cNvSpPr/>
          <p:nvPr/>
        </p:nvSpPr>
        <p:spPr>
          <a:xfrm>
            <a:off x="7863840" y="28529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Depth-limited practical play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731520" y="3483864"/>
            <a:ext cx="10972800" cy="530352"/>
          </a:xfrm>
          <a:prstGeom prst="roundRect">
            <a:avLst>
              <a:gd name="adj" fmla="val 6897"/>
            </a:avLst>
          </a:prstGeom>
          <a:solidFill>
            <a:srgbClr val="E7F6F5"/>
          </a:solidFill>
          <a:ln w="6350">
            <a:solidFill>
              <a:srgbClr val="B6D1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360273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Huge game with hard evaluation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5074920" y="360273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MCTS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7863840" y="36027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simulation statistics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731520" y="4233672"/>
            <a:ext cx="10972800" cy="530352"/>
          </a:xfrm>
          <a:prstGeom prst="roundRect">
            <a:avLst>
              <a:gd name="adj" fmla="val 6897"/>
            </a:avLst>
          </a:prstGeom>
          <a:solidFill>
            <a:srgbClr val="FFFDF7"/>
          </a:solidFill>
          <a:ln w="6350">
            <a:solidFill>
              <a:srgbClr val="B6D1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3525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with dice/shuffling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5074920" y="435254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Expectiminimax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7863840" y="435254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chance outcomes</a:t>
            </a:r>
            <a:endParaRPr lang="en-US" sz="1120" dirty="0"/>
          </a:p>
        </p:txBody>
      </p:sp>
      <p:sp>
        <p:nvSpPr>
          <p:cNvPr id="29" name="Shape 27"/>
          <p:cNvSpPr/>
          <p:nvPr/>
        </p:nvSpPr>
        <p:spPr>
          <a:xfrm>
            <a:off x="731520" y="4983480"/>
            <a:ext cx="10972800" cy="530352"/>
          </a:xfrm>
          <a:prstGeom prst="roundRect">
            <a:avLst>
              <a:gd name="adj" fmla="val 6897"/>
            </a:avLst>
          </a:prstGeom>
          <a:solidFill>
            <a:srgbClr val="E7F6F5"/>
          </a:solidFill>
          <a:ln w="6350">
            <a:solidFill>
              <a:srgbClr val="B6D1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1023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information game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5074920" y="5102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Belief-state / game-theoretic methods</a:t>
            </a:r>
            <a:endParaRPr lang="en-US" sz="1120" dirty="0"/>
          </a:p>
        </p:txBody>
      </p:sp>
      <p:sp>
        <p:nvSpPr>
          <p:cNvPr id="32" name="Text 30"/>
          <p:cNvSpPr/>
          <p:nvPr/>
        </p:nvSpPr>
        <p:spPr>
          <a:xfrm>
            <a:off x="7863840" y="51023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 over possible states</a:t>
            </a:r>
            <a:endParaRPr lang="en-US" sz="112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12700">
            <a:solidFill>
              <a:srgbClr val="B6D1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967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 469 | Adversarial Search and Games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0" y="65196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0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 and Helpful URLs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932688"/>
            <a:ext cx="11109960" cy="0"/>
          </a:xfrm>
          <a:prstGeom prst="line">
            <a:avLst/>
          </a:prstGeom>
          <a:noFill/>
          <a:ln w="25400">
            <a:solidFill>
              <a:srgbClr val="16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978408"/>
            <a:ext cx="11018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these with students for review and further exploration.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489204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325880"/>
            <a:ext cx="73152" cy="914400"/>
          </a:xfrm>
          <a:prstGeom prst="rect">
            <a:avLst/>
          </a:prstGeom>
          <a:solidFill>
            <a:srgbClr val="168A8A"/>
          </a:solidFill>
          <a:ln w="12700">
            <a:solidFill>
              <a:srgbClr val="168A8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45389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AIMA textbook site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1033272" y="1801368"/>
            <a:ext cx="45994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https://aima.cs.berkeley.edu/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6263640" y="1325880"/>
            <a:ext cx="489204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325880"/>
            <a:ext cx="73152" cy="914400"/>
          </a:xfrm>
          <a:prstGeom prst="rect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145389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AIMA Python code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428232" y="1801368"/>
            <a:ext cx="45994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https://github.com/aimacode/aima-python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868680" y="2743200"/>
            <a:ext cx="489204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2743200"/>
            <a:ext cx="73152" cy="9144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3272" y="287121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AIMA Python games module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1033272" y="3218688"/>
            <a:ext cx="45994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https://aima.cs.berkeley.edu/python/games.html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6263640" y="2743200"/>
            <a:ext cx="489204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2743200"/>
            <a:ext cx="73152" cy="9144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287121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Berkeley CS188 AI course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6428232" y="3218688"/>
            <a:ext cx="45994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https://inst.eecs.berkeley.edu/~cs188/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868680" y="4160520"/>
            <a:ext cx="489204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4160520"/>
            <a:ext cx="73152" cy="91440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3272" y="428853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IBM Deep Blue history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1033272" y="4636008"/>
            <a:ext cx="45994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https://www.ibm.com/history/deep-blue</a:t>
            </a:r>
            <a:endParaRPr lang="en-US" sz="1120" dirty="0"/>
          </a:p>
        </p:txBody>
      </p:sp>
      <p:sp>
        <p:nvSpPr>
          <p:cNvPr id="29" name="Shape 27"/>
          <p:cNvSpPr/>
          <p:nvPr/>
        </p:nvSpPr>
        <p:spPr>
          <a:xfrm>
            <a:off x="6263640" y="4160520"/>
            <a:ext cx="4892040" cy="9144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B6D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4160520"/>
            <a:ext cx="73152" cy="9144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28853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0508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Google DeepMind AlphaGo</a:t>
            </a:r>
            <a:endParaRPr lang="en-US" sz="1320" dirty="0"/>
          </a:p>
        </p:txBody>
      </p:sp>
      <p:sp>
        <p:nvSpPr>
          <p:cNvPr id="32" name="Text 30"/>
          <p:cNvSpPr/>
          <p:nvPr/>
        </p:nvSpPr>
        <p:spPr>
          <a:xfrm>
            <a:off x="6428232" y="4636008"/>
            <a:ext cx="45994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https://deepmind.google/research/alphago/</a:t>
            </a:r>
            <a:endParaRPr lang="en-US" sz="1120" dirty="0"/>
          </a:p>
        </p:txBody>
      </p:sp>
      <p:sp>
        <p:nvSpPr>
          <p:cNvPr id="33" name="Text 31"/>
          <p:cNvSpPr/>
          <p:nvPr/>
        </p:nvSpPr>
        <p:spPr>
          <a:xfrm>
            <a:off x="1005840" y="55321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 for this lecture: Chapter 5, Adversarial Search and Games, plus the provided Chapter 5 images and visual labs.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050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85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DEE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Chapter 5 Wrap-Up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Search becomes strategy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when another agent pushes back.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749040"/>
            <a:ext cx="99669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D9F6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gives the ideal. Alpha-beta saves work. Heuristics handle time. MCTS samples futures. Stochastic and partially observable games force us to model uncertainty.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80560" y="5349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B84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1064240" y="59618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85</Slides>
  <Notes>85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</vt:vector>
  </TitlesOfParts>
  <Company>California State University Channel Islands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 469 Chapter 5 Full Lecture: Adversarial Search and Games</dc:title>
  <dc:subject>Chapter 5: Adversarial Search and Games</dc:subject>
  <dc:creator>COMP 469 / CSU Channel Islands</dc:creator>
  <cp:lastModifiedBy>COMP 469 / CSU Channel Islands</cp:lastModifiedBy>
  <cp:revision>1</cp:revision>
  <dcterms:created xsi:type="dcterms:W3CDTF">2026-07-13T00:23:45Z</dcterms:created>
  <dcterms:modified xsi:type="dcterms:W3CDTF">2026-07-13T00:23:45Z</dcterms:modified>
</cp:coreProperties>
</file>