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65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64.xml" ContentType="application/vnd.openxmlformats-officedocument.presentationml.slide+xml"/>
  <Override PartName="/ppt/slides/slide29.xml" ContentType="application/vnd.openxmlformats-officedocument.presentationml.slide+xml"/>
  <Override PartName="/ppt/slides/slide61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14.xml" ContentType="application/vnd.openxmlformats-officedocument.presentationml.slide+xml"/>
  <Override PartName="/ppt/slides/slide73.xml" ContentType="application/vnd.openxmlformats-officedocument.presentationml.slide+xml"/>
  <Override PartName="/ppt/slides/slide77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85.xml" ContentType="application/vnd.openxmlformats-officedocument.presentationml.slide+xml"/>
  <Override PartName="/ppt/slides/slide72.xml" ContentType="application/vnd.openxmlformats-officedocument.presentationml.slide+xml"/>
  <Override PartName="/ppt/slides/slide75.xml" ContentType="application/vnd.openxmlformats-officedocument.presentationml.slide+xml"/>
  <Override PartName="/ppt/slides/slide49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76.xml" ContentType="application/vnd.openxmlformats-officedocument.presentationml.slide+xml"/>
  <Override PartName="/ppt/slides/slide71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0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57.xml" ContentType="application/vnd.openxmlformats-officedocument.presentationml.slide+xml"/>
  <Override PartName="/ppt/slides/slide20.xml" ContentType="application/vnd.openxmlformats-officedocument.presentationml.slide+xml"/>
  <Override PartName="/ppt/slides/slide83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74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397992-8C32-41DE-A544-13AC1E00A68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move: Open by asking students to name a game where they can plan without worrying about an opponent, then one where the opponent actively adapts. This contrast is the heart of Chapter 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In Chapter 3, search was like using GPS on a map. In Chapter 5, the map can fight back. Every path you choose gives the other side a chance to redirect the outcome.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 to flag early: A random event is not the same as an adversary. Rain does not try to beat you; a chess opponent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81CED7-D045-41EF-8C3F-7DD68512C8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as the pacing map. Students can feel lost because Chapter 5 contains many algorithms. Keep returning to one simple question: if another agent can choose outcomes against me, how do I decide?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note: Tell students the chapter is not only about games. Games are clean laboratories for multi-agent decision making, negotiation, security, auctions, robot teams, and adversarial ML.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let students think minimax is only for tic-tac-toe. Tic-tac-toe is the microscope; the concepts scale to much harder domains.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6F6E15-3490-40D6-BA4F-76C7F517F8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Tell students that this chapter has three levels of mastery. First, vocabulary: MAX, MIN, utility, terminal, alpha, beta. Second, tracing: can they compute the numbers on a tree? Third, engineering judgment: can they choose minimax, alpha-beta, heuristic search, MCTS, or belief-state reasoning for a given game?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Vocabulary is knowing the pieces on a chess board. Tracing is playing a legal game. Engineering judgment is choosing a strategy under a clock.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often memorize the pseudocode without understanding what the numbers mean. Emphasize that every backed-up value is a promise about what optimal play will force.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FAAB2-1596-426F-B04D-9D0D26A2E0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with familiar games: tic-tac-toe, Connect Four, chess, Go, poker. Ask: Which are fully observable? Which include chance? Which require bluffing?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Games are like wind tunnels for AI. Airplane engineers do not begin by flying into a hurricane; they test principles in controlled conditions. Game AI does the same for decision making.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game can be easy for humans but hard computationally. Students should not equate familiarity with algorithmic simplicity.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5BFAE3-5022-499E-A7EE-82BA02C629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to show the chapter's progression. First we assume deterministic, two-player, zero-sum, turn-taking, perfect-information games. Then the chapter broadens: multiple players, time limits, chance events, hidden information, and algorithmic limits.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note: Keep writing the assumptions on the board. Students understand the algorithms better when they see which assumption each one depends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Minimax is not wrong when assumptions fail; it is just solving a different problem than the one you actually have.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3DCDC9-718F-4B77-8619-E42726B998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students: Is a slot machine adversarial? Is poker adversarial? Is traffic adversarial? This opens discussion about modeling choices. Traffic may contain many agents, but sometimes we model it statistically; other times we model strategic drivers explicitly.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Rain is uncertainty. An opponent is uncertainty with goals.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say 'MIN is random.' In minimax, MIN is not random; MIN is assumed to choose the move that is worst for MAX.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B33F86-8B67-430D-BAB5-45636B6C9E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that modeling is a design choice, not a law of nature. In some contexts, another person is best modeled statistically; in others, strategically.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activity: Put five examples on the board and ask students to classify them. Then challenge classifications. Example: traffic can be aggregate flow, nondeterministic noise, or multi-agent strategy depending on the goal.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The agent's model does not have to represent every real-world detail. It only needs enough structure to choose actions effectively.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E1BDC7-C79F-41AA-BF91-D482F6AB5F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names the assumptions students should memorize. Write them as a checklist. For any game, students can ask: deterministic? two-player? turn-taking? perfect information? zero-sum?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These assumptions are like lab conditions. We start in a clean lab before moving to the messy field.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Perfect information does not mean the future is known. It means the current state is fully observable.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C66AAF-5BF4-49E3-BF72-B0C7320A03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Tie this directly to students' Python labs. A Game class usually has methods actions(state), result(state, action), terminal(state), utility(state, player), and to_move(state).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This API is the contract between the game rules and the search algorithm. The search algorithm does not need to know what a rook or a checker is; it only asks for legal actions and resulting states.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UTILITY is for terminal states. A heuristic EVAL is for non-terminal states when we cut off search early.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52984E-FE2F-495D-BC68-8A6BED74A4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Students often confuse these. The game rules define a graph of states. The algorithm builds a tree of possible futures from where we are now.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The city road map is a graph. Your GPS route exploration from home is a tree of possible trips. The same intersection can appear in many planned routes.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search node is not necessarily a unique state. It is a path plus a state. This matters for repeated states and transposition tables.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3905AA-44BD-4887-AEC3-9AD305D672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slide slowly. Point to the root, then one child, then one grandchild. Ask students: whose turn is it on each level? What does a leaf utility mean?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The tree is a script of all possible conversations between two players. MAX says one move, MIN replies, MAX replies,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The utility is from MAX's perspective unless otherwise stated. A value of -1 is not 'bad for both'; it is bad for MAX and good for MIN.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5D7C69-7BCB-4283-9F55-F9F9850F6A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a quick calculation: if each position has 10 legal moves and you look ahead 6 ply, that is roughly one million leaves. Then raise branching factor to chess-like values.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Searching a game tree is like asking 'what if?' repeatedly. A few 'what ifs' are easy; millions are not.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think faster computers solve the whole problem. Exponential growth usually outruns hardware improvements.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E46EC2-76CA-484D-800B-E1EE774AC0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Clarify that MAX and MIN are roles, not moral labels. MAX is the player whose utility scale we are using. MIN's utility is the negative or opposite.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In a debate tournament, your opponent is not 'evil' for refuting your argument. Their objective conflicts with yours.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Some students think MIN chooses the smallest number for itself. In zero-sum form, the numbers shown are for MAX, so MIN chooses the smallest MAX number.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6A080B-A4BA-4131-BF13-842F8DA05C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prevents later confusion about evaluation functions. Terminal utility is exact. Heuristic evaluation is an estimate.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Utility is the scoreboard after the game ends. A heuristic is the commentator saying who looks ahead before the game is over.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often treat all values as probabilities. In minimax, any ordered utility scale can work. In expectiminimax, the scale matters because averages are computed.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713B53-0EA1-4772-971B-A677D02BB1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 chess opening example. A move like e4 is not just a move; it opens a family of responses depending on what Black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It is like planning a conversation with a difficult interviewer. You prepare branches: if they ask about project A, I answer this; if they challenge method B, I answer that.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say minimax 'predicts' the exact opponent move. It assumes the opponent will choose the reply that leads to the lowest MAX utility.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4AE105-4DD2-4B2B-8078-99202913E0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Students now have the formal game setup. This section answers how to choose an optimal move.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analogy: Think of minimax as a debate tree where each side picks the strongest response available to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The word optimal always assumes a model of the opponent. Here the model is: the opponent plays optimally to minimize MAX's utility.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6A18A7-9B81-41AB-BC7A-C605EA7F73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slide students should remember. The definition is recursive and simple.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Imagine each node asking its children, 'What score will happen from you?' MAX picks the loudest good news; MIN picks the worst news for MAX.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Emphasize that values are backed up from the leaves. We do not know the root value until enough descendant values have been evaluated.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7F270-4B7C-4069-BDA1-661F7E930C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figure exactly. Ask: Why is B worth 3 instead of 12? Because MIN gets to choose among B's children. Why is A worth 3? Because MAX chooses among B, C, and 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Each parent lets the player to move pick the child that best serves that player's goal.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incorrectly average the leaves. Minimax does not average; it assumes strategic choice, not random choice.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292F84-C1A2-44C0-9665-D73CC28C90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rush to the root. Force the class to start at the leaves. This develops the right mental model for recursive algorithms.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You cannot grade a tournament bracket until the games at the bottom have scores.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often try to choose root action immediately by looking at the largest leaf, e.g., 14. That is wrong because MIN may prevent that leaf.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16851-21BC-4A09-808E-C7948942E1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perspective. The number at a MIN node is not what MIN 'gets' if they have a separate utility scale. It is the resulting MAX value after MIN chooses.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MIN is the gatekeeper who sends MAX down the least favorable hallway.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select 12 under B because it is the largest leaf. Ask: who moves at B? MIN, not MAX.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536881-86E2-4C95-A2AF-9946F01CB1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students why action a3 is not selected despite having a leaf value of 14. The answer is that MIN can reply to force value 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tempting path with a hidden trap is not a guaranteed win. Minimax values guarantees under adversarial response.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The chosen move is not necessarily the move with the best possible outcome; it is the move with the best worst-case outcome against optimal opposition.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4331D6-1890-42CA-8348-479A6B3E61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this as a quick retrieval practice. Have students work individually first, then compare with a neighbor.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Suggested answer: left MIN = -2, middle MIN = 1, right MIN = 0, root MAX = 1, choose the middle branch.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If a student picks 9 because it is the largest leaf, ask them which player controls the parent of that leaf.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67ADD2-9D10-4E05-90AE-ABCBD65978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image for algorithmic structure, not for line-by-line memorization. Students should identify base case, recursive call, comparison, and returned move.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recursive search is like sending scouts down every path. Each scout reports a score back to the parent. The parent chooses according to whose turn it 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frequent bug is using max at every level. That makes the opponent cooperate, which is not adversarial search.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A86E5-1D8E-4B3B-9FF1-73962368E9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key reality check. Even if each node is cheap, the number of nodes explodes quickly.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every decision gives three new roads, six decisions later you have 729 possible paths if you count all complete paths. That explosion is why we need pruning and heuristics.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focus on depth only. Branching factor matters just as much. Go is hard not because games are long only, but because there are many legal moves.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5BF097-E34E-4A5E-9E52-C544513147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great discussion slide. Ask students whether they should play the same way against a grandmaster and a beginner.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In tennis, a safe strategy against a pro may not exploit a beginner's weak backhand.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present minimax as a model of human psychology. It is a worst-case strategic model.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FE071-62A6-4AD6-84D4-6AEC29CD4B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with a simple vector. If C chooses between &lt;1,2,6&gt; and &lt;4,2,3&gt;, C chooses the first because 6 &gt; 3, even though A would prefer the second.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In a group project negotiation, every person has their own scoreboard. A move that helps one player may be neutral or harmful to others.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collapse multiplayer games into simple MAX/MIN unless there is a true zero-sum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CC015A-CA60-432E-BA9B-99E182F78D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figure to show that the generalization is technically simple but conceptually richer.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move: Pick one internal node and ask which component students should compare.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compare the sum of utilities. That is not the default. Each player chooses according to their own utility component unless the game explicitly defines a social welfare objective.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0DD211-8FA9-4C59-A8B5-9E8067503C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helps students connect game search to game theory. Alliances are not magic; they can fall out of utility structures.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In a board game, two losing players may both target the leader. They are not being altruistic; they are preventing the leader from running away with the game.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coalition is not guaranteed to be stable. The algorithmic model needs a way to represent agreements or repeated-game effects if those matter.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77F9CF-C517-4B37-BA6A-FA86B2D29B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bridge to AI safety and multi-agent systems. If the utility structure permits win-win outcomes, rational agents may cooperate.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Two students sharing notes for a quiz can both benefit; this is not zero-sum. But two candidates competing for one job may be closer to zero-sum.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assume 'adversarial' means every interaction is pure conflict. The utility model defines conflict or cooperation.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17F046-0EE4-4B5C-811A-DD91CFAE52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After students see minimax's exponential cost, alpha-beta feels like relief. Emphasize that it is exact pruning, not a heuristic shortcut.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Alpha-beta is like refusing to investigate options that have already failed a necessary condition.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Pruning savings are highly dependent on move ordering.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4BC7D3-1A01-4D0B-B393-958DDDF83E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most important intuition for alpha-beta. It does not guess. It skips only branches that cannot affect the optimal minimax decision.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Shopping for the cheapest flight: once you find a flight for $300, you do not need to fully examine an itinerary that already costs $500 before adding taxes.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Alpha-beta pruning does not change the minimax value. If it does, the implementation has a bug.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93EEFC-6629-4BB7-A346-36286C0DC4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alpha and beta out loud several times: alpha means MAX's current best lower bound. Beta means MIN's current best upper bound.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Alpha is MAX's reservation value. Beta is MIN's ceiling. When the floor meets or exceeds the ceiling, there is no useful negotiation left.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sometimes update alpha at MIN nodes or beta at MAX nodes. In the classic algorithm, MAX updates alpha, MIN updates beta.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8F15B-9104-47F8-8673-89FFAB8304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figure as a story. First MAX learns it has an option worth 3. Then it begins evaluating C. Because C is a MIN node and the first child gives 2, C cannot possibly rise above 2 for MAX. So MAX will never choose 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you already have a guaranteed B grade, and a path can at best give you a C, stop investigating that path.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We are not pruning because C is bad in absolute terms; we prune because C is worse than an already available alternative.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2B4033-A019-45CA-B3AE-84B891E42A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isolates the reasoning from the larger figure. Ask students to complete the inequality: if alpha = 3 and C can be at most 2, then C cannot improve MAX's choice.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a restaurant has already failed the health inspection at the entrance, you do not need to inspect the dessert menu.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sometimes ask, 'But what if a pruned leaf is 100?' Under C, MIN would still choose the already seen 2, so the high leaf cannot help MAX.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F5F3A8-3BEC-4F9C-BDE9-8351EF498A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gives a mathematical explanation after the intuition. Keep it short. The key is that z cannot exceed 2 because min(2,x,y) is never greater than 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the minimum of a set includes 2, adding bigger numbers to the set cannot make the minimum bigger.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Make sure students understand the word 'min' here. It is why x and y do not matter.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957824-FEDA-498C-9449-76C12E4C00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 this to minimax. The recursive structure is the same; the bounds are the new ingredient.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move: Ask students to annotate the pseudocode with one color for MAX updates and another color for MIN updates.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In Python labs, the most common bug is not propagating updated alpha/beta into recursive calls or returning after a cutoff without preserving the best move.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F4CDE-D259-4AD8-923F-7076B0D8DB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Students may think alpha-beta alone is enough. Explain that alpha-beta needs useful early bounds. Move ordering is how we get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you are looking for the best restaurant, visiting the most likely good restaurants first helps you eliminate weak candidates quickly.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Move ordering affects runtime, not the final result, assuming full alpha-beta search to the same depth.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01DE6F-0914-4C31-986C-88E8BD921B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clear that the numbers are illustrative. The direction is the lesson: move ordering can dramatically reduce 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Search is like interviewing candidates. If you interview the strongest candidates first, you can reject weaker ones sooner.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Perfect ordering sounds circular because knowing the best move would already solve the problem. In practice, we use cheap approximations and previous searches.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D86AC1-8B52-422C-BC35-C048FA916B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transposition as repeated states through different move orders. This is common in games where actions in distant regions are independent.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two routes lead to the same airport gate, you do not need to re-evaluate every flight option after reaching the gate.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transposition table is not just a visited set. It often stores value, depth, bounds, and best move, because the usefulness depends on search depth and context.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A4F00D-B171-4AC5-9F1C-ECEA123D5B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 to Chapter 3 iterative deepening, then show why it is extra useful in games: it returns a usable move if time expires, and it produces move ordering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Skim the exam first to find easy questions, then go deeper. The skim helps you allocate time and identify promising paths.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Iterative deepening is not wasted work in practice because the deepest level dominates the node count, and the improved ordering can more than repay the repeated shallow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11B4F-263C-4BF2-AE06-77E23346A7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Alpha-beta still cannot solve large games fully. This section makes search practical by adding heuristics.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commentator evaluates a game before it ends. They may be right often, but not always.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fast, wrong evaluation can make the agent confidently choose losing moves.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B6B170-D578-4D73-AC59-142FB71629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section is the bridge from exact theory to practical engines. Exact minimax is elegant but often impossible.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Watching a basketball game at halftime, you cannot know the final score, but you can estimate who is likely to win based on score, fouls, momentum, and injuries.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Heuristic evaluation is not utility. It estimates utility at cutoff states.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F7CB7B-53C6-445D-9A0A-4AC4508BBD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students compare this to minimax. The recursion is the same, but the base case expands from terminal states to cutoff states.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you cannot read the whole novel before class, you stop at a chapter and make an educated prediction about the ending.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fixed depth cutoff can be dangerous if the position at that depth is unstable.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7BB97-BE8C-401C-8832-0E987084D2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the evaluation function concrete. Ask students what features they would use for tic-tac-toe, Connect Four, or chess.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sports commentator uses features: score, time remaining, injuries, possession. The commentator is not simulating every future, but estimating strength.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More features do not automatically improve evaluation. Bad or slow features can hurt performance.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15D0ED-EF6C-40EB-864A-AD753018E1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figure to introduce tactical instability. A naive material count might say Black is ahead, but a nearby capture can change everything.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Judging a game at halftime based only on the score misses that the star player just got injured. A single upcoming event can dominate the evaluation.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Heuristic values are only as good as the features they see and the horizon they can reach.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AB752-6739-4229-B796-F4697F0802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direct bridge to machine learning. Features can be hand-crafted or learned.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course grade is often a weighted sum: exams, labs, participation, final project. But in games, features can interact in nonlinear 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linear score can prefer a position with many small advantages while missing one decisive tactical weakness.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4E2F3E-81BA-4039-BA20-A952903613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is very practical. Students can see that an evaluation function is not magic; it is a score over features.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Connect Four evaluation is like scanning the board for 'almost wins' and 'almost losses.'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If the heuristic ignores opponent threats, the agent may happily build its own line while allowing the opponent to win immediately.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02F5A0-AD21-4A65-8F21-D28AA63E9B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one of the best analogies in the chapter. Students immediately understand that evaluating during a forced capture sequence is unreliable.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Do not judge traffic speed while cars are braking for an accident. Wait until traffic stabilizes.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Quiescence search is not unlimited full search. It is usually restricted to forcing or volatile moves, such as captures or checks in chess.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4C8074-2C77-4F86-8DEE-26B6B19F9F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phrase 'pushed over the horizon.' Students know the horizon as the line beyond which you cannot see.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student with a deadline keeps doing tiny tasks to avoid starting the project. The problem has not disappeared; it has moved beyond today's view.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Increasing depth helps but does not eliminate the horizon effect. The agent may find longer delaying tactics.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64DC27-0726-4157-97CC-BABB96B63D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that not all nodes get extended. The point is to extend lines where a move is unusually forcing or clearly superior.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a medical test shows a major anomaly, the doctor orders a deeper follow-up. They do not order every possible test for every patient.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Extensions increase depth, so they must be selective. Otherwise the search can blow 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748E10-AD3B-496C-B7FF-D19366280E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Stress the difference between safe and risky pruning. Alpha-beta is exact. Forward pruning is approximate.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Alpha-beta is skipping a route proven slower. Forward pruning is ignoring a road because it looks ugly on the map; it might still be the shortcut.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call every cutoff alpha-beta pruning. Use the word 'safe' as the distinction.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8A2DA-E04F-4FEC-BF9C-152F5762E5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helps students see how theoretical algorithms become practical engines.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physician may use a quick screening test before ordering expensive imaging. If the screen is worrying, they escalate.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These techniques are not always correct in the mathematical minimax sense. They are engineering choices with empirical performance tradeoffs.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77446-7D4B-4C69-96C2-086416E2D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MCTS gives a different way to ask “who is winning?” Instead of hand-coding EVAL, it gathers evidence from playouts.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Alpha-beta is like expert analysis; MCTS is like repeated experimentation.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MCTS is not pure random play. The tree policy focuses simulations over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9EED5-22BB-4C03-BE10-1FDF4F67CD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MCTS as simulation-based evaluation. It is not random guessing; it builds a tree biased toward promising moves.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you cannot judge a recipe from ingredients alone, cook it many times with variations and see which version wins taste tests.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Pure random rollouts can be noisy. Strong MCTS systems improve simulation, selection, or both.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E3C453-F298-40C9-8B5D-9D88FAFD05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students chant the four stages. The loop is the heart of MCTS.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Explore a building by repeatedly choosing a hallway, opening a new door, walking randomly to see what happens, then updating your mental map.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Backpropagation in MCTS updates statistics, not neural-network gradients in this chapter context.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176238-C55C-40C3-8400-9EB18C101F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figure to distinguish MCTS from minimax. Minimax backs up exact values from a complete search. MCTS backs up sample results from simulations.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restaurant review app updates ratings after each customer visit. MCTS updates move ratings after each simulated game.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Visit count matters. A high win rate from one rollout may be less reliable than a slightly lower win rate from hundreds of rollouts.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50EFC1-3ACA-4BB4-AD55-6EA922D2DD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overdo the math. Students need the intuition: one term rewards success; the other rewards uncertainty.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Choosing restaurants: revisit places you know are good, but occasionally try new places because your current favorite may not be best.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think MCTS always chooses the highest win rate. It often chooses a less-visited node to gather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A45204-2357-4D54-948A-56F2E53AC3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why one rollout is not enough. Randomness creates variance. MCTS gains power from many samples.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Polling one voter tells you little; polling many voters gives an estimate.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Bad rollouts can bias MCTS. Pure randomness can miss strategic patterns in games where random play is unrealistic.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C9F04-0F2F-4670-93E1-56E879A57D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clarifies what backpropagation means in MCTS. The result travels back up the path, changing future selection.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After exploring a trail, you update every signpost along the route with what you learned.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confuse MCTS backpropagation with neural-network training. Here it is just updating counts and rewards in tree 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6D80AB-CD41-4CAD-B0E3-B1C722459F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 the MCTS pseudocode to alpha-beta. Alpha-beta is depth-first deterministic backup. MCTS is repeated sampling and statistical backup.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Alpha-beta is solving a proof tree; MCTS is running experiments.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MCTS still builds a tree. It is not just flat random simulation from the root.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74D68D-C54B-4040-88A4-7841D4A2B6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as an algorithm selection slide. This helps students synthesize instead of memorizing algorithms independently.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Alpha-beta is like an expert judge scoring positions. MCTS is like a scientist running many trials.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Modern systems often combine both ideas with learned evaluations and simulation/search hybrids.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03D4DB-B41E-491C-8503-9D0FE1091E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Give the historical arc: Deep Blue showed the power of engineered chess search; AlphaGo showed the power of combining search with learning.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Early systems used a strong calculator and expert rules. Later systems added experience from self-play and learned intuition.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tell students AlphaGo was 'just neural networks.' Search remained central through MCTS.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736E20-95F7-449F-9942-8D20D4D2BE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Now the environment includes randomness, such as dice or shuffled cards. The opponent still matters, but so does probability.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Some branches are chosen by players; some are rolled by dice.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treat chance nodes as MIN nodes. Bad luck is not an adversary.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17E8C-319F-4155-BB8C-ADB9A47CC1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chance nodes as a third kind of node. They do not optimize; they average by probability.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MAX and MIN are decision-makers, chance is the dice roller. It does not prefer a 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At chance nodes, do not take max or min. Use expected value.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B54325-6877-46EE-B5B1-9BC7AABB55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Backgammon is a useful example because chance is explicit and unavoidable. Students can see why minimax alone is not sufficient.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You choose a route knowing traffic probabilities, not exact traffic. The best route may not be best in every possible traffic condition, but it has the best expected result.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Chance does not make the opponent random. A stochastic game can have both chance nodes and adversarial MIN/MAX 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E42BE-AB54-49B5-9B03-E450669136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to a chance node and ask what operation it performs. Students should answer: weighted average.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Decision nodes are choices; chance nodes are lotteries.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Alpha-beta pruning depends on bounds and deterministic choices. Chance nodes make pruning harder because unexamined outcomes can change averages.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7C8964-2357-429D-AC84-7B7530BDE7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example is deliberately simple and memorable. It shows why expectation can prefer a risky move.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lottery-like investment may have a higher expected value but also more variance.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Expected value is not the same as most likely outcome. Action B most likely gives 3, yet expected value is 6.7.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33DB46-03C2-43AB-99D5-765ACDBC9F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subtle but important. In minimax, the exact spacing between values often does not matter. In expected value calculations, spacing matters because numbers are averaged.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Letter grades preserve order, but you cannot average A, B, and C meaningfully unless you map them to a calibrated numerical scale.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heuristic that is fine for alpha-beta may be inappropriate for expectiminimax if it is not calibrated.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50F014-3973-4F93-8D7B-413CE09049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Hidden information changes the nature of planning. You do not choose based on one state; you choose based on a belief about possible states.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Playing poker is not chess with more rules. It is a different reasoning problem because you must model what others know and believe.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Guessing one hidden state and solving it as a perfect-information game can be deeply misleading.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3CF4FB-074F-4AE8-8494-6B5E45AD06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poker as the intuitive example. You know your own cards and the public cards, but not the opponent's hidden cards.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Driving in fog: you do not know exactly where every car is, but you maintain a set of plausible possibilities.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Partial observability is not the same as stochasticity. Hidden information may already be fixed, just unknown to you.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D7A8DC-B794-404A-B1E4-02FDAAECFC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broadens students' intuition. A move in an imperfect-information game can attack, defend, reveal, hide, or bluff.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Asking a question in a negotiation may be useful because of the answer it elicits, even if it does not directly change the deal.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Standard minimax on a guessed state ignores information-gathering and bluffing value.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87D6DA-C540-4F6C-A0FC-2979B54082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Kriegspiel as chess without seeing the opponent's pieces. The referee tells legality and captures, which updates beliefs.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Playing chess in a dark room while an umpire tells you whether a move is legal. You learn by attempting moves.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try to pick a single most likely board. But the agent must consider all plausible boards, especially if errors are costly.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413F2E-6026-481D-9B07-81B6EE50D4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an advanced but important lesson. Many beginner agents for card games make this mistake.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you guess your exam questions and study only those, you may perform well if your guess is right but fail across the full uncertainty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Randomly sampling hidden states can help as an approximation, but it is not a complete solution to strategic hidden information.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A687E6-BA3E-430A-A31A-699BB7B735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connects game search to game theory. In hidden-information games, optimal strategies may randomize.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Rock-paper-scissors. A deterministic strategy is easy to exploit once discovered. Randomization can be rational.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Random does not mean irrational. A carefully chosen probability distribution can be optimal.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BBA576-BBA1-46E7-AA23-C45B41C339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note: This final section helps students become engineers, not just algorithm memorizers. They need to know when an algorithm might fail.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Every search algorithm is a flashlight. It illuminates part of the future, but not all of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More compute helps, but bad modeling assumptions can still produce bad decisions.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212139-3997-45CF-B8C9-98E5D5838B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is a synthesis. It prevents students from treating algorithms as magic. Every method has a context.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map can be accurate, fast to read, or detailed, but rarely all three at once. Search algorithms choose a compromise.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The best algorithm in a toy game may not be best in a real game with time limits, hidden information, or stochastic dynamics.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78F23D-7598-44BF-BAEC-DABC99A2BC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as the mathematical reality check. Even low branching factors become enormous quickly.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A family tree branching by 10 at each generation becomes enormous in just a few generations.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Depth is measured in ply, not full moves. In chess, one move by White and one move by Black is two ply.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B0259E-0B00-4B7F-AA48-E87E6E0531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connects game search to modern AI concerns. If a model has blind spots, adversaries can exploit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Analogy: If a basketball defense always overprotects the paint, an opponent shoots threes. They exploit the evaluation function.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good average win rate may hide rare but catastrophic weaknesses.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36B40E-CCE5-442D-9B64-BAA7643AA3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slide to connect the lecture to the labs the students will run. Show a notebook briefly after each major lecture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sequence: Do not start with code. First trace the tree by hand. Then show that the code automates the same process.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Students may think visualization is separate from algorithm. Make them map each colored node or edge to a variable in the code: value, alpha, beta, visit count, belief state.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908DB-7EC8-4AC8-88B2-4274AE339E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for you as the instructor. You can hide it from students or keep it as a pacing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Suggestion: For students new to recursion, spend more time on minimax and alpha-beta traces and defer MCTS details to the lab.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Do not try to cover every advanced variant deeply in one session. Emphasize algorithm selection and conceptual differences.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8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105E4B-5B00-421D-97C5-E59CBEB85F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slide before the lab. It will save many debugging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move: Ask students to predict which gotcha they are most likely to make. Then tell them to check for that when debugging.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 for instructor: If a student's algorithm seems too good, it may be because MIN is choosing max or because terminal tests are wrong.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1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FFF123-183D-4FB4-BF30-E4AB3F7327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Answers: Q1 = 2. Q2 = no, assuming correct alpha-beta with same depth. Q3 = UTILITY is exact terminal payoff; EVAL estimates non-terminal cutoff states. Q4 = probability-weighted average. Q5 = it ignores belief states, information gathering, and bluffing. Q6 = fixed depth cutoff hiding an inevitable event beyond the horizon.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move: Have students answer individually first. Then ask them to justify answers with one sentence.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A correct numeric answer without explanation may hide weak understanding.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9E1ADC-B480-4DDB-9678-CE49C38C70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strong review slide. Ask students to give an example game for each row.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move: Cover the middle column and ask students to fill it 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Real systems may combine methods. This table is a teaching guide, not a rigid taxonomy.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BA059A-0656-42DE-AE13-7288EB9E5D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URLs are useful for students who want examples, pseudocode, or historical context. The AIMA Python repository is especially helpful because it contains executable reference implementations.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note: Encourage students to read code after they understand the tree traces. Code is easier to understand once the visual process is clear.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Gotcha: Online implementations may use different utility conventions, such as win=1/draw=0/loss=-1 or win=1/draw=0.5/loss=0. Always check the convention.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69FA9-975D-4FFB-849E-C0A05978B1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returning to the big idea: Chapter 5 is not merely about games; it is about rational action when other agents have conflicting goals.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students to complete this sentence on paper: 'The main difference between Chapter 3 search and Chapter 5 search is...'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answer: Chapter 3 searched for a path in a passive environment; Chapter 5 searches through choices made by multiple agents, including adversarial choices.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1CDCA6-627C-4E5A-9B74-9D5EA6B0D8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77240" y="731520"/>
            <a:ext cx="10652760" cy="360"/>
          </a:xfrm>
          <a:prstGeom prst="line">
            <a:avLst/>
          </a:prstGeom>
          <a:ln w="254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9144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37160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Chapter 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1828800"/>
            <a:ext cx="65833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Adversarial Search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and Games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68680" y="3657600"/>
            <a:ext cx="6674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How agents plan when another agent is trying to stop them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68680" y="4206240"/>
            <a:ext cx="6629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Includes minimax, alpha-beta pruning, heuristic game search, MCTS, stochastic games, partial observability, limitations, and teaching gotchas.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247960" y="1207080"/>
            <a:ext cx="2843280" cy="2843280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/mnt/data/ch5_assets/fig_5_1_tictactoe_tree.png"/>
          <p:cNvPicPr/>
          <p:nvPr/>
        </p:nvPicPr>
        <p:blipFill>
          <a:blip r:embed="rId1"/>
          <a:stretch/>
        </p:blipFill>
        <p:spPr>
          <a:xfrm>
            <a:off x="8275320" y="1582920"/>
            <a:ext cx="2788560" cy="209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868680" y="596196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Full lecture deck with speaker notes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1064240" y="596196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Lecture Roadmap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Lecture Roadmap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full teaching path from game definitions to modern game-search limits.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777240" y="141732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777240" y="1417320"/>
            <a:ext cx="72720" cy="575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941760" y="154548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1. Game setup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941760" y="189288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Games as formal search problems: states, actions, result, terminal test, utility.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777240" y="247788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777240" y="2477880"/>
            <a:ext cx="72720" cy="5756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941760" y="260604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2. Minimax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941760" y="295344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Optimal decisions when MAX and MIN both reason perfectly.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777240" y="353880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777240" y="3538800"/>
            <a:ext cx="72720" cy="575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941760" y="366660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3. Alpha-beta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941760" y="401436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Search the same answer while skipping irrelevant branches.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777240" y="459936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777240" y="4599360"/>
            <a:ext cx="72720" cy="5756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941760" y="472752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4. Heuristics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941760" y="507492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Cut off deep search and estimate who is winning.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3"/>
          <p:cNvSpPr/>
          <p:nvPr/>
        </p:nvSpPr>
        <p:spPr>
          <a:xfrm>
            <a:off x="6263640" y="141732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6263640" y="1417320"/>
            <a:ext cx="72720" cy="575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6428160" y="154548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 MCTS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6"/>
          <p:cNvSpPr/>
          <p:nvPr/>
        </p:nvSpPr>
        <p:spPr>
          <a:xfrm>
            <a:off x="6428160" y="189288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Replace expert evaluation with repeated simulations.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7"/>
          <p:cNvSpPr/>
          <p:nvPr/>
        </p:nvSpPr>
        <p:spPr>
          <a:xfrm>
            <a:off x="6263640" y="247788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6263640" y="2477880"/>
            <a:ext cx="72720" cy="5756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6428160" y="260604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6. Chance and hidden info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6428160" y="295344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Expectiminimax, belief states, poker-like uncertainty.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1"/>
          <p:cNvSpPr/>
          <p:nvPr/>
        </p:nvSpPr>
        <p:spPr>
          <a:xfrm>
            <a:off x="6263640" y="3538800"/>
            <a:ext cx="5166000" cy="575640"/>
          </a:xfrm>
          <a:prstGeom prst="roundRect">
            <a:avLst>
              <a:gd name="adj" fmla="val 952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2"/>
          <p:cNvSpPr/>
          <p:nvPr/>
        </p:nvSpPr>
        <p:spPr>
          <a:xfrm>
            <a:off x="6263640" y="3538800"/>
            <a:ext cx="72720" cy="575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3"/>
          <p:cNvSpPr/>
          <p:nvPr/>
        </p:nvSpPr>
        <p:spPr>
          <a:xfrm>
            <a:off x="6428160" y="366660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7. Limits and labs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4"/>
          <p:cNvSpPr/>
          <p:nvPr/>
        </p:nvSpPr>
        <p:spPr>
          <a:xfrm>
            <a:off x="6428160" y="4014360"/>
            <a:ext cx="4873320" cy="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Horizon effect, forward pruning, exploitability, class demos.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5"/>
          <p:cNvSpPr/>
          <p:nvPr/>
        </p:nvSpPr>
        <p:spPr>
          <a:xfrm>
            <a:off x="868680" y="5532120"/>
            <a:ext cx="10423800" cy="594000"/>
          </a:xfrm>
          <a:prstGeom prst="roundRect">
            <a:avLst>
              <a:gd name="adj" fmla="val 9231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6"/>
          <p:cNvSpPr/>
          <p:nvPr/>
        </p:nvSpPr>
        <p:spPr>
          <a:xfrm>
            <a:off x="1143000" y="5669280"/>
            <a:ext cx="987516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32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The core question: What should I do when someone else is choosing what happens next?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1188720" y="571500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Anchor every algorithm to this question.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Learning Outcomes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Students Should Be Able To Do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By the end, students should be able to explain the algorithm, trace it, and choose when to use it.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777240" y="1371600"/>
            <a:ext cx="352008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777240" y="137160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941760" y="14997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Define the game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941760" y="1847160"/>
            <a:ext cx="3227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State the formal game components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Distinguish state space graph vs. search tree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Explain zero-sum and perfect-information assumptions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4526280" y="1371600"/>
            <a:ext cx="352008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4526280" y="1371600"/>
            <a:ext cx="72720" cy="1919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690800" y="14997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Trace the search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690800" y="1847160"/>
            <a:ext cx="3227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Back up minimax values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Identify MAX and MIN levels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Explain why alpha-beta prunes safely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8275320" y="1371600"/>
            <a:ext cx="315432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8275320" y="1371600"/>
            <a:ext cx="72720" cy="1919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8439840" y="149976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Handle real limits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8439840" y="1847160"/>
            <a:ext cx="28616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Use cutoff search and EVAL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Explain quiescence and horizon effects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Compare alpha-beta and MCTS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9"/>
          <p:cNvSpPr/>
          <p:nvPr/>
        </p:nvSpPr>
        <p:spPr>
          <a:xfrm>
            <a:off x="1965960" y="3840480"/>
            <a:ext cx="3702960" cy="1691280"/>
          </a:xfrm>
          <a:prstGeom prst="roundRect">
            <a:avLst>
              <a:gd name="adj" fmla="val 324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1965960" y="3840480"/>
            <a:ext cx="72720" cy="16912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130480" y="396864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Generalize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2130480" y="4316040"/>
            <a:ext cx="341028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Extend to multiplayer utilities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Model chance with expectiminimax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Reason over belief states in partially observable games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6400800" y="3840480"/>
            <a:ext cx="3702960" cy="1691280"/>
          </a:xfrm>
          <a:prstGeom prst="roundRect">
            <a:avLst>
              <a:gd name="adj" fmla="val 3243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6400800" y="3840480"/>
            <a:ext cx="72720" cy="1691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6565320" y="396864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Teach-back target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6565320" y="4316040"/>
            <a:ext cx="341028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student should be able to draw a small game tree and explain every number that appears on it.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Motivation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Games Are a Perfect AI Laboratory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Games strip away messy physics while keeping strategic difficulty.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77724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77724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94176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Precise rules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94176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legal actions and consequences are usually well-defined, so we can focus on reasoning rather than perception.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434340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34340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450792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Conflicting goals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450792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Another agent is not random noise: it actively tries to choose outcomes that hurt our utility.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790956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6"/>
          <p:cNvSpPr/>
          <p:nvPr/>
        </p:nvSpPr>
        <p:spPr>
          <a:xfrm>
            <a:off x="790956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807408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Huge search spaces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807408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Even simple rules produce enormous trees. This forces us to confront pruning, heuristics, and approximation.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9"/>
          <p:cNvSpPr/>
          <p:nvPr/>
        </p:nvSpPr>
        <p:spPr>
          <a:xfrm>
            <a:off x="841320" y="3675960"/>
            <a:ext cx="3894840" cy="2386080"/>
          </a:xfrm>
          <a:prstGeom prst="roundRect">
            <a:avLst>
              <a:gd name="adj" fmla="val 1533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/mnt/data/ch5_assets/fig_5_1_tictactoe_tree.png"/>
          <p:cNvPicPr/>
          <p:nvPr/>
        </p:nvPicPr>
        <p:blipFill>
          <a:blip r:embed="rId1"/>
          <a:stretch/>
        </p:blipFill>
        <p:spPr>
          <a:xfrm>
            <a:off x="1234440" y="3703320"/>
            <a:ext cx="3108600" cy="23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20"/>
          <p:cNvSpPr/>
          <p:nvPr/>
        </p:nvSpPr>
        <p:spPr>
          <a:xfrm>
            <a:off x="868680" y="60897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Tic-tac-toe: small rules, large tree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5166360" y="3886200"/>
            <a:ext cx="5714640" cy="1508400"/>
          </a:xfrm>
          <a:prstGeom prst="roundRect">
            <a:avLst>
              <a:gd name="adj" fmla="val 3636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5440680" y="4114800"/>
            <a:ext cx="5166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Games let us study intelligence under pressure.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5486400" y="498348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Clear rules + opponent + limited time = AI design stress test.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Map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Chapter 5 Concept 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Each section relaxes one simplifying assumption.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868680" y="1325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868680" y="1325880"/>
            <a:ext cx="72720" cy="776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1033200" y="1454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5.1 Game theory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1033200" y="1801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Define adversarial environments and game components.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6309360" y="1325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6309360" y="1325880"/>
            <a:ext cx="72720" cy="776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6473880" y="1454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5.2 Optimal decisions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6473880" y="1801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Minimax and multiplayer utility vectors.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868680" y="2468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868680" y="2468880"/>
            <a:ext cx="72720" cy="776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1033200" y="2597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5.2.3-5.2.4 Pruning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1033200" y="2944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 and move ordering.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6309360" y="2468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6309360" y="2468880"/>
            <a:ext cx="72720" cy="7768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6473880" y="2597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5.3 Heuristic search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6473880" y="2944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Cutoff tests, evaluation functions, horizon effect.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868680" y="3611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868680" y="3611880"/>
            <a:ext cx="72720" cy="776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1033200" y="3740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5.4 MCTS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1033200" y="4087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Selection, expansion, simulation, backpropagation.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6309360" y="3611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6309360" y="3611880"/>
            <a:ext cx="72720" cy="776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6473880" y="3740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5.5 Stochastic games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6473880" y="4087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Chance nodes and expectiminimax.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1"/>
          <p:cNvSpPr/>
          <p:nvPr/>
        </p:nvSpPr>
        <p:spPr>
          <a:xfrm>
            <a:off x="868680" y="4754880"/>
            <a:ext cx="4937400" cy="77688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2"/>
          <p:cNvSpPr/>
          <p:nvPr/>
        </p:nvSpPr>
        <p:spPr>
          <a:xfrm>
            <a:off x="868680" y="4754880"/>
            <a:ext cx="72720" cy="776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1033200" y="48830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5.6-5.7 Hidden info and limits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4"/>
          <p:cNvSpPr/>
          <p:nvPr/>
        </p:nvSpPr>
        <p:spPr>
          <a:xfrm>
            <a:off x="1033200" y="5230440"/>
            <a:ext cx="4644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Belief states, approximation traps, forward pruning.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5"/>
          <p:cNvSpPr/>
          <p:nvPr/>
        </p:nvSpPr>
        <p:spPr>
          <a:xfrm>
            <a:off x="6080760" y="1600200"/>
            <a:ext cx="360" cy="429768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 Theory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Rain Is Not an Opponent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Nondeterminism is not the same as adversarial behavior.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868680" y="1417320"/>
            <a:ext cx="3382920" cy="2011320"/>
          </a:xfrm>
          <a:prstGeom prst="roundRect">
            <a:avLst>
              <a:gd name="adj" fmla="val 272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868680" y="1417320"/>
            <a:ext cx="72720" cy="2011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103320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Random environment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1033200" y="1892880"/>
            <a:ext cx="30902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Rain may fall or not fall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Dice may land on any face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No intention to defeat you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4526280" y="1417320"/>
            <a:ext cx="3382920" cy="2011320"/>
          </a:xfrm>
          <a:prstGeom prst="roundRect">
            <a:avLst>
              <a:gd name="adj" fmla="val 272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4526280" y="1417320"/>
            <a:ext cx="72720" cy="2011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469080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Adversarial agent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4690800" y="1892880"/>
            <a:ext cx="30902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Opponent observes or infers your choices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Opponent selects actions to reduce your outcome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Your plan must anticipate counter-moves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8183880" y="141732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8183880" y="1417320"/>
            <a:ext cx="72720" cy="20113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analogy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8348400" y="1892880"/>
            <a:ext cx="24501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Planning a picnic vs. playing chess. Weather can ruin your picnic, but it is not studying your strategy. A chess opponent is.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1371600" y="4206240"/>
            <a:ext cx="9417960" cy="1096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1645920" y="4434840"/>
            <a:ext cx="8869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 game tree alternates decisions because control alternates between agents.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1691640" y="4892040"/>
            <a:ext cx="877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MAX chooses, then MIN chooses, and the value flows backward.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 Theory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Three Stances Toward Multi-Agent Environments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chooses the third stance: model the adversary explicitly.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822960" y="1417320"/>
            <a:ext cx="338292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822960" y="1417320"/>
            <a:ext cx="72720" cy="2377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98748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1. Aggregate economy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987480" y="1892880"/>
            <a:ext cx="30902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When there are many agents, we may model them statistically: supply, demand, market flow, congestion.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4434840" y="1417320"/>
            <a:ext cx="338292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4434840" y="1417320"/>
            <a:ext cx="72720" cy="2377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459936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2. Nondeterministic environment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4599360" y="1892880"/>
            <a:ext cx="30902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Treat other agents as unpredictable parts of the world. Useful, but it hides their strategic intent.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8046720" y="1417320"/>
            <a:ext cx="338292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8046720" y="1417320"/>
            <a:ext cx="72720" cy="2377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821124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3. Adversarial search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8211240" y="1892880"/>
            <a:ext cx="30902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Model opponents as agents making choices that oppose our objective. This produces game trees.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1097280" y="4343400"/>
            <a:ext cx="9875160" cy="68544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Class prompt: For each example, choose a stance: stock market, self-driving car traffic, chess, poker, auction bidding.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Two-Player Zero-Sum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The Classic Game Class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Most Chapter 5 algorithms begin with a restricted but important class of games.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685800" y="1371600"/>
            <a:ext cx="274284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685800" y="1371600"/>
            <a:ext cx="72720" cy="13255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850320" y="14997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Deterministic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850320" y="1847160"/>
            <a:ext cx="2450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No dice or random transitions once an action is chosen.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3611880" y="1371600"/>
            <a:ext cx="274284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3611880" y="1371600"/>
            <a:ext cx="72720" cy="13255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3776400" y="14997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Two-player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3776400" y="1847160"/>
            <a:ext cx="2450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Exactly MAX and MIN take turns.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5"/>
          <p:cNvSpPr/>
          <p:nvPr/>
        </p:nvSpPr>
        <p:spPr>
          <a:xfrm>
            <a:off x="6537960" y="1371600"/>
            <a:ext cx="274284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6537960" y="1371600"/>
            <a:ext cx="72720" cy="132552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6702480" y="14997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Turn-taking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6702480" y="1847160"/>
            <a:ext cx="2450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Only one player chooses at a time.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9"/>
          <p:cNvSpPr/>
          <p:nvPr/>
        </p:nvSpPr>
        <p:spPr>
          <a:xfrm>
            <a:off x="9464040" y="1371600"/>
            <a:ext cx="269712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0"/>
          <p:cNvSpPr/>
          <p:nvPr/>
        </p:nvSpPr>
        <p:spPr>
          <a:xfrm>
            <a:off x="9464040" y="1371600"/>
            <a:ext cx="72720" cy="1325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9628560" y="149976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Perfect information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2"/>
          <p:cNvSpPr/>
          <p:nvPr/>
        </p:nvSpPr>
        <p:spPr>
          <a:xfrm>
            <a:off x="9628560" y="1847160"/>
            <a:ext cx="240444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full state is visible to both players.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3"/>
          <p:cNvSpPr/>
          <p:nvPr/>
        </p:nvSpPr>
        <p:spPr>
          <a:xfrm>
            <a:off x="1463040" y="3154680"/>
            <a:ext cx="4297320" cy="1416960"/>
          </a:xfrm>
          <a:prstGeom prst="roundRect">
            <a:avLst>
              <a:gd name="adj" fmla="val 3871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1463040" y="3154680"/>
            <a:ext cx="72720" cy="1416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5"/>
          <p:cNvSpPr/>
          <p:nvPr/>
        </p:nvSpPr>
        <p:spPr>
          <a:xfrm>
            <a:off x="1627560" y="32828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Zero-sum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6"/>
          <p:cNvSpPr/>
          <p:nvPr/>
        </p:nvSpPr>
        <p:spPr>
          <a:xfrm>
            <a:off x="1627560" y="3630240"/>
            <a:ext cx="40046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What helps MAX hurts MIN by the same amount.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7"/>
          <p:cNvSpPr/>
          <p:nvPr/>
        </p:nvSpPr>
        <p:spPr>
          <a:xfrm>
            <a:off x="6400800" y="3154680"/>
            <a:ext cx="3474360" cy="1416960"/>
          </a:xfrm>
          <a:prstGeom prst="roundRect">
            <a:avLst>
              <a:gd name="adj" fmla="val 3871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8"/>
          <p:cNvSpPr/>
          <p:nvPr/>
        </p:nvSpPr>
        <p:spPr>
          <a:xfrm>
            <a:off x="6400800" y="315468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9"/>
          <p:cNvSpPr/>
          <p:nvPr/>
        </p:nvSpPr>
        <p:spPr>
          <a:xfrm>
            <a:off x="6565320" y="32828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Examples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0"/>
          <p:cNvSpPr/>
          <p:nvPr/>
        </p:nvSpPr>
        <p:spPr>
          <a:xfrm>
            <a:off x="6565320" y="3630240"/>
            <a:ext cx="318168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Tic-tac-toe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Chess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Checkers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Go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1"/>
          <p:cNvSpPr/>
          <p:nvPr/>
        </p:nvSpPr>
        <p:spPr>
          <a:xfrm>
            <a:off x="1463040" y="5074920"/>
            <a:ext cx="8412120" cy="731160"/>
          </a:xfrm>
          <a:prstGeom prst="roundRect">
            <a:avLst>
              <a:gd name="adj" fmla="val 75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2"/>
          <p:cNvSpPr/>
          <p:nvPr/>
        </p:nvSpPr>
        <p:spPr>
          <a:xfrm>
            <a:off x="1737360" y="5303520"/>
            <a:ext cx="7863480" cy="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Start simple, then add realism.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3"/>
          <p:cNvSpPr/>
          <p:nvPr/>
        </p:nvSpPr>
        <p:spPr>
          <a:xfrm>
            <a:off x="1783080" y="539496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Later slides add multiplayer utility, chance, and hidden information.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 Definition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Formal Game Definition: The API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Every adversarial search algorithm needs these functions.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868680" y="1417320"/>
            <a:ext cx="3245760" cy="1005480"/>
          </a:xfrm>
          <a:prstGeom prst="roundRect">
            <a:avLst>
              <a:gd name="adj" fmla="val 545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868680" y="1417320"/>
            <a:ext cx="72720" cy="10054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103320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1033200" y="189288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Initial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4572000" y="1417320"/>
            <a:ext cx="3245760" cy="1005480"/>
          </a:xfrm>
          <a:prstGeom prst="roundRect">
            <a:avLst>
              <a:gd name="adj" fmla="val 545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4572000" y="1417320"/>
            <a:ext cx="72720" cy="10054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473652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TO-MOVE(s)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4736520" y="189288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Whose turn?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5"/>
          <p:cNvSpPr/>
          <p:nvPr/>
        </p:nvSpPr>
        <p:spPr>
          <a:xfrm>
            <a:off x="8275320" y="1417320"/>
            <a:ext cx="3245760" cy="1005480"/>
          </a:xfrm>
          <a:prstGeom prst="roundRect">
            <a:avLst>
              <a:gd name="adj" fmla="val 545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8275320" y="1417320"/>
            <a:ext cx="72720" cy="1005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843984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ACTIONS(s)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8439840" y="189288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Legal moves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868680" y="3063240"/>
            <a:ext cx="3245760" cy="1005480"/>
          </a:xfrm>
          <a:prstGeom prst="roundRect">
            <a:avLst>
              <a:gd name="adj" fmla="val 545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0"/>
          <p:cNvSpPr/>
          <p:nvPr/>
        </p:nvSpPr>
        <p:spPr>
          <a:xfrm>
            <a:off x="868680" y="3063240"/>
            <a:ext cx="72720" cy="10054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1033200" y="319140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RESULT(s,a)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1033200" y="353880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Next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3"/>
          <p:cNvSpPr/>
          <p:nvPr/>
        </p:nvSpPr>
        <p:spPr>
          <a:xfrm>
            <a:off x="4572000" y="3063240"/>
            <a:ext cx="3245760" cy="1005480"/>
          </a:xfrm>
          <a:prstGeom prst="roundRect">
            <a:avLst>
              <a:gd name="adj" fmla="val 545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4572000" y="3063240"/>
            <a:ext cx="72720" cy="10054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4736520" y="319140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IS-TERMINAL(s)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4736520" y="353880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Game over?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7"/>
          <p:cNvSpPr/>
          <p:nvPr/>
        </p:nvSpPr>
        <p:spPr>
          <a:xfrm>
            <a:off x="8275320" y="3063240"/>
            <a:ext cx="3245760" cy="1005480"/>
          </a:xfrm>
          <a:prstGeom prst="roundRect">
            <a:avLst>
              <a:gd name="adj" fmla="val 545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8"/>
          <p:cNvSpPr/>
          <p:nvPr/>
        </p:nvSpPr>
        <p:spPr>
          <a:xfrm>
            <a:off x="8275320" y="3063240"/>
            <a:ext cx="72720" cy="1005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8439840" y="319140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UTILITY(s,p)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0"/>
          <p:cNvSpPr/>
          <p:nvPr/>
        </p:nvSpPr>
        <p:spPr>
          <a:xfrm>
            <a:off x="8439840" y="3538800"/>
            <a:ext cx="29530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Final value for player 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1"/>
          <p:cNvSpPr/>
          <p:nvPr/>
        </p:nvSpPr>
        <p:spPr>
          <a:xfrm>
            <a:off x="1143000" y="4983480"/>
            <a:ext cx="9920880" cy="68544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Think like a programmer: if you can implement these six functions, you can plug a game into minimax or alpha-beta.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 Definition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State-Space Graph vs. Game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graph is the world; the tree is our lookahead from the current state.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"/>
          <p:cNvSpPr/>
          <p:nvPr/>
        </p:nvSpPr>
        <p:spPr>
          <a:xfrm>
            <a:off x="822960" y="1417320"/>
            <a:ext cx="3748680" cy="2285640"/>
          </a:xfrm>
          <a:prstGeom prst="roundRect">
            <a:avLst>
              <a:gd name="adj" fmla="val 24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822960" y="1417320"/>
            <a:ext cx="72720" cy="22856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987480" y="15454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State-space graph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987480" y="1892880"/>
            <a:ext cx="345600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Nodes are unique game states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Edges are legal moves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 state can be reached by multiple paths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4800600" y="1417320"/>
            <a:ext cx="3748680" cy="2285640"/>
          </a:xfrm>
          <a:prstGeom prst="roundRect">
            <a:avLst>
              <a:gd name="adj" fmla="val 24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4800600" y="1417320"/>
            <a:ext cx="72720" cy="2285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4965120" y="15454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Search tree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4965120" y="1892880"/>
            <a:ext cx="345600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Root is current state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Each path is a move sequence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Same state may appear many times as different tree nodes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8778240" y="1417320"/>
            <a:ext cx="2605680" cy="2285640"/>
          </a:xfrm>
          <a:prstGeom prst="roundRect">
            <a:avLst>
              <a:gd name="adj" fmla="val 24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8778240" y="1417320"/>
            <a:ext cx="72720" cy="2285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8942760" y="15454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Transposition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8"/>
          <p:cNvSpPr/>
          <p:nvPr/>
        </p:nvSpPr>
        <p:spPr>
          <a:xfrm>
            <a:off x="8942760" y="1892880"/>
            <a:ext cx="231300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Different move orders can produce the same state. Caching such states prevents duplicate work.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9"/>
          <p:cNvSpPr/>
          <p:nvPr/>
        </p:nvSpPr>
        <p:spPr>
          <a:xfrm>
            <a:off x="1645920" y="4343400"/>
            <a:ext cx="411120" cy="411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1645920" y="444384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1"/>
          <p:cNvSpPr/>
          <p:nvPr/>
        </p:nvSpPr>
        <p:spPr>
          <a:xfrm>
            <a:off x="2560320" y="4343400"/>
            <a:ext cx="411120" cy="411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2"/>
          <p:cNvSpPr/>
          <p:nvPr/>
        </p:nvSpPr>
        <p:spPr>
          <a:xfrm>
            <a:off x="2560320" y="444384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3"/>
          <p:cNvSpPr/>
          <p:nvPr/>
        </p:nvSpPr>
        <p:spPr>
          <a:xfrm>
            <a:off x="1645920" y="5074920"/>
            <a:ext cx="411120" cy="411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4"/>
          <p:cNvSpPr/>
          <p:nvPr/>
        </p:nvSpPr>
        <p:spPr>
          <a:xfrm>
            <a:off x="1645920" y="517536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5"/>
          <p:cNvSpPr/>
          <p:nvPr/>
        </p:nvSpPr>
        <p:spPr>
          <a:xfrm>
            <a:off x="2560320" y="5074920"/>
            <a:ext cx="411120" cy="411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6"/>
          <p:cNvSpPr/>
          <p:nvPr/>
        </p:nvSpPr>
        <p:spPr>
          <a:xfrm>
            <a:off x="2560320" y="517536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7"/>
          <p:cNvSpPr/>
          <p:nvPr/>
        </p:nvSpPr>
        <p:spPr>
          <a:xfrm>
            <a:off x="1856160" y="4553640"/>
            <a:ext cx="896040" cy="3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8"/>
          <p:cNvSpPr/>
          <p:nvPr/>
        </p:nvSpPr>
        <p:spPr>
          <a:xfrm>
            <a:off x="1856160" y="4553640"/>
            <a:ext cx="36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9"/>
          <p:cNvSpPr/>
          <p:nvPr/>
        </p:nvSpPr>
        <p:spPr>
          <a:xfrm flipH="1">
            <a:off x="1874520" y="4553640"/>
            <a:ext cx="89604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0"/>
          <p:cNvSpPr/>
          <p:nvPr/>
        </p:nvSpPr>
        <p:spPr>
          <a:xfrm>
            <a:off x="1097280" y="56235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Graph: shared states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1"/>
          <p:cNvSpPr/>
          <p:nvPr/>
        </p:nvSpPr>
        <p:spPr>
          <a:xfrm flipH="1">
            <a:off x="7040880" y="4343400"/>
            <a:ext cx="77724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2"/>
          <p:cNvSpPr/>
          <p:nvPr/>
        </p:nvSpPr>
        <p:spPr>
          <a:xfrm>
            <a:off x="7818120" y="4343400"/>
            <a:ext cx="77724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3"/>
          <p:cNvSpPr/>
          <p:nvPr/>
        </p:nvSpPr>
        <p:spPr>
          <a:xfrm flipH="1">
            <a:off x="6636600" y="5074920"/>
            <a:ext cx="40428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4"/>
          <p:cNvSpPr/>
          <p:nvPr/>
        </p:nvSpPr>
        <p:spPr>
          <a:xfrm>
            <a:off x="7040880" y="5074920"/>
            <a:ext cx="40392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5"/>
          <p:cNvSpPr/>
          <p:nvPr/>
        </p:nvSpPr>
        <p:spPr>
          <a:xfrm flipH="1">
            <a:off x="8191080" y="5074920"/>
            <a:ext cx="40428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6"/>
          <p:cNvSpPr/>
          <p:nvPr/>
        </p:nvSpPr>
        <p:spPr>
          <a:xfrm>
            <a:off x="8595360" y="5074920"/>
            <a:ext cx="403920" cy="73152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7"/>
          <p:cNvSpPr/>
          <p:nvPr/>
        </p:nvSpPr>
        <p:spPr>
          <a:xfrm>
            <a:off x="7680960" y="4206240"/>
            <a:ext cx="273960" cy="27396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8"/>
          <p:cNvSpPr/>
          <p:nvPr/>
        </p:nvSpPr>
        <p:spPr>
          <a:xfrm>
            <a:off x="6903720" y="4937760"/>
            <a:ext cx="273960" cy="273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9"/>
          <p:cNvSpPr/>
          <p:nvPr/>
        </p:nvSpPr>
        <p:spPr>
          <a:xfrm>
            <a:off x="8458200" y="4937760"/>
            <a:ext cx="273960" cy="273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0"/>
          <p:cNvSpPr/>
          <p:nvPr/>
        </p:nvSpPr>
        <p:spPr>
          <a:xfrm>
            <a:off x="6499440" y="5669280"/>
            <a:ext cx="273960" cy="273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41"/>
          <p:cNvSpPr/>
          <p:nvPr/>
        </p:nvSpPr>
        <p:spPr>
          <a:xfrm>
            <a:off x="7308000" y="5669280"/>
            <a:ext cx="273960" cy="273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2"/>
          <p:cNvSpPr/>
          <p:nvPr/>
        </p:nvSpPr>
        <p:spPr>
          <a:xfrm>
            <a:off x="8053920" y="5669280"/>
            <a:ext cx="273960" cy="273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3"/>
          <p:cNvSpPr/>
          <p:nvPr/>
        </p:nvSpPr>
        <p:spPr>
          <a:xfrm>
            <a:off x="8862480" y="5669280"/>
            <a:ext cx="273960" cy="273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4"/>
          <p:cNvSpPr/>
          <p:nvPr/>
        </p:nvSpPr>
        <p:spPr>
          <a:xfrm>
            <a:off x="6309360" y="5989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Tree: repeated paths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 Trees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Tic-Tac-Toe: A Complete Game Tree in Miniature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tree alternates MAX placing X and MIN placing O until terminal utilities.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7"/>
          <p:cNvSpPr/>
          <p:nvPr/>
        </p:nvSpPr>
        <p:spPr>
          <a:xfrm>
            <a:off x="749880" y="1298520"/>
            <a:ext cx="5540760" cy="4306320"/>
          </a:xfrm>
          <a:prstGeom prst="roundRect">
            <a:avLst>
              <a:gd name="adj" fmla="val 849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0" descr="/mnt/data/ch5_assets/fig_5_1_tictactoe_tree.png"/>
          <p:cNvPicPr/>
          <p:nvPr/>
        </p:nvPicPr>
        <p:blipFill>
          <a:blip r:embed="rId1"/>
          <a:stretch/>
        </p:blipFill>
        <p:spPr>
          <a:xfrm>
            <a:off x="777240" y="1394640"/>
            <a:ext cx="54860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8"/>
          <p:cNvSpPr/>
          <p:nvPr/>
        </p:nvSpPr>
        <p:spPr>
          <a:xfrm>
            <a:off x="777240" y="56325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5.1: partial tic-tac-toe game tree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6629400" y="1463040"/>
            <a:ext cx="425160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0"/>
          <p:cNvSpPr/>
          <p:nvPr/>
        </p:nvSpPr>
        <p:spPr>
          <a:xfrm>
            <a:off x="6629400" y="146304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6793920" y="159120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How to read it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6793920" y="1938600"/>
            <a:ext cx="395892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Root = empty board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Each layer = one ply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Leaves = terminal states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Numbers = utility for MAX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3"/>
          <p:cNvSpPr/>
          <p:nvPr/>
        </p:nvSpPr>
        <p:spPr>
          <a:xfrm>
            <a:off x="6629400" y="3703320"/>
            <a:ext cx="4251600" cy="1416960"/>
          </a:xfrm>
          <a:prstGeom prst="roundRect">
            <a:avLst>
              <a:gd name="adj" fmla="val 3871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4"/>
          <p:cNvSpPr/>
          <p:nvPr/>
        </p:nvSpPr>
        <p:spPr>
          <a:xfrm>
            <a:off x="6629400" y="3703320"/>
            <a:ext cx="72720" cy="1416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6793920" y="383148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move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6"/>
          <p:cNvSpPr/>
          <p:nvPr/>
        </p:nvSpPr>
        <p:spPr>
          <a:xfrm>
            <a:off x="6793920" y="4178880"/>
            <a:ext cx="395892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Have students follow one path from the root to a terminal board and label who moved at each layer.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Complexity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Small Rules, Huge Trees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enemy is the exponent.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731520" y="1417320"/>
            <a:ext cx="4891680" cy="10969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8"/>
          <p:cNvSpPr/>
          <p:nvPr/>
        </p:nvSpPr>
        <p:spPr>
          <a:xfrm>
            <a:off x="731520" y="1417320"/>
            <a:ext cx="72720" cy="10969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896040" y="154548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Tic-tac-toe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896040" y="1892880"/>
            <a:ext cx="4599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&lt; 9! terminal paths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small enough to teach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6309360" y="1417320"/>
            <a:ext cx="4891680" cy="10969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2"/>
          <p:cNvSpPr/>
          <p:nvPr/>
        </p:nvSpPr>
        <p:spPr>
          <a:xfrm>
            <a:off x="6309360" y="1417320"/>
            <a:ext cx="72720" cy="10969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6473880" y="154548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Chess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6473880" y="1892880"/>
            <a:ext cx="4599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branching ~35, depth ~80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far beyond full minimax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5"/>
          <p:cNvSpPr/>
          <p:nvPr/>
        </p:nvSpPr>
        <p:spPr>
          <a:xfrm>
            <a:off x="731520" y="3063240"/>
            <a:ext cx="4891680" cy="10969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6"/>
          <p:cNvSpPr/>
          <p:nvPr/>
        </p:nvSpPr>
        <p:spPr>
          <a:xfrm>
            <a:off x="731520" y="3063240"/>
            <a:ext cx="72720" cy="109692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7"/>
          <p:cNvSpPr/>
          <p:nvPr/>
        </p:nvSpPr>
        <p:spPr>
          <a:xfrm>
            <a:off x="896040" y="319140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Go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896040" y="3538800"/>
            <a:ext cx="4599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branching can be hundreds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evaluation is very hard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9"/>
          <p:cNvSpPr/>
          <p:nvPr/>
        </p:nvSpPr>
        <p:spPr>
          <a:xfrm>
            <a:off x="6309360" y="3063240"/>
            <a:ext cx="4891680" cy="10969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0"/>
          <p:cNvSpPr/>
          <p:nvPr/>
        </p:nvSpPr>
        <p:spPr>
          <a:xfrm>
            <a:off x="6309360" y="3063240"/>
            <a:ext cx="72720" cy="1096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1"/>
          <p:cNvSpPr/>
          <p:nvPr/>
        </p:nvSpPr>
        <p:spPr>
          <a:xfrm>
            <a:off x="6473880" y="319140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Poker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2"/>
          <p:cNvSpPr/>
          <p:nvPr/>
        </p:nvSpPr>
        <p:spPr>
          <a:xfrm>
            <a:off x="6473880" y="3538800"/>
            <a:ext cx="4599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hidden information + chance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state is uncertain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3"/>
          <p:cNvSpPr/>
          <p:nvPr/>
        </p:nvSpPr>
        <p:spPr>
          <a:xfrm>
            <a:off x="960120" y="5029200"/>
            <a:ext cx="10149480" cy="822600"/>
          </a:xfrm>
          <a:prstGeom prst="roundRect">
            <a:avLst>
              <a:gd name="adj" fmla="val 6667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4"/>
          <p:cNvSpPr/>
          <p:nvPr/>
        </p:nvSpPr>
        <p:spPr>
          <a:xfrm>
            <a:off x="1234440" y="5257800"/>
            <a:ext cx="9600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4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Full-width search is a theoretical ideal, not a practical plan.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5"/>
          <p:cNvSpPr/>
          <p:nvPr/>
        </p:nvSpPr>
        <p:spPr>
          <a:xfrm>
            <a:off x="1280160" y="544068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Real game AI survives by pruning, estimating, sampling, or learning.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MAX and MIN: Two Roles, One Utility Scale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MAX wants high values; MIN wants low values.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7"/>
          <p:cNvSpPr/>
          <p:nvPr/>
        </p:nvSpPr>
        <p:spPr>
          <a:xfrm>
            <a:off x="868680" y="1417320"/>
            <a:ext cx="3702960" cy="2194200"/>
          </a:xfrm>
          <a:prstGeom prst="roundRect">
            <a:avLst>
              <a:gd name="adj" fmla="val 25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8"/>
          <p:cNvSpPr/>
          <p:nvPr/>
        </p:nvSpPr>
        <p:spPr>
          <a:xfrm>
            <a:off x="868680" y="1417320"/>
            <a:ext cx="72720" cy="2194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9"/>
          <p:cNvSpPr/>
          <p:nvPr/>
        </p:nvSpPr>
        <p:spPr>
          <a:xfrm>
            <a:off x="1033200" y="154548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0"/>
          <p:cNvSpPr/>
          <p:nvPr/>
        </p:nvSpPr>
        <p:spPr>
          <a:xfrm>
            <a:off x="1033200" y="1892880"/>
            <a:ext cx="34102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The player we are choosing a move for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Prefers larger utility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At MAX nodes: take max of successors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4709160" y="1417320"/>
            <a:ext cx="3702960" cy="2194200"/>
          </a:xfrm>
          <a:prstGeom prst="roundRect">
            <a:avLst>
              <a:gd name="adj" fmla="val 25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2"/>
          <p:cNvSpPr/>
          <p:nvPr/>
        </p:nvSpPr>
        <p:spPr>
          <a:xfrm>
            <a:off x="4709160" y="1417320"/>
            <a:ext cx="72720" cy="2194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3"/>
          <p:cNvSpPr/>
          <p:nvPr/>
        </p:nvSpPr>
        <p:spPr>
          <a:xfrm>
            <a:off x="4873680" y="154548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4"/>
          <p:cNvSpPr/>
          <p:nvPr/>
        </p:nvSpPr>
        <p:spPr>
          <a:xfrm>
            <a:off x="4873680" y="1892880"/>
            <a:ext cx="341028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The opponent in a zero-sum game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Prefers smaller utility for MAX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At MIN nodes: take min of successors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>
            <a:off x="8549640" y="1417320"/>
            <a:ext cx="2742840" cy="2194200"/>
          </a:xfrm>
          <a:prstGeom prst="roundRect">
            <a:avLst>
              <a:gd name="adj" fmla="val 25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6"/>
          <p:cNvSpPr/>
          <p:nvPr/>
        </p:nvSpPr>
        <p:spPr>
          <a:xfrm>
            <a:off x="8549640" y="1417320"/>
            <a:ext cx="72720" cy="219420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7"/>
          <p:cNvSpPr/>
          <p:nvPr/>
        </p:nvSpPr>
        <p:spPr>
          <a:xfrm>
            <a:off x="871416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Analogy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8"/>
          <p:cNvSpPr/>
          <p:nvPr/>
        </p:nvSpPr>
        <p:spPr>
          <a:xfrm>
            <a:off x="8714160" y="1892880"/>
            <a:ext cx="245016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MAX is choosing a route. MIN is a hostile road manager who gets to close one road after seeing your direction.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9"/>
          <p:cNvSpPr/>
          <p:nvPr/>
        </p:nvSpPr>
        <p:spPr>
          <a:xfrm>
            <a:off x="1097280" y="4434840"/>
            <a:ext cx="9966600" cy="959760"/>
          </a:xfrm>
          <a:prstGeom prst="roundRect">
            <a:avLst>
              <a:gd name="adj" fmla="val 5714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0"/>
          <p:cNvSpPr/>
          <p:nvPr/>
        </p:nvSpPr>
        <p:spPr>
          <a:xfrm>
            <a:off x="1371600" y="466344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MIN is not evil in general. MIN is just optimizing the opposite objective.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1"/>
          <p:cNvSpPr/>
          <p:nvPr/>
        </p:nvSpPr>
        <p:spPr>
          <a:xfrm>
            <a:off x="1417320" y="4983480"/>
            <a:ext cx="93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In zero-sum games, one utility scale is enough.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Utility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Utility Values: What the Leaves Mean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Utilities are final payoffs, not feelings and not probabilities unless defined that way.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868680" y="1417320"/>
            <a:ext cx="356580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1033200" y="1545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Terminal utility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0"/>
          <p:cNvSpPr/>
          <p:nvPr/>
        </p:nvSpPr>
        <p:spPr>
          <a:xfrm>
            <a:off x="1033200" y="1892880"/>
            <a:ext cx="32731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number assigned when the game is over. Examples: win = +1, draw = 0, loss = -1 from MAX perspective.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1"/>
          <p:cNvSpPr/>
          <p:nvPr/>
        </p:nvSpPr>
        <p:spPr>
          <a:xfrm>
            <a:off x="4526280" y="1417320"/>
            <a:ext cx="356580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4690800" y="1545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Zero-sum shortcut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4"/>
          <p:cNvSpPr/>
          <p:nvPr/>
        </p:nvSpPr>
        <p:spPr>
          <a:xfrm>
            <a:off x="4690800" y="1892880"/>
            <a:ext cx="32731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Instead of two values, one value is enough because MIN wants the opposite of MAX.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5"/>
          <p:cNvSpPr/>
          <p:nvPr/>
        </p:nvSpPr>
        <p:spPr>
          <a:xfrm>
            <a:off x="8183880" y="1417320"/>
            <a:ext cx="292572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7"/>
          <p:cNvSpPr/>
          <p:nvPr/>
        </p:nvSpPr>
        <p:spPr>
          <a:xfrm>
            <a:off x="8348400" y="154548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Important distinction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8"/>
          <p:cNvSpPr/>
          <p:nvPr/>
        </p:nvSpPr>
        <p:spPr>
          <a:xfrm>
            <a:off x="8348400" y="1892880"/>
            <a:ext cx="26330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high score means good for MAX. It does not mean high confidence unless the score has been calibrated to probabilities.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1005840" y="3931920"/>
            <a:ext cx="10058040" cy="502560"/>
          </a:xfrm>
          <a:prstGeom prst="rect">
            <a:avLst/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Win/loss utility example: MAX win = +1, draw = 0, MAX loss = -1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0"/>
          <p:cNvSpPr/>
          <p:nvPr/>
        </p:nvSpPr>
        <p:spPr>
          <a:xfrm>
            <a:off x="1005840" y="4754880"/>
            <a:ext cx="10058040" cy="50256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Chess-style heuristic example: +3 means roughly a knight advantage, not a guaranteed win.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Strategy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 Strategy Is More Than One Move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 adversarial search, a plan must respond to opponent choices.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7"/>
          <p:cNvSpPr/>
          <p:nvPr/>
        </p:nvSpPr>
        <p:spPr>
          <a:xfrm>
            <a:off x="868680" y="1463040"/>
            <a:ext cx="338292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8"/>
          <p:cNvSpPr/>
          <p:nvPr/>
        </p:nvSpPr>
        <p:spPr>
          <a:xfrm>
            <a:off x="868680" y="1463040"/>
            <a:ext cx="72720" cy="2011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9"/>
          <p:cNvSpPr/>
          <p:nvPr/>
        </p:nvSpPr>
        <p:spPr>
          <a:xfrm>
            <a:off x="1033200" y="159120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Move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0"/>
          <p:cNvSpPr/>
          <p:nvPr/>
        </p:nvSpPr>
        <p:spPr>
          <a:xfrm>
            <a:off x="1033200" y="1938600"/>
            <a:ext cx="30902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single action chosen now: place X in the center, move knight to f3, bet, fold.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1"/>
          <p:cNvSpPr/>
          <p:nvPr/>
        </p:nvSpPr>
        <p:spPr>
          <a:xfrm>
            <a:off x="4526280" y="1463040"/>
            <a:ext cx="338292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2"/>
          <p:cNvSpPr/>
          <p:nvPr/>
        </p:nvSpPr>
        <p:spPr>
          <a:xfrm>
            <a:off x="4526280" y="1463040"/>
            <a:ext cx="72720" cy="20113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3"/>
          <p:cNvSpPr/>
          <p:nvPr/>
        </p:nvSpPr>
        <p:spPr>
          <a:xfrm>
            <a:off x="4690800" y="159120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Strategy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4"/>
          <p:cNvSpPr/>
          <p:nvPr/>
        </p:nvSpPr>
        <p:spPr>
          <a:xfrm>
            <a:off x="4690800" y="1938600"/>
            <a:ext cx="309024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conditional plan: if MIN replies this way, do A; if MIN replies that way, do B.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5"/>
          <p:cNvSpPr/>
          <p:nvPr/>
        </p:nvSpPr>
        <p:spPr>
          <a:xfrm>
            <a:off x="8183880" y="146304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6"/>
          <p:cNvSpPr/>
          <p:nvPr/>
        </p:nvSpPr>
        <p:spPr>
          <a:xfrm>
            <a:off x="8183880" y="1463040"/>
            <a:ext cx="72720" cy="2011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7"/>
          <p:cNvSpPr/>
          <p:nvPr/>
        </p:nvSpPr>
        <p:spPr>
          <a:xfrm>
            <a:off x="8348400" y="15912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it matters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8"/>
          <p:cNvSpPr/>
          <p:nvPr/>
        </p:nvSpPr>
        <p:spPr>
          <a:xfrm>
            <a:off x="8348400" y="1938600"/>
            <a:ext cx="24501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MAX cannot pick the whole future alone. The future is co-authored by MAX and MIN.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9"/>
          <p:cNvSpPr/>
          <p:nvPr/>
        </p:nvSpPr>
        <p:spPr>
          <a:xfrm>
            <a:off x="1188720" y="4343400"/>
            <a:ext cx="969228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0"/>
          <p:cNvSpPr/>
          <p:nvPr/>
        </p:nvSpPr>
        <p:spPr>
          <a:xfrm>
            <a:off x="1463040" y="457200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Minimax chooses a move by imagining the best complete strategy after that move.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1"/>
          <p:cNvSpPr/>
          <p:nvPr/>
        </p:nvSpPr>
        <p:spPr>
          <a:xfrm>
            <a:off x="1508760" y="4846320"/>
            <a:ext cx="9052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One move now is evaluated through all possible replies.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Optimal Decisions in Games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Minimax search: reason from terminal utilities back to the current move.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Core object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game tree with alternating MAX and MIN layers.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Core operation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Back up values using max and min.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Core question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What value can MAX guarantee?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The Minimax Question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If both players play optimally from here, what value can MAX force?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7"/>
          <p:cNvSpPr/>
          <p:nvPr/>
        </p:nvSpPr>
        <p:spPr>
          <a:xfrm>
            <a:off x="868680" y="1463040"/>
            <a:ext cx="10378080" cy="1279800"/>
          </a:xfrm>
          <a:prstGeom prst="roundRect">
            <a:avLst>
              <a:gd name="adj" fmla="val 4286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8"/>
          <p:cNvSpPr/>
          <p:nvPr/>
        </p:nvSpPr>
        <p:spPr>
          <a:xfrm>
            <a:off x="1143000" y="1691640"/>
            <a:ext cx="9829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MINIMAX(s) = utility of state s under optimal play by both sides.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9"/>
          <p:cNvSpPr/>
          <p:nvPr/>
        </p:nvSpPr>
        <p:spPr>
          <a:xfrm>
            <a:off x="1188720" y="2331720"/>
            <a:ext cx="9738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Work from terminal leaves back to the root.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0"/>
          <p:cNvSpPr/>
          <p:nvPr/>
        </p:nvSpPr>
        <p:spPr>
          <a:xfrm>
            <a:off x="1005840" y="3246120"/>
            <a:ext cx="30171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1"/>
          <p:cNvSpPr/>
          <p:nvPr/>
        </p:nvSpPr>
        <p:spPr>
          <a:xfrm>
            <a:off x="1005840" y="3246120"/>
            <a:ext cx="72720" cy="12340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1170360" y="33742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Terminal state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3"/>
          <p:cNvSpPr/>
          <p:nvPr/>
        </p:nvSpPr>
        <p:spPr>
          <a:xfrm>
            <a:off x="1170360" y="3721680"/>
            <a:ext cx="2724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Return UTILITY(s, MAX).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4"/>
          <p:cNvSpPr/>
          <p:nvPr/>
        </p:nvSpPr>
        <p:spPr>
          <a:xfrm>
            <a:off x="4572000" y="3246120"/>
            <a:ext cx="3017160" cy="1234080"/>
          </a:xfrm>
          <a:prstGeom prst="roundRect">
            <a:avLst>
              <a:gd name="adj" fmla="val 4444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5"/>
          <p:cNvSpPr/>
          <p:nvPr/>
        </p:nvSpPr>
        <p:spPr>
          <a:xfrm>
            <a:off x="4572000" y="3246120"/>
            <a:ext cx="72720" cy="1234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6"/>
          <p:cNvSpPr/>
          <p:nvPr/>
        </p:nvSpPr>
        <p:spPr>
          <a:xfrm>
            <a:off x="4736520" y="33742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MAX to move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7"/>
          <p:cNvSpPr/>
          <p:nvPr/>
        </p:nvSpPr>
        <p:spPr>
          <a:xfrm>
            <a:off x="4736520" y="3721680"/>
            <a:ext cx="2724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Return the maximum minimax value among successors.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8"/>
          <p:cNvSpPr/>
          <p:nvPr/>
        </p:nvSpPr>
        <p:spPr>
          <a:xfrm>
            <a:off x="8138160" y="3246120"/>
            <a:ext cx="3017160" cy="1234080"/>
          </a:xfrm>
          <a:prstGeom prst="roundRect">
            <a:avLst>
              <a:gd name="adj" fmla="val 4444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9"/>
          <p:cNvSpPr/>
          <p:nvPr/>
        </p:nvSpPr>
        <p:spPr>
          <a:xfrm>
            <a:off x="8138160" y="3246120"/>
            <a:ext cx="72720" cy="1234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0"/>
          <p:cNvSpPr/>
          <p:nvPr/>
        </p:nvSpPr>
        <p:spPr>
          <a:xfrm>
            <a:off x="8302680" y="33742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 to move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1"/>
          <p:cNvSpPr/>
          <p:nvPr/>
        </p:nvSpPr>
        <p:spPr>
          <a:xfrm>
            <a:off x="8302680" y="3721680"/>
            <a:ext cx="2724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Return the minimum minimax value among successors.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2"/>
          <p:cNvSpPr/>
          <p:nvPr/>
        </p:nvSpPr>
        <p:spPr>
          <a:xfrm>
            <a:off x="1234440" y="5166360"/>
            <a:ext cx="9738000" cy="54828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Teaching phrase: “At MAX levels, lift the highest child. At MIN levels, sink to the lowest child.”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 Example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Two-Ply Minimax Example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MAX chooses an action, then MIN chooses a reply.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7"/>
          <p:cNvSpPr/>
          <p:nvPr/>
        </p:nvSpPr>
        <p:spPr>
          <a:xfrm>
            <a:off x="795600" y="1298520"/>
            <a:ext cx="6455160" cy="3391920"/>
          </a:xfrm>
          <a:prstGeom prst="roundRect">
            <a:avLst>
              <a:gd name="adj" fmla="val 1078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Image 0" descr="/mnt/data/ch5_assets/fig_5_2_two_ply_tree.png"/>
          <p:cNvPicPr/>
          <p:nvPr/>
        </p:nvPicPr>
        <p:blipFill>
          <a:blip r:embed="rId1"/>
          <a:stretch/>
        </p:blipFill>
        <p:spPr>
          <a:xfrm>
            <a:off x="822960" y="1441800"/>
            <a:ext cx="6400440" cy="310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 8"/>
          <p:cNvSpPr/>
          <p:nvPr/>
        </p:nvSpPr>
        <p:spPr>
          <a:xfrm>
            <a:off x="822960" y="47181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5.2: two-ply game tree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9"/>
          <p:cNvSpPr/>
          <p:nvPr/>
        </p:nvSpPr>
        <p:spPr>
          <a:xfrm>
            <a:off x="7543800" y="1508760"/>
            <a:ext cx="3474360" cy="2102760"/>
          </a:xfrm>
          <a:prstGeom prst="roundRect">
            <a:avLst>
              <a:gd name="adj" fmla="val 260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0"/>
          <p:cNvSpPr/>
          <p:nvPr/>
        </p:nvSpPr>
        <p:spPr>
          <a:xfrm>
            <a:off x="7543800" y="1508760"/>
            <a:ext cx="72720" cy="21027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1"/>
          <p:cNvSpPr/>
          <p:nvPr/>
        </p:nvSpPr>
        <p:spPr>
          <a:xfrm>
            <a:off x="7708320" y="163692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Read the tree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2"/>
          <p:cNvSpPr/>
          <p:nvPr/>
        </p:nvSpPr>
        <p:spPr>
          <a:xfrm>
            <a:off x="7708320" y="1984320"/>
            <a:ext cx="318168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Root A is MAX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B, C, D are MIN nodes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Leaves are utilities for MAX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Back up values: B=3, C=2, D=2, A=3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3"/>
          <p:cNvSpPr/>
          <p:nvPr/>
        </p:nvSpPr>
        <p:spPr>
          <a:xfrm>
            <a:off x="7543800" y="3886200"/>
            <a:ext cx="3474360" cy="1142640"/>
          </a:xfrm>
          <a:prstGeom prst="roundRect">
            <a:avLst>
              <a:gd name="adj" fmla="val 48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4"/>
          <p:cNvSpPr/>
          <p:nvPr/>
        </p:nvSpPr>
        <p:spPr>
          <a:xfrm>
            <a:off x="7543800" y="3886200"/>
            <a:ext cx="72720" cy="1142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5"/>
          <p:cNvSpPr/>
          <p:nvPr/>
        </p:nvSpPr>
        <p:spPr>
          <a:xfrm>
            <a:off x="7708320" y="4014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Result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6"/>
          <p:cNvSpPr/>
          <p:nvPr/>
        </p:nvSpPr>
        <p:spPr>
          <a:xfrm>
            <a:off x="7708320" y="4361760"/>
            <a:ext cx="31816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MAX chooses a1 because it leads to B, whose minimax value is 3. MIN would then choose b1.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 Trace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Step 1: Evaluate the Leaves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recursion hits terminal states first.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 flipH="1">
            <a:off x="1691640" y="164592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3611880" y="1645920"/>
            <a:ext cx="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9"/>
          <p:cNvSpPr/>
          <p:nvPr/>
        </p:nvSpPr>
        <p:spPr>
          <a:xfrm>
            <a:off x="3611880" y="164592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0"/>
          <p:cNvSpPr/>
          <p:nvPr/>
        </p:nvSpPr>
        <p:spPr>
          <a:xfrm flipH="1">
            <a:off x="118872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169164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2"/>
          <p:cNvSpPr/>
          <p:nvPr/>
        </p:nvSpPr>
        <p:spPr>
          <a:xfrm>
            <a:off x="169164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3"/>
          <p:cNvSpPr/>
          <p:nvPr/>
        </p:nvSpPr>
        <p:spPr>
          <a:xfrm flipH="1">
            <a:off x="310896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4"/>
          <p:cNvSpPr/>
          <p:nvPr/>
        </p:nvSpPr>
        <p:spPr>
          <a:xfrm>
            <a:off x="361188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5"/>
          <p:cNvSpPr/>
          <p:nvPr/>
        </p:nvSpPr>
        <p:spPr>
          <a:xfrm>
            <a:off x="361188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6"/>
          <p:cNvSpPr/>
          <p:nvPr/>
        </p:nvSpPr>
        <p:spPr>
          <a:xfrm flipH="1">
            <a:off x="502920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7"/>
          <p:cNvSpPr/>
          <p:nvPr/>
        </p:nvSpPr>
        <p:spPr>
          <a:xfrm>
            <a:off x="553212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8"/>
          <p:cNvSpPr/>
          <p:nvPr/>
        </p:nvSpPr>
        <p:spPr>
          <a:xfrm>
            <a:off x="553212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9"/>
          <p:cNvSpPr/>
          <p:nvPr/>
        </p:nvSpPr>
        <p:spPr>
          <a:xfrm>
            <a:off x="3474720" y="141732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0"/>
          <p:cNvSpPr/>
          <p:nvPr/>
        </p:nvSpPr>
        <p:spPr>
          <a:xfrm>
            <a:off x="1554480" y="265176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1"/>
          <p:cNvSpPr/>
          <p:nvPr/>
        </p:nvSpPr>
        <p:spPr>
          <a:xfrm>
            <a:off x="3474720" y="265176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2"/>
          <p:cNvSpPr/>
          <p:nvPr/>
        </p:nvSpPr>
        <p:spPr>
          <a:xfrm>
            <a:off x="5394960" y="265176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3"/>
          <p:cNvSpPr/>
          <p:nvPr/>
        </p:nvSpPr>
        <p:spPr>
          <a:xfrm>
            <a:off x="105156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4"/>
          <p:cNvSpPr/>
          <p:nvPr/>
        </p:nvSpPr>
        <p:spPr>
          <a:xfrm>
            <a:off x="155448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5"/>
          <p:cNvSpPr/>
          <p:nvPr/>
        </p:nvSpPr>
        <p:spPr>
          <a:xfrm>
            <a:off x="205740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6"/>
          <p:cNvSpPr/>
          <p:nvPr/>
        </p:nvSpPr>
        <p:spPr>
          <a:xfrm>
            <a:off x="297180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27"/>
          <p:cNvSpPr/>
          <p:nvPr/>
        </p:nvSpPr>
        <p:spPr>
          <a:xfrm>
            <a:off x="347472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8"/>
          <p:cNvSpPr/>
          <p:nvPr/>
        </p:nvSpPr>
        <p:spPr>
          <a:xfrm>
            <a:off x="397764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9"/>
          <p:cNvSpPr/>
          <p:nvPr/>
        </p:nvSpPr>
        <p:spPr>
          <a:xfrm>
            <a:off x="489204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0"/>
          <p:cNvSpPr/>
          <p:nvPr/>
        </p:nvSpPr>
        <p:spPr>
          <a:xfrm>
            <a:off x="539496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1"/>
          <p:cNvSpPr/>
          <p:nvPr/>
        </p:nvSpPr>
        <p:spPr>
          <a:xfrm>
            <a:off x="5897880" y="4160520"/>
            <a:ext cx="402120" cy="38376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2"/>
          <p:cNvSpPr/>
          <p:nvPr/>
        </p:nvSpPr>
        <p:spPr>
          <a:xfrm>
            <a:off x="1188720" y="475488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Terminal utilities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3"/>
          <p:cNvSpPr/>
          <p:nvPr/>
        </p:nvSpPr>
        <p:spPr>
          <a:xfrm>
            <a:off x="7315200" y="1508760"/>
            <a:ext cx="36572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34"/>
          <p:cNvSpPr/>
          <p:nvPr/>
        </p:nvSpPr>
        <p:spPr>
          <a:xfrm>
            <a:off x="7315200" y="150876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5"/>
          <p:cNvSpPr/>
          <p:nvPr/>
        </p:nvSpPr>
        <p:spPr>
          <a:xfrm>
            <a:off x="7479720" y="16369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happens first?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36"/>
          <p:cNvSpPr/>
          <p:nvPr/>
        </p:nvSpPr>
        <p:spPr>
          <a:xfrm>
            <a:off x="7479720" y="1984320"/>
            <a:ext cx="33645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Search descends depth-first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At a terminal node, call UTILITY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Return each leaf value upward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37"/>
          <p:cNvSpPr/>
          <p:nvPr/>
        </p:nvSpPr>
        <p:spPr>
          <a:xfrm>
            <a:off x="7315200" y="3703320"/>
            <a:ext cx="3657240" cy="1234080"/>
          </a:xfrm>
          <a:prstGeom prst="roundRect">
            <a:avLst>
              <a:gd name="adj" fmla="val 4444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8"/>
          <p:cNvSpPr/>
          <p:nvPr/>
        </p:nvSpPr>
        <p:spPr>
          <a:xfrm>
            <a:off x="7315200" y="3703320"/>
            <a:ext cx="72720" cy="1234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9"/>
          <p:cNvSpPr/>
          <p:nvPr/>
        </p:nvSpPr>
        <p:spPr>
          <a:xfrm>
            <a:off x="7479720" y="38314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Instructor prompt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40"/>
          <p:cNvSpPr/>
          <p:nvPr/>
        </p:nvSpPr>
        <p:spPr>
          <a:xfrm>
            <a:off x="7479720" y="4178880"/>
            <a:ext cx="3364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Ask students to circle only the terminal utilities before calculating any parent values.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 Trace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Step 2: MIN Nodes Choose the Worst for MAX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Each MIN node takes the minimum of its children.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7"/>
          <p:cNvSpPr/>
          <p:nvPr/>
        </p:nvSpPr>
        <p:spPr>
          <a:xfrm flipH="1">
            <a:off x="1691640" y="164592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8"/>
          <p:cNvSpPr/>
          <p:nvPr/>
        </p:nvSpPr>
        <p:spPr>
          <a:xfrm>
            <a:off x="3611880" y="1645920"/>
            <a:ext cx="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9"/>
          <p:cNvSpPr/>
          <p:nvPr/>
        </p:nvSpPr>
        <p:spPr>
          <a:xfrm>
            <a:off x="3611880" y="164592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0"/>
          <p:cNvSpPr/>
          <p:nvPr/>
        </p:nvSpPr>
        <p:spPr>
          <a:xfrm flipH="1">
            <a:off x="118872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1"/>
          <p:cNvSpPr/>
          <p:nvPr/>
        </p:nvSpPr>
        <p:spPr>
          <a:xfrm>
            <a:off x="169164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2"/>
          <p:cNvSpPr/>
          <p:nvPr/>
        </p:nvSpPr>
        <p:spPr>
          <a:xfrm>
            <a:off x="169164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3"/>
          <p:cNvSpPr/>
          <p:nvPr/>
        </p:nvSpPr>
        <p:spPr>
          <a:xfrm flipH="1">
            <a:off x="310896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4"/>
          <p:cNvSpPr/>
          <p:nvPr/>
        </p:nvSpPr>
        <p:spPr>
          <a:xfrm>
            <a:off x="361188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5"/>
          <p:cNvSpPr/>
          <p:nvPr/>
        </p:nvSpPr>
        <p:spPr>
          <a:xfrm>
            <a:off x="361188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6"/>
          <p:cNvSpPr/>
          <p:nvPr/>
        </p:nvSpPr>
        <p:spPr>
          <a:xfrm flipH="1">
            <a:off x="502920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7"/>
          <p:cNvSpPr/>
          <p:nvPr/>
        </p:nvSpPr>
        <p:spPr>
          <a:xfrm>
            <a:off x="553212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8"/>
          <p:cNvSpPr/>
          <p:nvPr/>
        </p:nvSpPr>
        <p:spPr>
          <a:xfrm>
            <a:off x="553212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9"/>
          <p:cNvSpPr/>
          <p:nvPr/>
        </p:nvSpPr>
        <p:spPr>
          <a:xfrm>
            <a:off x="3474720" y="141732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0"/>
          <p:cNvSpPr/>
          <p:nvPr/>
        </p:nvSpPr>
        <p:spPr>
          <a:xfrm>
            <a:off x="1554480" y="265176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1"/>
          <p:cNvSpPr/>
          <p:nvPr/>
        </p:nvSpPr>
        <p:spPr>
          <a:xfrm>
            <a:off x="3474720" y="265176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2"/>
          <p:cNvSpPr/>
          <p:nvPr/>
        </p:nvSpPr>
        <p:spPr>
          <a:xfrm>
            <a:off x="5394960" y="265176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3"/>
          <p:cNvSpPr/>
          <p:nvPr/>
        </p:nvSpPr>
        <p:spPr>
          <a:xfrm>
            <a:off x="105156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24"/>
          <p:cNvSpPr/>
          <p:nvPr/>
        </p:nvSpPr>
        <p:spPr>
          <a:xfrm>
            <a:off x="155448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5"/>
          <p:cNvSpPr/>
          <p:nvPr/>
        </p:nvSpPr>
        <p:spPr>
          <a:xfrm>
            <a:off x="205740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6"/>
          <p:cNvSpPr/>
          <p:nvPr/>
        </p:nvSpPr>
        <p:spPr>
          <a:xfrm>
            <a:off x="297180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7"/>
          <p:cNvSpPr/>
          <p:nvPr/>
        </p:nvSpPr>
        <p:spPr>
          <a:xfrm>
            <a:off x="347472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8"/>
          <p:cNvSpPr/>
          <p:nvPr/>
        </p:nvSpPr>
        <p:spPr>
          <a:xfrm>
            <a:off x="397764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29"/>
          <p:cNvSpPr/>
          <p:nvPr/>
        </p:nvSpPr>
        <p:spPr>
          <a:xfrm>
            <a:off x="489204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30"/>
          <p:cNvSpPr/>
          <p:nvPr/>
        </p:nvSpPr>
        <p:spPr>
          <a:xfrm>
            <a:off x="539496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1"/>
          <p:cNvSpPr/>
          <p:nvPr/>
        </p:nvSpPr>
        <p:spPr>
          <a:xfrm>
            <a:off x="589788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2"/>
          <p:cNvSpPr/>
          <p:nvPr/>
        </p:nvSpPr>
        <p:spPr>
          <a:xfrm>
            <a:off x="1188720" y="475488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Terminal utilities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3"/>
          <p:cNvSpPr/>
          <p:nvPr/>
        </p:nvSpPr>
        <p:spPr>
          <a:xfrm>
            <a:off x="7315200" y="1508760"/>
            <a:ext cx="3657240" cy="1828440"/>
          </a:xfrm>
          <a:prstGeom prst="roundRect">
            <a:avLst>
              <a:gd name="adj" fmla="val 3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34"/>
          <p:cNvSpPr/>
          <p:nvPr/>
        </p:nvSpPr>
        <p:spPr>
          <a:xfrm>
            <a:off x="7315200" y="150876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5"/>
          <p:cNvSpPr/>
          <p:nvPr/>
        </p:nvSpPr>
        <p:spPr>
          <a:xfrm>
            <a:off x="7479720" y="16369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 backups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36"/>
          <p:cNvSpPr/>
          <p:nvPr/>
        </p:nvSpPr>
        <p:spPr>
          <a:xfrm>
            <a:off x="7479720" y="1984320"/>
            <a:ext cx="33645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 = min(3,12,8) = 3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 = min(2,4,6) = 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D = min(14,5,2) = 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37"/>
          <p:cNvSpPr/>
          <p:nvPr/>
        </p:nvSpPr>
        <p:spPr>
          <a:xfrm>
            <a:off x="7315200" y="3703320"/>
            <a:ext cx="365724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8"/>
          <p:cNvSpPr/>
          <p:nvPr/>
        </p:nvSpPr>
        <p:spPr>
          <a:xfrm>
            <a:off x="7315200" y="3703320"/>
            <a:ext cx="72720" cy="12340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39"/>
          <p:cNvSpPr/>
          <p:nvPr/>
        </p:nvSpPr>
        <p:spPr>
          <a:xfrm>
            <a:off x="7479720" y="38314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40"/>
          <p:cNvSpPr/>
          <p:nvPr/>
        </p:nvSpPr>
        <p:spPr>
          <a:xfrm>
            <a:off x="7479720" y="4178880"/>
            <a:ext cx="336456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Because the values are for MAX, and MIN wants MAX to get as little as possible.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 Trace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Step 3: MAX Chooses the Best Guaranteed Outcome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At the root, MAX takes the maximum of backed-up child values.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7"/>
          <p:cNvSpPr/>
          <p:nvPr/>
        </p:nvSpPr>
        <p:spPr>
          <a:xfrm flipH="1">
            <a:off x="1691640" y="164592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8"/>
          <p:cNvSpPr/>
          <p:nvPr/>
        </p:nvSpPr>
        <p:spPr>
          <a:xfrm>
            <a:off x="3611880" y="1645920"/>
            <a:ext cx="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9"/>
          <p:cNvSpPr/>
          <p:nvPr/>
        </p:nvSpPr>
        <p:spPr>
          <a:xfrm>
            <a:off x="3611880" y="164592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10"/>
          <p:cNvSpPr/>
          <p:nvPr/>
        </p:nvSpPr>
        <p:spPr>
          <a:xfrm flipH="1">
            <a:off x="118872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1"/>
          <p:cNvSpPr/>
          <p:nvPr/>
        </p:nvSpPr>
        <p:spPr>
          <a:xfrm>
            <a:off x="169164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2"/>
          <p:cNvSpPr/>
          <p:nvPr/>
        </p:nvSpPr>
        <p:spPr>
          <a:xfrm>
            <a:off x="169164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3"/>
          <p:cNvSpPr/>
          <p:nvPr/>
        </p:nvSpPr>
        <p:spPr>
          <a:xfrm flipH="1">
            <a:off x="310896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4"/>
          <p:cNvSpPr/>
          <p:nvPr/>
        </p:nvSpPr>
        <p:spPr>
          <a:xfrm>
            <a:off x="361188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5"/>
          <p:cNvSpPr/>
          <p:nvPr/>
        </p:nvSpPr>
        <p:spPr>
          <a:xfrm>
            <a:off x="361188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6"/>
          <p:cNvSpPr/>
          <p:nvPr/>
        </p:nvSpPr>
        <p:spPr>
          <a:xfrm flipH="1">
            <a:off x="502920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7"/>
          <p:cNvSpPr/>
          <p:nvPr/>
        </p:nvSpPr>
        <p:spPr>
          <a:xfrm>
            <a:off x="5532120" y="288036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8"/>
          <p:cNvSpPr/>
          <p:nvPr/>
        </p:nvSpPr>
        <p:spPr>
          <a:xfrm>
            <a:off x="5532120" y="288036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9"/>
          <p:cNvSpPr/>
          <p:nvPr/>
        </p:nvSpPr>
        <p:spPr>
          <a:xfrm>
            <a:off x="3474720" y="1417320"/>
            <a:ext cx="603000" cy="529920"/>
          </a:xfrm>
          <a:prstGeom prst="rect">
            <a:avLst/>
          </a:prstGeom>
          <a:solidFill>
            <a:srgbClr val="F2B84B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0"/>
          <p:cNvSpPr/>
          <p:nvPr/>
        </p:nvSpPr>
        <p:spPr>
          <a:xfrm>
            <a:off x="1554480" y="265176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21"/>
          <p:cNvSpPr/>
          <p:nvPr/>
        </p:nvSpPr>
        <p:spPr>
          <a:xfrm>
            <a:off x="3474720" y="265176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2"/>
          <p:cNvSpPr/>
          <p:nvPr/>
        </p:nvSpPr>
        <p:spPr>
          <a:xfrm>
            <a:off x="5394960" y="265176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3"/>
          <p:cNvSpPr/>
          <p:nvPr/>
        </p:nvSpPr>
        <p:spPr>
          <a:xfrm>
            <a:off x="105156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4"/>
          <p:cNvSpPr/>
          <p:nvPr/>
        </p:nvSpPr>
        <p:spPr>
          <a:xfrm>
            <a:off x="155448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25"/>
          <p:cNvSpPr/>
          <p:nvPr/>
        </p:nvSpPr>
        <p:spPr>
          <a:xfrm>
            <a:off x="205740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6"/>
          <p:cNvSpPr/>
          <p:nvPr/>
        </p:nvSpPr>
        <p:spPr>
          <a:xfrm>
            <a:off x="297180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7"/>
          <p:cNvSpPr/>
          <p:nvPr/>
        </p:nvSpPr>
        <p:spPr>
          <a:xfrm>
            <a:off x="347472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8"/>
          <p:cNvSpPr/>
          <p:nvPr/>
        </p:nvSpPr>
        <p:spPr>
          <a:xfrm>
            <a:off x="397764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9"/>
          <p:cNvSpPr/>
          <p:nvPr/>
        </p:nvSpPr>
        <p:spPr>
          <a:xfrm>
            <a:off x="489204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30"/>
          <p:cNvSpPr/>
          <p:nvPr/>
        </p:nvSpPr>
        <p:spPr>
          <a:xfrm>
            <a:off x="539496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1"/>
          <p:cNvSpPr/>
          <p:nvPr/>
        </p:nvSpPr>
        <p:spPr>
          <a:xfrm>
            <a:off x="5897880" y="416052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32"/>
          <p:cNvSpPr/>
          <p:nvPr/>
        </p:nvSpPr>
        <p:spPr>
          <a:xfrm>
            <a:off x="1188720" y="475488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Terminal utilities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33"/>
          <p:cNvSpPr/>
          <p:nvPr/>
        </p:nvSpPr>
        <p:spPr>
          <a:xfrm>
            <a:off x="7315200" y="1508760"/>
            <a:ext cx="3657240" cy="1325520"/>
          </a:xfrm>
          <a:prstGeom prst="roundRect">
            <a:avLst>
              <a:gd name="adj" fmla="val 4138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4"/>
          <p:cNvSpPr/>
          <p:nvPr/>
        </p:nvSpPr>
        <p:spPr>
          <a:xfrm>
            <a:off x="7315200" y="1508760"/>
            <a:ext cx="72720" cy="1325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35"/>
          <p:cNvSpPr/>
          <p:nvPr/>
        </p:nvSpPr>
        <p:spPr>
          <a:xfrm>
            <a:off x="7479720" y="16369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Root backup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36"/>
          <p:cNvSpPr/>
          <p:nvPr/>
        </p:nvSpPr>
        <p:spPr>
          <a:xfrm>
            <a:off x="7479720" y="1984320"/>
            <a:ext cx="33645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= max(B, C, D) = max(3, 2, 2) =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37"/>
          <p:cNvSpPr/>
          <p:nvPr/>
        </p:nvSpPr>
        <p:spPr>
          <a:xfrm>
            <a:off x="7315200" y="3246120"/>
            <a:ext cx="3657240" cy="1554120"/>
          </a:xfrm>
          <a:prstGeom prst="roundRect">
            <a:avLst>
              <a:gd name="adj" fmla="val 352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38"/>
          <p:cNvSpPr/>
          <p:nvPr/>
        </p:nvSpPr>
        <p:spPr>
          <a:xfrm>
            <a:off x="7315200" y="3246120"/>
            <a:ext cx="72720" cy="15541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39"/>
          <p:cNvSpPr/>
          <p:nvPr/>
        </p:nvSpPr>
        <p:spPr>
          <a:xfrm>
            <a:off x="7479720" y="33742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Decision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40"/>
          <p:cNvSpPr/>
          <p:nvPr/>
        </p:nvSpPr>
        <p:spPr>
          <a:xfrm>
            <a:off x="7479720" y="3721680"/>
            <a:ext cx="336456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Choose action a1. It is not the branch with the largest leaf, but it has the best value after MIN replies optimally.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Activity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Mini-Exercise: Back Up This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Students solve before you reveal.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7"/>
          <p:cNvSpPr/>
          <p:nvPr/>
        </p:nvSpPr>
        <p:spPr>
          <a:xfrm flipH="1">
            <a:off x="1691640" y="173736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8"/>
          <p:cNvSpPr/>
          <p:nvPr/>
        </p:nvSpPr>
        <p:spPr>
          <a:xfrm>
            <a:off x="3611880" y="1737360"/>
            <a:ext cx="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9"/>
          <p:cNvSpPr/>
          <p:nvPr/>
        </p:nvSpPr>
        <p:spPr>
          <a:xfrm>
            <a:off x="3611880" y="1737360"/>
            <a:ext cx="192024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0"/>
          <p:cNvSpPr/>
          <p:nvPr/>
        </p:nvSpPr>
        <p:spPr>
          <a:xfrm flipH="1">
            <a:off x="118872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1"/>
          <p:cNvSpPr/>
          <p:nvPr/>
        </p:nvSpPr>
        <p:spPr>
          <a:xfrm>
            <a:off x="1691640" y="297180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2"/>
          <p:cNvSpPr/>
          <p:nvPr/>
        </p:nvSpPr>
        <p:spPr>
          <a:xfrm>
            <a:off x="169164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3"/>
          <p:cNvSpPr/>
          <p:nvPr/>
        </p:nvSpPr>
        <p:spPr>
          <a:xfrm flipH="1">
            <a:off x="310896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4"/>
          <p:cNvSpPr/>
          <p:nvPr/>
        </p:nvSpPr>
        <p:spPr>
          <a:xfrm>
            <a:off x="3611880" y="297180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5"/>
          <p:cNvSpPr/>
          <p:nvPr/>
        </p:nvSpPr>
        <p:spPr>
          <a:xfrm>
            <a:off x="361188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6"/>
          <p:cNvSpPr/>
          <p:nvPr/>
        </p:nvSpPr>
        <p:spPr>
          <a:xfrm flipH="1">
            <a:off x="502920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17"/>
          <p:cNvSpPr/>
          <p:nvPr/>
        </p:nvSpPr>
        <p:spPr>
          <a:xfrm>
            <a:off x="5532120" y="297180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8"/>
          <p:cNvSpPr/>
          <p:nvPr/>
        </p:nvSpPr>
        <p:spPr>
          <a:xfrm>
            <a:off x="553212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9"/>
          <p:cNvSpPr/>
          <p:nvPr/>
        </p:nvSpPr>
        <p:spPr>
          <a:xfrm>
            <a:off x="3474720" y="1508760"/>
            <a:ext cx="603000" cy="529920"/>
          </a:xfrm>
          <a:prstGeom prst="rect">
            <a:avLst/>
          </a:prstGeom>
          <a:solidFill>
            <a:srgbClr val="F2B84B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0"/>
          <p:cNvSpPr/>
          <p:nvPr/>
        </p:nvSpPr>
        <p:spPr>
          <a:xfrm>
            <a:off x="1554480" y="274320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21"/>
          <p:cNvSpPr/>
          <p:nvPr/>
        </p:nvSpPr>
        <p:spPr>
          <a:xfrm>
            <a:off x="3474720" y="274320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22"/>
          <p:cNvSpPr/>
          <p:nvPr/>
        </p:nvSpPr>
        <p:spPr>
          <a:xfrm>
            <a:off x="5394960" y="274320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3"/>
          <p:cNvSpPr/>
          <p:nvPr/>
        </p:nvSpPr>
        <p:spPr>
          <a:xfrm>
            <a:off x="105156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-2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24"/>
          <p:cNvSpPr/>
          <p:nvPr/>
        </p:nvSpPr>
        <p:spPr>
          <a:xfrm>
            <a:off x="155448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5"/>
          <p:cNvSpPr/>
          <p:nvPr/>
        </p:nvSpPr>
        <p:spPr>
          <a:xfrm>
            <a:off x="205740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6"/>
          <p:cNvSpPr/>
          <p:nvPr/>
        </p:nvSpPr>
        <p:spPr>
          <a:xfrm>
            <a:off x="297180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7"/>
          <p:cNvSpPr/>
          <p:nvPr/>
        </p:nvSpPr>
        <p:spPr>
          <a:xfrm>
            <a:off x="347472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8"/>
          <p:cNvSpPr/>
          <p:nvPr/>
        </p:nvSpPr>
        <p:spPr>
          <a:xfrm>
            <a:off x="397764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9"/>
          <p:cNvSpPr/>
          <p:nvPr/>
        </p:nvSpPr>
        <p:spPr>
          <a:xfrm>
            <a:off x="489204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30"/>
          <p:cNvSpPr/>
          <p:nvPr/>
        </p:nvSpPr>
        <p:spPr>
          <a:xfrm>
            <a:off x="539496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31"/>
          <p:cNvSpPr/>
          <p:nvPr/>
        </p:nvSpPr>
        <p:spPr>
          <a:xfrm>
            <a:off x="589788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2"/>
          <p:cNvSpPr/>
          <p:nvPr/>
        </p:nvSpPr>
        <p:spPr>
          <a:xfrm>
            <a:off x="7543800" y="1417320"/>
            <a:ext cx="3474360" cy="2102760"/>
          </a:xfrm>
          <a:prstGeom prst="roundRect">
            <a:avLst>
              <a:gd name="adj" fmla="val 260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33"/>
          <p:cNvSpPr/>
          <p:nvPr/>
        </p:nvSpPr>
        <p:spPr>
          <a:xfrm>
            <a:off x="7543800" y="1417320"/>
            <a:ext cx="72720" cy="21027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34"/>
          <p:cNvSpPr/>
          <p:nvPr/>
        </p:nvSpPr>
        <p:spPr>
          <a:xfrm>
            <a:off x="770832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Student task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35"/>
          <p:cNvSpPr/>
          <p:nvPr/>
        </p:nvSpPr>
        <p:spPr>
          <a:xfrm>
            <a:off x="7708320" y="1892880"/>
            <a:ext cx="318168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Compute each MIN node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Compute the MAX root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Name the optimal root move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Explain why the biggest leaf is not enough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36"/>
          <p:cNvSpPr/>
          <p:nvPr/>
        </p:nvSpPr>
        <p:spPr>
          <a:xfrm>
            <a:off x="7543800" y="3794760"/>
            <a:ext cx="3474360" cy="1234080"/>
          </a:xfrm>
          <a:prstGeom prst="roundRect">
            <a:avLst>
              <a:gd name="adj" fmla="val 4444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37"/>
          <p:cNvSpPr/>
          <p:nvPr/>
        </p:nvSpPr>
        <p:spPr>
          <a:xfrm>
            <a:off x="7543800" y="3794760"/>
            <a:ext cx="72720" cy="1234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8"/>
          <p:cNvSpPr/>
          <p:nvPr/>
        </p:nvSpPr>
        <p:spPr>
          <a:xfrm>
            <a:off x="7708320" y="392292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Instructor note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39"/>
          <p:cNvSpPr/>
          <p:nvPr/>
        </p:nvSpPr>
        <p:spPr>
          <a:xfrm>
            <a:off x="7708320" y="4270320"/>
            <a:ext cx="31816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Give 2 minutes. Then ask a student to narrate the backup process from leaves upward.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Algorithm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Minimax Search Pseudocode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implementation is just recursive backup with alternating roles.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7"/>
          <p:cNvSpPr/>
          <p:nvPr/>
        </p:nvSpPr>
        <p:spPr>
          <a:xfrm>
            <a:off x="749880" y="1207080"/>
            <a:ext cx="4626360" cy="4946400"/>
          </a:xfrm>
          <a:prstGeom prst="roundRect">
            <a:avLst>
              <a:gd name="adj" fmla="val 791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7" name="Image 0" descr="/mnt/data/ch5_assets/fig_5_3_minimax_pseudocode.png"/>
          <p:cNvPicPr/>
          <p:nvPr/>
        </p:nvPicPr>
        <p:blipFill>
          <a:blip r:embed="rId1"/>
          <a:stretch/>
        </p:blipFill>
        <p:spPr>
          <a:xfrm>
            <a:off x="777240" y="1868040"/>
            <a:ext cx="4571640" cy="36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Text 8"/>
          <p:cNvSpPr/>
          <p:nvPr/>
        </p:nvSpPr>
        <p:spPr>
          <a:xfrm>
            <a:off x="777240" y="61812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5.3: minimax search algorithm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9"/>
          <p:cNvSpPr/>
          <p:nvPr/>
        </p:nvSpPr>
        <p:spPr>
          <a:xfrm>
            <a:off x="5715000" y="1417320"/>
            <a:ext cx="2742840" cy="2239920"/>
          </a:xfrm>
          <a:prstGeom prst="roundRect">
            <a:avLst>
              <a:gd name="adj" fmla="val 244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0"/>
          <p:cNvSpPr/>
          <p:nvPr/>
        </p:nvSpPr>
        <p:spPr>
          <a:xfrm>
            <a:off x="5715000" y="1417320"/>
            <a:ext cx="72720" cy="22399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1"/>
          <p:cNvSpPr/>
          <p:nvPr/>
        </p:nvSpPr>
        <p:spPr>
          <a:xfrm>
            <a:off x="587952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Code reading checklist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2"/>
          <p:cNvSpPr/>
          <p:nvPr/>
        </p:nvSpPr>
        <p:spPr>
          <a:xfrm>
            <a:off x="5879520" y="1892880"/>
            <a:ext cx="2450160" cy="16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Base case: terminal state returns utility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MAX loop keeps highest value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MIN loop keeps lowest value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Return both value and move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3"/>
          <p:cNvSpPr/>
          <p:nvPr/>
        </p:nvSpPr>
        <p:spPr>
          <a:xfrm>
            <a:off x="8732520" y="1417320"/>
            <a:ext cx="2514240" cy="2239920"/>
          </a:xfrm>
          <a:prstGeom prst="roundRect">
            <a:avLst>
              <a:gd name="adj" fmla="val 2449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14"/>
          <p:cNvSpPr/>
          <p:nvPr/>
        </p:nvSpPr>
        <p:spPr>
          <a:xfrm>
            <a:off x="8732520" y="1417320"/>
            <a:ext cx="72720" cy="22399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5"/>
          <p:cNvSpPr/>
          <p:nvPr/>
        </p:nvSpPr>
        <p:spPr>
          <a:xfrm>
            <a:off x="8897040" y="1545480"/>
            <a:ext cx="2239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Python lab connection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6"/>
          <p:cNvSpPr/>
          <p:nvPr/>
        </p:nvSpPr>
        <p:spPr>
          <a:xfrm>
            <a:off x="8897040" y="1892880"/>
            <a:ext cx="2221560" cy="16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Students will see this as recursive functions or as a method that passes player, depth, and state.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7"/>
          <p:cNvSpPr/>
          <p:nvPr/>
        </p:nvSpPr>
        <p:spPr>
          <a:xfrm>
            <a:off x="5715000" y="4069080"/>
            <a:ext cx="5531760" cy="1142640"/>
          </a:xfrm>
          <a:prstGeom prst="roundRect">
            <a:avLst>
              <a:gd name="adj" fmla="val 48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8"/>
          <p:cNvSpPr/>
          <p:nvPr/>
        </p:nvSpPr>
        <p:spPr>
          <a:xfrm>
            <a:off x="5715000" y="4069080"/>
            <a:ext cx="72720" cy="1142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9"/>
          <p:cNvSpPr/>
          <p:nvPr/>
        </p:nvSpPr>
        <p:spPr>
          <a:xfrm>
            <a:off x="5879520" y="4197240"/>
            <a:ext cx="5257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gotcha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0"/>
          <p:cNvSpPr/>
          <p:nvPr/>
        </p:nvSpPr>
        <p:spPr>
          <a:xfrm>
            <a:off x="5879520" y="4544640"/>
            <a:ext cx="52390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recursion returns values up the tree. The move returned at the root is the action associated with the best backed-up value.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Complexity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Minimax Complexity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Complete search is exact but exponential.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7"/>
          <p:cNvSpPr/>
          <p:nvPr/>
        </p:nvSpPr>
        <p:spPr>
          <a:xfrm>
            <a:off x="86868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9"/>
          <p:cNvSpPr/>
          <p:nvPr/>
        </p:nvSpPr>
        <p:spPr>
          <a:xfrm>
            <a:off x="103320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10"/>
          <p:cNvSpPr/>
          <p:nvPr/>
        </p:nvSpPr>
        <p:spPr>
          <a:xfrm>
            <a:off x="103320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O(b^m)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 = legal moves per state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 = maximum depth in ply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1"/>
          <p:cNvSpPr/>
          <p:nvPr/>
        </p:nvSpPr>
        <p:spPr>
          <a:xfrm>
            <a:off x="443484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2"/>
          <p:cNvSpPr/>
          <p:nvPr/>
        </p:nvSpPr>
        <p:spPr>
          <a:xfrm>
            <a:off x="443484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3"/>
          <p:cNvSpPr/>
          <p:nvPr/>
        </p:nvSpPr>
        <p:spPr>
          <a:xfrm>
            <a:off x="459936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4"/>
          <p:cNvSpPr/>
          <p:nvPr/>
        </p:nvSpPr>
        <p:spPr>
          <a:xfrm>
            <a:off x="459936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O(m) if actions are generated one at a time; O(bm) if all actions are stored.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5"/>
          <p:cNvSpPr/>
          <p:nvPr/>
        </p:nvSpPr>
        <p:spPr>
          <a:xfrm>
            <a:off x="8001000" y="1417320"/>
            <a:ext cx="30171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16"/>
          <p:cNvSpPr/>
          <p:nvPr/>
        </p:nvSpPr>
        <p:spPr>
          <a:xfrm>
            <a:off x="800100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7"/>
          <p:cNvSpPr/>
          <p:nvPr/>
        </p:nvSpPr>
        <p:spPr>
          <a:xfrm>
            <a:off x="8165520" y="15454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Interpretation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18"/>
          <p:cNvSpPr/>
          <p:nvPr/>
        </p:nvSpPr>
        <p:spPr>
          <a:xfrm>
            <a:off x="8165520" y="1892880"/>
            <a:ext cx="27244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tree grows by multiplying the branching factor at every ply.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19"/>
          <p:cNvSpPr/>
          <p:nvPr/>
        </p:nvSpPr>
        <p:spPr>
          <a:xfrm>
            <a:off x="1828800" y="5433120"/>
            <a:ext cx="776880" cy="7200"/>
          </a:xfrm>
          <a:prstGeom prst="rect">
            <a:avLst/>
          </a:prstGeom>
          <a:solidFill>
            <a:srgbClr val="168A8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20"/>
          <p:cNvSpPr/>
          <p:nvPr/>
        </p:nvSpPr>
        <p:spPr>
          <a:xfrm>
            <a:off x="1737360" y="55047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1"/>
          <p:cNvSpPr/>
          <p:nvPr/>
        </p:nvSpPr>
        <p:spPr>
          <a:xfrm>
            <a:off x="1737360" y="5742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2"/>
          <p:cNvSpPr/>
          <p:nvPr/>
        </p:nvSpPr>
        <p:spPr>
          <a:xfrm>
            <a:off x="3246120" y="5418000"/>
            <a:ext cx="776880" cy="22320"/>
          </a:xfrm>
          <a:prstGeom prst="rect">
            <a:avLst/>
          </a:prstGeom>
          <a:solidFill>
            <a:srgbClr val="168A8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3"/>
          <p:cNvSpPr/>
          <p:nvPr/>
        </p:nvSpPr>
        <p:spPr>
          <a:xfrm>
            <a:off x="3154680" y="55047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4"/>
          <p:cNvSpPr/>
          <p:nvPr/>
        </p:nvSpPr>
        <p:spPr>
          <a:xfrm>
            <a:off x="3154680" y="5742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25"/>
          <p:cNvSpPr/>
          <p:nvPr/>
        </p:nvSpPr>
        <p:spPr>
          <a:xfrm>
            <a:off x="4663440" y="5373000"/>
            <a:ext cx="776880" cy="67320"/>
          </a:xfrm>
          <a:prstGeom prst="rect">
            <a:avLst/>
          </a:prstGeom>
          <a:solidFill>
            <a:srgbClr val="168A8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6"/>
          <p:cNvSpPr/>
          <p:nvPr/>
        </p:nvSpPr>
        <p:spPr>
          <a:xfrm>
            <a:off x="4572000" y="55047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7"/>
          <p:cNvSpPr/>
          <p:nvPr/>
        </p:nvSpPr>
        <p:spPr>
          <a:xfrm>
            <a:off x="4572000" y="5742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28"/>
          <p:cNvSpPr/>
          <p:nvPr/>
        </p:nvSpPr>
        <p:spPr>
          <a:xfrm>
            <a:off x="6080760" y="5237640"/>
            <a:ext cx="776880" cy="20268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29"/>
          <p:cNvSpPr/>
          <p:nvPr/>
        </p:nvSpPr>
        <p:spPr>
          <a:xfrm>
            <a:off x="5989320" y="55047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30"/>
          <p:cNvSpPr/>
          <p:nvPr/>
        </p:nvSpPr>
        <p:spPr>
          <a:xfrm>
            <a:off x="5989320" y="5742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31"/>
          <p:cNvSpPr/>
          <p:nvPr/>
        </p:nvSpPr>
        <p:spPr>
          <a:xfrm>
            <a:off x="7498080" y="4831200"/>
            <a:ext cx="776880" cy="60912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32"/>
          <p:cNvSpPr/>
          <p:nvPr/>
        </p:nvSpPr>
        <p:spPr>
          <a:xfrm>
            <a:off x="7406640" y="55047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81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33"/>
          <p:cNvSpPr/>
          <p:nvPr/>
        </p:nvSpPr>
        <p:spPr>
          <a:xfrm>
            <a:off x="7406640" y="5742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34"/>
          <p:cNvSpPr/>
          <p:nvPr/>
        </p:nvSpPr>
        <p:spPr>
          <a:xfrm>
            <a:off x="8915400" y="3611880"/>
            <a:ext cx="77688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35"/>
          <p:cNvSpPr/>
          <p:nvPr/>
        </p:nvSpPr>
        <p:spPr>
          <a:xfrm>
            <a:off x="8823960" y="55047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36"/>
          <p:cNvSpPr/>
          <p:nvPr/>
        </p:nvSpPr>
        <p:spPr>
          <a:xfrm>
            <a:off x="8823960" y="5742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37"/>
          <p:cNvSpPr/>
          <p:nvPr/>
        </p:nvSpPr>
        <p:spPr>
          <a:xfrm>
            <a:off x="1554480" y="397764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Example growth with b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Strategy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Optimal Against Whom?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 assumes an optimal opponent, but real opponents may be imperfect.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7"/>
          <p:cNvSpPr/>
          <p:nvPr/>
        </p:nvSpPr>
        <p:spPr>
          <a:xfrm>
            <a:off x="868680" y="1417320"/>
            <a:ext cx="3291480" cy="1462680"/>
          </a:xfrm>
          <a:prstGeom prst="roundRect">
            <a:avLst>
              <a:gd name="adj" fmla="val 375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8"/>
          <p:cNvSpPr/>
          <p:nvPr/>
        </p:nvSpPr>
        <p:spPr>
          <a:xfrm>
            <a:off x="868680" y="1417320"/>
            <a:ext cx="72720" cy="1462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9"/>
          <p:cNvSpPr/>
          <p:nvPr/>
        </p:nvSpPr>
        <p:spPr>
          <a:xfrm>
            <a:off x="103320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Minimax guarantee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0"/>
          <p:cNvSpPr/>
          <p:nvPr/>
        </p:nvSpPr>
        <p:spPr>
          <a:xfrm>
            <a:off x="1033200" y="1892880"/>
            <a:ext cx="29988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Against perfect MIN, MAX can guarantee the minimax value.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1"/>
          <p:cNvSpPr/>
          <p:nvPr/>
        </p:nvSpPr>
        <p:spPr>
          <a:xfrm>
            <a:off x="4434840" y="1417320"/>
            <a:ext cx="3291480" cy="1462680"/>
          </a:xfrm>
          <a:prstGeom prst="roundRect">
            <a:avLst>
              <a:gd name="adj" fmla="val 375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12"/>
          <p:cNvSpPr/>
          <p:nvPr/>
        </p:nvSpPr>
        <p:spPr>
          <a:xfrm>
            <a:off x="4434840" y="1417320"/>
            <a:ext cx="72720" cy="14626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13"/>
          <p:cNvSpPr/>
          <p:nvPr/>
        </p:nvSpPr>
        <p:spPr>
          <a:xfrm>
            <a:off x="459936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Human opponent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4"/>
          <p:cNvSpPr/>
          <p:nvPr/>
        </p:nvSpPr>
        <p:spPr>
          <a:xfrm>
            <a:off x="4599360" y="1892880"/>
            <a:ext cx="29988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MIN makes mistakes, MAX may do better than the minimax guarantee.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15"/>
          <p:cNvSpPr/>
          <p:nvPr/>
        </p:nvSpPr>
        <p:spPr>
          <a:xfrm>
            <a:off x="8001000" y="1417320"/>
            <a:ext cx="3017160" cy="1462680"/>
          </a:xfrm>
          <a:prstGeom prst="roundRect">
            <a:avLst>
              <a:gd name="adj" fmla="val 375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6"/>
          <p:cNvSpPr/>
          <p:nvPr/>
        </p:nvSpPr>
        <p:spPr>
          <a:xfrm>
            <a:off x="8001000" y="1417320"/>
            <a:ext cx="72720" cy="1462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7"/>
          <p:cNvSpPr/>
          <p:nvPr/>
        </p:nvSpPr>
        <p:spPr>
          <a:xfrm>
            <a:off x="8165520" y="15454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Risky play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8"/>
          <p:cNvSpPr/>
          <p:nvPr/>
        </p:nvSpPr>
        <p:spPr>
          <a:xfrm>
            <a:off x="8165520" y="1892880"/>
            <a:ext cx="27244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Sometimes a risky move wins often against weak players but loses against a perfect one.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9"/>
          <p:cNvSpPr/>
          <p:nvPr/>
        </p:nvSpPr>
        <p:spPr>
          <a:xfrm>
            <a:off x="914400" y="3657600"/>
            <a:ext cx="10240920" cy="63972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Teaching example: A move that guarantees a draw may be objectively safe; a trap move may have a higher expected payoff against a beginner.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20"/>
          <p:cNvSpPr/>
          <p:nvPr/>
        </p:nvSpPr>
        <p:spPr>
          <a:xfrm>
            <a:off x="1828800" y="4800600"/>
            <a:ext cx="8229240" cy="822600"/>
          </a:xfrm>
          <a:prstGeom prst="roundRect">
            <a:avLst>
              <a:gd name="adj" fmla="val 666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21"/>
          <p:cNvSpPr/>
          <p:nvPr/>
        </p:nvSpPr>
        <p:spPr>
          <a:xfrm>
            <a:off x="1828800" y="4800600"/>
            <a:ext cx="72720" cy="822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2"/>
          <p:cNvSpPr/>
          <p:nvPr/>
        </p:nvSpPr>
        <p:spPr>
          <a:xfrm>
            <a:off x="1993320" y="492876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Takeaway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23"/>
          <p:cNvSpPr/>
          <p:nvPr/>
        </p:nvSpPr>
        <p:spPr>
          <a:xfrm>
            <a:off x="1993320" y="5276160"/>
            <a:ext cx="7936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Minimax is conservative: it optimizes the guaranteed value, not necessarily the best exploitative strategy against a known weak opponent.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Multiplayer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Optimal Decisions in Multiplayer Games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single utility value becomes a vector of utilities.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7"/>
          <p:cNvSpPr/>
          <p:nvPr/>
        </p:nvSpPr>
        <p:spPr>
          <a:xfrm>
            <a:off x="868680" y="1417320"/>
            <a:ext cx="356580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9"/>
          <p:cNvSpPr/>
          <p:nvPr/>
        </p:nvSpPr>
        <p:spPr>
          <a:xfrm>
            <a:off x="1033200" y="1545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Two-player zero-sum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0"/>
          <p:cNvSpPr/>
          <p:nvPr/>
        </p:nvSpPr>
        <p:spPr>
          <a:xfrm>
            <a:off x="1033200" y="1892880"/>
            <a:ext cx="32731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One number is enough: if MAX gets +3, MIN is worse by the corresponding amount.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1"/>
          <p:cNvSpPr/>
          <p:nvPr/>
        </p:nvSpPr>
        <p:spPr>
          <a:xfrm>
            <a:off x="4617720" y="1417320"/>
            <a:ext cx="356580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12"/>
          <p:cNvSpPr/>
          <p:nvPr/>
        </p:nvSpPr>
        <p:spPr>
          <a:xfrm>
            <a:off x="4617720" y="1417320"/>
            <a:ext cx="72720" cy="182844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13"/>
          <p:cNvSpPr/>
          <p:nvPr/>
        </p:nvSpPr>
        <p:spPr>
          <a:xfrm>
            <a:off x="4782240" y="1545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Three-player game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14"/>
          <p:cNvSpPr/>
          <p:nvPr/>
        </p:nvSpPr>
        <p:spPr>
          <a:xfrm>
            <a:off x="4782240" y="1892880"/>
            <a:ext cx="32731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Terminal state returns a vector: &lt;vA, vB, vC&gt;. Each player chooses the successor best for itself.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5"/>
          <p:cNvSpPr/>
          <p:nvPr/>
        </p:nvSpPr>
        <p:spPr>
          <a:xfrm>
            <a:off x="8366760" y="1417320"/>
            <a:ext cx="27428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16"/>
          <p:cNvSpPr/>
          <p:nvPr/>
        </p:nvSpPr>
        <p:spPr>
          <a:xfrm>
            <a:off x="836676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7"/>
          <p:cNvSpPr/>
          <p:nvPr/>
        </p:nvSpPr>
        <p:spPr>
          <a:xfrm>
            <a:off x="853128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New behavior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8"/>
          <p:cNvSpPr/>
          <p:nvPr/>
        </p:nvSpPr>
        <p:spPr>
          <a:xfrm>
            <a:off x="8531280" y="1892880"/>
            <a:ext cx="2450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Alliances and cooperation can emerge from selfish utility maximization.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9"/>
          <p:cNvSpPr/>
          <p:nvPr/>
        </p:nvSpPr>
        <p:spPr>
          <a:xfrm>
            <a:off x="1051560" y="4160520"/>
            <a:ext cx="9783720" cy="65808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At a C node, choose the child with the highest C component, not the highest A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Multiplayer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Utility Vectors: Reading the Multiplayer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Each backed-up value is the vector chosen by the player to move.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7"/>
          <p:cNvSpPr/>
          <p:nvPr/>
        </p:nvSpPr>
        <p:spPr>
          <a:xfrm>
            <a:off x="795600" y="1298520"/>
            <a:ext cx="6638040" cy="3026160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1" name="Image 0" descr="/mnt/data/ch5_assets/fig_5_4_multiplayer_tree.png"/>
          <p:cNvPicPr/>
          <p:nvPr/>
        </p:nvPicPr>
        <p:blipFill>
          <a:blip r:embed="rId1"/>
          <a:stretch/>
        </p:blipFill>
        <p:spPr>
          <a:xfrm>
            <a:off x="822960" y="1337400"/>
            <a:ext cx="6583320" cy="29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2" name="Text 8"/>
          <p:cNvSpPr/>
          <p:nvPr/>
        </p:nvSpPr>
        <p:spPr>
          <a:xfrm>
            <a:off x="822960" y="4352400"/>
            <a:ext cx="658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5.4: three-player game tree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9"/>
          <p:cNvSpPr/>
          <p:nvPr/>
        </p:nvSpPr>
        <p:spPr>
          <a:xfrm>
            <a:off x="7680960" y="1417320"/>
            <a:ext cx="3291480" cy="2102760"/>
          </a:xfrm>
          <a:prstGeom prst="roundRect">
            <a:avLst>
              <a:gd name="adj" fmla="val 260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10"/>
          <p:cNvSpPr/>
          <p:nvPr/>
        </p:nvSpPr>
        <p:spPr>
          <a:xfrm>
            <a:off x="7680960" y="1417320"/>
            <a:ext cx="72720" cy="21027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1"/>
          <p:cNvSpPr/>
          <p:nvPr/>
        </p:nvSpPr>
        <p:spPr>
          <a:xfrm>
            <a:off x="784548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How to narrate it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2"/>
          <p:cNvSpPr/>
          <p:nvPr/>
        </p:nvSpPr>
        <p:spPr>
          <a:xfrm>
            <a:off x="7845480" y="1892880"/>
            <a:ext cx="299880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Identify player to move at the current level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Compare only that player’s component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Back up the entire utility vector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3"/>
          <p:cNvSpPr/>
          <p:nvPr/>
        </p:nvSpPr>
        <p:spPr>
          <a:xfrm>
            <a:off x="7680960" y="3794760"/>
            <a:ext cx="3291480" cy="1234080"/>
          </a:xfrm>
          <a:prstGeom prst="roundRect">
            <a:avLst>
              <a:gd name="adj" fmla="val 4444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4"/>
          <p:cNvSpPr/>
          <p:nvPr/>
        </p:nvSpPr>
        <p:spPr>
          <a:xfrm>
            <a:off x="7680960" y="3794760"/>
            <a:ext cx="72720" cy="1234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5"/>
          <p:cNvSpPr/>
          <p:nvPr/>
        </p:nvSpPr>
        <p:spPr>
          <a:xfrm>
            <a:off x="7845480" y="392292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Example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6"/>
          <p:cNvSpPr/>
          <p:nvPr/>
        </p:nvSpPr>
        <p:spPr>
          <a:xfrm>
            <a:off x="7845480" y="4270320"/>
            <a:ext cx="299880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C chooses between &lt;1,2,6&gt; and &lt;4,2,3&gt;, C chooses &lt;1,2,6&gt;. The entire vector backs up.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Multiplayer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Alliances Can Emerge from Selfish Play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Multiplayer games are not just larger minimax games.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7"/>
          <p:cNvSpPr/>
          <p:nvPr/>
        </p:nvSpPr>
        <p:spPr>
          <a:xfrm>
            <a:off x="868680" y="1417320"/>
            <a:ext cx="34286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9"/>
          <p:cNvSpPr/>
          <p:nvPr/>
        </p:nvSpPr>
        <p:spPr>
          <a:xfrm>
            <a:off x="1033200" y="154548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Weak players align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10"/>
          <p:cNvSpPr/>
          <p:nvPr/>
        </p:nvSpPr>
        <p:spPr>
          <a:xfrm>
            <a:off x="1033200" y="1892880"/>
            <a:ext cx="31359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A and B are weak while C is strong, both may attack C because it improves their own survival chances.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11"/>
          <p:cNvSpPr/>
          <p:nvPr/>
        </p:nvSpPr>
        <p:spPr>
          <a:xfrm>
            <a:off x="4526280" y="1417320"/>
            <a:ext cx="34286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13"/>
          <p:cNvSpPr/>
          <p:nvPr/>
        </p:nvSpPr>
        <p:spPr>
          <a:xfrm>
            <a:off x="4690800" y="154548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Alliance instability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14"/>
          <p:cNvSpPr/>
          <p:nvPr/>
        </p:nvSpPr>
        <p:spPr>
          <a:xfrm>
            <a:off x="4690800" y="1892880"/>
            <a:ext cx="31359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Once C weakens, A and B may no longer have the same incentive to cooperate.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15"/>
          <p:cNvSpPr/>
          <p:nvPr/>
        </p:nvSpPr>
        <p:spPr>
          <a:xfrm>
            <a:off x="8183880" y="1417320"/>
            <a:ext cx="27885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17"/>
          <p:cNvSpPr/>
          <p:nvPr/>
        </p:nvSpPr>
        <p:spPr>
          <a:xfrm>
            <a:off x="8348400" y="1545480"/>
            <a:ext cx="251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Social layer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18"/>
          <p:cNvSpPr/>
          <p:nvPr/>
        </p:nvSpPr>
        <p:spPr>
          <a:xfrm>
            <a:off x="8348400" y="1892880"/>
            <a:ext cx="24958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Promises, reputation, and trust can change optimal behavior in repeated human settings.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19"/>
          <p:cNvSpPr/>
          <p:nvPr/>
        </p:nvSpPr>
        <p:spPr>
          <a:xfrm>
            <a:off x="1143000" y="4251960"/>
            <a:ext cx="987516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20"/>
          <p:cNvSpPr/>
          <p:nvPr/>
        </p:nvSpPr>
        <p:spPr>
          <a:xfrm>
            <a:off x="1417320" y="448056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Collaboration can be a consequence of individual optimization.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21"/>
          <p:cNvSpPr/>
          <p:nvPr/>
        </p:nvSpPr>
        <p:spPr>
          <a:xfrm>
            <a:off x="1463040" y="4754880"/>
            <a:ext cx="92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But alliances may dissolve when utilities change.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Multiplayer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Non-Zero-Sum: Not Every Game Has One Winner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Some actions can help multiple players at once.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7"/>
          <p:cNvSpPr/>
          <p:nvPr/>
        </p:nvSpPr>
        <p:spPr>
          <a:xfrm>
            <a:off x="868680" y="1417320"/>
            <a:ext cx="3291480" cy="1919880"/>
          </a:xfrm>
          <a:prstGeom prst="roundRect">
            <a:avLst>
              <a:gd name="adj" fmla="val 285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8"/>
          <p:cNvSpPr/>
          <p:nvPr/>
        </p:nvSpPr>
        <p:spPr>
          <a:xfrm>
            <a:off x="868680" y="1417320"/>
            <a:ext cx="72720" cy="1919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9"/>
          <p:cNvSpPr/>
          <p:nvPr/>
        </p:nvSpPr>
        <p:spPr>
          <a:xfrm>
            <a:off x="103320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Zero-sum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0"/>
          <p:cNvSpPr/>
          <p:nvPr/>
        </p:nvSpPr>
        <p:spPr>
          <a:xfrm>
            <a:off x="1033200" y="1892880"/>
            <a:ext cx="29988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Your gain is exactly my loss. Chess and tic-tac-toe are modeled this way.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11"/>
          <p:cNvSpPr/>
          <p:nvPr/>
        </p:nvSpPr>
        <p:spPr>
          <a:xfrm>
            <a:off x="4434840" y="1417320"/>
            <a:ext cx="3291480" cy="1919880"/>
          </a:xfrm>
          <a:prstGeom prst="roundRect">
            <a:avLst>
              <a:gd name="adj" fmla="val 285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2"/>
          <p:cNvSpPr/>
          <p:nvPr/>
        </p:nvSpPr>
        <p:spPr>
          <a:xfrm>
            <a:off x="4434840" y="1417320"/>
            <a:ext cx="72720" cy="1919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3"/>
          <p:cNvSpPr/>
          <p:nvPr/>
        </p:nvSpPr>
        <p:spPr>
          <a:xfrm>
            <a:off x="459936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Non-zero-sum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14"/>
          <p:cNvSpPr/>
          <p:nvPr/>
        </p:nvSpPr>
        <p:spPr>
          <a:xfrm>
            <a:off x="4599360" y="1892880"/>
            <a:ext cx="29988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Both players can prefer the same outcome, or both can be harmed by conflict.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15"/>
          <p:cNvSpPr/>
          <p:nvPr/>
        </p:nvSpPr>
        <p:spPr>
          <a:xfrm>
            <a:off x="8001000" y="1417320"/>
            <a:ext cx="310860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6"/>
          <p:cNvSpPr/>
          <p:nvPr/>
        </p:nvSpPr>
        <p:spPr>
          <a:xfrm>
            <a:off x="8001000" y="141732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AI lesson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18"/>
          <p:cNvSpPr/>
          <p:nvPr/>
        </p:nvSpPr>
        <p:spPr>
          <a:xfrm>
            <a:off x="8165520" y="1892880"/>
            <a:ext cx="281592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utility function defines what “rational” means. Change utilities, change behavior.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19"/>
          <p:cNvSpPr/>
          <p:nvPr/>
        </p:nvSpPr>
        <p:spPr>
          <a:xfrm>
            <a:off x="1371600" y="4343400"/>
            <a:ext cx="9143640" cy="68544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Example: &lt;1000,1000&gt; can make cooperation rational even with two players.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5.2.3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Alpha-Beta Pruning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Compute the same minimax decision while proving that some branches are irrelevant.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Best lower bound MAX has found.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beta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Best upper bound MIN has found.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prune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Stop when a branch cannot change the root choice.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Alpha-Beta Pruning: Same Answer, Less Search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Prune branches that cannot change the root decision.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7"/>
          <p:cNvSpPr/>
          <p:nvPr/>
        </p:nvSpPr>
        <p:spPr>
          <a:xfrm>
            <a:off x="868680" y="1417320"/>
            <a:ext cx="338292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9"/>
          <p:cNvSpPr/>
          <p:nvPr/>
        </p:nvSpPr>
        <p:spPr>
          <a:xfrm>
            <a:off x="103320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Minimax problem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10"/>
          <p:cNvSpPr/>
          <p:nvPr/>
        </p:nvSpPr>
        <p:spPr>
          <a:xfrm>
            <a:off x="1033200" y="1892880"/>
            <a:ext cx="3090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Complete search examines every relevant node down to the depth limit.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11"/>
          <p:cNvSpPr/>
          <p:nvPr/>
        </p:nvSpPr>
        <p:spPr>
          <a:xfrm>
            <a:off x="4526280" y="1417320"/>
            <a:ext cx="338292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3"/>
          <p:cNvSpPr/>
          <p:nvPr/>
        </p:nvSpPr>
        <p:spPr>
          <a:xfrm>
            <a:off x="4690800" y="15454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Alpha-beta idea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14"/>
          <p:cNvSpPr/>
          <p:nvPr/>
        </p:nvSpPr>
        <p:spPr>
          <a:xfrm>
            <a:off x="4690800" y="1892880"/>
            <a:ext cx="3090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While searching, maintain bounds on what MAX and MIN can already guarantee.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15"/>
          <p:cNvSpPr/>
          <p:nvPr/>
        </p:nvSpPr>
        <p:spPr>
          <a:xfrm>
            <a:off x="8183880" y="1417320"/>
            <a:ext cx="2742840" cy="1828440"/>
          </a:xfrm>
          <a:prstGeom prst="roundRect">
            <a:avLst>
              <a:gd name="adj" fmla="val 3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Safe pruning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18"/>
          <p:cNvSpPr/>
          <p:nvPr/>
        </p:nvSpPr>
        <p:spPr>
          <a:xfrm>
            <a:off x="8348400" y="1892880"/>
            <a:ext cx="2450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a branch is already worse than a known alternative, stop exploring it.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19"/>
          <p:cNvSpPr/>
          <p:nvPr/>
        </p:nvSpPr>
        <p:spPr>
          <a:xfrm>
            <a:off x="1097280" y="4297680"/>
            <a:ext cx="996660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0"/>
          <p:cNvSpPr/>
          <p:nvPr/>
        </p:nvSpPr>
        <p:spPr>
          <a:xfrm>
            <a:off x="1371600" y="452628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Do not search a branch after you know nobody rational will choose it.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21"/>
          <p:cNvSpPr/>
          <p:nvPr/>
        </p:nvSpPr>
        <p:spPr>
          <a:xfrm>
            <a:off x="1417320" y="4800600"/>
            <a:ext cx="93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That is the entire intuition.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 and Beta Are Bounds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Think: alpha = at least; beta = at most.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7"/>
          <p:cNvSpPr/>
          <p:nvPr/>
        </p:nvSpPr>
        <p:spPr>
          <a:xfrm>
            <a:off x="960120" y="1463040"/>
            <a:ext cx="4663080" cy="2194200"/>
          </a:xfrm>
          <a:prstGeom prst="roundRect">
            <a:avLst>
              <a:gd name="adj" fmla="val 25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8"/>
          <p:cNvSpPr/>
          <p:nvPr/>
        </p:nvSpPr>
        <p:spPr>
          <a:xfrm>
            <a:off x="960120" y="1463040"/>
            <a:ext cx="72720" cy="2194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9"/>
          <p:cNvSpPr/>
          <p:nvPr/>
        </p:nvSpPr>
        <p:spPr>
          <a:xfrm>
            <a:off x="1124640" y="159120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10"/>
          <p:cNvSpPr/>
          <p:nvPr/>
        </p:nvSpPr>
        <p:spPr>
          <a:xfrm>
            <a:off x="1124640" y="1938600"/>
            <a:ext cx="437040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best value MAX can guarantee so far along the current path.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Think: “MAX has an option worth at least alpha.”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1"/>
          <p:cNvSpPr/>
          <p:nvPr/>
        </p:nvSpPr>
        <p:spPr>
          <a:xfrm>
            <a:off x="6537960" y="1463040"/>
            <a:ext cx="4663080" cy="2194200"/>
          </a:xfrm>
          <a:prstGeom prst="roundRect">
            <a:avLst>
              <a:gd name="adj" fmla="val 25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12"/>
          <p:cNvSpPr/>
          <p:nvPr/>
        </p:nvSpPr>
        <p:spPr>
          <a:xfrm>
            <a:off x="6537960" y="1463040"/>
            <a:ext cx="72720" cy="2194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13"/>
          <p:cNvSpPr/>
          <p:nvPr/>
        </p:nvSpPr>
        <p:spPr>
          <a:xfrm>
            <a:off x="6702480" y="159120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14"/>
          <p:cNvSpPr/>
          <p:nvPr/>
        </p:nvSpPr>
        <p:spPr>
          <a:xfrm>
            <a:off x="6702480" y="1938600"/>
            <a:ext cx="4370400" cy="16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best value MIN can guarantee so far along the current path.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Think: “MIN can hold MAX to at most beta.”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5"/>
          <p:cNvSpPr/>
          <p:nvPr/>
        </p:nvSpPr>
        <p:spPr>
          <a:xfrm>
            <a:off x="1143000" y="4434840"/>
            <a:ext cx="9920880" cy="68544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Prune when alpha &gt;= beta: the current branch cannot improve the final choice.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Visual Trace: Alpha-Beta on the Two-Ply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search can identify the same root decision without evaluating every leaf.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7"/>
          <p:cNvSpPr/>
          <p:nvPr/>
        </p:nvSpPr>
        <p:spPr>
          <a:xfrm>
            <a:off x="658440" y="1115640"/>
            <a:ext cx="5220720" cy="5129280"/>
          </a:xfrm>
          <a:prstGeom prst="roundRect">
            <a:avLst>
              <a:gd name="adj" fmla="val 713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6" name="Image 0" descr="/mnt/data/ch5_assets/fig_5_5_alpha_beta_trace.png"/>
          <p:cNvPicPr/>
          <p:nvPr/>
        </p:nvPicPr>
        <p:blipFill>
          <a:blip r:embed="rId1"/>
          <a:stretch/>
        </p:blipFill>
        <p:spPr>
          <a:xfrm>
            <a:off x="1154520" y="1143000"/>
            <a:ext cx="4228920" cy="50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7" name="Text 8"/>
          <p:cNvSpPr/>
          <p:nvPr/>
        </p:nvSpPr>
        <p:spPr>
          <a:xfrm>
            <a:off x="685800" y="6272640"/>
            <a:ext cx="516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5.5: alpha-beta trace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9"/>
          <p:cNvSpPr/>
          <p:nvPr/>
        </p:nvSpPr>
        <p:spPr>
          <a:xfrm>
            <a:off x="6263640" y="1325880"/>
            <a:ext cx="4571640" cy="2605680"/>
          </a:xfrm>
          <a:prstGeom prst="roundRect">
            <a:avLst>
              <a:gd name="adj" fmla="val 2105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10"/>
          <p:cNvSpPr/>
          <p:nvPr/>
        </p:nvSpPr>
        <p:spPr>
          <a:xfrm>
            <a:off x="6263640" y="1325880"/>
            <a:ext cx="72720" cy="26056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11"/>
          <p:cNvSpPr/>
          <p:nvPr/>
        </p:nvSpPr>
        <p:spPr>
          <a:xfrm>
            <a:off x="6428160" y="145404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Core trace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12"/>
          <p:cNvSpPr/>
          <p:nvPr/>
        </p:nvSpPr>
        <p:spPr>
          <a:xfrm>
            <a:off x="6428160" y="1801440"/>
            <a:ext cx="4278960" cy="20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Evaluate B fully: B=3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At C, first leaf is 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 can be at most 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MAX already has B=3, so C cannot win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Prune remaining leaves under C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13"/>
          <p:cNvSpPr/>
          <p:nvPr/>
        </p:nvSpPr>
        <p:spPr>
          <a:xfrm>
            <a:off x="6263640" y="4251960"/>
            <a:ext cx="4571640" cy="1051200"/>
          </a:xfrm>
          <a:prstGeom prst="roundRect">
            <a:avLst>
              <a:gd name="adj" fmla="val 521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14"/>
          <p:cNvSpPr/>
          <p:nvPr/>
        </p:nvSpPr>
        <p:spPr>
          <a:xfrm>
            <a:off x="6263640" y="4251960"/>
            <a:ext cx="72720" cy="1051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15"/>
          <p:cNvSpPr/>
          <p:nvPr/>
        </p:nvSpPr>
        <p:spPr>
          <a:xfrm>
            <a:off x="6428160" y="438012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phrase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16"/>
          <p:cNvSpPr/>
          <p:nvPr/>
        </p:nvSpPr>
        <p:spPr>
          <a:xfrm>
            <a:off x="6428160" y="4727520"/>
            <a:ext cx="4278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Once a child cannot beat the current best alternative, stop paying tuition for that branch.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Worked Pruning Moment: Why C Disappears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 gives MAX 3. C is already at most 2.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7"/>
          <p:cNvSpPr/>
          <p:nvPr/>
        </p:nvSpPr>
        <p:spPr>
          <a:xfrm flipH="1">
            <a:off x="1874520" y="1737360"/>
            <a:ext cx="1737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8"/>
          <p:cNvSpPr/>
          <p:nvPr/>
        </p:nvSpPr>
        <p:spPr>
          <a:xfrm>
            <a:off x="3611880" y="1737360"/>
            <a:ext cx="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9"/>
          <p:cNvSpPr/>
          <p:nvPr/>
        </p:nvSpPr>
        <p:spPr>
          <a:xfrm>
            <a:off x="3611880" y="1737360"/>
            <a:ext cx="1737360" cy="123444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0"/>
          <p:cNvSpPr/>
          <p:nvPr/>
        </p:nvSpPr>
        <p:spPr>
          <a:xfrm>
            <a:off x="3474720" y="1508760"/>
            <a:ext cx="603000" cy="529920"/>
          </a:xfrm>
          <a:prstGeom prst="rect">
            <a:avLst/>
          </a:prstGeom>
          <a:solidFill>
            <a:srgbClr val="F2B84B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alpha=3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11"/>
          <p:cNvSpPr/>
          <p:nvPr/>
        </p:nvSpPr>
        <p:spPr>
          <a:xfrm>
            <a:off x="1737360" y="2743200"/>
            <a:ext cx="603000" cy="529920"/>
          </a:xfrm>
          <a:prstGeom prst="rect">
            <a:avLst/>
          </a:prstGeom>
          <a:solidFill>
            <a:srgbClr val="E2F4ED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2"/>
          <p:cNvSpPr/>
          <p:nvPr/>
        </p:nvSpPr>
        <p:spPr>
          <a:xfrm>
            <a:off x="3474720" y="2743200"/>
            <a:ext cx="603000" cy="52992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&lt;=2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3"/>
          <p:cNvSpPr/>
          <p:nvPr/>
        </p:nvSpPr>
        <p:spPr>
          <a:xfrm>
            <a:off x="5212080" y="2743200"/>
            <a:ext cx="603000" cy="52992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14"/>
          <p:cNvSpPr/>
          <p:nvPr/>
        </p:nvSpPr>
        <p:spPr>
          <a:xfrm flipH="1">
            <a:off x="137160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15"/>
          <p:cNvSpPr/>
          <p:nvPr/>
        </p:nvSpPr>
        <p:spPr>
          <a:xfrm>
            <a:off x="123444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6"/>
          <p:cNvSpPr/>
          <p:nvPr/>
        </p:nvSpPr>
        <p:spPr>
          <a:xfrm>
            <a:off x="1874520" y="2971800"/>
            <a:ext cx="36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17"/>
          <p:cNvSpPr/>
          <p:nvPr/>
        </p:nvSpPr>
        <p:spPr>
          <a:xfrm>
            <a:off x="173736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18"/>
          <p:cNvSpPr/>
          <p:nvPr/>
        </p:nvSpPr>
        <p:spPr>
          <a:xfrm>
            <a:off x="187452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19"/>
          <p:cNvSpPr/>
          <p:nvPr/>
        </p:nvSpPr>
        <p:spPr>
          <a:xfrm>
            <a:off x="224028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20"/>
          <p:cNvSpPr/>
          <p:nvPr/>
        </p:nvSpPr>
        <p:spPr>
          <a:xfrm flipH="1">
            <a:off x="3108960" y="2971800"/>
            <a:ext cx="502920" cy="1508760"/>
          </a:xfrm>
          <a:prstGeom prst="line">
            <a:avLst/>
          </a:prstGeom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21"/>
          <p:cNvSpPr/>
          <p:nvPr/>
        </p:nvSpPr>
        <p:spPr>
          <a:xfrm>
            <a:off x="2971800" y="4251960"/>
            <a:ext cx="40212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22"/>
          <p:cNvSpPr/>
          <p:nvPr/>
        </p:nvSpPr>
        <p:spPr>
          <a:xfrm>
            <a:off x="3611880" y="2971800"/>
            <a:ext cx="360" cy="1508760"/>
          </a:xfrm>
          <a:prstGeom prst="line">
            <a:avLst/>
          </a:prstGeom>
          <a:ln w="254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23"/>
          <p:cNvSpPr/>
          <p:nvPr/>
        </p:nvSpPr>
        <p:spPr>
          <a:xfrm>
            <a:off x="3474720" y="4251960"/>
            <a:ext cx="402120" cy="38376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24"/>
          <p:cNvSpPr/>
          <p:nvPr/>
        </p:nvSpPr>
        <p:spPr>
          <a:xfrm>
            <a:off x="3611880" y="2971800"/>
            <a:ext cx="502920" cy="1508760"/>
          </a:xfrm>
          <a:prstGeom prst="line">
            <a:avLst/>
          </a:prstGeom>
          <a:ln w="254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5"/>
          <p:cNvSpPr/>
          <p:nvPr/>
        </p:nvSpPr>
        <p:spPr>
          <a:xfrm>
            <a:off x="3977640" y="4251960"/>
            <a:ext cx="402120" cy="383760"/>
          </a:xfrm>
          <a:prstGeom prst="rect">
            <a:avLst/>
          </a:prstGeom>
          <a:solidFill>
            <a:srgbClr val="F8E4E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26"/>
          <p:cNvSpPr/>
          <p:nvPr/>
        </p:nvSpPr>
        <p:spPr>
          <a:xfrm>
            <a:off x="3246120" y="475488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pruned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27"/>
          <p:cNvSpPr/>
          <p:nvPr/>
        </p:nvSpPr>
        <p:spPr>
          <a:xfrm>
            <a:off x="7315200" y="1417320"/>
            <a:ext cx="3657240" cy="2559960"/>
          </a:xfrm>
          <a:prstGeom prst="roundRect">
            <a:avLst>
              <a:gd name="adj" fmla="val 214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8"/>
          <p:cNvSpPr/>
          <p:nvPr/>
        </p:nvSpPr>
        <p:spPr>
          <a:xfrm>
            <a:off x="7315200" y="1417320"/>
            <a:ext cx="72720" cy="2559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29"/>
          <p:cNvSpPr/>
          <p:nvPr/>
        </p:nvSpPr>
        <p:spPr>
          <a:xfrm>
            <a:off x="7479720" y="15454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Reasoning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30"/>
          <p:cNvSpPr/>
          <p:nvPr/>
        </p:nvSpPr>
        <p:spPr>
          <a:xfrm>
            <a:off x="7479720" y="1892880"/>
            <a:ext cx="336456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 has exact value 3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MAX root now has alpha = 3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 is a MIN node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First C child has value 2, so C &lt;= 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Since C &lt;= 2 &lt; alpha, C cannot be chosen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31"/>
          <p:cNvSpPr/>
          <p:nvPr/>
        </p:nvSpPr>
        <p:spPr>
          <a:xfrm>
            <a:off x="7315200" y="4343400"/>
            <a:ext cx="3657240" cy="914040"/>
          </a:xfrm>
          <a:prstGeom prst="roundRect">
            <a:avLst>
              <a:gd name="adj" fmla="val 6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32"/>
          <p:cNvSpPr/>
          <p:nvPr/>
        </p:nvSpPr>
        <p:spPr>
          <a:xfrm>
            <a:off x="7315200" y="4343400"/>
            <a:ext cx="72720" cy="914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33"/>
          <p:cNvSpPr/>
          <p:nvPr/>
        </p:nvSpPr>
        <p:spPr>
          <a:xfrm>
            <a:off x="7479720" y="4471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is pruned?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34"/>
          <p:cNvSpPr/>
          <p:nvPr/>
        </p:nvSpPr>
        <p:spPr>
          <a:xfrm>
            <a:off x="7479720" y="4818960"/>
            <a:ext cx="3364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other children under C may be 4 and 6, but MIN would choose 2 anyway.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Alpha-Beta Is Correct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pruned values are irrelevant to the root decision.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7"/>
          <p:cNvSpPr/>
          <p:nvPr/>
        </p:nvSpPr>
        <p:spPr>
          <a:xfrm>
            <a:off x="822960" y="1417320"/>
            <a:ext cx="10423800" cy="68544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max( min(3,12,8), min(2,x,y), min(14,5,2)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8"/>
          <p:cNvSpPr/>
          <p:nvPr/>
        </p:nvSpPr>
        <p:spPr>
          <a:xfrm>
            <a:off x="822960" y="2423160"/>
            <a:ext cx="10423800" cy="68544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= max( 3, z, 2 )   where z = min(2,x,y) &lt;= 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9"/>
          <p:cNvSpPr/>
          <p:nvPr/>
        </p:nvSpPr>
        <p:spPr>
          <a:xfrm>
            <a:off x="4526280" y="3429000"/>
            <a:ext cx="3108600" cy="685440"/>
          </a:xfrm>
          <a:prstGeom prst="rect">
            <a:avLst/>
          </a:prstGeom>
          <a:solidFill>
            <a:srgbClr val="E2F4ED"/>
          </a:solidFill>
          <a:ln w="12700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F855A"/>
                </a:solidFill>
                <a:effectLst/>
                <a:uFillTx/>
                <a:latin typeface="Aptos Mono"/>
                <a:ea typeface="Aptos Mono"/>
              </a:rPr>
              <a:t>= 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10"/>
          <p:cNvSpPr/>
          <p:nvPr/>
        </p:nvSpPr>
        <p:spPr>
          <a:xfrm>
            <a:off x="1005840" y="4617720"/>
            <a:ext cx="484596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11"/>
          <p:cNvSpPr/>
          <p:nvPr/>
        </p:nvSpPr>
        <p:spPr>
          <a:xfrm>
            <a:off x="1005840" y="4617720"/>
            <a:ext cx="72720" cy="9140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12"/>
          <p:cNvSpPr/>
          <p:nvPr/>
        </p:nvSpPr>
        <p:spPr>
          <a:xfrm>
            <a:off x="1170360" y="47458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Meaning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13"/>
          <p:cNvSpPr/>
          <p:nvPr/>
        </p:nvSpPr>
        <p:spPr>
          <a:xfrm>
            <a:off x="1170360" y="5093280"/>
            <a:ext cx="4553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unknown values x and y cannot change the answer because the MIN node already has an option worth 2 for MAX.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14"/>
          <p:cNvSpPr/>
          <p:nvPr/>
        </p:nvSpPr>
        <p:spPr>
          <a:xfrm>
            <a:off x="6309360" y="4617720"/>
            <a:ext cx="4845960" cy="914040"/>
          </a:xfrm>
          <a:prstGeom prst="roundRect">
            <a:avLst>
              <a:gd name="adj" fmla="val 6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15"/>
          <p:cNvSpPr/>
          <p:nvPr/>
        </p:nvSpPr>
        <p:spPr>
          <a:xfrm>
            <a:off x="6309360" y="4617720"/>
            <a:ext cx="72720" cy="9140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16"/>
          <p:cNvSpPr/>
          <p:nvPr/>
        </p:nvSpPr>
        <p:spPr>
          <a:xfrm>
            <a:off x="6473880" y="47458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Student gotcha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17"/>
          <p:cNvSpPr/>
          <p:nvPr/>
        </p:nvSpPr>
        <p:spPr>
          <a:xfrm>
            <a:off x="6473880" y="5093280"/>
            <a:ext cx="4553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Pruning is not approximation. Alpha-beta with the same depth and ordering returns the exact minimax move.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Algorithm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Alpha-Beta Search Pseudocode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Minimax plus two bounds: alpha and beta.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7"/>
          <p:cNvSpPr/>
          <p:nvPr/>
        </p:nvSpPr>
        <p:spPr>
          <a:xfrm>
            <a:off x="749880" y="1115640"/>
            <a:ext cx="4946400" cy="5129280"/>
          </a:xfrm>
          <a:prstGeom prst="roundRect">
            <a:avLst>
              <a:gd name="adj" fmla="val 739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7" name="Image 0" descr="/mnt/data/ch5_assets/fig_5_7_alpha_beta_pseudocode.png"/>
          <p:cNvPicPr/>
          <p:nvPr/>
        </p:nvPicPr>
        <p:blipFill>
          <a:blip r:embed="rId1"/>
          <a:stretch/>
        </p:blipFill>
        <p:spPr>
          <a:xfrm>
            <a:off x="777240" y="1310760"/>
            <a:ext cx="4891680" cy="473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Text 8"/>
          <p:cNvSpPr/>
          <p:nvPr/>
        </p:nvSpPr>
        <p:spPr>
          <a:xfrm>
            <a:off x="777240" y="6272640"/>
            <a:ext cx="489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5.7: alpha-beta algorithm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9"/>
          <p:cNvSpPr/>
          <p:nvPr/>
        </p:nvSpPr>
        <p:spPr>
          <a:xfrm>
            <a:off x="5989320" y="1417320"/>
            <a:ext cx="4663080" cy="2057040"/>
          </a:xfrm>
          <a:prstGeom prst="roundRect">
            <a:avLst>
              <a:gd name="adj" fmla="val 266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0"/>
          <p:cNvSpPr/>
          <p:nvPr/>
        </p:nvSpPr>
        <p:spPr>
          <a:xfrm>
            <a:off x="5989320" y="1417320"/>
            <a:ext cx="72720" cy="20570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11"/>
          <p:cNvSpPr/>
          <p:nvPr/>
        </p:nvSpPr>
        <p:spPr>
          <a:xfrm>
            <a:off x="6153840" y="154548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changed from minimax?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12"/>
          <p:cNvSpPr/>
          <p:nvPr/>
        </p:nvSpPr>
        <p:spPr>
          <a:xfrm>
            <a:off x="6153840" y="1892880"/>
            <a:ext cx="437040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Pass alpha and beta recursively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MAX updates alpha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MIN updates beta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Return early when bound is crossed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3"/>
          <p:cNvSpPr/>
          <p:nvPr/>
        </p:nvSpPr>
        <p:spPr>
          <a:xfrm>
            <a:off x="5989320" y="3749040"/>
            <a:ext cx="4663080" cy="1782720"/>
          </a:xfrm>
          <a:prstGeom prst="roundRect">
            <a:avLst>
              <a:gd name="adj" fmla="val 307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14"/>
          <p:cNvSpPr/>
          <p:nvPr/>
        </p:nvSpPr>
        <p:spPr>
          <a:xfrm>
            <a:off x="5989320" y="3749040"/>
            <a:ext cx="72720" cy="1782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5"/>
          <p:cNvSpPr/>
          <p:nvPr/>
        </p:nvSpPr>
        <p:spPr>
          <a:xfrm>
            <a:off x="6153840" y="387720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Implementation gotchas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16"/>
          <p:cNvSpPr/>
          <p:nvPr/>
        </p:nvSpPr>
        <p:spPr>
          <a:xfrm>
            <a:off x="6153840" y="4224600"/>
            <a:ext cx="43704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Initialize alpha = -infinity, beta = +infinity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Do not swap players incorrectly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Return value and move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Pruning condition differs at MAX/MIN nodes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Move Ordering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Move Ordering Determines How Much You Prune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is correct regardless of order, but speed depends heavily on order.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7"/>
          <p:cNvSpPr/>
          <p:nvPr/>
        </p:nvSpPr>
        <p:spPr>
          <a:xfrm>
            <a:off x="86868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9"/>
          <p:cNvSpPr/>
          <p:nvPr/>
        </p:nvSpPr>
        <p:spPr>
          <a:xfrm>
            <a:off x="103320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Bad ordering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10"/>
          <p:cNvSpPr/>
          <p:nvPr/>
        </p:nvSpPr>
        <p:spPr>
          <a:xfrm>
            <a:off x="103320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Explore weak moves first. Bounds stay loose. Little pruning occurs.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11"/>
          <p:cNvSpPr/>
          <p:nvPr/>
        </p:nvSpPr>
        <p:spPr>
          <a:xfrm>
            <a:off x="4480560" y="1417320"/>
            <a:ext cx="3245760" cy="1828440"/>
          </a:xfrm>
          <a:prstGeom prst="roundRect">
            <a:avLst>
              <a:gd name="adj" fmla="val 3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12"/>
          <p:cNvSpPr/>
          <p:nvPr/>
        </p:nvSpPr>
        <p:spPr>
          <a:xfrm>
            <a:off x="4480560" y="1417320"/>
            <a:ext cx="72720" cy="1828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13"/>
          <p:cNvSpPr/>
          <p:nvPr/>
        </p:nvSpPr>
        <p:spPr>
          <a:xfrm>
            <a:off x="4645080" y="15454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Good ordering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14"/>
          <p:cNvSpPr/>
          <p:nvPr/>
        </p:nvSpPr>
        <p:spPr>
          <a:xfrm>
            <a:off x="4645080" y="1892880"/>
            <a:ext cx="295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Explore likely best moves first. Bounds tighten early. More branches vanish.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15"/>
          <p:cNvSpPr/>
          <p:nvPr/>
        </p:nvSpPr>
        <p:spPr>
          <a:xfrm>
            <a:off x="8092440" y="1417320"/>
            <a:ext cx="306288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16"/>
          <p:cNvSpPr/>
          <p:nvPr/>
        </p:nvSpPr>
        <p:spPr>
          <a:xfrm>
            <a:off x="809244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17"/>
          <p:cNvSpPr/>
          <p:nvPr/>
        </p:nvSpPr>
        <p:spPr>
          <a:xfrm>
            <a:off x="8256960" y="154548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Perfect ordering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18"/>
          <p:cNvSpPr/>
          <p:nvPr/>
        </p:nvSpPr>
        <p:spPr>
          <a:xfrm>
            <a:off x="8256960" y="1892880"/>
            <a:ext cx="277020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Can reduce effective work toward O(b^(m/2)), allowing roughly twice the search depth.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19"/>
          <p:cNvSpPr/>
          <p:nvPr/>
        </p:nvSpPr>
        <p:spPr>
          <a:xfrm>
            <a:off x="914400" y="4160520"/>
            <a:ext cx="10058040" cy="73116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Heuristics: captures first, threats first, killer moves, iterative deepening ranks, transposition table values.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Move Ordering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Search Cost: Same Algorithm, Different Order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Good ordering turns pruning into a force multiplier.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7"/>
          <p:cNvSpPr/>
          <p:nvPr/>
        </p:nvSpPr>
        <p:spPr>
          <a:xfrm>
            <a:off x="1280160" y="1920240"/>
            <a:ext cx="1416960" cy="320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8"/>
          <p:cNvSpPr/>
          <p:nvPr/>
        </p:nvSpPr>
        <p:spPr>
          <a:xfrm>
            <a:off x="1280160" y="16002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100%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9"/>
          <p:cNvSpPr/>
          <p:nvPr/>
        </p:nvSpPr>
        <p:spPr>
          <a:xfrm>
            <a:off x="914400" y="534924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Minimax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10"/>
          <p:cNvSpPr/>
          <p:nvPr/>
        </p:nvSpPr>
        <p:spPr>
          <a:xfrm>
            <a:off x="3840480" y="3360600"/>
            <a:ext cx="1416960" cy="1760040"/>
          </a:xfrm>
          <a:prstGeom prst="rect">
            <a:avLst/>
          </a:prstGeom>
          <a:solidFill>
            <a:srgbClr val="F2B84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11"/>
          <p:cNvSpPr/>
          <p:nvPr/>
        </p:nvSpPr>
        <p:spPr>
          <a:xfrm>
            <a:off x="3840480" y="30405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12"/>
          <p:cNvSpPr/>
          <p:nvPr/>
        </p:nvSpPr>
        <p:spPr>
          <a:xfrm>
            <a:off x="3474720" y="534924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random order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13"/>
          <p:cNvSpPr/>
          <p:nvPr/>
        </p:nvSpPr>
        <p:spPr>
          <a:xfrm>
            <a:off x="6400800" y="4224600"/>
            <a:ext cx="1416960" cy="895680"/>
          </a:xfrm>
          <a:prstGeom prst="rect">
            <a:avLst/>
          </a:prstGeom>
          <a:solidFill>
            <a:srgbClr val="168A8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14"/>
          <p:cNvSpPr/>
          <p:nvPr/>
        </p:nvSpPr>
        <p:spPr>
          <a:xfrm>
            <a:off x="6400800" y="39045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28%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15"/>
          <p:cNvSpPr/>
          <p:nvPr/>
        </p:nvSpPr>
        <p:spPr>
          <a:xfrm>
            <a:off x="6035040" y="534924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good order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16"/>
          <p:cNvSpPr/>
          <p:nvPr/>
        </p:nvSpPr>
        <p:spPr>
          <a:xfrm>
            <a:off x="8961120" y="4736520"/>
            <a:ext cx="1416960" cy="383760"/>
          </a:xfrm>
          <a:prstGeom prst="rect">
            <a:avLst/>
          </a:prstGeom>
          <a:solidFill>
            <a:srgbClr val="2F855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17"/>
          <p:cNvSpPr/>
          <p:nvPr/>
        </p:nvSpPr>
        <p:spPr>
          <a:xfrm>
            <a:off x="8961120" y="441648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18"/>
          <p:cNvSpPr/>
          <p:nvPr/>
        </p:nvSpPr>
        <p:spPr>
          <a:xfrm>
            <a:off x="8595360" y="534924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near-perfect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19"/>
          <p:cNvSpPr/>
          <p:nvPr/>
        </p:nvSpPr>
        <p:spPr>
          <a:xfrm>
            <a:off x="1097280" y="141732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Illustrative relative nodes examined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20"/>
          <p:cNvSpPr/>
          <p:nvPr/>
        </p:nvSpPr>
        <p:spPr>
          <a:xfrm>
            <a:off x="1920240" y="2057400"/>
            <a:ext cx="8320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21"/>
          <p:cNvSpPr/>
          <p:nvPr/>
        </p:nvSpPr>
        <p:spPr>
          <a:xfrm>
            <a:off x="1920240" y="2057400"/>
            <a:ext cx="72720" cy="9140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22"/>
          <p:cNvSpPr/>
          <p:nvPr/>
        </p:nvSpPr>
        <p:spPr>
          <a:xfrm>
            <a:off x="2084760" y="218556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23"/>
          <p:cNvSpPr/>
          <p:nvPr/>
        </p:nvSpPr>
        <p:spPr>
          <a:xfrm>
            <a:off x="2084760" y="2532960"/>
            <a:ext cx="8028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 does not promise the same speed every time. The order of actions can be the difference between a small search and a huge one.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Move Ordering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Transposition Tables: Remember Reached Positions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Different move orders can lead to the same state. Cache the result.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7"/>
          <p:cNvSpPr/>
          <p:nvPr/>
        </p:nvSpPr>
        <p:spPr>
          <a:xfrm flipV="1">
            <a:off x="1371600" y="1463040"/>
            <a:ext cx="1828800" cy="36576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8"/>
          <p:cNvSpPr/>
          <p:nvPr/>
        </p:nvSpPr>
        <p:spPr>
          <a:xfrm>
            <a:off x="3200400" y="1463040"/>
            <a:ext cx="1828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9"/>
          <p:cNvSpPr/>
          <p:nvPr/>
        </p:nvSpPr>
        <p:spPr>
          <a:xfrm>
            <a:off x="5029200" y="1463040"/>
            <a:ext cx="1828800" cy="73152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10"/>
          <p:cNvSpPr/>
          <p:nvPr/>
        </p:nvSpPr>
        <p:spPr>
          <a:xfrm>
            <a:off x="1371600" y="1828800"/>
            <a:ext cx="1828800" cy="164592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11"/>
          <p:cNvSpPr/>
          <p:nvPr/>
        </p:nvSpPr>
        <p:spPr>
          <a:xfrm>
            <a:off x="3200400" y="3474720"/>
            <a:ext cx="1828800" cy="36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12"/>
          <p:cNvSpPr/>
          <p:nvPr/>
        </p:nvSpPr>
        <p:spPr>
          <a:xfrm flipV="1">
            <a:off x="5029200" y="2194560"/>
            <a:ext cx="1828800" cy="128016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 13"/>
          <p:cNvSpPr/>
          <p:nvPr/>
        </p:nvSpPr>
        <p:spPr>
          <a:xfrm>
            <a:off x="1097280" y="1645920"/>
            <a:ext cx="566640" cy="566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 14"/>
          <p:cNvSpPr/>
          <p:nvPr/>
        </p:nvSpPr>
        <p:spPr>
          <a:xfrm>
            <a:off x="2926080" y="1280160"/>
            <a:ext cx="566640" cy="566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W1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5"/>
          <p:cNvSpPr/>
          <p:nvPr/>
        </p:nvSpPr>
        <p:spPr>
          <a:xfrm>
            <a:off x="4754880" y="1280160"/>
            <a:ext cx="566640" cy="566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 16"/>
          <p:cNvSpPr/>
          <p:nvPr/>
        </p:nvSpPr>
        <p:spPr>
          <a:xfrm>
            <a:off x="6583680" y="2011680"/>
            <a:ext cx="566640" cy="566640"/>
          </a:xfrm>
          <a:prstGeom prst="rect">
            <a:avLst/>
          </a:prstGeom>
          <a:solidFill>
            <a:srgbClr val="F2B84B"/>
          </a:solidFill>
          <a:ln w="1524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 17"/>
          <p:cNvSpPr/>
          <p:nvPr/>
        </p:nvSpPr>
        <p:spPr>
          <a:xfrm>
            <a:off x="2926080" y="3291840"/>
            <a:ext cx="566640" cy="566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W2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 18"/>
          <p:cNvSpPr/>
          <p:nvPr/>
        </p:nvSpPr>
        <p:spPr>
          <a:xfrm>
            <a:off x="4754880" y="3291840"/>
            <a:ext cx="566640" cy="566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19"/>
          <p:cNvSpPr/>
          <p:nvPr/>
        </p:nvSpPr>
        <p:spPr>
          <a:xfrm>
            <a:off x="7680960" y="1417320"/>
            <a:ext cx="320004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20"/>
          <p:cNvSpPr/>
          <p:nvPr/>
        </p:nvSpPr>
        <p:spPr>
          <a:xfrm>
            <a:off x="7680960" y="1417320"/>
            <a:ext cx="72720" cy="16455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 21"/>
          <p:cNvSpPr/>
          <p:nvPr/>
        </p:nvSpPr>
        <p:spPr>
          <a:xfrm>
            <a:off x="7845480" y="154548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gets cached?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22"/>
          <p:cNvSpPr/>
          <p:nvPr/>
        </p:nvSpPr>
        <p:spPr>
          <a:xfrm>
            <a:off x="7845480" y="1892880"/>
            <a:ext cx="29073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State key or hash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Depth searched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Backed-up value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Best move found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23"/>
          <p:cNvSpPr/>
          <p:nvPr/>
        </p:nvSpPr>
        <p:spPr>
          <a:xfrm>
            <a:off x="7680960" y="3474720"/>
            <a:ext cx="3200040" cy="1096920"/>
          </a:xfrm>
          <a:prstGeom prst="roundRect">
            <a:avLst>
              <a:gd name="adj" fmla="val 5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24"/>
          <p:cNvSpPr/>
          <p:nvPr/>
        </p:nvSpPr>
        <p:spPr>
          <a:xfrm>
            <a:off x="7680960" y="3474720"/>
            <a:ext cx="72720" cy="10969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 25"/>
          <p:cNvSpPr/>
          <p:nvPr/>
        </p:nvSpPr>
        <p:spPr>
          <a:xfrm>
            <a:off x="7845480" y="360288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it helps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26"/>
          <p:cNvSpPr/>
          <p:nvPr/>
        </p:nvSpPr>
        <p:spPr>
          <a:xfrm>
            <a:off x="7845480" y="3950280"/>
            <a:ext cx="2907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repeated state can reuse the previous search result instead of exploring the same subtree again.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27"/>
          <p:cNvSpPr/>
          <p:nvPr/>
        </p:nvSpPr>
        <p:spPr>
          <a:xfrm>
            <a:off x="1005840" y="5394960"/>
            <a:ext cx="9783720" cy="41112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Chess engines rely heavily on transposition tables.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Move Ordering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Iterative Deepening and Killer Moves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Use shallow searches to guide deeper searches.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7"/>
          <p:cNvSpPr/>
          <p:nvPr/>
        </p:nvSpPr>
        <p:spPr>
          <a:xfrm>
            <a:off x="868680" y="1417320"/>
            <a:ext cx="384012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8"/>
          <p:cNvSpPr/>
          <p:nvPr/>
        </p:nvSpPr>
        <p:spPr>
          <a:xfrm>
            <a:off x="868680" y="1417320"/>
            <a:ext cx="72720" cy="23770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033200" y="154548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Iterative deepening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10"/>
          <p:cNvSpPr/>
          <p:nvPr/>
        </p:nvSpPr>
        <p:spPr>
          <a:xfrm>
            <a:off x="1033200" y="1892880"/>
            <a:ext cx="35474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Search depth 1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Record best move ordering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Search depth 2 using that order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Repeat until time runs out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1"/>
          <p:cNvSpPr/>
          <p:nvPr/>
        </p:nvSpPr>
        <p:spPr>
          <a:xfrm>
            <a:off x="4983480" y="1417320"/>
            <a:ext cx="3017160" cy="2377080"/>
          </a:xfrm>
          <a:prstGeom prst="roundRect">
            <a:avLst>
              <a:gd name="adj" fmla="val 2308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Shape 12"/>
          <p:cNvSpPr/>
          <p:nvPr/>
        </p:nvSpPr>
        <p:spPr>
          <a:xfrm>
            <a:off x="4983480" y="1417320"/>
            <a:ext cx="72720" cy="2377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13"/>
          <p:cNvSpPr/>
          <p:nvPr/>
        </p:nvSpPr>
        <p:spPr>
          <a:xfrm>
            <a:off x="5148000" y="15454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Killer move heuristic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14"/>
          <p:cNvSpPr/>
          <p:nvPr/>
        </p:nvSpPr>
        <p:spPr>
          <a:xfrm>
            <a:off x="5148000" y="1892880"/>
            <a:ext cx="272448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Moves that caused cutoffs before are tried early in similar positions, because they may prune again.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15"/>
          <p:cNvSpPr/>
          <p:nvPr/>
        </p:nvSpPr>
        <p:spPr>
          <a:xfrm>
            <a:off x="8275320" y="1417320"/>
            <a:ext cx="283428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16"/>
          <p:cNvSpPr/>
          <p:nvPr/>
        </p:nvSpPr>
        <p:spPr>
          <a:xfrm>
            <a:off x="8275320" y="1417320"/>
            <a:ext cx="72720" cy="23770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 17"/>
          <p:cNvSpPr/>
          <p:nvPr/>
        </p:nvSpPr>
        <p:spPr>
          <a:xfrm>
            <a:off x="8439840" y="15454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Practical value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18"/>
          <p:cNvSpPr/>
          <p:nvPr/>
        </p:nvSpPr>
        <p:spPr>
          <a:xfrm>
            <a:off x="8439840" y="1892880"/>
            <a:ext cx="254160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This is how game engines make good decisions under a clock: always have the last completed depth available.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19"/>
          <p:cNvSpPr/>
          <p:nvPr/>
        </p:nvSpPr>
        <p:spPr>
          <a:xfrm>
            <a:off x="1143000" y="4572000"/>
            <a:ext cx="9783720" cy="822600"/>
          </a:xfrm>
          <a:prstGeom prst="roundRect">
            <a:avLst>
              <a:gd name="adj" fmla="val 6667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20"/>
          <p:cNvSpPr/>
          <p:nvPr/>
        </p:nvSpPr>
        <p:spPr>
          <a:xfrm>
            <a:off x="1417320" y="4800600"/>
            <a:ext cx="9235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4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Search shallow first, then search deeper smarter.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Text 21"/>
          <p:cNvSpPr/>
          <p:nvPr/>
        </p:nvSpPr>
        <p:spPr>
          <a:xfrm>
            <a:off x="1463040" y="4983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Time management and move ordering reinforce each other.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Heuristic Alpha-Beta Tree Search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Cut off deep search and estimate utility at non-terminal states.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cutoff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Stop by depth, time, or stability.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EVAL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Estimate who is winning.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risk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Evaluation can be fooled by tactics.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Heuristic Alpha-Beta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Cut Off Search?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Alpha-beta helps, but real games are still too large.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7"/>
          <p:cNvSpPr/>
          <p:nvPr/>
        </p:nvSpPr>
        <p:spPr>
          <a:xfrm>
            <a:off x="868680" y="1417320"/>
            <a:ext cx="347436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8"/>
          <p:cNvSpPr/>
          <p:nvPr/>
        </p:nvSpPr>
        <p:spPr>
          <a:xfrm>
            <a:off x="868680" y="1417320"/>
            <a:ext cx="72720" cy="2011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Problem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10"/>
          <p:cNvSpPr/>
          <p:nvPr/>
        </p:nvSpPr>
        <p:spPr>
          <a:xfrm>
            <a:off x="1033200" y="1892880"/>
            <a:ext cx="318168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Even with pruning, chess and Go have far too many states to search to terminal outcomes in available time.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11"/>
          <p:cNvSpPr/>
          <p:nvPr/>
        </p:nvSpPr>
        <p:spPr>
          <a:xfrm>
            <a:off x="4526280" y="1417320"/>
            <a:ext cx="347436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12"/>
          <p:cNvSpPr/>
          <p:nvPr/>
        </p:nvSpPr>
        <p:spPr>
          <a:xfrm>
            <a:off x="4526280" y="1417320"/>
            <a:ext cx="72720" cy="20113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Solution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14"/>
          <p:cNvSpPr/>
          <p:nvPr/>
        </p:nvSpPr>
        <p:spPr>
          <a:xfrm>
            <a:off x="4690800" y="1892880"/>
            <a:ext cx="318168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Stop at a depth limit or time limit, then evaluate the non-terminal state with a heuristic function.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15"/>
          <p:cNvSpPr/>
          <p:nvPr/>
        </p:nvSpPr>
        <p:spPr>
          <a:xfrm>
            <a:off x="8183880" y="141732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16"/>
          <p:cNvSpPr/>
          <p:nvPr/>
        </p:nvSpPr>
        <p:spPr>
          <a:xfrm>
            <a:off x="8183880" y="1417320"/>
            <a:ext cx="72720" cy="20113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Tradeoff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18"/>
          <p:cNvSpPr/>
          <p:nvPr/>
        </p:nvSpPr>
        <p:spPr>
          <a:xfrm>
            <a:off x="8348400" y="1892880"/>
            <a:ext cx="24501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agent becomes faster but may make errors if the heuristic misunderstands the position.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9"/>
          <p:cNvSpPr/>
          <p:nvPr/>
        </p:nvSpPr>
        <p:spPr>
          <a:xfrm>
            <a:off x="1143000" y="4297680"/>
            <a:ext cx="987516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20"/>
          <p:cNvSpPr/>
          <p:nvPr/>
        </p:nvSpPr>
        <p:spPr>
          <a:xfrm>
            <a:off x="1417320" y="452628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Heuristic search asks: “Who seems to be winning from here?”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21"/>
          <p:cNvSpPr/>
          <p:nvPr/>
        </p:nvSpPr>
        <p:spPr>
          <a:xfrm>
            <a:off x="1463040" y="4800600"/>
            <a:ext cx="92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Not exact, but useful under time pressure.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Heuristic Alpha-Beta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Heuristic Minimax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Replace terminal-only utility with a cutoff test and EVAL.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 7"/>
          <p:cNvSpPr/>
          <p:nvPr/>
        </p:nvSpPr>
        <p:spPr>
          <a:xfrm>
            <a:off x="1097280" y="1417320"/>
            <a:ext cx="9966600" cy="68544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if IS-CUTOFF(s, d): return EVAL(s, MAX)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8"/>
          <p:cNvSpPr/>
          <p:nvPr/>
        </p:nvSpPr>
        <p:spPr>
          <a:xfrm>
            <a:off x="868680" y="274320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9"/>
          <p:cNvSpPr/>
          <p:nvPr/>
        </p:nvSpPr>
        <p:spPr>
          <a:xfrm>
            <a:off x="868680" y="274320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10"/>
          <p:cNvSpPr/>
          <p:nvPr/>
        </p:nvSpPr>
        <p:spPr>
          <a:xfrm>
            <a:off x="1033200" y="2871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Cutoff test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 11"/>
          <p:cNvSpPr/>
          <p:nvPr/>
        </p:nvSpPr>
        <p:spPr>
          <a:xfrm>
            <a:off x="1033200" y="321876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True at terminal states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True at depth limit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Can extend volatile states with quiescence search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12"/>
          <p:cNvSpPr/>
          <p:nvPr/>
        </p:nvSpPr>
        <p:spPr>
          <a:xfrm>
            <a:off x="4526280" y="274320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13"/>
          <p:cNvSpPr/>
          <p:nvPr/>
        </p:nvSpPr>
        <p:spPr>
          <a:xfrm>
            <a:off x="4526280" y="2743200"/>
            <a:ext cx="72720" cy="1919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14"/>
          <p:cNvSpPr/>
          <p:nvPr/>
        </p:nvSpPr>
        <p:spPr>
          <a:xfrm>
            <a:off x="4690800" y="2871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EVAL(s,p)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15"/>
          <p:cNvSpPr/>
          <p:nvPr/>
        </p:nvSpPr>
        <p:spPr>
          <a:xfrm>
            <a:off x="4690800" y="321876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Fast to compute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Correlated with actual chance of winning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Equal to UTILITY at terminal states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16"/>
          <p:cNvSpPr/>
          <p:nvPr/>
        </p:nvSpPr>
        <p:spPr>
          <a:xfrm>
            <a:off x="8183880" y="2743200"/>
            <a:ext cx="274284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17"/>
          <p:cNvSpPr/>
          <p:nvPr/>
        </p:nvSpPr>
        <p:spPr>
          <a:xfrm>
            <a:off x="8183880" y="2743200"/>
            <a:ext cx="72720" cy="1919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Text 18"/>
          <p:cNvSpPr/>
          <p:nvPr/>
        </p:nvSpPr>
        <p:spPr>
          <a:xfrm>
            <a:off x="8348400" y="28713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Search behavior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19"/>
          <p:cNvSpPr/>
          <p:nvPr/>
        </p:nvSpPr>
        <p:spPr>
          <a:xfrm>
            <a:off x="8348400" y="3218760"/>
            <a:ext cx="24501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Non-terminal cutoff states are treated as if they were leaves with estimated values.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Makes a Good Evaluation Function?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Fast, bounded, and correlated with winning.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7"/>
          <p:cNvSpPr/>
          <p:nvPr/>
        </p:nvSpPr>
        <p:spPr>
          <a:xfrm>
            <a:off x="868680" y="1417320"/>
            <a:ext cx="333720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8"/>
          <p:cNvSpPr/>
          <p:nvPr/>
        </p:nvSpPr>
        <p:spPr>
          <a:xfrm>
            <a:off x="868680" y="1417320"/>
            <a:ext cx="72720" cy="16455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9"/>
          <p:cNvSpPr/>
          <p:nvPr/>
        </p:nvSpPr>
        <p:spPr>
          <a:xfrm>
            <a:off x="1033200" y="154548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Fast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10"/>
          <p:cNvSpPr/>
          <p:nvPr/>
        </p:nvSpPr>
        <p:spPr>
          <a:xfrm>
            <a:off x="1033200" y="1892880"/>
            <a:ext cx="30445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Evaluation must be cheap enough to run at thousands or millions of cutoff nodes.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11"/>
          <p:cNvSpPr/>
          <p:nvPr/>
        </p:nvSpPr>
        <p:spPr>
          <a:xfrm>
            <a:off x="4434840" y="1417320"/>
            <a:ext cx="3337200" cy="1645560"/>
          </a:xfrm>
          <a:prstGeom prst="roundRect">
            <a:avLst>
              <a:gd name="adj" fmla="val 3333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Shape 12"/>
          <p:cNvSpPr/>
          <p:nvPr/>
        </p:nvSpPr>
        <p:spPr>
          <a:xfrm>
            <a:off x="4434840" y="1417320"/>
            <a:ext cx="72720" cy="1645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13"/>
          <p:cNvSpPr/>
          <p:nvPr/>
        </p:nvSpPr>
        <p:spPr>
          <a:xfrm>
            <a:off x="4599360" y="154548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Correct at terminal states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14"/>
          <p:cNvSpPr/>
          <p:nvPr/>
        </p:nvSpPr>
        <p:spPr>
          <a:xfrm>
            <a:off x="4599360" y="1892880"/>
            <a:ext cx="30445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For terminal states, EVAL(s,p) must equal UTILITY(s,p).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15"/>
          <p:cNvSpPr/>
          <p:nvPr/>
        </p:nvSpPr>
        <p:spPr>
          <a:xfrm>
            <a:off x="8001000" y="1417320"/>
            <a:ext cx="310860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16"/>
          <p:cNvSpPr/>
          <p:nvPr/>
        </p:nvSpPr>
        <p:spPr>
          <a:xfrm>
            <a:off x="8001000" y="1417320"/>
            <a:ext cx="72720" cy="16455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Correlated with outcome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18"/>
          <p:cNvSpPr/>
          <p:nvPr/>
        </p:nvSpPr>
        <p:spPr>
          <a:xfrm>
            <a:off x="8165520" y="1892880"/>
            <a:ext cx="28159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Higher EVAL should generally mean better chances for the evaluated player.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19"/>
          <p:cNvSpPr/>
          <p:nvPr/>
        </p:nvSpPr>
        <p:spPr>
          <a:xfrm>
            <a:off x="1828800" y="3794760"/>
            <a:ext cx="384012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20"/>
          <p:cNvSpPr/>
          <p:nvPr/>
        </p:nvSpPr>
        <p:spPr>
          <a:xfrm>
            <a:off x="1828800" y="3794760"/>
            <a:ext cx="72720" cy="132552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21"/>
          <p:cNvSpPr/>
          <p:nvPr/>
        </p:nvSpPr>
        <p:spPr>
          <a:xfrm>
            <a:off x="1993320" y="39229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Uses features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22"/>
          <p:cNvSpPr/>
          <p:nvPr/>
        </p:nvSpPr>
        <p:spPr>
          <a:xfrm>
            <a:off x="1993320" y="4270320"/>
            <a:ext cx="354744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Count and weight features such as material, mobility, threats, central control, king safety, or connect-four windows.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23"/>
          <p:cNvSpPr/>
          <p:nvPr/>
        </p:nvSpPr>
        <p:spPr>
          <a:xfrm>
            <a:off x="6400800" y="3794760"/>
            <a:ext cx="3840120" cy="1325520"/>
          </a:xfrm>
          <a:prstGeom prst="roundRect">
            <a:avLst>
              <a:gd name="adj" fmla="val 4138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24"/>
          <p:cNvSpPr/>
          <p:nvPr/>
        </p:nvSpPr>
        <p:spPr>
          <a:xfrm>
            <a:off x="6400800" y="3794760"/>
            <a:ext cx="72720" cy="1325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Text 25"/>
          <p:cNvSpPr/>
          <p:nvPr/>
        </p:nvSpPr>
        <p:spPr>
          <a:xfrm>
            <a:off x="6565320" y="39229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Beware interactions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26"/>
          <p:cNvSpPr/>
          <p:nvPr/>
        </p:nvSpPr>
        <p:spPr>
          <a:xfrm>
            <a:off x="6565320" y="4270320"/>
            <a:ext cx="354744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Feature contributions are not always independent. Modern agents often use nonlinear learned evaluation functions.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Chess Example: Material Is Useful but Incomplete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simple count can miss tactical swings.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7"/>
          <p:cNvSpPr/>
          <p:nvPr/>
        </p:nvSpPr>
        <p:spPr>
          <a:xfrm>
            <a:off x="749880" y="1298520"/>
            <a:ext cx="6180840" cy="3026160"/>
          </a:xfrm>
          <a:prstGeom prst="roundRect">
            <a:avLst>
              <a:gd name="adj" fmla="val 1208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5" name="Image 0" descr="/mnt/data/ch5_assets/fig_5_8_chess_eval.png"/>
          <p:cNvPicPr/>
          <p:nvPr/>
        </p:nvPicPr>
        <p:blipFill>
          <a:blip r:embed="rId1"/>
          <a:stretch/>
        </p:blipFill>
        <p:spPr>
          <a:xfrm>
            <a:off x="777240" y="1330560"/>
            <a:ext cx="6126120" cy="29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6" name="Text 8"/>
          <p:cNvSpPr/>
          <p:nvPr/>
        </p:nvSpPr>
        <p:spPr>
          <a:xfrm>
            <a:off x="777240" y="4352400"/>
            <a:ext cx="6126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5.8: two chess positions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9"/>
          <p:cNvSpPr/>
          <p:nvPr/>
        </p:nvSpPr>
        <p:spPr>
          <a:xfrm>
            <a:off x="7315200" y="141732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10"/>
          <p:cNvSpPr/>
          <p:nvPr/>
        </p:nvSpPr>
        <p:spPr>
          <a:xfrm>
            <a:off x="7315200" y="1417320"/>
            <a:ext cx="72720" cy="16455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11"/>
          <p:cNvSpPr/>
          <p:nvPr/>
        </p:nvSpPr>
        <p:spPr>
          <a:xfrm>
            <a:off x="747972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Material evaluation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 12"/>
          <p:cNvSpPr/>
          <p:nvPr/>
        </p:nvSpPr>
        <p:spPr>
          <a:xfrm>
            <a:off x="7479720" y="1892880"/>
            <a:ext cx="31816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Pawn ≈ 1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Knight or bishop ≈ 3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Rook ≈ 5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Queen ≈ 9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13"/>
          <p:cNvSpPr/>
          <p:nvPr/>
        </p:nvSpPr>
        <p:spPr>
          <a:xfrm>
            <a:off x="7315200" y="3429000"/>
            <a:ext cx="3474360" cy="1234080"/>
          </a:xfrm>
          <a:prstGeom prst="roundRect">
            <a:avLst>
              <a:gd name="adj" fmla="val 4444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Shape 14"/>
          <p:cNvSpPr/>
          <p:nvPr/>
        </p:nvSpPr>
        <p:spPr>
          <a:xfrm>
            <a:off x="7315200" y="3429000"/>
            <a:ext cx="72720" cy="1234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Text 15"/>
          <p:cNvSpPr/>
          <p:nvPr/>
        </p:nvSpPr>
        <p:spPr>
          <a:xfrm>
            <a:off x="7479720" y="35571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point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16"/>
          <p:cNvSpPr/>
          <p:nvPr/>
        </p:nvSpPr>
        <p:spPr>
          <a:xfrm>
            <a:off x="7479720" y="3904560"/>
            <a:ext cx="31816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Material advantage may be misleading if an immediate tactic changes the board after the cutoff.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17"/>
          <p:cNvSpPr/>
          <p:nvPr/>
        </p:nvSpPr>
        <p:spPr>
          <a:xfrm>
            <a:off x="1874520" y="4892040"/>
            <a:ext cx="8137800" cy="731160"/>
          </a:xfrm>
          <a:prstGeom prst="roundRect">
            <a:avLst>
              <a:gd name="adj" fmla="val 75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18"/>
          <p:cNvSpPr/>
          <p:nvPr/>
        </p:nvSpPr>
        <p:spPr>
          <a:xfrm>
            <a:off x="1874520" y="4892040"/>
            <a:ext cx="72720" cy="7311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19"/>
          <p:cNvSpPr/>
          <p:nvPr/>
        </p:nvSpPr>
        <p:spPr>
          <a:xfrm>
            <a:off x="2039040" y="50202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Question for students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20"/>
          <p:cNvSpPr/>
          <p:nvPr/>
        </p:nvSpPr>
        <p:spPr>
          <a:xfrm>
            <a:off x="2039040" y="5367600"/>
            <a:ext cx="7845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Why might a position that looks good by material count actually be losing?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Weighted Linear Evaluation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classic approach: add up weighted features.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7"/>
          <p:cNvSpPr/>
          <p:nvPr/>
        </p:nvSpPr>
        <p:spPr>
          <a:xfrm>
            <a:off x="868680" y="1417320"/>
            <a:ext cx="10423800" cy="77688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EVAL(s) = w1 f1(s) + w2 f2(s) + ... + wn fn(s)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8"/>
          <p:cNvSpPr/>
          <p:nvPr/>
        </p:nvSpPr>
        <p:spPr>
          <a:xfrm>
            <a:off x="868680" y="2743200"/>
            <a:ext cx="338292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Shape 9"/>
          <p:cNvSpPr/>
          <p:nvPr/>
        </p:nvSpPr>
        <p:spPr>
          <a:xfrm>
            <a:off x="868680" y="274320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10"/>
          <p:cNvSpPr/>
          <p:nvPr/>
        </p:nvSpPr>
        <p:spPr>
          <a:xfrm>
            <a:off x="1033200" y="28713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Features f_i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11"/>
          <p:cNvSpPr/>
          <p:nvPr/>
        </p:nvSpPr>
        <p:spPr>
          <a:xfrm>
            <a:off x="1033200" y="3218760"/>
            <a:ext cx="30902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Material count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Mobility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Threats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Center control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King safety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Shape 12"/>
          <p:cNvSpPr/>
          <p:nvPr/>
        </p:nvSpPr>
        <p:spPr>
          <a:xfrm>
            <a:off x="4480560" y="2743200"/>
            <a:ext cx="3382920" cy="1919880"/>
          </a:xfrm>
          <a:prstGeom prst="roundRect">
            <a:avLst>
              <a:gd name="adj" fmla="val 285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13"/>
          <p:cNvSpPr/>
          <p:nvPr/>
        </p:nvSpPr>
        <p:spPr>
          <a:xfrm>
            <a:off x="4480560" y="2743200"/>
            <a:ext cx="72720" cy="1919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14"/>
          <p:cNvSpPr/>
          <p:nvPr/>
        </p:nvSpPr>
        <p:spPr>
          <a:xfrm>
            <a:off x="4645080" y="28713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Weights w_i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15"/>
          <p:cNvSpPr/>
          <p:nvPr/>
        </p:nvSpPr>
        <p:spPr>
          <a:xfrm>
            <a:off x="4645080" y="3218760"/>
            <a:ext cx="309024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How important each feature is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Can be hand-designed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Can be learned from data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16"/>
          <p:cNvSpPr/>
          <p:nvPr/>
        </p:nvSpPr>
        <p:spPr>
          <a:xfrm>
            <a:off x="8092440" y="2743200"/>
            <a:ext cx="3108600" cy="1919880"/>
          </a:xfrm>
          <a:prstGeom prst="roundRect">
            <a:avLst>
              <a:gd name="adj" fmla="val 285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Shape 17"/>
          <p:cNvSpPr/>
          <p:nvPr/>
        </p:nvSpPr>
        <p:spPr>
          <a:xfrm>
            <a:off x="8092440" y="2743200"/>
            <a:ext cx="72720" cy="1919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18"/>
          <p:cNvSpPr/>
          <p:nvPr/>
        </p:nvSpPr>
        <p:spPr>
          <a:xfrm>
            <a:off x="8256960" y="28713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Limitation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19"/>
          <p:cNvSpPr/>
          <p:nvPr/>
        </p:nvSpPr>
        <p:spPr>
          <a:xfrm>
            <a:off x="8256960" y="3218760"/>
            <a:ext cx="281592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Simple addition assumes features combine independently, which is often false.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Connect Four Heuristic Example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Students can implement this in the Chapter 5 lab.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7"/>
          <p:cNvSpPr/>
          <p:nvPr/>
        </p:nvSpPr>
        <p:spPr>
          <a:xfrm>
            <a:off x="868680" y="1371600"/>
            <a:ext cx="4388760" cy="3017160"/>
          </a:xfrm>
          <a:prstGeom prst="roundRect">
            <a:avLst>
              <a:gd name="adj" fmla="val 2121"/>
            </a:avLst>
          </a:prstGeom>
          <a:solidFill>
            <a:srgbClr val="2B6CB0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8"/>
          <p:cNvSpPr/>
          <p:nvPr/>
        </p:nvSpPr>
        <p:spPr>
          <a:xfrm>
            <a:off x="93276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Shape 9"/>
          <p:cNvSpPr/>
          <p:nvPr/>
        </p:nvSpPr>
        <p:spPr>
          <a:xfrm>
            <a:off x="155988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10"/>
          <p:cNvSpPr/>
          <p:nvPr/>
        </p:nvSpPr>
        <p:spPr>
          <a:xfrm>
            <a:off x="218664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Shape 11"/>
          <p:cNvSpPr/>
          <p:nvPr/>
        </p:nvSpPr>
        <p:spPr>
          <a:xfrm>
            <a:off x="281376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Shape 12"/>
          <p:cNvSpPr/>
          <p:nvPr/>
        </p:nvSpPr>
        <p:spPr>
          <a:xfrm>
            <a:off x="344088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13"/>
          <p:cNvSpPr/>
          <p:nvPr/>
        </p:nvSpPr>
        <p:spPr>
          <a:xfrm>
            <a:off x="406764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14"/>
          <p:cNvSpPr/>
          <p:nvPr/>
        </p:nvSpPr>
        <p:spPr>
          <a:xfrm>
            <a:off x="4694760" y="14356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15"/>
          <p:cNvSpPr/>
          <p:nvPr/>
        </p:nvSpPr>
        <p:spPr>
          <a:xfrm>
            <a:off x="93276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16"/>
          <p:cNvSpPr/>
          <p:nvPr/>
        </p:nvSpPr>
        <p:spPr>
          <a:xfrm>
            <a:off x="155988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17"/>
          <p:cNvSpPr/>
          <p:nvPr/>
        </p:nvSpPr>
        <p:spPr>
          <a:xfrm>
            <a:off x="218664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18"/>
          <p:cNvSpPr/>
          <p:nvPr/>
        </p:nvSpPr>
        <p:spPr>
          <a:xfrm>
            <a:off x="281376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19"/>
          <p:cNvSpPr/>
          <p:nvPr/>
        </p:nvSpPr>
        <p:spPr>
          <a:xfrm>
            <a:off x="344088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20"/>
          <p:cNvSpPr/>
          <p:nvPr/>
        </p:nvSpPr>
        <p:spPr>
          <a:xfrm>
            <a:off x="406764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Shape 21"/>
          <p:cNvSpPr/>
          <p:nvPr/>
        </p:nvSpPr>
        <p:spPr>
          <a:xfrm>
            <a:off x="4694760" y="193860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22"/>
          <p:cNvSpPr/>
          <p:nvPr/>
        </p:nvSpPr>
        <p:spPr>
          <a:xfrm>
            <a:off x="93276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23"/>
          <p:cNvSpPr/>
          <p:nvPr/>
        </p:nvSpPr>
        <p:spPr>
          <a:xfrm>
            <a:off x="155988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Shape 24"/>
          <p:cNvSpPr/>
          <p:nvPr/>
        </p:nvSpPr>
        <p:spPr>
          <a:xfrm>
            <a:off x="218664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Shape 25"/>
          <p:cNvSpPr/>
          <p:nvPr/>
        </p:nvSpPr>
        <p:spPr>
          <a:xfrm>
            <a:off x="281376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Shape 26"/>
          <p:cNvSpPr/>
          <p:nvPr/>
        </p:nvSpPr>
        <p:spPr>
          <a:xfrm>
            <a:off x="344088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Shape 27"/>
          <p:cNvSpPr/>
          <p:nvPr/>
        </p:nvSpPr>
        <p:spPr>
          <a:xfrm>
            <a:off x="406764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28"/>
          <p:cNvSpPr/>
          <p:nvPr/>
        </p:nvSpPr>
        <p:spPr>
          <a:xfrm>
            <a:off x="4694760" y="244152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29"/>
          <p:cNvSpPr/>
          <p:nvPr/>
        </p:nvSpPr>
        <p:spPr>
          <a:xfrm>
            <a:off x="932760" y="294444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30"/>
          <p:cNvSpPr/>
          <p:nvPr/>
        </p:nvSpPr>
        <p:spPr>
          <a:xfrm>
            <a:off x="1559880" y="2944440"/>
            <a:ext cx="498600" cy="3744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Shape 31"/>
          <p:cNvSpPr/>
          <p:nvPr/>
        </p:nvSpPr>
        <p:spPr>
          <a:xfrm>
            <a:off x="2186640" y="294444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32"/>
          <p:cNvSpPr/>
          <p:nvPr/>
        </p:nvSpPr>
        <p:spPr>
          <a:xfrm>
            <a:off x="2813760" y="2944440"/>
            <a:ext cx="498600" cy="374400"/>
          </a:xfrm>
          <a:prstGeom prst="ellipse">
            <a:avLst/>
          </a:prstGeom>
          <a:solidFill>
            <a:srgbClr val="E76F51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33"/>
          <p:cNvSpPr/>
          <p:nvPr/>
        </p:nvSpPr>
        <p:spPr>
          <a:xfrm>
            <a:off x="3440880" y="294444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Shape 34"/>
          <p:cNvSpPr/>
          <p:nvPr/>
        </p:nvSpPr>
        <p:spPr>
          <a:xfrm>
            <a:off x="4067640" y="294444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35"/>
          <p:cNvSpPr/>
          <p:nvPr/>
        </p:nvSpPr>
        <p:spPr>
          <a:xfrm>
            <a:off x="4694760" y="294444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36"/>
          <p:cNvSpPr/>
          <p:nvPr/>
        </p:nvSpPr>
        <p:spPr>
          <a:xfrm>
            <a:off x="932760" y="344736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37"/>
          <p:cNvSpPr/>
          <p:nvPr/>
        </p:nvSpPr>
        <p:spPr>
          <a:xfrm>
            <a:off x="1559880" y="3447360"/>
            <a:ext cx="498600" cy="3744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Shape 38"/>
          <p:cNvSpPr/>
          <p:nvPr/>
        </p:nvSpPr>
        <p:spPr>
          <a:xfrm>
            <a:off x="2186640" y="344736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Shape 39"/>
          <p:cNvSpPr/>
          <p:nvPr/>
        </p:nvSpPr>
        <p:spPr>
          <a:xfrm>
            <a:off x="2813760" y="3447360"/>
            <a:ext cx="498600" cy="374400"/>
          </a:xfrm>
          <a:prstGeom prst="ellipse">
            <a:avLst/>
          </a:prstGeom>
          <a:solidFill>
            <a:srgbClr val="E76F51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40"/>
          <p:cNvSpPr/>
          <p:nvPr/>
        </p:nvSpPr>
        <p:spPr>
          <a:xfrm>
            <a:off x="3440880" y="3447360"/>
            <a:ext cx="498600" cy="3744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Shape 41"/>
          <p:cNvSpPr/>
          <p:nvPr/>
        </p:nvSpPr>
        <p:spPr>
          <a:xfrm>
            <a:off x="4067640" y="344736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42"/>
          <p:cNvSpPr/>
          <p:nvPr/>
        </p:nvSpPr>
        <p:spPr>
          <a:xfrm>
            <a:off x="4694760" y="344736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43"/>
          <p:cNvSpPr/>
          <p:nvPr/>
        </p:nvSpPr>
        <p:spPr>
          <a:xfrm>
            <a:off x="932760" y="39502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44"/>
          <p:cNvSpPr/>
          <p:nvPr/>
        </p:nvSpPr>
        <p:spPr>
          <a:xfrm>
            <a:off x="1559880" y="3950280"/>
            <a:ext cx="498600" cy="3744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Shape 45"/>
          <p:cNvSpPr/>
          <p:nvPr/>
        </p:nvSpPr>
        <p:spPr>
          <a:xfrm>
            <a:off x="2186640" y="3950280"/>
            <a:ext cx="498600" cy="3744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Shape 46"/>
          <p:cNvSpPr/>
          <p:nvPr/>
        </p:nvSpPr>
        <p:spPr>
          <a:xfrm>
            <a:off x="2813760" y="3950280"/>
            <a:ext cx="498600" cy="374400"/>
          </a:xfrm>
          <a:prstGeom prst="ellipse">
            <a:avLst/>
          </a:prstGeom>
          <a:solidFill>
            <a:srgbClr val="E76F51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Shape 47"/>
          <p:cNvSpPr/>
          <p:nvPr/>
        </p:nvSpPr>
        <p:spPr>
          <a:xfrm>
            <a:off x="3440880" y="3950280"/>
            <a:ext cx="498600" cy="374400"/>
          </a:xfrm>
          <a:prstGeom prst="ellipse">
            <a:avLst/>
          </a:prstGeom>
          <a:solidFill>
            <a:srgbClr val="F2B84B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Shape 48"/>
          <p:cNvSpPr/>
          <p:nvPr/>
        </p:nvSpPr>
        <p:spPr>
          <a:xfrm>
            <a:off x="4067640" y="3950280"/>
            <a:ext cx="498600" cy="374400"/>
          </a:xfrm>
          <a:prstGeom prst="ellipse">
            <a:avLst/>
          </a:prstGeom>
          <a:solidFill>
            <a:srgbClr val="E76F51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49"/>
          <p:cNvSpPr/>
          <p:nvPr/>
        </p:nvSpPr>
        <p:spPr>
          <a:xfrm>
            <a:off x="4694760" y="3950280"/>
            <a:ext cx="498600" cy="374400"/>
          </a:xfrm>
          <a:prstGeom prst="ellipse">
            <a:avLst/>
          </a:prstGeom>
          <a:solidFill>
            <a:srgbClr val="F4F1DE"/>
          </a:solidFill>
          <a:ln w="635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Text 50"/>
          <p:cNvSpPr/>
          <p:nvPr/>
        </p:nvSpPr>
        <p:spPr>
          <a:xfrm>
            <a:off x="868680" y="448056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Feature: center column + diagonal threat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Shape 51"/>
          <p:cNvSpPr/>
          <p:nvPr/>
        </p:nvSpPr>
        <p:spPr>
          <a:xfrm>
            <a:off x="5486400" y="1417320"/>
            <a:ext cx="5211720" cy="2148480"/>
          </a:xfrm>
          <a:prstGeom prst="roundRect">
            <a:avLst>
              <a:gd name="adj" fmla="val 255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52"/>
          <p:cNvSpPr/>
          <p:nvPr/>
        </p:nvSpPr>
        <p:spPr>
          <a:xfrm>
            <a:off x="5486400" y="1417320"/>
            <a:ext cx="72720" cy="21484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2" name="Text 53"/>
          <p:cNvSpPr/>
          <p:nvPr/>
        </p:nvSpPr>
        <p:spPr>
          <a:xfrm>
            <a:off x="5650920" y="154548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Possible features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Text 54"/>
          <p:cNvSpPr/>
          <p:nvPr/>
        </p:nvSpPr>
        <p:spPr>
          <a:xfrm>
            <a:off x="5650920" y="1892880"/>
            <a:ext cx="4919040" cy="15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+100 for four in a row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+10 for three plus empty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+3 for two plus two empty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+3 for center column control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-80 for opponent immediate win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55"/>
          <p:cNvSpPr/>
          <p:nvPr/>
        </p:nvSpPr>
        <p:spPr>
          <a:xfrm>
            <a:off x="5486400" y="3931920"/>
            <a:ext cx="5211720" cy="1096920"/>
          </a:xfrm>
          <a:prstGeom prst="roundRect">
            <a:avLst>
              <a:gd name="adj" fmla="val 5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56"/>
          <p:cNvSpPr/>
          <p:nvPr/>
        </p:nvSpPr>
        <p:spPr>
          <a:xfrm>
            <a:off x="5486400" y="3931920"/>
            <a:ext cx="72720" cy="10969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6" name="Text 57"/>
          <p:cNvSpPr/>
          <p:nvPr/>
        </p:nvSpPr>
        <p:spPr>
          <a:xfrm>
            <a:off x="5650920" y="406008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it works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58"/>
          <p:cNvSpPr/>
          <p:nvPr/>
        </p:nvSpPr>
        <p:spPr>
          <a:xfrm>
            <a:off x="5650920" y="4407480"/>
            <a:ext cx="4919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heuristic scores local patterns that are likely to become wins before the full game is searched.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Quiescence Search: Do Not Evaluate During a Storm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Cut off only when the position is stable enough to estimate.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7"/>
          <p:cNvSpPr/>
          <p:nvPr/>
        </p:nvSpPr>
        <p:spPr>
          <a:xfrm>
            <a:off x="8686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Non-quiescent state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10"/>
          <p:cNvSpPr/>
          <p:nvPr/>
        </p:nvSpPr>
        <p:spPr>
          <a:xfrm>
            <a:off x="10332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volatile position where a capture, forced win, or tactical swing is pending.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11"/>
          <p:cNvSpPr/>
          <p:nvPr/>
        </p:nvSpPr>
        <p:spPr>
          <a:xfrm>
            <a:off x="45262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Quiescent state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Text 14"/>
          <p:cNvSpPr/>
          <p:nvPr/>
        </p:nvSpPr>
        <p:spPr>
          <a:xfrm>
            <a:off x="46908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stable position where immediate tactics are not likely to wildly change the evaluation.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Shape 15"/>
          <p:cNvSpPr/>
          <p:nvPr/>
        </p:nvSpPr>
        <p:spPr>
          <a:xfrm>
            <a:off x="8183880" y="1417320"/>
            <a:ext cx="27428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Search extension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Text 18"/>
          <p:cNvSpPr/>
          <p:nvPr/>
        </p:nvSpPr>
        <p:spPr>
          <a:xfrm>
            <a:off x="8348400" y="1892880"/>
            <a:ext cx="2450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the cutoff position is volatile, search only relevant tactical moves until stability.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Shape 19"/>
          <p:cNvSpPr/>
          <p:nvPr/>
        </p:nvSpPr>
        <p:spPr>
          <a:xfrm>
            <a:off x="1188720" y="4343400"/>
            <a:ext cx="960084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20"/>
          <p:cNvSpPr/>
          <p:nvPr/>
        </p:nvSpPr>
        <p:spPr>
          <a:xfrm>
            <a:off x="1463040" y="4572000"/>
            <a:ext cx="90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Never ask the scoreboard during the explosion.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Text 21"/>
          <p:cNvSpPr/>
          <p:nvPr/>
        </p:nvSpPr>
        <p:spPr>
          <a:xfrm>
            <a:off x="1508760" y="4846320"/>
            <a:ext cx="896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Wait until the tactical smoke clears.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The Horizon Effect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fixed search depth can hide inevitable damage just beyond the cutoff.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Shape 7"/>
          <p:cNvSpPr/>
          <p:nvPr/>
        </p:nvSpPr>
        <p:spPr>
          <a:xfrm>
            <a:off x="749880" y="1207080"/>
            <a:ext cx="4992120" cy="4077720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8" name="Image 0" descr="/mnt/data/ch5_assets/fig_5_9_horizon_effect.png"/>
          <p:cNvPicPr/>
          <p:nvPr/>
        </p:nvPicPr>
        <p:blipFill>
          <a:blip r:embed="rId1"/>
          <a:stretch/>
        </p:blipFill>
        <p:spPr>
          <a:xfrm>
            <a:off x="777240" y="1372680"/>
            <a:ext cx="4937400" cy="374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9" name="Text 8"/>
          <p:cNvSpPr/>
          <p:nvPr/>
        </p:nvSpPr>
        <p:spPr>
          <a:xfrm>
            <a:off x="777240" y="53125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5.9: horizon effect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Shape 9"/>
          <p:cNvSpPr/>
          <p:nvPr/>
        </p:nvSpPr>
        <p:spPr>
          <a:xfrm>
            <a:off x="6080760" y="1417320"/>
            <a:ext cx="4388760" cy="1462680"/>
          </a:xfrm>
          <a:prstGeom prst="roundRect">
            <a:avLst>
              <a:gd name="adj" fmla="val 375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10"/>
          <p:cNvSpPr/>
          <p:nvPr/>
        </p:nvSpPr>
        <p:spPr>
          <a:xfrm>
            <a:off x="6080760" y="1417320"/>
            <a:ext cx="72720" cy="1462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Text 11"/>
          <p:cNvSpPr/>
          <p:nvPr/>
        </p:nvSpPr>
        <p:spPr>
          <a:xfrm>
            <a:off x="6245280" y="15454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Problem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12"/>
          <p:cNvSpPr/>
          <p:nvPr/>
        </p:nvSpPr>
        <p:spPr>
          <a:xfrm>
            <a:off x="6245280" y="1892880"/>
            <a:ext cx="4096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agent finds delaying moves that push a loss beyond the search horizon, making bad moves look good.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13"/>
          <p:cNvSpPr/>
          <p:nvPr/>
        </p:nvSpPr>
        <p:spPr>
          <a:xfrm>
            <a:off x="6080760" y="3246120"/>
            <a:ext cx="4388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Shape 14"/>
          <p:cNvSpPr/>
          <p:nvPr/>
        </p:nvSpPr>
        <p:spPr>
          <a:xfrm>
            <a:off x="6080760" y="3246120"/>
            <a:ext cx="72720" cy="12340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Text 15"/>
          <p:cNvSpPr/>
          <p:nvPr/>
        </p:nvSpPr>
        <p:spPr>
          <a:xfrm>
            <a:off x="6245280" y="33742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Chess example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16"/>
          <p:cNvSpPr/>
          <p:nvPr/>
        </p:nvSpPr>
        <p:spPr>
          <a:xfrm>
            <a:off x="6245280" y="3721680"/>
            <a:ext cx="4096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doomed bishop may be temporarily protected by pawn checks, but the loss is only postponed.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17"/>
          <p:cNvSpPr/>
          <p:nvPr/>
        </p:nvSpPr>
        <p:spPr>
          <a:xfrm>
            <a:off x="6080760" y="4800600"/>
            <a:ext cx="4388760" cy="914040"/>
          </a:xfrm>
          <a:prstGeom prst="roundRect">
            <a:avLst>
              <a:gd name="adj" fmla="val 6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18"/>
          <p:cNvSpPr/>
          <p:nvPr/>
        </p:nvSpPr>
        <p:spPr>
          <a:xfrm>
            <a:off x="6080760" y="4800600"/>
            <a:ext cx="72720" cy="9140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 19"/>
          <p:cNvSpPr/>
          <p:nvPr/>
        </p:nvSpPr>
        <p:spPr>
          <a:xfrm>
            <a:off x="6245280" y="49287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Mitigation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20"/>
          <p:cNvSpPr/>
          <p:nvPr/>
        </p:nvSpPr>
        <p:spPr>
          <a:xfrm>
            <a:off x="6245280" y="5276160"/>
            <a:ext cx="4096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Use quiescence search, singular extensions, and better evaluation of threats.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Evaluation Functions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Singular Extensions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Search deeper when one move is clearly forcing.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Shape 7"/>
          <p:cNvSpPr/>
          <p:nvPr/>
        </p:nvSpPr>
        <p:spPr>
          <a:xfrm>
            <a:off x="868680" y="1417320"/>
            <a:ext cx="320004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Shape 8"/>
          <p:cNvSpPr/>
          <p:nvPr/>
        </p:nvSpPr>
        <p:spPr>
          <a:xfrm>
            <a:off x="868680" y="1417320"/>
            <a:ext cx="72720" cy="16455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Text 9"/>
          <p:cNvSpPr/>
          <p:nvPr/>
        </p:nvSpPr>
        <p:spPr>
          <a:xfrm>
            <a:off x="1033200" y="154548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Normal cutoff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10"/>
          <p:cNvSpPr/>
          <p:nvPr/>
        </p:nvSpPr>
        <p:spPr>
          <a:xfrm>
            <a:off x="1033200" y="1892880"/>
            <a:ext cx="29073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Stop at depth d and call EVAL.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Shape 11"/>
          <p:cNvSpPr/>
          <p:nvPr/>
        </p:nvSpPr>
        <p:spPr>
          <a:xfrm>
            <a:off x="4434840" y="1417320"/>
            <a:ext cx="3200040" cy="1645560"/>
          </a:xfrm>
          <a:prstGeom prst="roundRect">
            <a:avLst>
              <a:gd name="adj" fmla="val 3333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Shape 12"/>
          <p:cNvSpPr/>
          <p:nvPr/>
        </p:nvSpPr>
        <p:spPr>
          <a:xfrm>
            <a:off x="4434840" y="1417320"/>
            <a:ext cx="72720" cy="1645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13"/>
          <p:cNvSpPr/>
          <p:nvPr/>
        </p:nvSpPr>
        <p:spPr>
          <a:xfrm>
            <a:off x="4599360" y="154548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Singular situation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14"/>
          <p:cNvSpPr/>
          <p:nvPr/>
        </p:nvSpPr>
        <p:spPr>
          <a:xfrm>
            <a:off x="4599360" y="1892880"/>
            <a:ext cx="29073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One move is clearly better or forced, so the line deserves extra depth.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Shape 15"/>
          <p:cNvSpPr/>
          <p:nvPr/>
        </p:nvSpPr>
        <p:spPr>
          <a:xfrm>
            <a:off x="8001000" y="1417320"/>
            <a:ext cx="310860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Shape 16"/>
          <p:cNvSpPr/>
          <p:nvPr/>
        </p:nvSpPr>
        <p:spPr>
          <a:xfrm>
            <a:off x="8001000" y="1417320"/>
            <a:ext cx="72720" cy="16455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Purpose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18"/>
          <p:cNvSpPr/>
          <p:nvPr/>
        </p:nvSpPr>
        <p:spPr>
          <a:xfrm>
            <a:off x="8165520" y="1892880"/>
            <a:ext cx="28159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Expose tactics that would otherwise be hidden just beyond the horizon.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19"/>
          <p:cNvSpPr/>
          <p:nvPr/>
        </p:nvSpPr>
        <p:spPr>
          <a:xfrm>
            <a:off x="1143000" y="4069080"/>
            <a:ext cx="9875160" cy="73116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Rule of thumb: spend extra search only where the position screams “look deeper here.”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Forward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Forward Pruning: Fast but Risky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Unlike alpha-beta, forward pruning can remove the best move by mistake.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Shape 7"/>
          <p:cNvSpPr/>
          <p:nvPr/>
        </p:nvSpPr>
        <p:spPr>
          <a:xfrm>
            <a:off x="868680" y="141732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Shape 8"/>
          <p:cNvSpPr/>
          <p:nvPr/>
        </p:nvSpPr>
        <p:spPr>
          <a:xfrm>
            <a:off x="868680" y="1417320"/>
            <a:ext cx="72720" cy="1919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Alpha-beta pruning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Text 10"/>
          <p:cNvSpPr/>
          <p:nvPr/>
        </p:nvSpPr>
        <p:spPr>
          <a:xfrm>
            <a:off x="1033200" y="189288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Safe: removes branches that cannot affect the minimax value.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Shape 11"/>
          <p:cNvSpPr/>
          <p:nvPr/>
        </p:nvSpPr>
        <p:spPr>
          <a:xfrm>
            <a:off x="4526280" y="141732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12"/>
          <p:cNvSpPr/>
          <p:nvPr/>
        </p:nvSpPr>
        <p:spPr>
          <a:xfrm>
            <a:off x="4526280" y="1417320"/>
            <a:ext cx="72720" cy="1919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Forward pruning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14"/>
          <p:cNvSpPr/>
          <p:nvPr/>
        </p:nvSpPr>
        <p:spPr>
          <a:xfrm>
            <a:off x="4690800" y="189288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Risky: removes moves that look poor before proving they are irrelevant.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Shape 15"/>
          <p:cNvSpPr/>
          <p:nvPr/>
        </p:nvSpPr>
        <p:spPr>
          <a:xfrm>
            <a:off x="8183880" y="1417320"/>
            <a:ext cx="274284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Shape 16"/>
          <p:cNvSpPr/>
          <p:nvPr/>
        </p:nvSpPr>
        <p:spPr>
          <a:xfrm>
            <a:off x="8183880" y="1417320"/>
            <a:ext cx="72720" cy="1919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Beam search example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Text 18"/>
          <p:cNvSpPr/>
          <p:nvPr/>
        </p:nvSpPr>
        <p:spPr>
          <a:xfrm>
            <a:off x="8348400" y="1892880"/>
            <a:ext cx="24501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Only search the top n moves by evaluation at each ply. Efficient, but may prune a hidden tactic.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Shape 19"/>
          <p:cNvSpPr/>
          <p:nvPr/>
        </p:nvSpPr>
        <p:spPr>
          <a:xfrm>
            <a:off x="1143000" y="4389120"/>
            <a:ext cx="987516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Text 20"/>
          <p:cNvSpPr/>
          <p:nvPr/>
        </p:nvSpPr>
        <p:spPr>
          <a:xfrm>
            <a:off x="1417320" y="461772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Forward pruning buys speed with a possibility of error.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21"/>
          <p:cNvSpPr/>
          <p:nvPr/>
        </p:nvSpPr>
        <p:spPr>
          <a:xfrm>
            <a:off x="1463040" y="4892040"/>
            <a:ext cx="92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This is Shannon Type B search.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Forward Pruning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PROBCUT and Late Move Reduction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Practical engines balance risk and speed.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Shape 7"/>
          <p:cNvSpPr/>
          <p:nvPr/>
        </p:nvSpPr>
        <p:spPr>
          <a:xfrm>
            <a:off x="868680" y="1417320"/>
            <a:ext cx="3565800" cy="2285640"/>
          </a:xfrm>
          <a:prstGeom prst="roundRect">
            <a:avLst>
              <a:gd name="adj" fmla="val 24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Shape 8"/>
          <p:cNvSpPr/>
          <p:nvPr/>
        </p:nvSpPr>
        <p:spPr>
          <a:xfrm>
            <a:off x="868680" y="1417320"/>
            <a:ext cx="72720" cy="2285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 9"/>
          <p:cNvSpPr/>
          <p:nvPr/>
        </p:nvSpPr>
        <p:spPr>
          <a:xfrm>
            <a:off x="1033200" y="1545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PROBCUT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Text 10"/>
          <p:cNvSpPr/>
          <p:nvPr/>
        </p:nvSpPr>
        <p:spPr>
          <a:xfrm>
            <a:off x="1033200" y="1892880"/>
            <a:ext cx="327312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Do a shallow search and use past statistics to estimate whether deeper search is unlikely to matter.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Shape 11"/>
          <p:cNvSpPr/>
          <p:nvPr/>
        </p:nvSpPr>
        <p:spPr>
          <a:xfrm>
            <a:off x="4617720" y="1417320"/>
            <a:ext cx="3565800" cy="2285640"/>
          </a:xfrm>
          <a:prstGeom prst="roundRect">
            <a:avLst>
              <a:gd name="adj" fmla="val 24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Shape 12"/>
          <p:cNvSpPr/>
          <p:nvPr/>
        </p:nvSpPr>
        <p:spPr>
          <a:xfrm>
            <a:off x="4617720" y="1417320"/>
            <a:ext cx="72720" cy="2285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13"/>
          <p:cNvSpPr/>
          <p:nvPr/>
        </p:nvSpPr>
        <p:spPr>
          <a:xfrm>
            <a:off x="4782240" y="1545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Late Move Reduction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Text 14"/>
          <p:cNvSpPr/>
          <p:nvPr/>
        </p:nvSpPr>
        <p:spPr>
          <a:xfrm>
            <a:off x="4782240" y="1892880"/>
            <a:ext cx="327312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move ordering is good, later moves are less likely to be best. Search them to reduced depth first.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Shape 15"/>
          <p:cNvSpPr/>
          <p:nvPr/>
        </p:nvSpPr>
        <p:spPr>
          <a:xfrm>
            <a:off x="8366760" y="1417320"/>
            <a:ext cx="2742840" cy="2285640"/>
          </a:xfrm>
          <a:prstGeom prst="roundRect">
            <a:avLst>
              <a:gd name="adj" fmla="val 24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Shape 16"/>
          <p:cNvSpPr/>
          <p:nvPr/>
        </p:nvSpPr>
        <p:spPr>
          <a:xfrm>
            <a:off x="8366760" y="1417320"/>
            <a:ext cx="72720" cy="22856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17"/>
          <p:cNvSpPr/>
          <p:nvPr/>
        </p:nvSpPr>
        <p:spPr>
          <a:xfrm>
            <a:off x="853128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Recovery mechanism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Text 18"/>
          <p:cNvSpPr/>
          <p:nvPr/>
        </p:nvSpPr>
        <p:spPr>
          <a:xfrm>
            <a:off x="8531280" y="1892880"/>
            <a:ext cx="245016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a reduced-depth search looks promising, rerun it with full depth.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Text 19"/>
          <p:cNvSpPr/>
          <p:nvPr/>
        </p:nvSpPr>
        <p:spPr>
          <a:xfrm>
            <a:off x="1143000" y="4480560"/>
            <a:ext cx="9920880" cy="73116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Modern search engines are not pure textbook minimax; they are engineered systems full of safe and risky accelerations.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Monte Carlo Tree Search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Estimate move quality by building a partial tree through repeated simulated play.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selection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Walk toward promising or underexplored nodes.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simulation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Play to the end to sample an outcome.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backpropagation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Update statistics along the path.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9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Monte Carlo Tree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MCTS Motivation: When Evaluation Is Hard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Estimate values by playing many fast games to the end.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Shape 7"/>
          <p:cNvSpPr/>
          <p:nvPr/>
        </p:nvSpPr>
        <p:spPr>
          <a:xfrm>
            <a:off x="868680" y="141732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Shape 8"/>
          <p:cNvSpPr/>
          <p:nvPr/>
        </p:nvSpPr>
        <p:spPr>
          <a:xfrm>
            <a:off x="868680" y="1417320"/>
            <a:ext cx="72720" cy="1919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Problem with Go-like games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 10"/>
          <p:cNvSpPr/>
          <p:nvPr/>
        </p:nvSpPr>
        <p:spPr>
          <a:xfrm>
            <a:off x="1033200" y="189288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Huge branching factor and subtle board influence make hand-crafted evaluation difficult.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Shape 11"/>
          <p:cNvSpPr/>
          <p:nvPr/>
        </p:nvSpPr>
        <p:spPr>
          <a:xfrm>
            <a:off x="4526280" y="141732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Shape 12"/>
          <p:cNvSpPr/>
          <p:nvPr/>
        </p:nvSpPr>
        <p:spPr>
          <a:xfrm>
            <a:off x="4526280" y="141732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MCTS idea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 14"/>
          <p:cNvSpPr/>
          <p:nvPr/>
        </p:nvSpPr>
        <p:spPr>
          <a:xfrm>
            <a:off x="4690800" y="189288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Instead of expert scoring, simulate many playouts and use observed win rates.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Shape 15"/>
          <p:cNvSpPr/>
          <p:nvPr/>
        </p:nvSpPr>
        <p:spPr>
          <a:xfrm>
            <a:off x="8183880" y="1417320"/>
            <a:ext cx="2742840" cy="1919880"/>
          </a:xfrm>
          <a:prstGeom prst="roundRect">
            <a:avLst>
              <a:gd name="adj" fmla="val 285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Shape 16"/>
          <p:cNvSpPr/>
          <p:nvPr/>
        </p:nvSpPr>
        <p:spPr>
          <a:xfrm>
            <a:off x="8183880" y="1417320"/>
            <a:ext cx="72720" cy="1919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Anytime behavior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Text 18"/>
          <p:cNvSpPr/>
          <p:nvPr/>
        </p:nvSpPr>
        <p:spPr>
          <a:xfrm>
            <a:off x="8348400" y="1892880"/>
            <a:ext cx="24501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longer it runs, the better its statistics become; it can return a move when time expires.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Shape 19"/>
          <p:cNvSpPr/>
          <p:nvPr/>
        </p:nvSpPr>
        <p:spPr>
          <a:xfrm>
            <a:off x="1097280" y="4389120"/>
            <a:ext cx="996660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Text 20"/>
          <p:cNvSpPr/>
          <p:nvPr/>
        </p:nvSpPr>
        <p:spPr>
          <a:xfrm>
            <a:off x="1371600" y="4617720"/>
            <a:ext cx="9417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If you cannot evaluate the position, try living many possible futures.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Text 21"/>
          <p:cNvSpPr/>
          <p:nvPr/>
        </p:nvSpPr>
        <p:spPr>
          <a:xfrm>
            <a:off x="1417320" y="4892040"/>
            <a:ext cx="93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MCTS learns from simulated experience.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Monte Carlo Tree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The Four-Step MCTS Loop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Selection, expansion, simulation, backpropagation.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Shape 7"/>
          <p:cNvSpPr/>
          <p:nvPr/>
        </p:nvSpPr>
        <p:spPr>
          <a:xfrm>
            <a:off x="3108960" y="2103120"/>
            <a:ext cx="3566160" cy="360"/>
          </a:xfrm>
          <a:prstGeom prst="line">
            <a:avLst/>
          </a:prstGeom>
          <a:ln w="2032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Shape 8"/>
          <p:cNvSpPr/>
          <p:nvPr/>
        </p:nvSpPr>
        <p:spPr>
          <a:xfrm flipH="1">
            <a:off x="6675120" y="2103120"/>
            <a:ext cx="1645920" cy="2423160"/>
          </a:xfrm>
          <a:prstGeom prst="line">
            <a:avLst/>
          </a:prstGeom>
          <a:ln w="2032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Shape 9"/>
          <p:cNvSpPr/>
          <p:nvPr/>
        </p:nvSpPr>
        <p:spPr>
          <a:xfrm flipH="1">
            <a:off x="1463040" y="4526280"/>
            <a:ext cx="6858000" cy="360"/>
          </a:xfrm>
          <a:prstGeom prst="line">
            <a:avLst/>
          </a:prstGeom>
          <a:ln w="2032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Shape 10"/>
          <p:cNvSpPr/>
          <p:nvPr/>
        </p:nvSpPr>
        <p:spPr>
          <a:xfrm flipH="1" flipV="1">
            <a:off x="1463040" y="2103120"/>
            <a:ext cx="1645920" cy="2423160"/>
          </a:xfrm>
          <a:prstGeom prst="line">
            <a:avLst/>
          </a:prstGeom>
          <a:ln w="2032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Shape 11"/>
          <p:cNvSpPr/>
          <p:nvPr/>
        </p:nvSpPr>
        <p:spPr>
          <a:xfrm>
            <a:off x="1188720" y="1600200"/>
            <a:ext cx="3565800" cy="1142640"/>
          </a:xfrm>
          <a:prstGeom prst="roundRect">
            <a:avLst>
              <a:gd name="adj" fmla="val 48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Shape 12"/>
          <p:cNvSpPr/>
          <p:nvPr/>
        </p:nvSpPr>
        <p:spPr>
          <a:xfrm>
            <a:off x="1188720" y="1600200"/>
            <a:ext cx="72720" cy="11426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Text 13"/>
          <p:cNvSpPr/>
          <p:nvPr/>
        </p:nvSpPr>
        <p:spPr>
          <a:xfrm>
            <a:off x="1353240" y="172836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1. Selection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Text 14"/>
          <p:cNvSpPr/>
          <p:nvPr/>
        </p:nvSpPr>
        <p:spPr>
          <a:xfrm>
            <a:off x="1353240" y="2075760"/>
            <a:ext cx="3273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Follow the tree using a rule like UCB/UCT.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Shape 15"/>
          <p:cNvSpPr/>
          <p:nvPr/>
        </p:nvSpPr>
        <p:spPr>
          <a:xfrm>
            <a:off x="6400800" y="1600200"/>
            <a:ext cx="3565800" cy="1142640"/>
          </a:xfrm>
          <a:prstGeom prst="roundRect">
            <a:avLst>
              <a:gd name="adj" fmla="val 48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Shape 16"/>
          <p:cNvSpPr/>
          <p:nvPr/>
        </p:nvSpPr>
        <p:spPr>
          <a:xfrm>
            <a:off x="6400800" y="1600200"/>
            <a:ext cx="72720" cy="11426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Text 17"/>
          <p:cNvSpPr/>
          <p:nvPr/>
        </p:nvSpPr>
        <p:spPr>
          <a:xfrm>
            <a:off x="6565320" y="172836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2. Expansion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 18"/>
          <p:cNvSpPr/>
          <p:nvPr/>
        </p:nvSpPr>
        <p:spPr>
          <a:xfrm>
            <a:off x="6565320" y="2075760"/>
            <a:ext cx="3273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Add one or more new child nodes.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Shape 19"/>
          <p:cNvSpPr/>
          <p:nvPr/>
        </p:nvSpPr>
        <p:spPr>
          <a:xfrm>
            <a:off x="6400800" y="4023360"/>
            <a:ext cx="3565800" cy="1142640"/>
          </a:xfrm>
          <a:prstGeom prst="roundRect">
            <a:avLst>
              <a:gd name="adj" fmla="val 48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Shape 20"/>
          <p:cNvSpPr/>
          <p:nvPr/>
        </p:nvSpPr>
        <p:spPr>
          <a:xfrm>
            <a:off x="6400800" y="4023360"/>
            <a:ext cx="72720" cy="1142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4" name="Text 21"/>
          <p:cNvSpPr/>
          <p:nvPr/>
        </p:nvSpPr>
        <p:spPr>
          <a:xfrm>
            <a:off x="6565320" y="415152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3. Simulation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 22"/>
          <p:cNvSpPr/>
          <p:nvPr/>
        </p:nvSpPr>
        <p:spPr>
          <a:xfrm>
            <a:off x="6565320" y="4498920"/>
            <a:ext cx="3273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Run a playout to a terminal result.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Shape 23"/>
          <p:cNvSpPr/>
          <p:nvPr/>
        </p:nvSpPr>
        <p:spPr>
          <a:xfrm>
            <a:off x="1188720" y="4023360"/>
            <a:ext cx="3565800" cy="1142640"/>
          </a:xfrm>
          <a:prstGeom prst="roundRect">
            <a:avLst>
              <a:gd name="adj" fmla="val 48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Shape 24"/>
          <p:cNvSpPr/>
          <p:nvPr/>
        </p:nvSpPr>
        <p:spPr>
          <a:xfrm>
            <a:off x="1188720" y="4023360"/>
            <a:ext cx="72720" cy="1142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8" name="Text 25"/>
          <p:cNvSpPr/>
          <p:nvPr/>
        </p:nvSpPr>
        <p:spPr>
          <a:xfrm>
            <a:off x="1353240" y="415152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4. Backpropagation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Text 26"/>
          <p:cNvSpPr/>
          <p:nvPr/>
        </p:nvSpPr>
        <p:spPr>
          <a:xfrm>
            <a:off x="1353240" y="4498920"/>
            <a:ext cx="32731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Update win/visit counts along the path.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Text 27"/>
          <p:cNvSpPr/>
          <p:nvPr/>
        </p:nvSpPr>
        <p:spPr>
          <a:xfrm>
            <a:off x="1280160" y="5669280"/>
            <a:ext cx="9692280" cy="50256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Repeat until time runs out; choose the move with the best visit/win statistics.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Monte Carlo Tree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MCTS Visual: One Iteration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simulated game result updates the path back to the root.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Shape 7"/>
          <p:cNvSpPr/>
          <p:nvPr/>
        </p:nvSpPr>
        <p:spPr>
          <a:xfrm>
            <a:off x="612720" y="1115640"/>
            <a:ext cx="6546600" cy="4306320"/>
          </a:xfrm>
          <a:prstGeom prst="roundRect">
            <a:avLst>
              <a:gd name="adj" fmla="val 849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9" name="Image 0" descr="/mnt/data/ch5_assets/fig_5_10_mcts_iteration.png"/>
          <p:cNvPicPr/>
          <p:nvPr/>
        </p:nvPicPr>
        <p:blipFill>
          <a:blip r:embed="rId1"/>
          <a:stretch/>
        </p:blipFill>
        <p:spPr>
          <a:xfrm>
            <a:off x="640080" y="1431720"/>
            <a:ext cx="6491880" cy="367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0" name="Text 8"/>
          <p:cNvSpPr/>
          <p:nvPr/>
        </p:nvSpPr>
        <p:spPr>
          <a:xfrm>
            <a:off x="640080" y="544968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5.10: MCTS selection, simulation, backpropagation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Shape 9"/>
          <p:cNvSpPr/>
          <p:nvPr/>
        </p:nvSpPr>
        <p:spPr>
          <a:xfrm>
            <a:off x="7452360" y="1417320"/>
            <a:ext cx="3520080" cy="1279800"/>
          </a:xfrm>
          <a:prstGeom prst="roundRect">
            <a:avLst>
              <a:gd name="adj" fmla="val 4286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Shape 10"/>
          <p:cNvSpPr/>
          <p:nvPr/>
        </p:nvSpPr>
        <p:spPr>
          <a:xfrm>
            <a:off x="7452360" y="1417320"/>
            <a:ext cx="72720" cy="127980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3" name="Text 11"/>
          <p:cNvSpPr/>
          <p:nvPr/>
        </p:nvSpPr>
        <p:spPr>
          <a:xfrm>
            <a:off x="7616880" y="154548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Read the counts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 12"/>
          <p:cNvSpPr/>
          <p:nvPr/>
        </p:nvSpPr>
        <p:spPr>
          <a:xfrm>
            <a:off x="7616880" y="1892880"/>
            <a:ext cx="3227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node labeled 27/35 means 27 wins from 35 playouts. Counts guide future selection.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Shape 13"/>
          <p:cNvSpPr/>
          <p:nvPr/>
        </p:nvSpPr>
        <p:spPr>
          <a:xfrm>
            <a:off x="7452360" y="3063240"/>
            <a:ext cx="3520080" cy="1096920"/>
          </a:xfrm>
          <a:prstGeom prst="roundRect">
            <a:avLst>
              <a:gd name="adj" fmla="val 5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Shape 14"/>
          <p:cNvSpPr/>
          <p:nvPr/>
        </p:nvSpPr>
        <p:spPr>
          <a:xfrm>
            <a:off x="7452360" y="3063240"/>
            <a:ext cx="72720" cy="10969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 15"/>
          <p:cNvSpPr/>
          <p:nvPr/>
        </p:nvSpPr>
        <p:spPr>
          <a:xfrm>
            <a:off x="7616880" y="319140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Backpropagation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 16"/>
          <p:cNvSpPr/>
          <p:nvPr/>
        </p:nvSpPr>
        <p:spPr>
          <a:xfrm>
            <a:off x="7616880" y="3538800"/>
            <a:ext cx="3227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After a rollout ends, every node on the selected path gets updated.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Shape 17"/>
          <p:cNvSpPr/>
          <p:nvPr/>
        </p:nvSpPr>
        <p:spPr>
          <a:xfrm>
            <a:off x="7452360" y="4526280"/>
            <a:ext cx="3520080" cy="822600"/>
          </a:xfrm>
          <a:prstGeom prst="roundRect">
            <a:avLst>
              <a:gd name="adj" fmla="val 666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Shape 18"/>
          <p:cNvSpPr/>
          <p:nvPr/>
        </p:nvSpPr>
        <p:spPr>
          <a:xfrm>
            <a:off x="7452360" y="4526280"/>
            <a:ext cx="72720" cy="82260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 19"/>
          <p:cNvSpPr/>
          <p:nvPr/>
        </p:nvSpPr>
        <p:spPr>
          <a:xfrm>
            <a:off x="7616880" y="465444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Class prompt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 20"/>
          <p:cNvSpPr/>
          <p:nvPr/>
        </p:nvSpPr>
        <p:spPr>
          <a:xfrm>
            <a:off x="7616880" y="5001840"/>
            <a:ext cx="322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Which node becomes more attractive after the black win is backed up?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Monte Carlo Tree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Selection: Exploration vs. Exploitation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UCT balances moves that look good with moves that need more evidence.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 7"/>
          <p:cNvSpPr/>
          <p:nvPr/>
        </p:nvSpPr>
        <p:spPr>
          <a:xfrm>
            <a:off x="822960" y="1417320"/>
            <a:ext cx="10515240" cy="68544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UCT(node) = win_rate + C * sqrt( ln(parent_visits) / node_visits 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Shape 8"/>
          <p:cNvSpPr/>
          <p:nvPr/>
        </p:nvSpPr>
        <p:spPr>
          <a:xfrm>
            <a:off x="868680" y="2743200"/>
            <a:ext cx="3474360" cy="1599840"/>
          </a:xfrm>
          <a:prstGeom prst="roundRect">
            <a:avLst>
              <a:gd name="adj" fmla="val 3429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Shape 9"/>
          <p:cNvSpPr/>
          <p:nvPr/>
        </p:nvSpPr>
        <p:spPr>
          <a:xfrm>
            <a:off x="868680" y="2743200"/>
            <a:ext cx="72720" cy="1599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 10"/>
          <p:cNvSpPr/>
          <p:nvPr/>
        </p:nvSpPr>
        <p:spPr>
          <a:xfrm>
            <a:off x="1033200" y="2871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Exploitation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 11"/>
          <p:cNvSpPr/>
          <p:nvPr/>
        </p:nvSpPr>
        <p:spPr>
          <a:xfrm>
            <a:off x="1033200" y="3218760"/>
            <a:ext cx="3181680" cy="10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Choose nodes with high observed win rates.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Shape 12"/>
          <p:cNvSpPr/>
          <p:nvPr/>
        </p:nvSpPr>
        <p:spPr>
          <a:xfrm>
            <a:off x="4526280" y="2743200"/>
            <a:ext cx="3474360" cy="1599840"/>
          </a:xfrm>
          <a:prstGeom prst="roundRect">
            <a:avLst>
              <a:gd name="adj" fmla="val 342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Shape 13"/>
          <p:cNvSpPr/>
          <p:nvPr/>
        </p:nvSpPr>
        <p:spPr>
          <a:xfrm>
            <a:off x="4526280" y="2743200"/>
            <a:ext cx="72720" cy="15998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Text 14"/>
          <p:cNvSpPr/>
          <p:nvPr/>
        </p:nvSpPr>
        <p:spPr>
          <a:xfrm>
            <a:off x="4690800" y="2871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Exploration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Text 15"/>
          <p:cNvSpPr/>
          <p:nvPr/>
        </p:nvSpPr>
        <p:spPr>
          <a:xfrm>
            <a:off x="4690800" y="3218760"/>
            <a:ext cx="3181680" cy="10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Try nodes with low visit counts because they might be underestimated.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Shape 16"/>
          <p:cNvSpPr/>
          <p:nvPr/>
        </p:nvSpPr>
        <p:spPr>
          <a:xfrm>
            <a:off x="8183880" y="2743200"/>
            <a:ext cx="2742840" cy="1599840"/>
          </a:xfrm>
          <a:prstGeom prst="roundRect">
            <a:avLst>
              <a:gd name="adj" fmla="val 342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Shape 17"/>
          <p:cNvSpPr/>
          <p:nvPr/>
        </p:nvSpPr>
        <p:spPr>
          <a:xfrm>
            <a:off x="8183880" y="2743200"/>
            <a:ext cx="72720" cy="15998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1" name="Text 18"/>
          <p:cNvSpPr/>
          <p:nvPr/>
        </p:nvSpPr>
        <p:spPr>
          <a:xfrm>
            <a:off x="8348400" y="28713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Tuning C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Text 19"/>
          <p:cNvSpPr/>
          <p:nvPr/>
        </p:nvSpPr>
        <p:spPr>
          <a:xfrm>
            <a:off x="8348400" y="3218760"/>
            <a:ext cx="2450160" cy="10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Higher C explores more; lower C exploits known good branches more aggressively.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 20"/>
          <p:cNvSpPr/>
          <p:nvPr/>
        </p:nvSpPr>
        <p:spPr>
          <a:xfrm>
            <a:off x="1143000" y="5074920"/>
            <a:ext cx="9829440" cy="50256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Teaching phrase: “Trust the scoreboard, but keep scouting unvisited territory.”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Monte Carlo Tree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Simulation/Rollout: Playing to the End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Rollouts convert an unknown state into a sampled outcome.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Shape 7"/>
          <p:cNvSpPr/>
          <p:nvPr/>
        </p:nvSpPr>
        <p:spPr>
          <a:xfrm>
            <a:off x="868680" y="1417320"/>
            <a:ext cx="329148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Text 9"/>
          <p:cNvSpPr/>
          <p:nvPr/>
        </p:nvSpPr>
        <p:spPr>
          <a:xfrm>
            <a:off x="103320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Random rollout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 10"/>
          <p:cNvSpPr/>
          <p:nvPr/>
        </p:nvSpPr>
        <p:spPr>
          <a:xfrm>
            <a:off x="1033200" y="1892880"/>
            <a:ext cx="299880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Choose legal moves randomly until terminal state. Easy, but noisy.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Shape 11"/>
          <p:cNvSpPr/>
          <p:nvPr/>
        </p:nvSpPr>
        <p:spPr>
          <a:xfrm>
            <a:off x="4434840" y="1417320"/>
            <a:ext cx="3291480" cy="1828440"/>
          </a:xfrm>
          <a:prstGeom prst="roundRect">
            <a:avLst>
              <a:gd name="adj" fmla="val 3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Shape 12"/>
          <p:cNvSpPr/>
          <p:nvPr/>
        </p:nvSpPr>
        <p:spPr>
          <a:xfrm>
            <a:off x="4434840" y="1417320"/>
            <a:ext cx="72720" cy="1828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Text 13"/>
          <p:cNvSpPr/>
          <p:nvPr/>
        </p:nvSpPr>
        <p:spPr>
          <a:xfrm>
            <a:off x="459936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Heuristic rollout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Text 14"/>
          <p:cNvSpPr/>
          <p:nvPr/>
        </p:nvSpPr>
        <p:spPr>
          <a:xfrm>
            <a:off x="4599360" y="1892880"/>
            <a:ext cx="299880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Use simple domain rules to make simulations more realistic.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Shape 15"/>
          <p:cNvSpPr/>
          <p:nvPr/>
        </p:nvSpPr>
        <p:spPr>
          <a:xfrm>
            <a:off x="8001000" y="1417320"/>
            <a:ext cx="310860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Shape 16"/>
          <p:cNvSpPr/>
          <p:nvPr/>
        </p:nvSpPr>
        <p:spPr>
          <a:xfrm>
            <a:off x="800100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1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Learned rollout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Text 18"/>
          <p:cNvSpPr/>
          <p:nvPr/>
        </p:nvSpPr>
        <p:spPr>
          <a:xfrm>
            <a:off x="8165520" y="1892880"/>
            <a:ext cx="281592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Use a model or policy network to guide moves, as in advanced systems.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Shape 19"/>
          <p:cNvSpPr/>
          <p:nvPr/>
        </p:nvSpPr>
        <p:spPr>
          <a:xfrm>
            <a:off x="1143000" y="4297680"/>
            <a:ext cx="987516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Text 20"/>
          <p:cNvSpPr/>
          <p:nvPr/>
        </p:nvSpPr>
        <p:spPr>
          <a:xfrm>
            <a:off x="1417320" y="452628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 rollout is a cheap imagined future.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Text 21"/>
          <p:cNvSpPr/>
          <p:nvPr/>
        </p:nvSpPr>
        <p:spPr>
          <a:xfrm>
            <a:off x="1463040" y="4800600"/>
            <a:ext cx="92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The value estimate is the average of many futures, not one story.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Monte Carlo Tree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Backpropagation: Updating the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Each simulation teaches every node on the selected path.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Shape 7"/>
          <p:cNvSpPr/>
          <p:nvPr/>
        </p:nvSpPr>
        <p:spPr>
          <a:xfrm>
            <a:off x="1417320" y="1691640"/>
            <a:ext cx="1828800" cy="82296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Shape 8"/>
          <p:cNvSpPr/>
          <p:nvPr/>
        </p:nvSpPr>
        <p:spPr>
          <a:xfrm>
            <a:off x="3246120" y="2514600"/>
            <a:ext cx="1828800" cy="73152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Shape 9"/>
          <p:cNvSpPr/>
          <p:nvPr/>
        </p:nvSpPr>
        <p:spPr>
          <a:xfrm>
            <a:off x="5074920" y="3246120"/>
            <a:ext cx="1828800" cy="82296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Text 10"/>
          <p:cNvSpPr/>
          <p:nvPr/>
        </p:nvSpPr>
        <p:spPr>
          <a:xfrm>
            <a:off x="1097280" y="1463040"/>
            <a:ext cx="712800" cy="712800"/>
          </a:xfrm>
          <a:prstGeom prst="rect">
            <a:avLst/>
          </a:prstGeom>
          <a:solidFill>
            <a:srgbClr val="E9E4F6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37/101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Text 11"/>
          <p:cNvSpPr/>
          <p:nvPr/>
        </p:nvSpPr>
        <p:spPr>
          <a:xfrm>
            <a:off x="2926080" y="2286000"/>
            <a:ext cx="71280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61/80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Text 12"/>
          <p:cNvSpPr/>
          <p:nvPr/>
        </p:nvSpPr>
        <p:spPr>
          <a:xfrm>
            <a:off x="4754880" y="3017520"/>
            <a:ext cx="71280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16/54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Text 13"/>
          <p:cNvSpPr/>
          <p:nvPr/>
        </p:nvSpPr>
        <p:spPr>
          <a:xfrm>
            <a:off x="6583680" y="3840480"/>
            <a:ext cx="712800" cy="712800"/>
          </a:xfrm>
          <a:prstGeom prst="rect">
            <a:avLst/>
          </a:prstGeom>
          <a:solidFill>
            <a:srgbClr val="F2B84B"/>
          </a:solidFill>
          <a:ln w="12700">
            <a:solidFill>
              <a:srgbClr val="005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0/1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Shape 14"/>
          <p:cNvSpPr/>
          <p:nvPr/>
        </p:nvSpPr>
        <p:spPr>
          <a:xfrm>
            <a:off x="7635240" y="1417320"/>
            <a:ext cx="3108600" cy="10969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Shape 15"/>
          <p:cNvSpPr/>
          <p:nvPr/>
        </p:nvSpPr>
        <p:spPr>
          <a:xfrm>
            <a:off x="7635240" y="1417320"/>
            <a:ext cx="72720" cy="10969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2" name="Text 16"/>
          <p:cNvSpPr/>
          <p:nvPr/>
        </p:nvSpPr>
        <p:spPr>
          <a:xfrm>
            <a:off x="779976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Before rollout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Text 17"/>
          <p:cNvSpPr/>
          <p:nvPr/>
        </p:nvSpPr>
        <p:spPr>
          <a:xfrm>
            <a:off x="7799760" y="1892880"/>
            <a:ext cx="2815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Counts summarize previous simulations.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Shape 18"/>
          <p:cNvSpPr/>
          <p:nvPr/>
        </p:nvSpPr>
        <p:spPr>
          <a:xfrm>
            <a:off x="7635240" y="2788920"/>
            <a:ext cx="3108600" cy="1462680"/>
          </a:xfrm>
          <a:prstGeom prst="roundRect">
            <a:avLst>
              <a:gd name="adj" fmla="val 375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Shape 19"/>
          <p:cNvSpPr/>
          <p:nvPr/>
        </p:nvSpPr>
        <p:spPr>
          <a:xfrm>
            <a:off x="7635240" y="2788920"/>
            <a:ext cx="72720" cy="1462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Text 20"/>
          <p:cNvSpPr/>
          <p:nvPr/>
        </p:nvSpPr>
        <p:spPr>
          <a:xfrm>
            <a:off x="7799760" y="29170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After rollout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 21"/>
          <p:cNvSpPr/>
          <p:nvPr/>
        </p:nvSpPr>
        <p:spPr>
          <a:xfrm>
            <a:off x="7799760" y="3264480"/>
            <a:ext cx="28159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the simulated winner is MAX, increment wins and visits for MAX-favorable nodes on the path.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Shape 22"/>
          <p:cNvSpPr/>
          <p:nvPr/>
        </p:nvSpPr>
        <p:spPr>
          <a:xfrm>
            <a:off x="7635240" y="4617720"/>
            <a:ext cx="310860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Shape 23"/>
          <p:cNvSpPr/>
          <p:nvPr/>
        </p:nvSpPr>
        <p:spPr>
          <a:xfrm>
            <a:off x="7635240" y="4617720"/>
            <a:ext cx="72720" cy="9140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Text 24"/>
          <p:cNvSpPr/>
          <p:nvPr/>
        </p:nvSpPr>
        <p:spPr>
          <a:xfrm>
            <a:off x="7799760" y="47458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Final decision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 25"/>
          <p:cNvSpPr/>
          <p:nvPr/>
        </p:nvSpPr>
        <p:spPr>
          <a:xfrm>
            <a:off x="7799760" y="5093280"/>
            <a:ext cx="2815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Often choose the root child with the most visits, not necessarily the highest raw win rate.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Algorithm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MCTS Pseudocode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Repeat the four-stage loop until time runs out.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Shape 7"/>
          <p:cNvSpPr/>
          <p:nvPr/>
        </p:nvSpPr>
        <p:spPr>
          <a:xfrm>
            <a:off x="749880" y="1207080"/>
            <a:ext cx="5906520" cy="2980440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0" name="Image 0" descr="/mnt/data/ch5_assets/fig_5_11_mcts_pseudocode.png"/>
          <p:cNvPicPr/>
          <p:nvPr/>
        </p:nvPicPr>
        <p:blipFill>
          <a:blip r:embed="rId1"/>
          <a:stretch/>
        </p:blipFill>
        <p:spPr>
          <a:xfrm>
            <a:off x="777240" y="1536840"/>
            <a:ext cx="5851800" cy="232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1" name="Text 8"/>
          <p:cNvSpPr/>
          <p:nvPr/>
        </p:nvSpPr>
        <p:spPr>
          <a:xfrm>
            <a:off x="777240" y="4215240"/>
            <a:ext cx="585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5.11: Monte Carlo tree search algorithm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Shape 9"/>
          <p:cNvSpPr/>
          <p:nvPr/>
        </p:nvSpPr>
        <p:spPr>
          <a:xfrm>
            <a:off x="6995160" y="1417320"/>
            <a:ext cx="3748680" cy="1462680"/>
          </a:xfrm>
          <a:prstGeom prst="roundRect">
            <a:avLst>
              <a:gd name="adj" fmla="val 375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Shape 10"/>
          <p:cNvSpPr/>
          <p:nvPr/>
        </p:nvSpPr>
        <p:spPr>
          <a:xfrm>
            <a:off x="6995160" y="1417320"/>
            <a:ext cx="72720" cy="14626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4" name="Text 11"/>
          <p:cNvSpPr/>
          <p:nvPr/>
        </p:nvSpPr>
        <p:spPr>
          <a:xfrm>
            <a:off x="7159680" y="15454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return most playouts?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Text 12"/>
          <p:cNvSpPr/>
          <p:nvPr/>
        </p:nvSpPr>
        <p:spPr>
          <a:xfrm>
            <a:off x="7159680" y="1892880"/>
            <a:ext cx="3456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Visit count is a robust signal: it reflects both value and confidence accumulated during selection.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Shape 13"/>
          <p:cNvSpPr/>
          <p:nvPr/>
        </p:nvSpPr>
        <p:spPr>
          <a:xfrm>
            <a:off x="6995160" y="3246120"/>
            <a:ext cx="3748680" cy="1279800"/>
          </a:xfrm>
          <a:prstGeom prst="roundRect">
            <a:avLst>
              <a:gd name="adj" fmla="val 4286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Shape 14"/>
          <p:cNvSpPr/>
          <p:nvPr/>
        </p:nvSpPr>
        <p:spPr>
          <a:xfrm>
            <a:off x="6995160" y="3246120"/>
            <a:ext cx="72720" cy="12798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8" name="Text 15"/>
          <p:cNvSpPr/>
          <p:nvPr/>
        </p:nvSpPr>
        <p:spPr>
          <a:xfrm>
            <a:off x="7159680" y="33742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Anytime property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Text 16"/>
          <p:cNvSpPr/>
          <p:nvPr/>
        </p:nvSpPr>
        <p:spPr>
          <a:xfrm>
            <a:off x="7159680" y="3721680"/>
            <a:ext cx="3456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algorithm can run for 1 second or 1 hour; more time usually improves the move recommendation.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Shape 17"/>
          <p:cNvSpPr/>
          <p:nvPr/>
        </p:nvSpPr>
        <p:spPr>
          <a:xfrm>
            <a:off x="1828800" y="4846320"/>
            <a:ext cx="8229240" cy="731160"/>
          </a:xfrm>
          <a:prstGeom prst="roundRect">
            <a:avLst>
              <a:gd name="adj" fmla="val 75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Shape 18"/>
          <p:cNvSpPr/>
          <p:nvPr/>
        </p:nvSpPr>
        <p:spPr>
          <a:xfrm>
            <a:off x="1828800" y="4846320"/>
            <a:ext cx="72720" cy="7311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Text 19"/>
          <p:cNvSpPr/>
          <p:nvPr/>
        </p:nvSpPr>
        <p:spPr>
          <a:xfrm>
            <a:off x="1993320" y="497448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Lab connection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 20"/>
          <p:cNvSpPr/>
          <p:nvPr/>
        </p:nvSpPr>
        <p:spPr>
          <a:xfrm>
            <a:off x="1993320" y="5321880"/>
            <a:ext cx="7936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Students can inspect how visit counts and win rates change as simulations increase.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Algorithm Choice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Alpha-Beta vs. MCTS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Two different answers to limited computation time.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Shape 7"/>
          <p:cNvSpPr/>
          <p:nvPr/>
        </p:nvSpPr>
        <p:spPr>
          <a:xfrm>
            <a:off x="868680" y="1417320"/>
            <a:ext cx="4571640" cy="2742840"/>
          </a:xfrm>
          <a:prstGeom prst="roundRect">
            <a:avLst>
              <a:gd name="adj" fmla="val 2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Shape 8"/>
          <p:cNvSpPr/>
          <p:nvPr/>
        </p:nvSpPr>
        <p:spPr>
          <a:xfrm>
            <a:off x="868680" y="1417320"/>
            <a:ext cx="72720" cy="27428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3" name="Text 9"/>
          <p:cNvSpPr/>
          <p:nvPr/>
        </p:nvSpPr>
        <p:spPr>
          <a:xfrm>
            <a:off x="1033200" y="154548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Alpha-beta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Text 10"/>
          <p:cNvSpPr/>
          <p:nvPr/>
        </p:nvSpPr>
        <p:spPr>
          <a:xfrm>
            <a:off x="1033200" y="1892880"/>
            <a:ext cx="427896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Needs a useful evaluation function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Works well with moderate branching factor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Pruning is exact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Classic for chess-like games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Shape 11"/>
          <p:cNvSpPr/>
          <p:nvPr/>
        </p:nvSpPr>
        <p:spPr>
          <a:xfrm>
            <a:off x="6446520" y="1417320"/>
            <a:ext cx="4571640" cy="2742840"/>
          </a:xfrm>
          <a:prstGeom prst="roundRect">
            <a:avLst>
              <a:gd name="adj" fmla="val 2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Shape 12"/>
          <p:cNvSpPr/>
          <p:nvPr/>
        </p:nvSpPr>
        <p:spPr>
          <a:xfrm>
            <a:off x="6446520" y="1417320"/>
            <a:ext cx="72720" cy="2742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7" name="Text 13"/>
          <p:cNvSpPr/>
          <p:nvPr/>
        </p:nvSpPr>
        <p:spPr>
          <a:xfrm>
            <a:off x="6611040" y="154548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MCTS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Text 14"/>
          <p:cNvSpPr/>
          <p:nvPr/>
        </p:nvSpPr>
        <p:spPr>
          <a:xfrm>
            <a:off x="6611040" y="1892880"/>
            <a:ext cx="427896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Uses simulations to estimate values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Good when evaluation is hard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Statistical and anytime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Classic for Go-like games and many planning settings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Text 15"/>
          <p:cNvSpPr/>
          <p:nvPr/>
        </p:nvSpPr>
        <p:spPr>
          <a:xfrm>
            <a:off x="1051560" y="4892040"/>
            <a:ext cx="10058040" cy="68544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Rule of thumb: If you can evaluate states well, alpha-beta is powerful. If you can simulate outcomes well, MCTS is powerful.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Case Study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Case Study: From Deep Blue to AlphaGo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Game AI moved from brute-force alpha-beta to search guided by learned models.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Shape 7"/>
          <p:cNvSpPr/>
          <p:nvPr/>
        </p:nvSpPr>
        <p:spPr>
          <a:xfrm>
            <a:off x="868680" y="1417320"/>
            <a:ext cx="347436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Shape 8"/>
          <p:cNvSpPr/>
          <p:nvPr/>
        </p:nvSpPr>
        <p:spPr>
          <a:xfrm>
            <a:off x="868680" y="1417320"/>
            <a:ext cx="72720" cy="2011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Deep Blue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Text 10"/>
          <p:cNvSpPr/>
          <p:nvPr/>
        </p:nvSpPr>
        <p:spPr>
          <a:xfrm>
            <a:off x="1033200" y="1892880"/>
            <a:ext cx="318168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Chess. Specialized hardware plus highly optimized search defeated Garry Kasparov in 1997.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Shape 11"/>
          <p:cNvSpPr/>
          <p:nvPr/>
        </p:nvSpPr>
        <p:spPr>
          <a:xfrm>
            <a:off x="4526280" y="1417320"/>
            <a:ext cx="3474360" cy="2011320"/>
          </a:xfrm>
          <a:prstGeom prst="roundRect">
            <a:avLst>
              <a:gd name="adj" fmla="val 272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Shape 12"/>
          <p:cNvSpPr/>
          <p:nvPr/>
        </p:nvSpPr>
        <p:spPr>
          <a:xfrm>
            <a:off x="4526280" y="1417320"/>
            <a:ext cx="72720" cy="2011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3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AlphaGo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Text 14"/>
          <p:cNvSpPr/>
          <p:nvPr/>
        </p:nvSpPr>
        <p:spPr>
          <a:xfrm>
            <a:off x="4690800" y="1892880"/>
            <a:ext cx="318168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Go. MCTS combined with policy/value neural networks defeated Lee Sedol 4-1 in 2016.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Shape 15"/>
          <p:cNvSpPr/>
          <p:nvPr/>
        </p:nvSpPr>
        <p:spPr>
          <a:xfrm>
            <a:off x="8183880" y="141732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Shape 16"/>
          <p:cNvSpPr/>
          <p:nvPr/>
        </p:nvSpPr>
        <p:spPr>
          <a:xfrm>
            <a:off x="8183880" y="1417320"/>
            <a:ext cx="72720" cy="20113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Lesson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Text 18"/>
          <p:cNvSpPr/>
          <p:nvPr/>
        </p:nvSpPr>
        <p:spPr>
          <a:xfrm>
            <a:off x="8348400" y="1892880"/>
            <a:ext cx="24501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Search did not disappear. It became integrated with learning.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Text 19"/>
          <p:cNvSpPr/>
          <p:nvPr/>
        </p:nvSpPr>
        <p:spPr>
          <a:xfrm>
            <a:off x="914400" y="4572000"/>
            <a:ext cx="10149480" cy="50256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References: ibm.com/history/deep-blue   |   deepmind.google/research/alphago/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1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Stochastic Games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2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Chance events add probability-weighted averaging to game-tree search.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3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decision nodes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6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MAX and MIN still choose.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7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9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chance nodes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0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Random events average.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scale issue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Heuristic values must be calibrated.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5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6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Stochastic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Stochastic Games Add Chance Nodes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Dice, cards, and random events require expected values.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Shape 7"/>
          <p:cNvSpPr/>
          <p:nvPr/>
        </p:nvSpPr>
        <p:spPr>
          <a:xfrm>
            <a:off x="868680" y="1417320"/>
            <a:ext cx="3108600" cy="1554120"/>
          </a:xfrm>
          <a:prstGeom prst="roundRect">
            <a:avLst>
              <a:gd name="adj" fmla="val 3529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Shape 8"/>
          <p:cNvSpPr/>
          <p:nvPr/>
        </p:nvSpPr>
        <p:spPr>
          <a:xfrm>
            <a:off x="868680" y="1417320"/>
            <a:ext cx="72720" cy="1554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6" name="Text 9"/>
          <p:cNvSpPr/>
          <p:nvPr/>
        </p:nvSpPr>
        <p:spPr>
          <a:xfrm>
            <a:off x="103320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MAX node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Text 10"/>
          <p:cNvSpPr/>
          <p:nvPr/>
        </p:nvSpPr>
        <p:spPr>
          <a:xfrm>
            <a:off x="1033200" y="1892880"/>
            <a:ext cx="281592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Choose the child with maximum value.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Shape 11"/>
          <p:cNvSpPr/>
          <p:nvPr/>
        </p:nvSpPr>
        <p:spPr>
          <a:xfrm>
            <a:off x="4434840" y="1417320"/>
            <a:ext cx="3108600" cy="1554120"/>
          </a:xfrm>
          <a:prstGeom prst="roundRect">
            <a:avLst>
              <a:gd name="adj" fmla="val 3529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Shape 12"/>
          <p:cNvSpPr/>
          <p:nvPr/>
        </p:nvSpPr>
        <p:spPr>
          <a:xfrm>
            <a:off x="4434840" y="1417320"/>
            <a:ext cx="72720" cy="1554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0" name="Text 13"/>
          <p:cNvSpPr/>
          <p:nvPr/>
        </p:nvSpPr>
        <p:spPr>
          <a:xfrm>
            <a:off x="459936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 node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Text 14"/>
          <p:cNvSpPr/>
          <p:nvPr/>
        </p:nvSpPr>
        <p:spPr>
          <a:xfrm>
            <a:off x="4599360" y="1892880"/>
            <a:ext cx="281592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Choose the child with minimum MAX value.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Shape 15"/>
          <p:cNvSpPr/>
          <p:nvPr/>
        </p:nvSpPr>
        <p:spPr>
          <a:xfrm>
            <a:off x="8001000" y="1417320"/>
            <a:ext cx="3108600" cy="1554120"/>
          </a:xfrm>
          <a:prstGeom prst="roundRect">
            <a:avLst>
              <a:gd name="adj" fmla="val 352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Shape 16"/>
          <p:cNvSpPr/>
          <p:nvPr/>
        </p:nvSpPr>
        <p:spPr>
          <a:xfrm>
            <a:off x="8001000" y="1417320"/>
            <a:ext cx="72720" cy="15541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CHANCE node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Text 18"/>
          <p:cNvSpPr/>
          <p:nvPr/>
        </p:nvSpPr>
        <p:spPr>
          <a:xfrm>
            <a:off x="8165520" y="1892880"/>
            <a:ext cx="281592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Compute a probability-weighted average of child values.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Text 19"/>
          <p:cNvSpPr/>
          <p:nvPr/>
        </p:nvSpPr>
        <p:spPr>
          <a:xfrm>
            <a:off x="868680" y="3794760"/>
            <a:ext cx="10423800" cy="68544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EXPECTIMINIMAX(chance) = sum over outcomes r of P(r) * value(result after 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Stochastic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Backgammon: A Classic Stochastic Game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Players choose moves after dice rolls create possible actions.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Shape 7"/>
          <p:cNvSpPr/>
          <p:nvPr/>
        </p:nvSpPr>
        <p:spPr>
          <a:xfrm>
            <a:off x="795600" y="1207080"/>
            <a:ext cx="5540760" cy="4443480"/>
          </a:xfrm>
          <a:prstGeom prst="roundRect">
            <a:avLst>
              <a:gd name="adj" fmla="val 823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5" name="Image 0" descr="/mnt/data/ch5_assets/fig_5_12_backgammon.png"/>
          <p:cNvPicPr/>
          <p:nvPr/>
        </p:nvPicPr>
        <p:blipFill>
          <a:blip r:embed="rId1"/>
          <a:stretch/>
        </p:blipFill>
        <p:spPr>
          <a:xfrm>
            <a:off x="822960" y="1351440"/>
            <a:ext cx="5486040" cy="41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6" name="Text 8"/>
          <p:cNvSpPr/>
          <p:nvPr/>
        </p:nvSpPr>
        <p:spPr>
          <a:xfrm>
            <a:off x="822960" y="5678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5.12: typical backgammon position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7" name="Shape 9"/>
          <p:cNvSpPr/>
          <p:nvPr/>
        </p:nvSpPr>
        <p:spPr>
          <a:xfrm>
            <a:off x="6720840" y="1417320"/>
            <a:ext cx="3840120" cy="2102760"/>
          </a:xfrm>
          <a:prstGeom prst="roundRect">
            <a:avLst>
              <a:gd name="adj" fmla="val 2609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Shape 10"/>
          <p:cNvSpPr/>
          <p:nvPr/>
        </p:nvSpPr>
        <p:spPr>
          <a:xfrm>
            <a:off x="6720840" y="1417320"/>
            <a:ext cx="72720" cy="21027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9" name="Text 11"/>
          <p:cNvSpPr/>
          <p:nvPr/>
        </p:nvSpPr>
        <p:spPr>
          <a:xfrm>
            <a:off x="6885360" y="154548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chance matters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Text 12"/>
          <p:cNvSpPr/>
          <p:nvPr/>
        </p:nvSpPr>
        <p:spPr>
          <a:xfrm>
            <a:off x="6885360" y="1892880"/>
            <a:ext cx="354744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Dice determine available moves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Same board can lead to many chance outcomes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 move is judged by expected utility over dice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Shape 13"/>
          <p:cNvSpPr/>
          <p:nvPr/>
        </p:nvSpPr>
        <p:spPr>
          <a:xfrm>
            <a:off x="6720840" y="3886200"/>
            <a:ext cx="3840120" cy="1142640"/>
          </a:xfrm>
          <a:prstGeom prst="roundRect">
            <a:avLst>
              <a:gd name="adj" fmla="val 48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Shape 14"/>
          <p:cNvSpPr/>
          <p:nvPr/>
        </p:nvSpPr>
        <p:spPr>
          <a:xfrm>
            <a:off x="6720840" y="3886200"/>
            <a:ext cx="72720" cy="1142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3" name="Text 15"/>
          <p:cNvSpPr/>
          <p:nvPr/>
        </p:nvSpPr>
        <p:spPr>
          <a:xfrm>
            <a:off x="6885360" y="401436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analogy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Text 16"/>
          <p:cNvSpPr/>
          <p:nvPr/>
        </p:nvSpPr>
        <p:spPr>
          <a:xfrm>
            <a:off x="6885360" y="4361760"/>
            <a:ext cx="3547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Choosing a backgammon move is like making a plan before knowing tomorrow’s weather probabilities.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Stochastic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Expectiminimax Tree Structure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tree alternates decisions and random outcomes.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Shape 7"/>
          <p:cNvSpPr/>
          <p:nvPr/>
        </p:nvSpPr>
        <p:spPr>
          <a:xfrm>
            <a:off x="749880" y="1207080"/>
            <a:ext cx="6089400" cy="3894840"/>
          </a:xfrm>
          <a:prstGeom prst="roundRect">
            <a:avLst>
              <a:gd name="adj" fmla="val 939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3" name="Image 0" descr="/mnt/data/ch5_assets/fig_5_13_stochastic_backgammon_tree.png"/>
          <p:cNvPicPr/>
          <p:nvPr/>
        </p:nvPicPr>
        <p:blipFill>
          <a:blip r:embed="rId1"/>
          <a:stretch/>
        </p:blipFill>
        <p:spPr>
          <a:xfrm>
            <a:off x="820440" y="1234440"/>
            <a:ext cx="594864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4" name="Text 8"/>
          <p:cNvSpPr/>
          <p:nvPr/>
        </p:nvSpPr>
        <p:spPr>
          <a:xfrm>
            <a:off x="777240" y="512964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5.13: stochastic game tree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Shape 9"/>
          <p:cNvSpPr/>
          <p:nvPr/>
        </p:nvSpPr>
        <p:spPr>
          <a:xfrm>
            <a:off x="7132320" y="1417320"/>
            <a:ext cx="374868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Shape 10"/>
          <p:cNvSpPr/>
          <p:nvPr/>
        </p:nvSpPr>
        <p:spPr>
          <a:xfrm>
            <a:off x="7132320" y="1417320"/>
            <a:ext cx="72720" cy="23770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7" name="Text 11"/>
          <p:cNvSpPr/>
          <p:nvPr/>
        </p:nvSpPr>
        <p:spPr>
          <a:xfrm>
            <a:off x="7296840" y="15454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Node types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Text 12"/>
          <p:cNvSpPr/>
          <p:nvPr/>
        </p:nvSpPr>
        <p:spPr>
          <a:xfrm>
            <a:off x="7296840" y="1892880"/>
            <a:ext cx="345600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Triangles: MAX or MIN choices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Circles: chance outcomes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Probabilities label chance edges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Values back up by max, min, or average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Shape 13"/>
          <p:cNvSpPr/>
          <p:nvPr/>
        </p:nvSpPr>
        <p:spPr>
          <a:xfrm>
            <a:off x="7132320" y="4160520"/>
            <a:ext cx="3748680" cy="1096920"/>
          </a:xfrm>
          <a:prstGeom prst="roundRect">
            <a:avLst>
              <a:gd name="adj" fmla="val 5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Shape 14"/>
          <p:cNvSpPr/>
          <p:nvPr/>
        </p:nvSpPr>
        <p:spPr>
          <a:xfrm>
            <a:off x="7132320" y="4160520"/>
            <a:ext cx="72720" cy="1096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1" name="Text 15"/>
          <p:cNvSpPr/>
          <p:nvPr/>
        </p:nvSpPr>
        <p:spPr>
          <a:xfrm>
            <a:off x="7296840" y="42886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Complexity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Text 16"/>
          <p:cNvSpPr/>
          <p:nvPr/>
        </p:nvSpPr>
        <p:spPr>
          <a:xfrm>
            <a:off x="7296840" y="463608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Chance multiplies the branching factor. Alpha-beta is less effective because averages require more information.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Stochastic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Worked Example: Expected Value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risky action can beat a safe action depending on probabilities.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Shape 7"/>
          <p:cNvSpPr/>
          <p:nvPr/>
        </p:nvSpPr>
        <p:spPr>
          <a:xfrm>
            <a:off x="868680" y="1417320"/>
            <a:ext cx="3291480" cy="1965600"/>
          </a:xfrm>
          <a:prstGeom prst="roundRect">
            <a:avLst>
              <a:gd name="adj" fmla="val 2791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Shape 8"/>
          <p:cNvSpPr/>
          <p:nvPr/>
        </p:nvSpPr>
        <p:spPr>
          <a:xfrm>
            <a:off x="868680" y="1417320"/>
            <a:ext cx="72720" cy="19656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Text 9"/>
          <p:cNvSpPr/>
          <p:nvPr/>
        </p:nvSpPr>
        <p:spPr>
          <a:xfrm>
            <a:off x="103320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Action A: safe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Text 10"/>
          <p:cNvSpPr/>
          <p:nvPr/>
        </p:nvSpPr>
        <p:spPr>
          <a:xfrm>
            <a:off x="1033200" y="1892880"/>
            <a:ext cx="29988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50% chance of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50% chance of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Expected value = 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Shape 11"/>
          <p:cNvSpPr/>
          <p:nvPr/>
        </p:nvSpPr>
        <p:spPr>
          <a:xfrm>
            <a:off x="4434840" y="1417320"/>
            <a:ext cx="3291480" cy="1965600"/>
          </a:xfrm>
          <a:prstGeom prst="roundRect">
            <a:avLst>
              <a:gd name="adj" fmla="val 2791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Shape 12"/>
          <p:cNvSpPr/>
          <p:nvPr/>
        </p:nvSpPr>
        <p:spPr>
          <a:xfrm>
            <a:off x="4434840" y="1417320"/>
            <a:ext cx="72720" cy="196560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Text 13"/>
          <p:cNvSpPr/>
          <p:nvPr/>
        </p:nvSpPr>
        <p:spPr>
          <a:xfrm>
            <a:off x="459936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Action B: risky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Text 14"/>
          <p:cNvSpPr/>
          <p:nvPr/>
        </p:nvSpPr>
        <p:spPr>
          <a:xfrm>
            <a:off x="4599360" y="1892880"/>
            <a:ext cx="29988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90% chance of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10% chance of 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Expected value = 6.7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Shape 15"/>
          <p:cNvSpPr/>
          <p:nvPr/>
        </p:nvSpPr>
        <p:spPr>
          <a:xfrm>
            <a:off x="8001000" y="1417320"/>
            <a:ext cx="3108600" cy="1965600"/>
          </a:xfrm>
          <a:prstGeom prst="roundRect">
            <a:avLst>
              <a:gd name="adj" fmla="val 2791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Shape 16"/>
          <p:cNvSpPr/>
          <p:nvPr/>
        </p:nvSpPr>
        <p:spPr>
          <a:xfrm>
            <a:off x="8001000" y="1417320"/>
            <a:ext cx="72720" cy="196560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0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MAX chooses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Text 18"/>
          <p:cNvSpPr/>
          <p:nvPr/>
        </p:nvSpPr>
        <p:spPr>
          <a:xfrm>
            <a:off x="8165520" y="1892880"/>
            <a:ext cx="281592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Action B by expected value, even though most individual outcomes are worse.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Text 19"/>
          <p:cNvSpPr/>
          <p:nvPr/>
        </p:nvSpPr>
        <p:spPr>
          <a:xfrm>
            <a:off x="1005840" y="4343400"/>
            <a:ext cx="10058040" cy="685440"/>
          </a:xfrm>
          <a:prstGeom prst="rect">
            <a:avLst/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 Mono"/>
                <a:ea typeface="Aptos Mono"/>
              </a:rPr>
              <a:t>B = 0.9 × 3 + 0.1 × 40 = 2.7 + 4 = 6.7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Stochastic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68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Heuristic Scale Matters in Stochastic Games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Averages are sensitive to the numerical scale.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Shape 7"/>
          <p:cNvSpPr/>
          <p:nvPr/>
        </p:nvSpPr>
        <p:spPr>
          <a:xfrm>
            <a:off x="868680" y="1417320"/>
            <a:ext cx="4571640" cy="2011320"/>
          </a:xfrm>
          <a:prstGeom prst="roundRect">
            <a:avLst>
              <a:gd name="adj" fmla="val 272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Shape 8"/>
          <p:cNvSpPr/>
          <p:nvPr/>
        </p:nvSpPr>
        <p:spPr>
          <a:xfrm>
            <a:off x="868680" y="1417320"/>
            <a:ext cx="72720" cy="2011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2" name="Text 9"/>
          <p:cNvSpPr/>
          <p:nvPr/>
        </p:nvSpPr>
        <p:spPr>
          <a:xfrm>
            <a:off x="1033200" y="154548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Minimax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Text 10"/>
          <p:cNvSpPr/>
          <p:nvPr/>
        </p:nvSpPr>
        <p:spPr>
          <a:xfrm>
            <a:off x="1033200" y="1892880"/>
            <a:ext cx="42789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Any order-preserving transformation usually keeps choices the same because only comparisons matter.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Shape 11"/>
          <p:cNvSpPr/>
          <p:nvPr/>
        </p:nvSpPr>
        <p:spPr>
          <a:xfrm>
            <a:off x="6446520" y="1417320"/>
            <a:ext cx="4571640" cy="2011320"/>
          </a:xfrm>
          <a:prstGeom prst="roundRect">
            <a:avLst>
              <a:gd name="adj" fmla="val 272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Shape 12"/>
          <p:cNvSpPr/>
          <p:nvPr/>
        </p:nvSpPr>
        <p:spPr>
          <a:xfrm>
            <a:off x="6446520" y="1417320"/>
            <a:ext cx="72720" cy="2011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6" name="Text 13"/>
          <p:cNvSpPr/>
          <p:nvPr/>
        </p:nvSpPr>
        <p:spPr>
          <a:xfrm>
            <a:off x="6611040" y="1545480"/>
            <a:ext cx="429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Expectiminimax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Text 14"/>
          <p:cNvSpPr/>
          <p:nvPr/>
        </p:nvSpPr>
        <p:spPr>
          <a:xfrm>
            <a:off x="6611040" y="1892880"/>
            <a:ext cx="427896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Changing scores changes averages, so decisions can change.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Text 15"/>
          <p:cNvSpPr/>
          <p:nvPr/>
        </p:nvSpPr>
        <p:spPr>
          <a:xfrm>
            <a:off x="1143000" y="4251960"/>
            <a:ext cx="9829440" cy="68544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Rule: EVAL should be linearly related to the actual expected utility or win probability.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0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Partially Observable Games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1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When the full state is hidden, rational play must reason over beliefs and information.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2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hidden state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5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Cards, pieces, or intentions may be unknown.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6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8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belief state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9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set or distribution of possible worlds.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0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strategic information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3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Actions can reveal, hide, or mislead.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4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5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Partially Observable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Partially Observable Games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When you cannot see the full state, the node is a belief state.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Shape 7"/>
          <p:cNvSpPr/>
          <p:nvPr/>
        </p:nvSpPr>
        <p:spPr>
          <a:xfrm>
            <a:off x="8686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Perfect information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Text 10"/>
          <p:cNvSpPr/>
          <p:nvPr/>
        </p:nvSpPr>
        <p:spPr>
          <a:xfrm>
            <a:off x="10332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Both players see the complete state: chess, checkers, Go.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7" name="Shape 11"/>
          <p:cNvSpPr/>
          <p:nvPr/>
        </p:nvSpPr>
        <p:spPr>
          <a:xfrm>
            <a:off x="45262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Imperfect information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Text 14"/>
          <p:cNvSpPr/>
          <p:nvPr/>
        </p:nvSpPr>
        <p:spPr>
          <a:xfrm>
            <a:off x="46908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Some state variables are hidden: poker hands, Battleship ships, Kriegspiel pieces.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Shape 15"/>
          <p:cNvSpPr/>
          <p:nvPr/>
        </p:nvSpPr>
        <p:spPr>
          <a:xfrm>
            <a:off x="8183880" y="1417320"/>
            <a:ext cx="27428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3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Belief state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Text 18"/>
          <p:cNvSpPr/>
          <p:nvPr/>
        </p:nvSpPr>
        <p:spPr>
          <a:xfrm>
            <a:off x="8348400" y="1892880"/>
            <a:ext cx="2450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set or distribution of actual states consistent with what the agent has observed.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5" name="Shape 19"/>
          <p:cNvSpPr/>
          <p:nvPr/>
        </p:nvSpPr>
        <p:spPr>
          <a:xfrm>
            <a:off x="1051560" y="4251960"/>
            <a:ext cx="10058040" cy="959760"/>
          </a:xfrm>
          <a:prstGeom prst="roundRect">
            <a:avLst>
              <a:gd name="adj" fmla="val 5714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6" name="Text 20"/>
          <p:cNvSpPr/>
          <p:nvPr/>
        </p:nvSpPr>
        <p:spPr>
          <a:xfrm>
            <a:off x="1325880" y="44805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You do not plan from one board; you plan from a cloud of possible boards.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21"/>
          <p:cNvSpPr/>
          <p:nvPr/>
        </p:nvSpPr>
        <p:spPr>
          <a:xfrm>
            <a:off x="1371600" y="48006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That cloud changes after every observation and action.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Partially Observable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Analogies for Hidden Information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challenge is reasoning under strategic uncertainty.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Shape 7"/>
          <p:cNvSpPr/>
          <p:nvPr/>
        </p:nvSpPr>
        <p:spPr>
          <a:xfrm>
            <a:off x="868680" y="141732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Shape 8"/>
          <p:cNvSpPr/>
          <p:nvPr/>
        </p:nvSpPr>
        <p:spPr>
          <a:xfrm>
            <a:off x="868680" y="1417320"/>
            <a:ext cx="72720" cy="1919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Poker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Text 10"/>
          <p:cNvSpPr/>
          <p:nvPr/>
        </p:nvSpPr>
        <p:spPr>
          <a:xfrm>
            <a:off x="1033200" y="189288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Hidden cards + betting actions. Moves communicate information and may deceive.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Shape 11"/>
          <p:cNvSpPr/>
          <p:nvPr/>
        </p:nvSpPr>
        <p:spPr>
          <a:xfrm>
            <a:off x="4526280" y="1417320"/>
            <a:ext cx="347436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Shape 12"/>
          <p:cNvSpPr/>
          <p:nvPr/>
        </p:nvSpPr>
        <p:spPr>
          <a:xfrm>
            <a:off x="4526280" y="1417320"/>
            <a:ext cx="72720" cy="19198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1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Battleship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Text 14"/>
          <p:cNvSpPr/>
          <p:nvPr/>
        </p:nvSpPr>
        <p:spPr>
          <a:xfrm>
            <a:off x="4690800" y="1892880"/>
            <a:ext cx="31816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Hidden ship locations. Shots are both attacks and information-gathering actions.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Shape 15"/>
          <p:cNvSpPr/>
          <p:nvPr/>
        </p:nvSpPr>
        <p:spPr>
          <a:xfrm>
            <a:off x="8183880" y="1417320"/>
            <a:ext cx="2742840" cy="1919880"/>
          </a:xfrm>
          <a:prstGeom prst="roundRect">
            <a:avLst>
              <a:gd name="adj" fmla="val 285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Shape 16"/>
          <p:cNvSpPr/>
          <p:nvPr/>
        </p:nvSpPr>
        <p:spPr>
          <a:xfrm>
            <a:off x="8183880" y="1417320"/>
            <a:ext cx="72720" cy="19198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Security games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Text 18"/>
          <p:cNvSpPr/>
          <p:nvPr/>
        </p:nvSpPr>
        <p:spPr>
          <a:xfrm>
            <a:off x="8348400" y="1892880"/>
            <a:ext cx="24501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Defender and attacker may hide capabilities, targets, and intentions.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Text 19"/>
          <p:cNvSpPr/>
          <p:nvPr/>
        </p:nvSpPr>
        <p:spPr>
          <a:xfrm>
            <a:off x="1051560" y="4434840"/>
            <a:ext cx="10058040" cy="73116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In hidden-information games, an action can be valuable because of what it reveals, not only because of immediate reward.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Partially Observable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Kriegspiel: A Belief-State Search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The agent reasons over possible boards instead of one visible board.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Shape 7"/>
          <p:cNvSpPr/>
          <p:nvPr/>
        </p:nvSpPr>
        <p:spPr>
          <a:xfrm>
            <a:off x="658440" y="1115640"/>
            <a:ext cx="5723640" cy="4717800"/>
          </a:xfrm>
          <a:prstGeom prst="roundRect">
            <a:avLst>
              <a:gd name="adj" fmla="val 775"/>
            </a:avLst>
          </a:prstGeom>
          <a:solidFill>
            <a:srgbClr val="FFFFFF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6" name="Image 0" descr="/mnt/data/ch5_assets/fig_5_15_kreigspiel_belief_tree.png"/>
          <p:cNvPicPr/>
          <p:nvPr/>
        </p:nvPicPr>
        <p:blipFill>
          <a:blip r:embed="rId1"/>
          <a:stretch/>
        </p:blipFill>
        <p:spPr>
          <a:xfrm>
            <a:off x="755640" y="1143000"/>
            <a:ext cx="552924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7" name="Text 8"/>
          <p:cNvSpPr/>
          <p:nvPr/>
        </p:nvSpPr>
        <p:spPr>
          <a:xfrm>
            <a:off x="685800" y="586116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Chapter 5 Figure 5.15: belief-state search in Kriegspiel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Shape 9"/>
          <p:cNvSpPr/>
          <p:nvPr/>
        </p:nvSpPr>
        <p:spPr>
          <a:xfrm>
            <a:off x="6720840" y="1417320"/>
            <a:ext cx="3931560" cy="2377080"/>
          </a:xfrm>
          <a:prstGeom prst="roundRect">
            <a:avLst>
              <a:gd name="adj" fmla="val 230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9" name="Shape 10"/>
          <p:cNvSpPr/>
          <p:nvPr/>
        </p:nvSpPr>
        <p:spPr>
          <a:xfrm>
            <a:off x="6720840" y="1417320"/>
            <a:ext cx="72720" cy="23770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0" name="Text 11"/>
          <p:cNvSpPr/>
          <p:nvPr/>
        </p:nvSpPr>
        <p:spPr>
          <a:xfrm>
            <a:off x="6885360" y="15454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What the tree shows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Text 12"/>
          <p:cNvSpPr/>
          <p:nvPr/>
        </p:nvSpPr>
        <p:spPr>
          <a:xfrm>
            <a:off x="6885360" y="1892880"/>
            <a:ext cx="363888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Agent proposes a move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Referee reports whether it is legal or not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Belief state narrows after observations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• Probing moves gather information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Shape 13"/>
          <p:cNvSpPr/>
          <p:nvPr/>
        </p:nvSpPr>
        <p:spPr>
          <a:xfrm>
            <a:off x="6720840" y="4206240"/>
            <a:ext cx="3931560" cy="914040"/>
          </a:xfrm>
          <a:prstGeom prst="roundRect">
            <a:avLst>
              <a:gd name="adj" fmla="val 6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Shape 14"/>
          <p:cNvSpPr/>
          <p:nvPr/>
        </p:nvSpPr>
        <p:spPr>
          <a:xfrm>
            <a:off x="6720840" y="4206240"/>
            <a:ext cx="72720" cy="9140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4" name="Text 15"/>
          <p:cNvSpPr/>
          <p:nvPr/>
        </p:nvSpPr>
        <p:spPr>
          <a:xfrm>
            <a:off x="6885360" y="43344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Teaching point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5" name="Text 16"/>
          <p:cNvSpPr/>
          <p:nvPr/>
        </p:nvSpPr>
        <p:spPr>
          <a:xfrm>
            <a:off x="6885360" y="4681800"/>
            <a:ext cx="3638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right action may be a question disguised as a move.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7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8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Partially Observable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0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The Determinization Trap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1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Solving a guessed perfect-information game can be misleading.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Shape 7"/>
          <p:cNvSpPr/>
          <p:nvPr/>
        </p:nvSpPr>
        <p:spPr>
          <a:xfrm>
            <a:off x="8686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Determinization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Text 10"/>
          <p:cNvSpPr/>
          <p:nvPr/>
        </p:nvSpPr>
        <p:spPr>
          <a:xfrm>
            <a:off x="10332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Sample or guess hidden information, then run ordinary minimax on that fully specified state.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Shape 11"/>
          <p:cNvSpPr/>
          <p:nvPr/>
        </p:nvSpPr>
        <p:spPr>
          <a:xfrm>
            <a:off x="45262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9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tempting?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Text 14"/>
          <p:cNvSpPr/>
          <p:nvPr/>
        </p:nvSpPr>
        <p:spPr>
          <a:xfrm>
            <a:off x="46908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It reuses existing search code and is simple to implement.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Shape 15"/>
          <p:cNvSpPr/>
          <p:nvPr/>
        </p:nvSpPr>
        <p:spPr>
          <a:xfrm>
            <a:off x="8183880" y="1417320"/>
            <a:ext cx="2742840" cy="1828440"/>
          </a:xfrm>
          <a:prstGeom prst="roundRect">
            <a:avLst>
              <a:gd name="adj" fmla="val 3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2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3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Why dangerous?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Text 18"/>
          <p:cNvSpPr/>
          <p:nvPr/>
        </p:nvSpPr>
        <p:spPr>
          <a:xfrm>
            <a:off x="8348400" y="1892880"/>
            <a:ext cx="2450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It ignores information value, bluffing, and strategies that work across many possible hidden states.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Shape 19"/>
          <p:cNvSpPr/>
          <p:nvPr/>
        </p:nvSpPr>
        <p:spPr>
          <a:xfrm>
            <a:off x="1143000" y="4297680"/>
            <a:ext cx="987516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6" name="Text 20"/>
          <p:cNvSpPr/>
          <p:nvPr/>
        </p:nvSpPr>
        <p:spPr>
          <a:xfrm>
            <a:off x="1417320" y="452628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Averaging perfect-information answers is not the same as solving an imperfect-information game.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Text 21"/>
          <p:cNvSpPr/>
          <p:nvPr/>
        </p:nvSpPr>
        <p:spPr>
          <a:xfrm>
            <a:off x="1463040" y="4800600"/>
            <a:ext cx="92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Hidden information changes the kind of strategy you need.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Partially Observable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Mixed Strategies and Bluffing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Sometimes being predictable is exploitable.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Shape 7"/>
          <p:cNvSpPr/>
          <p:nvPr/>
        </p:nvSpPr>
        <p:spPr>
          <a:xfrm>
            <a:off x="868680" y="141732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Shape 8"/>
          <p:cNvSpPr/>
          <p:nvPr/>
        </p:nvSpPr>
        <p:spPr>
          <a:xfrm>
            <a:off x="868680" y="1417320"/>
            <a:ext cx="72720" cy="16455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7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Pure strategy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Text 10"/>
          <p:cNvSpPr/>
          <p:nvPr/>
        </p:nvSpPr>
        <p:spPr>
          <a:xfrm>
            <a:off x="1033200" y="1892880"/>
            <a:ext cx="31816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Always choose the same action in the same information state.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Shape 11"/>
          <p:cNvSpPr/>
          <p:nvPr/>
        </p:nvSpPr>
        <p:spPr>
          <a:xfrm>
            <a:off x="4526280" y="141732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0" name="Shape 12"/>
          <p:cNvSpPr/>
          <p:nvPr/>
        </p:nvSpPr>
        <p:spPr>
          <a:xfrm>
            <a:off x="4526280" y="1417320"/>
            <a:ext cx="72720" cy="16455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Mixed strategy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Text 14"/>
          <p:cNvSpPr/>
          <p:nvPr/>
        </p:nvSpPr>
        <p:spPr>
          <a:xfrm>
            <a:off x="4690800" y="1892880"/>
            <a:ext cx="31816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Choose among actions probabilistically to avoid exploitation.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3" name="Shape 15"/>
          <p:cNvSpPr/>
          <p:nvPr/>
        </p:nvSpPr>
        <p:spPr>
          <a:xfrm>
            <a:off x="8183880" y="1417320"/>
            <a:ext cx="2742840" cy="1645560"/>
          </a:xfrm>
          <a:prstGeom prst="roundRect">
            <a:avLst>
              <a:gd name="adj" fmla="val 3333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4" name="Shape 16"/>
          <p:cNvSpPr/>
          <p:nvPr/>
        </p:nvSpPr>
        <p:spPr>
          <a:xfrm>
            <a:off x="8183880" y="1417320"/>
            <a:ext cx="72720" cy="1645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5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Bluffing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6" name="Text 18"/>
          <p:cNvSpPr/>
          <p:nvPr/>
        </p:nvSpPr>
        <p:spPr>
          <a:xfrm>
            <a:off x="8348400" y="1892880"/>
            <a:ext cx="24501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An action can manipulate the opponent’s beliefs, not just the physical game state.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7" name="Text 19"/>
          <p:cNvSpPr/>
          <p:nvPr/>
        </p:nvSpPr>
        <p:spPr>
          <a:xfrm>
            <a:off x="1005840" y="4023360"/>
            <a:ext cx="10149480" cy="82260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Poker lesson: If you only bet with strong hands, opponents learn to fold. If you always bluff, opponents learn to call.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Text 0"/>
          <p:cNvSpPr/>
          <p:nvPr/>
        </p:nvSpPr>
        <p:spPr>
          <a:xfrm>
            <a:off x="594360" y="5029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SECTION 5.7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9" name="Text 1"/>
          <p:cNvSpPr/>
          <p:nvPr/>
        </p:nvSpPr>
        <p:spPr>
          <a:xfrm>
            <a:off x="594360" y="11430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Limitations of Game Search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0" name="Text 2"/>
          <p:cNvSpPr/>
          <p:nvPr/>
        </p:nvSpPr>
        <p:spPr>
          <a:xfrm>
            <a:off x="640080" y="233172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No search method escapes modeling assumptions, computational limits, and approximation risk.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1" name="Shape 3"/>
          <p:cNvSpPr/>
          <p:nvPr/>
        </p:nvSpPr>
        <p:spPr>
          <a:xfrm>
            <a:off x="6858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2" name="Shape 4"/>
          <p:cNvSpPr/>
          <p:nvPr/>
        </p:nvSpPr>
        <p:spPr>
          <a:xfrm>
            <a:off x="68580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3" name="Text 5"/>
          <p:cNvSpPr/>
          <p:nvPr/>
        </p:nvSpPr>
        <p:spPr>
          <a:xfrm>
            <a:off x="8503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complexity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4" name="Text 6"/>
          <p:cNvSpPr/>
          <p:nvPr/>
        </p:nvSpPr>
        <p:spPr>
          <a:xfrm>
            <a:off x="8503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The tree can be too large.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5" name="Shape 7"/>
          <p:cNvSpPr/>
          <p:nvPr/>
        </p:nvSpPr>
        <p:spPr>
          <a:xfrm>
            <a:off x="437400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Shape 8"/>
          <p:cNvSpPr/>
          <p:nvPr/>
        </p:nvSpPr>
        <p:spPr>
          <a:xfrm>
            <a:off x="4374000" y="3657600"/>
            <a:ext cx="72720" cy="141696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7" name="Text 9"/>
          <p:cNvSpPr/>
          <p:nvPr/>
        </p:nvSpPr>
        <p:spPr>
          <a:xfrm>
            <a:off x="45385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approximation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8" name="Text 10"/>
          <p:cNvSpPr/>
          <p:nvPr/>
        </p:nvSpPr>
        <p:spPr>
          <a:xfrm>
            <a:off x="45385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Heuristics and samples can be wrong.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9" name="Shape 11"/>
          <p:cNvSpPr/>
          <p:nvPr/>
        </p:nvSpPr>
        <p:spPr>
          <a:xfrm>
            <a:off x="8061840" y="3657600"/>
            <a:ext cx="3413520" cy="1416960"/>
          </a:xfrm>
          <a:prstGeom prst="roundRect">
            <a:avLst>
              <a:gd name="adj" fmla="val 3871"/>
            </a:avLst>
          </a:prstGeom>
          <a:solidFill>
            <a:srgbClr val="F8FBFB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Shape 12"/>
          <p:cNvSpPr/>
          <p:nvPr/>
        </p:nvSpPr>
        <p:spPr>
          <a:xfrm>
            <a:off x="8061840" y="3657600"/>
            <a:ext cx="72720" cy="141696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Text 13"/>
          <p:cNvSpPr/>
          <p:nvPr/>
        </p:nvSpPr>
        <p:spPr>
          <a:xfrm>
            <a:off x="8226720" y="3785760"/>
            <a:ext cx="3139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strategic adaptation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2" name="Text 14"/>
          <p:cNvSpPr/>
          <p:nvPr/>
        </p:nvSpPr>
        <p:spPr>
          <a:xfrm>
            <a:off x="8226720" y="4133160"/>
            <a:ext cx="31208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Opponents exploit weaknesses.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 15"/>
          <p:cNvSpPr/>
          <p:nvPr/>
        </p:nvSpPr>
        <p:spPr>
          <a:xfrm>
            <a:off x="640080" y="63550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COMP 469 | CSU Channel Islands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4" name="Text 16"/>
          <p:cNvSpPr/>
          <p:nvPr/>
        </p:nvSpPr>
        <p:spPr>
          <a:xfrm>
            <a:off x="11201400" y="63277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Limitations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Limitations of Game Search Algorithms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Every search method makes assumptions or tradeoffs.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Shape 7"/>
          <p:cNvSpPr/>
          <p:nvPr/>
        </p:nvSpPr>
        <p:spPr>
          <a:xfrm>
            <a:off x="868680" y="13258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3" name="Shape 8"/>
          <p:cNvSpPr/>
          <p:nvPr/>
        </p:nvSpPr>
        <p:spPr>
          <a:xfrm>
            <a:off x="868680" y="1325880"/>
            <a:ext cx="72720" cy="1234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4" name="Text 9"/>
          <p:cNvSpPr/>
          <p:nvPr/>
        </p:nvSpPr>
        <p:spPr>
          <a:xfrm>
            <a:off x="1033200" y="14540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Exponential growth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Text 10"/>
          <p:cNvSpPr/>
          <p:nvPr/>
        </p:nvSpPr>
        <p:spPr>
          <a:xfrm>
            <a:off x="1033200" y="18014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State trees explode with branching factor and depth.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6" name="Shape 11"/>
          <p:cNvSpPr/>
          <p:nvPr/>
        </p:nvSpPr>
        <p:spPr>
          <a:xfrm>
            <a:off x="4572000" y="13258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Shape 12"/>
          <p:cNvSpPr/>
          <p:nvPr/>
        </p:nvSpPr>
        <p:spPr>
          <a:xfrm>
            <a:off x="4572000" y="1325880"/>
            <a:ext cx="72720" cy="12340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Text 13"/>
          <p:cNvSpPr/>
          <p:nvPr/>
        </p:nvSpPr>
        <p:spPr>
          <a:xfrm>
            <a:off x="4736520" y="14540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Heuristic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Text 14"/>
          <p:cNvSpPr/>
          <p:nvPr/>
        </p:nvSpPr>
        <p:spPr>
          <a:xfrm>
            <a:off x="4736520" y="18014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Cutoff evaluation can misjudge unstable positions.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Shape 15"/>
          <p:cNvSpPr/>
          <p:nvPr/>
        </p:nvSpPr>
        <p:spPr>
          <a:xfrm>
            <a:off x="8275320" y="13258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Shape 16"/>
          <p:cNvSpPr/>
          <p:nvPr/>
        </p:nvSpPr>
        <p:spPr>
          <a:xfrm>
            <a:off x="8275320" y="1325880"/>
            <a:ext cx="72720" cy="12340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Text 17"/>
          <p:cNvSpPr/>
          <p:nvPr/>
        </p:nvSpPr>
        <p:spPr>
          <a:xfrm>
            <a:off x="8439840" y="14540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Horizon effect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3" name="Text 18"/>
          <p:cNvSpPr/>
          <p:nvPr/>
        </p:nvSpPr>
        <p:spPr>
          <a:xfrm>
            <a:off x="8439840" y="18014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Delayed losses can hide beyond depth limits.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4" name="Shape 19"/>
          <p:cNvSpPr/>
          <p:nvPr/>
        </p:nvSpPr>
        <p:spPr>
          <a:xfrm>
            <a:off x="868680" y="31546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5" name="Shape 20"/>
          <p:cNvSpPr/>
          <p:nvPr/>
        </p:nvSpPr>
        <p:spPr>
          <a:xfrm>
            <a:off x="868680" y="3154680"/>
            <a:ext cx="72720" cy="12340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6" name="Text 21"/>
          <p:cNvSpPr/>
          <p:nvPr/>
        </p:nvSpPr>
        <p:spPr>
          <a:xfrm>
            <a:off x="1033200" y="32828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Sampling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 22"/>
          <p:cNvSpPr/>
          <p:nvPr/>
        </p:nvSpPr>
        <p:spPr>
          <a:xfrm>
            <a:off x="1033200" y="36302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MCTS estimates can be noisy with too few rollouts.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Shape 23"/>
          <p:cNvSpPr/>
          <p:nvPr/>
        </p:nvSpPr>
        <p:spPr>
          <a:xfrm>
            <a:off x="4572000" y="31546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Shape 24"/>
          <p:cNvSpPr/>
          <p:nvPr/>
        </p:nvSpPr>
        <p:spPr>
          <a:xfrm>
            <a:off x="4572000" y="3154680"/>
            <a:ext cx="72720" cy="1234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0" name="Text 25"/>
          <p:cNvSpPr/>
          <p:nvPr/>
        </p:nvSpPr>
        <p:spPr>
          <a:xfrm>
            <a:off x="4736520" y="32828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Hidden information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Text 26"/>
          <p:cNvSpPr/>
          <p:nvPr/>
        </p:nvSpPr>
        <p:spPr>
          <a:xfrm>
            <a:off x="4736520" y="36302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Belief states and bluffing are hard to model.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2" name="Shape 27"/>
          <p:cNvSpPr/>
          <p:nvPr/>
        </p:nvSpPr>
        <p:spPr>
          <a:xfrm>
            <a:off x="8275320" y="31546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3" name="Shape 28"/>
          <p:cNvSpPr/>
          <p:nvPr/>
        </p:nvSpPr>
        <p:spPr>
          <a:xfrm>
            <a:off x="8275320" y="3154680"/>
            <a:ext cx="72720" cy="1234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Text 29"/>
          <p:cNvSpPr/>
          <p:nvPr/>
        </p:nvSpPr>
        <p:spPr>
          <a:xfrm>
            <a:off x="8439840" y="32828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Exploitability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Text 30"/>
          <p:cNvSpPr/>
          <p:nvPr/>
        </p:nvSpPr>
        <p:spPr>
          <a:xfrm>
            <a:off x="8439840" y="36302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 strategy optimized for one model may fail against adaptive opponents.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Shape 31"/>
          <p:cNvSpPr/>
          <p:nvPr/>
        </p:nvSpPr>
        <p:spPr>
          <a:xfrm>
            <a:off x="1234440" y="5257800"/>
            <a:ext cx="9600840" cy="685440"/>
          </a:xfrm>
          <a:prstGeom prst="roundRect">
            <a:avLst>
              <a:gd name="adj" fmla="val 8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Text 32"/>
          <p:cNvSpPr/>
          <p:nvPr/>
        </p:nvSpPr>
        <p:spPr>
          <a:xfrm>
            <a:off x="1508760" y="5486400"/>
            <a:ext cx="90522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The art is choosing the right approximation for the game you actually have.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Limitations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Complexity: The Branching Factor Tax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4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Each ply multiplies the number of possible futures.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Shape 7"/>
          <p:cNvSpPr/>
          <p:nvPr/>
        </p:nvSpPr>
        <p:spPr>
          <a:xfrm>
            <a:off x="1417320" y="4599360"/>
            <a:ext cx="959760" cy="658080"/>
          </a:xfrm>
          <a:prstGeom prst="rect">
            <a:avLst/>
          </a:prstGeom>
          <a:solidFill>
            <a:srgbClr val="168A8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6" name="Text 8"/>
          <p:cNvSpPr/>
          <p:nvPr/>
        </p:nvSpPr>
        <p:spPr>
          <a:xfrm>
            <a:off x="1325880" y="5358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10^1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Text 9"/>
          <p:cNvSpPr/>
          <p:nvPr/>
        </p:nvSpPr>
        <p:spPr>
          <a:xfrm>
            <a:off x="1325880" y="56052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Shape 10"/>
          <p:cNvSpPr/>
          <p:nvPr/>
        </p:nvSpPr>
        <p:spPr>
          <a:xfrm>
            <a:off x="3246120" y="3940920"/>
            <a:ext cx="959760" cy="1316520"/>
          </a:xfrm>
          <a:prstGeom prst="rect">
            <a:avLst/>
          </a:prstGeom>
          <a:solidFill>
            <a:srgbClr val="168A8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9" name="Text 11"/>
          <p:cNvSpPr/>
          <p:nvPr/>
        </p:nvSpPr>
        <p:spPr>
          <a:xfrm>
            <a:off x="3154680" y="5358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10^2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0" name="Text 12"/>
          <p:cNvSpPr/>
          <p:nvPr/>
        </p:nvSpPr>
        <p:spPr>
          <a:xfrm>
            <a:off x="3154680" y="56052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1" name="Shape 13"/>
          <p:cNvSpPr/>
          <p:nvPr/>
        </p:nvSpPr>
        <p:spPr>
          <a:xfrm>
            <a:off x="5074920" y="3282840"/>
            <a:ext cx="959760" cy="1974600"/>
          </a:xfrm>
          <a:prstGeom prst="rect">
            <a:avLst/>
          </a:prstGeom>
          <a:solidFill>
            <a:srgbClr val="F2B84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Text 14"/>
          <p:cNvSpPr/>
          <p:nvPr/>
        </p:nvSpPr>
        <p:spPr>
          <a:xfrm>
            <a:off x="4983480" y="5358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10^3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Text 15"/>
          <p:cNvSpPr/>
          <p:nvPr/>
        </p:nvSpPr>
        <p:spPr>
          <a:xfrm>
            <a:off x="4983480" y="56052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4" name="Shape 16"/>
          <p:cNvSpPr/>
          <p:nvPr/>
        </p:nvSpPr>
        <p:spPr>
          <a:xfrm>
            <a:off x="6903720" y="2624400"/>
            <a:ext cx="959760" cy="2633040"/>
          </a:xfrm>
          <a:prstGeom prst="rect">
            <a:avLst/>
          </a:prstGeom>
          <a:solidFill>
            <a:srgbClr val="F2B84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5" name="Text 17"/>
          <p:cNvSpPr/>
          <p:nvPr/>
        </p:nvSpPr>
        <p:spPr>
          <a:xfrm>
            <a:off x="6812280" y="5358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10^4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6" name="Text 18"/>
          <p:cNvSpPr/>
          <p:nvPr/>
        </p:nvSpPr>
        <p:spPr>
          <a:xfrm>
            <a:off x="6812280" y="56052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Shape 19"/>
          <p:cNvSpPr/>
          <p:nvPr/>
        </p:nvSpPr>
        <p:spPr>
          <a:xfrm>
            <a:off x="8732520" y="1965960"/>
            <a:ext cx="959760" cy="329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8" name="Text 20"/>
          <p:cNvSpPr/>
          <p:nvPr/>
        </p:nvSpPr>
        <p:spPr>
          <a:xfrm>
            <a:off x="8641080" y="5358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10^5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Text 21"/>
          <p:cNvSpPr/>
          <p:nvPr/>
        </p:nvSpPr>
        <p:spPr>
          <a:xfrm>
            <a:off x="8641080" y="56052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d=5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Shape 22"/>
          <p:cNvSpPr/>
          <p:nvPr/>
        </p:nvSpPr>
        <p:spPr>
          <a:xfrm>
            <a:off x="1005840" y="1325880"/>
            <a:ext cx="1005804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Shape 23"/>
          <p:cNvSpPr/>
          <p:nvPr/>
        </p:nvSpPr>
        <p:spPr>
          <a:xfrm>
            <a:off x="1005840" y="1325880"/>
            <a:ext cx="72720" cy="9140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Text 24"/>
          <p:cNvSpPr/>
          <p:nvPr/>
        </p:nvSpPr>
        <p:spPr>
          <a:xfrm>
            <a:off x="1170360" y="145404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Example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3" name="Text 25"/>
          <p:cNvSpPr/>
          <p:nvPr/>
        </p:nvSpPr>
        <p:spPr>
          <a:xfrm>
            <a:off x="1170360" y="1801440"/>
            <a:ext cx="9765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With branching factor b = 10, five ply gives about 100,000 leaf-level possibilities. Increase b or d, and search explodes.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4" name="Text 26"/>
          <p:cNvSpPr/>
          <p:nvPr/>
        </p:nvSpPr>
        <p:spPr>
          <a:xfrm>
            <a:off x="1005840" y="2560320"/>
            <a:ext cx="10058040" cy="45684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This is why engines combine pruning, move ordering, cutoff tests, caching, and 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Limitations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Evaluation Errors and Exploitability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flawed evaluation function creates predictable weaknesses.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Shape 7"/>
          <p:cNvSpPr/>
          <p:nvPr/>
        </p:nvSpPr>
        <p:spPr>
          <a:xfrm>
            <a:off x="8686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Shape 8"/>
          <p:cNvSpPr/>
          <p:nvPr/>
        </p:nvSpPr>
        <p:spPr>
          <a:xfrm>
            <a:off x="868680" y="1417320"/>
            <a:ext cx="72720" cy="1828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4" name="Text 9"/>
          <p:cNvSpPr/>
          <p:nvPr/>
        </p:nvSpPr>
        <p:spPr>
          <a:xfrm>
            <a:off x="10332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Blind spot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Text 10"/>
          <p:cNvSpPr/>
          <p:nvPr/>
        </p:nvSpPr>
        <p:spPr>
          <a:xfrm>
            <a:off x="10332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If EVAL ignores a feature, the agent may repeatedly choose states that are secretly bad.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Shape 11"/>
          <p:cNvSpPr/>
          <p:nvPr/>
        </p:nvSpPr>
        <p:spPr>
          <a:xfrm>
            <a:off x="4526280" y="141732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Shape 12"/>
          <p:cNvSpPr/>
          <p:nvPr/>
        </p:nvSpPr>
        <p:spPr>
          <a:xfrm>
            <a:off x="4526280" y="1417320"/>
            <a:ext cx="72720" cy="18284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Text 13"/>
          <p:cNvSpPr/>
          <p:nvPr/>
        </p:nvSpPr>
        <p:spPr>
          <a:xfrm>
            <a:off x="4690800" y="1545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Overfitting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9" name="Text 14"/>
          <p:cNvSpPr/>
          <p:nvPr/>
        </p:nvSpPr>
        <p:spPr>
          <a:xfrm>
            <a:off x="4690800" y="1892880"/>
            <a:ext cx="3181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An agent tuned for one opponent or style may fail against another.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0" name="Shape 15"/>
          <p:cNvSpPr/>
          <p:nvPr/>
        </p:nvSpPr>
        <p:spPr>
          <a:xfrm>
            <a:off x="8183880" y="1417320"/>
            <a:ext cx="2742840" cy="182844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1" name="Shape 16"/>
          <p:cNvSpPr/>
          <p:nvPr/>
        </p:nvSpPr>
        <p:spPr>
          <a:xfrm>
            <a:off x="8183880" y="1417320"/>
            <a:ext cx="72720" cy="18284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Text 17"/>
          <p:cNvSpPr/>
          <p:nvPr/>
        </p:nvSpPr>
        <p:spPr>
          <a:xfrm>
            <a:off x="8348400" y="154548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Adversarial adaptation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3" name="Text 18"/>
          <p:cNvSpPr/>
          <p:nvPr/>
        </p:nvSpPr>
        <p:spPr>
          <a:xfrm>
            <a:off x="8348400" y="1892880"/>
            <a:ext cx="2450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Opponents can steer the game toward positions your search evaluates poorly.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Shape 19"/>
          <p:cNvSpPr/>
          <p:nvPr/>
        </p:nvSpPr>
        <p:spPr>
          <a:xfrm>
            <a:off x="1143000" y="4343400"/>
            <a:ext cx="9875160" cy="914040"/>
          </a:xfrm>
          <a:prstGeom prst="roundRect">
            <a:avLst>
              <a:gd name="adj" fmla="val 6000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5" name="Text 20"/>
          <p:cNvSpPr/>
          <p:nvPr/>
        </p:nvSpPr>
        <p:spPr>
          <a:xfrm>
            <a:off x="1417320" y="4572000"/>
            <a:ext cx="932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 heuristic is a theory of what matters. Opponents can test that theory.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6" name="Text 21"/>
          <p:cNvSpPr/>
          <p:nvPr/>
        </p:nvSpPr>
        <p:spPr>
          <a:xfrm>
            <a:off x="1463040" y="4846320"/>
            <a:ext cx="92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This is why evaluation is both technical and strategic.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Labs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79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Bridge to Chapter 5 Visual Labs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Use the notebooks to turn lecture ideas into executable search traces.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4" name="Shape 7"/>
          <p:cNvSpPr/>
          <p:nvPr/>
        </p:nvSpPr>
        <p:spPr>
          <a:xfrm>
            <a:off x="868680" y="1325880"/>
            <a:ext cx="480024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Shape 8"/>
          <p:cNvSpPr/>
          <p:nvPr/>
        </p:nvSpPr>
        <p:spPr>
          <a:xfrm>
            <a:off x="868680" y="1325880"/>
            <a:ext cx="72720" cy="9140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6" name="Text 9"/>
          <p:cNvSpPr/>
          <p:nvPr/>
        </p:nvSpPr>
        <p:spPr>
          <a:xfrm>
            <a:off x="1033200" y="145404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Lab 5A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Text 10"/>
          <p:cNvSpPr/>
          <p:nvPr/>
        </p:nvSpPr>
        <p:spPr>
          <a:xfrm>
            <a:off x="1033200" y="1801440"/>
            <a:ext cx="4507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Minimax Tic-Tac-Toe game trees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Shape 11"/>
          <p:cNvSpPr/>
          <p:nvPr/>
        </p:nvSpPr>
        <p:spPr>
          <a:xfrm>
            <a:off x="6263640" y="1325880"/>
            <a:ext cx="480024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Shape 12"/>
          <p:cNvSpPr/>
          <p:nvPr/>
        </p:nvSpPr>
        <p:spPr>
          <a:xfrm>
            <a:off x="6263640" y="1325880"/>
            <a:ext cx="72720" cy="9140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Text 13"/>
          <p:cNvSpPr/>
          <p:nvPr/>
        </p:nvSpPr>
        <p:spPr>
          <a:xfrm>
            <a:off x="6428160" y="145404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Lab 5B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Text 14"/>
          <p:cNvSpPr/>
          <p:nvPr/>
        </p:nvSpPr>
        <p:spPr>
          <a:xfrm>
            <a:off x="6428160" y="1801440"/>
            <a:ext cx="4507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 pruning and move ordering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2" name="Shape 15"/>
          <p:cNvSpPr/>
          <p:nvPr/>
        </p:nvSpPr>
        <p:spPr>
          <a:xfrm>
            <a:off x="868680" y="2743200"/>
            <a:ext cx="480024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3" name="Shape 16"/>
          <p:cNvSpPr/>
          <p:nvPr/>
        </p:nvSpPr>
        <p:spPr>
          <a:xfrm>
            <a:off x="868680" y="2743200"/>
            <a:ext cx="72720" cy="914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4" name="Text 17"/>
          <p:cNvSpPr/>
          <p:nvPr/>
        </p:nvSpPr>
        <p:spPr>
          <a:xfrm>
            <a:off x="1033200" y="287136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Lab 5C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Text 18"/>
          <p:cNvSpPr/>
          <p:nvPr/>
        </p:nvSpPr>
        <p:spPr>
          <a:xfrm>
            <a:off x="1033200" y="3218760"/>
            <a:ext cx="4507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Heuristic alpha-beta in Connect Four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6" name="Shape 19"/>
          <p:cNvSpPr/>
          <p:nvPr/>
        </p:nvSpPr>
        <p:spPr>
          <a:xfrm>
            <a:off x="6263640" y="2743200"/>
            <a:ext cx="480024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7" name="Shape 20"/>
          <p:cNvSpPr/>
          <p:nvPr/>
        </p:nvSpPr>
        <p:spPr>
          <a:xfrm>
            <a:off x="6263640" y="2743200"/>
            <a:ext cx="72720" cy="9140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Text 21"/>
          <p:cNvSpPr/>
          <p:nvPr/>
        </p:nvSpPr>
        <p:spPr>
          <a:xfrm>
            <a:off x="6428160" y="287136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Lab 5D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9" name="Text 22"/>
          <p:cNvSpPr/>
          <p:nvPr/>
        </p:nvSpPr>
        <p:spPr>
          <a:xfrm>
            <a:off x="6428160" y="3218760"/>
            <a:ext cx="4507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MCTS and stochastic games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0" name="Shape 23"/>
          <p:cNvSpPr/>
          <p:nvPr/>
        </p:nvSpPr>
        <p:spPr>
          <a:xfrm>
            <a:off x="868680" y="4160520"/>
            <a:ext cx="480024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1" name="Shape 24"/>
          <p:cNvSpPr/>
          <p:nvPr/>
        </p:nvSpPr>
        <p:spPr>
          <a:xfrm>
            <a:off x="868680" y="4160520"/>
            <a:ext cx="72720" cy="91404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2" name="Text 25"/>
          <p:cNvSpPr/>
          <p:nvPr/>
        </p:nvSpPr>
        <p:spPr>
          <a:xfrm>
            <a:off x="1033200" y="428868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Lab 5E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Text 26"/>
          <p:cNvSpPr/>
          <p:nvPr/>
        </p:nvSpPr>
        <p:spPr>
          <a:xfrm>
            <a:off x="1033200" y="4636080"/>
            <a:ext cx="4507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Partially observable games and limitations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4" name="Text 27"/>
          <p:cNvSpPr/>
          <p:nvPr/>
        </p:nvSpPr>
        <p:spPr>
          <a:xfrm>
            <a:off x="1005840" y="5577840"/>
            <a:ext cx="10149480" cy="456840"/>
          </a:xfrm>
          <a:prstGeom prst="rect">
            <a:avLst/>
          </a:prstGeom>
          <a:solidFill>
            <a:srgbClr val="E7F6F5"/>
          </a:solidFill>
          <a:ln w="127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Suggested class flow: lecture concept -&gt; visual trace -&gt; notebook demo -&gt; student modification.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7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Instructor Plan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Suggested 110-Minute Class Plan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0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1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practical teaching cadence for a full class meeting.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2" name="Shape 7"/>
          <p:cNvSpPr/>
          <p:nvPr/>
        </p:nvSpPr>
        <p:spPr>
          <a:xfrm>
            <a:off x="868680" y="1325880"/>
            <a:ext cx="3291480" cy="105120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3" name="Shape 8"/>
          <p:cNvSpPr/>
          <p:nvPr/>
        </p:nvSpPr>
        <p:spPr>
          <a:xfrm>
            <a:off x="868680" y="1325880"/>
            <a:ext cx="72720" cy="105120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4" name="Text 9"/>
          <p:cNvSpPr/>
          <p:nvPr/>
        </p:nvSpPr>
        <p:spPr>
          <a:xfrm>
            <a:off x="1033200" y="145404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0-15 min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5" name="Text 10"/>
          <p:cNvSpPr/>
          <p:nvPr/>
        </p:nvSpPr>
        <p:spPr>
          <a:xfrm>
            <a:off x="1033200" y="180144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Motivation, game assumptions, formal API.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6" name="Shape 11"/>
          <p:cNvSpPr/>
          <p:nvPr/>
        </p:nvSpPr>
        <p:spPr>
          <a:xfrm>
            <a:off x="4434840" y="1325880"/>
            <a:ext cx="3291480" cy="1051200"/>
          </a:xfrm>
          <a:prstGeom prst="roundRect">
            <a:avLst>
              <a:gd name="adj" fmla="val 5217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7" name="Shape 12"/>
          <p:cNvSpPr/>
          <p:nvPr/>
        </p:nvSpPr>
        <p:spPr>
          <a:xfrm>
            <a:off x="4434840" y="1325880"/>
            <a:ext cx="72720" cy="1051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8" name="Text 13"/>
          <p:cNvSpPr/>
          <p:nvPr/>
        </p:nvSpPr>
        <p:spPr>
          <a:xfrm>
            <a:off x="4599360" y="145404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15-35 min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9" name="Text 14"/>
          <p:cNvSpPr/>
          <p:nvPr/>
        </p:nvSpPr>
        <p:spPr>
          <a:xfrm>
            <a:off x="4599360" y="180144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Minimax trace + student mini-exercise.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0" name="Shape 15"/>
          <p:cNvSpPr/>
          <p:nvPr/>
        </p:nvSpPr>
        <p:spPr>
          <a:xfrm>
            <a:off x="8001000" y="1325880"/>
            <a:ext cx="3108600" cy="105120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1" name="Shape 16"/>
          <p:cNvSpPr/>
          <p:nvPr/>
        </p:nvSpPr>
        <p:spPr>
          <a:xfrm>
            <a:off x="8001000" y="1325880"/>
            <a:ext cx="72720" cy="105120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2" name="Text 17"/>
          <p:cNvSpPr/>
          <p:nvPr/>
        </p:nvSpPr>
        <p:spPr>
          <a:xfrm>
            <a:off x="8165520" y="145404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35-55 min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3" name="Text 18"/>
          <p:cNvSpPr/>
          <p:nvPr/>
        </p:nvSpPr>
        <p:spPr>
          <a:xfrm>
            <a:off x="8165520" y="1801440"/>
            <a:ext cx="281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 pruning trace + move ordering.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4" name="Shape 19"/>
          <p:cNvSpPr/>
          <p:nvPr/>
        </p:nvSpPr>
        <p:spPr>
          <a:xfrm>
            <a:off x="868680" y="2971800"/>
            <a:ext cx="3291480" cy="1051200"/>
          </a:xfrm>
          <a:prstGeom prst="roundRect">
            <a:avLst>
              <a:gd name="adj" fmla="val 5217"/>
            </a:avLst>
          </a:prstGeom>
          <a:solidFill>
            <a:srgbClr val="F8E4E0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5" name="Shape 20"/>
          <p:cNvSpPr/>
          <p:nvPr/>
        </p:nvSpPr>
        <p:spPr>
          <a:xfrm>
            <a:off x="868680" y="2971800"/>
            <a:ext cx="72720" cy="1051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6" name="Text 21"/>
          <p:cNvSpPr/>
          <p:nvPr/>
        </p:nvSpPr>
        <p:spPr>
          <a:xfrm>
            <a:off x="1033200" y="309996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55-75 min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7" name="Text 22"/>
          <p:cNvSpPr/>
          <p:nvPr/>
        </p:nvSpPr>
        <p:spPr>
          <a:xfrm>
            <a:off x="1033200" y="344736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Heuristic alpha-beta, EVAL, horizon effect.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8" name="Shape 23"/>
          <p:cNvSpPr/>
          <p:nvPr/>
        </p:nvSpPr>
        <p:spPr>
          <a:xfrm>
            <a:off x="4434840" y="2971800"/>
            <a:ext cx="3291480" cy="105120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9" name="Shape 24"/>
          <p:cNvSpPr/>
          <p:nvPr/>
        </p:nvSpPr>
        <p:spPr>
          <a:xfrm>
            <a:off x="4434840" y="2971800"/>
            <a:ext cx="72720" cy="10512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0" name="Text 25"/>
          <p:cNvSpPr/>
          <p:nvPr/>
        </p:nvSpPr>
        <p:spPr>
          <a:xfrm>
            <a:off x="4599360" y="309996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75-95 min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1" name="Text 26"/>
          <p:cNvSpPr/>
          <p:nvPr/>
        </p:nvSpPr>
        <p:spPr>
          <a:xfrm>
            <a:off x="4599360" y="3447360"/>
            <a:ext cx="29988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MCTS + stochastic games.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2" name="Shape 27"/>
          <p:cNvSpPr/>
          <p:nvPr/>
        </p:nvSpPr>
        <p:spPr>
          <a:xfrm>
            <a:off x="8001000" y="2971800"/>
            <a:ext cx="3108600" cy="1051200"/>
          </a:xfrm>
          <a:prstGeom prst="roundRect">
            <a:avLst>
              <a:gd name="adj" fmla="val 5217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3" name="Shape 28"/>
          <p:cNvSpPr/>
          <p:nvPr/>
        </p:nvSpPr>
        <p:spPr>
          <a:xfrm>
            <a:off x="8001000" y="2971800"/>
            <a:ext cx="72720" cy="10512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4" name="Text 29"/>
          <p:cNvSpPr/>
          <p:nvPr/>
        </p:nvSpPr>
        <p:spPr>
          <a:xfrm>
            <a:off x="8165520" y="30999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95-110 min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5" name="Text 30"/>
          <p:cNvSpPr/>
          <p:nvPr/>
        </p:nvSpPr>
        <p:spPr>
          <a:xfrm>
            <a:off x="8165520" y="3447360"/>
            <a:ext cx="281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Partial observability, limitations, quiz, lab bridge.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6" name="Text 31"/>
          <p:cNvSpPr/>
          <p:nvPr/>
        </p:nvSpPr>
        <p:spPr>
          <a:xfrm>
            <a:off x="1097280" y="5120640"/>
            <a:ext cx="9875160" cy="548280"/>
          </a:xfrm>
          <a:prstGeom prst="rect">
            <a:avLst/>
          </a:prstGeom>
          <a:solidFill>
            <a:srgbClr val="FFF9E8"/>
          </a:solidFill>
          <a:ln w="12700">
            <a:solidFill>
              <a:srgbClr val="F2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Optional adjustment: split after alpha-beta if you want a slower, code-heavy lab day.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8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Student Gotchas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0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1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Common Student Gotchas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3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Address these explicitly before students code.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4" name="Shape 7"/>
          <p:cNvSpPr/>
          <p:nvPr/>
        </p:nvSpPr>
        <p:spPr>
          <a:xfrm>
            <a:off x="868680" y="13258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Shape 8"/>
          <p:cNvSpPr/>
          <p:nvPr/>
        </p:nvSpPr>
        <p:spPr>
          <a:xfrm>
            <a:off x="868680" y="1325880"/>
            <a:ext cx="72720" cy="1234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6" name="Text 9"/>
          <p:cNvSpPr/>
          <p:nvPr/>
        </p:nvSpPr>
        <p:spPr>
          <a:xfrm>
            <a:off x="1033200" y="14540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MAX at every level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7" name="Text 10"/>
          <p:cNvSpPr/>
          <p:nvPr/>
        </p:nvSpPr>
        <p:spPr>
          <a:xfrm>
            <a:off x="1033200" y="18014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Forgetting MIN makes the opponent cooperate.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8" name="Shape 11"/>
          <p:cNvSpPr/>
          <p:nvPr/>
        </p:nvSpPr>
        <p:spPr>
          <a:xfrm>
            <a:off x="4572000" y="13258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9" name="Shape 12"/>
          <p:cNvSpPr/>
          <p:nvPr/>
        </p:nvSpPr>
        <p:spPr>
          <a:xfrm>
            <a:off x="4572000" y="1325880"/>
            <a:ext cx="72720" cy="123408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0" name="Text 13"/>
          <p:cNvSpPr/>
          <p:nvPr/>
        </p:nvSpPr>
        <p:spPr>
          <a:xfrm>
            <a:off x="4736520" y="14540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Using average in minimax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1" name="Text 14"/>
          <p:cNvSpPr/>
          <p:nvPr/>
        </p:nvSpPr>
        <p:spPr>
          <a:xfrm>
            <a:off x="4736520" y="18014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Minimax uses choice, not probability.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2" name="Shape 15"/>
          <p:cNvSpPr/>
          <p:nvPr/>
        </p:nvSpPr>
        <p:spPr>
          <a:xfrm>
            <a:off x="8275320" y="13258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3" name="Shape 16"/>
          <p:cNvSpPr/>
          <p:nvPr/>
        </p:nvSpPr>
        <p:spPr>
          <a:xfrm>
            <a:off x="8275320" y="1325880"/>
            <a:ext cx="72720" cy="123408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4" name="Text 17"/>
          <p:cNvSpPr/>
          <p:nvPr/>
        </p:nvSpPr>
        <p:spPr>
          <a:xfrm>
            <a:off x="8439840" y="14540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Confusing utility and EVAL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5" name="Text 18"/>
          <p:cNvSpPr/>
          <p:nvPr/>
        </p:nvSpPr>
        <p:spPr>
          <a:xfrm>
            <a:off x="8439840" y="18014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Utility is terminal; EVAL estimates non-terminal states.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6" name="Shape 19"/>
          <p:cNvSpPr/>
          <p:nvPr/>
        </p:nvSpPr>
        <p:spPr>
          <a:xfrm>
            <a:off x="868680" y="31546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7" name="Shape 20"/>
          <p:cNvSpPr/>
          <p:nvPr/>
        </p:nvSpPr>
        <p:spPr>
          <a:xfrm>
            <a:off x="868680" y="3154680"/>
            <a:ext cx="72720" cy="12340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8" name="Text 21"/>
          <p:cNvSpPr/>
          <p:nvPr/>
        </p:nvSpPr>
        <p:spPr>
          <a:xfrm>
            <a:off x="1033200" y="32828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Pruning changes answer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9" name="Text 22"/>
          <p:cNvSpPr/>
          <p:nvPr/>
        </p:nvSpPr>
        <p:spPr>
          <a:xfrm>
            <a:off x="1033200" y="36302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Alpha-beta should return same minimax answer.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0" name="Shape 23"/>
          <p:cNvSpPr/>
          <p:nvPr/>
        </p:nvSpPr>
        <p:spPr>
          <a:xfrm>
            <a:off x="4572000" y="31546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1" name="Shape 24"/>
          <p:cNvSpPr/>
          <p:nvPr/>
        </p:nvSpPr>
        <p:spPr>
          <a:xfrm>
            <a:off x="4572000" y="3154680"/>
            <a:ext cx="72720" cy="123408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2" name="Text 25"/>
          <p:cNvSpPr/>
          <p:nvPr/>
        </p:nvSpPr>
        <p:spPr>
          <a:xfrm>
            <a:off x="4736520" y="32828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Ignoring move ordering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3" name="Text 26"/>
          <p:cNvSpPr/>
          <p:nvPr/>
        </p:nvSpPr>
        <p:spPr>
          <a:xfrm>
            <a:off x="4736520" y="36302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Correct but slow alpha-beta can look broken.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4" name="Shape 27"/>
          <p:cNvSpPr/>
          <p:nvPr/>
        </p:nvSpPr>
        <p:spPr>
          <a:xfrm>
            <a:off x="8275320" y="3154680"/>
            <a:ext cx="3245760" cy="12340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Shape 28"/>
          <p:cNvSpPr/>
          <p:nvPr/>
        </p:nvSpPr>
        <p:spPr>
          <a:xfrm>
            <a:off x="8275320" y="3154680"/>
            <a:ext cx="72720" cy="1234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6" name="Text 29"/>
          <p:cNvSpPr/>
          <p:nvPr/>
        </p:nvSpPr>
        <p:spPr>
          <a:xfrm>
            <a:off x="8439840" y="328284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Single hidden-state guess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7" name="Text 30"/>
          <p:cNvSpPr/>
          <p:nvPr/>
        </p:nvSpPr>
        <p:spPr>
          <a:xfrm>
            <a:off x="8439840" y="3630240"/>
            <a:ext cx="2953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Partial observability requires belief reasoning.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8" name="Shape 31"/>
          <p:cNvSpPr/>
          <p:nvPr/>
        </p:nvSpPr>
        <p:spPr>
          <a:xfrm>
            <a:off x="1280160" y="5257800"/>
            <a:ext cx="9509400" cy="639720"/>
          </a:xfrm>
          <a:prstGeom prst="roundRect">
            <a:avLst>
              <a:gd name="adj" fmla="val 8571"/>
            </a:avLst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Text 32"/>
          <p:cNvSpPr/>
          <p:nvPr/>
        </p:nvSpPr>
        <p:spPr>
          <a:xfrm>
            <a:off x="1554480" y="5441040"/>
            <a:ext cx="8960760" cy="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If students can explain these mistakes, they understand the chapter.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Retrieval Practice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3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Quick Quiz: Check for Understanding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Use as exit ticket, group discussion, or exam practice.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Shape 7"/>
          <p:cNvSpPr/>
          <p:nvPr/>
        </p:nvSpPr>
        <p:spPr>
          <a:xfrm>
            <a:off x="868680" y="1417320"/>
            <a:ext cx="329148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Shape 8"/>
          <p:cNvSpPr/>
          <p:nvPr/>
        </p:nvSpPr>
        <p:spPr>
          <a:xfrm>
            <a:off x="868680" y="1417320"/>
            <a:ext cx="72720" cy="13255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9" name="Text 9"/>
          <p:cNvSpPr/>
          <p:nvPr/>
        </p:nvSpPr>
        <p:spPr>
          <a:xfrm>
            <a:off x="103320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Q1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Text 10"/>
          <p:cNvSpPr/>
          <p:nvPr/>
        </p:nvSpPr>
        <p:spPr>
          <a:xfrm>
            <a:off x="1033200" y="1892880"/>
            <a:ext cx="29988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At a MIN node with children 7, 2, 5, what value backs up?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1" name="Shape 11"/>
          <p:cNvSpPr/>
          <p:nvPr/>
        </p:nvSpPr>
        <p:spPr>
          <a:xfrm>
            <a:off x="4434840" y="1417320"/>
            <a:ext cx="329148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Shape 12"/>
          <p:cNvSpPr/>
          <p:nvPr/>
        </p:nvSpPr>
        <p:spPr>
          <a:xfrm>
            <a:off x="4434840" y="1417320"/>
            <a:ext cx="72720" cy="13255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Text 13"/>
          <p:cNvSpPr/>
          <p:nvPr/>
        </p:nvSpPr>
        <p:spPr>
          <a:xfrm>
            <a:off x="4599360" y="154548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Q2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4" name="Text 14"/>
          <p:cNvSpPr/>
          <p:nvPr/>
        </p:nvSpPr>
        <p:spPr>
          <a:xfrm>
            <a:off x="4599360" y="1892880"/>
            <a:ext cx="29988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Does alpha-beta pruning change the minimax value?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Shape 15"/>
          <p:cNvSpPr/>
          <p:nvPr/>
        </p:nvSpPr>
        <p:spPr>
          <a:xfrm>
            <a:off x="8001000" y="1417320"/>
            <a:ext cx="310860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Shape 16"/>
          <p:cNvSpPr/>
          <p:nvPr/>
        </p:nvSpPr>
        <p:spPr>
          <a:xfrm>
            <a:off x="8001000" y="1417320"/>
            <a:ext cx="72720" cy="132552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Text 17"/>
          <p:cNvSpPr/>
          <p:nvPr/>
        </p:nvSpPr>
        <p:spPr>
          <a:xfrm>
            <a:off x="8165520" y="15454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Q3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Text 18"/>
          <p:cNvSpPr/>
          <p:nvPr/>
        </p:nvSpPr>
        <p:spPr>
          <a:xfrm>
            <a:off x="8165520" y="1892880"/>
            <a:ext cx="2815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What is the difference between UTILITY and EVAL?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9" name="Shape 19"/>
          <p:cNvSpPr/>
          <p:nvPr/>
        </p:nvSpPr>
        <p:spPr>
          <a:xfrm>
            <a:off x="868680" y="3429000"/>
            <a:ext cx="329148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0" name="Shape 20"/>
          <p:cNvSpPr/>
          <p:nvPr/>
        </p:nvSpPr>
        <p:spPr>
          <a:xfrm>
            <a:off x="868680" y="3429000"/>
            <a:ext cx="72720" cy="1325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1" name="Text 21"/>
          <p:cNvSpPr/>
          <p:nvPr/>
        </p:nvSpPr>
        <p:spPr>
          <a:xfrm>
            <a:off x="1033200" y="355716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Q4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Text 22"/>
          <p:cNvSpPr/>
          <p:nvPr/>
        </p:nvSpPr>
        <p:spPr>
          <a:xfrm>
            <a:off x="1033200" y="3904560"/>
            <a:ext cx="29988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At a chance node, do we choose max, min, or average?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3" name="Shape 23"/>
          <p:cNvSpPr/>
          <p:nvPr/>
        </p:nvSpPr>
        <p:spPr>
          <a:xfrm>
            <a:off x="4434840" y="3429000"/>
            <a:ext cx="3291480" cy="1325520"/>
          </a:xfrm>
          <a:prstGeom prst="roundRect">
            <a:avLst>
              <a:gd name="adj" fmla="val 4138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Shape 24"/>
          <p:cNvSpPr/>
          <p:nvPr/>
        </p:nvSpPr>
        <p:spPr>
          <a:xfrm>
            <a:off x="4434840" y="3429000"/>
            <a:ext cx="72720" cy="132552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5" name="Text 25"/>
          <p:cNvSpPr/>
          <p:nvPr/>
        </p:nvSpPr>
        <p:spPr>
          <a:xfrm>
            <a:off x="4599360" y="3557160"/>
            <a:ext cx="301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Q5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6" name="Text 26"/>
          <p:cNvSpPr/>
          <p:nvPr/>
        </p:nvSpPr>
        <p:spPr>
          <a:xfrm>
            <a:off x="4599360" y="3904560"/>
            <a:ext cx="29988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Why can a single guessed poker hand be a bad model?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Shape 27"/>
          <p:cNvSpPr/>
          <p:nvPr/>
        </p:nvSpPr>
        <p:spPr>
          <a:xfrm>
            <a:off x="8001000" y="3429000"/>
            <a:ext cx="3108600" cy="1325520"/>
          </a:xfrm>
          <a:prstGeom prst="roundRect">
            <a:avLst>
              <a:gd name="adj" fmla="val 4138"/>
            </a:avLst>
          </a:prstGeom>
          <a:solidFill>
            <a:srgbClr val="E2F4ED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8" name="Shape 28"/>
          <p:cNvSpPr/>
          <p:nvPr/>
        </p:nvSpPr>
        <p:spPr>
          <a:xfrm>
            <a:off x="8001000" y="3429000"/>
            <a:ext cx="72720" cy="1325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9" name="Text 29"/>
          <p:cNvSpPr/>
          <p:nvPr/>
        </p:nvSpPr>
        <p:spPr>
          <a:xfrm>
            <a:off x="8165520" y="35571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Q6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0" name="Text 30"/>
          <p:cNvSpPr/>
          <p:nvPr/>
        </p:nvSpPr>
        <p:spPr>
          <a:xfrm>
            <a:off x="8165520" y="3904560"/>
            <a:ext cx="28159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Name one cause of the horizon effect.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2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3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Synthesis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4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5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Algorithm Selection Cheat Sheet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6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7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Match the algorithm to the game structure and resource constraints.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8" name="Shape 7"/>
          <p:cNvSpPr/>
          <p:nvPr/>
        </p:nvSpPr>
        <p:spPr>
          <a:xfrm>
            <a:off x="731520" y="1234440"/>
            <a:ext cx="10972440" cy="52992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635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9" name="Text 8"/>
          <p:cNvSpPr/>
          <p:nvPr/>
        </p:nvSpPr>
        <p:spPr>
          <a:xfrm>
            <a:off x="914400" y="13532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Small deterministic perfect-info game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0" name="Text 9"/>
          <p:cNvSpPr/>
          <p:nvPr/>
        </p:nvSpPr>
        <p:spPr>
          <a:xfrm>
            <a:off x="5074920" y="13532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Minimax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1" name="Text 10"/>
          <p:cNvSpPr/>
          <p:nvPr/>
        </p:nvSpPr>
        <p:spPr>
          <a:xfrm>
            <a:off x="7863840" y="13532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Exact if tree is small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2" name="Shape 11"/>
          <p:cNvSpPr/>
          <p:nvPr/>
        </p:nvSpPr>
        <p:spPr>
          <a:xfrm>
            <a:off x="731520" y="1984320"/>
            <a:ext cx="10972440" cy="529920"/>
          </a:xfrm>
          <a:prstGeom prst="roundRect">
            <a:avLst>
              <a:gd name="adj" fmla="val 6897"/>
            </a:avLst>
          </a:prstGeom>
          <a:solidFill>
            <a:srgbClr val="E7F6F5"/>
          </a:solidFill>
          <a:ln w="635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3" name="Text 12"/>
          <p:cNvSpPr/>
          <p:nvPr/>
        </p:nvSpPr>
        <p:spPr>
          <a:xfrm>
            <a:off x="914400" y="21031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Larger deterministic perfect-info game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4" name="Text 13"/>
          <p:cNvSpPr/>
          <p:nvPr/>
        </p:nvSpPr>
        <p:spPr>
          <a:xfrm>
            <a:off x="5074920" y="21031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Alpha-beta + ordering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5" name="Text 14"/>
          <p:cNvSpPr/>
          <p:nvPr/>
        </p:nvSpPr>
        <p:spPr>
          <a:xfrm>
            <a:off x="7863840" y="210312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Same answer, fewer nodes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6" name="Shape 15"/>
          <p:cNvSpPr/>
          <p:nvPr/>
        </p:nvSpPr>
        <p:spPr>
          <a:xfrm>
            <a:off x="731520" y="2734200"/>
            <a:ext cx="10972440" cy="52992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635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7" name="Text 16"/>
          <p:cNvSpPr/>
          <p:nvPr/>
        </p:nvSpPr>
        <p:spPr>
          <a:xfrm>
            <a:off x="914400" y="28530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Huge game with useful features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8" name="Text 17"/>
          <p:cNvSpPr/>
          <p:nvPr/>
        </p:nvSpPr>
        <p:spPr>
          <a:xfrm>
            <a:off x="5074920" y="28530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Heuristic alpha-beta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Text 18"/>
          <p:cNvSpPr/>
          <p:nvPr/>
        </p:nvSpPr>
        <p:spPr>
          <a:xfrm>
            <a:off x="7863840" y="285300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Depth-limited practical play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0" name="Shape 19"/>
          <p:cNvSpPr/>
          <p:nvPr/>
        </p:nvSpPr>
        <p:spPr>
          <a:xfrm>
            <a:off x="731520" y="3483720"/>
            <a:ext cx="10972440" cy="529920"/>
          </a:xfrm>
          <a:prstGeom prst="roundRect">
            <a:avLst>
              <a:gd name="adj" fmla="val 6897"/>
            </a:avLst>
          </a:prstGeom>
          <a:solidFill>
            <a:srgbClr val="E7F6F5"/>
          </a:solidFill>
          <a:ln w="635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1" name="Text 20"/>
          <p:cNvSpPr/>
          <p:nvPr/>
        </p:nvSpPr>
        <p:spPr>
          <a:xfrm>
            <a:off x="914400" y="3602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Huge game with hard evaluation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Text 21"/>
          <p:cNvSpPr/>
          <p:nvPr/>
        </p:nvSpPr>
        <p:spPr>
          <a:xfrm>
            <a:off x="5074920" y="360288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MCTS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3" name="Text 22"/>
          <p:cNvSpPr/>
          <p:nvPr/>
        </p:nvSpPr>
        <p:spPr>
          <a:xfrm>
            <a:off x="7863840" y="36028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Use simulation statistics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4" name="Shape 23"/>
          <p:cNvSpPr/>
          <p:nvPr/>
        </p:nvSpPr>
        <p:spPr>
          <a:xfrm>
            <a:off x="731520" y="4233600"/>
            <a:ext cx="10972440" cy="529920"/>
          </a:xfrm>
          <a:prstGeom prst="roundRect">
            <a:avLst>
              <a:gd name="adj" fmla="val 6897"/>
            </a:avLst>
          </a:prstGeom>
          <a:solidFill>
            <a:srgbClr val="FFFDF7"/>
          </a:solidFill>
          <a:ln w="635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5" name="Text 24"/>
          <p:cNvSpPr/>
          <p:nvPr/>
        </p:nvSpPr>
        <p:spPr>
          <a:xfrm>
            <a:off x="914400" y="43524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Game with dice/shuffling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6" name="Text 25"/>
          <p:cNvSpPr/>
          <p:nvPr/>
        </p:nvSpPr>
        <p:spPr>
          <a:xfrm>
            <a:off x="5074920" y="43524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Expectiminimax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7" name="Text 26"/>
          <p:cNvSpPr/>
          <p:nvPr/>
        </p:nvSpPr>
        <p:spPr>
          <a:xfrm>
            <a:off x="7863840" y="435240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Average chance outcomes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8" name="Shape 27"/>
          <p:cNvSpPr/>
          <p:nvPr/>
        </p:nvSpPr>
        <p:spPr>
          <a:xfrm>
            <a:off x="731520" y="4983480"/>
            <a:ext cx="10972440" cy="529920"/>
          </a:xfrm>
          <a:prstGeom prst="roundRect">
            <a:avLst>
              <a:gd name="adj" fmla="val 6897"/>
            </a:avLst>
          </a:prstGeom>
          <a:solidFill>
            <a:srgbClr val="E7F6F5"/>
          </a:solidFill>
          <a:ln w="635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9" name="Text 28"/>
          <p:cNvSpPr/>
          <p:nvPr/>
        </p:nvSpPr>
        <p:spPr>
          <a:xfrm>
            <a:off x="914400" y="51022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Hidden information game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0" name="Text 29"/>
          <p:cNvSpPr/>
          <p:nvPr/>
        </p:nvSpPr>
        <p:spPr>
          <a:xfrm>
            <a:off x="5074920" y="510228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Belief-state / game-theoretic methods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1" name="Text 30"/>
          <p:cNvSpPr/>
          <p:nvPr/>
        </p:nvSpPr>
        <p:spPr>
          <a:xfrm>
            <a:off x="7863840" y="51022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Reason over possible states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Shape 0"/>
          <p:cNvSpPr/>
          <p:nvPr/>
        </p:nvSpPr>
        <p:spPr>
          <a:xfrm>
            <a:off x="502920" y="6473880"/>
            <a:ext cx="11201400" cy="360"/>
          </a:xfrm>
          <a:prstGeom prst="line">
            <a:avLst/>
          </a:prstGeom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3" name="Text 1"/>
          <p:cNvSpPr/>
          <p:nvPr/>
        </p:nvSpPr>
        <p:spPr>
          <a:xfrm>
            <a:off x="548640" y="6519600"/>
            <a:ext cx="5303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COMP 469 | Adversarial Search and Games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Text 2"/>
          <p:cNvSpPr/>
          <p:nvPr/>
        </p:nvSpPr>
        <p:spPr>
          <a:xfrm>
            <a:off x="6035040" y="65196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References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5" name="Text 3"/>
          <p:cNvSpPr/>
          <p:nvPr/>
        </p:nvSpPr>
        <p:spPr>
          <a:xfrm>
            <a:off x="11292840" y="64738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5088"/>
                </a:solidFill>
                <a:effectLst/>
                <a:uFillTx/>
                <a:latin typeface="Aptos"/>
                <a:ea typeface="Aptos"/>
              </a:rPr>
              <a:t>84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6" name="Text 4"/>
          <p:cNvSpPr/>
          <p:nvPr/>
        </p:nvSpPr>
        <p:spPr>
          <a:xfrm>
            <a:off x="548640" y="3200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References and Helpful URLs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7" name="Shape 5"/>
          <p:cNvSpPr/>
          <p:nvPr/>
        </p:nvSpPr>
        <p:spPr>
          <a:xfrm>
            <a:off x="548640" y="932400"/>
            <a:ext cx="11109960" cy="360"/>
          </a:xfrm>
          <a:prstGeom prst="line">
            <a:avLst/>
          </a:prstGeom>
          <a:ln w="25400">
            <a:solidFill>
              <a:srgbClr val="16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8" name="Text 6"/>
          <p:cNvSpPr/>
          <p:nvPr/>
        </p:nvSpPr>
        <p:spPr>
          <a:xfrm>
            <a:off x="548640" y="978480"/>
            <a:ext cx="11018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Share these with students for review and further exploration.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9" name="Shape 7"/>
          <p:cNvSpPr/>
          <p:nvPr/>
        </p:nvSpPr>
        <p:spPr>
          <a:xfrm>
            <a:off x="868680" y="1325880"/>
            <a:ext cx="4891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0" name="Shape 8"/>
          <p:cNvSpPr/>
          <p:nvPr/>
        </p:nvSpPr>
        <p:spPr>
          <a:xfrm>
            <a:off x="868680" y="1325880"/>
            <a:ext cx="72720" cy="914040"/>
          </a:xfrm>
          <a:prstGeom prst="rect">
            <a:avLst/>
          </a:prstGeom>
          <a:solidFill>
            <a:srgbClr val="168A8A"/>
          </a:solidFill>
          <a:ln w="12700">
            <a:solidFill>
              <a:srgbClr val="168A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1" name="Text 9"/>
          <p:cNvSpPr/>
          <p:nvPr/>
        </p:nvSpPr>
        <p:spPr>
          <a:xfrm>
            <a:off x="1033200" y="145404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AIMA textbook site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2" name="Text 10"/>
          <p:cNvSpPr/>
          <p:nvPr/>
        </p:nvSpPr>
        <p:spPr>
          <a:xfrm>
            <a:off x="1033200" y="1801440"/>
            <a:ext cx="459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https://aima.cs.berkeley.edu/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3" name="Shape 11"/>
          <p:cNvSpPr/>
          <p:nvPr/>
        </p:nvSpPr>
        <p:spPr>
          <a:xfrm>
            <a:off x="6263640" y="1325880"/>
            <a:ext cx="4891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4" name="Shape 12"/>
          <p:cNvSpPr/>
          <p:nvPr/>
        </p:nvSpPr>
        <p:spPr>
          <a:xfrm>
            <a:off x="6263640" y="1325880"/>
            <a:ext cx="72720" cy="9140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5" name="Text 13"/>
          <p:cNvSpPr/>
          <p:nvPr/>
        </p:nvSpPr>
        <p:spPr>
          <a:xfrm>
            <a:off x="6428160" y="145404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AIMA Python code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6" name="Text 14"/>
          <p:cNvSpPr/>
          <p:nvPr/>
        </p:nvSpPr>
        <p:spPr>
          <a:xfrm>
            <a:off x="6428160" y="1801440"/>
            <a:ext cx="459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https://github.com/aimacode/aima-python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7" name="Shape 15"/>
          <p:cNvSpPr/>
          <p:nvPr/>
        </p:nvSpPr>
        <p:spPr>
          <a:xfrm>
            <a:off x="868680" y="2743200"/>
            <a:ext cx="4891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8" name="Shape 16"/>
          <p:cNvSpPr/>
          <p:nvPr/>
        </p:nvSpPr>
        <p:spPr>
          <a:xfrm>
            <a:off x="868680" y="2743200"/>
            <a:ext cx="72720" cy="914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9" name="Text 17"/>
          <p:cNvSpPr/>
          <p:nvPr/>
        </p:nvSpPr>
        <p:spPr>
          <a:xfrm>
            <a:off x="1033200" y="287136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AIMA Python games module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0" name="Text 18"/>
          <p:cNvSpPr/>
          <p:nvPr/>
        </p:nvSpPr>
        <p:spPr>
          <a:xfrm>
            <a:off x="1033200" y="3218760"/>
            <a:ext cx="459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https://aima.cs.berkeley.edu/python/games.html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1" name="Shape 19"/>
          <p:cNvSpPr/>
          <p:nvPr/>
        </p:nvSpPr>
        <p:spPr>
          <a:xfrm>
            <a:off x="6263640" y="2743200"/>
            <a:ext cx="4891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2" name="Shape 20"/>
          <p:cNvSpPr/>
          <p:nvPr/>
        </p:nvSpPr>
        <p:spPr>
          <a:xfrm>
            <a:off x="6263640" y="2743200"/>
            <a:ext cx="72720" cy="9140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3" name="Text 21"/>
          <p:cNvSpPr/>
          <p:nvPr/>
        </p:nvSpPr>
        <p:spPr>
          <a:xfrm>
            <a:off x="6428160" y="287136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Berkeley CS188 AI course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4" name="Text 22"/>
          <p:cNvSpPr/>
          <p:nvPr/>
        </p:nvSpPr>
        <p:spPr>
          <a:xfrm>
            <a:off x="6428160" y="3218760"/>
            <a:ext cx="459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https://inst.eecs.berkeley.edu/~cs188/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5" name="Shape 23"/>
          <p:cNvSpPr/>
          <p:nvPr/>
        </p:nvSpPr>
        <p:spPr>
          <a:xfrm>
            <a:off x="868680" y="4160520"/>
            <a:ext cx="4891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6" name="Shape 24"/>
          <p:cNvSpPr/>
          <p:nvPr/>
        </p:nvSpPr>
        <p:spPr>
          <a:xfrm>
            <a:off x="868680" y="4160520"/>
            <a:ext cx="72720" cy="91404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7" name="Text 25"/>
          <p:cNvSpPr/>
          <p:nvPr/>
        </p:nvSpPr>
        <p:spPr>
          <a:xfrm>
            <a:off x="1033200" y="428868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IBM Deep Blue history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Text 26"/>
          <p:cNvSpPr/>
          <p:nvPr/>
        </p:nvSpPr>
        <p:spPr>
          <a:xfrm>
            <a:off x="1033200" y="4636080"/>
            <a:ext cx="459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https://www.ibm.com/history/deep-blue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9" name="Shape 27"/>
          <p:cNvSpPr/>
          <p:nvPr/>
        </p:nvSpPr>
        <p:spPr>
          <a:xfrm>
            <a:off x="6263640" y="4160520"/>
            <a:ext cx="4891680" cy="9140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B6D1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0" name="Shape 28"/>
          <p:cNvSpPr/>
          <p:nvPr/>
        </p:nvSpPr>
        <p:spPr>
          <a:xfrm>
            <a:off x="6263640" y="4160520"/>
            <a:ext cx="72720" cy="914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1" name="Text 29"/>
          <p:cNvSpPr/>
          <p:nvPr/>
        </p:nvSpPr>
        <p:spPr>
          <a:xfrm>
            <a:off x="6428160" y="428868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005088"/>
                </a:solidFill>
                <a:effectLst/>
                <a:uFillTx/>
                <a:latin typeface="Aptos Display"/>
                <a:ea typeface="Aptos Display"/>
              </a:rPr>
              <a:t>Google DeepMind AlphaGo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2" name="Text 30"/>
          <p:cNvSpPr/>
          <p:nvPr/>
        </p:nvSpPr>
        <p:spPr>
          <a:xfrm>
            <a:off x="6428160" y="4636080"/>
            <a:ext cx="459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E293B"/>
                </a:solidFill>
                <a:effectLst/>
                <a:uFillTx/>
                <a:latin typeface="Aptos"/>
                <a:ea typeface="Aptos"/>
              </a:rPr>
              <a:t>https://deepmind.google/research/alphago/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3" name="Text 31"/>
          <p:cNvSpPr/>
          <p:nvPr/>
        </p:nvSpPr>
        <p:spPr>
          <a:xfrm>
            <a:off x="1005840" y="553212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Primary source for this lecture: Chapter 5, Adversarial Search and Games, plus the provided Chapter 5 images and visual labs.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 0"/>
          <p:cNvSpPr/>
          <p:nvPr/>
        </p:nvSpPr>
        <p:spPr>
          <a:xfrm>
            <a:off x="731520" y="68580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DEEEE"/>
                </a:solidFill>
                <a:effectLst/>
                <a:uFillTx/>
                <a:latin typeface="Aptos"/>
                <a:ea typeface="Aptos"/>
              </a:rPr>
              <a:t>Chapter 5 Wrap-Up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5" name="Text 1"/>
          <p:cNvSpPr/>
          <p:nvPr/>
        </p:nvSpPr>
        <p:spPr>
          <a:xfrm>
            <a:off x="822960" y="1554480"/>
            <a:ext cx="9875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Search becomes strategy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when another agent pushes back.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Text 2"/>
          <p:cNvSpPr/>
          <p:nvPr/>
        </p:nvSpPr>
        <p:spPr>
          <a:xfrm>
            <a:off x="914400" y="3749040"/>
            <a:ext cx="9966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9F6F6"/>
                </a:solidFill>
                <a:effectLst/>
                <a:uFillTx/>
                <a:latin typeface="Aptos"/>
                <a:ea typeface="Aptos"/>
              </a:rPr>
              <a:t>Minimax gives the ideal. Alpha-beta saves work. Heuristics handle time. MCTS samples futures. Stochastic and partially observable games force us to model uncertainty.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Text 3"/>
          <p:cNvSpPr/>
          <p:nvPr/>
        </p:nvSpPr>
        <p:spPr>
          <a:xfrm>
            <a:off x="4480560" y="534924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B84B"/>
                </a:solidFill>
                <a:effectLst/>
                <a:uFillTx/>
                <a:latin typeface="Aptos Display"/>
                <a:ea typeface="Aptos Display"/>
              </a:rPr>
              <a:t>Questions?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8" name="Text 4"/>
          <p:cNvSpPr/>
          <p:nvPr/>
        </p:nvSpPr>
        <p:spPr>
          <a:xfrm>
            <a:off x="11064240" y="596196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85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LibreOffice/26.2.4.2$Linux_X86_64 LibreOffice_project/620$Build-2</Application>
  <AppVersion>15.0000</AppVersion>
  <Words>0</Words>
  <Paragraphs>0</Paragraphs>
  <Company>California State University Channel Islands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2026-07-13T00:23:45Z</dcterms:created>
  <dc:creator>COMP 469 / CSU Channel Islands</dc:creator>
  <dc:description/>
  <dc:language>en-US</dc:language>
  <cp:lastModifiedBy/>
  <dcterms:modified xsi:type="dcterms:W3CDTF">2026-07-22T14:23:11Z</dcterms:modified>
  <cp:revision>2</cp:revision>
  <dc:subject>Chapter 5: Adversarial Search and Games</dc:subject>
  <dc:title>COMP 469 Chapter 5 Full Lecture: Adversarial Search and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85</vt:i4>
  </property>
  <property fmtid="{D5CDD505-2E9C-101B-9397-08002B2CF9AE}" pid="3" name="PresentationFormat">
    <vt:lpwstr>On-screen Show (16:9)</vt:lpwstr>
  </property>
  <property fmtid="{D5CDD505-2E9C-101B-9397-08002B2CF9AE}" pid="4" name="Slides">
    <vt:i4>85</vt:i4>
  </property>
</Properties>
</file>