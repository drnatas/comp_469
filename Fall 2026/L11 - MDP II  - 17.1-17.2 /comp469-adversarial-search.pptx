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2.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charts/chart3.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1F2A"/>
                </a:solidFill>
                <a:latin typeface="Cambria"/>
              </a:defRPr>
            </a:pPr>
            <a:r>
              <a:rPr sz="1400" b="0" i="0" u="none" strike="noStrike">
                <a:solidFill>
                  <a:srgbClr val="1C1F2A"/>
                </a:solidFill>
                <a:latin typeface="Cambria"/>
              </a:rPr>
              <a:t>Classical material weights</a:t>
            </a:r>
          </a:p>
        </c:rich>
      </c:tx>
      <c:layout/>
      <c:overlay val="0"/>
    </c:title>
    <c:autoTitleDeleted val="0"/>
    <c:plotArea>
      <c:layout/>
      <c:barChart>
        <c:barDir val="col"/>
        <c:grouping val="clustered"/>
        <c:varyColors val="0"/>
        <c:ser>
          <c:idx val="0"/>
          <c:order val="0"/>
          <c:tx>
            <c:strRef>
              <c:f>Sheet1!$B$1</c:f>
              <c:strCache>
                <c:ptCount val="1"/>
                <c:pt idx="0">
                  <c:v>Approximate material value in pawns</c:v>
                </c:pt>
              </c:strCache>
            </c:strRef>
          </c:tx>
          <c:spPr>
            <a:solidFill>
              <a:srgbClr val="C2410C"/>
            </a:solidFill>
            <a:effectLst/>
          </c:spPr>
          <c:invertIfNegative val="0"/>
          <c:dLbls>
            <c:numFmt formatCode="#,##0" sourceLinked="0"/>
            <c:txPr>
              <a:bodyPr/>
              <a:lstStyle/>
              <a:p>
                <a:pPr>
                  <a:defRPr b="1" i="0" strike="noStrike" sz="1200" u="none">
                    <a:solidFill>
                      <a:srgbClr val="1C1F2A"/>
                    </a:solidFill>
                    <a:latin typeface="Arial"/>
                  </a:defRPr>
                </a:pPr>
              </a:p>
            </c:txPr>
            <c:showLegendKey val="0"/>
            <c:showVal val="1"/>
            <c:showCatName val="0"/>
            <c:showSerName val="0"/>
            <c:showPercent val="0"/>
            <c:showBubbleSize val="0"/>
            <c:showLeaderLines val="0"/>
          </c:dLbls>
          <c:cat>
            <c:multiLvlStrRef>
              <c:f>Sheet1!$A$2:$A$6</c:f>
              <c:multiLvlStrCache>
                <c:ptCount val="5"/>
                <c:lvl>
                  <c:pt idx="0">
                    <c:v>Pawn</c:v>
                  </c:pt>
                  <c:pt idx="1">
                    <c:v>Knight</c:v>
                  </c:pt>
                  <c:pt idx="2">
                    <c:v>Bishop</c:v>
                  </c:pt>
                  <c:pt idx="3">
                    <c:v>Rook</c:v>
                  </c:pt>
                  <c:pt idx="4">
                    <c:v>Queen</c:v>
                  </c:pt>
                </c:lvl>
              </c:multiLvlStrCache>
            </c:multiLvlStrRef>
          </c:cat>
          <c:val>
            <c:numRef>
              <c:f>Sheet1!$B$2:$B$6</c:f>
              <c:numCache>
                <c:formatCode>General</c:formatCode>
                <c:ptCount val="5"/>
                <c:pt idx="0">
                  <c:v>1</c:v>
                </c:pt>
                <c:pt idx="1">
                  <c:v>3</c:v>
                </c:pt>
                <c:pt idx="2">
                  <c:v>3</c:v>
                </c:pt>
                <c:pt idx="3">
                  <c:v>5</c:v>
                </c:pt>
                <c:pt idx="4">
                  <c:v>9</c:v>
                </c:pt>
              </c:numCache>
            </c:numRef>
          </c:val>
        </c:ser>
        <c:dLbls>
          <c:numFmt formatCode="#,##0" sourceLinked="0"/>
          <c:txPr>
            <a:bodyPr/>
            <a:lstStyle/>
            <a:p>
              <a:pPr>
                <a:defRPr b="1" i="0" strike="noStrike" sz="1200" u="none">
                  <a:solidFill>
                    <a:srgbClr val="1C1F2A"/>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3F4C"/>
                </a:solidFill>
                <a:latin typeface="Calibri"/>
              </a:defRPr>
            </a:pPr>
            <a:endParaRPr lang="en-US"/>
          </a:p>
        </c:txPr>
        <c:crossAx val="2094734552"/>
        <c:crosses val="autoZero"/>
        <c:auto val="1"/>
        <c:lblAlgn val="ctr"/>
        <c:noMultiLvlLbl val="1"/>
      </c:catAx>
      <c:valAx>
        <c:axId val="2094734552"/>
        <c:scaling>
          <c:orientation val="minMax"/>
          <c:max val="10"/>
        </c:scaling>
        <c:delete val="0"/>
        <c:axPos val="l"/>
        <c:majorGridlines>
          <c:spPr>
            <a:ln w="12700" cap="flat">
              <a:solidFill>
                <a:srgbClr val="E4E6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8F9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1F2A"/>
                </a:solidFill>
                <a:latin typeface="Cambria"/>
              </a:defRPr>
            </a:pPr>
            <a:r>
              <a:rPr sz="1300" b="0" i="0" u="none" strike="noStrike">
                <a:solidFill>
                  <a:srgbClr val="1C1F2A"/>
                </a:solidFill>
                <a:latin typeface="Cambria"/>
              </a:rPr>
              <a:t>Reachable depth in chess, in ply</a:t>
            </a:r>
          </a:p>
        </c:rich>
      </c:tx>
      <c:layout/>
      <c:overlay val="0"/>
    </c:title>
    <c:autoTitleDeleted val="0"/>
    <c:plotArea>
      <c:layout/>
      <c:barChart>
        <c:barDir val="bar"/>
        <c:grouping val="clustered"/>
        <c:varyColors val="0"/>
        <c:ser>
          <c:idx val="0"/>
          <c:order val="0"/>
          <c:tx>
            <c:strRef>
              <c:f>Sheet1!$B$1</c:f>
              <c:strCache>
                <c:ptCount val="1"/>
                <c:pt idx="0">
                  <c:v>Search depth reached in chess, in ply</c:v>
                </c:pt>
              </c:strCache>
            </c:strRef>
          </c:tx>
          <c:spPr>
            <a:solidFill>
              <a:srgbClr val="1D4E63"/>
            </a:solidFill>
            <a:effectLst/>
          </c:spPr>
          <c:invertIfNegative val="0"/>
          <c:dLbls>
            <c:numFmt formatCode="#,##0" sourceLinked="0"/>
            <c:txPr>
              <a:bodyPr/>
              <a:lstStyle/>
              <a:p>
                <a:pPr>
                  <a:defRPr b="1" i="0" strike="noStrike" sz="1200" u="none">
                    <a:solidFill>
                      <a:srgbClr val="1C1F2A"/>
                    </a:solidFill>
                    <a:latin typeface="Arial"/>
                  </a:defRPr>
                </a:pPr>
              </a:p>
            </c:txPr>
            <c:showLegendKey val="0"/>
            <c:showVal val="1"/>
            <c:showCatName val="0"/>
            <c:showSerName val="0"/>
            <c:showPercent val="0"/>
            <c:showBubbleSize val="0"/>
            <c:showLeaderLines val="0"/>
          </c:dLbls>
          <c:cat>
            <c:multiLvlStrRef>
              <c:f>Sheet1!$A$2:$A$4</c:f>
              <c:multiLvlStrCache>
                <c:ptCount val="3"/>
                <c:lvl>
                  <c:pt idx="0">
                    <c:v>Plain minimax
1M nodes/sec</c:v>
                  </c:pt>
                  <c:pt idx="1">
                    <c:v>Alpha-beta plus
transposition table</c:v>
                  </c:pt>
                  <c:pt idx="2">
                    <c:v>Modern engine
tuned and tabled</c:v>
                  </c:pt>
                </c:lvl>
              </c:multiLvlStrCache>
            </c:multiLvlStrRef>
          </c:cat>
          <c:val>
            <c:numRef>
              <c:f>Sheet1!$B$2:$B$4</c:f>
              <c:numCache>
                <c:formatCode>General</c:formatCode>
                <c:ptCount val="3"/>
                <c:pt idx="0">
                  <c:v>5</c:v>
                </c:pt>
                <c:pt idx="1">
                  <c:v>14</c:v>
                </c:pt>
                <c:pt idx="2">
                  <c:v>30</c:v>
                </c:pt>
              </c:numCache>
            </c:numRef>
          </c:val>
        </c:ser>
        <c:dLbls>
          <c:numFmt formatCode="#,##0" sourceLinked="0"/>
          <c:txPr>
            <a:bodyPr/>
            <a:lstStyle/>
            <a:p>
              <a:pPr>
                <a:defRPr b="1" i="0" strike="noStrike" sz="1200" u="none">
                  <a:solidFill>
                    <a:srgbClr val="1C1F2A"/>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A3F4C"/>
                </a:solidFill>
                <a:latin typeface="Calibri"/>
              </a:defRPr>
            </a:pPr>
            <a:endParaRPr lang="en-US"/>
          </a:p>
        </c:txPr>
        <c:crossAx val="2094734552"/>
        <c:crosses val="autoZero"/>
        <c:auto val="1"/>
        <c:lblAlgn val="ctr"/>
        <c:noMultiLvlLbl val="1"/>
      </c:catAx>
      <c:valAx>
        <c:axId val="2094734552"/>
        <c:scaling>
          <c:orientation val="minMax"/>
          <c:max val="34"/>
        </c:scaling>
        <c:delete val="0"/>
        <c:axPos val="b"/>
        <c:majorGridlines>
          <c:spPr>
            <a:ln w="12700" cap="flat">
              <a:solidFill>
                <a:srgbClr val="E4E6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8A8F9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C1F2A"/>
                </a:solidFill>
                <a:latin typeface="Cambria"/>
              </a:defRPr>
            </a:pPr>
            <a:r>
              <a:rPr sz="1250" b="0" i="0" u="none" strike="noStrike">
                <a:solidFill>
                  <a:srgbClr val="1C1F2A"/>
                </a:solidFill>
                <a:latin typeface="Cambria"/>
              </a:rPr>
              <a:t>Disappointment grows with the number of options</a:t>
            </a:r>
          </a:p>
        </c:rich>
      </c:tx>
      <c:layout/>
      <c:overlay val="0"/>
    </c:title>
    <c:autoTitleDeleted val="0"/>
    <c:plotArea>
      <c:layout/>
      <c:barChart>
        <c:barDir val="col"/>
        <c:grouping val="clustered"/>
        <c:varyColors val="0"/>
        <c:ser>
          <c:idx val="0"/>
          <c:order val="0"/>
          <c:tx>
            <c:strRef>
              <c:f>Sheet1!$B$1</c:f>
              <c:strCache>
                <c:ptCount val="1"/>
                <c:pt idx="0">
                  <c:v>Expected disappointment, in standard deviations of the estimate error</c:v>
                </c:pt>
              </c:strCache>
            </c:strRef>
          </c:tx>
          <c:spPr>
            <a:solidFill>
              <a:srgbClr val="C2410C"/>
            </a:solidFill>
            <a:effectLst/>
          </c:spPr>
          <c:invertIfNegative val="0"/>
          <c:dLbls>
            <c:numFmt formatCode="#,##0" sourceLinked="0"/>
            <c:txPr>
              <a:bodyPr/>
              <a:lstStyle/>
              <a:p>
                <a:pPr>
                  <a:defRPr b="1" i="0" strike="noStrike" sz="1200" u="none">
                    <a:solidFill>
                      <a:srgbClr val="1C1F2A"/>
                    </a:solidFill>
                    <a:latin typeface="Arial"/>
                  </a:defRPr>
                </a:pPr>
              </a:p>
            </c:txPr>
            <c:showLegendKey val="0"/>
            <c:showVal val="1"/>
            <c:showCatName val="0"/>
            <c:showSerName val="0"/>
            <c:showPercent val="0"/>
            <c:showBubbleSize val="0"/>
            <c:showLeaderLines val="0"/>
          </c:dLbls>
          <c:cat>
            <c:multiLvlStrRef>
              <c:f>Sheet1!$A$2:$A$3</c:f>
              <c:multiLvlStrCache>
                <c:ptCount val="2"/>
                <c:lvl>
                  <c:pt idx="0">
                    <c:v>k = 3 choices</c:v>
                  </c:pt>
                  <c:pt idx="1">
                    <c:v>k = 30 choices</c:v>
                  </c:pt>
                </c:lvl>
              </c:multiLvlStrCache>
            </c:multiLvlStrRef>
          </c:cat>
          <c:val>
            <c:numRef>
              <c:f>Sheet1!$B$2:$B$3</c:f>
              <c:numCache>
                <c:formatCode>General</c:formatCode>
                <c:ptCount val="2"/>
                <c:pt idx="0">
                  <c:v>0.85</c:v>
                </c:pt>
                <c:pt idx="1">
                  <c:v>2</c:v>
                </c:pt>
              </c:numCache>
            </c:numRef>
          </c:val>
        </c:ser>
        <c:dLbls>
          <c:numFmt formatCode="#,##0" sourceLinked="0"/>
          <c:txPr>
            <a:bodyPr/>
            <a:lstStyle/>
            <a:p>
              <a:pPr>
                <a:defRPr b="1" i="0" strike="noStrike" sz="1200" u="none">
                  <a:solidFill>
                    <a:srgbClr val="1C1F2A"/>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3A3F4C"/>
                </a:solidFill>
                <a:latin typeface="Calibri"/>
              </a:defRPr>
            </a:pPr>
            <a:endParaRPr lang="en-US"/>
          </a:p>
        </c:txPr>
        <c:crossAx val="2094734552"/>
        <c:crosses val="autoZero"/>
        <c:auto val="1"/>
        <c:lblAlgn val="ctr"/>
        <c:noMultiLvlLbl val="1"/>
      </c:catAx>
      <c:valAx>
        <c:axId val="2094734552"/>
        <c:scaling>
          <c:orientation val="minMax"/>
          <c:max val="2.4"/>
        </c:scaling>
        <c:delete val="0"/>
        <c:axPos val="l"/>
        <c:majorGridlines>
          <c:spPr>
            <a:ln w="12700" cap="flat">
              <a:solidFill>
                <a:srgbClr val="E4E6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8F9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arc. All term we have searched a world that sat still while we thought. Today a second mind pushes back; then the world itself rolls dice; then we finally ask what the numbers at the leaves actually mean. Chapter 5 gives the algorithms, Chapter 16 gives the justification, CS188 supplies the pedagogy that ties them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Pacing contract. Break lands after Part II at roughly the 65-minute mark. Warn students that Part IV is the conceptual payoff, not an appendix: everything before it quietly assumed someone handed us the leaf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fast. These map onto the problem set. Students routinely underestimate the last one: minimax is invariant to any order-preserving rescaling of the leaves, expectimax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line: Chapter 3 gave us a world that waited politely while we planned. Chapter 5 removes that courtesy.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which stance a self-driving car should take toward other drivers. There is no single right answer and the disagreement is the point. Stance two is seductive because it lets you reuse Chapter 4 machinery, but it throws away the fact that the adversary is optimizing against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vocabulary swap: move for action, position for state, ply for one move by one player. Zero-sum means no win-win outcome exists. Perfect information is a synonym for fully observable. MAX moves first, by convention.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Tic-tac-toe is drawable. Chess is a theoretical construct we can never realize physically. That gap is the entire engineering content of this chapter. Point out that 362,880 leaf orderings collapse to only 5,478 distinct states, which foreshadows transposition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definition is a mutual recursion, not an algorithm yet. Stress the assumption baked into it: both players play optimally to the end. MAX needs a contingent strategy, a reply to every MIN move, not a fixed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on the board too. Bottom-left three leaves are 3, 12, 8; MIN takes 3. C gives 2, D gives 2. Root is MAX over 3, 2, 2, so the minimax value is 3 and the minimax decision is a1. Ask why MIN takes 3 and not 12; the answer is that 12 is good for 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recursion order: it descends to the three bottom-left leaves first, computes 3, returns it as B’s backed-up value, and so on. Space is O(bm) if you generate all actions at once, O(m) if you generate them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seed of Part III. Minimax is safe but not always best. If you believe MIN lacks the compute to find the one refutation, a nine-in-ten chance of winning may beat a certain draw. Once you say "nine in ten" you have left minimax and entered expectimax.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 X: C chooses between (1,2,6) and (4,2,3). C compares its own coordinate, 6 beats 3, so the whole first vector backs up. Two-player zero-sum is the special case where the vector always sums to zero and collapses to one number. Alliances fall out of selfishness; they are not programmed.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claim precisely before showing the mechanism: alpha-beta returns exactly the minimax value. It does not approximate. Anything it skips provably could not change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it: B resolves to exactly 3, so the root is at least 3. C’s first leaf is 2, so C is at most 2. C can never beat B, so C’s remaining children are irrelevant regardless of their values. Note D is not pruned because its first leaf, 14, leaves it still potentially better than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row aloud. The general principle at the bottom is the thing to memorize: if Player has a better choice at this level or anywhere higher, Player will never move to n, so once we know enough about n we can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minimax search is depth-first, so at any moment only one root-to-node path is live. Alpha and beta describe what we already know along that path. The code is the minimax code plus two parameters and two cutoff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perfect ordering halves the exponent. Effective branching factor goes from 35 to about 6 in chess, which means the same time budget reaches roughly twice the depth. Perfect ordering is impossible by definition, since an ordering function that good would just play the game, but simple heuristics get within a factor of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Shannon named both strategies in the very first paper on computer chess. Historically chess programs went Type A and Go programs went Type B, purely because of branching factor. Then in 2018 Silver and colleagues showed Type B can reach world-champion play in chess too. The rest of this lecture is essentially these two branches.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 everything so far assumed we could reach terminal states. From here on we cannot, and every technique is a way of managing that ignorance.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replacements, that is all: UTILITY becomes EVAL, IS-TERMINAL becomes IS-CUTOFF. In code it is literally one changed line plus depth bookkeeping. Note the cutoff test must still return true for genuine terminal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philosophical wrinkle is worth 60 seconds. Chess has no dice, so how can a position have a "chance" of winning? The uncertainty is ours, not the game's: it comes from cutting the search off. Features carve the state space into equivalence classes, and the evaluation of a class is the expected utility of the states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shows the classical material values. The strong hidden assumption is feature independence, which is false: a bishop pair is worth more than two bishops, and a bishop is worth more in the endgame. Modern engines use nonlinear combinations. Machine learning on chess recovered the value of about three pawns per bishop, confirming centuries of human play in a few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two classic failure modes and students confuse them constantly. Quiescence: the evaluation is wrong because the position is still exploding. Horizon: the evaluation is wrong because the bad news was deliberately postponed past the frontier. Fixes differ: quiescence search extends on volatility, singular extensions extend on clearly-best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sharp distinction first: alpha-beta prunes what provably cannot matter, forward pruning prunes what probably does not matter. The first is free, the second trades correctness for time. In Shannon’s terms this is Type B, and it is what human players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Nice symmetry to point out: at the start of the game the computer defers to human expertise copied from books; at the end the human defers to the computer, because retrograde minimax has solved every position with seven or fewer pieces. Middlegame is the only place actual search is unavoidable.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breaks both halves of heuristic alpha-beta at once: the tree is too wide and material is not informative. MCTS answers both by replacing the heuristic with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weaknesses at once. Branching factor 361 caps alpha-beta at four or five ply. And material value is not a strong indicator in Go, with most positions in flux until the endgame, so the evaluation function itself is the problem, not just the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numbers concretely. Root 37/100 is from White’s perspective. Black selects 60/79 because it is the best win rate, which is exploitation; 2/11 would have been a defensible exploration choice. Black wins the playout, so 27/35 becomes 28/36, 60/79 becomes 61/80, White nodes gain only a playout: 16/53 becomes 16/54, root becomes 37/101.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two terms separately. Exploitation is just the average utility. Exploration is large for rarely visited nodes and shrinks as counts grow, because the log in the numerator grows more slowly than the count in the denominator. Theory suggests C is root 2; practice is to tune it. With C = 1.4 the 60/79 node wins; at C = 1.5 the 2/11 node wins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budget example concretely: b = 32, 100-ply games, a billion states affordable. Minimax reaches 6 ply, alpha-beta with perfect ordering 12, Monte Carlo affords 10 million playouts. Which wins depends entirely on whether your evaluation function is better than your playout policy. End on the 2018 caveat: the old received wisdom has been partly overturned.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break to reset the board. Coming back, open by asking the room: what should Pac-Man do if the ghost is not actually chasing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CS188 frames this best: expectimax is what you get when you stop assuming the other agent is out to get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CS188 opening example. Under minimax, MAX goes left and guarantees 10, because a rational MIN steers to the 9. If the right branch is instead resolved by a fair coin, its average is 54.5, and going right becomes clearly correct. Nothing about the tree changed except our belief about what governs that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distinct sources. The middle one is the conceptually interesting case: the opponent is not literally random, but a probability distribution may be a more useful model of it than perfect adversary. Note the value 54.5 need never occur in any single play; it is the long-run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both worked examples on the board. First: one half times 8, plus one third times 24, plus one sixth times minus 12, equals 4 plus 8 minus 2, equals 10. Second: probabilities unstated means assume uniform, so (3 + 12 + 9) / 3 =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Pac-Man is flanked, losing a point per time step, with food nearby. Minimax concludes he is dead either way, so the least-bad option is to rush a ghost and end it quickly, minimising time-step losses. Expectimax sees a coin flip and takes the gamble. Neither is right in the abstract. The right one depends on how the ghosts actually behave.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asymmetry: pessimism costs you opportunity, optimism costs you the game. Against a genuinely adversarial opponent, an over-optimistic agent is exploited most consistently. This is exactly why security engineering defaults to the pessimistic model even when it is over-conservative.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elegant part: you do not hand-code "occasionally take a risk." You build the tree honestly and the risk-taking falls out of the search. The expensive part: every chance node requires a full sub-search just to work out its probabilities. At depth-10 minimax that is a large constant factor over plain minimax.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intuition for why pruning breaks: MIN picks the single worst child, so one bound suffices. A chance node averages all children, so any unseen child can swing the value. Bounded utilities restore the ability to prune, because you can bound the average without seeing every term. Complexity gets an extra factor of n per 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algorithmic change is tiny: a three-way dispatch becomes a four-way dispatch. The consequence is large. 36 ways to roll two dice but only 21 distinct rolls, since 6-5 and 5-6 are the same; the six doubles carry 1/36 each and the other fifteen carry 1/18. Historically, backgammon was the first game where a program reached world-champion level, on depth-2 search plus a learned evaluation function, precisely because chance smooths out any single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slide of the whole lecture. Under minimax, any order-preserving transformation of the leaves leaves the decision unchanged. Under expectimax it does not, because averaging is sensitive to magnitude. So the evaluation function must be a positive linear transformation of the probability of winning. That requirement is what Chapter 16 exists to justify.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the debt coming due. We have been maximising expected utility since the first lecture without ever justifying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two sources of uncertainty: about the current state, P(s), and about action outcomes, P(s′ | s, a). Stress the last card: MEU formalises "do the right thing" but does not operationalise it. Estimating those probabilities needs perception, learning, representation and inference. Decision theory defines the AI problem; it does not solve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cleaning-robot point is a genuine safety argument, worth flagging for anyone interested in alignment: an agent that picks its own utility function can pick "high utility no matter what I do." The minimax point: comprehensive worst-case reasoning about leaving the house has to account for earthquakes, so a strict minimax agent never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notation carefully; it recurs for the rest of the lecture. The airline meal example is a good one: choosing the pasta or the chicken is choosing between lotteries, because you do not know what is under the foil. Outcomes of a lottery can themselves be lotteries.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axioms about preferences, and say nothing about utility functions yet. That is the point: the utility function is derived, not assumed. Decomposability is the "no fun in gambling" rule, and it is the one students find least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cycle physically. Agent holds A, prefers C, pays a cent to trade. Holds C, prefers B, pays again. Holds B, prefers A, pays again. Back where it started, three cents poorer, and the loop can run forever. This is what "irrational" means operationally: not merely odd, but exploitable.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 punchline explicitly: the second result is precisely the averaging operation performed at an expectimax chance node. The theorem is what licenses that step. We were not averaging because it was convenient; we were averaging because any agent with rational preferences behaves as if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Chapter 5.5 explicitly: this is the same fact that forced backgammon evaluation functions to be a positive linear transformation of the win probability. Note also that a utility function describing behaviour does not imply the agent explicitly maximises it internally. A table lookup can be perfectly rational.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gamble is the operational core: adjust p until the person is indifferent, and p is the normalised utility. World Cup example: indifference at p = 0.3 means reaching the semi-final and losing is worth 0.3. Then handle the uncomfortable part honestly, because the asbestos story is the strongest argument in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game show live and take a show of hands. Almost everyone declines. Then show why that is not irrational: the expected monetary value is higher, but the expected utility is not, because the first million is worth far more than the second. A billionaire, whose curve is locally linear over a few million, should accept.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insurance argument is the cleanest application in the chapter. Certainty equivalent about $400 against an EMV of $500 leaves a $100 spread. The insurer holds a large pool of independent lotteries, so by the law of large numbers its average payout converges to $500 and its curve is locally linear. Any price in that spread makes both parties better off by their own utility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reliably lands with anyone who has evaluated vendors or read a drug trial. Unbiased estimates plus a maximisation step equals biased outcomes, because selecting the largest estimate preferentially selects the largest error. k = 3 gives about 0.85 standard deviations of disappointment; k = 30 gives about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the room before revealing the algebra: choice one, then choice two. Most rooms reproduce B and C. Then show the contradiction. Finish with the regret resolution, which is the intellectually honest ending: the choices may not be irrational, the outcome model may just be incomplete. Choosing A and getting nothing costs money and the feeling of having passed up a sure $3,000.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is the one with the most direct professional relevance: identical information, opposite decisions, and it holds for clinicians as much as for patients. Close with the evolutionary-psychology caveat, which is genuinely important: presenting the same problem as 100 stick-figure animations moves behaviour much closer to the rational standard, suggesting the problem may be the linguistic framing rather than the brain.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is short, read only items 3, 6 and 8. Then set up the next lecture: we have handled one decision at a time, and Chapter 17 handles sequences of them, where the same expected-utility machinery becomes Markov decision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Chapter 5.6 on imperfect information, covering poker and bridge, is not on the exam but is the natural next question, and that Chapter 17 generalises today’s one-shot decisions into 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A"/>
        </a:solidFill>
      </p:bgPr>
    </p:bg>
    <p:spTree>
      <p:nvGrpSpPr>
        <p:cNvPr id="1" name=""/>
        <p:cNvGrpSpPr/>
        <p:nvPr/>
      </p:nvGrpSpPr>
      <p:grpSpPr>
        <a:xfrm>
          <a:off x="0" y="0"/>
          <a:ext cx="0" cy="0"/>
          <a:chOff x="0" y="0"/>
          <a:chExt cx="0" cy="0"/>
        </a:xfrm>
      </p:grpSpPr>
      <p:sp>
        <p:nvSpPr>
          <p:cNvPr id="2" name="Text 0"/>
          <p:cNvSpPr/>
          <p:nvPr/>
        </p:nvSpPr>
        <p:spPr>
          <a:xfrm>
            <a:off x="822960" y="1097280"/>
            <a:ext cx="10058400" cy="320040"/>
          </a:xfrm>
          <a:prstGeom prst="rect">
            <a:avLst/>
          </a:prstGeom>
          <a:noFill/>
          <a:ln/>
        </p:spPr>
        <p:txBody>
          <a:bodyPr wrap="square" lIns="0" tIns="0" rIns="0" bIns="0" rtlCol="0" anchor="ctr"/>
          <a:lstStyle/>
          <a:p>
            <a:pPr indent="0" marL="0">
              <a:buNone/>
            </a:pPr>
            <a:r>
              <a:rPr lang="en-US" sz="1200" b="1" spc="200" kern="0" dirty="0">
                <a:solidFill>
                  <a:srgbClr val="B58500"/>
                </a:solidFill>
                <a:latin typeface="Calibri" pitchFamily="34" charset="0"/>
                <a:ea typeface="Calibri" pitchFamily="34" charset="-122"/>
                <a:cs typeface="Calibri" pitchFamily="34" charset="-120"/>
              </a:rPr>
              <a:t>COMP 469  ·  INTRODUCTION TO ARTIFICIAL INTELLIGENCE</a:t>
            </a:r>
            <a:endParaRPr lang="en-US" sz="1200" dirty="0"/>
          </a:p>
        </p:txBody>
      </p:sp>
      <p:sp>
        <p:nvSpPr>
          <p:cNvPr id="3" name="Text 1"/>
          <p:cNvSpPr/>
          <p:nvPr/>
        </p:nvSpPr>
        <p:spPr>
          <a:xfrm>
            <a:off x="822960" y="1572768"/>
            <a:ext cx="8412480" cy="1920240"/>
          </a:xfrm>
          <a:prstGeom prst="rect">
            <a:avLst/>
          </a:prstGeom>
          <a:noFill/>
          <a:ln/>
        </p:spPr>
        <p:txBody>
          <a:bodyPr wrap="square" lIns="0" tIns="0" rIns="0" bIns="0" rtlCol="0" anchor="t"/>
          <a:lstStyle/>
          <a:p>
            <a:pPr indent="0" marL="0">
              <a:lnSpc>
                <a:spcPts val="5000"/>
              </a:lnSpc>
              <a:buNone/>
            </a:pPr>
            <a:r>
              <a:rPr lang="en-US" sz="4200" b="1" dirty="0">
                <a:solidFill>
                  <a:srgbClr val="FFFFFF"/>
                </a:solidFill>
                <a:latin typeface="Cambria" pitchFamily="34" charset="0"/>
                <a:ea typeface="Cambria" pitchFamily="34" charset="-122"/>
                <a:cs typeface="Cambria" pitchFamily="34" charset="-120"/>
              </a:rPr>
              <a:t>Adversarial Search,</a:t>
            </a:r>
            <a:endParaRPr lang="en-US" sz="4200" dirty="0"/>
          </a:p>
          <a:p>
            <a:pPr indent="0" marL="0">
              <a:lnSpc>
                <a:spcPts val="5000"/>
              </a:lnSpc>
              <a:buNone/>
            </a:pPr>
            <a:r>
              <a:rPr lang="en-US" sz="4200" b="1" dirty="0">
                <a:solidFill>
                  <a:srgbClr val="FFFFFF"/>
                </a:solidFill>
                <a:latin typeface="Cambria" pitchFamily="34" charset="0"/>
                <a:ea typeface="Cambria" pitchFamily="34" charset="-122"/>
                <a:cs typeface="Cambria" pitchFamily="34" charset="-120"/>
              </a:rPr>
              <a:t>Expectimax, and Utilities</a:t>
            </a:r>
            <a:endParaRPr lang="en-US" sz="4200" dirty="0"/>
          </a:p>
        </p:txBody>
      </p:sp>
      <p:sp>
        <p:nvSpPr>
          <p:cNvPr id="4" name="Text 2"/>
          <p:cNvSpPr/>
          <p:nvPr/>
        </p:nvSpPr>
        <p:spPr>
          <a:xfrm>
            <a:off x="822960" y="3703320"/>
            <a:ext cx="7589520" cy="868680"/>
          </a:xfrm>
          <a:prstGeom prst="rect">
            <a:avLst/>
          </a:prstGeom>
          <a:noFill/>
          <a:ln/>
        </p:spPr>
        <p:txBody>
          <a:bodyPr wrap="square" lIns="0" tIns="0" rIns="0" bIns="0" rtlCol="0" anchor="ctr"/>
          <a:lstStyle/>
          <a:p>
            <a:pPr indent="0" marL="0">
              <a:buNone/>
            </a:pPr>
            <a:r>
              <a:rPr lang="en-US" sz="1500" dirty="0">
                <a:solidFill>
                  <a:srgbClr val="A9B0C0"/>
                </a:solidFill>
                <a:latin typeface="Calibri" pitchFamily="34" charset="0"/>
                <a:ea typeface="Calibri" pitchFamily="34" charset="-122"/>
                <a:cs typeface="Calibri" pitchFamily="34" charset="-120"/>
              </a:rPr>
              <a:t>AIMA 4e Chapter 5 in full, plus Chapter 16.1 through 16.3, developed alongside the UC Berkeley CS188 treatment of search with other agents.</a:t>
            </a:r>
            <a:endParaRPr lang="en-US" sz="1500" dirty="0"/>
          </a:p>
        </p:txBody>
      </p:sp>
      <p:sp>
        <p:nvSpPr>
          <p:cNvPr id="5" name="Text 3"/>
          <p:cNvSpPr/>
          <p:nvPr/>
        </p:nvSpPr>
        <p:spPr>
          <a:xfrm>
            <a:off x="822960" y="4892040"/>
            <a:ext cx="7315200" cy="320040"/>
          </a:xfrm>
          <a:prstGeom prst="rect">
            <a:avLst/>
          </a:prstGeom>
          <a:noFill/>
          <a:ln/>
        </p:spPr>
        <p:txBody>
          <a:bodyPr wrap="square" lIns="0" tIns="0" rIns="0" bIns="0" rtlCol="0" anchor="ctr"/>
          <a:lstStyle/>
          <a:p>
            <a:pPr indent="0" marL="0">
              <a:buNone/>
            </a:pPr>
            <a:r>
              <a:rPr lang="en-US" sz="1250" dirty="0">
                <a:solidFill>
                  <a:srgbClr val="6E7686"/>
                </a:solidFill>
                <a:latin typeface="Calibri" pitchFamily="34" charset="0"/>
                <a:ea typeface="Calibri" pitchFamily="34" charset="-122"/>
                <a:cs typeface="Calibri" pitchFamily="34" charset="-120"/>
              </a:rPr>
              <a:t>Two-hour lecture  ·  California State University Channel Islands</a:t>
            </a:r>
            <a:endParaRPr lang="en-US" sz="1250" dirty="0"/>
          </a:p>
        </p:txBody>
      </p:sp>
      <p:sp>
        <p:nvSpPr>
          <p:cNvPr id="6" name="Shape 4"/>
          <p:cNvSpPr/>
          <p:nvPr/>
        </p:nvSpPr>
        <p:spPr>
          <a:xfrm>
            <a:off x="9304020" y="1897380"/>
            <a:ext cx="868680" cy="868680"/>
          </a:xfrm>
          <a:prstGeom prst="triangle">
            <a:avLst/>
          </a:prstGeom>
          <a:solidFill>
            <a:srgbClr val="C2410C"/>
          </a:solidFill>
          <a:ln w="12700">
            <a:solidFill>
              <a:srgbClr val="C2410C"/>
            </a:solidFill>
            <a:prstDash val="solid"/>
          </a:ln>
        </p:spPr>
      </p:sp>
      <p:sp>
        <p:nvSpPr>
          <p:cNvPr id="7" name="Shape 5"/>
          <p:cNvSpPr/>
          <p:nvPr/>
        </p:nvSpPr>
        <p:spPr>
          <a:xfrm rot="10800000">
            <a:off x="10401300" y="2857500"/>
            <a:ext cx="868680" cy="868680"/>
          </a:xfrm>
          <a:prstGeom prst="triangle">
            <a:avLst/>
          </a:prstGeom>
          <a:solidFill>
            <a:srgbClr val="1D4E63"/>
          </a:solidFill>
          <a:ln w="12700">
            <a:solidFill>
              <a:srgbClr val="1D4E63"/>
            </a:solidFill>
            <a:prstDash val="solid"/>
          </a:ln>
        </p:spPr>
      </p:sp>
      <p:sp>
        <p:nvSpPr>
          <p:cNvPr id="8" name="Shape 6"/>
          <p:cNvSpPr/>
          <p:nvPr/>
        </p:nvSpPr>
        <p:spPr>
          <a:xfrm>
            <a:off x="9304020" y="3817620"/>
            <a:ext cx="868680" cy="868680"/>
          </a:xfrm>
          <a:prstGeom prst="ellipse">
            <a:avLst/>
          </a:prstGeom>
          <a:solidFill>
            <a:srgbClr val="6B4E8F"/>
          </a:solidFill>
          <a:ln w="12700">
            <a:solidFill>
              <a:srgbClr val="6B4E8F"/>
            </a:solidFill>
            <a:prstDash val="solid"/>
          </a:ln>
        </p:spPr>
      </p:sp>
      <p:sp>
        <p:nvSpPr>
          <p:cNvPr id="9" name="Shape 7"/>
          <p:cNvSpPr/>
          <p:nvPr/>
        </p:nvSpPr>
        <p:spPr>
          <a:xfrm>
            <a:off x="9738360" y="2788920"/>
            <a:ext cx="1097280" cy="91440"/>
          </a:xfrm>
          <a:prstGeom prst="line">
            <a:avLst/>
          </a:prstGeom>
          <a:noFill/>
          <a:ln w="19050">
            <a:solidFill>
              <a:srgbClr val="474E60"/>
            </a:solidFill>
            <a:prstDash val="solid"/>
          </a:ln>
        </p:spPr>
      </p:sp>
      <p:sp>
        <p:nvSpPr>
          <p:cNvPr id="10" name="Shape 8"/>
          <p:cNvSpPr/>
          <p:nvPr/>
        </p:nvSpPr>
        <p:spPr>
          <a:xfrm flipH="1">
            <a:off x="9738360" y="3730752"/>
            <a:ext cx="1097280" cy="109728"/>
          </a:xfrm>
          <a:prstGeom prst="line">
            <a:avLst/>
          </a:prstGeom>
          <a:noFill/>
          <a:ln w="19050">
            <a:solidFill>
              <a:srgbClr val="474E60"/>
            </a:solidFill>
            <a:prstDash val="solid"/>
          </a:ln>
        </p:spPr>
      </p:sp>
      <p:sp>
        <p:nvSpPr>
          <p:cNvPr id="11" name="Text 9"/>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565D6E"/>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12" name="Text 10"/>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565D6E"/>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TODAY</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Two hours, four moves</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566928" y="1572768"/>
            <a:ext cx="2578608" cy="4114800"/>
          </a:xfrm>
          <a:prstGeom prst="roundRect">
            <a:avLst>
              <a:gd name="adj" fmla="val 2482"/>
            </a:avLst>
          </a:prstGeom>
          <a:solidFill>
            <a:srgbClr val="F1F2F5"/>
          </a:solidFill>
          <a:ln w="12700">
            <a:solidFill>
              <a:srgbClr val="F1F2F5"/>
            </a:solidFill>
            <a:prstDash val="solid"/>
          </a:ln>
        </p:spPr>
      </p:sp>
      <p:sp>
        <p:nvSpPr>
          <p:cNvPr id="8" name="Shape 5"/>
          <p:cNvSpPr/>
          <p:nvPr/>
        </p:nvSpPr>
        <p:spPr>
          <a:xfrm>
            <a:off x="841248" y="1828800"/>
            <a:ext cx="548640" cy="548640"/>
          </a:xfrm>
          <a:prstGeom prst="ellipse">
            <a:avLst/>
          </a:prstGeom>
          <a:solidFill>
            <a:srgbClr val="C2410C"/>
          </a:solidFill>
          <a:ln w="12700">
            <a:solidFill>
              <a:srgbClr val="C2410C"/>
            </a:solidFill>
            <a:prstDash val="solid"/>
          </a:ln>
        </p:spPr>
      </p:sp>
      <p:sp>
        <p:nvSpPr>
          <p:cNvPr id="9" name="Text 6"/>
          <p:cNvSpPr/>
          <p:nvPr/>
        </p:nvSpPr>
        <p:spPr>
          <a:xfrm>
            <a:off x="841248" y="1828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I</a:t>
            </a:r>
            <a:endParaRPr lang="en-US" sz="1600" dirty="0"/>
          </a:p>
        </p:txBody>
      </p:sp>
      <p:sp>
        <p:nvSpPr>
          <p:cNvPr id="10" name="Text 7"/>
          <p:cNvSpPr/>
          <p:nvPr/>
        </p:nvSpPr>
        <p:spPr>
          <a:xfrm>
            <a:off x="841248" y="2542032"/>
            <a:ext cx="2084832" cy="914400"/>
          </a:xfrm>
          <a:prstGeom prst="rect">
            <a:avLst/>
          </a:prstGeom>
          <a:noFill/>
          <a:ln/>
        </p:spPr>
        <p:txBody>
          <a:bodyPr wrap="square" lIns="0" tIns="0" rIns="0" bIns="0" rtlCol="0" anchor="t"/>
          <a:lstStyle/>
          <a:p>
            <a:pPr indent="0" marL="0">
              <a:buNone/>
            </a:pPr>
            <a:r>
              <a:rPr lang="en-US" sz="1650" b="1" dirty="0">
                <a:solidFill>
                  <a:srgbClr val="1C1F2A"/>
                </a:solidFill>
                <a:latin typeface="Cambria" pitchFamily="34" charset="0"/>
                <a:ea typeface="Cambria" pitchFamily="34" charset="-122"/>
                <a:cs typeface="Cambria" pitchFamily="34" charset="-120"/>
              </a:rPr>
              <a:t>Minimax and</a:t>
            </a:r>
            <a:endParaRPr lang="en-US" sz="1650" dirty="0"/>
          </a:p>
          <a:p>
            <a:pPr indent="0" marL="0">
              <a:buNone/>
            </a:pPr>
            <a:r>
              <a:rPr lang="en-US" sz="1650" b="1" dirty="0">
                <a:solidFill>
                  <a:srgbClr val="1C1F2A"/>
                </a:solidFill>
                <a:latin typeface="Cambria" pitchFamily="34" charset="0"/>
                <a:ea typeface="Cambria" pitchFamily="34" charset="-122"/>
                <a:cs typeface="Cambria" pitchFamily="34" charset="-120"/>
              </a:rPr>
              <a:t>alpha-beta pruning</a:t>
            </a:r>
            <a:endParaRPr lang="en-US" sz="1650" dirty="0"/>
          </a:p>
        </p:txBody>
      </p:sp>
      <p:sp>
        <p:nvSpPr>
          <p:cNvPr id="11" name="Text 8"/>
          <p:cNvSpPr/>
          <p:nvPr/>
        </p:nvSpPr>
        <p:spPr>
          <a:xfrm>
            <a:off x="841248" y="3529584"/>
            <a:ext cx="2084832" cy="1645920"/>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Optimal play against a perfect adversary, and how to skip work without changing the answer.</a:t>
            </a:r>
            <a:endParaRPr lang="en-US" sz="1250" dirty="0"/>
          </a:p>
        </p:txBody>
      </p:sp>
      <p:sp>
        <p:nvSpPr>
          <p:cNvPr id="12" name="Text 9"/>
          <p:cNvSpPr/>
          <p:nvPr/>
        </p:nvSpPr>
        <p:spPr>
          <a:xfrm>
            <a:off x="841248" y="5193792"/>
            <a:ext cx="2084832" cy="292608"/>
          </a:xfrm>
          <a:prstGeom prst="rect">
            <a:avLst/>
          </a:prstGeom>
          <a:noFill/>
          <a:ln/>
        </p:spPr>
        <p:txBody>
          <a:bodyPr wrap="square" lIns="0" tIns="0" rIns="0" bIns="0" rtlCol="0" anchor="ctr"/>
          <a:lstStyle/>
          <a:p>
            <a:pPr indent="0" marL="0">
              <a:buNone/>
            </a:pPr>
            <a:r>
              <a:rPr lang="en-US" sz="1150" b="1" dirty="0">
                <a:solidFill>
                  <a:srgbClr val="C2410C"/>
                </a:solidFill>
                <a:latin typeface="Calibri" pitchFamily="34" charset="0"/>
                <a:ea typeface="Calibri" pitchFamily="34" charset="-122"/>
                <a:cs typeface="Calibri" pitchFamily="34" charset="-120"/>
              </a:rPr>
              <a:t>30 min</a:t>
            </a:r>
            <a:endParaRPr lang="en-US" sz="1150" dirty="0"/>
          </a:p>
        </p:txBody>
      </p:sp>
      <p:sp>
        <p:nvSpPr>
          <p:cNvPr id="13" name="Shape 10"/>
          <p:cNvSpPr/>
          <p:nvPr/>
        </p:nvSpPr>
        <p:spPr>
          <a:xfrm>
            <a:off x="3364992" y="1572768"/>
            <a:ext cx="2578608" cy="4114800"/>
          </a:xfrm>
          <a:prstGeom prst="roundRect">
            <a:avLst>
              <a:gd name="adj" fmla="val 2482"/>
            </a:avLst>
          </a:prstGeom>
          <a:solidFill>
            <a:srgbClr val="F1F2F5"/>
          </a:solidFill>
          <a:ln w="12700">
            <a:solidFill>
              <a:srgbClr val="F1F2F5"/>
            </a:solidFill>
            <a:prstDash val="solid"/>
          </a:ln>
        </p:spPr>
      </p:sp>
      <p:sp>
        <p:nvSpPr>
          <p:cNvPr id="14" name="Shape 11"/>
          <p:cNvSpPr/>
          <p:nvPr/>
        </p:nvSpPr>
        <p:spPr>
          <a:xfrm>
            <a:off x="3639312" y="1828800"/>
            <a:ext cx="548640" cy="548640"/>
          </a:xfrm>
          <a:prstGeom prst="ellipse">
            <a:avLst/>
          </a:prstGeom>
          <a:solidFill>
            <a:srgbClr val="1D4E63"/>
          </a:solidFill>
          <a:ln w="12700">
            <a:solidFill>
              <a:srgbClr val="1D4E63"/>
            </a:solidFill>
            <a:prstDash val="solid"/>
          </a:ln>
        </p:spPr>
      </p:sp>
      <p:sp>
        <p:nvSpPr>
          <p:cNvPr id="15" name="Text 12"/>
          <p:cNvSpPr/>
          <p:nvPr/>
        </p:nvSpPr>
        <p:spPr>
          <a:xfrm>
            <a:off x="3639312" y="1828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II</a:t>
            </a:r>
            <a:endParaRPr lang="en-US" sz="1600" dirty="0"/>
          </a:p>
        </p:txBody>
      </p:sp>
      <p:sp>
        <p:nvSpPr>
          <p:cNvPr id="16" name="Text 13"/>
          <p:cNvSpPr/>
          <p:nvPr/>
        </p:nvSpPr>
        <p:spPr>
          <a:xfrm>
            <a:off x="3639312" y="2542032"/>
            <a:ext cx="2084832" cy="914400"/>
          </a:xfrm>
          <a:prstGeom prst="rect">
            <a:avLst/>
          </a:prstGeom>
          <a:noFill/>
          <a:ln/>
        </p:spPr>
        <p:txBody>
          <a:bodyPr wrap="square" lIns="0" tIns="0" rIns="0" bIns="0" rtlCol="0" anchor="t"/>
          <a:lstStyle/>
          <a:p>
            <a:pPr indent="0" marL="0">
              <a:buNone/>
            </a:pPr>
            <a:r>
              <a:rPr lang="en-US" sz="1650" b="1" dirty="0">
                <a:solidFill>
                  <a:srgbClr val="1C1F2A"/>
                </a:solidFill>
                <a:latin typeface="Cambria" pitchFamily="34" charset="0"/>
                <a:ea typeface="Cambria" pitchFamily="34" charset="-122"/>
                <a:cs typeface="Cambria" pitchFamily="34" charset="-120"/>
              </a:rPr>
              <a:t>Games we cannot</a:t>
            </a:r>
            <a:endParaRPr lang="en-US" sz="1650" dirty="0"/>
          </a:p>
          <a:p>
            <a:pPr indent="0" marL="0">
              <a:buNone/>
            </a:pPr>
            <a:r>
              <a:rPr lang="en-US" sz="1650" b="1" dirty="0">
                <a:solidFill>
                  <a:srgbClr val="1C1F2A"/>
                </a:solidFill>
                <a:latin typeface="Cambria" pitchFamily="34" charset="0"/>
                <a:ea typeface="Cambria" pitchFamily="34" charset="-122"/>
                <a:cs typeface="Cambria" pitchFamily="34" charset="-120"/>
              </a:rPr>
              <a:t>solve exactly</a:t>
            </a:r>
            <a:endParaRPr lang="en-US" sz="1650" dirty="0"/>
          </a:p>
        </p:txBody>
      </p:sp>
      <p:sp>
        <p:nvSpPr>
          <p:cNvPr id="17" name="Text 14"/>
          <p:cNvSpPr/>
          <p:nvPr/>
        </p:nvSpPr>
        <p:spPr>
          <a:xfrm>
            <a:off x="3639312" y="3529584"/>
            <a:ext cx="2084832" cy="1645920"/>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Cutoff tests, evaluation functions, quiescence, forward pruning, and Monte Carlo tree search.</a:t>
            </a:r>
            <a:endParaRPr lang="en-US" sz="1250" dirty="0"/>
          </a:p>
        </p:txBody>
      </p:sp>
      <p:sp>
        <p:nvSpPr>
          <p:cNvPr id="18" name="Text 15"/>
          <p:cNvSpPr/>
          <p:nvPr/>
        </p:nvSpPr>
        <p:spPr>
          <a:xfrm>
            <a:off x="3639312" y="5193792"/>
            <a:ext cx="2084832" cy="292608"/>
          </a:xfrm>
          <a:prstGeom prst="rect">
            <a:avLst/>
          </a:prstGeom>
          <a:noFill/>
          <a:ln/>
        </p:spPr>
        <p:txBody>
          <a:bodyPr wrap="square" lIns="0" tIns="0" rIns="0" bIns="0" rtlCol="0" anchor="ctr"/>
          <a:lstStyle/>
          <a:p>
            <a:pPr indent="0" marL="0">
              <a:buNone/>
            </a:pPr>
            <a:r>
              <a:rPr lang="en-US" sz="1150" b="1" dirty="0">
                <a:solidFill>
                  <a:srgbClr val="1D4E63"/>
                </a:solidFill>
                <a:latin typeface="Calibri" pitchFamily="34" charset="0"/>
                <a:ea typeface="Calibri" pitchFamily="34" charset="-122"/>
                <a:cs typeface="Calibri" pitchFamily="34" charset="-120"/>
              </a:rPr>
              <a:t>30 min</a:t>
            </a:r>
            <a:endParaRPr lang="en-US" sz="1150" dirty="0"/>
          </a:p>
        </p:txBody>
      </p:sp>
      <p:sp>
        <p:nvSpPr>
          <p:cNvPr id="19" name="Shape 16"/>
          <p:cNvSpPr/>
          <p:nvPr/>
        </p:nvSpPr>
        <p:spPr>
          <a:xfrm>
            <a:off x="6163056" y="1572768"/>
            <a:ext cx="2578608" cy="4114800"/>
          </a:xfrm>
          <a:prstGeom prst="roundRect">
            <a:avLst>
              <a:gd name="adj" fmla="val 2482"/>
            </a:avLst>
          </a:prstGeom>
          <a:solidFill>
            <a:srgbClr val="F1F2F5"/>
          </a:solidFill>
          <a:ln w="12700">
            <a:solidFill>
              <a:srgbClr val="F1F2F5"/>
            </a:solidFill>
            <a:prstDash val="solid"/>
          </a:ln>
        </p:spPr>
      </p:sp>
      <p:sp>
        <p:nvSpPr>
          <p:cNvPr id="20" name="Shape 17"/>
          <p:cNvSpPr/>
          <p:nvPr/>
        </p:nvSpPr>
        <p:spPr>
          <a:xfrm>
            <a:off x="6437376" y="1828800"/>
            <a:ext cx="548640" cy="548640"/>
          </a:xfrm>
          <a:prstGeom prst="ellipse">
            <a:avLst/>
          </a:prstGeom>
          <a:solidFill>
            <a:srgbClr val="6B4E8F"/>
          </a:solidFill>
          <a:ln w="12700">
            <a:solidFill>
              <a:srgbClr val="6B4E8F"/>
            </a:solidFill>
            <a:prstDash val="solid"/>
          </a:ln>
        </p:spPr>
      </p:sp>
      <p:sp>
        <p:nvSpPr>
          <p:cNvPr id="21" name="Text 18"/>
          <p:cNvSpPr/>
          <p:nvPr/>
        </p:nvSpPr>
        <p:spPr>
          <a:xfrm>
            <a:off x="6437376" y="1828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III</a:t>
            </a:r>
            <a:endParaRPr lang="en-US" sz="1600" dirty="0"/>
          </a:p>
        </p:txBody>
      </p:sp>
      <p:sp>
        <p:nvSpPr>
          <p:cNvPr id="22" name="Text 19"/>
          <p:cNvSpPr/>
          <p:nvPr/>
        </p:nvSpPr>
        <p:spPr>
          <a:xfrm>
            <a:off x="6437376" y="2542032"/>
            <a:ext cx="2084832" cy="914400"/>
          </a:xfrm>
          <a:prstGeom prst="rect">
            <a:avLst/>
          </a:prstGeom>
          <a:noFill/>
          <a:ln/>
        </p:spPr>
        <p:txBody>
          <a:bodyPr wrap="square" lIns="0" tIns="0" rIns="0" bIns="0" rtlCol="0" anchor="t"/>
          <a:lstStyle/>
          <a:p>
            <a:pPr indent="0" marL="0">
              <a:buNone/>
            </a:pPr>
            <a:r>
              <a:rPr lang="en-US" sz="1650" b="1" dirty="0">
                <a:solidFill>
                  <a:srgbClr val="1C1F2A"/>
                </a:solidFill>
                <a:latin typeface="Cambria" pitchFamily="34" charset="0"/>
                <a:ea typeface="Cambria" pitchFamily="34" charset="-122"/>
                <a:cs typeface="Cambria" pitchFamily="34" charset="-120"/>
              </a:rPr>
              <a:t>When the world</a:t>
            </a:r>
            <a:endParaRPr lang="en-US" sz="1650" dirty="0"/>
          </a:p>
          <a:p>
            <a:pPr indent="0" marL="0">
              <a:buNone/>
            </a:pPr>
            <a:r>
              <a:rPr lang="en-US" sz="1650" b="1" dirty="0">
                <a:solidFill>
                  <a:srgbClr val="1C1F2A"/>
                </a:solidFill>
                <a:latin typeface="Cambria" pitchFamily="34" charset="0"/>
                <a:ea typeface="Cambria" pitchFamily="34" charset="-122"/>
                <a:cs typeface="Cambria" pitchFamily="34" charset="-120"/>
              </a:rPr>
              <a:t>rolls dice</a:t>
            </a:r>
            <a:endParaRPr lang="en-US" sz="1650" dirty="0"/>
          </a:p>
        </p:txBody>
      </p:sp>
      <p:sp>
        <p:nvSpPr>
          <p:cNvPr id="23" name="Text 20"/>
          <p:cNvSpPr/>
          <p:nvPr/>
        </p:nvSpPr>
        <p:spPr>
          <a:xfrm>
            <a:off x="6437376" y="3529584"/>
            <a:ext cx="2084832" cy="1645920"/>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Chance nodes, expectimax, expectiminimax, and why the model of the opponent decides everything.</a:t>
            </a:r>
            <a:endParaRPr lang="en-US" sz="1250" dirty="0"/>
          </a:p>
        </p:txBody>
      </p:sp>
      <p:sp>
        <p:nvSpPr>
          <p:cNvPr id="24" name="Text 21"/>
          <p:cNvSpPr/>
          <p:nvPr/>
        </p:nvSpPr>
        <p:spPr>
          <a:xfrm>
            <a:off x="6437376" y="5193792"/>
            <a:ext cx="2084832" cy="292608"/>
          </a:xfrm>
          <a:prstGeom prst="rect">
            <a:avLst/>
          </a:prstGeom>
          <a:noFill/>
          <a:ln/>
        </p:spPr>
        <p:txBody>
          <a:bodyPr wrap="square" lIns="0" tIns="0" rIns="0" bIns="0" rtlCol="0" anchor="ctr"/>
          <a:lstStyle/>
          <a:p>
            <a:pPr indent="0" marL="0">
              <a:buNone/>
            </a:pPr>
            <a:r>
              <a:rPr lang="en-US" sz="1150" b="1" dirty="0">
                <a:solidFill>
                  <a:srgbClr val="6B4E8F"/>
                </a:solidFill>
                <a:latin typeface="Calibri" pitchFamily="34" charset="0"/>
                <a:ea typeface="Calibri" pitchFamily="34" charset="-122"/>
                <a:cs typeface="Calibri" pitchFamily="34" charset="-120"/>
              </a:rPr>
              <a:t>25 min</a:t>
            </a:r>
            <a:endParaRPr lang="en-US" sz="1150" dirty="0"/>
          </a:p>
        </p:txBody>
      </p:sp>
      <p:sp>
        <p:nvSpPr>
          <p:cNvPr id="25" name="Shape 22"/>
          <p:cNvSpPr/>
          <p:nvPr/>
        </p:nvSpPr>
        <p:spPr>
          <a:xfrm>
            <a:off x="8961120" y="1572768"/>
            <a:ext cx="2578608" cy="4114800"/>
          </a:xfrm>
          <a:prstGeom prst="roundRect">
            <a:avLst>
              <a:gd name="adj" fmla="val 2482"/>
            </a:avLst>
          </a:prstGeom>
          <a:solidFill>
            <a:srgbClr val="F1F2F5"/>
          </a:solidFill>
          <a:ln w="12700">
            <a:solidFill>
              <a:srgbClr val="F1F2F5"/>
            </a:solidFill>
            <a:prstDash val="solid"/>
          </a:ln>
        </p:spPr>
      </p:sp>
      <p:sp>
        <p:nvSpPr>
          <p:cNvPr id="26" name="Shape 23"/>
          <p:cNvSpPr/>
          <p:nvPr/>
        </p:nvSpPr>
        <p:spPr>
          <a:xfrm>
            <a:off x="9235440" y="1828800"/>
            <a:ext cx="548640" cy="548640"/>
          </a:xfrm>
          <a:prstGeom prst="ellipse">
            <a:avLst/>
          </a:prstGeom>
          <a:solidFill>
            <a:srgbClr val="B58500"/>
          </a:solidFill>
          <a:ln w="12700">
            <a:solidFill>
              <a:srgbClr val="B58500"/>
            </a:solidFill>
            <a:prstDash val="solid"/>
          </a:ln>
        </p:spPr>
      </p:sp>
      <p:sp>
        <p:nvSpPr>
          <p:cNvPr id="27" name="Text 24"/>
          <p:cNvSpPr/>
          <p:nvPr/>
        </p:nvSpPr>
        <p:spPr>
          <a:xfrm>
            <a:off x="9235440" y="1828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IV</a:t>
            </a:r>
            <a:endParaRPr lang="en-US" sz="1600" dirty="0"/>
          </a:p>
        </p:txBody>
      </p:sp>
      <p:sp>
        <p:nvSpPr>
          <p:cNvPr id="28" name="Text 25"/>
          <p:cNvSpPr/>
          <p:nvPr/>
        </p:nvSpPr>
        <p:spPr>
          <a:xfrm>
            <a:off x="9235440" y="2542032"/>
            <a:ext cx="2084832" cy="914400"/>
          </a:xfrm>
          <a:prstGeom prst="rect">
            <a:avLst/>
          </a:prstGeom>
          <a:noFill/>
          <a:ln/>
        </p:spPr>
        <p:txBody>
          <a:bodyPr wrap="square" lIns="0" tIns="0" rIns="0" bIns="0" rtlCol="0" anchor="t"/>
          <a:lstStyle/>
          <a:p>
            <a:pPr indent="0" marL="0">
              <a:buNone/>
            </a:pPr>
            <a:r>
              <a:rPr lang="en-US" sz="1650" b="1" dirty="0">
                <a:solidFill>
                  <a:srgbClr val="1C1F2A"/>
                </a:solidFill>
                <a:latin typeface="Cambria" pitchFamily="34" charset="0"/>
                <a:ea typeface="Cambria" pitchFamily="34" charset="-122"/>
                <a:cs typeface="Cambria" pitchFamily="34" charset="-120"/>
              </a:rPr>
              <a:t>Where utilities</a:t>
            </a:r>
            <a:endParaRPr lang="en-US" sz="1650" dirty="0"/>
          </a:p>
          <a:p>
            <a:pPr indent="0" marL="0">
              <a:buNone/>
            </a:pPr>
            <a:r>
              <a:rPr lang="en-US" sz="1650" b="1" dirty="0">
                <a:solidFill>
                  <a:srgbClr val="1C1F2A"/>
                </a:solidFill>
                <a:latin typeface="Cambria" pitchFamily="34" charset="0"/>
                <a:ea typeface="Cambria" pitchFamily="34" charset="-122"/>
                <a:cs typeface="Cambria" pitchFamily="34" charset="-120"/>
              </a:rPr>
              <a:t>come from</a:t>
            </a:r>
            <a:endParaRPr lang="en-US" sz="1650" dirty="0"/>
          </a:p>
        </p:txBody>
      </p:sp>
      <p:sp>
        <p:nvSpPr>
          <p:cNvPr id="29" name="Text 26"/>
          <p:cNvSpPr/>
          <p:nvPr/>
        </p:nvSpPr>
        <p:spPr>
          <a:xfrm>
            <a:off x="9235440" y="3529584"/>
            <a:ext cx="2084832" cy="1645920"/>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Rational preference, the von Neumann-Morgenstern theorem, money, and human irrationality.</a:t>
            </a:r>
            <a:endParaRPr lang="en-US" sz="1250" dirty="0"/>
          </a:p>
        </p:txBody>
      </p:sp>
      <p:sp>
        <p:nvSpPr>
          <p:cNvPr id="30" name="Text 27"/>
          <p:cNvSpPr/>
          <p:nvPr/>
        </p:nvSpPr>
        <p:spPr>
          <a:xfrm>
            <a:off x="9235440" y="5193792"/>
            <a:ext cx="2084832" cy="292608"/>
          </a:xfrm>
          <a:prstGeom prst="rect">
            <a:avLst/>
          </a:prstGeom>
          <a:noFill/>
          <a:ln/>
        </p:spPr>
        <p:txBody>
          <a:bodyPr wrap="square" lIns="0" tIns="0" rIns="0" bIns="0" rtlCol="0" anchor="ctr"/>
          <a:lstStyle/>
          <a:p>
            <a:pPr indent="0" marL="0">
              <a:buNone/>
            </a:pPr>
            <a:r>
              <a:rPr lang="en-US" sz="1150" b="1" dirty="0">
                <a:solidFill>
                  <a:srgbClr val="B58500"/>
                </a:solidFill>
                <a:latin typeface="Calibri" pitchFamily="34" charset="0"/>
                <a:ea typeface="Calibri" pitchFamily="34" charset="-122"/>
                <a:cs typeface="Calibri" pitchFamily="34" charset="-120"/>
              </a:rPr>
              <a:t>25 min</a:t>
            </a:r>
            <a:endParaRPr lang="en-US" sz="1150" dirty="0"/>
          </a:p>
        </p:txBody>
      </p:sp>
      <p:sp>
        <p:nvSpPr>
          <p:cNvPr id="31" name="Text 28"/>
          <p:cNvSpPr/>
          <p:nvPr/>
        </p:nvSpPr>
        <p:spPr>
          <a:xfrm>
            <a:off x="566928" y="5852160"/>
            <a:ext cx="7315200" cy="292608"/>
          </a:xfrm>
          <a:prstGeom prst="rect">
            <a:avLst/>
          </a:prstGeom>
          <a:noFill/>
          <a:ln/>
        </p:spPr>
        <p:txBody>
          <a:bodyPr wrap="square" lIns="0" tIns="0" rIns="0" bIns="0" rtlCol="0" anchor="ctr"/>
          <a:lstStyle/>
          <a:p>
            <a:pPr indent="0" marL="0">
              <a:buNone/>
            </a:pPr>
            <a:r>
              <a:rPr lang="en-US" sz="1250" i="1" dirty="0">
                <a:solidFill>
                  <a:srgbClr val="8A8F9C"/>
                </a:solidFill>
                <a:latin typeface="Calibri" pitchFamily="34" charset="0"/>
                <a:ea typeface="Calibri" pitchFamily="34" charset="-122"/>
                <a:cs typeface="Calibri" pitchFamily="34" charset="-120"/>
              </a:rPr>
              <a:t>Ten-minute break between Part II and Part III.</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OUTCOMES</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By the end of the session you should be able to</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3</a:t>
            </a:r>
            <a:endParaRPr lang="en-US" sz="900" dirty="0"/>
          </a:p>
        </p:txBody>
      </p:sp>
      <p:sp>
        <p:nvSpPr>
          <p:cNvPr id="7" name="Shape 4"/>
          <p:cNvSpPr/>
          <p:nvPr/>
        </p:nvSpPr>
        <p:spPr>
          <a:xfrm>
            <a:off x="566928" y="1572768"/>
            <a:ext cx="5303520" cy="1243584"/>
          </a:xfrm>
          <a:prstGeom prst="roundRect">
            <a:avLst>
              <a:gd name="adj" fmla="val 5147"/>
            </a:avLst>
          </a:prstGeom>
          <a:solidFill>
            <a:srgbClr val="F1F2F5"/>
          </a:solidFill>
          <a:ln w="12700">
            <a:solidFill>
              <a:srgbClr val="F1F2F5"/>
            </a:solidFill>
            <a:prstDash val="solid"/>
          </a:ln>
        </p:spPr>
      </p:sp>
      <p:sp>
        <p:nvSpPr>
          <p:cNvPr id="8" name="Shape 5"/>
          <p:cNvSpPr/>
          <p:nvPr/>
        </p:nvSpPr>
        <p:spPr>
          <a:xfrm>
            <a:off x="804672" y="1883664"/>
            <a:ext cx="603504" cy="603504"/>
          </a:xfrm>
          <a:prstGeom prst="ellipse">
            <a:avLst/>
          </a:prstGeom>
          <a:solidFill>
            <a:srgbClr val="C2410C"/>
          </a:solidFill>
          <a:ln w="12700">
            <a:solidFill>
              <a:srgbClr val="C2410C"/>
            </a:solidFill>
            <a:prstDash val="solid"/>
          </a:ln>
        </p:spPr>
      </p:sp>
      <p:sp>
        <p:nvSpPr>
          <p:cNvPr id="9" name="Text 6"/>
          <p:cNvSpPr/>
          <p:nvPr/>
        </p:nvSpPr>
        <p:spPr>
          <a:xfrm>
            <a:off x="804672" y="1883664"/>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0" name="Text 7"/>
          <p:cNvSpPr/>
          <p:nvPr/>
        </p:nvSpPr>
        <p:spPr>
          <a:xfrm>
            <a:off x="1572768" y="1737360"/>
            <a:ext cx="4023360" cy="292608"/>
          </a:xfrm>
          <a:prstGeom prst="rect">
            <a:avLst/>
          </a:prstGeom>
          <a:noFill/>
          <a:ln/>
        </p:spPr>
        <p:txBody>
          <a:bodyPr wrap="square" lIns="0" tIns="0" rIns="0" bIns="0" rtlCol="0" anchor="ctr"/>
          <a:lstStyle/>
          <a:p>
            <a:pPr indent="0" marL="0">
              <a:buNone/>
            </a:pPr>
            <a:r>
              <a:rPr lang="en-US" sz="1400" b="1" dirty="0">
                <a:solidFill>
                  <a:srgbClr val="C2410C"/>
                </a:solidFill>
                <a:latin typeface="Cambria" pitchFamily="34" charset="0"/>
                <a:ea typeface="Cambria" pitchFamily="34" charset="-122"/>
                <a:cs typeface="Cambria" pitchFamily="34" charset="-120"/>
              </a:rPr>
              <a:t>Formalize</a:t>
            </a:r>
            <a:endParaRPr lang="en-US" sz="1400" dirty="0"/>
          </a:p>
        </p:txBody>
      </p:sp>
      <p:sp>
        <p:nvSpPr>
          <p:cNvPr id="11" name="Text 8"/>
          <p:cNvSpPr/>
          <p:nvPr/>
        </p:nvSpPr>
        <p:spPr>
          <a:xfrm>
            <a:off x="1572768" y="2029968"/>
            <a:ext cx="4114800" cy="713232"/>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State a two-player zero-sum game via S0, TO-MOVE, ACTIONS, RESULT, IS-TERMINAL, and UTILITY.</a:t>
            </a:r>
            <a:endParaRPr lang="en-US" sz="1250" dirty="0"/>
          </a:p>
        </p:txBody>
      </p:sp>
      <p:sp>
        <p:nvSpPr>
          <p:cNvPr id="12" name="Shape 9"/>
          <p:cNvSpPr/>
          <p:nvPr/>
        </p:nvSpPr>
        <p:spPr>
          <a:xfrm>
            <a:off x="6144768" y="1572768"/>
            <a:ext cx="5303520" cy="1243584"/>
          </a:xfrm>
          <a:prstGeom prst="roundRect">
            <a:avLst>
              <a:gd name="adj" fmla="val 5147"/>
            </a:avLst>
          </a:prstGeom>
          <a:solidFill>
            <a:srgbClr val="F1F2F5"/>
          </a:solidFill>
          <a:ln w="12700">
            <a:solidFill>
              <a:srgbClr val="F1F2F5"/>
            </a:solidFill>
            <a:prstDash val="solid"/>
          </a:ln>
        </p:spPr>
      </p:sp>
      <p:sp>
        <p:nvSpPr>
          <p:cNvPr id="13" name="Shape 10"/>
          <p:cNvSpPr/>
          <p:nvPr/>
        </p:nvSpPr>
        <p:spPr>
          <a:xfrm>
            <a:off x="6382512" y="1883664"/>
            <a:ext cx="603504" cy="603504"/>
          </a:xfrm>
          <a:prstGeom prst="ellipse">
            <a:avLst/>
          </a:prstGeom>
          <a:solidFill>
            <a:srgbClr val="C2410C"/>
          </a:solidFill>
          <a:ln w="12700">
            <a:solidFill>
              <a:srgbClr val="C2410C"/>
            </a:solidFill>
            <a:prstDash val="solid"/>
          </a:ln>
        </p:spPr>
      </p:sp>
      <p:sp>
        <p:nvSpPr>
          <p:cNvPr id="14" name="Text 11"/>
          <p:cNvSpPr/>
          <p:nvPr/>
        </p:nvSpPr>
        <p:spPr>
          <a:xfrm>
            <a:off x="6382512" y="1883664"/>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5" name="Text 12"/>
          <p:cNvSpPr/>
          <p:nvPr/>
        </p:nvSpPr>
        <p:spPr>
          <a:xfrm>
            <a:off x="7150608" y="1737360"/>
            <a:ext cx="4023360" cy="292608"/>
          </a:xfrm>
          <a:prstGeom prst="rect">
            <a:avLst/>
          </a:prstGeom>
          <a:noFill/>
          <a:ln/>
        </p:spPr>
        <p:txBody>
          <a:bodyPr wrap="square" lIns="0" tIns="0" rIns="0" bIns="0" rtlCol="0" anchor="ctr"/>
          <a:lstStyle/>
          <a:p>
            <a:pPr indent="0" marL="0">
              <a:buNone/>
            </a:pPr>
            <a:r>
              <a:rPr lang="en-US" sz="1400" b="1" dirty="0">
                <a:solidFill>
                  <a:srgbClr val="C2410C"/>
                </a:solidFill>
                <a:latin typeface="Cambria" pitchFamily="34" charset="0"/>
                <a:ea typeface="Cambria" pitchFamily="34" charset="-122"/>
                <a:cs typeface="Cambria" pitchFamily="34" charset="-120"/>
              </a:rPr>
              <a:t>Compute</a:t>
            </a:r>
            <a:endParaRPr lang="en-US" sz="1400" dirty="0"/>
          </a:p>
        </p:txBody>
      </p:sp>
      <p:sp>
        <p:nvSpPr>
          <p:cNvPr id="16" name="Text 13"/>
          <p:cNvSpPr/>
          <p:nvPr/>
        </p:nvSpPr>
        <p:spPr>
          <a:xfrm>
            <a:off x="7150608" y="2029968"/>
            <a:ext cx="4114800" cy="713232"/>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Hand-evaluate minimax, alpha-beta, and expectimax on a tree, and name the leaves alpha-beta never visits.</a:t>
            </a:r>
            <a:endParaRPr lang="en-US" sz="1250" dirty="0"/>
          </a:p>
        </p:txBody>
      </p:sp>
      <p:sp>
        <p:nvSpPr>
          <p:cNvPr id="17" name="Shape 14"/>
          <p:cNvSpPr/>
          <p:nvPr/>
        </p:nvSpPr>
        <p:spPr>
          <a:xfrm>
            <a:off x="566928" y="3054096"/>
            <a:ext cx="5303520" cy="1243584"/>
          </a:xfrm>
          <a:prstGeom prst="roundRect">
            <a:avLst>
              <a:gd name="adj" fmla="val 5147"/>
            </a:avLst>
          </a:prstGeom>
          <a:solidFill>
            <a:srgbClr val="F1F2F5"/>
          </a:solidFill>
          <a:ln w="12700">
            <a:solidFill>
              <a:srgbClr val="F1F2F5"/>
            </a:solidFill>
            <a:prstDash val="solid"/>
          </a:ln>
        </p:spPr>
      </p:sp>
      <p:sp>
        <p:nvSpPr>
          <p:cNvPr id="18" name="Shape 15"/>
          <p:cNvSpPr/>
          <p:nvPr/>
        </p:nvSpPr>
        <p:spPr>
          <a:xfrm>
            <a:off x="804672" y="3364992"/>
            <a:ext cx="603504" cy="603504"/>
          </a:xfrm>
          <a:prstGeom prst="ellipse">
            <a:avLst/>
          </a:prstGeom>
          <a:solidFill>
            <a:srgbClr val="1D4E63"/>
          </a:solidFill>
          <a:ln w="12700">
            <a:solidFill>
              <a:srgbClr val="1D4E63"/>
            </a:solidFill>
            <a:prstDash val="solid"/>
          </a:ln>
        </p:spPr>
      </p:sp>
      <p:sp>
        <p:nvSpPr>
          <p:cNvPr id="19" name="Text 16"/>
          <p:cNvSpPr/>
          <p:nvPr/>
        </p:nvSpPr>
        <p:spPr>
          <a:xfrm>
            <a:off x="804672" y="3364992"/>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0" name="Text 17"/>
          <p:cNvSpPr/>
          <p:nvPr/>
        </p:nvSpPr>
        <p:spPr>
          <a:xfrm>
            <a:off x="1572768" y="3218688"/>
            <a:ext cx="4023360" cy="292608"/>
          </a:xfrm>
          <a:prstGeom prst="rect">
            <a:avLst/>
          </a:prstGeom>
          <a:noFill/>
          <a:ln/>
        </p:spPr>
        <p:txBody>
          <a:bodyPr wrap="square" lIns="0" tIns="0" rIns="0" bIns="0" rtlCol="0" anchor="ctr"/>
          <a:lstStyle/>
          <a:p>
            <a:pPr indent="0" marL="0">
              <a:buNone/>
            </a:pPr>
            <a:r>
              <a:rPr lang="en-US" sz="1400" b="1" dirty="0">
                <a:solidFill>
                  <a:srgbClr val="1D4E63"/>
                </a:solidFill>
                <a:latin typeface="Cambria" pitchFamily="34" charset="0"/>
                <a:ea typeface="Cambria" pitchFamily="34" charset="-122"/>
                <a:cs typeface="Cambria" pitchFamily="34" charset="-120"/>
              </a:rPr>
              <a:t>Analyze</a:t>
            </a:r>
            <a:endParaRPr lang="en-US" sz="1400" dirty="0"/>
          </a:p>
        </p:txBody>
      </p:sp>
      <p:sp>
        <p:nvSpPr>
          <p:cNvPr id="21" name="Text 18"/>
          <p:cNvSpPr/>
          <p:nvPr/>
        </p:nvSpPr>
        <p:spPr>
          <a:xfrm>
            <a:off x="1572768" y="3511296"/>
            <a:ext cx="4114800" cy="713232"/>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Explain why perfect move ordering takes alpha-beta from O(b^m) to O(b^(m/2)), and what that buys in depth.</a:t>
            </a:r>
            <a:endParaRPr lang="en-US" sz="1250" dirty="0"/>
          </a:p>
        </p:txBody>
      </p:sp>
      <p:sp>
        <p:nvSpPr>
          <p:cNvPr id="22" name="Shape 19"/>
          <p:cNvSpPr/>
          <p:nvPr/>
        </p:nvSpPr>
        <p:spPr>
          <a:xfrm>
            <a:off x="6144768" y="3054096"/>
            <a:ext cx="5303520" cy="1243584"/>
          </a:xfrm>
          <a:prstGeom prst="roundRect">
            <a:avLst>
              <a:gd name="adj" fmla="val 5147"/>
            </a:avLst>
          </a:prstGeom>
          <a:solidFill>
            <a:srgbClr val="F1F2F5"/>
          </a:solidFill>
          <a:ln w="12700">
            <a:solidFill>
              <a:srgbClr val="F1F2F5"/>
            </a:solidFill>
            <a:prstDash val="solid"/>
          </a:ln>
        </p:spPr>
      </p:sp>
      <p:sp>
        <p:nvSpPr>
          <p:cNvPr id="23" name="Shape 20"/>
          <p:cNvSpPr/>
          <p:nvPr/>
        </p:nvSpPr>
        <p:spPr>
          <a:xfrm>
            <a:off x="6382512" y="3364992"/>
            <a:ext cx="603504" cy="603504"/>
          </a:xfrm>
          <a:prstGeom prst="ellipse">
            <a:avLst/>
          </a:prstGeom>
          <a:solidFill>
            <a:srgbClr val="1D4E63"/>
          </a:solidFill>
          <a:ln w="12700">
            <a:solidFill>
              <a:srgbClr val="1D4E63"/>
            </a:solidFill>
            <a:prstDash val="solid"/>
          </a:ln>
        </p:spPr>
      </p:sp>
      <p:sp>
        <p:nvSpPr>
          <p:cNvPr id="24" name="Text 21"/>
          <p:cNvSpPr/>
          <p:nvPr/>
        </p:nvSpPr>
        <p:spPr>
          <a:xfrm>
            <a:off x="6382512" y="3364992"/>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5" name="Text 22"/>
          <p:cNvSpPr/>
          <p:nvPr/>
        </p:nvSpPr>
        <p:spPr>
          <a:xfrm>
            <a:off x="7150608" y="3218688"/>
            <a:ext cx="4023360" cy="292608"/>
          </a:xfrm>
          <a:prstGeom prst="rect">
            <a:avLst/>
          </a:prstGeom>
          <a:noFill/>
          <a:ln/>
        </p:spPr>
        <p:txBody>
          <a:bodyPr wrap="square" lIns="0" tIns="0" rIns="0" bIns="0" rtlCol="0" anchor="ctr"/>
          <a:lstStyle/>
          <a:p>
            <a:pPr indent="0" marL="0">
              <a:buNone/>
            </a:pPr>
            <a:r>
              <a:rPr lang="en-US" sz="1400" b="1" dirty="0">
                <a:solidFill>
                  <a:srgbClr val="1D4E63"/>
                </a:solidFill>
                <a:latin typeface="Cambria" pitchFamily="34" charset="0"/>
                <a:ea typeface="Cambria" pitchFamily="34" charset="-122"/>
                <a:cs typeface="Cambria" pitchFamily="34" charset="-120"/>
              </a:rPr>
              <a:t>Design</a:t>
            </a:r>
            <a:endParaRPr lang="en-US" sz="1400" dirty="0"/>
          </a:p>
        </p:txBody>
      </p:sp>
      <p:sp>
        <p:nvSpPr>
          <p:cNvPr id="26" name="Text 23"/>
          <p:cNvSpPr/>
          <p:nvPr/>
        </p:nvSpPr>
        <p:spPr>
          <a:xfrm>
            <a:off x="7150608" y="3511296"/>
            <a:ext cx="4114800" cy="713232"/>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Build a weighted linear evaluation function, and explain quiescence, the horizon effect, and forward pruning.</a:t>
            </a:r>
            <a:endParaRPr lang="en-US" sz="1250" dirty="0"/>
          </a:p>
        </p:txBody>
      </p:sp>
      <p:sp>
        <p:nvSpPr>
          <p:cNvPr id="27" name="Shape 24"/>
          <p:cNvSpPr/>
          <p:nvPr/>
        </p:nvSpPr>
        <p:spPr>
          <a:xfrm>
            <a:off x="566928" y="4535424"/>
            <a:ext cx="5303520" cy="1243584"/>
          </a:xfrm>
          <a:prstGeom prst="roundRect">
            <a:avLst>
              <a:gd name="adj" fmla="val 5147"/>
            </a:avLst>
          </a:prstGeom>
          <a:solidFill>
            <a:srgbClr val="F1F2F5"/>
          </a:solidFill>
          <a:ln w="12700">
            <a:solidFill>
              <a:srgbClr val="F1F2F5"/>
            </a:solidFill>
            <a:prstDash val="solid"/>
          </a:ln>
        </p:spPr>
      </p:sp>
      <p:sp>
        <p:nvSpPr>
          <p:cNvPr id="28" name="Shape 25"/>
          <p:cNvSpPr/>
          <p:nvPr/>
        </p:nvSpPr>
        <p:spPr>
          <a:xfrm>
            <a:off x="804672" y="4846320"/>
            <a:ext cx="603504" cy="603504"/>
          </a:xfrm>
          <a:prstGeom prst="ellipse">
            <a:avLst/>
          </a:prstGeom>
          <a:solidFill>
            <a:srgbClr val="6B4E8F"/>
          </a:solidFill>
          <a:ln w="12700">
            <a:solidFill>
              <a:srgbClr val="6B4E8F"/>
            </a:solidFill>
            <a:prstDash val="solid"/>
          </a:ln>
        </p:spPr>
      </p:sp>
      <p:sp>
        <p:nvSpPr>
          <p:cNvPr id="29" name="Text 26"/>
          <p:cNvSpPr/>
          <p:nvPr/>
        </p:nvSpPr>
        <p:spPr>
          <a:xfrm>
            <a:off x="804672" y="4846320"/>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30" name="Text 27"/>
          <p:cNvSpPr/>
          <p:nvPr/>
        </p:nvSpPr>
        <p:spPr>
          <a:xfrm>
            <a:off x="1572768" y="4700016"/>
            <a:ext cx="4023360" cy="292608"/>
          </a:xfrm>
          <a:prstGeom prst="rect">
            <a:avLst/>
          </a:prstGeom>
          <a:noFill/>
          <a:ln/>
        </p:spPr>
        <p:txBody>
          <a:bodyPr wrap="square" lIns="0" tIns="0" rIns="0" bIns="0" rtlCol="0" anchor="ctr"/>
          <a:lstStyle/>
          <a:p>
            <a:pPr indent="0" marL="0">
              <a:buNone/>
            </a:pPr>
            <a:r>
              <a:rPr lang="en-US" sz="1400" b="1" dirty="0">
                <a:solidFill>
                  <a:srgbClr val="6B4E8F"/>
                </a:solidFill>
                <a:latin typeface="Cambria" pitchFamily="34" charset="0"/>
                <a:ea typeface="Cambria" pitchFamily="34" charset="-122"/>
                <a:cs typeface="Cambria" pitchFamily="34" charset="-120"/>
              </a:rPr>
              <a:t>Contrast</a:t>
            </a:r>
            <a:endParaRPr lang="en-US" sz="1400" dirty="0"/>
          </a:p>
        </p:txBody>
      </p:sp>
      <p:sp>
        <p:nvSpPr>
          <p:cNvPr id="31" name="Text 28"/>
          <p:cNvSpPr/>
          <p:nvPr/>
        </p:nvSpPr>
        <p:spPr>
          <a:xfrm>
            <a:off x="1572768" y="4992624"/>
            <a:ext cx="4114800" cy="713232"/>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Decide when Monte Carlo tree search beats heuristic alpha-beta, arguing from branching factor and evaluability.</a:t>
            </a:r>
            <a:endParaRPr lang="en-US" sz="1250" dirty="0"/>
          </a:p>
        </p:txBody>
      </p:sp>
      <p:sp>
        <p:nvSpPr>
          <p:cNvPr id="32" name="Shape 29"/>
          <p:cNvSpPr/>
          <p:nvPr/>
        </p:nvSpPr>
        <p:spPr>
          <a:xfrm>
            <a:off x="6144768" y="4535424"/>
            <a:ext cx="5303520" cy="1243584"/>
          </a:xfrm>
          <a:prstGeom prst="roundRect">
            <a:avLst>
              <a:gd name="adj" fmla="val 5147"/>
            </a:avLst>
          </a:prstGeom>
          <a:solidFill>
            <a:srgbClr val="F1F2F5"/>
          </a:solidFill>
          <a:ln w="12700">
            <a:solidFill>
              <a:srgbClr val="F1F2F5"/>
            </a:solidFill>
            <a:prstDash val="solid"/>
          </a:ln>
        </p:spPr>
      </p:sp>
      <p:sp>
        <p:nvSpPr>
          <p:cNvPr id="33" name="Shape 30"/>
          <p:cNvSpPr/>
          <p:nvPr/>
        </p:nvSpPr>
        <p:spPr>
          <a:xfrm>
            <a:off x="6382512" y="4846320"/>
            <a:ext cx="603504" cy="603504"/>
          </a:xfrm>
          <a:prstGeom prst="ellipse">
            <a:avLst/>
          </a:prstGeom>
          <a:solidFill>
            <a:srgbClr val="B58500"/>
          </a:solidFill>
          <a:ln w="12700">
            <a:solidFill>
              <a:srgbClr val="B58500"/>
            </a:solidFill>
            <a:prstDash val="solid"/>
          </a:ln>
        </p:spPr>
      </p:sp>
      <p:sp>
        <p:nvSpPr>
          <p:cNvPr id="34" name="Text 31"/>
          <p:cNvSpPr/>
          <p:nvPr/>
        </p:nvSpPr>
        <p:spPr>
          <a:xfrm>
            <a:off x="6382512" y="4846320"/>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5" name="Text 32"/>
          <p:cNvSpPr/>
          <p:nvPr/>
        </p:nvSpPr>
        <p:spPr>
          <a:xfrm>
            <a:off x="7150608" y="4700016"/>
            <a:ext cx="4023360" cy="292608"/>
          </a:xfrm>
          <a:prstGeom prst="rect">
            <a:avLst/>
          </a:prstGeom>
          <a:noFill/>
          <a:ln/>
        </p:spPr>
        <p:txBody>
          <a:bodyPr wrap="square" lIns="0" tIns="0" rIns="0" bIns="0" rtlCol="0" anchor="ctr"/>
          <a:lstStyle/>
          <a:p>
            <a:pPr indent="0" marL="0">
              <a:buNone/>
            </a:pPr>
            <a:r>
              <a:rPr lang="en-US" sz="1400" b="1" dirty="0">
                <a:solidFill>
                  <a:srgbClr val="B58500"/>
                </a:solidFill>
                <a:latin typeface="Cambria" pitchFamily="34" charset="0"/>
                <a:ea typeface="Cambria" pitchFamily="34" charset="-122"/>
                <a:cs typeface="Cambria" pitchFamily="34" charset="-120"/>
              </a:rPr>
              <a:t>Justify</a:t>
            </a:r>
            <a:endParaRPr lang="en-US" sz="1400" dirty="0"/>
          </a:p>
        </p:txBody>
      </p:sp>
      <p:sp>
        <p:nvSpPr>
          <p:cNvPr id="36" name="Text 33"/>
          <p:cNvSpPr/>
          <p:nvPr/>
        </p:nvSpPr>
        <p:spPr>
          <a:xfrm>
            <a:off x="7150608" y="4992624"/>
            <a:ext cx="4114800" cy="713232"/>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Derive maximum expected utility from the rationality axioms, and say why leaf magnitudes matter under expectimax.</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1F2A"/>
        </a:solidFill>
      </p:bgPr>
    </p:bg>
    <p:spTree>
      <p:nvGrpSpPr>
        <p:cNvPr id="1" name=""/>
        <p:cNvGrpSpPr/>
        <p:nvPr/>
      </p:nvGrpSpPr>
      <p:grpSpPr>
        <a:xfrm>
          <a:off x="0" y="0"/>
          <a:ext cx="0" cy="0"/>
          <a:chOff x="0" y="0"/>
          <a:chExt cx="0" cy="0"/>
        </a:xfrm>
      </p:grpSpPr>
      <p:sp>
        <p:nvSpPr>
          <p:cNvPr id="2" name="Text 0"/>
          <p:cNvSpPr/>
          <p:nvPr/>
        </p:nvSpPr>
        <p:spPr>
          <a:xfrm>
            <a:off x="822960" y="1920240"/>
            <a:ext cx="6400800" cy="365760"/>
          </a:xfrm>
          <a:prstGeom prst="rect">
            <a:avLst/>
          </a:prstGeom>
          <a:noFill/>
          <a:ln/>
        </p:spPr>
        <p:txBody>
          <a:bodyPr wrap="square" lIns="0" tIns="0" rIns="0" bIns="0" rtlCol="0" anchor="ctr"/>
          <a:lstStyle/>
          <a:p>
            <a:pPr indent="0" marL="0">
              <a:buNone/>
            </a:pPr>
            <a:r>
              <a:rPr lang="en-US" sz="1250" b="1" spc="220" kern="0" dirty="0">
                <a:solidFill>
                  <a:srgbClr val="B58500"/>
                </a:solidFill>
                <a:latin typeface="Calibri" pitchFamily="34" charset="0"/>
                <a:ea typeface="Calibri" pitchFamily="34" charset="-122"/>
                <a:cs typeface="Calibri" pitchFamily="34" charset="-120"/>
              </a:rPr>
              <a:t>PART I  ·  30 MINUTES</a:t>
            </a:r>
            <a:endParaRPr lang="en-US" sz="1250" dirty="0"/>
          </a:p>
        </p:txBody>
      </p:sp>
      <p:sp>
        <p:nvSpPr>
          <p:cNvPr id="3" name="Text 1"/>
          <p:cNvSpPr/>
          <p:nvPr/>
        </p:nvSpPr>
        <p:spPr>
          <a:xfrm>
            <a:off x="822960" y="2331720"/>
            <a:ext cx="7680960" cy="1554480"/>
          </a:xfrm>
          <a:prstGeom prst="rect">
            <a:avLst/>
          </a:prstGeom>
          <a:noFill/>
          <a:ln/>
        </p:spPr>
        <p:txBody>
          <a:bodyPr wrap="square" lIns="0" tIns="0" rIns="0" bIns="0" rtlCol="0" anchor="t"/>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Games as search</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problems</a:t>
            </a:r>
            <a:endParaRPr lang="en-US" sz="3800" dirty="0"/>
          </a:p>
        </p:txBody>
      </p:sp>
      <p:sp>
        <p:nvSpPr>
          <p:cNvPr id="4" name="Text 2"/>
          <p:cNvSpPr/>
          <p:nvPr/>
        </p:nvSpPr>
        <p:spPr>
          <a:xfrm>
            <a:off x="822960" y="4023360"/>
            <a:ext cx="7132320" cy="1097280"/>
          </a:xfrm>
          <a:prstGeom prst="rect">
            <a:avLst/>
          </a:prstGeom>
          <a:noFill/>
          <a:ln/>
        </p:spPr>
        <p:txBody>
          <a:bodyPr wrap="square" lIns="0" tIns="0" rIns="0" bIns="0" rtlCol="0" anchor="t"/>
          <a:lstStyle/>
          <a:p>
            <a:pPr indent="0" marL="0">
              <a:buNone/>
            </a:pPr>
            <a:r>
              <a:rPr lang="en-US" sz="1500" dirty="0">
                <a:solidFill>
                  <a:srgbClr val="A9B0C0"/>
                </a:solidFill>
                <a:latin typeface="Calibri" pitchFamily="34" charset="0"/>
                <a:ea typeface="Calibri" pitchFamily="34" charset="-122"/>
                <a:cs typeface="Calibri" pitchFamily="34" charset="-120"/>
              </a:rPr>
              <a:t>A second agent is not just noise in the environment. It is a mind with a plan, and that plan is aimed at you.</a:t>
            </a:r>
            <a:endParaRPr lang="en-US" sz="1500" dirty="0"/>
          </a:p>
        </p:txBody>
      </p:sp>
      <p:sp>
        <p:nvSpPr>
          <p:cNvPr id="5" name="Shape 3"/>
          <p:cNvSpPr/>
          <p:nvPr/>
        </p:nvSpPr>
        <p:spPr>
          <a:xfrm>
            <a:off x="9372600" y="2377440"/>
            <a:ext cx="1645920" cy="1645920"/>
          </a:xfrm>
          <a:prstGeom prst="triangle">
            <a:avLst/>
          </a:prstGeom>
          <a:solidFill>
            <a:srgbClr val="C2410C"/>
          </a:solidFill>
          <a:ln w="12700">
            <a:solidFill>
              <a:srgbClr val="C2410C"/>
            </a:solidFill>
            <a:prstDash val="solid"/>
          </a:ln>
        </p:spPr>
      </p:sp>
      <p:sp>
        <p:nvSpPr>
          <p:cNvPr id="6" name="Text 4"/>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565D6E"/>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7" name="Text 5"/>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565D6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5.1  GAME THEORY</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Three stances toward a multi-agent world</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566928" y="1572768"/>
            <a:ext cx="11064240" cy="1280160"/>
          </a:xfrm>
          <a:prstGeom prst="roundRect">
            <a:avLst>
              <a:gd name="adj" fmla="val 5000"/>
            </a:avLst>
          </a:prstGeom>
          <a:solidFill>
            <a:srgbClr val="F1F2F5"/>
          </a:solidFill>
          <a:ln w="12700">
            <a:solidFill>
              <a:srgbClr val="F1F2F5"/>
            </a:solidFill>
            <a:prstDash val="solid"/>
          </a:ln>
        </p:spPr>
      </p:sp>
      <p:sp>
        <p:nvSpPr>
          <p:cNvPr id="8" name="Text 5"/>
          <p:cNvSpPr/>
          <p:nvPr/>
        </p:nvSpPr>
        <p:spPr>
          <a:xfrm>
            <a:off x="822960" y="1883664"/>
            <a:ext cx="457200" cy="640080"/>
          </a:xfrm>
          <a:prstGeom prst="rect">
            <a:avLst/>
          </a:prstGeom>
          <a:noFill/>
          <a:ln/>
        </p:spPr>
        <p:txBody>
          <a:bodyPr wrap="square" lIns="0" tIns="0" rIns="0" bIns="0" rtlCol="0" anchor="ctr"/>
          <a:lstStyle/>
          <a:p>
            <a:pPr indent="0" marL="0">
              <a:buNone/>
            </a:pPr>
            <a:r>
              <a:rPr lang="en-US" sz="3000" b="1" dirty="0">
                <a:solidFill>
                  <a:srgbClr val="8A8F9C"/>
                </a:solidFill>
                <a:latin typeface="Cambria" pitchFamily="34" charset="0"/>
                <a:ea typeface="Cambria" pitchFamily="34" charset="-122"/>
                <a:cs typeface="Cambria" pitchFamily="34" charset="-120"/>
              </a:rPr>
              <a:t>1</a:t>
            </a:r>
            <a:endParaRPr lang="en-US" sz="3000" dirty="0"/>
          </a:p>
        </p:txBody>
      </p:sp>
      <p:sp>
        <p:nvSpPr>
          <p:cNvPr id="9" name="Text 6"/>
          <p:cNvSpPr/>
          <p:nvPr/>
        </p:nvSpPr>
        <p:spPr>
          <a:xfrm>
            <a:off x="1417320" y="1755648"/>
            <a:ext cx="3657600" cy="384048"/>
          </a:xfrm>
          <a:prstGeom prst="rect">
            <a:avLst/>
          </a:prstGeom>
          <a:noFill/>
          <a:ln/>
        </p:spPr>
        <p:txBody>
          <a:bodyPr wrap="square" lIns="0" tIns="0" rIns="0" bIns="0" rtlCol="0" anchor="ctr"/>
          <a:lstStyle/>
          <a:p>
            <a:pPr indent="0" marL="0">
              <a:buNone/>
            </a:pPr>
            <a:r>
              <a:rPr lang="en-US" sz="1700" b="1" dirty="0">
                <a:solidFill>
                  <a:srgbClr val="1C1F2A"/>
                </a:solidFill>
                <a:latin typeface="Cambria" pitchFamily="34" charset="0"/>
                <a:ea typeface="Cambria" pitchFamily="34" charset="-122"/>
                <a:cs typeface="Cambria" pitchFamily="34" charset="-120"/>
              </a:rPr>
              <a:t>Aggregate them</a:t>
            </a:r>
            <a:endParaRPr lang="en-US" sz="1700" dirty="0"/>
          </a:p>
        </p:txBody>
      </p:sp>
      <p:sp>
        <p:nvSpPr>
          <p:cNvPr id="10" name="Text 7"/>
          <p:cNvSpPr/>
          <p:nvPr/>
        </p:nvSpPr>
        <p:spPr>
          <a:xfrm>
            <a:off x="1417320" y="2176272"/>
            <a:ext cx="3657600" cy="329184"/>
          </a:xfrm>
          <a:prstGeom prst="rect">
            <a:avLst/>
          </a:prstGeom>
          <a:noFill/>
          <a:ln/>
        </p:spPr>
        <p:txBody>
          <a:bodyPr wrap="square" lIns="0" tIns="0" rIns="0" bIns="0" rtlCol="0" anchor="t"/>
          <a:lstStyle/>
          <a:p>
            <a:pPr indent="0" marL="0">
              <a:buNone/>
            </a:pPr>
            <a:r>
              <a:rPr lang="en-US" sz="1200" i="1" dirty="0">
                <a:solidFill>
                  <a:srgbClr val="8A8F9C"/>
                </a:solidFill>
                <a:latin typeface="Calibri" pitchFamily="34" charset="0"/>
                <a:ea typeface="Calibri" pitchFamily="34" charset="-122"/>
                <a:cs typeface="Calibri" pitchFamily="34" charset="-120"/>
              </a:rPr>
              <a:t>Economy</a:t>
            </a:r>
            <a:endParaRPr lang="en-US" sz="1200" dirty="0"/>
          </a:p>
        </p:txBody>
      </p:sp>
      <p:sp>
        <p:nvSpPr>
          <p:cNvPr id="11" name="Text 8"/>
          <p:cNvSpPr/>
          <p:nvPr/>
        </p:nvSpPr>
        <p:spPr>
          <a:xfrm>
            <a:off x="5394960" y="1773936"/>
            <a:ext cx="5943600" cy="914400"/>
          </a:xfrm>
          <a:prstGeom prst="rect">
            <a:avLst/>
          </a:prstGeom>
          <a:noFill/>
          <a:ln/>
        </p:spPr>
        <p:txBody>
          <a:bodyPr wrap="square" lIns="0" tIns="0" rIns="0" bIns="0" rtlCol="0" anchor="ctr"/>
          <a:lstStyle/>
          <a:p>
            <a:pPr indent="0" marL="0">
              <a:buNone/>
            </a:pPr>
            <a:r>
              <a:rPr lang="en-US" sz="1300" dirty="0">
                <a:solidFill>
                  <a:srgbClr val="3A3F4C"/>
                </a:solidFill>
                <a:latin typeface="Calibri" pitchFamily="34" charset="0"/>
                <a:ea typeface="Calibri" pitchFamily="34" charset="-122"/>
                <a:cs typeface="Calibri" pitchFamily="34" charset="-120"/>
              </a:rPr>
              <a:t>With very many agents, model the crowd, not the individual. Predict that rising demand raises prices without predicting any one buyer.</a:t>
            </a:r>
            <a:endParaRPr lang="en-US" sz="1300" dirty="0"/>
          </a:p>
        </p:txBody>
      </p:sp>
      <p:sp>
        <p:nvSpPr>
          <p:cNvPr id="12" name="Shape 9"/>
          <p:cNvSpPr/>
          <p:nvPr/>
        </p:nvSpPr>
        <p:spPr>
          <a:xfrm>
            <a:off x="566928" y="3054096"/>
            <a:ext cx="11064240" cy="1280160"/>
          </a:xfrm>
          <a:prstGeom prst="roundRect">
            <a:avLst>
              <a:gd name="adj" fmla="val 5000"/>
            </a:avLst>
          </a:prstGeom>
          <a:solidFill>
            <a:srgbClr val="F1F2F5"/>
          </a:solidFill>
          <a:ln w="12700">
            <a:solidFill>
              <a:srgbClr val="F1F2F5"/>
            </a:solidFill>
            <a:prstDash val="solid"/>
          </a:ln>
        </p:spPr>
      </p:sp>
      <p:sp>
        <p:nvSpPr>
          <p:cNvPr id="13" name="Text 10"/>
          <p:cNvSpPr/>
          <p:nvPr/>
        </p:nvSpPr>
        <p:spPr>
          <a:xfrm>
            <a:off x="822960" y="3364992"/>
            <a:ext cx="457200" cy="640080"/>
          </a:xfrm>
          <a:prstGeom prst="rect">
            <a:avLst/>
          </a:prstGeom>
          <a:noFill/>
          <a:ln/>
        </p:spPr>
        <p:txBody>
          <a:bodyPr wrap="square" lIns="0" tIns="0" rIns="0" bIns="0" rtlCol="0" anchor="ctr"/>
          <a:lstStyle/>
          <a:p>
            <a:pPr indent="0" marL="0">
              <a:buNone/>
            </a:pPr>
            <a:r>
              <a:rPr lang="en-US" sz="3000" b="1" dirty="0">
                <a:solidFill>
                  <a:srgbClr val="8A8F9C"/>
                </a:solidFill>
                <a:latin typeface="Cambria" pitchFamily="34" charset="0"/>
                <a:ea typeface="Cambria" pitchFamily="34" charset="-122"/>
                <a:cs typeface="Cambria" pitchFamily="34" charset="-120"/>
              </a:rPr>
              <a:t>2</a:t>
            </a:r>
            <a:endParaRPr lang="en-US" sz="3000" dirty="0"/>
          </a:p>
        </p:txBody>
      </p:sp>
      <p:sp>
        <p:nvSpPr>
          <p:cNvPr id="14" name="Text 11"/>
          <p:cNvSpPr/>
          <p:nvPr/>
        </p:nvSpPr>
        <p:spPr>
          <a:xfrm>
            <a:off x="1417320" y="3236976"/>
            <a:ext cx="3657600" cy="384048"/>
          </a:xfrm>
          <a:prstGeom prst="rect">
            <a:avLst/>
          </a:prstGeom>
          <a:noFill/>
          <a:ln/>
        </p:spPr>
        <p:txBody>
          <a:bodyPr wrap="square" lIns="0" tIns="0" rIns="0" bIns="0" rtlCol="0" anchor="ctr"/>
          <a:lstStyle/>
          <a:p>
            <a:pPr indent="0" marL="0">
              <a:buNone/>
            </a:pPr>
            <a:r>
              <a:rPr lang="en-US" sz="1700" b="1" dirty="0">
                <a:solidFill>
                  <a:srgbClr val="1C1F2A"/>
                </a:solidFill>
                <a:latin typeface="Cambria" pitchFamily="34" charset="0"/>
                <a:ea typeface="Cambria" pitchFamily="34" charset="-122"/>
                <a:cs typeface="Cambria" pitchFamily="34" charset="-120"/>
              </a:rPr>
              <a:t>Absorb them into the environment</a:t>
            </a:r>
            <a:endParaRPr lang="en-US" sz="1700" dirty="0"/>
          </a:p>
        </p:txBody>
      </p:sp>
      <p:sp>
        <p:nvSpPr>
          <p:cNvPr id="15" name="Text 12"/>
          <p:cNvSpPr/>
          <p:nvPr/>
        </p:nvSpPr>
        <p:spPr>
          <a:xfrm>
            <a:off x="1417320" y="3657600"/>
            <a:ext cx="3657600" cy="329184"/>
          </a:xfrm>
          <a:prstGeom prst="rect">
            <a:avLst/>
          </a:prstGeom>
          <a:noFill/>
          <a:ln/>
        </p:spPr>
        <p:txBody>
          <a:bodyPr wrap="square" lIns="0" tIns="0" rIns="0" bIns="0" rtlCol="0" anchor="t"/>
          <a:lstStyle/>
          <a:p>
            <a:pPr indent="0" marL="0">
              <a:buNone/>
            </a:pPr>
            <a:r>
              <a:rPr lang="en-US" sz="1200" i="1" dirty="0">
                <a:solidFill>
                  <a:srgbClr val="8A8F9C"/>
                </a:solidFill>
                <a:latin typeface="Calibri" pitchFamily="34" charset="0"/>
                <a:ea typeface="Calibri" pitchFamily="34" charset="-122"/>
                <a:cs typeface="Calibri" pitchFamily="34" charset="-120"/>
              </a:rPr>
              <a:t>Nondeterminism</a:t>
            </a:r>
            <a:endParaRPr lang="en-US" sz="1200" dirty="0"/>
          </a:p>
        </p:txBody>
      </p:sp>
      <p:sp>
        <p:nvSpPr>
          <p:cNvPr id="16" name="Text 13"/>
          <p:cNvSpPr/>
          <p:nvPr/>
        </p:nvSpPr>
        <p:spPr>
          <a:xfrm>
            <a:off x="5394960" y="3255264"/>
            <a:ext cx="5943600" cy="914400"/>
          </a:xfrm>
          <a:prstGeom prst="rect">
            <a:avLst/>
          </a:prstGeom>
          <a:noFill/>
          <a:ln/>
        </p:spPr>
        <p:txBody>
          <a:bodyPr wrap="square" lIns="0" tIns="0" rIns="0" bIns="0" rtlCol="0" anchor="ctr"/>
          <a:lstStyle/>
          <a:p>
            <a:pPr indent="0" marL="0">
              <a:buNone/>
            </a:pPr>
            <a:r>
              <a:rPr lang="en-US" sz="1300" dirty="0">
                <a:solidFill>
                  <a:srgbClr val="3A3F4C"/>
                </a:solidFill>
                <a:latin typeface="Calibri" pitchFamily="34" charset="0"/>
                <a:ea typeface="Calibri" pitchFamily="34" charset="-122"/>
                <a:cs typeface="Calibri" pitchFamily="34" charset="-120"/>
              </a:rPr>
              <a:t>Treat the adversary like weather. Workable, but it loses the crucial fact that rain has no intention and your opponent does.</a:t>
            </a:r>
            <a:endParaRPr lang="en-US" sz="1300" dirty="0"/>
          </a:p>
        </p:txBody>
      </p:sp>
      <p:sp>
        <p:nvSpPr>
          <p:cNvPr id="17" name="Shape 14"/>
          <p:cNvSpPr/>
          <p:nvPr/>
        </p:nvSpPr>
        <p:spPr>
          <a:xfrm>
            <a:off x="566928" y="4535424"/>
            <a:ext cx="11064240" cy="1280160"/>
          </a:xfrm>
          <a:prstGeom prst="roundRect">
            <a:avLst>
              <a:gd name="adj" fmla="val 5000"/>
            </a:avLst>
          </a:prstGeom>
          <a:solidFill>
            <a:srgbClr val="FDF2EC"/>
          </a:solidFill>
          <a:ln w="12700">
            <a:solidFill>
              <a:srgbClr val="FDF2EC"/>
            </a:solidFill>
            <a:prstDash val="solid"/>
          </a:ln>
        </p:spPr>
      </p:sp>
      <p:sp>
        <p:nvSpPr>
          <p:cNvPr id="18" name="Text 15"/>
          <p:cNvSpPr/>
          <p:nvPr/>
        </p:nvSpPr>
        <p:spPr>
          <a:xfrm>
            <a:off x="822960" y="4846320"/>
            <a:ext cx="457200" cy="640080"/>
          </a:xfrm>
          <a:prstGeom prst="rect">
            <a:avLst/>
          </a:prstGeom>
          <a:noFill/>
          <a:ln/>
        </p:spPr>
        <p:txBody>
          <a:bodyPr wrap="square" lIns="0" tIns="0" rIns="0" bIns="0" rtlCol="0" anchor="ctr"/>
          <a:lstStyle/>
          <a:p>
            <a:pPr indent="0" marL="0">
              <a:buNone/>
            </a:pPr>
            <a:r>
              <a:rPr lang="en-US" sz="3000" b="1" dirty="0">
                <a:solidFill>
                  <a:srgbClr val="C2410C"/>
                </a:solidFill>
                <a:latin typeface="Cambria" pitchFamily="34" charset="0"/>
                <a:ea typeface="Cambria" pitchFamily="34" charset="-122"/>
                <a:cs typeface="Cambria" pitchFamily="34" charset="-120"/>
              </a:rPr>
              <a:t>3</a:t>
            </a:r>
            <a:endParaRPr lang="en-US" sz="3000" dirty="0"/>
          </a:p>
        </p:txBody>
      </p:sp>
      <p:sp>
        <p:nvSpPr>
          <p:cNvPr id="19" name="Text 16"/>
          <p:cNvSpPr/>
          <p:nvPr/>
        </p:nvSpPr>
        <p:spPr>
          <a:xfrm>
            <a:off x="1417320" y="4718304"/>
            <a:ext cx="3657600" cy="384048"/>
          </a:xfrm>
          <a:prstGeom prst="rect">
            <a:avLst/>
          </a:prstGeom>
          <a:noFill/>
          <a:ln/>
        </p:spPr>
        <p:txBody>
          <a:bodyPr wrap="square" lIns="0" tIns="0" rIns="0" bIns="0" rtlCol="0" anchor="ctr"/>
          <a:lstStyle/>
          <a:p>
            <a:pPr indent="0" marL="0">
              <a:buNone/>
            </a:pPr>
            <a:r>
              <a:rPr lang="en-US" sz="1700" b="1" dirty="0">
                <a:solidFill>
                  <a:srgbClr val="1C1F2A"/>
                </a:solidFill>
                <a:latin typeface="Cambria" pitchFamily="34" charset="0"/>
                <a:ea typeface="Cambria" pitchFamily="34" charset="-122"/>
                <a:cs typeface="Cambria" pitchFamily="34" charset="-120"/>
              </a:rPr>
              <a:t>Model them explicitly</a:t>
            </a:r>
            <a:endParaRPr lang="en-US" sz="1700" dirty="0"/>
          </a:p>
        </p:txBody>
      </p:sp>
      <p:sp>
        <p:nvSpPr>
          <p:cNvPr id="20" name="Text 17"/>
          <p:cNvSpPr/>
          <p:nvPr/>
        </p:nvSpPr>
        <p:spPr>
          <a:xfrm>
            <a:off x="1417320" y="5138928"/>
            <a:ext cx="3657600" cy="329184"/>
          </a:xfrm>
          <a:prstGeom prst="rect">
            <a:avLst/>
          </a:prstGeom>
          <a:noFill/>
          <a:ln/>
        </p:spPr>
        <p:txBody>
          <a:bodyPr wrap="square" lIns="0" tIns="0" rIns="0" bIns="0" rtlCol="0" anchor="t"/>
          <a:lstStyle/>
          <a:p>
            <a:pPr indent="0" marL="0">
              <a:buNone/>
            </a:pPr>
            <a:r>
              <a:rPr lang="en-US" sz="1200" i="1" dirty="0">
                <a:solidFill>
                  <a:srgbClr val="C2410C"/>
                </a:solidFill>
                <a:latin typeface="Calibri" pitchFamily="34" charset="0"/>
                <a:ea typeface="Calibri" pitchFamily="34" charset="-122"/>
                <a:cs typeface="Calibri" pitchFamily="34" charset="-120"/>
              </a:rPr>
              <a:t>Adversarial game-tree search</a:t>
            </a:r>
            <a:endParaRPr lang="en-US" sz="1200" dirty="0"/>
          </a:p>
        </p:txBody>
      </p:sp>
      <p:sp>
        <p:nvSpPr>
          <p:cNvPr id="21" name="Text 18"/>
          <p:cNvSpPr/>
          <p:nvPr/>
        </p:nvSpPr>
        <p:spPr>
          <a:xfrm>
            <a:off x="5394960" y="4736592"/>
            <a:ext cx="5943600" cy="914400"/>
          </a:xfrm>
          <a:prstGeom prst="rect">
            <a:avLst/>
          </a:prstGeom>
          <a:noFill/>
          <a:ln/>
        </p:spPr>
        <p:txBody>
          <a:bodyPr wrap="square" lIns="0" tIns="0" rIns="0" bIns="0" rtlCol="0" anchor="ctr"/>
          <a:lstStyle/>
          <a:p>
            <a:pPr indent="0" marL="0">
              <a:buNone/>
            </a:pPr>
            <a:r>
              <a:rPr lang="en-US" sz="1300" dirty="0">
                <a:solidFill>
                  <a:srgbClr val="3A3F4C"/>
                </a:solidFill>
                <a:latin typeface="Calibri" pitchFamily="34" charset="0"/>
                <a:ea typeface="Calibri" pitchFamily="34" charset="-122"/>
                <a:cs typeface="Calibri" pitchFamily="34" charset="-120"/>
              </a:rPr>
              <a:t>Represent the opponent as a decision maker with goals opposed to yours, and search the tree of interleaved decisions. This is Chapter 5.</a:t>
            </a:r>
            <a:endParaRPr lang="en-US" sz="1300" dirty="0"/>
          </a:p>
        </p:txBody>
      </p:sp>
      <p:sp>
        <p:nvSpPr>
          <p:cNvPr id="22" name="Text 19"/>
          <p:cNvSpPr/>
          <p:nvPr/>
        </p:nvSpPr>
        <p:spPr>
          <a:xfrm>
            <a:off x="566928" y="5870448"/>
            <a:ext cx="11064240" cy="365760"/>
          </a:xfrm>
          <a:prstGeom prst="rect">
            <a:avLst/>
          </a:prstGeom>
          <a:noFill/>
          <a:ln/>
        </p:spPr>
        <p:txBody>
          <a:bodyPr wrap="square" lIns="0" tIns="0" rIns="0" bIns="0" rtlCol="0" anchor="ctr"/>
          <a:lstStyle/>
          <a:p>
            <a:pPr indent="0" marL="0">
              <a:buNone/>
            </a:pPr>
            <a:r>
              <a:rPr lang="en-US" sz="1250" i="1" dirty="0">
                <a:solidFill>
                  <a:srgbClr val="8A8F9C"/>
                </a:solidFill>
                <a:latin typeface="Calibri" pitchFamily="34" charset="0"/>
                <a:ea typeface="Calibri" pitchFamily="34" charset="-122"/>
                <a:cs typeface="Calibri" pitchFamily="34" charset="-120"/>
              </a:rPr>
              <a:t>We concentrate on games because the state is easy to represent and the legal actions are few and precisely defined. Croquet and ice hockey are harder for exactly the opposite reasons.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5.1.1  TWO-PLAYER ZERO-SUM GAMES</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The formal game definition</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6</a:t>
            </a:r>
            <a:endParaRPr lang="en-US" sz="900" dirty="0"/>
          </a:p>
        </p:txBody>
      </p:sp>
      <p:sp>
        <p:nvSpPr>
          <p:cNvPr id="7" name="Text 4"/>
          <p:cNvSpPr/>
          <p:nvPr/>
        </p:nvSpPr>
        <p:spPr>
          <a:xfrm>
            <a:off x="566928" y="1426464"/>
            <a:ext cx="11064240" cy="320040"/>
          </a:xfrm>
          <a:prstGeom prst="rect">
            <a:avLst/>
          </a:prstGeom>
          <a:noFill/>
          <a:ln/>
        </p:spPr>
        <p:txBody>
          <a:bodyPr wrap="square" lIns="0" tIns="0" rIns="0" bIns="0" rtlCol="0" anchor="ctr"/>
          <a:lstStyle/>
          <a:p>
            <a:pPr indent="0" marL="0">
              <a:buNone/>
            </a:pPr>
            <a:r>
              <a:rPr lang="en-US" sz="1350" b="1" dirty="0">
                <a:solidFill>
                  <a:srgbClr val="C2410C"/>
                </a:solidFill>
                <a:latin typeface="Calibri" pitchFamily="34" charset="0"/>
                <a:ea typeface="Calibri" pitchFamily="34" charset="-122"/>
                <a:cs typeface="Calibri" pitchFamily="34" charset="-120"/>
              </a:rPr>
              <a:t>Deterministic  ·  two-player  ·  turn-taking  ·  perfect information  ·  zero-sum</a:t>
            </a:r>
            <a:endParaRPr lang="en-US" sz="1350" dirty="0"/>
          </a:p>
        </p:txBody>
      </p:sp>
      <p:sp>
        <p:nvSpPr>
          <p:cNvPr id="8" name="Shape 5"/>
          <p:cNvSpPr/>
          <p:nvPr/>
        </p:nvSpPr>
        <p:spPr>
          <a:xfrm>
            <a:off x="566928" y="1874520"/>
            <a:ext cx="5303520" cy="1133856"/>
          </a:xfrm>
          <a:prstGeom prst="roundRect">
            <a:avLst>
              <a:gd name="adj" fmla="val 5645"/>
            </a:avLst>
          </a:prstGeom>
          <a:solidFill>
            <a:srgbClr val="F1F2F5"/>
          </a:solidFill>
          <a:ln w="12700">
            <a:solidFill>
              <a:srgbClr val="F1F2F5"/>
            </a:solidFill>
            <a:prstDash val="solid"/>
          </a:ln>
        </p:spPr>
      </p:sp>
      <p:sp>
        <p:nvSpPr>
          <p:cNvPr id="9" name="Text 6"/>
          <p:cNvSpPr/>
          <p:nvPr/>
        </p:nvSpPr>
        <p:spPr>
          <a:xfrm>
            <a:off x="822960" y="2020824"/>
            <a:ext cx="4754880" cy="329184"/>
          </a:xfrm>
          <a:prstGeom prst="rect">
            <a:avLst/>
          </a:prstGeom>
          <a:noFill/>
          <a:ln/>
        </p:spPr>
        <p:txBody>
          <a:bodyPr wrap="square" lIns="0" tIns="0" rIns="0" bIns="0" rtlCol="0" anchor="ctr"/>
          <a:lstStyle/>
          <a:p>
            <a:pPr indent="0" marL="0">
              <a:buNone/>
            </a:pPr>
            <a:r>
              <a:rPr lang="en-US" sz="1500" b="1" dirty="0">
                <a:solidFill>
                  <a:srgbClr val="1D4E63"/>
                </a:solidFill>
                <a:latin typeface="Courier New" pitchFamily="34" charset="0"/>
                <a:ea typeface="Courier New" pitchFamily="34" charset="-122"/>
                <a:cs typeface="Courier New" pitchFamily="34" charset="-120"/>
              </a:rPr>
              <a:t>S₀</a:t>
            </a:r>
            <a:endParaRPr lang="en-US" sz="1500" dirty="0"/>
          </a:p>
        </p:txBody>
      </p:sp>
      <p:sp>
        <p:nvSpPr>
          <p:cNvPr id="10" name="Text 7"/>
          <p:cNvSpPr/>
          <p:nvPr/>
        </p:nvSpPr>
        <p:spPr>
          <a:xfrm>
            <a:off x="822960" y="2368296"/>
            <a:ext cx="4800600" cy="566928"/>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The initial state, specifying how the game is set up at the start.</a:t>
            </a:r>
            <a:endParaRPr lang="en-US" sz="1250" dirty="0"/>
          </a:p>
        </p:txBody>
      </p:sp>
      <p:sp>
        <p:nvSpPr>
          <p:cNvPr id="11" name="Shape 8"/>
          <p:cNvSpPr/>
          <p:nvPr/>
        </p:nvSpPr>
        <p:spPr>
          <a:xfrm>
            <a:off x="6144768" y="1874520"/>
            <a:ext cx="5303520" cy="1133856"/>
          </a:xfrm>
          <a:prstGeom prst="roundRect">
            <a:avLst>
              <a:gd name="adj" fmla="val 5645"/>
            </a:avLst>
          </a:prstGeom>
          <a:solidFill>
            <a:srgbClr val="F1F2F5"/>
          </a:solidFill>
          <a:ln w="12700">
            <a:solidFill>
              <a:srgbClr val="F1F2F5"/>
            </a:solidFill>
            <a:prstDash val="solid"/>
          </a:ln>
        </p:spPr>
      </p:sp>
      <p:sp>
        <p:nvSpPr>
          <p:cNvPr id="12" name="Text 9"/>
          <p:cNvSpPr/>
          <p:nvPr/>
        </p:nvSpPr>
        <p:spPr>
          <a:xfrm>
            <a:off x="6400800" y="2020824"/>
            <a:ext cx="4754880" cy="329184"/>
          </a:xfrm>
          <a:prstGeom prst="rect">
            <a:avLst/>
          </a:prstGeom>
          <a:noFill/>
          <a:ln/>
        </p:spPr>
        <p:txBody>
          <a:bodyPr wrap="square" lIns="0" tIns="0" rIns="0" bIns="0" rtlCol="0" anchor="ctr"/>
          <a:lstStyle/>
          <a:p>
            <a:pPr indent="0" marL="0">
              <a:buNone/>
            </a:pPr>
            <a:r>
              <a:rPr lang="en-US" sz="1500" b="1" dirty="0">
                <a:solidFill>
                  <a:srgbClr val="1D4E63"/>
                </a:solidFill>
                <a:latin typeface="Courier New" pitchFamily="34" charset="0"/>
                <a:ea typeface="Courier New" pitchFamily="34" charset="-122"/>
                <a:cs typeface="Courier New" pitchFamily="34" charset="-120"/>
              </a:rPr>
              <a:t>TO-MOVE(s)</a:t>
            </a:r>
            <a:endParaRPr lang="en-US" sz="1500" dirty="0"/>
          </a:p>
        </p:txBody>
      </p:sp>
      <p:sp>
        <p:nvSpPr>
          <p:cNvPr id="13" name="Text 10"/>
          <p:cNvSpPr/>
          <p:nvPr/>
        </p:nvSpPr>
        <p:spPr>
          <a:xfrm>
            <a:off x="6400800" y="2368296"/>
            <a:ext cx="4800600" cy="566928"/>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The player whose turn it is to move in state s.</a:t>
            </a:r>
            <a:endParaRPr lang="en-US" sz="1250" dirty="0"/>
          </a:p>
        </p:txBody>
      </p:sp>
      <p:sp>
        <p:nvSpPr>
          <p:cNvPr id="14" name="Shape 11"/>
          <p:cNvSpPr/>
          <p:nvPr/>
        </p:nvSpPr>
        <p:spPr>
          <a:xfrm>
            <a:off x="566928" y="3200400"/>
            <a:ext cx="5303520" cy="1133856"/>
          </a:xfrm>
          <a:prstGeom prst="roundRect">
            <a:avLst>
              <a:gd name="adj" fmla="val 5645"/>
            </a:avLst>
          </a:prstGeom>
          <a:solidFill>
            <a:srgbClr val="F1F2F5"/>
          </a:solidFill>
          <a:ln w="12700">
            <a:solidFill>
              <a:srgbClr val="F1F2F5"/>
            </a:solidFill>
            <a:prstDash val="solid"/>
          </a:ln>
        </p:spPr>
      </p:sp>
      <p:sp>
        <p:nvSpPr>
          <p:cNvPr id="15" name="Text 12"/>
          <p:cNvSpPr/>
          <p:nvPr/>
        </p:nvSpPr>
        <p:spPr>
          <a:xfrm>
            <a:off x="822960" y="3346704"/>
            <a:ext cx="4754880" cy="329184"/>
          </a:xfrm>
          <a:prstGeom prst="rect">
            <a:avLst/>
          </a:prstGeom>
          <a:noFill/>
          <a:ln/>
        </p:spPr>
        <p:txBody>
          <a:bodyPr wrap="square" lIns="0" tIns="0" rIns="0" bIns="0" rtlCol="0" anchor="ctr"/>
          <a:lstStyle/>
          <a:p>
            <a:pPr indent="0" marL="0">
              <a:buNone/>
            </a:pPr>
            <a:r>
              <a:rPr lang="en-US" sz="1500" b="1" dirty="0">
                <a:solidFill>
                  <a:srgbClr val="1D4E63"/>
                </a:solidFill>
                <a:latin typeface="Courier New" pitchFamily="34" charset="0"/>
                <a:ea typeface="Courier New" pitchFamily="34" charset="-122"/>
                <a:cs typeface="Courier New" pitchFamily="34" charset="-120"/>
              </a:rPr>
              <a:t>ACTIONS(s)</a:t>
            </a:r>
            <a:endParaRPr lang="en-US" sz="1500" dirty="0"/>
          </a:p>
        </p:txBody>
      </p:sp>
      <p:sp>
        <p:nvSpPr>
          <p:cNvPr id="16" name="Text 13"/>
          <p:cNvSpPr/>
          <p:nvPr/>
        </p:nvSpPr>
        <p:spPr>
          <a:xfrm>
            <a:off x="822960" y="3694176"/>
            <a:ext cx="4800600" cy="566928"/>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The set of legal moves available in state s.</a:t>
            </a:r>
            <a:endParaRPr lang="en-US" sz="1250" dirty="0"/>
          </a:p>
        </p:txBody>
      </p:sp>
      <p:sp>
        <p:nvSpPr>
          <p:cNvPr id="17" name="Shape 14"/>
          <p:cNvSpPr/>
          <p:nvPr/>
        </p:nvSpPr>
        <p:spPr>
          <a:xfrm>
            <a:off x="6144768" y="3200400"/>
            <a:ext cx="5303520" cy="1133856"/>
          </a:xfrm>
          <a:prstGeom prst="roundRect">
            <a:avLst>
              <a:gd name="adj" fmla="val 5645"/>
            </a:avLst>
          </a:prstGeom>
          <a:solidFill>
            <a:srgbClr val="F1F2F5"/>
          </a:solidFill>
          <a:ln w="12700">
            <a:solidFill>
              <a:srgbClr val="F1F2F5"/>
            </a:solidFill>
            <a:prstDash val="solid"/>
          </a:ln>
        </p:spPr>
      </p:sp>
      <p:sp>
        <p:nvSpPr>
          <p:cNvPr id="18" name="Text 15"/>
          <p:cNvSpPr/>
          <p:nvPr/>
        </p:nvSpPr>
        <p:spPr>
          <a:xfrm>
            <a:off x="6400800" y="3346704"/>
            <a:ext cx="4754880" cy="329184"/>
          </a:xfrm>
          <a:prstGeom prst="rect">
            <a:avLst/>
          </a:prstGeom>
          <a:noFill/>
          <a:ln/>
        </p:spPr>
        <p:txBody>
          <a:bodyPr wrap="square" lIns="0" tIns="0" rIns="0" bIns="0" rtlCol="0" anchor="ctr"/>
          <a:lstStyle/>
          <a:p>
            <a:pPr indent="0" marL="0">
              <a:buNone/>
            </a:pPr>
            <a:r>
              <a:rPr lang="en-US" sz="1500" b="1" dirty="0">
                <a:solidFill>
                  <a:srgbClr val="1D4E63"/>
                </a:solidFill>
                <a:latin typeface="Courier New" pitchFamily="34" charset="0"/>
                <a:ea typeface="Courier New" pitchFamily="34" charset="-122"/>
                <a:cs typeface="Courier New" pitchFamily="34" charset="-120"/>
              </a:rPr>
              <a:t>RESULT(s, a)</a:t>
            </a:r>
            <a:endParaRPr lang="en-US" sz="1500" dirty="0"/>
          </a:p>
        </p:txBody>
      </p:sp>
      <p:sp>
        <p:nvSpPr>
          <p:cNvPr id="19" name="Text 16"/>
          <p:cNvSpPr/>
          <p:nvPr/>
        </p:nvSpPr>
        <p:spPr>
          <a:xfrm>
            <a:off x="6400800" y="3694176"/>
            <a:ext cx="4800600" cy="566928"/>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The transition model: the state reached by taking action a in state s.</a:t>
            </a:r>
            <a:endParaRPr lang="en-US" sz="1250" dirty="0"/>
          </a:p>
        </p:txBody>
      </p:sp>
      <p:sp>
        <p:nvSpPr>
          <p:cNvPr id="20" name="Shape 17"/>
          <p:cNvSpPr/>
          <p:nvPr/>
        </p:nvSpPr>
        <p:spPr>
          <a:xfrm>
            <a:off x="566928" y="4526280"/>
            <a:ext cx="5303520" cy="1133856"/>
          </a:xfrm>
          <a:prstGeom prst="roundRect">
            <a:avLst>
              <a:gd name="adj" fmla="val 5645"/>
            </a:avLst>
          </a:prstGeom>
          <a:solidFill>
            <a:srgbClr val="F1F2F5"/>
          </a:solidFill>
          <a:ln w="12700">
            <a:solidFill>
              <a:srgbClr val="F1F2F5"/>
            </a:solidFill>
            <a:prstDash val="solid"/>
          </a:ln>
        </p:spPr>
      </p:sp>
      <p:sp>
        <p:nvSpPr>
          <p:cNvPr id="21" name="Text 18"/>
          <p:cNvSpPr/>
          <p:nvPr/>
        </p:nvSpPr>
        <p:spPr>
          <a:xfrm>
            <a:off x="822960" y="4672584"/>
            <a:ext cx="4754880" cy="329184"/>
          </a:xfrm>
          <a:prstGeom prst="rect">
            <a:avLst/>
          </a:prstGeom>
          <a:noFill/>
          <a:ln/>
        </p:spPr>
        <p:txBody>
          <a:bodyPr wrap="square" lIns="0" tIns="0" rIns="0" bIns="0" rtlCol="0" anchor="ctr"/>
          <a:lstStyle/>
          <a:p>
            <a:pPr indent="0" marL="0">
              <a:buNone/>
            </a:pPr>
            <a:r>
              <a:rPr lang="en-US" sz="1500" b="1" dirty="0">
                <a:solidFill>
                  <a:srgbClr val="1D4E63"/>
                </a:solidFill>
                <a:latin typeface="Courier New" pitchFamily="34" charset="0"/>
                <a:ea typeface="Courier New" pitchFamily="34" charset="-122"/>
                <a:cs typeface="Courier New" pitchFamily="34" charset="-120"/>
              </a:rPr>
              <a:t>IS-TERMINAL(s)</a:t>
            </a:r>
            <a:endParaRPr lang="en-US" sz="1500" dirty="0"/>
          </a:p>
        </p:txBody>
      </p:sp>
      <p:sp>
        <p:nvSpPr>
          <p:cNvPr id="22" name="Text 19"/>
          <p:cNvSpPr/>
          <p:nvPr/>
        </p:nvSpPr>
        <p:spPr>
          <a:xfrm>
            <a:off x="822960" y="5020056"/>
            <a:ext cx="4800600" cy="566928"/>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The terminal test, true exactly when the game is over.</a:t>
            </a:r>
            <a:endParaRPr lang="en-US" sz="1250" dirty="0"/>
          </a:p>
        </p:txBody>
      </p:sp>
      <p:sp>
        <p:nvSpPr>
          <p:cNvPr id="23" name="Shape 20"/>
          <p:cNvSpPr/>
          <p:nvPr/>
        </p:nvSpPr>
        <p:spPr>
          <a:xfrm>
            <a:off x="6144768" y="4526280"/>
            <a:ext cx="5303520" cy="1133856"/>
          </a:xfrm>
          <a:prstGeom prst="roundRect">
            <a:avLst>
              <a:gd name="adj" fmla="val 5645"/>
            </a:avLst>
          </a:prstGeom>
          <a:solidFill>
            <a:srgbClr val="F1F2F5"/>
          </a:solidFill>
          <a:ln w="12700">
            <a:solidFill>
              <a:srgbClr val="F1F2F5"/>
            </a:solidFill>
            <a:prstDash val="solid"/>
          </a:ln>
        </p:spPr>
      </p:sp>
      <p:sp>
        <p:nvSpPr>
          <p:cNvPr id="24" name="Text 21"/>
          <p:cNvSpPr/>
          <p:nvPr/>
        </p:nvSpPr>
        <p:spPr>
          <a:xfrm>
            <a:off x="6400800" y="4672584"/>
            <a:ext cx="4754880" cy="329184"/>
          </a:xfrm>
          <a:prstGeom prst="rect">
            <a:avLst/>
          </a:prstGeom>
          <a:noFill/>
          <a:ln/>
        </p:spPr>
        <p:txBody>
          <a:bodyPr wrap="square" lIns="0" tIns="0" rIns="0" bIns="0" rtlCol="0" anchor="ctr"/>
          <a:lstStyle/>
          <a:p>
            <a:pPr indent="0" marL="0">
              <a:buNone/>
            </a:pPr>
            <a:r>
              <a:rPr lang="en-US" sz="1500" b="1" dirty="0">
                <a:solidFill>
                  <a:srgbClr val="1D4E63"/>
                </a:solidFill>
                <a:latin typeface="Courier New" pitchFamily="34" charset="0"/>
                <a:ea typeface="Courier New" pitchFamily="34" charset="-122"/>
                <a:cs typeface="Courier New" pitchFamily="34" charset="-120"/>
              </a:rPr>
              <a:t>UTILITY(s, p)</a:t>
            </a:r>
            <a:endParaRPr lang="en-US" sz="1500" dirty="0"/>
          </a:p>
        </p:txBody>
      </p:sp>
      <p:sp>
        <p:nvSpPr>
          <p:cNvPr id="25" name="Text 22"/>
          <p:cNvSpPr/>
          <p:nvPr/>
        </p:nvSpPr>
        <p:spPr>
          <a:xfrm>
            <a:off x="6400800" y="5020056"/>
            <a:ext cx="4800600" cy="566928"/>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The payoff to player p when the game ends in terminal state s. Chess uses 1, 0, and 1/2; backgammon payoffs run from 0 to 192.</a:t>
            </a:r>
            <a:endParaRPr lang="en-US" sz="1250" dirty="0"/>
          </a:p>
        </p:txBody>
      </p:sp>
      <p:sp>
        <p:nvSpPr>
          <p:cNvPr id="26" name="Text 23"/>
          <p:cNvSpPr/>
          <p:nvPr/>
        </p:nvSpPr>
        <p:spPr>
          <a:xfrm>
            <a:off x="566928" y="5897880"/>
            <a:ext cx="11064240" cy="365760"/>
          </a:xfrm>
          <a:prstGeom prst="rect">
            <a:avLst/>
          </a:prstGeom>
          <a:noFill/>
          <a:ln/>
        </p:spPr>
        <p:txBody>
          <a:bodyPr wrap="square" lIns="0" tIns="0" rIns="0" bIns="0" rtlCol="0" anchor="ctr"/>
          <a:lstStyle/>
          <a:p>
            <a:pPr indent="0" marL="0">
              <a:buNone/>
            </a:pPr>
            <a:r>
              <a:rPr lang="en-US" sz="1250" i="1" dirty="0">
                <a:solidFill>
                  <a:srgbClr val="8A8F9C"/>
                </a:solidFill>
                <a:latin typeface="Calibri" pitchFamily="34" charset="0"/>
                <a:ea typeface="Calibri" pitchFamily="34" charset="-122"/>
                <a:cs typeface="Calibri" pitchFamily="34" charset="-120"/>
              </a:rPr>
              <a:t>Together S₀, ACTIONS and RESULT define the state-space graph; a search tree superimposed on it that follows every move sequence to a terminal state is the complete game tree.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THE GAME TREE</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Small enough to draw, far too large to build</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7</a:t>
            </a:r>
            <a:endParaRPr lang="en-US" sz="900" dirty="0"/>
          </a:p>
        </p:txBody>
      </p:sp>
      <p:sp>
        <p:nvSpPr>
          <p:cNvPr id="7" name="Shape 4"/>
          <p:cNvSpPr/>
          <p:nvPr/>
        </p:nvSpPr>
        <p:spPr>
          <a:xfrm>
            <a:off x="566928" y="1600200"/>
            <a:ext cx="3520440" cy="1645920"/>
          </a:xfrm>
          <a:prstGeom prst="roundRect">
            <a:avLst>
              <a:gd name="adj" fmla="val 3889"/>
            </a:avLst>
          </a:prstGeom>
          <a:solidFill>
            <a:srgbClr val="F1F2F5"/>
          </a:solidFill>
          <a:ln w="12700">
            <a:solidFill>
              <a:srgbClr val="F1F2F5"/>
            </a:solidFill>
            <a:prstDash val="solid"/>
          </a:ln>
        </p:spPr>
      </p:sp>
      <p:sp>
        <p:nvSpPr>
          <p:cNvPr id="8" name="Text 5"/>
          <p:cNvSpPr/>
          <p:nvPr/>
        </p:nvSpPr>
        <p:spPr>
          <a:xfrm>
            <a:off x="704088" y="1783080"/>
            <a:ext cx="3246120" cy="731520"/>
          </a:xfrm>
          <a:prstGeom prst="rect">
            <a:avLst/>
          </a:prstGeom>
          <a:noFill/>
          <a:ln/>
        </p:spPr>
        <p:txBody>
          <a:bodyPr wrap="square" lIns="0" tIns="0" rIns="0" bIns="0" rtlCol="0" anchor="ctr"/>
          <a:lstStyle/>
          <a:p>
            <a:pPr algn="ctr" indent="0" marL="0">
              <a:buNone/>
            </a:pPr>
            <a:r>
              <a:rPr lang="en-US" sz="3400" b="1" dirty="0">
                <a:solidFill>
                  <a:srgbClr val="C2410C"/>
                </a:solidFill>
                <a:latin typeface="Cambria" pitchFamily="34" charset="0"/>
                <a:ea typeface="Cambria" pitchFamily="34" charset="-122"/>
                <a:cs typeface="Cambria" pitchFamily="34" charset="-120"/>
              </a:rPr>
              <a:t>362,880</a:t>
            </a:r>
            <a:endParaRPr lang="en-US" sz="3400" dirty="0"/>
          </a:p>
        </p:txBody>
      </p:sp>
      <p:sp>
        <p:nvSpPr>
          <p:cNvPr id="9" name="Text 6"/>
          <p:cNvSpPr/>
          <p:nvPr/>
        </p:nvSpPr>
        <p:spPr>
          <a:xfrm>
            <a:off x="749808" y="2560320"/>
            <a:ext cx="3154680" cy="566928"/>
          </a:xfrm>
          <a:prstGeom prst="rect">
            <a:avLst/>
          </a:prstGeom>
          <a:noFill/>
          <a:ln/>
        </p:spPr>
        <p:txBody>
          <a:bodyPr wrap="square" lIns="0" tIns="0" rIns="0" bIns="0" rtlCol="0" anchor="t"/>
          <a:lstStyle/>
          <a:p>
            <a:pPr algn="ctr" indent="0" marL="0">
              <a:buNone/>
            </a:pPr>
            <a:r>
              <a:rPr lang="en-US" sz="1200" dirty="0">
                <a:solidFill>
                  <a:srgbClr val="3A3F4C"/>
                </a:solidFill>
                <a:latin typeface="Calibri" pitchFamily="34" charset="0"/>
                <a:ea typeface="Calibri" pitchFamily="34" charset="-122"/>
                <a:cs typeface="Calibri" pitchFamily="34" charset="-120"/>
              </a:rPr>
              <a:t>Terminal nodes in the tic-tac-toe game tree, bounded by 9!</a:t>
            </a:r>
            <a:endParaRPr lang="en-US" sz="1200" dirty="0"/>
          </a:p>
        </p:txBody>
      </p:sp>
      <p:sp>
        <p:nvSpPr>
          <p:cNvPr id="10" name="Shape 7"/>
          <p:cNvSpPr/>
          <p:nvPr/>
        </p:nvSpPr>
        <p:spPr>
          <a:xfrm>
            <a:off x="4334256" y="1600200"/>
            <a:ext cx="3520440" cy="1645920"/>
          </a:xfrm>
          <a:prstGeom prst="roundRect">
            <a:avLst>
              <a:gd name="adj" fmla="val 3889"/>
            </a:avLst>
          </a:prstGeom>
          <a:solidFill>
            <a:srgbClr val="F1F2F5"/>
          </a:solidFill>
          <a:ln w="12700">
            <a:solidFill>
              <a:srgbClr val="F1F2F5"/>
            </a:solidFill>
            <a:prstDash val="solid"/>
          </a:ln>
        </p:spPr>
      </p:sp>
      <p:sp>
        <p:nvSpPr>
          <p:cNvPr id="11" name="Text 8"/>
          <p:cNvSpPr/>
          <p:nvPr/>
        </p:nvSpPr>
        <p:spPr>
          <a:xfrm>
            <a:off x="4471416" y="1783080"/>
            <a:ext cx="3246120" cy="731520"/>
          </a:xfrm>
          <a:prstGeom prst="rect">
            <a:avLst/>
          </a:prstGeom>
          <a:noFill/>
          <a:ln/>
        </p:spPr>
        <p:txBody>
          <a:bodyPr wrap="square" lIns="0" tIns="0" rIns="0" bIns="0" rtlCol="0" anchor="ctr"/>
          <a:lstStyle/>
          <a:p>
            <a:pPr algn="ctr" indent="0" marL="0">
              <a:buNone/>
            </a:pPr>
            <a:r>
              <a:rPr lang="en-US" sz="3400" b="1" dirty="0">
                <a:solidFill>
                  <a:srgbClr val="1D4E63"/>
                </a:solidFill>
                <a:latin typeface="Cambria" pitchFamily="34" charset="0"/>
                <a:ea typeface="Cambria" pitchFamily="34" charset="-122"/>
                <a:cs typeface="Cambria" pitchFamily="34" charset="-120"/>
              </a:rPr>
              <a:t>5,478</a:t>
            </a:r>
            <a:endParaRPr lang="en-US" sz="3400" dirty="0"/>
          </a:p>
        </p:txBody>
      </p:sp>
      <p:sp>
        <p:nvSpPr>
          <p:cNvPr id="12" name="Text 9"/>
          <p:cNvSpPr/>
          <p:nvPr/>
        </p:nvSpPr>
        <p:spPr>
          <a:xfrm>
            <a:off x="4517136" y="2560320"/>
            <a:ext cx="3154680" cy="566928"/>
          </a:xfrm>
          <a:prstGeom prst="rect">
            <a:avLst/>
          </a:prstGeom>
          <a:noFill/>
          <a:ln/>
        </p:spPr>
        <p:txBody>
          <a:bodyPr wrap="square" lIns="0" tIns="0" rIns="0" bIns="0" rtlCol="0" anchor="t"/>
          <a:lstStyle/>
          <a:p>
            <a:pPr algn="ctr" indent="0" marL="0">
              <a:buNone/>
            </a:pPr>
            <a:r>
              <a:rPr lang="en-US" sz="1200" dirty="0">
                <a:solidFill>
                  <a:srgbClr val="3A3F4C"/>
                </a:solidFill>
                <a:latin typeface="Calibri" pitchFamily="34" charset="0"/>
                <a:ea typeface="Calibri" pitchFamily="34" charset="-122"/>
                <a:cs typeface="Calibri" pitchFamily="34" charset="-120"/>
              </a:rPr>
              <a:t>Distinct reachable states, far fewer than move orderings suggest</a:t>
            </a:r>
            <a:endParaRPr lang="en-US" sz="1200" dirty="0"/>
          </a:p>
        </p:txBody>
      </p:sp>
      <p:sp>
        <p:nvSpPr>
          <p:cNvPr id="13" name="Shape 10"/>
          <p:cNvSpPr/>
          <p:nvPr/>
        </p:nvSpPr>
        <p:spPr>
          <a:xfrm>
            <a:off x="8101584" y="1600200"/>
            <a:ext cx="3529584" cy="1645920"/>
          </a:xfrm>
          <a:prstGeom prst="roundRect">
            <a:avLst>
              <a:gd name="adj" fmla="val 3889"/>
            </a:avLst>
          </a:prstGeom>
          <a:solidFill>
            <a:srgbClr val="F1F2F5"/>
          </a:solidFill>
          <a:ln w="12700">
            <a:solidFill>
              <a:srgbClr val="F1F2F5"/>
            </a:solidFill>
            <a:prstDash val="solid"/>
          </a:ln>
        </p:spPr>
      </p:sp>
      <p:sp>
        <p:nvSpPr>
          <p:cNvPr id="14" name="Text 11"/>
          <p:cNvSpPr/>
          <p:nvPr/>
        </p:nvSpPr>
        <p:spPr>
          <a:xfrm>
            <a:off x="8238744" y="1783080"/>
            <a:ext cx="3255264" cy="731520"/>
          </a:xfrm>
          <a:prstGeom prst="rect">
            <a:avLst/>
          </a:prstGeom>
          <a:noFill/>
          <a:ln/>
        </p:spPr>
        <p:txBody>
          <a:bodyPr wrap="square" lIns="0" tIns="0" rIns="0" bIns="0" rtlCol="0" anchor="ctr"/>
          <a:lstStyle/>
          <a:p>
            <a:pPr algn="ctr" indent="0" marL="0">
              <a:buNone/>
            </a:pPr>
            <a:r>
              <a:rPr lang="en-US" sz="3400" b="1" dirty="0">
                <a:solidFill>
                  <a:srgbClr val="6B4E8F"/>
                </a:solidFill>
                <a:latin typeface="Cambria" pitchFamily="34" charset="0"/>
                <a:ea typeface="Cambria" pitchFamily="34" charset="-122"/>
                <a:cs typeface="Cambria" pitchFamily="34" charset="-120"/>
              </a:rPr>
              <a:t>10⁴⁰</a:t>
            </a:r>
            <a:endParaRPr lang="en-US" sz="3400" dirty="0"/>
          </a:p>
        </p:txBody>
      </p:sp>
      <p:sp>
        <p:nvSpPr>
          <p:cNvPr id="15" name="Text 12"/>
          <p:cNvSpPr/>
          <p:nvPr/>
        </p:nvSpPr>
        <p:spPr>
          <a:xfrm>
            <a:off x="8284464" y="2560320"/>
            <a:ext cx="3163824" cy="566928"/>
          </a:xfrm>
          <a:prstGeom prst="rect">
            <a:avLst/>
          </a:prstGeom>
          <a:noFill/>
          <a:ln/>
        </p:spPr>
        <p:txBody>
          <a:bodyPr wrap="square" lIns="0" tIns="0" rIns="0" bIns="0" rtlCol="0" anchor="t"/>
          <a:lstStyle/>
          <a:p>
            <a:pPr algn="ctr" indent="0" marL="0">
              <a:buNone/>
            </a:pPr>
            <a:r>
              <a:rPr lang="en-US" sz="1200" dirty="0">
                <a:solidFill>
                  <a:srgbClr val="3A3F4C"/>
                </a:solidFill>
                <a:latin typeface="Calibri" pitchFamily="34" charset="0"/>
                <a:ea typeface="Calibri" pitchFamily="34" charset="-122"/>
                <a:cs typeface="Calibri" pitchFamily="34" charset="-120"/>
              </a:rPr>
              <a:t>Nodes in the chess game tree, more than atoms we could ever index</a:t>
            </a:r>
            <a:endParaRPr lang="en-US" sz="1200" dirty="0"/>
          </a:p>
        </p:txBody>
      </p:sp>
      <p:sp>
        <p:nvSpPr>
          <p:cNvPr id="16" name="Shape 13"/>
          <p:cNvSpPr/>
          <p:nvPr/>
        </p:nvSpPr>
        <p:spPr>
          <a:xfrm>
            <a:off x="566928" y="3611880"/>
            <a:ext cx="11064240" cy="2084832"/>
          </a:xfrm>
          <a:prstGeom prst="roundRect">
            <a:avLst>
              <a:gd name="adj" fmla="val 3070"/>
            </a:avLst>
          </a:prstGeom>
          <a:solidFill>
            <a:srgbClr val="F1F2F5"/>
          </a:solidFill>
          <a:ln w="12700">
            <a:solidFill>
              <a:srgbClr val="F1F2F5"/>
            </a:solidFill>
            <a:prstDash val="solid"/>
          </a:ln>
        </p:spPr>
      </p:sp>
      <p:sp>
        <p:nvSpPr>
          <p:cNvPr id="17" name="Text 14"/>
          <p:cNvSpPr/>
          <p:nvPr/>
        </p:nvSpPr>
        <p:spPr>
          <a:xfrm>
            <a:off x="868680" y="3803904"/>
            <a:ext cx="3657600" cy="329184"/>
          </a:xfrm>
          <a:prstGeom prst="rect">
            <a:avLst/>
          </a:prstGeom>
          <a:noFill/>
          <a:ln/>
        </p:spPr>
        <p:txBody>
          <a:bodyPr wrap="square" lIns="0" tIns="0" rIns="0" bIns="0" rtlCol="0" anchor="ctr"/>
          <a:lstStyle/>
          <a:p>
            <a:pPr indent="0" marL="0">
              <a:buNone/>
            </a:pPr>
            <a:r>
              <a:rPr lang="en-US" sz="1600" b="1" dirty="0">
                <a:solidFill>
                  <a:srgbClr val="1C1F2A"/>
                </a:solidFill>
                <a:latin typeface="Cambria" pitchFamily="34" charset="0"/>
                <a:ea typeface="Cambria" pitchFamily="34" charset="-122"/>
                <a:cs typeface="Cambria" pitchFamily="34" charset="-120"/>
              </a:rPr>
              <a:t>Reading the tree</a:t>
            </a:r>
            <a:endParaRPr lang="en-US" sz="1600" dirty="0"/>
          </a:p>
        </p:txBody>
      </p:sp>
      <p:sp>
        <p:nvSpPr>
          <p:cNvPr id="18" name="Text 15"/>
          <p:cNvSpPr/>
          <p:nvPr/>
        </p:nvSpPr>
        <p:spPr>
          <a:xfrm>
            <a:off x="868680" y="4206240"/>
            <a:ext cx="6675120" cy="42062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3A3F4C"/>
                </a:solidFill>
                <a:latin typeface="Calibri" pitchFamily="34" charset="0"/>
                <a:ea typeface="Calibri" pitchFamily="34" charset="-122"/>
                <a:cs typeface="Calibri" pitchFamily="34" charset="-120"/>
              </a:rPr>
              <a:t>The root is S₀. Play alternates, one ply per level, MAX then MIN then MAX.</a:t>
            </a:r>
            <a:endParaRPr lang="en-US" sz="1350" dirty="0"/>
          </a:p>
          <a:p>
            <a:pPr marL="342900" indent="-342900">
              <a:spcAft>
                <a:spcPts val="800"/>
              </a:spcAft>
              <a:buSzPct val="100000"/>
              <a:buChar char="•"/>
            </a:pPr>
            <a:r>
              <a:rPr lang="en-US" sz="1350" dirty="0">
                <a:solidFill>
                  <a:srgbClr val="3A3F4C"/>
                </a:solidFill>
                <a:latin typeface="Calibri" pitchFamily="34" charset="0"/>
                <a:ea typeface="Calibri" pitchFamily="34" charset="-122"/>
                <a:cs typeface="Calibri" pitchFamily="34" charset="-120"/>
              </a:rPr>
              <a:t>Leaves carry the utility of the terminal state from MAX’s point of view, which is why the players are named MAX and MIN.</a:t>
            </a:r>
            <a:endParaRPr lang="en-US" sz="1350" dirty="0"/>
          </a:p>
          <a:p>
            <a:pPr marL="342900" indent="-342900">
              <a:spcAft>
                <a:spcPts val="800"/>
              </a:spcAft>
              <a:buSzPct val="100000"/>
              <a:buChar char="•"/>
            </a:pPr>
            <a:r>
              <a:rPr lang="en-US" sz="1350" dirty="0">
                <a:solidFill>
                  <a:srgbClr val="3A3F4C"/>
                </a:solidFill>
                <a:latin typeface="Calibri" pitchFamily="34" charset="0"/>
                <a:ea typeface="Calibri" pitchFamily="34" charset="-122"/>
                <a:cs typeface="Calibri" pitchFamily="34" charset="-120"/>
              </a:rPr>
              <a:t>The tree can be infinite if the state space is unbounded, or if the rules permit infinitely repeating positions.</a:t>
            </a:r>
            <a:endParaRPr lang="en-US" sz="1350" dirty="0"/>
          </a:p>
        </p:txBody>
      </p:sp>
      <p:sp>
        <p:nvSpPr>
          <p:cNvPr id="19" name="Shape 16"/>
          <p:cNvSpPr/>
          <p:nvPr/>
        </p:nvSpPr>
        <p:spPr>
          <a:xfrm>
            <a:off x="9217152" y="3776472"/>
            <a:ext cx="402336" cy="402336"/>
          </a:xfrm>
          <a:prstGeom prst="triangle">
            <a:avLst/>
          </a:prstGeom>
          <a:solidFill>
            <a:srgbClr val="C2410C"/>
          </a:solidFill>
          <a:ln w="12700">
            <a:solidFill>
              <a:srgbClr val="C2410C"/>
            </a:solidFill>
            <a:prstDash val="solid"/>
          </a:ln>
        </p:spPr>
      </p:sp>
      <p:sp>
        <p:nvSpPr>
          <p:cNvPr id="20" name="Shape 17"/>
          <p:cNvSpPr/>
          <p:nvPr/>
        </p:nvSpPr>
        <p:spPr>
          <a:xfrm flipH="1">
            <a:off x="8595360" y="4123944"/>
            <a:ext cx="822960" cy="420624"/>
          </a:xfrm>
          <a:prstGeom prst="line">
            <a:avLst/>
          </a:prstGeom>
          <a:noFill/>
          <a:ln w="13970">
            <a:solidFill>
              <a:srgbClr val="9AA0AE"/>
            </a:solidFill>
            <a:prstDash val="solid"/>
          </a:ln>
        </p:spPr>
      </p:sp>
      <p:sp>
        <p:nvSpPr>
          <p:cNvPr id="21" name="Shape 18"/>
          <p:cNvSpPr/>
          <p:nvPr/>
        </p:nvSpPr>
        <p:spPr>
          <a:xfrm rot="10800000">
            <a:off x="8394192" y="4507992"/>
            <a:ext cx="402336" cy="402336"/>
          </a:xfrm>
          <a:prstGeom prst="triangle">
            <a:avLst/>
          </a:prstGeom>
          <a:solidFill>
            <a:srgbClr val="1D4E63"/>
          </a:solidFill>
          <a:ln w="12700">
            <a:solidFill>
              <a:srgbClr val="1D4E63"/>
            </a:solidFill>
            <a:prstDash val="solid"/>
          </a:ln>
        </p:spPr>
      </p:sp>
      <p:sp>
        <p:nvSpPr>
          <p:cNvPr id="22" name="Shape 19"/>
          <p:cNvSpPr/>
          <p:nvPr/>
        </p:nvSpPr>
        <p:spPr>
          <a:xfrm flipH="1">
            <a:off x="8375904" y="4873752"/>
            <a:ext cx="219456" cy="384048"/>
          </a:xfrm>
          <a:prstGeom prst="line">
            <a:avLst/>
          </a:prstGeom>
          <a:noFill/>
          <a:ln w="13970">
            <a:solidFill>
              <a:srgbClr val="9AA0AE"/>
            </a:solidFill>
            <a:prstDash val="solid"/>
          </a:ln>
        </p:spPr>
      </p:sp>
      <p:sp>
        <p:nvSpPr>
          <p:cNvPr id="23" name="Shape 20"/>
          <p:cNvSpPr/>
          <p:nvPr/>
        </p:nvSpPr>
        <p:spPr>
          <a:xfrm>
            <a:off x="8220456" y="5266944"/>
            <a:ext cx="310896" cy="310896"/>
          </a:xfrm>
          <a:prstGeom prst="rect">
            <a:avLst/>
          </a:prstGeom>
          <a:solidFill>
            <a:srgbClr val="E4E6EB"/>
          </a:solidFill>
          <a:ln w="12700">
            <a:solidFill>
              <a:srgbClr val="A6ACBA"/>
            </a:solidFill>
            <a:prstDash val="solid"/>
          </a:ln>
        </p:spPr>
      </p:sp>
      <p:sp>
        <p:nvSpPr>
          <p:cNvPr id="24" name="Shape 21"/>
          <p:cNvSpPr/>
          <p:nvPr/>
        </p:nvSpPr>
        <p:spPr>
          <a:xfrm>
            <a:off x="8595360" y="4873752"/>
            <a:ext cx="219456" cy="384048"/>
          </a:xfrm>
          <a:prstGeom prst="line">
            <a:avLst/>
          </a:prstGeom>
          <a:noFill/>
          <a:ln w="13970">
            <a:solidFill>
              <a:srgbClr val="9AA0AE"/>
            </a:solidFill>
            <a:prstDash val="solid"/>
          </a:ln>
        </p:spPr>
      </p:sp>
      <p:sp>
        <p:nvSpPr>
          <p:cNvPr id="25" name="Shape 22"/>
          <p:cNvSpPr/>
          <p:nvPr/>
        </p:nvSpPr>
        <p:spPr>
          <a:xfrm>
            <a:off x="8659368" y="5266944"/>
            <a:ext cx="310896" cy="310896"/>
          </a:xfrm>
          <a:prstGeom prst="rect">
            <a:avLst/>
          </a:prstGeom>
          <a:solidFill>
            <a:srgbClr val="E4E6EB"/>
          </a:solidFill>
          <a:ln w="12700">
            <a:solidFill>
              <a:srgbClr val="A6ACBA"/>
            </a:solidFill>
            <a:prstDash val="solid"/>
          </a:ln>
        </p:spPr>
      </p:sp>
      <p:sp>
        <p:nvSpPr>
          <p:cNvPr id="26" name="Shape 23"/>
          <p:cNvSpPr/>
          <p:nvPr/>
        </p:nvSpPr>
        <p:spPr>
          <a:xfrm>
            <a:off x="9418320" y="4123944"/>
            <a:ext cx="0" cy="420624"/>
          </a:xfrm>
          <a:prstGeom prst="line">
            <a:avLst/>
          </a:prstGeom>
          <a:noFill/>
          <a:ln w="13970">
            <a:solidFill>
              <a:srgbClr val="9AA0AE"/>
            </a:solidFill>
            <a:prstDash val="solid"/>
          </a:ln>
        </p:spPr>
      </p:sp>
      <p:sp>
        <p:nvSpPr>
          <p:cNvPr id="27" name="Shape 24"/>
          <p:cNvSpPr/>
          <p:nvPr/>
        </p:nvSpPr>
        <p:spPr>
          <a:xfrm rot="10800000">
            <a:off x="9217152" y="4507992"/>
            <a:ext cx="402336" cy="402336"/>
          </a:xfrm>
          <a:prstGeom prst="triangle">
            <a:avLst/>
          </a:prstGeom>
          <a:solidFill>
            <a:srgbClr val="1D4E63"/>
          </a:solidFill>
          <a:ln w="12700">
            <a:solidFill>
              <a:srgbClr val="1D4E63"/>
            </a:solidFill>
            <a:prstDash val="solid"/>
          </a:ln>
        </p:spPr>
      </p:sp>
      <p:sp>
        <p:nvSpPr>
          <p:cNvPr id="28" name="Shape 25"/>
          <p:cNvSpPr/>
          <p:nvPr/>
        </p:nvSpPr>
        <p:spPr>
          <a:xfrm flipH="1">
            <a:off x="9198864" y="4873752"/>
            <a:ext cx="219456" cy="384048"/>
          </a:xfrm>
          <a:prstGeom prst="line">
            <a:avLst/>
          </a:prstGeom>
          <a:noFill/>
          <a:ln w="13970">
            <a:solidFill>
              <a:srgbClr val="9AA0AE"/>
            </a:solidFill>
            <a:prstDash val="solid"/>
          </a:ln>
        </p:spPr>
      </p:sp>
      <p:sp>
        <p:nvSpPr>
          <p:cNvPr id="29" name="Shape 26"/>
          <p:cNvSpPr/>
          <p:nvPr/>
        </p:nvSpPr>
        <p:spPr>
          <a:xfrm>
            <a:off x="9043416" y="5266944"/>
            <a:ext cx="310896" cy="310896"/>
          </a:xfrm>
          <a:prstGeom prst="rect">
            <a:avLst/>
          </a:prstGeom>
          <a:solidFill>
            <a:srgbClr val="E4E6EB"/>
          </a:solidFill>
          <a:ln w="12700">
            <a:solidFill>
              <a:srgbClr val="A6ACBA"/>
            </a:solidFill>
            <a:prstDash val="solid"/>
          </a:ln>
        </p:spPr>
      </p:sp>
      <p:sp>
        <p:nvSpPr>
          <p:cNvPr id="30" name="Shape 27"/>
          <p:cNvSpPr/>
          <p:nvPr/>
        </p:nvSpPr>
        <p:spPr>
          <a:xfrm>
            <a:off x="9418320" y="4873752"/>
            <a:ext cx="219456" cy="384048"/>
          </a:xfrm>
          <a:prstGeom prst="line">
            <a:avLst/>
          </a:prstGeom>
          <a:noFill/>
          <a:ln w="13970">
            <a:solidFill>
              <a:srgbClr val="9AA0AE"/>
            </a:solidFill>
            <a:prstDash val="solid"/>
          </a:ln>
        </p:spPr>
      </p:sp>
      <p:sp>
        <p:nvSpPr>
          <p:cNvPr id="31" name="Shape 28"/>
          <p:cNvSpPr/>
          <p:nvPr/>
        </p:nvSpPr>
        <p:spPr>
          <a:xfrm>
            <a:off x="9482328" y="5266944"/>
            <a:ext cx="310896" cy="310896"/>
          </a:xfrm>
          <a:prstGeom prst="rect">
            <a:avLst/>
          </a:prstGeom>
          <a:solidFill>
            <a:srgbClr val="E4E6EB"/>
          </a:solidFill>
          <a:ln w="12700">
            <a:solidFill>
              <a:srgbClr val="A6ACBA"/>
            </a:solidFill>
            <a:prstDash val="solid"/>
          </a:ln>
        </p:spPr>
      </p:sp>
      <p:sp>
        <p:nvSpPr>
          <p:cNvPr id="32" name="Shape 29"/>
          <p:cNvSpPr/>
          <p:nvPr/>
        </p:nvSpPr>
        <p:spPr>
          <a:xfrm>
            <a:off x="9418320" y="4123944"/>
            <a:ext cx="822960" cy="420624"/>
          </a:xfrm>
          <a:prstGeom prst="line">
            <a:avLst/>
          </a:prstGeom>
          <a:noFill/>
          <a:ln w="13970">
            <a:solidFill>
              <a:srgbClr val="9AA0AE"/>
            </a:solidFill>
            <a:prstDash val="solid"/>
          </a:ln>
        </p:spPr>
      </p:sp>
      <p:sp>
        <p:nvSpPr>
          <p:cNvPr id="33" name="Shape 30"/>
          <p:cNvSpPr/>
          <p:nvPr/>
        </p:nvSpPr>
        <p:spPr>
          <a:xfrm rot="10800000">
            <a:off x="10040112" y="4507992"/>
            <a:ext cx="402336" cy="402336"/>
          </a:xfrm>
          <a:prstGeom prst="triangle">
            <a:avLst/>
          </a:prstGeom>
          <a:solidFill>
            <a:srgbClr val="1D4E63"/>
          </a:solidFill>
          <a:ln w="12700">
            <a:solidFill>
              <a:srgbClr val="1D4E63"/>
            </a:solidFill>
            <a:prstDash val="solid"/>
          </a:ln>
        </p:spPr>
      </p:sp>
      <p:sp>
        <p:nvSpPr>
          <p:cNvPr id="34" name="Shape 31"/>
          <p:cNvSpPr/>
          <p:nvPr/>
        </p:nvSpPr>
        <p:spPr>
          <a:xfrm flipH="1">
            <a:off x="10021824" y="4873752"/>
            <a:ext cx="219456" cy="384048"/>
          </a:xfrm>
          <a:prstGeom prst="line">
            <a:avLst/>
          </a:prstGeom>
          <a:noFill/>
          <a:ln w="13970">
            <a:solidFill>
              <a:srgbClr val="9AA0AE"/>
            </a:solidFill>
            <a:prstDash val="solid"/>
          </a:ln>
        </p:spPr>
      </p:sp>
      <p:sp>
        <p:nvSpPr>
          <p:cNvPr id="35" name="Shape 32"/>
          <p:cNvSpPr/>
          <p:nvPr/>
        </p:nvSpPr>
        <p:spPr>
          <a:xfrm>
            <a:off x="9866376" y="5266944"/>
            <a:ext cx="310896" cy="310896"/>
          </a:xfrm>
          <a:prstGeom prst="rect">
            <a:avLst/>
          </a:prstGeom>
          <a:solidFill>
            <a:srgbClr val="E4E6EB"/>
          </a:solidFill>
          <a:ln w="12700">
            <a:solidFill>
              <a:srgbClr val="A6ACBA"/>
            </a:solidFill>
            <a:prstDash val="solid"/>
          </a:ln>
        </p:spPr>
      </p:sp>
      <p:sp>
        <p:nvSpPr>
          <p:cNvPr id="36" name="Shape 33"/>
          <p:cNvSpPr/>
          <p:nvPr/>
        </p:nvSpPr>
        <p:spPr>
          <a:xfrm>
            <a:off x="10241280" y="4873752"/>
            <a:ext cx="219456" cy="384048"/>
          </a:xfrm>
          <a:prstGeom prst="line">
            <a:avLst/>
          </a:prstGeom>
          <a:noFill/>
          <a:ln w="13970">
            <a:solidFill>
              <a:srgbClr val="9AA0AE"/>
            </a:solidFill>
            <a:prstDash val="solid"/>
          </a:ln>
        </p:spPr>
      </p:sp>
      <p:sp>
        <p:nvSpPr>
          <p:cNvPr id="37" name="Shape 34"/>
          <p:cNvSpPr/>
          <p:nvPr/>
        </p:nvSpPr>
        <p:spPr>
          <a:xfrm>
            <a:off x="10305288" y="5266944"/>
            <a:ext cx="310896" cy="310896"/>
          </a:xfrm>
          <a:prstGeom prst="rect">
            <a:avLst/>
          </a:prstGeom>
          <a:solidFill>
            <a:srgbClr val="E4E6EB"/>
          </a:solidFill>
          <a:ln w="12700">
            <a:solidFill>
              <a:srgbClr val="A6ACBA"/>
            </a:solidFill>
            <a:prstDash val="solid"/>
          </a:ln>
        </p:spPr>
      </p:sp>
      <p:sp>
        <p:nvSpPr>
          <p:cNvPr id="38" name="Text 35"/>
          <p:cNvSpPr/>
          <p:nvPr/>
        </p:nvSpPr>
        <p:spPr>
          <a:xfrm>
            <a:off x="8001000" y="5468112"/>
            <a:ext cx="3383280" cy="274320"/>
          </a:xfrm>
          <a:prstGeom prst="rect">
            <a:avLst/>
          </a:prstGeom>
          <a:noFill/>
          <a:ln/>
        </p:spPr>
        <p:txBody>
          <a:bodyPr wrap="square" lIns="0" tIns="0" rIns="0" bIns="0" rtlCol="0" anchor="ctr"/>
          <a:lstStyle/>
          <a:p>
            <a:pPr algn="ctr" indent="0" marL="0">
              <a:buNone/>
            </a:pPr>
            <a:r>
              <a:rPr lang="en-US" sz="1100" i="1" dirty="0">
                <a:solidFill>
                  <a:srgbClr val="8A8F9C"/>
                </a:solidFill>
                <a:latin typeface="Calibri" pitchFamily="34" charset="0"/>
                <a:ea typeface="Calibri" pitchFamily="34" charset="-122"/>
                <a:cs typeface="Calibri" pitchFamily="34" charset="-120"/>
              </a:rPr>
              <a:t>One ply = one move by one player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5.2  OPTIMAL DECISIONS IN GAMES</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The minimax value of a state</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8</a:t>
            </a:r>
            <a:endParaRPr lang="en-US" sz="900" dirty="0"/>
          </a:p>
        </p:txBody>
      </p:sp>
      <p:sp>
        <p:nvSpPr>
          <p:cNvPr id="7" name="Text 4"/>
          <p:cNvSpPr/>
          <p:nvPr/>
        </p:nvSpPr>
        <p:spPr>
          <a:xfrm>
            <a:off x="566928" y="1426464"/>
            <a:ext cx="11064240" cy="365760"/>
          </a:xfrm>
          <a:prstGeom prst="rect">
            <a:avLst/>
          </a:prstGeom>
          <a:noFill/>
          <a:ln/>
        </p:spPr>
        <p:txBody>
          <a:bodyPr wrap="square" lIns="0" tIns="0" rIns="0" bIns="0" rtlCol="0" anchor="ctr"/>
          <a:lstStyle/>
          <a:p>
            <a:pPr indent="0" marL="0">
              <a:buNone/>
            </a:pPr>
            <a:r>
              <a:rPr lang="en-US" sz="1400" dirty="0">
                <a:solidFill>
                  <a:srgbClr val="3A3F4C"/>
                </a:solidFill>
                <a:latin typeface="Calibri" pitchFamily="34" charset="0"/>
                <a:ea typeface="Calibri" pitchFamily="34" charset="-122"/>
                <a:cs typeface="Calibri" pitchFamily="34" charset="-120"/>
              </a:rPr>
              <a:t>MINIMAX(s) is the utility to MAX of being in state s, assuming both players play optimally from s to the end of the game.</a:t>
            </a:r>
            <a:endParaRPr lang="en-US" sz="1400" dirty="0"/>
          </a:p>
        </p:txBody>
      </p:sp>
      <p:sp>
        <p:nvSpPr>
          <p:cNvPr id="8" name="Shape 5"/>
          <p:cNvSpPr/>
          <p:nvPr/>
        </p:nvSpPr>
        <p:spPr>
          <a:xfrm>
            <a:off x="566928" y="1938528"/>
            <a:ext cx="11064240" cy="2057400"/>
          </a:xfrm>
          <a:prstGeom prst="roundRect">
            <a:avLst>
              <a:gd name="adj" fmla="val 3111"/>
            </a:avLst>
          </a:prstGeom>
          <a:solidFill>
            <a:srgbClr val="1C1F2A"/>
          </a:solidFill>
          <a:ln w="12700">
            <a:solidFill>
              <a:srgbClr val="1C1F2A"/>
            </a:solidFill>
            <a:prstDash val="solid"/>
          </a:ln>
        </p:spPr>
      </p:sp>
      <p:sp>
        <p:nvSpPr>
          <p:cNvPr id="9" name="Text 6"/>
          <p:cNvSpPr/>
          <p:nvPr/>
        </p:nvSpPr>
        <p:spPr>
          <a:xfrm>
            <a:off x="914400" y="2212848"/>
            <a:ext cx="219456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MINIMAX(s)  =</a:t>
            </a:r>
            <a:endParaRPr lang="en-US" sz="1700" dirty="0"/>
          </a:p>
        </p:txBody>
      </p:sp>
      <p:sp>
        <p:nvSpPr>
          <p:cNvPr id="10" name="Text 7"/>
          <p:cNvSpPr/>
          <p:nvPr/>
        </p:nvSpPr>
        <p:spPr>
          <a:xfrm>
            <a:off x="3246120" y="2194560"/>
            <a:ext cx="5486400" cy="457200"/>
          </a:xfrm>
          <a:prstGeom prst="rect">
            <a:avLst/>
          </a:prstGeom>
          <a:noFill/>
          <a:ln/>
        </p:spPr>
        <p:txBody>
          <a:bodyPr wrap="square" lIns="0" tIns="0" rIns="0" bIns="0" rtlCol="0" anchor="ctr"/>
          <a:lstStyle/>
          <a:p>
            <a:pPr indent="0" marL="0">
              <a:buNone/>
            </a:pPr>
            <a:r>
              <a:rPr lang="en-US" sz="1450" dirty="0">
                <a:solidFill>
                  <a:srgbClr val="E6E9F0"/>
                </a:solidFill>
                <a:latin typeface="Calibri" pitchFamily="34" charset="0"/>
                <a:ea typeface="Calibri" pitchFamily="34" charset="-122"/>
                <a:cs typeface="Calibri" pitchFamily="34" charset="-120"/>
              </a:rPr>
              <a:t>UTILITY(s, MAX)</a:t>
            </a:r>
            <a:endParaRPr lang="en-US" sz="1450" dirty="0"/>
          </a:p>
        </p:txBody>
      </p:sp>
      <p:sp>
        <p:nvSpPr>
          <p:cNvPr id="11" name="Text 8"/>
          <p:cNvSpPr/>
          <p:nvPr/>
        </p:nvSpPr>
        <p:spPr>
          <a:xfrm>
            <a:off x="8869680" y="2194560"/>
            <a:ext cx="2560320" cy="457200"/>
          </a:xfrm>
          <a:prstGeom prst="rect">
            <a:avLst/>
          </a:prstGeom>
          <a:noFill/>
          <a:ln/>
        </p:spPr>
        <p:txBody>
          <a:bodyPr wrap="square" lIns="0" tIns="0" rIns="0" bIns="0" rtlCol="0" anchor="ctr"/>
          <a:lstStyle/>
          <a:p>
            <a:pPr indent="0" marL="0">
              <a:buNone/>
            </a:pPr>
            <a:r>
              <a:rPr lang="en-US" sz="1300" i="1" dirty="0">
                <a:solidFill>
                  <a:srgbClr val="9AA2B4"/>
                </a:solidFill>
                <a:latin typeface="Calibri" pitchFamily="34" charset="0"/>
                <a:ea typeface="Calibri" pitchFamily="34" charset="-122"/>
                <a:cs typeface="Calibri" pitchFamily="34" charset="-120"/>
              </a:rPr>
              <a:t>if IS-TERMINAL(s)</a:t>
            </a:r>
            <a:endParaRPr lang="en-US" sz="1300" dirty="0"/>
          </a:p>
        </p:txBody>
      </p:sp>
      <p:sp>
        <p:nvSpPr>
          <p:cNvPr id="12" name="Text 9"/>
          <p:cNvSpPr/>
          <p:nvPr/>
        </p:nvSpPr>
        <p:spPr>
          <a:xfrm>
            <a:off x="3246120" y="2761488"/>
            <a:ext cx="5486400" cy="457200"/>
          </a:xfrm>
          <a:prstGeom prst="rect">
            <a:avLst/>
          </a:prstGeom>
          <a:noFill/>
          <a:ln/>
        </p:spPr>
        <p:txBody>
          <a:bodyPr wrap="square" lIns="0" tIns="0" rIns="0" bIns="0" rtlCol="0" anchor="ctr"/>
          <a:lstStyle/>
          <a:p>
            <a:pPr indent="0" marL="0">
              <a:buNone/>
            </a:pPr>
            <a:r>
              <a:rPr lang="en-US" sz="1450" dirty="0">
                <a:solidFill>
                  <a:srgbClr val="E6E9F0"/>
                </a:solidFill>
                <a:latin typeface="Calibri" pitchFamily="34" charset="0"/>
                <a:ea typeface="Calibri" pitchFamily="34" charset="-122"/>
                <a:cs typeface="Calibri" pitchFamily="34" charset="-120"/>
              </a:rPr>
              <a:t>max over a in ACTIONS(s) of  MINIMAX(RESULT(s, a))</a:t>
            </a:r>
            <a:endParaRPr lang="en-US" sz="1450" dirty="0"/>
          </a:p>
        </p:txBody>
      </p:sp>
      <p:sp>
        <p:nvSpPr>
          <p:cNvPr id="13" name="Text 10"/>
          <p:cNvSpPr/>
          <p:nvPr/>
        </p:nvSpPr>
        <p:spPr>
          <a:xfrm>
            <a:off x="8869680" y="2761488"/>
            <a:ext cx="2560320" cy="457200"/>
          </a:xfrm>
          <a:prstGeom prst="rect">
            <a:avLst/>
          </a:prstGeom>
          <a:noFill/>
          <a:ln/>
        </p:spPr>
        <p:txBody>
          <a:bodyPr wrap="square" lIns="0" tIns="0" rIns="0" bIns="0" rtlCol="0" anchor="ctr"/>
          <a:lstStyle/>
          <a:p>
            <a:pPr indent="0" marL="0">
              <a:buNone/>
            </a:pPr>
            <a:r>
              <a:rPr lang="en-US" sz="1300" i="1" dirty="0">
                <a:solidFill>
                  <a:srgbClr val="F0A177"/>
                </a:solidFill>
                <a:latin typeface="Calibri" pitchFamily="34" charset="0"/>
                <a:ea typeface="Calibri" pitchFamily="34" charset="-122"/>
                <a:cs typeface="Calibri" pitchFamily="34" charset="-120"/>
              </a:rPr>
              <a:t>if TO-MOVE(s) = MAX</a:t>
            </a:r>
            <a:endParaRPr lang="en-US" sz="1300" dirty="0"/>
          </a:p>
        </p:txBody>
      </p:sp>
      <p:sp>
        <p:nvSpPr>
          <p:cNvPr id="14" name="Text 11"/>
          <p:cNvSpPr/>
          <p:nvPr/>
        </p:nvSpPr>
        <p:spPr>
          <a:xfrm>
            <a:off x="3246120" y="3328416"/>
            <a:ext cx="5486400" cy="457200"/>
          </a:xfrm>
          <a:prstGeom prst="rect">
            <a:avLst/>
          </a:prstGeom>
          <a:noFill/>
          <a:ln/>
        </p:spPr>
        <p:txBody>
          <a:bodyPr wrap="square" lIns="0" tIns="0" rIns="0" bIns="0" rtlCol="0" anchor="ctr"/>
          <a:lstStyle/>
          <a:p>
            <a:pPr indent="0" marL="0">
              <a:buNone/>
            </a:pPr>
            <a:r>
              <a:rPr lang="en-US" sz="1450" dirty="0">
                <a:solidFill>
                  <a:srgbClr val="E6E9F0"/>
                </a:solidFill>
                <a:latin typeface="Calibri" pitchFamily="34" charset="0"/>
                <a:ea typeface="Calibri" pitchFamily="34" charset="-122"/>
                <a:cs typeface="Calibri" pitchFamily="34" charset="-120"/>
              </a:rPr>
              <a:t>min over a in ACTIONS(s) of  MINIMAX(RESULT(s, a))</a:t>
            </a:r>
            <a:endParaRPr lang="en-US" sz="1450" dirty="0"/>
          </a:p>
        </p:txBody>
      </p:sp>
      <p:sp>
        <p:nvSpPr>
          <p:cNvPr id="15" name="Text 12"/>
          <p:cNvSpPr/>
          <p:nvPr/>
        </p:nvSpPr>
        <p:spPr>
          <a:xfrm>
            <a:off x="8869680" y="3328416"/>
            <a:ext cx="2560320" cy="457200"/>
          </a:xfrm>
          <a:prstGeom prst="rect">
            <a:avLst/>
          </a:prstGeom>
          <a:noFill/>
          <a:ln/>
        </p:spPr>
        <p:txBody>
          <a:bodyPr wrap="square" lIns="0" tIns="0" rIns="0" bIns="0" rtlCol="0" anchor="ctr"/>
          <a:lstStyle/>
          <a:p>
            <a:pPr indent="0" marL="0">
              <a:buNone/>
            </a:pPr>
            <a:r>
              <a:rPr lang="en-US" sz="1300" i="1" dirty="0">
                <a:solidFill>
                  <a:srgbClr val="7FB6CE"/>
                </a:solidFill>
                <a:latin typeface="Calibri" pitchFamily="34" charset="0"/>
                <a:ea typeface="Calibri" pitchFamily="34" charset="-122"/>
                <a:cs typeface="Calibri" pitchFamily="34" charset="-120"/>
              </a:rPr>
              <a:t>if TO-MOVE(s) = MIN</a:t>
            </a:r>
            <a:endParaRPr lang="en-US" sz="1300" dirty="0"/>
          </a:p>
        </p:txBody>
      </p:sp>
      <p:sp>
        <p:nvSpPr>
          <p:cNvPr id="16" name="Shape 13"/>
          <p:cNvSpPr/>
          <p:nvPr/>
        </p:nvSpPr>
        <p:spPr>
          <a:xfrm>
            <a:off x="566928" y="4224528"/>
            <a:ext cx="3493008" cy="1737360"/>
          </a:xfrm>
          <a:prstGeom prst="roundRect">
            <a:avLst>
              <a:gd name="adj" fmla="val 3684"/>
            </a:avLst>
          </a:prstGeom>
          <a:solidFill>
            <a:srgbClr val="F1F2F5"/>
          </a:solidFill>
          <a:ln w="12700">
            <a:solidFill>
              <a:srgbClr val="F1F2F5"/>
            </a:solidFill>
            <a:prstDash val="solid"/>
          </a:ln>
        </p:spPr>
      </p:sp>
      <p:sp>
        <p:nvSpPr>
          <p:cNvPr id="17" name="Text 14"/>
          <p:cNvSpPr/>
          <p:nvPr/>
        </p:nvSpPr>
        <p:spPr>
          <a:xfrm>
            <a:off x="804672" y="4389120"/>
            <a:ext cx="3017520" cy="566928"/>
          </a:xfrm>
          <a:prstGeom prst="rect">
            <a:avLst/>
          </a:prstGeom>
          <a:noFill/>
          <a:ln/>
        </p:spPr>
        <p:txBody>
          <a:bodyPr wrap="square" lIns="0" tIns="0" rIns="0" bIns="0" rtlCol="0" anchor="t"/>
          <a:lstStyle/>
          <a:p>
            <a:pPr indent="0" marL="0">
              <a:buNone/>
            </a:pPr>
            <a:r>
              <a:rPr lang="en-US" sz="1350" b="1" dirty="0">
                <a:solidFill>
                  <a:srgbClr val="C2410C"/>
                </a:solidFill>
                <a:latin typeface="Cambria" pitchFamily="34" charset="0"/>
                <a:ea typeface="Cambria" pitchFamily="34" charset="-122"/>
                <a:cs typeface="Cambria" pitchFamily="34" charset="-120"/>
              </a:rPr>
              <a:t>MAX needs a strategy, not a plan</a:t>
            </a:r>
            <a:endParaRPr lang="en-US" sz="1350" dirty="0"/>
          </a:p>
        </p:txBody>
      </p:sp>
      <p:sp>
        <p:nvSpPr>
          <p:cNvPr id="18" name="Text 15"/>
          <p:cNvSpPr/>
          <p:nvPr/>
        </p:nvSpPr>
        <p:spPr>
          <a:xfrm>
            <a:off x="804672" y="4983480"/>
            <a:ext cx="3035808" cy="868680"/>
          </a:xfrm>
          <a:prstGeom prst="rect">
            <a:avLst/>
          </a:prstGeom>
          <a:noFill/>
          <a:ln/>
        </p:spPr>
        <p:txBody>
          <a:bodyPr wrap="square" lIns="0" tIns="0" rIns="0" bIns="0" rtlCol="0" anchor="t"/>
          <a:lstStyle/>
          <a:p>
            <a:pPr indent="0" marL="0">
              <a:buNone/>
            </a:pPr>
            <a:r>
              <a:rPr lang="en-US" sz="1200" dirty="0">
                <a:solidFill>
                  <a:srgbClr val="3A3F4C"/>
                </a:solidFill>
                <a:latin typeface="Calibri" pitchFamily="34" charset="0"/>
                <a:ea typeface="Calibri" pitchFamily="34" charset="-122"/>
                <a:cs typeface="Calibri" pitchFamily="34" charset="-120"/>
              </a:rPr>
              <a:t>Because MIN gets a say, MAX must produce a contingent strategy: a response to every possible reply. For win-or-lose games this is exactly an AND-OR search solution.</a:t>
            </a:r>
            <a:endParaRPr lang="en-US" sz="1200" dirty="0"/>
          </a:p>
        </p:txBody>
      </p:sp>
      <p:sp>
        <p:nvSpPr>
          <p:cNvPr id="19" name="Shape 16"/>
          <p:cNvSpPr/>
          <p:nvPr/>
        </p:nvSpPr>
        <p:spPr>
          <a:xfrm>
            <a:off x="4297680" y="4224528"/>
            <a:ext cx="3493008" cy="1737360"/>
          </a:xfrm>
          <a:prstGeom prst="roundRect">
            <a:avLst>
              <a:gd name="adj" fmla="val 3684"/>
            </a:avLst>
          </a:prstGeom>
          <a:solidFill>
            <a:srgbClr val="F1F2F5"/>
          </a:solidFill>
          <a:ln w="12700">
            <a:solidFill>
              <a:srgbClr val="F1F2F5"/>
            </a:solidFill>
            <a:prstDash val="solid"/>
          </a:ln>
        </p:spPr>
      </p:sp>
      <p:sp>
        <p:nvSpPr>
          <p:cNvPr id="20" name="Text 17"/>
          <p:cNvSpPr/>
          <p:nvPr/>
        </p:nvSpPr>
        <p:spPr>
          <a:xfrm>
            <a:off x="4535424" y="4389120"/>
            <a:ext cx="3017520" cy="566928"/>
          </a:xfrm>
          <a:prstGeom prst="rect">
            <a:avLst/>
          </a:prstGeom>
          <a:noFill/>
          <a:ln/>
        </p:spPr>
        <p:txBody>
          <a:bodyPr wrap="square" lIns="0" tIns="0" rIns="0" bIns="0" rtlCol="0" anchor="t"/>
          <a:lstStyle/>
          <a:p>
            <a:pPr indent="0" marL="0">
              <a:buNone/>
            </a:pPr>
            <a:r>
              <a:rPr lang="en-US" sz="1350" b="1" dirty="0">
                <a:solidFill>
                  <a:srgbClr val="C2410C"/>
                </a:solidFill>
                <a:latin typeface="Cambria" pitchFamily="34" charset="0"/>
                <a:ea typeface="Cambria" pitchFamily="34" charset="-122"/>
                <a:cs typeface="Cambria" pitchFamily="34" charset="-120"/>
              </a:rPr>
              <a:t>Optimality is relative to the opponent model</a:t>
            </a:r>
            <a:endParaRPr lang="en-US" sz="1350" dirty="0"/>
          </a:p>
        </p:txBody>
      </p:sp>
      <p:sp>
        <p:nvSpPr>
          <p:cNvPr id="21" name="Text 18"/>
          <p:cNvSpPr/>
          <p:nvPr/>
        </p:nvSpPr>
        <p:spPr>
          <a:xfrm>
            <a:off x="4535424" y="4983480"/>
            <a:ext cx="3035808" cy="868680"/>
          </a:xfrm>
          <a:prstGeom prst="rect">
            <a:avLst/>
          </a:prstGeom>
          <a:noFill/>
          <a:ln/>
        </p:spPr>
        <p:txBody>
          <a:bodyPr wrap="square" lIns="0" tIns="0" rIns="0" bIns="0" rtlCol="0" anchor="t"/>
          <a:lstStyle/>
          <a:p>
            <a:pPr indent="0" marL="0">
              <a:buNone/>
            </a:pPr>
            <a:r>
              <a:rPr lang="en-US" sz="1200" dirty="0">
                <a:solidFill>
                  <a:srgbClr val="3A3F4C"/>
                </a:solidFill>
                <a:latin typeface="Calibri" pitchFamily="34" charset="0"/>
                <a:ea typeface="Calibri" pitchFamily="34" charset="-122"/>
                <a:cs typeface="Calibri" pitchFamily="34" charset="-120"/>
              </a:rPr>
              <a:t>The definition assumes MIN plays perfectly. If MIN is weak, minimax still does at least as well, but it may leave value on the table.</a:t>
            </a:r>
            <a:endParaRPr lang="en-US" sz="1200" dirty="0"/>
          </a:p>
        </p:txBody>
      </p:sp>
      <p:sp>
        <p:nvSpPr>
          <p:cNvPr id="22" name="Shape 19"/>
          <p:cNvSpPr/>
          <p:nvPr/>
        </p:nvSpPr>
        <p:spPr>
          <a:xfrm>
            <a:off x="8028432" y="4224528"/>
            <a:ext cx="3493008" cy="1737360"/>
          </a:xfrm>
          <a:prstGeom prst="roundRect">
            <a:avLst>
              <a:gd name="adj" fmla="val 3684"/>
            </a:avLst>
          </a:prstGeom>
          <a:solidFill>
            <a:srgbClr val="F1F2F5"/>
          </a:solidFill>
          <a:ln w="12700">
            <a:solidFill>
              <a:srgbClr val="F1F2F5"/>
            </a:solidFill>
            <a:prstDash val="solid"/>
          </a:ln>
        </p:spPr>
      </p:sp>
      <p:sp>
        <p:nvSpPr>
          <p:cNvPr id="23" name="Text 20"/>
          <p:cNvSpPr/>
          <p:nvPr/>
        </p:nvSpPr>
        <p:spPr>
          <a:xfrm>
            <a:off x="8266176" y="4389120"/>
            <a:ext cx="3017520" cy="566928"/>
          </a:xfrm>
          <a:prstGeom prst="rect">
            <a:avLst/>
          </a:prstGeom>
          <a:noFill/>
          <a:ln/>
        </p:spPr>
        <p:txBody>
          <a:bodyPr wrap="square" lIns="0" tIns="0" rIns="0" bIns="0" rtlCol="0" anchor="t"/>
          <a:lstStyle/>
          <a:p>
            <a:pPr indent="0" marL="0">
              <a:buNone/>
            </a:pPr>
            <a:r>
              <a:rPr lang="en-US" sz="1350" b="1" dirty="0">
                <a:solidFill>
                  <a:srgbClr val="C2410C"/>
                </a:solidFill>
                <a:latin typeface="Cambria" pitchFamily="34" charset="0"/>
                <a:ea typeface="Cambria" pitchFamily="34" charset="-122"/>
                <a:cs typeface="Cambria" pitchFamily="34" charset="-120"/>
              </a:rPr>
              <a:t>This is a definition, not yet an algorithm</a:t>
            </a:r>
            <a:endParaRPr lang="en-US" sz="1350" dirty="0"/>
          </a:p>
        </p:txBody>
      </p:sp>
      <p:sp>
        <p:nvSpPr>
          <p:cNvPr id="24" name="Text 21"/>
          <p:cNvSpPr/>
          <p:nvPr/>
        </p:nvSpPr>
        <p:spPr>
          <a:xfrm>
            <a:off x="8266176" y="4983480"/>
            <a:ext cx="3035808" cy="868680"/>
          </a:xfrm>
          <a:prstGeom prst="rect">
            <a:avLst/>
          </a:prstGeom>
          <a:noFill/>
          <a:ln/>
        </p:spPr>
        <p:txBody>
          <a:bodyPr wrap="square" lIns="0" tIns="0" rIns="0" bIns="0" rtlCol="0" anchor="t"/>
          <a:lstStyle/>
          <a:p>
            <a:pPr indent="0" marL="0">
              <a:buNone/>
            </a:pPr>
            <a:r>
              <a:rPr lang="en-US" sz="1200" dirty="0">
                <a:solidFill>
                  <a:srgbClr val="3A3F4C"/>
                </a:solidFill>
                <a:latin typeface="Calibri" pitchFamily="34" charset="0"/>
                <a:ea typeface="Calibri" pitchFamily="34" charset="-122"/>
                <a:cs typeface="Calibri" pitchFamily="34" charset="-120"/>
              </a:rPr>
              <a:t>It says what the value is. The next slide turns it into a depth-first recursion that backs values up as it unwinds.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WORKED EXAMPLE  ·  AIMA FIGURE 5.2</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Backing values up a two-ply tree</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flipH="1">
            <a:off x="2468880" y="2761488"/>
            <a:ext cx="3520440" cy="758952"/>
          </a:xfrm>
          <a:prstGeom prst="line">
            <a:avLst/>
          </a:prstGeom>
          <a:noFill/>
          <a:ln w="34925">
            <a:solidFill>
              <a:srgbClr val="C2410C"/>
            </a:solidFill>
            <a:prstDash val="solid"/>
          </a:ln>
        </p:spPr>
      </p:sp>
      <p:sp>
        <p:nvSpPr>
          <p:cNvPr id="8" name="Shape 5"/>
          <p:cNvSpPr/>
          <p:nvPr/>
        </p:nvSpPr>
        <p:spPr>
          <a:xfrm>
            <a:off x="5989320" y="2761488"/>
            <a:ext cx="0" cy="758952"/>
          </a:xfrm>
          <a:prstGeom prst="line">
            <a:avLst/>
          </a:prstGeom>
          <a:noFill/>
          <a:ln w="15875">
            <a:solidFill>
              <a:srgbClr val="9AA0AE"/>
            </a:solidFill>
            <a:prstDash val="solid"/>
          </a:ln>
        </p:spPr>
      </p:sp>
      <p:sp>
        <p:nvSpPr>
          <p:cNvPr id="9" name="Shape 6"/>
          <p:cNvSpPr/>
          <p:nvPr/>
        </p:nvSpPr>
        <p:spPr>
          <a:xfrm>
            <a:off x="5989320" y="2761488"/>
            <a:ext cx="3520440" cy="758952"/>
          </a:xfrm>
          <a:prstGeom prst="line">
            <a:avLst/>
          </a:prstGeom>
          <a:noFill/>
          <a:ln w="15875">
            <a:solidFill>
              <a:srgbClr val="9AA0AE"/>
            </a:solidFill>
            <a:prstDash val="solid"/>
          </a:ln>
        </p:spPr>
      </p:sp>
      <p:sp>
        <p:nvSpPr>
          <p:cNvPr id="10" name="Shape 7"/>
          <p:cNvSpPr/>
          <p:nvPr/>
        </p:nvSpPr>
        <p:spPr>
          <a:xfrm flipH="1">
            <a:off x="1325880" y="3858768"/>
            <a:ext cx="1143000" cy="786384"/>
          </a:xfrm>
          <a:prstGeom prst="line">
            <a:avLst/>
          </a:prstGeom>
          <a:noFill/>
          <a:ln w="15875">
            <a:solidFill>
              <a:srgbClr val="9AA0AE"/>
            </a:solidFill>
            <a:prstDash val="solid"/>
          </a:ln>
        </p:spPr>
      </p:sp>
      <p:sp>
        <p:nvSpPr>
          <p:cNvPr id="11" name="Shape 8"/>
          <p:cNvSpPr/>
          <p:nvPr/>
        </p:nvSpPr>
        <p:spPr>
          <a:xfrm>
            <a:off x="2468880" y="3858768"/>
            <a:ext cx="0" cy="786384"/>
          </a:xfrm>
          <a:prstGeom prst="line">
            <a:avLst/>
          </a:prstGeom>
          <a:noFill/>
          <a:ln w="15875">
            <a:solidFill>
              <a:srgbClr val="9AA0AE"/>
            </a:solidFill>
            <a:prstDash val="solid"/>
          </a:ln>
        </p:spPr>
      </p:sp>
      <p:sp>
        <p:nvSpPr>
          <p:cNvPr id="12" name="Shape 9"/>
          <p:cNvSpPr/>
          <p:nvPr/>
        </p:nvSpPr>
        <p:spPr>
          <a:xfrm>
            <a:off x="2468880" y="3858768"/>
            <a:ext cx="1143000" cy="786384"/>
          </a:xfrm>
          <a:prstGeom prst="line">
            <a:avLst/>
          </a:prstGeom>
          <a:noFill/>
          <a:ln w="15875">
            <a:solidFill>
              <a:srgbClr val="9AA0AE"/>
            </a:solidFill>
            <a:prstDash val="solid"/>
          </a:ln>
        </p:spPr>
      </p:sp>
      <p:sp>
        <p:nvSpPr>
          <p:cNvPr id="13" name="Shape 10"/>
          <p:cNvSpPr/>
          <p:nvPr/>
        </p:nvSpPr>
        <p:spPr>
          <a:xfrm flipH="1">
            <a:off x="4846320" y="3858768"/>
            <a:ext cx="1143000" cy="786384"/>
          </a:xfrm>
          <a:prstGeom prst="line">
            <a:avLst/>
          </a:prstGeom>
          <a:noFill/>
          <a:ln w="15875">
            <a:solidFill>
              <a:srgbClr val="9AA0AE"/>
            </a:solidFill>
            <a:prstDash val="solid"/>
          </a:ln>
        </p:spPr>
      </p:sp>
      <p:sp>
        <p:nvSpPr>
          <p:cNvPr id="14" name="Shape 11"/>
          <p:cNvSpPr/>
          <p:nvPr/>
        </p:nvSpPr>
        <p:spPr>
          <a:xfrm>
            <a:off x="5989320" y="3858768"/>
            <a:ext cx="0" cy="786384"/>
          </a:xfrm>
          <a:prstGeom prst="line">
            <a:avLst/>
          </a:prstGeom>
          <a:noFill/>
          <a:ln w="15875">
            <a:solidFill>
              <a:srgbClr val="9AA0AE"/>
            </a:solidFill>
            <a:prstDash val="solid"/>
          </a:ln>
        </p:spPr>
      </p:sp>
      <p:sp>
        <p:nvSpPr>
          <p:cNvPr id="15" name="Shape 12"/>
          <p:cNvSpPr/>
          <p:nvPr/>
        </p:nvSpPr>
        <p:spPr>
          <a:xfrm>
            <a:off x="5989320" y="3858768"/>
            <a:ext cx="1143000" cy="786384"/>
          </a:xfrm>
          <a:prstGeom prst="line">
            <a:avLst/>
          </a:prstGeom>
          <a:noFill/>
          <a:ln w="15875">
            <a:solidFill>
              <a:srgbClr val="9AA0AE"/>
            </a:solidFill>
            <a:prstDash val="solid"/>
          </a:ln>
        </p:spPr>
      </p:sp>
      <p:sp>
        <p:nvSpPr>
          <p:cNvPr id="16" name="Shape 13"/>
          <p:cNvSpPr/>
          <p:nvPr/>
        </p:nvSpPr>
        <p:spPr>
          <a:xfrm flipH="1">
            <a:off x="8366760" y="3858768"/>
            <a:ext cx="1143000" cy="786384"/>
          </a:xfrm>
          <a:prstGeom prst="line">
            <a:avLst/>
          </a:prstGeom>
          <a:noFill/>
          <a:ln w="15875">
            <a:solidFill>
              <a:srgbClr val="9AA0AE"/>
            </a:solidFill>
            <a:prstDash val="solid"/>
          </a:ln>
        </p:spPr>
      </p:sp>
      <p:sp>
        <p:nvSpPr>
          <p:cNvPr id="17" name="Shape 14"/>
          <p:cNvSpPr/>
          <p:nvPr/>
        </p:nvSpPr>
        <p:spPr>
          <a:xfrm>
            <a:off x="9509760" y="3858768"/>
            <a:ext cx="0" cy="786384"/>
          </a:xfrm>
          <a:prstGeom prst="line">
            <a:avLst/>
          </a:prstGeom>
          <a:noFill/>
          <a:ln w="15875">
            <a:solidFill>
              <a:srgbClr val="9AA0AE"/>
            </a:solidFill>
            <a:prstDash val="solid"/>
          </a:ln>
        </p:spPr>
      </p:sp>
      <p:sp>
        <p:nvSpPr>
          <p:cNvPr id="18" name="Shape 15"/>
          <p:cNvSpPr/>
          <p:nvPr/>
        </p:nvSpPr>
        <p:spPr>
          <a:xfrm>
            <a:off x="9509760" y="3858768"/>
            <a:ext cx="1143000" cy="786384"/>
          </a:xfrm>
          <a:prstGeom prst="line">
            <a:avLst/>
          </a:prstGeom>
          <a:noFill/>
          <a:ln w="15875">
            <a:solidFill>
              <a:srgbClr val="9AA0AE"/>
            </a:solidFill>
            <a:prstDash val="solid"/>
          </a:ln>
        </p:spPr>
      </p:sp>
      <p:sp>
        <p:nvSpPr>
          <p:cNvPr id="19" name="Shape 16"/>
          <p:cNvSpPr/>
          <p:nvPr/>
        </p:nvSpPr>
        <p:spPr>
          <a:xfrm>
            <a:off x="5751576" y="2368296"/>
            <a:ext cx="475488" cy="475488"/>
          </a:xfrm>
          <a:prstGeom prst="triangle">
            <a:avLst/>
          </a:prstGeom>
          <a:solidFill>
            <a:srgbClr val="C2410C"/>
          </a:solidFill>
          <a:ln w="12700">
            <a:solidFill>
              <a:srgbClr val="C2410C"/>
            </a:solidFill>
            <a:prstDash val="solid"/>
          </a:ln>
        </p:spPr>
      </p:sp>
      <p:sp>
        <p:nvSpPr>
          <p:cNvPr id="20" name="Text 17"/>
          <p:cNvSpPr/>
          <p:nvPr/>
        </p:nvSpPr>
        <p:spPr>
          <a:xfrm>
            <a:off x="5349240" y="2459736"/>
            <a:ext cx="12801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Shape 18"/>
          <p:cNvSpPr/>
          <p:nvPr/>
        </p:nvSpPr>
        <p:spPr>
          <a:xfrm rot="10800000">
            <a:off x="2231136" y="3465576"/>
            <a:ext cx="475488" cy="475488"/>
          </a:xfrm>
          <a:prstGeom prst="triangle">
            <a:avLst/>
          </a:prstGeom>
          <a:solidFill>
            <a:srgbClr val="1D4E63"/>
          </a:solidFill>
          <a:ln w="12700">
            <a:solidFill>
              <a:srgbClr val="1D4E63"/>
            </a:solidFill>
            <a:prstDash val="solid"/>
          </a:ln>
        </p:spPr>
      </p:sp>
      <p:sp>
        <p:nvSpPr>
          <p:cNvPr id="22" name="Text 19"/>
          <p:cNvSpPr/>
          <p:nvPr/>
        </p:nvSpPr>
        <p:spPr>
          <a:xfrm>
            <a:off x="1828800" y="3557016"/>
            <a:ext cx="12801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Shape 20"/>
          <p:cNvSpPr/>
          <p:nvPr/>
        </p:nvSpPr>
        <p:spPr>
          <a:xfrm rot="10800000">
            <a:off x="5751576" y="3465576"/>
            <a:ext cx="475488" cy="475488"/>
          </a:xfrm>
          <a:prstGeom prst="triangle">
            <a:avLst/>
          </a:prstGeom>
          <a:solidFill>
            <a:srgbClr val="1D4E63"/>
          </a:solidFill>
          <a:ln w="12700">
            <a:solidFill>
              <a:srgbClr val="1D4E63"/>
            </a:solidFill>
            <a:prstDash val="solid"/>
          </a:ln>
        </p:spPr>
      </p:sp>
      <p:sp>
        <p:nvSpPr>
          <p:cNvPr id="24" name="Text 21"/>
          <p:cNvSpPr/>
          <p:nvPr/>
        </p:nvSpPr>
        <p:spPr>
          <a:xfrm>
            <a:off x="5349240" y="3557016"/>
            <a:ext cx="12801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Shape 22"/>
          <p:cNvSpPr/>
          <p:nvPr/>
        </p:nvSpPr>
        <p:spPr>
          <a:xfrm rot="10800000">
            <a:off x="9272016" y="3465576"/>
            <a:ext cx="475488" cy="475488"/>
          </a:xfrm>
          <a:prstGeom prst="triangle">
            <a:avLst/>
          </a:prstGeom>
          <a:solidFill>
            <a:srgbClr val="1D4E63"/>
          </a:solidFill>
          <a:ln w="12700">
            <a:solidFill>
              <a:srgbClr val="1D4E63"/>
            </a:solidFill>
            <a:prstDash val="solid"/>
          </a:ln>
        </p:spPr>
      </p:sp>
      <p:sp>
        <p:nvSpPr>
          <p:cNvPr id="26" name="Text 23"/>
          <p:cNvSpPr/>
          <p:nvPr/>
        </p:nvSpPr>
        <p:spPr>
          <a:xfrm>
            <a:off x="8869680" y="3557016"/>
            <a:ext cx="12801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7" name="Shape 24"/>
          <p:cNvSpPr/>
          <p:nvPr/>
        </p:nvSpPr>
        <p:spPr>
          <a:xfrm>
            <a:off x="1133856" y="4654296"/>
            <a:ext cx="384048" cy="384048"/>
          </a:xfrm>
          <a:prstGeom prst="rect">
            <a:avLst/>
          </a:prstGeom>
          <a:solidFill>
            <a:srgbClr val="E4E6EB"/>
          </a:solidFill>
          <a:ln w="12700">
            <a:solidFill>
              <a:srgbClr val="A6ACBA"/>
            </a:solidFill>
            <a:prstDash val="solid"/>
          </a:ln>
        </p:spPr>
      </p:sp>
      <p:sp>
        <p:nvSpPr>
          <p:cNvPr id="28" name="Text 25"/>
          <p:cNvSpPr/>
          <p:nvPr/>
        </p:nvSpPr>
        <p:spPr>
          <a:xfrm>
            <a:off x="685800" y="4700016"/>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3</a:t>
            </a:r>
            <a:endParaRPr lang="en-US" sz="1200" dirty="0"/>
          </a:p>
        </p:txBody>
      </p:sp>
      <p:sp>
        <p:nvSpPr>
          <p:cNvPr id="29" name="Shape 26"/>
          <p:cNvSpPr/>
          <p:nvPr/>
        </p:nvSpPr>
        <p:spPr>
          <a:xfrm>
            <a:off x="2276856" y="4654296"/>
            <a:ext cx="384048" cy="384048"/>
          </a:xfrm>
          <a:prstGeom prst="rect">
            <a:avLst/>
          </a:prstGeom>
          <a:solidFill>
            <a:srgbClr val="E4E6EB"/>
          </a:solidFill>
          <a:ln w="12700">
            <a:solidFill>
              <a:srgbClr val="A6ACBA"/>
            </a:solidFill>
            <a:prstDash val="solid"/>
          </a:ln>
        </p:spPr>
      </p:sp>
      <p:sp>
        <p:nvSpPr>
          <p:cNvPr id="30" name="Text 27"/>
          <p:cNvSpPr/>
          <p:nvPr/>
        </p:nvSpPr>
        <p:spPr>
          <a:xfrm>
            <a:off x="1828800" y="4700016"/>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12</a:t>
            </a:r>
            <a:endParaRPr lang="en-US" sz="1200" dirty="0"/>
          </a:p>
        </p:txBody>
      </p:sp>
      <p:sp>
        <p:nvSpPr>
          <p:cNvPr id="31" name="Shape 28"/>
          <p:cNvSpPr/>
          <p:nvPr/>
        </p:nvSpPr>
        <p:spPr>
          <a:xfrm>
            <a:off x="3419856" y="4654296"/>
            <a:ext cx="384048" cy="384048"/>
          </a:xfrm>
          <a:prstGeom prst="rect">
            <a:avLst/>
          </a:prstGeom>
          <a:solidFill>
            <a:srgbClr val="E4E6EB"/>
          </a:solidFill>
          <a:ln w="12700">
            <a:solidFill>
              <a:srgbClr val="A6ACBA"/>
            </a:solidFill>
            <a:prstDash val="solid"/>
          </a:ln>
        </p:spPr>
      </p:sp>
      <p:sp>
        <p:nvSpPr>
          <p:cNvPr id="32" name="Text 29"/>
          <p:cNvSpPr/>
          <p:nvPr/>
        </p:nvSpPr>
        <p:spPr>
          <a:xfrm>
            <a:off x="2971800" y="4700016"/>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8</a:t>
            </a:r>
            <a:endParaRPr lang="en-US" sz="1200" dirty="0"/>
          </a:p>
        </p:txBody>
      </p:sp>
      <p:sp>
        <p:nvSpPr>
          <p:cNvPr id="33" name="Shape 30"/>
          <p:cNvSpPr/>
          <p:nvPr/>
        </p:nvSpPr>
        <p:spPr>
          <a:xfrm>
            <a:off x="4654296" y="4654296"/>
            <a:ext cx="384048" cy="384048"/>
          </a:xfrm>
          <a:prstGeom prst="rect">
            <a:avLst/>
          </a:prstGeom>
          <a:solidFill>
            <a:srgbClr val="E4E6EB"/>
          </a:solidFill>
          <a:ln w="12700">
            <a:solidFill>
              <a:srgbClr val="A6ACBA"/>
            </a:solidFill>
            <a:prstDash val="solid"/>
          </a:ln>
        </p:spPr>
      </p:sp>
      <p:sp>
        <p:nvSpPr>
          <p:cNvPr id="34" name="Text 31"/>
          <p:cNvSpPr/>
          <p:nvPr/>
        </p:nvSpPr>
        <p:spPr>
          <a:xfrm>
            <a:off x="4206240" y="4700016"/>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2</a:t>
            </a:r>
            <a:endParaRPr lang="en-US" sz="1200" dirty="0"/>
          </a:p>
        </p:txBody>
      </p:sp>
      <p:sp>
        <p:nvSpPr>
          <p:cNvPr id="35" name="Shape 32"/>
          <p:cNvSpPr/>
          <p:nvPr/>
        </p:nvSpPr>
        <p:spPr>
          <a:xfrm>
            <a:off x="5797296" y="4654296"/>
            <a:ext cx="384048" cy="384048"/>
          </a:xfrm>
          <a:prstGeom prst="rect">
            <a:avLst/>
          </a:prstGeom>
          <a:solidFill>
            <a:srgbClr val="E4E6EB"/>
          </a:solidFill>
          <a:ln w="12700">
            <a:solidFill>
              <a:srgbClr val="A6ACBA"/>
            </a:solidFill>
            <a:prstDash val="solid"/>
          </a:ln>
        </p:spPr>
      </p:sp>
      <p:sp>
        <p:nvSpPr>
          <p:cNvPr id="36" name="Text 33"/>
          <p:cNvSpPr/>
          <p:nvPr/>
        </p:nvSpPr>
        <p:spPr>
          <a:xfrm>
            <a:off x="5349240" y="4700016"/>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4</a:t>
            </a:r>
            <a:endParaRPr lang="en-US" sz="1200" dirty="0"/>
          </a:p>
        </p:txBody>
      </p:sp>
      <p:sp>
        <p:nvSpPr>
          <p:cNvPr id="37" name="Shape 34"/>
          <p:cNvSpPr/>
          <p:nvPr/>
        </p:nvSpPr>
        <p:spPr>
          <a:xfrm>
            <a:off x="6940296" y="4654296"/>
            <a:ext cx="384048" cy="384048"/>
          </a:xfrm>
          <a:prstGeom prst="rect">
            <a:avLst/>
          </a:prstGeom>
          <a:solidFill>
            <a:srgbClr val="E4E6EB"/>
          </a:solidFill>
          <a:ln w="12700">
            <a:solidFill>
              <a:srgbClr val="A6ACBA"/>
            </a:solidFill>
            <a:prstDash val="solid"/>
          </a:ln>
        </p:spPr>
      </p:sp>
      <p:sp>
        <p:nvSpPr>
          <p:cNvPr id="38" name="Text 35"/>
          <p:cNvSpPr/>
          <p:nvPr/>
        </p:nvSpPr>
        <p:spPr>
          <a:xfrm>
            <a:off x="6492240" y="4700016"/>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6</a:t>
            </a:r>
            <a:endParaRPr lang="en-US" sz="1200" dirty="0"/>
          </a:p>
        </p:txBody>
      </p:sp>
      <p:sp>
        <p:nvSpPr>
          <p:cNvPr id="39" name="Shape 36"/>
          <p:cNvSpPr/>
          <p:nvPr/>
        </p:nvSpPr>
        <p:spPr>
          <a:xfrm>
            <a:off x="8174736" y="4654296"/>
            <a:ext cx="384048" cy="384048"/>
          </a:xfrm>
          <a:prstGeom prst="rect">
            <a:avLst/>
          </a:prstGeom>
          <a:solidFill>
            <a:srgbClr val="E4E6EB"/>
          </a:solidFill>
          <a:ln w="12700">
            <a:solidFill>
              <a:srgbClr val="A6ACBA"/>
            </a:solidFill>
            <a:prstDash val="solid"/>
          </a:ln>
        </p:spPr>
      </p:sp>
      <p:sp>
        <p:nvSpPr>
          <p:cNvPr id="40" name="Text 37"/>
          <p:cNvSpPr/>
          <p:nvPr/>
        </p:nvSpPr>
        <p:spPr>
          <a:xfrm>
            <a:off x="7726680" y="4700016"/>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14</a:t>
            </a:r>
            <a:endParaRPr lang="en-US" sz="1200" dirty="0"/>
          </a:p>
        </p:txBody>
      </p:sp>
      <p:sp>
        <p:nvSpPr>
          <p:cNvPr id="41" name="Shape 38"/>
          <p:cNvSpPr/>
          <p:nvPr/>
        </p:nvSpPr>
        <p:spPr>
          <a:xfrm>
            <a:off x="9317736" y="4654296"/>
            <a:ext cx="384048" cy="384048"/>
          </a:xfrm>
          <a:prstGeom prst="rect">
            <a:avLst/>
          </a:prstGeom>
          <a:solidFill>
            <a:srgbClr val="E4E6EB"/>
          </a:solidFill>
          <a:ln w="12700">
            <a:solidFill>
              <a:srgbClr val="A6ACBA"/>
            </a:solidFill>
            <a:prstDash val="solid"/>
          </a:ln>
        </p:spPr>
      </p:sp>
      <p:sp>
        <p:nvSpPr>
          <p:cNvPr id="42" name="Text 39"/>
          <p:cNvSpPr/>
          <p:nvPr/>
        </p:nvSpPr>
        <p:spPr>
          <a:xfrm>
            <a:off x="8869680" y="4700016"/>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5</a:t>
            </a:r>
            <a:endParaRPr lang="en-US" sz="1200" dirty="0"/>
          </a:p>
        </p:txBody>
      </p:sp>
      <p:sp>
        <p:nvSpPr>
          <p:cNvPr id="43" name="Shape 40"/>
          <p:cNvSpPr/>
          <p:nvPr/>
        </p:nvSpPr>
        <p:spPr>
          <a:xfrm>
            <a:off x="10460736" y="4654296"/>
            <a:ext cx="384048" cy="384048"/>
          </a:xfrm>
          <a:prstGeom prst="rect">
            <a:avLst/>
          </a:prstGeom>
          <a:solidFill>
            <a:srgbClr val="E4E6EB"/>
          </a:solidFill>
          <a:ln w="12700">
            <a:solidFill>
              <a:srgbClr val="A6ACBA"/>
            </a:solidFill>
            <a:prstDash val="solid"/>
          </a:ln>
        </p:spPr>
      </p:sp>
      <p:sp>
        <p:nvSpPr>
          <p:cNvPr id="44" name="Text 41"/>
          <p:cNvSpPr/>
          <p:nvPr/>
        </p:nvSpPr>
        <p:spPr>
          <a:xfrm>
            <a:off x="10012680" y="4700016"/>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2</a:t>
            </a:r>
            <a:endParaRPr lang="en-US" sz="1200" dirty="0"/>
          </a:p>
        </p:txBody>
      </p:sp>
      <p:sp>
        <p:nvSpPr>
          <p:cNvPr id="45" name="Text 42"/>
          <p:cNvSpPr/>
          <p:nvPr/>
        </p:nvSpPr>
        <p:spPr>
          <a:xfrm>
            <a:off x="1691640" y="3529584"/>
            <a:ext cx="457200" cy="292608"/>
          </a:xfrm>
          <a:prstGeom prst="rect">
            <a:avLst/>
          </a:prstGeom>
          <a:noFill/>
          <a:ln/>
        </p:spPr>
        <p:txBody>
          <a:bodyPr wrap="square" lIns="0" tIns="0" rIns="0" bIns="0" rtlCol="0" anchor="ctr"/>
          <a:lstStyle/>
          <a:p>
            <a:pPr algn="r" indent="0" marL="0">
              <a:buNone/>
            </a:pPr>
            <a:r>
              <a:rPr lang="en-US" sz="1200" i="1" dirty="0">
                <a:solidFill>
                  <a:srgbClr val="8A8F9C"/>
                </a:solidFill>
                <a:latin typeface="Calibri" pitchFamily="34" charset="0"/>
                <a:ea typeface="Calibri" pitchFamily="34" charset="-122"/>
                <a:cs typeface="Calibri" pitchFamily="34" charset="-120"/>
              </a:rPr>
              <a:t>B</a:t>
            </a:r>
            <a:endParaRPr lang="en-US" sz="1200" dirty="0"/>
          </a:p>
        </p:txBody>
      </p:sp>
      <p:sp>
        <p:nvSpPr>
          <p:cNvPr id="46" name="Text 43"/>
          <p:cNvSpPr/>
          <p:nvPr/>
        </p:nvSpPr>
        <p:spPr>
          <a:xfrm>
            <a:off x="5212080" y="3529584"/>
            <a:ext cx="457200" cy="292608"/>
          </a:xfrm>
          <a:prstGeom prst="rect">
            <a:avLst/>
          </a:prstGeom>
          <a:noFill/>
          <a:ln/>
        </p:spPr>
        <p:txBody>
          <a:bodyPr wrap="square" lIns="0" tIns="0" rIns="0" bIns="0" rtlCol="0" anchor="ctr"/>
          <a:lstStyle/>
          <a:p>
            <a:pPr algn="r" indent="0" marL="0">
              <a:buNone/>
            </a:pPr>
            <a:r>
              <a:rPr lang="en-US" sz="1200" i="1" dirty="0">
                <a:solidFill>
                  <a:srgbClr val="8A8F9C"/>
                </a:solidFill>
                <a:latin typeface="Calibri" pitchFamily="34" charset="0"/>
                <a:ea typeface="Calibri" pitchFamily="34" charset="-122"/>
                <a:cs typeface="Calibri" pitchFamily="34" charset="-120"/>
              </a:rPr>
              <a:t>C</a:t>
            </a:r>
            <a:endParaRPr lang="en-US" sz="1200" dirty="0"/>
          </a:p>
        </p:txBody>
      </p:sp>
      <p:sp>
        <p:nvSpPr>
          <p:cNvPr id="47" name="Text 44"/>
          <p:cNvSpPr/>
          <p:nvPr/>
        </p:nvSpPr>
        <p:spPr>
          <a:xfrm>
            <a:off x="8732520" y="3529584"/>
            <a:ext cx="457200" cy="292608"/>
          </a:xfrm>
          <a:prstGeom prst="rect">
            <a:avLst/>
          </a:prstGeom>
          <a:noFill/>
          <a:ln/>
        </p:spPr>
        <p:txBody>
          <a:bodyPr wrap="square" lIns="0" tIns="0" rIns="0" bIns="0" rtlCol="0" anchor="ctr"/>
          <a:lstStyle/>
          <a:p>
            <a:pPr algn="r" indent="0" marL="0">
              <a:buNone/>
            </a:pPr>
            <a:r>
              <a:rPr lang="en-US" sz="1200" i="1" dirty="0">
                <a:solidFill>
                  <a:srgbClr val="8A8F9C"/>
                </a:solidFill>
                <a:latin typeface="Calibri" pitchFamily="34" charset="0"/>
                <a:ea typeface="Calibri" pitchFamily="34" charset="-122"/>
                <a:cs typeface="Calibri" pitchFamily="34" charset="-120"/>
              </a:rPr>
              <a:t>D</a:t>
            </a:r>
            <a:endParaRPr lang="en-US" sz="1200" dirty="0"/>
          </a:p>
        </p:txBody>
      </p:sp>
      <p:sp>
        <p:nvSpPr>
          <p:cNvPr id="48" name="Text 45"/>
          <p:cNvSpPr/>
          <p:nvPr/>
        </p:nvSpPr>
        <p:spPr>
          <a:xfrm>
            <a:off x="3246120" y="2880360"/>
            <a:ext cx="548640" cy="274320"/>
          </a:xfrm>
          <a:prstGeom prst="rect">
            <a:avLst/>
          </a:prstGeom>
          <a:noFill/>
          <a:ln/>
        </p:spPr>
        <p:txBody>
          <a:bodyPr wrap="square" lIns="0" tIns="0" rIns="0" bIns="0" rtlCol="0" anchor="ctr"/>
          <a:lstStyle/>
          <a:p>
            <a:pPr indent="0" marL="0">
              <a:buNone/>
            </a:pPr>
            <a:r>
              <a:rPr lang="en-US" sz="1300" b="1" i="1" dirty="0">
                <a:solidFill>
                  <a:srgbClr val="C2410C"/>
                </a:solidFill>
                <a:latin typeface="Calibri" pitchFamily="34" charset="0"/>
                <a:ea typeface="Calibri" pitchFamily="34" charset="-122"/>
                <a:cs typeface="Calibri" pitchFamily="34" charset="-120"/>
              </a:rPr>
              <a:t>a₁</a:t>
            </a:r>
            <a:endParaRPr lang="en-US" sz="1300" dirty="0"/>
          </a:p>
        </p:txBody>
      </p:sp>
      <p:sp>
        <p:nvSpPr>
          <p:cNvPr id="49" name="Text 46"/>
          <p:cNvSpPr/>
          <p:nvPr/>
        </p:nvSpPr>
        <p:spPr>
          <a:xfrm>
            <a:off x="6144768" y="3063240"/>
            <a:ext cx="548640" cy="274320"/>
          </a:xfrm>
          <a:prstGeom prst="rect">
            <a:avLst/>
          </a:prstGeom>
          <a:noFill/>
          <a:ln/>
        </p:spPr>
        <p:txBody>
          <a:bodyPr wrap="square" lIns="0" tIns="0" rIns="0" bIns="0" rtlCol="0" anchor="ctr"/>
          <a:lstStyle/>
          <a:p>
            <a:pPr indent="0" marL="0">
              <a:buNone/>
            </a:pPr>
            <a:r>
              <a:rPr lang="en-US" sz="1300" i="1" dirty="0">
                <a:solidFill>
                  <a:srgbClr val="8A8F9C"/>
                </a:solidFill>
                <a:latin typeface="Calibri" pitchFamily="34" charset="0"/>
                <a:ea typeface="Calibri" pitchFamily="34" charset="-122"/>
                <a:cs typeface="Calibri" pitchFamily="34" charset="-120"/>
              </a:rPr>
              <a:t>a₂</a:t>
            </a:r>
            <a:endParaRPr lang="en-US" sz="1300" dirty="0"/>
          </a:p>
        </p:txBody>
      </p:sp>
      <p:sp>
        <p:nvSpPr>
          <p:cNvPr id="50" name="Text 47"/>
          <p:cNvSpPr/>
          <p:nvPr/>
        </p:nvSpPr>
        <p:spPr>
          <a:xfrm>
            <a:off x="8092440" y="2880360"/>
            <a:ext cx="548640" cy="274320"/>
          </a:xfrm>
          <a:prstGeom prst="rect">
            <a:avLst/>
          </a:prstGeom>
          <a:noFill/>
          <a:ln/>
        </p:spPr>
        <p:txBody>
          <a:bodyPr wrap="square" lIns="0" tIns="0" rIns="0" bIns="0" rtlCol="0" anchor="ctr"/>
          <a:lstStyle/>
          <a:p>
            <a:pPr indent="0" marL="0">
              <a:buNone/>
            </a:pPr>
            <a:r>
              <a:rPr lang="en-US" sz="1300" i="1" dirty="0">
                <a:solidFill>
                  <a:srgbClr val="8A8F9C"/>
                </a:solidFill>
                <a:latin typeface="Calibri" pitchFamily="34" charset="0"/>
                <a:ea typeface="Calibri" pitchFamily="34" charset="-122"/>
                <a:cs typeface="Calibri" pitchFamily="34" charset="-120"/>
              </a:rPr>
              <a:t>a₃</a:t>
            </a:r>
            <a:endParaRPr lang="en-US" sz="1300" dirty="0"/>
          </a:p>
        </p:txBody>
      </p:sp>
      <p:sp>
        <p:nvSpPr>
          <p:cNvPr id="51" name="Shape 48"/>
          <p:cNvSpPr/>
          <p:nvPr/>
        </p:nvSpPr>
        <p:spPr>
          <a:xfrm>
            <a:off x="713232" y="5605272"/>
            <a:ext cx="219456" cy="219456"/>
          </a:xfrm>
          <a:prstGeom prst="triangle">
            <a:avLst/>
          </a:prstGeom>
          <a:solidFill>
            <a:srgbClr val="C2410C"/>
          </a:solidFill>
          <a:ln w="12700">
            <a:solidFill>
              <a:srgbClr val="C2410C"/>
            </a:solidFill>
            <a:prstDash val="solid"/>
          </a:ln>
        </p:spPr>
      </p:sp>
      <p:sp>
        <p:nvSpPr>
          <p:cNvPr id="52" name="Text 49"/>
          <p:cNvSpPr/>
          <p:nvPr/>
        </p:nvSpPr>
        <p:spPr>
          <a:xfrm>
            <a:off x="1005840" y="5568696"/>
            <a:ext cx="1463040" cy="292608"/>
          </a:xfrm>
          <a:prstGeom prst="rect">
            <a:avLst/>
          </a:prstGeom>
          <a:noFill/>
          <a:ln/>
        </p:spPr>
        <p:txBody>
          <a:bodyPr wrap="square" lIns="0" tIns="0" rIns="0" bIns="0" rtlCol="0" anchor="ctr"/>
          <a:lstStyle/>
          <a:p>
            <a:pPr indent="0" marL="0">
              <a:buNone/>
            </a:pPr>
            <a:r>
              <a:rPr lang="en-US" sz="1100" dirty="0">
                <a:solidFill>
                  <a:srgbClr val="3A3F4C"/>
                </a:solidFill>
                <a:latin typeface="Calibri" pitchFamily="34" charset="0"/>
                <a:ea typeface="Calibri" pitchFamily="34" charset="-122"/>
                <a:cs typeface="Calibri" pitchFamily="34" charset="-120"/>
              </a:rPr>
              <a:t>MAX node</a:t>
            </a:r>
            <a:endParaRPr lang="en-US" sz="1100" dirty="0"/>
          </a:p>
        </p:txBody>
      </p:sp>
      <p:sp>
        <p:nvSpPr>
          <p:cNvPr id="53" name="Shape 50"/>
          <p:cNvSpPr/>
          <p:nvPr/>
        </p:nvSpPr>
        <p:spPr>
          <a:xfrm rot="10800000">
            <a:off x="2450592" y="5605272"/>
            <a:ext cx="219456" cy="219456"/>
          </a:xfrm>
          <a:prstGeom prst="triangle">
            <a:avLst/>
          </a:prstGeom>
          <a:solidFill>
            <a:srgbClr val="1D4E63"/>
          </a:solidFill>
          <a:ln w="12700">
            <a:solidFill>
              <a:srgbClr val="1D4E63"/>
            </a:solidFill>
            <a:prstDash val="solid"/>
          </a:ln>
        </p:spPr>
      </p:sp>
      <p:sp>
        <p:nvSpPr>
          <p:cNvPr id="54" name="Text 51"/>
          <p:cNvSpPr/>
          <p:nvPr/>
        </p:nvSpPr>
        <p:spPr>
          <a:xfrm>
            <a:off x="2743200" y="5568696"/>
            <a:ext cx="1463040" cy="292608"/>
          </a:xfrm>
          <a:prstGeom prst="rect">
            <a:avLst/>
          </a:prstGeom>
          <a:noFill/>
          <a:ln/>
        </p:spPr>
        <p:txBody>
          <a:bodyPr wrap="square" lIns="0" tIns="0" rIns="0" bIns="0" rtlCol="0" anchor="ctr"/>
          <a:lstStyle/>
          <a:p>
            <a:pPr indent="0" marL="0">
              <a:buNone/>
            </a:pPr>
            <a:r>
              <a:rPr lang="en-US" sz="1100" dirty="0">
                <a:solidFill>
                  <a:srgbClr val="3A3F4C"/>
                </a:solidFill>
                <a:latin typeface="Calibri" pitchFamily="34" charset="0"/>
                <a:ea typeface="Calibri" pitchFamily="34" charset="-122"/>
                <a:cs typeface="Calibri" pitchFamily="34" charset="-120"/>
              </a:rPr>
              <a:t>MIN node</a:t>
            </a:r>
            <a:endParaRPr lang="en-US" sz="1100" dirty="0"/>
          </a:p>
        </p:txBody>
      </p:sp>
      <p:sp>
        <p:nvSpPr>
          <p:cNvPr id="55" name="Shape 52"/>
          <p:cNvSpPr/>
          <p:nvPr/>
        </p:nvSpPr>
        <p:spPr>
          <a:xfrm>
            <a:off x="4187952" y="5605272"/>
            <a:ext cx="219456" cy="219456"/>
          </a:xfrm>
          <a:prstGeom prst="rect">
            <a:avLst/>
          </a:prstGeom>
          <a:solidFill>
            <a:srgbClr val="E4E6EB"/>
          </a:solidFill>
          <a:ln w="12700">
            <a:solidFill>
              <a:srgbClr val="A6ACBA"/>
            </a:solidFill>
            <a:prstDash val="solid"/>
          </a:ln>
        </p:spPr>
      </p:sp>
      <p:sp>
        <p:nvSpPr>
          <p:cNvPr id="56" name="Text 53"/>
          <p:cNvSpPr/>
          <p:nvPr/>
        </p:nvSpPr>
        <p:spPr>
          <a:xfrm>
            <a:off x="4480560" y="5568696"/>
            <a:ext cx="1463040" cy="292608"/>
          </a:xfrm>
          <a:prstGeom prst="rect">
            <a:avLst/>
          </a:prstGeom>
          <a:noFill/>
          <a:ln/>
        </p:spPr>
        <p:txBody>
          <a:bodyPr wrap="square" lIns="0" tIns="0" rIns="0" bIns="0" rtlCol="0" anchor="ctr"/>
          <a:lstStyle/>
          <a:p>
            <a:pPr indent="0" marL="0">
              <a:buNone/>
            </a:pPr>
            <a:r>
              <a:rPr lang="en-US" sz="1100" dirty="0">
                <a:solidFill>
                  <a:srgbClr val="3A3F4C"/>
                </a:solidFill>
                <a:latin typeface="Calibri" pitchFamily="34" charset="0"/>
                <a:ea typeface="Calibri" pitchFamily="34" charset="-122"/>
                <a:cs typeface="Calibri" pitchFamily="34" charset="-120"/>
              </a:rPr>
              <a:t>Terminal</a:t>
            </a:r>
            <a:endParaRPr lang="en-US" sz="1100" dirty="0"/>
          </a:p>
        </p:txBody>
      </p:sp>
      <p:sp>
        <p:nvSpPr>
          <p:cNvPr id="57" name="Shape 54"/>
          <p:cNvSpPr/>
          <p:nvPr/>
        </p:nvSpPr>
        <p:spPr>
          <a:xfrm>
            <a:off x="6766560" y="5349240"/>
            <a:ext cx="4864608" cy="777240"/>
          </a:xfrm>
          <a:prstGeom prst="roundRect">
            <a:avLst>
              <a:gd name="adj" fmla="val 8235"/>
            </a:avLst>
          </a:prstGeom>
          <a:solidFill>
            <a:srgbClr val="F1F2F5"/>
          </a:solidFill>
          <a:ln w="12700">
            <a:solidFill>
              <a:srgbClr val="F1F2F5"/>
            </a:solidFill>
            <a:prstDash val="solid"/>
          </a:ln>
        </p:spPr>
      </p:sp>
      <p:sp>
        <p:nvSpPr>
          <p:cNvPr id="58" name="Text 55"/>
          <p:cNvSpPr/>
          <p:nvPr/>
        </p:nvSpPr>
        <p:spPr>
          <a:xfrm>
            <a:off x="7004304" y="5349240"/>
            <a:ext cx="4480560" cy="777240"/>
          </a:xfrm>
          <a:prstGeom prst="rect">
            <a:avLst/>
          </a:prstGeom>
          <a:noFill/>
          <a:ln/>
        </p:spPr>
        <p:txBody>
          <a:bodyPr wrap="square" lIns="0" tIns="0" rIns="0" bIns="0" rtlCol="0" anchor="ctr"/>
          <a:lstStyle/>
          <a:p>
            <a:pPr indent="0" marL="0">
              <a:buNone/>
            </a:pPr>
            <a:r>
              <a:rPr lang="en-US" sz="1350" b="1" dirty="0">
                <a:solidFill>
                  <a:srgbClr val="C2410C"/>
                </a:solidFill>
                <a:latin typeface="Calibri" pitchFamily="34" charset="0"/>
                <a:ea typeface="Calibri" pitchFamily="34" charset="-122"/>
                <a:cs typeface="Calibri" pitchFamily="34" charset="-120"/>
              </a:rPr>
              <a:t>Minimax value of the root is 3. The minimax decision is a₁.</a:t>
            </a:r>
            <a:endParaRPr lang="en-US" sz="1350" dirty="0"/>
          </a:p>
        </p:txBody>
      </p:sp>
      <p:sp>
        <p:nvSpPr>
          <p:cNvPr id="59" name="Text 56"/>
          <p:cNvSpPr/>
          <p:nvPr/>
        </p:nvSpPr>
        <p:spPr>
          <a:xfrm>
            <a:off x="566928" y="1481328"/>
            <a:ext cx="11064240" cy="365760"/>
          </a:xfrm>
          <a:prstGeom prst="rect">
            <a:avLst/>
          </a:prstGeom>
          <a:noFill/>
          <a:ln/>
        </p:spPr>
        <p:txBody>
          <a:bodyPr wrap="square" lIns="0" tIns="0" rIns="0" bIns="0" rtlCol="0" anchor="ctr"/>
          <a:lstStyle/>
          <a:p>
            <a:pPr indent="0" marL="0">
              <a:buNone/>
            </a:pPr>
            <a:r>
              <a:rPr lang="en-US" sz="1350" dirty="0">
                <a:solidFill>
                  <a:srgbClr val="3A3F4C"/>
                </a:solidFill>
                <a:latin typeface="Calibri" pitchFamily="34" charset="0"/>
                <a:ea typeface="Calibri" pitchFamily="34" charset="-122"/>
                <a:cs typeface="Calibri" pitchFamily="34" charset="-120"/>
              </a:rPr>
              <a:t>MIN chooses the smallest child. B is min(3, 12, 8) = 3, C is min(2, 4, 6) = 2, D is min(14, 5, 2) = 2. MAX then takes max(3, 2, 2) = 3.</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5.2.1  THE MINIMAX SEARCH ALGORITHM</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A depth-first recursion that backs up values</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566928" y="1481328"/>
            <a:ext cx="6035040" cy="4206240"/>
          </a:xfrm>
          <a:prstGeom prst="roundRect">
            <a:avLst>
              <a:gd name="adj" fmla="val 1522"/>
            </a:avLst>
          </a:prstGeom>
          <a:solidFill>
            <a:srgbClr val="2A2F3E"/>
          </a:solidFill>
          <a:ln w="12700">
            <a:solidFill>
              <a:srgbClr val="2A2F3E"/>
            </a:solidFill>
            <a:prstDash val="solid"/>
          </a:ln>
        </p:spPr>
      </p:sp>
      <p:sp>
        <p:nvSpPr>
          <p:cNvPr id="8" name="Text 5"/>
          <p:cNvSpPr/>
          <p:nvPr/>
        </p:nvSpPr>
        <p:spPr>
          <a:xfrm>
            <a:off x="841248" y="1682496"/>
            <a:ext cx="5532120" cy="3803904"/>
          </a:xfrm>
          <a:prstGeom prst="rect">
            <a:avLst/>
          </a:prstGeom>
          <a:noFill/>
          <a:ln/>
        </p:spPr>
        <p:txBody>
          <a:bodyPr wrap="square" lIns="0" tIns="0" rIns="0" bIns="0" rtlCol="0" anchor="t"/>
          <a:lstStyle/>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function MINIMAX-SEARCH(game, state) returns an action</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player &lt;- game.TO-MOVE(state)</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value, move &lt;- MAX-VALUE(game, state)</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return move</a:t>
            </a:r>
            <a:endParaRPr lang="en-US" sz="1150" dirty="0"/>
          </a:p>
          <a:p>
            <a:pPr indent="0" marL="0">
              <a:lnSpc>
                <a:spcPts val="1550"/>
              </a:lnSpc>
              <a:buNone/>
            </a:pP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function MAX-VALUE(game, state) returns (utility, move)</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if game.IS-TERMINAL(state) then</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return game.UTILITY(state, player), null</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v &lt;- -infinity</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for each a in game.ACTIONS(state) do</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v2, a2 &lt;- MIN-VALUE(game, game.RESULT(state, a))</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if v2 &gt; v then v, move &lt;- v2, a</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return v, move</a:t>
            </a:r>
            <a:endParaRPr lang="en-US" sz="1150" dirty="0"/>
          </a:p>
          <a:p>
            <a:pPr indent="0" marL="0">
              <a:lnSpc>
                <a:spcPts val="1550"/>
              </a:lnSpc>
              <a:buNone/>
            </a:pP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function MIN-VALUE(game, state) returns (utility, move)</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if game.IS-TERMINAL(state) then</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return game.UTILITY(state, player), null</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v &lt;- +infinity</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for each a in game.ACTIONS(state) do</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v2, a2 &lt;- MAX-VALUE(game, game.RESULT(state, a))</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if v2 &lt; v then v, move &lt;- v2, a</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return v, move</a:t>
            </a:r>
            <a:endParaRPr lang="en-US" sz="1150" dirty="0"/>
          </a:p>
        </p:txBody>
      </p:sp>
      <p:sp>
        <p:nvSpPr>
          <p:cNvPr id="9" name="Text 6"/>
          <p:cNvSpPr/>
          <p:nvPr/>
        </p:nvSpPr>
        <p:spPr>
          <a:xfrm>
            <a:off x="6903720" y="1536192"/>
            <a:ext cx="4572000" cy="365760"/>
          </a:xfrm>
          <a:prstGeom prst="rect">
            <a:avLst/>
          </a:prstGeom>
          <a:noFill/>
          <a:ln/>
        </p:spPr>
        <p:txBody>
          <a:bodyPr wrap="square" lIns="0" tIns="0" rIns="0" bIns="0" rtlCol="0" anchor="ctr"/>
          <a:lstStyle/>
          <a:p>
            <a:pPr indent="0" marL="0">
              <a:buNone/>
            </a:pPr>
            <a:r>
              <a:rPr lang="en-US" sz="1800" b="1" dirty="0">
                <a:solidFill>
                  <a:srgbClr val="1C1F2A"/>
                </a:solidFill>
                <a:latin typeface="Cambria" pitchFamily="34" charset="0"/>
                <a:ea typeface="Cambria" pitchFamily="34" charset="-122"/>
                <a:cs typeface="Cambria" pitchFamily="34" charset="-120"/>
              </a:rPr>
              <a:t>What it costs</a:t>
            </a:r>
            <a:endParaRPr lang="en-US" sz="1800" dirty="0"/>
          </a:p>
        </p:txBody>
      </p:sp>
      <p:sp>
        <p:nvSpPr>
          <p:cNvPr id="10" name="Shape 7"/>
          <p:cNvSpPr/>
          <p:nvPr/>
        </p:nvSpPr>
        <p:spPr>
          <a:xfrm>
            <a:off x="6903720" y="1993392"/>
            <a:ext cx="4727448" cy="1051560"/>
          </a:xfrm>
          <a:prstGeom prst="roundRect">
            <a:avLst>
              <a:gd name="adj" fmla="val 6087"/>
            </a:avLst>
          </a:prstGeom>
          <a:solidFill>
            <a:srgbClr val="F1F2F5"/>
          </a:solidFill>
          <a:ln w="12700">
            <a:solidFill>
              <a:srgbClr val="F1F2F5"/>
            </a:solidFill>
            <a:prstDash val="solid"/>
          </a:ln>
        </p:spPr>
      </p:sp>
      <p:sp>
        <p:nvSpPr>
          <p:cNvPr id="11" name="Text 8"/>
          <p:cNvSpPr/>
          <p:nvPr/>
        </p:nvSpPr>
        <p:spPr>
          <a:xfrm>
            <a:off x="7150608" y="2139696"/>
            <a:ext cx="1371600" cy="292608"/>
          </a:xfrm>
          <a:prstGeom prst="rect">
            <a:avLst/>
          </a:prstGeom>
          <a:noFill/>
          <a:ln/>
        </p:spPr>
        <p:txBody>
          <a:bodyPr wrap="square" lIns="0" tIns="0" rIns="0" bIns="0" rtlCol="0" anchor="ctr"/>
          <a:lstStyle/>
          <a:p>
            <a:pPr indent="0" marL="0">
              <a:buNone/>
            </a:pPr>
            <a:r>
              <a:rPr lang="en-US" sz="1250" b="1" dirty="0">
                <a:solidFill>
                  <a:srgbClr val="8A8F9C"/>
                </a:solidFill>
                <a:latin typeface="Calibri" pitchFamily="34" charset="0"/>
                <a:ea typeface="Calibri" pitchFamily="34" charset="-122"/>
                <a:cs typeface="Calibri" pitchFamily="34" charset="-120"/>
              </a:rPr>
              <a:t>Time</a:t>
            </a:r>
            <a:endParaRPr lang="en-US" sz="1250" dirty="0"/>
          </a:p>
        </p:txBody>
      </p:sp>
      <p:sp>
        <p:nvSpPr>
          <p:cNvPr id="12" name="Text 9"/>
          <p:cNvSpPr/>
          <p:nvPr/>
        </p:nvSpPr>
        <p:spPr>
          <a:xfrm>
            <a:off x="7150608" y="2414016"/>
            <a:ext cx="1371600" cy="457200"/>
          </a:xfrm>
          <a:prstGeom prst="rect">
            <a:avLst/>
          </a:prstGeom>
          <a:noFill/>
          <a:ln/>
        </p:spPr>
        <p:txBody>
          <a:bodyPr wrap="square" lIns="0" tIns="0" rIns="0" bIns="0" rtlCol="0" anchor="ctr"/>
          <a:lstStyle/>
          <a:p>
            <a:pPr indent="0" marL="0">
              <a:buNone/>
            </a:pPr>
            <a:r>
              <a:rPr lang="en-US" sz="2200" b="1" dirty="0">
                <a:solidFill>
                  <a:srgbClr val="C2410C"/>
                </a:solidFill>
                <a:latin typeface="Cambria" pitchFamily="34" charset="0"/>
                <a:ea typeface="Cambria" pitchFamily="34" charset="-122"/>
                <a:cs typeface="Cambria" pitchFamily="34" charset="-120"/>
              </a:rPr>
              <a:t>O(bᵐ)</a:t>
            </a:r>
            <a:endParaRPr lang="en-US" sz="2200" dirty="0"/>
          </a:p>
        </p:txBody>
      </p:sp>
      <p:sp>
        <p:nvSpPr>
          <p:cNvPr id="13" name="Text 10"/>
          <p:cNvSpPr/>
          <p:nvPr/>
        </p:nvSpPr>
        <p:spPr>
          <a:xfrm>
            <a:off x="8686800" y="2157984"/>
            <a:ext cx="2743200" cy="777240"/>
          </a:xfrm>
          <a:prstGeom prst="rect">
            <a:avLst/>
          </a:prstGeom>
          <a:noFill/>
          <a:ln/>
        </p:spPr>
        <p:txBody>
          <a:bodyPr wrap="square" lIns="0" tIns="0" rIns="0" bIns="0" rtlCol="0" anchor="ctr"/>
          <a:lstStyle/>
          <a:p>
            <a:pPr indent="0" marL="0">
              <a:buNone/>
            </a:pPr>
            <a:r>
              <a:rPr lang="en-US" sz="1200" dirty="0">
                <a:solidFill>
                  <a:srgbClr val="3A3F4C"/>
                </a:solidFill>
                <a:latin typeface="Calibri" pitchFamily="34" charset="0"/>
                <a:ea typeface="Calibri" pitchFamily="34" charset="-122"/>
                <a:cs typeface="Calibri" pitchFamily="34" charset="-120"/>
              </a:rPr>
              <a:t>Complete depth-first exploration of the whole tree.</a:t>
            </a:r>
            <a:endParaRPr lang="en-US" sz="1200" dirty="0"/>
          </a:p>
        </p:txBody>
      </p:sp>
      <p:sp>
        <p:nvSpPr>
          <p:cNvPr id="14" name="Shape 11"/>
          <p:cNvSpPr/>
          <p:nvPr/>
        </p:nvSpPr>
        <p:spPr>
          <a:xfrm>
            <a:off x="6903720" y="3227832"/>
            <a:ext cx="4727448" cy="1051560"/>
          </a:xfrm>
          <a:prstGeom prst="roundRect">
            <a:avLst>
              <a:gd name="adj" fmla="val 6087"/>
            </a:avLst>
          </a:prstGeom>
          <a:solidFill>
            <a:srgbClr val="F1F2F5"/>
          </a:solidFill>
          <a:ln w="12700">
            <a:solidFill>
              <a:srgbClr val="F1F2F5"/>
            </a:solidFill>
            <a:prstDash val="solid"/>
          </a:ln>
        </p:spPr>
      </p:sp>
      <p:sp>
        <p:nvSpPr>
          <p:cNvPr id="15" name="Text 12"/>
          <p:cNvSpPr/>
          <p:nvPr/>
        </p:nvSpPr>
        <p:spPr>
          <a:xfrm>
            <a:off x="7150608" y="3374136"/>
            <a:ext cx="1371600" cy="292608"/>
          </a:xfrm>
          <a:prstGeom prst="rect">
            <a:avLst/>
          </a:prstGeom>
          <a:noFill/>
          <a:ln/>
        </p:spPr>
        <p:txBody>
          <a:bodyPr wrap="square" lIns="0" tIns="0" rIns="0" bIns="0" rtlCol="0" anchor="ctr"/>
          <a:lstStyle/>
          <a:p>
            <a:pPr indent="0" marL="0">
              <a:buNone/>
            </a:pPr>
            <a:r>
              <a:rPr lang="en-US" sz="1250" b="1" dirty="0">
                <a:solidFill>
                  <a:srgbClr val="8A8F9C"/>
                </a:solidFill>
                <a:latin typeface="Calibri" pitchFamily="34" charset="0"/>
                <a:ea typeface="Calibri" pitchFamily="34" charset="-122"/>
                <a:cs typeface="Calibri" pitchFamily="34" charset="-120"/>
              </a:rPr>
              <a:t>Space</a:t>
            </a:r>
            <a:endParaRPr lang="en-US" sz="1250" dirty="0"/>
          </a:p>
        </p:txBody>
      </p:sp>
      <p:sp>
        <p:nvSpPr>
          <p:cNvPr id="16" name="Text 13"/>
          <p:cNvSpPr/>
          <p:nvPr/>
        </p:nvSpPr>
        <p:spPr>
          <a:xfrm>
            <a:off x="7150608" y="3648456"/>
            <a:ext cx="1371600" cy="457200"/>
          </a:xfrm>
          <a:prstGeom prst="rect">
            <a:avLst/>
          </a:prstGeom>
          <a:noFill/>
          <a:ln/>
        </p:spPr>
        <p:txBody>
          <a:bodyPr wrap="square" lIns="0" tIns="0" rIns="0" bIns="0" rtlCol="0" anchor="ctr"/>
          <a:lstStyle/>
          <a:p>
            <a:pPr indent="0" marL="0">
              <a:buNone/>
            </a:pPr>
            <a:r>
              <a:rPr lang="en-US" sz="2200" b="1" dirty="0">
                <a:solidFill>
                  <a:srgbClr val="C2410C"/>
                </a:solidFill>
                <a:latin typeface="Cambria" pitchFamily="34" charset="0"/>
                <a:ea typeface="Cambria" pitchFamily="34" charset="-122"/>
                <a:cs typeface="Cambria" pitchFamily="34" charset="-120"/>
              </a:rPr>
              <a:t>O(bm)</a:t>
            </a:r>
            <a:endParaRPr lang="en-US" sz="2200" dirty="0"/>
          </a:p>
        </p:txBody>
      </p:sp>
      <p:sp>
        <p:nvSpPr>
          <p:cNvPr id="17" name="Text 14"/>
          <p:cNvSpPr/>
          <p:nvPr/>
        </p:nvSpPr>
        <p:spPr>
          <a:xfrm>
            <a:off x="8686800" y="3392424"/>
            <a:ext cx="2743200" cy="777240"/>
          </a:xfrm>
          <a:prstGeom prst="rect">
            <a:avLst/>
          </a:prstGeom>
          <a:noFill/>
          <a:ln/>
        </p:spPr>
        <p:txBody>
          <a:bodyPr wrap="square" lIns="0" tIns="0" rIns="0" bIns="0" rtlCol="0" anchor="ctr"/>
          <a:lstStyle/>
          <a:p>
            <a:pPr indent="0" marL="0">
              <a:buNone/>
            </a:pPr>
            <a:r>
              <a:rPr lang="en-US" sz="1200" dirty="0">
                <a:solidFill>
                  <a:srgbClr val="3A3F4C"/>
                </a:solidFill>
                <a:latin typeface="Calibri" pitchFamily="34" charset="0"/>
                <a:ea typeface="Calibri" pitchFamily="34" charset="-122"/>
                <a:cs typeface="Calibri" pitchFamily="34" charset="-120"/>
              </a:rPr>
              <a:t>One path at a time, with all actions generated at each node. O(m) if actions are generated lazily.</a:t>
            </a:r>
            <a:endParaRPr lang="en-US" sz="1200" dirty="0"/>
          </a:p>
        </p:txBody>
      </p:sp>
      <p:sp>
        <p:nvSpPr>
          <p:cNvPr id="18" name="Shape 15"/>
          <p:cNvSpPr/>
          <p:nvPr/>
        </p:nvSpPr>
        <p:spPr>
          <a:xfrm>
            <a:off x="6903720" y="4480560"/>
            <a:ext cx="4727448" cy="1207008"/>
          </a:xfrm>
          <a:prstGeom prst="roundRect">
            <a:avLst>
              <a:gd name="adj" fmla="val 5303"/>
            </a:avLst>
          </a:prstGeom>
          <a:solidFill>
            <a:srgbClr val="FDF2EC"/>
          </a:solidFill>
          <a:ln w="12700">
            <a:solidFill>
              <a:srgbClr val="FDF2EC"/>
            </a:solidFill>
            <a:prstDash val="solid"/>
          </a:ln>
        </p:spPr>
      </p:sp>
      <p:sp>
        <p:nvSpPr>
          <p:cNvPr id="19" name="Text 16"/>
          <p:cNvSpPr/>
          <p:nvPr/>
        </p:nvSpPr>
        <p:spPr>
          <a:xfrm>
            <a:off x="7178040" y="4617720"/>
            <a:ext cx="4206240" cy="320040"/>
          </a:xfrm>
          <a:prstGeom prst="rect">
            <a:avLst/>
          </a:prstGeom>
          <a:noFill/>
          <a:ln/>
        </p:spPr>
        <p:txBody>
          <a:bodyPr wrap="square" lIns="0" tIns="0" rIns="0" bIns="0" rtlCol="0" anchor="ctr"/>
          <a:lstStyle/>
          <a:p>
            <a:pPr indent="0" marL="0">
              <a:buNone/>
            </a:pPr>
            <a:r>
              <a:rPr lang="en-US" sz="1350" b="1" dirty="0">
                <a:solidFill>
                  <a:srgbClr val="C2410C"/>
                </a:solidFill>
                <a:latin typeface="Cambria" pitchFamily="34" charset="0"/>
                <a:ea typeface="Cambria" pitchFamily="34" charset="-122"/>
                <a:cs typeface="Cambria" pitchFamily="34" charset="-120"/>
              </a:rPr>
              <a:t>Chess: b ≈ 35, m ≈ 80 ply</a:t>
            </a:r>
            <a:endParaRPr lang="en-US" sz="1350" dirty="0"/>
          </a:p>
        </p:txBody>
      </p:sp>
      <p:sp>
        <p:nvSpPr>
          <p:cNvPr id="20" name="Text 17"/>
          <p:cNvSpPr/>
          <p:nvPr/>
        </p:nvSpPr>
        <p:spPr>
          <a:xfrm>
            <a:off x="7178040" y="4956048"/>
            <a:ext cx="4224528" cy="685800"/>
          </a:xfrm>
          <a:prstGeom prst="rect">
            <a:avLst/>
          </a:prstGeom>
          <a:noFill/>
          <a:ln/>
        </p:spPr>
        <p:txBody>
          <a:bodyPr wrap="square" lIns="0" tIns="0" rIns="0" bIns="0" rtlCol="0" anchor="t"/>
          <a:lstStyle/>
          <a:p>
            <a:pPr indent="0" marL="0">
              <a:buNone/>
            </a:pPr>
            <a:r>
              <a:rPr lang="en-US" sz="1200" dirty="0">
                <a:solidFill>
                  <a:srgbClr val="3A3F4C"/>
                </a:solidFill>
                <a:latin typeface="Calibri" pitchFamily="34" charset="0"/>
                <a:ea typeface="Calibri" pitchFamily="34" charset="-122"/>
                <a:cs typeface="Calibri" pitchFamily="34" charset="-120"/>
              </a:rPr>
              <a:t>35⁸⁰ ≈ 10¹²³ states. Minimax is unusable directly, but it remains the reference definition against which every practical approximation is measured.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A SUBTLETY WORTH PAUSING ON</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What if MIN does not play optimally?</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566928" y="1536192"/>
            <a:ext cx="5394960" cy="1965960"/>
          </a:xfrm>
          <a:prstGeom prst="roundRect">
            <a:avLst>
              <a:gd name="adj" fmla="val 3256"/>
            </a:avLst>
          </a:prstGeom>
          <a:solidFill>
            <a:srgbClr val="F1F2F5"/>
          </a:solidFill>
          <a:ln w="12700">
            <a:solidFill>
              <a:srgbClr val="F1F2F5"/>
            </a:solidFill>
            <a:prstDash val="solid"/>
          </a:ln>
        </p:spPr>
      </p:sp>
      <p:sp>
        <p:nvSpPr>
          <p:cNvPr id="8" name="Text 5"/>
          <p:cNvSpPr/>
          <p:nvPr/>
        </p:nvSpPr>
        <p:spPr>
          <a:xfrm>
            <a:off x="841248" y="1719072"/>
            <a:ext cx="4846320" cy="347472"/>
          </a:xfrm>
          <a:prstGeom prst="rect">
            <a:avLst/>
          </a:prstGeom>
          <a:noFill/>
          <a:ln/>
        </p:spPr>
        <p:txBody>
          <a:bodyPr wrap="square" lIns="0" tIns="0" rIns="0" bIns="0" rtlCol="0" anchor="ctr"/>
          <a:lstStyle/>
          <a:p>
            <a:pPr indent="0" marL="0">
              <a:buNone/>
            </a:pPr>
            <a:r>
              <a:rPr lang="en-US" sz="1700" b="1" dirty="0">
                <a:solidFill>
                  <a:srgbClr val="1D4E63"/>
                </a:solidFill>
                <a:latin typeface="Cambria" pitchFamily="34" charset="0"/>
                <a:ea typeface="Cambria" pitchFamily="34" charset="-122"/>
                <a:cs typeface="Cambria" pitchFamily="34" charset="-120"/>
              </a:rPr>
              <a:t>The guarantee</a:t>
            </a:r>
            <a:endParaRPr lang="en-US" sz="1700" dirty="0"/>
          </a:p>
        </p:txBody>
      </p:sp>
      <p:sp>
        <p:nvSpPr>
          <p:cNvPr id="9" name="Text 6"/>
          <p:cNvSpPr/>
          <p:nvPr/>
        </p:nvSpPr>
        <p:spPr>
          <a:xfrm>
            <a:off x="841248" y="2103120"/>
            <a:ext cx="4864608" cy="1234440"/>
          </a:xfrm>
          <a:prstGeom prst="rect">
            <a:avLst/>
          </a:prstGeom>
          <a:noFill/>
          <a:ln/>
        </p:spPr>
        <p:txBody>
          <a:bodyPr wrap="square" lIns="0" tIns="0" rIns="0" bIns="0" rtlCol="0" anchor="t"/>
          <a:lstStyle/>
          <a:p>
            <a:pPr indent="0" marL="0">
              <a:buNone/>
            </a:pPr>
            <a:r>
              <a:rPr lang="en-US" sz="1350" dirty="0">
                <a:solidFill>
                  <a:srgbClr val="3A3F4C"/>
                </a:solidFill>
                <a:latin typeface="Calibri" pitchFamily="34" charset="0"/>
                <a:ea typeface="Calibri" pitchFamily="34" charset="-122"/>
                <a:cs typeface="Calibri" pitchFamily="34" charset="-120"/>
              </a:rPr>
              <a:t>If MIN plays suboptimally, MAX playing the minimax move does at least as well as it would against a perfect opponent, and possibly better. Minimax never loses value by being wrong about MIN.</a:t>
            </a:r>
            <a:endParaRPr lang="en-US" sz="1350" dirty="0"/>
          </a:p>
        </p:txBody>
      </p:sp>
      <p:sp>
        <p:nvSpPr>
          <p:cNvPr id="10" name="Shape 7"/>
          <p:cNvSpPr/>
          <p:nvPr/>
        </p:nvSpPr>
        <p:spPr>
          <a:xfrm>
            <a:off x="6236208" y="1536192"/>
            <a:ext cx="5394960" cy="1965960"/>
          </a:xfrm>
          <a:prstGeom prst="roundRect">
            <a:avLst>
              <a:gd name="adj" fmla="val 3256"/>
            </a:avLst>
          </a:prstGeom>
          <a:solidFill>
            <a:srgbClr val="FDF2EC"/>
          </a:solidFill>
          <a:ln w="12700">
            <a:solidFill>
              <a:srgbClr val="FDF2EC"/>
            </a:solidFill>
            <a:prstDash val="solid"/>
          </a:ln>
        </p:spPr>
      </p:sp>
      <p:sp>
        <p:nvSpPr>
          <p:cNvPr id="11" name="Text 8"/>
          <p:cNvSpPr/>
          <p:nvPr/>
        </p:nvSpPr>
        <p:spPr>
          <a:xfrm>
            <a:off x="6510528" y="1719072"/>
            <a:ext cx="4846320" cy="347472"/>
          </a:xfrm>
          <a:prstGeom prst="rect">
            <a:avLst/>
          </a:prstGeom>
          <a:noFill/>
          <a:ln/>
        </p:spPr>
        <p:txBody>
          <a:bodyPr wrap="square" lIns="0" tIns="0" rIns="0" bIns="0" rtlCol="0" anchor="ctr"/>
          <a:lstStyle/>
          <a:p>
            <a:pPr indent="0" marL="0">
              <a:buNone/>
            </a:pPr>
            <a:r>
              <a:rPr lang="en-US" sz="1700" b="1" dirty="0">
                <a:solidFill>
                  <a:srgbClr val="C2410C"/>
                </a:solidFill>
                <a:latin typeface="Cambria" pitchFamily="34" charset="0"/>
                <a:ea typeface="Cambria" pitchFamily="34" charset="-122"/>
                <a:cs typeface="Cambria" pitchFamily="34" charset="-120"/>
              </a:rPr>
              <a:t>The cost of the guarantee</a:t>
            </a:r>
            <a:endParaRPr lang="en-US" sz="1700" dirty="0"/>
          </a:p>
        </p:txBody>
      </p:sp>
      <p:sp>
        <p:nvSpPr>
          <p:cNvPr id="12" name="Text 9"/>
          <p:cNvSpPr/>
          <p:nvPr/>
        </p:nvSpPr>
        <p:spPr>
          <a:xfrm>
            <a:off x="6510528" y="2103120"/>
            <a:ext cx="4864608" cy="1234440"/>
          </a:xfrm>
          <a:prstGeom prst="rect">
            <a:avLst/>
          </a:prstGeom>
          <a:noFill/>
          <a:ln/>
        </p:spPr>
        <p:txBody>
          <a:bodyPr wrap="square" lIns="0" tIns="0" rIns="0" bIns="0" rtlCol="0" anchor="t"/>
          <a:lstStyle/>
          <a:p>
            <a:pPr indent="0" marL="0">
              <a:buNone/>
            </a:pPr>
            <a:r>
              <a:rPr lang="en-US" sz="1350" dirty="0">
                <a:solidFill>
                  <a:srgbClr val="3A3F4C"/>
                </a:solidFill>
                <a:latin typeface="Calibri" pitchFamily="34" charset="0"/>
                <a:ea typeface="Calibri" pitchFamily="34" charset="-122"/>
                <a:cs typeface="Calibri" pitchFamily="34" charset="-120"/>
              </a:rPr>
              <a:t>That does not make the minimax move best. Suppose optimal play draws, but one risky line gives MIN ten plausible replies, nine losing for MIN and one losing for MAX. If MIN cannot find the one, MAX should take the risk.</a:t>
            </a:r>
            <a:endParaRPr lang="en-US" sz="1350" dirty="0"/>
          </a:p>
        </p:txBody>
      </p:sp>
      <p:sp>
        <p:nvSpPr>
          <p:cNvPr id="13" name="Shape 10"/>
          <p:cNvSpPr/>
          <p:nvPr/>
        </p:nvSpPr>
        <p:spPr>
          <a:xfrm>
            <a:off x="566928" y="3703320"/>
            <a:ext cx="11064240" cy="2057400"/>
          </a:xfrm>
          <a:prstGeom prst="roundRect">
            <a:avLst>
              <a:gd name="adj" fmla="val 3111"/>
            </a:avLst>
          </a:prstGeom>
          <a:solidFill>
            <a:srgbClr val="1C1F2A"/>
          </a:solidFill>
          <a:ln w="12700">
            <a:solidFill>
              <a:srgbClr val="1C1F2A"/>
            </a:solidFill>
            <a:prstDash val="solid"/>
          </a:ln>
        </p:spPr>
      </p:sp>
      <p:sp>
        <p:nvSpPr>
          <p:cNvPr id="14" name="Text 11"/>
          <p:cNvSpPr/>
          <p:nvPr/>
        </p:nvSpPr>
        <p:spPr>
          <a:xfrm>
            <a:off x="914400" y="3931920"/>
            <a:ext cx="5486400" cy="365760"/>
          </a:xfrm>
          <a:prstGeom prst="rect">
            <a:avLst/>
          </a:prstGeom>
          <a:noFill/>
          <a:ln/>
        </p:spPr>
        <p:txBody>
          <a:bodyPr wrap="square" lIns="0" tIns="0" rIns="0" bIns="0" rtlCol="0" anchor="ctr"/>
          <a:lstStyle/>
          <a:p>
            <a:pPr indent="0" marL="0">
              <a:buNone/>
            </a:pPr>
            <a:r>
              <a:rPr lang="en-US" sz="1800" b="1" dirty="0">
                <a:solidFill>
                  <a:srgbClr val="B58500"/>
                </a:solidFill>
                <a:latin typeface="Cambria" pitchFamily="34" charset="0"/>
                <a:ea typeface="Cambria" pitchFamily="34" charset="-122"/>
                <a:cs typeface="Cambria" pitchFamily="34" charset="-120"/>
              </a:rPr>
              <a:t>Hold on to this</a:t>
            </a:r>
            <a:endParaRPr lang="en-US" sz="1800" dirty="0"/>
          </a:p>
        </p:txBody>
      </p:sp>
      <p:sp>
        <p:nvSpPr>
          <p:cNvPr id="15" name="Text 12"/>
          <p:cNvSpPr/>
          <p:nvPr/>
        </p:nvSpPr>
        <p:spPr>
          <a:xfrm>
            <a:off x="914400" y="4370832"/>
            <a:ext cx="10332720" cy="1143000"/>
          </a:xfrm>
          <a:prstGeom prst="rect">
            <a:avLst/>
          </a:prstGeom>
          <a:noFill/>
          <a:ln/>
        </p:spPr>
        <p:txBody>
          <a:bodyPr wrap="square" lIns="0" tIns="0" rIns="0" bIns="0" rtlCol="0" anchor="t"/>
          <a:lstStyle/>
          <a:p>
            <a:pPr indent="0" marL="0">
              <a:buNone/>
            </a:pPr>
            <a:r>
              <a:rPr lang="en-US" sz="1500" dirty="0">
                <a:solidFill>
                  <a:srgbClr val="C6CBD8"/>
                </a:solidFill>
                <a:latin typeface="Calibri" pitchFamily="34" charset="0"/>
                <a:ea typeface="Calibri" pitchFamily="34" charset="-122"/>
                <a:cs typeface="Calibri" pitchFamily="34" charset="-120"/>
              </a:rPr>
              <a:t>The moment you say "nine chances in ten," you have stopped doing worst-case reasoning and started doing expected-value reasoning. Minimax has no vocabulary for a nine-in-ten chance. Part III gives it one, and Part IV explains why averaging is the right thing to do rather than merely a convenient one.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5.2.2  MULTIPLAYER GAMES</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Replace the single value with a vector</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12</a:t>
            </a:r>
            <a:endParaRPr lang="en-US" sz="900" dirty="0"/>
          </a:p>
        </p:txBody>
      </p:sp>
      <p:sp>
        <p:nvSpPr>
          <p:cNvPr id="7" name="Text 4"/>
          <p:cNvSpPr/>
          <p:nvPr/>
        </p:nvSpPr>
        <p:spPr>
          <a:xfrm>
            <a:off x="566928" y="1444752"/>
            <a:ext cx="11064240" cy="365760"/>
          </a:xfrm>
          <a:prstGeom prst="rect">
            <a:avLst/>
          </a:prstGeom>
          <a:noFill/>
          <a:ln/>
        </p:spPr>
        <p:txBody>
          <a:bodyPr wrap="square" lIns="0" tIns="0" rIns="0" bIns="0" rtlCol="0" anchor="ctr"/>
          <a:lstStyle/>
          <a:p>
            <a:pPr indent="0" marL="0">
              <a:buNone/>
            </a:pPr>
            <a:r>
              <a:rPr lang="en-US" sz="1400" dirty="0">
                <a:solidFill>
                  <a:srgbClr val="3A3F4C"/>
                </a:solidFill>
                <a:latin typeface="Calibri" pitchFamily="34" charset="0"/>
                <a:ea typeface="Calibri" pitchFamily="34" charset="-122"/>
                <a:cs typeface="Calibri" pitchFamily="34" charset="-120"/>
              </a:rPr>
              <a:t>In a three-player game the backed-up value of node n is the utility vector of the successor with the highest value for the player choosing at n.</a:t>
            </a:r>
            <a:endParaRPr lang="en-US" sz="1400" dirty="0"/>
          </a:p>
        </p:txBody>
      </p:sp>
      <p:sp>
        <p:nvSpPr>
          <p:cNvPr id="8" name="Shape 5"/>
          <p:cNvSpPr/>
          <p:nvPr/>
        </p:nvSpPr>
        <p:spPr>
          <a:xfrm>
            <a:off x="566928" y="1920240"/>
            <a:ext cx="5029200" cy="3840480"/>
          </a:xfrm>
          <a:prstGeom prst="roundRect">
            <a:avLst>
              <a:gd name="adj" fmla="val 1667"/>
            </a:avLst>
          </a:prstGeom>
          <a:solidFill>
            <a:srgbClr val="F1F2F5"/>
          </a:solidFill>
          <a:ln w="12700">
            <a:solidFill>
              <a:srgbClr val="F1F2F5"/>
            </a:solidFill>
            <a:prstDash val="solid"/>
          </a:ln>
        </p:spPr>
      </p:sp>
      <p:sp>
        <p:nvSpPr>
          <p:cNvPr id="9" name="Text 6"/>
          <p:cNvSpPr/>
          <p:nvPr/>
        </p:nvSpPr>
        <p:spPr>
          <a:xfrm>
            <a:off x="841248" y="2084832"/>
            <a:ext cx="4480560" cy="310896"/>
          </a:xfrm>
          <a:prstGeom prst="rect">
            <a:avLst/>
          </a:prstGeom>
          <a:noFill/>
          <a:ln/>
        </p:spPr>
        <p:txBody>
          <a:bodyPr wrap="square" lIns="0" tIns="0" rIns="0" bIns="0" rtlCol="0" anchor="ctr"/>
          <a:lstStyle/>
          <a:p>
            <a:pPr indent="0" marL="0">
              <a:buNone/>
            </a:pPr>
            <a:r>
              <a:rPr lang="en-US" sz="1400" b="1" dirty="0">
                <a:solidFill>
                  <a:srgbClr val="1C1F2A"/>
                </a:solidFill>
                <a:latin typeface="Cambria" pitchFamily="34" charset="0"/>
                <a:ea typeface="Cambria" pitchFamily="34" charset="-122"/>
                <a:cs typeface="Cambria" pitchFamily="34" charset="-120"/>
              </a:rPr>
              <a:t>Node X: player C chooses</a:t>
            </a:r>
            <a:endParaRPr lang="en-US" sz="1400" dirty="0"/>
          </a:p>
        </p:txBody>
      </p:sp>
      <p:sp>
        <p:nvSpPr>
          <p:cNvPr id="10" name="Shape 7"/>
          <p:cNvSpPr/>
          <p:nvPr/>
        </p:nvSpPr>
        <p:spPr>
          <a:xfrm>
            <a:off x="2834640" y="2834640"/>
            <a:ext cx="457200" cy="457200"/>
          </a:xfrm>
          <a:prstGeom prst="triangle">
            <a:avLst/>
          </a:prstGeom>
          <a:solidFill>
            <a:srgbClr val="C2410C"/>
          </a:solidFill>
          <a:ln w="12700">
            <a:solidFill>
              <a:srgbClr val="C2410C"/>
            </a:solidFill>
            <a:prstDash val="solid"/>
          </a:ln>
        </p:spPr>
      </p:sp>
      <p:sp>
        <p:nvSpPr>
          <p:cNvPr id="11" name="Text 8"/>
          <p:cNvSpPr/>
          <p:nvPr/>
        </p:nvSpPr>
        <p:spPr>
          <a:xfrm>
            <a:off x="2423160" y="2916936"/>
            <a:ext cx="12801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2" name="Shape 9"/>
          <p:cNvSpPr/>
          <p:nvPr/>
        </p:nvSpPr>
        <p:spPr>
          <a:xfrm flipH="1">
            <a:off x="2148840" y="3218688"/>
            <a:ext cx="914400" cy="667512"/>
          </a:xfrm>
          <a:prstGeom prst="line">
            <a:avLst/>
          </a:prstGeom>
          <a:noFill/>
          <a:ln w="31750">
            <a:solidFill>
              <a:srgbClr val="C2410C"/>
            </a:solidFill>
            <a:prstDash val="solid"/>
          </a:ln>
        </p:spPr>
      </p:sp>
      <p:sp>
        <p:nvSpPr>
          <p:cNvPr id="13" name="Shape 10"/>
          <p:cNvSpPr/>
          <p:nvPr/>
        </p:nvSpPr>
        <p:spPr>
          <a:xfrm>
            <a:off x="3063240" y="3218688"/>
            <a:ext cx="914400" cy="667512"/>
          </a:xfrm>
          <a:prstGeom prst="line">
            <a:avLst/>
          </a:prstGeom>
          <a:noFill/>
          <a:ln w="15875">
            <a:solidFill>
              <a:srgbClr val="9AA0AE"/>
            </a:solidFill>
            <a:prstDash val="solid"/>
          </a:ln>
        </p:spPr>
      </p:sp>
      <p:sp>
        <p:nvSpPr>
          <p:cNvPr id="14" name="Shape 11"/>
          <p:cNvSpPr/>
          <p:nvPr/>
        </p:nvSpPr>
        <p:spPr>
          <a:xfrm>
            <a:off x="1956816" y="3895344"/>
            <a:ext cx="384048" cy="384048"/>
          </a:xfrm>
          <a:prstGeom prst="rect">
            <a:avLst/>
          </a:prstGeom>
          <a:solidFill>
            <a:srgbClr val="E4E6EB"/>
          </a:solidFill>
          <a:ln w="12700">
            <a:solidFill>
              <a:srgbClr val="A6ACBA"/>
            </a:solidFill>
            <a:prstDash val="solid"/>
          </a:ln>
        </p:spPr>
      </p:sp>
      <p:sp>
        <p:nvSpPr>
          <p:cNvPr id="15" name="Shape 12"/>
          <p:cNvSpPr/>
          <p:nvPr/>
        </p:nvSpPr>
        <p:spPr>
          <a:xfrm>
            <a:off x="3785616" y="3895344"/>
            <a:ext cx="384048" cy="384048"/>
          </a:xfrm>
          <a:prstGeom prst="rect">
            <a:avLst/>
          </a:prstGeom>
          <a:solidFill>
            <a:srgbClr val="E4E6EB"/>
          </a:solidFill>
          <a:ln w="12700">
            <a:solidFill>
              <a:srgbClr val="A6ACBA"/>
            </a:solidFill>
            <a:prstDash val="solid"/>
          </a:ln>
        </p:spPr>
      </p:sp>
      <p:sp>
        <p:nvSpPr>
          <p:cNvPr id="16" name="Text 13"/>
          <p:cNvSpPr/>
          <p:nvPr/>
        </p:nvSpPr>
        <p:spPr>
          <a:xfrm>
            <a:off x="1463040" y="4434840"/>
            <a:ext cx="1371600" cy="310896"/>
          </a:xfrm>
          <a:prstGeom prst="rect">
            <a:avLst/>
          </a:prstGeom>
          <a:noFill/>
          <a:ln/>
        </p:spPr>
        <p:txBody>
          <a:bodyPr wrap="square" lIns="0" tIns="0" rIns="0" bIns="0" rtlCol="0" anchor="ctr"/>
          <a:lstStyle/>
          <a:p>
            <a:pPr algn="ctr" indent="0" marL="0">
              <a:buNone/>
            </a:pPr>
            <a:r>
              <a:rPr lang="en-US" sz="1400" b="1" dirty="0">
                <a:solidFill>
                  <a:srgbClr val="C2410C"/>
                </a:solidFill>
                <a:latin typeface="Calibri" pitchFamily="34" charset="0"/>
                <a:ea typeface="Calibri" pitchFamily="34" charset="-122"/>
                <a:cs typeface="Calibri" pitchFamily="34" charset="-120"/>
              </a:rPr>
              <a:t>⟨1, 2, 6⟩</a:t>
            </a:r>
            <a:endParaRPr lang="en-US" sz="1400" dirty="0"/>
          </a:p>
        </p:txBody>
      </p:sp>
      <p:sp>
        <p:nvSpPr>
          <p:cNvPr id="17" name="Text 14"/>
          <p:cNvSpPr/>
          <p:nvPr/>
        </p:nvSpPr>
        <p:spPr>
          <a:xfrm>
            <a:off x="3291840" y="4434840"/>
            <a:ext cx="1371600" cy="310896"/>
          </a:xfrm>
          <a:prstGeom prst="rect">
            <a:avLst/>
          </a:prstGeom>
          <a:noFill/>
          <a:ln/>
        </p:spPr>
        <p:txBody>
          <a:bodyPr wrap="square" lIns="0" tIns="0" rIns="0" bIns="0" rtlCol="0" anchor="ctr"/>
          <a:lstStyle/>
          <a:p>
            <a:pPr algn="ctr" indent="0" marL="0">
              <a:buNone/>
            </a:pPr>
            <a:r>
              <a:rPr lang="en-US" sz="1400" dirty="0">
                <a:solidFill>
                  <a:srgbClr val="8A8F9C"/>
                </a:solidFill>
                <a:latin typeface="Calibri" pitchFamily="34" charset="0"/>
                <a:ea typeface="Calibri" pitchFamily="34" charset="-122"/>
                <a:cs typeface="Calibri" pitchFamily="34" charset="-120"/>
              </a:rPr>
              <a:t>⟨4, 2, 3⟩</a:t>
            </a:r>
            <a:endParaRPr lang="en-US" sz="1400" dirty="0"/>
          </a:p>
        </p:txBody>
      </p:sp>
      <p:sp>
        <p:nvSpPr>
          <p:cNvPr id="18" name="Text 15"/>
          <p:cNvSpPr/>
          <p:nvPr/>
        </p:nvSpPr>
        <p:spPr>
          <a:xfrm>
            <a:off x="841248" y="4892040"/>
            <a:ext cx="4480560" cy="731520"/>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C compares only its own coordinate: 6 beats 3, so the entire left vector ⟨1, 2, 6⟩ becomes the backed-up value of X.</a:t>
            </a:r>
            <a:endParaRPr lang="en-US" sz="1250" dirty="0"/>
          </a:p>
        </p:txBody>
      </p:sp>
      <p:sp>
        <p:nvSpPr>
          <p:cNvPr id="19" name="Shape 16"/>
          <p:cNvSpPr/>
          <p:nvPr/>
        </p:nvSpPr>
        <p:spPr>
          <a:xfrm>
            <a:off x="5852160" y="1920240"/>
            <a:ext cx="5779008" cy="1133856"/>
          </a:xfrm>
          <a:prstGeom prst="roundRect">
            <a:avLst>
              <a:gd name="adj" fmla="val 5645"/>
            </a:avLst>
          </a:prstGeom>
          <a:solidFill>
            <a:srgbClr val="F1F2F5"/>
          </a:solidFill>
          <a:ln w="12700">
            <a:solidFill>
              <a:srgbClr val="F1F2F5"/>
            </a:solidFill>
            <a:prstDash val="solid"/>
          </a:ln>
        </p:spPr>
      </p:sp>
      <p:sp>
        <p:nvSpPr>
          <p:cNvPr id="20" name="Text 17"/>
          <p:cNvSpPr/>
          <p:nvPr/>
        </p:nvSpPr>
        <p:spPr>
          <a:xfrm>
            <a:off x="6108192" y="2048256"/>
            <a:ext cx="5303520" cy="310896"/>
          </a:xfrm>
          <a:prstGeom prst="rect">
            <a:avLst/>
          </a:prstGeom>
          <a:noFill/>
          <a:ln/>
        </p:spPr>
        <p:txBody>
          <a:bodyPr wrap="square" lIns="0" tIns="0" rIns="0" bIns="0" rtlCol="0" anchor="ctr"/>
          <a:lstStyle/>
          <a:p>
            <a:pPr indent="0" marL="0">
              <a:buNone/>
            </a:pPr>
            <a:r>
              <a:rPr lang="en-US" sz="1400" b="1" dirty="0">
                <a:solidFill>
                  <a:srgbClr val="1D4E63"/>
                </a:solidFill>
                <a:latin typeface="Cambria" pitchFamily="34" charset="0"/>
                <a:ea typeface="Cambria" pitchFamily="34" charset="-122"/>
                <a:cs typeface="Cambria" pitchFamily="34" charset="-120"/>
              </a:rPr>
              <a:t>Utilities become independent</a:t>
            </a:r>
            <a:endParaRPr lang="en-US" sz="1400" dirty="0"/>
          </a:p>
        </p:txBody>
      </p:sp>
      <p:sp>
        <p:nvSpPr>
          <p:cNvPr id="21" name="Text 18"/>
          <p:cNvSpPr/>
          <p:nvPr/>
        </p:nvSpPr>
        <p:spPr>
          <a:xfrm>
            <a:off x="6108192" y="2377440"/>
            <a:ext cx="5321808" cy="621792"/>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UTILITY returns a vector ⟨v_A, v_B, v_C⟩. Two-player zero-sum is the degenerate case where the entries are exact negatives and collapse to one number.</a:t>
            </a:r>
            <a:endParaRPr lang="en-US" sz="1250" dirty="0"/>
          </a:p>
        </p:txBody>
      </p:sp>
      <p:sp>
        <p:nvSpPr>
          <p:cNvPr id="22" name="Shape 19"/>
          <p:cNvSpPr/>
          <p:nvPr/>
        </p:nvSpPr>
        <p:spPr>
          <a:xfrm>
            <a:off x="5852160" y="3227832"/>
            <a:ext cx="5779008" cy="1133856"/>
          </a:xfrm>
          <a:prstGeom prst="roundRect">
            <a:avLst>
              <a:gd name="adj" fmla="val 5645"/>
            </a:avLst>
          </a:prstGeom>
          <a:solidFill>
            <a:srgbClr val="F1F2F5"/>
          </a:solidFill>
          <a:ln w="12700">
            <a:solidFill>
              <a:srgbClr val="F1F2F5"/>
            </a:solidFill>
            <a:prstDash val="solid"/>
          </a:ln>
        </p:spPr>
      </p:sp>
      <p:sp>
        <p:nvSpPr>
          <p:cNvPr id="23" name="Text 20"/>
          <p:cNvSpPr/>
          <p:nvPr/>
        </p:nvSpPr>
        <p:spPr>
          <a:xfrm>
            <a:off x="6108192" y="3355848"/>
            <a:ext cx="5303520" cy="310896"/>
          </a:xfrm>
          <a:prstGeom prst="rect">
            <a:avLst/>
          </a:prstGeom>
          <a:noFill/>
          <a:ln/>
        </p:spPr>
        <p:txBody>
          <a:bodyPr wrap="square" lIns="0" tIns="0" rIns="0" bIns="0" rtlCol="0" anchor="ctr"/>
          <a:lstStyle/>
          <a:p>
            <a:pPr indent="0" marL="0">
              <a:buNone/>
            </a:pPr>
            <a:r>
              <a:rPr lang="en-US" sz="1400" b="1" dirty="0">
                <a:solidFill>
                  <a:srgbClr val="1D4E63"/>
                </a:solidFill>
                <a:latin typeface="Cambria" pitchFamily="34" charset="0"/>
                <a:ea typeface="Cambria" pitchFamily="34" charset="-122"/>
                <a:cs typeface="Cambria" pitchFamily="34" charset="-120"/>
              </a:rPr>
              <a:t>Alliances emerge from selfishness</a:t>
            </a:r>
            <a:endParaRPr lang="en-US" sz="1400" dirty="0"/>
          </a:p>
        </p:txBody>
      </p:sp>
      <p:sp>
        <p:nvSpPr>
          <p:cNvPr id="24" name="Text 21"/>
          <p:cNvSpPr/>
          <p:nvPr/>
        </p:nvSpPr>
        <p:spPr>
          <a:xfrm>
            <a:off x="6108192" y="3685032"/>
            <a:ext cx="5321808" cy="621792"/>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If A and B are weak and C is strong, it is often individually optimal for both A and B to attack C. Collaboration appears without anyone coding cooperation.</a:t>
            </a:r>
            <a:endParaRPr lang="en-US" sz="1250" dirty="0"/>
          </a:p>
        </p:txBody>
      </p:sp>
      <p:sp>
        <p:nvSpPr>
          <p:cNvPr id="25" name="Shape 22"/>
          <p:cNvSpPr/>
          <p:nvPr/>
        </p:nvSpPr>
        <p:spPr>
          <a:xfrm>
            <a:off x="5852160" y="4535424"/>
            <a:ext cx="5779008" cy="1133856"/>
          </a:xfrm>
          <a:prstGeom prst="roundRect">
            <a:avLst>
              <a:gd name="adj" fmla="val 5645"/>
            </a:avLst>
          </a:prstGeom>
          <a:solidFill>
            <a:srgbClr val="F1F2F5"/>
          </a:solidFill>
          <a:ln w="12700">
            <a:solidFill>
              <a:srgbClr val="F1F2F5"/>
            </a:solidFill>
            <a:prstDash val="solid"/>
          </a:ln>
        </p:spPr>
      </p:sp>
      <p:sp>
        <p:nvSpPr>
          <p:cNvPr id="26" name="Text 23"/>
          <p:cNvSpPr/>
          <p:nvPr/>
        </p:nvSpPr>
        <p:spPr>
          <a:xfrm>
            <a:off x="6108192" y="4663440"/>
            <a:ext cx="5303520" cy="310896"/>
          </a:xfrm>
          <a:prstGeom prst="rect">
            <a:avLst/>
          </a:prstGeom>
          <a:noFill/>
          <a:ln/>
        </p:spPr>
        <p:txBody>
          <a:bodyPr wrap="square" lIns="0" tIns="0" rIns="0" bIns="0" rtlCol="0" anchor="ctr"/>
          <a:lstStyle/>
          <a:p>
            <a:pPr indent="0" marL="0">
              <a:buNone/>
            </a:pPr>
            <a:r>
              <a:rPr lang="en-US" sz="1400" b="1" dirty="0">
                <a:solidFill>
                  <a:srgbClr val="1D4E63"/>
                </a:solidFill>
                <a:latin typeface="Cambria" pitchFamily="34" charset="0"/>
                <a:ea typeface="Cambria" pitchFamily="34" charset="-122"/>
                <a:cs typeface="Cambria" pitchFamily="34" charset="-120"/>
              </a:rPr>
              <a:t>Non-zero-sum lets even two players cooperate</a:t>
            </a:r>
            <a:endParaRPr lang="en-US" sz="1400" dirty="0"/>
          </a:p>
        </p:txBody>
      </p:sp>
      <p:sp>
        <p:nvSpPr>
          <p:cNvPr id="27" name="Text 24"/>
          <p:cNvSpPr/>
          <p:nvPr/>
        </p:nvSpPr>
        <p:spPr>
          <a:xfrm>
            <a:off x="6108192" y="4992624"/>
            <a:ext cx="5321808" cy="621792"/>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If a terminal state pays ⟨1000, 1000⟩ and 1000 is each player’s maximum, both will work to reach it. Nothing about game trees forces conflict.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C1F2A"/>
        </a:solidFill>
      </p:bgPr>
    </p:bg>
    <p:spTree>
      <p:nvGrpSpPr>
        <p:cNvPr id="1" name=""/>
        <p:cNvGrpSpPr/>
        <p:nvPr/>
      </p:nvGrpSpPr>
      <p:grpSpPr>
        <a:xfrm>
          <a:off x="0" y="0"/>
          <a:ext cx="0" cy="0"/>
          <a:chOff x="0" y="0"/>
          <a:chExt cx="0" cy="0"/>
        </a:xfrm>
      </p:grpSpPr>
      <p:sp>
        <p:nvSpPr>
          <p:cNvPr id="2" name="Text 0"/>
          <p:cNvSpPr/>
          <p:nvPr/>
        </p:nvSpPr>
        <p:spPr>
          <a:xfrm>
            <a:off x="822960" y="1920240"/>
            <a:ext cx="6400800" cy="365760"/>
          </a:xfrm>
          <a:prstGeom prst="rect">
            <a:avLst/>
          </a:prstGeom>
          <a:noFill/>
          <a:ln/>
        </p:spPr>
        <p:txBody>
          <a:bodyPr wrap="square" lIns="0" tIns="0" rIns="0" bIns="0" rtlCol="0" anchor="ctr"/>
          <a:lstStyle/>
          <a:p>
            <a:pPr indent="0" marL="0">
              <a:buNone/>
            </a:pPr>
            <a:r>
              <a:rPr lang="en-US" sz="1250" b="1" spc="220" kern="0" dirty="0">
                <a:solidFill>
                  <a:srgbClr val="B58500"/>
                </a:solidFill>
                <a:latin typeface="Calibri" pitchFamily="34" charset="0"/>
                <a:ea typeface="Calibri" pitchFamily="34" charset="-122"/>
                <a:cs typeface="Calibri" pitchFamily="34" charset="-120"/>
              </a:rPr>
              <a:t>PART I CONTINUED</a:t>
            </a:r>
            <a:endParaRPr lang="en-US" sz="1250" dirty="0"/>
          </a:p>
        </p:txBody>
      </p:sp>
      <p:sp>
        <p:nvSpPr>
          <p:cNvPr id="3" name="Text 1"/>
          <p:cNvSpPr/>
          <p:nvPr/>
        </p:nvSpPr>
        <p:spPr>
          <a:xfrm>
            <a:off x="822960" y="2331720"/>
            <a:ext cx="7680960" cy="1554480"/>
          </a:xfrm>
          <a:prstGeom prst="rect">
            <a:avLst/>
          </a:prstGeom>
          <a:noFill/>
          <a:ln/>
        </p:spPr>
        <p:txBody>
          <a:bodyPr wrap="square" lIns="0" tIns="0" rIns="0" bIns="0" rtlCol="0" anchor="t"/>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Alpha-beta pruning</a:t>
            </a:r>
            <a:endParaRPr lang="en-US" sz="3800" dirty="0"/>
          </a:p>
        </p:txBody>
      </p:sp>
      <p:sp>
        <p:nvSpPr>
          <p:cNvPr id="4" name="Text 2"/>
          <p:cNvSpPr/>
          <p:nvPr/>
        </p:nvSpPr>
        <p:spPr>
          <a:xfrm>
            <a:off x="822960" y="4023360"/>
            <a:ext cx="7132320" cy="1097280"/>
          </a:xfrm>
          <a:prstGeom prst="rect">
            <a:avLst/>
          </a:prstGeom>
          <a:noFill/>
          <a:ln/>
        </p:spPr>
        <p:txBody>
          <a:bodyPr wrap="square" lIns="0" tIns="0" rIns="0" bIns="0" rtlCol="0" anchor="t"/>
          <a:lstStyle/>
          <a:p>
            <a:pPr indent="0" marL="0">
              <a:buNone/>
            </a:pPr>
            <a:r>
              <a:rPr lang="en-US" sz="1500" dirty="0">
                <a:solidFill>
                  <a:srgbClr val="A9B0C0"/>
                </a:solidFill>
                <a:latin typeface="Calibri" pitchFamily="34" charset="0"/>
                <a:ea typeface="Calibri" pitchFamily="34" charset="-122"/>
                <a:cs typeface="Calibri" pitchFamily="34" charset="-120"/>
              </a:rPr>
              <a:t>The right answer, with large parts of the tree never examined. No approximation, no loss of optimality, roughly the square root of the work.</a:t>
            </a:r>
            <a:endParaRPr lang="en-US" sz="1500" dirty="0"/>
          </a:p>
        </p:txBody>
      </p:sp>
      <p:sp>
        <p:nvSpPr>
          <p:cNvPr id="5" name="Shape 3"/>
          <p:cNvSpPr/>
          <p:nvPr/>
        </p:nvSpPr>
        <p:spPr>
          <a:xfrm rot="10800000">
            <a:off x="9372600" y="2377440"/>
            <a:ext cx="1645920" cy="1645920"/>
          </a:xfrm>
          <a:prstGeom prst="triangle">
            <a:avLst/>
          </a:prstGeom>
          <a:solidFill>
            <a:srgbClr val="1D4E63"/>
          </a:solidFill>
          <a:ln w="12700">
            <a:solidFill>
              <a:srgbClr val="1D4E63"/>
            </a:solidFill>
            <a:prstDash val="solid"/>
          </a:ln>
        </p:spPr>
      </p:sp>
      <p:sp>
        <p:nvSpPr>
          <p:cNvPr id="6" name="Text 4"/>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565D6E"/>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7" name="Text 5"/>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565D6E"/>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5.2.3  ALPHA-BETA PRUNING</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Two leaves we never needed to look at</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14</a:t>
            </a:r>
            <a:endParaRPr lang="en-US" sz="900" dirty="0"/>
          </a:p>
        </p:txBody>
      </p:sp>
      <p:sp>
        <p:nvSpPr>
          <p:cNvPr id="7" name="Shape 4"/>
          <p:cNvSpPr/>
          <p:nvPr/>
        </p:nvSpPr>
        <p:spPr>
          <a:xfrm flipH="1">
            <a:off x="2468880" y="2761488"/>
            <a:ext cx="3520440" cy="758952"/>
          </a:xfrm>
          <a:prstGeom prst="line">
            <a:avLst/>
          </a:prstGeom>
          <a:noFill/>
          <a:ln w="34925">
            <a:solidFill>
              <a:srgbClr val="C2410C"/>
            </a:solidFill>
            <a:prstDash val="solid"/>
          </a:ln>
        </p:spPr>
      </p:sp>
      <p:sp>
        <p:nvSpPr>
          <p:cNvPr id="8" name="Shape 5"/>
          <p:cNvSpPr/>
          <p:nvPr/>
        </p:nvSpPr>
        <p:spPr>
          <a:xfrm>
            <a:off x="5989320" y="2761488"/>
            <a:ext cx="0" cy="758952"/>
          </a:xfrm>
          <a:prstGeom prst="line">
            <a:avLst/>
          </a:prstGeom>
          <a:noFill/>
          <a:ln w="15875">
            <a:solidFill>
              <a:srgbClr val="9AA0AE"/>
            </a:solidFill>
            <a:prstDash val="solid"/>
          </a:ln>
        </p:spPr>
      </p:sp>
      <p:sp>
        <p:nvSpPr>
          <p:cNvPr id="9" name="Shape 6"/>
          <p:cNvSpPr/>
          <p:nvPr/>
        </p:nvSpPr>
        <p:spPr>
          <a:xfrm>
            <a:off x="5989320" y="2761488"/>
            <a:ext cx="3520440" cy="758952"/>
          </a:xfrm>
          <a:prstGeom prst="line">
            <a:avLst/>
          </a:prstGeom>
          <a:noFill/>
          <a:ln w="15875">
            <a:solidFill>
              <a:srgbClr val="9AA0AE"/>
            </a:solidFill>
            <a:prstDash val="solid"/>
          </a:ln>
        </p:spPr>
      </p:sp>
      <p:sp>
        <p:nvSpPr>
          <p:cNvPr id="10" name="Shape 7"/>
          <p:cNvSpPr/>
          <p:nvPr/>
        </p:nvSpPr>
        <p:spPr>
          <a:xfrm flipH="1">
            <a:off x="1325880" y="3858768"/>
            <a:ext cx="1143000" cy="786384"/>
          </a:xfrm>
          <a:prstGeom prst="line">
            <a:avLst/>
          </a:prstGeom>
          <a:noFill/>
          <a:ln w="15875">
            <a:solidFill>
              <a:srgbClr val="9AA0AE"/>
            </a:solidFill>
            <a:prstDash val="solid"/>
          </a:ln>
        </p:spPr>
      </p:sp>
      <p:sp>
        <p:nvSpPr>
          <p:cNvPr id="11" name="Shape 8"/>
          <p:cNvSpPr/>
          <p:nvPr/>
        </p:nvSpPr>
        <p:spPr>
          <a:xfrm>
            <a:off x="2468880" y="3858768"/>
            <a:ext cx="0" cy="786384"/>
          </a:xfrm>
          <a:prstGeom prst="line">
            <a:avLst/>
          </a:prstGeom>
          <a:noFill/>
          <a:ln w="15875">
            <a:solidFill>
              <a:srgbClr val="9AA0AE"/>
            </a:solidFill>
            <a:prstDash val="solid"/>
          </a:ln>
        </p:spPr>
      </p:sp>
      <p:sp>
        <p:nvSpPr>
          <p:cNvPr id="12" name="Shape 9"/>
          <p:cNvSpPr/>
          <p:nvPr/>
        </p:nvSpPr>
        <p:spPr>
          <a:xfrm>
            <a:off x="2468880" y="3858768"/>
            <a:ext cx="1143000" cy="786384"/>
          </a:xfrm>
          <a:prstGeom prst="line">
            <a:avLst/>
          </a:prstGeom>
          <a:noFill/>
          <a:ln w="15875">
            <a:solidFill>
              <a:srgbClr val="9AA0AE"/>
            </a:solidFill>
            <a:prstDash val="solid"/>
          </a:ln>
        </p:spPr>
      </p:sp>
      <p:sp>
        <p:nvSpPr>
          <p:cNvPr id="13" name="Shape 10"/>
          <p:cNvSpPr/>
          <p:nvPr/>
        </p:nvSpPr>
        <p:spPr>
          <a:xfrm flipH="1">
            <a:off x="4846320" y="3858768"/>
            <a:ext cx="1143000" cy="786384"/>
          </a:xfrm>
          <a:prstGeom prst="line">
            <a:avLst/>
          </a:prstGeom>
          <a:noFill/>
          <a:ln w="15875">
            <a:solidFill>
              <a:srgbClr val="9AA0AE"/>
            </a:solidFill>
            <a:prstDash val="solid"/>
          </a:ln>
        </p:spPr>
      </p:sp>
      <p:sp>
        <p:nvSpPr>
          <p:cNvPr id="14" name="Shape 11"/>
          <p:cNvSpPr/>
          <p:nvPr/>
        </p:nvSpPr>
        <p:spPr>
          <a:xfrm>
            <a:off x="5989320" y="3858768"/>
            <a:ext cx="0" cy="786384"/>
          </a:xfrm>
          <a:prstGeom prst="line">
            <a:avLst/>
          </a:prstGeom>
          <a:noFill/>
          <a:ln w="15875">
            <a:solidFill>
              <a:srgbClr val="D2D6DE"/>
            </a:solidFill>
            <a:prstDash val="dash"/>
          </a:ln>
        </p:spPr>
      </p:sp>
      <p:sp>
        <p:nvSpPr>
          <p:cNvPr id="15" name="Shape 12"/>
          <p:cNvSpPr/>
          <p:nvPr/>
        </p:nvSpPr>
        <p:spPr>
          <a:xfrm>
            <a:off x="5989320" y="3858768"/>
            <a:ext cx="1143000" cy="786384"/>
          </a:xfrm>
          <a:prstGeom prst="line">
            <a:avLst/>
          </a:prstGeom>
          <a:noFill/>
          <a:ln w="15875">
            <a:solidFill>
              <a:srgbClr val="D2D6DE"/>
            </a:solidFill>
            <a:prstDash val="dash"/>
          </a:ln>
        </p:spPr>
      </p:sp>
      <p:sp>
        <p:nvSpPr>
          <p:cNvPr id="16" name="Shape 13"/>
          <p:cNvSpPr/>
          <p:nvPr/>
        </p:nvSpPr>
        <p:spPr>
          <a:xfrm flipH="1">
            <a:off x="8366760" y="3858768"/>
            <a:ext cx="1143000" cy="786384"/>
          </a:xfrm>
          <a:prstGeom prst="line">
            <a:avLst/>
          </a:prstGeom>
          <a:noFill/>
          <a:ln w="15875">
            <a:solidFill>
              <a:srgbClr val="9AA0AE"/>
            </a:solidFill>
            <a:prstDash val="solid"/>
          </a:ln>
        </p:spPr>
      </p:sp>
      <p:sp>
        <p:nvSpPr>
          <p:cNvPr id="17" name="Shape 14"/>
          <p:cNvSpPr/>
          <p:nvPr/>
        </p:nvSpPr>
        <p:spPr>
          <a:xfrm>
            <a:off x="9509760" y="3858768"/>
            <a:ext cx="0" cy="786384"/>
          </a:xfrm>
          <a:prstGeom prst="line">
            <a:avLst/>
          </a:prstGeom>
          <a:noFill/>
          <a:ln w="15875">
            <a:solidFill>
              <a:srgbClr val="9AA0AE"/>
            </a:solidFill>
            <a:prstDash val="solid"/>
          </a:ln>
        </p:spPr>
      </p:sp>
      <p:sp>
        <p:nvSpPr>
          <p:cNvPr id="18" name="Shape 15"/>
          <p:cNvSpPr/>
          <p:nvPr/>
        </p:nvSpPr>
        <p:spPr>
          <a:xfrm>
            <a:off x="9509760" y="3858768"/>
            <a:ext cx="1143000" cy="786384"/>
          </a:xfrm>
          <a:prstGeom prst="line">
            <a:avLst/>
          </a:prstGeom>
          <a:noFill/>
          <a:ln w="15875">
            <a:solidFill>
              <a:srgbClr val="9AA0AE"/>
            </a:solidFill>
            <a:prstDash val="solid"/>
          </a:ln>
        </p:spPr>
      </p:sp>
      <p:sp>
        <p:nvSpPr>
          <p:cNvPr id="19" name="Shape 16"/>
          <p:cNvSpPr/>
          <p:nvPr/>
        </p:nvSpPr>
        <p:spPr>
          <a:xfrm>
            <a:off x="5751576" y="2368296"/>
            <a:ext cx="475488" cy="475488"/>
          </a:xfrm>
          <a:prstGeom prst="triangle">
            <a:avLst/>
          </a:prstGeom>
          <a:solidFill>
            <a:srgbClr val="C2410C"/>
          </a:solidFill>
          <a:ln w="12700">
            <a:solidFill>
              <a:srgbClr val="C2410C"/>
            </a:solidFill>
            <a:prstDash val="solid"/>
          </a:ln>
        </p:spPr>
      </p:sp>
      <p:sp>
        <p:nvSpPr>
          <p:cNvPr id="20" name="Text 17"/>
          <p:cNvSpPr/>
          <p:nvPr/>
        </p:nvSpPr>
        <p:spPr>
          <a:xfrm>
            <a:off x="5349240" y="2459736"/>
            <a:ext cx="12801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Shape 18"/>
          <p:cNvSpPr/>
          <p:nvPr/>
        </p:nvSpPr>
        <p:spPr>
          <a:xfrm rot="10800000">
            <a:off x="2231136" y="3465576"/>
            <a:ext cx="475488" cy="475488"/>
          </a:xfrm>
          <a:prstGeom prst="triangle">
            <a:avLst/>
          </a:prstGeom>
          <a:solidFill>
            <a:srgbClr val="1D4E63"/>
          </a:solidFill>
          <a:ln w="12700">
            <a:solidFill>
              <a:srgbClr val="1D4E63"/>
            </a:solidFill>
            <a:prstDash val="solid"/>
          </a:ln>
        </p:spPr>
      </p:sp>
      <p:sp>
        <p:nvSpPr>
          <p:cNvPr id="22" name="Text 19"/>
          <p:cNvSpPr/>
          <p:nvPr/>
        </p:nvSpPr>
        <p:spPr>
          <a:xfrm>
            <a:off x="1828800" y="3557016"/>
            <a:ext cx="12801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Shape 20"/>
          <p:cNvSpPr/>
          <p:nvPr/>
        </p:nvSpPr>
        <p:spPr>
          <a:xfrm rot="10800000">
            <a:off x="5751576" y="3465576"/>
            <a:ext cx="475488" cy="475488"/>
          </a:xfrm>
          <a:prstGeom prst="triangle">
            <a:avLst/>
          </a:prstGeom>
          <a:solidFill>
            <a:srgbClr val="1D4E63"/>
          </a:solidFill>
          <a:ln w="12700">
            <a:solidFill>
              <a:srgbClr val="1D4E63"/>
            </a:solidFill>
            <a:prstDash val="solid"/>
          </a:ln>
        </p:spPr>
      </p:sp>
      <p:sp>
        <p:nvSpPr>
          <p:cNvPr id="24" name="Text 21"/>
          <p:cNvSpPr/>
          <p:nvPr/>
        </p:nvSpPr>
        <p:spPr>
          <a:xfrm>
            <a:off x="5349240" y="3557016"/>
            <a:ext cx="12801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2</a:t>
            </a:r>
            <a:endParaRPr lang="en-US" sz="1200" dirty="0"/>
          </a:p>
        </p:txBody>
      </p:sp>
      <p:sp>
        <p:nvSpPr>
          <p:cNvPr id="25" name="Shape 22"/>
          <p:cNvSpPr/>
          <p:nvPr/>
        </p:nvSpPr>
        <p:spPr>
          <a:xfrm rot="10800000">
            <a:off x="9272016" y="3465576"/>
            <a:ext cx="475488" cy="475488"/>
          </a:xfrm>
          <a:prstGeom prst="triangle">
            <a:avLst/>
          </a:prstGeom>
          <a:solidFill>
            <a:srgbClr val="1D4E63"/>
          </a:solidFill>
          <a:ln w="12700">
            <a:solidFill>
              <a:srgbClr val="1D4E63"/>
            </a:solidFill>
            <a:prstDash val="solid"/>
          </a:ln>
        </p:spPr>
      </p:sp>
      <p:sp>
        <p:nvSpPr>
          <p:cNvPr id="26" name="Text 23"/>
          <p:cNvSpPr/>
          <p:nvPr/>
        </p:nvSpPr>
        <p:spPr>
          <a:xfrm>
            <a:off x="8869680" y="3557016"/>
            <a:ext cx="12801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7" name="Shape 24"/>
          <p:cNvSpPr/>
          <p:nvPr/>
        </p:nvSpPr>
        <p:spPr>
          <a:xfrm>
            <a:off x="1133856" y="4654296"/>
            <a:ext cx="384048" cy="384048"/>
          </a:xfrm>
          <a:prstGeom prst="rect">
            <a:avLst/>
          </a:prstGeom>
          <a:solidFill>
            <a:srgbClr val="E4E6EB"/>
          </a:solidFill>
          <a:ln w="12700">
            <a:solidFill>
              <a:srgbClr val="A6ACBA"/>
            </a:solidFill>
            <a:prstDash val="solid"/>
          </a:ln>
        </p:spPr>
      </p:sp>
      <p:sp>
        <p:nvSpPr>
          <p:cNvPr id="28" name="Text 25"/>
          <p:cNvSpPr/>
          <p:nvPr/>
        </p:nvSpPr>
        <p:spPr>
          <a:xfrm>
            <a:off x="685800" y="4700016"/>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3</a:t>
            </a:r>
            <a:endParaRPr lang="en-US" sz="1200" dirty="0"/>
          </a:p>
        </p:txBody>
      </p:sp>
      <p:sp>
        <p:nvSpPr>
          <p:cNvPr id="29" name="Shape 26"/>
          <p:cNvSpPr/>
          <p:nvPr/>
        </p:nvSpPr>
        <p:spPr>
          <a:xfrm>
            <a:off x="2276856" y="4654296"/>
            <a:ext cx="384048" cy="384048"/>
          </a:xfrm>
          <a:prstGeom prst="rect">
            <a:avLst/>
          </a:prstGeom>
          <a:solidFill>
            <a:srgbClr val="E4E6EB"/>
          </a:solidFill>
          <a:ln w="12700">
            <a:solidFill>
              <a:srgbClr val="A6ACBA"/>
            </a:solidFill>
            <a:prstDash val="solid"/>
          </a:ln>
        </p:spPr>
      </p:sp>
      <p:sp>
        <p:nvSpPr>
          <p:cNvPr id="30" name="Text 27"/>
          <p:cNvSpPr/>
          <p:nvPr/>
        </p:nvSpPr>
        <p:spPr>
          <a:xfrm>
            <a:off x="1828800" y="4700016"/>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12</a:t>
            </a:r>
            <a:endParaRPr lang="en-US" sz="1200" dirty="0"/>
          </a:p>
        </p:txBody>
      </p:sp>
      <p:sp>
        <p:nvSpPr>
          <p:cNvPr id="31" name="Shape 28"/>
          <p:cNvSpPr/>
          <p:nvPr/>
        </p:nvSpPr>
        <p:spPr>
          <a:xfrm>
            <a:off x="3419856" y="4654296"/>
            <a:ext cx="384048" cy="384048"/>
          </a:xfrm>
          <a:prstGeom prst="rect">
            <a:avLst/>
          </a:prstGeom>
          <a:solidFill>
            <a:srgbClr val="E4E6EB"/>
          </a:solidFill>
          <a:ln w="12700">
            <a:solidFill>
              <a:srgbClr val="A6ACBA"/>
            </a:solidFill>
            <a:prstDash val="solid"/>
          </a:ln>
        </p:spPr>
      </p:sp>
      <p:sp>
        <p:nvSpPr>
          <p:cNvPr id="32" name="Text 29"/>
          <p:cNvSpPr/>
          <p:nvPr/>
        </p:nvSpPr>
        <p:spPr>
          <a:xfrm>
            <a:off x="2971800" y="4700016"/>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8</a:t>
            </a:r>
            <a:endParaRPr lang="en-US" sz="1200" dirty="0"/>
          </a:p>
        </p:txBody>
      </p:sp>
      <p:sp>
        <p:nvSpPr>
          <p:cNvPr id="33" name="Shape 30"/>
          <p:cNvSpPr/>
          <p:nvPr/>
        </p:nvSpPr>
        <p:spPr>
          <a:xfrm>
            <a:off x="4654296" y="4654296"/>
            <a:ext cx="384048" cy="384048"/>
          </a:xfrm>
          <a:prstGeom prst="rect">
            <a:avLst/>
          </a:prstGeom>
          <a:solidFill>
            <a:srgbClr val="E4E6EB"/>
          </a:solidFill>
          <a:ln w="12700">
            <a:solidFill>
              <a:srgbClr val="A6ACBA"/>
            </a:solidFill>
            <a:prstDash val="solid"/>
          </a:ln>
        </p:spPr>
      </p:sp>
      <p:sp>
        <p:nvSpPr>
          <p:cNvPr id="34" name="Text 31"/>
          <p:cNvSpPr/>
          <p:nvPr/>
        </p:nvSpPr>
        <p:spPr>
          <a:xfrm>
            <a:off x="4206240" y="4700016"/>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2</a:t>
            </a:r>
            <a:endParaRPr lang="en-US" sz="1200" dirty="0"/>
          </a:p>
        </p:txBody>
      </p:sp>
      <p:sp>
        <p:nvSpPr>
          <p:cNvPr id="35" name="Shape 32"/>
          <p:cNvSpPr/>
          <p:nvPr/>
        </p:nvSpPr>
        <p:spPr>
          <a:xfrm>
            <a:off x="5797296" y="4654296"/>
            <a:ext cx="384048" cy="384048"/>
          </a:xfrm>
          <a:prstGeom prst="rect">
            <a:avLst/>
          </a:prstGeom>
          <a:solidFill>
            <a:srgbClr val="FFFFFF"/>
          </a:solidFill>
          <a:ln w="12700">
            <a:solidFill>
              <a:srgbClr val="C9CDD6"/>
            </a:solidFill>
            <a:prstDash val="dash"/>
          </a:ln>
        </p:spPr>
      </p:sp>
      <p:sp>
        <p:nvSpPr>
          <p:cNvPr id="36" name="Text 33"/>
          <p:cNvSpPr/>
          <p:nvPr/>
        </p:nvSpPr>
        <p:spPr>
          <a:xfrm>
            <a:off x="5532120" y="4700016"/>
            <a:ext cx="914400" cy="310896"/>
          </a:xfrm>
          <a:prstGeom prst="rect">
            <a:avLst/>
          </a:prstGeom>
          <a:noFill/>
          <a:ln/>
        </p:spPr>
        <p:txBody>
          <a:bodyPr wrap="square" lIns="0" tIns="0" rIns="0" bIns="0" rtlCol="0" anchor="ctr"/>
          <a:lstStyle/>
          <a:p>
            <a:pPr algn="ctr" indent="0" marL="0">
              <a:buNone/>
            </a:pPr>
            <a:r>
              <a:rPr lang="en-US" sz="1200" b="1" dirty="0">
                <a:solidFill>
                  <a:srgbClr val="AFB5C0"/>
                </a:solidFill>
                <a:latin typeface="Calibri" pitchFamily="34" charset="0"/>
                <a:ea typeface="Calibri" pitchFamily="34" charset="-122"/>
                <a:cs typeface="Calibri" pitchFamily="34" charset="-120"/>
              </a:rPr>
              <a:t>?</a:t>
            </a:r>
            <a:endParaRPr lang="en-US" sz="1200" dirty="0"/>
          </a:p>
        </p:txBody>
      </p:sp>
      <p:sp>
        <p:nvSpPr>
          <p:cNvPr id="37" name="Shape 34"/>
          <p:cNvSpPr/>
          <p:nvPr/>
        </p:nvSpPr>
        <p:spPr>
          <a:xfrm>
            <a:off x="6940296" y="4654296"/>
            <a:ext cx="384048" cy="384048"/>
          </a:xfrm>
          <a:prstGeom prst="rect">
            <a:avLst/>
          </a:prstGeom>
          <a:solidFill>
            <a:srgbClr val="FFFFFF"/>
          </a:solidFill>
          <a:ln w="12700">
            <a:solidFill>
              <a:srgbClr val="C9CDD6"/>
            </a:solidFill>
            <a:prstDash val="dash"/>
          </a:ln>
        </p:spPr>
      </p:sp>
      <p:sp>
        <p:nvSpPr>
          <p:cNvPr id="38" name="Text 35"/>
          <p:cNvSpPr/>
          <p:nvPr/>
        </p:nvSpPr>
        <p:spPr>
          <a:xfrm>
            <a:off x="6675120" y="4700016"/>
            <a:ext cx="914400" cy="310896"/>
          </a:xfrm>
          <a:prstGeom prst="rect">
            <a:avLst/>
          </a:prstGeom>
          <a:noFill/>
          <a:ln/>
        </p:spPr>
        <p:txBody>
          <a:bodyPr wrap="square" lIns="0" tIns="0" rIns="0" bIns="0" rtlCol="0" anchor="ctr"/>
          <a:lstStyle/>
          <a:p>
            <a:pPr algn="ctr" indent="0" marL="0">
              <a:buNone/>
            </a:pPr>
            <a:r>
              <a:rPr lang="en-US" sz="1200" b="1" dirty="0">
                <a:solidFill>
                  <a:srgbClr val="AFB5C0"/>
                </a:solidFill>
                <a:latin typeface="Calibri" pitchFamily="34" charset="0"/>
                <a:ea typeface="Calibri" pitchFamily="34" charset="-122"/>
                <a:cs typeface="Calibri" pitchFamily="34" charset="-120"/>
              </a:rPr>
              <a:t>?</a:t>
            </a:r>
            <a:endParaRPr lang="en-US" sz="1200" dirty="0"/>
          </a:p>
        </p:txBody>
      </p:sp>
      <p:sp>
        <p:nvSpPr>
          <p:cNvPr id="39" name="Shape 36"/>
          <p:cNvSpPr/>
          <p:nvPr/>
        </p:nvSpPr>
        <p:spPr>
          <a:xfrm>
            <a:off x="8174736" y="4654296"/>
            <a:ext cx="384048" cy="384048"/>
          </a:xfrm>
          <a:prstGeom prst="rect">
            <a:avLst/>
          </a:prstGeom>
          <a:solidFill>
            <a:srgbClr val="E4E6EB"/>
          </a:solidFill>
          <a:ln w="12700">
            <a:solidFill>
              <a:srgbClr val="A6ACBA"/>
            </a:solidFill>
            <a:prstDash val="solid"/>
          </a:ln>
        </p:spPr>
      </p:sp>
      <p:sp>
        <p:nvSpPr>
          <p:cNvPr id="40" name="Text 37"/>
          <p:cNvSpPr/>
          <p:nvPr/>
        </p:nvSpPr>
        <p:spPr>
          <a:xfrm>
            <a:off x="7726680" y="4700016"/>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14</a:t>
            </a:r>
            <a:endParaRPr lang="en-US" sz="1200" dirty="0"/>
          </a:p>
        </p:txBody>
      </p:sp>
      <p:sp>
        <p:nvSpPr>
          <p:cNvPr id="41" name="Shape 38"/>
          <p:cNvSpPr/>
          <p:nvPr/>
        </p:nvSpPr>
        <p:spPr>
          <a:xfrm>
            <a:off x="9317736" y="4654296"/>
            <a:ext cx="384048" cy="384048"/>
          </a:xfrm>
          <a:prstGeom prst="rect">
            <a:avLst/>
          </a:prstGeom>
          <a:solidFill>
            <a:srgbClr val="E4E6EB"/>
          </a:solidFill>
          <a:ln w="12700">
            <a:solidFill>
              <a:srgbClr val="A6ACBA"/>
            </a:solidFill>
            <a:prstDash val="solid"/>
          </a:ln>
        </p:spPr>
      </p:sp>
      <p:sp>
        <p:nvSpPr>
          <p:cNvPr id="42" name="Text 39"/>
          <p:cNvSpPr/>
          <p:nvPr/>
        </p:nvSpPr>
        <p:spPr>
          <a:xfrm>
            <a:off x="8869680" y="4700016"/>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5</a:t>
            </a:r>
            <a:endParaRPr lang="en-US" sz="1200" dirty="0"/>
          </a:p>
        </p:txBody>
      </p:sp>
      <p:sp>
        <p:nvSpPr>
          <p:cNvPr id="43" name="Shape 40"/>
          <p:cNvSpPr/>
          <p:nvPr/>
        </p:nvSpPr>
        <p:spPr>
          <a:xfrm>
            <a:off x="10460736" y="4654296"/>
            <a:ext cx="384048" cy="384048"/>
          </a:xfrm>
          <a:prstGeom prst="rect">
            <a:avLst/>
          </a:prstGeom>
          <a:solidFill>
            <a:srgbClr val="E4E6EB"/>
          </a:solidFill>
          <a:ln w="12700">
            <a:solidFill>
              <a:srgbClr val="A6ACBA"/>
            </a:solidFill>
            <a:prstDash val="solid"/>
          </a:ln>
        </p:spPr>
      </p:sp>
      <p:sp>
        <p:nvSpPr>
          <p:cNvPr id="44" name="Text 41"/>
          <p:cNvSpPr/>
          <p:nvPr/>
        </p:nvSpPr>
        <p:spPr>
          <a:xfrm>
            <a:off x="10012680" y="4700016"/>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2</a:t>
            </a:r>
            <a:endParaRPr lang="en-US" sz="1200" dirty="0"/>
          </a:p>
        </p:txBody>
      </p:sp>
      <p:sp>
        <p:nvSpPr>
          <p:cNvPr id="45" name="Text 42"/>
          <p:cNvSpPr/>
          <p:nvPr/>
        </p:nvSpPr>
        <p:spPr>
          <a:xfrm>
            <a:off x="1691640" y="3529584"/>
            <a:ext cx="457200" cy="292608"/>
          </a:xfrm>
          <a:prstGeom prst="rect">
            <a:avLst/>
          </a:prstGeom>
          <a:noFill/>
          <a:ln/>
        </p:spPr>
        <p:txBody>
          <a:bodyPr wrap="square" lIns="0" tIns="0" rIns="0" bIns="0" rtlCol="0" anchor="ctr"/>
          <a:lstStyle/>
          <a:p>
            <a:pPr algn="r" indent="0" marL="0">
              <a:buNone/>
            </a:pPr>
            <a:r>
              <a:rPr lang="en-US" sz="1200" i="1" dirty="0">
                <a:solidFill>
                  <a:srgbClr val="8A8F9C"/>
                </a:solidFill>
                <a:latin typeface="Calibri" pitchFamily="34" charset="0"/>
                <a:ea typeface="Calibri" pitchFamily="34" charset="-122"/>
                <a:cs typeface="Calibri" pitchFamily="34" charset="-120"/>
              </a:rPr>
              <a:t>B</a:t>
            </a:r>
            <a:endParaRPr lang="en-US" sz="1200" dirty="0"/>
          </a:p>
        </p:txBody>
      </p:sp>
      <p:sp>
        <p:nvSpPr>
          <p:cNvPr id="46" name="Text 43"/>
          <p:cNvSpPr/>
          <p:nvPr/>
        </p:nvSpPr>
        <p:spPr>
          <a:xfrm>
            <a:off x="5212080" y="3529584"/>
            <a:ext cx="457200" cy="292608"/>
          </a:xfrm>
          <a:prstGeom prst="rect">
            <a:avLst/>
          </a:prstGeom>
          <a:noFill/>
          <a:ln/>
        </p:spPr>
        <p:txBody>
          <a:bodyPr wrap="square" lIns="0" tIns="0" rIns="0" bIns="0" rtlCol="0" anchor="ctr"/>
          <a:lstStyle/>
          <a:p>
            <a:pPr algn="r" indent="0" marL="0">
              <a:buNone/>
            </a:pPr>
            <a:r>
              <a:rPr lang="en-US" sz="1200" i="1" dirty="0">
                <a:solidFill>
                  <a:srgbClr val="8A8F9C"/>
                </a:solidFill>
                <a:latin typeface="Calibri" pitchFamily="34" charset="0"/>
                <a:ea typeface="Calibri" pitchFamily="34" charset="-122"/>
                <a:cs typeface="Calibri" pitchFamily="34" charset="-120"/>
              </a:rPr>
              <a:t>C</a:t>
            </a:r>
            <a:endParaRPr lang="en-US" sz="1200" dirty="0"/>
          </a:p>
        </p:txBody>
      </p:sp>
      <p:sp>
        <p:nvSpPr>
          <p:cNvPr id="47" name="Text 44"/>
          <p:cNvSpPr/>
          <p:nvPr/>
        </p:nvSpPr>
        <p:spPr>
          <a:xfrm>
            <a:off x="8732520" y="3529584"/>
            <a:ext cx="457200" cy="292608"/>
          </a:xfrm>
          <a:prstGeom prst="rect">
            <a:avLst/>
          </a:prstGeom>
          <a:noFill/>
          <a:ln/>
        </p:spPr>
        <p:txBody>
          <a:bodyPr wrap="square" lIns="0" tIns="0" rIns="0" bIns="0" rtlCol="0" anchor="ctr"/>
          <a:lstStyle/>
          <a:p>
            <a:pPr algn="r" indent="0" marL="0">
              <a:buNone/>
            </a:pPr>
            <a:r>
              <a:rPr lang="en-US" sz="1200" i="1" dirty="0">
                <a:solidFill>
                  <a:srgbClr val="8A8F9C"/>
                </a:solidFill>
                <a:latin typeface="Calibri" pitchFamily="34" charset="0"/>
                <a:ea typeface="Calibri" pitchFamily="34" charset="-122"/>
                <a:cs typeface="Calibri" pitchFamily="34" charset="-120"/>
              </a:rPr>
              <a:t>D</a:t>
            </a:r>
            <a:endParaRPr lang="en-US" sz="1200" dirty="0"/>
          </a:p>
        </p:txBody>
      </p:sp>
      <p:sp>
        <p:nvSpPr>
          <p:cNvPr id="48" name="Text 45"/>
          <p:cNvSpPr/>
          <p:nvPr/>
        </p:nvSpPr>
        <p:spPr>
          <a:xfrm>
            <a:off x="566928" y="1444752"/>
            <a:ext cx="11064240" cy="402336"/>
          </a:xfrm>
          <a:prstGeom prst="rect">
            <a:avLst/>
          </a:prstGeom>
          <a:noFill/>
          <a:ln/>
        </p:spPr>
        <p:txBody>
          <a:bodyPr wrap="square" lIns="0" tIns="0" rIns="0" bIns="0" rtlCol="0" anchor="ctr"/>
          <a:lstStyle/>
          <a:p>
            <a:pPr indent="0" marL="0">
              <a:buNone/>
            </a:pPr>
            <a:r>
              <a:rPr lang="en-US" sz="1350" dirty="0">
                <a:solidFill>
                  <a:srgbClr val="3A3F4C"/>
                </a:solidFill>
                <a:latin typeface="Calibri" pitchFamily="34" charset="0"/>
                <a:ea typeface="Calibri" pitchFamily="34" charset="-122"/>
                <a:cs typeface="Calibri" pitchFamily="34" charset="-120"/>
              </a:rPr>
              <a:t>Let C’s two unexamined leaves have unknown values x and y. The root value is max(3, min(2, x, y), 2) = max(3, 2, 2) = 3, whatever x and y turn out to be.</a:t>
            </a:r>
            <a:endParaRPr lang="en-US" sz="1350" dirty="0"/>
          </a:p>
        </p:txBody>
      </p:sp>
      <p:sp>
        <p:nvSpPr>
          <p:cNvPr id="49" name="Shape 46"/>
          <p:cNvSpPr/>
          <p:nvPr/>
        </p:nvSpPr>
        <p:spPr>
          <a:xfrm>
            <a:off x="566928" y="5413248"/>
            <a:ext cx="5394960" cy="777240"/>
          </a:xfrm>
          <a:prstGeom prst="roundRect">
            <a:avLst>
              <a:gd name="adj" fmla="val 8235"/>
            </a:avLst>
          </a:prstGeom>
          <a:solidFill>
            <a:srgbClr val="FDF2EC"/>
          </a:solidFill>
          <a:ln w="12700">
            <a:solidFill>
              <a:srgbClr val="FDF2EC"/>
            </a:solidFill>
            <a:prstDash val="solid"/>
          </a:ln>
        </p:spPr>
      </p:sp>
      <p:sp>
        <p:nvSpPr>
          <p:cNvPr id="50" name="Text 47"/>
          <p:cNvSpPr/>
          <p:nvPr/>
        </p:nvSpPr>
        <p:spPr>
          <a:xfrm>
            <a:off x="822960" y="5413248"/>
            <a:ext cx="4983480" cy="777240"/>
          </a:xfrm>
          <a:prstGeom prst="rect">
            <a:avLst/>
          </a:prstGeom>
          <a:noFill/>
          <a:ln/>
        </p:spPr>
        <p:txBody>
          <a:bodyPr wrap="square" lIns="0" tIns="0" rIns="0" bIns="0" rtlCol="0" anchor="ctr"/>
          <a:lstStyle/>
          <a:p>
            <a:pPr indent="0" marL="0">
              <a:buNone/>
            </a:pPr>
            <a:r>
              <a:rPr lang="en-US" sz="1300" b="1" dirty="0">
                <a:solidFill>
                  <a:srgbClr val="C2410C"/>
                </a:solidFill>
                <a:latin typeface="Calibri" pitchFamily="34" charset="0"/>
                <a:ea typeface="Calibri" pitchFamily="34" charset="-122"/>
                <a:cs typeface="Calibri" pitchFamily="34" charset="-120"/>
              </a:rPr>
              <a:t>The minimax decision is independent of x and y, so both subtrees can be pruned.</a:t>
            </a:r>
            <a:endParaRPr lang="en-US" sz="1300" dirty="0"/>
          </a:p>
        </p:txBody>
      </p:sp>
      <p:sp>
        <p:nvSpPr>
          <p:cNvPr id="51" name="Shape 48"/>
          <p:cNvSpPr/>
          <p:nvPr/>
        </p:nvSpPr>
        <p:spPr>
          <a:xfrm>
            <a:off x="6236208" y="5413248"/>
            <a:ext cx="5394960" cy="777240"/>
          </a:xfrm>
          <a:prstGeom prst="roundRect">
            <a:avLst>
              <a:gd name="adj" fmla="val 8235"/>
            </a:avLst>
          </a:prstGeom>
          <a:solidFill>
            <a:srgbClr val="F1F2F5"/>
          </a:solidFill>
          <a:ln w="12700">
            <a:solidFill>
              <a:srgbClr val="F1F2F5"/>
            </a:solidFill>
            <a:prstDash val="solid"/>
          </a:ln>
        </p:spPr>
      </p:sp>
      <p:sp>
        <p:nvSpPr>
          <p:cNvPr id="52" name="Text 49"/>
          <p:cNvSpPr/>
          <p:nvPr/>
        </p:nvSpPr>
        <p:spPr>
          <a:xfrm>
            <a:off x="6492240" y="5413248"/>
            <a:ext cx="4983480" cy="777240"/>
          </a:xfrm>
          <a:prstGeom prst="rect">
            <a:avLst/>
          </a:prstGeom>
          <a:noFill/>
          <a:ln/>
        </p:spPr>
        <p:txBody>
          <a:bodyPr wrap="square" lIns="0" tIns="0" rIns="0" bIns="0" rtlCol="0" anchor="ctr"/>
          <a:lstStyle/>
          <a:p>
            <a:pPr indent="0" marL="0">
              <a:buNone/>
            </a:pPr>
            <a:r>
              <a:rPr lang="en-US" sz="1300" dirty="0">
                <a:solidFill>
                  <a:srgbClr val="3A3F4C"/>
                </a:solidFill>
                <a:latin typeface="Calibri" pitchFamily="34" charset="0"/>
                <a:ea typeface="Calibri" pitchFamily="34" charset="-122"/>
                <a:cs typeface="Calibri" pitchFamily="34" charset="-120"/>
              </a:rPr>
              <a:t>D survives: its first leaf is 14, still above MAX’s current best of 3, so D must be explored.</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AIMA FIGURE 5.5</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The same calculation, one observation at a time</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15</a:t>
            </a:r>
            <a:endParaRPr lang="en-US" sz="900" dirty="0"/>
          </a:p>
        </p:txBody>
      </p:sp>
      <p:sp>
        <p:nvSpPr>
          <p:cNvPr id="7" name="Shape 4"/>
          <p:cNvSpPr/>
          <p:nvPr/>
        </p:nvSpPr>
        <p:spPr>
          <a:xfrm>
            <a:off x="566928" y="1463040"/>
            <a:ext cx="7315200" cy="658368"/>
          </a:xfrm>
          <a:prstGeom prst="roundRect">
            <a:avLst>
              <a:gd name="adj" fmla="val 9722"/>
            </a:avLst>
          </a:prstGeom>
          <a:solidFill>
            <a:srgbClr val="F1F2F5"/>
          </a:solidFill>
          <a:ln w="12700">
            <a:solidFill>
              <a:srgbClr val="F1F2F5"/>
            </a:solidFill>
            <a:prstDash val="solid"/>
          </a:ln>
        </p:spPr>
      </p:sp>
      <p:sp>
        <p:nvSpPr>
          <p:cNvPr id="8" name="Shape 5"/>
          <p:cNvSpPr/>
          <p:nvPr/>
        </p:nvSpPr>
        <p:spPr>
          <a:xfrm>
            <a:off x="786384" y="1591056"/>
            <a:ext cx="402336" cy="402336"/>
          </a:xfrm>
          <a:prstGeom prst="ellipse">
            <a:avLst/>
          </a:prstGeom>
          <a:solidFill>
            <a:srgbClr val="D6DAE2"/>
          </a:solidFill>
          <a:ln w="12700">
            <a:solidFill>
              <a:srgbClr val="D6DAE2"/>
            </a:solidFill>
            <a:prstDash val="solid"/>
          </a:ln>
        </p:spPr>
      </p:sp>
      <p:sp>
        <p:nvSpPr>
          <p:cNvPr id="9" name="Text 6"/>
          <p:cNvSpPr/>
          <p:nvPr/>
        </p:nvSpPr>
        <p:spPr>
          <a:xfrm>
            <a:off x="786384" y="1591056"/>
            <a:ext cx="402336" cy="402336"/>
          </a:xfrm>
          <a:prstGeom prst="rect">
            <a:avLst/>
          </a:prstGeom>
          <a:noFill/>
          <a:ln/>
        </p:spPr>
        <p:txBody>
          <a:bodyPr wrap="square" lIns="0" tIns="0" rIns="0" bIns="0" rtlCol="0" anchor="ctr"/>
          <a:lstStyle/>
          <a:p>
            <a:pPr algn="ctr" indent="0" marL="0">
              <a:buNone/>
            </a:pPr>
            <a:r>
              <a:rPr lang="en-US" sz="1300" b="1" dirty="0">
                <a:solidFill>
                  <a:srgbClr val="1C1F2A"/>
                </a:solidFill>
                <a:latin typeface="Cambria" pitchFamily="34" charset="0"/>
                <a:ea typeface="Cambria" pitchFamily="34" charset="-122"/>
                <a:cs typeface="Cambria" pitchFamily="34" charset="-120"/>
              </a:rPr>
              <a:t>a</a:t>
            </a:r>
            <a:endParaRPr lang="en-US" sz="1300" dirty="0"/>
          </a:p>
        </p:txBody>
      </p:sp>
      <p:sp>
        <p:nvSpPr>
          <p:cNvPr id="10" name="Text 7"/>
          <p:cNvSpPr/>
          <p:nvPr/>
        </p:nvSpPr>
        <p:spPr>
          <a:xfrm>
            <a:off x="1325880" y="1463040"/>
            <a:ext cx="6400800" cy="658368"/>
          </a:xfrm>
          <a:prstGeom prst="rect">
            <a:avLst/>
          </a:prstGeom>
          <a:noFill/>
          <a:ln/>
        </p:spPr>
        <p:txBody>
          <a:bodyPr wrap="square" lIns="0" tIns="0" rIns="0" bIns="0" rtlCol="0" anchor="ctr"/>
          <a:lstStyle/>
          <a:p>
            <a:pPr indent="0" marL="0">
              <a:buNone/>
            </a:pPr>
            <a:r>
              <a:rPr lang="en-US" sz="1280" dirty="0">
                <a:solidFill>
                  <a:srgbClr val="3A3F4C"/>
                </a:solidFill>
                <a:latin typeface="Calibri" pitchFamily="34" charset="0"/>
                <a:ea typeface="Calibri" pitchFamily="34" charset="-122"/>
                <a:cs typeface="Calibri" pitchFamily="34" charset="-120"/>
              </a:rPr>
              <a:t>First leaf under B is 3. B is a MIN node, so B ≤ 3.</a:t>
            </a:r>
            <a:endParaRPr lang="en-US" sz="1280" dirty="0"/>
          </a:p>
        </p:txBody>
      </p:sp>
      <p:sp>
        <p:nvSpPr>
          <p:cNvPr id="11" name="Shape 8"/>
          <p:cNvSpPr/>
          <p:nvPr/>
        </p:nvSpPr>
        <p:spPr>
          <a:xfrm>
            <a:off x="566928" y="2221992"/>
            <a:ext cx="7315200" cy="658368"/>
          </a:xfrm>
          <a:prstGeom prst="roundRect">
            <a:avLst>
              <a:gd name="adj" fmla="val 9722"/>
            </a:avLst>
          </a:prstGeom>
          <a:solidFill>
            <a:srgbClr val="F1F2F5"/>
          </a:solidFill>
          <a:ln w="12700">
            <a:solidFill>
              <a:srgbClr val="F1F2F5"/>
            </a:solidFill>
            <a:prstDash val="solid"/>
          </a:ln>
        </p:spPr>
      </p:sp>
      <p:sp>
        <p:nvSpPr>
          <p:cNvPr id="12" name="Shape 9"/>
          <p:cNvSpPr/>
          <p:nvPr/>
        </p:nvSpPr>
        <p:spPr>
          <a:xfrm>
            <a:off x="786384" y="2350008"/>
            <a:ext cx="402336" cy="402336"/>
          </a:xfrm>
          <a:prstGeom prst="ellipse">
            <a:avLst/>
          </a:prstGeom>
          <a:solidFill>
            <a:srgbClr val="D6DAE2"/>
          </a:solidFill>
          <a:ln w="12700">
            <a:solidFill>
              <a:srgbClr val="D6DAE2"/>
            </a:solidFill>
            <a:prstDash val="solid"/>
          </a:ln>
        </p:spPr>
      </p:sp>
      <p:sp>
        <p:nvSpPr>
          <p:cNvPr id="13" name="Text 10"/>
          <p:cNvSpPr/>
          <p:nvPr/>
        </p:nvSpPr>
        <p:spPr>
          <a:xfrm>
            <a:off x="786384" y="2350008"/>
            <a:ext cx="402336" cy="402336"/>
          </a:xfrm>
          <a:prstGeom prst="rect">
            <a:avLst/>
          </a:prstGeom>
          <a:noFill/>
          <a:ln/>
        </p:spPr>
        <p:txBody>
          <a:bodyPr wrap="square" lIns="0" tIns="0" rIns="0" bIns="0" rtlCol="0" anchor="ctr"/>
          <a:lstStyle/>
          <a:p>
            <a:pPr algn="ctr" indent="0" marL="0">
              <a:buNone/>
            </a:pPr>
            <a:r>
              <a:rPr lang="en-US" sz="1300" b="1" dirty="0">
                <a:solidFill>
                  <a:srgbClr val="1C1F2A"/>
                </a:solidFill>
                <a:latin typeface="Cambria" pitchFamily="34" charset="0"/>
                <a:ea typeface="Cambria" pitchFamily="34" charset="-122"/>
                <a:cs typeface="Cambria" pitchFamily="34" charset="-120"/>
              </a:rPr>
              <a:t>b</a:t>
            </a:r>
            <a:endParaRPr lang="en-US" sz="1300" dirty="0"/>
          </a:p>
        </p:txBody>
      </p:sp>
      <p:sp>
        <p:nvSpPr>
          <p:cNvPr id="14" name="Text 11"/>
          <p:cNvSpPr/>
          <p:nvPr/>
        </p:nvSpPr>
        <p:spPr>
          <a:xfrm>
            <a:off x="1325880" y="2221992"/>
            <a:ext cx="6400800" cy="658368"/>
          </a:xfrm>
          <a:prstGeom prst="rect">
            <a:avLst/>
          </a:prstGeom>
          <a:noFill/>
          <a:ln/>
        </p:spPr>
        <p:txBody>
          <a:bodyPr wrap="square" lIns="0" tIns="0" rIns="0" bIns="0" rtlCol="0" anchor="ctr"/>
          <a:lstStyle/>
          <a:p>
            <a:pPr indent="0" marL="0">
              <a:buNone/>
            </a:pPr>
            <a:r>
              <a:rPr lang="en-US" sz="1280" dirty="0">
                <a:solidFill>
                  <a:srgbClr val="3A3F4C"/>
                </a:solidFill>
                <a:latin typeface="Calibri" pitchFamily="34" charset="0"/>
                <a:ea typeface="Calibri" pitchFamily="34" charset="-122"/>
                <a:cs typeface="Calibri" pitchFamily="34" charset="-120"/>
              </a:rPr>
              <a:t>Second leaf under B is 12. MIN would avoid it, so B ≤ 3 still.</a:t>
            </a:r>
            <a:endParaRPr lang="en-US" sz="1280" dirty="0"/>
          </a:p>
        </p:txBody>
      </p:sp>
      <p:sp>
        <p:nvSpPr>
          <p:cNvPr id="15" name="Shape 12"/>
          <p:cNvSpPr/>
          <p:nvPr/>
        </p:nvSpPr>
        <p:spPr>
          <a:xfrm>
            <a:off x="566928" y="2980944"/>
            <a:ext cx="7315200" cy="658368"/>
          </a:xfrm>
          <a:prstGeom prst="roundRect">
            <a:avLst>
              <a:gd name="adj" fmla="val 9722"/>
            </a:avLst>
          </a:prstGeom>
          <a:solidFill>
            <a:srgbClr val="F1F2F5"/>
          </a:solidFill>
          <a:ln w="12700">
            <a:solidFill>
              <a:srgbClr val="F1F2F5"/>
            </a:solidFill>
            <a:prstDash val="solid"/>
          </a:ln>
        </p:spPr>
      </p:sp>
      <p:sp>
        <p:nvSpPr>
          <p:cNvPr id="16" name="Shape 13"/>
          <p:cNvSpPr/>
          <p:nvPr/>
        </p:nvSpPr>
        <p:spPr>
          <a:xfrm>
            <a:off x="786384" y="3108960"/>
            <a:ext cx="402336" cy="402336"/>
          </a:xfrm>
          <a:prstGeom prst="ellipse">
            <a:avLst/>
          </a:prstGeom>
          <a:solidFill>
            <a:srgbClr val="D6DAE2"/>
          </a:solidFill>
          <a:ln w="12700">
            <a:solidFill>
              <a:srgbClr val="D6DAE2"/>
            </a:solidFill>
            <a:prstDash val="solid"/>
          </a:ln>
        </p:spPr>
      </p:sp>
      <p:sp>
        <p:nvSpPr>
          <p:cNvPr id="17" name="Text 14"/>
          <p:cNvSpPr/>
          <p:nvPr/>
        </p:nvSpPr>
        <p:spPr>
          <a:xfrm>
            <a:off x="786384" y="3108960"/>
            <a:ext cx="402336" cy="402336"/>
          </a:xfrm>
          <a:prstGeom prst="rect">
            <a:avLst/>
          </a:prstGeom>
          <a:noFill/>
          <a:ln/>
        </p:spPr>
        <p:txBody>
          <a:bodyPr wrap="square" lIns="0" tIns="0" rIns="0" bIns="0" rtlCol="0" anchor="ctr"/>
          <a:lstStyle/>
          <a:p>
            <a:pPr algn="ctr" indent="0" marL="0">
              <a:buNone/>
            </a:pPr>
            <a:r>
              <a:rPr lang="en-US" sz="1300" b="1" dirty="0">
                <a:solidFill>
                  <a:srgbClr val="1C1F2A"/>
                </a:solidFill>
                <a:latin typeface="Cambria" pitchFamily="34" charset="0"/>
                <a:ea typeface="Cambria" pitchFamily="34" charset="-122"/>
                <a:cs typeface="Cambria" pitchFamily="34" charset="-120"/>
              </a:rPr>
              <a:t>c</a:t>
            </a:r>
            <a:endParaRPr lang="en-US" sz="1300" dirty="0"/>
          </a:p>
        </p:txBody>
      </p:sp>
      <p:sp>
        <p:nvSpPr>
          <p:cNvPr id="18" name="Text 15"/>
          <p:cNvSpPr/>
          <p:nvPr/>
        </p:nvSpPr>
        <p:spPr>
          <a:xfrm>
            <a:off x="1325880" y="2980944"/>
            <a:ext cx="6400800" cy="658368"/>
          </a:xfrm>
          <a:prstGeom prst="rect">
            <a:avLst/>
          </a:prstGeom>
          <a:noFill/>
          <a:ln/>
        </p:spPr>
        <p:txBody>
          <a:bodyPr wrap="square" lIns="0" tIns="0" rIns="0" bIns="0" rtlCol="0" anchor="ctr"/>
          <a:lstStyle/>
          <a:p>
            <a:pPr indent="0" marL="0">
              <a:buNone/>
            </a:pPr>
            <a:r>
              <a:rPr lang="en-US" sz="1280" dirty="0">
                <a:solidFill>
                  <a:srgbClr val="3A3F4C"/>
                </a:solidFill>
                <a:latin typeface="Calibri" pitchFamily="34" charset="0"/>
                <a:ea typeface="Calibri" pitchFamily="34" charset="-122"/>
                <a:cs typeface="Calibri" pitchFamily="34" charset="-120"/>
              </a:rPr>
              <a:t>Third leaf is 8. All of B’s children are seen, so B = 3 exactly. The root is now ≥ 3.</a:t>
            </a:r>
            <a:endParaRPr lang="en-US" sz="1280" dirty="0"/>
          </a:p>
        </p:txBody>
      </p:sp>
      <p:sp>
        <p:nvSpPr>
          <p:cNvPr id="19" name="Shape 16"/>
          <p:cNvSpPr/>
          <p:nvPr/>
        </p:nvSpPr>
        <p:spPr>
          <a:xfrm>
            <a:off x="566928" y="3739896"/>
            <a:ext cx="7315200" cy="658368"/>
          </a:xfrm>
          <a:prstGeom prst="roundRect">
            <a:avLst>
              <a:gd name="adj" fmla="val 9722"/>
            </a:avLst>
          </a:prstGeom>
          <a:solidFill>
            <a:srgbClr val="FDF2EC"/>
          </a:solidFill>
          <a:ln w="12700">
            <a:solidFill>
              <a:srgbClr val="FDF2EC"/>
            </a:solidFill>
            <a:prstDash val="solid"/>
          </a:ln>
        </p:spPr>
      </p:sp>
      <p:sp>
        <p:nvSpPr>
          <p:cNvPr id="20" name="Shape 17"/>
          <p:cNvSpPr/>
          <p:nvPr/>
        </p:nvSpPr>
        <p:spPr>
          <a:xfrm>
            <a:off x="786384" y="3867912"/>
            <a:ext cx="402336" cy="402336"/>
          </a:xfrm>
          <a:prstGeom prst="ellipse">
            <a:avLst/>
          </a:prstGeom>
          <a:solidFill>
            <a:srgbClr val="C2410C"/>
          </a:solidFill>
          <a:ln w="12700">
            <a:solidFill>
              <a:srgbClr val="C2410C"/>
            </a:solidFill>
            <a:prstDash val="solid"/>
          </a:ln>
        </p:spPr>
      </p:sp>
      <p:sp>
        <p:nvSpPr>
          <p:cNvPr id="21" name="Text 18"/>
          <p:cNvSpPr/>
          <p:nvPr/>
        </p:nvSpPr>
        <p:spPr>
          <a:xfrm>
            <a:off x="786384" y="38679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d</a:t>
            </a:r>
            <a:endParaRPr lang="en-US" sz="1300" dirty="0"/>
          </a:p>
        </p:txBody>
      </p:sp>
      <p:sp>
        <p:nvSpPr>
          <p:cNvPr id="22" name="Text 19"/>
          <p:cNvSpPr/>
          <p:nvPr/>
        </p:nvSpPr>
        <p:spPr>
          <a:xfrm>
            <a:off x="1325880" y="3739896"/>
            <a:ext cx="6400800" cy="658368"/>
          </a:xfrm>
          <a:prstGeom prst="rect">
            <a:avLst/>
          </a:prstGeom>
          <a:noFill/>
          <a:ln/>
        </p:spPr>
        <p:txBody>
          <a:bodyPr wrap="square" lIns="0" tIns="0" rIns="0" bIns="0" rtlCol="0" anchor="ctr"/>
          <a:lstStyle/>
          <a:p>
            <a:pPr indent="0" marL="0">
              <a:buNone/>
            </a:pPr>
            <a:r>
              <a:rPr lang="en-US" sz="1280" dirty="0">
                <a:solidFill>
                  <a:srgbClr val="3A3F4C"/>
                </a:solidFill>
                <a:latin typeface="Calibri" pitchFamily="34" charset="0"/>
                <a:ea typeface="Calibri" pitchFamily="34" charset="-122"/>
                <a:cs typeface="Calibri" pitchFamily="34" charset="-120"/>
              </a:rPr>
              <a:t>First leaf under C is 2, so C ≤ 2. But B is worth 3, so MAX will never choose C. Stop exploring C. This is the prune.</a:t>
            </a:r>
            <a:endParaRPr lang="en-US" sz="1280" dirty="0"/>
          </a:p>
        </p:txBody>
      </p:sp>
      <p:sp>
        <p:nvSpPr>
          <p:cNvPr id="23" name="Shape 20"/>
          <p:cNvSpPr/>
          <p:nvPr/>
        </p:nvSpPr>
        <p:spPr>
          <a:xfrm>
            <a:off x="566928" y="4498848"/>
            <a:ext cx="7315200" cy="658368"/>
          </a:xfrm>
          <a:prstGeom prst="roundRect">
            <a:avLst>
              <a:gd name="adj" fmla="val 9722"/>
            </a:avLst>
          </a:prstGeom>
          <a:solidFill>
            <a:srgbClr val="F1F2F5"/>
          </a:solidFill>
          <a:ln w="12700">
            <a:solidFill>
              <a:srgbClr val="F1F2F5"/>
            </a:solidFill>
            <a:prstDash val="solid"/>
          </a:ln>
        </p:spPr>
      </p:sp>
      <p:sp>
        <p:nvSpPr>
          <p:cNvPr id="24" name="Shape 21"/>
          <p:cNvSpPr/>
          <p:nvPr/>
        </p:nvSpPr>
        <p:spPr>
          <a:xfrm>
            <a:off x="786384" y="4626864"/>
            <a:ext cx="402336" cy="402336"/>
          </a:xfrm>
          <a:prstGeom prst="ellipse">
            <a:avLst/>
          </a:prstGeom>
          <a:solidFill>
            <a:srgbClr val="D6DAE2"/>
          </a:solidFill>
          <a:ln w="12700">
            <a:solidFill>
              <a:srgbClr val="D6DAE2"/>
            </a:solidFill>
            <a:prstDash val="solid"/>
          </a:ln>
        </p:spPr>
      </p:sp>
      <p:sp>
        <p:nvSpPr>
          <p:cNvPr id="25" name="Text 22"/>
          <p:cNvSpPr/>
          <p:nvPr/>
        </p:nvSpPr>
        <p:spPr>
          <a:xfrm>
            <a:off x="786384" y="4626864"/>
            <a:ext cx="402336" cy="402336"/>
          </a:xfrm>
          <a:prstGeom prst="rect">
            <a:avLst/>
          </a:prstGeom>
          <a:noFill/>
          <a:ln/>
        </p:spPr>
        <p:txBody>
          <a:bodyPr wrap="square" lIns="0" tIns="0" rIns="0" bIns="0" rtlCol="0" anchor="ctr"/>
          <a:lstStyle/>
          <a:p>
            <a:pPr algn="ctr" indent="0" marL="0">
              <a:buNone/>
            </a:pPr>
            <a:r>
              <a:rPr lang="en-US" sz="1300" b="1" dirty="0">
                <a:solidFill>
                  <a:srgbClr val="1C1F2A"/>
                </a:solidFill>
                <a:latin typeface="Cambria" pitchFamily="34" charset="0"/>
                <a:ea typeface="Cambria" pitchFamily="34" charset="-122"/>
                <a:cs typeface="Cambria" pitchFamily="34" charset="-120"/>
              </a:rPr>
              <a:t>e</a:t>
            </a:r>
            <a:endParaRPr lang="en-US" sz="1300" dirty="0"/>
          </a:p>
        </p:txBody>
      </p:sp>
      <p:sp>
        <p:nvSpPr>
          <p:cNvPr id="26" name="Text 23"/>
          <p:cNvSpPr/>
          <p:nvPr/>
        </p:nvSpPr>
        <p:spPr>
          <a:xfrm>
            <a:off x="1325880" y="4498848"/>
            <a:ext cx="6400800" cy="658368"/>
          </a:xfrm>
          <a:prstGeom prst="rect">
            <a:avLst/>
          </a:prstGeom>
          <a:noFill/>
          <a:ln/>
        </p:spPr>
        <p:txBody>
          <a:bodyPr wrap="square" lIns="0" tIns="0" rIns="0" bIns="0" rtlCol="0" anchor="ctr"/>
          <a:lstStyle/>
          <a:p>
            <a:pPr indent="0" marL="0">
              <a:buNone/>
            </a:pPr>
            <a:r>
              <a:rPr lang="en-US" sz="1280" dirty="0">
                <a:solidFill>
                  <a:srgbClr val="3A3F4C"/>
                </a:solidFill>
                <a:latin typeface="Calibri" pitchFamily="34" charset="0"/>
                <a:ea typeface="Calibri" pitchFamily="34" charset="-122"/>
                <a:cs typeface="Calibri" pitchFamily="34" charset="-120"/>
              </a:rPr>
              <a:t>First leaf under D is 14, so D ≤ 14. That is still above 3, so D must be explored. The root is now ≤ 14 as well.</a:t>
            </a:r>
            <a:endParaRPr lang="en-US" sz="1280" dirty="0"/>
          </a:p>
        </p:txBody>
      </p:sp>
      <p:sp>
        <p:nvSpPr>
          <p:cNvPr id="27" name="Shape 24"/>
          <p:cNvSpPr/>
          <p:nvPr/>
        </p:nvSpPr>
        <p:spPr>
          <a:xfrm>
            <a:off x="566928" y="5257800"/>
            <a:ext cx="7315200" cy="658368"/>
          </a:xfrm>
          <a:prstGeom prst="roundRect">
            <a:avLst>
              <a:gd name="adj" fmla="val 9722"/>
            </a:avLst>
          </a:prstGeom>
          <a:solidFill>
            <a:srgbClr val="F1F2F5"/>
          </a:solidFill>
          <a:ln w="12700">
            <a:solidFill>
              <a:srgbClr val="F1F2F5"/>
            </a:solidFill>
            <a:prstDash val="solid"/>
          </a:ln>
        </p:spPr>
      </p:sp>
      <p:sp>
        <p:nvSpPr>
          <p:cNvPr id="28" name="Shape 25"/>
          <p:cNvSpPr/>
          <p:nvPr/>
        </p:nvSpPr>
        <p:spPr>
          <a:xfrm>
            <a:off x="786384" y="5385816"/>
            <a:ext cx="402336" cy="402336"/>
          </a:xfrm>
          <a:prstGeom prst="ellipse">
            <a:avLst/>
          </a:prstGeom>
          <a:solidFill>
            <a:srgbClr val="D6DAE2"/>
          </a:solidFill>
          <a:ln w="12700">
            <a:solidFill>
              <a:srgbClr val="D6DAE2"/>
            </a:solidFill>
            <a:prstDash val="solid"/>
          </a:ln>
        </p:spPr>
      </p:sp>
      <p:sp>
        <p:nvSpPr>
          <p:cNvPr id="29" name="Text 26"/>
          <p:cNvSpPr/>
          <p:nvPr/>
        </p:nvSpPr>
        <p:spPr>
          <a:xfrm>
            <a:off x="786384" y="5385816"/>
            <a:ext cx="402336" cy="402336"/>
          </a:xfrm>
          <a:prstGeom prst="rect">
            <a:avLst/>
          </a:prstGeom>
          <a:noFill/>
          <a:ln/>
        </p:spPr>
        <p:txBody>
          <a:bodyPr wrap="square" lIns="0" tIns="0" rIns="0" bIns="0" rtlCol="0" anchor="ctr"/>
          <a:lstStyle/>
          <a:p>
            <a:pPr algn="ctr" indent="0" marL="0">
              <a:buNone/>
            </a:pPr>
            <a:r>
              <a:rPr lang="en-US" sz="1300" b="1" dirty="0">
                <a:solidFill>
                  <a:srgbClr val="1C1F2A"/>
                </a:solidFill>
                <a:latin typeface="Cambria" pitchFamily="34" charset="0"/>
                <a:ea typeface="Cambria" pitchFamily="34" charset="-122"/>
                <a:cs typeface="Cambria" pitchFamily="34" charset="-120"/>
              </a:rPr>
              <a:t>f</a:t>
            </a:r>
            <a:endParaRPr lang="en-US" sz="1300" dirty="0"/>
          </a:p>
        </p:txBody>
      </p:sp>
      <p:sp>
        <p:nvSpPr>
          <p:cNvPr id="30" name="Text 27"/>
          <p:cNvSpPr/>
          <p:nvPr/>
        </p:nvSpPr>
        <p:spPr>
          <a:xfrm>
            <a:off x="1325880" y="5257800"/>
            <a:ext cx="6400800" cy="658368"/>
          </a:xfrm>
          <a:prstGeom prst="rect">
            <a:avLst/>
          </a:prstGeom>
          <a:noFill/>
          <a:ln/>
        </p:spPr>
        <p:txBody>
          <a:bodyPr wrap="square" lIns="0" tIns="0" rIns="0" bIns="0" rtlCol="0" anchor="ctr"/>
          <a:lstStyle/>
          <a:p>
            <a:pPr indent="0" marL="0">
              <a:buNone/>
            </a:pPr>
            <a:r>
              <a:rPr lang="en-US" sz="1280" dirty="0">
                <a:solidFill>
                  <a:srgbClr val="3A3F4C"/>
                </a:solidFill>
                <a:latin typeface="Calibri" pitchFamily="34" charset="0"/>
                <a:ea typeface="Calibri" pitchFamily="34" charset="-122"/>
                <a:cs typeface="Calibri" pitchFamily="34" charset="-120"/>
              </a:rPr>
              <a:t>D’s next leaves are 5 then 2, so D = 2. MAX moves to B for a value of 3.</a:t>
            </a:r>
            <a:endParaRPr lang="en-US" sz="1280" dirty="0"/>
          </a:p>
        </p:txBody>
      </p:sp>
      <p:sp>
        <p:nvSpPr>
          <p:cNvPr id="31" name="Shape 28"/>
          <p:cNvSpPr/>
          <p:nvPr/>
        </p:nvSpPr>
        <p:spPr>
          <a:xfrm>
            <a:off x="8138160" y="1463040"/>
            <a:ext cx="3493008" cy="4160520"/>
          </a:xfrm>
          <a:prstGeom prst="roundRect">
            <a:avLst>
              <a:gd name="adj" fmla="val 1832"/>
            </a:avLst>
          </a:prstGeom>
          <a:solidFill>
            <a:srgbClr val="1C1F2A"/>
          </a:solidFill>
          <a:ln w="12700">
            <a:solidFill>
              <a:srgbClr val="1C1F2A"/>
            </a:solidFill>
            <a:prstDash val="solid"/>
          </a:ln>
        </p:spPr>
      </p:sp>
      <p:sp>
        <p:nvSpPr>
          <p:cNvPr id="32" name="Text 29"/>
          <p:cNvSpPr/>
          <p:nvPr/>
        </p:nvSpPr>
        <p:spPr>
          <a:xfrm>
            <a:off x="8412480" y="1691640"/>
            <a:ext cx="3017520" cy="640080"/>
          </a:xfrm>
          <a:prstGeom prst="rect">
            <a:avLst/>
          </a:prstGeom>
          <a:noFill/>
          <a:ln/>
        </p:spPr>
        <p:txBody>
          <a:bodyPr wrap="square" lIns="0" tIns="0" rIns="0" bIns="0" rtlCol="0" anchor="t"/>
          <a:lstStyle/>
          <a:p>
            <a:pPr indent="0" marL="0">
              <a:buNone/>
            </a:pPr>
            <a:r>
              <a:rPr lang="en-US" sz="1800" b="1" dirty="0">
                <a:solidFill>
                  <a:srgbClr val="B58500"/>
                </a:solidFill>
                <a:latin typeface="Cambria" pitchFamily="34" charset="0"/>
                <a:ea typeface="Cambria" pitchFamily="34" charset="-122"/>
                <a:cs typeface="Cambria" pitchFamily="34" charset="-120"/>
              </a:rPr>
              <a:t>The general principle</a:t>
            </a:r>
            <a:endParaRPr lang="en-US" sz="1800" dirty="0"/>
          </a:p>
        </p:txBody>
      </p:sp>
      <p:sp>
        <p:nvSpPr>
          <p:cNvPr id="33" name="Text 30"/>
          <p:cNvSpPr/>
          <p:nvPr/>
        </p:nvSpPr>
        <p:spPr>
          <a:xfrm>
            <a:off x="8412480" y="2377440"/>
            <a:ext cx="3017520" cy="3108960"/>
          </a:xfrm>
          <a:prstGeom prst="rect">
            <a:avLst/>
          </a:prstGeom>
          <a:noFill/>
          <a:ln/>
        </p:spPr>
        <p:txBody>
          <a:bodyPr wrap="square" lIns="0" tIns="0" rIns="0" bIns="0" rtlCol="0" anchor="t"/>
          <a:lstStyle/>
          <a:p>
            <a:pPr indent="0" marL="0">
              <a:buNone/>
            </a:pPr>
            <a:r>
              <a:rPr lang="en-US" sz="1300" dirty="0">
                <a:solidFill>
                  <a:srgbClr val="C6CBD8"/>
                </a:solidFill>
                <a:latin typeface="Calibri" pitchFamily="34" charset="0"/>
                <a:ea typeface="Calibri" pitchFamily="34" charset="-122"/>
                <a:cs typeface="Calibri" pitchFamily="34" charset="-120"/>
              </a:rPr>
              <a:t>Consider a node n that Player could move to. If Player has a better choice either at the same level or anywhere higher up the tree, Player will never actually move to n.</a:t>
            </a:r>
            <a:endParaRPr lang="en-US" sz="1300" dirty="0"/>
          </a:p>
          <a:p>
            <a:pPr indent="0" marL="0">
              <a:buNone/>
            </a:pPr>
            <a:endParaRPr lang="en-US" sz="1300" dirty="0"/>
          </a:p>
          <a:p>
            <a:pPr indent="0" marL="0">
              <a:buNone/>
            </a:pPr>
            <a:r>
              <a:rPr lang="en-US" sz="1300" dirty="0">
                <a:solidFill>
                  <a:srgbClr val="C6CBD8"/>
                </a:solidFill>
                <a:latin typeface="Calibri" pitchFamily="34" charset="0"/>
                <a:ea typeface="Calibri" pitchFamily="34" charset="-122"/>
                <a:cs typeface="Calibri" pitchFamily="34" charset="-120"/>
              </a:rPr>
              <a:t>So the moment we have learned enough about n to know that, we can prune n and everything beneath it.</a:t>
            </a:r>
            <a:endParaRPr lang="en-US" sz="1300" dirty="0"/>
          </a:p>
          <a:p>
            <a:pPr indent="0" marL="0">
              <a:buNone/>
            </a:pPr>
            <a:endParaRPr lang="en-US" sz="1300" dirty="0"/>
          </a:p>
          <a:p>
            <a:pPr indent="0" marL="0">
              <a:buNone/>
            </a:pPr>
            <a:r>
              <a:rPr lang="en-US" sz="1300" dirty="0">
                <a:solidFill>
                  <a:srgbClr val="C6CBD8"/>
                </a:solidFill>
                <a:latin typeface="Calibri" pitchFamily="34" charset="0"/>
                <a:ea typeface="Calibri" pitchFamily="34" charset="-122"/>
                <a:cs typeface="Calibri" pitchFamily="34" charset="-120"/>
              </a:rPr>
              <a:t>This works at any depth, and often prunes whole subtrees rather than single leaves.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5.2.3  THE ALGORITHM</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Alpha and beta are bounds carried along one path</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16</a:t>
            </a:r>
            <a:endParaRPr lang="en-US" sz="900" dirty="0"/>
          </a:p>
        </p:txBody>
      </p:sp>
      <p:sp>
        <p:nvSpPr>
          <p:cNvPr id="7" name="Shape 4"/>
          <p:cNvSpPr/>
          <p:nvPr/>
        </p:nvSpPr>
        <p:spPr>
          <a:xfrm>
            <a:off x="566928" y="1463040"/>
            <a:ext cx="5394960" cy="960120"/>
          </a:xfrm>
          <a:prstGeom prst="roundRect">
            <a:avLst>
              <a:gd name="adj" fmla="val 6667"/>
            </a:avLst>
          </a:prstGeom>
          <a:solidFill>
            <a:srgbClr val="FDF2EC"/>
          </a:solidFill>
          <a:ln w="12700">
            <a:solidFill>
              <a:srgbClr val="FDF2EC"/>
            </a:solidFill>
            <a:prstDash val="solid"/>
          </a:ln>
        </p:spPr>
      </p:sp>
      <p:sp>
        <p:nvSpPr>
          <p:cNvPr id="8" name="Text 5"/>
          <p:cNvSpPr/>
          <p:nvPr/>
        </p:nvSpPr>
        <p:spPr>
          <a:xfrm>
            <a:off x="841248" y="1572768"/>
            <a:ext cx="457200" cy="731520"/>
          </a:xfrm>
          <a:prstGeom prst="rect">
            <a:avLst/>
          </a:prstGeom>
          <a:noFill/>
          <a:ln/>
        </p:spPr>
        <p:txBody>
          <a:bodyPr wrap="square" lIns="0" tIns="0" rIns="0" bIns="0" rtlCol="0" anchor="ctr"/>
          <a:lstStyle/>
          <a:p>
            <a:pPr indent="0" marL="0">
              <a:buNone/>
            </a:pPr>
            <a:r>
              <a:rPr lang="en-US" sz="3000" b="1" dirty="0">
                <a:solidFill>
                  <a:srgbClr val="C2410C"/>
                </a:solidFill>
                <a:latin typeface="Cambria" pitchFamily="34" charset="0"/>
                <a:ea typeface="Cambria" pitchFamily="34" charset="-122"/>
                <a:cs typeface="Cambria" pitchFamily="34" charset="-120"/>
              </a:rPr>
              <a:t>α</a:t>
            </a:r>
            <a:endParaRPr lang="en-US" sz="3000" dirty="0"/>
          </a:p>
        </p:txBody>
      </p:sp>
      <p:sp>
        <p:nvSpPr>
          <p:cNvPr id="9" name="Text 6"/>
          <p:cNvSpPr/>
          <p:nvPr/>
        </p:nvSpPr>
        <p:spPr>
          <a:xfrm>
            <a:off x="1371600" y="1463040"/>
            <a:ext cx="4343400" cy="960120"/>
          </a:xfrm>
          <a:prstGeom prst="rect">
            <a:avLst/>
          </a:prstGeom>
          <a:noFill/>
          <a:ln/>
        </p:spPr>
        <p:txBody>
          <a:bodyPr wrap="square" lIns="0" tIns="0" rIns="0" bIns="0" rtlCol="0" anchor="ctr"/>
          <a:lstStyle/>
          <a:p>
            <a:pPr indent="0" marL="0">
              <a:buNone/>
            </a:pPr>
            <a:r>
              <a:rPr lang="en-US" sz="1300" dirty="0">
                <a:solidFill>
                  <a:srgbClr val="3A3F4C"/>
                </a:solidFill>
                <a:latin typeface="Calibri" pitchFamily="34" charset="0"/>
                <a:ea typeface="Calibri" pitchFamily="34" charset="-122"/>
                <a:cs typeface="Calibri" pitchFamily="34" charset="-120"/>
              </a:rPr>
              <a:t>The best value found so far for MAX anywhere along the current path. MAX will do at least this well.</a:t>
            </a:r>
            <a:endParaRPr lang="en-US" sz="1300" dirty="0"/>
          </a:p>
        </p:txBody>
      </p:sp>
      <p:sp>
        <p:nvSpPr>
          <p:cNvPr id="10" name="Shape 7"/>
          <p:cNvSpPr/>
          <p:nvPr/>
        </p:nvSpPr>
        <p:spPr>
          <a:xfrm>
            <a:off x="6236208" y="1463040"/>
            <a:ext cx="5394960" cy="960120"/>
          </a:xfrm>
          <a:prstGeom prst="roundRect">
            <a:avLst>
              <a:gd name="adj" fmla="val 6667"/>
            </a:avLst>
          </a:prstGeom>
          <a:solidFill>
            <a:srgbClr val="EAF1F5"/>
          </a:solidFill>
          <a:ln w="12700">
            <a:solidFill>
              <a:srgbClr val="EAF1F5"/>
            </a:solidFill>
            <a:prstDash val="solid"/>
          </a:ln>
        </p:spPr>
      </p:sp>
      <p:sp>
        <p:nvSpPr>
          <p:cNvPr id="11" name="Text 8"/>
          <p:cNvSpPr/>
          <p:nvPr/>
        </p:nvSpPr>
        <p:spPr>
          <a:xfrm>
            <a:off x="6510528" y="1572768"/>
            <a:ext cx="457200" cy="731520"/>
          </a:xfrm>
          <a:prstGeom prst="rect">
            <a:avLst/>
          </a:prstGeom>
          <a:noFill/>
          <a:ln/>
        </p:spPr>
        <p:txBody>
          <a:bodyPr wrap="square" lIns="0" tIns="0" rIns="0" bIns="0" rtlCol="0" anchor="ctr"/>
          <a:lstStyle/>
          <a:p>
            <a:pPr indent="0" marL="0">
              <a:buNone/>
            </a:pPr>
            <a:r>
              <a:rPr lang="en-US" sz="3000" b="1" dirty="0">
                <a:solidFill>
                  <a:srgbClr val="1D4E63"/>
                </a:solidFill>
                <a:latin typeface="Cambria" pitchFamily="34" charset="0"/>
                <a:ea typeface="Cambria" pitchFamily="34" charset="-122"/>
                <a:cs typeface="Cambria" pitchFamily="34" charset="-120"/>
              </a:rPr>
              <a:t>β</a:t>
            </a:r>
            <a:endParaRPr lang="en-US" sz="3000" dirty="0"/>
          </a:p>
        </p:txBody>
      </p:sp>
      <p:sp>
        <p:nvSpPr>
          <p:cNvPr id="12" name="Text 9"/>
          <p:cNvSpPr/>
          <p:nvPr/>
        </p:nvSpPr>
        <p:spPr>
          <a:xfrm>
            <a:off x="7040880" y="1463040"/>
            <a:ext cx="4343400" cy="960120"/>
          </a:xfrm>
          <a:prstGeom prst="rect">
            <a:avLst/>
          </a:prstGeom>
          <a:noFill/>
          <a:ln/>
        </p:spPr>
        <p:txBody>
          <a:bodyPr wrap="square" lIns="0" tIns="0" rIns="0" bIns="0" rtlCol="0" anchor="ctr"/>
          <a:lstStyle/>
          <a:p>
            <a:pPr indent="0" marL="0">
              <a:buNone/>
            </a:pPr>
            <a:r>
              <a:rPr lang="en-US" sz="1300" dirty="0">
                <a:solidFill>
                  <a:srgbClr val="3A3F4C"/>
                </a:solidFill>
                <a:latin typeface="Calibri" pitchFamily="34" charset="0"/>
                <a:ea typeface="Calibri" pitchFamily="34" charset="-122"/>
                <a:cs typeface="Calibri" pitchFamily="34" charset="-120"/>
              </a:rPr>
              <a:t>The best value found so far for MIN along the same path. MIN will hold MAX to no more than this.</a:t>
            </a:r>
            <a:endParaRPr lang="en-US" sz="1300" dirty="0"/>
          </a:p>
        </p:txBody>
      </p:sp>
      <p:sp>
        <p:nvSpPr>
          <p:cNvPr id="13" name="Shape 10"/>
          <p:cNvSpPr/>
          <p:nvPr/>
        </p:nvSpPr>
        <p:spPr>
          <a:xfrm>
            <a:off x="566928" y="2606040"/>
            <a:ext cx="6035040" cy="3108960"/>
          </a:xfrm>
          <a:prstGeom prst="roundRect">
            <a:avLst>
              <a:gd name="adj" fmla="val 2059"/>
            </a:avLst>
          </a:prstGeom>
          <a:solidFill>
            <a:srgbClr val="2A2F3E"/>
          </a:solidFill>
          <a:ln w="12700">
            <a:solidFill>
              <a:srgbClr val="2A2F3E"/>
            </a:solidFill>
            <a:prstDash val="solid"/>
          </a:ln>
        </p:spPr>
      </p:sp>
      <p:sp>
        <p:nvSpPr>
          <p:cNvPr id="14" name="Text 11"/>
          <p:cNvSpPr/>
          <p:nvPr/>
        </p:nvSpPr>
        <p:spPr>
          <a:xfrm>
            <a:off x="841248" y="2807208"/>
            <a:ext cx="5532120" cy="2706624"/>
          </a:xfrm>
          <a:prstGeom prst="rect">
            <a:avLst/>
          </a:prstGeom>
          <a:noFill/>
          <a:ln/>
        </p:spPr>
        <p:txBody>
          <a:bodyPr wrap="square" lIns="0" tIns="0" rIns="0" bIns="0" rtlCol="0" anchor="t"/>
          <a:lstStyle/>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function MAX-VALUE(game, state, alpha, beta)</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if game.IS-TERMINAL(state) then</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return game.UTILITY(state, player), null</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v &lt;- -infinity</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for each a in game.ACTIONS(state) do</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v2, a2 &lt;- MIN-VALUE(state, RESULT(state,a),</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alpha, beta)</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if v2 &gt; v then</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v, move &lt;- v2, a</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alpha &lt;- MAX(alpha, v)</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if v &gt;= beta then return v, move   // cut off</a:t>
            </a:r>
            <a:endParaRPr lang="en-US" sz="1150" dirty="0"/>
          </a:p>
          <a:p>
            <a:pPr indent="0" marL="0">
              <a:lnSpc>
                <a:spcPts val="1550"/>
              </a:lnSpc>
              <a:buNone/>
            </a:pPr>
            <a:r>
              <a:rPr lang="en-US" sz="1150" dirty="0">
                <a:solidFill>
                  <a:srgbClr val="E6E9F0"/>
                </a:solidFill>
                <a:latin typeface="Courier New" pitchFamily="34" charset="0"/>
                <a:ea typeface="Courier New" pitchFamily="34" charset="-122"/>
                <a:cs typeface="Courier New" pitchFamily="34" charset="-120"/>
              </a:rPr>
              <a:t>    return v, move</a:t>
            </a:r>
            <a:endParaRPr lang="en-US" sz="1150" dirty="0"/>
          </a:p>
        </p:txBody>
      </p:sp>
      <p:sp>
        <p:nvSpPr>
          <p:cNvPr id="15" name="Shape 12"/>
          <p:cNvSpPr/>
          <p:nvPr/>
        </p:nvSpPr>
        <p:spPr>
          <a:xfrm>
            <a:off x="6903720" y="2606040"/>
            <a:ext cx="4727448" cy="3108960"/>
          </a:xfrm>
          <a:prstGeom prst="roundRect">
            <a:avLst>
              <a:gd name="adj" fmla="val 2059"/>
            </a:avLst>
          </a:prstGeom>
          <a:solidFill>
            <a:srgbClr val="F1F2F5"/>
          </a:solidFill>
          <a:ln w="12700">
            <a:solidFill>
              <a:srgbClr val="F1F2F5"/>
            </a:solidFill>
            <a:prstDash val="solid"/>
          </a:ln>
        </p:spPr>
      </p:sp>
      <p:sp>
        <p:nvSpPr>
          <p:cNvPr id="16" name="Text 13"/>
          <p:cNvSpPr/>
          <p:nvPr/>
        </p:nvSpPr>
        <p:spPr>
          <a:xfrm>
            <a:off x="7178040" y="2761488"/>
            <a:ext cx="4206240" cy="365760"/>
          </a:xfrm>
          <a:prstGeom prst="rect">
            <a:avLst/>
          </a:prstGeom>
          <a:noFill/>
          <a:ln/>
        </p:spPr>
        <p:txBody>
          <a:bodyPr wrap="square" lIns="0" tIns="0" rIns="0" bIns="0" rtlCol="0" anchor="ctr"/>
          <a:lstStyle/>
          <a:p>
            <a:pPr indent="0" marL="0">
              <a:buNone/>
            </a:pPr>
            <a:r>
              <a:rPr lang="en-US" sz="1600" b="1" dirty="0">
                <a:solidFill>
                  <a:srgbClr val="1C1F2A"/>
                </a:solidFill>
                <a:latin typeface="Cambria" pitchFamily="34" charset="0"/>
                <a:ea typeface="Cambria" pitchFamily="34" charset="-122"/>
                <a:cs typeface="Cambria" pitchFamily="34" charset="-120"/>
              </a:rPr>
              <a:t>Reading the cutoff</a:t>
            </a:r>
            <a:endParaRPr lang="en-US" sz="1600" dirty="0"/>
          </a:p>
        </p:txBody>
      </p:sp>
      <p:sp>
        <p:nvSpPr>
          <p:cNvPr id="17" name="Text 14"/>
          <p:cNvSpPr/>
          <p:nvPr/>
        </p:nvSpPr>
        <p:spPr>
          <a:xfrm>
            <a:off x="7178040" y="3182112"/>
            <a:ext cx="4206240" cy="420624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3A3F4C"/>
                </a:solidFill>
                <a:latin typeface="Calibri" pitchFamily="34" charset="0"/>
                <a:ea typeface="Calibri" pitchFamily="34" charset="-122"/>
                <a:cs typeface="Calibri" pitchFamily="34" charset="-120"/>
              </a:rPr>
              <a:t>MIN-VALUE is symmetric: it updates beta and cuts off when v is at most alpha.</a:t>
            </a:r>
            <a:endParaRPr lang="en-US" sz="1250" dirty="0"/>
          </a:p>
          <a:p>
            <a:pPr marL="342900" indent="-342900">
              <a:spcAft>
                <a:spcPts val="900"/>
              </a:spcAft>
              <a:buSzPct val="100000"/>
              <a:buChar char="•"/>
            </a:pPr>
            <a:r>
              <a:rPr lang="en-US" sz="1250" dirty="0">
                <a:solidFill>
                  <a:srgbClr val="3A3F4C"/>
                </a:solidFill>
                <a:latin typeface="Calibri" pitchFamily="34" charset="0"/>
                <a:ea typeface="Calibri" pitchFamily="34" charset="-122"/>
                <a:cs typeface="Calibri" pitchFamily="34" charset="-120"/>
              </a:rPr>
              <a:t>The search prunes as soon as the current node is known to be worse than alpha for MAX, or worse than beta for MIN.</a:t>
            </a:r>
            <a:endParaRPr lang="en-US" sz="1250" dirty="0"/>
          </a:p>
          <a:p>
            <a:pPr marL="342900" indent="-342900">
              <a:spcAft>
                <a:spcPts val="900"/>
              </a:spcAft>
              <a:buSzPct val="100000"/>
              <a:buChar char="•"/>
            </a:pPr>
            <a:r>
              <a:rPr lang="en-US" sz="1250" dirty="0">
                <a:solidFill>
                  <a:srgbClr val="3A3F4C"/>
                </a:solidFill>
                <a:latin typeface="Calibri" pitchFamily="34" charset="0"/>
                <a:ea typeface="Calibri" pitchFamily="34" charset="-122"/>
                <a:cs typeface="Calibri" pitchFamily="34" charset="-120"/>
              </a:rPr>
              <a:t>Alpha-beta returns exactly the minimax value. Only the amount of work changes, never the answer.</a:t>
            </a:r>
            <a:endParaRPr lang="en-US" sz="1250" dirty="0"/>
          </a:p>
          <a:p>
            <a:pPr marL="342900" indent="-342900">
              <a:spcAft>
                <a:spcPts val="900"/>
              </a:spcAft>
              <a:buSzPct val="100000"/>
              <a:buChar char="•"/>
            </a:pPr>
            <a:r>
              <a:rPr lang="en-US" sz="1250" dirty="0">
                <a:solidFill>
                  <a:srgbClr val="3A3F4C"/>
                </a:solidFill>
                <a:latin typeface="Calibri" pitchFamily="34" charset="0"/>
                <a:ea typeface="Calibri" pitchFamily="34" charset="-122"/>
                <a:cs typeface="Calibri" pitchFamily="34" charset="-120"/>
              </a:rPr>
              <a:t>Because the interval [alpha, beta] narrows as we descend, deeper nodes prune more aggressively.</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5.2.4  MOVE ORDERING</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Pruning is only as good as the order you search in</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17</a:t>
            </a:r>
            <a:endParaRPr lang="en-US" sz="900" dirty="0"/>
          </a:p>
        </p:txBody>
      </p:sp>
      <p:sp>
        <p:nvSpPr>
          <p:cNvPr id="7" name="Text 4"/>
          <p:cNvSpPr/>
          <p:nvPr/>
        </p:nvSpPr>
        <p:spPr>
          <a:xfrm>
            <a:off x="566928" y="1426464"/>
            <a:ext cx="11064240" cy="365760"/>
          </a:xfrm>
          <a:prstGeom prst="rect">
            <a:avLst/>
          </a:prstGeom>
          <a:noFill/>
          <a:ln/>
        </p:spPr>
        <p:txBody>
          <a:bodyPr wrap="square" lIns="0" tIns="0" rIns="0" bIns="0" rtlCol="0" anchor="ctr"/>
          <a:lstStyle/>
          <a:p>
            <a:pPr indent="0" marL="0">
              <a:buNone/>
            </a:pPr>
            <a:r>
              <a:rPr lang="en-US" sz="1350" dirty="0">
                <a:solidFill>
                  <a:srgbClr val="3A3F4C"/>
                </a:solidFill>
                <a:latin typeface="Calibri" pitchFamily="34" charset="0"/>
                <a:ea typeface="Calibri" pitchFamily="34" charset="-122"/>
                <a:cs typeface="Calibri" pitchFamily="34" charset="-120"/>
              </a:rPr>
              <a:t>In our example we could not prune any of D’s children because MIN’s worst successors were generated first. Had the 2 come first, the other two would have gone.</a:t>
            </a:r>
            <a:endParaRPr lang="en-US" sz="1350" dirty="0"/>
          </a:p>
        </p:txBody>
      </p:sp>
      <p:sp>
        <p:nvSpPr>
          <p:cNvPr id="8" name="Shape 5"/>
          <p:cNvSpPr/>
          <p:nvPr/>
        </p:nvSpPr>
        <p:spPr>
          <a:xfrm>
            <a:off x="566928" y="1920240"/>
            <a:ext cx="3493008" cy="2286000"/>
          </a:xfrm>
          <a:prstGeom prst="roundRect">
            <a:avLst>
              <a:gd name="adj" fmla="val 2800"/>
            </a:avLst>
          </a:prstGeom>
          <a:solidFill>
            <a:srgbClr val="FDF2EC"/>
          </a:solidFill>
          <a:ln w="12700">
            <a:solidFill>
              <a:srgbClr val="FDF2EC"/>
            </a:solidFill>
            <a:prstDash val="solid"/>
          </a:ln>
        </p:spPr>
      </p:sp>
      <p:sp>
        <p:nvSpPr>
          <p:cNvPr id="9" name="Text 6"/>
          <p:cNvSpPr/>
          <p:nvPr/>
        </p:nvSpPr>
        <p:spPr>
          <a:xfrm>
            <a:off x="822960" y="2103120"/>
            <a:ext cx="3017520" cy="329184"/>
          </a:xfrm>
          <a:prstGeom prst="rect">
            <a:avLst/>
          </a:prstGeom>
          <a:noFill/>
          <a:ln/>
        </p:spPr>
        <p:txBody>
          <a:bodyPr wrap="square" lIns="0" tIns="0" rIns="0" bIns="0" rtlCol="0" anchor="ctr"/>
          <a:lstStyle/>
          <a:p>
            <a:pPr indent="0" marL="0">
              <a:buNone/>
            </a:pPr>
            <a:r>
              <a:rPr lang="en-US" sz="1450" b="1" dirty="0">
                <a:solidFill>
                  <a:srgbClr val="1C1F2A"/>
                </a:solidFill>
                <a:latin typeface="Cambria" pitchFamily="34" charset="0"/>
                <a:ea typeface="Cambria" pitchFamily="34" charset="-122"/>
                <a:cs typeface="Cambria" pitchFamily="34" charset="-120"/>
              </a:rPr>
              <a:t>Perfect ordering</a:t>
            </a:r>
            <a:endParaRPr lang="en-US" sz="1450" dirty="0"/>
          </a:p>
        </p:txBody>
      </p:sp>
      <p:sp>
        <p:nvSpPr>
          <p:cNvPr id="10" name="Text 7"/>
          <p:cNvSpPr/>
          <p:nvPr/>
        </p:nvSpPr>
        <p:spPr>
          <a:xfrm>
            <a:off x="822960" y="2487168"/>
            <a:ext cx="3017520" cy="566928"/>
          </a:xfrm>
          <a:prstGeom prst="rect">
            <a:avLst/>
          </a:prstGeom>
          <a:noFill/>
          <a:ln/>
        </p:spPr>
        <p:txBody>
          <a:bodyPr wrap="square" lIns="0" tIns="0" rIns="0" bIns="0" rtlCol="0" anchor="ctr"/>
          <a:lstStyle/>
          <a:p>
            <a:pPr indent="0" marL="0">
              <a:buNone/>
            </a:pPr>
            <a:r>
              <a:rPr lang="en-US" sz="2400" b="1" dirty="0">
                <a:solidFill>
                  <a:srgbClr val="C2410C"/>
                </a:solidFill>
                <a:latin typeface="Cambria" pitchFamily="34" charset="0"/>
                <a:ea typeface="Cambria" pitchFamily="34" charset="-122"/>
                <a:cs typeface="Cambria" pitchFamily="34" charset="-120"/>
              </a:rPr>
              <a:t>O(b^(m/2))</a:t>
            </a:r>
            <a:endParaRPr lang="en-US" sz="2400" dirty="0"/>
          </a:p>
        </p:txBody>
      </p:sp>
      <p:sp>
        <p:nvSpPr>
          <p:cNvPr id="11" name="Text 8"/>
          <p:cNvSpPr/>
          <p:nvPr/>
        </p:nvSpPr>
        <p:spPr>
          <a:xfrm>
            <a:off x="822960" y="3127248"/>
            <a:ext cx="3035808" cy="960120"/>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Effective branching factor becomes √b. For chess that is about 6 rather than 35, so the same budget searches roughly twice as deep.</a:t>
            </a:r>
            <a:endParaRPr lang="en-US" sz="1250" dirty="0"/>
          </a:p>
        </p:txBody>
      </p:sp>
      <p:sp>
        <p:nvSpPr>
          <p:cNvPr id="12" name="Shape 9"/>
          <p:cNvSpPr/>
          <p:nvPr/>
        </p:nvSpPr>
        <p:spPr>
          <a:xfrm>
            <a:off x="4297680" y="1920240"/>
            <a:ext cx="3493008" cy="2286000"/>
          </a:xfrm>
          <a:prstGeom prst="roundRect">
            <a:avLst>
              <a:gd name="adj" fmla="val 2800"/>
            </a:avLst>
          </a:prstGeom>
          <a:solidFill>
            <a:srgbClr val="F1F2F5"/>
          </a:solidFill>
          <a:ln w="12700">
            <a:solidFill>
              <a:srgbClr val="F1F2F5"/>
            </a:solidFill>
            <a:prstDash val="solid"/>
          </a:ln>
        </p:spPr>
      </p:sp>
      <p:sp>
        <p:nvSpPr>
          <p:cNvPr id="13" name="Text 10"/>
          <p:cNvSpPr/>
          <p:nvPr/>
        </p:nvSpPr>
        <p:spPr>
          <a:xfrm>
            <a:off x="4553712" y="2103120"/>
            <a:ext cx="3017520" cy="329184"/>
          </a:xfrm>
          <a:prstGeom prst="rect">
            <a:avLst/>
          </a:prstGeom>
          <a:noFill/>
          <a:ln/>
        </p:spPr>
        <p:txBody>
          <a:bodyPr wrap="square" lIns="0" tIns="0" rIns="0" bIns="0" rtlCol="0" anchor="ctr"/>
          <a:lstStyle/>
          <a:p>
            <a:pPr indent="0" marL="0">
              <a:buNone/>
            </a:pPr>
            <a:r>
              <a:rPr lang="en-US" sz="1450" b="1" dirty="0">
                <a:solidFill>
                  <a:srgbClr val="1C1F2A"/>
                </a:solidFill>
                <a:latin typeface="Cambria" pitchFamily="34" charset="0"/>
                <a:ea typeface="Cambria" pitchFamily="34" charset="-122"/>
                <a:cs typeface="Cambria" pitchFamily="34" charset="-120"/>
              </a:rPr>
              <a:t>Random ordering</a:t>
            </a:r>
            <a:endParaRPr lang="en-US" sz="1450" dirty="0"/>
          </a:p>
        </p:txBody>
      </p:sp>
      <p:sp>
        <p:nvSpPr>
          <p:cNvPr id="14" name="Text 11"/>
          <p:cNvSpPr/>
          <p:nvPr/>
        </p:nvSpPr>
        <p:spPr>
          <a:xfrm>
            <a:off x="4553712" y="2487168"/>
            <a:ext cx="3017520" cy="566928"/>
          </a:xfrm>
          <a:prstGeom prst="rect">
            <a:avLst/>
          </a:prstGeom>
          <a:noFill/>
          <a:ln/>
        </p:spPr>
        <p:txBody>
          <a:bodyPr wrap="square" lIns="0" tIns="0" rIns="0" bIns="0" rtlCol="0" anchor="ctr"/>
          <a:lstStyle/>
          <a:p>
            <a:pPr indent="0" marL="0">
              <a:buNone/>
            </a:pPr>
            <a:r>
              <a:rPr lang="en-US" sz="2400" b="1" dirty="0">
                <a:solidFill>
                  <a:srgbClr val="1D4E63"/>
                </a:solidFill>
                <a:latin typeface="Cambria" pitchFamily="34" charset="0"/>
                <a:ea typeface="Cambria" pitchFamily="34" charset="-122"/>
                <a:cs typeface="Cambria" pitchFamily="34" charset="-120"/>
              </a:rPr>
              <a:t>O(b^(3m/4))</a:t>
            </a:r>
            <a:endParaRPr lang="en-US" sz="2400" dirty="0"/>
          </a:p>
        </p:txBody>
      </p:sp>
      <p:sp>
        <p:nvSpPr>
          <p:cNvPr id="15" name="Text 12"/>
          <p:cNvSpPr/>
          <p:nvPr/>
        </p:nvSpPr>
        <p:spPr>
          <a:xfrm>
            <a:off x="4553712" y="3127248"/>
            <a:ext cx="3035808" cy="960120"/>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Still a real improvement over plain minimax for moderate b, but far short of the best case.</a:t>
            </a:r>
            <a:endParaRPr lang="en-US" sz="1250" dirty="0"/>
          </a:p>
        </p:txBody>
      </p:sp>
      <p:sp>
        <p:nvSpPr>
          <p:cNvPr id="16" name="Shape 13"/>
          <p:cNvSpPr/>
          <p:nvPr/>
        </p:nvSpPr>
        <p:spPr>
          <a:xfrm>
            <a:off x="8028432" y="1920240"/>
            <a:ext cx="3493008" cy="2286000"/>
          </a:xfrm>
          <a:prstGeom prst="roundRect">
            <a:avLst>
              <a:gd name="adj" fmla="val 2800"/>
            </a:avLst>
          </a:prstGeom>
          <a:solidFill>
            <a:srgbClr val="F1F2F5"/>
          </a:solidFill>
          <a:ln w="12700">
            <a:solidFill>
              <a:srgbClr val="F1F2F5"/>
            </a:solidFill>
            <a:prstDash val="solid"/>
          </a:ln>
        </p:spPr>
      </p:sp>
      <p:sp>
        <p:nvSpPr>
          <p:cNvPr id="17" name="Text 14"/>
          <p:cNvSpPr/>
          <p:nvPr/>
        </p:nvSpPr>
        <p:spPr>
          <a:xfrm>
            <a:off x="8284464" y="2103120"/>
            <a:ext cx="3017520" cy="329184"/>
          </a:xfrm>
          <a:prstGeom prst="rect">
            <a:avLst/>
          </a:prstGeom>
          <a:noFill/>
          <a:ln/>
        </p:spPr>
        <p:txBody>
          <a:bodyPr wrap="square" lIns="0" tIns="0" rIns="0" bIns="0" rtlCol="0" anchor="ctr"/>
          <a:lstStyle/>
          <a:p>
            <a:pPr indent="0" marL="0">
              <a:buNone/>
            </a:pPr>
            <a:r>
              <a:rPr lang="en-US" sz="1450" b="1" dirty="0">
                <a:solidFill>
                  <a:srgbClr val="1C1F2A"/>
                </a:solidFill>
                <a:latin typeface="Cambria" pitchFamily="34" charset="0"/>
                <a:ea typeface="Cambria" pitchFamily="34" charset="-122"/>
                <a:cs typeface="Cambria" pitchFamily="34" charset="-120"/>
              </a:rPr>
              <a:t>No ordering effort</a:t>
            </a:r>
            <a:endParaRPr lang="en-US" sz="1450" dirty="0"/>
          </a:p>
        </p:txBody>
      </p:sp>
      <p:sp>
        <p:nvSpPr>
          <p:cNvPr id="18" name="Text 15"/>
          <p:cNvSpPr/>
          <p:nvPr/>
        </p:nvSpPr>
        <p:spPr>
          <a:xfrm>
            <a:off x="8284464" y="2487168"/>
            <a:ext cx="3017520" cy="566928"/>
          </a:xfrm>
          <a:prstGeom prst="rect">
            <a:avLst/>
          </a:prstGeom>
          <a:noFill/>
          <a:ln/>
        </p:spPr>
        <p:txBody>
          <a:bodyPr wrap="square" lIns="0" tIns="0" rIns="0" bIns="0" rtlCol="0" anchor="ctr"/>
          <a:lstStyle/>
          <a:p>
            <a:pPr indent="0" marL="0">
              <a:buNone/>
            </a:pPr>
            <a:r>
              <a:rPr lang="en-US" sz="2400" b="1" dirty="0">
                <a:solidFill>
                  <a:srgbClr val="8A8F9C"/>
                </a:solidFill>
                <a:latin typeface="Cambria" pitchFamily="34" charset="0"/>
                <a:ea typeface="Cambria" pitchFamily="34" charset="-122"/>
                <a:cs typeface="Cambria" pitchFamily="34" charset="-120"/>
              </a:rPr>
              <a:t>O(bᵐ)</a:t>
            </a:r>
            <a:endParaRPr lang="en-US" sz="2400" dirty="0"/>
          </a:p>
        </p:txBody>
      </p:sp>
      <p:sp>
        <p:nvSpPr>
          <p:cNvPr id="19" name="Text 16"/>
          <p:cNvSpPr/>
          <p:nvPr/>
        </p:nvSpPr>
        <p:spPr>
          <a:xfrm>
            <a:off x="8284464" y="3127248"/>
            <a:ext cx="3035808" cy="960120"/>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Worst case degenerates to plain minimax: every node examined, nothing pruned.</a:t>
            </a:r>
            <a:endParaRPr lang="en-US" sz="1250" dirty="0"/>
          </a:p>
        </p:txBody>
      </p:sp>
      <p:sp>
        <p:nvSpPr>
          <p:cNvPr id="20" name="Shape 17"/>
          <p:cNvSpPr/>
          <p:nvPr/>
        </p:nvSpPr>
        <p:spPr>
          <a:xfrm>
            <a:off x="566928" y="4370832"/>
            <a:ext cx="5303520" cy="786384"/>
          </a:xfrm>
          <a:prstGeom prst="roundRect">
            <a:avLst>
              <a:gd name="adj" fmla="val 8140"/>
            </a:avLst>
          </a:prstGeom>
          <a:solidFill>
            <a:srgbClr val="F1F2F5"/>
          </a:solidFill>
          <a:ln w="12700">
            <a:solidFill>
              <a:srgbClr val="F1F2F5"/>
            </a:solidFill>
            <a:prstDash val="solid"/>
          </a:ln>
        </p:spPr>
      </p:sp>
      <p:sp>
        <p:nvSpPr>
          <p:cNvPr id="21" name="Text 18"/>
          <p:cNvSpPr/>
          <p:nvPr/>
        </p:nvSpPr>
        <p:spPr>
          <a:xfrm>
            <a:off x="804672" y="4425696"/>
            <a:ext cx="1737360" cy="676656"/>
          </a:xfrm>
          <a:prstGeom prst="rect">
            <a:avLst/>
          </a:prstGeom>
          <a:noFill/>
          <a:ln/>
        </p:spPr>
        <p:txBody>
          <a:bodyPr wrap="square" lIns="0" tIns="0" rIns="0" bIns="0" rtlCol="0" anchor="ctr"/>
          <a:lstStyle/>
          <a:p>
            <a:pPr indent="0" marL="0">
              <a:buNone/>
            </a:pPr>
            <a:r>
              <a:rPr lang="en-US" sz="1300" b="1" dirty="0">
                <a:solidFill>
                  <a:srgbClr val="1D4E63"/>
                </a:solidFill>
                <a:latin typeface="Cambria" pitchFamily="34" charset="0"/>
                <a:ea typeface="Cambria" pitchFamily="34" charset="-122"/>
                <a:cs typeface="Cambria" pitchFamily="34" charset="-120"/>
              </a:rPr>
              <a:t>Static ordering</a:t>
            </a:r>
            <a:endParaRPr lang="en-US" sz="1300" dirty="0"/>
          </a:p>
        </p:txBody>
      </p:sp>
      <p:sp>
        <p:nvSpPr>
          <p:cNvPr id="22" name="Text 19"/>
          <p:cNvSpPr/>
          <p:nvPr/>
        </p:nvSpPr>
        <p:spPr>
          <a:xfrm>
            <a:off x="2578608" y="4407408"/>
            <a:ext cx="3108960" cy="713232"/>
          </a:xfrm>
          <a:prstGeom prst="rect">
            <a:avLst/>
          </a:prstGeom>
          <a:noFill/>
          <a:ln/>
        </p:spPr>
        <p:txBody>
          <a:bodyPr wrap="square" lIns="0" tIns="0" rIns="0" bIns="0" rtlCol="0" anchor="ctr"/>
          <a:lstStyle/>
          <a:p>
            <a:pPr indent="0" marL="0">
              <a:buNone/>
            </a:pPr>
            <a:r>
              <a:rPr lang="en-US" sz="1150" dirty="0">
                <a:solidFill>
                  <a:srgbClr val="3A3F4C"/>
                </a:solidFill>
                <a:latin typeface="Calibri" pitchFamily="34" charset="0"/>
                <a:ea typeface="Calibri" pitchFamily="34" charset="-122"/>
                <a:cs typeface="Calibri" pitchFamily="34" charset="-120"/>
              </a:rPr>
              <a:t>Try captures first, then threats, then forward moves, then backward moves. A rule this simple lands within about a factor of two of the best case in chess.</a:t>
            </a:r>
            <a:endParaRPr lang="en-US" sz="1150" dirty="0"/>
          </a:p>
        </p:txBody>
      </p:sp>
      <p:sp>
        <p:nvSpPr>
          <p:cNvPr id="23" name="Shape 20"/>
          <p:cNvSpPr/>
          <p:nvPr/>
        </p:nvSpPr>
        <p:spPr>
          <a:xfrm>
            <a:off x="6144768" y="4370832"/>
            <a:ext cx="5303520" cy="786384"/>
          </a:xfrm>
          <a:prstGeom prst="roundRect">
            <a:avLst>
              <a:gd name="adj" fmla="val 8140"/>
            </a:avLst>
          </a:prstGeom>
          <a:solidFill>
            <a:srgbClr val="F1F2F5"/>
          </a:solidFill>
          <a:ln w="12700">
            <a:solidFill>
              <a:srgbClr val="F1F2F5"/>
            </a:solidFill>
            <a:prstDash val="solid"/>
          </a:ln>
        </p:spPr>
      </p:sp>
      <p:sp>
        <p:nvSpPr>
          <p:cNvPr id="24" name="Text 21"/>
          <p:cNvSpPr/>
          <p:nvPr/>
        </p:nvSpPr>
        <p:spPr>
          <a:xfrm>
            <a:off x="6382512" y="4425696"/>
            <a:ext cx="1737360" cy="676656"/>
          </a:xfrm>
          <a:prstGeom prst="rect">
            <a:avLst/>
          </a:prstGeom>
          <a:noFill/>
          <a:ln/>
        </p:spPr>
        <p:txBody>
          <a:bodyPr wrap="square" lIns="0" tIns="0" rIns="0" bIns="0" rtlCol="0" anchor="ctr"/>
          <a:lstStyle/>
          <a:p>
            <a:pPr indent="0" marL="0">
              <a:buNone/>
            </a:pPr>
            <a:r>
              <a:rPr lang="en-US" sz="1300" b="1" dirty="0">
                <a:solidFill>
                  <a:srgbClr val="1D4E63"/>
                </a:solidFill>
                <a:latin typeface="Cambria" pitchFamily="34" charset="0"/>
                <a:ea typeface="Cambria" pitchFamily="34" charset="-122"/>
                <a:cs typeface="Cambria" pitchFamily="34" charset="-120"/>
              </a:rPr>
              <a:t>Killer moves</a:t>
            </a:r>
            <a:endParaRPr lang="en-US" sz="1300" dirty="0"/>
          </a:p>
        </p:txBody>
      </p:sp>
      <p:sp>
        <p:nvSpPr>
          <p:cNvPr id="25" name="Text 22"/>
          <p:cNvSpPr/>
          <p:nvPr/>
        </p:nvSpPr>
        <p:spPr>
          <a:xfrm>
            <a:off x="8156448" y="4407408"/>
            <a:ext cx="3108960" cy="713232"/>
          </a:xfrm>
          <a:prstGeom prst="rect">
            <a:avLst/>
          </a:prstGeom>
          <a:noFill/>
          <a:ln/>
        </p:spPr>
        <p:txBody>
          <a:bodyPr wrap="square" lIns="0" tIns="0" rIns="0" bIns="0" rtlCol="0" anchor="ctr"/>
          <a:lstStyle/>
          <a:p>
            <a:pPr indent="0" marL="0">
              <a:buNone/>
            </a:pPr>
            <a:r>
              <a:rPr lang="en-US" sz="1150" dirty="0">
                <a:solidFill>
                  <a:srgbClr val="3A3F4C"/>
                </a:solidFill>
                <a:latin typeface="Calibri" pitchFamily="34" charset="0"/>
                <a:ea typeface="Calibri" pitchFamily="34" charset="-122"/>
                <a:cs typeface="Calibri" pitchFamily="34" charset="-120"/>
              </a:rPr>
              <a:t>Try first whatever was best last time. The threats in a position usually persist from one move to the next.</a:t>
            </a:r>
            <a:endParaRPr lang="en-US" sz="1150" dirty="0"/>
          </a:p>
        </p:txBody>
      </p:sp>
      <p:sp>
        <p:nvSpPr>
          <p:cNvPr id="26" name="Shape 23"/>
          <p:cNvSpPr/>
          <p:nvPr/>
        </p:nvSpPr>
        <p:spPr>
          <a:xfrm>
            <a:off x="566928" y="5266944"/>
            <a:ext cx="5303520" cy="786384"/>
          </a:xfrm>
          <a:prstGeom prst="roundRect">
            <a:avLst>
              <a:gd name="adj" fmla="val 8140"/>
            </a:avLst>
          </a:prstGeom>
          <a:solidFill>
            <a:srgbClr val="F1F2F5"/>
          </a:solidFill>
          <a:ln w="12700">
            <a:solidFill>
              <a:srgbClr val="F1F2F5"/>
            </a:solidFill>
            <a:prstDash val="solid"/>
          </a:ln>
        </p:spPr>
      </p:sp>
      <p:sp>
        <p:nvSpPr>
          <p:cNvPr id="27" name="Text 24"/>
          <p:cNvSpPr/>
          <p:nvPr/>
        </p:nvSpPr>
        <p:spPr>
          <a:xfrm>
            <a:off x="804672" y="5321808"/>
            <a:ext cx="1737360" cy="676656"/>
          </a:xfrm>
          <a:prstGeom prst="rect">
            <a:avLst/>
          </a:prstGeom>
          <a:noFill/>
          <a:ln/>
        </p:spPr>
        <p:txBody>
          <a:bodyPr wrap="square" lIns="0" tIns="0" rIns="0" bIns="0" rtlCol="0" anchor="ctr"/>
          <a:lstStyle/>
          <a:p>
            <a:pPr indent="0" marL="0">
              <a:buNone/>
            </a:pPr>
            <a:r>
              <a:rPr lang="en-US" sz="1300" b="1" dirty="0">
                <a:solidFill>
                  <a:srgbClr val="1D4E63"/>
                </a:solidFill>
                <a:latin typeface="Cambria" pitchFamily="34" charset="0"/>
                <a:ea typeface="Cambria" pitchFamily="34" charset="-122"/>
                <a:cs typeface="Cambria" pitchFamily="34" charset="-120"/>
              </a:rPr>
              <a:t>Iterative deepening</a:t>
            </a:r>
            <a:endParaRPr lang="en-US" sz="1300" dirty="0"/>
          </a:p>
        </p:txBody>
      </p:sp>
      <p:sp>
        <p:nvSpPr>
          <p:cNvPr id="28" name="Text 25"/>
          <p:cNvSpPr/>
          <p:nvPr/>
        </p:nvSpPr>
        <p:spPr>
          <a:xfrm>
            <a:off x="2578608" y="5303520"/>
            <a:ext cx="3108960" cy="713232"/>
          </a:xfrm>
          <a:prstGeom prst="rect">
            <a:avLst/>
          </a:prstGeom>
          <a:noFill/>
          <a:ln/>
        </p:spPr>
        <p:txBody>
          <a:bodyPr wrap="square" lIns="0" tIns="0" rIns="0" bIns="0" rtlCol="0" anchor="ctr"/>
          <a:lstStyle/>
          <a:p>
            <a:pPr indent="0" marL="0">
              <a:buNone/>
            </a:pPr>
            <a:r>
              <a:rPr lang="en-US" sz="1150" dirty="0">
                <a:solidFill>
                  <a:srgbClr val="3A3F4C"/>
                </a:solidFill>
                <a:latin typeface="Calibri" pitchFamily="34" charset="0"/>
                <a:ea typeface="Calibri" pitchFamily="34" charset="-122"/>
                <a:cs typeface="Calibri" pitchFamily="34" charset="-120"/>
              </a:rPr>
              <a:t>Search one ply, record the move ranking, search one ply deeper using that ranking, repeat. The extra search time is more than repaid by the better ordering.</a:t>
            </a:r>
            <a:endParaRPr lang="en-US" sz="1150" dirty="0"/>
          </a:p>
        </p:txBody>
      </p:sp>
      <p:sp>
        <p:nvSpPr>
          <p:cNvPr id="29" name="Shape 26"/>
          <p:cNvSpPr/>
          <p:nvPr/>
        </p:nvSpPr>
        <p:spPr>
          <a:xfrm>
            <a:off x="6144768" y="5266944"/>
            <a:ext cx="5303520" cy="786384"/>
          </a:xfrm>
          <a:prstGeom prst="roundRect">
            <a:avLst>
              <a:gd name="adj" fmla="val 8140"/>
            </a:avLst>
          </a:prstGeom>
          <a:solidFill>
            <a:srgbClr val="F1F2F5"/>
          </a:solidFill>
          <a:ln w="12700">
            <a:solidFill>
              <a:srgbClr val="F1F2F5"/>
            </a:solidFill>
            <a:prstDash val="solid"/>
          </a:ln>
        </p:spPr>
      </p:sp>
      <p:sp>
        <p:nvSpPr>
          <p:cNvPr id="30" name="Text 27"/>
          <p:cNvSpPr/>
          <p:nvPr/>
        </p:nvSpPr>
        <p:spPr>
          <a:xfrm>
            <a:off x="6382512" y="5321808"/>
            <a:ext cx="1737360" cy="676656"/>
          </a:xfrm>
          <a:prstGeom prst="rect">
            <a:avLst/>
          </a:prstGeom>
          <a:noFill/>
          <a:ln/>
        </p:spPr>
        <p:txBody>
          <a:bodyPr wrap="square" lIns="0" tIns="0" rIns="0" bIns="0" rtlCol="0" anchor="ctr"/>
          <a:lstStyle/>
          <a:p>
            <a:pPr indent="0" marL="0">
              <a:buNone/>
            </a:pPr>
            <a:r>
              <a:rPr lang="en-US" sz="1300" b="1" dirty="0">
                <a:solidFill>
                  <a:srgbClr val="1D4E63"/>
                </a:solidFill>
                <a:latin typeface="Cambria" pitchFamily="34" charset="0"/>
                <a:ea typeface="Cambria" pitchFamily="34" charset="-122"/>
                <a:cs typeface="Cambria" pitchFamily="34" charset="-120"/>
              </a:rPr>
              <a:t>Transposition tables</a:t>
            </a:r>
            <a:endParaRPr lang="en-US" sz="1300" dirty="0"/>
          </a:p>
        </p:txBody>
      </p:sp>
      <p:sp>
        <p:nvSpPr>
          <p:cNvPr id="31" name="Text 28"/>
          <p:cNvSpPr/>
          <p:nvPr/>
        </p:nvSpPr>
        <p:spPr>
          <a:xfrm>
            <a:off x="8156448" y="5303520"/>
            <a:ext cx="3108960" cy="713232"/>
          </a:xfrm>
          <a:prstGeom prst="rect">
            <a:avLst/>
          </a:prstGeom>
          <a:noFill/>
          <a:ln/>
        </p:spPr>
        <p:txBody>
          <a:bodyPr wrap="square" lIns="0" tIns="0" rIns="0" bIns="0" rtlCol="0" anchor="ctr"/>
          <a:lstStyle/>
          <a:p>
            <a:pPr indent="0" marL="0">
              <a:buNone/>
            </a:pPr>
            <a:r>
              <a:rPr lang="en-US" sz="1150" dirty="0">
                <a:solidFill>
                  <a:srgbClr val="3A3F4C"/>
                </a:solidFill>
                <a:latin typeface="Calibri" pitchFamily="34" charset="0"/>
                <a:ea typeface="Calibri" pitchFamily="34" charset="-122"/>
                <a:cs typeface="Calibri" pitchFamily="34" charset="-120"/>
              </a:rPr>
              <a:t>Different move orders reach the same position. Cache the backed-up value keyed by position. In chess this alone roughly doubles reachable depth.</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SHANNON, 1950</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Type A and Type B: the oldest fork in the road</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18</a:t>
            </a:r>
            <a:endParaRPr lang="en-US" sz="900" dirty="0"/>
          </a:p>
        </p:txBody>
      </p:sp>
      <p:sp>
        <p:nvSpPr>
          <p:cNvPr id="7" name="Shape 4"/>
          <p:cNvSpPr/>
          <p:nvPr/>
        </p:nvSpPr>
        <p:spPr>
          <a:xfrm>
            <a:off x="566928" y="1536192"/>
            <a:ext cx="5303520" cy="3200400"/>
          </a:xfrm>
          <a:prstGeom prst="roundRect">
            <a:avLst>
              <a:gd name="adj" fmla="val 2000"/>
            </a:avLst>
          </a:prstGeom>
          <a:solidFill>
            <a:srgbClr val="FDF2EC"/>
          </a:solidFill>
          <a:ln w="12700">
            <a:solidFill>
              <a:srgbClr val="FDF2EC"/>
            </a:solidFill>
            <a:prstDash val="solid"/>
          </a:ln>
        </p:spPr>
      </p:sp>
      <p:sp>
        <p:nvSpPr>
          <p:cNvPr id="8" name="Text 5"/>
          <p:cNvSpPr/>
          <p:nvPr/>
        </p:nvSpPr>
        <p:spPr>
          <a:xfrm>
            <a:off x="859536" y="1737360"/>
            <a:ext cx="4754880" cy="457200"/>
          </a:xfrm>
          <a:prstGeom prst="rect">
            <a:avLst/>
          </a:prstGeom>
          <a:noFill/>
          <a:ln/>
        </p:spPr>
        <p:txBody>
          <a:bodyPr wrap="square" lIns="0" tIns="0" rIns="0" bIns="0" rtlCol="0" anchor="ctr"/>
          <a:lstStyle/>
          <a:p>
            <a:pPr indent="0" marL="0">
              <a:buNone/>
            </a:pPr>
            <a:r>
              <a:rPr lang="en-US" sz="2600" b="1" dirty="0">
                <a:solidFill>
                  <a:srgbClr val="C2410C"/>
                </a:solidFill>
                <a:latin typeface="Cambria" pitchFamily="34" charset="0"/>
                <a:ea typeface="Cambria" pitchFamily="34" charset="-122"/>
                <a:cs typeface="Cambria" pitchFamily="34" charset="-120"/>
              </a:rPr>
              <a:t>Type A</a:t>
            </a:r>
            <a:endParaRPr lang="en-US" sz="2600" dirty="0"/>
          </a:p>
        </p:txBody>
      </p:sp>
      <p:sp>
        <p:nvSpPr>
          <p:cNvPr id="9" name="Text 6"/>
          <p:cNvSpPr/>
          <p:nvPr/>
        </p:nvSpPr>
        <p:spPr>
          <a:xfrm>
            <a:off x="859536" y="2212848"/>
            <a:ext cx="4754880" cy="329184"/>
          </a:xfrm>
          <a:prstGeom prst="rect">
            <a:avLst/>
          </a:prstGeom>
          <a:noFill/>
          <a:ln/>
        </p:spPr>
        <p:txBody>
          <a:bodyPr wrap="square" lIns="0" tIns="0" rIns="0" bIns="0" rtlCol="0" anchor="ctr"/>
          <a:lstStyle/>
          <a:p>
            <a:pPr indent="0" marL="0">
              <a:buNone/>
            </a:pPr>
            <a:r>
              <a:rPr lang="en-US" sz="1400" i="1" dirty="0">
                <a:solidFill>
                  <a:srgbClr val="3A3F4C"/>
                </a:solidFill>
                <a:latin typeface="Calibri" pitchFamily="34" charset="0"/>
                <a:ea typeface="Calibri" pitchFamily="34" charset="-122"/>
                <a:cs typeface="Calibri" pitchFamily="34" charset="-120"/>
              </a:rPr>
              <a:t>Wide and shallow</a:t>
            </a:r>
            <a:endParaRPr lang="en-US" sz="1400" dirty="0"/>
          </a:p>
        </p:txBody>
      </p:sp>
      <p:sp>
        <p:nvSpPr>
          <p:cNvPr id="10" name="Text 7"/>
          <p:cNvSpPr/>
          <p:nvPr/>
        </p:nvSpPr>
        <p:spPr>
          <a:xfrm>
            <a:off x="859536" y="2651760"/>
            <a:ext cx="4773168" cy="1234440"/>
          </a:xfrm>
          <a:prstGeom prst="rect">
            <a:avLst/>
          </a:prstGeom>
          <a:noFill/>
          <a:ln/>
        </p:spPr>
        <p:txBody>
          <a:bodyPr wrap="square" lIns="0" tIns="0" rIns="0" bIns="0" rtlCol="0" anchor="t"/>
          <a:lstStyle/>
          <a:p>
            <a:pPr indent="0" marL="0">
              <a:buNone/>
            </a:pPr>
            <a:r>
              <a:rPr lang="en-US" sz="1300" dirty="0">
                <a:solidFill>
                  <a:srgbClr val="3A3F4C"/>
                </a:solidFill>
                <a:latin typeface="Calibri" pitchFamily="34" charset="0"/>
                <a:ea typeface="Calibri" pitchFamily="34" charset="-122"/>
                <a:cs typeface="Calibri" pitchFamily="34" charset="-120"/>
              </a:rPr>
              <a:t>Consider every legal move to a fixed depth, then apply a heuristic evaluation function to the frontier. Nothing is dismissed early; the cut is uniform.</a:t>
            </a:r>
            <a:endParaRPr lang="en-US" sz="1300" dirty="0"/>
          </a:p>
        </p:txBody>
      </p:sp>
      <p:sp>
        <p:nvSpPr>
          <p:cNvPr id="11" name="Text 8"/>
          <p:cNvSpPr/>
          <p:nvPr/>
        </p:nvSpPr>
        <p:spPr>
          <a:xfrm>
            <a:off x="859536" y="4023360"/>
            <a:ext cx="4773168" cy="640080"/>
          </a:xfrm>
          <a:prstGeom prst="rect">
            <a:avLst/>
          </a:prstGeom>
          <a:noFill/>
          <a:ln/>
        </p:spPr>
        <p:txBody>
          <a:bodyPr wrap="square" lIns="0" tIns="0" rIns="0" bIns="0" rtlCol="0" anchor="t"/>
          <a:lstStyle/>
          <a:p>
            <a:pPr indent="0" marL="0">
              <a:buNone/>
            </a:pPr>
            <a:r>
              <a:rPr lang="en-US" sz="1200" b="1" dirty="0">
                <a:solidFill>
                  <a:srgbClr val="C2410C"/>
                </a:solidFill>
                <a:latin typeface="Calibri" pitchFamily="34" charset="0"/>
                <a:ea typeface="Calibri" pitchFamily="34" charset="-122"/>
                <a:cs typeface="Calibri" pitchFamily="34" charset="-120"/>
              </a:rPr>
              <a:t>Most chess programs, historically. Section 5.3.</a:t>
            </a:r>
            <a:endParaRPr lang="en-US" sz="1200" dirty="0"/>
          </a:p>
        </p:txBody>
      </p:sp>
      <p:sp>
        <p:nvSpPr>
          <p:cNvPr id="12" name="Shape 9"/>
          <p:cNvSpPr/>
          <p:nvPr/>
        </p:nvSpPr>
        <p:spPr>
          <a:xfrm>
            <a:off x="6144768" y="1536192"/>
            <a:ext cx="5303520" cy="3200400"/>
          </a:xfrm>
          <a:prstGeom prst="roundRect">
            <a:avLst>
              <a:gd name="adj" fmla="val 2000"/>
            </a:avLst>
          </a:prstGeom>
          <a:solidFill>
            <a:srgbClr val="EAF1F5"/>
          </a:solidFill>
          <a:ln w="12700">
            <a:solidFill>
              <a:srgbClr val="EAF1F5"/>
            </a:solidFill>
            <a:prstDash val="solid"/>
          </a:ln>
        </p:spPr>
      </p:sp>
      <p:sp>
        <p:nvSpPr>
          <p:cNvPr id="13" name="Text 10"/>
          <p:cNvSpPr/>
          <p:nvPr/>
        </p:nvSpPr>
        <p:spPr>
          <a:xfrm>
            <a:off x="6437376" y="1737360"/>
            <a:ext cx="4754880" cy="457200"/>
          </a:xfrm>
          <a:prstGeom prst="rect">
            <a:avLst/>
          </a:prstGeom>
          <a:noFill/>
          <a:ln/>
        </p:spPr>
        <p:txBody>
          <a:bodyPr wrap="square" lIns="0" tIns="0" rIns="0" bIns="0" rtlCol="0" anchor="ctr"/>
          <a:lstStyle/>
          <a:p>
            <a:pPr indent="0" marL="0">
              <a:buNone/>
            </a:pPr>
            <a:r>
              <a:rPr lang="en-US" sz="2600" b="1" dirty="0">
                <a:solidFill>
                  <a:srgbClr val="1D4E63"/>
                </a:solidFill>
                <a:latin typeface="Cambria" pitchFamily="34" charset="0"/>
                <a:ea typeface="Cambria" pitchFamily="34" charset="-122"/>
                <a:cs typeface="Cambria" pitchFamily="34" charset="-120"/>
              </a:rPr>
              <a:t>Type B</a:t>
            </a:r>
            <a:endParaRPr lang="en-US" sz="2600" dirty="0"/>
          </a:p>
        </p:txBody>
      </p:sp>
      <p:sp>
        <p:nvSpPr>
          <p:cNvPr id="14" name="Text 11"/>
          <p:cNvSpPr/>
          <p:nvPr/>
        </p:nvSpPr>
        <p:spPr>
          <a:xfrm>
            <a:off x="6437376" y="2212848"/>
            <a:ext cx="4754880" cy="329184"/>
          </a:xfrm>
          <a:prstGeom prst="rect">
            <a:avLst/>
          </a:prstGeom>
          <a:noFill/>
          <a:ln/>
        </p:spPr>
        <p:txBody>
          <a:bodyPr wrap="square" lIns="0" tIns="0" rIns="0" bIns="0" rtlCol="0" anchor="ctr"/>
          <a:lstStyle/>
          <a:p>
            <a:pPr indent="0" marL="0">
              <a:buNone/>
            </a:pPr>
            <a:r>
              <a:rPr lang="en-US" sz="1400" i="1" dirty="0">
                <a:solidFill>
                  <a:srgbClr val="3A3F4C"/>
                </a:solidFill>
                <a:latin typeface="Calibri" pitchFamily="34" charset="0"/>
                <a:ea typeface="Calibri" pitchFamily="34" charset="-122"/>
                <a:cs typeface="Calibri" pitchFamily="34" charset="-120"/>
              </a:rPr>
              <a:t>Narrow and deep</a:t>
            </a:r>
            <a:endParaRPr lang="en-US" sz="1400" dirty="0"/>
          </a:p>
        </p:txBody>
      </p:sp>
      <p:sp>
        <p:nvSpPr>
          <p:cNvPr id="15" name="Text 12"/>
          <p:cNvSpPr/>
          <p:nvPr/>
        </p:nvSpPr>
        <p:spPr>
          <a:xfrm>
            <a:off x="6437376" y="2651760"/>
            <a:ext cx="4773168" cy="1234440"/>
          </a:xfrm>
          <a:prstGeom prst="rect">
            <a:avLst/>
          </a:prstGeom>
          <a:noFill/>
          <a:ln/>
        </p:spPr>
        <p:txBody>
          <a:bodyPr wrap="square" lIns="0" tIns="0" rIns="0" bIns="0" rtlCol="0" anchor="t"/>
          <a:lstStyle/>
          <a:p>
            <a:pPr indent="0" marL="0">
              <a:buNone/>
            </a:pPr>
            <a:r>
              <a:rPr lang="en-US" sz="1300" dirty="0">
                <a:solidFill>
                  <a:srgbClr val="3A3F4C"/>
                </a:solidFill>
                <a:latin typeface="Calibri" pitchFamily="34" charset="0"/>
                <a:ea typeface="Calibri" pitchFamily="34" charset="-122"/>
                <a:cs typeface="Calibri" pitchFamily="34" charset="-120"/>
              </a:rPr>
              <a:t>Ignore moves that look bad and follow promising lines as far as possible. Accepts the risk of discarding a good move in exchange for depth.</a:t>
            </a:r>
            <a:endParaRPr lang="en-US" sz="1300" dirty="0"/>
          </a:p>
        </p:txBody>
      </p:sp>
      <p:sp>
        <p:nvSpPr>
          <p:cNvPr id="16" name="Text 13"/>
          <p:cNvSpPr/>
          <p:nvPr/>
        </p:nvSpPr>
        <p:spPr>
          <a:xfrm>
            <a:off x="6437376" y="4023360"/>
            <a:ext cx="4773168" cy="640080"/>
          </a:xfrm>
          <a:prstGeom prst="rect">
            <a:avLst/>
          </a:prstGeom>
          <a:noFill/>
          <a:ln/>
        </p:spPr>
        <p:txBody>
          <a:bodyPr wrap="square" lIns="0" tIns="0" rIns="0" bIns="0" rtlCol="0" anchor="t"/>
          <a:lstStyle/>
          <a:p>
            <a:pPr indent="0" marL="0">
              <a:buNone/>
            </a:pPr>
            <a:r>
              <a:rPr lang="en-US" sz="1200" b="1" dirty="0">
                <a:solidFill>
                  <a:srgbClr val="1D4E63"/>
                </a:solidFill>
                <a:latin typeface="Calibri" pitchFamily="34" charset="0"/>
                <a:ea typeface="Calibri" pitchFamily="34" charset="-122"/>
                <a:cs typeface="Calibri" pitchFamily="34" charset="-120"/>
              </a:rPr>
              <a:t>Most Go programs, and modern engines like AlphaZero. Section 5.4.</a:t>
            </a:r>
            <a:endParaRPr lang="en-US" sz="1200" dirty="0"/>
          </a:p>
        </p:txBody>
      </p:sp>
      <p:sp>
        <p:nvSpPr>
          <p:cNvPr id="17" name="Shape 14"/>
          <p:cNvSpPr/>
          <p:nvPr/>
        </p:nvSpPr>
        <p:spPr>
          <a:xfrm>
            <a:off x="566928" y="4937760"/>
            <a:ext cx="11064240" cy="1207008"/>
          </a:xfrm>
          <a:prstGeom prst="roundRect">
            <a:avLst>
              <a:gd name="adj" fmla="val 5303"/>
            </a:avLst>
          </a:prstGeom>
          <a:solidFill>
            <a:srgbClr val="1C1F2A"/>
          </a:solidFill>
          <a:ln w="12700">
            <a:solidFill>
              <a:srgbClr val="1C1F2A"/>
            </a:solidFill>
            <a:prstDash val="solid"/>
          </a:ln>
        </p:spPr>
      </p:sp>
      <p:sp>
        <p:nvSpPr>
          <p:cNvPr id="18" name="Text 15"/>
          <p:cNvSpPr/>
          <p:nvPr/>
        </p:nvSpPr>
        <p:spPr>
          <a:xfrm>
            <a:off x="914400" y="4937760"/>
            <a:ext cx="10332720" cy="1207008"/>
          </a:xfrm>
          <a:prstGeom prst="rect">
            <a:avLst/>
          </a:prstGeom>
          <a:noFill/>
          <a:ln/>
        </p:spPr>
        <p:txBody>
          <a:bodyPr wrap="square" lIns="0" tIns="0" rIns="0" bIns="0" rtlCol="0" anchor="ctr"/>
          <a:lstStyle/>
          <a:p>
            <a:pPr indent="0" marL="0">
              <a:buNone/>
            </a:pPr>
            <a:r>
              <a:rPr lang="en-US" sz="1500" dirty="0">
                <a:solidFill>
                  <a:srgbClr val="C6CBD8"/>
                </a:solidFill>
                <a:latin typeface="Calibri" pitchFamily="34" charset="0"/>
                <a:ea typeface="Calibri" pitchFamily="34" charset="-122"/>
                <a:cs typeface="Calibri" pitchFamily="34" charset="-120"/>
              </a:rPr>
              <a:t>Both strategies exist because the complete tree does not fit in any machine. The only question is which dimension you sacrifice: breadth of consideration, or depth of lookahead.</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C1F2A"/>
        </a:solidFill>
      </p:bgPr>
    </p:bg>
    <p:spTree>
      <p:nvGrpSpPr>
        <p:cNvPr id="1" name=""/>
        <p:cNvGrpSpPr/>
        <p:nvPr/>
      </p:nvGrpSpPr>
      <p:grpSpPr>
        <a:xfrm>
          <a:off x="0" y="0"/>
          <a:ext cx="0" cy="0"/>
          <a:chOff x="0" y="0"/>
          <a:chExt cx="0" cy="0"/>
        </a:xfrm>
      </p:grpSpPr>
      <p:sp>
        <p:nvSpPr>
          <p:cNvPr id="2" name="Text 0"/>
          <p:cNvSpPr/>
          <p:nvPr/>
        </p:nvSpPr>
        <p:spPr>
          <a:xfrm>
            <a:off x="822960" y="1920240"/>
            <a:ext cx="6400800" cy="365760"/>
          </a:xfrm>
          <a:prstGeom prst="rect">
            <a:avLst/>
          </a:prstGeom>
          <a:noFill/>
          <a:ln/>
        </p:spPr>
        <p:txBody>
          <a:bodyPr wrap="square" lIns="0" tIns="0" rIns="0" bIns="0" rtlCol="0" anchor="ctr"/>
          <a:lstStyle/>
          <a:p>
            <a:pPr indent="0" marL="0">
              <a:buNone/>
            </a:pPr>
            <a:r>
              <a:rPr lang="en-US" sz="1250" b="1" spc="220" kern="0" dirty="0">
                <a:solidFill>
                  <a:srgbClr val="B58500"/>
                </a:solidFill>
                <a:latin typeface="Calibri" pitchFamily="34" charset="0"/>
                <a:ea typeface="Calibri" pitchFamily="34" charset="-122"/>
                <a:cs typeface="Calibri" pitchFamily="34" charset="-120"/>
              </a:rPr>
              <a:t>PART II  ·  30 MINUTES</a:t>
            </a:r>
            <a:endParaRPr lang="en-US" sz="1250" dirty="0"/>
          </a:p>
        </p:txBody>
      </p:sp>
      <p:sp>
        <p:nvSpPr>
          <p:cNvPr id="3" name="Text 1"/>
          <p:cNvSpPr/>
          <p:nvPr/>
        </p:nvSpPr>
        <p:spPr>
          <a:xfrm>
            <a:off x="822960" y="2331720"/>
            <a:ext cx="7680960" cy="1554480"/>
          </a:xfrm>
          <a:prstGeom prst="rect">
            <a:avLst/>
          </a:prstGeom>
          <a:noFill/>
          <a:ln/>
        </p:spPr>
        <p:txBody>
          <a:bodyPr wrap="square" lIns="0" tIns="0" rIns="0" bIns="0" rtlCol="0" anchor="t"/>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Playing games we</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cannot solve</a:t>
            </a:r>
            <a:endParaRPr lang="en-US" sz="3800" dirty="0"/>
          </a:p>
        </p:txBody>
      </p:sp>
      <p:sp>
        <p:nvSpPr>
          <p:cNvPr id="4" name="Text 2"/>
          <p:cNvSpPr/>
          <p:nvPr/>
        </p:nvSpPr>
        <p:spPr>
          <a:xfrm>
            <a:off x="822960" y="4023360"/>
            <a:ext cx="7132320" cy="1097280"/>
          </a:xfrm>
          <a:prstGeom prst="rect">
            <a:avLst/>
          </a:prstGeom>
          <a:noFill/>
          <a:ln/>
        </p:spPr>
        <p:txBody>
          <a:bodyPr wrap="square" lIns="0" tIns="0" rIns="0" bIns="0" rtlCol="0" anchor="t"/>
          <a:lstStyle/>
          <a:p>
            <a:pPr indent="0" marL="0">
              <a:buNone/>
            </a:pPr>
            <a:r>
              <a:rPr lang="en-US" sz="1500" dirty="0">
                <a:solidFill>
                  <a:srgbClr val="A9B0C0"/>
                </a:solidFill>
                <a:latin typeface="Calibri" pitchFamily="34" charset="0"/>
                <a:ea typeface="Calibri" pitchFamily="34" charset="-122"/>
                <a:cs typeface="Calibri" pitchFamily="34" charset="-120"/>
              </a:rPr>
              <a:t>Cut the search off early, guess who is winning, and be honest about what that guess costs you.</a:t>
            </a:r>
            <a:endParaRPr lang="en-US" sz="1500" dirty="0"/>
          </a:p>
        </p:txBody>
      </p:sp>
      <p:sp>
        <p:nvSpPr>
          <p:cNvPr id="5" name="Shape 3"/>
          <p:cNvSpPr/>
          <p:nvPr/>
        </p:nvSpPr>
        <p:spPr>
          <a:xfrm rot="10800000">
            <a:off x="9372600" y="2377440"/>
            <a:ext cx="1645920" cy="1645920"/>
          </a:xfrm>
          <a:prstGeom prst="triangle">
            <a:avLst/>
          </a:prstGeom>
          <a:solidFill>
            <a:srgbClr val="1D4E63"/>
          </a:solidFill>
          <a:ln w="12700">
            <a:solidFill>
              <a:srgbClr val="1D4E63"/>
            </a:solidFill>
            <a:prstDash val="solid"/>
          </a:ln>
        </p:spPr>
      </p:sp>
      <p:sp>
        <p:nvSpPr>
          <p:cNvPr id="6" name="Text 4"/>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565D6E"/>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7" name="Text 5"/>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565D6E"/>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5.3  HEURISTIC ALPHA-BETA TREE SEARCH</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Two substitutions turn theory into an engine</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20</a:t>
            </a:r>
            <a:endParaRPr lang="en-US" sz="900" dirty="0"/>
          </a:p>
        </p:txBody>
      </p:sp>
      <p:sp>
        <p:nvSpPr>
          <p:cNvPr id="7" name="Shape 4"/>
          <p:cNvSpPr/>
          <p:nvPr/>
        </p:nvSpPr>
        <p:spPr>
          <a:xfrm>
            <a:off x="566928" y="1481328"/>
            <a:ext cx="11064240" cy="1005840"/>
          </a:xfrm>
          <a:prstGeom prst="roundRect">
            <a:avLst>
              <a:gd name="adj" fmla="val 6364"/>
            </a:avLst>
          </a:prstGeom>
          <a:solidFill>
            <a:srgbClr val="F1F2F5"/>
          </a:solidFill>
          <a:ln w="12700">
            <a:solidFill>
              <a:srgbClr val="F1F2F5"/>
            </a:solidFill>
            <a:prstDash val="solid"/>
          </a:ln>
        </p:spPr>
      </p:sp>
      <p:sp>
        <p:nvSpPr>
          <p:cNvPr id="8" name="Text 5"/>
          <p:cNvSpPr/>
          <p:nvPr/>
        </p:nvSpPr>
        <p:spPr>
          <a:xfrm>
            <a:off x="868680" y="1481328"/>
            <a:ext cx="2377440" cy="1005840"/>
          </a:xfrm>
          <a:prstGeom prst="rect">
            <a:avLst/>
          </a:prstGeom>
          <a:noFill/>
          <a:ln/>
        </p:spPr>
        <p:txBody>
          <a:bodyPr wrap="square" lIns="0" tIns="0" rIns="0" bIns="0" rtlCol="0" anchor="ctr"/>
          <a:lstStyle/>
          <a:p>
            <a:pPr indent="0" marL="0">
              <a:buNone/>
            </a:pPr>
            <a:r>
              <a:rPr lang="en-US" sz="1500" b="1" dirty="0">
                <a:solidFill>
                  <a:srgbClr val="8A8F9C"/>
                </a:solidFill>
                <a:latin typeface="Courier New" pitchFamily="34" charset="0"/>
                <a:ea typeface="Courier New" pitchFamily="34" charset="-122"/>
                <a:cs typeface="Courier New" pitchFamily="34" charset="-120"/>
              </a:rPr>
              <a:t>UTILITY(s, p)</a:t>
            </a:r>
            <a:endParaRPr lang="en-US" sz="1500" dirty="0"/>
          </a:p>
        </p:txBody>
      </p:sp>
      <p:sp>
        <p:nvSpPr>
          <p:cNvPr id="9" name="Shape 6"/>
          <p:cNvSpPr/>
          <p:nvPr/>
        </p:nvSpPr>
        <p:spPr>
          <a:xfrm>
            <a:off x="3291840" y="1865376"/>
            <a:ext cx="502920" cy="237744"/>
          </a:xfrm>
          <a:prstGeom prst="rightArrow">
            <a:avLst/>
          </a:prstGeom>
          <a:solidFill>
            <a:srgbClr val="C2410C"/>
          </a:solidFill>
          <a:ln w="12700">
            <a:solidFill>
              <a:srgbClr val="C2410C"/>
            </a:solidFill>
            <a:prstDash val="solid"/>
          </a:ln>
        </p:spPr>
      </p:sp>
      <p:sp>
        <p:nvSpPr>
          <p:cNvPr id="10" name="Text 7"/>
          <p:cNvSpPr/>
          <p:nvPr/>
        </p:nvSpPr>
        <p:spPr>
          <a:xfrm>
            <a:off x="3977640" y="1481328"/>
            <a:ext cx="2560320" cy="1005840"/>
          </a:xfrm>
          <a:prstGeom prst="rect">
            <a:avLst/>
          </a:prstGeom>
          <a:noFill/>
          <a:ln/>
        </p:spPr>
        <p:txBody>
          <a:bodyPr wrap="square" lIns="0" tIns="0" rIns="0" bIns="0" rtlCol="0" anchor="ctr"/>
          <a:lstStyle/>
          <a:p>
            <a:pPr indent="0" marL="0">
              <a:buNone/>
            </a:pPr>
            <a:r>
              <a:rPr lang="en-US" sz="1500" b="1" dirty="0">
                <a:solidFill>
                  <a:srgbClr val="C2410C"/>
                </a:solidFill>
                <a:latin typeface="Courier New" pitchFamily="34" charset="0"/>
                <a:ea typeface="Courier New" pitchFamily="34" charset="-122"/>
                <a:cs typeface="Courier New" pitchFamily="34" charset="-120"/>
              </a:rPr>
              <a:t>EVAL(s, p)</a:t>
            </a:r>
            <a:endParaRPr lang="en-US" sz="1500" dirty="0"/>
          </a:p>
        </p:txBody>
      </p:sp>
      <p:sp>
        <p:nvSpPr>
          <p:cNvPr id="11" name="Text 8"/>
          <p:cNvSpPr/>
          <p:nvPr/>
        </p:nvSpPr>
        <p:spPr>
          <a:xfrm>
            <a:off x="6675120" y="1481328"/>
            <a:ext cx="4663440" cy="1005840"/>
          </a:xfrm>
          <a:prstGeom prst="rect">
            <a:avLst/>
          </a:prstGeom>
          <a:noFill/>
          <a:ln/>
        </p:spPr>
        <p:txBody>
          <a:bodyPr wrap="square" lIns="0" tIns="0" rIns="0" bIns="0" rtlCol="0" anchor="ctr"/>
          <a:lstStyle/>
          <a:p>
            <a:pPr indent="0" marL="0">
              <a:buNone/>
            </a:pPr>
            <a:r>
              <a:rPr lang="en-US" sz="1250" dirty="0">
                <a:solidFill>
                  <a:srgbClr val="3A3F4C"/>
                </a:solidFill>
                <a:latin typeface="Calibri" pitchFamily="34" charset="0"/>
                <a:ea typeface="Calibri" pitchFamily="34" charset="-122"/>
                <a:cs typeface="Calibri" pitchFamily="34" charset="-120"/>
              </a:rPr>
              <a:t>The exact payoff becomes an estimate of the expected utility of a nonterminal position.</a:t>
            </a:r>
            <a:endParaRPr lang="en-US" sz="1250" dirty="0"/>
          </a:p>
        </p:txBody>
      </p:sp>
      <p:sp>
        <p:nvSpPr>
          <p:cNvPr id="12" name="Shape 9"/>
          <p:cNvSpPr/>
          <p:nvPr/>
        </p:nvSpPr>
        <p:spPr>
          <a:xfrm>
            <a:off x="566928" y="2651760"/>
            <a:ext cx="11064240" cy="1005840"/>
          </a:xfrm>
          <a:prstGeom prst="roundRect">
            <a:avLst>
              <a:gd name="adj" fmla="val 6364"/>
            </a:avLst>
          </a:prstGeom>
          <a:solidFill>
            <a:srgbClr val="F1F2F5"/>
          </a:solidFill>
          <a:ln w="12700">
            <a:solidFill>
              <a:srgbClr val="F1F2F5"/>
            </a:solidFill>
            <a:prstDash val="solid"/>
          </a:ln>
        </p:spPr>
      </p:sp>
      <p:sp>
        <p:nvSpPr>
          <p:cNvPr id="13" name="Text 10"/>
          <p:cNvSpPr/>
          <p:nvPr/>
        </p:nvSpPr>
        <p:spPr>
          <a:xfrm>
            <a:off x="868680" y="2651760"/>
            <a:ext cx="2377440" cy="1005840"/>
          </a:xfrm>
          <a:prstGeom prst="rect">
            <a:avLst/>
          </a:prstGeom>
          <a:noFill/>
          <a:ln/>
        </p:spPr>
        <p:txBody>
          <a:bodyPr wrap="square" lIns="0" tIns="0" rIns="0" bIns="0" rtlCol="0" anchor="ctr"/>
          <a:lstStyle/>
          <a:p>
            <a:pPr indent="0" marL="0">
              <a:buNone/>
            </a:pPr>
            <a:r>
              <a:rPr lang="en-US" sz="1500" b="1" dirty="0">
                <a:solidFill>
                  <a:srgbClr val="8A8F9C"/>
                </a:solidFill>
                <a:latin typeface="Courier New" pitchFamily="34" charset="0"/>
                <a:ea typeface="Courier New" pitchFamily="34" charset="-122"/>
                <a:cs typeface="Courier New" pitchFamily="34" charset="-120"/>
              </a:rPr>
              <a:t>IS-TERMINAL(s)</a:t>
            </a:r>
            <a:endParaRPr lang="en-US" sz="1500" dirty="0"/>
          </a:p>
        </p:txBody>
      </p:sp>
      <p:sp>
        <p:nvSpPr>
          <p:cNvPr id="14" name="Shape 11"/>
          <p:cNvSpPr/>
          <p:nvPr/>
        </p:nvSpPr>
        <p:spPr>
          <a:xfrm>
            <a:off x="3291840" y="3035808"/>
            <a:ext cx="502920" cy="237744"/>
          </a:xfrm>
          <a:prstGeom prst="rightArrow">
            <a:avLst/>
          </a:prstGeom>
          <a:solidFill>
            <a:srgbClr val="C2410C"/>
          </a:solidFill>
          <a:ln w="12700">
            <a:solidFill>
              <a:srgbClr val="C2410C"/>
            </a:solidFill>
            <a:prstDash val="solid"/>
          </a:ln>
        </p:spPr>
      </p:sp>
      <p:sp>
        <p:nvSpPr>
          <p:cNvPr id="15" name="Text 12"/>
          <p:cNvSpPr/>
          <p:nvPr/>
        </p:nvSpPr>
        <p:spPr>
          <a:xfrm>
            <a:off x="3977640" y="2651760"/>
            <a:ext cx="2560320" cy="1005840"/>
          </a:xfrm>
          <a:prstGeom prst="rect">
            <a:avLst/>
          </a:prstGeom>
          <a:noFill/>
          <a:ln/>
        </p:spPr>
        <p:txBody>
          <a:bodyPr wrap="square" lIns="0" tIns="0" rIns="0" bIns="0" rtlCol="0" anchor="ctr"/>
          <a:lstStyle/>
          <a:p>
            <a:pPr indent="0" marL="0">
              <a:buNone/>
            </a:pPr>
            <a:r>
              <a:rPr lang="en-US" sz="1500" b="1" dirty="0">
                <a:solidFill>
                  <a:srgbClr val="C2410C"/>
                </a:solidFill>
                <a:latin typeface="Courier New" pitchFamily="34" charset="0"/>
                <a:ea typeface="Courier New" pitchFamily="34" charset="-122"/>
                <a:cs typeface="Courier New" pitchFamily="34" charset="-120"/>
              </a:rPr>
              <a:t>IS-CUTOFF(s, d)</a:t>
            </a:r>
            <a:endParaRPr lang="en-US" sz="1500" dirty="0"/>
          </a:p>
        </p:txBody>
      </p:sp>
      <p:sp>
        <p:nvSpPr>
          <p:cNvPr id="16" name="Text 13"/>
          <p:cNvSpPr/>
          <p:nvPr/>
        </p:nvSpPr>
        <p:spPr>
          <a:xfrm>
            <a:off x="6675120" y="2651760"/>
            <a:ext cx="4663440" cy="1005840"/>
          </a:xfrm>
          <a:prstGeom prst="rect">
            <a:avLst/>
          </a:prstGeom>
          <a:noFill/>
          <a:ln/>
        </p:spPr>
        <p:txBody>
          <a:bodyPr wrap="square" lIns="0" tIns="0" rIns="0" bIns="0" rtlCol="0" anchor="ctr"/>
          <a:lstStyle/>
          <a:p>
            <a:pPr indent="0" marL="0">
              <a:buNone/>
            </a:pPr>
            <a:r>
              <a:rPr lang="en-US" sz="1250" dirty="0">
                <a:solidFill>
                  <a:srgbClr val="3A3F4C"/>
                </a:solidFill>
                <a:latin typeface="Calibri" pitchFamily="34" charset="0"/>
                <a:ea typeface="Calibri" pitchFamily="34" charset="-122"/>
                <a:cs typeface="Calibri" pitchFamily="34" charset="-120"/>
              </a:rPr>
              <a:t>The terminal test becomes a decision about when to stop, free to consider depth and any property of the state.</a:t>
            </a:r>
            <a:endParaRPr lang="en-US" sz="1250" dirty="0"/>
          </a:p>
        </p:txBody>
      </p:sp>
      <p:sp>
        <p:nvSpPr>
          <p:cNvPr id="17" name="Shape 14"/>
          <p:cNvSpPr/>
          <p:nvPr/>
        </p:nvSpPr>
        <p:spPr>
          <a:xfrm>
            <a:off x="566928" y="3840480"/>
            <a:ext cx="11064240" cy="1920240"/>
          </a:xfrm>
          <a:prstGeom prst="roundRect">
            <a:avLst>
              <a:gd name="adj" fmla="val 3333"/>
            </a:avLst>
          </a:prstGeom>
          <a:solidFill>
            <a:srgbClr val="1C1F2A"/>
          </a:solidFill>
          <a:ln w="12700">
            <a:solidFill>
              <a:srgbClr val="1C1F2A"/>
            </a:solidFill>
            <a:prstDash val="solid"/>
          </a:ln>
        </p:spPr>
      </p:sp>
      <p:sp>
        <p:nvSpPr>
          <p:cNvPr id="18" name="Text 15"/>
          <p:cNvSpPr/>
          <p:nvPr/>
        </p:nvSpPr>
        <p:spPr>
          <a:xfrm>
            <a:off x="914400" y="4069080"/>
            <a:ext cx="274320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H-MINIMAX(s, d)  =</a:t>
            </a:r>
            <a:endParaRPr lang="en-US" sz="1700" dirty="0"/>
          </a:p>
        </p:txBody>
      </p:sp>
      <p:sp>
        <p:nvSpPr>
          <p:cNvPr id="19" name="Text 16"/>
          <p:cNvSpPr/>
          <p:nvPr/>
        </p:nvSpPr>
        <p:spPr>
          <a:xfrm>
            <a:off x="3931920" y="4041648"/>
            <a:ext cx="5120640" cy="457200"/>
          </a:xfrm>
          <a:prstGeom prst="rect">
            <a:avLst/>
          </a:prstGeom>
          <a:noFill/>
          <a:ln/>
        </p:spPr>
        <p:txBody>
          <a:bodyPr wrap="square" lIns="0" tIns="0" rIns="0" bIns="0" rtlCol="0" anchor="ctr"/>
          <a:lstStyle/>
          <a:p>
            <a:pPr indent="0" marL="0">
              <a:buNone/>
            </a:pPr>
            <a:r>
              <a:rPr lang="en-US" sz="1400" dirty="0">
                <a:solidFill>
                  <a:srgbClr val="E6E9F0"/>
                </a:solidFill>
                <a:latin typeface="Calibri" pitchFamily="34" charset="0"/>
                <a:ea typeface="Calibri" pitchFamily="34" charset="-122"/>
                <a:cs typeface="Calibri" pitchFamily="34" charset="-120"/>
              </a:rPr>
              <a:t>EVAL(s, MAX)</a:t>
            </a:r>
            <a:endParaRPr lang="en-US" sz="1400" dirty="0"/>
          </a:p>
        </p:txBody>
      </p:sp>
      <p:sp>
        <p:nvSpPr>
          <p:cNvPr id="20" name="Text 17"/>
          <p:cNvSpPr/>
          <p:nvPr/>
        </p:nvSpPr>
        <p:spPr>
          <a:xfrm>
            <a:off x="9144000" y="4041648"/>
            <a:ext cx="2286000" cy="457200"/>
          </a:xfrm>
          <a:prstGeom prst="rect">
            <a:avLst/>
          </a:prstGeom>
          <a:noFill/>
          <a:ln/>
        </p:spPr>
        <p:txBody>
          <a:bodyPr wrap="square" lIns="0" tIns="0" rIns="0" bIns="0" rtlCol="0" anchor="ctr"/>
          <a:lstStyle/>
          <a:p>
            <a:pPr indent="0" marL="0">
              <a:buNone/>
            </a:pPr>
            <a:r>
              <a:rPr lang="en-US" sz="1250" i="1" dirty="0">
                <a:solidFill>
                  <a:srgbClr val="9AA2B4"/>
                </a:solidFill>
                <a:latin typeface="Calibri" pitchFamily="34" charset="0"/>
                <a:ea typeface="Calibri" pitchFamily="34" charset="-122"/>
                <a:cs typeface="Calibri" pitchFamily="34" charset="-120"/>
              </a:rPr>
              <a:t>if IS-CUTOFF(s, d)</a:t>
            </a:r>
            <a:endParaRPr lang="en-US" sz="1250" dirty="0"/>
          </a:p>
        </p:txBody>
      </p:sp>
      <p:sp>
        <p:nvSpPr>
          <p:cNvPr id="21" name="Text 18"/>
          <p:cNvSpPr/>
          <p:nvPr/>
        </p:nvSpPr>
        <p:spPr>
          <a:xfrm>
            <a:off x="3931920" y="4572000"/>
            <a:ext cx="5120640" cy="457200"/>
          </a:xfrm>
          <a:prstGeom prst="rect">
            <a:avLst/>
          </a:prstGeom>
          <a:noFill/>
          <a:ln/>
        </p:spPr>
        <p:txBody>
          <a:bodyPr wrap="square" lIns="0" tIns="0" rIns="0" bIns="0" rtlCol="0" anchor="ctr"/>
          <a:lstStyle/>
          <a:p>
            <a:pPr indent="0" marL="0">
              <a:buNone/>
            </a:pPr>
            <a:r>
              <a:rPr lang="en-US" sz="1400" dirty="0">
                <a:solidFill>
                  <a:srgbClr val="E6E9F0"/>
                </a:solidFill>
                <a:latin typeface="Calibri" pitchFamily="34" charset="0"/>
                <a:ea typeface="Calibri" pitchFamily="34" charset="-122"/>
                <a:cs typeface="Calibri" pitchFamily="34" charset="-120"/>
              </a:rPr>
              <a:t>max over a of  H-MINIMAX(RESULT(s, a), d + 1)</a:t>
            </a:r>
            <a:endParaRPr lang="en-US" sz="1400" dirty="0"/>
          </a:p>
        </p:txBody>
      </p:sp>
      <p:sp>
        <p:nvSpPr>
          <p:cNvPr id="22" name="Text 19"/>
          <p:cNvSpPr/>
          <p:nvPr/>
        </p:nvSpPr>
        <p:spPr>
          <a:xfrm>
            <a:off x="9144000" y="4572000"/>
            <a:ext cx="2286000" cy="457200"/>
          </a:xfrm>
          <a:prstGeom prst="rect">
            <a:avLst/>
          </a:prstGeom>
          <a:noFill/>
          <a:ln/>
        </p:spPr>
        <p:txBody>
          <a:bodyPr wrap="square" lIns="0" tIns="0" rIns="0" bIns="0" rtlCol="0" anchor="ctr"/>
          <a:lstStyle/>
          <a:p>
            <a:pPr indent="0" marL="0">
              <a:buNone/>
            </a:pPr>
            <a:r>
              <a:rPr lang="en-US" sz="1250" i="1" dirty="0">
                <a:solidFill>
                  <a:srgbClr val="F0A177"/>
                </a:solidFill>
                <a:latin typeface="Calibri" pitchFamily="34" charset="0"/>
                <a:ea typeface="Calibri" pitchFamily="34" charset="-122"/>
                <a:cs typeface="Calibri" pitchFamily="34" charset="-120"/>
              </a:rPr>
              <a:t>if TO-MOVE(s) = MAX</a:t>
            </a:r>
            <a:endParaRPr lang="en-US" sz="1250" dirty="0"/>
          </a:p>
        </p:txBody>
      </p:sp>
      <p:sp>
        <p:nvSpPr>
          <p:cNvPr id="23" name="Text 20"/>
          <p:cNvSpPr/>
          <p:nvPr/>
        </p:nvSpPr>
        <p:spPr>
          <a:xfrm>
            <a:off x="3931920" y="5102352"/>
            <a:ext cx="5120640" cy="457200"/>
          </a:xfrm>
          <a:prstGeom prst="rect">
            <a:avLst/>
          </a:prstGeom>
          <a:noFill/>
          <a:ln/>
        </p:spPr>
        <p:txBody>
          <a:bodyPr wrap="square" lIns="0" tIns="0" rIns="0" bIns="0" rtlCol="0" anchor="ctr"/>
          <a:lstStyle/>
          <a:p>
            <a:pPr indent="0" marL="0">
              <a:buNone/>
            </a:pPr>
            <a:r>
              <a:rPr lang="en-US" sz="1400" dirty="0">
                <a:solidFill>
                  <a:srgbClr val="E6E9F0"/>
                </a:solidFill>
                <a:latin typeface="Calibri" pitchFamily="34" charset="0"/>
                <a:ea typeface="Calibri" pitchFamily="34" charset="-122"/>
                <a:cs typeface="Calibri" pitchFamily="34" charset="-120"/>
              </a:rPr>
              <a:t>min over a of  H-MINIMAX(RESULT(s, a), d + 1)</a:t>
            </a:r>
            <a:endParaRPr lang="en-US" sz="1400" dirty="0"/>
          </a:p>
        </p:txBody>
      </p:sp>
      <p:sp>
        <p:nvSpPr>
          <p:cNvPr id="24" name="Text 21"/>
          <p:cNvSpPr/>
          <p:nvPr/>
        </p:nvSpPr>
        <p:spPr>
          <a:xfrm>
            <a:off x="9144000" y="5102352"/>
            <a:ext cx="2286000" cy="457200"/>
          </a:xfrm>
          <a:prstGeom prst="rect">
            <a:avLst/>
          </a:prstGeom>
          <a:noFill/>
          <a:ln/>
        </p:spPr>
        <p:txBody>
          <a:bodyPr wrap="square" lIns="0" tIns="0" rIns="0" bIns="0" rtlCol="0" anchor="ctr"/>
          <a:lstStyle/>
          <a:p>
            <a:pPr indent="0" marL="0">
              <a:buNone/>
            </a:pPr>
            <a:r>
              <a:rPr lang="en-US" sz="1250" i="1" dirty="0">
                <a:solidFill>
                  <a:srgbClr val="7FB6CE"/>
                </a:solidFill>
                <a:latin typeface="Calibri" pitchFamily="34" charset="0"/>
                <a:ea typeface="Calibri" pitchFamily="34" charset="-122"/>
                <a:cs typeface="Calibri" pitchFamily="34" charset="-120"/>
              </a:rPr>
              <a:t>if TO-MOVE(s) = MIN</a:t>
            </a:r>
            <a:endParaRPr lang="en-US" sz="1250" dirty="0"/>
          </a:p>
        </p:txBody>
      </p:sp>
      <p:sp>
        <p:nvSpPr>
          <p:cNvPr id="25" name="Text 22"/>
          <p:cNvSpPr/>
          <p:nvPr/>
        </p:nvSpPr>
        <p:spPr>
          <a:xfrm>
            <a:off x="566928" y="5870448"/>
            <a:ext cx="11064240" cy="365760"/>
          </a:xfrm>
          <a:prstGeom prst="rect">
            <a:avLst/>
          </a:prstGeom>
          <a:noFill/>
          <a:ln/>
        </p:spPr>
        <p:txBody>
          <a:bodyPr wrap="square" lIns="0" tIns="0" rIns="0" bIns="0" rtlCol="0" anchor="ctr"/>
          <a:lstStyle/>
          <a:p>
            <a:pPr indent="0" marL="0">
              <a:buNone/>
            </a:pPr>
            <a:r>
              <a:rPr lang="en-US" sz="1250" i="1" dirty="0">
                <a:solidFill>
                  <a:srgbClr val="8A8F9C"/>
                </a:solidFill>
                <a:latin typeface="Calibri" pitchFamily="34" charset="0"/>
                <a:ea typeface="Calibri" pitchFamily="34" charset="-122"/>
                <a:cs typeface="Calibri" pitchFamily="34" charset="-120"/>
              </a:rPr>
              <a:t>In the alpha-beta code, replace the IS-TERMINAL lines with:  if game.IS-CUTOFF(state, depth) then return game.EVAL(state, player), null</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5.3.1  EVALUATION FUNCTIONS</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What "chances of winning" means in a game of no chance</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21</a:t>
            </a:r>
            <a:endParaRPr lang="en-US" sz="900" dirty="0"/>
          </a:p>
        </p:txBody>
      </p:sp>
      <p:sp>
        <p:nvSpPr>
          <p:cNvPr id="7" name="Text 4"/>
          <p:cNvSpPr/>
          <p:nvPr/>
        </p:nvSpPr>
        <p:spPr>
          <a:xfrm>
            <a:off x="566928" y="1426464"/>
            <a:ext cx="11064240" cy="347472"/>
          </a:xfrm>
          <a:prstGeom prst="rect">
            <a:avLst/>
          </a:prstGeom>
          <a:noFill/>
          <a:ln/>
        </p:spPr>
        <p:txBody>
          <a:bodyPr wrap="square" lIns="0" tIns="0" rIns="0" bIns="0" rtlCol="0" anchor="ctr"/>
          <a:lstStyle/>
          <a:p>
            <a:pPr indent="0" marL="0">
              <a:buNone/>
            </a:pPr>
            <a:r>
              <a:rPr lang="en-US" sz="1350" dirty="0">
                <a:solidFill>
                  <a:srgbClr val="3A3F4C"/>
                </a:solidFill>
                <a:latin typeface="Calibri" pitchFamily="34" charset="0"/>
                <a:ea typeface="Calibri" pitchFamily="34" charset="-122"/>
                <a:cs typeface="Calibri" pitchFamily="34" charset="-120"/>
              </a:rPr>
              <a:t>EVAL must equal UTILITY at terminal states, and for nonterminal states must lie between the value of a loss and the value of a win.</a:t>
            </a:r>
            <a:endParaRPr lang="en-US" sz="1350" dirty="0"/>
          </a:p>
        </p:txBody>
      </p:sp>
      <p:sp>
        <p:nvSpPr>
          <p:cNvPr id="8" name="Shape 5"/>
          <p:cNvSpPr/>
          <p:nvPr/>
        </p:nvSpPr>
        <p:spPr>
          <a:xfrm>
            <a:off x="566928" y="1828800"/>
            <a:ext cx="5669280" cy="2148840"/>
          </a:xfrm>
          <a:prstGeom prst="roundRect">
            <a:avLst>
              <a:gd name="adj" fmla="val 2979"/>
            </a:avLst>
          </a:prstGeom>
          <a:solidFill>
            <a:srgbClr val="FDF2EC"/>
          </a:solidFill>
          <a:ln w="12700">
            <a:solidFill>
              <a:srgbClr val="FDF2EC"/>
            </a:solidFill>
            <a:prstDash val="solid"/>
          </a:ln>
        </p:spPr>
      </p:sp>
      <p:sp>
        <p:nvSpPr>
          <p:cNvPr id="9" name="Text 6"/>
          <p:cNvSpPr/>
          <p:nvPr/>
        </p:nvSpPr>
        <p:spPr>
          <a:xfrm>
            <a:off x="841248" y="2011680"/>
            <a:ext cx="5212080" cy="329184"/>
          </a:xfrm>
          <a:prstGeom prst="rect">
            <a:avLst/>
          </a:prstGeom>
          <a:noFill/>
          <a:ln/>
        </p:spPr>
        <p:txBody>
          <a:bodyPr wrap="square" lIns="0" tIns="0" rIns="0" bIns="0" rtlCol="0" anchor="ctr"/>
          <a:lstStyle/>
          <a:p>
            <a:pPr indent="0" marL="0">
              <a:buNone/>
            </a:pPr>
            <a:r>
              <a:rPr lang="en-US" sz="1500" b="1" dirty="0">
                <a:solidFill>
                  <a:srgbClr val="C2410C"/>
                </a:solidFill>
                <a:latin typeface="Cambria" pitchFamily="34" charset="0"/>
                <a:ea typeface="Cambria" pitchFamily="34" charset="-122"/>
                <a:cs typeface="Cambria" pitchFamily="34" charset="-120"/>
              </a:rPr>
              <a:t>The two-pawns-versus-one-pawn class</a:t>
            </a:r>
            <a:endParaRPr lang="en-US" sz="1500" dirty="0"/>
          </a:p>
        </p:txBody>
      </p:sp>
      <p:sp>
        <p:nvSpPr>
          <p:cNvPr id="10" name="Text 7"/>
          <p:cNvSpPr/>
          <p:nvPr/>
        </p:nvSpPr>
        <p:spPr>
          <a:xfrm>
            <a:off x="841248" y="2359152"/>
            <a:ext cx="5138928" cy="822960"/>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Features partition states into categories. Suppose experience says this category leads to a win 82 percent of the time, a loss 2 percent, and a draw 16 percent. A reasonable evaluation is the expected value:</a:t>
            </a:r>
            <a:endParaRPr lang="en-US" sz="1250" dirty="0"/>
          </a:p>
        </p:txBody>
      </p:sp>
      <p:sp>
        <p:nvSpPr>
          <p:cNvPr id="11" name="Text 8"/>
          <p:cNvSpPr/>
          <p:nvPr/>
        </p:nvSpPr>
        <p:spPr>
          <a:xfrm>
            <a:off x="841248" y="3291840"/>
            <a:ext cx="5138928" cy="502920"/>
          </a:xfrm>
          <a:prstGeom prst="rect">
            <a:avLst/>
          </a:prstGeom>
          <a:noFill/>
          <a:ln/>
        </p:spPr>
        <p:txBody>
          <a:bodyPr wrap="square" lIns="0" tIns="0" rIns="0" bIns="0" rtlCol="0" anchor="ctr"/>
          <a:lstStyle/>
          <a:p>
            <a:pPr algn="ctr" indent="0" marL="0">
              <a:buNone/>
            </a:pPr>
            <a:r>
              <a:rPr lang="en-US" sz="1600" b="1" dirty="0">
                <a:solidFill>
                  <a:srgbClr val="1C1F2A"/>
                </a:solidFill>
                <a:latin typeface="Calibri" pitchFamily="34" charset="0"/>
                <a:ea typeface="Calibri" pitchFamily="34" charset="-122"/>
                <a:cs typeface="Calibri" pitchFamily="34" charset="-120"/>
              </a:rPr>
              <a:t>(0.82 × 1) + (0.02 × 0) + (0.16 × ½)  =  0.90</a:t>
            </a:r>
            <a:endParaRPr lang="en-US" sz="1600" dirty="0"/>
          </a:p>
        </p:txBody>
      </p:sp>
      <p:sp>
        <p:nvSpPr>
          <p:cNvPr id="12" name="Shape 9"/>
          <p:cNvSpPr/>
          <p:nvPr/>
        </p:nvSpPr>
        <p:spPr>
          <a:xfrm>
            <a:off x="6492240" y="1828800"/>
            <a:ext cx="5138928" cy="2148840"/>
          </a:xfrm>
          <a:prstGeom prst="roundRect">
            <a:avLst>
              <a:gd name="adj" fmla="val 2979"/>
            </a:avLst>
          </a:prstGeom>
          <a:solidFill>
            <a:srgbClr val="F1F2F5"/>
          </a:solidFill>
          <a:ln w="12700">
            <a:solidFill>
              <a:srgbClr val="F1F2F5"/>
            </a:solidFill>
            <a:prstDash val="solid"/>
          </a:ln>
        </p:spPr>
      </p:sp>
      <p:sp>
        <p:nvSpPr>
          <p:cNvPr id="13" name="Text 10"/>
          <p:cNvSpPr/>
          <p:nvPr/>
        </p:nvSpPr>
        <p:spPr>
          <a:xfrm>
            <a:off x="6766560" y="2011680"/>
            <a:ext cx="4572000" cy="329184"/>
          </a:xfrm>
          <a:prstGeom prst="rect">
            <a:avLst/>
          </a:prstGeom>
          <a:noFill/>
          <a:ln/>
        </p:spPr>
        <p:txBody>
          <a:bodyPr wrap="square" lIns="0" tIns="0" rIns="0" bIns="0" rtlCol="0" anchor="ctr"/>
          <a:lstStyle/>
          <a:p>
            <a:pPr indent="0" marL="0">
              <a:buNone/>
            </a:pPr>
            <a:r>
              <a:rPr lang="en-US" sz="1500" b="1" dirty="0">
                <a:solidFill>
                  <a:srgbClr val="1D4E63"/>
                </a:solidFill>
                <a:latin typeface="Cambria" pitchFamily="34" charset="0"/>
                <a:ea typeface="Cambria" pitchFamily="34" charset="-122"/>
                <a:cs typeface="Cambria" pitchFamily="34" charset="-120"/>
              </a:rPr>
              <a:t>Why we do not actually do this</a:t>
            </a:r>
            <a:endParaRPr lang="en-US" sz="1500" dirty="0"/>
          </a:p>
        </p:txBody>
      </p:sp>
      <p:sp>
        <p:nvSpPr>
          <p:cNvPr id="14" name="Text 11"/>
          <p:cNvSpPr/>
          <p:nvPr/>
        </p:nvSpPr>
        <p:spPr>
          <a:xfrm>
            <a:off x="6766560" y="2377440"/>
            <a:ext cx="4572000" cy="42062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3A3F4C"/>
                </a:solidFill>
                <a:latin typeface="Calibri" pitchFamily="34" charset="0"/>
                <a:ea typeface="Calibri" pitchFamily="34" charset="-122"/>
                <a:cs typeface="Calibri" pitchFamily="34" charset="-120"/>
              </a:rPr>
              <a:t>Too many categories, and far too little experience to estimate every probability.</a:t>
            </a:r>
            <a:endParaRPr lang="en-US" sz="1250" dirty="0"/>
          </a:p>
          <a:p>
            <a:pPr marL="342900" indent="-342900">
              <a:spcAft>
                <a:spcPts val="800"/>
              </a:spcAft>
              <a:buSzPct val="100000"/>
              <a:buChar char="•"/>
            </a:pPr>
            <a:r>
              <a:rPr lang="en-US" sz="1250" dirty="0">
                <a:solidFill>
                  <a:srgbClr val="3A3F4C"/>
                </a:solidFill>
                <a:latin typeface="Calibri" pitchFamily="34" charset="0"/>
                <a:ea typeface="Calibri" pitchFamily="34" charset="-122"/>
                <a:cs typeface="Calibri" pitchFamily="34" charset="-120"/>
              </a:rPr>
              <a:t>Instead, compute a separate numeric contribution per feature and combine them.</a:t>
            </a:r>
            <a:endParaRPr lang="en-US" sz="1250" dirty="0"/>
          </a:p>
          <a:p>
            <a:pPr marL="342900" indent="-342900">
              <a:spcAft>
                <a:spcPts val="800"/>
              </a:spcAft>
              <a:buSzPct val="100000"/>
              <a:buChar char="•"/>
            </a:pPr>
            <a:r>
              <a:rPr lang="en-US" sz="1250" dirty="0">
                <a:solidFill>
                  <a:srgbClr val="3A3F4C"/>
                </a:solidFill>
                <a:latin typeface="Calibri" pitchFamily="34" charset="0"/>
                <a:ea typeface="Calibri" pitchFamily="34" charset="-122"/>
                <a:cs typeface="Calibri" pitchFamily="34" charset="-120"/>
              </a:rPr>
              <a:t>The computation must also be fast. The entire point was to search faster.</a:t>
            </a:r>
            <a:endParaRPr lang="en-US" sz="1250" dirty="0"/>
          </a:p>
        </p:txBody>
      </p:sp>
      <p:sp>
        <p:nvSpPr>
          <p:cNvPr id="15" name="Shape 12"/>
          <p:cNvSpPr/>
          <p:nvPr/>
        </p:nvSpPr>
        <p:spPr>
          <a:xfrm>
            <a:off x="566928" y="4160520"/>
            <a:ext cx="11064240" cy="1600200"/>
          </a:xfrm>
          <a:prstGeom prst="roundRect">
            <a:avLst>
              <a:gd name="adj" fmla="val 4000"/>
            </a:avLst>
          </a:prstGeom>
          <a:solidFill>
            <a:srgbClr val="1C1F2A"/>
          </a:solidFill>
          <a:ln w="12700">
            <a:solidFill>
              <a:srgbClr val="1C1F2A"/>
            </a:solidFill>
            <a:prstDash val="solid"/>
          </a:ln>
        </p:spPr>
      </p:sp>
      <p:sp>
        <p:nvSpPr>
          <p:cNvPr id="16" name="Text 13"/>
          <p:cNvSpPr/>
          <p:nvPr/>
        </p:nvSpPr>
        <p:spPr>
          <a:xfrm>
            <a:off x="914400" y="4315968"/>
            <a:ext cx="5486400" cy="365760"/>
          </a:xfrm>
          <a:prstGeom prst="rect">
            <a:avLst/>
          </a:prstGeom>
          <a:noFill/>
          <a:ln/>
        </p:spPr>
        <p:txBody>
          <a:bodyPr wrap="square" lIns="0" tIns="0" rIns="0" bIns="0" rtlCol="0" anchor="ctr"/>
          <a:lstStyle/>
          <a:p>
            <a:pPr indent="0" marL="0">
              <a:buNone/>
            </a:pPr>
            <a:r>
              <a:rPr lang="en-US" sz="1500" b="1" dirty="0">
                <a:solidFill>
                  <a:srgbClr val="B58500"/>
                </a:solidFill>
                <a:latin typeface="Cambria" pitchFamily="34" charset="0"/>
                <a:ea typeface="Cambria" pitchFamily="34" charset="-122"/>
                <a:cs typeface="Cambria" pitchFamily="34" charset="-120"/>
              </a:rPr>
              <a:t>The requirement that actually matters</a:t>
            </a:r>
            <a:endParaRPr lang="en-US" sz="1500" dirty="0"/>
          </a:p>
        </p:txBody>
      </p:sp>
      <p:sp>
        <p:nvSpPr>
          <p:cNvPr id="17" name="Text 14"/>
          <p:cNvSpPr/>
          <p:nvPr/>
        </p:nvSpPr>
        <p:spPr>
          <a:xfrm>
            <a:off x="914400" y="4709160"/>
            <a:ext cx="10332720" cy="914400"/>
          </a:xfrm>
          <a:prstGeom prst="rect">
            <a:avLst/>
          </a:prstGeom>
          <a:noFill/>
          <a:ln/>
        </p:spPr>
        <p:txBody>
          <a:bodyPr wrap="square" lIns="0" tIns="0" rIns="0" bIns="0" rtlCol="0" anchor="t"/>
          <a:lstStyle/>
          <a:p>
            <a:pPr indent="0" marL="0">
              <a:buNone/>
            </a:pPr>
            <a:r>
              <a:rPr lang="en-US" sz="1350" dirty="0">
                <a:solidFill>
                  <a:srgbClr val="C6CBD8"/>
                </a:solidFill>
                <a:latin typeface="Calibri" pitchFamily="34" charset="0"/>
                <a:ea typeface="Calibri" pitchFamily="34" charset="-122"/>
                <a:cs typeface="Calibri" pitchFamily="34" charset="-120"/>
              </a:rPr>
              <a:t>EVAL should be strongly correlated with the real chance of winning, but it need not be linearly correlated. If s is twice as likely to win as s′, we do not require EVAL(s) to be twice EVAL(s′). We only require EVAL(s) &gt; EVAL(s′). Hold that thought: in Part III, once chance nodes appear, this weaker requirement stops being sufficient.</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WEIGHTED LINEAR EVALUATION</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Centuries of chess intuition, written as a dot product</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22</a:t>
            </a:r>
            <a:endParaRPr lang="en-US" sz="900" dirty="0"/>
          </a:p>
        </p:txBody>
      </p:sp>
      <p:sp>
        <p:nvSpPr>
          <p:cNvPr id="7" name="Text 4"/>
          <p:cNvSpPr/>
          <p:nvPr/>
        </p:nvSpPr>
        <p:spPr>
          <a:xfrm>
            <a:off x="566928" y="1417320"/>
            <a:ext cx="11064240" cy="384048"/>
          </a:xfrm>
          <a:prstGeom prst="rect">
            <a:avLst/>
          </a:prstGeom>
          <a:noFill/>
          <a:ln/>
        </p:spPr>
        <p:txBody>
          <a:bodyPr wrap="square" lIns="0" tIns="0" rIns="0" bIns="0" rtlCol="0" anchor="ctr"/>
          <a:lstStyle/>
          <a:p>
            <a:pPr indent="0" marL="0">
              <a:buNone/>
            </a:pPr>
            <a:r>
              <a:rPr lang="en-US" sz="1500" b="1" dirty="0">
                <a:solidFill>
                  <a:srgbClr val="1C1F2A"/>
                </a:solidFill>
                <a:latin typeface="Calibri" pitchFamily="34" charset="0"/>
                <a:ea typeface="Calibri" pitchFamily="34" charset="-122"/>
                <a:cs typeface="Calibri" pitchFamily="34" charset="-120"/>
              </a:rPr>
              <a:t>EVAL(s)  =  w₁ f₁(s)  +  w₂ f₂(s)  +  …  +  wₙ fₙ(s)          where fᵢ is a feature and wᵢ its weight</a:t>
            </a:r>
            <a:endParaRPr lang="en-US" sz="1500" dirty="0"/>
          </a:p>
        </p:txBody>
      </p:sp>
      <p:graphicFrame>
        <p:nvGraphicFramePr>
          <p:cNvPr id="8" name="Chart 0" descr=""/>
          <p:cNvGraphicFramePr/>
          <p:nvPr/>
        </p:nvGraphicFramePr>
        <p:xfrm>
          <a:off x="566928" y="1874520"/>
          <a:ext cx="5577840" cy="384048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6446520" y="1874520"/>
            <a:ext cx="5184648" cy="1170432"/>
          </a:xfrm>
          <a:prstGeom prst="roundRect">
            <a:avLst>
              <a:gd name="adj" fmla="val 5469"/>
            </a:avLst>
          </a:prstGeom>
          <a:solidFill>
            <a:srgbClr val="F1F2F5"/>
          </a:solidFill>
          <a:ln w="12700">
            <a:solidFill>
              <a:srgbClr val="F1F2F5"/>
            </a:solidFill>
            <a:prstDash val="solid"/>
          </a:ln>
        </p:spPr>
      </p:sp>
      <p:sp>
        <p:nvSpPr>
          <p:cNvPr id="10" name="Text 6"/>
          <p:cNvSpPr/>
          <p:nvPr/>
        </p:nvSpPr>
        <p:spPr>
          <a:xfrm>
            <a:off x="6702552" y="1993392"/>
            <a:ext cx="4663440" cy="310896"/>
          </a:xfrm>
          <a:prstGeom prst="rect">
            <a:avLst/>
          </a:prstGeom>
          <a:noFill/>
          <a:ln/>
        </p:spPr>
        <p:txBody>
          <a:bodyPr wrap="square" lIns="0" tIns="0" rIns="0" bIns="0" rtlCol="0" anchor="ctr"/>
          <a:lstStyle/>
          <a:p>
            <a:pPr indent="0" marL="0">
              <a:buNone/>
            </a:pPr>
            <a:r>
              <a:rPr lang="en-US" sz="1350" b="1" dirty="0">
                <a:solidFill>
                  <a:srgbClr val="C2410C"/>
                </a:solidFill>
                <a:latin typeface="Cambria" pitchFamily="34" charset="0"/>
                <a:ea typeface="Cambria" pitchFamily="34" charset="-122"/>
                <a:cs typeface="Cambria" pitchFamily="34" charset="-120"/>
              </a:rPr>
              <a:t>Normalize the weights</a:t>
            </a:r>
            <a:endParaRPr lang="en-US" sz="1350" dirty="0"/>
          </a:p>
        </p:txBody>
      </p:sp>
      <p:sp>
        <p:nvSpPr>
          <p:cNvPr id="11" name="Text 7"/>
          <p:cNvSpPr/>
          <p:nvPr/>
        </p:nvSpPr>
        <p:spPr>
          <a:xfrm>
            <a:off x="6702552" y="2313432"/>
            <a:ext cx="4681728" cy="685800"/>
          </a:xfrm>
          <a:prstGeom prst="rect">
            <a:avLst/>
          </a:prstGeom>
          <a:noFill/>
          <a:ln/>
        </p:spPr>
        <p:txBody>
          <a:bodyPr wrap="square" lIns="0" tIns="0" rIns="0" bIns="0" rtlCol="0" anchor="t"/>
          <a:lstStyle/>
          <a:p>
            <a:pPr indent="0" marL="0">
              <a:buNone/>
            </a:pPr>
            <a:r>
              <a:rPr lang="en-US" sz="1180" dirty="0">
                <a:solidFill>
                  <a:srgbClr val="3A3F4C"/>
                </a:solidFill>
                <a:latin typeface="Calibri" pitchFamily="34" charset="0"/>
                <a:ea typeface="Calibri" pitchFamily="34" charset="-122"/>
                <a:cs typeface="Calibri" pitchFamily="34" charset="-120"/>
              </a:rPr>
              <a:t>Scale so the sum stays between the value of a loss and the value of a win. A one-pawn edge should read as a substantial chance of winning; three pawns as near certainty.</a:t>
            </a:r>
            <a:endParaRPr lang="en-US" sz="1180" dirty="0"/>
          </a:p>
        </p:txBody>
      </p:sp>
      <p:sp>
        <p:nvSpPr>
          <p:cNvPr id="12" name="Shape 8"/>
          <p:cNvSpPr/>
          <p:nvPr/>
        </p:nvSpPr>
        <p:spPr>
          <a:xfrm>
            <a:off x="6446520" y="3200400"/>
            <a:ext cx="5184648" cy="1170432"/>
          </a:xfrm>
          <a:prstGeom prst="roundRect">
            <a:avLst>
              <a:gd name="adj" fmla="val 5469"/>
            </a:avLst>
          </a:prstGeom>
          <a:solidFill>
            <a:srgbClr val="F1F2F5"/>
          </a:solidFill>
          <a:ln w="12700">
            <a:solidFill>
              <a:srgbClr val="F1F2F5"/>
            </a:solidFill>
            <a:prstDash val="solid"/>
          </a:ln>
        </p:spPr>
      </p:sp>
      <p:sp>
        <p:nvSpPr>
          <p:cNvPr id="13" name="Text 9"/>
          <p:cNvSpPr/>
          <p:nvPr/>
        </p:nvSpPr>
        <p:spPr>
          <a:xfrm>
            <a:off x="6702552" y="3319272"/>
            <a:ext cx="4663440" cy="310896"/>
          </a:xfrm>
          <a:prstGeom prst="rect">
            <a:avLst/>
          </a:prstGeom>
          <a:noFill/>
          <a:ln/>
        </p:spPr>
        <p:txBody>
          <a:bodyPr wrap="square" lIns="0" tIns="0" rIns="0" bIns="0" rtlCol="0" anchor="ctr"/>
          <a:lstStyle/>
          <a:p>
            <a:pPr indent="0" marL="0">
              <a:buNone/>
            </a:pPr>
            <a:r>
              <a:rPr lang="en-US" sz="1350" b="1" dirty="0">
                <a:solidFill>
                  <a:srgbClr val="1D4E63"/>
                </a:solidFill>
                <a:latin typeface="Cambria" pitchFamily="34" charset="0"/>
                <a:ea typeface="Cambria" pitchFamily="34" charset="-122"/>
                <a:cs typeface="Cambria" pitchFamily="34" charset="-120"/>
              </a:rPr>
              <a:t>The independence assumption is false</a:t>
            </a:r>
            <a:endParaRPr lang="en-US" sz="1350" dirty="0"/>
          </a:p>
        </p:txBody>
      </p:sp>
      <p:sp>
        <p:nvSpPr>
          <p:cNvPr id="14" name="Text 10"/>
          <p:cNvSpPr/>
          <p:nvPr/>
        </p:nvSpPr>
        <p:spPr>
          <a:xfrm>
            <a:off x="6702552" y="3639312"/>
            <a:ext cx="4681728" cy="685800"/>
          </a:xfrm>
          <a:prstGeom prst="rect">
            <a:avLst/>
          </a:prstGeom>
          <a:noFill/>
          <a:ln/>
        </p:spPr>
        <p:txBody>
          <a:bodyPr wrap="square" lIns="0" tIns="0" rIns="0" bIns="0" rtlCol="0" anchor="t"/>
          <a:lstStyle/>
          <a:p>
            <a:pPr indent="0" marL="0">
              <a:buNone/>
            </a:pPr>
            <a:r>
              <a:rPr lang="en-US" sz="1180" dirty="0">
                <a:solidFill>
                  <a:srgbClr val="3A3F4C"/>
                </a:solidFill>
                <a:latin typeface="Calibri" pitchFamily="34" charset="0"/>
                <a:ea typeface="Calibri" pitchFamily="34" charset="-122"/>
                <a:cs typeface="Calibri" pitchFamily="34" charset="-120"/>
              </a:rPr>
              <a:t>Adding feature values assumes each contributes regardless of the others. A pair of bishops is worth more than twice one bishop, and a bishop is worth more once the board empties. Real engines use nonlinear combinations.</a:t>
            </a:r>
            <a:endParaRPr lang="en-US" sz="1180" dirty="0"/>
          </a:p>
        </p:txBody>
      </p:sp>
      <p:sp>
        <p:nvSpPr>
          <p:cNvPr id="15" name="Shape 11"/>
          <p:cNvSpPr/>
          <p:nvPr/>
        </p:nvSpPr>
        <p:spPr>
          <a:xfrm>
            <a:off x="6446520" y="4526280"/>
            <a:ext cx="5184648" cy="1170432"/>
          </a:xfrm>
          <a:prstGeom prst="roundRect">
            <a:avLst>
              <a:gd name="adj" fmla="val 5469"/>
            </a:avLst>
          </a:prstGeom>
          <a:solidFill>
            <a:srgbClr val="F1F2F5"/>
          </a:solidFill>
          <a:ln w="12700">
            <a:solidFill>
              <a:srgbClr val="F1F2F5"/>
            </a:solidFill>
            <a:prstDash val="solid"/>
          </a:ln>
        </p:spPr>
      </p:sp>
      <p:sp>
        <p:nvSpPr>
          <p:cNvPr id="16" name="Text 12"/>
          <p:cNvSpPr/>
          <p:nvPr/>
        </p:nvSpPr>
        <p:spPr>
          <a:xfrm>
            <a:off x="6702552" y="4645152"/>
            <a:ext cx="4663440" cy="310896"/>
          </a:xfrm>
          <a:prstGeom prst="rect">
            <a:avLst/>
          </a:prstGeom>
          <a:noFill/>
          <a:ln/>
        </p:spPr>
        <p:txBody>
          <a:bodyPr wrap="square" lIns="0" tIns="0" rIns="0" bIns="0" rtlCol="0" anchor="ctr"/>
          <a:lstStyle/>
          <a:p>
            <a:pPr indent="0" marL="0">
              <a:buNone/>
            </a:pPr>
            <a:r>
              <a:rPr lang="en-US" sz="1350" b="1" dirty="0">
                <a:solidFill>
                  <a:srgbClr val="6B4E8F"/>
                </a:solidFill>
                <a:latin typeface="Cambria" pitchFamily="34" charset="0"/>
                <a:ea typeface="Cambria" pitchFamily="34" charset="-122"/>
                <a:cs typeface="Cambria" pitchFamily="34" charset="-120"/>
              </a:rPr>
              <a:t>Where the numbers come from</a:t>
            </a:r>
            <a:endParaRPr lang="en-US" sz="1350" dirty="0"/>
          </a:p>
        </p:txBody>
      </p:sp>
      <p:sp>
        <p:nvSpPr>
          <p:cNvPr id="17" name="Text 13"/>
          <p:cNvSpPr/>
          <p:nvPr/>
        </p:nvSpPr>
        <p:spPr>
          <a:xfrm>
            <a:off x="6702552" y="4965192"/>
            <a:ext cx="4681728" cy="685800"/>
          </a:xfrm>
          <a:prstGeom prst="rect">
            <a:avLst/>
          </a:prstGeom>
          <a:noFill/>
          <a:ln/>
        </p:spPr>
        <p:txBody>
          <a:bodyPr wrap="square" lIns="0" tIns="0" rIns="0" bIns="0" rtlCol="0" anchor="t"/>
          <a:lstStyle/>
          <a:p>
            <a:pPr indent="0" marL="0">
              <a:buNone/>
            </a:pPr>
            <a:r>
              <a:rPr lang="en-US" sz="1180" dirty="0">
                <a:solidFill>
                  <a:srgbClr val="3A3F4C"/>
                </a:solidFill>
                <a:latin typeface="Calibri" pitchFamily="34" charset="0"/>
                <a:ea typeface="Calibri" pitchFamily="34" charset="-122"/>
                <a:cs typeface="Calibri" pitchFamily="34" charset="-120"/>
              </a:rPr>
              <a:t>Not the rules of chess, but the culture of human play. Where that culture does not exist, learn the weights (Chapter 22). Applied to chess, learning confirmed the bishop at roughly three pawns in a few hours.</a:t>
            </a:r>
            <a:endParaRPr lang="en-US" sz="11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5.3.2  CUTTING OFF SEARCH</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Two ways a depth limit lies to you</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23</a:t>
            </a:r>
            <a:endParaRPr lang="en-US" sz="900" dirty="0"/>
          </a:p>
        </p:txBody>
      </p:sp>
      <p:sp>
        <p:nvSpPr>
          <p:cNvPr id="7" name="Shape 4"/>
          <p:cNvSpPr/>
          <p:nvPr/>
        </p:nvSpPr>
        <p:spPr>
          <a:xfrm>
            <a:off x="566928" y="1481328"/>
            <a:ext cx="5303520" cy="4279392"/>
          </a:xfrm>
          <a:prstGeom prst="roundRect">
            <a:avLst>
              <a:gd name="adj" fmla="val 1496"/>
            </a:avLst>
          </a:prstGeom>
          <a:solidFill>
            <a:srgbClr val="FDF2EC"/>
          </a:solidFill>
          <a:ln w="12700">
            <a:solidFill>
              <a:srgbClr val="FDF2EC"/>
            </a:solidFill>
            <a:prstDash val="solid"/>
          </a:ln>
        </p:spPr>
      </p:sp>
      <p:sp>
        <p:nvSpPr>
          <p:cNvPr id="8" name="Text 5"/>
          <p:cNvSpPr/>
          <p:nvPr/>
        </p:nvSpPr>
        <p:spPr>
          <a:xfrm>
            <a:off x="841248" y="1664208"/>
            <a:ext cx="4754880" cy="384048"/>
          </a:xfrm>
          <a:prstGeom prst="rect">
            <a:avLst/>
          </a:prstGeom>
          <a:noFill/>
          <a:ln/>
        </p:spPr>
        <p:txBody>
          <a:bodyPr wrap="square" lIns="0" tIns="0" rIns="0" bIns="0" rtlCol="0" anchor="ctr"/>
          <a:lstStyle/>
          <a:p>
            <a:pPr indent="0" marL="0">
              <a:buNone/>
            </a:pPr>
            <a:r>
              <a:rPr lang="en-US" sz="1900" b="1" dirty="0">
                <a:solidFill>
                  <a:srgbClr val="C2410C"/>
                </a:solidFill>
                <a:latin typeface="Cambria" pitchFamily="34" charset="0"/>
                <a:ea typeface="Cambria" pitchFamily="34" charset="-122"/>
                <a:cs typeface="Cambria" pitchFamily="34" charset="-120"/>
              </a:rPr>
              <a:t>Nonquiescent positions</a:t>
            </a:r>
            <a:endParaRPr lang="en-US" sz="1900" dirty="0"/>
          </a:p>
        </p:txBody>
      </p:sp>
      <p:sp>
        <p:nvSpPr>
          <p:cNvPr id="9" name="Text 6"/>
          <p:cNvSpPr/>
          <p:nvPr/>
        </p:nvSpPr>
        <p:spPr>
          <a:xfrm>
            <a:off x="841248" y="2066544"/>
            <a:ext cx="4754880" cy="310896"/>
          </a:xfrm>
          <a:prstGeom prst="rect">
            <a:avLst/>
          </a:prstGeom>
          <a:noFill/>
          <a:ln/>
        </p:spPr>
        <p:txBody>
          <a:bodyPr wrap="square" lIns="0" tIns="0" rIns="0" bIns="0" rtlCol="0" anchor="ctr"/>
          <a:lstStyle/>
          <a:p>
            <a:pPr indent="0" marL="0">
              <a:buNone/>
            </a:pPr>
            <a:r>
              <a:rPr lang="en-US" sz="1250" i="1" dirty="0">
                <a:solidFill>
                  <a:srgbClr val="3A3F4C"/>
                </a:solidFill>
                <a:latin typeface="Calibri" pitchFamily="34" charset="0"/>
                <a:ea typeface="Calibri" pitchFamily="34" charset="-122"/>
                <a:cs typeface="Calibri" pitchFamily="34" charset="-120"/>
              </a:rPr>
              <a:t>The frontier position is mid-explosion</a:t>
            </a:r>
            <a:endParaRPr lang="en-US" sz="1250" dirty="0"/>
          </a:p>
        </p:txBody>
      </p:sp>
      <p:sp>
        <p:nvSpPr>
          <p:cNvPr id="10" name="Text 7"/>
          <p:cNvSpPr/>
          <p:nvPr/>
        </p:nvSpPr>
        <p:spPr>
          <a:xfrm>
            <a:off x="841248" y="2468880"/>
            <a:ext cx="4754880" cy="274320"/>
          </a:xfrm>
          <a:prstGeom prst="rect">
            <a:avLst/>
          </a:prstGeom>
          <a:noFill/>
          <a:ln/>
        </p:spPr>
        <p:txBody>
          <a:bodyPr wrap="square" lIns="0" tIns="0" rIns="0" bIns="0" rtlCol="0" anchor="ctr"/>
          <a:lstStyle/>
          <a:p>
            <a:pPr indent="0" marL="0">
              <a:buNone/>
            </a:pPr>
            <a:r>
              <a:rPr lang="en-US" sz="1100" b="1" spc="100" kern="0" dirty="0">
                <a:solidFill>
                  <a:srgbClr val="8A8F9C"/>
                </a:solidFill>
                <a:latin typeface="Calibri" pitchFamily="34" charset="0"/>
                <a:ea typeface="Calibri" pitchFamily="34" charset="-122"/>
                <a:cs typeface="Calibri" pitchFamily="34" charset="-120"/>
              </a:rPr>
              <a:t>What goes wrong</a:t>
            </a:r>
            <a:endParaRPr lang="en-US" sz="1100" dirty="0"/>
          </a:p>
        </p:txBody>
      </p:sp>
      <p:sp>
        <p:nvSpPr>
          <p:cNvPr id="11" name="Text 8"/>
          <p:cNvSpPr/>
          <p:nvPr/>
        </p:nvSpPr>
        <p:spPr>
          <a:xfrm>
            <a:off x="841248" y="2761488"/>
            <a:ext cx="4773168" cy="1280160"/>
          </a:xfrm>
          <a:prstGeom prst="rect">
            <a:avLst/>
          </a:prstGeom>
          <a:noFill/>
          <a:ln/>
        </p:spPr>
        <p:txBody>
          <a:bodyPr wrap="square" lIns="0" tIns="0" rIns="0" bIns="0" rtlCol="0" anchor="t"/>
          <a:lstStyle/>
          <a:p>
            <a:pPr indent="0" marL="0">
              <a:buNone/>
            </a:pPr>
            <a:r>
              <a:rPr lang="en-US" sz="1280" dirty="0">
                <a:solidFill>
                  <a:srgbClr val="3A3F4C"/>
                </a:solidFill>
                <a:latin typeface="Calibri" pitchFamily="34" charset="0"/>
                <a:ea typeface="Calibri" pitchFamily="34" charset="-122"/>
                <a:cs typeface="Calibri" pitchFamily="34" charset="-120"/>
              </a:rPr>
              <a:t>Search to the depth limit and report that Black is up a knight and two pawns. White’s very next move captures the queen. The static evaluation was accurate about material and completely wrong about the position.</a:t>
            </a:r>
            <a:endParaRPr lang="en-US" sz="1280" dirty="0"/>
          </a:p>
        </p:txBody>
      </p:sp>
      <p:sp>
        <p:nvSpPr>
          <p:cNvPr id="12" name="Text 9"/>
          <p:cNvSpPr/>
          <p:nvPr/>
        </p:nvSpPr>
        <p:spPr>
          <a:xfrm>
            <a:off x="841248" y="4114800"/>
            <a:ext cx="4754880" cy="274320"/>
          </a:xfrm>
          <a:prstGeom prst="rect">
            <a:avLst/>
          </a:prstGeom>
          <a:noFill/>
          <a:ln/>
        </p:spPr>
        <p:txBody>
          <a:bodyPr wrap="square" lIns="0" tIns="0" rIns="0" bIns="0" rtlCol="0" anchor="ctr"/>
          <a:lstStyle/>
          <a:p>
            <a:pPr indent="0" marL="0">
              <a:buNone/>
            </a:pPr>
            <a:r>
              <a:rPr lang="en-US" sz="1100" b="1" spc="100" kern="0" dirty="0">
                <a:solidFill>
                  <a:srgbClr val="8A8F9C"/>
                </a:solidFill>
                <a:latin typeface="Calibri" pitchFamily="34" charset="0"/>
                <a:ea typeface="Calibri" pitchFamily="34" charset="-122"/>
                <a:cs typeface="Calibri" pitchFamily="34" charset="-120"/>
              </a:rPr>
              <a:t>The mitigation</a:t>
            </a:r>
            <a:endParaRPr lang="en-US" sz="1100" dirty="0"/>
          </a:p>
        </p:txBody>
      </p:sp>
      <p:sp>
        <p:nvSpPr>
          <p:cNvPr id="13" name="Text 10"/>
          <p:cNvSpPr/>
          <p:nvPr/>
        </p:nvSpPr>
        <p:spPr>
          <a:xfrm>
            <a:off x="841248" y="4407408"/>
            <a:ext cx="4773168" cy="1280160"/>
          </a:xfrm>
          <a:prstGeom prst="rect">
            <a:avLst/>
          </a:prstGeom>
          <a:noFill/>
          <a:ln/>
        </p:spPr>
        <p:txBody>
          <a:bodyPr wrap="square" lIns="0" tIns="0" rIns="0" bIns="0" rtlCol="0" anchor="t"/>
          <a:lstStyle/>
          <a:p>
            <a:pPr indent="0" marL="0">
              <a:buNone/>
            </a:pPr>
            <a:r>
              <a:rPr lang="en-US" sz="1280" dirty="0">
                <a:solidFill>
                  <a:srgbClr val="3A3F4C"/>
                </a:solidFill>
                <a:latin typeface="Calibri" pitchFamily="34" charset="0"/>
                <a:ea typeface="Calibri" pitchFamily="34" charset="-122"/>
                <a:cs typeface="Calibri" pitchFamily="34" charset="-120"/>
              </a:rPr>
              <a:t>Apply EVAL only to quiescent positions, those with no pending move that would wildly swing the score. Otherwise IS-CUTOFF returns false and a quiescence search continues, usually restricted to captures.</a:t>
            </a:r>
            <a:endParaRPr lang="en-US" sz="1280" dirty="0"/>
          </a:p>
        </p:txBody>
      </p:sp>
      <p:sp>
        <p:nvSpPr>
          <p:cNvPr id="14" name="Shape 11"/>
          <p:cNvSpPr/>
          <p:nvPr/>
        </p:nvSpPr>
        <p:spPr>
          <a:xfrm>
            <a:off x="6144768" y="1481328"/>
            <a:ext cx="5303520" cy="4279392"/>
          </a:xfrm>
          <a:prstGeom prst="roundRect">
            <a:avLst>
              <a:gd name="adj" fmla="val 1496"/>
            </a:avLst>
          </a:prstGeom>
          <a:solidFill>
            <a:srgbClr val="EAF1F5"/>
          </a:solidFill>
          <a:ln w="12700">
            <a:solidFill>
              <a:srgbClr val="EAF1F5"/>
            </a:solidFill>
            <a:prstDash val="solid"/>
          </a:ln>
        </p:spPr>
      </p:sp>
      <p:sp>
        <p:nvSpPr>
          <p:cNvPr id="15" name="Text 12"/>
          <p:cNvSpPr/>
          <p:nvPr/>
        </p:nvSpPr>
        <p:spPr>
          <a:xfrm>
            <a:off x="6419088" y="1664208"/>
            <a:ext cx="4754880" cy="384048"/>
          </a:xfrm>
          <a:prstGeom prst="rect">
            <a:avLst/>
          </a:prstGeom>
          <a:noFill/>
          <a:ln/>
        </p:spPr>
        <p:txBody>
          <a:bodyPr wrap="square" lIns="0" tIns="0" rIns="0" bIns="0" rtlCol="0" anchor="ctr"/>
          <a:lstStyle/>
          <a:p>
            <a:pPr indent="0" marL="0">
              <a:buNone/>
            </a:pPr>
            <a:r>
              <a:rPr lang="en-US" sz="1900" b="1" dirty="0">
                <a:solidFill>
                  <a:srgbClr val="1D4E63"/>
                </a:solidFill>
                <a:latin typeface="Cambria" pitchFamily="34" charset="0"/>
                <a:ea typeface="Cambria" pitchFamily="34" charset="-122"/>
                <a:cs typeface="Cambria" pitchFamily="34" charset="-120"/>
              </a:rPr>
              <a:t>The horizon effect</a:t>
            </a:r>
            <a:endParaRPr lang="en-US" sz="1900" dirty="0"/>
          </a:p>
        </p:txBody>
      </p:sp>
      <p:sp>
        <p:nvSpPr>
          <p:cNvPr id="16" name="Text 13"/>
          <p:cNvSpPr/>
          <p:nvPr/>
        </p:nvSpPr>
        <p:spPr>
          <a:xfrm>
            <a:off x="6419088" y="2066544"/>
            <a:ext cx="4754880" cy="310896"/>
          </a:xfrm>
          <a:prstGeom prst="rect">
            <a:avLst/>
          </a:prstGeom>
          <a:noFill/>
          <a:ln/>
        </p:spPr>
        <p:txBody>
          <a:bodyPr wrap="square" lIns="0" tIns="0" rIns="0" bIns="0" rtlCol="0" anchor="ctr"/>
          <a:lstStyle/>
          <a:p>
            <a:pPr indent="0" marL="0">
              <a:buNone/>
            </a:pPr>
            <a:r>
              <a:rPr lang="en-US" sz="1250" i="1" dirty="0">
                <a:solidFill>
                  <a:srgbClr val="3A3F4C"/>
                </a:solidFill>
                <a:latin typeface="Calibri" pitchFamily="34" charset="0"/>
                <a:ea typeface="Calibri" pitchFamily="34" charset="-122"/>
                <a:cs typeface="Calibri" pitchFamily="34" charset="-120"/>
              </a:rPr>
              <a:t>The bad news is pushed past the frontier</a:t>
            </a:r>
            <a:endParaRPr lang="en-US" sz="1250" dirty="0"/>
          </a:p>
        </p:txBody>
      </p:sp>
      <p:sp>
        <p:nvSpPr>
          <p:cNvPr id="17" name="Text 14"/>
          <p:cNvSpPr/>
          <p:nvPr/>
        </p:nvSpPr>
        <p:spPr>
          <a:xfrm>
            <a:off x="6419088" y="2468880"/>
            <a:ext cx="4754880" cy="274320"/>
          </a:xfrm>
          <a:prstGeom prst="rect">
            <a:avLst/>
          </a:prstGeom>
          <a:noFill/>
          <a:ln/>
        </p:spPr>
        <p:txBody>
          <a:bodyPr wrap="square" lIns="0" tIns="0" rIns="0" bIns="0" rtlCol="0" anchor="ctr"/>
          <a:lstStyle/>
          <a:p>
            <a:pPr indent="0" marL="0">
              <a:buNone/>
            </a:pPr>
            <a:r>
              <a:rPr lang="en-US" sz="1100" b="1" spc="100" kern="0" dirty="0">
                <a:solidFill>
                  <a:srgbClr val="8A8F9C"/>
                </a:solidFill>
                <a:latin typeface="Calibri" pitchFamily="34" charset="0"/>
                <a:ea typeface="Calibri" pitchFamily="34" charset="-122"/>
                <a:cs typeface="Calibri" pitchFamily="34" charset="-120"/>
              </a:rPr>
              <a:t>What goes wrong</a:t>
            </a:r>
            <a:endParaRPr lang="en-US" sz="1100" dirty="0"/>
          </a:p>
        </p:txBody>
      </p:sp>
      <p:sp>
        <p:nvSpPr>
          <p:cNvPr id="18" name="Text 15"/>
          <p:cNvSpPr/>
          <p:nvPr/>
        </p:nvSpPr>
        <p:spPr>
          <a:xfrm>
            <a:off x="6419088" y="2761488"/>
            <a:ext cx="4773168" cy="1280160"/>
          </a:xfrm>
          <a:prstGeom prst="rect">
            <a:avLst/>
          </a:prstGeom>
          <a:noFill/>
          <a:ln/>
        </p:spPr>
        <p:txBody>
          <a:bodyPr wrap="square" lIns="0" tIns="0" rIns="0" bIns="0" rtlCol="0" anchor="t"/>
          <a:lstStyle/>
          <a:p>
            <a:pPr indent="0" marL="0">
              <a:buNone/>
            </a:pPr>
            <a:r>
              <a:rPr lang="en-US" sz="1280" dirty="0">
                <a:solidFill>
                  <a:srgbClr val="3A3F4C"/>
                </a:solidFill>
                <a:latin typeface="Calibri" pitchFamily="34" charset="0"/>
                <a:ea typeface="Calibri" pitchFamily="34" charset="-122"/>
                <a:cs typeface="Calibri" pitchFamily="34" charset="-120"/>
              </a:rPr>
              <a:t>A black bishop is doomed: the white rook takes it in six ply. Black checks the king with a pawn, then another, spending enough moves that the capture falls outside the search. Black scores the pawn sacrifices as good moves.</a:t>
            </a:r>
            <a:endParaRPr lang="en-US" sz="1280" dirty="0"/>
          </a:p>
        </p:txBody>
      </p:sp>
      <p:sp>
        <p:nvSpPr>
          <p:cNvPr id="19" name="Text 16"/>
          <p:cNvSpPr/>
          <p:nvPr/>
        </p:nvSpPr>
        <p:spPr>
          <a:xfrm>
            <a:off x="6419088" y="4114800"/>
            <a:ext cx="4754880" cy="274320"/>
          </a:xfrm>
          <a:prstGeom prst="rect">
            <a:avLst/>
          </a:prstGeom>
          <a:noFill/>
          <a:ln/>
        </p:spPr>
        <p:txBody>
          <a:bodyPr wrap="square" lIns="0" tIns="0" rIns="0" bIns="0" rtlCol="0" anchor="ctr"/>
          <a:lstStyle/>
          <a:p>
            <a:pPr indent="0" marL="0">
              <a:buNone/>
            </a:pPr>
            <a:r>
              <a:rPr lang="en-US" sz="1100" b="1" spc="100" kern="0" dirty="0">
                <a:solidFill>
                  <a:srgbClr val="8A8F9C"/>
                </a:solidFill>
                <a:latin typeface="Calibri" pitchFamily="34" charset="0"/>
                <a:ea typeface="Calibri" pitchFamily="34" charset="-122"/>
                <a:cs typeface="Calibri" pitchFamily="34" charset="-120"/>
              </a:rPr>
              <a:t>The mitigation</a:t>
            </a:r>
            <a:endParaRPr lang="en-US" sz="1100" dirty="0"/>
          </a:p>
        </p:txBody>
      </p:sp>
      <p:sp>
        <p:nvSpPr>
          <p:cNvPr id="20" name="Text 17"/>
          <p:cNvSpPr/>
          <p:nvPr/>
        </p:nvSpPr>
        <p:spPr>
          <a:xfrm>
            <a:off x="6419088" y="4407408"/>
            <a:ext cx="4773168" cy="1280160"/>
          </a:xfrm>
          <a:prstGeom prst="rect">
            <a:avLst/>
          </a:prstGeom>
          <a:noFill/>
          <a:ln/>
        </p:spPr>
        <p:txBody>
          <a:bodyPr wrap="square" lIns="0" tIns="0" rIns="0" bIns="0" rtlCol="0" anchor="t"/>
          <a:lstStyle/>
          <a:p>
            <a:pPr indent="0" marL="0">
              <a:buNone/>
            </a:pPr>
            <a:r>
              <a:rPr lang="en-US" sz="1280" dirty="0">
                <a:solidFill>
                  <a:srgbClr val="3A3F4C"/>
                </a:solidFill>
                <a:latin typeface="Calibri" pitchFamily="34" charset="0"/>
                <a:ea typeface="Calibri" pitchFamily="34" charset="-122"/>
                <a:cs typeface="Calibri" pitchFamily="34" charset="-120"/>
              </a:rPr>
              <a:t>Allow singular extensions: moves clearly better than every alternative extend the search even past the cutoff. There are few of them, so the tree grows only slightly, and it works well in practice.</a:t>
            </a:r>
            <a:endParaRPr lang="en-US" sz="1280" dirty="0"/>
          </a:p>
        </p:txBody>
      </p:sp>
      <p:sp>
        <p:nvSpPr>
          <p:cNvPr id="21" name="Text 18"/>
          <p:cNvSpPr/>
          <p:nvPr/>
        </p:nvSpPr>
        <p:spPr>
          <a:xfrm>
            <a:off x="566928" y="5897880"/>
            <a:ext cx="11064240" cy="365760"/>
          </a:xfrm>
          <a:prstGeom prst="rect">
            <a:avLst/>
          </a:prstGeom>
          <a:noFill/>
          <a:ln/>
        </p:spPr>
        <p:txBody>
          <a:bodyPr wrap="square" lIns="0" tIns="0" rIns="0" bIns="0" rtlCol="0" anchor="ctr"/>
          <a:lstStyle/>
          <a:p>
            <a:pPr indent="0" marL="0">
              <a:buNone/>
            </a:pPr>
            <a:r>
              <a:rPr lang="en-US" sz="1250" i="1" dirty="0">
                <a:solidFill>
                  <a:srgbClr val="8A8F9C"/>
                </a:solidFill>
                <a:latin typeface="Calibri" pitchFamily="34" charset="0"/>
                <a:ea typeface="Calibri" pitchFamily="34" charset="-122"/>
                <a:cs typeface="Calibri" pitchFamily="34" charset="-120"/>
              </a:rPr>
              <a:t>Simplest control is a fixed depth d chosen so a move is returned in time. More robust is iterative deepening: return the deepest completed search when the clock runs out, and reuse the transposition table across rounds.</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5.3.3  FORWARD PRUNING</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Pruning moves that might have been good</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24</a:t>
            </a:r>
            <a:endParaRPr lang="en-US" sz="900" dirty="0"/>
          </a:p>
        </p:txBody>
      </p:sp>
      <p:sp>
        <p:nvSpPr>
          <p:cNvPr id="7" name="Shape 4"/>
          <p:cNvSpPr/>
          <p:nvPr/>
        </p:nvSpPr>
        <p:spPr>
          <a:xfrm>
            <a:off x="566928" y="1444752"/>
            <a:ext cx="11064240" cy="868680"/>
          </a:xfrm>
          <a:prstGeom prst="roundRect">
            <a:avLst>
              <a:gd name="adj" fmla="val 7368"/>
            </a:avLst>
          </a:prstGeom>
          <a:solidFill>
            <a:srgbClr val="1C1F2A"/>
          </a:solidFill>
          <a:ln w="12700">
            <a:solidFill>
              <a:srgbClr val="1C1F2A"/>
            </a:solidFill>
            <a:prstDash val="solid"/>
          </a:ln>
        </p:spPr>
      </p:sp>
      <p:sp>
        <p:nvSpPr>
          <p:cNvPr id="8" name="Text 5"/>
          <p:cNvSpPr/>
          <p:nvPr/>
        </p:nvSpPr>
        <p:spPr>
          <a:xfrm>
            <a:off x="914400" y="1444752"/>
            <a:ext cx="10332720" cy="868680"/>
          </a:xfrm>
          <a:prstGeom prst="rect">
            <a:avLst/>
          </a:prstGeom>
          <a:noFill/>
          <a:ln/>
        </p:spPr>
        <p:txBody>
          <a:bodyPr wrap="square" lIns="0" tIns="0" rIns="0" bIns="0" rtlCol="0" anchor="ctr"/>
          <a:lstStyle/>
          <a:p>
            <a:pPr indent="0" marL="0">
              <a:buNone/>
            </a:pPr>
            <a:r>
              <a:rPr lang="en-US" sz="1450" dirty="0">
                <a:solidFill>
                  <a:srgbClr val="D6DAE4"/>
                </a:solidFill>
                <a:latin typeface="Calibri" pitchFamily="34" charset="0"/>
                <a:ea typeface="Calibri" pitchFamily="34" charset="-122"/>
                <a:cs typeface="Calibri" pitchFamily="34" charset="-120"/>
              </a:rPr>
              <a:t>Alpha-beta prunes branches that provably cannot affect the result. Forward pruning discards moves that merely look poor, saving time at the risk of a genuine error.</a:t>
            </a:r>
            <a:endParaRPr lang="en-US" sz="1450" dirty="0"/>
          </a:p>
        </p:txBody>
      </p:sp>
      <p:sp>
        <p:nvSpPr>
          <p:cNvPr id="9" name="Shape 6"/>
          <p:cNvSpPr/>
          <p:nvPr/>
        </p:nvSpPr>
        <p:spPr>
          <a:xfrm>
            <a:off x="566928" y="2514600"/>
            <a:ext cx="3493008" cy="3246120"/>
          </a:xfrm>
          <a:prstGeom prst="roundRect">
            <a:avLst>
              <a:gd name="adj" fmla="val 1972"/>
            </a:avLst>
          </a:prstGeom>
          <a:solidFill>
            <a:srgbClr val="F1F2F5"/>
          </a:solidFill>
          <a:ln w="12700">
            <a:solidFill>
              <a:srgbClr val="F1F2F5"/>
            </a:solidFill>
            <a:prstDash val="solid"/>
          </a:ln>
        </p:spPr>
      </p:sp>
      <p:sp>
        <p:nvSpPr>
          <p:cNvPr id="10" name="Shape 7"/>
          <p:cNvSpPr/>
          <p:nvPr/>
        </p:nvSpPr>
        <p:spPr>
          <a:xfrm>
            <a:off x="822960" y="2724912"/>
            <a:ext cx="1737360" cy="365760"/>
          </a:xfrm>
          <a:prstGeom prst="roundRect">
            <a:avLst>
              <a:gd name="adj" fmla="val 15000"/>
            </a:avLst>
          </a:prstGeom>
          <a:solidFill>
            <a:srgbClr val="C2410C"/>
          </a:solidFill>
          <a:ln w="12700">
            <a:solidFill>
              <a:srgbClr val="C2410C"/>
            </a:solidFill>
            <a:prstDash val="solid"/>
          </a:ln>
        </p:spPr>
      </p:sp>
      <p:sp>
        <p:nvSpPr>
          <p:cNvPr id="11" name="Text 8"/>
          <p:cNvSpPr/>
          <p:nvPr/>
        </p:nvSpPr>
        <p:spPr>
          <a:xfrm>
            <a:off x="822960" y="2724912"/>
            <a:ext cx="17373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9"/>
          <p:cNvSpPr/>
          <p:nvPr/>
        </p:nvSpPr>
        <p:spPr>
          <a:xfrm>
            <a:off x="822960" y="3200400"/>
            <a:ext cx="3017520" cy="365760"/>
          </a:xfrm>
          <a:prstGeom prst="rect">
            <a:avLst/>
          </a:prstGeom>
          <a:noFill/>
          <a:ln/>
        </p:spPr>
        <p:txBody>
          <a:bodyPr wrap="square" lIns="0" tIns="0" rIns="0" bIns="0" rtlCol="0" anchor="ctr"/>
          <a:lstStyle/>
          <a:p>
            <a:pPr indent="0" marL="0">
              <a:buNone/>
            </a:pPr>
            <a:r>
              <a:rPr lang="en-US" sz="1600" b="1" dirty="0">
                <a:solidFill>
                  <a:srgbClr val="1C1F2A"/>
                </a:solidFill>
                <a:latin typeface="Cambria" pitchFamily="34" charset="0"/>
                <a:ea typeface="Cambria" pitchFamily="34" charset="-122"/>
                <a:cs typeface="Cambria" pitchFamily="34" charset="-120"/>
              </a:rPr>
              <a:t>Beam search</a:t>
            </a:r>
            <a:endParaRPr lang="en-US" sz="1600" dirty="0"/>
          </a:p>
        </p:txBody>
      </p:sp>
      <p:sp>
        <p:nvSpPr>
          <p:cNvPr id="13" name="Text 10"/>
          <p:cNvSpPr/>
          <p:nvPr/>
        </p:nvSpPr>
        <p:spPr>
          <a:xfrm>
            <a:off x="822960" y="3611880"/>
            <a:ext cx="3035808" cy="1234440"/>
          </a:xfrm>
          <a:prstGeom prst="rect">
            <a:avLst/>
          </a:prstGeom>
          <a:noFill/>
          <a:ln/>
        </p:spPr>
        <p:txBody>
          <a:bodyPr wrap="square" lIns="0" tIns="0" rIns="0" bIns="0" rtlCol="0" anchor="t"/>
          <a:lstStyle/>
          <a:p>
            <a:pPr indent="0" marL="0">
              <a:buNone/>
            </a:pPr>
            <a:r>
              <a:rPr lang="en-US" sz="1220" dirty="0">
                <a:solidFill>
                  <a:srgbClr val="3A3F4C"/>
                </a:solidFill>
                <a:latin typeface="Calibri" pitchFamily="34" charset="0"/>
                <a:ea typeface="Calibri" pitchFamily="34" charset="-122"/>
                <a:cs typeface="Calibri" pitchFamily="34" charset="-120"/>
              </a:rPr>
              <a:t>On each ply, keep only the n best moves by evaluation and discard the rest.</a:t>
            </a:r>
            <a:endParaRPr lang="en-US" sz="1220" dirty="0"/>
          </a:p>
        </p:txBody>
      </p:sp>
      <p:sp>
        <p:nvSpPr>
          <p:cNvPr id="14" name="Text 11"/>
          <p:cNvSpPr/>
          <p:nvPr/>
        </p:nvSpPr>
        <p:spPr>
          <a:xfrm>
            <a:off x="822960" y="4864608"/>
            <a:ext cx="3035808" cy="777240"/>
          </a:xfrm>
          <a:prstGeom prst="rect">
            <a:avLst/>
          </a:prstGeom>
          <a:noFill/>
          <a:ln/>
        </p:spPr>
        <p:txBody>
          <a:bodyPr wrap="square" lIns="0" tIns="0" rIns="0" bIns="0" rtlCol="0" anchor="t"/>
          <a:lstStyle/>
          <a:p>
            <a:pPr indent="0" marL="0">
              <a:buNone/>
            </a:pPr>
            <a:r>
              <a:rPr lang="en-US" sz="1150" i="1" dirty="0">
                <a:solidFill>
                  <a:srgbClr val="C2410C"/>
                </a:solidFill>
                <a:latin typeface="Calibri" pitchFamily="34" charset="0"/>
                <a:ea typeface="Calibri" pitchFamily="34" charset="-122"/>
                <a:cs typeface="Calibri" pitchFamily="34" charset="-120"/>
              </a:rPr>
              <a:t>Dangerous: nothing guarantees the best move survives the beam.</a:t>
            </a:r>
            <a:endParaRPr lang="en-US" sz="1150" dirty="0"/>
          </a:p>
        </p:txBody>
      </p:sp>
      <p:sp>
        <p:nvSpPr>
          <p:cNvPr id="15" name="Shape 12"/>
          <p:cNvSpPr/>
          <p:nvPr/>
        </p:nvSpPr>
        <p:spPr>
          <a:xfrm>
            <a:off x="4297680" y="2514600"/>
            <a:ext cx="3493008" cy="3246120"/>
          </a:xfrm>
          <a:prstGeom prst="roundRect">
            <a:avLst>
              <a:gd name="adj" fmla="val 1972"/>
            </a:avLst>
          </a:prstGeom>
          <a:solidFill>
            <a:srgbClr val="F1F2F5"/>
          </a:solidFill>
          <a:ln w="12700">
            <a:solidFill>
              <a:srgbClr val="F1F2F5"/>
            </a:solidFill>
            <a:prstDash val="solid"/>
          </a:ln>
        </p:spPr>
      </p:sp>
      <p:sp>
        <p:nvSpPr>
          <p:cNvPr id="16" name="Shape 13"/>
          <p:cNvSpPr/>
          <p:nvPr/>
        </p:nvSpPr>
        <p:spPr>
          <a:xfrm>
            <a:off x="4553712" y="2724912"/>
            <a:ext cx="1737360" cy="365760"/>
          </a:xfrm>
          <a:prstGeom prst="roundRect">
            <a:avLst>
              <a:gd name="adj" fmla="val 15000"/>
            </a:avLst>
          </a:prstGeom>
          <a:solidFill>
            <a:srgbClr val="1D4E63"/>
          </a:solidFill>
          <a:ln w="12700">
            <a:solidFill>
              <a:srgbClr val="1D4E63"/>
            </a:solidFill>
            <a:prstDash val="solid"/>
          </a:ln>
        </p:spPr>
      </p:sp>
      <p:sp>
        <p:nvSpPr>
          <p:cNvPr id="17" name="Text 14"/>
          <p:cNvSpPr/>
          <p:nvPr/>
        </p:nvSpPr>
        <p:spPr>
          <a:xfrm>
            <a:off x="4553712" y="2724912"/>
            <a:ext cx="17373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5"/>
          <p:cNvSpPr/>
          <p:nvPr/>
        </p:nvSpPr>
        <p:spPr>
          <a:xfrm>
            <a:off x="4553712" y="3200400"/>
            <a:ext cx="3017520" cy="365760"/>
          </a:xfrm>
          <a:prstGeom prst="rect">
            <a:avLst/>
          </a:prstGeom>
          <a:noFill/>
          <a:ln/>
        </p:spPr>
        <p:txBody>
          <a:bodyPr wrap="square" lIns="0" tIns="0" rIns="0" bIns="0" rtlCol="0" anchor="ctr"/>
          <a:lstStyle/>
          <a:p>
            <a:pPr indent="0" marL="0">
              <a:buNone/>
            </a:pPr>
            <a:r>
              <a:rPr lang="en-US" sz="1600" b="1" dirty="0">
                <a:solidFill>
                  <a:srgbClr val="1C1F2A"/>
                </a:solidFill>
                <a:latin typeface="Cambria" pitchFamily="34" charset="0"/>
                <a:ea typeface="Cambria" pitchFamily="34" charset="-122"/>
                <a:cs typeface="Cambria" pitchFamily="34" charset="-120"/>
              </a:rPr>
              <a:t>PROBCUT</a:t>
            </a:r>
            <a:endParaRPr lang="en-US" sz="1600" dirty="0"/>
          </a:p>
        </p:txBody>
      </p:sp>
      <p:sp>
        <p:nvSpPr>
          <p:cNvPr id="19" name="Text 16"/>
          <p:cNvSpPr/>
          <p:nvPr/>
        </p:nvSpPr>
        <p:spPr>
          <a:xfrm>
            <a:off x="4553712" y="3611880"/>
            <a:ext cx="3035808" cy="1234440"/>
          </a:xfrm>
          <a:prstGeom prst="rect">
            <a:avLst/>
          </a:prstGeom>
          <a:noFill/>
          <a:ln/>
        </p:spPr>
        <p:txBody>
          <a:bodyPr wrap="square" lIns="0" tIns="0" rIns="0" bIns="0" rtlCol="0" anchor="t"/>
          <a:lstStyle/>
          <a:p>
            <a:pPr indent="0" marL="0">
              <a:buNone/>
            </a:pPr>
            <a:r>
              <a:rPr lang="en-US" sz="1220" dirty="0">
                <a:solidFill>
                  <a:srgbClr val="3A3F4C"/>
                </a:solidFill>
                <a:latin typeface="Calibri" pitchFamily="34" charset="0"/>
                <a:ea typeface="Calibri" pitchFamily="34" charset="-122"/>
                <a:cs typeface="Calibri" pitchFamily="34" charset="-120"/>
              </a:rPr>
              <a:t>A shallow search estimates the backed-up value v, and past statistics say how likely a score of v at depth d falls outside the current (α, β) window. Prune if probably outside.</a:t>
            </a:r>
            <a:endParaRPr lang="en-US" sz="1220" dirty="0"/>
          </a:p>
        </p:txBody>
      </p:sp>
      <p:sp>
        <p:nvSpPr>
          <p:cNvPr id="20" name="Text 17"/>
          <p:cNvSpPr/>
          <p:nvPr/>
        </p:nvSpPr>
        <p:spPr>
          <a:xfrm>
            <a:off x="4553712" y="4864608"/>
            <a:ext cx="3035808" cy="777240"/>
          </a:xfrm>
          <a:prstGeom prst="rect">
            <a:avLst/>
          </a:prstGeom>
          <a:noFill/>
          <a:ln/>
        </p:spPr>
        <p:txBody>
          <a:bodyPr wrap="square" lIns="0" tIns="0" rIns="0" bIns="0" rtlCol="0" anchor="t"/>
          <a:lstStyle/>
          <a:p>
            <a:pPr indent="0" marL="0">
              <a:buNone/>
            </a:pPr>
            <a:r>
              <a:rPr lang="en-US" sz="1150" i="1" dirty="0">
                <a:solidFill>
                  <a:srgbClr val="1D4E63"/>
                </a:solidFill>
                <a:latin typeface="Calibri" pitchFamily="34" charset="0"/>
                <a:ea typeface="Calibri" pitchFamily="34" charset="-122"/>
                <a:cs typeface="Calibri" pitchFamily="34" charset="-120"/>
              </a:rPr>
              <a:t>Buro’s Othello program LOGISTELLO beat the plain version 64 percent of the time, even when the plain version got double the clock.</a:t>
            </a:r>
            <a:endParaRPr lang="en-US" sz="1150" dirty="0"/>
          </a:p>
        </p:txBody>
      </p:sp>
      <p:sp>
        <p:nvSpPr>
          <p:cNvPr id="21" name="Shape 18"/>
          <p:cNvSpPr/>
          <p:nvPr/>
        </p:nvSpPr>
        <p:spPr>
          <a:xfrm>
            <a:off x="8028432" y="2514600"/>
            <a:ext cx="3493008" cy="3246120"/>
          </a:xfrm>
          <a:prstGeom prst="roundRect">
            <a:avLst>
              <a:gd name="adj" fmla="val 1972"/>
            </a:avLst>
          </a:prstGeom>
          <a:solidFill>
            <a:srgbClr val="F1F2F5"/>
          </a:solidFill>
          <a:ln w="12700">
            <a:solidFill>
              <a:srgbClr val="F1F2F5"/>
            </a:solidFill>
            <a:prstDash val="solid"/>
          </a:ln>
        </p:spPr>
      </p:sp>
      <p:sp>
        <p:nvSpPr>
          <p:cNvPr id="22" name="Shape 19"/>
          <p:cNvSpPr/>
          <p:nvPr/>
        </p:nvSpPr>
        <p:spPr>
          <a:xfrm>
            <a:off x="8284464" y="2724912"/>
            <a:ext cx="1737360" cy="365760"/>
          </a:xfrm>
          <a:prstGeom prst="roundRect">
            <a:avLst>
              <a:gd name="adj" fmla="val 15000"/>
            </a:avLst>
          </a:prstGeom>
          <a:solidFill>
            <a:srgbClr val="6B4E8F"/>
          </a:solidFill>
          <a:ln w="12700">
            <a:solidFill>
              <a:srgbClr val="6B4E8F"/>
            </a:solidFill>
            <a:prstDash val="solid"/>
          </a:ln>
        </p:spPr>
      </p:sp>
      <p:sp>
        <p:nvSpPr>
          <p:cNvPr id="23" name="Text 20"/>
          <p:cNvSpPr/>
          <p:nvPr/>
        </p:nvSpPr>
        <p:spPr>
          <a:xfrm>
            <a:off x="8284464" y="2724912"/>
            <a:ext cx="17373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21"/>
          <p:cNvSpPr/>
          <p:nvPr/>
        </p:nvSpPr>
        <p:spPr>
          <a:xfrm>
            <a:off x="8284464" y="3200400"/>
            <a:ext cx="3017520" cy="365760"/>
          </a:xfrm>
          <a:prstGeom prst="rect">
            <a:avLst/>
          </a:prstGeom>
          <a:noFill/>
          <a:ln/>
        </p:spPr>
        <p:txBody>
          <a:bodyPr wrap="square" lIns="0" tIns="0" rIns="0" bIns="0" rtlCol="0" anchor="ctr"/>
          <a:lstStyle/>
          <a:p>
            <a:pPr indent="0" marL="0">
              <a:buNone/>
            </a:pPr>
            <a:r>
              <a:rPr lang="en-US" sz="1600" b="1" dirty="0">
                <a:solidFill>
                  <a:srgbClr val="1C1F2A"/>
                </a:solidFill>
                <a:latin typeface="Cambria" pitchFamily="34" charset="0"/>
                <a:ea typeface="Cambria" pitchFamily="34" charset="-122"/>
                <a:cs typeface="Cambria" pitchFamily="34" charset="-120"/>
              </a:rPr>
              <a:t>Late move reduction</a:t>
            </a:r>
            <a:endParaRPr lang="en-US" sz="1600" dirty="0"/>
          </a:p>
        </p:txBody>
      </p:sp>
      <p:sp>
        <p:nvSpPr>
          <p:cNvPr id="25" name="Text 22"/>
          <p:cNvSpPr/>
          <p:nvPr/>
        </p:nvSpPr>
        <p:spPr>
          <a:xfrm>
            <a:off x="8284464" y="3611880"/>
            <a:ext cx="3035808" cy="1234440"/>
          </a:xfrm>
          <a:prstGeom prst="rect">
            <a:avLst/>
          </a:prstGeom>
          <a:noFill/>
          <a:ln/>
        </p:spPr>
        <p:txBody>
          <a:bodyPr wrap="square" lIns="0" tIns="0" rIns="0" bIns="0" rtlCol="0" anchor="t"/>
          <a:lstStyle/>
          <a:p>
            <a:pPr indent="0" marL="0">
              <a:buNone/>
            </a:pPr>
            <a:r>
              <a:rPr lang="en-US" sz="1220" dirty="0">
                <a:solidFill>
                  <a:srgbClr val="3A3F4C"/>
                </a:solidFill>
                <a:latin typeface="Calibri" pitchFamily="34" charset="0"/>
                <a:ea typeface="Calibri" pitchFamily="34" charset="-122"/>
                <a:cs typeface="Calibri" pitchFamily="34" charset="-120"/>
              </a:rPr>
              <a:t>Assume move ordering is good, so moves appearing late are probably weak. Rather than cutting them, search them to reduced depth.</a:t>
            </a:r>
            <a:endParaRPr lang="en-US" sz="1220" dirty="0"/>
          </a:p>
        </p:txBody>
      </p:sp>
      <p:sp>
        <p:nvSpPr>
          <p:cNvPr id="26" name="Text 23"/>
          <p:cNvSpPr/>
          <p:nvPr/>
        </p:nvSpPr>
        <p:spPr>
          <a:xfrm>
            <a:off x="8284464" y="4864608"/>
            <a:ext cx="3035808" cy="777240"/>
          </a:xfrm>
          <a:prstGeom prst="rect">
            <a:avLst/>
          </a:prstGeom>
          <a:noFill/>
          <a:ln/>
        </p:spPr>
        <p:txBody>
          <a:bodyPr wrap="square" lIns="0" tIns="0" rIns="0" bIns="0" rtlCol="0" anchor="t"/>
          <a:lstStyle/>
          <a:p>
            <a:pPr indent="0" marL="0">
              <a:buNone/>
            </a:pPr>
            <a:r>
              <a:rPr lang="en-US" sz="1150" i="1" dirty="0">
                <a:solidFill>
                  <a:srgbClr val="6B4E8F"/>
                </a:solidFill>
                <a:latin typeface="Calibri" pitchFamily="34" charset="0"/>
                <a:ea typeface="Calibri" pitchFamily="34" charset="-122"/>
                <a:cs typeface="Calibri" pitchFamily="34" charset="-120"/>
              </a:rPr>
              <a:t>If the reduced search returns above alpha, re-run it at full depth. Cheap insurance against the assumption being wrong.</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5.3.4  SEARCH VERSUS LOOKUP</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The openings belong to humans, the endgames to machines</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25</a:t>
            </a:r>
            <a:endParaRPr lang="en-US" sz="900" dirty="0"/>
          </a:p>
        </p:txBody>
      </p:sp>
      <p:sp>
        <p:nvSpPr>
          <p:cNvPr id="7" name="Shape 4"/>
          <p:cNvSpPr/>
          <p:nvPr/>
        </p:nvSpPr>
        <p:spPr>
          <a:xfrm>
            <a:off x="566928" y="1481328"/>
            <a:ext cx="3493008" cy="2880360"/>
          </a:xfrm>
          <a:prstGeom prst="roundRect">
            <a:avLst>
              <a:gd name="adj" fmla="val 2222"/>
            </a:avLst>
          </a:prstGeom>
          <a:solidFill>
            <a:srgbClr val="F1F2F5"/>
          </a:solidFill>
          <a:ln w="12700">
            <a:solidFill>
              <a:srgbClr val="F1F2F5"/>
            </a:solidFill>
            <a:prstDash val="solid"/>
          </a:ln>
        </p:spPr>
      </p:sp>
      <p:sp>
        <p:nvSpPr>
          <p:cNvPr id="8" name="Text 5"/>
          <p:cNvSpPr/>
          <p:nvPr/>
        </p:nvSpPr>
        <p:spPr>
          <a:xfrm>
            <a:off x="822960" y="1664208"/>
            <a:ext cx="3017520" cy="384048"/>
          </a:xfrm>
          <a:prstGeom prst="rect">
            <a:avLst/>
          </a:prstGeom>
          <a:noFill/>
          <a:ln/>
        </p:spPr>
        <p:txBody>
          <a:bodyPr wrap="square" lIns="0" tIns="0" rIns="0" bIns="0" rtlCol="0" anchor="ctr"/>
          <a:lstStyle/>
          <a:p>
            <a:pPr indent="0" marL="0">
              <a:buNone/>
            </a:pPr>
            <a:r>
              <a:rPr lang="en-US" sz="1900" b="1" dirty="0">
                <a:solidFill>
                  <a:srgbClr val="C2410C"/>
                </a:solidFill>
                <a:latin typeface="Cambria" pitchFamily="34" charset="0"/>
                <a:ea typeface="Cambria" pitchFamily="34" charset="-122"/>
                <a:cs typeface="Cambria" pitchFamily="34" charset="-120"/>
              </a:rPr>
              <a:t>Openings</a:t>
            </a:r>
            <a:endParaRPr lang="en-US" sz="1900" dirty="0"/>
          </a:p>
        </p:txBody>
      </p:sp>
      <p:sp>
        <p:nvSpPr>
          <p:cNvPr id="9" name="Text 6"/>
          <p:cNvSpPr/>
          <p:nvPr/>
        </p:nvSpPr>
        <p:spPr>
          <a:xfrm>
            <a:off x="822960" y="2066544"/>
            <a:ext cx="3017520" cy="310896"/>
          </a:xfrm>
          <a:prstGeom prst="rect">
            <a:avLst/>
          </a:prstGeom>
          <a:noFill/>
          <a:ln/>
        </p:spPr>
        <p:txBody>
          <a:bodyPr wrap="square" lIns="0" tIns="0" rIns="0" bIns="0" rtlCol="0" anchor="ctr"/>
          <a:lstStyle/>
          <a:p>
            <a:pPr indent="0" marL="0">
              <a:buNone/>
            </a:pPr>
            <a:r>
              <a:rPr lang="en-US" sz="1250" i="1" dirty="0">
                <a:solidFill>
                  <a:srgbClr val="3A3F4C"/>
                </a:solidFill>
                <a:latin typeface="Calibri" pitchFamily="34" charset="0"/>
                <a:ea typeface="Calibri" pitchFamily="34" charset="-122"/>
                <a:cs typeface="Calibri" pitchFamily="34" charset="-120"/>
              </a:rPr>
              <a:t>Copy human expertise</a:t>
            </a:r>
            <a:endParaRPr lang="en-US" sz="1250" dirty="0"/>
          </a:p>
        </p:txBody>
      </p:sp>
      <p:sp>
        <p:nvSpPr>
          <p:cNvPr id="10" name="Text 7"/>
          <p:cNvSpPr/>
          <p:nvPr/>
        </p:nvSpPr>
        <p:spPr>
          <a:xfrm>
            <a:off x="822960" y="2450592"/>
            <a:ext cx="3035808" cy="1737360"/>
          </a:xfrm>
          <a:prstGeom prst="rect">
            <a:avLst/>
          </a:prstGeom>
          <a:noFill/>
          <a:ln/>
        </p:spPr>
        <p:txBody>
          <a:bodyPr wrap="square" lIns="0" tIns="0" rIns="0" bIns="0" rtlCol="0" anchor="t"/>
          <a:lstStyle/>
          <a:p>
            <a:pPr indent="0" marL="0">
              <a:buNone/>
            </a:pPr>
            <a:r>
              <a:rPr lang="en-US" sz="1220" dirty="0">
                <a:solidFill>
                  <a:srgbClr val="3A3F4C"/>
                </a:solidFill>
                <a:latin typeface="Calibri" pitchFamily="34" charset="0"/>
                <a:ea typeface="Calibri" pitchFamily="34" charset="-122"/>
                <a:cs typeface="Calibri" pitchFamily="34" charset="-120"/>
              </a:rPr>
              <a:t>Best play in each opening has been recorded for a century. Enter it in a table, and mine game databases for which opening lines most often win. After roughly 10 to 15 moves the position is rare and the program must switch to search.</a:t>
            </a:r>
            <a:endParaRPr lang="en-US" sz="1220" dirty="0"/>
          </a:p>
        </p:txBody>
      </p:sp>
      <p:sp>
        <p:nvSpPr>
          <p:cNvPr id="11" name="Shape 8"/>
          <p:cNvSpPr/>
          <p:nvPr/>
        </p:nvSpPr>
        <p:spPr>
          <a:xfrm>
            <a:off x="4297680" y="1481328"/>
            <a:ext cx="3493008" cy="2880360"/>
          </a:xfrm>
          <a:prstGeom prst="roundRect">
            <a:avLst>
              <a:gd name="adj" fmla="val 2222"/>
            </a:avLst>
          </a:prstGeom>
          <a:solidFill>
            <a:srgbClr val="F1F2F5"/>
          </a:solidFill>
          <a:ln w="12700">
            <a:solidFill>
              <a:srgbClr val="F1F2F5"/>
            </a:solidFill>
            <a:prstDash val="solid"/>
          </a:ln>
        </p:spPr>
      </p:sp>
      <p:sp>
        <p:nvSpPr>
          <p:cNvPr id="12" name="Text 9"/>
          <p:cNvSpPr/>
          <p:nvPr/>
        </p:nvSpPr>
        <p:spPr>
          <a:xfrm>
            <a:off x="4553712" y="1664208"/>
            <a:ext cx="3017520" cy="384048"/>
          </a:xfrm>
          <a:prstGeom prst="rect">
            <a:avLst/>
          </a:prstGeom>
          <a:noFill/>
          <a:ln/>
        </p:spPr>
        <p:txBody>
          <a:bodyPr wrap="square" lIns="0" tIns="0" rIns="0" bIns="0" rtlCol="0" anchor="ctr"/>
          <a:lstStyle/>
          <a:p>
            <a:pPr indent="0" marL="0">
              <a:buNone/>
            </a:pPr>
            <a:r>
              <a:rPr lang="en-US" sz="1900" b="1" dirty="0">
                <a:solidFill>
                  <a:srgbClr val="1D4E63"/>
                </a:solidFill>
                <a:latin typeface="Cambria" pitchFamily="34" charset="0"/>
                <a:ea typeface="Cambria" pitchFamily="34" charset="-122"/>
                <a:cs typeface="Cambria" pitchFamily="34" charset="-120"/>
              </a:rPr>
              <a:t>Endgames</a:t>
            </a:r>
            <a:endParaRPr lang="en-US" sz="1900" dirty="0"/>
          </a:p>
        </p:txBody>
      </p:sp>
      <p:sp>
        <p:nvSpPr>
          <p:cNvPr id="13" name="Text 10"/>
          <p:cNvSpPr/>
          <p:nvPr/>
        </p:nvSpPr>
        <p:spPr>
          <a:xfrm>
            <a:off x="4553712" y="2066544"/>
            <a:ext cx="3017520" cy="310896"/>
          </a:xfrm>
          <a:prstGeom prst="rect">
            <a:avLst/>
          </a:prstGeom>
          <a:noFill/>
          <a:ln/>
        </p:spPr>
        <p:txBody>
          <a:bodyPr wrap="square" lIns="0" tIns="0" rIns="0" bIns="0" rtlCol="0" anchor="ctr"/>
          <a:lstStyle/>
          <a:p>
            <a:pPr indent="0" marL="0">
              <a:buNone/>
            </a:pPr>
            <a:r>
              <a:rPr lang="en-US" sz="1250" i="1" dirty="0">
                <a:solidFill>
                  <a:srgbClr val="3A3F4C"/>
                </a:solidFill>
                <a:latin typeface="Calibri" pitchFamily="34" charset="0"/>
                <a:ea typeface="Calibri" pitchFamily="34" charset="-122"/>
                <a:cs typeface="Calibri" pitchFamily="34" charset="-120"/>
              </a:rPr>
              <a:t>Compute a perfect policy</a:t>
            </a:r>
            <a:endParaRPr lang="en-US" sz="1250" dirty="0"/>
          </a:p>
        </p:txBody>
      </p:sp>
      <p:sp>
        <p:nvSpPr>
          <p:cNvPr id="14" name="Text 11"/>
          <p:cNvSpPr/>
          <p:nvPr/>
        </p:nvSpPr>
        <p:spPr>
          <a:xfrm>
            <a:off x="4553712" y="2450592"/>
            <a:ext cx="3035808" cy="1737360"/>
          </a:xfrm>
          <a:prstGeom prst="rect">
            <a:avLst/>
          </a:prstGeom>
          <a:noFill/>
          <a:ln/>
        </p:spPr>
        <p:txBody>
          <a:bodyPr wrap="square" lIns="0" tIns="0" rIns="0" bIns="0" rtlCol="0" anchor="t"/>
          <a:lstStyle/>
          <a:p>
            <a:pPr indent="0" marL="0">
              <a:buNone/>
            </a:pPr>
            <a:r>
              <a:rPr lang="en-US" sz="1220" dirty="0">
                <a:solidFill>
                  <a:srgbClr val="3A3F4C"/>
                </a:solidFill>
                <a:latin typeface="Calibri" pitchFamily="34" charset="0"/>
                <a:ea typeface="Calibri" pitchFamily="34" charset="-122"/>
                <a:cs typeface="Calibri" pitchFamily="34" charset="-120"/>
              </a:rPr>
              <a:t>Build the table by retrograde minimax: mark the won positions, then run the rules backwards. Any White move that ends in a marked win no matter what Black replies is itself a win. Continue until every position resolves.</a:t>
            </a:r>
            <a:endParaRPr lang="en-US" sz="1220" dirty="0"/>
          </a:p>
        </p:txBody>
      </p:sp>
      <p:sp>
        <p:nvSpPr>
          <p:cNvPr id="15" name="Shape 12"/>
          <p:cNvSpPr/>
          <p:nvPr/>
        </p:nvSpPr>
        <p:spPr>
          <a:xfrm>
            <a:off x="8028432" y="1481328"/>
            <a:ext cx="3602736" cy="2880360"/>
          </a:xfrm>
          <a:prstGeom prst="roundRect">
            <a:avLst>
              <a:gd name="adj" fmla="val 2222"/>
            </a:avLst>
          </a:prstGeom>
          <a:solidFill>
            <a:srgbClr val="1C1F2A"/>
          </a:solidFill>
          <a:ln w="12700">
            <a:solidFill>
              <a:srgbClr val="1C1F2A"/>
            </a:solidFill>
            <a:prstDash val="solid"/>
          </a:ln>
        </p:spPr>
      </p:sp>
      <p:sp>
        <p:nvSpPr>
          <p:cNvPr id="16" name="Text 13"/>
          <p:cNvSpPr/>
          <p:nvPr/>
        </p:nvSpPr>
        <p:spPr>
          <a:xfrm>
            <a:off x="8284464" y="1965960"/>
            <a:ext cx="3108960" cy="640080"/>
          </a:xfrm>
          <a:prstGeom prst="rect">
            <a:avLst/>
          </a:prstGeom>
          <a:noFill/>
          <a:ln/>
        </p:spPr>
        <p:txBody>
          <a:bodyPr wrap="square" lIns="0" tIns="0" rIns="0" bIns="0" rtlCol="0" anchor="ctr"/>
          <a:lstStyle/>
          <a:p>
            <a:pPr indent="0" marL="0">
              <a:buNone/>
            </a:pPr>
            <a:r>
              <a:rPr lang="en-US" sz="3000" b="1" dirty="0">
                <a:solidFill>
                  <a:srgbClr val="B58500"/>
                </a:solidFill>
                <a:latin typeface="Cambria" pitchFamily="34" charset="0"/>
                <a:ea typeface="Cambria" pitchFamily="34" charset="-122"/>
                <a:cs typeface="Cambria" pitchFamily="34" charset="-120"/>
              </a:rPr>
              <a:t>400 trillion</a:t>
            </a:r>
            <a:endParaRPr lang="en-US" sz="3000" dirty="0"/>
          </a:p>
        </p:txBody>
      </p:sp>
      <p:sp>
        <p:nvSpPr>
          <p:cNvPr id="17" name="Text 14"/>
          <p:cNvSpPr/>
          <p:nvPr/>
        </p:nvSpPr>
        <p:spPr>
          <a:xfrm>
            <a:off x="8284464" y="2697480"/>
            <a:ext cx="3108960" cy="1371600"/>
          </a:xfrm>
          <a:prstGeom prst="rect">
            <a:avLst/>
          </a:prstGeom>
          <a:noFill/>
          <a:ln/>
        </p:spPr>
        <p:txBody>
          <a:bodyPr wrap="square" lIns="0" tIns="0" rIns="0" bIns="0" rtlCol="0" anchor="t"/>
          <a:lstStyle/>
          <a:p>
            <a:pPr indent="0" marL="0">
              <a:buNone/>
            </a:pPr>
            <a:r>
              <a:rPr lang="en-US" sz="1250" dirty="0">
                <a:solidFill>
                  <a:srgbClr val="C6CBD8"/>
                </a:solidFill>
                <a:latin typeface="Calibri" pitchFamily="34" charset="0"/>
                <a:ea typeface="Calibri" pitchFamily="34" charset="-122"/>
                <a:cs typeface="Calibri" pitchFamily="34" charset="-120"/>
              </a:rPr>
              <a:t>positions in the solved endgame tables covering every ending with seven or fewer pieces. An eight-piece table would need roughly 40 quadrillion.</a:t>
            </a:r>
            <a:endParaRPr lang="en-US" sz="1250" dirty="0"/>
          </a:p>
        </p:txBody>
      </p:sp>
      <p:graphicFrame>
        <p:nvGraphicFramePr>
          <p:cNvPr id="18" name="Chart 0" descr=""/>
          <p:cNvGraphicFramePr/>
          <p:nvPr/>
        </p:nvGraphicFramePr>
        <p:xfrm>
          <a:off x="566928" y="4526280"/>
          <a:ext cx="11064240" cy="16916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C1F2A"/>
        </a:solidFill>
      </p:bgPr>
    </p:bg>
    <p:spTree>
      <p:nvGrpSpPr>
        <p:cNvPr id="1" name=""/>
        <p:cNvGrpSpPr/>
        <p:nvPr/>
      </p:nvGrpSpPr>
      <p:grpSpPr>
        <a:xfrm>
          <a:off x="0" y="0"/>
          <a:ext cx="0" cy="0"/>
          <a:chOff x="0" y="0"/>
          <a:chExt cx="0" cy="0"/>
        </a:xfrm>
      </p:grpSpPr>
      <p:sp>
        <p:nvSpPr>
          <p:cNvPr id="2" name="Text 0"/>
          <p:cNvSpPr/>
          <p:nvPr/>
        </p:nvSpPr>
        <p:spPr>
          <a:xfrm>
            <a:off x="822960" y="1920240"/>
            <a:ext cx="6400800" cy="365760"/>
          </a:xfrm>
          <a:prstGeom prst="rect">
            <a:avLst/>
          </a:prstGeom>
          <a:noFill/>
          <a:ln/>
        </p:spPr>
        <p:txBody>
          <a:bodyPr wrap="square" lIns="0" tIns="0" rIns="0" bIns="0" rtlCol="0" anchor="ctr"/>
          <a:lstStyle/>
          <a:p>
            <a:pPr indent="0" marL="0">
              <a:buNone/>
            </a:pPr>
            <a:r>
              <a:rPr lang="en-US" sz="1250" b="1" spc="220" kern="0" dirty="0">
                <a:solidFill>
                  <a:srgbClr val="B58500"/>
                </a:solidFill>
                <a:latin typeface="Calibri" pitchFamily="34" charset="0"/>
                <a:ea typeface="Calibri" pitchFamily="34" charset="-122"/>
                <a:cs typeface="Calibri" pitchFamily="34" charset="-120"/>
              </a:rPr>
              <a:t>PART II CONTINUED</a:t>
            </a:r>
            <a:endParaRPr lang="en-US" sz="1250" dirty="0"/>
          </a:p>
        </p:txBody>
      </p:sp>
      <p:sp>
        <p:nvSpPr>
          <p:cNvPr id="3" name="Text 1"/>
          <p:cNvSpPr/>
          <p:nvPr/>
        </p:nvSpPr>
        <p:spPr>
          <a:xfrm>
            <a:off x="822960" y="2331720"/>
            <a:ext cx="7680960" cy="1554480"/>
          </a:xfrm>
          <a:prstGeom prst="rect">
            <a:avLst/>
          </a:prstGeom>
          <a:noFill/>
          <a:ln/>
        </p:spPr>
        <p:txBody>
          <a:bodyPr wrap="square" lIns="0" tIns="0" rIns="0" bIns="0" rtlCol="0" anchor="t"/>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Monte Carlo</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tree search</a:t>
            </a:r>
            <a:endParaRPr lang="en-US" sz="3800" dirty="0"/>
          </a:p>
        </p:txBody>
      </p:sp>
      <p:sp>
        <p:nvSpPr>
          <p:cNvPr id="4" name="Text 2"/>
          <p:cNvSpPr/>
          <p:nvPr/>
        </p:nvSpPr>
        <p:spPr>
          <a:xfrm>
            <a:off x="822960" y="4023360"/>
            <a:ext cx="7132320" cy="1097280"/>
          </a:xfrm>
          <a:prstGeom prst="rect">
            <a:avLst/>
          </a:prstGeom>
          <a:noFill/>
          <a:ln/>
        </p:spPr>
        <p:txBody>
          <a:bodyPr wrap="square" lIns="0" tIns="0" rIns="0" bIns="0" rtlCol="0" anchor="t"/>
          <a:lstStyle/>
          <a:p>
            <a:pPr indent="0" marL="0">
              <a:buNone/>
            </a:pPr>
            <a:r>
              <a:rPr lang="en-US" sz="1500" dirty="0">
                <a:solidFill>
                  <a:srgbClr val="A9B0C0"/>
                </a:solidFill>
                <a:latin typeface="Calibri" pitchFamily="34" charset="0"/>
                <a:ea typeface="Calibri" pitchFamily="34" charset="-122"/>
                <a:cs typeface="Calibri" pitchFamily="34" charset="-120"/>
              </a:rPr>
              <a:t>When the branching factor is 361 and nobody can write a decent evaluation function, stop evaluating and start playing the game out.</a:t>
            </a:r>
            <a:endParaRPr lang="en-US" sz="1500" dirty="0"/>
          </a:p>
        </p:txBody>
      </p:sp>
      <p:sp>
        <p:nvSpPr>
          <p:cNvPr id="5" name="Shape 3"/>
          <p:cNvSpPr/>
          <p:nvPr/>
        </p:nvSpPr>
        <p:spPr>
          <a:xfrm>
            <a:off x="9372600" y="2377440"/>
            <a:ext cx="1645920" cy="1645920"/>
          </a:xfrm>
          <a:prstGeom prst="ellipse">
            <a:avLst/>
          </a:prstGeom>
          <a:solidFill>
            <a:srgbClr val="6B4E8F"/>
          </a:solidFill>
          <a:ln w="12700">
            <a:solidFill>
              <a:srgbClr val="6B4E8F"/>
            </a:solidFill>
            <a:prstDash val="solid"/>
          </a:ln>
        </p:spPr>
      </p:sp>
      <p:sp>
        <p:nvSpPr>
          <p:cNvPr id="6" name="Text 4"/>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565D6E"/>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7" name="Text 5"/>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565D6E"/>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5.4  MONTE CARLO TREE SEARCH</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Go breaks heuristic alpha-beta in two places</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27</a:t>
            </a:r>
            <a:endParaRPr lang="en-US" sz="900" dirty="0"/>
          </a:p>
        </p:txBody>
      </p:sp>
      <p:sp>
        <p:nvSpPr>
          <p:cNvPr id="7" name="Shape 4"/>
          <p:cNvSpPr/>
          <p:nvPr/>
        </p:nvSpPr>
        <p:spPr>
          <a:xfrm>
            <a:off x="566928" y="1554480"/>
            <a:ext cx="3520440" cy="1645920"/>
          </a:xfrm>
          <a:prstGeom prst="roundRect">
            <a:avLst>
              <a:gd name="adj" fmla="val 3889"/>
            </a:avLst>
          </a:prstGeom>
          <a:solidFill>
            <a:srgbClr val="F1F2F5"/>
          </a:solidFill>
          <a:ln w="12700">
            <a:solidFill>
              <a:srgbClr val="F1F2F5"/>
            </a:solidFill>
            <a:prstDash val="solid"/>
          </a:ln>
        </p:spPr>
      </p:sp>
      <p:sp>
        <p:nvSpPr>
          <p:cNvPr id="8" name="Text 5"/>
          <p:cNvSpPr/>
          <p:nvPr/>
        </p:nvSpPr>
        <p:spPr>
          <a:xfrm>
            <a:off x="704088" y="1737360"/>
            <a:ext cx="3246120" cy="731520"/>
          </a:xfrm>
          <a:prstGeom prst="rect">
            <a:avLst/>
          </a:prstGeom>
          <a:noFill/>
          <a:ln/>
        </p:spPr>
        <p:txBody>
          <a:bodyPr wrap="square" lIns="0" tIns="0" rIns="0" bIns="0" rtlCol="0" anchor="ctr"/>
          <a:lstStyle/>
          <a:p>
            <a:pPr algn="ctr" indent="0" marL="0">
              <a:buNone/>
            </a:pPr>
            <a:r>
              <a:rPr lang="en-US" sz="3400" b="1" dirty="0">
                <a:solidFill>
                  <a:srgbClr val="6B4E8F"/>
                </a:solidFill>
                <a:latin typeface="Cambria" pitchFamily="34" charset="0"/>
                <a:ea typeface="Cambria" pitchFamily="34" charset="-122"/>
                <a:cs typeface="Cambria" pitchFamily="34" charset="-120"/>
              </a:rPr>
              <a:t>361</a:t>
            </a:r>
            <a:endParaRPr lang="en-US" sz="3400" dirty="0"/>
          </a:p>
        </p:txBody>
      </p:sp>
      <p:sp>
        <p:nvSpPr>
          <p:cNvPr id="9" name="Text 6"/>
          <p:cNvSpPr/>
          <p:nvPr/>
        </p:nvSpPr>
        <p:spPr>
          <a:xfrm>
            <a:off x="749808" y="2514600"/>
            <a:ext cx="3154680" cy="566928"/>
          </a:xfrm>
          <a:prstGeom prst="rect">
            <a:avLst/>
          </a:prstGeom>
          <a:noFill/>
          <a:ln/>
        </p:spPr>
        <p:txBody>
          <a:bodyPr wrap="square" lIns="0" tIns="0" rIns="0" bIns="0" rtlCol="0" anchor="t"/>
          <a:lstStyle/>
          <a:p>
            <a:pPr algn="ctr" indent="0" marL="0">
              <a:buNone/>
            </a:pPr>
            <a:r>
              <a:rPr lang="en-US" sz="1200" dirty="0">
                <a:solidFill>
                  <a:srgbClr val="3A3F4C"/>
                </a:solidFill>
                <a:latin typeface="Calibri" pitchFamily="34" charset="0"/>
                <a:ea typeface="Calibri" pitchFamily="34" charset="-122"/>
                <a:cs typeface="Calibri" pitchFamily="34" charset="-120"/>
              </a:rPr>
              <a:t>Opening branching factor in Go, which caps alpha-beta at four or five ply</a:t>
            </a:r>
            <a:endParaRPr lang="en-US" sz="1200" dirty="0"/>
          </a:p>
        </p:txBody>
      </p:sp>
      <p:sp>
        <p:nvSpPr>
          <p:cNvPr id="10" name="Shape 7"/>
          <p:cNvSpPr/>
          <p:nvPr/>
        </p:nvSpPr>
        <p:spPr>
          <a:xfrm>
            <a:off x="4334256" y="1554480"/>
            <a:ext cx="7296912" cy="1645920"/>
          </a:xfrm>
          <a:prstGeom prst="roundRect">
            <a:avLst>
              <a:gd name="adj" fmla="val 3889"/>
            </a:avLst>
          </a:prstGeom>
          <a:solidFill>
            <a:srgbClr val="F1F2F5"/>
          </a:solidFill>
          <a:ln w="12700">
            <a:solidFill>
              <a:srgbClr val="F1F2F5"/>
            </a:solidFill>
            <a:prstDash val="solid"/>
          </a:ln>
        </p:spPr>
      </p:sp>
      <p:sp>
        <p:nvSpPr>
          <p:cNvPr id="11" name="Text 8"/>
          <p:cNvSpPr/>
          <p:nvPr/>
        </p:nvSpPr>
        <p:spPr>
          <a:xfrm>
            <a:off x="4617720" y="1719072"/>
            <a:ext cx="6766560" cy="365760"/>
          </a:xfrm>
          <a:prstGeom prst="rect">
            <a:avLst/>
          </a:prstGeom>
          <a:noFill/>
          <a:ln/>
        </p:spPr>
        <p:txBody>
          <a:bodyPr wrap="square" lIns="0" tIns="0" rIns="0" bIns="0" rtlCol="0" anchor="ctr"/>
          <a:lstStyle/>
          <a:p>
            <a:pPr indent="0" marL="0">
              <a:buNone/>
            </a:pPr>
            <a:r>
              <a:rPr lang="en-US" sz="1700" b="1" dirty="0">
                <a:solidFill>
                  <a:srgbClr val="1D4E63"/>
                </a:solidFill>
                <a:latin typeface="Cambria" pitchFamily="34" charset="0"/>
                <a:ea typeface="Cambria" pitchFamily="34" charset="-122"/>
                <a:cs typeface="Cambria" pitchFamily="34" charset="-120"/>
              </a:rPr>
              <a:t>No usable evaluation function</a:t>
            </a:r>
            <a:endParaRPr lang="en-US" sz="1700" dirty="0"/>
          </a:p>
        </p:txBody>
      </p:sp>
      <p:sp>
        <p:nvSpPr>
          <p:cNvPr id="12" name="Text 9"/>
          <p:cNvSpPr/>
          <p:nvPr/>
        </p:nvSpPr>
        <p:spPr>
          <a:xfrm>
            <a:off x="4617720" y="2103120"/>
            <a:ext cx="6766560" cy="914400"/>
          </a:xfrm>
          <a:prstGeom prst="rect">
            <a:avLst/>
          </a:prstGeom>
          <a:noFill/>
          <a:ln/>
        </p:spPr>
        <p:txBody>
          <a:bodyPr wrap="square" lIns="0" tIns="0" rIns="0" bIns="0" rtlCol="0" anchor="t"/>
          <a:lstStyle/>
          <a:p>
            <a:pPr indent="0" marL="0">
              <a:buNone/>
            </a:pPr>
            <a:r>
              <a:rPr lang="en-US" sz="1300" dirty="0">
                <a:solidFill>
                  <a:srgbClr val="3A3F4C"/>
                </a:solidFill>
                <a:latin typeface="Calibri" pitchFamily="34" charset="0"/>
                <a:ea typeface="Calibri" pitchFamily="34" charset="-122"/>
                <a:cs typeface="Calibri" pitchFamily="34" charset="-120"/>
              </a:rPr>
              <a:t>Material value is not a strong indicator of who is winning, and most Go positions stay in flux until the endgame. Even with unlimited depth, there is nothing good to evaluate the frontier with.</a:t>
            </a:r>
            <a:endParaRPr lang="en-US" sz="1300" dirty="0"/>
          </a:p>
        </p:txBody>
      </p:sp>
      <p:sp>
        <p:nvSpPr>
          <p:cNvPr id="13" name="Shape 10"/>
          <p:cNvSpPr/>
          <p:nvPr/>
        </p:nvSpPr>
        <p:spPr>
          <a:xfrm>
            <a:off x="566928" y="3401568"/>
            <a:ext cx="11064240" cy="2377440"/>
          </a:xfrm>
          <a:prstGeom prst="roundRect">
            <a:avLst>
              <a:gd name="adj" fmla="val 2692"/>
            </a:avLst>
          </a:prstGeom>
          <a:solidFill>
            <a:srgbClr val="1C1F2A"/>
          </a:solidFill>
          <a:ln w="12700">
            <a:solidFill>
              <a:srgbClr val="1C1F2A"/>
            </a:solidFill>
            <a:prstDash val="solid"/>
          </a:ln>
        </p:spPr>
      </p:sp>
      <p:sp>
        <p:nvSpPr>
          <p:cNvPr id="14" name="Text 11"/>
          <p:cNvSpPr/>
          <p:nvPr/>
        </p:nvSpPr>
        <p:spPr>
          <a:xfrm>
            <a:off x="914400" y="3611880"/>
            <a:ext cx="5486400" cy="384048"/>
          </a:xfrm>
          <a:prstGeom prst="rect">
            <a:avLst/>
          </a:prstGeom>
          <a:noFill/>
          <a:ln/>
        </p:spPr>
        <p:txBody>
          <a:bodyPr wrap="square" lIns="0" tIns="0" rIns="0" bIns="0" rtlCol="0" anchor="ctr"/>
          <a:lstStyle/>
          <a:p>
            <a:pPr indent="0" marL="0">
              <a:buNone/>
            </a:pPr>
            <a:r>
              <a:rPr lang="en-US" sz="2000" b="1" dirty="0">
                <a:solidFill>
                  <a:srgbClr val="B58500"/>
                </a:solidFill>
                <a:latin typeface="Cambria" pitchFamily="34" charset="0"/>
                <a:ea typeface="Cambria" pitchFamily="34" charset="-122"/>
                <a:cs typeface="Cambria" pitchFamily="34" charset="-120"/>
              </a:rPr>
              <a:t>The Monte Carlo answer</a:t>
            </a:r>
            <a:endParaRPr lang="en-US" sz="2000" dirty="0"/>
          </a:p>
        </p:txBody>
      </p:sp>
      <p:sp>
        <p:nvSpPr>
          <p:cNvPr id="15" name="Text 12"/>
          <p:cNvSpPr/>
          <p:nvPr/>
        </p:nvSpPr>
        <p:spPr>
          <a:xfrm>
            <a:off x="914400" y="4041648"/>
            <a:ext cx="10332720" cy="1188720"/>
          </a:xfrm>
          <a:prstGeom prst="rect">
            <a:avLst/>
          </a:prstGeom>
          <a:noFill/>
          <a:ln/>
        </p:spPr>
        <p:txBody>
          <a:bodyPr wrap="square" lIns="0" tIns="0" rIns="0" bIns="0" rtlCol="0" anchor="t"/>
          <a:lstStyle/>
          <a:p>
            <a:pPr indent="0" marL="0">
              <a:buNone/>
            </a:pPr>
            <a:r>
              <a:rPr lang="en-US" sz="1450" dirty="0">
                <a:solidFill>
                  <a:srgbClr val="C6CBD8"/>
                </a:solidFill>
                <a:latin typeface="Calibri" pitchFamily="34" charset="0"/>
                <a:ea typeface="Calibri" pitchFamily="34" charset="-122"/>
                <a:cs typeface="Calibri" pitchFamily="34" charset="-120"/>
              </a:rPr>
              <a:t>Estimate the value of a state as the average utility over many simulations of complete games starting from it. A simulation, also called a playout or rollout, picks moves for both players until a terminal position is reached, where the rules of the game, not a fallible heuristic, decide who won. For win-or-lose games, average utility is simply win percentage.</a:t>
            </a:r>
            <a:endParaRPr lang="en-US" sz="1450" dirty="0"/>
          </a:p>
        </p:txBody>
      </p:sp>
      <p:sp>
        <p:nvSpPr>
          <p:cNvPr id="16" name="Text 13"/>
          <p:cNvSpPr/>
          <p:nvPr/>
        </p:nvSpPr>
        <p:spPr>
          <a:xfrm>
            <a:off x="914400" y="5285232"/>
            <a:ext cx="10332720" cy="365760"/>
          </a:xfrm>
          <a:prstGeom prst="rect">
            <a:avLst/>
          </a:prstGeom>
          <a:noFill/>
          <a:ln/>
        </p:spPr>
        <p:txBody>
          <a:bodyPr wrap="square" lIns="0" tIns="0" rIns="0" bIns="0" rtlCol="0" anchor="ctr"/>
          <a:lstStyle/>
          <a:p>
            <a:pPr indent="0" marL="0">
              <a:buNone/>
            </a:pPr>
            <a:r>
              <a:rPr lang="en-US" sz="1300" i="1" dirty="0">
                <a:solidFill>
                  <a:srgbClr val="B58500"/>
                </a:solidFill>
                <a:latin typeface="Calibri" pitchFamily="34" charset="0"/>
                <a:ea typeface="Calibri" pitchFamily="34" charset="-122"/>
                <a:cs typeface="Calibri" pitchFamily="34" charset="-120"/>
              </a:rPr>
              <a:t>Note what has been given up and what has been gained: no evaluation function is required at all, only the rules.</a:t>
            </a:r>
            <a:endParaRPr lang="en-US" sz="1300" dirty="0"/>
          </a:p>
        </p:txBody>
      </p:sp>
      <p:sp>
        <p:nvSpPr>
          <p:cNvPr id="17" name="Text 14"/>
          <p:cNvSpPr/>
          <p:nvPr/>
        </p:nvSpPr>
        <p:spPr>
          <a:xfrm>
            <a:off x="566928" y="5897880"/>
            <a:ext cx="11064240" cy="365760"/>
          </a:xfrm>
          <a:prstGeom prst="rect">
            <a:avLst/>
          </a:prstGeom>
          <a:noFill/>
          <a:ln/>
        </p:spPr>
        <p:txBody>
          <a:bodyPr wrap="square" lIns="0" tIns="0" rIns="0" bIns="0" rtlCol="0" anchor="ctr"/>
          <a:lstStyle/>
          <a:p>
            <a:pPr indent="0" marL="0">
              <a:buNone/>
            </a:pPr>
            <a:r>
              <a:rPr lang="en-US" sz="1250" i="1" dirty="0">
                <a:solidFill>
                  <a:srgbClr val="8A8F9C"/>
                </a:solidFill>
                <a:latin typeface="Calibri" pitchFamily="34" charset="0"/>
                <a:ea typeface="Calibri" pitchFamily="34" charset="-122"/>
                <a:cs typeface="Calibri" pitchFamily="34" charset="-120"/>
              </a:rPr>
              <a:t>Playouts run in time linear, not exponential, in the depth of the tree, because only one move is taken at each choice point.</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THE MCTS ITERATION</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Selection, expansion, simulation, back-propagation</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28</a:t>
            </a:r>
            <a:endParaRPr lang="en-US" sz="900" dirty="0"/>
          </a:p>
        </p:txBody>
      </p:sp>
      <p:sp>
        <p:nvSpPr>
          <p:cNvPr id="7" name="Shape 4"/>
          <p:cNvSpPr/>
          <p:nvPr/>
        </p:nvSpPr>
        <p:spPr>
          <a:xfrm rot="10800000">
            <a:off x="2606040" y="1554480"/>
            <a:ext cx="457200" cy="457200"/>
          </a:xfrm>
          <a:prstGeom prst="triangle">
            <a:avLst/>
          </a:prstGeom>
          <a:solidFill>
            <a:srgbClr val="1D4E63"/>
          </a:solidFill>
          <a:ln w="12700">
            <a:solidFill>
              <a:srgbClr val="1D4E63"/>
            </a:solidFill>
            <a:prstDash val="solid"/>
          </a:ln>
        </p:spPr>
      </p:sp>
      <p:sp>
        <p:nvSpPr>
          <p:cNvPr id="8" name="Text 5"/>
          <p:cNvSpPr/>
          <p:nvPr/>
        </p:nvSpPr>
        <p:spPr>
          <a:xfrm>
            <a:off x="3145536" y="1618488"/>
            <a:ext cx="914400" cy="310896"/>
          </a:xfrm>
          <a:prstGeom prst="rect">
            <a:avLst/>
          </a:prstGeom>
          <a:noFill/>
          <a:ln/>
        </p:spPr>
        <p:txBody>
          <a:bodyPr wrap="square" lIns="0" tIns="0" rIns="0" bIns="0" rtlCol="0" anchor="ctr"/>
          <a:lstStyle/>
          <a:p>
            <a:pPr indent="0" marL="0">
              <a:buNone/>
            </a:pPr>
            <a:r>
              <a:rPr lang="en-US" sz="1200" b="1" dirty="0">
                <a:solidFill>
                  <a:srgbClr val="1C1F2A"/>
                </a:solidFill>
                <a:latin typeface="Calibri" pitchFamily="34" charset="0"/>
                <a:ea typeface="Calibri" pitchFamily="34" charset="-122"/>
                <a:cs typeface="Calibri" pitchFamily="34" charset="-120"/>
              </a:rPr>
              <a:t>37/100</a:t>
            </a:r>
            <a:endParaRPr lang="en-US" sz="1200" dirty="0"/>
          </a:p>
        </p:txBody>
      </p:sp>
      <p:sp>
        <p:nvSpPr>
          <p:cNvPr id="9" name="Shape 6"/>
          <p:cNvSpPr/>
          <p:nvPr/>
        </p:nvSpPr>
        <p:spPr>
          <a:xfrm flipH="1">
            <a:off x="1234440" y="1938528"/>
            <a:ext cx="1600200" cy="667512"/>
          </a:xfrm>
          <a:prstGeom prst="line">
            <a:avLst/>
          </a:prstGeom>
          <a:noFill/>
          <a:ln w="34925">
            <a:solidFill>
              <a:srgbClr val="C2410C"/>
            </a:solidFill>
            <a:prstDash val="solid"/>
          </a:ln>
        </p:spPr>
      </p:sp>
      <p:sp>
        <p:nvSpPr>
          <p:cNvPr id="10" name="Shape 7"/>
          <p:cNvSpPr/>
          <p:nvPr/>
        </p:nvSpPr>
        <p:spPr>
          <a:xfrm>
            <a:off x="1005840" y="2560320"/>
            <a:ext cx="457200" cy="457200"/>
          </a:xfrm>
          <a:prstGeom prst="triangle">
            <a:avLst/>
          </a:prstGeom>
          <a:solidFill>
            <a:srgbClr val="C2410C"/>
          </a:solidFill>
          <a:ln w="12700">
            <a:solidFill>
              <a:srgbClr val="C2410C"/>
            </a:solidFill>
            <a:prstDash val="solid"/>
          </a:ln>
        </p:spPr>
      </p:sp>
      <p:sp>
        <p:nvSpPr>
          <p:cNvPr id="11" name="Text 8"/>
          <p:cNvSpPr/>
          <p:nvPr/>
        </p:nvSpPr>
        <p:spPr>
          <a:xfrm>
            <a:off x="731520" y="3145536"/>
            <a:ext cx="1005840" cy="274320"/>
          </a:xfrm>
          <a:prstGeom prst="rect">
            <a:avLst/>
          </a:prstGeom>
          <a:noFill/>
          <a:ln/>
        </p:spPr>
        <p:txBody>
          <a:bodyPr wrap="square" lIns="0" tIns="0" rIns="0" bIns="0" rtlCol="0" anchor="ctr"/>
          <a:lstStyle/>
          <a:p>
            <a:pPr algn="ctr" indent="0" marL="0">
              <a:buNone/>
            </a:pPr>
            <a:r>
              <a:rPr lang="en-US" sz="1150" b="1" dirty="0">
                <a:solidFill>
                  <a:srgbClr val="C2410C"/>
                </a:solidFill>
                <a:latin typeface="Calibri" pitchFamily="34" charset="0"/>
                <a:ea typeface="Calibri" pitchFamily="34" charset="-122"/>
                <a:cs typeface="Calibri" pitchFamily="34" charset="-120"/>
              </a:rPr>
              <a:t>60/79</a:t>
            </a:r>
            <a:endParaRPr lang="en-US" sz="1150" dirty="0"/>
          </a:p>
        </p:txBody>
      </p:sp>
      <p:sp>
        <p:nvSpPr>
          <p:cNvPr id="12" name="Shape 9"/>
          <p:cNvSpPr/>
          <p:nvPr/>
        </p:nvSpPr>
        <p:spPr>
          <a:xfrm>
            <a:off x="2834640" y="1938528"/>
            <a:ext cx="0" cy="667512"/>
          </a:xfrm>
          <a:prstGeom prst="line">
            <a:avLst/>
          </a:prstGeom>
          <a:noFill/>
          <a:ln w="15875">
            <a:solidFill>
              <a:srgbClr val="9AA0AE"/>
            </a:solidFill>
            <a:prstDash val="solid"/>
          </a:ln>
        </p:spPr>
      </p:sp>
      <p:sp>
        <p:nvSpPr>
          <p:cNvPr id="13" name="Shape 10"/>
          <p:cNvSpPr/>
          <p:nvPr/>
        </p:nvSpPr>
        <p:spPr>
          <a:xfrm>
            <a:off x="2606040" y="2560320"/>
            <a:ext cx="457200" cy="457200"/>
          </a:xfrm>
          <a:prstGeom prst="triangle">
            <a:avLst/>
          </a:prstGeom>
          <a:solidFill>
            <a:srgbClr val="C2410C"/>
          </a:solidFill>
          <a:ln w="12700">
            <a:solidFill>
              <a:srgbClr val="C2410C"/>
            </a:solidFill>
            <a:prstDash val="solid"/>
          </a:ln>
        </p:spPr>
      </p:sp>
      <p:sp>
        <p:nvSpPr>
          <p:cNvPr id="14" name="Text 11"/>
          <p:cNvSpPr/>
          <p:nvPr/>
        </p:nvSpPr>
        <p:spPr>
          <a:xfrm>
            <a:off x="2331720" y="3145536"/>
            <a:ext cx="1005840" cy="274320"/>
          </a:xfrm>
          <a:prstGeom prst="rect">
            <a:avLst/>
          </a:prstGeom>
          <a:noFill/>
          <a:ln/>
        </p:spPr>
        <p:txBody>
          <a:bodyPr wrap="square" lIns="0" tIns="0" rIns="0" bIns="0" rtlCol="0" anchor="ctr"/>
          <a:lstStyle/>
          <a:p>
            <a:pPr algn="ctr" indent="0" marL="0">
              <a:buNone/>
            </a:pPr>
            <a:r>
              <a:rPr lang="en-US" sz="1150" b="1" dirty="0">
                <a:solidFill>
                  <a:srgbClr val="3A3F4C"/>
                </a:solidFill>
                <a:latin typeface="Calibri" pitchFamily="34" charset="0"/>
                <a:ea typeface="Calibri" pitchFamily="34" charset="-122"/>
                <a:cs typeface="Calibri" pitchFamily="34" charset="-120"/>
              </a:rPr>
              <a:t>16/53</a:t>
            </a:r>
            <a:endParaRPr lang="en-US" sz="1150" dirty="0"/>
          </a:p>
        </p:txBody>
      </p:sp>
      <p:sp>
        <p:nvSpPr>
          <p:cNvPr id="15" name="Shape 12"/>
          <p:cNvSpPr/>
          <p:nvPr/>
        </p:nvSpPr>
        <p:spPr>
          <a:xfrm>
            <a:off x="2834640" y="1938528"/>
            <a:ext cx="1600200" cy="667512"/>
          </a:xfrm>
          <a:prstGeom prst="line">
            <a:avLst/>
          </a:prstGeom>
          <a:noFill/>
          <a:ln w="15875">
            <a:solidFill>
              <a:srgbClr val="9AA0AE"/>
            </a:solidFill>
            <a:prstDash val="solid"/>
          </a:ln>
        </p:spPr>
      </p:sp>
      <p:sp>
        <p:nvSpPr>
          <p:cNvPr id="16" name="Shape 13"/>
          <p:cNvSpPr/>
          <p:nvPr/>
        </p:nvSpPr>
        <p:spPr>
          <a:xfrm>
            <a:off x="4206240" y="2560320"/>
            <a:ext cx="457200" cy="457200"/>
          </a:xfrm>
          <a:prstGeom prst="triangle">
            <a:avLst/>
          </a:prstGeom>
          <a:solidFill>
            <a:srgbClr val="C2410C"/>
          </a:solidFill>
          <a:ln w="12700">
            <a:solidFill>
              <a:srgbClr val="C2410C"/>
            </a:solidFill>
            <a:prstDash val="solid"/>
          </a:ln>
        </p:spPr>
      </p:sp>
      <p:sp>
        <p:nvSpPr>
          <p:cNvPr id="17" name="Text 14"/>
          <p:cNvSpPr/>
          <p:nvPr/>
        </p:nvSpPr>
        <p:spPr>
          <a:xfrm>
            <a:off x="3931920" y="3145536"/>
            <a:ext cx="1005840" cy="274320"/>
          </a:xfrm>
          <a:prstGeom prst="rect">
            <a:avLst/>
          </a:prstGeom>
          <a:noFill/>
          <a:ln/>
        </p:spPr>
        <p:txBody>
          <a:bodyPr wrap="square" lIns="0" tIns="0" rIns="0" bIns="0" rtlCol="0" anchor="ctr"/>
          <a:lstStyle/>
          <a:p>
            <a:pPr algn="ctr" indent="0" marL="0">
              <a:buNone/>
            </a:pPr>
            <a:r>
              <a:rPr lang="en-US" sz="1150" b="1" dirty="0">
                <a:solidFill>
                  <a:srgbClr val="3A3F4C"/>
                </a:solidFill>
                <a:latin typeface="Calibri" pitchFamily="34" charset="0"/>
                <a:ea typeface="Calibri" pitchFamily="34" charset="-122"/>
                <a:cs typeface="Calibri" pitchFamily="34" charset="-120"/>
              </a:rPr>
              <a:t>2/11</a:t>
            </a:r>
            <a:endParaRPr lang="en-US" sz="1150" dirty="0"/>
          </a:p>
        </p:txBody>
      </p:sp>
      <p:sp>
        <p:nvSpPr>
          <p:cNvPr id="18" name="Shape 15"/>
          <p:cNvSpPr/>
          <p:nvPr/>
        </p:nvSpPr>
        <p:spPr>
          <a:xfrm>
            <a:off x="1234440" y="2944368"/>
            <a:ext cx="0" cy="667512"/>
          </a:xfrm>
          <a:prstGeom prst="line">
            <a:avLst/>
          </a:prstGeom>
          <a:noFill/>
          <a:ln w="34925">
            <a:solidFill>
              <a:srgbClr val="C2410C"/>
            </a:solidFill>
            <a:prstDash val="solid"/>
          </a:ln>
        </p:spPr>
      </p:sp>
      <p:sp>
        <p:nvSpPr>
          <p:cNvPr id="19" name="Shape 16"/>
          <p:cNvSpPr/>
          <p:nvPr/>
        </p:nvSpPr>
        <p:spPr>
          <a:xfrm rot="10800000">
            <a:off x="1005840" y="3566160"/>
            <a:ext cx="457200" cy="457200"/>
          </a:xfrm>
          <a:prstGeom prst="triangle">
            <a:avLst/>
          </a:prstGeom>
          <a:solidFill>
            <a:srgbClr val="1D4E63"/>
          </a:solidFill>
          <a:ln w="12700">
            <a:solidFill>
              <a:srgbClr val="1D4E63"/>
            </a:solidFill>
            <a:prstDash val="solid"/>
          </a:ln>
        </p:spPr>
      </p:sp>
      <p:sp>
        <p:nvSpPr>
          <p:cNvPr id="20" name="Text 17"/>
          <p:cNvSpPr/>
          <p:nvPr/>
        </p:nvSpPr>
        <p:spPr>
          <a:xfrm>
            <a:off x="1572768" y="3639312"/>
            <a:ext cx="914400" cy="274320"/>
          </a:xfrm>
          <a:prstGeom prst="rect">
            <a:avLst/>
          </a:prstGeom>
          <a:noFill/>
          <a:ln/>
        </p:spPr>
        <p:txBody>
          <a:bodyPr wrap="square" lIns="0" tIns="0" rIns="0" bIns="0" rtlCol="0" anchor="ctr"/>
          <a:lstStyle/>
          <a:p>
            <a:pPr indent="0" marL="0">
              <a:buNone/>
            </a:pPr>
            <a:r>
              <a:rPr lang="en-US" sz="1150" b="1" dirty="0">
                <a:solidFill>
                  <a:srgbClr val="C2410C"/>
                </a:solidFill>
                <a:latin typeface="Calibri" pitchFamily="34" charset="0"/>
                <a:ea typeface="Calibri" pitchFamily="34" charset="-122"/>
                <a:cs typeface="Calibri" pitchFamily="34" charset="-120"/>
              </a:rPr>
              <a:t>27/35</a:t>
            </a:r>
            <a:endParaRPr lang="en-US" sz="1150" dirty="0"/>
          </a:p>
        </p:txBody>
      </p:sp>
      <p:sp>
        <p:nvSpPr>
          <p:cNvPr id="21" name="Shape 18"/>
          <p:cNvSpPr/>
          <p:nvPr/>
        </p:nvSpPr>
        <p:spPr>
          <a:xfrm>
            <a:off x="1234440" y="3950208"/>
            <a:ext cx="0" cy="667512"/>
          </a:xfrm>
          <a:prstGeom prst="line">
            <a:avLst/>
          </a:prstGeom>
          <a:noFill/>
          <a:ln w="25400">
            <a:solidFill>
              <a:srgbClr val="6B4E8F"/>
            </a:solidFill>
            <a:prstDash val="dash"/>
          </a:ln>
        </p:spPr>
      </p:sp>
      <p:sp>
        <p:nvSpPr>
          <p:cNvPr id="22" name="Shape 19"/>
          <p:cNvSpPr/>
          <p:nvPr/>
        </p:nvSpPr>
        <p:spPr>
          <a:xfrm>
            <a:off x="1005840" y="4572000"/>
            <a:ext cx="457200" cy="457200"/>
          </a:xfrm>
          <a:prstGeom prst="triangle">
            <a:avLst/>
          </a:prstGeom>
          <a:solidFill>
            <a:srgbClr val="C2410C"/>
          </a:solidFill>
          <a:ln w="12700">
            <a:solidFill>
              <a:srgbClr val="C2410C"/>
            </a:solidFill>
            <a:prstDash val="solid"/>
          </a:ln>
        </p:spPr>
      </p:sp>
      <p:sp>
        <p:nvSpPr>
          <p:cNvPr id="23" name="Text 20"/>
          <p:cNvSpPr/>
          <p:nvPr/>
        </p:nvSpPr>
        <p:spPr>
          <a:xfrm>
            <a:off x="1572768" y="4645152"/>
            <a:ext cx="914400" cy="274320"/>
          </a:xfrm>
          <a:prstGeom prst="rect">
            <a:avLst/>
          </a:prstGeom>
          <a:noFill/>
          <a:ln/>
        </p:spPr>
        <p:txBody>
          <a:bodyPr wrap="square" lIns="0" tIns="0" rIns="0" bIns="0" rtlCol="0" anchor="ctr"/>
          <a:lstStyle/>
          <a:p>
            <a:pPr indent="0" marL="0">
              <a:buNone/>
            </a:pPr>
            <a:r>
              <a:rPr lang="en-US" sz="1150" b="1" dirty="0">
                <a:solidFill>
                  <a:srgbClr val="6B4E8F"/>
                </a:solidFill>
                <a:latin typeface="Calibri" pitchFamily="34" charset="0"/>
                <a:ea typeface="Calibri" pitchFamily="34" charset="-122"/>
                <a:cs typeface="Calibri" pitchFamily="34" charset="-120"/>
              </a:rPr>
              <a:t>0/0</a:t>
            </a:r>
            <a:endParaRPr lang="en-US" sz="1150" dirty="0"/>
          </a:p>
        </p:txBody>
      </p:sp>
      <p:sp>
        <p:nvSpPr>
          <p:cNvPr id="24" name="Text 21"/>
          <p:cNvSpPr/>
          <p:nvPr/>
        </p:nvSpPr>
        <p:spPr>
          <a:xfrm>
            <a:off x="640080" y="5138928"/>
            <a:ext cx="1280160" cy="274320"/>
          </a:xfrm>
          <a:prstGeom prst="rect">
            <a:avLst/>
          </a:prstGeom>
          <a:noFill/>
          <a:ln/>
        </p:spPr>
        <p:txBody>
          <a:bodyPr wrap="square" lIns="0" tIns="0" rIns="0" bIns="0" rtlCol="0" anchor="ctr"/>
          <a:lstStyle/>
          <a:p>
            <a:pPr algn="ctr" indent="0" marL="0">
              <a:buNone/>
            </a:pPr>
            <a:r>
              <a:rPr lang="en-US" sz="1050" i="1" dirty="0">
                <a:solidFill>
                  <a:srgbClr val="8A8F9C"/>
                </a:solidFill>
                <a:latin typeface="Calibri" pitchFamily="34" charset="0"/>
                <a:ea typeface="Calibri" pitchFamily="34" charset="-122"/>
                <a:cs typeface="Calibri" pitchFamily="34" charset="-120"/>
              </a:rPr>
              <a:t>new node</a:t>
            </a:r>
            <a:endParaRPr lang="en-US" sz="1050" dirty="0"/>
          </a:p>
        </p:txBody>
      </p:sp>
      <p:sp>
        <p:nvSpPr>
          <p:cNvPr id="25" name="Shape 22"/>
          <p:cNvSpPr/>
          <p:nvPr/>
        </p:nvSpPr>
        <p:spPr>
          <a:xfrm>
            <a:off x="5577840" y="1554480"/>
            <a:ext cx="6053328" cy="960120"/>
          </a:xfrm>
          <a:prstGeom prst="roundRect">
            <a:avLst>
              <a:gd name="adj" fmla="val 6667"/>
            </a:avLst>
          </a:prstGeom>
          <a:solidFill>
            <a:srgbClr val="F1F2F5"/>
          </a:solidFill>
          <a:ln w="12700">
            <a:solidFill>
              <a:srgbClr val="F1F2F5"/>
            </a:solidFill>
            <a:prstDash val="solid"/>
          </a:ln>
        </p:spPr>
      </p:sp>
      <p:sp>
        <p:nvSpPr>
          <p:cNvPr id="26" name="Shape 23"/>
          <p:cNvSpPr/>
          <p:nvPr/>
        </p:nvSpPr>
        <p:spPr>
          <a:xfrm>
            <a:off x="5806440" y="1792224"/>
            <a:ext cx="475488" cy="475488"/>
          </a:xfrm>
          <a:prstGeom prst="ellipse">
            <a:avLst/>
          </a:prstGeom>
          <a:solidFill>
            <a:srgbClr val="C2410C"/>
          </a:solidFill>
          <a:ln w="12700">
            <a:solidFill>
              <a:srgbClr val="C2410C"/>
            </a:solidFill>
            <a:prstDash val="solid"/>
          </a:ln>
        </p:spPr>
      </p:sp>
      <p:sp>
        <p:nvSpPr>
          <p:cNvPr id="27" name="Text 24"/>
          <p:cNvSpPr/>
          <p:nvPr/>
        </p:nvSpPr>
        <p:spPr>
          <a:xfrm>
            <a:off x="5806440" y="1792224"/>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28" name="Text 25"/>
          <p:cNvSpPr/>
          <p:nvPr/>
        </p:nvSpPr>
        <p:spPr>
          <a:xfrm>
            <a:off x="6446520" y="1645920"/>
            <a:ext cx="4937760" cy="274320"/>
          </a:xfrm>
          <a:prstGeom prst="rect">
            <a:avLst/>
          </a:prstGeom>
          <a:noFill/>
          <a:ln/>
        </p:spPr>
        <p:txBody>
          <a:bodyPr wrap="square" lIns="0" tIns="0" rIns="0" bIns="0" rtlCol="0" anchor="ctr"/>
          <a:lstStyle/>
          <a:p>
            <a:pPr indent="0" marL="0">
              <a:buNone/>
            </a:pPr>
            <a:r>
              <a:rPr lang="en-US" sz="1350" b="1" dirty="0">
                <a:solidFill>
                  <a:srgbClr val="C2410C"/>
                </a:solidFill>
                <a:latin typeface="Cambria" pitchFamily="34" charset="0"/>
                <a:ea typeface="Cambria" pitchFamily="34" charset="-122"/>
                <a:cs typeface="Cambria" pitchFamily="34" charset="-120"/>
              </a:rPr>
              <a:t>Selection</a:t>
            </a:r>
            <a:endParaRPr lang="en-US" sz="1350" dirty="0"/>
          </a:p>
        </p:txBody>
      </p:sp>
      <p:sp>
        <p:nvSpPr>
          <p:cNvPr id="29" name="Text 26"/>
          <p:cNvSpPr/>
          <p:nvPr/>
        </p:nvSpPr>
        <p:spPr>
          <a:xfrm>
            <a:off x="6446520" y="1920240"/>
            <a:ext cx="4956048" cy="548640"/>
          </a:xfrm>
          <a:prstGeom prst="rect">
            <a:avLst/>
          </a:prstGeom>
          <a:noFill/>
          <a:ln/>
        </p:spPr>
        <p:txBody>
          <a:bodyPr wrap="square" lIns="0" tIns="0" rIns="0" bIns="0" rtlCol="0" anchor="t"/>
          <a:lstStyle/>
          <a:p>
            <a:pPr indent="0" marL="0">
              <a:buNone/>
            </a:pPr>
            <a:r>
              <a:rPr lang="en-US" sz="1150" dirty="0">
                <a:solidFill>
                  <a:srgbClr val="3A3F4C"/>
                </a:solidFill>
                <a:latin typeface="Calibri" pitchFamily="34" charset="0"/>
                <a:ea typeface="Calibri" pitchFamily="34" charset="-122"/>
                <a:cs typeface="Calibri" pitchFamily="34" charset="-120"/>
              </a:rPr>
              <a:t>From the root, follow the selection policy down to a leaf. Choosing 60/79 over 2/11 is exploitation; choosing 2/11 would be exploration, since with only 11 playouts its value is still very uncertain.</a:t>
            </a:r>
            <a:endParaRPr lang="en-US" sz="1150" dirty="0"/>
          </a:p>
        </p:txBody>
      </p:sp>
      <p:sp>
        <p:nvSpPr>
          <p:cNvPr id="30" name="Shape 27"/>
          <p:cNvSpPr/>
          <p:nvPr/>
        </p:nvSpPr>
        <p:spPr>
          <a:xfrm>
            <a:off x="5577840" y="2633472"/>
            <a:ext cx="6053328" cy="960120"/>
          </a:xfrm>
          <a:prstGeom prst="roundRect">
            <a:avLst>
              <a:gd name="adj" fmla="val 6667"/>
            </a:avLst>
          </a:prstGeom>
          <a:solidFill>
            <a:srgbClr val="F1F2F5"/>
          </a:solidFill>
          <a:ln w="12700">
            <a:solidFill>
              <a:srgbClr val="F1F2F5"/>
            </a:solidFill>
            <a:prstDash val="solid"/>
          </a:ln>
        </p:spPr>
      </p:sp>
      <p:sp>
        <p:nvSpPr>
          <p:cNvPr id="31" name="Shape 28"/>
          <p:cNvSpPr/>
          <p:nvPr/>
        </p:nvSpPr>
        <p:spPr>
          <a:xfrm>
            <a:off x="5806440" y="2871216"/>
            <a:ext cx="475488" cy="475488"/>
          </a:xfrm>
          <a:prstGeom prst="ellipse">
            <a:avLst/>
          </a:prstGeom>
          <a:solidFill>
            <a:srgbClr val="1D4E63"/>
          </a:solidFill>
          <a:ln w="12700">
            <a:solidFill>
              <a:srgbClr val="1D4E63"/>
            </a:solidFill>
            <a:prstDash val="solid"/>
          </a:ln>
        </p:spPr>
      </p:sp>
      <p:sp>
        <p:nvSpPr>
          <p:cNvPr id="32" name="Text 29"/>
          <p:cNvSpPr/>
          <p:nvPr/>
        </p:nvSpPr>
        <p:spPr>
          <a:xfrm>
            <a:off x="5806440" y="2871216"/>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33" name="Text 30"/>
          <p:cNvSpPr/>
          <p:nvPr/>
        </p:nvSpPr>
        <p:spPr>
          <a:xfrm>
            <a:off x="6446520" y="2724912"/>
            <a:ext cx="4937760" cy="274320"/>
          </a:xfrm>
          <a:prstGeom prst="rect">
            <a:avLst/>
          </a:prstGeom>
          <a:noFill/>
          <a:ln/>
        </p:spPr>
        <p:txBody>
          <a:bodyPr wrap="square" lIns="0" tIns="0" rIns="0" bIns="0" rtlCol="0" anchor="ctr"/>
          <a:lstStyle/>
          <a:p>
            <a:pPr indent="0" marL="0">
              <a:buNone/>
            </a:pPr>
            <a:r>
              <a:rPr lang="en-US" sz="1350" b="1" dirty="0">
                <a:solidFill>
                  <a:srgbClr val="1D4E63"/>
                </a:solidFill>
                <a:latin typeface="Cambria" pitchFamily="34" charset="0"/>
                <a:ea typeface="Cambria" pitchFamily="34" charset="-122"/>
                <a:cs typeface="Cambria" pitchFamily="34" charset="-120"/>
              </a:rPr>
              <a:t>Expansion</a:t>
            </a:r>
            <a:endParaRPr lang="en-US" sz="1350" dirty="0"/>
          </a:p>
        </p:txBody>
      </p:sp>
      <p:sp>
        <p:nvSpPr>
          <p:cNvPr id="34" name="Text 31"/>
          <p:cNvSpPr/>
          <p:nvPr/>
        </p:nvSpPr>
        <p:spPr>
          <a:xfrm>
            <a:off x="6446520" y="2999232"/>
            <a:ext cx="4956048" cy="548640"/>
          </a:xfrm>
          <a:prstGeom prst="rect">
            <a:avLst/>
          </a:prstGeom>
          <a:noFill/>
          <a:ln/>
        </p:spPr>
        <p:txBody>
          <a:bodyPr wrap="square" lIns="0" tIns="0" rIns="0" bIns="0" rtlCol="0" anchor="t"/>
          <a:lstStyle/>
          <a:p>
            <a:pPr indent="0" marL="0">
              <a:buNone/>
            </a:pPr>
            <a:r>
              <a:rPr lang="en-US" sz="1150" dirty="0">
                <a:solidFill>
                  <a:srgbClr val="3A3F4C"/>
                </a:solidFill>
                <a:latin typeface="Calibri" pitchFamily="34" charset="0"/>
                <a:ea typeface="Calibri" pitchFamily="34" charset="-122"/>
                <a:cs typeface="Calibri" pitchFamily="34" charset="-120"/>
              </a:rPr>
              <a:t>Generate a new child of the selected node, shown here as 0/0. Some versions generate more than one.</a:t>
            </a:r>
            <a:endParaRPr lang="en-US" sz="1150" dirty="0"/>
          </a:p>
        </p:txBody>
      </p:sp>
      <p:sp>
        <p:nvSpPr>
          <p:cNvPr id="35" name="Shape 32"/>
          <p:cNvSpPr/>
          <p:nvPr/>
        </p:nvSpPr>
        <p:spPr>
          <a:xfrm>
            <a:off x="5577840" y="3712464"/>
            <a:ext cx="6053328" cy="960120"/>
          </a:xfrm>
          <a:prstGeom prst="roundRect">
            <a:avLst>
              <a:gd name="adj" fmla="val 6667"/>
            </a:avLst>
          </a:prstGeom>
          <a:solidFill>
            <a:srgbClr val="F1F2F5"/>
          </a:solidFill>
          <a:ln w="12700">
            <a:solidFill>
              <a:srgbClr val="F1F2F5"/>
            </a:solidFill>
            <a:prstDash val="solid"/>
          </a:ln>
        </p:spPr>
      </p:sp>
      <p:sp>
        <p:nvSpPr>
          <p:cNvPr id="36" name="Shape 33"/>
          <p:cNvSpPr/>
          <p:nvPr/>
        </p:nvSpPr>
        <p:spPr>
          <a:xfrm>
            <a:off x="5806440" y="3950208"/>
            <a:ext cx="475488" cy="475488"/>
          </a:xfrm>
          <a:prstGeom prst="ellipse">
            <a:avLst/>
          </a:prstGeom>
          <a:solidFill>
            <a:srgbClr val="6B4E8F"/>
          </a:solidFill>
          <a:ln w="12700">
            <a:solidFill>
              <a:srgbClr val="6B4E8F"/>
            </a:solidFill>
            <a:prstDash val="solid"/>
          </a:ln>
        </p:spPr>
      </p:sp>
      <p:sp>
        <p:nvSpPr>
          <p:cNvPr id="37" name="Text 34"/>
          <p:cNvSpPr/>
          <p:nvPr/>
        </p:nvSpPr>
        <p:spPr>
          <a:xfrm>
            <a:off x="5806440" y="3950208"/>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38" name="Text 35"/>
          <p:cNvSpPr/>
          <p:nvPr/>
        </p:nvSpPr>
        <p:spPr>
          <a:xfrm>
            <a:off x="6446520" y="3803904"/>
            <a:ext cx="4937760" cy="274320"/>
          </a:xfrm>
          <a:prstGeom prst="rect">
            <a:avLst/>
          </a:prstGeom>
          <a:noFill/>
          <a:ln/>
        </p:spPr>
        <p:txBody>
          <a:bodyPr wrap="square" lIns="0" tIns="0" rIns="0" bIns="0" rtlCol="0" anchor="ctr"/>
          <a:lstStyle/>
          <a:p>
            <a:pPr indent="0" marL="0">
              <a:buNone/>
            </a:pPr>
            <a:r>
              <a:rPr lang="en-US" sz="1350" b="1" dirty="0">
                <a:solidFill>
                  <a:srgbClr val="6B4E8F"/>
                </a:solidFill>
                <a:latin typeface="Cambria" pitchFamily="34" charset="0"/>
                <a:ea typeface="Cambria" pitchFamily="34" charset="-122"/>
                <a:cs typeface="Cambria" pitchFamily="34" charset="-120"/>
              </a:rPr>
              <a:t>Simulation</a:t>
            </a:r>
            <a:endParaRPr lang="en-US" sz="1350" dirty="0"/>
          </a:p>
        </p:txBody>
      </p:sp>
      <p:sp>
        <p:nvSpPr>
          <p:cNvPr id="39" name="Text 36"/>
          <p:cNvSpPr/>
          <p:nvPr/>
        </p:nvSpPr>
        <p:spPr>
          <a:xfrm>
            <a:off x="6446520" y="4078224"/>
            <a:ext cx="4956048" cy="548640"/>
          </a:xfrm>
          <a:prstGeom prst="rect">
            <a:avLst/>
          </a:prstGeom>
          <a:noFill/>
          <a:ln/>
        </p:spPr>
        <p:txBody>
          <a:bodyPr wrap="square" lIns="0" tIns="0" rIns="0" bIns="0" rtlCol="0" anchor="t"/>
          <a:lstStyle/>
          <a:p>
            <a:pPr indent="0" marL="0">
              <a:buNone/>
            </a:pPr>
            <a:r>
              <a:rPr lang="en-US" sz="1150" dirty="0">
                <a:solidFill>
                  <a:srgbClr val="3A3F4C"/>
                </a:solidFill>
                <a:latin typeface="Calibri" pitchFamily="34" charset="0"/>
                <a:ea typeface="Calibri" pitchFamily="34" charset="-122"/>
                <a:cs typeface="Calibri" pitchFamily="34" charset="-120"/>
              </a:rPr>
              <a:t>Run a playout from the new child using the playout policy. These moves are not recorded in the tree. Here Black wins.</a:t>
            </a:r>
            <a:endParaRPr lang="en-US" sz="1150" dirty="0"/>
          </a:p>
        </p:txBody>
      </p:sp>
      <p:sp>
        <p:nvSpPr>
          <p:cNvPr id="40" name="Shape 37"/>
          <p:cNvSpPr/>
          <p:nvPr/>
        </p:nvSpPr>
        <p:spPr>
          <a:xfrm>
            <a:off x="5577840" y="4791456"/>
            <a:ext cx="6053328" cy="960120"/>
          </a:xfrm>
          <a:prstGeom prst="roundRect">
            <a:avLst>
              <a:gd name="adj" fmla="val 6667"/>
            </a:avLst>
          </a:prstGeom>
          <a:solidFill>
            <a:srgbClr val="F1F2F5"/>
          </a:solidFill>
          <a:ln w="12700">
            <a:solidFill>
              <a:srgbClr val="F1F2F5"/>
            </a:solidFill>
            <a:prstDash val="solid"/>
          </a:ln>
        </p:spPr>
      </p:sp>
      <p:sp>
        <p:nvSpPr>
          <p:cNvPr id="41" name="Shape 38"/>
          <p:cNvSpPr/>
          <p:nvPr/>
        </p:nvSpPr>
        <p:spPr>
          <a:xfrm>
            <a:off x="5806440" y="5029200"/>
            <a:ext cx="475488" cy="475488"/>
          </a:xfrm>
          <a:prstGeom prst="ellipse">
            <a:avLst/>
          </a:prstGeom>
          <a:solidFill>
            <a:srgbClr val="B58500"/>
          </a:solidFill>
          <a:ln w="12700">
            <a:solidFill>
              <a:srgbClr val="B58500"/>
            </a:solidFill>
            <a:prstDash val="solid"/>
          </a:ln>
        </p:spPr>
      </p:sp>
      <p:sp>
        <p:nvSpPr>
          <p:cNvPr id="42" name="Text 39"/>
          <p:cNvSpPr/>
          <p:nvPr/>
        </p:nvSpPr>
        <p:spPr>
          <a:xfrm>
            <a:off x="5806440" y="502920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43" name="Text 40"/>
          <p:cNvSpPr/>
          <p:nvPr/>
        </p:nvSpPr>
        <p:spPr>
          <a:xfrm>
            <a:off x="6446520" y="4882896"/>
            <a:ext cx="4937760" cy="274320"/>
          </a:xfrm>
          <a:prstGeom prst="rect">
            <a:avLst/>
          </a:prstGeom>
          <a:noFill/>
          <a:ln/>
        </p:spPr>
        <p:txBody>
          <a:bodyPr wrap="square" lIns="0" tIns="0" rIns="0" bIns="0" rtlCol="0" anchor="ctr"/>
          <a:lstStyle/>
          <a:p>
            <a:pPr indent="0" marL="0">
              <a:buNone/>
            </a:pPr>
            <a:r>
              <a:rPr lang="en-US" sz="1350" b="1" dirty="0">
                <a:solidFill>
                  <a:srgbClr val="B58500"/>
                </a:solidFill>
                <a:latin typeface="Cambria" pitchFamily="34" charset="0"/>
                <a:ea typeface="Cambria" pitchFamily="34" charset="-122"/>
                <a:cs typeface="Cambria" pitchFamily="34" charset="-120"/>
              </a:rPr>
              <a:t>Back-propagation</a:t>
            </a:r>
            <a:endParaRPr lang="en-US" sz="1350" dirty="0"/>
          </a:p>
        </p:txBody>
      </p:sp>
      <p:sp>
        <p:nvSpPr>
          <p:cNvPr id="44" name="Text 41"/>
          <p:cNvSpPr/>
          <p:nvPr/>
        </p:nvSpPr>
        <p:spPr>
          <a:xfrm>
            <a:off x="6446520" y="5157216"/>
            <a:ext cx="4956048" cy="548640"/>
          </a:xfrm>
          <a:prstGeom prst="rect">
            <a:avLst/>
          </a:prstGeom>
          <a:noFill/>
          <a:ln/>
        </p:spPr>
        <p:txBody>
          <a:bodyPr wrap="square" lIns="0" tIns="0" rIns="0" bIns="0" rtlCol="0" anchor="t"/>
          <a:lstStyle/>
          <a:p>
            <a:pPr indent="0" marL="0">
              <a:buNone/>
            </a:pPr>
            <a:r>
              <a:rPr lang="en-US" sz="1150" dirty="0">
                <a:solidFill>
                  <a:srgbClr val="3A3F4C"/>
                </a:solidFill>
                <a:latin typeface="Calibri" pitchFamily="34" charset="0"/>
                <a:ea typeface="Calibri" pitchFamily="34" charset="-122"/>
                <a:cs typeface="Calibri" pitchFamily="34" charset="-120"/>
              </a:rPr>
              <a:t>Update every node on the path to the root. Black nodes gain a win and a playout, so 27/35 becomes 28/36. White nodes gain only a playout, so the root becomes 37/101.</a:t>
            </a:r>
            <a:endParaRPr lang="en-US" sz="1150" dirty="0"/>
          </a:p>
        </p:txBody>
      </p:sp>
      <p:sp>
        <p:nvSpPr>
          <p:cNvPr id="45" name="Text 42"/>
          <p:cNvSpPr/>
          <p:nvPr/>
        </p:nvSpPr>
        <p:spPr>
          <a:xfrm>
            <a:off x="566928" y="5897880"/>
            <a:ext cx="11064240" cy="365760"/>
          </a:xfrm>
          <a:prstGeom prst="rect">
            <a:avLst/>
          </a:prstGeom>
          <a:noFill/>
          <a:ln/>
        </p:spPr>
        <p:txBody>
          <a:bodyPr wrap="square" lIns="0" tIns="0" rIns="0" bIns="0" rtlCol="0" anchor="ctr"/>
          <a:lstStyle/>
          <a:p>
            <a:pPr indent="0" marL="0">
              <a:buNone/>
            </a:pPr>
            <a:r>
              <a:rPr lang="en-US" sz="1250" i="1" dirty="0">
                <a:solidFill>
                  <a:srgbClr val="8A8F9C"/>
                </a:solidFill>
                <a:latin typeface="Calibri" pitchFamily="34" charset="0"/>
                <a:ea typeface="Calibri" pitchFamily="34" charset="-122"/>
                <a:cs typeface="Calibri" pitchFamily="34" charset="-120"/>
              </a:rPr>
              <a:t>Repeat for a fixed number of iterations or until the clock expires, then play the move with the most playouts, not the best average.</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THE SELECTION POLICY</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UCT: upper confidence bounds applied to trees</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29</a:t>
            </a:r>
            <a:endParaRPr lang="en-US" sz="900" dirty="0"/>
          </a:p>
        </p:txBody>
      </p:sp>
      <p:sp>
        <p:nvSpPr>
          <p:cNvPr id="7" name="Shape 4"/>
          <p:cNvSpPr/>
          <p:nvPr/>
        </p:nvSpPr>
        <p:spPr>
          <a:xfrm>
            <a:off x="566928" y="1444752"/>
            <a:ext cx="11064240" cy="1005840"/>
          </a:xfrm>
          <a:prstGeom prst="roundRect">
            <a:avLst>
              <a:gd name="adj" fmla="val 6364"/>
            </a:avLst>
          </a:prstGeom>
          <a:solidFill>
            <a:srgbClr val="1C1F2A"/>
          </a:solidFill>
          <a:ln w="12700">
            <a:solidFill>
              <a:srgbClr val="1C1F2A"/>
            </a:solidFill>
            <a:prstDash val="solid"/>
          </a:ln>
        </p:spPr>
      </p:sp>
      <p:sp>
        <p:nvSpPr>
          <p:cNvPr id="8" name="Text 5"/>
          <p:cNvSpPr/>
          <p:nvPr/>
        </p:nvSpPr>
        <p:spPr>
          <a:xfrm>
            <a:off x="914400" y="1444752"/>
            <a:ext cx="10332720" cy="100584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UCB1(n)  =   U(n) / N(n)   +   C × √( log N(PARENT(n)) / N(n) )</a:t>
            </a:r>
            <a:endParaRPr lang="en-US" sz="2100" dirty="0"/>
          </a:p>
        </p:txBody>
      </p:sp>
      <p:sp>
        <p:nvSpPr>
          <p:cNvPr id="9" name="Shape 6"/>
          <p:cNvSpPr/>
          <p:nvPr/>
        </p:nvSpPr>
        <p:spPr>
          <a:xfrm>
            <a:off x="566928" y="2651760"/>
            <a:ext cx="5303520" cy="1965960"/>
          </a:xfrm>
          <a:prstGeom prst="roundRect">
            <a:avLst>
              <a:gd name="adj" fmla="val 3256"/>
            </a:avLst>
          </a:prstGeom>
          <a:solidFill>
            <a:srgbClr val="FDF2EC"/>
          </a:solidFill>
          <a:ln w="12700">
            <a:solidFill>
              <a:srgbClr val="FDF2EC"/>
            </a:solidFill>
            <a:prstDash val="solid"/>
          </a:ln>
        </p:spPr>
      </p:sp>
      <p:sp>
        <p:nvSpPr>
          <p:cNvPr id="10" name="Text 7"/>
          <p:cNvSpPr/>
          <p:nvPr/>
        </p:nvSpPr>
        <p:spPr>
          <a:xfrm>
            <a:off x="841248" y="2816352"/>
            <a:ext cx="4754880" cy="329184"/>
          </a:xfrm>
          <a:prstGeom prst="rect">
            <a:avLst/>
          </a:prstGeom>
          <a:noFill/>
          <a:ln/>
        </p:spPr>
        <p:txBody>
          <a:bodyPr wrap="square" lIns="0" tIns="0" rIns="0" bIns="0" rtlCol="0" anchor="ctr"/>
          <a:lstStyle/>
          <a:p>
            <a:pPr indent="0" marL="0">
              <a:buNone/>
            </a:pPr>
            <a:r>
              <a:rPr lang="en-US" sz="1600" b="1" dirty="0">
                <a:solidFill>
                  <a:srgbClr val="C2410C"/>
                </a:solidFill>
                <a:latin typeface="Cambria" pitchFamily="34" charset="0"/>
                <a:ea typeface="Cambria" pitchFamily="34" charset="-122"/>
                <a:cs typeface="Cambria" pitchFamily="34" charset="-120"/>
              </a:rPr>
              <a:t>Exploitation</a:t>
            </a:r>
            <a:endParaRPr lang="en-US" sz="1600" dirty="0"/>
          </a:p>
        </p:txBody>
      </p:sp>
      <p:sp>
        <p:nvSpPr>
          <p:cNvPr id="11" name="Text 8"/>
          <p:cNvSpPr/>
          <p:nvPr/>
        </p:nvSpPr>
        <p:spPr>
          <a:xfrm>
            <a:off x="841248" y="3182112"/>
            <a:ext cx="4754880" cy="384048"/>
          </a:xfrm>
          <a:prstGeom prst="rect">
            <a:avLst/>
          </a:prstGeom>
          <a:noFill/>
          <a:ln/>
        </p:spPr>
        <p:txBody>
          <a:bodyPr wrap="square" lIns="0" tIns="0" rIns="0" bIns="0" rtlCol="0" anchor="ctr"/>
          <a:lstStyle/>
          <a:p>
            <a:pPr indent="0" marL="0">
              <a:buNone/>
            </a:pPr>
            <a:r>
              <a:rPr lang="en-US" sz="1500" b="1" dirty="0">
                <a:solidFill>
                  <a:srgbClr val="1C1F2A"/>
                </a:solidFill>
                <a:latin typeface="Calibri" pitchFamily="34" charset="0"/>
                <a:ea typeface="Calibri" pitchFamily="34" charset="-122"/>
                <a:cs typeface="Calibri" pitchFamily="34" charset="-120"/>
              </a:rPr>
              <a:t>U(n) / N(n)</a:t>
            </a:r>
            <a:endParaRPr lang="en-US" sz="1500" dirty="0"/>
          </a:p>
        </p:txBody>
      </p:sp>
      <p:sp>
        <p:nvSpPr>
          <p:cNvPr id="12" name="Text 9"/>
          <p:cNvSpPr/>
          <p:nvPr/>
        </p:nvSpPr>
        <p:spPr>
          <a:xfrm>
            <a:off x="841248" y="3621024"/>
            <a:ext cx="4773168" cy="914400"/>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The average utility of n across every playout that passed through it. Favours nodes that have already done well.</a:t>
            </a:r>
            <a:endParaRPr lang="en-US" sz="1250" dirty="0"/>
          </a:p>
        </p:txBody>
      </p:sp>
      <p:sp>
        <p:nvSpPr>
          <p:cNvPr id="13" name="Shape 10"/>
          <p:cNvSpPr/>
          <p:nvPr/>
        </p:nvSpPr>
        <p:spPr>
          <a:xfrm>
            <a:off x="6144768" y="2651760"/>
            <a:ext cx="5303520" cy="1965960"/>
          </a:xfrm>
          <a:prstGeom prst="roundRect">
            <a:avLst>
              <a:gd name="adj" fmla="val 3256"/>
            </a:avLst>
          </a:prstGeom>
          <a:solidFill>
            <a:srgbClr val="EAF1F5"/>
          </a:solidFill>
          <a:ln w="12700">
            <a:solidFill>
              <a:srgbClr val="EAF1F5"/>
            </a:solidFill>
            <a:prstDash val="solid"/>
          </a:ln>
        </p:spPr>
      </p:sp>
      <p:sp>
        <p:nvSpPr>
          <p:cNvPr id="14" name="Text 11"/>
          <p:cNvSpPr/>
          <p:nvPr/>
        </p:nvSpPr>
        <p:spPr>
          <a:xfrm>
            <a:off x="6419088" y="2816352"/>
            <a:ext cx="4754880" cy="329184"/>
          </a:xfrm>
          <a:prstGeom prst="rect">
            <a:avLst/>
          </a:prstGeom>
          <a:noFill/>
          <a:ln/>
        </p:spPr>
        <p:txBody>
          <a:bodyPr wrap="square" lIns="0" tIns="0" rIns="0" bIns="0" rtlCol="0" anchor="ctr"/>
          <a:lstStyle/>
          <a:p>
            <a:pPr indent="0" marL="0">
              <a:buNone/>
            </a:pPr>
            <a:r>
              <a:rPr lang="en-US" sz="1600" b="1" dirty="0">
                <a:solidFill>
                  <a:srgbClr val="1D4E63"/>
                </a:solidFill>
                <a:latin typeface="Cambria" pitchFamily="34" charset="0"/>
                <a:ea typeface="Cambria" pitchFamily="34" charset="-122"/>
                <a:cs typeface="Cambria" pitchFamily="34" charset="-120"/>
              </a:rPr>
              <a:t>Exploration</a:t>
            </a:r>
            <a:endParaRPr lang="en-US" sz="1600" dirty="0"/>
          </a:p>
        </p:txBody>
      </p:sp>
      <p:sp>
        <p:nvSpPr>
          <p:cNvPr id="15" name="Text 12"/>
          <p:cNvSpPr/>
          <p:nvPr/>
        </p:nvSpPr>
        <p:spPr>
          <a:xfrm>
            <a:off x="6419088" y="3182112"/>
            <a:ext cx="4754880" cy="384048"/>
          </a:xfrm>
          <a:prstGeom prst="rect">
            <a:avLst/>
          </a:prstGeom>
          <a:noFill/>
          <a:ln/>
        </p:spPr>
        <p:txBody>
          <a:bodyPr wrap="square" lIns="0" tIns="0" rIns="0" bIns="0" rtlCol="0" anchor="ctr"/>
          <a:lstStyle/>
          <a:p>
            <a:pPr indent="0" marL="0">
              <a:buNone/>
            </a:pPr>
            <a:r>
              <a:rPr lang="en-US" sz="1500" b="1" dirty="0">
                <a:solidFill>
                  <a:srgbClr val="1C1F2A"/>
                </a:solidFill>
                <a:latin typeface="Calibri" pitchFamily="34" charset="0"/>
                <a:ea typeface="Calibri" pitchFamily="34" charset="-122"/>
                <a:cs typeface="Calibri" pitchFamily="34" charset="-120"/>
              </a:rPr>
              <a:t>C × √( log N(parent) / N(n) )</a:t>
            </a:r>
            <a:endParaRPr lang="en-US" sz="1500" dirty="0"/>
          </a:p>
        </p:txBody>
      </p:sp>
      <p:sp>
        <p:nvSpPr>
          <p:cNvPr id="16" name="Text 13"/>
          <p:cNvSpPr/>
          <p:nvPr/>
        </p:nvSpPr>
        <p:spPr>
          <a:xfrm>
            <a:off x="6419088" y="3621024"/>
            <a:ext cx="4773168" cy="914400"/>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Large when N(n) is small. Because the parent count enters through a logarithm, this term decays toward zero for any node we keep selecting, so playouts eventually concentrate on the best average.</a:t>
            </a:r>
            <a:endParaRPr lang="en-US" sz="1250" dirty="0"/>
          </a:p>
        </p:txBody>
      </p:sp>
      <p:sp>
        <p:nvSpPr>
          <p:cNvPr id="17" name="Shape 14"/>
          <p:cNvSpPr/>
          <p:nvPr/>
        </p:nvSpPr>
        <p:spPr>
          <a:xfrm>
            <a:off x="566928" y="4800600"/>
            <a:ext cx="5303520" cy="1207008"/>
          </a:xfrm>
          <a:prstGeom prst="roundRect">
            <a:avLst>
              <a:gd name="adj" fmla="val 5303"/>
            </a:avLst>
          </a:prstGeom>
          <a:solidFill>
            <a:srgbClr val="F1F2F5"/>
          </a:solidFill>
          <a:ln w="12700">
            <a:solidFill>
              <a:srgbClr val="F1F2F5"/>
            </a:solidFill>
            <a:prstDash val="solid"/>
          </a:ln>
        </p:spPr>
      </p:sp>
      <p:sp>
        <p:nvSpPr>
          <p:cNvPr id="18" name="Text 15"/>
          <p:cNvSpPr/>
          <p:nvPr/>
        </p:nvSpPr>
        <p:spPr>
          <a:xfrm>
            <a:off x="841248" y="4901184"/>
            <a:ext cx="4754880" cy="274320"/>
          </a:xfrm>
          <a:prstGeom prst="rect">
            <a:avLst/>
          </a:prstGeom>
          <a:noFill/>
          <a:ln/>
        </p:spPr>
        <p:txBody>
          <a:bodyPr wrap="square" lIns="0" tIns="0" rIns="0" bIns="0" rtlCol="0" anchor="ctr"/>
          <a:lstStyle/>
          <a:p>
            <a:pPr indent="0" marL="0">
              <a:buNone/>
            </a:pPr>
            <a:r>
              <a:rPr lang="en-US" sz="1300" b="1" dirty="0">
                <a:solidFill>
                  <a:srgbClr val="6B4E8F"/>
                </a:solidFill>
                <a:latin typeface="Cambria" pitchFamily="34" charset="0"/>
                <a:ea typeface="Cambria" pitchFamily="34" charset="-122"/>
                <a:cs typeface="Cambria" pitchFamily="34" charset="-120"/>
              </a:rPr>
              <a:t>Tuning C</a:t>
            </a:r>
            <a:endParaRPr lang="en-US" sz="1300" dirty="0"/>
          </a:p>
        </p:txBody>
      </p:sp>
      <p:sp>
        <p:nvSpPr>
          <p:cNvPr id="19" name="Text 16"/>
          <p:cNvSpPr/>
          <p:nvPr/>
        </p:nvSpPr>
        <p:spPr>
          <a:xfrm>
            <a:off x="841248" y="5175504"/>
            <a:ext cx="4773168" cy="749808"/>
          </a:xfrm>
          <a:prstGeom prst="rect">
            <a:avLst/>
          </a:prstGeom>
          <a:noFill/>
          <a:ln/>
        </p:spPr>
        <p:txBody>
          <a:bodyPr wrap="square" lIns="0" tIns="0" rIns="0" bIns="0" rtlCol="0" anchor="t"/>
          <a:lstStyle/>
          <a:p>
            <a:pPr indent="0" marL="0">
              <a:buNone/>
            </a:pPr>
            <a:r>
              <a:rPr lang="en-US" sz="1180" dirty="0">
                <a:solidFill>
                  <a:srgbClr val="3A3F4C"/>
                </a:solidFill>
                <a:latin typeface="Calibri" pitchFamily="34" charset="0"/>
                <a:ea typeface="Calibri" pitchFamily="34" charset="-122"/>
                <a:cs typeface="Calibri" pitchFamily="34" charset="-120"/>
              </a:rPr>
              <a:t>A theoretical argument favours C = √2, but programmers try several values and keep the best. In the earlier figure, C = 1.4 selects the 60/79 node while C = 1.5 selects 2/11.</a:t>
            </a:r>
            <a:endParaRPr lang="en-US" sz="1180" dirty="0"/>
          </a:p>
        </p:txBody>
      </p:sp>
      <p:sp>
        <p:nvSpPr>
          <p:cNvPr id="20" name="Shape 17"/>
          <p:cNvSpPr/>
          <p:nvPr/>
        </p:nvSpPr>
        <p:spPr>
          <a:xfrm>
            <a:off x="6144768" y="4800600"/>
            <a:ext cx="5303520" cy="1207008"/>
          </a:xfrm>
          <a:prstGeom prst="roundRect">
            <a:avLst>
              <a:gd name="adj" fmla="val 5303"/>
            </a:avLst>
          </a:prstGeom>
          <a:solidFill>
            <a:srgbClr val="F1F2F5"/>
          </a:solidFill>
          <a:ln w="12700">
            <a:solidFill>
              <a:srgbClr val="F1F2F5"/>
            </a:solidFill>
            <a:prstDash val="solid"/>
          </a:ln>
        </p:spPr>
      </p:sp>
      <p:sp>
        <p:nvSpPr>
          <p:cNvPr id="21" name="Text 18"/>
          <p:cNvSpPr/>
          <p:nvPr/>
        </p:nvSpPr>
        <p:spPr>
          <a:xfrm>
            <a:off x="6419088" y="4901184"/>
            <a:ext cx="4754880" cy="274320"/>
          </a:xfrm>
          <a:prstGeom prst="rect">
            <a:avLst/>
          </a:prstGeom>
          <a:noFill/>
          <a:ln/>
        </p:spPr>
        <p:txBody>
          <a:bodyPr wrap="square" lIns="0" tIns="0" rIns="0" bIns="0" rtlCol="0" anchor="ctr"/>
          <a:lstStyle/>
          <a:p>
            <a:pPr indent="0" marL="0">
              <a:buNone/>
            </a:pPr>
            <a:r>
              <a:rPr lang="en-US" sz="1300" b="1" dirty="0">
                <a:solidFill>
                  <a:srgbClr val="6B4E8F"/>
                </a:solidFill>
                <a:latin typeface="Cambria" pitchFamily="34" charset="0"/>
                <a:ea typeface="Cambria" pitchFamily="34" charset="-122"/>
                <a:cs typeface="Cambria" pitchFamily="34" charset="-120"/>
              </a:rPr>
              <a:t>Return the most-played move</a:t>
            </a:r>
            <a:endParaRPr lang="en-US" sz="1300" dirty="0"/>
          </a:p>
        </p:txBody>
      </p:sp>
      <p:sp>
        <p:nvSpPr>
          <p:cNvPr id="22" name="Text 19"/>
          <p:cNvSpPr/>
          <p:nvPr/>
        </p:nvSpPr>
        <p:spPr>
          <a:xfrm>
            <a:off x="6419088" y="5175504"/>
            <a:ext cx="4773168" cy="749808"/>
          </a:xfrm>
          <a:prstGeom prst="rect">
            <a:avLst/>
          </a:prstGeom>
          <a:noFill/>
          <a:ln/>
        </p:spPr>
        <p:txBody>
          <a:bodyPr wrap="square" lIns="0" tIns="0" rIns="0" bIns="0" rtlCol="0" anchor="t"/>
          <a:lstStyle/>
          <a:p>
            <a:pPr indent="0" marL="0">
              <a:buNone/>
            </a:pPr>
            <a:r>
              <a:rPr lang="en-US" sz="1180" dirty="0">
                <a:solidFill>
                  <a:srgbClr val="3A3F4C"/>
                </a:solidFill>
                <a:latin typeface="Calibri" pitchFamily="34" charset="0"/>
                <a:ea typeface="Calibri" pitchFamily="34" charset="-122"/>
                <a:cs typeface="Calibri" pitchFamily="34" charset="-120"/>
              </a:rPr>
              <a:t>Not the best average: 65/100 is a better bet than 2/3. UCB1 weights win percentage more heavily as counts rise, so the two criteria almost always agree anyway.</a:t>
            </a:r>
            <a:endParaRPr lang="en-US" sz="118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CHOOSING BETWEEN THEM</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When to search deep and when to play it out</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30</a:t>
            </a:r>
            <a:endParaRPr lang="en-US" sz="900" dirty="0"/>
          </a:p>
        </p:txBody>
      </p:sp>
      <p:sp>
        <p:nvSpPr>
          <p:cNvPr id="7" name="Shape 4"/>
          <p:cNvSpPr/>
          <p:nvPr/>
        </p:nvSpPr>
        <p:spPr>
          <a:xfrm>
            <a:off x="566928" y="1389888"/>
            <a:ext cx="11064240" cy="475488"/>
          </a:xfrm>
          <a:prstGeom prst="roundRect">
            <a:avLst>
              <a:gd name="adj" fmla="val 13462"/>
            </a:avLst>
          </a:prstGeom>
          <a:solidFill>
            <a:srgbClr val="1C1F2A"/>
          </a:solidFill>
          <a:ln w="12700">
            <a:solidFill>
              <a:srgbClr val="1C1F2A"/>
            </a:solidFill>
            <a:prstDash val="solid"/>
          </a:ln>
        </p:spPr>
      </p:sp>
      <p:sp>
        <p:nvSpPr>
          <p:cNvPr id="8" name="Text 5"/>
          <p:cNvSpPr/>
          <p:nvPr/>
        </p:nvSpPr>
        <p:spPr>
          <a:xfrm>
            <a:off x="822960" y="1389888"/>
            <a:ext cx="3017520" cy="475488"/>
          </a:xfrm>
          <a:prstGeom prst="rect">
            <a:avLst/>
          </a:prstGeom>
          <a:noFill/>
          <a:ln/>
        </p:spPr>
        <p:txBody>
          <a:bodyPr wrap="square" lIns="0" tIns="0" rIns="0" bIns="0" rtlCol="0" anchor="ctr"/>
          <a:lstStyle/>
          <a:p>
            <a:pPr indent="0" marL="0">
              <a:buNone/>
            </a:pPr>
            <a:r>
              <a:rPr lang="en-US" sz="1250" b="1" dirty="0">
                <a:solidFill>
                  <a:srgbClr val="B58500"/>
                </a:solidFill>
                <a:latin typeface="Calibri" pitchFamily="34" charset="0"/>
                <a:ea typeface="Calibri" pitchFamily="34" charset="-122"/>
                <a:cs typeface="Calibri" pitchFamily="34" charset="-120"/>
              </a:rPr>
              <a:t>Dimension</a:t>
            </a:r>
            <a:endParaRPr lang="en-US" sz="1250" dirty="0"/>
          </a:p>
        </p:txBody>
      </p:sp>
      <p:sp>
        <p:nvSpPr>
          <p:cNvPr id="9" name="Text 6"/>
          <p:cNvSpPr/>
          <p:nvPr/>
        </p:nvSpPr>
        <p:spPr>
          <a:xfrm>
            <a:off x="4023360" y="1389888"/>
            <a:ext cx="3657600" cy="475488"/>
          </a:xfrm>
          <a:prstGeom prst="rect">
            <a:avLst/>
          </a:prstGeom>
          <a:noFill/>
          <a:ln/>
        </p:spPr>
        <p:txBody>
          <a:bodyPr wrap="square" lIns="0" tIns="0" rIns="0" bIns="0" rtlCol="0" anchor="ctr"/>
          <a:lstStyle/>
          <a:p>
            <a:pPr indent="0" marL="0">
              <a:buNone/>
            </a:pPr>
            <a:r>
              <a:rPr lang="en-US" sz="1250" b="1" dirty="0">
                <a:solidFill>
                  <a:srgbClr val="B58500"/>
                </a:solidFill>
                <a:latin typeface="Calibri" pitchFamily="34" charset="0"/>
                <a:ea typeface="Calibri" pitchFamily="34" charset="-122"/>
                <a:cs typeface="Calibri" pitchFamily="34" charset="-120"/>
              </a:rPr>
              <a:t>Heuristic alpha-beta</a:t>
            </a:r>
            <a:endParaRPr lang="en-US" sz="1250" dirty="0"/>
          </a:p>
        </p:txBody>
      </p:sp>
      <p:sp>
        <p:nvSpPr>
          <p:cNvPr id="10" name="Text 7"/>
          <p:cNvSpPr/>
          <p:nvPr/>
        </p:nvSpPr>
        <p:spPr>
          <a:xfrm>
            <a:off x="7863840" y="1389888"/>
            <a:ext cx="3657600" cy="475488"/>
          </a:xfrm>
          <a:prstGeom prst="rect">
            <a:avLst/>
          </a:prstGeom>
          <a:noFill/>
          <a:ln/>
        </p:spPr>
        <p:txBody>
          <a:bodyPr wrap="square" lIns="0" tIns="0" rIns="0" bIns="0" rtlCol="0" anchor="ctr"/>
          <a:lstStyle/>
          <a:p>
            <a:pPr indent="0" marL="0">
              <a:buNone/>
            </a:pPr>
            <a:r>
              <a:rPr lang="en-US" sz="1250" b="1" dirty="0">
                <a:solidFill>
                  <a:srgbClr val="B58500"/>
                </a:solidFill>
                <a:latin typeface="Calibri" pitchFamily="34" charset="0"/>
                <a:ea typeface="Calibri" pitchFamily="34" charset="-122"/>
                <a:cs typeface="Calibri" pitchFamily="34" charset="-120"/>
              </a:rPr>
              <a:t>Monte Carlo tree search</a:t>
            </a:r>
            <a:endParaRPr lang="en-US" sz="1250" dirty="0"/>
          </a:p>
        </p:txBody>
      </p:sp>
      <p:sp>
        <p:nvSpPr>
          <p:cNvPr id="11" name="Shape 8"/>
          <p:cNvSpPr/>
          <p:nvPr/>
        </p:nvSpPr>
        <p:spPr>
          <a:xfrm>
            <a:off x="566928" y="1920240"/>
            <a:ext cx="11064240" cy="548640"/>
          </a:xfrm>
          <a:prstGeom prst="roundRect">
            <a:avLst>
              <a:gd name="adj" fmla="val 11667"/>
            </a:avLst>
          </a:prstGeom>
          <a:solidFill>
            <a:srgbClr val="F1F2F5"/>
          </a:solidFill>
          <a:ln w="12700">
            <a:solidFill>
              <a:srgbClr val="F1F2F5"/>
            </a:solidFill>
            <a:prstDash val="solid"/>
          </a:ln>
        </p:spPr>
      </p:sp>
      <p:sp>
        <p:nvSpPr>
          <p:cNvPr id="12" name="Text 9"/>
          <p:cNvSpPr/>
          <p:nvPr/>
        </p:nvSpPr>
        <p:spPr>
          <a:xfrm>
            <a:off x="822960" y="1920240"/>
            <a:ext cx="3108960" cy="548640"/>
          </a:xfrm>
          <a:prstGeom prst="rect">
            <a:avLst/>
          </a:prstGeom>
          <a:noFill/>
          <a:ln/>
        </p:spPr>
        <p:txBody>
          <a:bodyPr wrap="square" lIns="0" tIns="0" rIns="0" bIns="0" rtlCol="0" anchor="ctr"/>
          <a:lstStyle/>
          <a:p>
            <a:pPr indent="0" marL="0">
              <a:buNone/>
            </a:pPr>
            <a:r>
              <a:rPr lang="en-US" sz="1180" b="1" dirty="0">
                <a:solidFill>
                  <a:srgbClr val="1C1F2A"/>
                </a:solidFill>
                <a:latin typeface="Calibri" pitchFamily="34" charset="0"/>
                <a:ea typeface="Calibri" pitchFamily="34" charset="-122"/>
                <a:cs typeface="Calibri" pitchFamily="34" charset="-120"/>
              </a:rPr>
              <a:t>Branching factor</a:t>
            </a:r>
            <a:endParaRPr lang="en-US" sz="1180" dirty="0"/>
          </a:p>
        </p:txBody>
      </p:sp>
      <p:sp>
        <p:nvSpPr>
          <p:cNvPr id="13" name="Text 10"/>
          <p:cNvSpPr/>
          <p:nvPr/>
        </p:nvSpPr>
        <p:spPr>
          <a:xfrm>
            <a:off x="4023360" y="1920240"/>
            <a:ext cx="3749040" cy="548640"/>
          </a:xfrm>
          <a:prstGeom prst="rect">
            <a:avLst/>
          </a:prstGeom>
          <a:noFill/>
          <a:ln/>
        </p:spPr>
        <p:txBody>
          <a:bodyPr wrap="square" lIns="0" tIns="0" rIns="0" bIns="0" rtlCol="0" anchor="ctr"/>
          <a:lstStyle/>
          <a:p>
            <a:pPr indent="0" marL="0">
              <a:buNone/>
            </a:pPr>
            <a:r>
              <a:rPr lang="en-US" sz="1180" dirty="0">
                <a:solidFill>
                  <a:srgbClr val="C2410C"/>
                </a:solidFill>
                <a:latin typeface="Calibri" pitchFamily="34" charset="0"/>
                <a:ea typeface="Calibri" pitchFamily="34" charset="-122"/>
                <a:cs typeface="Calibri" pitchFamily="34" charset="-120"/>
              </a:rPr>
              <a:t>Low b, as in chess</a:t>
            </a:r>
            <a:endParaRPr lang="en-US" sz="1180" dirty="0"/>
          </a:p>
        </p:txBody>
      </p:sp>
      <p:sp>
        <p:nvSpPr>
          <p:cNvPr id="14" name="Text 11"/>
          <p:cNvSpPr/>
          <p:nvPr/>
        </p:nvSpPr>
        <p:spPr>
          <a:xfrm>
            <a:off x="7863840" y="1920240"/>
            <a:ext cx="3749040" cy="548640"/>
          </a:xfrm>
          <a:prstGeom prst="rect">
            <a:avLst/>
          </a:prstGeom>
          <a:noFill/>
          <a:ln/>
        </p:spPr>
        <p:txBody>
          <a:bodyPr wrap="square" lIns="0" tIns="0" rIns="0" bIns="0" rtlCol="0" anchor="ctr"/>
          <a:lstStyle/>
          <a:p>
            <a:pPr indent="0" marL="0">
              <a:buNone/>
            </a:pPr>
            <a:r>
              <a:rPr lang="en-US" sz="1180" dirty="0">
                <a:solidFill>
                  <a:srgbClr val="1D4E63"/>
                </a:solidFill>
                <a:latin typeface="Calibri" pitchFamily="34" charset="0"/>
                <a:ea typeface="Calibri" pitchFamily="34" charset="-122"/>
                <a:cs typeface="Calibri" pitchFamily="34" charset="-120"/>
              </a:rPr>
              <a:t>High b, as in Go, where depth 4 or 5 is all alpha-beta gets</a:t>
            </a:r>
            <a:endParaRPr lang="en-US" sz="1180" dirty="0"/>
          </a:p>
        </p:txBody>
      </p:sp>
      <p:sp>
        <p:nvSpPr>
          <p:cNvPr id="15" name="Text 12"/>
          <p:cNvSpPr/>
          <p:nvPr/>
        </p:nvSpPr>
        <p:spPr>
          <a:xfrm>
            <a:off x="822960" y="2505456"/>
            <a:ext cx="3108960" cy="548640"/>
          </a:xfrm>
          <a:prstGeom prst="rect">
            <a:avLst/>
          </a:prstGeom>
          <a:noFill/>
          <a:ln/>
        </p:spPr>
        <p:txBody>
          <a:bodyPr wrap="square" lIns="0" tIns="0" rIns="0" bIns="0" rtlCol="0" anchor="ctr"/>
          <a:lstStyle/>
          <a:p>
            <a:pPr indent="0" marL="0">
              <a:buNone/>
            </a:pPr>
            <a:r>
              <a:rPr lang="en-US" sz="1180" b="1" dirty="0">
                <a:solidFill>
                  <a:srgbClr val="1C1F2A"/>
                </a:solidFill>
                <a:latin typeface="Calibri" pitchFamily="34" charset="0"/>
                <a:ea typeface="Calibri" pitchFamily="34" charset="-122"/>
                <a:cs typeface="Calibri" pitchFamily="34" charset="-120"/>
              </a:rPr>
              <a:t>Evaluation function</a:t>
            </a:r>
            <a:endParaRPr lang="en-US" sz="1180" dirty="0"/>
          </a:p>
        </p:txBody>
      </p:sp>
      <p:sp>
        <p:nvSpPr>
          <p:cNvPr id="16" name="Text 13"/>
          <p:cNvSpPr/>
          <p:nvPr/>
        </p:nvSpPr>
        <p:spPr>
          <a:xfrm>
            <a:off x="4023360" y="2505456"/>
            <a:ext cx="3749040" cy="548640"/>
          </a:xfrm>
          <a:prstGeom prst="rect">
            <a:avLst/>
          </a:prstGeom>
          <a:noFill/>
          <a:ln/>
        </p:spPr>
        <p:txBody>
          <a:bodyPr wrap="square" lIns="0" tIns="0" rIns="0" bIns="0" rtlCol="0" anchor="ctr"/>
          <a:lstStyle/>
          <a:p>
            <a:pPr indent="0" marL="0">
              <a:buNone/>
            </a:pPr>
            <a:r>
              <a:rPr lang="en-US" sz="1180" dirty="0">
                <a:solidFill>
                  <a:srgbClr val="C2410C"/>
                </a:solidFill>
                <a:latin typeface="Calibri" pitchFamily="34" charset="0"/>
                <a:ea typeface="Calibri" pitchFamily="34" charset="-122"/>
                <a:cs typeface="Calibri" pitchFamily="34" charset="-120"/>
              </a:rPr>
              <a:t>Requires a good one, and inherits its errors</a:t>
            </a:r>
            <a:endParaRPr lang="en-US" sz="1180" dirty="0"/>
          </a:p>
        </p:txBody>
      </p:sp>
      <p:sp>
        <p:nvSpPr>
          <p:cNvPr id="17" name="Text 14"/>
          <p:cNvSpPr/>
          <p:nvPr/>
        </p:nvSpPr>
        <p:spPr>
          <a:xfrm>
            <a:off x="7863840" y="2505456"/>
            <a:ext cx="3749040" cy="548640"/>
          </a:xfrm>
          <a:prstGeom prst="rect">
            <a:avLst/>
          </a:prstGeom>
          <a:noFill/>
          <a:ln/>
        </p:spPr>
        <p:txBody>
          <a:bodyPr wrap="square" lIns="0" tIns="0" rIns="0" bIns="0" rtlCol="0" anchor="ctr"/>
          <a:lstStyle/>
          <a:p>
            <a:pPr indent="0" marL="0">
              <a:buNone/>
            </a:pPr>
            <a:r>
              <a:rPr lang="en-US" sz="1180" dirty="0">
                <a:solidFill>
                  <a:srgbClr val="1D4E63"/>
                </a:solidFill>
                <a:latin typeface="Calibri" pitchFamily="34" charset="0"/>
                <a:ea typeface="Calibri" pitchFamily="34" charset="-122"/>
                <a:cs typeface="Calibri" pitchFamily="34" charset="-120"/>
              </a:rPr>
              <a:t>Requires none at all, only the rules of the game</a:t>
            </a:r>
            <a:endParaRPr lang="en-US" sz="1180" dirty="0"/>
          </a:p>
        </p:txBody>
      </p:sp>
      <p:sp>
        <p:nvSpPr>
          <p:cNvPr id="18" name="Shape 15"/>
          <p:cNvSpPr/>
          <p:nvPr/>
        </p:nvSpPr>
        <p:spPr>
          <a:xfrm>
            <a:off x="566928" y="3090672"/>
            <a:ext cx="11064240" cy="548640"/>
          </a:xfrm>
          <a:prstGeom prst="roundRect">
            <a:avLst>
              <a:gd name="adj" fmla="val 11667"/>
            </a:avLst>
          </a:prstGeom>
          <a:solidFill>
            <a:srgbClr val="F1F2F5"/>
          </a:solidFill>
          <a:ln w="12700">
            <a:solidFill>
              <a:srgbClr val="F1F2F5"/>
            </a:solidFill>
            <a:prstDash val="solid"/>
          </a:ln>
        </p:spPr>
      </p:sp>
      <p:sp>
        <p:nvSpPr>
          <p:cNvPr id="19" name="Text 16"/>
          <p:cNvSpPr/>
          <p:nvPr/>
        </p:nvSpPr>
        <p:spPr>
          <a:xfrm>
            <a:off x="822960" y="3090672"/>
            <a:ext cx="3108960" cy="548640"/>
          </a:xfrm>
          <a:prstGeom prst="rect">
            <a:avLst/>
          </a:prstGeom>
          <a:noFill/>
          <a:ln/>
        </p:spPr>
        <p:txBody>
          <a:bodyPr wrap="square" lIns="0" tIns="0" rIns="0" bIns="0" rtlCol="0" anchor="ctr"/>
          <a:lstStyle/>
          <a:p>
            <a:pPr indent="0" marL="0">
              <a:buNone/>
            </a:pPr>
            <a:r>
              <a:rPr lang="en-US" sz="1180" b="1" dirty="0">
                <a:solidFill>
                  <a:srgbClr val="1C1F2A"/>
                </a:solidFill>
                <a:latin typeface="Calibri" pitchFamily="34" charset="0"/>
                <a:ea typeface="Calibri" pitchFamily="34" charset="-122"/>
                <a:cs typeface="Calibri" pitchFamily="34" charset="-120"/>
              </a:rPr>
              <a:t>Effect of a single bad estimate</a:t>
            </a:r>
            <a:endParaRPr lang="en-US" sz="1180" dirty="0"/>
          </a:p>
        </p:txBody>
      </p:sp>
      <p:sp>
        <p:nvSpPr>
          <p:cNvPr id="20" name="Text 17"/>
          <p:cNvSpPr/>
          <p:nvPr/>
        </p:nvSpPr>
        <p:spPr>
          <a:xfrm>
            <a:off x="4023360" y="3090672"/>
            <a:ext cx="3749040" cy="548640"/>
          </a:xfrm>
          <a:prstGeom prst="rect">
            <a:avLst/>
          </a:prstGeom>
          <a:noFill/>
          <a:ln/>
        </p:spPr>
        <p:txBody>
          <a:bodyPr wrap="square" lIns="0" tIns="0" rIns="0" bIns="0" rtlCol="0" anchor="ctr"/>
          <a:lstStyle/>
          <a:p>
            <a:pPr indent="0" marL="0">
              <a:buNone/>
            </a:pPr>
            <a:r>
              <a:rPr lang="en-US" sz="1180" dirty="0">
                <a:solidFill>
                  <a:srgbClr val="C2410C"/>
                </a:solidFill>
                <a:latin typeface="Calibri" pitchFamily="34" charset="0"/>
                <a:ea typeface="Calibri" pitchFamily="34" charset="-122"/>
                <a:cs typeface="Calibri" pitchFamily="34" charset="-120"/>
              </a:rPr>
              <a:t>One miscalculated node can send alpha-beta down the wrong path</a:t>
            </a:r>
            <a:endParaRPr lang="en-US" sz="1180" dirty="0"/>
          </a:p>
        </p:txBody>
      </p:sp>
      <p:sp>
        <p:nvSpPr>
          <p:cNvPr id="21" name="Text 18"/>
          <p:cNvSpPr/>
          <p:nvPr/>
        </p:nvSpPr>
        <p:spPr>
          <a:xfrm>
            <a:off x="7863840" y="3090672"/>
            <a:ext cx="3749040" cy="548640"/>
          </a:xfrm>
          <a:prstGeom prst="rect">
            <a:avLst/>
          </a:prstGeom>
          <a:noFill/>
          <a:ln/>
        </p:spPr>
        <p:txBody>
          <a:bodyPr wrap="square" lIns="0" tIns="0" rIns="0" bIns="0" rtlCol="0" anchor="ctr"/>
          <a:lstStyle/>
          <a:p>
            <a:pPr indent="0" marL="0">
              <a:buNone/>
            </a:pPr>
            <a:r>
              <a:rPr lang="en-US" sz="1180" dirty="0">
                <a:solidFill>
                  <a:srgbClr val="1D4E63"/>
                </a:solidFill>
                <a:latin typeface="Calibri" pitchFamily="34" charset="0"/>
                <a:ea typeface="Calibri" pitchFamily="34" charset="-122"/>
                <a:cs typeface="Calibri" pitchFamily="34" charset="-120"/>
              </a:rPr>
              <a:t>Aggregated over many playouts, so a single error rarely dominates</a:t>
            </a:r>
            <a:endParaRPr lang="en-US" sz="1180" dirty="0"/>
          </a:p>
        </p:txBody>
      </p:sp>
      <p:sp>
        <p:nvSpPr>
          <p:cNvPr id="22" name="Text 19"/>
          <p:cNvSpPr/>
          <p:nvPr/>
        </p:nvSpPr>
        <p:spPr>
          <a:xfrm>
            <a:off x="822960" y="3675888"/>
            <a:ext cx="3108960" cy="548640"/>
          </a:xfrm>
          <a:prstGeom prst="rect">
            <a:avLst/>
          </a:prstGeom>
          <a:noFill/>
          <a:ln/>
        </p:spPr>
        <p:txBody>
          <a:bodyPr wrap="square" lIns="0" tIns="0" rIns="0" bIns="0" rtlCol="0" anchor="ctr"/>
          <a:lstStyle/>
          <a:p>
            <a:pPr indent="0" marL="0">
              <a:buNone/>
            </a:pPr>
            <a:r>
              <a:rPr lang="en-US" sz="1180" b="1" dirty="0">
                <a:solidFill>
                  <a:srgbClr val="1C1F2A"/>
                </a:solidFill>
                <a:latin typeface="Calibri" pitchFamily="34" charset="0"/>
                <a:ea typeface="Calibri" pitchFamily="34" charset="-122"/>
                <a:cs typeface="Calibri" pitchFamily="34" charset="-120"/>
              </a:rPr>
              <a:t>Decisive single moves</a:t>
            </a:r>
            <a:endParaRPr lang="en-US" sz="1180" dirty="0"/>
          </a:p>
        </p:txBody>
      </p:sp>
      <p:sp>
        <p:nvSpPr>
          <p:cNvPr id="23" name="Text 20"/>
          <p:cNvSpPr/>
          <p:nvPr/>
        </p:nvSpPr>
        <p:spPr>
          <a:xfrm>
            <a:off x="4023360" y="3675888"/>
            <a:ext cx="3749040" cy="548640"/>
          </a:xfrm>
          <a:prstGeom prst="rect">
            <a:avLst/>
          </a:prstGeom>
          <a:noFill/>
          <a:ln/>
        </p:spPr>
        <p:txBody>
          <a:bodyPr wrap="square" lIns="0" tIns="0" rIns="0" bIns="0" rtlCol="0" anchor="ctr"/>
          <a:lstStyle/>
          <a:p>
            <a:pPr indent="0" marL="0">
              <a:buNone/>
            </a:pPr>
            <a:r>
              <a:rPr lang="en-US" sz="1180" dirty="0">
                <a:solidFill>
                  <a:srgbClr val="C2410C"/>
                </a:solidFill>
                <a:latin typeface="Calibri" pitchFamily="34" charset="0"/>
                <a:ea typeface="Calibri" pitchFamily="34" charset="-122"/>
                <a:cs typeface="Calibri" pitchFamily="34" charset="-120"/>
              </a:rPr>
              <a:t>Handled: every legal move at every node is considered</a:t>
            </a:r>
            <a:endParaRPr lang="en-US" sz="1180" dirty="0"/>
          </a:p>
        </p:txBody>
      </p:sp>
      <p:sp>
        <p:nvSpPr>
          <p:cNvPr id="24" name="Text 21"/>
          <p:cNvSpPr/>
          <p:nvPr/>
        </p:nvSpPr>
        <p:spPr>
          <a:xfrm>
            <a:off x="7863840" y="3675888"/>
            <a:ext cx="3749040" cy="548640"/>
          </a:xfrm>
          <a:prstGeom prst="rect">
            <a:avLst/>
          </a:prstGeom>
          <a:noFill/>
          <a:ln/>
        </p:spPr>
        <p:txBody>
          <a:bodyPr wrap="square" lIns="0" tIns="0" rIns="0" bIns="0" rtlCol="0" anchor="ctr"/>
          <a:lstStyle/>
          <a:p>
            <a:pPr indent="0" marL="0">
              <a:buNone/>
            </a:pPr>
            <a:r>
              <a:rPr lang="en-US" sz="1180" dirty="0">
                <a:solidFill>
                  <a:srgbClr val="1D4E63"/>
                </a:solidFill>
                <a:latin typeface="Calibri" pitchFamily="34" charset="0"/>
                <a:ea typeface="Calibri" pitchFamily="34" charset="-122"/>
                <a:cs typeface="Calibri" pitchFamily="34" charset="-120"/>
              </a:rPr>
              <a:t>A vital line may never be sampled at all, since this is Type B pruning</a:t>
            </a:r>
            <a:endParaRPr lang="en-US" sz="1180" dirty="0"/>
          </a:p>
        </p:txBody>
      </p:sp>
      <p:sp>
        <p:nvSpPr>
          <p:cNvPr id="25" name="Shape 22"/>
          <p:cNvSpPr/>
          <p:nvPr/>
        </p:nvSpPr>
        <p:spPr>
          <a:xfrm>
            <a:off x="566928" y="4261104"/>
            <a:ext cx="11064240" cy="548640"/>
          </a:xfrm>
          <a:prstGeom prst="roundRect">
            <a:avLst>
              <a:gd name="adj" fmla="val 11667"/>
            </a:avLst>
          </a:prstGeom>
          <a:solidFill>
            <a:srgbClr val="F1F2F5"/>
          </a:solidFill>
          <a:ln w="12700">
            <a:solidFill>
              <a:srgbClr val="F1F2F5"/>
            </a:solidFill>
            <a:prstDash val="solid"/>
          </a:ln>
        </p:spPr>
      </p:sp>
      <p:sp>
        <p:nvSpPr>
          <p:cNvPr id="26" name="Text 23"/>
          <p:cNvSpPr/>
          <p:nvPr/>
        </p:nvSpPr>
        <p:spPr>
          <a:xfrm>
            <a:off x="822960" y="4261104"/>
            <a:ext cx="3108960" cy="548640"/>
          </a:xfrm>
          <a:prstGeom prst="rect">
            <a:avLst/>
          </a:prstGeom>
          <a:noFill/>
          <a:ln/>
        </p:spPr>
        <p:txBody>
          <a:bodyPr wrap="square" lIns="0" tIns="0" rIns="0" bIns="0" rtlCol="0" anchor="ctr"/>
          <a:lstStyle/>
          <a:p>
            <a:pPr indent="0" marL="0">
              <a:buNone/>
            </a:pPr>
            <a:r>
              <a:rPr lang="en-US" sz="1180" b="1" dirty="0">
                <a:solidFill>
                  <a:srgbClr val="1C1F2A"/>
                </a:solidFill>
                <a:latin typeface="Calibri" pitchFamily="34" charset="0"/>
                <a:ea typeface="Calibri" pitchFamily="34" charset="-122"/>
                <a:cs typeface="Calibri" pitchFamily="34" charset="-120"/>
              </a:rPr>
              <a:t>Obvious wins needing long proof</a:t>
            </a:r>
            <a:endParaRPr lang="en-US" sz="1180" dirty="0"/>
          </a:p>
        </p:txBody>
      </p:sp>
      <p:sp>
        <p:nvSpPr>
          <p:cNvPr id="27" name="Text 24"/>
          <p:cNvSpPr/>
          <p:nvPr/>
        </p:nvSpPr>
        <p:spPr>
          <a:xfrm>
            <a:off x="4023360" y="4261104"/>
            <a:ext cx="3749040" cy="548640"/>
          </a:xfrm>
          <a:prstGeom prst="rect">
            <a:avLst/>
          </a:prstGeom>
          <a:noFill/>
          <a:ln/>
        </p:spPr>
        <p:txBody>
          <a:bodyPr wrap="square" lIns="0" tIns="0" rIns="0" bIns="0" rtlCol="0" anchor="ctr"/>
          <a:lstStyle/>
          <a:p>
            <a:pPr indent="0" marL="0">
              <a:buNone/>
            </a:pPr>
            <a:r>
              <a:rPr lang="en-US" sz="1180" dirty="0">
                <a:solidFill>
                  <a:srgbClr val="C2410C"/>
                </a:solidFill>
                <a:latin typeface="Calibri" pitchFamily="34" charset="0"/>
                <a:ea typeface="Calibri" pitchFamily="34" charset="-122"/>
                <a:cs typeface="Calibri" pitchFamily="34" charset="-120"/>
              </a:rPr>
              <a:t>Recognised immediately by the evaluation function</a:t>
            </a:r>
            <a:endParaRPr lang="en-US" sz="1180" dirty="0"/>
          </a:p>
        </p:txBody>
      </p:sp>
      <p:sp>
        <p:nvSpPr>
          <p:cNvPr id="28" name="Text 25"/>
          <p:cNvSpPr/>
          <p:nvPr/>
        </p:nvSpPr>
        <p:spPr>
          <a:xfrm>
            <a:off x="7863840" y="4261104"/>
            <a:ext cx="3749040" cy="548640"/>
          </a:xfrm>
          <a:prstGeom prst="rect">
            <a:avLst/>
          </a:prstGeom>
          <a:noFill/>
          <a:ln/>
        </p:spPr>
        <p:txBody>
          <a:bodyPr wrap="square" lIns="0" tIns="0" rIns="0" bIns="0" rtlCol="0" anchor="ctr"/>
          <a:lstStyle/>
          <a:p>
            <a:pPr indent="0" marL="0">
              <a:buNone/>
            </a:pPr>
            <a:r>
              <a:rPr lang="en-US" sz="1180" dirty="0">
                <a:solidFill>
                  <a:srgbClr val="1D4E63"/>
                </a:solidFill>
                <a:latin typeface="Calibri" pitchFamily="34" charset="0"/>
                <a:ea typeface="Calibri" pitchFamily="34" charset="-122"/>
                <a:cs typeface="Calibri" pitchFamily="34" charset="-120"/>
              </a:rPr>
              <a:t>May take many playout moves to confirm what a human sees at a glance</a:t>
            </a:r>
            <a:endParaRPr lang="en-US" sz="1180" dirty="0"/>
          </a:p>
        </p:txBody>
      </p:sp>
      <p:sp>
        <p:nvSpPr>
          <p:cNvPr id="29" name="Text 26"/>
          <p:cNvSpPr/>
          <p:nvPr/>
        </p:nvSpPr>
        <p:spPr>
          <a:xfrm>
            <a:off x="822960" y="4846320"/>
            <a:ext cx="3108960" cy="548640"/>
          </a:xfrm>
          <a:prstGeom prst="rect">
            <a:avLst/>
          </a:prstGeom>
          <a:noFill/>
          <a:ln/>
        </p:spPr>
        <p:txBody>
          <a:bodyPr wrap="square" lIns="0" tIns="0" rIns="0" bIns="0" rtlCol="0" anchor="ctr"/>
          <a:lstStyle/>
          <a:p>
            <a:pPr indent="0" marL="0">
              <a:buNone/>
            </a:pPr>
            <a:r>
              <a:rPr lang="en-US" sz="1180" b="1" dirty="0">
                <a:solidFill>
                  <a:srgbClr val="1C1F2A"/>
                </a:solidFill>
                <a:latin typeface="Calibri" pitchFamily="34" charset="0"/>
                <a:ea typeface="Calibri" pitchFamily="34" charset="-122"/>
                <a:cs typeface="Calibri" pitchFamily="34" charset="-120"/>
              </a:rPr>
              <a:t>Brand-new games</a:t>
            </a:r>
            <a:endParaRPr lang="en-US" sz="1180" dirty="0"/>
          </a:p>
        </p:txBody>
      </p:sp>
      <p:sp>
        <p:nvSpPr>
          <p:cNvPr id="30" name="Text 27"/>
          <p:cNvSpPr/>
          <p:nvPr/>
        </p:nvSpPr>
        <p:spPr>
          <a:xfrm>
            <a:off x="4023360" y="4846320"/>
            <a:ext cx="3749040" cy="548640"/>
          </a:xfrm>
          <a:prstGeom prst="rect">
            <a:avLst/>
          </a:prstGeom>
          <a:noFill/>
          <a:ln/>
        </p:spPr>
        <p:txBody>
          <a:bodyPr wrap="square" lIns="0" tIns="0" rIns="0" bIns="0" rtlCol="0" anchor="ctr"/>
          <a:lstStyle/>
          <a:p>
            <a:pPr indent="0" marL="0">
              <a:buNone/>
            </a:pPr>
            <a:r>
              <a:rPr lang="en-US" sz="1180" dirty="0">
                <a:solidFill>
                  <a:srgbClr val="C2410C"/>
                </a:solidFill>
                <a:latin typeface="Calibri" pitchFamily="34" charset="0"/>
                <a:ea typeface="Calibri" pitchFamily="34" charset="-122"/>
                <a:cs typeface="Calibri" pitchFamily="34" charset="-120"/>
              </a:rPr>
              <a:t>Needs experience to design features and weights</a:t>
            </a:r>
            <a:endParaRPr lang="en-US" sz="1180" dirty="0"/>
          </a:p>
        </p:txBody>
      </p:sp>
      <p:sp>
        <p:nvSpPr>
          <p:cNvPr id="31" name="Text 28"/>
          <p:cNvSpPr/>
          <p:nvPr/>
        </p:nvSpPr>
        <p:spPr>
          <a:xfrm>
            <a:off x="7863840" y="4846320"/>
            <a:ext cx="3749040" cy="548640"/>
          </a:xfrm>
          <a:prstGeom prst="rect">
            <a:avLst/>
          </a:prstGeom>
          <a:noFill/>
          <a:ln/>
        </p:spPr>
        <p:txBody>
          <a:bodyPr wrap="square" lIns="0" tIns="0" rIns="0" bIns="0" rtlCol="0" anchor="ctr"/>
          <a:lstStyle/>
          <a:p>
            <a:pPr indent="0" marL="0">
              <a:buNone/>
            </a:pPr>
            <a:r>
              <a:rPr lang="en-US" sz="1180" dirty="0">
                <a:solidFill>
                  <a:srgbClr val="1D4E63"/>
                </a:solidFill>
                <a:latin typeface="Calibri" pitchFamily="34" charset="0"/>
                <a:ea typeface="Calibri" pitchFamily="34" charset="-122"/>
                <a:cs typeface="Calibri" pitchFamily="34" charset="-120"/>
              </a:rPr>
              <a:t>Works from the rules alone; policies can be learned by self-play</a:t>
            </a:r>
            <a:endParaRPr lang="en-US" sz="1180" dirty="0"/>
          </a:p>
        </p:txBody>
      </p:sp>
      <p:sp>
        <p:nvSpPr>
          <p:cNvPr id="32" name="Shape 29"/>
          <p:cNvSpPr/>
          <p:nvPr/>
        </p:nvSpPr>
        <p:spPr>
          <a:xfrm>
            <a:off x="566928" y="5486400"/>
            <a:ext cx="11064240" cy="731520"/>
          </a:xfrm>
          <a:prstGeom prst="roundRect">
            <a:avLst>
              <a:gd name="adj" fmla="val 8750"/>
            </a:avLst>
          </a:prstGeom>
          <a:solidFill>
            <a:srgbClr val="FDF2EC"/>
          </a:solidFill>
          <a:ln w="12700">
            <a:solidFill>
              <a:srgbClr val="FDF2EC"/>
            </a:solidFill>
            <a:prstDash val="solid"/>
          </a:ln>
        </p:spPr>
      </p:sp>
      <p:sp>
        <p:nvSpPr>
          <p:cNvPr id="33" name="Text 30"/>
          <p:cNvSpPr/>
          <p:nvPr/>
        </p:nvSpPr>
        <p:spPr>
          <a:xfrm>
            <a:off x="841248" y="5486400"/>
            <a:ext cx="10515600" cy="731520"/>
          </a:xfrm>
          <a:prstGeom prst="rect">
            <a:avLst/>
          </a:prstGeom>
          <a:noFill/>
          <a:ln/>
        </p:spPr>
        <p:txBody>
          <a:bodyPr wrap="square" lIns="0" tIns="0" rIns="0" bIns="0" rtlCol="0" anchor="ctr"/>
          <a:lstStyle/>
          <a:p>
            <a:pPr indent="0" marL="0">
              <a:buNone/>
            </a:pPr>
            <a:r>
              <a:rPr lang="en-US" sz="1250" dirty="0">
                <a:solidFill>
                  <a:srgbClr val="3A3F4C"/>
                </a:solidFill>
                <a:latin typeface="Calibri" pitchFamily="34" charset="0"/>
                <a:ea typeface="Calibri" pitchFamily="34" charset="-122"/>
                <a:cs typeface="Calibri" pitchFamily="34" charset="-120"/>
              </a:rPr>
              <a:t>A budget of a billion states, b = 32, 100-ply games: minimax reaches 6 ply, alpha-beta with perfect ordering 12 ply, Monte Carlo affords 10 million playouts. Which wins depends on whether your evaluation function is better than your playout policy.</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C1F2A"/>
        </a:solidFill>
      </p:bgPr>
    </p:bg>
    <p:spTree>
      <p:nvGrpSpPr>
        <p:cNvPr id="1" name=""/>
        <p:cNvGrpSpPr/>
        <p:nvPr/>
      </p:nvGrpSpPr>
      <p:grpSpPr>
        <a:xfrm>
          <a:off x="0" y="0"/>
          <a:ext cx="0" cy="0"/>
          <a:chOff x="0" y="0"/>
          <a:chExt cx="0" cy="0"/>
        </a:xfrm>
      </p:grpSpPr>
      <p:sp>
        <p:nvSpPr>
          <p:cNvPr id="2" name="Text 0"/>
          <p:cNvSpPr/>
          <p:nvPr/>
        </p:nvSpPr>
        <p:spPr>
          <a:xfrm>
            <a:off x="822960" y="2331720"/>
            <a:ext cx="7315200" cy="365760"/>
          </a:xfrm>
          <a:prstGeom prst="rect">
            <a:avLst/>
          </a:prstGeom>
          <a:noFill/>
          <a:ln/>
        </p:spPr>
        <p:txBody>
          <a:bodyPr wrap="square" lIns="0" tIns="0" rIns="0" bIns="0" rtlCol="0" anchor="ctr"/>
          <a:lstStyle/>
          <a:p>
            <a:pPr indent="0" marL="0">
              <a:buNone/>
            </a:pPr>
            <a:r>
              <a:rPr lang="en-US" sz="1300" b="1" spc="220" kern="0" dirty="0">
                <a:solidFill>
                  <a:srgbClr val="B58500"/>
                </a:solidFill>
                <a:latin typeface="Calibri" pitchFamily="34" charset="0"/>
                <a:ea typeface="Calibri" pitchFamily="34" charset="-122"/>
                <a:cs typeface="Calibri" pitchFamily="34" charset="-120"/>
              </a:rPr>
              <a:t>BREAK</a:t>
            </a:r>
            <a:endParaRPr lang="en-US" sz="1300" dirty="0"/>
          </a:p>
        </p:txBody>
      </p:sp>
      <p:sp>
        <p:nvSpPr>
          <p:cNvPr id="3" name="Text 1"/>
          <p:cNvSpPr/>
          <p:nvPr/>
        </p:nvSpPr>
        <p:spPr>
          <a:xfrm>
            <a:off x="822960" y="2697480"/>
            <a:ext cx="7315200" cy="91440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Ten minutes</a:t>
            </a:r>
            <a:endParaRPr lang="en-US" sz="4400" dirty="0"/>
          </a:p>
        </p:txBody>
      </p:sp>
      <p:sp>
        <p:nvSpPr>
          <p:cNvPr id="4" name="Text 2"/>
          <p:cNvSpPr/>
          <p:nvPr/>
        </p:nvSpPr>
        <p:spPr>
          <a:xfrm>
            <a:off x="822960" y="3794760"/>
            <a:ext cx="6949440" cy="822960"/>
          </a:xfrm>
          <a:prstGeom prst="rect">
            <a:avLst/>
          </a:prstGeom>
          <a:noFill/>
          <a:ln/>
        </p:spPr>
        <p:txBody>
          <a:bodyPr wrap="square" lIns="0" tIns="0" rIns="0" bIns="0" rtlCol="0" anchor="t"/>
          <a:lstStyle/>
          <a:p>
            <a:pPr indent="0" marL="0">
              <a:buNone/>
            </a:pPr>
            <a:r>
              <a:rPr lang="en-US" sz="1500" dirty="0">
                <a:solidFill>
                  <a:srgbClr val="A9B0C0"/>
                </a:solidFill>
                <a:latin typeface="Calibri" pitchFamily="34" charset="0"/>
                <a:ea typeface="Calibri" pitchFamily="34" charset="-122"/>
                <a:cs typeface="Calibri" pitchFamily="34" charset="-120"/>
              </a:rPr>
              <a:t>So far, every leaf value was handed to us and every opponent was perfect. Both assumptions break in the second hour.</a:t>
            </a:r>
            <a:endParaRPr lang="en-US" sz="1500" dirty="0"/>
          </a:p>
        </p:txBody>
      </p:sp>
      <p:sp>
        <p:nvSpPr>
          <p:cNvPr id="5" name="Shape 3"/>
          <p:cNvSpPr/>
          <p:nvPr/>
        </p:nvSpPr>
        <p:spPr>
          <a:xfrm>
            <a:off x="9372600" y="2377440"/>
            <a:ext cx="1645920" cy="1645920"/>
          </a:xfrm>
          <a:prstGeom prst="ellipse">
            <a:avLst/>
          </a:prstGeom>
          <a:solidFill>
            <a:srgbClr val="6B4E8F"/>
          </a:solidFill>
          <a:ln w="12700">
            <a:solidFill>
              <a:srgbClr val="6B4E8F"/>
            </a:solidFill>
            <a:prstDash val="solid"/>
          </a:ln>
        </p:spPr>
      </p:sp>
      <p:sp>
        <p:nvSpPr>
          <p:cNvPr id="6" name="Text 4"/>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565D6E"/>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7" name="Text 5"/>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565D6E"/>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C1F2A"/>
        </a:solidFill>
      </p:bgPr>
    </p:bg>
    <p:spTree>
      <p:nvGrpSpPr>
        <p:cNvPr id="1" name=""/>
        <p:cNvGrpSpPr/>
        <p:nvPr/>
      </p:nvGrpSpPr>
      <p:grpSpPr>
        <a:xfrm>
          <a:off x="0" y="0"/>
          <a:ext cx="0" cy="0"/>
          <a:chOff x="0" y="0"/>
          <a:chExt cx="0" cy="0"/>
        </a:xfrm>
      </p:grpSpPr>
      <p:sp>
        <p:nvSpPr>
          <p:cNvPr id="2" name="Text 0"/>
          <p:cNvSpPr/>
          <p:nvPr/>
        </p:nvSpPr>
        <p:spPr>
          <a:xfrm>
            <a:off x="822960" y="1920240"/>
            <a:ext cx="6400800" cy="365760"/>
          </a:xfrm>
          <a:prstGeom prst="rect">
            <a:avLst/>
          </a:prstGeom>
          <a:noFill/>
          <a:ln/>
        </p:spPr>
        <p:txBody>
          <a:bodyPr wrap="square" lIns="0" tIns="0" rIns="0" bIns="0" rtlCol="0" anchor="ctr"/>
          <a:lstStyle/>
          <a:p>
            <a:pPr indent="0" marL="0">
              <a:buNone/>
            </a:pPr>
            <a:r>
              <a:rPr lang="en-US" sz="1250" b="1" spc="220" kern="0" dirty="0">
                <a:solidFill>
                  <a:srgbClr val="B58500"/>
                </a:solidFill>
                <a:latin typeface="Calibri" pitchFamily="34" charset="0"/>
                <a:ea typeface="Calibri" pitchFamily="34" charset="-122"/>
                <a:cs typeface="Calibri" pitchFamily="34" charset="-120"/>
              </a:rPr>
              <a:t>PART III  ·  25 MINUTES</a:t>
            </a:r>
            <a:endParaRPr lang="en-US" sz="1250" dirty="0"/>
          </a:p>
        </p:txBody>
      </p:sp>
      <p:sp>
        <p:nvSpPr>
          <p:cNvPr id="3" name="Text 1"/>
          <p:cNvSpPr/>
          <p:nvPr/>
        </p:nvSpPr>
        <p:spPr>
          <a:xfrm>
            <a:off x="822960" y="2331720"/>
            <a:ext cx="7680960" cy="1554480"/>
          </a:xfrm>
          <a:prstGeom prst="rect">
            <a:avLst/>
          </a:prstGeom>
          <a:noFill/>
          <a:ln/>
        </p:spPr>
        <p:txBody>
          <a:bodyPr wrap="square" lIns="0" tIns="0" rIns="0" bIns="0" rtlCol="0" anchor="t"/>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When the world</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rolls dice</a:t>
            </a:r>
            <a:endParaRPr lang="en-US" sz="3800" dirty="0"/>
          </a:p>
        </p:txBody>
      </p:sp>
      <p:sp>
        <p:nvSpPr>
          <p:cNvPr id="4" name="Text 2"/>
          <p:cNvSpPr/>
          <p:nvPr/>
        </p:nvSpPr>
        <p:spPr>
          <a:xfrm>
            <a:off x="822960" y="4023360"/>
            <a:ext cx="7132320" cy="1097280"/>
          </a:xfrm>
          <a:prstGeom prst="rect">
            <a:avLst/>
          </a:prstGeom>
          <a:noFill/>
          <a:ln/>
        </p:spPr>
        <p:txBody>
          <a:bodyPr wrap="square" lIns="0" tIns="0" rIns="0" bIns="0" rtlCol="0" anchor="t"/>
          <a:lstStyle/>
          <a:p>
            <a:pPr indent="0" marL="0">
              <a:buNone/>
            </a:pPr>
            <a:r>
              <a:rPr lang="en-US" sz="1500" dirty="0">
                <a:solidFill>
                  <a:srgbClr val="A9B0C0"/>
                </a:solidFill>
                <a:latin typeface="Calibri" pitchFamily="34" charset="0"/>
                <a:ea typeface="Calibri" pitchFamily="34" charset="-122"/>
                <a:cs typeface="Calibri" pitchFamily="34" charset="-120"/>
              </a:rPr>
              <a:t>A third node type, a third rule for backing values up, and a hard lesson about what happens when your model of the opponent is wrong.</a:t>
            </a:r>
            <a:endParaRPr lang="en-US" sz="1500" dirty="0"/>
          </a:p>
        </p:txBody>
      </p:sp>
      <p:sp>
        <p:nvSpPr>
          <p:cNvPr id="5" name="Shape 3"/>
          <p:cNvSpPr/>
          <p:nvPr/>
        </p:nvSpPr>
        <p:spPr>
          <a:xfrm>
            <a:off x="9372600" y="2377440"/>
            <a:ext cx="1645920" cy="1645920"/>
          </a:xfrm>
          <a:prstGeom prst="ellipse">
            <a:avLst/>
          </a:prstGeom>
          <a:solidFill>
            <a:srgbClr val="6B4E8F"/>
          </a:solidFill>
          <a:ln w="12700">
            <a:solidFill>
              <a:srgbClr val="6B4E8F"/>
            </a:solidFill>
            <a:prstDash val="solid"/>
          </a:ln>
        </p:spPr>
      </p:sp>
      <p:sp>
        <p:nvSpPr>
          <p:cNvPr id="6" name="Text 4"/>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565D6E"/>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7" name="Text 5"/>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565D6E"/>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FROM MINIMAX TO EXPECTIMAX</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The same tree, a different opponent model</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33</a:t>
            </a:r>
            <a:endParaRPr lang="en-US" sz="900" dirty="0"/>
          </a:p>
        </p:txBody>
      </p:sp>
      <p:sp>
        <p:nvSpPr>
          <p:cNvPr id="7" name="Shape 4"/>
          <p:cNvSpPr/>
          <p:nvPr/>
        </p:nvSpPr>
        <p:spPr>
          <a:xfrm>
            <a:off x="566928" y="1463040"/>
            <a:ext cx="5394960" cy="3703320"/>
          </a:xfrm>
          <a:prstGeom prst="roundRect">
            <a:avLst>
              <a:gd name="adj" fmla="val 1728"/>
            </a:avLst>
          </a:prstGeom>
          <a:solidFill>
            <a:srgbClr val="EAF1F5"/>
          </a:solidFill>
          <a:ln w="12700">
            <a:solidFill>
              <a:srgbClr val="EAF1F5"/>
            </a:solidFill>
            <a:prstDash val="solid"/>
          </a:ln>
        </p:spPr>
      </p:sp>
      <p:sp>
        <p:nvSpPr>
          <p:cNvPr id="8" name="Text 5"/>
          <p:cNvSpPr/>
          <p:nvPr/>
        </p:nvSpPr>
        <p:spPr>
          <a:xfrm>
            <a:off x="841248" y="1627632"/>
            <a:ext cx="4754880" cy="329184"/>
          </a:xfrm>
          <a:prstGeom prst="rect">
            <a:avLst/>
          </a:prstGeom>
          <a:noFill/>
          <a:ln/>
        </p:spPr>
        <p:txBody>
          <a:bodyPr wrap="square" lIns="0" tIns="0" rIns="0" bIns="0" rtlCol="0" anchor="ctr"/>
          <a:lstStyle/>
          <a:p>
            <a:pPr indent="0" marL="0">
              <a:buNone/>
            </a:pPr>
            <a:r>
              <a:rPr lang="en-US" sz="1600" b="1" dirty="0">
                <a:solidFill>
                  <a:srgbClr val="1D4E63"/>
                </a:solidFill>
                <a:latin typeface="Cambria" pitchFamily="34" charset="0"/>
                <a:ea typeface="Cambria" pitchFamily="34" charset="-122"/>
                <a:cs typeface="Cambria" pitchFamily="34" charset="-120"/>
              </a:rPr>
              <a:t>Modelled as MIN</a:t>
            </a:r>
            <a:endParaRPr lang="en-US" sz="1600" dirty="0"/>
          </a:p>
        </p:txBody>
      </p:sp>
      <p:sp>
        <p:nvSpPr>
          <p:cNvPr id="9" name="Shape 6"/>
          <p:cNvSpPr/>
          <p:nvPr/>
        </p:nvSpPr>
        <p:spPr>
          <a:xfrm>
            <a:off x="3035808" y="2212848"/>
            <a:ext cx="420624" cy="420624"/>
          </a:xfrm>
          <a:prstGeom prst="triangle">
            <a:avLst/>
          </a:prstGeom>
          <a:solidFill>
            <a:srgbClr val="C2410C"/>
          </a:solidFill>
          <a:ln w="12700">
            <a:solidFill>
              <a:srgbClr val="C2410C"/>
            </a:solidFill>
            <a:prstDash val="solid"/>
          </a:ln>
        </p:spPr>
      </p:sp>
      <p:sp>
        <p:nvSpPr>
          <p:cNvPr id="10" name="Text 7"/>
          <p:cNvSpPr/>
          <p:nvPr/>
        </p:nvSpPr>
        <p:spPr>
          <a:xfrm>
            <a:off x="3520440" y="2286000"/>
            <a:ext cx="822960" cy="292608"/>
          </a:xfrm>
          <a:prstGeom prst="rect">
            <a:avLst/>
          </a:prstGeom>
          <a:noFill/>
          <a:ln/>
        </p:spPr>
        <p:txBody>
          <a:bodyPr wrap="square" lIns="0" tIns="0" rIns="0" bIns="0" rtlCol="0" anchor="ctr"/>
          <a:lstStyle/>
          <a:p>
            <a:pPr indent="0" marL="0">
              <a:buNone/>
            </a:pPr>
            <a:r>
              <a:rPr lang="en-US" sz="1300" b="1" dirty="0">
                <a:solidFill>
                  <a:srgbClr val="1D4E63"/>
                </a:solidFill>
                <a:latin typeface="Calibri" pitchFamily="34" charset="0"/>
                <a:ea typeface="Calibri" pitchFamily="34" charset="-122"/>
                <a:cs typeface="Calibri" pitchFamily="34" charset="-120"/>
              </a:rPr>
              <a:t>10</a:t>
            </a:r>
            <a:endParaRPr lang="en-US" sz="1300" dirty="0"/>
          </a:p>
        </p:txBody>
      </p:sp>
      <p:sp>
        <p:nvSpPr>
          <p:cNvPr id="11" name="Shape 8"/>
          <p:cNvSpPr/>
          <p:nvPr/>
        </p:nvSpPr>
        <p:spPr>
          <a:xfrm flipH="1">
            <a:off x="2148840" y="2578608"/>
            <a:ext cx="1097280" cy="420624"/>
          </a:xfrm>
          <a:prstGeom prst="line">
            <a:avLst/>
          </a:prstGeom>
          <a:noFill/>
          <a:ln w="31750">
            <a:solidFill>
              <a:srgbClr val="1D4E63"/>
            </a:solidFill>
            <a:prstDash val="solid"/>
          </a:ln>
        </p:spPr>
      </p:sp>
      <p:sp>
        <p:nvSpPr>
          <p:cNvPr id="12" name="Shape 9"/>
          <p:cNvSpPr/>
          <p:nvPr/>
        </p:nvSpPr>
        <p:spPr>
          <a:xfrm>
            <a:off x="3246120" y="2578608"/>
            <a:ext cx="1097280" cy="420624"/>
          </a:xfrm>
          <a:prstGeom prst="line">
            <a:avLst/>
          </a:prstGeom>
          <a:noFill/>
          <a:ln w="15875">
            <a:solidFill>
              <a:srgbClr val="9AA0AE"/>
            </a:solidFill>
            <a:prstDash val="solid"/>
          </a:ln>
        </p:spPr>
      </p:sp>
      <p:sp>
        <p:nvSpPr>
          <p:cNvPr id="13" name="Shape 10"/>
          <p:cNvSpPr/>
          <p:nvPr/>
        </p:nvSpPr>
        <p:spPr>
          <a:xfrm rot="10800000">
            <a:off x="1938528" y="2990088"/>
            <a:ext cx="420624" cy="420624"/>
          </a:xfrm>
          <a:prstGeom prst="triangle">
            <a:avLst/>
          </a:prstGeom>
          <a:solidFill>
            <a:srgbClr val="1D4E63"/>
          </a:solidFill>
          <a:ln w="12700">
            <a:solidFill>
              <a:srgbClr val="1D4E63"/>
            </a:solidFill>
            <a:prstDash val="solid"/>
          </a:ln>
        </p:spPr>
      </p:sp>
      <p:sp>
        <p:nvSpPr>
          <p:cNvPr id="14" name="Text 11"/>
          <p:cNvSpPr/>
          <p:nvPr/>
        </p:nvSpPr>
        <p:spPr>
          <a:xfrm>
            <a:off x="1508760" y="3054096"/>
            <a:ext cx="12801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15" name="Shape 12"/>
          <p:cNvSpPr/>
          <p:nvPr/>
        </p:nvSpPr>
        <p:spPr>
          <a:xfrm rot="10800000">
            <a:off x="4133088" y="2990088"/>
            <a:ext cx="420624" cy="420624"/>
          </a:xfrm>
          <a:prstGeom prst="triangle">
            <a:avLst/>
          </a:prstGeom>
          <a:solidFill>
            <a:srgbClr val="1D4E63"/>
          </a:solidFill>
          <a:ln w="12700">
            <a:solidFill>
              <a:srgbClr val="1D4E63"/>
            </a:solidFill>
            <a:prstDash val="solid"/>
          </a:ln>
        </p:spPr>
      </p:sp>
      <p:sp>
        <p:nvSpPr>
          <p:cNvPr id="16" name="Text 13"/>
          <p:cNvSpPr/>
          <p:nvPr/>
        </p:nvSpPr>
        <p:spPr>
          <a:xfrm>
            <a:off x="3703320" y="3054096"/>
            <a:ext cx="12801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17" name="Shape 14"/>
          <p:cNvSpPr/>
          <p:nvPr/>
        </p:nvSpPr>
        <p:spPr>
          <a:xfrm flipH="1">
            <a:off x="1691640" y="3355848"/>
            <a:ext cx="457200" cy="347472"/>
          </a:xfrm>
          <a:prstGeom prst="line">
            <a:avLst/>
          </a:prstGeom>
          <a:noFill/>
          <a:ln w="13970">
            <a:solidFill>
              <a:srgbClr val="9AA0AE"/>
            </a:solidFill>
            <a:prstDash val="solid"/>
          </a:ln>
        </p:spPr>
      </p:sp>
      <p:sp>
        <p:nvSpPr>
          <p:cNvPr id="18" name="Shape 15"/>
          <p:cNvSpPr/>
          <p:nvPr/>
        </p:nvSpPr>
        <p:spPr>
          <a:xfrm>
            <a:off x="1517904" y="3703320"/>
            <a:ext cx="347472" cy="347472"/>
          </a:xfrm>
          <a:prstGeom prst="rect">
            <a:avLst/>
          </a:prstGeom>
          <a:solidFill>
            <a:srgbClr val="E4E6EB"/>
          </a:solidFill>
          <a:ln w="12700">
            <a:solidFill>
              <a:srgbClr val="A6ACBA"/>
            </a:solidFill>
            <a:prstDash val="solid"/>
          </a:ln>
        </p:spPr>
      </p:sp>
      <p:sp>
        <p:nvSpPr>
          <p:cNvPr id="19" name="Text 16"/>
          <p:cNvSpPr/>
          <p:nvPr/>
        </p:nvSpPr>
        <p:spPr>
          <a:xfrm>
            <a:off x="1051560" y="3730752"/>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10</a:t>
            </a:r>
            <a:endParaRPr lang="en-US" sz="1200" dirty="0"/>
          </a:p>
        </p:txBody>
      </p:sp>
      <p:sp>
        <p:nvSpPr>
          <p:cNvPr id="20" name="Shape 17"/>
          <p:cNvSpPr/>
          <p:nvPr/>
        </p:nvSpPr>
        <p:spPr>
          <a:xfrm>
            <a:off x="2148840" y="3355848"/>
            <a:ext cx="457200" cy="347472"/>
          </a:xfrm>
          <a:prstGeom prst="line">
            <a:avLst/>
          </a:prstGeom>
          <a:noFill/>
          <a:ln w="13970">
            <a:solidFill>
              <a:srgbClr val="9AA0AE"/>
            </a:solidFill>
            <a:prstDash val="solid"/>
          </a:ln>
        </p:spPr>
      </p:sp>
      <p:sp>
        <p:nvSpPr>
          <p:cNvPr id="21" name="Shape 18"/>
          <p:cNvSpPr/>
          <p:nvPr/>
        </p:nvSpPr>
        <p:spPr>
          <a:xfrm>
            <a:off x="2432304" y="3703320"/>
            <a:ext cx="347472" cy="347472"/>
          </a:xfrm>
          <a:prstGeom prst="rect">
            <a:avLst/>
          </a:prstGeom>
          <a:solidFill>
            <a:srgbClr val="E4E6EB"/>
          </a:solidFill>
          <a:ln w="12700">
            <a:solidFill>
              <a:srgbClr val="A6ACBA"/>
            </a:solidFill>
            <a:prstDash val="solid"/>
          </a:ln>
        </p:spPr>
      </p:sp>
      <p:sp>
        <p:nvSpPr>
          <p:cNvPr id="22" name="Text 19"/>
          <p:cNvSpPr/>
          <p:nvPr/>
        </p:nvSpPr>
        <p:spPr>
          <a:xfrm>
            <a:off x="1965960" y="3730752"/>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10</a:t>
            </a:r>
            <a:endParaRPr lang="en-US" sz="1200" dirty="0"/>
          </a:p>
        </p:txBody>
      </p:sp>
      <p:sp>
        <p:nvSpPr>
          <p:cNvPr id="23" name="Shape 20"/>
          <p:cNvSpPr/>
          <p:nvPr/>
        </p:nvSpPr>
        <p:spPr>
          <a:xfrm flipH="1">
            <a:off x="3886200" y="3355848"/>
            <a:ext cx="457200" cy="347472"/>
          </a:xfrm>
          <a:prstGeom prst="line">
            <a:avLst/>
          </a:prstGeom>
          <a:noFill/>
          <a:ln w="13970">
            <a:solidFill>
              <a:srgbClr val="9AA0AE"/>
            </a:solidFill>
            <a:prstDash val="solid"/>
          </a:ln>
        </p:spPr>
      </p:sp>
      <p:sp>
        <p:nvSpPr>
          <p:cNvPr id="24" name="Shape 21"/>
          <p:cNvSpPr/>
          <p:nvPr/>
        </p:nvSpPr>
        <p:spPr>
          <a:xfrm>
            <a:off x="3712464" y="3703320"/>
            <a:ext cx="347472" cy="347472"/>
          </a:xfrm>
          <a:prstGeom prst="rect">
            <a:avLst/>
          </a:prstGeom>
          <a:solidFill>
            <a:srgbClr val="E4E6EB"/>
          </a:solidFill>
          <a:ln w="12700">
            <a:solidFill>
              <a:srgbClr val="A6ACBA"/>
            </a:solidFill>
            <a:prstDash val="solid"/>
          </a:ln>
        </p:spPr>
      </p:sp>
      <p:sp>
        <p:nvSpPr>
          <p:cNvPr id="25" name="Text 22"/>
          <p:cNvSpPr/>
          <p:nvPr/>
        </p:nvSpPr>
        <p:spPr>
          <a:xfrm>
            <a:off x="3246120" y="3730752"/>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9</a:t>
            </a:r>
            <a:endParaRPr lang="en-US" sz="1200" dirty="0"/>
          </a:p>
        </p:txBody>
      </p:sp>
      <p:sp>
        <p:nvSpPr>
          <p:cNvPr id="26" name="Shape 23"/>
          <p:cNvSpPr/>
          <p:nvPr/>
        </p:nvSpPr>
        <p:spPr>
          <a:xfrm>
            <a:off x="4343400" y="3355848"/>
            <a:ext cx="457200" cy="347472"/>
          </a:xfrm>
          <a:prstGeom prst="line">
            <a:avLst/>
          </a:prstGeom>
          <a:noFill/>
          <a:ln w="13970">
            <a:solidFill>
              <a:srgbClr val="9AA0AE"/>
            </a:solidFill>
            <a:prstDash val="solid"/>
          </a:ln>
        </p:spPr>
      </p:sp>
      <p:sp>
        <p:nvSpPr>
          <p:cNvPr id="27" name="Shape 24"/>
          <p:cNvSpPr/>
          <p:nvPr/>
        </p:nvSpPr>
        <p:spPr>
          <a:xfrm>
            <a:off x="4626864" y="3703320"/>
            <a:ext cx="347472" cy="347472"/>
          </a:xfrm>
          <a:prstGeom prst="rect">
            <a:avLst/>
          </a:prstGeom>
          <a:solidFill>
            <a:srgbClr val="E4E6EB"/>
          </a:solidFill>
          <a:ln w="12700">
            <a:solidFill>
              <a:srgbClr val="A6ACBA"/>
            </a:solidFill>
            <a:prstDash val="solid"/>
          </a:ln>
        </p:spPr>
      </p:sp>
      <p:sp>
        <p:nvSpPr>
          <p:cNvPr id="28" name="Text 25"/>
          <p:cNvSpPr/>
          <p:nvPr/>
        </p:nvSpPr>
        <p:spPr>
          <a:xfrm>
            <a:off x="4160520" y="3730752"/>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100</a:t>
            </a:r>
            <a:endParaRPr lang="en-US" sz="1200" dirty="0"/>
          </a:p>
        </p:txBody>
      </p:sp>
      <p:sp>
        <p:nvSpPr>
          <p:cNvPr id="29" name="Text 26"/>
          <p:cNvSpPr/>
          <p:nvPr/>
        </p:nvSpPr>
        <p:spPr>
          <a:xfrm>
            <a:off x="841248" y="4297680"/>
            <a:ext cx="4864608" cy="731520"/>
          </a:xfrm>
          <a:prstGeom prst="rect">
            <a:avLst/>
          </a:prstGeom>
          <a:noFill/>
          <a:ln/>
        </p:spPr>
        <p:txBody>
          <a:bodyPr wrap="square" lIns="0" tIns="0" rIns="0" bIns="0" rtlCol="0" anchor="t"/>
          <a:lstStyle/>
          <a:p>
            <a:pPr indent="0" marL="0">
              <a:buNone/>
            </a:pPr>
            <a:r>
              <a:rPr lang="en-US" sz="1280" dirty="0">
                <a:solidFill>
                  <a:srgbClr val="3A3F4C"/>
                </a:solidFill>
                <a:latin typeface="Calibri" pitchFamily="34" charset="0"/>
                <a:ea typeface="Calibri" pitchFamily="34" charset="-122"/>
                <a:cs typeface="Calibri" pitchFamily="34" charset="-120"/>
              </a:rPr>
              <a:t>MIN will always steer to the 9, so the right branch is worth 9. MAX goes left and guarantees 10.</a:t>
            </a:r>
            <a:endParaRPr lang="en-US" sz="1280" dirty="0"/>
          </a:p>
        </p:txBody>
      </p:sp>
      <p:sp>
        <p:nvSpPr>
          <p:cNvPr id="30" name="Shape 27"/>
          <p:cNvSpPr/>
          <p:nvPr/>
        </p:nvSpPr>
        <p:spPr>
          <a:xfrm>
            <a:off x="6236208" y="1463040"/>
            <a:ext cx="5394960" cy="3703320"/>
          </a:xfrm>
          <a:prstGeom prst="roundRect">
            <a:avLst>
              <a:gd name="adj" fmla="val 1728"/>
            </a:avLst>
          </a:prstGeom>
          <a:solidFill>
            <a:srgbClr val="F3EEF8"/>
          </a:solidFill>
          <a:ln w="12700">
            <a:solidFill>
              <a:srgbClr val="F3EEF8"/>
            </a:solidFill>
            <a:prstDash val="solid"/>
          </a:ln>
        </p:spPr>
      </p:sp>
      <p:sp>
        <p:nvSpPr>
          <p:cNvPr id="31" name="Text 28"/>
          <p:cNvSpPr/>
          <p:nvPr/>
        </p:nvSpPr>
        <p:spPr>
          <a:xfrm>
            <a:off x="6510528" y="1627632"/>
            <a:ext cx="4754880" cy="329184"/>
          </a:xfrm>
          <a:prstGeom prst="rect">
            <a:avLst/>
          </a:prstGeom>
          <a:noFill/>
          <a:ln/>
        </p:spPr>
        <p:txBody>
          <a:bodyPr wrap="square" lIns="0" tIns="0" rIns="0" bIns="0" rtlCol="0" anchor="ctr"/>
          <a:lstStyle/>
          <a:p>
            <a:pPr indent="0" marL="0">
              <a:buNone/>
            </a:pPr>
            <a:r>
              <a:rPr lang="en-US" sz="1600" b="1" dirty="0">
                <a:solidFill>
                  <a:srgbClr val="6B4E8F"/>
                </a:solidFill>
                <a:latin typeface="Cambria" pitchFamily="34" charset="0"/>
                <a:ea typeface="Cambria" pitchFamily="34" charset="-122"/>
                <a:cs typeface="Cambria" pitchFamily="34" charset="-120"/>
              </a:rPr>
              <a:t>Modelled as chance</a:t>
            </a:r>
            <a:endParaRPr lang="en-US" sz="1600" dirty="0"/>
          </a:p>
        </p:txBody>
      </p:sp>
      <p:sp>
        <p:nvSpPr>
          <p:cNvPr id="32" name="Shape 29"/>
          <p:cNvSpPr/>
          <p:nvPr/>
        </p:nvSpPr>
        <p:spPr>
          <a:xfrm>
            <a:off x="8705088" y="2212848"/>
            <a:ext cx="420624" cy="420624"/>
          </a:xfrm>
          <a:prstGeom prst="triangle">
            <a:avLst/>
          </a:prstGeom>
          <a:solidFill>
            <a:srgbClr val="C2410C"/>
          </a:solidFill>
          <a:ln w="12700">
            <a:solidFill>
              <a:srgbClr val="C2410C"/>
            </a:solidFill>
            <a:prstDash val="solid"/>
          </a:ln>
        </p:spPr>
      </p:sp>
      <p:sp>
        <p:nvSpPr>
          <p:cNvPr id="33" name="Text 30"/>
          <p:cNvSpPr/>
          <p:nvPr/>
        </p:nvSpPr>
        <p:spPr>
          <a:xfrm>
            <a:off x="9189720" y="2286000"/>
            <a:ext cx="914400" cy="292608"/>
          </a:xfrm>
          <a:prstGeom prst="rect">
            <a:avLst/>
          </a:prstGeom>
          <a:noFill/>
          <a:ln/>
        </p:spPr>
        <p:txBody>
          <a:bodyPr wrap="square" lIns="0" tIns="0" rIns="0" bIns="0" rtlCol="0" anchor="ctr"/>
          <a:lstStyle/>
          <a:p>
            <a:pPr indent="0" marL="0">
              <a:buNone/>
            </a:pPr>
            <a:r>
              <a:rPr lang="en-US" sz="1300" b="1" dirty="0">
                <a:solidFill>
                  <a:srgbClr val="6B4E8F"/>
                </a:solidFill>
                <a:latin typeface="Calibri" pitchFamily="34" charset="0"/>
                <a:ea typeface="Calibri" pitchFamily="34" charset="-122"/>
                <a:cs typeface="Calibri" pitchFamily="34" charset="-120"/>
              </a:rPr>
              <a:t>54.5</a:t>
            </a:r>
            <a:endParaRPr lang="en-US" sz="1300" dirty="0"/>
          </a:p>
        </p:txBody>
      </p:sp>
      <p:sp>
        <p:nvSpPr>
          <p:cNvPr id="34" name="Shape 31"/>
          <p:cNvSpPr/>
          <p:nvPr/>
        </p:nvSpPr>
        <p:spPr>
          <a:xfrm flipH="1">
            <a:off x="7818120" y="2578608"/>
            <a:ext cx="1097280" cy="420624"/>
          </a:xfrm>
          <a:prstGeom prst="line">
            <a:avLst/>
          </a:prstGeom>
          <a:noFill/>
          <a:ln w="15875">
            <a:solidFill>
              <a:srgbClr val="9AA0AE"/>
            </a:solidFill>
            <a:prstDash val="solid"/>
          </a:ln>
        </p:spPr>
      </p:sp>
      <p:sp>
        <p:nvSpPr>
          <p:cNvPr id="35" name="Shape 32"/>
          <p:cNvSpPr/>
          <p:nvPr/>
        </p:nvSpPr>
        <p:spPr>
          <a:xfrm>
            <a:off x="8915400" y="2578608"/>
            <a:ext cx="1097280" cy="420624"/>
          </a:xfrm>
          <a:prstGeom prst="line">
            <a:avLst/>
          </a:prstGeom>
          <a:noFill/>
          <a:ln w="31750">
            <a:solidFill>
              <a:srgbClr val="6B4E8F"/>
            </a:solidFill>
            <a:prstDash val="solid"/>
          </a:ln>
        </p:spPr>
      </p:sp>
      <p:sp>
        <p:nvSpPr>
          <p:cNvPr id="36" name="Shape 33"/>
          <p:cNvSpPr/>
          <p:nvPr/>
        </p:nvSpPr>
        <p:spPr>
          <a:xfrm>
            <a:off x="7607808" y="2990088"/>
            <a:ext cx="420624" cy="420624"/>
          </a:xfrm>
          <a:prstGeom prst="ellipse">
            <a:avLst/>
          </a:prstGeom>
          <a:solidFill>
            <a:srgbClr val="6B4E8F"/>
          </a:solidFill>
          <a:ln w="12700">
            <a:solidFill>
              <a:srgbClr val="6B4E8F"/>
            </a:solidFill>
            <a:prstDash val="solid"/>
          </a:ln>
        </p:spPr>
      </p:sp>
      <p:sp>
        <p:nvSpPr>
          <p:cNvPr id="37" name="Text 34"/>
          <p:cNvSpPr/>
          <p:nvPr/>
        </p:nvSpPr>
        <p:spPr>
          <a:xfrm>
            <a:off x="7178040" y="3054096"/>
            <a:ext cx="12801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38" name="Shape 35"/>
          <p:cNvSpPr/>
          <p:nvPr/>
        </p:nvSpPr>
        <p:spPr>
          <a:xfrm>
            <a:off x="9802368" y="2990088"/>
            <a:ext cx="420624" cy="420624"/>
          </a:xfrm>
          <a:prstGeom prst="ellipse">
            <a:avLst/>
          </a:prstGeom>
          <a:solidFill>
            <a:srgbClr val="6B4E8F"/>
          </a:solidFill>
          <a:ln w="12700">
            <a:solidFill>
              <a:srgbClr val="6B4E8F"/>
            </a:solidFill>
            <a:prstDash val="solid"/>
          </a:ln>
        </p:spPr>
      </p:sp>
      <p:sp>
        <p:nvSpPr>
          <p:cNvPr id="39" name="Text 36"/>
          <p:cNvSpPr/>
          <p:nvPr/>
        </p:nvSpPr>
        <p:spPr>
          <a:xfrm>
            <a:off x="9372600" y="3054096"/>
            <a:ext cx="12801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54.5</a:t>
            </a:r>
            <a:endParaRPr lang="en-US" sz="1200" dirty="0"/>
          </a:p>
        </p:txBody>
      </p:sp>
      <p:sp>
        <p:nvSpPr>
          <p:cNvPr id="40" name="Shape 37"/>
          <p:cNvSpPr/>
          <p:nvPr/>
        </p:nvSpPr>
        <p:spPr>
          <a:xfrm flipH="1">
            <a:off x="7360920" y="3355848"/>
            <a:ext cx="457200" cy="347472"/>
          </a:xfrm>
          <a:prstGeom prst="line">
            <a:avLst/>
          </a:prstGeom>
          <a:noFill/>
          <a:ln w="13970">
            <a:solidFill>
              <a:srgbClr val="9AA0AE"/>
            </a:solidFill>
            <a:prstDash val="solid"/>
          </a:ln>
        </p:spPr>
      </p:sp>
      <p:sp>
        <p:nvSpPr>
          <p:cNvPr id="41" name="Shape 38"/>
          <p:cNvSpPr/>
          <p:nvPr/>
        </p:nvSpPr>
        <p:spPr>
          <a:xfrm>
            <a:off x="7187184" y="3703320"/>
            <a:ext cx="347472" cy="347472"/>
          </a:xfrm>
          <a:prstGeom prst="rect">
            <a:avLst/>
          </a:prstGeom>
          <a:solidFill>
            <a:srgbClr val="E4E6EB"/>
          </a:solidFill>
          <a:ln w="12700">
            <a:solidFill>
              <a:srgbClr val="A6ACBA"/>
            </a:solidFill>
            <a:prstDash val="solid"/>
          </a:ln>
        </p:spPr>
      </p:sp>
      <p:sp>
        <p:nvSpPr>
          <p:cNvPr id="42" name="Text 39"/>
          <p:cNvSpPr/>
          <p:nvPr/>
        </p:nvSpPr>
        <p:spPr>
          <a:xfrm>
            <a:off x="6720840" y="3730752"/>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10</a:t>
            </a:r>
            <a:endParaRPr lang="en-US" sz="1200" dirty="0"/>
          </a:p>
        </p:txBody>
      </p:sp>
      <p:sp>
        <p:nvSpPr>
          <p:cNvPr id="43" name="Shape 40"/>
          <p:cNvSpPr/>
          <p:nvPr/>
        </p:nvSpPr>
        <p:spPr>
          <a:xfrm>
            <a:off x="7818120" y="3355848"/>
            <a:ext cx="457200" cy="347472"/>
          </a:xfrm>
          <a:prstGeom prst="line">
            <a:avLst/>
          </a:prstGeom>
          <a:noFill/>
          <a:ln w="13970">
            <a:solidFill>
              <a:srgbClr val="9AA0AE"/>
            </a:solidFill>
            <a:prstDash val="solid"/>
          </a:ln>
        </p:spPr>
      </p:sp>
      <p:sp>
        <p:nvSpPr>
          <p:cNvPr id="44" name="Shape 41"/>
          <p:cNvSpPr/>
          <p:nvPr/>
        </p:nvSpPr>
        <p:spPr>
          <a:xfrm>
            <a:off x="8101584" y="3703320"/>
            <a:ext cx="347472" cy="347472"/>
          </a:xfrm>
          <a:prstGeom prst="rect">
            <a:avLst/>
          </a:prstGeom>
          <a:solidFill>
            <a:srgbClr val="E4E6EB"/>
          </a:solidFill>
          <a:ln w="12700">
            <a:solidFill>
              <a:srgbClr val="A6ACBA"/>
            </a:solidFill>
            <a:prstDash val="solid"/>
          </a:ln>
        </p:spPr>
      </p:sp>
      <p:sp>
        <p:nvSpPr>
          <p:cNvPr id="45" name="Text 42"/>
          <p:cNvSpPr/>
          <p:nvPr/>
        </p:nvSpPr>
        <p:spPr>
          <a:xfrm>
            <a:off x="7635240" y="3730752"/>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10</a:t>
            </a:r>
            <a:endParaRPr lang="en-US" sz="1200" dirty="0"/>
          </a:p>
        </p:txBody>
      </p:sp>
      <p:sp>
        <p:nvSpPr>
          <p:cNvPr id="46" name="Shape 43"/>
          <p:cNvSpPr/>
          <p:nvPr/>
        </p:nvSpPr>
        <p:spPr>
          <a:xfrm flipH="1">
            <a:off x="9555480" y="3355848"/>
            <a:ext cx="457200" cy="347472"/>
          </a:xfrm>
          <a:prstGeom prst="line">
            <a:avLst/>
          </a:prstGeom>
          <a:noFill/>
          <a:ln w="13970">
            <a:solidFill>
              <a:srgbClr val="9AA0AE"/>
            </a:solidFill>
            <a:prstDash val="solid"/>
          </a:ln>
        </p:spPr>
      </p:sp>
      <p:sp>
        <p:nvSpPr>
          <p:cNvPr id="47" name="Shape 44"/>
          <p:cNvSpPr/>
          <p:nvPr/>
        </p:nvSpPr>
        <p:spPr>
          <a:xfrm>
            <a:off x="9381744" y="3703320"/>
            <a:ext cx="347472" cy="347472"/>
          </a:xfrm>
          <a:prstGeom prst="rect">
            <a:avLst/>
          </a:prstGeom>
          <a:solidFill>
            <a:srgbClr val="E4E6EB"/>
          </a:solidFill>
          <a:ln w="12700">
            <a:solidFill>
              <a:srgbClr val="A6ACBA"/>
            </a:solidFill>
            <a:prstDash val="solid"/>
          </a:ln>
        </p:spPr>
      </p:sp>
      <p:sp>
        <p:nvSpPr>
          <p:cNvPr id="48" name="Text 45"/>
          <p:cNvSpPr/>
          <p:nvPr/>
        </p:nvSpPr>
        <p:spPr>
          <a:xfrm>
            <a:off x="8915400" y="3730752"/>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9</a:t>
            </a:r>
            <a:endParaRPr lang="en-US" sz="1200" dirty="0"/>
          </a:p>
        </p:txBody>
      </p:sp>
      <p:sp>
        <p:nvSpPr>
          <p:cNvPr id="49" name="Shape 46"/>
          <p:cNvSpPr/>
          <p:nvPr/>
        </p:nvSpPr>
        <p:spPr>
          <a:xfrm>
            <a:off x="10012680" y="3355848"/>
            <a:ext cx="457200" cy="347472"/>
          </a:xfrm>
          <a:prstGeom prst="line">
            <a:avLst/>
          </a:prstGeom>
          <a:noFill/>
          <a:ln w="13970">
            <a:solidFill>
              <a:srgbClr val="9AA0AE"/>
            </a:solidFill>
            <a:prstDash val="solid"/>
          </a:ln>
        </p:spPr>
      </p:sp>
      <p:sp>
        <p:nvSpPr>
          <p:cNvPr id="50" name="Shape 47"/>
          <p:cNvSpPr/>
          <p:nvPr/>
        </p:nvSpPr>
        <p:spPr>
          <a:xfrm>
            <a:off x="10296144" y="3703320"/>
            <a:ext cx="347472" cy="347472"/>
          </a:xfrm>
          <a:prstGeom prst="rect">
            <a:avLst/>
          </a:prstGeom>
          <a:solidFill>
            <a:srgbClr val="E4E6EB"/>
          </a:solidFill>
          <a:ln w="12700">
            <a:solidFill>
              <a:srgbClr val="A6ACBA"/>
            </a:solidFill>
            <a:prstDash val="solid"/>
          </a:ln>
        </p:spPr>
      </p:sp>
      <p:sp>
        <p:nvSpPr>
          <p:cNvPr id="51" name="Text 48"/>
          <p:cNvSpPr/>
          <p:nvPr/>
        </p:nvSpPr>
        <p:spPr>
          <a:xfrm>
            <a:off x="9829800" y="3730752"/>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100</a:t>
            </a:r>
            <a:endParaRPr lang="en-US" sz="1200" dirty="0"/>
          </a:p>
        </p:txBody>
      </p:sp>
      <p:sp>
        <p:nvSpPr>
          <p:cNvPr id="52" name="Text 49"/>
          <p:cNvSpPr/>
          <p:nvPr/>
        </p:nvSpPr>
        <p:spPr>
          <a:xfrm>
            <a:off x="6510528" y="4297680"/>
            <a:ext cx="4864608" cy="731520"/>
          </a:xfrm>
          <a:prstGeom prst="rect">
            <a:avLst/>
          </a:prstGeom>
          <a:noFill/>
          <a:ln/>
        </p:spPr>
        <p:txBody>
          <a:bodyPr wrap="square" lIns="0" tIns="0" rIns="0" bIns="0" rtlCol="0" anchor="t"/>
          <a:lstStyle/>
          <a:p>
            <a:pPr indent="0" marL="0">
              <a:buNone/>
            </a:pPr>
            <a:r>
              <a:rPr lang="en-US" sz="1280" dirty="0">
                <a:solidFill>
                  <a:srgbClr val="3A3F4C"/>
                </a:solidFill>
                <a:latin typeface="Calibri" pitchFamily="34" charset="0"/>
                <a:ea typeface="Calibri" pitchFamily="34" charset="-122"/>
                <a:cs typeface="Calibri" pitchFamily="34" charset="-120"/>
              </a:rPr>
              <a:t>If a fair coin decides, the right branch averages (9 + 100) / 2 = 54.5, and MAX should go right.</a:t>
            </a:r>
            <a:endParaRPr lang="en-US" sz="1280" dirty="0"/>
          </a:p>
        </p:txBody>
      </p:sp>
      <p:sp>
        <p:nvSpPr>
          <p:cNvPr id="53" name="Shape 50"/>
          <p:cNvSpPr/>
          <p:nvPr/>
        </p:nvSpPr>
        <p:spPr>
          <a:xfrm>
            <a:off x="566928" y="5349240"/>
            <a:ext cx="11064240" cy="777240"/>
          </a:xfrm>
          <a:prstGeom prst="roundRect">
            <a:avLst>
              <a:gd name="adj" fmla="val 8235"/>
            </a:avLst>
          </a:prstGeom>
          <a:solidFill>
            <a:srgbClr val="1C1F2A"/>
          </a:solidFill>
          <a:ln w="12700">
            <a:solidFill>
              <a:srgbClr val="1C1F2A"/>
            </a:solidFill>
            <a:prstDash val="solid"/>
          </a:ln>
        </p:spPr>
      </p:sp>
      <p:sp>
        <p:nvSpPr>
          <p:cNvPr id="54" name="Text 51"/>
          <p:cNvSpPr/>
          <p:nvPr/>
        </p:nvSpPr>
        <p:spPr>
          <a:xfrm>
            <a:off x="914400" y="5349240"/>
            <a:ext cx="10332720" cy="777240"/>
          </a:xfrm>
          <a:prstGeom prst="rect">
            <a:avLst/>
          </a:prstGeom>
          <a:noFill/>
          <a:ln/>
        </p:spPr>
        <p:txBody>
          <a:bodyPr wrap="square" lIns="0" tIns="0" rIns="0" bIns="0" rtlCol="0" anchor="ctr"/>
          <a:lstStyle/>
          <a:p>
            <a:pPr indent="0" marL="0">
              <a:buNone/>
            </a:pPr>
            <a:r>
              <a:rPr lang="en-US" sz="1400" dirty="0">
                <a:solidFill>
                  <a:srgbClr val="D6DAE4"/>
                </a:solidFill>
                <a:latin typeface="Calibri" pitchFamily="34" charset="0"/>
                <a:ea typeface="Calibri" pitchFamily="34" charset="-122"/>
                <a:cs typeface="Calibri" pitchFamily="34" charset="-120"/>
              </a:rPr>
              <a:t>Nothing about the tree changed. Only our belief about what governs that node changed, and the optimal action reversed.</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A THIRD NODE TYPE</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Why a chance node shows up in a model of the world</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34</a:t>
            </a:r>
            <a:endParaRPr lang="en-US" sz="900" dirty="0"/>
          </a:p>
        </p:txBody>
      </p:sp>
      <p:sp>
        <p:nvSpPr>
          <p:cNvPr id="7" name="Shape 4"/>
          <p:cNvSpPr/>
          <p:nvPr/>
        </p:nvSpPr>
        <p:spPr>
          <a:xfrm>
            <a:off x="566928" y="1481328"/>
            <a:ext cx="3493008" cy="1874520"/>
          </a:xfrm>
          <a:prstGeom prst="roundRect">
            <a:avLst>
              <a:gd name="adj" fmla="val 3415"/>
            </a:avLst>
          </a:prstGeom>
          <a:solidFill>
            <a:srgbClr val="F1F2F5"/>
          </a:solidFill>
          <a:ln w="12700">
            <a:solidFill>
              <a:srgbClr val="F1F2F5"/>
            </a:solidFill>
            <a:prstDash val="solid"/>
          </a:ln>
        </p:spPr>
      </p:sp>
      <p:sp>
        <p:nvSpPr>
          <p:cNvPr id="8" name="Shape 5"/>
          <p:cNvSpPr/>
          <p:nvPr/>
        </p:nvSpPr>
        <p:spPr>
          <a:xfrm>
            <a:off x="822960" y="1682496"/>
            <a:ext cx="457200" cy="457200"/>
          </a:xfrm>
          <a:prstGeom prst="ellipse">
            <a:avLst/>
          </a:prstGeom>
          <a:solidFill>
            <a:srgbClr val="6B4E8F"/>
          </a:solidFill>
          <a:ln w="12700">
            <a:solidFill>
              <a:srgbClr val="6B4E8F"/>
            </a:solidFill>
            <a:prstDash val="solid"/>
          </a:ln>
        </p:spPr>
      </p:sp>
      <p:sp>
        <p:nvSpPr>
          <p:cNvPr id="9" name="Text 6"/>
          <p:cNvSpPr/>
          <p:nvPr/>
        </p:nvSpPr>
        <p:spPr>
          <a:xfrm>
            <a:off x="822960" y="16824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7"/>
          <p:cNvSpPr/>
          <p:nvPr/>
        </p:nvSpPr>
        <p:spPr>
          <a:xfrm>
            <a:off x="822960" y="2240280"/>
            <a:ext cx="3017520" cy="566928"/>
          </a:xfrm>
          <a:prstGeom prst="rect">
            <a:avLst/>
          </a:prstGeom>
          <a:noFill/>
          <a:ln/>
        </p:spPr>
        <p:txBody>
          <a:bodyPr wrap="square" lIns="0" tIns="0" rIns="0" bIns="0" rtlCol="0" anchor="t"/>
          <a:lstStyle/>
          <a:p>
            <a:pPr indent="0" marL="0">
              <a:buNone/>
            </a:pPr>
            <a:r>
              <a:rPr lang="en-US" sz="1400" b="1" dirty="0">
                <a:solidFill>
                  <a:srgbClr val="1C1F2A"/>
                </a:solidFill>
                <a:latin typeface="Cambria" pitchFamily="34" charset="0"/>
                <a:ea typeface="Cambria" pitchFamily="34" charset="-122"/>
                <a:cs typeface="Cambria" pitchFamily="34" charset="-120"/>
              </a:rPr>
              <a:t>The game is stochastic by design</a:t>
            </a:r>
            <a:endParaRPr lang="en-US" sz="1400" dirty="0"/>
          </a:p>
        </p:txBody>
      </p:sp>
      <p:sp>
        <p:nvSpPr>
          <p:cNvPr id="11" name="Text 8"/>
          <p:cNvSpPr/>
          <p:nvPr/>
        </p:nvSpPr>
        <p:spPr>
          <a:xfrm>
            <a:off x="822960" y="2788920"/>
            <a:ext cx="3035808" cy="502920"/>
          </a:xfrm>
          <a:prstGeom prst="rect">
            <a:avLst/>
          </a:prstGeom>
          <a:noFill/>
          <a:ln/>
        </p:spPr>
        <p:txBody>
          <a:bodyPr wrap="square" lIns="0" tIns="0" rIns="0" bIns="0" rtlCol="0" anchor="t"/>
          <a:lstStyle/>
          <a:p>
            <a:pPr indent="0" marL="0">
              <a:buNone/>
            </a:pPr>
            <a:r>
              <a:rPr lang="en-US" sz="1200" dirty="0">
                <a:solidFill>
                  <a:srgbClr val="3A3F4C"/>
                </a:solidFill>
                <a:latin typeface="Calibri" pitchFamily="34" charset="0"/>
                <a:ea typeface="Calibri" pitchFamily="34" charset="-122"/>
                <a:cs typeface="Calibri" pitchFamily="34" charset="-120"/>
              </a:rPr>
              <a:t>Backgammon rolls dice, card games shuffle. The randomness is written into the rules and is not a modelling choice at all.</a:t>
            </a:r>
            <a:endParaRPr lang="en-US" sz="1200" dirty="0"/>
          </a:p>
        </p:txBody>
      </p:sp>
      <p:sp>
        <p:nvSpPr>
          <p:cNvPr id="12" name="Shape 9"/>
          <p:cNvSpPr/>
          <p:nvPr/>
        </p:nvSpPr>
        <p:spPr>
          <a:xfrm>
            <a:off x="4297680" y="1481328"/>
            <a:ext cx="3493008" cy="1874520"/>
          </a:xfrm>
          <a:prstGeom prst="roundRect">
            <a:avLst>
              <a:gd name="adj" fmla="val 3415"/>
            </a:avLst>
          </a:prstGeom>
          <a:solidFill>
            <a:srgbClr val="F1F2F5"/>
          </a:solidFill>
          <a:ln w="12700">
            <a:solidFill>
              <a:srgbClr val="F1F2F5"/>
            </a:solidFill>
            <a:prstDash val="solid"/>
          </a:ln>
        </p:spPr>
      </p:sp>
      <p:sp>
        <p:nvSpPr>
          <p:cNvPr id="13" name="Shape 10"/>
          <p:cNvSpPr/>
          <p:nvPr/>
        </p:nvSpPr>
        <p:spPr>
          <a:xfrm>
            <a:off x="4553712" y="1682496"/>
            <a:ext cx="457200" cy="457200"/>
          </a:xfrm>
          <a:prstGeom prst="ellipse">
            <a:avLst/>
          </a:prstGeom>
          <a:solidFill>
            <a:srgbClr val="C2410C"/>
          </a:solidFill>
          <a:ln w="12700">
            <a:solidFill>
              <a:srgbClr val="C2410C"/>
            </a:solidFill>
            <a:prstDash val="solid"/>
          </a:ln>
        </p:spPr>
      </p:sp>
      <p:sp>
        <p:nvSpPr>
          <p:cNvPr id="14" name="Text 11"/>
          <p:cNvSpPr/>
          <p:nvPr/>
        </p:nvSpPr>
        <p:spPr>
          <a:xfrm>
            <a:off x="4553712" y="16824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2"/>
          <p:cNvSpPr/>
          <p:nvPr/>
        </p:nvSpPr>
        <p:spPr>
          <a:xfrm>
            <a:off x="4553712" y="2240280"/>
            <a:ext cx="3017520" cy="566928"/>
          </a:xfrm>
          <a:prstGeom prst="rect">
            <a:avLst/>
          </a:prstGeom>
          <a:noFill/>
          <a:ln/>
        </p:spPr>
        <p:txBody>
          <a:bodyPr wrap="square" lIns="0" tIns="0" rIns="0" bIns="0" rtlCol="0" anchor="t"/>
          <a:lstStyle/>
          <a:p>
            <a:pPr indent="0" marL="0">
              <a:buNone/>
            </a:pPr>
            <a:r>
              <a:rPr lang="en-US" sz="1400" b="1" dirty="0">
                <a:solidFill>
                  <a:srgbClr val="1C1F2A"/>
                </a:solidFill>
                <a:latin typeface="Cambria" pitchFamily="34" charset="0"/>
                <a:ea typeface="Cambria" pitchFamily="34" charset="-122"/>
                <a:cs typeface="Cambria" pitchFamily="34" charset="-120"/>
              </a:rPr>
              <a:t>The opponent is unpredictable</a:t>
            </a:r>
            <a:endParaRPr lang="en-US" sz="1400" dirty="0"/>
          </a:p>
        </p:txBody>
      </p:sp>
      <p:sp>
        <p:nvSpPr>
          <p:cNvPr id="16" name="Text 13"/>
          <p:cNvSpPr/>
          <p:nvPr/>
        </p:nvSpPr>
        <p:spPr>
          <a:xfrm>
            <a:off x="4553712" y="2788920"/>
            <a:ext cx="3035808" cy="502920"/>
          </a:xfrm>
          <a:prstGeom prst="rect">
            <a:avLst/>
          </a:prstGeom>
          <a:noFill/>
          <a:ln/>
        </p:spPr>
        <p:txBody>
          <a:bodyPr wrap="square" lIns="0" tIns="0" rIns="0" bIns="0" rtlCol="0" anchor="t"/>
          <a:lstStyle/>
          <a:p>
            <a:pPr indent="0" marL="0">
              <a:buNone/>
            </a:pPr>
            <a:r>
              <a:rPr lang="en-US" sz="1200" dirty="0">
                <a:solidFill>
                  <a:srgbClr val="3A3F4C"/>
                </a:solidFill>
                <a:latin typeface="Calibri" pitchFamily="34" charset="0"/>
                <a:ea typeface="Calibri" pitchFamily="34" charset="-122"/>
                <a:cs typeface="Calibri" pitchFamily="34" charset="-120"/>
              </a:rPr>
              <a:t>The other agent is not literally random, but a distribution over its moves may model it better than assuming perfect adversarial play.</a:t>
            </a:r>
            <a:endParaRPr lang="en-US" sz="1200" dirty="0"/>
          </a:p>
        </p:txBody>
      </p:sp>
      <p:sp>
        <p:nvSpPr>
          <p:cNvPr id="17" name="Shape 14"/>
          <p:cNvSpPr/>
          <p:nvPr/>
        </p:nvSpPr>
        <p:spPr>
          <a:xfrm>
            <a:off x="8028432" y="1481328"/>
            <a:ext cx="3493008" cy="1874520"/>
          </a:xfrm>
          <a:prstGeom prst="roundRect">
            <a:avLst>
              <a:gd name="adj" fmla="val 3415"/>
            </a:avLst>
          </a:prstGeom>
          <a:solidFill>
            <a:srgbClr val="F1F2F5"/>
          </a:solidFill>
          <a:ln w="12700">
            <a:solidFill>
              <a:srgbClr val="F1F2F5"/>
            </a:solidFill>
            <a:prstDash val="solid"/>
          </a:ln>
        </p:spPr>
      </p:sp>
      <p:sp>
        <p:nvSpPr>
          <p:cNvPr id="18" name="Shape 15"/>
          <p:cNvSpPr/>
          <p:nvPr/>
        </p:nvSpPr>
        <p:spPr>
          <a:xfrm>
            <a:off x="8284464" y="1682496"/>
            <a:ext cx="457200" cy="457200"/>
          </a:xfrm>
          <a:prstGeom prst="ellipse">
            <a:avLst/>
          </a:prstGeom>
          <a:solidFill>
            <a:srgbClr val="1D4E63"/>
          </a:solidFill>
          <a:ln w="12700">
            <a:solidFill>
              <a:srgbClr val="1D4E63"/>
            </a:solidFill>
            <a:prstDash val="solid"/>
          </a:ln>
        </p:spPr>
      </p:sp>
      <p:sp>
        <p:nvSpPr>
          <p:cNvPr id="19" name="Text 16"/>
          <p:cNvSpPr/>
          <p:nvPr/>
        </p:nvSpPr>
        <p:spPr>
          <a:xfrm>
            <a:off x="8284464" y="16824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0" name="Text 17"/>
          <p:cNvSpPr/>
          <p:nvPr/>
        </p:nvSpPr>
        <p:spPr>
          <a:xfrm>
            <a:off x="8284464" y="2240280"/>
            <a:ext cx="3017520" cy="566928"/>
          </a:xfrm>
          <a:prstGeom prst="rect">
            <a:avLst/>
          </a:prstGeom>
          <a:noFill/>
          <a:ln/>
        </p:spPr>
        <p:txBody>
          <a:bodyPr wrap="square" lIns="0" tIns="0" rIns="0" bIns="0" rtlCol="0" anchor="t"/>
          <a:lstStyle/>
          <a:p>
            <a:pPr indent="0" marL="0">
              <a:buNone/>
            </a:pPr>
            <a:r>
              <a:rPr lang="en-US" sz="1400" b="1" dirty="0">
                <a:solidFill>
                  <a:srgbClr val="1C1F2A"/>
                </a:solidFill>
                <a:latin typeface="Cambria" pitchFamily="34" charset="0"/>
                <a:ea typeface="Cambria" pitchFamily="34" charset="-122"/>
                <a:cs typeface="Cambria" pitchFamily="34" charset="-120"/>
              </a:rPr>
              <a:t>Actions do not execute cleanly</a:t>
            </a:r>
            <a:endParaRPr lang="en-US" sz="1400" dirty="0"/>
          </a:p>
        </p:txBody>
      </p:sp>
      <p:sp>
        <p:nvSpPr>
          <p:cNvPr id="21" name="Text 18"/>
          <p:cNvSpPr/>
          <p:nvPr/>
        </p:nvSpPr>
        <p:spPr>
          <a:xfrm>
            <a:off x="8284464" y="2788920"/>
            <a:ext cx="3035808" cy="502920"/>
          </a:xfrm>
          <a:prstGeom prst="rect">
            <a:avLst/>
          </a:prstGeom>
          <a:noFill/>
          <a:ln/>
        </p:spPr>
        <p:txBody>
          <a:bodyPr wrap="square" lIns="0" tIns="0" rIns="0" bIns="0" rtlCol="0" anchor="t"/>
          <a:lstStyle/>
          <a:p>
            <a:pPr indent="0" marL="0">
              <a:buNone/>
            </a:pPr>
            <a:r>
              <a:rPr lang="en-US" sz="1200" dirty="0">
                <a:solidFill>
                  <a:srgbClr val="3A3F4C"/>
                </a:solidFill>
                <a:latin typeface="Calibri" pitchFamily="34" charset="0"/>
                <a:ea typeface="Calibri" pitchFamily="34" charset="-122"/>
                <a:cs typeface="Calibri" pitchFamily="34" charset="-120"/>
              </a:rPr>
              <a:t>A robot commands a turn and its wheels slip. The intended action does not reliably produce the intended result.</a:t>
            </a:r>
            <a:endParaRPr lang="en-US" sz="1200" dirty="0"/>
          </a:p>
        </p:txBody>
      </p:sp>
      <p:sp>
        <p:nvSpPr>
          <p:cNvPr id="22" name="Shape 19"/>
          <p:cNvSpPr/>
          <p:nvPr/>
        </p:nvSpPr>
        <p:spPr>
          <a:xfrm>
            <a:off x="566928" y="3520440"/>
            <a:ext cx="11064240" cy="1874520"/>
          </a:xfrm>
          <a:prstGeom prst="roundRect">
            <a:avLst>
              <a:gd name="adj" fmla="val 3415"/>
            </a:avLst>
          </a:prstGeom>
          <a:solidFill>
            <a:srgbClr val="1C1F2A"/>
          </a:solidFill>
          <a:ln w="12700">
            <a:solidFill>
              <a:srgbClr val="1C1F2A"/>
            </a:solidFill>
            <a:prstDash val="solid"/>
          </a:ln>
        </p:spPr>
      </p:sp>
      <p:sp>
        <p:nvSpPr>
          <p:cNvPr id="23" name="Text 20"/>
          <p:cNvSpPr/>
          <p:nvPr/>
        </p:nvSpPr>
        <p:spPr>
          <a:xfrm>
            <a:off x="914400" y="3675888"/>
            <a:ext cx="3657600" cy="329184"/>
          </a:xfrm>
          <a:prstGeom prst="rect">
            <a:avLst/>
          </a:prstGeom>
          <a:noFill/>
          <a:ln/>
        </p:spPr>
        <p:txBody>
          <a:bodyPr wrap="square" lIns="0" tIns="0" rIns="0" bIns="0" rtlCol="0" anchor="ctr"/>
          <a:lstStyle/>
          <a:p>
            <a:pPr indent="0" marL="0">
              <a:buNone/>
            </a:pPr>
            <a:r>
              <a:rPr lang="en-US" sz="1500" b="1" dirty="0">
                <a:solidFill>
                  <a:srgbClr val="B58500"/>
                </a:solidFill>
                <a:latin typeface="Cambria" pitchFamily="34" charset="0"/>
                <a:ea typeface="Cambria" pitchFamily="34" charset="-122"/>
                <a:cs typeface="Cambria" pitchFamily="34" charset="-120"/>
              </a:rPr>
              <a:t>EXPECTIMAX value</a:t>
            </a:r>
            <a:endParaRPr lang="en-US" sz="1500" dirty="0"/>
          </a:p>
        </p:txBody>
      </p:sp>
      <p:sp>
        <p:nvSpPr>
          <p:cNvPr id="24" name="Text 21"/>
          <p:cNvSpPr/>
          <p:nvPr/>
        </p:nvSpPr>
        <p:spPr>
          <a:xfrm>
            <a:off x="914400" y="4069080"/>
            <a:ext cx="109728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V(s)  =</a:t>
            </a:r>
            <a:endParaRPr lang="en-US" sz="1600" dirty="0"/>
          </a:p>
        </p:txBody>
      </p:sp>
      <p:sp>
        <p:nvSpPr>
          <p:cNvPr id="25" name="Text 22"/>
          <p:cNvSpPr/>
          <p:nvPr/>
        </p:nvSpPr>
        <p:spPr>
          <a:xfrm>
            <a:off x="2103120" y="4041648"/>
            <a:ext cx="5669280" cy="384048"/>
          </a:xfrm>
          <a:prstGeom prst="rect">
            <a:avLst/>
          </a:prstGeom>
          <a:noFill/>
          <a:ln/>
        </p:spPr>
        <p:txBody>
          <a:bodyPr wrap="square" lIns="0" tIns="0" rIns="0" bIns="0" rtlCol="0" anchor="ctr"/>
          <a:lstStyle/>
          <a:p>
            <a:pPr indent="0" marL="0">
              <a:buNone/>
            </a:pPr>
            <a:r>
              <a:rPr lang="en-US" sz="1350" dirty="0">
                <a:solidFill>
                  <a:srgbClr val="E6E9F0"/>
                </a:solidFill>
                <a:latin typeface="Calibri" pitchFamily="34" charset="0"/>
                <a:ea typeface="Calibri" pitchFamily="34" charset="-122"/>
                <a:cs typeface="Calibri" pitchFamily="34" charset="-120"/>
              </a:rPr>
              <a:t>U(s)</a:t>
            </a:r>
            <a:endParaRPr lang="en-US" sz="1350" dirty="0"/>
          </a:p>
        </p:txBody>
      </p:sp>
      <p:sp>
        <p:nvSpPr>
          <p:cNvPr id="26" name="Text 23"/>
          <p:cNvSpPr/>
          <p:nvPr/>
        </p:nvSpPr>
        <p:spPr>
          <a:xfrm>
            <a:off x="7955280" y="4041648"/>
            <a:ext cx="3291840" cy="384048"/>
          </a:xfrm>
          <a:prstGeom prst="rect">
            <a:avLst/>
          </a:prstGeom>
          <a:noFill/>
          <a:ln/>
        </p:spPr>
        <p:txBody>
          <a:bodyPr wrap="square" lIns="0" tIns="0" rIns="0" bIns="0" rtlCol="0" anchor="ctr"/>
          <a:lstStyle/>
          <a:p>
            <a:pPr indent="0" marL="0">
              <a:buNone/>
            </a:pPr>
            <a:r>
              <a:rPr lang="en-US" sz="1200" i="1" dirty="0">
                <a:solidFill>
                  <a:srgbClr val="9AA2B4"/>
                </a:solidFill>
                <a:latin typeface="Calibri" pitchFamily="34" charset="0"/>
                <a:ea typeface="Calibri" pitchFamily="34" charset="-122"/>
                <a:cs typeface="Calibri" pitchFamily="34" charset="-120"/>
              </a:rPr>
              <a:t>if s is terminal</a:t>
            </a:r>
            <a:endParaRPr lang="en-US" sz="1200" dirty="0"/>
          </a:p>
        </p:txBody>
      </p:sp>
      <p:sp>
        <p:nvSpPr>
          <p:cNvPr id="27" name="Text 24"/>
          <p:cNvSpPr/>
          <p:nvPr/>
        </p:nvSpPr>
        <p:spPr>
          <a:xfrm>
            <a:off x="2103120" y="4480560"/>
            <a:ext cx="5669280" cy="384048"/>
          </a:xfrm>
          <a:prstGeom prst="rect">
            <a:avLst/>
          </a:prstGeom>
          <a:noFill/>
          <a:ln/>
        </p:spPr>
        <p:txBody>
          <a:bodyPr wrap="square" lIns="0" tIns="0" rIns="0" bIns="0" rtlCol="0" anchor="ctr"/>
          <a:lstStyle/>
          <a:p>
            <a:pPr indent="0" marL="0">
              <a:buNone/>
            </a:pPr>
            <a:r>
              <a:rPr lang="en-US" sz="1350" dirty="0">
                <a:solidFill>
                  <a:srgbClr val="E6E9F0"/>
                </a:solidFill>
                <a:latin typeface="Calibri" pitchFamily="34" charset="0"/>
                <a:ea typeface="Calibri" pitchFamily="34" charset="-122"/>
                <a:cs typeface="Calibri" pitchFamily="34" charset="-120"/>
              </a:rPr>
              <a:t>max over a in A(s) of  V(RESULT(s, a))</a:t>
            </a:r>
            <a:endParaRPr lang="en-US" sz="1350" dirty="0"/>
          </a:p>
        </p:txBody>
      </p:sp>
      <p:sp>
        <p:nvSpPr>
          <p:cNvPr id="28" name="Text 25"/>
          <p:cNvSpPr/>
          <p:nvPr/>
        </p:nvSpPr>
        <p:spPr>
          <a:xfrm>
            <a:off x="7955280" y="4480560"/>
            <a:ext cx="3291840" cy="384048"/>
          </a:xfrm>
          <a:prstGeom prst="rect">
            <a:avLst/>
          </a:prstGeom>
          <a:noFill/>
          <a:ln/>
        </p:spPr>
        <p:txBody>
          <a:bodyPr wrap="square" lIns="0" tIns="0" rIns="0" bIns="0" rtlCol="0" anchor="ctr"/>
          <a:lstStyle/>
          <a:p>
            <a:pPr indent="0" marL="0">
              <a:buNone/>
            </a:pPr>
            <a:r>
              <a:rPr lang="en-US" sz="1200" i="1" dirty="0">
                <a:solidFill>
                  <a:srgbClr val="F0A177"/>
                </a:solidFill>
                <a:latin typeface="Calibri" pitchFamily="34" charset="0"/>
                <a:ea typeface="Calibri" pitchFamily="34" charset="-122"/>
                <a:cs typeface="Calibri" pitchFamily="34" charset="-120"/>
              </a:rPr>
              <a:t>if MAX moves</a:t>
            </a:r>
            <a:endParaRPr lang="en-US" sz="1200" dirty="0"/>
          </a:p>
        </p:txBody>
      </p:sp>
      <p:sp>
        <p:nvSpPr>
          <p:cNvPr id="29" name="Text 26"/>
          <p:cNvSpPr/>
          <p:nvPr/>
        </p:nvSpPr>
        <p:spPr>
          <a:xfrm>
            <a:off x="2103120" y="4919472"/>
            <a:ext cx="5669280" cy="384048"/>
          </a:xfrm>
          <a:prstGeom prst="rect">
            <a:avLst/>
          </a:prstGeom>
          <a:noFill/>
          <a:ln/>
        </p:spPr>
        <p:txBody>
          <a:bodyPr wrap="square" lIns="0" tIns="0" rIns="0" bIns="0" rtlCol="0" anchor="ctr"/>
          <a:lstStyle/>
          <a:p>
            <a:pPr indent="0" marL="0">
              <a:buNone/>
            </a:pPr>
            <a:r>
              <a:rPr lang="en-US" sz="1350" dirty="0">
                <a:solidFill>
                  <a:srgbClr val="E6E9F0"/>
                </a:solidFill>
                <a:latin typeface="Calibri" pitchFamily="34" charset="0"/>
                <a:ea typeface="Calibri" pitchFamily="34" charset="-122"/>
                <a:cs typeface="Calibri" pitchFamily="34" charset="-120"/>
              </a:rPr>
              <a:t>∑ over a in A(s) of  P(a) × V(RESULT(s, a))</a:t>
            </a:r>
            <a:endParaRPr lang="en-US" sz="1350" dirty="0"/>
          </a:p>
        </p:txBody>
      </p:sp>
      <p:sp>
        <p:nvSpPr>
          <p:cNvPr id="30" name="Text 27"/>
          <p:cNvSpPr/>
          <p:nvPr/>
        </p:nvSpPr>
        <p:spPr>
          <a:xfrm>
            <a:off x="7955280" y="4919472"/>
            <a:ext cx="3291840" cy="384048"/>
          </a:xfrm>
          <a:prstGeom prst="rect">
            <a:avLst/>
          </a:prstGeom>
          <a:noFill/>
          <a:ln/>
        </p:spPr>
        <p:txBody>
          <a:bodyPr wrap="square" lIns="0" tIns="0" rIns="0" bIns="0" rtlCol="0" anchor="ctr"/>
          <a:lstStyle/>
          <a:p>
            <a:pPr indent="0" marL="0">
              <a:buNone/>
            </a:pPr>
            <a:r>
              <a:rPr lang="en-US" sz="1200" i="1" dirty="0">
                <a:solidFill>
                  <a:srgbClr val="B79BD9"/>
                </a:solidFill>
                <a:latin typeface="Calibri" pitchFamily="34" charset="0"/>
                <a:ea typeface="Calibri" pitchFamily="34" charset="-122"/>
                <a:cs typeface="Calibri" pitchFamily="34" charset="-120"/>
              </a:rPr>
              <a:t>if s is a chance node</a:t>
            </a:r>
            <a:endParaRPr lang="en-US" sz="1200" dirty="0"/>
          </a:p>
        </p:txBody>
      </p:sp>
      <p:sp>
        <p:nvSpPr>
          <p:cNvPr id="31" name="Text 28"/>
          <p:cNvSpPr/>
          <p:nvPr/>
        </p:nvSpPr>
        <p:spPr>
          <a:xfrm>
            <a:off x="566928" y="5532120"/>
            <a:ext cx="11064240" cy="685800"/>
          </a:xfrm>
          <a:prstGeom prst="rect">
            <a:avLst/>
          </a:prstGeom>
          <a:noFill/>
          <a:ln/>
        </p:spPr>
        <p:txBody>
          <a:bodyPr wrap="square" lIns="0" tIns="0" rIns="0" bIns="0" rtlCol="0" anchor="t"/>
          <a:lstStyle/>
          <a:p>
            <a:pPr indent="0" marL="0">
              <a:buNone/>
            </a:pPr>
            <a:r>
              <a:rPr lang="en-US" sz="1280" i="1" dirty="0">
                <a:solidFill>
                  <a:srgbClr val="8A8F9C"/>
                </a:solidFill>
                <a:latin typeface="Calibri" pitchFamily="34" charset="0"/>
                <a:ea typeface="Calibri" pitchFamily="34" charset="-122"/>
                <a:cs typeface="Calibri" pitchFamily="34" charset="-120"/>
              </a:rPr>
              <a:t>MAX nodes behave exactly as in minimax. The MIN operator is replaced by a probability-weighted average. The resulting value, 54.5 earlier, need never occur in any single play of the game.</a:t>
            </a:r>
            <a:endParaRPr lang="en-US" sz="128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EXPECTIMAX IN CODE AND BY HAND</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One new case in the dispatch, one new rule for averaging</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35</a:t>
            </a:r>
            <a:endParaRPr lang="en-US" sz="900" dirty="0"/>
          </a:p>
        </p:txBody>
      </p:sp>
      <p:sp>
        <p:nvSpPr>
          <p:cNvPr id="7" name="Shape 4"/>
          <p:cNvSpPr/>
          <p:nvPr/>
        </p:nvSpPr>
        <p:spPr>
          <a:xfrm>
            <a:off x="566928" y="1463040"/>
            <a:ext cx="5577840" cy="3200400"/>
          </a:xfrm>
          <a:prstGeom prst="roundRect">
            <a:avLst>
              <a:gd name="adj" fmla="val 2000"/>
            </a:avLst>
          </a:prstGeom>
          <a:solidFill>
            <a:srgbClr val="2A2F3E"/>
          </a:solidFill>
          <a:ln w="12700">
            <a:solidFill>
              <a:srgbClr val="2A2F3E"/>
            </a:solidFill>
            <a:prstDash val="solid"/>
          </a:ln>
        </p:spPr>
      </p:sp>
      <p:sp>
        <p:nvSpPr>
          <p:cNvPr id="8" name="Text 5"/>
          <p:cNvSpPr/>
          <p:nvPr/>
        </p:nvSpPr>
        <p:spPr>
          <a:xfrm>
            <a:off x="841248" y="1664208"/>
            <a:ext cx="5074920" cy="2798064"/>
          </a:xfrm>
          <a:prstGeom prst="rect">
            <a:avLst/>
          </a:prstGeom>
          <a:noFill/>
          <a:ln/>
        </p:spPr>
        <p:txBody>
          <a:bodyPr wrap="square" lIns="0" tIns="0" rIns="0" bIns="0" rtlCol="0" anchor="t"/>
          <a:lstStyle/>
          <a:p>
            <a:pPr indent="0" marL="0">
              <a:lnSpc>
                <a:spcPts val="1450"/>
              </a:lnSpc>
              <a:buNone/>
            </a:pPr>
            <a:r>
              <a:rPr lang="en-US" sz="1100" dirty="0">
                <a:solidFill>
                  <a:srgbClr val="E6E9F0"/>
                </a:solidFill>
                <a:latin typeface="Courier New" pitchFamily="34" charset="0"/>
                <a:ea typeface="Courier New" pitchFamily="34" charset="-122"/>
                <a:cs typeface="Courier New" pitchFamily="34" charset="-120"/>
              </a:rPr>
              <a:t>VALUE(state):</a:t>
            </a:r>
            <a:endParaRPr lang="en-US" sz="1100" dirty="0"/>
          </a:p>
          <a:p>
            <a:pPr indent="0" marL="0">
              <a:lnSpc>
                <a:spcPts val="1450"/>
              </a:lnSpc>
              <a:buNone/>
            </a:pPr>
            <a:r>
              <a:rPr lang="en-US" sz="1100" dirty="0">
                <a:solidFill>
                  <a:srgbClr val="E6E9F0"/>
                </a:solidFill>
                <a:latin typeface="Courier New" pitchFamily="34" charset="0"/>
                <a:ea typeface="Courier New" pitchFamily="34" charset="-122"/>
                <a:cs typeface="Courier New" pitchFamily="34" charset="-120"/>
              </a:rPr>
              <a:t>    if TERMINAL(state):</a:t>
            </a:r>
            <a:endParaRPr lang="en-US" sz="1100" dirty="0"/>
          </a:p>
          <a:p>
            <a:pPr indent="0" marL="0">
              <a:lnSpc>
                <a:spcPts val="1450"/>
              </a:lnSpc>
              <a:buNone/>
            </a:pPr>
            <a:r>
              <a:rPr lang="en-US" sz="1100" dirty="0">
                <a:solidFill>
                  <a:srgbClr val="E6E9F0"/>
                </a:solidFill>
                <a:latin typeface="Courier New" pitchFamily="34" charset="0"/>
                <a:ea typeface="Courier New" pitchFamily="34" charset="-122"/>
                <a:cs typeface="Courier New" pitchFamily="34" charset="-120"/>
              </a:rPr>
              <a:t>        return UTILITY(state)</a:t>
            </a:r>
            <a:endParaRPr lang="en-US" sz="1100" dirty="0"/>
          </a:p>
          <a:p>
            <a:pPr indent="0" marL="0">
              <a:lnSpc>
                <a:spcPts val="1450"/>
              </a:lnSpc>
              <a:buNone/>
            </a:pPr>
            <a:r>
              <a:rPr lang="en-US" sz="1100" dirty="0">
                <a:solidFill>
                  <a:srgbClr val="E6E9F0"/>
                </a:solidFill>
                <a:latin typeface="Courier New" pitchFamily="34" charset="0"/>
                <a:ea typeface="Courier New" pitchFamily="34" charset="-122"/>
                <a:cs typeface="Courier New" pitchFamily="34" charset="-120"/>
              </a:rPr>
              <a:t>    if state is a MAX node:</a:t>
            </a:r>
            <a:endParaRPr lang="en-US" sz="1100" dirty="0"/>
          </a:p>
          <a:p>
            <a:pPr indent="0" marL="0">
              <a:lnSpc>
                <a:spcPts val="1450"/>
              </a:lnSpc>
              <a:buNone/>
            </a:pPr>
            <a:r>
              <a:rPr lang="en-US" sz="1100" dirty="0">
                <a:solidFill>
                  <a:srgbClr val="E6E9F0"/>
                </a:solidFill>
                <a:latin typeface="Courier New" pitchFamily="34" charset="0"/>
                <a:ea typeface="Courier New" pitchFamily="34" charset="-122"/>
                <a:cs typeface="Courier New" pitchFamily="34" charset="-120"/>
              </a:rPr>
              <a:t>        return MAX-VALUE(state)</a:t>
            </a:r>
            <a:endParaRPr lang="en-US" sz="1100" dirty="0"/>
          </a:p>
          <a:p>
            <a:pPr indent="0" marL="0">
              <a:lnSpc>
                <a:spcPts val="1450"/>
              </a:lnSpc>
              <a:buNone/>
            </a:pPr>
            <a:r>
              <a:rPr lang="en-US" sz="1100" dirty="0">
                <a:solidFill>
                  <a:srgbClr val="E6E9F0"/>
                </a:solidFill>
                <a:latin typeface="Courier New" pitchFamily="34" charset="0"/>
                <a:ea typeface="Courier New" pitchFamily="34" charset="-122"/>
                <a:cs typeface="Courier New" pitchFamily="34" charset="-120"/>
              </a:rPr>
              <a:t>    if state is a chance node:</a:t>
            </a:r>
            <a:endParaRPr lang="en-US" sz="1100" dirty="0"/>
          </a:p>
          <a:p>
            <a:pPr indent="0" marL="0">
              <a:lnSpc>
                <a:spcPts val="1450"/>
              </a:lnSpc>
              <a:buNone/>
            </a:pPr>
            <a:r>
              <a:rPr lang="en-US" sz="1100" dirty="0">
                <a:solidFill>
                  <a:srgbClr val="E6E9F0"/>
                </a:solidFill>
                <a:latin typeface="Courier New" pitchFamily="34" charset="0"/>
                <a:ea typeface="Courier New" pitchFamily="34" charset="-122"/>
                <a:cs typeface="Courier New" pitchFamily="34" charset="-120"/>
              </a:rPr>
              <a:t>        return EXP-VALUE(state)</a:t>
            </a:r>
            <a:endParaRPr lang="en-US" sz="1100" dirty="0"/>
          </a:p>
          <a:p>
            <a:pPr indent="0" marL="0">
              <a:lnSpc>
                <a:spcPts val="1450"/>
              </a:lnSpc>
              <a:buNone/>
            </a:pPr>
            <a:endParaRPr lang="en-US" sz="1100" dirty="0"/>
          </a:p>
          <a:p>
            <a:pPr indent="0" marL="0">
              <a:lnSpc>
                <a:spcPts val="1450"/>
              </a:lnSpc>
              <a:buNone/>
            </a:pPr>
            <a:r>
              <a:rPr lang="en-US" sz="1100" dirty="0">
                <a:solidFill>
                  <a:srgbClr val="E6E9F0"/>
                </a:solidFill>
                <a:latin typeface="Courier New" pitchFamily="34" charset="0"/>
                <a:ea typeface="Courier New" pitchFamily="34" charset="-122"/>
                <a:cs typeface="Courier New" pitchFamily="34" charset="-120"/>
              </a:rPr>
              <a:t>MAX-VALUE(state):</a:t>
            </a:r>
            <a:endParaRPr lang="en-US" sz="1100" dirty="0"/>
          </a:p>
          <a:p>
            <a:pPr indent="0" marL="0">
              <a:lnSpc>
                <a:spcPts val="1450"/>
              </a:lnSpc>
              <a:buNone/>
            </a:pPr>
            <a:r>
              <a:rPr lang="en-US" sz="1100" dirty="0">
                <a:solidFill>
                  <a:srgbClr val="E6E9F0"/>
                </a:solidFill>
                <a:latin typeface="Courier New" pitchFamily="34" charset="0"/>
                <a:ea typeface="Courier New" pitchFamily="34" charset="-122"/>
                <a:cs typeface="Courier New" pitchFamily="34" charset="-120"/>
              </a:rPr>
              <a:t>    value = -infinity</a:t>
            </a:r>
            <a:endParaRPr lang="en-US" sz="1100" dirty="0"/>
          </a:p>
          <a:p>
            <a:pPr indent="0" marL="0">
              <a:lnSpc>
                <a:spcPts val="1450"/>
              </a:lnSpc>
              <a:buNone/>
            </a:pPr>
            <a:r>
              <a:rPr lang="en-US" sz="1100" dirty="0">
                <a:solidFill>
                  <a:srgbClr val="E6E9F0"/>
                </a:solidFill>
                <a:latin typeface="Courier New" pitchFamily="34" charset="0"/>
                <a:ea typeface="Courier New" pitchFamily="34" charset="-122"/>
                <a:cs typeface="Courier New" pitchFamily="34" charset="-120"/>
              </a:rPr>
              <a:t>    for action in ACTIONS(state):</a:t>
            </a:r>
            <a:endParaRPr lang="en-US" sz="1100" dirty="0"/>
          </a:p>
          <a:p>
            <a:pPr indent="0" marL="0">
              <a:lnSpc>
                <a:spcPts val="1450"/>
              </a:lnSpc>
              <a:buNone/>
            </a:pPr>
            <a:r>
              <a:rPr lang="en-US" sz="1100" dirty="0">
                <a:solidFill>
                  <a:srgbClr val="E6E9F0"/>
                </a:solidFill>
                <a:latin typeface="Courier New" pitchFamily="34" charset="0"/>
                <a:ea typeface="Courier New" pitchFamily="34" charset="-122"/>
                <a:cs typeface="Courier New" pitchFamily="34" charset="-120"/>
              </a:rPr>
              <a:t>        value = max(value,</a:t>
            </a:r>
            <a:endParaRPr lang="en-US" sz="1100" dirty="0"/>
          </a:p>
          <a:p>
            <a:pPr indent="0" marL="0">
              <a:lnSpc>
                <a:spcPts val="1450"/>
              </a:lnSpc>
              <a:buNone/>
            </a:pPr>
            <a:r>
              <a:rPr lang="en-US" sz="1100" dirty="0">
                <a:solidFill>
                  <a:srgbClr val="E6E9F0"/>
                </a:solidFill>
                <a:latin typeface="Courier New" pitchFamily="34" charset="0"/>
                <a:ea typeface="Courier New" pitchFamily="34" charset="-122"/>
                <a:cs typeface="Courier New" pitchFamily="34" charset="-120"/>
              </a:rPr>
              <a:t>                    VALUE(RESULT(state, action)))</a:t>
            </a:r>
            <a:endParaRPr lang="en-US" sz="1100" dirty="0"/>
          </a:p>
          <a:p>
            <a:pPr indent="0" marL="0">
              <a:lnSpc>
                <a:spcPts val="1450"/>
              </a:lnSpc>
              <a:buNone/>
            </a:pPr>
            <a:r>
              <a:rPr lang="en-US" sz="1100" dirty="0">
                <a:solidFill>
                  <a:srgbClr val="E6E9F0"/>
                </a:solidFill>
                <a:latin typeface="Courier New" pitchFamily="34" charset="0"/>
                <a:ea typeface="Courier New" pitchFamily="34" charset="-122"/>
                <a:cs typeface="Courier New" pitchFamily="34" charset="-120"/>
              </a:rPr>
              <a:t>    return value</a:t>
            </a:r>
            <a:endParaRPr lang="en-US" sz="1100" dirty="0"/>
          </a:p>
          <a:p>
            <a:pPr indent="0" marL="0">
              <a:lnSpc>
                <a:spcPts val="1450"/>
              </a:lnSpc>
              <a:buNone/>
            </a:pPr>
            <a:endParaRPr lang="en-US" sz="1100" dirty="0"/>
          </a:p>
          <a:p>
            <a:pPr indent="0" marL="0">
              <a:lnSpc>
                <a:spcPts val="1450"/>
              </a:lnSpc>
              <a:buNone/>
            </a:pPr>
            <a:r>
              <a:rPr lang="en-US" sz="1100" dirty="0">
                <a:solidFill>
                  <a:srgbClr val="E6E9F0"/>
                </a:solidFill>
                <a:latin typeface="Courier New" pitchFamily="34" charset="0"/>
                <a:ea typeface="Courier New" pitchFamily="34" charset="-122"/>
                <a:cs typeface="Courier New" pitchFamily="34" charset="-120"/>
              </a:rPr>
              <a:t>EXP-VALUE(state):</a:t>
            </a:r>
            <a:endParaRPr lang="en-US" sz="1100" dirty="0"/>
          </a:p>
          <a:p>
            <a:pPr indent="0" marL="0">
              <a:lnSpc>
                <a:spcPts val="1450"/>
              </a:lnSpc>
              <a:buNone/>
            </a:pPr>
            <a:r>
              <a:rPr lang="en-US" sz="1100" dirty="0">
                <a:solidFill>
                  <a:srgbClr val="E6E9F0"/>
                </a:solidFill>
                <a:latin typeface="Courier New" pitchFamily="34" charset="0"/>
                <a:ea typeface="Courier New" pitchFamily="34" charset="-122"/>
                <a:cs typeface="Courier New" pitchFamily="34" charset="-120"/>
              </a:rPr>
              <a:t>    value = 0</a:t>
            </a:r>
            <a:endParaRPr lang="en-US" sz="1100" dirty="0"/>
          </a:p>
          <a:p>
            <a:pPr indent="0" marL="0">
              <a:lnSpc>
                <a:spcPts val="1450"/>
              </a:lnSpc>
              <a:buNone/>
            </a:pPr>
            <a:r>
              <a:rPr lang="en-US" sz="1100" dirty="0">
                <a:solidFill>
                  <a:srgbClr val="E6E9F0"/>
                </a:solidFill>
                <a:latin typeface="Courier New" pitchFamily="34" charset="0"/>
                <a:ea typeface="Courier New" pitchFamily="34" charset="-122"/>
                <a:cs typeface="Courier New" pitchFamily="34" charset="-120"/>
              </a:rPr>
              <a:t>    for action in ACTIONS(state):</a:t>
            </a:r>
            <a:endParaRPr lang="en-US" sz="1100" dirty="0"/>
          </a:p>
          <a:p>
            <a:pPr indent="0" marL="0">
              <a:lnSpc>
                <a:spcPts val="1450"/>
              </a:lnSpc>
              <a:buNone/>
            </a:pPr>
            <a:r>
              <a:rPr lang="en-US" sz="1100" dirty="0">
                <a:solidFill>
                  <a:srgbClr val="E6E9F0"/>
                </a:solidFill>
                <a:latin typeface="Courier New" pitchFamily="34" charset="0"/>
                <a:ea typeface="Courier New" pitchFamily="34" charset="-122"/>
                <a:cs typeface="Courier New" pitchFamily="34" charset="-120"/>
              </a:rPr>
              <a:t>        p = PROBABILITY(action)</a:t>
            </a:r>
            <a:endParaRPr lang="en-US" sz="1100" dirty="0"/>
          </a:p>
          <a:p>
            <a:pPr indent="0" marL="0">
              <a:lnSpc>
                <a:spcPts val="1450"/>
              </a:lnSpc>
              <a:buNone/>
            </a:pPr>
            <a:r>
              <a:rPr lang="en-US" sz="1100" dirty="0">
                <a:solidFill>
                  <a:srgbClr val="E6E9F0"/>
                </a:solidFill>
                <a:latin typeface="Courier New" pitchFamily="34" charset="0"/>
                <a:ea typeface="Courier New" pitchFamily="34" charset="-122"/>
                <a:cs typeface="Courier New" pitchFamily="34" charset="-120"/>
              </a:rPr>
              <a:t>        value += p * VALUE(RESULT(state, action))</a:t>
            </a:r>
            <a:endParaRPr lang="en-US" sz="1100" dirty="0"/>
          </a:p>
          <a:p>
            <a:pPr indent="0" marL="0">
              <a:lnSpc>
                <a:spcPts val="1450"/>
              </a:lnSpc>
              <a:buNone/>
            </a:pPr>
            <a:r>
              <a:rPr lang="en-US" sz="1100" dirty="0">
                <a:solidFill>
                  <a:srgbClr val="E6E9F0"/>
                </a:solidFill>
                <a:latin typeface="Courier New" pitchFamily="34" charset="0"/>
                <a:ea typeface="Courier New" pitchFamily="34" charset="-122"/>
                <a:cs typeface="Courier New" pitchFamily="34" charset="-120"/>
              </a:rPr>
              <a:t>    return value</a:t>
            </a:r>
            <a:endParaRPr lang="en-US" sz="1100" dirty="0"/>
          </a:p>
        </p:txBody>
      </p:sp>
      <p:sp>
        <p:nvSpPr>
          <p:cNvPr id="9" name="Shape 6"/>
          <p:cNvSpPr/>
          <p:nvPr/>
        </p:nvSpPr>
        <p:spPr>
          <a:xfrm>
            <a:off x="6446520" y="1463040"/>
            <a:ext cx="5184648" cy="1508760"/>
          </a:xfrm>
          <a:prstGeom prst="roundRect">
            <a:avLst>
              <a:gd name="adj" fmla="val 4242"/>
            </a:avLst>
          </a:prstGeom>
          <a:solidFill>
            <a:srgbClr val="F3EEF8"/>
          </a:solidFill>
          <a:ln w="12700">
            <a:solidFill>
              <a:srgbClr val="F3EEF8"/>
            </a:solidFill>
            <a:prstDash val="solid"/>
          </a:ln>
        </p:spPr>
      </p:sp>
      <p:sp>
        <p:nvSpPr>
          <p:cNvPr id="10" name="Text 7"/>
          <p:cNvSpPr/>
          <p:nvPr/>
        </p:nvSpPr>
        <p:spPr>
          <a:xfrm>
            <a:off x="6702552" y="1609344"/>
            <a:ext cx="4663440" cy="292608"/>
          </a:xfrm>
          <a:prstGeom prst="rect">
            <a:avLst/>
          </a:prstGeom>
          <a:noFill/>
          <a:ln/>
        </p:spPr>
        <p:txBody>
          <a:bodyPr wrap="square" lIns="0" tIns="0" rIns="0" bIns="0" rtlCol="0" anchor="ctr"/>
          <a:lstStyle/>
          <a:p>
            <a:pPr indent="0" marL="0">
              <a:buNone/>
            </a:pPr>
            <a:r>
              <a:rPr lang="en-US" sz="1400" b="1" dirty="0">
                <a:solidFill>
                  <a:srgbClr val="6B4E8F"/>
                </a:solidFill>
                <a:latin typeface="Cambria" pitchFamily="34" charset="0"/>
                <a:ea typeface="Cambria" pitchFamily="34" charset="-122"/>
                <a:cs typeface="Cambria" pitchFamily="34" charset="-120"/>
              </a:rPr>
              <a:t>Stated probabilities</a:t>
            </a:r>
            <a:endParaRPr lang="en-US" sz="1400" dirty="0"/>
          </a:p>
        </p:txBody>
      </p:sp>
      <p:sp>
        <p:nvSpPr>
          <p:cNvPr id="11" name="Text 8"/>
          <p:cNvSpPr/>
          <p:nvPr/>
        </p:nvSpPr>
        <p:spPr>
          <a:xfrm>
            <a:off x="6702552" y="1920240"/>
            <a:ext cx="4681728" cy="310896"/>
          </a:xfrm>
          <a:prstGeom prst="rect">
            <a:avLst/>
          </a:prstGeom>
          <a:noFill/>
          <a:ln/>
        </p:spPr>
        <p:txBody>
          <a:bodyPr wrap="square" lIns="0" tIns="0" rIns="0" bIns="0" rtlCol="0" anchor="ctr"/>
          <a:lstStyle/>
          <a:p>
            <a:pPr indent="0" marL="0">
              <a:buNone/>
            </a:pPr>
            <a:r>
              <a:rPr lang="en-US" sz="1250" dirty="0">
                <a:solidFill>
                  <a:srgbClr val="3A3F4C"/>
                </a:solidFill>
                <a:latin typeface="Calibri" pitchFamily="34" charset="0"/>
                <a:ea typeface="Calibri" pitchFamily="34" charset="-122"/>
                <a:cs typeface="Calibri" pitchFamily="34" charset="-120"/>
              </a:rPr>
              <a:t>Children 8, 24 and −12 with probabilities ½, ⅓ and ⅙:</a:t>
            </a:r>
            <a:endParaRPr lang="en-US" sz="1250" dirty="0"/>
          </a:p>
        </p:txBody>
      </p:sp>
      <p:sp>
        <p:nvSpPr>
          <p:cNvPr id="12" name="Text 9"/>
          <p:cNvSpPr/>
          <p:nvPr/>
        </p:nvSpPr>
        <p:spPr>
          <a:xfrm>
            <a:off x="6702552" y="2286000"/>
            <a:ext cx="4681728" cy="548640"/>
          </a:xfrm>
          <a:prstGeom prst="rect">
            <a:avLst/>
          </a:prstGeom>
          <a:noFill/>
          <a:ln/>
        </p:spPr>
        <p:txBody>
          <a:bodyPr wrap="square" lIns="0" tIns="0" rIns="0" bIns="0" rtlCol="0" anchor="ctr"/>
          <a:lstStyle/>
          <a:p>
            <a:pPr indent="0" marL="0">
              <a:buNone/>
            </a:pPr>
            <a:r>
              <a:rPr lang="en-US" sz="1450" b="1" dirty="0">
                <a:solidFill>
                  <a:srgbClr val="1C1F2A"/>
                </a:solidFill>
                <a:latin typeface="Calibri" pitchFamily="34" charset="0"/>
                <a:ea typeface="Calibri" pitchFamily="34" charset="-122"/>
                <a:cs typeface="Calibri" pitchFamily="34" charset="-120"/>
              </a:rPr>
              <a:t>½(8) + ⅓(24) + ⅙(−12)  =  4 + 8 − 2  =  10</a:t>
            </a:r>
            <a:endParaRPr lang="en-US" sz="1450" dirty="0"/>
          </a:p>
        </p:txBody>
      </p:sp>
      <p:sp>
        <p:nvSpPr>
          <p:cNvPr id="13" name="Shape 10"/>
          <p:cNvSpPr/>
          <p:nvPr/>
        </p:nvSpPr>
        <p:spPr>
          <a:xfrm>
            <a:off x="6446520" y="3154680"/>
            <a:ext cx="5184648" cy="1508760"/>
          </a:xfrm>
          <a:prstGeom prst="roundRect">
            <a:avLst>
              <a:gd name="adj" fmla="val 4242"/>
            </a:avLst>
          </a:prstGeom>
          <a:solidFill>
            <a:srgbClr val="F1F2F5"/>
          </a:solidFill>
          <a:ln w="12700">
            <a:solidFill>
              <a:srgbClr val="F1F2F5"/>
            </a:solidFill>
            <a:prstDash val="solid"/>
          </a:ln>
        </p:spPr>
      </p:sp>
      <p:sp>
        <p:nvSpPr>
          <p:cNvPr id="14" name="Text 11"/>
          <p:cNvSpPr/>
          <p:nvPr/>
        </p:nvSpPr>
        <p:spPr>
          <a:xfrm>
            <a:off x="6702552" y="3300984"/>
            <a:ext cx="4663440" cy="292608"/>
          </a:xfrm>
          <a:prstGeom prst="rect">
            <a:avLst/>
          </a:prstGeom>
          <a:noFill/>
          <a:ln/>
        </p:spPr>
        <p:txBody>
          <a:bodyPr wrap="square" lIns="0" tIns="0" rIns="0" bIns="0" rtlCol="0" anchor="ctr"/>
          <a:lstStyle/>
          <a:p>
            <a:pPr indent="0" marL="0">
              <a:buNone/>
            </a:pPr>
            <a:r>
              <a:rPr lang="en-US" sz="1400" b="1" dirty="0">
                <a:solidFill>
                  <a:srgbClr val="1D4E63"/>
                </a:solidFill>
                <a:latin typeface="Cambria" pitchFamily="34" charset="0"/>
                <a:ea typeface="Cambria" pitchFamily="34" charset="-122"/>
                <a:cs typeface="Cambria" pitchFamily="34" charset="-120"/>
              </a:rPr>
              <a:t>Unstated probabilities</a:t>
            </a:r>
            <a:endParaRPr lang="en-US" sz="1400" dirty="0"/>
          </a:p>
        </p:txBody>
      </p:sp>
      <p:sp>
        <p:nvSpPr>
          <p:cNvPr id="15" name="Text 12"/>
          <p:cNvSpPr/>
          <p:nvPr/>
        </p:nvSpPr>
        <p:spPr>
          <a:xfrm>
            <a:off x="6702552" y="3611880"/>
            <a:ext cx="4681728" cy="310896"/>
          </a:xfrm>
          <a:prstGeom prst="rect">
            <a:avLst/>
          </a:prstGeom>
          <a:noFill/>
          <a:ln/>
        </p:spPr>
        <p:txBody>
          <a:bodyPr wrap="square" lIns="0" tIns="0" rIns="0" bIns="0" rtlCol="0" anchor="ctr"/>
          <a:lstStyle/>
          <a:p>
            <a:pPr indent="0" marL="0">
              <a:buNone/>
            </a:pPr>
            <a:r>
              <a:rPr lang="en-US" sz="1250" dirty="0">
                <a:solidFill>
                  <a:srgbClr val="3A3F4C"/>
                </a:solidFill>
                <a:latin typeface="Calibri" pitchFamily="34" charset="0"/>
                <a:ea typeface="Calibri" pitchFamily="34" charset="-122"/>
                <a:cs typeface="Calibri" pitchFamily="34" charset="-120"/>
              </a:rPr>
              <a:t>Default to a uniform distribution. For children 3, 12 and 9:</a:t>
            </a:r>
            <a:endParaRPr lang="en-US" sz="1250" dirty="0"/>
          </a:p>
        </p:txBody>
      </p:sp>
      <p:sp>
        <p:nvSpPr>
          <p:cNvPr id="16" name="Text 13"/>
          <p:cNvSpPr/>
          <p:nvPr/>
        </p:nvSpPr>
        <p:spPr>
          <a:xfrm>
            <a:off x="6702552" y="3977640"/>
            <a:ext cx="4681728" cy="548640"/>
          </a:xfrm>
          <a:prstGeom prst="rect">
            <a:avLst/>
          </a:prstGeom>
          <a:noFill/>
          <a:ln/>
        </p:spPr>
        <p:txBody>
          <a:bodyPr wrap="square" lIns="0" tIns="0" rIns="0" bIns="0" rtlCol="0" anchor="ctr"/>
          <a:lstStyle/>
          <a:p>
            <a:pPr indent="0" marL="0">
              <a:buNone/>
            </a:pPr>
            <a:r>
              <a:rPr lang="en-US" sz="1450" b="1" dirty="0">
                <a:solidFill>
                  <a:srgbClr val="1C1F2A"/>
                </a:solidFill>
                <a:latin typeface="Calibri" pitchFamily="34" charset="0"/>
                <a:ea typeface="Calibri" pitchFamily="34" charset="-122"/>
                <a:cs typeface="Calibri" pitchFamily="34" charset="-120"/>
              </a:rPr>
              <a:t>(3 + 12 + 9) / 3  =  8</a:t>
            </a:r>
            <a:endParaRPr lang="en-US" sz="1450" dirty="0"/>
          </a:p>
        </p:txBody>
      </p:sp>
      <p:sp>
        <p:nvSpPr>
          <p:cNvPr id="17" name="Shape 14"/>
          <p:cNvSpPr/>
          <p:nvPr/>
        </p:nvSpPr>
        <p:spPr>
          <a:xfrm>
            <a:off x="566928" y="4846320"/>
            <a:ext cx="11064240" cy="914400"/>
          </a:xfrm>
          <a:prstGeom prst="roundRect">
            <a:avLst>
              <a:gd name="adj" fmla="val 7000"/>
            </a:avLst>
          </a:prstGeom>
          <a:solidFill>
            <a:srgbClr val="1C1F2A"/>
          </a:solidFill>
          <a:ln w="12700">
            <a:solidFill>
              <a:srgbClr val="1C1F2A"/>
            </a:solidFill>
            <a:prstDash val="solid"/>
          </a:ln>
        </p:spPr>
      </p:sp>
      <p:sp>
        <p:nvSpPr>
          <p:cNvPr id="18" name="Text 15"/>
          <p:cNvSpPr/>
          <p:nvPr/>
        </p:nvSpPr>
        <p:spPr>
          <a:xfrm>
            <a:off x="914400" y="4846320"/>
            <a:ext cx="10332720" cy="914400"/>
          </a:xfrm>
          <a:prstGeom prst="rect">
            <a:avLst/>
          </a:prstGeom>
          <a:noFill/>
          <a:ln/>
        </p:spPr>
        <p:txBody>
          <a:bodyPr wrap="square" lIns="0" tIns="0" rIns="0" bIns="0" rtlCol="0" anchor="ctr"/>
          <a:lstStyle/>
          <a:p>
            <a:pPr indent="0" marL="0">
              <a:buNone/>
            </a:pPr>
            <a:r>
              <a:rPr lang="en-US" sz="1300" dirty="0">
                <a:solidFill>
                  <a:srgbClr val="C6CBD8"/>
                </a:solidFill>
                <a:latin typeface="Calibri" pitchFamily="34" charset="0"/>
                <a:ea typeface="Calibri" pitchFamily="34" charset="-122"/>
                <a:cs typeface="Calibri" pitchFamily="34" charset="-120"/>
              </a:rPr>
              <a:t>Where do the probabilities come from? Sometimes a known die. Sometimes an expensive simulation, such as a weather model deciding whether to hold the event outdoors. For the search algorithm it makes no difference: the probabilities are simply given, and the strategy is only as good as they are.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MODELLING ASSUMPTIONS DECIDE THE BEHAVIOUR</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Pac-Man between two ghosts</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36</a:t>
            </a:r>
            <a:endParaRPr lang="en-US" sz="900" dirty="0"/>
          </a:p>
        </p:txBody>
      </p:sp>
      <p:sp>
        <p:nvSpPr>
          <p:cNvPr id="7" name="Shape 4"/>
          <p:cNvSpPr/>
          <p:nvPr/>
        </p:nvSpPr>
        <p:spPr>
          <a:xfrm>
            <a:off x="566928" y="1481328"/>
            <a:ext cx="5303520" cy="2148840"/>
          </a:xfrm>
          <a:prstGeom prst="roundRect">
            <a:avLst>
              <a:gd name="adj" fmla="val 2979"/>
            </a:avLst>
          </a:prstGeom>
          <a:solidFill>
            <a:srgbClr val="EAF1F5"/>
          </a:solidFill>
          <a:ln w="12700">
            <a:solidFill>
              <a:srgbClr val="EAF1F5"/>
            </a:solidFill>
            <a:prstDash val="solid"/>
          </a:ln>
        </p:spPr>
      </p:sp>
      <p:sp>
        <p:nvSpPr>
          <p:cNvPr id="8" name="Text 5"/>
          <p:cNvSpPr/>
          <p:nvPr/>
        </p:nvSpPr>
        <p:spPr>
          <a:xfrm>
            <a:off x="841248" y="1664208"/>
            <a:ext cx="4754880" cy="365760"/>
          </a:xfrm>
          <a:prstGeom prst="rect">
            <a:avLst/>
          </a:prstGeom>
          <a:noFill/>
          <a:ln/>
        </p:spPr>
        <p:txBody>
          <a:bodyPr wrap="square" lIns="0" tIns="0" rIns="0" bIns="0" rtlCol="0" anchor="ctr"/>
          <a:lstStyle/>
          <a:p>
            <a:pPr indent="0" marL="0">
              <a:buNone/>
            </a:pPr>
            <a:r>
              <a:rPr lang="en-US" sz="1700" b="1" dirty="0">
                <a:solidFill>
                  <a:srgbClr val="1D4E63"/>
                </a:solidFill>
                <a:latin typeface="Cambria" pitchFamily="34" charset="0"/>
                <a:ea typeface="Cambria" pitchFamily="34" charset="-122"/>
                <a:cs typeface="Cambria" pitchFamily="34" charset="-120"/>
              </a:rPr>
              <a:t>Modelled as minimax</a:t>
            </a:r>
            <a:endParaRPr lang="en-US" sz="1700" dirty="0"/>
          </a:p>
        </p:txBody>
      </p:sp>
      <p:sp>
        <p:nvSpPr>
          <p:cNvPr id="9" name="Text 6"/>
          <p:cNvSpPr/>
          <p:nvPr/>
        </p:nvSpPr>
        <p:spPr>
          <a:xfrm>
            <a:off x="841248" y="2048256"/>
            <a:ext cx="4754880" cy="310896"/>
          </a:xfrm>
          <a:prstGeom prst="rect">
            <a:avLst/>
          </a:prstGeom>
          <a:noFill/>
          <a:ln/>
        </p:spPr>
        <p:txBody>
          <a:bodyPr wrap="square" lIns="0" tIns="0" rIns="0" bIns="0" rtlCol="0" anchor="ctr"/>
          <a:lstStyle/>
          <a:p>
            <a:pPr indent="0" marL="0">
              <a:buNone/>
            </a:pPr>
            <a:r>
              <a:rPr lang="en-US" sz="1250" i="1" dirty="0">
                <a:solidFill>
                  <a:srgbClr val="3A3F4C"/>
                </a:solidFill>
                <a:latin typeface="Calibri" pitchFamily="34" charset="0"/>
                <a:ea typeface="Calibri" pitchFamily="34" charset="-122"/>
                <a:cs typeface="Calibri" pitchFamily="34" charset="-120"/>
              </a:rPr>
              <a:t>Ghosts are perfect adversaries</a:t>
            </a:r>
            <a:endParaRPr lang="en-US" sz="1250" dirty="0"/>
          </a:p>
        </p:txBody>
      </p:sp>
      <p:sp>
        <p:nvSpPr>
          <p:cNvPr id="10" name="Text 7"/>
          <p:cNvSpPr/>
          <p:nvPr/>
        </p:nvSpPr>
        <p:spPr>
          <a:xfrm>
            <a:off x="841248" y="2432304"/>
            <a:ext cx="4773168" cy="1097280"/>
          </a:xfrm>
          <a:prstGeom prst="rect">
            <a:avLst/>
          </a:prstGeom>
          <a:noFill/>
          <a:ln/>
        </p:spPr>
        <p:txBody>
          <a:bodyPr wrap="square" lIns="0" tIns="0" rIns="0" bIns="0" rtlCol="0" anchor="t"/>
          <a:lstStyle/>
          <a:p>
            <a:pPr indent="0" marL="0">
              <a:buNone/>
            </a:pPr>
            <a:r>
              <a:rPr lang="en-US" sz="1280" dirty="0">
                <a:solidFill>
                  <a:srgbClr val="3A3F4C"/>
                </a:solidFill>
                <a:latin typeface="Calibri" pitchFamily="34" charset="0"/>
                <a:ea typeface="Calibri" pitchFamily="34" charset="-122"/>
                <a:cs typeface="Calibri" pitchFamily="34" charset="-120"/>
              </a:rPr>
              <a:t>Pac-Man is going to lose regardless, so the least-bad option is to rush the nearest ghost and be eaten quickly, minimising the points lost per time step.</a:t>
            </a:r>
            <a:endParaRPr lang="en-US" sz="1280" dirty="0"/>
          </a:p>
        </p:txBody>
      </p:sp>
      <p:sp>
        <p:nvSpPr>
          <p:cNvPr id="11" name="Shape 8"/>
          <p:cNvSpPr/>
          <p:nvPr/>
        </p:nvSpPr>
        <p:spPr>
          <a:xfrm>
            <a:off x="6144768" y="1481328"/>
            <a:ext cx="5303520" cy="2148840"/>
          </a:xfrm>
          <a:prstGeom prst="roundRect">
            <a:avLst>
              <a:gd name="adj" fmla="val 2979"/>
            </a:avLst>
          </a:prstGeom>
          <a:solidFill>
            <a:srgbClr val="F3EEF8"/>
          </a:solidFill>
          <a:ln w="12700">
            <a:solidFill>
              <a:srgbClr val="F3EEF8"/>
            </a:solidFill>
            <a:prstDash val="solid"/>
          </a:ln>
        </p:spPr>
      </p:sp>
      <p:sp>
        <p:nvSpPr>
          <p:cNvPr id="12" name="Text 9"/>
          <p:cNvSpPr/>
          <p:nvPr/>
        </p:nvSpPr>
        <p:spPr>
          <a:xfrm>
            <a:off x="6419088" y="1664208"/>
            <a:ext cx="4754880" cy="365760"/>
          </a:xfrm>
          <a:prstGeom prst="rect">
            <a:avLst/>
          </a:prstGeom>
          <a:noFill/>
          <a:ln/>
        </p:spPr>
        <p:txBody>
          <a:bodyPr wrap="square" lIns="0" tIns="0" rIns="0" bIns="0" rtlCol="0" anchor="ctr"/>
          <a:lstStyle/>
          <a:p>
            <a:pPr indent="0" marL="0">
              <a:buNone/>
            </a:pPr>
            <a:r>
              <a:rPr lang="en-US" sz="1700" b="1" dirty="0">
                <a:solidFill>
                  <a:srgbClr val="6B4E8F"/>
                </a:solidFill>
                <a:latin typeface="Cambria" pitchFamily="34" charset="0"/>
                <a:ea typeface="Cambria" pitchFamily="34" charset="-122"/>
                <a:cs typeface="Cambria" pitchFamily="34" charset="-120"/>
              </a:rPr>
              <a:t>Modelled as expectimax</a:t>
            </a:r>
            <a:endParaRPr lang="en-US" sz="1700" dirty="0"/>
          </a:p>
        </p:txBody>
      </p:sp>
      <p:sp>
        <p:nvSpPr>
          <p:cNvPr id="13" name="Text 10"/>
          <p:cNvSpPr/>
          <p:nvPr/>
        </p:nvSpPr>
        <p:spPr>
          <a:xfrm>
            <a:off x="6419088" y="2048256"/>
            <a:ext cx="4754880" cy="310896"/>
          </a:xfrm>
          <a:prstGeom prst="rect">
            <a:avLst/>
          </a:prstGeom>
          <a:noFill/>
          <a:ln/>
        </p:spPr>
        <p:txBody>
          <a:bodyPr wrap="square" lIns="0" tIns="0" rIns="0" bIns="0" rtlCol="0" anchor="ctr"/>
          <a:lstStyle/>
          <a:p>
            <a:pPr indent="0" marL="0">
              <a:buNone/>
            </a:pPr>
            <a:r>
              <a:rPr lang="en-US" sz="1250" i="1" dirty="0">
                <a:solidFill>
                  <a:srgbClr val="3A3F4C"/>
                </a:solidFill>
                <a:latin typeface="Calibri" pitchFamily="34" charset="0"/>
                <a:ea typeface="Calibri" pitchFamily="34" charset="-122"/>
                <a:cs typeface="Calibri" pitchFamily="34" charset="-120"/>
              </a:rPr>
              <a:t>The blue ghost’s direction is a coin flip</a:t>
            </a:r>
            <a:endParaRPr lang="en-US" sz="1250" dirty="0"/>
          </a:p>
        </p:txBody>
      </p:sp>
      <p:sp>
        <p:nvSpPr>
          <p:cNvPr id="14" name="Text 11"/>
          <p:cNvSpPr/>
          <p:nvPr/>
        </p:nvSpPr>
        <p:spPr>
          <a:xfrm>
            <a:off x="6419088" y="2432304"/>
            <a:ext cx="4773168" cy="1097280"/>
          </a:xfrm>
          <a:prstGeom prst="rect">
            <a:avLst/>
          </a:prstGeom>
          <a:noFill/>
          <a:ln/>
        </p:spPr>
        <p:txBody>
          <a:bodyPr wrap="square" lIns="0" tIns="0" rIns="0" bIns="0" rtlCol="0" anchor="t"/>
          <a:lstStyle/>
          <a:p>
            <a:pPr indent="0" marL="0">
              <a:buNone/>
            </a:pPr>
            <a:r>
              <a:rPr lang="en-US" sz="1280" dirty="0">
                <a:solidFill>
                  <a:srgbClr val="3A3F4C"/>
                </a:solidFill>
                <a:latin typeface="Calibri" pitchFamily="34" charset="0"/>
                <a:ea typeface="Calibri" pitchFamily="34" charset="-122"/>
                <a:cs typeface="Calibri" pitchFamily="34" charset="-120"/>
              </a:rPr>
              <a:t>Running toward the ghosts now has two outcomes: get chased and lose, or watch the ghost wander off and eat the food for a large reward. If the average beats a certain loss, take it.</a:t>
            </a:r>
            <a:endParaRPr lang="en-US" sz="1280" dirty="0"/>
          </a:p>
        </p:txBody>
      </p:sp>
      <p:sp>
        <p:nvSpPr>
          <p:cNvPr id="15" name="Text 12"/>
          <p:cNvSpPr/>
          <p:nvPr/>
        </p:nvSpPr>
        <p:spPr>
          <a:xfrm>
            <a:off x="566928" y="3675888"/>
            <a:ext cx="11064240" cy="292608"/>
          </a:xfrm>
          <a:prstGeom prst="rect">
            <a:avLst/>
          </a:prstGeom>
          <a:noFill/>
          <a:ln/>
        </p:spPr>
        <p:txBody>
          <a:bodyPr wrap="square" lIns="0" tIns="0" rIns="0" bIns="0" rtlCol="0" anchor="ctr"/>
          <a:lstStyle/>
          <a:p>
            <a:pPr indent="0" marL="0">
              <a:buNone/>
            </a:pPr>
            <a:r>
              <a:rPr lang="en-US" sz="1250" i="1" dirty="0">
                <a:solidFill>
                  <a:srgbClr val="8A8F9C"/>
                </a:solidFill>
                <a:latin typeface="Calibri" pitchFamily="34" charset="0"/>
                <a:ea typeface="Calibri" pitchFamily="34" charset="-122"/>
                <a:cs typeface="Calibri" pitchFamily="34" charset="-120"/>
              </a:rPr>
              <a:t>Expectimax does not guarantee a good outcome on any single run. It does better on average, provided the model is right.</a:t>
            </a:r>
            <a:endParaRPr lang="en-US" sz="1250" dirty="0"/>
          </a:p>
        </p:txBody>
      </p:sp>
      <p:sp>
        <p:nvSpPr>
          <p:cNvPr id="16" name="Text 13"/>
          <p:cNvSpPr/>
          <p:nvPr/>
        </p:nvSpPr>
        <p:spPr>
          <a:xfrm>
            <a:off x="3108960" y="4005072"/>
            <a:ext cx="7863840" cy="256032"/>
          </a:xfrm>
          <a:prstGeom prst="rect">
            <a:avLst/>
          </a:prstGeom>
          <a:noFill/>
          <a:ln/>
        </p:spPr>
        <p:txBody>
          <a:bodyPr wrap="square" lIns="0" tIns="0" rIns="0" bIns="0" rtlCol="0" anchor="ctr"/>
          <a:lstStyle/>
          <a:p>
            <a:pPr algn="ctr" indent="0" marL="0">
              <a:buNone/>
            </a:pPr>
            <a:r>
              <a:rPr lang="en-US" sz="1150" b="1" dirty="0">
                <a:solidFill>
                  <a:srgbClr val="8A8F9C"/>
                </a:solidFill>
                <a:latin typeface="Calibri" pitchFamily="34" charset="0"/>
                <a:ea typeface="Calibri" pitchFamily="34" charset="-122"/>
                <a:cs typeface="Calibri" pitchFamily="34" charset="-120"/>
              </a:rPr>
              <a:t>Actual ghost behaviour</a:t>
            </a:r>
            <a:endParaRPr lang="en-US" sz="1150" dirty="0"/>
          </a:p>
        </p:txBody>
      </p:sp>
      <p:sp>
        <p:nvSpPr>
          <p:cNvPr id="17" name="Text 14"/>
          <p:cNvSpPr/>
          <p:nvPr/>
        </p:nvSpPr>
        <p:spPr>
          <a:xfrm>
            <a:off x="3108960" y="4315968"/>
            <a:ext cx="3931920" cy="292608"/>
          </a:xfrm>
          <a:prstGeom prst="rect">
            <a:avLst/>
          </a:prstGeom>
          <a:noFill/>
          <a:ln/>
        </p:spPr>
        <p:txBody>
          <a:bodyPr wrap="square" lIns="0" tIns="0" rIns="0" bIns="0" rtlCol="0" anchor="ctr"/>
          <a:lstStyle/>
          <a:p>
            <a:pPr algn="ctr" indent="0" marL="0">
              <a:buNone/>
            </a:pPr>
            <a:r>
              <a:rPr lang="en-US" sz="1250" b="1" dirty="0">
                <a:solidFill>
                  <a:srgbClr val="1C1F2A"/>
                </a:solidFill>
                <a:latin typeface="Calibri" pitchFamily="34" charset="0"/>
                <a:ea typeface="Calibri" pitchFamily="34" charset="-122"/>
                <a:cs typeface="Calibri" pitchFamily="34" charset="-120"/>
              </a:rPr>
              <a:t>Random</a:t>
            </a:r>
            <a:endParaRPr lang="en-US" sz="1250" dirty="0"/>
          </a:p>
        </p:txBody>
      </p:sp>
      <p:sp>
        <p:nvSpPr>
          <p:cNvPr id="18" name="Text 15"/>
          <p:cNvSpPr/>
          <p:nvPr/>
        </p:nvSpPr>
        <p:spPr>
          <a:xfrm>
            <a:off x="7040880" y="4315968"/>
            <a:ext cx="3931920" cy="292608"/>
          </a:xfrm>
          <a:prstGeom prst="rect">
            <a:avLst/>
          </a:prstGeom>
          <a:noFill/>
          <a:ln/>
        </p:spPr>
        <p:txBody>
          <a:bodyPr wrap="square" lIns="0" tIns="0" rIns="0" bIns="0" rtlCol="0" anchor="ctr"/>
          <a:lstStyle/>
          <a:p>
            <a:pPr algn="ctr" indent="0" marL="0">
              <a:buNone/>
            </a:pPr>
            <a:r>
              <a:rPr lang="en-US" sz="1250" b="1" dirty="0">
                <a:solidFill>
                  <a:srgbClr val="1C1F2A"/>
                </a:solidFill>
                <a:latin typeface="Calibri" pitchFamily="34" charset="0"/>
                <a:ea typeface="Calibri" pitchFamily="34" charset="-122"/>
                <a:cs typeface="Calibri" pitchFamily="34" charset="-120"/>
              </a:rPr>
              <a:t>Adversarial</a:t>
            </a:r>
            <a:endParaRPr lang="en-US" sz="1250" dirty="0"/>
          </a:p>
        </p:txBody>
      </p:sp>
      <p:sp>
        <p:nvSpPr>
          <p:cNvPr id="19" name="Text 16"/>
          <p:cNvSpPr/>
          <p:nvPr/>
        </p:nvSpPr>
        <p:spPr>
          <a:xfrm>
            <a:off x="640080" y="4626864"/>
            <a:ext cx="2331720" cy="777240"/>
          </a:xfrm>
          <a:prstGeom prst="rect">
            <a:avLst/>
          </a:prstGeom>
          <a:noFill/>
          <a:ln/>
        </p:spPr>
        <p:txBody>
          <a:bodyPr wrap="square" lIns="0" tIns="0" rIns="0" bIns="0" rtlCol="0" anchor="ctr"/>
          <a:lstStyle/>
          <a:p>
            <a:pPr algn="r" indent="0" marL="0">
              <a:buNone/>
            </a:pPr>
            <a:r>
              <a:rPr lang="en-US" sz="1250" b="1" dirty="0">
                <a:solidFill>
                  <a:srgbClr val="6B4E8F"/>
                </a:solidFill>
                <a:latin typeface="Calibri" pitchFamily="34" charset="0"/>
                <a:ea typeface="Calibri" pitchFamily="34" charset="-122"/>
                <a:cs typeface="Calibri" pitchFamily="34" charset="-120"/>
              </a:rPr>
              <a:t>Expectimax</a:t>
            </a:r>
            <a:endParaRPr lang="en-US" sz="1250" dirty="0"/>
          </a:p>
        </p:txBody>
      </p:sp>
      <p:sp>
        <p:nvSpPr>
          <p:cNvPr id="20" name="Shape 17"/>
          <p:cNvSpPr/>
          <p:nvPr/>
        </p:nvSpPr>
        <p:spPr>
          <a:xfrm>
            <a:off x="3154680" y="4626864"/>
            <a:ext cx="3840480" cy="777240"/>
          </a:xfrm>
          <a:prstGeom prst="roundRect">
            <a:avLst>
              <a:gd name="adj" fmla="val 8235"/>
            </a:avLst>
          </a:prstGeom>
          <a:solidFill>
            <a:srgbClr val="F1F2F5"/>
          </a:solidFill>
          <a:ln w="12700">
            <a:solidFill>
              <a:srgbClr val="F1F2F5"/>
            </a:solidFill>
            <a:prstDash val="solid"/>
          </a:ln>
        </p:spPr>
      </p:sp>
      <p:sp>
        <p:nvSpPr>
          <p:cNvPr id="21" name="Text 18"/>
          <p:cNvSpPr/>
          <p:nvPr/>
        </p:nvSpPr>
        <p:spPr>
          <a:xfrm>
            <a:off x="3310128" y="4626864"/>
            <a:ext cx="3529584" cy="777240"/>
          </a:xfrm>
          <a:prstGeom prst="rect">
            <a:avLst/>
          </a:prstGeom>
          <a:noFill/>
          <a:ln/>
        </p:spPr>
        <p:txBody>
          <a:bodyPr wrap="square" lIns="0" tIns="0" rIns="0" bIns="0" rtlCol="0" anchor="ctr"/>
          <a:lstStyle/>
          <a:p>
            <a:pPr indent="0" marL="0">
              <a:buNone/>
            </a:pPr>
            <a:r>
              <a:rPr lang="en-US" sz="1130" dirty="0">
                <a:solidFill>
                  <a:srgbClr val="3A3F4C"/>
                </a:solidFill>
                <a:latin typeface="Calibri" pitchFamily="34" charset="0"/>
                <a:ea typeface="Calibri" pitchFamily="34" charset="-122"/>
                <a:cs typeface="Calibri" pitchFamily="34" charset="-120"/>
              </a:rPr>
              <a:t>Matched. Best average score, around 503, exploiting an easy environment.</a:t>
            </a:r>
            <a:endParaRPr lang="en-US" sz="1130" dirty="0"/>
          </a:p>
        </p:txBody>
      </p:sp>
      <p:sp>
        <p:nvSpPr>
          <p:cNvPr id="22" name="Shape 19"/>
          <p:cNvSpPr/>
          <p:nvPr/>
        </p:nvSpPr>
        <p:spPr>
          <a:xfrm>
            <a:off x="7086600" y="4626864"/>
            <a:ext cx="3840480" cy="777240"/>
          </a:xfrm>
          <a:prstGeom prst="roundRect">
            <a:avLst>
              <a:gd name="adj" fmla="val 8235"/>
            </a:avLst>
          </a:prstGeom>
          <a:solidFill>
            <a:srgbClr val="FDF2EC"/>
          </a:solidFill>
          <a:ln w="12700">
            <a:solidFill>
              <a:srgbClr val="FDF2EC"/>
            </a:solidFill>
            <a:prstDash val="solid"/>
          </a:ln>
        </p:spPr>
      </p:sp>
      <p:sp>
        <p:nvSpPr>
          <p:cNvPr id="23" name="Text 20"/>
          <p:cNvSpPr/>
          <p:nvPr/>
        </p:nvSpPr>
        <p:spPr>
          <a:xfrm>
            <a:off x="7242048" y="4626864"/>
            <a:ext cx="3529584" cy="777240"/>
          </a:xfrm>
          <a:prstGeom prst="rect">
            <a:avLst/>
          </a:prstGeom>
          <a:noFill/>
          <a:ln/>
        </p:spPr>
        <p:txBody>
          <a:bodyPr wrap="square" lIns="0" tIns="0" rIns="0" bIns="0" rtlCol="0" anchor="ctr"/>
          <a:lstStyle/>
          <a:p>
            <a:pPr indent="0" marL="0">
              <a:buNone/>
            </a:pPr>
            <a:r>
              <a:rPr lang="en-US" sz="1130" dirty="0">
                <a:solidFill>
                  <a:srgbClr val="C2410C"/>
                </a:solidFill>
                <a:latin typeface="Calibri" pitchFamily="34" charset="0"/>
                <a:ea typeface="Calibri" pitchFamily="34" charset="-122"/>
                <a:cs typeface="Calibri" pitchFamily="34" charset="-120"/>
              </a:rPr>
              <a:t>Naive and exploitable. This is the worst combination in practice.</a:t>
            </a:r>
            <a:endParaRPr lang="en-US" sz="1130" dirty="0"/>
          </a:p>
        </p:txBody>
      </p:sp>
      <p:sp>
        <p:nvSpPr>
          <p:cNvPr id="24" name="Text 21"/>
          <p:cNvSpPr/>
          <p:nvPr/>
        </p:nvSpPr>
        <p:spPr>
          <a:xfrm>
            <a:off x="640080" y="5477256"/>
            <a:ext cx="2331720" cy="777240"/>
          </a:xfrm>
          <a:prstGeom prst="rect">
            <a:avLst/>
          </a:prstGeom>
          <a:noFill/>
          <a:ln/>
        </p:spPr>
        <p:txBody>
          <a:bodyPr wrap="square" lIns="0" tIns="0" rIns="0" bIns="0" rtlCol="0" anchor="ctr"/>
          <a:lstStyle/>
          <a:p>
            <a:pPr algn="r" indent="0" marL="0">
              <a:buNone/>
            </a:pPr>
            <a:r>
              <a:rPr lang="en-US" sz="1250" b="1" dirty="0">
                <a:solidFill>
                  <a:srgbClr val="1D4E63"/>
                </a:solidFill>
                <a:latin typeface="Calibri" pitchFamily="34" charset="0"/>
                <a:ea typeface="Calibri" pitchFamily="34" charset="-122"/>
                <a:cs typeface="Calibri" pitchFamily="34" charset="-120"/>
              </a:rPr>
              <a:t>Minimax</a:t>
            </a:r>
            <a:endParaRPr lang="en-US" sz="1250" dirty="0"/>
          </a:p>
        </p:txBody>
      </p:sp>
      <p:sp>
        <p:nvSpPr>
          <p:cNvPr id="25" name="Shape 22"/>
          <p:cNvSpPr/>
          <p:nvPr/>
        </p:nvSpPr>
        <p:spPr>
          <a:xfrm>
            <a:off x="3154680" y="5477256"/>
            <a:ext cx="3840480" cy="777240"/>
          </a:xfrm>
          <a:prstGeom prst="roundRect">
            <a:avLst>
              <a:gd name="adj" fmla="val 8235"/>
            </a:avLst>
          </a:prstGeom>
          <a:solidFill>
            <a:srgbClr val="F1F2F5"/>
          </a:solidFill>
          <a:ln w="12700">
            <a:solidFill>
              <a:srgbClr val="F1F2F5"/>
            </a:solidFill>
            <a:prstDash val="solid"/>
          </a:ln>
        </p:spPr>
      </p:sp>
      <p:sp>
        <p:nvSpPr>
          <p:cNvPr id="26" name="Text 23"/>
          <p:cNvSpPr/>
          <p:nvPr/>
        </p:nvSpPr>
        <p:spPr>
          <a:xfrm>
            <a:off x="3310128" y="5477256"/>
            <a:ext cx="3529584" cy="777240"/>
          </a:xfrm>
          <a:prstGeom prst="rect">
            <a:avLst/>
          </a:prstGeom>
          <a:noFill/>
          <a:ln/>
        </p:spPr>
        <p:txBody>
          <a:bodyPr wrap="square" lIns="0" tIns="0" rIns="0" bIns="0" rtlCol="0" anchor="ctr"/>
          <a:lstStyle/>
          <a:p>
            <a:pPr indent="0" marL="0">
              <a:buNone/>
            </a:pPr>
            <a:r>
              <a:rPr lang="en-US" sz="1130" dirty="0">
                <a:solidFill>
                  <a:srgbClr val="3A3F4C"/>
                </a:solidFill>
                <a:latin typeface="Calibri" pitchFamily="34" charset="0"/>
                <a:ea typeface="Calibri" pitchFamily="34" charset="-122"/>
                <a:cs typeface="Calibri" pitchFamily="34" charset="-120"/>
              </a:rPr>
              <a:t>Overly cautious. Wastes time being scared before committing, but recovers.</a:t>
            </a:r>
            <a:endParaRPr lang="en-US" sz="1130" dirty="0"/>
          </a:p>
        </p:txBody>
      </p:sp>
      <p:sp>
        <p:nvSpPr>
          <p:cNvPr id="27" name="Shape 24"/>
          <p:cNvSpPr/>
          <p:nvPr/>
        </p:nvSpPr>
        <p:spPr>
          <a:xfrm>
            <a:off x="7086600" y="5477256"/>
            <a:ext cx="3840480" cy="777240"/>
          </a:xfrm>
          <a:prstGeom prst="roundRect">
            <a:avLst>
              <a:gd name="adj" fmla="val 8235"/>
            </a:avLst>
          </a:prstGeom>
          <a:solidFill>
            <a:srgbClr val="F1F2F5"/>
          </a:solidFill>
          <a:ln w="12700">
            <a:solidFill>
              <a:srgbClr val="F1F2F5"/>
            </a:solidFill>
            <a:prstDash val="solid"/>
          </a:ln>
        </p:spPr>
      </p:sp>
      <p:sp>
        <p:nvSpPr>
          <p:cNvPr id="28" name="Text 25"/>
          <p:cNvSpPr/>
          <p:nvPr/>
        </p:nvSpPr>
        <p:spPr>
          <a:xfrm>
            <a:off x="7242048" y="5477256"/>
            <a:ext cx="3529584" cy="777240"/>
          </a:xfrm>
          <a:prstGeom prst="rect">
            <a:avLst/>
          </a:prstGeom>
          <a:noFill/>
          <a:ln/>
        </p:spPr>
        <p:txBody>
          <a:bodyPr wrap="square" lIns="0" tIns="0" rIns="0" bIns="0" rtlCol="0" anchor="ctr"/>
          <a:lstStyle/>
          <a:p>
            <a:pPr indent="0" marL="0">
              <a:buNone/>
            </a:pPr>
            <a:r>
              <a:rPr lang="en-US" sz="1130" dirty="0">
                <a:solidFill>
                  <a:srgbClr val="3A3F4C"/>
                </a:solidFill>
                <a:latin typeface="Calibri" pitchFamily="34" charset="0"/>
                <a:ea typeface="Calibri" pitchFamily="34" charset="-122"/>
                <a:cs typeface="Calibri" pitchFamily="34" charset="-120"/>
              </a:rPr>
              <a:t>Matched. Correctly cautious for a genuinely hostile world.</a:t>
            </a:r>
            <a:endParaRPr lang="en-US" sz="113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C1F2A"/>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B58500"/>
                </a:solidFill>
                <a:latin typeface="Calibri" pitchFamily="34" charset="0"/>
                <a:ea typeface="Calibri" pitchFamily="34" charset="-122"/>
                <a:cs typeface="Calibri" pitchFamily="34" charset="-120"/>
              </a:rPr>
              <a:t>THE TWO FAILURE MODES</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Optimism and pessimism are both expensive</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565D6E"/>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565D6E"/>
                </a:solidFill>
                <a:latin typeface="Calibri" pitchFamily="34" charset="0"/>
                <a:ea typeface="Calibri" pitchFamily="34" charset="-122"/>
                <a:cs typeface="Calibri" pitchFamily="34" charset="-120"/>
              </a:rPr>
              <a:t>37</a:t>
            </a:r>
            <a:endParaRPr lang="en-US" sz="900" dirty="0"/>
          </a:p>
        </p:txBody>
      </p:sp>
      <p:sp>
        <p:nvSpPr>
          <p:cNvPr id="7" name="Shape 4"/>
          <p:cNvSpPr/>
          <p:nvPr/>
        </p:nvSpPr>
        <p:spPr>
          <a:xfrm>
            <a:off x="566928" y="1600200"/>
            <a:ext cx="5303520" cy="2286000"/>
          </a:xfrm>
          <a:prstGeom prst="roundRect">
            <a:avLst>
              <a:gd name="adj" fmla="val 2800"/>
            </a:avLst>
          </a:prstGeom>
          <a:solidFill>
            <a:srgbClr val="2A2F3E"/>
          </a:solidFill>
          <a:ln w="12700">
            <a:solidFill>
              <a:srgbClr val="2A2F3E"/>
            </a:solidFill>
            <a:prstDash val="solid"/>
          </a:ln>
        </p:spPr>
      </p:sp>
      <p:sp>
        <p:nvSpPr>
          <p:cNvPr id="8" name="Text 5"/>
          <p:cNvSpPr/>
          <p:nvPr/>
        </p:nvSpPr>
        <p:spPr>
          <a:xfrm>
            <a:off x="859536" y="1810512"/>
            <a:ext cx="4754880" cy="457200"/>
          </a:xfrm>
          <a:prstGeom prst="rect">
            <a:avLst/>
          </a:prstGeom>
          <a:noFill/>
          <a:ln/>
        </p:spPr>
        <p:txBody>
          <a:bodyPr wrap="square" lIns="0" tIns="0" rIns="0" bIns="0" rtlCol="0" anchor="ctr"/>
          <a:lstStyle/>
          <a:p>
            <a:pPr indent="0" marL="0">
              <a:buNone/>
            </a:pPr>
            <a:r>
              <a:rPr lang="en-US" sz="2400" b="1" dirty="0">
                <a:solidFill>
                  <a:srgbClr val="F0A177"/>
                </a:solidFill>
                <a:latin typeface="Cambria" pitchFamily="34" charset="0"/>
                <a:ea typeface="Cambria" pitchFamily="34" charset="-122"/>
                <a:cs typeface="Cambria" pitchFamily="34" charset="-120"/>
              </a:rPr>
              <a:t>Optimism</a:t>
            </a:r>
            <a:endParaRPr lang="en-US" sz="2400" dirty="0"/>
          </a:p>
        </p:txBody>
      </p:sp>
      <p:sp>
        <p:nvSpPr>
          <p:cNvPr id="9" name="Text 6"/>
          <p:cNvSpPr/>
          <p:nvPr/>
        </p:nvSpPr>
        <p:spPr>
          <a:xfrm>
            <a:off x="859536" y="2286000"/>
            <a:ext cx="4754880" cy="365760"/>
          </a:xfrm>
          <a:prstGeom prst="rect">
            <a:avLst/>
          </a:prstGeom>
          <a:noFill/>
          <a:ln/>
        </p:spPr>
        <p:txBody>
          <a:bodyPr wrap="square" lIns="0" tIns="0" rIns="0" bIns="0" rtlCol="0" anchor="ctr"/>
          <a:lstStyle/>
          <a:p>
            <a:pPr indent="0" marL="0">
              <a:buNone/>
            </a:pPr>
            <a:r>
              <a:rPr lang="en-US" sz="1250" i="1" dirty="0">
                <a:solidFill>
                  <a:srgbClr val="A9B0C0"/>
                </a:solidFill>
                <a:latin typeface="Calibri" pitchFamily="34" charset="0"/>
                <a:ea typeface="Calibri" pitchFamily="34" charset="-122"/>
                <a:cs typeface="Calibri" pitchFamily="34" charset="-120"/>
              </a:rPr>
              <a:t>Assuming chance when the world is adversarial</a:t>
            </a:r>
            <a:endParaRPr lang="en-US" sz="1250" dirty="0"/>
          </a:p>
        </p:txBody>
      </p:sp>
      <p:sp>
        <p:nvSpPr>
          <p:cNvPr id="10" name="Text 7"/>
          <p:cNvSpPr/>
          <p:nvPr/>
        </p:nvSpPr>
        <p:spPr>
          <a:xfrm>
            <a:off x="859536" y="2724912"/>
            <a:ext cx="4773168" cy="1051560"/>
          </a:xfrm>
          <a:prstGeom prst="rect">
            <a:avLst/>
          </a:prstGeom>
          <a:noFill/>
          <a:ln/>
        </p:spPr>
        <p:txBody>
          <a:bodyPr wrap="square" lIns="0" tIns="0" rIns="0" bIns="0" rtlCol="0" anchor="t"/>
          <a:lstStyle/>
          <a:p>
            <a:pPr indent="0" marL="0">
              <a:buNone/>
            </a:pPr>
            <a:r>
              <a:rPr lang="en-US" sz="1300" dirty="0">
                <a:solidFill>
                  <a:srgbClr val="D6DAE4"/>
                </a:solidFill>
                <a:latin typeface="Calibri" pitchFamily="34" charset="0"/>
                <a:ea typeface="Calibri" pitchFamily="34" charset="-122"/>
                <a:cs typeface="Calibri" pitchFamily="34" charset="-120"/>
              </a:rPr>
              <a:t>Real threats are never accounted for, so the agent is exploited. Against a truly adversarial opponent this is the most consistently punished combination.</a:t>
            </a:r>
            <a:endParaRPr lang="en-US" sz="1300" dirty="0"/>
          </a:p>
        </p:txBody>
      </p:sp>
      <p:sp>
        <p:nvSpPr>
          <p:cNvPr id="11" name="Shape 8"/>
          <p:cNvSpPr/>
          <p:nvPr/>
        </p:nvSpPr>
        <p:spPr>
          <a:xfrm>
            <a:off x="6144768" y="1600200"/>
            <a:ext cx="5303520" cy="2286000"/>
          </a:xfrm>
          <a:prstGeom prst="roundRect">
            <a:avLst>
              <a:gd name="adj" fmla="val 2800"/>
            </a:avLst>
          </a:prstGeom>
          <a:solidFill>
            <a:srgbClr val="2A2F3E"/>
          </a:solidFill>
          <a:ln w="12700">
            <a:solidFill>
              <a:srgbClr val="2A2F3E"/>
            </a:solidFill>
            <a:prstDash val="solid"/>
          </a:ln>
        </p:spPr>
      </p:sp>
      <p:sp>
        <p:nvSpPr>
          <p:cNvPr id="12" name="Text 9"/>
          <p:cNvSpPr/>
          <p:nvPr/>
        </p:nvSpPr>
        <p:spPr>
          <a:xfrm>
            <a:off x="6437376" y="1810512"/>
            <a:ext cx="4754880" cy="457200"/>
          </a:xfrm>
          <a:prstGeom prst="rect">
            <a:avLst/>
          </a:prstGeom>
          <a:noFill/>
          <a:ln/>
        </p:spPr>
        <p:txBody>
          <a:bodyPr wrap="square" lIns="0" tIns="0" rIns="0" bIns="0" rtlCol="0" anchor="ctr"/>
          <a:lstStyle/>
          <a:p>
            <a:pPr indent="0" marL="0">
              <a:buNone/>
            </a:pPr>
            <a:r>
              <a:rPr lang="en-US" sz="2400" b="1" dirty="0">
                <a:solidFill>
                  <a:srgbClr val="7FB6CE"/>
                </a:solidFill>
                <a:latin typeface="Cambria" pitchFamily="34" charset="0"/>
                <a:ea typeface="Cambria" pitchFamily="34" charset="-122"/>
                <a:cs typeface="Cambria" pitchFamily="34" charset="-120"/>
              </a:rPr>
              <a:t>Pessimism</a:t>
            </a:r>
            <a:endParaRPr lang="en-US" sz="2400" dirty="0"/>
          </a:p>
        </p:txBody>
      </p:sp>
      <p:sp>
        <p:nvSpPr>
          <p:cNvPr id="13" name="Text 10"/>
          <p:cNvSpPr/>
          <p:nvPr/>
        </p:nvSpPr>
        <p:spPr>
          <a:xfrm>
            <a:off x="6437376" y="2286000"/>
            <a:ext cx="4754880" cy="365760"/>
          </a:xfrm>
          <a:prstGeom prst="rect">
            <a:avLst/>
          </a:prstGeom>
          <a:noFill/>
          <a:ln/>
        </p:spPr>
        <p:txBody>
          <a:bodyPr wrap="square" lIns="0" tIns="0" rIns="0" bIns="0" rtlCol="0" anchor="ctr"/>
          <a:lstStyle/>
          <a:p>
            <a:pPr indent="0" marL="0">
              <a:buNone/>
            </a:pPr>
            <a:r>
              <a:rPr lang="en-US" sz="1250" i="1" dirty="0">
                <a:solidFill>
                  <a:srgbClr val="A9B0C0"/>
                </a:solidFill>
                <a:latin typeface="Calibri" pitchFamily="34" charset="0"/>
                <a:ea typeface="Calibri" pitchFamily="34" charset="-122"/>
                <a:cs typeface="Calibri" pitchFamily="34" charset="-120"/>
              </a:rPr>
              <a:t>Assuming the worst when the world is benign</a:t>
            </a:r>
            <a:endParaRPr lang="en-US" sz="1250" dirty="0"/>
          </a:p>
        </p:txBody>
      </p:sp>
      <p:sp>
        <p:nvSpPr>
          <p:cNvPr id="14" name="Text 11"/>
          <p:cNvSpPr/>
          <p:nvPr/>
        </p:nvSpPr>
        <p:spPr>
          <a:xfrm>
            <a:off x="6437376" y="2724912"/>
            <a:ext cx="4773168" cy="1051560"/>
          </a:xfrm>
          <a:prstGeom prst="rect">
            <a:avLst/>
          </a:prstGeom>
          <a:noFill/>
          <a:ln/>
        </p:spPr>
        <p:txBody>
          <a:bodyPr wrap="square" lIns="0" tIns="0" rIns="0" bIns="0" rtlCol="0" anchor="t"/>
          <a:lstStyle/>
          <a:p>
            <a:pPr indent="0" marL="0">
              <a:buNone/>
            </a:pPr>
            <a:r>
              <a:rPr lang="en-US" sz="1300" dirty="0">
                <a:solidFill>
                  <a:srgbClr val="D6DAE4"/>
                </a:solidFill>
                <a:latin typeface="Calibri" pitchFamily="34" charset="0"/>
                <a:ea typeface="Calibri" pitchFamily="34" charset="-122"/>
                <a:cs typeface="Calibri" pitchFamily="34" charset="-120"/>
              </a:rPr>
              <a:t>Behaviour becomes needlessly conservative, and the agent forgoes opportunities a rational agent would take.</a:t>
            </a:r>
            <a:endParaRPr lang="en-US" sz="1300" dirty="0"/>
          </a:p>
        </p:txBody>
      </p:sp>
      <p:sp>
        <p:nvSpPr>
          <p:cNvPr id="15" name="Shape 12"/>
          <p:cNvSpPr/>
          <p:nvPr/>
        </p:nvSpPr>
        <p:spPr>
          <a:xfrm>
            <a:off x="566928" y="4160520"/>
            <a:ext cx="11064240" cy="1600200"/>
          </a:xfrm>
          <a:prstGeom prst="roundRect">
            <a:avLst>
              <a:gd name="adj" fmla="val 4000"/>
            </a:avLst>
          </a:prstGeom>
          <a:solidFill>
            <a:srgbClr val="2A2F3E"/>
          </a:solidFill>
          <a:ln w="12700">
            <a:solidFill>
              <a:srgbClr val="2A2F3E"/>
            </a:solidFill>
            <a:prstDash val="solid"/>
          </a:ln>
        </p:spPr>
      </p:sp>
      <p:sp>
        <p:nvSpPr>
          <p:cNvPr id="16" name="Text 13"/>
          <p:cNvSpPr/>
          <p:nvPr/>
        </p:nvSpPr>
        <p:spPr>
          <a:xfrm>
            <a:off x="914400" y="4343400"/>
            <a:ext cx="5486400" cy="365760"/>
          </a:xfrm>
          <a:prstGeom prst="rect">
            <a:avLst/>
          </a:prstGeom>
          <a:noFill/>
          <a:ln/>
        </p:spPr>
        <p:txBody>
          <a:bodyPr wrap="square" lIns="0" tIns="0" rIns="0" bIns="0" rtlCol="0" anchor="ctr"/>
          <a:lstStyle/>
          <a:p>
            <a:pPr indent="0" marL="0">
              <a:buNone/>
            </a:pPr>
            <a:r>
              <a:rPr lang="en-US" sz="1700" b="1" dirty="0">
                <a:solidFill>
                  <a:srgbClr val="B58500"/>
                </a:solidFill>
                <a:latin typeface="Cambria" pitchFamily="34" charset="0"/>
                <a:ea typeface="Cambria" pitchFamily="34" charset="-122"/>
                <a:cs typeface="Cambria" pitchFamily="34" charset="-120"/>
              </a:rPr>
              <a:t>The engineering lesson</a:t>
            </a:r>
            <a:endParaRPr lang="en-US" sz="1700" dirty="0"/>
          </a:p>
        </p:txBody>
      </p:sp>
      <p:sp>
        <p:nvSpPr>
          <p:cNvPr id="17" name="Text 14"/>
          <p:cNvSpPr/>
          <p:nvPr/>
        </p:nvSpPr>
        <p:spPr>
          <a:xfrm>
            <a:off x="914400" y="4754880"/>
            <a:ext cx="10332720" cy="914400"/>
          </a:xfrm>
          <a:prstGeom prst="rect">
            <a:avLst/>
          </a:prstGeom>
          <a:noFill/>
          <a:ln/>
        </p:spPr>
        <p:txBody>
          <a:bodyPr wrap="square" lIns="0" tIns="0" rIns="0" bIns="0" rtlCol="0" anchor="t"/>
          <a:lstStyle/>
          <a:p>
            <a:pPr indent="0" marL="0">
              <a:buNone/>
            </a:pPr>
            <a:r>
              <a:rPr lang="en-US" sz="1450" dirty="0">
                <a:solidFill>
                  <a:srgbClr val="C6CBD8"/>
                </a:solidFill>
                <a:latin typeface="Calibri" pitchFamily="34" charset="0"/>
                <a:ea typeface="Calibri" pitchFamily="34" charset="-122"/>
                <a:cs typeface="Calibri" pitchFamily="34" charset="-120"/>
              </a:rPr>
              <a:t>Understanding how the world actually behaves is not preliminary work before the algorithm; it is part of the algorithm. Choosing between minimax and expectimax is choosing a model of the other agent, and that choice can matter more than any amount of extra search depth.</a:t>
            </a:r>
            <a:endParaRPr lang="en-US" sz="14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MODELLING A MIXED OPPONENT</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Eighty percent minimax, twenty percent random</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38</a:t>
            </a:r>
            <a:endParaRPr lang="en-US" sz="900" dirty="0"/>
          </a:p>
        </p:txBody>
      </p:sp>
      <p:sp>
        <p:nvSpPr>
          <p:cNvPr id="7" name="Text 4"/>
          <p:cNvSpPr/>
          <p:nvPr/>
        </p:nvSpPr>
        <p:spPr>
          <a:xfrm>
            <a:off x="566928" y="1426464"/>
            <a:ext cx="11064240" cy="365760"/>
          </a:xfrm>
          <a:prstGeom prst="rect">
            <a:avLst/>
          </a:prstGeom>
          <a:noFill/>
          <a:ln/>
        </p:spPr>
        <p:txBody>
          <a:bodyPr wrap="square" lIns="0" tIns="0" rIns="0" bIns="0" rtlCol="0" anchor="ctr"/>
          <a:lstStyle/>
          <a:p>
            <a:pPr indent="0" marL="0">
              <a:buNone/>
            </a:pPr>
            <a:r>
              <a:rPr lang="en-US" sz="1350" dirty="0">
                <a:solidFill>
                  <a:srgbClr val="3A3F4C"/>
                </a:solidFill>
                <a:latin typeface="Calibri" pitchFamily="34" charset="0"/>
                <a:ea typeface="Calibri" pitchFamily="34" charset="-122"/>
                <a:cs typeface="Calibri" pitchFamily="34" charset="-120"/>
              </a:rPr>
              <a:t>Suppose the opponent plays a depth-2 minimax move 80 percent of the time and a uniformly random move the rest. Model its node as a chance node with two branches.</a:t>
            </a:r>
            <a:endParaRPr lang="en-US" sz="1350" dirty="0"/>
          </a:p>
        </p:txBody>
      </p:sp>
      <p:sp>
        <p:nvSpPr>
          <p:cNvPr id="8" name="Shape 5"/>
          <p:cNvSpPr/>
          <p:nvPr/>
        </p:nvSpPr>
        <p:spPr>
          <a:xfrm>
            <a:off x="566928" y="1874520"/>
            <a:ext cx="5394960" cy="3063240"/>
          </a:xfrm>
          <a:prstGeom prst="roundRect">
            <a:avLst>
              <a:gd name="adj" fmla="val 2090"/>
            </a:avLst>
          </a:prstGeom>
          <a:solidFill>
            <a:srgbClr val="F1F2F5"/>
          </a:solidFill>
          <a:ln w="12700">
            <a:solidFill>
              <a:srgbClr val="F1F2F5"/>
            </a:solidFill>
            <a:prstDash val="solid"/>
          </a:ln>
        </p:spPr>
      </p:sp>
      <p:sp>
        <p:nvSpPr>
          <p:cNvPr id="9" name="Shape 6"/>
          <p:cNvSpPr/>
          <p:nvPr/>
        </p:nvSpPr>
        <p:spPr>
          <a:xfrm>
            <a:off x="3017520" y="2103120"/>
            <a:ext cx="457200" cy="457200"/>
          </a:xfrm>
          <a:prstGeom prst="ellipse">
            <a:avLst/>
          </a:prstGeom>
          <a:solidFill>
            <a:srgbClr val="6B4E8F"/>
          </a:solidFill>
          <a:ln w="12700">
            <a:solidFill>
              <a:srgbClr val="6B4E8F"/>
            </a:solidFill>
            <a:prstDash val="solid"/>
          </a:ln>
        </p:spPr>
      </p:sp>
      <p:sp>
        <p:nvSpPr>
          <p:cNvPr id="10" name="Text 7"/>
          <p:cNvSpPr/>
          <p:nvPr/>
        </p:nvSpPr>
        <p:spPr>
          <a:xfrm>
            <a:off x="3611880" y="2194560"/>
            <a:ext cx="2011680" cy="274320"/>
          </a:xfrm>
          <a:prstGeom prst="rect">
            <a:avLst/>
          </a:prstGeom>
          <a:noFill/>
          <a:ln/>
        </p:spPr>
        <p:txBody>
          <a:bodyPr wrap="square" lIns="0" tIns="0" rIns="0" bIns="0" rtlCol="0" anchor="ctr"/>
          <a:lstStyle/>
          <a:p>
            <a:pPr indent="0" marL="0">
              <a:buNone/>
            </a:pPr>
            <a:r>
              <a:rPr lang="en-US" sz="1100" i="1" dirty="0">
                <a:solidFill>
                  <a:srgbClr val="8A8F9C"/>
                </a:solidFill>
                <a:latin typeface="Calibri" pitchFamily="34" charset="0"/>
                <a:ea typeface="Calibri" pitchFamily="34" charset="-122"/>
                <a:cs typeface="Calibri" pitchFamily="34" charset="-120"/>
              </a:rPr>
              <a:t>opponent node</a:t>
            </a:r>
            <a:endParaRPr lang="en-US" sz="1100" dirty="0"/>
          </a:p>
        </p:txBody>
      </p:sp>
      <p:sp>
        <p:nvSpPr>
          <p:cNvPr id="11" name="Shape 8"/>
          <p:cNvSpPr/>
          <p:nvPr/>
        </p:nvSpPr>
        <p:spPr>
          <a:xfrm flipH="1">
            <a:off x="1965960" y="2487168"/>
            <a:ext cx="1280160" cy="530352"/>
          </a:xfrm>
          <a:prstGeom prst="line">
            <a:avLst/>
          </a:prstGeom>
          <a:noFill/>
          <a:ln w="27940">
            <a:solidFill>
              <a:srgbClr val="6B4E8F"/>
            </a:solidFill>
            <a:prstDash val="solid"/>
          </a:ln>
        </p:spPr>
      </p:sp>
      <p:sp>
        <p:nvSpPr>
          <p:cNvPr id="12" name="Shape 9"/>
          <p:cNvSpPr/>
          <p:nvPr/>
        </p:nvSpPr>
        <p:spPr>
          <a:xfrm>
            <a:off x="3246120" y="2487168"/>
            <a:ext cx="1280160" cy="530352"/>
          </a:xfrm>
          <a:prstGeom prst="line">
            <a:avLst/>
          </a:prstGeom>
          <a:noFill/>
          <a:ln w="17780">
            <a:solidFill>
              <a:srgbClr val="6B4E8F"/>
            </a:solidFill>
            <a:prstDash val="solid"/>
          </a:ln>
        </p:spPr>
      </p:sp>
      <p:sp>
        <p:nvSpPr>
          <p:cNvPr id="13" name="Text 10"/>
          <p:cNvSpPr/>
          <p:nvPr/>
        </p:nvSpPr>
        <p:spPr>
          <a:xfrm>
            <a:off x="2148840" y="2606040"/>
            <a:ext cx="548640" cy="274320"/>
          </a:xfrm>
          <a:prstGeom prst="rect">
            <a:avLst/>
          </a:prstGeom>
          <a:noFill/>
          <a:ln/>
        </p:spPr>
        <p:txBody>
          <a:bodyPr wrap="square" lIns="0" tIns="0" rIns="0" bIns="0" rtlCol="0" anchor="ctr"/>
          <a:lstStyle/>
          <a:p>
            <a:pPr indent="0" marL="0">
              <a:buNone/>
            </a:pPr>
            <a:r>
              <a:rPr lang="en-US" sz="1200" b="1" dirty="0">
                <a:solidFill>
                  <a:srgbClr val="6B4E8F"/>
                </a:solidFill>
                <a:latin typeface="Calibri" pitchFamily="34" charset="0"/>
                <a:ea typeface="Calibri" pitchFamily="34" charset="-122"/>
                <a:cs typeface="Calibri" pitchFamily="34" charset="-120"/>
              </a:rPr>
              <a:t>0.8</a:t>
            </a:r>
            <a:endParaRPr lang="en-US" sz="1200" dirty="0"/>
          </a:p>
        </p:txBody>
      </p:sp>
      <p:sp>
        <p:nvSpPr>
          <p:cNvPr id="14" name="Text 11"/>
          <p:cNvSpPr/>
          <p:nvPr/>
        </p:nvSpPr>
        <p:spPr>
          <a:xfrm>
            <a:off x="3977640" y="2606040"/>
            <a:ext cx="548640" cy="274320"/>
          </a:xfrm>
          <a:prstGeom prst="rect">
            <a:avLst/>
          </a:prstGeom>
          <a:noFill/>
          <a:ln/>
        </p:spPr>
        <p:txBody>
          <a:bodyPr wrap="square" lIns="0" tIns="0" rIns="0" bIns="0" rtlCol="0" anchor="ctr"/>
          <a:lstStyle/>
          <a:p>
            <a:pPr indent="0" marL="0">
              <a:buNone/>
            </a:pPr>
            <a:r>
              <a:rPr lang="en-US" sz="1200" b="1" dirty="0">
                <a:solidFill>
                  <a:srgbClr val="6B4E8F"/>
                </a:solidFill>
                <a:latin typeface="Calibri" pitchFamily="34" charset="0"/>
                <a:ea typeface="Calibri" pitchFamily="34" charset="-122"/>
                <a:cs typeface="Calibri" pitchFamily="34" charset="-120"/>
              </a:rPr>
              <a:t>0.2</a:t>
            </a:r>
            <a:endParaRPr lang="en-US" sz="1200" dirty="0"/>
          </a:p>
        </p:txBody>
      </p:sp>
      <p:sp>
        <p:nvSpPr>
          <p:cNvPr id="15" name="Shape 12"/>
          <p:cNvSpPr/>
          <p:nvPr/>
        </p:nvSpPr>
        <p:spPr>
          <a:xfrm rot="10800000">
            <a:off x="1755648" y="3008376"/>
            <a:ext cx="420624" cy="420624"/>
          </a:xfrm>
          <a:prstGeom prst="triangle">
            <a:avLst/>
          </a:prstGeom>
          <a:solidFill>
            <a:srgbClr val="1D4E63"/>
          </a:solidFill>
          <a:ln w="12700">
            <a:solidFill>
              <a:srgbClr val="1D4E63"/>
            </a:solidFill>
            <a:prstDash val="solid"/>
          </a:ln>
        </p:spPr>
      </p:sp>
      <p:sp>
        <p:nvSpPr>
          <p:cNvPr id="16" name="Shape 13"/>
          <p:cNvSpPr/>
          <p:nvPr/>
        </p:nvSpPr>
        <p:spPr>
          <a:xfrm>
            <a:off x="4315968" y="3008376"/>
            <a:ext cx="420624" cy="420624"/>
          </a:xfrm>
          <a:prstGeom prst="ellipse">
            <a:avLst/>
          </a:prstGeom>
          <a:solidFill>
            <a:srgbClr val="6B4E8F"/>
          </a:solidFill>
          <a:ln w="12700">
            <a:solidFill>
              <a:srgbClr val="6B4E8F"/>
            </a:solidFill>
            <a:prstDash val="solid"/>
          </a:ln>
        </p:spPr>
      </p:sp>
      <p:sp>
        <p:nvSpPr>
          <p:cNvPr id="17" name="Text 14"/>
          <p:cNvSpPr/>
          <p:nvPr/>
        </p:nvSpPr>
        <p:spPr>
          <a:xfrm>
            <a:off x="960120" y="3520440"/>
            <a:ext cx="2011680" cy="640080"/>
          </a:xfrm>
          <a:prstGeom prst="rect">
            <a:avLst/>
          </a:prstGeom>
          <a:noFill/>
          <a:ln/>
        </p:spPr>
        <p:txBody>
          <a:bodyPr wrap="square" lIns="0" tIns="0" rIns="0" bIns="0" rtlCol="0" anchor="t"/>
          <a:lstStyle/>
          <a:p>
            <a:pPr algn="ctr" indent="0" marL="0">
              <a:buNone/>
            </a:pPr>
            <a:r>
              <a:rPr lang="en-US" sz="1100" dirty="0">
                <a:solidFill>
                  <a:srgbClr val="3A3F4C"/>
                </a:solidFill>
                <a:latin typeface="Calibri" pitchFamily="34" charset="0"/>
                <a:ea typeface="Calibri" pitchFamily="34" charset="-122"/>
                <a:cs typeface="Calibri" pitchFamily="34" charset="-120"/>
              </a:rPr>
              <a:t>the single action from a</a:t>
            </a:r>
            <a:endParaRPr lang="en-US" sz="1100" dirty="0"/>
          </a:p>
          <a:p>
            <a:pPr algn="ctr" indent="0" marL="0">
              <a:buNone/>
            </a:pPr>
            <a:r>
              <a:rPr lang="en-US" sz="1100" dirty="0">
                <a:solidFill>
                  <a:srgbClr val="3A3F4C"/>
                </a:solidFill>
                <a:latin typeface="Calibri" pitchFamily="34" charset="0"/>
                <a:ea typeface="Calibri" pitchFamily="34" charset="-122"/>
                <a:cs typeface="Calibri" pitchFamily="34" charset="-120"/>
              </a:rPr>
              <a:t>depth-2 minimax search</a:t>
            </a:r>
            <a:endParaRPr lang="en-US" sz="1100" dirty="0"/>
          </a:p>
        </p:txBody>
      </p:sp>
      <p:sp>
        <p:nvSpPr>
          <p:cNvPr id="18" name="Text 15"/>
          <p:cNvSpPr/>
          <p:nvPr/>
        </p:nvSpPr>
        <p:spPr>
          <a:xfrm>
            <a:off x="3566160" y="3520440"/>
            <a:ext cx="2011680" cy="640080"/>
          </a:xfrm>
          <a:prstGeom prst="rect">
            <a:avLst/>
          </a:prstGeom>
          <a:noFill/>
          <a:ln/>
        </p:spPr>
        <p:txBody>
          <a:bodyPr wrap="square" lIns="0" tIns="0" rIns="0" bIns="0" rtlCol="0" anchor="t"/>
          <a:lstStyle/>
          <a:p>
            <a:pPr algn="ctr" indent="0" marL="0">
              <a:buNone/>
            </a:pPr>
            <a:r>
              <a:rPr lang="en-US" sz="1100" dirty="0">
                <a:solidFill>
                  <a:srgbClr val="3A3F4C"/>
                </a:solidFill>
                <a:latin typeface="Calibri" pitchFamily="34" charset="0"/>
                <a:ea typeface="Calibri" pitchFamily="34" charset="-122"/>
                <a:cs typeface="Calibri" pitchFamily="34" charset="-120"/>
              </a:rPr>
              <a:t>uniform over the</a:t>
            </a:r>
            <a:endParaRPr lang="en-US" sz="1100" dirty="0"/>
          </a:p>
          <a:p>
            <a:pPr algn="ctr" indent="0" marL="0">
              <a:buNone/>
            </a:pPr>
            <a:r>
              <a:rPr lang="en-US" sz="1100" dirty="0">
                <a:solidFill>
                  <a:srgbClr val="3A3F4C"/>
                </a:solidFill>
                <a:latin typeface="Calibri" pitchFamily="34" charset="0"/>
                <a:ea typeface="Calibri" pitchFamily="34" charset="-122"/>
                <a:cs typeface="Calibri" pitchFamily="34" charset="-120"/>
              </a:rPr>
              <a:t>remaining actions</a:t>
            </a:r>
            <a:endParaRPr lang="en-US" sz="1100" dirty="0"/>
          </a:p>
        </p:txBody>
      </p:sp>
      <p:sp>
        <p:nvSpPr>
          <p:cNvPr id="19" name="Text 16"/>
          <p:cNvSpPr/>
          <p:nvPr/>
        </p:nvSpPr>
        <p:spPr>
          <a:xfrm>
            <a:off x="841248" y="4251960"/>
            <a:ext cx="4864608" cy="640080"/>
          </a:xfrm>
          <a:prstGeom prst="rect">
            <a:avLst/>
          </a:prstGeom>
          <a:noFill/>
          <a:ln/>
        </p:spPr>
        <p:txBody>
          <a:bodyPr wrap="square" lIns="0" tIns="0" rIns="0" bIns="0" rtlCol="0" anchor="t"/>
          <a:lstStyle/>
          <a:p>
            <a:pPr indent="0" marL="0">
              <a:buNone/>
            </a:pPr>
            <a:r>
              <a:rPr lang="en-US" sz="1250" i="1" dirty="0">
                <a:solidFill>
                  <a:srgbClr val="6B4E8F"/>
                </a:solidFill>
                <a:latin typeface="Calibri" pitchFamily="34" charset="0"/>
                <a:ea typeface="Calibri" pitchFamily="34" charset="-122"/>
                <a:cs typeface="Calibri" pitchFamily="34" charset="-120"/>
              </a:rPr>
              <a:t>Run expectimax over this constructed tree and the risk-taking behaviour emerges from the search rather than being written by hand.</a:t>
            </a:r>
            <a:endParaRPr lang="en-US" sz="1250" dirty="0"/>
          </a:p>
        </p:txBody>
      </p:sp>
      <p:sp>
        <p:nvSpPr>
          <p:cNvPr id="20" name="Shape 17"/>
          <p:cNvSpPr/>
          <p:nvPr/>
        </p:nvSpPr>
        <p:spPr>
          <a:xfrm>
            <a:off x="6236208" y="1874520"/>
            <a:ext cx="5394960" cy="1417320"/>
          </a:xfrm>
          <a:prstGeom prst="roundRect">
            <a:avLst>
              <a:gd name="adj" fmla="val 4516"/>
            </a:avLst>
          </a:prstGeom>
          <a:solidFill>
            <a:srgbClr val="FDF2EC"/>
          </a:solidFill>
          <a:ln w="12700">
            <a:solidFill>
              <a:srgbClr val="FDF2EC"/>
            </a:solidFill>
            <a:prstDash val="solid"/>
          </a:ln>
        </p:spPr>
      </p:sp>
      <p:sp>
        <p:nvSpPr>
          <p:cNvPr id="21" name="Text 18"/>
          <p:cNvSpPr/>
          <p:nvPr/>
        </p:nvSpPr>
        <p:spPr>
          <a:xfrm>
            <a:off x="6510528" y="2029968"/>
            <a:ext cx="4754880" cy="310896"/>
          </a:xfrm>
          <a:prstGeom prst="rect">
            <a:avLst/>
          </a:prstGeom>
          <a:noFill/>
          <a:ln/>
        </p:spPr>
        <p:txBody>
          <a:bodyPr wrap="square" lIns="0" tIns="0" rIns="0" bIns="0" rtlCol="0" anchor="ctr"/>
          <a:lstStyle/>
          <a:p>
            <a:pPr indent="0" marL="0">
              <a:buNone/>
            </a:pPr>
            <a:r>
              <a:rPr lang="en-US" sz="1500" b="1" dirty="0">
                <a:solidFill>
                  <a:srgbClr val="C2410C"/>
                </a:solidFill>
                <a:latin typeface="Cambria" pitchFamily="34" charset="0"/>
                <a:ea typeface="Cambria" pitchFamily="34" charset="-122"/>
                <a:cs typeface="Cambria" pitchFamily="34" charset="-120"/>
              </a:rPr>
              <a:t>What it costs</a:t>
            </a:r>
            <a:endParaRPr lang="en-US" sz="1500" dirty="0"/>
          </a:p>
        </p:txBody>
      </p:sp>
      <p:sp>
        <p:nvSpPr>
          <p:cNvPr id="22" name="Text 19"/>
          <p:cNvSpPr/>
          <p:nvPr/>
        </p:nvSpPr>
        <p:spPr>
          <a:xfrm>
            <a:off x="6510528" y="2359152"/>
            <a:ext cx="4864608" cy="868680"/>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Every time such a chance node is reached, a full sub-search must run just to find the probabilities. Model the opponent as depth-10 minimax and every chance node in your tree needs a depth-10 minimax search of its own.</a:t>
            </a:r>
            <a:endParaRPr lang="en-US" sz="1250" dirty="0"/>
          </a:p>
        </p:txBody>
      </p:sp>
      <p:sp>
        <p:nvSpPr>
          <p:cNvPr id="23" name="Shape 20"/>
          <p:cNvSpPr/>
          <p:nvPr/>
        </p:nvSpPr>
        <p:spPr>
          <a:xfrm>
            <a:off x="6236208" y="3456432"/>
            <a:ext cx="5394960" cy="1481328"/>
          </a:xfrm>
          <a:prstGeom prst="roundRect">
            <a:avLst>
              <a:gd name="adj" fmla="val 4321"/>
            </a:avLst>
          </a:prstGeom>
          <a:solidFill>
            <a:srgbClr val="F1F2F5"/>
          </a:solidFill>
          <a:ln w="12700">
            <a:solidFill>
              <a:srgbClr val="F1F2F5"/>
            </a:solidFill>
            <a:prstDash val="solid"/>
          </a:ln>
        </p:spPr>
      </p:sp>
      <p:sp>
        <p:nvSpPr>
          <p:cNvPr id="24" name="Text 21"/>
          <p:cNvSpPr/>
          <p:nvPr/>
        </p:nvSpPr>
        <p:spPr>
          <a:xfrm>
            <a:off x="6510528" y="3611880"/>
            <a:ext cx="4754880" cy="310896"/>
          </a:xfrm>
          <a:prstGeom prst="rect">
            <a:avLst/>
          </a:prstGeom>
          <a:noFill/>
          <a:ln/>
        </p:spPr>
        <p:txBody>
          <a:bodyPr wrap="square" lIns="0" tIns="0" rIns="0" bIns="0" rtlCol="0" anchor="ctr"/>
          <a:lstStyle/>
          <a:p>
            <a:pPr indent="0" marL="0">
              <a:buNone/>
            </a:pPr>
            <a:r>
              <a:rPr lang="en-US" sz="1500" b="1" dirty="0">
                <a:solidFill>
                  <a:srgbClr val="1D4E63"/>
                </a:solidFill>
                <a:latin typeface="Cambria" pitchFamily="34" charset="0"/>
                <a:ea typeface="Cambria" pitchFamily="34" charset="-122"/>
                <a:cs typeface="Cambria" pitchFamily="34" charset="-120"/>
              </a:rPr>
              <a:t>Why plain minimax avoids this</a:t>
            </a:r>
            <a:endParaRPr lang="en-US" sz="1500" dirty="0"/>
          </a:p>
        </p:txBody>
      </p:sp>
      <p:sp>
        <p:nvSpPr>
          <p:cNvPr id="25" name="Text 22"/>
          <p:cNvSpPr/>
          <p:nvPr/>
        </p:nvSpPr>
        <p:spPr>
          <a:xfrm>
            <a:off x="6510528" y="3941064"/>
            <a:ext cx="4864608" cy="960120"/>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In ordinary minimax both players consistently assume the other is a perfect adversary, so the tree structure alone carries the model and no side computation is needed. It is the mismatch between what each player assumes about the other that forces the extra work.</a:t>
            </a:r>
            <a:endParaRPr lang="en-US" sz="1250" dirty="0"/>
          </a:p>
        </p:txBody>
      </p:sp>
      <p:sp>
        <p:nvSpPr>
          <p:cNvPr id="26" name="Shape 23"/>
          <p:cNvSpPr/>
          <p:nvPr/>
        </p:nvSpPr>
        <p:spPr>
          <a:xfrm>
            <a:off x="566928" y="5120640"/>
            <a:ext cx="11064240" cy="960120"/>
          </a:xfrm>
          <a:prstGeom prst="roundRect">
            <a:avLst>
              <a:gd name="adj" fmla="val 6667"/>
            </a:avLst>
          </a:prstGeom>
          <a:solidFill>
            <a:srgbClr val="1C1F2A"/>
          </a:solidFill>
          <a:ln w="12700">
            <a:solidFill>
              <a:srgbClr val="1C1F2A"/>
            </a:solidFill>
            <a:prstDash val="solid"/>
          </a:ln>
        </p:spPr>
      </p:sp>
      <p:sp>
        <p:nvSpPr>
          <p:cNvPr id="27" name="Text 24"/>
          <p:cNvSpPr/>
          <p:nvPr/>
        </p:nvSpPr>
        <p:spPr>
          <a:xfrm>
            <a:off x="914400" y="5120640"/>
            <a:ext cx="10332720" cy="960120"/>
          </a:xfrm>
          <a:prstGeom prst="rect">
            <a:avLst/>
          </a:prstGeom>
          <a:noFill/>
          <a:ln/>
        </p:spPr>
        <p:txBody>
          <a:bodyPr wrap="square" lIns="0" tIns="0" rIns="0" bIns="0" rtlCol="0" anchor="ctr"/>
          <a:lstStyle/>
          <a:p>
            <a:pPr indent="0" marL="0">
              <a:buNone/>
            </a:pPr>
            <a:r>
              <a:rPr lang="en-US" sz="1400" dirty="0">
                <a:solidFill>
                  <a:srgbClr val="D6DAE4"/>
                </a:solidFill>
                <a:latin typeface="Calibri" pitchFamily="34" charset="0"/>
                <a:ea typeface="Calibri" pitchFamily="34" charset="-122"/>
                <a:cs typeface="Calibri" pitchFamily="34" charset="-120"/>
              </a:rPr>
              <a:t>The probabilities in the tree are your model of the opponent, not a fact about the world. If the model is wrong, the strategy is only as good as the assumption behind it.</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5.5  STOCHASTIC GAMES</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Pruning and depth limits with chance nodes</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39</a:t>
            </a:r>
            <a:endParaRPr lang="en-US" sz="900" dirty="0"/>
          </a:p>
        </p:txBody>
      </p:sp>
      <p:sp>
        <p:nvSpPr>
          <p:cNvPr id="7" name="Shape 4"/>
          <p:cNvSpPr/>
          <p:nvPr/>
        </p:nvSpPr>
        <p:spPr>
          <a:xfrm>
            <a:off x="566928" y="1481328"/>
            <a:ext cx="11064240" cy="1078992"/>
          </a:xfrm>
          <a:prstGeom prst="roundRect">
            <a:avLst>
              <a:gd name="adj" fmla="val 5932"/>
            </a:avLst>
          </a:prstGeom>
          <a:solidFill>
            <a:srgbClr val="FDF2EC"/>
          </a:solidFill>
          <a:ln w="12700">
            <a:solidFill>
              <a:srgbClr val="FDF2EC"/>
            </a:solidFill>
            <a:prstDash val="solid"/>
          </a:ln>
        </p:spPr>
      </p:sp>
      <p:sp>
        <p:nvSpPr>
          <p:cNvPr id="8" name="Text 5"/>
          <p:cNvSpPr/>
          <p:nvPr/>
        </p:nvSpPr>
        <p:spPr>
          <a:xfrm>
            <a:off x="841248" y="1609344"/>
            <a:ext cx="3108960" cy="365760"/>
          </a:xfrm>
          <a:prstGeom prst="rect">
            <a:avLst/>
          </a:prstGeom>
          <a:noFill/>
          <a:ln/>
        </p:spPr>
        <p:txBody>
          <a:bodyPr wrap="square" lIns="0" tIns="0" rIns="0" bIns="0" rtlCol="0" anchor="ctr"/>
          <a:lstStyle/>
          <a:p>
            <a:pPr indent="0" marL="0">
              <a:buNone/>
            </a:pPr>
            <a:r>
              <a:rPr lang="en-US" sz="1450" b="1" dirty="0">
                <a:solidFill>
                  <a:srgbClr val="1C1F2A"/>
                </a:solidFill>
                <a:latin typeface="Cambria" pitchFamily="34" charset="0"/>
                <a:ea typeface="Cambria" pitchFamily="34" charset="-122"/>
                <a:cs typeface="Cambria" pitchFamily="34" charset="-120"/>
              </a:rPr>
              <a:t>Alpha-beta pruning</a:t>
            </a:r>
            <a:endParaRPr lang="en-US" sz="1450" dirty="0"/>
          </a:p>
        </p:txBody>
      </p:sp>
      <p:sp>
        <p:nvSpPr>
          <p:cNvPr id="9" name="Text 6"/>
          <p:cNvSpPr/>
          <p:nvPr/>
        </p:nvSpPr>
        <p:spPr>
          <a:xfrm>
            <a:off x="841248" y="1993392"/>
            <a:ext cx="3108960" cy="310896"/>
          </a:xfrm>
          <a:prstGeom prst="rect">
            <a:avLst/>
          </a:prstGeom>
          <a:noFill/>
          <a:ln/>
        </p:spPr>
        <p:txBody>
          <a:bodyPr wrap="square" lIns="0" tIns="0" rIns="0" bIns="0" rtlCol="0" anchor="ctr"/>
          <a:lstStyle/>
          <a:p>
            <a:pPr indent="0" marL="0">
              <a:buNone/>
            </a:pPr>
            <a:r>
              <a:rPr lang="en-US" sz="1250" b="1" i="1" dirty="0">
                <a:solidFill>
                  <a:srgbClr val="C2410C"/>
                </a:solidFill>
                <a:latin typeface="Calibri" pitchFamily="34" charset="0"/>
                <a:ea typeface="Calibri" pitchFamily="34" charset="-122"/>
                <a:cs typeface="Calibri" pitchFamily="34" charset="-120"/>
              </a:rPr>
              <a:t>Breaks in general</a:t>
            </a:r>
            <a:endParaRPr lang="en-US" sz="1250" dirty="0"/>
          </a:p>
        </p:txBody>
      </p:sp>
      <p:sp>
        <p:nvSpPr>
          <p:cNvPr id="10" name="Text 7"/>
          <p:cNvSpPr/>
          <p:nvPr/>
        </p:nvSpPr>
        <p:spPr>
          <a:xfrm>
            <a:off x="4206240" y="1572768"/>
            <a:ext cx="7132320" cy="914400"/>
          </a:xfrm>
          <a:prstGeom prst="rect">
            <a:avLst/>
          </a:prstGeom>
          <a:noFill/>
          <a:ln/>
        </p:spPr>
        <p:txBody>
          <a:bodyPr wrap="square" lIns="0" tIns="0" rIns="0" bIns="0" rtlCol="0" anchor="ctr"/>
          <a:lstStyle/>
          <a:p>
            <a:pPr indent="0" marL="0">
              <a:buNone/>
            </a:pPr>
            <a:r>
              <a:rPr lang="en-US" sz="1280" dirty="0">
                <a:solidFill>
                  <a:srgbClr val="3A3F4C"/>
                </a:solidFill>
                <a:latin typeface="Calibri" pitchFamily="34" charset="0"/>
                <a:ea typeface="Calibri" pitchFamily="34" charset="-122"/>
                <a:cs typeface="Calibri" pitchFamily="34" charset="-120"/>
              </a:rPr>
              <a:t>A chance node’s value is the average of all its children, so one very large or very small value anywhere in the subtree can swing it. No child can be ignored.</a:t>
            </a:r>
            <a:endParaRPr lang="en-US" sz="1280" dirty="0"/>
          </a:p>
        </p:txBody>
      </p:sp>
      <p:sp>
        <p:nvSpPr>
          <p:cNvPr id="11" name="Shape 8"/>
          <p:cNvSpPr/>
          <p:nvPr/>
        </p:nvSpPr>
        <p:spPr>
          <a:xfrm>
            <a:off x="566928" y="2715768"/>
            <a:ext cx="11064240" cy="1078992"/>
          </a:xfrm>
          <a:prstGeom prst="roundRect">
            <a:avLst>
              <a:gd name="adj" fmla="val 5932"/>
            </a:avLst>
          </a:prstGeom>
          <a:solidFill>
            <a:srgbClr val="EAF1F5"/>
          </a:solidFill>
          <a:ln w="12700">
            <a:solidFill>
              <a:srgbClr val="EAF1F5"/>
            </a:solidFill>
            <a:prstDash val="solid"/>
          </a:ln>
        </p:spPr>
      </p:sp>
      <p:sp>
        <p:nvSpPr>
          <p:cNvPr id="12" name="Text 9"/>
          <p:cNvSpPr/>
          <p:nvPr/>
        </p:nvSpPr>
        <p:spPr>
          <a:xfrm>
            <a:off x="841248" y="2843784"/>
            <a:ext cx="3108960" cy="365760"/>
          </a:xfrm>
          <a:prstGeom prst="rect">
            <a:avLst/>
          </a:prstGeom>
          <a:noFill/>
          <a:ln/>
        </p:spPr>
        <p:txBody>
          <a:bodyPr wrap="square" lIns="0" tIns="0" rIns="0" bIns="0" rtlCol="0" anchor="ctr"/>
          <a:lstStyle/>
          <a:p>
            <a:pPr indent="0" marL="0">
              <a:buNone/>
            </a:pPr>
            <a:r>
              <a:rPr lang="en-US" sz="1450" b="1" dirty="0">
                <a:solidFill>
                  <a:srgbClr val="1C1F2A"/>
                </a:solidFill>
                <a:latin typeface="Cambria" pitchFamily="34" charset="0"/>
                <a:ea typeface="Cambria" pitchFamily="34" charset="-122"/>
                <a:cs typeface="Cambria" pitchFamily="34" charset="-120"/>
              </a:rPr>
              <a:t>Alpha-beta with bounded utilities</a:t>
            </a:r>
            <a:endParaRPr lang="en-US" sz="1450" dirty="0"/>
          </a:p>
        </p:txBody>
      </p:sp>
      <p:sp>
        <p:nvSpPr>
          <p:cNvPr id="13" name="Text 10"/>
          <p:cNvSpPr/>
          <p:nvPr/>
        </p:nvSpPr>
        <p:spPr>
          <a:xfrm>
            <a:off x="841248" y="3227832"/>
            <a:ext cx="3108960" cy="310896"/>
          </a:xfrm>
          <a:prstGeom prst="rect">
            <a:avLst/>
          </a:prstGeom>
          <a:noFill/>
          <a:ln/>
        </p:spPr>
        <p:txBody>
          <a:bodyPr wrap="square" lIns="0" tIns="0" rIns="0" bIns="0" rtlCol="0" anchor="ctr"/>
          <a:lstStyle/>
          <a:p>
            <a:pPr indent="0" marL="0">
              <a:buNone/>
            </a:pPr>
            <a:r>
              <a:rPr lang="en-US" sz="1250" b="1" i="1" dirty="0">
                <a:solidFill>
                  <a:srgbClr val="1D4E63"/>
                </a:solidFill>
                <a:latin typeface="Calibri" pitchFamily="34" charset="0"/>
                <a:ea typeface="Calibri" pitchFamily="34" charset="-122"/>
                <a:cs typeface="Calibri" pitchFamily="34" charset="-120"/>
              </a:rPr>
              <a:t>Works again</a:t>
            </a:r>
            <a:endParaRPr lang="en-US" sz="1250" dirty="0"/>
          </a:p>
        </p:txBody>
      </p:sp>
      <p:sp>
        <p:nvSpPr>
          <p:cNvPr id="14" name="Text 11"/>
          <p:cNvSpPr/>
          <p:nvPr/>
        </p:nvSpPr>
        <p:spPr>
          <a:xfrm>
            <a:off x="4206240" y="2807208"/>
            <a:ext cx="7132320" cy="914400"/>
          </a:xfrm>
          <a:prstGeom prst="rect">
            <a:avLst/>
          </a:prstGeom>
          <a:noFill/>
          <a:ln/>
        </p:spPr>
        <p:txBody>
          <a:bodyPr wrap="square" lIns="0" tIns="0" rIns="0" bIns="0" rtlCol="0" anchor="ctr"/>
          <a:lstStyle/>
          <a:p>
            <a:pPr indent="0" marL="0">
              <a:buNone/>
            </a:pPr>
            <a:r>
              <a:rPr lang="en-US" sz="1280" dirty="0">
                <a:solidFill>
                  <a:srgbClr val="3A3F4C"/>
                </a:solidFill>
                <a:latin typeface="Calibri" pitchFamily="34" charset="0"/>
                <a:ea typeface="Calibri" pitchFamily="34" charset="-122"/>
                <a:cs typeface="Calibri" pitchFamily="34" charset="-120"/>
              </a:rPr>
              <a:t>If every utility lies in a known range, say between −2 and +2, you can bound the average without evaluating every child, and prune the chance node on that bound.</a:t>
            </a:r>
            <a:endParaRPr lang="en-US" sz="1280" dirty="0"/>
          </a:p>
        </p:txBody>
      </p:sp>
      <p:sp>
        <p:nvSpPr>
          <p:cNvPr id="15" name="Shape 12"/>
          <p:cNvSpPr/>
          <p:nvPr/>
        </p:nvSpPr>
        <p:spPr>
          <a:xfrm>
            <a:off x="566928" y="3950208"/>
            <a:ext cx="11064240" cy="1078992"/>
          </a:xfrm>
          <a:prstGeom prst="roundRect">
            <a:avLst>
              <a:gd name="adj" fmla="val 5932"/>
            </a:avLst>
          </a:prstGeom>
          <a:solidFill>
            <a:srgbClr val="F3EEF8"/>
          </a:solidFill>
          <a:ln w="12700">
            <a:solidFill>
              <a:srgbClr val="F3EEF8"/>
            </a:solidFill>
            <a:prstDash val="solid"/>
          </a:ln>
        </p:spPr>
      </p:sp>
      <p:sp>
        <p:nvSpPr>
          <p:cNvPr id="16" name="Text 13"/>
          <p:cNvSpPr/>
          <p:nvPr/>
        </p:nvSpPr>
        <p:spPr>
          <a:xfrm>
            <a:off x="841248" y="4078224"/>
            <a:ext cx="3108960" cy="365760"/>
          </a:xfrm>
          <a:prstGeom prst="rect">
            <a:avLst/>
          </a:prstGeom>
          <a:noFill/>
          <a:ln/>
        </p:spPr>
        <p:txBody>
          <a:bodyPr wrap="square" lIns="0" tIns="0" rIns="0" bIns="0" rtlCol="0" anchor="ctr"/>
          <a:lstStyle/>
          <a:p>
            <a:pPr indent="0" marL="0">
              <a:buNone/>
            </a:pPr>
            <a:r>
              <a:rPr lang="en-US" sz="1450" b="1" dirty="0">
                <a:solidFill>
                  <a:srgbClr val="1C1F2A"/>
                </a:solidFill>
                <a:latin typeface="Cambria" pitchFamily="34" charset="0"/>
                <a:ea typeface="Cambria" pitchFamily="34" charset="-122"/>
                <a:cs typeface="Cambria" pitchFamily="34" charset="-120"/>
              </a:rPr>
              <a:t>Depth limits with EVAL</a:t>
            </a:r>
            <a:endParaRPr lang="en-US" sz="1450" dirty="0"/>
          </a:p>
        </p:txBody>
      </p:sp>
      <p:sp>
        <p:nvSpPr>
          <p:cNvPr id="17" name="Text 14"/>
          <p:cNvSpPr/>
          <p:nvPr/>
        </p:nvSpPr>
        <p:spPr>
          <a:xfrm>
            <a:off x="841248" y="4462272"/>
            <a:ext cx="3108960" cy="310896"/>
          </a:xfrm>
          <a:prstGeom prst="rect">
            <a:avLst/>
          </a:prstGeom>
          <a:noFill/>
          <a:ln/>
        </p:spPr>
        <p:txBody>
          <a:bodyPr wrap="square" lIns="0" tIns="0" rIns="0" bIns="0" rtlCol="0" anchor="ctr"/>
          <a:lstStyle/>
          <a:p>
            <a:pPr indent="0" marL="0">
              <a:buNone/>
            </a:pPr>
            <a:r>
              <a:rPr lang="en-US" sz="1250" b="1" i="1" dirty="0">
                <a:solidFill>
                  <a:srgbClr val="6B4E8F"/>
                </a:solidFill>
                <a:latin typeface="Calibri" pitchFamily="34" charset="0"/>
                <a:ea typeface="Calibri" pitchFamily="34" charset="-122"/>
                <a:cs typeface="Calibri" pitchFamily="34" charset="-120"/>
              </a:rPr>
              <a:t>Still applies</a:t>
            </a:r>
            <a:endParaRPr lang="en-US" sz="1250" dirty="0"/>
          </a:p>
        </p:txBody>
      </p:sp>
      <p:sp>
        <p:nvSpPr>
          <p:cNvPr id="18" name="Text 15"/>
          <p:cNvSpPr/>
          <p:nvPr/>
        </p:nvSpPr>
        <p:spPr>
          <a:xfrm>
            <a:off x="4206240" y="4041648"/>
            <a:ext cx="7132320" cy="914400"/>
          </a:xfrm>
          <a:prstGeom prst="rect">
            <a:avLst/>
          </a:prstGeom>
          <a:noFill/>
          <a:ln/>
        </p:spPr>
        <p:txBody>
          <a:bodyPr wrap="square" lIns="0" tIns="0" rIns="0" bIns="0" rtlCol="0" anchor="ctr"/>
          <a:lstStyle/>
          <a:p>
            <a:pPr indent="0" marL="0">
              <a:buNone/>
            </a:pPr>
            <a:r>
              <a:rPr lang="en-US" sz="1280" dirty="0">
                <a:solidFill>
                  <a:srgbClr val="3A3F4C"/>
                </a:solidFill>
                <a:latin typeface="Calibri" pitchFamily="34" charset="0"/>
                <a:ea typeface="Calibri" pitchFamily="34" charset="-122"/>
                <a:cs typeface="Calibri" pitchFamily="34" charset="-120"/>
              </a:rPr>
              <a:t>Stop at a fixed depth, substitute the evaluation function’s estimate, and back that estimate up through the chance and max nodes exactly as before.</a:t>
            </a:r>
            <a:endParaRPr lang="en-US" sz="1280" dirty="0"/>
          </a:p>
        </p:txBody>
      </p:sp>
      <p:sp>
        <p:nvSpPr>
          <p:cNvPr id="19" name="Shape 16"/>
          <p:cNvSpPr/>
          <p:nvPr/>
        </p:nvSpPr>
        <p:spPr>
          <a:xfrm>
            <a:off x="566928" y="5257800"/>
            <a:ext cx="5394960" cy="914400"/>
          </a:xfrm>
          <a:prstGeom prst="roundRect">
            <a:avLst>
              <a:gd name="adj" fmla="val 7000"/>
            </a:avLst>
          </a:prstGeom>
          <a:solidFill>
            <a:srgbClr val="1C1F2A"/>
          </a:solidFill>
          <a:ln w="12700">
            <a:solidFill>
              <a:srgbClr val="1C1F2A"/>
            </a:solidFill>
            <a:prstDash val="solid"/>
          </a:ln>
        </p:spPr>
      </p:sp>
      <p:sp>
        <p:nvSpPr>
          <p:cNvPr id="20" name="Text 17"/>
          <p:cNvSpPr/>
          <p:nvPr/>
        </p:nvSpPr>
        <p:spPr>
          <a:xfrm>
            <a:off x="868680" y="5257800"/>
            <a:ext cx="2011680" cy="914400"/>
          </a:xfrm>
          <a:prstGeom prst="rect">
            <a:avLst/>
          </a:prstGeom>
          <a:noFill/>
          <a:ln/>
        </p:spPr>
        <p:txBody>
          <a:bodyPr wrap="square" lIns="0" tIns="0" rIns="0" bIns="0" rtlCol="0" anchor="ctr"/>
          <a:lstStyle/>
          <a:p>
            <a:pPr indent="0" marL="0">
              <a:buNone/>
            </a:pPr>
            <a:r>
              <a:rPr lang="en-US" sz="2400" b="1" dirty="0">
                <a:solidFill>
                  <a:srgbClr val="B58500"/>
                </a:solidFill>
                <a:latin typeface="Cambria" pitchFamily="34" charset="0"/>
                <a:ea typeface="Cambria" pitchFamily="34" charset="-122"/>
                <a:cs typeface="Cambria" pitchFamily="34" charset="-120"/>
              </a:rPr>
              <a:t>O(bᵐ nᵐ)</a:t>
            </a:r>
            <a:endParaRPr lang="en-US" sz="2400" dirty="0"/>
          </a:p>
        </p:txBody>
      </p:sp>
      <p:sp>
        <p:nvSpPr>
          <p:cNvPr id="21" name="Text 18"/>
          <p:cNvSpPr/>
          <p:nvPr/>
        </p:nvSpPr>
        <p:spPr>
          <a:xfrm>
            <a:off x="2880360" y="5257800"/>
            <a:ext cx="2926080" cy="914400"/>
          </a:xfrm>
          <a:prstGeom prst="rect">
            <a:avLst/>
          </a:prstGeom>
          <a:noFill/>
          <a:ln/>
        </p:spPr>
        <p:txBody>
          <a:bodyPr wrap="square" lIns="0" tIns="0" rIns="0" bIns="0" rtlCol="0" anchor="ctr"/>
          <a:lstStyle/>
          <a:p>
            <a:pPr indent="0" marL="0">
              <a:buNone/>
            </a:pPr>
            <a:r>
              <a:rPr lang="en-US" sz="1150" dirty="0">
                <a:solidFill>
                  <a:srgbClr val="C6CBD8"/>
                </a:solidFill>
                <a:latin typeface="Calibri" pitchFamily="34" charset="0"/>
                <a:ea typeface="Calibri" pitchFamily="34" charset="-122"/>
                <a:cs typeface="Calibri" pitchFamily="34" charset="-120"/>
              </a:rPr>
              <a:t>where n is the number of distinct chance outcomes. Backgammon has n = 21 and b around 20, sometimes 4000. Three ply is realistic.</a:t>
            </a:r>
            <a:endParaRPr lang="en-US" sz="1150" dirty="0"/>
          </a:p>
        </p:txBody>
      </p:sp>
      <p:sp>
        <p:nvSpPr>
          <p:cNvPr id="22" name="Shape 19"/>
          <p:cNvSpPr/>
          <p:nvPr/>
        </p:nvSpPr>
        <p:spPr>
          <a:xfrm>
            <a:off x="6236208" y="5257800"/>
            <a:ext cx="5394960" cy="914400"/>
          </a:xfrm>
          <a:prstGeom prst="roundRect">
            <a:avLst>
              <a:gd name="adj" fmla="val 7000"/>
            </a:avLst>
          </a:prstGeom>
          <a:solidFill>
            <a:srgbClr val="F1F2F5"/>
          </a:solidFill>
          <a:ln w="12700">
            <a:solidFill>
              <a:srgbClr val="F1F2F5"/>
            </a:solidFill>
            <a:prstDash val="solid"/>
          </a:ln>
        </p:spPr>
      </p:sp>
      <p:sp>
        <p:nvSpPr>
          <p:cNvPr id="23" name="Text 20"/>
          <p:cNvSpPr/>
          <p:nvPr/>
        </p:nvSpPr>
        <p:spPr>
          <a:xfrm>
            <a:off x="6510528" y="5257800"/>
            <a:ext cx="4864608" cy="914400"/>
          </a:xfrm>
          <a:prstGeom prst="rect">
            <a:avLst/>
          </a:prstGeom>
          <a:noFill/>
          <a:ln/>
        </p:spPr>
        <p:txBody>
          <a:bodyPr wrap="square" lIns="0" tIns="0" rIns="0" bIns="0" rtlCol="0" anchor="ctr"/>
          <a:lstStyle/>
          <a:p>
            <a:pPr indent="0" marL="0">
              <a:buNone/>
            </a:pPr>
            <a:r>
              <a:rPr lang="en-US" sz="1200" dirty="0">
                <a:solidFill>
                  <a:srgbClr val="3A3F4C"/>
                </a:solidFill>
                <a:latin typeface="Calibri" pitchFamily="34" charset="0"/>
                <a:ea typeface="Calibri" pitchFamily="34" charset="-122"/>
                <a:cs typeface="Calibri" pitchFamily="34" charset="-120"/>
              </a:rPr>
              <a:t>Alpha-beta’s advantage was ignoring futures that will not happen under best play. With two dice thrown before every move, there are no likely sequences: even the most likely move occurs only 2 in 36 of the time.</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EXPECTIMINIMAX</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Backgammon: MAX, then dice, then MIN, then dice</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40</a:t>
            </a:r>
            <a:endParaRPr lang="en-US" sz="900" dirty="0"/>
          </a:p>
        </p:txBody>
      </p:sp>
      <p:sp>
        <p:nvSpPr>
          <p:cNvPr id="7" name="Shape 4"/>
          <p:cNvSpPr/>
          <p:nvPr/>
        </p:nvSpPr>
        <p:spPr>
          <a:xfrm>
            <a:off x="566928" y="1444752"/>
            <a:ext cx="6766560" cy="2286000"/>
          </a:xfrm>
          <a:prstGeom prst="roundRect">
            <a:avLst>
              <a:gd name="adj" fmla="val 2800"/>
            </a:avLst>
          </a:prstGeom>
          <a:solidFill>
            <a:srgbClr val="1C1F2A"/>
          </a:solidFill>
          <a:ln w="12700">
            <a:solidFill>
              <a:srgbClr val="1C1F2A"/>
            </a:solidFill>
            <a:prstDash val="solid"/>
          </a:ln>
        </p:spPr>
      </p:sp>
      <p:sp>
        <p:nvSpPr>
          <p:cNvPr id="8" name="Text 5"/>
          <p:cNvSpPr/>
          <p:nvPr/>
        </p:nvSpPr>
        <p:spPr>
          <a:xfrm>
            <a:off x="868680" y="1627632"/>
            <a:ext cx="3657600" cy="365760"/>
          </a:xfrm>
          <a:prstGeom prst="rect">
            <a:avLst/>
          </a:prstGeom>
          <a:noFill/>
          <a:ln/>
        </p:spPr>
        <p:txBody>
          <a:bodyPr wrap="square" lIns="0" tIns="0" rIns="0" bIns="0" rtlCol="0" anchor="ctr"/>
          <a:lstStyle/>
          <a:p>
            <a:pPr indent="0" marL="0">
              <a:buNone/>
            </a:pPr>
            <a:r>
              <a:rPr lang="en-US" sz="1500" b="1" dirty="0">
                <a:solidFill>
                  <a:srgbClr val="B58500"/>
                </a:solidFill>
                <a:latin typeface="Calibri" pitchFamily="34" charset="0"/>
                <a:ea typeface="Calibri" pitchFamily="34" charset="-122"/>
                <a:cs typeface="Calibri" pitchFamily="34" charset="-120"/>
              </a:rPr>
              <a:t>EXPECTIMINIMAX(s)  =</a:t>
            </a:r>
            <a:endParaRPr lang="en-US" sz="1500" dirty="0"/>
          </a:p>
        </p:txBody>
      </p:sp>
      <p:sp>
        <p:nvSpPr>
          <p:cNvPr id="9" name="Text 6"/>
          <p:cNvSpPr/>
          <p:nvPr/>
        </p:nvSpPr>
        <p:spPr>
          <a:xfrm>
            <a:off x="1051560" y="2029968"/>
            <a:ext cx="3931920" cy="365760"/>
          </a:xfrm>
          <a:prstGeom prst="rect">
            <a:avLst/>
          </a:prstGeom>
          <a:noFill/>
          <a:ln/>
        </p:spPr>
        <p:txBody>
          <a:bodyPr wrap="square" lIns="0" tIns="0" rIns="0" bIns="0" rtlCol="0" anchor="ctr"/>
          <a:lstStyle/>
          <a:p>
            <a:pPr indent="0" marL="0">
              <a:buNone/>
            </a:pPr>
            <a:r>
              <a:rPr lang="en-US" sz="1250" dirty="0">
                <a:solidFill>
                  <a:srgbClr val="E6E9F0"/>
                </a:solidFill>
                <a:latin typeface="Calibri" pitchFamily="34" charset="0"/>
                <a:ea typeface="Calibri" pitchFamily="34" charset="-122"/>
                <a:cs typeface="Calibri" pitchFamily="34" charset="-120"/>
              </a:rPr>
              <a:t>UTILITY(s, MAX)</a:t>
            </a:r>
            <a:endParaRPr lang="en-US" sz="1250" dirty="0"/>
          </a:p>
        </p:txBody>
      </p:sp>
      <p:sp>
        <p:nvSpPr>
          <p:cNvPr id="10" name="Text 7"/>
          <p:cNvSpPr/>
          <p:nvPr/>
        </p:nvSpPr>
        <p:spPr>
          <a:xfrm>
            <a:off x="5120640" y="2029968"/>
            <a:ext cx="2103120" cy="365760"/>
          </a:xfrm>
          <a:prstGeom prst="rect">
            <a:avLst/>
          </a:prstGeom>
          <a:noFill/>
          <a:ln/>
        </p:spPr>
        <p:txBody>
          <a:bodyPr wrap="square" lIns="0" tIns="0" rIns="0" bIns="0" rtlCol="0" anchor="ctr"/>
          <a:lstStyle/>
          <a:p>
            <a:pPr indent="0" marL="0">
              <a:buNone/>
            </a:pPr>
            <a:r>
              <a:rPr lang="en-US" sz="1150" i="1" dirty="0">
                <a:solidFill>
                  <a:srgbClr val="9AA2B4"/>
                </a:solidFill>
                <a:latin typeface="Calibri" pitchFamily="34" charset="0"/>
                <a:ea typeface="Calibri" pitchFamily="34" charset="-122"/>
                <a:cs typeface="Calibri" pitchFamily="34" charset="-120"/>
              </a:rPr>
              <a:t>if IS-TERMINAL(s)</a:t>
            </a:r>
            <a:endParaRPr lang="en-US" sz="1150" dirty="0"/>
          </a:p>
        </p:txBody>
      </p:sp>
      <p:sp>
        <p:nvSpPr>
          <p:cNvPr id="11" name="Text 8"/>
          <p:cNvSpPr/>
          <p:nvPr/>
        </p:nvSpPr>
        <p:spPr>
          <a:xfrm>
            <a:off x="1051560" y="2441448"/>
            <a:ext cx="3931920" cy="365760"/>
          </a:xfrm>
          <a:prstGeom prst="rect">
            <a:avLst/>
          </a:prstGeom>
          <a:noFill/>
          <a:ln/>
        </p:spPr>
        <p:txBody>
          <a:bodyPr wrap="square" lIns="0" tIns="0" rIns="0" bIns="0" rtlCol="0" anchor="ctr"/>
          <a:lstStyle/>
          <a:p>
            <a:pPr indent="0" marL="0">
              <a:buNone/>
            </a:pPr>
            <a:r>
              <a:rPr lang="en-US" sz="1250" dirty="0">
                <a:solidFill>
                  <a:srgbClr val="E6E9F0"/>
                </a:solidFill>
                <a:latin typeface="Calibri" pitchFamily="34" charset="0"/>
                <a:ea typeface="Calibri" pitchFamily="34" charset="-122"/>
                <a:cs typeface="Calibri" pitchFamily="34" charset="-120"/>
              </a:rPr>
              <a:t>maxₐ EXPECTIMINIMAX(RESULT(s, a))</a:t>
            </a:r>
            <a:endParaRPr lang="en-US" sz="1250" dirty="0"/>
          </a:p>
        </p:txBody>
      </p:sp>
      <p:sp>
        <p:nvSpPr>
          <p:cNvPr id="12" name="Text 9"/>
          <p:cNvSpPr/>
          <p:nvPr/>
        </p:nvSpPr>
        <p:spPr>
          <a:xfrm>
            <a:off x="5120640" y="2441448"/>
            <a:ext cx="2103120" cy="365760"/>
          </a:xfrm>
          <a:prstGeom prst="rect">
            <a:avLst/>
          </a:prstGeom>
          <a:noFill/>
          <a:ln/>
        </p:spPr>
        <p:txBody>
          <a:bodyPr wrap="square" lIns="0" tIns="0" rIns="0" bIns="0" rtlCol="0" anchor="ctr"/>
          <a:lstStyle/>
          <a:p>
            <a:pPr indent="0" marL="0">
              <a:buNone/>
            </a:pPr>
            <a:r>
              <a:rPr lang="en-US" sz="1150" i="1" dirty="0">
                <a:solidFill>
                  <a:srgbClr val="F0A177"/>
                </a:solidFill>
                <a:latin typeface="Calibri" pitchFamily="34" charset="0"/>
                <a:ea typeface="Calibri" pitchFamily="34" charset="-122"/>
                <a:cs typeface="Calibri" pitchFamily="34" charset="-120"/>
              </a:rPr>
              <a:t>if TO-MOVE(s) = MAX</a:t>
            </a:r>
            <a:endParaRPr lang="en-US" sz="1150" dirty="0"/>
          </a:p>
        </p:txBody>
      </p:sp>
      <p:sp>
        <p:nvSpPr>
          <p:cNvPr id="13" name="Text 10"/>
          <p:cNvSpPr/>
          <p:nvPr/>
        </p:nvSpPr>
        <p:spPr>
          <a:xfrm>
            <a:off x="1051560" y="2852928"/>
            <a:ext cx="3931920" cy="365760"/>
          </a:xfrm>
          <a:prstGeom prst="rect">
            <a:avLst/>
          </a:prstGeom>
          <a:noFill/>
          <a:ln/>
        </p:spPr>
        <p:txBody>
          <a:bodyPr wrap="square" lIns="0" tIns="0" rIns="0" bIns="0" rtlCol="0" anchor="ctr"/>
          <a:lstStyle/>
          <a:p>
            <a:pPr indent="0" marL="0">
              <a:buNone/>
            </a:pPr>
            <a:r>
              <a:rPr lang="en-US" sz="1250" dirty="0">
                <a:solidFill>
                  <a:srgbClr val="E6E9F0"/>
                </a:solidFill>
                <a:latin typeface="Calibri" pitchFamily="34" charset="0"/>
                <a:ea typeface="Calibri" pitchFamily="34" charset="-122"/>
                <a:cs typeface="Calibri" pitchFamily="34" charset="-120"/>
              </a:rPr>
              <a:t>minₐ EXPECTIMINIMAX(RESULT(s, a))</a:t>
            </a:r>
            <a:endParaRPr lang="en-US" sz="1250" dirty="0"/>
          </a:p>
        </p:txBody>
      </p:sp>
      <p:sp>
        <p:nvSpPr>
          <p:cNvPr id="14" name="Text 11"/>
          <p:cNvSpPr/>
          <p:nvPr/>
        </p:nvSpPr>
        <p:spPr>
          <a:xfrm>
            <a:off x="5120640" y="2852928"/>
            <a:ext cx="2103120" cy="365760"/>
          </a:xfrm>
          <a:prstGeom prst="rect">
            <a:avLst/>
          </a:prstGeom>
          <a:noFill/>
          <a:ln/>
        </p:spPr>
        <p:txBody>
          <a:bodyPr wrap="square" lIns="0" tIns="0" rIns="0" bIns="0" rtlCol="0" anchor="ctr"/>
          <a:lstStyle/>
          <a:p>
            <a:pPr indent="0" marL="0">
              <a:buNone/>
            </a:pPr>
            <a:r>
              <a:rPr lang="en-US" sz="1150" i="1" dirty="0">
                <a:solidFill>
                  <a:srgbClr val="7FB6CE"/>
                </a:solidFill>
                <a:latin typeface="Calibri" pitchFamily="34" charset="0"/>
                <a:ea typeface="Calibri" pitchFamily="34" charset="-122"/>
                <a:cs typeface="Calibri" pitchFamily="34" charset="-120"/>
              </a:rPr>
              <a:t>if TO-MOVE(s) = MIN</a:t>
            </a:r>
            <a:endParaRPr lang="en-US" sz="1150" dirty="0"/>
          </a:p>
        </p:txBody>
      </p:sp>
      <p:sp>
        <p:nvSpPr>
          <p:cNvPr id="15" name="Text 12"/>
          <p:cNvSpPr/>
          <p:nvPr/>
        </p:nvSpPr>
        <p:spPr>
          <a:xfrm>
            <a:off x="1051560" y="3264408"/>
            <a:ext cx="3931920" cy="365760"/>
          </a:xfrm>
          <a:prstGeom prst="rect">
            <a:avLst/>
          </a:prstGeom>
          <a:noFill/>
          <a:ln/>
        </p:spPr>
        <p:txBody>
          <a:bodyPr wrap="square" lIns="0" tIns="0" rIns="0" bIns="0" rtlCol="0" anchor="ctr"/>
          <a:lstStyle/>
          <a:p>
            <a:pPr indent="0" marL="0">
              <a:buNone/>
            </a:pPr>
            <a:r>
              <a:rPr lang="en-US" sz="1250" dirty="0">
                <a:solidFill>
                  <a:srgbClr val="E6E9F0"/>
                </a:solidFill>
                <a:latin typeface="Calibri" pitchFamily="34" charset="0"/>
                <a:ea typeface="Calibri" pitchFamily="34" charset="-122"/>
                <a:cs typeface="Calibri" pitchFamily="34" charset="-120"/>
              </a:rPr>
              <a:t>∑ᵣ P(r) EXPECTIMINIMAX(RESULT(s, r))</a:t>
            </a:r>
            <a:endParaRPr lang="en-US" sz="1250" dirty="0"/>
          </a:p>
        </p:txBody>
      </p:sp>
      <p:sp>
        <p:nvSpPr>
          <p:cNvPr id="16" name="Text 13"/>
          <p:cNvSpPr/>
          <p:nvPr/>
        </p:nvSpPr>
        <p:spPr>
          <a:xfrm>
            <a:off x="5120640" y="3264408"/>
            <a:ext cx="2103120" cy="365760"/>
          </a:xfrm>
          <a:prstGeom prst="rect">
            <a:avLst/>
          </a:prstGeom>
          <a:noFill/>
          <a:ln/>
        </p:spPr>
        <p:txBody>
          <a:bodyPr wrap="square" lIns="0" tIns="0" rIns="0" bIns="0" rtlCol="0" anchor="ctr"/>
          <a:lstStyle/>
          <a:p>
            <a:pPr indent="0" marL="0">
              <a:buNone/>
            </a:pPr>
            <a:r>
              <a:rPr lang="en-US" sz="1150" i="1" dirty="0">
                <a:solidFill>
                  <a:srgbClr val="B79BD9"/>
                </a:solidFill>
                <a:latin typeface="Calibri" pitchFamily="34" charset="0"/>
                <a:ea typeface="Calibri" pitchFamily="34" charset="-122"/>
                <a:cs typeface="Calibri" pitchFamily="34" charset="-120"/>
              </a:rPr>
              <a:t>if TO-MOVE(s) = CHANCE</a:t>
            </a:r>
            <a:endParaRPr lang="en-US" sz="1150" dirty="0"/>
          </a:p>
        </p:txBody>
      </p:sp>
      <p:sp>
        <p:nvSpPr>
          <p:cNvPr id="17" name="Shape 14"/>
          <p:cNvSpPr/>
          <p:nvPr/>
        </p:nvSpPr>
        <p:spPr>
          <a:xfrm>
            <a:off x="7589520" y="1444752"/>
            <a:ext cx="4041648" cy="2286000"/>
          </a:xfrm>
          <a:prstGeom prst="roundRect">
            <a:avLst>
              <a:gd name="adj" fmla="val 2800"/>
            </a:avLst>
          </a:prstGeom>
          <a:solidFill>
            <a:srgbClr val="F1F2F5"/>
          </a:solidFill>
          <a:ln w="12700">
            <a:solidFill>
              <a:srgbClr val="F1F2F5"/>
            </a:solidFill>
            <a:prstDash val="solid"/>
          </a:ln>
        </p:spPr>
      </p:sp>
      <p:sp>
        <p:nvSpPr>
          <p:cNvPr id="18" name="Text 15"/>
          <p:cNvSpPr/>
          <p:nvPr/>
        </p:nvSpPr>
        <p:spPr>
          <a:xfrm>
            <a:off x="7863840" y="1600200"/>
            <a:ext cx="3566160" cy="310896"/>
          </a:xfrm>
          <a:prstGeom prst="rect">
            <a:avLst/>
          </a:prstGeom>
          <a:noFill/>
          <a:ln/>
        </p:spPr>
        <p:txBody>
          <a:bodyPr wrap="square" lIns="0" tIns="0" rIns="0" bIns="0" rtlCol="0" anchor="ctr"/>
          <a:lstStyle/>
          <a:p>
            <a:pPr indent="0" marL="0">
              <a:buNone/>
            </a:pPr>
            <a:r>
              <a:rPr lang="en-US" sz="1500" b="1" dirty="0">
                <a:solidFill>
                  <a:srgbClr val="6B4E8F"/>
                </a:solidFill>
                <a:latin typeface="Cambria" pitchFamily="34" charset="0"/>
                <a:ea typeface="Cambria" pitchFamily="34" charset="-122"/>
                <a:cs typeface="Cambria" pitchFamily="34" charset="-120"/>
              </a:rPr>
              <a:t>The dice</a:t>
            </a:r>
            <a:endParaRPr lang="en-US" sz="1500" dirty="0"/>
          </a:p>
        </p:txBody>
      </p:sp>
      <p:sp>
        <p:nvSpPr>
          <p:cNvPr id="19" name="Text 16"/>
          <p:cNvSpPr/>
          <p:nvPr/>
        </p:nvSpPr>
        <p:spPr>
          <a:xfrm>
            <a:off x="7863840" y="1938528"/>
            <a:ext cx="3566160" cy="4206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A3F4C"/>
                </a:solidFill>
                <a:latin typeface="Calibri" pitchFamily="34" charset="0"/>
                <a:ea typeface="Calibri" pitchFamily="34" charset="-122"/>
                <a:cs typeface="Calibri" pitchFamily="34" charset="-120"/>
              </a:rPr>
              <a:t>36 ways to roll two dice, all equally likely.</a:t>
            </a:r>
            <a:endParaRPr lang="en-US" sz="1200" dirty="0"/>
          </a:p>
          <a:p>
            <a:pPr marL="342900" indent="-342900">
              <a:spcAft>
                <a:spcPts val="600"/>
              </a:spcAft>
              <a:buSzPct val="100000"/>
              <a:buChar char="•"/>
            </a:pPr>
            <a:r>
              <a:rPr lang="en-US" sz="1200" dirty="0">
                <a:solidFill>
                  <a:srgbClr val="3A3F4C"/>
                </a:solidFill>
                <a:latin typeface="Calibri" pitchFamily="34" charset="0"/>
                <a:ea typeface="Calibri" pitchFamily="34" charset="-122"/>
                <a:cs typeface="Calibri" pitchFamily="34" charset="-120"/>
              </a:rPr>
              <a:t>Only 21 distinct rolls, since 6–5 and 5–6 are the same move.</a:t>
            </a:r>
            <a:endParaRPr lang="en-US" sz="1200" dirty="0"/>
          </a:p>
          <a:p>
            <a:pPr marL="342900" indent="-342900">
              <a:spcAft>
                <a:spcPts val="600"/>
              </a:spcAft>
              <a:buSzPct val="100000"/>
              <a:buChar char="•"/>
            </a:pPr>
            <a:r>
              <a:rPr lang="en-US" sz="1200" dirty="0">
                <a:solidFill>
                  <a:srgbClr val="3A3F4C"/>
                </a:solidFill>
                <a:latin typeface="Calibri" pitchFamily="34" charset="0"/>
                <a:ea typeface="Calibri" pitchFamily="34" charset="-122"/>
                <a:cs typeface="Calibri" pitchFamily="34" charset="-120"/>
              </a:rPr>
              <a:t>Each of the six doubles has probability 1/36.</a:t>
            </a:r>
            <a:endParaRPr lang="en-US" sz="1200" dirty="0"/>
          </a:p>
          <a:p>
            <a:pPr marL="342900" indent="-342900">
              <a:spcAft>
                <a:spcPts val="600"/>
              </a:spcAft>
              <a:buSzPct val="100000"/>
              <a:buChar char="•"/>
            </a:pPr>
            <a:r>
              <a:rPr lang="en-US" sz="1200" dirty="0">
                <a:solidFill>
                  <a:srgbClr val="3A3F4C"/>
                </a:solidFill>
                <a:latin typeface="Calibri" pitchFamily="34" charset="0"/>
                <a:ea typeface="Calibri" pitchFamily="34" charset="-122"/>
                <a:cs typeface="Calibri" pitchFamily="34" charset="-120"/>
              </a:rPr>
              <a:t>Each of the other fifteen rolls has probability 1/18.</a:t>
            </a:r>
            <a:endParaRPr lang="en-US" sz="1200" dirty="0"/>
          </a:p>
        </p:txBody>
      </p:sp>
      <p:sp>
        <p:nvSpPr>
          <p:cNvPr id="20" name="Shape 17"/>
          <p:cNvSpPr/>
          <p:nvPr/>
        </p:nvSpPr>
        <p:spPr>
          <a:xfrm>
            <a:off x="566928" y="3858768"/>
            <a:ext cx="5394960" cy="1901952"/>
          </a:xfrm>
          <a:prstGeom prst="roundRect">
            <a:avLst>
              <a:gd name="adj" fmla="val 3365"/>
            </a:avLst>
          </a:prstGeom>
          <a:solidFill>
            <a:srgbClr val="F3EEF8"/>
          </a:solidFill>
          <a:ln w="12700">
            <a:solidFill>
              <a:srgbClr val="F3EEF8"/>
            </a:solidFill>
            <a:prstDash val="solid"/>
          </a:ln>
        </p:spPr>
      </p:sp>
      <p:sp>
        <p:nvSpPr>
          <p:cNvPr id="21" name="Text 18"/>
          <p:cNvSpPr/>
          <p:nvPr/>
        </p:nvSpPr>
        <p:spPr>
          <a:xfrm>
            <a:off x="841248" y="4023360"/>
            <a:ext cx="4754880" cy="310896"/>
          </a:xfrm>
          <a:prstGeom prst="rect">
            <a:avLst/>
          </a:prstGeom>
          <a:noFill/>
          <a:ln/>
        </p:spPr>
        <p:txBody>
          <a:bodyPr wrap="square" lIns="0" tIns="0" rIns="0" bIns="0" rtlCol="0" anchor="ctr"/>
          <a:lstStyle/>
          <a:p>
            <a:pPr indent="0" marL="0">
              <a:buNone/>
            </a:pPr>
            <a:r>
              <a:rPr lang="en-US" sz="1500" b="1" dirty="0">
                <a:solidFill>
                  <a:srgbClr val="6B4E8F"/>
                </a:solidFill>
                <a:latin typeface="Cambria" pitchFamily="34" charset="0"/>
                <a:ea typeface="Cambria" pitchFamily="34" charset="-122"/>
                <a:cs typeface="Cambria" pitchFamily="34" charset="-120"/>
              </a:rPr>
              <a:t>Why the change is small</a:t>
            </a:r>
            <a:endParaRPr lang="en-US" sz="1500" dirty="0"/>
          </a:p>
        </p:txBody>
      </p:sp>
      <p:sp>
        <p:nvSpPr>
          <p:cNvPr id="22" name="Text 19"/>
          <p:cNvSpPr/>
          <p:nvPr/>
        </p:nvSpPr>
        <p:spPr>
          <a:xfrm>
            <a:off x="841248" y="4370832"/>
            <a:ext cx="4864608" cy="1280160"/>
          </a:xfrm>
          <a:prstGeom prst="rect">
            <a:avLst/>
          </a:prstGeom>
          <a:noFill/>
          <a:ln/>
        </p:spPr>
        <p:txBody>
          <a:bodyPr wrap="square" lIns="0" tIns="0" rIns="0" bIns="0" rtlCol="0" anchor="t"/>
          <a:lstStyle/>
          <a:p>
            <a:pPr indent="0" marL="0">
              <a:buNone/>
            </a:pPr>
            <a:r>
              <a:rPr lang="en-US" sz="1280" dirty="0">
                <a:solidFill>
                  <a:srgbClr val="3A3F4C"/>
                </a:solidFill>
                <a:latin typeface="Calibri" pitchFamily="34" charset="0"/>
                <a:ea typeface="Calibri" pitchFamily="34" charset="-122"/>
                <a:cs typeface="Calibri" pitchFamily="34" charset="-120"/>
              </a:rPr>
              <a:t>MAX moves, a die roll determines the options, MIN moves, and it repeats. Algorithmically this is only a shift from a three-way dispatch on max, min and terminal to a four-way dispatch that adds chance. Positions no longer have definite minimax values, only expected values.</a:t>
            </a:r>
            <a:endParaRPr lang="en-US" sz="1280" dirty="0"/>
          </a:p>
        </p:txBody>
      </p:sp>
      <p:sp>
        <p:nvSpPr>
          <p:cNvPr id="23" name="Shape 20"/>
          <p:cNvSpPr/>
          <p:nvPr/>
        </p:nvSpPr>
        <p:spPr>
          <a:xfrm>
            <a:off x="6236208" y="3858768"/>
            <a:ext cx="5394960" cy="1901952"/>
          </a:xfrm>
          <a:prstGeom prst="roundRect">
            <a:avLst>
              <a:gd name="adj" fmla="val 3365"/>
            </a:avLst>
          </a:prstGeom>
          <a:solidFill>
            <a:srgbClr val="FDF2EC"/>
          </a:solidFill>
          <a:ln w="12700">
            <a:solidFill>
              <a:srgbClr val="FDF2EC"/>
            </a:solidFill>
            <a:prstDash val="solid"/>
          </a:ln>
        </p:spPr>
      </p:sp>
      <p:sp>
        <p:nvSpPr>
          <p:cNvPr id="24" name="Text 21"/>
          <p:cNvSpPr/>
          <p:nvPr/>
        </p:nvSpPr>
        <p:spPr>
          <a:xfrm>
            <a:off x="6510528" y="4023360"/>
            <a:ext cx="4754880" cy="310896"/>
          </a:xfrm>
          <a:prstGeom prst="rect">
            <a:avLst/>
          </a:prstGeom>
          <a:noFill/>
          <a:ln/>
        </p:spPr>
        <p:txBody>
          <a:bodyPr wrap="square" lIns="0" tIns="0" rIns="0" bIns="0" rtlCol="0" anchor="ctr"/>
          <a:lstStyle/>
          <a:p>
            <a:pPr indent="0" marL="0">
              <a:buNone/>
            </a:pPr>
            <a:r>
              <a:rPr lang="en-US" sz="1500" b="1" dirty="0">
                <a:solidFill>
                  <a:srgbClr val="C2410C"/>
                </a:solidFill>
                <a:latin typeface="Cambria" pitchFamily="34" charset="0"/>
                <a:ea typeface="Cambria" pitchFamily="34" charset="-122"/>
                <a:cs typeface="Cambria" pitchFamily="34" charset="-120"/>
              </a:rPr>
              <a:t>Why deep search matters less here</a:t>
            </a:r>
            <a:endParaRPr lang="en-US" sz="1500" dirty="0"/>
          </a:p>
        </p:txBody>
      </p:sp>
      <p:sp>
        <p:nvSpPr>
          <p:cNvPr id="25" name="Text 22"/>
          <p:cNvSpPr/>
          <p:nvPr/>
        </p:nvSpPr>
        <p:spPr>
          <a:xfrm>
            <a:off x="6510528" y="4370832"/>
            <a:ext cx="4864608" cy="1280160"/>
          </a:xfrm>
          <a:prstGeom prst="rect">
            <a:avLst/>
          </a:prstGeom>
          <a:noFill/>
          <a:ln/>
        </p:spPr>
        <p:txBody>
          <a:bodyPr wrap="square" lIns="0" tIns="0" rIns="0" bIns="0" rtlCol="0" anchor="t"/>
          <a:lstStyle/>
          <a:p>
            <a:pPr indent="0" marL="0">
              <a:buNone/>
            </a:pPr>
            <a:r>
              <a:rPr lang="en-US" sz="1280" dirty="0">
                <a:solidFill>
                  <a:srgbClr val="3A3F4C"/>
                </a:solidFill>
                <a:latin typeface="Calibri" pitchFamily="34" charset="0"/>
                <a:ea typeface="Calibri" pitchFamily="34" charset="-122"/>
                <a:cs typeface="Calibri" pitchFamily="34" charset="-120"/>
              </a:rPr>
              <a:t>Chance limits how much any single branch can dominate. An adversary can deterministically force a path; dice cannot. The first program to reach world-champion level at any game played backgammon with only a depth-2 search paired with a strong evaluation function trained by reinforcement learning.</a:t>
            </a:r>
            <a:endParaRPr lang="en-US" sz="12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5.5.1  EVALUATION FUNCTIONS FOR GAMES OF CHANCE</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Now the numbers matter, not just their order</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41</a:t>
            </a:r>
            <a:endParaRPr lang="en-US" sz="900" dirty="0"/>
          </a:p>
        </p:txBody>
      </p:sp>
      <p:sp>
        <p:nvSpPr>
          <p:cNvPr id="7" name="Text 4"/>
          <p:cNvSpPr/>
          <p:nvPr/>
        </p:nvSpPr>
        <p:spPr>
          <a:xfrm>
            <a:off x="566928" y="1426464"/>
            <a:ext cx="11064240" cy="347472"/>
          </a:xfrm>
          <a:prstGeom prst="rect">
            <a:avLst/>
          </a:prstGeom>
          <a:noFill/>
          <a:ln/>
        </p:spPr>
        <p:txBody>
          <a:bodyPr wrap="square" lIns="0" tIns="0" rIns="0" bIns="0" rtlCol="0" anchor="ctr"/>
          <a:lstStyle/>
          <a:p>
            <a:pPr indent="0" marL="0">
              <a:buNone/>
            </a:pPr>
            <a:r>
              <a:rPr lang="en-US" sz="1400" b="1" dirty="0">
                <a:solidFill>
                  <a:srgbClr val="3A3F4C"/>
                </a:solidFill>
                <a:latin typeface="Calibri" pitchFamily="34" charset="0"/>
                <a:ea typeface="Calibri" pitchFamily="34" charset="-122"/>
                <a:cs typeface="Calibri" pitchFamily="34" charset="-120"/>
              </a:rPr>
              <a:t>Same tree, same preference ordering of the leaves, different decision.</a:t>
            </a:r>
            <a:endParaRPr lang="en-US" sz="1400" dirty="0"/>
          </a:p>
        </p:txBody>
      </p:sp>
      <p:sp>
        <p:nvSpPr>
          <p:cNvPr id="8" name="Shape 5"/>
          <p:cNvSpPr/>
          <p:nvPr/>
        </p:nvSpPr>
        <p:spPr>
          <a:xfrm>
            <a:off x="566928" y="1828800"/>
            <a:ext cx="5394960" cy="2971800"/>
          </a:xfrm>
          <a:prstGeom prst="roundRect">
            <a:avLst>
              <a:gd name="adj" fmla="val 2154"/>
            </a:avLst>
          </a:prstGeom>
          <a:solidFill>
            <a:srgbClr val="EAF1F5"/>
          </a:solidFill>
          <a:ln w="12700">
            <a:solidFill>
              <a:srgbClr val="EAF1F5"/>
            </a:solidFill>
            <a:prstDash val="solid"/>
          </a:ln>
        </p:spPr>
      </p:sp>
      <p:sp>
        <p:nvSpPr>
          <p:cNvPr id="9" name="Shape 6"/>
          <p:cNvSpPr/>
          <p:nvPr/>
        </p:nvSpPr>
        <p:spPr>
          <a:xfrm>
            <a:off x="3063240" y="1993392"/>
            <a:ext cx="402336" cy="402336"/>
          </a:xfrm>
          <a:prstGeom prst="triangle">
            <a:avLst/>
          </a:prstGeom>
          <a:solidFill>
            <a:srgbClr val="C2410C"/>
          </a:solidFill>
          <a:ln w="12700">
            <a:solidFill>
              <a:srgbClr val="C2410C"/>
            </a:solidFill>
            <a:prstDash val="solid"/>
          </a:ln>
        </p:spPr>
      </p:sp>
      <p:sp>
        <p:nvSpPr>
          <p:cNvPr id="10" name="Shape 7"/>
          <p:cNvSpPr/>
          <p:nvPr/>
        </p:nvSpPr>
        <p:spPr>
          <a:xfrm flipH="1">
            <a:off x="1938528" y="2340864"/>
            <a:ext cx="1325880" cy="365760"/>
          </a:xfrm>
          <a:prstGeom prst="line">
            <a:avLst/>
          </a:prstGeom>
          <a:noFill/>
          <a:ln w="31750">
            <a:solidFill>
              <a:srgbClr val="1D4E63"/>
            </a:solidFill>
            <a:prstDash val="solid"/>
          </a:ln>
        </p:spPr>
      </p:sp>
      <p:sp>
        <p:nvSpPr>
          <p:cNvPr id="11" name="Shape 8"/>
          <p:cNvSpPr/>
          <p:nvPr/>
        </p:nvSpPr>
        <p:spPr>
          <a:xfrm>
            <a:off x="1737360" y="2706624"/>
            <a:ext cx="402336" cy="402336"/>
          </a:xfrm>
          <a:prstGeom prst="ellipse">
            <a:avLst/>
          </a:prstGeom>
          <a:solidFill>
            <a:srgbClr val="6B4E8F"/>
          </a:solidFill>
          <a:ln w="12700">
            <a:solidFill>
              <a:srgbClr val="6B4E8F"/>
            </a:solidFill>
            <a:prstDash val="solid"/>
          </a:ln>
        </p:spPr>
      </p:sp>
      <p:sp>
        <p:nvSpPr>
          <p:cNvPr id="12" name="Text 9"/>
          <p:cNvSpPr/>
          <p:nvPr/>
        </p:nvSpPr>
        <p:spPr>
          <a:xfrm>
            <a:off x="2212848" y="2761488"/>
            <a:ext cx="914400" cy="292608"/>
          </a:xfrm>
          <a:prstGeom prst="rect">
            <a:avLst/>
          </a:prstGeom>
          <a:noFill/>
          <a:ln/>
        </p:spPr>
        <p:txBody>
          <a:bodyPr wrap="square" lIns="0" tIns="0" rIns="0" bIns="0" rtlCol="0" anchor="ctr"/>
          <a:lstStyle/>
          <a:p>
            <a:pPr indent="0" marL="0">
              <a:buNone/>
            </a:pPr>
            <a:r>
              <a:rPr lang="en-US" sz="1200" b="1" dirty="0">
                <a:solidFill>
                  <a:srgbClr val="1D4E63"/>
                </a:solidFill>
                <a:latin typeface="Calibri" pitchFamily="34" charset="0"/>
                <a:ea typeface="Calibri" pitchFamily="34" charset="-122"/>
                <a:cs typeface="Calibri" pitchFamily="34" charset="-120"/>
              </a:rPr>
              <a:t>2.1</a:t>
            </a:r>
            <a:endParaRPr lang="en-US" sz="1200" dirty="0"/>
          </a:p>
        </p:txBody>
      </p:sp>
      <p:sp>
        <p:nvSpPr>
          <p:cNvPr id="13" name="Shape 10"/>
          <p:cNvSpPr/>
          <p:nvPr/>
        </p:nvSpPr>
        <p:spPr>
          <a:xfrm flipH="1">
            <a:off x="1481328" y="3054096"/>
            <a:ext cx="457200" cy="347472"/>
          </a:xfrm>
          <a:prstGeom prst="line">
            <a:avLst/>
          </a:prstGeom>
          <a:noFill/>
          <a:ln w="13970">
            <a:solidFill>
              <a:srgbClr val="9AA0AE"/>
            </a:solidFill>
            <a:prstDash val="solid"/>
          </a:ln>
        </p:spPr>
      </p:sp>
      <p:sp>
        <p:nvSpPr>
          <p:cNvPr id="14" name="Text 11"/>
          <p:cNvSpPr/>
          <p:nvPr/>
        </p:nvSpPr>
        <p:spPr>
          <a:xfrm>
            <a:off x="978408" y="3072384"/>
            <a:ext cx="502920" cy="256032"/>
          </a:xfrm>
          <a:prstGeom prst="rect">
            <a:avLst/>
          </a:prstGeom>
          <a:noFill/>
          <a:ln/>
        </p:spPr>
        <p:txBody>
          <a:bodyPr wrap="square" lIns="0" tIns="0" rIns="0" bIns="0" rtlCol="0" anchor="ctr"/>
          <a:lstStyle/>
          <a:p>
            <a:pPr algn="r" indent="0" marL="0">
              <a:buNone/>
            </a:pPr>
            <a:r>
              <a:rPr lang="en-US" sz="1000" dirty="0">
                <a:solidFill>
                  <a:srgbClr val="8A8F9C"/>
                </a:solidFill>
                <a:latin typeface="Calibri" pitchFamily="34" charset="0"/>
                <a:ea typeface="Calibri" pitchFamily="34" charset="-122"/>
                <a:cs typeface="Calibri" pitchFamily="34" charset="-120"/>
              </a:rPr>
              <a:t>0.9</a:t>
            </a:r>
            <a:endParaRPr lang="en-US" sz="1000" dirty="0"/>
          </a:p>
        </p:txBody>
      </p:sp>
      <p:sp>
        <p:nvSpPr>
          <p:cNvPr id="15" name="Shape 12"/>
          <p:cNvSpPr/>
          <p:nvPr/>
        </p:nvSpPr>
        <p:spPr>
          <a:xfrm>
            <a:off x="1298448" y="3419856"/>
            <a:ext cx="365760" cy="365760"/>
          </a:xfrm>
          <a:prstGeom prst="rect">
            <a:avLst/>
          </a:prstGeom>
          <a:solidFill>
            <a:srgbClr val="E4E6EB"/>
          </a:solidFill>
          <a:ln w="12700">
            <a:solidFill>
              <a:srgbClr val="A6ACBA"/>
            </a:solidFill>
            <a:prstDash val="solid"/>
          </a:ln>
        </p:spPr>
      </p:sp>
      <p:sp>
        <p:nvSpPr>
          <p:cNvPr id="16" name="Text 13"/>
          <p:cNvSpPr/>
          <p:nvPr/>
        </p:nvSpPr>
        <p:spPr>
          <a:xfrm>
            <a:off x="841248" y="3456432"/>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2</a:t>
            </a:r>
            <a:endParaRPr lang="en-US" sz="1200" dirty="0"/>
          </a:p>
        </p:txBody>
      </p:sp>
      <p:sp>
        <p:nvSpPr>
          <p:cNvPr id="17" name="Shape 14"/>
          <p:cNvSpPr/>
          <p:nvPr/>
        </p:nvSpPr>
        <p:spPr>
          <a:xfrm>
            <a:off x="1938528" y="3054096"/>
            <a:ext cx="457200" cy="347472"/>
          </a:xfrm>
          <a:prstGeom prst="line">
            <a:avLst/>
          </a:prstGeom>
          <a:noFill/>
          <a:ln w="13970">
            <a:solidFill>
              <a:srgbClr val="9AA0AE"/>
            </a:solidFill>
            <a:prstDash val="solid"/>
          </a:ln>
        </p:spPr>
      </p:sp>
      <p:sp>
        <p:nvSpPr>
          <p:cNvPr id="18" name="Text 15"/>
          <p:cNvSpPr/>
          <p:nvPr/>
        </p:nvSpPr>
        <p:spPr>
          <a:xfrm>
            <a:off x="1892808" y="3072384"/>
            <a:ext cx="502920" cy="256032"/>
          </a:xfrm>
          <a:prstGeom prst="rect">
            <a:avLst/>
          </a:prstGeom>
          <a:noFill/>
          <a:ln/>
        </p:spPr>
        <p:txBody>
          <a:bodyPr wrap="square" lIns="0" tIns="0" rIns="0" bIns="0" rtlCol="0" anchor="ctr"/>
          <a:lstStyle/>
          <a:p>
            <a:pPr algn="l" indent="0" marL="0">
              <a:buNone/>
            </a:pPr>
            <a:r>
              <a:rPr lang="en-US" sz="1000" dirty="0">
                <a:solidFill>
                  <a:srgbClr val="8A8F9C"/>
                </a:solidFill>
                <a:latin typeface="Calibri" pitchFamily="34" charset="0"/>
                <a:ea typeface="Calibri" pitchFamily="34" charset="-122"/>
                <a:cs typeface="Calibri" pitchFamily="34" charset="-120"/>
              </a:rPr>
              <a:t>0.1</a:t>
            </a:r>
            <a:endParaRPr lang="en-US" sz="1000" dirty="0"/>
          </a:p>
        </p:txBody>
      </p:sp>
      <p:sp>
        <p:nvSpPr>
          <p:cNvPr id="19" name="Shape 16"/>
          <p:cNvSpPr/>
          <p:nvPr/>
        </p:nvSpPr>
        <p:spPr>
          <a:xfrm>
            <a:off x="2212848" y="3419856"/>
            <a:ext cx="365760" cy="365760"/>
          </a:xfrm>
          <a:prstGeom prst="rect">
            <a:avLst/>
          </a:prstGeom>
          <a:solidFill>
            <a:srgbClr val="E4E6EB"/>
          </a:solidFill>
          <a:ln w="12700">
            <a:solidFill>
              <a:srgbClr val="A6ACBA"/>
            </a:solidFill>
            <a:prstDash val="solid"/>
          </a:ln>
        </p:spPr>
      </p:sp>
      <p:sp>
        <p:nvSpPr>
          <p:cNvPr id="20" name="Text 17"/>
          <p:cNvSpPr/>
          <p:nvPr/>
        </p:nvSpPr>
        <p:spPr>
          <a:xfrm>
            <a:off x="1755648" y="3456432"/>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3</a:t>
            </a:r>
            <a:endParaRPr lang="en-US" sz="1200" dirty="0"/>
          </a:p>
        </p:txBody>
      </p:sp>
      <p:sp>
        <p:nvSpPr>
          <p:cNvPr id="21" name="Shape 18"/>
          <p:cNvSpPr/>
          <p:nvPr/>
        </p:nvSpPr>
        <p:spPr>
          <a:xfrm>
            <a:off x="3264408" y="2340864"/>
            <a:ext cx="1325880" cy="365760"/>
          </a:xfrm>
          <a:prstGeom prst="line">
            <a:avLst/>
          </a:prstGeom>
          <a:noFill/>
          <a:ln w="15875">
            <a:solidFill>
              <a:srgbClr val="9AA0AE"/>
            </a:solidFill>
            <a:prstDash val="solid"/>
          </a:ln>
        </p:spPr>
      </p:sp>
      <p:sp>
        <p:nvSpPr>
          <p:cNvPr id="22" name="Shape 19"/>
          <p:cNvSpPr/>
          <p:nvPr/>
        </p:nvSpPr>
        <p:spPr>
          <a:xfrm>
            <a:off x="4389120" y="2706624"/>
            <a:ext cx="402336" cy="402336"/>
          </a:xfrm>
          <a:prstGeom prst="ellipse">
            <a:avLst/>
          </a:prstGeom>
          <a:solidFill>
            <a:srgbClr val="6B4E8F"/>
          </a:solidFill>
          <a:ln w="12700">
            <a:solidFill>
              <a:srgbClr val="6B4E8F"/>
            </a:solidFill>
            <a:prstDash val="solid"/>
          </a:ln>
        </p:spPr>
      </p:sp>
      <p:sp>
        <p:nvSpPr>
          <p:cNvPr id="23" name="Text 20"/>
          <p:cNvSpPr/>
          <p:nvPr/>
        </p:nvSpPr>
        <p:spPr>
          <a:xfrm>
            <a:off x="4864608" y="2761488"/>
            <a:ext cx="914400" cy="292608"/>
          </a:xfrm>
          <a:prstGeom prst="rect">
            <a:avLst/>
          </a:prstGeom>
          <a:noFill/>
          <a:ln/>
        </p:spPr>
        <p:txBody>
          <a:bodyPr wrap="square" lIns="0" tIns="0" rIns="0" bIns="0" rtlCol="0" anchor="ctr"/>
          <a:lstStyle/>
          <a:p>
            <a:pPr indent="0" marL="0">
              <a:buNone/>
            </a:pPr>
            <a:r>
              <a:rPr lang="en-US" sz="1200" b="1" dirty="0">
                <a:solidFill>
                  <a:srgbClr val="8A8F9C"/>
                </a:solidFill>
                <a:latin typeface="Calibri" pitchFamily="34" charset="0"/>
                <a:ea typeface="Calibri" pitchFamily="34" charset="-122"/>
                <a:cs typeface="Calibri" pitchFamily="34" charset="-120"/>
              </a:rPr>
              <a:t>1.3</a:t>
            </a:r>
            <a:endParaRPr lang="en-US" sz="1200" dirty="0"/>
          </a:p>
        </p:txBody>
      </p:sp>
      <p:sp>
        <p:nvSpPr>
          <p:cNvPr id="24" name="Shape 21"/>
          <p:cNvSpPr/>
          <p:nvPr/>
        </p:nvSpPr>
        <p:spPr>
          <a:xfrm flipH="1">
            <a:off x="4133088" y="3054096"/>
            <a:ext cx="457200" cy="347472"/>
          </a:xfrm>
          <a:prstGeom prst="line">
            <a:avLst/>
          </a:prstGeom>
          <a:noFill/>
          <a:ln w="13970">
            <a:solidFill>
              <a:srgbClr val="9AA0AE"/>
            </a:solidFill>
            <a:prstDash val="solid"/>
          </a:ln>
        </p:spPr>
      </p:sp>
      <p:sp>
        <p:nvSpPr>
          <p:cNvPr id="25" name="Text 22"/>
          <p:cNvSpPr/>
          <p:nvPr/>
        </p:nvSpPr>
        <p:spPr>
          <a:xfrm>
            <a:off x="3630168" y="3072384"/>
            <a:ext cx="502920" cy="256032"/>
          </a:xfrm>
          <a:prstGeom prst="rect">
            <a:avLst/>
          </a:prstGeom>
          <a:noFill/>
          <a:ln/>
        </p:spPr>
        <p:txBody>
          <a:bodyPr wrap="square" lIns="0" tIns="0" rIns="0" bIns="0" rtlCol="0" anchor="ctr"/>
          <a:lstStyle/>
          <a:p>
            <a:pPr algn="r" indent="0" marL="0">
              <a:buNone/>
            </a:pPr>
            <a:r>
              <a:rPr lang="en-US" sz="1000" dirty="0">
                <a:solidFill>
                  <a:srgbClr val="8A8F9C"/>
                </a:solidFill>
                <a:latin typeface="Calibri" pitchFamily="34" charset="0"/>
                <a:ea typeface="Calibri" pitchFamily="34" charset="-122"/>
                <a:cs typeface="Calibri" pitchFamily="34" charset="-120"/>
              </a:rPr>
              <a:t>0.9</a:t>
            </a:r>
            <a:endParaRPr lang="en-US" sz="1000" dirty="0"/>
          </a:p>
        </p:txBody>
      </p:sp>
      <p:sp>
        <p:nvSpPr>
          <p:cNvPr id="26" name="Shape 23"/>
          <p:cNvSpPr/>
          <p:nvPr/>
        </p:nvSpPr>
        <p:spPr>
          <a:xfrm>
            <a:off x="3950208" y="3419856"/>
            <a:ext cx="365760" cy="365760"/>
          </a:xfrm>
          <a:prstGeom prst="rect">
            <a:avLst/>
          </a:prstGeom>
          <a:solidFill>
            <a:srgbClr val="E4E6EB"/>
          </a:solidFill>
          <a:ln w="12700">
            <a:solidFill>
              <a:srgbClr val="A6ACBA"/>
            </a:solidFill>
            <a:prstDash val="solid"/>
          </a:ln>
        </p:spPr>
      </p:sp>
      <p:sp>
        <p:nvSpPr>
          <p:cNvPr id="27" name="Text 24"/>
          <p:cNvSpPr/>
          <p:nvPr/>
        </p:nvSpPr>
        <p:spPr>
          <a:xfrm>
            <a:off x="3493008" y="3456432"/>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1</a:t>
            </a:r>
            <a:endParaRPr lang="en-US" sz="1200" dirty="0"/>
          </a:p>
        </p:txBody>
      </p:sp>
      <p:sp>
        <p:nvSpPr>
          <p:cNvPr id="28" name="Shape 25"/>
          <p:cNvSpPr/>
          <p:nvPr/>
        </p:nvSpPr>
        <p:spPr>
          <a:xfrm>
            <a:off x="4590288" y="3054096"/>
            <a:ext cx="457200" cy="347472"/>
          </a:xfrm>
          <a:prstGeom prst="line">
            <a:avLst/>
          </a:prstGeom>
          <a:noFill/>
          <a:ln w="13970">
            <a:solidFill>
              <a:srgbClr val="9AA0AE"/>
            </a:solidFill>
            <a:prstDash val="solid"/>
          </a:ln>
        </p:spPr>
      </p:sp>
      <p:sp>
        <p:nvSpPr>
          <p:cNvPr id="29" name="Text 26"/>
          <p:cNvSpPr/>
          <p:nvPr/>
        </p:nvSpPr>
        <p:spPr>
          <a:xfrm>
            <a:off x="4544568" y="3072384"/>
            <a:ext cx="502920" cy="256032"/>
          </a:xfrm>
          <a:prstGeom prst="rect">
            <a:avLst/>
          </a:prstGeom>
          <a:noFill/>
          <a:ln/>
        </p:spPr>
        <p:txBody>
          <a:bodyPr wrap="square" lIns="0" tIns="0" rIns="0" bIns="0" rtlCol="0" anchor="ctr"/>
          <a:lstStyle/>
          <a:p>
            <a:pPr algn="l" indent="0" marL="0">
              <a:buNone/>
            </a:pPr>
            <a:r>
              <a:rPr lang="en-US" sz="1000" dirty="0">
                <a:solidFill>
                  <a:srgbClr val="8A8F9C"/>
                </a:solidFill>
                <a:latin typeface="Calibri" pitchFamily="34" charset="0"/>
                <a:ea typeface="Calibri" pitchFamily="34" charset="-122"/>
                <a:cs typeface="Calibri" pitchFamily="34" charset="-120"/>
              </a:rPr>
              <a:t>0.1</a:t>
            </a:r>
            <a:endParaRPr lang="en-US" sz="1000" dirty="0"/>
          </a:p>
        </p:txBody>
      </p:sp>
      <p:sp>
        <p:nvSpPr>
          <p:cNvPr id="30" name="Shape 27"/>
          <p:cNvSpPr/>
          <p:nvPr/>
        </p:nvSpPr>
        <p:spPr>
          <a:xfrm>
            <a:off x="4864608" y="3419856"/>
            <a:ext cx="365760" cy="365760"/>
          </a:xfrm>
          <a:prstGeom prst="rect">
            <a:avLst/>
          </a:prstGeom>
          <a:solidFill>
            <a:srgbClr val="E4E6EB"/>
          </a:solidFill>
          <a:ln w="12700">
            <a:solidFill>
              <a:srgbClr val="A6ACBA"/>
            </a:solidFill>
            <a:prstDash val="solid"/>
          </a:ln>
        </p:spPr>
      </p:sp>
      <p:sp>
        <p:nvSpPr>
          <p:cNvPr id="31" name="Text 28"/>
          <p:cNvSpPr/>
          <p:nvPr/>
        </p:nvSpPr>
        <p:spPr>
          <a:xfrm>
            <a:off x="4407408" y="3456432"/>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4</a:t>
            </a:r>
            <a:endParaRPr lang="en-US" sz="1200" dirty="0"/>
          </a:p>
        </p:txBody>
      </p:sp>
      <p:sp>
        <p:nvSpPr>
          <p:cNvPr id="32" name="Text 29"/>
          <p:cNvSpPr/>
          <p:nvPr/>
        </p:nvSpPr>
        <p:spPr>
          <a:xfrm>
            <a:off x="2350008" y="2359152"/>
            <a:ext cx="457200" cy="274320"/>
          </a:xfrm>
          <a:prstGeom prst="rect">
            <a:avLst/>
          </a:prstGeom>
          <a:noFill/>
          <a:ln/>
        </p:spPr>
        <p:txBody>
          <a:bodyPr wrap="square" lIns="0" tIns="0" rIns="0" bIns="0" rtlCol="0" anchor="ctr"/>
          <a:lstStyle/>
          <a:p>
            <a:pPr indent="0" marL="0">
              <a:buNone/>
            </a:pPr>
            <a:r>
              <a:rPr lang="en-US" sz="1200" b="1" i="1" dirty="0">
                <a:solidFill>
                  <a:srgbClr val="1D4E63"/>
                </a:solidFill>
                <a:latin typeface="Calibri" pitchFamily="34" charset="0"/>
                <a:ea typeface="Calibri" pitchFamily="34" charset="-122"/>
                <a:cs typeface="Calibri" pitchFamily="34" charset="-120"/>
              </a:rPr>
              <a:t>a₁</a:t>
            </a:r>
            <a:endParaRPr lang="en-US" sz="1200" dirty="0"/>
          </a:p>
        </p:txBody>
      </p:sp>
      <p:sp>
        <p:nvSpPr>
          <p:cNvPr id="33" name="Text 30"/>
          <p:cNvSpPr/>
          <p:nvPr/>
        </p:nvSpPr>
        <p:spPr>
          <a:xfrm>
            <a:off x="3721608" y="2359152"/>
            <a:ext cx="457200" cy="274320"/>
          </a:xfrm>
          <a:prstGeom prst="rect">
            <a:avLst/>
          </a:prstGeom>
          <a:noFill/>
          <a:ln/>
        </p:spPr>
        <p:txBody>
          <a:bodyPr wrap="square" lIns="0" tIns="0" rIns="0" bIns="0" rtlCol="0" anchor="ctr"/>
          <a:lstStyle/>
          <a:p>
            <a:pPr indent="0" marL="0">
              <a:buNone/>
            </a:pPr>
            <a:r>
              <a:rPr lang="en-US" sz="1200" i="1" dirty="0">
                <a:solidFill>
                  <a:srgbClr val="8A8F9C"/>
                </a:solidFill>
                <a:latin typeface="Calibri" pitchFamily="34" charset="0"/>
                <a:ea typeface="Calibri" pitchFamily="34" charset="-122"/>
                <a:cs typeface="Calibri" pitchFamily="34" charset="-120"/>
              </a:rPr>
              <a:t>a₂</a:t>
            </a:r>
            <a:endParaRPr lang="en-US" sz="1200" dirty="0"/>
          </a:p>
        </p:txBody>
      </p:sp>
      <p:sp>
        <p:nvSpPr>
          <p:cNvPr id="34" name="Text 31"/>
          <p:cNvSpPr/>
          <p:nvPr/>
        </p:nvSpPr>
        <p:spPr>
          <a:xfrm>
            <a:off x="841248" y="3977640"/>
            <a:ext cx="4864608" cy="713232"/>
          </a:xfrm>
          <a:prstGeom prst="rect">
            <a:avLst/>
          </a:prstGeom>
          <a:noFill/>
          <a:ln/>
        </p:spPr>
        <p:txBody>
          <a:bodyPr wrap="square" lIns="0" tIns="0" rIns="0" bIns="0" rtlCol="0" anchor="t"/>
          <a:lstStyle/>
          <a:p>
            <a:pPr indent="0" marL="0">
              <a:buNone/>
            </a:pPr>
            <a:r>
              <a:rPr lang="en-US" sz="1220" dirty="0">
                <a:solidFill>
                  <a:srgbClr val="3A3F4C"/>
                </a:solidFill>
                <a:latin typeface="Calibri" pitchFamily="34" charset="0"/>
                <a:ea typeface="Calibri" pitchFamily="34" charset="-122"/>
                <a:cs typeface="Calibri" pitchFamily="34" charset="-120"/>
              </a:rPr>
              <a:t>Leaves [2, 3, 1, 4]. a₁ is worth 0.9(2) + 0.1(3) = 2.1 and a₂ is worth 0.9(1) + 0.1(4) = 1.3, so a₁ is best.</a:t>
            </a:r>
            <a:endParaRPr lang="en-US" sz="1220" dirty="0"/>
          </a:p>
        </p:txBody>
      </p:sp>
      <p:sp>
        <p:nvSpPr>
          <p:cNvPr id="35" name="Shape 32"/>
          <p:cNvSpPr/>
          <p:nvPr/>
        </p:nvSpPr>
        <p:spPr>
          <a:xfrm>
            <a:off x="6236208" y="1828800"/>
            <a:ext cx="5394960" cy="2971800"/>
          </a:xfrm>
          <a:prstGeom prst="roundRect">
            <a:avLst>
              <a:gd name="adj" fmla="val 2154"/>
            </a:avLst>
          </a:prstGeom>
          <a:solidFill>
            <a:srgbClr val="FDF2EC"/>
          </a:solidFill>
          <a:ln w="12700">
            <a:solidFill>
              <a:srgbClr val="FDF2EC"/>
            </a:solidFill>
            <a:prstDash val="solid"/>
          </a:ln>
        </p:spPr>
      </p:sp>
      <p:sp>
        <p:nvSpPr>
          <p:cNvPr id="36" name="Shape 33"/>
          <p:cNvSpPr/>
          <p:nvPr/>
        </p:nvSpPr>
        <p:spPr>
          <a:xfrm>
            <a:off x="8732520" y="1993392"/>
            <a:ext cx="402336" cy="402336"/>
          </a:xfrm>
          <a:prstGeom prst="triangle">
            <a:avLst/>
          </a:prstGeom>
          <a:solidFill>
            <a:srgbClr val="C2410C"/>
          </a:solidFill>
          <a:ln w="12700">
            <a:solidFill>
              <a:srgbClr val="C2410C"/>
            </a:solidFill>
            <a:prstDash val="solid"/>
          </a:ln>
        </p:spPr>
      </p:sp>
      <p:sp>
        <p:nvSpPr>
          <p:cNvPr id="37" name="Shape 34"/>
          <p:cNvSpPr/>
          <p:nvPr/>
        </p:nvSpPr>
        <p:spPr>
          <a:xfrm flipH="1">
            <a:off x="7607808" y="2340864"/>
            <a:ext cx="1325880" cy="365760"/>
          </a:xfrm>
          <a:prstGeom prst="line">
            <a:avLst/>
          </a:prstGeom>
          <a:noFill/>
          <a:ln w="15875">
            <a:solidFill>
              <a:srgbClr val="9AA0AE"/>
            </a:solidFill>
            <a:prstDash val="solid"/>
          </a:ln>
        </p:spPr>
      </p:sp>
      <p:sp>
        <p:nvSpPr>
          <p:cNvPr id="38" name="Shape 35"/>
          <p:cNvSpPr/>
          <p:nvPr/>
        </p:nvSpPr>
        <p:spPr>
          <a:xfrm>
            <a:off x="7406640" y="2706624"/>
            <a:ext cx="402336" cy="402336"/>
          </a:xfrm>
          <a:prstGeom prst="ellipse">
            <a:avLst/>
          </a:prstGeom>
          <a:solidFill>
            <a:srgbClr val="6B4E8F"/>
          </a:solidFill>
          <a:ln w="12700">
            <a:solidFill>
              <a:srgbClr val="6B4E8F"/>
            </a:solidFill>
            <a:prstDash val="solid"/>
          </a:ln>
        </p:spPr>
      </p:sp>
      <p:sp>
        <p:nvSpPr>
          <p:cNvPr id="39" name="Text 36"/>
          <p:cNvSpPr/>
          <p:nvPr/>
        </p:nvSpPr>
        <p:spPr>
          <a:xfrm>
            <a:off x="7882128" y="2761488"/>
            <a:ext cx="914400" cy="292608"/>
          </a:xfrm>
          <a:prstGeom prst="rect">
            <a:avLst/>
          </a:prstGeom>
          <a:noFill/>
          <a:ln/>
        </p:spPr>
        <p:txBody>
          <a:bodyPr wrap="square" lIns="0" tIns="0" rIns="0" bIns="0" rtlCol="0" anchor="ctr"/>
          <a:lstStyle/>
          <a:p>
            <a:pPr indent="0" marL="0">
              <a:buNone/>
            </a:pPr>
            <a:r>
              <a:rPr lang="en-US" sz="1200" b="1" dirty="0">
                <a:solidFill>
                  <a:srgbClr val="8A8F9C"/>
                </a:solidFill>
                <a:latin typeface="Calibri" pitchFamily="34" charset="0"/>
                <a:ea typeface="Calibri" pitchFamily="34" charset="-122"/>
                <a:cs typeface="Calibri" pitchFamily="34" charset="-120"/>
              </a:rPr>
              <a:t>21</a:t>
            </a:r>
            <a:endParaRPr lang="en-US" sz="1200" dirty="0"/>
          </a:p>
        </p:txBody>
      </p:sp>
      <p:sp>
        <p:nvSpPr>
          <p:cNvPr id="40" name="Shape 37"/>
          <p:cNvSpPr/>
          <p:nvPr/>
        </p:nvSpPr>
        <p:spPr>
          <a:xfrm flipH="1">
            <a:off x="7150608" y="3054096"/>
            <a:ext cx="457200" cy="347472"/>
          </a:xfrm>
          <a:prstGeom prst="line">
            <a:avLst/>
          </a:prstGeom>
          <a:noFill/>
          <a:ln w="13970">
            <a:solidFill>
              <a:srgbClr val="9AA0AE"/>
            </a:solidFill>
            <a:prstDash val="solid"/>
          </a:ln>
        </p:spPr>
      </p:sp>
      <p:sp>
        <p:nvSpPr>
          <p:cNvPr id="41" name="Text 38"/>
          <p:cNvSpPr/>
          <p:nvPr/>
        </p:nvSpPr>
        <p:spPr>
          <a:xfrm>
            <a:off x="6647688" y="3072384"/>
            <a:ext cx="502920" cy="256032"/>
          </a:xfrm>
          <a:prstGeom prst="rect">
            <a:avLst/>
          </a:prstGeom>
          <a:noFill/>
          <a:ln/>
        </p:spPr>
        <p:txBody>
          <a:bodyPr wrap="square" lIns="0" tIns="0" rIns="0" bIns="0" rtlCol="0" anchor="ctr"/>
          <a:lstStyle/>
          <a:p>
            <a:pPr algn="r" indent="0" marL="0">
              <a:buNone/>
            </a:pPr>
            <a:r>
              <a:rPr lang="en-US" sz="1000" dirty="0">
                <a:solidFill>
                  <a:srgbClr val="8A8F9C"/>
                </a:solidFill>
                <a:latin typeface="Calibri" pitchFamily="34" charset="0"/>
                <a:ea typeface="Calibri" pitchFamily="34" charset="-122"/>
                <a:cs typeface="Calibri" pitchFamily="34" charset="-120"/>
              </a:rPr>
              <a:t>0.9</a:t>
            </a:r>
            <a:endParaRPr lang="en-US" sz="1000" dirty="0"/>
          </a:p>
        </p:txBody>
      </p:sp>
      <p:sp>
        <p:nvSpPr>
          <p:cNvPr id="42" name="Shape 39"/>
          <p:cNvSpPr/>
          <p:nvPr/>
        </p:nvSpPr>
        <p:spPr>
          <a:xfrm>
            <a:off x="6967728" y="3419856"/>
            <a:ext cx="365760" cy="365760"/>
          </a:xfrm>
          <a:prstGeom prst="rect">
            <a:avLst/>
          </a:prstGeom>
          <a:solidFill>
            <a:srgbClr val="E4E6EB"/>
          </a:solidFill>
          <a:ln w="12700">
            <a:solidFill>
              <a:srgbClr val="A6ACBA"/>
            </a:solidFill>
            <a:prstDash val="solid"/>
          </a:ln>
        </p:spPr>
      </p:sp>
      <p:sp>
        <p:nvSpPr>
          <p:cNvPr id="43" name="Text 40"/>
          <p:cNvSpPr/>
          <p:nvPr/>
        </p:nvSpPr>
        <p:spPr>
          <a:xfrm>
            <a:off x="6510528" y="3456432"/>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20</a:t>
            </a:r>
            <a:endParaRPr lang="en-US" sz="1200" dirty="0"/>
          </a:p>
        </p:txBody>
      </p:sp>
      <p:sp>
        <p:nvSpPr>
          <p:cNvPr id="44" name="Shape 41"/>
          <p:cNvSpPr/>
          <p:nvPr/>
        </p:nvSpPr>
        <p:spPr>
          <a:xfrm>
            <a:off x="7607808" y="3054096"/>
            <a:ext cx="457200" cy="347472"/>
          </a:xfrm>
          <a:prstGeom prst="line">
            <a:avLst/>
          </a:prstGeom>
          <a:noFill/>
          <a:ln w="13970">
            <a:solidFill>
              <a:srgbClr val="9AA0AE"/>
            </a:solidFill>
            <a:prstDash val="solid"/>
          </a:ln>
        </p:spPr>
      </p:sp>
      <p:sp>
        <p:nvSpPr>
          <p:cNvPr id="45" name="Text 42"/>
          <p:cNvSpPr/>
          <p:nvPr/>
        </p:nvSpPr>
        <p:spPr>
          <a:xfrm>
            <a:off x="7562088" y="3072384"/>
            <a:ext cx="502920" cy="256032"/>
          </a:xfrm>
          <a:prstGeom prst="rect">
            <a:avLst/>
          </a:prstGeom>
          <a:noFill/>
          <a:ln/>
        </p:spPr>
        <p:txBody>
          <a:bodyPr wrap="square" lIns="0" tIns="0" rIns="0" bIns="0" rtlCol="0" anchor="ctr"/>
          <a:lstStyle/>
          <a:p>
            <a:pPr algn="l" indent="0" marL="0">
              <a:buNone/>
            </a:pPr>
            <a:r>
              <a:rPr lang="en-US" sz="1000" dirty="0">
                <a:solidFill>
                  <a:srgbClr val="8A8F9C"/>
                </a:solidFill>
                <a:latin typeface="Calibri" pitchFamily="34" charset="0"/>
                <a:ea typeface="Calibri" pitchFamily="34" charset="-122"/>
                <a:cs typeface="Calibri" pitchFamily="34" charset="-120"/>
              </a:rPr>
              <a:t>0.1</a:t>
            </a:r>
            <a:endParaRPr lang="en-US" sz="1000" dirty="0"/>
          </a:p>
        </p:txBody>
      </p:sp>
      <p:sp>
        <p:nvSpPr>
          <p:cNvPr id="46" name="Shape 43"/>
          <p:cNvSpPr/>
          <p:nvPr/>
        </p:nvSpPr>
        <p:spPr>
          <a:xfrm>
            <a:off x="7882128" y="3419856"/>
            <a:ext cx="365760" cy="365760"/>
          </a:xfrm>
          <a:prstGeom prst="rect">
            <a:avLst/>
          </a:prstGeom>
          <a:solidFill>
            <a:srgbClr val="E4E6EB"/>
          </a:solidFill>
          <a:ln w="12700">
            <a:solidFill>
              <a:srgbClr val="A6ACBA"/>
            </a:solidFill>
            <a:prstDash val="solid"/>
          </a:ln>
        </p:spPr>
      </p:sp>
      <p:sp>
        <p:nvSpPr>
          <p:cNvPr id="47" name="Text 44"/>
          <p:cNvSpPr/>
          <p:nvPr/>
        </p:nvSpPr>
        <p:spPr>
          <a:xfrm>
            <a:off x="7424928" y="3456432"/>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30</a:t>
            </a:r>
            <a:endParaRPr lang="en-US" sz="1200" dirty="0"/>
          </a:p>
        </p:txBody>
      </p:sp>
      <p:sp>
        <p:nvSpPr>
          <p:cNvPr id="48" name="Shape 45"/>
          <p:cNvSpPr/>
          <p:nvPr/>
        </p:nvSpPr>
        <p:spPr>
          <a:xfrm>
            <a:off x="8933688" y="2340864"/>
            <a:ext cx="1325880" cy="365760"/>
          </a:xfrm>
          <a:prstGeom prst="line">
            <a:avLst/>
          </a:prstGeom>
          <a:noFill/>
          <a:ln w="31750">
            <a:solidFill>
              <a:srgbClr val="C2410C"/>
            </a:solidFill>
            <a:prstDash val="solid"/>
          </a:ln>
        </p:spPr>
      </p:sp>
      <p:sp>
        <p:nvSpPr>
          <p:cNvPr id="49" name="Shape 46"/>
          <p:cNvSpPr/>
          <p:nvPr/>
        </p:nvSpPr>
        <p:spPr>
          <a:xfrm>
            <a:off x="10058400" y="2706624"/>
            <a:ext cx="402336" cy="402336"/>
          </a:xfrm>
          <a:prstGeom prst="ellipse">
            <a:avLst/>
          </a:prstGeom>
          <a:solidFill>
            <a:srgbClr val="6B4E8F"/>
          </a:solidFill>
          <a:ln w="12700">
            <a:solidFill>
              <a:srgbClr val="6B4E8F"/>
            </a:solidFill>
            <a:prstDash val="solid"/>
          </a:ln>
        </p:spPr>
      </p:sp>
      <p:sp>
        <p:nvSpPr>
          <p:cNvPr id="50" name="Text 47"/>
          <p:cNvSpPr/>
          <p:nvPr/>
        </p:nvSpPr>
        <p:spPr>
          <a:xfrm>
            <a:off x="10533888" y="2761488"/>
            <a:ext cx="914400" cy="292608"/>
          </a:xfrm>
          <a:prstGeom prst="rect">
            <a:avLst/>
          </a:prstGeom>
          <a:noFill/>
          <a:ln/>
        </p:spPr>
        <p:txBody>
          <a:bodyPr wrap="square" lIns="0" tIns="0" rIns="0" bIns="0" rtlCol="0" anchor="ctr"/>
          <a:lstStyle/>
          <a:p>
            <a:pPr indent="0" marL="0">
              <a:buNone/>
            </a:pPr>
            <a:r>
              <a:rPr lang="en-US" sz="1200" b="1" dirty="0">
                <a:solidFill>
                  <a:srgbClr val="C2410C"/>
                </a:solidFill>
                <a:latin typeface="Calibri" pitchFamily="34" charset="0"/>
                <a:ea typeface="Calibri" pitchFamily="34" charset="-122"/>
                <a:cs typeface="Calibri" pitchFamily="34" charset="-120"/>
              </a:rPr>
              <a:t>40.9</a:t>
            </a:r>
            <a:endParaRPr lang="en-US" sz="1200" dirty="0"/>
          </a:p>
        </p:txBody>
      </p:sp>
      <p:sp>
        <p:nvSpPr>
          <p:cNvPr id="51" name="Shape 48"/>
          <p:cNvSpPr/>
          <p:nvPr/>
        </p:nvSpPr>
        <p:spPr>
          <a:xfrm flipH="1">
            <a:off x="9802368" y="3054096"/>
            <a:ext cx="457200" cy="347472"/>
          </a:xfrm>
          <a:prstGeom prst="line">
            <a:avLst/>
          </a:prstGeom>
          <a:noFill/>
          <a:ln w="13970">
            <a:solidFill>
              <a:srgbClr val="9AA0AE"/>
            </a:solidFill>
            <a:prstDash val="solid"/>
          </a:ln>
        </p:spPr>
      </p:sp>
      <p:sp>
        <p:nvSpPr>
          <p:cNvPr id="52" name="Text 49"/>
          <p:cNvSpPr/>
          <p:nvPr/>
        </p:nvSpPr>
        <p:spPr>
          <a:xfrm>
            <a:off x="9299448" y="3072384"/>
            <a:ext cx="502920" cy="256032"/>
          </a:xfrm>
          <a:prstGeom prst="rect">
            <a:avLst/>
          </a:prstGeom>
          <a:noFill/>
          <a:ln/>
        </p:spPr>
        <p:txBody>
          <a:bodyPr wrap="square" lIns="0" tIns="0" rIns="0" bIns="0" rtlCol="0" anchor="ctr"/>
          <a:lstStyle/>
          <a:p>
            <a:pPr algn="r" indent="0" marL="0">
              <a:buNone/>
            </a:pPr>
            <a:r>
              <a:rPr lang="en-US" sz="1000" dirty="0">
                <a:solidFill>
                  <a:srgbClr val="8A8F9C"/>
                </a:solidFill>
                <a:latin typeface="Calibri" pitchFamily="34" charset="0"/>
                <a:ea typeface="Calibri" pitchFamily="34" charset="-122"/>
                <a:cs typeface="Calibri" pitchFamily="34" charset="-120"/>
              </a:rPr>
              <a:t>0.9</a:t>
            </a:r>
            <a:endParaRPr lang="en-US" sz="1000" dirty="0"/>
          </a:p>
        </p:txBody>
      </p:sp>
      <p:sp>
        <p:nvSpPr>
          <p:cNvPr id="53" name="Shape 50"/>
          <p:cNvSpPr/>
          <p:nvPr/>
        </p:nvSpPr>
        <p:spPr>
          <a:xfrm>
            <a:off x="9619488" y="3419856"/>
            <a:ext cx="365760" cy="365760"/>
          </a:xfrm>
          <a:prstGeom prst="rect">
            <a:avLst/>
          </a:prstGeom>
          <a:solidFill>
            <a:srgbClr val="E4E6EB"/>
          </a:solidFill>
          <a:ln w="12700">
            <a:solidFill>
              <a:srgbClr val="A6ACBA"/>
            </a:solidFill>
            <a:prstDash val="solid"/>
          </a:ln>
        </p:spPr>
      </p:sp>
      <p:sp>
        <p:nvSpPr>
          <p:cNvPr id="54" name="Text 51"/>
          <p:cNvSpPr/>
          <p:nvPr/>
        </p:nvSpPr>
        <p:spPr>
          <a:xfrm>
            <a:off x="9162288" y="3456432"/>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1</a:t>
            </a:r>
            <a:endParaRPr lang="en-US" sz="1200" dirty="0"/>
          </a:p>
        </p:txBody>
      </p:sp>
      <p:sp>
        <p:nvSpPr>
          <p:cNvPr id="55" name="Shape 52"/>
          <p:cNvSpPr/>
          <p:nvPr/>
        </p:nvSpPr>
        <p:spPr>
          <a:xfrm>
            <a:off x="10259568" y="3054096"/>
            <a:ext cx="457200" cy="347472"/>
          </a:xfrm>
          <a:prstGeom prst="line">
            <a:avLst/>
          </a:prstGeom>
          <a:noFill/>
          <a:ln w="13970">
            <a:solidFill>
              <a:srgbClr val="9AA0AE"/>
            </a:solidFill>
            <a:prstDash val="solid"/>
          </a:ln>
        </p:spPr>
      </p:sp>
      <p:sp>
        <p:nvSpPr>
          <p:cNvPr id="56" name="Text 53"/>
          <p:cNvSpPr/>
          <p:nvPr/>
        </p:nvSpPr>
        <p:spPr>
          <a:xfrm>
            <a:off x="10213848" y="3072384"/>
            <a:ext cx="502920" cy="256032"/>
          </a:xfrm>
          <a:prstGeom prst="rect">
            <a:avLst/>
          </a:prstGeom>
          <a:noFill/>
          <a:ln/>
        </p:spPr>
        <p:txBody>
          <a:bodyPr wrap="square" lIns="0" tIns="0" rIns="0" bIns="0" rtlCol="0" anchor="ctr"/>
          <a:lstStyle/>
          <a:p>
            <a:pPr algn="l" indent="0" marL="0">
              <a:buNone/>
            </a:pPr>
            <a:r>
              <a:rPr lang="en-US" sz="1000" dirty="0">
                <a:solidFill>
                  <a:srgbClr val="8A8F9C"/>
                </a:solidFill>
                <a:latin typeface="Calibri" pitchFamily="34" charset="0"/>
                <a:ea typeface="Calibri" pitchFamily="34" charset="-122"/>
                <a:cs typeface="Calibri" pitchFamily="34" charset="-120"/>
              </a:rPr>
              <a:t>0.1</a:t>
            </a:r>
            <a:endParaRPr lang="en-US" sz="1000" dirty="0"/>
          </a:p>
        </p:txBody>
      </p:sp>
      <p:sp>
        <p:nvSpPr>
          <p:cNvPr id="57" name="Shape 54"/>
          <p:cNvSpPr/>
          <p:nvPr/>
        </p:nvSpPr>
        <p:spPr>
          <a:xfrm>
            <a:off x="10533888" y="3419856"/>
            <a:ext cx="365760" cy="365760"/>
          </a:xfrm>
          <a:prstGeom prst="rect">
            <a:avLst/>
          </a:prstGeom>
          <a:solidFill>
            <a:srgbClr val="E4E6EB"/>
          </a:solidFill>
          <a:ln w="12700">
            <a:solidFill>
              <a:srgbClr val="A6ACBA"/>
            </a:solidFill>
            <a:prstDash val="solid"/>
          </a:ln>
        </p:spPr>
      </p:sp>
      <p:sp>
        <p:nvSpPr>
          <p:cNvPr id="58" name="Text 55"/>
          <p:cNvSpPr/>
          <p:nvPr/>
        </p:nvSpPr>
        <p:spPr>
          <a:xfrm>
            <a:off x="10076688" y="3456432"/>
            <a:ext cx="1280160" cy="310896"/>
          </a:xfrm>
          <a:prstGeom prst="rect">
            <a:avLst/>
          </a:prstGeom>
          <a:noFill/>
          <a:ln/>
        </p:spPr>
        <p:txBody>
          <a:bodyPr wrap="square" lIns="0" tIns="0" rIns="0" bIns="0" rtlCol="0" anchor="ctr"/>
          <a:lstStyle/>
          <a:p>
            <a:pPr algn="ctr" indent="0" marL="0">
              <a:buNone/>
            </a:pPr>
            <a:r>
              <a:rPr lang="en-US" sz="1200" b="1" dirty="0">
                <a:solidFill>
                  <a:srgbClr val="1C1F2A"/>
                </a:solidFill>
                <a:latin typeface="Calibri" pitchFamily="34" charset="0"/>
                <a:ea typeface="Calibri" pitchFamily="34" charset="-122"/>
                <a:cs typeface="Calibri" pitchFamily="34" charset="-120"/>
              </a:rPr>
              <a:t>400</a:t>
            </a:r>
            <a:endParaRPr lang="en-US" sz="1200" dirty="0"/>
          </a:p>
        </p:txBody>
      </p:sp>
      <p:sp>
        <p:nvSpPr>
          <p:cNvPr id="59" name="Text 56"/>
          <p:cNvSpPr/>
          <p:nvPr/>
        </p:nvSpPr>
        <p:spPr>
          <a:xfrm>
            <a:off x="8019288" y="2359152"/>
            <a:ext cx="457200" cy="274320"/>
          </a:xfrm>
          <a:prstGeom prst="rect">
            <a:avLst/>
          </a:prstGeom>
          <a:noFill/>
          <a:ln/>
        </p:spPr>
        <p:txBody>
          <a:bodyPr wrap="square" lIns="0" tIns="0" rIns="0" bIns="0" rtlCol="0" anchor="ctr"/>
          <a:lstStyle/>
          <a:p>
            <a:pPr indent="0" marL="0">
              <a:buNone/>
            </a:pPr>
            <a:r>
              <a:rPr lang="en-US" sz="1200" i="1" dirty="0">
                <a:solidFill>
                  <a:srgbClr val="8A8F9C"/>
                </a:solidFill>
                <a:latin typeface="Calibri" pitchFamily="34" charset="0"/>
                <a:ea typeface="Calibri" pitchFamily="34" charset="-122"/>
                <a:cs typeface="Calibri" pitchFamily="34" charset="-120"/>
              </a:rPr>
              <a:t>a₁</a:t>
            </a:r>
            <a:endParaRPr lang="en-US" sz="1200" dirty="0"/>
          </a:p>
        </p:txBody>
      </p:sp>
      <p:sp>
        <p:nvSpPr>
          <p:cNvPr id="60" name="Text 57"/>
          <p:cNvSpPr/>
          <p:nvPr/>
        </p:nvSpPr>
        <p:spPr>
          <a:xfrm>
            <a:off x="9390888" y="2359152"/>
            <a:ext cx="457200" cy="274320"/>
          </a:xfrm>
          <a:prstGeom prst="rect">
            <a:avLst/>
          </a:prstGeom>
          <a:noFill/>
          <a:ln/>
        </p:spPr>
        <p:txBody>
          <a:bodyPr wrap="square" lIns="0" tIns="0" rIns="0" bIns="0" rtlCol="0" anchor="ctr"/>
          <a:lstStyle/>
          <a:p>
            <a:pPr indent="0" marL="0">
              <a:buNone/>
            </a:pPr>
            <a:r>
              <a:rPr lang="en-US" sz="1200" b="1" i="1" dirty="0">
                <a:solidFill>
                  <a:srgbClr val="C2410C"/>
                </a:solidFill>
                <a:latin typeface="Calibri" pitchFamily="34" charset="0"/>
                <a:ea typeface="Calibri" pitchFamily="34" charset="-122"/>
                <a:cs typeface="Calibri" pitchFamily="34" charset="-120"/>
              </a:rPr>
              <a:t>a₂</a:t>
            </a:r>
            <a:endParaRPr lang="en-US" sz="1200" dirty="0"/>
          </a:p>
        </p:txBody>
      </p:sp>
      <p:sp>
        <p:nvSpPr>
          <p:cNvPr id="61" name="Text 58"/>
          <p:cNvSpPr/>
          <p:nvPr/>
        </p:nvSpPr>
        <p:spPr>
          <a:xfrm>
            <a:off x="6510528" y="3977640"/>
            <a:ext cx="4864608" cy="713232"/>
          </a:xfrm>
          <a:prstGeom prst="rect">
            <a:avLst/>
          </a:prstGeom>
          <a:noFill/>
          <a:ln/>
        </p:spPr>
        <p:txBody>
          <a:bodyPr wrap="square" lIns="0" tIns="0" rIns="0" bIns="0" rtlCol="0" anchor="t"/>
          <a:lstStyle/>
          <a:p>
            <a:pPr indent="0" marL="0">
              <a:buNone/>
            </a:pPr>
            <a:r>
              <a:rPr lang="en-US" sz="1220" dirty="0">
                <a:solidFill>
                  <a:srgbClr val="3A3F4C"/>
                </a:solidFill>
                <a:latin typeface="Calibri" pitchFamily="34" charset="0"/>
                <a:ea typeface="Calibri" pitchFamily="34" charset="-122"/>
                <a:cs typeface="Calibri" pitchFamily="34" charset="-120"/>
              </a:rPr>
              <a:t>Leaves [20, 30, 1, 400], the same order. Now a₁ is worth 21 and a₂ is worth 40.9, so a₂ is best instead.</a:t>
            </a:r>
            <a:endParaRPr lang="en-US" sz="1220" dirty="0"/>
          </a:p>
        </p:txBody>
      </p:sp>
      <p:sp>
        <p:nvSpPr>
          <p:cNvPr id="62" name="Shape 59"/>
          <p:cNvSpPr/>
          <p:nvPr/>
        </p:nvSpPr>
        <p:spPr>
          <a:xfrm>
            <a:off x="566928" y="4956048"/>
            <a:ext cx="11064240" cy="1188720"/>
          </a:xfrm>
          <a:prstGeom prst="roundRect">
            <a:avLst>
              <a:gd name="adj" fmla="val 5385"/>
            </a:avLst>
          </a:prstGeom>
          <a:solidFill>
            <a:srgbClr val="1C1F2A"/>
          </a:solidFill>
          <a:ln w="12700">
            <a:solidFill>
              <a:srgbClr val="1C1F2A"/>
            </a:solidFill>
            <a:prstDash val="solid"/>
          </a:ln>
        </p:spPr>
      </p:sp>
      <p:sp>
        <p:nvSpPr>
          <p:cNvPr id="63" name="Text 60"/>
          <p:cNvSpPr/>
          <p:nvPr/>
        </p:nvSpPr>
        <p:spPr>
          <a:xfrm>
            <a:off x="914400" y="5065776"/>
            <a:ext cx="3657600" cy="292608"/>
          </a:xfrm>
          <a:prstGeom prst="rect">
            <a:avLst/>
          </a:prstGeom>
          <a:noFill/>
          <a:ln/>
        </p:spPr>
        <p:txBody>
          <a:bodyPr wrap="square" lIns="0" tIns="0" rIns="0" bIns="0" rtlCol="0" anchor="ctr"/>
          <a:lstStyle/>
          <a:p>
            <a:pPr indent="0" marL="0">
              <a:buNone/>
            </a:pPr>
            <a:r>
              <a:rPr lang="en-US" sz="1350" b="1" dirty="0">
                <a:solidFill>
                  <a:srgbClr val="B58500"/>
                </a:solidFill>
                <a:latin typeface="Cambria" pitchFamily="34" charset="0"/>
                <a:ea typeface="Cambria" pitchFamily="34" charset="-122"/>
                <a:cs typeface="Cambria" pitchFamily="34" charset="-120"/>
              </a:rPr>
              <a:t>The requirement</a:t>
            </a:r>
            <a:endParaRPr lang="en-US" sz="1350" dirty="0"/>
          </a:p>
        </p:txBody>
      </p:sp>
      <p:sp>
        <p:nvSpPr>
          <p:cNvPr id="64" name="Text 61"/>
          <p:cNvSpPr/>
          <p:nvPr/>
        </p:nvSpPr>
        <p:spPr>
          <a:xfrm>
            <a:off x="914400" y="5376672"/>
            <a:ext cx="10332720" cy="685800"/>
          </a:xfrm>
          <a:prstGeom prst="rect">
            <a:avLst/>
          </a:prstGeom>
          <a:noFill/>
          <a:ln/>
        </p:spPr>
        <p:txBody>
          <a:bodyPr wrap="square" lIns="0" tIns="0" rIns="0" bIns="0" rtlCol="0" anchor="t"/>
          <a:lstStyle/>
          <a:p>
            <a:pPr indent="0" marL="0">
              <a:buNone/>
            </a:pPr>
            <a:r>
              <a:rPr lang="en-US" sz="1300" dirty="0">
                <a:solidFill>
                  <a:srgbClr val="C6CBD8"/>
                </a:solidFill>
                <a:latin typeface="Calibri" pitchFamily="34" charset="0"/>
                <a:ea typeface="Calibri" pitchFamily="34" charset="-122"/>
                <a:cs typeface="Calibri" pitchFamily="34" charset="-120"/>
              </a:rPr>
              <a:t>The evaluation function must return values that are a positive linear transformation of the probability of winning. Under minimax only the ordering of leaves mattered. Under expectimax the magnitudes are meaningful, and that is the question Chapter 16 answers.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C1F2A"/>
        </a:solidFill>
      </p:bgPr>
    </p:bg>
    <p:spTree>
      <p:nvGrpSpPr>
        <p:cNvPr id="1" name=""/>
        <p:cNvGrpSpPr/>
        <p:nvPr/>
      </p:nvGrpSpPr>
      <p:grpSpPr>
        <a:xfrm>
          <a:off x="0" y="0"/>
          <a:ext cx="0" cy="0"/>
          <a:chOff x="0" y="0"/>
          <a:chExt cx="0" cy="0"/>
        </a:xfrm>
      </p:grpSpPr>
      <p:sp>
        <p:nvSpPr>
          <p:cNvPr id="2" name="Text 0"/>
          <p:cNvSpPr/>
          <p:nvPr/>
        </p:nvSpPr>
        <p:spPr>
          <a:xfrm>
            <a:off x="822960" y="1920240"/>
            <a:ext cx="6400800" cy="365760"/>
          </a:xfrm>
          <a:prstGeom prst="rect">
            <a:avLst/>
          </a:prstGeom>
          <a:noFill/>
          <a:ln/>
        </p:spPr>
        <p:txBody>
          <a:bodyPr wrap="square" lIns="0" tIns="0" rIns="0" bIns="0" rtlCol="0" anchor="ctr"/>
          <a:lstStyle/>
          <a:p>
            <a:pPr indent="0" marL="0">
              <a:buNone/>
            </a:pPr>
            <a:r>
              <a:rPr lang="en-US" sz="1250" b="1" spc="220" kern="0" dirty="0">
                <a:solidFill>
                  <a:srgbClr val="B58500"/>
                </a:solidFill>
                <a:latin typeface="Calibri" pitchFamily="34" charset="0"/>
                <a:ea typeface="Calibri" pitchFamily="34" charset="-122"/>
                <a:cs typeface="Calibri" pitchFamily="34" charset="-120"/>
              </a:rPr>
              <a:t>PART IV  ·  25 MINUTES</a:t>
            </a:r>
            <a:endParaRPr lang="en-US" sz="1250" dirty="0"/>
          </a:p>
        </p:txBody>
      </p:sp>
      <p:sp>
        <p:nvSpPr>
          <p:cNvPr id="3" name="Text 1"/>
          <p:cNvSpPr/>
          <p:nvPr/>
        </p:nvSpPr>
        <p:spPr>
          <a:xfrm>
            <a:off x="822960" y="2331720"/>
            <a:ext cx="7680960" cy="1554480"/>
          </a:xfrm>
          <a:prstGeom prst="rect">
            <a:avLst/>
          </a:prstGeom>
          <a:noFill/>
          <a:ln/>
        </p:spPr>
        <p:txBody>
          <a:bodyPr wrap="square" lIns="0" tIns="0" rIns="0" bIns="0" rtlCol="0" anchor="t"/>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Where utilities</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come from</a:t>
            </a:r>
            <a:endParaRPr lang="en-US" sz="3800" dirty="0"/>
          </a:p>
        </p:txBody>
      </p:sp>
      <p:sp>
        <p:nvSpPr>
          <p:cNvPr id="4" name="Text 2"/>
          <p:cNvSpPr/>
          <p:nvPr/>
        </p:nvSpPr>
        <p:spPr>
          <a:xfrm>
            <a:off x="822960" y="4023360"/>
            <a:ext cx="7132320" cy="1097280"/>
          </a:xfrm>
          <a:prstGeom prst="rect">
            <a:avLst/>
          </a:prstGeom>
          <a:noFill/>
          <a:ln/>
        </p:spPr>
        <p:txBody>
          <a:bodyPr wrap="square" lIns="0" tIns="0" rIns="0" bIns="0" rtlCol="0" anchor="t"/>
          <a:lstStyle/>
          <a:p>
            <a:pPr indent="0" marL="0">
              <a:buNone/>
            </a:pPr>
            <a:r>
              <a:rPr lang="en-US" sz="1500" dirty="0">
                <a:solidFill>
                  <a:srgbClr val="A9B0C0"/>
                </a:solidFill>
                <a:latin typeface="Calibri" pitchFamily="34" charset="0"/>
                <a:ea typeface="Calibri" pitchFamily="34" charset="-122"/>
                <a:cs typeface="Calibri" pitchFamily="34" charset="-120"/>
              </a:rPr>
              <a:t>Every algorithm today assumed someone handed us the numbers at the leaves. Chapter 16 asks who, and on what authority.</a:t>
            </a:r>
            <a:endParaRPr lang="en-US" sz="1500" dirty="0"/>
          </a:p>
        </p:txBody>
      </p:sp>
      <p:sp>
        <p:nvSpPr>
          <p:cNvPr id="5" name="Shape 3"/>
          <p:cNvSpPr/>
          <p:nvPr/>
        </p:nvSpPr>
        <p:spPr>
          <a:xfrm>
            <a:off x="9372600" y="2377440"/>
            <a:ext cx="1645920" cy="1645920"/>
          </a:xfrm>
          <a:prstGeom prst="triangle">
            <a:avLst/>
          </a:prstGeom>
          <a:solidFill>
            <a:srgbClr val="C2410C"/>
          </a:solidFill>
          <a:ln w="12700">
            <a:solidFill>
              <a:srgbClr val="C2410C"/>
            </a:solidFill>
            <a:prstDash val="solid"/>
          </a:ln>
        </p:spPr>
      </p:sp>
      <p:sp>
        <p:nvSpPr>
          <p:cNvPr id="6" name="Text 4"/>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565D6E"/>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7" name="Text 5"/>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565D6E"/>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16.1  COMBINING BELIEFS AND DESIRES</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The principle of maximum expected utility</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43</a:t>
            </a:r>
            <a:endParaRPr lang="en-US" sz="900" dirty="0"/>
          </a:p>
        </p:txBody>
      </p:sp>
      <p:sp>
        <p:nvSpPr>
          <p:cNvPr id="7" name="Shape 4"/>
          <p:cNvSpPr/>
          <p:nvPr/>
        </p:nvSpPr>
        <p:spPr>
          <a:xfrm>
            <a:off x="566928" y="1444752"/>
            <a:ext cx="11064240" cy="868680"/>
          </a:xfrm>
          <a:prstGeom prst="roundRect">
            <a:avLst>
              <a:gd name="adj" fmla="val 7368"/>
            </a:avLst>
          </a:prstGeom>
          <a:solidFill>
            <a:srgbClr val="F1F2F5"/>
          </a:solidFill>
          <a:ln w="12700">
            <a:solidFill>
              <a:srgbClr val="F1F2F5"/>
            </a:solidFill>
            <a:prstDash val="solid"/>
          </a:ln>
        </p:spPr>
      </p:sp>
      <p:sp>
        <p:nvSpPr>
          <p:cNvPr id="8" name="Text 5"/>
          <p:cNvSpPr/>
          <p:nvPr/>
        </p:nvSpPr>
        <p:spPr>
          <a:xfrm>
            <a:off x="868680" y="1444752"/>
            <a:ext cx="4937760" cy="868680"/>
          </a:xfrm>
          <a:prstGeom prst="rect">
            <a:avLst/>
          </a:prstGeom>
          <a:noFill/>
          <a:ln/>
        </p:spPr>
        <p:txBody>
          <a:bodyPr wrap="square" lIns="0" tIns="0" rIns="0" bIns="0" rtlCol="0" anchor="ctr"/>
          <a:lstStyle/>
          <a:p>
            <a:pPr indent="0" marL="0">
              <a:buNone/>
            </a:pPr>
            <a:r>
              <a:rPr lang="en-US" sz="1600" b="1" dirty="0">
                <a:solidFill>
                  <a:srgbClr val="1C1F2A"/>
                </a:solidFill>
                <a:latin typeface="Calibri" pitchFamily="34" charset="0"/>
                <a:ea typeface="Calibri" pitchFamily="34" charset="-122"/>
                <a:cs typeface="Calibri" pitchFamily="34" charset="-120"/>
              </a:rPr>
              <a:t>P(RESULT(a) = s′)  =  ∑ₛ P(s) P(s′ | s, a)</a:t>
            </a:r>
            <a:endParaRPr lang="en-US" sz="1600" dirty="0"/>
          </a:p>
        </p:txBody>
      </p:sp>
      <p:sp>
        <p:nvSpPr>
          <p:cNvPr id="9" name="Text 6"/>
          <p:cNvSpPr/>
          <p:nvPr/>
        </p:nvSpPr>
        <p:spPr>
          <a:xfrm>
            <a:off x="6035040" y="1444752"/>
            <a:ext cx="5303520" cy="868680"/>
          </a:xfrm>
          <a:prstGeom prst="rect">
            <a:avLst/>
          </a:prstGeom>
          <a:noFill/>
          <a:ln/>
        </p:spPr>
        <p:txBody>
          <a:bodyPr wrap="square" lIns="0" tIns="0" rIns="0" bIns="0" rtlCol="0" anchor="ctr"/>
          <a:lstStyle/>
          <a:p>
            <a:pPr indent="0" marL="0">
              <a:buNone/>
            </a:pPr>
            <a:r>
              <a:rPr lang="en-US" sz="1250" dirty="0">
                <a:solidFill>
                  <a:srgbClr val="3A3F4C"/>
                </a:solidFill>
                <a:latin typeface="Calibri" pitchFamily="34" charset="0"/>
                <a:ea typeface="Calibri" pitchFamily="34" charset="-122"/>
                <a:cs typeface="Calibri" pitchFamily="34" charset="-120"/>
              </a:rPr>
              <a:t>Uncertainty about the current state, folded together with uncertainty about what an action does.</a:t>
            </a:r>
            <a:endParaRPr lang="en-US" sz="1250" dirty="0"/>
          </a:p>
        </p:txBody>
      </p:sp>
      <p:sp>
        <p:nvSpPr>
          <p:cNvPr id="10" name="Shape 7"/>
          <p:cNvSpPr/>
          <p:nvPr/>
        </p:nvSpPr>
        <p:spPr>
          <a:xfrm>
            <a:off x="566928" y="2468880"/>
            <a:ext cx="11064240" cy="1508760"/>
          </a:xfrm>
          <a:prstGeom prst="roundRect">
            <a:avLst>
              <a:gd name="adj" fmla="val 4242"/>
            </a:avLst>
          </a:prstGeom>
          <a:solidFill>
            <a:srgbClr val="1C1F2A"/>
          </a:solidFill>
          <a:ln w="12700">
            <a:solidFill>
              <a:srgbClr val="1C1F2A"/>
            </a:solidFill>
            <a:prstDash val="solid"/>
          </a:ln>
        </p:spPr>
      </p:sp>
      <p:sp>
        <p:nvSpPr>
          <p:cNvPr id="11" name="Text 8"/>
          <p:cNvSpPr/>
          <p:nvPr/>
        </p:nvSpPr>
        <p:spPr>
          <a:xfrm>
            <a:off x="914400" y="2670048"/>
            <a:ext cx="5852160" cy="50292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EU(a)  =  ∑ₛ′ P(RESULT(a) = s′) U(s′)</a:t>
            </a:r>
            <a:endParaRPr lang="en-US" sz="1900" dirty="0"/>
          </a:p>
        </p:txBody>
      </p:sp>
      <p:sp>
        <p:nvSpPr>
          <p:cNvPr id="12" name="Text 9"/>
          <p:cNvSpPr/>
          <p:nvPr/>
        </p:nvSpPr>
        <p:spPr>
          <a:xfrm>
            <a:off x="914400" y="3246120"/>
            <a:ext cx="5852160" cy="502920"/>
          </a:xfrm>
          <a:prstGeom prst="rect">
            <a:avLst/>
          </a:prstGeom>
          <a:noFill/>
          <a:ln/>
        </p:spPr>
        <p:txBody>
          <a:bodyPr wrap="square" lIns="0" tIns="0" rIns="0" bIns="0" rtlCol="0" anchor="ctr"/>
          <a:lstStyle/>
          <a:p>
            <a:pPr indent="0" marL="0">
              <a:buNone/>
            </a:pPr>
            <a:r>
              <a:rPr lang="en-US" sz="1900" b="1" dirty="0">
                <a:solidFill>
                  <a:srgbClr val="B58500"/>
                </a:solidFill>
                <a:latin typeface="Calibri" pitchFamily="34" charset="0"/>
                <a:ea typeface="Calibri" pitchFamily="34" charset="-122"/>
                <a:cs typeface="Calibri" pitchFamily="34" charset="-120"/>
              </a:rPr>
              <a:t>action  =  argmaxₐ EU(a)</a:t>
            </a:r>
            <a:endParaRPr lang="en-US" sz="1900" dirty="0"/>
          </a:p>
        </p:txBody>
      </p:sp>
      <p:sp>
        <p:nvSpPr>
          <p:cNvPr id="13" name="Text 10"/>
          <p:cNvSpPr/>
          <p:nvPr/>
        </p:nvSpPr>
        <p:spPr>
          <a:xfrm>
            <a:off x="7040880" y="2468880"/>
            <a:ext cx="4297680" cy="1508760"/>
          </a:xfrm>
          <a:prstGeom prst="rect">
            <a:avLst/>
          </a:prstGeom>
          <a:noFill/>
          <a:ln/>
        </p:spPr>
        <p:txBody>
          <a:bodyPr wrap="square" lIns="0" tIns="0" rIns="0" bIns="0" rtlCol="0" anchor="ctr"/>
          <a:lstStyle/>
          <a:p>
            <a:pPr indent="0" marL="0">
              <a:buNone/>
            </a:pPr>
            <a:r>
              <a:rPr lang="en-US" sz="1300" dirty="0">
                <a:solidFill>
                  <a:srgbClr val="C6CBD8"/>
                </a:solidFill>
                <a:latin typeface="Calibri" pitchFamily="34" charset="0"/>
                <a:ea typeface="Calibri" pitchFamily="34" charset="-122"/>
                <a:cs typeface="Calibri" pitchFamily="34" charset="-120"/>
              </a:rPr>
              <a:t>The expected utility of an action is the average utility of its outcomes, weighted by how likely each outcome is. A rational agent chooses the action that maximises it.</a:t>
            </a:r>
            <a:endParaRPr lang="en-US" sz="1300" dirty="0"/>
          </a:p>
        </p:txBody>
      </p:sp>
      <p:sp>
        <p:nvSpPr>
          <p:cNvPr id="14" name="Shape 11"/>
          <p:cNvSpPr/>
          <p:nvPr/>
        </p:nvSpPr>
        <p:spPr>
          <a:xfrm>
            <a:off x="566928" y="4187952"/>
            <a:ext cx="3493008" cy="1783080"/>
          </a:xfrm>
          <a:prstGeom prst="roundRect">
            <a:avLst>
              <a:gd name="adj" fmla="val 3590"/>
            </a:avLst>
          </a:prstGeom>
          <a:solidFill>
            <a:srgbClr val="F1F2F5"/>
          </a:solidFill>
          <a:ln w="12700">
            <a:solidFill>
              <a:srgbClr val="F1F2F5"/>
            </a:solidFill>
            <a:prstDash val="solid"/>
          </a:ln>
        </p:spPr>
      </p:sp>
      <p:sp>
        <p:nvSpPr>
          <p:cNvPr id="15" name="Text 12"/>
          <p:cNvSpPr/>
          <p:nvPr/>
        </p:nvSpPr>
        <p:spPr>
          <a:xfrm>
            <a:off x="822960" y="4352544"/>
            <a:ext cx="3017520" cy="548640"/>
          </a:xfrm>
          <a:prstGeom prst="rect">
            <a:avLst/>
          </a:prstGeom>
          <a:noFill/>
          <a:ln/>
        </p:spPr>
        <p:txBody>
          <a:bodyPr wrap="square" lIns="0" tIns="0" rIns="0" bIns="0" rtlCol="0" anchor="t"/>
          <a:lstStyle/>
          <a:p>
            <a:pPr indent="0" marL="0">
              <a:buNone/>
            </a:pPr>
            <a:r>
              <a:rPr lang="en-US" sz="1350" b="1" dirty="0">
                <a:solidFill>
                  <a:srgbClr val="C2410C"/>
                </a:solidFill>
                <a:latin typeface="Cambria" pitchFamily="34" charset="0"/>
                <a:ea typeface="Cambria" pitchFamily="34" charset="-122"/>
                <a:cs typeface="Cambria" pitchFamily="34" charset="-120"/>
              </a:rPr>
              <a:t>MEU does not solve AI</a:t>
            </a:r>
            <a:endParaRPr lang="en-US" sz="1350" dirty="0"/>
          </a:p>
        </p:txBody>
      </p:sp>
      <p:sp>
        <p:nvSpPr>
          <p:cNvPr id="16" name="Text 13"/>
          <p:cNvSpPr/>
          <p:nvPr/>
        </p:nvSpPr>
        <p:spPr>
          <a:xfrm>
            <a:off x="822960" y="4919472"/>
            <a:ext cx="3035808" cy="960120"/>
          </a:xfrm>
          <a:prstGeom prst="rect">
            <a:avLst/>
          </a:prstGeom>
          <a:noFill/>
          <a:ln/>
        </p:spPr>
        <p:txBody>
          <a:bodyPr wrap="square" lIns="0" tIns="0" rIns="0" bIns="0" rtlCol="0" anchor="t"/>
          <a:lstStyle/>
          <a:p>
            <a:pPr indent="0" marL="0">
              <a:buNone/>
            </a:pPr>
            <a:r>
              <a:rPr lang="en-US" sz="1180" dirty="0">
                <a:solidFill>
                  <a:srgbClr val="3A3F4C"/>
                </a:solidFill>
                <a:latin typeface="Calibri" pitchFamily="34" charset="0"/>
                <a:ea typeface="Calibri" pitchFamily="34" charset="-122"/>
                <a:cs typeface="Calibri" pitchFamily="34" charset="-120"/>
              </a:rPr>
              <a:t>It formalises "do the right thing" without operationalising it. Estimating P(s) needs perception, learning, knowledge representation and inference; computing P(RESULT(a) = s′) needs a causal model of the world.</a:t>
            </a:r>
            <a:endParaRPr lang="en-US" sz="1180" dirty="0"/>
          </a:p>
        </p:txBody>
      </p:sp>
      <p:sp>
        <p:nvSpPr>
          <p:cNvPr id="17" name="Shape 14"/>
          <p:cNvSpPr/>
          <p:nvPr/>
        </p:nvSpPr>
        <p:spPr>
          <a:xfrm>
            <a:off x="4297680" y="4187952"/>
            <a:ext cx="3493008" cy="1783080"/>
          </a:xfrm>
          <a:prstGeom prst="roundRect">
            <a:avLst>
              <a:gd name="adj" fmla="val 3590"/>
            </a:avLst>
          </a:prstGeom>
          <a:solidFill>
            <a:srgbClr val="F1F2F5"/>
          </a:solidFill>
          <a:ln w="12700">
            <a:solidFill>
              <a:srgbClr val="F1F2F5"/>
            </a:solidFill>
            <a:prstDash val="solid"/>
          </a:ln>
        </p:spPr>
      </p:sp>
      <p:sp>
        <p:nvSpPr>
          <p:cNvPr id="18" name="Text 15"/>
          <p:cNvSpPr/>
          <p:nvPr/>
        </p:nvSpPr>
        <p:spPr>
          <a:xfrm>
            <a:off x="4553712" y="4352544"/>
            <a:ext cx="3017520" cy="548640"/>
          </a:xfrm>
          <a:prstGeom prst="rect">
            <a:avLst/>
          </a:prstGeom>
          <a:noFill/>
          <a:ln/>
        </p:spPr>
        <p:txBody>
          <a:bodyPr wrap="square" lIns="0" tIns="0" rIns="0" bIns="0" rtlCol="0" anchor="t"/>
          <a:lstStyle/>
          <a:p>
            <a:pPr indent="0" marL="0">
              <a:buNone/>
            </a:pPr>
            <a:r>
              <a:rPr lang="en-US" sz="1350" b="1" dirty="0">
                <a:solidFill>
                  <a:srgbClr val="C2410C"/>
                </a:solidFill>
                <a:latin typeface="Cambria" pitchFamily="34" charset="0"/>
                <a:ea typeface="Cambria" pitchFamily="34" charset="-122"/>
                <a:cs typeface="Cambria" pitchFamily="34" charset="-120"/>
              </a:rPr>
              <a:t>Utilities may themselves need search</a:t>
            </a:r>
            <a:endParaRPr lang="en-US" sz="1350" dirty="0"/>
          </a:p>
        </p:txBody>
      </p:sp>
      <p:sp>
        <p:nvSpPr>
          <p:cNvPr id="19" name="Text 16"/>
          <p:cNvSpPr/>
          <p:nvPr/>
        </p:nvSpPr>
        <p:spPr>
          <a:xfrm>
            <a:off x="4553712" y="4919472"/>
            <a:ext cx="3035808" cy="960120"/>
          </a:xfrm>
          <a:prstGeom prst="rect">
            <a:avLst/>
          </a:prstGeom>
          <a:noFill/>
          <a:ln/>
        </p:spPr>
        <p:txBody>
          <a:bodyPr wrap="square" lIns="0" tIns="0" rIns="0" bIns="0" rtlCol="0" anchor="t"/>
          <a:lstStyle/>
          <a:p>
            <a:pPr indent="0" marL="0">
              <a:buNone/>
            </a:pPr>
            <a:r>
              <a:rPr lang="en-US" sz="1180" dirty="0">
                <a:solidFill>
                  <a:srgbClr val="3A3F4C"/>
                </a:solidFill>
                <a:latin typeface="Calibri" pitchFamily="34" charset="0"/>
                <a:ea typeface="Calibri" pitchFamily="34" charset="-122"/>
                <a:cs typeface="Calibri" pitchFamily="34" charset="-120"/>
              </a:rPr>
              <a:t>An agent may not know how good a state is until it knows where it can get to from there, so computing U(s′) can require further searching or planning.</a:t>
            </a:r>
            <a:endParaRPr lang="en-US" sz="1180" dirty="0"/>
          </a:p>
        </p:txBody>
      </p:sp>
      <p:sp>
        <p:nvSpPr>
          <p:cNvPr id="20" name="Shape 17"/>
          <p:cNvSpPr/>
          <p:nvPr/>
        </p:nvSpPr>
        <p:spPr>
          <a:xfrm>
            <a:off x="8028432" y="4187952"/>
            <a:ext cx="3493008" cy="1783080"/>
          </a:xfrm>
          <a:prstGeom prst="roundRect">
            <a:avLst>
              <a:gd name="adj" fmla="val 3590"/>
            </a:avLst>
          </a:prstGeom>
          <a:solidFill>
            <a:srgbClr val="F1F2F5"/>
          </a:solidFill>
          <a:ln w="12700">
            <a:solidFill>
              <a:srgbClr val="F1F2F5"/>
            </a:solidFill>
            <a:prstDash val="solid"/>
          </a:ln>
        </p:spPr>
      </p:sp>
      <p:sp>
        <p:nvSpPr>
          <p:cNvPr id="21" name="Text 18"/>
          <p:cNvSpPr/>
          <p:nvPr/>
        </p:nvSpPr>
        <p:spPr>
          <a:xfrm>
            <a:off x="8284464" y="4352544"/>
            <a:ext cx="3017520" cy="548640"/>
          </a:xfrm>
          <a:prstGeom prst="rect">
            <a:avLst/>
          </a:prstGeom>
          <a:noFill/>
          <a:ln/>
        </p:spPr>
        <p:txBody>
          <a:bodyPr wrap="square" lIns="0" tIns="0" rIns="0" bIns="0" rtlCol="0" anchor="t"/>
          <a:lstStyle/>
          <a:p>
            <a:pPr indent="0" marL="0">
              <a:buNone/>
            </a:pPr>
            <a:r>
              <a:rPr lang="en-US" sz="1350" b="1" dirty="0">
                <a:solidFill>
                  <a:srgbClr val="C2410C"/>
                </a:solidFill>
                <a:latin typeface="Cambria" pitchFamily="34" charset="0"/>
                <a:ea typeface="Cambria" pitchFamily="34" charset="-122"/>
                <a:cs typeface="Cambria" pitchFamily="34" charset="-120"/>
              </a:rPr>
              <a:t>From performance measure to utility</a:t>
            </a:r>
            <a:endParaRPr lang="en-US" sz="1350" dirty="0"/>
          </a:p>
        </p:txBody>
      </p:sp>
      <p:sp>
        <p:nvSpPr>
          <p:cNvPr id="22" name="Text 19"/>
          <p:cNvSpPr/>
          <p:nvPr/>
        </p:nvSpPr>
        <p:spPr>
          <a:xfrm>
            <a:off x="8284464" y="4919472"/>
            <a:ext cx="3035808" cy="960120"/>
          </a:xfrm>
          <a:prstGeom prst="rect">
            <a:avLst/>
          </a:prstGeom>
          <a:noFill/>
          <a:ln/>
        </p:spPr>
        <p:txBody>
          <a:bodyPr wrap="square" lIns="0" tIns="0" rIns="0" bIns="0" rtlCol="0" anchor="t"/>
          <a:lstStyle/>
          <a:p>
            <a:pPr indent="0" marL="0">
              <a:buNone/>
            </a:pPr>
            <a:r>
              <a:rPr lang="en-US" sz="1180" dirty="0">
                <a:solidFill>
                  <a:srgbClr val="3A3F4C"/>
                </a:solidFill>
                <a:latin typeface="Calibri" pitchFamily="34" charset="0"/>
                <a:ea typeface="Calibri" pitchFamily="34" charset="-122"/>
                <a:cs typeface="Calibri" pitchFamily="34" charset="-120"/>
              </a:rPr>
              <a:t>A performance measure scores a whole history, applied retrospectively. A utility function applies to the very next state, so it can guide action step by step. That translation is the real content of MEU.</a:t>
            </a:r>
            <a:endParaRPr lang="en-US" sz="118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TWO WARNINGS BEFORE THE THEORY</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Utilities are given, and minimax is not a life rule</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44</a:t>
            </a:r>
            <a:endParaRPr lang="en-US" sz="900" dirty="0"/>
          </a:p>
        </p:txBody>
      </p:sp>
      <p:sp>
        <p:nvSpPr>
          <p:cNvPr id="7" name="Shape 4"/>
          <p:cNvSpPr/>
          <p:nvPr/>
        </p:nvSpPr>
        <p:spPr>
          <a:xfrm>
            <a:off x="566928" y="1481328"/>
            <a:ext cx="5303520" cy="2377440"/>
          </a:xfrm>
          <a:prstGeom prst="roundRect">
            <a:avLst>
              <a:gd name="adj" fmla="val 2692"/>
            </a:avLst>
          </a:prstGeom>
          <a:solidFill>
            <a:srgbClr val="FDF2EC"/>
          </a:solidFill>
          <a:ln w="12700">
            <a:solidFill>
              <a:srgbClr val="FDF2EC"/>
            </a:solidFill>
            <a:prstDash val="solid"/>
          </a:ln>
        </p:spPr>
      </p:sp>
      <p:sp>
        <p:nvSpPr>
          <p:cNvPr id="8" name="Text 5"/>
          <p:cNvSpPr/>
          <p:nvPr/>
        </p:nvSpPr>
        <p:spPr>
          <a:xfrm>
            <a:off x="859536" y="1691640"/>
            <a:ext cx="4754880" cy="658368"/>
          </a:xfrm>
          <a:prstGeom prst="rect">
            <a:avLst/>
          </a:prstGeom>
          <a:noFill/>
          <a:ln/>
        </p:spPr>
        <p:txBody>
          <a:bodyPr wrap="square" lIns="0" tIns="0" rIns="0" bIns="0" rtlCol="0" anchor="t"/>
          <a:lstStyle/>
          <a:p>
            <a:pPr indent="0" marL="0">
              <a:buNone/>
            </a:pPr>
            <a:r>
              <a:rPr lang="en-US" sz="1700" b="1" dirty="0">
                <a:solidFill>
                  <a:srgbClr val="C2410C"/>
                </a:solidFill>
                <a:latin typeface="Cambria" pitchFamily="34" charset="0"/>
                <a:ea typeface="Cambria" pitchFamily="34" charset="-122"/>
                <a:cs typeface="Cambria" pitchFamily="34" charset="-120"/>
              </a:rPr>
              <a:t>Utilities must be specified for the agent</a:t>
            </a:r>
            <a:endParaRPr lang="en-US" sz="1700" dirty="0"/>
          </a:p>
        </p:txBody>
      </p:sp>
      <p:sp>
        <p:nvSpPr>
          <p:cNvPr id="9" name="Text 6"/>
          <p:cNvSpPr/>
          <p:nvPr/>
        </p:nvSpPr>
        <p:spPr>
          <a:xfrm>
            <a:off x="859536" y="2395728"/>
            <a:ext cx="4773168" cy="1371600"/>
          </a:xfrm>
          <a:prstGeom prst="rect">
            <a:avLst/>
          </a:prstGeom>
          <a:noFill/>
          <a:ln/>
        </p:spPr>
        <p:txBody>
          <a:bodyPr wrap="square" lIns="0" tIns="0" rIns="0" bIns="0" rtlCol="0" anchor="t"/>
          <a:lstStyle/>
          <a:p>
            <a:pPr indent="0" marL="0">
              <a:buNone/>
            </a:pPr>
            <a:r>
              <a:rPr lang="en-US" sz="1300" dirty="0">
                <a:solidFill>
                  <a:srgbClr val="3A3F4C"/>
                </a:solidFill>
                <a:latin typeface="Calibri" pitchFamily="34" charset="0"/>
                <a:ea typeface="Calibri" pitchFamily="34" charset="-122"/>
                <a:cs typeface="Calibri" pitchFamily="34" charset="-120"/>
              </a:rPr>
              <a:t>An agent that could choose its own utility function might simply decide that whatever it does has high utility, and then do nothing. A house-cleaning robot with that freedom is a robot that never cleans. The designer supplies utilities based on what outcomes are actually wanted.</a:t>
            </a:r>
            <a:endParaRPr lang="en-US" sz="1300" dirty="0"/>
          </a:p>
        </p:txBody>
      </p:sp>
      <p:sp>
        <p:nvSpPr>
          <p:cNvPr id="10" name="Shape 7"/>
          <p:cNvSpPr/>
          <p:nvPr/>
        </p:nvSpPr>
        <p:spPr>
          <a:xfrm>
            <a:off x="6144768" y="1481328"/>
            <a:ext cx="5303520" cy="2377440"/>
          </a:xfrm>
          <a:prstGeom prst="roundRect">
            <a:avLst>
              <a:gd name="adj" fmla="val 2692"/>
            </a:avLst>
          </a:prstGeom>
          <a:solidFill>
            <a:srgbClr val="EAF1F5"/>
          </a:solidFill>
          <a:ln w="12700">
            <a:solidFill>
              <a:srgbClr val="EAF1F5"/>
            </a:solidFill>
            <a:prstDash val="solid"/>
          </a:ln>
        </p:spPr>
      </p:sp>
      <p:sp>
        <p:nvSpPr>
          <p:cNvPr id="11" name="Text 8"/>
          <p:cNvSpPr/>
          <p:nvPr/>
        </p:nvSpPr>
        <p:spPr>
          <a:xfrm>
            <a:off x="6437376" y="1691640"/>
            <a:ext cx="4754880" cy="658368"/>
          </a:xfrm>
          <a:prstGeom prst="rect">
            <a:avLst/>
          </a:prstGeom>
          <a:noFill/>
          <a:ln/>
        </p:spPr>
        <p:txBody>
          <a:bodyPr wrap="square" lIns="0" tIns="0" rIns="0" bIns="0" rtlCol="0" anchor="t"/>
          <a:lstStyle/>
          <a:p>
            <a:pPr indent="0" marL="0">
              <a:buNone/>
            </a:pPr>
            <a:r>
              <a:rPr lang="en-US" sz="1700" b="1" dirty="0">
                <a:solidFill>
                  <a:srgbClr val="1D4E63"/>
                </a:solidFill>
                <a:latin typeface="Cambria" pitchFamily="34" charset="0"/>
                <a:ea typeface="Cambria" pitchFamily="34" charset="-122"/>
                <a:cs typeface="Cambria" pitchFamily="34" charset="-120"/>
              </a:rPr>
              <a:t>Minimax fails as a general decision rule</a:t>
            </a:r>
            <a:endParaRPr lang="en-US" sz="1700" dirty="0"/>
          </a:p>
        </p:txBody>
      </p:sp>
      <p:sp>
        <p:nvSpPr>
          <p:cNvPr id="12" name="Text 9"/>
          <p:cNvSpPr/>
          <p:nvPr/>
        </p:nvSpPr>
        <p:spPr>
          <a:xfrm>
            <a:off x="6437376" y="2395728"/>
            <a:ext cx="4773168" cy="1371600"/>
          </a:xfrm>
          <a:prstGeom prst="rect">
            <a:avLst/>
          </a:prstGeom>
          <a:noFill/>
          <a:ln/>
        </p:spPr>
        <p:txBody>
          <a:bodyPr wrap="square" lIns="0" tIns="0" rIns="0" bIns="0" rtlCol="0" anchor="t"/>
          <a:lstStyle/>
          <a:p>
            <a:pPr indent="0" marL="0">
              <a:buNone/>
            </a:pPr>
            <a:r>
              <a:rPr lang="en-US" sz="1300" dirty="0">
                <a:solidFill>
                  <a:srgbClr val="3A3F4C"/>
                </a:solidFill>
                <a:latin typeface="Calibri" pitchFamily="34" charset="0"/>
                <a:ea typeface="Calibri" pitchFamily="34" charset="-122"/>
                <a:cs typeface="Calibri" pitchFamily="34" charset="-120"/>
              </a:rPr>
              <a:t>Apply strict worst-case reasoning to leaving the house and you must account for being hit by a car, or an earthquake. The worst case always dominates, so a comprehensive minimax agent never acts at all. Minimax is only usable once rare extreme events have already been excluded by hand.</a:t>
            </a:r>
            <a:endParaRPr lang="en-US" sz="1300" dirty="0"/>
          </a:p>
        </p:txBody>
      </p:sp>
      <p:sp>
        <p:nvSpPr>
          <p:cNvPr id="13" name="Shape 10"/>
          <p:cNvSpPr/>
          <p:nvPr/>
        </p:nvSpPr>
        <p:spPr>
          <a:xfrm>
            <a:off x="566928" y="4069080"/>
            <a:ext cx="11064240" cy="1920240"/>
          </a:xfrm>
          <a:prstGeom prst="roundRect">
            <a:avLst>
              <a:gd name="adj" fmla="val 3333"/>
            </a:avLst>
          </a:prstGeom>
          <a:solidFill>
            <a:srgbClr val="1C1F2A"/>
          </a:solidFill>
          <a:ln w="12700">
            <a:solidFill>
              <a:srgbClr val="1C1F2A"/>
            </a:solidFill>
            <a:prstDash val="solid"/>
          </a:ln>
        </p:spPr>
      </p:sp>
      <p:sp>
        <p:nvSpPr>
          <p:cNvPr id="14" name="Text 11"/>
          <p:cNvSpPr/>
          <p:nvPr/>
        </p:nvSpPr>
        <p:spPr>
          <a:xfrm>
            <a:off x="914400" y="4251960"/>
            <a:ext cx="5486400" cy="365760"/>
          </a:xfrm>
          <a:prstGeom prst="rect">
            <a:avLst/>
          </a:prstGeom>
          <a:noFill/>
          <a:ln/>
        </p:spPr>
        <p:txBody>
          <a:bodyPr wrap="square" lIns="0" tIns="0" rIns="0" bIns="0" rtlCol="0" anchor="ctr"/>
          <a:lstStyle/>
          <a:p>
            <a:pPr indent="0" marL="0">
              <a:buNone/>
            </a:pPr>
            <a:r>
              <a:rPr lang="en-US" sz="1700" b="1" dirty="0">
                <a:solidFill>
                  <a:srgbClr val="B58500"/>
                </a:solidFill>
                <a:latin typeface="Cambria" pitchFamily="34" charset="0"/>
                <a:ea typeface="Cambria" pitchFamily="34" charset="-122"/>
                <a:cs typeface="Cambria" pitchFamily="34" charset="-120"/>
              </a:rPr>
              <a:t>A test you can run on any tree</a:t>
            </a:r>
            <a:endParaRPr lang="en-US" sz="1700" dirty="0"/>
          </a:p>
        </p:txBody>
      </p:sp>
      <p:sp>
        <p:nvSpPr>
          <p:cNvPr id="15" name="Text 12"/>
          <p:cNvSpPr/>
          <p:nvPr/>
        </p:nvSpPr>
        <p:spPr>
          <a:xfrm>
            <a:off x="914400" y="4663440"/>
            <a:ext cx="10332720" cy="1234440"/>
          </a:xfrm>
          <a:prstGeom prst="rect">
            <a:avLst/>
          </a:prstGeom>
          <a:noFill/>
          <a:ln/>
        </p:spPr>
        <p:txBody>
          <a:bodyPr wrap="square" lIns="0" tIns="0" rIns="0" bIns="0" rtlCol="0" anchor="t"/>
          <a:lstStyle/>
          <a:p>
            <a:pPr indent="0" marL="0">
              <a:buNone/>
            </a:pPr>
            <a:r>
              <a:rPr lang="en-US" sz="1350" dirty="0">
                <a:solidFill>
                  <a:srgbClr val="C6CBD8"/>
                </a:solidFill>
                <a:latin typeface="Calibri" pitchFamily="34" charset="0"/>
                <a:ea typeface="Calibri" pitchFamily="34" charset="-122"/>
                <a:cs typeface="Calibri" pitchFamily="34" charset="-120"/>
              </a:rPr>
              <a:t>Square every terminal value in a minimax tree. The decision does not change, because minimax depends only on the relative ordering of leaves and squaring preserves it for non-negative values.</a:t>
            </a:r>
            <a:endParaRPr lang="en-US" sz="1350" dirty="0"/>
          </a:p>
          <a:p>
            <a:pPr indent="0" marL="0">
              <a:buNone/>
            </a:pPr>
            <a:endParaRPr lang="en-US" sz="1350" dirty="0"/>
          </a:p>
          <a:p>
            <a:pPr indent="0" marL="0">
              <a:buNone/>
            </a:pPr>
            <a:r>
              <a:rPr lang="en-US" sz="1350" dirty="0">
                <a:solidFill>
                  <a:srgbClr val="C6CBD8"/>
                </a:solidFill>
                <a:latin typeface="Calibri" pitchFamily="34" charset="0"/>
                <a:ea typeface="Calibri" pitchFamily="34" charset="-122"/>
                <a:cs typeface="Calibri" pitchFamily="34" charset="-120"/>
              </a:rPr>
              <a:t>Square the same values under expectimax and the decision can change, because averaging is sensitive to magnitude. For expectimax-style reasoning the specific numbers are meaningful, not merely their order. So we had better know what they mean.</a:t>
            </a:r>
            <a:endParaRPr 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16.2  THE BASIS OF UTILITY THEORY</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Preferences, lotteries, and the questions to answer</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45</a:t>
            </a:r>
            <a:endParaRPr lang="en-US" sz="900" dirty="0"/>
          </a:p>
        </p:txBody>
      </p:sp>
      <p:sp>
        <p:nvSpPr>
          <p:cNvPr id="7" name="Shape 4"/>
          <p:cNvSpPr/>
          <p:nvPr/>
        </p:nvSpPr>
        <p:spPr>
          <a:xfrm>
            <a:off x="566928" y="1463040"/>
            <a:ext cx="5394960" cy="1737360"/>
          </a:xfrm>
          <a:prstGeom prst="roundRect">
            <a:avLst>
              <a:gd name="adj" fmla="val 3684"/>
            </a:avLst>
          </a:prstGeom>
          <a:solidFill>
            <a:srgbClr val="F1F2F5"/>
          </a:solidFill>
          <a:ln w="12700">
            <a:solidFill>
              <a:srgbClr val="F1F2F5"/>
            </a:solidFill>
            <a:prstDash val="solid"/>
          </a:ln>
        </p:spPr>
      </p:sp>
      <p:sp>
        <p:nvSpPr>
          <p:cNvPr id="8" name="Text 5"/>
          <p:cNvSpPr/>
          <p:nvPr/>
        </p:nvSpPr>
        <p:spPr>
          <a:xfrm>
            <a:off x="841248" y="1609344"/>
            <a:ext cx="4754880" cy="310896"/>
          </a:xfrm>
          <a:prstGeom prst="rect">
            <a:avLst/>
          </a:prstGeom>
          <a:noFill/>
          <a:ln/>
        </p:spPr>
        <p:txBody>
          <a:bodyPr wrap="square" lIns="0" tIns="0" rIns="0" bIns="0" rtlCol="0" anchor="ctr"/>
          <a:lstStyle/>
          <a:p>
            <a:pPr indent="0" marL="0">
              <a:buNone/>
            </a:pPr>
            <a:r>
              <a:rPr lang="en-US" sz="1500" b="1" dirty="0">
                <a:solidFill>
                  <a:srgbClr val="1C1F2A"/>
                </a:solidFill>
                <a:latin typeface="Cambria" pitchFamily="34" charset="0"/>
                <a:ea typeface="Cambria" pitchFamily="34" charset="-122"/>
                <a:cs typeface="Cambria" pitchFamily="34" charset="-120"/>
              </a:rPr>
              <a:t>Notation</a:t>
            </a:r>
            <a:endParaRPr lang="en-US" sz="1500" dirty="0"/>
          </a:p>
        </p:txBody>
      </p:sp>
      <p:sp>
        <p:nvSpPr>
          <p:cNvPr id="9" name="Text 6"/>
          <p:cNvSpPr/>
          <p:nvPr/>
        </p:nvSpPr>
        <p:spPr>
          <a:xfrm>
            <a:off x="914400" y="1956816"/>
            <a:ext cx="1188720" cy="347472"/>
          </a:xfrm>
          <a:prstGeom prst="rect">
            <a:avLst/>
          </a:prstGeom>
          <a:noFill/>
          <a:ln/>
        </p:spPr>
        <p:txBody>
          <a:bodyPr wrap="square" lIns="0" tIns="0" rIns="0" bIns="0" rtlCol="0" anchor="ctr"/>
          <a:lstStyle/>
          <a:p>
            <a:pPr indent="0" marL="0">
              <a:buNone/>
            </a:pPr>
            <a:r>
              <a:rPr lang="en-US" sz="1400" b="1" dirty="0">
                <a:solidFill>
                  <a:srgbClr val="C2410C"/>
                </a:solidFill>
                <a:latin typeface="Calibri" pitchFamily="34" charset="0"/>
                <a:ea typeface="Calibri" pitchFamily="34" charset="-122"/>
                <a:cs typeface="Calibri" pitchFamily="34" charset="-120"/>
              </a:rPr>
              <a:t>A ≻ B</a:t>
            </a:r>
            <a:endParaRPr lang="en-US" sz="1400" dirty="0"/>
          </a:p>
        </p:txBody>
      </p:sp>
      <p:sp>
        <p:nvSpPr>
          <p:cNvPr id="10" name="Text 7"/>
          <p:cNvSpPr/>
          <p:nvPr/>
        </p:nvSpPr>
        <p:spPr>
          <a:xfrm>
            <a:off x="2148840" y="1956816"/>
            <a:ext cx="3657600" cy="347472"/>
          </a:xfrm>
          <a:prstGeom prst="rect">
            <a:avLst/>
          </a:prstGeom>
          <a:noFill/>
          <a:ln/>
        </p:spPr>
        <p:txBody>
          <a:bodyPr wrap="square" lIns="0" tIns="0" rIns="0" bIns="0" rtlCol="0" anchor="ctr"/>
          <a:lstStyle/>
          <a:p>
            <a:pPr indent="0" marL="0">
              <a:buNone/>
            </a:pPr>
            <a:r>
              <a:rPr lang="en-US" sz="1250" dirty="0">
                <a:solidFill>
                  <a:srgbClr val="3A3F4C"/>
                </a:solidFill>
                <a:latin typeface="Calibri" pitchFamily="34" charset="0"/>
                <a:ea typeface="Calibri" pitchFamily="34" charset="-122"/>
                <a:cs typeface="Calibri" pitchFamily="34" charset="-120"/>
              </a:rPr>
              <a:t>the agent prefers A to B</a:t>
            </a:r>
            <a:endParaRPr lang="en-US" sz="1250" dirty="0"/>
          </a:p>
        </p:txBody>
      </p:sp>
      <p:sp>
        <p:nvSpPr>
          <p:cNvPr id="11" name="Text 8"/>
          <p:cNvSpPr/>
          <p:nvPr/>
        </p:nvSpPr>
        <p:spPr>
          <a:xfrm>
            <a:off x="914400" y="2340864"/>
            <a:ext cx="1188720" cy="347472"/>
          </a:xfrm>
          <a:prstGeom prst="rect">
            <a:avLst/>
          </a:prstGeom>
          <a:noFill/>
          <a:ln/>
        </p:spPr>
        <p:txBody>
          <a:bodyPr wrap="square" lIns="0" tIns="0" rIns="0" bIns="0" rtlCol="0" anchor="ctr"/>
          <a:lstStyle/>
          <a:p>
            <a:pPr indent="0" marL="0">
              <a:buNone/>
            </a:pPr>
            <a:r>
              <a:rPr lang="en-US" sz="1400" b="1" dirty="0">
                <a:solidFill>
                  <a:srgbClr val="C2410C"/>
                </a:solidFill>
                <a:latin typeface="Calibri" pitchFamily="34" charset="0"/>
                <a:ea typeface="Calibri" pitchFamily="34" charset="-122"/>
                <a:cs typeface="Calibri" pitchFamily="34" charset="-120"/>
              </a:rPr>
              <a:t>A ∼ B</a:t>
            </a:r>
            <a:endParaRPr lang="en-US" sz="1400" dirty="0"/>
          </a:p>
        </p:txBody>
      </p:sp>
      <p:sp>
        <p:nvSpPr>
          <p:cNvPr id="12" name="Text 9"/>
          <p:cNvSpPr/>
          <p:nvPr/>
        </p:nvSpPr>
        <p:spPr>
          <a:xfrm>
            <a:off x="2148840" y="2340864"/>
            <a:ext cx="3657600" cy="347472"/>
          </a:xfrm>
          <a:prstGeom prst="rect">
            <a:avLst/>
          </a:prstGeom>
          <a:noFill/>
          <a:ln/>
        </p:spPr>
        <p:txBody>
          <a:bodyPr wrap="square" lIns="0" tIns="0" rIns="0" bIns="0" rtlCol="0" anchor="ctr"/>
          <a:lstStyle/>
          <a:p>
            <a:pPr indent="0" marL="0">
              <a:buNone/>
            </a:pPr>
            <a:r>
              <a:rPr lang="en-US" sz="1250" dirty="0">
                <a:solidFill>
                  <a:srgbClr val="3A3F4C"/>
                </a:solidFill>
                <a:latin typeface="Calibri" pitchFamily="34" charset="0"/>
                <a:ea typeface="Calibri" pitchFamily="34" charset="-122"/>
                <a:cs typeface="Calibri" pitchFamily="34" charset="-120"/>
              </a:rPr>
              <a:t>the agent is indifferent between them</a:t>
            </a:r>
            <a:endParaRPr lang="en-US" sz="1250" dirty="0"/>
          </a:p>
        </p:txBody>
      </p:sp>
      <p:sp>
        <p:nvSpPr>
          <p:cNvPr id="13" name="Text 10"/>
          <p:cNvSpPr/>
          <p:nvPr/>
        </p:nvSpPr>
        <p:spPr>
          <a:xfrm>
            <a:off x="914400" y="2724912"/>
            <a:ext cx="1188720" cy="347472"/>
          </a:xfrm>
          <a:prstGeom prst="rect">
            <a:avLst/>
          </a:prstGeom>
          <a:noFill/>
          <a:ln/>
        </p:spPr>
        <p:txBody>
          <a:bodyPr wrap="square" lIns="0" tIns="0" rIns="0" bIns="0" rtlCol="0" anchor="ctr"/>
          <a:lstStyle/>
          <a:p>
            <a:pPr indent="0" marL="0">
              <a:buNone/>
            </a:pPr>
            <a:r>
              <a:rPr lang="en-US" sz="1400" b="1" dirty="0">
                <a:solidFill>
                  <a:srgbClr val="C2410C"/>
                </a:solidFill>
                <a:latin typeface="Calibri" pitchFamily="34" charset="0"/>
                <a:ea typeface="Calibri" pitchFamily="34" charset="-122"/>
                <a:cs typeface="Calibri" pitchFamily="34" charset="-120"/>
              </a:rPr>
              <a:t>A ≽ B</a:t>
            </a:r>
            <a:endParaRPr lang="en-US" sz="1400" dirty="0"/>
          </a:p>
        </p:txBody>
      </p:sp>
      <p:sp>
        <p:nvSpPr>
          <p:cNvPr id="14" name="Text 11"/>
          <p:cNvSpPr/>
          <p:nvPr/>
        </p:nvSpPr>
        <p:spPr>
          <a:xfrm>
            <a:off x="2148840" y="2724912"/>
            <a:ext cx="3657600" cy="347472"/>
          </a:xfrm>
          <a:prstGeom prst="rect">
            <a:avLst/>
          </a:prstGeom>
          <a:noFill/>
          <a:ln/>
        </p:spPr>
        <p:txBody>
          <a:bodyPr wrap="square" lIns="0" tIns="0" rIns="0" bIns="0" rtlCol="0" anchor="ctr"/>
          <a:lstStyle/>
          <a:p>
            <a:pPr indent="0" marL="0">
              <a:buNone/>
            </a:pPr>
            <a:r>
              <a:rPr lang="en-US" sz="1250" dirty="0">
                <a:solidFill>
                  <a:srgbClr val="3A3F4C"/>
                </a:solidFill>
                <a:latin typeface="Calibri" pitchFamily="34" charset="0"/>
                <a:ea typeface="Calibri" pitchFamily="34" charset="-122"/>
                <a:cs typeface="Calibri" pitchFamily="34" charset="-120"/>
              </a:rPr>
              <a:t>prefers A, or is indifferent</a:t>
            </a:r>
            <a:endParaRPr lang="en-US" sz="1250" dirty="0"/>
          </a:p>
        </p:txBody>
      </p:sp>
      <p:sp>
        <p:nvSpPr>
          <p:cNvPr id="15" name="Shape 12"/>
          <p:cNvSpPr/>
          <p:nvPr/>
        </p:nvSpPr>
        <p:spPr>
          <a:xfrm>
            <a:off x="6236208" y="1463040"/>
            <a:ext cx="5394960" cy="1737360"/>
          </a:xfrm>
          <a:prstGeom prst="roundRect">
            <a:avLst>
              <a:gd name="adj" fmla="val 3684"/>
            </a:avLst>
          </a:prstGeom>
          <a:solidFill>
            <a:srgbClr val="F3EEF8"/>
          </a:solidFill>
          <a:ln w="12700">
            <a:solidFill>
              <a:srgbClr val="F3EEF8"/>
            </a:solidFill>
            <a:prstDash val="solid"/>
          </a:ln>
        </p:spPr>
      </p:sp>
      <p:sp>
        <p:nvSpPr>
          <p:cNvPr id="16" name="Text 13"/>
          <p:cNvSpPr/>
          <p:nvPr/>
        </p:nvSpPr>
        <p:spPr>
          <a:xfrm>
            <a:off x="6510528" y="1609344"/>
            <a:ext cx="4754880" cy="310896"/>
          </a:xfrm>
          <a:prstGeom prst="rect">
            <a:avLst/>
          </a:prstGeom>
          <a:noFill/>
          <a:ln/>
        </p:spPr>
        <p:txBody>
          <a:bodyPr wrap="square" lIns="0" tIns="0" rIns="0" bIns="0" rtlCol="0" anchor="ctr"/>
          <a:lstStyle/>
          <a:p>
            <a:pPr indent="0" marL="0">
              <a:buNone/>
            </a:pPr>
            <a:r>
              <a:rPr lang="en-US" sz="1500" b="1" dirty="0">
                <a:solidFill>
                  <a:srgbClr val="6B4E8F"/>
                </a:solidFill>
                <a:latin typeface="Cambria" pitchFamily="34" charset="0"/>
                <a:ea typeface="Cambria" pitchFamily="34" charset="-122"/>
                <a:cs typeface="Cambria" pitchFamily="34" charset="-120"/>
              </a:rPr>
              <a:t>A lottery</a:t>
            </a:r>
            <a:endParaRPr lang="en-US" sz="1500" dirty="0"/>
          </a:p>
        </p:txBody>
      </p:sp>
      <p:sp>
        <p:nvSpPr>
          <p:cNvPr id="17" name="Text 14"/>
          <p:cNvSpPr/>
          <p:nvPr/>
        </p:nvSpPr>
        <p:spPr>
          <a:xfrm>
            <a:off x="6510528" y="1956816"/>
            <a:ext cx="4846320" cy="411480"/>
          </a:xfrm>
          <a:prstGeom prst="rect">
            <a:avLst/>
          </a:prstGeom>
          <a:noFill/>
          <a:ln/>
        </p:spPr>
        <p:txBody>
          <a:bodyPr wrap="square" lIns="0" tIns="0" rIns="0" bIns="0" rtlCol="0" anchor="ctr"/>
          <a:lstStyle/>
          <a:p>
            <a:pPr indent="0" marL="0">
              <a:buNone/>
            </a:pPr>
            <a:r>
              <a:rPr lang="en-US" sz="1500" b="1" dirty="0">
                <a:solidFill>
                  <a:srgbClr val="1C1F2A"/>
                </a:solidFill>
                <a:latin typeface="Calibri" pitchFamily="34" charset="0"/>
                <a:ea typeface="Calibri" pitchFamily="34" charset="-122"/>
                <a:cs typeface="Calibri" pitchFamily="34" charset="-120"/>
              </a:rPr>
              <a:t>L  =  [p₁, S₁;  p₂, S₂;  …;  pₙ, Sₙ]</a:t>
            </a:r>
            <a:endParaRPr lang="en-US" sz="1500" dirty="0"/>
          </a:p>
        </p:txBody>
      </p:sp>
      <p:sp>
        <p:nvSpPr>
          <p:cNvPr id="18" name="Text 15"/>
          <p:cNvSpPr/>
          <p:nvPr/>
        </p:nvSpPr>
        <p:spPr>
          <a:xfrm>
            <a:off x="6510528" y="2395728"/>
            <a:ext cx="4864608" cy="777240"/>
          </a:xfrm>
          <a:prstGeom prst="rect">
            <a:avLst/>
          </a:prstGeom>
          <a:noFill/>
          <a:ln/>
        </p:spPr>
        <p:txBody>
          <a:bodyPr wrap="square" lIns="0" tIns="0" rIns="0" bIns="0" rtlCol="0" anchor="t"/>
          <a:lstStyle/>
          <a:p>
            <a:pPr indent="0" marL="0">
              <a:buNone/>
            </a:pPr>
            <a:r>
              <a:rPr lang="en-US" sz="1200" dirty="0">
                <a:solidFill>
                  <a:srgbClr val="3A3F4C"/>
                </a:solidFill>
                <a:latin typeface="Calibri" pitchFamily="34" charset="0"/>
                <a:ea typeface="Calibri" pitchFamily="34" charset="-122"/>
                <a:cs typeface="Calibri" pitchFamily="34" charset="-120"/>
              </a:rPr>
              <a:t>Each outcome Sᵢ may be an atomic state or another lottery. Think of each action as a ticket: the airline passenger offered "the pasta or the chicken" is choosing between lotteries, because neither is yet unwrapped.</a:t>
            </a:r>
            <a:endParaRPr lang="en-US" sz="1200" dirty="0"/>
          </a:p>
        </p:txBody>
      </p:sp>
      <p:sp>
        <p:nvSpPr>
          <p:cNvPr id="19" name="Shape 16"/>
          <p:cNvSpPr/>
          <p:nvPr/>
        </p:nvSpPr>
        <p:spPr>
          <a:xfrm>
            <a:off x="566928" y="3383280"/>
            <a:ext cx="11064240" cy="2606040"/>
          </a:xfrm>
          <a:prstGeom prst="roundRect">
            <a:avLst>
              <a:gd name="adj" fmla="val 2456"/>
            </a:avLst>
          </a:prstGeom>
          <a:solidFill>
            <a:srgbClr val="1C1F2A"/>
          </a:solidFill>
          <a:ln w="12700">
            <a:solidFill>
              <a:srgbClr val="1C1F2A"/>
            </a:solidFill>
            <a:prstDash val="solid"/>
          </a:ln>
        </p:spPr>
      </p:sp>
      <p:sp>
        <p:nvSpPr>
          <p:cNvPr id="20" name="Text 17"/>
          <p:cNvSpPr/>
          <p:nvPr/>
        </p:nvSpPr>
        <p:spPr>
          <a:xfrm>
            <a:off x="914400" y="3584448"/>
            <a:ext cx="7315200" cy="365760"/>
          </a:xfrm>
          <a:prstGeom prst="rect">
            <a:avLst/>
          </a:prstGeom>
          <a:noFill/>
          <a:ln/>
        </p:spPr>
        <p:txBody>
          <a:bodyPr wrap="square" lIns="0" tIns="0" rIns="0" bIns="0" rtlCol="0" anchor="ctr"/>
          <a:lstStyle/>
          <a:p>
            <a:pPr indent="0" marL="0">
              <a:buNone/>
            </a:pPr>
            <a:r>
              <a:rPr lang="en-US" sz="1800" b="1" dirty="0">
                <a:solidFill>
                  <a:srgbClr val="B58500"/>
                </a:solidFill>
                <a:latin typeface="Cambria" pitchFamily="34" charset="0"/>
                <a:ea typeface="Cambria" pitchFamily="34" charset="-122"/>
                <a:cs typeface="Cambria" pitchFamily="34" charset="-120"/>
              </a:rPr>
              <a:t>The questions Chapter 16 has to answer</a:t>
            </a:r>
            <a:endParaRPr lang="en-US" sz="1800" dirty="0"/>
          </a:p>
        </p:txBody>
      </p:sp>
      <p:sp>
        <p:nvSpPr>
          <p:cNvPr id="21" name="Shape 18"/>
          <p:cNvSpPr/>
          <p:nvPr/>
        </p:nvSpPr>
        <p:spPr>
          <a:xfrm>
            <a:off x="960120" y="4114800"/>
            <a:ext cx="365760" cy="365760"/>
          </a:xfrm>
          <a:prstGeom prst="ellipse">
            <a:avLst/>
          </a:prstGeom>
          <a:solidFill>
            <a:srgbClr val="B58500"/>
          </a:solidFill>
          <a:ln w="12700">
            <a:solidFill>
              <a:srgbClr val="B58500"/>
            </a:solidFill>
            <a:prstDash val="solid"/>
          </a:ln>
        </p:spPr>
      </p:sp>
      <p:sp>
        <p:nvSpPr>
          <p:cNvPr id="22" name="Text 19"/>
          <p:cNvSpPr/>
          <p:nvPr/>
        </p:nvSpPr>
        <p:spPr>
          <a:xfrm>
            <a:off x="960120" y="4114800"/>
            <a:ext cx="365760" cy="365760"/>
          </a:xfrm>
          <a:prstGeom prst="rect">
            <a:avLst/>
          </a:prstGeom>
          <a:noFill/>
          <a:ln/>
        </p:spPr>
        <p:txBody>
          <a:bodyPr wrap="square" lIns="0" tIns="0" rIns="0" bIns="0" rtlCol="0" anchor="ctr"/>
          <a:lstStyle/>
          <a:p>
            <a:pPr algn="ctr" indent="0" marL="0">
              <a:buNone/>
            </a:pPr>
            <a:r>
              <a:rPr lang="en-US" sz="1200" b="1" dirty="0">
                <a:solidFill>
                  <a:srgbClr val="1C1F2A"/>
                </a:solidFill>
                <a:latin typeface="Cambria" pitchFamily="34" charset="0"/>
                <a:ea typeface="Cambria" pitchFamily="34" charset="-122"/>
                <a:cs typeface="Cambria" pitchFamily="34" charset="-120"/>
              </a:rPr>
              <a:t>1</a:t>
            </a:r>
            <a:endParaRPr lang="en-US" sz="1200" dirty="0"/>
          </a:p>
        </p:txBody>
      </p:sp>
      <p:sp>
        <p:nvSpPr>
          <p:cNvPr id="23" name="Text 20"/>
          <p:cNvSpPr/>
          <p:nvPr/>
        </p:nvSpPr>
        <p:spPr>
          <a:xfrm>
            <a:off x="1508760" y="4041648"/>
            <a:ext cx="9692640" cy="530352"/>
          </a:xfrm>
          <a:prstGeom prst="rect">
            <a:avLst/>
          </a:prstGeom>
          <a:noFill/>
          <a:ln/>
        </p:spPr>
        <p:txBody>
          <a:bodyPr wrap="square" lIns="0" tIns="0" rIns="0" bIns="0" rtlCol="0" anchor="ctr"/>
          <a:lstStyle/>
          <a:p>
            <a:pPr indent="0" marL="0">
              <a:buNone/>
            </a:pPr>
            <a:r>
              <a:rPr lang="en-US" sz="1350" dirty="0">
                <a:solidFill>
                  <a:srgbClr val="C6CBD8"/>
                </a:solidFill>
                <a:latin typeface="Calibri" pitchFamily="34" charset="0"/>
                <a:ea typeface="Calibri" pitchFamily="34" charset="-122"/>
                <a:cs typeface="Calibri" pitchFamily="34" charset="-120"/>
              </a:rPr>
              <a:t>Why should maximising the average utility be special? What is wrong with maximising the weighted sum of the cubes, or minimising the worst possible loss?</a:t>
            </a:r>
            <a:endParaRPr lang="en-US" sz="1350" dirty="0"/>
          </a:p>
        </p:txBody>
      </p:sp>
      <p:sp>
        <p:nvSpPr>
          <p:cNvPr id="24" name="Shape 21"/>
          <p:cNvSpPr/>
          <p:nvPr/>
        </p:nvSpPr>
        <p:spPr>
          <a:xfrm>
            <a:off x="960120" y="4736592"/>
            <a:ext cx="365760" cy="365760"/>
          </a:xfrm>
          <a:prstGeom prst="ellipse">
            <a:avLst/>
          </a:prstGeom>
          <a:solidFill>
            <a:srgbClr val="B58500"/>
          </a:solidFill>
          <a:ln w="12700">
            <a:solidFill>
              <a:srgbClr val="B58500"/>
            </a:solidFill>
            <a:prstDash val="solid"/>
          </a:ln>
        </p:spPr>
      </p:sp>
      <p:sp>
        <p:nvSpPr>
          <p:cNvPr id="25" name="Text 22"/>
          <p:cNvSpPr/>
          <p:nvPr/>
        </p:nvSpPr>
        <p:spPr>
          <a:xfrm>
            <a:off x="960120" y="4736592"/>
            <a:ext cx="365760" cy="365760"/>
          </a:xfrm>
          <a:prstGeom prst="rect">
            <a:avLst/>
          </a:prstGeom>
          <a:noFill/>
          <a:ln/>
        </p:spPr>
        <p:txBody>
          <a:bodyPr wrap="square" lIns="0" tIns="0" rIns="0" bIns="0" rtlCol="0" anchor="ctr"/>
          <a:lstStyle/>
          <a:p>
            <a:pPr algn="ctr" indent="0" marL="0">
              <a:buNone/>
            </a:pPr>
            <a:r>
              <a:rPr lang="en-US" sz="1200" b="1" dirty="0">
                <a:solidFill>
                  <a:srgbClr val="1C1F2A"/>
                </a:solidFill>
                <a:latin typeface="Cambria" pitchFamily="34" charset="0"/>
                <a:ea typeface="Cambria" pitchFamily="34" charset="-122"/>
                <a:cs typeface="Cambria" pitchFamily="34" charset="-120"/>
              </a:rPr>
              <a:t>2</a:t>
            </a:r>
            <a:endParaRPr lang="en-US" sz="1200" dirty="0"/>
          </a:p>
        </p:txBody>
      </p:sp>
      <p:sp>
        <p:nvSpPr>
          <p:cNvPr id="26" name="Text 23"/>
          <p:cNvSpPr/>
          <p:nvPr/>
        </p:nvSpPr>
        <p:spPr>
          <a:xfrm>
            <a:off x="1508760" y="4663440"/>
            <a:ext cx="9692640" cy="530352"/>
          </a:xfrm>
          <a:prstGeom prst="rect">
            <a:avLst/>
          </a:prstGeom>
          <a:noFill/>
          <a:ln/>
        </p:spPr>
        <p:txBody>
          <a:bodyPr wrap="square" lIns="0" tIns="0" rIns="0" bIns="0" rtlCol="0" anchor="ctr"/>
          <a:lstStyle/>
          <a:p>
            <a:pPr indent="0" marL="0">
              <a:buNone/>
            </a:pPr>
            <a:r>
              <a:rPr lang="en-US" sz="1350" dirty="0">
                <a:solidFill>
                  <a:srgbClr val="C6CBD8"/>
                </a:solidFill>
                <a:latin typeface="Calibri" pitchFamily="34" charset="0"/>
                <a:ea typeface="Calibri" pitchFamily="34" charset="-122"/>
                <a:cs typeface="Calibri" pitchFamily="34" charset="-120"/>
              </a:rPr>
              <a:t>Could an agent act rationally just by expressing preferences between states, without ever assigning them numbers?</a:t>
            </a:r>
            <a:endParaRPr lang="en-US" sz="1350" dirty="0"/>
          </a:p>
        </p:txBody>
      </p:sp>
      <p:sp>
        <p:nvSpPr>
          <p:cNvPr id="27" name="Shape 24"/>
          <p:cNvSpPr/>
          <p:nvPr/>
        </p:nvSpPr>
        <p:spPr>
          <a:xfrm>
            <a:off x="960120" y="5358384"/>
            <a:ext cx="365760" cy="365760"/>
          </a:xfrm>
          <a:prstGeom prst="ellipse">
            <a:avLst/>
          </a:prstGeom>
          <a:solidFill>
            <a:srgbClr val="B58500"/>
          </a:solidFill>
          <a:ln w="12700">
            <a:solidFill>
              <a:srgbClr val="B58500"/>
            </a:solidFill>
            <a:prstDash val="solid"/>
          </a:ln>
        </p:spPr>
      </p:sp>
      <p:sp>
        <p:nvSpPr>
          <p:cNvPr id="28" name="Text 25"/>
          <p:cNvSpPr/>
          <p:nvPr/>
        </p:nvSpPr>
        <p:spPr>
          <a:xfrm>
            <a:off x="960120" y="5358384"/>
            <a:ext cx="365760" cy="365760"/>
          </a:xfrm>
          <a:prstGeom prst="rect">
            <a:avLst/>
          </a:prstGeom>
          <a:noFill/>
          <a:ln/>
        </p:spPr>
        <p:txBody>
          <a:bodyPr wrap="square" lIns="0" tIns="0" rIns="0" bIns="0" rtlCol="0" anchor="ctr"/>
          <a:lstStyle/>
          <a:p>
            <a:pPr algn="ctr" indent="0" marL="0">
              <a:buNone/>
            </a:pPr>
            <a:r>
              <a:rPr lang="en-US" sz="1200" b="1" dirty="0">
                <a:solidFill>
                  <a:srgbClr val="1C1F2A"/>
                </a:solidFill>
                <a:latin typeface="Cambria" pitchFamily="34" charset="0"/>
                <a:ea typeface="Cambria" pitchFamily="34" charset="-122"/>
                <a:cs typeface="Cambria" pitchFamily="34" charset="-120"/>
              </a:rPr>
              <a:t>3</a:t>
            </a:r>
            <a:endParaRPr lang="en-US" sz="1200" dirty="0"/>
          </a:p>
        </p:txBody>
      </p:sp>
      <p:sp>
        <p:nvSpPr>
          <p:cNvPr id="29" name="Text 26"/>
          <p:cNvSpPr/>
          <p:nvPr/>
        </p:nvSpPr>
        <p:spPr>
          <a:xfrm>
            <a:off x="1508760" y="5285232"/>
            <a:ext cx="9692640" cy="530352"/>
          </a:xfrm>
          <a:prstGeom prst="rect">
            <a:avLst/>
          </a:prstGeom>
          <a:noFill/>
          <a:ln/>
        </p:spPr>
        <p:txBody>
          <a:bodyPr wrap="square" lIns="0" tIns="0" rIns="0" bIns="0" rtlCol="0" anchor="ctr"/>
          <a:lstStyle/>
          <a:p>
            <a:pPr indent="0" marL="0">
              <a:buNone/>
            </a:pPr>
            <a:r>
              <a:rPr lang="en-US" sz="1350" dirty="0">
                <a:solidFill>
                  <a:srgbClr val="C6CBD8"/>
                </a:solidFill>
                <a:latin typeface="Calibri" pitchFamily="34" charset="0"/>
                <a:ea typeface="Calibri" pitchFamily="34" charset="-122"/>
                <a:cs typeface="Calibri" pitchFamily="34" charset="-120"/>
              </a:rPr>
              <a:t>Why should a utility function with the required properties exist at all?</a:t>
            </a:r>
            <a:endParaRPr lang="en-US" sz="1350" dirty="0"/>
          </a:p>
        </p:txBody>
      </p:sp>
      <p:sp>
        <p:nvSpPr>
          <p:cNvPr id="30" name="Text 27"/>
          <p:cNvSpPr/>
          <p:nvPr/>
        </p:nvSpPr>
        <p:spPr>
          <a:xfrm>
            <a:off x="914400" y="5943600"/>
            <a:ext cx="0" cy="0"/>
          </a:xfrm>
          <a:prstGeom prst="rect">
            <a:avLst/>
          </a:prstGeom>
          <a:noFill/>
          <a:ln/>
        </p:spPr>
        <p:txBody>
          <a:bodyPr wrap="square" lIns="0" tIns="0" rIns="0" bIns="0" rtlCol="0" anchor="ctr"/>
          <a:lstStyle/>
          <a:p>
            <a:pPr indent="0" marL="0">
              <a:buNone/>
            </a:pPr>
            <a:r>
              <a:rPr lang="en-US" sz="100" dirty="0">
                <a:solidFill>
                  <a:srgbClr val="1C1F2A"/>
                </a:solidFill>
              </a:rPr>
              <a:t>The strategy: write down constraints a rational agent’s preferences must satisfy, then derive MEU from them.</a:t>
            </a:r>
            <a:endParaRPr lang="en-US" sz="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16.2.1  CONSTRAINTS ON RATIONAL PREFERENCES</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The six axioms of utility theory</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46</a:t>
            </a:r>
            <a:endParaRPr lang="en-US" sz="900" dirty="0"/>
          </a:p>
        </p:txBody>
      </p:sp>
      <p:sp>
        <p:nvSpPr>
          <p:cNvPr id="7" name="Shape 4"/>
          <p:cNvSpPr/>
          <p:nvPr/>
        </p:nvSpPr>
        <p:spPr>
          <a:xfrm>
            <a:off x="566928" y="1463040"/>
            <a:ext cx="5303520" cy="1371600"/>
          </a:xfrm>
          <a:prstGeom prst="roundRect">
            <a:avLst>
              <a:gd name="adj" fmla="val 4667"/>
            </a:avLst>
          </a:prstGeom>
          <a:solidFill>
            <a:srgbClr val="F1F2F5"/>
          </a:solidFill>
          <a:ln w="12700">
            <a:solidFill>
              <a:srgbClr val="F1F2F5"/>
            </a:solidFill>
            <a:prstDash val="solid"/>
          </a:ln>
        </p:spPr>
      </p:sp>
      <p:sp>
        <p:nvSpPr>
          <p:cNvPr id="8" name="Text 5"/>
          <p:cNvSpPr/>
          <p:nvPr/>
        </p:nvSpPr>
        <p:spPr>
          <a:xfrm>
            <a:off x="822960" y="1572768"/>
            <a:ext cx="4754880" cy="292608"/>
          </a:xfrm>
          <a:prstGeom prst="rect">
            <a:avLst/>
          </a:prstGeom>
          <a:noFill/>
          <a:ln/>
        </p:spPr>
        <p:txBody>
          <a:bodyPr wrap="square" lIns="0" tIns="0" rIns="0" bIns="0" rtlCol="0" anchor="ctr"/>
          <a:lstStyle/>
          <a:p>
            <a:pPr indent="0" marL="0">
              <a:buNone/>
            </a:pPr>
            <a:r>
              <a:rPr lang="en-US" sz="1450" b="1" dirty="0">
                <a:solidFill>
                  <a:srgbClr val="C2410C"/>
                </a:solidFill>
                <a:latin typeface="Cambria" pitchFamily="34" charset="0"/>
                <a:ea typeface="Cambria" pitchFamily="34" charset="-122"/>
                <a:cs typeface="Cambria" pitchFamily="34" charset="-120"/>
              </a:rPr>
              <a:t>Orderability</a:t>
            </a:r>
            <a:endParaRPr lang="en-US" sz="1450" dirty="0"/>
          </a:p>
        </p:txBody>
      </p:sp>
      <p:sp>
        <p:nvSpPr>
          <p:cNvPr id="9" name="Text 6"/>
          <p:cNvSpPr/>
          <p:nvPr/>
        </p:nvSpPr>
        <p:spPr>
          <a:xfrm>
            <a:off x="822960" y="1883664"/>
            <a:ext cx="4791456" cy="365760"/>
          </a:xfrm>
          <a:prstGeom prst="rect">
            <a:avLst/>
          </a:prstGeom>
          <a:noFill/>
          <a:ln/>
        </p:spPr>
        <p:txBody>
          <a:bodyPr wrap="square" lIns="0" tIns="0" rIns="0" bIns="0" rtlCol="0" anchor="ctr"/>
          <a:lstStyle/>
          <a:p>
            <a:pPr indent="0" marL="0">
              <a:buNone/>
            </a:pPr>
            <a:r>
              <a:rPr lang="en-US" sz="1250" b="1" dirty="0">
                <a:solidFill>
                  <a:srgbClr val="1C1F2A"/>
                </a:solidFill>
                <a:latin typeface="Calibri" pitchFamily="34" charset="0"/>
                <a:ea typeface="Calibri" pitchFamily="34" charset="-122"/>
                <a:cs typeface="Calibri" pitchFamily="34" charset="-120"/>
              </a:rPr>
              <a:t>Exactly one of (A ≻ B), (B ≺ A), or (A ∼ B) holds.</a:t>
            </a:r>
            <a:endParaRPr lang="en-US" sz="1250" dirty="0"/>
          </a:p>
        </p:txBody>
      </p:sp>
      <p:sp>
        <p:nvSpPr>
          <p:cNvPr id="10" name="Text 7"/>
          <p:cNvSpPr/>
          <p:nvPr/>
        </p:nvSpPr>
        <p:spPr>
          <a:xfrm>
            <a:off x="822960" y="2267712"/>
            <a:ext cx="4791456" cy="502920"/>
          </a:xfrm>
          <a:prstGeom prst="rect">
            <a:avLst/>
          </a:prstGeom>
          <a:noFill/>
          <a:ln/>
        </p:spPr>
        <p:txBody>
          <a:bodyPr wrap="square" lIns="0" tIns="0" rIns="0" bIns="0" rtlCol="0" anchor="t"/>
          <a:lstStyle/>
          <a:p>
            <a:pPr indent="0" marL="0">
              <a:buNone/>
            </a:pPr>
            <a:r>
              <a:rPr lang="en-US" sz="1180" dirty="0">
                <a:solidFill>
                  <a:srgbClr val="3A3F4C"/>
                </a:solidFill>
                <a:latin typeface="Calibri" pitchFamily="34" charset="0"/>
                <a:ea typeface="Calibri" pitchFamily="34" charset="-122"/>
                <a:cs typeface="Calibri" pitchFamily="34" charset="-120"/>
              </a:rPr>
              <a:t>The agent cannot avoid deciding. Refusing to bet is like refusing to let time pass.</a:t>
            </a:r>
            <a:endParaRPr lang="en-US" sz="1180" dirty="0"/>
          </a:p>
        </p:txBody>
      </p:sp>
      <p:sp>
        <p:nvSpPr>
          <p:cNvPr id="11" name="Shape 8"/>
          <p:cNvSpPr/>
          <p:nvPr/>
        </p:nvSpPr>
        <p:spPr>
          <a:xfrm>
            <a:off x="6144768" y="1463040"/>
            <a:ext cx="5303520" cy="1371600"/>
          </a:xfrm>
          <a:prstGeom prst="roundRect">
            <a:avLst>
              <a:gd name="adj" fmla="val 4667"/>
            </a:avLst>
          </a:prstGeom>
          <a:solidFill>
            <a:srgbClr val="F1F2F5"/>
          </a:solidFill>
          <a:ln w="12700">
            <a:solidFill>
              <a:srgbClr val="F1F2F5"/>
            </a:solidFill>
            <a:prstDash val="solid"/>
          </a:ln>
        </p:spPr>
      </p:sp>
      <p:sp>
        <p:nvSpPr>
          <p:cNvPr id="12" name="Text 9"/>
          <p:cNvSpPr/>
          <p:nvPr/>
        </p:nvSpPr>
        <p:spPr>
          <a:xfrm>
            <a:off x="6400800" y="1572768"/>
            <a:ext cx="4754880" cy="292608"/>
          </a:xfrm>
          <a:prstGeom prst="rect">
            <a:avLst/>
          </a:prstGeom>
          <a:noFill/>
          <a:ln/>
        </p:spPr>
        <p:txBody>
          <a:bodyPr wrap="square" lIns="0" tIns="0" rIns="0" bIns="0" rtlCol="0" anchor="ctr"/>
          <a:lstStyle/>
          <a:p>
            <a:pPr indent="0" marL="0">
              <a:buNone/>
            </a:pPr>
            <a:r>
              <a:rPr lang="en-US" sz="1450" b="1" dirty="0">
                <a:solidFill>
                  <a:srgbClr val="C2410C"/>
                </a:solidFill>
                <a:latin typeface="Cambria" pitchFamily="34" charset="0"/>
                <a:ea typeface="Cambria" pitchFamily="34" charset="-122"/>
                <a:cs typeface="Cambria" pitchFamily="34" charset="-120"/>
              </a:rPr>
              <a:t>Transitivity</a:t>
            </a:r>
            <a:endParaRPr lang="en-US" sz="1450" dirty="0"/>
          </a:p>
        </p:txBody>
      </p:sp>
      <p:sp>
        <p:nvSpPr>
          <p:cNvPr id="13" name="Text 10"/>
          <p:cNvSpPr/>
          <p:nvPr/>
        </p:nvSpPr>
        <p:spPr>
          <a:xfrm>
            <a:off x="6400800" y="1883664"/>
            <a:ext cx="4791456" cy="365760"/>
          </a:xfrm>
          <a:prstGeom prst="rect">
            <a:avLst/>
          </a:prstGeom>
          <a:noFill/>
          <a:ln/>
        </p:spPr>
        <p:txBody>
          <a:bodyPr wrap="square" lIns="0" tIns="0" rIns="0" bIns="0" rtlCol="0" anchor="ctr"/>
          <a:lstStyle/>
          <a:p>
            <a:pPr indent="0" marL="0">
              <a:buNone/>
            </a:pPr>
            <a:r>
              <a:rPr lang="en-US" sz="1250" b="1" dirty="0">
                <a:solidFill>
                  <a:srgbClr val="1C1F2A"/>
                </a:solidFill>
                <a:latin typeface="Calibri" pitchFamily="34" charset="0"/>
                <a:ea typeface="Calibri" pitchFamily="34" charset="-122"/>
                <a:cs typeface="Calibri" pitchFamily="34" charset="-120"/>
              </a:rPr>
              <a:t>(A ≻ B) ∧ (B ≻ C)  ⇒  (A ≻ C)</a:t>
            </a:r>
            <a:endParaRPr lang="en-US" sz="1250" dirty="0"/>
          </a:p>
        </p:txBody>
      </p:sp>
      <p:sp>
        <p:nvSpPr>
          <p:cNvPr id="14" name="Text 11"/>
          <p:cNvSpPr/>
          <p:nvPr/>
        </p:nvSpPr>
        <p:spPr>
          <a:xfrm>
            <a:off x="6400800" y="2267712"/>
            <a:ext cx="4791456" cy="502920"/>
          </a:xfrm>
          <a:prstGeom prst="rect">
            <a:avLst/>
          </a:prstGeom>
          <a:noFill/>
          <a:ln/>
        </p:spPr>
        <p:txBody>
          <a:bodyPr wrap="square" lIns="0" tIns="0" rIns="0" bIns="0" rtlCol="0" anchor="t"/>
          <a:lstStyle/>
          <a:p>
            <a:pPr indent="0" marL="0">
              <a:buNone/>
            </a:pPr>
            <a:r>
              <a:rPr lang="en-US" sz="1180" dirty="0">
                <a:solidFill>
                  <a:srgbClr val="3A3F4C"/>
                </a:solidFill>
                <a:latin typeface="Calibri" pitchFamily="34" charset="0"/>
                <a:ea typeface="Calibri" pitchFamily="34" charset="-122"/>
                <a:cs typeface="Calibri" pitchFamily="34" charset="-120"/>
              </a:rPr>
              <a:t>Violate this and you can be turned into a money pump. See the next slide.</a:t>
            </a:r>
            <a:endParaRPr lang="en-US" sz="1180" dirty="0"/>
          </a:p>
        </p:txBody>
      </p:sp>
      <p:sp>
        <p:nvSpPr>
          <p:cNvPr id="15" name="Shape 12"/>
          <p:cNvSpPr/>
          <p:nvPr/>
        </p:nvSpPr>
        <p:spPr>
          <a:xfrm>
            <a:off x="566928" y="3035808"/>
            <a:ext cx="5303520" cy="1371600"/>
          </a:xfrm>
          <a:prstGeom prst="roundRect">
            <a:avLst>
              <a:gd name="adj" fmla="val 4667"/>
            </a:avLst>
          </a:prstGeom>
          <a:solidFill>
            <a:srgbClr val="F1F2F5"/>
          </a:solidFill>
          <a:ln w="12700">
            <a:solidFill>
              <a:srgbClr val="F1F2F5"/>
            </a:solidFill>
            <a:prstDash val="solid"/>
          </a:ln>
        </p:spPr>
      </p:sp>
      <p:sp>
        <p:nvSpPr>
          <p:cNvPr id="16" name="Text 13"/>
          <p:cNvSpPr/>
          <p:nvPr/>
        </p:nvSpPr>
        <p:spPr>
          <a:xfrm>
            <a:off x="822960" y="3145536"/>
            <a:ext cx="4754880" cy="292608"/>
          </a:xfrm>
          <a:prstGeom prst="rect">
            <a:avLst/>
          </a:prstGeom>
          <a:noFill/>
          <a:ln/>
        </p:spPr>
        <p:txBody>
          <a:bodyPr wrap="square" lIns="0" tIns="0" rIns="0" bIns="0" rtlCol="0" anchor="ctr"/>
          <a:lstStyle/>
          <a:p>
            <a:pPr indent="0" marL="0">
              <a:buNone/>
            </a:pPr>
            <a:r>
              <a:rPr lang="en-US" sz="1450" b="1" dirty="0">
                <a:solidFill>
                  <a:srgbClr val="1D4E63"/>
                </a:solidFill>
                <a:latin typeface="Cambria" pitchFamily="34" charset="0"/>
                <a:ea typeface="Cambria" pitchFamily="34" charset="-122"/>
                <a:cs typeface="Cambria" pitchFamily="34" charset="-120"/>
              </a:rPr>
              <a:t>Continuity</a:t>
            </a:r>
            <a:endParaRPr lang="en-US" sz="1450" dirty="0"/>
          </a:p>
        </p:txBody>
      </p:sp>
      <p:sp>
        <p:nvSpPr>
          <p:cNvPr id="17" name="Text 14"/>
          <p:cNvSpPr/>
          <p:nvPr/>
        </p:nvSpPr>
        <p:spPr>
          <a:xfrm>
            <a:off x="822960" y="3456432"/>
            <a:ext cx="4791456" cy="365760"/>
          </a:xfrm>
          <a:prstGeom prst="rect">
            <a:avLst/>
          </a:prstGeom>
          <a:noFill/>
          <a:ln/>
        </p:spPr>
        <p:txBody>
          <a:bodyPr wrap="square" lIns="0" tIns="0" rIns="0" bIns="0" rtlCol="0" anchor="ctr"/>
          <a:lstStyle/>
          <a:p>
            <a:pPr indent="0" marL="0">
              <a:buNone/>
            </a:pPr>
            <a:r>
              <a:rPr lang="en-US" sz="1250" b="1" dirty="0">
                <a:solidFill>
                  <a:srgbClr val="1C1F2A"/>
                </a:solidFill>
                <a:latin typeface="Calibri" pitchFamily="34" charset="0"/>
                <a:ea typeface="Calibri" pitchFamily="34" charset="-122"/>
                <a:cs typeface="Calibri" pitchFamily="34" charset="-120"/>
              </a:rPr>
              <a:t>A ≻ B ≻ C  ⇒  ∃p  [p, A; 1−p, C] ∼ B</a:t>
            </a:r>
            <a:endParaRPr lang="en-US" sz="1250" dirty="0"/>
          </a:p>
        </p:txBody>
      </p:sp>
      <p:sp>
        <p:nvSpPr>
          <p:cNvPr id="18" name="Text 15"/>
          <p:cNvSpPr/>
          <p:nvPr/>
        </p:nvSpPr>
        <p:spPr>
          <a:xfrm>
            <a:off x="822960" y="3840480"/>
            <a:ext cx="4791456" cy="502920"/>
          </a:xfrm>
          <a:prstGeom prst="rect">
            <a:avLst/>
          </a:prstGeom>
          <a:noFill/>
          <a:ln/>
        </p:spPr>
        <p:txBody>
          <a:bodyPr wrap="square" lIns="0" tIns="0" rIns="0" bIns="0" rtlCol="0" anchor="t"/>
          <a:lstStyle/>
          <a:p>
            <a:pPr indent="0" marL="0">
              <a:buNone/>
            </a:pPr>
            <a:r>
              <a:rPr lang="en-US" sz="1180" dirty="0">
                <a:solidFill>
                  <a:srgbClr val="3A3F4C"/>
                </a:solidFill>
                <a:latin typeface="Calibri" pitchFamily="34" charset="0"/>
                <a:ea typeface="Calibri" pitchFamily="34" charset="-122"/>
                <a:cs typeface="Calibri" pitchFamily="34" charset="-120"/>
              </a:rPr>
              <a:t>If B sits between A and C, some probability mix of A and C is exactly as good as B.</a:t>
            </a:r>
            <a:endParaRPr lang="en-US" sz="1180" dirty="0"/>
          </a:p>
        </p:txBody>
      </p:sp>
      <p:sp>
        <p:nvSpPr>
          <p:cNvPr id="19" name="Shape 16"/>
          <p:cNvSpPr/>
          <p:nvPr/>
        </p:nvSpPr>
        <p:spPr>
          <a:xfrm>
            <a:off x="6144768" y="3035808"/>
            <a:ext cx="5303520" cy="1371600"/>
          </a:xfrm>
          <a:prstGeom prst="roundRect">
            <a:avLst>
              <a:gd name="adj" fmla="val 4667"/>
            </a:avLst>
          </a:prstGeom>
          <a:solidFill>
            <a:srgbClr val="F1F2F5"/>
          </a:solidFill>
          <a:ln w="12700">
            <a:solidFill>
              <a:srgbClr val="F1F2F5"/>
            </a:solidFill>
            <a:prstDash val="solid"/>
          </a:ln>
        </p:spPr>
      </p:sp>
      <p:sp>
        <p:nvSpPr>
          <p:cNvPr id="20" name="Text 17"/>
          <p:cNvSpPr/>
          <p:nvPr/>
        </p:nvSpPr>
        <p:spPr>
          <a:xfrm>
            <a:off x="6400800" y="3145536"/>
            <a:ext cx="4754880" cy="292608"/>
          </a:xfrm>
          <a:prstGeom prst="rect">
            <a:avLst/>
          </a:prstGeom>
          <a:noFill/>
          <a:ln/>
        </p:spPr>
        <p:txBody>
          <a:bodyPr wrap="square" lIns="0" tIns="0" rIns="0" bIns="0" rtlCol="0" anchor="ctr"/>
          <a:lstStyle/>
          <a:p>
            <a:pPr indent="0" marL="0">
              <a:buNone/>
            </a:pPr>
            <a:r>
              <a:rPr lang="en-US" sz="1450" b="1" dirty="0">
                <a:solidFill>
                  <a:srgbClr val="1D4E63"/>
                </a:solidFill>
                <a:latin typeface="Cambria" pitchFamily="34" charset="0"/>
                <a:ea typeface="Cambria" pitchFamily="34" charset="-122"/>
                <a:cs typeface="Cambria" pitchFamily="34" charset="-120"/>
              </a:rPr>
              <a:t>Substitutability</a:t>
            </a:r>
            <a:endParaRPr lang="en-US" sz="1450" dirty="0"/>
          </a:p>
        </p:txBody>
      </p:sp>
      <p:sp>
        <p:nvSpPr>
          <p:cNvPr id="21" name="Text 18"/>
          <p:cNvSpPr/>
          <p:nvPr/>
        </p:nvSpPr>
        <p:spPr>
          <a:xfrm>
            <a:off x="6400800" y="3456432"/>
            <a:ext cx="4791456" cy="365760"/>
          </a:xfrm>
          <a:prstGeom prst="rect">
            <a:avLst/>
          </a:prstGeom>
          <a:noFill/>
          <a:ln/>
        </p:spPr>
        <p:txBody>
          <a:bodyPr wrap="square" lIns="0" tIns="0" rIns="0" bIns="0" rtlCol="0" anchor="ctr"/>
          <a:lstStyle/>
          <a:p>
            <a:pPr indent="0" marL="0">
              <a:buNone/>
            </a:pPr>
            <a:r>
              <a:rPr lang="en-US" sz="1250" b="1" dirty="0">
                <a:solidFill>
                  <a:srgbClr val="1C1F2A"/>
                </a:solidFill>
                <a:latin typeface="Calibri" pitchFamily="34" charset="0"/>
                <a:ea typeface="Calibri" pitchFamily="34" charset="-122"/>
                <a:cs typeface="Calibri" pitchFamily="34" charset="-120"/>
              </a:rPr>
              <a:t>A ∼ B  ⇒  [p, A; 1−p, C] ∼ [p, B; 1−p, C]</a:t>
            </a:r>
            <a:endParaRPr lang="en-US" sz="1250" dirty="0"/>
          </a:p>
        </p:txBody>
      </p:sp>
      <p:sp>
        <p:nvSpPr>
          <p:cNvPr id="22" name="Text 19"/>
          <p:cNvSpPr/>
          <p:nvPr/>
        </p:nvSpPr>
        <p:spPr>
          <a:xfrm>
            <a:off x="6400800" y="3840480"/>
            <a:ext cx="4791456" cy="502920"/>
          </a:xfrm>
          <a:prstGeom prst="rect">
            <a:avLst/>
          </a:prstGeom>
          <a:noFill/>
          <a:ln/>
        </p:spPr>
        <p:txBody>
          <a:bodyPr wrap="square" lIns="0" tIns="0" rIns="0" bIns="0" rtlCol="0" anchor="t"/>
          <a:lstStyle/>
          <a:p>
            <a:pPr indent="0" marL="0">
              <a:buNone/>
            </a:pPr>
            <a:r>
              <a:rPr lang="en-US" sz="1180" dirty="0">
                <a:solidFill>
                  <a:srgbClr val="3A3F4C"/>
                </a:solidFill>
                <a:latin typeface="Calibri" pitchFamily="34" charset="0"/>
                <a:ea typeface="Calibri" pitchFamily="34" charset="-122"/>
                <a:cs typeface="Calibri" pitchFamily="34" charset="-120"/>
              </a:rPr>
              <a:t>Swapping indifferent prizes inside a lottery cannot change the preference. Holds for ≻ as well.</a:t>
            </a:r>
            <a:endParaRPr lang="en-US" sz="1180" dirty="0"/>
          </a:p>
        </p:txBody>
      </p:sp>
      <p:sp>
        <p:nvSpPr>
          <p:cNvPr id="23" name="Shape 20"/>
          <p:cNvSpPr/>
          <p:nvPr/>
        </p:nvSpPr>
        <p:spPr>
          <a:xfrm>
            <a:off x="566928" y="4608576"/>
            <a:ext cx="5303520" cy="1371600"/>
          </a:xfrm>
          <a:prstGeom prst="roundRect">
            <a:avLst>
              <a:gd name="adj" fmla="val 4667"/>
            </a:avLst>
          </a:prstGeom>
          <a:solidFill>
            <a:srgbClr val="F1F2F5"/>
          </a:solidFill>
          <a:ln w="12700">
            <a:solidFill>
              <a:srgbClr val="F1F2F5"/>
            </a:solidFill>
            <a:prstDash val="solid"/>
          </a:ln>
        </p:spPr>
      </p:sp>
      <p:sp>
        <p:nvSpPr>
          <p:cNvPr id="24" name="Text 21"/>
          <p:cNvSpPr/>
          <p:nvPr/>
        </p:nvSpPr>
        <p:spPr>
          <a:xfrm>
            <a:off x="822960" y="4718304"/>
            <a:ext cx="4754880" cy="292608"/>
          </a:xfrm>
          <a:prstGeom prst="rect">
            <a:avLst/>
          </a:prstGeom>
          <a:noFill/>
          <a:ln/>
        </p:spPr>
        <p:txBody>
          <a:bodyPr wrap="square" lIns="0" tIns="0" rIns="0" bIns="0" rtlCol="0" anchor="ctr"/>
          <a:lstStyle/>
          <a:p>
            <a:pPr indent="0" marL="0">
              <a:buNone/>
            </a:pPr>
            <a:r>
              <a:rPr lang="en-US" sz="1450" b="1" dirty="0">
                <a:solidFill>
                  <a:srgbClr val="6B4E8F"/>
                </a:solidFill>
                <a:latin typeface="Cambria" pitchFamily="34" charset="0"/>
                <a:ea typeface="Cambria" pitchFamily="34" charset="-122"/>
                <a:cs typeface="Cambria" pitchFamily="34" charset="-120"/>
              </a:rPr>
              <a:t>Monotonicity</a:t>
            </a:r>
            <a:endParaRPr lang="en-US" sz="1450" dirty="0"/>
          </a:p>
        </p:txBody>
      </p:sp>
      <p:sp>
        <p:nvSpPr>
          <p:cNvPr id="25" name="Text 22"/>
          <p:cNvSpPr/>
          <p:nvPr/>
        </p:nvSpPr>
        <p:spPr>
          <a:xfrm>
            <a:off x="822960" y="5029200"/>
            <a:ext cx="4791456" cy="365760"/>
          </a:xfrm>
          <a:prstGeom prst="rect">
            <a:avLst/>
          </a:prstGeom>
          <a:noFill/>
          <a:ln/>
        </p:spPr>
        <p:txBody>
          <a:bodyPr wrap="square" lIns="0" tIns="0" rIns="0" bIns="0" rtlCol="0" anchor="ctr"/>
          <a:lstStyle/>
          <a:p>
            <a:pPr indent="0" marL="0">
              <a:buNone/>
            </a:pPr>
            <a:r>
              <a:rPr lang="en-US" sz="1250" b="1" dirty="0">
                <a:solidFill>
                  <a:srgbClr val="1C1F2A"/>
                </a:solidFill>
                <a:latin typeface="Calibri" pitchFamily="34" charset="0"/>
                <a:ea typeface="Calibri" pitchFamily="34" charset="-122"/>
                <a:cs typeface="Calibri" pitchFamily="34" charset="-120"/>
              </a:rPr>
              <a:t>A ≻ B  ⇒  (p &gt; q  ⇔  [p, A; 1−p, B] ≻ [q, A; 1−q, B])</a:t>
            </a:r>
            <a:endParaRPr lang="en-US" sz="1250" dirty="0"/>
          </a:p>
        </p:txBody>
      </p:sp>
      <p:sp>
        <p:nvSpPr>
          <p:cNvPr id="26" name="Text 23"/>
          <p:cNvSpPr/>
          <p:nvPr/>
        </p:nvSpPr>
        <p:spPr>
          <a:xfrm>
            <a:off x="822960" y="5413248"/>
            <a:ext cx="4791456" cy="502920"/>
          </a:xfrm>
          <a:prstGeom prst="rect">
            <a:avLst/>
          </a:prstGeom>
          <a:noFill/>
          <a:ln/>
        </p:spPr>
        <p:txBody>
          <a:bodyPr wrap="square" lIns="0" tIns="0" rIns="0" bIns="0" rtlCol="0" anchor="t"/>
          <a:lstStyle/>
          <a:p>
            <a:pPr indent="0" marL="0">
              <a:buNone/>
            </a:pPr>
            <a:r>
              <a:rPr lang="en-US" sz="1180" dirty="0">
                <a:solidFill>
                  <a:srgbClr val="3A3F4C"/>
                </a:solidFill>
                <a:latin typeface="Calibri" pitchFamily="34" charset="0"/>
                <a:ea typeface="Calibri" pitchFamily="34" charset="-122"/>
                <a:cs typeface="Calibri" pitchFamily="34" charset="-120"/>
              </a:rPr>
              <a:t>If you prefer A, you prefer the lottery that gives A a higher probability.</a:t>
            </a:r>
            <a:endParaRPr lang="en-US" sz="1180" dirty="0"/>
          </a:p>
        </p:txBody>
      </p:sp>
      <p:sp>
        <p:nvSpPr>
          <p:cNvPr id="27" name="Shape 24"/>
          <p:cNvSpPr/>
          <p:nvPr/>
        </p:nvSpPr>
        <p:spPr>
          <a:xfrm>
            <a:off x="6144768" y="4608576"/>
            <a:ext cx="5303520" cy="1371600"/>
          </a:xfrm>
          <a:prstGeom prst="roundRect">
            <a:avLst>
              <a:gd name="adj" fmla="val 4667"/>
            </a:avLst>
          </a:prstGeom>
          <a:solidFill>
            <a:srgbClr val="F1F2F5"/>
          </a:solidFill>
          <a:ln w="12700">
            <a:solidFill>
              <a:srgbClr val="F1F2F5"/>
            </a:solidFill>
            <a:prstDash val="solid"/>
          </a:ln>
        </p:spPr>
      </p:sp>
      <p:sp>
        <p:nvSpPr>
          <p:cNvPr id="28" name="Text 25"/>
          <p:cNvSpPr/>
          <p:nvPr/>
        </p:nvSpPr>
        <p:spPr>
          <a:xfrm>
            <a:off x="6400800" y="4718304"/>
            <a:ext cx="4754880" cy="292608"/>
          </a:xfrm>
          <a:prstGeom prst="rect">
            <a:avLst/>
          </a:prstGeom>
          <a:noFill/>
          <a:ln/>
        </p:spPr>
        <p:txBody>
          <a:bodyPr wrap="square" lIns="0" tIns="0" rIns="0" bIns="0" rtlCol="0" anchor="ctr"/>
          <a:lstStyle/>
          <a:p>
            <a:pPr indent="0" marL="0">
              <a:buNone/>
            </a:pPr>
            <a:r>
              <a:rPr lang="en-US" sz="1450" b="1" dirty="0">
                <a:solidFill>
                  <a:srgbClr val="6B4E8F"/>
                </a:solidFill>
                <a:latin typeface="Cambria" pitchFamily="34" charset="0"/>
                <a:ea typeface="Cambria" pitchFamily="34" charset="-122"/>
                <a:cs typeface="Cambria" pitchFamily="34" charset="-120"/>
              </a:rPr>
              <a:t>Decomposability</a:t>
            </a:r>
            <a:endParaRPr lang="en-US" sz="1450" dirty="0"/>
          </a:p>
        </p:txBody>
      </p:sp>
      <p:sp>
        <p:nvSpPr>
          <p:cNvPr id="29" name="Text 26"/>
          <p:cNvSpPr/>
          <p:nvPr/>
        </p:nvSpPr>
        <p:spPr>
          <a:xfrm>
            <a:off x="6400800" y="5029200"/>
            <a:ext cx="4791456" cy="365760"/>
          </a:xfrm>
          <a:prstGeom prst="rect">
            <a:avLst/>
          </a:prstGeom>
          <a:noFill/>
          <a:ln/>
        </p:spPr>
        <p:txBody>
          <a:bodyPr wrap="square" lIns="0" tIns="0" rIns="0" bIns="0" rtlCol="0" anchor="ctr"/>
          <a:lstStyle/>
          <a:p>
            <a:pPr indent="0" marL="0">
              <a:buNone/>
            </a:pPr>
            <a:r>
              <a:rPr lang="en-US" sz="1250" b="1" dirty="0">
                <a:solidFill>
                  <a:srgbClr val="1C1F2A"/>
                </a:solidFill>
                <a:latin typeface="Calibri" pitchFamily="34" charset="0"/>
                <a:ea typeface="Calibri" pitchFamily="34" charset="-122"/>
                <a:cs typeface="Calibri" pitchFamily="34" charset="-120"/>
              </a:rPr>
              <a:t>Compound lotteries reduce to simple ones by the laws of probability.</a:t>
            </a:r>
            <a:endParaRPr lang="en-US" sz="1250" dirty="0"/>
          </a:p>
        </p:txBody>
      </p:sp>
      <p:sp>
        <p:nvSpPr>
          <p:cNvPr id="30" name="Text 27"/>
          <p:cNvSpPr/>
          <p:nvPr/>
        </p:nvSpPr>
        <p:spPr>
          <a:xfrm>
            <a:off x="6400800" y="5413248"/>
            <a:ext cx="4791456" cy="502920"/>
          </a:xfrm>
          <a:prstGeom prst="rect">
            <a:avLst/>
          </a:prstGeom>
          <a:noFill/>
          <a:ln/>
        </p:spPr>
        <p:txBody>
          <a:bodyPr wrap="square" lIns="0" tIns="0" rIns="0" bIns="0" rtlCol="0" anchor="t"/>
          <a:lstStyle/>
          <a:p>
            <a:pPr indent="0" marL="0">
              <a:buNone/>
            </a:pPr>
            <a:r>
              <a:rPr lang="en-US" sz="1180" dirty="0">
                <a:solidFill>
                  <a:srgbClr val="3A3F4C"/>
                </a:solidFill>
                <a:latin typeface="Calibri" pitchFamily="34" charset="0"/>
                <a:ea typeface="Calibri" pitchFamily="34" charset="-122"/>
                <a:cs typeface="Calibri" pitchFamily="34" charset="-120"/>
              </a:rPr>
              <a:t>The "no fun in gambling" rule: two consecutive lotteries compress into one equivalent lottery.</a:t>
            </a:r>
            <a:endParaRPr lang="en-US" sz="1180" dirty="0"/>
          </a:p>
        </p:txBody>
      </p:sp>
      <p:sp>
        <p:nvSpPr>
          <p:cNvPr id="31" name="Text 28"/>
          <p:cNvSpPr/>
          <p:nvPr/>
        </p:nvSpPr>
        <p:spPr>
          <a:xfrm>
            <a:off x="566928" y="5943600"/>
            <a:ext cx="11064240" cy="320040"/>
          </a:xfrm>
          <a:prstGeom prst="rect">
            <a:avLst/>
          </a:prstGeom>
          <a:noFill/>
          <a:ln/>
        </p:spPr>
        <p:txBody>
          <a:bodyPr wrap="square" lIns="0" tIns="0" rIns="0" bIns="0" rtlCol="0" anchor="ctr"/>
          <a:lstStyle/>
          <a:p>
            <a:pPr indent="0" marL="0">
              <a:buNone/>
            </a:pPr>
            <a:r>
              <a:rPr lang="en-US" sz="1250" i="1" dirty="0">
                <a:solidFill>
                  <a:srgbClr val="8A8F9C"/>
                </a:solidFill>
                <a:latin typeface="Calibri" pitchFamily="34" charset="0"/>
                <a:ea typeface="Calibri" pitchFamily="34" charset="-122"/>
                <a:cs typeface="Calibri" pitchFamily="34" charset="-120"/>
              </a:rPr>
              <a:t>These are axioms about preferences. They say nothing about a utility function, which is exactly why the theorem that follows is worth proving.</a:t>
            </a:r>
            <a:endParaRPr lang="en-US" sz="12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WHY TRANSITIVITY MATTERS</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An agent with a preference cycle can be pumped dry</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47</a:t>
            </a:r>
            <a:endParaRPr lang="en-US" sz="900" dirty="0"/>
          </a:p>
        </p:txBody>
      </p:sp>
      <p:sp>
        <p:nvSpPr>
          <p:cNvPr id="7" name="Text 4"/>
          <p:cNvSpPr/>
          <p:nvPr/>
        </p:nvSpPr>
        <p:spPr>
          <a:xfrm>
            <a:off x="566928" y="1444752"/>
            <a:ext cx="11064240" cy="365760"/>
          </a:xfrm>
          <a:prstGeom prst="rect">
            <a:avLst/>
          </a:prstGeom>
          <a:noFill/>
          <a:ln/>
        </p:spPr>
        <p:txBody>
          <a:bodyPr wrap="square" lIns="0" tIns="0" rIns="0" bIns="0" rtlCol="0" anchor="ctr"/>
          <a:lstStyle/>
          <a:p>
            <a:pPr indent="0" marL="0">
              <a:buNone/>
            </a:pPr>
            <a:r>
              <a:rPr lang="en-US" sz="1400" dirty="0">
                <a:solidFill>
                  <a:srgbClr val="3A3F4C"/>
                </a:solidFill>
                <a:latin typeface="Calibri" pitchFamily="34" charset="0"/>
                <a:ea typeface="Calibri" pitchFamily="34" charset="-122"/>
                <a:cs typeface="Calibri" pitchFamily="34" charset="-120"/>
              </a:rPr>
              <a:t>Suppose the agent has the nontransitive preferences  A ≻ B ≻ C ≻ A,  where A, B and C are freely exchangeable goods.</a:t>
            </a:r>
            <a:endParaRPr lang="en-US" sz="1400" dirty="0"/>
          </a:p>
        </p:txBody>
      </p:sp>
      <p:sp>
        <p:nvSpPr>
          <p:cNvPr id="8" name="Shape 5"/>
          <p:cNvSpPr/>
          <p:nvPr/>
        </p:nvSpPr>
        <p:spPr>
          <a:xfrm>
            <a:off x="3657600" y="2377440"/>
            <a:ext cx="1233068" cy="2125980"/>
          </a:xfrm>
          <a:prstGeom prst="line">
            <a:avLst/>
          </a:prstGeom>
          <a:noFill/>
          <a:ln w="25400">
            <a:solidFill>
              <a:srgbClr val="C2410C"/>
            </a:solidFill>
            <a:prstDash val="solid"/>
          </a:ln>
        </p:spPr>
      </p:sp>
      <p:sp>
        <p:nvSpPr>
          <p:cNvPr id="9" name="Shape 6"/>
          <p:cNvSpPr/>
          <p:nvPr/>
        </p:nvSpPr>
        <p:spPr>
          <a:xfrm flipH="1">
            <a:off x="2424532" y="4503420"/>
            <a:ext cx="2466137" cy="0"/>
          </a:xfrm>
          <a:prstGeom prst="line">
            <a:avLst/>
          </a:prstGeom>
          <a:noFill/>
          <a:ln w="25400">
            <a:solidFill>
              <a:srgbClr val="C2410C"/>
            </a:solidFill>
            <a:prstDash val="solid"/>
          </a:ln>
        </p:spPr>
      </p:sp>
      <p:sp>
        <p:nvSpPr>
          <p:cNvPr id="10" name="Shape 7"/>
          <p:cNvSpPr/>
          <p:nvPr/>
        </p:nvSpPr>
        <p:spPr>
          <a:xfrm flipV="1">
            <a:off x="2424532" y="2377440"/>
            <a:ext cx="1233068" cy="2125980"/>
          </a:xfrm>
          <a:prstGeom prst="line">
            <a:avLst/>
          </a:prstGeom>
          <a:noFill/>
          <a:ln w="25400">
            <a:solidFill>
              <a:srgbClr val="C2410C"/>
            </a:solidFill>
            <a:prstDash val="solid"/>
          </a:ln>
        </p:spPr>
      </p:sp>
      <p:sp>
        <p:nvSpPr>
          <p:cNvPr id="11" name="Shape 8"/>
          <p:cNvSpPr/>
          <p:nvPr/>
        </p:nvSpPr>
        <p:spPr>
          <a:xfrm>
            <a:off x="3273552" y="1993392"/>
            <a:ext cx="768096" cy="768096"/>
          </a:xfrm>
          <a:prstGeom prst="ellipse">
            <a:avLst/>
          </a:prstGeom>
          <a:solidFill>
            <a:srgbClr val="1C1F2A"/>
          </a:solidFill>
          <a:ln w="12700">
            <a:solidFill>
              <a:srgbClr val="1C1F2A"/>
            </a:solidFill>
            <a:prstDash val="solid"/>
          </a:ln>
        </p:spPr>
      </p:sp>
      <p:sp>
        <p:nvSpPr>
          <p:cNvPr id="12" name="Text 9"/>
          <p:cNvSpPr/>
          <p:nvPr/>
        </p:nvSpPr>
        <p:spPr>
          <a:xfrm>
            <a:off x="3273552" y="1993392"/>
            <a:ext cx="768096" cy="768096"/>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a:t>
            </a:r>
            <a:endParaRPr lang="en-US" sz="2000" dirty="0"/>
          </a:p>
        </p:txBody>
      </p:sp>
      <p:sp>
        <p:nvSpPr>
          <p:cNvPr id="13" name="Shape 10"/>
          <p:cNvSpPr/>
          <p:nvPr/>
        </p:nvSpPr>
        <p:spPr>
          <a:xfrm>
            <a:off x="4506620" y="4119372"/>
            <a:ext cx="768096" cy="768096"/>
          </a:xfrm>
          <a:prstGeom prst="ellipse">
            <a:avLst/>
          </a:prstGeom>
          <a:solidFill>
            <a:srgbClr val="1C1F2A"/>
          </a:solidFill>
          <a:ln w="12700">
            <a:solidFill>
              <a:srgbClr val="1C1F2A"/>
            </a:solidFill>
            <a:prstDash val="solid"/>
          </a:ln>
        </p:spPr>
      </p:sp>
      <p:sp>
        <p:nvSpPr>
          <p:cNvPr id="14" name="Text 11"/>
          <p:cNvSpPr/>
          <p:nvPr/>
        </p:nvSpPr>
        <p:spPr>
          <a:xfrm>
            <a:off x="4506620" y="4119372"/>
            <a:ext cx="768096" cy="768096"/>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B</a:t>
            </a:r>
            <a:endParaRPr lang="en-US" sz="2000" dirty="0"/>
          </a:p>
        </p:txBody>
      </p:sp>
      <p:sp>
        <p:nvSpPr>
          <p:cNvPr id="15" name="Shape 12"/>
          <p:cNvSpPr/>
          <p:nvPr/>
        </p:nvSpPr>
        <p:spPr>
          <a:xfrm>
            <a:off x="2040484" y="4119372"/>
            <a:ext cx="768096" cy="768096"/>
          </a:xfrm>
          <a:prstGeom prst="ellipse">
            <a:avLst/>
          </a:prstGeom>
          <a:solidFill>
            <a:srgbClr val="1C1F2A"/>
          </a:solidFill>
          <a:ln w="12700">
            <a:solidFill>
              <a:srgbClr val="1C1F2A"/>
            </a:solidFill>
            <a:prstDash val="solid"/>
          </a:ln>
        </p:spPr>
      </p:sp>
      <p:sp>
        <p:nvSpPr>
          <p:cNvPr id="16" name="Text 13"/>
          <p:cNvSpPr/>
          <p:nvPr/>
        </p:nvSpPr>
        <p:spPr>
          <a:xfrm>
            <a:off x="2040484" y="4119372"/>
            <a:ext cx="768096" cy="768096"/>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C</a:t>
            </a:r>
            <a:endParaRPr lang="en-US" sz="2000" dirty="0"/>
          </a:p>
        </p:txBody>
      </p:sp>
      <p:sp>
        <p:nvSpPr>
          <p:cNvPr id="17" name="Text 14"/>
          <p:cNvSpPr/>
          <p:nvPr/>
        </p:nvSpPr>
        <p:spPr>
          <a:xfrm>
            <a:off x="2468880" y="5440680"/>
            <a:ext cx="2377440" cy="292608"/>
          </a:xfrm>
          <a:prstGeom prst="rect">
            <a:avLst/>
          </a:prstGeom>
          <a:noFill/>
          <a:ln/>
        </p:spPr>
        <p:txBody>
          <a:bodyPr wrap="square" lIns="0" tIns="0" rIns="0" bIns="0" rtlCol="0" anchor="ctr"/>
          <a:lstStyle/>
          <a:p>
            <a:pPr algn="ctr" indent="0" marL="0">
              <a:buNone/>
            </a:pPr>
            <a:r>
              <a:rPr lang="en-US" sz="1200" i="1" dirty="0">
                <a:solidFill>
                  <a:srgbClr val="C2410C"/>
                </a:solidFill>
                <a:latin typeface="Calibri" pitchFamily="34" charset="0"/>
                <a:ea typeface="Calibri" pitchFamily="34" charset="-122"/>
                <a:cs typeface="Calibri" pitchFamily="34" charset="-120"/>
              </a:rPr>
              <a:t>one cent per trade</a:t>
            </a:r>
            <a:endParaRPr lang="en-US" sz="1200" dirty="0"/>
          </a:p>
        </p:txBody>
      </p:sp>
      <p:sp>
        <p:nvSpPr>
          <p:cNvPr id="18" name="Shape 15"/>
          <p:cNvSpPr/>
          <p:nvPr/>
        </p:nvSpPr>
        <p:spPr>
          <a:xfrm>
            <a:off x="6400800" y="1810512"/>
            <a:ext cx="5230368" cy="932688"/>
          </a:xfrm>
          <a:prstGeom prst="roundRect">
            <a:avLst>
              <a:gd name="adj" fmla="val 6863"/>
            </a:avLst>
          </a:prstGeom>
          <a:solidFill>
            <a:srgbClr val="F1F2F5"/>
          </a:solidFill>
          <a:ln w="12700">
            <a:solidFill>
              <a:srgbClr val="F1F2F5"/>
            </a:solidFill>
            <a:prstDash val="solid"/>
          </a:ln>
        </p:spPr>
      </p:sp>
      <p:sp>
        <p:nvSpPr>
          <p:cNvPr id="19" name="Shape 16"/>
          <p:cNvSpPr/>
          <p:nvPr/>
        </p:nvSpPr>
        <p:spPr>
          <a:xfrm>
            <a:off x="6629400" y="2048256"/>
            <a:ext cx="457200" cy="457200"/>
          </a:xfrm>
          <a:prstGeom prst="ellipse">
            <a:avLst/>
          </a:prstGeom>
          <a:solidFill>
            <a:srgbClr val="D6DAE2"/>
          </a:solidFill>
          <a:ln w="12700">
            <a:solidFill>
              <a:srgbClr val="D6DAE2"/>
            </a:solidFill>
            <a:prstDash val="solid"/>
          </a:ln>
        </p:spPr>
      </p:sp>
      <p:sp>
        <p:nvSpPr>
          <p:cNvPr id="20" name="Text 17"/>
          <p:cNvSpPr/>
          <p:nvPr/>
        </p:nvSpPr>
        <p:spPr>
          <a:xfrm>
            <a:off x="6629400" y="2048256"/>
            <a:ext cx="457200" cy="457200"/>
          </a:xfrm>
          <a:prstGeom prst="rect">
            <a:avLst/>
          </a:prstGeom>
          <a:noFill/>
          <a:ln/>
        </p:spPr>
        <p:txBody>
          <a:bodyPr wrap="square" lIns="0" tIns="0" rIns="0" bIns="0" rtlCol="0" anchor="ctr"/>
          <a:lstStyle/>
          <a:p>
            <a:pPr algn="ctr" indent="0" marL="0">
              <a:buNone/>
            </a:pPr>
            <a:r>
              <a:rPr lang="en-US" sz="1250" b="1" dirty="0">
                <a:solidFill>
                  <a:srgbClr val="1C1F2A"/>
                </a:solidFill>
                <a:latin typeface="Cambria" pitchFamily="34" charset="0"/>
                <a:ea typeface="Cambria" pitchFamily="34" charset="-122"/>
                <a:cs typeface="Cambria" pitchFamily="34" charset="-120"/>
              </a:rPr>
              <a:t>1</a:t>
            </a:r>
            <a:endParaRPr lang="en-US" sz="1250" dirty="0"/>
          </a:p>
        </p:txBody>
      </p:sp>
      <p:sp>
        <p:nvSpPr>
          <p:cNvPr id="21" name="Text 18"/>
          <p:cNvSpPr/>
          <p:nvPr/>
        </p:nvSpPr>
        <p:spPr>
          <a:xfrm>
            <a:off x="7242048" y="1810512"/>
            <a:ext cx="4206240" cy="932688"/>
          </a:xfrm>
          <a:prstGeom prst="rect">
            <a:avLst/>
          </a:prstGeom>
          <a:noFill/>
          <a:ln/>
        </p:spPr>
        <p:txBody>
          <a:bodyPr wrap="square" lIns="0" tIns="0" rIns="0" bIns="0" rtlCol="0" anchor="ctr"/>
          <a:lstStyle/>
          <a:p>
            <a:pPr indent="0" marL="0">
              <a:buNone/>
            </a:pPr>
            <a:r>
              <a:rPr lang="en-US" sz="1200" dirty="0">
                <a:solidFill>
                  <a:srgbClr val="3A3F4C"/>
                </a:solidFill>
                <a:latin typeface="Calibri" pitchFamily="34" charset="0"/>
                <a:ea typeface="Calibri" pitchFamily="34" charset="-122"/>
                <a:cs typeface="Calibri" pitchFamily="34" charset="-120"/>
              </a:rPr>
              <a:t>The agent currently holds A. We offer to trade C for A plus one cent. It prefers C, so it agrees.</a:t>
            </a:r>
            <a:endParaRPr lang="en-US" sz="1200" dirty="0"/>
          </a:p>
        </p:txBody>
      </p:sp>
      <p:sp>
        <p:nvSpPr>
          <p:cNvPr id="22" name="Shape 19"/>
          <p:cNvSpPr/>
          <p:nvPr/>
        </p:nvSpPr>
        <p:spPr>
          <a:xfrm>
            <a:off x="6400800" y="2862072"/>
            <a:ext cx="5230368" cy="932688"/>
          </a:xfrm>
          <a:prstGeom prst="roundRect">
            <a:avLst>
              <a:gd name="adj" fmla="val 6863"/>
            </a:avLst>
          </a:prstGeom>
          <a:solidFill>
            <a:srgbClr val="F1F2F5"/>
          </a:solidFill>
          <a:ln w="12700">
            <a:solidFill>
              <a:srgbClr val="F1F2F5"/>
            </a:solidFill>
            <a:prstDash val="solid"/>
          </a:ln>
        </p:spPr>
      </p:sp>
      <p:sp>
        <p:nvSpPr>
          <p:cNvPr id="23" name="Shape 20"/>
          <p:cNvSpPr/>
          <p:nvPr/>
        </p:nvSpPr>
        <p:spPr>
          <a:xfrm>
            <a:off x="6629400" y="3099816"/>
            <a:ext cx="457200" cy="457200"/>
          </a:xfrm>
          <a:prstGeom prst="ellipse">
            <a:avLst/>
          </a:prstGeom>
          <a:solidFill>
            <a:srgbClr val="D6DAE2"/>
          </a:solidFill>
          <a:ln w="12700">
            <a:solidFill>
              <a:srgbClr val="D6DAE2"/>
            </a:solidFill>
            <a:prstDash val="solid"/>
          </a:ln>
        </p:spPr>
      </p:sp>
      <p:sp>
        <p:nvSpPr>
          <p:cNvPr id="24" name="Text 21"/>
          <p:cNvSpPr/>
          <p:nvPr/>
        </p:nvSpPr>
        <p:spPr>
          <a:xfrm>
            <a:off x="6629400" y="3099816"/>
            <a:ext cx="457200" cy="457200"/>
          </a:xfrm>
          <a:prstGeom prst="rect">
            <a:avLst/>
          </a:prstGeom>
          <a:noFill/>
          <a:ln/>
        </p:spPr>
        <p:txBody>
          <a:bodyPr wrap="square" lIns="0" tIns="0" rIns="0" bIns="0" rtlCol="0" anchor="ctr"/>
          <a:lstStyle/>
          <a:p>
            <a:pPr algn="ctr" indent="0" marL="0">
              <a:buNone/>
            </a:pPr>
            <a:r>
              <a:rPr lang="en-US" sz="1250" b="1" dirty="0">
                <a:solidFill>
                  <a:srgbClr val="1C1F2A"/>
                </a:solidFill>
                <a:latin typeface="Cambria" pitchFamily="34" charset="0"/>
                <a:ea typeface="Cambria" pitchFamily="34" charset="-122"/>
                <a:cs typeface="Cambria" pitchFamily="34" charset="-120"/>
              </a:rPr>
              <a:t>2</a:t>
            </a:r>
            <a:endParaRPr lang="en-US" sz="1250" dirty="0"/>
          </a:p>
        </p:txBody>
      </p:sp>
      <p:sp>
        <p:nvSpPr>
          <p:cNvPr id="25" name="Text 22"/>
          <p:cNvSpPr/>
          <p:nvPr/>
        </p:nvSpPr>
        <p:spPr>
          <a:xfrm>
            <a:off x="7242048" y="2862072"/>
            <a:ext cx="4206240" cy="932688"/>
          </a:xfrm>
          <a:prstGeom prst="rect">
            <a:avLst/>
          </a:prstGeom>
          <a:noFill/>
          <a:ln/>
        </p:spPr>
        <p:txBody>
          <a:bodyPr wrap="square" lIns="0" tIns="0" rIns="0" bIns="0" rtlCol="0" anchor="ctr"/>
          <a:lstStyle/>
          <a:p>
            <a:pPr indent="0" marL="0">
              <a:buNone/>
            </a:pPr>
            <a:r>
              <a:rPr lang="en-US" sz="1200" dirty="0">
                <a:solidFill>
                  <a:srgbClr val="3A3F4C"/>
                </a:solidFill>
                <a:latin typeface="Calibri" pitchFamily="34" charset="0"/>
                <a:ea typeface="Calibri" pitchFamily="34" charset="-122"/>
                <a:cs typeface="Calibri" pitchFamily="34" charset="-120"/>
              </a:rPr>
              <a:t>We then offer to trade B for C, extracting another cent. It prefers B, so it agrees.</a:t>
            </a:r>
            <a:endParaRPr lang="en-US" sz="1200" dirty="0"/>
          </a:p>
        </p:txBody>
      </p:sp>
      <p:sp>
        <p:nvSpPr>
          <p:cNvPr id="26" name="Shape 23"/>
          <p:cNvSpPr/>
          <p:nvPr/>
        </p:nvSpPr>
        <p:spPr>
          <a:xfrm>
            <a:off x="6400800" y="3913632"/>
            <a:ext cx="5230368" cy="932688"/>
          </a:xfrm>
          <a:prstGeom prst="roundRect">
            <a:avLst>
              <a:gd name="adj" fmla="val 6863"/>
            </a:avLst>
          </a:prstGeom>
          <a:solidFill>
            <a:srgbClr val="F1F2F5"/>
          </a:solidFill>
          <a:ln w="12700">
            <a:solidFill>
              <a:srgbClr val="F1F2F5"/>
            </a:solidFill>
            <a:prstDash val="solid"/>
          </a:ln>
        </p:spPr>
      </p:sp>
      <p:sp>
        <p:nvSpPr>
          <p:cNvPr id="27" name="Shape 24"/>
          <p:cNvSpPr/>
          <p:nvPr/>
        </p:nvSpPr>
        <p:spPr>
          <a:xfrm>
            <a:off x="6629400" y="4151376"/>
            <a:ext cx="457200" cy="457200"/>
          </a:xfrm>
          <a:prstGeom prst="ellipse">
            <a:avLst/>
          </a:prstGeom>
          <a:solidFill>
            <a:srgbClr val="D6DAE2"/>
          </a:solidFill>
          <a:ln w="12700">
            <a:solidFill>
              <a:srgbClr val="D6DAE2"/>
            </a:solidFill>
            <a:prstDash val="solid"/>
          </a:ln>
        </p:spPr>
      </p:sp>
      <p:sp>
        <p:nvSpPr>
          <p:cNvPr id="28" name="Text 25"/>
          <p:cNvSpPr/>
          <p:nvPr/>
        </p:nvSpPr>
        <p:spPr>
          <a:xfrm>
            <a:off x="6629400" y="4151376"/>
            <a:ext cx="457200" cy="457200"/>
          </a:xfrm>
          <a:prstGeom prst="rect">
            <a:avLst/>
          </a:prstGeom>
          <a:noFill/>
          <a:ln/>
        </p:spPr>
        <p:txBody>
          <a:bodyPr wrap="square" lIns="0" tIns="0" rIns="0" bIns="0" rtlCol="0" anchor="ctr"/>
          <a:lstStyle/>
          <a:p>
            <a:pPr algn="ctr" indent="0" marL="0">
              <a:buNone/>
            </a:pPr>
            <a:r>
              <a:rPr lang="en-US" sz="1250" b="1" dirty="0">
                <a:solidFill>
                  <a:srgbClr val="1C1F2A"/>
                </a:solidFill>
                <a:latin typeface="Cambria" pitchFamily="34" charset="0"/>
                <a:ea typeface="Cambria" pitchFamily="34" charset="-122"/>
                <a:cs typeface="Cambria" pitchFamily="34" charset="-120"/>
              </a:rPr>
              <a:t>3</a:t>
            </a:r>
            <a:endParaRPr lang="en-US" sz="1250" dirty="0"/>
          </a:p>
        </p:txBody>
      </p:sp>
      <p:sp>
        <p:nvSpPr>
          <p:cNvPr id="29" name="Text 26"/>
          <p:cNvSpPr/>
          <p:nvPr/>
        </p:nvSpPr>
        <p:spPr>
          <a:xfrm>
            <a:off x="7242048" y="3913632"/>
            <a:ext cx="4206240" cy="932688"/>
          </a:xfrm>
          <a:prstGeom prst="rect">
            <a:avLst/>
          </a:prstGeom>
          <a:noFill/>
          <a:ln/>
        </p:spPr>
        <p:txBody>
          <a:bodyPr wrap="square" lIns="0" tIns="0" rIns="0" bIns="0" rtlCol="0" anchor="ctr"/>
          <a:lstStyle/>
          <a:p>
            <a:pPr indent="0" marL="0">
              <a:buNone/>
            </a:pPr>
            <a:r>
              <a:rPr lang="en-US" sz="1200" dirty="0">
                <a:solidFill>
                  <a:srgbClr val="3A3F4C"/>
                </a:solidFill>
                <a:latin typeface="Calibri" pitchFamily="34" charset="0"/>
                <a:ea typeface="Calibri" pitchFamily="34" charset="-122"/>
                <a:cs typeface="Calibri" pitchFamily="34" charset="-120"/>
              </a:rPr>
              <a:t>Finally we trade A for B, extracting a third cent. It prefers A, so it agrees.</a:t>
            </a:r>
            <a:endParaRPr lang="en-US" sz="1200" dirty="0"/>
          </a:p>
        </p:txBody>
      </p:sp>
      <p:sp>
        <p:nvSpPr>
          <p:cNvPr id="30" name="Shape 27"/>
          <p:cNvSpPr/>
          <p:nvPr/>
        </p:nvSpPr>
        <p:spPr>
          <a:xfrm>
            <a:off x="6400800" y="4965192"/>
            <a:ext cx="5230368" cy="932688"/>
          </a:xfrm>
          <a:prstGeom prst="roundRect">
            <a:avLst>
              <a:gd name="adj" fmla="val 6863"/>
            </a:avLst>
          </a:prstGeom>
          <a:solidFill>
            <a:srgbClr val="F1F2F5"/>
          </a:solidFill>
          <a:ln w="12700">
            <a:solidFill>
              <a:srgbClr val="F1F2F5"/>
            </a:solidFill>
            <a:prstDash val="solid"/>
          </a:ln>
        </p:spPr>
      </p:sp>
      <p:sp>
        <p:nvSpPr>
          <p:cNvPr id="31" name="Shape 28"/>
          <p:cNvSpPr/>
          <p:nvPr/>
        </p:nvSpPr>
        <p:spPr>
          <a:xfrm>
            <a:off x="6629400" y="5202936"/>
            <a:ext cx="457200" cy="457200"/>
          </a:xfrm>
          <a:prstGeom prst="ellipse">
            <a:avLst/>
          </a:prstGeom>
          <a:solidFill>
            <a:srgbClr val="C2410C"/>
          </a:solidFill>
          <a:ln w="12700">
            <a:solidFill>
              <a:srgbClr val="C2410C"/>
            </a:solidFill>
            <a:prstDash val="solid"/>
          </a:ln>
        </p:spPr>
      </p:sp>
      <p:sp>
        <p:nvSpPr>
          <p:cNvPr id="32" name="Text 29"/>
          <p:cNvSpPr/>
          <p:nvPr/>
        </p:nvSpPr>
        <p:spPr>
          <a:xfrm>
            <a:off x="6629400" y="5202936"/>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4</a:t>
            </a:r>
            <a:endParaRPr lang="en-US" sz="1250" dirty="0"/>
          </a:p>
        </p:txBody>
      </p:sp>
      <p:sp>
        <p:nvSpPr>
          <p:cNvPr id="33" name="Text 30"/>
          <p:cNvSpPr/>
          <p:nvPr/>
        </p:nvSpPr>
        <p:spPr>
          <a:xfrm>
            <a:off x="7242048" y="4965192"/>
            <a:ext cx="4206240" cy="932688"/>
          </a:xfrm>
          <a:prstGeom prst="rect">
            <a:avLst/>
          </a:prstGeom>
          <a:noFill/>
          <a:ln/>
        </p:spPr>
        <p:txBody>
          <a:bodyPr wrap="square" lIns="0" tIns="0" rIns="0" bIns="0" rtlCol="0" anchor="ctr"/>
          <a:lstStyle/>
          <a:p>
            <a:pPr indent="0" marL="0">
              <a:buNone/>
            </a:pPr>
            <a:r>
              <a:rPr lang="en-US" sz="1200" dirty="0">
                <a:solidFill>
                  <a:srgbClr val="3A3F4C"/>
                </a:solidFill>
                <a:latin typeface="Calibri" pitchFamily="34" charset="0"/>
                <a:ea typeface="Calibri" pitchFamily="34" charset="-122"/>
                <a:cs typeface="Calibri" pitchFamily="34" charset="-120"/>
              </a:rPr>
              <a:t>The agent is back where it started, holding A, three cents poorer. We can keep going around the cycle until it has nothing left.</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C1F2A"/>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B58500"/>
                </a:solidFill>
                <a:latin typeface="Calibri" pitchFamily="34" charset="0"/>
                <a:ea typeface="Calibri" pitchFamily="34" charset="-122"/>
                <a:cs typeface="Calibri" pitchFamily="34" charset="-120"/>
              </a:rPr>
              <a:t>16.2.2  RATIONAL PREFERENCES LEAD TO UTILITY</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von Neumann-Morgenstern theorem</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565D6E"/>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565D6E"/>
                </a:solidFill>
                <a:latin typeface="Calibri" pitchFamily="34" charset="0"/>
                <a:ea typeface="Calibri" pitchFamily="34" charset="-122"/>
                <a:cs typeface="Calibri" pitchFamily="34" charset="-120"/>
              </a:rPr>
              <a:t>48</a:t>
            </a:r>
            <a:endParaRPr lang="en-US" sz="900" dirty="0"/>
          </a:p>
        </p:txBody>
      </p:sp>
      <p:sp>
        <p:nvSpPr>
          <p:cNvPr id="7" name="Shape 4"/>
          <p:cNvSpPr/>
          <p:nvPr/>
        </p:nvSpPr>
        <p:spPr>
          <a:xfrm>
            <a:off x="566928" y="1463040"/>
            <a:ext cx="11064240" cy="1325880"/>
          </a:xfrm>
          <a:prstGeom prst="roundRect">
            <a:avLst>
              <a:gd name="adj" fmla="val 4828"/>
            </a:avLst>
          </a:prstGeom>
          <a:solidFill>
            <a:srgbClr val="2A2F3E"/>
          </a:solidFill>
          <a:ln w="12700">
            <a:solidFill>
              <a:srgbClr val="2A2F3E"/>
            </a:solidFill>
            <a:prstDash val="solid"/>
          </a:ln>
        </p:spPr>
      </p:sp>
      <p:sp>
        <p:nvSpPr>
          <p:cNvPr id="8" name="Text 5"/>
          <p:cNvSpPr/>
          <p:nvPr/>
        </p:nvSpPr>
        <p:spPr>
          <a:xfrm>
            <a:off x="914400" y="1609344"/>
            <a:ext cx="4937760" cy="310896"/>
          </a:xfrm>
          <a:prstGeom prst="rect">
            <a:avLst/>
          </a:prstGeom>
          <a:noFill/>
          <a:ln/>
        </p:spPr>
        <p:txBody>
          <a:bodyPr wrap="square" lIns="0" tIns="0" rIns="0" bIns="0" rtlCol="0" anchor="ctr"/>
          <a:lstStyle/>
          <a:p>
            <a:pPr indent="0" marL="0">
              <a:buNone/>
            </a:pPr>
            <a:r>
              <a:rPr lang="en-US" sz="1400" b="1" dirty="0">
                <a:solidFill>
                  <a:srgbClr val="F0A177"/>
                </a:solidFill>
                <a:latin typeface="Cambria" pitchFamily="34" charset="0"/>
                <a:ea typeface="Cambria" pitchFamily="34" charset="-122"/>
                <a:cs typeface="Cambria" pitchFamily="34" charset="-120"/>
              </a:rPr>
              <a:t>Existence of a utility function</a:t>
            </a:r>
            <a:endParaRPr lang="en-US" sz="1400" dirty="0"/>
          </a:p>
        </p:txBody>
      </p:sp>
      <p:sp>
        <p:nvSpPr>
          <p:cNvPr id="9" name="Text 6"/>
          <p:cNvSpPr/>
          <p:nvPr/>
        </p:nvSpPr>
        <p:spPr>
          <a:xfrm>
            <a:off x="914400" y="1938528"/>
            <a:ext cx="1033272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U(A) &gt; U(B)  ⇔  A ≻ B          and          U(A) = U(B)  ⇔  A ∼ B</a:t>
            </a:r>
            <a:endParaRPr lang="en-US" sz="1700" dirty="0"/>
          </a:p>
        </p:txBody>
      </p:sp>
      <p:sp>
        <p:nvSpPr>
          <p:cNvPr id="10" name="Text 7"/>
          <p:cNvSpPr/>
          <p:nvPr/>
        </p:nvSpPr>
        <p:spPr>
          <a:xfrm>
            <a:off x="914400" y="2377440"/>
            <a:ext cx="10332720" cy="320040"/>
          </a:xfrm>
          <a:prstGeom prst="rect">
            <a:avLst/>
          </a:prstGeom>
          <a:noFill/>
          <a:ln/>
        </p:spPr>
        <p:txBody>
          <a:bodyPr wrap="square" lIns="0" tIns="0" rIns="0" bIns="0" rtlCol="0" anchor="ctr"/>
          <a:lstStyle/>
          <a:p>
            <a:pPr indent="0" marL="0">
              <a:buNone/>
            </a:pPr>
            <a:r>
              <a:rPr lang="en-US" sz="1250" i="1" dirty="0">
                <a:solidFill>
                  <a:srgbClr val="9AA2B4"/>
                </a:solidFill>
                <a:latin typeface="Calibri" pitchFamily="34" charset="0"/>
                <a:ea typeface="Calibri" pitchFamily="34" charset="-122"/>
                <a:cs typeface="Calibri" pitchFamily="34" charset="-120"/>
              </a:rPr>
              <a:t>If an agent’s preferences obey the axioms, such a U must exist. It is not assumed; it is forced.</a:t>
            </a:r>
            <a:endParaRPr lang="en-US" sz="1250" dirty="0"/>
          </a:p>
        </p:txBody>
      </p:sp>
      <p:sp>
        <p:nvSpPr>
          <p:cNvPr id="11" name="Shape 8"/>
          <p:cNvSpPr/>
          <p:nvPr/>
        </p:nvSpPr>
        <p:spPr>
          <a:xfrm>
            <a:off x="566928" y="2944368"/>
            <a:ext cx="11064240" cy="1325880"/>
          </a:xfrm>
          <a:prstGeom prst="roundRect">
            <a:avLst>
              <a:gd name="adj" fmla="val 4828"/>
            </a:avLst>
          </a:prstGeom>
          <a:solidFill>
            <a:srgbClr val="2A2F3E"/>
          </a:solidFill>
          <a:ln w="12700">
            <a:solidFill>
              <a:srgbClr val="2A2F3E"/>
            </a:solidFill>
            <a:prstDash val="solid"/>
          </a:ln>
        </p:spPr>
      </p:sp>
      <p:sp>
        <p:nvSpPr>
          <p:cNvPr id="12" name="Text 9"/>
          <p:cNvSpPr/>
          <p:nvPr/>
        </p:nvSpPr>
        <p:spPr>
          <a:xfrm>
            <a:off x="914400" y="3090672"/>
            <a:ext cx="4937760" cy="310896"/>
          </a:xfrm>
          <a:prstGeom prst="rect">
            <a:avLst/>
          </a:prstGeom>
          <a:noFill/>
          <a:ln/>
        </p:spPr>
        <p:txBody>
          <a:bodyPr wrap="square" lIns="0" tIns="0" rIns="0" bIns="0" rtlCol="0" anchor="ctr"/>
          <a:lstStyle/>
          <a:p>
            <a:pPr indent="0" marL="0">
              <a:buNone/>
            </a:pPr>
            <a:r>
              <a:rPr lang="en-US" sz="1400" b="1" dirty="0">
                <a:solidFill>
                  <a:srgbClr val="B79BD9"/>
                </a:solidFill>
                <a:latin typeface="Cambria" pitchFamily="34" charset="0"/>
                <a:ea typeface="Cambria" pitchFamily="34" charset="-122"/>
                <a:cs typeface="Cambria" pitchFamily="34" charset="-120"/>
              </a:rPr>
              <a:t>Expected utility of a lottery</a:t>
            </a:r>
            <a:endParaRPr lang="en-US" sz="1400" dirty="0"/>
          </a:p>
        </p:txBody>
      </p:sp>
      <p:sp>
        <p:nvSpPr>
          <p:cNvPr id="13" name="Text 10"/>
          <p:cNvSpPr/>
          <p:nvPr/>
        </p:nvSpPr>
        <p:spPr>
          <a:xfrm>
            <a:off x="914400" y="3419856"/>
            <a:ext cx="1033272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U([p₁, S₁;  …;  pₙ, Sₙ])   =   ∑ᵢ pᵢ U(Sᵢ)</a:t>
            </a:r>
            <a:endParaRPr lang="en-US" sz="1700" dirty="0"/>
          </a:p>
        </p:txBody>
      </p:sp>
      <p:sp>
        <p:nvSpPr>
          <p:cNvPr id="14" name="Text 11"/>
          <p:cNvSpPr/>
          <p:nvPr/>
        </p:nvSpPr>
        <p:spPr>
          <a:xfrm>
            <a:off x="914400" y="3858768"/>
            <a:ext cx="10332720" cy="320040"/>
          </a:xfrm>
          <a:prstGeom prst="rect">
            <a:avLst/>
          </a:prstGeom>
          <a:noFill/>
          <a:ln/>
        </p:spPr>
        <p:txBody>
          <a:bodyPr wrap="square" lIns="0" tIns="0" rIns="0" bIns="0" rtlCol="0" anchor="ctr"/>
          <a:lstStyle/>
          <a:p>
            <a:pPr indent="0" marL="0">
              <a:buNone/>
            </a:pPr>
            <a:r>
              <a:rPr lang="en-US" sz="1250" i="1" dirty="0">
                <a:solidFill>
                  <a:srgbClr val="9AA2B4"/>
                </a:solidFill>
                <a:latin typeface="Calibri" pitchFamily="34" charset="0"/>
                <a:ea typeface="Calibri" pitchFamily="34" charset="-122"/>
                <a:cs typeface="Calibri" pitchFamily="34" charset="-120"/>
              </a:rPr>
              <a:t>Once the probabilities and outcome utilities are fixed, the utility of any compound lottery is completely determined.</a:t>
            </a:r>
            <a:endParaRPr lang="en-US" sz="1250" dirty="0"/>
          </a:p>
        </p:txBody>
      </p:sp>
      <p:sp>
        <p:nvSpPr>
          <p:cNvPr id="15" name="Shape 12"/>
          <p:cNvSpPr/>
          <p:nvPr/>
        </p:nvSpPr>
        <p:spPr>
          <a:xfrm>
            <a:off x="566928" y="4434840"/>
            <a:ext cx="11064240" cy="1508760"/>
          </a:xfrm>
          <a:prstGeom prst="roundRect">
            <a:avLst>
              <a:gd name="adj" fmla="val 4242"/>
            </a:avLst>
          </a:prstGeom>
          <a:solidFill>
            <a:srgbClr val="2A2F3E"/>
          </a:solidFill>
          <a:ln w="12700">
            <a:solidFill>
              <a:srgbClr val="2A2F3E"/>
            </a:solidFill>
            <a:prstDash val="solid"/>
          </a:ln>
        </p:spPr>
      </p:sp>
      <p:sp>
        <p:nvSpPr>
          <p:cNvPr id="16" name="Text 13"/>
          <p:cNvSpPr/>
          <p:nvPr/>
        </p:nvSpPr>
        <p:spPr>
          <a:xfrm>
            <a:off x="914400" y="4590288"/>
            <a:ext cx="5486400" cy="329184"/>
          </a:xfrm>
          <a:prstGeom prst="rect">
            <a:avLst/>
          </a:prstGeom>
          <a:noFill/>
          <a:ln/>
        </p:spPr>
        <p:txBody>
          <a:bodyPr wrap="square" lIns="0" tIns="0" rIns="0" bIns="0" rtlCol="0" anchor="ctr"/>
          <a:lstStyle/>
          <a:p>
            <a:pPr indent="0" marL="0">
              <a:buNone/>
            </a:pPr>
            <a:r>
              <a:rPr lang="en-US" sz="1600" b="1" dirty="0">
                <a:solidFill>
                  <a:srgbClr val="B58500"/>
                </a:solidFill>
                <a:latin typeface="Cambria" pitchFamily="34" charset="0"/>
                <a:ea typeface="Cambria" pitchFamily="34" charset="-122"/>
                <a:cs typeface="Cambria" pitchFamily="34" charset="-120"/>
              </a:rPr>
              <a:t>This is exactly the chance node</a:t>
            </a:r>
            <a:endParaRPr lang="en-US" sz="1600" dirty="0"/>
          </a:p>
        </p:txBody>
      </p:sp>
      <p:sp>
        <p:nvSpPr>
          <p:cNvPr id="17" name="Text 14"/>
          <p:cNvSpPr/>
          <p:nvPr/>
        </p:nvSpPr>
        <p:spPr>
          <a:xfrm>
            <a:off x="914400" y="4956048"/>
            <a:ext cx="10332720" cy="914400"/>
          </a:xfrm>
          <a:prstGeom prst="rect">
            <a:avLst/>
          </a:prstGeom>
          <a:noFill/>
          <a:ln/>
        </p:spPr>
        <p:txBody>
          <a:bodyPr wrap="square" lIns="0" tIns="0" rIns="0" bIns="0" rtlCol="0" anchor="t"/>
          <a:lstStyle/>
          <a:p>
            <a:pPr indent="0" marL="0">
              <a:buNone/>
            </a:pPr>
            <a:r>
              <a:rPr lang="en-US" sz="1400" dirty="0">
                <a:solidFill>
                  <a:srgbClr val="C6CBD8"/>
                </a:solidFill>
                <a:latin typeface="Calibri" pitchFamily="34" charset="0"/>
                <a:ea typeface="Calibri" pitchFamily="34" charset="-122"/>
                <a:cs typeface="Calibri" pitchFamily="34" charset="-120"/>
              </a:rPr>
              <a:t>The second result is the averaging operation performed at every expectimax chance node. The theorem is what justifies treating that averaging as correct rather than merely convenient. Because the outcome of a nondeterministic action is a lottery, an agent can act consistently with its own preferences only by maximising expected utility.</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UNIQUENESS, OR THE LACK OF IT</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Utility is defined only up to a positive affine transformation</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49</a:t>
            </a:r>
            <a:endParaRPr lang="en-US" sz="900" dirty="0"/>
          </a:p>
        </p:txBody>
      </p:sp>
      <p:sp>
        <p:nvSpPr>
          <p:cNvPr id="7" name="Shape 4"/>
          <p:cNvSpPr/>
          <p:nvPr/>
        </p:nvSpPr>
        <p:spPr>
          <a:xfrm>
            <a:off x="566928" y="1463040"/>
            <a:ext cx="11064240" cy="1051560"/>
          </a:xfrm>
          <a:prstGeom prst="roundRect">
            <a:avLst>
              <a:gd name="adj" fmla="val 6087"/>
            </a:avLst>
          </a:prstGeom>
          <a:solidFill>
            <a:srgbClr val="1C1F2A"/>
          </a:solidFill>
          <a:ln w="12700">
            <a:solidFill>
              <a:srgbClr val="1C1F2A"/>
            </a:solidFill>
            <a:prstDash val="solid"/>
          </a:ln>
        </p:spPr>
      </p:sp>
      <p:sp>
        <p:nvSpPr>
          <p:cNvPr id="8" name="Text 5"/>
          <p:cNvSpPr/>
          <p:nvPr/>
        </p:nvSpPr>
        <p:spPr>
          <a:xfrm>
            <a:off x="914400" y="1463040"/>
            <a:ext cx="4572000" cy="1051560"/>
          </a:xfrm>
          <a:prstGeom prst="rect">
            <a:avLst/>
          </a:prstGeom>
          <a:noFill/>
          <a:ln/>
        </p:spPr>
        <p:txBody>
          <a:bodyPr wrap="square" lIns="0" tIns="0" rIns="0" bIns="0" rtlCol="0" anchor="ctr"/>
          <a:lstStyle/>
          <a:p>
            <a:pPr indent="0" marL="0">
              <a:buNone/>
            </a:pPr>
            <a:r>
              <a:rPr lang="en-US" sz="2000" b="1" dirty="0">
                <a:solidFill>
                  <a:srgbClr val="B58500"/>
                </a:solidFill>
                <a:latin typeface="Calibri" pitchFamily="34" charset="0"/>
                <a:ea typeface="Calibri" pitchFamily="34" charset="-122"/>
                <a:cs typeface="Calibri" pitchFamily="34" charset="-120"/>
              </a:rPr>
              <a:t>U′(S)  =  a U(S) + b        with a &gt; 0</a:t>
            </a:r>
            <a:endParaRPr lang="en-US" sz="2000" dirty="0"/>
          </a:p>
        </p:txBody>
      </p:sp>
      <p:sp>
        <p:nvSpPr>
          <p:cNvPr id="9" name="Text 6"/>
          <p:cNvSpPr/>
          <p:nvPr/>
        </p:nvSpPr>
        <p:spPr>
          <a:xfrm>
            <a:off x="5760720" y="1463040"/>
            <a:ext cx="5577840" cy="1051560"/>
          </a:xfrm>
          <a:prstGeom prst="rect">
            <a:avLst/>
          </a:prstGeom>
          <a:noFill/>
          <a:ln/>
        </p:spPr>
        <p:txBody>
          <a:bodyPr wrap="square" lIns="0" tIns="0" rIns="0" bIns="0" rtlCol="0" anchor="ctr"/>
          <a:lstStyle/>
          <a:p>
            <a:pPr indent="0" marL="0">
              <a:buNone/>
            </a:pPr>
            <a:r>
              <a:rPr lang="en-US" sz="1350" dirty="0">
                <a:solidFill>
                  <a:srgbClr val="C6CBD8"/>
                </a:solidFill>
                <a:latin typeface="Calibri" pitchFamily="34" charset="0"/>
                <a:ea typeface="Calibri" pitchFamily="34" charset="-122"/>
                <a:cs typeface="Calibri" pitchFamily="34" charset="-120"/>
              </a:rPr>
              <a:t>The theorems guarantee a utility function exists. They do not make it unique. Any positive affine transformation leaves behaviour unchanged.</a:t>
            </a:r>
            <a:endParaRPr lang="en-US" sz="1350" dirty="0"/>
          </a:p>
        </p:txBody>
      </p:sp>
      <p:sp>
        <p:nvSpPr>
          <p:cNvPr id="10" name="Shape 7"/>
          <p:cNvSpPr/>
          <p:nvPr/>
        </p:nvSpPr>
        <p:spPr>
          <a:xfrm>
            <a:off x="566928" y="2743200"/>
            <a:ext cx="5303520" cy="1426464"/>
          </a:xfrm>
          <a:prstGeom prst="roundRect">
            <a:avLst>
              <a:gd name="adj" fmla="val 4487"/>
            </a:avLst>
          </a:prstGeom>
          <a:solidFill>
            <a:srgbClr val="F1F2F5"/>
          </a:solidFill>
          <a:ln w="12700">
            <a:solidFill>
              <a:srgbClr val="F1F2F5"/>
            </a:solidFill>
            <a:prstDash val="solid"/>
          </a:ln>
        </p:spPr>
      </p:sp>
      <p:sp>
        <p:nvSpPr>
          <p:cNvPr id="11" name="Text 8"/>
          <p:cNvSpPr/>
          <p:nvPr/>
        </p:nvSpPr>
        <p:spPr>
          <a:xfrm>
            <a:off x="822960" y="2871216"/>
            <a:ext cx="4791456" cy="566928"/>
          </a:xfrm>
          <a:prstGeom prst="rect">
            <a:avLst/>
          </a:prstGeom>
          <a:noFill/>
          <a:ln/>
        </p:spPr>
        <p:txBody>
          <a:bodyPr wrap="square" lIns="0" tIns="0" rIns="0" bIns="0" rtlCol="0" anchor="t"/>
          <a:lstStyle/>
          <a:p>
            <a:pPr indent="0" marL="0">
              <a:buNone/>
            </a:pPr>
            <a:r>
              <a:rPr lang="en-US" sz="1400" b="1" dirty="0">
                <a:solidFill>
                  <a:srgbClr val="1D4E63"/>
                </a:solidFill>
                <a:latin typeface="Cambria" pitchFamily="34" charset="0"/>
                <a:ea typeface="Cambria" pitchFamily="34" charset="-122"/>
                <a:cs typeface="Cambria" pitchFamily="34" charset="-120"/>
              </a:rPr>
              <a:t>Deterministic environments need only an ordering</a:t>
            </a:r>
            <a:endParaRPr lang="en-US" sz="1400" dirty="0"/>
          </a:p>
        </p:txBody>
      </p:sp>
      <p:sp>
        <p:nvSpPr>
          <p:cNvPr id="12" name="Text 9"/>
          <p:cNvSpPr/>
          <p:nvPr/>
        </p:nvSpPr>
        <p:spPr>
          <a:xfrm>
            <a:off x="822960" y="3438144"/>
            <a:ext cx="4791456" cy="658368"/>
          </a:xfrm>
          <a:prstGeom prst="rect">
            <a:avLst/>
          </a:prstGeom>
          <a:noFill/>
          <a:ln/>
        </p:spPr>
        <p:txBody>
          <a:bodyPr wrap="square" lIns="0" tIns="0" rIns="0" bIns="0" rtlCol="0" anchor="t"/>
          <a:lstStyle/>
          <a:p>
            <a:pPr indent="0" marL="0">
              <a:buNone/>
            </a:pPr>
            <a:r>
              <a:rPr lang="en-US" sz="1220" dirty="0">
                <a:solidFill>
                  <a:srgbClr val="3A3F4C"/>
                </a:solidFill>
                <a:latin typeface="Calibri" pitchFamily="34" charset="0"/>
                <a:ea typeface="Calibri" pitchFamily="34" charset="-122"/>
                <a:cs typeface="Calibri" pitchFamily="34" charset="-120"/>
              </a:rPr>
              <a:t>With no lotteries in play, a preference ranking on states suffices and the numbers are irrelevant. That is a value function, or an ordinal utility function.</a:t>
            </a:r>
            <a:endParaRPr lang="en-US" sz="1220" dirty="0"/>
          </a:p>
        </p:txBody>
      </p:sp>
      <p:sp>
        <p:nvSpPr>
          <p:cNvPr id="13" name="Shape 10"/>
          <p:cNvSpPr/>
          <p:nvPr/>
        </p:nvSpPr>
        <p:spPr>
          <a:xfrm>
            <a:off x="6144768" y="2743200"/>
            <a:ext cx="5303520" cy="1426464"/>
          </a:xfrm>
          <a:prstGeom prst="roundRect">
            <a:avLst>
              <a:gd name="adj" fmla="val 4487"/>
            </a:avLst>
          </a:prstGeom>
          <a:solidFill>
            <a:srgbClr val="F1F2F5"/>
          </a:solidFill>
          <a:ln w="12700">
            <a:solidFill>
              <a:srgbClr val="F1F2F5"/>
            </a:solidFill>
            <a:prstDash val="solid"/>
          </a:ln>
        </p:spPr>
      </p:sp>
      <p:sp>
        <p:nvSpPr>
          <p:cNvPr id="14" name="Text 11"/>
          <p:cNvSpPr/>
          <p:nvPr/>
        </p:nvSpPr>
        <p:spPr>
          <a:xfrm>
            <a:off x="6400800" y="2871216"/>
            <a:ext cx="4791456" cy="566928"/>
          </a:xfrm>
          <a:prstGeom prst="rect">
            <a:avLst/>
          </a:prstGeom>
          <a:noFill/>
          <a:ln/>
        </p:spPr>
        <p:txBody>
          <a:bodyPr wrap="square" lIns="0" tIns="0" rIns="0" bIns="0" rtlCol="0" anchor="t"/>
          <a:lstStyle/>
          <a:p>
            <a:pPr indent="0" marL="0">
              <a:buNone/>
            </a:pPr>
            <a:r>
              <a:rPr lang="en-US" sz="1400" b="1" dirty="0">
                <a:solidFill>
                  <a:srgbClr val="6B4E8F"/>
                </a:solidFill>
                <a:latin typeface="Cambria" pitchFamily="34" charset="0"/>
                <a:ea typeface="Cambria" pitchFamily="34" charset="-122"/>
                <a:cs typeface="Cambria" pitchFamily="34" charset="-120"/>
              </a:rPr>
              <a:t>Stochastic environments need the numbers</a:t>
            </a:r>
            <a:endParaRPr lang="en-US" sz="1400" dirty="0"/>
          </a:p>
        </p:txBody>
      </p:sp>
      <p:sp>
        <p:nvSpPr>
          <p:cNvPr id="15" name="Text 12"/>
          <p:cNvSpPr/>
          <p:nvPr/>
        </p:nvSpPr>
        <p:spPr>
          <a:xfrm>
            <a:off x="6400800" y="3438144"/>
            <a:ext cx="4791456" cy="658368"/>
          </a:xfrm>
          <a:prstGeom prst="rect">
            <a:avLst/>
          </a:prstGeom>
          <a:noFill/>
          <a:ln/>
        </p:spPr>
        <p:txBody>
          <a:bodyPr wrap="square" lIns="0" tIns="0" rIns="0" bIns="0" rtlCol="0" anchor="t"/>
          <a:lstStyle/>
          <a:p>
            <a:pPr indent="0" marL="0">
              <a:buNone/>
            </a:pPr>
            <a:r>
              <a:rPr lang="en-US" sz="1220" dirty="0">
                <a:solidFill>
                  <a:srgbClr val="3A3F4C"/>
                </a:solidFill>
                <a:latin typeface="Calibri" pitchFamily="34" charset="0"/>
                <a:ea typeface="Calibri" pitchFamily="34" charset="-122"/>
                <a:cs typeface="Calibri" pitchFamily="34" charset="-120"/>
              </a:rPr>
              <a:t>The moment averaging enters, magnitudes matter. This is the same fact that forced backgammon evaluation functions to be a positive linear transformation of the probability of winning.</a:t>
            </a:r>
            <a:endParaRPr lang="en-US" sz="1220" dirty="0"/>
          </a:p>
        </p:txBody>
      </p:sp>
      <p:sp>
        <p:nvSpPr>
          <p:cNvPr id="16" name="Shape 13"/>
          <p:cNvSpPr/>
          <p:nvPr/>
        </p:nvSpPr>
        <p:spPr>
          <a:xfrm>
            <a:off x="566928" y="4370832"/>
            <a:ext cx="5303520" cy="1426464"/>
          </a:xfrm>
          <a:prstGeom prst="roundRect">
            <a:avLst>
              <a:gd name="adj" fmla="val 4487"/>
            </a:avLst>
          </a:prstGeom>
          <a:solidFill>
            <a:srgbClr val="F1F2F5"/>
          </a:solidFill>
          <a:ln w="12700">
            <a:solidFill>
              <a:srgbClr val="F1F2F5"/>
            </a:solidFill>
            <a:prstDash val="solid"/>
          </a:ln>
        </p:spPr>
      </p:sp>
      <p:sp>
        <p:nvSpPr>
          <p:cNvPr id="17" name="Text 14"/>
          <p:cNvSpPr/>
          <p:nvPr/>
        </p:nvSpPr>
        <p:spPr>
          <a:xfrm>
            <a:off x="822960" y="4498848"/>
            <a:ext cx="4791456" cy="566928"/>
          </a:xfrm>
          <a:prstGeom prst="rect">
            <a:avLst/>
          </a:prstGeom>
          <a:noFill/>
          <a:ln/>
        </p:spPr>
        <p:txBody>
          <a:bodyPr wrap="square" lIns="0" tIns="0" rIns="0" bIns="0" rtlCol="0" anchor="t"/>
          <a:lstStyle/>
          <a:p>
            <a:pPr indent="0" marL="0">
              <a:buNone/>
            </a:pPr>
            <a:r>
              <a:rPr lang="en-US" sz="1400" b="1" dirty="0">
                <a:solidFill>
                  <a:srgbClr val="C2410C"/>
                </a:solidFill>
                <a:latin typeface="Cambria" pitchFamily="34" charset="0"/>
                <a:ea typeface="Cambria" pitchFamily="34" charset="-122"/>
                <a:cs typeface="Cambria" pitchFamily="34" charset="-120"/>
              </a:rPr>
              <a:t>Having a utility function is not the same as computing one</a:t>
            </a:r>
            <a:endParaRPr lang="en-US" sz="1400" dirty="0"/>
          </a:p>
        </p:txBody>
      </p:sp>
      <p:sp>
        <p:nvSpPr>
          <p:cNvPr id="18" name="Text 15"/>
          <p:cNvSpPr/>
          <p:nvPr/>
        </p:nvSpPr>
        <p:spPr>
          <a:xfrm>
            <a:off x="822960" y="5065776"/>
            <a:ext cx="4791456" cy="658368"/>
          </a:xfrm>
          <a:prstGeom prst="rect">
            <a:avLst/>
          </a:prstGeom>
          <a:noFill/>
          <a:ln/>
        </p:spPr>
        <p:txBody>
          <a:bodyPr wrap="square" lIns="0" tIns="0" rIns="0" bIns="0" rtlCol="0" anchor="t"/>
          <a:lstStyle/>
          <a:p>
            <a:pPr indent="0" marL="0">
              <a:buNone/>
            </a:pPr>
            <a:r>
              <a:rPr lang="en-US" sz="1220" dirty="0">
                <a:solidFill>
                  <a:srgbClr val="3A3F4C"/>
                </a:solidFill>
                <a:latin typeface="Calibri" pitchFamily="34" charset="0"/>
                <a:ea typeface="Calibri" pitchFamily="34" charset="-122"/>
                <a:cs typeface="Calibri" pitchFamily="34" charset="-120"/>
              </a:rPr>
              <a:t>That a function describes an agent’s preference behaviour does not mean the agent explicitly maximises it in its own deliberations. A table lookup can be perfectly rational.</a:t>
            </a:r>
            <a:endParaRPr lang="en-US" sz="1220" dirty="0"/>
          </a:p>
        </p:txBody>
      </p:sp>
      <p:sp>
        <p:nvSpPr>
          <p:cNvPr id="19" name="Shape 16"/>
          <p:cNvSpPr/>
          <p:nvPr/>
        </p:nvSpPr>
        <p:spPr>
          <a:xfrm>
            <a:off x="6144768" y="4370832"/>
            <a:ext cx="5303520" cy="1426464"/>
          </a:xfrm>
          <a:prstGeom prst="roundRect">
            <a:avLst>
              <a:gd name="adj" fmla="val 4487"/>
            </a:avLst>
          </a:prstGeom>
          <a:solidFill>
            <a:srgbClr val="F1F2F5"/>
          </a:solidFill>
          <a:ln w="12700">
            <a:solidFill>
              <a:srgbClr val="F1F2F5"/>
            </a:solidFill>
            <a:prstDash val="solid"/>
          </a:ln>
        </p:spPr>
      </p:sp>
      <p:sp>
        <p:nvSpPr>
          <p:cNvPr id="20" name="Text 17"/>
          <p:cNvSpPr/>
          <p:nvPr/>
        </p:nvSpPr>
        <p:spPr>
          <a:xfrm>
            <a:off x="6400800" y="4498848"/>
            <a:ext cx="4791456" cy="566928"/>
          </a:xfrm>
          <a:prstGeom prst="rect">
            <a:avLst/>
          </a:prstGeom>
          <a:noFill/>
          <a:ln/>
        </p:spPr>
        <p:txBody>
          <a:bodyPr wrap="square" lIns="0" tIns="0" rIns="0" bIns="0" rtlCol="0" anchor="t"/>
          <a:lstStyle/>
          <a:p>
            <a:pPr indent="0" marL="0">
              <a:buNone/>
            </a:pPr>
            <a:r>
              <a:rPr lang="en-US" sz="1400" b="1" dirty="0">
                <a:solidFill>
                  <a:srgbClr val="B58500"/>
                </a:solidFill>
                <a:latin typeface="Cambria" pitchFamily="34" charset="0"/>
                <a:ea typeface="Cambria" pitchFamily="34" charset="-122"/>
                <a:cs typeface="Cambria" pitchFamily="34" charset="-120"/>
              </a:rPr>
              <a:t>Preferences can be observed</a:t>
            </a:r>
            <a:endParaRPr lang="en-US" sz="1400" dirty="0"/>
          </a:p>
        </p:txBody>
      </p:sp>
      <p:sp>
        <p:nvSpPr>
          <p:cNvPr id="21" name="Text 18"/>
          <p:cNvSpPr/>
          <p:nvPr/>
        </p:nvSpPr>
        <p:spPr>
          <a:xfrm>
            <a:off x="6400800" y="5065776"/>
            <a:ext cx="4791456" cy="658368"/>
          </a:xfrm>
          <a:prstGeom prst="rect">
            <a:avLst/>
          </a:prstGeom>
          <a:noFill/>
          <a:ln/>
        </p:spPr>
        <p:txBody>
          <a:bodyPr wrap="square" lIns="0" tIns="0" rIns="0" bIns="0" rtlCol="0" anchor="t"/>
          <a:lstStyle/>
          <a:p>
            <a:pPr indent="0" marL="0">
              <a:buNone/>
            </a:pPr>
            <a:r>
              <a:rPr lang="en-US" sz="1220" dirty="0">
                <a:solidFill>
                  <a:srgbClr val="3A3F4C"/>
                </a:solidFill>
                <a:latin typeface="Calibri" pitchFamily="34" charset="0"/>
                <a:ea typeface="Calibri" pitchFamily="34" charset="-122"/>
                <a:cs typeface="Calibri" pitchFamily="34" charset="-120"/>
              </a:rPr>
              <a:t>By watching a rational agent, an observer can learn the utility function that represents what the agent is really trying to achieve, even if the agent could not state it.</a:t>
            </a:r>
            <a:endParaRPr lang="en-US" sz="122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16.3.1  UTILITY ASSESSMENT AND UTILITY SCALES</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Pinning down the numbers with a standard gamble</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50</a:t>
            </a:r>
            <a:endParaRPr lang="en-US" sz="900" dirty="0"/>
          </a:p>
        </p:txBody>
      </p:sp>
      <p:sp>
        <p:nvSpPr>
          <p:cNvPr id="7" name="Shape 4"/>
          <p:cNvSpPr/>
          <p:nvPr/>
        </p:nvSpPr>
        <p:spPr>
          <a:xfrm>
            <a:off x="566928" y="1463040"/>
            <a:ext cx="5943600" cy="2377440"/>
          </a:xfrm>
          <a:prstGeom prst="roundRect">
            <a:avLst>
              <a:gd name="adj" fmla="val 2692"/>
            </a:avLst>
          </a:prstGeom>
          <a:solidFill>
            <a:srgbClr val="FDF2EC"/>
          </a:solidFill>
          <a:ln w="12700">
            <a:solidFill>
              <a:srgbClr val="FDF2EC"/>
            </a:solidFill>
            <a:prstDash val="solid"/>
          </a:ln>
        </p:spPr>
      </p:sp>
      <p:sp>
        <p:nvSpPr>
          <p:cNvPr id="8" name="Text 5"/>
          <p:cNvSpPr/>
          <p:nvPr/>
        </p:nvSpPr>
        <p:spPr>
          <a:xfrm>
            <a:off x="841248" y="1627632"/>
            <a:ext cx="5303520" cy="329184"/>
          </a:xfrm>
          <a:prstGeom prst="rect">
            <a:avLst/>
          </a:prstGeom>
          <a:noFill/>
          <a:ln/>
        </p:spPr>
        <p:txBody>
          <a:bodyPr wrap="square" lIns="0" tIns="0" rIns="0" bIns="0" rtlCol="0" anchor="ctr"/>
          <a:lstStyle/>
          <a:p>
            <a:pPr indent="0" marL="0">
              <a:buNone/>
            </a:pPr>
            <a:r>
              <a:rPr lang="en-US" sz="1600" b="1" dirty="0">
                <a:solidFill>
                  <a:srgbClr val="C2410C"/>
                </a:solidFill>
                <a:latin typeface="Cambria" pitchFamily="34" charset="0"/>
                <a:ea typeface="Cambria" pitchFamily="34" charset="-122"/>
                <a:cs typeface="Cambria" pitchFamily="34" charset="-120"/>
              </a:rPr>
              <a:t>The standard gamble</a:t>
            </a:r>
            <a:endParaRPr lang="en-US" sz="1600" dirty="0"/>
          </a:p>
        </p:txBody>
      </p:sp>
      <p:sp>
        <p:nvSpPr>
          <p:cNvPr id="9" name="Text 6"/>
          <p:cNvSpPr/>
          <p:nvPr/>
        </p:nvSpPr>
        <p:spPr>
          <a:xfrm>
            <a:off x="841248" y="1975104"/>
            <a:ext cx="5413248" cy="868680"/>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Fix a scale by fixing two outcomes: a best possible prize at uᵀ = 1 and a worst possible catastrophe at u⊥ = 0, just as we fix a temperature scale by the freezing and boiling points of water.</a:t>
            </a:r>
            <a:endParaRPr lang="en-US" sz="1250" dirty="0"/>
          </a:p>
        </p:txBody>
      </p:sp>
      <p:sp>
        <p:nvSpPr>
          <p:cNvPr id="10" name="Text 7"/>
          <p:cNvSpPr/>
          <p:nvPr/>
        </p:nvSpPr>
        <p:spPr>
          <a:xfrm>
            <a:off x="841248" y="2852928"/>
            <a:ext cx="5413248" cy="868680"/>
          </a:xfrm>
          <a:prstGeom prst="rect">
            <a:avLst/>
          </a:prstGeom>
          <a:noFill/>
          <a:ln/>
        </p:spPr>
        <p:txBody>
          <a:bodyPr wrap="square" lIns="0" tIns="0" rIns="0" bIns="0" rtlCol="0" anchor="t"/>
          <a:lstStyle/>
          <a:p>
            <a:pPr indent="0" marL="0">
              <a:buNone/>
            </a:pPr>
            <a:r>
              <a:rPr lang="en-US" sz="1250" b="1" dirty="0">
                <a:solidFill>
                  <a:srgbClr val="1C1F2A"/>
                </a:solidFill>
                <a:latin typeface="Calibri" pitchFamily="34" charset="0"/>
                <a:ea typeface="Calibri" pitchFamily="34" charset="-122"/>
                <a:cs typeface="Calibri" pitchFamily="34" charset="-120"/>
              </a:rPr>
              <a:t>Offer a choice between S for certain and  [p, uᵀ;  1−p, u⊥].  Adjust p until the agent is indifferent. Under normalised utilities, U(S) = p.</a:t>
            </a:r>
            <a:endParaRPr lang="en-US" sz="1250" dirty="0"/>
          </a:p>
        </p:txBody>
      </p:sp>
      <p:sp>
        <p:nvSpPr>
          <p:cNvPr id="11" name="Shape 8"/>
          <p:cNvSpPr/>
          <p:nvPr/>
        </p:nvSpPr>
        <p:spPr>
          <a:xfrm>
            <a:off x="6693408" y="1463040"/>
            <a:ext cx="4937760" cy="2377440"/>
          </a:xfrm>
          <a:prstGeom prst="roundRect">
            <a:avLst>
              <a:gd name="adj" fmla="val 2692"/>
            </a:avLst>
          </a:prstGeom>
          <a:solidFill>
            <a:srgbClr val="F1F2F5"/>
          </a:solidFill>
          <a:ln w="12700">
            <a:solidFill>
              <a:srgbClr val="F1F2F5"/>
            </a:solidFill>
            <a:prstDash val="solid"/>
          </a:ln>
        </p:spPr>
      </p:sp>
      <p:sp>
        <p:nvSpPr>
          <p:cNvPr id="12" name="Text 9"/>
          <p:cNvSpPr/>
          <p:nvPr/>
        </p:nvSpPr>
        <p:spPr>
          <a:xfrm>
            <a:off x="6949440" y="1627632"/>
            <a:ext cx="4389120" cy="329184"/>
          </a:xfrm>
          <a:prstGeom prst="rect">
            <a:avLst/>
          </a:prstGeom>
          <a:noFill/>
          <a:ln/>
        </p:spPr>
        <p:txBody>
          <a:bodyPr wrap="square" lIns="0" tIns="0" rIns="0" bIns="0" rtlCol="0" anchor="ctr"/>
          <a:lstStyle/>
          <a:p>
            <a:pPr indent="0" marL="0">
              <a:buNone/>
            </a:pPr>
            <a:r>
              <a:rPr lang="en-US" sz="1600" b="1" dirty="0">
                <a:solidFill>
                  <a:srgbClr val="1D4E63"/>
                </a:solidFill>
                <a:latin typeface="Cambria" pitchFamily="34" charset="0"/>
                <a:ea typeface="Cambria" pitchFamily="34" charset="-122"/>
                <a:cs typeface="Cambria" pitchFamily="34" charset="-120"/>
              </a:rPr>
              <a:t>Worked example</a:t>
            </a:r>
            <a:endParaRPr lang="en-US" sz="1600" dirty="0"/>
          </a:p>
        </p:txBody>
      </p:sp>
      <p:sp>
        <p:nvSpPr>
          <p:cNvPr id="13" name="Text 10"/>
          <p:cNvSpPr/>
          <p:nvPr/>
        </p:nvSpPr>
        <p:spPr>
          <a:xfrm>
            <a:off x="6949440" y="1975104"/>
            <a:ext cx="4407408" cy="1737360"/>
          </a:xfrm>
          <a:prstGeom prst="rect">
            <a:avLst/>
          </a:prstGeom>
          <a:noFill/>
          <a:ln/>
        </p:spPr>
        <p:txBody>
          <a:bodyPr wrap="square" lIns="0" tIns="0" rIns="0" bIns="0" rtlCol="0" anchor="t"/>
          <a:lstStyle/>
          <a:p>
            <a:pPr indent="0" marL="0">
              <a:buNone/>
            </a:pPr>
            <a:r>
              <a:rPr lang="en-US" sz="1220" dirty="0">
                <a:solidFill>
                  <a:srgbClr val="3A3F4C"/>
                </a:solidFill>
                <a:latin typeface="Calibri" pitchFamily="34" charset="0"/>
                <a:ea typeface="Calibri" pitchFamily="34" charset="-122"/>
                <a:cs typeface="Calibri" pitchFamily="34" charset="-120"/>
              </a:rPr>
              <a:t>An England fan assigns utility 1 to winning the World Cup and 0 to failing to qualify. How much is reaching the semi-final and then losing worth?</a:t>
            </a:r>
            <a:endParaRPr lang="en-US" sz="1220" dirty="0"/>
          </a:p>
          <a:p>
            <a:pPr indent="0" marL="0">
              <a:buNone/>
            </a:pPr>
            <a:endParaRPr lang="en-US" sz="1220" dirty="0"/>
          </a:p>
          <a:p>
            <a:pPr indent="0" marL="0">
              <a:buNone/>
            </a:pPr>
            <a:r>
              <a:rPr lang="en-US" sz="1220" dirty="0">
                <a:solidFill>
                  <a:srgbClr val="3A3F4C"/>
                </a:solidFill>
                <a:latin typeface="Calibri" pitchFamily="34" charset="0"/>
                <a:ea typeface="Calibri" pitchFamily="34" charset="-122"/>
                <a:cs typeface="Calibri" pitchFamily="34" charset="-120"/>
              </a:rPr>
              <a:t>Compare that outcome against a lottery with probability p of the trophy and 1 − p of ignominious failure. If indifference occurs at p = 0.3, then 0.3 is the utility of the semi-final loss.</a:t>
            </a:r>
            <a:endParaRPr lang="en-US" sz="1220" dirty="0"/>
          </a:p>
        </p:txBody>
      </p:sp>
      <p:sp>
        <p:nvSpPr>
          <p:cNvPr id="14" name="Shape 11"/>
          <p:cNvSpPr/>
          <p:nvPr/>
        </p:nvSpPr>
        <p:spPr>
          <a:xfrm>
            <a:off x="566928" y="4041648"/>
            <a:ext cx="3493008" cy="1874520"/>
          </a:xfrm>
          <a:prstGeom prst="roundRect">
            <a:avLst>
              <a:gd name="adj" fmla="val 3415"/>
            </a:avLst>
          </a:prstGeom>
          <a:solidFill>
            <a:srgbClr val="F1F2F5"/>
          </a:solidFill>
          <a:ln w="12700">
            <a:solidFill>
              <a:srgbClr val="F1F2F5"/>
            </a:solidFill>
            <a:prstDash val="solid"/>
          </a:ln>
        </p:spPr>
      </p:sp>
      <p:sp>
        <p:nvSpPr>
          <p:cNvPr id="15" name="Text 12"/>
          <p:cNvSpPr/>
          <p:nvPr/>
        </p:nvSpPr>
        <p:spPr>
          <a:xfrm>
            <a:off x="822960" y="4187952"/>
            <a:ext cx="3017520" cy="310896"/>
          </a:xfrm>
          <a:prstGeom prst="rect">
            <a:avLst/>
          </a:prstGeom>
          <a:noFill/>
          <a:ln/>
        </p:spPr>
        <p:txBody>
          <a:bodyPr wrap="square" lIns="0" tIns="0" rIns="0" bIns="0" rtlCol="0" anchor="ctr"/>
          <a:lstStyle/>
          <a:p>
            <a:pPr indent="0" marL="0">
              <a:buNone/>
            </a:pPr>
            <a:r>
              <a:rPr lang="en-US" sz="1400" b="1" dirty="0">
                <a:solidFill>
                  <a:srgbClr val="6B4E8F"/>
                </a:solidFill>
                <a:latin typeface="Cambria" pitchFamily="34" charset="0"/>
                <a:ea typeface="Cambria" pitchFamily="34" charset="-122"/>
                <a:cs typeface="Cambria" pitchFamily="34" charset="-120"/>
              </a:rPr>
              <a:t>Micromort</a:t>
            </a:r>
            <a:endParaRPr lang="en-US" sz="1400" dirty="0"/>
          </a:p>
        </p:txBody>
      </p:sp>
      <p:sp>
        <p:nvSpPr>
          <p:cNvPr id="16" name="Text 13"/>
          <p:cNvSpPr/>
          <p:nvPr/>
        </p:nvSpPr>
        <p:spPr>
          <a:xfrm>
            <a:off x="822960" y="4517136"/>
            <a:ext cx="3035808" cy="731520"/>
          </a:xfrm>
          <a:prstGeom prst="rect">
            <a:avLst/>
          </a:prstGeom>
          <a:noFill/>
          <a:ln/>
        </p:spPr>
        <p:txBody>
          <a:bodyPr wrap="square" lIns="0" tIns="0" rIns="0" bIns="0" rtlCol="0" anchor="t"/>
          <a:lstStyle/>
          <a:p>
            <a:pPr indent="0" marL="0">
              <a:buNone/>
            </a:pPr>
            <a:r>
              <a:rPr lang="en-US" sz="1180" dirty="0">
                <a:solidFill>
                  <a:srgbClr val="3A3F4C"/>
                </a:solidFill>
                <a:latin typeface="Calibri" pitchFamily="34" charset="0"/>
                <a:ea typeface="Calibri" pitchFamily="34" charset="-122"/>
                <a:cs typeface="Calibri" pitchFamily="34" charset="-120"/>
              </a:rPr>
              <a:t>A one-in-a-million chance of death. In the UK, driving 230 miles costs about one micromort.</a:t>
            </a:r>
            <a:endParaRPr lang="en-US" sz="1180" dirty="0"/>
          </a:p>
        </p:txBody>
      </p:sp>
      <p:sp>
        <p:nvSpPr>
          <p:cNvPr id="17" name="Text 14"/>
          <p:cNvSpPr/>
          <p:nvPr/>
        </p:nvSpPr>
        <p:spPr>
          <a:xfrm>
            <a:off x="822960" y="5230368"/>
            <a:ext cx="3035808" cy="621792"/>
          </a:xfrm>
          <a:prstGeom prst="rect">
            <a:avLst/>
          </a:prstGeom>
          <a:noFill/>
          <a:ln/>
        </p:spPr>
        <p:txBody>
          <a:bodyPr wrap="square" lIns="0" tIns="0" rIns="0" bIns="0" rtlCol="0" anchor="t"/>
          <a:lstStyle/>
          <a:p>
            <a:pPr indent="0" marL="0">
              <a:buNone/>
            </a:pPr>
            <a:r>
              <a:rPr lang="en-US" sz="1150" i="1" dirty="0">
                <a:solidFill>
                  <a:srgbClr val="6B4E8F"/>
                </a:solidFill>
                <a:latin typeface="Calibri" pitchFamily="34" charset="0"/>
                <a:ea typeface="Calibri" pitchFamily="34" charset="-122"/>
                <a:cs typeface="Calibri" pitchFamily="34" charset="-120"/>
              </a:rPr>
              <a:t>People pay roughly $12,000 more for a car halving a 400-micromort risk, implying about $60 per micromort.</a:t>
            </a:r>
            <a:endParaRPr lang="en-US" sz="1150" dirty="0"/>
          </a:p>
        </p:txBody>
      </p:sp>
      <p:sp>
        <p:nvSpPr>
          <p:cNvPr id="18" name="Shape 15"/>
          <p:cNvSpPr/>
          <p:nvPr/>
        </p:nvSpPr>
        <p:spPr>
          <a:xfrm>
            <a:off x="4297680" y="4041648"/>
            <a:ext cx="3493008" cy="1874520"/>
          </a:xfrm>
          <a:prstGeom prst="roundRect">
            <a:avLst>
              <a:gd name="adj" fmla="val 3415"/>
            </a:avLst>
          </a:prstGeom>
          <a:solidFill>
            <a:srgbClr val="F1F2F5"/>
          </a:solidFill>
          <a:ln w="12700">
            <a:solidFill>
              <a:srgbClr val="F1F2F5"/>
            </a:solidFill>
            <a:prstDash val="solid"/>
          </a:ln>
        </p:spPr>
      </p:sp>
      <p:sp>
        <p:nvSpPr>
          <p:cNvPr id="19" name="Text 16"/>
          <p:cNvSpPr/>
          <p:nvPr/>
        </p:nvSpPr>
        <p:spPr>
          <a:xfrm>
            <a:off x="4553712" y="4187952"/>
            <a:ext cx="3017520" cy="310896"/>
          </a:xfrm>
          <a:prstGeom prst="rect">
            <a:avLst/>
          </a:prstGeom>
          <a:noFill/>
          <a:ln/>
        </p:spPr>
        <p:txBody>
          <a:bodyPr wrap="square" lIns="0" tIns="0" rIns="0" bIns="0" rtlCol="0" anchor="ctr"/>
          <a:lstStyle/>
          <a:p>
            <a:pPr indent="0" marL="0">
              <a:buNone/>
            </a:pPr>
            <a:r>
              <a:rPr lang="en-US" sz="1400" b="1" dirty="0">
                <a:solidFill>
                  <a:srgbClr val="1D4E63"/>
                </a:solidFill>
                <a:latin typeface="Cambria" pitchFamily="34" charset="0"/>
                <a:ea typeface="Cambria" pitchFamily="34" charset="-122"/>
                <a:cs typeface="Cambria" pitchFamily="34" charset="-120"/>
              </a:rPr>
              <a:t>QALY</a:t>
            </a:r>
            <a:endParaRPr lang="en-US" sz="1400" dirty="0"/>
          </a:p>
        </p:txBody>
      </p:sp>
      <p:sp>
        <p:nvSpPr>
          <p:cNvPr id="20" name="Text 17"/>
          <p:cNvSpPr/>
          <p:nvPr/>
        </p:nvSpPr>
        <p:spPr>
          <a:xfrm>
            <a:off x="4553712" y="4517136"/>
            <a:ext cx="3035808" cy="731520"/>
          </a:xfrm>
          <a:prstGeom prst="rect">
            <a:avLst/>
          </a:prstGeom>
          <a:noFill/>
          <a:ln/>
        </p:spPr>
        <p:txBody>
          <a:bodyPr wrap="square" lIns="0" tIns="0" rIns="0" bIns="0" rtlCol="0" anchor="t"/>
          <a:lstStyle/>
          <a:p>
            <a:pPr indent="0" marL="0">
              <a:buNone/>
            </a:pPr>
            <a:r>
              <a:rPr lang="en-US" sz="1180" dirty="0">
                <a:solidFill>
                  <a:srgbClr val="3A3F4C"/>
                </a:solidFill>
                <a:latin typeface="Calibri" pitchFamily="34" charset="0"/>
                <a:ea typeface="Calibri" pitchFamily="34" charset="-122"/>
                <a:cs typeface="Calibri" pitchFamily="34" charset="-120"/>
              </a:rPr>
              <a:t>A quality-adjusted life year. Patients trade life expectancy against disability.</a:t>
            </a:r>
            <a:endParaRPr lang="en-US" sz="1180" dirty="0"/>
          </a:p>
        </p:txBody>
      </p:sp>
      <p:sp>
        <p:nvSpPr>
          <p:cNvPr id="21" name="Text 18"/>
          <p:cNvSpPr/>
          <p:nvPr/>
        </p:nvSpPr>
        <p:spPr>
          <a:xfrm>
            <a:off x="4553712" y="5230368"/>
            <a:ext cx="3035808" cy="621792"/>
          </a:xfrm>
          <a:prstGeom prst="rect">
            <a:avLst/>
          </a:prstGeom>
          <a:noFill/>
          <a:ln/>
        </p:spPr>
        <p:txBody>
          <a:bodyPr wrap="square" lIns="0" tIns="0" rIns="0" bIns="0" rtlCol="0" anchor="t"/>
          <a:lstStyle/>
          <a:p>
            <a:pPr indent="0" marL="0">
              <a:buNone/>
            </a:pPr>
            <a:r>
              <a:rPr lang="en-US" sz="1150" i="1" dirty="0">
                <a:solidFill>
                  <a:srgbClr val="1D4E63"/>
                </a:solidFill>
                <a:latin typeface="Calibri" pitchFamily="34" charset="0"/>
                <a:ea typeface="Calibri" pitchFamily="34" charset="-122"/>
                <a:cs typeface="Calibri" pitchFamily="34" charset="-120"/>
              </a:rPr>
              <a:t>Kidney patients are on average indifferent between two years on dialysis and one year at full health.</a:t>
            </a:r>
            <a:endParaRPr lang="en-US" sz="1150" dirty="0"/>
          </a:p>
        </p:txBody>
      </p:sp>
      <p:sp>
        <p:nvSpPr>
          <p:cNvPr id="22" name="Shape 19"/>
          <p:cNvSpPr/>
          <p:nvPr/>
        </p:nvSpPr>
        <p:spPr>
          <a:xfrm>
            <a:off x="8028432" y="4041648"/>
            <a:ext cx="3493008" cy="1874520"/>
          </a:xfrm>
          <a:prstGeom prst="roundRect">
            <a:avLst>
              <a:gd name="adj" fmla="val 3415"/>
            </a:avLst>
          </a:prstGeom>
          <a:solidFill>
            <a:srgbClr val="F1F2F5"/>
          </a:solidFill>
          <a:ln w="12700">
            <a:solidFill>
              <a:srgbClr val="F1F2F5"/>
            </a:solidFill>
            <a:prstDash val="solid"/>
          </a:ln>
        </p:spPr>
      </p:sp>
      <p:sp>
        <p:nvSpPr>
          <p:cNvPr id="23" name="Text 20"/>
          <p:cNvSpPr/>
          <p:nvPr/>
        </p:nvSpPr>
        <p:spPr>
          <a:xfrm>
            <a:off x="8284464" y="4187952"/>
            <a:ext cx="3017520" cy="310896"/>
          </a:xfrm>
          <a:prstGeom prst="rect">
            <a:avLst/>
          </a:prstGeom>
          <a:noFill/>
          <a:ln/>
        </p:spPr>
        <p:txBody>
          <a:bodyPr wrap="square" lIns="0" tIns="0" rIns="0" bIns="0" rtlCol="0" anchor="ctr"/>
          <a:lstStyle/>
          <a:p>
            <a:pPr indent="0" marL="0">
              <a:buNone/>
            </a:pPr>
            <a:r>
              <a:rPr lang="en-US" sz="1400" b="1" dirty="0">
                <a:solidFill>
                  <a:srgbClr val="C2410C"/>
                </a:solidFill>
                <a:latin typeface="Cambria" pitchFamily="34" charset="0"/>
                <a:ea typeface="Cambria" pitchFamily="34" charset="-122"/>
                <a:cs typeface="Cambria" pitchFamily="34" charset="-120"/>
              </a:rPr>
              <a:t>Value of a statistical life</a:t>
            </a:r>
            <a:endParaRPr lang="en-US" sz="1400" dirty="0"/>
          </a:p>
        </p:txBody>
      </p:sp>
      <p:sp>
        <p:nvSpPr>
          <p:cNvPr id="24" name="Text 21"/>
          <p:cNvSpPr/>
          <p:nvPr/>
        </p:nvSpPr>
        <p:spPr>
          <a:xfrm>
            <a:off x="8284464" y="4517136"/>
            <a:ext cx="3035808" cy="731520"/>
          </a:xfrm>
          <a:prstGeom prst="rect">
            <a:avLst/>
          </a:prstGeom>
          <a:noFill/>
          <a:ln/>
        </p:spPr>
        <p:txBody>
          <a:bodyPr wrap="square" lIns="0" tIns="0" rIns="0" bIns="0" rtlCol="0" anchor="t"/>
          <a:lstStyle/>
          <a:p>
            <a:pPr indent="0" marL="0">
              <a:buNone/>
            </a:pPr>
            <a:r>
              <a:rPr lang="en-US" sz="1180" dirty="0">
                <a:solidFill>
                  <a:srgbClr val="3A3F4C"/>
                </a:solidFill>
                <a:latin typeface="Calibri" pitchFamily="34" charset="0"/>
                <a:ea typeface="Calibri" pitchFamily="34" charset="-122"/>
                <a:cs typeface="Calibri" pitchFamily="34" charset="-120"/>
              </a:rPr>
              <a:t>Used by the EPA, FDA and Department of Transportation to price regulations.</a:t>
            </a:r>
            <a:endParaRPr lang="en-US" sz="1180" dirty="0"/>
          </a:p>
        </p:txBody>
      </p:sp>
      <p:sp>
        <p:nvSpPr>
          <p:cNvPr id="25" name="Text 22"/>
          <p:cNvSpPr/>
          <p:nvPr/>
        </p:nvSpPr>
        <p:spPr>
          <a:xfrm>
            <a:off x="8284464" y="5230368"/>
            <a:ext cx="3035808" cy="621792"/>
          </a:xfrm>
          <a:prstGeom prst="rect">
            <a:avLst/>
          </a:prstGeom>
          <a:noFill/>
          <a:ln/>
        </p:spPr>
        <p:txBody>
          <a:bodyPr wrap="square" lIns="0" tIns="0" rIns="0" bIns="0" rtlCol="0" anchor="t"/>
          <a:lstStyle/>
          <a:p>
            <a:pPr indent="0" marL="0">
              <a:buNone/>
            </a:pPr>
            <a:r>
              <a:rPr lang="en-US" sz="1150" i="1" dirty="0">
                <a:solidFill>
                  <a:srgbClr val="C2410C"/>
                </a:solidFill>
                <a:latin typeface="Calibri" pitchFamily="34" charset="0"/>
                <a:ea typeface="Calibri" pitchFamily="34" charset="-122"/>
                <a:cs typeface="Calibri" pitchFamily="34" charset="-120"/>
              </a:rPr>
              <a:t>Typical 2019 values are roughly $10 million. Refusing to price life at all can end up valuing it lower.</a:t>
            </a:r>
            <a:endParaRPr lang="en-US" sz="11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16.3.2  THE UTILITY OF MONEY</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Money is monotonically preferred, but it is not utility</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51</a:t>
            </a:r>
            <a:endParaRPr lang="en-US" sz="900" dirty="0"/>
          </a:p>
        </p:txBody>
      </p:sp>
      <p:sp>
        <p:nvSpPr>
          <p:cNvPr id="7" name="Shape 4"/>
          <p:cNvSpPr/>
          <p:nvPr/>
        </p:nvSpPr>
        <p:spPr>
          <a:xfrm>
            <a:off x="566928" y="1444752"/>
            <a:ext cx="11064240" cy="1463040"/>
          </a:xfrm>
          <a:prstGeom prst="roundRect">
            <a:avLst>
              <a:gd name="adj" fmla="val 4375"/>
            </a:avLst>
          </a:prstGeom>
          <a:solidFill>
            <a:srgbClr val="1C1F2A"/>
          </a:solidFill>
          <a:ln w="12700">
            <a:solidFill>
              <a:srgbClr val="1C1F2A"/>
            </a:solidFill>
            <a:prstDash val="solid"/>
          </a:ln>
        </p:spPr>
      </p:sp>
      <p:sp>
        <p:nvSpPr>
          <p:cNvPr id="8" name="Text 5"/>
          <p:cNvSpPr/>
          <p:nvPr/>
        </p:nvSpPr>
        <p:spPr>
          <a:xfrm>
            <a:off x="914400" y="1591056"/>
            <a:ext cx="3657600" cy="310896"/>
          </a:xfrm>
          <a:prstGeom prst="rect">
            <a:avLst/>
          </a:prstGeom>
          <a:noFill/>
          <a:ln/>
        </p:spPr>
        <p:txBody>
          <a:bodyPr wrap="square" lIns="0" tIns="0" rIns="0" bIns="0" rtlCol="0" anchor="ctr"/>
          <a:lstStyle/>
          <a:p>
            <a:pPr indent="0" marL="0">
              <a:buNone/>
            </a:pPr>
            <a:r>
              <a:rPr lang="en-US" sz="1500" b="1" dirty="0">
                <a:solidFill>
                  <a:srgbClr val="B58500"/>
                </a:solidFill>
                <a:latin typeface="Cambria" pitchFamily="34" charset="0"/>
                <a:ea typeface="Cambria" pitchFamily="34" charset="-122"/>
                <a:cs typeface="Cambria" pitchFamily="34" charset="-120"/>
              </a:rPr>
              <a:t>The game show</a:t>
            </a:r>
            <a:endParaRPr lang="en-US" sz="1500" dirty="0"/>
          </a:p>
        </p:txBody>
      </p:sp>
      <p:sp>
        <p:nvSpPr>
          <p:cNvPr id="9" name="Text 6"/>
          <p:cNvSpPr/>
          <p:nvPr/>
        </p:nvSpPr>
        <p:spPr>
          <a:xfrm>
            <a:off x="914400" y="1938528"/>
            <a:ext cx="10332720" cy="868680"/>
          </a:xfrm>
          <a:prstGeom prst="rect">
            <a:avLst/>
          </a:prstGeom>
          <a:noFill/>
          <a:ln/>
        </p:spPr>
        <p:txBody>
          <a:bodyPr wrap="square" lIns="0" tIns="0" rIns="0" bIns="0" rtlCol="0" anchor="t"/>
          <a:lstStyle/>
          <a:p>
            <a:pPr indent="0" marL="0">
              <a:buNone/>
            </a:pPr>
            <a:r>
              <a:rPr lang="en-US" sz="1350" dirty="0">
                <a:solidFill>
                  <a:srgbClr val="C6CBD8"/>
                </a:solidFill>
                <a:latin typeface="Calibri" pitchFamily="34" charset="0"/>
                <a:ea typeface="Calibri" pitchFamily="34" charset="-122"/>
                <a:cs typeface="Calibri" pitchFamily="34" charset="-120"/>
              </a:rPr>
              <a:t>Take the $1,000,000 prize, or flip a fair coin: heads you get nothing, tails you get $2,500,000. The expected monetary value of the gamble is ½($0) + ½($2,500,000) = $1,250,000, which beats the certain million. Most people decline. Are they being irrational?</a:t>
            </a:r>
            <a:endParaRPr lang="en-US" sz="1350" dirty="0"/>
          </a:p>
        </p:txBody>
      </p:sp>
      <p:sp>
        <p:nvSpPr>
          <p:cNvPr id="10" name="Shape 7"/>
          <p:cNvSpPr/>
          <p:nvPr/>
        </p:nvSpPr>
        <p:spPr>
          <a:xfrm>
            <a:off x="566928" y="3054096"/>
            <a:ext cx="5669280" cy="1600200"/>
          </a:xfrm>
          <a:prstGeom prst="roundRect">
            <a:avLst>
              <a:gd name="adj" fmla="val 4000"/>
            </a:avLst>
          </a:prstGeom>
          <a:solidFill>
            <a:srgbClr val="FDF2EC"/>
          </a:solidFill>
          <a:ln w="12700">
            <a:solidFill>
              <a:srgbClr val="FDF2EC"/>
            </a:solidFill>
            <a:prstDash val="solid"/>
          </a:ln>
        </p:spPr>
      </p:sp>
      <p:sp>
        <p:nvSpPr>
          <p:cNvPr id="11" name="Text 8"/>
          <p:cNvSpPr/>
          <p:nvPr/>
        </p:nvSpPr>
        <p:spPr>
          <a:xfrm>
            <a:off x="841248" y="3200400"/>
            <a:ext cx="5212080" cy="310896"/>
          </a:xfrm>
          <a:prstGeom prst="rect">
            <a:avLst/>
          </a:prstGeom>
          <a:noFill/>
          <a:ln/>
        </p:spPr>
        <p:txBody>
          <a:bodyPr wrap="square" lIns="0" tIns="0" rIns="0" bIns="0" rtlCol="0" anchor="ctr"/>
          <a:lstStyle/>
          <a:p>
            <a:pPr indent="0" marL="0">
              <a:buNone/>
            </a:pPr>
            <a:r>
              <a:rPr lang="en-US" sz="1450" b="1" dirty="0">
                <a:solidFill>
                  <a:srgbClr val="C2410C"/>
                </a:solidFill>
                <a:latin typeface="Cambria" pitchFamily="34" charset="0"/>
                <a:ea typeface="Cambria" pitchFamily="34" charset="-122"/>
                <a:cs typeface="Cambria" pitchFamily="34" charset="-120"/>
              </a:rPr>
              <a:t>No. Compute in utilities, not dollars.</a:t>
            </a:r>
            <a:endParaRPr lang="en-US" sz="1450" dirty="0"/>
          </a:p>
        </p:txBody>
      </p:sp>
      <p:sp>
        <p:nvSpPr>
          <p:cNvPr id="12" name="Text 9"/>
          <p:cNvSpPr/>
          <p:nvPr/>
        </p:nvSpPr>
        <p:spPr>
          <a:xfrm>
            <a:off x="841248" y="3547872"/>
            <a:ext cx="5413248" cy="1005840"/>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Assign utility 5 to your current wealth Sₖ, 9 to Sₖ₊₂,₅₀₀,₀₀₀ and 8 to Sₖ₊₁,₀₀₀,₀₀₀.</a:t>
            </a:r>
            <a:endParaRPr lang="en-US" sz="1250" dirty="0"/>
          </a:p>
          <a:p>
            <a:pPr indent="0" marL="0">
              <a:buNone/>
            </a:pPr>
            <a:endParaRPr lang="en-US" sz="1250" dirty="0"/>
          </a:p>
          <a:p>
            <a:pPr indent="0" marL="0">
              <a:buNone/>
            </a:pPr>
            <a:r>
              <a:rPr lang="en-US" sz="1250" dirty="0">
                <a:solidFill>
                  <a:srgbClr val="3A3F4C"/>
                </a:solidFill>
                <a:latin typeface="Calibri" pitchFamily="34" charset="0"/>
                <a:ea typeface="Calibri" pitchFamily="34" charset="-122"/>
                <a:cs typeface="Calibri" pitchFamily="34" charset="-120"/>
              </a:rPr>
              <a:t>EU(Accept) = ½(5) + ½(9) = 7.        EU(Decline) = 8.</a:t>
            </a:r>
            <a:endParaRPr lang="en-US" sz="1250" dirty="0"/>
          </a:p>
        </p:txBody>
      </p:sp>
      <p:sp>
        <p:nvSpPr>
          <p:cNvPr id="13" name="Shape 10"/>
          <p:cNvSpPr/>
          <p:nvPr/>
        </p:nvSpPr>
        <p:spPr>
          <a:xfrm>
            <a:off x="6492240" y="3054096"/>
            <a:ext cx="5138928" cy="1600200"/>
          </a:xfrm>
          <a:prstGeom prst="roundRect">
            <a:avLst>
              <a:gd name="adj" fmla="val 4000"/>
            </a:avLst>
          </a:prstGeom>
          <a:solidFill>
            <a:srgbClr val="F1F2F5"/>
          </a:solidFill>
          <a:ln w="12700">
            <a:solidFill>
              <a:srgbClr val="F1F2F5"/>
            </a:solidFill>
            <a:prstDash val="solid"/>
          </a:ln>
        </p:spPr>
      </p:sp>
      <p:sp>
        <p:nvSpPr>
          <p:cNvPr id="14" name="Text 11"/>
          <p:cNvSpPr/>
          <p:nvPr/>
        </p:nvSpPr>
        <p:spPr>
          <a:xfrm>
            <a:off x="6766560" y="3200400"/>
            <a:ext cx="4572000" cy="310896"/>
          </a:xfrm>
          <a:prstGeom prst="rect">
            <a:avLst/>
          </a:prstGeom>
          <a:noFill/>
          <a:ln/>
        </p:spPr>
        <p:txBody>
          <a:bodyPr wrap="square" lIns="0" tIns="0" rIns="0" bIns="0" rtlCol="0" anchor="ctr"/>
          <a:lstStyle/>
          <a:p>
            <a:pPr indent="0" marL="0">
              <a:buNone/>
            </a:pPr>
            <a:r>
              <a:rPr lang="en-US" sz="1450" b="1" dirty="0">
                <a:solidFill>
                  <a:srgbClr val="1D4E63"/>
                </a:solidFill>
                <a:latin typeface="Cambria" pitchFamily="34" charset="0"/>
                <a:ea typeface="Cambria" pitchFamily="34" charset="-122"/>
                <a:cs typeface="Cambria" pitchFamily="34" charset="-120"/>
              </a:rPr>
              <a:t>Whose curve is it?</a:t>
            </a:r>
            <a:endParaRPr lang="en-US" sz="1450" dirty="0"/>
          </a:p>
        </p:txBody>
      </p:sp>
      <p:sp>
        <p:nvSpPr>
          <p:cNvPr id="15" name="Text 12"/>
          <p:cNvSpPr/>
          <p:nvPr/>
        </p:nvSpPr>
        <p:spPr>
          <a:xfrm>
            <a:off x="6766560" y="3547872"/>
            <a:ext cx="4590288" cy="1005840"/>
          </a:xfrm>
          <a:prstGeom prst="rect">
            <a:avLst/>
          </a:prstGeom>
          <a:noFill/>
          <a:ln/>
        </p:spPr>
        <p:txBody>
          <a:bodyPr wrap="square" lIns="0" tIns="0" rIns="0" bIns="0" rtlCol="0" anchor="t"/>
          <a:lstStyle/>
          <a:p>
            <a:pPr indent="0" marL="0">
              <a:buNone/>
            </a:pPr>
            <a:r>
              <a:rPr lang="en-US" sz="1250" dirty="0">
                <a:solidFill>
                  <a:srgbClr val="3A3F4C"/>
                </a:solidFill>
                <a:latin typeface="Calibri" pitchFamily="34" charset="0"/>
                <a:ea typeface="Calibri" pitchFamily="34" charset="-122"/>
                <a:cs typeface="Calibri" pitchFamily="34" charset="-120"/>
              </a:rPr>
              <a:t>Declining is rational for you, because the utility of the first million is high and the second million adds less. A billionaire’s curve is locally linear over a few million, so a billionaire should accept the same gamble.</a:t>
            </a:r>
            <a:endParaRPr lang="en-US" sz="1250" dirty="0"/>
          </a:p>
        </p:txBody>
      </p:sp>
      <p:sp>
        <p:nvSpPr>
          <p:cNvPr id="16" name="Shape 13"/>
          <p:cNvSpPr/>
          <p:nvPr/>
        </p:nvSpPr>
        <p:spPr>
          <a:xfrm>
            <a:off x="566928" y="4800600"/>
            <a:ext cx="11064240" cy="1188720"/>
          </a:xfrm>
          <a:prstGeom prst="roundRect">
            <a:avLst>
              <a:gd name="adj" fmla="val 5385"/>
            </a:avLst>
          </a:prstGeom>
          <a:solidFill>
            <a:srgbClr val="F1F2F5"/>
          </a:solidFill>
          <a:ln w="12700">
            <a:solidFill>
              <a:srgbClr val="F1F2F5"/>
            </a:solidFill>
            <a:prstDash val="solid"/>
          </a:ln>
        </p:spPr>
      </p:sp>
      <p:sp>
        <p:nvSpPr>
          <p:cNvPr id="17" name="Text 14"/>
          <p:cNvSpPr/>
          <p:nvPr/>
        </p:nvSpPr>
        <p:spPr>
          <a:xfrm>
            <a:off x="868680" y="4800600"/>
            <a:ext cx="10515600" cy="1188720"/>
          </a:xfrm>
          <a:prstGeom prst="rect">
            <a:avLst/>
          </a:prstGeom>
          <a:noFill/>
          <a:ln/>
        </p:spPr>
        <p:txBody>
          <a:bodyPr wrap="square" lIns="0" tIns="0" rIns="0" bIns="0" rtlCol="0" anchor="ctr"/>
          <a:lstStyle/>
          <a:p>
            <a:pPr indent="0" marL="0">
              <a:buNone/>
            </a:pPr>
            <a:r>
              <a:rPr lang="en-US" sz="1250" dirty="0">
                <a:solidFill>
                  <a:srgbClr val="3A3F4C"/>
                </a:solidFill>
                <a:latin typeface="Calibri" pitchFamily="34" charset="0"/>
                <a:ea typeface="Calibri" pitchFamily="34" charset="-122"/>
                <a:cs typeface="Calibri" pitchFamily="34" charset="-120"/>
              </a:rPr>
              <a:t>Grayson (1960) found the utility of money almost exactly proportional to its logarithm, an idea first suggested by Bernoulli in 1738. For one subject, Mr Beard, the fitted curve was U(Sₖ₊ₙ) = −263.31 + 22.09 log(n + 150,000) over the range −$150,000 to $800,000. Most people’s curves are concave for positive wealth; deep in debt, the concavity can reverse, giving an S shape.</a:t>
            </a:r>
            <a:endParaRPr lang="en-US" sz="12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RISK ATTITUDES</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Certainty equivalents, insurance premiums, and why insurers exist</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52</a:t>
            </a:r>
            <a:endParaRPr lang="en-US" sz="900" dirty="0"/>
          </a:p>
        </p:txBody>
      </p:sp>
      <p:sp>
        <p:nvSpPr>
          <p:cNvPr id="7" name="Shape 4"/>
          <p:cNvSpPr/>
          <p:nvPr/>
        </p:nvSpPr>
        <p:spPr>
          <a:xfrm>
            <a:off x="566928" y="1481328"/>
            <a:ext cx="3493008" cy="2148840"/>
          </a:xfrm>
          <a:prstGeom prst="roundRect">
            <a:avLst>
              <a:gd name="adj" fmla="val 2979"/>
            </a:avLst>
          </a:prstGeom>
          <a:solidFill>
            <a:srgbClr val="EAF1F5"/>
          </a:solidFill>
          <a:ln w="12700">
            <a:solidFill>
              <a:srgbClr val="EAF1F5"/>
            </a:solidFill>
            <a:prstDash val="solid"/>
          </a:ln>
        </p:spPr>
      </p:sp>
      <p:sp>
        <p:nvSpPr>
          <p:cNvPr id="8" name="Text 5"/>
          <p:cNvSpPr/>
          <p:nvPr/>
        </p:nvSpPr>
        <p:spPr>
          <a:xfrm>
            <a:off x="822960" y="1645920"/>
            <a:ext cx="3017520" cy="365760"/>
          </a:xfrm>
          <a:prstGeom prst="rect">
            <a:avLst/>
          </a:prstGeom>
          <a:noFill/>
          <a:ln/>
        </p:spPr>
        <p:txBody>
          <a:bodyPr wrap="square" lIns="0" tIns="0" rIns="0" bIns="0" rtlCol="0" anchor="ctr"/>
          <a:lstStyle/>
          <a:p>
            <a:pPr indent="0" marL="0">
              <a:buNone/>
            </a:pPr>
            <a:r>
              <a:rPr lang="en-US" sz="1700" b="1" dirty="0">
                <a:solidFill>
                  <a:srgbClr val="1D4E63"/>
                </a:solidFill>
                <a:latin typeface="Cambria" pitchFamily="34" charset="0"/>
                <a:ea typeface="Cambria" pitchFamily="34" charset="-122"/>
                <a:cs typeface="Cambria" pitchFamily="34" charset="-120"/>
              </a:rPr>
              <a:t>Risk-averse</a:t>
            </a:r>
            <a:endParaRPr lang="en-US" sz="1700" dirty="0"/>
          </a:p>
        </p:txBody>
      </p:sp>
      <p:sp>
        <p:nvSpPr>
          <p:cNvPr id="9" name="Text 6"/>
          <p:cNvSpPr/>
          <p:nvPr/>
        </p:nvSpPr>
        <p:spPr>
          <a:xfrm>
            <a:off x="822960" y="2029968"/>
            <a:ext cx="3017520" cy="292608"/>
          </a:xfrm>
          <a:prstGeom prst="rect">
            <a:avLst/>
          </a:prstGeom>
          <a:noFill/>
          <a:ln/>
        </p:spPr>
        <p:txBody>
          <a:bodyPr wrap="square" lIns="0" tIns="0" rIns="0" bIns="0" rtlCol="0" anchor="ctr"/>
          <a:lstStyle/>
          <a:p>
            <a:pPr indent="0" marL="0">
              <a:buNone/>
            </a:pPr>
            <a:r>
              <a:rPr lang="en-US" sz="1200" i="1" dirty="0">
                <a:solidFill>
                  <a:srgbClr val="3A3F4C"/>
                </a:solidFill>
                <a:latin typeface="Calibri" pitchFamily="34" charset="0"/>
                <a:ea typeface="Calibri" pitchFamily="34" charset="-122"/>
                <a:cs typeface="Calibri" pitchFamily="34" charset="-120"/>
              </a:rPr>
              <a:t>Concave curve</a:t>
            </a:r>
            <a:endParaRPr lang="en-US" sz="1200" dirty="0"/>
          </a:p>
        </p:txBody>
      </p:sp>
      <p:sp>
        <p:nvSpPr>
          <p:cNvPr id="10" name="Text 7"/>
          <p:cNvSpPr/>
          <p:nvPr/>
        </p:nvSpPr>
        <p:spPr>
          <a:xfrm>
            <a:off x="822960" y="2377440"/>
            <a:ext cx="3035808" cy="1143000"/>
          </a:xfrm>
          <a:prstGeom prst="rect">
            <a:avLst/>
          </a:prstGeom>
          <a:noFill/>
          <a:ln/>
        </p:spPr>
        <p:txBody>
          <a:bodyPr wrap="square" lIns="0" tIns="0" rIns="0" bIns="0" rtlCol="0" anchor="t"/>
          <a:lstStyle/>
          <a:p>
            <a:pPr indent="0" marL="0">
              <a:buNone/>
            </a:pPr>
            <a:r>
              <a:rPr lang="en-US" sz="1220" dirty="0">
                <a:solidFill>
                  <a:srgbClr val="3A3F4C"/>
                </a:solidFill>
                <a:latin typeface="Calibri" pitchFamily="34" charset="0"/>
                <a:ea typeface="Calibri" pitchFamily="34" charset="-122"/>
                <a:cs typeface="Calibri" pitchFamily="34" charset="-120"/>
              </a:rPr>
              <a:t>U(L) &lt; U(S_EMV(L)). Prefers a sure thing worth less than the gamble’s expected monetary value. Most people, over positive wealth.</a:t>
            </a:r>
            <a:endParaRPr lang="en-US" sz="1220" dirty="0"/>
          </a:p>
        </p:txBody>
      </p:sp>
      <p:sp>
        <p:nvSpPr>
          <p:cNvPr id="11" name="Shape 8"/>
          <p:cNvSpPr/>
          <p:nvPr/>
        </p:nvSpPr>
        <p:spPr>
          <a:xfrm>
            <a:off x="4297680" y="1481328"/>
            <a:ext cx="3493008" cy="2148840"/>
          </a:xfrm>
          <a:prstGeom prst="roundRect">
            <a:avLst>
              <a:gd name="adj" fmla="val 2979"/>
            </a:avLst>
          </a:prstGeom>
          <a:solidFill>
            <a:srgbClr val="F1F2F5"/>
          </a:solidFill>
          <a:ln w="12700">
            <a:solidFill>
              <a:srgbClr val="F1F2F5"/>
            </a:solidFill>
            <a:prstDash val="solid"/>
          </a:ln>
        </p:spPr>
      </p:sp>
      <p:sp>
        <p:nvSpPr>
          <p:cNvPr id="12" name="Text 9"/>
          <p:cNvSpPr/>
          <p:nvPr/>
        </p:nvSpPr>
        <p:spPr>
          <a:xfrm>
            <a:off x="4553712" y="1645920"/>
            <a:ext cx="3017520" cy="365760"/>
          </a:xfrm>
          <a:prstGeom prst="rect">
            <a:avLst/>
          </a:prstGeom>
          <a:noFill/>
          <a:ln/>
        </p:spPr>
        <p:txBody>
          <a:bodyPr wrap="square" lIns="0" tIns="0" rIns="0" bIns="0" rtlCol="0" anchor="ctr"/>
          <a:lstStyle/>
          <a:p>
            <a:pPr indent="0" marL="0">
              <a:buNone/>
            </a:pPr>
            <a:r>
              <a:rPr lang="en-US" sz="1700" b="1" dirty="0">
                <a:solidFill>
                  <a:srgbClr val="8A8F9C"/>
                </a:solidFill>
                <a:latin typeface="Cambria" pitchFamily="34" charset="0"/>
                <a:ea typeface="Cambria" pitchFamily="34" charset="-122"/>
                <a:cs typeface="Cambria" pitchFamily="34" charset="-120"/>
              </a:rPr>
              <a:t>Risk-neutral</a:t>
            </a:r>
            <a:endParaRPr lang="en-US" sz="1700" dirty="0"/>
          </a:p>
        </p:txBody>
      </p:sp>
      <p:sp>
        <p:nvSpPr>
          <p:cNvPr id="13" name="Text 10"/>
          <p:cNvSpPr/>
          <p:nvPr/>
        </p:nvSpPr>
        <p:spPr>
          <a:xfrm>
            <a:off x="4553712" y="2029968"/>
            <a:ext cx="3017520" cy="292608"/>
          </a:xfrm>
          <a:prstGeom prst="rect">
            <a:avLst/>
          </a:prstGeom>
          <a:noFill/>
          <a:ln/>
        </p:spPr>
        <p:txBody>
          <a:bodyPr wrap="square" lIns="0" tIns="0" rIns="0" bIns="0" rtlCol="0" anchor="ctr"/>
          <a:lstStyle/>
          <a:p>
            <a:pPr indent="0" marL="0">
              <a:buNone/>
            </a:pPr>
            <a:r>
              <a:rPr lang="en-US" sz="1200" i="1" dirty="0">
                <a:solidFill>
                  <a:srgbClr val="3A3F4C"/>
                </a:solidFill>
                <a:latin typeface="Calibri" pitchFamily="34" charset="0"/>
                <a:ea typeface="Calibri" pitchFamily="34" charset="-122"/>
                <a:cs typeface="Calibri" pitchFamily="34" charset="-120"/>
              </a:rPr>
              <a:t>Linear curve</a:t>
            </a:r>
            <a:endParaRPr lang="en-US" sz="1200" dirty="0"/>
          </a:p>
        </p:txBody>
      </p:sp>
      <p:sp>
        <p:nvSpPr>
          <p:cNvPr id="14" name="Text 11"/>
          <p:cNvSpPr/>
          <p:nvPr/>
        </p:nvSpPr>
        <p:spPr>
          <a:xfrm>
            <a:off x="4553712" y="2377440"/>
            <a:ext cx="3035808" cy="1143000"/>
          </a:xfrm>
          <a:prstGeom prst="rect">
            <a:avLst/>
          </a:prstGeom>
          <a:noFill/>
          <a:ln/>
        </p:spPr>
        <p:txBody>
          <a:bodyPr wrap="square" lIns="0" tIns="0" rIns="0" bIns="0" rtlCol="0" anchor="t"/>
          <a:lstStyle/>
          <a:p>
            <a:pPr indent="0" marL="0">
              <a:buNone/>
            </a:pPr>
            <a:r>
              <a:rPr lang="en-US" sz="1220" dirty="0">
                <a:solidFill>
                  <a:srgbClr val="3A3F4C"/>
                </a:solidFill>
                <a:latin typeface="Calibri" pitchFamily="34" charset="0"/>
                <a:ea typeface="Calibri" pitchFamily="34" charset="-122"/>
                <a:cs typeface="Calibri" pitchFamily="34" charset="-120"/>
              </a:rPr>
              <a:t>Utility is proportional to money. Any curve is approximately linear for changes small relative to current wealth, so expect risk neutrality on small gambles.</a:t>
            </a:r>
            <a:endParaRPr lang="en-US" sz="1220" dirty="0"/>
          </a:p>
        </p:txBody>
      </p:sp>
      <p:sp>
        <p:nvSpPr>
          <p:cNvPr id="15" name="Shape 12"/>
          <p:cNvSpPr/>
          <p:nvPr/>
        </p:nvSpPr>
        <p:spPr>
          <a:xfrm>
            <a:off x="8028432" y="1481328"/>
            <a:ext cx="3493008" cy="2148840"/>
          </a:xfrm>
          <a:prstGeom prst="roundRect">
            <a:avLst>
              <a:gd name="adj" fmla="val 2979"/>
            </a:avLst>
          </a:prstGeom>
          <a:solidFill>
            <a:srgbClr val="F3EEF8"/>
          </a:solidFill>
          <a:ln w="12700">
            <a:solidFill>
              <a:srgbClr val="F3EEF8"/>
            </a:solidFill>
            <a:prstDash val="solid"/>
          </a:ln>
        </p:spPr>
      </p:sp>
      <p:sp>
        <p:nvSpPr>
          <p:cNvPr id="16" name="Text 13"/>
          <p:cNvSpPr/>
          <p:nvPr/>
        </p:nvSpPr>
        <p:spPr>
          <a:xfrm>
            <a:off x="8284464" y="1645920"/>
            <a:ext cx="3017520" cy="365760"/>
          </a:xfrm>
          <a:prstGeom prst="rect">
            <a:avLst/>
          </a:prstGeom>
          <a:noFill/>
          <a:ln/>
        </p:spPr>
        <p:txBody>
          <a:bodyPr wrap="square" lIns="0" tIns="0" rIns="0" bIns="0" rtlCol="0" anchor="ctr"/>
          <a:lstStyle/>
          <a:p>
            <a:pPr indent="0" marL="0">
              <a:buNone/>
            </a:pPr>
            <a:r>
              <a:rPr lang="en-US" sz="1700" b="1" dirty="0">
                <a:solidFill>
                  <a:srgbClr val="6B4E8F"/>
                </a:solidFill>
                <a:latin typeface="Cambria" pitchFamily="34" charset="0"/>
                <a:ea typeface="Cambria" pitchFamily="34" charset="-122"/>
                <a:cs typeface="Cambria" pitchFamily="34" charset="-120"/>
              </a:rPr>
              <a:t>Risk-seeking</a:t>
            </a:r>
            <a:endParaRPr lang="en-US" sz="1700" dirty="0"/>
          </a:p>
        </p:txBody>
      </p:sp>
      <p:sp>
        <p:nvSpPr>
          <p:cNvPr id="17" name="Text 14"/>
          <p:cNvSpPr/>
          <p:nvPr/>
        </p:nvSpPr>
        <p:spPr>
          <a:xfrm>
            <a:off x="8284464" y="2029968"/>
            <a:ext cx="3017520" cy="292608"/>
          </a:xfrm>
          <a:prstGeom prst="rect">
            <a:avLst/>
          </a:prstGeom>
          <a:noFill/>
          <a:ln/>
        </p:spPr>
        <p:txBody>
          <a:bodyPr wrap="square" lIns="0" tIns="0" rIns="0" bIns="0" rtlCol="0" anchor="ctr"/>
          <a:lstStyle/>
          <a:p>
            <a:pPr indent="0" marL="0">
              <a:buNone/>
            </a:pPr>
            <a:r>
              <a:rPr lang="en-US" sz="1200" i="1" dirty="0">
                <a:solidFill>
                  <a:srgbClr val="3A3F4C"/>
                </a:solidFill>
                <a:latin typeface="Calibri" pitchFamily="34" charset="0"/>
                <a:ea typeface="Calibri" pitchFamily="34" charset="-122"/>
                <a:cs typeface="Calibri" pitchFamily="34" charset="-120"/>
              </a:rPr>
              <a:t>Convex curve</a:t>
            </a:r>
            <a:endParaRPr lang="en-US" sz="1200" dirty="0"/>
          </a:p>
        </p:txBody>
      </p:sp>
      <p:sp>
        <p:nvSpPr>
          <p:cNvPr id="18" name="Text 15"/>
          <p:cNvSpPr/>
          <p:nvPr/>
        </p:nvSpPr>
        <p:spPr>
          <a:xfrm>
            <a:off x="8284464" y="2377440"/>
            <a:ext cx="3035808" cy="1143000"/>
          </a:xfrm>
          <a:prstGeom prst="rect">
            <a:avLst/>
          </a:prstGeom>
          <a:noFill/>
          <a:ln/>
        </p:spPr>
        <p:txBody>
          <a:bodyPr wrap="square" lIns="0" tIns="0" rIns="0" bIns="0" rtlCol="0" anchor="t"/>
          <a:lstStyle/>
          <a:p>
            <a:pPr indent="0" marL="0">
              <a:buNone/>
            </a:pPr>
            <a:r>
              <a:rPr lang="en-US" sz="1220" dirty="0">
                <a:solidFill>
                  <a:srgbClr val="3A3F4C"/>
                </a:solidFill>
                <a:latin typeface="Calibri" pitchFamily="34" charset="0"/>
                <a:ea typeface="Calibri" pitchFamily="34" charset="-122"/>
                <a:cs typeface="Calibri" pitchFamily="34" charset="-120"/>
              </a:rPr>
              <a:t>Appears in the desperate region at large negative wealth. Someone $10,000,000 in debt may well accept a coin flip for plus $10,000,000 or minus $20,000,000.</a:t>
            </a:r>
            <a:endParaRPr lang="en-US" sz="1220" dirty="0"/>
          </a:p>
        </p:txBody>
      </p:sp>
      <p:sp>
        <p:nvSpPr>
          <p:cNvPr id="19" name="Shape 16"/>
          <p:cNvSpPr/>
          <p:nvPr/>
        </p:nvSpPr>
        <p:spPr>
          <a:xfrm>
            <a:off x="566928" y="3794760"/>
            <a:ext cx="11064240" cy="2148840"/>
          </a:xfrm>
          <a:prstGeom prst="roundRect">
            <a:avLst>
              <a:gd name="adj" fmla="val 2979"/>
            </a:avLst>
          </a:prstGeom>
          <a:solidFill>
            <a:srgbClr val="1C1F2A"/>
          </a:solidFill>
          <a:ln w="12700">
            <a:solidFill>
              <a:srgbClr val="1C1F2A"/>
            </a:solidFill>
            <a:prstDash val="solid"/>
          </a:ln>
        </p:spPr>
      </p:sp>
      <p:sp>
        <p:nvSpPr>
          <p:cNvPr id="20" name="Text 17"/>
          <p:cNvSpPr/>
          <p:nvPr/>
        </p:nvSpPr>
        <p:spPr>
          <a:xfrm>
            <a:off x="914400" y="3977640"/>
            <a:ext cx="7315200" cy="365760"/>
          </a:xfrm>
          <a:prstGeom prst="rect">
            <a:avLst/>
          </a:prstGeom>
          <a:noFill/>
          <a:ln/>
        </p:spPr>
        <p:txBody>
          <a:bodyPr wrap="square" lIns="0" tIns="0" rIns="0" bIns="0" rtlCol="0" anchor="ctr"/>
          <a:lstStyle/>
          <a:p>
            <a:pPr indent="0" marL="0">
              <a:buNone/>
            </a:pPr>
            <a:r>
              <a:rPr lang="en-US" sz="1800" b="1" dirty="0">
                <a:solidFill>
                  <a:srgbClr val="B58500"/>
                </a:solidFill>
                <a:latin typeface="Cambria" pitchFamily="34" charset="0"/>
                <a:ea typeface="Cambria" pitchFamily="34" charset="-122"/>
                <a:cs typeface="Cambria" pitchFamily="34" charset="-120"/>
              </a:rPr>
              <a:t>The $100 that makes insurance possible</a:t>
            </a:r>
            <a:endParaRPr lang="en-US" sz="1800" dirty="0"/>
          </a:p>
        </p:txBody>
      </p:sp>
      <p:sp>
        <p:nvSpPr>
          <p:cNvPr id="21" name="Text 18"/>
          <p:cNvSpPr/>
          <p:nvPr/>
        </p:nvSpPr>
        <p:spPr>
          <a:xfrm>
            <a:off x="914400" y="4434840"/>
            <a:ext cx="1371600" cy="502920"/>
          </a:xfrm>
          <a:prstGeom prst="rect">
            <a:avLst/>
          </a:prstGeom>
          <a:noFill/>
          <a:ln/>
        </p:spPr>
        <p:txBody>
          <a:bodyPr wrap="square" lIns="0" tIns="0" rIns="0" bIns="0" rtlCol="0" anchor="ctr"/>
          <a:lstStyle/>
          <a:p>
            <a:pPr indent="0" marL="0">
              <a:buNone/>
            </a:pPr>
            <a:r>
              <a:rPr lang="en-US" sz="2600" b="1" dirty="0">
                <a:solidFill>
                  <a:srgbClr val="E6E9F0"/>
                </a:solidFill>
                <a:latin typeface="Cambria" pitchFamily="34" charset="0"/>
                <a:ea typeface="Cambria" pitchFamily="34" charset="-122"/>
                <a:cs typeface="Cambria" pitchFamily="34" charset="-120"/>
              </a:rPr>
              <a:t>$500</a:t>
            </a:r>
            <a:endParaRPr lang="en-US" sz="2600" dirty="0"/>
          </a:p>
        </p:txBody>
      </p:sp>
      <p:sp>
        <p:nvSpPr>
          <p:cNvPr id="22" name="Text 19"/>
          <p:cNvSpPr/>
          <p:nvPr/>
        </p:nvSpPr>
        <p:spPr>
          <a:xfrm>
            <a:off x="914400" y="4983480"/>
            <a:ext cx="3200400" cy="822960"/>
          </a:xfrm>
          <a:prstGeom prst="rect">
            <a:avLst/>
          </a:prstGeom>
          <a:noFill/>
          <a:ln/>
        </p:spPr>
        <p:txBody>
          <a:bodyPr wrap="square" lIns="0" tIns="0" rIns="0" bIns="0" rtlCol="0" anchor="t"/>
          <a:lstStyle/>
          <a:p>
            <a:pPr indent="0" marL="0">
              <a:buNone/>
            </a:pPr>
            <a:r>
              <a:rPr lang="en-US" sz="1200" dirty="0">
                <a:solidFill>
                  <a:srgbClr val="A9B0C0"/>
                </a:solidFill>
                <a:latin typeface="Calibri" pitchFamily="34" charset="0"/>
                <a:ea typeface="Calibri" pitchFamily="34" charset="-122"/>
                <a:cs typeface="Calibri" pitchFamily="34" charset="-120"/>
              </a:rPr>
              <a:t>Expected monetary value of a lottery paying $1000 half the time and $0 otherwise.</a:t>
            </a:r>
            <a:endParaRPr lang="en-US" sz="1200" dirty="0"/>
          </a:p>
        </p:txBody>
      </p:sp>
      <p:sp>
        <p:nvSpPr>
          <p:cNvPr id="23" name="Text 20"/>
          <p:cNvSpPr/>
          <p:nvPr/>
        </p:nvSpPr>
        <p:spPr>
          <a:xfrm>
            <a:off x="4389120" y="4434840"/>
            <a:ext cx="1371600" cy="502920"/>
          </a:xfrm>
          <a:prstGeom prst="rect">
            <a:avLst/>
          </a:prstGeom>
          <a:noFill/>
          <a:ln/>
        </p:spPr>
        <p:txBody>
          <a:bodyPr wrap="square" lIns="0" tIns="0" rIns="0" bIns="0" rtlCol="0" anchor="ctr"/>
          <a:lstStyle/>
          <a:p>
            <a:pPr indent="0" marL="0">
              <a:buNone/>
            </a:pPr>
            <a:r>
              <a:rPr lang="en-US" sz="2600" b="1" dirty="0">
                <a:solidFill>
                  <a:srgbClr val="E6E9F0"/>
                </a:solidFill>
                <a:latin typeface="Cambria" pitchFamily="34" charset="0"/>
                <a:ea typeface="Cambria" pitchFamily="34" charset="-122"/>
                <a:cs typeface="Cambria" pitchFamily="34" charset="-120"/>
              </a:rPr>
              <a:t>$400</a:t>
            </a:r>
            <a:endParaRPr lang="en-US" sz="2600" dirty="0"/>
          </a:p>
        </p:txBody>
      </p:sp>
      <p:sp>
        <p:nvSpPr>
          <p:cNvPr id="24" name="Text 21"/>
          <p:cNvSpPr/>
          <p:nvPr/>
        </p:nvSpPr>
        <p:spPr>
          <a:xfrm>
            <a:off x="4389120" y="4983480"/>
            <a:ext cx="3200400" cy="822960"/>
          </a:xfrm>
          <a:prstGeom prst="rect">
            <a:avLst/>
          </a:prstGeom>
          <a:noFill/>
          <a:ln/>
        </p:spPr>
        <p:txBody>
          <a:bodyPr wrap="square" lIns="0" tIns="0" rIns="0" bIns="0" rtlCol="0" anchor="t"/>
          <a:lstStyle/>
          <a:p>
            <a:pPr indent="0" marL="0">
              <a:buNone/>
            </a:pPr>
            <a:r>
              <a:rPr lang="en-US" sz="1200" dirty="0">
                <a:solidFill>
                  <a:srgbClr val="A9B0C0"/>
                </a:solidFill>
                <a:latin typeface="Calibri" pitchFamily="34" charset="0"/>
                <a:ea typeface="Calibri" pitchFamily="34" charset="-122"/>
                <a:cs typeface="Calibri" pitchFamily="34" charset="-120"/>
              </a:rPr>
              <a:t>The certainty equivalent: the guaranteed sum most people will accept in lieu of that lottery.</a:t>
            </a:r>
            <a:endParaRPr lang="en-US" sz="1200" dirty="0"/>
          </a:p>
        </p:txBody>
      </p:sp>
      <p:sp>
        <p:nvSpPr>
          <p:cNvPr id="25" name="Text 22"/>
          <p:cNvSpPr/>
          <p:nvPr/>
        </p:nvSpPr>
        <p:spPr>
          <a:xfrm>
            <a:off x="7863840" y="4434840"/>
            <a:ext cx="1371600" cy="502920"/>
          </a:xfrm>
          <a:prstGeom prst="rect">
            <a:avLst/>
          </a:prstGeom>
          <a:noFill/>
          <a:ln/>
        </p:spPr>
        <p:txBody>
          <a:bodyPr wrap="square" lIns="0" tIns="0" rIns="0" bIns="0" rtlCol="0" anchor="ctr"/>
          <a:lstStyle/>
          <a:p>
            <a:pPr indent="0" marL="0">
              <a:buNone/>
            </a:pPr>
            <a:r>
              <a:rPr lang="en-US" sz="2600" b="1" dirty="0">
                <a:solidFill>
                  <a:srgbClr val="B58500"/>
                </a:solidFill>
                <a:latin typeface="Cambria" pitchFamily="34" charset="0"/>
                <a:ea typeface="Cambria" pitchFamily="34" charset="-122"/>
                <a:cs typeface="Cambria" pitchFamily="34" charset="-120"/>
              </a:rPr>
              <a:t>$100</a:t>
            </a:r>
            <a:endParaRPr lang="en-US" sz="2600" dirty="0"/>
          </a:p>
        </p:txBody>
      </p:sp>
      <p:sp>
        <p:nvSpPr>
          <p:cNvPr id="26" name="Text 23"/>
          <p:cNvSpPr/>
          <p:nvPr/>
        </p:nvSpPr>
        <p:spPr>
          <a:xfrm>
            <a:off x="7863840" y="4983480"/>
            <a:ext cx="3200400" cy="822960"/>
          </a:xfrm>
          <a:prstGeom prst="rect">
            <a:avLst/>
          </a:prstGeom>
          <a:noFill/>
          <a:ln/>
        </p:spPr>
        <p:txBody>
          <a:bodyPr wrap="square" lIns="0" tIns="0" rIns="0" bIns="0" rtlCol="0" anchor="t"/>
          <a:lstStyle/>
          <a:p>
            <a:pPr indent="0" marL="0">
              <a:buNone/>
            </a:pPr>
            <a:r>
              <a:rPr lang="en-US" sz="1200" dirty="0">
                <a:solidFill>
                  <a:srgbClr val="A9B0C0"/>
                </a:solidFill>
                <a:latin typeface="Calibri" pitchFamily="34" charset="0"/>
                <a:ea typeface="Calibri" pitchFamily="34" charset="-122"/>
                <a:cs typeface="Calibri" pitchFamily="34" charset="-120"/>
              </a:rPr>
              <a:t>The insurance premium, the gap between the two, and the room for a mutually beneficial deal.</a:t>
            </a:r>
            <a:endParaRPr lang="en-US" sz="1200" dirty="0"/>
          </a:p>
        </p:txBody>
      </p:sp>
      <p:sp>
        <p:nvSpPr>
          <p:cNvPr id="27" name="Text 24"/>
          <p:cNvSpPr/>
          <p:nvPr/>
        </p:nvSpPr>
        <p:spPr>
          <a:xfrm>
            <a:off x="566928" y="5989320"/>
            <a:ext cx="11064240" cy="365760"/>
          </a:xfrm>
          <a:prstGeom prst="rect">
            <a:avLst/>
          </a:prstGeom>
          <a:noFill/>
          <a:ln/>
        </p:spPr>
        <p:txBody>
          <a:bodyPr wrap="square" lIns="0" tIns="0" rIns="0" bIns="0" rtlCol="0" anchor="ctr"/>
          <a:lstStyle/>
          <a:p>
            <a:pPr indent="0" marL="0">
              <a:buNone/>
            </a:pPr>
            <a:r>
              <a:rPr lang="en-US" sz="1220" i="1" dirty="0">
                <a:solidFill>
                  <a:srgbClr val="8A8F9C"/>
                </a:solidFill>
                <a:latin typeface="Calibri" pitchFamily="34" charset="0"/>
                <a:ea typeface="Calibri" pitchFamily="34" charset="-122"/>
                <a:cs typeface="Calibri" pitchFamily="34" charset="-120"/>
              </a:rPr>
              <a:t>The insurer holds a large pool of independent lotteries, so by the law of large numbers its average payout converges to $500 and its own curve is locally linear over that range. Any price inside the spread leaves both parties better off by their own utility functions.</a:t>
            </a:r>
            <a:endParaRPr lang="en-US" sz="122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16.3.3  POST-DECISION DISAPPOINTMENT</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The optimizer’s curse</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53</a:t>
            </a:r>
            <a:endParaRPr lang="en-US" sz="900" dirty="0"/>
          </a:p>
        </p:txBody>
      </p:sp>
      <p:sp>
        <p:nvSpPr>
          <p:cNvPr id="7" name="Shape 4"/>
          <p:cNvSpPr/>
          <p:nvPr/>
        </p:nvSpPr>
        <p:spPr>
          <a:xfrm>
            <a:off x="566928" y="1444752"/>
            <a:ext cx="11064240" cy="1051560"/>
          </a:xfrm>
          <a:prstGeom prst="roundRect">
            <a:avLst>
              <a:gd name="adj" fmla="val 6087"/>
            </a:avLst>
          </a:prstGeom>
          <a:solidFill>
            <a:srgbClr val="1C1F2A"/>
          </a:solidFill>
          <a:ln w="12700">
            <a:solidFill>
              <a:srgbClr val="1C1F2A"/>
            </a:solidFill>
            <a:prstDash val="solid"/>
          </a:ln>
        </p:spPr>
      </p:sp>
      <p:sp>
        <p:nvSpPr>
          <p:cNvPr id="8" name="Text 5"/>
          <p:cNvSpPr/>
          <p:nvPr/>
        </p:nvSpPr>
        <p:spPr>
          <a:xfrm>
            <a:off x="914400" y="1444752"/>
            <a:ext cx="10332720" cy="1051560"/>
          </a:xfrm>
          <a:prstGeom prst="rect">
            <a:avLst/>
          </a:prstGeom>
          <a:noFill/>
          <a:ln/>
        </p:spPr>
        <p:txBody>
          <a:bodyPr wrap="square" lIns="0" tIns="0" rIns="0" bIns="0" rtlCol="0" anchor="ctr"/>
          <a:lstStyle/>
          <a:p>
            <a:pPr indent="0" marL="0">
              <a:buNone/>
            </a:pPr>
            <a:r>
              <a:rPr lang="en-US" sz="1450" dirty="0">
                <a:solidFill>
                  <a:srgbClr val="D6DAE4"/>
                </a:solidFill>
                <a:latin typeface="Calibri" pitchFamily="34" charset="0"/>
                <a:ea typeface="Calibri" pitchFamily="34" charset="-122"/>
                <a:cs typeface="Calibri" pitchFamily="34" charset="-120"/>
              </a:rPr>
              <a:t>Even when every utility estimate is unbiased, the outcome of choosing the best one is systematically worse than estimated. Selecting the maximum preferentially selects the largest error.</a:t>
            </a:r>
            <a:endParaRPr lang="en-US" sz="1450" dirty="0"/>
          </a:p>
        </p:txBody>
      </p:sp>
      <p:graphicFrame>
        <p:nvGraphicFramePr>
          <p:cNvPr id="9" name="Chart 0" descr=""/>
          <p:cNvGraphicFramePr/>
          <p:nvPr/>
        </p:nvGraphicFramePr>
        <p:xfrm>
          <a:off x="566928" y="2697480"/>
          <a:ext cx="5120640" cy="2286000"/>
        </p:xfrm>
        <a:graphic xmlns:a="http://schemas.openxmlformats.org/drawingml/2006/main">
          <a:graphicData uri="http://schemas.openxmlformats.org/drawingml/2006/chart">
            <c:chart xmlns:c="http://schemas.openxmlformats.org/drawingml/2006/chart" r:id="rId1"/>
          </a:graphicData>
        </a:graphic>
      </p:graphicFrame>
      <p:sp>
        <p:nvSpPr>
          <p:cNvPr id="10" name="Shape 6"/>
          <p:cNvSpPr/>
          <p:nvPr/>
        </p:nvSpPr>
        <p:spPr>
          <a:xfrm>
            <a:off x="5989320" y="2697480"/>
            <a:ext cx="5641848" cy="758952"/>
          </a:xfrm>
          <a:prstGeom prst="roundRect">
            <a:avLst>
              <a:gd name="adj" fmla="val 8434"/>
            </a:avLst>
          </a:prstGeom>
          <a:solidFill>
            <a:srgbClr val="F1F2F5"/>
          </a:solidFill>
          <a:ln w="12700">
            <a:solidFill>
              <a:srgbClr val="F1F2F5"/>
            </a:solidFill>
            <a:prstDash val="solid"/>
          </a:ln>
        </p:spPr>
      </p:sp>
      <p:sp>
        <p:nvSpPr>
          <p:cNvPr id="11" name="Text 7"/>
          <p:cNvSpPr/>
          <p:nvPr/>
        </p:nvSpPr>
        <p:spPr>
          <a:xfrm>
            <a:off x="6236208" y="2752344"/>
            <a:ext cx="5212080" cy="274320"/>
          </a:xfrm>
          <a:prstGeom prst="rect">
            <a:avLst/>
          </a:prstGeom>
          <a:noFill/>
          <a:ln/>
        </p:spPr>
        <p:txBody>
          <a:bodyPr wrap="square" lIns="0" tIns="0" rIns="0" bIns="0" rtlCol="0" anchor="ctr"/>
          <a:lstStyle/>
          <a:p>
            <a:pPr indent="0" marL="0">
              <a:buNone/>
            </a:pPr>
            <a:r>
              <a:rPr lang="en-US" sz="1280" b="1" dirty="0">
                <a:solidFill>
                  <a:srgbClr val="C2410C"/>
                </a:solidFill>
                <a:latin typeface="Cambria" pitchFamily="34" charset="0"/>
                <a:ea typeface="Cambria" pitchFamily="34" charset="-122"/>
                <a:cs typeface="Cambria" pitchFamily="34" charset="-120"/>
              </a:rPr>
              <a:t>The exciting new drug</a:t>
            </a:r>
            <a:endParaRPr lang="en-US" sz="1280" dirty="0"/>
          </a:p>
        </p:txBody>
      </p:sp>
      <p:sp>
        <p:nvSpPr>
          <p:cNvPr id="12" name="Text 8"/>
          <p:cNvSpPr/>
          <p:nvPr/>
        </p:nvSpPr>
        <p:spPr>
          <a:xfrm>
            <a:off x="6236208" y="3008376"/>
            <a:ext cx="5230368" cy="420624"/>
          </a:xfrm>
          <a:prstGeom prst="rect">
            <a:avLst/>
          </a:prstGeom>
          <a:noFill/>
          <a:ln/>
        </p:spPr>
        <p:txBody>
          <a:bodyPr wrap="square" lIns="0" tIns="0" rIns="0" bIns="0" rtlCol="0" anchor="t"/>
          <a:lstStyle/>
          <a:p>
            <a:pPr indent="0" marL="0">
              <a:buNone/>
            </a:pPr>
            <a:r>
              <a:rPr lang="en-US" sz="1130" dirty="0">
                <a:solidFill>
                  <a:srgbClr val="3A3F4C"/>
                </a:solidFill>
                <a:latin typeface="Calibri" pitchFamily="34" charset="0"/>
                <a:ea typeface="Calibri" pitchFamily="34" charset="-122"/>
                <a:cs typeface="Calibri" pitchFamily="34" charset="-120"/>
              </a:rPr>
              <a:t>A drug that cured 80 percent of trial patients was chosen from thousands of candidates. Expecting 80 percent in the field is the curse in action.</a:t>
            </a:r>
            <a:endParaRPr lang="en-US" sz="1130" dirty="0"/>
          </a:p>
        </p:txBody>
      </p:sp>
      <p:sp>
        <p:nvSpPr>
          <p:cNvPr id="13" name="Shape 9"/>
          <p:cNvSpPr/>
          <p:nvPr/>
        </p:nvSpPr>
        <p:spPr>
          <a:xfrm>
            <a:off x="5989320" y="3566160"/>
            <a:ext cx="5641848" cy="758952"/>
          </a:xfrm>
          <a:prstGeom prst="roundRect">
            <a:avLst>
              <a:gd name="adj" fmla="val 8434"/>
            </a:avLst>
          </a:prstGeom>
          <a:solidFill>
            <a:srgbClr val="F1F2F5"/>
          </a:solidFill>
          <a:ln w="12700">
            <a:solidFill>
              <a:srgbClr val="F1F2F5"/>
            </a:solidFill>
            <a:prstDash val="solid"/>
          </a:ln>
        </p:spPr>
      </p:sp>
      <p:sp>
        <p:nvSpPr>
          <p:cNvPr id="14" name="Text 10"/>
          <p:cNvSpPr/>
          <p:nvPr/>
        </p:nvSpPr>
        <p:spPr>
          <a:xfrm>
            <a:off x="6236208" y="3621024"/>
            <a:ext cx="5212080" cy="274320"/>
          </a:xfrm>
          <a:prstGeom prst="rect">
            <a:avLst/>
          </a:prstGeom>
          <a:noFill/>
          <a:ln/>
        </p:spPr>
        <p:txBody>
          <a:bodyPr wrap="square" lIns="0" tIns="0" rIns="0" bIns="0" rtlCol="0" anchor="ctr"/>
          <a:lstStyle/>
          <a:p>
            <a:pPr indent="0" marL="0">
              <a:buNone/>
            </a:pPr>
            <a:r>
              <a:rPr lang="en-US" sz="1280" b="1" dirty="0">
                <a:solidFill>
                  <a:srgbClr val="1D4E63"/>
                </a:solidFill>
                <a:latin typeface="Cambria" pitchFamily="34" charset="0"/>
                <a:ea typeface="Cambria" pitchFamily="34" charset="-122"/>
                <a:cs typeface="Cambria" pitchFamily="34" charset="-120"/>
              </a:rPr>
              <a:t>The above-average fund</a:t>
            </a:r>
            <a:endParaRPr lang="en-US" sz="1280" dirty="0"/>
          </a:p>
        </p:txBody>
      </p:sp>
      <p:sp>
        <p:nvSpPr>
          <p:cNvPr id="15" name="Text 11"/>
          <p:cNvSpPr/>
          <p:nvPr/>
        </p:nvSpPr>
        <p:spPr>
          <a:xfrm>
            <a:off x="6236208" y="3877056"/>
            <a:ext cx="5230368" cy="420624"/>
          </a:xfrm>
          <a:prstGeom prst="rect">
            <a:avLst/>
          </a:prstGeom>
          <a:noFill/>
          <a:ln/>
        </p:spPr>
        <p:txBody>
          <a:bodyPr wrap="square" lIns="0" tIns="0" rIns="0" bIns="0" rtlCol="0" anchor="t"/>
          <a:lstStyle/>
          <a:p>
            <a:pPr indent="0" marL="0">
              <a:buNone/>
            </a:pPr>
            <a:r>
              <a:rPr lang="en-US" sz="1130" dirty="0">
                <a:solidFill>
                  <a:srgbClr val="3A3F4C"/>
                </a:solidFill>
                <a:latin typeface="Calibri" pitchFamily="34" charset="0"/>
                <a:ea typeface="Calibri" pitchFamily="34" charset="-122"/>
                <a:cs typeface="Calibri" pitchFamily="34" charset="-120"/>
              </a:rPr>
              <a:t>A fund advertised for above-average returns was selected to appear in the advertisement out of dozens in the same portfolio.</a:t>
            </a:r>
            <a:endParaRPr lang="en-US" sz="1130" dirty="0"/>
          </a:p>
        </p:txBody>
      </p:sp>
      <p:sp>
        <p:nvSpPr>
          <p:cNvPr id="16" name="Shape 12"/>
          <p:cNvSpPr/>
          <p:nvPr/>
        </p:nvSpPr>
        <p:spPr>
          <a:xfrm>
            <a:off x="5989320" y="4434840"/>
            <a:ext cx="5641848" cy="758952"/>
          </a:xfrm>
          <a:prstGeom prst="roundRect">
            <a:avLst>
              <a:gd name="adj" fmla="val 8434"/>
            </a:avLst>
          </a:prstGeom>
          <a:solidFill>
            <a:srgbClr val="F1F2F5"/>
          </a:solidFill>
          <a:ln w="12700">
            <a:solidFill>
              <a:srgbClr val="F1F2F5"/>
            </a:solidFill>
            <a:prstDash val="solid"/>
          </a:ln>
        </p:spPr>
      </p:sp>
      <p:sp>
        <p:nvSpPr>
          <p:cNvPr id="17" name="Text 13"/>
          <p:cNvSpPr/>
          <p:nvPr/>
        </p:nvSpPr>
        <p:spPr>
          <a:xfrm>
            <a:off x="6236208" y="4489704"/>
            <a:ext cx="5212080" cy="274320"/>
          </a:xfrm>
          <a:prstGeom prst="rect">
            <a:avLst/>
          </a:prstGeom>
          <a:noFill/>
          <a:ln/>
        </p:spPr>
        <p:txBody>
          <a:bodyPr wrap="square" lIns="0" tIns="0" rIns="0" bIns="0" rtlCol="0" anchor="ctr"/>
          <a:lstStyle/>
          <a:p>
            <a:pPr indent="0" marL="0">
              <a:buNone/>
            </a:pPr>
            <a:r>
              <a:rPr lang="en-US" sz="1280" b="1" dirty="0">
                <a:solidFill>
                  <a:srgbClr val="6B4E8F"/>
                </a:solidFill>
                <a:latin typeface="Cambria" pitchFamily="34" charset="0"/>
                <a:ea typeface="Cambria" pitchFamily="34" charset="-122"/>
                <a:cs typeface="Cambria" pitchFamily="34" charset="-120"/>
              </a:rPr>
              <a:t>Variance matters too</a:t>
            </a:r>
            <a:endParaRPr lang="en-US" sz="1280" dirty="0"/>
          </a:p>
        </p:txBody>
      </p:sp>
      <p:sp>
        <p:nvSpPr>
          <p:cNvPr id="18" name="Text 14"/>
          <p:cNvSpPr/>
          <p:nvPr/>
        </p:nvSpPr>
        <p:spPr>
          <a:xfrm>
            <a:off x="6236208" y="4745736"/>
            <a:ext cx="5230368" cy="420624"/>
          </a:xfrm>
          <a:prstGeom prst="rect">
            <a:avLst/>
          </a:prstGeom>
          <a:noFill/>
          <a:ln/>
        </p:spPr>
        <p:txBody>
          <a:bodyPr wrap="square" lIns="0" tIns="0" rIns="0" bIns="0" rtlCol="0" anchor="t"/>
          <a:lstStyle/>
          <a:p>
            <a:pPr indent="0" marL="0">
              <a:buNone/>
            </a:pPr>
            <a:r>
              <a:rPr lang="en-US" sz="1130" dirty="0">
                <a:solidFill>
                  <a:srgbClr val="3A3F4C"/>
                </a:solidFill>
                <a:latin typeface="Calibri" pitchFamily="34" charset="0"/>
                <a:ea typeface="Calibri" pitchFamily="34" charset="-122"/>
                <a:cs typeface="Calibri" pitchFamily="34" charset="-120"/>
              </a:rPr>
              <a:t>A drug curing 9 of 10 patients, selected from thousands tried, is probably worse than one curing 800 of 1000.</a:t>
            </a:r>
            <a:endParaRPr lang="en-US" sz="1130" dirty="0"/>
          </a:p>
        </p:txBody>
      </p:sp>
      <p:sp>
        <p:nvSpPr>
          <p:cNvPr id="19" name="Shape 15"/>
          <p:cNvSpPr/>
          <p:nvPr/>
        </p:nvSpPr>
        <p:spPr>
          <a:xfrm>
            <a:off x="5989320" y="5303520"/>
            <a:ext cx="5641848" cy="758952"/>
          </a:xfrm>
          <a:prstGeom prst="roundRect">
            <a:avLst>
              <a:gd name="adj" fmla="val 8434"/>
            </a:avLst>
          </a:prstGeom>
          <a:solidFill>
            <a:srgbClr val="F1F2F5"/>
          </a:solidFill>
          <a:ln w="12700">
            <a:solidFill>
              <a:srgbClr val="F1F2F5"/>
            </a:solidFill>
            <a:prstDash val="solid"/>
          </a:ln>
        </p:spPr>
      </p:sp>
      <p:sp>
        <p:nvSpPr>
          <p:cNvPr id="20" name="Text 16"/>
          <p:cNvSpPr/>
          <p:nvPr/>
        </p:nvSpPr>
        <p:spPr>
          <a:xfrm>
            <a:off x="6236208" y="5358384"/>
            <a:ext cx="5212080" cy="274320"/>
          </a:xfrm>
          <a:prstGeom prst="rect">
            <a:avLst/>
          </a:prstGeom>
          <a:noFill/>
          <a:ln/>
        </p:spPr>
        <p:txBody>
          <a:bodyPr wrap="square" lIns="0" tIns="0" rIns="0" bIns="0" rtlCol="0" anchor="ctr"/>
          <a:lstStyle/>
          <a:p>
            <a:pPr indent="0" marL="0">
              <a:buNone/>
            </a:pPr>
            <a:r>
              <a:rPr lang="en-US" sz="1280" b="1" dirty="0">
                <a:solidFill>
                  <a:srgbClr val="B58500"/>
                </a:solidFill>
                <a:latin typeface="Cambria" pitchFamily="34" charset="0"/>
                <a:ea typeface="Cambria" pitchFamily="34" charset="-122"/>
                <a:cs typeface="Cambria" pitchFamily="34" charset="-120"/>
              </a:rPr>
              <a:t>The fix</a:t>
            </a:r>
            <a:endParaRPr lang="en-US" sz="1280" dirty="0"/>
          </a:p>
        </p:txBody>
      </p:sp>
      <p:sp>
        <p:nvSpPr>
          <p:cNvPr id="21" name="Text 17"/>
          <p:cNvSpPr/>
          <p:nvPr/>
        </p:nvSpPr>
        <p:spPr>
          <a:xfrm>
            <a:off x="6236208" y="5614416"/>
            <a:ext cx="5230368" cy="420624"/>
          </a:xfrm>
          <a:prstGeom prst="rect">
            <a:avLst/>
          </a:prstGeom>
          <a:noFill/>
          <a:ln/>
        </p:spPr>
        <p:txBody>
          <a:bodyPr wrap="square" lIns="0" tIns="0" rIns="0" bIns="0" rtlCol="0" anchor="t"/>
          <a:lstStyle/>
          <a:p>
            <a:pPr indent="0" marL="0">
              <a:buNone/>
            </a:pPr>
            <a:r>
              <a:rPr lang="en-US" sz="1130" dirty="0">
                <a:solidFill>
                  <a:srgbClr val="3A3F4C"/>
                </a:solidFill>
                <a:latin typeface="Calibri" pitchFamily="34" charset="0"/>
                <a:ea typeface="Calibri" pitchFamily="34" charset="-122"/>
                <a:cs typeface="Calibri" pitchFamily="34" charset="-120"/>
              </a:rPr>
              <a:t>Model the error explicitly with P(estimated EU | true EU), put a prior on plausible utilities, treat the estimate as evidence, and apply Bayes’ rule.</a:t>
            </a:r>
            <a:endParaRPr lang="en-US" sz="1130" dirty="0"/>
          </a:p>
        </p:txBody>
      </p:sp>
      <p:sp>
        <p:nvSpPr>
          <p:cNvPr id="22" name="Text 18"/>
          <p:cNvSpPr/>
          <p:nvPr/>
        </p:nvSpPr>
        <p:spPr>
          <a:xfrm>
            <a:off x="566928" y="5852160"/>
            <a:ext cx="11064240" cy="365760"/>
          </a:xfrm>
          <a:prstGeom prst="rect">
            <a:avLst/>
          </a:prstGeom>
          <a:noFill/>
          <a:ln/>
        </p:spPr>
        <p:txBody>
          <a:bodyPr wrap="square" lIns="0" tIns="0" rIns="0" bIns="0" rtlCol="0" anchor="ctr"/>
          <a:lstStyle/>
          <a:p>
            <a:pPr indent="0" marL="0">
              <a:buNone/>
            </a:pPr>
            <a:r>
              <a:rPr lang="en-US" sz="1250" i="1" dirty="0">
                <a:solidFill>
                  <a:srgbClr val="8A8F9C"/>
                </a:solidFill>
                <a:latin typeface="Calibri" pitchFamily="34" charset="0"/>
                <a:ea typeface="Calibri" pitchFamily="34" charset="-122"/>
                <a:cs typeface="Calibri" pitchFamily="34" charset="-120"/>
              </a:rPr>
              <a:t>The curse crops up everywhere because utility-maximising selection processes are everywhere. Taking estimates at face value is a bad idea.</a:t>
            </a:r>
            <a:endParaRPr lang="en-US" sz="12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16.3.4  HUMAN JUDGMENT AND IRRATIONALITY</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The Allais paradox</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54</a:t>
            </a:r>
            <a:endParaRPr lang="en-US" sz="900" dirty="0"/>
          </a:p>
        </p:txBody>
      </p:sp>
      <p:sp>
        <p:nvSpPr>
          <p:cNvPr id="7" name="Shape 4"/>
          <p:cNvSpPr/>
          <p:nvPr/>
        </p:nvSpPr>
        <p:spPr>
          <a:xfrm>
            <a:off x="566928" y="1444752"/>
            <a:ext cx="5303520" cy="1691640"/>
          </a:xfrm>
          <a:prstGeom prst="roundRect">
            <a:avLst>
              <a:gd name="adj" fmla="val 3784"/>
            </a:avLst>
          </a:prstGeom>
          <a:solidFill>
            <a:srgbClr val="F1F2F5"/>
          </a:solidFill>
          <a:ln w="12700">
            <a:solidFill>
              <a:srgbClr val="F1F2F5"/>
            </a:solidFill>
            <a:prstDash val="solid"/>
          </a:ln>
        </p:spPr>
      </p:sp>
      <p:sp>
        <p:nvSpPr>
          <p:cNvPr id="8" name="Text 5"/>
          <p:cNvSpPr/>
          <p:nvPr/>
        </p:nvSpPr>
        <p:spPr>
          <a:xfrm>
            <a:off x="841248" y="1572768"/>
            <a:ext cx="4754880" cy="292608"/>
          </a:xfrm>
          <a:prstGeom prst="rect">
            <a:avLst/>
          </a:prstGeom>
          <a:noFill/>
          <a:ln/>
        </p:spPr>
        <p:txBody>
          <a:bodyPr wrap="square" lIns="0" tIns="0" rIns="0" bIns="0" rtlCol="0" anchor="ctr"/>
          <a:lstStyle/>
          <a:p>
            <a:pPr indent="0" marL="0">
              <a:buNone/>
            </a:pPr>
            <a:r>
              <a:rPr lang="en-US" sz="1300" b="1" spc="100" kern="0" dirty="0">
                <a:solidFill>
                  <a:srgbClr val="8A8F9C"/>
                </a:solidFill>
                <a:latin typeface="Calibri" pitchFamily="34" charset="0"/>
                <a:ea typeface="Calibri" pitchFamily="34" charset="-122"/>
                <a:cs typeface="Calibri" pitchFamily="34" charset="-120"/>
              </a:rPr>
              <a:t>Choice 1</a:t>
            </a:r>
            <a:endParaRPr lang="en-US" sz="1300" dirty="0"/>
          </a:p>
        </p:txBody>
      </p:sp>
      <p:sp>
        <p:nvSpPr>
          <p:cNvPr id="9" name="Text 6"/>
          <p:cNvSpPr/>
          <p:nvPr/>
        </p:nvSpPr>
        <p:spPr>
          <a:xfrm>
            <a:off x="841248" y="1938528"/>
            <a:ext cx="4773168" cy="402336"/>
          </a:xfrm>
          <a:prstGeom prst="rect">
            <a:avLst/>
          </a:prstGeom>
          <a:noFill/>
          <a:ln/>
        </p:spPr>
        <p:txBody>
          <a:bodyPr wrap="square" lIns="0" tIns="0" rIns="0" bIns="0" rtlCol="0" anchor="ctr"/>
          <a:lstStyle/>
          <a:p>
            <a:pPr indent="0" marL="0">
              <a:buNone/>
            </a:pPr>
            <a:r>
              <a:rPr lang="en-US" sz="1500" dirty="0">
                <a:solidFill>
                  <a:srgbClr val="3A3F4C"/>
                </a:solidFill>
                <a:latin typeface="Calibri" pitchFamily="34" charset="0"/>
                <a:ea typeface="Calibri" pitchFamily="34" charset="-122"/>
                <a:cs typeface="Calibri" pitchFamily="34" charset="-120"/>
              </a:rPr>
              <a:t>A:  80% chance of $4,000</a:t>
            </a:r>
            <a:endParaRPr lang="en-US" sz="1500" dirty="0"/>
          </a:p>
        </p:txBody>
      </p:sp>
      <p:sp>
        <p:nvSpPr>
          <p:cNvPr id="10" name="Text 7"/>
          <p:cNvSpPr/>
          <p:nvPr/>
        </p:nvSpPr>
        <p:spPr>
          <a:xfrm>
            <a:off x="841248" y="2395728"/>
            <a:ext cx="4773168" cy="402336"/>
          </a:xfrm>
          <a:prstGeom prst="rect">
            <a:avLst/>
          </a:prstGeom>
          <a:noFill/>
          <a:ln/>
        </p:spPr>
        <p:txBody>
          <a:bodyPr wrap="square" lIns="0" tIns="0" rIns="0" bIns="0" rtlCol="0" anchor="ctr"/>
          <a:lstStyle/>
          <a:p>
            <a:pPr indent="0" marL="0">
              <a:buNone/>
            </a:pPr>
            <a:r>
              <a:rPr lang="en-US" sz="1500" b="1" dirty="0">
                <a:solidFill>
                  <a:srgbClr val="C2410C"/>
                </a:solidFill>
                <a:latin typeface="Calibri" pitchFamily="34" charset="0"/>
                <a:ea typeface="Calibri" pitchFamily="34" charset="-122"/>
                <a:cs typeface="Calibri" pitchFamily="34" charset="-120"/>
              </a:rPr>
              <a:t>B:  100% chance of $3,000</a:t>
            </a:r>
            <a:endParaRPr lang="en-US" sz="1500" dirty="0"/>
          </a:p>
        </p:txBody>
      </p:sp>
      <p:sp>
        <p:nvSpPr>
          <p:cNvPr id="11" name="Text 8"/>
          <p:cNvSpPr/>
          <p:nvPr/>
        </p:nvSpPr>
        <p:spPr>
          <a:xfrm>
            <a:off x="841248" y="2816352"/>
            <a:ext cx="4754880" cy="274320"/>
          </a:xfrm>
          <a:prstGeom prst="rect">
            <a:avLst/>
          </a:prstGeom>
          <a:noFill/>
          <a:ln/>
        </p:spPr>
        <p:txBody>
          <a:bodyPr wrap="square" lIns="0" tIns="0" rIns="0" bIns="0" rtlCol="0" anchor="ctr"/>
          <a:lstStyle/>
          <a:p>
            <a:pPr indent="0" marL="0">
              <a:buNone/>
            </a:pPr>
            <a:r>
              <a:rPr lang="en-US" sz="1150" i="1" dirty="0">
                <a:solidFill>
                  <a:srgbClr val="C2410C"/>
                </a:solidFill>
                <a:latin typeface="Calibri" pitchFamily="34" charset="0"/>
                <a:ea typeface="Calibri" pitchFamily="34" charset="-122"/>
                <a:cs typeface="Calibri" pitchFamily="34" charset="-120"/>
              </a:rPr>
              <a:t>most people choose B</a:t>
            </a:r>
            <a:endParaRPr lang="en-US" sz="1150" dirty="0"/>
          </a:p>
        </p:txBody>
      </p:sp>
      <p:sp>
        <p:nvSpPr>
          <p:cNvPr id="12" name="Shape 9"/>
          <p:cNvSpPr/>
          <p:nvPr/>
        </p:nvSpPr>
        <p:spPr>
          <a:xfrm>
            <a:off x="6144768" y="1444752"/>
            <a:ext cx="5303520" cy="1691640"/>
          </a:xfrm>
          <a:prstGeom prst="roundRect">
            <a:avLst>
              <a:gd name="adj" fmla="val 3784"/>
            </a:avLst>
          </a:prstGeom>
          <a:solidFill>
            <a:srgbClr val="F1F2F5"/>
          </a:solidFill>
          <a:ln w="12700">
            <a:solidFill>
              <a:srgbClr val="F1F2F5"/>
            </a:solidFill>
            <a:prstDash val="solid"/>
          </a:ln>
        </p:spPr>
      </p:sp>
      <p:sp>
        <p:nvSpPr>
          <p:cNvPr id="13" name="Text 10"/>
          <p:cNvSpPr/>
          <p:nvPr/>
        </p:nvSpPr>
        <p:spPr>
          <a:xfrm>
            <a:off x="6419088" y="1572768"/>
            <a:ext cx="4754880" cy="292608"/>
          </a:xfrm>
          <a:prstGeom prst="rect">
            <a:avLst/>
          </a:prstGeom>
          <a:noFill/>
          <a:ln/>
        </p:spPr>
        <p:txBody>
          <a:bodyPr wrap="square" lIns="0" tIns="0" rIns="0" bIns="0" rtlCol="0" anchor="ctr"/>
          <a:lstStyle/>
          <a:p>
            <a:pPr indent="0" marL="0">
              <a:buNone/>
            </a:pPr>
            <a:r>
              <a:rPr lang="en-US" sz="1300" b="1" spc="100" kern="0" dirty="0">
                <a:solidFill>
                  <a:srgbClr val="8A8F9C"/>
                </a:solidFill>
                <a:latin typeface="Calibri" pitchFamily="34" charset="0"/>
                <a:ea typeface="Calibri" pitchFamily="34" charset="-122"/>
                <a:cs typeface="Calibri" pitchFamily="34" charset="-120"/>
              </a:rPr>
              <a:t>Choice 2</a:t>
            </a:r>
            <a:endParaRPr lang="en-US" sz="1300" dirty="0"/>
          </a:p>
        </p:txBody>
      </p:sp>
      <p:sp>
        <p:nvSpPr>
          <p:cNvPr id="14" name="Text 11"/>
          <p:cNvSpPr/>
          <p:nvPr/>
        </p:nvSpPr>
        <p:spPr>
          <a:xfrm>
            <a:off x="6419088" y="1938528"/>
            <a:ext cx="4773168" cy="402336"/>
          </a:xfrm>
          <a:prstGeom prst="rect">
            <a:avLst/>
          </a:prstGeom>
          <a:noFill/>
          <a:ln/>
        </p:spPr>
        <p:txBody>
          <a:bodyPr wrap="square" lIns="0" tIns="0" rIns="0" bIns="0" rtlCol="0" anchor="ctr"/>
          <a:lstStyle/>
          <a:p>
            <a:pPr indent="0" marL="0">
              <a:buNone/>
            </a:pPr>
            <a:r>
              <a:rPr lang="en-US" sz="1500" b="1" dirty="0">
                <a:solidFill>
                  <a:srgbClr val="1D4E63"/>
                </a:solidFill>
                <a:latin typeface="Calibri" pitchFamily="34" charset="0"/>
                <a:ea typeface="Calibri" pitchFamily="34" charset="-122"/>
                <a:cs typeface="Calibri" pitchFamily="34" charset="-120"/>
              </a:rPr>
              <a:t>C:  20% chance of $4,000</a:t>
            </a:r>
            <a:endParaRPr lang="en-US" sz="1500" dirty="0"/>
          </a:p>
        </p:txBody>
      </p:sp>
      <p:sp>
        <p:nvSpPr>
          <p:cNvPr id="15" name="Text 12"/>
          <p:cNvSpPr/>
          <p:nvPr/>
        </p:nvSpPr>
        <p:spPr>
          <a:xfrm>
            <a:off x="6419088" y="2395728"/>
            <a:ext cx="4773168" cy="402336"/>
          </a:xfrm>
          <a:prstGeom prst="rect">
            <a:avLst/>
          </a:prstGeom>
          <a:noFill/>
          <a:ln/>
        </p:spPr>
        <p:txBody>
          <a:bodyPr wrap="square" lIns="0" tIns="0" rIns="0" bIns="0" rtlCol="0" anchor="ctr"/>
          <a:lstStyle/>
          <a:p>
            <a:pPr indent="0" marL="0">
              <a:buNone/>
            </a:pPr>
            <a:r>
              <a:rPr lang="en-US" sz="1500" dirty="0">
                <a:solidFill>
                  <a:srgbClr val="3A3F4C"/>
                </a:solidFill>
                <a:latin typeface="Calibri" pitchFamily="34" charset="0"/>
                <a:ea typeface="Calibri" pitchFamily="34" charset="-122"/>
                <a:cs typeface="Calibri" pitchFamily="34" charset="-120"/>
              </a:rPr>
              <a:t>D:  25% chance of $3,000</a:t>
            </a:r>
            <a:endParaRPr lang="en-US" sz="1500" dirty="0"/>
          </a:p>
        </p:txBody>
      </p:sp>
      <p:sp>
        <p:nvSpPr>
          <p:cNvPr id="16" name="Text 13"/>
          <p:cNvSpPr/>
          <p:nvPr/>
        </p:nvSpPr>
        <p:spPr>
          <a:xfrm>
            <a:off x="6419088" y="2816352"/>
            <a:ext cx="4754880" cy="274320"/>
          </a:xfrm>
          <a:prstGeom prst="rect">
            <a:avLst/>
          </a:prstGeom>
          <a:noFill/>
          <a:ln/>
        </p:spPr>
        <p:txBody>
          <a:bodyPr wrap="square" lIns="0" tIns="0" rIns="0" bIns="0" rtlCol="0" anchor="ctr"/>
          <a:lstStyle/>
          <a:p>
            <a:pPr indent="0" marL="0">
              <a:buNone/>
            </a:pPr>
            <a:r>
              <a:rPr lang="en-US" sz="1150" i="1" dirty="0">
                <a:solidFill>
                  <a:srgbClr val="1D4E63"/>
                </a:solidFill>
                <a:latin typeface="Calibri" pitchFamily="34" charset="0"/>
                <a:ea typeface="Calibri" pitchFamily="34" charset="-122"/>
                <a:cs typeface="Calibri" pitchFamily="34" charset="-120"/>
              </a:rPr>
              <a:t>most people choose C</a:t>
            </a:r>
            <a:endParaRPr lang="en-US" sz="1150" dirty="0"/>
          </a:p>
        </p:txBody>
      </p:sp>
      <p:sp>
        <p:nvSpPr>
          <p:cNvPr id="17" name="Shape 14"/>
          <p:cNvSpPr/>
          <p:nvPr/>
        </p:nvSpPr>
        <p:spPr>
          <a:xfrm>
            <a:off x="566928" y="3291840"/>
            <a:ext cx="11064240" cy="1417320"/>
          </a:xfrm>
          <a:prstGeom prst="roundRect">
            <a:avLst>
              <a:gd name="adj" fmla="val 4516"/>
            </a:avLst>
          </a:prstGeom>
          <a:solidFill>
            <a:srgbClr val="1C1F2A"/>
          </a:solidFill>
          <a:ln w="12700">
            <a:solidFill>
              <a:srgbClr val="1C1F2A"/>
            </a:solidFill>
            <a:prstDash val="solid"/>
          </a:ln>
        </p:spPr>
      </p:sp>
      <p:sp>
        <p:nvSpPr>
          <p:cNvPr id="18" name="Text 15"/>
          <p:cNvSpPr/>
          <p:nvPr/>
        </p:nvSpPr>
        <p:spPr>
          <a:xfrm>
            <a:off x="914400" y="3419856"/>
            <a:ext cx="5486400" cy="292608"/>
          </a:xfrm>
          <a:prstGeom prst="rect">
            <a:avLst/>
          </a:prstGeom>
          <a:noFill/>
          <a:ln/>
        </p:spPr>
        <p:txBody>
          <a:bodyPr wrap="square" lIns="0" tIns="0" rIns="0" bIns="0" rtlCol="0" anchor="ctr"/>
          <a:lstStyle/>
          <a:p>
            <a:pPr indent="0" marL="0">
              <a:buNone/>
            </a:pPr>
            <a:r>
              <a:rPr lang="en-US" sz="1250" i="1" dirty="0">
                <a:solidFill>
                  <a:srgbClr val="9AA2B4"/>
                </a:solidFill>
                <a:latin typeface="Calibri" pitchFamily="34" charset="0"/>
                <a:ea typeface="Calibri" pitchFamily="34" charset="-122"/>
                <a:cs typeface="Calibri" pitchFamily="34" charset="-120"/>
              </a:rPr>
              <a:t>Setting U($0) = 0, which Equation 16.2 permits:</a:t>
            </a:r>
            <a:endParaRPr lang="en-US" sz="1250" dirty="0"/>
          </a:p>
        </p:txBody>
      </p:sp>
      <p:sp>
        <p:nvSpPr>
          <p:cNvPr id="19" name="Text 16"/>
          <p:cNvSpPr/>
          <p:nvPr/>
        </p:nvSpPr>
        <p:spPr>
          <a:xfrm>
            <a:off x="914400" y="3749040"/>
            <a:ext cx="5029200" cy="384048"/>
          </a:xfrm>
          <a:prstGeom prst="rect">
            <a:avLst/>
          </a:prstGeom>
          <a:noFill/>
          <a:ln/>
        </p:spPr>
        <p:txBody>
          <a:bodyPr wrap="square" lIns="0" tIns="0" rIns="0" bIns="0" rtlCol="0" anchor="ctr"/>
          <a:lstStyle/>
          <a:p>
            <a:pPr indent="0" marL="0">
              <a:buNone/>
            </a:pPr>
            <a:r>
              <a:rPr lang="en-US" sz="1500" b="1" dirty="0">
                <a:solidFill>
                  <a:srgbClr val="F0A177"/>
                </a:solidFill>
                <a:latin typeface="Calibri" pitchFamily="34" charset="0"/>
                <a:ea typeface="Calibri" pitchFamily="34" charset="-122"/>
                <a:cs typeface="Calibri" pitchFamily="34" charset="-120"/>
              </a:rPr>
              <a:t>B ≻ A   implies   U($3000)  &gt;  0.8 U($4000)</a:t>
            </a:r>
            <a:endParaRPr lang="en-US" sz="1500" dirty="0"/>
          </a:p>
        </p:txBody>
      </p:sp>
      <p:sp>
        <p:nvSpPr>
          <p:cNvPr id="20" name="Text 17"/>
          <p:cNvSpPr/>
          <p:nvPr/>
        </p:nvSpPr>
        <p:spPr>
          <a:xfrm>
            <a:off x="6217920" y="3749040"/>
            <a:ext cx="5029200" cy="384048"/>
          </a:xfrm>
          <a:prstGeom prst="rect">
            <a:avLst/>
          </a:prstGeom>
          <a:noFill/>
          <a:ln/>
        </p:spPr>
        <p:txBody>
          <a:bodyPr wrap="square" lIns="0" tIns="0" rIns="0" bIns="0" rtlCol="0" anchor="ctr"/>
          <a:lstStyle/>
          <a:p>
            <a:pPr indent="0" marL="0">
              <a:buNone/>
            </a:pPr>
            <a:r>
              <a:rPr lang="en-US" sz="1500" b="1" dirty="0">
                <a:solidFill>
                  <a:srgbClr val="7FB6CE"/>
                </a:solidFill>
                <a:latin typeface="Calibri" pitchFamily="34" charset="0"/>
                <a:ea typeface="Calibri" pitchFamily="34" charset="-122"/>
                <a:cs typeface="Calibri" pitchFamily="34" charset="-120"/>
              </a:rPr>
              <a:t>C ≻ D   implies   0.8 U($4000)  &gt;  U($3000)</a:t>
            </a:r>
            <a:endParaRPr lang="en-US" sz="1500" dirty="0"/>
          </a:p>
        </p:txBody>
      </p:sp>
      <p:sp>
        <p:nvSpPr>
          <p:cNvPr id="21" name="Text 18"/>
          <p:cNvSpPr/>
          <p:nvPr/>
        </p:nvSpPr>
        <p:spPr>
          <a:xfrm>
            <a:off x="914400" y="4206240"/>
            <a:ext cx="10332720" cy="384048"/>
          </a:xfrm>
          <a:prstGeom prst="rect">
            <a:avLst/>
          </a:prstGeom>
          <a:noFill/>
          <a:ln/>
        </p:spPr>
        <p:txBody>
          <a:bodyPr wrap="square" lIns="0" tIns="0" rIns="0" bIns="0" rtlCol="0" anchor="ctr"/>
          <a:lstStyle/>
          <a:p>
            <a:pPr indent="0" marL="0">
              <a:buNone/>
            </a:pPr>
            <a:r>
              <a:rPr lang="en-US" sz="1400" b="1" dirty="0">
                <a:solidFill>
                  <a:srgbClr val="B58500"/>
                </a:solidFill>
                <a:latin typeface="Calibri" pitchFamily="34" charset="0"/>
                <a:ea typeface="Calibri" pitchFamily="34" charset="-122"/>
                <a:cs typeface="Calibri" pitchFamily="34" charset="-120"/>
              </a:rPr>
              <a:t>The two inequalities contradict each other. No utility function is consistent with both preferences.</a:t>
            </a:r>
            <a:endParaRPr lang="en-US" sz="1400" dirty="0"/>
          </a:p>
        </p:txBody>
      </p:sp>
      <p:sp>
        <p:nvSpPr>
          <p:cNvPr id="22" name="Shape 19"/>
          <p:cNvSpPr/>
          <p:nvPr/>
        </p:nvSpPr>
        <p:spPr>
          <a:xfrm>
            <a:off x="566928" y="4846320"/>
            <a:ext cx="3493008" cy="1280160"/>
          </a:xfrm>
          <a:prstGeom prst="roundRect">
            <a:avLst>
              <a:gd name="adj" fmla="val 5000"/>
            </a:avLst>
          </a:prstGeom>
          <a:solidFill>
            <a:srgbClr val="F1F2F5"/>
          </a:solidFill>
          <a:ln w="12700">
            <a:solidFill>
              <a:srgbClr val="F1F2F5"/>
            </a:solidFill>
            <a:prstDash val="solid"/>
          </a:ln>
        </p:spPr>
      </p:sp>
      <p:sp>
        <p:nvSpPr>
          <p:cNvPr id="23" name="Text 20"/>
          <p:cNvSpPr/>
          <p:nvPr/>
        </p:nvSpPr>
        <p:spPr>
          <a:xfrm>
            <a:off x="804672" y="4956048"/>
            <a:ext cx="3017520" cy="274320"/>
          </a:xfrm>
          <a:prstGeom prst="rect">
            <a:avLst/>
          </a:prstGeom>
          <a:noFill/>
          <a:ln/>
        </p:spPr>
        <p:txBody>
          <a:bodyPr wrap="square" lIns="0" tIns="0" rIns="0" bIns="0" rtlCol="0" anchor="ctr"/>
          <a:lstStyle/>
          <a:p>
            <a:pPr indent="0" marL="0">
              <a:buNone/>
            </a:pPr>
            <a:r>
              <a:rPr lang="en-US" sz="1280" b="1" dirty="0">
                <a:solidFill>
                  <a:srgbClr val="C2410C"/>
                </a:solidFill>
                <a:latin typeface="Cambria" pitchFamily="34" charset="0"/>
                <a:ea typeface="Cambria" pitchFamily="34" charset="-122"/>
                <a:cs typeface="Cambria" pitchFamily="34" charset="-120"/>
              </a:rPr>
              <a:t>Certainty effect</a:t>
            </a:r>
            <a:endParaRPr lang="en-US" sz="1280" dirty="0"/>
          </a:p>
        </p:txBody>
      </p:sp>
      <p:sp>
        <p:nvSpPr>
          <p:cNvPr id="24" name="Text 21"/>
          <p:cNvSpPr/>
          <p:nvPr/>
        </p:nvSpPr>
        <p:spPr>
          <a:xfrm>
            <a:off x="804672" y="5230368"/>
            <a:ext cx="3054096" cy="841248"/>
          </a:xfrm>
          <a:prstGeom prst="rect">
            <a:avLst/>
          </a:prstGeom>
          <a:noFill/>
          <a:ln/>
        </p:spPr>
        <p:txBody>
          <a:bodyPr wrap="square" lIns="0" tIns="0" rIns="0" bIns="0" rtlCol="0" anchor="t"/>
          <a:lstStyle/>
          <a:p>
            <a:pPr indent="0" marL="0">
              <a:buNone/>
            </a:pPr>
            <a:r>
              <a:rPr lang="en-US" sz="1120" dirty="0">
                <a:solidFill>
                  <a:srgbClr val="3A3F4C"/>
                </a:solidFill>
                <a:latin typeface="Calibri" pitchFamily="34" charset="0"/>
                <a:ea typeface="Calibri" pitchFamily="34" charset="-122"/>
                <a:cs typeface="Calibri" pitchFamily="34" charset="-120"/>
              </a:rPr>
              <a:t>People are strongly drawn to gains that are certain. The effect persists even when the arithmetic is trivial, so it is not merely computational laziness.</a:t>
            </a:r>
            <a:endParaRPr lang="en-US" sz="1120" dirty="0"/>
          </a:p>
        </p:txBody>
      </p:sp>
      <p:sp>
        <p:nvSpPr>
          <p:cNvPr id="25" name="Shape 22"/>
          <p:cNvSpPr/>
          <p:nvPr/>
        </p:nvSpPr>
        <p:spPr>
          <a:xfrm>
            <a:off x="4297680" y="4846320"/>
            <a:ext cx="3493008" cy="1280160"/>
          </a:xfrm>
          <a:prstGeom prst="roundRect">
            <a:avLst>
              <a:gd name="adj" fmla="val 5000"/>
            </a:avLst>
          </a:prstGeom>
          <a:solidFill>
            <a:srgbClr val="F1F2F5"/>
          </a:solidFill>
          <a:ln w="12700">
            <a:solidFill>
              <a:srgbClr val="F1F2F5"/>
            </a:solidFill>
            <a:prstDash val="solid"/>
          </a:ln>
        </p:spPr>
      </p:sp>
      <p:sp>
        <p:nvSpPr>
          <p:cNvPr id="26" name="Text 23"/>
          <p:cNvSpPr/>
          <p:nvPr/>
        </p:nvSpPr>
        <p:spPr>
          <a:xfrm>
            <a:off x="4535424" y="4956048"/>
            <a:ext cx="3017520" cy="274320"/>
          </a:xfrm>
          <a:prstGeom prst="rect">
            <a:avLst/>
          </a:prstGeom>
          <a:noFill/>
          <a:ln/>
        </p:spPr>
        <p:txBody>
          <a:bodyPr wrap="square" lIns="0" tIns="0" rIns="0" bIns="0" rtlCol="0" anchor="ctr"/>
          <a:lstStyle/>
          <a:p>
            <a:pPr indent="0" marL="0">
              <a:buNone/>
            </a:pPr>
            <a:r>
              <a:rPr lang="en-US" sz="1280" b="1" dirty="0">
                <a:solidFill>
                  <a:srgbClr val="1D4E63"/>
                </a:solidFill>
                <a:latin typeface="Cambria" pitchFamily="34" charset="0"/>
                <a:ea typeface="Cambria" pitchFamily="34" charset="-122"/>
                <a:cs typeface="Cambria" pitchFamily="34" charset="-120"/>
              </a:rPr>
              <a:t>Distrust of stated probabilities</a:t>
            </a:r>
            <a:endParaRPr lang="en-US" sz="1280" dirty="0"/>
          </a:p>
        </p:txBody>
      </p:sp>
      <p:sp>
        <p:nvSpPr>
          <p:cNvPr id="27" name="Text 24"/>
          <p:cNvSpPr/>
          <p:nvPr/>
        </p:nvSpPr>
        <p:spPr>
          <a:xfrm>
            <a:off x="4535424" y="5230368"/>
            <a:ext cx="3054096" cy="841248"/>
          </a:xfrm>
          <a:prstGeom prst="rect">
            <a:avLst/>
          </a:prstGeom>
          <a:noFill/>
          <a:ln/>
        </p:spPr>
        <p:txBody>
          <a:bodyPr wrap="square" lIns="0" tIns="0" rIns="0" bIns="0" rtlCol="0" anchor="t"/>
          <a:lstStyle/>
          <a:p>
            <a:pPr indent="0" marL="0">
              <a:buNone/>
            </a:pPr>
            <a:r>
              <a:rPr lang="en-US" sz="1120" dirty="0">
                <a:solidFill>
                  <a:srgbClr val="3A3F4C"/>
                </a:solidFill>
                <a:latin typeface="Calibri" pitchFamily="34" charset="0"/>
                <a:ea typeface="Calibri" pitchFamily="34" charset="-122"/>
                <a:cs typeface="Calibri" pitchFamily="34" charset="-120"/>
              </a:rPr>
              <a:t>A coin you flip yourself is 50/50. A coin flipped by someone with a stake in the outcome may not be. Under distrust, the sure thing is defensible.</a:t>
            </a:r>
            <a:endParaRPr lang="en-US" sz="1120" dirty="0"/>
          </a:p>
        </p:txBody>
      </p:sp>
      <p:sp>
        <p:nvSpPr>
          <p:cNvPr id="28" name="Shape 25"/>
          <p:cNvSpPr/>
          <p:nvPr/>
        </p:nvSpPr>
        <p:spPr>
          <a:xfrm>
            <a:off x="8028432" y="4846320"/>
            <a:ext cx="3493008" cy="1280160"/>
          </a:xfrm>
          <a:prstGeom prst="roundRect">
            <a:avLst>
              <a:gd name="adj" fmla="val 5000"/>
            </a:avLst>
          </a:prstGeom>
          <a:solidFill>
            <a:srgbClr val="F1F2F5"/>
          </a:solidFill>
          <a:ln w="12700">
            <a:solidFill>
              <a:srgbClr val="F1F2F5"/>
            </a:solidFill>
            <a:prstDash val="solid"/>
          </a:ln>
        </p:spPr>
      </p:sp>
      <p:sp>
        <p:nvSpPr>
          <p:cNvPr id="29" name="Text 26"/>
          <p:cNvSpPr/>
          <p:nvPr/>
        </p:nvSpPr>
        <p:spPr>
          <a:xfrm>
            <a:off x="8266176" y="4956048"/>
            <a:ext cx="3017520" cy="274320"/>
          </a:xfrm>
          <a:prstGeom prst="rect">
            <a:avLst/>
          </a:prstGeom>
          <a:noFill/>
          <a:ln/>
        </p:spPr>
        <p:txBody>
          <a:bodyPr wrap="square" lIns="0" tIns="0" rIns="0" bIns="0" rtlCol="0" anchor="ctr"/>
          <a:lstStyle/>
          <a:p>
            <a:pPr indent="0" marL="0">
              <a:buNone/>
            </a:pPr>
            <a:r>
              <a:rPr lang="en-US" sz="1280" b="1" dirty="0">
                <a:solidFill>
                  <a:srgbClr val="6B4E8F"/>
                </a:solidFill>
                <a:latin typeface="Cambria" pitchFamily="34" charset="0"/>
                <a:ea typeface="Cambria" pitchFamily="34" charset="-122"/>
                <a:cs typeface="Cambria" pitchFamily="34" charset="-120"/>
              </a:rPr>
              <a:t>Regret is part of the outcome</a:t>
            </a:r>
            <a:endParaRPr lang="en-US" sz="1280" dirty="0"/>
          </a:p>
        </p:txBody>
      </p:sp>
      <p:sp>
        <p:nvSpPr>
          <p:cNvPr id="30" name="Text 27"/>
          <p:cNvSpPr/>
          <p:nvPr/>
        </p:nvSpPr>
        <p:spPr>
          <a:xfrm>
            <a:off x="8266176" y="5230368"/>
            <a:ext cx="3054096" cy="841248"/>
          </a:xfrm>
          <a:prstGeom prst="rect">
            <a:avLst/>
          </a:prstGeom>
          <a:noFill/>
          <a:ln/>
        </p:spPr>
        <p:txBody>
          <a:bodyPr wrap="square" lIns="0" tIns="0" rIns="0" bIns="0" rtlCol="0" anchor="t"/>
          <a:lstStyle/>
          <a:p>
            <a:pPr indent="0" marL="0">
              <a:buNone/>
            </a:pPr>
            <a:r>
              <a:rPr lang="en-US" sz="1120" dirty="0">
                <a:solidFill>
                  <a:srgbClr val="3A3F4C"/>
                </a:solidFill>
                <a:latin typeface="Calibri" pitchFamily="34" charset="0"/>
                <a:ea typeface="Calibri" pitchFamily="34" charset="-122"/>
                <a:cs typeface="Calibri" pitchFamily="34" charset="-120"/>
              </a:rPr>
              <a:t>Choosing A and getting nothing costs the money and the feeling of having passed up a sure $3,000. Include that in U($0) under choice A and the contradiction dissolves. The people were not irrational; the outcome model was incomplete.</a:t>
            </a:r>
            <a:endParaRPr lang="en-US" sz="112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MORE WAYS PREFERENCES MISBEHAVE</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Ambiguity, framing, and anchoring</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55</a:t>
            </a:r>
            <a:endParaRPr lang="en-US" sz="900" dirty="0"/>
          </a:p>
        </p:txBody>
      </p:sp>
      <p:sp>
        <p:nvSpPr>
          <p:cNvPr id="7" name="Shape 4"/>
          <p:cNvSpPr/>
          <p:nvPr/>
        </p:nvSpPr>
        <p:spPr>
          <a:xfrm>
            <a:off x="566928" y="1463040"/>
            <a:ext cx="11064240" cy="1261872"/>
          </a:xfrm>
          <a:prstGeom prst="roundRect">
            <a:avLst>
              <a:gd name="adj" fmla="val 5072"/>
            </a:avLst>
          </a:prstGeom>
          <a:solidFill>
            <a:srgbClr val="F1F2F5"/>
          </a:solidFill>
          <a:ln w="12700">
            <a:solidFill>
              <a:srgbClr val="F1F2F5"/>
            </a:solidFill>
            <a:prstDash val="solid"/>
          </a:ln>
        </p:spPr>
      </p:sp>
      <p:sp>
        <p:nvSpPr>
          <p:cNvPr id="8" name="Text 5"/>
          <p:cNvSpPr/>
          <p:nvPr/>
        </p:nvSpPr>
        <p:spPr>
          <a:xfrm>
            <a:off x="841248" y="1627632"/>
            <a:ext cx="2834640" cy="329184"/>
          </a:xfrm>
          <a:prstGeom prst="rect">
            <a:avLst/>
          </a:prstGeom>
          <a:noFill/>
          <a:ln/>
        </p:spPr>
        <p:txBody>
          <a:bodyPr wrap="square" lIns="0" tIns="0" rIns="0" bIns="0" rtlCol="0" anchor="ctr"/>
          <a:lstStyle/>
          <a:p>
            <a:pPr indent="0" marL="0">
              <a:buNone/>
            </a:pPr>
            <a:r>
              <a:rPr lang="en-US" sz="1500" b="1" dirty="0">
                <a:solidFill>
                  <a:srgbClr val="C2410C"/>
                </a:solidFill>
                <a:latin typeface="Cambria" pitchFamily="34" charset="0"/>
                <a:ea typeface="Cambria" pitchFamily="34" charset="-122"/>
                <a:cs typeface="Cambria" pitchFamily="34" charset="-120"/>
              </a:rPr>
              <a:t>Ellsberg paradox</a:t>
            </a:r>
            <a:endParaRPr lang="en-US" sz="1500" dirty="0"/>
          </a:p>
        </p:txBody>
      </p:sp>
      <p:sp>
        <p:nvSpPr>
          <p:cNvPr id="9" name="Text 6"/>
          <p:cNvSpPr/>
          <p:nvPr/>
        </p:nvSpPr>
        <p:spPr>
          <a:xfrm>
            <a:off x="841248" y="1993392"/>
            <a:ext cx="2834640" cy="548640"/>
          </a:xfrm>
          <a:prstGeom prst="rect">
            <a:avLst/>
          </a:prstGeom>
          <a:noFill/>
          <a:ln/>
        </p:spPr>
        <p:txBody>
          <a:bodyPr wrap="square" lIns="0" tIns="0" rIns="0" bIns="0" rtlCol="0" anchor="t"/>
          <a:lstStyle/>
          <a:p>
            <a:pPr indent="0" marL="0">
              <a:buNone/>
            </a:pPr>
            <a:r>
              <a:rPr lang="en-US" sz="1180" i="1" dirty="0">
                <a:solidFill>
                  <a:srgbClr val="3A3F4C"/>
                </a:solidFill>
                <a:latin typeface="Calibri" pitchFamily="34" charset="0"/>
                <a:ea typeface="Calibri" pitchFamily="34" charset="-122"/>
                <a:cs typeface="Calibri" pitchFamily="34" charset="-120"/>
              </a:rPr>
              <a:t>Ambiguity aversion</a:t>
            </a:r>
            <a:endParaRPr lang="en-US" sz="1180" dirty="0"/>
          </a:p>
        </p:txBody>
      </p:sp>
      <p:sp>
        <p:nvSpPr>
          <p:cNvPr id="10" name="Text 7"/>
          <p:cNvSpPr/>
          <p:nvPr/>
        </p:nvSpPr>
        <p:spPr>
          <a:xfrm>
            <a:off x="3931920" y="1572768"/>
            <a:ext cx="7406640" cy="1051560"/>
          </a:xfrm>
          <a:prstGeom prst="rect">
            <a:avLst/>
          </a:prstGeom>
          <a:noFill/>
          <a:ln/>
        </p:spPr>
        <p:txBody>
          <a:bodyPr wrap="square" lIns="0" tIns="0" rIns="0" bIns="0" rtlCol="0" anchor="ctr"/>
          <a:lstStyle/>
          <a:p>
            <a:pPr indent="0" marL="0">
              <a:buNone/>
            </a:pPr>
            <a:r>
              <a:rPr lang="en-US" sz="1250" dirty="0">
                <a:solidFill>
                  <a:srgbClr val="3A3F4C"/>
                </a:solidFill>
                <a:latin typeface="Calibri" pitchFamily="34" charset="0"/>
                <a:ea typeface="Calibri" pitchFamily="34" charset="-122"/>
                <a:cs typeface="Calibri" pitchFamily="34" charset="-120"/>
              </a:rPr>
              <a:t>An urn holds one third red balls; the rest are black or yellow in unknown proportion. $100 for red (A) or for black (B); $100 for red-or-yellow (C) or for black-or-yellow (D). Most people prefer A to B and D to C, which no state of the world makes rational. They elect the known probability over the unknown.</a:t>
            </a:r>
            <a:endParaRPr lang="en-US" sz="1250" dirty="0"/>
          </a:p>
        </p:txBody>
      </p:sp>
      <p:sp>
        <p:nvSpPr>
          <p:cNvPr id="11" name="Shape 8"/>
          <p:cNvSpPr/>
          <p:nvPr/>
        </p:nvSpPr>
        <p:spPr>
          <a:xfrm>
            <a:off x="566928" y="2880360"/>
            <a:ext cx="11064240" cy="1261872"/>
          </a:xfrm>
          <a:prstGeom prst="roundRect">
            <a:avLst>
              <a:gd name="adj" fmla="val 5072"/>
            </a:avLst>
          </a:prstGeom>
          <a:solidFill>
            <a:srgbClr val="F1F2F5"/>
          </a:solidFill>
          <a:ln w="12700">
            <a:solidFill>
              <a:srgbClr val="F1F2F5"/>
            </a:solidFill>
            <a:prstDash val="solid"/>
          </a:ln>
        </p:spPr>
      </p:sp>
      <p:sp>
        <p:nvSpPr>
          <p:cNvPr id="12" name="Text 9"/>
          <p:cNvSpPr/>
          <p:nvPr/>
        </p:nvSpPr>
        <p:spPr>
          <a:xfrm>
            <a:off x="841248" y="3044952"/>
            <a:ext cx="2834640" cy="329184"/>
          </a:xfrm>
          <a:prstGeom prst="rect">
            <a:avLst/>
          </a:prstGeom>
          <a:noFill/>
          <a:ln/>
        </p:spPr>
        <p:txBody>
          <a:bodyPr wrap="square" lIns="0" tIns="0" rIns="0" bIns="0" rtlCol="0" anchor="ctr"/>
          <a:lstStyle/>
          <a:p>
            <a:pPr indent="0" marL="0">
              <a:buNone/>
            </a:pPr>
            <a:r>
              <a:rPr lang="en-US" sz="1500" b="1" dirty="0">
                <a:solidFill>
                  <a:srgbClr val="1D4E63"/>
                </a:solidFill>
                <a:latin typeface="Cambria" pitchFamily="34" charset="0"/>
                <a:ea typeface="Cambria" pitchFamily="34" charset="-122"/>
                <a:cs typeface="Cambria" pitchFamily="34" charset="-120"/>
              </a:rPr>
              <a:t>Framing effect</a:t>
            </a:r>
            <a:endParaRPr lang="en-US" sz="1500" dirty="0"/>
          </a:p>
        </p:txBody>
      </p:sp>
      <p:sp>
        <p:nvSpPr>
          <p:cNvPr id="13" name="Text 10"/>
          <p:cNvSpPr/>
          <p:nvPr/>
        </p:nvSpPr>
        <p:spPr>
          <a:xfrm>
            <a:off x="841248" y="3410712"/>
            <a:ext cx="2834640" cy="548640"/>
          </a:xfrm>
          <a:prstGeom prst="rect">
            <a:avLst/>
          </a:prstGeom>
          <a:noFill/>
          <a:ln/>
        </p:spPr>
        <p:txBody>
          <a:bodyPr wrap="square" lIns="0" tIns="0" rIns="0" bIns="0" rtlCol="0" anchor="t"/>
          <a:lstStyle/>
          <a:p>
            <a:pPr indent="0" marL="0">
              <a:buNone/>
            </a:pPr>
            <a:r>
              <a:rPr lang="en-US" sz="1180" i="1" dirty="0">
                <a:solidFill>
                  <a:srgbClr val="3A3F4C"/>
                </a:solidFill>
                <a:latin typeface="Calibri" pitchFamily="34" charset="0"/>
                <a:ea typeface="Calibri" pitchFamily="34" charset="-122"/>
                <a:cs typeface="Calibri" pitchFamily="34" charset="-120"/>
              </a:rPr>
              <a:t>Identical facts, opposite choices</a:t>
            </a:r>
            <a:endParaRPr lang="en-US" sz="1180" dirty="0"/>
          </a:p>
        </p:txBody>
      </p:sp>
      <p:sp>
        <p:nvSpPr>
          <p:cNvPr id="14" name="Text 11"/>
          <p:cNvSpPr/>
          <p:nvPr/>
        </p:nvSpPr>
        <p:spPr>
          <a:xfrm>
            <a:off x="3931920" y="2990088"/>
            <a:ext cx="7406640" cy="1051560"/>
          </a:xfrm>
          <a:prstGeom prst="rect">
            <a:avLst/>
          </a:prstGeom>
          <a:noFill/>
          <a:ln/>
        </p:spPr>
        <p:txBody>
          <a:bodyPr wrap="square" lIns="0" tIns="0" rIns="0" bIns="0" rtlCol="0" anchor="ctr"/>
          <a:lstStyle/>
          <a:p>
            <a:pPr indent="0" marL="0">
              <a:buNone/>
            </a:pPr>
            <a:r>
              <a:rPr lang="en-US" sz="1250" dirty="0">
                <a:solidFill>
                  <a:srgbClr val="3A3F4C"/>
                </a:solidFill>
                <a:latin typeface="Calibri" pitchFamily="34" charset="0"/>
                <a:ea typeface="Calibri" pitchFamily="34" charset="-122"/>
                <a:cs typeface="Calibri" pitchFamily="34" charset="-120"/>
              </a:rPr>
              <a:t>A procedure described as having a 90 percent survival rate is liked about twice as much as one described as having a 10 percent death rate. The two statements mean exactly the same thing. This holds for clinic patients, business school students and experienced doctors alike.</a:t>
            </a:r>
            <a:endParaRPr lang="en-US" sz="1250" dirty="0"/>
          </a:p>
        </p:txBody>
      </p:sp>
      <p:sp>
        <p:nvSpPr>
          <p:cNvPr id="15" name="Shape 12"/>
          <p:cNvSpPr/>
          <p:nvPr/>
        </p:nvSpPr>
        <p:spPr>
          <a:xfrm>
            <a:off x="566928" y="4297680"/>
            <a:ext cx="11064240" cy="1261872"/>
          </a:xfrm>
          <a:prstGeom prst="roundRect">
            <a:avLst>
              <a:gd name="adj" fmla="val 5072"/>
            </a:avLst>
          </a:prstGeom>
          <a:solidFill>
            <a:srgbClr val="F1F2F5"/>
          </a:solidFill>
          <a:ln w="12700">
            <a:solidFill>
              <a:srgbClr val="F1F2F5"/>
            </a:solidFill>
            <a:prstDash val="solid"/>
          </a:ln>
        </p:spPr>
      </p:sp>
      <p:sp>
        <p:nvSpPr>
          <p:cNvPr id="16" name="Text 13"/>
          <p:cNvSpPr/>
          <p:nvPr/>
        </p:nvSpPr>
        <p:spPr>
          <a:xfrm>
            <a:off x="841248" y="4462272"/>
            <a:ext cx="2834640" cy="329184"/>
          </a:xfrm>
          <a:prstGeom prst="rect">
            <a:avLst/>
          </a:prstGeom>
          <a:noFill/>
          <a:ln/>
        </p:spPr>
        <p:txBody>
          <a:bodyPr wrap="square" lIns="0" tIns="0" rIns="0" bIns="0" rtlCol="0" anchor="ctr"/>
          <a:lstStyle/>
          <a:p>
            <a:pPr indent="0" marL="0">
              <a:buNone/>
            </a:pPr>
            <a:r>
              <a:rPr lang="en-US" sz="1500" b="1" dirty="0">
                <a:solidFill>
                  <a:srgbClr val="6B4E8F"/>
                </a:solidFill>
                <a:latin typeface="Cambria" pitchFamily="34" charset="0"/>
                <a:ea typeface="Cambria" pitchFamily="34" charset="-122"/>
                <a:cs typeface="Cambria" pitchFamily="34" charset="-120"/>
              </a:rPr>
              <a:t>Anchoring effect</a:t>
            </a:r>
            <a:endParaRPr lang="en-US" sz="1500" dirty="0"/>
          </a:p>
        </p:txBody>
      </p:sp>
      <p:sp>
        <p:nvSpPr>
          <p:cNvPr id="17" name="Text 14"/>
          <p:cNvSpPr/>
          <p:nvPr/>
        </p:nvSpPr>
        <p:spPr>
          <a:xfrm>
            <a:off x="841248" y="4828032"/>
            <a:ext cx="2834640" cy="548640"/>
          </a:xfrm>
          <a:prstGeom prst="rect">
            <a:avLst/>
          </a:prstGeom>
          <a:noFill/>
          <a:ln/>
        </p:spPr>
        <p:txBody>
          <a:bodyPr wrap="square" lIns="0" tIns="0" rIns="0" bIns="0" rtlCol="0" anchor="t"/>
          <a:lstStyle/>
          <a:p>
            <a:pPr indent="0" marL="0">
              <a:buNone/>
            </a:pPr>
            <a:r>
              <a:rPr lang="en-US" sz="1180" i="1" dirty="0">
                <a:solidFill>
                  <a:srgbClr val="3A3F4C"/>
                </a:solidFill>
                <a:latin typeface="Calibri" pitchFamily="34" charset="0"/>
                <a:ea typeface="Calibri" pitchFamily="34" charset="-122"/>
                <a:cs typeface="Calibri" pitchFamily="34" charset="-120"/>
              </a:rPr>
              <a:t>Relative rather than absolute judgment</a:t>
            </a:r>
            <a:endParaRPr lang="en-US" sz="1180" dirty="0"/>
          </a:p>
        </p:txBody>
      </p:sp>
      <p:sp>
        <p:nvSpPr>
          <p:cNvPr id="18" name="Text 15"/>
          <p:cNvSpPr/>
          <p:nvPr/>
        </p:nvSpPr>
        <p:spPr>
          <a:xfrm>
            <a:off x="3931920" y="4407408"/>
            <a:ext cx="7406640" cy="1051560"/>
          </a:xfrm>
          <a:prstGeom prst="rect">
            <a:avLst/>
          </a:prstGeom>
          <a:noFill/>
          <a:ln/>
        </p:spPr>
        <p:txBody>
          <a:bodyPr wrap="square" lIns="0" tIns="0" rIns="0" bIns="0" rtlCol="0" anchor="ctr"/>
          <a:lstStyle/>
          <a:p>
            <a:pPr indent="0" marL="0">
              <a:buNone/>
            </a:pPr>
            <a:r>
              <a:rPr lang="en-US" sz="1250" dirty="0">
                <a:solidFill>
                  <a:srgbClr val="3A3F4C"/>
                </a:solidFill>
                <a:latin typeface="Calibri" pitchFamily="34" charset="0"/>
                <a:ea typeface="Calibri" pitchFamily="34" charset="-122"/>
                <a:cs typeface="Calibri" pitchFamily="34" charset="-120"/>
              </a:rPr>
              <a:t>A restaurant offers a $200 bottle nobody will buy. Its function is to skew the customer’s estimate of every other wine upward, making the $55 bottle feel like a bargain. People are more comfortable judging relative value than absolute value.</a:t>
            </a:r>
            <a:endParaRPr lang="en-US" sz="1250" dirty="0"/>
          </a:p>
        </p:txBody>
      </p:sp>
      <p:sp>
        <p:nvSpPr>
          <p:cNvPr id="19" name="Shape 16"/>
          <p:cNvSpPr/>
          <p:nvPr/>
        </p:nvSpPr>
        <p:spPr>
          <a:xfrm>
            <a:off x="566928" y="5742432"/>
            <a:ext cx="11064240" cy="548640"/>
          </a:xfrm>
          <a:prstGeom prst="roundRect">
            <a:avLst>
              <a:gd name="adj" fmla="val 11667"/>
            </a:avLst>
          </a:prstGeom>
          <a:solidFill>
            <a:srgbClr val="FDF2EC"/>
          </a:solidFill>
          <a:ln w="12700">
            <a:solidFill>
              <a:srgbClr val="FDF2EC"/>
            </a:solidFill>
            <a:prstDash val="solid"/>
          </a:ln>
        </p:spPr>
      </p:sp>
      <p:sp>
        <p:nvSpPr>
          <p:cNvPr id="20" name="Text 17"/>
          <p:cNvSpPr/>
          <p:nvPr/>
        </p:nvSpPr>
        <p:spPr>
          <a:xfrm>
            <a:off x="841248" y="5742432"/>
            <a:ext cx="10515600" cy="548640"/>
          </a:xfrm>
          <a:prstGeom prst="rect">
            <a:avLst/>
          </a:prstGeom>
          <a:noFill/>
          <a:ln/>
        </p:spPr>
        <p:txBody>
          <a:bodyPr wrap="square" lIns="0" tIns="0" rIns="0" bIns="0" rtlCol="0" anchor="ctr"/>
          <a:lstStyle/>
          <a:p>
            <a:pPr indent="0" marL="0">
              <a:buNone/>
            </a:pPr>
            <a:r>
              <a:rPr lang="en-US" sz="1220" dirty="0">
                <a:solidFill>
                  <a:srgbClr val="3A3F4C"/>
                </a:solidFill>
                <a:latin typeface="Calibri" pitchFamily="34" charset="0"/>
                <a:ea typeface="Calibri" pitchFamily="34" charset="-122"/>
                <a:cs typeface="Calibri" pitchFamily="34" charset="-120"/>
              </a:rPr>
              <a:t>Preferences are often open to revision. Present the problem as 100 stick-figure animations rather than as a decimal, and behaviour moves much closer to the rational standard. Our decision machinery did not evolve to solve word problems.</a:t>
            </a:r>
            <a:endParaRPr lang="en-US" sz="122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C1F2A"/>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B58500"/>
                </a:solidFill>
                <a:latin typeface="Calibri" pitchFamily="34" charset="0"/>
                <a:ea typeface="Calibri" pitchFamily="34" charset="-122"/>
                <a:cs typeface="Calibri" pitchFamily="34" charset="-120"/>
              </a:rPr>
              <a:t>WRAP-UP</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Nine things worth carrying out of this room</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565D6E"/>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565D6E"/>
                </a:solidFill>
                <a:latin typeface="Calibri" pitchFamily="34" charset="0"/>
                <a:ea typeface="Calibri" pitchFamily="34" charset="-122"/>
                <a:cs typeface="Calibri" pitchFamily="34" charset="-120"/>
              </a:rPr>
              <a:t>56</a:t>
            </a:r>
            <a:endParaRPr lang="en-US" sz="900" dirty="0"/>
          </a:p>
        </p:txBody>
      </p:sp>
      <p:sp>
        <p:nvSpPr>
          <p:cNvPr id="7" name="Shape 4"/>
          <p:cNvSpPr/>
          <p:nvPr/>
        </p:nvSpPr>
        <p:spPr>
          <a:xfrm>
            <a:off x="566928" y="1463040"/>
            <a:ext cx="5303520" cy="822960"/>
          </a:xfrm>
          <a:prstGeom prst="roundRect">
            <a:avLst>
              <a:gd name="adj" fmla="val 7778"/>
            </a:avLst>
          </a:prstGeom>
          <a:solidFill>
            <a:srgbClr val="2A2F3E"/>
          </a:solidFill>
          <a:ln w="12700">
            <a:solidFill>
              <a:srgbClr val="2A2F3E"/>
            </a:solidFill>
            <a:prstDash val="solid"/>
          </a:ln>
        </p:spPr>
      </p:sp>
      <p:sp>
        <p:nvSpPr>
          <p:cNvPr id="8" name="Text 5"/>
          <p:cNvSpPr/>
          <p:nvPr/>
        </p:nvSpPr>
        <p:spPr>
          <a:xfrm>
            <a:off x="768096" y="1463040"/>
            <a:ext cx="411480" cy="822960"/>
          </a:xfrm>
          <a:prstGeom prst="rect">
            <a:avLst/>
          </a:prstGeom>
          <a:noFill/>
          <a:ln/>
        </p:spPr>
        <p:txBody>
          <a:bodyPr wrap="square" lIns="0" tIns="0" rIns="0" bIns="0" rtlCol="0" anchor="ctr"/>
          <a:lstStyle/>
          <a:p>
            <a:pPr algn="ctr" indent="0" marL="0">
              <a:buNone/>
            </a:pPr>
            <a:r>
              <a:rPr lang="en-US" sz="1500" b="1" dirty="0">
                <a:solidFill>
                  <a:srgbClr val="B58500"/>
                </a:solidFill>
                <a:latin typeface="Cambria" pitchFamily="34" charset="0"/>
                <a:ea typeface="Cambria" pitchFamily="34" charset="-122"/>
                <a:cs typeface="Cambria" pitchFamily="34" charset="-120"/>
              </a:rPr>
              <a:t>1</a:t>
            </a:r>
            <a:endParaRPr lang="en-US" sz="1500" dirty="0"/>
          </a:p>
        </p:txBody>
      </p:sp>
      <p:sp>
        <p:nvSpPr>
          <p:cNvPr id="9" name="Text 6"/>
          <p:cNvSpPr/>
          <p:nvPr/>
        </p:nvSpPr>
        <p:spPr>
          <a:xfrm>
            <a:off x="1252728" y="1499616"/>
            <a:ext cx="4480560" cy="749808"/>
          </a:xfrm>
          <a:prstGeom prst="rect">
            <a:avLst/>
          </a:prstGeom>
          <a:noFill/>
          <a:ln/>
        </p:spPr>
        <p:txBody>
          <a:bodyPr wrap="square" lIns="0" tIns="0" rIns="0" bIns="0" rtlCol="0" anchor="ctr"/>
          <a:lstStyle/>
          <a:p>
            <a:pPr indent="0" marL="0">
              <a:buNone/>
            </a:pPr>
            <a:r>
              <a:rPr lang="en-US" sz="1150" dirty="0">
                <a:solidFill>
                  <a:srgbClr val="D6DAE4"/>
                </a:solidFill>
                <a:latin typeface="Calibri" pitchFamily="34" charset="0"/>
                <a:ea typeface="Calibri" pitchFamily="34" charset="-122"/>
                <a:cs typeface="Calibri" pitchFamily="34" charset="-120"/>
              </a:rPr>
              <a:t>Minimax computes optimal play against a perfect adversary, at O(b^m) time and O(bm) space, which is unusable directly for chess.</a:t>
            </a:r>
            <a:endParaRPr lang="en-US" sz="1150" dirty="0"/>
          </a:p>
        </p:txBody>
      </p:sp>
      <p:sp>
        <p:nvSpPr>
          <p:cNvPr id="10" name="Shape 7"/>
          <p:cNvSpPr/>
          <p:nvPr/>
        </p:nvSpPr>
        <p:spPr>
          <a:xfrm>
            <a:off x="6144768" y="1463040"/>
            <a:ext cx="5303520" cy="822960"/>
          </a:xfrm>
          <a:prstGeom prst="roundRect">
            <a:avLst>
              <a:gd name="adj" fmla="val 7778"/>
            </a:avLst>
          </a:prstGeom>
          <a:solidFill>
            <a:srgbClr val="2A2F3E"/>
          </a:solidFill>
          <a:ln w="12700">
            <a:solidFill>
              <a:srgbClr val="2A2F3E"/>
            </a:solidFill>
            <a:prstDash val="solid"/>
          </a:ln>
        </p:spPr>
      </p:sp>
      <p:sp>
        <p:nvSpPr>
          <p:cNvPr id="11" name="Text 8"/>
          <p:cNvSpPr/>
          <p:nvPr/>
        </p:nvSpPr>
        <p:spPr>
          <a:xfrm>
            <a:off x="6345936" y="1463040"/>
            <a:ext cx="411480" cy="822960"/>
          </a:xfrm>
          <a:prstGeom prst="rect">
            <a:avLst/>
          </a:prstGeom>
          <a:noFill/>
          <a:ln/>
        </p:spPr>
        <p:txBody>
          <a:bodyPr wrap="square" lIns="0" tIns="0" rIns="0" bIns="0" rtlCol="0" anchor="ctr"/>
          <a:lstStyle/>
          <a:p>
            <a:pPr algn="ctr" indent="0" marL="0">
              <a:buNone/>
            </a:pPr>
            <a:r>
              <a:rPr lang="en-US" sz="1500" b="1" dirty="0">
                <a:solidFill>
                  <a:srgbClr val="B58500"/>
                </a:solidFill>
                <a:latin typeface="Cambria" pitchFamily="34" charset="0"/>
                <a:ea typeface="Cambria" pitchFamily="34" charset="-122"/>
                <a:cs typeface="Cambria" pitchFamily="34" charset="-120"/>
              </a:rPr>
              <a:t>2</a:t>
            </a:r>
            <a:endParaRPr lang="en-US" sz="1500" dirty="0"/>
          </a:p>
        </p:txBody>
      </p:sp>
      <p:sp>
        <p:nvSpPr>
          <p:cNvPr id="12" name="Text 9"/>
          <p:cNvSpPr/>
          <p:nvPr/>
        </p:nvSpPr>
        <p:spPr>
          <a:xfrm>
            <a:off x="6830568" y="1499616"/>
            <a:ext cx="4480560" cy="749808"/>
          </a:xfrm>
          <a:prstGeom prst="rect">
            <a:avLst/>
          </a:prstGeom>
          <a:noFill/>
          <a:ln/>
        </p:spPr>
        <p:txBody>
          <a:bodyPr wrap="square" lIns="0" tIns="0" rIns="0" bIns="0" rtlCol="0" anchor="ctr"/>
          <a:lstStyle/>
          <a:p>
            <a:pPr indent="0" marL="0">
              <a:buNone/>
            </a:pPr>
            <a:r>
              <a:rPr lang="en-US" sz="1150" dirty="0">
                <a:solidFill>
                  <a:srgbClr val="D6DAE4"/>
                </a:solidFill>
                <a:latin typeface="Calibri" pitchFamily="34" charset="0"/>
                <a:ea typeface="Calibri" pitchFamily="34" charset="-122"/>
                <a:cs typeface="Calibri" pitchFamily="34" charset="-120"/>
              </a:rPr>
              <a:t>Alpha-beta returns exactly the minimax value while skipping provably irrelevant subtrees; with good move ordering the exponent halves.</a:t>
            </a:r>
            <a:endParaRPr lang="en-US" sz="1150" dirty="0"/>
          </a:p>
        </p:txBody>
      </p:sp>
      <p:sp>
        <p:nvSpPr>
          <p:cNvPr id="13" name="Shape 10"/>
          <p:cNvSpPr/>
          <p:nvPr/>
        </p:nvSpPr>
        <p:spPr>
          <a:xfrm>
            <a:off x="566928" y="2395728"/>
            <a:ext cx="5303520" cy="822960"/>
          </a:xfrm>
          <a:prstGeom prst="roundRect">
            <a:avLst>
              <a:gd name="adj" fmla="val 7778"/>
            </a:avLst>
          </a:prstGeom>
          <a:solidFill>
            <a:srgbClr val="2A2F3E"/>
          </a:solidFill>
          <a:ln w="12700">
            <a:solidFill>
              <a:srgbClr val="2A2F3E"/>
            </a:solidFill>
            <a:prstDash val="solid"/>
          </a:ln>
        </p:spPr>
      </p:sp>
      <p:sp>
        <p:nvSpPr>
          <p:cNvPr id="14" name="Text 11"/>
          <p:cNvSpPr/>
          <p:nvPr/>
        </p:nvSpPr>
        <p:spPr>
          <a:xfrm>
            <a:off x="768096" y="2395728"/>
            <a:ext cx="411480" cy="822960"/>
          </a:xfrm>
          <a:prstGeom prst="rect">
            <a:avLst/>
          </a:prstGeom>
          <a:noFill/>
          <a:ln/>
        </p:spPr>
        <p:txBody>
          <a:bodyPr wrap="square" lIns="0" tIns="0" rIns="0" bIns="0" rtlCol="0" anchor="ctr"/>
          <a:lstStyle/>
          <a:p>
            <a:pPr algn="ctr" indent="0" marL="0">
              <a:buNone/>
            </a:pPr>
            <a:r>
              <a:rPr lang="en-US" sz="1500" b="1" dirty="0">
                <a:solidFill>
                  <a:srgbClr val="B58500"/>
                </a:solidFill>
                <a:latin typeface="Cambria" pitchFamily="34" charset="0"/>
                <a:ea typeface="Cambria" pitchFamily="34" charset="-122"/>
                <a:cs typeface="Cambria" pitchFamily="34" charset="-120"/>
              </a:rPr>
              <a:t>3</a:t>
            </a:r>
            <a:endParaRPr lang="en-US" sz="1500" dirty="0"/>
          </a:p>
        </p:txBody>
      </p:sp>
      <p:sp>
        <p:nvSpPr>
          <p:cNvPr id="15" name="Text 12"/>
          <p:cNvSpPr/>
          <p:nvPr/>
        </p:nvSpPr>
        <p:spPr>
          <a:xfrm>
            <a:off x="1252728" y="2432304"/>
            <a:ext cx="4480560" cy="749808"/>
          </a:xfrm>
          <a:prstGeom prst="rect">
            <a:avLst/>
          </a:prstGeom>
          <a:noFill/>
          <a:ln/>
        </p:spPr>
        <p:txBody>
          <a:bodyPr wrap="square" lIns="0" tIns="0" rIns="0" bIns="0" rtlCol="0" anchor="ctr"/>
          <a:lstStyle/>
          <a:p>
            <a:pPr indent="0" marL="0">
              <a:buNone/>
            </a:pPr>
            <a:r>
              <a:rPr lang="en-US" sz="1150" dirty="0">
                <a:solidFill>
                  <a:srgbClr val="D6DAE4"/>
                </a:solidFill>
                <a:latin typeface="Calibri" pitchFamily="34" charset="0"/>
                <a:ea typeface="Calibri" pitchFamily="34" charset="-122"/>
                <a:cs typeface="Calibri" pitchFamily="34" charset="-120"/>
              </a:rPr>
              <a:t>Move ordering, killer moves, iterative deepening and transposition tables are where the real engineering lives.</a:t>
            </a:r>
            <a:endParaRPr lang="en-US" sz="1150" dirty="0"/>
          </a:p>
        </p:txBody>
      </p:sp>
      <p:sp>
        <p:nvSpPr>
          <p:cNvPr id="16" name="Shape 13"/>
          <p:cNvSpPr/>
          <p:nvPr/>
        </p:nvSpPr>
        <p:spPr>
          <a:xfrm>
            <a:off x="6144768" y="2395728"/>
            <a:ext cx="5303520" cy="822960"/>
          </a:xfrm>
          <a:prstGeom prst="roundRect">
            <a:avLst>
              <a:gd name="adj" fmla="val 7778"/>
            </a:avLst>
          </a:prstGeom>
          <a:solidFill>
            <a:srgbClr val="2A2F3E"/>
          </a:solidFill>
          <a:ln w="12700">
            <a:solidFill>
              <a:srgbClr val="2A2F3E"/>
            </a:solidFill>
            <a:prstDash val="solid"/>
          </a:ln>
        </p:spPr>
      </p:sp>
      <p:sp>
        <p:nvSpPr>
          <p:cNvPr id="17" name="Text 14"/>
          <p:cNvSpPr/>
          <p:nvPr/>
        </p:nvSpPr>
        <p:spPr>
          <a:xfrm>
            <a:off x="6345936" y="2395728"/>
            <a:ext cx="411480" cy="822960"/>
          </a:xfrm>
          <a:prstGeom prst="rect">
            <a:avLst/>
          </a:prstGeom>
          <a:noFill/>
          <a:ln/>
        </p:spPr>
        <p:txBody>
          <a:bodyPr wrap="square" lIns="0" tIns="0" rIns="0" bIns="0" rtlCol="0" anchor="ctr"/>
          <a:lstStyle/>
          <a:p>
            <a:pPr algn="ctr" indent="0" marL="0">
              <a:buNone/>
            </a:pPr>
            <a:r>
              <a:rPr lang="en-US" sz="1500" b="1" dirty="0">
                <a:solidFill>
                  <a:srgbClr val="B58500"/>
                </a:solidFill>
                <a:latin typeface="Cambria" pitchFamily="34" charset="0"/>
                <a:ea typeface="Cambria" pitchFamily="34" charset="-122"/>
                <a:cs typeface="Cambria" pitchFamily="34" charset="-120"/>
              </a:rPr>
              <a:t>4</a:t>
            </a:r>
            <a:endParaRPr lang="en-US" sz="1500" dirty="0"/>
          </a:p>
        </p:txBody>
      </p:sp>
      <p:sp>
        <p:nvSpPr>
          <p:cNvPr id="18" name="Text 15"/>
          <p:cNvSpPr/>
          <p:nvPr/>
        </p:nvSpPr>
        <p:spPr>
          <a:xfrm>
            <a:off x="6830568" y="2432304"/>
            <a:ext cx="4480560" cy="749808"/>
          </a:xfrm>
          <a:prstGeom prst="rect">
            <a:avLst/>
          </a:prstGeom>
          <a:noFill/>
          <a:ln/>
        </p:spPr>
        <p:txBody>
          <a:bodyPr wrap="square" lIns="0" tIns="0" rIns="0" bIns="0" rtlCol="0" anchor="ctr"/>
          <a:lstStyle/>
          <a:p>
            <a:pPr indent="0" marL="0">
              <a:buNone/>
            </a:pPr>
            <a:r>
              <a:rPr lang="en-US" sz="1150" dirty="0">
                <a:solidFill>
                  <a:srgbClr val="D6DAE4"/>
                </a:solidFill>
                <a:latin typeface="Calibri" pitchFamily="34" charset="0"/>
                <a:ea typeface="Calibri" pitchFamily="34" charset="-122"/>
                <a:cs typeface="Calibri" pitchFamily="34" charset="-120"/>
              </a:rPr>
              <a:t>Real engines cut off early and call EVAL. Quiescence search and singular extensions patch the two ways a depth limit lies to you.</a:t>
            </a:r>
            <a:endParaRPr lang="en-US" sz="1150" dirty="0"/>
          </a:p>
        </p:txBody>
      </p:sp>
      <p:sp>
        <p:nvSpPr>
          <p:cNvPr id="19" name="Shape 16"/>
          <p:cNvSpPr/>
          <p:nvPr/>
        </p:nvSpPr>
        <p:spPr>
          <a:xfrm>
            <a:off x="566928" y="3328416"/>
            <a:ext cx="5303520" cy="822960"/>
          </a:xfrm>
          <a:prstGeom prst="roundRect">
            <a:avLst>
              <a:gd name="adj" fmla="val 7778"/>
            </a:avLst>
          </a:prstGeom>
          <a:solidFill>
            <a:srgbClr val="2A2F3E"/>
          </a:solidFill>
          <a:ln w="12700">
            <a:solidFill>
              <a:srgbClr val="2A2F3E"/>
            </a:solidFill>
            <a:prstDash val="solid"/>
          </a:ln>
        </p:spPr>
      </p:sp>
      <p:sp>
        <p:nvSpPr>
          <p:cNvPr id="20" name="Text 17"/>
          <p:cNvSpPr/>
          <p:nvPr/>
        </p:nvSpPr>
        <p:spPr>
          <a:xfrm>
            <a:off x="768096" y="3328416"/>
            <a:ext cx="411480" cy="822960"/>
          </a:xfrm>
          <a:prstGeom prst="rect">
            <a:avLst/>
          </a:prstGeom>
          <a:noFill/>
          <a:ln/>
        </p:spPr>
        <p:txBody>
          <a:bodyPr wrap="square" lIns="0" tIns="0" rIns="0" bIns="0" rtlCol="0" anchor="ctr"/>
          <a:lstStyle/>
          <a:p>
            <a:pPr algn="ctr" indent="0" marL="0">
              <a:buNone/>
            </a:pPr>
            <a:r>
              <a:rPr lang="en-US" sz="1500" b="1" dirty="0">
                <a:solidFill>
                  <a:srgbClr val="B58500"/>
                </a:solidFill>
                <a:latin typeface="Cambria" pitchFamily="34" charset="0"/>
                <a:ea typeface="Cambria" pitchFamily="34" charset="-122"/>
                <a:cs typeface="Cambria" pitchFamily="34" charset="-120"/>
              </a:rPr>
              <a:t>5</a:t>
            </a:r>
            <a:endParaRPr lang="en-US" sz="1500" dirty="0"/>
          </a:p>
        </p:txBody>
      </p:sp>
      <p:sp>
        <p:nvSpPr>
          <p:cNvPr id="21" name="Text 18"/>
          <p:cNvSpPr/>
          <p:nvPr/>
        </p:nvSpPr>
        <p:spPr>
          <a:xfrm>
            <a:off x="1252728" y="3364992"/>
            <a:ext cx="4480560" cy="749808"/>
          </a:xfrm>
          <a:prstGeom prst="rect">
            <a:avLst/>
          </a:prstGeom>
          <a:noFill/>
          <a:ln/>
        </p:spPr>
        <p:txBody>
          <a:bodyPr wrap="square" lIns="0" tIns="0" rIns="0" bIns="0" rtlCol="0" anchor="ctr"/>
          <a:lstStyle/>
          <a:p>
            <a:pPr indent="0" marL="0">
              <a:buNone/>
            </a:pPr>
            <a:r>
              <a:rPr lang="en-US" sz="1150" dirty="0">
                <a:solidFill>
                  <a:srgbClr val="D6DAE4"/>
                </a:solidFill>
                <a:latin typeface="Calibri" pitchFamily="34" charset="0"/>
                <a:ea typeface="Calibri" pitchFamily="34" charset="-122"/>
                <a:cs typeface="Calibri" pitchFamily="34" charset="-120"/>
              </a:rPr>
              <a:t>MCTS replaces the evaluation function with statistics from playouts, and UCT balances exploitation against exploration.</a:t>
            </a:r>
            <a:endParaRPr lang="en-US" sz="1150" dirty="0"/>
          </a:p>
        </p:txBody>
      </p:sp>
      <p:sp>
        <p:nvSpPr>
          <p:cNvPr id="22" name="Shape 19"/>
          <p:cNvSpPr/>
          <p:nvPr/>
        </p:nvSpPr>
        <p:spPr>
          <a:xfrm>
            <a:off x="6144768" y="3328416"/>
            <a:ext cx="5303520" cy="822960"/>
          </a:xfrm>
          <a:prstGeom prst="roundRect">
            <a:avLst>
              <a:gd name="adj" fmla="val 7778"/>
            </a:avLst>
          </a:prstGeom>
          <a:solidFill>
            <a:srgbClr val="2A2F3E"/>
          </a:solidFill>
          <a:ln w="12700">
            <a:solidFill>
              <a:srgbClr val="2A2F3E"/>
            </a:solidFill>
            <a:prstDash val="solid"/>
          </a:ln>
        </p:spPr>
      </p:sp>
      <p:sp>
        <p:nvSpPr>
          <p:cNvPr id="23" name="Text 20"/>
          <p:cNvSpPr/>
          <p:nvPr/>
        </p:nvSpPr>
        <p:spPr>
          <a:xfrm>
            <a:off x="6345936" y="3328416"/>
            <a:ext cx="411480" cy="822960"/>
          </a:xfrm>
          <a:prstGeom prst="rect">
            <a:avLst/>
          </a:prstGeom>
          <a:noFill/>
          <a:ln/>
        </p:spPr>
        <p:txBody>
          <a:bodyPr wrap="square" lIns="0" tIns="0" rIns="0" bIns="0" rtlCol="0" anchor="ctr"/>
          <a:lstStyle/>
          <a:p>
            <a:pPr algn="ctr" indent="0" marL="0">
              <a:buNone/>
            </a:pPr>
            <a:r>
              <a:rPr lang="en-US" sz="1500" b="1" dirty="0">
                <a:solidFill>
                  <a:srgbClr val="B58500"/>
                </a:solidFill>
                <a:latin typeface="Cambria" pitchFamily="34" charset="0"/>
                <a:ea typeface="Cambria" pitchFamily="34" charset="-122"/>
                <a:cs typeface="Cambria" pitchFamily="34" charset="-120"/>
              </a:rPr>
              <a:t>6</a:t>
            </a:r>
            <a:endParaRPr lang="en-US" sz="1500" dirty="0"/>
          </a:p>
        </p:txBody>
      </p:sp>
      <p:sp>
        <p:nvSpPr>
          <p:cNvPr id="24" name="Text 21"/>
          <p:cNvSpPr/>
          <p:nvPr/>
        </p:nvSpPr>
        <p:spPr>
          <a:xfrm>
            <a:off x="6830568" y="3364992"/>
            <a:ext cx="4480560" cy="749808"/>
          </a:xfrm>
          <a:prstGeom prst="rect">
            <a:avLst/>
          </a:prstGeom>
          <a:noFill/>
          <a:ln/>
        </p:spPr>
        <p:txBody>
          <a:bodyPr wrap="square" lIns="0" tIns="0" rIns="0" bIns="0" rtlCol="0" anchor="ctr"/>
          <a:lstStyle/>
          <a:p>
            <a:pPr indent="0" marL="0">
              <a:buNone/>
            </a:pPr>
            <a:r>
              <a:rPr lang="en-US" sz="1150" dirty="0">
                <a:solidFill>
                  <a:srgbClr val="D6DAE4"/>
                </a:solidFill>
                <a:latin typeface="Calibri" pitchFamily="34" charset="0"/>
                <a:ea typeface="Calibri" pitchFamily="34" charset="-122"/>
                <a:cs typeface="Calibri" pitchFamily="34" charset="-120"/>
              </a:rPr>
              <a:t>Expectimax replaces MIN’s worst case with a probability-weighted average, and is right when outcomes are governed by chance rather than malice.</a:t>
            </a:r>
            <a:endParaRPr lang="en-US" sz="1150" dirty="0"/>
          </a:p>
        </p:txBody>
      </p:sp>
      <p:sp>
        <p:nvSpPr>
          <p:cNvPr id="25" name="Shape 22"/>
          <p:cNvSpPr/>
          <p:nvPr/>
        </p:nvSpPr>
        <p:spPr>
          <a:xfrm>
            <a:off x="566928" y="4261104"/>
            <a:ext cx="5303520" cy="822960"/>
          </a:xfrm>
          <a:prstGeom prst="roundRect">
            <a:avLst>
              <a:gd name="adj" fmla="val 7778"/>
            </a:avLst>
          </a:prstGeom>
          <a:solidFill>
            <a:srgbClr val="2A2F3E"/>
          </a:solidFill>
          <a:ln w="12700">
            <a:solidFill>
              <a:srgbClr val="2A2F3E"/>
            </a:solidFill>
            <a:prstDash val="solid"/>
          </a:ln>
        </p:spPr>
      </p:sp>
      <p:sp>
        <p:nvSpPr>
          <p:cNvPr id="26" name="Text 23"/>
          <p:cNvSpPr/>
          <p:nvPr/>
        </p:nvSpPr>
        <p:spPr>
          <a:xfrm>
            <a:off x="768096" y="4261104"/>
            <a:ext cx="411480" cy="822960"/>
          </a:xfrm>
          <a:prstGeom prst="rect">
            <a:avLst/>
          </a:prstGeom>
          <a:noFill/>
          <a:ln/>
        </p:spPr>
        <p:txBody>
          <a:bodyPr wrap="square" lIns="0" tIns="0" rIns="0" bIns="0" rtlCol="0" anchor="ctr"/>
          <a:lstStyle/>
          <a:p>
            <a:pPr algn="ctr" indent="0" marL="0">
              <a:buNone/>
            </a:pPr>
            <a:r>
              <a:rPr lang="en-US" sz="1500" b="1" dirty="0">
                <a:solidFill>
                  <a:srgbClr val="B58500"/>
                </a:solidFill>
                <a:latin typeface="Cambria" pitchFamily="34" charset="0"/>
                <a:ea typeface="Cambria" pitchFamily="34" charset="-122"/>
                <a:cs typeface="Cambria" pitchFamily="34" charset="-120"/>
              </a:rPr>
              <a:t>7</a:t>
            </a:r>
            <a:endParaRPr lang="en-US" sz="1500" dirty="0"/>
          </a:p>
        </p:txBody>
      </p:sp>
      <p:sp>
        <p:nvSpPr>
          <p:cNvPr id="27" name="Text 24"/>
          <p:cNvSpPr/>
          <p:nvPr/>
        </p:nvSpPr>
        <p:spPr>
          <a:xfrm>
            <a:off x="1252728" y="4297680"/>
            <a:ext cx="4480560" cy="749808"/>
          </a:xfrm>
          <a:prstGeom prst="rect">
            <a:avLst/>
          </a:prstGeom>
          <a:noFill/>
          <a:ln/>
        </p:spPr>
        <p:txBody>
          <a:bodyPr wrap="square" lIns="0" tIns="0" rIns="0" bIns="0" rtlCol="0" anchor="ctr"/>
          <a:lstStyle/>
          <a:p>
            <a:pPr indent="0" marL="0">
              <a:buNone/>
            </a:pPr>
            <a:r>
              <a:rPr lang="en-US" sz="1150" dirty="0">
                <a:solidFill>
                  <a:srgbClr val="D6DAE4"/>
                </a:solidFill>
                <a:latin typeface="Calibri" pitchFamily="34" charset="0"/>
                <a:ea typeface="Calibri" pitchFamily="34" charset="-122"/>
                <a:cs typeface="Calibri" pitchFamily="34" charset="-120"/>
              </a:rPr>
              <a:t>Modelling assumptions can matter more than search depth. Optimism against an adversary is exploited; pessimism against randomness forfeits opportunity.</a:t>
            </a:r>
            <a:endParaRPr lang="en-US" sz="1150" dirty="0"/>
          </a:p>
        </p:txBody>
      </p:sp>
      <p:sp>
        <p:nvSpPr>
          <p:cNvPr id="28" name="Shape 25"/>
          <p:cNvSpPr/>
          <p:nvPr/>
        </p:nvSpPr>
        <p:spPr>
          <a:xfrm>
            <a:off x="6144768" y="4261104"/>
            <a:ext cx="5303520" cy="822960"/>
          </a:xfrm>
          <a:prstGeom prst="roundRect">
            <a:avLst>
              <a:gd name="adj" fmla="val 7778"/>
            </a:avLst>
          </a:prstGeom>
          <a:solidFill>
            <a:srgbClr val="2A2F3E"/>
          </a:solidFill>
          <a:ln w="12700">
            <a:solidFill>
              <a:srgbClr val="2A2F3E"/>
            </a:solidFill>
            <a:prstDash val="solid"/>
          </a:ln>
        </p:spPr>
      </p:sp>
      <p:sp>
        <p:nvSpPr>
          <p:cNvPr id="29" name="Text 26"/>
          <p:cNvSpPr/>
          <p:nvPr/>
        </p:nvSpPr>
        <p:spPr>
          <a:xfrm>
            <a:off x="6345936" y="4261104"/>
            <a:ext cx="411480" cy="822960"/>
          </a:xfrm>
          <a:prstGeom prst="rect">
            <a:avLst/>
          </a:prstGeom>
          <a:noFill/>
          <a:ln/>
        </p:spPr>
        <p:txBody>
          <a:bodyPr wrap="square" lIns="0" tIns="0" rIns="0" bIns="0" rtlCol="0" anchor="ctr"/>
          <a:lstStyle/>
          <a:p>
            <a:pPr algn="ctr" indent="0" marL="0">
              <a:buNone/>
            </a:pPr>
            <a:r>
              <a:rPr lang="en-US" sz="1500" b="1" dirty="0">
                <a:solidFill>
                  <a:srgbClr val="B58500"/>
                </a:solidFill>
                <a:latin typeface="Cambria" pitchFamily="34" charset="0"/>
                <a:ea typeface="Cambria" pitchFamily="34" charset="-122"/>
                <a:cs typeface="Cambria" pitchFamily="34" charset="-120"/>
              </a:rPr>
              <a:t>8</a:t>
            </a:r>
            <a:endParaRPr lang="en-US" sz="1500" dirty="0"/>
          </a:p>
        </p:txBody>
      </p:sp>
      <p:sp>
        <p:nvSpPr>
          <p:cNvPr id="30" name="Text 27"/>
          <p:cNvSpPr/>
          <p:nvPr/>
        </p:nvSpPr>
        <p:spPr>
          <a:xfrm>
            <a:off x="6830568" y="4297680"/>
            <a:ext cx="4480560" cy="749808"/>
          </a:xfrm>
          <a:prstGeom prst="rect">
            <a:avLst/>
          </a:prstGeom>
          <a:noFill/>
          <a:ln/>
        </p:spPr>
        <p:txBody>
          <a:bodyPr wrap="square" lIns="0" tIns="0" rIns="0" bIns="0" rtlCol="0" anchor="ctr"/>
          <a:lstStyle/>
          <a:p>
            <a:pPr indent="0" marL="0">
              <a:buNone/>
            </a:pPr>
            <a:r>
              <a:rPr lang="en-US" sz="1150" dirty="0">
                <a:solidFill>
                  <a:srgbClr val="D6DAE4"/>
                </a:solidFill>
                <a:latin typeface="Calibri" pitchFamily="34" charset="0"/>
                <a:ea typeface="Calibri" pitchFamily="34" charset="-122"/>
                <a:cs typeface="Calibri" pitchFamily="34" charset="-120"/>
              </a:rPr>
              <a:t>Under minimax only the ordering of leaf values matters. Under expectimax the magnitudes matter, which is why utilities need a theory.</a:t>
            </a:r>
            <a:endParaRPr lang="en-US" sz="1150" dirty="0"/>
          </a:p>
        </p:txBody>
      </p:sp>
      <p:sp>
        <p:nvSpPr>
          <p:cNvPr id="31" name="Shape 28"/>
          <p:cNvSpPr/>
          <p:nvPr/>
        </p:nvSpPr>
        <p:spPr>
          <a:xfrm>
            <a:off x="566928" y="5193792"/>
            <a:ext cx="11064240" cy="822960"/>
          </a:xfrm>
          <a:prstGeom prst="roundRect">
            <a:avLst>
              <a:gd name="adj" fmla="val 7778"/>
            </a:avLst>
          </a:prstGeom>
          <a:solidFill>
            <a:srgbClr val="2A2F3E"/>
          </a:solidFill>
          <a:ln w="12700">
            <a:solidFill>
              <a:srgbClr val="2A2F3E"/>
            </a:solidFill>
            <a:prstDash val="solid"/>
          </a:ln>
        </p:spPr>
      </p:sp>
      <p:sp>
        <p:nvSpPr>
          <p:cNvPr id="32" name="Text 29"/>
          <p:cNvSpPr/>
          <p:nvPr/>
        </p:nvSpPr>
        <p:spPr>
          <a:xfrm>
            <a:off x="768096" y="5193792"/>
            <a:ext cx="411480" cy="822960"/>
          </a:xfrm>
          <a:prstGeom prst="rect">
            <a:avLst/>
          </a:prstGeom>
          <a:noFill/>
          <a:ln/>
        </p:spPr>
        <p:txBody>
          <a:bodyPr wrap="square" lIns="0" tIns="0" rIns="0" bIns="0" rtlCol="0" anchor="ctr"/>
          <a:lstStyle/>
          <a:p>
            <a:pPr algn="ctr" indent="0" marL="0">
              <a:buNone/>
            </a:pPr>
            <a:r>
              <a:rPr lang="en-US" sz="1500" b="1" dirty="0">
                <a:solidFill>
                  <a:srgbClr val="B58500"/>
                </a:solidFill>
                <a:latin typeface="Cambria" pitchFamily="34" charset="0"/>
                <a:ea typeface="Cambria" pitchFamily="34" charset="-122"/>
                <a:cs typeface="Cambria" pitchFamily="34" charset="-120"/>
              </a:rPr>
              <a:t>9</a:t>
            </a:r>
            <a:endParaRPr lang="en-US" sz="1500" dirty="0"/>
          </a:p>
        </p:txBody>
      </p:sp>
      <p:sp>
        <p:nvSpPr>
          <p:cNvPr id="33" name="Text 30"/>
          <p:cNvSpPr/>
          <p:nvPr/>
        </p:nvSpPr>
        <p:spPr>
          <a:xfrm>
            <a:off x="1252728" y="5193792"/>
            <a:ext cx="10149840" cy="822960"/>
          </a:xfrm>
          <a:prstGeom prst="rect">
            <a:avLst/>
          </a:prstGeom>
          <a:noFill/>
          <a:ln/>
        </p:spPr>
        <p:txBody>
          <a:bodyPr wrap="square" lIns="0" tIns="0" rIns="0" bIns="0" rtlCol="0" anchor="ctr"/>
          <a:lstStyle/>
          <a:p>
            <a:pPr indent="0" marL="0">
              <a:buNone/>
            </a:pPr>
            <a:r>
              <a:rPr lang="en-US" sz="1150" dirty="0">
                <a:solidFill>
                  <a:srgbClr val="D6DAE4"/>
                </a:solidFill>
                <a:latin typeface="Calibri" pitchFamily="34" charset="0"/>
                <a:ea typeface="Calibri" pitchFamily="34" charset="-122"/>
                <a:cs typeface="Calibri" pitchFamily="34" charset="-120"/>
              </a:rPr>
              <a:t>Rational preferences guarantee, by the von Neumann-Morgenstern theorem, that a utility function exists and that expected-utility averaging is correct.</a:t>
            </a:r>
            <a:endParaRPr lang="en-US" sz="11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64240" cy="274320"/>
          </a:xfrm>
          <a:prstGeom prst="rect">
            <a:avLst/>
          </a:prstGeom>
          <a:noFill/>
          <a:ln/>
        </p:spPr>
        <p:txBody>
          <a:bodyPr wrap="square" lIns="0" tIns="0" rIns="0" bIns="0" rtlCol="0" anchor="ctr"/>
          <a:lstStyle/>
          <a:p>
            <a:pPr indent="0" marL="0">
              <a:buNone/>
            </a:pPr>
            <a:r>
              <a:rPr lang="en-US" sz="1050" b="1" spc="180" kern="0" dirty="0">
                <a:solidFill>
                  <a:srgbClr val="8A8F9C"/>
                </a:solidFill>
                <a:latin typeface="Calibri" pitchFamily="34" charset="0"/>
                <a:ea typeface="Calibri" pitchFamily="34" charset="-122"/>
                <a:cs typeface="Calibri" pitchFamily="34" charset="-120"/>
              </a:rPr>
              <a:t>BEFORE NEXT TIME</a:t>
            </a:r>
            <a:endParaRPr lang="en-US" sz="105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1C1F2A"/>
                </a:solidFill>
                <a:latin typeface="Cambria" pitchFamily="34" charset="0"/>
                <a:ea typeface="Cambria" pitchFamily="34" charset="-122"/>
                <a:cs typeface="Cambria" pitchFamily="34" charset="-120"/>
              </a:rPr>
              <a:t>Reading, practice, and where this goes next</a:t>
            </a:r>
            <a:endParaRPr lang="en-US" sz="3000" dirty="0"/>
          </a:p>
        </p:txBody>
      </p:sp>
      <p:sp>
        <p:nvSpPr>
          <p:cNvPr id="4" name="Text 2"/>
          <p:cNvSpPr/>
          <p:nvPr/>
        </p:nvSpPr>
        <p:spPr>
          <a:xfrm>
            <a:off x="548640" y="6364224"/>
            <a:ext cx="8229600" cy="274320"/>
          </a:xfrm>
          <a:prstGeom prst="rect">
            <a:avLst/>
          </a:prstGeom>
          <a:noFill/>
          <a:ln/>
        </p:spPr>
        <p:txBody>
          <a:bodyPr wrap="square" lIns="0" tIns="0" rIns="0" bIns="0" rtlCol="0" anchor="ctr"/>
          <a:lstStyle/>
          <a:p>
            <a:pPr indent="0" marL="0">
              <a:buNone/>
            </a:pPr>
            <a:r>
              <a:rPr lang="en-US" sz="900" dirty="0">
                <a:solidFill>
                  <a:srgbClr val="C0C4CD"/>
                </a:solidFill>
                <a:latin typeface="Calibri" pitchFamily="34" charset="0"/>
                <a:ea typeface="Calibri" pitchFamily="34" charset="-122"/>
                <a:cs typeface="Calibri" pitchFamily="34" charset="-120"/>
              </a:rPr>
              <a:t>COMP 469  ·  Adversarial Search, Expectimax, and Utilities</a:t>
            </a:r>
            <a:endParaRPr lang="en-US" sz="900" dirty="0"/>
          </a:p>
        </p:txBody>
      </p:sp>
      <p:sp>
        <p:nvSpPr>
          <p:cNvPr id="5" name="Text 3"/>
          <p:cNvSpPr/>
          <p:nvPr/>
        </p:nvSpPr>
        <p:spPr>
          <a:xfrm>
            <a:off x="10881360" y="6364224"/>
            <a:ext cx="758952" cy="274320"/>
          </a:xfrm>
          <a:prstGeom prst="rect">
            <a:avLst/>
          </a:prstGeom>
          <a:noFill/>
          <a:ln/>
        </p:spPr>
        <p:txBody>
          <a:bodyPr wrap="square" lIns="0" tIns="0" rIns="0" bIns="0" rtlCol="0" anchor="ctr"/>
          <a:lstStyle/>
          <a:p>
            <a:pPr algn="r" indent="0" marL="0">
              <a:buNone/>
            </a:pPr>
            <a:r>
              <a:rPr lang="en-US" sz="900" dirty="0">
                <a:solidFill>
                  <a:srgbClr val="C0C4CD"/>
                </a:solidFill>
                <a:latin typeface="Calibri" pitchFamily="34" charset="0"/>
                <a:ea typeface="Calibri" pitchFamily="34" charset="-122"/>
                <a:cs typeface="Calibri" pitchFamily="34" charset="-120"/>
              </a:rPr>
              <a:t>57</a:t>
            </a:r>
            <a:endParaRPr lang="en-US" sz="900" dirty="0"/>
          </a:p>
        </p:txBody>
      </p:sp>
      <p:sp>
        <p:nvSpPr>
          <p:cNvPr id="7" name="Shape 4"/>
          <p:cNvSpPr/>
          <p:nvPr/>
        </p:nvSpPr>
        <p:spPr>
          <a:xfrm>
            <a:off x="566928" y="1481328"/>
            <a:ext cx="3493008" cy="3977640"/>
          </a:xfrm>
          <a:prstGeom prst="roundRect">
            <a:avLst>
              <a:gd name="adj" fmla="val 1832"/>
            </a:avLst>
          </a:prstGeom>
          <a:solidFill>
            <a:srgbClr val="F1F2F5"/>
          </a:solidFill>
          <a:ln w="12700">
            <a:solidFill>
              <a:srgbClr val="F1F2F5"/>
            </a:solidFill>
            <a:prstDash val="solid"/>
          </a:ln>
        </p:spPr>
      </p:sp>
      <p:sp>
        <p:nvSpPr>
          <p:cNvPr id="8" name="Text 5"/>
          <p:cNvSpPr/>
          <p:nvPr/>
        </p:nvSpPr>
        <p:spPr>
          <a:xfrm>
            <a:off x="841248" y="1691640"/>
            <a:ext cx="2926080" cy="365760"/>
          </a:xfrm>
          <a:prstGeom prst="rect">
            <a:avLst/>
          </a:prstGeom>
          <a:noFill/>
          <a:ln/>
        </p:spPr>
        <p:txBody>
          <a:bodyPr wrap="square" lIns="0" tIns="0" rIns="0" bIns="0" rtlCol="0" anchor="ctr"/>
          <a:lstStyle/>
          <a:p>
            <a:pPr indent="0" marL="0">
              <a:buNone/>
            </a:pPr>
            <a:r>
              <a:rPr lang="en-US" sz="1800" b="1" dirty="0">
                <a:solidFill>
                  <a:srgbClr val="C2410C"/>
                </a:solidFill>
                <a:latin typeface="Cambria" pitchFamily="34" charset="0"/>
                <a:ea typeface="Cambria" pitchFamily="34" charset="-122"/>
                <a:cs typeface="Cambria" pitchFamily="34" charset="-120"/>
              </a:rPr>
              <a:t>Read</a:t>
            </a:r>
            <a:endParaRPr lang="en-US" sz="1800" dirty="0"/>
          </a:p>
        </p:txBody>
      </p:sp>
      <p:sp>
        <p:nvSpPr>
          <p:cNvPr id="9" name="Text 6"/>
          <p:cNvSpPr/>
          <p:nvPr/>
        </p:nvSpPr>
        <p:spPr>
          <a:xfrm>
            <a:off x="841248" y="2148840"/>
            <a:ext cx="2971800" cy="3108960"/>
          </a:xfrm>
          <a:prstGeom prst="rect">
            <a:avLst/>
          </a:prstGeom>
          <a:noFill/>
          <a:ln/>
        </p:spPr>
        <p:txBody>
          <a:bodyPr wrap="square" lIns="0" tIns="0" rIns="0" bIns="0" rtlCol="0" anchor="t"/>
          <a:lstStyle/>
          <a:p>
            <a:pPr marL="342900" indent="-342900">
              <a:spcAft>
                <a:spcPts val="1000"/>
              </a:spcAft>
              <a:buSzPct val="100000"/>
              <a:buChar char="•"/>
            </a:pPr>
            <a:r>
              <a:rPr lang="en-US" sz="1220" dirty="0">
                <a:solidFill>
                  <a:srgbClr val="3A3F4C"/>
                </a:solidFill>
                <a:latin typeface="Calibri" pitchFamily="34" charset="0"/>
                <a:ea typeface="Calibri" pitchFamily="34" charset="-122"/>
                <a:cs typeface="Calibri" pitchFamily="34" charset="-120"/>
              </a:rPr>
              <a:t>AIMA 4e Chapter 5, all sections, including 5.6 on games of imperfect information.</a:t>
            </a:r>
            <a:endParaRPr lang="en-US" sz="1220" dirty="0"/>
          </a:p>
          <a:p>
            <a:pPr marL="342900" indent="-342900">
              <a:spcAft>
                <a:spcPts val="1000"/>
              </a:spcAft>
              <a:buSzPct val="100000"/>
              <a:buChar char="•"/>
            </a:pPr>
            <a:r>
              <a:rPr lang="en-US" sz="1220" dirty="0">
                <a:solidFill>
                  <a:srgbClr val="3A3F4C"/>
                </a:solidFill>
                <a:latin typeface="Calibri" pitchFamily="34" charset="0"/>
                <a:ea typeface="Calibri" pitchFamily="34" charset="-122"/>
                <a:cs typeface="Calibri" pitchFamily="34" charset="-120"/>
              </a:rPr>
              <a:t>AIMA 4e Sections 16.1 through 16.3.</a:t>
            </a:r>
            <a:endParaRPr lang="en-US" sz="1220" dirty="0"/>
          </a:p>
          <a:p>
            <a:pPr marL="342900" indent="-342900">
              <a:spcAft>
                <a:spcPts val="1000"/>
              </a:spcAft>
              <a:buSzPct val="100000"/>
              <a:buChar char="•"/>
            </a:pPr>
            <a:r>
              <a:rPr lang="en-US" sz="1220" dirty="0">
                <a:solidFill>
                  <a:srgbClr val="3A3F4C"/>
                </a:solidFill>
                <a:latin typeface="Calibri" pitchFamily="34" charset="0"/>
                <a:ea typeface="Calibri" pitchFamily="34" charset="-122"/>
                <a:cs typeface="Calibri" pitchFamily="34" charset="-120"/>
              </a:rPr>
              <a:t>CS188 lecture notes on search with other agents, expectimax and utilities.</a:t>
            </a:r>
            <a:endParaRPr lang="en-US" sz="1220" dirty="0"/>
          </a:p>
        </p:txBody>
      </p:sp>
      <p:sp>
        <p:nvSpPr>
          <p:cNvPr id="10" name="Shape 7"/>
          <p:cNvSpPr/>
          <p:nvPr/>
        </p:nvSpPr>
        <p:spPr>
          <a:xfrm>
            <a:off x="4297680" y="1481328"/>
            <a:ext cx="3493008" cy="3977640"/>
          </a:xfrm>
          <a:prstGeom prst="roundRect">
            <a:avLst>
              <a:gd name="adj" fmla="val 1832"/>
            </a:avLst>
          </a:prstGeom>
          <a:solidFill>
            <a:srgbClr val="F1F2F5"/>
          </a:solidFill>
          <a:ln w="12700">
            <a:solidFill>
              <a:srgbClr val="F1F2F5"/>
            </a:solidFill>
            <a:prstDash val="solid"/>
          </a:ln>
        </p:spPr>
      </p:sp>
      <p:sp>
        <p:nvSpPr>
          <p:cNvPr id="11" name="Text 8"/>
          <p:cNvSpPr/>
          <p:nvPr/>
        </p:nvSpPr>
        <p:spPr>
          <a:xfrm>
            <a:off x="4572000" y="1691640"/>
            <a:ext cx="2926080" cy="365760"/>
          </a:xfrm>
          <a:prstGeom prst="rect">
            <a:avLst/>
          </a:prstGeom>
          <a:noFill/>
          <a:ln/>
        </p:spPr>
        <p:txBody>
          <a:bodyPr wrap="square" lIns="0" tIns="0" rIns="0" bIns="0" rtlCol="0" anchor="ctr"/>
          <a:lstStyle/>
          <a:p>
            <a:pPr indent="0" marL="0">
              <a:buNone/>
            </a:pPr>
            <a:r>
              <a:rPr lang="en-US" sz="1800" b="1" dirty="0">
                <a:solidFill>
                  <a:srgbClr val="1D4E63"/>
                </a:solidFill>
                <a:latin typeface="Cambria" pitchFamily="34" charset="0"/>
                <a:ea typeface="Cambria" pitchFamily="34" charset="-122"/>
                <a:cs typeface="Cambria" pitchFamily="34" charset="-120"/>
              </a:rPr>
              <a:t>Practise</a:t>
            </a:r>
            <a:endParaRPr lang="en-US" sz="1800" dirty="0"/>
          </a:p>
        </p:txBody>
      </p:sp>
      <p:sp>
        <p:nvSpPr>
          <p:cNvPr id="12" name="Text 9"/>
          <p:cNvSpPr/>
          <p:nvPr/>
        </p:nvSpPr>
        <p:spPr>
          <a:xfrm>
            <a:off x="4572000" y="2148840"/>
            <a:ext cx="2971800" cy="3108960"/>
          </a:xfrm>
          <a:prstGeom prst="rect">
            <a:avLst/>
          </a:prstGeom>
          <a:noFill/>
          <a:ln/>
        </p:spPr>
        <p:txBody>
          <a:bodyPr wrap="square" lIns="0" tIns="0" rIns="0" bIns="0" rtlCol="0" anchor="t"/>
          <a:lstStyle/>
          <a:p>
            <a:pPr marL="342900" indent="-342900">
              <a:spcAft>
                <a:spcPts val="1000"/>
              </a:spcAft>
              <a:buSzPct val="100000"/>
              <a:buChar char="•"/>
            </a:pPr>
            <a:r>
              <a:rPr lang="en-US" sz="1220" dirty="0">
                <a:solidFill>
                  <a:srgbClr val="3A3F4C"/>
                </a:solidFill>
                <a:latin typeface="Calibri" pitchFamily="34" charset="0"/>
                <a:ea typeface="Calibri" pitchFamily="34" charset="-122"/>
                <a:cs typeface="Calibri" pitchFamily="34" charset="-120"/>
              </a:rPr>
              <a:t>Hand-evaluate a four-ply tree under minimax, then mark every leaf alpha-beta skips under left-to-right ordering.</a:t>
            </a:r>
            <a:endParaRPr lang="en-US" sz="1220" dirty="0"/>
          </a:p>
          <a:p>
            <a:pPr marL="342900" indent="-342900">
              <a:spcAft>
                <a:spcPts val="1000"/>
              </a:spcAft>
              <a:buSzPct val="100000"/>
              <a:buChar char="•"/>
            </a:pPr>
            <a:r>
              <a:rPr lang="en-US" sz="1220" dirty="0">
                <a:solidFill>
                  <a:srgbClr val="3A3F4C"/>
                </a:solidFill>
                <a:latin typeface="Calibri" pitchFamily="34" charset="0"/>
                <a:ea typeface="Calibri" pitchFamily="34" charset="-122"/>
                <a:cs typeface="Calibri" pitchFamily="34" charset="-120"/>
              </a:rPr>
              <a:t>Re-evaluate the same tree with MIN nodes replaced by uniform chance nodes and compare the chosen action.</a:t>
            </a:r>
            <a:endParaRPr lang="en-US" sz="1220" dirty="0"/>
          </a:p>
          <a:p>
            <a:pPr marL="342900" indent="-342900">
              <a:spcAft>
                <a:spcPts val="1000"/>
              </a:spcAft>
              <a:buSzPct val="100000"/>
              <a:buChar char="•"/>
            </a:pPr>
            <a:r>
              <a:rPr lang="en-US" sz="1220" dirty="0">
                <a:solidFill>
                  <a:srgbClr val="3A3F4C"/>
                </a:solidFill>
                <a:latin typeface="Calibri" pitchFamily="34" charset="0"/>
                <a:ea typeface="Calibri" pitchFamily="34" charset="-122"/>
                <a:cs typeface="Calibri" pitchFamily="34" charset="-120"/>
              </a:rPr>
              <a:t>Square every leaf value and identify which of the two algorithms changes its decision.</a:t>
            </a:r>
            <a:endParaRPr lang="en-US" sz="1220" dirty="0"/>
          </a:p>
        </p:txBody>
      </p:sp>
      <p:sp>
        <p:nvSpPr>
          <p:cNvPr id="13" name="Shape 10"/>
          <p:cNvSpPr/>
          <p:nvPr/>
        </p:nvSpPr>
        <p:spPr>
          <a:xfrm>
            <a:off x="8028432" y="1481328"/>
            <a:ext cx="3493008" cy="3977640"/>
          </a:xfrm>
          <a:prstGeom prst="roundRect">
            <a:avLst>
              <a:gd name="adj" fmla="val 1832"/>
            </a:avLst>
          </a:prstGeom>
          <a:solidFill>
            <a:srgbClr val="F1F2F5"/>
          </a:solidFill>
          <a:ln w="12700">
            <a:solidFill>
              <a:srgbClr val="F1F2F5"/>
            </a:solidFill>
            <a:prstDash val="solid"/>
          </a:ln>
        </p:spPr>
      </p:sp>
      <p:sp>
        <p:nvSpPr>
          <p:cNvPr id="14" name="Text 11"/>
          <p:cNvSpPr/>
          <p:nvPr/>
        </p:nvSpPr>
        <p:spPr>
          <a:xfrm>
            <a:off x="8302752" y="1691640"/>
            <a:ext cx="2926080" cy="365760"/>
          </a:xfrm>
          <a:prstGeom prst="rect">
            <a:avLst/>
          </a:prstGeom>
          <a:noFill/>
          <a:ln/>
        </p:spPr>
        <p:txBody>
          <a:bodyPr wrap="square" lIns="0" tIns="0" rIns="0" bIns="0" rtlCol="0" anchor="ctr"/>
          <a:lstStyle/>
          <a:p>
            <a:pPr indent="0" marL="0">
              <a:buNone/>
            </a:pPr>
            <a:r>
              <a:rPr lang="en-US" sz="1800" b="1" dirty="0">
                <a:solidFill>
                  <a:srgbClr val="6B4E8F"/>
                </a:solidFill>
                <a:latin typeface="Cambria" pitchFamily="34" charset="0"/>
                <a:ea typeface="Cambria" pitchFamily="34" charset="-122"/>
                <a:cs typeface="Cambria" pitchFamily="34" charset="-120"/>
              </a:rPr>
              <a:t>Coming next</a:t>
            </a:r>
            <a:endParaRPr lang="en-US" sz="1800" dirty="0"/>
          </a:p>
        </p:txBody>
      </p:sp>
      <p:sp>
        <p:nvSpPr>
          <p:cNvPr id="15" name="Text 12"/>
          <p:cNvSpPr/>
          <p:nvPr/>
        </p:nvSpPr>
        <p:spPr>
          <a:xfrm>
            <a:off x="8302752" y="2148840"/>
            <a:ext cx="2971800" cy="3108960"/>
          </a:xfrm>
          <a:prstGeom prst="rect">
            <a:avLst/>
          </a:prstGeom>
          <a:noFill/>
          <a:ln/>
        </p:spPr>
        <p:txBody>
          <a:bodyPr wrap="square" lIns="0" tIns="0" rIns="0" bIns="0" rtlCol="0" anchor="t"/>
          <a:lstStyle/>
          <a:p>
            <a:pPr marL="342900" indent="-342900">
              <a:spcAft>
                <a:spcPts val="1000"/>
              </a:spcAft>
              <a:buSzPct val="100000"/>
              <a:buChar char="•"/>
            </a:pPr>
            <a:r>
              <a:rPr lang="en-US" sz="1220" dirty="0">
                <a:solidFill>
                  <a:srgbClr val="3A3F4C"/>
                </a:solidFill>
                <a:latin typeface="Calibri" pitchFamily="34" charset="0"/>
                <a:ea typeface="Calibri" pitchFamily="34" charset="-122"/>
                <a:cs typeface="Calibri" pitchFamily="34" charset="-120"/>
              </a:rPr>
              <a:t>Section 16.4 to 16.6: multi-attribute utility, decision networks, and the value of information.</a:t>
            </a:r>
            <a:endParaRPr lang="en-US" sz="1220" dirty="0"/>
          </a:p>
          <a:p>
            <a:pPr marL="342900" indent="-342900">
              <a:spcAft>
                <a:spcPts val="1000"/>
              </a:spcAft>
              <a:buSzPct val="100000"/>
              <a:buChar char="•"/>
            </a:pPr>
            <a:r>
              <a:rPr lang="en-US" sz="1220" dirty="0">
                <a:solidFill>
                  <a:srgbClr val="3A3F4C"/>
                </a:solidFill>
                <a:latin typeface="Calibri" pitchFamily="34" charset="0"/>
                <a:ea typeface="Calibri" pitchFamily="34" charset="-122"/>
                <a:cs typeface="Calibri" pitchFamily="34" charset="-120"/>
              </a:rPr>
              <a:t>Chapter 17: sequential decision problems, where one-shot MEU becomes a Markov decision process.</a:t>
            </a:r>
            <a:endParaRPr lang="en-US" sz="1220" dirty="0"/>
          </a:p>
          <a:p>
            <a:pPr marL="342900" indent="-342900">
              <a:spcAft>
                <a:spcPts val="1000"/>
              </a:spcAft>
              <a:buSzPct val="100000"/>
              <a:buChar char="•"/>
            </a:pPr>
            <a:r>
              <a:rPr lang="en-US" sz="1220" dirty="0">
                <a:solidFill>
                  <a:srgbClr val="3A3F4C"/>
                </a:solidFill>
                <a:latin typeface="Calibri" pitchFamily="34" charset="0"/>
                <a:ea typeface="Calibri" pitchFamily="34" charset="-122"/>
                <a:cs typeface="Calibri" pitchFamily="34" charset="-120"/>
              </a:rPr>
              <a:t>Section 16.7: what happens when the machine is uncertain about the human’s utility function.</a:t>
            </a:r>
            <a:endParaRPr lang="en-US" sz="1220" dirty="0"/>
          </a:p>
        </p:txBody>
      </p:sp>
      <p:sp>
        <p:nvSpPr>
          <p:cNvPr id="16" name="Shape 13"/>
          <p:cNvSpPr/>
          <p:nvPr/>
        </p:nvSpPr>
        <p:spPr>
          <a:xfrm>
            <a:off x="566928" y="5623560"/>
            <a:ext cx="11064240" cy="685800"/>
          </a:xfrm>
          <a:prstGeom prst="roundRect">
            <a:avLst>
              <a:gd name="adj" fmla="val 9333"/>
            </a:avLst>
          </a:prstGeom>
          <a:solidFill>
            <a:srgbClr val="1C1F2A"/>
          </a:solidFill>
          <a:ln w="12700">
            <a:solidFill>
              <a:srgbClr val="1C1F2A"/>
            </a:solidFill>
            <a:prstDash val="solid"/>
          </a:ln>
        </p:spPr>
      </p:sp>
      <p:sp>
        <p:nvSpPr>
          <p:cNvPr id="17" name="Text 14"/>
          <p:cNvSpPr/>
          <p:nvPr/>
        </p:nvSpPr>
        <p:spPr>
          <a:xfrm>
            <a:off x="868680" y="5623560"/>
            <a:ext cx="10515600" cy="685800"/>
          </a:xfrm>
          <a:prstGeom prst="rect">
            <a:avLst/>
          </a:prstGeom>
          <a:noFill/>
          <a:ln/>
        </p:spPr>
        <p:txBody>
          <a:bodyPr wrap="square" lIns="0" tIns="0" rIns="0" bIns="0" rtlCol="0" anchor="ctr"/>
          <a:lstStyle/>
          <a:p>
            <a:pPr indent="0" marL="0">
              <a:buNone/>
            </a:pPr>
            <a:r>
              <a:rPr lang="en-US" sz="1300" dirty="0">
                <a:solidFill>
                  <a:srgbClr val="C6CBD8"/>
                </a:solidFill>
                <a:latin typeface="Calibri" pitchFamily="34" charset="0"/>
                <a:ea typeface="Calibri" pitchFamily="34" charset="-122"/>
                <a:cs typeface="Calibri" pitchFamily="34" charset="-120"/>
              </a:rPr>
              <a:t>Office hours as posted. Bring the trees you got stuck on; hand-tracing alpha-beta is the single best use of that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2026-08-07T18:42:55Z</dcterms:created>
  <dcterms:modified xsi:type="dcterms:W3CDTF">2026-08-07T18:42:55Z</dcterms:modified>
</cp:coreProperties>
</file>