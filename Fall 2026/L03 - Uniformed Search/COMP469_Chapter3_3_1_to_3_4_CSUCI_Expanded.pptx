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slides/slide25.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59.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37.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27.xml" ContentType="application/vnd.openxmlformats-officedocument.presentationml.slide+xml"/>
  <Override PartName="/ppt/slides/slide55.xml" ContentType="application/vnd.openxmlformats-officedocument.presentationml.slide+xml"/>
  <Override PartName="/ppt/slides/slide53.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14.xml" ContentType="application/vnd.openxmlformats-officedocument.presentationml.slide+xml"/>
  <Override PartName="/ppt/slides/slide30.xml" ContentType="application/vnd.openxmlformats-officedocument.presentationml.slide+xml"/>
  <Override PartName="/ppt/slides/slide52.xml" ContentType="application/vnd.openxmlformats-officedocument.presentationml.slide+xml"/>
  <Override PartName="/ppt/slides/slide45.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40.xml" ContentType="application/vnd.openxmlformats-officedocument.presentationml.slide+xml"/>
  <Override PartName="/ppt/slides/slide47.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56.xml" ContentType="application/vnd.openxmlformats-officedocument.presentationml.slide+xml"/>
  <Override PartName="/ppt/slides/slide50.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23.xml" ContentType="application/vnd.openxmlformats-officedocument.presentationml.slide+xml"/>
  <Override PartName="/ppt/slides/slide41.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1.xml" ContentType="application/vnd.openxmlformats-officedocument.presentationml.slide+xml"/>
  <Override PartName="/ppt/slides/slide49.xml" ContentType="application/vnd.openxmlformats-officedocument.presentationml.slide+xml"/>
  <Override PartName="/ppt/slides/slide57.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58.xml" ContentType="application/vnd.openxmlformats-officedocument.presentationml.slide+xml"/>
  <Override PartName="/ppt/slides/slide15.xml" ContentType="application/vnd.openxmlformats-officedocument.presentationml.slide+xml"/>
  <Override PartName="/ppt/slides/slide51.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notesSlides/notesSlide47.xml" ContentType="application/vnd.openxmlformats-officedocument.presentationml.notesSlide+xml"/>
  <Override PartName="/ppt/notesSlides/notesSlide31.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17.xml" ContentType="application/vnd.openxmlformats-officedocument.presentationml.notesSlide+xml"/>
  <Override PartName="/ppt/notesSlides/notesSlide57.xml" ContentType="application/vnd.openxmlformats-officedocument.presentationml.notesSlide+xml"/>
  <Override PartName="/ppt/notesSlides/notesSlide12.xml" ContentType="application/vnd.openxmlformats-officedocument.presentationml.notesSlide+xml"/>
  <Override PartName="/ppt/notesSlides/notesSlide39.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49.xml" ContentType="application/vnd.openxmlformats-officedocument.presentationml.notesSlide+xml"/>
  <Override PartName="/ppt/notesSlides/notesSlide46.xml" ContentType="application/vnd.openxmlformats-officedocument.presentationml.notesSlide+xml"/>
  <Override PartName="/ppt/notesSlides/notesSlide58.xml" ContentType="application/vnd.openxmlformats-officedocument.presentationml.notesSlide+xml"/>
  <Override PartName="/ppt/notesSlides/notesSlide34.xml" ContentType="application/vnd.openxmlformats-officedocument.presentationml.notesSlide+xml"/>
  <Override PartName="/ppt/notesSlides/notesSlide25.xml" ContentType="application/vnd.openxmlformats-officedocument.presentationml.notesSlide+xml"/>
  <Override PartName="/ppt/notesSlides/notesSlide11.xml" ContentType="application/vnd.openxmlformats-officedocument.presentationml.notesSlide+xml"/>
  <Override PartName="/ppt/notesSlides/notesSlide44.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30.xml" ContentType="application/vnd.openxmlformats-officedocument.presentationml.notesSlide+xml"/>
  <Override PartName="/ppt/notesSlides/notesSlide45.xml" ContentType="application/vnd.openxmlformats-officedocument.presentationml.notesSlide+xml"/>
  <Override PartName="/ppt/notesSlides/notesSlide37.xml" ContentType="application/vnd.openxmlformats-officedocument.presentationml.notesSlide+xml"/>
  <Override PartName="/ppt/notesSlides/notesSlide40.xml" ContentType="application/vnd.openxmlformats-officedocument.presentationml.notesSlide+xml"/>
  <Override PartName="/ppt/notesSlides/notesSlide1.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29.xml" ContentType="application/vnd.openxmlformats-officedocument.presentationml.notesSlide+xml"/>
  <Override PartName="/ppt/notesSlides/notesSlide8.xml" ContentType="application/vnd.openxmlformats-officedocument.presentationml.notesSlide+xml"/>
  <Override PartName="/ppt/notesSlides/notesSlide55.xml" ContentType="application/vnd.openxmlformats-officedocument.presentationml.notesSlide+xml"/>
  <Override PartName="/ppt/notesSlides/notesSlide19.xml" ContentType="application/vnd.openxmlformats-officedocument.presentationml.notesSlide+xml"/>
  <Override PartName="/ppt/notesSlides/notesSlide28.xml" ContentType="application/vnd.openxmlformats-officedocument.presentationml.notesSlide+xml"/>
  <Override PartName="/ppt/notesSlides/notesSlide33.xml" ContentType="application/vnd.openxmlformats-officedocument.presentationml.notesSlide+xml"/>
  <Override PartName="/ppt/notesSlides/notesSlide3.xml" ContentType="application/vnd.openxmlformats-officedocument.presentationml.notesSlide+xml"/>
  <Override PartName="/ppt/notesSlides/notesSlide52.xml" ContentType="application/vnd.openxmlformats-officedocument.presentationml.notesSlide+xml"/>
  <Override PartName="/ppt/notesSlides/notesSlide2.xml" ContentType="application/vnd.openxmlformats-officedocument.presentationml.notesSlide+xml"/>
  <Override PartName="/ppt/notesSlides/notesSlide27.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56.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22.xml" ContentType="application/vnd.openxmlformats-officedocument.presentationml.notesSlide+xml"/>
  <Override PartName="/ppt/notesSlides/notesSlide51.xml" ContentType="application/vnd.openxmlformats-officedocument.presentationml.notesSlide+xml"/>
  <Override PartName="/ppt/notesSlides/notesSlide35.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42.xml" ContentType="application/vnd.openxmlformats-officedocument.presentationml.notesSlide+xml"/>
  <Override PartName="/ppt/notesSlides/notesSlide16.xml" ContentType="application/vnd.openxmlformats-officedocument.presentationml.notesSlide+xml"/>
  <Override PartName="/ppt/notesSlides/notesSlide24.xml" ContentType="application/vnd.openxmlformats-officedocument.presentationml.notesSlide+xml"/>
  <Override PartName="/ppt/notesSlides/notesSlide4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8"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9"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0"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6B03665-A6A4-4501-ACA4-2DDDAE94154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0" name="PlaceHolder 1"/>
          <p:cNvSpPr>
            <a:spLocks noGrp="1"/>
          </p:cNvSpPr>
          <p:nvPr>
            <p:ph type="sldImg"/>
          </p:nvPr>
        </p:nvSpPr>
        <p:spPr>
          <a:xfrm>
            <a:off x="685800" y="1143000"/>
            <a:ext cx="5486040" cy="3085920"/>
          </a:xfrm>
          <a:prstGeom prst="rect">
            <a:avLst/>
          </a:prstGeom>
          <a:ln w="0">
            <a:noFill/>
          </a:ln>
        </p:spPr>
      </p:sp>
      <p:sp>
        <p:nvSpPr>
          <p:cNvPr id="14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Opening script: Today we are covering Chapter 3, Sections 3.1 through 3.4 only. The theme is that when the right next action is not obvious, an intelligent agent can look ahead. It formulates a goal, builds an abstract model of the problem, searches through possible action sequences, and executes a solution. We are not yet using heuristics or A star. Those belong to the next lecture.</a:t>
            </a:r>
            <a:endParaRPr lang="en-US" sz="2000" b="0" u="none" strike="noStrike">
              <a:solidFill>
                <a:srgbClr val="000000"/>
              </a:solidFill>
              <a:effectLst/>
              <a:uFillTx/>
              <a:latin typeface="Arial"/>
            </a:endParaRPr>
          </a:p>
        </p:txBody>
      </p:sp>
      <p:sp>
        <p:nvSpPr>
          <p:cNvPr id="142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2A35A65-B105-4101-8170-887C26B4909E}"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3" name="PlaceHolder 1"/>
          <p:cNvSpPr>
            <a:spLocks noGrp="1"/>
          </p:cNvSpPr>
          <p:nvPr>
            <p:ph type="sldImg"/>
          </p:nvPr>
        </p:nvSpPr>
        <p:spPr>
          <a:xfrm>
            <a:off x="685800" y="1143000"/>
            <a:ext cx="5486040" cy="3085920"/>
          </a:xfrm>
          <a:prstGeom prst="rect">
            <a:avLst/>
          </a:prstGeom>
          <a:ln w="0">
            <a:noFill/>
          </a:ln>
        </p:spPr>
      </p:sp>
      <p:sp>
        <p:nvSpPr>
          <p:cNvPr id="14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sets the boundaries. Section 3.1 gives the problem-solving agent process. Section 3.2 gives examples. Section 3.3 explains the search tree, frontier, and reached table. Section 3.4 compares uninformed strategies. Keep students from jumping to A star; that is deliberately outside today’s scope.</a:t>
            </a:r>
            <a:endParaRPr lang="en-US" sz="2000" b="0" u="none" strike="noStrike">
              <a:solidFill>
                <a:srgbClr val="000000"/>
              </a:solidFill>
              <a:effectLst/>
              <a:uFillTx/>
              <a:latin typeface="Arial"/>
            </a:endParaRPr>
          </a:p>
        </p:txBody>
      </p:sp>
      <p:sp>
        <p:nvSpPr>
          <p:cNvPr id="142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DADCC93-DE3E-4926-8122-D19CD63B4051}"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6" name="PlaceHolder 1"/>
          <p:cNvSpPr>
            <a:spLocks noGrp="1"/>
          </p:cNvSpPr>
          <p:nvPr>
            <p:ph type="sldImg"/>
          </p:nvPr>
        </p:nvSpPr>
        <p:spPr>
          <a:xfrm>
            <a:off x="685800" y="1143000"/>
            <a:ext cx="5486040" cy="3085920"/>
          </a:xfrm>
          <a:prstGeom prst="rect">
            <a:avLst/>
          </a:prstGeom>
          <a:ln w="0">
            <a:noFill/>
          </a:ln>
        </p:spPr>
      </p:sp>
      <p:sp>
        <p:nvSpPr>
          <p:cNvPr id="14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Use this slide to connect Chapter 2 and Chapter 3. A simple reflex agent reacts to the current percept. A problem-solving agent looks ahead. It simulates action sequences, checks whether they reach a goal, and returns a plan. Search is the computational process of exploring those possible action sequences.</a:t>
            </a:r>
            <a:endParaRPr lang="en-US" sz="2000" b="0" u="none" strike="noStrike">
              <a:solidFill>
                <a:srgbClr val="000000"/>
              </a:solidFill>
              <a:effectLst/>
              <a:uFillTx/>
              <a:latin typeface="Arial"/>
            </a:endParaRPr>
          </a:p>
        </p:txBody>
      </p:sp>
      <p:sp>
        <p:nvSpPr>
          <p:cNvPr id="142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5E873E-4A4D-46FE-816A-5BDC717646F8}"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9" name="PlaceHolder 1"/>
          <p:cNvSpPr>
            <a:spLocks noGrp="1"/>
          </p:cNvSpPr>
          <p:nvPr>
            <p:ph type="sldImg"/>
          </p:nvPr>
        </p:nvSpPr>
        <p:spPr>
          <a:xfrm>
            <a:off x="685800" y="1143000"/>
            <a:ext cx="5486040" cy="3085920"/>
          </a:xfrm>
          <a:prstGeom prst="rect">
            <a:avLst/>
          </a:prstGeom>
          <a:ln w="0">
            <a:noFill/>
          </a:ln>
        </p:spPr>
      </p:sp>
      <p:sp>
        <p:nvSpPr>
          <p:cNvPr id="14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bridges Chapter 2 and Chapter 3, using the CS188 reflex-versus-planning contrast. A reflex agent maps the current percept to an action. A planning agent simulates action sequences and evaluates their outcomes before acting. The one-line summary students should remember: a reflex agent considers how the world IS; a planning agent considers how the world WOULD BE. Also flag the representation point from the chapter opener: Chapter 3 uses atomic states, so the algorithms never look inside a state. Use the discussion question to draw out that a reflex agent can be rational when the environment is simple enough that the right action is a function of the current percept alone.</a:t>
            </a:r>
            <a:endParaRPr lang="en-US" sz="2000" b="0" u="none" strike="noStrike">
              <a:solidFill>
                <a:srgbClr val="000000"/>
              </a:solidFill>
              <a:effectLst/>
              <a:uFillTx/>
              <a:latin typeface="Arial"/>
            </a:endParaRPr>
          </a:p>
        </p:txBody>
      </p:sp>
      <p:sp>
        <p:nvSpPr>
          <p:cNvPr id="143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2CEE9E3-1F68-492D-B1D6-F22C36A6D6FC}"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2" name="PlaceHolder 1"/>
          <p:cNvSpPr>
            <a:spLocks noGrp="1"/>
          </p:cNvSpPr>
          <p:nvPr>
            <p:ph type="sldImg"/>
          </p:nvPr>
        </p:nvSpPr>
        <p:spPr>
          <a:xfrm>
            <a:off x="685800" y="1143000"/>
            <a:ext cx="5486040" cy="3085920"/>
          </a:xfrm>
          <a:prstGeom prst="rect">
            <a:avLst/>
          </a:prstGeom>
          <a:ln w="0">
            <a:noFill/>
          </a:ln>
        </p:spPr>
      </p:sp>
      <p:sp>
        <p:nvSpPr>
          <p:cNvPr id="14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Read this process slowly. First, formulate a goal. Second, formulate a search problem by choosing the right abstraction. Third, search inside the model before acting in the real world. Fourth, execute the returned action sequence. The Romania route problem is the canonical example.</a:t>
            </a:r>
            <a:endParaRPr lang="en-US" sz="2000" b="0" u="none" strike="noStrike">
              <a:solidFill>
                <a:srgbClr val="000000"/>
              </a:solidFill>
              <a:effectLst/>
              <a:uFillTx/>
              <a:latin typeface="Arial"/>
            </a:endParaRPr>
          </a:p>
        </p:txBody>
      </p:sp>
      <p:sp>
        <p:nvSpPr>
          <p:cNvPr id="143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95F574-FFDF-4165-A94D-DBE121DA1F91}"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5" name="PlaceHolder 1"/>
          <p:cNvSpPr>
            <a:spLocks noGrp="1"/>
          </p:cNvSpPr>
          <p:nvPr>
            <p:ph type="sldImg"/>
          </p:nvPr>
        </p:nvSpPr>
        <p:spPr>
          <a:xfrm>
            <a:off x="685800" y="1143000"/>
            <a:ext cx="5486040" cy="3085920"/>
          </a:xfrm>
          <a:prstGeom prst="rect">
            <a:avLst/>
          </a:prstGeom>
          <a:ln w="0">
            <a:noFill/>
          </a:ln>
        </p:spPr>
      </p:sp>
      <p:sp>
        <p:nvSpPr>
          <p:cNvPr id="14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For this part of the chapter, AIMA assumes relatively simple environments: fully observable, deterministic, known, static, discrete, and single-agent. Under these assumptions a solution is a fixed action sequence. This is an open-loop plan. If those assumptions fail, the agent should monitor percepts and replan or use a branching strategy.</a:t>
            </a:r>
            <a:endParaRPr lang="en-US" sz="2000" b="0" u="none" strike="noStrike">
              <a:solidFill>
                <a:srgbClr val="000000"/>
              </a:solidFill>
              <a:effectLst/>
              <a:uFillTx/>
              <a:latin typeface="Arial"/>
            </a:endParaRPr>
          </a:p>
        </p:txBody>
      </p:sp>
      <p:sp>
        <p:nvSpPr>
          <p:cNvPr id="143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734D9B-F353-4FDB-8FB9-4C8241408DAD}"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8" name="PlaceHolder 1"/>
          <p:cNvSpPr>
            <a:spLocks noGrp="1"/>
          </p:cNvSpPr>
          <p:nvPr>
            <p:ph type="sldImg"/>
          </p:nvPr>
        </p:nvSpPr>
        <p:spPr>
          <a:xfrm>
            <a:off x="685800" y="1143000"/>
            <a:ext cx="5486040" cy="3085920"/>
          </a:xfrm>
          <a:prstGeom prst="rect">
            <a:avLst/>
          </a:prstGeom>
          <a:ln w="0">
            <a:noFill/>
          </a:ln>
        </p:spPr>
      </p:sp>
      <p:sp>
        <p:nvSpPr>
          <p:cNvPr id="14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search problem has six parts: state space, initial state, goal test, actions, transition model, and action cost. Keep this as the checklist for every example. If a student cannot identify these six items, the problem is not yet formulated as a search problem.</a:t>
            </a:r>
            <a:endParaRPr lang="en-US" sz="2000" b="0" u="none" strike="noStrike">
              <a:solidFill>
                <a:srgbClr val="000000"/>
              </a:solidFill>
              <a:effectLst/>
              <a:uFillTx/>
              <a:latin typeface="Arial"/>
            </a:endParaRPr>
          </a:p>
        </p:txBody>
      </p:sp>
      <p:sp>
        <p:nvSpPr>
          <p:cNvPr id="144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E602FE-491E-49C4-8560-959229DCCCA0}"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1" name="PlaceHolder 1"/>
          <p:cNvSpPr>
            <a:spLocks noGrp="1"/>
          </p:cNvSpPr>
          <p:nvPr>
            <p:ph type="sldImg"/>
          </p:nvPr>
        </p:nvSpPr>
        <p:spPr>
          <a:xfrm>
            <a:off x="685800" y="1143000"/>
            <a:ext cx="5486040" cy="3085920"/>
          </a:xfrm>
          <a:prstGeom prst="rect">
            <a:avLst/>
          </a:prstGeom>
          <a:ln w="0">
            <a:noFill/>
          </a:ln>
        </p:spPr>
      </p:sp>
      <p:sp>
        <p:nvSpPr>
          <p:cNvPr id="14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Use the Romania route problem to instantiate the formal definition. Cities are states. Roads are actions. The transition model follows roads to adjacent cities. The cost can be distance, time, fuel, or another performance measure.</a:t>
            </a:r>
            <a:endParaRPr lang="en-US" sz="2000" b="0" u="none" strike="noStrike">
              <a:solidFill>
                <a:srgbClr val="000000"/>
              </a:solidFill>
              <a:effectLst/>
              <a:uFillTx/>
              <a:latin typeface="Arial"/>
            </a:endParaRPr>
          </a:p>
        </p:txBody>
      </p:sp>
      <p:sp>
        <p:nvSpPr>
          <p:cNvPr id="1443"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D3A22D-F8F8-42A3-9B08-CCBEA607746D}"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4" name="PlaceHolder 1"/>
          <p:cNvSpPr>
            <a:spLocks noGrp="1"/>
          </p:cNvSpPr>
          <p:nvPr>
            <p:ph type="sldImg"/>
          </p:nvPr>
        </p:nvSpPr>
        <p:spPr>
          <a:xfrm>
            <a:off x="685800" y="1143000"/>
            <a:ext cx="5486040" cy="3085920"/>
          </a:xfrm>
          <a:prstGeom prst="rect">
            <a:avLst/>
          </a:prstGeom>
          <a:ln w="0">
            <a:noFill/>
          </a:ln>
        </p:spPr>
      </p:sp>
      <p:sp>
        <p:nvSpPr>
          <p:cNvPr id="14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search problem is a model, not the real world. A good abstraction removes irrelevant details while preserving the ability to turn the abstract solution into a real action sequence. If the abstraction is too detailed, search is impossible. If it is too coarse, the plan may not be executable.</a:t>
            </a:r>
            <a:endParaRPr lang="en-US" sz="2000" b="0" u="none" strike="noStrike">
              <a:solidFill>
                <a:srgbClr val="000000"/>
              </a:solidFill>
              <a:effectLst/>
              <a:uFillTx/>
              <a:latin typeface="Arial"/>
            </a:endParaRPr>
          </a:p>
        </p:txBody>
      </p:sp>
      <p:sp>
        <p:nvSpPr>
          <p:cNvPr id="1446"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5E9EB0-8C41-47A7-82E6-4C96EA6D2509}"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7" name="PlaceHolder 1"/>
          <p:cNvSpPr>
            <a:spLocks noGrp="1"/>
          </p:cNvSpPr>
          <p:nvPr>
            <p:ph type="sldImg"/>
          </p:nvPr>
        </p:nvSpPr>
        <p:spPr>
          <a:xfrm>
            <a:off x="685800" y="1143000"/>
            <a:ext cx="5486040" cy="3085920"/>
          </a:xfrm>
          <a:prstGeom prst="rect">
            <a:avLst/>
          </a:prstGeom>
          <a:ln w="0">
            <a:noFill/>
          </a:ln>
        </p:spPr>
      </p:sp>
      <p:sp>
        <p:nvSpPr>
          <p:cNvPr id="14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is the CS188 idea expressed in CSUCI form: search operates over models. The agent does not actually drive every road or move every tile in the physical world. It simulates possible actions inside an abstraction. The usefulness of the search algorithm depends on whether the model captures the facts relevant to the goal and cost.</a:t>
            </a:r>
            <a:endParaRPr lang="en-US" sz="2000" b="0" u="none" strike="noStrike">
              <a:solidFill>
                <a:srgbClr val="000000"/>
              </a:solidFill>
              <a:effectLst/>
              <a:uFillTx/>
              <a:latin typeface="Arial"/>
            </a:endParaRPr>
          </a:p>
        </p:txBody>
      </p:sp>
      <p:sp>
        <p:nvSpPr>
          <p:cNvPr id="1449"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3361DC-9148-4712-8C38-5DEF73BEE56B}"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0" name="PlaceHolder 1"/>
          <p:cNvSpPr>
            <a:spLocks noGrp="1"/>
          </p:cNvSpPr>
          <p:nvPr>
            <p:ph type="sldImg"/>
          </p:nvPr>
        </p:nvSpPr>
        <p:spPr>
          <a:xfrm>
            <a:off x="685800" y="1143000"/>
            <a:ext cx="5486040" cy="3085920"/>
          </a:xfrm>
          <a:prstGeom prst="rect">
            <a:avLst/>
          </a:prstGeom>
          <a:ln w="0">
            <a:noFill/>
          </a:ln>
        </p:spPr>
      </p:sp>
      <p:sp>
        <p:nvSpPr>
          <p:cNvPr id="1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Section 3.2 shows that the same search vocabulary applies across many domains. Standardized problems are concise and useful for comparing algorithms. Real-world problems are more idiosyncratic because sensors, actuators, constraints, and costs vary.</a:t>
            </a:r>
            <a:endParaRPr lang="en-US" sz="2000" b="0" u="none" strike="noStrike">
              <a:solidFill>
                <a:srgbClr val="000000"/>
              </a:solidFill>
              <a:effectLst/>
              <a:uFillTx/>
              <a:latin typeface="Arial"/>
            </a:endParaRPr>
          </a:p>
        </p:txBody>
      </p:sp>
      <p:sp>
        <p:nvSpPr>
          <p:cNvPr id="145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6F6583-46F0-48B0-A42D-219C72D9963E}"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3" name="PlaceHolder 1"/>
          <p:cNvSpPr>
            <a:spLocks noGrp="1"/>
          </p:cNvSpPr>
          <p:nvPr>
            <p:ph type="sldImg"/>
          </p:nvPr>
        </p:nvSpPr>
        <p:spPr>
          <a:xfrm>
            <a:off x="685800" y="1143000"/>
            <a:ext cx="5486040" cy="3085920"/>
          </a:xfrm>
          <a:prstGeom prst="rect">
            <a:avLst/>
          </a:prstGeom>
          <a:ln w="0">
            <a:noFill/>
          </a:ln>
        </p:spPr>
      </p:sp>
      <p:sp>
        <p:nvSpPr>
          <p:cNvPr id="14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Grid worlds are the workhorse of Section 3.2.1 and the family most of the programming assignments come from. The point worth slowing down for is the action vocabulary. Absolute actions keep the state small because orientation never enters it. Egocentric actions need a facing in the state, which multiplies the space by four, but they are what a real robot actually executes. That is a formulation decision, not a fact about the world, and it is exactly the kind of choice students have to start making deliberately. Sokoban then shows how fast the space grows once the state has to track movable objects rather than just the agent.</a:t>
            </a:r>
            <a:endParaRPr lang="en-US" sz="2000" b="0" u="none" strike="noStrike">
              <a:solidFill>
                <a:srgbClr val="000000"/>
              </a:solidFill>
              <a:effectLst/>
              <a:uFillTx/>
              <a:latin typeface="Arial"/>
            </a:endParaRPr>
          </a:p>
        </p:txBody>
      </p:sp>
      <p:sp>
        <p:nvSpPr>
          <p:cNvPr id="145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EFA286-C579-49C3-AA8B-194178FA45D3}"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6" name="PlaceHolder 1"/>
          <p:cNvSpPr>
            <a:spLocks noGrp="1"/>
          </p:cNvSpPr>
          <p:nvPr>
            <p:ph type="sldImg"/>
          </p:nvPr>
        </p:nvSpPr>
        <p:spPr>
          <a:xfrm>
            <a:off x="685800" y="1143000"/>
            <a:ext cx="5486040" cy="3085920"/>
          </a:xfrm>
          <a:prstGeom prst="rect">
            <a:avLst/>
          </a:prstGeom>
          <a:ln w="0">
            <a:noFill/>
          </a:ln>
        </p:spPr>
      </p:sp>
      <p:sp>
        <p:nvSpPr>
          <p:cNvPr id="14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Section 3.2 is where students should practice the six-part formulation until it is automatic. Walk the 8-puzzle down the same checklist used for Romania. Two points worth dwelling on. First, the action is described as moving the blank, not moving a tile, because that gives four actions instead of eight and is far simpler to implement. Second, the parity property: any given goal is reachable from exactly half of the possible initial states, which is why the count is 9!/2 rather than 9!. Close on the abstraction point from 3.1.2 - the formulation already threw away the physical sliding motion and every illegal physical manipulation.</a:t>
            </a:r>
            <a:endParaRPr lang="en-US" sz="2000" b="0" u="none" strike="noStrike">
              <a:solidFill>
                <a:srgbClr val="000000"/>
              </a:solidFill>
              <a:effectLst/>
              <a:uFillTx/>
              <a:latin typeface="Arial"/>
            </a:endParaRPr>
          </a:p>
        </p:txBody>
      </p:sp>
      <p:sp>
        <p:nvSpPr>
          <p:cNvPr id="145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B89774D-8E55-4A5B-844F-F090B1F3A50A}"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9" name="PlaceHolder 1"/>
          <p:cNvSpPr>
            <a:spLocks noGrp="1"/>
          </p:cNvSpPr>
          <p:nvPr>
            <p:ph type="sldImg"/>
          </p:nvPr>
        </p:nvSpPr>
        <p:spPr>
          <a:xfrm>
            <a:off x="685800" y="1143000"/>
            <a:ext cx="5486040" cy="3085920"/>
          </a:xfrm>
          <a:prstGeom prst="rect">
            <a:avLst/>
          </a:prstGeom>
          <a:ln w="0">
            <a:noFill/>
          </a:ln>
        </p:spPr>
      </p:sp>
      <p:sp>
        <p:nvSpPr>
          <p:cNvPr id="14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standardized problem students most often skip, and it is the one that matters most for the theory. It is the counterexample that shows a search can avoid every repeated state and still be incomplete. The shortest path from 4 to 5 goes through 4 factorial factorial, which is roughly six times ten to the twenty-third. Set this slide up as the motivation for the systematic-search discussion later in the lecture.</a:t>
            </a:r>
            <a:endParaRPr lang="en-US" sz="2000" b="0" u="none" strike="noStrike">
              <a:solidFill>
                <a:srgbClr val="000000"/>
              </a:solidFill>
              <a:effectLst/>
              <a:uFillTx/>
              <a:latin typeface="Arial"/>
            </a:endParaRPr>
          </a:p>
        </p:txBody>
      </p:sp>
      <p:sp>
        <p:nvSpPr>
          <p:cNvPr id="146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B1082E4-95E0-46DB-A81D-A2A76AB564DB}"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2" name="PlaceHolder 1"/>
          <p:cNvSpPr>
            <a:spLocks noGrp="1"/>
          </p:cNvSpPr>
          <p:nvPr>
            <p:ph type="sldImg"/>
          </p:nvPr>
        </p:nvSpPr>
        <p:spPr>
          <a:xfrm>
            <a:off x="685800" y="1143000"/>
            <a:ext cx="5486040" cy="3085920"/>
          </a:xfrm>
          <a:prstGeom prst="rect">
            <a:avLst/>
          </a:prstGeom>
          <a:ln w="0">
            <a:noFill/>
          </a:ln>
        </p:spPr>
      </p:sp>
      <p:sp>
        <p:nvSpPr>
          <p:cNvPr id="14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Use the vacuum world to make combinatorial growth concrete. The two-cell world has eight states. In general, an n-cell vacuum world has n times two to the n states. The key lesson is that every additional state variable multiplies the search space.</a:t>
            </a:r>
            <a:endParaRPr lang="en-US" sz="2000" b="0" u="none" strike="noStrike">
              <a:solidFill>
                <a:srgbClr val="000000"/>
              </a:solidFill>
              <a:effectLst/>
              <a:uFillTx/>
              <a:latin typeface="Arial"/>
            </a:endParaRPr>
          </a:p>
        </p:txBody>
      </p:sp>
      <p:sp>
        <p:nvSpPr>
          <p:cNvPr id="146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017E52-DF6D-497F-AD2F-D6A72FEC35A0}"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5" name="PlaceHolder 1"/>
          <p:cNvSpPr>
            <a:spLocks noGrp="1"/>
          </p:cNvSpPr>
          <p:nvPr>
            <p:ph type="sldImg"/>
          </p:nvPr>
        </p:nvSpPr>
        <p:spPr>
          <a:xfrm>
            <a:off x="685800" y="1143000"/>
            <a:ext cx="5486040" cy="3085920"/>
          </a:xfrm>
          <a:prstGeom prst="rect">
            <a:avLst/>
          </a:prstGeom>
          <a:ln w="0">
            <a:noFill/>
          </a:ln>
        </p:spPr>
      </p:sp>
      <p:sp>
        <p:nvSpPr>
          <p:cNvPr id="14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world state contains everything. A search state keeps only what is needed for planning. The same physical game can require different search states depending on the task. Pathing needs position only. Eating all dots requires dot status. Safe passage requires timers and power-pellet status.</a:t>
            </a:r>
            <a:endParaRPr lang="en-US" sz="2000" b="0" u="none" strike="noStrike">
              <a:solidFill>
                <a:srgbClr val="000000"/>
              </a:solidFill>
              <a:effectLst/>
              <a:uFillTx/>
              <a:latin typeface="Arial"/>
            </a:endParaRPr>
          </a:p>
        </p:txBody>
      </p:sp>
      <p:sp>
        <p:nvSpPr>
          <p:cNvPr id="146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530EAB-717F-4B33-8FC5-299D400047CE}"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8" name="PlaceHolder 1"/>
          <p:cNvSpPr>
            <a:spLocks noGrp="1"/>
          </p:cNvSpPr>
          <p:nvPr>
            <p:ph type="sldImg"/>
          </p:nvPr>
        </p:nvSpPr>
        <p:spPr>
          <a:xfrm>
            <a:off x="685800" y="1143000"/>
            <a:ext cx="5486040" cy="3085920"/>
          </a:xfrm>
          <a:prstGeom prst="rect">
            <a:avLst/>
          </a:prstGeom>
          <a:ln w="0">
            <a:noFill/>
          </a:ln>
        </p:spPr>
      </p:sp>
      <p:sp>
        <p:nvSpPr>
          <p:cNvPr id="14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CS188 state-space-sizing exercise, and it is the fastest way to make the earlier vacuum-world arithmetic concrete. Work the multiplication out loud. Then make the key move: the same maze gives three completely different state spaces depending on which problem you are solving. Pathing needs 120 states. Eat-all-dots needs 120 times two to the thirtieth. Safe passage adds power-pellet booleans and a scared timer. Ask the class which variables they could drop for each task, and why the answer depends entirely on what the goal test reads.</a:t>
            </a:r>
            <a:endParaRPr lang="en-US" sz="2000" b="0" u="none" strike="noStrike">
              <a:solidFill>
                <a:srgbClr val="000000"/>
              </a:solidFill>
              <a:effectLst/>
              <a:uFillTx/>
              <a:latin typeface="Arial"/>
            </a:endParaRPr>
          </a:p>
        </p:txBody>
      </p:sp>
      <p:sp>
        <p:nvSpPr>
          <p:cNvPr id="147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2AF48E-86BA-470B-B5FF-8AD6A6B3434A}"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1" name="PlaceHolder 1"/>
          <p:cNvSpPr>
            <a:spLocks noGrp="1"/>
          </p:cNvSpPr>
          <p:nvPr>
            <p:ph type="sldImg"/>
          </p:nvPr>
        </p:nvSpPr>
        <p:spPr>
          <a:xfrm>
            <a:off x="685800" y="1143000"/>
            <a:ext cx="5486040" cy="3085920"/>
          </a:xfrm>
          <a:prstGeom prst="rect">
            <a:avLst/>
          </a:prstGeom>
          <a:ln w="0">
            <a:noFill/>
          </a:ln>
        </p:spPr>
      </p:sp>
      <p:sp>
        <p:nvSpPr>
          <p:cNvPr id="14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best real-world example in Section 3.2.2 because it breaks a assumption students have quietly been making, namely that a state is just a snapshot of where you are. In airline planning the fare for a segment depends on which segments you already flew and on their fare bases, so a state that records only the airport and the time is not Markovian with respect to the cost function. The state has to absorb enough history to make the cost well defined. State this as a general test and connect it back to the Pac-Man slide: a variable belongs in the state exactly when the goal test or the cost function reads it. Close by noting that a genuinely good travel system also needs contingency plans, which is closed-loop behaviour and belongs to Chapter 4.</a:t>
            </a:r>
            <a:endParaRPr lang="en-US" sz="2000" b="0" u="none" strike="noStrike">
              <a:solidFill>
                <a:srgbClr val="000000"/>
              </a:solidFill>
              <a:effectLst/>
              <a:uFillTx/>
              <a:latin typeface="Arial"/>
            </a:endParaRPr>
          </a:p>
        </p:txBody>
      </p:sp>
      <p:sp>
        <p:nvSpPr>
          <p:cNvPr id="147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9B6935-4D90-4530-B587-09D4AF80DEA0}"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4" name="PlaceHolder 1"/>
          <p:cNvSpPr>
            <a:spLocks noGrp="1"/>
          </p:cNvSpPr>
          <p:nvPr>
            <p:ph type="sldImg"/>
          </p:nvPr>
        </p:nvSpPr>
        <p:spPr>
          <a:xfrm>
            <a:off x="685800" y="1143000"/>
            <a:ext cx="5486040" cy="3085920"/>
          </a:xfrm>
          <a:prstGeom prst="rect">
            <a:avLst/>
          </a:prstGeom>
          <a:ln w="0">
            <a:noFill/>
          </a:ln>
        </p:spPr>
      </p:sp>
      <p:sp>
        <p:nvSpPr>
          <p:cNvPr id="14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this as a five-minute paired exercise, ideally right after the airline slide while the state-design lesson is fresh. Do not let pairs debate the action set before they have written something in all six boxes; the discipline of filling the whole checklist is the skill being practised. Circulate and look for two failure modes. The first is students who put the target amount, 4, into the state. The second is students who track how much water has been poured in total, or elapsed time, neither of which the goal test or the unit cost function ever reads. Both are productive mistakes to surface out loud before you reveal the answer.</a:t>
            </a:r>
            <a:endParaRPr lang="en-US" sz="2000" b="0" u="none" strike="noStrike">
              <a:solidFill>
                <a:srgbClr val="000000"/>
              </a:solidFill>
              <a:effectLst/>
              <a:uFillTx/>
              <a:latin typeface="Arial"/>
            </a:endParaRPr>
          </a:p>
        </p:txBody>
      </p:sp>
      <p:sp>
        <p:nvSpPr>
          <p:cNvPr id="147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EF011A7-B5ED-4884-9DF3-A095AE4FBFCE}"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7" name="PlaceHolder 1"/>
          <p:cNvSpPr>
            <a:spLocks noGrp="1"/>
          </p:cNvSpPr>
          <p:nvPr>
            <p:ph type="sldImg"/>
          </p:nvPr>
        </p:nvSpPr>
        <p:spPr>
          <a:xfrm>
            <a:off x="685800" y="1143000"/>
            <a:ext cx="5486040" cy="3085920"/>
          </a:xfrm>
          <a:prstGeom prst="rect">
            <a:avLst/>
          </a:prstGeom>
          <a:ln w="0">
            <a:noFill/>
          </a:ln>
        </p:spPr>
      </p:sp>
      <p:sp>
        <p:nvSpPr>
          <p:cNvPr id="14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Reveal one row at a time if you can, and take answers before each. The state is just the ordered pair of jug contents, which gives four times six equals twenty-four states, though not all are reachable. There are six actions and the shortest solution takes six of them: fill the five, pour into the three, empty the three, pour the remaining two into the three, fill the five again, then top up the three, which leaves exactly four in the five-litre jug. The teaching point is the second band. Students who tracked total water poured or elapsed time built a larger state space for no benefit, because neither the goal test nor the unit cost function ever reads those variables. Also note that the target value 4 lives in the goal test, not in the state.</a:t>
            </a:r>
            <a:endParaRPr lang="en-US" sz="2000" b="0" u="none" strike="noStrike">
              <a:solidFill>
                <a:srgbClr val="000000"/>
              </a:solidFill>
              <a:effectLst/>
              <a:uFillTx/>
              <a:latin typeface="Arial"/>
            </a:endParaRPr>
          </a:p>
        </p:txBody>
      </p:sp>
      <p:sp>
        <p:nvSpPr>
          <p:cNvPr id="147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C0DF06-12F5-4262-954E-3EF0C5336019}"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0" name="PlaceHolder 1"/>
          <p:cNvSpPr>
            <a:spLocks noGrp="1"/>
          </p:cNvSpPr>
          <p:nvPr>
            <p:ph type="sldImg"/>
          </p:nvPr>
        </p:nvSpPr>
        <p:spPr>
          <a:xfrm>
            <a:off x="685800" y="1143000"/>
            <a:ext cx="5486040" cy="3085920"/>
          </a:xfrm>
          <a:prstGeom prst="rect">
            <a:avLst/>
          </a:prstGeom>
          <a:ln w="0">
            <a:noFill/>
          </a:ln>
        </p:spPr>
      </p:sp>
      <p:sp>
        <p:nvSpPr>
          <p:cNvPr id="14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section moves from formulation to algorithms. The most important conceptual distinction is state-space graph versus search tree.</a:t>
            </a:r>
            <a:endParaRPr lang="en-US" sz="2000" b="0" u="none" strike="noStrike">
              <a:solidFill>
                <a:srgbClr val="000000"/>
              </a:solidFill>
              <a:effectLst/>
              <a:uFillTx/>
              <a:latin typeface="Arial"/>
            </a:endParaRPr>
          </a:p>
        </p:txBody>
      </p:sp>
      <p:sp>
        <p:nvSpPr>
          <p:cNvPr id="148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9E04C1B-5EF3-425B-B384-D6E3778A1CDB}"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3" name="PlaceHolder 1"/>
          <p:cNvSpPr>
            <a:spLocks noGrp="1"/>
          </p:cNvSpPr>
          <p:nvPr>
            <p:ph type="sldImg"/>
          </p:nvPr>
        </p:nvSpPr>
        <p:spPr>
          <a:xfrm>
            <a:off x="685800" y="1143000"/>
            <a:ext cx="5486040" cy="3085920"/>
          </a:xfrm>
          <a:prstGeom prst="rect">
            <a:avLst/>
          </a:prstGeom>
          <a:ln w="0">
            <a:noFill/>
          </a:ln>
        </p:spPr>
      </p:sp>
      <p:sp>
        <p:nvSpPr>
          <p:cNvPr id="14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state-space graph describes the world. The search tree describes paths through that world. Each node in the search tree corresponds to an entire path in the state-space graph, even if the same state is reached multiple ways.</a:t>
            </a:r>
            <a:endParaRPr lang="en-US" sz="2000" b="0" u="none" strike="noStrike">
              <a:solidFill>
                <a:srgbClr val="000000"/>
              </a:solidFill>
              <a:effectLst/>
              <a:uFillTx/>
              <a:latin typeface="Arial"/>
            </a:endParaRPr>
          </a:p>
        </p:txBody>
      </p:sp>
      <p:sp>
        <p:nvSpPr>
          <p:cNvPr id="148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355C1C-E12B-41D1-9735-9B74D4EF7558}"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6" name="PlaceHolder 1"/>
          <p:cNvSpPr>
            <a:spLocks noGrp="1"/>
          </p:cNvSpPr>
          <p:nvPr>
            <p:ph type="sldImg"/>
          </p:nvPr>
        </p:nvSpPr>
        <p:spPr>
          <a:xfrm>
            <a:off x="685800" y="1143000"/>
            <a:ext cx="5486040" cy="3085920"/>
          </a:xfrm>
          <a:prstGeom prst="rect">
            <a:avLst/>
          </a:prstGeom>
          <a:ln w="0">
            <a:noFill/>
          </a:ln>
        </p:spPr>
      </p:sp>
      <p:sp>
        <p:nvSpPr>
          <p:cNvPr id="14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Click-through build slide. Start with the state-space graph. Emphasize that each state appears once. The graph is useful conceptually but often too large or implicit to construct.</a:t>
            </a:r>
            <a:endParaRPr lang="en-US" sz="2000" b="0" u="none" strike="noStrike">
              <a:solidFill>
                <a:srgbClr val="000000"/>
              </a:solidFill>
              <a:effectLst/>
              <a:uFillTx/>
              <a:latin typeface="Arial"/>
            </a:endParaRPr>
          </a:p>
        </p:txBody>
      </p:sp>
      <p:sp>
        <p:nvSpPr>
          <p:cNvPr id="1488"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189F13-0FCA-4A6C-9AC2-9A6B93703B7F}"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9" name="PlaceHolder 1"/>
          <p:cNvSpPr>
            <a:spLocks noGrp="1"/>
          </p:cNvSpPr>
          <p:nvPr>
            <p:ph type="sldImg"/>
          </p:nvPr>
        </p:nvSpPr>
        <p:spPr>
          <a:xfrm>
            <a:off x="685800" y="1143000"/>
            <a:ext cx="5486040" cy="3085920"/>
          </a:xfrm>
          <a:prstGeom prst="rect">
            <a:avLst/>
          </a:prstGeom>
          <a:ln w="0">
            <a:noFill/>
          </a:ln>
        </p:spPr>
      </p:sp>
      <p:sp>
        <p:nvSpPr>
          <p:cNvPr id="1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Now show the search tree. The root is the initial state. Children are the outcomes of applicable actions. The frontier is the set of leaf nodes waiting to be explored.</a:t>
            </a:r>
            <a:endParaRPr lang="en-US" sz="2000" b="0" u="none" strike="noStrike">
              <a:solidFill>
                <a:srgbClr val="000000"/>
              </a:solidFill>
              <a:effectLst/>
              <a:uFillTx/>
              <a:latin typeface="Arial"/>
            </a:endParaRPr>
          </a:p>
        </p:txBody>
      </p:sp>
      <p:sp>
        <p:nvSpPr>
          <p:cNvPr id="149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1D7C86-A8B5-456C-B2AF-9FDF3A41C58F}"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2" name="PlaceHolder 1"/>
          <p:cNvSpPr>
            <a:spLocks noGrp="1"/>
          </p:cNvSpPr>
          <p:nvPr>
            <p:ph type="sldImg"/>
          </p:nvPr>
        </p:nvSpPr>
        <p:spPr>
          <a:xfrm>
            <a:off x="685800" y="1143000"/>
            <a:ext cx="5486040" cy="3085920"/>
          </a:xfrm>
          <a:prstGeom prst="rect">
            <a:avLst/>
          </a:prstGeom>
          <a:ln w="0">
            <a:noFill/>
          </a:ln>
        </p:spPr>
      </p:sp>
      <p:sp>
        <p:nvSpPr>
          <p:cNvPr id="1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where students often get confused. In the graph, a state exists once. In the search tree, the same state can appear multiple times when reached by different paths. This causes redundancy and motivates reached tables and cycle checks.</a:t>
            </a:r>
            <a:endParaRPr lang="en-US" sz="2000" b="0" u="none" strike="noStrike">
              <a:solidFill>
                <a:srgbClr val="000000"/>
              </a:solidFill>
              <a:effectLst/>
              <a:uFillTx/>
              <a:latin typeface="Arial"/>
            </a:endParaRPr>
          </a:p>
        </p:txBody>
      </p:sp>
      <p:sp>
        <p:nvSpPr>
          <p:cNvPr id="1494"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FC114C-FAA2-4A59-8A11-E1A15D4FE767}"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5" name="PlaceHolder 1"/>
          <p:cNvSpPr>
            <a:spLocks noGrp="1"/>
          </p:cNvSpPr>
          <p:nvPr>
            <p:ph type="sldImg"/>
          </p:nvPr>
        </p:nvSpPr>
        <p:spPr>
          <a:xfrm>
            <a:off x="685800" y="1143000"/>
            <a:ext cx="5486040" cy="3085920"/>
          </a:xfrm>
          <a:prstGeom prst="rect">
            <a:avLst/>
          </a:prstGeom>
          <a:ln w="0">
            <a:noFill/>
          </a:ln>
        </p:spPr>
      </p:sp>
      <p:sp>
        <p:nvSpPr>
          <p:cNvPr id="1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this as a cold-call quiz before revealing the right half. Most students guess a number in the low dozens. The answer is infinite, and the reason is the two-way edge between a and b. Tie it directly back to the previous slides: the state space has four vertices, but the search tree has one node per path, and there are infinitely many paths. This is the cleanest possible motivation for the reached table, and it sets up the redundant-paths discussion in Section 3.3.3.</a:t>
            </a:r>
            <a:endParaRPr lang="en-US" sz="2000" b="0" u="none" strike="noStrike">
              <a:solidFill>
                <a:srgbClr val="000000"/>
              </a:solidFill>
              <a:effectLst/>
              <a:uFillTx/>
              <a:latin typeface="Arial"/>
            </a:endParaRPr>
          </a:p>
        </p:txBody>
      </p:sp>
      <p:sp>
        <p:nvSpPr>
          <p:cNvPr id="1497"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6CB5F2C-5D56-44DC-8FAD-7CE3BBE61BEE}"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8" name="PlaceHolder 1"/>
          <p:cNvSpPr>
            <a:spLocks noGrp="1"/>
          </p:cNvSpPr>
          <p:nvPr>
            <p:ph type="sldImg"/>
          </p:nvPr>
        </p:nvSpPr>
        <p:spPr>
          <a:xfrm>
            <a:off x="685800" y="1143000"/>
            <a:ext cx="5486040" cy="3085920"/>
          </a:xfrm>
          <a:prstGeom prst="rect">
            <a:avLst/>
          </a:prstGeom>
          <a:ln w="0">
            <a:noFill/>
          </a:ln>
        </p:spPr>
      </p:sp>
      <p:sp>
        <p:nvSpPr>
          <p:cNvPr id="1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frontier is the boundary of the search tree: generated but unexpanded nodes. Expansion removes one frontier node, applies the actions, and creates successors. The reached table prevents repeated work by remembering states already generated.</a:t>
            </a:r>
            <a:endParaRPr lang="en-US" sz="2000" b="0" u="none" strike="noStrike">
              <a:solidFill>
                <a:srgbClr val="000000"/>
              </a:solidFill>
              <a:effectLst/>
              <a:uFillTx/>
              <a:latin typeface="Arial"/>
            </a:endParaRPr>
          </a:p>
        </p:txBody>
      </p:sp>
      <p:sp>
        <p:nvSpPr>
          <p:cNvPr id="1500"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1FB58A-5D90-4A0B-99F8-88D1F4617C35}"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1" name="PlaceHolder 1"/>
          <p:cNvSpPr>
            <a:spLocks noGrp="1"/>
          </p:cNvSpPr>
          <p:nvPr>
            <p:ph type="sldImg"/>
          </p:nvPr>
        </p:nvSpPr>
        <p:spPr>
          <a:xfrm>
            <a:off x="685800" y="1143000"/>
            <a:ext cx="5486040" cy="3085920"/>
          </a:xfrm>
          <a:prstGeom prst="rect">
            <a:avLst/>
          </a:prstGeom>
          <a:ln w="0">
            <a:noFill/>
          </a:ln>
        </p:spPr>
      </p:sp>
      <p:sp>
        <p:nvSpPr>
          <p:cNvPr id="1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Figure 3.6 in the text and it is worth a full minute. The frontier is not just a queue; it is a separating boundary in the state-space graph. Interior states are expanded, exterior states are unreached, and nothing gets from one to the other without passing through the frontier. Two consequences to state explicitly. First, the size of the frontier is the space complexity of the algorithm, which is why BFS runs out of memory and DFS does not. Second, reached and frontier are different things: reached includes everything already expanded plus everything on the frontier.</a:t>
            </a:r>
            <a:endParaRPr lang="en-US" sz="2000" b="0" u="none" strike="noStrike">
              <a:solidFill>
                <a:srgbClr val="000000"/>
              </a:solidFill>
              <a:effectLst/>
              <a:uFillTx/>
              <a:latin typeface="Arial"/>
            </a:endParaRPr>
          </a:p>
        </p:txBody>
      </p:sp>
      <p:sp>
        <p:nvSpPr>
          <p:cNvPr id="1503"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FB66B15-AEC1-402D-8D12-D04A68579ED6}"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4" name="PlaceHolder 1"/>
          <p:cNvSpPr>
            <a:spLocks noGrp="1"/>
          </p:cNvSpPr>
          <p:nvPr>
            <p:ph type="sldImg"/>
          </p:nvPr>
        </p:nvSpPr>
        <p:spPr>
          <a:xfrm>
            <a:off x="685800" y="1143000"/>
            <a:ext cx="5486040" cy="3085920"/>
          </a:xfrm>
          <a:prstGeom prst="rect">
            <a:avLst/>
          </a:prstGeom>
          <a:ln w="0">
            <a:noFill/>
          </a:ln>
        </p:spPr>
      </p:sp>
      <p:sp>
        <p:nvSpPr>
          <p:cNvPr id="1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Section 3.3.1 and it is the organizing idea of the whole chapter in the fourth edition. Present best-first search as the general algorithm and every uninformed strategy as a choice of evaluation function. Walk the pseudocode line by line, then point at the three mappings on the right. Emphasise the re-add condition: if a child reaches a state already in reached but with a lower path cost, the old entry is replaced and the child goes back on the frontier. That single line is what makes uniform-cost search optimal. Tell students the next lecture only changes f.</a:t>
            </a:r>
            <a:endParaRPr lang="en-US" sz="2000" b="0" u="none" strike="noStrike">
              <a:solidFill>
                <a:srgbClr val="000000"/>
              </a:solidFill>
              <a:effectLst/>
              <a:uFillTx/>
              <a:latin typeface="Arial"/>
            </a:endParaRPr>
          </a:p>
        </p:txBody>
      </p:sp>
      <p:sp>
        <p:nvSpPr>
          <p:cNvPr id="1506"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E83995C-FF51-40E2-97C1-2F0A08EF3449}"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7" name="PlaceHolder 1"/>
          <p:cNvSpPr>
            <a:spLocks noGrp="1"/>
          </p:cNvSpPr>
          <p:nvPr>
            <p:ph type="sldImg"/>
          </p:nvPr>
        </p:nvSpPr>
        <p:spPr>
          <a:xfrm>
            <a:off x="685800" y="1143000"/>
            <a:ext cx="5486040" cy="3085920"/>
          </a:xfrm>
          <a:prstGeom prst="rect">
            <a:avLst/>
          </a:prstGeom>
          <a:ln w="0">
            <a:noFill/>
          </a:ln>
        </p:spPr>
      </p:sp>
      <p:sp>
        <p:nvSpPr>
          <p:cNvPr id="1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borrows the one-queue teaching idea but presents it in CSUCI form. The same loop can implement multiple algorithms. BFS, UCS, and DFS differ mostly in which frontier node is popped next.</a:t>
            </a:r>
            <a:endParaRPr lang="en-US" sz="2000" b="0" u="none" strike="noStrike">
              <a:solidFill>
                <a:srgbClr val="000000"/>
              </a:solidFill>
              <a:effectLst/>
              <a:uFillTx/>
              <a:latin typeface="Arial"/>
            </a:endParaRPr>
          </a:p>
        </p:txBody>
      </p:sp>
      <p:sp>
        <p:nvSpPr>
          <p:cNvPr id="1509"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EA5DD0E-C292-4C50-BA4C-9BE2E345F8F2}"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0" name="PlaceHolder 1"/>
          <p:cNvSpPr>
            <a:spLocks noGrp="1"/>
          </p:cNvSpPr>
          <p:nvPr>
            <p:ph type="sldImg"/>
          </p:nvPr>
        </p:nvSpPr>
        <p:spPr>
          <a:xfrm>
            <a:off x="685800" y="1143000"/>
            <a:ext cx="5486040" cy="3085920"/>
          </a:xfrm>
          <a:prstGeom prst="rect">
            <a:avLst/>
          </a:prstGeom>
          <a:ln w="0">
            <a:noFill/>
          </a:ln>
        </p:spPr>
      </p:sp>
      <p:sp>
        <p:nvSpPr>
          <p:cNvPr id="1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search node is not just a state. It includes the parent, the action that produced it, and the path cost. Parent pointers are how the algorithm reconstructs the solution after reaching a goal.</a:t>
            </a:r>
            <a:endParaRPr lang="en-US" sz="2000" b="0" u="none" strike="noStrike">
              <a:solidFill>
                <a:srgbClr val="000000"/>
              </a:solidFill>
              <a:effectLst/>
              <a:uFillTx/>
              <a:latin typeface="Arial"/>
            </a:endParaRPr>
          </a:p>
        </p:txBody>
      </p:sp>
      <p:sp>
        <p:nvSpPr>
          <p:cNvPr id="1512"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AC1FD6-8525-4F1A-8B6E-9B24EDB253FB}"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3" name="PlaceHolder 1"/>
          <p:cNvSpPr>
            <a:spLocks noGrp="1"/>
          </p:cNvSpPr>
          <p:nvPr>
            <p:ph type="sldImg"/>
          </p:nvPr>
        </p:nvSpPr>
        <p:spPr>
          <a:xfrm>
            <a:off x="685800" y="1143000"/>
            <a:ext cx="5486040" cy="3085920"/>
          </a:xfrm>
          <a:prstGeom prst="rect">
            <a:avLst/>
          </a:prstGeom>
          <a:ln w="0">
            <a:noFill/>
          </a:ln>
        </p:spPr>
      </p:sp>
      <p:sp>
        <p:nvSpPr>
          <p:cNvPr id="1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search tree can be much larger than the state space because of repeated states and cycles. A reached table can eliminate redundant paths if memory allows. Cycle checking is a cheaper compromise, especially for depth-first methods.</a:t>
            </a:r>
            <a:endParaRPr lang="en-US" sz="2000" b="0" u="none" strike="noStrike">
              <a:solidFill>
                <a:srgbClr val="000000"/>
              </a:solidFill>
              <a:effectLst/>
              <a:uFillTx/>
              <a:latin typeface="Arial"/>
            </a:endParaRPr>
          </a:p>
        </p:txBody>
      </p:sp>
      <p:sp>
        <p:nvSpPr>
          <p:cNvPr id="1515"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0D2B37-8279-46B9-BDF3-5AAAA71C9AC0}"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6" name="PlaceHolder 1"/>
          <p:cNvSpPr>
            <a:spLocks noGrp="1"/>
          </p:cNvSpPr>
          <p:nvPr>
            <p:ph type="sldImg"/>
          </p:nvPr>
        </p:nvSpPr>
        <p:spPr>
          <a:xfrm>
            <a:off x="685800" y="1143000"/>
            <a:ext cx="5486040" cy="3085920"/>
          </a:xfrm>
          <a:prstGeom prst="rect">
            <a:avLst/>
          </a:prstGeom>
          <a:ln w="0">
            <a:noFill/>
          </a:ln>
        </p:spPr>
      </p:sp>
      <p:sp>
        <p:nvSpPr>
          <p:cNvPr id="1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Name the two terms explicitly, because the textbook uses them precisely and exam questions depend on the distinction. A graph search checks for redundant paths; a tree-like search does not. The best-first algorithm on the previous slide is a graph search, and deleting every reference to reached turns it into a tree-like search. The grid numbers are the persuasive part: 100 cells, all reachable in at most nine moves, but nearly eight to the ninth paths of length nine. That is over a million redundant paths per cell. Finish with the warning about Figure 3.15: those complexity entries are for tree-like versions, and graph search changes several of them, most notably making DFS complete on finite state spaces.</a:t>
            </a:r>
            <a:endParaRPr lang="en-US" sz="2000" b="0" u="none" strike="noStrike">
              <a:solidFill>
                <a:srgbClr val="000000"/>
              </a:solidFill>
              <a:effectLst/>
              <a:uFillTx/>
              <a:latin typeface="Arial"/>
            </a:endParaRPr>
          </a:p>
        </p:txBody>
      </p:sp>
      <p:sp>
        <p:nvSpPr>
          <p:cNvPr id="1518"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2F0836-5B6E-46AE-B623-0C5C102A2941}"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9" name="PlaceHolder 1"/>
          <p:cNvSpPr>
            <a:spLocks noGrp="1"/>
          </p:cNvSpPr>
          <p:nvPr>
            <p:ph type="sldImg"/>
          </p:nvPr>
        </p:nvSpPr>
        <p:spPr>
          <a:xfrm>
            <a:off x="685800" y="1143000"/>
            <a:ext cx="5486040" cy="3085920"/>
          </a:xfrm>
          <a:prstGeom prst="rect">
            <a:avLst/>
          </a:prstGeom>
          <a:ln w="0">
            <a:noFill/>
          </a:ln>
        </p:spPr>
      </p:sp>
      <p:sp>
        <p:nvSpPr>
          <p:cNvPr id="15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search algorithm should be evaluated by completeness, cost optimality, time complexity, and space complexity. In AI we often use b, d, and m because the full graph is implicit rather than stored directly.</a:t>
            </a:r>
            <a:endParaRPr lang="en-US" sz="2000" b="0" u="none" strike="noStrike">
              <a:solidFill>
                <a:srgbClr val="000000"/>
              </a:solidFill>
              <a:effectLst/>
              <a:uFillTx/>
              <a:latin typeface="Arial"/>
            </a:endParaRPr>
          </a:p>
        </p:txBody>
      </p:sp>
      <p:sp>
        <p:nvSpPr>
          <p:cNvPr id="1521"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AF7E45-D133-44A5-8A4E-A0AC975DC914}"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2" name="PlaceHolder 1"/>
          <p:cNvSpPr>
            <a:spLocks noGrp="1"/>
          </p:cNvSpPr>
          <p:nvPr>
            <p:ph type="sldImg"/>
          </p:nvPr>
        </p:nvSpPr>
        <p:spPr>
          <a:xfrm>
            <a:off x="685800" y="1143000"/>
            <a:ext cx="5486040" cy="3085920"/>
          </a:xfrm>
          <a:prstGeom prst="rect">
            <a:avLst/>
          </a:prstGeom>
          <a:ln w="0">
            <a:noFill/>
          </a:ln>
        </p:spPr>
      </p:sp>
      <p:sp>
        <p:nvSpPr>
          <p:cNvPr id="1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Students routinely assume that a reached table plus cycle checking equals completeness. It does not, once the state space is infinite. Both examples on this slide generate a fresh state at every step and never revisit anything, and both are incomplete because they leave most of the space untouched. The property that is actually required is systematicity: the search order must guarantee that any connected state is eventually reached. Breadth-first search has this property, which is why the text calls it complete even on infinite state spaces, and depth-first search does not. Close on the uncomfortable corollary about non-termination.</a:t>
            </a:r>
            <a:endParaRPr lang="en-US" sz="2000" b="0" u="none" strike="noStrike">
              <a:solidFill>
                <a:srgbClr val="000000"/>
              </a:solidFill>
              <a:effectLst/>
              <a:uFillTx/>
              <a:latin typeface="Arial"/>
            </a:endParaRPr>
          </a:p>
        </p:txBody>
      </p:sp>
      <p:sp>
        <p:nvSpPr>
          <p:cNvPr id="1524"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2DCC2AE-3BBB-491E-9838-D17CC8632CB2}"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5" name="PlaceHolder 1"/>
          <p:cNvSpPr>
            <a:spLocks noGrp="1"/>
          </p:cNvSpPr>
          <p:nvPr>
            <p:ph type="sldImg"/>
          </p:nvPr>
        </p:nvSpPr>
        <p:spPr>
          <a:xfrm>
            <a:off x="685800" y="1143000"/>
            <a:ext cx="5486040" cy="3085920"/>
          </a:xfrm>
          <a:prstGeom prst="rect">
            <a:avLst/>
          </a:prstGeom>
          <a:ln w="0">
            <a:noFill/>
          </a:ln>
        </p:spPr>
      </p:sp>
      <p:sp>
        <p:nvSpPr>
          <p:cNvPr id="15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Uninformed search has no estimate of distance to the goal. It knows the problem definition but has no heuristic guidance. The algorithms differ in frontier strategy.</a:t>
            </a:r>
            <a:endParaRPr lang="en-US" sz="2000" b="0" u="none" strike="noStrike">
              <a:solidFill>
                <a:srgbClr val="000000"/>
              </a:solidFill>
              <a:effectLst/>
              <a:uFillTx/>
              <a:latin typeface="Arial"/>
            </a:endParaRPr>
          </a:p>
        </p:txBody>
      </p:sp>
      <p:sp>
        <p:nvSpPr>
          <p:cNvPr id="1527"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49314A1-9E3C-4868-9756-3D6805360BF1}"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8" name="PlaceHolder 1"/>
          <p:cNvSpPr>
            <a:spLocks noGrp="1"/>
          </p:cNvSpPr>
          <p:nvPr>
            <p:ph type="sldImg"/>
          </p:nvPr>
        </p:nvSpPr>
        <p:spPr>
          <a:xfrm>
            <a:off x="685800" y="1143000"/>
            <a:ext cx="5486040" cy="3085920"/>
          </a:xfrm>
          <a:prstGeom prst="rect">
            <a:avLst/>
          </a:prstGeom>
          <a:ln w="0">
            <a:noFill/>
          </a:ln>
        </p:spPr>
      </p:sp>
      <p:sp>
        <p:nvSpPr>
          <p:cNvPr id="15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BFS expands all depth 0 nodes, then all depth 1 nodes, then depth 2, and so on. A FIFO queue gives this behavior. BFS is complete and finds the fewest-action solution. It is cost-optimal only when action costs are equal.</a:t>
            </a:r>
            <a:endParaRPr lang="en-US" sz="2000" b="0" u="none" strike="noStrike">
              <a:solidFill>
                <a:srgbClr val="000000"/>
              </a:solidFill>
              <a:effectLst/>
              <a:uFillTx/>
              <a:latin typeface="Arial"/>
            </a:endParaRPr>
          </a:p>
        </p:txBody>
      </p:sp>
      <p:sp>
        <p:nvSpPr>
          <p:cNvPr id="1530"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11B6505-A44C-46B9-9AFC-5287DCE5B79E}"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1" name="PlaceHolder 1"/>
          <p:cNvSpPr>
            <a:spLocks noGrp="1"/>
          </p:cNvSpPr>
          <p:nvPr>
            <p:ph type="sldImg"/>
          </p:nvPr>
        </p:nvSpPr>
        <p:spPr>
          <a:xfrm>
            <a:off x="685800" y="1143000"/>
            <a:ext cx="5486040" cy="3085920"/>
          </a:xfrm>
          <a:prstGeom prst="rect">
            <a:avLst/>
          </a:prstGeom>
          <a:ln w="0">
            <a:noFill/>
          </a:ln>
        </p:spPr>
      </p:sp>
      <p:sp>
        <p:nvSpPr>
          <p:cNvPr id="15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Build slide one: the frontier initially contains only the start node. Ask students which node expands next.</a:t>
            </a:r>
            <a:endParaRPr lang="en-US" sz="2000" b="0" u="none" strike="noStrike">
              <a:solidFill>
                <a:srgbClr val="000000"/>
              </a:solidFill>
              <a:effectLst/>
              <a:uFillTx/>
              <a:latin typeface="Arial"/>
            </a:endParaRPr>
          </a:p>
        </p:txBody>
      </p:sp>
      <p:sp>
        <p:nvSpPr>
          <p:cNvPr id="1533"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B7AB6D-9A5D-4C96-B739-FCEE058EC926}"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4" name="PlaceHolder 1"/>
          <p:cNvSpPr>
            <a:spLocks noGrp="1"/>
          </p:cNvSpPr>
          <p:nvPr>
            <p:ph type="sldImg"/>
          </p:nvPr>
        </p:nvSpPr>
        <p:spPr>
          <a:xfrm>
            <a:off x="685800" y="1143000"/>
            <a:ext cx="5486040" cy="3085920"/>
          </a:xfrm>
          <a:prstGeom prst="rect">
            <a:avLst/>
          </a:prstGeom>
          <a:ln w="0">
            <a:noFill/>
          </a:ln>
        </p:spPr>
      </p:sp>
      <p:sp>
        <p:nvSpPr>
          <p:cNvPr id="15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Build slide two: after expanding S, the frontier contains d, e, and p. Because BFS uses FIFO, all depth-one nodes must be handled before depth-two nodes.</a:t>
            </a:r>
            <a:endParaRPr lang="en-US" sz="2000" b="0" u="none" strike="noStrike">
              <a:solidFill>
                <a:srgbClr val="000000"/>
              </a:solidFill>
              <a:effectLst/>
              <a:uFillTx/>
              <a:latin typeface="Arial"/>
            </a:endParaRPr>
          </a:p>
        </p:txBody>
      </p:sp>
      <p:sp>
        <p:nvSpPr>
          <p:cNvPr id="1536"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310FAA-5C23-41F1-9C00-069CDA43EF97}"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7" name="PlaceHolder 1"/>
          <p:cNvSpPr>
            <a:spLocks noGrp="1"/>
          </p:cNvSpPr>
          <p:nvPr>
            <p:ph type="sldImg"/>
          </p:nvPr>
        </p:nvSpPr>
        <p:spPr>
          <a:xfrm>
            <a:off x="685800" y="1143000"/>
            <a:ext cx="5486040" cy="3085920"/>
          </a:xfrm>
          <a:prstGeom prst="rect">
            <a:avLst/>
          </a:prstGeom>
          <a:ln w="0">
            <a:noFill/>
          </a:ln>
        </p:spPr>
      </p:sp>
      <p:sp>
        <p:nvSpPr>
          <p:cNvPr id="15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Build slide three: BFS expands by tiers. This makes BFS systematic, but it stores an entire layer of frontier nodes. That is why memory usually fails before CPU time.</a:t>
            </a:r>
            <a:endParaRPr lang="en-US" sz="2000" b="0" u="none" strike="noStrike">
              <a:solidFill>
                <a:srgbClr val="000000"/>
              </a:solidFill>
              <a:effectLst/>
              <a:uFillTx/>
              <a:latin typeface="Arial"/>
            </a:endParaRPr>
          </a:p>
        </p:txBody>
      </p:sp>
      <p:sp>
        <p:nvSpPr>
          <p:cNvPr id="1539"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A45E215-33AB-4B6F-A9E2-7672391F0B8B}"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0" name="PlaceHolder 1"/>
          <p:cNvSpPr>
            <a:spLocks noGrp="1"/>
          </p:cNvSpPr>
          <p:nvPr>
            <p:ph type="sldImg"/>
          </p:nvPr>
        </p:nvSpPr>
        <p:spPr>
          <a:xfrm>
            <a:off x="685800" y="1143000"/>
            <a:ext cx="5486040" cy="3085920"/>
          </a:xfrm>
          <a:prstGeom prst="rect">
            <a:avLst/>
          </a:prstGeom>
          <a:ln w="0">
            <a:noFill/>
          </a:ln>
        </p:spPr>
      </p:sp>
      <p:sp>
        <p:nvSpPr>
          <p:cNvPr id="15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BFS generates exponentially many nodes. With branching factor b and shallowest solution depth d, time and space are both O(b to the d). The important practical point from the text is that memory is often the bigger bottleneck.</a:t>
            </a:r>
            <a:endParaRPr lang="en-US" sz="2000" b="0" u="none" strike="noStrike">
              <a:solidFill>
                <a:srgbClr val="000000"/>
              </a:solidFill>
              <a:effectLst/>
              <a:uFillTx/>
              <a:latin typeface="Arial"/>
            </a:endParaRPr>
          </a:p>
        </p:txBody>
      </p:sp>
      <p:sp>
        <p:nvSpPr>
          <p:cNvPr id="1542"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64A61A-8669-4B8E-B4B0-431B3230FCB2}"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3" name="PlaceHolder 1"/>
          <p:cNvSpPr>
            <a:spLocks noGrp="1"/>
          </p:cNvSpPr>
          <p:nvPr>
            <p:ph type="sldImg"/>
          </p:nvPr>
        </p:nvSpPr>
        <p:spPr>
          <a:xfrm>
            <a:off x="685800" y="1143000"/>
            <a:ext cx="5486040" cy="3085920"/>
          </a:xfrm>
          <a:prstGeom prst="rect">
            <a:avLst/>
          </a:prstGeom>
          <a:ln w="0">
            <a:noFill/>
          </a:ln>
        </p:spPr>
      </p:sp>
      <p:sp>
        <p:nvSpPr>
          <p:cNvPr id="15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distinction is easy to state and easy to get wrong on an exam. Breadth-first search is allowed the early goal test because depth is monotone along a path: once BFS reaches a state, no later path to it can be shorter in number of actions. Uniform-cost search has no such guarantee, because a cheap route can be discovered after an expensive one. Use the Sibiu to Bucharest numbers as the concrete proof. This slide is best delivered right after the BFS complexity slide and just before uniform-cost search, so the contrast is fresh when the UCS walkthrough begins.</a:t>
            </a:r>
            <a:endParaRPr lang="en-US" sz="2000" b="0" u="none" strike="noStrike">
              <a:solidFill>
                <a:srgbClr val="000000"/>
              </a:solidFill>
              <a:effectLst/>
              <a:uFillTx/>
              <a:latin typeface="Arial"/>
            </a:endParaRPr>
          </a:p>
        </p:txBody>
      </p:sp>
      <p:sp>
        <p:nvSpPr>
          <p:cNvPr id="1545"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F009C7-3FAA-4B98-9676-E5064DA3E70F}"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6" name="PlaceHolder 1"/>
          <p:cNvSpPr>
            <a:spLocks noGrp="1"/>
          </p:cNvSpPr>
          <p:nvPr>
            <p:ph type="sldImg"/>
          </p:nvPr>
        </p:nvSpPr>
        <p:spPr>
          <a:xfrm>
            <a:off x="685800" y="1143000"/>
            <a:ext cx="5486040" cy="3085920"/>
          </a:xfrm>
          <a:prstGeom prst="rect">
            <a:avLst/>
          </a:prstGeom>
          <a:ln w="0">
            <a:noFill/>
          </a:ln>
        </p:spPr>
      </p:sp>
      <p:sp>
        <p:nvSpPr>
          <p:cNvPr id="15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Uniform-cost search is best-first search where f(n) equals g(n), the path cost. It is the correct uninformed method when action costs differ. It expands outward in increasing path-cost contours, not depth tiers.</a:t>
            </a:r>
            <a:endParaRPr lang="en-US" sz="2000" b="0" u="none" strike="noStrike">
              <a:solidFill>
                <a:srgbClr val="000000"/>
              </a:solidFill>
              <a:effectLst/>
              <a:uFillTx/>
              <a:latin typeface="Arial"/>
            </a:endParaRPr>
          </a:p>
        </p:txBody>
      </p:sp>
      <p:sp>
        <p:nvSpPr>
          <p:cNvPr id="1548"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E1F18B-2ADD-4F2F-87BB-0B9CA3D62567}"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9" name="PlaceHolder 1"/>
          <p:cNvSpPr>
            <a:spLocks noGrp="1"/>
          </p:cNvSpPr>
          <p:nvPr>
            <p:ph type="sldImg"/>
          </p:nvPr>
        </p:nvSpPr>
        <p:spPr>
          <a:xfrm>
            <a:off x="685800" y="1143000"/>
            <a:ext cx="5486040" cy="3085920"/>
          </a:xfrm>
          <a:prstGeom prst="rect">
            <a:avLst/>
          </a:prstGeom>
          <a:ln w="0">
            <a:noFill/>
          </a:ln>
        </p:spPr>
      </p:sp>
      <p:sp>
        <p:nvSpPr>
          <p:cNvPr id="15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Walk through the textbook example. Bucharest is generated through Fagaras with cost 310. Do not stop there. A cheaper route through Rimnicu Vilcea and Pitesti reaches Bucharest with cost 278. UCS performs the goal test when the lowest-cost node is selected for expansion.</a:t>
            </a:r>
            <a:endParaRPr lang="en-US" sz="2000" b="0" u="none" strike="noStrike">
              <a:solidFill>
                <a:srgbClr val="000000"/>
              </a:solidFill>
              <a:effectLst/>
              <a:uFillTx/>
              <a:latin typeface="Arial"/>
            </a:endParaRPr>
          </a:p>
        </p:txBody>
      </p:sp>
      <p:sp>
        <p:nvSpPr>
          <p:cNvPr id="1551"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5EF84E-2BE9-49D4-9EA1-349142770B6E}"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2" name="PlaceHolder 1"/>
          <p:cNvSpPr>
            <a:spLocks noGrp="1"/>
          </p:cNvSpPr>
          <p:nvPr>
            <p:ph type="sldImg"/>
          </p:nvPr>
        </p:nvSpPr>
        <p:spPr>
          <a:xfrm>
            <a:off x="685800" y="1143000"/>
            <a:ext cx="5486040" cy="3085920"/>
          </a:xfrm>
          <a:prstGeom prst="rect">
            <a:avLst/>
          </a:prstGeom>
          <a:ln w="0">
            <a:noFill/>
          </a:ln>
        </p:spPr>
      </p:sp>
      <p:sp>
        <p:nvSpPr>
          <p:cNvPr id="15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Give students four or five minutes on this in pairs. The graph is deliberately built so that the goal is generated early on an expensive path and again later on a cheap one, which is the same shape as the Sibiu to Bucharest example but small enough to trace exhaustively. Ask them to write the whole frontier after each pop, including path costs, not just the node they popped. The two things you are testing are whether they resist returning G the moment it appears on the frontier, and whether they replace the expensive G entry when the cheaper path turns up. Both were stated on earlier slides; this is where you find out whether it stuck.</a:t>
            </a:r>
            <a:endParaRPr lang="en-US" sz="2000" b="0" u="none" strike="noStrike">
              <a:solidFill>
                <a:srgbClr val="000000"/>
              </a:solidFill>
              <a:effectLst/>
              <a:uFillTx/>
              <a:latin typeface="Arial"/>
            </a:endParaRPr>
          </a:p>
        </p:txBody>
      </p:sp>
      <p:sp>
        <p:nvSpPr>
          <p:cNvPr id="1554"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858DA26-7E4A-4825-B2DF-0617C0462136}"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5" name="PlaceHolder 1"/>
          <p:cNvSpPr>
            <a:spLocks noGrp="1"/>
          </p:cNvSpPr>
          <p:nvPr>
            <p:ph type="sldImg"/>
          </p:nvPr>
        </p:nvSpPr>
        <p:spPr>
          <a:xfrm>
            <a:off x="685800" y="1143000"/>
            <a:ext cx="5486040" cy="3085920"/>
          </a:xfrm>
          <a:prstGeom prst="rect">
            <a:avLst/>
          </a:prstGeom>
          <a:ln w="0">
            <a:noFill/>
          </a:ln>
        </p:spPr>
      </p:sp>
      <p:sp>
        <p:nvSpPr>
          <p:cNvPr id="15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Walk the table row by row rather than showing it all at once. The two moments that matter are pop two and pop four. On pop two, expanding A generates G at cost nine, and a student running breadth-first instincts stops there and returns a path fifty percent worse than optimal. On pop four, expanding C generates G at cost six, which is cheaper than the G already in reached, so the entry is replaced and the node goes back on the frontier. That is precisely the re-add condition from the best-first search pseudocode, and this is the first time in the lecture students see it change an answer. Finish by naming the single cause: the goal test happens on expansion.</a:t>
            </a:r>
            <a:endParaRPr lang="en-US" sz="2000" b="0" u="none" strike="noStrike">
              <a:solidFill>
                <a:srgbClr val="000000"/>
              </a:solidFill>
              <a:effectLst/>
              <a:uFillTx/>
              <a:latin typeface="Arial"/>
            </a:endParaRPr>
          </a:p>
        </p:txBody>
      </p:sp>
      <p:sp>
        <p:nvSpPr>
          <p:cNvPr id="1557"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BD254F8-94D9-4234-A8A1-9FB2A90A1F83}"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8" name="PlaceHolder 1"/>
          <p:cNvSpPr>
            <a:spLocks noGrp="1"/>
          </p:cNvSpPr>
          <p:nvPr>
            <p:ph type="sldImg"/>
          </p:nvPr>
        </p:nvSpPr>
        <p:spPr>
          <a:xfrm>
            <a:off x="685800" y="1143000"/>
            <a:ext cx="5486040" cy="3085920"/>
          </a:xfrm>
          <a:prstGeom prst="rect">
            <a:avLst/>
          </a:prstGeom>
          <a:ln w="0">
            <a:noFill/>
          </a:ln>
        </p:spPr>
      </p:sp>
      <p:sp>
        <p:nvSpPr>
          <p:cNvPr id="15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UCS complexity is controlled by the optimal path cost and the minimum positive step cost. The positive-cost assumption prevents infinite sequences of zero-cost or tiny-cost steps from dominating the search.</a:t>
            </a:r>
            <a:endParaRPr lang="en-US" sz="2000" b="0" u="none" strike="noStrike">
              <a:solidFill>
                <a:srgbClr val="000000"/>
              </a:solidFill>
              <a:effectLst/>
              <a:uFillTx/>
              <a:latin typeface="Arial"/>
            </a:endParaRPr>
          </a:p>
        </p:txBody>
      </p:sp>
      <p:sp>
        <p:nvSpPr>
          <p:cNvPr id="1560"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E809D26-44CB-4967-9345-351E3C42A9EA}"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1" name="PlaceHolder 1"/>
          <p:cNvSpPr>
            <a:spLocks noGrp="1"/>
          </p:cNvSpPr>
          <p:nvPr>
            <p:ph type="sldImg"/>
          </p:nvPr>
        </p:nvSpPr>
        <p:spPr>
          <a:xfrm>
            <a:off x="685800" y="1143000"/>
            <a:ext cx="5486040" cy="3085920"/>
          </a:xfrm>
          <a:prstGeom prst="rect">
            <a:avLst/>
          </a:prstGeom>
          <a:ln w="0">
            <a:noFill/>
          </a:ln>
        </p:spPr>
      </p:sp>
      <p:sp>
        <p:nvSpPr>
          <p:cNvPr id="15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CS188 contour picture and it is the single best setup for the next lecture. Uniform-cost search spreads in waves of uniform path cost, so the region it has expanded is roughly a ball around the start rather than a corridor toward the goal. Draw the contrast with the previous slides: UCS is complete and optimal, and those are real guarantees, but it buys them by looking everywhere. Then pose the question the next lecture answers: what would it take to make the search lean toward the goal, and what would we have to give up to get it? The answer is a heuristic, and the price is that the guarantees now depend on admissibility.</a:t>
            </a:r>
            <a:endParaRPr lang="en-US" sz="2000" b="0" u="none" strike="noStrike">
              <a:solidFill>
                <a:srgbClr val="000000"/>
              </a:solidFill>
              <a:effectLst/>
              <a:uFillTx/>
              <a:latin typeface="Arial"/>
            </a:endParaRPr>
          </a:p>
        </p:txBody>
      </p:sp>
      <p:sp>
        <p:nvSpPr>
          <p:cNvPr id="1563"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DF59040-3FC9-4E9B-B2F2-90D6490A0584}"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4" name="PlaceHolder 1"/>
          <p:cNvSpPr>
            <a:spLocks noGrp="1"/>
          </p:cNvSpPr>
          <p:nvPr>
            <p:ph type="sldImg"/>
          </p:nvPr>
        </p:nvSpPr>
        <p:spPr>
          <a:xfrm>
            <a:off x="685800" y="1143000"/>
            <a:ext cx="5486040" cy="3085920"/>
          </a:xfrm>
          <a:prstGeom prst="rect">
            <a:avLst/>
          </a:prstGeom>
          <a:ln w="0">
            <a:noFill/>
          </a:ln>
        </p:spPr>
      </p:sp>
      <p:sp>
        <p:nvSpPr>
          <p:cNvPr id="15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DFS goes deep immediately. Its main advantage is memory. It does not necessarily find the shallowest or cheapest solution. It is attractive when memory is the limiting resource and the search space behaves like a finite tree.</a:t>
            </a:r>
            <a:endParaRPr lang="en-US" sz="2000" b="0" u="none" strike="noStrike">
              <a:solidFill>
                <a:srgbClr val="000000"/>
              </a:solidFill>
              <a:effectLst/>
              <a:uFillTx/>
              <a:latin typeface="Arial"/>
            </a:endParaRPr>
          </a:p>
        </p:txBody>
      </p:sp>
      <p:sp>
        <p:nvSpPr>
          <p:cNvPr id="1566"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382714-EB0F-438A-896A-B55C54116B94}"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7" name="PlaceHolder 1"/>
          <p:cNvSpPr>
            <a:spLocks noGrp="1"/>
          </p:cNvSpPr>
          <p:nvPr>
            <p:ph type="sldImg"/>
          </p:nvPr>
        </p:nvSpPr>
        <p:spPr>
          <a:xfrm>
            <a:off x="685800" y="1143000"/>
            <a:ext cx="5486040" cy="3085920"/>
          </a:xfrm>
          <a:prstGeom prst="rect">
            <a:avLst/>
          </a:prstGeom>
          <a:ln w="0">
            <a:noFill/>
          </a:ln>
        </p:spPr>
      </p:sp>
      <p:sp>
        <p:nvSpPr>
          <p:cNvPr id="15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a click-through explanation slide. DFS follows one path downward. If that path fails, it backs up to the most recent node with unexpanded successors. This is why DFS is memory efficient but not complete in infinite or cyclic spaces.</a:t>
            </a:r>
            <a:endParaRPr lang="en-US" sz="2000" b="0" u="none" strike="noStrike">
              <a:solidFill>
                <a:srgbClr val="000000"/>
              </a:solidFill>
              <a:effectLst/>
              <a:uFillTx/>
              <a:latin typeface="Arial"/>
            </a:endParaRPr>
          </a:p>
        </p:txBody>
      </p:sp>
      <p:sp>
        <p:nvSpPr>
          <p:cNvPr id="1569"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E7CF0D-2DA7-4D63-9F67-2076A7218F55}"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0" name="PlaceHolder 1"/>
          <p:cNvSpPr>
            <a:spLocks noGrp="1"/>
          </p:cNvSpPr>
          <p:nvPr>
            <p:ph type="sldImg"/>
          </p:nvPr>
        </p:nvSpPr>
        <p:spPr>
          <a:xfrm>
            <a:off x="685800" y="1143000"/>
            <a:ext cx="5486040" cy="3085920"/>
          </a:xfrm>
          <a:prstGeom prst="rect">
            <a:avLst/>
          </a:prstGeom>
          <a:ln w="0">
            <a:noFill/>
          </a:ln>
        </p:spPr>
      </p:sp>
      <p:sp>
        <p:nvSpPr>
          <p:cNvPr id="15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DFS can fail badly in cyclic or infinite spaces. Cycle checking helps. Backtracking is a memory-efficient variant that appears later in constraint satisfaction and other AI methods.</a:t>
            </a:r>
            <a:endParaRPr lang="en-US" sz="2000" b="0" u="none" strike="noStrike">
              <a:solidFill>
                <a:srgbClr val="000000"/>
              </a:solidFill>
              <a:effectLst/>
              <a:uFillTx/>
              <a:latin typeface="Arial"/>
            </a:endParaRPr>
          </a:p>
        </p:txBody>
      </p:sp>
      <p:sp>
        <p:nvSpPr>
          <p:cNvPr id="1572"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048A000-F176-47A2-B1C0-6F52F4D3D38E}"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3" name="PlaceHolder 1"/>
          <p:cNvSpPr>
            <a:spLocks noGrp="1"/>
          </p:cNvSpPr>
          <p:nvPr>
            <p:ph type="sldImg"/>
          </p:nvPr>
        </p:nvSpPr>
        <p:spPr>
          <a:xfrm>
            <a:off x="685800" y="1143000"/>
            <a:ext cx="5486040" cy="3085920"/>
          </a:xfrm>
          <a:prstGeom prst="rect">
            <a:avLst/>
          </a:prstGeom>
          <a:ln w="0">
            <a:noFill/>
          </a:ln>
        </p:spPr>
      </p:sp>
      <p:sp>
        <p:nvSpPr>
          <p:cNvPr id="15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this as a two-minute think-pair-share before the comparison table. The goal is not for students to recall the table but to derive it. Push them toward the frontier as the explanation for every entry: BFS pops the oldest node, so it holds a whole tier and pays exponential memory; DFS pops the newest, so it holds one root-to-leaf path plus siblings and pays only b times m. Completeness, optimality, and both complexities all follow from that one design choice. Good follow-up question: what happens to each answer if the state space contains a cycle and you are not keeping a reached table?</a:t>
            </a:r>
            <a:endParaRPr lang="en-US" sz="2000" b="0" u="none" strike="noStrike">
              <a:solidFill>
                <a:srgbClr val="000000"/>
              </a:solidFill>
              <a:effectLst/>
              <a:uFillTx/>
              <a:latin typeface="Arial"/>
            </a:endParaRPr>
          </a:p>
        </p:txBody>
      </p:sp>
      <p:sp>
        <p:nvSpPr>
          <p:cNvPr id="1575"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08E898-AA62-4663-9EFB-CAE6154171CB}"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6" name="PlaceHolder 1"/>
          <p:cNvSpPr>
            <a:spLocks noGrp="1"/>
          </p:cNvSpPr>
          <p:nvPr>
            <p:ph type="sldImg"/>
          </p:nvPr>
        </p:nvSpPr>
        <p:spPr>
          <a:xfrm>
            <a:off x="685800" y="1143000"/>
            <a:ext cx="5486040" cy="3085920"/>
          </a:xfrm>
          <a:prstGeom prst="rect">
            <a:avLst/>
          </a:prstGeom>
          <a:ln w="0">
            <a:noFill/>
          </a:ln>
        </p:spPr>
      </p:sp>
      <p:sp>
        <p:nvSpPr>
          <p:cNvPr id="15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Depth-limited search prevents DFS from going infinitely deep by imposing a limit. Iterative deepening solves the problem of choosing the limit by trying 0, 1, 2, and so on. Most work is at the deepest level, so the repetition is not usually a major asymptotic penalty.</a:t>
            </a:r>
            <a:endParaRPr lang="en-US" sz="2000" b="0" u="none" strike="noStrike">
              <a:solidFill>
                <a:srgbClr val="000000"/>
              </a:solidFill>
              <a:effectLst/>
              <a:uFillTx/>
              <a:latin typeface="Arial"/>
            </a:endParaRPr>
          </a:p>
        </p:txBody>
      </p:sp>
      <p:sp>
        <p:nvSpPr>
          <p:cNvPr id="1578"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6E175D-0455-495A-9487-38BEAF70F1E3}"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9" name="PlaceHolder 1"/>
          <p:cNvSpPr>
            <a:spLocks noGrp="1"/>
          </p:cNvSpPr>
          <p:nvPr>
            <p:ph type="sldImg"/>
          </p:nvPr>
        </p:nvSpPr>
        <p:spPr>
          <a:xfrm>
            <a:off x="685800" y="1143000"/>
            <a:ext cx="5486040" cy="3085920"/>
          </a:xfrm>
          <a:prstGeom prst="rect">
            <a:avLst/>
          </a:prstGeom>
          <a:ln w="0">
            <a:noFill/>
          </a:ln>
        </p:spPr>
      </p:sp>
      <p:sp>
        <p:nvSpPr>
          <p:cNvPr id="15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Students almost always object that iterative deepening throws away work, so meet the objection with the arithmetic. For branching factor ten and depth five, IDS generates 123,450 nodes against 111,110 for BFS: about eleven percent more, for a memory reduction from exponential to linear. The reason is that the node count is dominated by the bottom tier, which IDS generates exactly once. The right-hand column answers the other natural question, which is how to pick the limit in the first place. Introduce the diameter of the state-space graph here, using Romania: nineteen is a safe limit, nine is the good one, and in general you do not know the diameter until you have solved the problem.</a:t>
            </a:r>
            <a:endParaRPr lang="en-US" sz="2000" b="0" u="none" strike="noStrike">
              <a:solidFill>
                <a:srgbClr val="000000"/>
              </a:solidFill>
              <a:effectLst/>
              <a:uFillTx/>
              <a:latin typeface="Arial"/>
            </a:endParaRPr>
          </a:p>
        </p:txBody>
      </p:sp>
      <p:sp>
        <p:nvSpPr>
          <p:cNvPr id="1581"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83E677-DAFF-4A1B-9750-A6AC49E4888C}"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2" name="PlaceHolder 1"/>
          <p:cNvSpPr>
            <a:spLocks noGrp="1"/>
          </p:cNvSpPr>
          <p:nvPr>
            <p:ph type="sldImg"/>
          </p:nvPr>
        </p:nvSpPr>
        <p:spPr>
          <a:xfrm>
            <a:off x="685800" y="1143000"/>
            <a:ext cx="5486040" cy="3085920"/>
          </a:xfrm>
          <a:prstGeom prst="rect">
            <a:avLst/>
          </a:prstGeom>
          <a:ln w="0">
            <a:noFill/>
          </a:ln>
        </p:spPr>
      </p:sp>
      <p:sp>
        <p:nvSpPr>
          <p:cNvPr id="15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Bidirectional search runs one search forward from the initial state and another backward from the goal. The payoff can be large because two searches to half-depth are much smaller than one search to full depth. It requires backward reasoning and a way to detect frontier collisions.</a:t>
            </a:r>
            <a:endParaRPr lang="en-US" sz="2000" b="0" u="none" strike="noStrike">
              <a:solidFill>
                <a:srgbClr val="000000"/>
              </a:solidFill>
              <a:effectLst/>
              <a:uFillTx/>
              <a:latin typeface="Arial"/>
            </a:endParaRPr>
          </a:p>
        </p:txBody>
      </p:sp>
      <p:sp>
        <p:nvSpPr>
          <p:cNvPr id="1584"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EB74AF9-5424-4DB0-9C1F-82968C9F0874}"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5" name="PlaceHolder 1"/>
          <p:cNvSpPr>
            <a:spLocks noGrp="1"/>
          </p:cNvSpPr>
          <p:nvPr>
            <p:ph type="sldImg"/>
          </p:nvPr>
        </p:nvSpPr>
        <p:spPr>
          <a:xfrm>
            <a:off x="685800" y="1143000"/>
            <a:ext cx="5486040" cy="3085920"/>
          </a:xfrm>
          <a:prstGeom prst="rect">
            <a:avLst/>
          </a:prstGeom>
          <a:ln w="0">
            <a:noFill/>
          </a:ln>
        </p:spPr>
      </p:sp>
      <p:sp>
        <p:nvSpPr>
          <p:cNvPr id="15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Bidirectional search is the last uninformed strategy and the one with the biggest gap between its headline number and its practicality. Lead with the payoff, because b to the d over two, twice, really is dramatically smaller than b to the d. Then spend most of the time on the preconditions, because that is where the method breaks down: you need to reason backward from the goal, which means you need an explicit goal state rather than a goal property, and you need the inverse of the transition model. Note the subtlety in the termination test: the first collision is not necessarily optimal for a general evaluation function, so the algorithm keeps a best solution so far. When f is the path cost, no node costing more than C star over two is expanded.</a:t>
            </a:r>
            <a:endParaRPr lang="en-US" sz="2000" b="0" u="none" strike="noStrike">
              <a:solidFill>
                <a:srgbClr val="000000"/>
              </a:solidFill>
              <a:effectLst/>
              <a:uFillTx/>
              <a:latin typeface="Arial"/>
            </a:endParaRPr>
          </a:p>
        </p:txBody>
      </p:sp>
      <p:sp>
        <p:nvSpPr>
          <p:cNvPr id="1587"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A1B4AD9-0E2C-472B-963C-5DAD7198333E}"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8" name="PlaceHolder 1"/>
          <p:cNvSpPr>
            <a:spLocks noGrp="1"/>
          </p:cNvSpPr>
          <p:nvPr>
            <p:ph type="sldImg"/>
          </p:nvPr>
        </p:nvSpPr>
        <p:spPr>
          <a:xfrm>
            <a:off x="685800" y="1143000"/>
            <a:ext cx="5486040" cy="3085920"/>
          </a:xfrm>
          <a:prstGeom prst="rect">
            <a:avLst/>
          </a:prstGeom>
          <a:ln w="0">
            <a:noFill/>
          </a:ln>
        </p:spPr>
      </p:sp>
      <p:sp>
        <p:nvSpPr>
          <p:cNvPr id="15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Use this as the decision aid. BFS is complete and unit-cost optimal but memory heavy. UCS is cost-optimal for positive costs. DFS uses little memory but is unreliable in infinite or cyclic spaces. IDS is often the preferred uninformed method when solution depth is unknown and memory is limited.</a:t>
            </a:r>
            <a:endParaRPr lang="en-US" sz="2000" b="0" u="none" strike="noStrike">
              <a:solidFill>
                <a:srgbClr val="000000"/>
              </a:solidFill>
              <a:effectLst/>
              <a:uFillTx/>
              <a:latin typeface="Arial"/>
            </a:endParaRPr>
          </a:p>
        </p:txBody>
      </p:sp>
      <p:sp>
        <p:nvSpPr>
          <p:cNvPr id="1590"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BF8638-A7A3-4615-9A96-5E9C22A1F1D8}"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1" name="PlaceHolder 1"/>
          <p:cNvSpPr>
            <a:spLocks noGrp="1"/>
          </p:cNvSpPr>
          <p:nvPr>
            <p:ph type="sldImg"/>
          </p:nvPr>
        </p:nvSpPr>
        <p:spPr>
          <a:xfrm>
            <a:off x="685800" y="1143000"/>
            <a:ext cx="5486040" cy="3085920"/>
          </a:xfrm>
          <a:prstGeom prst="rect">
            <a:avLst/>
          </a:prstGeom>
          <a:ln w="0">
            <a:noFill/>
          </a:ln>
        </p:spPr>
      </p:sp>
      <p:sp>
        <p:nvSpPr>
          <p:cNvPr id="15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Close with the main logic. First formulate the problem. Then understand that the search tree is a tree of paths, not merely the state graph. Then choose the frontier strategy. Uninformed search can be complete and sometimes optimal, but it grows quickly because it has no heuristic estimate. The next lecture improves this by adding heuristics.</a:t>
            </a:r>
            <a:endParaRPr lang="en-US" sz="2000" b="0" u="none" strike="noStrike">
              <a:solidFill>
                <a:srgbClr val="000000"/>
              </a:solidFill>
              <a:effectLst/>
              <a:uFillTx/>
              <a:latin typeface="Arial"/>
            </a:endParaRPr>
          </a:p>
        </p:txBody>
      </p:sp>
      <p:sp>
        <p:nvSpPr>
          <p:cNvPr id="1593"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6D251AF-FB34-4229-B018-B6090D528600}"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4" name="PlaceHolder 1"/>
          <p:cNvSpPr>
            <a:spLocks noGrp="1"/>
          </p:cNvSpPr>
          <p:nvPr>
            <p:ph type="sldImg"/>
          </p:nvPr>
        </p:nvSpPr>
        <p:spPr>
          <a:xfrm>
            <a:off x="685800" y="1143000"/>
            <a:ext cx="5486040" cy="3085920"/>
          </a:xfrm>
          <a:prstGeom prst="rect">
            <a:avLst/>
          </a:prstGeom>
          <a:ln w="0">
            <a:noFill/>
          </a:ln>
        </p:spPr>
      </p:sp>
      <p:sp>
        <p:nvSpPr>
          <p:cNvPr id="15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Use this as the closing slide and keep it short. The point is to leave students with a precise sense of what is broken rather than a summary they have already heard. Everything in Sections 3.1 through 3.4 reasons backward: g(n) measures the path already travelled. Nothing so far looks forward. That is exactly why uniform-cost search expands a ball around the start instead of a corridor toward the goal, and why the b to the d bill is unavoidable. Then make the promise concrete: the algorithm does not change next lecture, only the evaluation function does. Add a second term h(n) that estimates the remaining cost and the same loop becomes A*. The cost of that is a new question, which is what admissibility and consistency are for.</a:t>
            </a:r>
            <a:endParaRPr lang="en-US" sz="2000" b="0" u="none" strike="noStrike">
              <a:solidFill>
                <a:srgbClr val="000000"/>
              </a:solidFill>
              <a:effectLst/>
              <a:uFillTx/>
              <a:latin typeface="Arial"/>
            </a:endParaRPr>
          </a:p>
        </p:txBody>
      </p:sp>
      <p:sp>
        <p:nvSpPr>
          <p:cNvPr id="1596"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CC7E1C2-64BB-4EF7-AF08-56D348B879CB}"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EEF5F8"/>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5"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2E5C"/>
        </a:solidFill>
      </p:bgPr>
    </p:bg>
    <p:spTree>
      <p:nvGrpSpPr>
        <p:cNvPr id="1" name=""/>
        <p:cNvGrpSpPr/>
        <p:nvPr/>
      </p:nvGrpSpPr>
      <p:grpSpPr>
        <a:xfrm>
          <a:off x="0" y="0"/>
          <a:ext cx="0" cy="0"/>
          <a:chOff x="0" y="0"/>
          <a:chExt cx="0" cy="0"/>
        </a:xfrm>
      </p:grpSpPr>
      <p:sp>
        <p:nvSpPr>
          <p:cNvPr id="12" name="Shape 0"/>
          <p:cNvSpPr/>
          <p:nvPr/>
        </p:nvSpPr>
        <p:spPr>
          <a:xfrm>
            <a:off x="0" y="0"/>
            <a:ext cx="12191400" cy="68576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 name="Shape 1"/>
          <p:cNvSpPr/>
          <p:nvPr/>
        </p:nvSpPr>
        <p:spPr>
          <a:xfrm>
            <a:off x="0" y="5897880"/>
            <a:ext cx="12191400" cy="109440"/>
          </a:xfrm>
          <a:prstGeom prst="rect">
            <a:avLst/>
          </a:prstGeom>
          <a:solidFill>
            <a:srgbClr val="F6A01A"/>
          </a:solidFill>
          <a:ln w="1270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 name="Text 2"/>
          <p:cNvSpPr/>
          <p:nvPr/>
        </p:nvSpPr>
        <p:spPr>
          <a:xfrm>
            <a:off x="640080" y="777240"/>
            <a:ext cx="10972440" cy="3654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2000" b="1" u="none" strike="noStrike">
                <a:solidFill>
                  <a:srgbClr val="DCE8FF"/>
                </a:solidFill>
                <a:effectLst/>
                <a:uFillTx/>
                <a:latin typeface="Aptos"/>
              </a:rPr>
              <a:t>COMP 469</a:t>
            </a:r>
            <a:endParaRPr lang="en-US" sz="2000" b="0" u="none" strike="noStrike">
              <a:solidFill>
                <a:srgbClr val="FFFFFF"/>
              </a:solidFill>
              <a:effectLst/>
              <a:uFillTx/>
              <a:latin typeface="Arial"/>
            </a:endParaRPr>
          </a:p>
        </p:txBody>
      </p:sp>
      <p:sp>
        <p:nvSpPr>
          <p:cNvPr id="15" name="Text 3"/>
          <p:cNvSpPr/>
          <p:nvPr/>
        </p:nvSpPr>
        <p:spPr>
          <a:xfrm>
            <a:off x="640080" y="1417320"/>
            <a:ext cx="10972440" cy="5940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3400" b="1" u="none" strike="noStrike">
                <a:solidFill>
                  <a:srgbClr val="FFFFFF"/>
                </a:solidFill>
                <a:effectLst/>
                <a:uFillTx/>
                <a:latin typeface="Aptos"/>
              </a:rPr>
              <a:t>Chapter 3: Solving Problems by Searching</a:t>
            </a:r>
            <a:endParaRPr lang="en-US" sz="3400" b="0" u="none" strike="noStrike">
              <a:solidFill>
                <a:srgbClr val="FFFFFF"/>
              </a:solidFill>
              <a:effectLst/>
              <a:uFillTx/>
              <a:latin typeface="Arial"/>
            </a:endParaRPr>
          </a:p>
        </p:txBody>
      </p:sp>
      <p:sp>
        <p:nvSpPr>
          <p:cNvPr id="16" name="Text 4"/>
          <p:cNvSpPr/>
          <p:nvPr/>
        </p:nvSpPr>
        <p:spPr>
          <a:xfrm>
            <a:off x="1051560" y="2148840"/>
            <a:ext cx="10058040" cy="383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DCE8FF"/>
                </a:solidFill>
                <a:effectLst/>
                <a:uFillTx/>
                <a:latin typeface="Aptos"/>
              </a:rPr>
              <a:t>Sections 3.1-3.4 · Problem-solving agents, search problems, search algorithms, and uninformed search</a:t>
            </a:r>
            <a:endParaRPr lang="en-US" sz="1600" b="0" u="none" strike="noStrike">
              <a:solidFill>
                <a:srgbClr val="FFFFFF"/>
              </a:solidFill>
              <a:effectLst/>
              <a:uFillTx/>
              <a:latin typeface="Arial"/>
            </a:endParaRPr>
          </a:p>
        </p:txBody>
      </p:sp>
      <p:sp>
        <p:nvSpPr>
          <p:cNvPr id="17" name="Text 5"/>
          <p:cNvSpPr/>
          <p:nvPr/>
        </p:nvSpPr>
        <p:spPr>
          <a:xfrm>
            <a:off x="1280160" y="3657600"/>
            <a:ext cx="1234080" cy="594000"/>
          </a:xfrm>
          <a:prstGeom prst="roundRect">
            <a:avLst>
              <a:gd name="adj" fmla="val 12308"/>
            </a:avLst>
          </a:prstGeom>
          <a:solidFill>
            <a:srgbClr val="D9E9FF"/>
          </a:solidFill>
          <a:ln w="15240">
            <a:solidFill>
              <a:srgbClr val="FFFFFF"/>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Goal</a:t>
            </a:r>
            <a:endParaRPr lang="en-US" sz="1500" b="0" u="none" strike="noStrike">
              <a:solidFill>
                <a:srgbClr val="000000"/>
              </a:solidFill>
              <a:effectLst/>
              <a:uFillTx/>
              <a:latin typeface="Arial"/>
            </a:endParaRPr>
          </a:p>
        </p:txBody>
      </p:sp>
      <p:sp>
        <p:nvSpPr>
          <p:cNvPr id="18" name="Shape 6"/>
          <p:cNvSpPr/>
          <p:nvPr/>
        </p:nvSpPr>
        <p:spPr>
          <a:xfrm>
            <a:off x="2514600" y="3949920"/>
            <a:ext cx="548640" cy="360"/>
          </a:xfrm>
          <a:prstGeom prst="line">
            <a:avLst/>
          </a:prstGeom>
          <a:ln w="3175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9" name="Text 7"/>
          <p:cNvSpPr/>
          <p:nvPr/>
        </p:nvSpPr>
        <p:spPr>
          <a:xfrm>
            <a:off x="3063240" y="3657600"/>
            <a:ext cx="1234080" cy="594000"/>
          </a:xfrm>
          <a:prstGeom prst="roundRect">
            <a:avLst>
              <a:gd name="adj" fmla="val 12308"/>
            </a:avLst>
          </a:prstGeom>
          <a:solidFill>
            <a:srgbClr val="D9E9FF"/>
          </a:solidFill>
          <a:ln w="15240">
            <a:solidFill>
              <a:srgbClr val="FFFFFF"/>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Problem</a:t>
            </a:r>
            <a:endParaRPr lang="en-US" sz="1500" b="0" u="none" strike="noStrike">
              <a:solidFill>
                <a:srgbClr val="000000"/>
              </a:solidFill>
              <a:effectLst/>
              <a:uFillTx/>
              <a:latin typeface="Arial"/>
            </a:endParaRPr>
          </a:p>
        </p:txBody>
      </p:sp>
      <p:sp>
        <p:nvSpPr>
          <p:cNvPr id="20" name="Shape 8"/>
          <p:cNvSpPr/>
          <p:nvPr/>
        </p:nvSpPr>
        <p:spPr>
          <a:xfrm>
            <a:off x="4297680" y="3949920"/>
            <a:ext cx="777240" cy="360"/>
          </a:xfrm>
          <a:prstGeom prst="line">
            <a:avLst/>
          </a:prstGeom>
          <a:ln w="3175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1" name="Text 9"/>
          <p:cNvSpPr/>
          <p:nvPr/>
        </p:nvSpPr>
        <p:spPr>
          <a:xfrm>
            <a:off x="5074920" y="3657600"/>
            <a:ext cx="1234080" cy="594000"/>
          </a:xfrm>
          <a:prstGeom prst="roundRect">
            <a:avLst>
              <a:gd name="adj" fmla="val 12308"/>
            </a:avLst>
          </a:prstGeom>
          <a:solidFill>
            <a:srgbClr val="D9E9FF"/>
          </a:solidFill>
          <a:ln w="15240">
            <a:solidFill>
              <a:srgbClr val="FFFFFF"/>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Search</a:t>
            </a:r>
            <a:endParaRPr lang="en-US" sz="1500" b="0" u="none" strike="noStrike">
              <a:solidFill>
                <a:srgbClr val="000000"/>
              </a:solidFill>
              <a:effectLst/>
              <a:uFillTx/>
              <a:latin typeface="Arial"/>
            </a:endParaRPr>
          </a:p>
        </p:txBody>
      </p:sp>
      <p:sp>
        <p:nvSpPr>
          <p:cNvPr id="22" name="Shape 10"/>
          <p:cNvSpPr/>
          <p:nvPr/>
        </p:nvSpPr>
        <p:spPr>
          <a:xfrm>
            <a:off x="6309360" y="3949920"/>
            <a:ext cx="777240" cy="360"/>
          </a:xfrm>
          <a:prstGeom prst="line">
            <a:avLst/>
          </a:prstGeom>
          <a:ln w="3175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3" name="Text 11"/>
          <p:cNvSpPr/>
          <p:nvPr/>
        </p:nvSpPr>
        <p:spPr>
          <a:xfrm>
            <a:off x="7086600" y="3657600"/>
            <a:ext cx="1234080" cy="594000"/>
          </a:xfrm>
          <a:prstGeom prst="roundRect">
            <a:avLst>
              <a:gd name="adj" fmla="val 12308"/>
            </a:avLst>
          </a:prstGeom>
          <a:solidFill>
            <a:srgbClr val="D9E9FF"/>
          </a:solidFill>
          <a:ln w="15240">
            <a:solidFill>
              <a:srgbClr val="FFFFFF"/>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Solution</a:t>
            </a:r>
            <a:endParaRPr lang="en-US" sz="1500" b="0" u="none" strike="noStrike">
              <a:solidFill>
                <a:srgbClr val="000000"/>
              </a:solidFill>
              <a:effectLst/>
              <a:uFillTx/>
              <a:latin typeface="Arial"/>
            </a:endParaRPr>
          </a:p>
        </p:txBody>
      </p:sp>
      <p:sp>
        <p:nvSpPr>
          <p:cNvPr id="24" name="Shape 12"/>
          <p:cNvSpPr/>
          <p:nvPr/>
        </p:nvSpPr>
        <p:spPr>
          <a:xfrm>
            <a:off x="8321040" y="3949920"/>
            <a:ext cx="777240" cy="360"/>
          </a:xfrm>
          <a:prstGeom prst="line">
            <a:avLst/>
          </a:prstGeom>
          <a:ln w="3175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5" name="Text 13"/>
          <p:cNvSpPr/>
          <p:nvPr/>
        </p:nvSpPr>
        <p:spPr>
          <a:xfrm>
            <a:off x="9098280" y="3657600"/>
            <a:ext cx="1234080" cy="594000"/>
          </a:xfrm>
          <a:prstGeom prst="roundRect">
            <a:avLst>
              <a:gd name="adj" fmla="val 12308"/>
            </a:avLst>
          </a:prstGeom>
          <a:solidFill>
            <a:srgbClr val="D9E9FF"/>
          </a:solidFill>
          <a:ln w="15240">
            <a:solidFill>
              <a:srgbClr val="FFFFFF"/>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Execute</a:t>
            </a:r>
            <a:endParaRPr lang="en-US" sz="1500" b="0" u="none" strike="noStrike">
              <a:solidFill>
                <a:srgbClr val="000000"/>
              </a:solidFill>
              <a:effectLst/>
              <a:uFillTx/>
              <a:latin typeface="Arial"/>
            </a:endParaRPr>
          </a:p>
        </p:txBody>
      </p:sp>
      <p:sp>
        <p:nvSpPr>
          <p:cNvPr id="26" name="Text 14"/>
          <p:cNvSpPr/>
          <p:nvPr/>
        </p:nvSpPr>
        <p:spPr>
          <a:xfrm>
            <a:off x="640080" y="6263640"/>
            <a:ext cx="10972440" cy="2282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100" b="0" u="none" strike="noStrike">
                <a:solidFill>
                  <a:srgbClr val="DCE8FF"/>
                </a:solidFill>
                <a:effectLst/>
                <a:uFillTx/>
                <a:latin typeface="Aptos"/>
              </a:rPr>
              <a:t>CSU Channel Islands · Department of Computer Science</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7"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9"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Scope and Learning Targets</a:t>
            </a:r>
            <a:endParaRPr lang="en-US" sz="2600" b="0" u="none" strike="noStrike">
              <a:solidFill>
                <a:srgbClr val="000000"/>
              </a:solidFill>
              <a:effectLst/>
              <a:uFillTx/>
              <a:latin typeface="Arial"/>
            </a:endParaRPr>
          </a:p>
        </p:txBody>
      </p:sp>
      <p:sp>
        <p:nvSpPr>
          <p:cNvPr id="30"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1"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2" name="Text 5"/>
          <p:cNvSpPr/>
          <p:nvPr/>
        </p:nvSpPr>
        <p:spPr>
          <a:xfrm>
            <a:off x="777240" y="1417320"/>
            <a:ext cx="959760" cy="502560"/>
          </a:xfrm>
          <a:prstGeom prst="roundRect">
            <a:avLst>
              <a:gd name="adj" fmla="val 14545"/>
            </a:avLst>
          </a:prstGeom>
          <a:solidFill>
            <a:srgbClr val="2F7FD5"/>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FFFFFF"/>
                </a:solidFill>
                <a:effectLst/>
                <a:uFillTx/>
                <a:latin typeface="Aptos"/>
              </a:rPr>
              <a:t>3.1</a:t>
            </a:r>
            <a:endParaRPr lang="en-US" sz="1500" b="0" u="none" strike="noStrike">
              <a:solidFill>
                <a:srgbClr val="FFFFFF"/>
              </a:solidFill>
              <a:effectLst/>
              <a:uFillTx/>
              <a:latin typeface="Arial"/>
            </a:endParaRPr>
          </a:p>
        </p:txBody>
      </p:sp>
      <p:sp>
        <p:nvSpPr>
          <p:cNvPr id="33" name="Text 6"/>
          <p:cNvSpPr/>
          <p:nvPr/>
        </p:nvSpPr>
        <p:spPr>
          <a:xfrm>
            <a:off x="1965960" y="1398960"/>
            <a:ext cx="2742840" cy="25560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800" b="1" u="none" strike="noStrike">
                <a:solidFill>
                  <a:srgbClr val="102A4C"/>
                </a:solidFill>
                <a:effectLst/>
                <a:uFillTx/>
                <a:latin typeface="Aptos"/>
              </a:rPr>
              <a:t>Problem-solving agents</a:t>
            </a:r>
            <a:endParaRPr lang="en-US" sz="1800" b="0" u="none" strike="noStrike">
              <a:solidFill>
                <a:srgbClr val="000000"/>
              </a:solidFill>
              <a:effectLst/>
              <a:uFillTx/>
              <a:latin typeface="Arial"/>
            </a:endParaRPr>
          </a:p>
        </p:txBody>
      </p:sp>
      <p:sp>
        <p:nvSpPr>
          <p:cNvPr id="34" name="Text 7"/>
          <p:cNvSpPr/>
          <p:nvPr/>
        </p:nvSpPr>
        <p:spPr>
          <a:xfrm>
            <a:off x="1965960" y="1710000"/>
            <a:ext cx="8092080" cy="2282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5C6B80"/>
                </a:solidFill>
                <a:effectLst/>
                <a:uFillTx/>
                <a:latin typeface="Aptos"/>
              </a:rPr>
              <a:t>goal formulation, problem formulation, search, execution</a:t>
            </a:r>
            <a:endParaRPr lang="en-US" sz="1350" b="0" u="none" strike="noStrike">
              <a:solidFill>
                <a:srgbClr val="000000"/>
              </a:solidFill>
              <a:effectLst/>
              <a:uFillTx/>
              <a:latin typeface="Arial"/>
            </a:endParaRPr>
          </a:p>
        </p:txBody>
      </p:sp>
      <p:sp>
        <p:nvSpPr>
          <p:cNvPr id="35" name="Text 8"/>
          <p:cNvSpPr/>
          <p:nvPr/>
        </p:nvSpPr>
        <p:spPr>
          <a:xfrm>
            <a:off x="777240" y="2468880"/>
            <a:ext cx="959760" cy="502560"/>
          </a:xfrm>
          <a:prstGeom prst="roundRect">
            <a:avLst>
              <a:gd name="adj" fmla="val 14545"/>
            </a:avLst>
          </a:prstGeom>
          <a:solidFill>
            <a:srgbClr val="177245"/>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FFFFFF"/>
                </a:solidFill>
                <a:effectLst/>
                <a:uFillTx/>
                <a:latin typeface="Aptos"/>
              </a:rPr>
              <a:t>3.2</a:t>
            </a:r>
            <a:endParaRPr lang="en-US" sz="1500" b="0" u="none" strike="noStrike">
              <a:solidFill>
                <a:srgbClr val="FFFFFF"/>
              </a:solidFill>
              <a:effectLst/>
              <a:uFillTx/>
              <a:latin typeface="Arial"/>
            </a:endParaRPr>
          </a:p>
        </p:txBody>
      </p:sp>
      <p:sp>
        <p:nvSpPr>
          <p:cNvPr id="36" name="Text 9"/>
          <p:cNvSpPr/>
          <p:nvPr/>
        </p:nvSpPr>
        <p:spPr>
          <a:xfrm>
            <a:off x="1965960" y="2450520"/>
            <a:ext cx="2742840" cy="25560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800" b="1" u="none" strike="noStrike">
                <a:solidFill>
                  <a:srgbClr val="102A4C"/>
                </a:solidFill>
                <a:effectLst/>
                <a:uFillTx/>
                <a:latin typeface="Aptos"/>
              </a:rPr>
              <a:t>Example problems</a:t>
            </a:r>
            <a:endParaRPr lang="en-US" sz="1800" b="0" u="none" strike="noStrike">
              <a:solidFill>
                <a:srgbClr val="000000"/>
              </a:solidFill>
              <a:effectLst/>
              <a:uFillTx/>
              <a:latin typeface="Arial"/>
            </a:endParaRPr>
          </a:p>
        </p:txBody>
      </p:sp>
      <p:sp>
        <p:nvSpPr>
          <p:cNvPr id="37" name="Text 10"/>
          <p:cNvSpPr/>
          <p:nvPr/>
        </p:nvSpPr>
        <p:spPr>
          <a:xfrm>
            <a:off x="1965960" y="2761560"/>
            <a:ext cx="8092080" cy="2282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5C6B80"/>
                </a:solidFill>
                <a:effectLst/>
                <a:uFillTx/>
                <a:latin typeface="Aptos"/>
              </a:rPr>
              <a:t>grid worlds, puzzles, route-finding, TSP, VLSI, robot navigation</a:t>
            </a:r>
            <a:endParaRPr lang="en-US" sz="1350" b="0" u="none" strike="noStrike">
              <a:solidFill>
                <a:srgbClr val="000000"/>
              </a:solidFill>
              <a:effectLst/>
              <a:uFillTx/>
              <a:latin typeface="Arial"/>
            </a:endParaRPr>
          </a:p>
        </p:txBody>
      </p:sp>
      <p:sp>
        <p:nvSpPr>
          <p:cNvPr id="38" name="Text 11"/>
          <p:cNvSpPr/>
          <p:nvPr/>
        </p:nvSpPr>
        <p:spPr>
          <a:xfrm>
            <a:off x="777240" y="3520440"/>
            <a:ext cx="959760" cy="502560"/>
          </a:xfrm>
          <a:prstGeom prst="roundRect">
            <a:avLst>
              <a:gd name="adj" fmla="val 14545"/>
            </a:avLst>
          </a:prstGeom>
          <a:solidFill>
            <a:srgbClr val="743A6D"/>
          </a:solidFill>
          <a:ln w="15240">
            <a:solidFill>
              <a:srgbClr val="743A6D"/>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FFFFFF"/>
                </a:solidFill>
                <a:effectLst/>
                <a:uFillTx/>
                <a:latin typeface="Aptos"/>
              </a:rPr>
              <a:t>3.3</a:t>
            </a:r>
            <a:endParaRPr lang="en-US" sz="1500" b="0" u="none" strike="noStrike">
              <a:solidFill>
                <a:srgbClr val="FFFFFF"/>
              </a:solidFill>
              <a:effectLst/>
              <a:uFillTx/>
              <a:latin typeface="Arial"/>
            </a:endParaRPr>
          </a:p>
        </p:txBody>
      </p:sp>
      <p:sp>
        <p:nvSpPr>
          <p:cNvPr id="39" name="Text 12"/>
          <p:cNvSpPr/>
          <p:nvPr/>
        </p:nvSpPr>
        <p:spPr>
          <a:xfrm>
            <a:off x="1965960" y="3502080"/>
            <a:ext cx="2742840" cy="25560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800" b="1" u="none" strike="noStrike">
                <a:solidFill>
                  <a:srgbClr val="102A4C"/>
                </a:solidFill>
                <a:effectLst/>
                <a:uFillTx/>
                <a:latin typeface="Aptos"/>
              </a:rPr>
              <a:t>Search algorithms</a:t>
            </a:r>
            <a:endParaRPr lang="en-US" sz="1800" b="0" u="none" strike="noStrike">
              <a:solidFill>
                <a:srgbClr val="000000"/>
              </a:solidFill>
              <a:effectLst/>
              <a:uFillTx/>
              <a:latin typeface="Arial"/>
            </a:endParaRPr>
          </a:p>
        </p:txBody>
      </p:sp>
      <p:sp>
        <p:nvSpPr>
          <p:cNvPr id="40" name="Text 13"/>
          <p:cNvSpPr/>
          <p:nvPr/>
        </p:nvSpPr>
        <p:spPr>
          <a:xfrm>
            <a:off x="1965960" y="3813120"/>
            <a:ext cx="8092080" cy="2282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5C6B80"/>
                </a:solidFill>
                <a:effectLst/>
                <a:uFillTx/>
                <a:latin typeface="Aptos"/>
              </a:rPr>
              <a:t>state-space graph, search tree, frontier, reached table</a:t>
            </a:r>
            <a:endParaRPr lang="en-US" sz="1350" b="0" u="none" strike="noStrike">
              <a:solidFill>
                <a:srgbClr val="000000"/>
              </a:solidFill>
              <a:effectLst/>
              <a:uFillTx/>
              <a:latin typeface="Arial"/>
            </a:endParaRPr>
          </a:p>
        </p:txBody>
      </p:sp>
      <p:sp>
        <p:nvSpPr>
          <p:cNvPr id="41" name="Text 14"/>
          <p:cNvSpPr/>
          <p:nvPr/>
        </p:nvSpPr>
        <p:spPr>
          <a:xfrm>
            <a:off x="777240" y="4572000"/>
            <a:ext cx="959760" cy="502560"/>
          </a:xfrm>
          <a:prstGeom prst="roundRect">
            <a:avLst>
              <a:gd name="adj" fmla="val 14545"/>
            </a:avLst>
          </a:prstGeom>
          <a:solidFill>
            <a:srgbClr val="9B1C1C"/>
          </a:solidFill>
          <a:ln w="15240">
            <a:solidFill>
              <a:srgbClr val="9B1C1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FFFFFF"/>
                </a:solidFill>
                <a:effectLst/>
                <a:uFillTx/>
                <a:latin typeface="Aptos"/>
              </a:rPr>
              <a:t>3.4</a:t>
            </a:r>
            <a:endParaRPr lang="en-US" sz="1500" b="0" u="none" strike="noStrike">
              <a:solidFill>
                <a:srgbClr val="FFFFFF"/>
              </a:solidFill>
              <a:effectLst/>
              <a:uFillTx/>
              <a:latin typeface="Arial"/>
            </a:endParaRPr>
          </a:p>
        </p:txBody>
      </p:sp>
      <p:sp>
        <p:nvSpPr>
          <p:cNvPr id="42" name="Text 15"/>
          <p:cNvSpPr/>
          <p:nvPr/>
        </p:nvSpPr>
        <p:spPr>
          <a:xfrm>
            <a:off x="1965960" y="4553640"/>
            <a:ext cx="2742840" cy="25560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800" b="1" u="none" strike="noStrike">
                <a:solidFill>
                  <a:srgbClr val="102A4C"/>
                </a:solidFill>
                <a:effectLst/>
                <a:uFillTx/>
                <a:latin typeface="Aptos"/>
              </a:rPr>
              <a:t>Uninformed search</a:t>
            </a:r>
            <a:endParaRPr lang="en-US" sz="1800" b="0" u="none" strike="noStrike">
              <a:solidFill>
                <a:srgbClr val="000000"/>
              </a:solidFill>
              <a:effectLst/>
              <a:uFillTx/>
              <a:latin typeface="Arial"/>
            </a:endParaRPr>
          </a:p>
        </p:txBody>
      </p:sp>
      <p:sp>
        <p:nvSpPr>
          <p:cNvPr id="43" name="Text 16"/>
          <p:cNvSpPr/>
          <p:nvPr/>
        </p:nvSpPr>
        <p:spPr>
          <a:xfrm>
            <a:off x="1965960" y="4864680"/>
            <a:ext cx="8092080" cy="2282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5C6B80"/>
                </a:solidFill>
                <a:effectLst/>
                <a:uFillTx/>
                <a:latin typeface="Aptos"/>
              </a:rPr>
              <a:t>BFS, UCS, DFS, depth-limited, IDS, bidirectional search</a:t>
            </a:r>
            <a:endParaRPr lang="en-US" sz="1350" b="0" u="none" strike="noStrike">
              <a:solidFill>
                <a:srgbClr val="000000"/>
              </a:solidFill>
              <a:effectLst/>
              <a:uFillTx/>
              <a:latin typeface="Arial"/>
            </a:endParaRPr>
          </a:p>
        </p:txBody>
      </p:sp>
      <p:sp>
        <p:nvSpPr>
          <p:cNvPr id="44" name="Text 17"/>
          <p:cNvSpPr/>
          <p:nvPr/>
        </p:nvSpPr>
        <p:spPr>
          <a:xfrm>
            <a:off x="1005840" y="5623560"/>
            <a:ext cx="10058040" cy="3196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1" u="none" strike="noStrike">
                <a:solidFill>
                  <a:srgbClr val="9B1C1C"/>
                </a:solidFill>
                <a:effectLst/>
                <a:uFillTx/>
                <a:latin typeface="Aptos"/>
              </a:rPr>
              <a:t>Not today: heuristics, greedy best-first search, A*, consistency, admissibility.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45"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7"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Why Search? Agents That Look Ahead</a:t>
            </a:r>
            <a:endParaRPr lang="en-US" sz="2600" b="0" u="none" strike="noStrike">
              <a:solidFill>
                <a:srgbClr val="000000"/>
              </a:solidFill>
              <a:effectLst/>
              <a:uFillTx/>
              <a:latin typeface="Arial"/>
            </a:endParaRPr>
          </a:p>
        </p:txBody>
      </p:sp>
      <p:sp>
        <p:nvSpPr>
          <p:cNvPr id="48"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9"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0" name="Text 5"/>
          <p:cNvSpPr/>
          <p:nvPr/>
        </p:nvSpPr>
        <p:spPr>
          <a:xfrm>
            <a:off x="822960" y="1325880"/>
            <a:ext cx="10240920" cy="50256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2100" b="1" u="none" strike="noStrike">
                <a:solidFill>
                  <a:srgbClr val="102A4C"/>
                </a:solidFill>
                <a:effectLst/>
                <a:uFillTx/>
                <a:latin typeface="Aptos"/>
              </a:rPr>
              <a:t>A problem-solving agent is a goal-based agent that searches for a sequence of actions before acting.</a:t>
            </a:r>
            <a:endParaRPr lang="en-US" sz="2100" b="0" u="none" strike="noStrike">
              <a:solidFill>
                <a:srgbClr val="000000"/>
              </a:solidFill>
              <a:effectLst/>
              <a:uFillTx/>
              <a:latin typeface="Arial"/>
            </a:endParaRPr>
          </a:p>
        </p:txBody>
      </p:sp>
      <p:sp>
        <p:nvSpPr>
          <p:cNvPr id="51" name="Text 6"/>
          <p:cNvSpPr/>
          <p:nvPr/>
        </p:nvSpPr>
        <p:spPr>
          <a:xfrm>
            <a:off x="685800" y="2377440"/>
            <a:ext cx="1325520" cy="50256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Current state</a:t>
            </a:r>
            <a:endParaRPr lang="en-US" sz="1400" b="0" u="none" strike="noStrike">
              <a:solidFill>
                <a:srgbClr val="000000"/>
              </a:solidFill>
              <a:effectLst/>
              <a:uFillTx/>
              <a:latin typeface="Arial"/>
            </a:endParaRPr>
          </a:p>
        </p:txBody>
      </p:sp>
      <p:sp>
        <p:nvSpPr>
          <p:cNvPr id="52" name="Text 7"/>
          <p:cNvSpPr/>
          <p:nvPr/>
        </p:nvSpPr>
        <p:spPr>
          <a:xfrm>
            <a:off x="612720" y="2971800"/>
            <a:ext cx="1462680" cy="3196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120" b="0" u="none" strike="noStrike">
                <a:solidFill>
                  <a:srgbClr val="5C6B80"/>
                </a:solidFill>
                <a:effectLst/>
                <a:uFillTx/>
                <a:latin typeface="Aptos"/>
              </a:rPr>
              <a:t>What is true now?</a:t>
            </a:r>
            <a:endParaRPr lang="en-US" sz="1120" b="0" u="none" strike="noStrike">
              <a:solidFill>
                <a:srgbClr val="000000"/>
              </a:solidFill>
              <a:effectLst/>
              <a:uFillTx/>
              <a:latin typeface="Arial"/>
            </a:endParaRPr>
          </a:p>
        </p:txBody>
      </p:sp>
      <p:sp>
        <p:nvSpPr>
          <p:cNvPr id="53" name="Shape 8"/>
          <p:cNvSpPr/>
          <p:nvPr/>
        </p:nvSpPr>
        <p:spPr>
          <a:xfrm>
            <a:off x="2011680" y="2633400"/>
            <a:ext cx="941760" cy="360"/>
          </a:xfrm>
          <a:prstGeom prst="line">
            <a:avLst/>
          </a:prstGeom>
          <a:ln w="2794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4" name="Text 9"/>
          <p:cNvSpPr/>
          <p:nvPr/>
        </p:nvSpPr>
        <p:spPr>
          <a:xfrm>
            <a:off x="2953440" y="2377440"/>
            <a:ext cx="1325520" cy="502560"/>
          </a:xfrm>
          <a:prstGeom prst="roundRect">
            <a:avLst>
              <a:gd name="adj" fmla="val 1454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Actions</a:t>
            </a:r>
            <a:endParaRPr lang="en-US" sz="1400" b="0" u="none" strike="noStrike">
              <a:solidFill>
                <a:srgbClr val="000000"/>
              </a:solidFill>
              <a:effectLst/>
              <a:uFillTx/>
              <a:latin typeface="Arial"/>
            </a:endParaRPr>
          </a:p>
        </p:txBody>
      </p:sp>
      <p:sp>
        <p:nvSpPr>
          <p:cNvPr id="55" name="Text 10"/>
          <p:cNvSpPr/>
          <p:nvPr/>
        </p:nvSpPr>
        <p:spPr>
          <a:xfrm>
            <a:off x="2880360" y="2971800"/>
            <a:ext cx="1462680" cy="3196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120" b="0" u="none" strike="noStrike">
                <a:solidFill>
                  <a:srgbClr val="5C6B80"/>
                </a:solidFill>
                <a:effectLst/>
                <a:uFillTx/>
                <a:latin typeface="Aptos"/>
              </a:rPr>
              <a:t>What can I do?</a:t>
            </a:r>
            <a:endParaRPr lang="en-US" sz="1120" b="0" u="none" strike="noStrike">
              <a:solidFill>
                <a:srgbClr val="000000"/>
              </a:solidFill>
              <a:effectLst/>
              <a:uFillTx/>
              <a:latin typeface="Arial"/>
            </a:endParaRPr>
          </a:p>
        </p:txBody>
      </p:sp>
      <p:sp>
        <p:nvSpPr>
          <p:cNvPr id="56" name="Shape 11"/>
          <p:cNvSpPr/>
          <p:nvPr/>
        </p:nvSpPr>
        <p:spPr>
          <a:xfrm>
            <a:off x="4279320" y="2633400"/>
            <a:ext cx="941760" cy="360"/>
          </a:xfrm>
          <a:prstGeom prst="line">
            <a:avLst/>
          </a:prstGeom>
          <a:ln w="2794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7" name="Text 12"/>
          <p:cNvSpPr/>
          <p:nvPr/>
        </p:nvSpPr>
        <p:spPr>
          <a:xfrm>
            <a:off x="5221080" y="2377440"/>
            <a:ext cx="1325520" cy="502560"/>
          </a:xfrm>
          <a:prstGeom prst="roundRect">
            <a:avLst>
              <a:gd name="adj" fmla="val 1454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Futures</a:t>
            </a:r>
            <a:endParaRPr lang="en-US" sz="1400" b="0" u="none" strike="noStrike">
              <a:solidFill>
                <a:srgbClr val="000000"/>
              </a:solidFill>
              <a:effectLst/>
              <a:uFillTx/>
              <a:latin typeface="Arial"/>
            </a:endParaRPr>
          </a:p>
        </p:txBody>
      </p:sp>
      <p:sp>
        <p:nvSpPr>
          <p:cNvPr id="58" name="Text 13"/>
          <p:cNvSpPr/>
          <p:nvPr/>
        </p:nvSpPr>
        <p:spPr>
          <a:xfrm>
            <a:off x="5148000" y="2971800"/>
            <a:ext cx="1462680" cy="3196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120" b="0" u="none" strike="noStrike">
                <a:solidFill>
                  <a:srgbClr val="5C6B80"/>
                </a:solidFill>
                <a:effectLst/>
                <a:uFillTx/>
                <a:latin typeface="Aptos"/>
              </a:rPr>
              <a:t>What would happen?</a:t>
            </a:r>
            <a:endParaRPr lang="en-US" sz="1120" b="0" u="none" strike="noStrike">
              <a:solidFill>
                <a:srgbClr val="000000"/>
              </a:solidFill>
              <a:effectLst/>
              <a:uFillTx/>
              <a:latin typeface="Arial"/>
            </a:endParaRPr>
          </a:p>
        </p:txBody>
      </p:sp>
      <p:sp>
        <p:nvSpPr>
          <p:cNvPr id="59" name="Shape 14"/>
          <p:cNvSpPr/>
          <p:nvPr/>
        </p:nvSpPr>
        <p:spPr>
          <a:xfrm>
            <a:off x="6546960" y="2633400"/>
            <a:ext cx="941760" cy="360"/>
          </a:xfrm>
          <a:prstGeom prst="line">
            <a:avLst/>
          </a:prstGeom>
          <a:ln w="2794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0" name="Text 15"/>
          <p:cNvSpPr/>
          <p:nvPr/>
        </p:nvSpPr>
        <p:spPr>
          <a:xfrm>
            <a:off x="7489080" y="2377440"/>
            <a:ext cx="1325520" cy="502560"/>
          </a:xfrm>
          <a:prstGeom prst="roundRect">
            <a:avLst>
              <a:gd name="adj" fmla="val 14545"/>
            </a:avLst>
          </a:prstGeom>
          <a:solidFill>
            <a:srgbClr val="DBF1E3"/>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Goal</a:t>
            </a:r>
            <a:endParaRPr lang="en-US" sz="1400" b="0" u="none" strike="noStrike">
              <a:solidFill>
                <a:srgbClr val="000000"/>
              </a:solidFill>
              <a:effectLst/>
              <a:uFillTx/>
              <a:latin typeface="Arial"/>
            </a:endParaRPr>
          </a:p>
        </p:txBody>
      </p:sp>
      <p:sp>
        <p:nvSpPr>
          <p:cNvPr id="61" name="Text 16"/>
          <p:cNvSpPr/>
          <p:nvPr/>
        </p:nvSpPr>
        <p:spPr>
          <a:xfrm>
            <a:off x="7415640" y="2971800"/>
            <a:ext cx="1462680" cy="3196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120" b="0" u="none" strike="noStrike">
                <a:solidFill>
                  <a:srgbClr val="5C6B80"/>
                </a:solidFill>
                <a:effectLst/>
                <a:uFillTx/>
                <a:latin typeface="Aptos"/>
              </a:rPr>
              <a:t>Did I get there?</a:t>
            </a:r>
            <a:endParaRPr lang="en-US" sz="1120" b="0" u="none" strike="noStrike">
              <a:solidFill>
                <a:srgbClr val="000000"/>
              </a:solidFill>
              <a:effectLst/>
              <a:uFillTx/>
              <a:latin typeface="Arial"/>
            </a:endParaRPr>
          </a:p>
        </p:txBody>
      </p:sp>
      <p:sp>
        <p:nvSpPr>
          <p:cNvPr id="62" name="Shape 17"/>
          <p:cNvSpPr/>
          <p:nvPr/>
        </p:nvSpPr>
        <p:spPr>
          <a:xfrm>
            <a:off x="8814600" y="2633400"/>
            <a:ext cx="941760" cy="360"/>
          </a:xfrm>
          <a:prstGeom prst="line">
            <a:avLst/>
          </a:prstGeom>
          <a:ln w="2794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3" name="Text 18"/>
          <p:cNvSpPr/>
          <p:nvPr/>
        </p:nvSpPr>
        <p:spPr>
          <a:xfrm>
            <a:off x="9756720" y="2377440"/>
            <a:ext cx="1325520" cy="502560"/>
          </a:xfrm>
          <a:prstGeom prst="roundRect">
            <a:avLst>
              <a:gd name="adj" fmla="val 1454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Plan</a:t>
            </a:r>
            <a:endParaRPr lang="en-US" sz="1400" b="0" u="none" strike="noStrike">
              <a:solidFill>
                <a:srgbClr val="000000"/>
              </a:solidFill>
              <a:effectLst/>
              <a:uFillTx/>
              <a:latin typeface="Arial"/>
            </a:endParaRPr>
          </a:p>
        </p:txBody>
      </p:sp>
      <p:sp>
        <p:nvSpPr>
          <p:cNvPr id="64" name="Text 19"/>
          <p:cNvSpPr/>
          <p:nvPr/>
        </p:nvSpPr>
        <p:spPr>
          <a:xfrm>
            <a:off x="9683640" y="2971800"/>
            <a:ext cx="1462680" cy="319680"/>
          </a:xfrm>
          <a:prstGeom prst="rect">
            <a:avLst/>
          </a:prstGeom>
          <a:noFill/>
          <a:ln w="0">
            <a:noFill/>
          </a:ln>
        </p:spPr>
        <p:style>
          <a:lnRef idx="0"/>
          <a:fillRef idx="0"/>
          <a:effectRef idx="0"/>
          <a:fontRef idx="minor"/>
        </p:style>
        <p:txBody>
          <a:bodyPr lIns="720" tIns="720" rIns="720" bIns="720" anchor="ctr">
            <a:normAutofit lnSpcReduction="9999"/>
          </a:bodyPr>
          <a:p>
            <a:pPr algn="ctr" defTabSz="914400">
              <a:lnSpc>
                <a:spcPct val="100000"/>
              </a:lnSpc>
              <a:tabLst>
                <a:tab pos="0" algn="l"/>
              </a:tabLst>
            </a:pPr>
            <a:r>
              <a:rPr lang="en-US" sz="1120" b="0" u="none" strike="noStrike">
                <a:solidFill>
                  <a:srgbClr val="5C6B80"/>
                </a:solidFill>
                <a:effectLst/>
                <a:uFillTx/>
                <a:latin typeface="Aptos"/>
              </a:rPr>
              <a:t>What sequence works?</a:t>
            </a:r>
            <a:endParaRPr lang="en-US" sz="1120" b="0" u="none" strike="noStrike">
              <a:solidFill>
                <a:srgbClr val="000000"/>
              </a:solidFill>
              <a:effectLst/>
              <a:uFillTx/>
              <a:latin typeface="Arial"/>
            </a:endParaRPr>
          </a:p>
        </p:txBody>
      </p:sp>
      <p:sp>
        <p:nvSpPr>
          <p:cNvPr id="65" name="Text 20"/>
          <p:cNvSpPr/>
          <p:nvPr/>
        </p:nvSpPr>
        <p:spPr>
          <a:xfrm>
            <a:off x="1097280" y="4251960"/>
            <a:ext cx="9875160" cy="41112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900" b="1" u="none" strike="noStrike">
                <a:solidFill>
                  <a:srgbClr val="112E5C"/>
                </a:solidFill>
                <a:effectLst/>
                <a:uFillTx/>
                <a:latin typeface="Aptos"/>
              </a:rPr>
              <a:t>Search happens in the model, not by physically trying every action in the real world.</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66"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67"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68"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Reflex Agents vs. Planning Agents</a:t>
            </a:r>
            <a:endParaRPr lang="en-US" sz="2600" b="0" u="none" strike="noStrike">
              <a:solidFill>
                <a:srgbClr val="000000"/>
              </a:solidFill>
              <a:effectLst/>
              <a:uFillTx/>
              <a:latin typeface="Arial"/>
            </a:endParaRPr>
          </a:p>
        </p:txBody>
      </p:sp>
      <p:sp>
        <p:nvSpPr>
          <p:cNvPr id="69"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0"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1" name="Rounded Rectangle 6"/>
          <p:cNvSpPr/>
          <p:nvPr/>
        </p:nvSpPr>
        <p:spPr>
          <a:xfrm>
            <a:off x="77724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00" b="1" u="none" strike="noStrike">
                <a:solidFill>
                  <a:srgbClr val="112E5C"/>
                </a:solidFill>
                <a:effectLst/>
                <a:uFillTx/>
                <a:latin typeface="Aptos"/>
              </a:rPr>
              <a:t>Reflex agent</a:t>
            </a:r>
            <a:endParaRPr lang="en-US" sz="1500" b="0" u="none" strike="noStrike">
              <a:solidFill>
                <a:srgbClr val="000000"/>
              </a:solidFill>
              <a:effectLst/>
              <a:uFillTx/>
              <a:latin typeface="Arial"/>
            </a:endParaRPr>
          </a:p>
        </p:txBody>
      </p:sp>
      <p:sp>
        <p:nvSpPr>
          <p:cNvPr id="72" name="Rounded Rectangle 7"/>
          <p:cNvSpPr/>
          <p:nvPr/>
        </p:nvSpPr>
        <p:spPr>
          <a:xfrm>
            <a:off x="6385680" y="1417320"/>
            <a:ext cx="5028840" cy="47520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00" b="1" u="none" strike="noStrike">
                <a:solidFill>
                  <a:srgbClr val="112E5C"/>
                </a:solidFill>
                <a:effectLst/>
                <a:uFillTx/>
                <a:latin typeface="Aptos"/>
              </a:rPr>
              <a:t>Planning agent</a:t>
            </a:r>
            <a:endParaRPr lang="en-US" sz="1500" b="0" u="none" strike="noStrike">
              <a:solidFill>
                <a:srgbClr val="000000"/>
              </a:solidFill>
              <a:effectLst/>
              <a:uFillTx/>
              <a:latin typeface="Arial"/>
            </a:endParaRPr>
          </a:p>
        </p:txBody>
      </p:sp>
      <p:sp>
        <p:nvSpPr>
          <p:cNvPr id="73" name="Rounded Rectangle 8"/>
          <p:cNvSpPr/>
          <p:nvPr/>
        </p:nvSpPr>
        <p:spPr>
          <a:xfrm>
            <a:off x="777240" y="2011680"/>
            <a:ext cx="5028840" cy="18741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74" name="Rounded Rectangle 9"/>
          <p:cNvSpPr/>
          <p:nvPr/>
        </p:nvSpPr>
        <p:spPr>
          <a:xfrm>
            <a:off x="6385680" y="2011680"/>
            <a:ext cx="5028840" cy="18741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75" name="Rectangle 10"/>
          <p:cNvSpPr/>
          <p:nvPr/>
        </p:nvSpPr>
        <p:spPr>
          <a:xfrm>
            <a:off x="1005840" y="219456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50" b="0" u="none" strike="noStrike">
                <a:solidFill>
                  <a:srgbClr val="102A4C"/>
                </a:solidFill>
                <a:effectLst/>
                <a:uFillTx/>
                <a:latin typeface="Aptos"/>
              </a:rPr>
              <a:t>•  Selects an action from the current percept, plus memory at most</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May hold a model of the world's current state</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Does not evaluate the consequences of its actions</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Fast, shallow, and easy to fool</a:t>
            </a:r>
            <a:endParaRPr lang="en-US" sz="1350" b="0" u="none" strike="noStrike">
              <a:solidFill>
                <a:srgbClr val="000000"/>
              </a:solidFill>
              <a:effectLst/>
              <a:uFillTx/>
              <a:latin typeface="Arial"/>
            </a:endParaRPr>
          </a:p>
        </p:txBody>
      </p:sp>
      <p:sp>
        <p:nvSpPr>
          <p:cNvPr id="76" name="Rectangle 11"/>
          <p:cNvSpPr/>
          <p:nvPr/>
        </p:nvSpPr>
        <p:spPr>
          <a:xfrm>
            <a:off x="6614280" y="219456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50" b="0" u="none" strike="noStrike">
                <a:solidFill>
                  <a:srgbClr val="102A4C"/>
                </a:solidFill>
                <a:effectLst/>
                <a:uFillTx/>
                <a:latin typeface="Aptos"/>
              </a:rPr>
              <a:t>•  Asks “what if” before committing to anything</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Decides from the hypothesized consequences of action sequences</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Requires a transition model and an explicit goal test</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Slower, but can reason about futures it has never seen</a:t>
            </a:r>
            <a:endParaRPr lang="en-US" sz="1350" b="0" u="none" strike="noStrike">
              <a:solidFill>
                <a:srgbClr val="000000"/>
              </a:solidFill>
              <a:effectLst/>
              <a:uFillTx/>
              <a:latin typeface="Arial"/>
            </a:endParaRPr>
          </a:p>
        </p:txBody>
      </p:sp>
      <p:sp>
        <p:nvSpPr>
          <p:cNvPr id="77" name="Rectangle 12"/>
          <p:cNvSpPr/>
          <p:nvPr/>
        </p:nvSpPr>
        <p:spPr>
          <a:xfrm>
            <a:off x="777240" y="4023360"/>
            <a:ext cx="502884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600" b="1" u="none" strike="noStrike">
                <a:solidFill>
                  <a:srgbClr val="9B1C1C"/>
                </a:solidFill>
                <a:effectLst/>
                <a:uFillTx/>
                <a:latin typeface="Aptos"/>
              </a:rPr>
              <a:t>Considers how the world IS</a:t>
            </a:r>
            <a:endParaRPr lang="en-US" sz="1600" b="0" u="none" strike="noStrike">
              <a:solidFill>
                <a:srgbClr val="000000"/>
              </a:solidFill>
              <a:effectLst/>
              <a:uFillTx/>
              <a:latin typeface="Arial"/>
            </a:endParaRPr>
          </a:p>
        </p:txBody>
      </p:sp>
      <p:sp>
        <p:nvSpPr>
          <p:cNvPr id="78" name="Rectangle 13"/>
          <p:cNvSpPr/>
          <p:nvPr/>
        </p:nvSpPr>
        <p:spPr>
          <a:xfrm>
            <a:off x="6385680" y="4023360"/>
            <a:ext cx="502884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600" b="1" u="none" strike="noStrike">
                <a:solidFill>
                  <a:srgbClr val="9B1C1C"/>
                </a:solidFill>
                <a:effectLst/>
                <a:uFillTx/>
                <a:latin typeface="Aptos"/>
              </a:rPr>
              <a:t>Considers how the world WOULD BE</a:t>
            </a:r>
            <a:endParaRPr lang="en-US" sz="1600" b="0" u="none" strike="noStrike">
              <a:solidFill>
                <a:srgbClr val="000000"/>
              </a:solidFill>
              <a:effectLst/>
              <a:uFillTx/>
              <a:latin typeface="Arial"/>
            </a:endParaRPr>
          </a:p>
        </p:txBody>
      </p:sp>
      <p:sp>
        <p:nvSpPr>
          <p:cNvPr id="79" name="Rectangle 14"/>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Chapter 3 agents use atomic state representations: a state is a whole, with no internal structure visible to the algorithm.</a:t>
            </a:r>
            <a:endParaRPr lang="en-US" sz="1700" b="0" u="none" strike="noStrike">
              <a:solidFill>
                <a:srgbClr val="000000"/>
              </a:solidFill>
              <a:effectLst/>
              <a:uFillTx/>
              <a:latin typeface="Arial"/>
            </a:endParaRPr>
          </a:p>
        </p:txBody>
      </p:sp>
      <p:sp>
        <p:nvSpPr>
          <p:cNvPr id="80" name="Rectangle 1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400" b="0" u="none" strike="noStrike">
                <a:solidFill>
                  <a:srgbClr val="5C6B80"/>
                </a:solidFill>
                <a:effectLst/>
                <a:uFillTx/>
                <a:latin typeface="Aptos"/>
              </a:rPr>
              <a:t>Agents that use factored or structured states are planning agents (Chapters 7 and 11).</a:t>
            </a:r>
            <a:endParaRPr lang="en-US" sz="1400" b="0" u="none" strike="noStrike">
              <a:solidFill>
                <a:srgbClr val="000000"/>
              </a:solidFill>
              <a:effectLst/>
              <a:uFillTx/>
              <a:latin typeface="Arial"/>
            </a:endParaRPr>
          </a:p>
        </p:txBody>
      </p:sp>
      <p:sp>
        <p:nvSpPr>
          <p:cNvPr id="81" name="Rounded Rectangle 16"/>
          <p:cNvSpPr/>
          <p:nvPr/>
        </p:nvSpPr>
        <p:spPr>
          <a:xfrm>
            <a:off x="914400" y="5486400"/>
            <a:ext cx="10423800" cy="502560"/>
          </a:xfrm>
          <a:prstGeom prst="roundRect">
            <a:avLst>
              <a:gd name="adj" fmla="val 11000"/>
            </a:avLst>
          </a:prstGeom>
          <a:solidFill>
            <a:srgbClr val="FFE5B6"/>
          </a:solidFill>
          <a:ln w="1524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00" b="1" u="none" strike="noStrike">
                <a:solidFill>
                  <a:srgbClr val="112E5C"/>
                </a:solidFill>
                <a:effectLst/>
                <a:uFillTx/>
                <a:latin typeface="Aptos"/>
              </a:rPr>
              <a:t>Discussion: can a reflex agent ever be rational? Under what conditions does looking ahead buy you nothing?</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82"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3"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84"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The Four-Phase Problem-Solving Process</a:t>
            </a:r>
            <a:endParaRPr lang="en-US" sz="2600" b="0" u="none" strike="noStrike">
              <a:solidFill>
                <a:srgbClr val="000000"/>
              </a:solidFill>
              <a:effectLst/>
              <a:uFillTx/>
              <a:latin typeface="Arial"/>
            </a:endParaRPr>
          </a:p>
        </p:txBody>
      </p:sp>
      <p:sp>
        <p:nvSpPr>
          <p:cNvPr id="85"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6"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7" name="Text 5"/>
          <p:cNvSpPr/>
          <p:nvPr/>
        </p:nvSpPr>
        <p:spPr>
          <a:xfrm>
            <a:off x="685800" y="1417320"/>
            <a:ext cx="548280" cy="548280"/>
          </a:xfrm>
          <a:prstGeom prst="roundRect">
            <a:avLst>
              <a:gd name="adj" fmla="val 13333"/>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1</a:t>
            </a:r>
            <a:endParaRPr lang="en-US" sz="1800" b="0" u="none" strike="noStrike">
              <a:solidFill>
                <a:srgbClr val="000000"/>
              </a:solidFill>
              <a:effectLst/>
              <a:uFillTx/>
              <a:latin typeface="Arial"/>
            </a:endParaRPr>
          </a:p>
        </p:txBody>
      </p:sp>
      <p:sp>
        <p:nvSpPr>
          <p:cNvPr id="88" name="Text 6"/>
          <p:cNvSpPr/>
          <p:nvPr/>
        </p:nvSpPr>
        <p:spPr>
          <a:xfrm>
            <a:off x="1371600" y="1417320"/>
            <a:ext cx="1919880" cy="2556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1" u="none" strike="noStrike">
                <a:solidFill>
                  <a:srgbClr val="102A4C"/>
                </a:solidFill>
                <a:effectLst/>
                <a:uFillTx/>
                <a:latin typeface="Aptos"/>
              </a:rPr>
              <a:t>Goal formulation</a:t>
            </a:r>
            <a:endParaRPr lang="en-US" sz="1600" b="0" u="none" strike="noStrike">
              <a:solidFill>
                <a:srgbClr val="000000"/>
              </a:solidFill>
              <a:effectLst/>
              <a:uFillTx/>
              <a:latin typeface="Arial"/>
            </a:endParaRPr>
          </a:p>
        </p:txBody>
      </p:sp>
      <p:sp>
        <p:nvSpPr>
          <p:cNvPr id="89" name="Text 7"/>
          <p:cNvSpPr/>
          <p:nvPr/>
        </p:nvSpPr>
        <p:spPr>
          <a:xfrm>
            <a:off x="777240" y="1965960"/>
            <a:ext cx="2514240" cy="10054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102A4C"/>
                </a:solidFill>
                <a:effectLst/>
                <a:uFillTx/>
                <a:latin typeface="Aptos"/>
              </a:rPr>
              <a:t>Adopt a goal such as reaching Bucharest.</a:t>
            </a:r>
            <a:endParaRPr lang="en-US" sz="1350" b="0" u="none" strike="noStrike">
              <a:solidFill>
                <a:srgbClr val="000000"/>
              </a:solidFill>
              <a:effectLst/>
              <a:uFillTx/>
              <a:latin typeface="Arial"/>
            </a:endParaRPr>
          </a:p>
        </p:txBody>
      </p:sp>
      <p:sp>
        <p:nvSpPr>
          <p:cNvPr id="90" name="Shape 8"/>
          <p:cNvSpPr/>
          <p:nvPr/>
        </p:nvSpPr>
        <p:spPr>
          <a:xfrm>
            <a:off x="3291840" y="1700640"/>
            <a:ext cx="24660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1" name="Text 9"/>
          <p:cNvSpPr/>
          <p:nvPr/>
        </p:nvSpPr>
        <p:spPr>
          <a:xfrm>
            <a:off x="3566160" y="1417320"/>
            <a:ext cx="548280" cy="548280"/>
          </a:xfrm>
          <a:prstGeom prst="roundRect">
            <a:avLst>
              <a:gd name="adj" fmla="val 13333"/>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2</a:t>
            </a:r>
            <a:endParaRPr lang="en-US" sz="1800" b="0" u="none" strike="noStrike">
              <a:solidFill>
                <a:srgbClr val="000000"/>
              </a:solidFill>
              <a:effectLst/>
              <a:uFillTx/>
              <a:latin typeface="Arial"/>
            </a:endParaRPr>
          </a:p>
        </p:txBody>
      </p:sp>
      <p:sp>
        <p:nvSpPr>
          <p:cNvPr id="92" name="Text 10"/>
          <p:cNvSpPr/>
          <p:nvPr/>
        </p:nvSpPr>
        <p:spPr>
          <a:xfrm>
            <a:off x="4251960" y="1417320"/>
            <a:ext cx="1919880" cy="25560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600" b="1" u="none" strike="noStrike">
                <a:solidFill>
                  <a:srgbClr val="102A4C"/>
                </a:solidFill>
                <a:effectLst/>
                <a:uFillTx/>
                <a:latin typeface="Aptos"/>
              </a:rPr>
              <a:t>Problem formulation</a:t>
            </a:r>
            <a:endParaRPr lang="en-US" sz="1600" b="0" u="none" strike="noStrike">
              <a:solidFill>
                <a:srgbClr val="000000"/>
              </a:solidFill>
              <a:effectLst/>
              <a:uFillTx/>
              <a:latin typeface="Arial"/>
            </a:endParaRPr>
          </a:p>
        </p:txBody>
      </p:sp>
      <p:sp>
        <p:nvSpPr>
          <p:cNvPr id="93" name="Text 11"/>
          <p:cNvSpPr/>
          <p:nvPr/>
        </p:nvSpPr>
        <p:spPr>
          <a:xfrm>
            <a:off x="3657600" y="1965960"/>
            <a:ext cx="2514240" cy="10054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102A4C"/>
                </a:solidFill>
                <a:effectLst/>
                <a:uFillTx/>
                <a:latin typeface="Aptos"/>
              </a:rPr>
              <a:t>Build an abstract model of states, actions, transitions, goals, and costs.</a:t>
            </a:r>
            <a:endParaRPr lang="en-US" sz="1350" b="0" u="none" strike="noStrike">
              <a:solidFill>
                <a:srgbClr val="000000"/>
              </a:solidFill>
              <a:effectLst/>
              <a:uFillTx/>
              <a:latin typeface="Arial"/>
            </a:endParaRPr>
          </a:p>
        </p:txBody>
      </p:sp>
      <p:sp>
        <p:nvSpPr>
          <p:cNvPr id="94" name="Shape 12"/>
          <p:cNvSpPr/>
          <p:nvPr/>
        </p:nvSpPr>
        <p:spPr>
          <a:xfrm>
            <a:off x="6172200" y="1700640"/>
            <a:ext cx="24660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5" name="Text 13"/>
          <p:cNvSpPr/>
          <p:nvPr/>
        </p:nvSpPr>
        <p:spPr>
          <a:xfrm>
            <a:off x="6446520" y="1417320"/>
            <a:ext cx="548280" cy="548280"/>
          </a:xfrm>
          <a:prstGeom prst="roundRect">
            <a:avLst>
              <a:gd name="adj" fmla="val 13333"/>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3</a:t>
            </a:r>
            <a:endParaRPr lang="en-US" sz="1800" b="0" u="none" strike="noStrike">
              <a:solidFill>
                <a:srgbClr val="000000"/>
              </a:solidFill>
              <a:effectLst/>
              <a:uFillTx/>
              <a:latin typeface="Arial"/>
            </a:endParaRPr>
          </a:p>
        </p:txBody>
      </p:sp>
      <p:sp>
        <p:nvSpPr>
          <p:cNvPr id="96" name="Text 14"/>
          <p:cNvSpPr/>
          <p:nvPr/>
        </p:nvSpPr>
        <p:spPr>
          <a:xfrm>
            <a:off x="7132320" y="1417320"/>
            <a:ext cx="1919880" cy="2556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1" u="none" strike="noStrike">
                <a:solidFill>
                  <a:srgbClr val="102A4C"/>
                </a:solidFill>
                <a:effectLst/>
                <a:uFillTx/>
                <a:latin typeface="Aptos"/>
              </a:rPr>
              <a:t>Search</a:t>
            </a:r>
            <a:endParaRPr lang="en-US" sz="1600" b="0" u="none" strike="noStrike">
              <a:solidFill>
                <a:srgbClr val="000000"/>
              </a:solidFill>
              <a:effectLst/>
              <a:uFillTx/>
              <a:latin typeface="Arial"/>
            </a:endParaRPr>
          </a:p>
        </p:txBody>
      </p:sp>
      <p:sp>
        <p:nvSpPr>
          <p:cNvPr id="97" name="Text 15"/>
          <p:cNvSpPr/>
          <p:nvPr/>
        </p:nvSpPr>
        <p:spPr>
          <a:xfrm>
            <a:off x="6537960" y="1965960"/>
            <a:ext cx="2514240" cy="10054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102A4C"/>
                </a:solidFill>
                <a:effectLst/>
                <a:uFillTx/>
                <a:latin typeface="Aptos"/>
              </a:rPr>
              <a:t>Simulate action sequences until one reaches a goal or failure is proven.</a:t>
            </a:r>
            <a:endParaRPr lang="en-US" sz="1350" b="0" u="none" strike="noStrike">
              <a:solidFill>
                <a:srgbClr val="000000"/>
              </a:solidFill>
              <a:effectLst/>
              <a:uFillTx/>
              <a:latin typeface="Arial"/>
            </a:endParaRPr>
          </a:p>
        </p:txBody>
      </p:sp>
      <p:sp>
        <p:nvSpPr>
          <p:cNvPr id="98" name="Shape 16"/>
          <p:cNvSpPr/>
          <p:nvPr/>
        </p:nvSpPr>
        <p:spPr>
          <a:xfrm>
            <a:off x="9052560" y="1700640"/>
            <a:ext cx="24660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9" name="Text 17"/>
          <p:cNvSpPr/>
          <p:nvPr/>
        </p:nvSpPr>
        <p:spPr>
          <a:xfrm>
            <a:off x="9326880" y="1417320"/>
            <a:ext cx="548280" cy="548280"/>
          </a:xfrm>
          <a:prstGeom prst="roundRect">
            <a:avLst>
              <a:gd name="adj" fmla="val 13333"/>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4</a:t>
            </a:r>
            <a:endParaRPr lang="en-US" sz="1800" b="0" u="none" strike="noStrike">
              <a:solidFill>
                <a:srgbClr val="000000"/>
              </a:solidFill>
              <a:effectLst/>
              <a:uFillTx/>
              <a:latin typeface="Arial"/>
            </a:endParaRPr>
          </a:p>
        </p:txBody>
      </p:sp>
      <p:sp>
        <p:nvSpPr>
          <p:cNvPr id="100" name="Text 18"/>
          <p:cNvSpPr/>
          <p:nvPr/>
        </p:nvSpPr>
        <p:spPr>
          <a:xfrm>
            <a:off x="10012680" y="1417320"/>
            <a:ext cx="1919880" cy="2556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1" u="none" strike="noStrike">
                <a:solidFill>
                  <a:srgbClr val="102A4C"/>
                </a:solidFill>
                <a:effectLst/>
                <a:uFillTx/>
                <a:latin typeface="Aptos"/>
              </a:rPr>
              <a:t>Execution</a:t>
            </a:r>
            <a:endParaRPr lang="en-US" sz="1600" b="0" u="none" strike="noStrike">
              <a:solidFill>
                <a:srgbClr val="000000"/>
              </a:solidFill>
              <a:effectLst/>
              <a:uFillTx/>
              <a:latin typeface="Arial"/>
            </a:endParaRPr>
          </a:p>
        </p:txBody>
      </p:sp>
      <p:sp>
        <p:nvSpPr>
          <p:cNvPr id="101" name="Text 19"/>
          <p:cNvSpPr/>
          <p:nvPr/>
        </p:nvSpPr>
        <p:spPr>
          <a:xfrm>
            <a:off x="9418320" y="1965960"/>
            <a:ext cx="2514240" cy="10054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102A4C"/>
                </a:solidFill>
                <a:effectLst/>
                <a:uFillTx/>
                <a:latin typeface="Aptos"/>
              </a:rPr>
              <a:t>Carry out the solution actions in the real environment.</a:t>
            </a:r>
            <a:endParaRPr lang="en-US" sz="1350" b="0" u="none" strike="noStrike">
              <a:solidFill>
                <a:srgbClr val="000000"/>
              </a:solidFill>
              <a:effectLst/>
              <a:uFillTx/>
              <a:latin typeface="Arial"/>
            </a:endParaRPr>
          </a:p>
        </p:txBody>
      </p:sp>
      <p:sp>
        <p:nvSpPr>
          <p:cNvPr id="102" name="Text 20"/>
          <p:cNvSpPr/>
          <p:nvPr/>
        </p:nvSpPr>
        <p:spPr>
          <a:xfrm>
            <a:off x="2194560" y="4343400"/>
            <a:ext cx="7772040" cy="594000"/>
          </a:xfrm>
          <a:prstGeom prst="roundRect">
            <a:avLst>
              <a:gd name="adj" fmla="val 12308"/>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Example path: Arad → Sibiu → Făgăraș → Bucharest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03"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4"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05"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Environment Assumptions: When a Fixed Plan Works</a:t>
            </a:r>
            <a:endParaRPr lang="en-US" sz="2600" b="0" u="none" strike="noStrike">
              <a:solidFill>
                <a:srgbClr val="000000"/>
              </a:solidFill>
              <a:effectLst/>
              <a:uFillTx/>
              <a:latin typeface="Arial"/>
            </a:endParaRPr>
          </a:p>
        </p:txBody>
      </p:sp>
      <p:sp>
        <p:nvSpPr>
          <p:cNvPr id="106"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07"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8" name="Text 5"/>
          <p:cNvSpPr/>
          <p:nvPr/>
        </p:nvSpPr>
        <p:spPr>
          <a:xfrm>
            <a:off x="777240" y="1417320"/>
            <a:ext cx="3062880" cy="475200"/>
          </a:xfrm>
          <a:prstGeom prst="roundRect">
            <a:avLst>
              <a:gd name="adj" fmla="val 1538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Fully observable</a:t>
            </a:r>
            <a:endParaRPr lang="en-US" sz="1500" b="0" u="none" strike="noStrike">
              <a:solidFill>
                <a:srgbClr val="000000"/>
              </a:solidFill>
              <a:effectLst/>
              <a:uFillTx/>
              <a:latin typeface="Arial"/>
            </a:endParaRPr>
          </a:p>
        </p:txBody>
      </p:sp>
      <p:sp>
        <p:nvSpPr>
          <p:cNvPr id="109" name="Text 6"/>
          <p:cNvSpPr/>
          <p:nvPr/>
        </p:nvSpPr>
        <p:spPr>
          <a:xfrm>
            <a:off x="941760" y="1984320"/>
            <a:ext cx="2742840" cy="2282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250" b="0" u="none" strike="noStrike">
                <a:solidFill>
                  <a:srgbClr val="5C6B80"/>
                </a:solidFill>
                <a:effectLst/>
                <a:uFillTx/>
                <a:latin typeface="Aptos"/>
              </a:rPr>
              <a:t>relevant state is known</a:t>
            </a:r>
            <a:endParaRPr lang="en-US" sz="1250" b="0" u="none" strike="noStrike">
              <a:solidFill>
                <a:srgbClr val="000000"/>
              </a:solidFill>
              <a:effectLst/>
              <a:uFillTx/>
              <a:latin typeface="Arial"/>
            </a:endParaRPr>
          </a:p>
        </p:txBody>
      </p:sp>
      <p:sp>
        <p:nvSpPr>
          <p:cNvPr id="110" name="Text 7"/>
          <p:cNvSpPr/>
          <p:nvPr/>
        </p:nvSpPr>
        <p:spPr>
          <a:xfrm>
            <a:off x="4434840" y="1417320"/>
            <a:ext cx="3062880" cy="475200"/>
          </a:xfrm>
          <a:prstGeom prst="roundRect">
            <a:avLst>
              <a:gd name="adj" fmla="val 1538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Deterministic</a:t>
            </a:r>
            <a:endParaRPr lang="en-US" sz="1500" b="0" u="none" strike="noStrike">
              <a:solidFill>
                <a:srgbClr val="000000"/>
              </a:solidFill>
              <a:effectLst/>
              <a:uFillTx/>
              <a:latin typeface="Arial"/>
            </a:endParaRPr>
          </a:p>
        </p:txBody>
      </p:sp>
      <p:sp>
        <p:nvSpPr>
          <p:cNvPr id="111" name="Text 8"/>
          <p:cNvSpPr/>
          <p:nvPr/>
        </p:nvSpPr>
        <p:spPr>
          <a:xfrm>
            <a:off x="4599360" y="1984320"/>
            <a:ext cx="2742840" cy="2282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250" b="0" u="none" strike="noStrike">
                <a:solidFill>
                  <a:srgbClr val="5C6B80"/>
                </a:solidFill>
                <a:effectLst/>
                <a:uFillTx/>
                <a:latin typeface="Aptos"/>
              </a:rPr>
              <a:t>actions have predictable results</a:t>
            </a:r>
            <a:endParaRPr lang="en-US" sz="1250" b="0" u="none" strike="noStrike">
              <a:solidFill>
                <a:srgbClr val="000000"/>
              </a:solidFill>
              <a:effectLst/>
              <a:uFillTx/>
              <a:latin typeface="Arial"/>
            </a:endParaRPr>
          </a:p>
        </p:txBody>
      </p:sp>
      <p:sp>
        <p:nvSpPr>
          <p:cNvPr id="112" name="Text 9"/>
          <p:cNvSpPr/>
          <p:nvPr/>
        </p:nvSpPr>
        <p:spPr>
          <a:xfrm>
            <a:off x="8092440" y="1417320"/>
            <a:ext cx="3062880" cy="475200"/>
          </a:xfrm>
          <a:prstGeom prst="roundRect">
            <a:avLst>
              <a:gd name="adj" fmla="val 1538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Known</a:t>
            </a:r>
            <a:endParaRPr lang="en-US" sz="1500" b="0" u="none" strike="noStrike">
              <a:solidFill>
                <a:srgbClr val="000000"/>
              </a:solidFill>
              <a:effectLst/>
              <a:uFillTx/>
              <a:latin typeface="Arial"/>
            </a:endParaRPr>
          </a:p>
        </p:txBody>
      </p:sp>
      <p:sp>
        <p:nvSpPr>
          <p:cNvPr id="113" name="Text 10"/>
          <p:cNvSpPr/>
          <p:nvPr/>
        </p:nvSpPr>
        <p:spPr>
          <a:xfrm>
            <a:off x="8256960" y="1984320"/>
            <a:ext cx="2742840" cy="2282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250" b="0" u="none" strike="noStrike">
                <a:solidFill>
                  <a:srgbClr val="5C6B80"/>
                </a:solidFill>
                <a:effectLst/>
                <a:uFillTx/>
                <a:latin typeface="Aptos"/>
              </a:rPr>
              <a:t>map/model is available</a:t>
            </a:r>
            <a:endParaRPr lang="en-US" sz="1250" b="0" u="none" strike="noStrike">
              <a:solidFill>
                <a:srgbClr val="000000"/>
              </a:solidFill>
              <a:effectLst/>
              <a:uFillTx/>
              <a:latin typeface="Arial"/>
            </a:endParaRPr>
          </a:p>
        </p:txBody>
      </p:sp>
      <p:sp>
        <p:nvSpPr>
          <p:cNvPr id="114" name="Text 11"/>
          <p:cNvSpPr/>
          <p:nvPr/>
        </p:nvSpPr>
        <p:spPr>
          <a:xfrm>
            <a:off x="777240" y="2651760"/>
            <a:ext cx="3062880" cy="475200"/>
          </a:xfrm>
          <a:prstGeom prst="roundRect">
            <a:avLst>
              <a:gd name="adj" fmla="val 1538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Static</a:t>
            </a:r>
            <a:endParaRPr lang="en-US" sz="1500" b="0" u="none" strike="noStrike">
              <a:solidFill>
                <a:srgbClr val="000000"/>
              </a:solidFill>
              <a:effectLst/>
              <a:uFillTx/>
              <a:latin typeface="Arial"/>
            </a:endParaRPr>
          </a:p>
        </p:txBody>
      </p:sp>
      <p:sp>
        <p:nvSpPr>
          <p:cNvPr id="115" name="Text 12"/>
          <p:cNvSpPr/>
          <p:nvPr/>
        </p:nvSpPr>
        <p:spPr>
          <a:xfrm>
            <a:off x="941760" y="3218760"/>
            <a:ext cx="2742840" cy="22824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250" b="0" u="none" strike="noStrike">
                <a:solidFill>
                  <a:srgbClr val="5C6B80"/>
                </a:solidFill>
                <a:effectLst/>
                <a:uFillTx/>
                <a:latin typeface="Aptos"/>
              </a:rPr>
              <a:t>world does not change during search</a:t>
            </a:r>
            <a:endParaRPr lang="en-US" sz="1250" b="0" u="none" strike="noStrike">
              <a:solidFill>
                <a:srgbClr val="000000"/>
              </a:solidFill>
              <a:effectLst/>
              <a:uFillTx/>
              <a:latin typeface="Arial"/>
            </a:endParaRPr>
          </a:p>
        </p:txBody>
      </p:sp>
      <p:sp>
        <p:nvSpPr>
          <p:cNvPr id="116" name="Text 13"/>
          <p:cNvSpPr/>
          <p:nvPr/>
        </p:nvSpPr>
        <p:spPr>
          <a:xfrm>
            <a:off x="4434840" y="2651760"/>
            <a:ext cx="3062880" cy="475200"/>
          </a:xfrm>
          <a:prstGeom prst="roundRect">
            <a:avLst>
              <a:gd name="adj" fmla="val 1538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Discrete</a:t>
            </a:r>
            <a:endParaRPr lang="en-US" sz="1500" b="0" u="none" strike="noStrike">
              <a:solidFill>
                <a:srgbClr val="000000"/>
              </a:solidFill>
              <a:effectLst/>
              <a:uFillTx/>
              <a:latin typeface="Arial"/>
            </a:endParaRPr>
          </a:p>
        </p:txBody>
      </p:sp>
      <p:sp>
        <p:nvSpPr>
          <p:cNvPr id="117" name="Text 14"/>
          <p:cNvSpPr/>
          <p:nvPr/>
        </p:nvSpPr>
        <p:spPr>
          <a:xfrm>
            <a:off x="4599360" y="3218760"/>
            <a:ext cx="2742840" cy="2282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250" b="0" u="none" strike="noStrike">
                <a:solidFill>
                  <a:srgbClr val="5C6B80"/>
                </a:solidFill>
                <a:effectLst/>
                <a:uFillTx/>
                <a:latin typeface="Aptos"/>
              </a:rPr>
              <a:t>states/actions can be enumerated</a:t>
            </a:r>
            <a:endParaRPr lang="en-US" sz="1250" b="0" u="none" strike="noStrike">
              <a:solidFill>
                <a:srgbClr val="000000"/>
              </a:solidFill>
              <a:effectLst/>
              <a:uFillTx/>
              <a:latin typeface="Arial"/>
            </a:endParaRPr>
          </a:p>
        </p:txBody>
      </p:sp>
      <p:sp>
        <p:nvSpPr>
          <p:cNvPr id="118" name="Text 15"/>
          <p:cNvSpPr/>
          <p:nvPr/>
        </p:nvSpPr>
        <p:spPr>
          <a:xfrm>
            <a:off x="8092440" y="2651760"/>
            <a:ext cx="3062880" cy="475200"/>
          </a:xfrm>
          <a:prstGeom prst="roundRect">
            <a:avLst>
              <a:gd name="adj" fmla="val 1538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Single-agent</a:t>
            </a:r>
            <a:endParaRPr lang="en-US" sz="1500" b="0" u="none" strike="noStrike">
              <a:solidFill>
                <a:srgbClr val="000000"/>
              </a:solidFill>
              <a:effectLst/>
              <a:uFillTx/>
              <a:latin typeface="Arial"/>
            </a:endParaRPr>
          </a:p>
        </p:txBody>
      </p:sp>
      <p:sp>
        <p:nvSpPr>
          <p:cNvPr id="119" name="Text 16"/>
          <p:cNvSpPr/>
          <p:nvPr/>
        </p:nvSpPr>
        <p:spPr>
          <a:xfrm>
            <a:off x="8256960" y="3218760"/>
            <a:ext cx="2742840" cy="2282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250" b="0" u="none" strike="noStrike">
                <a:solidFill>
                  <a:srgbClr val="5C6B80"/>
                </a:solidFill>
                <a:effectLst/>
                <a:uFillTx/>
                <a:latin typeface="Aptos"/>
              </a:rPr>
              <a:t>no adversary changes the state</a:t>
            </a:r>
            <a:endParaRPr lang="en-US" sz="1250" b="0" u="none" strike="noStrike">
              <a:solidFill>
                <a:srgbClr val="000000"/>
              </a:solidFill>
              <a:effectLst/>
              <a:uFillTx/>
              <a:latin typeface="Arial"/>
            </a:endParaRPr>
          </a:p>
        </p:txBody>
      </p:sp>
      <p:sp>
        <p:nvSpPr>
          <p:cNvPr id="120" name="Text 17"/>
          <p:cNvSpPr/>
          <p:nvPr/>
        </p:nvSpPr>
        <p:spPr>
          <a:xfrm>
            <a:off x="914400" y="4617720"/>
            <a:ext cx="10423800" cy="32868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700" b="1" u="none" strike="noStrike">
                <a:solidFill>
                  <a:srgbClr val="102A4C"/>
                </a:solidFill>
                <a:effectLst/>
                <a:uFillTx/>
                <a:latin typeface="Aptos"/>
              </a:rPr>
              <a:t>Open-loop execution: if the model is correct, execute the fixed sequence without checking percepts.</a:t>
            </a:r>
            <a:endParaRPr lang="en-US" sz="1700" b="0" u="none" strike="noStrike">
              <a:solidFill>
                <a:srgbClr val="000000"/>
              </a:solidFill>
              <a:effectLst/>
              <a:uFillTx/>
              <a:latin typeface="Arial"/>
            </a:endParaRPr>
          </a:p>
        </p:txBody>
      </p:sp>
      <p:sp>
        <p:nvSpPr>
          <p:cNvPr id="121" name="Text 18"/>
          <p:cNvSpPr/>
          <p:nvPr/>
        </p:nvSpPr>
        <p:spPr>
          <a:xfrm>
            <a:off x="914400" y="5166360"/>
            <a:ext cx="10423800" cy="3286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50" b="0" u="none" strike="noStrike">
                <a:solidFill>
                  <a:srgbClr val="9B1C1C"/>
                </a:solidFill>
                <a:effectLst/>
                <a:uFillTx/>
                <a:latin typeface="Aptos"/>
              </a:rPr>
              <a:t>If the model may be wrong or the world changes, use closed-loop monitoring, contingency plans, or replanning.</a:t>
            </a:r>
            <a:endParaRPr lang="en-US" sz="15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22"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3"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24"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Formal Definition of a Search Problem</a:t>
            </a:r>
            <a:endParaRPr lang="en-US" sz="2600" b="0" u="none" strike="noStrike">
              <a:solidFill>
                <a:srgbClr val="000000"/>
              </a:solidFill>
              <a:effectLst/>
              <a:uFillTx/>
              <a:latin typeface="Arial"/>
            </a:endParaRPr>
          </a:p>
        </p:txBody>
      </p:sp>
      <p:sp>
        <p:nvSpPr>
          <p:cNvPr id="125"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6"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7" name="Text 5"/>
          <p:cNvSpPr/>
          <p:nvPr/>
        </p:nvSpPr>
        <p:spPr>
          <a:xfrm>
            <a:off x="777240" y="1417320"/>
            <a:ext cx="2285640" cy="50256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State space</a:t>
            </a:r>
            <a:endParaRPr lang="en-US" sz="1400" b="0" u="none" strike="noStrike">
              <a:solidFill>
                <a:srgbClr val="000000"/>
              </a:solidFill>
              <a:effectLst/>
              <a:uFillTx/>
              <a:latin typeface="Arial"/>
            </a:endParaRPr>
          </a:p>
        </p:txBody>
      </p:sp>
      <p:sp>
        <p:nvSpPr>
          <p:cNvPr id="128" name="Text 6"/>
          <p:cNvSpPr/>
          <p:nvPr/>
        </p:nvSpPr>
        <p:spPr>
          <a:xfrm>
            <a:off x="3246120" y="1444680"/>
            <a:ext cx="2834280" cy="4111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400" b="0" u="none" strike="noStrike">
                <a:solidFill>
                  <a:srgbClr val="102A4C"/>
                </a:solidFill>
                <a:effectLst/>
                <a:uFillTx/>
                <a:latin typeface="Aptos"/>
              </a:rPr>
              <a:t>Set of possible states</a:t>
            </a:r>
            <a:endParaRPr lang="en-US" sz="1400" b="0" u="none" strike="noStrike">
              <a:solidFill>
                <a:srgbClr val="000000"/>
              </a:solidFill>
              <a:effectLst/>
              <a:uFillTx/>
              <a:latin typeface="Arial"/>
            </a:endParaRPr>
          </a:p>
        </p:txBody>
      </p:sp>
      <p:sp>
        <p:nvSpPr>
          <p:cNvPr id="129" name="Text 7"/>
          <p:cNvSpPr/>
          <p:nvPr/>
        </p:nvSpPr>
        <p:spPr>
          <a:xfrm>
            <a:off x="777240" y="2651760"/>
            <a:ext cx="2285640" cy="50256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Initial state</a:t>
            </a:r>
            <a:endParaRPr lang="en-US" sz="1400" b="0" u="none" strike="noStrike">
              <a:solidFill>
                <a:srgbClr val="000000"/>
              </a:solidFill>
              <a:effectLst/>
              <a:uFillTx/>
              <a:latin typeface="Arial"/>
            </a:endParaRPr>
          </a:p>
        </p:txBody>
      </p:sp>
      <p:sp>
        <p:nvSpPr>
          <p:cNvPr id="130" name="Text 8"/>
          <p:cNvSpPr/>
          <p:nvPr/>
        </p:nvSpPr>
        <p:spPr>
          <a:xfrm>
            <a:off x="3246120" y="2679120"/>
            <a:ext cx="2834280" cy="4111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400" b="0" u="none" strike="noStrike">
                <a:solidFill>
                  <a:srgbClr val="102A4C"/>
                </a:solidFill>
                <a:effectLst/>
                <a:uFillTx/>
                <a:latin typeface="Aptos"/>
              </a:rPr>
              <a:t>Where the agent starts</a:t>
            </a:r>
            <a:endParaRPr lang="en-US" sz="1400" b="0" u="none" strike="noStrike">
              <a:solidFill>
                <a:srgbClr val="000000"/>
              </a:solidFill>
              <a:effectLst/>
              <a:uFillTx/>
              <a:latin typeface="Arial"/>
            </a:endParaRPr>
          </a:p>
        </p:txBody>
      </p:sp>
      <p:sp>
        <p:nvSpPr>
          <p:cNvPr id="131" name="Text 9"/>
          <p:cNvSpPr/>
          <p:nvPr/>
        </p:nvSpPr>
        <p:spPr>
          <a:xfrm>
            <a:off x="777240" y="3886200"/>
            <a:ext cx="2285640" cy="50256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Goal test</a:t>
            </a:r>
            <a:endParaRPr lang="en-US" sz="1400" b="0" u="none" strike="noStrike">
              <a:solidFill>
                <a:srgbClr val="000000"/>
              </a:solidFill>
              <a:effectLst/>
              <a:uFillTx/>
              <a:latin typeface="Arial"/>
            </a:endParaRPr>
          </a:p>
        </p:txBody>
      </p:sp>
      <p:sp>
        <p:nvSpPr>
          <p:cNvPr id="132" name="Text 10"/>
          <p:cNvSpPr/>
          <p:nvPr/>
        </p:nvSpPr>
        <p:spPr>
          <a:xfrm>
            <a:off x="3246120" y="3913560"/>
            <a:ext cx="2834280" cy="41112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400" b="0" u="none" strike="noStrike">
                <a:solidFill>
                  <a:srgbClr val="102A4C"/>
                </a:solidFill>
                <a:effectLst/>
                <a:uFillTx/>
                <a:latin typeface="Aptos"/>
              </a:rPr>
              <a:t>Is-Goal(s): property or set of goal states</a:t>
            </a:r>
            <a:endParaRPr lang="en-US" sz="1400" b="0" u="none" strike="noStrike">
              <a:solidFill>
                <a:srgbClr val="000000"/>
              </a:solidFill>
              <a:effectLst/>
              <a:uFillTx/>
              <a:latin typeface="Arial"/>
            </a:endParaRPr>
          </a:p>
        </p:txBody>
      </p:sp>
      <p:sp>
        <p:nvSpPr>
          <p:cNvPr id="133" name="Text 11"/>
          <p:cNvSpPr/>
          <p:nvPr/>
        </p:nvSpPr>
        <p:spPr>
          <a:xfrm>
            <a:off x="6172200" y="1417320"/>
            <a:ext cx="2285640" cy="50256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Actions</a:t>
            </a:r>
            <a:endParaRPr lang="en-US" sz="1400" b="0" u="none" strike="noStrike">
              <a:solidFill>
                <a:srgbClr val="000000"/>
              </a:solidFill>
              <a:effectLst/>
              <a:uFillTx/>
              <a:latin typeface="Arial"/>
            </a:endParaRPr>
          </a:p>
        </p:txBody>
      </p:sp>
      <p:sp>
        <p:nvSpPr>
          <p:cNvPr id="134" name="Text 12"/>
          <p:cNvSpPr/>
          <p:nvPr/>
        </p:nvSpPr>
        <p:spPr>
          <a:xfrm>
            <a:off x="8641080" y="1444680"/>
            <a:ext cx="2834280" cy="41112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400" b="0" u="none" strike="noStrike">
                <a:solidFill>
                  <a:srgbClr val="102A4C"/>
                </a:solidFill>
                <a:effectLst/>
                <a:uFillTx/>
                <a:latin typeface="Aptos"/>
              </a:rPr>
              <a:t>ACTIONS(s): actions applicable in state s</a:t>
            </a:r>
            <a:endParaRPr lang="en-US" sz="1400" b="0" u="none" strike="noStrike">
              <a:solidFill>
                <a:srgbClr val="000000"/>
              </a:solidFill>
              <a:effectLst/>
              <a:uFillTx/>
              <a:latin typeface="Arial"/>
            </a:endParaRPr>
          </a:p>
        </p:txBody>
      </p:sp>
      <p:sp>
        <p:nvSpPr>
          <p:cNvPr id="135" name="Text 13"/>
          <p:cNvSpPr/>
          <p:nvPr/>
        </p:nvSpPr>
        <p:spPr>
          <a:xfrm>
            <a:off x="6172200" y="2651760"/>
            <a:ext cx="2285640" cy="50256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Transition model</a:t>
            </a:r>
            <a:endParaRPr lang="en-US" sz="1400" b="0" u="none" strike="noStrike">
              <a:solidFill>
                <a:srgbClr val="000000"/>
              </a:solidFill>
              <a:effectLst/>
              <a:uFillTx/>
              <a:latin typeface="Arial"/>
            </a:endParaRPr>
          </a:p>
        </p:txBody>
      </p:sp>
      <p:sp>
        <p:nvSpPr>
          <p:cNvPr id="136" name="Text 14"/>
          <p:cNvSpPr/>
          <p:nvPr/>
        </p:nvSpPr>
        <p:spPr>
          <a:xfrm>
            <a:off x="8641080" y="2679120"/>
            <a:ext cx="2834280" cy="41112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400" b="0" u="none" strike="noStrike">
                <a:solidFill>
                  <a:srgbClr val="102A4C"/>
                </a:solidFill>
                <a:effectLst/>
                <a:uFillTx/>
                <a:latin typeface="Aptos"/>
              </a:rPr>
              <a:t>RESULT(s,a): state reached after action a</a:t>
            </a:r>
            <a:endParaRPr lang="en-US" sz="1400" b="0" u="none" strike="noStrike">
              <a:solidFill>
                <a:srgbClr val="000000"/>
              </a:solidFill>
              <a:effectLst/>
              <a:uFillTx/>
              <a:latin typeface="Arial"/>
            </a:endParaRPr>
          </a:p>
        </p:txBody>
      </p:sp>
      <p:sp>
        <p:nvSpPr>
          <p:cNvPr id="137" name="Text 15"/>
          <p:cNvSpPr/>
          <p:nvPr/>
        </p:nvSpPr>
        <p:spPr>
          <a:xfrm>
            <a:off x="6172200" y="3886200"/>
            <a:ext cx="2285640" cy="50256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Action cost</a:t>
            </a:r>
            <a:endParaRPr lang="en-US" sz="1400" b="0" u="none" strike="noStrike">
              <a:solidFill>
                <a:srgbClr val="000000"/>
              </a:solidFill>
              <a:effectLst/>
              <a:uFillTx/>
              <a:latin typeface="Arial"/>
            </a:endParaRPr>
          </a:p>
        </p:txBody>
      </p:sp>
      <p:sp>
        <p:nvSpPr>
          <p:cNvPr id="138" name="Text 16"/>
          <p:cNvSpPr/>
          <p:nvPr/>
        </p:nvSpPr>
        <p:spPr>
          <a:xfrm>
            <a:off x="8641080" y="3913560"/>
            <a:ext cx="2834280" cy="41112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400" b="0" u="none" strike="noStrike">
                <a:solidFill>
                  <a:srgbClr val="102A4C"/>
                </a:solidFill>
                <a:effectLst/>
                <a:uFillTx/>
                <a:latin typeface="Aptos"/>
              </a:rPr>
              <a:t>c(s,a,s′): numeric cost of applying an action</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39"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0"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41"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Romania Route-Finding Example</a:t>
            </a:r>
            <a:endParaRPr lang="en-US" sz="2600" b="0" u="none" strike="noStrike">
              <a:solidFill>
                <a:srgbClr val="000000"/>
              </a:solidFill>
              <a:effectLst/>
              <a:uFillTx/>
              <a:latin typeface="Arial"/>
            </a:endParaRPr>
          </a:p>
        </p:txBody>
      </p:sp>
      <p:sp>
        <p:nvSpPr>
          <p:cNvPr id="142"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3"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4" name="Shape 5"/>
          <p:cNvSpPr/>
          <p:nvPr/>
        </p:nvSpPr>
        <p:spPr>
          <a:xfrm flipV="1">
            <a:off x="1005840" y="2103120"/>
            <a:ext cx="2011680" cy="91440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45" name="Text 6"/>
          <p:cNvSpPr/>
          <p:nvPr/>
        </p:nvSpPr>
        <p:spPr>
          <a:xfrm>
            <a:off x="1847160" y="2432160"/>
            <a:ext cx="328680" cy="164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140</a:t>
            </a:r>
            <a:endParaRPr lang="en-US" sz="850" b="0" u="none" strike="noStrike">
              <a:solidFill>
                <a:srgbClr val="000000"/>
              </a:solidFill>
              <a:effectLst/>
              <a:uFillTx/>
              <a:latin typeface="Arial"/>
            </a:endParaRPr>
          </a:p>
        </p:txBody>
      </p:sp>
      <p:sp>
        <p:nvSpPr>
          <p:cNvPr id="146" name="Shape 7"/>
          <p:cNvSpPr/>
          <p:nvPr/>
        </p:nvSpPr>
        <p:spPr>
          <a:xfrm>
            <a:off x="1005840" y="3017520"/>
            <a:ext cx="2011680" cy="360"/>
          </a:xfrm>
          <a:prstGeom prst="line">
            <a:avLst/>
          </a:prstGeom>
          <a:ln w="1651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47" name="Text 8"/>
          <p:cNvSpPr/>
          <p:nvPr/>
        </p:nvSpPr>
        <p:spPr>
          <a:xfrm>
            <a:off x="1847160" y="2889360"/>
            <a:ext cx="328680" cy="164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118</a:t>
            </a:r>
            <a:endParaRPr lang="en-US" sz="850" b="0" u="none" strike="noStrike">
              <a:solidFill>
                <a:srgbClr val="000000"/>
              </a:solidFill>
              <a:effectLst/>
              <a:uFillTx/>
              <a:latin typeface="Arial"/>
            </a:endParaRPr>
          </a:p>
        </p:txBody>
      </p:sp>
      <p:sp>
        <p:nvSpPr>
          <p:cNvPr id="148" name="Shape 9"/>
          <p:cNvSpPr/>
          <p:nvPr/>
        </p:nvSpPr>
        <p:spPr>
          <a:xfrm>
            <a:off x="1005840" y="3017520"/>
            <a:ext cx="2011680" cy="91440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49" name="Text 10"/>
          <p:cNvSpPr/>
          <p:nvPr/>
        </p:nvSpPr>
        <p:spPr>
          <a:xfrm>
            <a:off x="1847160" y="3346560"/>
            <a:ext cx="328680" cy="164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75</a:t>
            </a:r>
            <a:endParaRPr lang="en-US" sz="850" b="0" u="none" strike="noStrike">
              <a:solidFill>
                <a:srgbClr val="000000"/>
              </a:solidFill>
              <a:effectLst/>
              <a:uFillTx/>
              <a:latin typeface="Arial"/>
            </a:endParaRPr>
          </a:p>
        </p:txBody>
      </p:sp>
      <p:sp>
        <p:nvSpPr>
          <p:cNvPr id="150" name="Shape 11"/>
          <p:cNvSpPr/>
          <p:nvPr/>
        </p:nvSpPr>
        <p:spPr>
          <a:xfrm flipV="1">
            <a:off x="3017520" y="1828800"/>
            <a:ext cx="2057400" cy="27432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51" name="Text 12"/>
          <p:cNvSpPr/>
          <p:nvPr/>
        </p:nvSpPr>
        <p:spPr>
          <a:xfrm>
            <a:off x="3881520" y="1837800"/>
            <a:ext cx="328680" cy="164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99</a:t>
            </a:r>
            <a:endParaRPr lang="en-US" sz="850" b="0" u="none" strike="noStrike">
              <a:solidFill>
                <a:srgbClr val="000000"/>
              </a:solidFill>
              <a:effectLst/>
              <a:uFillTx/>
              <a:latin typeface="Arial"/>
            </a:endParaRPr>
          </a:p>
        </p:txBody>
      </p:sp>
      <p:sp>
        <p:nvSpPr>
          <p:cNvPr id="152" name="Shape 13"/>
          <p:cNvSpPr/>
          <p:nvPr/>
        </p:nvSpPr>
        <p:spPr>
          <a:xfrm>
            <a:off x="3017520" y="2103120"/>
            <a:ext cx="2057400" cy="64008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53" name="Text 14"/>
          <p:cNvSpPr/>
          <p:nvPr/>
        </p:nvSpPr>
        <p:spPr>
          <a:xfrm>
            <a:off x="3881520" y="2295000"/>
            <a:ext cx="328680" cy="164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80</a:t>
            </a:r>
            <a:endParaRPr lang="en-US" sz="850" b="0" u="none" strike="noStrike">
              <a:solidFill>
                <a:srgbClr val="000000"/>
              </a:solidFill>
              <a:effectLst/>
              <a:uFillTx/>
              <a:latin typeface="Arial"/>
            </a:endParaRPr>
          </a:p>
        </p:txBody>
      </p:sp>
      <p:sp>
        <p:nvSpPr>
          <p:cNvPr id="154" name="Shape 15"/>
          <p:cNvSpPr/>
          <p:nvPr/>
        </p:nvSpPr>
        <p:spPr>
          <a:xfrm>
            <a:off x="5074920" y="2743200"/>
            <a:ext cx="1920240" cy="360"/>
          </a:xfrm>
          <a:prstGeom prst="line">
            <a:avLst/>
          </a:prstGeom>
          <a:ln w="1651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55" name="Text 16"/>
          <p:cNvSpPr/>
          <p:nvPr/>
        </p:nvSpPr>
        <p:spPr>
          <a:xfrm>
            <a:off x="5870520" y="2615040"/>
            <a:ext cx="328680" cy="164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97</a:t>
            </a:r>
            <a:endParaRPr lang="en-US" sz="850" b="0" u="none" strike="noStrike">
              <a:solidFill>
                <a:srgbClr val="000000"/>
              </a:solidFill>
              <a:effectLst/>
              <a:uFillTx/>
              <a:latin typeface="Arial"/>
            </a:endParaRPr>
          </a:p>
        </p:txBody>
      </p:sp>
      <p:sp>
        <p:nvSpPr>
          <p:cNvPr id="156" name="Shape 17"/>
          <p:cNvSpPr/>
          <p:nvPr/>
        </p:nvSpPr>
        <p:spPr>
          <a:xfrm flipV="1">
            <a:off x="6995160" y="2240280"/>
            <a:ext cx="2011680" cy="50292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57" name="Text 18"/>
          <p:cNvSpPr/>
          <p:nvPr/>
        </p:nvSpPr>
        <p:spPr>
          <a:xfrm>
            <a:off x="7836480" y="2363760"/>
            <a:ext cx="328680" cy="164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101</a:t>
            </a:r>
            <a:endParaRPr lang="en-US" sz="850" b="0" u="none" strike="noStrike">
              <a:solidFill>
                <a:srgbClr val="000000"/>
              </a:solidFill>
              <a:effectLst/>
              <a:uFillTx/>
              <a:latin typeface="Arial"/>
            </a:endParaRPr>
          </a:p>
        </p:txBody>
      </p:sp>
      <p:sp>
        <p:nvSpPr>
          <p:cNvPr id="158" name="Shape 19"/>
          <p:cNvSpPr/>
          <p:nvPr/>
        </p:nvSpPr>
        <p:spPr>
          <a:xfrm>
            <a:off x="5074920" y="1828800"/>
            <a:ext cx="3931920" cy="41148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59" name="Text 20"/>
          <p:cNvSpPr/>
          <p:nvPr/>
        </p:nvSpPr>
        <p:spPr>
          <a:xfrm>
            <a:off x="6876360" y="1906560"/>
            <a:ext cx="328680" cy="164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211</a:t>
            </a:r>
            <a:endParaRPr lang="en-US" sz="850" b="0" u="none" strike="noStrike">
              <a:solidFill>
                <a:srgbClr val="000000"/>
              </a:solidFill>
              <a:effectLst/>
              <a:uFillTx/>
              <a:latin typeface="Arial"/>
            </a:endParaRPr>
          </a:p>
        </p:txBody>
      </p:sp>
      <p:sp>
        <p:nvSpPr>
          <p:cNvPr id="160" name="Text 21"/>
          <p:cNvSpPr/>
          <p:nvPr/>
        </p:nvSpPr>
        <p:spPr>
          <a:xfrm>
            <a:off x="841320" y="2853000"/>
            <a:ext cx="328680" cy="328680"/>
          </a:xfrm>
          <a:prstGeom prst="ellipse">
            <a:avLst/>
          </a:prstGeom>
          <a:solidFill>
            <a:srgbClr val="FFE5B6"/>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61" name="Text 22"/>
          <p:cNvSpPr/>
          <p:nvPr/>
        </p:nvSpPr>
        <p:spPr>
          <a:xfrm>
            <a:off x="530280" y="3246120"/>
            <a:ext cx="9507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Arad</a:t>
            </a:r>
            <a:endParaRPr lang="en-US" sz="850" b="0" u="none" strike="noStrike">
              <a:solidFill>
                <a:srgbClr val="000000"/>
              </a:solidFill>
              <a:effectLst/>
              <a:uFillTx/>
              <a:latin typeface="Arial"/>
            </a:endParaRPr>
          </a:p>
        </p:txBody>
      </p:sp>
      <p:sp>
        <p:nvSpPr>
          <p:cNvPr id="162" name="Text 23"/>
          <p:cNvSpPr/>
          <p:nvPr/>
        </p:nvSpPr>
        <p:spPr>
          <a:xfrm>
            <a:off x="2853000" y="1938600"/>
            <a:ext cx="328680" cy="32868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63" name="Text 24"/>
          <p:cNvSpPr/>
          <p:nvPr/>
        </p:nvSpPr>
        <p:spPr>
          <a:xfrm>
            <a:off x="2541960" y="2331720"/>
            <a:ext cx="9507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Sibiu</a:t>
            </a:r>
            <a:endParaRPr lang="en-US" sz="850" b="0" u="none" strike="noStrike">
              <a:solidFill>
                <a:srgbClr val="000000"/>
              </a:solidFill>
              <a:effectLst/>
              <a:uFillTx/>
              <a:latin typeface="Arial"/>
            </a:endParaRPr>
          </a:p>
        </p:txBody>
      </p:sp>
      <p:sp>
        <p:nvSpPr>
          <p:cNvPr id="164" name="Text 25"/>
          <p:cNvSpPr/>
          <p:nvPr/>
        </p:nvSpPr>
        <p:spPr>
          <a:xfrm>
            <a:off x="2853000" y="2853000"/>
            <a:ext cx="328680" cy="32868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T</a:t>
            </a:r>
            <a:endParaRPr lang="en-US" sz="900" b="0" u="none" strike="noStrike">
              <a:solidFill>
                <a:srgbClr val="000000"/>
              </a:solidFill>
              <a:effectLst/>
              <a:uFillTx/>
              <a:latin typeface="Arial"/>
            </a:endParaRPr>
          </a:p>
        </p:txBody>
      </p:sp>
      <p:sp>
        <p:nvSpPr>
          <p:cNvPr id="165" name="Text 26"/>
          <p:cNvSpPr/>
          <p:nvPr/>
        </p:nvSpPr>
        <p:spPr>
          <a:xfrm>
            <a:off x="2541960" y="3246120"/>
            <a:ext cx="9507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Timisoara</a:t>
            </a:r>
            <a:endParaRPr lang="en-US" sz="850" b="0" u="none" strike="noStrike">
              <a:solidFill>
                <a:srgbClr val="000000"/>
              </a:solidFill>
              <a:effectLst/>
              <a:uFillTx/>
              <a:latin typeface="Arial"/>
            </a:endParaRPr>
          </a:p>
        </p:txBody>
      </p:sp>
      <p:sp>
        <p:nvSpPr>
          <p:cNvPr id="166" name="Text 27"/>
          <p:cNvSpPr/>
          <p:nvPr/>
        </p:nvSpPr>
        <p:spPr>
          <a:xfrm>
            <a:off x="2853000" y="3767400"/>
            <a:ext cx="328680" cy="32868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Z</a:t>
            </a:r>
            <a:endParaRPr lang="en-US" sz="900" b="0" u="none" strike="noStrike">
              <a:solidFill>
                <a:srgbClr val="000000"/>
              </a:solidFill>
              <a:effectLst/>
              <a:uFillTx/>
              <a:latin typeface="Arial"/>
            </a:endParaRPr>
          </a:p>
        </p:txBody>
      </p:sp>
      <p:sp>
        <p:nvSpPr>
          <p:cNvPr id="167" name="Text 28"/>
          <p:cNvSpPr/>
          <p:nvPr/>
        </p:nvSpPr>
        <p:spPr>
          <a:xfrm>
            <a:off x="2541960" y="4160520"/>
            <a:ext cx="9507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Zerind</a:t>
            </a:r>
            <a:endParaRPr lang="en-US" sz="850" b="0" u="none" strike="noStrike">
              <a:solidFill>
                <a:srgbClr val="000000"/>
              </a:solidFill>
              <a:effectLst/>
              <a:uFillTx/>
              <a:latin typeface="Arial"/>
            </a:endParaRPr>
          </a:p>
        </p:txBody>
      </p:sp>
      <p:sp>
        <p:nvSpPr>
          <p:cNvPr id="168" name="Text 29"/>
          <p:cNvSpPr/>
          <p:nvPr/>
        </p:nvSpPr>
        <p:spPr>
          <a:xfrm>
            <a:off x="4910400" y="1664280"/>
            <a:ext cx="328680" cy="32868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69" name="Text 30"/>
          <p:cNvSpPr/>
          <p:nvPr/>
        </p:nvSpPr>
        <p:spPr>
          <a:xfrm>
            <a:off x="4599360" y="2057400"/>
            <a:ext cx="9507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Fagaras</a:t>
            </a:r>
            <a:endParaRPr lang="en-US" sz="850" b="0" u="none" strike="noStrike">
              <a:solidFill>
                <a:srgbClr val="000000"/>
              </a:solidFill>
              <a:effectLst/>
              <a:uFillTx/>
              <a:latin typeface="Arial"/>
            </a:endParaRPr>
          </a:p>
        </p:txBody>
      </p:sp>
      <p:sp>
        <p:nvSpPr>
          <p:cNvPr id="170" name="Text 31"/>
          <p:cNvSpPr/>
          <p:nvPr/>
        </p:nvSpPr>
        <p:spPr>
          <a:xfrm>
            <a:off x="4910400" y="2578680"/>
            <a:ext cx="328680" cy="32868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71" name="Text 32"/>
          <p:cNvSpPr/>
          <p:nvPr/>
        </p:nvSpPr>
        <p:spPr>
          <a:xfrm>
            <a:off x="4599360" y="2971800"/>
            <a:ext cx="9507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Rimnicu</a:t>
            </a:r>
            <a:endParaRPr lang="en-US" sz="850" b="0" u="none" strike="noStrike">
              <a:solidFill>
                <a:srgbClr val="000000"/>
              </a:solidFill>
              <a:effectLst/>
              <a:uFillTx/>
              <a:latin typeface="Arial"/>
            </a:endParaRPr>
          </a:p>
        </p:txBody>
      </p:sp>
      <p:sp>
        <p:nvSpPr>
          <p:cNvPr id="172" name="Text 33"/>
          <p:cNvSpPr/>
          <p:nvPr/>
        </p:nvSpPr>
        <p:spPr>
          <a:xfrm>
            <a:off x="6830640" y="2578680"/>
            <a:ext cx="328680" cy="32868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73" name="Text 34"/>
          <p:cNvSpPr/>
          <p:nvPr/>
        </p:nvSpPr>
        <p:spPr>
          <a:xfrm>
            <a:off x="6519600" y="2971800"/>
            <a:ext cx="9507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Pitesti</a:t>
            </a:r>
            <a:endParaRPr lang="en-US" sz="850" b="0" u="none" strike="noStrike">
              <a:solidFill>
                <a:srgbClr val="000000"/>
              </a:solidFill>
              <a:effectLst/>
              <a:uFillTx/>
              <a:latin typeface="Arial"/>
            </a:endParaRPr>
          </a:p>
        </p:txBody>
      </p:sp>
      <p:sp>
        <p:nvSpPr>
          <p:cNvPr id="174" name="Text 35"/>
          <p:cNvSpPr/>
          <p:nvPr/>
        </p:nvSpPr>
        <p:spPr>
          <a:xfrm>
            <a:off x="8842320" y="2075760"/>
            <a:ext cx="328680" cy="32868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75" name="Text 36"/>
          <p:cNvSpPr/>
          <p:nvPr/>
        </p:nvSpPr>
        <p:spPr>
          <a:xfrm>
            <a:off x="8531280" y="2468880"/>
            <a:ext cx="9507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Bucharest</a:t>
            </a:r>
            <a:endParaRPr lang="en-US" sz="850" b="0" u="none" strike="noStrike">
              <a:solidFill>
                <a:srgbClr val="000000"/>
              </a:solidFill>
              <a:effectLst/>
              <a:uFillTx/>
              <a:latin typeface="Arial"/>
            </a:endParaRPr>
          </a:p>
        </p:txBody>
      </p:sp>
      <p:sp>
        <p:nvSpPr>
          <p:cNvPr id="176" name="Text 37"/>
          <p:cNvSpPr/>
          <p:nvPr/>
        </p:nvSpPr>
        <p:spPr>
          <a:xfrm>
            <a:off x="822960" y="4709160"/>
            <a:ext cx="10332360" cy="914040"/>
          </a:xfrm>
          <a:prstGeom prst="rect">
            <a:avLst/>
          </a:prstGeom>
          <a:noFill/>
          <a:ln w="0">
            <a:noFill/>
          </a:ln>
        </p:spPr>
        <p:style>
          <a:lnRef idx="0"/>
          <a:fillRef idx="0"/>
          <a:effectRef idx="0"/>
          <a:fontRef idx="minor"/>
        </p:style>
        <p:txBody>
          <a:bodyPr lIns="720" tIns="720" rIns="720" bIns="720" anchor="ctr">
            <a:normAutofit fontScale="92500" lnSpcReduction="9999"/>
          </a:bodyPr>
          <a:p>
            <a:pPr defTabSz="914400">
              <a:lnSpc>
                <a:spcPct val="100000"/>
              </a:lnSpc>
            </a:pPr>
            <a:r>
              <a:rPr lang="en-US" sz="1350" b="0" u="none" strike="noStrike">
                <a:solidFill>
                  <a:srgbClr val="102A4C"/>
                </a:solidFill>
                <a:effectLst/>
                <a:uFillTx/>
                <a:latin typeface="Aptos"/>
              </a:rPr>
              <a:t>State space: cities</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Initial state: Arad</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Goal test: current city is Bucharest</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Actions: drive to adjacent city</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Cost: road distance, time, or fuel</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77"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8"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79"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Abstraction: Keep What Matters, Drop What Does Not</a:t>
            </a:r>
            <a:endParaRPr lang="en-US" sz="2600" b="0" u="none" strike="noStrike">
              <a:solidFill>
                <a:srgbClr val="000000"/>
              </a:solidFill>
              <a:effectLst/>
              <a:uFillTx/>
              <a:latin typeface="Arial"/>
            </a:endParaRPr>
          </a:p>
        </p:txBody>
      </p:sp>
      <p:sp>
        <p:nvSpPr>
          <p:cNvPr id="180"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81"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82" name="Text 5"/>
          <p:cNvSpPr/>
          <p:nvPr/>
        </p:nvSpPr>
        <p:spPr>
          <a:xfrm>
            <a:off x="868680" y="1417320"/>
            <a:ext cx="3017160" cy="502560"/>
          </a:xfrm>
          <a:prstGeom prst="roundRect">
            <a:avLst>
              <a:gd name="adj" fmla="val 14545"/>
            </a:avLst>
          </a:prstGeom>
          <a:solidFill>
            <a:srgbClr val="F7D7D7"/>
          </a:solidFill>
          <a:ln w="15240">
            <a:solidFill>
              <a:srgbClr val="9B1C1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9B1C1C"/>
                </a:solidFill>
                <a:effectLst/>
                <a:uFillTx/>
                <a:latin typeface="Aptos"/>
              </a:rPr>
              <a:t>Too detailed</a:t>
            </a:r>
            <a:endParaRPr lang="en-US" sz="1600" b="0" u="none" strike="noStrike">
              <a:solidFill>
                <a:srgbClr val="000000"/>
              </a:solidFill>
              <a:effectLst/>
              <a:uFillTx/>
              <a:latin typeface="Arial"/>
            </a:endParaRPr>
          </a:p>
        </p:txBody>
      </p:sp>
      <p:sp>
        <p:nvSpPr>
          <p:cNvPr id="183" name="Text 6"/>
          <p:cNvSpPr/>
          <p:nvPr/>
        </p:nvSpPr>
        <p:spPr>
          <a:xfrm>
            <a:off x="868680" y="2030040"/>
            <a:ext cx="3017160" cy="10969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400" b="0" u="none" strike="noStrike">
                <a:solidFill>
                  <a:srgbClr val="102A4C"/>
                </a:solidFill>
                <a:effectLst/>
                <a:uFillTx/>
                <a:latin typeface="Aptos"/>
              </a:rPr>
              <a:t>Move right foot forward one centimeter; turn steering wheel one degree; track radio station and scenery.</a:t>
            </a:r>
            <a:endParaRPr lang="en-US" sz="1400" b="0" u="none" strike="noStrike">
              <a:solidFill>
                <a:srgbClr val="000000"/>
              </a:solidFill>
              <a:effectLst/>
              <a:uFillTx/>
              <a:latin typeface="Arial"/>
            </a:endParaRPr>
          </a:p>
        </p:txBody>
      </p:sp>
      <p:sp>
        <p:nvSpPr>
          <p:cNvPr id="184" name="Text 7"/>
          <p:cNvSpPr/>
          <p:nvPr/>
        </p:nvSpPr>
        <p:spPr>
          <a:xfrm>
            <a:off x="4572000" y="1417320"/>
            <a:ext cx="3017160" cy="50256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Useful abstraction</a:t>
            </a:r>
            <a:endParaRPr lang="en-US" sz="1600" b="0" u="none" strike="noStrike">
              <a:solidFill>
                <a:srgbClr val="000000"/>
              </a:solidFill>
              <a:effectLst/>
              <a:uFillTx/>
              <a:latin typeface="Arial"/>
            </a:endParaRPr>
          </a:p>
        </p:txBody>
      </p:sp>
      <p:sp>
        <p:nvSpPr>
          <p:cNvPr id="185" name="Text 8"/>
          <p:cNvSpPr/>
          <p:nvPr/>
        </p:nvSpPr>
        <p:spPr>
          <a:xfrm>
            <a:off x="4572000" y="2030040"/>
            <a:ext cx="3017160" cy="10969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400" b="0" u="none" strike="noStrike">
                <a:solidFill>
                  <a:srgbClr val="102A4C"/>
                </a:solidFill>
                <a:effectLst/>
                <a:uFillTx/>
                <a:latin typeface="Aptos"/>
              </a:rPr>
              <a:t>Drive from Arad to Sibiu. The action is detailed enough to plan with and simple enough to execute.</a:t>
            </a:r>
            <a:endParaRPr lang="en-US" sz="1400" b="0" u="none" strike="noStrike">
              <a:solidFill>
                <a:srgbClr val="000000"/>
              </a:solidFill>
              <a:effectLst/>
              <a:uFillTx/>
              <a:latin typeface="Arial"/>
            </a:endParaRPr>
          </a:p>
        </p:txBody>
      </p:sp>
      <p:sp>
        <p:nvSpPr>
          <p:cNvPr id="186" name="Text 9"/>
          <p:cNvSpPr/>
          <p:nvPr/>
        </p:nvSpPr>
        <p:spPr>
          <a:xfrm>
            <a:off x="8275320" y="1417320"/>
            <a:ext cx="3017160" cy="50256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Good formulation</a:t>
            </a:r>
            <a:endParaRPr lang="en-US" sz="1600" b="0" u="none" strike="noStrike">
              <a:solidFill>
                <a:srgbClr val="000000"/>
              </a:solidFill>
              <a:effectLst/>
              <a:uFillTx/>
              <a:latin typeface="Arial"/>
            </a:endParaRPr>
          </a:p>
        </p:txBody>
      </p:sp>
      <p:sp>
        <p:nvSpPr>
          <p:cNvPr id="187" name="Text 10"/>
          <p:cNvSpPr/>
          <p:nvPr/>
        </p:nvSpPr>
        <p:spPr>
          <a:xfrm>
            <a:off x="8275320" y="1965960"/>
            <a:ext cx="3062880" cy="13712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350" b="0" u="none" strike="noStrike">
                <a:solidFill>
                  <a:srgbClr val="102A4C"/>
                </a:solidFill>
                <a:effectLst/>
                <a:uFillTx/>
                <a:latin typeface="Aptos"/>
              </a:rPr>
              <a:t>Valid: abstract solution can be elaborated into a real solution</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Useful: each abstract action is easier than solving the original problem</a:t>
            </a:r>
            <a:endParaRPr lang="en-US" sz="1350" b="0" u="none" strike="noStrike">
              <a:solidFill>
                <a:srgbClr val="000000"/>
              </a:solidFill>
              <a:effectLst/>
              <a:uFillTx/>
              <a:latin typeface="Arial"/>
            </a:endParaRPr>
          </a:p>
        </p:txBody>
      </p:sp>
      <p:sp>
        <p:nvSpPr>
          <p:cNvPr id="188" name="Text 11"/>
          <p:cNvSpPr/>
          <p:nvPr/>
        </p:nvSpPr>
        <p:spPr>
          <a:xfrm>
            <a:off x="1097280" y="4617720"/>
            <a:ext cx="9966600" cy="50256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2000" b="1" u="none" strike="noStrike">
                <a:solidFill>
                  <a:srgbClr val="112E5C"/>
                </a:solidFill>
                <a:effectLst/>
                <a:uFillTx/>
                <a:latin typeface="Aptos"/>
              </a:rPr>
              <a:t>Remove as much detail as possible while preserving validity and executable actions.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89"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91"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Search Problems Are Models</a:t>
            </a:r>
            <a:endParaRPr lang="en-US" sz="2600" b="0" u="none" strike="noStrike">
              <a:solidFill>
                <a:srgbClr val="000000"/>
              </a:solidFill>
              <a:effectLst/>
              <a:uFillTx/>
              <a:latin typeface="Arial"/>
            </a:endParaRPr>
          </a:p>
        </p:txBody>
      </p:sp>
      <p:sp>
        <p:nvSpPr>
          <p:cNvPr id="192"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93"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94" name="Text 5"/>
          <p:cNvSpPr/>
          <p:nvPr/>
        </p:nvSpPr>
        <p:spPr>
          <a:xfrm>
            <a:off x="822960" y="1463040"/>
            <a:ext cx="5028840" cy="365400"/>
          </a:xfrm>
          <a:prstGeom prst="rect">
            <a:avLst/>
          </a:prstGeom>
          <a:noFill/>
          <a:ln w="0">
            <a:noFill/>
          </a:ln>
        </p:spPr>
        <p:style>
          <a:lnRef idx="0"/>
          <a:fillRef idx="0"/>
          <a:effectRef idx="0"/>
          <a:fontRef idx="minor"/>
        </p:style>
        <p:txBody>
          <a:bodyPr lIns="720" tIns="720" rIns="720" bIns="720" anchor="ctr">
            <a:normAutofit fontScale="70000" lnSpcReduction="19999"/>
          </a:bodyPr>
          <a:p>
            <a:pPr defTabSz="914400">
              <a:lnSpc>
                <a:spcPct val="100000"/>
              </a:lnSpc>
              <a:tabLst>
                <a:tab pos="0" algn="l"/>
              </a:tabLst>
            </a:pPr>
            <a:r>
              <a:rPr lang="en-US" sz="2100" b="1" u="none" strike="noStrike">
                <a:solidFill>
                  <a:srgbClr val="102A4C"/>
                </a:solidFill>
                <a:effectLst/>
                <a:uFillTx/>
                <a:latin typeface="Aptos"/>
              </a:rPr>
              <a:t>The agent does not try every plan in the real world.</a:t>
            </a:r>
            <a:endParaRPr lang="en-US" sz="2100" b="0" u="none" strike="noStrike">
              <a:solidFill>
                <a:srgbClr val="000000"/>
              </a:solidFill>
              <a:effectLst/>
              <a:uFillTx/>
              <a:latin typeface="Arial"/>
            </a:endParaRPr>
          </a:p>
        </p:txBody>
      </p:sp>
      <p:sp>
        <p:nvSpPr>
          <p:cNvPr id="195" name="Text 6"/>
          <p:cNvSpPr/>
          <p:nvPr/>
        </p:nvSpPr>
        <p:spPr>
          <a:xfrm>
            <a:off x="914400" y="2148840"/>
            <a:ext cx="5028840" cy="2742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600" b="0" u="none" strike="noStrike">
                <a:solidFill>
                  <a:srgbClr val="102A4C"/>
                </a:solidFill>
                <a:effectLst/>
                <a:uFillTx/>
                <a:latin typeface="Aptos"/>
              </a:rPr>
              <a:t>The search problem is an abstract model of the environment.</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Planning happens “in simulation.”</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Your search is only as good as your model.</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Bad state/action/cost choices can produce bad behavior.</a:t>
            </a:r>
            <a:endParaRPr lang="en-US" sz="1600" b="0" u="none" strike="noStrike">
              <a:solidFill>
                <a:srgbClr val="000000"/>
              </a:solidFill>
              <a:effectLst/>
              <a:uFillTx/>
              <a:latin typeface="Arial"/>
            </a:endParaRPr>
          </a:p>
        </p:txBody>
      </p:sp>
      <p:sp>
        <p:nvSpPr>
          <p:cNvPr id="196" name="Text 7"/>
          <p:cNvSpPr/>
          <p:nvPr/>
        </p:nvSpPr>
        <p:spPr>
          <a:xfrm>
            <a:off x="6629400" y="1645920"/>
            <a:ext cx="1919880" cy="502560"/>
          </a:xfrm>
          <a:prstGeom prst="roundRect">
            <a:avLst>
              <a:gd name="adj" fmla="val 1454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Real world</a:t>
            </a:r>
            <a:endParaRPr lang="en-US" sz="1500" b="0" u="none" strike="noStrike">
              <a:solidFill>
                <a:srgbClr val="000000"/>
              </a:solidFill>
              <a:effectLst/>
              <a:uFillTx/>
              <a:latin typeface="Arial"/>
            </a:endParaRPr>
          </a:p>
        </p:txBody>
      </p:sp>
      <p:sp>
        <p:nvSpPr>
          <p:cNvPr id="197" name="Text 8"/>
          <p:cNvSpPr/>
          <p:nvPr/>
        </p:nvSpPr>
        <p:spPr>
          <a:xfrm>
            <a:off x="9326880" y="1645920"/>
            <a:ext cx="1919880" cy="50256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2F7FD5"/>
                </a:solidFill>
                <a:effectLst/>
                <a:uFillTx/>
                <a:latin typeface="Aptos"/>
              </a:rPr>
              <a:t>Search model</a:t>
            </a:r>
            <a:endParaRPr lang="en-US" sz="1500" b="0" u="none" strike="noStrike">
              <a:solidFill>
                <a:srgbClr val="000000"/>
              </a:solidFill>
              <a:effectLst/>
              <a:uFillTx/>
              <a:latin typeface="Arial"/>
            </a:endParaRPr>
          </a:p>
        </p:txBody>
      </p:sp>
      <p:sp>
        <p:nvSpPr>
          <p:cNvPr id="198" name="Shape 9"/>
          <p:cNvSpPr/>
          <p:nvPr/>
        </p:nvSpPr>
        <p:spPr>
          <a:xfrm>
            <a:off x="8549640" y="1892520"/>
            <a:ext cx="777240" cy="360"/>
          </a:xfrm>
          <a:prstGeom prst="line">
            <a:avLst/>
          </a:prstGeom>
          <a:ln w="2540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99" name="Text 10"/>
          <p:cNvSpPr/>
          <p:nvPr/>
        </p:nvSpPr>
        <p:spPr>
          <a:xfrm>
            <a:off x="6711840" y="2459880"/>
            <a:ext cx="292320" cy="29232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00" name="Text 11"/>
          <p:cNvSpPr/>
          <p:nvPr/>
        </p:nvSpPr>
        <p:spPr>
          <a:xfrm>
            <a:off x="7123320" y="2459880"/>
            <a:ext cx="292320" cy="29232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01" name="Text 12"/>
          <p:cNvSpPr/>
          <p:nvPr/>
        </p:nvSpPr>
        <p:spPr>
          <a:xfrm>
            <a:off x="7534800" y="2459880"/>
            <a:ext cx="292320" cy="29232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02" name="Text 13"/>
          <p:cNvSpPr/>
          <p:nvPr/>
        </p:nvSpPr>
        <p:spPr>
          <a:xfrm>
            <a:off x="7946280" y="2459880"/>
            <a:ext cx="292320" cy="29232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03" name="Text 14"/>
          <p:cNvSpPr/>
          <p:nvPr/>
        </p:nvSpPr>
        <p:spPr>
          <a:xfrm>
            <a:off x="6711840" y="2962800"/>
            <a:ext cx="292320" cy="29232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04" name="Text 15"/>
          <p:cNvSpPr/>
          <p:nvPr/>
        </p:nvSpPr>
        <p:spPr>
          <a:xfrm>
            <a:off x="7123320" y="2962800"/>
            <a:ext cx="292320" cy="29232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05" name="Text 16"/>
          <p:cNvSpPr/>
          <p:nvPr/>
        </p:nvSpPr>
        <p:spPr>
          <a:xfrm>
            <a:off x="7534800" y="2962800"/>
            <a:ext cx="292320" cy="29232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06" name="Text 17"/>
          <p:cNvSpPr/>
          <p:nvPr/>
        </p:nvSpPr>
        <p:spPr>
          <a:xfrm>
            <a:off x="7946280" y="2962800"/>
            <a:ext cx="292320" cy="29232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07" name="Text 18"/>
          <p:cNvSpPr/>
          <p:nvPr/>
        </p:nvSpPr>
        <p:spPr>
          <a:xfrm>
            <a:off x="9409320" y="2734200"/>
            <a:ext cx="292320" cy="29232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800" b="1" u="none" strike="noStrike">
                <a:solidFill>
                  <a:srgbClr val="102A4C"/>
                </a:solidFill>
                <a:effectLst/>
                <a:uFillTx/>
                <a:latin typeface="Aptos"/>
              </a:rPr>
              <a:t>A</a:t>
            </a:r>
            <a:endParaRPr lang="en-US" sz="800" b="0" u="none" strike="noStrike">
              <a:solidFill>
                <a:srgbClr val="000000"/>
              </a:solidFill>
              <a:effectLst/>
              <a:uFillTx/>
              <a:latin typeface="Arial"/>
            </a:endParaRPr>
          </a:p>
        </p:txBody>
      </p:sp>
      <p:sp>
        <p:nvSpPr>
          <p:cNvPr id="208" name="Shape 19"/>
          <p:cNvSpPr/>
          <p:nvPr/>
        </p:nvSpPr>
        <p:spPr>
          <a:xfrm>
            <a:off x="9555480" y="2880360"/>
            <a:ext cx="365760" cy="360"/>
          </a:xfrm>
          <a:prstGeom prst="line">
            <a:avLst/>
          </a:prstGeom>
          <a:ln w="15240">
            <a:solidFill>
              <a:srgbClr val="17724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09" name="Text 20"/>
          <p:cNvSpPr/>
          <p:nvPr/>
        </p:nvSpPr>
        <p:spPr>
          <a:xfrm>
            <a:off x="9775080" y="2734200"/>
            <a:ext cx="292320" cy="29232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800" b="1" u="none" strike="noStrike">
                <a:solidFill>
                  <a:srgbClr val="102A4C"/>
                </a:solidFill>
                <a:effectLst/>
                <a:uFillTx/>
                <a:latin typeface="Aptos"/>
              </a:rPr>
              <a:t>B</a:t>
            </a:r>
            <a:endParaRPr lang="en-US" sz="800" b="0" u="none" strike="noStrike">
              <a:solidFill>
                <a:srgbClr val="000000"/>
              </a:solidFill>
              <a:effectLst/>
              <a:uFillTx/>
              <a:latin typeface="Arial"/>
            </a:endParaRPr>
          </a:p>
        </p:txBody>
      </p:sp>
      <p:sp>
        <p:nvSpPr>
          <p:cNvPr id="210" name="Shape 21"/>
          <p:cNvSpPr/>
          <p:nvPr/>
        </p:nvSpPr>
        <p:spPr>
          <a:xfrm>
            <a:off x="9921240" y="2880360"/>
            <a:ext cx="365760" cy="360"/>
          </a:xfrm>
          <a:prstGeom prst="line">
            <a:avLst/>
          </a:prstGeom>
          <a:ln w="15240">
            <a:solidFill>
              <a:srgbClr val="17724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11" name="Text 22"/>
          <p:cNvSpPr/>
          <p:nvPr/>
        </p:nvSpPr>
        <p:spPr>
          <a:xfrm>
            <a:off x="10140840" y="2734200"/>
            <a:ext cx="292320" cy="29232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800" b="1" u="none" strike="noStrike">
                <a:solidFill>
                  <a:srgbClr val="102A4C"/>
                </a:solidFill>
                <a:effectLst/>
                <a:uFillTx/>
                <a:latin typeface="Aptos"/>
              </a:rPr>
              <a:t>C</a:t>
            </a:r>
            <a:endParaRPr lang="en-US" sz="800" b="0" u="none" strike="noStrike">
              <a:solidFill>
                <a:srgbClr val="000000"/>
              </a:solidFill>
              <a:effectLst/>
              <a:uFillTx/>
              <a:latin typeface="Arial"/>
            </a:endParaRPr>
          </a:p>
        </p:txBody>
      </p:sp>
      <p:sp>
        <p:nvSpPr>
          <p:cNvPr id="212" name="Shape 23"/>
          <p:cNvSpPr/>
          <p:nvPr/>
        </p:nvSpPr>
        <p:spPr>
          <a:xfrm>
            <a:off x="10287000" y="2880360"/>
            <a:ext cx="365760" cy="360"/>
          </a:xfrm>
          <a:prstGeom prst="line">
            <a:avLst/>
          </a:prstGeom>
          <a:ln w="15240">
            <a:solidFill>
              <a:srgbClr val="17724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13" name="Text 24"/>
          <p:cNvSpPr/>
          <p:nvPr/>
        </p:nvSpPr>
        <p:spPr>
          <a:xfrm>
            <a:off x="10506600" y="2734200"/>
            <a:ext cx="292320" cy="29232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800" b="1" u="none" strike="noStrike">
                <a:solidFill>
                  <a:srgbClr val="102A4C"/>
                </a:solidFill>
                <a:effectLst/>
                <a:uFillTx/>
                <a:latin typeface="Aptos"/>
              </a:rPr>
              <a:t>D</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14"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5"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16"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Section 3.2: Example Search Problems</a:t>
            </a:r>
            <a:endParaRPr lang="en-US" sz="2600" b="0" u="none" strike="noStrike">
              <a:solidFill>
                <a:srgbClr val="000000"/>
              </a:solidFill>
              <a:effectLst/>
              <a:uFillTx/>
              <a:latin typeface="Arial"/>
            </a:endParaRPr>
          </a:p>
        </p:txBody>
      </p:sp>
      <p:sp>
        <p:nvSpPr>
          <p:cNvPr id="217"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18"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19" name="Text 5"/>
          <p:cNvSpPr/>
          <p:nvPr/>
        </p:nvSpPr>
        <p:spPr>
          <a:xfrm>
            <a:off x="822960" y="1508760"/>
            <a:ext cx="5028840" cy="529920"/>
          </a:xfrm>
          <a:prstGeom prst="roundRect">
            <a:avLst>
              <a:gd name="adj" fmla="val 1379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2F7FD5"/>
                </a:solidFill>
                <a:effectLst/>
                <a:uFillTx/>
                <a:latin typeface="Aptos"/>
              </a:rPr>
              <a:t>Standardized problems</a:t>
            </a:r>
            <a:endParaRPr lang="en-US" sz="1700" b="0" u="none" strike="noStrike">
              <a:solidFill>
                <a:srgbClr val="000000"/>
              </a:solidFill>
              <a:effectLst/>
              <a:uFillTx/>
              <a:latin typeface="Arial"/>
            </a:endParaRPr>
          </a:p>
        </p:txBody>
      </p:sp>
      <p:sp>
        <p:nvSpPr>
          <p:cNvPr id="220" name="Text 6"/>
          <p:cNvSpPr/>
          <p:nvPr/>
        </p:nvSpPr>
        <p:spPr>
          <a:xfrm>
            <a:off x="1051560" y="2331720"/>
            <a:ext cx="4571640" cy="914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Grid worlds, vacuum world, Sokoban, sliding-tile puzzles, Knuth’s 4 problem</a:t>
            </a:r>
            <a:endParaRPr lang="en-US" sz="1600" b="0" u="none" strike="noStrike">
              <a:solidFill>
                <a:srgbClr val="000000"/>
              </a:solidFill>
              <a:effectLst/>
              <a:uFillTx/>
              <a:latin typeface="Arial"/>
            </a:endParaRPr>
          </a:p>
        </p:txBody>
      </p:sp>
      <p:sp>
        <p:nvSpPr>
          <p:cNvPr id="221" name="Text 7"/>
          <p:cNvSpPr/>
          <p:nvPr/>
        </p:nvSpPr>
        <p:spPr>
          <a:xfrm>
            <a:off x="1051560" y="3657600"/>
            <a:ext cx="4571640" cy="5940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5C6B80"/>
                </a:solidFill>
                <a:effectLst/>
                <a:uFillTx/>
                <a:latin typeface="Aptos"/>
              </a:rPr>
              <a:t>designed for precise algorithm comparison</a:t>
            </a:r>
            <a:endParaRPr lang="en-US" sz="1400" b="0" u="none" strike="noStrike">
              <a:solidFill>
                <a:srgbClr val="000000"/>
              </a:solidFill>
              <a:effectLst/>
              <a:uFillTx/>
              <a:latin typeface="Arial"/>
            </a:endParaRPr>
          </a:p>
        </p:txBody>
      </p:sp>
      <p:sp>
        <p:nvSpPr>
          <p:cNvPr id="222" name="Text 8"/>
          <p:cNvSpPr/>
          <p:nvPr/>
        </p:nvSpPr>
        <p:spPr>
          <a:xfrm>
            <a:off x="6400800" y="1508760"/>
            <a:ext cx="5028840" cy="529920"/>
          </a:xfrm>
          <a:prstGeom prst="roundRect">
            <a:avLst>
              <a:gd name="adj" fmla="val 13793"/>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77245"/>
                </a:solidFill>
                <a:effectLst/>
                <a:uFillTx/>
                <a:latin typeface="Aptos"/>
              </a:rPr>
              <a:t>Real-world problems</a:t>
            </a:r>
            <a:endParaRPr lang="en-US" sz="1700" b="0" u="none" strike="noStrike">
              <a:solidFill>
                <a:srgbClr val="000000"/>
              </a:solidFill>
              <a:effectLst/>
              <a:uFillTx/>
              <a:latin typeface="Arial"/>
            </a:endParaRPr>
          </a:p>
        </p:txBody>
      </p:sp>
      <p:sp>
        <p:nvSpPr>
          <p:cNvPr id="223" name="Text 9"/>
          <p:cNvSpPr/>
          <p:nvPr/>
        </p:nvSpPr>
        <p:spPr>
          <a:xfrm>
            <a:off x="6629400" y="2331720"/>
            <a:ext cx="4571640" cy="914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Route finding, airline planning, TSP, VLSI layout, robot navigation, assembly sequencing</a:t>
            </a:r>
            <a:endParaRPr lang="en-US" sz="1600" b="0" u="none" strike="noStrike">
              <a:solidFill>
                <a:srgbClr val="000000"/>
              </a:solidFill>
              <a:effectLst/>
              <a:uFillTx/>
              <a:latin typeface="Arial"/>
            </a:endParaRPr>
          </a:p>
        </p:txBody>
      </p:sp>
      <p:sp>
        <p:nvSpPr>
          <p:cNvPr id="224" name="Text 10"/>
          <p:cNvSpPr/>
          <p:nvPr/>
        </p:nvSpPr>
        <p:spPr>
          <a:xfrm>
            <a:off x="6629400" y="3657600"/>
            <a:ext cx="4571640" cy="5940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5C6B80"/>
                </a:solidFill>
                <a:effectLst/>
                <a:uFillTx/>
                <a:latin typeface="Aptos"/>
              </a:rPr>
              <a:t>messy sensors, constraints, costs, and failure modes</a:t>
            </a:r>
            <a:endParaRPr lang="en-US" sz="1400" b="0" u="none" strike="noStrike">
              <a:solidFill>
                <a:srgbClr val="000000"/>
              </a:solidFill>
              <a:effectLst/>
              <a:uFillTx/>
              <a:latin typeface="Arial"/>
            </a:endParaRPr>
          </a:p>
        </p:txBody>
      </p:sp>
      <p:sp>
        <p:nvSpPr>
          <p:cNvPr id="225" name="Text 11"/>
          <p:cNvSpPr/>
          <p:nvPr/>
        </p:nvSpPr>
        <p:spPr>
          <a:xfrm>
            <a:off x="914400" y="5166360"/>
            <a:ext cx="10332360" cy="38376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1800" b="1" u="none" strike="noStrike">
                <a:solidFill>
                  <a:srgbClr val="112E5C"/>
                </a:solidFill>
                <a:effectLst/>
                <a:uFillTx/>
                <a:latin typeface="Aptos"/>
              </a:rPr>
              <a:t>Benchmarking teaches algorithms; formulation determines whether algorithms help in practice.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26"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27"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28"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Grid Worlds and Sokoban</a:t>
            </a:r>
            <a:endParaRPr lang="en-US" sz="2600" b="0" u="none" strike="noStrike">
              <a:solidFill>
                <a:srgbClr val="000000"/>
              </a:solidFill>
              <a:effectLst/>
              <a:uFillTx/>
              <a:latin typeface="Arial"/>
            </a:endParaRPr>
          </a:p>
        </p:txBody>
      </p:sp>
      <p:sp>
        <p:nvSpPr>
          <p:cNvPr id="229"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30"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31" name="Rounded Rectangle 6"/>
          <p:cNvSpPr/>
          <p:nvPr/>
        </p:nvSpPr>
        <p:spPr>
          <a:xfrm>
            <a:off x="777240" y="1417320"/>
            <a:ext cx="502884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Grid world: the general pattern</a:t>
            </a:r>
            <a:endParaRPr lang="en-US" sz="1400" b="0" u="none" strike="noStrike">
              <a:solidFill>
                <a:srgbClr val="000000"/>
              </a:solidFill>
              <a:effectLst/>
              <a:uFillTx/>
              <a:latin typeface="Arial"/>
            </a:endParaRPr>
          </a:p>
        </p:txBody>
      </p:sp>
      <p:sp>
        <p:nvSpPr>
          <p:cNvPr id="232" name="Rounded Rectangle 7"/>
          <p:cNvSpPr/>
          <p:nvPr/>
        </p:nvSpPr>
        <p:spPr>
          <a:xfrm>
            <a:off x="777240" y="187452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33" name="Rectangle 8"/>
          <p:cNvSpPr/>
          <p:nvPr/>
        </p:nvSpPr>
        <p:spPr>
          <a:xfrm>
            <a:off x="1005840" y="201168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00" b="0" u="none" strike="noStrike">
                <a:solidFill>
                  <a:srgbClr val="102A4C"/>
                </a:solidFill>
                <a:effectLst/>
                <a:uFillTx/>
                <a:latin typeface="Aptos"/>
              </a:rPr>
              <a:t>•  A rectangular array of cells; the agent moves between obstacle-free adjacent cells</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Cells may hold objects the agent can pick up or push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Walls and obstacles block movement entirely</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The vacuum world is a grid world: n cells gives n · 2ⁿ states</a:t>
            </a:r>
            <a:endParaRPr lang="en-US" sz="1300" b="0" u="none" strike="noStrike">
              <a:solidFill>
                <a:srgbClr val="000000"/>
              </a:solidFill>
              <a:effectLst/>
              <a:uFillTx/>
              <a:latin typeface="Arial"/>
            </a:endParaRPr>
          </a:p>
        </p:txBody>
      </p:sp>
      <p:sp>
        <p:nvSpPr>
          <p:cNvPr id="234" name="Rounded Rectangle 9"/>
          <p:cNvSpPr/>
          <p:nvPr/>
        </p:nvSpPr>
        <p:spPr>
          <a:xfrm>
            <a:off x="777240" y="3703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50" b="1" u="none" strike="noStrike">
                <a:solidFill>
                  <a:srgbClr val="112E5C"/>
                </a:solidFill>
                <a:effectLst/>
                <a:uFillTx/>
                <a:latin typeface="Aptos"/>
              </a:rPr>
              <a:t>A real design choice: how to name the actions</a:t>
            </a:r>
            <a:endParaRPr lang="en-US" sz="1350" b="0" u="none" strike="noStrike">
              <a:solidFill>
                <a:srgbClr val="000000"/>
              </a:solidFill>
              <a:effectLst/>
              <a:uFillTx/>
              <a:latin typeface="Arial"/>
            </a:endParaRPr>
          </a:p>
        </p:txBody>
      </p:sp>
      <p:sp>
        <p:nvSpPr>
          <p:cNvPr id="235" name="Rounded Rectangle 10"/>
          <p:cNvSpPr/>
          <p:nvPr/>
        </p:nvSpPr>
        <p:spPr>
          <a:xfrm>
            <a:off x="777240" y="4160520"/>
            <a:ext cx="5028840" cy="8226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36" name="Rectangle 11"/>
          <p:cNvSpPr/>
          <p:nvPr/>
        </p:nvSpPr>
        <p:spPr>
          <a:xfrm>
            <a:off x="1005840" y="4251960"/>
            <a:ext cx="457164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50" b="0" u="none" strike="noStrike">
                <a:solidFill>
                  <a:srgbClr val="102A4C"/>
                </a:solidFill>
                <a:effectLst/>
                <a:uFillTx/>
                <a:latin typeface="Aptos"/>
              </a:rPr>
              <a:t>Absolute: Up, Down, Left, Right — four actions, no orientation in the state.   Egocentric: Forward, Backward, TurnLeft, TurnRight — fewer move actions, but the state must now carry a facing.</a:t>
            </a:r>
            <a:endParaRPr lang="en-US" sz="1250" b="0" u="none" strike="noStrike">
              <a:solidFill>
                <a:srgbClr val="000000"/>
              </a:solidFill>
              <a:effectLst/>
              <a:uFillTx/>
              <a:latin typeface="Arial"/>
            </a:endParaRPr>
          </a:p>
        </p:txBody>
      </p:sp>
      <p:sp>
        <p:nvSpPr>
          <p:cNvPr id="237" name="Rounded Rectangle 12"/>
          <p:cNvSpPr/>
          <p:nvPr/>
        </p:nvSpPr>
        <p:spPr>
          <a:xfrm>
            <a:off x="6385680" y="141732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Sokoban</a:t>
            </a:r>
            <a:endParaRPr lang="en-US" sz="1400" b="0" u="none" strike="noStrike">
              <a:solidFill>
                <a:srgbClr val="000000"/>
              </a:solidFill>
              <a:effectLst/>
              <a:uFillTx/>
              <a:latin typeface="Arial"/>
            </a:endParaRPr>
          </a:p>
        </p:txBody>
      </p:sp>
      <p:sp>
        <p:nvSpPr>
          <p:cNvPr id="238" name="Rectangle 13"/>
          <p:cNvSpPr/>
          <p:nvPr/>
        </p:nvSpPr>
        <p:spPr>
          <a:xfrm>
            <a:off x="6705720" y="196596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39" name="Rectangle 14"/>
          <p:cNvSpPr/>
          <p:nvPr/>
        </p:nvSpPr>
        <p:spPr>
          <a:xfrm>
            <a:off x="702576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40" name="Rectangle 15"/>
          <p:cNvSpPr/>
          <p:nvPr/>
        </p:nvSpPr>
        <p:spPr>
          <a:xfrm>
            <a:off x="734580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41" name="Rectangle 16"/>
          <p:cNvSpPr/>
          <p:nvPr/>
        </p:nvSpPr>
        <p:spPr>
          <a:xfrm>
            <a:off x="766584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42" name="Rectangle 17"/>
          <p:cNvSpPr/>
          <p:nvPr/>
        </p:nvSpPr>
        <p:spPr>
          <a:xfrm>
            <a:off x="798588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43" name="Rectangle 18"/>
          <p:cNvSpPr/>
          <p:nvPr/>
        </p:nvSpPr>
        <p:spPr>
          <a:xfrm>
            <a:off x="8305920" y="196596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44" name="Rectangle 19"/>
          <p:cNvSpPr/>
          <p:nvPr/>
        </p:nvSpPr>
        <p:spPr>
          <a:xfrm>
            <a:off x="670572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45" name="Rectangle 20"/>
          <p:cNvSpPr/>
          <p:nvPr/>
        </p:nvSpPr>
        <p:spPr>
          <a:xfrm>
            <a:off x="702576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46" name="Rectangle 21"/>
          <p:cNvSpPr/>
          <p:nvPr/>
        </p:nvSpPr>
        <p:spPr>
          <a:xfrm>
            <a:off x="734580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47" name="Rectangle 22"/>
          <p:cNvSpPr/>
          <p:nvPr/>
        </p:nvSpPr>
        <p:spPr>
          <a:xfrm>
            <a:off x="7414200" y="2354760"/>
            <a:ext cx="182520" cy="182520"/>
          </a:xfrm>
          <a:prstGeom prst="rect">
            <a:avLst/>
          </a:prstGeom>
          <a:solidFill>
            <a:srgbClr val="112E5C"/>
          </a:solidFill>
          <a:ln w="9525">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48" name="Rectangle 23"/>
          <p:cNvSpPr/>
          <p:nvPr/>
        </p:nvSpPr>
        <p:spPr>
          <a:xfrm>
            <a:off x="766584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49" name="Rectangle 24"/>
          <p:cNvSpPr/>
          <p:nvPr/>
        </p:nvSpPr>
        <p:spPr>
          <a:xfrm>
            <a:off x="798588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50" name="Rectangle 25"/>
          <p:cNvSpPr/>
          <p:nvPr/>
        </p:nvSpPr>
        <p:spPr>
          <a:xfrm>
            <a:off x="830592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51" name="Rectangle 26"/>
          <p:cNvSpPr/>
          <p:nvPr/>
        </p:nvSpPr>
        <p:spPr>
          <a:xfrm>
            <a:off x="670572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52" name="Rectangle 27"/>
          <p:cNvSpPr/>
          <p:nvPr/>
        </p:nvSpPr>
        <p:spPr>
          <a:xfrm>
            <a:off x="702576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53" name="Oval 28"/>
          <p:cNvSpPr/>
          <p:nvPr/>
        </p:nvSpPr>
        <p:spPr>
          <a:xfrm>
            <a:off x="7082640" y="2663280"/>
            <a:ext cx="205560" cy="205560"/>
          </a:xfrm>
          <a:prstGeom prst="ellipse">
            <a:avLst/>
          </a:prstGeom>
          <a:solidFill>
            <a:srgbClr val="2F7FD5"/>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FFFFFF"/>
              </a:solidFill>
              <a:effectLst/>
              <a:uFillTx/>
              <a:latin typeface="Arial"/>
            </a:endParaRPr>
          </a:p>
        </p:txBody>
      </p:sp>
      <p:sp>
        <p:nvSpPr>
          <p:cNvPr id="254" name="Rectangle 29"/>
          <p:cNvSpPr/>
          <p:nvPr/>
        </p:nvSpPr>
        <p:spPr>
          <a:xfrm>
            <a:off x="734580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55" name="Rectangle 30"/>
          <p:cNvSpPr/>
          <p:nvPr/>
        </p:nvSpPr>
        <p:spPr>
          <a:xfrm>
            <a:off x="766584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56" name="Rectangle 31"/>
          <p:cNvSpPr/>
          <p:nvPr/>
        </p:nvSpPr>
        <p:spPr>
          <a:xfrm>
            <a:off x="7734240" y="2674800"/>
            <a:ext cx="182520" cy="182520"/>
          </a:xfrm>
          <a:prstGeom prst="rect">
            <a:avLst/>
          </a:prstGeom>
          <a:solidFill>
            <a:srgbClr val="112E5C"/>
          </a:solidFill>
          <a:ln w="9525">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57" name="Rectangle 32"/>
          <p:cNvSpPr/>
          <p:nvPr/>
        </p:nvSpPr>
        <p:spPr>
          <a:xfrm>
            <a:off x="798588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58" name="Rectangle 33"/>
          <p:cNvSpPr/>
          <p:nvPr/>
        </p:nvSpPr>
        <p:spPr>
          <a:xfrm>
            <a:off x="830592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59" name="Rectangle 34"/>
          <p:cNvSpPr/>
          <p:nvPr/>
        </p:nvSpPr>
        <p:spPr>
          <a:xfrm>
            <a:off x="670572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60" name="Rectangle 35"/>
          <p:cNvSpPr/>
          <p:nvPr/>
        </p:nvSpPr>
        <p:spPr>
          <a:xfrm>
            <a:off x="7025760" y="2926080"/>
            <a:ext cx="319680" cy="319680"/>
          </a:xfrm>
          <a:prstGeom prst="rect">
            <a:avLst/>
          </a:prstGeom>
          <a:solidFill>
            <a:srgbClr val="FFE5B6"/>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61" name="Rectangle 36"/>
          <p:cNvSpPr/>
          <p:nvPr/>
        </p:nvSpPr>
        <p:spPr>
          <a:xfrm>
            <a:off x="734580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62" name="Rectangle 37"/>
          <p:cNvSpPr/>
          <p:nvPr/>
        </p:nvSpPr>
        <p:spPr>
          <a:xfrm>
            <a:off x="766584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63" name="Rectangle 38"/>
          <p:cNvSpPr/>
          <p:nvPr/>
        </p:nvSpPr>
        <p:spPr>
          <a:xfrm>
            <a:off x="7985880" y="2926080"/>
            <a:ext cx="319680" cy="319680"/>
          </a:xfrm>
          <a:prstGeom prst="rect">
            <a:avLst/>
          </a:prstGeom>
          <a:solidFill>
            <a:srgbClr val="FFE5B6"/>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64" name="Rectangle 39"/>
          <p:cNvSpPr/>
          <p:nvPr/>
        </p:nvSpPr>
        <p:spPr>
          <a:xfrm>
            <a:off x="830592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65" name="Rectangle 40"/>
          <p:cNvSpPr/>
          <p:nvPr/>
        </p:nvSpPr>
        <p:spPr>
          <a:xfrm>
            <a:off x="6705720" y="324612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66" name="Rectangle 41"/>
          <p:cNvSpPr/>
          <p:nvPr/>
        </p:nvSpPr>
        <p:spPr>
          <a:xfrm>
            <a:off x="702576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67" name="Rectangle 42"/>
          <p:cNvSpPr/>
          <p:nvPr/>
        </p:nvSpPr>
        <p:spPr>
          <a:xfrm>
            <a:off x="734580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68" name="Rectangle 43"/>
          <p:cNvSpPr/>
          <p:nvPr/>
        </p:nvSpPr>
        <p:spPr>
          <a:xfrm>
            <a:off x="766584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69" name="Rectangle 44"/>
          <p:cNvSpPr/>
          <p:nvPr/>
        </p:nvSpPr>
        <p:spPr>
          <a:xfrm>
            <a:off x="798588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70" name="Rectangle 45"/>
          <p:cNvSpPr/>
          <p:nvPr/>
        </p:nvSpPr>
        <p:spPr>
          <a:xfrm>
            <a:off x="8305920" y="324612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71" name="Rectangle 46"/>
          <p:cNvSpPr/>
          <p:nvPr/>
        </p:nvSpPr>
        <p:spPr>
          <a:xfrm>
            <a:off x="670572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00" b="1" u="none" strike="noStrike">
                <a:solidFill>
                  <a:srgbClr val="2F7FD5"/>
                </a:solidFill>
                <a:effectLst/>
                <a:uFillTx/>
                <a:latin typeface="Aptos"/>
              </a:rPr>
              <a:t>agent</a:t>
            </a:r>
            <a:endParaRPr lang="en-US" sz="1100" b="0" u="none" strike="noStrike">
              <a:solidFill>
                <a:srgbClr val="000000"/>
              </a:solidFill>
              <a:effectLst/>
              <a:uFillTx/>
              <a:latin typeface="Arial"/>
            </a:endParaRPr>
          </a:p>
        </p:txBody>
      </p:sp>
      <p:sp>
        <p:nvSpPr>
          <p:cNvPr id="272" name="Rectangle 47"/>
          <p:cNvSpPr/>
          <p:nvPr/>
        </p:nvSpPr>
        <p:spPr>
          <a:xfrm>
            <a:off x="812304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00" b="1" u="none" strike="noStrike">
                <a:solidFill>
                  <a:srgbClr val="112E5C"/>
                </a:solidFill>
                <a:effectLst/>
                <a:uFillTx/>
                <a:latin typeface="Aptos"/>
              </a:rPr>
              <a:t>box</a:t>
            </a:r>
            <a:endParaRPr lang="en-US" sz="1100" b="0" u="none" strike="noStrike">
              <a:solidFill>
                <a:srgbClr val="000000"/>
              </a:solidFill>
              <a:effectLst/>
              <a:uFillTx/>
              <a:latin typeface="Arial"/>
            </a:endParaRPr>
          </a:p>
        </p:txBody>
      </p:sp>
      <p:sp>
        <p:nvSpPr>
          <p:cNvPr id="273" name="Rectangle 48"/>
          <p:cNvSpPr/>
          <p:nvPr/>
        </p:nvSpPr>
        <p:spPr>
          <a:xfrm>
            <a:off x="958608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00" b="1" u="none" strike="noStrike">
                <a:solidFill>
                  <a:srgbClr val="F6A01A"/>
                </a:solidFill>
                <a:effectLst/>
                <a:uFillTx/>
                <a:latin typeface="Aptos"/>
              </a:rPr>
              <a:t>storage</a:t>
            </a:r>
            <a:endParaRPr lang="en-US" sz="1100" b="0" u="none" strike="noStrike">
              <a:solidFill>
                <a:srgbClr val="000000"/>
              </a:solidFill>
              <a:effectLst/>
              <a:uFillTx/>
              <a:latin typeface="Arial"/>
            </a:endParaRPr>
          </a:p>
        </p:txBody>
      </p:sp>
      <p:sp>
        <p:nvSpPr>
          <p:cNvPr id="274" name="Rounded Rectangle 49"/>
          <p:cNvSpPr/>
          <p:nvPr/>
        </p:nvSpPr>
        <p:spPr>
          <a:xfrm>
            <a:off x="6385680" y="3931920"/>
            <a:ext cx="5028840" cy="10512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75" name="Rectangle 50"/>
          <p:cNvSpPr/>
          <p:nvPr/>
        </p:nvSpPr>
        <p:spPr>
          <a:xfrm>
            <a:off x="6614280" y="4023360"/>
            <a:ext cx="4571640" cy="86832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499"/>
              </a:spcAft>
            </a:pPr>
            <a:r>
              <a:rPr lang="en-US" sz="1250" b="0" u="none" strike="noStrike">
                <a:solidFill>
                  <a:srgbClr val="102A4C"/>
                </a:solidFill>
                <a:effectLst/>
                <a:uFillTx/>
                <a:latin typeface="Aptos"/>
              </a:rPr>
              <a:t>•  Push a box only if the cell beyond it is empty</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At most one box per cell; no pushing a box into a box or a wall</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An 8 × 8 grid with a dozen boxes: over 200 trillion states</a:t>
            </a:r>
            <a:endParaRPr lang="en-US" sz="1250" b="0" u="none" strike="noStrike">
              <a:solidFill>
                <a:srgbClr val="000000"/>
              </a:solidFill>
              <a:effectLst/>
              <a:uFillTx/>
              <a:latin typeface="Arial"/>
            </a:endParaRPr>
          </a:p>
        </p:txBody>
      </p:sp>
      <p:sp>
        <p:nvSpPr>
          <p:cNvPr id="276" name="Rectangle 51"/>
          <p:cNvSpPr/>
          <p:nvPr/>
        </p:nvSpPr>
        <p:spPr>
          <a:xfrm>
            <a:off x="914400" y="51663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Same movement rules, wildly different state spaces — because Sokoban's state must track where every box is.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7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7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7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Worked Example: The 8-Puzzle</a:t>
            </a:r>
            <a:endParaRPr lang="en-US" sz="2600" b="0" u="none" strike="noStrike">
              <a:solidFill>
                <a:srgbClr val="000000"/>
              </a:solidFill>
              <a:effectLst/>
              <a:uFillTx/>
              <a:latin typeface="Arial"/>
            </a:endParaRPr>
          </a:p>
        </p:txBody>
      </p:sp>
      <p:sp>
        <p:nvSpPr>
          <p:cNvPr id="28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8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82" name="Rectangle 6"/>
          <p:cNvSpPr/>
          <p:nvPr/>
        </p:nvSpPr>
        <p:spPr>
          <a:xfrm>
            <a:off x="100584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7</a:t>
            </a:r>
            <a:endParaRPr lang="en-US" sz="1700" b="0" u="none" strike="noStrike">
              <a:solidFill>
                <a:srgbClr val="000000"/>
              </a:solidFill>
              <a:effectLst/>
              <a:uFillTx/>
              <a:latin typeface="Arial"/>
            </a:endParaRPr>
          </a:p>
        </p:txBody>
      </p:sp>
      <p:sp>
        <p:nvSpPr>
          <p:cNvPr id="283" name="Rectangle 7"/>
          <p:cNvSpPr/>
          <p:nvPr/>
        </p:nvSpPr>
        <p:spPr>
          <a:xfrm>
            <a:off x="150876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2</a:t>
            </a:r>
            <a:endParaRPr lang="en-US" sz="1700" b="0" u="none" strike="noStrike">
              <a:solidFill>
                <a:srgbClr val="000000"/>
              </a:solidFill>
              <a:effectLst/>
              <a:uFillTx/>
              <a:latin typeface="Arial"/>
            </a:endParaRPr>
          </a:p>
        </p:txBody>
      </p:sp>
      <p:sp>
        <p:nvSpPr>
          <p:cNvPr id="284" name="Rectangle 8"/>
          <p:cNvSpPr/>
          <p:nvPr/>
        </p:nvSpPr>
        <p:spPr>
          <a:xfrm>
            <a:off x="201168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4</a:t>
            </a:r>
            <a:endParaRPr lang="en-US" sz="1700" b="0" u="none" strike="noStrike">
              <a:solidFill>
                <a:srgbClr val="000000"/>
              </a:solidFill>
              <a:effectLst/>
              <a:uFillTx/>
              <a:latin typeface="Arial"/>
            </a:endParaRPr>
          </a:p>
        </p:txBody>
      </p:sp>
      <p:sp>
        <p:nvSpPr>
          <p:cNvPr id="285" name="Rectangle 9"/>
          <p:cNvSpPr/>
          <p:nvPr/>
        </p:nvSpPr>
        <p:spPr>
          <a:xfrm>
            <a:off x="100584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5</a:t>
            </a:r>
            <a:endParaRPr lang="en-US" sz="1700" b="0" u="none" strike="noStrike">
              <a:solidFill>
                <a:srgbClr val="000000"/>
              </a:solidFill>
              <a:effectLst/>
              <a:uFillTx/>
              <a:latin typeface="Arial"/>
            </a:endParaRPr>
          </a:p>
        </p:txBody>
      </p:sp>
      <p:sp>
        <p:nvSpPr>
          <p:cNvPr id="286" name="Rectangle 10"/>
          <p:cNvSpPr/>
          <p:nvPr/>
        </p:nvSpPr>
        <p:spPr>
          <a:xfrm>
            <a:off x="1508760" y="2468880"/>
            <a:ext cx="502560" cy="502560"/>
          </a:xfrm>
          <a:prstGeom prst="rect">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87" name="Rectangle 11"/>
          <p:cNvSpPr/>
          <p:nvPr/>
        </p:nvSpPr>
        <p:spPr>
          <a:xfrm>
            <a:off x="201168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6</a:t>
            </a:r>
            <a:endParaRPr lang="en-US" sz="1700" b="0" u="none" strike="noStrike">
              <a:solidFill>
                <a:srgbClr val="000000"/>
              </a:solidFill>
              <a:effectLst/>
              <a:uFillTx/>
              <a:latin typeface="Arial"/>
            </a:endParaRPr>
          </a:p>
        </p:txBody>
      </p:sp>
      <p:sp>
        <p:nvSpPr>
          <p:cNvPr id="288" name="Rectangle 12"/>
          <p:cNvSpPr/>
          <p:nvPr/>
        </p:nvSpPr>
        <p:spPr>
          <a:xfrm>
            <a:off x="100584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8</a:t>
            </a:r>
            <a:endParaRPr lang="en-US" sz="1700" b="0" u="none" strike="noStrike">
              <a:solidFill>
                <a:srgbClr val="000000"/>
              </a:solidFill>
              <a:effectLst/>
              <a:uFillTx/>
              <a:latin typeface="Arial"/>
            </a:endParaRPr>
          </a:p>
        </p:txBody>
      </p:sp>
      <p:sp>
        <p:nvSpPr>
          <p:cNvPr id="289" name="Rectangle 13"/>
          <p:cNvSpPr/>
          <p:nvPr/>
        </p:nvSpPr>
        <p:spPr>
          <a:xfrm>
            <a:off x="150876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3</a:t>
            </a:r>
            <a:endParaRPr lang="en-US" sz="1700" b="0" u="none" strike="noStrike">
              <a:solidFill>
                <a:srgbClr val="000000"/>
              </a:solidFill>
              <a:effectLst/>
              <a:uFillTx/>
              <a:latin typeface="Arial"/>
            </a:endParaRPr>
          </a:p>
        </p:txBody>
      </p:sp>
      <p:sp>
        <p:nvSpPr>
          <p:cNvPr id="290" name="Rectangle 14"/>
          <p:cNvSpPr/>
          <p:nvPr/>
        </p:nvSpPr>
        <p:spPr>
          <a:xfrm>
            <a:off x="201168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1</a:t>
            </a:r>
            <a:endParaRPr lang="en-US" sz="1700" b="0" u="none" strike="noStrike">
              <a:solidFill>
                <a:srgbClr val="000000"/>
              </a:solidFill>
              <a:effectLst/>
              <a:uFillTx/>
              <a:latin typeface="Arial"/>
            </a:endParaRPr>
          </a:p>
        </p:txBody>
      </p:sp>
      <p:sp>
        <p:nvSpPr>
          <p:cNvPr id="291" name="Rectangle 15"/>
          <p:cNvSpPr/>
          <p:nvPr/>
        </p:nvSpPr>
        <p:spPr>
          <a:xfrm>
            <a:off x="868680" y="3566160"/>
            <a:ext cx="17827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Start state</a:t>
            </a:r>
            <a:endParaRPr lang="en-US" sz="1150" b="0" u="none" strike="noStrike">
              <a:solidFill>
                <a:srgbClr val="000000"/>
              </a:solidFill>
              <a:effectLst/>
              <a:uFillTx/>
              <a:latin typeface="Arial"/>
            </a:endParaRPr>
          </a:p>
        </p:txBody>
      </p:sp>
      <p:sp>
        <p:nvSpPr>
          <p:cNvPr id="292" name="Rectangle 16"/>
          <p:cNvSpPr/>
          <p:nvPr/>
        </p:nvSpPr>
        <p:spPr>
          <a:xfrm>
            <a:off x="3154680" y="1965960"/>
            <a:ext cx="502560" cy="502560"/>
          </a:xfrm>
          <a:prstGeom prst="rect">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93" name="Rectangle 17"/>
          <p:cNvSpPr/>
          <p:nvPr/>
        </p:nvSpPr>
        <p:spPr>
          <a:xfrm>
            <a:off x="365760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1</a:t>
            </a:r>
            <a:endParaRPr lang="en-US" sz="1700" b="0" u="none" strike="noStrike">
              <a:solidFill>
                <a:srgbClr val="000000"/>
              </a:solidFill>
              <a:effectLst/>
              <a:uFillTx/>
              <a:latin typeface="Arial"/>
            </a:endParaRPr>
          </a:p>
        </p:txBody>
      </p:sp>
      <p:sp>
        <p:nvSpPr>
          <p:cNvPr id="294" name="Rectangle 18"/>
          <p:cNvSpPr/>
          <p:nvPr/>
        </p:nvSpPr>
        <p:spPr>
          <a:xfrm>
            <a:off x="416052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2</a:t>
            </a:r>
            <a:endParaRPr lang="en-US" sz="1700" b="0" u="none" strike="noStrike">
              <a:solidFill>
                <a:srgbClr val="000000"/>
              </a:solidFill>
              <a:effectLst/>
              <a:uFillTx/>
              <a:latin typeface="Arial"/>
            </a:endParaRPr>
          </a:p>
        </p:txBody>
      </p:sp>
      <p:sp>
        <p:nvSpPr>
          <p:cNvPr id="295" name="Rectangle 19"/>
          <p:cNvSpPr/>
          <p:nvPr/>
        </p:nvSpPr>
        <p:spPr>
          <a:xfrm>
            <a:off x="315468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3</a:t>
            </a:r>
            <a:endParaRPr lang="en-US" sz="1700" b="0" u="none" strike="noStrike">
              <a:solidFill>
                <a:srgbClr val="000000"/>
              </a:solidFill>
              <a:effectLst/>
              <a:uFillTx/>
              <a:latin typeface="Arial"/>
            </a:endParaRPr>
          </a:p>
        </p:txBody>
      </p:sp>
      <p:sp>
        <p:nvSpPr>
          <p:cNvPr id="296" name="Rectangle 20"/>
          <p:cNvSpPr/>
          <p:nvPr/>
        </p:nvSpPr>
        <p:spPr>
          <a:xfrm>
            <a:off x="365760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4</a:t>
            </a:r>
            <a:endParaRPr lang="en-US" sz="1700" b="0" u="none" strike="noStrike">
              <a:solidFill>
                <a:srgbClr val="000000"/>
              </a:solidFill>
              <a:effectLst/>
              <a:uFillTx/>
              <a:latin typeface="Arial"/>
            </a:endParaRPr>
          </a:p>
        </p:txBody>
      </p:sp>
      <p:sp>
        <p:nvSpPr>
          <p:cNvPr id="297" name="Rectangle 21"/>
          <p:cNvSpPr/>
          <p:nvPr/>
        </p:nvSpPr>
        <p:spPr>
          <a:xfrm>
            <a:off x="416052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5</a:t>
            </a:r>
            <a:endParaRPr lang="en-US" sz="1700" b="0" u="none" strike="noStrike">
              <a:solidFill>
                <a:srgbClr val="000000"/>
              </a:solidFill>
              <a:effectLst/>
              <a:uFillTx/>
              <a:latin typeface="Arial"/>
            </a:endParaRPr>
          </a:p>
        </p:txBody>
      </p:sp>
      <p:sp>
        <p:nvSpPr>
          <p:cNvPr id="298" name="Rectangle 22"/>
          <p:cNvSpPr/>
          <p:nvPr/>
        </p:nvSpPr>
        <p:spPr>
          <a:xfrm>
            <a:off x="315468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6</a:t>
            </a:r>
            <a:endParaRPr lang="en-US" sz="1700" b="0" u="none" strike="noStrike">
              <a:solidFill>
                <a:srgbClr val="000000"/>
              </a:solidFill>
              <a:effectLst/>
              <a:uFillTx/>
              <a:latin typeface="Arial"/>
            </a:endParaRPr>
          </a:p>
        </p:txBody>
      </p:sp>
      <p:sp>
        <p:nvSpPr>
          <p:cNvPr id="299" name="Rectangle 23"/>
          <p:cNvSpPr/>
          <p:nvPr/>
        </p:nvSpPr>
        <p:spPr>
          <a:xfrm>
            <a:off x="365760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7</a:t>
            </a:r>
            <a:endParaRPr lang="en-US" sz="1700" b="0" u="none" strike="noStrike">
              <a:solidFill>
                <a:srgbClr val="000000"/>
              </a:solidFill>
              <a:effectLst/>
              <a:uFillTx/>
              <a:latin typeface="Arial"/>
            </a:endParaRPr>
          </a:p>
        </p:txBody>
      </p:sp>
      <p:sp>
        <p:nvSpPr>
          <p:cNvPr id="300" name="Rectangle 24"/>
          <p:cNvSpPr/>
          <p:nvPr/>
        </p:nvSpPr>
        <p:spPr>
          <a:xfrm>
            <a:off x="416052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8</a:t>
            </a:r>
            <a:endParaRPr lang="en-US" sz="1700" b="0" u="none" strike="noStrike">
              <a:solidFill>
                <a:srgbClr val="000000"/>
              </a:solidFill>
              <a:effectLst/>
              <a:uFillTx/>
              <a:latin typeface="Arial"/>
            </a:endParaRPr>
          </a:p>
        </p:txBody>
      </p:sp>
      <p:sp>
        <p:nvSpPr>
          <p:cNvPr id="301" name="Rectangle 25"/>
          <p:cNvSpPr/>
          <p:nvPr/>
        </p:nvSpPr>
        <p:spPr>
          <a:xfrm>
            <a:off x="3017520" y="3566160"/>
            <a:ext cx="17827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Goal state</a:t>
            </a:r>
            <a:endParaRPr lang="en-US" sz="1150" b="0" u="none" strike="noStrike">
              <a:solidFill>
                <a:srgbClr val="000000"/>
              </a:solidFill>
              <a:effectLst/>
              <a:uFillTx/>
              <a:latin typeface="Arial"/>
            </a:endParaRPr>
          </a:p>
        </p:txBody>
      </p:sp>
      <p:sp>
        <p:nvSpPr>
          <p:cNvPr id="302" name="Right Arrow 26"/>
          <p:cNvSpPr/>
          <p:nvPr/>
        </p:nvSpPr>
        <p:spPr>
          <a:xfrm>
            <a:off x="2606040" y="3017520"/>
            <a:ext cx="456840" cy="228240"/>
          </a:xfrm>
          <a:prstGeom prst="rightArrow">
            <a:avLst>
              <a:gd name="adj1" fmla="val 50000"/>
              <a:gd name="adj2" fmla="val 50000"/>
            </a:avLst>
          </a:prstGeom>
          <a:solidFill>
            <a:srgbClr val="F6A01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303" name="Rounded Rectangle 27"/>
          <p:cNvSpPr/>
          <p:nvPr/>
        </p:nvSpPr>
        <p:spPr>
          <a:xfrm>
            <a:off x="5303520" y="14173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304" name="Rectangle 28"/>
          <p:cNvSpPr/>
          <p:nvPr/>
        </p:nvSpPr>
        <p:spPr>
          <a:xfrm>
            <a:off x="7223760" y="141732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Location of each tile and of the blank in the 3 × 3 grid</a:t>
            </a:r>
            <a:endParaRPr lang="en-US" sz="1300" b="0" u="none" strike="noStrike">
              <a:solidFill>
                <a:srgbClr val="000000"/>
              </a:solidFill>
              <a:effectLst/>
              <a:uFillTx/>
              <a:latin typeface="Arial"/>
            </a:endParaRPr>
          </a:p>
        </p:txBody>
      </p:sp>
      <p:sp>
        <p:nvSpPr>
          <p:cNvPr id="305" name="Rounded Rectangle 29"/>
          <p:cNvSpPr/>
          <p:nvPr/>
        </p:nvSpPr>
        <p:spPr>
          <a:xfrm>
            <a:off x="5303520" y="196596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306" name="Rectangle 30"/>
          <p:cNvSpPr/>
          <p:nvPr/>
        </p:nvSpPr>
        <p:spPr>
          <a:xfrm>
            <a:off x="7223760" y="196596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Any configuration; a parity property makes only half reachable</a:t>
            </a:r>
            <a:endParaRPr lang="en-US" sz="1300" b="0" u="none" strike="noStrike">
              <a:solidFill>
                <a:srgbClr val="000000"/>
              </a:solidFill>
              <a:effectLst/>
              <a:uFillTx/>
              <a:latin typeface="Arial"/>
            </a:endParaRPr>
          </a:p>
        </p:txBody>
      </p:sp>
      <p:sp>
        <p:nvSpPr>
          <p:cNvPr id="307" name="Rounded Rectangle 31"/>
          <p:cNvSpPr/>
          <p:nvPr/>
        </p:nvSpPr>
        <p:spPr>
          <a:xfrm>
            <a:off x="5303520" y="251460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308" name="Rectangle 32"/>
          <p:cNvSpPr/>
          <p:nvPr/>
        </p:nvSpPr>
        <p:spPr>
          <a:xfrm>
            <a:off x="7223760" y="251460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Move the blank Left, Right, Up, or Down</a:t>
            </a:r>
            <a:endParaRPr lang="en-US" sz="1300" b="0" u="none" strike="noStrike">
              <a:solidFill>
                <a:srgbClr val="000000"/>
              </a:solidFill>
              <a:effectLst/>
              <a:uFillTx/>
              <a:latin typeface="Arial"/>
            </a:endParaRPr>
          </a:p>
        </p:txBody>
      </p:sp>
      <p:sp>
        <p:nvSpPr>
          <p:cNvPr id="309" name="Rounded Rectangle 33"/>
          <p:cNvSpPr/>
          <p:nvPr/>
        </p:nvSpPr>
        <p:spPr>
          <a:xfrm>
            <a:off x="5303520" y="306324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310" name="Rectangle 34"/>
          <p:cNvSpPr/>
          <p:nvPr/>
        </p:nvSpPr>
        <p:spPr>
          <a:xfrm>
            <a:off x="7223760" y="306324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Applying Left to the start state swaps the 5 and the blank</a:t>
            </a:r>
            <a:endParaRPr lang="en-US" sz="1300" b="0" u="none" strike="noStrike">
              <a:solidFill>
                <a:srgbClr val="000000"/>
              </a:solidFill>
              <a:effectLst/>
              <a:uFillTx/>
              <a:latin typeface="Arial"/>
            </a:endParaRPr>
          </a:p>
        </p:txBody>
      </p:sp>
      <p:sp>
        <p:nvSpPr>
          <p:cNvPr id="311" name="Rounded Rectangle 35"/>
          <p:cNvSpPr/>
          <p:nvPr/>
        </p:nvSpPr>
        <p:spPr>
          <a:xfrm>
            <a:off x="5303520" y="36118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Goal state</a:t>
            </a:r>
            <a:endParaRPr lang="en-US" sz="1300" b="0" u="none" strike="noStrike">
              <a:solidFill>
                <a:srgbClr val="000000"/>
              </a:solidFill>
              <a:effectLst/>
              <a:uFillTx/>
              <a:latin typeface="Arial"/>
            </a:endParaRPr>
          </a:p>
        </p:txBody>
      </p:sp>
      <p:sp>
        <p:nvSpPr>
          <p:cNvPr id="312" name="Rectangle 36"/>
          <p:cNvSpPr/>
          <p:nvPr/>
        </p:nvSpPr>
        <p:spPr>
          <a:xfrm>
            <a:off x="7223760" y="361188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Tiles in the specified order, blank in the corner</a:t>
            </a:r>
            <a:endParaRPr lang="en-US" sz="1300" b="0" u="none" strike="noStrike">
              <a:solidFill>
                <a:srgbClr val="000000"/>
              </a:solidFill>
              <a:effectLst/>
              <a:uFillTx/>
              <a:latin typeface="Arial"/>
            </a:endParaRPr>
          </a:p>
        </p:txBody>
      </p:sp>
      <p:sp>
        <p:nvSpPr>
          <p:cNvPr id="313" name="Rounded Rectangle 37"/>
          <p:cNvSpPr/>
          <p:nvPr/>
        </p:nvSpPr>
        <p:spPr>
          <a:xfrm>
            <a:off x="5303520" y="41605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314" name="Rectangle 38"/>
          <p:cNvSpPr/>
          <p:nvPr/>
        </p:nvSpPr>
        <p:spPr>
          <a:xfrm>
            <a:off x="7223760" y="416052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1 per move, so path cost = number of moves</a:t>
            </a:r>
            <a:endParaRPr lang="en-US" sz="1300" b="0" u="none" strike="noStrike">
              <a:solidFill>
                <a:srgbClr val="000000"/>
              </a:solidFill>
              <a:effectLst/>
              <a:uFillTx/>
              <a:latin typeface="Arial"/>
            </a:endParaRPr>
          </a:p>
        </p:txBody>
      </p:sp>
      <p:sp>
        <p:nvSpPr>
          <p:cNvPr id="315" name="Rectangle 39"/>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8-puzzle: 9!/2 = 181,440 reachable states.   15-puzzle: about 1.3 trillion.   24-puzzle: about 10²⁵.</a:t>
            </a:r>
            <a:endParaRPr lang="en-US" sz="1700" b="0" u="none" strike="noStrike">
              <a:solidFill>
                <a:srgbClr val="000000"/>
              </a:solidFill>
              <a:effectLst/>
              <a:uFillTx/>
              <a:latin typeface="Arial"/>
            </a:endParaRPr>
          </a:p>
        </p:txBody>
      </p:sp>
      <p:sp>
        <p:nvSpPr>
          <p:cNvPr id="316" name="Rectangle 40"/>
          <p:cNvSpPr/>
          <p:nvPr/>
        </p:nvSpPr>
        <p:spPr>
          <a:xfrm>
            <a:off x="914400" y="52578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Even this is an abstraction: no sliding motion, no shaking the board, no prying tiles out with a knife.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31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1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1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Infinite State Spaces: Knuth's “4” Problem</a:t>
            </a:r>
            <a:endParaRPr lang="en-US" sz="2600" b="0" u="none" strike="noStrike">
              <a:solidFill>
                <a:srgbClr val="000000"/>
              </a:solidFill>
              <a:effectLst/>
              <a:uFillTx/>
              <a:latin typeface="Arial"/>
            </a:endParaRPr>
          </a:p>
        </p:txBody>
      </p:sp>
      <p:sp>
        <p:nvSpPr>
          <p:cNvPr id="32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2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22" name="Rounded Rectangle 6"/>
          <p:cNvSpPr/>
          <p:nvPr/>
        </p:nvSpPr>
        <p:spPr>
          <a:xfrm>
            <a:off x="777240" y="1417320"/>
            <a:ext cx="5028840" cy="25599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3" name="Rounded Rectangle 7"/>
          <p:cNvSpPr/>
          <p:nvPr/>
        </p:nvSpPr>
        <p:spPr>
          <a:xfrm>
            <a:off x="1005840" y="1280160"/>
            <a:ext cx="20113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The formulation</a:t>
            </a:r>
            <a:endParaRPr lang="en-US" sz="1300" b="0" u="none" strike="noStrike">
              <a:solidFill>
                <a:srgbClr val="000000"/>
              </a:solidFill>
              <a:effectLst/>
              <a:uFillTx/>
              <a:latin typeface="Arial"/>
            </a:endParaRPr>
          </a:p>
        </p:txBody>
      </p:sp>
      <p:sp>
        <p:nvSpPr>
          <p:cNvPr id="324" name="Rectangle 8"/>
          <p:cNvSpPr/>
          <p:nvPr/>
        </p:nvSpPr>
        <p:spPr>
          <a:xfrm>
            <a:off x="1051560" y="1920240"/>
            <a:ext cx="4480200" cy="191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99"/>
              </a:spcAft>
            </a:pPr>
            <a:r>
              <a:rPr lang="en-US" sz="1350" b="1" u="none" strike="noStrike">
                <a:solidFill>
                  <a:srgbClr val="112E5C"/>
                </a:solidFill>
                <a:effectLst/>
                <a:uFillTx/>
                <a:latin typeface="Aptos"/>
              </a:rPr>
              <a:t>States:  </a:t>
            </a:r>
            <a:r>
              <a:rPr lang="en-US" sz="1350" b="0" u="none" strike="noStrike">
                <a:solidFill>
                  <a:srgbClr val="102A4C"/>
                </a:solidFill>
                <a:effectLst/>
                <a:uFillTx/>
                <a:latin typeface="Aptos"/>
              </a:rPr>
              <a:t>positive real numbers</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Initial state:  </a:t>
            </a:r>
            <a:r>
              <a:rPr lang="en-US" sz="1350" b="0" u="none" strike="noStrike">
                <a:solidFill>
                  <a:srgbClr val="102A4C"/>
                </a:solidFill>
                <a:effectLst/>
                <a:uFillTx/>
                <a:latin typeface="Aptos"/>
              </a:rPr>
              <a:t>4</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Actions:  </a:t>
            </a:r>
            <a:r>
              <a:rPr lang="en-US" sz="1350" b="0" u="none" strike="noStrike">
                <a:solidFill>
                  <a:srgbClr val="102A4C"/>
                </a:solidFill>
                <a:effectLst/>
                <a:uFillTx/>
                <a:latin typeface="Aptos"/>
              </a:rPr>
              <a:t>square root, floor, factorial (factorial on integers only)</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Transition:  </a:t>
            </a:r>
            <a:r>
              <a:rPr lang="en-US" sz="1350" b="0" u="none" strike="noStrike">
                <a:solidFill>
                  <a:srgbClr val="102A4C"/>
                </a:solidFill>
                <a:effectLst/>
                <a:uFillTx/>
                <a:latin typeface="Aptos"/>
              </a:rPr>
              <a:t>as given by the mathematical definitions</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Goal state:  </a:t>
            </a:r>
            <a:r>
              <a:rPr lang="en-US" sz="1350" b="0" u="none" strike="noStrike">
                <a:solidFill>
                  <a:srgbClr val="102A4C"/>
                </a:solidFill>
                <a:effectLst/>
                <a:uFillTx/>
                <a:latin typeface="Aptos"/>
              </a:rPr>
              <a:t>the desired positive integer</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Action cost:  </a:t>
            </a:r>
            <a:r>
              <a:rPr lang="en-US" sz="1350" b="0" u="none" strike="noStrike">
                <a:solidFill>
                  <a:srgbClr val="102A4C"/>
                </a:solidFill>
                <a:effectLst/>
                <a:uFillTx/>
                <a:latin typeface="Aptos"/>
              </a:rPr>
              <a:t>1 per operation</a:t>
            </a:r>
            <a:endParaRPr lang="en-US" sz="1350" b="0" u="none" strike="noStrike">
              <a:solidFill>
                <a:srgbClr val="000000"/>
              </a:solidFill>
              <a:effectLst/>
              <a:uFillTx/>
              <a:latin typeface="Arial"/>
            </a:endParaRPr>
          </a:p>
        </p:txBody>
      </p:sp>
      <p:sp>
        <p:nvSpPr>
          <p:cNvPr id="325" name="Rectangle 9"/>
          <p:cNvSpPr/>
          <p:nvPr/>
        </p:nvSpPr>
        <p:spPr>
          <a:xfrm>
            <a:off x="6385680" y="1554480"/>
            <a:ext cx="5028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4000" b="1" u="none" strike="noStrike">
                <a:solidFill>
                  <a:srgbClr val="112E5C"/>
                </a:solidFill>
                <a:effectLst/>
                <a:uFillTx/>
                <a:latin typeface="Aptos"/>
              </a:rPr>
              <a:t>(4!)!</a:t>
            </a:r>
            <a:endParaRPr lang="en-US" sz="4000" b="0" u="none" strike="noStrike">
              <a:solidFill>
                <a:srgbClr val="000000"/>
              </a:solidFill>
              <a:effectLst/>
              <a:uFillTx/>
              <a:latin typeface="Arial"/>
            </a:endParaRPr>
          </a:p>
        </p:txBody>
      </p:sp>
      <p:sp>
        <p:nvSpPr>
          <p:cNvPr id="326" name="Rectangle 10"/>
          <p:cNvSpPr/>
          <p:nvPr/>
        </p:nvSpPr>
        <p:spPr>
          <a:xfrm>
            <a:off x="6385680" y="2057400"/>
            <a:ext cx="5028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the second step on the way to 5</a:t>
            </a:r>
            <a:endParaRPr lang="en-US" sz="1200" b="0" u="none" strike="noStrike">
              <a:solidFill>
                <a:srgbClr val="000000"/>
              </a:solidFill>
              <a:effectLst/>
              <a:uFillTx/>
              <a:latin typeface="Arial"/>
            </a:endParaRPr>
          </a:p>
        </p:txBody>
      </p:sp>
      <p:sp>
        <p:nvSpPr>
          <p:cNvPr id="327" name="Rectangle 11"/>
          <p:cNvSpPr/>
          <p:nvPr/>
        </p:nvSpPr>
        <p:spPr>
          <a:xfrm>
            <a:off x="6385680" y="242316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9B1C1C"/>
                </a:solidFill>
                <a:effectLst/>
                <a:uFillTx/>
                <a:latin typeface="Aptos"/>
              </a:rPr>
              <a:t>620,448,401,733,239,439,360,000</a:t>
            </a:r>
            <a:endParaRPr lang="en-US" sz="1700" b="0" u="none" strike="noStrike">
              <a:solidFill>
                <a:srgbClr val="000000"/>
              </a:solidFill>
              <a:effectLst/>
              <a:uFillTx/>
              <a:latin typeface="Arial"/>
            </a:endParaRPr>
          </a:p>
        </p:txBody>
      </p:sp>
      <p:sp>
        <p:nvSpPr>
          <p:cNvPr id="328" name="Rounded Rectangle 12"/>
          <p:cNvSpPr/>
          <p:nvPr/>
        </p:nvSpPr>
        <p:spPr>
          <a:xfrm>
            <a:off x="6385680" y="2971800"/>
            <a:ext cx="5028840" cy="100548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9" name="Rectangle 13"/>
          <p:cNvSpPr/>
          <p:nvPr/>
        </p:nvSpPr>
        <p:spPr>
          <a:xfrm>
            <a:off x="6614280" y="306324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350" b="0" u="none" strike="noStrike">
                <a:solidFill>
                  <a:srgbClr val="112E5C"/>
                </a:solidFill>
                <a:effectLst/>
                <a:uFillTx/>
                <a:latin typeface="Aptos"/>
              </a:rPr>
              <a:t>Knuth conjectured that starting from 4, some sequence of square root, floor, and factorial reaches any desired positive integer.</a:t>
            </a:r>
            <a:endParaRPr lang="en-US" sz="1350" b="0" u="none" strike="noStrike">
              <a:solidFill>
                <a:srgbClr val="000000"/>
              </a:solidFill>
              <a:effectLst/>
              <a:uFillTx/>
              <a:latin typeface="Arial"/>
            </a:endParaRPr>
          </a:p>
        </p:txBody>
      </p:sp>
      <p:sp>
        <p:nvSpPr>
          <p:cNvPr id="330" name="Rectangle 14"/>
          <p:cNvSpPr/>
          <p:nvPr/>
        </p:nvSpPr>
        <p:spPr>
          <a:xfrm>
            <a:off x="914400" y="4389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The state space is infinite: for any integer greater than 2, factorial always yields a larger integer.</a:t>
            </a:r>
            <a:endParaRPr lang="en-US" sz="1700" b="0" u="none" strike="noStrike">
              <a:solidFill>
                <a:srgbClr val="000000"/>
              </a:solidFill>
              <a:effectLst/>
              <a:uFillTx/>
              <a:latin typeface="Arial"/>
            </a:endParaRPr>
          </a:p>
        </p:txBody>
      </p:sp>
      <p:sp>
        <p:nvSpPr>
          <p:cNvPr id="331" name="Rectangle 15"/>
          <p:cNvSpPr/>
          <p:nvPr/>
        </p:nvSpPr>
        <p:spPr>
          <a:xfrm>
            <a:off x="914400" y="49834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So an algorithm can generate a new state on every single step and still never reach most of the space. That is the completeness problem in Section 3.3.4.</a:t>
            </a:r>
            <a:endParaRPr lang="en-US" sz="1500" b="0" u="none" strike="noStrike">
              <a:solidFill>
                <a:srgbClr val="000000"/>
              </a:solidFill>
              <a:effectLst/>
              <a:uFillTx/>
              <a:latin typeface="Arial"/>
            </a:endParaRPr>
          </a:p>
        </p:txBody>
      </p:sp>
      <p:sp>
        <p:nvSpPr>
          <p:cNvPr id="332" name="Rectangle 16"/>
          <p:cNvSpPr/>
          <p:nvPr/>
        </p:nvSpPr>
        <p:spPr>
          <a:xfrm>
            <a:off x="914400" y="54864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Infinite state spaces arise whenever the task generates mathematical expressions, circuits, proofs, programs, or other recursively defined objects.</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333"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4"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35"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State Space Size: Small Rules, Large Spaces</a:t>
            </a:r>
            <a:endParaRPr lang="en-US" sz="2600" b="0" u="none" strike="noStrike">
              <a:solidFill>
                <a:srgbClr val="000000"/>
              </a:solidFill>
              <a:effectLst/>
              <a:uFillTx/>
              <a:latin typeface="Arial"/>
            </a:endParaRPr>
          </a:p>
        </p:txBody>
      </p:sp>
      <p:sp>
        <p:nvSpPr>
          <p:cNvPr id="336"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37"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38" name="Text 5"/>
          <p:cNvSpPr/>
          <p:nvPr/>
        </p:nvSpPr>
        <p:spPr>
          <a:xfrm>
            <a:off x="868680" y="1417320"/>
            <a:ext cx="3291480" cy="50256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Two-cell vacuum world</a:t>
            </a:r>
            <a:endParaRPr lang="en-US" sz="1600" b="0" u="none" strike="noStrike">
              <a:solidFill>
                <a:srgbClr val="000000"/>
              </a:solidFill>
              <a:effectLst/>
              <a:uFillTx/>
              <a:latin typeface="Arial"/>
            </a:endParaRPr>
          </a:p>
        </p:txBody>
      </p:sp>
      <p:sp>
        <p:nvSpPr>
          <p:cNvPr id="339" name="Text 6"/>
          <p:cNvSpPr/>
          <p:nvPr/>
        </p:nvSpPr>
        <p:spPr>
          <a:xfrm>
            <a:off x="868680" y="2011680"/>
            <a:ext cx="3291480" cy="7768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700" b="1" u="none" strike="noStrike">
                <a:solidFill>
                  <a:srgbClr val="102A4C"/>
                </a:solidFill>
                <a:effectLst/>
                <a:uFillTx/>
                <a:latin typeface="Aptos"/>
              </a:rPr>
              <a:t>2 locations × dirt in A × dirt in B = 2 × 2 × 2 = 8 states</a:t>
            </a:r>
            <a:endParaRPr lang="en-US" sz="1700" b="0" u="none" strike="noStrike">
              <a:solidFill>
                <a:srgbClr val="000000"/>
              </a:solidFill>
              <a:effectLst/>
              <a:uFillTx/>
              <a:latin typeface="Arial"/>
            </a:endParaRPr>
          </a:p>
        </p:txBody>
      </p:sp>
      <p:sp>
        <p:nvSpPr>
          <p:cNvPr id="340" name="Text 7"/>
          <p:cNvSpPr/>
          <p:nvPr/>
        </p:nvSpPr>
        <p:spPr>
          <a:xfrm>
            <a:off x="4480560" y="1417320"/>
            <a:ext cx="3291480" cy="50256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n-cell vacuum world</a:t>
            </a:r>
            <a:endParaRPr lang="en-US" sz="1600" b="0" u="none" strike="noStrike">
              <a:solidFill>
                <a:srgbClr val="000000"/>
              </a:solidFill>
              <a:effectLst/>
              <a:uFillTx/>
              <a:latin typeface="Arial"/>
            </a:endParaRPr>
          </a:p>
        </p:txBody>
      </p:sp>
      <p:sp>
        <p:nvSpPr>
          <p:cNvPr id="341" name="Text 8"/>
          <p:cNvSpPr/>
          <p:nvPr/>
        </p:nvSpPr>
        <p:spPr>
          <a:xfrm>
            <a:off x="4480560" y="2011680"/>
            <a:ext cx="3291480" cy="7768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700" b="1" u="none" strike="noStrike">
                <a:solidFill>
                  <a:srgbClr val="102A4C"/>
                </a:solidFill>
                <a:effectLst/>
                <a:uFillTx/>
                <a:latin typeface="Aptos"/>
              </a:rPr>
              <a:t>n possible locations × 2ⁿ dirt configurations = n·2ⁿ states</a:t>
            </a:r>
            <a:endParaRPr lang="en-US" sz="1700" b="0" u="none" strike="noStrike">
              <a:solidFill>
                <a:srgbClr val="000000"/>
              </a:solidFill>
              <a:effectLst/>
              <a:uFillTx/>
              <a:latin typeface="Arial"/>
            </a:endParaRPr>
          </a:p>
        </p:txBody>
      </p:sp>
      <p:sp>
        <p:nvSpPr>
          <p:cNvPr id="342" name="Text 9"/>
          <p:cNvSpPr/>
          <p:nvPr/>
        </p:nvSpPr>
        <p:spPr>
          <a:xfrm>
            <a:off x="8092440" y="1417320"/>
            <a:ext cx="3291480" cy="50256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Search design lesson</a:t>
            </a:r>
            <a:endParaRPr lang="en-US" sz="1600" b="0" u="none" strike="noStrike">
              <a:solidFill>
                <a:srgbClr val="000000"/>
              </a:solidFill>
              <a:effectLst/>
              <a:uFillTx/>
              <a:latin typeface="Arial"/>
            </a:endParaRPr>
          </a:p>
        </p:txBody>
      </p:sp>
      <p:sp>
        <p:nvSpPr>
          <p:cNvPr id="343" name="Text 10"/>
          <p:cNvSpPr/>
          <p:nvPr/>
        </p:nvSpPr>
        <p:spPr>
          <a:xfrm>
            <a:off x="8092440" y="2011680"/>
            <a:ext cx="3291480" cy="77688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600" b="1" u="none" strike="noStrike">
                <a:solidFill>
                  <a:srgbClr val="102A4C"/>
                </a:solidFill>
                <a:effectLst/>
                <a:uFillTx/>
                <a:latin typeface="Aptos"/>
              </a:rPr>
              <a:t>Include only state variables needed for planning. Extra variables multiply the state space.</a:t>
            </a:r>
            <a:endParaRPr lang="en-US" sz="1600" b="0" u="none" strike="noStrike">
              <a:solidFill>
                <a:srgbClr val="000000"/>
              </a:solidFill>
              <a:effectLst/>
              <a:uFillTx/>
              <a:latin typeface="Arial"/>
            </a:endParaRPr>
          </a:p>
        </p:txBody>
      </p:sp>
      <p:sp>
        <p:nvSpPr>
          <p:cNvPr id="344" name="Text 11"/>
          <p:cNvSpPr/>
          <p:nvPr/>
        </p:nvSpPr>
        <p:spPr>
          <a:xfrm>
            <a:off x="914400" y="4343400"/>
            <a:ext cx="10240920" cy="45684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2000" b="1" u="none" strike="noStrike">
                <a:solidFill>
                  <a:srgbClr val="112E5C"/>
                </a:solidFill>
                <a:effectLst/>
                <a:uFillTx/>
                <a:latin typeface="Aptos"/>
              </a:rPr>
              <a:t>Even simple environments grow quickly once location and object configurations are included.</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345"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6"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47"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What Goes Into the Search State?</a:t>
            </a:r>
            <a:endParaRPr lang="en-US" sz="2600" b="0" u="none" strike="noStrike">
              <a:solidFill>
                <a:srgbClr val="000000"/>
              </a:solidFill>
              <a:effectLst/>
              <a:uFillTx/>
              <a:latin typeface="Arial"/>
            </a:endParaRPr>
          </a:p>
        </p:txBody>
      </p:sp>
      <p:sp>
        <p:nvSpPr>
          <p:cNvPr id="348"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49"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50" name="Text 5"/>
          <p:cNvSpPr/>
          <p:nvPr/>
        </p:nvSpPr>
        <p:spPr>
          <a:xfrm>
            <a:off x="868680" y="1417320"/>
            <a:ext cx="4388760" cy="529920"/>
          </a:xfrm>
          <a:prstGeom prst="roundRect">
            <a:avLst>
              <a:gd name="adj" fmla="val 1379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2F7FD5"/>
                </a:solidFill>
                <a:effectLst/>
                <a:uFillTx/>
                <a:latin typeface="Aptos"/>
              </a:rPr>
              <a:t>World state</a:t>
            </a:r>
            <a:endParaRPr lang="en-US" sz="1800" b="0" u="none" strike="noStrike">
              <a:solidFill>
                <a:srgbClr val="000000"/>
              </a:solidFill>
              <a:effectLst/>
              <a:uFillTx/>
              <a:latin typeface="Arial"/>
            </a:endParaRPr>
          </a:p>
        </p:txBody>
      </p:sp>
      <p:sp>
        <p:nvSpPr>
          <p:cNvPr id="351" name="Text 6"/>
          <p:cNvSpPr/>
          <p:nvPr/>
        </p:nvSpPr>
        <p:spPr>
          <a:xfrm>
            <a:off x="1005840" y="2148840"/>
            <a:ext cx="4114440" cy="14169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Every last detail of the environment: agent location, dot status, ghost locations, orientation, timers, hidden variables, and irrelevant facts.</a:t>
            </a:r>
            <a:endParaRPr lang="en-US" sz="1600" b="0" u="none" strike="noStrike">
              <a:solidFill>
                <a:srgbClr val="000000"/>
              </a:solidFill>
              <a:effectLst/>
              <a:uFillTx/>
              <a:latin typeface="Arial"/>
            </a:endParaRPr>
          </a:p>
        </p:txBody>
      </p:sp>
      <p:sp>
        <p:nvSpPr>
          <p:cNvPr id="352" name="Text 7"/>
          <p:cNvSpPr/>
          <p:nvPr/>
        </p:nvSpPr>
        <p:spPr>
          <a:xfrm>
            <a:off x="6903720" y="1417320"/>
            <a:ext cx="4388760" cy="529920"/>
          </a:xfrm>
          <a:prstGeom prst="roundRect">
            <a:avLst>
              <a:gd name="adj" fmla="val 13793"/>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77245"/>
                </a:solidFill>
                <a:effectLst/>
                <a:uFillTx/>
                <a:latin typeface="Aptos"/>
              </a:rPr>
              <a:t>Search state</a:t>
            </a:r>
            <a:endParaRPr lang="en-US" sz="1800" b="0" u="none" strike="noStrike">
              <a:solidFill>
                <a:srgbClr val="000000"/>
              </a:solidFill>
              <a:effectLst/>
              <a:uFillTx/>
              <a:latin typeface="Arial"/>
            </a:endParaRPr>
          </a:p>
        </p:txBody>
      </p:sp>
      <p:sp>
        <p:nvSpPr>
          <p:cNvPr id="353" name="Text 8"/>
          <p:cNvSpPr/>
          <p:nvPr/>
        </p:nvSpPr>
        <p:spPr>
          <a:xfrm>
            <a:off x="7040880" y="2148840"/>
            <a:ext cx="4114440" cy="14169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Only the details needed for planning. Abstraction makes search possible by removing irrelevant detail.</a:t>
            </a:r>
            <a:endParaRPr lang="en-US" sz="1600" b="0" u="none" strike="noStrike">
              <a:solidFill>
                <a:srgbClr val="000000"/>
              </a:solidFill>
              <a:effectLst/>
              <a:uFillTx/>
              <a:latin typeface="Arial"/>
            </a:endParaRPr>
          </a:p>
        </p:txBody>
      </p:sp>
      <p:sp>
        <p:nvSpPr>
          <p:cNvPr id="354" name="Shape 9"/>
          <p:cNvSpPr/>
          <p:nvPr/>
        </p:nvSpPr>
        <p:spPr>
          <a:xfrm>
            <a:off x="5440680" y="2468880"/>
            <a:ext cx="1280160" cy="360"/>
          </a:xfrm>
          <a:prstGeom prst="line">
            <a:avLst/>
          </a:prstGeom>
          <a:ln w="3175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55" name="Text 10"/>
          <p:cNvSpPr/>
          <p:nvPr/>
        </p:nvSpPr>
        <p:spPr>
          <a:xfrm>
            <a:off x="960120" y="4251960"/>
            <a:ext cx="2834280" cy="456840"/>
          </a:xfrm>
          <a:prstGeom prst="roundRect">
            <a:avLst>
              <a:gd name="adj" fmla="val 16000"/>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Pathing</a:t>
            </a:r>
            <a:endParaRPr lang="en-US" sz="1500" b="0" u="none" strike="noStrike">
              <a:solidFill>
                <a:srgbClr val="000000"/>
              </a:solidFill>
              <a:effectLst/>
              <a:uFillTx/>
              <a:latin typeface="Arial"/>
            </a:endParaRPr>
          </a:p>
        </p:txBody>
      </p:sp>
      <p:sp>
        <p:nvSpPr>
          <p:cNvPr id="356" name="Text 11"/>
          <p:cNvSpPr/>
          <p:nvPr/>
        </p:nvSpPr>
        <p:spPr>
          <a:xfrm>
            <a:off x="1143000" y="4800600"/>
            <a:ext cx="2468520" cy="4111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50" b="0" u="none" strike="noStrike">
                <a:solidFill>
                  <a:srgbClr val="5C6B80"/>
                </a:solidFill>
                <a:effectLst/>
                <a:uFillTx/>
                <a:latin typeface="Aptos"/>
              </a:rPr>
              <a:t>position only</a:t>
            </a:r>
            <a:endParaRPr lang="en-US" sz="1350" b="0" u="none" strike="noStrike">
              <a:solidFill>
                <a:srgbClr val="000000"/>
              </a:solidFill>
              <a:effectLst/>
              <a:uFillTx/>
              <a:latin typeface="Arial"/>
            </a:endParaRPr>
          </a:p>
        </p:txBody>
      </p:sp>
      <p:sp>
        <p:nvSpPr>
          <p:cNvPr id="357" name="Text 12"/>
          <p:cNvSpPr/>
          <p:nvPr/>
        </p:nvSpPr>
        <p:spPr>
          <a:xfrm>
            <a:off x="4663440" y="4251960"/>
            <a:ext cx="2834280" cy="456840"/>
          </a:xfrm>
          <a:prstGeom prst="roundRect">
            <a:avLst>
              <a:gd name="adj" fmla="val 16000"/>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Eat-all-dots</a:t>
            </a:r>
            <a:endParaRPr lang="en-US" sz="1500" b="0" u="none" strike="noStrike">
              <a:solidFill>
                <a:srgbClr val="000000"/>
              </a:solidFill>
              <a:effectLst/>
              <a:uFillTx/>
              <a:latin typeface="Arial"/>
            </a:endParaRPr>
          </a:p>
        </p:txBody>
      </p:sp>
      <p:sp>
        <p:nvSpPr>
          <p:cNvPr id="358" name="Text 13"/>
          <p:cNvSpPr/>
          <p:nvPr/>
        </p:nvSpPr>
        <p:spPr>
          <a:xfrm>
            <a:off x="4846320" y="4800600"/>
            <a:ext cx="2468520" cy="4111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50" b="0" u="none" strike="noStrike">
                <a:solidFill>
                  <a:srgbClr val="5C6B80"/>
                </a:solidFill>
                <a:effectLst/>
                <a:uFillTx/>
                <a:latin typeface="Aptos"/>
              </a:rPr>
              <a:t>position + dot booleans</a:t>
            </a:r>
            <a:endParaRPr lang="en-US" sz="1350" b="0" u="none" strike="noStrike">
              <a:solidFill>
                <a:srgbClr val="000000"/>
              </a:solidFill>
              <a:effectLst/>
              <a:uFillTx/>
              <a:latin typeface="Arial"/>
            </a:endParaRPr>
          </a:p>
        </p:txBody>
      </p:sp>
      <p:sp>
        <p:nvSpPr>
          <p:cNvPr id="359" name="Text 14"/>
          <p:cNvSpPr/>
          <p:nvPr/>
        </p:nvSpPr>
        <p:spPr>
          <a:xfrm>
            <a:off x="8366760" y="4251960"/>
            <a:ext cx="2834280" cy="456840"/>
          </a:xfrm>
          <a:prstGeom prst="roundRect">
            <a:avLst>
              <a:gd name="adj" fmla="val 16000"/>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Safe passage</a:t>
            </a:r>
            <a:endParaRPr lang="en-US" sz="1500" b="0" u="none" strike="noStrike">
              <a:solidFill>
                <a:srgbClr val="000000"/>
              </a:solidFill>
              <a:effectLst/>
              <a:uFillTx/>
              <a:latin typeface="Arial"/>
            </a:endParaRPr>
          </a:p>
        </p:txBody>
      </p:sp>
      <p:sp>
        <p:nvSpPr>
          <p:cNvPr id="360" name="Text 15"/>
          <p:cNvSpPr/>
          <p:nvPr/>
        </p:nvSpPr>
        <p:spPr>
          <a:xfrm>
            <a:off x="8549640" y="4800600"/>
            <a:ext cx="2468520" cy="4111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50" b="0" u="none" strike="noStrike">
                <a:solidFill>
                  <a:srgbClr val="5C6B80"/>
                </a:solidFill>
                <a:effectLst/>
                <a:uFillTx/>
                <a:latin typeface="Aptos"/>
              </a:rPr>
              <a:t>position + dots + power pellets + scared timer</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361"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62"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63"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Counting a State Space: Pac-Man</a:t>
            </a:r>
            <a:endParaRPr lang="en-US" sz="2600" b="0" u="none" strike="noStrike">
              <a:solidFill>
                <a:srgbClr val="000000"/>
              </a:solidFill>
              <a:effectLst/>
              <a:uFillTx/>
              <a:latin typeface="Arial"/>
            </a:endParaRPr>
          </a:p>
        </p:txBody>
      </p:sp>
      <p:sp>
        <p:nvSpPr>
          <p:cNvPr id="364"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65"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66" name="Rounded Rectangle 6"/>
          <p:cNvSpPr/>
          <p:nvPr/>
        </p:nvSpPr>
        <p:spPr>
          <a:xfrm>
            <a:off x="777240" y="1417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World state: every last detail</a:t>
            </a:r>
            <a:endParaRPr lang="en-US" sz="1400" b="0" u="none" strike="noStrike">
              <a:solidFill>
                <a:srgbClr val="000000"/>
              </a:solidFill>
              <a:effectLst/>
              <a:uFillTx/>
              <a:latin typeface="Arial"/>
            </a:endParaRPr>
          </a:p>
        </p:txBody>
      </p:sp>
      <p:sp>
        <p:nvSpPr>
          <p:cNvPr id="367" name="Rounded Rectangle 7"/>
          <p:cNvSpPr/>
          <p:nvPr/>
        </p:nvSpPr>
        <p:spPr>
          <a:xfrm>
            <a:off x="777240" y="196596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68" name="Rectangle 8"/>
          <p:cNvSpPr/>
          <p:nvPr/>
        </p:nvSpPr>
        <p:spPr>
          <a:xfrm>
            <a:off x="960120" y="196596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Agent position</a:t>
            </a:r>
            <a:endParaRPr lang="en-US" sz="1300" b="0" u="none" strike="noStrike">
              <a:solidFill>
                <a:srgbClr val="000000"/>
              </a:solidFill>
              <a:effectLst/>
              <a:uFillTx/>
              <a:latin typeface="Arial"/>
            </a:endParaRPr>
          </a:p>
        </p:txBody>
      </p:sp>
      <p:sp>
        <p:nvSpPr>
          <p:cNvPr id="369" name="Rectangle 9"/>
          <p:cNvSpPr/>
          <p:nvPr/>
        </p:nvSpPr>
        <p:spPr>
          <a:xfrm>
            <a:off x="2971800" y="196596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12 × 10 grid</a:t>
            </a:r>
            <a:endParaRPr lang="en-US" sz="1150" b="0" u="none" strike="noStrike">
              <a:solidFill>
                <a:srgbClr val="000000"/>
              </a:solidFill>
              <a:effectLst/>
              <a:uFillTx/>
              <a:latin typeface="Arial"/>
            </a:endParaRPr>
          </a:p>
        </p:txBody>
      </p:sp>
      <p:sp>
        <p:nvSpPr>
          <p:cNvPr id="370" name="Rectangle 10"/>
          <p:cNvSpPr/>
          <p:nvPr/>
        </p:nvSpPr>
        <p:spPr>
          <a:xfrm>
            <a:off x="4983480" y="196596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9B1C1C"/>
                </a:solidFill>
                <a:effectLst/>
                <a:uFillTx/>
                <a:latin typeface="Aptos"/>
              </a:rPr>
              <a:t>120</a:t>
            </a:r>
            <a:endParaRPr lang="en-US" sz="1500" b="0" u="none" strike="noStrike">
              <a:solidFill>
                <a:srgbClr val="000000"/>
              </a:solidFill>
              <a:effectLst/>
              <a:uFillTx/>
              <a:latin typeface="Arial"/>
            </a:endParaRPr>
          </a:p>
        </p:txBody>
      </p:sp>
      <p:sp>
        <p:nvSpPr>
          <p:cNvPr id="371" name="Rounded Rectangle 11"/>
          <p:cNvSpPr/>
          <p:nvPr/>
        </p:nvSpPr>
        <p:spPr>
          <a:xfrm>
            <a:off x="777240" y="256032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72" name="Rectangle 12"/>
          <p:cNvSpPr/>
          <p:nvPr/>
        </p:nvSpPr>
        <p:spPr>
          <a:xfrm>
            <a:off x="960120" y="25603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Dot status</a:t>
            </a:r>
            <a:endParaRPr lang="en-US" sz="1300" b="0" u="none" strike="noStrike">
              <a:solidFill>
                <a:srgbClr val="000000"/>
              </a:solidFill>
              <a:effectLst/>
              <a:uFillTx/>
              <a:latin typeface="Arial"/>
            </a:endParaRPr>
          </a:p>
        </p:txBody>
      </p:sp>
      <p:sp>
        <p:nvSpPr>
          <p:cNvPr id="373" name="Rectangle 13"/>
          <p:cNvSpPr/>
          <p:nvPr/>
        </p:nvSpPr>
        <p:spPr>
          <a:xfrm>
            <a:off x="2971800" y="25603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30 dots, each eaten or not</a:t>
            </a:r>
            <a:endParaRPr lang="en-US" sz="1150" b="0" u="none" strike="noStrike">
              <a:solidFill>
                <a:srgbClr val="000000"/>
              </a:solidFill>
              <a:effectLst/>
              <a:uFillTx/>
              <a:latin typeface="Arial"/>
            </a:endParaRPr>
          </a:p>
        </p:txBody>
      </p:sp>
      <p:sp>
        <p:nvSpPr>
          <p:cNvPr id="374" name="Rectangle 14"/>
          <p:cNvSpPr/>
          <p:nvPr/>
        </p:nvSpPr>
        <p:spPr>
          <a:xfrm>
            <a:off x="4983480" y="256032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9B1C1C"/>
                </a:solidFill>
                <a:effectLst/>
                <a:uFillTx/>
                <a:latin typeface="Aptos"/>
              </a:rPr>
              <a:t>2³⁰</a:t>
            </a:r>
            <a:endParaRPr lang="en-US" sz="1500" b="0" u="none" strike="noStrike">
              <a:solidFill>
                <a:srgbClr val="000000"/>
              </a:solidFill>
              <a:effectLst/>
              <a:uFillTx/>
              <a:latin typeface="Arial"/>
            </a:endParaRPr>
          </a:p>
        </p:txBody>
      </p:sp>
      <p:sp>
        <p:nvSpPr>
          <p:cNvPr id="375" name="Rounded Rectangle 15"/>
          <p:cNvSpPr/>
          <p:nvPr/>
        </p:nvSpPr>
        <p:spPr>
          <a:xfrm>
            <a:off x="777240" y="315468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76" name="Rectangle 16"/>
          <p:cNvSpPr/>
          <p:nvPr/>
        </p:nvSpPr>
        <p:spPr>
          <a:xfrm>
            <a:off x="960120" y="315468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Ghost positions</a:t>
            </a:r>
            <a:endParaRPr lang="en-US" sz="1300" b="0" u="none" strike="noStrike">
              <a:solidFill>
                <a:srgbClr val="000000"/>
              </a:solidFill>
              <a:effectLst/>
              <a:uFillTx/>
              <a:latin typeface="Arial"/>
            </a:endParaRPr>
          </a:p>
        </p:txBody>
      </p:sp>
      <p:sp>
        <p:nvSpPr>
          <p:cNvPr id="377" name="Rectangle 17"/>
          <p:cNvSpPr/>
          <p:nvPr/>
        </p:nvSpPr>
        <p:spPr>
          <a:xfrm>
            <a:off x="2971800" y="315468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two ghosts, 12 × 1 lane</a:t>
            </a:r>
            <a:endParaRPr lang="en-US" sz="1150" b="0" u="none" strike="noStrike">
              <a:solidFill>
                <a:srgbClr val="000000"/>
              </a:solidFill>
              <a:effectLst/>
              <a:uFillTx/>
              <a:latin typeface="Arial"/>
            </a:endParaRPr>
          </a:p>
        </p:txBody>
      </p:sp>
      <p:sp>
        <p:nvSpPr>
          <p:cNvPr id="378" name="Rectangle 18"/>
          <p:cNvSpPr/>
          <p:nvPr/>
        </p:nvSpPr>
        <p:spPr>
          <a:xfrm>
            <a:off x="4983480" y="315468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9B1C1C"/>
                </a:solidFill>
                <a:effectLst/>
                <a:uFillTx/>
                <a:latin typeface="Aptos"/>
              </a:rPr>
              <a:t>12²</a:t>
            </a:r>
            <a:endParaRPr lang="en-US" sz="1500" b="0" u="none" strike="noStrike">
              <a:solidFill>
                <a:srgbClr val="000000"/>
              </a:solidFill>
              <a:effectLst/>
              <a:uFillTx/>
              <a:latin typeface="Arial"/>
            </a:endParaRPr>
          </a:p>
        </p:txBody>
      </p:sp>
      <p:sp>
        <p:nvSpPr>
          <p:cNvPr id="379" name="Rounded Rectangle 19"/>
          <p:cNvSpPr/>
          <p:nvPr/>
        </p:nvSpPr>
        <p:spPr>
          <a:xfrm>
            <a:off x="777240" y="374904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80" name="Rectangle 20"/>
          <p:cNvSpPr/>
          <p:nvPr/>
        </p:nvSpPr>
        <p:spPr>
          <a:xfrm>
            <a:off x="960120" y="374904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Agent facing</a:t>
            </a:r>
            <a:endParaRPr lang="en-US" sz="1300" b="0" u="none" strike="noStrike">
              <a:solidFill>
                <a:srgbClr val="000000"/>
              </a:solidFill>
              <a:effectLst/>
              <a:uFillTx/>
              <a:latin typeface="Arial"/>
            </a:endParaRPr>
          </a:p>
        </p:txBody>
      </p:sp>
      <p:sp>
        <p:nvSpPr>
          <p:cNvPr id="381" name="Rectangle 21"/>
          <p:cNvSpPr/>
          <p:nvPr/>
        </p:nvSpPr>
        <p:spPr>
          <a:xfrm>
            <a:off x="2971800" y="374904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N, S, E, or W</a:t>
            </a:r>
            <a:endParaRPr lang="en-US" sz="1150" b="0" u="none" strike="noStrike">
              <a:solidFill>
                <a:srgbClr val="000000"/>
              </a:solidFill>
              <a:effectLst/>
              <a:uFillTx/>
              <a:latin typeface="Arial"/>
            </a:endParaRPr>
          </a:p>
        </p:txBody>
      </p:sp>
      <p:sp>
        <p:nvSpPr>
          <p:cNvPr id="382" name="Rectangle 22"/>
          <p:cNvSpPr/>
          <p:nvPr/>
        </p:nvSpPr>
        <p:spPr>
          <a:xfrm>
            <a:off x="4983480" y="374904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9B1C1C"/>
                </a:solidFill>
                <a:effectLst/>
                <a:uFillTx/>
                <a:latin typeface="Aptos"/>
              </a:rPr>
              <a:t>4</a:t>
            </a:r>
            <a:endParaRPr lang="en-US" sz="1500" b="0" u="none" strike="noStrike">
              <a:solidFill>
                <a:srgbClr val="000000"/>
              </a:solidFill>
              <a:effectLst/>
              <a:uFillTx/>
              <a:latin typeface="Arial"/>
            </a:endParaRPr>
          </a:p>
        </p:txBody>
      </p:sp>
      <p:sp>
        <p:nvSpPr>
          <p:cNvPr id="383" name="Rounded Rectangle 23"/>
          <p:cNvSpPr/>
          <p:nvPr/>
        </p:nvSpPr>
        <p:spPr>
          <a:xfrm>
            <a:off x="6385680" y="1417320"/>
            <a:ext cx="502884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Search state: only what planning needs</a:t>
            </a:r>
            <a:endParaRPr lang="en-US" sz="1400" b="0" u="none" strike="noStrike">
              <a:solidFill>
                <a:srgbClr val="000000"/>
              </a:solidFill>
              <a:effectLst/>
              <a:uFillTx/>
              <a:latin typeface="Arial"/>
            </a:endParaRPr>
          </a:p>
        </p:txBody>
      </p:sp>
      <p:sp>
        <p:nvSpPr>
          <p:cNvPr id="384" name="Rounded Rectangle 24"/>
          <p:cNvSpPr/>
          <p:nvPr/>
        </p:nvSpPr>
        <p:spPr>
          <a:xfrm>
            <a:off x="6385680" y="196596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85" name="Rectangle 25"/>
          <p:cNvSpPr/>
          <p:nvPr/>
        </p:nvSpPr>
        <p:spPr>
          <a:xfrm>
            <a:off x="6568560" y="205740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1" u="none" strike="noStrike">
                <a:solidFill>
                  <a:srgbClr val="112E5C"/>
                </a:solidFill>
                <a:effectLst/>
                <a:uFillTx/>
                <a:latin typeface="Aptos"/>
              </a:rPr>
              <a:t>Pathing</a:t>
            </a:r>
            <a:endParaRPr lang="en-US" sz="1350" b="0" u="none" strike="noStrike">
              <a:solidFill>
                <a:srgbClr val="000000"/>
              </a:solidFill>
              <a:effectLst/>
              <a:uFillTx/>
              <a:latin typeface="Arial"/>
            </a:endParaRPr>
          </a:p>
        </p:txBody>
      </p:sp>
      <p:sp>
        <p:nvSpPr>
          <p:cNvPr id="386" name="Rectangle 26"/>
          <p:cNvSpPr/>
          <p:nvPr/>
        </p:nvSpPr>
        <p:spPr>
          <a:xfrm>
            <a:off x="6568560" y="231660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position only</a:t>
            </a:r>
            <a:endParaRPr lang="en-US" sz="1150" b="0" u="none" strike="noStrike">
              <a:solidFill>
                <a:srgbClr val="000000"/>
              </a:solidFill>
              <a:effectLst/>
              <a:uFillTx/>
              <a:latin typeface="Arial"/>
            </a:endParaRPr>
          </a:p>
        </p:txBody>
      </p:sp>
      <p:sp>
        <p:nvSpPr>
          <p:cNvPr id="387" name="Rectangle 27"/>
          <p:cNvSpPr/>
          <p:nvPr/>
        </p:nvSpPr>
        <p:spPr>
          <a:xfrm>
            <a:off x="9768960" y="196596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400" b="1" u="none" strike="noStrike">
                <a:solidFill>
                  <a:srgbClr val="177245"/>
                </a:solidFill>
                <a:effectLst/>
                <a:uFillTx/>
                <a:latin typeface="Aptos"/>
              </a:rPr>
              <a:t>120</a:t>
            </a:r>
            <a:endParaRPr lang="en-US" sz="1400" b="0" u="none" strike="noStrike">
              <a:solidFill>
                <a:srgbClr val="000000"/>
              </a:solidFill>
              <a:effectLst/>
              <a:uFillTx/>
              <a:latin typeface="Arial"/>
            </a:endParaRPr>
          </a:p>
        </p:txBody>
      </p:sp>
      <p:sp>
        <p:nvSpPr>
          <p:cNvPr id="388" name="Rounded Rectangle 28"/>
          <p:cNvSpPr/>
          <p:nvPr/>
        </p:nvSpPr>
        <p:spPr>
          <a:xfrm>
            <a:off x="6385680" y="274320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89" name="Rectangle 29"/>
          <p:cNvSpPr/>
          <p:nvPr/>
        </p:nvSpPr>
        <p:spPr>
          <a:xfrm>
            <a:off x="6568560" y="283464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1" u="none" strike="noStrike">
                <a:solidFill>
                  <a:srgbClr val="112E5C"/>
                </a:solidFill>
                <a:effectLst/>
                <a:uFillTx/>
                <a:latin typeface="Aptos"/>
              </a:rPr>
              <a:t>Eat-all-dots</a:t>
            </a:r>
            <a:endParaRPr lang="en-US" sz="1350" b="0" u="none" strike="noStrike">
              <a:solidFill>
                <a:srgbClr val="000000"/>
              </a:solidFill>
              <a:effectLst/>
              <a:uFillTx/>
              <a:latin typeface="Arial"/>
            </a:endParaRPr>
          </a:p>
        </p:txBody>
      </p:sp>
      <p:sp>
        <p:nvSpPr>
          <p:cNvPr id="390" name="Rectangle 30"/>
          <p:cNvSpPr/>
          <p:nvPr/>
        </p:nvSpPr>
        <p:spPr>
          <a:xfrm>
            <a:off x="6568560" y="309384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position + dot booleans</a:t>
            </a:r>
            <a:endParaRPr lang="en-US" sz="1150" b="0" u="none" strike="noStrike">
              <a:solidFill>
                <a:srgbClr val="000000"/>
              </a:solidFill>
              <a:effectLst/>
              <a:uFillTx/>
              <a:latin typeface="Arial"/>
            </a:endParaRPr>
          </a:p>
        </p:txBody>
      </p:sp>
      <p:sp>
        <p:nvSpPr>
          <p:cNvPr id="391" name="Rectangle 31"/>
          <p:cNvSpPr/>
          <p:nvPr/>
        </p:nvSpPr>
        <p:spPr>
          <a:xfrm>
            <a:off x="9768960" y="274320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400" b="1" u="none" strike="noStrike">
                <a:solidFill>
                  <a:srgbClr val="177245"/>
                </a:solidFill>
                <a:effectLst/>
                <a:uFillTx/>
                <a:latin typeface="Aptos"/>
              </a:rPr>
              <a:t>120 × 2³⁰</a:t>
            </a:r>
            <a:endParaRPr lang="en-US" sz="1400" b="0" u="none" strike="noStrike">
              <a:solidFill>
                <a:srgbClr val="000000"/>
              </a:solidFill>
              <a:effectLst/>
              <a:uFillTx/>
              <a:latin typeface="Arial"/>
            </a:endParaRPr>
          </a:p>
        </p:txBody>
      </p:sp>
      <p:sp>
        <p:nvSpPr>
          <p:cNvPr id="392" name="Rounded Rectangle 32"/>
          <p:cNvSpPr/>
          <p:nvPr/>
        </p:nvSpPr>
        <p:spPr>
          <a:xfrm>
            <a:off x="6385680" y="352044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93" name="Rectangle 33"/>
          <p:cNvSpPr/>
          <p:nvPr/>
        </p:nvSpPr>
        <p:spPr>
          <a:xfrm>
            <a:off x="6568560" y="361188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1" u="none" strike="noStrike">
                <a:solidFill>
                  <a:srgbClr val="112E5C"/>
                </a:solidFill>
                <a:effectLst/>
                <a:uFillTx/>
                <a:latin typeface="Aptos"/>
              </a:rPr>
              <a:t>Safe passage</a:t>
            </a:r>
            <a:endParaRPr lang="en-US" sz="1350" b="0" u="none" strike="noStrike">
              <a:solidFill>
                <a:srgbClr val="000000"/>
              </a:solidFill>
              <a:effectLst/>
              <a:uFillTx/>
              <a:latin typeface="Arial"/>
            </a:endParaRPr>
          </a:p>
        </p:txBody>
      </p:sp>
      <p:sp>
        <p:nvSpPr>
          <p:cNvPr id="394" name="Rectangle 34"/>
          <p:cNvSpPr/>
          <p:nvPr/>
        </p:nvSpPr>
        <p:spPr>
          <a:xfrm>
            <a:off x="6568560" y="387108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position + dots + power pellets + scared timer</a:t>
            </a:r>
            <a:endParaRPr lang="en-US" sz="1150" b="0" u="none" strike="noStrike">
              <a:solidFill>
                <a:srgbClr val="000000"/>
              </a:solidFill>
              <a:effectLst/>
              <a:uFillTx/>
              <a:latin typeface="Arial"/>
            </a:endParaRPr>
          </a:p>
        </p:txBody>
      </p:sp>
      <p:sp>
        <p:nvSpPr>
          <p:cNvPr id="395" name="Rectangle 35"/>
          <p:cNvSpPr/>
          <p:nvPr/>
        </p:nvSpPr>
        <p:spPr>
          <a:xfrm>
            <a:off x="9768960" y="352044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400" b="1" u="none" strike="noStrike">
                <a:solidFill>
                  <a:srgbClr val="177245"/>
                </a:solidFill>
                <a:effectLst/>
                <a:uFillTx/>
                <a:latin typeface="Aptos"/>
              </a:rPr>
              <a:t>120 × 2³⁰ × 2⁴ × t</a:t>
            </a:r>
            <a:endParaRPr lang="en-US" sz="1400" b="0" u="none" strike="noStrike">
              <a:solidFill>
                <a:srgbClr val="000000"/>
              </a:solidFill>
              <a:effectLst/>
              <a:uFillTx/>
              <a:latin typeface="Arial"/>
            </a:endParaRPr>
          </a:p>
        </p:txBody>
      </p:sp>
      <p:sp>
        <p:nvSpPr>
          <p:cNvPr id="396" name="Rectangle 36"/>
          <p:cNvSpPr/>
          <p:nvPr/>
        </p:nvSpPr>
        <p:spPr>
          <a:xfrm>
            <a:off x="914400" y="4389120"/>
            <a:ext cx="10423800" cy="4568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800" b="1" u="none" strike="noStrike">
                <a:solidFill>
                  <a:srgbClr val="112E5C"/>
                </a:solidFill>
                <a:effectLst/>
                <a:uFillTx/>
                <a:latin typeface="Aptos"/>
              </a:rPr>
              <a:t>World states:  </a:t>
            </a:r>
            <a:r>
              <a:rPr lang="en-US" sz="2200" b="1" u="none" strike="noStrike">
                <a:solidFill>
                  <a:srgbClr val="9B1C1C"/>
                </a:solidFill>
                <a:effectLst/>
                <a:uFillTx/>
                <a:latin typeface="Aptos"/>
              </a:rPr>
              <a:t>120 × 2³⁰ × 12² × 4  ≈  1.9 × 10¹³</a:t>
            </a:r>
            <a:endParaRPr lang="en-US" sz="2200" b="0" u="none" strike="noStrike">
              <a:solidFill>
                <a:srgbClr val="000000"/>
              </a:solidFill>
              <a:effectLst/>
              <a:uFillTx/>
              <a:latin typeface="Arial"/>
            </a:endParaRPr>
          </a:p>
        </p:txBody>
      </p:sp>
      <p:sp>
        <p:nvSpPr>
          <p:cNvPr id="397" name="Rectangle 37"/>
          <p:cNvSpPr/>
          <p:nvPr/>
        </p:nvSpPr>
        <p:spPr>
          <a:xfrm>
            <a:off x="914400" y="49834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One maze, three different problems. The state space is a consequence of the question you are asking, not of the world.</a:t>
            </a:r>
            <a:endParaRPr lang="en-US" sz="1700" b="0" u="none" strike="noStrike">
              <a:solidFill>
                <a:srgbClr val="000000"/>
              </a:solidFill>
              <a:effectLst/>
              <a:uFillTx/>
              <a:latin typeface="Arial"/>
            </a:endParaRPr>
          </a:p>
        </p:txBody>
      </p:sp>
      <p:sp>
        <p:nvSpPr>
          <p:cNvPr id="398" name="Rectangle 38"/>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400" b="0" u="none" strike="noStrike">
                <a:solidFill>
                  <a:srgbClr val="5C6B80"/>
                </a:solidFill>
                <a:effectLst/>
                <a:uFillTx/>
                <a:latin typeface="Aptos"/>
              </a:rPr>
              <a:t>Every extra state variable multiplies the space. Drop any variable the goal test and the cost function never read.</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399"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00"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01"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Real-World Formulation: Airline Travel Planning</a:t>
            </a:r>
            <a:endParaRPr lang="en-US" sz="2600" b="0" u="none" strike="noStrike">
              <a:solidFill>
                <a:srgbClr val="000000"/>
              </a:solidFill>
              <a:effectLst/>
              <a:uFillTx/>
              <a:latin typeface="Arial"/>
            </a:endParaRPr>
          </a:p>
        </p:txBody>
      </p:sp>
      <p:sp>
        <p:nvSpPr>
          <p:cNvPr id="402"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03"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04" name="Rounded Rectangle 6"/>
          <p:cNvSpPr/>
          <p:nvPr/>
        </p:nvSpPr>
        <p:spPr>
          <a:xfrm>
            <a:off x="777240" y="14173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05" name="Rectangle 7"/>
          <p:cNvSpPr/>
          <p:nvPr/>
        </p:nvSpPr>
        <p:spPr>
          <a:xfrm>
            <a:off x="2697480" y="14173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Airport, current time, and historical information about earlier segments</a:t>
            </a:r>
            <a:endParaRPr lang="en-US" sz="1300" b="0" u="none" strike="noStrike">
              <a:solidFill>
                <a:srgbClr val="000000"/>
              </a:solidFill>
              <a:effectLst/>
              <a:uFillTx/>
              <a:latin typeface="Arial"/>
            </a:endParaRPr>
          </a:p>
        </p:txBody>
      </p:sp>
      <p:sp>
        <p:nvSpPr>
          <p:cNvPr id="406" name="Rounded Rectangle 8"/>
          <p:cNvSpPr/>
          <p:nvPr/>
        </p:nvSpPr>
        <p:spPr>
          <a:xfrm>
            <a:off x="777240" y="192024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07" name="Rectangle 9"/>
          <p:cNvSpPr/>
          <p:nvPr/>
        </p:nvSpPr>
        <p:spPr>
          <a:xfrm>
            <a:off x="2697480" y="192024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The traveller's home airport</a:t>
            </a:r>
            <a:endParaRPr lang="en-US" sz="1300" b="0" u="none" strike="noStrike">
              <a:solidFill>
                <a:srgbClr val="000000"/>
              </a:solidFill>
              <a:effectLst/>
              <a:uFillTx/>
              <a:latin typeface="Arial"/>
            </a:endParaRPr>
          </a:p>
        </p:txBody>
      </p:sp>
      <p:sp>
        <p:nvSpPr>
          <p:cNvPr id="408" name="Rounded Rectangle 10"/>
          <p:cNvSpPr/>
          <p:nvPr/>
        </p:nvSpPr>
        <p:spPr>
          <a:xfrm>
            <a:off x="777240" y="242316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09" name="Rectangle 11"/>
          <p:cNvSpPr/>
          <p:nvPr/>
        </p:nvSpPr>
        <p:spPr>
          <a:xfrm>
            <a:off x="2697480" y="242316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Any flight leaving after the current time, in any seat class, allowing transfer time</a:t>
            </a:r>
            <a:endParaRPr lang="en-US" sz="1300" b="0" u="none" strike="noStrike">
              <a:solidFill>
                <a:srgbClr val="000000"/>
              </a:solidFill>
              <a:effectLst/>
              <a:uFillTx/>
              <a:latin typeface="Arial"/>
            </a:endParaRPr>
          </a:p>
        </p:txBody>
      </p:sp>
      <p:sp>
        <p:nvSpPr>
          <p:cNvPr id="410" name="Rounded Rectangle 12"/>
          <p:cNvSpPr/>
          <p:nvPr/>
        </p:nvSpPr>
        <p:spPr>
          <a:xfrm>
            <a:off x="777240" y="29260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411" name="Rectangle 13"/>
          <p:cNvSpPr/>
          <p:nvPr/>
        </p:nvSpPr>
        <p:spPr>
          <a:xfrm>
            <a:off x="2697480" y="292608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New location is the destination; new time is the arrival time</a:t>
            </a:r>
            <a:endParaRPr lang="en-US" sz="1300" b="0" u="none" strike="noStrike">
              <a:solidFill>
                <a:srgbClr val="000000"/>
              </a:solidFill>
              <a:effectLst/>
              <a:uFillTx/>
              <a:latin typeface="Arial"/>
            </a:endParaRPr>
          </a:p>
        </p:txBody>
      </p:sp>
      <p:sp>
        <p:nvSpPr>
          <p:cNvPr id="412" name="Rounded Rectangle 14"/>
          <p:cNvSpPr/>
          <p:nvPr/>
        </p:nvSpPr>
        <p:spPr>
          <a:xfrm>
            <a:off x="777240" y="342900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Goal state</a:t>
            </a:r>
            <a:endParaRPr lang="en-US" sz="1300" b="0" u="none" strike="noStrike">
              <a:solidFill>
                <a:srgbClr val="000000"/>
              </a:solidFill>
              <a:effectLst/>
              <a:uFillTx/>
              <a:latin typeface="Arial"/>
            </a:endParaRPr>
          </a:p>
        </p:txBody>
      </p:sp>
      <p:sp>
        <p:nvSpPr>
          <p:cNvPr id="413" name="Rectangle 15"/>
          <p:cNvSpPr/>
          <p:nvPr/>
        </p:nvSpPr>
        <p:spPr>
          <a:xfrm>
            <a:off x="2697480" y="342900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 destination city — or something richer, like arriving on a nonstop flight</a:t>
            </a:r>
            <a:endParaRPr lang="en-US" sz="1300" b="0" u="none" strike="noStrike">
              <a:solidFill>
                <a:srgbClr val="000000"/>
              </a:solidFill>
              <a:effectLst/>
              <a:uFillTx/>
              <a:latin typeface="Arial"/>
            </a:endParaRPr>
          </a:p>
        </p:txBody>
      </p:sp>
      <p:sp>
        <p:nvSpPr>
          <p:cNvPr id="414" name="Rounded Rectangle 16"/>
          <p:cNvSpPr/>
          <p:nvPr/>
        </p:nvSpPr>
        <p:spPr>
          <a:xfrm>
            <a:off x="777240" y="39319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15" name="Rectangle 17"/>
          <p:cNvSpPr/>
          <p:nvPr/>
        </p:nvSpPr>
        <p:spPr>
          <a:xfrm>
            <a:off x="2697480" y="39319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Money, waiting time, flight time, customs, seat quality, aircraft type, reward points</a:t>
            </a:r>
            <a:endParaRPr lang="en-US" sz="1300" b="0" u="none" strike="noStrike">
              <a:solidFill>
                <a:srgbClr val="000000"/>
              </a:solidFill>
              <a:effectLst/>
              <a:uFillTx/>
              <a:latin typeface="Arial"/>
            </a:endParaRPr>
          </a:p>
        </p:txBody>
      </p:sp>
      <p:sp>
        <p:nvSpPr>
          <p:cNvPr id="416" name="Rounded Rectangle 18"/>
          <p:cNvSpPr/>
          <p:nvPr/>
        </p:nvSpPr>
        <p:spPr>
          <a:xfrm>
            <a:off x="8686800" y="1417320"/>
            <a:ext cx="2742840" cy="2011320"/>
          </a:xfrm>
          <a:prstGeom prst="roundRect">
            <a:avLst>
              <a:gd name="adj" fmla="val 45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17" name="Rectangle 19"/>
          <p:cNvSpPr/>
          <p:nvPr/>
        </p:nvSpPr>
        <p:spPr>
          <a:xfrm>
            <a:off x="8869680" y="1600200"/>
            <a:ext cx="2377080" cy="1645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r>
              <a:rPr lang="en-US" sz="1300" b="0" u="none" strike="noStrike">
                <a:solidFill>
                  <a:srgbClr val="FFFFFF"/>
                </a:solidFill>
                <a:effectLst/>
                <a:uFillTx/>
                <a:latin typeface="Aptos"/>
              </a:rPr>
              <a:t>Why does the state carry history?</a:t>
            </a:r>
            <a:endParaRPr lang="en-US" sz="1300" b="0" u="none" strike="noStrike">
              <a:solidFill>
                <a:srgbClr val="000000"/>
              </a:solidFill>
              <a:effectLst/>
              <a:uFillTx/>
              <a:latin typeface="Arial"/>
            </a:endParaRPr>
          </a:p>
          <a:p>
            <a:endParaRPr lang="en-US" sz="1300" b="0" u="none" strike="noStrike">
              <a:solidFill>
                <a:srgbClr val="000000"/>
              </a:solidFill>
              <a:effectLst/>
              <a:uFillTx/>
              <a:latin typeface="Arial"/>
            </a:endParaRPr>
          </a:p>
          <a:p>
            <a:pPr defTabSz="914400">
              <a:lnSpc>
                <a:spcPct val="100000"/>
              </a:lnSpc>
              <a:spcAft>
                <a:spcPts val="400"/>
              </a:spcAft>
            </a:pPr>
            <a:r>
              <a:rPr lang="en-US" sz="1300" b="0" u="none" strike="noStrike">
                <a:solidFill>
                  <a:srgbClr val="FFFFFF"/>
                </a:solidFill>
                <a:effectLst/>
                <a:uFillTx/>
                <a:latin typeface="Aptos"/>
              </a:rPr>
              <a:t>Because the cost of a flight segment depends on the fare basis of the segments already taken.</a:t>
            </a:r>
            <a:endParaRPr lang="en-US" sz="1300" b="0" u="none" strike="noStrike">
              <a:solidFill>
                <a:srgbClr val="000000"/>
              </a:solidFill>
              <a:effectLst/>
              <a:uFillTx/>
              <a:latin typeface="Arial"/>
            </a:endParaRPr>
          </a:p>
        </p:txBody>
      </p:sp>
      <p:sp>
        <p:nvSpPr>
          <p:cNvPr id="418" name="Rectangle 20"/>
          <p:cNvSpPr/>
          <p:nvPr/>
        </p:nvSpPr>
        <p:spPr>
          <a:xfrm>
            <a:off x="8686800" y="3611880"/>
            <a:ext cx="274284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250" b="1" u="none" strike="noStrike">
                <a:solidFill>
                  <a:srgbClr val="9B1C1C"/>
                </a:solidFill>
                <a:effectLst/>
                <a:uFillTx/>
                <a:latin typeface="Aptos"/>
              </a:rPr>
              <a:t>The cost function reads it, so it belongs in the state.</a:t>
            </a:r>
            <a:endParaRPr lang="en-US" sz="1250" b="0" u="none" strike="noStrike">
              <a:solidFill>
                <a:srgbClr val="000000"/>
              </a:solidFill>
              <a:effectLst/>
              <a:uFillTx/>
              <a:latin typeface="Arial"/>
            </a:endParaRPr>
          </a:p>
        </p:txBody>
      </p:sp>
      <p:sp>
        <p:nvSpPr>
          <p:cNvPr id="419" name="Rectangle 21"/>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Compare with the Pac-Man rule: drop any variable the goal test and the cost function never read.</a:t>
            </a:r>
            <a:endParaRPr lang="en-US" sz="1700" b="0" u="none" strike="noStrike">
              <a:solidFill>
                <a:srgbClr val="000000"/>
              </a:solidFill>
              <a:effectLst/>
              <a:uFillTx/>
              <a:latin typeface="Arial"/>
            </a:endParaRPr>
          </a:p>
        </p:txBody>
      </p:sp>
      <p:sp>
        <p:nvSpPr>
          <p:cNvPr id="420" name="Rectangle 22"/>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Here the cost function does read the past, so the past has to be part of the present state.</a:t>
            </a:r>
            <a:endParaRPr lang="en-US" sz="1500" b="0" u="none" strike="noStrike">
              <a:solidFill>
                <a:srgbClr val="000000"/>
              </a:solidFill>
              <a:effectLst/>
              <a:uFillTx/>
              <a:latin typeface="Arial"/>
            </a:endParaRPr>
          </a:p>
        </p:txBody>
      </p:sp>
      <p:sp>
        <p:nvSpPr>
          <p:cNvPr id="421" name="Rectangle 23"/>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And any usable system needs contingency plans for delays and missed connections — which is Chapter 4, not this one.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42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2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2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Your Turn: Formulate a Search Problem</a:t>
            </a:r>
            <a:endParaRPr lang="en-US" sz="2600" b="0" u="none" strike="noStrike">
              <a:solidFill>
                <a:srgbClr val="000000"/>
              </a:solidFill>
              <a:effectLst/>
              <a:uFillTx/>
              <a:latin typeface="Arial"/>
            </a:endParaRPr>
          </a:p>
        </p:txBody>
      </p:sp>
      <p:sp>
        <p:nvSpPr>
          <p:cNvPr id="42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2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27" name="Rounded Rectangle 6"/>
          <p:cNvSpPr/>
          <p:nvPr/>
        </p:nvSpPr>
        <p:spPr>
          <a:xfrm>
            <a:off x="777240" y="1417320"/>
            <a:ext cx="10637280" cy="68544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28" name="Rectangle 7"/>
          <p:cNvSpPr/>
          <p:nvPr/>
        </p:nvSpPr>
        <p:spPr>
          <a:xfrm>
            <a:off x="1051560" y="1508760"/>
            <a:ext cx="1008864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600" b="1" u="none" strike="noStrike">
                <a:solidFill>
                  <a:srgbClr val="112E5C"/>
                </a:solidFill>
                <a:effectLst/>
                <a:uFillTx/>
                <a:latin typeface="Aptos"/>
              </a:rPr>
              <a:t>You have a 3-litre jug and a 5-litre jug, neither with any markings, and an unlimited supply of water. Measure out exactly 4 litres.</a:t>
            </a:r>
            <a:endParaRPr lang="en-US" sz="1600" b="0" u="none" strike="noStrike">
              <a:solidFill>
                <a:srgbClr val="000000"/>
              </a:solidFill>
              <a:effectLst/>
              <a:uFillTx/>
              <a:latin typeface="Arial"/>
            </a:endParaRPr>
          </a:p>
        </p:txBody>
      </p:sp>
      <p:sp>
        <p:nvSpPr>
          <p:cNvPr id="429" name="Rounded Rectangle 8"/>
          <p:cNvSpPr/>
          <p:nvPr/>
        </p:nvSpPr>
        <p:spPr>
          <a:xfrm>
            <a:off x="777240" y="22860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30" name="Rounded Rectangle 9"/>
          <p:cNvSpPr/>
          <p:nvPr/>
        </p:nvSpPr>
        <p:spPr>
          <a:xfrm>
            <a:off x="2697480" y="22860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31" name="Rounded Rectangle 10"/>
          <p:cNvSpPr/>
          <p:nvPr/>
        </p:nvSpPr>
        <p:spPr>
          <a:xfrm>
            <a:off x="6263640" y="22860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32" name="Rounded Rectangle 11"/>
          <p:cNvSpPr/>
          <p:nvPr/>
        </p:nvSpPr>
        <p:spPr>
          <a:xfrm>
            <a:off x="8183880" y="22860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33" name="Rounded Rectangle 12"/>
          <p:cNvSpPr/>
          <p:nvPr/>
        </p:nvSpPr>
        <p:spPr>
          <a:xfrm>
            <a:off x="777240" y="29718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34" name="Rounded Rectangle 13"/>
          <p:cNvSpPr/>
          <p:nvPr/>
        </p:nvSpPr>
        <p:spPr>
          <a:xfrm>
            <a:off x="2697480" y="29718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35" name="Rounded Rectangle 14"/>
          <p:cNvSpPr/>
          <p:nvPr/>
        </p:nvSpPr>
        <p:spPr>
          <a:xfrm>
            <a:off x="6263640" y="29718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Transition model</a:t>
            </a:r>
            <a:endParaRPr lang="en-US" sz="1300" b="0" u="none" strike="noStrike">
              <a:solidFill>
                <a:srgbClr val="000000"/>
              </a:solidFill>
              <a:effectLst/>
              <a:uFillTx/>
              <a:latin typeface="Arial"/>
            </a:endParaRPr>
          </a:p>
        </p:txBody>
      </p:sp>
      <p:sp>
        <p:nvSpPr>
          <p:cNvPr id="436" name="Rounded Rectangle 15"/>
          <p:cNvSpPr/>
          <p:nvPr/>
        </p:nvSpPr>
        <p:spPr>
          <a:xfrm>
            <a:off x="8183880" y="29718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37" name="Rounded Rectangle 16"/>
          <p:cNvSpPr/>
          <p:nvPr/>
        </p:nvSpPr>
        <p:spPr>
          <a:xfrm>
            <a:off x="777240" y="36576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Goal test</a:t>
            </a:r>
            <a:endParaRPr lang="en-US" sz="1300" b="0" u="none" strike="noStrike">
              <a:solidFill>
                <a:srgbClr val="000000"/>
              </a:solidFill>
              <a:effectLst/>
              <a:uFillTx/>
              <a:latin typeface="Arial"/>
            </a:endParaRPr>
          </a:p>
        </p:txBody>
      </p:sp>
      <p:sp>
        <p:nvSpPr>
          <p:cNvPr id="438" name="Rounded Rectangle 17"/>
          <p:cNvSpPr/>
          <p:nvPr/>
        </p:nvSpPr>
        <p:spPr>
          <a:xfrm>
            <a:off x="2697480" y="36576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39" name="Rounded Rectangle 18"/>
          <p:cNvSpPr/>
          <p:nvPr/>
        </p:nvSpPr>
        <p:spPr>
          <a:xfrm>
            <a:off x="6263640" y="36576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40" name="Rounded Rectangle 19"/>
          <p:cNvSpPr/>
          <p:nvPr/>
        </p:nvSpPr>
        <p:spPr>
          <a:xfrm>
            <a:off x="8183880" y="36576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41" name="Rectangle 20"/>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Work in pairs. Five minutes. Write all six parts before you argue about any of them.</a:t>
            </a:r>
            <a:endParaRPr lang="en-US" sz="1700" b="0" u="none" strike="noStrike">
              <a:solidFill>
                <a:srgbClr val="000000"/>
              </a:solidFill>
              <a:effectLst/>
              <a:uFillTx/>
              <a:latin typeface="Arial"/>
            </a:endParaRPr>
          </a:p>
        </p:txBody>
      </p:sp>
      <p:sp>
        <p:nvSpPr>
          <p:cNvPr id="442" name="Rounded Rectangle 21"/>
          <p:cNvSpPr/>
          <p:nvPr/>
        </p:nvSpPr>
        <p:spPr>
          <a:xfrm>
            <a:off x="914400" y="4983480"/>
            <a:ext cx="10423800" cy="6397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43" name="Rectangle 22"/>
          <p:cNvSpPr/>
          <p:nvPr/>
        </p:nvSpPr>
        <p:spPr>
          <a:xfrm>
            <a:off x="1097280" y="5074920"/>
            <a:ext cx="1005804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400" b="1" u="none" strike="noStrike">
                <a:solidFill>
                  <a:srgbClr val="9B1C1C"/>
                </a:solidFill>
                <a:effectLst/>
                <a:uFillTx/>
                <a:latin typeface="Aptos"/>
              </a:rPr>
              <a:t>Watch for the trap: at least one variable you are tempted to include is never read by the goal test or the cost function.</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44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4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4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Your Turn: One Correct Formulation</a:t>
            </a:r>
            <a:endParaRPr lang="en-US" sz="2600" b="0" u="none" strike="noStrike">
              <a:solidFill>
                <a:srgbClr val="000000"/>
              </a:solidFill>
              <a:effectLst/>
              <a:uFillTx/>
              <a:latin typeface="Arial"/>
            </a:endParaRPr>
          </a:p>
        </p:txBody>
      </p:sp>
      <p:sp>
        <p:nvSpPr>
          <p:cNvPr id="44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4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49" name="Rounded Rectangle 6"/>
          <p:cNvSpPr/>
          <p:nvPr/>
        </p:nvSpPr>
        <p:spPr>
          <a:xfrm>
            <a:off x="777240" y="141732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50" name="Rectangle 7"/>
          <p:cNvSpPr/>
          <p:nvPr/>
        </p:nvSpPr>
        <p:spPr>
          <a:xfrm>
            <a:off x="2697480" y="14173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 b) where a is the content of the 3-litre jug and b of the 5-litre jug</a:t>
            </a:r>
            <a:endParaRPr lang="en-US" sz="1300" b="0" u="none" strike="noStrike">
              <a:solidFill>
                <a:srgbClr val="000000"/>
              </a:solidFill>
              <a:effectLst/>
              <a:uFillTx/>
              <a:latin typeface="Arial"/>
            </a:endParaRPr>
          </a:p>
        </p:txBody>
      </p:sp>
      <p:sp>
        <p:nvSpPr>
          <p:cNvPr id="451" name="Rounded Rectangle 8"/>
          <p:cNvSpPr/>
          <p:nvPr/>
        </p:nvSpPr>
        <p:spPr>
          <a:xfrm>
            <a:off x="777240" y="192024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52" name="Rectangle 9"/>
          <p:cNvSpPr/>
          <p:nvPr/>
        </p:nvSpPr>
        <p:spPr>
          <a:xfrm>
            <a:off x="2697480" y="192024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(0, 0)</a:t>
            </a:r>
            <a:endParaRPr lang="en-US" sz="1300" b="0" u="none" strike="noStrike">
              <a:solidFill>
                <a:srgbClr val="000000"/>
              </a:solidFill>
              <a:effectLst/>
              <a:uFillTx/>
              <a:latin typeface="Arial"/>
            </a:endParaRPr>
          </a:p>
        </p:txBody>
      </p:sp>
      <p:sp>
        <p:nvSpPr>
          <p:cNvPr id="453" name="Rounded Rectangle 10"/>
          <p:cNvSpPr/>
          <p:nvPr/>
        </p:nvSpPr>
        <p:spPr>
          <a:xfrm>
            <a:off x="777240" y="242316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54" name="Rectangle 11"/>
          <p:cNvSpPr/>
          <p:nvPr/>
        </p:nvSpPr>
        <p:spPr>
          <a:xfrm>
            <a:off x="2697480" y="242316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Fill A, Fill B, Empty A, Empty B, Pour A→B, Pour B→A</a:t>
            </a:r>
            <a:endParaRPr lang="en-US" sz="1300" b="0" u="none" strike="noStrike">
              <a:solidFill>
                <a:srgbClr val="000000"/>
              </a:solidFill>
              <a:effectLst/>
              <a:uFillTx/>
              <a:latin typeface="Arial"/>
            </a:endParaRPr>
          </a:p>
        </p:txBody>
      </p:sp>
      <p:sp>
        <p:nvSpPr>
          <p:cNvPr id="455" name="Rounded Rectangle 12"/>
          <p:cNvSpPr/>
          <p:nvPr/>
        </p:nvSpPr>
        <p:spPr>
          <a:xfrm>
            <a:off x="777240" y="292608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456" name="Rectangle 13"/>
          <p:cNvSpPr/>
          <p:nvPr/>
        </p:nvSpPr>
        <p:spPr>
          <a:xfrm>
            <a:off x="2697480" y="292608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 pour transfers min(source, capacity of destination − destination)</a:t>
            </a:r>
            <a:endParaRPr lang="en-US" sz="1300" b="0" u="none" strike="noStrike">
              <a:solidFill>
                <a:srgbClr val="000000"/>
              </a:solidFill>
              <a:effectLst/>
              <a:uFillTx/>
              <a:latin typeface="Arial"/>
            </a:endParaRPr>
          </a:p>
        </p:txBody>
      </p:sp>
      <p:sp>
        <p:nvSpPr>
          <p:cNvPr id="457" name="Rounded Rectangle 14"/>
          <p:cNvSpPr/>
          <p:nvPr/>
        </p:nvSpPr>
        <p:spPr>
          <a:xfrm>
            <a:off x="777240" y="342900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Goal test</a:t>
            </a:r>
            <a:endParaRPr lang="en-US" sz="1300" b="0" u="none" strike="noStrike">
              <a:solidFill>
                <a:srgbClr val="000000"/>
              </a:solidFill>
              <a:effectLst/>
              <a:uFillTx/>
              <a:latin typeface="Arial"/>
            </a:endParaRPr>
          </a:p>
        </p:txBody>
      </p:sp>
      <p:sp>
        <p:nvSpPr>
          <p:cNvPr id="458" name="Rectangle 15"/>
          <p:cNvSpPr/>
          <p:nvPr/>
        </p:nvSpPr>
        <p:spPr>
          <a:xfrm>
            <a:off x="2697480" y="342900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 = 4 or b = 4</a:t>
            </a:r>
            <a:endParaRPr lang="en-US" sz="1300" b="0" u="none" strike="noStrike">
              <a:solidFill>
                <a:srgbClr val="000000"/>
              </a:solidFill>
              <a:effectLst/>
              <a:uFillTx/>
              <a:latin typeface="Arial"/>
            </a:endParaRPr>
          </a:p>
        </p:txBody>
      </p:sp>
      <p:sp>
        <p:nvSpPr>
          <p:cNvPr id="459" name="Rounded Rectangle 16"/>
          <p:cNvSpPr/>
          <p:nvPr/>
        </p:nvSpPr>
        <p:spPr>
          <a:xfrm>
            <a:off x="777240" y="393192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60" name="Rectangle 17"/>
          <p:cNvSpPr/>
          <p:nvPr/>
        </p:nvSpPr>
        <p:spPr>
          <a:xfrm>
            <a:off x="2697480" y="39319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1 per action, so path cost is the number of actions</a:t>
            </a:r>
            <a:endParaRPr lang="en-US" sz="1300" b="0" u="none" strike="noStrike">
              <a:solidFill>
                <a:srgbClr val="000000"/>
              </a:solidFill>
              <a:effectLst/>
              <a:uFillTx/>
              <a:latin typeface="Arial"/>
            </a:endParaRPr>
          </a:p>
        </p:txBody>
      </p:sp>
      <p:sp>
        <p:nvSpPr>
          <p:cNvPr id="461" name="Rectangle 18"/>
          <p:cNvSpPr/>
          <p:nvPr/>
        </p:nvSpPr>
        <p:spPr>
          <a:xfrm>
            <a:off x="8686800" y="141732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2600" b="1" u="none" strike="noStrike">
                <a:solidFill>
                  <a:srgbClr val="112E5C"/>
                </a:solidFill>
                <a:effectLst/>
                <a:uFillTx/>
                <a:latin typeface="Aptos"/>
              </a:rPr>
              <a:t>24</a:t>
            </a:r>
            <a:endParaRPr lang="en-US" sz="2600" b="0" u="none" strike="noStrike">
              <a:solidFill>
                <a:srgbClr val="000000"/>
              </a:solidFill>
              <a:effectLst/>
              <a:uFillTx/>
              <a:latin typeface="Arial"/>
            </a:endParaRPr>
          </a:p>
        </p:txBody>
      </p:sp>
      <p:sp>
        <p:nvSpPr>
          <p:cNvPr id="462" name="Rectangle 19"/>
          <p:cNvSpPr/>
          <p:nvPr/>
        </p:nvSpPr>
        <p:spPr>
          <a:xfrm>
            <a:off x="8686800" y="192024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states: 4 × 6</a:t>
            </a:r>
            <a:endParaRPr lang="en-US" sz="1200" b="0" u="none" strike="noStrike">
              <a:solidFill>
                <a:srgbClr val="000000"/>
              </a:solidFill>
              <a:effectLst/>
              <a:uFillTx/>
              <a:latin typeface="Arial"/>
            </a:endParaRPr>
          </a:p>
        </p:txBody>
      </p:sp>
      <p:sp>
        <p:nvSpPr>
          <p:cNvPr id="463" name="Rectangle 20"/>
          <p:cNvSpPr/>
          <p:nvPr/>
        </p:nvSpPr>
        <p:spPr>
          <a:xfrm>
            <a:off x="8686800" y="224028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2600" b="1" u="none" strike="noStrike">
                <a:solidFill>
                  <a:srgbClr val="112E5C"/>
                </a:solidFill>
                <a:effectLst/>
                <a:uFillTx/>
                <a:latin typeface="Aptos"/>
              </a:rPr>
              <a:t>6</a:t>
            </a:r>
            <a:endParaRPr lang="en-US" sz="2600" b="0" u="none" strike="noStrike">
              <a:solidFill>
                <a:srgbClr val="000000"/>
              </a:solidFill>
              <a:effectLst/>
              <a:uFillTx/>
              <a:latin typeface="Arial"/>
            </a:endParaRPr>
          </a:p>
        </p:txBody>
      </p:sp>
      <p:sp>
        <p:nvSpPr>
          <p:cNvPr id="464" name="Rectangle 21"/>
          <p:cNvSpPr/>
          <p:nvPr/>
        </p:nvSpPr>
        <p:spPr>
          <a:xfrm>
            <a:off x="8686800" y="274320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actions</a:t>
            </a:r>
            <a:endParaRPr lang="en-US" sz="1200" b="0" u="none" strike="noStrike">
              <a:solidFill>
                <a:srgbClr val="000000"/>
              </a:solidFill>
              <a:effectLst/>
              <a:uFillTx/>
              <a:latin typeface="Arial"/>
            </a:endParaRPr>
          </a:p>
        </p:txBody>
      </p:sp>
      <p:sp>
        <p:nvSpPr>
          <p:cNvPr id="465" name="Rectangle 22"/>
          <p:cNvSpPr/>
          <p:nvPr/>
        </p:nvSpPr>
        <p:spPr>
          <a:xfrm>
            <a:off x="8686800" y="306324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2600" b="1" u="none" strike="noStrike">
                <a:solidFill>
                  <a:srgbClr val="112E5C"/>
                </a:solidFill>
                <a:effectLst/>
                <a:uFillTx/>
                <a:latin typeface="Aptos"/>
              </a:rPr>
              <a:t>6</a:t>
            </a:r>
            <a:endParaRPr lang="en-US" sz="2600" b="0" u="none" strike="noStrike">
              <a:solidFill>
                <a:srgbClr val="000000"/>
              </a:solidFill>
              <a:effectLst/>
              <a:uFillTx/>
              <a:latin typeface="Arial"/>
            </a:endParaRPr>
          </a:p>
        </p:txBody>
      </p:sp>
      <p:sp>
        <p:nvSpPr>
          <p:cNvPr id="466" name="Rectangle 23"/>
          <p:cNvSpPr/>
          <p:nvPr/>
        </p:nvSpPr>
        <p:spPr>
          <a:xfrm>
            <a:off x="8686800" y="356616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actions in the shortest solution</a:t>
            </a:r>
            <a:endParaRPr lang="en-US" sz="1200" b="0" u="none" strike="noStrike">
              <a:solidFill>
                <a:srgbClr val="000000"/>
              </a:solidFill>
              <a:effectLst/>
              <a:uFillTx/>
              <a:latin typeface="Arial"/>
            </a:endParaRPr>
          </a:p>
        </p:txBody>
      </p:sp>
      <p:sp>
        <p:nvSpPr>
          <p:cNvPr id="467" name="Rectangle 24"/>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The state is exactly the pair of jug contents. Nothing else is ever consulted.</a:t>
            </a:r>
            <a:endParaRPr lang="en-US" sz="1700" b="0" u="none" strike="noStrike">
              <a:solidFill>
                <a:srgbClr val="000000"/>
              </a:solidFill>
              <a:effectLst/>
              <a:uFillTx/>
              <a:latin typeface="Arial"/>
            </a:endParaRPr>
          </a:p>
        </p:txBody>
      </p:sp>
      <p:sp>
        <p:nvSpPr>
          <p:cNvPr id="468" name="Rectangle 2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Not in the state: how much water you have poured in total, how long it took, or the number 4 itself.</a:t>
            </a:r>
            <a:endParaRPr lang="en-US" sz="1500" b="0" u="none" strike="noStrike">
              <a:solidFill>
                <a:srgbClr val="000000"/>
              </a:solidFill>
              <a:effectLst/>
              <a:uFillTx/>
              <a:latin typeface="Arial"/>
            </a:endParaRPr>
          </a:p>
        </p:txBody>
      </p:sp>
      <p:sp>
        <p:nvSpPr>
          <p:cNvPr id="469" name="Rectangle 26"/>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The goal is a property of a state, not a state you have to name in advance.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2E5C"/>
        </a:solidFill>
      </p:bgPr>
    </p:bg>
    <p:spTree>
      <p:nvGrpSpPr>
        <p:cNvPr id="1" name=""/>
        <p:cNvGrpSpPr/>
        <p:nvPr/>
      </p:nvGrpSpPr>
      <p:grpSpPr>
        <a:xfrm>
          <a:off x="0" y="0"/>
          <a:ext cx="0" cy="0"/>
          <a:chOff x="0" y="0"/>
          <a:chExt cx="0" cy="0"/>
        </a:xfrm>
      </p:grpSpPr>
      <p:sp>
        <p:nvSpPr>
          <p:cNvPr id="470" name="Shape 0"/>
          <p:cNvSpPr/>
          <p:nvPr/>
        </p:nvSpPr>
        <p:spPr>
          <a:xfrm>
            <a:off x="0" y="0"/>
            <a:ext cx="12191400" cy="68576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1" name="Shape 1"/>
          <p:cNvSpPr/>
          <p:nvPr/>
        </p:nvSpPr>
        <p:spPr>
          <a:xfrm>
            <a:off x="0" y="5440680"/>
            <a:ext cx="12191400" cy="109440"/>
          </a:xfrm>
          <a:prstGeom prst="rect">
            <a:avLst/>
          </a:prstGeom>
          <a:solidFill>
            <a:srgbClr val="F6A01A"/>
          </a:solidFill>
          <a:ln w="1270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2" name="Text 2"/>
          <p:cNvSpPr/>
          <p:nvPr/>
        </p:nvSpPr>
        <p:spPr>
          <a:xfrm>
            <a:off x="914400" y="2240280"/>
            <a:ext cx="10332360" cy="502560"/>
          </a:xfrm>
          <a:prstGeom prst="rect">
            <a:avLst/>
          </a:prstGeom>
          <a:noFill/>
          <a:ln w="0">
            <a:noFill/>
          </a:ln>
        </p:spPr>
        <p:style>
          <a:lnRef idx="0"/>
          <a:fillRef idx="0"/>
          <a:effectRef idx="0"/>
          <a:fontRef idx="minor"/>
        </p:style>
        <p:txBody>
          <a:bodyPr lIns="720" tIns="720" rIns="720" bIns="720" anchor="ctr">
            <a:normAutofit lnSpcReduction="9999"/>
          </a:bodyPr>
          <a:p>
            <a:pPr algn="ctr" defTabSz="914400">
              <a:lnSpc>
                <a:spcPct val="100000"/>
              </a:lnSpc>
              <a:tabLst>
                <a:tab pos="0" algn="l"/>
              </a:tabLst>
            </a:pPr>
            <a:r>
              <a:rPr lang="en-US" sz="3600" b="1" u="none" strike="noStrike">
                <a:solidFill>
                  <a:srgbClr val="FFFFFF"/>
                </a:solidFill>
                <a:effectLst/>
                <a:uFillTx/>
                <a:latin typeface="Aptos"/>
              </a:rPr>
              <a:t>Section 3.3</a:t>
            </a:r>
            <a:endParaRPr lang="en-US" sz="3600" b="0" u="none" strike="noStrike">
              <a:solidFill>
                <a:srgbClr val="FFFFFF"/>
              </a:solidFill>
              <a:effectLst/>
              <a:uFillTx/>
              <a:latin typeface="Arial"/>
            </a:endParaRPr>
          </a:p>
        </p:txBody>
      </p:sp>
      <p:sp>
        <p:nvSpPr>
          <p:cNvPr id="473" name="Text 3"/>
          <p:cNvSpPr/>
          <p:nvPr/>
        </p:nvSpPr>
        <p:spPr>
          <a:xfrm>
            <a:off x="914400" y="2971800"/>
            <a:ext cx="10332360" cy="3654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700" b="0" u="none" strike="noStrike">
                <a:solidFill>
                  <a:srgbClr val="DCE8FF"/>
                </a:solidFill>
                <a:effectLst/>
                <a:uFillTx/>
                <a:latin typeface="Aptos"/>
              </a:rPr>
              <a:t>Search Algorithms: state space, search tree, frontier, reached table</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474"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5"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76"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State Space Graph vs. Search Tree</a:t>
            </a:r>
            <a:endParaRPr lang="en-US" sz="2600" b="0" u="none" strike="noStrike">
              <a:solidFill>
                <a:srgbClr val="000000"/>
              </a:solidFill>
              <a:effectLst/>
              <a:uFillTx/>
              <a:latin typeface="Arial"/>
            </a:endParaRPr>
          </a:p>
        </p:txBody>
      </p:sp>
      <p:sp>
        <p:nvSpPr>
          <p:cNvPr id="477"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78"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79" name="Text 5"/>
          <p:cNvSpPr/>
          <p:nvPr/>
        </p:nvSpPr>
        <p:spPr>
          <a:xfrm>
            <a:off x="777240" y="1325880"/>
            <a:ext cx="4023000" cy="50256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2F7FD5"/>
                </a:solidFill>
                <a:effectLst/>
                <a:uFillTx/>
                <a:latin typeface="Aptos"/>
              </a:rPr>
              <a:t>State space graph</a:t>
            </a:r>
            <a:endParaRPr lang="en-US" sz="1700" b="0" u="none" strike="noStrike">
              <a:solidFill>
                <a:srgbClr val="000000"/>
              </a:solidFill>
              <a:effectLst/>
              <a:uFillTx/>
              <a:latin typeface="Arial"/>
            </a:endParaRPr>
          </a:p>
        </p:txBody>
      </p:sp>
      <p:sp>
        <p:nvSpPr>
          <p:cNvPr id="480" name="Text 6"/>
          <p:cNvSpPr/>
          <p:nvPr/>
        </p:nvSpPr>
        <p:spPr>
          <a:xfrm>
            <a:off x="914400" y="1965960"/>
            <a:ext cx="3748680" cy="23770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00" b="0" u="none" strike="noStrike">
                <a:solidFill>
                  <a:srgbClr val="102A4C"/>
                </a:solidFill>
                <a:effectLst/>
                <a:uFillTx/>
                <a:latin typeface="Aptos"/>
              </a:rPr>
              <a:t>States are vertices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Actions are directed edges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Each state appears once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Usually too large to build fully</a:t>
            </a:r>
            <a:endParaRPr lang="en-US" sz="1500" b="0" u="none" strike="noStrike">
              <a:solidFill>
                <a:srgbClr val="000000"/>
              </a:solidFill>
              <a:effectLst/>
              <a:uFillTx/>
              <a:latin typeface="Arial"/>
            </a:endParaRPr>
          </a:p>
        </p:txBody>
      </p:sp>
      <p:sp>
        <p:nvSpPr>
          <p:cNvPr id="481" name="Text 7"/>
          <p:cNvSpPr/>
          <p:nvPr/>
        </p:nvSpPr>
        <p:spPr>
          <a:xfrm>
            <a:off x="7406640" y="1325880"/>
            <a:ext cx="4023000" cy="50256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12E5C"/>
                </a:solidFill>
                <a:effectLst/>
                <a:uFillTx/>
                <a:latin typeface="Aptos"/>
              </a:rPr>
              <a:t>Search tree</a:t>
            </a:r>
            <a:endParaRPr lang="en-US" sz="1700" b="0" u="none" strike="noStrike">
              <a:solidFill>
                <a:srgbClr val="000000"/>
              </a:solidFill>
              <a:effectLst/>
              <a:uFillTx/>
              <a:latin typeface="Arial"/>
            </a:endParaRPr>
          </a:p>
        </p:txBody>
      </p:sp>
      <p:sp>
        <p:nvSpPr>
          <p:cNvPr id="482" name="Text 8"/>
          <p:cNvSpPr/>
          <p:nvPr/>
        </p:nvSpPr>
        <p:spPr>
          <a:xfrm>
            <a:off x="7543800" y="1965960"/>
            <a:ext cx="3748680" cy="23770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00" b="0" u="none" strike="noStrike">
                <a:solidFill>
                  <a:srgbClr val="102A4C"/>
                </a:solidFill>
                <a:effectLst/>
                <a:uFillTx/>
                <a:latin typeface="Aptos"/>
              </a:rPr>
              <a:t>Nodes represent paths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Root is the initial state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Children are successors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Same state can appear many times</a:t>
            </a:r>
            <a:endParaRPr lang="en-US" sz="1500" b="0" u="none" strike="noStrike">
              <a:solidFill>
                <a:srgbClr val="000000"/>
              </a:solidFill>
              <a:effectLst/>
              <a:uFillTx/>
              <a:latin typeface="Arial"/>
            </a:endParaRPr>
          </a:p>
        </p:txBody>
      </p:sp>
      <p:sp>
        <p:nvSpPr>
          <p:cNvPr id="483" name="Shape 9"/>
          <p:cNvSpPr/>
          <p:nvPr/>
        </p:nvSpPr>
        <p:spPr>
          <a:xfrm>
            <a:off x="5074920" y="2743200"/>
            <a:ext cx="2011680" cy="360"/>
          </a:xfrm>
          <a:prstGeom prst="line">
            <a:avLst/>
          </a:prstGeom>
          <a:ln w="2540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84" name="Text 10"/>
          <p:cNvSpPr/>
          <p:nvPr/>
        </p:nvSpPr>
        <p:spPr>
          <a:xfrm>
            <a:off x="2743200" y="4846320"/>
            <a:ext cx="6766200" cy="50256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900" b="1" u="none" strike="noStrike">
                <a:solidFill>
                  <a:srgbClr val="112E5C"/>
                </a:solidFill>
                <a:effectLst/>
                <a:uFillTx/>
                <a:latin typeface="Aptos"/>
              </a:rPr>
              <a:t>Search overlays a tree of possible plans on top of the state-space graph.</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485"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6"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87"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Build: State Space Graph</a:t>
            </a:r>
            <a:endParaRPr lang="en-US" sz="2600" b="0" u="none" strike="noStrike">
              <a:solidFill>
                <a:srgbClr val="000000"/>
              </a:solidFill>
              <a:effectLst/>
              <a:uFillTx/>
              <a:latin typeface="Arial"/>
            </a:endParaRPr>
          </a:p>
        </p:txBody>
      </p:sp>
      <p:sp>
        <p:nvSpPr>
          <p:cNvPr id="488"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89"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90" name="Shape 5"/>
          <p:cNvSpPr/>
          <p:nvPr/>
        </p:nvSpPr>
        <p:spPr>
          <a:xfrm flipV="1">
            <a:off x="1411560" y="2311560"/>
            <a:ext cx="746280" cy="4352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91" name="Shape 6"/>
          <p:cNvSpPr/>
          <p:nvPr/>
        </p:nvSpPr>
        <p:spPr>
          <a:xfrm>
            <a:off x="1411560" y="2746800"/>
            <a:ext cx="746280" cy="4971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92" name="Shape 7"/>
          <p:cNvSpPr/>
          <p:nvPr/>
        </p:nvSpPr>
        <p:spPr>
          <a:xfrm flipV="1">
            <a:off x="2157840" y="1969560"/>
            <a:ext cx="652680" cy="3420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93" name="Shape 8"/>
          <p:cNvSpPr/>
          <p:nvPr/>
        </p:nvSpPr>
        <p:spPr>
          <a:xfrm>
            <a:off x="2157840" y="2311560"/>
            <a:ext cx="808200" cy="4039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94" name="Shape 9"/>
          <p:cNvSpPr/>
          <p:nvPr/>
        </p:nvSpPr>
        <p:spPr>
          <a:xfrm>
            <a:off x="2157840" y="2311560"/>
            <a:ext cx="1585440" cy="2797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95" name="Shape 10"/>
          <p:cNvSpPr/>
          <p:nvPr/>
        </p:nvSpPr>
        <p:spPr>
          <a:xfrm flipV="1">
            <a:off x="2810520" y="1751760"/>
            <a:ext cx="684000" cy="2178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96" name="Shape 11"/>
          <p:cNvSpPr/>
          <p:nvPr/>
        </p:nvSpPr>
        <p:spPr>
          <a:xfrm flipH="1">
            <a:off x="2966040" y="1751760"/>
            <a:ext cx="528480" cy="9637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97" name="Shape 12"/>
          <p:cNvSpPr/>
          <p:nvPr/>
        </p:nvSpPr>
        <p:spPr>
          <a:xfrm flipV="1">
            <a:off x="2966040" y="1751760"/>
            <a:ext cx="528480" cy="9637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98" name="Shape 13"/>
          <p:cNvSpPr/>
          <p:nvPr/>
        </p:nvSpPr>
        <p:spPr>
          <a:xfrm flipV="1">
            <a:off x="2966040" y="2591280"/>
            <a:ext cx="777240" cy="1242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99" name="Shape 14"/>
          <p:cNvSpPr/>
          <p:nvPr/>
        </p:nvSpPr>
        <p:spPr>
          <a:xfrm flipH="1">
            <a:off x="3463560" y="2591280"/>
            <a:ext cx="279720" cy="6840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00" name="Shape 15"/>
          <p:cNvSpPr/>
          <p:nvPr/>
        </p:nvSpPr>
        <p:spPr>
          <a:xfrm flipH="1" flipV="1">
            <a:off x="2157840" y="3243960"/>
            <a:ext cx="1305720" cy="31320"/>
          </a:xfrm>
          <a:prstGeom prst="line">
            <a:avLst/>
          </a:prstGeom>
          <a:ln w="13970">
            <a:solidFill>
              <a:srgbClr val="5C6B80"/>
            </a:solidFill>
            <a:round/>
            <a:tailEnd len="med" type="triangle" w="med"/>
          </a:ln>
        </p:spPr>
        <p:style>
          <a:lnRef idx="0"/>
          <a:fillRef idx="0"/>
          <a:effectRef idx="0"/>
          <a:fontRef idx="minor"/>
        </p:style>
        <p:txBody>
          <a:bodyPr lIns="90000" tIns="-13680" rIns="90000" bIns="-13680" anchor="t" anchorCtr="1">
            <a:noAutofit/>
          </a:bodyPr>
          <a:p>
            <a:endParaRPr lang="en-US" sz="1800" b="0" u="none" strike="noStrike">
              <a:solidFill>
                <a:srgbClr val="000000"/>
              </a:solidFill>
              <a:effectLst/>
              <a:uFillTx/>
              <a:latin typeface="Arial"/>
            </a:endParaRPr>
          </a:p>
        </p:txBody>
      </p:sp>
      <p:sp>
        <p:nvSpPr>
          <p:cNvPr id="501" name="Shape 16"/>
          <p:cNvSpPr/>
          <p:nvPr/>
        </p:nvSpPr>
        <p:spPr>
          <a:xfrm>
            <a:off x="2157840" y="3243960"/>
            <a:ext cx="684000" cy="5288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02" name="Shape 17"/>
          <p:cNvSpPr/>
          <p:nvPr/>
        </p:nvSpPr>
        <p:spPr>
          <a:xfrm flipV="1">
            <a:off x="2841840" y="3275280"/>
            <a:ext cx="621720" cy="4975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03" name="Shape 18"/>
          <p:cNvSpPr/>
          <p:nvPr/>
        </p:nvSpPr>
        <p:spPr>
          <a:xfrm>
            <a:off x="3743280" y="2591280"/>
            <a:ext cx="684000" cy="7149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04" name="Shape 19"/>
          <p:cNvSpPr/>
          <p:nvPr/>
        </p:nvSpPr>
        <p:spPr>
          <a:xfrm flipV="1">
            <a:off x="4427280" y="2871000"/>
            <a:ext cx="590760" cy="4352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05" name="Shape 20"/>
          <p:cNvSpPr/>
          <p:nvPr/>
        </p:nvSpPr>
        <p:spPr>
          <a:xfrm flipH="1" flipV="1">
            <a:off x="2966040" y="2715480"/>
            <a:ext cx="2052000" cy="1555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06" name="Shape 21"/>
          <p:cNvSpPr/>
          <p:nvPr/>
        </p:nvSpPr>
        <p:spPr>
          <a:xfrm flipV="1">
            <a:off x="5018040" y="2218320"/>
            <a:ext cx="528480" cy="6526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07" name="Text 22"/>
          <p:cNvSpPr/>
          <p:nvPr/>
        </p:nvSpPr>
        <p:spPr>
          <a:xfrm>
            <a:off x="1265400" y="260064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08" name="Text 23"/>
          <p:cNvSpPr/>
          <p:nvPr/>
        </p:nvSpPr>
        <p:spPr>
          <a:xfrm>
            <a:off x="2011680" y="21654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09" name="Text 24"/>
          <p:cNvSpPr/>
          <p:nvPr/>
        </p:nvSpPr>
        <p:spPr>
          <a:xfrm>
            <a:off x="2011680" y="30981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10" name="Text 25"/>
          <p:cNvSpPr/>
          <p:nvPr/>
        </p:nvSpPr>
        <p:spPr>
          <a:xfrm>
            <a:off x="2664720" y="18234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511" name="Text 26"/>
          <p:cNvSpPr/>
          <p:nvPr/>
        </p:nvSpPr>
        <p:spPr>
          <a:xfrm>
            <a:off x="2819880" y="25693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512" name="Text 27"/>
          <p:cNvSpPr/>
          <p:nvPr/>
        </p:nvSpPr>
        <p:spPr>
          <a:xfrm>
            <a:off x="3597120" y="24451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513" name="Text 28"/>
          <p:cNvSpPr/>
          <p:nvPr/>
        </p:nvSpPr>
        <p:spPr>
          <a:xfrm>
            <a:off x="3317400" y="31291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514" name="Text 29"/>
          <p:cNvSpPr/>
          <p:nvPr/>
        </p:nvSpPr>
        <p:spPr>
          <a:xfrm>
            <a:off x="2695680" y="36266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515" name="Text 30"/>
          <p:cNvSpPr/>
          <p:nvPr/>
        </p:nvSpPr>
        <p:spPr>
          <a:xfrm>
            <a:off x="3348360" y="16056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516" name="Text 31"/>
          <p:cNvSpPr/>
          <p:nvPr/>
        </p:nvSpPr>
        <p:spPr>
          <a:xfrm>
            <a:off x="4281120" y="31600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517" name="Text 32"/>
          <p:cNvSpPr/>
          <p:nvPr/>
        </p:nvSpPr>
        <p:spPr>
          <a:xfrm>
            <a:off x="4871880" y="2724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518" name="Text 33"/>
          <p:cNvSpPr/>
          <p:nvPr/>
        </p:nvSpPr>
        <p:spPr>
          <a:xfrm>
            <a:off x="5400360" y="20721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519" name="Text 34"/>
          <p:cNvSpPr/>
          <p:nvPr/>
        </p:nvSpPr>
        <p:spPr>
          <a:xfrm>
            <a:off x="6858000" y="1828800"/>
            <a:ext cx="4388760" cy="82260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2000" b="1" u="none" strike="noStrike">
                <a:solidFill>
                  <a:srgbClr val="102A4C"/>
                </a:solidFill>
                <a:effectLst/>
                <a:uFillTx/>
                <a:latin typeface="Aptos"/>
              </a:rPr>
              <a:t>Graph view: one node per abstract state, arcs represent action results.</a:t>
            </a:r>
            <a:endParaRPr lang="en-US" sz="2000" b="0" u="none" strike="noStrike">
              <a:solidFill>
                <a:srgbClr val="000000"/>
              </a:solidFill>
              <a:effectLst/>
              <a:uFillTx/>
              <a:latin typeface="Arial"/>
            </a:endParaRPr>
          </a:p>
        </p:txBody>
      </p:sp>
      <p:sp>
        <p:nvSpPr>
          <p:cNvPr id="520" name="Text 35"/>
          <p:cNvSpPr/>
          <p:nvPr/>
        </p:nvSpPr>
        <p:spPr>
          <a:xfrm>
            <a:off x="6903720" y="3017520"/>
            <a:ext cx="4297320" cy="10969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5C6B80"/>
                </a:solidFill>
                <a:effectLst/>
                <a:uFillTx/>
                <a:latin typeface="Aptos"/>
              </a:rPr>
              <a:t>This graph is a mathematical representation of the problem. We rarely store the whole thing in memory.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521"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22"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523"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Build: Search Tree Root and First Frontier</a:t>
            </a:r>
            <a:endParaRPr lang="en-US" sz="2600" b="0" u="none" strike="noStrike">
              <a:solidFill>
                <a:srgbClr val="000000"/>
              </a:solidFill>
              <a:effectLst/>
              <a:uFillTx/>
              <a:latin typeface="Arial"/>
            </a:endParaRPr>
          </a:p>
        </p:txBody>
      </p:sp>
      <p:sp>
        <p:nvSpPr>
          <p:cNvPr id="524"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25"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26" name="Shape 5"/>
          <p:cNvSpPr/>
          <p:nvPr/>
        </p:nvSpPr>
        <p:spPr>
          <a:xfrm flipV="1">
            <a:off x="1080720" y="2042640"/>
            <a:ext cx="592560" cy="3456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27" name="Shape 6"/>
          <p:cNvSpPr/>
          <p:nvPr/>
        </p:nvSpPr>
        <p:spPr>
          <a:xfrm>
            <a:off x="1080720" y="2388240"/>
            <a:ext cx="592560" cy="3949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28" name="Shape 7"/>
          <p:cNvSpPr/>
          <p:nvPr/>
        </p:nvSpPr>
        <p:spPr>
          <a:xfrm flipV="1">
            <a:off x="1673280" y="1770840"/>
            <a:ext cx="518400" cy="2718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29" name="Shape 8"/>
          <p:cNvSpPr/>
          <p:nvPr/>
        </p:nvSpPr>
        <p:spPr>
          <a:xfrm>
            <a:off x="1673280" y="2042640"/>
            <a:ext cx="641880" cy="3207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30" name="Shape 9"/>
          <p:cNvSpPr/>
          <p:nvPr/>
        </p:nvSpPr>
        <p:spPr>
          <a:xfrm>
            <a:off x="1673280" y="2042640"/>
            <a:ext cx="1258920" cy="2221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31" name="Shape 10"/>
          <p:cNvSpPr/>
          <p:nvPr/>
        </p:nvSpPr>
        <p:spPr>
          <a:xfrm flipV="1">
            <a:off x="2191680" y="1598040"/>
            <a:ext cx="543240" cy="1728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32" name="Shape 11"/>
          <p:cNvSpPr/>
          <p:nvPr/>
        </p:nvSpPr>
        <p:spPr>
          <a:xfrm flipH="1">
            <a:off x="2315160" y="1598040"/>
            <a:ext cx="419760" cy="7653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33" name="Shape 12"/>
          <p:cNvSpPr/>
          <p:nvPr/>
        </p:nvSpPr>
        <p:spPr>
          <a:xfrm flipV="1">
            <a:off x="2315160" y="1598040"/>
            <a:ext cx="419760" cy="7653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34" name="Shape 13"/>
          <p:cNvSpPr/>
          <p:nvPr/>
        </p:nvSpPr>
        <p:spPr>
          <a:xfrm flipV="1">
            <a:off x="2315160" y="2264760"/>
            <a:ext cx="617040" cy="986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35" name="Shape 14"/>
          <p:cNvSpPr/>
          <p:nvPr/>
        </p:nvSpPr>
        <p:spPr>
          <a:xfrm flipH="1">
            <a:off x="2710080" y="2264760"/>
            <a:ext cx="222120" cy="5432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36" name="Shape 15"/>
          <p:cNvSpPr/>
          <p:nvPr/>
        </p:nvSpPr>
        <p:spPr>
          <a:xfrm flipH="1" flipV="1">
            <a:off x="1673280" y="2783160"/>
            <a:ext cx="1036800" cy="24840"/>
          </a:xfrm>
          <a:prstGeom prst="line">
            <a:avLst/>
          </a:prstGeom>
          <a:ln w="13970">
            <a:solidFill>
              <a:srgbClr val="5C6B80"/>
            </a:solidFill>
            <a:round/>
            <a:tailEnd len="med" type="triangle" w="med"/>
          </a:ln>
        </p:spPr>
        <p:style>
          <a:lnRef idx="0"/>
          <a:fillRef idx="0"/>
          <a:effectRef idx="0"/>
          <a:fontRef idx="minor"/>
        </p:style>
        <p:txBody>
          <a:bodyPr lIns="90000" tIns="-20160" rIns="90000" bIns="-20160" anchor="t" anchorCtr="1">
            <a:noAutofit/>
          </a:bodyPr>
          <a:p>
            <a:endParaRPr lang="en-US" sz="1800" b="0" u="none" strike="noStrike">
              <a:solidFill>
                <a:srgbClr val="000000"/>
              </a:solidFill>
              <a:effectLst/>
              <a:uFillTx/>
              <a:latin typeface="Arial"/>
            </a:endParaRPr>
          </a:p>
        </p:txBody>
      </p:sp>
      <p:sp>
        <p:nvSpPr>
          <p:cNvPr id="537" name="Shape 16"/>
          <p:cNvSpPr/>
          <p:nvPr/>
        </p:nvSpPr>
        <p:spPr>
          <a:xfrm>
            <a:off x="1673280" y="2783160"/>
            <a:ext cx="542880" cy="4197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38" name="Shape 17"/>
          <p:cNvSpPr/>
          <p:nvPr/>
        </p:nvSpPr>
        <p:spPr>
          <a:xfrm flipV="1">
            <a:off x="2216160" y="2808000"/>
            <a:ext cx="493920" cy="3949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39" name="Shape 18"/>
          <p:cNvSpPr/>
          <p:nvPr/>
        </p:nvSpPr>
        <p:spPr>
          <a:xfrm>
            <a:off x="2932200" y="2264760"/>
            <a:ext cx="543240" cy="5677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40" name="Shape 19"/>
          <p:cNvSpPr/>
          <p:nvPr/>
        </p:nvSpPr>
        <p:spPr>
          <a:xfrm flipV="1">
            <a:off x="3475440" y="2486880"/>
            <a:ext cx="469080" cy="3456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41" name="Shape 20"/>
          <p:cNvSpPr/>
          <p:nvPr/>
        </p:nvSpPr>
        <p:spPr>
          <a:xfrm flipH="1" flipV="1">
            <a:off x="2315160" y="2363400"/>
            <a:ext cx="1629360" cy="1234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42" name="Shape 21"/>
          <p:cNvSpPr/>
          <p:nvPr/>
        </p:nvSpPr>
        <p:spPr>
          <a:xfrm flipV="1">
            <a:off x="3944520" y="1968480"/>
            <a:ext cx="419760" cy="5184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43" name="Text 22"/>
          <p:cNvSpPr/>
          <p:nvPr/>
        </p:nvSpPr>
        <p:spPr>
          <a:xfrm>
            <a:off x="934560" y="224208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44" name="Text 23"/>
          <p:cNvSpPr/>
          <p:nvPr/>
        </p:nvSpPr>
        <p:spPr>
          <a:xfrm>
            <a:off x="1527120" y="18964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45" name="Text 24"/>
          <p:cNvSpPr/>
          <p:nvPr/>
        </p:nvSpPr>
        <p:spPr>
          <a:xfrm>
            <a:off x="1527120" y="26370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46" name="Text 25"/>
          <p:cNvSpPr/>
          <p:nvPr/>
        </p:nvSpPr>
        <p:spPr>
          <a:xfrm>
            <a:off x="2045520" y="16250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547" name="Text 26"/>
          <p:cNvSpPr/>
          <p:nvPr/>
        </p:nvSpPr>
        <p:spPr>
          <a:xfrm>
            <a:off x="2169000" y="22176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548" name="Text 27"/>
          <p:cNvSpPr/>
          <p:nvPr/>
        </p:nvSpPr>
        <p:spPr>
          <a:xfrm>
            <a:off x="2786040" y="21186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549" name="Text 28"/>
          <p:cNvSpPr/>
          <p:nvPr/>
        </p:nvSpPr>
        <p:spPr>
          <a:xfrm>
            <a:off x="2563920" y="2661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550" name="Text 29"/>
          <p:cNvSpPr/>
          <p:nvPr/>
        </p:nvSpPr>
        <p:spPr>
          <a:xfrm>
            <a:off x="2070360" y="30567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551" name="Text 30"/>
          <p:cNvSpPr/>
          <p:nvPr/>
        </p:nvSpPr>
        <p:spPr>
          <a:xfrm>
            <a:off x="2588760" y="14522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552" name="Text 31"/>
          <p:cNvSpPr/>
          <p:nvPr/>
        </p:nvSpPr>
        <p:spPr>
          <a:xfrm>
            <a:off x="3329280" y="26866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553" name="Text 32"/>
          <p:cNvSpPr/>
          <p:nvPr/>
        </p:nvSpPr>
        <p:spPr>
          <a:xfrm>
            <a:off x="3798360" y="23407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554" name="Text 33"/>
          <p:cNvSpPr/>
          <p:nvPr/>
        </p:nvSpPr>
        <p:spPr>
          <a:xfrm>
            <a:off x="4218120" y="18223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555" name="Shape 34"/>
          <p:cNvSpPr/>
          <p:nvPr/>
        </p:nvSpPr>
        <p:spPr>
          <a:xfrm flipH="1">
            <a:off x="8112240" y="1881720"/>
            <a:ext cx="135540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56" name="Shape 35"/>
          <p:cNvSpPr/>
          <p:nvPr/>
        </p:nvSpPr>
        <p:spPr>
          <a:xfrm>
            <a:off x="9467640" y="1881720"/>
            <a:ext cx="36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57" name="Shape 36"/>
          <p:cNvSpPr/>
          <p:nvPr/>
        </p:nvSpPr>
        <p:spPr>
          <a:xfrm>
            <a:off x="9467640" y="188172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58" name="Text 37"/>
          <p:cNvSpPr/>
          <p:nvPr/>
        </p:nvSpPr>
        <p:spPr>
          <a:xfrm>
            <a:off x="9321480" y="17355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59" name="Text 38"/>
          <p:cNvSpPr/>
          <p:nvPr/>
        </p:nvSpPr>
        <p:spPr>
          <a:xfrm>
            <a:off x="7966080" y="237744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60" name="Text 39"/>
          <p:cNvSpPr/>
          <p:nvPr/>
        </p:nvSpPr>
        <p:spPr>
          <a:xfrm>
            <a:off x="9321480" y="237744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561" name="Text 40"/>
          <p:cNvSpPr/>
          <p:nvPr/>
        </p:nvSpPr>
        <p:spPr>
          <a:xfrm>
            <a:off x="10676520" y="237744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62" name="Text 41"/>
          <p:cNvSpPr/>
          <p:nvPr/>
        </p:nvSpPr>
        <p:spPr>
          <a:xfrm>
            <a:off x="960120" y="5166360"/>
            <a:ext cx="10058040" cy="41112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800" b="1" u="none" strike="noStrike">
                <a:solidFill>
                  <a:srgbClr val="112E5C"/>
                </a:solidFill>
                <a:effectLst/>
                <a:uFillTx/>
                <a:latin typeface="Aptos"/>
              </a:rPr>
              <a:t>The root node is the initial state. Expanding it generates children and creates the frontier.</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563"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4"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565"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Build: Repeated States in the Search Tree</a:t>
            </a:r>
            <a:endParaRPr lang="en-US" sz="2600" b="0" u="none" strike="noStrike">
              <a:solidFill>
                <a:srgbClr val="000000"/>
              </a:solidFill>
              <a:effectLst/>
              <a:uFillTx/>
              <a:latin typeface="Arial"/>
            </a:endParaRPr>
          </a:p>
        </p:txBody>
      </p:sp>
      <p:sp>
        <p:nvSpPr>
          <p:cNvPr id="566"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67"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68" name="Shape 5"/>
          <p:cNvSpPr/>
          <p:nvPr/>
        </p:nvSpPr>
        <p:spPr>
          <a:xfrm flipV="1">
            <a:off x="1065960" y="1958400"/>
            <a:ext cx="570600" cy="333000"/>
          </a:xfrm>
          <a:prstGeom prst="line">
            <a:avLst/>
          </a:prstGeom>
          <a:ln w="34290">
            <a:solidFill>
              <a:srgbClr val="9B1C1C"/>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69" name="Shape 6"/>
          <p:cNvSpPr/>
          <p:nvPr/>
        </p:nvSpPr>
        <p:spPr>
          <a:xfrm>
            <a:off x="1065960" y="2291400"/>
            <a:ext cx="570600" cy="3801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70" name="Shape 7"/>
          <p:cNvSpPr/>
          <p:nvPr/>
        </p:nvSpPr>
        <p:spPr>
          <a:xfrm flipV="1">
            <a:off x="1636560" y="1697040"/>
            <a:ext cx="499320" cy="2613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71" name="Shape 8"/>
          <p:cNvSpPr/>
          <p:nvPr/>
        </p:nvSpPr>
        <p:spPr>
          <a:xfrm>
            <a:off x="1636560" y="1958400"/>
            <a:ext cx="618120" cy="3092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72" name="Shape 9"/>
          <p:cNvSpPr/>
          <p:nvPr/>
        </p:nvSpPr>
        <p:spPr>
          <a:xfrm>
            <a:off x="1636560" y="1958400"/>
            <a:ext cx="1212480" cy="214200"/>
          </a:xfrm>
          <a:prstGeom prst="line">
            <a:avLst/>
          </a:prstGeom>
          <a:ln w="34290">
            <a:solidFill>
              <a:srgbClr val="9B1C1C"/>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73" name="Shape 10"/>
          <p:cNvSpPr/>
          <p:nvPr/>
        </p:nvSpPr>
        <p:spPr>
          <a:xfrm flipV="1">
            <a:off x="2135880" y="1530360"/>
            <a:ext cx="523080" cy="1666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74" name="Shape 11"/>
          <p:cNvSpPr/>
          <p:nvPr/>
        </p:nvSpPr>
        <p:spPr>
          <a:xfrm flipH="1">
            <a:off x="2254680" y="1530360"/>
            <a:ext cx="404280" cy="737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75" name="Shape 12"/>
          <p:cNvSpPr/>
          <p:nvPr/>
        </p:nvSpPr>
        <p:spPr>
          <a:xfrm flipV="1">
            <a:off x="2254680" y="1530360"/>
            <a:ext cx="404280" cy="737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76" name="Shape 13"/>
          <p:cNvSpPr/>
          <p:nvPr/>
        </p:nvSpPr>
        <p:spPr>
          <a:xfrm flipV="1">
            <a:off x="2254680" y="2172600"/>
            <a:ext cx="594360" cy="950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77" name="Shape 14"/>
          <p:cNvSpPr/>
          <p:nvPr/>
        </p:nvSpPr>
        <p:spPr>
          <a:xfrm flipH="1">
            <a:off x="2635200" y="2172600"/>
            <a:ext cx="213840" cy="5227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78" name="Shape 15"/>
          <p:cNvSpPr/>
          <p:nvPr/>
        </p:nvSpPr>
        <p:spPr>
          <a:xfrm flipH="1" flipV="1">
            <a:off x="1636560" y="2671560"/>
            <a:ext cx="998640" cy="23760"/>
          </a:xfrm>
          <a:prstGeom prst="line">
            <a:avLst/>
          </a:prstGeom>
          <a:ln w="13970">
            <a:solidFill>
              <a:srgbClr val="5C6B80"/>
            </a:solidFill>
            <a:round/>
            <a:tailEnd len="med" type="triangle" w="med"/>
          </a:ln>
        </p:spPr>
        <p:style>
          <a:lnRef idx="0"/>
          <a:fillRef idx="0"/>
          <a:effectRef idx="0"/>
          <a:fontRef idx="minor"/>
        </p:style>
        <p:txBody>
          <a:bodyPr lIns="90000" tIns="-21240" rIns="90000" bIns="-21240" anchor="t" anchorCtr="1">
            <a:noAutofit/>
          </a:bodyPr>
          <a:p>
            <a:endParaRPr lang="en-US" sz="1800" b="0" u="none" strike="noStrike">
              <a:solidFill>
                <a:srgbClr val="000000"/>
              </a:solidFill>
              <a:effectLst/>
              <a:uFillTx/>
              <a:latin typeface="Arial"/>
            </a:endParaRPr>
          </a:p>
        </p:txBody>
      </p:sp>
      <p:sp>
        <p:nvSpPr>
          <p:cNvPr id="579" name="Shape 16"/>
          <p:cNvSpPr/>
          <p:nvPr/>
        </p:nvSpPr>
        <p:spPr>
          <a:xfrm>
            <a:off x="1636560" y="2671560"/>
            <a:ext cx="523080" cy="404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80" name="Shape 17"/>
          <p:cNvSpPr/>
          <p:nvPr/>
        </p:nvSpPr>
        <p:spPr>
          <a:xfrm flipV="1">
            <a:off x="2159640" y="2695320"/>
            <a:ext cx="475560" cy="3805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81" name="Shape 18"/>
          <p:cNvSpPr/>
          <p:nvPr/>
        </p:nvSpPr>
        <p:spPr>
          <a:xfrm>
            <a:off x="2849040" y="2172600"/>
            <a:ext cx="523080" cy="5464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82" name="Shape 19"/>
          <p:cNvSpPr/>
          <p:nvPr/>
        </p:nvSpPr>
        <p:spPr>
          <a:xfrm flipV="1">
            <a:off x="3372120" y="2386440"/>
            <a:ext cx="451800" cy="3326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83" name="Shape 20"/>
          <p:cNvSpPr/>
          <p:nvPr/>
        </p:nvSpPr>
        <p:spPr>
          <a:xfrm flipH="1" flipV="1">
            <a:off x="2254680" y="2267640"/>
            <a:ext cx="1569240" cy="1188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84" name="Shape 21"/>
          <p:cNvSpPr/>
          <p:nvPr/>
        </p:nvSpPr>
        <p:spPr>
          <a:xfrm flipV="1">
            <a:off x="3823920" y="1887120"/>
            <a:ext cx="403920" cy="4993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85" name="Text 22"/>
          <p:cNvSpPr/>
          <p:nvPr/>
        </p:nvSpPr>
        <p:spPr>
          <a:xfrm>
            <a:off x="919800" y="214524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86" name="Text 23"/>
          <p:cNvSpPr/>
          <p:nvPr/>
        </p:nvSpPr>
        <p:spPr>
          <a:xfrm>
            <a:off x="1490400" y="181224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87" name="Text 24"/>
          <p:cNvSpPr/>
          <p:nvPr/>
        </p:nvSpPr>
        <p:spPr>
          <a:xfrm>
            <a:off x="1490400" y="25254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88" name="Text 25"/>
          <p:cNvSpPr/>
          <p:nvPr/>
        </p:nvSpPr>
        <p:spPr>
          <a:xfrm>
            <a:off x="1989720" y="15508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589" name="Text 26"/>
          <p:cNvSpPr/>
          <p:nvPr/>
        </p:nvSpPr>
        <p:spPr>
          <a:xfrm>
            <a:off x="2108520" y="21214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590" name="Text 27"/>
          <p:cNvSpPr/>
          <p:nvPr/>
        </p:nvSpPr>
        <p:spPr>
          <a:xfrm>
            <a:off x="2702880" y="202644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591" name="Text 28"/>
          <p:cNvSpPr/>
          <p:nvPr/>
        </p:nvSpPr>
        <p:spPr>
          <a:xfrm>
            <a:off x="2489040" y="25495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592" name="Text 29"/>
          <p:cNvSpPr/>
          <p:nvPr/>
        </p:nvSpPr>
        <p:spPr>
          <a:xfrm>
            <a:off x="2013480" y="29296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593" name="Text 30"/>
          <p:cNvSpPr/>
          <p:nvPr/>
        </p:nvSpPr>
        <p:spPr>
          <a:xfrm>
            <a:off x="2512800" y="13845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594" name="Text 31"/>
          <p:cNvSpPr/>
          <p:nvPr/>
        </p:nvSpPr>
        <p:spPr>
          <a:xfrm>
            <a:off x="3225960" y="25732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595" name="Text 32"/>
          <p:cNvSpPr/>
          <p:nvPr/>
        </p:nvSpPr>
        <p:spPr>
          <a:xfrm>
            <a:off x="3677760" y="22402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596" name="Text 33"/>
          <p:cNvSpPr/>
          <p:nvPr/>
        </p:nvSpPr>
        <p:spPr>
          <a:xfrm>
            <a:off x="4082040" y="17409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597" name="Shape 34"/>
          <p:cNvSpPr/>
          <p:nvPr/>
        </p:nvSpPr>
        <p:spPr>
          <a:xfrm flipH="1">
            <a:off x="8112240" y="1698840"/>
            <a:ext cx="1355400" cy="64188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98" name="Shape 35"/>
          <p:cNvSpPr/>
          <p:nvPr/>
        </p:nvSpPr>
        <p:spPr>
          <a:xfrm>
            <a:off x="9467640" y="1698840"/>
            <a:ext cx="36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599" name="Shape 36"/>
          <p:cNvSpPr/>
          <p:nvPr/>
        </p:nvSpPr>
        <p:spPr>
          <a:xfrm>
            <a:off x="9467640" y="169884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0" name="Shape 37"/>
          <p:cNvSpPr/>
          <p:nvPr/>
        </p:nvSpPr>
        <p:spPr>
          <a:xfrm flipH="1">
            <a:off x="7506000" y="234072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1" name="Shape 38"/>
          <p:cNvSpPr/>
          <p:nvPr/>
        </p:nvSpPr>
        <p:spPr>
          <a:xfrm>
            <a:off x="8112240" y="2340720"/>
            <a:ext cx="36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2" name="Shape 39"/>
          <p:cNvSpPr/>
          <p:nvPr/>
        </p:nvSpPr>
        <p:spPr>
          <a:xfrm>
            <a:off x="8112240" y="2340720"/>
            <a:ext cx="606240" cy="67752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3" name="Shape 40"/>
          <p:cNvSpPr/>
          <p:nvPr/>
        </p:nvSpPr>
        <p:spPr>
          <a:xfrm flipH="1">
            <a:off x="9075240" y="2340720"/>
            <a:ext cx="39240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4" name="Shape 41"/>
          <p:cNvSpPr/>
          <p:nvPr/>
        </p:nvSpPr>
        <p:spPr>
          <a:xfrm>
            <a:off x="9467640" y="2340720"/>
            <a:ext cx="3920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5" name="Shape 42"/>
          <p:cNvSpPr/>
          <p:nvPr/>
        </p:nvSpPr>
        <p:spPr>
          <a:xfrm>
            <a:off x="10822680" y="2340720"/>
            <a:ext cx="36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6" name="Shape 43"/>
          <p:cNvSpPr/>
          <p:nvPr/>
        </p:nvSpPr>
        <p:spPr>
          <a:xfrm flipH="1">
            <a:off x="7292160" y="301824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7" name="Shape 44"/>
          <p:cNvSpPr/>
          <p:nvPr/>
        </p:nvSpPr>
        <p:spPr>
          <a:xfrm flipH="1">
            <a:off x="7898400" y="301824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8" name="Shape 45"/>
          <p:cNvSpPr/>
          <p:nvPr/>
        </p:nvSpPr>
        <p:spPr>
          <a:xfrm flipH="1">
            <a:off x="8504640" y="301824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9" name="Shape 46"/>
          <p:cNvSpPr/>
          <p:nvPr/>
        </p:nvSpPr>
        <p:spPr>
          <a:xfrm>
            <a:off x="8718480" y="3018240"/>
            <a:ext cx="3924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10" name="Shape 47"/>
          <p:cNvSpPr/>
          <p:nvPr/>
        </p:nvSpPr>
        <p:spPr>
          <a:xfrm>
            <a:off x="9075240" y="3018240"/>
            <a:ext cx="49932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11" name="Shape 48"/>
          <p:cNvSpPr/>
          <p:nvPr/>
        </p:nvSpPr>
        <p:spPr>
          <a:xfrm>
            <a:off x="9075240" y="3018240"/>
            <a:ext cx="92736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12" name="Shape 49"/>
          <p:cNvSpPr/>
          <p:nvPr/>
        </p:nvSpPr>
        <p:spPr>
          <a:xfrm>
            <a:off x="9859680" y="3018240"/>
            <a:ext cx="5706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13" name="Shape 50"/>
          <p:cNvSpPr/>
          <p:nvPr/>
        </p:nvSpPr>
        <p:spPr>
          <a:xfrm flipH="1">
            <a:off x="10216440" y="362448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14" name="Shape 51"/>
          <p:cNvSpPr/>
          <p:nvPr/>
        </p:nvSpPr>
        <p:spPr>
          <a:xfrm>
            <a:off x="10430280" y="3624480"/>
            <a:ext cx="28548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15" name="Text 52"/>
          <p:cNvSpPr/>
          <p:nvPr/>
        </p:nvSpPr>
        <p:spPr>
          <a:xfrm>
            <a:off x="9321480" y="15526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616" name="Text 53"/>
          <p:cNvSpPr/>
          <p:nvPr/>
        </p:nvSpPr>
        <p:spPr>
          <a:xfrm>
            <a:off x="7966080" y="21945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617" name="Text 54"/>
          <p:cNvSpPr/>
          <p:nvPr/>
        </p:nvSpPr>
        <p:spPr>
          <a:xfrm>
            <a:off x="9321480" y="21945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618" name="Text 55"/>
          <p:cNvSpPr/>
          <p:nvPr/>
        </p:nvSpPr>
        <p:spPr>
          <a:xfrm>
            <a:off x="10676520" y="21945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619" name="Text 56"/>
          <p:cNvSpPr/>
          <p:nvPr/>
        </p:nvSpPr>
        <p:spPr>
          <a:xfrm>
            <a:off x="7359840" y="28720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620" name="Text 57"/>
          <p:cNvSpPr/>
          <p:nvPr/>
        </p:nvSpPr>
        <p:spPr>
          <a:xfrm>
            <a:off x="7966080" y="28720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621" name="Text 58"/>
          <p:cNvSpPr/>
          <p:nvPr/>
        </p:nvSpPr>
        <p:spPr>
          <a:xfrm>
            <a:off x="8572680" y="287208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622" name="Text 59"/>
          <p:cNvSpPr/>
          <p:nvPr/>
        </p:nvSpPr>
        <p:spPr>
          <a:xfrm>
            <a:off x="8929080" y="28720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623" name="Text 60"/>
          <p:cNvSpPr/>
          <p:nvPr/>
        </p:nvSpPr>
        <p:spPr>
          <a:xfrm>
            <a:off x="9713520" y="28720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624" name="Text 61"/>
          <p:cNvSpPr/>
          <p:nvPr/>
        </p:nvSpPr>
        <p:spPr>
          <a:xfrm>
            <a:off x="10676520" y="28720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625" name="Text 62"/>
          <p:cNvSpPr/>
          <p:nvPr/>
        </p:nvSpPr>
        <p:spPr>
          <a:xfrm>
            <a:off x="7146000" y="34783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626" name="Text 63"/>
          <p:cNvSpPr/>
          <p:nvPr/>
        </p:nvSpPr>
        <p:spPr>
          <a:xfrm>
            <a:off x="7752240" y="34783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627" name="Text 64"/>
          <p:cNvSpPr/>
          <p:nvPr/>
        </p:nvSpPr>
        <p:spPr>
          <a:xfrm>
            <a:off x="8358480" y="34783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628" name="Text 65"/>
          <p:cNvSpPr/>
          <p:nvPr/>
        </p:nvSpPr>
        <p:spPr>
          <a:xfrm>
            <a:off x="8964720" y="34783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629" name="Text 66"/>
          <p:cNvSpPr/>
          <p:nvPr/>
        </p:nvSpPr>
        <p:spPr>
          <a:xfrm>
            <a:off x="9428400" y="34783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630" name="Text 67"/>
          <p:cNvSpPr/>
          <p:nvPr/>
        </p:nvSpPr>
        <p:spPr>
          <a:xfrm>
            <a:off x="9856440" y="34783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631" name="Text 68"/>
          <p:cNvSpPr/>
          <p:nvPr/>
        </p:nvSpPr>
        <p:spPr>
          <a:xfrm>
            <a:off x="10284120" y="34783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632" name="Text 69"/>
          <p:cNvSpPr/>
          <p:nvPr/>
        </p:nvSpPr>
        <p:spPr>
          <a:xfrm>
            <a:off x="10070280" y="40845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633" name="Text 70"/>
          <p:cNvSpPr/>
          <p:nvPr/>
        </p:nvSpPr>
        <p:spPr>
          <a:xfrm>
            <a:off x="10569600" y="40845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634" name="Text 71"/>
          <p:cNvSpPr/>
          <p:nvPr/>
        </p:nvSpPr>
        <p:spPr>
          <a:xfrm>
            <a:off x="868680" y="5303520"/>
            <a:ext cx="10423800" cy="45684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800" b="1" u="none" strike="noStrike">
                <a:solidFill>
                  <a:srgbClr val="9B1C1C"/>
                </a:solidFill>
                <a:effectLst/>
                <a:uFillTx/>
                <a:latin typeface="Aptos"/>
              </a:rPr>
              <a:t>Same state can appear in multiple search-tree nodes because each tree node is a different path.</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635"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636"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637"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Quiz: How Big Is the Search Tree?</a:t>
            </a:r>
            <a:endParaRPr lang="en-US" sz="2600" b="0" u="none" strike="noStrike">
              <a:solidFill>
                <a:srgbClr val="000000"/>
              </a:solidFill>
              <a:effectLst/>
              <a:uFillTx/>
              <a:latin typeface="Arial"/>
            </a:endParaRPr>
          </a:p>
        </p:txBody>
      </p:sp>
      <p:sp>
        <p:nvSpPr>
          <p:cNvPr id="638"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39"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40" name="Rectangle 6"/>
          <p:cNvSpPr/>
          <p:nvPr/>
        </p:nvSpPr>
        <p:spPr>
          <a:xfrm>
            <a:off x="777240" y="1417320"/>
            <a:ext cx="41144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400" b="1" u="none" strike="noStrike">
                <a:solidFill>
                  <a:srgbClr val="112E5C"/>
                </a:solidFill>
                <a:effectLst/>
                <a:uFillTx/>
                <a:latin typeface="Aptos"/>
              </a:rPr>
              <a:t>Consider this four-state graph</a:t>
            </a:r>
            <a:endParaRPr lang="en-US" sz="1400" b="0" u="none" strike="noStrike">
              <a:solidFill>
                <a:srgbClr val="000000"/>
              </a:solidFill>
              <a:effectLst/>
              <a:uFillTx/>
              <a:latin typeface="Arial"/>
            </a:endParaRPr>
          </a:p>
        </p:txBody>
      </p:sp>
      <p:sp>
        <p:nvSpPr>
          <p:cNvPr id="641" name="Oval 12"/>
          <p:cNvSpPr/>
          <p:nvPr/>
        </p:nvSpPr>
        <p:spPr>
          <a:xfrm>
            <a:off x="1074600" y="308628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642" name="Oval 13"/>
          <p:cNvSpPr/>
          <p:nvPr/>
        </p:nvSpPr>
        <p:spPr>
          <a:xfrm>
            <a:off x="2446200" y="217188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643" name="Oval 14"/>
          <p:cNvSpPr/>
          <p:nvPr/>
        </p:nvSpPr>
        <p:spPr>
          <a:xfrm>
            <a:off x="2446200" y="400068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644" name="Oval 15"/>
          <p:cNvSpPr/>
          <p:nvPr/>
        </p:nvSpPr>
        <p:spPr>
          <a:xfrm>
            <a:off x="3817800" y="308628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645" name="Rectangle 16"/>
          <p:cNvSpPr/>
          <p:nvPr/>
        </p:nvSpPr>
        <p:spPr>
          <a:xfrm>
            <a:off x="777240" y="4663440"/>
            <a:ext cx="41144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200" b="0" u="none" strike="noStrike">
                <a:solidFill>
                  <a:srgbClr val="5C6B80"/>
                </a:solidFill>
                <a:effectLst/>
                <a:uFillTx/>
                <a:latin typeface="Aptos"/>
              </a:rPr>
              <a:t>a and b are connected in both directions</a:t>
            </a:r>
            <a:endParaRPr lang="en-US" sz="1200" b="0" u="none" strike="noStrike">
              <a:solidFill>
                <a:srgbClr val="000000"/>
              </a:solidFill>
              <a:effectLst/>
              <a:uFillTx/>
              <a:latin typeface="Arial"/>
            </a:endParaRPr>
          </a:p>
        </p:txBody>
      </p:sp>
      <p:sp>
        <p:nvSpPr>
          <p:cNvPr id="646" name="Rectangle 17"/>
          <p:cNvSpPr/>
          <p:nvPr/>
        </p:nvSpPr>
        <p:spPr>
          <a:xfrm>
            <a:off x="638568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400" b="1" u="none" strike="noStrike">
                <a:solidFill>
                  <a:srgbClr val="112E5C"/>
                </a:solidFill>
                <a:effectLst/>
                <a:uFillTx/>
                <a:latin typeface="Aptos"/>
              </a:rPr>
              <a:t>How big is its search tree, rooted at S?</a:t>
            </a:r>
            <a:endParaRPr lang="en-US" sz="1400" b="0" u="none" strike="noStrike">
              <a:solidFill>
                <a:srgbClr val="000000"/>
              </a:solidFill>
              <a:effectLst/>
              <a:uFillTx/>
              <a:latin typeface="Arial"/>
            </a:endParaRPr>
          </a:p>
        </p:txBody>
      </p:sp>
      <p:cxnSp>
        <p:nvCxnSpPr>
          <p:cNvPr id="647" name="Connector 18"/>
          <p:cNvCxnSpPr/>
          <p:nvPr/>
        </p:nvCxnSpPr>
        <p:spPr>
          <a:xfrm flipH="1">
            <a:off x="7315200" y="1965960"/>
            <a:ext cx="1067040" cy="777600"/>
          </a:xfrm>
          <a:prstGeom prst="straightConnector1">
            <a:avLst/>
          </a:prstGeom>
          <a:ln w="15240">
            <a:solidFill>
              <a:srgbClr val="5C6B80"/>
            </a:solidFill>
          </a:ln>
        </p:spPr>
      </p:cxnSp>
      <p:cxnSp>
        <p:nvCxnSpPr>
          <p:cNvPr id="648" name="Connector 19"/>
          <p:cNvCxnSpPr/>
          <p:nvPr/>
        </p:nvCxnSpPr>
        <p:spPr>
          <a:xfrm>
            <a:off x="8381880" y="1965960"/>
            <a:ext cx="1067040" cy="777600"/>
          </a:xfrm>
          <a:prstGeom prst="straightConnector1">
            <a:avLst/>
          </a:prstGeom>
          <a:ln w="15240">
            <a:solidFill>
              <a:srgbClr val="5C6B80"/>
            </a:solidFill>
          </a:ln>
        </p:spPr>
      </p:cxnSp>
      <p:cxnSp>
        <p:nvCxnSpPr>
          <p:cNvPr id="649" name="Connector 20"/>
          <p:cNvCxnSpPr/>
          <p:nvPr/>
        </p:nvCxnSpPr>
        <p:spPr>
          <a:xfrm flipH="1">
            <a:off x="6629400" y="2743200"/>
            <a:ext cx="686160" cy="777600"/>
          </a:xfrm>
          <a:prstGeom prst="straightConnector1">
            <a:avLst/>
          </a:prstGeom>
          <a:ln w="15240">
            <a:solidFill>
              <a:srgbClr val="5C6B80"/>
            </a:solidFill>
          </a:ln>
        </p:spPr>
      </p:cxnSp>
      <p:cxnSp>
        <p:nvCxnSpPr>
          <p:cNvPr id="650" name="Connector 21"/>
          <p:cNvCxnSpPr/>
          <p:nvPr/>
        </p:nvCxnSpPr>
        <p:spPr>
          <a:xfrm>
            <a:off x="7315200" y="2743200"/>
            <a:ext cx="686160" cy="777600"/>
          </a:xfrm>
          <a:prstGeom prst="straightConnector1">
            <a:avLst/>
          </a:prstGeom>
          <a:ln w="15240">
            <a:solidFill>
              <a:srgbClr val="5C6B80"/>
            </a:solidFill>
          </a:ln>
        </p:spPr>
      </p:cxnSp>
      <p:cxnSp>
        <p:nvCxnSpPr>
          <p:cNvPr id="651" name="Connector 22"/>
          <p:cNvCxnSpPr/>
          <p:nvPr/>
        </p:nvCxnSpPr>
        <p:spPr>
          <a:xfrm flipH="1">
            <a:off x="8762760" y="2743200"/>
            <a:ext cx="686160" cy="777600"/>
          </a:xfrm>
          <a:prstGeom prst="straightConnector1">
            <a:avLst/>
          </a:prstGeom>
          <a:ln w="15240">
            <a:solidFill>
              <a:srgbClr val="5C6B80"/>
            </a:solidFill>
          </a:ln>
        </p:spPr>
      </p:cxnSp>
      <p:cxnSp>
        <p:nvCxnSpPr>
          <p:cNvPr id="652" name="Connector 23"/>
          <p:cNvCxnSpPr/>
          <p:nvPr/>
        </p:nvCxnSpPr>
        <p:spPr>
          <a:xfrm>
            <a:off x="9448560" y="2743200"/>
            <a:ext cx="686160" cy="777600"/>
          </a:xfrm>
          <a:prstGeom prst="straightConnector1">
            <a:avLst/>
          </a:prstGeom>
          <a:ln w="15240">
            <a:solidFill>
              <a:srgbClr val="5C6B80"/>
            </a:solidFill>
          </a:ln>
        </p:spPr>
      </p:cxnSp>
      <p:cxnSp>
        <p:nvCxnSpPr>
          <p:cNvPr id="653" name="Connector 24"/>
          <p:cNvCxnSpPr/>
          <p:nvPr/>
        </p:nvCxnSpPr>
        <p:spPr>
          <a:xfrm flipH="1">
            <a:off x="6263640" y="3520440"/>
            <a:ext cx="366120" cy="640440"/>
          </a:xfrm>
          <a:prstGeom prst="straightConnector1">
            <a:avLst/>
          </a:prstGeom>
          <a:ln w="15240">
            <a:solidFill>
              <a:srgbClr val="5C6B80"/>
            </a:solidFill>
            <a:prstDash val="sysDash"/>
          </a:ln>
        </p:spPr>
      </p:cxnSp>
      <p:cxnSp>
        <p:nvCxnSpPr>
          <p:cNvPr id="654" name="Connector 25"/>
          <p:cNvCxnSpPr/>
          <p:nvPr/>
        </p:nvCxnSpPr>
        <p:spPr>
          <a:xfrm>
            <a:off x="6629400" y="3520440"/>
            <a:ext cx="366120" cy="640440"/>
          </a:xfrm>
          <a:prstGeom prst="straightConnector1">
            <a:avLst/>
          </a:prstGeom>
          <a:ln w="15240">
            <a:solidFill>
              <a:srgbClr val="5C6B80"/>
            </a:solidFill>
            <a:prstDash val="sysDash"/>
          </a:ln>
        </p:spPr>
      </p:cxnSp>
      <p:cxnSp>
        <p:nvCxnSpPr>
          <p:cNvPr id="655" name="Connector 26"/>
          <p:cNvCxnSpPr/>
          <p:nvPr/>
        </p:nvCxnSpPr>
        <p:spPr>
          <a:xfrm flipH="1">
            <a:off x="8397000" y="3520440"/>
            <a:ext cx="366120" cy="640440"/>
          </a:xfrm>
          <a:prstGeom prst="straightConnector1">
            <a:avLst/>
          </a:prstGeom>
          <a:ln w="15240">
            <a:solidFill>
              <a:srgbClr val="5C6B80"/>
            </a:solidFill>
            <a:prstDash val="sysDash"/>
          </a:ln>
        </p:spPr>
      </p:cxnSp>
      <p:cxnSp>
        <p:nvCxnSpPr>
          <p:cNvPr id="656" name="Connector 27"/>
          <p:cNvCxnSpPr/>
          <p:nvPr/>
        </p:nvCxnSpPr>
        <p:spPr>
          <a:xfrm>
            <a:off x="8762760" y="3520440"/>
            <a:ext cx="366120" cy="640440"/>
          </a:xfrm>
          <a:prstGeom prst="straightConnector1">
            <a:avLst/>
          </a:prstGeom>
          <a:ln w="15240">
            <a:solidFill>
              <a:srgbClr val="5C6B80"/>
            </a:solidFill>
            <a:prstDash val="sysDash"/>
          </a:ln>
        </p:spPr>
      </p:cxnSp>
      <p:sp>
        <p:nvSpPr>
          <p:cNvPr id="657" name="Oval 28"/>
          <p:cNvSpPr/>
          <p:nvPr/>
        </p:nvSpPr>
        <p:spPr>
          <a:xfrm>
            <a:off x="8153280" y="173736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s</a:t>
            </a:r>
            <a:endParaRPr lang="en-US" sz="1200" b="0" u="none" strike="noStrike">
              <a:solidFill>
                <a:srgbClr val="000000"/>
              </a:solidFill>
              <a:effectLst/>
              <a:uFillTx/>
              <a:latin typeface="Arial"/>
            </a:endParaRPr>
          </a:p>
        </p:txBody>
      </p:sp>
      <p:sp>
        <p:nvSpPr>
          <p:cNvPr id="658" name="Oval 29"/>
          <p:cNvSpPr/>
          <p:nvPr/>
        </p:nvSpPr>
        <p:spPr>
          <a:xfrm>
            <a:off x="7086600" y="251460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a</a:t>
            </a:r>
            <a:endParaRPr lang="en-US" sz="1200" b="0" u="none" strike="noStrike">
              <a:solidFill>
                <a:srgbClr val="000000"/>
              </a:solidFill>
              <a:effectLst/>
              <a:uFillTx/>
              <a:latin typeface="Arial"/>
            </a:endParaRPr>
          </a:p>
        </p:txBody>
      </p:sp>
      <p:sp>
        <p:nvSpPr>
          <p:cNvPr id="659" name="Oval 30"/>
          <p:cNvSpPr/>
          <p:nvPr/>
        </p:nvSpPr>
        <p:spPr>
          <a:xfrm>
            <a:off x="9220320" y="251460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b</a:t>
            </a:r>
            <a:endParaRPr lang="en-US" sz="1200" b="0" u="none" strike="noStrike">
              <a:solidFill>
                <a:srgbClr val="000000"/>
              </a:solidFill>
              <a:effectLst/>
              <a:uFillTx/>
              <a:latin typeface="Arial"/>
            </a:endParaRPr>
          </a:p>
        </p:txBody>
      </p:sp>
      <p:sp>
        <p:nvSpPr>
          <p:cNvPr id="660" name="Oval 31"/>
          <p:cNvSpPr/>
          <p:nvPr/>
        </p:nvSpPr>
        <p:spPr>
          <a:xfrm>
            <a:off x="640080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b</a:t>
            </a:r>
            <a:endParaRPr lang="en-US" sz="1200" b="0" u="none" strike="noStrike">
              <a:solidFill>
                <a:srgbClr val="000000"/>
              </a:solidFill>
              <a:effectLst/>
              <a:uFillTx/>
              <a:latin typeface="Arial"/>
            </a:endParaRPr>
          </a:p>
        </p:txBody>
      </p:sp>
      <p:sp>
        <p:nvSpPr>
          <p:cNvPr id="661" name="Oval 32"/>
          <p:cNvSpPr/>
          <p:nvPr/>
        </p:nvSpPr>
        <p:spPr>
          <a:xfrm>
            <a:off x="777240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G</a:t>
            </a:r>
            <a:endParaRPr lang="en-US" sz="1200" b="0" u="none" strike="noStrike">
              <a:solidFill>
                <a:srgbClr val="000000"/>
              </a:solidFill>
              <a:effectLst/>
              <a:uFillTx/>
              <a:latin typeface="Arial"/>
            </a:endParaRPr>
          </a:p>
        </p:txBody>
      </p:sp>
      <p:sp>
        <p:nvSpPr>
          <p:cNvPr id="662" name="Oval 33"/>
          <p:cNvSpPr/>
          <p:nvPr/>
        </p:nvSpPr>
        <p:spPr>
          <a:xfrm>
            <a:off x="853452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a</a:t>
            </a:r>
            <a:endParaRPr lang="en-US" sz="1200" b="0" u="none" strike="noStrike">
              <a:solidFill>
                <a:srgbClr val="000000"/>
              </a:solidFill>
              <a:effectLst/>
              <a:uFillTx/>
              <a:latin typeface="Arial"/>
            </a:endParaRPr>
          </a:p>
        </p:txBody>
      </p:sp>
      <p:sp>
        <p:nvSpPr>
          <p:cNvPr id="663" name="Oval 34"/>
          <p:cNvSpPr/>
          <p:nvPr/>
        </p:nvSpPr>
        <p:spPr>
          <a:xfrm>
            <a:off x="990612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G</a:t>
            </a:r>
            <a:endParaRPr lang="en-US" sz="1200" b="0" u="none" strike="noStrike">
              <a:solidFill>
                <a:srgbClr val="000000"/>
              </a:solidFill>
              <a:effectLst/>
              <a:uFillTx/>
              <a:latin typeface="Arial"/>
            </a:endParaRPr>
          </a:p>
        </p:txBody>
      </p:sp>
      <p:sp>
        <p:nvSpPr>
          <p:cNvPr id="664" name="Rectangle 35"/>
          <p:cNvSpPr/>
          <p:nvPr/>
        </p:nvSpPr>
        <p:spPr>
          <a:xfrm>
            <a:off x="6080760" y="4297680"/>
            <a:ext cx="109692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800" b="0" u="none" strike="noStrike">
                <a:solidFill>
                  <a:srgbClr val="5C6B80"/>
                </a:solidFill>
                <a:effectLst/>
                <a:uFillTx/>
                <a:latin typeface="Aptos"/>
              </a:rPr>
              <a:t>…</a:t>
            </a:r>
            <a:endParaRPr lang="en-US" sz="1800" b="0" u="none" strike="noStrike">
              <a:solidFill>
                <a:srgbClr val="000000"/>
              </a:solidFill>
              <a:effectLst/>
              <a:uFillTx/>
              <a:latin typeface="Arial"/>
            </a:endParaRPr>
          </a:p>
        </p:txBody>
      </p:sp>
      <p:sp>
        <p:nvSpPr>
          <p:cNvPr id="665" name="Rectangle 36"/>
          <p:cNvSpPr/>
          <p:nvPr/>
        </p:nvSpPr>
        <p:spPr>
          <a:xfrm>
            <a:off x="8214480" y="4297680"/>
            <a:ext cx="109692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800" b="0" u="none" strike="noStrike">
                <a:solidFill>
                  <a:srgbClr val="5C6B80"/>
                </a:solidFill>
                <a:effectLst/>
                <a:uFillTx/>
                <a:latin typeface="Aptos"/>
              </a:rPr>
              <a:t>…</a:t>
            </a:r>
            <a:endParaRPr lang="en-US" sz="1800" b="0" u="none" strike="noStrike">
              <a:solidFill>
                <a:srgbClr val="000000"/>
              </a:solidFill>
              <a:effectLst/>
              <a:uFillTx/>
              <a:latin typeface="Arial"/>
            </a:endParaRPr>
          </a:p>
        </p:txBody>
      </p:sp>
      <p:sp>
        <p:nvSpPr>
          <p:cNvPr id="666" name="Rectangle 37"/>
          <p:cNvSpPr/>
          <p:nvPr/>
        </p:nvSpPr>
        <p:spPr>
          <a:xfrm>
            <a:off x="10515600" y="4114800"/>
            <a:ext cx="898920" cy="5940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4400" b="1" u="none" strike="noStrike">
                <a:solidFill>
                  <a:srgbClr val="9B1C1C"/>
                </a:solidFill>
                <a:effectLst/>
                <a:uFillTx/>
                <a:latin typeface="Aptos"/>
              </a:rPr>
              <a:t>∞</a:t>
            </a:r>
            <a:endParaRPr lang="en-US" sz="4400" b="0" u="none" strike="noStrike">
              <a:solidFill>
                <a:srgbClr val="000000"/>
              </a:solidFill>
              <a:effectLst/>
              <a:uFillTx/>
              <a:latin typeface="Arial"/>
            </a:endParaRPr>
          </a:p>
        </p:txBody>
      </p:sp>
      <p:sp>
        <p:nvSpPr>
          <p:cNvPr id="667" name="Rectangle 38"/>
          <p:cNvSpPr/>
          <p:nvPr/>
        </p:nvSpPr>
        <p:spPr>
          <a:xfrm>
            <a:off x="914400" y="50292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Four states. An infinite search tree, because a ↔ b can be traversed forever.</a:t>
            </a:r>
            <a:endParaRPr lang="en-US" sz="1700" b="0" u="none" strike="noStrike">
              <a:solidFill>
                <a:srgbClr val="000000"/>
              </a:solidFill>
              <a:effectLst/>
              <a:uFillTx/>
              <a:latin typeface="Arial"/>
            </a:endParaRPr>
          </a:p>
        </p:txBody>
      </p:sp>
      <p:sp>
        <p:nvSpPr>
          <p:cNvPr id="668" name="Rectangle 39"/>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The repeated structure in the tree is the entire motivation for the reached table and for cycle checking.</a:t>
            </a:r>
            <a:endParaRPr lang="en-US" sz="1500" b="0" u="none" strike="noStrike">
              <a:solidFill>
                <a:srgbClr val="000000"/>
              </a:solidFill>
              <a:effectLst/>
              <a:uFillTx/>
              <a:latin typeface="Arial"/>
            </a:endParaRPr>
          </a:p>
        </p:txBody>
      </p:sp>
      <p:sp>
        <p:nvSpPr>
          <p:cNvPr id="669" name=""/>
          <p:cNvSpPr/>
          <p:nvPr/>
        </p:nvSpPr>
        <p:spPr>
          <a:xfrm flipH="1">
            <a:off x="1542600" y="2514600"/>
            <a:ext cx="903600" cy="607680"/>
          </a:xfrm>
          <a:prstGeom prst="line">
            <a:avLst/>
          </a:prstGeom>
          <a:ln w="18360">
            <a:solidFill>
              <a:srgbClr val="3465A4"/>
            </a:solidFill>
            <a:round/>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670" name=""/>
          <p:cNvSpPr/>
          <p:nvPr/>
        </p:nvSpPr>
        <p:spPr>
          <a:xfrm flipH="1" flipV="1">
            <a:off x="3040200" y="2514600"/>
            <a:ext cx="846000" cy="685800"/>
          </a:xfrm>
          <a:prstGeom prst="line">
            <a:avLst/>
          </a:prstGeom>
          <a:ln w="18360">
            <a:solidFill>
              <a:srgbClr val="3465A4"/>
            </a:solidFill>
            <a:round/>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671" name=""/>
          <p:cNvSpPr/>
          <p:nvPr/>
        </p:nvSpPr>
        <p:spPr>
          <a:xfrm flipH="1" flipV="1">
            <a:off x="1600200" y="3429000"/>
            <a:ext cx="846000" cy="685800"/>
          </a:xfrm>
          <a:prstGeom prst="line">
            <a:avLst/>
          </a:prstGeom>
          <a:ln w="18360">
            <a:solidFill>
              <a:srgbClr val="3465A4"/>
            </a:solidFill>
            <a:round/>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672"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3"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674"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Frontier, Reached, and Expansion</a:t>
            </a:r>
            <a:endParaRPr lang="en-US" sz="2600" b="0" u="none" strike="noStrike">
              <a:solidFill>
                <a:srgbClr val="000000"/>
              </a:solidFill>
              <a:effectLst/>
              <a:uFillTx/>
              <a:latin typeface="Arial"/>
            </a:endParaRPr>
          </a:p>
        </p:txBody>
      </p:sp>
      <p:sp>
        <p:nvSpPr>
          <p:cNvPr id="675"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76"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77" name="Text 5"/>
          <p:cNvSpPr/>
          <p:nvPr/>
        </p:nvSpPr>
        <p:spPr>
          <a:xfrm>
            <a:off x="777240" y="1463040"/>
            <a:ext cx="502560" cy="502560"/>
          </a:xfrm>
          <a:prstGeom prst="roundRect">
            <a:avLst>
              <a:gd name="adj" fmla="val 14545"/>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1</a:t>
            </a:r>
            <a:endParaRPr lang="en-US" sz="1800" b="0" u="none" strike="noStrike">
              <a:solidFill>
                <a:srgbClr val="000000"/>
              </a:solidFill>
              <a:effectLst/>
              <a:uFillTx/>
              <a:latin typeface="Arial"/>
            </a:endParaRPr>
          </a:p>
        </p:txBody>
      </p:sp>
      <p:sp>
        <p:nvSpPr>
          <p:cNvPr id="678" name="Text 6"/>
          <p:cNvSpPr/>
          <p:nvPr/>
        </p:nvSpPr>
        <p:spPr>
          <a:xfrm>
            <a:off x="1417320" y="1508760"/>
            <a:ext cx="1919880" cy="319680"/>
          </a:xfrm>
          <a:prstGeom prst="rect">
            <a:avLst/>
          </a:prstGeom>
          <a:noFill/>
          <a:ln w="0">
            <a:noFill/>
          </a:ln>
        </p:spPr>
        <p:style>
          <a:lnRef idx="0"/>
          <a:fillRef idx="0"/>
          <a:effectRef idx="0"/>
          <a:fontRef idx="minor"/>
        </p:style>
        <p:txBody>
          <a:bodyPr lIns="720" tIns="720" rIns="720" bIns="720" anchor="ctr">
            <a:normAutofit fontScale="92500" lnSpcReduction="9999"/>
          </a:bodyPr>
          <a:p>
            <a:pPr defTabSz="914400">
              <a:lnSpc>
                <a:spcPct val="100000"/>
              </a:lnSpc>
              <a:tabLst>
                <a:tab pos="0" algn="l"/>
              </a:tabLst>
            </a:pPr>
            <a:r>
              <a:rPr lang="en-US" sz="1550" b="1" u="none" strike="noStrike">
                <a:solidFill>
                  <a:srgbClr val="102A4C"/>
                </a:solidFill>
                <a:effectLst/>
                <a:uFillTx/>
                <a:latin typeface="Aptos"/>
              </a:rPr>
              <a:t>POP a frontier node</a:t>
            </a:r>
            <a:endParaRPr lang="en-US" sz="1550" b="0" u="none" strike="noStrike">
              <a:solidFill>
                <a:srgbClr val="000000"/>
              </a:solidFill>
              <a:effectLst/>
              <a:uFillTx/>
              <a:latin typeface="Arial"/>
            </a:endParaRPr>
          </a:p>
        </p:txBody>
      </p:sp>
      <p:sp>
        <p:nvSpPr>
          <p:cNvPr id="679" name="Shape 7"/>
          <p:cNvSpPr/>
          <p:nvPr/>
        </p:nvSpPr>
        <p:spPr>
          <a:xfrm>
            <a:off x="3291840" y="1719000"/>
            <a:ext cx="27432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80" name="Text 8"/>
          <p:cNvSpPr/>
          <p:nvPr/>
        </p:nvSpPr>
        <p:spPr>
          <a:xfrm>
            <a:off x="3611880" y="1463040"/>
            <a:ext cx="502560" cy="502560"/>
          </a:xfrm>
          <a:prstGeom prst="roundRect">
            <a:avLst>
              <a:gd name="adj" fmla="val 14545"/>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2</a:t>
            </a:r>
            <a:endParaRPr lang="en-US" sz="1800" b="0" u="none" strike="noStrike">
              <a:solidFill>
                <a:srgbClr val="000000"/>
              </a:solidFill>
              <a:effectLst/>
              <a:uFillTx/>
              <a:latin typeface="Arial"/>
            </a:endParaRPr>
          </a:p>
        </p:txBody>
      </p:sp>
      <p:sp>
        <p:nvSpPr>
          <p:cNvPr id="681" name="Text 9"/>
          <p:cNvSpPr/>
          <p:nvPr/>
        </p:nvSpPr>
        <p:spPr>
          <a:xfrm>
            <a:off x="4251960" y="1508760"/>
            <a:ext cx="1919880" cy="3196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50" b="1" u="none" strike="noStrike">
                <a:solidFill>
                  <a:srgbClr val="102A4C"/>
                </a:solidFill>
                <a:effectLst/>
                <a:uFillTx/>
                <a:latin typeface="Aptos"/>
              </a:rPr>
              <a:t>Goal-test the node</a:t>
            </a:r>
            <a:endParaRPr lang="en-US" sz="1550" b="0" u="none" strike="noStrike">
              <a:solidFill>
                <a:srgbClr val="000000"/>
              </a:solidFill>
              <a:effectLst/>
              <a:uFillTx/>
              <a:latin typeface="Arial"/>
            </a:endParaRPr>
          </a:p>
        </p:txBody>
      </p:sp>
      <p:sp>
        <p:nvSpPr>
          <p:cNvPr id="682" name="Shape 10"/>
          <p:cNvSpPr/>
          <p:nvPr/>
        </p:nvSpPr>
        <p:spPr>
          <a:xfrm>
            <a:off x="6126480" y="1719000"/>
            <a:ext cx="27432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83" name="Text 11"/>
          <p:cNvSpPr/>
          <p:nvPr/>
        </p:nvSpPr>
        <p:spPr>
          <a:xfrm>
            <a:off x="6446520" y="1463040"/>
            <a:ext cx="502560" cy="502560"/>
          </a:xfrm>
          <a:prstGeom prst="roundRect">
            <a:avLst>
              <a:gd name="adj" fmla="val 14545"/>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3</a:t>
            </a:r>
            <a:endParaRPr lang="en-US" sz="1800" b="0" u="none" strike="noStrike">
              <a:solidFill>
                <a:srgbClr val="000000"/>
              </a:solidFill>
              <a:effectLst/>
              <a:uFillTx/>
              <a:latin typeface="Arial"/>
            </a:endParaRPr>
          </a:p>
        </p:txBody>
      </p:sp>
      <p:sp>
        <p:nvSpPr>
          <p:cNvPr id="684" name="Text 12"/>
          <p:cNvSpPr/>
          <p:nvPr/>
        </p:nvSpPr>
        <p:spPr>
          <a:xfrm>
            <a:off x="7086600" y="1508760"/>
            <a:ext cx="1919880" cy="3196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50" b="1" u="none" strike="noStrike">
                <a:solidFill>
                  <a:srgbClr val="102A4C"/>
                </a:solidFill>
                <a:effectLst/>
                <a:uFillTx/>
                <a:latin typeface="Aptos"/>
              </a:rPr>
              <a:t>EXPAND successors</a:t>
            </a:r>
            <a:endParaRPr lang="en-US" sz="1550" b="0" u="none" strike="noStrike">
              <a:solidFill>
                <a:srgbClr val="000000"/>
              </a:solidFill>
              <a:effectLst/>
              <a:uFillTx/>
              <a:latin typeface="Arial"/>
            </a:endParaRPr>
          </a:p>
        </p:txBody>
      </p:sp>
      <p:sp>
        <p:nvSpPr>
          <p:cNvPr id="685" name="Shape 13"/>
          <p:cNvSpPr/>
          <p:nvPr/>
        </p:nvSpPr>
        <p:spPr>
          <a:xfrm>
            <a:off x="8961120" y="1719000"/>
            <a:ext cx="27432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86" name="Text 14"/>
          <p:cNvSpPr/>
          <p:nvPr/>
        </p:nvSpPr>
        <p:spPr>
          <a:xfrm>
            <a:off x="9281160" y="1463040"/>
            <a:ext cx="502560" cy="502560"/>
          </a:xfrm>
          <a:prstGeom prst="roundRect">
            <a:avLst>
              <a:gd name="adj" fmla="val 14545"/>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4</a:t>
            </a:r>
            <a:endParaRPr lang="en-US" sz="1800" b="0" u="none" strike="noStrike">
              <a:solidFill>
                <a:srgbClr val="000000"/>
              </a:solidFill>
              <a:effectLst/>
              <a:uFillTx/>
              <a:latin typeface="Arial"/>
            </a:endParaRPr>
          </a:p>
        </p:txBody>
      </p:sp>
      <p:sp>
        <p:nvSpPr>
          <p:cNvPr id="687" name="Text 15"/>
          <p:cNvSpPr/>
          <p:nvPr/>
        </p:nvSpPr>
        <p:spPr>
          <a:xfrm>
            <a:off x="9921240" y="1508760"/>
            <a:ext cx="1919880" cy="319680"/>
          </a:xfrm>
          <a:prstGeom prst="rect">
            <a:avLst/>
          </a:prstGeom>
          <a:noFill/>
          <a:ln w="0">
            <a:noFill/>
          </a:ln>
        </p:spPr>
        <p:style>
          <a:lnRef idx="0"/>
          <a:fillRef idx="0"/>
          <a:effectRef idx="0"/>
          <a:fontRef idx="minor"/>
        </p:style>
        <p:txBody>
          <a:bodyPr lIns="720" tIns="720" rIns="720" bIns="720" anchor="ctr">
            <a:normAutofit fontScale="85000" lnSpcReduction="19999"/>
          </a:bodyPr>
          <a:p>
            <a:pPr defTabSz="914400">
              <a:lnSpc>
                <a:spcPct val="100000"/>
              </a:lnSpc>
              <a:tabLst>
                <a:tab pos="0" algn="l"/>
              </a:tabLst>
            </a:pPr>
            <a:r>
              <a:rPr lang="en-US" sz="1550" b="1" u="none" strike="noStrike">
                <a:solidFill>
                  <a:srgbClr val="102A4C"/>
                </a:solidFill>
                <a:effectLst/>
                <a:uFillTx/>
                <a:latin typeface="Aptos"/>
              </a:rPr>
              <a:t>Update frontier and reached</a:t>
            </a:r>
            <a:endParaRPr lang="en-US" sz="1550" b="0" u="none" strike="noStrike">
              <a:solidFill>
                <a:srgbClr val="000000"/>
              </a:solidFill>
              <a:effectLst/>
              <a:uFillTx/>
              <a:latin typeface="Arial"/>
            </a:endParaRPr>
          </a:p>
        </p:txBody>
      </p:sp>
      <p:sp>
        <p:nvSpPr>
          <p:cNvPr id="688" name="Text 16"/>
          <p:cNvSpPr/>
          <p:nvPr/>
        </p:nvSpPr>
        <p:spPr>
          <a:xfrm>
            <a:off x="1188720" y="2971800"/>
            <a:ext cx="2194200" cy="50256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2F7FD5"/>
                </a:solidFill>
                <a:effectLst/>
                <a:uFillTx/>
                <a:latin typeface="Aptos"/>
              </a:rPr>
              <a:t>Frontier</a:t>
            </a:r>
            <a:endParaRPr lang="en-US" sz="1700" b="0" u="none" strike="noStrike">
              <a:solidFill>
                <a:srgbClr val="000000"/>
              </a:solidFill>
              <a:effectLst/>
              <a:uFillTx/>
              <a:latin typeface="Arial"/>
            </a:endParaRPr>
          </a:p>
        </p:txBody>
      </p:sp>
      <p:sp>
        <p:nvSpPr>
          <p:cNvPr id="689" name="Text 17"/>
          <p:cNvSpPr/>
          <p:nvPr/>
        </p:nvSpPr>
        <p:spPr>
          <a:xfrm>
            <a:off x="960120" y="3611880"/>
            <a:ext cx="2651400" cy="5482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102A4C"/>
                </a:solidFill>
                <a:effectLst/>
                <a:uFillTx/>
                <a:latin typeface="Aptos"/>
              </a:rPr>
              <a:t>Generated but unexpanded leaf nodes.</a:t>
            </a:r>
            <a:endParaRPr lang="en-US" sz="1400" b="0" u="none" strike="noStrike">
              <a:solidFill>
                <a:srgbClr val="000000"/>
              </a:solidFill>
              <a:effectLst/>
              <a:uFillTx/>
              <a:latin typeface="Arial"/>
            </a:endParaRPr>
          </a:p>
        </p:txBody>
      </p:sp>
      <p:sp>
        <p:nvSpPr>
          <p:cNvPr id="690" name="Text 18"/>
          <p:cNvSpPr/>
          <p:nvPr/>
        </p:nvSpPr>
        <p:spPr>
          <a:xfrm>
            <a:off x="5029200" y="2971800"/>
            <a:ext cx="2194200" cy="50256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77245"/>
                </a:solidFill>
                <a:effectLst/>
                <a:uFillTx/>
                <a:latin typeface="Aptos"/>
              </a:rPr>
              <a:t>Reached table</a:t>
            </a:r>
            <a:endParaRPr lang="en-US" sz="1700" b="0" u="none" strike="noStrike">
              <a:solidFill>
                <a:srgbClr val="000000"/>
              </a:solidFill>
              <a:effectLst/>
              <a:uFillTx/>
              <a:latin typeface="Arial"/>
            </a:endParaRPr>
          </a:p>
        </p:txBody>
      </p:sp>
      <p:sp>
        <p:nvSpPr>
          <p:cNvPr id="691" name="Text 19"/>
          <p:cNvSpPr/>
          <p:nvPr/>
        </p:nvSpPr>
        <p:spPr>
          <a:xfrm>
            <a:off x="4572000" y="3611880"/>
            <a:ext cx="3108600" cy="6854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102A4C"/>
                </a:solidFill>
                <a:effectLst/>
                <a:uFillTx/>
                <a:latin typeface="Aptos"/>
              </a:rPr>
              <a:t>States already generated; often stores best node so far.</a:t>
            </a:r>
            <a:endParaRPr lang="en-US" sz="1400" b="0" u="none" strike="noStrike">
              <a:solidFill>
                <a:srgbClr val="000000"/>
              </a:solidFill>
              <a:effectLst/>
              <a:uFillTx/>
              <a:latin typeface="Arial"/>
            </a:endParaRPr>
          </a:p>
        </p:txBody>
      </p:sp>
      <p:sp>
        <p:nvSpPr>
          <p:cNvPr id="692" name="Text 20"/>
          <p:cNvSpPr/>
          <p:nvPr/>
        </p:nvSpPr>
        <p:spPr>
          <a:xfrm>
            <a:off x="8869680" y="2971800"/>
            <a:ext cx="2194200" cy="50256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12E5C"/>
                </a:solidFill>
                <a:effectLst/>
                <a:uFillTx/>
                <a:latin typeface="Aptos"/>
              </a:rPr>
              <a:t>Strategy</a:t>
            </a:r>
            <a:endParaRPr lang="en-US" sz="1700" b="0" u="none" strike="noStrike">
              <a:solidFill>
                <a:srgbClr val="000000"/>
              </a:solidFill>
              <a:effectLst/>
              <a:uFillTx/>
              <a:latin typeface="Arial"/>
            </a:endParaRPr>
          </a:p>
        </p:txBody>
      </p:sp>
      <p:sp>
        <p:nvSpPr>
          <p:cNvPr id="693" name="Text 21"/>
          <p:cNvSpPr/>
          <p:nvPr/>
        </p:nvSpPr>
        <p:spPr>
          <a:xfrm>
            <a:off x="8458200" y="3611880"/>
            <a:ext cx="3017160" cy="6854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102A4C"/>
                </a:solidFill>
                <a:effectLst/>
                <a:uFillTx/>
                <a:latin typeface="Aptos"/>
              </a:rPr>
              <a:t>Rule for choosing which frontier node to expand next.</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69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69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69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The Frontier Separates Two Regions</a:t>
            </a:r>
            <a:endParaRPr lang="en-US" sz="2600" b="0" u="none" strike="noStrike">
              <a:solidFill>
                <a:srgbClr val="000000"/>
              </a:solidFill>
              <a:effectLst/>
              <a:uFillTx/>
              <a:latin typeface="Arial"/>
            </a:endParaRPr>
          </a:p>
        </p:txBody>
      </p:sp>
      <p:sp>
        <p:nvSpPr>
          <p:cNvPr id="69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9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99" name="Oval 6"/>
          <p:cNvSpPr/>
          <p:nvPr/>
        </p:nvSpPr>
        <p:spPr>
          <a:xfrm>
            <a:off x="7025760" y="1463040"/>
            <a:ext cx="3474360" cy="3474360"/>
          </a:xfrm>
          <a:prstGeom prst="ellipse">
            <a:avLst/>
          </a:prstGeom>
          <a:solidFill>
            <a:srgbClr val="FFFFFF"/>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700" name="Oval 7"/>
          <p:cNvSpPr/>
          <p:nvPr/>
        </p:nvSpPr>
        <p:spPr>
          <a:xfrm>
            <a:off x="7574400" y="2011680"/>
            <a:ext cx="2377080" cy="2377080"/>
          </a:xfrm>
          <a:prstGeom prst="ellipse">
            <a:avLst/>
          </a:prstGeom>
          <a:solidFill>
            <a:srgbClr val="FFE5B6"/>
          </a:solidFill>
          <a:ln w="15240">
            <a:solidFill>
              <a:srgbClr val="F6A01A"/>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701" name="Oval 8"/>
          <p:cNvSpPr/>
          <p:nvPr/>
        </p:nvSpPr>
        <p:spPr>
          <a:xfrm>
            <a:off x="8077320" y="2514600"/>
            <a:ext cx="1371240" cy="1371240"/>
          </a:xfrm>
          <a:prstGeom prst="ellipse">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702" name="Rectangle 9"/>
          <p:cNvSpPr/>
          <p:nvPr/>
        </p:nvSpPr>
        <p:spPr>
          <a:xfrm>
            <a:off x="8077320" y="3063240"/>
            <a:ext cx="13712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1" u="none" strike="noStrike">
                <a:solidFill>
                  <a:srgbClr val="112E5C"/>
                </a:solidFill>
                <a:effectLst/>
                <a:uFillTx/>
                <a:latin typeface="Aptos"/>
              </a:rPr>
              <a:t>expanded</a:t>
            </a:r>
            <a:endParaRPr lang="en-US" sz="1150" b="0" u="none" strike="noStrike">
              <a:solidFill>
                <a:srgbClr val="000000"/>
              </a:solidFill>
              <a:effectLst/>
              <a:uFillTx/>
              <a:latin typeface="Arial"/>
            </a:endParaRPr>
          </a:p>
        </p:txBody>
      </p:sp>
      <p:sp>
        <p:nvSpPr>
          <p:cNvPr id="703" name="Rectangle 10"/>
          <p:cNvSpPr/>
          <p:nvPr/>
        </p:nvSpPr>
        <p:spPr>
          <a:xfrm>
            <a:off x="8077320" y="1965960"/>
            <a:ext cx="13712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1" u="none" strike="noStrike">
                <a:solidFill>
                  <a:srgbClr val="112E5C"/>
                </a:solidFill>
                <a:effectLst/>
                <a:uFillTx/>
                <a:latin typeface="Aptos"/>
              </a:rPr>
              <a:t>frontier</a:t>
            </a:r>
            <a:endParaRPr lang="en-US" sz="1150" b="0" u="none" strike="noStrike">
              <a:solidFill>
                <a:srgbClr val="000000"/>
              </a:solidFill>
              <a:effectLst/>
              <a:uFillTx/>
              <a:latin typeface="Arial"/>
            </a:endParaRPr>
          </a:p>
        </p:txBody>
      </p:sp>
      <p:sp>
        <p:nvSpPr>
          <p:cNvPr id="704" name="Rectangle 11"/>
          <p:cNvSpPr/>
          <p:nvPr/>
        </p:nvSpPr>
        <p:spPr>
          <a:xfrm>
            <a:off x="7574400" y="1417320"/>
            <a:ext cx="237708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not yet reached</a:t>
            </a:r>
            <a:endParaRPr lang="en-US" sz="1150" b="0" u="none" strike="noStrike">
              <a:solidFill>
                <a:srgbClr val="000000"/>
              </a:solidFill>
              <a:effectLst/>
              <a:uFillTx/>
              <a:latin typeface="Arial"/>
            </a:endParaRPr>
          </a:p>
        </p:txBody>
      </p:sp>
      <p:sp>
        <p:nvSpPr>
          <p:cNvPr id="705" name="Rounded Rectangle 12"/>
          <p:cNvSpPr/>
          <p:nvPr/>
        </p:nvSpPr>
        <p:spPr>
          <a:xfrm>
            <a:off x="777240" y="15544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50" b="1" u="none" strike="noStrike">
                <a:solidFill>
                  <a:srgbClr val="112E5C"/>
                </a:solidFill>
                <a:effectLst/>
                <a:uFillTx/>
                <a:latin typeface="Aptos"/>
              </a:rPr>
              <a:t>Interior</a:t>
            </a:r>
            <a:endParaRPr lang="en-US" sz="1350" b="0" u="none" strike="noStrike">
              <a:solidFill>
                <a:srgbClr val="000000"/>
              </a:solidFill>
              <a:effectLst/>
              <a:uFillTx/>
              <a:latin typeface="Arial"/>
            </a:endParaRPr>
          </a:p>
        </p:txBody>
      </p:sp>
      <p:sp>
        <p:nvSpPr>
          <p:cNvPr id="706" name="Rectangle 13"/>
          <p:cNvSpPr/>
          <p:nvPr/>
        </p:nvSpPr>
        <p:spPr>
          <a:xfrm>
            <a:off x="2697480" y="155448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Every state here has already been expanded.</a:t>
            </a:r>
            <a:endParaRPr lang="en-US" sz="1300" b="0" u="none" strike="noStrike">
              <a:solidFill>
                <a:srgbClr val="000000"/>
              </a:solidFill>
              <a:effectLst/>
              <a:uFillTx/>
              <a:latin typeface="Arial"/>
            </a:endParaRPr>
          </a:p>
        </p:txBody>
      </p:sp>
      <p:sp>
        <p:nvSpPr>
          <p:cNvPr id="707" name="Rounded Rectangle 14"/>
          <p:cNvSpPr/>
          <p:nvPr/>
        </p:nvSpPr>
        <p:spPr>
          <a:xfrm>
            <a:off x="777240" y="2286000"/>
            <a:ext cx="17827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50" b="1" u="none" strike="noStrike">
                <a:solidFill>
                  <a:srgbClr val="112E5C"/>
                </a:solidFill>
                <a:effectLst/>
                <a:uFillTx/>
                <a:latin typeface="Aptos"/>
              </a:rPr>
              <a:t>Frontier</a:t>
            </a:r>
            <a:endParaRPr lang="en-US" sz="1350" b="0" u="none" strike="noStrike">
              <a:solidFill>
                <a:srgbClr val="000000"/>
              </a:solidFill>
              <a:effectLst/>
              <a:uFillTx/>
              <a:latin typeface="Arial"/>
            </a:endParaRPr>
          </a:p>
        </p:txBody>
      </p:sp>
      <p:sp>
        <p:nvSpPr>
          <p:cNvPr id="708" name="Rectangle 15"/>
          <p:cNvSpPr/>
          <p:nvPr/>
        </p:nvSpPr>
        <p:spPr>
          <a:xfrm>
            <a:off x="2697480" y="228600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Generated but not yet expanded. The boundary itself.</a:t>
            </a:r>
            <a:endParaRPr lang="en-US" sz="1300" b="0" u="none" strike="noStrike">
              <a:solidFill>
                <a:srgbClr val="000000"/>
              </a:solidFill>
              <a:effectLst/>
              <a:uFillTx/>
              <a:latin typeface="Arial"/>
            </a:endParaRPr>
          </a:p>
        </p:txBody>
      </p:sp>
      <p:sp>
        <p:nvSpPr>
          <p:cNvPr id="709" name="Rounded Rectangle 16"/>
          <p:cNvSpPr/>
          <p:nvPr/>
        </p:nvSpPr>
        <p:spPr>
          <a:xfrm>
            <a:off x="777240" y="3017520"/>
            <a:ext cx="1782720" cy="411120"/>
          </a:xfrm>
          <a:prstGeom prst="roundRect">
            <a:avLst>
              <a:gd name="adj" fmla="val 15384"/>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50" b="1" u="none" strike="noStrike">
                <a:solidFill>
                  <a:srgbClr val="112E5C"/>
                </a:solidFill>
                <a:effectLst/>
                <a:uFillTx/>
                <a:latin typeface="Aptos"/>
              </a:rPr>
              <a:t>Exterior</a:t>
            </a:r>
            <a:endParaRPr lang="en-US" sz="1350" b="0" u="none" strike="noStrike">
              <a:solidFill>
                <a:srgbClr val="000000"/>
              </a:solidFill>
              <a:effectLst/>
              <a:uFillTx/>
              <a:latin typeface="Arial"/>
            </a:endParaRPr>
          </a:p>
        </p:txBody>
      </p:sp>
      <p:sp>
        <p:nvSpPr>
          <p:cNvPr id="710" name="Rectangle 17"/>
          <p:cNvSpPr/>
          <p:nvPr/>
        </p:nvSpPr>
        <p:spPr>
          <a:xfrm>
            <a:off x="2697480" y="301752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Not yet reached. No node has been generated for it.</a:t>
            </a:r>
            <a:endParaRPr lang="en-US" sz="1300" b="0" u="none" strike="noStrike">
              <a:solidFill>
                <a:srgbClr val="000000"/>
              </a:solidFill>
              <a:effectLst/>
              <a:uFillTx/>
              <a:latin typeface="Arial"/>
            </a:endParaRPr>
          </a:p>
        </p:txBody>
      </p:sp>
      <p:sp>
        <p:nvSpPr>
          <p:cNvPr id="711" name="Rectangle 18"/>
          <p:cNvSpPr/>
          <p:nvPr/>
        </p:nvSpPr>
        <p:spPr>
          <a:xfrm>
            <a:off x="914400" y="4297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Every path from an expanded state to an unreached state must cross the frontier.</a:t>
            </a:r>
            <a:endParaRPr lang="en-US" sz="1700" b="0" u="none" strike="noStrike">
              <a:solidFill>
                <a:srgbClr val="000000"/>
              </a:solidFill>
              <a:effectLst/>
              <a:uFillTx/>
              <a:latin typeface="Arial"/>
            </a:endParaRPr>
          </a:p>
        </p:txBody>
      </p:sp>
      <p:sp>
        <p:nvSpPr>
          <p:cNvPr id="712" name="Rectangle 19"/>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That is why the frontier is the only thing the algorithm has to hold on to — and why its size is the space complexity of the search.</a:t>
            </a:r>
            <a:endParaRPr lang="en-US" sz="1500" b="0" u="none" strike="noStrike">
              <a:solidFill>
                <a:srgbClr val="000000"/>
              </a:solidFill>
              <a:effectLst/>
              <a:uFillTx/>
              <a:latin typeface="Arial"/>
            </a:endParaRPr>
          </a:p>
        </p:txBody>
      </p:sp>
      <p:sp>
        <p:nvSpPr>
          <p:cNvPr id="713" name="Rectangle 20"/>
          <p:cNvSpPr/>
          <p:nvPr/>
        </p:nvSpPr>
        <p:spPr>
          <a:xfrm>
            <a:off x="914400" y="53035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Reached is a separate structure: the set of states any node has been generated for, whether or not that node has been expanded.</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71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71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71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Best-First Search: One Algorithm, Many Instances</a:t>
            </a:r>
            <a:endParaRPr lang="en-US" sz="2600" b="0" u="none" strike="noStrike">
              <a:solidFill>
                <a:srgbClr val="000000"/>
              </a:solidFill>
              <a:effectLst/>
              <a:uFillTx/>
              <a:latin typeface="Arial"/>
            </a:endParaRPr>
          </a:p>
        </p:txBody>
      </p:sp>
      <p:sp>
        <p:nvSpPr>
          <p:cNvPr id="71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1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19" name="Rounded Rectangle 6"/>
          <p:cNvSpPr/>
          <p:nvPr/>
        </p:nvSpPr>
        <p:spPr>
          <a:xfrm>
            <a:off x="777240" y="1417320"/>
            <a:ext cx="5760360" cy="292572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720" name="Rectangle 7"/>
          <p:cNvSpPr/>
          <p:nvPr/>
        </p:nvSpPr>
        <p:spPr>
          <a:xfrm>
            <a:off x="941760" y="1554480"/>
            <a:ext cx="5431320" cy="2651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150"/>
              </a:spcAft>
            </a:pPr>
            <a:r>
              <a:rPr lang="en-US" sz="1100" b="0" u="none" strike="noStrike">
                <a:solidFill>
                  <a:srgbClr val="EAF2FF"/>
                </a:solidFill>
                <a:effectLst/>
                <a:uFillTx/>
                <a:latin typeface="Consolas"/>
              </a:rPr>
              <a:t>function BEST-FIRST-SEARCH(problem, f) returns a node or failure</a:t>
            </a:r>
            <a:endParaRPr lang="en-US" sz="1100" b="0" u="none" strike="noStrike">
              <a:solidFill>
                <a:srgbClr val="000000"/>
              </a:solidFill>
              <a:effectLst/>
              <a:uFillTx/>
              <a:latin typeface="Arial"/>
            </a:endParaRPr>
          </a:p>
          <a:p>
            <a:pPr defTabSz="914400">
              <a:lnSpc>
                <a:spcPct val="100000"/>
              </a:lnSpc>
              <a:spcAft>
                <a:spcPts val="150"/>
              </a:spcAft>
            </a:pP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node ← NODE(STATE = problem.INITIAL)</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frontier ← priority queue ordered by f, containing node</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reached ← lookup table {problem.INITIAL : node}</a:t>
            </a:r>
            <a:endParaRPr lang="en-US" sz="1100" b="0" u="none" strike="noStrike">
              <a:solidFill>
                <a:srgbClr val="000000"/>
              </a:solidFill>
              <a:effectLst/>
              <a:uFillTx/>
              <a:latin typeface="Arial"/>
            </a:endParaRPr>
          </a:p>
          <a:p>
            <a:pPr defTabSz="914400">
              <a:lnSpc>
                <a:spcPct val="100000"/>
              </a:lnSpc>
              <a:spcAft>
                <a:spcPts val="150"/>
              </a:spcAft>
            </a:pP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while not IS-EMPTY(frontier) do</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node ← POP(frontier)</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if problem.IS-GOAL(node.STATE) then return node</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for each child in EXPAND(problem, node) do</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s ← child.STATE</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if s not in reached or</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child.PATH-COST &lt; reached[s].PATH-COST then</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reached[s] ← child</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ADD(child, frontier)</a:t>
            </a:r>
            <a:endParaRPr lang="en-US" sz="1100" b="0" u="none" strike="noStrike">
              <a:solidFill>
                <a:srgbClr val="000000"/>
              </a:solidFill>
              <a:effectLst/>
              <a:uFillTx/>
              <a:latin typeface="Arial"/>
            </a:endParaRPr>
          </a:p>
          <a:p>
            <a:pPr defTabSz="914400">
              <a:lnSpc>
                <a:spcPct val="100000"/>
              </a:lnSpc>
              <a:spcAft>
                <a:spcPts val="150"/>
              </a:spcAft>
            </a:pPr>
            <a:r>
              <a:rPr lang="en-US" sz="1100" b="0" u="none" strike="noStrike">
                <a:solidFill>
                  <a:srgbClr val="EAF2FF"/>
                </a:solidFill>
                <a:effectLst/>
                <a:uFillTx/>
                <a:latin typeface="Consolas"/>
              </a:rPr>
              <a:t>    return failure</a:t>
            </a:r>
            <a:endParaRPr lang="en-US" sz="1100" b="0" u="none" strike="noStrike">
              <a:solidFill>
                <a:srgbClr val="000000"/>
              </a:solidFill>
              <a:effectLst/>
              <a:uFillTx/>
              <a:latin typeface="Arial"/>
            </a:endParaRPr>
          </a:p>
        </p:txBody>
      </p:sp>
      <p:sp>
        <p:nvSpPr>
          <p:cNvPr id="721" name="Rounded Rectangle 8"/>
          <p:cNvSpPr/>
          <p:nvPr/>
        </p:nvSpPr>
        <p:spPr>
          <a:xfrm>
            <a:off x="6660000" y="1417320"/>
            <a:ext cx="4754520" cy="502560"/>
          </a:xfrm>
          <a:prstGeom prst="roundRect">
            <a:avLst>
              <a:gd name="adj" fmla="val 110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0" u="none" strike="noStrike">
                <a:solidFill>
                  <a:srgbClr val="FFFFFF"/>
                </a:solidFill>
                <a:effectLst/>
                <a:uFillTx/>
                <a:latin typeface="Aptos"/>
              </a:rPr>
              <a:t>Pop the frontier node with minimum  </a:t>
            </a:r>
            <a:r>
              <a:rPr lang="en-US" sz="1700" b="1" u="none" strike="noStrike">
                <a:solidFill>
                  <a:srgbClr val="FFFFFF"/>
                </a:solidFill>
                <a:effectLst/>
                <a:uFillTx/>
                <a:latin typeface="Aptos"/>
              </a:rPr>
              <a:t>f(n)</a:t>
            </a:r>
            <a:endParaRPr lang="en-US" sz="1700" b="0" u="none" strike="noStrike">
              <a:solidFill>
                <a:srgbClr val="FFFFFF"/>
              </a:solidFill>
              <a:effectLst/>
              <a:uFillTx/>
              <a:latin typeface="Arial"/>
            </a:endParaRPr>
          </a:p>
        </p:txBody>
      </p:sp>
      <p:sp>
        <p:nvSpPr>
          <p:cNvPr id="722" name="Rounded Rectangle 9"/>
          <p:cNvSpPr/>
          <p:nvPr/>
        </p:nvSpPr>
        <p:spPr>
          <a:xfrm>
            <a:off x="6660000" y="2103120"/>
            <a:ext cx="10969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BFS</a:t>
            </a:r>
            <a:endParaRPr lang="en-US" sz="1400" b="0" u="none" strike="noStrike">
              <a:solidFill>
                <a:srgbClr val="000000"/>
              </a:solidFill>
              <a:effectLst/>
              <a:uFillTx/>
              <a:latin typeface="Arial"/>
            </a:endParaRPr>
          </a:p>
        </p:txBody>
      </p:sp>
      <p:sp>
        <p:nvSpPr>
          <p:cNvPr id="723" name="Rectangle 10"/>
          <p:cNvSpPr/>
          <p:nvPr/>
        </p:nvSpPr>
        <p:spPr>
          <a:xfrm>
            <a:off x="7894440" y="210312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400" b="1" u="none" strike="noStrike">
                <a:solidFill>
                  <a:srgbClr val="102A4C"/>
                </a:solidFill>
                <a:effectLst/>
                <a:uFillTx/>
                <a:latin typeface="Aptos"/>
              </a:rPr>
              <a:t>f(n) = depth(n)</a:t>
            </a:r>
            <a:endParaRPr lang="en-US" sz="1400" b="0" u="none" strike="noStrike">
              <a:solidFill>
                <a:srgbClr val="000000"/>
              </a:solidFill>
              <a:effectLst/>
              <a:uFillTx/>
              <a:latin typeface="Arial"/>
            </a:endParaRPr>
          </a:p>
        </p:txBody>
      </p:sp>
      <p:sp>
        <p:nvSpPr>
          <p:cNvPr id="724" name="Rounded Rectangle 11"/>
          <p:cNvSpPr/>
          <p:nvPr/>
        </p:nvSpPr>
        <p:spPr>
          <a:xfrm>
            <a:off x="6660000" y="2697480"/>
            <a:ext cx="10969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UCS</a:t>
            </a:r>
            <a:endParaRPr lang="en-US" sz="1400" b="0" u="none" strike="noStrike">
              <a:solidFill>
                <a:srgbClr val="000000"/>
              </a:solidFill>
              <a:effectLst/>
              <a:uFillTx/>
              <a:latin typeface="Arial"/>
            </a:endParaRPr>
          </a:p>
        </p:txBody>
      </p:sp>
      <p:sp>
        <p:nvSpPr>
          <p:cNvPr id="725" name="Rectangle 12"/>
          <p:cNvSpPr/>
          <p:nvPr/>
        </p:nvSpPr>
        <p:spPr>
          <a:xfrm>
            <a:off x="7894440" y="269748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400" b="1" u="none" strike="noStrike">
                <a:solidFill>
                  <a:srgbClr val="102A4C"/>
                </a:solidFill>
                <a:effectLst/>
                <a:uFillTx/>
                <a:latin typeface="Aptos"/>
              </a:rPr>
              <a:t>f(n) = g(n), the path cost</a:t>
            </a:r>
            <a:endParaRPr lang="en-US" sz="1400" b="0" u="none" strike="noStrike">
              <a:solidFill>
                <a:srgbClr val="000000"/>
              </a:solidFill>
              <a:effectLst/>
              <a:uFillTx/>
              <a:latin typeface="Arial"/>
            </a:endParaRPr>
          </a:p>
        </p:txBody>
      </p:sp>
      <p:sp>
        <p:nvSpPr>
          <p:cNvPr id="726" name="Rounded Rectangle 13"/>
          <p:cNvSpPr/>
          <p:nvPr/>
        </p:nvSpPr>
        <p:spPr>
          <a:xfrm>
            <a:off x="6660000" y="3291840"/>
            <a:ext cx="10969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DFS</a:t>
            </a:r>
            <a:endParaRPr lang="en-US" sz="1400" b="0" u="none" strike="noStrike">
              <a:solidFill>
                <a:srgbClr val="000000"/>
              </a:solidFill>
              <a:effectLst/>
              <a:uFillTx/>
              <a:latin typeface="Arial"/>
            </a:endParaRPr>
          </a:p>
        </p:txBody>
      </p:sp>
      <p:sp>
        <p:nvSpPr>
          <p:cNvPr id="727" name="Rectangle 14"/>
          <p:cNvSpPr/>
          <p:nvPr/>
        </p:nvSpPr>
        <p:spPr>
          <a:xfrm>
            <a:off x="7894440" y="329184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400" b="1" u="none" strike="noStrike">
                <a:solidFill>
                  <a:srgbClr val="102A4C"/>
                </a:solidFill>
                <a:effectLst/>
                <a:uFillTx/>
                <a:latin typeface="Aptos"/>
              </a:rPr>
              <a:t>f(n) = −depth(n)</a:t>
            </a:r>
            <a:endParaRPr lang="en-US" sz="1400" b="0" u="none" strike="noStrike">
              <a:solidFill>
                <a:srgbClr val="000000"/>
              </a:solidFill>
              <a:effectLst/>
              <a:uFillTx/>
              <a:latin typeface="Arial"/>
            </a:endParaRPr>
          </a:p>
        </p:txBody>
      </p:sp>
      <p:sp>
        <p:nvSpPr>
          <p:cNvPr id="728" name="Rounded Rectangle 15"/>
          <p:cNvSpPr/>
          <p:nvPr/>
        </p:nvSpPr>
        <p:spPr>
          <a:xfrm>
            <a:off x="6660000" y="3977640"/>
            <a:ext cx="4754520" cy="8226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729" name="Rectangle 16"/>
          <p:cNvSpPr/>
          <p:nvPr/>
        </p:nvSpPr>
        <p:spPr>
          <a:xfrm>
            <a:off x="6842880" y="4069080"/>
            <a:ext cx="438876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0" u="none" strike="noStrike">
                <a:solidFill>
                  <a:srgbClr val="112E5C"/>
                </a:solidFill>
                <a:effectLst/>
                <a:uFillTx/>
                <a:latin typeface="Aptos"/>
              </a:rPr>
              <a:t>Next lecture adds f(n) = h(n) for greedy best-first, and f(n) = g(n) + h(n) for A*. Same loop, different f.</a:t>
            </a:r>
            <a:endParaRPr lang="en-US" sz="1350" b="0" u="none" strike="noStrike">
              <a:solidFill>
                <a:srgbClr val="000000"/>
              </a:solidFill>
              <a:effectLst/>
              <a:uFillTx/>
              <a:latin typeface="Arial"/>
            </a:endParaRPr>
          </a:p>
        </p:txBody>
      </p:sp>
      <p:sp>
        <p:nvSpPr>
          <p:cNvPr id="730" name="Rectangle 17"/>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Change f and you change the algorithm. Everything in Section 3.4 is this loop with a different priority.</a:t>
            </a:r>
            <a:endParaRPr lang="en-US" sz="1700" b="0" u="none" strike="noStrike">
              <a:solidFill>
                <a:srgbClr val="000000"/>
              </a:solidFill>
              <a:effectLst/>
              <a:uFillTx/>
              <a:latin typeface="Arial"/>
            </a:endParaRPr>
          </a:p>
        </p:txBody>
      </p:sp>
      <p:sp>
        <p:nvSpPr>
          <p:cNvPr id="731" name="Rectangle 18"/>
          <p:cNvSpPr/>
          <p:nvPr/>
        </p:nvSpPr>
        <p:spPr>
          <a:xfrm>
            <a:off x="914400" y="5532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400" b="1" u="none" strike="noStrike">
                <a:solidFill>
                  <a:srgbClr val="9B1C1C"/>
                </a:solidFill>
                <a:effectLst/>
                <a:uFillTx/>
                <a:latin typeface="Aptos"/>
              </a:rPr>
              <a:t>Note the re-add rule: a node already in reached is replaced when a cheaper path to the same state turns up.</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732"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33"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734"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One Search Engine, Different Frontier Rules</a:t>
            </a:r>
            <a:endParaRPr lang="en-US" sz="2600" b="0" u="none" strike="noStrike">
              <a:solidFill>
                <a:srgbClr val="000000"/>
              </a:solidFill>
              <a:effectLst/>
              <a:uFillTx/>
              <a:latin typeface="Arial"/>
            </a:endParaRPr>
          </a:p>
        </p:txBody>
      </p:sp>
      <p:sp>
        <p:nvSpPr>
          <p:cNvPr id="735"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36"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37" name="Shape 5"/>
          <p:cNvSpPr/>
          <p:nvPr/>
        </p:nvSpPr>
        <p:spPr>
          <a:xfrm>
            <a:off x="640440" y="1326240"/>
            <a:ext cx="5303160" cy="3931560"/>
          </a:xfrm>
          <a:prstGeom prst="roundRect">
            <a:avLst>
              <a:gd name="adj" fmla="val 1163"/>
            </a:avLst>
          </a:prstGeom>
          <a:solidFill>
            <a:srgbClr val="0B1020"/>
          </a:solidFill>
          <a:ln w="12700">
            <a:solidFill>
              <a:srgbClr val="26344D"/>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38" name="Text 6"/>
          <p:cNvSpPr/>
          <p:nvPr/>
        </p:nvSpPr>
        <p:spPr>
          <a:xfrm>
            <a:off x="740880" y="2422080"/>
            <a:ext cx="4974120" cy="1882080"/>
          </a:xfrm>
          <a:prstGeom prst="rect">
            <a:avLst/>
          </a:prstGeom>
          <a:solidFill>
            <a:srgbClr val="000000"/>
          </a:solidFill>
          <a:ln w="18360">
            <a:solidFill>
              <a:srgbClr val="3465A4"/>
            </a:solidFill>
            <a:round/>
          </a:ln>
        </p:spPr>
        <p:style>
          <a:lnRef idx="0"/>
          <a:fillRef idx="0"/>
          <a:effectRef idx="0"/>
          <a:fontRef idx="minor"/>
        </p:style>
        <p:txBody>
          <a:bodyPr lIns="90000" tIns="45000" rIns="90000" bIns="45000" anchor="t">
            <a:spAutoFit/>
          </a:bodyPr>
          <a:p>
            <a:r>
              <a:rPr lang="en-US" sz="1800" b="0" u="none" strike="noStrike">
                <a:solidFill>
                  <a:srgbClr val="FFFFFF"/>
                </a:solidFill>
                <a:effectLst/>
                <a:uFillTx/>
                <a:latin typeface="Arial"/>
              </a:rPr>
              <a:t>frontier.add(start)</a:t>
            </a:r>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while frontier not empty:</a:t>
            </a:r>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    node = frontier.pop(strategy)</a:t>
            </a:r>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    if is_goal(node.state):</a:t>
            </a:r>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        return solution(node)</a:t>
            </a:r>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    for child in expand(node):</a:t>
            </a:r>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        frontier.add(child)</a:t>
            </a:r>
            <a:endParaRPr lang="en-US" sz="1800" b="0" u="none" strike="noStrike">
              <a:solidFill>
                <a:srgbClr val="FFFFFF"/>
              </a:solidFill>
              <a:effectLst/>
              <a:uFillTx/>
              <a:latin typeface="Arial"/>
            </a:endParaRPr>
          </a:p>
        </p:txBody>
      </p:sp>
      <p:sp>
        <p:nvSpPr>
          <p:cNvPr id="739" name="Text 7"/>
          <p:cNvSpPr/>
          <p:nvPr/>
        </p:nvSpPr>
        <p:spPr>
          <a:xfrm>
            <a:off x="6720840" y="1691640"/>
            <a:ext cx="1142640" cy="456840"/>
          </a:xfrm>
          <a:prstGeom prst="roundRect">
            <a:avLst>
              <a:gd name="adj" fmla="val 16000"/>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2F7FD5"/>
                </a:solidFill>
                <a:effectLst/>
                <a:uFillTx/>
                <a:latin typeface="Aptos"/>
              </a:rPr>
              <a:t>BFS</a:t>
            </a:r>
            <a:endParaRPr lang="en-US" sz="1500" b="0" u="none" strike="noStrike">
              <a:solidFill>
                <a:srgbClr val="000000"/>
              </a:solidFill>
              <a:effectLst/>
              <a:uFillTx/>
              <a:latin typeface="Arial"/>
            </a:endParaRPr>
          </a:p>
        </p:txBody>
      </p:sp>
      <p:sp>
        <p:nvSpPr>
          <p:cNvPr id="740" name="Text 8"/>
          <p:cNvSpPr/>
          <p:nvPr/>
        </p:nvSpPr>
        <p:spPr>
          <a:xfrm>
            <a:off x="8092440" y="1691640"/>
            <a:ext cx="2011320" cy="21924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500" b="1" u="none" strike="noStrike">
                <a:solidFill>
                  <a:srgbClr val="102A4C"/>
                </a:solidFill>
                <a:effectLst/>
                <a:uFillTx/>
                <a:latin typeface="Aptos"/>
              </a:rPr>
              <a:t>FIFO queue</a:t>
            </a:r>
            <a:endParaRPr lang="en-US" sz="1500" b="0" u="none" strike="noStrike">
              <a:solidFill>
                <a:srgbClr val="000000"/>
              </a:solidFill>
              <a:effectLst/>
              <a:uFillTx/>
              <a:latin typeface="Arial"/>
            </a:endParaRPr>
          </a:p>
        </p:txBody>
      </p:sp>
      <p:sp>
        <p:nvSpPr>
          <p:cNvPr id="741" name="Text 9"/>
          <p:cNvSpPr/>
          <p:nvPr/>
        </p:nvSpPr>
        <p:spPr>
          <a:xfrm>
            <a:off x="8092440" y="1984320"/>
            <a:ext cx="2834280" cy="2008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250" b="0" u="none" strike="noStrike">
                <a:solidFill>
                  <a:srgbClr val="5C6B80"/>
                </a:solidFill>
                <a:effectLst/>
                <a:uFillTx/>
                <a:latin typeface="Aptos"/>
              </a:rPr>
              <a:t>shallowest first</a:t>
            </a:r>
            <a:endParaRPr lang="en-US" sz="1250" b="0" u="none" strike="noStrike">
              <a:solidFill>
                <a:srgbClr val="000000"/>
              </a:solidFill>
              <a:effectLst/>
              <a:uFillTx/>
              <a:latin typeface="Arial"/>
            </a:endParaRPr>
          </a:p>
        </p:txBody>
      </p:sp>
      <p:sp>
        <p:nvSpPr>
          <p:cNvPr id="742" name="Text 10"/>
          <p:cNvSpPr/>
          <p:nvPr/>
        </p:nvSpPr>
        <p:spPr>
          <a:xfrm>
            <a:off x="6720840" y="2862000"/>
            <a:ext cx="1142640" cy="456840"/>
          </a:xfrm>
          <a:prstGeom prst="roundRect">
            <a:avLst>
              <a:gd name="adj" fmla="val 16000"/>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77245"/>
                </a:solidFill>
                <a:effectLst/>
                <a:uFillTx/>
                <a:latin typeface="Aptos"/>
              </a:rPr>
              <a:t>UCS</a:t>
            </a:r>
            <a:endParaRPr lang="en-US" sz="1500" b="0" u="none" strike="noStrike">
              <a:solidFill>
                <a:srgbClr val="000000"/>
              </a:solidFill>
              <a:effectLst/>
              <a:uFillTx/>
              <a:latin typeface="Arial"/>
            </a:endParaRPr>
          </a:p>
        </p:txBody>
      </p:sp>
      <p:sp>
        <p:nvSpPr>
          <p:cNvPr id="743" name="Text 11"/>
          <p:cNvSpPr/>
          <p:nvPr/>
        </p:nvSpPr>
        <p:spPr>
          <a:xfrm>
            <a:off x="8092440" y="2862000"/>
            <a:ext cx="2011320" cy="21924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500" b="1" u="none" strike="noStrike">
                <a:solidFill>
                  <a:srgbClr val="102A4C"/>
                </a:solidFill>
                <a:effectLst/>
                <a:uFillTx/>
                <a:latin typeface="Aptos"/>
              </a:rPr>
              <a:t>priority by g(n)</a:t>
            </a:r>
            <a:endParaRPr lang="en-US" sz="1500" b="0" u="none" strike="noStrike">
              <a:solidFill>
                <a:srgbClr val="000000"/>
              </a:solidFill>
              <a:effectLst/>
              <a:uFillTx/>
              <a:latin typeface="Arial"/>
            </a:endParaRPr>
          </a:p>
        </p:txBody>
      </p:sp>
      <p:sp>
        <p:nvSpPr>
          <p:cNvPr id="744" name="Text 12"/>
          <p:cNvSpPr/>
          <p:nvPr/>
        </p:nvSpPr>
        <p:spPr>
          <a:xfrm>
            <a:off x="8092440" y="3154680"/>
            <a:ext cx="2834280" cy="2008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250" b="0" u="none" strike="noStrike">
                <a:solidFill>
                  <a:srgbClr val="5C6B80"/>
                </a:solidFill>
                <a:effectLst/>
                <a:uFillTx/>
                <a:latin typeface="Aptos"/>
              </a:rPr>
              <a:t>cheapest path first</a:t>
            </a:r>
            <a:endParaRPr lang="en-US" sz="1250" b="0" u="none" strike="noStrike">
              <a:solidFill>
                <a:srgbClr val="000000"/>
              </a:solidFill>
              <a:effectLst/>
              <a:uFillTx/>
              <a:latin typeface="Arial"/>
            </a:endParaRPr>
          </a:p>
        </p:txBody>
      </p:sp>
      <p:sp>
        <p:nvSpPr>
          <p:cNvPr id="745" name="Text 13"/>
          <p:cNvSpPr/>
          <p:nvPr/>
        </p:nvSpPr>
        <p:spPr>
          <a:xfrm>
            <a:off x="6720840" y="4032360"/>
            <a:ext cx="1142640" cy="456840"/>
          </a:xfrm>
          <a:prstGeom prst="roundRect">
            <a:avLst>
              <a:gd name="adj" fmla="val 16000"/>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DFS</a:t>
            </a:r>
            <a:endParaRPr lang="en-US" sz="1500" b="0" u="none" strike="noStrike">
              <a:solidFill>
                <a:srgbClr val="000000"/>
              </a:solidFill>
              <a:effectLst/>
              <a:uFillTx/>
              <a:latin typeface="Arial"/>
            </a:endParaRPr>
          </a:p>
        </p:txBody>
      </p:sp>
      <p:sp>
        <p:nvSpPr>
          <p:cNvPr id="746" name="Text 14"/>
          <p:cNvSpPr/>
          <p:nvPr/>
        </p:nvSpPr>
        <p:spPr>
          <a:xfrm>
            <a:off x="8092440" y="4032360"/>
            <a:ext cx="2011320" cy="21924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500" b="1" u="none" strike="noStrike">
                <a:solidFill>
                  <a:srgbClr val="102A4C"/>
                </a:solidFill>
                <a:effectLst/>
                <a:uFillTx/>
                <a:latin typeface="Aptos"/>
              </a:rPr>
              <a:t>LIFO stack</a:t>
            </a:r>
            <a:endParaRPr lang="en-US" sz="1500" b="0" u="none" strike="noStrike">
              <a:solidFill>
                <a:srgbClr val="000000"/>
              </a:solidFill>
              <a:effectLst/>
              <a:uFillTx/>
              <a:latin typeface="Arial"/>
            </a:endParaRPr>
          </a:p>
        </p:txBody>
      </p:sp>
      <p:sp>
        <p:nvSpPr>
          <p:cNvPr id="747" name="Text 15"/>
          <p:cNvSpPr/>
          <p:nvPr/>
        </p:nvSpPr>
        <p:spPr>
          <a:xfrm>
            <a:off x="8092440" y="4325040"/>
            <a:ext cx="2834280" cy="2008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250" b="0" u="none" strike="noStrike">
                <a:solidFill>
                  <a:srgbClr val="5C6B80"/>
                </a:solidFill>
                <a:effectLst/>
                <a:uFillTx/>
                <a:latin typeface="Aptos"/>
              </a:rPr>
              <a:t>deepest first</a:t>
            </a:r>
            <a:endParaRPr lang="en-US" sz="1250" b="0" u="none" strike="noStrike">
              <a:solidFill>
                <a:srgbClr val="000000"/>
              </a:solidFill>
              <a:effectLst/>
              <a:uFillTx/>
              <a:latin typeface="Arial"/>
            </a:endParaRPr>
          </a:p>
        </p:txBody>
      </p:sp>
      <p:sp>
        <p:nvSpPr>
          <p:cNvPr id="748" name="Text 16"/>
          <p:cNvSpPr/>
          <p:nvPr/>
        </p:nvSpPr>
        <p:spPr>
          <a:xfrm>
            <a:off x="6583680" y="5257800"/>
            <a:ext cx="4708800" cy="41112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1700" b="1" u="none" strike="noStrike">
                <a:solidFill>
                  <a:srgbClr val="112E5C"/>
                </a:solidFill>
                <a:effectLst/>
                <a:uFillTx/>
                <a:latin typeface="Aptos"/>
              </a:rPr>
              <a:t>The algorithm changes mainly by changing how the frontier is ordered.</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749"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50"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751"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Search Data Structures</a:t>
            </a:r>
            <a:endParaRPr lang="en-US" sz="2600" b="0" u="none" strike="noStrike">
              <a:solidFill>
                <a:srgbClr val="000000"/>
              </a:solidFill>
              <a:effectLst/>
              <a:uFillTx/>
              <a:latin typeface="Arial"/>
            </a:endParaRPr>
          </a:p>
        </p:txBody>
      </p:sp>
      <p:sp>
        <p:nvSpPr>
          <p:cNvPr id="752"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53"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54" name="Text 5"/>
          <p:cNvSpPr/>
          <p:nvPr/>
        </p:nvSpPr>
        <p:spPr>
          <a:xfrm>
            <a:off x="822960" y="1325880"/>
            <a:ext cx="5760360" cy="47545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00" b="1" u="none" strike="noStrike">
                <a:solidFill>
                  <a:srgbClr val="112E5C"/>
                </a:solidFill>
                <a:effectLst/>
                <a:uFillTx/>
                <a:latin typeface="Aptos"/>
              </a:rPr>
              <a:t>Search node fields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node.STATE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node.PARENT</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node.ACTION</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node.PATH-COST, also written g(node)</a:t>
            </a: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177245"/>
                </a:solidFill>
                <a:effectLst/>
                <a:uFillTx/>
                <a:latin typeface="Aptos"/>
              </a:rPr>
              <a:t>Frontier operations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IS-EMPTY(frontier), POP(frontier), TOP(frontier), ADD(node, frontier)</a:t>
            </a: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743A6D"/>
                </a:solidFill>
                <a:effectLst/>
                <a:uFillTx/>
                <a:latin typeface="Aptos"/>
              </a:rPr>
              <a:t>Queues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Priority queue for best-first/UCS; FIFO for BFS; LIFO stack for DFS</a:t>
            </a:r>
            <a:endParaRPr lang="en-US" sz="1500" b="0" u="none" strike="noStrike">
              <a:solidFill>
                <a:srgbClr val="000000"/>
              </a:solidFill>
              <a:effectLst/>
              <a:uFillTx/>
              <a:latin typeface="Arial"/>
            </a:endParaRPr>
          </a:p>
        </p:txBody>
      </p:sp>
      <p:sp>
        <p:nvSpPr>
          <p:cNvPr id="755" name="Text 6"/>
          <p:cNvSpPr/>
          <p:nvPr/>
        </p:nvSpPr>
        <p:spPr>
          <a:xfrm>
            <a:off x="7406640" y="1508760"/>
            <a:ext cx="2925720" cy="50256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2F7FD5"/>
                </a:solidFill>
                <a:effectLst/>
                <a:uFillTx/>
                <a:latin typeface="Aptos"/>
              </a:rPr>
              <a:t>Node</a:t>
            </a:r>
            <a:endParaRPr lang="en-US" sz="1700" b="0" u="none" strike="noStrike">
              <a:solidFill>
                <a:srgbClr val="000000"/>
              </a:solidFill>
              <a:effectLst/>
              <a:uFillTx/>
              <a:latin typeface="Arial"/>
            </a:endParaRPr>
          </a:p>
        </p:txBody>
      </p:sp>
      <p:sp>
        <p:nvSpPr>
          <p:cNvPr id="756" name="Text 7"/>
          <p:cNvSpPr/>
          <p:nvPr/>
        </p:nvSpPr>
        <p:spPr>
          <a:xfrm>
            <a:off x="7726680" y="2286000"/>
            <a:ext cx="2285640" cy="383760"/>
          </a:xfrm>
          <a:prstGeom prst="roundRect">
            <a:avLst>
              <a:gd name="adj" fmla="val 19048"/>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00" b="1" u="none" strike="noStrike">
                <a:solidFill>
                  <a:srgbClr val="112E5C"/>
                </a:solidFill>
                <a:effectLst/>
                <a:uFillTx/>
                <a:latin typeface="Aptos"/>
              </a:rPr>
              <a:t>STATE</a:t>
            </a:r>
            <a:endParaRPr lang="en-US" sz="1200" b="0" u="none" strike="noStrike">
              <a:solidFill>
                <a:srgbClr val="000000"/>
              </a:solidFill>
              <a:effectLst/>
              <a:uFillTx/>
              <a:latin typeface="Arial"/>
            </a:endParaRPr>
          </a:p>
        </p:txBody>
      </p:sp>
      <p:sp>
        <p:nvSpPr>
          <p:cNvPr id="757" name="Text 8"/>
          <p:cNvSpPr/>
          <p:nvPr/>
        </p:nvSpPr>
        <p:spPr>
          <a:xfrm>
            <a:off x="7726680" y="2853000"/>
            <a:ext cx="2285640" cy="383760"/>
          </a:xfrm>
          <a:prstGeom prst="roundRect">
            <a:avLst>
              <a:gd name="adj" fmla="val 19048"/>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00" b="1" u="none" strike="noStrike">
                <a:solidFill>
                  <a:srgbClr val="112E5C"/>
                </a:solidFill>
                <a:effectLst/>
                <a:uFillTx/>
                <a:latin typeface="Aptos"/>
              </a:rPr>
              <a:t>PARENT</a:t>
            </a:r>
            <a:endParaRPr lang="en-US" sz="1200" b="0" u="none" strike="noStrike">
              <a:solidFill>
                <a:srgbClr val="000000"/>
              </a:solidFill>
              <a:effectLst/>
              <a:uFillTx/>
              <a:latin typeface="Arial"/>
            </a:endParaRPr>
          </a:p>
        </p:txBody>
      </p:sp>
      <p:sp>
        <p:nvSpPr>
          <p:cNvPr id="758" name="Text 9"/>
          <p:cNvSpPr/>
          <p:nvPr/>
        </p:nvSpPr>
        <p:spPr>
          <a:xfrm>
            <a:off x="7726680" y="3420000"/>
            <a:ext cx="2285640" cy="383760"/>
          </a:xfrm>
          <a:prstGeom prst="roundRect">
            <a:avLst>
              <a:gd name="adj" fmla="val 19048"/>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00" b="1" u="none" strike="noStrike">
                <a:solidFill>
                  <a:srgbClr val="112E5C"/>
                </a:solidFill>
                <a:effectLst/>
                <a:uFillTx/>
                <a:latin typeface="Aptos"/>
              </a:rPr>
              <a:t>ACTION</a:t>
            </a:r>
            <a:endParaRPr lang="en-US" sz="1200" b="0" u="none" strike="noStrike">
              <a:solidFill>
                <a:srgbClr val="000000"/>
              </a:solidFill>
              <a:effectLst/>
              <a:uFillTx/>
              <a:latin typeface="Arial"/>
            </a:endParaRPr>
          </a:p>
        </p:txBody>
      </p:sp>
      <p:sp>
        <p:nvSpPr>
          <p:cNvPr id="759" name="Text 10"/>
          <p:cNvSpPr/>
          <p:nvPr/>
        </p:nvSpPr>
        <p:spPr>
          <a:xfrm>
            <a:off x="7726680" y="3986640"/>
            <a:ext cx="2285640" cy="383760"/>
          </a:xfrm>
          <a:prstGeom prst="roundRect">
            <a:avLst>
              <a:gd name="adj" fmla="val 19048"/>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00" b="1" u="none" strike="noStrike">
                <a:solidFill>
                  <a:srgbClr val="112E5C"/>
                </a:solidFill>
                <a:effectLst/>
                <a:uFillTx/>
                <a:latin typeface="Aptos"/>
              </a:rPr>
              <a:t>PATH-COST</a:t>
            </a:r>
            <a:endParaRPr lang="en-US" sz="1200" b="0" u="none" strike="noStrike">
              <a:solidFill>
                <a:srgbClr val="000000"/>
              </a:solidFill>
              <a:effectLst/>
              <a:uFillTx/>
              <a:latin typeface="Arial"/>
            </a:endParaRPr>
          </a:p>
        </p:txBody>
      </p:sp>
      <p:sp>
        <p:nvSpPr>
          <p:cNvPr id="760" name="Text 11"/>
          <p:cNvSpPr/>
          <p:nvPr/>
        </p:nvSpPr>
        <p:spPr>
          <a:xfrm>
            <a:off x="6903720" y="4892040"/>
            <a:ext cx="4023000" cy="41112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1600" b="1" u="none" strike="noStrike">
                <a:solidFill>
                  <a:srgbClr val="112E5C"/>
                </a:solidFill>
                <a:effectLst/>
                <a:uFillTx/>
                <a:latin typeface="Aptos"/>
              </a:rPr>
              <a:t>Parent pointers recover the final solution path.</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761"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62"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763"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Redundant Paths and Cycles</a:t>
            </a:r>
            <a:endParaRPr lang="en-US" sz="2600" b="0" u="none" strike="noStrike">
              <a:solidFill>
                <a:srgbClr val="000000"/>
              </a:solidFill>
              <a:effectLst/>
              <a:uFillTx/>
              <a:latin typeface="Arial"/>
            </a:endParaRPr>
          </a:p>
        </p:txBody>
      </p:sp>
      <p:sp>
        <p:nvSpPr>
          <p:cNvPr id="764"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65"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66" name="Shape 5"/>
          <p:cNvSpPr/>
          <p:nvPr/>
        </p:nvSpPr>
        <p:spPr>
          <a:xfrm flipV="1">
            <a:off x="1064160" y="2119320"/>
            <a:ext cx="636480" cy="3711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67" name="Shape 6"/>
          <p:cNvSpPr/>
          <p:nvPr/>
        </p:nvSpPr>
        <p:spPr>
          <a:xfrm>
            <a:off x="1064160" y="2490480"/>
            <a:ext cx="636480" cy="4244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68" name="Shape 7"/>
          <p:cNvSpPr/>
          <p:nvPr/>
        </p:nvSpPr>
        <p:spPr>
          <a:xfrm flipV="1">
            <a:off x="1700640" y="1827720"/>
            <a:ext cx="556920" cy="2916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69" name="Shape 8"/>
          <p:cNvSpPr/>
          <p:nvPr/>
        </p:nvSpPr>
        <p:spPr>
          <a:xfrm>
            <a:off x="1700640" y="2119320"/>
            <a:ext cx="689400" cy="3448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0" name="Shape 9"/>
          <p:cNvSpPr/>
          <p:nvPr/>
        </p:nvSpPr>
        <p:spPr>
          <a:xfrm>
            <a:off x="1700640" y="2119320"/>
            <a:ext cx="1352520" cy="2386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1" name="Shape 10"/>
          <p:cNvSpPr/>
          <p:nvPr/>
        </p:nvSpPr>
        <p:spPr>
          <a:xfrm flipV="1">
            <a:off x="2257560" y="1641960"/>
            <a:ext cx="583200" cy="1857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2" name="Shape 11"/>
          <p:cNvSpPr/>
          <p:nvPr/>
        </p:nvSpPr>
        <p:spPr>
          <a:xfrm flipH="1">
            <a:off x="2390040" y="1641960"/>
            <a:ext cx="450720" cy="8222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3" name="Shape 12"/>
          <p:cNvSpPr/>
          <p:nvPr/>
        </p:nvSpPr>
        <p:spPr>
          <a:xfrm flipV="1">
            <a:off x="2390040" y="1641960"/>
            <a:ext cx="450720" cy="8222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4" name="Shape 13"/>
          <p:cNvSpPr/>
          <p:nvPr/>
        </p:nvSpPr>
        <p:spPr>
          <a:xfrm flipV="1">
            <a:off x="2390040" y="2358000"/>
            <a:ext cx="663120" cy="1062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5" name="Shape 14"/>
          <p:cNvSpPr/>
          <p:nvPr/>
        </p:nvSpPr>
        <p:spPr>
          <a:xfrm flipH="1">
            <a:off x="2814480" y="2358000"/>
            <a:ext cx="238680" cy="5835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6" name="Shape 15"/>
          <p:cNvSpPr/>
          <p:nvPr/>
        </p:nvSpPr>
        <p:spPr>
          <a:xfrm flipH="1" flipV="1">
            <a:off x="1700640" y="2914920"/>
            <a:ext cx="1113840" cy="26640"/>
          </a:xfrm>
          <a:prstGeom prst="line">
            <a:avLst/>
          </a:prstGeom>
          <a:ln w="13970">
            <a:solidFill>
              <a:srgbClr val="5C6B80"/>
            </a:solidFill>
            <a:round/>
            <a:tailEnd len="med" type="triangle" w="med"/>
          </a:ln>
        </p:spPr>
        <p:style>
          <a:lnRef idx="0"/>
          <a:fillRef idx="0"/>
          <a:effectRef idx="0"/>
          <a:fontRef idx="minor"/>
        </p:style>
        <p:txBody>
          <a:bodyPr lIns="90000" tIns="-18360" rIns="90000" bIns="-18360" anchor="t" anchorCtr="1">
            <a:noAutofit/>
          </a:bodyPr>
          <a:p>
            <a:endParaRPr lang="en-US" sz="1800" b="0" u="none" strike="noStrike">
              <a:solidFill>
                <a:srgbClr val="000000"/>
              </a:solidFill>
              <a:effectLst/>
              <a:uFillTx/>
              <a:latin typeface="Arial"/>
            </a:endParaRPr>
          </a:p>
        </p:txBody>
      </p:sp>
      <p:sp>
        <p:nvSpPr>
          <p:cNvPr id="777" name="Shape 16"/>
          <p:cNvSpPr/>
          <p:nvPr/>
        </p:nvSpPr>
        <p:spPr>
          <a:xfrm>
            <a:off x="1700640" y="2914920"/>
            <a:ext cx="583200" cy="4507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8" name="Shape 17"/>
          <p:cNvSpPr/>
          <p:nvPr/>
        </p:nvSpPr>
        <p:spPr>
          <a:xfrm flipV="1">
            <a:off x="2283840" y="2941560"/>
            <a:ext cx="530640" cy="4240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9" name="Shape 18"/>
          <p:cNvSpPr/>
          <p:nvPr/>
        </p:nvSpPr>
        <p:spPr>
          <a:xfrm>
            <a:off x="3053160" y="2358000"/>
            <a:ext cx="583200" cy="6098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0" name="Shape 19"/>
          <p:cNvSpPr/>
          <p:nvPr/>
        </p:nvSpPr>
        <p:spPr>
          <a:xfrm flipV="1">
            <a:off x="3636360" y="2596680"/>
            <a:ext cx="504000" cy="3711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1" name="Shape 20"/>
          <p:cNvSpPr/>
          <p:nvPr/>
        </p:nvSpPr>
        <p:spPr>
          <a:xfrm flipH="1" flipV="1">
            <a:off x="2390040" y="2464200"/>
            <a:ext cx="1750320" cy="1324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2" name="Shape 21"/>
          <p:cNvSpPr/>
          <p:nvPr/>
        </p:nvSpPr>
        <p:spPr>
          <a:xfrm flipV="1">
            <a:off x="4140360" y="2039760"/>
            <a:ext cx="450720" cy="5569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3" name="Text 22"/>
          <p:cNvSpPr/>
          <p:nvPr/>
        </p:nvSpPr>
        <p:spPr>
          <a:xfrm>
            <a:off x="918000" y="23446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784" name="Text 23"/>
          <p:cNvSpPr/>
          <p:nvPr/>
        </p:nvSpPr>
        <p:spPr>
          <a:xfrm>
            <a:off x="1554480" y="19731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785" name="Text 24"/>
          <p:cNvSpPr/>
          <p:nvPr/>
        </p:nvSpPr>
        <p:spPr>
          <a:xfrm>
            <a:off x="1554480" y="27687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786" name="Text 25"/>
          <p:cNvSpPr/>
          <p:nvPr/>
        </p:nvSpPr>
        <p:spPr>
          <a:xfrm>
            <a:off x="2111400" y="16815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787" name="Text 26"/>
          <p:cNvSpPr/>
          <p:nvPr/>
        </p:nvSpPr>
        <p:spPr>
          <a:xfrm>
            <a:off x="2243880" y="23180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788" name="Text 27"/>
          <p:cNvSpPr/>
          <p:nvPr/>
        </p:nvSpPr>
        <p:spPr>
          <a:xfrm>
            <a:off x="2907000" y="2211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789" name="Text 28"/>
          <p:cNvSpPr/>
          <p:nvPr/>
        </p:nvSpPr>
        <p:spPr>
          <a:xfrm>
            <a:off x="2668320" y="27954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790" name="Text 29"/>
          <p:cNvSpPr/>
          <p:nvPr/>
        </p:nvSpPr>
        <p:spPr>
          <a:xfrm>
            <a:off x="2138040" y="32194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791" name="Text 30"/>
          <p:cNvSpPr/>
          <p:nvPr/>
        </p:nvSpPr>
        <p:spPr>
          <a:xfrm>
            <a:off x="2694600" y="14958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792" name="Text 31"/>
          <p:cNvSpPr/>
          <p:nvPr/>
        </p:nvSpPr>
        <p:spPr>
          <a:xfrm>
            <a:off x="3490200" y="28216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793" name="Text 32"/>
          <p:cNvSpPr/>
          <p:nvPr/>
        </p:nvSpPr>
        <p:spPr>
          <a:xfrm>
            <a:off x="3994200" y="24505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794" name="Text 33"/>
          <p:cNvSpPr/>
          <p:nvPr/>
        </p:nvSpPr>
        <p:spPr>
          <a:xfrm>
            <a:off x="4444920" y="18936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795" name="Text 34"/>
          <p:cNvSpPr/>
          <p:nvPr/>
        </p:nvSpPr>
        <p:spPr>
          <a:xfrm>
            <a:off x="6675120" y="1417320"/>
            <a:ext cx="4663080" cy="40230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00" b="1" u="none" strike="noStrike">
                <a:solidFill>
                  <a:srgbClr val="112E5C"/>
                </a:solidFill>
                <a:effectLst/>
                <a:uFillTx/>
                <a:latin typeface="Aptos"/>
              </a:rPr>
              <a:t>Repeated state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same state reached by different paths</a:t>
            </a: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9B1C1C"/>
                </a:solidFill>
                <a:effectLst/>
                <a:uFillTx/>
                <a:latin typeface="Aptos"/>
              </a:rPr>
              <a:t>Cycle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path returns to a state already on the same path</a:t>
            </a: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177245"/>
                </a:solidFill>
                <a:effectLst/>
                <a:uFillTx/>
                <a:latin typeface="Aptos"/>
              </a:rPr>
              <a:t>Options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remember all reached states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ignore repeats to save memory</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check only cycles as a compromise</a:t>
            </a:r>
            <a:endParaRPr lang="en-US" sz="1500" b="0" u="none" strike="noStrike">
              <a:solidFill>
                <a:srgbClr val="000000"/>
              </a:solidFill>
              <a:effectLst/>
              <a:uFillTx/>
              <a:latin typeface="Arial"/>
            </a:endParaRPr>
          </a:p>
        </p:txBody>
      </p:sp>
      <p:sp>
        <p:nvSpPr>
          <p:cNvPr id="796" name="Text 35"/>
          <p:cNvSpPr/>
          <p:nvPr/>
        </p:nvSpPr>
        <p:spPr>
          <a:xfrm>
            <a:off x="1005840" y="5669280"/>
            <a:ext cx="10240920" cy="3654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1" u="none" strike="noStrike">
                <a:solidFill>
                  <a:srgbClr val="9B1C1C"/>
                </a:solidFill>
                <a:effectLst/>
                <a:uFillTx/>
                <a:latin typeface="Aptos"/>
              </a:rPr>
              <a:t>Without memory, search may repeat itself indefinitely or waste massive work.</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79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79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79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Graph Search vs. Tree-Like Search</a:t>
            </a:r>
            <a:endParaRPr lang="en-US" sz="2600" b="0" u="none" strike="noStrike">
              <a:solidFill>
                <a:srgbClr val="000000"/>
              </a:solidFill>
              <a:effectLst/>
              <a:uFillTx/>
              <a:latin typeface="Arial"/>
            </a:endParaRPr>
          </a:p>
        </p:txBody>
      </p:sp>
      <p:sp>
        <p:nvSpPr>
          <p:cNvPr id="80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0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02" name="Rounded Rectangle 6"/>
          <p:cNvSpPr/>
          <p:nvPr/>
        </p:nvSpPr>
        <p:spPr>
          <a:xfrm>
            <a:off x="777240" y="1417320"/>
            <a:ext cx="33829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Graph search</a:t>
            </a:r>
            <a:endParaRPr lang="en-US" sz="1450" b="0" u="none" strike="noStrike">
              <a:solidFill>
                <a:srgbClr val="000000"/>
              </a:solidFill>
              <a:effectLst/>
              <a:uFillTx/>
              <a:latin typeface="Arial"/>
            </a:endParaRPr>
          </a:p>
        </p:txBody>
      </p:sp>
      <p:sp>
        <p:nvSpPr>
          <p:cNvPr id="803" name="Rectangle 7"/>
          <p:cNvSpPr/>
          <p:nvPr/>
        </p:nvSpPr>
        <p:spPr>
          <a:xfrm>
            <a:off x="77724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Remembers every reached state</a:t>
            </a:r>
            <a:endParaRPr lang="en-US" sz="1150" b="0" u="none" strike="noStrike">
              <a:solidFill>
                <a:srgbClr val="000000"/>
              </a:solidFill>
              <a:effectLst/>
              <a:uFillTx/>
              <a:latin typeface="Arial"/>
            </a:endParaRPr>
          </a:p>
        </p:txBody>
      </p:sp>
      <p:sp>
        <p:nvSpPr>
          <p:cNvPr id="804" name="Rounded Rectangle 8"/>
          <p:cNvSpPr/>
          <p:nvPr/>
        </p:nvSpPr>
        <p:spPr>
          <a:xfrm>
            <a:off x="77724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05" name="Rectangle 9"/>
          <p:cNvSpPr/>
          <p:nvPr/>
        </p:nvSpPr>
        <p:spPr>
          <a:xfrm>
            <a:off x="96012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Keeps the full reached table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Detects all redundant paths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Keeps only the best path to each state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Preferred whenever the table fits in memory</a:t>
            </a:r>
            <a:endParaRPr lang="en-US" sz="1250" b="0" u="none" strike="noStrike">
              <a:solidFill>
                <a:srgbClr val="000000"/>
              </a:solidFill>
              <a:effectLst/>
              <a:uFillTx/>
              <a:latin typeface="Arial"/>
            </a:endParaRPr>
          </a:p>
        </p:txBody>
      </p:sp>
      <p:sp>
        <p:nvSpPr>
          <p:cNvPr id="806" name="Rounded Rectangle 10"/>
          <p:cNvSpPr/>
          <p:nvPr/>
        </p:nvSpPr>
        <p:spPr>
          <a:xfrm>
            <a:off x="4404240" y="1417320"/>
            <a:ext cx="33829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Cycle checking</a:t>
            </a:r>
            <a:endParaRPr lang="en-US" sz="1450" b="0" u="none" strike="noStrike">
              <a:solidFill>
                <a:srgbClr val="000000"/>
              </a:solidFill>
              <a:effectLst/>
              <a:uFillTx/>
              <a:latin typeface="Arial"/>
            </a:endParaRPr>
          </a:p>
        </p:txBody>
      </p:sp>
      <p:sp>
        <p:nvSpPr>
          <p:cNvPr id="807" name="Rectangle 11"/>
          <p:cNvSpPr/>
          <p:nvPr/>
        </p:nvSpPr>
        <p:spPr>
          <a:xfrm>
            <a:off x="440424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The middle option</a:t>
            </a:r>
            <a:endParaRPr lang="en-US" sz="1150" b="0" u="none" strike="noStrike">
              <a:solidFill>
                <a:srgbClr val="000000"/>
              </a:solidFill>
              <a:effectLst/>
              <a:uFillTx/>
              <a:latin typeface="Arial"/>
            </a:endParaRPr>
          </a:p>
        </p:txBody>
      </p:sp>
      <p:sp>
        <p:nvSpPr>
          <p:cNvPr id="808" name="Rounded Rectangle 12"/>
          <p:cNvSpPr/>
          <p:nvPr/>
        </p:nvSpPr>
        <p:spPr>
          <a:xfrm>
            <a:off x="440424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09" name="Rectangle 13"/>
          <p:cNvSpPr/>
          <p:nvPr/>
        </p:nvSpPr>
        <p:spPr>
          <a:xfrm>
            <a:off x="458712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Walks up the parent chain from a node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Needs no additional memory at all</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Check all the way up, or only a few links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Catches loops, misses general redundancy</a:t>
            </a:r>
            <a:endParaRPr lang="en-US" sz="1250" b="0" u="none" strike="noStrike">
              <a:solidFill>
                <a:srgbClr val="000000"/>
              </a:solidFill>
              <a:effectLst/>
              <a:uFillTx/>
              <a:latin typeface="Arial"/>
            </a:endParaRPr>
          </a:p>
        </p:txBody>
      </p:sp>
      <p:sp>
        <p:nvSpPr>
          <p:cNvPr id="810" name="Rounded Rectangle 14"/>
          <p:cNvSpPr/>
          <p:nvPr/>
        </p:nvSpPr>
        <p:spPr>
          <a:xfrm>
            <a:off x="8031600" y="1417320"/>
            <a:ext cx="33829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Tree-like search</a:t>
            </a:r>
            <a:endParaRPr lang="en-US" sz="1450" b="0" u="none" strike="noStrike">
              <a:solidFill>
                <a:srgbClr val="000000"/>
              </a:solidFill>
              <a:effectLst/>
              <a:uFillTx/>
              <a:latin typeface="Arial"/>
            </a:endParaRPr>
          </a:p>
        </p:txBody>
      </p:sp>
      <p:sp>
        <p:nvSpPr>
          <p:cNvPr id="811" name="Rectangle 15"/>
          <p:cNvSpPr/>
          <p:nvPr/>
        </p:nvSpPr>
        <p:spPr>
          <a:xfrm>
            <a:off x="803160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Does not check at all</a:t>
            </a:r>
            <a:endParaRPr lang="en-US" sz="1150" b="0" u="none" strike="noStrike">
              <a:solidFill>
                <a:srgbClr val="000000"/>
              </a:solidFill>
              <a:effectLst/>
              <a:uFillTx/>
              <a:latin typeface="Arial"/>
            </a:endParaRPr>
          </a:p>
        </p:txBody>
      </p:sp>
      <p:sp>
        <p:nvSpPr>
          <p:cNvPr id="812" name="Rounded Rectangle 16"/>
          <p:cNvSpPr/>
          <p:nvPr/>
        </p:nvSpPr>
        <p:spPr>
          <a:xfrm>
            <a:off x="803160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13" name="Rectangle 17"/>
          <p:cNvSpPr/>
          <p:nvPr/>
        </p:nvSpPr>
        <p:spPr>
          <a:xfrm>
            <a:off x="821448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No reached table is kept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Much smaller memory footprint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Re-examines the same state via many paths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Fine when two paths rarely meet</a:t>
            </a:r>
            <a:endParaRPr lang="en-US" sz="1250" b="0" u="none" strike="noStrike">
              <a:solidFill>
                <a:srgbClr val="000000"/>
              </a:solidFill>
              <a:effectLst/>
              <a:uFillTx/>
              <a:latin typeface="Arial"/>
            </a:endParaRPr>
          </a:p>
        </p:txBody>
      </p:sp>
      <p:sp>
        <p:nvSpPr>
          <p:cNvPr id="814" name="Rounded Rectangle 18"/>
          <p:cNvSpPr/>
          <p:nvPr/>
        </p:nvSpPr>
        <p:spPr>
          <a:xfrm>
            <a:off x="914400" y="4114800"/>
            <a:ext cx="10423800" cy="594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15" name="Rectangle 19"/>
          <p:cNvSpPr/>
          <p:nvPr/>
        </p:nvSpPr>
        <p:spPr>
          <a:xfrm>
            <a:off x="109728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2400" b="1" u="none" strike="noStrike">
                <a:solidFill>
                  <a:srgbClr val="9B1C1C"/>
                </a:solidFill>
                <a:effectLst/>
                <a:uFillTx/>
                <a:latin typeface="Aptos"/>
              </a:rPr>
              <a:t>100</a:t>
            </a:r>
            <a:endParaRPr lang="en-US" sz="2400" b="0" u="none" strike="noStrike">
              <a:solidFill>
                <a:srgbClr val="000000"/>
              </a:solidFill>
              <a:effectLst/>
              <a:uFillTx/>
              <a:latin typeface="Arial"/>
            </a:endParaRPr>
          </a:p>
        </p:txBody>
      </p:sp>
      <p:sp>
        <p:nvSpPr>
          <p:cNvPr id="816" name="Rectangle 20"/>
          <p:cNvSpPr/>
          <p:nvPr/>
        </p:nvSpPr>
        <p:spPr>
          <a:xfrm>
            <a:off x="237744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00" b="0" u="none" strike="noStrike">
                <a:solidFill>
                  <a:srgbClr val="5C6B80"/>
                </a:solidFill>
                <a:effectLst/>
                <a:uFillTx/>
                <a:latin typeface="Aptos"/>
              </a:rPr>
              <a:t>cells in a 10 × 10 grid world</a:t>
            </a:r>
            <a:endParaRPr lang="en-US" sz="1200" b="0" u="none" strike="noStrike">
              <a:solidFill>
                <a:srgbClr val="000000"/>
              </a:solidFill>
              <a:effectLst/>
              <a:uFillTx/>
              <a:latin typeface="Arial"/>
            </a:endParaRPr>
          </a:p>
        </p:txBody>
      </p:sp>
      <p:sp>
        <p:nvSpPr>
          <p:cNvPr id="817" name="Rectangle 21"/>
          <p:cNvSpPr/>
          <p:nvPr/>
        </p:nvSpPr>
        <p:spPr>
          <a:xfrm>
            <a:off x="448056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2400" b="1" u="none" strike="noStrike">
                <a:solidFill>
                  <a:srgbClr val="9B1C1C"/>
                </a:solidFill>
                <a:effectLst/>
                <a:uFillTx/>
                <a:latin typeface="Aptos"/>
              </a:rPr>
              <a:t>≤ 9</a:t>
            </a:r>
            <a:endParaRPr lang="en-US" sz="2400" b="0" u="none" strike="noStrike">
              <a:solidFill>
                <a:srgbClr val="000000"/>
              </a:solidFill>
              <a:effectLst/>
              <a:uFillTx/>
              <a:latin typeface="Arial"/>
            </a:endParaRPr>
          </a:p>
        </p:txBody>
      </p:sp>
      <p:sp>
        <p:nvSpPr>
          <p:cNvPr id="818" name="Rectangle 22"/>
          <p:cNvSpPr/>
          <p:nvPr/>
        </p:nvSpPr>
        <p:spPr>
          <a:xfrm>
            <a:off x="576072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00" b="0" u="none" strike="noStrike">
                <a:solidFill>
                  <a:srgbClr val="5C6B80"/>
                </a:solidFill>
                <a:effectLst/>
                <a:uFillTx/>
                <a:latin typeface="Aptos"/>
              </a:rPr>
              <a:t>moves to reach any of them</a:t>
            </a:r>
            <a:endParaRPr lang="en-US" sz="1200" b="0" u="none" strike="noStrike">
              <a:solidFill>
                <a:srgbClr val="000000"/>
              </a:solidFill>
              <a:effectLst/>
              <a:uFillTx/>
              <a:latin typeface="Arial"/>
            </a:endParaRPr>
          </a:p>
        </p:txBody>
      </p:sp>
      <p:sp>
        <p:nvSpPr>
          <p:cNvPr id="819" name="Rectangle 23"/>
          <p:cNvSpPr/>
          <p:nvPr/>
        </p:nvSpPr>
        <p:spPr>
          <a:xfrm>
            <a:off x="786384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2400" b="1" u="none" strike="noStrike">
                <a:solidFill>
                  <a:srgbClr val="9B1C1C"/>
                </a:solidFill>
                <a:effectLst/>
                <a:uFillTx/>
                <a:latin typeface="Aptos"/>
              </a:rPr>
              <a:t>≈ 8⁹</a:t>
            </a:r>
            <a:endParaRPr lang="en-US" sz="2400" b="0" u="none" strike="noStrike">
              <a:solidFill>
                <a:srgbClr val="000000"/>
              </a:solidFill>
              <a:effectLst/>
              <a:uFillTx/>
              <a:latin typeface="Arial"/>
            </a:endParaRPr>
          </a:p>
        </p:txBody>
      </p:sp>
      <p:sp>
        <p:nvSpPr>
          <p:cNvPr id="820" name="Rectangle 24"/>
          <p:cNvSpPr/>
          <p:nvPr/>
        </p:nvSpPr>
        <p:spPr>
          <a:xfrm>
            <a:off x="914400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00" b="0" u="none" strike="noStrike">
                <a:solidFill>
                  <a:srgbClr val="5C6B80"/>
                </a:solidFill>
                <a:effectLst/>
                <a:uFillTx/>
                <a:latin typeface="Aptos"/>
              </a:rPr>
              <a:t>paths of length 9 — over 100 million</a:t>
            </a:r>
            <a:endParaRPr lang="en-US" sz="1200" b="0" u="none" strike="noStrike">
              <a:solidFill>
                <a:srgbClr val="000000"/>
              </a:solidFill>
              <a:effectLst/>
              <a:uFillTx/>
              <a:latin typeface="Arial"/>
            </a:endParaRPr>
          </a:p>
        </p:txBody>
      </p:sp>
      <p:sp>
        <p:nvSpPr>
          <p:cNvPr id="821" name="Rectangle 2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Eliminate redundant paths and this search finishes roughly a million times faster.</a:t>
            </a:r>
            <a:endParaRPr lang="en-US" sz="1700" b="0" u="none" strike="noStrike">
              <a:solidFill>
                <a:srgbClr val="000000"/>
              </a:solidFill>
              <a:effectLst/>
              <a:uFillTx/>
              <a:latin typeface="Arial"/>
            </a:endParaRPr>
          </a:p>
        </p:txBody>
      </p:sp>
      <p:sp>
        <p:nvSpPr>
          <p:cNvPr id="822" name="Rectangle 26"/>
          <p:cNvSpPr/>
          <p:nvPr/>
        </p:nvSpPr>
        <p:spPr>
          <a:xfrm>
            <a:off x="914400" y="53492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Algorithms that cannot remember the past are doomed to repeat it. Caution: the Figure 3.15 comparison table assumes the tree-like versions.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823"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24"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825"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How We Evaluate Search Algorithms</a:t>
            </a:r>
            <a:endParaRPr lang="en-US" sz="2600" b="0" u="none" strike="noStrike">
              <a:solidFill>
                <a:srgbClr val="000000"/>
              </a:solidFill>
              <a:effectLst/>
              <a:uFillTx/>
              <a:latin typeface="Arial"/>
            </a:endParaRPr>
          </a:p>
        </p:txBody>
      </p:sp>
      <p:sp>
        <p:nvSpPr>
          <p:cNvPr id="826"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27"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28" name="Text 5"/>
          <p:cNvSpPr/>
          <p:nvPr/>
        </p:nvSpPr>
        <p:spPr>
          <a:xfrm>
            <a:off x="868680" y="1508760"/>
            <a:ext cx="2194200" cy="50256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Complete?</a:t>
            </a:r>
            <a:endParaRPr lang="en-US" sz="1600" b="0" u="none" strike="noStrike">
              <a:solidFill>
                <a:srgbClr val="000000"/>
              </a:solidFill>
              <a:effectLst/>
              <a:uFillTx/>
              <a:latin typeface="Arial"/>
            </a:endParaRPr>
          </a:p>
        </p:txBody>
      </p:sp>
      <p:sp>
        <p:nvSpPr>
          <p:cNvPr id="829" name="Text 6"/>
          <p:cNvSpPr/>
          <p:nvPr/>
        </p:nvSpPr>
        <p:spPr>
          <a:xfrm>
            <a:off x="3291840" y="1563480"/>
            <a:ext cx="2651400" cy="38376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450" b="0" u="none" strike="noStrike">
                <a:solidFill>
                  <a:srgbClr val="102A4C"/>
                </a:solidFill>
                <a:effectLst/>
                <a:uFillTx/>
                <a:latin typeface="Aptos"/>
              </a:rPr>
              <a:t>Guaranteed to find a solution if one exists.</a:t>
            </a:r>
            <a:endParaRPr lang="en-US" sz="1450" b="0" u="none" strike="noStrike">
              <a:solidFill>
                <a:srgbClr val="000000"/>
              </a:solidFill>
              <a:effectLst/>
              <a:uFillTx/>
              <a:latin typeface="Arial"/>
            </a:endParaRPr>
          </a:p>
        </p:txBody>
      </p:sp>
      <p:sp>
        <p:nvSpPr>
          <p:cNvPr id="830" name="Text 7"/>
          <p:cNvSpPr/>
          <p:nvPr/>
        </p:nvSpPr>
        <p:spPr>
          <a:xfrm>
            <a:off x="6355080" y="1508760"/>
            <a:ext cx="2194200" cy="50256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Cost-optimal?</a:t>
            </a:r>
            <a:endParaRPr lang="en-US" sz="1600" b="0" u="none" strike="noStrike">
              <a:solidFill>
                <a:srgbClr val="000000"/>
              </a:solidFill>
              <a:effectLst/>
              <a:uFillTx/>
              <a:latin typeface="Arial"/>
            </a:endParaRPr>
          </a:p>
        </p:txBody>
      </p:sp>
      <p:sp>
        <p:nvSpPr>
          <p:cNvPr id="831" name="Text 8"/>
          <p:cNvSpPr/>
          <p:nvPr/>
        </p:nvSpPr>
        <p:spPr>
          <a:xfrm>
            <a:off x="8778240" y="1563480"/>
            <a:ext cx="2651400" cy="38376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450" b="0" u="none" strike="noStrike">
                <a:solidFill>
                  <a:srgbClr val="102A4C"/>
                </a:solidFill>
                <a:effectLst/>
                <a:uFillTx/>
                <a:latin typeface="Aptos"/>
              </a:rPr>
              <a:t>Guaranteed to find the least-cost solution.</a:t>
            </a:r>
            <a:endParaRPr lang="en-US" sz="1450" b="0" u="none" strike="noStrike">
              <a:solidFill>
                <a:srgbClr val="000000"/>
              </a:solidFill>
              <a:effectLst/>
              <a:uFillTx/>
              <a:latin typeface="Arial"/>
            </a:endParaRPr>
          </a:p>
        </p:txBody>
      </p:sp>
      <p:sp>
        <p:nvSpPr>
          <p:cNvPr id="832" name="Text 9"/>
          <p:cNvSpPr/>
          <p:nvPr/>
        </p:nvSpPr>
        <p:spPr>
          <a:xfrm>
            <a:off x="868680" y="3063240"/>
            <a:ext cx="2194200" cy="50256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Time complexity</a:t>
            </a:r>
            <a:endParaRPr lang="en-US" sz="1600" b="0" u="none" strike="noStrike">
              <a:solidFill>
                <a:srgbClr val="000000"/>
              </a:solidFill>
              <a:effectLst/>
              <a:uFillTx/>
              <a:latin typeface="Arial"/>
            </a:endParaRPr>
          </a:p>
        </p:txBody>
      </p:sp>
      <p:sp>
        <p:nvSpPr>
          <p:cNvPr id="833" name="Text 10"/>
          <p:cNvSpPr/>
          <p:nvPr/>
        </p:nvSpPr>
        <p:spPr>
          <a:xfrm>
            <a:off x="3291840" y="3117960"/>
            <a:ext cx="2651400" cy="38376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450" b="0" u="none" strike="noStrike">
                <a:solidFill>
                  <a:srgbClr val="102A4C"/>
                </a:solidFill>
                <a:effectLst/>
                <a:uFillTx/>
                <a:latin typeface="Aptos"/>
              </a:rPr>
              <a:t>How many states/actions are considered.</a:t>
            </a:r>
            <a:endParaRPr lang="en-US" sz="1450" b="0" u="none" strike="noStrike">
              <a:solidFill>
                <a:srgbClr val="000000"/>
              </a:solidFill>
              <a:effectLst/>
              <a:uFillTx/>
              <a:latin typeface="Arial"/>
            </a:endParaRPr>
          </a:p>
        </p:txBody>
      </p:sp>
      <p:sp>
        <p:nvSpPr>
          <p:cNvPr id="834" name="Text 11"/>
          <p:cNvSpPr/>
          <p:nvPr/>
        </p:nvSpPr>
        <p:spPr>
          <a:xfrm>
            <a:off x="6355080" y="3063240"/>
            <a:ext cx="2194200" cy="50256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Space complexity</a:t>
            </a:r>
            <a:endParaRPr lang="en-US" sz="1600" b="0" u="none" strike="noStrike">
              <a:solidFill>
                <a:srgbClr val="000000"/>
              </a:solidFill>
              <a:effectLst/>
              <a:uFillTx/>
              <a:latin typeface="Arial"/>
            </a:endParaRPr>
          </a:p>
        </p:txBody>
      </p:sp>
      <p:sp>
        <p:nvSpPr>
          <p:cNvPr id="835" name="Text 12"/>
          <p:cNvSpPr/>
          <p:nvPr/>
        </p:nvSpPr>
        <p:spPr>
          <a:xfrm>
            <a:off x="8778240" y="3117960"/>
            <a:ext cx="2651400" cy="383760"/>
          </a:xfrm>
          <a:prstGeom prst="rect">
            <a:avLst/>
          </a:prstGeom>
          <a:noFill/>
          <a:ln w="0">
            <a:noFill/>
          </a:ln>
        </p:spPr>
        <p:style>
          <a:lnRef idx="0"/>
          <a:fillRef idx="0"/>
          <a:effectRef idx="0"/>
          <a:fontRef idx="minor"/>
        </p:style>
        <p:txBody>
          <a:bodyPr lIns="720" tIns="720" rIns="720" bIns="720" anchor="ctr">
            <a:normAutofit fontScale="92500" lnSpcReduction="9999"/>
          </a:bodyPr>
          <a:p>
            <a:pPr defTabSz="914400">
              <a:lnSpc>
                <a:spcPct val="100000"/>
              </a:lnSpc>
              <a:tabLst>
                <a:tab pos="0" algn="l"/>
              </a:tabLst>
            </a:pPr>
            <a:r>
              <a:rPr lang="en-US" sz="1450" b="0" u="none" strike="noStrike">
                <a:solidFill>
                  <a:srgbClr val="102A4C"/>
                </a:solidFill>
                <a:effectLst/>
                <a:uFillTx/>
                <a:latin typeface="Aptos"/>
              </a:rPr>
              <a:t>How much memory is required.</a:t>
            </a:r>
            <a:endParaRPr lang="en-US" sz="1450" b="0" u="none" strike="noStrike">
              <a:solidFill>
                <a:srgbClr val="000000"/>
              </a:solidFill>
              <a:effectLst/>
              <a:uFillTx/>
              <a:latin typeface="Arial"/>
            </a:endParaRPr>
          </a:p>
        </p:txBody>
      </p:sp>
      <p:sp>
        <p:nvSpPr>
          <p:cNvPr id="836" name="Text 13"/>
          <p:cNvSpPr/>
          <p:nvPr/>
        </p:nvSpPr>
        <p:spPr>
          <a:xfrm>
            <a:off x="914400" y="5074920"/>
            <a:ext cx="10240920" cy="41112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1700" b="1" u="none" strike="noStrike">
                <a:solidFill>
                  <a:srgbClr val="112E5C"/>
                </a:solidFill>
                <a:effectLst/>
                <a:uFillTx/>
                <a:latin typeface="Aptos"/>
              </a:rPr>
              <a:t>Implicit problem parameters: b = branching factor, d = shallowest solution depth, m = maximum path depth.</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83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3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3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Completeness Is Harder Than “Never Repeat a State”</a:t>
            </a:r>
            <a:endParaRPr lang="en-US" sz="2600" b="0" u="none" strike="noStrike">
              <a:solidFill>
                <a:srgbClr val="000000"/>
              </a:solidFill>
              <a:effectLst/>
              <a:uFillTx/>
              <a:latin typeface="Arial"/>
            </a:endParaRPr>
          </a:p>
        </p:txBody>
      </p:sp>
      <p:sp>
        <p:nvSpPr>
          <p:cNvPr id="84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4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42" name="Rounded Rectangle 6"/>
          <p:cNvSpPr/>
          <p:nvPr/>
        </p:nvSpPr>
        <p:spPr>
          <a:xfrm>
            <a:off x="777240" y="141732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Finite state spaces</a:t>
            </a:r>
            <a:endParaRPr lang="en-US" sz="1450" b="0" u="none" strike="noStrike">
              <a:solidFill>
                <a:srgbClr val="000000"/>
              </a:solidFill>
              <a:effectLst/>
              <a:uFillTx/>
              <a:latin typeface="Arial"/>
            </a:endParaRPr>
          </a:p>
        </p:txBody>
      </p:sp>
      <p:sp>
        <p:nvSpPr>
          <p:cNvPr id="843" name="Rounded Rectangle 7"/>
          <p:cNvSpPr/>
          <p:nvPr/>
        </p:nvSpPr>
        <p:spPr>
          <a:xfrm>
            <a:off x="777240" y="1874520"/>
            <a:ext cx="5028840" cy="100548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44" name="Rectangle 8"/>
          <p:cNvSpPr/>
          <p:nvPr/>
        </p:nvSpPr>
        <p:spPr>
          <a:xfrm>
            <a:off x="1005840" y="196596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0" u="none" strike="noStrike">
                <a:solidFill>
                  <a:srgbClr val="102A4C"/>
                </a:solidFill>
                <a:effectLst/>
                <a:uFillTx/>
                <a:latin typeface="Aptos"/>
              </a:rPr>
              <a:t>Track paths, cut off cycles, and you will eventually reach every state reachable from the initial state. Completeness is straightforward.</a:t>
            </a:r>
            <a:endParaRPr lang="en-US" sz="1350" b="0" u="none" strike="noStrike">
              <a:solidFill>
                <a:srgbClr val="000000"/>
              </a:solidFill>
              <a:effectLst/>
              <a:uFillTx/>
              <a:latin typeface="Arial"/>
            </a:endParaRPr>
          </a:p>
        </p:txBody>
      </p:sp>
      <p:sp>
        <p:nvSpPr>
          <p:cNvPr id="845" name="Rounded Rectangle 9"/>
          <p:cNvSpPr/>
          <p:nvPr/>
        </p:nvSpPr>
        <p:spPr>
          <a:xfrm>
            <a:off x="6385680" y="1417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Infinite state spaces</a:t>
            </a:r>
            <a:endParaRPr lang="en-US" sz="1450" b="0" u="none" strike="noStrike">
              <a:solidFill>
                <a:srgbClr val="000000"/>
              </a:solidFill>
              <a:effectLst/>
              <a:uFillTx/>
              <a:latin typeface="Arial"/>
            </a:endParaRPr>
          </a:p>
        </p:txBody>
      </p:sp>
      <p:sp>
        <p:nvSpPr>
          <p:cNvPr id="846" name="Rounded Rectangle 10"/>
          <p:cNvSpPr/>
          <p:nvPr/>
        </p:nvSpPr>
        <p:spPr>
          <a:xfrm>
            <a:off x="6385680" y="1874520"/>
            <a:ext cx="5028840" cy="100548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47" name="Rectangle 11"/>
          <p:cNvSpPr/>
          <p:nvPr/>
        </p:nvSpPr>
        <p:spPr>
          <a:xfrm>
            <a:off x="6614280" y="196596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0" u="none" strike="noStrike">
                <a:solidFill>
                  <a:srgbClr val="102A4C"/>
                </a:solidFill>
                <a:effectLst/>
                <a:uFillTx/>
                <a:latin typeface="Aptos"/>
              </a:rPr>
              <a:t>An algorithm can generate a brand-new state on every step and still be incomplete, because whole regions are never reached.</a:t>
            </a:r>
            <a:endParaRPr lang="en-US" sz="1350" b="0" u="none" strike="noStrike">
              <a:solidFill>
                <a:srgbClr val="000000"/>
              </a:solidFill>
              <a:effectLst/>
              <a:uFillTx/>
              <a:latin typeface="Arial"/>
            </a:endParaRPr>
          </a:p>
        </p:txBody>
      </p:sp>
      <p:sp>
        <p:nvSpPr>
          <p:cNvPr id="848" name="Rounded Rectangle 12"/>
          <p:cNvSpPr/>
          <p:nvPr/>
        </p:nvSpPr>
        <p:spPr>
          <a:xfrm>
            <a:off x="777240" y="3063240"/>
            <a:ext cx="10637280" cy="45684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49" name="Rectangle 13"/>
          <p:cNvSpPr/>
          <p:nvPr/>
        </p:nvSpPr>
        <p:spPr>
          <a:xfrm>
            <a:off x="960120" y="3063240"/>
            <a:ext cx="201132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9B1C1C"/>
                </a:solidFill>
                <a:effectLst/>
                <a:uFillTx/>
                <a:latin typeface="Aptos"/>
              </a:rPr>
              <a:t>Knuth's “4”</a:t>
            </a:r>
            <a:endParaRPr lang="en-US" sz="1300" b="0" u="none" strike="noStrike">
              <a:solidFill>
                <a:srgbClr val="000000"/>
              </a:solidFill>
              <a:effectLst/>
              <a:uFillTx/>
              <a:latin typeface="Arial"/>
            </a:endParaRPr>
          </a:p>
        </p:txBody>
      </p:sp>
      <p:sp>
        <p:nvSpPr>
          <p:cNvPr id="850" name="Rectangle 14"/>
          <p:cNvSpPr/>
          <p:nvPr/>
        </p:nvSpPr>
        <p:spPr>
          <a:xfrm>
            <a:off x="3063240" y="3063240"/>
            <a:ext cx="813780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4 → 4! → (4!)! → … every state is new, and almost nothing is ever reached</a:t>
            </a:r>
            <a:endParaRPr lang="en-US" sz="1300" b="0" u="none" strike="noStrike">
              <a:solidFill>
                <a:srgbClr val="000000"/>
              </a:solidFill>
              <a:effectLst/>
              <a:uFillTx/>
              <a:latin typeface="Arial"/>
            </a:endParaRPr>
          </a:p>
        </p:txBody>
      </p:sp>
      <p:sp>
        <p:nvSpPr>
          <p:cNvPr id="851" name="Rounded Rectangle 15"/>
          <p:cNvSpPr/>
          <p:nvPr/>
        </p:nvSpPr>
        <p:spPr>
          <a:xfrm>
            <a:off x="777240" y="3611880"/>
            <a:ext cx="10637280" cy="45684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52" name="Rectangle 16"/>
          <p:cNvSpPr/>
          <p:nvPr/>
        </p:nvSpPr>
        <p:spPr>
          <a:xfrm>
            <a:off x="960120" y="3611880"/>
            <a:ext cx="201132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9B1C1C"/>
                </a:solidFill>
                <a:effectLst/>
                <a:uFillTx/>
                <a:latin typeface="Aptos"/>
              </a:rPr>
              <a:t>Infinite grid</a:t>
            </a:r>
            <a:endParaRPr lang="en-US" sz="1300" b="0" u="none" strike="noStrike">
              <a:solidFill>
                <a:srgbClr val="000000"/>
              </a:solidFill>
              <a:effectLst/>
              <a:uFillTx/>
              <a:latin typeface="Arial"/>
            </a:endParaRPr>
          </a:p>
        </p:txBody>
      </p:sp>
      <p:sp>
        <p:nvSpPr>
          <p:cNvPr id="853" name="Rectangle 17"/>
          <p:cNvSpPr/>
          <p:nvPr/>
        </p:nvSpPr>
        <p:spPr>
          <a:xfrm>
            <a:off x="3063240" y="3611880"/>
            <a:ext cx="813780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walk north forever: no repeats, no cycles, no coverage</a:t>
            </a:r>
            <a:endParaRPr lang="en-US" sz="1300" b="0" u="none" strike="noStrike">
              <a:solidFill>
                <a:srgbClr val="000000"/>
              </a:solidFill>
              <a:effectLst/>
              <a:uFillTx/>
              <a:latin typeface="Arial"/>
            </a:endParaRPr>
          </a:p>
        </p:txBody>
      </p:sp>
      <p:sp>
        <p:nvSpPr>
          <p:cNvPr id="854" name="Rectangle 18"/>
          <p:cNvSpPr/>
          <p:nvPr/>
        </p:nvSpPr>
        <p:spPr>
          <a:xfrm>
            <a:off x="914400" y="4297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To be complete, a search must be systematic: it must eventually reach any state connected to the initial state.</a:t>
            </a:r>
            <a:endParaRPr lang="en-US" sz="1700" b="0" u="none" strike="noStrike">
              <a:solidFill>
                <a:srgbClr val="000000"/>
              </a:solidFill>
              <a:effectLst/>
              <a:uFillTx/>
              <a:latin typeface="Arial"/>
            </a:endParaRPr>
          </a:p>
        </p:txBody>
      </p:sp>
      <p:sp>
        <p:nvSpPr>
          <p:cNvPr id="855" name="Rectangle 19"/>
          <p:cNvSpPr/>
          <p:nvPr/>
        </p:nvSpPr>
        <p:spPr>
          <a:xfrm>
            <a:off x="914400" y="48920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450" b="0" u="none" strike="noStrike">
                <a:solidFill>
                  <a:srgbClr val="5C6B80"/>
                </a:solidFill>
                <a:effectLst/>
                <a:uFillTx/>
                <a:latin typeface="Aptos"/>
              </a:rPr>
              <a:t>On an infinite grid, one systematic order is an outward spiral — cover every cell s steps away before moving to s + 1.</a:t>
            </a:r>
            <a:endParaRPr lang="en-US" sz="1450" b="0" u="none" strike="noStrike">
              <a:solidFill>
                <a:srgbClr val="000000"/>
              </a:solidFill>
              <a:effectLst/>
              <a:uFillTx/>
              <a:latin typeface="Arial"/>
            </a:endParaRPr>
          </a:p>
        </p:txBody>
      </p:sp>
      <p:sp>
        <p:nvSpPr>
          <p:cNvPr id="856" name="Rectangle 20"/>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And in an infinite space with no solution, a sound algorithm can never terminate: it cannot rule out that the next state is a goal.</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2E5C"/>
        </a:solidFill>
      </p:bgPr>
    </p:bg>
    <p:spTree>
      <p:nvGrpSpPr>
        <p:cNvPr id="1" name=""/>
        <p:cNvGrpSpPr/>
        <p:nvPr/>
      </p:nvGrpSpPr>
      <p:grpSpPr>
        <a:xfrm>
          <a:off x="0" y="0"/>
          <a:ext cx="0" cy="0"/>
          <a:chOff x="0" y="0"/>
          <a:chExt cx="0" cy="0"/>
        </a:xfrm>
      </p:grpSpPr>
      <p:sp>
        <p:nvSpPr>
          <p:cNvPr id="857" name="Shape 0"/>
          <p:cNvSpPr/>
          <p:nvPr/>
        </p:nvSpPr>
        <p:spPr>
          <a:xfrm>
            <a:off x="0" y="0"/>
            <a:ext cx="12191400" cy="68576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58" name="Shape 1"/>
          <p:cNvSpPr/>
          <p:nvPr/>
        </p:nvSpPr>
        <p:spPr>
          <a:xfrm>
            <a:off x="0" y="5440680"/>
            <a:ext cx="12191400" cy="109440"/>
          </a:xfrm>
          <a:prstGeom prst="rect">
            <a:avLst/>
          </a:prstGeom>
          <a:solidFill>
            <a:srgbClr val="F6A01A"/>
          </a:solidFill>
          <a:ln w="1270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9" name="Text 2"/>
          <p:cNvSpPr/>
          <p:nvPr/>
        </p:nvSpPr>
        <p:spPr>
          <a:xfrm>
            <a:off x="914400" y="2240280"/>
            <a:ext cx="10332360" cy="502560"/>
          </a:xfrm>
          <a:prstGeom prst="rect">
            <a:avLst/>
          </a:prstGeom>
          <a:noFill/>
          <a:ln w="0">
            <a:noFill/>
          </a:ln>
        </p:spPr>
        <p:style>
          <a:lnRef idx="0"/>
          <a:fillRef idx="0"/>
          <a:effectRef idx="0"/>
          <a:fontRef idx="minor"/>
        </p:style>
        <p:txBody>
          <a:bodyPr lIns="720" tIns="720" rIns="720" bIns="720" anchor="ctr">
            <a:normAutofit lnSpcReduction="9999"/>
          </a:bodyPr>
          <a:p>
            <a:pPr algn="ctr" defTabSz="914400">
              <a:lnSpc>
                <a:spcPct val="100000"/>
              </a:lnSpc>
              <a:tabLst>
                <a:tab pos="0" algn="l"/>
              </a:tabLst>
            </a:pPr>
            <a:r>
              <a:rPr lang="en-US" sz="3600" b="1" u="none" strike="noStrike">
                <a:solidFill>
                  <a:srgbClr val="FFFFFF"/>
                </a:solidFill>
                <a:effectLst/>
                <a:uFillTx/>
                <a:latin typeface="Aptos"/>
              </a:rPr>
              <a:t>Section 3.4</a:t>
            </a:r>
            <a:endParaRPr lang="en-US" sz="3600" b="0" u="none" strike="noStrike">
              <a:solidFill>
                <a:srgbClr val="FFFFFF"/>
              </a:solidFill>
              <a:effectLst/>
              <a:uFillTx/>
              <a:latin typeface="Arial"/>
            </a:endParaRPr>
          </a:p>
        </p:txBody>
      </p:sp>
      <p:sp>
        <p:nvSpPr>
          <p:cNvPr id="860" name="Text 3"/>
          <p:cNvSpPr/>
          <p:nvPr/>
        </p:nvSpPr>
        <p:spPr>
          <a:xfrm>
            <a:off x="914400" y="2971800"/>
            <a:ext cx="10332360" cy="3654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900" b="0" u="none" strike="noStrike">
                <a:solidFill>
                  <a:srgbClr val="DCE8FF"/>
                </a:solidFill>
                <a:effectLst/>
                <a:uFillTx/>
                <a:latin typeface="Aptos"/>
              </a:rPr>
              <a:t>Uninformed Search Strategies</a:t>
            </a:r>
            <a:endParaRPr lang="en-US" sz="1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861"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62"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863"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Breadth-First Search (BFS)</a:t>
            </a:r>
            <a:endParaRPr lang="en-US" sz="2600" b="0" u="none" strike="noStrike">
              <a:solidFill>
                <a:srgbClr val="000000"/>
              </a:solidFill>
              <a:effectLst/>
              <a:uFillTx/>
              <a:latin typeface="Arial"/>
            </a:endParaRPr>
          </a:p>
        </p:txBody>
      </p:sp>
      <p:sp>
        <p:nvSpPr>
          <p:cNvPr id="864"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65"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66" name="Text 5"/>
          <p:cNvSpPr/>
          <p:nvPr/>
        </p:nvSpPr>
        <p:spPr>
          <a:xfrm>
            <a:off x="822960" y="1417320"/>
            <a:ext cx="1828440" cy="50256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867" name="Text 6"/>
          <p:cNvSpPr/>
          <p:nvPr/>
        </p:nvSpPr>
        <p:spPr>
          <a:xfrm>
            <a:off x="2880360" y="1463040"/>
            <a:ext cx="4205880" cy="3196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700" b="1" u="none" strike="noStrike">
                <a:solidFill>
                  <a:srgbClr val="102A4C"/>
                </a:solidFill>
                <a:effectLst/>
                <a:uFillTx/>
                <a:latin typeface="Aptos"/>
              </a:rPr>
              <a:t>Expand the shallowest node first.</a:t>
            </a:r>
            <a:endParaRPr lang="en-US" sz="1700" b="0" u="none" strike="noStrike">
              <a:solidFill>
                <a:srgbClr val="000000"/>
              </a:solidFill>
              <a:effectLst/>
              <a:uFillTx/>
              <a:latin typeface="Arial"/>
            </a:endParaRPr>
          </a:p>
        </p:txBody>
      </p:sp>
      <p:sp>
        <p:nvSpPr>
          <p:cNvPr id="868" name="Text 7"/>
          <p:cNvSpPr/>
          <p:nvPr/>
        </p:nvSpPr>
        <p:spPr>
          <a:xfrm>
            <a:off x="822960" y="2240280"/>
            <a:ext cx="1828440" cy="50256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869" name="Text 8"/>
          <p:cNvSpPr/>
          <p:nvPr/>
        </p:nvSpPr>
        <p:spPr>
          <a:xfrm>
            <a:off x="2880360" y="2286000"/>
            <a:ext cx="4388760" cy="31968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600" b="0" u="none" strike="noStrike">
                <a:solidFill>
                  <a:srgbClr val="102A4C"/>
                </a:solidFill>
                <a:effectLst/>
                <a:uFillTx/>
                <a:latin typeface="Aptos"/>
              </a:rPr>
              <a:t>FIFO queue: oldest generated nodes expand first.</a:t>
            </a:r>
            <a:endParaRPr lang="en-US" sz="1600" b="0" u="none" strike="noStrike">
              <a:solidFill>
                <a:srgbClr val="000000"/>
              </a:solidFill>
              <a:effectLst/>
              <a:uFillTx/>
              <a:latin typeface="Arial"/>
            </a:endParaRPr>
          </a:p>
        </p:txBody>
      </p:sp>
      <p:sp>
        <p:nvSpPr>
          <p:cNvPr id="870" name="Text 9"/>
          <p:cNvSpPr/>
          <p:nvPr/>
        </p:nvSpPr>
        <p:spPr>
          <a:xfrm>
            <a:off x="822960" y="3063240"/>
            <a:ext cx="1828440" cy="50256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Guarantees</a:t>
            </a:r>
            <a:endParaRPr lang="en-US" sz="1600" b="0" u="none" strike="noStrike">
              <a:solidFill>
                <a:srgbClr val="000000"/>
              </a:solidFill>
              <a:effectLst/>
              <a:uFillTx/>
              <a:latin typeface="Arial"/>
            </a:endParaRPr>
          </a:p>
        </p:txBody>
      </p:sp>
      <p:sp>
        <p:nvSpPr>
          <p:cNvPr id="871" name="Text 10"/>
          <p:cNvSpPr/>
          <p:nvPr/>
        </p:nvSpPr>
        <p:spPr>
          <a:xfrm>
            <a:off x="2880360" y="3108960"/>
            <a:ext cx="5028840" cy="319680"/>
          </a:xfrm>
          <a:prstGeom prst="rect">
            <a:avLst/>
          </a:prstGeom>
          <a:noFill/>
          <a:ln w="0">
            <a:noFill/>
          </a:ln>
        </p:spPr>
        <p:style>
          <a:lnRef idx="0"/>
          <a:fillRef idx="0"/>
          <a:effectRef idx="0"/>
          <a:fontRef idx="minor"/>
        </p:style>
        <p:txBody>
          <a:bodyPr lIns="720" tIns="720" rIns="720" bIns="720" anchor="ctr">
            <a:normAutofit fontScale="77500" lnSpcReduction="19999"/>
          </a:bodyPr>
          <a:p>
            <a:pPr defTabSz="914400">
              <a:lnSpc>
                <a:spcPct val="100000"/>
              </a:lnSpc>
              <a:tabLst>
                <a:tab pos="0" algn="l"/>
              </a:tabLst>
            </a:pPr>
            <a:r>
              <a:rPr lang="en-US" sz="1600" b="0" u="none" strike="noStrike">
                <a:solidFill>
                  <a:srgbClr val="102A4C"/>
                </a:solidFill>
                <a:effectLst/>
                <a:uFillTx/>
                <a:latin typeface="Aptos"/>
              </a:rPr>
              <a:t>Complete; cost-optimal only when all actions have equal cost.</a:t>
            </a:r>
            <a:endParaRPr lang="en-US" sz="1600" b="0" u="none" strike="noStrike">
              <a:solidFill>
                <a:srgbClr val="000000"/>
              </a:solidFill>
              <a:effectLst/>
              <a:uFillTx/>
              <a:latin typeface="Arial"/>
            </a:endParaRPr>
          </a:p>
        </p:txBody>
      </p:sp>
      <p:sp>
        <p:nvSpPr>
          <p:cNvPr id="872" name="Shape 11"/>
          <p:cNvSpPr/>
          <p:nvPr/>
        </p:nvSpPr>
        <p:spPr>
          <a:xfrm flipH="1">
            <a:off x="9209520" y="1881720"/>
            <a:ext cx="135540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73" name="Shape 12"/>
          <p:cNvSpPr/>
          <p:nvPr/>
        </p:nvSpPr>
        <p:spPr>
          <a:xfrm>
            <a:off x="10564920" y="1881720"/>
            <a:ext cx="36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74" name="Shape 13"/>
          <p:cNvSpPr/>
          <p:nvPr/>
        </p:nvSpPr>
        <p:spPr>
          <a:xfrm>
            <a:off x="10564920" y="188172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75" name="Shape 14"/>
          <p:cNvSpPr/>
          <p:nvPr/>
        </p:nvSpPr>
        <p:spPr>
          <a:xfrm flipH="1">
            <a:off x="8603280" y="252360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76" name="Shape 15"/>
          <p:cNvSpPr/>
          <p:nvPr/>
        </p:nvSpPr>
        <p:spPr>
          <a:xfrm>
            <a:off x="9209520" y="2523600"/>
            <a:ext cx="36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77" name="Shape 16"/>
          <p:cNvSpPr/>
          <p:nvPr/>
        </p:nvSpPr>
        <p:spPr>
          <a:xfrm>
            <a:off x="9209520" y="252360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78" name="Shape 17"/>
          <p:cNvSpPr/>
          <p:nvPr/>
        </p:nvSpPr>
        <p:spPr>
          <a:xfrm flipH="1">
            <a:off x="10172520" y="2523600"/>
            <a:ext cx="39240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79" name="Shape 18"/>
          <p:cNvSpPr/>
          <p:nvPr/>
        </p:nvSpPr>
        <p:spPr>
          <a:xfrm>
            <a:off x="10564920" y="2523600"/>
            <a:ext cx="3920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0" name="Shape 19"/>
          <p:cNvSpPr/>
          <p:nvPr/>
        </p:nvSpPr>
        <p:spPr>
          <a:xfrm>
            <a:off x="11919960" y="2523600"/>
            <a:ext cx="36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1" name="Shape 20"/>
          <p:cNvSpPr/>
          <p:nvPr/>
        </p:nvSpPr>
        <p:spPr>
          <a:xfrm flipH="1">
            <a:off x="8389440" y="320112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2" name="Shape 21"/>
          <p:cNvSpPr/>
          <p:nvPr/>
        </p:nvSpPr>
        <p:spPr>
          <a:xfrm flipH="1">
            <a:off x="8995680" y="320112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3" name="Shape 22"/>
          <p:cNvSpPr/>
          <p:nvPr/>
        </p:nvSpPr>
        <p:spPr>
          <a:xfrm flipH="1">
            <a:off x="9601920" y="320112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4" name="Shape 23"/>
          <p:cNvSpPr/>
          <p:nvPr/>
        </p:nvSpPr>
        <p:spPr>
          <a:xfrm>
            <a:off x="9815760" y="3201120"/>
            <a:ext cx="3924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5" name="Shape 24"/>
          <p:cNvSpPr/>
          <p:nvPr/>
        </p:nvSpPr>
        <p:spPr>
          <a:xfrm>
            <a:off x="10172520" y="3201120"/>
            <a:ext cx="49932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6" name="Shape 25"/>
          <p:cNvSpPr/>
          <p:nvPr/>
        </p:nvSpPr>
        <p:spPr>
          <a:xfrm>
            <a:off x="10172520" y="3201120"/>
            <a:ext cx="92736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7" name="Shape 26"/>
          <p:cNvSpPr/>
          <p:nvPr/>
        </p:nvSpPr>
        <p:spPr>
          <a:xfrm>
            <a:off x="10956960" y="3201120"/>
            <a:ext cx="5706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8" name="Shape 27"/>
          <p:cNvSpPr/>
          <p:nvPr/>
        </p:nvSpPr>
        <p:spPr>
          <a:xfrm flipH="1">
            <a:off x="11313720" y="380736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9" name="Shape 28"/>
          <p:cNvSpPr/>
          <p:nvPr/>
        </p:nvSpPr>
        <p:spPr>
          <a:xfrm>
            <a:off x="11527560" y="3807360"/>
            <a:ext cx="28548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90" name="Text 29"/>
          <p:cNvSpPr/>
          <p:nvPr/>
        </p:nvSpPr>
        <p:spPr>
          <a:xfrm>
            <a:off x="10418760" y="17355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891" name="Text 30"/>
          <p:cNvSpPr/>
          <p:nvPr/>
        </p:nvSpPr>
        <p:spPr>
          <a:xfrm>
            <a:off x="9063360" y="23774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892" name="Text 31"/>
          <p:cNvSpPr/>
          <p:nvPr/>
        </p:nvSpPr>
        <p:spPr>
          <a:xfrm>
            <a:off x="10418760" y="23774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93" name="Text 32"/>
          <p:cNvSpPr/>
          <p:nvPr/>
        </p:nvSpPr>
        <p:spPr>
          <a:xfrm>
            <a:off x="11773800" y="23774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894" name="Text 33"/>
          <p:cNvSpPr/>
          <p:nvPr/>
        </p:nvSpPr>
        <p:spPr>
          <a:xfrm>
            <a:off x="8457120" y="30549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895" name="Text 34"/>
          <p:cNvSpPr/>
          <p:nvPr/>
        </p:nvSpPr>
        <p:spPr>
          <a:xfrm>
            <a:off x="9063360" y="30549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896" name="Text 35"/>
          <p:cNvSpPr/>
          <p:nvPr/>
        </p:nvSpPr>
        <p:spPr>
          <a:xfrm>
            <a:off x="9669960" y="30549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97" name="Text 36"/>
          <p:cNvSpPr/>
          <p:nvPr/>
        </p:nvSpPr>
        <p:spPr>
          <a:xfrm>
            <a:off x="10026360" y="30549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898" name="Text 37"/>
          <p:cNvSpPr/>
          <p:nvPr/>
        </p:nvSpPr>
        <p:spPr>
          <a:xfrm>
            <a:off x="10810800" y="30549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899" name="Text 38"/>
          <p:cNvSpPr/>
          <p:nvPr/>
        </p:nvSpPr>
        <p:spPr>
          <a:xfrm>
            <a:off x="11773800" y="30549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00" name="Text 39"/>
          <p:cNvSpPr/>
          <p:nvPr/>
        </p:nvSpPr>
        <p:spPr>
          <a:xfrm>
            <a:off x="8243280" y="36612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901" name="Text 40"/>
          <p:cNvSpPr/>
          <p:nvPr/>
        </p:nvSpPr>
        <p:spPr>
          <a:xfrm>
            <a:off x="8849520" y="36612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902" name="Text 41"/>
          <p:cNvSpPr/>
          <p:nvPr/>
        </p:nvSpPr>
        <p:spPr>
          <a:xfrm>
            <a:off x="9455760" y="36612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903" name="Text 42"/>
          <p:cNvSpPr/>
          <p:nvPr/>
        </p:nvSpPr>
        <p:spPr>
          <a:xfrm>
            <a:off x="10062000" y="36612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904" name="Text 43"/>
          <p:cNvSpPr/>
          <p:nvPr/>
        </p:nvSpPr>
        <p:spPr>
          <a:xfrm>
            <a:off x="10525680" y="36612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05" name="Text 44"/>
          <p:cNvSpPr/>
          <p:nvPr/>
        </p:nvSpPr>
        <p:spPr>
          <a:xfrm>
            <a:off x="10953720" y="36612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06" name="Text 45"/>
          <p:cNvSpPr/>
          <p:nvPr/>
        </p:nvSpPr>
        <p:spPr>
          <a:xfrm>
            <a:off x="11381400" y="36612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907" name="Text 46"/>
          <p:cNvSpPr/>
          <p:nvPr/>
        </p:nvSpPr>
        <p:spPr>
          <a:xfrm>
            <a:off x="11167560" y="42674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908" name="Text 47"/>
          <p:cNvSpPr/>
          <p:nvPr/>
        </p:nvSpPr>
        <p:spPr>
          <a:xfrm>
            <a:off x="11666880" y="42674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909" name="Text 48"/>
          <p:cNvSpPr/>
          <p:nvPr/>
        </p:nvSpPr>
        <p:spPr>
          <a:xfrm>
            <a:off x="7909560" y="5074920"/>
            <a:ext cx="2742840" cy="3196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1" u="none" strike="noStrike">
                <a:solidFill>
                  <a:srgbClr val="112E5C"/>
                </a:solidFill>
                <a:effectLst/>
                <a:uFillTx/>
                <a:latin typeface="Aptos"/>
              </a:rPr>
              <a:t>Layer by layer</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10"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1"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912"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BFS Build 1: Start at Depth 0</a:t>
            </a:r>
            <a:endParaRPr lang="en-US" sz="2600" b="0" u="none" strike="noStrike">
              <a:solidFill>
                <a:srgbClr val="000000"/>
              </a:solidFill>
              <a:effectLst/>
              <a:uFillTx/>
              <a:latin typeface="Arial"/>
            </a:endParaRPr>
          </a:p>
        </p:txBody>
      </p:sp>
      <p:sp>
        <p:nvSpPr>
          <p:cNvPr id="913"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14"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15" name="Text 5"/>
          <p:cNvSpPr/>
          <p:nvPr/>
        </p:nvSpPr>
        <p:spPr>
          <a:xfrm>
            <a:off x="4749480" y="155268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16" name="Text 6"/>
          <p:cNvSpPr/>
          <p:nvPr/>
        </p:nvSpPr>
        <p:spPr>
          <a:xfrm>
            <a:off x="7315200" y="2057400"/>
            <a:ext cx="3291480" cy="548280"/>
          </a:xfrm>
          <a:prstGeom prst="roundRect">
            <a:avLst>
              <a:gd name="adj" fmla="val 1333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2F7FD5"/>
                </a:solidFill>
                <a:effectLst/>
                <a:uFillTx/>
                <a:latin typeface="Aptos"/>
              </a:rPr>
              <a:t>Frontier = [S]</a:t>
            </a:r>
            <a:endParaRPr lang="en-US" sz="1800" b="0" u="none" strike="noStrike">
              <a:solidFill>
                <a:srgbClr val="000000"/>
              </a:solidFill>
              <a:effectLst/>
              <a:uFillTx/>
              <a:latin typeface="Arial"/>
            </a:endParaRPr>
          </a:p>
        </p:txBody>
      </p:sp>
      <p:sp>
        <p:nvSpPr>
          <p:cNvPr id="917" name="Text 7"/>
          <p:cNvSpPr/>
          <p:nvPr/>
        </p:nvSpPr>
        <p:spPr>
          <a:xfrm>
            <a:off x="7315200" y="2971800"/>
            <a:ext cx="3291480" cy="4111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BFS starts with the root node.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18"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9"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920"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BFS Build 2: Expand Depth 1</a:t>
            </a:r>
            <a:endParaRPr lang="en-US" sz="2600" b="0" u="none" strike="noStrike">
              <a:solidFill>
                <a:srgbClr val="000000"/>
              </a:solidFill>
              <a:effectLst/>
              <a:uFillTx/>
              <a:latin typeface="Arial"/>
            </a:endParaRPr>
          </a:p>
        </p:txBody>
      </p:sp>
      <p:sp>
        <p:nvSpPr>
          <p:cNvPr id="921"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22"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23" name="Shape 5"/>
          <p:cNvSpPr/>
          <p:nvPr/>
        </p:nvSpPr>
        <p:spPr>
          <a:xfrm flipH="1">
            <a:off x="3540240" y="1698840"/>
            <a:ext cx="135540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24" name="Shape 6"/>
          <p:cNvSpPr/>
          <p:nvPr/>
        </p:nvSpPr>
        <p:spPr>
          <a:xfrm>
            <a:off x="4895640" y="1698840"/>
            <a:ext cx="36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25" name="Shape 7"/>
          <p:cNvSpPr/>
          <p:nvPr/>
        </p:nvSpPr>
        <p:spPr>
          <a:xfrm>
            <a:off x="4895640" y="169884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26" name="Text 8"/>
          <p:cNvSpPr/>
          <p:nvPr/>
        </p:nvSpPr>
        <p:spPr>
          <a:xfrm>
            <a:off x="4749480" y="155268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27" name="Text 9"/>
          <p:cNvSpPr/>
          <p:nvPr/>
        </p:nvSpPr>
        <p:spPr>
          <a:xfrm>
            <a:off x="3394080" y="21945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928" name="Text 10"/>
          <p:cNvSpPr/>
          <p:nvPr/>
        </p:nvSpPr>
        <p:spPr>
          <a:xfrm>
            <a:off x="4749480" y="21945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29" name="Text 11"/>
          <p:cNvSpPr/>
          <p:nvPr/>
        </p:nvSpPr>
        <p:spPr>
          <a:xfrm>
            <a:off x="6104520" y="21945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30" name="Text 12"/>
          <p:cNvSpPr/>
          <p:nvPr/>
        </p:nvSpPr>
        <p:spPr>
          <a:xfrm>
            <a:off x="7132320" y="1920240"/>
            <a:ext cx="3657240" cy="548280"/>
          </a:xfrm>
          <a:prstGeom prst="roundRect">
            <a:avLst>
              <a:gd name="adj" fmla="val 1333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2F7FD5"/>
                </a:solidFill>
                <a:effectLst/>
                <a:uFillTx/>
                <a:latin typeface="Aptos"/>
              </a:rPr>
              <a:t>Frontier = [d, e, p]</a:t>
            </a:r>
            <a:endParaRPr lang="en-US" sz="1800" b="0" u="none" strike="noStrike">
              <a:solidFill>
                <a:srgbClr val="000000"/>
              </a:solidFill>
              <a:effectLst/>
              <a:uFillTx/>
              <a:latin typeface="Arial"/>
            </a:endParaRPr>
          </a:p>
        </p:txBody>
      </p:sp>
      <p:sp>
        <p:nvSpPr>
          <p:cNvPr id="931" name="Text 13"/>
          <p:cNvSpPr/>
          <p:nvPr/>
        </p:nvSpPr>
        <p:spPr>
          <a:xfrm>
            <a:off x="7086600" y="2880360"/>
            <a:ext cx="3748680" cy="7311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The children of S are added to the back of the FIFO queue.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32"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3"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934"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BFS Build 3: Expand by Tiers</a:t>
            </a:r>
            <a:endParaRPr lang="en-US" sz="2600" b="0" u="none" strike="noStrike">
              <a:solidFill>
                <a:srgbClr val="000000"/>
              </a:solidFill>
              <a:effectLst/>
              <a:uFillTx/>
              <a:latin typeface="Arial"/>
            </a:endParaRPr>
          </a:p>
        </p:txBody>
      </p:sp>
      <p:sp>
        <p:nvSpPr>
          <p:cNvPr id="935"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36"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37" name="Shape 5"/>
          <p:cNvSpPr/>
          <p:nvPr/>
        </p:nvSpPr>
        <p:spPr>
          <a:xfrm flipH="1">
            <a:off x="3540240" y="1653120"/>
            <a:ext cx="135540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38" name="Shape 6"/>
          <p:cNvSpPr/>
          <p:nvPr/>
        </p:nvSpPr>
        <p:spPr>
          <a:xfrm>
            <a:off x="4895640" y="1653120"/>
            <a:ext cx="36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39" name="Shape 7"/>
          <p:cNvSpPr/>
          <p:nvPr/>
        </p:nvSpPr>
        <p:spPr>
          <a:xfrm>
            <a:off x="4895640" y="165312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40" name="Shape 8"/>
          <p:cNvSpPr/>
          <p:nvPr/>
        </p:nvSpPr>
        <p:spPr>
          <a:xfrm flipH="1">
            <a:off x="2934000" y="229500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41" name="Shape 9"/>
          <p:cNvSpPr/>
          <p:nvPr/>
        </p:nvSpPr>
        <p:spPr>
          <a:xfrm>
            <a:off x="3540240" y="2295000"/>
            <a:ext cx="36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42" name="Shape 10"/>
          <p:cNvSpPr/>
          <p:nvPr/>
        </p:nvSpPr>
        <p:spPr>
          <a:xfrm>
            <a:off x="3540240" y="229500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43" name="Shape 11"/>
          <p:cNvSpPr/>
          <p:nvPr/>
        </p:nvSpPr>
        <p:spPr>
          <a:xfrm flipH="1">
            <a:off x="4503240" y="2295000"/>
            <a:ext cx="39240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44" name="Shape 12"/>
          <p:cNvSpPr/>
          <p:nvPr/>
        </p:nvSpPr>
        <p:spPr>
          <a:xfrm>
            <a:off x="4895640" y="2295000"/>
            <a:ext cx="3920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45" name="Shape 13"/>
          <p:cNvSpPr/>
          <p:nvPr/>
        </p:nvSpPr>
        <p:spPr>
          <a:xfrm>
            <a:off x="6250680" y="2295000"/>
            <a:ext cx="36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946" name="Text 14"/>
          <p:cNvSpPr/>
          <p:nvPr/>
        </p:nvSpPr>
        <p:spPr>
          <a:xfrm>
            <a:off x="4749480" y="15069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47" name="Text 15"/>
          <p:cNvSpPr/>
          <p:nvPr/>
        </p:nvSpPr>
        <p:spPr>
          <a:xfrm>
            <a:off x="3394080" y="2148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948" name="Text 16"/>
          <p:cNvSpPr/>
          <p:nvPr/>
        </p:nvSpPr>
        <p:spPr>
          <a:xfrm>
            <a:off x="4749480" y="2148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49" name="Text 17"/>
          <p:cNvSpPr/>
          <p:nvPr/>
        </p:nvSpPr>
        <p:spPr>
          <a:xfrm>
            <a:off x="6104520" y="2148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50" name="Text 18"/>
          <p:cNvSpPr/>
          <p:nvPr/>
        </p:nvSpPr>
        <p:spPr>
          <a:xfrm>
            <a:off x="2787840" y="28263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951" name="Text 19"/>
          <p:cNvSpPr/>
          <p:nvPr/>
        </p:nvSpPr>
        <p:spPr>
          <a:xfrm>
            <a:off x="3394080" y="28263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952" name="Text 20"/>
          <p:cNvSpPr/>
          <p:nvPr/>
        </p:nvSpPr>
        <p:spPr>
          <a:xfrm>
            <a:off x="4000680" y="28263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53" name="Text 21"/>
          <p:cNvSpPr/>
          <p:nvPr/>
        </p:nvSpPr>
        <p:spPr>
          <a:xfrm>
            <a:off x="4357080" y="28263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954" name="Text 22"/>
          <p:cNvSpPr/>
          <p:nvPr/>
        </p:nvSpPr>
        <p:spPr>
          <a:xfrm>
            <a:off x="5141520" y="28263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955" name="Text 23"/>
          <p:cNvSpPr/>
          <p:nvPr/>
        </p:nvSpPr>
        <p:spPr>
          <a:xfrm>
            <a:off x="6104520" y="28263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56" name="Text 24"/>
          <p:cNvSpPr/>
          <p:nvPr/>
        </p:nvSpPr>
        <p:spPr>
          <a:xfrm>
            <a:off x="7040880" y="2011680"/>
            <a:ext cx="3840120" cy="594000"/>
          </a:xfrm>
          <a:prstGeom prst="rect">
            <a:avLst/>
          </a:prstGeom>
          <a:noFill/>
          <a:ln w="0">
            <a:noFill/>
          </a:ln>
        </p:spPr>
        <p:style>
          <a:lnRef idx="0"/>
          <a:fillRef idx="0"/>
          <a:effectRef idx="0"/>
          <a:fontRef idx="minor"/>
        </p:style>
        <p:txBody>
          <a:bodyPr lIns="720" tIns="720" rIns="720" bIns="720" anchor="ctr">
            <a:normAutofit lnSpcReduction="9999"/>
          </a:bodyPr>
          <a:p>
            <a:pPr algn="ctr" defTabSz="914400">
              <a:lnSpc>
                <a:spcPct val="100000"/>
              </a:lnSpc>
              <a:tabLst>
                <a:tab pos="0" algn="l"/>
              </a:tabLst>
            </a:pPr>
            <a:r>
              <a:rPr lang="en-US" sz="2000" b="1" u="none" strike="noStrike">
                <a:solidFill>
                  <a:srgbClr val="112E5C"/>
                </a:solidFill>
                <a:effectLst/>
                <a:uFillTx/>
                <a:latin typeface="Aptos"/>
              </a:rPr>
              <a:t>BFS finishes one entire tier before moving deeper.</a:t>
            </a:r>
            <a:endParaRPr lang="en-US" sz="2000" b="0" u="none" strike="noStrike">
              <a:solidFill>
                <a:srgbClr val="000000"/>
              </a:solidFill>
              <a:effectLst/>
              <a:uFillTx/>
              <a:latin typeface="Arial"/>
            </a:endParaRPr>
          </a:p>
        </p:txBody>
      </p:sp>
      <p:sp>
        <p:nvSpPr>
          <p:cNvPr id="957" name="Text 25"/>
          <p:cNvSpPr/>
          <p:nvPr/>
        </p:nvSpPr>
        <p:spPr>
          <a:xfrm>
            <a:off x="7040880" y="2971800"/>
            <a:ext cx="3885840" cy="914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This gives completeness and fewest-action optimality, but the frontier can become extremely large.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58"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59"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960"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BFS Complexity: Exponential Memory Growth</a:t>
            </a:r>
            <a:endParaRPr lang="en-US" sz="2600" b="0" u="none" strike="noStrike">
              <a:solidFill>
                <a:srgbClr val="000000"/>
              </a:solidFill>
              <a:effectLst/>
              <a:uFillTx/>
              <a:latin typeface="Arial"/>
            </a:endParaRPr>
          </a:p>
        </p:txBody>
      </p:sp>
      <p:sp>
        <p:nvSpPr>
          <p:cNvPr id="961"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62"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63" name="Text 5"/>
          <p:cNvSpPr/>
          <p:nvPr/>
        </p:nvSpPr>
        <p:spPr>
          <a:xfrm>
            <a:off x="868680" y="1508760"/>
            <a:ext cx="3108600" cy="4568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2400" b="1" u="none" strike="noStrike">
                <a:solidFill>
                  <a:srgbClr val="112E5C"/>
                </a:solidFill>
                <a:effectLst/>
                <a:uFillTx/>
                <a:latin typeface="Aptos"/>
              </a:rPr>
              <a:t>Time: O(b^d)</a:t>
            </a:r>
            <a:endParaRPr lang="en-US" sz="2400" b="0" u="none" strike="noStrike">
              <a:solidFill>
                <a:srgbClr val="000000"/>
              </a:solidFill>
              <a:effectLst/>
              <a:uFillTx/>
              <a:latin typeface="Arial"/>
            </a:endParaRPr>
          </a:p>
        </p:txBody>
      </p:sp>
      <p:sp>
        <p:nvSpPr>
          <p:cNvPr id="964" name="Text 6"/>
          <p:cNvSpPr/>
          <p:nvPr/>
        </p:nvSpPr>
        <p:spPr>
          <a:xfrm>
            <a:off x="4526280" y="1508760"/>
            <a:ext cx="3108600" cy="4568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2400" b="1" u="none" strike="noStrike">
                <a:solidFill>
                  <a:srgbClr val="9B1C1C"/>
                </a:solidFill>
                <a:effectLst/>
                <a:uFillTx/>
                <a:latin typeface="Aptos"/>
              </a:rPr>
              <a:t>Space: O(b^d)</a:t>
            </a:r>
            <a:endParaRPr lang="en-US" sz="2400" b="0" u="none" strike="noStrike">
              <a:solidFill>
                <a:srgbClr val="000000"/>
              </a:solidFill>
              <a:effectLst/>
              <a:uFillTx/>
              <a:latin typeface="Arial"/>
            </a:endParaRPr>
          </a:p>
        </p:txBody>
      </p:sp>
      <p:sp>
        <p:nvSpPr>
          <p:cNvPr id="965" name="Text 7"/>
          <p:cNvSpPr/>
          <p:nvPr/>
        </p:nvSpPr>
        <p:spPr>
          <a:xfrm>
            <a:off x="1005840" y="2514600"/>
            <a:ext cx="10058040" cy="4111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2000" b="1" u="none" strike="noStrike">
                <a:solidFill>
                  <a:srgbClr val="102A4C"/>
                </a:solidFill>
                <a:effectLst/>
                <a:uFillTx/>
                <a:latin typeface="Aptos"/>
              </a:rPr>
              <a:t>Nodes up to depth d: 1 + b + b² + … + bᵈ = O(bᵈ)</a:t>
            </a:r>
            <a:endParaRPr lang="en-US" sz="2000" b="0" u="none" strike="noStrike">
              <a:solidFill>
                <a:srgbClr val="000000"/>
              </a:solidFill>
              <a:effectLst/>
              <a:uFillTx/>
              <a:latin typeface="Arial"/>
            </a:endParaRPr>
          </a:p>
        </p:txBody>
      </p:sp>
      <p:sp>
        <p:nvSpPr>
          <p:cNvPr id="966" name="Text 8"/>
          <p:cNvSpPr/>
          <p:nvPr/>
        </p:nvSpPr>
        <p:spPr>
          <a:xfrm>
            <a:off x="1005840" y="3794760"/>
            <a:ext cx="10058040" cy="383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1" u="none" strike="noStrike">
                <a:solidFill>
                  <a:srgbClr val="9B1C1C"/>
                </a:solidFill>
                <a:effectLst/>
                <a:uFillTx/>
                <a:latin typeface="Aptos"/>
              </a:rPr>
              <a:t>Example: b = 10, d = 10, 1 KB/node → roughly 10 TB of memory.</a:t>
            </a:r>
            <a:endParaRPr lang="en-US" sz="1800" b="0" u="none" strike="noStrike">
              <a:solidFill>
                <a:srgbClr val="000000"/>
              </a:solidFill>
              <a:effectLst/>
              <a:uFillTx/>
              <a:latin typeface="Arial"/>
            </a:endParaRPr>
          </a:p>
        </p:txBody>
      </p:sp>
      <p:sp>
        <p:nvSpPr>
          <p:cNvPr id="967" name="Text 9"/>
          <p:cNvSpPr/>
          <p:nvPr/>
        </p:nvSpPr>
        <p:spPr>
          <a:xfrm>
            <a:off x="1005840" y="4709160"/>
            <a:ext cx="10058040" cy="383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0" u="none" strike="noStrike">
                <a:solidFill>
                  <a:srgbClr val="112E5C"/>
                </a:solidFill>
                <a:effectLst/>
                <a:uFillTx/>
                <a:latin typeface="Aptos"/>
              </a:rPr>
              <a:t>BFS is simple and reliable, but not scalable for large uninformed search spaces.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68"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69"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70"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Early Goal Test vs. Late Goal Test</a:t>
            </a:r>
            <a:endParaRPr lang="en-US" sz="2600" b="0" u="none" strike="noStrike">
              <a:solidFill>
                <a:srgbClr val="000000"/>
              </a:solidFill>
              <a:effectLst/>
              <a:uFillTx/>
              <a:latin typeface="Arial"/>
            </a:endParaRPr>
          </a:p>
        </p:txBody>
      </p:sp>
      <p:sp>
        <p:nvSpPr>
          <p:cNvPr id="971"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72"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73" name="Rounded Rectangle 6"/>
          <p:cNvSpPr/>
          <p:nvPr/>
        </p:nvSpPr>
        <p:spPr>
          <a:xfrm>
            <a:off x="777240" y="1417320"/>
            <a:ext cx="5028840" cy="47520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Early: test when a node is generated</a:t>
            </a:r>
            <a:endParaRPr lang="en-US" sz="1400" b="0" u="none" strike="noStrike">
              <a:solidFill>
                <a:srgbClr val="000000"/>
              </a:solidFill>
              <a:effectLst/>
              <a:uFillTx/>
              <a:latin typeface="Arial"/>
            </a:endParaRPr>
          </a:p>
        </p:txBody>
      </p:sp>
      <p:sp>
        <p:nvSpPr>
          <p:cNvPr id="974" name="Rounded Rectangle 7"/>
          <p:cNvSpPr/>
          <p:nvPr/>
        </p:nvSpPr>
        <p:spPr>
          <a:xfrm>
            <a:off x="77724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75" name="Rectangle 8"/>
          <p:cNvSpPr/>
          <p:nvPr/>
        </p:nvSpPr>
        <p:spPr>
          <a:xfrm>
            <a:off x="100584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00" b="0" u="none" strike="noStrike">
                <a:solidFill>
                  <a:srgbClr val="102A4C"/>
                </a:solidFill>
                <a:effectLst/>
                <a:uFillTx/>
                <a:latin typeface="Aptos"/>
              </a:rPr>
              <a:t>•  Used by breadth-first search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Safe there, because BFS can never later find a better path to a state it has already reached</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Saves expanding an entire final tier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Lets reached be a plain set of states, not a state → node map</a:t>
            </a:r>
            <a:endParaRPr lang="en-US" sz="1300" b="0" u="none" strike="noStrike">
              <a:solidFill>
                <a:srgbClr val="000000"/>
              </a:solidFill>
              <a:effectLst/>
              <a:uFillTx/>
              <a:latin typeface="Arial"/>
            </a:endParaRPr>
          </a:p>
        </p:txBody>
      </p:sp>
      <p:sp>
        <p:nvSpPr>
          <p:cNvPr id="976" name="Rounded Rectangle 9"/>
          <p:cNvSpPr/>
          <p:nvPr/>
        </p:nvSpPr>
        <p:spPr>
          <a:xfrm>
            <a:off x="638568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Late: test when a node is popped</a:t>
            </a:r>
            <a:endParaRPr lang="en-US" sz="1400" b="0" u="none" strike="noStrike">
              <a:solidFill>
                <a:srgbClr val="000000"/>
              </a:solidFill>
              <a:effectLst/>
              <a:uFillTx/>
              <a:latin typeface="Arial"/>
            </a:endParaRPr>
          </a:p>
        </p:txBody>
      </p:sp>
      <p:sp>
        <p:nvSpPr>
          <p:cNvPr id="977" name="Rounded Rectangle 10"/>
          <p:cNvSpPr/>
          <p:nvPr/>
        </p:nvSpPr>
        <p:spPr>
          <a:xfrm>
            <a:off x="638568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78" name="Rectangle 11"/>
          <p:cNvSpPr/>
          <p:nvPr/>
        </p:nvSpPr>
        <p:spPr>
          <a:xfrm>
            <a:off x="661428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00" b="0" u="none" strike="noStrike">
                <a:solidFill>
                  <a:srgbClr val="102A4C"/>
                </a:solidFill>
                <a:effectLst/>
                <a:uFillTx/>
                <a:latin typeface="Aptos"/>
              </a:rPr>
              <a:t>•  Used by best-first search and uniform-cost search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Required, not optional: a goal can be generated on an expensive path before a cheaper path to it is found</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The goal is returned only when it is the cheapest thing on the frontier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This is exactly what makes UCS cost-optimal</a:t>
            </a:r>
            <a:endParaRPr lang="en-US" sz="1300" b="0" u="none" strike="noStrike">
              <a:solidFill>
                <a:srgbClr val="000000"/>
              </a:solidFill>
              <a:effectLst/>
              <a:uFillTx/>
              <a:latin typeface="Arial"/>
            </a:endParaRPr>
          </a:p>
        </p:txBody>
      </p:sp>
      <p:sp>
        <p:nvSpPr>
          <p:cNvPr id="979" name="Rounded Rectangle 12"/>
          <p:cNvSpPr/>
          <p:nvPr/>
        </p:nvSpPr>
        <p:spPr>
          <a:xfrm>
            <a:off x="914400" y="3931920"/>
            <a:ext cx="1042380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80" name="Rectangle 13"/>
          <p:cNvSpPr/>
          <p:nvPr/>
        </p:nvSpPr>
        <p:spPr>
          <a:xfrm>
            <a:off x="1097280" y="4023360"/>
            <a:ext cx="1005804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500" b="1" u="none" strike="noStrike">
                <a:solidFill>
                  <a:srgbClr val="112E5C"/>
                </a:solidFill>
                <a:effectLst/>
                <a:uFillTx/>
                <a:latin typeface="Aptos"/>
              </a:rPr>
              <a:t>Sibiu → Bucharest:  Fagaras generates Bucharest at 310.  Pitesti later generates Bucharest at 278.</a:t>
            </a:r>
            <a:endParaRPr lang="en-US" sz="1500" b="0" u="none" strike="noStrike">
              <a:solidFill>
                <a:srgbClr val="000000"/>
              </a:solidFill>
              <a:effectLst/>
              <a:uFillTx/>
              <a:latin typeface="Arial"/>
            </a:endParaRPr>
          </a:p>
        </p:txBody>
      </p:sp>
      <p:sp>
        <p:nvSpPr>
          <p:cNvPr id="981" name="Rectangle 14"/>
          <p:cNvSpPr/>
          <p:nvPr/>
        </p:nvSpPr>
        <p:spPr>
          <a:xfrm>
            <a:off x="914400" y="48463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Test on generation here and UCS returns 310. Test on expansion and it returns 278.</a:t>
            </a:r>
            <a:endParaRPr lang="en-US" sz="1700" b="0" u="none" strike="noStrike">
              <a:solidFill>
                <a:srgbClr val="000000"/>
              </a:solidFill>
              <a:effectLst/>
              <a:uFillTx/>
              <a:latin typeface="Arial"/>
            </a:endParaRPr>
          </a:p>
        </p:txBody>
      </p:sp>
      <p:sp>
        <p:nvSpPr>
          <p:cNvPr id="982" name="Rectangle 15"/>
          <p:cNvSpPr/>
          <p:nvPr/>
        </p:nvSpPr>
        <p:spPr>
          <a:xfrm>
            <a:off x="914400" y="53035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One line of the algorithm, and the difference between correct and merely plausible.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83"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84"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985"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Uniform-Cost Search (UCS) / Dijkstra</a:t>
            </a:r>
            <a:endParaRPr lang="en-US" sz="2600" b="0" u="none" strike="noStrike">
              <a:solidFill>
                <a:srgbClr val="000000"/>
              </a:solidFill>
              <a:effectLst/>
              <a:uFillTx/>
              <a:latin typeface="Arial"/>
            </a:endParaRPr>
          </a:p>
        </p:txBody>
      </p:sp>
      <p:sp>
        <p:nvSpPr>
          <p:cNvPr id="986"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87"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88" name="Text 5"/>
          <p:cNvSpPr/>
          <p:nvPr/>
        </p:nvSpPr>
        <p:spPr>
          <a:xfrm>
            <a:off x="822960" y="1417320"/>
            <a:ext cx="1828440" cy="50256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989" name="Text 6"/>
          <p:cNvSpPr/>
          <p:nvPr/>
        </p:nvSpPr>
        <p:spPr>
          <a:xfrm>
            <a:off x="2880360" y="1463040"/>
            <a:ext cx="5668920" cy="319680"/>
          </a:xfrm>
          <a:prstGeom prst="rect">
            <a:avLst/>
          </a:prstGeom>
          <a:noFill/>
          <a:ln w="0">
            <a:noFill/>
          </a:ln>
        </p:spPr>
        <p:style>
          <a:lnRef idx="0"/>
          <a:fillRef idx="0"/>
          <a:effectRef idx="0"/>
          <a:fontRef idx="minor"/>
        </p:style>
        <p:txBody>
          <a:bodyPr lIns="720" tIns="720" rIns="720" bIns="720" anchor="ctr">
            <a:normAutofit fontScale="77500" lnSpcReduction="19999"/>
          </a:bodyPr>
          <a:p>
            <a:pPr defTabSz="914400">
              <a:lnSpc>
                <a:spcPct val="100000"/>
              </a:lnSpc>
              <a:tabLst>
                <a:tab pos="0" algn="l"/>
              </a:tabLst>
            </a:pPr>
            <a:r>
              <a:rPr lang="en-US" sz="1650" b="1" u="none" strike="noStrike">
                <a:solidFill>
                  <a:srgbClr val="102A4C"/>
                </a:solidFill>
                <a:effectLst/>
                <a:uFillTx/>
                <a:latin typeface="Aptos"/>
              </a:rPr>
              <a:t>Expand the frontier node with the lowest cumulative path cost g(n).</a:t>
            </a:r>
            <a:endParaRPr lang="en-US" sz="1650" b="0" u="none" strike="noStrike">
              <a:solidFill>
                <a:srgbClr val="000000"/>
              </a:solidFill>
              <a:effectLst/>
              <a:uFillTx/>
              <a:latin typeface="Arial"/>
            </a:endParaRPr>
          </a:p>
        </p:txBody>
      </p:sp>
      <p:sp>
        <p:nvSpPr>
          <p:cNvPr id="990" name="Text 7"/>
          <p:cNvSpPr/>
          <p:nvPr/>
        </p:nvSpPr>
        <p:spPr>
          <a:xfrm>
            <a:off x="822960" y="2240280"/>
            <a:ext cx="1828440" cy="50256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991" name="Text 8"/>
          <p:cNvSpPr/>
          <p:nvPr/>
        </p:nvSpPr>
        <p:spPr>
          <a:xfrm>
            <a:off x="2880360" y="2286000"/>
            <a:ext cx="5028840" cy="3196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02A4C"/>
                </a:solidFill>
                <a:effectLst/>
                <a:uFillTx/>
                <a:latin typeface="Aptos"/>
              </a:rPr>
              <a:t>Priority queue ordered by path cost from the start.</a:t>
            </a:r>
            <a:endParaRPr lang="en-US" sz="1600" b="0" u="none" strike="noStrike">
              <a:solidFill>
                <a:srgbClr val="000000"/>
              </a:solidFill>
              <a:effectLst/>
              <a:uFillTx/>
              <a:latin typeface="Arial"/>
            </a:endParaRPr>
          </a:p>
        </p:txBody>
      </p:sp>
      <p:sp>
        <p:nvSpPr>
          <p:cNvPr id="992" name="Text 9"/>
          <p:cNvSpPr/>
          <p:nvPr/>
        </p:nvSpPr>
        <p:spPr>
          <a:xfrm>
            <a:off x="822960" y="3063240"/>
            <a:ext cx="1828440" cy="50256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Guarantee</a:t>
            </a:r>
            <a:endParaRPr lang="en-US" sz="1600" b="0" u="none" strike="noStrike">
              <a:solidFill>
                <a:srgbClr val="000000"/>
              </a:solidFill>
              <a:effectLst/>
              <a:uFillTx/>
              <a:latin typeface="Arial"/>
            </a:endParaRPr>
          </a:p>
        </p:txBody>
      </p:sp>
      <p:sp>
        <p:nvSpPr>
          <p:cNvPr id="993" name="Text 10"/>
          <p:cNvSpPr/>
          <p:nvPr/>
        </p:nvSpPr>
        <p:spPr>
          <a:xfrm>
            <a:off x="2880360" y="3108960"/>
            <a:ext cx="5577480" cy="31968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600" b="0" u="none" strike="noStrike">
                <a:solidFill>
                  <a:srgbClr val="102A4C"/>
                </a:solidFill>
                <a:effectLst/>
                <a:uFillTx/>
                <a:latin typeface="Aptos"/>
              </a:rPr>
              <a:t>Complete and cost-optimal when every action cost is at least ε &gt; 0.</a:t>
            </a:r>
            <a:endParaRPr lang="en-US" sz="1600" b="0" u="none" strike="noStrike">
              <a:solidFill>
                <a:srgbClr val="000000"/>
              </a:solidFill>
              <a:effectLst/>
              <a:uFillTx/>
              <a:latin typeface="Arial"/>
            </a:endParaRPr>
          </a:p>
        </p:txBody>
      </p:sp>
      <p:sp>
        <p:nvSpPr>
          <p:cNvPr id="994" name="Text 11"/>
          <p:cNvSpPr/>
          <p:nvPr/>
        </p:nvSpPr>
        <p:spPr>
          <a:xfrm>
            <a:off x="1005840" y="4800600"/>
            <a:ext cx="9875160" cy="383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2000" b="1" u="none" strike="noStrike">
                <a:solidFill>
                  <a:srgbClr val="112E5C"/>
                </a:solidFill>
                <a:effectLst/>
                <a:uFillTx/>
                <a:latin typeface="Aptos"/>
              </a:rPr>
              <a:t>BFS spreads by depth. UCS spreads by cost contours.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95"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96"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997"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UCS Build: Do Not Stop When a Goal Is Generated</a:t>
            </a:r>
            <a:endParaRPr lang="en-US" sz="2600" b="0" u="none" strike="noStrike">
              <a:solidFill>
                <a:srgbClr val="000000"/>
              </a:solidFill>
              <a:effectLst/>
              <a:uFillTx/>
              <a:latin typeface="Arial"/>
            </a:endParaRPr>
          </a:p>
        </p:txBody>
      </p:sp>
      <p:sp>
        <p:nvSpPr>
          <p:cNvPr id="998"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99"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00" name="Shape 5"/>
          <p:cNvSpPr/>
          <p:nvPr/>
        </p:nvSpPr>
        <p:spPr>
          <a:xfrm>
            <a:off x="1097280" y="2194560"/>
            <a:ext cx="1828800" cy="914400"/>
          </a:xfrm>
          <a:prstGeom prst="line">
            <a:avLst/>
          </a:prstGeom>
          <a:ln w="2032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01" name="Text 6"/>
          <p:cNvSpPr/>
          <p:nvPr/>
        </p:nvSpPr>
        <p:spPr>
          <a:xfrm>
            <a:off x="1874520" y="2514600"/>
            <a:ext cx="2739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5C6B80"/>
                </a:solidFill>
                <a:effectLst/>
                <a:uFillTx/>
                <a:latin typeface="Aptos"/>
              </a:rPr>
              <a:t>80</a:t>
            </a:r>
            <a:endParaRPr lang="en-US" sz="900" b="0" u="none" strike="noStrike">
              <a:solidFill>
                <a:srgbClr val="000000"/>
              </a:solidFill>
              <a:effectLst/>
              <a:uFillTx/>
              <a:latin typeface="Arial"/>
            </a:endParaRPr>
          </a:p>
        </p:txBody>
      </p:sp>
      <p:sp>
        <p:nvSpPr>
          <p:cNvPr id="1002" name="Shape 7"/>
          <p:cNvSpPr/>
          <p:nvPr/>
        </p:nvSpPr>
        <p:spPr>
          <a:xfrm flipV="1">
            <a:off x="1097280" y="1463040"/>
            <a:ext cx="1828800" cy="731520"/>
          </a:xfrm>
          <a:prstGeom prst="line">
            <a:avLst/>
          </a:prstGeom>
          <a:ln w="2032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03" name="Text 8"/>
          <p:cNvSpPr/>
          <p:nvPr/>
        </p:nvSpPr>
        <p:spPr>
          <a:xfrm>
            <a:off x="1874520" y="1691640"/>
            <a:ext cx="2739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5C6B80"/>
                </a:solidFill>
                <a:effectLst/>
                <a:uFillTx/>
                <a:latin typeface="Aptos"/>
              </a:rPr>
              <a:t>99</a:t>
            </a:r>
            <a:endParaRPr lang="en-US" sz="900" b="0" u="none" strike="noStrike">
              <a:solidFill>
                <a:srgbClr val="000000"/>
              </a:solidFill>
              <a:effectLst/>
              <a:uFillTx/>
              <a:latin typeface="Arial"/>
            </a:endParaRPr>
          </a:p>
        </p:txBody>
      </p:sp>
      <p:sp>
        <p:nvSpPr>
          <p:cNvPr id="1004" name="Shape 9"/>
          <p:cNvSpPr/>
          <p:nvPr/>
        </p:nvSpPr>
        <p:spPr>
          <a:xfrm>
            <a:off x="2926080" y="3108960"/>
            <a:ext cx="1965960" cy="360"/>
          </a:xfrm>
          <a:prstGeom prst="line">
            <a:avLst/>
          </a:prstGeom>
          <a:ln w="2032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005" name="Text 10"/>
          <p:cNvSpPr/>
          <p:nvPr/>
        </p:nvSpPr>
        <p:spPr>
          <a:xfrm>
            <a:off x="3772080" y="2971800"/>
            <a:ext cx="2739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5C6B80"/>
                </a:solidFill>
                <a:effectLst/>
                <a:uFillTx/>
                <a:latin typeface="Aptos"/>
              </a:rPr>
              <a:t>97</a:t>
            </a:r>
            <a:endParaRPr lang="en-US" sz="900" b="0" u="none" strike="noStrike">
              <a:solidFill>
                <a:srgbClr val="000000"/>
              </a:solidFill>
              <a:effectLst/>
              <a:uFillTx/>
              <a:latin typeface="Arial"/>
            </a:endParaRPr>
          </a:p>
        </p:txBody>
      </p:sp>
      <p:sp>
        <p:nvSpPr>
          <p:cNvPr id="1006" name="Shape 11"/>
          <p:cNvSpPr/>
          <p:nvPr/>
        </p:nvSpPr>
        <p:spPr>
          <a:xfrm flipV="1">
            <a:off x="4892040" y="2194560"/>
            <a:ext cx="1874520" cy="914400"/>
          </a:xfrm>
          <a:prstGeom prst="line">
            <a:avLst/>
          </a:prstGeom>
          <a:ln w="2032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07" name="Text 12"/>
          <p:cNvSpPr/>
          <p:nvPr/>
        </p:nvSpPr>
        <p:spPr>
          <a:xfrm>
            <a:off x="5692320" y="2514600"/>
            <a:ext cx="2739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5C6B80"/>
                </a:solidFill>
                <a:effectLst/>
                <a:uFillTx/>
                <a:latin typeface="Aptos"/>
              </a:rPr>
              <a:t>101</a:t>
            </a:r>
            <a:endParaRPr lang="en-US" sz="900" b="0" u="none" strike="noStrike">
              <a:solidFill>
                <a:srgbClr val="000000"/>
              </a:solidFill>
              <a:effectLst/>
              <a:uFillTx/>
              <a:latin typeface="Arial"/>
            </a:endParaRPr>
          </a:p>
        </p:txBody>
      </p:sp>
      <p:sp>
        <p:nvSpPr>
          <p:cNvPr id="1008" name="Shape 13"/>
          <p:cNvSpPr/>
          <p:nvPr/>
        </p:nvSpPr>
        <p:spPr>
          <a:xfrm>
            <a:off x="2926080" y="1463040"/>
            <a:ext cx="3840480" cy="731520"/>
          </a:xfrm>
          <a:prstGeom prst="line">
            <a:avLst/>
          </a:prstGeom>
          <a:ln w="2032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09" name="Text 14"/>
          <p:cNvSpPr/>
          <p:nvPr/>
        </p:nvSpPr>
        <p:spPr>
          <a:xfrm>
            <a:off x="4709160" y="1691640"/>
            <a:ext cx="27396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5C6B80"/>
                </a:solidFill>
                <a:effectLst/>
                <a:uFillTx/>
                <a:latin typeface="Aptos"/>
              </a:rPr>
              <a:t>211</a:t>
            </a:r>
            <a:endParaRPr lang="en-US" sz="900" b="0" u="none" strike="noStrike">
              <a:solidFill>
                <a:srgbClr val="000000"/>
              </a:solidFill>
              <a:effectLst/>
              <a:uFillTx/>
              <a:latin typeface="Arial"/>
            </a:endParaRPr>
          </a:p>
        </p:txBody>
      </p:sp>
      <p:sp>
        <p:nvSpPr>
          <p:cNvPr id="1010" name="Text 15"/>
          <p:cNvSpPr/>
          <p:nvPr/>
        </p:nvSpPr>
        <p:spPr>
          <a:xfrm>
            <a:off x="951120" y="2048400"/>
            <a:ext cx="292320" cy="292320"/>
          </a:xfrm>
          <a:prstGeom prst="ellipse">
            <a:avLst/>
          </a:prstGeom>
          <a:solidFill>
            <a:srgbClr val="FFE5B6"/>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011" name="Text 16"/>
          <p:cNvSpPr/>
          <p:nvPr/>
        </p:nvSpPr>
        <p:spPr>
          <a:xfrm>
            <a:off x="594360" y="2450520"/>
            <a:ext cx="100548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02A4C"/>
                </a:solidFill>
                <a:effectLst/>
                <a:uFillTx/>
                <a:latin typeface="Aptos"/>
              </a:rPr>
              <a:t>Sibiu</a:t>
            </a:r>
            <a:endParaRPr lang="en-US" sz="900" b="0" u="none" strike="noStrike">
              <a:solidFill>
                <a:srgbClr val="000000"/>
              </a:solidFill>
              <a:effectLst/>
              <a:uFillTx/>
              <a:latin typeface="Arial"/>
            </a:endParaRPr>
          </a:p>
        </p:txBody>
      </p:sp>
      <p:sp>
        <p:nvSpPr>
          <p:cNvPr id="1012" name="Text 17"/>
          <p:cNvSpPr/>
          <p:nvPr/>
        </p:nvSpPr>
        <p:spPr>
          <a:xfrm>
            <a:off x="2779920" y="29628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013" name="Text 18"/>
          <p:cNvSpPr/>
          <p:nvPr/>
        </p:nvSpPr>
        <p:spPr>
          <a:xfrm>
            <a:off x="2423160" y="3364920"/>
            <a:ext cx="100548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02A4C"/>
                </a:solidFill>
                <a:effectLst/>
                <a:uFillTx/>
                <a:latin typeface="Aptos"/>
              </a:rPr>
              <a:t>Rimnicu</a:t>
            </a:r>
            <a:endParaRPr lang="en-US" sz="900" b="0" u="none" strike="noStrike">
              <a:solidFill>
                <a:srgbClr val="000000"/>
              </a:solidFill>
              <a:effectLst/>
              <a:uFillTx/>
              <a:latin typeface="Arial"/>
            </a:endParaRPr>
          </a:p>
        </p:txBody>
      </p:sp>
      <p:sp>
        <p:nvSpPr>
          <p:cNvPr id="1014" name="Text 19"/>
          <p:cNvSpPr/>
          <p:nvPr/>
        </p:nvSpPr>
        <p:spPr>
          <a:xfrm>
            <a:off x="2779920" y="131688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015" name="Text 20"/>
          <p:cNvSpPr/>
          <p:nvPr/>
        </p:nvSpPr>
        <p:spPr>
          <a:xfrm>
            <a:off x="2423160" y="1719000"/>
            <a:ext cx="100548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02A4C"/>
                </a:solidFill>
                <a:effectLst/>
                <a:uFillTx/>
                <a:latin typeface="Aptos"/>
              </a:rPr>
              <a:t>Fagaras</a:t>
            </a:r>
            <a:endParaRPr lang="en-US" sz="900" b="0" u="none" strike="noStrike">
              <a:solidFill>
                <a:srgbClr val="000000"/>
              </a:solidFill>
              <a:effectLst/>
              <a:uFillTx/>
              <a:latin typeface="Arial"/>
            </a:endParaRPr>
          </a:p>
        </p:txBody>
      </p:sp>
      <p:sp>
        <p:nvSpPr>
          <p:cNvPr id="1016" name="Text 21"/>
          <p:cNvSpPr/>
          <p:nvPr/>
        </p:nvSpPr>
        <p:spPr>
          <a:xfrm>
            <a:off x="4745880" y="29628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017" name="Text 22"/>
          <p:cNvSpPr/>
          <p:nvPr/>
        </p:nvSpPr>
        <p:spPr>
          <a:xfrm>
            <a:off x="4389120" y="3364920"/>
            <a:ext cx="100548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02A4C"/>
                </a:solidFill>
                <a:effectLst/>
                <a:uFillTx/>
                <a:latin typeface="Aptos"/>
              </a:rPr>
              <a:t>Pitesti</a:t>
            </a:r>
            <a:endParaRPr lang="en-US" sz="900" b="0" u="none" strike="noStrike">
              <a:solidFill>
                <a:srgbClr val="000000"/>
              </a:solidFill>
              <a:effectLst/>
              <a:uFillTx/>
              <a:latin typeface="Arial"/>
            </a:endParaRPr>
          </a:p>
        </p:txBody>
      </p:sp>
      <p:sp>
        <p:nvSpPr>
          <p:cNvPr id="1018" name="Text 23"/>
          <p:cNvSpPr/>
          <p:nvPr/>
        </p:nvSpPr>
        <p:spPr>
          <a:xfrm>
            <a:off x="6620400" y="2048400"/>
            <a:ext cx="292320" cy="29232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019" name="Text 24"/>
          <p:cNvSpPr/>
          <p:nvPr/>
        </p:nvSpPr>
        <p:spPr>
          <a:xfrm>
            <a:off x="6263640" y="2450520"/>
            <a:ext cx="1005480" cy="182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02A4C"/>
                </a:solidFill>
                <a:effectLst/>
                <a:uFillTx/>
                <a:latin typeface="Aptos"/>
              </a:rPr>
              <a:t>Bucharest</a:t>
            </a:r>
            <a:endParaRPr lang="en-US" sz="900" b="0" u="none" strike="noStrike">
              <a:solidFill>
                <a:srgbClr val="000000"/>
              </a:solidFill>
              <a:effectLst/>
              <a:uFillTx/>
              <a:latin typeface="Arial"/>
            </a:endParaRPr>
          </a:p>
        </p:txBody>
      </p:sp>
      <p:sp>
        <p:nvSpPr>
          <p:cNvPr id="1020" name="Text 25"/>
          <p:cNvSpPr/>
          <p:nvPr/>
        </p:nvSpPr>
        <p:spPr>
          <a:xfrm>
            <a:off x="7635240" y="1417320"/>
            <a:ext cx="3748680" cy="40230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450" b="0" u="none" strike="noStrike">
                <a:solidFill>
                  <a:srgbClr val="102A4C"/>
                </a:solidFill>
                <a:effectLst/>
                <a:uFillTx/>
                <a:latin typeface="Aptos"/>
              </a:rPr>
              <a:t>From Sibiu: Rimnicu = 80; Fagaras = 99</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Expand Rimnicu first, then Fagaras</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Fagaras generates Bucharest with cost 310</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But Pitesti later generates Bucharest with cost 278</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Stop only when the lowest-cost selected node is a goal</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021"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22"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23"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Your Turn: Trace Uniform-Cost Search</a:t>
            </a:r>
            <a:endParaRPr lang="en-US" sz="2600" b="0" u="none" strike="noStrike">
              <a:solidFill>
                <a:srgbClr val="000000"/>
              </a:solidFill>
              <a:effectLst/>
              <a:uFillTx/>
              <a:latin typeface="Arial"/>
            </a:endParaRPr>
          </a:p>
        </p:txBody>
      </p:sp>
      <p:sp>
        <p:nvSpPr>
          <p:cNvPr id="1024"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25"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cxnSp>
        <p:nvCxnSpPr>
          <p:cNvPr id="1026" name="Connector 6"/>
          <p:cNvCxnSpPr/>
          <p:nvPr/>
        </p:nvCxnSpPr>
        <p:spPr>
          <a:xfrm flipV="1">
            <a:off x="1371600" y="2286000"/>
            <a:ext cx="1600560" cy="914760"/>
          </a:xfrm>
          <a:prstGeom prst="straightConnector1">
            <a:avLst/>
          </a:prstGeom>
          <a:ln w="19050">
            <a:solidFill>
              <a:srgbClr val="5C6B80"/>
            </a:solidFill>
          </a:ln>
        </p:spPr>
      </p:cxnSp>
      <p:sp>
        <p:nvSpPr>
          <p:cNvPr id="1027" name="Rectangle 7"/>
          <p:cNvSpPr/>
          <p:nvPr/>
        </p:nvSpPr>
        <p:spPr>
          <a:xfrm>
            <a:off x="19432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28" name="Connector 8"/>
          <p:cNvCxnSpPr/>
          <p:nvPr/>
        </p:nvCxnSpPr>
        <p:spPr>
          <a:xfrm>
            <a:off x="1371600" y="3200400"/>
            <a:ext cx="1600560" cy="914760"/>
          </a:xfrm>
          <a:prstGeom prst="straightConnector1">
            <a:avLst/>
          </a:prstGeom>
          <a:ln w="19050">
            <a:solidFill>
              <a:srgbClr val="5C6B80"/>
            </a:solidFill>
          </a:ln>
        </p:spPr>
      </p:cxnSp>
      <p:sp>
        <p:nvSpPr>
          <p:cNvPr id="1029" name="Rectangle 9"/>
          <p:cNvSpPr/>
          <p:nvPr/>
        </p:nvSpPr>
        <p:spPr>
          <a:xfrm>
            <a:off x="19432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2</a:t>
            </a:r>
            <a:endParaRPr lang="en-US" sz="1300" b="0" u="none" strike="noStrike">
              <a:solidFill>
                <a:srgbClr val="000000"/>
              </a:solidFill>
              <a:effectLst/>
              <a:uFillTx/>
              <a:latin typeface="Arial"/>
            </a:endParaRPr>
          </a:p>
        </p:txBody>
      </p:sp>
      <p:cxnSp>
        <p:nvCxnSpPr>
          <p:cNvPr id="1030" name="Connector 10"/>
          <p:cNvCxnSpPr/>
          <p:nvPr/>
        </p:nvCxnSpPr>
        <p:spPr>
          <a:xfrm>
            <a:off x="2971800" y="2286000"/>
            <a:ext cx="2514960" cy="914760"/>
          </a:xfrm>
          <a:prstGeom prst="straightConnector1">
            <a:avLst/>
          </a:prstGeom>
          <a:ln w="19050">
            <a:solidFill>
              <a:srgbClr val="5C6B80"/>
            </a:solidFill>
          </a:ln>
        </p:spPr>
      </p:cxnSp>
      <p:sp>
        <p:nvSpPr>
          <p:cNvPr id="1031" name="Rectangle 11"/>
          <p:cNvSpPr/>
          <p:nvPr/>
        </p:nvSpPr>
        <p:spPr>
          <a:xfrm>
            <a:off x="40006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8</a:t>
            </a:r>
            <a:endParaRPr lang="en-US" sz="1300" b="0" u="none" strike="noStrike">
              <a:solidFill>
                <a:srgbClr val="000000"/>
              </a:solidFill>
              <a:effectLst/>
              <a:uFillTx/>
              <a:latin typeface="Arial"/>
            </a:endParaRPr>
          </a:p>
        </p:txBody>
      </p:sp>
      <p:cxnSp>
        <p:nvCxnSpPr>
          <p:cNvPr id="1032" name="Connector 12"/>
          <p:cNvCxnSpPr/>
          <p:nvPr/>
        </p:nvCxnSpPr>
        <p:spPr>
          <a:xfrm>
            <a:off x="2971800" y="4114800"/>
            <a:ext cx="1371960" cy="360"/>
          </a:xfrm>
          <a:prstGeom prst="straightConnector1">
            <a:avLst/>
          </a:prstGeom>
          <a:ln w="19050">
            <a:solidFill>
              <a:srgbClr val="5C6B80"/>
            </a:solidFill>
          </a:ln>
        </p:spPr>
      </p:cxnSp>
      <p:sp>
        <p:nvSpPr>
          <p:cNvPr id="1033" name="Rectangle 13"/>
          <p:cNvSpPr/>
          <p:nvPr/>
        </p:nvSpPr>
        <p:spPr>
          <a:xfrm>
            <a:off x="3429000" y="39092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34" name="Connector 14"/>
          <p:cNvCxnSpPr/>
          <p:nvPr/>
        </p:nvCxnSpPr>
        <p:spPr>
          <a:xfrm flipV="1">
            <a:off x="4343400" y="3200400"/>
            <a:ext cx="1143360" cy="914760"/>
          </a:xfrm>
          <a:prstGeom prst="straightConnector1">
            <a:avLst/>
          </a:prstGeom>
          <a:ln w="19050">
            <a:solidFill>
              <a:srgbClr val="5C6B80"/>
            </a:solidFill>
          </a:ln>
        </p:spPr>
      </p:cxnSp>
      <p:sp>
        <p:nvSpPr>
          <p:cNvPr id="1035" name="Rectangle 15"/>
          <p:cNvSpPr/>
          <p:nvPr/>
        </p:nvSpPr>
        <p:spPr>
          <a:xfrm>
            <a:off x="46864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3</a:t>
            </a:r>
            <a:endParaRPr lang="en-US" sz="1300" b="0" u="none" strike="noStrike">
              <a:solidFill>
                <a:srgbClr val="000000"/>
              </a:solidFill>
              <a:effectLst/>
              <a:uFillTx/>
              <a:latin typeface="Arial"/>
            </a:endParaRPr>
          </a:p>
        </p:txBody>
      </p:sp>
      <p:sp>
        <p:nvSpPr>
          <p:cNvPr id="1036" name="Oval 16"/>
          <p:cNvSpPr/>
          <p:nvPr/>
        </p:nvSpPr>
        <p:spPr>
          <a:xfrm>
            <a:off x="1074600" y="290340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1037" name="Oval 17"/>
          <p:cNvSpPr/>
          <p:nvPr/>
        </p:nvSpPr>
        <p:spPr>
          <a:xfrm>
            <a:off x="2674800" y="19890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1038" name="Oval 18"/>
          <p:cNvSpPr/>
          <p:nvPr/>
        </p:nvSpPr>
        <p:spPr>
          <a:xfrm>
            <a:off x="26748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1039" name="Oval 19"/>
          <p:cNvSpPr/>
          <p:nvPr/>
        </p:nvSpPr>
        <p:spPr>
          <a:xfrm>
            <a:off x="40464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C</a:t>
            </a:r>
            <a:endParaRPr lang="en-US" sz="1500" b="0" u="none" strike="noStrike">
              <a:solidFill>
                <a:srgbClr val="000000"/>
              </a:solidFill>
              <a:effectLst/>
              <a:uFillTx/>
              <a:latin typeface="Arial"/>
            </a:endParaRPr>
          </a:p>
        </p:txBody>
      </p:sp>
      <p:sp>
        <p:nvSpPr>
          <p:cNvPr id="1040" name="Oval 20"/>
          <p:cNvSpPr/>
          <p:nvPr/>
        </p:nvSpPr>
        <p:spPr>
          <a:xfrm>
            <a:off x="5189400" y="290340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1041" name="Rectangle 21"/>
          <p:cNvSpPr/>
          <p:nvPr/>
        </p:nvSpPr>
        <p:spPr>
          <a:xfrm>
            <a:off x="777240" y="4846320"/>
            <a:ext cx="48002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200" b="0" u="none" strike="noStrike">
                <a:solidFill>
                  <a:srgbClr val="5C6B80"/>
                </a:solidFill>
                <a:effectLst/>
                <a:uFillTx/>
                <a:latin typeface="Aptos"/>
              </a:rPr>
              <a:t>Edge labels are action costs. Start at S, goal is G.</a:t>
            </a:r>
            <a:endParaRPr lang="en-US" sz="1200" b="0" u="none" strike="noStrike">
              <a:solidFill>
                <a:srgbClr val="000000"/>
              </a:solidFill>
              <a:effectLst/>
              <a:uFillTx/>
              <a:latin typeface="Arial"/>
            </a:endParaRPr>
          </a:p>
        </p:txBody>
      </p:sp>
      <p:sp>
        <p:nvSpPr>
          <p:cNvPr id="1042" name="Rectangle 22"/>
          <p:cNvSpPr/>
          <p:nvPr/>
        </p:nvSpPr>
        <p:spPr>
          <a:xfrm>
            <a:off x="6385680" y="1417320"/>
            <a:ext cx="6397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Pop #</a:t>
            </a:r>
            <a:endParaRPr lang="en-US" sz="1200" b="0" u="none" strike="noStrike">
              <a:solidFill>
                <a:srgbClr val="FFFFFF"/>
              </a:solidFill>
              <a:effectLst/>
              <a:uFillTx/>
              <a:latin typeface="Arial"/>
            </a:endParaRPr>
          </a:p>
        </p:txBody>
      </p:sp>
      <p:sp>
        <p:nvSpPr>
          <p:cNvPr id="1043" name="Rectangle 23"/>
          <p:cNvSpPr/>
          <p:nvPr/>
        </p:nvSpPr>
        <p:spPr>
          <a:xfrm>
            <a:off x="7025760" y="1417320"/>
            <a:ext cx="15541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Node popped (g)</a:t>
            </a:r>
            <a:endParaRPr lang="en-US" sz="1200" b="0" u="none" strike="noStrike">
              <a:solidFill>
                <a:srgbClr val="FFFFFF"/>
              </a:solidFill>
              <a:effectLst/>
              <a:uFillTx/>
              <a:latin typeface="Arial"/>
            </a:endParaRPr>
          </a:p>
        </p:txBody>
      </p:sp>
      <p:sp>
        <p:nvSpPr>
          <p:cNvPr id="1044" name="Rectangle 24"/>
          <p:cNvSpPr/>
          <p:nvPr/>
        </p:nvSpPr>
        <p:spPr>
          <a:xfrm>
            <a:off x="8580240" y="1417320"/>
            <a:ext cx="283428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Frontier afterwards</a:t>
            </a:r>
            <a:endParaRPr lang="en-US" sz="1200" b="0" u="none" strike="noStrike">
              <a:solidFill>
                <a:srgbClr val="FFFFFF"/>
              </a:solidFill>
              <a:effectLst/>
              <a:uFillTx/>
              <a:latin typeface="Arial"/>
            </a:endParaRPr>
          </a:p>
        </p:txBody>
      </p:sp>
      <p:sp>
        <p:nvSpPr>
          <p:cNvPr id="1045" name="Rectangle 25"/>
          <p:cNvSpPr/>
          <p:nvPr/>
        </p:nvSpPr>
        <p:spPr>
          <a:xfrm>
            <a:off x="6385680" y="178308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1</a:t>
            </a:r>
            <a:endParaRPr lang="en-US" sz="1200" b="0" u="none" strike="noStrike">
              <a:solidFill>
                <a:srgbClr val="000000"/>
              </a:solidFill>
              <a:effectLst/>
              <a:uFillTx/>
              <a:latin typeface="Arial"/>
            </a:endParaRPr>
          </a:p>
        </p:txBody>
      </p:sp>
      <p:sp>
        <p:nvSpPr>
          <p:cNvPr id="1046" name="Rectangle 26"/>
          <p:cNvSpPr/>
          <p:nvPr/>
        </p:nvSpPr>
        <p:spPr>
          <a:xfrm>
            <a:off x="7025760" y="178308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47" name="Rectangle 27"/>
          <p:cNvSpPr/>
          <p:nvPr/>
        </p:nvSpPr>
        <p:spPr>
          <a:xfrm>
            <a:off x="8580240" y="178308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48" name="Rectangle 28"/>
          <p:cNvSpPr/>
          <p:nvPr/>
        </p:nvSpPr>
        <p:spPr>
          <a:xfrm>
            <a:off x="6385680" y="219456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2</a:t>
            </a:r>
            <a:endParaRPr lang="en-US" sz="1200" b="0" u="none" strike="noStrike">
              <a:solidFill>
                <a:srgbClr val="000000"/>
              </a:solidFill>
              <a:effectLst/>
              <a:uFillTx/>
              <a:latin typeface="Arial"/>
            </a:endParaRPr>
          </a:p>
        </p:txBody>
      </p:sp>
      <p:sp>
        <p:nvSpPr>
          <p:cNvPr id="1049" name="Rectangle 29"/>
          <p:cNvSpPr/>
          <p:nvPr/>
        </p:nvSpPr>
        <p:spPr>
          <a:xfrm>
            <a:off x="7025760" y="219456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50" name="Rectangle 30"/>
          <p:cNvSpPr/>
          <p:nvPr/>
        </p:nvSpPr>
        <p:spPr>
          <a:xfrm>
            <a:off x="8580240" y="219456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51" name="Rectangle 31"/>
          <p:cNvSpPr/>
          <p:nvPr/>
        </p:nvSpPr>
        <p:spPr>
          <a:xfrm>
            <a:off x="6385680" y="260604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3</a:t>
            </a:r>
            <a:endParaRPr lang="en-US" sz="1200" b="0" u="none" strike="noStrike">
              <a:solidFill>
                <a:srgbClr val="000000"/>
              </a:solidFill>
              <a:effectLst/>
              <a:uFillTx/>
              <a:latin typeface="Arial"/>
            </a:endParaRPr>
          </a:p>
        </p:txBody>
      </p:sp>
      <p:sp>
        <p:nvSpPr>
          <p:cNvPr id="1052" name="Rectangle 32"/>
          <p:cNvSpPr/>
          <p:nvPr/>
        </p:nvSpPr>
        <p:spPr>
          <a:xfrm>
            <a:off x="7025760" y="260604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53" name="Rectangle 33"/>
          <p:cNvSpPr/>
          <p:nvPr/>
        </p:nvSpPr>
        <p:spPr>
          <a:xfrm>
            <a:off x="8580240" y="260604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54" name="Rectangle 34"/>
          <p:cNvSpPr/>
          <p:nvPr/>
        </p:nvSpPr>
        <p:spPr>
          <a:xfrm>
            <a:off x="6385680" y="301752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4</a:t>
            </a:r>
            <a:endParaRPr lang="en-US" sz="1200" b="0" u="none" strike="noStrike">
              <a:solidFill>
                <a:srgbClr val="000000"/>
              </a:solidFill>
              <a:effectLst/>
              <a:uFillTx/>
              <a:latin typeface="Arial"/>
            </a:endParaRPr>
          </a:p>
        </p:txBody>
      </p:sp>
      <p:sp>
        <p:nvSpPr>
          <p:cNvPr id="1055" name="Rectangle 35"/>
          <p:cNvSpPr/>
          <p:nvPr/>
        </p:nvSpPr>
        <p:spPr>
          <a:xfrm>
            <a:off x="7025760" y="301752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56" name="Rectangle 36"/>
          <p:cNvSpPr/>
          <p:nvPr/>
        </p:nvSpPr>
        <p:spPr>
          <a:xfrm>
            <a:off x="8580240" y="301752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57" name="Rectangle 37"/>
          <p:cNvSpPr/>
          <p:nvPr/>
        </p:nvSpPr>
        <p:spPr>
          <a:xfrm>
            <a:off x="6385680" y="342900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5</a:t>
            </a:r>
            <a:endParaRPr lang="en-US" sz="1200" b="0" u="none" strike="noStrike">
              <a:solidFill>
                <a:srgbClr val="000000"/>
              </a:solidFill>
              <a:effectLst/>
              <a:uFillTx/>
              <a:latin typeface="Arial"/>
            </a:endParaRPr>
          </a:p>
        </p:txBody>
      </p:sp>
      <p:sp>
        <p:nvSpPr>
          <p:cNvPr id="1058" name="Rectangle 38"/>
          <p:cNvSpPr/>
          <p:nvPr/>
        </p:nvSpPr>
        <p:spPr>
          <a:xfrm>
            <a:off x="7025760" y="342900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59" name="Rectangle 39"/>
          <p:cNvSpPr/>
          <p:nvPr/>
        </p:nvSpPr>
        <p:spPr>
          <a:xfrm>
            <a:off x="8580240" y="342900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60" name="Rectangle 40"/>
          <p:cNvSpPr/>
          <p:nvPr/>
        </p:nvSpPr>
        <p:spPr>
          <a:xfrm>
            <a:off x="6385680" y="370332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350" b="1" u="none" strike="noStrike">
                <a:solidFill>
                  <a:srgbClr val="112E5C"/>
                </a:solidFill>
                <a:effectLst/>
                <a:uFillTx/>
                <a:latin typeface="Aptos"/>
              </a:rPr>
              <a:t>Which node is returned, at what cost, and on which pop?</a:t>
            </a:r>
            <a:endParaRPr lang="en-US" sz="1350" b="0" u="none" strike="noStrike">
              <a:solidFill>
                <a:srgbClr val="000000"/>
              </a:solidFill>
              <a:effectLst/>
              <a:uFillTx/>
              <a:latin typeface="Arial"/>
            </a:endParaRPr>
          </a:p>
        </p:txBody>
      </p:sp>
      <p:sp>
        <p:nvSpPr>
          <p:cNvPr id="1061" name="Rectangle 41"/>
          <p:cNvSpPr/>
          <p:nvPr/>
        </p:nvSpPr>
        <p:spPr>
          <a:xfrm>
            <a:off x="914400" y="52578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Remember: the goal test happens when a node is popped, not when it is generated.</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06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6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6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Your Turn: The Trace, Worked</a:t>
            </a:r>
            <a:endParaRPr lang="en-US" sz="2600" b="0" u="none" strike="noStrike">
              <a:solidFill>
                <a:srgbClr val="000000"/>
              </a:solidFill>
              <a:effectLst/>
              <a:uFillTx/>
              <a:latin typeface="Arial"/>
            </a:endParaRPr>
          </a:p>
        </p:txBody>
      </p:sp>
      <p:sp>
        <p:nvSpPr>
          <p:cNvPr id="106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6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cxnSp>
        <p:nvCxnSpPr>
          <p:cNvPr id="1067" name="Connector 6"/>
          <p:cNvCxnSpPr/>
          <p:nvPr/>
        </p:nvCxnSpPr>
        <p:spPr>
          <a:xfrm flipV="1">
            <a:off x="1371600" y="2286000"/>
            <a:ext cx="1600560" cy="914760"/>
          </a:xfrm>
          <a:prstGeom prst="straightConnector1">
            <a:avLst/>
          </a:prstGeom>
          <a:ln w="19050">
            <a:solidFill>
              <a:srgbClr val="5C6B80"/>
            </a:solidFill>
          </a:ln>
        </p:spPr>
      </p:cxnSp>
      <p:sp>
        <p:nvSpPr>
          <p:cNvPr id="1068" name="Rectangle 7"/>
          <p:cNvSpPr/>
          <p:nvPr/>
        </p:nvSpPr>
        <p:spPr>
          <a:xfrm>
            <a:off x="19432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69" name="Connector 8"/>
          <p:cNvCxnSpPr/>
          <p:nvPr/>
        </p:nvCxnSpPr>
        <p:spPr>
          <a:xfrm>
            <a:off x="1371600" y="3200400"/>
            <a:ext cx="1600560" cy="914760"/>
          </a:xfrm>
          <a:prstGeom prst="straightConnector1">
            <a:avLst/>
          </a:prstGeom>
          <a:ln w="19050">
            <a:solidFill>
              <a:srgbClr val="5C6B80"/>
            </a:solidFill>
          </a:ln>
        </p:spPr>
      </p:cxnSp>
      <p:sp>
        <p:nvSpPr>
          <p:cNvPr id="1070" name="Rectangle 9"/>
          <p:cNvSpPr/>
          <p:nvPr/>
        </p:nvSpPr>
        <p:spPr>
          <a:xfrm>
            <a:off x="19432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2</a:t>
            </a:r>
            <a:endParaRPr lang="en-US" sz="1300" b="0" u="none" strike="noStrike">
              <a:solidFill>
                <a:srgbClr val="000000"/>
              </a:solidFill>
              <a:effectLst/>
              <a:uFillTx/>
              <a:latin typeface="Arial"/>
            </a:endParaRPr>
          </a:p>
        </p:txBody>
      </p:sp>
      <p:cxnSp>
        <p:nvCxnSpPr>
          <p:cNvPr id="1071" name="Connector 10"/>
          <p:cNvCxnSpPr/>
          <p:nvPr/>
        </p:nvCxnSpPr>
        <p:spPr>
          <a:xfrm>
            <a:off x="2971800" y="2286000"/>
            <a:ext cx="2514960" cy="914760"/>
          </a:xfrm>
          <a:prstGeom prst="straightConnector1">
            <a:avLst/>
          </a:prstGeom>
          <a:ln w="19050">
            <a:solidFill>
              <a:srgbClr val="5C6B80"/>
            </a:solidFill>
          </a:ln>
        </p:spPr>
      </p:cxnSp>
      <p:sp>
        <p:nvSpPr>
          <p:cNvPr id="1072" name="Rectangle 11"/>
          <p:cNvSpPr/>
          <p:nvPr/>
        </p:nvSpPr>
        <p:spPr>
          <a:xfrm>
            <a:off x="40006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8</a:t>
            </a:r>
            <a:endParaRPr lang="en-US" sz="1300" b="0" u="none" strike="noStrike">
              <a:solidFill>
                <a:srgbClr val="000000"/>
              </a:solidFill>
              <a:effectLst/>
              <a:uFillTx/>
              <a:latin typeface="Arial"/>
            </a:endParaRPr>
          </a:p>
        </p:txBody>
      </p:sp>
      <p:cxnSp>
        <p:nvCxnSpPr>
          <p:cNvPr id="1073" name="Connector 12"/>
          <p:cNvCxnSpPr/>
          <p:nvPr/>
        </p:nvCxnSpPr>
        <p:spPr>
          <a:xfrm>
            <a:off x="2971800" y="4114800"/>
            <a:ext cx="1371960" cy="360"/>
          </a:xfrm>
          <a:prstGeom prst="straightConnector1">
            <a:avLst/>
          </a:prstGeom>
          <a:ln w="19050">
            <a:solidFill>
              <a:srgbClr val="5C6B80"/>
            </a:solidFill>
          </a:ln>
        </p:spPr>
      </p:cxnSp>
      <p:sp>
        <p:nvSpPr>
          <p:cNvPr id="1074" name="Rectangle 13"/>
          <p:cNvSpPr/>
          <p:nvPr/>
        </p:nvSpPr>
        <p:spPr>
          <a:xfrm>
            <a:off x="3429000" y="39092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75" name="Connector 14"/>
          <p:cNvCxnSpPr/>
          <p:nvPr/>
        </p:nvCxnSpPr>
        <p:spPr>
          <a:xfrm flipV="1">
            <a:off x="4343400" y="3200400"/>
            <a:ext cx="1143360" cy="914760"/>
          </a:xfrm>
          <a:prstGeom prst="straightConnector1">
            <a:avLst/>
          </a:prstGeom>
          <a:ln w="19050">
            <a:solidFill>
              <a:srgbClr val="5C6B80"/>
            </a:solidFill>
          </a:ln>
        </p:spPr>
      </p:cxnSp>
      <p:sp>
        <p:nvSpPr>
          <p:cNvPr id="1076" name="Rectangle 15"/>
          <p:cNvSpPr/>
          <p:nvPr/>
        </p:nvSpPr>
        <p:spPr>
          <a:xfrm>
            <a:off x="46864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3</a:t>
            </a:r>
            <a:endParaRPr lang="en-US" sz="1300" b="0" u="none" strike="noStrike">
              <a:solidFill>
                <a:srgbClr val="000000"/>
              </a:solidFill>
              <a:effectLst/>
              <a:uFillTx/>
              <a:latin typeface="Arial"/>
            </a:endParaRPr>
          </a:p>
        </p:txBody>
      </p:sp>
      <p:sp>
        <p:nvSpPr>
          <p:cNvPr id="1077" name="Oval 16"/>
          <p:cNvSpPr/>
          <p:nvPr/>
        </p:nvSpPr>
        <p:spPr>
          <a:xfrm>
            <a:off x="1074600" y="290340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1078" name="Oval 17"/>
          <p:cNvSpPr/>
          <p:nvPr/>
        </p:nvSpPr>
        <p:spPr>
          <a:xfrm>
            <a:off x="2674800" y="19890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1079" name="Oval 18"/>
          <p:cNvSpPr/>
          <p:nvPr/>
        </p:nvSpPr>
        <p:spPr>
          <a:xfrm>
            <a:off x="26748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1080" name="Oval 19"/>
          <p:cNvSpPr/>
          <p:nvPr/>
        </p:nvSpPr>
        <p:spPr>
          <a:xfrm>
            <a:off x="40464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C</a:t>
            </a:r>
            <a:endParaRPr lang="en-US" sz="1500" b="0" u="none" strike="noStrike">
              <a:solidFill>
                <a:srgbClr val="000000"/>
              </a:solidFill>
              <a:effectLst/>
              <a:uFillTx/>
              <a:latin typeface="Arial"/>
            </a:endParaRPr>
          </a:p>
        </p:txBody>
      </p:sp>
      <p:sp>
        <p:nvSpPr>
          <p:cNvPr id="1081" name="Oval 20"/>
          <p:cNvSpPr/>
          <p:nvPr/>
        </p:nvSpPr>
        <p:spPr>
          <a:xfrm>
            <a:off x="5189400" y="290340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1082" name="Rectangle 21"/>
          <p:cNvSpPr/>
          <p:nvPr/>
        </p:nvSpPr>
        <p:spPr>
          <a:xfrm>
            <a:off x="6385680" y="1417320"/>
            <a:ext cx="6397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Pop #</a:t>
            </a:r>
            <a:endParaRPr lang="en-US" sz="1200" b="0" u="none" strike="noStrike">
              <a:solidFill>
                <a:srgbClr val="FFFFFF"/>
              </a:solidFill>
              <a:effectLst/>
              <a:uFillTx/>
              <a:latin typeface="Arial"/>
            </a:endParaRPr>
          </a:p>
        </p:txBody>
      </p:sp>
      <p:sp>
        <p:nvSpPr>
          <p:cNvPr id="1083" name="Rectangle 22"/>
          <p:cNvSpPr/>
          <p:nvPr/>
        </p:nvSpPr>
        <p:spPr>
          <a:xfrm>
            <a:off x="7025760" y="1417320"/>
            <a:ext cx="15541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Node popped (g)</a:t>
            </a:r>
            <a:endParaRPr lang="en-US" sz="1200" b="0" u="none" strike="noStrike">
              <a:solidFill>
                <a:srgbClr val="FFFFFF"/>
              </a:solidFill>
              <a:effectLst/>
              <a:uFillTx/>
              <a:latin typeface="Arial"/>
            </a:endParaRPr>
          </a:p>
        </p:txBody>
      </p:sp>
      <p:sp>
        <p:nvSpPr>
          <p:cNvPr id="1084" name="Rectangle 23"/>
          <p:cNvSpPr/>
          <p:nvPr/>
        </p:nvSpPr>
        <p:spPr>
          <a:xfrm>
            <a:off x="8580240" y="1417320"/>
            <a:ext cx="283428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Frontier afterwards</a:t>
            </a:r>
            <a:endParaRPr lang="en-US" sz="1200" b="0" u="none" strike="noStrike">
              <a:solidFill>
                <a:srgbClr val="FFFFFF"/>
              </a:solidFill>
              <a:effectLst/>
              <a:uFillTx/>
              <a:latin typeface="Arial"/>
            </a:endParaRPr>
          </a:p>
        </p:txBody>
      </p:sp>
      <p:sp>
        <p:nvSpPr>
          <p:cNvPr id="1085" name="Rectangle 24"/>
          <p:cNvSpPr/>
          <p:nvPr/>
        </p:nvSpPr>
        <p:spPr>
          <a:xfrm>
            <a:off x="6385680" y="178308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102A4C"/>
                </a:solidFill>
                <a:effectLst/>
                <a:uFillTx/>
                <a:latin typeface="Aptos"/>
              </a:rPr>
              <a:t>1</a:t>
            </a:r>
            <a:endParaRPr lang="en-US" sz="1200" b="0" u="none" strike="noStrike">
              <a:solidFill>
                <a:srgbClr val="000000"/>
              </a:solidFill>
              <a:effectLst/>
              <a:uFillTx/>
              <a:latin typeface="Arial"/>
            </a:endParaRPr>
          </a:p>
        </p:txBody>
      </p:sp>
      <p:sp>
        <p:nvSpPr>
          <p:cNvPr id="1086" name="Rectangle 25"/>
          <p:cNvSpPr/>
          <p:nvPr/>
        </p:nvSpPr>
        <p:spPr>
          <a:xfrm>
            <a:off x="7025760" y="178308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S (0)</a:t>
            </a:r>
            <a:endParaRPr lang="en-US" sz="1200" b="0" u="none" strike="noStrike">
              <a:solidFill>
                <a:srgbClr val="000000"/>
              </a:solidFill>
              <a:effectLst/>
              <a:uFillTx/>
              <a:latin typeface="Arial"/>
            </a:endParaRPr>
          </a:p>
        </p:txBody>
      </p:sp>
      <p:sp>
        <p:nvSpPr>
          <p:cNvPr id="1087" name="Rectangle 26"/>
          <p:cNvSpPr/>
          <p:nvPr/>
        </p:nvSpPr>
        <p:spPr>
          <a:xfrm>
            <a:off x="8580240" y="178308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A(1), B(2)</a:t>
            </a:r>
            <a:endParaRPr lang="en-US" sz="1200" b="0" u="none" strike="noStrike">
              <a:solidFill>
                <a:srgbClr val="000000"/>
              </a:solidFill>
              <a:effectLst/>
              <a:uFillTx/>
              <a:latin typeface="Arial"/>
            </a:endParaRPr>
          </a:p>
        </p:txBody>
      </p:sp>
      <p:sp>
        <p:nvSpPr>
          <p:cNvPr id="1088" name="Rectangle 27"/>
          <p:cNvSpPr/>
          <p:nvPr/>
        </p:nvSpPr>
        <p:spPr>
          <a:xfrm>
            <a:off x="6385680" y="219456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102A4C"/>
                </a:solidFill>
                <a:effectLst/>
                <a:uFillTx/>
                <a:latin typeface="Aptos"/>
              </a:rPr>
              <a:t>2</a:t>
            </a:r>
            <a:endParaRPr lang="en-US" sz="1200" b="0" u="none" strike="noStrike">
              <a:solidFill>
                <a:srgbClr val="000000"/>
              </a:solidFill>
              <a:effectLst/>
              <a:uFillTx/>
              <a:latin typeface="Arial"/>
            </a:endParaRPr>
          </a:p>
        </p:txBody>
      </p:sp>
      <p:sp>
        <p:nvSpPr>
          <p:cNvPr id="1089" name="Rectangle 28"/>
          <p:cNvSpPr/>
          <p:nvPr/>
        </p:nvSpPr>
        <p:spPr>
          <a:xfrm>
            <a:off x="7025760" y="219456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A (1)</a:t>
            </a:r>
            <a:endParaRPr lang="en-US" sz="1200" b="0" u="none" strike="noStrike">
              <a:solidFill>
                <a:srgbClr val="000000"/>
              </a:solidFill>
              <a:effectLst/>
              <a:uFillTx/>
              <a:latin typeface="Arial"/>
            </a:endParaRPr>
          </a:p>
        </p:txBody>
      </p:sp>
      <p:sp>
        <p:nvSpPr>
          <p:cNvPr id="1090" name="Rectangle 29"/>
          <p:cNvSpPr/>
          <p:nvPr/>
        </p:nvSpPr>
        <p:spPr>
          <a:xfrm>
            <a:off x="8580240" y="219456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B(2), G(9)</a:t>
            </a:r>
            <a:endParaRPr lang="en-US" sz="1200" b="0" u="none" strike="noStrike">
              <a:solidFill>
                <a:srgbClr val="000000"/>
              </a:solidFill>
              <a:effectLst/>
              <a:uFillTx/>
              <a:latin typeface="Arial"/>
            </a:endParaRPr>
          </a:p>
        </p:txBody>
      </p:sp>
      <p:sp>
        <p:nvSpPr>
          <p:cNvPr id="1091" name="Rectangle 30"/>
          <p:cNvSpPr/>
          <p:nvPr/>
        </p:nvSpPr>
        <p:spPr>
          <a:xfrm>
            <a:off x="6385680" y="260604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102A4C"/>
                </a:solidFill>
                <a:effectLst/>
                <a:uFillTx/>
                <a:latin typeface="Aptos"/>
              </a:rPr>
              <a:t>3</a:t>
            </a:r>
            <a:endParaRPr lang="en-US" sz="1200" b="0" u="none" strike="noStrike">
              <a:solidFill>
                <a:srgbClr val="000000"/>
              </a:solidFill>
              <a:effectLst/>
              <a:uFillTx/>
              <a:latin typeface="Arial"/>
            </a:endParaRPr>
          </a:p>
        </p:txBody>
      </p:sp>
      <p:sp>
        <p:nvSpPr>
          <p:cNvPr id="1092" name="Rectangle 31"/>
          <p:cNvSpPr/>
          <p:nvPr/>
        </p:nvSpPr>
        <p:spPr>
          <a:xfrm>
            <a:off x="7025760" y="260604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B (2)</a:t>
            </a:r>
            <a:endParaRPr lang="en-US" sz="1200" b="0" u="none" strike="noStrike">
              <a:solidFill>
                <a:srgbClr val="000000"/>
              </a:solidFill>
              <a:effectLst/>
              <a:uFillTx/>
              <a:latin typeface="Arial"/>
            </a:endParaRPr>
          </a:p>
        </p:txBody>
      </p:sp>
      <p:sp>
        <p:nvSpPr>
          <p:cNvPr id="1093" name="Rectangle 32"/>
          <p:cNvSpPr/>
          <p:nvPr/>
        </p:nvSpPr>
        <p:spPr>
          <a:xfrm>
            <a:off x="8580240" y="260604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C(3), G(9)</a:t>
            </a:r>
            <a:endParaRPr lang="en-US" sz="1200" b="0" u="none" strike="noStrike">
              <a:solidFill>
                <a:srgbClr val="000000"/>
              </a:solidFill>
              <a:effectLst/>
              <a:uFillTx/>
              <a:latin typeface="Arial"/>
            </a:endParaRPr>
          </a:p>
        </p:txBody>
      </p:sp>
      <p:sp>
        <p:nvSpPr>
          <p:cNvPr id="1094" name="Rectangle 33"/>
          <p:cNvSpPr/>
          <p:nvPr/>
        </p:nvSpPr>
        <p:spPr>
          <a:xfrm>
            <a:off x="6385680" y="301752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102A4C"/>
                </a:solidFill>
                <a:effectLst/>
                <a:uFillTx/>
                <a:latin typeface="Aptos"/>
              </a:rPr>
              <a:t>4</a:t>
            </a:r>
            <a:endParaRPr lang="en-US" sz="1200" b="0" u="none" strike="noStrike">
              <a:solidFill>
                <a:srgbClr val="000000"/>
              </a:solidFill>
              <a:effectLst/>
              <a:uFillTx/>
              <a:latin typeface="Arial"/>
            </a:endParaRPr>
          </a:p>
        </p:txBody>
      </p:sp>
      <p:sp>
        <p:nvSpPr>
          <p:cNvPr id="1095" name="Rectangle 34"/>
          <p:cNvSpPr/>
          <p:nvPr/>
        </p:nvSpPr>
        <p:spPr>
          <a:xfrm>
            <a:off x="7025760" y="301752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C (3)</a:t>
            </a:r>
            <a:endParaRPr lang="en-US" sz="1200" b="0" u="none" strike="noStrike">
              <a:solidFill>
                <a:srgbClr val="000000"/>
              </a:solidFill>
              <a:effectLst/>
              <a:uFillTx/>
              <a:latin typeface="Arial"/>
            </a:endParaRPr>
          </a:p>
        </p:txBody>
      </p:sp>
      <p:sp>
        <p:nvSpPr>
          <p:cNvPr id="1096" name="Rectangle 35"/>
          <p:cNvSpPr/>
          <p:nvPr/>
        </p:nvSpPr>
        <p:spPr>
          <a:xfrm>
            <a:off x="8580240" y="301752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G(6)</a:t>
            </a:r>
            <a:endParaRPr lang="en-US" sz="1200" b="0" u="none" strike="noStrike">
              <a:solidFill>
                <a:srgbClr val="000000"/>
              </a:solidFill>
              <a:effectLst/>
              <a:uFillTx/>
              <a:latin typeface="Arial"/>
            </a:endParaRPr>
          </a:p>
        </p:txBody>
      </p:sp>
      <p:sp>
        <p:nvSpPr>
          <p:cNvPr id="1097" name="Rectangle 36"/>
          <p:cNvSpPr/>
          <p:nvPr/>
        </p:nvSpPr>
        <p:spPr>
          <a:xfrm>
            <a:off x="6385680" y="3429000"/>
            <a:ext cx="63972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177245"/>
                </a:solidFill>
                <a:effectLst/>
                <a:uFillTx/>
                <a:latin typeface="Aptos"/>
              </a:rPr>
              <a:t>5</a:t>
            </a:r>
            <a:endParaRPr lang="en-US" sz="1200" b="0" u="none" strike="noStrike">
              <a:solidFill>
                <a:srgbClr val="000000"/>
              </a:solidFill>
              <a:effectLst/>
              <a:uFillTx/>
              <a:latin typeface="Arial"/>
            </a:endParaRPr>
          </a:p>
        </p:txBody>
      </p:sp>
      <p:sp>
        <p:nvSpPr>
          <p:cNvPr id="1098" name="Rectangle 37"/>
          <p:cNvSpPr/>
          <p:nvPr/>
        </p:nvSpPr>
        <p:spPr>
          <a:xfrm>
            <a:off x="7025760" y="3429000"/>
            <a:ext cx="155412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1" u="none" strike="noStrike">
                <a:solidFill>
                  <a:srgbClr val="177245"/>
                </a:solidFill>
                <a:effectLst/>
                <a:uFillTx/>
                <a:latin typeface="Aptos"/>
              </a:rPr>
              <a:t>G (6)</a:t>
            </a:r>
            <a:endParaRPr lang="en-US" sz="1200" b="0" u="none" strike="noStrike">
              <a:solidFill>
                <a:srgbClr val="000000"/>
              </a:solidFill>
              <a:effectLst/>
              <a:uFillTx/>
              <a:latin typeface="Arial"/>
            </a:endParaRPr>
          </a:p>
        </p:txBody>
      </p:sp>
      <p:sp>
        <p:nvSpPr>
          <p:cNvPr id="1099" name="Rectangle 38"/>
          <p:cNvSpPr/>
          <p:nvPr/>
        </p:nvSpPr>
        <p:spPr>
          <a:xfrm>
            <a:off x="8580240" y="3429000"/>
            <a:ext cx="283428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1" u="none" strike="noStrike">
                <a:solidFill>
                  <a:srgbClr val="177245"/>
                </a:solidFill>
                <a:effectLst/>
                <a:uFillTx/>
                <a:latin typeface="Aptos"/>
              </a:rPr>
              <a:t>goal test passes — return</a:t>
            </a:r>
            <a:endParaRPr lang="en-US" sz="1200" b="0" u="none" strike="noStrike">
              <a:solidFill>
                <a:srgbClr val="000000"/>
              </a:solidFill>
              <a:effectLst/>
              <a:uFillTx/>
              <a:latin typeface="Arial"/>
            </a:endParaRPr>
          </a:p>
        </p:txBody>
      </p:sp>
      <p:sp>
        <p:nvSpPr>
          <p:cNvPr id="1100" name="Rectangle 39"/>
          <p:cNvSpPr/>
          <p:nvPr/>
        </p:nvSpPr>
        <p:spPr>
          <a:xfrm>
            <a:off x="6385680" y="370332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400" b="1" u="none" strike="noStrike">
                <a:solidFill>
                  <a:srgbClr val="112E5C"/>
                </a:solidFill>
                <a:effectLst/>
                <a:uFillTx/>
                <a:latin typeface="Aptos"/>
              </a:rPr>
              <a:t>Returned: S → B → C → G, cost 6, on the fifth pop.</a:t>
            </a:r>
            <a:endParaRPr lang="en-US" sz="1400" b="0" u="none" strike="noStrike">
              <a:solidFill>
                <a:srgbClr val="000000"/>
              </a:solidFill>
              <a:effectLst/>
              <a:uFillTx/>
              <a:latin typeface="Arial"/>
            </a:endParaRPr>
          </a:p>
        </p:txBody>
      </p:sp>
      <p:sp>
        <p:nvSpPr>
          <p:cNvPr id="1101" name="Rectangle 40"/>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G was generated on pop 2 at cost 9. Returning it there would have cost you 50 percent more than the optimum.</a:t>
            </a:r>
            <a:endParaRPr lang="en-US" sz="1700" b="0" u="none" strike="noStrike">
              <a:solidFill>
                <a:srgbClr val="000000"/>
              </a:solidFill>
              <a:effectLst/>
              <a:uFillTx/>
              <a:latin typeface="Arial"/>
            </a:endParaRPr>
          </a:p>
        </p:txBody>
      </p:sp>
      <p:sp>
        <p:nvSpPr>
          <p:cNvPr id="1102" name="Rectangle 41"/>
          <p:cNvSpPr/>
          <p:nvPr/>
        </p:nvSpPr>
        <p:spPr>
          <a:xfrm>
            <a:off x="914400" y="53035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On pop 4 the cheaper G(6) replaced G(9) in reached — the re-add rule from the best-first slide, doing real work.</a:t>
            </a:r>
            <a:endParaRPr lang="en-US" sz="1500" b="0" u="none" strike="noStrike">
              <a:solidFill>
                <a:srgbClr val="000000"/>
              </a:solidFill>
              <a:effectLst/>
              <a:uFillTx/>
              <a:latin typeface="Arial"/>
            </a:endParaRPr>
          </a:p>
        </p:txBody>
      </p:sp>
      <p:sp>
        <p:nvSpPr>
          <p:cNvPr id="1103" name="Rectangle 42"/>
          <p:cNvSpPr/>
          <p:nvPr/>
        </p:nvSpPr>
        <p:spPr>
          <a:xfrm>
            <a:off x="914400" y="58064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Both behaviours come from a single design decision: test on expansion, not on generation.</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104"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05"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106"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UCS Complexity and the Positive-Cost Assumption</a:t>
            </a:r>
            <a:endParaRPr lang="en-US" sz="2600" b="0" u="none" strike="noStrike">
              <a:solidFill>
                <a:srgbClr val="000000"/>
              </a:solidFill>
              <a:effectLst/>
              <a:uFillTx/>
              <a:latin typeface="Arial"/>
            </a:endParaRPr>
          </a:p>
        </p:txBody>
      </p:sp>
      <p:sp>
        <p:nvSpPr>
          <p:cNvPr id="1107"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08"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09" name="Text 5"/>
          <p:cNvSpPr/>
          <p:nvPr/>
        </p:nvSpPr>
        <p:spPr>
          <a:xfrm>
            <a:off x="868680" y="1417320"/>
            <a:ext cx="3657240" cy="3470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1" u="none" strike="noStrike">
                <a:solidFill>
                  <a:srgbClr val="112E5C"/>
                </a:solidFill>
                <a:effectLst/>
                <a:uFillTx/>
                <a:latin typeface="Aptos"/>
              </a:rPr>
              <a:t>C* = optimal solution cost</a:t>
            </a:r>
            <a:endParaRPr lang="en-US" sz="1800" b="0" u="none" strike="noStrike">
              <a:solidFill>
                <a:srgbClr val="000000"/>
              </a:solidFill>
              <a:effectLst/>
              <a:uFillTx/>
              <a:latin typeface="Arial"/>
            </a:endParaRPr>
          </a:p>
        </p:txBody>
      </p:sp>
      <p:sp>
        <p:nvSpPr>
          <p:cNvPr id="1110" name="Text 6"/>
          <p:cNvSpPr/>
          <p:nvPr/>
        </p:nvSpPr>
        <p:spPr>
          <a:xfrm>
            <a:off x="868680" y="1874520"/>
            <a:ext cx="4114440" cy="34704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800" b="1" u="none" strike="noStrike">
                <a:solidFill>
                  <a:srgbClr val="112E5C"/>
                </a:solidFill>
                <a:effectLst/>
                <a:uFillTx/>
                <a:latin typeface="Aptos"/>
              </a:rPr>
              <a:t>ε = positive lower bound on action costs</a:t>
            </a:r>
            <a:endParaRPr lang="en-US" sz="1800" b="0" u="none" strike="noStrike">
              <a:solidFill>
                <a:srgbClr val="000000"/>
              </a:solidFill>
              <a:effectLst/>
              <a:uFillTx/>
              <a:latin typeface="Arial"/>
            </a:endParaRPr>
          </a:p>
        </p:txBody>
      </p:sp>
      <p:sp>
        <p:nvSpPr>
          <p:cNvPr id="1111" name="Text 7"/>
          <p:cNvSpPr/>
          <p:nvPr/>
        </p:nvSpPr>
        <p:spPr>
          <a:xfrm>
            <a:off x="914400" y="2880360"/>
            <a:ext cx="10058040" cy="5025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2600" b="1" u="none" strike="noStrike">
                <a:solidFill>
                  <a:srgbClr val="9B1C1C"/>
                </a:solidFill>
                <a:effectLst/>
                <a:uFillTx/>
                <a:latin typeface="Aptos"/>
              </a:rPr>
              <a:t>Time and space: O(b^(1 + ⌊C*/ε⌋))</a:t>
            </a:r>
            <a:endParaRPr lang="en-US" sz="2600" b="0" u="none" strike="noStrike">
              <a:solidFill>
                <a:srgbClr val="000000"/>
              </a:solidFill>
              <a:effectLst/>
              <a:uFillTx/>
              <a:latin typeface="Arial"/>
            </a:endParaRPr>
          </a:p>
        </p:txBody>
      </p:sp>
      <p:sp>
        <p:nvSpPr>
          <p:cNvPr id="1112" name="Text 8"/>
          <p:cNvSpPr/>
          <p:nvPr/>
        </p:nvSpPr>
        <p:spPr>
          <a:xfrm>
            <a:off x="1097280" y="4069080"/>
            <a:ext cx="9875160" cy="4111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0" u="none" strike="noStrike">
                <a:solidFill>
                  <a:srgbClr val="102A4C"/>
                </a:solidFill>
                <a:effectLst/>
                <a:uFillTx/>
                <a:latin typeface="Aptos"/>
              </a:rPr>
              <a:t>UCS may explore many cheap but unhelpful actions before taking a costly useful action.</a:t>
            </a:r>
            <a:endParaRPr lang="en-US" sz="1800" b="0" u="none" strike="noStrike">
              <a:solidFill>
                <a:srgbClr val="000000"/>
              </a:solidFill>
              <a:effectLst/>
              <a:uFillTx/>
              <a:latin typeface="Arial"/>
            </a:endParaRPr>
          </a:p>
        </p:txBody>
      </p:sp>
      <p:sp>
        <p:nvSpPr>
          <p:cNvPr id="1113" name="Text 9"/>
          <p:cNvSpPr/>
          <p:nvPr/>
        </p:nvSpPr>
        <p:spPr>
          <a:xfrm>
            <a:off x="1097280" y="4800600"/>
            <a:ext cx="9875160" cy="4111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1" u="none" strike="noStrike">
                <a:solidFill>
                  <a:srgbClr val="177245"/>
                </a:solidFill>
                <a:effectLst/>
                <a:uFillTx/>
                <a:latin typeface="Aptos"/>
              </a:rPr>
              <a:t>Complete and optimal if costs are positive and the best solution has finite cost.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11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11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11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UCS Explores Cost Contours — In Every Direction</a:t>
            </a:r>
            <a:endParaRPr lang="en-US" sz="2600" b="0" u="none" strike="noStrike">
              <a:solidFill>
                <a:srgbClr val="000000"/>
              </a:solidFill>
              <a:effectLst/>
              <a:uFillTx/>
              <a:latin typeface="Arial"/>
            </a:endParaRPr>
          </a:p>
        </p:txBody>
      </p:sp>
      <p:sp>
        <p:nvSpPr>
          <p:cNvPr id="111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1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19" name="Oval 6"/>
          <p:cNvSpPr/>
          <p:nvPr/>
        </p:nvSpPr>
        <p:spPr>
          <a:xfrm>
            <a:off x="6705720" y="1371600"/>
            <a:ext cx="3657240" cy="3657240"/>
          </a:xfrm>
          <a:prstGeom prst="ellipse">
            <a:avLst/>
          </a:prstGeom>
          <a:solidFill>
            <a:srgbClr val="FFFFFF"/>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120" name="Rectangle 7"/>
          <p:cNvSpPr/>
          <p:nvPr/>
        </p:nvSpPr>
        <p:spPr>
          <a:xfrm>
            <a:off x="8077320" y="148608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050" b="0" u="none" strike="noStrike">
                <a:solidFill>
                  <a:srgbClr val="5C6B80"/>
                </a:solidFill>
                <a:effectLst/>
                <a:uFillTx/>
                <a:latin typeface="Aptos"/>
              </a:rPr>
              <a:t>c ≤ 3</a:t>
            </a:r>
            <a:endParaRPr lang="en-US" sz="1050" b="0" u="none" strike="noStrike">
              <a:solidFill>
                <a:srgbClr val="000000"/>
              </a:solidFill>
              <a:effectLst/>
              <a:uFillTx/>
              <a:latin typeface="Arial"/>
            </a:endParaRPr>
          </a:p>
        </p:txBody>
      </p:sp>
      <p:sp>
        <p:nvSpPr>
          <p:cNvPr id="1121" name="Oval 8"/>
          <p:cNvSpPr/>
          <p:nvPr/>
        </p:nvSpPr>
        <p:spPr>
          <a:xfrm>
            <a:off x="7254360" y="1920240"/>
            <a:ext cx="2559960" cy="2559960"/>
          </a:xfrm>
          <a:prstGeom prst="ellipse">
            <a:avLst/>
          </a:prstGeom>
          <a:solidFill>
            <a:srgbClr val="F7F9FC"/>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122" name="Rectangle 9"/>
          <p:cNvSpPr/>
          <p:nvPr/>
        </p:nvSpPr>
        <p:spPr>
          <a:xfrm>
            <a:off x="8077320" y="203472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050" b="0" u="none" strike="noStrike">
                <a:solidFill>
                  <a:srgbClr val="5C6B80"/>
                </a:solidFill>
                <a:effectLst/>
                <a:uFillTx/>
                <a:latin typeface="Aptos"/>
              </a:rPr>
              <a:t>c ≤ 2</a:t>
            </a:r>
            <a:endParaRPr lang="en-US" sz="1050" b="0" u="none" strike="noStrike">
              <a:solidFill>
                <a:srgbClr val="000000"/>
              </a:solidFill>
              <a:effectLst/>
              <a:uFillTx/>
              <a:latin typeface="Arial"/>
            </a:endParaRPr>
          </a:p>
        </p:txBody>
      </p:sp>
      <p:sp>
        <p:nvSpPr>
          <p:cNvPr id="1123" name="Oval 10"/>
          <p:cNvSpPr/>
          <p:nvPr/>
        </p:nvSpPr>
        <p:spPr>
          <a:xfrm>
            <a:off x="7803000" y="2468880"/>
            <a:ext cx="1462680" cy="1462680"/>
          </a:xfrm>
          <a:prstGeom prst="ellipse">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124" name="Rectangle 11"/>
          <p:cNvSpPr/>
          <p:nvPr/>
        </p:nvSpPr>
        <p:spPr>
          <a:xfrm>
            <a:off x="8077320" y="258336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050" b="0" u="none" strike="noStrike">
                <a:solidFill>
                  <a:srgbClr val="5C6B80"/>
                </a:solidFill>
                <a:effectLst/>
                <a:uFillTx/>
                <a:latin typeface="Aptos"/>
              </a:rPr>
              <a:t>c ≤ 1</a:t>
            </a:r>
            <a:endParaRPr lang="en-US" sz="1050" b="0" u="none" strike="noStrike">
              <a:solidFill>
                <a:srgbClr val="000000"/>
              </a:solidFill>
              <a:effectLst/>
              <a:uFillTx/>
              <a:latin typeface="Arial"/>
            </a:endParaRPr>
          </a:p>
        </p:txBody>
      </p:sp>
      <p:sp>
        <p:nvSpPr>
          <p:cNvPr id="1125" name="Oval 12"/>
          <p:cNvSpPr/>
          <p:nvPr/>
        </p:nvSpPr>
        <p:spPr>
          <a:xfrm>
            <a:off x="8351640" y="3017520"/>
            <a:ext cx="365400" cy="365400"/>
          </a:xfrm>
          <a:prstGeom prst="ellipse">
            <a:avLst/>
          </a:prstGeom>
          <a:solidFill>
            <a:srgbClr val="112E5C"/>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FFFFFF"/>
              </a:solidFill>
              <a:effectLst/>
              <a:uFillTx/>
              <a:latin typeface="Arial"/>
            </a:endParaRPr>
          </a:p>
        </p:txBody>
      </p:sp>
      <p:sp>
        <p:nvSpPr>
          <p:cNvPr id="1126" name="Rectangle 13"/>
          <p:cNvSpPr/>
          <p:nvPr/>
        </p:nvSpPr>
        <p:spPr>
          <a:xfrm>
            <a:off x="7848720" y="342900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00" b="1" u="none" strike="noStrike">
                <a:solidFill>
                  <a:srgbClr val="112E5C"/>
                </a:solidFill>
                <a:effectLst/>
                <a:uFillTx/>
                <a:latin typeface="Aptos"/>
              </a:rPr>
              <a:t>start</a:t>
            </a:r>
            <a:endParaRPr lang="en-US" sz="1100" b="0" u="none" strike="noStrike">
              <a:solidFill>
                <a:srgbClr val="000000"/>
              </a:solidFill>
              <a:effectLst/>
              <a:uFillTx/>
              <a:latin typeface="Arial"/>
            </a:endParaRPr>
          </a:p>
        </p:txBody>
      </p:sp>
      <p:sp>
        <p:nvSpPr>
          <p:cNvPr id="1127" name="Rectangle 14"/>
          <p:cNvSpPr/>
          <p:nvPr/>
        </p:nvSpPr>
        <p:spPr>
          <a:xfrm>
            <a:off x="10927080" y="3063240"/>
            <a:ext cx="411120" cy="273960"/>
          </a:xfrm>
          <a:prstGeom prst="rect">
            <a:avLst/>
          </a:prstGeom>
          <a:solidFill>
            <a:srgbClr val="9B1C1C"/>
          </a:solidFill>
          <a:ln w="12700">
            <a:solidFill>
              <a:srgbClr val="9B1C1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128" name="Rectangle 15"/>
          <p:cNvSpPr/>
          <p:nvPr/>
        </p:nvSpPr>
        <p:spPr>
          <a:xfrm>
            <a:off x="10607040" y="3383280"/>
            <a:ext cx="105120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00" b="1" u="none" strike="noStrike">
                <a:solidFill>
                  <a:srgbClr val="9B1C1C"/>
                </a:solidFill>
                <a:effectLst/>
                <a:uFillTx/>
                <a:latin typeface="Aptos"/>
              </a:rPr>
              <a:t>goal</a:t>
            </a:r>
            <a:endParaRPr lang="en-US" sz="1100" b="0" u="none" strike="noStrike">
              <a:solidFill>
                <a:srgbClr val="000000"/>
              </a:solidFill>
              <a:effectLst/>
              <a:uFillTx/>
              <a:latin typeface="Arial"/>
            </a:endParaRPr>
          </a:p>
        </p:txBody>
      </p:sp>
      <p:sp>
        <p:nvSpPr>
          <p:cNvPr id="1129" name="Rounded Rectangle 16"/>
          <p:cNvSpPr/>
          <p:nvPr/>
        </p:nvSpPr>
        <p:spPr>
          <a:xfrm>
            <a:off x="777240" y="1417320"/>
            <a:ext cx="45716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The good</a:t>
            </a:r>
            <a:endParaRPr lang="en-US" sz="1400" b="0" u="none" strike="noStrike">
              <a:solidFill>
                <a:srgbClr val="000000"/>
              </a:solidFill>
              <a:effectLst/>
              <a:uFillTx/>
              <a:latin typeface="Arial"/>
            </a:endParaRPr>
          </a:p>
        </p:txBody>
      </p:sp>
      <p:sp>
        <p:nvSpPr>
          <p:cNvPr id="1130" name="Rounded Rectangle 17"/>
          <p:cNvSpPr/>
          <p:nvPr/>
        </p:nvSpPr>
        <p:spPr>
          <a:xfrm>
            <a:off x="777240" y="1874520"/>
            <a:ext cx="4571640" cy="9140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131" name="Rectangle 18"/>
          <p:cNvSpPr/>
          <p:nvPr/>
        </p:nvSpPr>
        <p:spPr>
          <a:xfrm>
            <a:off x="960120" y="1965960"/>
            <a:ext cx="4205880" cy="731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0" u="none" strike="noStrike">
                <a:solidFill>
                  <a:srgbClr val="102A4C"/>
                </a:solidFill>
                <a:effectLst/>
                <a:uFillTx/>
                <a:latin typeface="Aptos"/>
              </a:rPr>
              <a:t>Complete and cost-optimal whenever every action costs at least ε &gt; 0.</a:t>
            </a:r>
            <a:endParaRPr lang="en-US" sz="1350" b="0" u="none" strike="noStrike">
              <a:solidFill>
                <a:srgbClr val="000000"/>
              </a:solidFill>
              <a:effectLst/>
              <a:uFillTx/>
              <a:latin typeface="Arial"/>
            </a:endParaRPr>
          </a:p>
        </p:txBody>
      </p:sp>
      <p:sp>
        <p:nvSpPr>
          <p:cNvPr id="1132" name="Rounded Rectangle 19"/>
          <p:cNvSpPr/>
          <p:nvPr/>
        </p:nvSpPr>
        <p:spPr>
          <a:xfrm>
            <a:off x="777240" y="2971800"/>
            <a:ext cx="45716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The bad</a:t>
            </a:r>
            <a:endParaRPr lang="en-US" sz="1400" b="0" u="none" strike="noStrike">
              <a:solidFill>
                <a:srgbClr val="000000"/>
              </a:solidFill>
              <a:effectLst/>
              <a:uFillTx/>
              <a:latin typeface="Arial"/>
            </a:endParaRPr>
          </a:p>
        </p:txBody>
      </p:sp>
      <p:sp>
        <p:nvSpPr>
          <p:cNvPr id="1133" name="Rounded Rectangle 20"/>
          <p:cNvSpPr/>
          <p:nvPr/>
        </p:nvSpPr>
        <p:spPr>
          <a:xfrm>
            <a:off x="777240" y="3429000"/>
            <a:ext cx="4571640" cy="118836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134" name="Rectangle 21"/>
          <p:cNvSpPr/>
          <p:nvPr/>
        </p:nvSpPr>
        <p:spPr>
          <a:xfrm>
            <a:off x="960120" y="3520440"/>
            <a:ext cx="4205880" cy="10054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499"/>
              </a:spcAft>
            </a:pPr>
            <a:r>
              <a:rPr lang="en-US" sz="1250" b="0" u="none" strike="noStrike">
                <a:solidFill>
                  <a:srgbClr val="102A4C"/>
                </a:solidFill>
                <a:effectLst/>
                <a:uFillTx/>
                <a:latin typeface="Aptos"/>
              </a:rPr>
              <a:t>•  Expands outward in every direction equally</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Has no information about where the goal is</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Spends effort behind it as readily as in front</a:t>
            </a:r>
            <a:endParaRPr lang="en-US" sz="1250" b="0" u="none" strike="noStrike">
              <a:solidFill>
                <a:srgbClr val="000000"/>
              </a:solidFill>
              <a:effectLst/>
              <a:uFillTx/>
              <a:latin typeface="Arial"/>
            </a:endParaRPr>
          </a:p>
        </p:txBody>
      </p:sp>
      <p:sp>
        <p:nvSpPr>
          <p:cNvPr id="1135" name="Rectangle 22"/>
          <p:cNvSpPr/>
          <p:nvPr/>
        </p:nvSpPr>
        <p:spPr>
          <a:xfrm>
            <a:off x="914400" y="48463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Uniform-cost search is blind. It knows the cost of the past and nothing about the future.</a:t>
            </a:r>
            <a:endParaRPr lang="en-US" sz="1700" b="0" u="none" strike="noStrike">
              <a:solidFill>
                <a:srgbClr val="000000"/>
              </a:solidFill>
              <a:effectLst/>
              <a:uFillTx/>
              <a:latin typeface="Arial"/>
            </a:endParaRPr>
          </a:p>
        </p:txBody>
      </p:sp>
      <p:sp>
        <p:nvSpPr>
          <p:cNvPr id="1136" name="Rectangle 23"/>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Section 3.5 adds a heuristic h(n), and the contours stretch toward the goal instead of surrounding the start.</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137"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38"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139"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Depth-First Search (DFS)</a:t>
            </a:r>
            <a:endParaRPr lang="en-US" sz="2600" b="0" u="none" strike="noStrike">
              <a:solidFill>
                <a:srgbClr val="000000"/>
              </a:solidFill>
              <a:effectLst/>
              <a:uFillTx/>
              <a:latin typeface="Arial"/>
            </a:endParaRPr>
          </a:p>
        </p:txBody>
      </p:sp>
      <p:sp>
        <p:nvSpPr>
          <p:cNvPr id="1140"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41"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42" name="Text 5"/>
          <p:cNvSpPr/>
          <p:nvPr/>
        </p:nvSpPr>
        <p:spPr>
          <a:xfrm>
            <a:off x="822960" y="1417320"/>
            <a:ext cx="1828440" cy="50256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1143" name="Text 6"/>
          <p:cNvSpPr/>
          <p:nvPr/>
        </p:nvSpPr>
        <p:spPr>
          <a:xfrm>
            <a:off x="2880360" y="1463040"/>
            <a:ext cx="4754520" cy="319680"/>
          </a:xfrm>
          <a:prstGeom prst="rect">
            <a:avLst/>
          </a:prstGeom>
          <a:noFill/>
          <a:ln w="0">
            <a:noFill/>
          </a:ln>
        </p:spPr>
        <p:style>
          <a:lnRef idx="0"/>
          <a:fillRef idx="0"/>
          <a:effectRef idx="0"/>
          <a:fontRef idx="minor"/>
        </p:style>
        <p:txBody>
          <a:bodyPr lIns="720" tIns="720" rIns="720" bIns="720" anchor="ctr">
            <a:normAutofit fontScale="92500" lnSpcReduction="9999"/>
          </a:bodyPr>
          <a:p>
            <a:pPr defTabSz="914400">
              <a:lnSpc>
                <a:spcPct val="100000"/>
              </a:lnSpc>
              <a:tabLst>
                <a:tab pos="0" algn="l"/>
              </a:tabLst>
            </a:pPr>
            <a:r>
              <a:rPr lang="en-US" sz="1700" b="1" u="none" strike="noStrike">
                <a:solidFill>
                  <a:srgbClr val="102A4C"/>
                </a:solidFill>
                <a:effectLst/>
                <a:uFillTx/>
                <a:latin typeface="Aptos"/>
              </a:rPr>
              <a:t>Expand the deepest node in the frontier first.</a:t>
            </a:r>
            <a:endParaRPr lang="en-US" sz="1700" b="0" u="none" strike="noStrike">
              <a:solidFill>
                <a:srgbClr val="000000"/>
              </a:solidFill>
              <a:effectLst/>
              <a:uFillTx/>
              <a:latin typeface="Arial"/>
            </a:endParaRPr>
          </a:p>
        </p:txBody>
      </p:sp>
      <p:sp>
        <p:nvSpPr>
          <p:cNvPr id="1144" name="Text 7"/>
          <p:cNvSpPr/>
          <p:nvPr/>
        </p:nvSpPr>
        <p:spPr>
          <a:xfrm>
            <a:off x="822960" y="2240280"/>
            <a:ext cx="1828440" cy="50256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1145" name="Text 8"/>
          <p:cNvSpPr/>
          <p:nvPr/>
        </p:nvSpPr>
        <p:spPr>
          <a:xfrm>
            <a:off x="2880360" y="2286000"/>
            <a:ext cx="4114440" cy="3196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02A4C"/>
                </a:solidFill>
                <a:effectLst/>
                <a:uFillTx/>
                <a:latin typeface="Aptos"/>
              </a:rPr>
              <a:t>LIFO stack or recursive tree-like search.</a:t>
            </a:r>
            <a:endParaRPr lang="en-US" sz="1600" b="0" u="none" strike="noStrike">
              <a:solidFill>
                <a:srgbClr val="000000"/>
              </a:solidFill>
              <a:effectLst/>
              <a:uFillTx/>
              <a:latin typeface="Arial"/>
            </a:endParaRPr>
          </a:p>
        </p:txBody>
      </p:sp>
      <p:sp>
        <p:nvSpPr>
          <p:cNvPr id="1146" name="Text 9"/>
          <p:cNvSpPr/>
          <p:nvPr/>
        </p:nvSpPr>
        <p:spPr>
          <a:xfrm>
            <a:off x="822960" y="3063240"/>
            <a:ext cx="1828440" cy="50256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Main appeal</a:t>
            </a:r>
            <a:endParaRPr lang="en-US" sz="1600" b="0" u="none" strike="noStrike">
              <a:solidFill>
                <a:srgbClr val="000000"/>
              </a:solidFill>
              <a:effectLst/>
              <a:uFillTx/>
              <a:latin typeface="Arial"/>
            </a:endParaRPr>
          </a:p>
        </p:txBody>
      </p:sp>
      <p:sp>
        <p:nvSpPr>
          <p:cNvPr id="1147" name="Text 10"/>
          <p:cNvSpPr/>
          <p:nvPr/>
        </p:nvSpPr>
        <p:spPr>
          <a:xfrm>
            <a:off x="2880360" y="3108960"/>
            <a:ext cx="4845960" cy="31968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600" b="0" u="none" strike="noStrike">
                <a:solidFill>
                  <a:srgbClr val="102A4C"/>
                </a:solidFill>
                <a:effectLst/>
                <a:uFillTx/>
                <a:latin typeface="Aptos"/>
              </a:rPr>
              <a:t>Low memory: stores a path and siblings, not entire layers.</a:t>
            </a:r>
            <a:endParaRPr lang="en-US" sz="1600" b="0" u="none" strike="noStrike">
              <a:solidFill>
                <a:srgbClr val="000000"/>
              </a:solidFill>
              <a:effectLst/>
              <a:uFillTx/>
              <a:latin typeface="Arial"/>
            </a:endParaRPr>
          </a:p>
        </p:txBody>
      </p:sp>
      <p:sp>
        <p:nvSpPr>
          <p:cNvPr id="1148" name="Shape 11"/>
          <p:cNvSpPr/>
          <p:nvPr/>
        </p:nvSpPr>
        <p:spPr>
          <a:xfrm flipH="1">
            <a:off x="9209520" y="1790280"/>
            <a:ext cx="1355400" cy="64188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49" name="Shape 12"/>
          <p:cNvSpPr/>
          <p:nvPr/>
        </p:nvSpPr>
        <p:spPr>
          <a:xfrm>
            <a:off x="10564920" y="1790280"/>
            <a:ext cx="36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50" name="Shape 13"/>
          <p:cNvSpPr/>
          <p:nvPr/>
        </p:nvSpPr>
        <p:spPr>
          <a:xfrm>
            <a:off x="10564920" y="179028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51" name="Shape 14"/>
          <p:cNvSpPr/>
          <p:nvPr/>
        </p:nvSpPr>
        <p:spPr>
          <a:xfrm flipH="1">
            <a:off x="8603280" y="2432160"/>
            <a:ext cx="606240" cy="67752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52" name="Shape 15"/>
          <p:cNvSpPr/>
          <p:nvPr/>
        </p:nvSpPr>
        <p:spPr>
          <a:xfrm>
            <a:off x="9209520" y="2432160"/>
            <a:ext cx="36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53" name="Shape 16"/>
          <p:cNvSpPr/>
          <p:nvPr/>
        </p:nvSpPr>
        <p:spPr>
          <a:xfrm>
            <a:off x="9209520" y="243216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54" name="Shape 17"/>
          <p:cNvSpPr/>
          <p:nvPr/>
        </p:nvSpPr>
        <p:spPr>
          <a:xfrm flipH="1">
            <a:off x="10172520" y="2432160"/>
            <a:ext cx="39240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55" name="Shape 18"/>
          <p:cNvSpPr/>
          <p:nvPr/>
        </p:nvSpPr>
        <p:spPr>
          <a:xfrm>
            <a:off x="10564920" y="2432160"/>
            <a:ext cx="3920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56" name="Shape 19"/>
          <p:cNvSpPr/>
          <p:nvPr/>
        </p:nvSpPr>
        <p:spPr>
          <a:xfrm>
            <a:off x="11919960" y="2432160"/>
            <a:ext cx="36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57" name="Shape 20"/>
          <p:cNvSpPr/>
          <p:nvPr/>
        </p:nvSpPr>
        <p:spPr>
          <a:xfrm flipH="1">
            <a:off x="8389440" y="3109680"/>
            <a:ext cx="213840" cy="60624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58" name="Shape 21"/>
          <p:cNvSpPr/>
          <p:nvPr/>
        </p:nvSpPr>
        <p:spPr>
          <a:xfrm flipH="1">
            <a:off x="8995680" y="310968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59" name="Shape 22"/>
          <p:cNvSpPr/>
          <p:nvPr/>
        </p:nvSpPr>
        <p:spPr>
          <a:xfrm flipH="1">
            <a:off x="9601920" y="310968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60" name="Shape 23"/>
          <p:cNvSpPr/>
          <p:nvPr/>
        </p:nvSpPr>
        <p:spPr>
          <a:xfrm>
            <a:off x="9815760" y="3109680"/>
            <a:ext cx="3924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61" name="Shape 24"/>
          <p:cNvSpPr/>
          <p:nvPr/>
        </p:nvSpPr>
        <p:spPr>
          <a:xfrm>
            <a:off x="10172520" y="3109680"/>
            <a:ext cx="49932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62" name="Shape 25"/>
          <p:cNvSpPr/>
          <p:nvPr/>
        </p:nvSpPr>
        <p:spPr>
          <a:xfrm>
            <a:off x="10172520" y="3109680"/>
            <a:ext cx="92736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63" name="Shape 26"/>
          <p:cNvSpPr/>
          <p:nvPr/>
        </p:nvSpPr>
        <p:spPr>
          <a:xfrm>
            <a:off x="10956960" y="3109680"/>
            <a:ext cx="5706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64" name="Shape 27"/>
          <p:cNvSpPr/>
          <p:nvPr/>
        </p:nvSpPr>
        <p:spPr>
          <a:xfrm flipH="1">
            <a:off x="11313720" y="371592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65" name="Shape 28"/>
          <p:cNvSpPr/>
          <p:nvPr/>
        </p:nvSpPr>
        <p:spPr>
          <a:xfrm>
            <a:off x="11527560" y="3715920"/>
            <a:ext cx="28548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66" name="Text 29"/>
          <p:cNvSpPr/>
          <p:nvPr/>
        </p:nvSpPr>
        <p:spPr>
          <a:xfrm>
            <a:off x="10418760" y="164412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167" name="Text 30"/>
          <p:cNvSpPr/>
          <p:nvPr/>
        </p:nvSpPr>
        <p:spPr>
          <a:xfrm>
            <a:off x="9063360" y="228600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168" name="Text 31"/>
          <p:cNvSpPr/>
          <p:nvPr/>
        </p:nvSpPr>
        <p:spPr>
          <a:xfrm>
            <a:off x="10418760" y="22860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69" name="Text 32"/>
          <p:cNvSpPr/>
          <p:nvPr/>
        </p:nvSpPr>
        <p:spPr>
          <a:xfrm>
            <a:off x="11773800" y="22860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70" name="Text 33"/>
          <p:cNvSpPr/>
          <p:nvPr/>
        </p:nvSpPr>
        <p:spPr>
          <a:xfrm>
            <a:off x="8457120" y="296352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171" name="Text 34"/>
          <p:cNvSpPr/>
          <p:nvPr/>
        </p:nvSpPr>
        <p:spPr>
          <a:xfrm>
            <a:off x="9063360" y="29635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72" name="Text 35"/>
          <p:cNvSpPr/>
          <p:nvPr/>
        </p:nvSpPr>
        <p:spPr>
          <a:xfrm>
            <a:off x="9669960" y="29635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73" name="Text 36"/>
          <p:cNvSpPr/>
          <p:nvPr/>
        </p:nvSpPr>
        <p:spPr>
          <a:xfrm>
            <a:off x="10026360" y="29635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74" name="Text 37"/>
          <p:cNvSpPr/>
          <p:nvPr/>
        </p:nvSpPr>
        <p:spPr>
          <a:xfrm>
            <a:off x="10810800" y="29635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75" name="Text 38"/>
          <p:cNvSpPr/>
          <p:nvPr/>
        </p:nvSpPr>
        <p:spPr>
          <a:xfrm>
            <a:off x="11773800" y="296352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76" name="Text 39"/>
          <p:cNvSpPr/>
          <p:nvPr/>
        </p:nvSpPr>
        <p:spPr>
          <a:xfrm>
            <a:off x="8243280" y="35697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177" name="Text 40"/>
          <p:cNvSpPr/>
          <p:nvPr/>
        </p:nvSpPr>
        <p:spPr>
          <a:xfrm>
            <a:off x="8849520" y="35697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178" name="Text 41"/>
          <p:cNvSpPr/>
          <p:nvPr/>
        </p:nvSpPr>
        <p:spPr>
          <a:xfrm>
            <a:off x="9455760" y="35697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79" name="Text 42"/>
          <p:cNvSpPr/>
          <p:nvPr/>
        </p:nvSpPr>
        <p:spPr>
          <a:xfrm>
            <a:off x="10062000" y="35697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80" name="Text 43"/>
          <p:cNvSpPr/>
          <p:nvPr/>
        </p:nvSpPr>
        <p:spPr>
          <a:xfrm>
            <a:off x="10525680" y="35697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81" name="Text 44"/>
          <p:cNvSpPr/>
          <p:nvPr/>
        </p:nvSpPr>
        <p:spPr>
          <a:xfrm>
            <a:off x="10953720" y="35697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82" name="Text 45"/>
          <p:cNvSpPr/>
          <p:nvPr/>
        </p:nvSpPr>
        <p:spPr>
          <a:xfrm>
            <a:off x="11381400" y="35697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183" name="Text 46"/>
          <p:cNvSpPr/>
          <p:nvPr/>
        </p:nvSpPr>
        <p:spPr>
          <a:xfrm>
            <a:off x="11167560" y="41760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84" name="Text 47"/>
          <p:cNvSpPr/>
          <p:nvPr/>
        </p:nvSpPr>
        <p:spPr>
          <a:xfrm>
            <a:off x="11666880" y="41760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185"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86"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187"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DFS Build: Follow One Branch Deep</a:t>
            </a:r>
            <a:endParaRPr lang="en-US" sz="2600" b="0" u="none" strike="noStrike">
              <a:solidFill>
                <a:srgbClr val="000000"/>
              </a:solidFill>
              <a:effectLst/>
              <a:uFillTx/>
              <a:latin typeface="Arial"/>
            </a:endParaRPr>
          </a:p>
        </p:txBody>
      </p:sp>
      <p:sp>
        <p:nvSpPr>
          <p:cNvPr id="1188"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89"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90" name="Shape 5"/>
          <p:cNvSpPr/>
          <p:nvPr/>
        </p:nvSpPr>
        <p:spPr>
          <a:xfrm flipH="1">
            <a:off x="3631680" y="1653120"/>
            <a:ext cx="1355400" cy="64188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91" name="Shape 6"/>
          <p:cNvSpPr/>
          <p:nvPr/>
        </p:nvSpPr>
        <p:spPr>
          <a:xfrm>
            <a:off x="4987080" y="1653120"/>
            <a:ext cx="36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92" name="Shape 7"/>
          <p:cNvSpPr/>
          <p:nvPr/>
        </p:nvSpPr>
        <p:spPr>
          <a:xfrm>
            <a:off x="4987080" y="165312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93" name="Shape 8"/>
          <p:cNvSpPr/>
          <p:nvPr/>
        </p:nvSpPr>
        <p:spPr>
          <a:xfrm flipH="1">
            <a:off x="3025440" y="2295000"/>
            <a:ext cx="606240" cy="67752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94" name="Shape 9"/>
          <p:cNvSpPr/>
          <p:nvPr/>
        </p:nvSpPr>
        <p:spPr>
          <a:xfrm>
            <a:off x="3631680" y="2295000"/>
            <a:ext cx="36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95" name="Shape 10"/>
          <p:cNvSpPr/>
          <p:nvPr/>
        </p:nvSpPr>
        <p:spPr>
          <a:xfrm>
            <a:off x="3631680" y="229500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96" name="Shape 11"/>
          <p:cNvSpPr/>
          <p:nvPr/>
        </p:nvSpPr>
        <p:spPr>
          <a:xfrm flipH="1">
            <a:off x="4594680" y="2295000"/>
            <a:ext cx="39240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97" name="Shape 12"/>
          <p:cNvSpPr/>
          <p:nvPr/>
        </p:nvSpPr>
        <p:spPr>
          <a:xfrm>
            <a:off x="4987080" y="2295000"/>
            <a:ext cx="3920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98" name="Shape 13"/>
          <p:cNvSpPr/>
          <p:nvPr/>
        </p:nvSpPr>
        <p:spPr>
          <a:xfrm>
            <a:off x="6342120" y="2295000"/>
            <a:ext cx="36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99" name="Shape 14"/>
          <p:cNvSpPr/>
          <p:nvPr/>
        </p:nvSpPr>
        <p:spPr>
          <a:xfrm flipH="1">
            <a:off x="2811600" y="2972520"/>
            <a:ext cx="213840" cy="60624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00" name="Shape 15"/>
          <p:cNvSpPr/>
          <p:nvPr/>
        </p:nvSpPr>
        <p:spPr>
          <a:xfrm flipH="1">
            <a:off x="3417840" y="297252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01" name="Shape 16"/>
          <p:cNvSpPr/>
          <p:nvPr/>
        </p:nvSpPr>
        <p:spPr>
          <a:xfrm flipH="1">
            <a:off x="4024080" y="297252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02" name="Shape 17"/>
          <p:cNvSpPr/>
          <p:nvPr/>
        </p:nvSpPr>
        <p:spPr>
          <a:xfrm>
            <a:off x="4237920" y="2972520"/>
            <a:ext cx="3924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03" name="Shape 18"/>
          <p:cNvSpPr/>
          <p:nvPr/>
        </p:nvSpPr>
        <p:spPr>
          <a:xfrm>
            <a:off x="4594680" y="2972520"/>
            <a:ext cx="49932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04" name="Shape 19"/>
          <p:cNvSpPr/>
          <p:nvPr/>
        </p:nvSpPr>
        <p:spPr>
          <a:xfrm>
            <a:off x="4594680" y="2972520"/>
            <a:ext cx="92736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05" name="Shape 20"/>
          <p:cNvSpPr/>
          <p:nvPr/>
        </p:nvSpPr>
        <p:spPr>
          <a:xfrm>
            <a:off x="5379120" y="2972520"/>
            <a:ext cx="5706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06" name="Shape 21"/>
          <p:cNvSpPr/>
          <p:nvPr/>
        </p:nvSpPr>
        <p:spPr>
          <a:xfrm flipH="1">
            <a:off x="5735880" y="357876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07" name="Shape 22"/>
          <p:cNvSpPr/>
          <p:nvPr/>
        </p:nvSpPr>
        <p:spPr>
          <a:xfrm>
            <a:off x="5949720" y="3578760"/>
            <a:ext cx="28548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08" name="Text 23"/>
          <p:cNvSpPr/>
          <p:nvPr/>
        </p:nvSpPr>
        <p:spPr>
          <a:xfrm>
            <a:off x="4840920" y="15069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209" name="Text 24"/>
          <p:cNvSpPr/>
          <p:nvPr/>
        </p:nvSpPr>
        <p:spPr>
          <a:xfrm>
            <a:off x="3485520" y="214884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210" name="Text 25"/>
          <p:cNvSpPr/>
          <p:nvPr/>
        </p:nvSpPr>
        <p:spPr>
          <a:xfrm>
            <a:off x="4840920" y="2148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211" name="Text 26"/>
          <p:cNvSpPr/>
          <p:nvPr/>
        </p:nvSpPr>
        <p:spPr>
          <a:xfrm>
            <a:off x="6195960" y="2148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212" name="Text 27"/>
          <p:cNvSpPr/>
          <p:nvPr/>
        </p:nvSpPr>
        <p:spPr>
          <a:xfrm>
            <a:off x="2879280" y="282636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213" name="Text 28"/>
          <p:cNvSpPr/>
          <p:nvPr/>
        </p:nvSpPr>
        <p:spPr>
          <a:xfrm>
            <a:off x="3485520" y="28263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14" name="Text 29"/>
          <p:cNvSpPr/>
          <p:nvPr/>
        </p:nvSpPr>
        <p:spPr>
          <a:xfrm>
            <a:off x="4092120" y="28263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215" name="Text 30"/>
          <p:cNvSpPr/>
          <p:nvPr/>
        </p:nvSpPr>
        <p:spPr>
          <a:xfrm>
            <a:off x="4448520" y="28263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216" name="Text 31"/>
          <p:cNvSpPr/>
          <p:nvPr/>
        </p:nvSpPr>
        <p:spPr>
          <a:xfrm>
            <a:off x="5232960" y="28263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217" name="Text 32"/>
          <p:cNvSpPr/>
          <p:nvPr/>
        </p:nvSpPr>
        <p:spPr>
          <a:xfrm>
            <a:off x="6195960" y="28263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218" name="Text 33"/>
          <p:cNvSpPr/>
          <p:nvPr/>
        </p:nvSpPr>
        <p:spPr>
          <a:xfrm>
            <a:off x="2665440" y="3432600"/>
            <a:ext cx="292320" cy="29232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19" name="Text 34"/>
          <p:cNvSpPr/>
          <p:nvPr/>
        </p:nvSpPr>
        <p:spPr>
          <a:xfrm>
            <a:off x="3271680" y="34326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20" name="Text 35"/>
          <p:cNvSpPr/>
          <p:nvPr/>
        </p:nvSpPr>
        <p:spPr>
          <a:xfrm>
            <a:off x="3877920" y="34326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221" name="Text 36"/>
          <p:cNvSpPr/>
          <p:nvPr/>
        </p:nvSpPr>
        <p:spPr>
          <a:xfrm>
            <a:off x="4484160" y="34326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222" name="Text 37"/>
          <p:cNvSpPr/>
          <p:nvPr/>
        </p:nvSpPr>
        <p:spPr>
          <a:xfrm>
            <a:off x="4947840" y="34326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223" name="Text 38"/>
          <p:cNvSpPr/>
          <p:nvPr/>
        </p:nvSpPr>
        <p:spPr>
          <a:xfrm>
            <a:off x="5375880" y="34326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224" name="Text 39"/>
          <p:cNvSpPr/>
          <p:nvPr/>
        </p:nvSpPr>
        <p:spPr>
          <a:xfrm>
            <a:off x="5803560" y="343260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225" name="Text 40"/>
          <p:cNvSpPr/>
          <p:nvPr/>
        </p:nvSpPr>
        <p:spPr>
          <a:xfrm>
            <a:off x="5589720" y="4038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26" name="Text 41"/>
          <p:cNvSpPr/>
          <p:nvPr/>
        </p:nvSpPr>
        <p:spPr>
          <a:xfrm>
            <a:off x="6089040" y="4038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227" name="Text 42"/>
          <p:cNvSpPr/>
          <p:nvPr/>
        </p:nvSpPr>
        <p:spPr>
          <a:xfrm>
            <a:off x="7040880" y="1828800"/>
            <a:ext cx="3840120" cy="68544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2100" b="1" u="none" strike="noStrike">
                <a:solidFill>
                  <a:srgbClr val="112E5C"/>
                </a:solidFill>
                <a:effectLst/>
                <a:uFillTx/>
                <a:latin typeface="Aptos"/>
              </a:rPr>
              <a:t>DFS follows one branch as far as possible, then backtracks.</a:t>
            </a:r>
            <a:endParaRPr lang="en-US" sz="2100" b="0" u="none" strike="noStrike">
              <a:solidFill>
                <a:srgbClr val="000000"/>
              </a:solidFill>
              <a:effectLst/>
              <a:uFillTx/>
              <a:latin typeface="Arial"/>
            </a:endParaRPr>
          </a:p>
        </p:txBody>
      </p:sp>
      <p:sp>
        <p:nvSpPr>
          <p:cNvPr id="1228" name="Text 43"/>
          <p:cNvSpPr/>
          <p:nvPr/>
        </p:nvSpPr>
        <p:spPr>
          <a:xfrm>
            <a:off x="7040880" y="2971800"/>
            <a:ext cx="3840120" cy="914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Good: small fringe. Bad: may miss a shallow solution while exploring a deep branch.</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229"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30"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231"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DFS Failure Modes and Backtracking</a:t>
            </a:r>
            <a:endParaRPr lang="en-US" sz="2600" b="0" u="none" strike="noStrike">
              <a:solidFill>
                <a:srgbClr val="000000"/>
              </a:solidFill>
              <a:effectLst/>
              <a:uFillTx/>
              <a:latin typeface="Arial"/>
            </a:endParaRPr>
          </a:p>
        </p:txBody>
      </p:sp>
      <p:sp>
        <p:nvSpPr>
          <p:cNvPr id="1232"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33"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34" name="Text 5"/>
          <p:cNvSpPr/>
          <p:nvPr/>
        </p:nvSpPr>
        <p:spPr>
          <a:xfrm>
            <a:off x="822960" y="1417320"/>
            <a:ext cx="5668920" cy="42058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50" b="1" u="none" strike="noStrike">
                <a:solidFill>
                  <a:srgbClr val="9B1C1C"/>
                </a:solidFill>
                <a:effectLst/>
                <a:uFillTx/>
                <a:latin typeface="Aptos"/>
              </a:rPr>
              <a:t>Cyclic spaces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loop forever without cycle checks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Infinite spaces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follow one infinite path and never return</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Repeated states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revisit the same state many times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177245"/>
                </a:solidFill>
                <a:effectLst/>
                <a:uFillTx/>
                <a:latin typeface="Aptos"/>
              </a:rPr>
              <a:t>Backtracking search</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generates one successor at a time and undoes actions to reduce memory</a:t>
            </a:r>
            <a:endParaRPr lang="en-US" sz="1550" b="0" u="none" strike="noStrike">
              <a:solidFill>
                <a:srgbClr val="000000"/>
              </a:solidFill>
              <a:effectLst/>
              <a:uFillTx/>
              <a:latin typeface="Arial"/>
            </a:endParaRPr>
          </a:p>
        </p:txBody>
      </p:sp>
      <p:sp>
        <p:nvSpPr>
          <p:cNvPr id="1235" name="Text 6"/>
          <p:cNvSpPr/>
          <p:nvPr/>
        </p:nvSpPr>
        <p:spPr>
          <a:xfrm>
            <a:off x="7169040" y="1408320"/>
            <a:ext cx="292320" cy="292320"/>
          </a:xfrm>
          <a:prstGeom prst="ellipse">
            <a:avLst/>
          </a:prstGeom>
          <a:solidFill>
            <a:srgbClr val="FFE5B6"/>
          </a:solidFill>
          <a:ln w="15240">
            <a:solidFill>
              <a:srgbClr val="F6A01A"/>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36" name="Text 7"/>
          <p:cNvSpPr/>
          <p:nvPr/>
        </p:nvSpPr>
        <p:spPr>
          <a:xfrm>
            <a:off x="8357760" y="213984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237" name="Text 8"/>
          <p:cNvSpPr/>
          <p:nvPr/>
        </p:nvSpPr>
        <p:spPr>
          <a:xfrm>
            <a:off x="7169040" y="2871360"/>
            <a:ext cx="292320" cy="29232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38" name="Shape 9"/>
          <p:cNvSpPr/>
          <p:nvPr/>
        </p:nvSpPr>
        <p:spPr>
          <a:xfrm>
            <a:off x="7315200" y="1554480"/>
            <a:ext cx="1188720" cy="731520"/>
          </a:xfrm>
          <a:prstGeom prst="line">
            <a:avLst/>
          </a:prstGeom>
          <a:ln w="1905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39" name="Shape 10"/>
          <p:cNvSpPr/>
          <p:nvPr/>
        </p:nvSpPr>
        <p:spPr>
          <a:xfrm flipH="1">
            <a:off x="7315200" y="2286000"/>
            <a:ext cx="1188720" cy="731520"/>
          </a:xfrm>
          <a:prstGeom prst="line">
            <a:avLst/>
          </a:prstGeom>
          <a:ln w="1905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40" name="Shape 11"/>
          <p:cNvSpPr/>
          <p:nvPr/>
        </p:nvSpPr>
        <p:spPr>
          <a:xfrm flipV="1">
            <a:off x="7315200" y="1554480"/>
            <a:ext cx="360" cy="1463040"/>
          </a:xfrm>
          <a:prstGeom prst="line">
            <a:avLst/>
          </a:prstGeom>
          <a:ln w="25400">
            <a:solidFill>
              <a:srgbClr val="9B1C1C"/>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41" name="Text 12"/>
          <p:cNvSpPr/>
          <p:nvPr/>
        </p:nvSpPr>
        <p:spPr>
          <a:xfrm>
            <a:off x="7726680" y="2514600"/>
            <a:ext cx="1096920" cy="2739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00" b="1" u="none" strike="noStrike">
                <a:solidFill>
                  <a:srgbClr val="9B1C1C"/>
                </a:solidFill>
                <a:effectLst/>
                <a:uFillTx/>
                <a:latin typeface="Aptos"/>
              </a:rPr>
              <a:t>Cycle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24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24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24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Quiz: When Does Each Strategy Win?</a:t>
            </a:r>
            <a:endParaRPr lang="en-US" sz="2600" b="0" u="none" strike="noStrike">
              <a:solidFill>
                <a:srgbClr val="000000"/>
              </a:solidFill>
              <a:effectLst/>
              <a:uFillTx/>
              <a:latin typeface="Arial"/>
            </a:endParaRPr>
          </a:p>
        </p:txBody>
      </p:sp>
      <p:sp>
        <p:nvSpPr>
          <p:cNvPr id="124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4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47" name="Rounded Rectangle 6"/>
          <p:cNvSpPr/>
          <p:nvPr/>
        </p:nvSpPr>
        <p:spPr>
          <a:xfrm>
            <a:off x="777240" y="1417320"/>
            <a:ext cx="5028840" cy="50256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50" b="1" u="none" strike="noStrike">
                <a:solidFill>
                  <a:srgbClr val="112E5C"/>
                </a:solidFill>
                <a:effectLst/>
                <a:uFillTx/>
                <a:latin typeface="Aptos"/>
              </a:rPr>
              <a:t>When will BFS outperform DFS?</a:t>
            </a:r>
            <a:endParaRPr lang="en-US" sz="1550" b="0" u="none" strike="noStrike">
              <a:solidFill>
                <a:srgbClr val="000000"/>
              </a:solidFill>
              <a:effectLst/>
              <a:uFillTx/>
              <a:latin typeface="Arial"/>
            </a:endParaRPr>
          </a:p>
        </p:txBody>
      </p:sp>
      <p:sp>
        <p:nvSpPr>
          <p:cNvPr id="1248" name="Rounded Rectangle 7"/>
          <p:cNvSpPr/>
          <p:nvPr/>
        </p:nvSpPr>
        <p:spPr>
          <a:xfrm>
            <a:off x="777240" y="2103120"/>
            <a:ext cx="5028840" cy="201132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249" name="Rectangle 8"/>
          <p:cNvSpPr/>
          <p:nvPr/>
        </p:nvSpPr>
        <p:spPr>
          <a:xfrm>
            <a:off x="1005840" y="2194560"/>
            <a:ext cx="45716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00" b="1" u="none" strike="noStrike">
                <a:solidFill>
                  <a:srgbClr val="5C6B80"/>
                </a:solidFill>
                <a:effectLst/>
                <a:uFillTx/>
                <a:latin typeface="Aptos"/>
              </a:rPr>
              <a:t>Look for:</a:t>
            </a:r>
            <a:endParaRPr lang="en-US" sz="1200" b="0" u="none" strike="noStrike">
              <a:solidFill>
                <a:srgbClr val="000000"/>
              </a:solidFill>
              <a:effectLst/>
              <a:uFillTx/>
              <a:latin typeface="Arial"/>
            </a:endParaRPr>
          </a:p>
        </p:txBody>
      </p:sp>
      <p:sp>
        <p:nvSpPr>
          <p:cNvPr id="1250" name="Rectangle 9"/>
          <p:cNvSpPr/>
          <p:nvPr/>
        </p:nvSpPr>
        <p:spPr>
          <a:xfrm>
            <a:off x="1005840" y="2514600"/>
            <a:ext cx="457164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99"/>
              </a:spcAft>
            </a:pPr>
            <a:r>
              <a:rPr lang="en-US" sz="1350" b="0" u="none" strike="noStrike">
                <a:solidFill>
                  <a:srgbClr val="102A4C"/>
                </a:solidFill>
                <a:effectLst/>
                <a:uFillTx/>
                <a:latin typeface="Aptos"/>
              </a:rPr>
              <a:t>•  The solution is shallow relative to the tree</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Branches are deep, cyclic, or infinite</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You need the fewest-action solution</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Memory is available and the tier fits</a:t>
            </a:r>
            <a:endParaRPr lang="en-US" sz="1350" b="0" u="none" strike="noStrike">
              <a:solidFill>
                <a:srgbClr val="000000"/>
              </a:solidFill>
              <a:effectLst/>
              <a:uFillTx/>
              <a:latin typeface="Arial"/>
            </a:endParaRPr>
          </a:p>
        </p:txBody>
      </p:sp>
      <p:sp>
        <p:nvSpPr>
          <p:cNvPr id="1251" name="Rounded Rectangle 10"/>
          <p:cNvSpPr/>
          <p:nvPr/>
        </p:nvSpPr>
        <p:spPr>
          <a:xfrm>
            <a:off x="6385680" y="1417320"/>
            <a:ext cx="5028840" cy="50256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50" b="1" u="none" strike="noStrike">
                <a:solidFill>
                  <a:srgbClr val="112E5C"/>
                </a:solidFill>
                <a:effectLst/>
                <a:uFillTx/>
                <a:latin typeface="Aptos"/>
              </a:rPr>
              <a:t>When will DFS outperform BFS?</a:t>
            </a:r>
            <a:endParaRPr lang="en-US" sz="1550" b="0" u="none" strike="noStrike">
              <a:solidFill>
                <a:srgbClr val="000000"/>
              </a:solidFill>
              <a:effectLst/>
              <a:uFillTx/>
              <a:latin typeface="Arial"/>
            </a:endParaRPr>
          </a:p>
        </p:txBody>
      </p:sp>
      <p:sp>
        <p:nvSpPr>
          <p:cNvPr id="1252" name="Rounded Rectangle 11"/>
          <p:cNvSpPr/>
          <p:nvPr/>
        </p:nvSpPr>
        <p:spPr>
          <a:xfrm>
            <a:off x="6385680" y="2103120"/>
            <a:ext cx="5028840" cy="201132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253" name="Rectangle 12"/>
          <p:cNvSpPr/>
          <p:nvPr/>
        </p:nvSpPr>
        <p:spPr>
          <a:xfrm>
            <a:off x="6614280" y="2194560"/>
            <a:ext cx="45716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00" b="1" u="none" strike="noStrike">
                <a:solidFill>
                  <a:srgbClr val="5C6B80"/>
                </a:solidFill>
                <a:effectLst/>
                <a:uFillTx/>
                <a:latin typeface="Aptos"/>
              </a:rPr>
              <a:t>Look for:</a:t>
            </a:r>
            <a:endParaRPr lang="en-US" sz="1200" b="0" u="none" strike="noStrike">
              <a:solidFill>
                <a:srgbClr val="000000"/>
              </a:solidFill>
              <a:effectLst/>
              <a:uFillTx/>
              <a:latin typeface="Arial"/>
            </a:endParaRPr>
          </a:p>
        </p:txBody>
      </p:sp>
      <p:sp>
        <p:nvSpPr>
          <p:cNvPr id="1254" name="Rectangle 13"/>
          <p:cNvSpPr/>
          <p:nvPr/>
        </p:nvSpPr>
        <p:spPr>
          <a:xfrm>
            <a:off x="6614280" y="2514600"/>
            <a:ext cx="457164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99"/>
              </a:spcAft>
            </a:pPr>
            <a:r>
              <a:rPr lang="en-US" sz="1350" b="0" u="none" strike="noStrike">
                <a:solidFill>
                  <a:srgbClr val="102A4C"/>
                </a:solidFill>
                <a:effectLst/>
                <a:uFillTx/>
                <a:latin typeface="Aptos"/>
              </a:rPr>
              <a:t>•  Solutions are dense and lie deep</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The space is a finite tree with no cycles</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Memory is the binding constraint</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Any solution will do; cost is not the point</a:t>
            </a:r>
            <a:endParaRPr lang="en-US" sz="1350" b="0" u="none" strike="noStrike">
              <a:solidFill>
                <a:srgbClr val="000000"/>
              </a:solidFill>
              <a:effectLst/>
              <a:uFillTx/>
              <a:latin typeface="Arial"/>
            </a:endParaRPr>
          </a:p>
        </p:txBody>
      </p:sp>
      <p:sp>
        <p:nvSpPr>
          <p:cNvPr id="1255" name="Rectangle 14"/>
          <p:cNvSpPr/>
          <p:nvPr/>
        </p:nvSpPr>
        <p:spPr>
          <a:xfrm>
            <a:off x="914400" y="4389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Reason from the frontier, do not memorise the table.</a:t>
            </a:r>
            <a:endParaRPr lang="en-US" sz="1700" b="0" u="none" strike="noStrike">
              <a:solidFill>
                <a:srgbClr val="000000"/>
              </a:solidFill>
              <a:effectLst/>
              <a:uFillTx/>
              <a:latin typeface="Arial"/>
            </a:endParaRPr>
          </a:p>
        </p:txBody>
      </p:sp>
      <p:sp>
        <p:nvSpPr>
          <p:cNvPr id="1256" name="Rounded Rectangle 15"/>
          <p:cNvSpPr/>
          <p:nvPr/>
        </p:nvSpPr>
        <p:spPr>
          <a:xfrm>
            <a:off x="914400" y="4754880"/>
            <a:ext cx="10423800" cy="594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257" name="Rectangle 16"/>
          <p:cNvSpPr/>
          <p:nvPr/>
        </p:nvSpPr>
        <p:spPr>
          <a:xfrm>
            <a:off x="1097280" y="4800600"/>
            <a:ext cx="100580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00" b="1" u="none" strike="noStrike">
                <a:solidFill>
                  <a:srgbClr val="112E5C"/>
                </a:solidFill>
                <a:effectLst/>
                <a:uFillTx/>
                <a:latin typeface="Aptos"/>
              </a:rPr>
              <a:t>BFS holds an entire tier: </a:t>
            </a:r>
            <a:r>
              <a:rPr lang="en-US" sz="1800" b="1" u="none" strike="noStrike">
                <a:solidFill>
                  <a:srgbClr val="9B1C1C"/>
                </a:solidFill>
                <a:effectLst/>
                <a:uFillTx/>
                <a:latin typeface="Aptos"/>
              </a:rPr>
              <a:t>O(bᵈ)</a:t>
            </a:r>
            <a:r>
              <a:rPr lang="en-US" sz="1500" b="1" u="none" strike="noStrike">
                <a:solidFill>
                  <a:srgbClr val="112E5C"/>
                </a:solidFill>
                <a:effectLst/>
                <a:uFillTx/>
                <a:latin typeface="Aptos"/>
              </a:rPr>
              <a:t>     DFS holds one path and its siblings: </a:t>
            </a:r>
            <a:r>
              <a:rPr lang="en-US" sz="1800" b="1" u="none" strike="noStrike">
                <a:solidFill>
                  <a:srgbClr val="177245"/>
                </a:solidFill>
                <a:effectLst/>
                <a:uFillTx/>
                <a:latin typeface="Aptos"/>
              </a:rPr>
              <a:t>O(bm)</a:t>
            </a:r>
            <a:endParaRPr lang="en-US" sz="1800" b="0" u="none" strike="noStrike">
              <a:solidFill>
                <a:srgbClr val="000000"/>
              </a:solidFill>
              <a:effectLst/>
              <a:uFillTx/>
              <a:latin typeface="Arial"/>
            </a:endParaRPr>
          </a:p>
        </p:txBody>
      </p:sp>
      <p:sp>
        <p:nvSpPr>
          <p:cNvPr id="1258" name="Rectangle 17"/>
          <p:cNvSpPr/>
          <p:nvPr/>
        </p:nvSpPr>
        <p:spPr>
          <a:xfrm>
            <a:off x="914400" y="54864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Every property on the comparison table falls out of which node the frontier hands back next.</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259"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60"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261"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Depth-Limited and Iterative Deepening Search</a:t>
            </a:r>
            <a:endParaRPr lang="en-US" sz="2600" b="0" u="none" strike="noStrike">
              <a:solidFill>
                <a:srgbClr val="000000"/>
              </a:solidFill>
              <a:effectLst/>
              <a:uFillTx/>
              <a:latin typeface="Arial"/>
            </a:endParaRPr>
          </a:p>
        </p:txBody>
      </p:sp>
      <p:sp>
        <p:nvSpPr>
          <p:cNvPr id="1262"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63"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64" name="Text 5"/>
          <p:cNvSpPr/>
          <p:nvPr/>
        </p:nvSpPr>
        <p:spPr>
          <a:xfrm>
            <a:off x="822960" y="1417320"/>
            <a:ext cx="4114440" cy="50256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2F7FD5"/>
                </a:solidFill>
                <a:effectLst/>
                <a:uFillTx/>
                <a:latin typeface="Aptos"/>
              </a:rPr>
              <a:t>Depth-limited search</a:t>
            </a:r>
            <a:endParaRPr lang="en-US" sz="1700" b="0" u="none" strike="noStrike">
              <a:solidFill>
                <a:srgbClr val="000000"/>
              </a:solidFill>
              <a:effectLst/>
              <a:uFillTx/>
              <a:latin typeface="Arial"/>
            </a:endParaRPr>
          </a:p>
        </p:txBody>
      </p:sp>
      <p:sp>
        <p:nvSpPr>
          <p:cNvPr id="1265" name="Text 6"/>
          <p:cNvSpPr/>
          <p:nvPr/>
        </p:nvSpPr>
        <p:spPr>
          <a:xfrm>
            <a:off x="914400" y="2057400"/>
            <a:ext cx="4023000" cy="914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00" b="0" u="none" strike="noStrike">
                <a:solidFill>
                  <a:srgbClr val="102A4C"/>
                </a:solidFill>
                <a:effectLst/>
                <a:uFillTx/>
                <a:latin typeface="Aptos"/>
              </a:rPr>
              <a:t>Set a depth limit ℓ. Nodes at depth ℓ are treated as if they have no successors.</a:t>
            </a:r>
            <a:endParaRPr lang="en-US" sz="1500" b="0" u="none" strike="noStrike">
              <a:solidFill>
                <a:srgbClr val="000000"/>
              </a:solidFill>
              <a:effectLst/>
              <a:uFillTx/>
              <a:latin typeface="Arial"/>
            </a:endParaRPr>
          </a:p>
        </p:txBody>
      </p:sp>
      <p:sp>
        <p:nvSpPr>
          <p:cNvPr id="1266" name="Text 7"/>
          <p:cNvSpPr/>
          <p:nvPr/>
        </p:nvSpPr>
        <p:spPr>
          <a:xfrm>
            <a:off x="6400800" y="1417320"/>
            <a:ext cx="4297320" cy="50256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77245"/>
                </a:solidFill>
                <a:effectLst/>
                <a:uFillTx/>
                <a:latin typeface="Aptos"/>
              </a:rPr>
              <a:t>Iterative deepening search</a:t>
            </a:r>
            <a:endParaRPr lang="en-US" sz="1700" b="0" u="none" strike="noStrike">
              <a:solidFill>
                <a:srgbClr val="000000"/>
              </a:solidFill>
              <a:effectLst/>
              <a:uFillTx/>
              <a:latin typeface="Arial"/>
            </a:endParaRPr>
          </a:p>
        </p:txBody>
      </p:sp>
      <p:sp>
        <p:nvSpPr>
          <p:cNvPr id="1267" name="Text 8"/>
          <p:cNvSpPr/>
          <p:nvPr/>
        </p:nvSpPr>
        <p:spPr>
          <a:xfrm>
            <a:off x="6492240" y="2057400"/>
            <a:ext cx="4114440" cy="914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00" b="0" u="none" strike="noStrike">
                <a:solidFill>
                  <a:srgbClr val="102A4C"/>
                </a:solidFill>
                <a:effectLst/>
                <a:uFillTx/>
                <a:latin typeface="Aptos"/>
              </a:rPr>
              <a:t>Run depth-limited search with limits 0, 1, 2, … until a solution is found.</a:t>
            </a:r>
            <a:endParaRPr lang="en-US" sz="1500" b="0" u="none" strike="noStrike">
              <a:solidFill>
                <a:srgbClr val="000000"/>
              </a:solidFill>
              <a:effectLst/>
              <a:uFillTx/>
              <a:latin typeface="Arial"/>
            </a:endParaRPr>
          </a:p>
        </p:txBody>
      </p:sp>
      <p:sp>
        <p:nvSpPr>
          <p:cNvPr id="1268" name="Text 9"/>
          <p:cNvSpPr/>
          <p:nvPr/>
        </p:nvSpPr>
        <p:spPr>
          <a:xfrm>
            <a:off x="1097280" y="4069080"/>
            <a:ext cx="9875160" cy="4568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2000" b="1" u="none" strike="noStrike">
                <a:solidFill>
                  <a:srgbClr val="112E5C"/>
                </a:solidFill>
                <a:effectLst/>
                <a:uFillTx/>
                <a:latin typeface="Aptos"/>
              </a:rPr>
              <a:t>IDS combines DFS-like memory with BFS-like shallow-solution behavior.</a:t>
            </a:r>
            <a:endParaRPr lang="en-US" sz="2000" b="0" u="none" strike="noStrike">
              <a:solidFill>
                <a:srgbClr val="000000"/>
              </a:solidFill>
              <a:effectLst/>
              <a:uFillTx/>
              <a:latin typeface="Arial"/>
            </a:endParaRPr>
          </a:p>
        </p:txBody>
      </p:sp>
      <p:sp>
        <p:nvSpPr>
          <p:cNvPr id="1269" name="Text 10"/>
          <p:cNvSpPr/>
          <p:nvPr/>
        </p:nvSpPr>
        <p:spPr>
          <a:xfrm>
            <a:off x="1097280" y="4800600"/>
            <a:ext cx="9875160" cy="4111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700" b="0" u="none" strike="noStrike">
                <a:solidFill>
                  <a:srgbClr val="102A4C"/>
                </a:solidFill>
                <a:effectLst/>
                <a:uFillTx/>
                <a:latin typeface="Aptos"/>
              </a:rPr>
              <a:t>IDS time: O(b^d). IDS memory: O(bd). Preferred when depth is unknown and memory is limited.</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270"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271"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272"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Is Iterative Deepening Wasteful?</a:t>
            </a:r>
            <a:endParaRPr lang="en-US" sz="2600" b="0" u="none" strike="noStrike">
              <a:solidFill>
                <a:srgbClr val="000000"/>
              </a:solidFill>
              <a:effectLst/>
              <a:uFillTx/>
              <a:latin typeface="Arial"/>
            </a:endParaRPr>
          </a:p>
        </p:txBody>
      </p:sp>
      <p:sp>
        <p:nvSpPr>
          <p:cNvPr id="1273"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74"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75" name="Rectangle 6"/>
          <p:cNvSpPr/>
          <p:nvPr/>
        </p:nvSpPr>
        <p:spPr>
          <a:xfrm>
            <a:off x="77724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1" u="none" strike="noStrike">
                <a:solidFill>
                  <a:srgbClr val="112E5C"/>
                </a:solidFill>
                <a:effectLst/>
                <a:uFillTx/>
                <a:latin typeface="Aptos"/>
              </a:rPr>
              <a:t>Nodes generated for b = 10, d = 5</a:t>
            </a:r>
            <a:endParaRPr lang="en-US" sz="1350" b="0" u="none" strike="noStrike">
              <a:solidFill>
                <a:srgbClr val="000000"/>
              </a:solidFill>
              <a:effectLst/>
              <a:uFillTx/>
              <a:latin typeface="Arial"/>
            </a:endParaRPr>
          </a:p>
        </p:txBody>
      </p:sp>
      <p:sp>
        <p:nvSpPr>
          <p:cNvPr id="1276" name="Rounded Rectangle 7"/>
          <p:cNvSpPr/>
          <p:nvPr/>
        </p:nvSpPr>
        <p:spPr>
          <a:xfrm>
            <a:off x="777240" y="1783080"/>
            <a:ext cx="5028840" cy="1737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277" name="Rectangle 8"/>
          <p:cNvSpPr/>
          <p:nvPr/>
        </p:nvSpPr>
        <p:spPr>
          <a:xfrm>
            <a:off x="960120" y="1920240"/>
            <a:ext cx="9140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N(IDS)</a:t>
            </a:r>
            <a:endParaRPr lang="en-US" sz="1300" b="0" u="none" strike="noStrike">
              <a:solidFill>
                <a:srgbClr val="000000"/>
              </a:solidFill>
              <a:effectLst/>
              <a:uFillTx/>
              <a:latin typeface="Arial"/>
            </a:endParaRPr>
          </a:p>
        </p:txBody>
      </p:sp>
      <p:sp>
        <p:nvSpPr>
          <p:cNvPr id="1278" name="Rectangle 9"/>
          <p:cNvSpPr/>
          <p:nvPr/>
        </p:nvSpPr>
        <p:spPr>
          <a:xfrm>
            <a:off x="1965960" y="1920240"/>
            <a:ext cx="237708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50 + 400 + 3,000 + 20,000 + 100,000</a:t>
            </a:r>
            <a:endParaRPr lang="en-US" sz="1150" b="0" u="none" strike="noStrike">
              <a:solidFill>
                <a:srgbClr val="000000"/>
              </a:solidFill>
              <a:effectLst/>
              <a:uFillTx/>
              <a:latin typeface="Arial"/>
            </a:endParaRPr>
          </a:p>
        </p:txBody>
      </p:sp>
      <p:sp>
        <p:nvSpPr>
          <p:cNvPr id="1279" name="Rectangle 10"/>
          <p:cNvSpPr/>
          <p:nvPr/>
        </p:nvSpPr>
        <p:spPr>
          <a:xfrm>
            <a:off x="4434840" y="1920240"/>
            <a:ext cx="118836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9B1C1C"/>
                </a:solidFill>
                <a:effectLst/>
                <a:uFillTx/>
                <a:latin typeface="Aptos"/>
              </a:rPr>
              <a:t>123,450</a:t>
            </a:r>
            <a:endParaRPr lang="en-US" sz="1500" b="0" u="none" strike="noStrike">
              <a:solidFill>
                <a:srgbClr val="000000"/>
              </a:solidFill>
              <a:effectLst/>
              <a:uFillTx/>
              <a:latin typeface="Arial"/>
            </a:endParaRPr>
          </a:p>
        </p:txBody>
      </p:sp>
      <p:sp>
        <p:nvSpPr>
          <p:cNvPr id="1280" name="Rectangle 11"/>
          <p:cNvSpPr/>
          <p:nvPr/>
        </p:nvSpPr>
        <p:spPr>
          <a:xfrm>
            <a:off x="960120" y="2377440"/>
            <a:ext cx="9140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N(BFS)</a:t>
            </a:r>
            <a:endParaRPr lang="en-US" sz="1300" b="0" u="none" strike="noStrike">
              <a:solidFill>
                <a:srgbClr val="000000"/>
              </a:solidFill>
              <a:effectLst/>
              <a:uFillTx/>
              <a:latin typeface="Arial"/>
            </a:endParaRPr>
          </a:p>
        </p:txBody>
      </p:sp>
      <p:sp>
        <p:nvSpPr>
          <p:cNvPr id="1281" name="Rectangle 12"/>
          <p:cNvSpPr/>
          <p:nvPr/>
        </p:nvSpPr>
        <p:spPr>
          <a:xfrm>
            <a:off x="1965960" y="2377440"/>
            <a:ext cx="237708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10 + 100 + 1,000 + 10,000 + 100,000</a:t>
            </a:r>
            <a:endParaRPr lang="en-US" sz="1150" b="0" u="none" strike="noStrike">
              <a:solidFill>
                <a:srgbClr val="000000"/>
              </a:solidFill>
              <a:effectLst/>
              <a:uFillTx/>
              <a:latin typeface="Arial"/>
            </a:endParaRPr>
          </a:p>
        </p:txBody>
      </p:sp>
      <p:sp>
        <p:nvSpPr>
          <p:cNvPr id="1282" name="Rectangle 13"/>
          <p:cNvSpPr/>
          <p:nvPr/>
        </p:nvSpPr>
        <p:spPr>
          <a:xfrm>
            <a:off x="4434840" y="2377440"/>
            <a:ext cx="118836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177245"/>
                </a:solidFill>
                <a:effectLst/>
                <a:uFillTx/>
                <a:latin typeface="Aptos"/>
              </a:rPr>
              <a:t>111,110</a:t>
            </a:r>
            <a:endParaRPr lang="en-US" sz="1500" b="0" u="none" strike="noStrike">
              <a:solidFill>
                <a:srgbClr val="000000"/>
              </a:solidFill>
              <a:effectLst/>
              <a:uFillTx/>
              <a:latin typeface="Arial"/>
            </a:endParaRPr>
          </a:p>
        </p:txBody>
      </p:sp>
      <p:cxnSp>
        <p:nvCxnSpPr>
          <p:cNvPr id="1283" name="Connector 14"/>
          <p:cNvCxnSpPr/>
          <p:nvPr/>
        </p:nvCxnSpPr>
        <p:spPr>
          <a:xfrm>
            <a:off x="960120" y="2880360"/>
            <a:ext cx="4663800" cy="360"/>
          </a:xfrm>
          <a:prstGeom prst="straightConnector1">
            <a:avLst/>
          </a:prstGeom>
          <a:ln>
            <a:solidFill>
              <a:srgbClr val="D8DEE8"/>
            </a:solidFill>
          </a:ln>
        </p:spPr>
      </p:cxnSp>
      <p:sp>
        <p:nvSpPr>
          <p:cNvPr id="1284" name="Rectangle 15"/>
          <p:cNvSpPr/>
          <p:nvPr/>
        </p:nvSpPr>
        <p:spPr>
          <a:xfrm>
            <a:off x="960120" y="2971800"/>
            <a:ext cx="4663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400" b="1" u="none" strike="noStrike">
                <a:solidFill>
                  <a:srgbClr val="112E5C"/>
                </a:solidFill>
                <a:effectLst/>
                <a:uFillTx/>
                <a:latin typeface="Aptos"/>
              </a:rPr>
              <a:t>Overhead: about 11 percent, and asymptotically O(bᵈ) either way.</a:t>
            </a:r>
            <a:endParaRPr lang="en-US" sz="1400" b="0" u="none" strike="noStrike">
              <a:solidFill>
                <a:srgbClr val="000000"/>
              </a:solidFill>
              <a:effectLst/>
              <a:uFillTx/>
              <a:latin typeface="Arial"/>
            </a:endParaRPr>
          </a:p>
        </p:txBody>
      </p:sp>
      <p:sp>
        <p:nvSpPr>
          <p:cNvPr id="1285" name="Rectangle 16"/>
          <p:cNvSpPr/>
          <p:nvPr/>
        </p:nvSpPr>
        <p:spPr>
          <a:xfrm>
            <a:off x="638568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1" u="none" strike="noStrike">
                <a:solidFill>
                  <a:srgbClr val="112E5C"/>
                </a:solidFill>
                <a:effectLst/>
                <a:uFillTx/>
                <a:latin typeface="Aptos"/>
              </a:rPr>
              <a:t>Choosing the depth limit ℓ</a:t>
            </a:r>
            <a:endParaRPr lang="en-US" sz="1350" b="0" u="none" strike="noStrike">
              <a:solidFill>
                <a:srgbClr val="000000"/>
              </a:solidFill>
              <a:effectLst/>
              <a:uFillTx/>
              <a:latin typeface="Arial"/>
            </a:endParaRPr>
          </a:p>
        </p:txBody>
      </p:sp>
      <p:sp>
        <p:nvSpPr>
          <p:cNvPr id="1286" name="Rounded Rectangle 17"/>
          <p:cNvSpPr/>
          <p:nvPr/>
        </p:nvSpPr>
        <p:spPr>
          <a:xfrm>
            <a:off x="6385680" y="1783080"/>
            <a:ext cx="5028840" cy="1737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287" name="Rectangle 18"/>
          <p:cNvSpPr/>
          <p:nvPr/>
        </p:nvSpPr>
        <p:spPr>
          <a:xfrm>
            <a:off x="6568560" y="1920240"/>
            <a:ext cx="466308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Romania has 20 cities, so ℓ = 19 is always valid</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But any city is reachable from any other in at most 9 actions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That number is the diameter of the state-space graph, and it gives a far better limit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For most problems the diameter is unknown until the problem is solved</a:t>
            </a:r>
            <a:endParaRPr lang="en-US" sz="1250" b="0" u="none" strike="noStrike">
              <a:solidFill>
                <a:srgbClr val="000000"/>
              </a:solidFill>
              <a:effectLst/>
              <a:uFillTx/>
              <a:latin typeface="Arial"/>
            </a:endParaRPr>
          </a:p>
        </p:txBody>
      </p:sp>
      <p:sp>
        <p:nvSpPr>
          <p:cNvPr id="1288" name="Rectangle 19"/>
          <p:cNvSpPr/>
          <p:nvPr/>
        </p:nvSpPr>
        <p:spPr>
          <a:xfrm>
            <a:off x="914400" y="37490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Most of the nodes are in the bottom tier, so re-generating the upper tiers costs almost nothing.</a:t>
            </a:r>
            <a:endParaRPr lang="en-US" sz="1700" b="0" u="none" strike="noStrike">
              <a:solidFill>
                <a:srgbClr val="000000"/>
              </a:solidFill>
              <a:effectLst/>
              <a:uFillTx/>
              <a:latin typeface="Arial"/>
            </a:endParaRPr>
          </a:p>
        </p:txBody>
      </p:sp>
      <p:sp>
        <p:nvSpPr>
          <p:cNvPr id="1289" name="Rectangle 20"/>
          <p:cNvSpPr/>
          <p:nvPr/>
        </p:nvSpPr>
        <p:spPr>
          <a:xfrm>
            <a:off x="914400" y="42519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400" b="0" u="none" strike="noStrike">
                <a:solidFill>
                  <a:srgbClr val="5C6B80"/>
                </a:solidFill>
                <a:effectLst/>
                <a:uFillTx/>
                <a:latin typeface="Aptos"/>
              </a:rPr>
              <a:t>The children of the root are generated d times; the bottom level exactly once.</a:t>
            </a:r>
            <a:endParaRPr lang="en-US" sz="1400" b="0" u="none" strike="noStrike">
              <a:solidFill>
                <a:srgbClr val="000000"/>
              </a:solidFill>
              <a:effectLst/>
              <a:uFillTx/>
              <a:latin typeface="Arial"/>
            </a:endParaRPr>
          </a:p>
        </p:txBody>
      </p:sp>
      <p:sp>
        <p:nvSpPr>
          <p:cNvPr id="1290" name="Rounded Rectangle 21"/>
          <p:cNvSpPr/>
          <p:nvPr/>
        </p:nvSpPr>
        <p:spPr>
          <a:xfrm>
            <a:off x="914400" y="4617720"/>
            <a:ext cx="10423800" cy="73116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291" name="Rectangle 22"/>
          <p:cNvSpPr/>
          <p:nvPr/>
        </p:nvSpPr>
        <p:spPr>
          <a:xfrm>
            <a:off x="1097280" y="4709160"/>
            <a:ext cx="10058040" cy="5482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400" b="1" u="none" strike="noStrike">
                <a:solidFill>
                  <a:srgbClr val="112E5C"/>
                </a:solidFill>
                <a:effectLst/>
                <a:uFillTx/>
                <a:latin typeface="Aptos"/>
              </a:rPr>
              <a:t>Hybrid worth mentioning: run BFS until memory is nearly exhausted, then run iterative deepening from every node left on the frontier.</a:t>
            </a:r>
            <a:endParaRPr lang="en-US" sz="1400" b="0" u="none" strike="noStrike">
              <a:solidFill>
                <a:srgbClr val="000000"/>
              </a:solidFill>
              <a:effectLst/>
              <a:uFillTx/>
              <a:latin typeface="Arial"/>
            </a:endParaRPr>
          </a:p>
        </p:txBody>
      </p:sp>
      <p:sp>
        <p:nvSpPr>
          <p:cNvPr id="1292" name="Rectangle 23"/>
          <p:cNvSpPr/>
          <p:nvPr/>
        </p:nvSpPr>
        <p:spPr>
          <a:xfrm>
            <a:off x="914400" y="5532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IDS is the preferred uninformed method when the state space exceeds memory and the solution depth is unknown.</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293"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94"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295"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Bidirectional Search</a:t>
            </a:r>
            <a:endParaRPr lang="en-US" sz="2600" b="0" u="none" strike="noStrike">
              <a:solidFill>
                <a:srgbClr val="000000"/>
              </a:solidFill>
              <a:effectLst/>
              <a:uFillTx/>
              <a:latin typeface="Arial"/>
            </a:endParaRPr>
          </a:p>
        </p:txBody>
      </p:sp>
      <p:sp>
        <p:nvSpPr>
          <p:cNvPr id="1296"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97"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98" name="Text 5"/>
          <p:cNvSpPr/>
          <p:nvPr/>
        </p:nvSpPr>
        <p:spPr>
          <a:xfrm>
            <a:off x="1179720" y="2779920"/>
            <a:ext cx="292320" cy="292320"/>
          </a:xfrm>
          <a:prstGeom prst="ellipse">
            <a:avLst/>
          </a:prstGeom>
          <a:solidFill>
            <a:srgbClr val="FFE5B6"/>
          </a:solidFill>
          <a:ln w="15240">
            <a:solidFill>
              <a:srgbClr val="F6A01A"/>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299" name="Text 6"/>
          <p:cNvSpPr/>
          <p:nvPr/>
        </p:nvSpPr>
        <p:spPr>
          <a:xfrm>
            <a:off x="10506600" y="2779920"/>
            <a:ext cx="292320" cy="29232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300" name="Shape 7"/>
          <p:cNvSpPr/>
          <p:nvPr/>
        </p:nvSpPr>
        <p:spPr>
          <a:xfrm>
            <a:off x="896040" y="2578680"/>
            <a:ext cx="859320" cy="694440"/>
          </a:xfrm>
          <a:prstGeom prst="ellipse">
            <a:avLst/>
          </a:prstGeom>
          <a:noFill/>
          <a:ln w="1524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01" name="Shape 8"/>
          <p:cNvSpPr/>
          <p:nvPr/>
        </p:nvSpPr>
        <p:spPr>
          <a:xfrm>
            <a:off x="10222920" y="2578680"/>
            <a:ext cx="859320" cy="694440"/>
          </a:xfrm>
          <a:prstGeom prst="ellipse">
            <a:avLst/>
          </a:prstGeom>
          <a:noFill/>
          <a:ln w="15240">
            <a:solidFill>
              <a:srgbClr val="17724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02" name="Shape 9"/>
          <p:cNvSpPr/>
          <p:nvPr/>
        </p:nvSpPr>
        <p:spPr>
          <a:xfrm>
            <a:off x="466200" y="2231280"/>
            <a:ext cx="1718640" cy="1389600"/>
          </a:xfrm>
          <a:prstGeom prst="ellipse">
            <a:avLst/>
          </a:prstGeom>
          <a:noFill/>
          <a:ln w="1524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03" name="Shape 10"/>
          <p:cNvSpPr/>
          <p:nvPr/>
        </p:nvSpPr>
        <p:spPr>
          <a:xfrm>
            <a:off x="9793080" y="2231280"/>
            <a:ext cx="1718640" cy="1389600"/>
          </a:xfrm>
          <a:prstGeom prst="ellipse">
            <a:avLst/>
          </a:prstGeom>
          <a:noFill/>
          <a:ln w="15240">
            <a:solidFill>
              <a:srgbClr val="17724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04" name="Shape 11"/>
          <p:cNvSpPr/>
          <p:nvPr/>
        </p:nvSpPr>
        <p:spPr>
          <a:xfrm>
            <a:off x="36720" y="1883520"/>
            <a:ext cx="2578320" cy="2084400"/>
          </a:xfrm>
          <a:prstGeom prst="ellipse">
            <a:avLst/>
          </a:prstGeom>
          <a:noFill/>
          <a:ln w="1524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05" name="Shape 12"/>
          <p:cNvSpPr/>
          <p:nvPr/>
        </p:nvSpPr>
        <p:spPr>
          <a:xfrm>
            <a:off x="9363600" y="1883520"/>
            <a:ext cx="2578320" cy="2084400"/>
          </a:xfrm>
          <a:prstGeom prst="ellipse">
            <a:avLst/>
          </a:prstGeom>
          <a:noFill/>
          <a:ln w="15240">
            <a:solidFill>
              <a:srgbClr val="17724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06" name="Shape 13"/>
          <p:cNvSpPr/>
          <p:nvPr/>
        </p:nvSpPr>
        <p:spPr>
          <a:xfrm>
            <a:off x="2651760" y="2926080"/>
            <a:ext cx="6675120" cy="360"/>
          </a:xfrm>
          <a:prstGeom prst="line">
            <a:avLst/>
          </a:prstGeom>
          <a:ln w="19050">
            <a:solidFill>
              <a:srgbClr val="5C6B8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307" name="Text 14"/>
          <p:cNvSpPr/>
          <p:nvPr/>
        </p:nvSpPr>
        <p:spPr>
          <a:xfrm>
            <a:off x="4983480" y="2606040"/>
            <a:ext cx="2148480" cy="548280"/>
          </a:xfrm>
          <a:prstGeom prst="roundRect">
            <a:avLst>
              <a:gd name="adj" fmla="val 1333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frontiers meet</a:t>
            </a:r>
            <a:endParaRPr lang="en-US" sz="1600" b="0" u="none" strike="noStrike">
              <a:solidFill>
                <a:srgbClr val="000000"/>
              </a:solidFill>
              <a:effectLst/>
              <a:uFillTx/>
              <a:latin typeface="Arial"/>
            </a:endParaRPr>
          </a:p>
        </p:txBody>
      </p:sp>
      <p:sp>
        <p:nvSpPr>
          <p:cNvPr id="1308" name="Text 15"/>
          <p:cNvSpPr/>
          <p:nvPr/>
        </p:nvSpPr>
        <p:spPr>
          <a:xfrm>
            <a:off x="1097280" y="4663440"/>
            <a:ext cx="9875160" cy="383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1" u="none" strike="noStrike">
                <a:solidFill>
                  <a:srgbClr val="112E5C"/>
                </a:solidFill>
                <a:effectLst/>
                <a:uFillTx/>
                <a:latin typeface="Aptos"/>
              </a:rPr>
              <a:t>Motivation: b^(d/2) + b^(d/2) is much smaller than b^d.</a:t>
            </a:r>
            <a:endParaRPr lang="en-US" sz="1800" b="0" u="none" strike="noStrike">
              <a:solidFill>
                <a:srgbClr val="000000"/>
              </a:solidFill>
              <a:effectLst/>
              <a:uFillTx/>
              <a:latin typeface="Arial"/>
            </a:endParaRPr>
          </a:p>
        </p:txBody>
      </p:sp>
      <p:sp>
        <p:nvSpPr>
          <p:cNvPr id="1309" name="Text 16"/>
          <p:cNvSpPr/>
          <p:nvPr/>
        </p:nvSpPr>
        <p:spPr>
          <a:xfrm>
            <a:off x="1097280" y="5257800"/>
            <a:ext cx="9875160" cy="347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9B1C1C"/>
                </a:solidFill>
                <a:effectLst/>
                <a:uFillTx/>
                <a:latin typeface="Aptos"/>
              </a:rPr>
              <a:t>Challenge: backward actions and specific goal descriptions must be available.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310"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11"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12"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Bidirectional Search: Mechanics and Cautions</a:t>
            </a:r>
            <a:endParaRPr lang="en-US" sz="2600" b="0" u="none" strike="noStrike">
              <a:solidFill>
                <a:srgbClr val="000000"/>
              </a:solidFill>
              <a:effectLst/>
              <a:uFillTx/>
              <a:latin typeface="Arial"/>
            </a:endParaRPr>
          </a:p>
        </p:txBody>
      </p:sp>
      <p:sp>
        <p:nvSpPr>
          <p:cNvPr id="1313"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14"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15" name="Oval 6"/>
          <p:cNvSpPr/>
          <p:nvPr/>
        </p:nvSpPr>
        <p:spPr>
          <a:xfrm>
            <a:off x="2057400" y="2148840"/>
            <a:ext cx="456840" cy="45684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300" b="1" u="none" strike="noStrike">
                <a:solidFill>
                  <a:srgbClr val="112E5C"/>
                </a:solidFill>
                <a:effectLst/>
                <a:uFillTx/>
                <a:latin typeface="Aptos"/>
              </a:rPr>
              <a:t>S</a:t>
            </a:r>
            <a:endParaRPr lang="en-US" sz="1300" b="0" u="none" strike="noStrike">
              <a:solidFill>
                <a:srgbClr val="000000"/>
              </a:solidFill>
              <a:effectLst/>
              <a:uFillTx/>
              <a:latin typeface="Arial"/>
            </a:endParaRPr>
          </a:p>
        </p:txBody>
      </p:sp>
      <p:sp>
        <p:nvSpPr>
          <p:cNvPr id="1316" name="Oval 7"/>
          <p:cNvSpPr/>
          <p:nvPr/>
        </p:nvSpPr>
        <p:spPr>
          <a:xfrm>
            <a:off x="9677520" y="2148840"/>
            <a:ext cx="456840" cy="45684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300" b="1" u="none" strike="noStrike">
                <a:solidFill>
                  <a:srgbClr val="112E5C"/>
                </a:solidFill>
                <a:effectLst/>
                <a:uFillTx/>
                <a:latin typeface="Aptos"/>
              </a:rPr>
              <a:t>G</a:t>
            </a:r>
            <a:endParaRPr lang="en-US" sz="1300" b="0" u="none" strike="noStrike">
              <a:solidFill>
                <a:srgbClr val="000000"/>
              </a:solidFill>
              <a:effectLst/>
              <a:uFillTx/>
              <a:latin typeface="Arial"/>
            </a:endParaRPr>
          </a:p>
        </p:txBody>
      </p:sp>
      <p:sp>
        <p:nvSpPr>
          <p:cNvPr id="1317" name="Oval 8"/>
          <p:cNvSpPr/>
          <p:nvPr/>
        </p:nvSpPr>
        <p:spPr>
          <a:xfrm>
            <a:off x="3017520" y="2194560"/>
            <a:ext cx="365400" cy="36540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318" name="Oval 9"/>
          <p:cNvSpPr/>
          <p:nvPr/>
        </p:nvSpPr>
        <p:spPr>
          <a:xfrm>
            <a:off x="3886200" y="2148840"/>
            <a:ext cx="456840" cy="45684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319" name="Oval 10"/>
          <p:cNvSpPr/>
          <p:nvPr/>
        </p:nvSpPr>
        <p:spPr>
          <a:xfrm>
            <a:off x="4754880" y="2103120"/>
            <a:ext cx="548280" cy="54828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320" name="Oval 11"/>
          <p:cNvSpPr/>
          <p:nvPr/>
        </p:nvSpPr>
        <p:spPr>
          <a:xfrm>
            <a:off x="5394960" y="2057400"/>
            <a:ext cx="639720" cy="63972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321" name="Oval 12"/>
          <p:cNvSpPr/>
          <p:nvPr/>
        </p:nvSpPr>
        <p:spPr>
          <a:xfrm>
            <a:off x="8808840" y="2194560"/>
            <a:ext cx="365400" cy="36540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322" name="Oval 13"/>
          <p:cNvSpPr/>
          <p:nvPr/>
        </p:nvSpPr>
        <p:spPr>
          <a:xfrm>
            <a:off x="7848720" y="2148840"/>
            <a:ext cx="456840" cy="45684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323" name="Oval 14"/>
          <p:cNvSpPr/>
          <p:nvPr/>
        </p:nvSpPr>
        <p:spPr>
          <a:xfrm>
            <a:off x="6888600" y="2103120"/>
            <a:ext cx="548280" cy="54828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324" name="Oval 15"/>
          <p:cNvSpPr/>
          <p:nvPr/>
        </p:nvSpPr>
        <p:spPr>
          <a:xfrm>
            <a:off x="6157080" y="2057400"/>
            <a:ext cx="639720" cy="63972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cxnSp>
        <p:nvCxnSpPr>
          <p:cNvPr id="1325" name="Connector 16"/>
          <p:cNvCxnSpPr/>
          <p:nvPr/>
        </p:nvCxnSpPr>
        <p:spPr>
          <a:xfrm>
            <a:off x="6095520" y="1691640"/>
            <a:ext cx="360" cy="1371960"/>
          </a:xfrm>
          <a:prstGeom prst="straightConnector1">
            <a:avLst/>
          </a:prstGeom>
          <a:ln w="28575">
            <a:solidFill>
              <a:srgbClr val="F6A01A"/>
            </a:solidFill>
            <a:prstDash val="sysDash"/>
          </a:ln>
        </p:spPr>
      </p:cxnSp>
      <p:sp>
        <p:nvSpPr>
          <p:cNvPr id="1326" name="Rectangle 17"/>
          <p:cNvSpPr/>
          <p:nvPr/>
        </p:nvSpPr>
        <p:spPr>
          <a:xfrm>
            <a:off x="5181480" y="3108960"/>
            <a:ext cx="18284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1" u="none" strike="noStrike">
                <a:solidFill>
                  <a:srgbClr val="112E5C"/>
                </a:solidFill>
                <a:effectLst/>
                <a:uFillTx/>
                <a:latin typeface="Aptos"/>
              </a:rPr>
              <a:t>frontiers collide</a:t>
            </a:r>
            <a:endParaRPr lang="en-US" sz="1150" b="0" u="none" strike="noStrike">
              <a:solidFill>
                <a:srgbClr val="000000"/>
              </a:solidFill>
              <a:effectLst/>
              <a:uFillTx/>
              <a:latin typeface="Arial"/>
            </a:endParaRPr>
          </a:p>
        </p:txBody>
      </p:sp>
      <p:sp>
        <p:nvSpPr>
          <p:cNvPr id="1327" name="Rectangle 18"/>
          <p:cNvSpPr/>
          <p:nvPr/>
        </p:nvSpPr>
        <p:spPr>
          <a:xfrm>
            <a:off x="2286000" y="155448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00" b="1" u="none" strike="noStrike">
                <a:solidFill>
                  <a:srgbClr val="2F7FD5"/>
                </a:solidFill>
                <a:effectLst/>
                <a:uFillTx/>
                <a:latin typeface="Aptos"/>
              </a:rPr>
              <a:t>forward</a:t>
            </a:r>
            <a:endParaRPr lang="en-US" sz="1100" b="0" u="none" strike="noStrike">
              <a:solidFill>
                <a:srgbClr val="000000"/>
              </a:solidFill>
              <a:effectLst/>
              <a:uFillTx/>
              <a:latin typeface="Arial"/>
            </a:endParaRPr>
          </a:p>
        </p:txBody>
      </p:sp>
      <p:sp>
        <p:nvSpPr>
          <p:cNvPr id="1328" name="Rectangle 19"/>
          <p:cNvSpPr/>
          <p:nvPr/>
        </p:nvSpPr>
        <p:spPr>
          <a:xfrm>
            <a:off x="9220320" y="155448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00" b="1" u="none" strike="noStrike">
                <a:solidFill>
                  <a:srgbClr val="9B1C1C"/>
                </a:solidFill>
                <a:effectLst/>
                <a:uFillTx/>
                <a:latin typeface="Aptos"/>
              </a:rPr>
              <a:t>backward</a:t>
            </a:r>
            <a:endParaRPr lang="en-US" sz="1100" b="0" u="none" strike="noStrike">
              <a:solidFill>
                <a:srgbClr val="000000"/>
              </a:solidFill>
              <a:effectLst/>
              <a:uFillTx/>
              <a:latin typeface="Arial"/>
            </a:endParaRPr>
          </a:p>
        </p:txBody>
      </p:sp>
      <p:sp>
        <p:nvSpPr>
          <p:cNvPr id="1329" name="Rounded Rectangle 20"/>
          <p:cNvSpPr/>
          <p:nvPr/>
        </p:nvSpPr>
        <p:spPr>
          <a:xfrm>
            <a:off x="777240" y="320040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What it requires</a:t>
            </a:r>
            <a:endParaRPr lang="en-US" sz="1400" b="0" u="none" strike="noStrike">
              <a:solidFill>
                <a:srgbClr val="000000"/>
              </a:solidFill>
              <a:effectLst/>
              <a:uFillTx/>
              <a:latin typeface="Arial"/>
            </a:endParaRPr>
          </a:p>
        </p:txBody>
      </p:sp>
      <p:sp>
        <p:nvSpPr>
          <p:cNvPr id="1330" name="Rounded Rectangle 21"/>
          <p:cNvSpPr/>
          <p:nvPr/>
        </p:nvSpPr>
        <p:spPr>
          <a:xfrm>
            <a:off x="777240" y="3657600"/>
            <a:ext cx="5028840" cy="15541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31" name="Rectangle 22"/>
          <p:cNvSpPr/>
          <p:nvPr/>
        </p:nvSpPr>
        <p:spPr>
          <a:xfrm>
            <a:off x="960120" y="3749040"/>
            <a:ext cx="4663080" cy="13712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Two frontiers and two reached tables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Reversible reasoning: if s′ follows s forward, s must follow s′ backward</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An explicit goal state, not merely a goal property</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A collision test, plus a best-solution-so-far until Terminated proves nothing better remains</a:t>
            </a:r>
            <a:endParaRPr lang="en-US" sz="1250" b="0" u="none" strike="noStrike">
              <a:solidFill>
                <a:srgbClr val="000000"/>
              </a:solidFill>
              <a:effectLst/>
              <a:uFillTx/>
              <a:latin typeface="Arial"/>
            </a:endParaRPr>
          </a:p>
        </p:txBody>
      </p:sp>
      <p:sp>
        <p:nvSpPr>
          <p:cNvPr id="1332" name="Rounded Rectangle 23"/>
          <p:cNvSpPr/>
          <p:nvPr/>
        </p:nvSpPr>
        <p:spPr>
          <a:xfrm>
            <a:off x="6385680" y="320040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What it buys</a:t>
            </a:r>
            <a:endParaRPr lang="en-US" sz="1400" b="0" u="none" strike="noStrike">
              <a:solidFill>
                <a:srgbClr val="000000"/>
              </a:solidFill>
              <a:effectLst/>
              <a:uFillTx/>
              <a:latin typeface="Arial"/>
            </a:endParaRPr>
          </a:p>
        </p:txBody>
      </p:sp>
      <p:sp>
        <p:nvSpPr>
          <p:cNvPr id="1333" name="Rounded Rectangle 24"/>
          <p:cNvSpPr/>
          <p:nvPr/>
        </p:nvSpPr>
        <p:spPr>
          <a:xfrm>
            <a:off x="6385680" y="3657600"/>
            <a:ext cx="5028840" cy="15541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34" name="Rectangle 25"/>
          <p:cNvSpPr/>
          <p:nvPr/>
        </p:nvSpPr>
        <p:spPr>
          <a:xfrm>
            <a:off x="6568560" y="3749040"/>
            <a:ext cx="466308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2400" b="1" u="none" strike="noStrike">
                <a:solidFill>
                  <a:srgbClr val="112E5C"/>
                </a:solidFill>
                <a:effectLst/>
                <a:uFillTx/>
                <a:latin typeface="Aptos"/>
              </a:rPr>
              <a:t>b</a:t>
            </a:r>
            <a:r>
              <a:rPr lang="en-US" sz="1400" b="1" u="none" strike="noStrike">
                <a:solidFill>
                  <a:srgbClr val="112E5C"/>
                </a:solidFill>
                <a:effectLst/>
                <a:uFillTx/>
                <a:latin typeface="Aptos"/>
              </a:rPr>
              <a:t>d/2</a:t>
            </a:r>
            <a:r>
              <a:rPr lang="en-US" sz="2000" b="1" u="none" strike="noStrike">
                <a:solidFill>
                  <a:srgbClr val="5C6B80"/>
                </a:solidFill>
                <a:effectLst/>
                <a:uFillTx/>
                <a:latin typeface="Aptos"/>
              </a:rPr>
              <a:t>  +  </a:t>
            </a:r>
            <a:r>
              <a:rPr lang="en-US" sz="2400" b="1" u="none" strike="noStrike">
                <a:solidFill>
                  <a:srgbClr val="112E5C"/>
                </a:solidFill>
                <a:effectLst/>
                <a:uFillTx/>
                <a:latin typeface="Aptos"/>
              </a:rPr>
              <a:t>b</a:t>
            </a:r>
            <a:r>
              <a:rPr lang="en-US" sz="1400" b="1" u="none" strike="noStrike">
                <a:solidFill>
                  <a:srgbClr val="112E5C"/>
                </a:solidFill>
                <a:effectLst/>
                <a:uFillTx/>
                <a:latin typeface="Aptos"/>
              </a:rPr>
              <a:t>d/2</a:t>
            </a:r>
            <a:r>
              <a:rPr lang="en-US" sz="2000" b="1" u="none" strike="noStrike">
                <a:solidFill>
                  <a:srgbClr val="5C6B80"/>
                </a:solidFill>
                <a:effectLst/>
                <a:uFillTx/>
                <a:latin typeface="Aptos"/>
              </a:rPr>
              <a:t>   ≪   </a:t>
            </a:r>
            <a:r>
              <a:rPr lang="en-US" sz="2400" b="1" u="none" strike="noStrike">
                <a:solidFill>
                  <a:srgbClr val="9B1C1C"/>
                </a:solidFill>
                <a:effectLst/>
                <a:uFillTx/>
                <a:latin typeface="Aptos"/>
              </a:rPr>
              <a:t>b</a:t>
            </a:r>
            <a:r>
              <a:rPr lang="en-US" sz="1400" b="1" u="none" strike="noStrike">
                <a:solidFill>
                  <a:srgbClr val="9B1C1C"/>
                </a:solidFill>
                <a:effectLst/>
                <a:uFillTx/>
                <a:latin typeface="Aptos"/>
              </a:rPr>
              <a:t>d</a:t>
            </a:r>
            <a:endParaRPr lang="en-US" sz="1400" b="0" u="none" strike="noStrike">
              <a:solidFill>
                <a:srgbClr val="000000"/>
              </a:solidFill>
              <a:effectLst/>
              <a:uFillTx/>
              <a:latin typeface="Arial"/>
            </a:endParaRPr>
          </a:p>
        </p:txBody>
      </p:sp>
      <p:sp>
        <p:nvSpPr>
          <p:cNvPr id="1335" name="Rectangle 26"/>
          <p:cNvSpPr/>
          <p:nvPr/>
        </p:nvSpPr>
        <p:spPr>
          <a:xfrm>
            <a:off x="6568560" y="4297680"/>
            <a:ext cx="4663080" cy="8226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About 50,000 times fewer nodes when b = d = 10</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With f = path cost, no node above C* / 2 is ever expanded</a:t>
            </a:r>
            <a:endParaRPr lang="en-US" sz="1250" b="0" u="none" strike="noStrike">
              <a:solidFill>
                <a:srgbClr val="000000"/>
              </a:solidFill>
              <a:effectLst/>
              <a:uFillTx/>
              <a:latin typeface="Arial"/>
            </a:endParaRPr>
          </a:p>
        </p:txBody>
      </p:sp>
      <p:sp>
        <p:nvSpPr>
          <p:cNvPr id="1336" name="Rectangle 27"/>
          <p:cNvSpPr/>
          <p:nvPr/>
        </p:nvSpPr>
        <p:spPr>
          <a:xfrm>
            <a:off x="914400" y="53492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The expansion rule is global: expand the minimum-f node across either frontier, not one from each in turn.</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337"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38"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339"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Comparing Uninformed Search Algorithms</a:t>
            </a:r>
            <a:endParaRPr lang="en-US" sz="2600" b="0" u="none" strike="noStrike">
              <a:solidFill>
                <a:srgbClr val="000000"/>
              </a:solidFill>
              <a:effectLst/>
              <a:uFillTx/>
              <a:latin typeface="Arial"/>
            </a:endParaRPr>
          </a:p>
        </p:txBody>
      </p:sp>
      <p:sp>
        <p:nvSpPr>
          <p:cNvPr id="1340"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41"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42" name="Shape 5"/>
          <p:cNvSpPr/>
          <p:nvPr/>
        </p:nvSpPr>
        <p:spPr>
          <a:xfrm>
            <a:off x="685800" y="1325880"/>
            <a:ext cx="2011320" cy="529920"/>
          </a:xfrm>
          <a:prstGeom prst="rect">
            <a:avLst/>
          </a:prstGeom>
          <a:solidFill>
            <a:srgbClr val="112E5C"/>
          </a:solidFill>
          <a:ln w="635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43" name="Text 6"/>
          <p:cNvSpPr/>
          <p:nvPr/>
        </p:nvSpPr>
        <p:spPr>
          <a:xfrm>
            <a:off x="731520" y="1435680"/>
            <a:ext cx="1919880" cy="2282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300" b="1" u="none" strike="noStrike">
                <a:solidFill>
                  <a:srgbClr val="FFFFFF"/>
                </a:solidFill>
                <a:effectLst/>
                <a:uFillTx/>
                <a:latin typeface="Aptos"/>
              </a:rPr>
              <a:t>Algorithm</a:t>
            </a:r>
            <a:endParaRPr lang="en-US" sz="1300" b="0" u="none" strike="noStrike">
              <a:solidFill>
                <a:srgbClr val="000000"/>
              </a:solidFill>
              <a:effectLst/>
              <a:uFillTx/>
              <a:latin typeface="Arial"/>
            </a:endParaRPr>
          </a:p>
        </p:txBody>
      </p:sp>
      <p:sp>
        <p:nvSpPr>
          <p:cNvPr id="1344" name="Shape 7"/>
          <p:cNvSpPr/>
          <p:nvPr/>
        </p:nvSpPr>
        <p:spPr>
          <a:xfrm>
            <a:off x="2697480" y="1325880"/>
            <a:ext cx="2925720" cy="529920"/>
          </a:xfrm>
          <a:prstGeom prst="rect">
            <a:avLst/>
          </a:prstGeom>
          <a:solidFill>
            <a:srgbClr val="112E5C"/>
          </a:solidFill>
          <a:ln w="635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45" name="Text 8"/>
          <p:cNvSpPr/>
          <p:nvPr/>
        </p:nvSpPr>
        <p:spPr>
          <a:xfrm>
            <a:off x="2743200" y="1435680"/>
            <a:ext cx="2834280" cy="2282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300" b="1" u="none" strike="noStrike">
                <a:solidFill>
                  <a:srgbClr val="FFFFFF"/>
                </a:solidFill>
                <a:effectLst/>
                <a:uFillTx/>
                <a:latin typeface="Aptos"/>
              </a:rPr>
              <a:t>Complete?</a:t>
            </a:r>
            <a:endParaRPr lang="en-US" sz="1300" b="0" u="none" strike="noStrike">
              <a:solidFill>
                <a:srgbClr val="000000"/>
              </a:solidFill>
              <a:effectLst/>
              <a:uFillTx/>
              <a:latin typeface="Arial"/>
            </a:endParaRPr>
          </a:p>
        </p:txBody>
      </p:sp>
      <p:sp>
        <p:nvSpPr>
          <p:cNvPr id="1346" name="Shape 9"/>
          <p:cNvSpPr/>
          <p:nvPr/>
        </p:nvSpPr>
        <p:spPr>
          <a:xfrm>
            <a:off x="5623560" y="1325880"/>
            <a:ext cx="2559960" cy="529920"/>
          </a:xfrm>
          <a:prstGeom prst="rect">
            <a:avLst/>
          </a:prstGeom>
          <a:solidFill>
            <a:srgbClr val="112E5C"/>
          </a:solidFill>
          <a:ln w="635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47" name="Text 10"/>
          <p:cNvSpPr/>
          <p:nvPr/>
        </p:nvSpPr>
        <p:spPr>
          <a:xfrm>
            <a:off x="5669280" y="1435680"/>
            <a:ext cx="2468520" cy="2282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300" b="1" u="none" strike="noStrike">
                <a:solidFill>
                  <a:srgbClr val="FFFFFF"/>
                </a:solidFill>
                <a:effectLst/>
                <a:uFillTx/>
                <a:latin typeface="Aptos"/>
              </a:rPr>
              <a:t>Optimal?</a:t>
            </a:r>
            <a:endParaRPr lang="en-US" sz="1300" b="0" u="none" strike="noStrike">
              <a:solidFill>
                <a:srgbClr val="000000"/>
              </a:solidFill>
              <a:effectLst/>
              <a:uFillTx/>
              <a:latin typeface="Arial"/>
            </a:endParaRPr>
          </a:p>
        </p:txBody>
      </p:sp>
      <p:sp>
        <p:nvSpPr>
          <p:cNvPr id="1348" name="Shape 11"/>
          <p:cNvSpPr/>
          <p:nvPr/>
        </p:nvSpPr>
        <p:spPr>
          <a:xfrm>
            <a:off x="8183880" y="1325880"/>
            <a:ext cx="2834280" cy="529920"/>
          </a:xfrm>
          <a:prstGeom prst="rect">
            <a:avLst/>
          </a:prstGeom>
          <a:solidFill>
            <a:srgbClr val="112E5C"/>
          </a:solidFill>
          <a:ln w="635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49" name="Text 12"/>
          <p:cNvSpPr/>
          <p:nvPr/>
        </p:nvSpPr>
        <p:spPr>
          <a:xfrm>
            <a:off x="8229600" y="1435680"/>
            <a:ext cx="2742840" cy="2282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300" b="1" u="none" strike="noStrike">
                <a:solidFill>
                  <a:srgbClr val="FFFFFF"/>
                </a:solidFill>
                <a:effectLst/>
                <a:uFillTx/>
                <a:latin typeface="Aptos"/>
              </a:rPr>
              <a:t>Memory</a:t>
            </a:r>
            <a:endParaRPr lang="en-US" sz="1300" b="0" u="none" strike="noStrike">
              <a:solidFill>
                <a:srgbClr val="000000"/>
              </a:solidFill>
              <a:effectLst/>
              <a:uFillTx/>
              <a:latin typeface="Arial"/>
            </a:endParaRPr>
          </a:p>
        </p:txBody>
      </p:sp>
      <p:sp>
        <p:nvSpPr>
          <p:cNvPr id="1350" name="Shape 13"/>
          <p:cNvSpPr/>
          <p:nvPr/>
        </p:nvSpPr>
        <p:spPr>
          <a:xfrm>
            <a:off x="685800" y="1856160"/>
            <a:ext cx="201132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1" name="Text 14"/>
          <p:cNvSpPr/>
          <p:nvPr/>
        </p:nvSpPr>
        <p:spPr>
          <a:xfrm>
            <a:off x="731520" y="1974960"/>
            <a:ext cx="19198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1" u="none" strike="noStrike">
                <a:solidFill>
                  <a:srgbClr val="112E5C"/>
                </a:solidFill>
                <a:effectLst/>
                <a:uFillTx/>
                <a:latin typeface="Aptos"/>
              </a:rPr>
              <a:t>BFS</a:t>
            </a:r>
            <a:endParaRPr lang="en-US" sz="1150" b="0" u="none" strike="noStrike">
              <a:solidFill>
                <a:srgbClr val="000000"/>
              </a:solidFill>
              <a:effectLst/>
              <a:uFillTx/>
              <a:latin typeface="Arial"/>
            </a:endParaRPr>
          </a:p>
        </p:txBody>
      </p:sp>
      <p:sp>
        <p:nvSpPr>
          <p:cNvPr id="1352" name="Shape 15"/>
          <p:cNvSpPr/>
          <p:nvPr/>
        </p:nvSpPr>
        <p:spPr>
          <a:xfrm>
            <a:off x="2697480" y="1856160"/>
            <a:ext cx="292572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3" name="Text 16"/>
          <p:cNvSpPr/>
          <p:nvPr/>
        </p:nvSpPr>
        <p:spPr>
          <a:xfrm>
            <a:off x="2743200" y="1974960"/>
            <a:ext cx="28342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Yes</a:t>
            </a:r>
            <a:endParaRPr lang="en-US" sz="1150" b="0" u="none" strike="noStrike">
              <a:solidFill>
                <a:srgbClr val="000000"/>
              </a:solidFill>
              <a:effectLst/>
              <a:uFillTx/>
              <a:latin typeface="Arial"/>
            </a:endParaRPr>
          </a:p>
        </p:txBody>
      </p:sp>
      <p:sp>
        <p:nvSpPr>
          <p:cNvPr id="1354" name="Shape 17"/>
          <p:cNvSpPr/>
          <p:nvPr/>
        </p:nvSpPr>
        <p:spPr>
          <a:xfrm>
            <a:off x="5623560" y="1856160"/>
            <a:ext cx="255996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5" name="Text 18"/>
          <p:cNvSpPr/>
          <p:nvPr/>
        </p:nvSpPr>
        <p:spPr>
          <a:xfrm>
            <a:off x="5669280" y="1974960"/>
            <a:ext cx="246852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Unit costs</a:t>
            </a:r>
            <a:endParaRPr lang="en-US" sz="1150" b="0" u="none" strike="noStrike">
              <a:solidFill>
                <a:srgbClr val="000000"/>
              </a:solidFill>
              <a:effectLst/>
              <a:uFillTx/>
              <a:latin typeface="Arial"/>
            </a:endParaRPr>
          </a:p>
        </p:txBody>
      </p:sp>
      <p:sp>
        <p:nvSpPr>
          <p:cNvPr id="1356" name="Shape 19"/>
          <p:cNvSpPr/>
          <p:nvPr/>
        </p:nvSpPr>
        <p:spPr>
          <a:xfrm>
            <a:off x="8183880" y="1856160"/>
            <a:ext cx="283428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7" name="Text 20"/>
          <p:cNvSpPr/>
          <p:nvPr/>
        </p:nvSpPr>
        <p:spPr>
          <a:xfrm>
            <a:off x="8229600" y="1974960"/>
            <a:ext cx="27428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O(b^d)</a:t>
            </a:r>
            <a:endParaRPr lang="en-US" sz="1150" b="0" u="none" strike="noStrike">
              <a:solidFill>
                <a:srgbClr val="000000"/>
              </a:solidFill>
              <a:effectLst/>
              <a:uFillTx/>
              <a:latin typeface="Arial"/>
            </a:endParaRPr>
          </a:p>
        </p:txBody>
      </p:sp>
      <p:sp>
        <p:nvSpPr>
          <p:cNvPr id="1358" name="Shape 21"/>
          <p:cNvSpPr/>
          <p:nvPr/>
        </p:nvSpPr>
        <p:spPr>
          <a:xfrm>
            <a:off x="685800" y="2386440"/>
            <a:ext cx="201132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9" name="Text 22"/>
          <p:cNvSpPr/>
          <p:nvPr/>
        </p:nvSpPr>
        <p:spPr>
          <a:xfrm>
            <a:off x="731520" y="2505600"/>
            <a:ext cx="19198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1" u="none" strike="noStrike">
                <a:solidFill>
                  <a:srgbClr val="112E5C"/>
                </a:solidFill>
                <a:effectLst/>
                <a:uFillTx/>
                <a:latin typeface="Aptos"/>
              </a:rPr>
              <a:t>UCS</a:t>
            </a:r>
            <a:endParaRPr lang="en-US" sz="1150" b="0" u="none" strike="noStrike">
              <a:solidFill>
                <a:srgbClr val="000000"/>
              </a:solidFill>
              <a:effectLst/>
              <a:uFillTx/>
              <a:latin typeface="Arial"/>
            </a:endParaRPr>
          </a:p>
        </p:txBody>
      </p:sp>
      <p:sp>
        <p:nvSpPr>
          <p:cNvPr id="1360" name="Shape 23"/>
          <p:cNvSpPr/>
          <p:nvPr/>
        </p:nvSpPr>
        <p:spPr>
          <a:xfrm>
            <a:off x="2697480" y="2386440"/>
            <a:ext cx="292572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61" name="Text 24"/>
          <p:cNvSpPr/>
          <p:nvPr/>
        </p:nvSpPr>
        <p:spPr>
          <a:xfrm>
            <a:off x="2743200" y="2505600"/>
            <a:ext cx="28342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Yes, ε&gt;0</a:t>
            </a:r>
            <a:endParaRPr lang="en-US" sz="1150" b="0" u="none" strike="noStrike">
              <a:solidFill>
                <a:srgbClr val="000000"/>
              </a:solidFill>
              <a:effectLst/>
              <a:uFillTx/>
              <a:latin typeface="Arial"/>
            </a:endParaRPr>
          </a:p>
        </p:txBody>
      </p:sp>
      <p:sp>
        <p:nvSpPr>
          <p:cNvPr id="1362" name="Shape 25"/>
          <p:cNvSpPr/>
          <p:nvPr/>
        </p:nvSpPr>
        <p:spPr>
          <a:xfrm>
            <a:off x="5623560" y="2386440"/>
            <a:ext cx="255996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63" name="Text 26"/>
          <p:cNvSpPr/>
          <p:nvPr/>
        </p:nvSpPr>
        <p:spPr>
          <a:xfrm>
            <a:off x="5669280" y="2505600"/>
            <a:ext cx="246852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Yes</a:t>
            </a:r>
            <a:endParaRPr lang="en-US" sz="1150" b="0" u="none" strike="noStrike">
              <a:solidFill>
                <a:srgbClr val="000000"/>
              </a:solidFill>
              <a:effectLst/>
              <a:uFillTx/>
              <a:latin typeface="Arial"/>
            </a:endParaRPr>
          </a:p>
        </p:txBody>
      </p:sp>
      <p:sp>
        <p:nvSpPr>
          <p:cNvPr id="1364" name="Shape 27"/>
          <p:cNvSpPr/>
          <p:nvPr/>
        </p:nvSpPr>
        <p:spPr>
          <a:xfrm>
            <a:off x="8183880" y="2386440"/>
            <a:ext cx="283428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65" name="Text 28"/>
          <p:cNvSpPr/>
          <p:nvPr/>
        </p:nvSpPr>
        <p:spPr>
          <a:xfrm>
            <a:off x="8229600" y="2505600"/>
            <a:ext cx="27428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O(b^(1+C*/ε))</a:t>
            </a:r>
            <a:endParaRPr lang="en-US" sz="1150" b="0" u="none" strike="noStrike">
              <a:solidFill>
                <a:srgbClr val="000000"/>
              </a:solidFill>
              <a:effectLst/>
              <a:uFillTx/>
              <a:latin typeface="Arial"/>
            </a:endParaRPr>
          </a:p>
        </p:txBody>
      </p:sp>
      <p:sp>
        <p:nvSpPr>
          <p:cNvPr id="1366" name="Shape 29"/>
          <p:cNvSpPr/>
          <p:nvPr/>
        </p:nvSpPr>
        <p:spPr>
          <a:xfrm>
            <a:off x="685800" y="2917080"/>
            <a:ext cx="201132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67" name="Text 30"/>
          <p:cNvSpPr/>
          <p:nvPr/>
        </p:nvSpPr>
        <p:spPr>
          <a:xfrm>
            <a:off x="731520" y="3035880"/>
            <a:ext cx="19198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1" u="none" strike="noStrike">
                <a:solidFill>
                  <a:srgbClr val="112E5C"/>
                </a:solidFill>
                <a:effectLst/>
                <a:uFillTx/>
                <a:latin typeface="Aptos"/>
              </a:rPr>
              <a:t>DFS</a:t>
            </a:r>
            <a:endParaRPr lang="en-US" sz="1150" b="0" u="none" strike="noStrike">
              <a:solidFill>
                <a:srgbClr val="000000"/>
              </a:solidFill>
              <a:effectLst/>
              <a:uFillTx/>
              <a:latin typeface="Arial"/>
            </a:endParaRPr>
          </a:p>
        </p:txBody>
      </p:sp>
      <p:sp>
        <p:nvSpPr>
          <p:cNvPr id="1368" name="Shape 31"/>
          <p:cNvSpPr/>
          <p:nvPr/>
        </p:nvSpPr>
        <p:spPr>
          <a:xfrm>
            <a:off x="2697480" y="2917080"/>
            <a:ext cx="292572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69" name="Text 32"/>
          <p:cNvSpPr/>
          <p:nvPr/>
        </p:nvSpPr>
        <p:spPr>
          <a:xfrm>
            <a:off x="2743200" y="3035880"/>
            <a:ext cx="28342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No in infinite/cyclic</a:t>
            </a:r>
            <a:endParaRPr lang="en-US" sz="1150" b="0" u="none" strike="noStrike">
              <a:solidFill>
                <a:srgbClr val="000000"/>
              </a:solidFill>
              <a:effectLst/>
              <a:uFillTx/>
              <a:latin typeface="Arial"/>
            </a:endParaRPr>
          </a:p>
        </p:txBody>
      </p:sp>
      <p:sp>
        <p:nvSpPr>
          <p:cNvPr id="1370" name="Shape 33"/>
          <p:cNvSpPr/>
          <p:nvPr/>
        </p:nvSpPr>
        <p:spPr>
          <a:xfrm>
            <a:off x="5623560" y="2917080"/>
            <a:ext cx="255996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1" name="Text 34"/>
          <p:cNvSpPr/>
          <p:nvPr/>
        </p:nvSpPr>
        <p:spPr>
          <a:xfrm>
            <a:off x="5669280" y="3035880"/>
            <a:ext cx="246852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No</a:t>
            </a:r>
            <a:endParaRPr lang="en-US" sz="1150" b="0" u="none" strike="noStrike">
              <a:solidFill>
                <a:srgbClr val="000000"/>
              </a:solidFill>
              <a:effectLst/>
              <a:uFillTx/>
              <a:latin typeface="Arial"/>
            </a:endParaRPr>
          </a:p>
        </p:txBody>
      </p:sp>
      <p:sp>
        <p:nvSpPr>
          <p:cNvPr id="1372" name="Shape 35"/>
          <p:cNvSpPr/>
          <p:nvPr/>
        </p:nvSpPr>
        <p:spPr>
          <a:xfrm>
            <a:off x="8183880" y="2917080"/>
            <a:ext cx="283428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3" name="Text 36"/>
          <p:cNvSpPr/>
          <p:nvPr/>
        </p:nvSpPr>
        <p:spPr>
          <a:xfrm>
            <a:off x="8229600" y="3035880"/>
            <a:ext cx="27428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O(bm)</a:t>
            </a:r>
            <a:endParaRPr lang="en-US" sz="1150" b="0" u="none" strike="noStrike">
              <a:solidFill>
                <a:srgbClr val="000000"/>
              </a:solidFill>
              <a:effectLst/>
              <a:uFillTx/>
              <a:latin typeface="Arial"/>
            </a:endParaRPr>
          </a:p>
        </p:txBody>
      </p:sp>
      <p:sp>
        <p:nvSpPr>
          <p:cNvPr id="1374" name="Shape 37"/>
          <p:cNvSpPr/>
          <p:nvPr/>
        </p:nvSpPr>
        <p:spPr>
          <a:xfrm>
            <a:off x="685800" y="3447360"/>
            <a:ext cx="201132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5" name="Text 38"/>
          <p:cNvSpPr/>
          <p:nvPr/>
        </p:nvSpPr>
        <p:spPr>
          <a:xfrm>
            <a:off x="731520" y="3566160"/>
            <a:ext cx="19198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1" u="none" strike="noStrike">
                <a:solidFill>
                  <a:srgbClr val="112E5C"/>
                </a:solidFill>
                <a:effectLst/>
                <a:uFillTx/>
                <a:latin typeface="Aptos"/>
              </a:rPr>
              <a:t>DLS</a:t>
            </a:r>
            <a:endParaRPr lang="en-US" sz="1150" b="0" u="none" strike="noStrike">
              <a:solidFill>
                <a:srgbClr val="000000"/>
              </a:solidFill>
              <a:effectLst/>
              <a:uFillTx/>
              <a:latin typeface="Arial"/>
            </a:endParaRPr>
          </a:p>
        </p:txBody>
      </p:sp>
      <p:sp>
        <p:nvSpPr>
          <p:cNvPr id="1376" name="Shape 39"/>
          <p:cNvSpPr/>
          <p:nvPr/>
        </p:nvSpPr>
        <p:spPr>
          <a:xfrm>
            <a:off x="2697480" y="3447360"/>
            <a:ext cx="292572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7" name="Text 40"/>
          <p:cNvSpPr/>
          <p:nvPr/>
        </p:nvSpPr>
        <p:spPr>
          <a:xfrm>
            <a:off x="2743200" y="3566160"/>
            <a:ext cx="28342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If limit adequate</a:t>
            </a:r>
            <a:endParaRPr lang="en-US" sz="1150" b="0" u="none" strike="noStrike">
              <a:solidFill>
                <a:srgbClr val="000000"/>
              </a:solidFill>
              <a:effectLst/>
              <a:uFillTx/>
              <a:latin typeface="Arial"/>
            </a:endParaRPr>
          </a:p>
        </p:txBody>
      </p:sp>
      <p:sp>
        <p:nvSpPr>
          <p:cNvPr id="1378" name="Shape 41"/>
          <p:cNvSpPr/>
          <p:nvPr/>
        </p:nvSpPr>
        <p:spPr>
          <a:xfrm>
            <a:off x="5623560" y="3447360"/>
            <a:ext cx="255996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9" name="Text 42"/>
          <p:cNvSpPr/>
          <p:nvPr/>
        </p:nvSpPr>
        <p:spPr>
          <a:xfrm>
            <a:off x="5669280" y="3566160"/>
            <a:ext cx="246852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No</a:t>
            </a:r>
            <a:endParaRPr lang="en-US" sz="1150" b="0" u="none" strike="noStrike">
              <a:solidFill>
                <a:srgbClr val="000000"/>
              </a:solidFill>
              <a:effectLst/>
              <a:uFillTx/>
              <a:latin typeface="Arial"/>
            </a:endParaRPr>
          </a:p>
        </p:txBody>
      </p:sp>
      <p:sp>
        <p:nvSpPr>
          <p:cNvPr id="1380" name="Shape 43"/>
          <p:cNvSpPr/>
          <p:nvPr/>
        </p:nvSpPr>
        <p:spPr>
          <a:xfrm>
            <a:off x="8183880" y="3447360"/>
            <a:ext cx="283428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1" name="Text 44"/>
          <p:cNvSpPr/>
          <p:nvPr/>
        </p:nvSpPr>
        <p:spPr>
          <a:xfrm>
            <a:off x="8229600" y="3566160"/>
            <a:ext cx="27428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O(bℓ)</a:t>
            </a:r>
            <a:endParaRPr lang="en-US" sz="1150" b="0" u="none" strike="noStrike">
              <a:solidFill>
                <a:srgbClr val="000000"/>
              </a:solidFill>
              <a:effectLst/>
              <a:uFillTx/>
              <a:latin typeface="Arial"/>
            </a:endParaRPr>
          </a:p>
        </p:txBody>
      </p:sp>
      <p:sp>
        <p:nvSpPr>
          <p:cNvPr id="1382" name="Shape 45"/>
          <p:cNvSpPr/>
          <p:nvPr/>
        </p:nvSpPr>
        <p:spPr>
          <a:xfrm>
            <a:off x="685800" y="3977640"/>
            <a:ext cx="201132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3" name="Text 46"/>
          <p:cNvSpPr/>
          <p:nvPr/>
        </p:nvSpPr>
        <p:spPr>
          <a:xfrm>
            <a:off x="731520" y="4096440"/>
            <a:ext cx="19198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1" u="none" strike="noStrike">
                <a:solidFill>
                  <a:srgbClr val="112E5C"/>
                </a:solidFill>
                <a:effectLst/>
                <a:uFillTx/>
                <a:latin typeface="Aptos"/>
              </a:rPr>
              <a:t>IDS</a:t>
            </a:r>
            <a:endParaRPr lang="en-US" sz="1150" b="0" u="none" strike="noStrike">
              <a:solidFill>
                <a:srgbClr val="000000"/>
              </a:solidFill>
              <a:effectLst/>
              <a:uFillTx/>
              <a:latin typeface="Arial"/>
            </a:endParaRPr>
          </a:p>
        </p:txBody>
      </p:sp>
      <p:sp>
        <p:nvSpPr>
          <p:cNvPr id="1384" name="Shape 47"/>
          <p:cNvSpPr/>
          <p:nvPr/>
        </p:nvSpPr>
        <p:spPr>
          <a:xfrm>
            <a:off x="2697480" y="3977640"/>
            <a:ext cx="292572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5" name="Text 48"/>
          <p:cNvSpPr/>
          <p:nvPr/>
        </p:nvSpPr>
        <p:spPr>
          <a:xfrm>
            <a:off x="2743200" y="4096440"/>
            <a:ext cx="28342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Yes in many finite cases</a:t>
            </a:r>
            <a:endParaRPr lang="en-US" sz="1150" b="0" u="none" strike="noStrike">
              <a:solidFill>
                <a:srgbClr val="000000"/>
              </a:solidFill>
              <a:effectLst/>
              <a:uFillTx/>
              <a:latin typeface="Arial"/>
            </a:endParaRPr>
          </a:p>
        </p:txBody>
      </p:sp>
      <p:sp>
        <p:nvSpPr>
          <p:cNvPr id="1386" name="Shape 49"/>
          <p:cNvSpPr/>
          <p:nvPr/>
        </p:nvSpPr>
        <p:spPr>
          <a:xfrm>
            <a:off x="5623560" y="3977640"/>
            <a:ext cx="255996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7" name="Text 50"/>
          <p:cNvSpPr/>
          <p:nvPr/>
        </p:nvSpPr>
        <p:spPr>
          <a:xfrm>
            <a:off x="5669280" y="4096440"/>
            <a:ext cx="246852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Unit costs</a:t>
            </a:r>
            <a:endParaRPr lang="en-US" sz="1150" b="0" u="none" strike="noStrike">
              <a:solidFill>
                <a:srgbClr val="000000"/>
              </a:solidFill>
              <a:effectLst/>
              <a:uFillTx/>
              <a:latin typeface="Arial"/>
            </a:endParaRPr>
          </a:p>
        </p:txBody>
      </p:sp>
      <p:sp>
        <p:nvSpPr>
          <p:cNvPr id="1388" name="Shape 51"/>
          <p:cNvSpPr/>
          <p:nvPr/>
        </p:nvSpPr>
        <p:spPr>
          <a:xfrm>
            <a:off x="8183880" y="3977640"/>
            <a:ext cx="2834280" cy="529920"/>
          </a:xfrm>
          <a:prstGeom prst="rect">
            <a:avLst/>
          </a:prstGeom>
          <a:solidFill>
            <a:srgbClr val="F7F9FC"/>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9" name="Text 52"/>
          <p:cNvSpPr/>
          <p:nvPr/>
        </p:nvSpPr>
        <p:spPr>
          <a:xfrm>
            <a:off x="8229600" y="4096440"/>
            <a:ext cx="27428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O(bd)</a:t>
            </a:r>
            <a:endParaRPr lang="en-US" sz="1150" b="0" u="none" strike="noStrike">
              <a:solidFill>
                <a:srgbClr val="000000"/>
              </a:solidFill>
              <a:effectLst/>
              <a:uFillTx/>
              <a:latin typeface="Arial"/>
            </a:endParaRPr>
          </a:p>
        </p:txBody>
      </p:sp>
      <p:sp>
        <p:nvSpPr>
          <p:cNvPr id="1390" name="Shape 53"/>
          <p:cNvSpPr/>
          <p:nvPr/>
        </p:nvSpPr>
        <p:spPr>
          <a:xfrm>
            <a:off x="685800" y="4507920"/>
            <a:ext cx="201132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1" name="Text 54"/>
          <p:cNvSpPr/>
          <p:nvPr/>
        </p:nvSpPr>
        <p:spPr>
          <a:xfrm>
            <a:off x="731520" y="4626720"/>
            <a:ext cx="19198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1" u="none" strike="noStrike">
                <a:solidFill>
                  <a:srgbClr val="112E5C"/>
                </a:solidFill>
                <a:effectLst/>
                <a:uFillTx/>
                <a:latin typeface="Aptos"/>
              </a:rPr>
              <a:t>Bidirectional</a:t>
            </a:r>
            <a:endParaRPr lang="en-US" sz="1150" b="0" u="none" strike="noStrike">
              <a:solidFill>
                <a:srgbClr val="000000"/>
              </a:solidFill>
              <a:effectLst/>
              <a:uFillTx/>
              <a:latin typeface="Arial"/>
            </a:endParaRPr>
          </a:p>
        </p:txBody>
      </p:sp>
      <p:sp>
        <p:nvSpPr>
          <p:cNvPr id="1392" name="Shape 55"/>
          <p:cNvSpPr/>
          <p:nvPr/>
        </p:nvSpPr>
        <p:spPr>
          <a:xfrm>
            <a:off x="2697480" y="4507920"/>
            <a:ext cx="292572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3" name="Text 56"/>
          <p:cNvSpPr/>
          <p:nvPr/>
        </p:nvSpPr>
        <p:spPr>
          <a:xfrm>
            <a:off x="2743200" y="4626720"/>
            <a:ext cx="283428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Depends</a:t>
            </a:r>
            <a:endParaRPr lang="en-US" sz="1150" b="0" u="none" strike="noStrike">
              <a:solidFill>
                <a:srgbClr val="000000"/>
              </a:solidFill>
              <a:effectLst/>
              <a:uFillTx/>
              <a:latin typeface="Arial"/>
            </a:endParaRPr>
          </a:p>
        </p:txBody>
      </p:sp>
      <p:sp>
        <p:nvSpPr>
          <p:cNvPr id="1394" name="Shape 57"/>
          <p:cNvSpPr/>
          <p:nvPr/>
        </p:nvSpPr>
        <p:spPr>
          <a:xfrm>
            <a:off x="5623560" y="4507920"/>
            <a:ext cx="255996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5" name="Text 58"/>
          <p:cNvSpPr/>
          <p:nvPr/>
        </p:nvSpPr>
        <p:spPr>
          <a:xfrm>
            <a:off x="5669280" y="4626720"/>
            <a:ext cx="246852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Depends</a:t>
            </a:r>
            <a:endParaRPr lang="en-US" sz="1150" b="0" u="none" strike="noStrike">
              <a:solidFill>
                <a:srgbClr val="000000"/>
              </a:solidFill>
              <a:effectLst/>
              <a:uFillTx/>
              <a:latin typeface="Arial"/>
            </a:endParaRPr>
          </a:p>
        </p:txBody>
      </p:sp>
      <p:sp>
        <p:nvSpPr>
          <p:cNvPr id="1396" name="Shape 59"/>
          <p:cNvSpPr/>
          <p:nvPr/>
        </p:nvSpPr>
        <p:spPr>
          <a:xfrm>
            <a:off x="8183880" y="4507920"/>
            <a:ext cx="2834280" cy="529920"/>
          </a:xfrm>
          <a:prstGeom prst="rect">
            <a:avLst/>
          </a:prstGeom>
          <a:solidFill>
            <a:srgbClr val="FFFFFF"/>
          </a:solidFill>
          <a:ln w="6350">
            <a:solidFill>
              <a:srgbClr val="D8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7" name="Text 60"/>
          <p:cNvSpPr/>
          <p:nvPr/>
        </p:nvSpPr>
        <p:spPr>
          <a:xfrm>
            <a:off x="8229600" y="4626720"/>
            <a:ext cx="27428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150" b="0" u="none" strike="noStrike">
                <a:solidFill>
                  <a:srgbClr val="102A4C"/>
                </a:solidFill>
                <a:effectLst/>
                <a:uFillTx/>
                <a:latin typeface="Aptos"/>
              </a:rPr>
              <a:t>often lower</a:t>
            </a:r>
            <a:endParaRPr lang="en-US" sz="1150" b="0" u="none" strike="noStrike">
              <a:solidFill>
                <a:srgbClr val="000000"/>
              </a:solidFill>
              <a:effectLst/>
              <a:uFillTx/>
              <a:latin typeface="Arial"/>
            </a:endParaRPr>
          </a:p>
        </p:txBody>
      </p:sp>
      <p:sp>
        <p:nvSpPr>
          <p:cNvPr id="1398" name="Text 61"/>
          <p:cNvSpPr/>
          <p:nvPr/>
        </p:nvSpPr>
        <p:spPr>
          <a:xfrm>
            <a:off x="914400" y="5715000"/>
            <a:ext cx="10058040" cy="347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700" b="1" u="none" strike="noStrike">
                <a:solidFill>
                  <a:srgbClr val="112E5C"/>
                </a:solidFill>
                <a:effectLst/>
                <a:uFillTx/>
                <a:latin typeface="Aptos"/>
              </a:rPr>
              <a:t>Reason from the frontier rule; do not memorize without understanding.</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399" name="Shape 0"/>
          <p:cNvSpPr/>
          <p:nvPr/>
        </p:nvSpPr>
        <p:spPr>
          <a:xfrm>
            <a:off x="228600" y="228600"/>
            <a:ext cx="11749680" cy="74952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00" name="Shape 1"/>
          <p:cNvSpPr/>
          <p:nvPr/>
        </p:nvSpPr>
        <p:spPr>
          <a:xfrm>
            <a:off x="228600" y="978480"/>
            <a:ext cx="11749680" cy="6372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401" name="Text 2"/>
          <p:cNvSpPr/>
          <p:nvPr/>
        </p:nvSpPr>
        <p:spPr>
          <a:xfrm>
            <a:off x="502920" y="393120"/>
            <a:ext cx="1078956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Chapter 3.1-3.4 Takeaways</a:t>
            </a:r>
            <a:endParaRPr lang="en-US" sz="2600" b="0" u="none" strike="noStrike">
              <a:solidFill>
                <a:srgbClr val="000000"/>
              </a:solidFill>
              <a:effectLst/>
              <a:uFillTx/>
              <a:latin typeface="Arial"/>
            </a:endParaRPr>
          </a:p>
        </p:txBody>
      </p:sp>
      <p:sp>
        <p:nvSpPr>
          <p:cNvPr id="1402" name="Text 3"/>
          <p:cNvSpPr/>
          <p:nvPr/>
        </p:nvSpPr>
        <p:spPr>
          <a:xfrm>
            <a:off x="8869680" y="6510600"/>
            <a:ext cx="2788560" cy="209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03" name="Text 4"/>
          <p:cNvSpPr/>
          <p:nvPr/>
        </p:nvSpPr>
        <p:spPr>
          <a:xfrm>
            <a:off x="502920" y="6510600"/>
            <a:ext cx="46630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04" name="Text 5"/>
          <p:cNvSpPr/>
          <p:nvPr/>
        </p:nvSpPr>
        <p:spPr>
          <a:xfrm>
            <a:off x="914400" y="1325880"/>
            <a:ext cx="9966600" cy="48459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50" b="1" u="none" strike="noStrike">
                <a:solidFill>
                  <a:srgbClr val="112E5C"/>
                </a:solidFill>
                <a:effectLst/>
                <a:uFillTx/>
                <a:latin typeface="Aptos"/>
              </a:rPr>
              <a:t>Formulation comes first</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define states, initial state, actions, result, goal test, and costs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112E5C"/>
                </a:solidFill>
                <a:effectLst/>
                <a:uFillTx/>
                <a:latin typeface="Aptos"/>
              </a:rPr>
              <a:t>Search trees are paths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the same state can appear many times through different paths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112E5C"/>
                </a:solidFill>
                <a:effectLst/>
                <a:uFillTx/>
                <a:latin typeface="Aptos"/>
              </a:rPr>
              <a:t>Frontier strategy matters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BFS, UCS, and DFS mainly differ in which node is expanded next</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Uninformed search is expensive</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without a goal-distance estimate, exponential growth dominates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177245"/>
                </a:solidFill>
                <a:effectLst/>
                <a:uFillTx/>
                <a:latin typeface="Aptos"/>
              </a:rPr>
              <a:t>Tradeoffs are unavoidable</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completeness, optimality, time, and memory determine the right strategy</a:t>
            </a:r>
            <a:endParaRPr lang="en-US" sz="15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405"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06"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07"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What Uninformed Search Cannot Do</a:t>
            </a:r>
            <a:endParaRPr lang="en-US" sz="2600" b="0" u="none" strike="noStrike">
              <a:solidFill>
                <a:srgbClr val="000000"/>
              </a:solidFill>
              <a:effectLst/>
              <a:uFillTx/>
              <a:latin typeface="Arial"/>
            </a:endParaRPr>
          </a:p>
        </p:txBody>
      </p:sp>
      <p:sp>
        <p:nvSpPr>
          <p:cNvPr id="1408"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09"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10" name="Rounded Rectangle 6"/>
          <p:cNvSpPr/>
          <p:nvPr/>
        </p:nvSpPr>
        <p:spPr>
          <a:xfrm>
            <a:off x="777240" y="1417320"/>
            <a:ext cx="5028840" cy="47520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What we have after 3.1-3.4</a:t>
            </a:r>
            <a:endParaRPr lang="en-US" sz="1450" b="0" u="none" strike="noStrike">
              <a:solidFill>
                <a:srgbClr val="000000"/>
              </a:solidFill>
              <a:effectLst/>
              <a:uFillTx/>
              <a:latin typeface="Arial"/>
            </a:endParaRPr>
          </a:p>
        </p:txBody>
      </p:sp>
      <p:sp>
        <p:nvSpPr>
          <p:cNvPr id="1411" name="Rounded Rectangle 7"/>
          <p:cNvSpPr/>
          <p:nvPr/>
        </p:nvSpPr>
        <p:spPr>
          <a:xfrm>
            <a:off x="77724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12" name="Rectangle 8"/>
          <p:cNvSpPr/>
          <p:nvPr/>
        </p:nvSpPr>
        <p:spPr>
          <a:xfrm>
            <a:off x="100584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00" b="0" u="none" strike="noStrike">
                <a:solidFill>
                  <a:srgbClr val="102A4C"/>
                </a:solidFill>
                <a:effectLst/>
                <a:uFillTx/>
                <a:latin typeface="Aptos"/>
              </a:rPr>
              <a:t>•  A formulation discipline: six parts, every time</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One algorithm, best-first search, with a swappable f(n)</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Completeness and cost-optimality we can actually argue for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And an exponential bill we cannot pay</a:t>
            </a:r>
            <a:endParaRPr lang="en-US" sz="1300" b="0" u="none" strike="noStrike">
              <a:solidFill>
                <a:srgbClr val="000000"/>
              </a:solidFill>
              <a:effectLst/>
              <a:uFillTx/>
              <a:latin typeface="Arial"/>
            </a:endParaRPr>
          </a:p>
        </p:txBody>
      </p:sp>
      <p:sp>
        <p:nvSpPr>
          <p:cNvPr id="1413" name="Rounded Rectangle 9"/>
          <p:cNvSpPr/>
          <p:nvPr/>
        </p:nvSpPr>
        <p:spPr>
          <a:xfrm>
            <a:off x="638568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What is still missing</a:t>
            </a:r>
            <a:endParaRPr lang="en-US" sz="1450" b="0" u="none" strike="noStrike">
              <a:solidFill>
                <a:srgbClr val="000000"/>
              </a:solidFill>
              <a:effectLst/>
              <a:uFillTx/>
              <a:latin typeface="Arial"/>
            </a:endParaRPr>
          </a:p>
        </p:txBody>
      </p:sp>
      <p:sp>
        <p:nvSpPr>
          <p:cNvPr id="1414" name="Rounded Rectangle 10"/>
          <p:cNvSpPr/>
          <p:nvPr/>
        </p:nvSpPr>
        <p:spPr>
          <a:xfrm>
            <a:off x="638568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15" name="Rectangle 11"/>
          <p:cNvSpPr/>
          <p:nvPr/>
        </p:nvSpPr>
        <p:spPr>
          <a:xfrm>
            <a:off x="661428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00" b="0" u="none" strike="noStrike">
                <a:solidFill>
                  <a:srgbClr val="102A4C"/>
                </a:solidFill>
                <a:effectLst/>
                <a:uFillTx/>
                <a:latin typeface="Aptos"/>
              </a:rPr>
              <a:t>•  Every strategy so far knows only where it has been</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None of them has any estimate of how far the goal still is</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So the search spreads in all directions equally</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b = 10, d = 14: three and a half years, with infinite memory</a:t>
            </a:r>
            <a:endParaRPr lang="en-US" sz="1300" b="0" u="none" strike="noStrike">
              <a:solidFill>
                <a:srgbClr val="000000"/>
              </a:solidFill>
              <a:effectLst/>
              <a:uFillTx/>
              <a:latin typeface="Arial"/>
            </a:endParaRPr>
          </a:p>
        </p:txBody>
      </p:sp>
      <p:sp>
        <p:nvSpPr>
          <p:cNvPr id="1416" name="Rounded Rectangle 12"/>
          <p:cNvSpPr/>
          <p:nvPr/>
        </p:nvSpPr>
        <p:spPr>
          <a:xfrm>
            <a:off x="914400" y="3977640"/>
            <a:ext cx="10423800" cy="594000"/>
          </a:xfrm>
          <a:prstGeom prst="roundRect">
            <a:avLst>
              <a:gd name="adj" fmla="val 110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00" b="0" u="none" strike="noStrike">
                <a:solidFill>
                  <a:srgbClr val="FFFFFF"/>
                </a:solidFill>
                <a:effectLst/>
                <a:uFillTx/>
                <a:latin typeface="Aptos"/>
              </a:rPr>
              <a:t>Next lecture, one change:  </a:t>
            </a:r>
            <a:r>
              <a:rPr lang="en-US" sz="2200" b="1" u="none" strike="noStrike">
                <a:solidFill>
                  <a:srgbClr val="FFFFFF"/>
                </a:solidFill>
                <a:effectLst/>
                <a:uFillTx/>
                <a:latin typeface="Aptos"/>
              </a:rPr>
              <a:t>f(n) = g(n) + h(n)</a:t>
            </a:r>
            <a:endParaRPr lang="en-US" sz="2200" b="0" u="none" strike="noStrike">
              <a:solidFill>
                <a:srgbClr val="FFFFFF"/>
              </a:solidFill>
              <a:effectLst/>
              <a:uFillTx/>
              <a:latin typeface="Arial"/>
            </a:endParaRPr>
          </a:p>
        </p:txBody>
      </p:sp>
      <p:sp>
        <p:nvSpPr>
          <p:cNvPr id="1417" name="Rectangle 13"/>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g(n) is the cost already paid. h(n) is an estimate of the cost still to come.</a:t>
            </a:r>
            <a:endParaRPr lang="en-US" sz="1700" b="0" u="none" strike="noStrike">
              <a:solidFill>
                <a:srgbClr val="000000"/>
              </a:solidFill>
              <a:effectLst/>
              <a:uFillTx/>
              <a:latin typeface="Arial"/>
            </a:endParaRPr>
          </a:p>
        </p:txBody>
      </p:sp>
      <p:sp>
        <p:nvSpPr>
          <p:cNvPr id="1418" name="Rectangle 14"/>
          <p:cNvSpPr/>
          <p:nvPr/>
        </p:nvSpPr>
        <p:spPr>
          <a:xfrm>
            <a:off x="914400" y="51663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Same loop, same frontier — the contours stop surrounding the start and reach for the goal.</a:t>
            </a:r>
            <a:endParaRPr lang="en-US" sz="1500" b="0" u="none" strike="noStrike">
              <a:solidFill>
                <a:srgbClr val="000000"/>
              </a:solidFill>
              <a:effectLst/>
              <a:uFillTx/>
              <a:latin typeface="Arial"/>
            </a:endParaRPr>
          </a:p>
        </p:txBody>
      </p:sp>
      <p:sp>
        <p:nvSpPr>
          <p:cNvPr id="1419" name="Rectangle 15"/>
          <p:cNvSpPr/>
          <p:nvPr/>
        </p:nvSpPr>
        <p:spPr>
          <a:xfrm>
            <a:off x="914400" y="5669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Section 3.5: greedy best-first search, A*, admissibility, and consistency.</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TotalTime>
  <Application>LibreOffice/26.2.4.2$Linux_X86_64 LibreOffice_project/620$Build-2</Application>
  <AppVersion>15.0000</AppVersion>
  <Words>0</Words>
  <Paragraphs>0</Paragraphs>
  <Company>CSU Channel Islands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2026-08-01T09:17:29Z</dcterms:created>
  <dc:creator>COMP 469</dc:creator>
  <dc:description/>
  <dc:language>en-US</dc:language>
  <cp:lastModifiedBy/>
  <dcterms:modified xsi:type="dcterms:W3CDTF">2026-08-01T13:18:10Z</dcterms:modified>
  <cp:revision>2</cp:revision>
  <dc:subject>AIMA Chapter 3 Sections 3.1-3.4</dc:subject>
  <dc:title>COMP 469 Chapter 3 Solving Problems by Searching - CSUCI Clean Enhanced</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38</vt:i4>
  </property>
  <property fmtid="{D5CDD505-2E9C-101B-9397-08002B2CF9AE}" pid="3" name="PresentationFormat">
    <vt:lpwstr>On-screen Show (16:9)</vt:lpwstr>
  </property>
  <property fmtid="{D5CDD505-2E9C-101B-9397-08002B2CF9AE}" pid="4" name="Slides">
    <vt:i4>38</vt:i4>
  </property>
</Properties>
</file>